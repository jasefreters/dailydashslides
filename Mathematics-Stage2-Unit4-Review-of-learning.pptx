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6"/>
  </p:notesMasterIdLst>
  <p:handoutMasterIdLst>
    <p:handoutMasterId r:id="rId77"/>
  </p:handoutMasterIdLst>
  <p:sldIdLst>
    <p:sldId id="365" r:id="rId5"/>
    <p:sldId id="26505" r:id="rId6"/>
    <p:sldId id="26359" r:id="rId7"/>
    <p:sldId id="271" r:id="rId8"/>
    <p:sldId id="26578" r:id="rId9"/>
    <p:sldId id="358" r:id="rId10"/>
    <p:sldId id="26580" r:id="rId11"/>
    <p:sldId id="26581" r:id="rId12"/>
    <p:sldId id="26582" r:id="rId13"/>
    <p:sldId id="26576" r:id="rId14"/>
    <p:sldId id="26583" r:id="rId15"/>
    <p:sldId id="26586" r:id="rId16"/>
    <p:sldId id="26587" r:id="rId17"/>
    <p:sldId id="26588" r:id="rId18"/>
    <p:sldId id="26589" r:id="rId19"/>
    <p:sldId id="26590" r:id="rId20"/>
    <p:sldId id="26591" r:id="rId21"/>
    <p:sldId id="26592" r:id="rId22"/>
    <p:sldId id="26594" r:id="rId23"/>
    <p:sldId id="26596" r:id="rId24"/>
    <p:sldId id="26597" r:id="rId25"/>
    <p:sldId id="26598" r:id="rId26"/>
    <p:sldId id="26599" r:id="rId27"/>
    <p:sldId id="26600" r:id="rId28"/>
    <p:sldId id="26601" r:id="rId29"/>
    <p:sldId id="26604" r:id="rId30"/>
    <p:sldId id="26605" r:id="rId31"/>
    <p:sldId id="26606" r:id="rId32"/>
    <p:sldId id="26607" r:id="rId33"/>
    <p:sldId id="26608" r:id="rId34"/>
    <p:sldId id="26609" r:id="rId35"/>
    <p:sldId id="26610" r:id="rId36"/>
    <p:sldId id="26611" r:id="rId37"/>
    <p:sldId id="26614" r:id="rId38"/>
    <p:sldId id="26615" r:id="rId39"/>
    <p:sldId id="26616" r:id="rId40"/>
    <p:sldId id="26617" r:id="rId41"/>
    <p:sldId id="26476" r:id="rId42"/>
    <p:sldId id="26619" r:id="rId43"/>
    <p:sldId id="26622" r:id="rId44"/>
    <p:sldId id="26623" r:id="rId45"/>
    <p:sldId id="26624" r:id="rId46"/>
    <p:sldId id="26625" r:id="rId47"/>
    <p:sldId id="26626" r:id="rId48"/>
    <p:sldId id="26430" r:id="rId49"/>
    <p:sldId id="26628" r:id="rId50"/>
    <p:sldId id="26630" r:id="rId51"/>
    <p:sldId id="26632" r:id="rId52"/>
    <p:sldId id="26633" r:id="rId53"/>
    <p:sldId id="26634" r:id="rId54"/>
    <p:sldId id="26635" r:id="rId55"/>
    <p:sldId id="26453" r:id="rId56"/>
    <p:sldId id="26645" r:id="rId57"/>
    <p:sldId id="26637" r:id="rId58"/>
    <p:sldId id="26640" r:id="rId59"/>
    <p:sldId id="26641" r:id="rId60"/>
    <p:sldId id="26642" r:id="rId61"/>
    <p:sldId id="26643" r:id="rId62"/>
    <p:sldId id="26644" r:id="rId63"/>
    <p:sldId id="26543" r:id="rId64"/>
    <p:sldId id="26646" r:id="rId65"/>
    <p:sldId id="26393" r:id="rId66"/>
    <p:sldId id="26387" r:id="rId67"/>
    <p:sldId id="26395" r:id="rId68"/>
    <p:sldId id="26391" r:id="rId69"/>
    <p:sldId id="26402" r:id="rId70"/>
    <p:sldId id="26507" r:id="rId71"/>
    <p:sldId id="26510" r:id="rId72"/>
    <p:sldId id="360" r:id="rId73"/>
    <p:sldId id="26545" r:id="rId74"/>
    <p:sldId id="361" r:id="rId75"/>
  </p:sldIdLst>
  <p:sldSz cx="12192000" cy="6858000"/>
  <p:notesSz cx="6858000" cy="9144000"/>
  <p:embeddedFontLst>
    <p:embeddedFont>
      <p:font typeface="Cambria" panose="02040503050406030204" pitchFamily="18" charset="0"/>
      <p:regular r:id="rId78"/>
      <p:bold r:id="rId79"/>
      <p:italic r:id="rId80"/>
      <p:boldItalic r:id="rId81"/>
    </p:embeddedFont>
    <p:embeddedFont>
      <p:font typeface="Cambria Math" panose="02040503050406030204" pitchFamily="18" charset="0"/>
      <p:regular r:id="rId82"/>
    </p:embeddedFont>
    <p:embeddedFont>
      <p:font typeface="Edu NSW ACT Foundation" panose="020B0604020202020204" charset="0"/>
      <p:regular r:id="rId83"/>
      <p:bold r:id="rId84"/>
    </p:embeddedFont>
    <p:embeddedFont>
      <p:font typeface="Montserrat" panose="00000500000000000000" pitchFamily="2" charset="0"/>
      <p:regular r:id="rId85"/>
      <p:bold r:id="rId86"/>
      <p:italic r:id="rId87"/>
      <p:boldItalic r:id="rId88"/>
    </p:embeddedFont>
    <p:embeddedFont>
      <p:font typeface="Public Sans" pitchFamily="2" charset="0"/>
      <p:regular r:id="rId89"/>
      <p:bold r:id="rId90"/>
      <p:italic r:id="rId91"/>
      <p:boldItalic r:id="rId92"/>
    </p:embeddedFont>
    <p:embeddedFont>
      <p:font typeface="Public Sans Light" pitchFamily="2" charset="0"/>
      <p:regular r:id="rId93"/>
      <p:italic r:id="rId94"/>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578"/>
            <p14:sldId id="358"/>
            <p14:sldId id="26580"/>
            <p14:sldId id="26581"/>
            <p14:sldId id="26582"/>
            <p14:sldId id="2657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4"/>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1"/>
            <p14:sldId id="26614"/>
            <p14:sldId id="26615"/>
            <p14:sldId id="26616"/>
            <p14:sldId id="26617"/>
            <p14:sldId id="26476"/>
          </p14:sldIdLst>
        </p14:section>
        <p14:section name="Review of learning 6" id="{6721D3DC-F7BB-49CA-9E61-8454C104591D}">
          <p14:sldIdLst>
            <p14:sldId id="26619"/>
            <p14:sldId id="26622"/>
            <p14:sldId id="26623"/>
            <p14:sldId id="26624"/>
            <p14:sldId id="26625"/>
            <p14:sldId id="26626"/>
            <p14:sldId id="26430"/>
          </p14:sldIdLst>
        </p14:section>
        <p14:section name="Review of learning 7" id="{CF63834E-0BE9-495B-9761-037C836F185E}">
          <p14:sldIdLst>
            <p14:sldId id="26628"/>
            <p14:sldId id="26630"/>
            <p14:sldId id="26632"/>
            <p14:sldId id="26633"/>
            <p14:sldId id="26634"/>
            <p14:sldId id="26635"/>
            <p14:sldId id="26453"/>
            <p14:sldId id="26645"/>
          </p14:sldIdLst>
        </p14:section>
        <p14:section name="Review of learning 8" id="{6FF8F7EC-803E-4F84-BA41-6B3ED673D597}">
          <p14:sldIdLst>
            <p14:sldId id="26637"/>
            <p14:sldId id="26640"/>
            <p14:sldId id="26641"/>
            <p14:sldId id="26642"/>
            <p14:sldId id="26643"/>
            <p14:sldId id="26644"/>
            <p14:sldId id="26543"/>
            <p14:sldId id="26646"/>
          </p14:sldIdLst>
        </p14:section>
        <p14:section name="Assets" id="{ACCADEBA-79DB-4F18-8F19-E4DF86159DFB}">
          <p14:sldIdLst>
            <p14:sldId id="26393"/>
            <p14:sldId id="26387"/>
            <p14:sldId id="26395"/>
            <p14:sldId id="26391"/>
            <p14:sldId id="26402"/>
            <p14:sldId id="26507"/>
            <p14:sldId id="26510"/>
          </p14:sldIdLst>
        </p14:section>
        <p14:section name="References &amp; copyright" id="{DBC31484-F5F8-4CB1-8DB4-A562A9780899}">
          <p14:sldIdLst>
            <p14:sldId id="360"/>
            <p14:sldId id="26545"/>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1B1BAE1E-6EF3-DBA4-64B9-54D7242E20D4}" name="Stacey Makila" initials="SM" userId="S::Stacey.Wolfenden@det.nsw.edu.au::1f90aada-aa7f-459b-b23b-17275cc27e9e" providerId="AD"/>
  <p188:author id="{95D16B7D-CADB-F2BF-AC29-D680545C75EE}" name="Carrie Webeck" initials="CW" userId="S::CARRIE-ANN.WEBECK@det.nsw.edu.au::e5c4b697-ca15-4f3a-a906-1289ddc2fc07" providerId="AD"/>
  <p188:author id="{EB0CFDCC-08A1-9074-770E-495A3601BA1E}" name="Erin Grassedonio" initials="EG" userId="S::Erin.Grassedonio@det.nsw.edu.au::f14128a2-caca-48df-bd38-2aa49a1abe0e"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B0C"/>
    <a:srgbClr val="007A8A"/>
    <a:srgbClr val="9B6808"/>
    <a:srgbClr val="427B2D"/>
    <a:srgbClr val="B51458"/>
    <a:srgbClr val="00ACC2"/>
    <a:srgbClr val="64BB47"/>
    <a:srgbClr val="EDF9E0"/>
    <a:srgbClr val="87D830"/>
    <a:srgbClr val="447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ABC578-8997-4556-930B-189A6217BC78}" v="139" dt="2025-11-17T02:12:56.356"/>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805" autoAdjust="0"/>
  </p:normalViewPr>
  <p:slideViewPr>
    <p:cSldViewPr snapToGrid="0">
      <p:cViewPr varScale="1">
        <p:scale>
          <a:sx n="82" d="100"/>
          <a:sy n="82" d="100"/>
        </p:scale>
        <p:origin x="600" y="44"/>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7.fntdata"/><Relationship Id="rId89" Type="http://schemas.openxmlformats.org/officeDocument/2006/relationships/font" Target="fonts/font12.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2.fntdata"/><Relationship Id="rId5" Type="http://schemas.openxmlformats.org/officeDocument/2006/relationships/slide" Target="slides/slide1.xml"/><Relationship Id="rId90" Type="http://schemas.openxmlformats.org/officeDocument/2006/relationships/font" Target="fonts/font13.fntdata"/><Relationship Id="rId95" Type="http://schemas.openxmlformats.org/officeDocument/2006/relationships/presProps" Target="pres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font" Target="fonts/font3.fntdata"/><Relationship Id="rId85" Type="http://schemas.openxmlformats.org/officeDocument/2006/relationships/font" Target="fonts/font8.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6.fntdata"/><Relationship Id="rId88" Type="http://schemas.openxmlformats.org/officeDocument/2006/relationships/font" Target="fonts/font11.fntdata"/><Relationship Id="rId91" Type="http://schemas.openxmlformats.org/officeDocument/2006/relationships/font" Target="fonts/font14.fntdata"/><Relationship Id="rId9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1.fntdata"/><Relationship Id="rId81" Type="http://schemas.openxmlformats.org/officeDocument/2006/relationships/font" Target="fonts/font4.fntdata"/><Relationship Id="rId86" Type="http://schemas.openxmlformats.org/officeDocument/2006/relationships/font" Target="fonts/font9.fntdata"/><Relationship Id="rId94" Type="http://schemas.openxmlformats.org/officeDocument/2006/relationships/font" Target="fonts/font17.fntdata"/><Relationship Id="rId9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notesMaster" Target="notesMasters/notesMaster1.xml"/><Relationship Id="rId97"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15.fntdata"/><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0.fntdata"/><Relationship Id="rId61" Type="http://schemas.openxmlformats.org/officeDocument/2006/relationships/slide" Target="slides/slide57.xml"/><Relationship Id="rId82" Type="http://schemas.openxmlformats.org/officeDocument/2006/relationships/font" Target="fonts/font5.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handoutMaster" Target="handoutMasters/handoutMaster1.xml"/><Relationship Id="rId100" Type="http://schemas.microsoft.com/office/2018/10/relationships/authors" Target="author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font" Target="fonts/font16.fntdata"/><Relationship Id="rId9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1/12/2025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1/12/2025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dirty="0"/>
          </a:p>
          <a:p>
            <a:r>
              <a:rPr lang="en-AU" dirty="0"/>
              <a:t>This Review of Learning slide deck revisits key concepts from the following units:</a:t>
            </a:r>
          </a:p>
          <a:p>
            <a:pPr marL="285750" indent="-285750">
              <a:buFont typeface="Arial" panose="020B0604020202020204" pitchFamily="34" charset="0"/>
              <a:buChar char="•"/>
            </a:pPr>
            <a:r>
              <a:rPr lang="en-AU" dirty="0"/>
              <a:t>Stage 2 Year A Unit 4</a:t>
            </a:r>
          </a:p>
          <a:p>
            <a:pPr marL="285750" indent="-285750">
              <a:buFont typeface="Arial" panose="020B0604020202020204" pitchFamily="34" charset="0"/>
              <a:buChar char="•"/>
            </a:pPr>
            <a:r>
              <a:rPr lang="en-AU" dirty="0"/>
              <a:t>Stage 2 Year A Unit 3</a:t>
            </a:r>
          </a:p>
          <a:p>
            <a:pPr marL="285750" indent="-285750">
              <a:buFont typeface="Arial" panose="020B0604020202020204" pitchFamily="34" charset="0"/>
              <a:buChar char="•"/>
            </a:pPr>
            <a:r>
              <a:rPr lang="en-AU" dirty="0"/>
              <a:t>Stage 2 Year A Unit 2</a:t>
            </a:r>
          </a:p>
          <a:p>
            <a:r>
              <a:rPr lang="en-AU" dirty="0"/>
              <a:t>It also includes opportunities to review prior learning in non-number content, supporting consolidation across focus areas.</a:t>
            </a:r>
          </a:p>
          <a:p>
            <a:endParaRPr lang="en-AU" dirty="0"/>
          </a:p>
          <a:p>
            <a:r>
              <a:rPr lang="en-AU" dirty="0"/>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dirty="0"/>
          </a:p>
          <a:p>
            <a:r>
              <a:rPr lang="en-AU" b="1" dirty="0"/>
              <a:t>1.</a:t>
            </a:r>
          </a:p>
          <a:p>
            <a:r>
              <a:rPr lang="en-AU" b="1" dirty="0"/>
              <a:t>Multiple-choice questions/True or false: </a:t>
            </a:r>
            <a:r>
              <a:rPr lang="en-AU" dirty="0"/>
              <a:t>Designed to promote active retrieval of key concepts and identify common misconceptions in number, supporting consolidation, understanding and fluency.</a:t>
            </a:r>
            <a:br>
              <a:rPr lang="en-AU" dirty="0"/>
            </a:br>
            <a:r>
              <a:rPr lang="en-AU" dirty="0"/>
              <a:t>These questions:</a:t>
            </a:r>
          </a:p>
          <a:p>
            <a:endParaRPr lang="en-AU" dirty="0"/>
          </a:p>
          <a:p>
            <a:pPr marL="285750" indent="-285750">
              <a:buFont typeface="Wingdings" panose="05000000000000000000" pitchFamily="2" charset="2"/>
              <a:buChar char="ü"/>
            </a:pPr>
            <a:r>
              <a:rPr lang="en-AU" dirty="0"/>
              <a:t>support spaced and interleaved practice</a:t>
            </a:r>
          </a:p>
          <a:p>
            <a:pPr marL="285750" indent="-285750">
              <a:buFont typeface="Wingdings" panose="05000000000000000000" pitchFamily="2" charset="2"/>
              <a:buChar char="ü"/>
            </a:pPr>
            <a:r>
              <a:rPr lang="en-AU" dirty="0"/>
              <a:t>help identify and address common misconceptions </a:t>
            </a:r>
          </a:p>
          <a:p>
            <a:pPr marL="285750" indent="-285750">
              <a:buFont typeface="Wingdings" panose="05000000000000000000" pitchFamily="2" charset="2"/>
              <a:buChar char="ü"/>
            </a:pPr>
            <a:r>
              <a:rPr lang="en-AU" dirty="0"/>
              <a:t>support active recall and immediate feedback</a:t>
            </a:r>
          </a:p>
          <a:p>
            <a:pPr marL="285750" indent="-285750">
              <a:buFont typeface="Wingdings" panose="05000000000000000000" pitchFamily="2" charset="2"/>
              <a:buChar char="ü"/>
            </a:pPr>
            <a:r>
              <a:rPr lang="en-AU" dirty="0"/>
              <a:t>support whole class participation</a:t>
            </a:r>
          </a:p>
          <a:p>
            <a:pPr marL="285750" indent="-285750">
              <a:buFont typeface="Wingdings" panose="05000000000000000000" pitchFamily="2" charset="2"/>
              <a:buChar char="ü"/>
            </a:pPr>
            <a:r>
              <a:rPr lang="en-AU" dirty="0"/>
              <a:t>identify areas requiring reteach</a:t>
            </a:r>
          </a:p>
          <a:p>
            <a:endParaRPr lang="en-AU" dirty="0"/>
          </a:p>
          <a:p>
            <a:r>
              <a:rPr lang="en-AU" b="1" dirty="0"/>
              <a:t>2.</a:t>
            </a:r>
            <a:br>
              <a:rPr lang="en-AU" b="1" dirty="0"/>
            </a:br>
            <a:r>
              <a:rPr lang="en-AU" b="1" dirty="0"/>
              <a:t>Short-response question sets: </a:t>
            </a:r>
            <a:r>
              <a:rPr lang="en-AU" dirty="0"/>
              <a:t>Carefully grouped questions that encourage spaced and interleaved practice across multiple focus areas, helping students revisit and apply knowledge from different points in time.</a:t>
            </a:r>
            <a:br>
              <a:rPr lang="en-AU" dirty="0"/>
            </a:br>
            <a:r>
              <a:rPr lang="en-AU" dirty="0"/>
              <a:t>These questions:</a:t>
            </a:r>
          </a:p>
          <a:p>
            <a:endParaRPr lang="en-AU" dirty="0"/>
          </a:p>
          <a:p>
            <a:pPr marL="285750" indent="-285750">
              <a:buFont typeface="Wingdings" panose="05000000000000000000" pitchFamily="2" charset="2"/>
              <a:buChar char="ü"/>
            </a:pPr>
            <a:r>
              <a:rPr lang="en-AU" dirty="0"/>
              <a:t>have a combination of question types </a:t>
            </a:r>
          </a:p>
          <a:p>
            <a:pPr marL="285750" indent="-285750">
              <a:buFont typeface="Wingdings" panose="05000000000000000000" pitchFamily="2" charset="2"/>
              <a:buChar char="ü"/>
            </a:pPr>
            <a:r>
              <a:rPr lang="en-AU" dirty="0"/>
              <a:t>address a range of focus areas</a:t>
            </a:r>
          </a:p>
          <a:p>
            <a:pPr marL="285750" indent="-285750">
              <a:buFont typeface="Wingdings" panose="05000000000000000000" pitchFamily="2" charset="2"/>
              <a:buChar char="ü"/>
            </a:pPr>
            <a:r>
              <a:rPr lang="en-AU" dirty="0"/>
              <a:t>build automaticity and fluency</a:t>
            </a:r>
          </a:p>
          <a:p>
            <a:pPr marL="285750" indent="-285750">
              <a:buFont typeface="Wingdings" panose="05000000000000000000" pitchFamily="2" charset="2"/>
              <a:buChar char="ü"/>
            </a:pPr>
            <a:r>
              <a:rPr lang="en-AU" dirty="0"/>
              <a:t>support active recall </a:t>
            </a:r>
          </a:p>
          <a:p>
            <a:pPr marL="285750" indent="-285750">
              <a:buFont typeface="Wingdings" panose="05000000000000000000" pitchFamily="2" charset="2"/>
              <a:buChar char="ü"/>
            </a:pPr>
            <a:r>
              <a:rPr lang="en-AU" dirty="0"/>
              <a:t>allow for immediate feedback</a:t>
            </a:r>
          </a:p>
          <a:p>
            <a:pPr marL="285750" indent="-285750">
              <a:buFont typeface="Wingdings" panose="05000000000000000000" pitchFamily="2" charset="2"/>
              <a:buChar char="ü"/>
            </a:pPr>
            <a:r>
              <a:rPr lang="en-AU" dirty="0"/>
              <a:t>identify content requiring reteach</a:t>
            </a:r>
          </a:p>
          <a:p>
            <a:endParaRPr lang="en-AU" dirty="0"/>
          </a:p>
          <a:p>
            <a:r>
              <a:rPr lang="en-AU" b="1" dirty="0"/>
              <a:t>3.</a:t>
            </a:r>
          </a:p>
          <a:p>
            <a:r>
              <a:rPr lang="en-AU" b="1" dirty="0"/>
              <a:t>Developing number sense activities: </a:t>
            </a:r>
            <a:r>
              <a:rPr lang="en-AU" dirty="0"/>
              <a:t>A variety of practical, purposeful tasks that reinforce current learning and build on prior knowledge. These activities promote reasoning, problem-solving and conceptual understanding.</a:t>
            </a:r>
            <a:br>
              <a:rPr lang="en-AU" dirty="0"/>
            </a:br>
            <a:br>
              <a:rPr lang="en-AU" dirty="0"/>
            </a:br>
            <a:endParaRPr lang="en-AU" dirty="0"/>
          </a:p>
          <a:p>
            <a:r>
              <a:rPr lang="en-AU" dirty="0"/>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AD8F1-B663-3F40-07A2-C014D8EB5B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045E08-15DA-0856-A514-FAF9EC64CB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0C8C4-7957-6426-57E3-FED490650475}"/>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r>
              <a:rPr lang="en-AU" sz="1600" b="0" kern="1200" dirty="0">
                <a:solidFill>
                  <a:schemeClr val="tx1"/>
                </a:solidFill>
                <a:effectLst/>
                <a:latin typeface="Arial" panose="020B0604020202020204" pitchFamily="34" charset="0"/>
                <a:ea typeface="+mn-ea"/>
                <a:cs typeface="Arial" panose="020B0604020202020204" pitchFamily="34" charset="0"/>
              </a:rPr>
              <a:t>Partitioned fractions A</a:t>
            </a:r>
          </a:p>
        </p:txBody>
      </p:sp>
      <p:sp>
        <p:nvSpPr>
          <p:cNvPr id="4" name="Slide Number Placeholder 3">
            <a:extLst>
              <a:ext uri="{FF2B5EF4-FFF2-40B4-BE49-F238E27FC236}">
                <a16:creationId xmlns:a16="http://schemas.microsoft.com/office/drawing/2014/main" id="{C4FD5696-9180-2B5B-47E9-EC0CAC013312}"/>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3891581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Partitioned fractions A</a:t>
            </a: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Geometric measure A: Length </a:t>
            </a: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Partitioned Fractions A</a:t>
            </a:r>
          </a:p>
          <a:p>
            <a:endParaRPr lang="en-AU" b="1" dirty="0"/>
          </a:p>
          <a:p>
            <a:r>
              <a:rPr lang="en-AU" b="1" dirty="0"/>
              <a:t>Activity 1 – </a:t>
            </a:r>
            <a:r>
              <a:rPr lang="en-AU" b="1" dirty="0">
                <a:latin typeface="Arial"/>
                <a:cs typeface="Arial"/>
              </a:rPr>
              <a:t>What is half?</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dirty="0"/>
              <a:t>This resource corresponds to Resource 16 – Is it half? in Stage 2 Year A Unit 4</a:t>
            </a:r>
          </a:p>
          <a:p>
            <a:endParaRPr lang="en-AU" b="1" dirty="0">
              <a:latin typeface="Arial"/>
              <a:cs typeface="Arial"/>
            </a:endParaRPr>
          </a:p>
          <a:p>
            <a:r>
              <a:rPr lang="en-AU" sz="1600" b="0" kern="1200" dirty="0">
                <a:solidFill>
                  <a:schemeClr val="tx1"/>
                </a:solidFill>
                <a:effectLst/>
                <a:latin typeface="Arial" panose="020B0604020202020204" pitchFamily="34" charset="0"/>
                <a:ea typeface="+mn-ea"/>
                <a:cs typeface="Arial" panose="020B0604020202020204" pitchFamily="34" charset="0"/>
              </a:rPr>
              <a:t>Note: </a:t>
            </a:r>
            <a:r>
              <a:rPr lang="en-AU" sz="1600" kern="1200" dirty="0">
                <a:solidFill>
                  <a:schemeClr val="tx1"/>
                </a:solidFill>
                <a:effectLst/>
                <a:latin typeface="Arial" panose="020B0604020202020204" pitchFamily="34" charset="0"/>
                <a:ea typeface="+mn-ea"/>
                <a:cs typeface="Arial" panose="020B0604020202020204" pitchFamily="34" charset="0"/>
              </a:rPr>
              <a:t>fractional language can be confusing. Students often use the fractional term ‘half’ as an everyday adjective to describe part of an object, rather than as a mathematical term related to equal partitioning of a known whole. Research suggests that tasks such as cutting toast or an apple to represent fractions can be misleading for students as the parts are NOT ‘exactly equal’. This is why it is not unusual to hear young children referring to the ‘bigger half’ (Gould 2013).</a:t>
            </a:r>
          </a:p>
          <a:p>
            <a:endParaRPr lang="en-AU" sz="1600" kern="1200" dirty="0">
              <a:solidFill>
                <a:schemeClr val="tx1"/>
              </a:solidFill>
              <a:effectLst/>
              <a:latin typeface="Arial" panose="020B0604020202020204" pitchFamily="34" charset="0"/>
              <a:ea typeface="+mn-ea"/>
              <a:cs typeface="Arial" panose="020B0604020202020204" pitchFamily="34" charset="0"/>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kern="1200" dirty="0">
                <a:solidFill>
                  <a:schemeClr val="tx1"/>
                </a:solidFill>
                <a:effectLst/>
                <a:latin typeface="Arial" panose="020B0604020202020204" pitchFamily="34" charset="0"/>
                <a:ea typeface="+mn-ea"/>
                <a:cs typeface="Arial" panose="020B0604020202020204" pitchFamily="34" charset="0"/>
              </a:rPr>
              <a:t>Ask students to consider each example. </a:t>
            </a: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u="none" kern="1200" dirty="0">
                <a:solidFill>
                  <a:schemeClr val="tx1"/>
                </a:solidFill>
                <a:effectLst/>
                <a:latin typeface="Arial" panose="020B0604020202020204" pitchFamily="34" charset="0"/>
                <a:ea typeface="+mn-ea"/>
                <a:cs typeface="Arial" panose="020B0604020202020204" pitchFamily="34" charset="0"/>
              </a:rPr>
              <a:t>Determine which images represent half as exactly 2 parts that are equal and those that don’t.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draw, model or represent half in a diagram.</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Discuss which representations accurately show half as a mathematical term.</a:t>
            </a:r>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kern="1200">
                <a:solidFill>
                  <a:schemeClr val="tx1"/>
                </a:solidFill>
                <a:effectLst/>
                <a:latin typeface="Arial" panose="020B0604020202020204" pitchFamily="34" charset="0"/>
                <a:ea typeface="+mn-ea"/>
                <a:cs typeface="Arial" panose="020B0604020202020204" pitchFamily="34" charset="0"/>
              </a:rPr>
              <a:t>Partitioned fractions A</a:t>
            </a: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Partitioned fractions A</a:t>
            </a: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panose="020B0604020202020204" pitchFamily="34" charset="0"/>
                <a:cs typeface="Arial" panose="020B0604020202020204" pitchFamily="34" charset="0"/>
              </a:rPr>
              <a:t>Two-dimensional spatial structure A: 2D shapes</a:t>
            </a: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Partitioned fractions A</a:t>
            </a:r>
          </a:p>
          <a:p>
            <a:endParaRPr lang="en-AU" dirty="0"/>
          </a:p>
          <a:p>
            <a:r>
              <a:rPr lang="en-AU" b="1" dirty="0"/>
              <a:t>Activity 2 – </a:t>
            </a:r>
            <a:r>
              <a:rPr lang="en-AU" b="1" dirty="0">
                <a:latin typeface="Arial"/>
                <a:cs typeface="Arial"/>
              </a:rPr>
              <a:t>wholes on a fraction wall</a:t>
            </a:r>
          </a:p>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lang="en-AU" b="0" dirty="0"/>
              <a:t>This resource corresponds to Resource 17 – broken fraction wall in Stage 2 Year A Unit 4</a:t>
            </a:r>
          </a:p>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AU" b="0" dirty="0"/>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kern="1200" dirty="0">
                <a:solidFill>
                  <a:schemeClr val="tx1"/>
                </a:solidFill>
                <a:effectLst/>
                <a:latin typeface="Arial" panose="020B0604020202020204" pitchFamily="34" charset="0"/>
                <a:ea typeface="+mn-ea"/>
                <a:cs typeface="Arial" panose="020B0604020202020204" pitchFamily="34" charset="0"/>
              </a:rPr>
              <a:t>Explain that Maya’s little brother scribbled on her fraction wall. She has forgotten how many fractional parts are missing from each length.</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turn and talk and discuss how they could support Maya to understand what is missing.</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share their strategies with the class.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 students, ‘How does the fraction symbol help you determine how many parts are needed to make the whole?’</a:t>
            </a:r>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kern="1200">
                <a:solidFill>
                  <a:schemeClr val="tx1"/>
                </a:solidFill>
                <a:effectLst/>
                <a:highlight>
                  <a:srgbClr val="FFFF00"/>
                </a:highlight>
                <a:latin typeface="Arial" panose="020B0604020202020204" pitchFamily="34" charset="0"/>
                <a:ea typeface="+mn-ea"/>
                <a:cs typeface="Arial" panose="020B0604020202020204" pitchFamily="34" charset="0"/>
              </a:rPr>
              <a:t>Partitioned fractions A</a:t>
            </a:r>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443633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Partitioned fractions A</a:t>
            </a: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panose="020B0604020202020204" pitchFamily="34" charset="0"/>
                <a:cs typeface="Arial" panose="020B0604020202020204" pitchFamily="34" charset="0"/>
              </a:rPr>
              <a:t>Two-dimensional spatial structure A: 2D shapes</a:t>
            </a: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Partitioned fractions A</a:t>
            </a:r>
          </a:p>
          <a:p>
            <a:endParaRPr lang="en-AU" dirty="0"/>
          </a:p>
          <a:p>
            <a:r>
              <a:rPr lang="en-AU" b="1" dirty="0"/>
              <a:t>Activity 3 – </a:t>
            </a:r>
            <a:r>
              <a:rPr lang="en-AU" b="1" dirty="0">
                <a:latin typeface="Arial"/>
                <a:cs typeface="Arial"/>
              </a:rPr>
              <a:t>Who is correct?</a:t>
            </a:r>
          </a:p>
          <a:p>
            <a:r>
              <a:rPr lang="en-AU" b="0" dirty="0"/>
              <a:t>This resource corresponds to Resource 18 – Who is correct? in Stage 2 Year A Unit 4</a:t>
            </a:r>
          </a:p>
          <a:p>
            <a:endParaRPr lang="en-AU" b="1" dirty="0">
              <a:latin typeface="Arial"/>
              <a:cs typeface="Arial"/>
            </a:endParaRP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Prompt students to turn and talk to decide who represented the fractions correctly.</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Select students to share their decision and mathematical thinking with the class.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Where did Clea go wrong? (the eight parts are not equal)</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mistake did Dallas make? (how many and how much)</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Why is Flynn’s representation correct?</a:t>
            </a:r>
          </a:p>
          <a:p>
            <a:endParaRPr lang="en-AU" b="0"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kern="1200">
                <a:solidFill>
                  <a:schemeClr val="tx1"/>
                </a:solidFill>
                <a:effectLst/>
                <a:latin typeface="Arial" panose="020B0604020202020204" pitchFamily="34" charset="0"/>
                <a:ea typeface="+mn-ea"/>
                <a:cs typeface="Arial" panose="020B0604020202020204" pitchFamily="34" charset="0"/>
              </a:rPr>
              <a:t>Partitioned fractions A</a:t>
            </a: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Partitioned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r>
              <a:rPr lang="en-AU" b="0" dirty="0"/>
              <a:t>Non-spatial measure A: Time </a:t>
            </a: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Partitioned fractions A</a:t>
                </a:r>
              </a:p>
              <a:p>
                <a:endParaRPr lang="en-AU" dirty="0"/>
              </a:p>
              <a:p>
                <a:r>
                  <a:rPr lang="en-AU" b="1" dirty="0"/>
                  <a:t>Activity 4 – fractions on a number line</a:t>
                </a:r>
              </a:p>
              <a:p>
                <a:pPr marL="0" marR="0" lvl="0" indent="0" algn="l" defTabSz="1219170" rtl="0" eaLnBrk="1" fontAlgn="auto" latinLnBrk="0" hangingPunct="1">
                  <a:lnSpc>
                    <a:spcPct val="150000"/>
                  </a:lnSpc>
                  <a:spcBef>
                    <a:spcPts val="1200"/>
                  </a:spcBef>
                  <a:spcAft>
                    <a:spcPts val="600"/>
                  </a:spcAft>
                  <a:buClrTx/>
                  <a:buSzTx/>
                  <a:buFont typeface="Arial" panose="020B0604020202020204" pitchFamily="34" charset="0"/>
                  <a:buNone/>
                  <a:tabLst/>
                  <a:defRPr/>
                </a:pPr>
                <a:r>
                  <a:rPr lang="en-AU" b="0" dirty="0"/>
                  <a:t>This resource corresponds to Resource 19 – pamphlet delivery in Stage 2 Year A Unit 4</a:t>
                </a:r>
              </a:p>
              <a:p>
                <a:pPr marL="0" marR="0" lvl="0" indent="0" algn="l" defTabSz="1219170" rtl="0" eaLnBrk="1" fontAlgn="auto" latinLnBrk="0" hangingPunct="1">
                  <a:lnSpc>
                    <a:spcPct val="150000"/>
                  </a:lnSpc>
                  <a:spcBef>
                    <a:spcPts val="1200"/>
                  </a:spcBef>
                  <a:spcAft>
                    <a:spcPts val="600"/>
                  </a:spcAft>
                  <a:buClrTx/>
                  <a:buSzTx/>
                  <a:buFont typeface="Arial" panose="020B0604020202020204" pitchFamily="34" charset="0"/>
                  <a:buNone/>
                  <a:tabLst/>
                  <a:defRPr/>
                </a:pPr>
                <a:endParaRPr lang="en-AU" sz="1600" dirty="0">
                  <a:effectLst/>
                  <a:latin typeface="Arial" panose="020B0604020202020204" pitchFamily="34" charset="0"/>
                  <a:ea typeface="Calibri" panose="020F0502020204030204" pitchFamily="34" charset="0"/>
                </a:endParaRPr>
              </a:p>
              <a:p>
                <a:pPr marL="342900" marR="0" lvl="0" indent="-342900" algn="l" defTabSz="1219170" rtl="0" eaLnBrk="1" fontAlgn="auto" latinLnBrk="0" hangingPunct="1">
                  <a:lnSpc>
                    <a:spcPct val="150000"/>
                  </a:lnSpc>
                  <a:spcBef>
                    <a:spcPts val="1200"/>
                  </a:spcBef>
                  <a:spcAft>
                    <a:spcPts val="600"/>
                  </a:spcAft>
                  <a:buClrTx/>
                  <a:buSzTx/>
                  <a:buFont typeface="Arial" panose="020B0604020202020204" pitchFamily="34" charset="0"/>
                  <a:buChar char="•"/>
                  <a:tabLst/>
                  <a:defRPr/>
                </a:pPr>
                <a:r>
                  <a:rPr lang="en-AU" sz="1600" dirty="0">
                    <a:effectLst/>
                    <a:latin typeface="Arial" panose="020B0604020202020204" pitchFamily="34" charset="0"/>
                    <a:ea typeface="Calibri" panose="020F0502020204030204" pitchFamily="34" charset="0"/>
                  </a:rPr>
                  <a:t>Provide students with </a:t>
                </a:r>
                <a:r>
                  <a:rPr lang="en-AU" b="0" dirty="0"/>
                  <a:t>Resource 19 – pamphlet delivery.</a:t>
                </a:r>
              </a:p>
              <a:p>
                <a:pPr marL="342900" lvl="0" indent="-34290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rPr>
                  <a:t>Read the scenario: Greta, Scout and Olive were asked to deliver pamphlets to houses on their street. The girls had to stop due to a thunderstorm, so they did not cover the distance of the whole street.</a:t>
                </a:r>
              </a:p>
              <a:p>
                <a:pPr marL="645795"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rPr>
                  <a:t>Greta delivered to half </a:t>
                </a:r>
                <a:r>
                  <a:rPr lang="en-AU" sz="1600" dirty="0">
                    <a:effectLst/>
                    <a:latin typeface="Arial" panose="020B0604020202020204" pitchFamily="34" charset="0"/>
                    <a:ea typeface="DengXian" panose="02010600030101010101" pitchFamily="2" charset="-122"/>
                  </a:rPr>
                  <a:t>of her street</a:t>
                </a:r>
                <a:endParaRPr lang="en-AU" sz="1600" dirty="0">
                  <a:effectLst/>
                  <a:latin typeface="Arial" panose="020B0604020202020204" pitchFamily="34" charset="0"/>
                  <a:ea typeface="Calibri" panose="020F0502020204030204" pitchFamily="34" charset="0"/>
                </a:endParaRPr>
              </a:p>
              <a:p>
                <a:pPr marL="645795"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rPr>
                  <a:t>Scout delivered to quarter of her street</a:t>
                </a:r>
              </a:p>
              <a:p>
                <a:pPr marL="645795"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DengXian" panose="02010600030101010101" pitchFamily="2" charset="-122"/>
                  </a:rPr>
                  <a:t>Olive delivered to 3 eighths of her street.</a:t>
                </a:r>
                <a:endParaRPr lang="en-AU" sz="1600" dirty="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DengXian" panose="02010600030101010101" pitchFamily="2" charset="-122"/>
                  </a:rPr>
                  <a:t>Instruct students to mark the distance covered in fractions on the number lines.</a:t>
                </a:r>
                <a:endParaRPr lang="en-AU" sz="1600" dirty="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Arial" panose="020B0604020202020204" pitchFamily="34" charset="0"/>
                  <a:buNone/>
                </a:pPr>
                <a:r>
                  <a:rPr lang="en-AU" sz="1600" dirty="0">
                    <a:effectLst/>
                    <a:latin typeface="Arial" panose="020B0604020202020204" pitchFamily="34" charset="0"/>
                    <a:ea typeface="DengXian" panose="02010600030101010101" pitchFamily="2" charset="-122"/>
                  </a:rPr>
                  <a:t>Ask:</a:t>
                </a:r>
                <a:endParaRPr lang="en-AU" sz="1600" dirty="0">
                  <a:effectLst/>
                  <a:latin typeface="Arial" panose="020B0604020202020204" pitchFamily="34" charset="0"/>
                  <a:ea typeface="Calibri" panose="020F0502020204030204" pitchFamily="34" charset="0"/>
                </a:endParaRPr>
              </a:p>
              <a:p>
                <a:pPr marL="645795"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rPr>
                  <a:t>Who covered more distance on their street? How do you know?</a:t>
                </a:r>
              </a:p>
              <a:p>
                <a:pPr marL="645795" indent="-285750">
                  <a:lnSpc>
                    <a:spcPct val="150000"/>
                  </a:lnSpc>
                  <a:spcBef>
                    <a:spcPts val="1200"/>
                  </a:spcBef>
                  <a:spcAft>
                    <a:spcPts val="600"/>
                  </a:spcAft>
                  <a:buFont typeface="Arial" panose="020B0604020202020204" pitchFamily="34" charset="0"/>
                  <a:buChar char="•"/>
                </a:pPr>
                <a:r>
                  <a:rPr lang="en-AU" sz="1600" dirty="0">
                    <a:effectLst/>
                    <a:latin typeface="Arial" panose="020B0604020202020204" pitchFamily="34" charset="0"/>
                    <a:ea typeface="Calibri" panose="020F0502020204030204" pitchFamily="34" charset="0"/>
                  </a:rPr>
                  <a:t>What fraction of the street does each girl still need to cover, to ensure they have delivered their pamphlets to the whole street?</a:t>
                </a:r>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mc:Choice>
        <mc:Fallback xmlns="">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Partitioned fractions A</a:t>
                </a:r>
              </a:p>
              <a:p>
                <a:endParaRPr lang="en-AU"/>
              </a:p>
              <a:p>
                <a:r>
                  <a:rPr lang="en-AU" b="1"/>
                  <a:t>Activity 4 – fractions on a number line</a:t>
                </a:r>
              </a:p>
              <a:p>
                <a:pPr marL="342900" marR="0" lvl="0" indent="-342900" algn="l" defTabSz="1219170" rtl="0" eaLnBrk="1" fontAlgn="auto" latinLnBrk="0" hangingPunct="1">
                  <a:lnSpc>
                    <a:spcPct val="150000"/>
                  </a:lnSpc>
                  <a:spcBef>
                    <a:spcPts val="1200"/>
                  </a:spcBef>
                  <a:spcAft>
                    <a:spcPts val="600"/>
                  </a:spcAft>
                  <a:buClrTx/>
                  <a:buSzTx/>
                  <a:buFont typeface="Arial" panose="020B0604020202020204" pitchFamily="34" charset="0"/>
                  <a:buChar char="•"/>
                  <a:tabLst/>
                  <a:defRPr/>
                </a:pPr>
                <a:r>
                  <a:rPr lang="en-AU" sz="1600">
                    <a:effectLst/>
                    <a:latin typeface="Arial" panose="020B0604020202020204" pitchFamily="34" charset="0"/>
                    <a:ea typeface="Calibri" panose="020F0502020204030204" pitchFamily="34" charset="0"/>
                  </a:rPr>
                  <a:t>Display and provide students with </a:t>
                </a:r>
                <a:r>
                  <a:rPr lang="en-AU" b="0"/>
                  <a:t>Resource 18 – pamphlet delivery (this resource corresponds to Resource 18 – pamphlet delivery in Stage 2 Year A Unit 4).</a:t>
                </a:r>
              </a:p>
              <a:p>
                <a:pPr marL="342900" lvl="0" indent="-342900">
                  <a:lnSpc>
                    <a:spcPct val="150000"/>
                  </a:lnSpc>
                  <a:spcBef>
                    <a:spcPts val="1200"/>
                  </a:spcBef>
                  <a:spcAft>
                    <a:spcPts val="600"/>
                  </a:spcAft>
                  <a:buFont typeface="Arial" panose="020B0604020202020204" pitchFamily="34" charset="0"/>
                  <a:buChar char="•"/>
                </a:pPr>
                <a:r>
                  <a:rPr lang="en-AU" sz="1600">
                    <a:effectLst/>
                    <a:latin typeface="Arial" panose="020B0604020202020204" pitchFamily="34" charset="0"/>
                    <a:ea typeface="Calibri" panose="020F0502020204030204" pitchFamily="34" charset="0"/>
                  </a:rPr>
                  <a:t>Read the scenario: Greta, Scout and Olive were asked to deliver pamphlets to houses on their street. The girls had to stop due to a thunderstorm, so they did not cover the distance of the whole street.</a:t>
                </a:r>
              </a:p>
              <a:p>
                <a:pPr marL="645795" indent="-285750">
                  <a:lnSpc>
                    <a:spcPct val="150000"/>
                  </a:lnSpc>
                  <a:spcBef>
                    <a:spcPts val="1200"/>
                  </a:spcBef>
                  <a:spcAft>
                    <a:spcPts val="600"/>
                  </a:spcAft>
                  <a:buFont typeface="Arial" panose="020B0604020202020204" pitchFamily="34" charset="0"/>
                  <a:buChar char="•"/>
                </a:pPr>
                <a:r>
                  <a:rPr lang="en-AU" sz="1600">
                    <a:effectLst/>
                    <a:latin typeface="Arial" panose="020B0604020202020204" pitchFamily="34" charset="0"/>
                    <a:ea typeface="Calibri" panose="020F0502020204030204" pitchFamily="34" charset="0"/>
                  </a:rPr>
                  <a:t>Greta delivered to </a:t>
                </a:r>
                <a:r>
                  <a:rPr lang="en-AU" sz="1600" i="0">
                    <a:effectLst/>
                    <a:latin typeface="Cambria Math" panose="02040503050406030204" pitchFamily="18" charset="0"/>
                    <a:ea typeface="Calibri" panose="020F0502020204030204" pitchFamily="34" charset="0"/>
                  </a:rPr>
                  <a:t>1/2</a:t>
                </a:r>
                <a:r>
                  <a:rPr lang="en-AU" sz="1600">
                    <a:effectLst/>
                    <a:latin typeface="Arial" panose="020B0604020202020204" pitchFamily="34" charset="0"/>
                    <a:ea typeface="DengXian" panose="02010600030101010101" pitchFamily="2" charset="-122"/>
                  </a:rPr>
                  <a:t> of her street</a:t>
                </a:r>
                <a:endParaRPr lang="en-AU" sz="1600">
                  <a:effectLst/>
                  <a:latin typeface="Arial" panose="020B0604020202020204" pitchFamily="34" charset="0"/>
                  <a:ea typeface="Calibri" panose="020F0502020204030204" pitchFamily="34" charset="0"/>
                </a:endParaRPr>
              </a:p>
              <a:p>
                <a:pPr marL="645795" indent="-285750">
                  <a:lnSpc>
                    <a:spcPct val="150000"/>
                  </a:lnSpc>
                  <a:spcBef>
                    <a:spcPts val="1200"/>
                  </a:spcBef>
                  <a:spcAft>
                    <a:spcPts val="600"/>
                  </a:spcAft>
                  <a:buFont typeface="Arial" panose="020B0604020202020204" pitchFamily="34" charset="0"/>
                  <a:buChar char="•"/>
                </a:pPr>
                <a:r>
                  <a:rPr lang="en-AU" sz="1600">
                    <a:effectLst/>
                    <a:latin typeface="Arial" panose="020B0604020202020204" pitchFamily="34" charset="0"/>
                    <a:ea typeface="Calibri" panose="020F0502020204030204" pitchFamily="34" charset="0"/>
                  </a:rPr>
                  <a:t>Scout delivered to </a:t>
                </a:r>
                <a:r>
                  <a:rPr lang="en-AU" sz="1600" i="0">
                    <a:effectLst/>
                    <a:latin typeface="Cambria Math" panose="02040503050406030204" pitchFamily="18" charset="0"/>
                    <a:ea typeface="Calibri" panose="020F0502020204030204" pitchFamily="34" charset="0"/>
                  </a:rPr>
                  <a:t>1/4  </a:t>
                </a:r>
                <a:r>
                  <a:rPr lang="en-AU" sz="1600">
                    <a:effectLst/>
                    <a:latin typeface="Arial" panose="020B0604020202020204" pitchFamily="34" charset="0"/>
                    <a:ea typeface="Calibri" panose="020F0502020204030204" pitchFamily="34" charset="0"/>
                  </a:rPr>
                  <a:t>of her street</a:t>
                </a:r>
              </a:p>
              <a:p>
                <a:pPr marL="645795" indent="-285750">
                  <a:lnSpc>
                    <a:spcPct val="150000"/>
                  </a:lnSpc>
                  <a:spcBef>
                    <a:spcPts val="1200"/>
                  </a:spcBef>
                  <a:spcAft>
                    <a:spcPts val="600"/>
                  </a:spcAft>
                  <a:buFont typeface="Arial" panose="020B0604020202020204" pitchFamily="34" charset="0"/>
                  <a:buChar char="•"/>
                </a:pPr>
                <a:r>
                  <a:rPr lang="en-AU" sz="1600">
                    <a:effectLst/>
                    <a:latin typeface="Arial" panose="020B0604020202020204" pitchFamily="34" charset="0"/>
                    <a:ea typeface="DengXian" panose="02010600030101010101" pitchFamily="2" charset="-122"/>
                  </a:rPr>
                  <a:t>Olive delivered to </a:t>
                </a:r>
                <a:r>
                  <a:rPr lang="en-AU" sz="1600" i="0">
                    <a:effectLst/>
                    <a:latin typeface="Cambria Math" panose="02040503050406030204" pitchFamily="18" charset="0"/>
                    <a:ea typeface="DengXian" panose="02010600030101010101" pitchFamily="2" charset="-122"/>
                  </a:rPr>
                  <a:t>3/8</a:t>
                </a:r>
                <a:r>
                  <a:rPr lang="en-AU" sz="1600">
                    <a:effectLst/>
                    <a:latin typeface="Arial" panose="020B0604020202020204" pitchFamily="34" charset="0"/>
                    <a:ea typeface="DengXian" panose="02010600030101010101" pitchFamily="2" charset="-122"/>
                  </a:rPr>
                  <a:t> of her street.</a:t>
                </a:r>
                <a:endParaRPr lang="en-AU" sz="16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Arial" panose="020B0604020202020204" pitchFamily="34" charset="0"/>
                  <a:buChar char="•"/>
                </a:pPr>
                <a:r>
                  <a:rPr lang="en-AU" sz="1600">
                    <a:effectLst/>
                    <a:latin typeface="Arial" panose="020B0604020202020204" pitchFamily="34" charset="0"/>
                    <a:ea typeface="DengXian" panose="02010600030101010101" pitchFamily="2" charset="-122"/>
                  </a:rPr>
                  <a:t>Instruct students to mark the distance covered in fractions on the number lines.</a:t>
                </a:r>
                <a:endParaRPr lang="en-AU" sz="16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Arial" panose="020B0604020202020204" pitchFamily="34" charset="0"/>
                  <a:buChar char="•"/>
                </a:pPr>
                <a:r>
                  <a:rPr lang="en-AU" sz="1600">
                    <a:effectLst/>
                    <a:latin typeface="Arial" panose="020B0604020202020204" pitchFamily="34" charset="0"/>
                    <a:ea typeface="DengXian" panose="02010600030101010101" pitchFamily="2" charset="-122"/>
                  </a:rPr>
                  <a:t>Ask:</a:t>
                </a:r>
                <a:endParaRPr lang="en-AU" sz="1600">
                  <a:effectLst/>
                  <a:latin typeface="Arial" panose="020B0604020202020204" pitchFamily="34" charset="0"/>
                  <a:ea typeface="Calibri" panose="020F0502020204030204" pitchFamily="34" charset="0"/>
                </a:endParaRPr>
              </a:p>
              <a:p>
                <a:pPr marL="645795" indent="-285750">
                  <a:lnSpc>
                    <a:spcPct val="150000"/>
                  </a:lnSpc>
                  <a:spcBef>
                    <a:spcPts val="1200"/>
                  </a:spcBef>
                  <a:spcAft>
                    <a:spcPts val="600"/>
                  </a:spcAft>
                  <a:buFont typeface="Arial" panose="020B0604020202020204" pitchFamily="34" charset="0"/>
                  <a:buChar char="•"/>
                </a:pPr>
                <a:r>
                  <a:rPr lang="en-AU" sz="1600">
                    <a:effectLst/>
                    <a:latin typeface="Arial" panose="020B0604020202020204" pitchFamily="34" charset="0"/>
                    <a:ea typeface="Calibri" panose="020F0502020204030204" pitchFamily="34" charset="0"/>
                  </a:rPr>
                  <a:t>Who covered more distance on their street? How do you know?</a:t>
                </a:r>
              </a:p>
              <a:p>
                <a:pPr marL="645795" indent="-285750">
                  <a:lnSpc>
                    <a:spcPct val="150000"/>
                  </a:lnSpc>
                  <a:spcBef>
                    <a:spcPts val="1200"/>
                  </a:spcBef>
                  <a:spcAft>
                    <a:spcPts val="600"/>
                  </a:spcAft>
                  <a:buFont typeface="Arial" panose="020B0604020202020204" pitchFamily="34" charset="0"/>
                  <a:buChar char="•"/>
                </a:pPr>
                <a:r>
                  <a:rPr lang="en-AU" sz="1600">
                    <a:effectLst/>
                    <a:latin typeface="Arial" panose="020B0604020202020204" pitchFamily="34" charset="0"/>
                    <a:ea typeface="Calibri" panose="020F0502020204030204" pitchFamily="34" charset="0"/>
                  </a:rPr>
                  <a:t>What fraction of the street does each girl still need to cover, to ensure they have delivered their pamphlets to the whole street?</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mc:Fallback>
      </mc:AlternateContent>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kern="1200">
                <a:solidFill>
                  <a:schemeClr val="tx1"/>
                </a:solidFill>
                <a:effectLst/>
                <a:highlight>
                  <a:srgbClr val="FFFF00"/>
                </a:highlight>
                <a:latin typeface="Arial" panose="020B0604020202020204" pitchFamily="34" charset="0"/>
                <a:ea typeface="+mn-ea"/>
                <a:cs typeface="Arial" panose="020B0604020202020204" pitchFamily="34" charset="0"/>
              </a:rPr>
              <a:t>Multiplicative relations A</a:t>
            </a: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Partitioned fractions A</a:t>
            </a: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Non-spatial measure A: Time </a:t>
            </a: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a:t>This is a developing number sense activity. </a:t>
            </a:r>
          </a:p>
          <a:p>
            <a:endParaRPr lang="en-AU" sz="1800"/>
          </a:p>
          <a:p>
            <a:r>
              <a:rPr lang="en-AU" sz="180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a:p>
          <a:p>
            <a:r>
              <a:rPr lang="en-AU" sz="1800" b="1"/>
              <a:t>Syllabus focus area:</a:t>
            </a:r>
          </a:p>
          <a:p>
            <a:r>
              <a:rPr lang="en-AU" sz="1600" b="0" kern="1200">
                <a:solidFill>
                  <a:schemeClr val="tx1"/>
                </a:solidFill>
                <a:effectLst/>
                <a:latin typeface="Arial" panose="020B0604020202020204" pitchFamily="34" charset="0"/>
                <a:ea typeface="+mn-ea"/>
                <a:cs typeface="Arial" panose="020B0604020202020204" pitchFamily="34" charset="0"/>
              </a:rPr>
              <a:t>Multiplicative relations A</a:t>
            </a:r>
          </a:p>
          <a:p>
            <a:endParaRPr lang="en-AU" sz="1800" b="1"/>
          </a:p>
          <a:p>
            <a:r>
              <a:rPr lang="en-AU" sz="1800" b="1">
                <a:solidFill>
                  <a:schemeClr val="accent1"/>
                </a:solidFill>
                <a:latin typeface="Arial"/>
                <a:cs typeface="Arial"/>
              </a:rPr>
              <a:t>Activity 5 – arrays for multiples of 2 and 4</a:t>
            </a:r>
            <a:endParaRPr lang="en-AU" sz="1800">
              <a:effectLst/>
              <a:latin typeface="Arial" panose="020B0604020202020204" pitchFamily="34" charset="0"/>
              <a:ea typeface="Calibri" panose="020F050202020403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students with a collection of counters. Prompt them to place 2 counters down.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Instruct them to double the number of counters to create a 2 × 2 array.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How many counters do you have?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finish the sentence: Double 2 is…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Repeat steps 2 - 4 by doubling again to create a 2 × 4 array and 2 × 8 array.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Instruct students to rearrange their array so that it has 4 rows of 4.</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finish the sentence: Double 4 is… and double 8 is…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Model how doubling and doubling again can help to find an answer to a multiplication problem when multiplying by 4. For example, double 4 is 8, doubled again is 16. 4 rows of 4 is 16.</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Repeat all the steps starting with 3 counters.</a:t>
            </a:r>
          </a:p>
          <a:p>
            <a:pPr marL="342900" indent="-342900">
              <a:buAutoNum type="arabicPeriod"/>
            </a:pPr>
            <a:endParaRPr lang="en-US">
              <a:latin typeface="Public Sans"/>
              <a:cs typeface="Calibri"/>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289767256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p>
          <a:p>
            <a:pPr>
              <a:defRPr/>
            </a:pPr>
            <a:r>
              <a:rPr lang="en-AU" b="0">
                <a:latin typeface="Arial"/>
                <a:cs typeface="Arial"/>
              </a:rPr>
              <a:t>Multiplicative relations A</a:t>
            </a:r>
            <a:endParaRPr lang="en-US" b="0">
              <a:solidFill>
                <a:srgbClr val="444444"/>
              </a:solidFill>
              <a:latin typeface="Arial"/>
              <a:cs typeface="Arial"/>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Partitioned fractions B</a:t>
            </a: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a:latin typeface="Arial"/>
                <a:cs typeface="Arial"/>
              </a:rPr>
              <a:t>Geometric measure B: Length</a:t>
            </a:r>
            <a:endParaRPr lang="en-AU" sz="1600" i="0">
              <a:solidFill>
                <a:schemeClr val="tx1"/>
              </a:solidFill>
              <a:latin typeface="Arial" panose="020B0604020202020204" pitchFamily="34" charset="0"/>
              <a:cs typeface="Arial" panose="020B0604020202020204" pitchFamily="34" charset="0"/>
            </a:endParaRPr>
          </a:p>
          <a:p>
            <a:endParaRPr lang="en-AU" b="1"/>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a:p>
            <a:endParaRPr lang="en-AU" b="1"/>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Geometric measure A: Length</a:t>
            </a: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dirty="0"/>
              <a:t>This is a developing number sense activity. </a:t>
            </a:r>
          </a:p>
          <a:p>
            <a:endParaRPr lang="en-AU" sz="1800" dirty="0"/>
          </a:p>
          <a:p>
            <a:r>
              <a:rPr lang="en-AU" sz="1800"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dirty="0"/>
          </a:p>
          <a:p>
            <a:r>
              <a:rPr lang="en-AU" sz="1800" b="1" dirty="0"/>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Multiplicative relations A</a:t>
            </a:r>
          </a:p>
          <a:p>
            <a:endParaRPr lang="en-AU" sz="1800" dirty="0"/>
          </a:p>
          <a:p>
            <a:r>
              <a:rPr lang="en-AU" sz="1800" b="1" dirty="0">
                <a:latin typeface="Arial"/>
                <a:cs typeface="Arial"/>
              </a:rPr>
              <a:t>Activity 6 – doubling and halving</a:t>
            </a:r>
          </a:p>
          <a:p>
            <a:r>
              <a:rPr lang="en-AU" sz="1800" b="0" dirty="0"/>
              <a:t>This resource corresponds to Resource 20 – doubling and halving in Stage 2 Year A Unit 4</a:t>
            </a:r>
          </a:p>
          <a:p>
            <a:endParaRPr lang="en-AU" sz="1800" dirty="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rPr>
              <a:t>Explain that students are going to solve doubling and halving problems with a missing part. The missing part could be a number or a symbol.</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rPr>
              <a:t>Explain that when we multiply by 2, we double the number. When we divide by 2, we halve the number.</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rPr>
              <a:t>Model the first equation</a:t>
            </a:r>
            <a:r>
              <a:rPr lang="en-AU" sz="1800" b="0" dirty="0"/>
              <a:t> </a:t>
            </a:r>
            <a:r>
              <a:rPr lang="en-AU" sz="1800" dirty="0">
                <a:effectLst/>
                <a:latin typeface="Arial" panose="020B0604020202020204" pitchFamily="34" charset="0"/>
                <a:ea typeface="Calibri" panose="020F0502020204030204" pitchFamily="34" charset="0"/>
              </a:rPr>
              <a:t>. Highlight that the missing number has been divided by 2 and the answer is 5.</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rPr>
              <a:t>Ask: What number, when halved, equals 5?</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rPr>
              <a:t>Model the second equation, highlighting that the missing number has been multiplied by 2 and the answer is 10.</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rPr>
              <a:t>Ask: What number, when doubled, equals 10?</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rPr>
              <a:t>Discuss the inverse relationship between the two examples.</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rPr>
              <a:t>Provide students with </a:t>
            </a:r>
            <a:r>
              <a:rPr lang="en-AU" sz="1800" b="0" dirty="0"/>
              <a:t>Resource 20 – doubling and halving</a:t>
            </a:r>
            <a:r>
              <a:rPr lang="en-AU" sz="1800" dirty="0">
                <a:effectLst/>
                <a:latin typeface="Arial" panose="020B0604020202020204" pitchFamily="34" charset="0"/>
                <a:ea typeface="Calibri" panose="020F0502020204030204" pitchFamily="34" charset="0"/>
              </a:rPr>
              <a:t>. Students solve problems in pairs, determining the missing number and recording in the number sentence in their workbooks.</a:t>
            </a:r>
          </a:p>
        </p:txBody>
      </p:sp>
      <p:sp>
        <p:nvSpPr>
          <p:cNvPr id="4" name="Slide Number Placeholder 3"/>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262571356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4DFCD-31FA-F3F1-0503-00AA2F65C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B09FC2-CCEB-CEDC-3A01-C9E26E3255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D3C90A-C744-5006-D536-E6891BDEE95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A</a:t>
            </a:r>
          </a:p>
        </p:txBody>
      </p:sp>
      <p:sp>
        <p:nvSpPr>
          <p:cNvPr id="4" name="Slide Number Placeholder 3">
            <a:extLst>
              <a:ext uri="{FF2B5EF4-FFF2-40B4-BE49-F238E27FC236}">
                <a16:creationId xmlns:a16="http://schemas.microsoft.com/office/drawing/2014/main" id="{CF66ABEE-F3BE-E1BA-B1D3-0327A7ADD536}"/>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32401760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Partitioned fractions A</a:t>
            </a: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Length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dirty="0"/>
              <a:t>This is a developing number sense activity. </a:t>
            </a:r>
          </a:p>
          <a:p>
            <a:endParaRPr lang="en-AU" sz="1800" dirty="0"/>
          </a:p>
          <a:p>
            <a:r>
              <a:rPr lang="en-AU" sz="1800"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dirty="0"/>
          </a:p>
          <a:p>
            <a:r>
              <a:rPr lang="en-AU" sz="1800" b="1" dirty="0"/>
              <a:t>Syllabus focus area:</a:t>
            </a:r>
          </a:p>
          <a:p>
            <a:r>
              <a:rPr lang="en-AU" sz="1800" b="0" kern="1200" dirty="0">
                <a:solidFill>
                  <a:schemeClr val="tx1"/>
                </a:solidFill>
                <a:effectLst/>
                <a:latin typeface="Arial" panose="020B0604020202020204" pitchFamily="34" charset="0"/>
                <a:ea typeface="+mn-ea"/>
                <a:cs typeface="Arial" panose="020B0604020202020204" pitchFamily="34" charset="0"/>
              </a:rPr>
              <a:t>Multiplicative relations A</a:t>
            </a:r>
          </a:p>
          <a:p>
            <a:endParaRPr lang="en-AU" sz="1800" b="0" kern="1200" dirty="0">
              <a:solidFill>
                <a:schemeClr val="tx1"/>
              </a:solidFill>
              <a:effectLst/>
              <a:latin typeface="Arial" panose="020B0604020202020204" pitchFamily="34" charset="0"/>
              <a:ea typeface="+mn-ea"/>
              <a:cs typeface="Arial" panose="020B0604020202020204" pitchFamily="34" charset="0"/>
            </a:endParaRPr>
          </a:p>
          <a:p>
            <a:r>
              <a:rPr lang="en-AU" sz="1800" b="1" dirty="0">
                <a:latin typeface="Arial"/>
                <a:cs typeface="Arial"/>
              </a:rPr>
              <a:t>Activity 7 – multiples madness</a:t>
            </a:r>
          </a:p>
          <a:p>
            <a:pPr marL="0" indent="0">
              <a:buFont typeface="Arial" panose="020B0604020202020204" pitchFamily="34" charset="0"/>
              <a:buNone/>
            </a:pPr>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adaptation of Multiples madness from Thinking mathematically by NSW Department of Education. Gameboards for two, fives and tens are available from the Thinking mathematically website.</a:t>
            </a:r>
          </a:p>
          <a:p>
            <a:pPr marL="0" indent="0">
              <a:buFont typeface="Arial" panose="020B0604020202020204" pitchFamily="34" charset="0"/>
              <a:buNone/>
            </a:pP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0" indent="0">
              <a:buFont typeface="Arial" panose="020B0604020202020204" pitchFamily="34" charset="0"/>
              <a:buNone/>
            </a:pPr>
            <a:r>
              <a:rPr lang="en-AU" sz="1600" b="0" dirty="0"/>
              <a:t>This resource corresponds to Resource 21 – multiples madness in Stage 2 Year A Unit 4.</a:t>
            </a: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0" indent="0">
              <a:buFont typeface="Arial" panose="020B0604020202020204" pitchFamily="34" charset="0"/>
              <a:buNone/>
            </a:pP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kern="1200" dirty="0">
                <a:solidFill>
                  <a:schemeClr val="tx1"/>
                </a:solidFill>
                <a:effectLst/>
                <a:latin typeface="Arial" panose="020B0604020202020204" pitchFamily="34" charset="0"/>
                <a:ea typeface="+mn-ea"/>
                <a:cs typeface="Arial" panose="020B0604020202020204" pitchFamily="34" charset="0"/>
              </a:rPr>
              <a:t>Provide students with a 9-sided dice, 3 counters in two colours and </a:t>
            </a:r>
            <a:r>
              <a:rPr lang="en-AU" sz="1600" b="0" dirty="0"/>
              <a:t>Resource 21 – multiples madness</a:t>
            </a: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Select 2, 5 or 10 to be the multiple and instruct students to fill in the gameboard with numbers accordingly. For example, if number 5 is chosen, the gameboard would be filled with 0, 5, 10, 15, 20, 25, 30, 35, 40 and 45.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Players take turns to roll the dice.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They multiply the number rolled by the chosen multiple and record their number sentence on </a:t>
            </a:r>
            <a:r>
              <a:rPr lang="en-AU" sz="1600" b="0" dirty="0"/>
              <a:t>Resource 21 – multiples madness</a:t>
            </a:r>
            <a:r>
              <a:rPr lang="en-AU" sz="1600" kern="1200" dirty="0">
                <a:solidFill>
                  <a:schemeClr val="tx1"/>
                </a:solidFill>
                <a:effectLst/>
                <a:latin typeface="Arial" panose="020B0604020202020204" pitchFamily="34" charset="0"/>
                <a:ea typeface="+mn-ea"/>
                <a:cs typeface="Arial" panose="020B0604020202020204" pitchFamily="34" charset="0"/>
              </a:rPr>
              <a:t>. For example, if 6 is rolled, the player would record 6 × 5 = 30.</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They then place one of their counters on the number on the gameboard, claiming that place.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If the number is taken, players miss a turn.</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Since players only have 3 counters, they will need to choose which counter to move once all 3 have been placed on the gameboard.</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 player wins by getting three counters in a row (in any orientation).</a:t>
            </a:r>
          </a:p>
          <a:p>
            <a:pPr marL="285750" indent="-285750">
              <a:buFont typeface="Arial"/>
              <a:buChar char="•"/>
            </a:pPr>
            <a:endParaRPr lang="en-AU" sz="1800" dirty="0">
              <a:effectLst/>
              <a:latin typeface="Arial" panose="020B0604020202020204" pitchFamily="34" charset="0"/>
              <a:ea typeface="Calibri" panose="020F0502020204030204" pitchFamily="34" charset="0"/>
              <a:cs typeface="Calibri"/>
            </a:endParaRPr>
          </a:p>
          <a:p>
            <a:pPr marL="285750" indent="-285750">
              <a:buFont typeface="Arial"/>
              <a:buChar char="•"/>
            </a:pPr>
            <a:endParaRPr lang="en-US" dirty="0">
              <a:latin typeface="Calibri"/>
              <a:cs typeface="Calibri"/>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227762217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9A9EF-64FA-DE28-A455-035277E14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A7DD4A-4211-222A-5D05-94AAF524D9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6FE65-9794-6B34-7A5B-740BFA1010E4}"/>
              </a:ext>
            </a:extLst>
          </p:cNvPr>
          <p:cNvSpPr>
            <a:spLocks noGrp="1"/>
          </p:cNvSpPr>
          <p:nvPr>
            <p:ph type="body" idx="1"/>
          </p:nvPr>
        </p:nvSpPr>
        <p:spPr/>
        <p:txBody>
          <a:bodyPr/>
          <a:lstStyle/>
          <a:p>
            <a:r>
              <a:rPr lang="en-AU" sz="1800" b="1" dirty="0">
                <a:latin typeface="Arial"/>
                <a:cs typeface="Arial"/>
              </a:rPr>
              <a:t>Activity 7 – multiples madness continued</a:t>
            </a:r>
          </a:p>
          <a:p>
            <a:r>
              <a:rPr lang="en-AU" sz="1800" b="0" dirty="0"/>
              <a:t>This resource corresponds to Resource 21 – multiples madness in Stage 2 Year A Unit 4. </a:t>
            </a:r>
            <a:endParaRPr lang="en-AU" sz="1800" dirty="0">
              <a:effectLst/>
              <a:latin typeface="Arial" panose="020B0604020202020204" pitchFamily="34" charset="0"/>
              <a:ea typeface="Calibri" panose="020F0502020204030204" pitchFamily="34" charset="0"/>
            </a:endParaRPr>
          </a:p>
          <a:p>
            <a:pPr marL="0" indent="0">
              <a:buFont typeface="Arial"/>
              <a:buNone/>
            </a:pPr>
            <a:endParaRPr lang="en-US" dirty="0">
              <a:latin typeface="Calibri"/>
              <a:cs typeface="Calibri"/>
            </a:endParaRPr>
          </a:p>
        </p:txBody>
      </p:sp>
      <p:sp>
        <p:nvSpPr>
          <p:cNvPr id="4" name="Slide Number Placeholder 3">
            <a:extLst>
              <a:ext uri="{FF2B5EF4-FFF2-40B4-BE49-F238E27FC236}">
                <a16:creationId xmlns:a16="http://schemas.microsoft.com/office/drawing/2014/main" id="{F1F92C66-C96D-D8D1-9DFB-5CAC7C82DED6}"/>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367280077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8)</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sz="1600" i="0" dirty="0">
                <a:solidFill>
                  <a:schemeClr val="tx1"/>
                </a:solidFill>
                <a:latin typeface="Arial"/>
                <a:cs typeface="Arial"/>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Partitioned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Geometric measure A: Length</a:t>
            </a: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FC16D-9A64-45BE-0C24-EEF8716AA8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CC8186-8BAE-D1EF-EC2C-1464A7906C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C0EB04-7BFA-98AA-5953-23B12AE19625}"/>
              </a:ext>
            </a:extLst>
          </p:cNvPr>
          <p:cNvSpPr>
            <a:spLocks noGrp="1"/>
          </p:cNvSpPr>
          <p:nvPr>
            <p:ph type="body" idx="1"/>
          </p:nvPr>
        </p:nvSpPr>
        <p:spPr/>
        <p:txBody>
          <a:bodyPr/>
          <a:lstStyle/>
          <a:p>
            <a:r>
              <a:rPr lang="en-AU" sz="1800" dirty="0"/>
              <a:t>This is a developing number sense activity. </a:t>
            </a:r>
          </a:p>
          <a:p>
            <a:endParaRPr lang="en-AU" sz="1800" dirty="0"/>
          </a:p>
          <a:p>
            <a:r>
              <a:rPr lang="en-AU" sz="1800"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dirty="0"/>
          </a:p>
          <a:p>
            <a:r>
              <a:rPr lang="en-AU" sz="1800" b="1" dirty="0"/>
              <a:t>Syllabus focus area:</a:t>
            </a:r>
          </a:p>
          <a:p>
            <a:r>
              <a:rPr lang="en-AU" sz="1800" b="0" kern="1200" dirty="0">
                <a:solidFill>
                  <a:schemeClr val="tx1"/>
                </a:solidFill>
                <a:effectLst/>
                <a:latin typeface="Arial" panose="020B0604020202020204" pitchFamily="34" charset="0"/>
                <a:ea typeface="+mn-ea"/>
                <a:cs typeface="Arial" panose="020B0604020202020204" pitchFamily="34" charset="0"/>
              </a:rPr>
              <a:t>Multiplicative relations A</a:t>
            </a:r>
          </a:p>
          <a:p>
            <a:endParaRPr lang="en-AU" sz="1800" b="1" dirty="0"/>
          </a:p>
          <a:p>
            <a:r>
              <a:rPr lang="en-AU" sz="1800" b="1" dirty="0">
                <a:latin typeface="Arial"/>
                <a:cs typeface="Arial"/>
              </a:rPr>
              <a:t>Activity 8 – multiples of 2, 4 ,5 and 10</a:t>
            </a:r>
          </a:p>
          <a:p>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adaptation of Common Multiples from NZ Maths by New Zealand Ministry of Education. </a:t>
            </a:r>
          </a:p>
          <a:p>
            <a:endParaRPr lang="en-AU" sz="1600" kern="1200" dirty="0">
              <a:solidFill>
                <a:schemeClr val="tx1"/>
              </a:solidFill>
              <a:effectLst/>
              <a:latin typeface="Arial" panose="020B0604020202020204" pitchFamily="34" charset="0"/>
              <a:ea typeface="+mn-ea"/>
              <a:cs typeface="Arial" panose="020B0604020202020204" pitchFamily="34" charset="0"/>
            </a:endParaRPr>
          </a:p>
          <a:p>
            <a:r>
              <a:rPr lang="en-AU" sz="1600" b="0" dirty="0"/>
              <a:t>This resource corresponds to Resource 22 – ‘Multiples’ gameboard and Resource 22 – ‘multiples’ rule cards in Stage 2 Year A Unit 4</a:t>
            </a:r>
          </a:p>
          <a:p>
            <a:endParaRPr lang="en-AU" sz="1600" kern="1200" dirty="0">
              <a:solidFill>
                <a:schemeClr val="tx1"/>
              </a:solidFill>
              <a:effectLst/>
              <a:latin typeface="Arial" panose="020B0604020202020204" pitchFamily="34" charset="0"/>
              <a:ea typeface="+mn-ea"/>
              <a:cs typeface="Arial" panose="020B0604020202020204" pitchFamily="34" charset="0"/>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kern="1200" dirty="0">
                <a:solidFill>
                  <a:schemeClr val="tx1"/>
                </a:solidFill>
                <a:effectLst/>
                <a:latin typeface="Arial" panose="020B0604020202020204" pitchFamily="34" charset="0"/>
                <a:ea typeface="+mn-ea"/>
                <a:cs typeface="Arial" panose="020B0604020202020204" pitchFamily="34" charset="0"/>
              </a:rPr>
              <a:t>Provide students with </a:t>
            </a:r>
            <a:r>
              <a:rPr lang="en-AU" sz="1600" b="0" dirty="0"/>
              <a:t>Resource 22 – ‘Multiples’ gameboard </a:t>
            </a:r>
            <a:r>
              <a:rPr lang="en-AU" sz="1600" kern="1200" dirty="0">
                <a:solidFill>
                  <a:schemeClr val="tx1"/>
                </a:solidFill>
                <a:effectLst/>
                <a:latin typeface="Arial" panose="020B0604020202020204" pitchFamily="34" charset="0"/>
                <a:ea typeface="+mn-ea"/>
                <a:cs typeface="Arial" panose="020B0604020202020204" pitchFamily="34" charset="0"/>
              </a:rPr>
              <a:t>and </a:t>
            </a:r>
            <a:r>
              <a:rPr lang="en-AU" sz="1600" b="0" dirty="0"/>
              <a:t>Resource 22 – ‘multiples’ rule cards</a:t>
            </a:r>
            <a:r>
              <a:rPr lang="en-AU" sz="1600" b="0" kern="1200" dirty="0">
                <a:solidFill>
                  <a:schemeClr val="tx1"/>
                </a:solidFill>
                <a:effectLst/>
                <a:latin typeface="Arial" panose="020B0604020202020204" pitchFamily="34" charset="0"/>
                <a:ea typeface="+mn-ea"/>
                <a:cs typeface="Arial" panose="020B0604020202020204" pitchFamily="34" charset="0"/>
              </a:rPr>
              <a:t>.</a:t>
            </a: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Shuffle and place the cards face down in a pile.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Players take turns to pick a card and cover a multiple of that number on the gameboard using counters. For example, if rule card 4 is drawn, the multiples 4, 8, 12, 16, 20, 24, 28 or 32 can be covered.</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Play continues until one player covers three number in a row (vertically, horizontally or diagonally).</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After a round of play, ask:</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Which numbers are more likely to be covered? Why?</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Which numbers would never be covered? Why?</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Play another round, encouraging students to be strategic with their number choices.</a:t>
            </a:r>
          </a:p>
          <a:p>
            <a:pPr marL="285750" lvl="0" indent="-285750">
              <a:buFont typeface="Arial" panose="020B0604020202020204" pitchFamily="34" charset="0"/>
              <a:buChar char="•"/>
            </a:pP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0" indent="0">
              <a:buFont typeface="Arial" panose="020B0604020202020204" pitchFamily="34" charset="0"/>
              <a:buNone/>
            </a:pPr>
            <a:r>
              <a:rPr lang="en-AU" sz="1600" b="1" kern="1200" dirty="0">
                <a:solidFill>
                  <a:schemeClr val="tx1"/>
                </a:solidFill>
                <a:effectLst/>
                <a:latin typeface="Arial" panose="020B0604020202020204" pitchFamily="34" charset="0"/>
                <a:ea typeface="+mn-ea"/>
                <a:cs typeface="Arial" panose="020B0604020202020204" pitchFamily="34" charset="0"/>
              </a:rPr>
              <a:t>Note: </a:t>
            </a:r>
            <a:r>
              <a:rPr lang="en-AU" sz="1600" kern="1200" dirty="0">
                <a:solidFill>
                  <a:schemeClr val="tx1"/>
                </a:solidFill>
                <a:effectLst/>
                <a:latin typeface="Arial" panose="020B0604020202020204" pitchFamily="34" charset="0"/>
                <a:ea typeface="+mn-ea"/>
                <a:cs typeface="Arial" panose="020B0604020202020204" pitchFamily="34" charset="0"/>
              </a:rPr>
              <a:t>Some students may enjoy the challenge of working with other multiples, such as 3, 7 and 9, or making their own gameboards to play with.</a:t>
            </a:r>
          </a:p>
          <a:p>
            <a:pPr marL="0" marR="0" lvl="0" indent="0" algn="l" defTabSz="1219170" rtl="0" eaLnBrk="1" fontAlgn="auto" latinLnBrk="0" hangingPunct="1">
              <a:lnSpc>
                <a:spcPct val="150000"/>
              </a:lnSpc>
              <a:spcBef>
                <a:spcPts val="1200"/>
              </a:spcBef>
              <a:spcAft>
                <a:spcPts val="600"/>
              </a:spcAft>
              <a:buClrTx/>
              <a:buSzTx/>
              <a:buFont typeface="+mj-lt"/>
              <a:buNone/>
              <a:tabLst/>
              <a:defRPr/>
            </a:pPr>
            <a:endParaRPr lang="en-AU" sz="1800" dirty="0">
              <a:effectLst/>
              <a:latin typeface="Arial" panose="020B060402020202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8D952C3A-1C3F-09B3-9C7B-DE1313FC1B0C}"/>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4594381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8EDE3-B56B-4A7E-CEC1-78A2839DF9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AB0F70-51FD-8501-95DC-EDE7ACD920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83EBE1-9478-65E4-22C9-317308810C5C}"/>
              </a:ext>
            </a:extLst>
          </p:cNvPr>
          <p:cNvSpPr>
            <a:spLocks noGrp="1"/>
          </p:cNvSpPr>
          <p:nvPr>
            <p:ph type="body" idx="1"/>
          </p:nvPr>
        </p:nvSpPr>
        <p:spPr/>
        <p:txBody>
          <a:bodyPr/>
          <a:lstStyle/>
          <a:p>
            <a:r>
              <a:rPr lang="en-AU" sz="1800" b="1" dirty="0">
                <a:latin typeface="Arial"/>
                <a:cs typeface="Arial"/>
              </a:rPr>
              <a:t>Activity 8 – multiples of 2, 4 ,5 and 10 continued</a:t>
            </a:r>
          </a:p>
          <a:p>
            <a:r>
              <a:rPr lang="en-AU" sz="1800" b="0" dirty="0"/>
              <a:t>This resource corresponds to Resource 21 – ‘multiples’ gameboard and Resource 22 – ‘multiples’ rule cards in Stage 2 Year A Unit 4. </a:t>
            </a:r>
            <a:endParaRPr lang="en-AU" sz="1800" dirty="0">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50000"/>
              </a:lnSpc>
              <a:spcBef>
                <a:spcPts val="1200"/>
              </a:spcBef>
              <a:spcAft>
                <a:spcPts val="600"/>
              </a:spcAft>
              <a:buClrTx/>
              <a:buSzTx/>
              <a:buFont typeface="+mj-lt"/>
              <a:buNone/>
              <a:tabLst/>
              <a:defRPr/>
            </a:pPr>
            <a:endParaRPr lang="en-AU" sz="1800" dirty="0">
              <a:effectLst/>
              <a:latin typeface="Arial" panose="020B060402020202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385C20A0-9C02-6996-A821-EE607B720A3D}"/>
              </a:ext>
            </a:extLst>
          </p:cNvPr>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50203499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70</a:t>
            </a:fld>
            <a:endParaRPr lang="en-AU"/>
          </a:p>
        </p:txBody>
      </p:sp>
    </p:spTree>
    <p:extLst>
      <p:ext uri="{BB962C8B-B14F-4D97-AF65-F5344CB8AC3E}">
        <p14:creationId xmlns:p14="http://schemas.microsoft.com/office/powerpoint/2010/main" val="179899206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71</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9.xml"/><Relationship Id="rId10" Type="http://schemas.openxmlformats.org/officeDocument/2006/relationships/slide" Target="slide54.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svg"/><Relationship Id="rId3" Type="http://schemas.openxmlformats.org/officeDocument/2006/relationships/image" Target="../media/image13.png"/><Relationship Id="rId7" Type="http://schemas.openxmlformats.org/officeDocument/2006/relationships/image" Target="../media/image17.svg"/><Relationship Id="rId12" Type="http://schemas.openxmlformats.org/officeDocument/2006/relationships/image" Target="../media/image22.svg"/><Relationship Id="rId17" Type="http://schemas.openxmlformats.org/officeDocument/2006/relationships/image" Target="../media/image27.png"/><Relationship Id="rId2" Type="http://schemas.openxmlformats.org/officeDocument/2006/relationships/notesSlide" Target="../notesSlides/notesSlide10.xml"/><Relationship Id="rId16" Type="http://schemas.openxmlformats.org/officeDocument/2006/relationships/image" Target="../media/image26.jpeg"/><Relationship Id="rId20" Type="http://schemas.openxmlformats.org/officeDocument/2006/relationships/image" Target="../media/image30.svg"/><Relationship Id="rId1" Type="http://schemas.openxmlformats.org/officeDocument/2006/relationships/slideLayout" Target="../slideLayouts/slideLayout4.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jpeg"/><Relationship Id="rId10" Type="http://schemas.openxmlformats.org/officeDocument/2006/relationships/image" Target="../media/image20.jpe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38.png"/><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44.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3.xml"/><Relationship Id="rId1" Type="http://schemas.openxmlformats.org/officeDocument/2006/relationships/slideLayout" Target="../slideLayouts/slideLayout4.xml"/><Relationship Id="rId5" Type="http://schemas.openxmlformats.org/officeDocument/2006/relationships/image" Target="../media/image48.png"/><Relationship Id="rId4" Type="http://schemas.openxmlformats.org/officeDocument/2006/relationships/image" Target="../media/image47.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5.xml"/><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5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6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0.xml"/><Relationship Id="rId1" Type="http://schemas.openxmlformats.org/officeDocument/2006/relationships/slideLayout" Target="../slideLayouts/slideLayout4.xml"/><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png"/></Relationships>
</file>

<file path=ppt/slides/_rels/slide6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1.xml"/><Relationship Id="rId1" Type="http://schemas.openxmlformats.org/officeDocument/2006/relationships/slideLayout" Target="../slideLayouts/slideLayout4.xml"/><Relationship Id="rId5" Type="http://schemas.openxmlformats.org/officeDocument/2006/relationships/image" Target="../media/image55.png"/><Relationship Id="rId4" Type="http://schemas.openxmlformats.org/officeDocument/2006/relationships/image" Target="../media/image54.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6.xml"/><Relationship Id="rId1" Type="http://schemas.openxmlformats.org/officeDocument/2006/relationships/slideLayout" Target="../slideLayouts/slideLayout11.xml"/><Relationship Id="rId6" Type="http://schemas.openxmlformats.org/officeDocument/2006/relationships/image" Target="../media/image57.svg"/><Relationship Id="rId5" Type="http://schemas.openxmlformats.org/officeDocument/2006/relationships/image" Target="../media/image56.png"/><Relationship Id="rId4" Type="http://schemas.openxmlformats.org/officeDocument/2006/relationships/slide" Target="slide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69.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www.mathopenref.com/complement.html" TargetMode="External"/></Relationships>
</file>

<file path=ppt/slides/_rels/slide70.xml.rels><?xml version="1.0" encoding="UTF-8" standalone="yes"?>
<Relationships xmlns="http://schemas.openxmlformats.org/package/2006/relationships"><Relationship Id="rId3" Type="http://schemas.openxmlformats.org/officeDocument/2006/relationships/hyperlink" Target="https://nrich.maths.org/4348" TargetMode="External"/><Relationship Id="rId2" Type="http://schemas.openxmlformats.org/officeDocument/2006/relationships/notesSlide" Target="../notesSlides/notesSlide70.xml"/><Relationship Id="rId1" Type="http://schemas.openxmlformats.org/officeDocument/2006/relationships/slideLayout" Target="../slideLayouts/slideLayout13.xml"/><Relationship Id="rId6" Type="http://schemas.openxmlformats.org/officeDocument/2006/relationships/hyperlink" Target="https://curriculum.nsw.edu.au/" TargetMode="External"/><Relationship Id="rId5" Type="http://schemas.openxmlformats.org/officeDocument/2006/relationships/hyperlink" Target="https://educationstandards.nsw.edu.au/wps/portal/nesa/home" TargetMode="External"/><Relationship Id="rId4" Type="http://schemas.openxmlformats.org/officeDocument/2006/relationships/hyperlink" Target="https://educationstandards.nsw.edu.au/wps/portal/nesa/mini-footer/copyright" TargetMode="External"/></Relationships>
</file>

<file path=ppt/slides/_rels/slide71.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7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is not a teaching and learning program. It should be used in conjunction with Stage 2 Year A Unit 4.</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a:latin typeface="+mj-lt"/>
              </a:rPr>
              <a:t>Mathematics Stage 2 – Unit 4</a:t>
            </a:r>
          </a:p>
        </p:txBody>
      </p:sp>
      <p:pic>
        <p:nvPicPr>
          <p:cNvPr id="5" name="Picture Placeholder 4">
            <a:extLst>
              <a:ext uri="{FF2B5EF4-FFF2-40B4-BE49-F238E27FC236}">
                <a16:creationId xmlns:a16="http://schemas.microsoft.com/office/drawing/2014/main" id="{80978C62-0887-B1BD-5142-01CF7146B8A8}"/>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a:extLst>
              <a:ext uri="{FF2B5EF4-FFF2-40B4-BE49-F238E27FC236}">
                <a16:creationId xmlns:a16="http://schemas.microsoft.com/office/drawing/2014/main" id="{1B4FCA10-C38C-7EB1-6B3D-6210A414C65B}"/>
              </a:ext>
              <a:ext uri="{C183D7F6-B498-43B3-948B-1728B52AA6E4}">
                <adec:decorative xmlns:adec="http://schemas.microsoft.com/office/drawing/2017/decorative" val="0"/>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latin typeface="+mj-lt"/>
                </a:rPr>
                <a:t>Review of learning 1</a:t>
              </a:r>
              <a:endParaRPr lang="en-AU" dirty="0">
                <a:solidFill>
                  <a:schemeClr val="accent1"/>
                </a:solidFill>
                <a:latin typeface="+mj-lt"/>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 uri="{C183D7F6-B498-43B3-948B-1728B52AA6E4}">
                <adec:decorative xmlns:adec="http://schemas.microsoft.com/office/drawing/2017/decorative" val="0"/>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 uri="{C183D7F6-B498-43B3-948B-1728B52AA6E4}">
                <adec:decorative xmlns:adec="http://schemas.microsoft.com/office/drawing/2017/decorative" val="0"/>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 uri="{C183D7F6-B498-43B3-948B-1728B52AA6E4}">
                <adec:decorative xmlns:adec="http://schemas.microsoft.com/office/drawing/2017/decorative" val="0"/>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Group 16">
            <a:extLst>
              <a:ext uri="{FF2B5EF4-FFF2-40B4-BE49-F238E27FC236}">
                <a16:creationId xmlns:a16="http://schemas.microsoft.com/office/drawing/2014/main" id="{5CA7685F-33D7-262A-AE71-7F572C4FD60A}"/>
              </a:ext>
              <a:ext uri="{C183D7F6-B498-43B3-948B-1728B52AA6E4}">
                <adec:decorative xmlns:adec="http://schemas.microsoft.com/office/drawing/2017/decorative" val="0"/>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Group 10">
            <a:extLst>
              <a:ext uri="{FF2B5EF4-FFF2-40B4-BE49-F238E27FC236}">
                <a16:creationId xmlns:a16="http://schemas.microsoft.com/office/drawing/2014/main" id="{98348D52-CA50-F15C-B472-B152337D805F}"/>
              </a:ext>
              <a:ext uri="{C183D7F6-B498-43B3-948B-1728B52AA6E4}">
                <adec:decorative xmlns:adec="http://schemas.microsoft.com/office/drawing/2017/decorative" val="0"/>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 uri="{C183D7F6-B498-43B3-948B-1728B52AA6E4}">
                <adec:decorative xmlns:adec="http://schemas.microsoft.com/office/drawing/2017/decorative" val="0"/>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 uri="{C183D7F6-B498-43B3-948B-1728B52AA6E4}">
                <adec:decorative xmlns:adec="http://schemas.microsoft.com/office/drawing/2017/decorative" val="0"/>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D7755-CE98-1625-63C2-6E57BB6FA23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65148B-F5B2-7EDD-CE57-A079E0DD806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5BC1774B-AA04-FE2E-2D30-B11CDA0F2C2B}"/>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(1)</a:t>
            </a:r>
          </a:p>
        </p:txBody>
      </p:sp>
      <p:pic>
        <p:nvPicPr>
          <p:cNvPr id="4" name="Picture 3">
            <a:extLst>
              <a:ext uri="{FF2B5EF4-FFF2-40B4-BE49-F238E27FC236}">
                <a16:creationId xmlns:a16="http://schemas.microsoft.com/office/drawing/2014/main" id="{4CB8848C-93F2-E2F9-DB5A-FC58F0111C1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14">
            <a:extLst>
              <a:ext uri="{FF2B5EF4-FFF2-40B4-BE49-F238E27FC236}">
                <a16:creationId xmlns:a16="http://schemas.microsoft.com/office/drawing/2014/main" id="{AB0D8C4B-A26D-492E-C691-C64EF884A7AF}"/>
              </a:ext>
            </a:extLst>
          </p:cNvPr>
          <p:cNvSpPr>
            <a:spLocks noGrp="1"/>
          </p:cNvSpPr>
          <p:nvPr>
            <p:ph type="body" sz="quarter" idx="28"/>
          </p:nvPr>
        </p:nvSpPr>
        <p:spPr>
          <a:xfrm>
            <a:off x="240963" y="1216985"/>
            <a:ext cx="11495706" cy="754243"/>
          </a:xfrm>
        </p:spPr>
        <p:txBody>
          <a:bodyPr/>
          <a:lstStyle/>
          <a:p>
            <a:pPr algn="ctr"/>
            <a:r>
              <a:rPr lang="en-AU" sz="4000" dirty="0"/>
              <a:t>Which </a:t>
            </a:r>
            <a:r>
              <a:rPr lang="en-AU" sz="4000" b="1" dirty="0"/>
              <a:t>fraction strip </a:t>
            </a:r>
            <a:r>
              <a:rPr lang="en-AU" sz="4000" dirty="0"/>
              <a:t>has been </a:t>
            </a:r>
            <a:r>
              <a:rPr lang="en-AU" sz="4000" b="1" dirty="0"/>
              <a:t>correctly</a:t>
            </a:r>
            <a:r>
              <a:rPr lang="en-AU" sz="4000" dirty="0"/>
              <a:t> divided into </a:t>
            </a:r>
            <a:r>
              <a:rPr lang="en-AU" sz="4000" b="1" dirty="0"/>
              <a:t>halves</a:t>
            </a:r>
            <a:r>
              <a:rPr lang="en-AU" sz="4000" dirty="0"/>
              <a:t>?</a:t>
            </a:r>
            <a:endParaRPr lang="en-US" sz="4000" dirty="0"/>
          </a:p>
          <a:p>
            <a:pPr algn="ctr"/>
            <a:endParaRPr lang="en-US" sz="4400" dirty="0"/>
          </a:p>
        </p:txBody>
      </p:sp>
      <p:sp>
        <p:nvSpPr>
          <p:cNvPr id="9" name="TextBox 8">
            <a:extLst>
              <a:ext uri="{FF2B5EF4-FFF2-40B4-BE49-F238E27FC236}">
                <a16:creationId xmlns:a16="http://schemas.microsoft.com/office/drawing/2014/main" id="{EF8DF706-D80F-92B1-7253-8E6E8E474570}"/>
              </a:ext>
            </a:extLst>
          </p:cNvPr>
          <p:cNvSpPr txBox="1"/>
          <p:nvPr/>
        </p:nvSpPr>
        <p:spPr>
          <a:xfrm>
            <a:off x="670557" y="321285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pic>
        <p:nvPicPr>
          <p:cNvPr id="74" name="Picture 73" descr="A fraction strip partitioned into 4 equal parts.">
            <a:extLst>
              <a:ext uri="{FF2B5EF4-FFF2-40B4-BE49-F238E27FC236}">
                <a16:creationId xmlns:a16="http://schemas.microsoft.com/office/drawing/2014/main" id="{9C060B9C-7254-D8F6-F201-EC586998F13B}"/>
              </a:ext>
            </a:extLst>
          </p:cNvPr>
          <p:cNvPicPr>
            <a:picLocks noChangeAspect="1"/>
          </p:cNvPicPr>
          <p:nvPr/>
        </p:nvPicPr>
        <p:blipFill>
          <a:blip r:embed="rId4"/>
          <a:stretch>
            <a:fillRect/>
          </a:stretch>
        </p:blipFill>
        <p:spPr>
          <a:xfrm>
            <a:off x="1399552" y="3212854"/>
            <a:ext cx="4001603" cy="1018873"/>
          </a:xfrm>
          <a:prstGeom prst="rect">
            <a:avLst/>
          </a:prstGeom>
        </p:spPr>
      </p:pic>
      <p:sp>
        <p:nvSpPr>
          <p:cNvPr id="10" name="TextBox 9">
            <a:extLst>
              <a:ext uri="{FF2B5EF4-FFF2-40B4-BE49-F238E27FC236}">
                <a16:creationId xmlns:a16="http://schemas.microsoft.com/office/drawing/2014/main" id="{E8E3048F-F2CC-3A16-FD64-BA70C679B369}"/>
              </a:ext>
            </a:extLst>
          </p:cNvPr>
          <p:cNvSpPr txBox="1"/>
          <p:nvPr/>
        </p:nvSpPr>
        <p:spPr>
          <a:xfrm>
            <a:off x="7200901" y="321285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pic>
        <p:nvPicPr>
          <p:cNvPr id="76" name="Picture 75" descr="A fraction strip partitioned into 2 equal parts.">
            <a:extLst>
              <a:ext uri="{FF2B5EF4-FFF2-40B4-BE49-F238E27FC236}">
                <a16:creationId xmlns:a16="http://schemas.microsoft.com/office/drawing/2014/main" id="{4BA4093D-C244-0046-2257-3B3E01EBA149}"/>
              </a:ext>
            </a:extLst>
          </p:cNvPr>
          <p:cNvPicPr>
            <a:picLocks noChangeAspect="1"/>
          </p:cNvPicPr>
          <p:nvPr/>
        </p:nvPicPr>
        <p:blipFill>
          <a:blip r:embed="rId5"/>
          <a:stretch>
            <a:fillRect/>
          </a:stretch>
        </p:blipFill>
        <p:spPr>
          <a:xfrm>
            <a:off x="7900842" y="3212854"/>
            <a:ext cx="4001603" cy="903333"/>
          </a:xfrm>
          <a:prstGeom prst="rect">
            <a:avLst/>
          </a:prstGeom>
        </p:spPr>
      </p:pic>
      <p:sp>
        <p:nvSpPr>
          <p:cNvPr id="12" name="TextBox 11">
            <a:extLst>
              <a:ext uri="{FF2B5EF4-FFF2-40B4-BE49-F238E27FC236}">
                <a16:creationId xmlns:a16="http://schemas.microsoft.com/office/drawing/2014/main" id="{653CFB63-79BB-2581-B3F1-80CDC52E39F6}"/>
              </a:ext>
            </a:extLst>
          </p:cNvPr>
          <p:cNvSpPr txBox="1"/>
          <p:nvPr/>
        </p:nvSpPr>
        <p:spPr>
          <a:xfrm>
            <a:off x="670557" y="564101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69" name="Picture 68" descr="A fraction strip partitioned into 2 unequal parts.">
            <a:extLst>
              <a:ext uri="{FF2B5EF4-FFF2-40B4-BE49-F238E27FC236}">
                <a16:creationId xmlns:a16="http://schemas.microsoft.com/office/drawing/2014/main" id="{2FDC156E-2C40-0770-B213-3E159EAC38F4}"/>
              </a:ext>
            </a:extLst>
          </p:cNvPr>
          <p:cNvPicPr>
            <a:picLocks noChangeAspect="1"/>
          </p:cNvPicPr>
          <p:nvPr/>
        </p:nvPicPr>
        <p:blipFill>
          <a:blip r:embed="rId6"/>
          <a:stretch>
            <a:fillRect/>
          </a:stretch>
        </p:blipFill>
        <p:spPr>
          <a:xfrm>
            <a:off x="1323832" y="5410382"/>
            <a:ext cx="4153044" cy="1011094"/>
          </a:xfrm>
          <a:prstGeom prst="rect">
            <a:avLst/>
          </a:prstGeom>
        </p:spPr>
      </p:pic>
      <p:sp>
        <p:nvSpPr>
          <p:cNvPr id="11" name="TextBox 10">
            <a:extLst>
              <a:ext uri="{FF2B5EF4-FFF2-40B4-BE49-F238E27FC236}">
                <a16:creationId xmlns:a16="http://schemas.microsoft.com/office/drawing/2014/main" id="{A7CF7502-CF88-ED76-425C-93F1166598D5}"/>
              </a:ext>
            </a:extLst>
          </p:cNvPr>
          <p:cNvSpPr txBox="1"/>
          <p:nvPr/>
        </p:nvSpPr>
        <p:spPr>
          <a:xfrm>
            <a:off x="7200902" y="564101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pic>
        <p:nvPicPr>
          <p:cNvPr id="72" name="Picture 71" descr="A fraction strip partitioned into 3 unequal parts.">
            <a:extLst>
              <a:ext uri="{FF2B5EF4-FFF2-40B4-BE49-F238E27FC236}">
                <a16:creationId xmlns:a16="http://schemas.microsoft.com/office/drawing/2014/main" id="{73AF0557-7326-3CFE-6291-7D3AF5580595}"/>
              </a:ext>
            </a:extLst>
          </p:cNvPr>
          <p:cNvPicPr>
            <a:picLocks noChangeAspect="1"/>
          </p:cNvPicPr>
          <p:nvPr/>
        </p:nvPicPr>
        <p:blipFill>
          <a:blip r:embed="rId7"/>
          <a:stretch>
            <a:fillRect/>
          </a:stretch>
        </p:blipFill>
        <p:spPr>
          <a:xfrm>
            <a:off x="7900842" y="5398194"/>
            <a:ext cx="3835827" cy="981485"/>
          </a:xfrm>
          <a:prstGeom prst="rect">
            <a:avLst/>
          </a:prstGeom>
        </p:spPr>
      </p:pic>
    </p:spTree>
    <p:extLst>
      <p:ext uri="{BB962C8B-B14F-4D97-AF65-F5344CB8AC3E}">
        <p14:creationId xmlns:p14="http://schemas.microsoft.com/office/powerpoint/2010/main" val="2409251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A2AA569-192F-BB69-90DA-DE59A7E5E0EF}"/>
              </a:ext>
            </a:extLst>
          </p:cNvPr>
          <p:cNvSpPr txBox="1"/>
          <p:nvPr/>
        </p:nvSpPr>
        <p:spPr>
          <a:xfrm>
            <a:off x="540327" y="1383386"/>
            <a:ext cx="11111345" cy="915501"/>
          </a:xfrm>
          <a:prstGeom prst="rect">
            <a:avLst/>
          </a:prstGeom>
          <a:noFill/>
        </p:spPr>
        <p:txBody>
          <a:bodyPr wrap="square" lIns="0" tIns="0" rIns="0" bIns="0" rtlCol="0">
            <a:noAutofit/>
          </a:bodyPr>
          <a:lstStyle/>
          <a:p>
            <a:pPr algn="ctr">
              <a:lnSpc>
                <a:spcPct val="150000"/>
              </a:lnSpc>
            </a:pPr>
            <a:r>
              <a:rPr lang="en-AU" sz="3600" dirty="0"/>
              <a:t>This fraction strip has been </a:t>
            </a:r>
            <a:r>
              <a:rPr lang="en-AU" sz="3600" b="1" dirty="0"/>
              <a:t>partitioned</a:t>
            </a:r>
            <a:r>
              <a:rPr lang="en-AU" sz="3600" dirty="0"/>
              <a:t> into </a:t>
            </a:r>
            <a:r>
              <a:rPr lang="en-AU" sz="3600" b="1" dirty="0"/>
              <a:t>halves</a:t>
            </a:r>
            <a:r>
              <a:rPr lang="en-AU" sz="3600" dirty="0"/>
              <a:t>.</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2E9C84FD-9830-DCFB-196B-B97C4171F7A4}"/>
                  </a:ext>
                </a:extLst>
              </p:cNvPr>
              <p:cNvGraphicFramePr>
                <a:graphicFrameLocks noGrp="1"/>
              </p:cNvGraphicFramePr>
              <p:nvPr>
                <p:extLst>
                  <p:ext uri="{D42A27DB-BD31-4B8C-83A1-F6EECF244321}">
                    <p14:modId xmlns:p14="http://schemas.microsoft.com/office/powerpoint/2010/main" val="3252589362"/>
                  </p:ext>
                </p:extLst>
              </p:nvPr>
            </p:nvGraphicFramePr>
            <p:xfrm>
              <a:off x="2908877" y="2776672"/>
              <a:ext cx="6374246" cy="963662"/>
            </p:xfrm>
            <a:graphic>
              <a:graphicData uri="http://schemas.openxmlformats.org/drawingml/2006/table">
                <a:tbl>
                  <a:tblPr firstRow="1" bandRow="1">
                    <a:tableStyleId>{5A111915-BE36-4E01-A7E5-04B1672EAD32}</a:tableStyleId>
                  </a:tblPr>
                  <a:tblGrid>
                    <a:gridCol w="3187123">
                      <a:extLst>
                        <a:ext uri="{9D8B030D-6E8A-4147-A177-3AD203B41FA5}">
                          <a16:colId xmlns:a16="http://schemas.microsoft.com/office/drawing/2014/main" val="1895351617"/>
                        </a:ext>
                      </a:extLst>
                    </a:gridCol>
                    <a:gridCol w="3187123">
                      <a:extLst>
                        <a:ext uri="{9D8B030D-6E8A-4147-A177-3AD203B41FA5}">
                          <a16:colId xmlns:a16="http://schemas.microsoft.com/office/drawing/2014/main" val="3369516173"/>
                        </a:ext>
                      </a:extLst>
                    </a:gridCol>
                  </a:tblGrid>
                  <a:tr h="963662">
                    <a:tc>
                      <a:txBody>
                        <a:bodyPr/>
                        <a:lstStyle/>
                        <a:p>
                          <a:pPr algn="ctr"/>
                          <a14:m>
                            <m:oMath xmlns:m="http://schemas.openxmlformats.org/officeDocument/2006/math">
                              <m:f>
                                <m:fPr>
                                  <m:ctrlPr>
                                    <a:rPr lang="en-AU" sz="3200" i="1" smtClean="0">
                                      <a:solidFill>
                                        <a:schemeClr val="tx1"/>
                                      </a:solidFill>
                                      <a:latin typeface="Cambria Math" panose="02040503050406030204" pitchFamily="18" charset="0"/>
                                    </a:rPr>
                                  </m:ctrlPr>
                                </m:fPr>
                                <m:num>
                                  <m:r>
                                    <a:rPr lang="en-AU" sz="3200" b="0" i="0">
                                      <a:solidFill>
                                        <a:schemeClr val="tx1"/>
                                      </a:solidFill>
                                      <a:latin typeface="Cambria Math" panose="02040503050406030204" pitchFamily="18" charset="0"/>
                                    </a:rPr>
                                    <m:t>1</m:t>
                                  </m:r>
                                </m:num>
                                <m:den>
                                  <m:r>
                                    <a:rPr lang="en-AU" sz="3200" b="0" i="0" smtClean="0">
                                      <a:solidFill>
                                        <a:schemeClr val="tx1"/>
                                      </a:solidFill>
                                      <a:latin typeface="Cambria Math" panose="02040503050406030204" pitchFamily="18" charset="0"/>
                                    </a:rPr>
                                    <m:t>2</m:t>
                                  </m:r>
                                </m:den>
                              </m:f>
                            </m:oMath>
                          </a14:m>
                          <a:r>
                            <a:rPr lang="en-US" sz="3200" dirty="0">
                              <a:solidFill>
                                <a:schemeClr val="tx1"/>
                              </a:solidFill>
                            </a:rPr>
                            <a:t> </a:t>
                          </a:r>
                          <a:endParaRPr lang="en-AU" sz="3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 xmlns:m="http://schemas.openxmlformats.org/officeDocument/2006/math">
                              <m:f>
                                <m:fPr>
                                  <m:ctrlPr>
                                    <a:rPr lang="en-AU" sz="3200" i="1" smtClean="0">
                                      <a:solidFill>
                                        <a:schemeClr val="tx1"/>
                                      </a:solidFill>
                                      <a:latin typeface="Cambria Math" panose="02040503050406030204" pitchFamily="18" charset="0"/>
                                    </a:rPr>
                                  </m:ctrlPr>
                                </m:fPr>
                                <m:num>
                                  <m:r>
                                    <a:rPr lang="en-AU" sz="3200" b="0" i="0">
                                      <a:solidFill>
                                        <a:schemeClr val="tx1"/>
                                      </a:solidFill>
                                      <a:latin typeface="Cambria Math" panose="02040503050406030204" pitchFamily="18" charset="0"/>
                                    </a:rPr>
                                    <m:t>1</m:t>
                                  </m:r>
                                </m:num>
                                <m:den>
                                  <m:r>
                                    <a:rPr lang="en-AU" sz="3200" b="0" i="0" smtClean="0">
                                      <a:solidFill>
                                        <a:schemeClr val="tx1"/>
                                      </a:solidFill>
                                      <a:latin typeface="Cambria Math" panose="02040503050406030204" pitchFamily="18" charset="0"/>
                                    </a:rPr>
                                    <m:t>2</m:t>
                                  </m:r>
                                </m:den>
                              </m:f>
                            </m:oMath>
                          </a14:m>
                          <a:r>
                            <a:rPr lang="en-US" sz="3200" dirty="0">
                              <a:solidFill>
                                <a:schemeClr val="tx1"/>
                              </a:solidFill>
                            </a:rPr>
                            <a:t> </a:t>
                          </a:r>
                          <a:endParaRPr lang="en-AU" sz="3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11037582"/>
                      </a:ext>
                    </a:extLst>
                  </a:tr>
                </a:tbl>
              </a:graphicData>
            </a:graphic>
          </p:graphicFrame>
        </mc:Choice>
        <mc:Fallback xmlns="">
          <p:graphicFrame>
            <p:nvGraphicFramePr>
              <p:cNvPr id="5" name="Table 4">
                <a:extLst>
                  <a:ext uri="{FF2B5EF4-FFF2-40B4-BE49-F238E27FC236}">
                    <a16:creationId xmlns:a16="http://schemas.microsoft.com/office/drawing/2014/main" id="{2E9C84FD-9830-DCFB-196B-B97C4171F7A4}"/>
                  </a:ext>
                </a:extLst>
              </p:cNvPr>
              <p:cNvGraphicFramePr>
                <a:graphicFrameLocks noGrp="1"/>
              </p:cNvGraphicFramePr>
              <p:nvPr>
                <p:extLst>
                  <p:ext uri="{D42A27DB-BD31-4B8C-83A1-F6EECF244321}">
                    <p14:modId xmlns:p14="http://schemas.microsoft.com/office/powerpoint/2010/main" val="3252589362"/>
                  </p:ext>
                </p:extLst>
              </p:nvPr>
            </p:nvGraphicFramePr>
            <p:xfrm>
              <a:off x="2908877" y="2776672"/>
              <a:ext cx="6374246" cy="963662"/>
            </p:xfrm>
            <a:graphic>
              <a:graphicData uri="http://schemas.openxmlformats.org/drawingml/2006/table">
                <a:tbl>
                  <a:tblPr firstRow="1" bandRow="1">
                    <a:tableStyleId>{5A111915-BE36-4E01-A7E5-04B1672EAD32}</a:tableStyleId>
                  </a:tblPr>
                  <a:tblGrid>
                    <a:gridCol w="3187123">
                      <a:extLst>
                        <a:ext uri="{9D8B030D-6E8A-4147-A177-3AD203B41FA5}">
                          <a16:colId xmlns:a16="http://schemas.microsoft.com/office/drawing/2014/main" val="1895351617"/>
                        </a:ext>
                      </a:extLst>
                    </a:gridCol>
                    <a:gridCol w="3187123">
                      <a:extLst>
                        <a:ext uri="{9D8B030D-6E8A-4147-A177-3AD203B41FA5}">
                          <a16:colId xmlns:a16="http://schemas.microsoft.com/office/drawing/2014/main" val="3369516173"/>
                        </a:ext>
                      </a:extLst>
                    </a:gridCol>
                  </a:tblGrid>
                  <a:tr h="96366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91" t="-629" r="-100382" b="-125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191" t="-629" r="-382" b="-1258"/>
                          </a:stretch>
                        </a:blipFill>
                      </a:tcPr>
                    </a:tc>
                    <a:extLst>
                      <a:ext uri="{0D108BD9-81ED-4DB2-BD59-A6C34878D82A}">
                        <a16:rowId xmlns:a16="http://schemas.microsoft.com/office/drawing/2014/main" val="2311037582"/>
                      </a:ext>
                    </a:extLst>
                  </a:tr>
                </a:tbl>
              </a:graphicData>
            </a:graphic>
          </p:graphicFrame>
        </mc:Fallback>
      </mc:AlternateContent>
      <p:sp>
        <p:nvSpPr>
          <p:cNvPr id="7" name="TextBox 6">
            <a:extLst>
              <a:ext uri="{FF2B5EF4-FFF2-40B4-BE49-F238E27FC236}">
                <a16:creationId xmlns:a16="http://schemas.microsoft.com/office/drawing/2014/main" id="{CB600B62-F4A8-9CF1-FFFC-AED228B2B427}"/>
              </a:ext>
            </a:extLst>
          </p:cNvPr>
          <p:cNvSpPr txBox="1"/>
          <p:nvPr/>
        </p:nvSpPr>
        <p:spPr>
          <a:xfrm>
            <a:off x="926725" y="4301832"/>
            <a:ext cx="10917275" cy="1641763"/>
          </a:xfrm>
          <a:prstGeom prst="rect">
            <a:avLst/>
          </a:prstGeom>
          <a:noFill/>
        </p:spPr>
        <p:txBody>
          <a:bodyPr wrap="square" lIns="0" tIns="0" rIns="0" bIns="0" rtlCol="0">
            <a:noAutofit/>
          </a:bodyPr>
          <a:lstStyle/>
          <a:p>
            <a:pPr algn="ctr">
              <a:lnSpc>
                <a:spcPct val="150000"/>
              </a:lnSpc>
            </a:pPr>
            <a:r>
              <a:rPr lang="en-AU" sz="3600" b="1" dirty="0"/>
              <a:t>Draw</a:t>
            </a:r>
            <a:r>
              <a:rPr lang="en-AU" sz="3600" dirty="0"/>
              <a:t> and label a </a:t>
            </a:r>
            <a:r>
              <a:rPr lang="en-AU" sz="3600" b="1" dirty="0"/>
              <a:t>fraction strip </a:t>
            </a:r>
            <a:r>
              <a:rPr lang="en-AU" sz="3600" dirty="0"/>
              <a:t>that has been </a:t>
            </a:r>
            <a:r>
              <a:rPr lang="en-AU" sz="3600" b="1" dirty="0"/>
              <a:t>partitioned</a:t>
            </a:r>
            <a:r>
              <a:rPr lang="en-AU" sz="3600" dirty="0"/>
              <a:t> into </a:t>
            </a:r>
            <a:r>
              <a:rPr lang="en-AU" sz="3600" b="1" dirty="0"/>
              <a:t>quarters</a:t>
            </a:r>
            <a:r>
              <a:rPr lang="en-AU" sz="3600" dirty="0"/>
              <a:t>.</a:t>
            </a:r>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BB21B595-D4BA-B77F-6312-AA29CAF57EEC}"/>
              </a:ext>
            </a:extLst>
          </p:cNvPr>
          <p:cNvSpPr txBox="1"/>
          <p:nvPr/>
        </p:nvSpPr>
        <p:spPr>
          <a:xfrm>
            <a:off x="625184" y="1864895"/>
            <a:ext cx="10941632" cy="3128210"/>
          </a:xfrm>
          <a:prstGeom prst="rect">
            <a:avLst/>
          </a:prstGeom>
          <a:noFill/>
        </p:spPr>
        <p:txBody>
          <a:bodyPr wrap="square" lIns="0" tIns="0" rIns="0" bIns="0" rtlCol="0">
            <a:noAutofit/>
          </a:bodyPr>
          <a:lstStyle/>
          <a:p>
            <a:pPr algn="ctr">
              <a:lnSpc>
                <a:spcPct val="150000"/>
              </a:lnSpc>
            </a:pPr>
            <a:r>
              <a:rPr lang="en-AU" sz="4400" b="1" dirty="0"/>
              <a:t>Estimate</a:t>
            </a:r>
            <a:r>
              <a:rPr lang="en-AU" sz="4400" dirty="0"/>
              <a:t> your </a:t>
            </a:r>
            <a:r>
              <a:rPr lang="en-AU" sz="4400" b="1" dirty="0"/>
              <a:t>height</a:t>
            </a:r>
            <a:r>
              <a:rPr lang="en-AU" sz="4400" dirty="0"/>
              <a:t> using </a:t>
            </a:r>
            <a:r>
              <a:rPr lang="en-AU" sz="4400" b="1" dirty="0"/>
              <a:t>metres</a:t>
            </a:r>
            <a:r>
              <a:rPr lang="en-AU" sz="4400" dirty="0"/>
              <a:t> and </a:t>
            </a:r>
            <a:r>
              <a:rPr lang="en-AU" sz="4400" b="1" dirty="0"/>
              <a:t>centimetres</a:t>
            </a:r>
            <a:r>
              <a:rPr lang="en-AU" sz="4400" dirty="0"/>
              <a:t>.</a:t>
            </a:r>
          </a:p>
          <a:p>
            <a:pPr algn="ctr">
              <a:lnSpc>
                <a:spcPct val="150000"/>
              </a:lnSpc>
            </a:pPr>
            <a:endParaRPr lang="en-AU" sz="2200" b="1" i="0" u="none" strike="noStrike" dirty="0">
              <a:solidFill>
                <a:srgbClr val="22272B"/>
              </a:solidFill>
              <a:effectLst/>
              <a:latin typeface="Arial" panose="020B0604020202020204" pitchFamily="34" charset="0"/>
            </a:endParaRPr>
          </a:p>
          <a:p>
            <a:pPr algn="ctr">
              <a:lnSpc>
                <a:spcPct val="150000"/>
              </a:lnSpc>
            </a:pPr>
            <a:r>
              <a:rPr lang="en-AU" sz="4400" b="1" i="0" u="none" strike="noStrike" dirty="0">
                <a:solidFill>
                  <a:srgbClr val="22272B"/>
                </a:solidFill>
                <a:effectLst/>
                <a:latin typeface="Arial" panose="020B0604020202020204" pitchFamily="34" charset="0"/>
              </a:rPr>
              <a:t>Communicate</a:t>
            </a:r>
            <a:r>
              <a:rPr lang="en-AU" sz="4400" b="0" i="0" u="none" strike="noStrike" dirty="0">
                <a:solidFill>
                  <a:srgbClr val="22272B"/>
                </a:solidFill>
                <a:effectLst/>
                <a:latin typeface="Arial" panose="020B0604020202020204" pitchFamily="34" charset="0"/>
              </a:rPr>
              <a:t> your </a:t>
            </a:r>
            <a:r>
              <a:rPr lang="en-AU" sz="4400" b="1" i="0" u="none" strike="noStrike" dirty="0">
                <a:solidFill>
                  <a:srgbClr val="22272B"/>
                </a:solidFill>
                <a:effectLst/>
                <a:latin typeface="Arial" panose="020B0604020202020204" pitchFamily="34" charset="0"/>
              </a:rPr>
              <a:t>reasoning.</a:t>
            </a:r>
            <a:endParaRPr lang="en-AU" sz="4400" dirty="0"/>
          </a:p>
          <a:p>
            <a:pPr algn="ctr">
              <a:lnSpc>
                <a:spcPct val="150000"/>
              </a:lnSpc>
            </a:pPr>
            <a:endParaRPr lang="en-AU" sz="4400" dirty="0"/>
          </a:p>
          <a:p>
            <a:pPr algn="ctr">
              <a:lnSpc>
                <a:spcPct val="150000"/>
              </a:lnSpc>
            </a:pPr>
            <a:endParaRPr lang="en-AU" sz="4400" dirty="0"/>
          </a:p>
          <a:p>
            <a:pPr algn="ctr">
              <a:lnSpc>
                <a:spcPct val="150000"/>
              </a:lnSpc>
            </a:pPr>
            <a:endParaRPr lang="en-AU" sz="4400" dirty="0"/>
          </a:p>
          <a:p>
            <a:pPr algn="ctr">
              <a:lnSpc>
                <a:spcPct val="150000"/>
              </a:lnSpc>
            </a:pPr>
            <a:endParaRPr lang="en-AU" sz="4400" dirty="0"/>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4A166203-88AA-96B1-DDA5-E44D2B018A58}"/>
              </a:ext>
              <a:ext uri="{C183D7F6-B498-43B3-948B-1728B52AA6E4}">
                <adec:decorative xmlns:adec="http://schemas.microsoft.com/office/drawing/2017/decorative" val="1"/>
              </a:ext>
            </a:extLst>
          </p:cNvPr>
          <p:cNvSpPr txBox="1"/>
          <p:nvPr/>
        </p:nvSpPr>
        <p:spPr>
          <a:xfrm>
            <a:off x="1284514" y="907795"/>
            <a:ext cx="9745962" cy="2286000"/>
          </a:xfrm>
          <a:prstGeom prst="rect">
            <a:avLst/>
          </a:prstGeom>
          <a:noFill/>
        </p:spPr>
        <p:txBody>
          <a:bodyPr wrap="square" lIns="0" tIns="0" rIns="0" bIns="0" rtlCol="0">
            <a:noAutofit/>
          </a:bodyPr>
          <a:lstStyle/>
          <a:p>
            <a:pPr algn="ctr">
              <a:lnSpc>
                <a:spcPct val="150000"/>
              </a:lnSpc>
            </a:pPr>
            <a:r>
              <a:rPr lang="en-AU" sz="4400" b="1" dirty="0"/>
              <a:t>Both</a:t>
            </a:r>
            <a:r>
              <a:rPr lang="en-AU" sz="4400" dirty="0"/>
              <a:t> these number sentences have an </a:t>
            </a:r>
            <a:r>
              <a:rPr lang="en-AU" sz="4400" b="1" dirty="0"/>
              <a:t>equal difference </a:t>
            </a:r>
            <a:r>
              <a:rPr lang="en-AU" sz="4400" dirty="0"/>
              <a:t>of </a:t>
            </a:r>
            <a:r>
              <a:rPr lang="en-AU" sz="4400" dirty="0">
                <a:solidFill>
                  <a:schemeClr val="accent2"/>
                </a:solidFill>
              </a:rPr>
              <a:t>8</a:t>
            </a:r>
            <a:r>
              <a:rPr lang="en-AU" sz="4400" dirty="0"/>
              <a:t>.</a:t>
            </a:r>
          </a:p>
          <a:p>
            <a:pPr algn="ctr">
              <a:lnSpc>
                <a:spcPct val="150000"/>
              </a:lnSpc>
            </a:pPr>
            <a:r>
              <a:rPr lang="en-AU" sz="4400" dirty="0"/>
              <a:t>17 – 9 = </a:t>
            </a:r>
            <a:r>
              <a:rPr lang="en-AU" sz="4400" dirty="0">
                <a:solidFill>
                  <a:schemeClr val="accent2"/>
                </a:solidFill>
              </a:rPr>
              <a:t>8</a:t>
            </a:r>
            <a:r>
              <a:rPr lang="en-AU" sz="4400" dirty="0"/>
              <a:t> and 24 – 16 = </a:t>
            </a:r>
            <a:r>
              <a:rPr lang="en-AU" sz="4400" dirty="0">
                <a:solidFill>
                  <a:schemeClr val="accent2"/>
                </a:solidFill>
              </a:rPr>
              <a:t>8</a:t>
            </a:r>
          </a:p>
          <a:p>
            <a:pPr algn="ctr">
              <a:lnSpc>
                <a:spcPct val="150000"/>
              </a:lnSpc>
            </a:pPr>
            <a:endParaRPr lang="en-AU" sz="2200" dirty="0">
              <a:solidFill>
                <a:schemeClr val="accent2"/>
              </a:solidFill>
            </a:endParaRPr>
          </a:p>
          <a:p>
            <a:pPr algn="ctr">
              <a:lnSpc>
                <a:spcPct val="150000"/>
              </a:lnSpc>
            </a:pPr>
            <a:r>
              <a:rPr lang="en-AU" sz="4400" b="1" dirty="0"/>
              <a:t>Record</a:t>
            </a:r>
            <a:r>
              <a:rPr lang="en-AU" sz="4400" dirty="0"/>
              <a:t> the </a:t>
            </a:r>
            <a:r>
              <a:rPr lang="en-AU" sz="4400" b="1" dirty="0"/>
              <a:t>equal difference </a:t>
            </a:r>
            <a:r>
              <a:rPr lang="en-AU" sz="4400" dirty="0"/>
              <a:t>of </a:t>
            </a:r>
          </a:p>
          <a:p>
            <a:pPr algn="ctr">
              <a:lnSpc>
                <a:spcPct val="150000"/>
              </a:lnSpc>
            </a:pPr>
            <a:r>
              <a:rPr lang="en-AU" sz="4400" b="1" dirty="0"/>
              <a:t>18 – 11 </a:t>
            </a:r>
            <a:r>
              <a:rPr lang="en-AU" sz="4400" dirty="0"/>
              <a:t>and </a:t>
            </a:r>
            <a:r>
              <a:rPr lang="en-AU" sz="4400" b="1" dirty="0"/>
              <a:t>14 – 7</a:t>
            </a:r>
            <a:r>
              <a:rPr lang="en-AU" sz="4400" dirty="0"/>
              <a:t> </a:t>
            </a:r>
            <a:endParaRPr lang="en-AU" sz="4400" dirty="0">
              <a:solidFill>
                <a:schemeClr val="accent2"/>
              </a:solidFill>
            </a:endParaRPr>
          </a:p>
          <a:p>
            <a:pPr algn="ctr">
              <a:lnSpc>
                <a:spcPct val="150000"/>
              </a:lnSpc>
            </a:pPr>
            <a:endParaRPr lang="en-AU" sz="4400" dirty="0">
              <a:solidFill>
                <a:schemeClr val="accent2"/>
              </a:solidFill>
            </a:endParaRPr>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(4)</a:t>
            </a:r>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dirty="0"/>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BC58595F-729D-A80B-FF35-D6613D70136F}"/>
              </a:ext>
            </a:extLst>
          </p:cNvPr>
          <p:cNvSpPr txBox="1"/>
          <p:nvPr/>
        </p:nvSpPr>
        <p:spPr>
          <a:xfrm>
            <a:off x="1106129" y="1946787"/>
            <a:ext cx="10367268" cy="3067665"/>
          </a:xfrm>
          <a:prstGeom prst="rect">
            <a:avLst/>
          </a:prstGeom>
          <a:noFill/>
        </p:spPr>
        <p:txBody>
          <a:bodyPr wrap="square" lIns="0" tIns="0" rIns="0" bIns="0" rtlCol="0">
            <a:noAutofit/>
          </a:bodyPr>
          <a:lstStyle/>
          <a:p>
            <a:pPr algn="ctr">
              <a:lnSpc>
                <a:spcPct val="150000"/>
              </a:lnSpc>
            </a:pPr>
            <a:r>
              <a:rPr lang="en-AU" sz="4400" dirty="0"/>
              <a:t>Name </a:t>
            </a:r>
            <a:r>
              <a:rPr lang="en-AU" sz="4400" b="1" dirty="0"/>
              <a:t>3 different </a:t>
            </a:r>
            <a:r>
              <a:rPr lang="en-AU" sz="4400" dirty="0"/>
              <a:t>objects that would be </a:t>
            </a:r>
            <a:r>
              <a:rPr lang="en-AU" sz="4400" b="1" dirty="0"/>
              <a:t>measured </a:t>
            </a:r>
            <a:r>
              <a:rPr lang="en-AU" sz="4400" dirty="0"/>
              <a:t>using </a:t>
            </a:r>
            <a:r>
              <a:rPr lang="en-AU" sz="4400" b="1" dirty="0"/>
              <a:t>millimetres.</a:t>
            </a:r>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a:t>
            </a:r>
            <a:r>
              <a:rPr lang="en-AU">
                <a:latin typeface="Arial"/>
                <a:cs typeface="Arial"/>
              </a:rPr>
              <a:t>What is half?</a:t>
            </a:r>
            <a:endParaRPr lang="en-AU"/>
          </a:p>
        </p:txBody>
      </p:sp>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pic>
        <p:nvPicPr>
          <p:cNvPr id="4" name="Picture 3" descr="image of a head with cogs turning inside">
            <a:extLst>
              <a:ext uri="{FF2B5EF4-FFF2-40B4-BE49-F238E27FC236}">
                <a16:creationId xmlns:a16="http://schemas.microsoft.com/office/drawing/2014/main" id="{8C7CF980-54BA-5CDE-FA07-65080BB2C43B}"/>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614A8112-78B4-A314-9DD1-50B424A2D26A}"/>
              </a:ext>
            </a:extLst>
          </p:cNvPr>
          <p:cNvSpPr txBox="1"/>
          <p:nvPr/>
        </p:nvSpPr>
        <p:spPr>
          <a:xfrm>
            <a:off x="955221" y="1275060"/>
            <a:ext cx="10281557" cy="55399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AU" sz="3600">
                <a:latin typeface="Arial"/>
              </a:rPr>
              <a:t>Which images </a:t>
            </a:r>
            <a:r>
              <a:rPr lang="en-AU" sz="3600" b="1">
                <a:latin typeface="Arial"/>
              </a:rPr>
              <a:t>represent half </a:t>
            </a:r>
            <a:r>
              <a:rPr lang="en-AU" sz="3600">
                <a:latin typeface="Arial"/>
              </a:rPr>
              <a:t>as 2 </a:t>
            </a:r>
            <a:r>
              <a:rPr lang="en-AU" sz="3600" b="1">
                <a:latin typeface="Arial"/>
              </a:rPr>
              <a:t>equal </a:t>
            </a:r>
            <a:r>
              <a:rPr lang="en-AU" sz="3600">
                <a:latin typeface="Arial"/>
              </a:rPr>
              <a:t>pieces?</a:t>
            </a:r>
            <a:endParaRPr lang="en-US" sz="3600"/>
          </a:p>
        </p:txBody>
      </p:sp>
      <p:grpSp>
        <p:nvGrpSpPr>
          <p:cNvPr id="5" name="Group 4" descr="Various objects for students to determine which ones represent half as exactly 2 equal parts: a banana cut in 2, fairy bread cut in 2, a number line with a blue bar from zero to half, a speech bubble with the text 'I am 9 and a half years old', a small strip of paper folded in half, an apple cut in 2 with the text: 'The smaller half' and 'The bigger half', a piece of wood with one-half marked in fraction form, a blue notebook folded in 2 and an avocado cut in 2. ">
            <a:extLst>
              <a:ext uri="{FF2B5EF4-FFF2-40B4-BE49-F238E27FC236}">
                <a16:creationId xmlns:a16="http://schemas.microsoft.com/office/drawing/2014/main" id="{6E1FF867-72CE-FA1D-4923-A64AC0259650}"/>
              </a:ext>
            </a:extLst>
          </p:cNvPr>
          <p:cNvGrpSpPr/>
          <p:nvPr/>
        </p:nvGrpSpPr>
        <p:grpSpPr>
          <a:xfrm>
            <a:off x="2402546" y="1829058"/>
            <a:ext cx="7800443" cy="4860590"/>
            <a:chOff x="2195776" y="1628090"/>
            <a:chExt cx="7800443" cy="4860590"/>
          </a:xfrm>
        </p:grpSpPr>
        <p:grpSp>
          <p:nvGrpSpPr>
            <p:cNvPr id="7" name="Group 3">
              <a:extLst>
                <a:ext uri="{FF2B5EF4-FFF2-40B4-BE49-F238E27FC236}">
                  <a16:creationId xmlns:a16="http://schemas.microsoft.com/office/drawing/2014/main" id="{47D5FCC7-F607-6377-77F3-C2525DA89535}"/>
                </a:ext>
              </a:extLst>
            </p:cNvPr>
            <p:cNvGrpSpPr/>
            <p:nvPr/>
          </p:nvGrpSpPr>
          <p:grpSpPr>
            <a:xfrm>
              <a:off x="2796234" y="1628090"/>
              <a:ext cx="1692707" cy="1758310"/>
              <a:chOff x="484251" y="274699"/>
              <a:chExt cx="2486817" cy="2583195"/>
            </a:xfrm>
          </p:grpSpPr>
          <p:sp>
            <p:nvSpPr>
              <p:cNvPr id="31" name="Freeform 4">
                <a:extLst>
                  <a:ext uri="{FF2B5EF4-FFF2-40B4-BE49-F238E27FC236}">
                    <a16:creationId xmlns:a16="http://schemas.microsoft.com/office/drawing/2014/main" id="{7BE977D7-F064-07EE-C795-131F2431DE36}"/>
                  </a:ext>
                </a:extLst>
              </p:cNvPr>
              <p:cNvSpPr/>
              <p:nvPr/>
            </p:nvSpPr>
            <p:spPr>
              <a:xfrm rot="-2168359">
                <a:off x="1403986" y="274699"/>
                <a:ext cx="1567082" cy="1947821"/>
              </a:xfrm>
              <a:custGeom>
                <a:avLst/>
                <a:gdLst/>
                <a:ahLst/>
                <a:cxnLst/>
                <a:rect l="l" t="t" r="r" b="b"/>
                <a:pathLst>
                  <a:path w="1567082" h="1947821">
                    <a:moveTo>
                      <a:pt x="0" y="0"/>
                    </a:moveTo>
                    <a:lnTo>
                      <a:pt x="1567082" y="0"/>
                    </a:lnTo>
                    <a:lnTo>
                      <a:pt x="1567082" y="1947821"/>
                    </a:lnTo>
                    <a:lnTo>
                      <a:pt x="0" y="1947821"/>
                    </a:lnTo>
                    <a:lnTo>
                      <a:pt x="0" y="0"/>
                    </a:lnTo>
                    <a:close/>
                  </a:path>
                </a:pathLst>
              </a:custGeom>
              <a:blipFill>
                <a:blip r:embed="rId4"/>
                <a:stretch>
                  <a:fillRect l="-48635"/>
                </a:stretch>
              </a:blipFill>
            </p:spPr>
            <p:txBody>
              <a:bodyPr/>
              <a:lstStyle/>
              <a:p>
                <a:endParaRPr lang="en-AU"/>
              </a:p>
            </p:txBody>
          </p:sp>
          <p:sp>
            <p:nvSpPr>
              <p:cNvPr id="32" name="Freeform 5">
                <a:extLst>
                  <a:ext uri="{FF2B5EF4-FFF2-40B4-BE49-F238E27FC236}">
                    <a16:creationId xmlns:a16="http://schemas.microsoft.com/office/drawing/2014/main" id="{BC0B1539-5A1E-E793-68CA-ECD95CB7D0E4}"/>
                  </a:ext>
                </a:extLst>
              </p:cNvPr>
              <p:cNvSpPr/>
              <p:nvPr/>
            </p:nvSpPr>
            <p:spPr>
              <a:xfrm rot="-2168359">
                <a:off x="484251" y="914780"/>
                <a:ext cx="922236" cy="1943114"/>
              </a:xfrm>
              <a:custGeom>
                <a:avLst/>
                <a:gdLst/>
                <a:ahLst/>
                <a:cxnLst/>
                <a:rect l="l" t="t" r="r" b="b"/>
                <a:pathLst>
                  <a:path w="922236" h="1943114">
                    <a:moveTo>
                      <a:pt x="0" y="0"/>
                    </a:moveTo>
                    <a:lnTo>
                      <a:pt x="922235" y="0"/>
                    </a:lnTo>
                    <a:lnTo>
                      <a:pt x="922235" y="1943115"/>
                    </a:lnTo>
                    <a:lnTo>
                      <a:pt x="0" y="1943115"/>
                    </a:lnTo>
                    <a:lnTo>
                      <a:pt x="0" y="0"/>
                    </a:lnTo>
                    <a:close/>
                  </a:path>
                </a:pathLst>
              </a:custGeom>
              <a:blipFill>
                <a:blip r:embed="rId4"/>
                <a:stretch>
                  <a:fillRect r="-152563" b="-242"/>
                </a:stretch>
              </a:blipFill>
            </p:spPr>
            <p:txBody>
              <a:bodyPr/>
              <a:lstStyle/>
              <a:p>
                <a:endParaRPr lang="en-AU"/>
              </a:p>
            </p:txBody>
          </p:sp>
        </p:grpSp>
        <p:grpSp>
          <p:nvGrpSpPr>
            <p:cNvPr id="8" name="Group 7" descr="Various objects for students to determine which ones represent half as exactly 2 equal parts: a banana cut in 2, fairy bread cut in 2, a number line with a blue bar from zero to half, a speech bubble with the text 'I am 9 and a half years old', a small strip of paper folded in half, an apple cut in 2 with the text: 'The smaller half' and 'The bigger half', a piece of wood with one-half marked in fraction form, a blue notebook folded in 2 and an avocado cut in 2. ">
              <a:extLst>
                <a:ext uri="{FF2B5EF4-FFF2-40B4-BE49-F238E27FC236}">
                  <a16:creationId xmlns:a16="http://schemas.microsoft.com/office/drawing/2014/main" id="{5B1A4A7F-DC1C-61F3-425F-E2E7860698BD}"/>
                </a:ext>
              </a:extLst>
            </p:cNvPr>
            <p:cNvGrpSpPr/>
            <p:nvPr/>
          </p:nvGrpSpPr>
          <p:grpSpPr>
            <a:xfrm>
              <a:off x="2195776" y="1801105"/>
              <a:ext cx="7800443" cy="4687575"/>
              <a:chOff x="1919444" y="1203660"/>
              <a:chExt cx="8934092" cy="4932603"/>
            </a:xfrm>
          </p:grpSpPr>
          <p:sp>
            <p:nvSpPr>
              <p:cNvPr id="9" name="Freeform 2">
                <a:extLst>
                  <a:ext uri="{FF2B5EF4-FFF2-40B4-BE49-F238E27FC236}">
                    <a16:creationId xmlns:a16="http://schemas.microsoft.com/office/drawing/2014/main" id="{748E1FA3-0423-875C-DE8C-26B5AEA7D5D1}"/>
                  </a:ext>
                </a:extLst>
              </p:cNvPr>
              <p:cNvSpPr/>
              <p:nvPr/>
            </p:nvSpPr>
            <p:spPr>
              <a:xfrm>
                <a:off x="8841190" y="4644702"/>
                <a:ext cx="1206814" cy="1339045"/>
              </a:xfrm>
              <a:custGeom>
                <a:avLst/>
                <a:gdLst/>
                <a:ahLst/>
                <a:cxnLst/>
                <a:rect l="l" t="t" r="r" b="b"/>
                <a:pathLst>
                  <a:path w="1329730" h="1475429">
                    <a:moveTo>
                      <a:pt x="0" y="0"/>
                    </a:moveTo>
                    <a:lnTo>
                      <a:pt x="1329730" y="0"/>
                    </a:lnTo>
                    <a:lnTo>
                      <a:pt x="1329730" y="1475429"/>
                    </a:lnTo>
                    <a:lnTo>
                      <a:pt x="0" y="1475429"/>
                    </a:lnTo>
                    <a:lnTo>
                      <a:pt x="0" y="0"/>
                    </a:lnTo>
                    <a:close/>
                  </a:path>
                </a:pathLst>
              </a:custGeom>
              <a:blipFill>
                <a:blip r:embed="rId5"/>
                <a:stretch>
                  <a:fillRect/>
                </a:stretch>
              </a:blipFill>
            </p:spPr>
            <p:txBody>
              <a:bodyPr/>
              <a:lstStyle/>
              <a:p>
                <a:endParaRPr lang="en-AU"/>
              </a:p>
            </p:txBody>
          </p:sp>
          <p:grpSp>
            <p:nvGrpSpPr>
              <p:cNvPr id="10" name="Group 6">
                <a:extLst>
                  <a:ext uri="{FF2B5EF4-FFF2-40B4-BE49-F238E27FC236}">
                    <a16:creationId xmlns:a16="http://schemas.microsoft.com/office/drawing/2014/main" id="{78C1E633-563C-C42C-B159-7257EF4A84BF}"/>
                  </a:ext>
                </a:extLst>
              </p:cNvPr>
              <p:cNvGrpSpPr/>
              <p:nvPr/>
            </p:nvGrpSpPr>
            <p:grpSpPr>
              <a:xfrm>
                <a:off x="5361342" y="1203660"/>
                <a:ext cx="1893055" cy="1511638"/>
                <a:chOff x="52550" y="318487"/>
                <a:chExt cx="2781158" cy="2220801"/>
              </a:xfrm>
            </p:grpSpPr>
            <p:sp>
              <p:nvSpPr>
                <p:cNvPr id="28" name="Freeform 7">
                  <a:extLst>
                    <a:ext uri="{FF2B5EF4-FFF2-40B4-BE49-F238E27FC236}">
                      <a16:creationId xmlns:a16="http://schemas.microsoft.com/office/drawing/2014/main" id="{42A29A0E-A942-A394-F976-FC35B15C757C}"/>
                    </a:ext>
                  </a:extLst>
                </p:cNvPr>
                <p:cNvSpPr/>
                <p:nvPr/>
              </p:nvSpPr>
              <p:spPr>
                <a:xfrm rot="-486860">
                  <a:off x="179534" y="1619590"/>
                  <a:ext cx="2058534" cy="919698"/>
                </a:xfrm>
                <a:custGeom>
                  <a:avLst/>
                  <a:gdLst/>
                  <a:ahLst/>
                  <a:cxnLst/>
                  <a:rect l="l" t="t" r="r" b="b"/>
                  <a:pathLst>
                    <a:path w="2058534" h="919698">
                      <a:moveTo>
                        <a:pt x="0" y="0"/>
                      </a:moveTo>
                      <a:lnTo>
                        <a:pt x="2058533" y="0"/>
                      </a:lnTo>
                      <a:lnTo>
                        <a:pt x="2058533" y="919698"/>
                      </a:lnTo>
                      <a:lnTo>
                        <a:pt x="0" y="919698"/>
                      </a:lnTo>
                      <a:lnTo>
                        <a:pt x="0" y="0"/>
                      </a:lnTo>
                      <a:close/>
                    </a:path>
                  </a:pathLst>
                </a:custGeom>
                <a:blipFill>
                  <a:blip r:embed="rId6">
                    <a:extLst>
                      <a:ext uri="{96DAC541-7B7A-43D3-8B79-37D633B846F1}">
                        <asvg:svgBlip xmlns:asvg="http://schemas.microsoft.com/office/drawing/2016/SVG/main" r:embed="rId7"/>
                      </a:ext>
                    </a:extLst>
                  </a:blip>
                  <a:stretch>
                    <a:fillRect t="-99765"/>
                  </a:stretch>
                </a:blipFill>
              </p:spPr>
              <p:txBody>
                <a:bodyPr/>
                <a:lstStyle/>
                <a:p>
                  <a:endParaRPr lang="en-AU" dirty="0"/>
                </a:p>
              </p:txBody>
            </p:sp>
            <p:sp>
              <p:nvSpPr>
                <p:cNvPr id="29" name="Freeform 8">
                  <a:extLst>
                    <a:ext uri="{FF2B5EF4-FFF2-40B4-BE49-F238E27FC236}">
                      <a16:creationId xmlns:a16="http://schemas.microsoft.com/office/drawing/2014/main" id="{9E708120-7E61-0681-6779-F113B8C6433E}"/>
                    </a:ext>
                  </a:extLst>
                </p:cNvPr>
                <p:cNvSpPr/>
                <p:nvPr/>
              </p:nvSpPr>
              <p:spPr>
                <a:xfrm rot="-486860">
                  <a:off x="52550" y="564679"/>
                  <a:ext cx="2058534" cy="890614"/>
                </a:xfrm>
                <a:custGeom>
                  <a:avLst/>
                  <a:gdLst/>
                  <a:ahLst/>
                  <a:cxnLst/>
                  <a:rect l="l" t="t" r="r" b="b"/>
                  <a:pathLst>
                    <a:path w="2058534" h="890614">
                      <a:moveTo>
                        <a:pt x="0" y="0"/>
                      </a:moveTo>
                      <a:lnTo>
                        <a:pt x="2058534" y="0"/>
                      </a:lnTo>
                      <a:lnTo>
                        <a:pt x="2058534" y="890613"/>
                      </a:lnTo>
                      <a:lnTo>
                        <a:pt x="0" y="890613"/>
                      </a:lnTo>
                      <a:lnTo>
                        <a:pt x="0" y="0"/>
                      </a:lnTo>
                      <a:close/>
                    </a:path>
                  </a:pathLst>
                </a:custGeom>
                <a:blipFill>
                  <a:blip r:embed="rId6">
                    <a:extLst>
                      <a:ext uri="{96DAC541-7B7A-43D3-8B79-37D633B846F1}">
                        <asvg:svgBlip xmlns:asvg="http://schemas.microsoft.com/office/drawing/2016/SVG/main" r:embed="rId7"/>
                      </a:ext>
                    </a:extLst>
                  </a:blip>
                  <a:stretch>
                    <a:fillRect b="-106289"/>
                  </a:stretch>
                </a:blipFill>
              </p:spPr>
              <p:txBody>
                <a:bodyPr/>
                <a:lstStyle/>
                <a:p>
                  <a:endParaRPr lang="en-AU"/>
                </a:p>
              </p:txBody>
            </p:sp>
            <p:sp>
              <p:nvSpPr>
                <p:cNvPr id="30" name="Freeform 9">
                  <a:extLst>
                    <a:ext uri="{FF2B5EF4-FFF2-40B4-BE49-F238E27FC236}">
                      <a16:creationId xmlns:a16="http://schemas.microsoft.com/office/drawing/2014/main" id="{C313714E-3BEA-C9DD-2DE3-A4005F4AD046}"/>
                    </a:ext>
                  </a:extLst>
                </p:cNvPr>
                <p:cNvSpPr/>
                <p:nvPr/>
              </p:nvSpPr>
              <p:spPr>
                <a:xfrm rot="-9096223">
                  <a:off x="1048221" y="318487"/>
                  <a:ext cx="1785487" cy="1763168"/>
                </a:xfrm>
                <a:custGeom>
                  <a:avLst/>
                  <a:gdLst/>
                  <a:ahLst/>
                  <a:cxnLst/>
                  <a:rect l="l" t="t" r="r" b="b"/>
                  <a:pathLst>
                    <a:path w="1785487" h="1763168">
                      <a:moveTo>
                        <a:pt x="0" y="0"/>
                      </a:moveTo>
                      <a:lnTo>
                        <a:pt x="1785486" y="0"/>
                      </a:lnTo>
                      <a:lnTo>
                        <a:pt x="1785486" y="1763168"/>
                      </a:lnTo>
                      <a:lnTo>
                        <a:pt x="0" y="1763168"/>
                      </a:lnTo>
                      <a:lnTo>
                        <a:pt x="0" y="0"/>
                      </a:lnTo>
                      <a:close/>
                    </a:path>
                  </a:pathLst>
                </a:custGeom>
                <a:blipFill>
                  <a:blip r:embed="rId8"/>
                  <a:stretch>
                    <a:fillRect/>
                  </a:stretch>
                </a:blipFill>
              </p:spPr>
              <p:txBody>
                <a:bodyPr/>
                <a:lstStyle/>
                <a:p>
                  <a:endParaRPr lang="en-AU"/>
                </a:p>
              </p:txBody>
            </p:sp>
          </p:grpSp>
          <p:sp>
            <p:nvSpPr>
              <p:cNvPr id="11" name="Freeform 10">
                <a:extLst>
                  <a:ext uri="{FF2B5EF4-FFF2-40B4-BE49-F238E27FC236}">
                    <a16:creationId xmlns:a16="http://schemas.microsoft.com/office/drawing/2014/main" id="{9FDD280E-4A0B-5A4D-F3C5-2F22D543CDB3}"/>
                  </a:ext>
                </a:extLst>
              </p:cNvPr>
              <p:cNvSpPr/>
              <p:nvPr/>
            </p:nvSpPr>
            <p:spPr>
              <a:xfrm>
                <a:off x="8383247" y="1272121"/>
                <a:ext cx="2470289" cy="889488"/>
              </a:xfrm>
              <a:custGeom>
                <a:avLst/>
                <a:gdLst/>
                <a:ahLst/>
                <a:cxnLst/>
                <a:rect l="l" t="t" r="r" b="b"/>
                <a:pathLst>
                  <a:path w="2721892" h="980084">
                    <a:moveTo>
                      <a:pt x="0" y="0"/>
                    </a:moveTo>
                    <a:lnTo>
                      <a:pt x="2721892" y="0"/>
                    </a:lnTo>
                    <a:lnTo>
                      <a:pt x="2721892" y="980084"/>
                    </a:lnTo>
                    <a:lnTo>
                      <a:pt x="0" y="980084"/>
                    </a:lnTo>
                    <a:lnTo>
                      <a:pt x="0" y="0"/>
                    </a:lnTo>
                    <a:close/>
                  </a:path>
                </a:pathLst>
              </a:custGeom>
              <a:blipFill>
                <a:blip r:embed="rId9"/>
                <a:stretch>
                  <a:fillRect/>
                </a:stretch>
              </a:blipFill>
            </p:spPr>
            <p:txBody>
              <a:bodyPr/>
              <a:lstStyle/>
              <a:p>
                <a:endParaRPr lang="en-AU"/>
              </a:p>
            </p:txBody>
          </p:sp>
          <p:grpSp>
            <p:nvGrpSpPr>
              <p:cNvPr id="12" name="Group 11">
                <a:extLst>
                  <a:ext uri="{FF2B5EF4-FFF2-40B4-BE49-F238E27FC236}">
                    <a16:creationId xmlns:a16="http://schemas.microsoft.com/office/drawing/2014/main" id="{1D66B069-B5AF-0294-8E13-0A8F5B8BF2E5}"/>
                  </a:ext>
                </a:extLst>
              </p:cNvPr>
              <p:cNvGrpSpPr/>
              <p:nvPr/>
            </p:nvGrpSpPr>
            <p:grpSpPr>
              <a:xfrm>
                <a:off x="1920076" y="4986773"/>
                <a:ext cx="3980419" cy="1149490"/>
                <a:chOff x="0" y="0"/>
                <a:chExt cx="5847776" cy="1688761"/>
              </a:xfrm>
            </p:grpSpPr>
            <p:sp>
              <p:nvSpPr>
                <p:cNvPr id="22" name="Freeform 12">
                  <a:extLst>
                    <a:ext uri="{FF2B5EF4-FFF2-40B4-BE49-F238E27FC236}">
                      <a16:creationId xmlns:a16="http://schemas.microsoft.com/office/drawing/2014/main" id="{EC1CD8B6-2A5F-F30E-C5C0-D03E09238330}"/>
                    </a:ext>
                  </a:extLst>
                </p:cNvPr>
                <p:cNvSpPr/>
                <p:nvPr/>
              </p:nvSpPr>
              <p:spPr>
                <a:xfrm>
                  <a:off x="0" y="8504"/>
                  <a:ext cx="5847776" cy="709043"/>
                </a:xfrm>
                <a:custGeom>
                  <a:avLst/>
                  <a:gdLst/>
                  <a:ahLst/>
                  <a:cxnLst/>
                  <a:rect l="l" t="t" r="r" b="b"/>
                  <a:pathLst>
                    <a:path w="5847776" h="709043">
                      <a:moveTo>
                        <a:pt x="0" y="0"/>
                      </a:moveTo>
                      <a:lnTo>
                        <a:pt x="5847776" y="0"/>
                      </a:lnTo>
                      <a:lnTo>
                        <a:pt x="5847776" y="709043"/>
                      </a:lnTo>
                      <a:lnTo>
                        <a:pt x="0" y="709043"/>
                      </a:lnTo>
                      <a:lnTo>
                        <a:pt x="0" y="0"/>
                      </a:lnTo>
                      <a:close/>
                    </a:path>
                  </a:pathLst>
                </a:custGeom>
                <a:blipFill>
                  <a:blip r:embed="rId10"/>
                  <a:stretch>
                    <a:fillRect b="-100000"/>
                  </a:stretch>
                </a:blipFill>
              </p:spPr>
              <p:txBody>
                <a:bodyPr/>
                <a:lstStyle/>
                <a:p>
                  <a:endParaRPr lang="en-AU"/>
                </a:p>
              </p:txBody>
            </p:sp>
            <p:sp>
              <p:nvSpPr>
                <p:cNvPr id="23" name="AutoShape 13">
                  <a:extLst>
                    <a:ext uri="{FF2B5EF4-FFF2-40B4-BE49-F238E27FC236}">
                      <a16:creationId xmlns:a16="http://schemas.microsoft.com/office/drawing/2014/main" id="{EE00EE3C-5133-31F7-6F5A-DDAC22416120}"/>
                    </a:ext>
                  </a:extLst>
                </p:cNvPr>
                <p:cNvSpPr/>
                <p:nvPr/>
              </p:nvSpPr>
              <p:spPr>
                <a:xfrm>
                  <a:off x="2908445" y="0"/>
                  <a:ext cx="0" cy="717547"/>
                </a:xfrm>
                <a:prstGeom prst="line">
                  <a:avLst/>
                </a:prstGeom>
                <a:ln w="30886" cap="flat">
                  <a:solidFill>
                    <a:srgbClr val="000000"/>
                  </a:solidFill>
                  <a:prstDash val="solid"/>
                  <a:headEnd type="none" w="sm" len="sm"/>
                  <a:tailEnd type="none" w="sm" len="sm"/>
                </a:ln>
              </p:spPr>
              <p:txBody>
                <a:bodyPr/>
                <a:lstStyle/>
                <a:p>
                  <a:endParaRPr lang="en-AU"/>
                </a:p>
              </p:txBody>
            </p:sp>
            <p:sp>
              <p:nvSpPr>
                <p:cNvPr id="24" name="Freeform 14">
                  <a:extLst>
                    <a:ext uri="{FF2B5EF4-FFF2-40B4-BE49-F238E27FC236}">
                      <a16:creationId xmlns:a16="http://schemas.microsoft.com/office/drawing/2014/main" id="{AD7C6782-E807-FE61-1B80-8138D2F22527}"/>
                    </a:ext>
                  </a:extLst>
                </p:cNvPr>
                <p:cNvSpPr/>
                <p:nvPr/>
              </p:nvSpPr>
              <p:spPr>
                <a:xfrm rot="-5400000">
                  <a:off x="1188827" y="-471280"/>
                  <a:ext cx="530791" cy="2908445"/>
                </a:xfrm>
                <a:custGeom>
                  <a:avLst/>
                  <a:gdLst/>
                  <a:ahLst/>
                  <a:cxnLst/>
                  <a:rect l="l" t="t" r="r" b="b"/>
                  <a:pathLst>
                    <a:path w="530791" h="2908445">
                      <a:moveTo>
                        <a:pt x="0" y="0"/>
                      </a:moveTo>
                      <a:lnTo>
                        <a:pt x="530791" y="0"/>
                      </a:lnTo>
                      <a:lnTo>
                        <a:pt x="530791" y="2908445"/>
                      </a:lnTo>
                      <a:lnTo>
                        <a:pt x="0" y="290844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AU"/>
                </a:p>
              </p:txBody>
            </p:sp>
            <p:sp>
              <p:nvSpPr>
                <p:cNvPr id="25" name="Freeform 15">
                  <a:extLst>
                    <a:ext uri="{FF2B5EF4-FFF2-40B4-BE49-F238E27FC236}">
                      <a16:creationId xmlns:a16="http://schemas.microsoft.com/office/drawing/2014/main" id="{C9DA85D9-DCED-CD6C-9A75-E844DE98A9D1}"/>
                    </a:ext>
                  </a:extLst>
                </p:cNvPr>
                <p:cNvSpPr/>
                <p:nvPr/>
              </p:nvSpPr>
              <p:spPr>
                <a:xfrm>
                  <a:off x="1364408" y="1488722"/>
                  <a:ext cx="179629" cy="12334"/>
                </a:xfrm>
                <a:custGeom>
                  <a:avLst/>
                  <a:gdLst/>
                  <a:ahLst/>
                  <a:cxnLst/>
                  <a:rect l="l" t="t" r="r" b="b"/>
                  <a:pathLst>
                    <a:path w="179629" h="12334">
                      <a:moveTo>
                        <a:pt x="0" y="0"/>
                      </a:moveTo>
                      <a:lnTo>
                        <a:pt x="179629" y="0"/>
                      </a:lnTo>
                      <a:lnTo>
                        <a:pt x="179629" y="12334"/>
                      </a:lnTo>
                      <a:lnTo>
                        <a:pt x="0" y="12334"/>
                      </a:lnTo>
                      <a:lnTo>
                        <a:pt x="0" y="0"/>
                      </a:lnTo>
                      <a:close/>
                    </a:path>
                  </a:pathLst>
                </a:custGeom>
                <a:blipFill>
                  <a:blip r:embed="rId13">
                    <a:extLst>
                      <a:ext uri="{96DAC541-7B7A-43D3-8B79-37D633B846F1}">
                        <asvg:svgBlip xmlns:asvg="http://schemas.microsoft.com/office/drawing/2016/SVG/main" r:embed="rId14"/>
                      </a:ext>
                    </a:extLst>
                  </a:blip>
                  <a:stretch>
                    <a:fillRect r="-586650"/>
                  </a:stretch>
                </a:blipFill>
              </p:spPr>
              <p:txBody>
                <a:bodyPr/>
                <a:lstStyle/>
                <a:p>
                  <a:endParaRPr lang="en-AU"/>
                </a:p>
              </p:txBody>
            </p:sp>
            <p:sp>
              <p:nvSpPr>
                <p:cNvPr id="26" name="TextBox 16">
                  <a:extLst>
                    <a:ext uri="{FF2B5EF4-FFF2-40B4-BE49-F238E27FC236}">
                      <a16:creationId xmlns:a16="http://schemas.microsoft.com/office/drawing/2014/main" id="{6E20E3E8-15D2-FA44-7B66-F3925C2102FB}"/>
                    </a:ext>
                  </a:extLst>
                </p:cNvPr>
                <p:cNvSpPr txBox="1"/>
                <p:nvPr/>
              </p:nvSpPr>
              <p:spPr>
                <a:xfrm>
                  <a:off x="1427640" y="1280675"/>
                  <a:ext cx="53166" cy="174406"/>
                </a:xfrm>
                <a:prstGeom prst="rect">
                  <a:avLst/>
                </a:prstGeom>
              </p:spPr>
              <p:txBody>
                <a:bodyPr lIns="0" tIns="0" rIns="0" bIns="0" rtlCol="0" anchor="t">
                  <a:spAutoFit/>
                </a:bodyPr>
                <a:lstStyle/>
                <a:p>
                  <a:pPr algn="ctr">
                    <a:lnSpc>
                      <a:spcPts val="979"/>
                    </a:lnSpc>
                    <a:spcBef>
                      <a:spcPct val="0"/>
                    </a:spcBef>
                  </a:pPr>
                  <a:r>
                    <a:rPr lang="en-US" sz="700">
                      <a:solidFill>
                        <a:srgbClr val="000000"/>
                      </a:solidFill>
                      <a:latin typeface="Public Sans"/>
                      <a:ea typeface="Public Sans"/>
                      <a:cs typeface="Public Sans"/>
                      <a:sym typeface="Public Sans"/>
                    </a:rPr>
                    <a:t>1</a:t>
                  </a:r>
                </a:p>
              </p:txBody>
            </p:sp>
            <p:sp>
              <p:nvSpPr>
                <p:cNvPr id="27" name="TextBox 17">
                  <a:extLst>
                    <a:ext uri="{FF2B5EF4-FFF2-40B4-BE49-F238E27FC236}">
                      <a16:creationId xmlns:a16="http://schemas.microsoft.com/office/drawing/2014/main" id="{9D94FE33-F852-DB3E-BF8F-A33E01275A4B}"/>
                    </a:ext>
                  </a:extLst>
                </p:cNvPr>
                <p:cNvSpPr txBox="1"/>
                <p:nvPr/>
              </p:nvSpPr>
              <p:spPr>
                <a:xfrm>
                  <a:off x="1415293" y="1514355"/>
                  <a:ext cx="77858" cy="174406"/>
                </a:xfrm>
                <a:prstGeom prst="rect">
                  <a:avLst/>
                </a:prstGeom>
              </p:spPr>
              <p:txBody>
                <a:bodyPr lIns="0" tIns="0" rIns="0" bIns="0" rtlCol="0" anchor="t">
                  <a:spAutoFit/>
                </a:bodyPr>
                <a:lstStyle/>
                <a:p>
                  <a:pPr algn="ctr">
                    <a:lnSpc>
                      <a:spcPts val="979"/>
                    </a:lnSpc>
                    <a:spcBef>
                      <a:spcPct val="0"/>
                    </a:spcBef>
                  </a:pPr>
                  <a:r>
                    <a:rPr lang="en-US" sz="700">
                      <a:solidFill>
                        <a:srgbClr val="000000"/>
                      </a:solidFill>
                      <a:latin typeface="Public Sans"/>
                      <a:ea typeface="Public Sans"/>
                      <a:cs typeface="Public Sans"/>
                      <a:sym typeface="Public Sans"/>
                    </a:rPr>
                    <a:t>2</a:t>
                  </a:r>
                </a:p>
              </p:txBody>
            </p:sp>
          </p:grpSp>
          <p:sp>
            <p:nvSpPr>
              <p:cNvPr id="13" name="Freeform 18">
                <a:extLst>
                  <a:ext uri="{FF2B5EF4-FFF2-40B4-BE49-F238E27FC236}">
                    <a16:creationId xmlns:a16="http://schemas.microsoft.com/office/drawing/2014/main" id="{588D2376-9400-0457-D19C-FFB854F375BB}"/>
                  </a:ext>
                </a:extLst>
              </p:cNvPr>
              <p:cNvSpPr/>
              <p:nvPr/>
            </p:nvSpPr>
            <p:spPr>
              <a:xfrm>
                <a:off x="4642235" y="3141584"/>
                <a:ext cx="1551905" cy="1028136"/>
              </a:xfrm>
              <a:custGeom>
                <a:avLst/>
                <a:gdLst/>
                <a:ahLst/>
                <a:cxnLst/>
                <a:rect l="l" t="t" r="r" b="b"/>
                <a:pathLst>
                  <a:path w="1709969" h="1132854">
                    <a:moveTo>
                      <a:pt x="0" y="0"/>
                    </a:moveTo>
                    <a:lnTo>
                      <a:pt x="1709968" y="0"/>
                    </a:lnTo>
                    <a:lnTo>
                      <a:pt x="1709968" y="1132854"/>
                    </a:lnTo>
                    <a:lnTo>
                      <a:pt x="0" y="1132854"/>
                    </a:lnTo>
                    <a:lnTo>
                      <a:pt x="0" y="0"/>
                    </a:lnTo>
                    <a:close/>
                  </a:path>
                </a:pathLst>
              </a:custGeom>
              <a:blipFill>
                <a:blip r:embed="rId15"/>
                <a:stretch>
                  <a:fillRect/>
                </a:stretch>
              </a:blipFill>
            </p:spPr>
            <p:txBody>
              <a:bodyPr/>
              <a:lstStyle/>
              <a:p>
                <a:endParaRPr lang="en-AU"/>
              </a:p>
            </p:txBody>
          </p:sp>
          <p:sp>
            <p:nvSpPr>
              <p:cNvPr id="14" name="Freeform 19">
                <a:extLst>
                  <a:ext uri="{FF2B5EF4-FFF2-40B4-BE49-F238E27FC236}">
                    <a16:creationId xmlns:a16="http://schemas.microsoft.com/office/drawing/2014/main" id="{3C6614C8-4339-C25B-B91E-CF6E2DF79333}"/>
                  </a:ext>
                </a:extLst>
              </p:cNvPr>
              <p:cNvSpPr/>
              <p:nvPr/>
            </p:nvSpPr>
            <p:spPr>
              <a:xfrm>
                <a:off x="6479967" y="4214811"/>
                <a:ext cx="1569429" cy="1543925"/>
              </a:xfrm>
              <a:custGeom>
                <a:avLst/>
                <a:gdLst/>
                <a:ahLst/>
                <a:cxnLst/>
                <a:rect l="l" t="t" r="r" b="b"/>
                <a:pathLst>
                  <a:path w="1729278" h="1701177">
                    <a:moveTo>
                      <a:pt x="0" y="0"/>
                    </a:moveTo>
                    <a:lnTo>
                      <a:pt x="1729277" y="0"/>
                    </a:lnTo>
                    <a:lnTo>
                      <a:pt x="1729277" y="1701177"/>
                    </a:lnTo>
                    <a:lnTo>
                      <a:pt x="0" y="1701177"/>
                    </a:lnTo>
                    <a:lnTo>
                      <a:pt x="0" y="0"/>
                    </a:lnTo>
                    <a:close/>
                  </a:path>
                </a:pathLst>
              </a:custGeom>
              <a:blipFill>
                <a:blip r:embed="rId16"/>
                <a:stretch>
                  <a:fillRect/>
                </a:stretch>
              </a:blipFill>
            </p:spPr>
            <p:txBody>
              <a:bodyPr/>
              <a:lstStyle/>
              <a:p>
                <a:endParaRPr lang="en-AU"/>
              </a:p>
            </p:txBody>
          </p:sp>
          <p:sp>
            <p:nvSpPr>
              <p:cNvPr id="15" name="Freeform 20">
                <a:extLst>
                  <a:ext uri="{FF2B5EF4-FFF2-40B4-BE49-F238E27FC236}">
                    <a16:creationId xmlns:a16="http://schemas.microsoft.com/office/drawing/2014/main" id="{365535E4-E936-E59B-B0FC-268BBF3B78B6}"/>
                  </a:ext>
                </a:extLst>
              </p:cNvPr>
              <p:cNvSpPr/>
              <p:nvPr/>
            </p:nvSpPr>
            <p:spPr>
              <a:xfrm>
                <a:off x="8146450" y="2476978"/>
                <a:ext cx="466930" cy="1139149"/>
              </a:xfrm>
              <a:custGeom>
                <a:avLst/>
                <a:gdLst/>
                <a:ahLst/>
                <a:cxnLst/>
                <a:rect l="l" t="t" r="r" b="b"/>
                <a:pathLst>
                  <a:path w="514488" h="1255173">
                    <a:moveTo>
                      <a:pt x="0" y="0"/>
                    </a:moveTo>
                    <a:lnTo>
                      <a:pt x="514489" y="0"/>
                    </a:lnTo>
                    <a:lnTo>
                      <a:pt x="514489" y="1255172"/>
                    </a:lnTo>
                    <a:lnTo>
                      <a:pt x="0" y="1255172"/>
                    </a:lnTo>
                    <a:lnTo>
                      <a:pt x="0" y="0"/>
                    </a:lnTo>
                    <a:close/>
                  </a:path>
                </a:pathLst>
              </a:custGeom>
              <a:blipFill>
                <a:blip r:embed="rId17">
                  <a:extLst>
                    <a:ext uri="{96DAC541-7B7A-43D3-8B79-37D633B846F1}">
                      <asvg:svgBlip xmlns:asvg="http://schemas.microsoft.com/office/drawing/2016/SVG/main" r:embed="rId18"/>
                    </a:ext>
                  </a:extLst>
                </a:blip>
                <a:stretch>
                  <a:fillRect r="-122230"/>
                </a:stretch>
              </a:blipFill>
            </p:spPr>
            <p:txBody>
              <a:bodyPr/>
              <a:lstStyle/>
              <a:p>
                <a:endParaRPr lang="en-AU"/>
              </a:p>
            </p:txBody>
          </p:sp>
          <p:sp>
            <p:nvSpPr>
              <p:cNvPr id="16" name="Freeform 21">
                <a:extLst>
                  <a:ext uri="{FF2B5EF4-FFF2-40B4-BE49-F238E27FC236}">
                    <a16:creationId xmlns:a16="http://schemas.microsoft.com/office/drawing/2014/main" id="{A2AB9200-DD9A-57DB-2B15-F810F90D1F09}"/>
                  </a:ext>
                </a:extLst>
              </p:cNvPr>
              <p:cNvSpPr/>
              <p:nvPr/>
            </p:nvSpPr>
            <p:spPr>
              <a:xfrm>
                <a:off x="8955223" y="2516886"/>
                <a:ext cx="580707" cy="1101991"/>
              </a:xfrm>
              <a:custGeom>
                <a:avLst/>
                <a:gdLst/>
                <a:ahLst/>
                <a:cxnLst/>
                <a:rect l="l" t="t" r="r" b="b"/>
                <a:pathLst>
                  <a:path w="639853" h="1214231">
                    <a:moveTo>
                      <a:pt x="0" y="0"/>
                    </a:moveTo>
                    <a:lnTo>
                      <a:pt x="639853" y="0"/>
                    </a:lnTo>
                    <a:lnTo>
                      <a:pt x="639853" y="1214231"/>
                    </a:lnTo>
                    <a:lnTo>
                      <a:pt x="0" y="1214231"/>
                    </a:lnTo>
                    <a:lnTo>
                      <a:pt x="0" y="0"/>
                    </a:lnTo>
                    <a:close/>
                  </a:path>
                </a:pathLst>
              </a:custGeom>
              <a:blipFill>
                <a:blip r:embed="rId17">
                  <a:extLst>
                    <a:ext uri="{96DAC541-7B7A-43D3-8B79-37D633B846F1}">
                      <asvg:svgBlip xmlns:asvg="http://schemas.microsoft.com/office/drawing/2016/SVG/main" r:embed="rId18"/>
                    </a:ext>
                  </a:extLst>
                </a:blip>
                <a:stretch>
                  <a:fillRect l="-78689" t="-3371"/>
                </a:stretch>
              </a:blipFill>
            </p:spPr>
            <p:txBody>
              <a:bodyPr/>
              <a:lstStyle/>
              <a:p>
                <a:endParaRPr lang="en-AU"/>
              </a:p>
            </p:txBody>
          </p:sp>
          <p:sp>
            <p:nvSpPr>
              <p:cNvPr id="17" name="TextBox 22">
                <a:extLst>
                  <a:ext uri="{FF2B5EF4-FFF2-40B4-BE49-F238E27FC236}">
                    <a16:creationId xmlns:a16="http://schemas.microsoft.com/office/drawing/2014/main" id="{6949B773-04CA-686D-486A-FF0D6C7FBF8D}"/>
                  </a:ext>
                </a:extLst>
              </p:cNvPr>
              <p:cNvSpPr txBox="1"/>
              <p:nvPr/>
            </p:nvSpPr>
            <p:spPr>
              <a:xfrm>
                <a:off x="7237451" y="2987048"/>
                <a:ext cx="908998" cy="452669"/>
              </a:xfrm>
              <a:prstGeom prst="rect">
                <a:avLst/>
              </a:prstGeom>
            </p:spPr>
            <p:txBody>
              <a:bodyPr wrap="square" lIns="0" tIns="0" rIns="0" bIns="0" rtlCol="0" anchor="t">
                <a:spAutoFit/>
              </a:bodyPr>
              <a:lstStyle/>
              <a:p>
                <a:pPr algn="ctr">
                  <a:lnSpc>
                    <a:spcPts val="1007"/>
                  </a:lnSpc>
                  <a:spcBef>
                    <a:spcPct val="0"/>
                  </a:spcBef>
                </a:pPr>
                <a:r>
                  <a:rPr lang="en-US" sz="1200">
                    <a:solidFill>
                      <a:srgbClr val="000000"/>
                    </a:solidFill>
                    <a:latin typeface="Arial"/>
                    <a:ea typeface="Public Sans Italics"/>
                    <a:cs typeface="Public Sans Italics"/>
                    <a:sym typeface="Public Sans Italics"/>
                  </a:rPr>
                  <a:t>The smaller half</a:t>
                </a:r>
                <a:endParaRPr lang="en-US" sz="1200">
                  <a:solidFill>
                    <a:srgbClr val="000000"/>
                  </a:solidFill>
                  <a:latin typeface="Arial"/>
                  <a:ea typeface="Public Sans Italics"/>
                  <a:cs typeface="Public Sans Italics"/>
                </a:endParaRPr>
              </a:p>
            </p:txBody>
          </p:sp>
          <p:grpSp>
            <p:nvGrpSpPr>
              <p:cNvPr id="18" name="Group 23">
                <a:extLst>
                  <a:ext uri="{FF2B5EF4-FFF2-40B4-BE49-F238E27FC236}">
                    <a16:creationId xmlns:a16="http://schemas.microsoft.com/office/drawing/2014/main" id="{374A77AF-E788-ED94-92E8-445C5365B260}"/>
                  </a:ext>
                </a:extLst>
              </p:cNvPr>
              <p:cNvGrpSpPr/>
              <p:nvPr/>
            </p:nvGrpSpPr>
            <p:grpSpPr>
              <a:xfrm>
                <a:off x="1919444" y="3141584"/>
                <a:ext cx="1413593" cy="1070796"/>
                <a:chOff x="0" y="0"/>
                <a:chExt cx="2076760" cy="1573146"/>
              </a:xfrm>
            </p:grpSpPr>
            <p:sp>
              <p:nvSpPr>
                <p:cNvPr id="20" name="Freeform 24">
                  <a:extLst>
                    <a:ext uri="{FF2B5EF4-FFF2-40B4-BE49-F238E27FC236}">
                      <a16:creationId xmlns:a16="http://schemas.microsoft.com/office/drawing/2014/main" id="{7B045608-43E6-8C76-AEEE-2B39D0C27E5A}"/>
                    </a:ext>
                  </a:extLst>
                </p:cNvPr>
                <p:cNvSpPr/>
                <p:nvPr/>
              </p:nvSpPr>
              <p:spPr>
                <a:xfrm>
                  <a:off x="0" y="0"/>
                  <a:ext cx="2076760" cy="1573146"/>
                </a:xfrm>
                <a:custGeom>
                  <a:avLst/>
                  <a:gdLst/>
                  <a:ahLst/>
                  <a:cxnLst/>
                  <a:rect l="l" t="t" r="r" b="b"/>
                  <a:pathLst>
                    <a:path w="2076760" h="1573146">
                      <a:moveTo>
                        <a:pt x="0" y="0"/>
                      </a:moveTo>
                      <a:lnTo>
                        <a:pt x="2076760" y="0"/>
                      </a:lnTo>
                      <a:lnTo>
                        <a:pt x="2076760" y="1573146"/>
                      </a:lnTo>
                      <a:lnTo>
                        <a:pt x="0" y="1573146"/>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AU"/>
                </a:p>
              </p:txBody>
            </p:sp>
            <p:sp>
              <p:nvSpPr>
                <p:cNvPr id="21" name="TextBox 25">
                  <a:extLst>
                    <a:ext uri="{FF2B5EF4-FFF2-40B4-BE49-F238E27FC236}">
                      <a16:creationId xmlns:a16="http://schemas.microsoft.com/office/drawing/2014/main" id="{0771CC4A-FD24-DDDD-5A4C-9E09177B8F4E}"/>
                    </a:ext>
                  </a:extLst>
                </p:cNvPr>
                <p:cNvSpPr txBox="1"/>
                <p:nvPr/>
              </p:nvSpPr>
              <p:spPr>
                <a:xfrm>
                  <a:off x="143080" y="59758"/>
                  <a:ext cx="1544198" cy="631489"/>
                </a:xfrm>
                <a:prstGeom prst="rect">
                  <a:avLst/>
                </a:prstGeom>
              </p:spPr>
              <p:txBody>
                <a:bodyPr wrap="square" lIns="0" tIns="0" rIns="0" bIns="0" rtlCol="0" anchor="t">
                  <a:spAutoFit/>
                </a:bodyPr>
                <a:lstStyle/>
                <a:p>
                  <a:pPr algn="ctr">
                    <a:lnSpc>
                      <a:spcPts val="1513"/>
                    </a:lnSpc>
                    <a:spcBef>
                      <a:spcPct val="0"/>
                    </a:spcBef>
                  </a:pPr>
                  <a:r>
                    <a:rPr lang="en-US" sz="1081">
                      <a:solidFill>
                        <a:srgbClr val="000000"/>
                      </a:solidFill>
                      <a:latin typeface="Arial" panose="020B0604020202020204" pitchFamily="34" charset="0"/>
                      <a:ea typeface="Public Sans"/>
                      <a:cs typeface="Arial" panose="020B0604020202020204" pitchFamily="34" charset="0"/>
                      <a:sym typeface="Public Sans"/>
                    </a:rPr>
                    <a:t>I am 9 and a half years old</a:t>
                  </a:r>
                </a:p>
              </p:txBody>
            </p:sp>
          </p:grpSp>
          <p:sp>
            <p:nvSpPr>
              <p:cNvPr id="19" name="TextBox 26">
                <a:extLst>
                  <a:ext uri="{FF2B5EF4-FFF2-40B4-BE49-F238E27FC236}">
                    <a16:creationId xmlns:a16="http://schemas.microsoft.com/office/drawing/2014/main" id="{4075CE30-26E2-D0F0-A49C-58F5DB3350DA}"/>
                  </a:ext>
                </a:extLst>
              </p:cNvPr>
              <p:cNvSpPr txBox="1"/>
              <p:nvPr/>
            </p:nvSpPr>
            <p:spPr>
              <a:xfrm>
                <a:off x="9535930" y="3041948"/>
                <a:ext cx="603081" cy="384721"/>
              </a:xfrm>
              <a:prstGeom prst="rect">
                <a:avLst/>
              </a:prstGeom>
            </p:spPr>
            <p:txBody>
              <a:bodyPr wrap="square" lIns="0" tIns="0" rIns="0" bIns="0" rtlCol="0" anchor="t">
                <a:spAutoFit/>
              </a:bodyPr>
              <a:lstStyle/>
              <a:p>
                <a:pPr algn="ctr">
                  <a:lnSpc>
                    <a:spcPts val="1007"/>
                  </a:lnSpc>
                  <a:spcBef>
                    <a:spcPct val="0"/>
                  </a:spcBef>
                </a:pPr>
                <a:r>
                  <a:rPr lang="en-US" sz="1200">
                    <a:solidFill>
                      <a:srgbClr val="000000"/>
                    </a:solidFill>
                    <a:latin typeface="Arial"/>
                    <a:ea typeface="Public Sans Italics"/>
                    <a:cs typeface="Public Sans Italics"/>
                    <a:sym typeface="Public Sans Italics"/>
                  </a:rPr>
                  <a:t>The bigger half</a:t>
                </a:r>
                <a:endParaRPr lang="en-US" sz="1200">
                  <a:solidFill>
                    <a:srgbClr val="000000"/>
                  </a:solidFill>
                  <a:latin typeface="Arial"/>
                  <a:ea typeface="Public Sans Italics"/>
                  <a:cs typeface="Public Sans Italics"/>
                </a:endParaRPr>
              </a:p>
            </p:txBody>
          </p:sp>
        </p:grpSp>
      </p:gr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1242646" y="1415457"/>
            <a:ext cx="10552113" cy="893226"/>
          </a:xfrm>
        </p:spPr>
        <p:txBody>
          <a:bodyPr/>
          <a:lstStyle/>
          <a:p>
            <a:pPr algn="ctr"/>
            <a:r>
              <a:rPr lang="en-AU" sz="3600" dirty="0"/>
              <a:t>The </a:t>
            </a:r>
            <a:r>
              <a:rPr lang="en-AU" sz="3600" b="1" dirty="0"/>
              <a:t>fractional part </a:t>
            </a:r>
            <a:r>
              <a:rPr lang="en-AU" sz="3600" dirty="0"/>
              <a:t>needed to </a:t>
            </a:r>
            <a:r>
              <a:rPr lang="en-AU" sz="3600" b="1" dirty="0"/>
              <a:t>complete</a:t>
            </a:r>
            <a:r>
              <a:rPr lang="en-AU" sz="3600" dirty="0"/>
              <a:t> this </a:t>
            </a:r>
            <a:r>
              <a:rPr lang="en-AU" sz="3600" b="1" dirty="0"/>
              <a:t>one whole </a:t>
            </a:r>
            <a:r>
              <a:rPr lang="en-AU" sz="3600" dirty="0"/>
              <a:t>is one third</a:t>
            </a:r>
            <a:r>
              <a:rPr lang="en-AU" sz="4000" dirty="0"/>
              <a:t>.</a:t>
            </a:r>
          </a:p>
        </p:txBody>
      </p:sp>
      <p:pic>
        <p:nvPicPr>
          <p:cNvPr id="9" name="Picture 8" descr="A horizontal bar divided into four equal sections. The first three sections are shaded blue and the last section is unshaded. Directly underneath is a number line from 0 to 1, with tick marks labelled 0, 1/4, 1/2, 3/4, and 1.">
            <a:extLst>
              <a:ext uri="{FF2B5EF4-FFF2-40B4-BE49-F238E27FC236}">
                <a16:creationId xmlns:a16="http://schemas.microsoft.com/office/drawing/2014/main" id="{0B6A8975-64FE-810D-6284-885C41F89C77}"/>
              </a:ext>
            </a:extLst>
          </p:cNvPr>
          <p:cNvPicPr>
            <a:picLocks noChangeAspect="1"/>
          </p:cNvPicPr>
          <p:nvPr/>
        </p:nvPicPr>
        <p:blipFill>
          <a:blip r:embed="rId4"/>
          <a:stretch>
            <a:fillRect/>
          </a:stretch>
        </p:blipFill>
        <p:spPr>
          <a:xfrm>
            <a:off x="3079625" y="3429000"/>
            <a:ext cx="7036162" cy="1549480"/>
          </a:xfrm>
          <a:prstGeom prst="rect">
            <a:avLst/>
          </a:prstGeom>
        </p:spPr>
      </p:pic>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2915818367"/>
              </p:ext>
            </p:extLst>
          </p:nvPr>
        </p:nvGraphicFramePr>
        <p:xfrm>
          <a:off x="2787962" y="5774320"/>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(5)</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55A57A5-4711-5449-9DCB-85D2DE6222FC}"/>
              </a:ext>
              <a:ext uri="{C183D7F6-B498-43B3-948B-1728B52AA6E4}">
                <adec:decorative xmlns:adec="http://schemas.microsoft.com/office/drawing/2017/decorative" val="1"/>
              </a:ext>
            </a:extLst>
          </p:cNvPr>
          <p:cNvSpPr txBox="1"/>
          <p:nvPr/>
        </p:nvSpPr>
        <p:spPr>
          <a:xfrm>
            <a:off x="779317" y="1093828"/>
            <a:ext cx="10858500" cy="3054927"/>
          </a:xfrm>
          <a:prstGeom prst="rect">
            <a:avLst/>
          </a:prstGeom>
          <a:noFill/>
        </p:spPr>
        <p:txBody>
          <a:bodyPr wrap="square" lIns="0" tIns="0" rIns="0" bIns="0" rtlCol="0" anchor="t">
            <a:noAutofit/>
          </a:bodyPr>
          <a:lstStyle/>
          <a:p>
            <a:pPr algn="ctr">
              <a:lnSpc>
                <a:spcPct val="150000"/>
              </a:lnSpc>
            </a:pPr>
            <a:r>
              <a:rPr lang="en-AU" sz="4000" dirty="0"/>
              <a:t>Tyra had a strip of blue paper she wanted to </a:t>
            </a:r>
            <a:r>
              <a:rPr lang="en-AU" sz="4000" b="1" dirty="0"/>
              <a:t>fold</a:t>
            </a:r>
            <a:r>
              <a:rPr lang="en-AU" sz="4000" dirty="0"/>
              <a:t> into </a:t>
            </a:r>
            <a:r>
              <a:rPr lang="en-AU" sz="4000" b="1" dirty="0"/>
              <a:t>eighths</a:t>
            </a:r>
            <a:r>
              <a:rPr lang="en-AU" sz="4000" dirty="0"/>
              <a:t>. </a:t>
            </a:r>
          </a:p>
          <a:p>
            <a:pPr algn="ctr">
              <a:lnSpc>
                <a:spcPct val="150000"/>
              </a:lnSpc>
            </a:pPr>
            <a:endParaRPr lang="en-AU" sz="4000" dirty="0"/>
          </a:p>
          <a:p>
            <a:pPr algn="ctr">
              <a:lnSpc>
                <a:spcPct val="150000"/>
              </a:lnSpc>
            </a:pPr>
            <a:endParaRPr lang="en-AU" sz="2200" dirty="0"/>
          </a:p>
          <a:p>
            <a:pPr algn="ctr">
              <a:lnSpc>
                <a:spcPct val="150000"/>
              </a:lnSpc>
            </a:pPr>
            <a:r>
              <a:rPr lang="en-AU" sz="4000" b="1" dirty="0"/>
              <a:t>Describe</a:t>
            </a:r>
            <a:r>
              <a:rPr lang="en-AU" sz="4000" dirty="0"/>
              <a:t> the instructions you could give Tyra to make sure she created 8 </a:t>
            </a:r>
            <a:r>
              <a:rPr lang="en-AU" sz="4000" b="1" dirty="0"/>
              <a:t>equal parts</a:t>
            </a:r>
            <a:r>
              <a:rPr lang="en-AU" sz="4000" dirty="0"/>
              <a:t>.</a:t>
            </a:r>
            <a:endParaRPr lang="en-AU" sz="4000" dirty="0">
              <a:cs typeface="Arial"/>
            </a:endParaRPr>
          </a:p>
        </p:txBody>
      </p:sp>
      <p:graphicFrame>
        <p:nvGraphicFramePr>
          <p:cNvPr id="5" name="Table 4">
            <a:extLst>
              <a:ext uri="{FF2B5EF4-FFF2-40B4-BE49-F238E27FC236}">
                <a16:creationId xmlns:a16="http://schemas.microsoft.com/office/drawing/2014/main" id="{67AAF7C4-DABE-70C1-2D64-EE75C8922A33}"/>
              </a:ext>
              <a:ext uri="{C183D7F6-B498-43B3-948B-1728B52AA6E4}">
                <adec:decorative xmlns:adec="http://schemas.microsoft.com/office/drawing/2017/decorative" val="1"/>
              </a:ext>
            </a:extLst>
          </p:cNvPr>
          <p:cNvGraphicFramePr>
            <a:graphicFrameLocks noGrp="1"/>
          </p:cNvGraphicFramePr>
          <p:nvPr>
            <p:extLst>
              <p:ext uri="{D42A27DB-BD31-4B8C-83A1-F6EECF244321}">
                <p14:modId xmlns:p14="http://schemas.microsoft.com/office/powerpoint/2010/main" val="3020371436"/>
              </p:ext>
            </p:extLst>
          </p:nvPr>
        </p:nvGraphicFramePr>
        <p:xfrm>
          <a:off x="2288886" y="3313324"/>
          <a:ext cx="7839363" cy="803949"/>
        </p:xfrm>
        <a:graphic>
          <a:graphicData uri="http://schemas.openxmlformats.org/drawingml/2006/table">
            <a:tbl>
              <a:tblPr firstRow="1" bandRow="1">
                <a:tableStyleId>{5A111915-BE36-4E01-A7E5-04B1672EAD32}</a:tableStyleId>
              </a:tblPr>
              <a:tblGrid>
                <a:gridCol w="7839363">
                  <a:extLst>
                    <a:ext uri="{9D8B030D-6E8A-4147-A177-3AD203B41FA5}">
                      <a16:colId xmlns:a16="http://schemas.microsoft.com/office/drawing/2014/main" val="2052788162"/>
                    </a:ext>
                  </a:extLst>
                </a:gridCol>
              </a:tblGrid>
              <a:tr h="803949">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90000"/>
                      </a:schemeClr>
                    </a:solidFill>
                  </a:tcPr>
                </a:tc>
                <a:extLst>
                  <a:ext uri="{0D108BD9-81ED-4DB2-BD59-A6C34878D82A}">
                    <a16:rowId xmlns:a16="http://schemas.microsoft.com/office/drawing/2014/main" val="1278830822"/>
                  </a:ext>
                </a:extLst>
              </a:tr>
            </a:tbl>
          </a:graphicData>
        </a:graphic>
      </p:graphicFrame>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26A6395B-311A-A2F9-199E-D1BC4E6A1160}"/>
              </a:ext>
            </a:extLst>
          </p:cNvPr>
          <p:cNvSpPr txBox="1"/>
          <p:nvPr/>
        </p:nvSpPr>
        <p:spPr>
          <a:xfrm>
            <a:off x="981209" y="2073925"/>
            <a:ext cx="9950115" cy="2379741"/>
          </a:xfrm>
          <a:prstGeom prst="rect">
            <a:avLst/>
          </a:prstGeom>
          <a:noFill/>
        </p:spPr>
        <p:txBody>
          <a:bodyPr wrap="square" lIns="0" tIns="0" rIns="0" bIns="0" rtlCol="0">
            <a:noAutofit/>
          </a:bodyPr>
          <a:lstStyle/>
          <a:p>
            <a:pPr algn="ctr">
              <a:lnSpc>
                <a:spcPct val="150000"/>
              </a:lnSpc>
            </a:pPr>
            <a:r>
              <a:rPr lang="en-AU" sz="4400" b="1" dirty="0"/>
              <a:t>Record</a:t>
            </a:r>
            <a:r>
              <a:rPr lang="en-AU" sz="4400" dirty="0"/>
              <a:t> 3 different </a:t>
            </a:r>
            <a:r>
              <a:rPr lang="en-AU" sz="4400" b="1" dirty="0"/>
              <a:t>benchmarks </a:t>
            </a:r>
            <a:r>
              <a:rPr lang="en-AU" sz="4400" dirty="0"/>
              <a:t>for measuring </a:t>
            </a:r>
            <a:r>
              <a:rPr lang="en-AU" sz="4400" b="1" dirty="0"/>
              <a:t>length</a:t>
            </a:r>
            <a:r>
              <a:rPr lang="en-AU" sz="4400" dirty="0"/>
              <a:t>.</a:t>
            </a:r>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8A6328A0-61F0-13E4-8EE5-E164BFA9601C}"/>
              </a:ext>
            </a:extLst>
          </p:cNvPr>
          <p:cNvSpPr txBox="1"/>
          <p:nvPr/>
        </p:nvSpPr>
        <p:spPr>
          <a:xfrm>
            <a:off x="445524" y="1299028"/>
            <a:ext cx="11300952" cy="5332998"/>
          </a:xfrm>
          <a:prstGeom prst="rect">
            <a:avLst/>
          </a:prstGeom>
          <a:noFill/>
        </p:spPr>
        <p:txBody>
          <a:bodyPr wrap="square">
            <a:spAutoFit/>
          </a:bodyPr>
          <a:lstStyle/>
          <a:p>
            <a:pPr algn="ctr">
              <a:lnSpc>
                <a:spcPct val="150000"/>
              </a:lnSpc>
              <a:spcBef>
                <a:spcPts val="1200"/>
              </a:spcBef>
              <a:spcAft>
                <a:spcPts val="600"/>
              </a:spcAft>
              <a:tabLst>
                <a:tab pos="228600" algn="l"/>
              </a:tabLst>
            </a:pPr>
            <a:r>
              <a:rPr lang="en-AU" sz="4400" b="1" dirty="0">
                <a:effectLst/>
                <a:latin typeface="Arial" panose="020B0604020202020204" pitchFamily="34" charset="0"/>
                <a:ea typeface="Calibri" panose="020F0502020204030204" pitchFamily="34" charset="0"/>
              </a:rPr>
              <a:t>R</a:t>
            </a:r>
            <a:r>
              <a:rPr lang="en-AU" sz="4400" b="1" dirty="0"/>
              <a:t>epresent</a:t>
            </a:r>
            <a:r>
              <a:rPr lang="en-AU" sz="4400" dirty="0"/>
              <a:t> the following number sentence using a </a:t>
            </a:r>
            <a:r>
              <a:rPr lang="en-AU" sz="4400" b="1" dirty="0"/>
              <a:t>bar model </a:t>
            </a:r>
            <a:r>
              <a:rPr lang="en-AU" sz="4400" dirty="0"/>
              <a:t>and </a:t>
            </a:r>
            <a:r>
              <a:rPr lang="en-AU" sz="4400" b="1" dirty="0"/>
              <a:t>calculate</a:t>
            </a:r>
            <a:r>
              <a:rPr lang="en-AU" sz="4400" dirty="0"/>
              <a:t> the missing </a:t>
            </a:r>
            <a:r>
              <a:rPr lang="en-AU" sz="4400" b="1" dirty="0"/>
              <a:t>value</a:t>
            </a:r>
            <a:r>
              <a:rPr lang="en-AU" sz="4400" dirty="0"/>
              <a:t>.</a:t>
            </a:r>
          </a:p>
          <a:p>
            <a:pPr algn="ctr">
              <a:lnSpc>
                <a:spcPct val="150000"/>
              </a:lnSpc>
              <a:spcBef>
                <a:spcPts val="1200"/>
              </a:spcBef>
              <a:spcAft>
                <a:spcPts val="600"/>
              </a:spcAft>
              <a:tabLst>
                <a:tab pos="228600" algn="l"/>
              </a:tabLst>
            </a:pPr>
            <a:r>
              <a:rPr lang="en-AU" sz="5400" dirty="0"/>
              <a:t> 72 = ? + 13</a:t>
            </a:r>
          </a:p>
          <a:p>
            <a:pPr>
              <a:lnSpc>
                <a:spcPct val="150000"/>
              </a:lnSpc>
              <a:spcBef>
                <a:spcPts val="1200"/>
              </a:spcBef>
              <a:spcAft>
                <a:spcPts val="600"/>
              </a:spcAft>
              <a:tabLst>
                <a:tab pos="228600" algn="l"/>
              </a:tabLst>
            </a:pPr>
            <a:endParaRPr lang="en-AU" sz="2400" dirty="0">
              <a:effectLst/>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(8)</a:t>
            </a:r>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pic>
        <p:nvPicPr>
          <p:cNvPr id="3" name="Picture 2" descr="image of a clipboard with a pencil recording short answer responses">
            <a:extLst>
              <a:ext uri="{FF2B5EF4-FFF2-40B4-BE49-F238E27FC236}">
                <a16:creationId xmlns:a16="http://schemas.microsoft.com/office/drawing/2014/main" id="{5D2DD89E-AAB3-5EBB-F36F-72D71287FEE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A1A6410-70C9-2B73-ADF9-EF167343D4DE}"/>
              </a:ext>
            </a:extLst>
          </p:cNvPr>
          <p:cNvSpPr txBox="1"/>
          <p:nvPr/>
        </p:nvSpPr>
        <p:spPr>
          <a:xfrm>
            <a:off x="172205" y="1446851"/>
            <a:ext cx="11311795" cy="2168013"/>
          </a:xfrm>
          <a:prstGeom prst="rect">
            <a:avLst/>
          </a:prstGeom>
          <a:noFill/>
        </p:spPr>
        <p:txBody>
          <a:bodyPr wrap="square" lIns="0" tIns="0" rIns="0" bIns="0" rtlCol="0">
            <a:noAutofit/>
          </a:bodyPr>
          <a:lstStyle/>
          <a:p>
            <a:pPr algn="ctr">
              <a:lnSpc>
                <a:spcPct val="150000"/>
              </a:lnSpc>
            </a:pPr>
            <a:r>
              <a:rPr lang="en-AU" sz="4000" b="1" dirty="0"/>
              <a:t>Describe</a:t>
            </a:r>
            <a:r>
              <a:rPr lang="en-AU" sz="4000" dirty="0"/>
              <a:t> the </a:t>
            </a:r>
            <a:r>
              <a:rPr lang="en-AU" sz="4000" b="1" dirty="0"/>
              <a:t>features</a:t>
            </a:r>
            <a:r>
              <a:rPr lang="en-AU" sz="4000" dirty="0"/>
              <a:t> that are </a:t>
            </a:r>
            <a:r>
              <a:rPr lang="en-AU" sz="4000" b="1" dirty="0"/>
              <a:t>similar </a:t>
            </a:r>
            <a:r>
              <a:rPr lang="en-AU" sz="4000" dirty="0"/>
              <a:t>and </a:t>
            </a:r>
            <a:r>
              <a:rPr lang="en-AU" sz="4000" b="1" dirty="0"/>
              <a:t>different </a:t>
            </a:r>
            <a:r>
              <a:rPr lang="en-AU" sz="4000" dirty="0"/>
              <a:t>between these 2 shapes.</a:t>
            </a:r>
          </a:p>
        </p:txBody>
      </p:sp>
      <p:sp>
        <p:nvSpPr>
          <p:cNvPr id="5" name="Rectangle 4" descr="A square">
            <a:extLst>
              <a:ext uri="{FF2B5EF4-FFF2-40B4-BE49-F238E27FC236}">
                <a16:creationId xmlns:a16="http://schemas.microsoft.com/office/drawing/2014/main" id="{32DD7B1D-C20E-4F37-C592-6EDF095F57DB}"/>
              </a:ext>
            </a:extLst>
          </p:cNvPr>
          <p:cNvSpPr/>
          <p:nvPr/>
        </p:nvSpPr>
        <p:spPr>
          <a:xfrm>
            <a:off x="1725561" y="3583856"/>
            <a:ext cx="2123768" cy="2020529"/>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TextBox 7">
            <a:extLst>
              <a:ext uri="{FF2B5EF4-FFF2-40B4-BE49-F238E27FC236}">
                <a16:creationId xmlns:a16="http://schemas.microsoft.com/office/drawing/2014/main" id="{B5DF9FA3-CF22-922D-61F4-D20C9714D135}"/>
              </a:ext>
            </a:extLst>
          </p:cNvPr>
          <p:cNvSpPr txBox="1"/>
          <p:nvPr/>
        </p:nvSpPr>
        <p:spPr>
          <a:xfrm>
            <a:off x="2064774" y="5778695"/>
            <a:ext cx="3318387" cy="469161"/>
          </a:xfrm>
          <a:prstGeom prst="rect">
            <a:avLst/>
          </a:prstGeom>
          <a:noFill/>
        </p:spPr>
        <p:txBody>
          <a:bodyPr wrap="square" lIns="0" tIns="0" rIns="0" bIns="0" rtlCol="0">
            <a:noAutofit/>
          </a:bodyPr>
          <a:lstStyle/>
          <a:p>
            <a:pPr algn="l"/>
            <a:r>
              <a:rPr lang="en-AU" sz="3200"/>
              <a:t>square</a:t>
            </a:r>
          </a:p>
        </p:txBody>
      </p:sp>
      <p:sp>
        <p:nvSpPr>
          <p:cNvPr id="7" name="Rectangle 6" descr="A rectangle">
            <a:extLst>
              <a:ext uri="{FF2B5EF4-FFF2-40B4-BE49-F238E27FC236}">
                <a16:creationId xmlns:a16="http://schemas.microsoft.com/office/drawing/2014/main" id="{864B01E8-7945-7C09-B841-7864EB140105}"/>
              </a:ext>
            </a:extLst>
          </p:cNvPr>
          <p:cNvSpPr/>
          <p:nvPr/>
        </p:nvSpPr>
        <p:spPr>
          <a:xfrm>
            <a:off x="6651250" y="3660619"/>
            <a:ext cx="4277033" cy="2020529"/>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CE99F8A9-6938-92A5-C87A-C30E6BC452AB}"/>
              </a:ext>
            </a:extLst>
          </p:cNvPr>
          <p:cNvSpPr txBox="1"/>
          <p:nvPr/>
        </p:nvSpPr>
        <p:spPr>
          <a:xfrm>
            <a:off x="8114071" y="5772657"/>
            <a:ext cx="3318387" cy="469161"/>
          </a:xfrm>
          <a:prstGeom prst="rect">
            <a:avLst/>
          </a:prstGeom>
          <a:noFill/>
        </p:spPr>
        <p:txBody>
          <a:bodyPr wrap="square" lIns="0" tIns="0" rIns="0" bIns="0" rtlCol="0">
            <a:noAutofit/>
          </a:bodyPr>
          <a:lstStyle/>
          <a:p>
            <a:pPr algn="l"/>
            <a:r>
              <a:rPr lang="en-AU" sz="3200"/>
              <a:t>rectangle</a:t>
            </a:r>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a:t>
            </a:r>
            <a:r>
              <a:rPr lang="en-AU">
                <a:latin typeface="Arial"/>
                <a:cs typeface="Arial"/>
              </a:rPr>
              <a:t>wholes on a fraction wall</a:t>
            </a:r>
            <a:endParaRPr lang="en-AU"/>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pic>
        <p:nvPicPr>
          <p:cNvPr id="4" name="Picture 3" descr="image of a head with cogs turning inside">
            <a:extLst>
              <a:ext uri="{FF2B5EF4-FFF2-40B4-BE49-F238E27FC236}">
                <a16:creationId xmlns:a16="http://schemas.microsoft.com/office/drawing/2014/main" id="{D6502462-26FB-38CD-06DC-5F98705966BE}"/>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99" name="Picture 98" descr="Fraction wall with parts missing.">
            <a:extLst>
              <a:ext uri="{FF2B5EF4-FFF2-40B4-BE49-F238E27FC236}">
                <a16:creationId xmlns:a16="http://schemas.microsoft.com/office/drawing/2014/main" id="{EF681A82-4637-83B7-41AA-5D298B66D9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9388" y="1792747"/>
            <a:ext cx="6120130" cy="4567555"/>
          </a:xfrm>
          <a:prstGeom prst="rect">
            <a:avLst/>
          </a:prstGeom>
          <a:ln>
            <a:noFill/>
          </a:ln>
          <a:effectLst>
            <a:outerShdw blurRad="292100" dist="139700" dir="2700000" algn="tl" rotWithShape="0">
              <a:srgbClr val="333333">
                <a:alpha val="65000"/>
              </a:srgbClr>
            </a:outerShdw>
          </a:effectLst>
        </p:spPr>
      </p:pic>
      <p:sp>
        <p:nvSpPr>
          <p:cNvPr id="98" name="TextBox 97">
            <a:extLst>
              <a:ext uri="{FF2B5EF4-FFF2-40B4-BE49-F238E27FC236}">
                <a16:creationId xmlns:a16="http://schemas.microsoft.com/office/drawing/2014/main" id="{783A3B8A-AAE3-1FD4-B6DC-D653751979C7}"/>
              </a:ext>
            </a:extLst>
          </p:cNvPr>
          <p:cNvSpPr txBox="1"/>
          <p:nvPr/>
        </p:nvSpPr>
        <p:spPr>
          <a:xfrm>
            <a:off x="6485998" y="1792747"/>
            <a:ext cx="5569787" cy="381008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342900" indent="-342900">
              <a:lnSpc>
                <a:spcPct val="150000"/>
              </a:lnSpc>
              <a:buFont typeface="Arial"/>
              <a:buChar char="•"/>
            </a:pPr>
            <a:r>
              <a:rPr lang="en-US" dirty="0">
                <a:latin typeface="Public Sans"/>
              </a:rPr>
              <a:t>How could you help Maya understand what is </a:t>
            </a:r>
            <a:r>
              <a:rPr lang="en-US" b="1" dirty="0">
                <a:latin typeface="Public Sans"/>
              </a:rPr>
              <a:t>missing</a:t>
            </a:r>
            <a:r>
              <a:rPr lang="en-US" dirty="0">
                <a:latin typeface="Public Sans"/>
              </a:rPr>
              <a:t> from the </a:t>
            </a:r>
            <a:r>
              <a:rPr lang="en-US" b="1" dirty="0">
                <a:latin typeface="Public Sans"/>
              </a:rPr>
              <a:t>broken fraction wall</a:t>
            </a:r>
            <a:r>
              <a:rPr lang="en-US" dirty="0">
                <a:latin typeface="Public Sans"/>
              </a:rPr>
              <a:t>. </a:t>
            </a:r>
            <a:endParaRPr lang="en-US" dirty="0">
              <a:latin typeface="Public Sans Light"/>
            </a:endParaRPr>
          </a:p>
          <a:p>
            <a:pPr marL="342900" indent="-342900">
              <a:lnSpc>
                <a:spcPct val="150000"/>
              </a:lnSpc>
              <a:buFont typeface="Arial"/>
              <a:buChar char="•"/>
            </a:pPr>
            <a:endParaRPr lang="en-US" dirty="0">
              <a:latin typeface="Public Sans"/>
            </a:endParaRPr>
          </a:p>
          <a:p>
            <a:pPr marL="342900" indent="-342900">
              <a:lnSpc>
                <a:spcPct val="150000"/>
              </a:lnSpc>
              <a:buFont typeface="Arial"/>
              <a:buChar char="•"/>
            </a:pPr>
            <a:r>
              <a:rPr lang="en-US" dirty="0">
                <a:latin typeface="Public Sans"/>
              </a:rPr>
              <a:t>How does the </a:t>
            </a:r>
            <a:r>
              <a:rPr lang="en-US" b="1" dirty="0">
                <a:latin typeface="Public Sans"/>
              </a:rPr>
              <a:t>fraction symbol </a:t>
            </a:r>
            <a:r>
              <a:rPr lang="en-US" dirty="0">
                <a:latin typeface="Public Sans"/>
              </a:rPr>
              <a:t>help you determine </a:t>
            </a:r>
            <a:r>
              <a:rPr lang="en-US" b="1" dirty="0">
                <a:latin typeface="Public Sans"/>
              </a:rPr>
              <a:t>how many parts </a:t>
            </a:r>
            <a:r>
              <a:rPr lang="en-US" dirty="0">
                <a:latin typeface="Public Sans"/>
              </a:rPr>
              <a:t>are needed to make the </a:t>
            </a:r>
            <a:r>
              <a:rPr lang="en-US" b="1" dirty="0">
                <a:latin typeface="Public Sans"/>
              </a:rPr>
              <a:t>whole</a:t>
            </a:r>
            <a:r>
              <a:rPr lang="en-US" dirty="0">
                <a:latin typeface="Public Sans"/>
              </a:rPr>
              <a:t>?</a:t>
            </a:r>
            <a:endParaRPr lang="en-US" dirty="0"/>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31263B-00F9-3026-CDD4-F14B3320EE4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dirty="0"/>
              <a:t>Multiple choice </a:t>
            </a:r>
            <a:r>
              <a:rPr lang="en-US" dirty="0">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112D24DC-0614-F76C-9A4C-36E299EAFF53}"/>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Box 5">
            <a:extLst>
              <a:ext uri="{FF2B5EF4-FFF2-40B4-BE49-F238E27FC236}">
                <a16:creationId xmlns:a16="http://schemas.microsoft.com/office/drawing/2014/main" id="{DB5EAB86-CF14-C17A-78FC-66CEA922CBFB}"/>
              </a:ext>
            </a:extLst>
          </p:cNvPr>
          <p:cNvSpPr txBox="1"/>
          <p:nvPr/>
        </p:nvSpPr>
        <p:spPr>
          <a:xfrm>
            <a:off x="1797774" y="1216845"/>
            <a:ext cx="10175920" cy="666650"/>
          </a:xfrm>
          <a:prstGeom prst="rect">
            <a:avLst/>
          </a:prstGeom>
          <a:noFill/>
        </p:spPr>
        <p:txBody>
          <a:bodyPr wrap="square" lIns="0" tIns="0" rIns="0" bIns="0" rtlCol="0">
            <a:noAutofit/>
          </a:bodyPr>
          <a:lstStyle/>
          <a:p>
            <a:pPr algn="l"/>
            <a:r>
              <a:rPr lang="en-AU" sz="3600" dirty="0"/>
              <a:t>The colours in the fraction strip </a:t>
            </a:r>
            <a:r>
              <a:rPr lang="en-AU" sz="3600" b="1" dirty="0"/>
              <a:t>represent</a:t>
            </a:r>
            <a:r>
              <a:rPr lang="en-AU" sz="3600" dirty="0"/>
              <a:t>…</a:t>
            </a:r>
          </a:p>
        </p:txBody>
      </p:sp>
      <p:graphicFrame>
        <p:nvGraphicFramePr>
          <p:cNvPr id="5" name="Table 4">
            <a:extLst>
              <a:ext uri="{FF2B5EF4-FFF2-40B4-BE49-F238E27FC236}">
                <a16:creationId xmlns:a16="http://schemas.microsoft.com/office/drawing/2014/main" id="{28DE4653-0789-C1EA-5DBC-B0B91D6AABD4}"/>
              </a:ext>
            </a:extLst>
          </p:cNvPr>
          <p:cNvGraphicFramePr>
            <a:graphicFrameLocks noGrp="1"/>
          </p:cNvGraphicFramePr>
          <p:nvPr>
            <p:extLst>
              <p:ext uri="{D42A27DB-BD31-4B8C-83A1-F6EECF244321}">
                <p14:modId xmlns:p14="http://schemas.microsoft.com/office/powerpoint/2010/main" val="3065191641"/>
              </p:ext>
            </p:extLst>
          </p:nvPr>
        </p:nvGraphicFramePr>
        <p:xfrm>
          <a:off x="2691567" y="1994584"/>
          <a:ext cx="7224888" cy="593415"/>
        </p:xfrm>
        <a:graphic>
          <a:graphicData uri="http://schemas.openxmlformats.org/drawingml/2006/table">
            <a:tbl>
              <a:tblPr firstRow="1" bandRow="1">
                <a:tableStyleId>{5A111915-BE36-4E01-A7E5-04B1672EAD32}</a:tableStyleId>
              </a:tblPr>
              <a:tblGrid>
                <a:gridCol w="903111">
                  <a:extLst>
                    <a:ext uri="{9D8B030D-6E8A-4147-A177-3AD203B41FA5}">
                      <a16:colId xmlns:a16="http://schemas.microsoft.com/office/drawing/2014/main" val="3179464480"/>
                    </a:ext>
                  </a:extLst>
                </a:gridCol>
                <a:gridCol w="903111">
                  <a:extLst>
                    <a:ext uri="{9D8B030D-6E8A-4147-A177-3AD203B41FA5}">
                      <a16:colId xmlns:a16="http://schemas.microsoft.com/office/drawing/2014/main" val="2329169718"/>
                    </a:ext>
                  </a:extLst>
                </a:gridCol>
                <a:gridCol w="903111">
                  <a:extLst>
                    <a:ext uri="{9D8B030D-6E8A-4147-A177-3AD203B41FA5}">
                      <a16:colId xmlns:a16="http://schemas.microsoft.com/office/drawing/2014/main" val="3746970565"/>
                    </a:ext>
                  </a:extLst>
                </a:gridCol>
                <a:gridCol w="903111">
                  <a:extLst>
                    <a:ext uri="{9D8B030D-6E8A-4147-A177-3AD203B41FA5}">
                      <a16:colId xmlns:a16="http://schemas.microsoft.com/office/drawing/2014/main" val="918302929"/>
                    </a:ext>
                  </a:extLst>
                </a:gridCol>
                <a:gridCol w="903111">
                  <a:extLst>
                    <a:ext uri="{9D8B030D-6E8A-4147-A177-3AD203B41FA5}">
                      <a16:colId xmlns:a16="http://schemas.microsoft.com/office/drawing/2014/main" val="283856423"/>
                    </a:ext>
                  </a:extLst>
                </a:gridCol>
                <a:gridCol w="903111">
                  <a:extLst>
                    <a:ext uri="{9D8B030D-6E8A-4147-A177-3AD203B41FA5}">
                      <a16:colId xmlns:a16="http://schemas.microsoft.com/office/drawing/2014/main" val="531118084"/>
                    </a:ext>
                  </a:extLst>
                </a:gridCol>
                <a:gridCol w="903111">
                  <a:extLst>
                    <a:ext uri="{9D8B030D-6E8A-4147-A177-3AD203B41FA5}">
                      <a16:colId xmlns:a16="http://schemas.microsoft.com/office/drawing/2014/main" val="421677771"/>
                    </a:ext>
                  </a:extLst>
                </a:gridCol>
                <a:gridCol w="903111">
                  <a:extLst>
                    <a:ext uri="{9D8B030D-6E8A-4147-A177-3AD203B41FA5}">
                      <a16:colId xmlns:a16="http://schemas.microsoft.com/office/drawing/2014/main" val="1952882789"/>
                    </a:ext>
                  </a:extLst>
                </a:gridCol>
              </a:tblGrid>
              <a:tr h="593415">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463909336"/>
                  </a:ext>
                </a:extLst>
              </a:tr>
            </a:tbl>
          </a:graphicData>
        </a:graphic>
      </p:graphicFrame>
      <p:sp>
        <p:nvSpPr>
          <p:cNvPr id="9" name="TextBox 8">
            <a:extLst>
              <a:ext uri="{FF2B5EF4-FFF2-40B4-BE49-F238E27FC236}">
                <a16:creationId xmlns:a16="http://schemas.microsoft.com/office/drawing/2014/main" id="{F91A42F4-D8C9-20A3-82EB-86FAD4D776A8}"/>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mc:AlternateContent xmlns:mc="http://schemas.openxmlformats.org/markup-compatibility/2006" xmlns:a14="http://schemas.microsoft.com/office/drawing/2010/main">
        <mc:Choice Requires="a14">
          <p:sp>
            <p:nvSpPr>
              <p:cNvPr id="18" name="Text Placeholder 17">
                <a:extLst>
                  <a:ext uri="{FF2B5EF4-FFF2-40B4-BE49-F238E27FC236}">
                    <a16:creationId xmlns:a16="http://schemas.microsoft.com/office/drawing/2014/main" id="{D2386B91-F85A-17DD-80EB-F20033E4EC06}"/>
                  </a:ext>
                </a:extLst>
              </p:cNvPr>
              <p:cNvSpPr>
                <a:spLocks noGrp="1"/>
              </p:cNvSpPr>
              <p:nvPr>
                <p:ph type="body" sz="quarter" idx="31"/>
              </p:nvPr>
            </p:nvSpPr>
            <p:spPr>
              <a:xfrm>
                <a:off x="1345520" y="2877704"/>
                <a:ext cx="10175920" cy="641396"/>
              </a:xfrm>
            </p:spPr>
            <p:txBody>
              <a:bodyPr anchor="ctr"/>
              <a:lstStyle/>
              <a:p>
                <a14:m>
                  <m:oMath xmlns:m="http://schemas.openxmlformats.org/officeDocument/2006/math">
                    <m:f>
                      <m:fPr>
                        <m:ctrlPr>
                          <a:rPr lang="en-AU" sz="3600" i="1">
                            <a:latin typeface="Cambria Math" panose="02040503050406030204" pitchFamily="18" charset="0"/>
                          </a:rPr>
                        </m:ctrlPr>
                      </m:fPr>
                      <m:num>
                        <m:r>
                          <a:rPr lang="en-AU" sz="3600">
                            <a:latin typeface="Cambria Math" panose="02040503050406030204" pitchFamily="18" charset="0"/>
                          </a:rPr>
                          <m:t>2</m:t>
                        </m:r>
                      </m:num>
                      <m:den>
                        <m:r>
                          <a:rPr lang="en-AU" sz="3600">
                            <a:latin typeface="Cambria Math" panose="02040503050406030204" pitchFamily="18" charset="0"/>
                          </a:rPr>
                          <m:t>4</m:t>
                        </m:r>
                      </m:den>
                    </m:f>
                    <m:r>
                      <a:rPr lang="en-AU" sz="3600">
                        <a:latin typeface="Cambria Math" panose="02040503050406030204" pitchFamily="18" charset="0"/>
                      </a:rPr>
                      <m:t> </m:t>
                    </m:r>
                    <m:r>
                      <m:rPr>
                        <m:sty m:val="p"/>
                      </m:rPr>
                      <a:rPr lang="en-AU" sz="3600" smtClean="0">
                        <a:solidFill>
                          <a:srgbClr val="00B0F0"/>
                        </a:solidFill>
                        <a:latin typeface="Cambria Math" panose="02040503050406030204" pitchFamily="18" charset="0"/>
                      </a:rPr>
                      <m:t>blue</m:t>
                    </m:r>
                    <m:r>
                      <a:rPr lang="en-AU" sz="3600">
                        <a:latin typeface="Cambria Math" panose="02040503050406030204" pitchFamily="18" charset="0"/>
                      </a:rPr>
                      <m:t>,</m:t>
                    </m:r>
                    <m:f>
                      <m:fPr>
                        <m:ctrlPr>
                          <a:rPr lang="en-AU" sz="3600" i="1">
                            <a:latin typeface="Cambria Math" panose="02040503050406030204" pitchFamily="18" charset="0"/>
                          </a:rPr>
                        </m:ctrlPr>
                      </m:fPr>
                      <m:num>
                        <m:r>
                          <a:rPr lang="en-AU" sz="3600">
                            <a:latin typeface="Cambria Math" panose="02040503050406030204" pitchFamily="18" charset="0"/>
                          </a:rPr>
                          <m:t>3</m:t>
                        </m:r>
                      </m:num>
                      <m:den>
                        <m:r>
                          <a:rPr lang="en-AU" sz="3600">
                            <a:latin typeface="Cambria Math" panose="02040503050406030204" pitchFamily="18" charset="0"/>
                          </a:rPr>
                          <m:t>8</m:t>
                        </m:r>
                      </m:den>
                    </m:f>
                  </m:oMath>
                </a14:m>
                <a:r>
                  <a:rPr lang="en-US" sz="3600" dirty="0">
                    <a:latin typeface="Cambria" panose="02040503050406030204" pitchFamily="18" charset="0"/>
                    <a:ea typeface="Cambria" panose="02040503050406030204" pitchFamily="18" charset="0"/>
                  </a:rPr>
                  <a:t> </a:t>
                </a:r>
                <a:r>
                  <a:rPr lang="en-US" sz="3600" dirty="0">
                    <a:solidFill>
                      <a:schemeClr val="tx2">
                        <a:lumMod val="60000"/>
                        <a:lumOff val="40000"/>
                      </a:schemeClr>
                    </a:solidFill>
                    <a:latin typeface="Cambria" panose="02040503050406030204" pitchFamily="18" charset="0"/>
                    <a:ea typeface="Cambria" panose="02040503050406030204" pitchFamily="18" charset="0"/>
                  </a:rPr>
                  <a:t>pink</a:t>
                </a:r>
                <a:r>
                  <a:rPr lang="en-US" sz="3600" dirty="0">
                    <a:latin typeface="Cambria" panose="02040503050406030204" pitchFamily="18" charset="0"/>
                    <a:ea typeface="Cambria" panose="02040503050406030204" pitchFamily="18" charset="0"/>
                  </a:rPr>
                  <a:t> and </a:t>
                </a:r>
                <a14:m>
                  <m:oMath xmlns:m="http://schemas.openxmlformats.org/officeDocument/2006/math">
                    <m:f>
                      <m:fPr>
                        <m:ctrlPr>
                          <a:rPr lang="en-AU" sz="3600" i="1">
                            <a:latin typeface="Cambria Math" panose="02040503050406030204" pitchFamily="18" charset="0"/>
                          </a:rPr>
                        </m:ctrlPr>
                      </m:fPr>
                      <m:num>
                        <m:r>
                          <a:rPr lang="en-AU" sz="3600" b="0" i="0">
                            <a:latin typeface="Cambria Math" panose="02040503050406030204" pitchFamily="18" charset="0"/>
                          </a:rPr>
                          <m:t>1</m:t>
                        </m:r>
                      </m:num>
                      <m:den>
                        <m:r>
                          <a:rPr lang="en-AU" sz="3600" b="0" i="0" smtClean="0">
                            <a:latin typeface="Cambria Math" panose="02040503050406030204" pitchFamily="18" charset="0"/>
                          </a:rPr>
                          <m:t>2</m:t>
                        </m:r>
                      </m:den>
                    </m:f>
                  </m:oMath>
                </a14:m>
                <a:r>
                  <a:rPr lang="en-US" sz="3600" dirty="0">
                    <a:latin typeface="Cambria" panose="02040503050406030204" pitchFamily="18" charset="0"/>
                    <a:ea typeface="Cambria" panose="02040503050406030204" pitchFamily="18" charset="0"/>
                  </a:rPr>
                  <a:t> </a:t>
                </a:r>
                <a:r>
                  <a:rPr lang="en-US" sz="3600" dirty="0">
                    <a:solidFill>
                      <a:schemeClr val="bg1">
                        <a:lumMod val="50000"/>
                      </a:schemeClr>
                    </a:solidFill>
                    <a:latin typeface="Cambria" panose="02040503050406030204" pitchFamily="18" charset="0"/>
                    <a:ea typeface="Cambria" panose="02040503050406030204" pitchFamily="18" charset="0"/>
                  </a:rPr>
                  <a:t>grey</a:t>
                </a:r>
              </a:p>
            </p:txBody>
          </p:sp>
        </mc:Choice>
        <mc:Fallback xmlns="">
          <p:sp>
            <p:nvSpPr>
              <p:cNvPr id="18" name="Text Placeholder 17">
                <a:extLst>
                  <a:ext uri="{FF2B5EF4-FFF2-40B4-BE49-F238E27FC236}">
                    <a16:creationId xmlns:a16="http://schemas.microsoft.com/office/drawing/2014/main" id="{D2386B91-F85A-17DD-80EB-F20033E4EC06}"/>
                  </a:ext>
                </a:extLst>
              </p:cNvPr>
              <p:cNvSpPr>
                <a:spLocks noGrp="1" noRot="1" noChangeAspect="1" noMove="1" noResize="1" noEditPoints="1" noAdjustHandles="1" noChangeArrowheads="1" noChangeShapeType="1" noTextEdit="1"/>
              </p:cNvSpPr>
              <p:nvPr>
                <p:ph type="body" sz="quarter" idx="31"/>
              </p:nvPr>
            </p:nvSpPr>
            <p:spPr>
              <a:xfrm>
                <a:off x="1345520" y="2877704"/>
                <a:ext cx="10175920" cy="641396"/>
              </a:xfrm>
              <a:blipFill>
                <a:blip r:embed="rId4"/>
                <a:stretch>
                  <a:fillRect l="-60" b="-57143"/>
                </a:stretch>
              </a:blipFill>
            </p:spPr>
            <p:txBody>
              <a:bodyPr/>
              <a:lstStyle/>
              <a:p>
                <a:r>
                  <a:rPr lang="en-AU">
                    <a:noFill/>
                  </a:rPr>
                  <a:t> </a:t>
                </a:r>
              </a:p>
            </p:txBody>
          </p:sp>
        </mc:Fallback>
      </mc:AlternateContent>
      <p:sp>
        <p:nvSpPr>
          <p:cNvPr id="10" name="TextBox 9">
            <a:extLst>
              <a:ext uri="{FF2B5EF4-FFF2-40B4-BE49-F238E27FC236}">
                <a16:creationId xmlns:a16="http://schemas.microsoft.com/office/drawing/2014/main" id="{CA9D5B15-A13C-EE8B-176F-3B4E3454A1A2}"/>
              </a:ext>
            </a:extLst>
          </p:cNvPr>
          <p:cNvSpPr txBox="1"/>
          <p:nvPr/>
        </p:nvSpPr>
        <p:spPr>
          <a:xfrm>
            <a:off x="670555" y="397303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mc:AlternateContent xmlns:mc="http://schemas.openxmlformats.org/markup-compatibility/2006" xmlns:a14="http://schemas.microsoft.com/office/drawing/2010/main">
        <mc:Choice Requires="a14">
          <p:sp>
            <p:nvSpPr>
              <p:cNvPr id="17" name="Text Placeholder 16">
                <a:extLst>
                  <a:ext uri="{FF2B5EF4-FFF2-40B4-BE49-F238E27FC236}">
                    <a16:creationId xmlns:a16="http://schemas.microsoft.com/office/drawing/2014/main" id="{2D36800D-CC3E-E3B5-7DCD-70D138BF62F0}"/>
                  </a:ext>
                </a:extLst>
              </p:cNvPr>
              <p:cNvSpPr>
                <a:spLocks noGrp="1"/>
              </p:cNvSpPr>
              <p:nvPr>
                <p:ph type="body" sz="quarter" idx="30"/>
              </p:nvPr>
            </p:nvSpPr>
            <p:spPr>
              <a:xfrm>
                <a:off x="1345520" y="3905576"/>
                <a:ext cx="10175920" cy="641396"/>
              </a:xfrm>
            </p:spPr>
            <p:txBody>
              <a:bodyPr anchor="ctr"/>
              <a:lstStyle/>
              <a:p>
                <a14:m>
                  <m:oMath xmlns:m="http://schemas.openxmlformats.org/officeDocument/2006/math">
                    <m:f>
                      <m:fPr>
                        <m:ctrlPr>
                          <a:rPr lang="en-AU" sz="3600" i="1" smtClean="0">
                            <a:latin typeface="Cambria Math" panose="02040503050406030204" pitchFamily="18" charset="0"/>
                          </a:rPr>
                        </m:ctrlPr>
                      </m:fPr>
                      <m:num>
                        <m:r>
                          <a:rPr lang="en-AU" sz="3600">
                            <a:latin typeface="Cambria Math" panose="02040503050406030204" pitchFamily="18" charset="0"/>
                          </a:rPr>
                          <m:t>1</m:t>
                        </m:r>
                      </m:num>
                      <m:den>
                        <m:r>
                          <a:rPr lang="en-AU" sz="3600">
                            <a:latin typeface="Cambria Math" panose="02040503050406030204" pitchFamily="18" charset="0"/>
                          </a:rPr>
                          <m:t>4</m:t>
                        </m:r>
                      </m:den>
                    </m:f>
                    <m:r>
                      <a:rPr lang="en-AU" sz="3600">
                        <a:latin typeface="Cambria Math" panose="02040503050406030204" pitchFamily="18" charset="0"/>
                      </a:rPr>
                      <m:t> </m:t>
                    </m:r>
                    <m:r>
                      <m:rPr>
                        <m:sty m:val="p"/>
                      </m:rPr>
                      <a:rPr lang="en-AU" sz="3600" smtClean="0">
                        <a:solidFill>
                          <a:srgbClr val="00B0F0"/>
                        </a:solidFill>
                        <a:latin typeface="Cambria Math" panose="02040503050406030204" pitchFamily="18" charset="0"/>
                      </a:rPr>
                      <m:t>blue</m:t>
                    </m:r>
                    <m:r>
                      <a:rPr lang="en-AU" sz="3600">
                        <a:latin typeface="Cambria Math" panose="02040503050406030204" pitchFamily="18" charset="0"/>
                      </a:rPr>
                      <m:t>,</m:t>
                    </m:r>
                    <m:f>
                      <m:fPr>
                        <m:ctrlPr>
                          <a:rPr lang="en-AU" sz="3600" i="1">
                            <a:latin typeface="Cambria Math" panose="02040503050406030204" pitchFamily="18" charset="0"/>
                          </a:rPr>
                        </m:ctrlPr>
                      </m:fPr>
                      <m:num>
                        <m:r>
                          <a:rPr lang="en-AU" sz="3600">
                            <a:latin typeface="Cambria Math" panose="02040503050406030204" pitchFamily="18" charset="0"/>
                          </a:rPr>
                          <m:t>1</m:t>
                        </m:r>
                      </m:num>
                      <m:den>
                        <m:r>
                          <a:rPr lang="en-AU" sz="3600" b="0" i="0" smtClean="0">
                            <a:latin typeface="Cambria Math" panose="02040503050406030204" pitchFamily="18" charset="0"/>
                          </a:rPr>
                          <m:t>3</m:t>
                        </m:r>
                      </m:den>
                    </m:f>
                  </m:oMath>
                </a14:m>
                <a:r>
                  <a:rPr lang="en-US" sz="3600" dirty="0">
                    <a:latin typeface="Cambria" panose="02040503050406030204" pitchFamily="18" charset="0"/>
                    <a:ea typeface="Cambria" panose="02040503050406030204" pitchFamily="18" charset="0"/>
                  </a:rPr>
                  <a:t> </a:t>
                </a:r>
                <a:r>
                  <a:rPr lang="en-US" sz="3600" dirty="0">
                    <a:solidFill>
                      <a:schemeClr val="tx2">
                        <a:lumMod val="60000"/>
                        <a:lumOff val="40000"/>
                      </a:schemeClr>
                    </a:solidFill>
                    <a:latin typeface="Cambria" panose="02040503050406030204" pitchFamily="18" charset="0"/>
                    <a:ea typeface="Cambria" panose="02040503050406030204" pitchFamily="18" charset="0"/>
                  </a:rPr>
                  <a:t>pink</a:t>
                </a:r>
                <a:r>
                  <a:rPr lang="en-US" sz="3600" dirty="0">
                    <a:latin typeface="Cambria" panose="02040503050406030204" pitchFamily="18" charset="0"/>
                    <a:ea typeface="Cambria" panose="02040503050406030204" pitchFamily="18" charset="0"/>
                  </a:rPr>
                  <a:t> and </a:t>
                </a:r>
                <a14:m>
                  <m:oMath xmlns:m="http://schemas.openxmlformats.org/officeDocument/2006/math">
                    <m:f>
                      <m:fPr>
                        <m:ctrlPr>
                          <a:rPr lang="en-AU" sz="3600" i="1">
                            <a:latin typeface="Cambria Math" panose="02040503050406030204" pitchFamily="18" charset="0"/>
                          </a:rPr>
                        </m:ctrlPr>
                      </m:fPr>
                      <m:num>
                        <m:r>
                          <a:rPr lang="en-AU" sz="3600" b="0" i="0" smtClean="0">
                            <a:latin typeface="Cambria Math" panose="02040503050406030204" pitchFamily="18" charset="0"/>
                          </a:rPr>
                          <m:t>1</m:t>
                        </m:r>
                      </m:num>
                      <m:den>
                        <m:r>
                          <a:rPr lang="en-AU" sz="3600" b="0" i="1" smtClean="0">
                            <a:latin typeface="Cambria Math" panose="02040503050406030204" pitchFamily="18" charset="0"/>
                          </a:rPr>
                          <m:t>3</m:t>
                        </m:r>
                      </m:den>
                    </m:f>
                  </m:oMath>
                </a14:m>
                <a:r>
                  <a:rPr lang="en-US" sz="3600" dirty="0">
                    <a:latin typeface="Cambria" panose="02040503050406030204" pitchFamily="18" charset="0"/>
                    <a:ea typeface="Cambria" panose="02040503050406030204" pitchFamily="18" charset="0"/>
                  </a:rPr>
                  <a:t> </a:t>
                </a:r>
                <a:r>
                  <a:rPr lang="en-US" sz="3600" dirty="0">
                    <a:solidFill>
                      <a:schemeClr val="bg1">
                        <a:lumMod val="50000"/>
                      </a:schemeClr>
                    </a:solidFill>
                    <a:latin typeface="Cambria" panose="02040503050406030204" pitchFamily="18" charset="0"/>
                    <a:ea typeface="Cambria" panose="02040503050406030204" pitchFamily="18" charset="0"/>
                  </a:rPr>
                  <a:t>grey</a:t>
                </a:r>
              </a:p>
            </p:txBody>
          </p:sp>
        </mc:Choice>
        <mc:Fallback xmlns="">
          <p:sp>
            <p:nvSpPr>
              <p:cNvPr id="17" name="Text Placeholder 16">
                <a:extLst>
                  <a:ext uri="{FF2B5EF4-FFF2-40B4-BE49-F238E27FC236}">
                    <a16:creationId xmlns:a16="http://schemas.microsoft.com/office/drawing/2014/main" id="{2D36800D-CC3E-E3B5-7DCD-70D138BF62F0}"/>
                  </a:ext>
                </a:extLst>
              </p:cNvPr>
              <p:cNvSpPr>
                <a:spLocks noGrp="1" noRot="1" noChangeAspect="1" noMove="1" noResize="1" noEditPoints="1" noAdjustHandles="1" noChangeArrowheads="1" noChangeShapeType="1" noTextEdit="1"/>
              </p:cNvSpPr>
              <p:nvPr>
                <p:ph type="body" sz="quarter" idx="30"/>
              </p:nvPr>
            </p:nvSpPr>
            <p:spPr>
              <a:xfrm>
                <a:off x="1345520" y="3905576"/>
                <a:ext cx="10175920" cy="641396"/>
              </a:xfrm>
              <a:blipFill>
                <a:blip r:embed="rId5"/>
                <a:stretch>
                  <a:fillRect l="-60" b="-56190"/>
                </a:stretch>
              </a:blipFill>
            </p:spPr>
            <p:txBody>
              <a:bodyPr/>
              <a:lstStyle/>
              <a:p>
                <a:r>
                  <a:rPr lang="en-AU">
                    <a:noFill/>
                  </a:rPr>
                  <a:t> </a:t>
                </a:r>
              </a:p>
            </p:txBody>
          </p:sp>
        </mc:Fallback>
      </mc:AlternateContent>
      <p:sp>
        <p:nvSpPr>
          <p:cNvPr id="12" name="TextBox 11">
            <a:extLst>
              <a:ext uri="{FF2B5EF4-FFF2-40B4-BE49-F238E27FC236}">
                <a16:creationId xmlns:a16="http://schemas.microsoft.com/office/drawing/2014/main" id="{B4746450-E4E2-359C-DFCA-0532E811BD1E}"/>
              </a:ext>
            </a:extLst>
          </p:cNvPr>
          <p:cNvSpPr txBox="1"/>
          <p:nvPr/>
        </p:nvSpPr>
        <p:spPr>
          <a:xfrm>
            <a:off x="670556" y="495633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mc:AlternateContent xmlns:mc="http://schemas.openxmlformats.org/markup-compatibility/2006" xmlns:a14="http://schemas.microsoft.com/office/drawing/2010/main">
        <mc:Choice Requires="a14">
          <p:sp>
            <p:nvSpPr>
              <p:cNvPr id="16" name="Text Placeholder 15">
                <a:extLst>
                  <a:ext uri="{FF2B5EF4-FFF2-40B4-BE49-F238E27FC236}">
                    <a16:creationId xmlns:a16="http://schemas.microsoft.com/office/drawing/2014/main" id="{8E51689C-1248-B7EC-3B77-B066AB5C6C0D}"/>
                  </a:ext>
                </a:extLst>
              </p:cNvPr>
              <p:cNvSpPr>
                <a:spLocks noGrp="1"/>
              </p:cNvSpPr>
              <p:nvPr>
                <p:ph type="body" sz="quarter" idx="29"/>
              </p:nvPr>
            </p:nvSpPr>
            <p:spPr>
              <a:xfrm>
                <a:off x="1345520" y="4896710"/>
                <a:ext cx="10175920" cy="641396"/>
              </a:xfrm>
            </p:spPr>
            <p:txBody>
              <a:bodyPr anchor="ctr"/>
              <a:lstStyle/>
              <a:p>
                <a14:m>
                  <m:oMath xmlns:m="http://schemas.openxmlformats.org/officeDocument/2006/math">
                    <m:f>
                      <m:fPr>
                        <m:ctrlPr>
                          <a:rPr lang="en-AU" sz="3600" i="1" smtClean="0">
                            <a:latin typeface="Cambria Math" panose="02040503050406030204" pitchFamily="18" charset="0"/>
                          </a:rPr>
                        </m:ctrlPr>
                      </m:fPr>
                      <m:num>
                        <m:r>
                          <a:rPr lang="en-AU" sz="3600" b="0" i="0" smtClean="0">
                            <a:latin typeface="Cambria Math" panose="02040503050406030204" pitchFamily="18" charset="0"/>
                          </a:rPr>
                          <m:t>2</m:t>
                        </m:r>
                      </m:num>
                      <m:den>
                        <m:r>
                          <a:rPr lang="en-AU" sz="3600" b="0" i="0" smtClean="0">
                            <a:latin typeface="Cambria Math" panose="02040503050406030204" pitchFamily="18" charset="0"/>
                          </a:rPr>
                          <m:t>8</m:t>
                        </m:r>
                      </m:den>
                    </m:f>
                    <m:r>
                      <a:rPr lang="en-AU" sz="3600">
                        <a:latin typeface="Cambria Math" panose="02040503050406030204" pitchFamily="18" charset="0"/>
                      </a:rPr>
                      <m:t> </m:t>
                    </m:r>
                    <m:r>
                      <m:rPr>
                        <m:sty m:val="p"/>
                      </m:rPr>
                      <a:rPr lang="en-AU" sz="3600" smtClean="0">
                        <a:solidFill>
                          <a:srgbClr val="00B0F0"/>
                        </a:solidFill>
                        <a:latin typeface="Cambria Math" panose="02040503050406030204" pitchFamily="18" charset="0"/>
                      </a:rPr>
                      <m:t>blue</m:t>
                    </m:r>
                    <m:r>
                      <a:rPr lang="en-AU" sz="3600">
                        <a:latin typeface="Cambria Math" panose="02040503050406030204" pitchFamily="18" charset="0"/>
                      </a:rPr>
                      <m:t>,</m:t>
                    </m:r>
                    <m:f>
                      <m:fPr>
                        <m:ctrlPr>
                          <a:rPr lang="en-AU" sz="3600" i="1">
                            <a:latin typeface="Cambria Math" panose="02040503050406030204" pitchFamily="18" charset="0"/>
                          </a:rPr>
                        </m:ctrlPr>
                      </m:fPr>
                      <m:num>
                        <m:r>
                          <a:rPr lang="en-AU" sz="3600" b="0" i="0" smtClean="0">
                            <a:latin typeface="Cambria Math" panose="02040503050406030204" pitchFamily="18" charset="0"/>
                          </a:rPr>
                          <m:t>3</m:t>
                        </m:r>
                      </m:num>
                      <m:den>
                        <m:r>
                          <a:rPr lang="en-AU" sz="3600" b="0" i="0" smtClean="0">
                            <a:latin typeface="Cambria Math" panose="02040503050406030204" pitchFamily="18" charset="0"/>
                          </a:rPr>
                          <m:t>8</m:t>
                        </m:r>
                      </m:den>
                    </m:f>
                  </m:oMath>
                </a14:m>
                <a:r>
                  <a:rPr lang="en-US" sz="3600" dirty="0">
                    <a:latin typeface="Cambria" panose="02040503050406030204" pitchFamily="18" charset="0"/>
                    <a:ea typeface="Cambria" panose="02040503050406030204" pitchFamily="18" charset="0"/>
                  </a:rPr>
                  <a:t> </a:t>
                </a:r>
                <a:r>
                  <a:rPr lang="en-US" sz="3600" dirty="0">
                    <a:solidFill>
                      <a:schemeClr val="tx2">
                        <a:lumMod val="60000"/>
                        <a:lumOff val="40000"/>
                      </a:schemeClr>
                    </a:solidFill>
                    <a:latin typeface="Cambria" panose="02040503050406030204" pitchFamily="18" charset="0"/>
                    <a:ea typeface="Cambria" panose="02040503050406030204" pitchFamily="18" charset="0"/>
                  </a:rPr>
                  <a:t>pink </a:t>
                </a:r>
                <a:r>
                  <a:rPr lang="en-US" sz="3600" dirty="0">
                    <a:latin typeface="Cambria" panose="02040503050406030204" pitchFamily="18" charset="0"/>
                    <a:ea typeface="Cambria" panose="02040503050406030204" pitchFamily="18" charset="0"/>
                  </a:rPr>
                  <a:t>and </a:t>
                </a:r>
                <a14:m>
                  <m:oMath xmlns:m="http://schemas.openxmlformats.org/officeDocument/2006/math">
                    <m:f>
                      <m:fPr>
                        <m:ctrlPr>
                          <a:rPr lang="en-AU" sz="3600" i="1">
                            <a:latin typeface="Cambria Math" panose="02040503050406030204" pitchFamily="18" charset="0"/>
                          </a:rPr>
                        </m:ctrlPr>
                      </m:fPr>
                      <m:num>
                        <m:r>
                          <a:rPr lang="en-AU" sz="3600">
                            <a:latin typeface="Cambria Math" panose="02040503050406030204" pitchFamily="18" charset="0"/>
                          </a:rPr>
                          <m:t>1</m:t>
                        </m:r>
                      </m:num>
                      <m:den>
                        <m:r>
                          <a:rPr lang="en-AU" sz="3600" b="0" i="0" smtClean="0">
                            <a:latin typeface="Cambria Math" panose="02040503050406030204" pitchFamily="18" charset="0"/>
                          </a:rPr>
                          <m:t>2</m:t>
                        </m:r>
                      </m:den>
                    </m:f>
                  </m:oMath>
                </a14:m>
                <a:r>
                  <a:rPr lang="en-US" sz="3600" dirty="0">
                    <a:latin typeface="Cambria" panose="02040503050406030204" pitchFamily="18" charset="0"/>
                    <a:ea typeface="Cambria" panose="02040503050406030204" pitchFamily="18" charset="0"/>
                  </a:rPr>
                  <a:t> </a:t>
                </a:r>
                <a:r>
                  <a:rPr lang="en-US" sz="3600" dirty="0">
                    <a:solidFill>
                      <a:schemeClr val="bg1">
                        <a:lumMod val="50000"/>
                      </a:schemeClr>
                    </a:solidFill>
                    <a:latin typeface="Cambria" panose="02040503050406030204" pitchFamily="18" charset="0"/>
                    <a:ea typeface="Cambria" panose="02040503050406030204" pitchFamily="18" charset="0"/>
                  </a:rPr>
                  <a:t>grey</a:t>
                </a:r>
              </a:p>
            </p:txBody>
          </p:sp>
        </mc:Choice>
        <mc:Fallback xmlns="">
          <p:sp>
            <p:nvSpPr>
              <p:cNvPr id="16" name="Text Placeholder 15">
                <a:extLst>
                  <a:ext uri="{FF2B5EF4-FFF2-40B4-BE49-F238E27FC236}">
                    <a16:creationId xmlns:a16="http://schemas.microsoft.com/office/drawing/2014/main" id="{8E51689C-1248-B7EC-3B77-B066AB5C6C0D}"/>
                  </a:ext>
                </a:extLst>
              </p:cNvPr>
              <p:cNvSpPr>
                <a:spLocks noGrp="1" noRot="1" noChangeAspect="1" noMove="1" noResize="1" noEditPoints="1" noAdjustHandles="1" noChangeArrowheads="1" noChangeShapeType="1" noTextEdit="1"/>
              </p:cNvSpPr>
              <p:nvPr>
                <p:ph type="body" sz="quarter" idx="29"/>
              </p:nvPr>
            </p:nvSpPr>
            <p:spPr>
              <a:xfrm>
                <a:off x="1345520" y="4896710"/>
                <a:ext cx="10175920" cy="641396"/>
              </a:xfrm>
              <a:blipFill>
                <a:blip r:embed="rId6"/>
                <a:stretch>
                  <a:fillRect l="-60" b="-57143"/>
                </a:stretch>
              </a:blipFill>
            </p:spPr>
            <p:txBody>
              <a:bodyPr/>
              <a:lstStyle/>
              <a:p>
                <a:r>
                  <a:rPr lang="en-AU">
                    <a:noFill/>
                  </a:rPr>
                  <a:t> </a:t>
                </a:r>
              </a:p>
            </p:txBody>
          </p:sp>
        </mc:Fallback>
      </mc:AlternateContent>
      <p:sp>
        <p:nvSpPr>
          <p:cNvPr id="11" name="TextBox 10">
            <a:extLst>
              <a:ext uri="{FF2B5EF4-FFF2-40B4-BE49-F238E27FC236}">
                <a16:creationId xmlns:a16="http://schemas.microsoft.com/office/drawing/2014/main" id="{9B8955CE-78C1-2F30-7505-4CA44A86BDFF}"/>
              </a:ext>
            </a:extLst>
          </p:cNvPr>
          <p:cNvSpPr txBox="1"/>
          <p:nvPr/>
        </p:nvSpPr>
        <p:spPr>
          <a:xfrm>
            <a:off x="670557" y="58556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mc:AlternateContent xmlns:mc="http://schemas.openxmlformats.org/markup-compatibility/2006" xmlns:a14="http://schemas.microsoft.com/office/drawing/2010/main">
        <mc:Choice Requires="a14">
          <p:sp>
            <p:nvSpPr>
              <p:cNvPr id="14" name="Text Placeholder 13">
                <a:extLst>
                  <a:ext uri="{FF2B5EF4-FFF2-40B4-BE49-F238E27FC236}">
                    <a16:creationId xmlns:a16="http://schemas.microsoft.com/office/drawing/2014/main" id="{D3F4C1E5-AFB7-4898-29F3-EB98C6384093}"/>
                  </a:ext>
                </a:extLst>
              </p:cNvPr>
              <p:cNvSpPr>
                <a:spLocks noGrp="1"/>
              </p:cNvSpPr>
              <p:nvPr>
                <p:ph type="body" sz="quarter" idx="27"/>
              </p:nvPr>
            </p:nvSpPr>
            <p:spPr>
              <a:xfrm>
                <a:off x="1308080" y="5816524"/>
                <a:ext cx="10175920" cy="641396"/>
              </a:xfrm>
            </p:spPr>
            <p:txBody>
              <a:bodyPr anchor="ctr"/>
              <a:lstStyle/>
              <a:p>
                <a14:m>
                  <m:oMath xmlns:m="http://schemas.openxmlformats.org/officeDocument/2006/math">
                    <m:f>
                      <m:fPr>
                        <m:ctrlPr>
                          <a:rPr lang="en-AU" sz="3600" i="1" smtClean="0">
                            <a:latin typeface="Cambria Math" panose="02040503050406030204" pitchFamily="18" charset="0"/>
                          </a:rPr>
                        </m:ctrlPr>
                      </m:fPr>
                      <m:num>
                        <m:r>
                          <a:rPr lang="en-AU" sz="3600">
                            <a:latin typeface="Cambria Math" panose="02040503050406030204" pitchFamily="18" charset="0"/>
                          </a:rPr>
                          <m:t>1</m:t>
                        </m:r>
                      </m:num>
                      <m:den>
                        <m:r>
                          <a:rPr lang="en-AU" sz="3600">
                            <a:latin typeface="Cambria Math" panose="02040503050406030204" pitchFamily="18" charset="0"/>
                          </a:rPr>
                          <m:t>4</m:t>
                        </m:r>
                      </m:den>
                    </m:f>
                    <m:r>
                      <a:rPr lang="en-AU" sz="3600">
                        <a:latin typeface="Cambria Math" panose="02040503050406030204" pitchFamily="18" charset="0"/>
                      </a:rPr>
                      <m:t> </m:t>
                    </m:r>
                    <m:r>
                      <m:rPr>
                        <m:sty m:val="p"/>
                      </m:rPr>
                      <a:rPr lang="en-AU" sz="3600" smtClean="0">
                        <a:solidFill>
                          <a:srgbClr val="00B0F0"/>
                        </a:solidFill>
                        <a:latin typeface="Cambria Math" panose="02040503050406030204" pitchFamily="18" charset="0"/>
                      </a:rPr>
                      <m:t>blue</m:t>
                    </m:r>
                    <m:r>
                      <a:rPr lang="en-AU" sz="3600">
                        <a:latin typeface="Cambria Math" panose="02040503050406030204" pitchFamily="18" charset="0"/>
                      </a:rPr>
                      <m:t>,</m:t>
                    </m:r>
                    <m:f>
                      <m:fPr>
                        <m:ctrlPr>
                          <a:rPr lang="en-AU" sz="3600" i="1">
                            <a:latin typeface="Cambria Math" panose="02040503050406030204" pitchFamily="18" charset="0"/>
                          </a:rPr>
                        </m:ctrlPr>
                      </m:fPr>
                      <m:num>
                        <m:r>
                          <a:rPr lang="en-AU" sz="3600" b="0" i="0" smtClean="0">
                            <a:latin typeface="Cambria Math" panose="02040503050406030204" pitchFamily="18" charset="0"/>
                          </a:rPr>
                          <m:t>3</m:t>
                        </m:r>
                      </m:num>
                      <m:den>
                        <m:r>
                          <a:rPr lang="en-AU" sz="3600" b="0" i="0" smtClean="0">
                            <a:latin typeface="Cambria Math" panose="02040503050406030204" pitchFamily="18" charset="0"/>
                          </a:rPr>
                          <m:t>8</m:t>
                        </m:r>
                      </m:den>
                    </m:f>
                  </m:oMath>
                </a14:m>
                <a:r>
                  <a:rPr lang="en-US" sz="3600" dirty="0">
                    <a:latin typeface="Cambria" panose="02040503050406030204" pitchFamily="18" charset="0"/>
                    <a:ea typeface="Cambria" panose="02040503050406030204" pitchFamily="18" charset="0"/>
                  </a:rPr>
                  <a:t> </a:t>
                </a:r>
                <a:r>
                  <a:rPr lang="en-US" sz="3600" dirty="0">
                    <a:solidFill>
                      <a:schemeClr val="tx2">
                        <a:lumMod val="60000"/>
                        <a:lumOff val="40000"/>
                      </a:schemeClr>
                    </a:solidFill>
                    <a:latin typeface="Cambria" panose="02040503050406030204" pitchFamily="18" charset="0"/>
                    <a:ea typeface="Cambria" panose="02040503050406030204" pitchFamily="18" charset="0"/>
                  </a:rPr>
                  <a:t>pink</a:t>
                </a:r>
                <a:r>
                  <a:rPr lang="en-US" sz="3600" dirty="0">
                    <a:latin typeface="Cambria" panose="02040503050406030204" pitchFamily="18" charset="0"/>
                    <a:ea typeface="Cambria" panose="02040503050406030204" pitchFamily="18" charset="0"/>
                  </a:rPr>
                  <a:t> and </a:t>
                </a:r>
                <a14:m>
                  <m:oMath xmlns:m="http://schemas.openxmlformats.org/officeDocument/2006/math">
                    <m:f>
                      <m:fPr>
                        <m:ctrlPr>
                          <a:rPr lang="en-AU" sz="3600" i="1">
                            <a:latin typeface="Cambria Math" panose="02040503050406030204" pitchFamily="18" charset="0"/>
                          </a:rPr>
                        </m:ctrlPr>
                      </m:fPr>
                      <m:num>
                        <m:r>
                          <a:rPr lang="en-AU" sz="3600" b="0" i="0" smtClean="0">
                            <a:latin typeface="Cambria Math" panose="02040503050406030204" pitchFamily="18" charset="0"/>
                          </a:rPr>
                          <m:t>3</m:t>
                        </m:r>
                      </m:num>
                      <m:den>
                        <m:r>
                          <a:rPr lang="en-AU" sz="3600" b="0" i="0" smtClean="0">
                            <a:latin typeface="Cambria Math" panose="02040503050406030204" pitchFamily="18" charset="0"/>
                          </a:rPr>
                          <m:t>8</m:t>
                        </m:r>
                      </m:den>
                    </m:f>
                  </m:oMath>
                </a14:m>
                <a:r>
                  <a:rPr lang="en-US" sz="3600" dirty="0">
                    <a:latin typeface="Cambria" panose="02040503050406030204" pitchFamily="18" charset="0"/>
                    <a:ea typeface="Cambria" panose="02040503050406030204" pitchFamily="18" charset="0"/>
                  </a:rPr>
                  <a:t> </a:t>
                </a:r>
                <a:r>
                  <a:rPr lang="en-US" sz="3600" dirty="0">
                    <a:solidFill>
                      <a:schemeClr val="bg1">
                        <a:lumMod val="50000"/>
                      </a:schemeClr>
                    </a:solidFill>
                    <a:latin typeface="Cambria" panose="02040503050406030204" pitchFamily="18" charset="0"/>
                    <a:ea typeface="Cambria" panose="02040503050406030204" pitchFamily="18" charset="0"/>
                  </a:rPr>
                  <a:t>grey</a:t>
                </a:r>
              </a:p>
            </p:txBody>
          </p:sp>
        </mc:Choice>
        <mc:Fallback xmlns="">
          <p:sp>
            <p:nvSpPr>
              <p:cNvPr id="14" name="Text Placeholder 13">
                <a:extLst>
                  <a:ext uri="{FF2B5EF4-FFF2-40B4-BE49-F238E27FC236}">
                    <a16:creationId xmlns:a16="http://schemas.microsoft.com/office/drawing/2014/main" id="{D3F4C1E5-AFB7-4898-29F3-EB98C6384093}"/>
                  </a:ext>
                </a:extLst>
              </p:cNvPr>
              <p:cNvSpPr>
                <a:spLocks noGrp="1" noRot="1" noChangeAspect="1" noMove="1" noResize="1" noEditPoints="1" noAdjustHandles="1" noChangeArrowheads="1" noChangeShapeType="1" noTextEdit="1"/>
              </p:cNvSpPr>
              <p:nvPr>
                <p:ph type="body" sz="quarter" idx="27"/>
              </p:nvPr>
            </p:nvSpPr>
            <p:spPr>
              <a:xfrm>
                <a:off x="1308080" y="5816524"/>
                <a:ext cx="10175920" cy="641396"/>
              </a:xfrm>
              <a:blipFill>
                <a:blip r:embed="rId7"/>
                <a:stretch>
                  <a:fillRect l="-60" b="-57143"/>
                </a:stretch>
              </a:blipFill>
            </p:spPr>
            <p:txBody>
              <a:bodyPr/>
              <a:lstStyle/>
              <a:p>
                <a:r>
                  <a:rPr lang="en-AU">
                    <a:noFill/>
                  </a:rPr>
                  <a:t> </a:t>
                </a:r>
              </a:p>
            </p:txBody>
          </p:sp>
        </mc:Fallback>
      </mc:AlternateContent>
    </p:spTree>
    <p:extLst>
      <p:ext uri="{BB962C8B-B14F-4D97-AF65-F5344CB8AC3E}">
        <p14:creationId xmlns:p14="http://schemas.microsoft.com/office/powerpoint/2010/main" val="8336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96C2D1B-F515-047F-30E5-1DD22007363E}"/>
              </a:ext>
            </a:extLst>
          </p:cNvPr>
          <p:cNvSpPr txBox="1"/>
          <p:nvPr/>
        </p:nvSpPr>
        <p:spPr>
          <a:xfrm>
            <a:off x="550802" y="1273937"/>
            <a:ext cx="10573198" cy="2400300"/>
          </a:xfrm>
          <a:prstGeom prst="rect">
            <a:avLst/>
          </a:prstGeom>
          <a:noFill/>
        </p:spPr>
        <p:txBody>
          <a:bodyPr wrap="square" lIns="0" tIns="0" rIns="0" bIns="0" rtlCol="0" anchor="t">
            <a:noAutofit/>
          </a:bodyPr>
          <a:lstStyle/>
          <a:p>
            <a:pPr algn="ctr">
              <a:lnSpc>
                <a:spcPct val="150000"/>
              </a:lnSpc>
            </a:pPr>
            <a:r>
              <a:rPr lang="en-AU" sz="4400" b="1" dirty="0"/>
              <a:t>Draw</a:t>
            </a:r>
            <a:r>
              <a:rPr lang="en-AU" sz="4400" dirty="0"/>
              <a:t> a rectangle and </a:t>
            </a:r>
            <a:r>
              <a:rPr lang="en-AU" sz="4400" b="1" dirty="0"/>
              <a:t>divide</a:t>
            </a:r>
            <a:r>
              <a:rPr lang="en-AU" sz="4400" dirty="0"/>
              <a:t> it into </a:t>
            </a:r>
            <a:r>
              <a:rPr lang="en-AU" sz="4400" b="1" dirty="0"/>
              <a:t>thirds</a:t>
            </a:r>
            <a:r>
              <a:rPr lang="en-AU" sz="4400" dirty="0"/>
              <a:t>. </a:t>
            </a:r>
          </a:p>
          <a:p>
            <a:pPr algn="ctr">
              <a:lnSpc>
                <a:spcPct val="150000"/>
              </a:lnSpc>
            </a:pPr>
            <a:endParaRPr lang="en-AU" sz="2200" dirty="0"/>
          </a:p>
          <a:p>
            <a:pPr algn="ctr">
              <a:lnSpc>
                <a:spcPct val="150000"/>
              </a:lnSpc>
            </a:pPr>
            <a:r>
              <a:rPr lang="en-AU" sz="4400" dirty="0"/>
              <a:t>How do you know each part is </a:t>
            </a:r>
            <a:r>
              <a:rPr lang="en-AU" sz="4400" b="1" dirty="0"/>
              <a:t>one third </a:t>
            </a:r>
            <a:r>
              <a:rPr lang="en-AU" sz="4400" dirty="0"/>
              <a:t>of the </a:t>
            </a:r>
            <a:r>
              <a:rPr lang="en-AU" sz="4400" b="1" dirty="0"/>
              <a:t>whole</a:t>
            </a:r>
            <a:r>
              <a:rPr lang="en-AU" sz="4400" dirty="0"/>
              <a:t>?</a:t>
            </a:r>
            <a:endParaRPr lang="en-AU" sz="4400" dirty="0">
              <a:cs typeface="Arial"/>
            </a:endParaRPr>
          </a:p>
          <a:p>
            <a:pPr algn="ctr">
              <a:lnSpc>
                <a:spcPct val="150000"/>
              </a:lnSpc>
            </a:pPr>
            <a:r>
              <a:rPr lang="en-AU" sz="4400" b="1" dirty="0">
                <a:cs typeface="Arial"/>
              </a:rPr>
              <a:t>Communicate</a:t>
            </a:r>
            <a:r>
              <a:rPr lang="en-AU" sz="4400" dirty="0">
                <a:cs typeface="Arial"/>
              </a:rPr>
              <a:t> your </a:t>
            </a:r>
            <a:r>
              <a:rPr lang="en-AU" sz="4400" b="1" dirty="0">
                <a:cs typeface="Arial"/>
              </a:rPr>
              <a:t>reasoning.</a:t>
            </a:r>
            <a:endParaRPr lang="en-AU" b="1" dirty="0"/>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D77503D-F612-6463-1E2C-A31AF8C56961}"/>
              </a:ext>
            </a:extLst>
          </p:cNvPr>
          <p:cNvSpPr txBox="1"/>
          <p:nvPr/>
        </p:nvSpPr>
        <p:spPr>
          <a:xfrm>
            <a:off x="593988" y="1433190"/>
            <a:ext cx="11012905" cy="4656221"/>
          </a:xfrm>
          <a:prstGeom prst="rect">
            <a:avLst/>
          </a:prstGeom>
          <a:noFill/>
        </p:spPr>
        <p:txBody>
          <a:bodyPr wrap="square" lIns="0" tIns="0" rIns="0" bIns="0" rtlCol="0">
            <a:noAutofit/>
          </a:bodyPr>
          <a:lstStyle/>
          <a:p>
            <a:pPr algn="ctr">
              <a:lnSpc>
                <a:spcPct val="150000"/>
              </a:lnSpc>
            </a:pPr>
            <a:r>
              <a:rPr lang="en-AU" sz="4000" b="1" dirty="0"/>
              <a:t>Complete</a:t>
            </a:r>
            <a:r>
              <a:rPr lang="en-AU" sz="4000" dirty="0"/>
              <a:t> the sentences.</a:t>
            </a:r>
          </a:p>
          <a:p>
            <a:pPr algn="ctr">
              <a:lnSpc>
                <a:spcPct val="150000"/>
              </a:lnSpc>
            </a:pPr>
            <a:endParaRPr lang="en-AU" sz="4000" dirty="0"/>
          </a:p>
          <a:p>
            <a:pPr marL="571500" indent="-571500">
              <a:lnSpc>
                <a:spcPct val="150000"/>
              </a:lnSpc>
              <a:buFont typeface="Arial" panose="020B0604020202020204" pitchFamily="34" charset="0"/>
              <a:buChar char="•"/>
            </a:pPr>
            <a:r>
              <a:rPr lang="en-AU" sz="4000" dirty="0"/>
              <a:t>There are ___ </a:t>
            </a:r>
            <a:r>
              <a:rPr lang="en-AU" sz="4000" b="1" dirty="0"/>
              <a:t>mm</a:t>
            </a:r>
            <a:r>
              <a:rPr lang="en-AU" sz="4000" dirty="0"/>
              <a:t> in </a:t>
            </a:r>
            <a:r>
              <a:rPr lang="en-AU" sz="4000" b="1" dirty="0"/>
              <a:t>1</a:t>
            </a:r>
            <a:r>
              <a:rPr lang="en-AU" sz="4000" dirty="0"/>
              <a:t> </a:t>
            </a:r>
            <a:r>
              <a:rPr lang="en-AU" sz="4000" b="1" dirty="0"/>
              <a:t>cm</a:t>
            </a:r>
            <a:r>
              <a:rPr lang="en-AU" sz="4000" dirty="0"/>
              <a:t>.</a:t>
            </a:r>
          </a:p>
          <a:p>
            <a:pPr marL="571500" indent="-571500">
              <a:lnSpc>
                <a:spcPct val="150000"/>
              </a:lnSpc>
              <a:buFont typeface="Arial" panose="020B0604020202020204" pitchFamily="34" charset="0"/>
              <a:buChar char="•"/>
            </a:pPr>
            <a:r>
              <a:rPr lang="en-AU" sz="4000" dirty="0"/>
              <a:t>There are ___ </a:t>
            </a:r>
            <a:r>
              <a:rPr lang="en-AU" sz="4000" b="1" dirty="0"/>
              <a:t>mm</a:t>
            </a:r>
            <a:r>
              <a:rPr lang="en-AU" sz="4000" dirty="0"/>
              <a:t> in </a:t>
            </a:r>
            <a:r>
              <a:rPr lang="en-AU" sz="4000" b="1" dirty="0"/>
              <a:t>3</a:t>
            </a:r>
            <a:r>
              <a:rPr lang="en-AU" sz="4000" dirty="0"/>
              <a:t> </a:t>
            </a:r>
            <a:r>
              <a:rPr lang="en-AU" sz="4000" b="1" dirty="0"/>
              <a:t>cm</a:t>
            </a:r>
            <a:r>
              <a:rPr lang="en-AU" sz="4000" dirty="0"/>
              <a:t>.</a:t>
            </a:r>
          </a:p>
          <a:p>
            <a:pPr marL="571500" indent="-571500">
              <a:lnSpc>
                <a:spcPct val="150000"/>
              </a:lnSpc>
              <a:buFont typeface="Arial" panose="020B0604020202020204" pitchFamily="34" charset="0"/>
              <a:buChar char="•"/>
            </a:pPr>
            <a:r>
              <a:rPr lang="en-AU" sz="4000" dirty="0"/>
              <a:t>There are ___ </a:t>
            </a:r>
            <a:r>
              <a:rPr lang="en-AU" sz="4000" b="1" dirty="0"/>
              <a:t>mm</a:t>
            </a:r>
            <a:r>
              <a:rPr lang="en-AU" sz="4000" dirty="0"/>
              <a:t> in ___ </a:t>
            </a:r>
            <a:r>
              <a:rPr lang="en-AU" sz="4000" b="1" dirty="0"/>
              <a:t>cm</a:t>
            </a:r>
            <a:r>
              <a:rPr lang="en-AU" sz="4000" dirty="0"/>
              <a:t>.</a:t>
            </a:r>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pic>
        <p:nvPicPr>
          <p:cNvPr id="3" name="Picture 2" descr="image of a clipboard with a pencil recording short answer responses">
            <a:extLst>
              <a:ext uri="{FF2B5EF4-FFF2-40B4-BE49-F238E27FC236}">
                <a16:creationId xmlns:a16="http://schemas.microsoft.com/office/drawing/2014/main" id="{CDC9578D-E509-83DC-F7E6-82182EFDC99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EBFAAC44-E40C-866D-856F-DDF42250B0A8}"/>
              </a:ext>
            </a:extLst>
          </p:cNvPr>
          <p:cNvSpPr txBox="1"/>
          <p:nvPr/>
        </p:nvSpPr>
        <p:spPr>
          <a:xfrm>
            <a:off x="1150374" y="1902542"/>
            <a:ext cx="9306232" cy="2507226"/>
          </a:xfrm>
          <a:prstGeom prst="rect">
            <a:avLst/>
          </a:prstGeom>
          <a:noFill/>
        </p:spPr>
        <p:txBody>
          <a:bodyPr wrap="square" lIns="0" tIns="0" rIns="0" bIns="0" rtlCol="0">
            <a:noAutofit/>
          </a:bodyPr>
          <a:lstStyle/>
          <a:p>
            <a:pPr algn="ctr">
              <a:lnSpc>
                <a:spcPct val="150000"/>
              </a:lnSpc>
            </a:pPr>
            <a:r>
              <a:rPr lang="en-AU" sz="4400" dirty="0"/>
              <a:t>Use </a:t>
            </a:r>
            <a:r>
              <a:rPr lang="en-AU" sz="4400" b="1" dirty="0"/>
              <a:t>partitioning</a:t>
            </a:r>
            <a:r>
              <a:rPr lang="en-AU" sz="4400" dirty="0"/>
              <a:t> to solve </a:t>
            </a:r>
          </a:p>
          <a:p>
            <a:pPr algn="ctr">
              <a:lnSpc>
                <a:spcPct val="150000"/>
              </a:lnSpc>
            </a:pPr>
            <a:r>
              <a:rPr lang="en-AU" sz="5400" b="1" dirty="0"/>
              <a:t>13 + 46</a:t>
            </a:r>
            <a:endParaRPr lang="en-AU" sz="5400" dirty="0"/>
          </a:p>
          <a:p>
            <a:pPr algn="ctr">
              <a:lnSpc>
                <a:spcPct val="150000"/>
              </a:lnSpc>
            </a:pPr>
            <a:r>
              <a:rPr lang="en-AU" sz="4400" b="1" dirty="0"/>
              <a:t>Record</a:t>
            </a:r>
            <a:r>
              <a:rPr lang="en-AU" sz="4400" dirty="0"/>
              <a:t> your thinking. </a:t>
            </a:r>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7EAD040-6C9E-BA2E-7E5F-EE55CDD2B863}"/>
              </a:ext>
            </a:extLst>
          </p:cNvPr>
          <p:cNvSpPr txBox="1"/>
          <p:nvPr/>
        </p:nvSpPr>
        <p:spPr>
          <a:xfrm>
            <a:off x="634181" y="1184223"/>
            <a:ext cx="11311795" cy="2168013"/>
          </a:xfrm>
          <a:prstGeom prst="rect">
            <a:avLst/>
          </a:prstGeom>
          <a:noFill/>
        </p:spPr>
        <p:txBody>
          <a:bodyPr wrap="square" lIns="0" tIns="0" rIns="0" bIns="0" rtlCol="0">
            <a:noAutofit/>
          </a:bodyPr>
          <a:lstStyle/>
          <a:p>
            <a:pPr algn="ctr">
              <a:lnSpc>
                <a:spcPct val="150000"/>
              </a:lnSpc>
            </a:pPr>
            <a:r>
              <a:rPr lang="en-AU" sz="4400" dirty="0"/>
              <a:t>Record a shape that has:</a:t>
            </a:r>
          </a:p>
          <a:p>
            <a:pPr marL="342900" indent="-342900">
              <a:lnSpc>
                <a:spcPct val="150000"/>
              </a:lnSpc>
              <a:buFont typeface="Arial" panose="020B0604020202020204" pitchFamily="34" charset="0"/>
              <a:buChar char="•"/>
            </a:pPr>
            <a:r>
              <a:rPr lang="en-AU" sz="4400" dirty="0"/>
              <a:t>two pairs of </a:t>
            </a:r>
            <a:r>
              <a:rPr lang="en-AU" sz="4400" b="1" dirty="0"/>
              <a:t>parallel</a:t>
            </a:r>
            <a:r>
              <a:rPr lang="en-AU" sz="4400" dirty="0"/>
              <a:t> sides</a:t>
            </a:r>
          </a:p>
          <a:p>
            <a:pPr marL="342900" indent="-342900">
              <a:lnSpc>
                <a:spcPct val="150000"/>
              </a:lnSpc>
              <a:buFont typeface="Arial" panose="020B0604020202020204" pitchFamily="34" charset="0"/>
              <a:buChar char="•"/>
            </a:pPr>
            <a:r>
              <a:rPr lang="en-AU" sz="4400" dirty="0"/>
              <a:t>opposite sides that are </a:t>
            </a:r>
            <a:r>
              <a:rPr lang="en-AU" sz="4400" b="1" dirty="0"/>
              <a:t>equal</a:t>
            </a:r>
          </a:p>
          <a:p>
            <a:pPr marL="342900" indent="-342900">
              <a:lnSpc>
                <a:spcPct val="150000"/>
              </a:lnSpc>
              <a:buFont typeface="Arial" panose="020B0604020202020204" pitchFamily="34" charset="0"/>
              <a:buChar char="•"/>
            </a:pPr>
            <a:r>
              <a:rPr lang="en-AU" sz="4400" dirty="0"/>
              <a:t>a</a:t>
            </a:r>
            <a:r>
              <a:rPr lang="en-AU" sz="4400"/>
              <a:t>ll </a:t>
            </a:r>
            <a:r>
              <a:rPr lang="en-AU" sz="4400" dirty="0"/>
              <a:t>corners </a:t>
            </a:r>
            <a:r>
              <a:rPr lang="en-AU" sz="4400"/>
              <a:t>the same.</a:t>
            </a:r>
            <a:endParaRPr lang="en-AU" sz="4400" b="1" dirty="0"/>
          </a:p>
          <a:p>
            <a:pPr algn="ctr"/>
            <a:endParaRPr lang="en-AU" sz="4000" b="1" dirty="0"/>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a:t>
            </a:r>
            <a:r>
              <a:rPr lang="en-AU">
                <a:latin typeface="Arial"/>
                <a:cs typeface="Arial"/>
              </a:rPr>
              <a:t>Who is correct?</a:t>
            </a:r>
            <a:endParaRPr lang="en-AU"/>
          </a:p>
        </p:txBody>
      </p:sp>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pic>
        <p:nvPicPr>
          <p:cNvPr id="4" name="Picture 3" descr="image of a head with cogs turning inside">
            <a:extLst>
              <a:ext uri="{FF2B5EF4-FFF2-40B4-BE49-F238E27FC236}">
                <a16:creationId xmlns:a16="http://schemas.microsoft.com/office/drawing/2014/main" id="{296D4226-C1D0-BEBB-1948-F7CDF78884C4}"/>
              </a:ext>
            </a:extLst>
          </p:cNvPr>
          <p:cNvPicPr>
            <a:picLocks noChangeAspect="1"/>
          </p:cNvPicPr>
          <p:nvPr/>
        </p:nvPicPr>
        <p:blipFill>
          <a:blip r:embed="rId3"/>
          <a:stretch>
            <a:fillRect/>
          </a:stretch>
        </p:blipFill>
        <p:spPr>
          <a:xfrm>
            <a:off x="11107003" y="240894"/>
            <a:ext cx="720000" cy="856364"/>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B085C22-BD03-CEC0-FFC8-EFCE5170C1F8}"/>
                  </a:ext>
                </a:extLst>
              </p:cNvPr>
              <p:cNvSpPr txBox="1"/>
              <p:nvPr/>
            </p:nvSpPr>
            <p:spPr>
              <a:xfrm>
                <a:off x="1099668" y="1164426"/>
                <a:ext cx="10384332" cy="1253612"/>
              </a:xfrm>
              <a:prstGeom prst="rect">
                <a:avLst/>
              </a:prstGeom>
              <a:noFill/>
            </p:spPr>
            <p:txBody>
              <a:bodyPr wrap="square" lIns="0" tIns="0" rIns="0" bIns="0" rtlCol="0">
                <a:noAutofit/>
              </a:bodyPr>
              <a:lstStyle/>
              <a:p>
                <a:pPr algn="ctr">
                  <a:lnSpc>
                    <a:spcPct val="150000"/>
                  </a:lnSpc>
                </a:pPr>
                <a:r>
                  <a:rPr lang="en-AU" sz="2800" dirty="0"/>
                  <a:t>The class were asked to fold a strip into </a:t>
                </a:r>
                <a:r>
                  <a:rPr lang="en-AU" sz="2800" b="1" dirty="0"/>
                  <a:t>eight equal parts </a:t>
                </a:r>
                <a:r>
                  <a:rPr lang="en-AU" sz="2800" dirty="0"/>
                  <a:t>and to </a:t>
                </a:r>
                <a:r>
                  <a:rPr lang="en-AU" sz="2800" b="1" dirty="0"/>
                  <a:t>represent</a:t>
                </a:r>
                <a:r>
                  <a:rPr lang="en-AU" sz="2800" dirty="0"/>
                  <a:t> the </a:t>
                </a:r>
                <a:r>
                  <a:rPr lang="en-AU" sz="2800" b="1" dirty="0"/>
                  <a:t>fractions</a:t>
                </a:r>
                <a:r>
                  <a:rPr lang="en-AU" sz="2800" dirty="0"/>
                  <a:t> with the following colours</a:t>
                </a:r>
                <a:r>
                  <a:rPr lang="en-AU" sz="2800" b="1" dirty="0"/>
                  <a:t>:</a:t>
                </a:r>
              </a:p>
              <a:p>
                <a:pPr algn="ctr">
                  <a:lnSpc>
                    <a:spcPct val="150000"/>
                  </a:lnSpc>
                </a:pPr>
                <a:r>
                  <a:rPr lang="en-AU" sz="2800" b="1" dirty="0"/>
                  <a:t> </a:t>
                </a:r>
                <a14:m>
                  <m:oMath xmlns:m="http://schemas.openxmlformats.org/officeDocument/2006/math">
                    <m:f>
                      <m:fPr>
                        <m:ctrlPr>
                          <a:rPr lang="en-AU" sz="2800" b="1" i="1">
                            <a:latin typeface="Cambria Math" panose="02040503050406030204" pitchFamily="18" charset="0"/>
                          </a:rPr>
                        </m:ctrlPr>
                      </m:fPr>
                      <m:num>
                        <m:r>
                          <a:rPr lang="en-AU" sz="2800" b="1" i="0" smtClean="0">
                            <a:latin typeface="Cambria Math" panose="02040503050406030204" pitchFamily="18" charset="0"/>
                          </a:rPr>
                          <m:t>𝟏</m:t>
                        </m:r>
                      </m:num>
                      <m:den>
                        <m:r>
                          <a:rPr lang="en-AU" sz="2800" b="1" i="0" smtClean="0">
                            <a:latin typeface="Cambria Math" panose="02040503050406030204" pitchFamily="18" charset="0"/>
                          </a:rPr>
                          <m:t>𝟐</m:t>
                        </m:r>
                      </m:den>
                    </m:f>
                    <m:r>
                      <a:rPr lang="en-AU" sz="2800" b="1">
                        <a:latin typeface="Cambria Math" panose="02040503050406030204" pitchFamily="18" charset="0"/>
                      </a:rPr>
                      <m:t> </m:t>
                    </m:r>
                    <m:r>
                      <a:rPr lang="en-AU" sz="2800" b="1" i="0" smtClean="0">
                        <a:latin typeface="Cambria Math" panose="02040503050406030204" pitchFamily="18" charset="0"/>
                      </a:rPr>
                      <m:t>𝐲𝐞𝐥𝐥𝐨𝐰</m:t>
                    </m:r>
                    <m:r>
                      <a:rPr lang="en-AU" sz="2800" b="1">
                        <a:latin typeface="Cambria Math" panose="02040503050406030204" pitchFamily="18" charset="0"/>
                      </a:rPr>
                      <m:t>,</m:t>
                    </m:r>
                    <m:f>
                      <m:fPr>
                        <m:ctrlPr>
                          <a:rPr lang="en-AU" sz="2800" b="1" i="1">
                            <a:latin typeface="Cambria Math" panose="02040503050406030204" pitchFamily="18" charset="0"/>
                          </a:rPr>
                        </m:ctrlPr>
                      </m:fPr>
                      <m:num>
                        <m:r>
                          <a:rPr lang="en-AU" sz="2800" b="1" i="1">
                            <a:latin typeface="Cambria Math" panose="02040503050406030204" pitchFamily="18" charset="0"/>
                          </a:rPr>
                          <m:t>𝟑</m:t>
                        </m:r>
                      </m:num>
                      <m:den>
                        <m:r>
                          <a:rPr lang="en-AU" sz="2800" b="1" i="1">
                            <a:latin typeface="Cambria Math" panose="02040503050406030204" pitchFamily="18" charset="0"/>
                          </a:rPr>
                          <m:t>𝟖</m:t>
                        </m:r>
                      </m:den>
                    </m:f>
                  </m:oMath>
                </a14:m>
                <a:r>
                  <a:rPr lang="en-US" sz="2800" b="1" dirty="0"/>
                  <a:t> green and </a:t>
                </a:r>
                <a14:m>
                  <m:oMath xmlns:m="http://schemas.openxmlformats.org/officeDocument/2006/math">
                    <m:f>
                      <m:fPr>
                        <m:ctrlPr>
                          <a:rPr lang="en-AU" sz="2800" b="1" i="1">
                            <a:latin typeface="Cambria Math" panose="02040503050406030204" pitchFamily="18" charset="0"/>
                          </a:rPr>
                        </m:ctrlPr>
                      </m:fPr>
                      <m:num>
                        <m:r>
                          <a:rPr lang="en-AU" sz="2800" b="1" i="1">
                            <a:latin typeface="Cambria Math" panose="02040503050406030204" pitchFamily="18" charset="0"/>
                          </a:rPr>
                          <m:t>𝟏</m:t>
                        </m:r>
                      </m:num>
                      <m:den>
                        <m:r>
                          <a:rPr lang="en-AU" sz="2800" b="1" i="0" smtClean="0">
                            <a:latin typeface="Cambria Math" panose="02040503050406030204" pitchFamily="18" charset="0"/>
                          </a:rPr>
                          <m:t>𝟖</m:t>
                        </m:r>
                      </m:den>
                    </m:f>
                  </m:oMath>
                </a14:m>
                <a:r>
                  <a:rPr lang="en-US" sz="2800" b="1" dirty="0"/>
                  <a:t> blue</a:t>
                </a:r>
                <a:endParaRPr lang="en-AU" sz="2800" b="1" dirty="0"/>
              </a:p>
            </p:txBody>
          </p:sp>
        </mc:Choice>
        <mc:Fallback xmlns="">
          <p:sp>
            <p:nvSpPr>
              <p:cNvPr id="5" name="TextBox 4">
                <a:extLst>
                  <a:ext uri="{FF2B5EF4-FFF2-40B4-BE49-F238E27FC236}">
                    <a16:creationId xmlns:a16="http://schemas.microsoft.com/office/drawing/2014/main" id="{3B085C22-BD03-CEC0-FFC8-EFCE5170C1F8}"/>
                  </a:ext>
                </a:extLst>
              </p:cNvPr>
              <p:cNvSpPr txBox="1">
                <a:spLocks noRot="1" noChangeAspect="1" noMove="1" noResize="1" noEditPoints="1" noAdjustHandles="1" noChangeArrowheads="1" noChangeShapeType="1" noTextEdit="1"/>
              </p:cNvSpPr>
              <p:nvPr/>
            </p:nvSpPr>
            <p:spPr>
              <a:xfrm>
                <a:off x="1099668" y="1164426"/>
                <a:ext cx="10384332" cy="1253612"/>
              </a:xfrm>
              <a:prstGeom prst="rect">
                <a:avLst/>
              </a:prstGeom>
              <a:blipFill>
                <a:blip r:embed="rId4"/>
                <a:stretch>
                  <a:fillRect l="-1643" r="-2523" b="-78641"/>
                </a:stretch>
              </a:blipFill>
            </p:spPr>
            <p:txBody>
              <a:bodyPr/>
              <a:lstStyle/>
              <a:p>
                <a:r>
                  <a:rPr lang="en-AU">
                    <a:noFill/>
                  </a:rPr>
                  <a:t> </a:t>
                </a:r>
              </a:p>
            </p:txBody>
          </p:sp>
        </mc:Fallback>
      </mc:AlternateContent>
      <p:pic>
        <p:nvPicPr>
          <p:cNvPr id="3" name="Picture 2" descr="The class were asked to fold a strip into eight equal parts and to represent the fraction with the following colours:&#10;&#10; ½ yellow ⅜ green and ⅛ blue&#10;&#10;Clea - marked out the amount of parts correctly but her strip does not have 8 equal parts&#10;Dallas - Coloured 5/8 in yellow and 2/8 in green&#10;Flynn - Has coloured his correctly.">
            <a:extLst>
              <a:ext uri="{FF2B5EF4-FFF2-40B4-BE49-F238E27FC236}">
                <a16:creationId xmlns:a16="http://schemas.microsoft.com/office/drawing/2014/main" id="{3791F39E-A88B-4565-9FF2-D89EAC605044}"/>
              </a:ext>
            </a:extLst>
          </p:cNvPr>
          <p:cNvPicPr>
            <a:picLocks noChangeAspect="1"/>
          </p:cNvPicPr>
          <p:nvPr/>
        </p:nvPicPr>
        <p:blipFill>
          <a:blip r:embed="rId5"/>
          <a:srcRect t="26511" b="14491"/>
          <a:stretch>
            <a:fillRect/>
          </a:stretch>
        </p:blipFill>
        <p:spPr>
          <a:xfrm>
            <a:off x="2037488" y="3429000"/>
            <a:ext cx="8449789" cy="2900740"/>
          </a:xfrm>
          <a:prstGeom prst="rect">
            <a:avLst/>
          </a:prstGeom>
        </p:spPr>
      </p:pic>
      <p:sp>
        <p:nvSpPr>
          <p:cNvPr id="7" name="TextBox 6">
            <a:extLst>
              <a:ext uri="{FF2B5EF4-FFF2-40B4-BE49-F238E27FC236}">
                <a16:creationId xmlns:a16="http://schemas.microsoft.com/office/drawing/2014/main" id="{A05D1138-F912-4045-4EA7-F56DCCC67717}"/>
              </a:ext>
            </a:extLst>
          </p:cNvPr>
          <p:cNvSpPr txBox="1"/>
          <p:nvPr/>
        </p:nvSpPr>
        <p:spPr>
          <a:xfrm>
            <a:off x="4818061" y="6048701"/>
            <a:ext cx="3760839" cy="413187"/>
          </a:xfrm>
          <a:prstGeom prst="rect">
            <a:avLst/>
          </a:prstGeom>
          <a:noFill/>
        </p:spPr>
        <p:txBody>
          <a:bodyPr wrap="square" lIns="0" tIns="0" rIns="0" bIns="0" rtlCol="0">
            <a:noAutofit/>
          </a:bodyPr>
          <a:lstStyle/>
          <a:p>
            <a:pPr algn="l"/>
            <a:r>
              <a:rPr lang="en-AU" sz="3200"/>
              <a:t>Who is </a:t>
            </a:r>
            <a:r>
              <a:rPr lang="en-AU" sz="3200" b="1"/>
              <a:t>correct</a:t>
            </a:r>
            <a:r>
              <a:rPr lang="en-AU" sz="3200"/>
              <a:t>?</a:t>
            </a:r>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474481" y="1600298"/>
                <a:ext cx="11243037" cy="893226"/>
              </a:xfrm>
            </p:spPr>
            <p:txBody>
              <a:bodyPr/>
              <a:lstStyle/>
              <a:p>
                <a:pPr algn="ctr"/>
                <a:r>
                  <a:rPr lang="en-AU" sz="4000" dirty="0"/>
                  <a:t>During a school fundraiser, Shanice </a:t>
                </a:r>
                <a:r>
                  <a:rPr lang="en-AU" sz="4000" b="1" dirty="0"/>
                  <a:t>sold</a:t>
                </a:r>
                <a:r>
                  <a:rPr lang="en-AU" sz="4000" dirty="0"/>
                  <a:t> </a:t>
                </a:r>
                <a14:m>
                  <m:oMath xmlns:m="http://schemas.openxmlformats.org/officeDocument/2006/math">
                    <m:f>
                      <m:fPr>
                        <m:ctrlPr>
                          <a:rPr lang="en-AU" sz="4000" b="1" i="1">
                            <a:latin typeface="Cambria Math" panose="02040503050406030204" pitchFamily="18" charset="0"/>
                          </a:rPr>
                        </m:ctrlPr>
                      </m:fPr>
                      <m:num>
                        <m:r>
                          <a:rPr lang="en-AU" sz="4000" b="1" i="0" smtClean="0">
                            <a:latin typeface="Cambria Math" panose="02040503050406030204" pitchFamily="18" charset="0"/>
                          </a:rPr>
                          <m:t>𝟓</m:t>
                        </m:r>
                        <m:r>
                          <a:rPr lang="en-AU" sz="4000" b="1" i="0" smtClean="0">
                            <a:latin typeface="Cambria Math" panose="02040503050406030204" pitchFamily="18" charset="0"/>
                          </a:rPr>
                          <m:t> </m:t>
                        </m:r>
                      </m:num>
                      <m:den>
                        <m:r>
                          <a:rPr lang="en-AU" sz="4000" b="1" i="1">
                            <a:latin typeface="Cambria Math" panose="02040503050406030204" pitchFamily="18" charset="0"/>
                          </a:rPr>
                          <m:t>𝟖</m:t>
                        </m:r>
                      </m:den>
                    </m:f>
                  </m:oMath>
                </a14:m>
                <a:r>
                  <a:rPr lang="en-AU" sz="4000" dirty="0"/>
                  <a:t> of the raffle tickets which</a:t>
                </a:r>
                <a:r>
                  <a:rPr lang="en-AU" sz="4000" b="1" dirty="0"/>
                  <a:t> left </a:t>
                </a:r>
                <a14:m>
                  <m:oMath xmlns:m="http://schemas.openxmlformats.org/officeDocument/2006/math">
                    <m:f>
                      <m:fPr>
                        <m:ctrlPr>
                          <a:rPr lang="en-AU" sz="4000" b="1" i="1">
                            <a:latin typeface="Cambria Math" panose="02040503050406030204" pitchFamily="18" charset="0"/>
                          </a:rPr>
                        </m:ctrlPr>
                      </m:fPr>
                      <m:num>
                        <m:r>
                          <a:rPr lang="en-AU" sz="4000" b="1" i="0" smtClean="0">
                            <a:latin typeface="Cambria Math" panose="02040503050406030204" pitchFamily="18" charset="0"/>
                          </a:rPr>
                          <m:t>𝟒</m:t>
                        </m:r>
                      </m:num>
                      <m:den>
                        <m:r>
                          <a:rPr lang="en-AU" sz="4000" b="1" i="1">
                            <a:latin typeface="Cambria Math" panose="02040503050406030204" pitchFamily="18" charset="0"/>
                          </a:rPr>
                          <m:t>𝟖</m:t>
                        </m:r>
                      </m:den>
                    </m:f>
                  </m:oMath>
                </a14:m>
                <a:r>
                  <a:rPr lang="en-US" sz="4000" b="1" dirty="0"/>
                  <a:t> </a:t>
                </a:r>
                <a:r>
                  <a:rPr lang="en-US" sz="4000" dirty="0"/>
                  <a:t>of the tickets </a:t>
                </a:r>
                <a:r>
                  <a:rPr lang="en-US" sz="4000" b="1" dirty="0"/>
                  <a:t>unsold.</a:t>
                </a:r>
                <a:endParaRPr lang="en-AU" sz="4000" b="1" dirty="0"/>
              </a:p>
            </p:txBody>
          </p:sp>
        </mc:Choice>
        <mc:Fallback xmlns="">
          <p:sp>
            <p:nvSpPr>
              <p:cNvPr id="6" name="Text Placeholder 5">
                <a:extLst>
                  <a:ext uri="{FF2B5EF4-FFF2-40B4-BE49-F238E27FC236}">
                    <a16:creationId xmlns:a16="http://schemas.microsoft.com/office/drawing/2014/main" id="{1F74B9A4-EFE2-0CD1-0E45-27C87BBC65EB}"/>
                  </a:ext>
                </a:extLst>
              </p:cNvPr>
              <p:cNvSpPr>
                <a:spLocks noGrp="1" noRot="1" noChangeAspect="1" noMove="1" noResize="1" noEditPoints="1" noAdjustHandles="1" noChangeArrowheads="1" noChangeShapeType="1" noTextEdit="1"/>
              </p:cNvSpPr>
              <p:nvPr>
                <p:ph type="body" sz="quarter" idx="22"/>
              </p:nvPr>
            </p:nvSpPr>
            <p:spPr>
              <a:xfrm>
                <a:off x="474481" y="1600298"/>
                <a:ext cx="11243037" cy="893226"/>
              </a:xfrm>
              <a:blipFill>
                <a:blip r:embed="rId4"/>
                <a:stretch>
                  <a:fillRect l="-1952" r="-3200" b="-204110"/>
                </a:stretch>
              </a:blipFill>
            </p:spPr>
            <p:txBody>
              <a:bodyPr/>
              <a:lstStyle/>
              <a:p>
                <a:r>
                  <a:rPr lang="en-AU">
                    <a:noFill/>
                  </a:rPr>
                  <a:t> </a:t>
                </a:r>
              </a:p>
            </p:txBody>
          </p:sp>
        </mc:Fallback>
      </mc:AlternateContent>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021B5FF7-D74C-41A0-CBAA-EE7C7571FA30}"/>
              </a:ext>
            </a:extLst>
          </p:cNvPr>
          <p:cNvSpPr txBox="1"/>
          <p:nvPr/>
        </p:nvSpPr>
        <p:spPr>
          <a:xfrm>
            <a:off x="1454534" y="1444823"/>
            <a:ext cx="9282931" cy="1018310"/>
          </a:xfrm>
          <a:prstGeom prst="rect">
            <a:avLst/>
          </a:prstGeom>
          <a:noFill/>
        </p:spPr>
        <p:txBody>
          <a:bodyPr wrap="square" lIns="0" tIns="0" rIns="0" bIns="0" rtlCol="0">
            <a:noAutofit/>
          </a:bodyPr>
          <a:lstStyle/>
          <a:p>
            <a:pPr algn="ctr">
              <a:lnSpc>
                <a:spcPct val="150000"/>
              </a:lnSpc>
            </a:pPr>
            <a:r>
              <a:rPr lang="en-AU" sz="4000" b="1" dirty="0"/>
              <a:t>Record</a:t>
            </a:r>
            <a:r>
              <a:rPr lang="en-AU" sz="4000" dirty="0"/>
              <a:t> the </a:t>
            </a:r>
            <a:r>
              <a:rPr lang="en-AU" sz="4000" b="1" dirty="0"/>
              <a:t>fraction </a:t>
            </a:r>
            <a:r>
              <a:rPr lang="en-AU" sz="4000" dirty="0"/>
              <a:t>that has been shaded blue?</a:t>
            </a:r>
          </a:p>
          <a:p>
            <a:pPr algn="ctr">
              <a:lnSpc>
                <a:spcPct val="150000"/>
              </a:lnSpc>
            </a:pPr>
            <a:endParaRPr lang="en-AU" sz="4000" dirty="0"/>
          </a:p>
          <a:p>
            <a:pPr algn="ctr">
              <a:lnSpc>
                <a:spcPct val="150000"/>
              </a:lnSpc>
            </a:pPr>
            <a:endParaRPr lang="en-AU" sz="4000" dirty="0"/>
          </a:p>
          <a:p>
            <a:pPr algn="ctr">
              <a:lnSpc>
                <a:spcPct val="150000"/>
              </a:lnSpc>
            </a:pPr>
            <a:r>
              <a:rPr lang="en-AU" sz="4000" b="1" i="0" u="none" strike="noStrike" dirty="0">
                <a:solidFill>
                  <a:srgbClr val="22272B"/>
                </a:solidFill>
                <a:effectLst/>
                <a:latin typeface="Arial" panose="020B0604020202020204" pitchFamily="34" charset="0"/>
              </a:rPr>
              <a:t>Communicate</a:t>
            </a:r>
            <a:r>
              <a:rPr lang="en-AU" sz="4000" b="0" i="0" u="none" strike="noStrike" dirty="0">
                <a:solidFill>
                  <a:srgbClr val="22272B"/>
                </a:solidFill>
                <a:effectLst/>
                <a:latin typeface="Arial" panose="020B0604020202020204" pitchFamily="34" charset="0"/>
              </a:rPr>
              <a:t> your </a:t>
            </a:r>
            <a:r>
              <a:rPr lang="en-AU" sz="4000" b="1" i="0" u="none" strike="noStrike" dirty="0">
                <a:solidFill>
                  <a:srgbClr val="22272B"/>
                </a:solidFill>
                <a:effectLst/>
                <a:latin typeface="Arial" panose="020B0604020202020204" pitchFamily="34" charset="0"/>
              </a:rPr>
              <a:t>reasoning.</a:t>
            </a:r>
            <a:endParaRPr lang="en-AU" sz="4000" dirty="0"/>
          </a:p>
        </p:txBody>
      </p:sp>
      <p:pic>
        <p:nvPicPr>
          <p:cNvPr id="8" name="Picture 7" descr="A fraction bar partitioned into 4 equal parts. 3 parts are shaded.">
            <a:extLst>
              <a:ext uri="{FF2B5EF4-FFF2-40B4-BE49-F238E27FC236}">
                <a16:creationId xmlns:a16="http://schemas.microsoft.com/office/drawing/2014/main" id="{0E3902C1-CD56-3CB4-2C3D-DC8E4E821524}"/>
              </a:ext>
            </a:extLst>
          </p:cNvPr>
          <p:cNvPicPr>
            <a:picLocks noChangeAspect="1"/>
          </p:cNvPicPr>
          <p:nvPr/>
        </p:nvPicPr>
        <p:blipFill>
          <a:blip r:embed="rId4"/>
          <a:stretch>
            <a:fillRect/>
          </a:stretch>
        </p:blipFill>
        <p:spPr>
          <a:xfrm>
            <a:off x="1916586" y="3617607"/>
            <a:ext cx="8358827" cy="965457"/>
          </a:xfrm>
          <a:prstGeom prst="rect">
            <a:avLst/>
          </a:prstGeom>
        </p:spPr>
      </p:pic>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0366D2F9-C8C7-B617-48AE-41876E9C6CB8}"/>
              </a:ext>
            </a:extLst>
          </p:cNvPr>
          <p:cNvSpPr txBox="1"/>
          <p:nvPr/>
        </p:nvSpPr>
        <p:spPr>
          <a:xfrm>
            <a:off x="633663" y="1694221"/>
            <a:ext cx="10924674" cy="4029501"/>
          </a:xfrm>
          <a:prstGeom prst="rect">
            <a:avLst/>
          </a:prstGeom>
          <a:noFill/>
        </p:spPr>
        <p:txBody>
          <a:bodyPr wrap="square" lIns="91440" tIns="45720" rIns="91440" bIns="45720" anchor="t">
            <a:spAutoFit/>
          </a:bodyPr>
          <a:lstStyle/>
          <a:p>
            <a:pPr algn="ctr">
              <a:lnSpc>
                <a:spcPct val="150000"/>
              </a:lnSpc>
            </a:pPr>
            <a:r>
              <a:rPr lang="en-AU" sz="4400" b="1" dirty="0">
                <a:latin typeface="Arial"/>
                <a:ea typeface="Calibri"/>
                <a:cs typeface="Arial"/>
              </a:rPr>
              <a:t>Complete</a:t>
            </a:r>
            <a:r>
              <a:rPr lang="en-AU" sz="4400" dirty="0">
                <a:latin typeface="Arial"/>
                <a:ea typeface="Calibri"/>
                <a:cs typeface="Arial"/>
              </a:rPr>
              <a:t> the sentence.</a:t>
            </a:r>
          </a:p>
          <a:p>
            <a:pPr algn="ctr">
              <a:lnSpc>
                <a:spcPct val="150000"/>
              </a:lnSpc>
            </a:pPr>
            <a:r>
              <a:rPr lang="en-AU" sz="4400" dirty="0">
                <a:latin typeface="Arial"/>
                <a:ea typeface="Calibri"/>
                <a:cs typeface="Arial"/>
              </a:rPr>
              <a:t>53</a:t>
            </a:r>
            <a:r>
              <a:rPr lang="en-AU" sz="4400" dirty="0">
                <a:effectLst/>
                <a:latin typeface="Arial"/>
                <a:ea typeface="Calibri"/>
                <a:cs typeface="Arial"/>
              </a:rPr>
              <a:t> mm is the </a:t>
            </a:r>
            <a:r>
              <a:rPr lang="en-AU" sz="4400" b="1" dirty="0">
                <a:effectLst/>
                <a:latin typeface="Arial"/>
                <a:ea typeface="Calibri"/>
                <a:cs typeface="Arial"/>
              </a:rPr>
              <a:t>same as </a:t>
            </a:r>
            <a:r>
              <a:rPr lang="en-AU" sz="4400" dirty="0">
                <a:effectLst/>
                <a:latin typeface="Arial"/>
                <a:ea typeface="Calibri"/>
                <a:cs typeface="Arial"/>
              </a:rPr>
              <a:t>__ cm and __ mm.</a:t>
            </a:r>
          </a:p>
          <a:p>
            <a:pPr algn="ctr">
              <a:lnSpc>
                <a:spcPct val="150000"/>
              </a:lnSpc>
            </a:pPr>
            <a:endParaRPr lang="en-AU" sz="4400" dirty="0">
              <a:effectLst/>
              <a:latin typeface="Arial" panose="020B0604020202020204" pitchFamily="34" charset="0"/>
              <a:ea typeface="Calibri" panose="020F0502020204030204" pitchFamily="34" charset="0"/>
            </a:endParaRPr>
          </a:p>
          <a:p>
            <a:pPr algn="ctr">
              <a:lnSpc>
                <a:spcPct val="150000"/>
              </a:lnSpc>
            </a:pPr>
            <a:r>
              <a:rPr lang="en-AU" sz="4400" b="1" dirty="0">
                <a:latin typeface="Arial"/>
                <a:ea typeface="Calibri"/>
                <a:cs typeface="Arial"/>
              </a:rPr>
              <a:t>Communicate</a:t>
            </a:r>
            <a:r>
              <a:rPr lang="en-AU" sz="4400" dirty="0">
                <a:latin typeface="Arial"/>
                <a:ea typeface="Calibri"/>
                <a:cs typeface="Arial"/>
              </a:rPr>
              <a:t> your </a:t>
            </a:r>
            <a:r>
              <a:rPr lang="en-AU" sz="4400" b="1" dirty="0">
                <a:latin typeface="Arial"/>
                <a:ea typeface="Calibri"/>
                <a:cs typeface="Arial"/>
              </a:rPr>
              <a:t>reasoning</a:t>
            </a:r>
            <a:r>
              <a:rPr lang="en-AU" sz="4400" dirty="0">
                <a:latin typeface="Arial"/>
                <a:ea typeface="Calibri"/>
                <a:cs typeface="Arial"/>
              </a:rPr>
              <a:t>.</a:t>
            </a:r>
            <a:r>
              <a:rPr lang="en-AU" sz="4400" dirty="0">
                <a:effectLst/>
                <a:latin typeface="Arial"/>
                <a:ea typeface="Calibri"/>
                <a:cs typeface="Arial"/>
              </a:rPr>
              <a:t> </a:t>
            </a:r>
            <a:endParaRPr lang="en-AU" sz="4400" dirty="0">
              <a:latin typeface="Arial"/>
              <a:ea typeface="Calibri"/>
              <a:cs typeface="Arial"/>
            </a:endParaRPr>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1C61344-8A98-4C8D-1189-C6ED6E371395}"/>
              </a:ext>
            </a:extLst>
          </p:cNvPr>
          <p:cNvSpPr txBox="1"/>
          <p:nvPr/>
        </p:nvSpPr>
        <p:spPr>
          <a:xfrm>
            <a:off x="938904" y="1527788"/>
            <a:ext cx="10545096" cy="3097162"/>
          </a:xfrm>
          <a:prstGeom prst="rect">
            <a:avLst/>
          </a:prstGeom>
          <a:noFill/>
        </p:spPr>
        <p:txBody>
          <a:bodyPr wrap="square" lIns="0" tIns="0" rIns="0" bIns="0" rtlCol="0">
            <a:noAutofit/>
          </a:bodyPr>
          <a:lstStyle/>
          <a:p>
            <a:pPr algn="ctr">
              <a:lnSpc>
                <a:spcPct val="150000"/>
              </a:lnSpc>
            </a:pPr>
            <a:r>
              <a:rPr lang="en-AU" sz="3600" dirty="0"/>
              <a:t>To solve </a:t>
            </a:r>
            <a:r>
              <a:rPr lang="en-AU" sz="3600" b="1" dirty="0"/>
              <a:t>19 + 34, </a:t>
            </a:r>
            <a:r>
              <a:rPr lang="en-AU" sz="3600" dirty="0"/>
              <a:t>Kenny </a:t>
            </a:r>
            <a:r>
              <a:rPr lang="en-AU" sz="3600" b="1" dirty="0"/>
              <a:t>changed</a:t>
            </a:r>
            <a:r>
              <a:rPr lang="en-AU" sz="3600" dirty="0"/>
              <a:t> the number sentence to </a:t>
            </a:r>
            <a:r>
              <a:rPr lang="en-AU" sz="3600" b="1" dirty="0"/>
              <a:t>20 + 33 </a:t>
            </a:r>
            <a:r>
              <a:rPr lang="en-AU" sz="3600" dirty="0"/>
              <a:t>to</a:t>
            </a:r>
            <a:r>
              <a:rPr lang="en-AU" sz="3600" b="1" dirty="0"/>
              <a:t> </a:t>
            </a:r>
            <a:r>
              <a:rPr lang="en-AU" sz="3600" dirty="0"/>
              <a:t>find the answer of </a:t>
            </a:r>
            <a:r>
              <a:rPr lang="en-AU" sz="3600" b="1" dirty="0"/>
              <a:t>53</a:t>
            </a:r>
            <a:r>
              <a:rPr lang="en-AU" sz="3600" dirty="0"/>
              <a:t>.</a:t>
            </a:r>
          </a:p>
          <a:p>
            <a:pPr algn="ctr">
              <a:lnSpc>
                <a:spcPct val="150000"/>
              </a:lnSpc>
            </a:pPr>
            <a:endParaRPr lang="en-AU" sz="3600" dirty="0"/>
          </a:p>
          <a:p>
            <a:pPr algn="ctr">
              <a:lnSpc>
                <a:spcPct val="150000"/>
              </a:lnSpc>
            </a:pPr>
            <a:r>
              <a:rPr lang="en-AU" sz="3600" b="1" dirty="0"/>
              <a:t>Record</a:t>
            </a:r>
            <a:r>
              <a:rPr lang="en-AU" sz="3600" dirty="0"/>
              <a:t> the name of the </a:t>
            </a:r>
            <a:r>
              <a:rPr lang="en-AU" sz="3600" b="1" dirty="0"/>
              <a:t>strategy </a:t>
            </a:r>
            <a:r>
              <a:rPr lang="en-AU" sz="3600" dirty="0"/>
              <a:t>he used and why it was an efficient strategy</a:t>
            </a:r>
            <a:r>
              <a:rPr lang="en-AU" sz="3600" b="1" dirty="0"/>
              <a:t>.</a:t>
            </a:r>
            <a:endParaRPr lang="en-AU" sz="3600" dirty="0"/>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7E9A3876-5665-FCE6-CEFF-FA6DBF1A2B09}"/>
              </a:ext>
            </a:extLst>
          </p:cNvPr>
          <p:cNvSpPr txBox="1"/>
          <p:nvPr/>
        </p:nvSpPr>
        <p:spPr>
          <a:xfrm>
            <a:off x="986825" y="1913126"/>
            <a:ext cx="10043651" cy="2020529"/>
          </a:xfrm>
          <a:prstGeom prst="rect">
            <a:avLst/>
          </a:prstGeom>
          <a:noFill/>
        </p:spPr>
        <p:txBody>
          <a:bodyPr wrap="square" lIns="0" tIns="0" rIns="0" bIns="0" rtlCol="0">
            <a:noAutofit/>
          </a:bodyPr>
          <a:lstStyle/>
          <a:p>
            <a:pPr algn="ctr">
              <a:lnSpc>
                <a:spcPct val="150000"/>
              </a:lnSpc>
            </a:pPr>
            <a:r>
              <a:rPr lang="en-AU" sz="4400" dirty="0"/>
              <a:t>Bobbi </a:t>
            </a:r>
            <a:r>
              <a:rPr lang="en-AU" sz="4400" b="1" dirty="0"/>
              <a:t>started</a:t>
            </a:r>
            <a:r>
              <a:rPr lang="en-AU" sz="4400" dirty="0"/>
              <a:t> getting ready for school at </a:t>
            </a:r>
            <a:r>
              <a:rPr lang="en-AU" sz="4400" b="1" dirty="0"/>
              <a:t>8 am </a:t>
            </a:r>
            <a:r>
              <a:rPr lang="en-AU" sz="4400" dirty="0"/>
              <a:t>and it took her </a:t>
            </a:r>
            <a:r>
              <a:rPr lang="en-AU" sz="4400" b="1" dirty="0"/>
              <a:t>30 minutes</a:t>
            </a:r>
            <a:r>
              <a:rPr lang="en-AU" sz="4400" dirty="0"/>
              <a:t>. Record the time she </a:t>
            </a:r>
            <a:r>
              <a:rPr lang="en-AU" sz="4400" b="1" dirty="0"/>
              <a:t>finished</a:t>
            </a:r>
            <a:r>
              <a:rPr lang="en-AU" sz="4400" dirty="0"/>
              <a:t>. </a:t>
            </a:r>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fractions on a number line</a:t>
            </a:r>
          </a:p>
        </p:txBody>
      </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pic>
        <p:nvPicPr>
          <p:cNvPr id="4" name="Picture 3" descr="image of a head with cogs turning inside">
            <a:extLst>
              <a:ext uri="{FF2B5EF4-FFF2-40B4-BE49-F238E27FC236}">
                <a16:creationId xmlns:a16="http://schemas.microsoft.com/office/drawing/2014/main" id="{A43A6869-C067-0F7B-A324-667A71E83728}"/>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3 girls - Greta, Scout and Olive with 3 adjoining number lines (street vista in the background) Each number line is marked 0-1 with a halfway marking.">
            <a:extLst>
              <a:ext uri="{FF2B5EF4-FFF2-40B4-BE49-F238E27FC236}">
                <a16:creationId xmlns:a16="http://schemas.microsoft.com/office/drawing/2014/main" id="{53AF01C1-4F84-9EE2-BF5B-92CC698EF46B}"/>
              </a:ext>
            </a:extLst>
          </p:cNvPr>
          <p:cNvPicPr>
            <a:picLocks noChangeAspect="1"/>
          </p:cNvPicPr>
          <p:nvPr/>
        </p:nvPicPr>
        <p:blipFill>
          <a:blip r:embed="rId4"/>
          <a:stretch>
            <a:fillRect/>
          </a:stretch>
        </p:blipFill>
        <p:spPr>
          <a:xfrm>
            <a:off x="2935605" y="1097258"/>
            <a:ext cx="6320790" cy="5384800"/>
          </a:xfrm>
          <a:prstGeom prst="rect">
            <a:avLst/>
          </a:prstGeom>
        </p:spPr>
      </p:pic>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052C7F21-CF1B-B8E5-D48F-252B3A5306C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a:xfrm>
            <a:off x="3520441" y="1228991"/>
            <a:ext cx="5151118" cy="893226"/>
          </a:xfrm>
        </p:spPr>
        <p:txBody>
          <a:bodyPr/>
          <a:lstStyle/>
          <a:p>
            <a:r>
              <a:rPr lang="en-US" sz="4400" dirty="0"/>
              <a:t>This </a:t>
            </a:r>
            <a:r>
              <a:rPr lang="en-US" sz="4400" b="1" dirty="0"/>
              <a:t>array</a:t>
            </a:r>
            <a:r>
              <a:rPr lang="en-US" sz="4400" dirty="0"/>
              <a:t> shows…</a:t>
            </a:r>
          </a:p>
        </p:txBody>
      </p:sp>
      <p:grpSp>
        <p:nvGrpSpPr>
          <p:cNvPr id="17" name="Group 16" descr="An array of blue circles showing 2 x 2.">
            <a:extLst>
              <a:ext uri="{FF2B5EF4-FFF2-40B4-BE49-F238E27FC236}">
                <a16:creationId xmlns:a16="http://schemas.microsoft.com/office/drawing/2014/main" id="{58DDA9DD-5558-BFF2-E1AD-0F341E497BC5}"/>
              </a:ext>
            </a:extLst>
          </p:cNvPr>
          <p:cNvGrpSpPr/>
          <p:nvPr/>
        </p:nvGrpSpPr>
        <p:grpSpPr>
          <a:xfrm>
            <a:off x="5165630" y="2503472"/>
            <a:ext cx="1860740" cy="1673500"/>
            <a:chOff x="4814109" y="2431052"/>
            <a:chExt cx="1860740" cy="1673500"/>
          </a:xfrm>
        </p:grpSpPr>
        <p:sp>
          <p:nvSpPr>
            <p:cNvPr id="5" name="Oval 4">
              <a:extLst>
                <a:ext uri="{FF2B5EF4-FFF2-40B4-BE49-F238E27FC236}">
                  <a16:creationId xmlns:a16="http://schemas.microsoft.com/office/drawing/2014/main" id="{065EE946-6403-4FEB-AEF8-CCB434FD1F6B}"/>
                </a:ext>
              </a:extLst>
            </p:cNvPr>
            <p:cNvSpPr/>
            <p:nvPr/>
          </p:nvSpPr>
          <p:spPr>
            <a:xfrm>
              <a:off x="4814109" y="3429000"/>
              <a:ext cx="704537" cy="67455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Oval 5">
              <a:extLst>
                <a:ext uri="{FF2B5EF4-FFF2-40B4-BE49-F238E27FC236}">
                  <a16:creationId xmlns:a16="http://schemas.microsoft.com/office/drawing/2014/main" id="{CB798355-3D9A-131A-EDB0-6A0AC1B7D82B}"/>
                </a:ext>
              </a:extLst>
            </p:cNvPr>
            <p:cNvSpPr/>
            <p:nvPr/>
          </p:nvSpPr>
          <p:spPr>
            <a:xfrm>
              <a:off x="4814110" y="2431052"/>
              <a:ext cx="704537" cy="67455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Oval 6">
              <a:extLst>
                <a:ext uri="{FF2B5EF4-FFF2-40B4-BE49-F238E27FC236}">
                  <a16:creationId xmlns:a16="http://schemas.microsoft.com/office/drawing/2014/main" id="{20B67826-5F6D-0A63-5DB1-062B96D162C9}"/>
                </a:ext>
              </a:extLst>
            </p:cNvPr>
            <p:cNvSpPr/>
            <p:nvPr/>
          </p:nvSpPr>
          <p:spPr>
            <a:xfrm>
              <a:off x="5970312" y="3429994"/>
              <a:ext cx="704537" cy="67455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val 7">
              <a:extLst>
                <a:ext uri="{FF2B5EF4-FFF2-40B4-BE49-F238E27FC236}">
                  <a16:creationId xmlns:a16="http://schemas.microsoft.com/office/drawing/2014/main" id="{5F1DD7E5-DDE7-F4D2-3B64-947197FF04B3}"/>
                </a:ext>
              </a:extLst>
            </p:cNvPr>
            <p:cNvSpPr/>
            <p:nvPr/>
          </p:nvSpPr>
          <p:spPr>
            <a:xfrm>
              <a:off x="5970312" y="2431052"/>
              <a:ext cx="704537" cy="67455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9" name="TextBox 8">
            <a:extLst>
              <a:ext uri="{FF2B5EF4-FFF2-40B4-BE49-F238E27FC236}">
                <a16:creationId xmlns:a16="http://schemas.microsoft.com/office/drawing/2014/main" id="{4E6EA9CC-6235-8807-420B-A4371AC418C0}"/>
              </a:ext>
            </a:extLst>
          </p:cNvPr>
          <p:cNvSpPr txBox="1"/>
          <p:nvPr/>
        </p:nvSpPr>
        <p:spPr>
          <a:xfrm>
            <a:off x="1347479" y="512709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3" name="TextBox 12">
            <a:extLst>
              <a:ext uri="{FF2B5EF4-FFF2-40B4-BE49-F238E27FC236}">
                <a16:creationId xmlns:a16="http://schemas.microsoft.com/office/drawing/2014/main" id="{755FBDB7-1801-EE61-0FD1-6D5F3F6B5D18}"/>
              </a:ext>
            </a:extLst>
          </p:cNvPr>
          <p:cNvSpPr txBox="1"/>
          <p:nvPr/>
        </p:nvSpPr>
        <p:spPr>
          <a:xfrm>
            <a:off x="541998" y="5774843"/>
            <a:ext cx="2234046" cy="545601"/>
          </a:xfrm>
          <a:prstGeom prst="rect">
            <a:avLst/>
          </a:prstGeom>
          <a:noFill/>
        </p:spPr>
        <p:txBody>
          <a:bodyPr wrap="square" lIns="0" tIns="0" rIns="0" bIns="0" rtlCol="0">
            <a:noAutofit/>
          </a:bodyPr>
          <a:lstStyle/>
          <a:p>
            <a:pPr algn="l"/>
            <a:r>
              <a:rPr lang="en-AU" sz="2800" dirty="0"/>
              <a:t>2 groups of 4</a:t>
            </a:r>
          </a:p>
        </p:txBody>
      </p:sp>
      <p:sp>
        <p:nvSpPr>
          <p:cNvPr id="10" name="TextBox 9">
            <a:extLst>
              <a:ext uri="{FF2B5EF4-FFF2-40B4-BE49-F238E27FC236}">
                <a16:creationId xmlns:a16="http://schemas.microsoft.com/office/drawing/2014/main" id="{4AB24A3E-5574-D79C-6A0F-06D3F8A29BB1}"/>
              </a:ext>
            </a:extLst>
          </p:cNvPr>
          <p:cNvSpPr txBox="1"/>
          <p:nvPr/>
        </p:nvSpPr>
        <p:spPr>
          <a:xfrm>
            <a:off x="4351452" y="512709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4" name="TextBox 13">
            <a:extLst>
              <a:ext uri="{FF2B5EF4-FFF2-40B4-BE49-F238E27FC236}">
                <a16:creationId xmlns:a16="http://schemas.microsoft.com/office/drawing/2014/main" id="{A94DBC2C-AAF8-82A4-2D24-B71226617BAF}"/>
              </a:ext>
            </a:extLst>
          </p:cNvPr>
          <p:cNvSpPr txBox="1"/>
          <p:nvPr/>
        </p:nvSpPr>
        <p:spPr>
          <a:xfrm>
            <a:off x="3748328" y="5774843"/>
            <a:ext cx="2234046" cy="545601"/>
          </a:xfrm>
          <a:prstGeom prst="rect">
            <a:avLst/>
          </a:prstGeom>
          <a:noFill/>
        </p:spPr>
        <p:txBody>
          <a:bodyPr wrap="square" lIns="0" tIns="0" rIns="0" bIns="0" rtlCol="0">
            <a:noAutofit/>
          </a:bodyPr>
          <a:lstStyle/>
          <a:p>
            <a:pPr algn="l"/>
            <a:r>
              <a:rPr lang="en-AU" sz="2800"/>
              <a:t>2 twos are 4</a:t>
            </a:r>
          </a:p>
        </p:txBody>
      </p:sp>
      <p:sp>
        <p:nvSpPr>
          <p:cNvPr id="12" name="TextBox 11">
            <a:extLst>
              <a:ext uri="{FF2B5EF4-FFF2-40B4-BE49-F238E27FC236}">
                <a16:creationId xmlns:a16="http://schemas.microsoft.com/office/drawing/2014/main" id="{D92289C6-858E-E449-16B6-10640E9A4385}"/>
              </a:ext>
            </a:extLst>
          </p:cNvPr>
          <p:cNvSpPr txBox="1"/>
          <p:nvPr/>
        </p:nvSpPr>
        <p:spPr>
          <a:xfrm>
            <a:off x="7355425" y="512709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5" name="TextBox 14">
            <a:extLst>
              <a:ext uri="{FF2B5EF4-FFF2-40B4-BE49-F238E27FC236}">
                <a16:creationId xmlns:a16="http://schemas.microsoft.com/office/drawing/2014/main" id="{24451211-F16B-F0C4-679D-78DD4FB35D24}"/>
              </a:ext>
            </a:extLst>
          </p:cNvPr>
          <p:cNvSpPr txBox="1"/>
          <p:nvPr/>
        </p:nvSpPr>
        <p:spPr>
          <a:xfrm>
            <a:off x="6686911" y="5774843"/>
            <a:ext cx="2234046" cy="545601"/>
          </a:xfrm>
          <a:prstGeom prst="rect">
            <a:avLst/>
          </a:prstGeom>
          <a:noFill/>
        </p:spPr>
        <p:txBody>
          <a:bodyPr wrap="square" lIns="0" tIns="0" rIns="0" bIns="0" rtlCol="0">
            <a:noAutofit/>
          </a:bodyPr>
          <a:lstStyle/>
          <a:p>
            <a:pPr algn="l"/>
            <a:r>
              <a:rPr lang="en-AU" sz="2800"/>
              <a:t>4 groups of 2</a:t>
            </a:r>
          </a:p>
        </p:txBody>
      </p:sp>
      <p:sp>
        <p:nvSpPr>
          <p:cNvPr id="11" name="TextBox 10">
            <a:extLst>
              <a:ext uri="{FF2B5EF4-FFF2-40B4-BE49-F238E27FC236}">
                <a16:creationId xmlns:a16="http://schemas.microsoft.com/office/drawing/2014/main" id="{C22AC239-77AC-A298-F7CD-0F89091EC017}"/>
              </a:ext>
            </a:extLst>
          </p:cNvPr>
          <p:cNvSpPr txBox="1"/>
          <p:nvPr/>
        </p:nvSpPr>
        <p:spPr>
          <a:xfrm>
            <a:off x="10359399" y="512709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6" name="TextBox 15">
            <a:extLst>
              <a:ext uri="{FF2B5EF4-FFF2-40B4-BE49-F238E27FC236}">
                <a16:creationId xmlns:a16="http://schemas.microsoft.com/office/drawing/2014/main" id="{818ABB10-F991-E3C5-4175-74AE682E3E99}"/>
              </a:ext>
            </a:extLst>
          </p:cNvPr>
          <p:cNvSpPr txBox="1"/>
          <p:nvPr/>
        </p:nvSpPr>
        <p:spPr>
          <a:xfrm>
            <a:off x="9652154" y="5774843"/>
            <a:ext cx="2234046" cy="545601"/>
          </a:xfrm>
          <a:prstGeom prst="rect">
            <a:avLst/>
          </a:prstGeom>
          <a:noFill/>
        </p:spPr>
        <p:txBody>
          <a:bodyPr wrap="square" lIns="0" tIns="0" rIns="0" bIns="0" rtlCol="0">
            <a:noAutofit/>
          </a:bodyPr>
          <a:lstStyle/>
          <a:p>
            <a:pPr algn="l"/>
            <a:r>
              <a:rPr lang="en-AU" sz="2800"/>
              <a:t>4 twos are 4</a:t>
            </a:r>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pic>
        <p:nvPicPr>
          <p:cNvPr id="3" name="Picture 2" descr="image of a clipboard with a pencil recording short answer responses">
            <a:extLst>
              <a:ext uri="{FF2B5EF4-FFF2-40B4-BE49-F238E27FC236}">
                <a16:creationId xmlns:a16="http://schemas.microsoft.com/office/drawing/2014/main" id="{2D93CD05-EEB0-3C8B-380D-9FC3C1D1498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C60F4928-1E76-77E2-2FE1-39C7621E19F1}"/>
              </a:ext>
            </a:extLst>
          </p:cNvPr>
          <p:cNvSpPr txBox="1"/>
          <p:nvPr/>
        </p:nvSpPr>
        <p:spPr>
          <a:xfrm>
            <a:off x="588857" y="1361209"/>
            <a:ext cx="10688676" cy="1153391"/>
          </a:xfrm>
          <a:prstGeom prst="rect">
            <a:avLst/>
          </a:prstGeom>
          <a:noFill/>
        </p:spPr>
        <p:txBody>
          <a:bodyPr wrap="square" lIns="0" tIns="0" rIns="0" bIns="0" rtlCol="0">
            <a:noAutofit/>
          </a:bodyPr>
          <a:lstStyle/>
          <a:p>
            <a:pPr algn="ctr">
              <a:lnSpc>
                <a:spcPct val="150000"/>
              </a:lnSpc>
            </a:pPr>
            <a:r>
              <a:rPr lang="en-AU" sz="4000" b="1" dirty="0"/>
              <a:t>Record </a:t>
            </a:r>
            <a:r>
              <a:rPr lang="en-AU" sz="4000" dirty="0"/>
              <a:t>the</a:t>
            </a:r>
            <a:r>
              <a:rPr lang="en-AU" sz="4000" b="1" dirty="0"/>
              <a:t> fractions missing </a:t>
            </a:r>
            <a:r>
              <a:rPr lang="en-AU" sz="4000" dirty="0"/>
              <a:t>from the marked points on this </a:t>
            </a:r>
            <a:r>
              <a:rPr lang="en-AU" sz="4000" b="1" dirty="0"/>
              <a:t>number line</a:t>
            </a:r>
            <a:r>
              <a:rPr lang="en-AU" sz="4000" dirty="0"/>
              <a:t>.</a:t>
            </a:r>
          </a:p>
        </p:txBody>
      </p:sp>
      <p:pic>
        <p:nvPicPr>
          <p:cNvPr id="4" name="Picture 3" descr="A number line from 0 to 1 with marks at the points of one third and two thirds.">
            <a:extLst>
              <a:ext uri="{FF2B5EF4-FFF2-40B4-BE49-F238E27FC236}">
                <a16:creationId xmlns:a16="http://schemas.microsoft.com/office/drawing/2014/main" id="{DD18ED9E-AC95-A837-B79B-51B23E094D72}"/>
              </a:ext>
            </a:extLst>
          </p:cNvPr>
          <p:cNvPicPr>
            <a:picLocks noChangeAspect="1"/>
          </p:cNvPicPr>
          <p:nvPr/>
        </p:nvPicPr>
        <p:blipFill>
          <a:blip r:embed="rId4"/>
          <a:srcRect l="2864" t="72880" r="47906"/>
          <a:stretch>
            <a:fillRect/>
          </a:stretch>
        </p:blipFill>
        <p:spPr>
          <a:xfrm>
            <a:off x="2959212" y="3429000"/>
            <a:ext cx="6860167" cy="2495606"/>
          </a:xfrm>
          <a:prstGeom prst="rect">
            <a:avLst/>
          </a:prstGeom>
        </p:spPr>
      </p:pic>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B8011607-DF15-E5EC-3358-D8235CD4CE5B}"/>
              </a:ext>
            </a:extLst>
          </p:cNvPr>
          <p:cNvSpPr txBox="1"/>
          <p:nvPr/>
        </p:nvSpPr>
        <p:spPr>
          <a:xfrm>
            <a:off x="2033337" y="2610853"/>
            <a:ext cx="8422105" cy="2767263"/>
          </a:xfrm>
          <a:prstGeom prst="rect">
            <a:avLst/>
          </a:prstGeom>
          <a:noFill/>
        </p:spPr>
        <p:txBody>
          <a:bodyPr wrap="square" lIns="0" tIns="0" rIns="0" bIns="0" rtlCol="0">
            <a:noAutofit/>
          </a:bodyPr>
          <a:lstStyle/>
          <a:p>
            <a:pPr algn="ctr"/>
            <a:r>
              <a:rPr lang="en-AU" sz="4400"/>
              <a:t>The term </a:t>
            </a:r>
            <a:r>
              <a:rPr lang="en-AU" sz="4400" b="1"/>
              <a:t>perimeter</a:t>
            </a:r>
            <a:r>
              <a:rPr lang="en-AU" sz="4400"/>
              <a:t> means…</a:t>
            </a:r>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dirty="0"/>
          </a:p>
        </p:txBody>
      </p:sp>
      <p:pic>
        <p:nvPicPr>
          <p:cNvPr id="3" name="Picture 2" descr="image of a clipboard with a pencil recording short answer responses">
            <a:extLst>
              <a:ext uri="{FF2B5EF4-FFF2-40B4-BE49-F238E27FC236}">
                <a16:creationId xmlns:a16="http://schemas.microsoft.com/office/drawing/2014/main" id="{B38D0ADF-3DD6-732F-15F0-9E23C65094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11A07949-1CA6-6C68-9769-1861164D95C5}"/>
              </a:ext>
            </a:extLst>
          </p:cNvPr>
          <p:cNvSpPr txBox="1"/>
          <p:nvPr/>
        </p:nvSpPr>
        <p:spPr>
          <a:xfrm>
            <a:off x="1032387" y="1902542"/>
            <a:ext cx="9851923" cy="3598606"/>
          </a:xfrm>
          <a:prstGeom prst="rect">
            <a:avLst/>
          </a:prstGeom>
          <a:noFill/>
        </p:spPr>
        <p:txBody>
          <a:bodyPr wrap="square" lIns="0" tIns="0" rIns="0" bIns="0" rtlCol="0">
            <a:noAutofit/>
          </a:bodyPr>
          <a:lstStyle/>
          <a:p>
            <a:pPr algn="ctr"/>
            <a:r>
              <a:rPr lang="en-AU" sz="4400" dirty="0"/>
              <a:t>Use the </a:t>
            </a:r>
            <a:r>
              <a:rPr lang="en-AU" sz="4400" b="1" dirty="0"/>
              <a:t>levelling strategy </a:t>
            </a:r>
            <a:r>
              <a:rPr lang="en-AU" sz="4400" dirty="0"/>
              <a:t>to solve</a:t>
            </a:r>
          </a:p>
          <a:p>
            <a:pPr algn="ctr"/>
            <a:endParaRPr lang="en-AU" sz="4400" dirty="0"/>
          </a:p>
          <a:p>
            <a:pPr algn="ctr"/>
            <a:r>
              <a:rPr lang="en-AU" sz="6000" b="1" dirty="0"/>
              <a:t>22 + 36</a:t>
            </a:r>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(20)</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dirty="0"/>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8BD97B4B-E980-5D7F-4B2B-35FD57408618}"/>
              </a:ext>
            </a:extLst>
          </p:cNvPr>
          <p:cNvSpPr txBox="1"/>
          <p:nvPr/>
        </p:nvSpPr>
        <p:spPr>
          <a:xfrm>
            <a:off x="1342103" y="1184223"/>
            <a:ext cx="9217742" cy="1968910"/>
          </a:xfrm>
          <a:prstGeom prst="rect">
            <a:avLst/>
          </a:prstGeom>
          <a:noFill/>
        </p:spPr>
        <p:txBody>
          <a:bodyPr wrap="square" lIns="0" tIns="0" rIns="0" bIns="0" rtlCol="0">
            <a:noAutofit/>
          </a:bodyPr>
          <a:lstStyle/>
          <a:p>
            <a:pPr algn="ctr">
              <a:lnSpc>
                <a:spcPct val="150000"/>
              </a:lnSpc>
            </a:pPr>
            <a:r>
              <a:rPr lang="en-AU" sz="4400" b="1" dirty="0"/>
              <a:t>Read</a:t>
            </a:r>
            <a:r>
              <a:rPr lang="en-AU" sz="4400" dirty="0"/>
              <a:t> and </a:t>
            </a:r>
            <a:r>
              <a:rPr lang="en-AU" sz="4400" b="1" dirty="0"/>
              <a:t>record</a:t>
            </a:r>
            <a:r>
              <a:rPr lang="en-AU" sz="4400" dirty="0"/>
              <a:t> the </a:t>
            </a:r>
            <a:r>
              <a:rPr lang="en-AU" sz="4400" b="1" dirty="0"/>
              <a:t>time</a:t>
            </a:r>
            <a:r>
              <a:rPr lang="en-AU" sz="4400" dirty="0"/>
              <a:t> shown on the clock.</a:t>
            </a:r>
            <a:endParaRPr lang="en-AU" sz="1800" dirty="0"/>
          </a:p>
        </p:txBody>
      </p:sp>
      <p:pic>
        <p:nvPicPr>
          <p:cNvPr id="5" name="Picture 4" descr="A clock face showing the time of one-thirty.">
            <a:extLst>
              <a:ext uri="{FF2B5EF4-FFF2-40B4-BE49-F238E27FC236}">
                <a16:creationId xmlns:a16="http://schemas.microsoft.com/office/drawing/2014/main" id="{98629CCF-2F92-6FD1-A316-08C02A7143A8}"/>
              </a:ext>
            </a:extLst>
          </p:cNvPr>
          <p:cNvPicPr>
            <a:picLocks noChangeAspect="1"/>
          </p:cNvPicPr>
          <p:nvPr/>
        </p:nvPicPr>
        <p:blipFill>
          <a:blip r:embed="rId4"/>
          <a:srcRect l="50000" t="23441" r="10672" b="29032"/>
          <a:stretch>
            <a:fillRect/>
          </a:stretch>
        </p:blipFill>
        <p:spPr>
          <a:xfrm>
            <a:off x="4144297" y="3167790"/>
            <a:ext cx="4129548" cy="3528210"/>
          </a:xfrm>
          <a:prstGeom prst="rect">
            <a:avLst/>
          </a:prstGeom>
        </p:spPr>
      </p:pic>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itle 2">
            <a:extLst>
              <a:ext uri="{FF2B5EF4-FFF2-40B4-BE49-F238E27FC236}">
                <a16:creationId xmlns:a16="http://schemas.microsoft.com/office/drawing/2014/main" id="{92336D90-542B-DF27-2F72-25932B1AABE4}"/>
              </a:ext>
            </a:extLst>
          </p:cNvPr>
          <p:cNvSpPr txBox="1">
            <a:spLocks noGrp="1"/>
          </p:cNvSpPr>
          <p:nvPr>
            <p:ph type="title" idx="4294967295"/>
          </p:nvPr>
        </p:nvSpPr>
        <p:spPr>
          <a:xfrm>
            <a:off x="354000" y="439858"/>
            <a:ext cx="11484000" cy="54560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77" rtl="0" eaLnBrk="1" fontAlgn="auto" latinLnBrk="0" hangingPunct="1">
              <a:lnSpc>
                <a:spcPct val="90000"/>
              </a:lnSpc>
              <a:spcBef>
                <a:spcPct val="0"/>
              </a:spcBef>
              <a:spcAft>
                <a:spcPts val="0"/>
              </a:spcAft>
              <a:buClrTx/>
              <a:buSzTx/>
              <a:buFontTx/>
              <a:buNone/>
              <a:tabLst/>
              <a:defRPr/>
            </a:pPr>
            <a:r>
              <a:rPr kumimoji="0" lang="en-AU" sz="3600" b="0" i="0" u="none" strike="noStrike" kern="1200" cap="none" spc="0" normalizeH="0" baseline="0" noProof="0">
                <a:ln>
                  <a:noFill/>
                </a:ln>
                <a:solidFill>
                  <a:schemeClr val="accent1"/>
                </a:solidFill>
                <a:effectLst/>
                <a:uLnTx/>
                <a:uFillTx/>
                <a:latin typeface="Arial"/>
                <a:ea typeface="+mj-ea"/>
                <a:cs typeface="Arial"/>
              </a:rPr>
              <a:t>Activity 5 – arrays for multiples of 2 and 4</a:t>
            </a:r>
            <a:endParaRPr kumimoji="0" lang="en-US" sz="3600" b="0" i="0" u="none" strike="noStrike" kern="1200" cap="none" spc="0" normalizeH="0" baseline="0" noProof="0">
              <a:ln>
                <a:noFill/>
              </a:ln>
              <a:solidFill>
                <a:schemeClr val="accent1"/>
              </a:solidFill>
              <a:effectLst/>
              <a:uLnTx/>
              <a:uFillTx/>
              <a:latin typeface="Arial"/>
              <a:ea typeface="+mj-ea"/>
              <a:cs typeface="Arial"/>
            </a:endParaRPr>
          </a:p>
        </p:txBody>
      </p:sp>
      <p:grpSp>
        <p:nvGrpSpPr>
          <p:cNvPr id="2" name="Group 1" descr="Array A showing 1 x2 with an array pointing to array B showing 2 x 2.">
            <a:extLst>
              <a:ext uri="{FF2B5EF4-FFF2-40B4-BE49-F238E27FC236}">
                <a16:creationId xmlns:a16="http://schemas.microsoft.com/office/drawing/2014/main" id="{E4528C95-6EF6-4A74-8AEC-EFA1035F2B64}"/>
              </a:ext>
            </a:extLst>
          </p:cNvPr>
          <p:cNvGrpSpPr/>
          <p:nvPr/>
        </p:nvGrpSpPr>
        <p:grpSpPr>
          <a:xfrm>
            <a:off x="3396922" y="2157108"/>
            <a:ext cx="5398155" cy="2543783"/>
            <a:chOff x="3356968" y="1012371"/>
            <a:chExt cx="5398155" cy="2543783"/>
          </a:xfrm>
        </p:grpSpPr>
        <p:sp>
          <p:nvSpPr>
            <p:cNvPr id="97" name="Oval 96" descr="counters in arrays">
              <a:extLst>
                <a:ext uri="{FF2B5EF4-FFF2-40B4-BE49-F238E27FC236}">
                  <a16:creationId xmlns:a16="http://schemas.microsoft.com/office/drawing/2014/main" id="{2CD0F930-C3FC-E7A5-752D-0C97A6B39146}"/>
                </a:ext>
              </a:extLst>
            </p:cNvPr>
            <p:cNvSpPr/>
            <p:nvPr/>
          </p:nvSpPr>
          <p:spPr>
            <a:xfrm>
              <a:off x="3356968" y="1543223"/>
              <a:ext cx="924127" cy="8917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descr="counters in arrays">
              <a:extLst>
                <a:ext uri="{FF2B5EF4-FFF2-40B4-BE49-F238E27FC236}">
                  <a16:creationId xmlns:a16="http://schemas.microsoft.com/office/drawing/2014/main" id="{F134DFAD-CBEA-9D50-F811-3623F575A115}"/>
                </a:ext>
              </a:extLst>
            </p:cNvPr>
            <p:cNvSpPr/>
            <p:nvPr/>
          </p:nvSpPr>
          <p:spPr>
            <a:xfrm>
              <a:off x="3356968" y="2653566"/>
              <a:ext cx="924127" cy="8917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descr="counters in arrays">
              <a:extLst>
                <a:ext uri="{FF2B5EF4-FFF2-40B4-BE49-F238E27FC236}">
                  <a16:creationId xmlns:a16="http://schemas.microsoft.com/office/drawing/2014/main" id="{09AFA274-7AE9-3509-D46C-9B77BC23CEA5}"/>
                </a:ext>
              </a:extLst>
            </p:cNvPr>
            <p:cNvSpPr/>
            <p:nvPr/>
          </p:nvSpPr>
          <p:spPr>
            <a:xfrm>
              <a:off x="6622682" y="1554109"/>
              <a:ext cx="924127" cy="8917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0" name="Oval 99" descr="counters in arrays">
              <a:extLst>
                <a:ext uri="{FF2B5EF4-FFF2-40B4-BE49-F238E27FC236}">
                  <a16:creationId xmlns:a16="http://schemas.microsoft.com/office/drawing/2014/main" id="{01FEFFBB-7780-8D55-F71F-3D26DC6BC2A6}"/>
                </a:ext>
              </a:extLst>
            </p:cNvPr>
            <p:cNvSpPr/>
            <p:nvPr/>
          </p:nvSpPr>
          <p:spPr>
            <a:xfrm>
              <a:off x="6622682" y="2664452"/>
              <a:ext cx="924127" cy="8917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descr="counters in arrays">
              <a:extLst>
                <a:ext uri="{FF2B5EF4-FFF2-40B4-BE49-F238E27FC236}">
                  <a16:creationId xmlns:a16="http://schemas.microsoft.com/office/drawing/2014/main" id="{BB09036F-BB5C-508D-866C-21197F12D429}"/>
                </a:ext>
              </a:extLst>
            </p:cNvPr>
            <p:cNvSpPr/>
            <p:nvPr/>
          </p:nvSpPr>
          <p:spPr>
            <a:xfrm>
              <a:off x="7830996" y="1554109"/>
              <a:ext cx="924127" cy="8917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descr="counters in arrays">
              <a:extLst>
                <a:ext uri="{FF2B5EF4-FFF2-40B4-BE49-F238E27FC236}">
                  <a16:creationId xmlns:a16="http://schemas.microsoft.com/office/drawing/2014/main" id="{A1C0FB09-663D-93DE-8A40-2F5A8DEB62AC}"/>
                </a:ext>
              </a:extLst>
            </p:cNvPr>
            <p:cNvSpPr/>
            <p:nvPr/>
          </p:nvSpPr>
          <p:spPr>
            <a:xfrm>
              <a:off x="7830996" y="2664452"/>
              <a:ext cx="924127" cy="89170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Arrow: Right 102" descr="counters in arrays">
              <a:extLst>
                <a:ext uri="{FF2B5EF4-FFF2-40B4-BE49-F238E27FC236}">
                  <a16:creationId xmlns:a16="http://schemas.microsoft.com/office/drawing/2014/main" id="{6CB75996-B953-A18E-D5E0-B3EC4978D835}"/>
                </a:ext>
              </a:extLst>
            </p:cNvPr>
            <p:cNvSpPr/>
            <p:nvPr/>
          </p:nvSpPr>
          <p:spPr>
            <a:xfrm>
              <a:off x="4690584" y="2441179"/>
              <a:ext cx="1410510" cy="1783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TextBox 103" descr="counters in arrays">
              <a:extLst>
                <a:ext uri="{FF2B5EF4-FFF2-40B4-BE49-F238E27FC236}">
                  <a16:creationId xmlns:a16="http://schemas.microsoft.com/office/drawing/2014/main" id="{8DFD2F6A-0A1F-A2B4-2D72-5E2598348C48}"/>
                </a:ext>
              </a:extLst>
            </p:cNvPr>
            <p:cNvSpPr txBox="1"/>
            <p:nvPr/>
          </p:nvSpPr>
          <p:spPr>
            <a:xfrm>
              <a:off x="3722915" y="1012371"/>
              <a:ext cx="457200" cy="36933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b="1">
                  <a:solidFill>
                    <a:schemeClr val="tx2"/>
                  </a:solidFill>
                  <a:latin typeface="Public Sans"/>
                </a:rPr>
                <a:t>A</a:t>
              </a:r>
              <a:endParaRPr lang="en-US" b="1">
                <a:solidFill>
                  <a:schemeClr val="tx2"/>
                </a:solidFill>
              </a:endParaRPr>
            </a:p>
          </p:txBody>
        </p:sp>
        <p:sp>
          <p:nvSpPr>
            <p:cNvPr id="105" name="TextBox 104" descr="counters in arrays">
              <a:extLst>
                <a:ext uri="{FF2B5EF4-FFF2-40B4-BE49-F238E27FC236}">
                  <a16:creationId xmlns:a16="http://schemas.microsoft.com/office/drawing/2014/main" id="{6D7B2367-6CFD-B274-86EE-32E771113140}"/>
                </a:ext>
              </a:extLst>
            </p:cNvPr>
            <p:cNvSpPr txBox="1"/>
            <p:nvPr/>
          </p:nvSpPr>
          <p:spPr>
            <a:xfrm>
              <a:off x="7598229" y="1012371"/>
              <a:ext cx="457200" cy="36933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b="1">
                  <a:solidFill>
                    <a:schemeClr val="tx2"/>
                  </a:solidFill>
                  <a:latin typeface="Public Sans"/>
                </a:rPr>
                <a:t>B</a:t>
              </a:r>
              <a:endParaRPr lang="en-US" b="1">
                <a:solidFill>
                  <a:schemeClr val="tx2"/>
                </a:solidFill>
              </a:endParaRPr>
            </a:p>
          </p:txBody>
        </p:sp>
      </p:grpSp>
      <p:pic>
        <p:nvPicPr>
          <p:cNvPr id="3" name="Picture 2" descr="image of a head with cogs turning inside">
            <a:extLst>
              <a:ext uri="{FF2B5EF4-FFF2-40B4-BE49-F238E27FC236}">
                <a16:creationId xmlns:a16="http://schemas.microsoft.com/office/drawing/2014/main" id="{64ACB6AE-484B-AB53-1455-242491899C47}"/>
              </a:ext>
            </a:extLst>
          </p:cNvPr>
          <p:cNvPicPr>
            <a:picLocks noChangeAspect="1"/>
          </p:cNvPicPr>
          <p:nvPr/>
        </p:nvPicPr>
        <p:blipFill>
          <a:blip r:embed="rId3"/>
          <a:stretch>
            <a:fillRect/>
          </a:stretch>
        </p:blipFill>
        <p:spPr>
          <a:xfrm>
            <a:off x="11107003" y="240894"/>
            <a:ext cx="720000" cy="856364"/>
          </a:xfrm>
          <a:prstGeom prst="rect">
            <a:avLst/>
          </a:prstGeom>
        </p:spPr>
      </p:pic>
      <p:sp>
        <p:nvSpPr>
          <p:cNvPr id="4" name="Slide Number Placeholder 1">
            <a:extLst>
              <a:ext uri="{FF2B5EF4-FFF2-40B4-BE49-F238E27FC236}">
                <a16:creationId xmlns:a16="http://schemas.microsoft.com/office/drawing/2014/main" id="{AEDA6C96-F4D5-8A99-F955-B0FF92BD282D}"/>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t>38</a:t>
            </a:fld>
            <a:endParaRPr lang="en-AU" dirty="0"/>
          </a:p>
        </p:txBody>
      </p:sp>
    </p:spTree>
    <p:extLst>
      <p:ext uri="{BB962C8B-B14F-4D97-AF65-F5344CB8AC3E}">
        <p14:creationId xmlns:p14="http://schemas.microsoft.com/office/powerpoint/2010/main" val="403656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cmd cmd="playFrom(0.0)">
              <p:cBhvr>
                <p:cTn id="2"/>
                <p:tgtEl>
                  <p:sldTgt/>
                </p:tgtEl>
              </p:cBhvr>
            </p:cmd>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p:txBody>
          <a:bodyPr/>
          <a:lstStyle/>
          <a:p>
            <a:pPr algn="ctr"/>
            <a:r>
              <a:rPr lang="en-AU" sz="4400" b="1" dirty="0"/>
              <a:t>Double</a:t>
            </a:r>
            <a:r>
              <a:rPr lang="en-AU" sz="4400" dirty="0"/>
              <a:t> 5 is 10 so </a:t>
            </a:r>
          </a:p>
          <a:p>
            <a:pPr algn="ctr"/>
            <a:r>
              <a:rPr lang="en-AU" sz="4400" b="1" dirty="0"/>
              <a:t>half</a:t>
            </a:r>
            <a:r>
              <a:rPr lang="en-AU" sz="4400" dirty="0"/>
              <a:t> of 10 must be 5.</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6BB734F9-3328-3AD8-E188-31168EA09FA9}"/>
              </a:ext>
            </a:extLst>
          </p:cNvPr>
          <p:cNvSpPr txBox="1"/>
          <p:nvPr/>
        </p:nvSpPr>
        <p:spPr>
          <a:xfrm>
            <a:off x="1265129" y="1979748"/>
            <a:ext cx="9765347" cy="1870363"/>
          </a:xfrm>
          <a:prstGeom prst="rect">
            <a:avLst/>
          </a:prstGeom>
          <a:noFill/>
        </p:spPr>
        <p:txBody>
          <a:bodyPr wrap="square" lIns="0" tIns="0" rIns="0" bIns="0" rtlCol="0">
            <a:noAutofit/>
          </a:bodyPr>
          <a:lstStyle/>
          <a:p>
            <a:pPr algn="ctr">
              <a:lnSpc>
                <a:spcPct val="150000"/>
              </a:lnSpc>
            </a:pPr>
            <a:r>
              <a:rPr lang="en-AU" sz="4400" b="1" dirty="0"/>
              <a:t>Explain</a:t>
            </a:r>
            <a:r>
              <a:rPr lang="en-AU" sz="4400" dirty="0"/>
              <a:t> why </a:t>
            </a:r>
            <a:r>
              <a:rPr lang="en-AU" sz="4400" b="1" dirty="0"/>
              <a:t>one-quarter</a:t>
            </a:r>
            <a:r>
              <a:rPr lang="en-AU" sz="4400" dirty="0"/>
              <a:t> of a ruler would be </a:t>
            </a:r>
            <a:r>
              <a:rPr lang="en-AU" sz="4400" b="1" dirty="0"/>
              <a:t>larger</a:t>
            </a:r>
            <a:r>
              <a:rPr lang="en-AU" sz="4400" dirty="0"/>
              <a:t> than </a:t>
            </a:r>
            <a:r>
              <a:rPr lang="en-AU" sz="4400" b="1" dirty="0"/>
              <a:t>one-quarter</a:t>
            </a:r>
            <a:r>
              <a:rPr lang="en-AU" sz="4400" dirty="0"/>
              <a:t> of a pencil.</a:t>
            </a:r>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5FB17F4F-82EC-225A-2552-1B43DFD62D02}"/>
              </a:ext>
            </a:extLst>
          </p:cNvPr>
          <p:cNvSpPr txBox="1"/>
          <p:nvPr/>
        </p:nvSpPr>
        <p:spPr>
          <a:xfrm>
            <a:off x="529389" y="1347537"/>
            <a:ext cx="10800406" cy="1263316"/>
          </a:xfrm>
          <a:prstGeom prst="rect">
            <a:avLst/>
          </a:prstGeom>
          <a:noFill/>
        </p:spPr>
        <p:txBody>
          <a:bodyPr wrap="square" lIns="0" tIns="0" rIns="0" bIns="0" rtlCol="0">
            <a:noAutofit/>
          </a:bodyPr>
          <a:lstStyle/>
          <a:p>
            <a:pPr algn="ctr"/>
            <a:r>
              <a:rPr lang="en-AU" sz="4000" b="1"/>
              <a:t>Calculate</a:t>
            </a:r>
            <a:r>
              <a:rPr lang="en-AU" sz="4000"/>
              <a:t> the </a:t>
            </a:r>
            <a:r>
              <a:rPr lang="en-AU" sz="4000" b="1"/>
              <a:t>perimeter</a:t>
            </a:r>
            <a:r>
              <a:rPr lang="en-AU" sz="4000"/>
              <a:t> of this </a:t>
            </a:r>
            <a:r>
              <a:rPr lang="en-AU" sz="4000" b="1"/>
              <a:t>quadrilateral</a:t>
            </a:r>
            <a:r>
              <a:rPr lang="en-AU" sz="4000"/>
              <a:t>.</a:t>
            </a:r>
          </a:p>
        </p:txBody>
      </p:sp>
      <p:sp>
        <p:nvSpPr>
          <p:cNvPr id="4" name="Rectangle 3" descr="A rectangle. The long sides are labelled as 15 cm and the short sides are labelled 5 cm.">
            <a:extLst>
              <a:ext uri="{FF2B5EF4-FFF2-40B4-BE49-F238E27FC236}">
                <a16:creationId xmlns:a16="http://schemas.microsoft.com/office/drawing/2014/main" id="{E6084630-C930-B323-09DF-882CB5F3B717}"/>
              </a:ext>
            </a:extLst>
          </p:cNvPr>
          <p:cNvSpPr/>
          <p:nvPr/>
        </p:nvSpPr>
        <p:spPr>
          <a:xfrm>
            <a:off x="2548177" y="3427209"/>
            <a:ext cx="6388768" cy="22017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7" name="TextBox 6">
            <a:extLst>
              <a:ext uri="{FF2B5EF4-FFF2-40B4-BE49-F238E27FC236}">
                <a16:creationId xmlns:a16="http://schemas.microsoft.com/office/drawing/2014/main" id="{0BF16989-3FD6-CA44-0FD0-60DD8CDA3420}"/>
              </a:ext>
            </a:extLst>
          </p:cNvPr>
          <p:cNvSpPr txBox="1"/>
          <p:nvPr/>
        </p:nvSpPr>
        <p:spPr>
          <a:xfrm>
            <a:off x="1688461" y="4246381"/>
            <a:ext cx="1046747" cy="842210"/>
          </a:xfrm>
          <a:prstGeom prst="rect">
            <a:avLst/>
          </a:prstGeom>
          <a:noFill/>
        </p:spPr>
        <p:txBody>
          <a:bodyPr wrap="square" lIns="0" tIns="0" rIns="0" bIns="0" rtlCol="0">
            <a:noAutofit/>
          </a:bodyPr>
          <a:lstStyle/>
          <a:p>
            <a:pPr algn="l"/>
            <a:r>
              <a:rPr lang="en-AU" sz="2800" dirty="0"/>
              <a:t>5 cm</a:t>
            </a:r>
          </a:p>
        </p:txBody>
      </p:sp>
      <p:sp>
        <p:nvSpPr>
          <p:cNvPr id="9" name="TextBox 8">
            <a:extLst>
              <a:ext uri="{FF2B5EF4-FFF2-40B4-BE49-F238E27FC236}">
                <a16:creationId xmlns:a16="http://schemas.microsoft.com/office/drawing/2014/main" id="{74ECF6B6-04F8-A818-AB2E-5720AA8E899B}"/>
              </a:ext>
            </a:extLst>
          </p:cNvPr>
          <p:cNvSpPr txBox="1"/>
          <p:nvPr/>
        </p:nvSpPr>
        <p:spPr>
          <a:xfrm>
            <a:off x="5219188" y="2774167"/>
            <a:ext cx="1046747" cy="842210"/>
          </a:xfrm>
          <a:prstGeom prst="rect">
            <a:avLst/>
          </a:prstGeom>
          <a:noFill/>
        </p:spPr>
        <p:txBody>
          <a:bodyPr wrap="square" lIns="0" tIns="0" rIns="0" bIns="0" rtlCol="0">
            <a:noAutofit/>
          </a:bodyPr>
          <a:lstStyle/>
          <a:p>
            <a:pPr algn="l"/>
            <a:r>
              <a:rPr lang="en-AU" sz="2800" dirty="0"/>
              <a:t>15 cm</a:t>
            </a:r>
          </a:p>
        </p:txBody>
      </p:sp>
      <p:sp>
        <p:nvSpPr>
          <p:cNvPr id="8" name="TextBox 7">
            <a:extLst>
              <a:ext uri="{FF2B5EF4-FFF2-40B4-BE49-F238E27FC236}">
                <a16:creationId xmlns:a16="http://schemas.microsoft.com/office/drawing/2014/main" id="{15C902BA-C021-4ACD-9714-E09376013B42}"/>
              </a:ext>
            </a:extLst>
          </p:cNvPr>
          <p:cNvSpPr txBox="1"/>
          <p:nvPr/>
        </p:nvSpPr>
        <p:spPr>
          <a:xfrm>
            <a:off x="9120449" y="4246381"/>
            <a:ext cx="1046747" cy="842210"/>
          </a:xfrm>
          <a:prstGeom prst="rect">
            <a:avLst/>
          </a:prstGeom>
          <a:noFill/>
        </p:spPr>
        <p:txBody>
          <a:bodyPr wrap="square" lIns="0" tIns="0" rIns="0" bIns="0" rtlCol="0">
            <a:noAutofit/>
          </a:bodyPr>
          <a:lstStyle/>
          <a:p>
            <a:pPr algn="l"/>
            <a:r>
              <a:rPr lang="en-AU" sz="2800" dirty="0"/>
              <a:t>5 cm</a:t>
            </a:r>
          </a:p>
        </p:txBody>
      </p:sp>
      <p:sp>
        <p:nvSpPr>
          <p:cNvPr id="10" name="TextBox 9">
            <a:extLst>
              <a:ext uri="{FF2B5EF4-FFF2-40B4-BE49-F238E27FC236}">
                <a16:creationId xmlns:a16="http://schemas.microsoft.com/office/drawing/2014/main" id="{ABCDC272-6C19-4C83-B39E-754AC9F525AB}"/>
              </a:ext>
            </a:extLst>
          </p:cNvPr>
          <p:cNvSpPr txBox="1"/>
          <p:nvPr/>
        </p:nvSpPr>
        <p:spPr>
          <a:xfrm>
            <a:off x="5297009" y="5853790"/>
            <a:ext cx="1046747" cy="842210"/>
          </a:xfrm>
          <a:prstGeom prst="rect">
            <a:avLst/>
          </a:prstGeom>
          <a:noFill/>
        </p:spPr>
        <p:txBody>
          <a:bodyPr wrap="square" lIns="0" tIns="0" rIns="0" bIns="0" rtlCol="0">
            <a:noAutofit/>
          </a:bodyPr>
          <a:lstStyle/>
          <a:p>
            <a:pPr algn="l"/>
            <a:r>
              <a:rPr lang="en-AU" sz="2800" dirty="0"/>
              <a:t>15 cm</a:t>
            </a:r>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pic>
        <p:nvPicPr>
          <p:cNvPr id="3" name="Picture 2" descr="image of a clipboard with a pencil recording short answer responses">
            <a:extLst>
              <a:ext uri="{FF2B5EF4-FFF2-40B4-BE49-F238E27FC236}">
                <a16:creationId xmlns:a16="http://schemas.microsoft.com/office/drawing/2014/main" id="{414B841E-8840-471A-4D5D-BE5947D1F0D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FE24EAE6-FCCA-7C9D-E5AD-EDC504C6F64D}"/>
              </a:ext>
            </a:extLst>
          </p:cNvPr>
          <p:cNvSpPr txBox="1"/>
          <p:nvPr/>
        </p:nvSpPr>
        <p:spPr>
          <a:xfrm>
            <a:off x="360000" y="1184223"/>
            <a:ext cx="10764000" cy="1582432"/>
          </a:xfrm>
          <a:prstGeom prst="rect">
            <a:avLst/>
          </a:prstGeom>
          <a:noFill/>
        </p:spPr>
        <p:txBody>
          <a:bodyPr wrap="square" lIns="0" tIns="0" rIns="0" bIns="0" rtlCol="0">
            <a:noAutofit/>
          </a:bodyPr>
          <a:lstStyle/>
          <a:p>
            <a:pPr algn="ctr">
              <a:lnSpc>
                <a:spcPct val="150000"/>
              </a:lnSpc>
            </a:pPr>
            <a:r>
              <a:rPr lang="en-AU" sz="3600"/>
              <a:t>Select </a:t>
            </a:r>
            <a:r>
              <a:rPr lang="en-AU" sz="3600" b="1"/>
              <a:t>1</a:t>
            </a:r>
            <a:r>
              <a:rPr lang="en-AU" sz="3600"/>
              <a:t> </a:t>
            </a:r>
            <a:r>
              <a:rPr lang="en-AU" sz="3600" b="1"/>
              <a:t>strategy</a:t>
            </a:r>
            <a:r>
              <a:rPr lang="en-AU" sz="3600"/>
              <a:t> from the list to solve the problem.</a:t>
            </a:r>
          </a:p>
        </p:txBody>
      </p:sp>
      <p:sp>
        <p:nvSpPr>
          <p:cNvPr id="7" name="Rectangle 6">
            <a:extLst>
              <a:ext uri="{FF2B5EF4-FFF2-40B4-BE49-F238E27FC236}">
                <a16:creationId xmlns:a16="http://schemas.microsoft.com/office/drawing/2014/main" id="{A75BD249-A240-6B5C-1C43-4A0AA5393B2C}"/>
              </a:ext>
            </a:extLst>
          </p:cNvPr>
          <p:cNvSpPr/>
          <p:nvPr/>
        </p:nvSpPr>
        <p:spPr>
          <a:xfrm>
            <a:off x="8078615" y="2644579"/>
            <a:ext cx="3740269" cy="3311155"/>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AU" sz="2800" b="1">
                <a:solidFill>
                  <a:schemeClr val="tx1"/>
                </a:solidFill>
              </a:rPr>
              <a:t>Strategy list</a:t>
            </a:r>
          </a:p>
          <a:p>
            <a:pPr marL="342900" indent="-342900">
              <a:lnSpc>
                <a:spcPct val="150000"/>
              </a:lnSpc>
              <a:buFont typeface="Arial" panose="020B0604020202020204" pitchFamily="34" charset="0"/>
              <a:buChar char="•"/>
            </a:pPr>
            <a:r>
              <a:rPr lang="en-AU" sz="2800">
                <a:solidFill>
                  <a:schemeClr val="tx1"/>
                </a:solidFill>
              </a:rPr>
              <a:t>Levelling</a:t>
            </a:r>
          </a:p>
          <a:p>
            <a:pPr marL="342900" indent="-342900">
              <a:lnSpc>
                <a:spcPct val="150000"/>
              </a:lnSpc>
              <a:buFont typeface="Arial" panose="020B0604020202020204" pitchFamily="34" charset="0"/>
              <a:buChar char="•"/>
            </a:pPr>
            <a:r>
              <a:rPr lang="en-AU" sz="2800">
                <a:solidFill>
                  <a:schemeClr val="tx1"/>
                </a:solidFill>
              </a:rPr>
              <a:t>Bridging </a:t>
            </a:r>
          </a:p>
          <a:p>
            <a:pPr marL="342900" indent="-342900">
              <a:lnSpc>
                <a:spcPct val="150000"/>
              </a:lnSpc>
              <a:buFont typeface="Arial" panose="020B0604020202020204" pitchFamily="34" charset="0"/>
              <a:buChar char="•"/>
            </a:pPr>
            <a:r>
              <a:rPr lang="en-AU" sz="2800">
                <a:solidFill>
                  <a:schemeClr val="tx1"/>
                </a:solidFill>
              </a:rPr>
              <a:t>Compensation</a:t>
            </a:r>
          </a:p>
        </p:txBody>
      </p:sp>
      <p:sp>
        <p:nvSpPr>
          <p:cNvPr id="8" name="TextBox 7">
            <a:extLst>
              <a:ext uri="{FF2B5EF4-FFF2-40B4-BE49-F238E27FC236}">
                <a16:creationId xmlns:a16="http://schemas.microsoft.com/office/drawing/2014/main" id="{76AAEDA8-7D77-E4BB-1BB7-826831D35669}"/>
              </a:ext>
            </a:extLst>
          </p:cNvPr>
          <p:cNvSpPr txBox="1"/>
          <p:nvPr/>
        </p:nvSpPr>
        <p:spPr>
          <a:xfrm>
            <a:off x="471361" y="2644579"/>
            <a:ext cx="6666271" cy="3672581"/>
          </a:xfrm>
          <a:prstGeom prst="rect">
            <a:avLst/>
          </a:prstGeom>
          <a:noFill/>
        </p:spPr>
        <p:txBody>
          <a:bodyPr wrap="square" lIns="0" tIns="0" rIns="0" bIns="0" rtlCol="0">
            <a:noAutofit/>
          </a:bodyPr>
          <a:lstStyle/>
          <a:p>
            <a:pPr algn="ctr">
              <a:lnSpc>
                <a:spcPct val="150000"/>
              </a:lnSpc>
            </a:pPr>
            <a:r>
              <a:rPr lang="en-AU" sz="3600" b="1" dirty="0"/>
              <a:t>32</a:t>
            </a:r>
            <a:r>
              <a:rPr lang="en-AU" sz="3600" dirty="0"/>
              <a:t> children are playing and </a:t>
            </a:r>
            <a:r>
              <a:rPr lang="en-AU" sz="3600" b="1" dirty="0"/>
              <a:t>24</a:t>
            </a:r>
            <a:r>
              <a:rPr lang="en-AU" sz="3600" dirty="0"/>
              <a:t> more </a:t>
            </a:r>
            <a:r>
              <a:rPr lang="en-AU" sz="3600" b="1" dirty="0"/>
              <a:t>join</a:t>
            </a:r>
            <a:r>
              <a:rPr lang="en-AU" sz="3600" dirty="0"/>
              <a:t>. </a:t>
            </a:r>
          </a:p>
          <a:p>
            <a:pPr algn="ctr">
              <a:lnSpc>
                <a:spcPct val="150000"/>
              </a:lnSpc>
            </a:pPr>
            <a:r>
              <a:rPr lang="en-AU" sz="3600" b="1" dirty="0"/>
              <a:t>How many </a:t>
            </a:r>
            <a:r>
              <a:rPr lang="en-AU" sz="3600" dirty="0"/>
              <a:t>children are now playing?</a:t>
            </a:r>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FBD805EF-F686-AB9D-4A92-E9DFCABAA241}"/>
              </a:ext>
            </a:extLst>
          </p:cNvPr>
          <p:cNvSpPr txBox="1"/>
          <p:nvPr/>
        </p:nvSpPr>
        <p:spPr>
          <a:xfrm>
            <a:off x="801329" y="1828800"/>
            <a:ext cx="10589341" cy="2772697"/>
          </a:xfrm>
          <a:prstGeom prst="rect">
            <a:avLst/>
          </a:prstGeom>
          <a:noFill/>
        </p:spPr>
        <p:txBody>
          <a:bodyPr wrap="square" lIns="0" tIns="0" rIns="0" bIns="0" rtlCol="0">
            <a:noAutofit/>
          </a:bodyPr>
          <a:lstStyle/>
          <a:p>
            <a:pPr algn="ctr">
              <a:lnSpc>
                <a:spcPct val="150000"/>
              </a:lnSpc>
            </a:pPr>
            <a:r>
              <a:rPr lang="en-AU" sz="4400" b="1" dirty="0"/>
              <a:t>Identify</a:t>
            </a:r>
            <a:r>
              <a:rPr lang="en-AU" sz="4400" dirty="0"/>
              <a:t> and </a:t>
            </a:r>
            <a:r>
              <a:rPr lang="en-AU" sz="4400" b="1" dirty="0"/>
              <a:t>record</a:t>
            </a:r>
            <a:r>
              <a:rPr lang="en-AU" sz="4400" dirty="0"/>
              <a:t> an object you could measure the </a:t>
            </a:r>
            <a:r>
              <a:rPr lang="en-AU" sz="4400" b="1" dirty="0"/>
              <a:t>length</a:t>
            </a:r>
            <a:r>
              <a:rPr lang="en-AU" sz="4400" dirty="0"/>
              <a:t> of using the </a:t>
            </a:r>
            <a:r>
              <a:rPr lang="en-AU" sz="4400" b="1" dirty="0"/>
              <a:t>personal benchmark</a:t>
            </a:r>
            <a:r>
              <a:rPr lang="en-AU" sz="4400" dirty="0"/>
              <a:t> of a </a:t>
            </a:r>
            <a:r>
              <a:rPr lang="en-AU" sz="4400" b="1" dirty="0"/>
              <a:t>step</a:t>
            </a:r>
            <a:r>
              <a:rPr lang="en-AU" sz="4400" dirty="0"/>
              <a:t>.</a:t>
            </a:r>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6 – doubling and halving</a:t>
            </a:r>
          </a:p>
        </p:txBody>
      </p:sp>
      <p:pic>
        <p:nvPicPr>
          <p:cNvPr id="4" name="Picture 3" descr="image of a head with cogs turning inside">
            <a:extLst>
              <a:ext uri="{FF2B5EF4-FFF2-40B4-BE49-F238E27FC236}">
                <a16:creationId xmlns:a16="http://schemas.microsoft.com/office/drawing/2014/main" id="{0BB65476-6E3F-B8F6-2B23-DF5EE1D1B9EC}"/>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100" name="Picture 99" descr="Number sentences with missing symbols and numerals. Top to bottom these are:&#10;blank ÷ 2 = 5&#10;&#10;blank × 2 = 10&#10;&#10;blank × blank = blank&#10;&#10;blank ÷ blank = blank&#10;&#10;12 = 2 × blank&#10;&#10;blank ÷ 2 = 6&#10;&#10;8 ÷ blank = 4&#10;&#10;2 blank 4 = 8&#10;&#10;2 × blank = 6&#10;&#10;6 = 3 × blank&#10;&#10;blank × 2 = 20&#10;&#10;20 blank 2 = 10">
            <a:extLst>
              <a:ext uri="{FF2B5EF4-FFF2-40B4-BE49-F238E27FC236}">
                <a16:creationId xmlns:a16="http://schemas.microsoft.com/office/drawing/2014/main" id="{D7BBC137-2089-06CE-F0C6-8B9224E2D4F9}"/>
              </a:ext>
            </a:extLst>
          </p:cNvPr>
          <p:cNvPicPr>
            <a:picLocks noChangeAspect="1"/>
          </p:cNvPicPr>
          <p:nvPr/>
        </p:nvPicPr>
        <p:blipFill>
          <a:blip r:embed="rId4"/>
          <a:stretch>
            <a:fillRect/>
          </a:stretch>
        </p:blipFill>
        <p:spPr>
          <a:xfrm>
            <a:off x="1967256" y="1343614"/>
            <a:ext cx="7636329" cy="5154386"/>
          </a:xfrm>
          <a:prstGeom prst="rect">
            <a:avLst/>
          </a:prstGeom>
        </p:spPr>
      </p:pic>
    </p:spTree>
    <p:extLst>
      <p:ext uri="{BB962C8B-B14F-4D97-AF65-F5344CB8AC3E}">
        <p14:creationId xmlns:p14="http://schemas.microsoft.com/office/powerpoint/2010/main" val="2705431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86312-4D47-D736-1580-5416FF14F3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F0674C-5B03-98FC-310B-BB63294773C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
        <p:nvSpPr>
          <p:cNvPr id="3" name="Title 2">
            <a:extLst>
              <a:ext uri="{FF2B5EF4-FFF2-40B4-BE49-F238E27FC236}">
                <a16:creationId xmlns:a16="http://schemas.microsoft.com/office/drawing/2014/main" id="{4B172920-EC42-6A33-1517-E8439981ED94}"/>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14B8BC39-67FB-C657-188E-31701D36017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14">
            <a:extLst>
              <a:ext uri="{FF2B5EF4-FFF2-40B4-BE49-F238E27FC236}">
                <a16:creationId xmlns:a16="http://schemas.microsoft.com/office/drawing/2014/main" id="{63F2F355-954E-44CF-4ECF-7CD3C57CE1C0}"/>
              </a:ext>
            </a:extLst>
          </p:cNvPr>
          <p:cNvSpPr>
            <a:spLocks noGrp="1"/>
          </p:cNvSpPr>
          <p:nvPr>
            <p:ph type="body" sz="quarter" idx="28"/>
          </p:nvPr>
        </p:nvSpPr>
        <p:spPr>
          <a:xfrm>
            <a:off x="360000" y="1227984"/>
            <a:ext cx="11243037" cy="754243"/>
          </a:xfrm>
        </p:spPr>
        <p:txBody>
          <a:bodyPr/>
          <a:lstStyle/>
          <a:p>
            <a:pPr algn="ctr"/>
            <a:r>
              <a:rPr lang="en-US" sz="3600" dirty="0"/>
              <a:t>Remi recorded </a:t>
            </a:r>
            <a:r>
              <a:rPr lang="en-US" sz="3600" b="1" dirty="0"/>
              <a:t>6 multiplied by 5</a:t>
            </a:r>
            <a:r>
              <a:rPr lang="en-US" sz="3600" dirty="0"/>
              <a:t>. Which number sentence shows this </a:t>
            </a:r>
            <a:r>
              <a:rPr lang="en-US" sz="3600" b="1" dirty="0"/>
              <a:t>correctly</a:t>
            </a:r>
            <a:r>
              <a:rPr lang="en-US" sz="3600" dirty="0"/>
              <a:t>?</a:t>
            </a:r>
          </a:p>
        </p:txBody>
      </p:sp>
      <p:sp>
        <p:nvSpPr>
          <p:cNvPr id="9" name="TextBox 8">
            <a:extLst>
              <a:ext uri="{FF2B5EF4-FFF2-40B4-BE49-F238E27FC236}">
                <a16:creationId xmlns:a16="http://schemas.microsoft.com/office/drawing/2014/main" id="{793EDF41-C42C-8273-E2DE-8E4910A00103}"/>
              </a:ext>
            </a:extLst>
          </p:cNvPr>
          <p:cNvSpPr txBox="1"/>
          <p:nvPr/>
        </p:nvSpPr>
        <p:spPr>
          <a:xfrm>
            <a:off x="610269" y="321131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Text Placeholder 17">
            <a:extLst>
              <a:ext uri="{FF2B5EF4-FFF2-40B4-BE49-F238E27FC236}">
                <a16:creationId xmlns:a16="http://schemas.microsoft.com/office/drawing/2014/main" id="{6DCA7DBF-5599-1A3D-C39E-54412033284F}"/>
              </a:ext>
            </a:extLst>
          </p:cNvPr>
          <p:cNvSpPr>
            <a:spLocks noGrp="1"/>
          </p:cNvSpPr>
          <p:nvPr>
            <p:ph type="body" sz="quarter" idx="31"/>
          </p:nvPr>
        </p:nvSpPr>
        <p:spPr>
          <a:xfrm>
            <a:off x="1285229" y="3259951"/>
            <a:ext cx="10175920" cy="641396"/>
          </a:xfrm>
        </p:spPr>
        <p:txBody>
          <a:bodyPr anchor="ctr"/>
          <a:lstStyle/>
          <a:p>
            <a:r>
              <a:rPr lang="en-US" sz="3600" dirty="0"/>
              <a:t>6 + 5 = 11</a:t>
            </a:r>
          </a:p>
        </p:txBody>
      </p:sp>
      <p:sp>
        <p:nvSpPr>
          <p:cNvPr id="10" name="TextBox 9">
            <a:extLst>
              <a:ext uri="{FF2B5EF4-FFF2-40B4-BE49-F238E27FC236}">
                <a16:creationId xmlns:a16="http://schemas.microsoft.com/office/drawing/2014/main" id="{509AD87B-945E-EF0D-EE5D-D963ACE5480B}"/>
              </a:ext>
            </a:extLst>
          </p:cNvPr>
          <p:cNvSpPr txBox="1"/>
          <p:nvPr/>
        </p:nvSpPr>
        <p:spPr>
          <a:xfrm>
            <a:off x="610268" y="405923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29A4E7C9-5ADB-F023-46E3-7F1A450E28B3}"/>
              </a:ext>
            </a:extLst>
          </p:cNvPr>
          <p:cNvSpPr>
            <a:spLocks noGrp="1"/>
          </p:cNvSpPr>
          <p:nvPr>
            <p:ph type="body" sz="quarter" idx="30"/>
          </p:nvPr>
        </p:nvSpPr>
        <p:spPr>
          <a:xfrm>
            <a:off x="1285229" y="4107864"/>
            <a:ext cx="10175920" cy="641396"/>
          </a:xfrm>
        </p:spPr>
        <p:txBody>
          <a:bodyPr anchor="ctr"/>
          <a:lstStyle/>
          <a:p>
            <a:r>
              <a:rPr lang="en-US" sz="3600"/>
              <a:t>6 x 5 = 30</a:t>
            </a:r>
          </a:p>
        </p:txBody>
      </p:sp>
      <p:sp>
        <p:nvSpPr>
          <p:cNvPr id="12" name="TextBox 11">
            <a:extLst>
              <a:ext uri="{FF2B5EF4-FFF2-40B4-BE49-F238E27FC236}">
                <a16:creationId xmlns:a16="http://schemas.microsoft.com/office/drawing/2014/main" id="{7A633D74-C65F-E185-EA4B-C6135BC39C93}"/>
              </a:ext>
            </a:extLst>
          </p:cNvPr>
          <p:cNvSpPr txBox="1"/>
          <p:nvPr/>
        </p:nvSpPr>
        <p:spPr>
          <a:xfrm>
            <a:off x="610267" y="49092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16" name="Text Placeholder 15">
            <a:extLst>
              <a:ext uri="{FF2B5EF4-FFF2-40B4-BE49-F238E27FC236}">
                <a16:creationId xmlns:a16="http://schemas.microsoft.com/office/drawing/2014/main" id="{92C95EDB-DE45-91C1-57A8-4D7305326D0D}"/>
              </a:ext>
            </a:extLst>
          </p:cNvPr>
          <p:cNvSpPr>
            <a:spLocks noGrp="1"/>
          </p:cNvSpPr>
          <p:nvPr>
            <p:ph type="body" sz="quarter" idx="29"/>
          </p:nvPr>
        </p:nvSpPr>
        <p:spPr>
          <a:xfrm>
            <a:off x="1285229" y="4957917"/>
            <a:ext cx="10175920" cy="641396"/>
          </a:xfrm>
        </p:spPr>
        <p:txBody>
          <a:bodyPr anchor="ctr"/>
          <a:lstStyle/>
          <a:p>
            <a:r>
              <a:rPr lang="en-US" sz="3600" dirty="0"/>
              <a:t>5 x 6 = 25</a:t>
            </a:r>
          </a:p>
        </p:txBody>
      </p:sp>
      <p:sp>
        <p:nvSpPr>
          <p:cNvPr id="11" name="TextBox 10">
            <a:extLst>
              <a:ext uri="{FF2B5EF4-FFF2-40B4-BE49-F238E27FC236}">
                <a16:creationId xmlns:a16="http://schemas.microsoft.com/office/drawing/2014/main" id="{19288423-CD91-9472-E346-D2D0ECB4C75C}"/>
              </a:ext>
            </a:extLst>
          </p:cNvPr>
          <p:cNvSpPr txBox="1"/>
          <p:nvPr/>
        </p:nvSpPr>
        <p:spPr>
          <a:xfrm>
            <a:off x="610266" y="57593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3">
            <a:extLst>
              <a:ext uri="{FF2B5EF4-FFF2-40B4-BE49-F238E27FC236}">
                <a16:creationId xmlns:a16="http://schemas.microsoft.com/office/drawing/2014/main" id="{AA11334F-1845-E708-AB18-7FCB93CE3329}"/>
              </a:ext>
            </a:extLst>
          </p:cNvPr>
          <p:cNvSpPr>
            <a:spLocks noGrp="1"/>
          </p:cNvSpPr>
          <p:nvPr>
            <p:ph type="body" sz="quarter" idx="27"/>
          </p:nvPr>
        </p:nvSpPr>
        <p:spPr>
          <a:xfrm>
            <a:off x="1285229" y="5807970"/>
            <a:ext cx="10175920" cy="641396"/>
          </a:xfrm>
        </p:spPr>
        <p:txBody>
          <a:bodyPr anchor="ctr"/>
          <a:lstStyle/>
          <a:p>
            <a:r>
              <a:rPr lang="en-US" sz="3600"/>
              <a:t>5 x 5 = 25</a:t>
            </a:r>
          </a:p>
        </p:txBody>
      </p:sp>
    </p:spTree>
    <p:extLst>
      <p:ext uri="{BB962C8B-B14F-4D97-AF65-F5344CB8AC3E}">
        <p14:creationId xmlns:p14="http://schemas.microsoft.com/office/powerpoint/2010/main" val="328577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3" name="TextBox 12">
            <a:extLst>
              <a:ext uri="{FF2B5EF4-FFF2-40B4-BE49-F238E27FC236}">
                <a16:creationId xmlns:a16="http://schemas.microsoft.com/office/drawing/2014/main" id="{79791D82-6D32-D908-A688-C6235AE012C5}"/>
              </a:ext>
            </a:extLst>
          </p:cNvPr>
          <p:cNvSpPr txBox="1"/>
          <p:nvPr/>
        </p:nvSpPr>
        <p:spPr>
          <a:xfrm>
            <a:off x="1039090" y="1206937"/>
            <a:ext cx="10525991" cy="1236516"/>
          </a:xfrm>
          <a:prstGeom prst="rect">
            <a:avLst/>
          </a:prstGeom>
          <a:noFill/>
        </p:spPr>
        <p:txBody>
          <a:bodyPr wrap="square" lIns="0" tIns="0" rIns="0" bIns="0" rtlCol="0">
            <a:noAutofit/>
          </a:bodyPr>
          <a:lstStyle/>
          <a:p>
            <a:pPr algn="ctr">
              <a:lnSpc>
                <a:spcPct val="150000"/>
              </a:lnSpc>
            </a:pPr>
            <a:r>
              <a:rPr lang="en-AU" sz="4400" b="1" dirty="0"/>
              <a:t>Identify</a:t>
            </a:r>
            <a:r>
              <a:rPr lang="en-AU" sz="4400" dirty="0"/>
              <a:t> the </a:t>
            </a:r>
            <a:r>
              <a:rPr lang="en-AU" sz="4400" b="1" dirty="0"/>
              <a:t>fraction</a:t>
            </a:r>
            <a:r>
              <a:rPr lang="en-AU" sz="4400" dirty="0"/>
              <a:t> needed to complete the </a:t>
            </a:r>
            <a:r>
              <a:rPr lang="en-AU" sz="4400" b="1" dirty="0"/>
              <a:t>whole</a:t>
            </a:r>
            <a:r>
              <a:rPr lang="en-AU" sz="4400" dirty="0"/>
              <a:t>.</a:t>
            </a:r>
          </a:p>
        </p:txBody>
      </p:sp>
      <p:pic>
        <p:nvPicPr>
          <p:cNvPr id="14" name="Picture 13" descr="A horizontal bar divided into four equal sections. The first three sections are shaded blue and the last section is unshaded. Directly underneath is a number line from 0 to 1, with tick marks labelled 0, 1/4, 1/2, 3/4, and 1.">
            <a:extLst>
              <a:ext uri="{FF2B5EF4-FFF2-40B4-BE49-F238E27FC236}">
                <a16:creationId xmlns:a16="http://schemas.microsoft.com/office/drawing/2014/main" id="{24BD30F4-8859-BCD3-2473-CBC374DEF99D}"/>
              </a:ext>
            </a:extLst>
          </p:cNvPr>
          <p:cNvPicPr>
            <a:picLocks noChangeAspect="1"/>
          </p:cNvPicPr>
          <p:nvPr/>
        </p:nvPicPr>
        <p:blipFill>
          <a:blip r:embed="rId4"/>
          <a:stretch>
            <a:fillRect/>
          </a:stretch>
        </p:blipFill>
        <p:spPr>
          <a:xfrm>
            <a:off x="1720324" y="3296890"/>
            <a:ext cx="9163521" cy="2235315"/>
          </a:xfrm>
          <a:prstGeom prst="rect">
            <a:avLst/>
          </a:prstGeom>
        </p:spPr>
      </p:pic>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7E5B84B8-D504-FCE2-6603-DF2D5D9881E5}"/>
              </a:ext>
            </a:extLst>
          </p:cNvPr>
          <p:cNvSpPr txBox="1"/>
          <p:nvPr/>
        </p:nvSpPr>
        <p:spPr>
          <a:xfrm>
            <a:off x="1596957" y="2025912"/>
            <a:ext cx="8998085" cy="2033337"/>
          </a:xfrm>
          <a:prstGeom prst="rect">
            <a:avLst/>
          </a:prstGeom>
          <a:noFill/>
        </p:spPr>
        <p:txBody>
          <a:bodyPr wrap="square" lIns="0" tIns="0" rIns="0" bIns="0" rtlCol="0">
            <a:noAutofit/>
          </a:bodyPr>
          <a:lstStyle/>
          <a:p>
            <a:pPr algn="ctr">
              <a:lnSpc>
                <a:spcPct val="150000"/>
              </a:lnSpc>
            </a:pPr>
            <a:r>
              <a:rPr lang="en-AU" sz="4400" b="1" dirty="0"/>
              <a:t>Record</a:t>
            </a:r>
            <a:r>
              <a:rPr lang="en-AU" sz="4400" dirty="0"/>
              <a:t> 3 </a:t>
            </a:r>
            <a:r>
              <a:rPr lang="en-AU" sz="4400" b="1" dirty="0"/>
              <a:t>events</a:t>
            </a:r>
            <a:r>
              <a:rPr lang="en-AU" sz="4400" dirty="0"/>
              <a:t> that would </a:t>
            </a:r>
            <a:r>
              <a:rPr lang="en-AU" sz="4400" b="1" dirty="0"/>
              <a:t>each </a:t>
            </a:r>
            <a:r>
              <a:rPr lang="en-AU" sz="4400" dirty="0"/>
              <a:t>have a </a:t>
            </a:r>
            <a:r>
              <a:rPr lang="en-AU" sz="4400" b="1" dirty="0"/>
              <a:t>duration</a:t>
            </a:r>
            <a:r>
              <a:rPr lang="en-AU" sz="4400" dirty="0"/>
              <a:t> of approximately </a:t>
            </a:r>
            <a:r>
              <a:rPr lang="en-AU" sz="4400" b="1" dirty="0"/>
              <a:t>20 minutes</a:t>
            </a:r>
            <a:r>
              <a:rPr lang="en-AU" sz="4400" dirty="0"/>
              <a:t>.</a:t>
            </a:r>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A94CF5C-7BB4-2B29-4192-F95F8D37DDAA}"/>
              </a:ext>
            </a:extLst>
          </p:cNvPr>
          <p:cNvSpPr txBox="1"/>
          <p:nvPr/>
        </p:nvSpPr>
        <p:spPr>
          <a:xfrm>
            <a:off x="586043" y="2249911"/>
            <a:ext cx="11019913" cy="3200400"/>
          </a:xfrm>
          <a:prstGeom prst="rect">
            <a:avLst/>
          </a:prstGeom>
          <a:noFill/>
        </p:spPr>
        <p:txBody>
          <a:bodyPr wrap="square" lIns="0" tIns="0" rIns="0" bIns="0" rtlCol="0">
            <a:noAutofit/>
          </a:bodyPr>
          <a:lstStyle/>
          <a:p>
            <a:pPr algn="ctr">
              <a:lnSpc>
                <a:spcPct val="150000"/>
              </a:lnSpc>
            </a:pPr>
            <a:r>
              <a:rPr lang="en-AU" sz="4400" b="1"/>
              <a:t>Explain</a:t>
            </a:r>
            <a:r>
              <a:rPr lang="en-AU" sz="4400"/>
              <a:t> what is meant by an</a:t>
            </a:r>
          </a:p>
          <a:p>
            <a:pPr algn="ctr">
              <a:lnSpc>
                <a:spcPct val="150000"/>
              </a:lnSpc>
            </a:pPr>
            <a:r>
              <a:rPr lang="en-AU" sz="4400" b="1"/>
              <a:t>‘efficient strategy’</a:t>
            </a:r>
            <a:r>
              <a:rPr lang="en-AU" sz="4400"/>
              <a:t>.</a:t>
            </a:r>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2AA7840-835B-D6AB-6C2E-58042221FFE2}"/>
              </a:ext>
            </a:extLst>
          </p:cNvPr>
          <p:cNvSpPr txBox="1"/>
          <p:nvPr/>
        </p:nvSpPr>
        <p:spPr>
          <a:xfrm>
            <a:off x="624114" y="1474838"/>
            <a:ext cx="10943772" cy="3908323"/>
          </a:xfrm>
          <a:prstGeom prst="rect">
            <a:avLst/>
          </a:prstGeom>
          <a:noFill/>
        </p:spPr>
        <p:txBody>
          <a:bodyPr wrap="square" lIns="0" tIns="0" rIns="0" bIns="0" rtlCol="0">
            <a:noAutofit/>
          </a:bodyPr>
          <a:lstStyle/>
          <a:p>
            <a:pPr algn="ctr">
              <a:lnSpc>
                <a:spcPct val="150000"/>
              </a:lnSpc>
            </a:pPr>
            <a:r>
              <a:rPr lang="en-AU" sz="4400" b="1"/>
              <a:t>Estimate</a:t>
            </a:r>
            <a:r>
              <a:rPr lang="en-AU" sz="4400"/>
              <a:t> the </a:t>
            </a:r>
            <a:r>
              <a:rPr lang="en-AU" sz="4400" b="1"/>
              <a:t>perimeter</a:t>
            </a:r>
            <a:r>
              <a:rPr lang="en-AU" sz="4400"/>
              <a:t> of your maths workbook.</a:t>
            </a:r>
          </a:p>
          <a:p>
            <a:pPr algn="ctr">
              <a:lnSpc>
                <a:spcPct val="150000"/>
              </a:lnSpc>
            </a:pPr>
            <a:endParaRPr lang="en-AU" sz="4400"/>
          </a:p>
          <a:p>
            <a:pPr algn="ctr">
              <a:lnSpc>
                <a:spcPct val="150000"/>
              </a:lnSpc>
            </a:pPr>
            <a:r>
              <a:rPr lang="en-AU" sz="4400" b="1"/>
              <a:t>Explain</a:t>
            </a:r>
            <a:r>
              <a:rPr lang="en-AU" sz="4400"/>
              <a:t> how you determined your </a:t>
            </a:r>
            <a:r>
              <a:rPr lang="en-AU" sz="4400" b="1"/>
              <a:t>estimation</a:t>
            </a:r>
            <a:r>
              <a:rPr lang="en-AU" sz="4400"/>
              <a:t>.</a:t>
            </a:r>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a:xfrm>
            <a:off x="11124000" y="6556822"/>
            <a:ext cx="720000" cy="180000"/>
          </a:xfrm>
        </p:spPr>
        <p:txBody>
          <a:bodyPr/>
          <a:lstStyle/>
          <a:p>
            <a:fld id="{10A01DC5-1685-4615-8240-15192985C6A2}" type="slidenum">
              <a:rPr lang="en-AU" smtClean="0"/>
              <a:t>52</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87694" y="296371"/>
            <a:ext cx="11484000" cy="545601"/>
          </a:xfrm>
        </p:spPr>
        <p:txBody>
          <a:bodyPr/>
          <a:lstStyle/>
          <a:p>
            <a:r>
              <a:rPr lang="en-AU" dirty="0">
                <a:latin typeface="Arial"/>
                <a:cs typeface="Arial"/>
              </a:rPr>
              <a:t>Activity 7 –  multiples madness (1)</a:t>
            </a:r>
            <a:endParaRPr lang="en-US" dirty="0">
              <a:latin typeface="Arial"/>
              <a:cs typeface="Arial"/>
            </a:endParaRPr>
          </a:p>
        </p:txBody>
      </p:sp>
      <p:pic>
        <p:nvPicPr>
          <p:cNvPr id="4" name="Picture 3" descr="image of a head with cogs turning inside">
            <a:extLst>
              <a:ext uri="{FF2B5EF4-FFF2-40B4-BE49-F238E27FC236}">
                <a16:creationId xmlns:a16="http://schemas.microsoft.com/office/drawing/2014/main" id="{E8443608-9EA5-F680-3E7F-62BEC176EFFB}"/>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12" name="Picture 11" descr="A grid showing numbers inside each square that are multiples of 5. Pink counters are overlayed on the the numbers 40 and 25 and blue counters are overlayed onto numbers 15 and 30.">
            <a:extLst>
              <a:ext uri="{FF2B5EF4-FFF2-40B4-BE49-F238E27FC236}">
                <a16:creationId xmlns:a16="http://schemas.microsoft.com/office/drawing/2014/main" id="{23811301-5493-14E3-23CF-BB0219C65328}"/>
              </a:ext>
            </a:extLst>
          </p:cNvPr>
          <p:cNvPicPr>
            <a:picLocks noChangeAspect="1"/>
          </p:cNvPicPr>
          <p:nvPr/>
        </p:nvPicPr>
        <p:blipFill>
          <a:blip r:embed="rId4"/>
          <a:stretch>
            <a:fillRect/>
          </a:stretch>
        </p:blipFill>
        <p:spPr>
          <a:xfrm>
            <a:off x="555547" y="1676400"/>
            <a:ext cx="6178907" cy="4259575"/>
          </a:xfrm>
          <a:prstGeom prst="rect">
            <a:avLst/>
          </a:prstGeom>
        </p:spPr>
      </p:pic>
      <p:graphicFrame>
        <p:nvGraphicFramePr>
          <p:cNvPr id="42" name="Table 41">
            <a:extLst>
              <a:ext uri="{FF2B5EF4-FFF2-40B4-BE49-F238E27FC236}">
                <a16:creationId xmlns:a16="http://schemas.microsoft.com/office/drawing/2014/main" id="{E0D054B6-545C-DC07-D739-26386D4669B1}"/>
              </a:ext>
            </a:extLst>
          </p:cNvPr>
          <p:cNvGraphicFramePr>
            <a:graphicFrameLocks noGrp="1"/>
          </p:cNvGraphicFramePr>
          <p:nvPr>
            <p:extLst>
              <p:ext uri="{D42A27DB-BD31-4B8C-83A1-F6EECF244321}">
                <p14:modId xmlns:p14="http://schemas.microsoft.com/office/powerpoint/2010/main" val="1914476165"/>
              </p:ext>
            </p:extLst>
          </p:nvPr>
        </p:nvGraphicFramePr>
        <p:xfrm>
          <a:off x="6706760" y="3798813"/>
          <a:ext cx="5137240" cy="1752600"/>
        </p:xfrm>
        <a:graphic>
          <a:graphicData uri="http://schemas.openxmlformats.org/drawingml/2006/table">
            <a:tbl>
              <a:tblPr firstRow="1" bandRow="1">
                <a:tableStyleId>{6E25E649-3F16-4E02-A733-19D2CDBF48F0}</a:tableStyleId>
              </a:tblPr>
              <a:tblGrid>
                <a:gridCol w="1284310">
                  <a:extLst>
                    <a:ext uri="{9D8B030D-6E8A-4147-A177-3AD203B41FA5}">
                      <a16:colId xmlns:a16="http://schemas.microsoft.com/office/drawing/2014/main" val="3533159383"/>
                    </a:ext>
                  </a:extLst>
                </a:gridCol>
                <a:gridCol w="1284310">
                  <a:extLst>
                    <a:ext uri="{9D8B030D-6E8A-4147-A177-3AD203B41FA5}">
                      <a16:colId xmlns:a16="http://schemas.microsoft.com/office/drawing/2014/main" val="1585944713"/>
                    </a:ext>
                  </a:extLst>
                </a:gridCol>
                <a:gridCol w="1284310">
                  <a:extLst>
                    <a:ext uri="{9D8B030D-6E8A-4147-A177-3AD203B41FA5}">
                      <a16:colId xmlns:a16="http://schemas.microsoft.com/office/drawing/2014/main" val="3895614960"/>
                    </a:ext>
                  </a:extLst>
                </a:gridCol>
                <a:gridCol w="1284310">
                  <a:extLst>
                    <a:ext uri="{9D8B030D-6E8A-4147-A177-3AD203B41FA5}">
                      <a16:colId xmlns:a16="http://schemas.microsoft.com/office/drawing/2014/main" val="1416040920"/>
                    </a:ext>
                  </a:extLst>
                </a:gridCol>
              </a:tblGrid>
              <a:tr h="370840">
                <a:tc>
                  <a:txBody>
                    <a:bodyPr/>
                    <a:lstStyle/>
                    <a:p>
                      <a:r>
                        <a:rPr lang="en-AU">
                          <a:latin typeface="Arial" panose="020B0604020202020204" pitchFamily="34" charset="0"/>
                          <a:cs typeface="Arial" panose="020B0604020202020204" pitchFamily="34" charset="0"/>
                        </a:rPr>
                        <a:t>Player 1</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endParaRPr lang="en-AU">
                        <a:latin typeface="Arial" panose="020B0604020202020204" pitchFamily="34" charset="0"/>
                        <a:cs typeface="Arial" panose="020B0604020202020204" pitchFamily="34" charset="0"/>
                      </a:endParaRPr>
                    </a:p>
                  </a:txBody>
                  <a:tcPr>
                    <a:lnT w="12700" cap="flat" cmpd="sng" algn="ctr">
                      <a:solidFill>
                        <a:schemeClr val="tx1"/>
                      </a:solidFill>
                      <a:prstDash val="solid"/>
                      <a:round/>
                      <a:headEnd type="none" w="med" len="med"/>
                      <a:tailEnd type="none" w="med" len="med"/>
                    </a:lnT>
                  </a:tcPr>
                </a:tc>
                <a:tc>
                  <a:txBody>
                    <a:bodyPr/>
                    <a:lstStyle/>
                    <a:p>
                      <a:r>
                        <a:rPr lang="en-AU">
                          <a:latin typeface="Arial" panose="020B0604020202020204" pitchFamily="34" charset="0"/>
                          <a:cs typeface="Arial" panose="020B0604020202020204" pitchFamily="34" charset="0"/>
                        </a:rPr>
                        <a:t>Player 2</a:t>
                      </a:r>
                    </a:p>
                  </a:txBody>
                  <a:tcPr>
                    <a:lnT w="12700" cap="flat" cmpd="sng" algn="ctr">
                      <a:solidFill>
                        <a:schemeClr val="tx1"/>
                      </a:solidFill>
                      <a:prstDash val="solid"/>
                      <a:round/>
                      <a:headEnd type="none" w="med" len="med"/>
                      <a:tailEnd type="none" w="med" len="med"/>
                    </a:lnT>
                  </a:tcPr>
                </a:tc>
                <a:tc>
                  <a:txBody>
                    <a:bodyPr/>
                    <a:lstStyle/>
                    <a:p>
                      <a:endParaRPr lang="en-AU">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68653116"/>
                  </a:ext>
                </a:extLst>
              </a:tr>
              <a:tr h="370840">
                <a:tc>
                  <a:txBody>
                    <a:bodyPr/>
                    <a:lstStyle/>
                    <a:p>
                      <a:r>
                        <a:rPr lang="en-AU">
                          <a:latin typeface="Arial" panose="020B0604020202020204" pitchFamily="34" charset="0"/>
                          <a:cs typeface="Arial" panose="020B0604020202020204" pitchFamily="34" charset="0"/>
                        </a:rPr>
                        <a:t>Rolled</a:t>
                      </a:r>
                    </a:p>
                  </a:txBody>
                  <a:tcPr>
                    <a:lnL w="12700" cap="flat" cmpd="sng" algn="ctr">
                      <a:solidFill>
                        <a:schemeClr val="tx1"/>
                      </a:solidFill>
                      <a:prstDash val="solid"/>
                      <a:round/>
                      <a:headEnd type="none" w="med" len="med"/>
                      <a:tailEnd type="none" w="med" len="med"/>
                    </a:lnL>
                  </a:tcPr>
                </a:tc>
                <a:tc>
                  <a:txBody>
                    <a:bodyPr/>
                    <a:lstStyle/>
                    <a:p>
                      <a:r>
                        <a:rPr lang="en-AU">
                          <a:latin typeface="Arial" panose="020B0604020202020204" pitchFamily="34" charset="0"/>
                          <a:cs typeface="Arial" panose="020B0604020202020204" pitchFamily="34" charset="0"/>
                        </a:rPr>
                        <a:t>Number sentence</a:t>
                      </a:r>
                    </a:p>
                  </a:txBody>
                  <a:tcPr/>
                </a:tc>
                <a:tc>
                  <a:txBody>
                    <a:bodyPr/>
                    <a:lstStyle/>
                    <a:p>
                      <a:r>
                        <a:rPr lang="en-AU">
                          <a:latin typeface="Arial" panose="020B0604020202020204" pitchFamily="34" charset="0"/>
                          <a:cs typeface="Arial" panose="020B0604020202020204" pitchFamily="34" charset="0"/>
                        </a:rPr>
                        <a:t>Rolled</a:t>
                      </a:r>
                    </a:p>
                  </a:txBody>
                  <a:tcPr/>
                </a:tc>
                <a:tc>
                  <a:txBody>
                    <a:bodyPr/>
                    <a:lstStyle/>
                    <a:p>
                      <a:r>
                        <a:rPr lang="en-AU">
                          <a:latin typeface="Arial" panose="020B0604020202020204" pitchFamily="34" charset="0"/>
                          <a:cs typeface="Arial" panose="020B0604020202020204" pitchFamily="34" charset="0"/>
                        </a:rPr>
                        <a:t>Number sentence</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085733330"/>
                  </a:ext>
                </a:extLst>
              </a:tr>
              <a:tr h="370840">
                <a:tc>
                  <a:txBody>
                    <a:bodyPr/>
                    <a:lstStyle/>
                    <a:p>
                      <a:r>
                        <a:rPr lang="en-AU">
                          <a:latin typeface="Edu NSW ACT Foundation" pitchFamily="2" charset="0"/>
                        </a:rPr>
                        <a:t>8</a:t>
                      </a:r>
                    </a:p>
                  </a:txBody>
                  <a:tcPr>
                    <a:lnL w="12700" cap="flat" cmpd="sng" algn="ctr">
                      <a:solidFill>
                        <a:schemeClr val="tx1"/>
                      </a:solidFill>
                      <a:prstDash val="solid"/>
                      <a:round/>
                      <a:headEnd type="none" w="med" len="med"/>
                      <a:tailEnd type="none" w="med" len="med"/>
                    </a:lnL>
                  </a:tcPr>
                </a:tc>
                <a:tc>
                  <a:txBody>
                    <a:bodyPr/>
                    <a:lstStyle/>
                    <a:p>
                      <a:r>
                        <a:rPr lang="en-AU">
                          <a:latin typeface="Edu NSW ACT Foundation" pitchFamily="2" charset="0"/>
                        </a:rPr>
                        <a:t>8x5= 40</a:t>
                      </a:r>
                    </a:p>
                  </a:txBody>
                  <a:tcPr/>
                </a:tc>
                <a:tc>
                  <a:txBody>
                    <a:bodyPr/>
                    <a:lstStyle/>
                    <a:p>
                      <a:r>
                        <a:rPr lang="en-AU">
                          <a:latin typeface="Edu NSW ACT Foundation" pitchFamily="2" charset="0"/>
                        </a:rPr>
                        <a:t>6</a:t>
                      </a:r>
                    </a:p>
                  </a:txBody>
                  <a:tcPr/>
                </a:tc>
                <a:tc>
                  <a:txBody>
                    <a:bodyPr/>
                    <a:lstStyle/>
                    <a:p>
                      <a:r>
                        <a:rPr lang="en-AU">
                          <a:latin typeface="Edu NSW ACT Foundation" pitchFamily="2" charset="0"/>
                        </a:rPr>
                        <a:t>6x5= 30</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686959490"/>
                  </a:ext>
                </a:extLst>
              </a:tr>
              <a:tr h="370840">
                <a:tc>
                  <a:txBody>
                    <a:bodyPr/>
                    <a:lstStyle/>
                    <a:p>
                      <a:r>
                        <a:rPr lang="en-AU">
                          <a:latin typeface="Edu NSW ACT Foundation" pitchFamily="2" charset="0"/>
                        </a:rPr>
                        <a:t>5</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en-AU">
                          <a:latin typeface="Edu NSW ACT Foundation" pitchFamily="2" charset="0"/>
                        </a:rPr>
                        <a:t>5x5= 25</a:t>
                      </a:r>
                    </a:p>
                  </a:txBody>
                  <a:tcPr>
                    <a:lnB w="12700" cap="flat" cmpd="sng" algn="ctr">
                      <a:solidFill>
                        <a:schemeClr val="tx1"/>
                      </a:solidFill>
                      <a:prstDash val="solid"/>
                      <a:round/>
                      <a:headEnd type="none" w="med" len="med"/>
                      <a:tailEnd type="none" w="med" len="med"/>
                    </a:lnB>
                  </a:tcPr>
                </a:tc>
                <a:tc>
                  <a:txBody>
                    <a:bodyPr/>
                    <a:lstStyle/>
                    <a:p>
                      <a:r>
                        <a:rPr lang="en-AU">
                          <a:latin typeface="Edu NSW ACT Foundation" pitchFamily="2" charset="0"/>
                        </a:rPr>
                        <a:t>3</a:t>
                      </a:r>
                    </a:p>
                  </a:txBody>
                  <a:tcPr>
                    <a:lnB w="12700" cap="flat" cmpd="sng" algn="ctr">
                      <a:solidFill>
                        <a:schemeClr val="tx1"/>
                      </a:solidFill>
                      <a:prstDash val="solid"/>
                      <a:round/>
                      <a:headEnd type="none" w="med" len="med"/>
                      <a:tailEnd type="none" w="med" len="med"/>
                    </a:lnB>
                  </a:tcPr>
                </a:tc>
                <a:tc>
                  <a:txBody>
                    <a:bodyPr/>
                    <a:lstStyle/>
                    <a:p>
                      <a:r>
                        <a:rPr lang="en-AU" dirty="0">
                          <a:latin typeface="Edu NSW ACT Foundation" pitchFamily="2" charset="0"/>
                        </a:rPr>
                        <a:t>3x5= 15</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430526"/>
                  </a:ext>
                </a:extLst>
              </a:tr>
            </a:tbl>
          </a:graphicData>
        </a:graphic>
      </p:graphicFrame>
    </p:spTree>
    <p:extLst>
      <p:ext uri="{BB962C8B-B14F-4D97-AF65-F5344CB8AC3E}">
        <p14:creationId xmlns:p14="http://schemas.microsoft.com/office/powerpoint/2010/main" val="2752746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CB581-742F-A565-F9D3-406902446B0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3A4416-4073-4087-9212-D692CC3AE178}"/>
              </a:ext>
              <a:ext uri="{C183D7F6-B498-43B3-948B-1728B52AA6E4}">
                <adec:decorative xmlns:adec="http://schemas.microsoft.com/office/drawing/2017/decorative" val="1"/>
              </a:ext>
            </a:extLst>
          </p:cNvPr>
          <p:cNvSpPr>
            <a:spLocks noGrp="1"/>
          </p:cNvSpPr>
          <p:nvPr>
            <p:ph type="sldNum" sz="quarter" idx="12"/>
          </p:nvPr>
        </p:nvSpPr>
        <p:spPr>
          <a:xfrm>
            <a:off x="11124000" y="6556822"/>
            <a:ext cx="720000" cy="180000"/>
          </a:xfrm>
        </p:spPr>
        <p:txBody>
          <a:bodyPr/>
          <a:lstStyle/>
          <a:p>
            <a:fld id="{10A01DC5-1685-4615-8240-15192985C6A2}" type="slidenum">
              <a:rPr lang="en-AU" smtClean="0"/>
              <a:t>53</a:t>
            </a:fld>
            <a:endParaRPr lang="en-AU"/>
          </a:p>
        </p:txBody>
      </p:sp>
      <p:sp>
        <p:nvSpPr>
          <p:cNvPr id="3" name="Title 2">
            <a:extLst>
              <a:ext uri="{FF2B5EF4-FFF2-40B4-BE49-F238E27FC236}">
                <a16:creationId xmlns:a16="http://schemas.microsoft.com/office/drawing/2014/main" id="{B321C8B4-43D1-8A64-461B-A8CF206078F1}"/>
              </a:ext>
            </a:extLst>
          </p:cNvPr>
          <p:cNvSpPr>
            <a:spLocks noGrp="1"/>
          </p:cNvSpPr>
          <p:nvPr>
            <p:ph type="title"/>
          </p:nvPr>
        </p:nvSpPr>
        <p:spPr>
          <a:xfrm>
            <a:off x="387694" y="296371"/>
            <a:ext cx="11484000" cy="545601"/>
          </a:xfrm>
        </p:spPr>
        <p:txBody>
          <a:bodyPr/>
          <a:lstStyle/>
          <a:p>
            <a:r>
              <a:rPr lang="en-AU" dirty="0">
                <a:latin typeface="Arial"/>
                <a:cs typeface="Arial"/>
              </a:rPr>
              <a:t>Activity 7 – multiples madness (2)</a:t>
            </a:r>
            <a:endParaRPr lang="en-US" dirty="0">
              <a:latin typeface="Arial"/>
              <a:cs typeface="Arial"/>
            </a:endParaRPr>
          </a:p>
        </p:txBody>
      </p:sp>
      <p:pic>
        <p:nvPicPr>
          <p:cNvPr id="5" name="Picture 4" descr="image of a head with cogs turning inside">
            <a:extLst>
              <a:ext uri="{FF2B5EF4-FFF2-40B4-BE49-F238E27FC236}">
                <a16:creationId xmlns:a16="http://schemas.microsoft.com/office/drawing/2014/main" id="{0D505356-C843-2AB9-0326-AEC931CA2D37}"/>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4" name="Picture 3" descr="A 5x5 empty grid">
            <a:extLst>
              <a:ext uri="{FF2B5EF4-FFF2-40B4-BE49-F238E27FC236}">
                <a16:creationId xmlns:a16="http://schemas.microsoft.com/office/drawing/2014/main" id="{F89F9278-59C7-88A4-366A-F9B8349C8625}"/>
              </a:ext>
            </a:extLst>
          </p:cNvPr>
          <p:cNvPicPr>
            <a:picLocks noChangeAspect="1"/>
          </p:cNvPicPr>
          <p:nvPr/>
        </p:nvPicPr>
        <p:blipFill>
          <a:blip r:embed="rId4"/>
          <a:stretch>
            <a:fillRect/>
          </a:stretch>
        </p:blipFill>
        <p:spPr>
          <a:xfrm>
            <a:off x="1086772" y="1690574"/>
            <a:ext cx="4591050" cy="4017645"/>
          </a:xfrm>
          <a:prstGeom prst="rect">
            <a:avLst/>
          </a:prstGeom>
        </p:spPr>
      </p:pic>
      <p:pic>
        <p:nvPicPr>
          <p:cNvPr id="7" name="Picture 6" descr="A table for Player 1 and Player 2 with each habing a column titled 'rolled' and another column titled 'Number sentence'.">
            <a:extLst>
              <a:ext uri="{FF2B5EF4-FFF2-40B4-BE49-F238E27FC236}">
                <a16:creationId xmlns:a16="http://schemas.microsoft.com/office/drawing/2014/main" id="{B0BF552F-9864-1B79-B67B-10024143045E}"/>
              </a:ext>
            </a:extLst>
          </p:cNvPr>
          <p:cNvPicPr>
            <a:picLocks noChangeAspect="1"/>
          </p:cNvPicPr>
          <p:nvPr/>
        </p:nvPicPr>
        <p:blipFill>
          <a:blip r:embed="rId5"/>
          <a:stretch>
            <a:fillRect/>
          </a:stretch>
        </p:blipFill>
        <p:spPr>
          <a:xfrm>
            <a:off x="5987880" y="1820345"/>
            <a:ext cx="5648597" cy="3924745"/>
          </a:xfrm>
          <a:prstGeom prst="rect">
            <a:avLst/>
          </a:prstGeom>
        </p:spPr>
      </p:pic>
    </p:spTree>
    <p:extLst>
      <p:ext uri="{BB962C8B-B14F-4D97-AF65-F5344CB8AC3E}">
        <p14:creationId xmlns:p14="http://schemas.microsoft.com/office/powerpoint/2010/main" val="4265977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1574917" y="1293097"/>
            <a:ext cx="8813201" cy="893226"/>
          </a:xfrm>
        </p:spPr>
        <p:txBody>
          <a:bodyPr/>
          <a:lstStyle/>
          <a:p>
            <a:pPr algn="ctr"/>
            <a:r>
              <a:rPr lang="en-AU" sz="4400" dirty="0"/>
              <a:t> 2 x 4 = 8 and 8 </a:t>
            </a:r>
            <a:r>
              <a:rPr lang="en-AU" sz="4800" dirty="0"/>
              <a:t>÷ 4 = 2</a:t>
            </a:r>
            <a:endParaRPr lang="en-AU" sz="4400" dirty="0"/>
          </a:p>
        </p:txBody>
      </p:sp>
      <p:grpSp>
        <p:nvGrpSpPr>
          <p:cNvPr id="15" name="Group 14" descr="A 4 x 2 array of blue circles.">
            <a:extLst>
              <a:ext uri="{FF2B5EF4-FFF2-40B4-BE49-F238E27FC236}">
                <a16:creationId xmlns:a16="http://schemas.microsoft.com/office/drawing/2014/main" id="{3BAFBCAE-926B-DFE9-D1BF-0F906BD1AAEC}"/>
              </a:ext>
            </a:extLst>
          </p:cNvPr>
          <p:cNvGrpSpPr/>
          <p:nvPr/>
        </p:nvGrpSpPr>
        <p:grpSpPr>
          <a:xfrm>
            <a:off x="4114800" y="2867891"/>
            <a:ext cx="3490618" cy="1636871"/>
            <a:chOff x="4114800" y="2867891"/>
            <a:chExt cx="3490618" cy="1636871"/>
          </a:xfrm>
        </p:grpSpPr>
        <p:sp>
          <p:nvSpPr>
            <p:cNvPr id="5" name="Oval 4">
              <a:extLst>
                <a:ext uri="{FF2B5EF4-FFF2-40B4-BE49-F238E27FC236}">
                  <a16:creationId xmlns:a16="http://schemas.microsoft.com/office/drawing/2014/main" id="{A444DF45-CFEE-FB57-1AF1-F73BFC407E27}"/>
                </a:ext>
              </a:extLst>
            </p:cNvPr>
            <p:cNvSpPr/>
            <p:nvPr/>
          </p:nvSpPr>
          <p:spPr>
            <a:xfrm>
              <a:off x="4114800" y="2867891"/>
              <a:ext cx="716973" cy="7416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Oval 6">
              <a:extLst>
                <a:ext uri="{FF2B5EF4-FFF2-40B4-BE49-F238E27FC236}">
                  <a16:creationId xmlns:a16="http://schemas.microsoft.com/office/drawing/2014/main" id="{5EAB986B-9128-659B-F9CF-BA3021D96188}"/>
                </a:ext>
              </a:extLst>
            </p:cNvPr>
            <p:cNvSpPr/>
            <p:nvPr/>
          </p:nvSpPr>
          <p:spPr>
            <a:xfrm>
              <a:off x="5015346" y="2867891"/>
              <a:ext cx="716973" cy="7416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val 7">
              <a:extLst>
                <a:ext uri="{FF2B5EF4-FFF2-40B4-BE49-F238E27FC236}">
                  <a16:creationId xmlns:a16="http://schemas.microsoft.com/office/drawing/2014/main" id="{7D7B73BB-F772-C75F-5DE6-C465804AAC16}"/>
                </a:ext>
              </a:extLst>
            </p:cNvPr>
            <p:cNvSpPr/>
            <p:nvPr/>
          </p:nvSpPr>
          <p:spPr>
            <a:xfrm>
              <a:off x="4166755" y="3763082"/>
              <a:ext cx="716973" cy="7416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Oval 8">
              <a:extLst>
                <a:ext uri="{FF2B5EF4-FFF2-40B4-BE49-F238E27FC236}">
                  <a16:creationId xmlns:a16="http://schemas.microsoft.com/office/drawing/2014/main" id="{F8BCDC00-2DC3-D365-807B-7BC64B83D11C}"/>
                </a:ext>
              </a:extLst>
            </p:cNvPr>
            <p:cNvSpPr/>
            <p:nvPr/>
          </p:nvSpPr>
          <p:spPr>
            <a:xfrm>
              <a:off x="5015346" y="3763082"/>
              <a:ext cx="716973" cy="7416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Oval 9">
              <a:extLst>
                <a:ext uri="{FF2B5EF4-FFF2-40B4-BE49-F238E27FC236}">
                  <a16:creationId xmlns:a16="http://schemas.microsoft.com/office/drawing/2014/main" id="{47E6E7F1-508B-BDE6-7A0A-B255E5C1BEA2}"/>
                </a:ext>
              </a:extLst>
            </p:cNvPr>
            <p:cNvSpPr/>
            <p:nvPr/>
          </p:nvSpPr>
          <p:spPr>
            <a:xfrm>
              <a:off x="5951896" y="2875049"/>
              <a:ext cx="716973" cy="7416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Oval 10">
              <a:extLst>
                <a:ext uri="{FF2B5EF4-FFF2-40B4-BE49-F238E27FC236}">
                  <a16:creationId xmlns:a16="http://schemas.microsoft.com/office/drawing/2014/main" id="{1A2AEA15-A996-8792-2EE5-4F424F9B0766}"/>
                </a:ext>
              </a:extLst>
            </p:cNvPr>
            <p:cNvSpPr/>
            <p:nvPr/>
          </p:nvSpPr>
          <p:spPr>
            <a:xfrm>
              <a:off x="5981518" y="3763082"/>
              <a:ext cx="716973" cy="7416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Oval 12">
              <a:extLst>
                <a:ext uri="{FF2B5EF4-FFF2-40B4-BE49-F238E27FC236}">
                  <a16:creationId xmlns:a16="http://schemas.microsoft.com/office/drawing/2014/main" id="{5898B3A8-9168-F265-E72C-8CF62BC70EBE}"/>
                </a:ext>
              </a:extLst>
            </p:cNvPr>
            <p:cNvSpPr/>
            <p:nvPr/>
          </p:nvSpPr>
          <p:spPr>
            <a:xfrm>
              <a:off x="6888445" y="2867891"/>
              <a:ext cx="716973" cy="7416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Oval 13">
              <a:extLst>
                <a:ext uri="{FF2B5EF4-FFF2-40B4-BE49-F238E27FC236}">
                  <a16:creationId xmlns:a16="http://schemas.microsoft.com/office/drawing/2014/main" id="{835EF9AA-6461-CC7C-C766-F6169C48ECB6}"/>
                </a:ext>
              </a:extLst>
            </p:cNvPr>
            <p:cNvSpPr/>
            <p:nvPr/>
          </p:nvSpPr>
          <p:spPr>
            <a:xfrm>
              <a:off x="6888445" y="3763082"/>
              <a:ext cx="716973" cy="7416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2632591031"/>
              </p:ext>
            </p:extLst>
          </p:nvPr>
        </p:nvGraphicFramePr>
        <p:xfrm>
          <a:off x="2442979" y="5339841"/>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DF285D6B-4EF7-167E-F1CC-C2A8591B4731}"/>
              </a:ext>
            </a:extLst>
          </p:cNvPr>
          <p:cNvSpPr txBox="1"/>
          <p:nvPr/>
        </p:nvSpPr>
        <p:spPr>
          <a:xfrm>
            <a:off x="259868" y="1694766"/>
            <a:ext cx="11584132" cy="1018309"/>
          </a:xfrm>
          <a:prstGeom prst="rect">
            <a:avLst/>
          </a:prstGeom>
          <a:noFill/>
        </p:spPr>
        <p:txBody>
          <a:bodyPr wrap="square" lIns="0" tIns="0" rIns="0" bIns="0" rtlCol="0">
            <a:noAutofit/>
          </a:bodyPr>
          <a:lstStyle/>
          <a:p>
            <a:pPr algn="ctr">
              <a:lnSpc>
                <a:spcPct val="150000"/>
              </a:lnSpc>
            </a:pPr>
            <a:r>
              <a:rPr lang="en-AU" sz="4000" b="1" dirty="0"/>
              <a:t>2-eighths </a:t>
            </a:r>
            <a:r>
              <a:rPr lang="en-AU" sz="4000" dirty="0"/>
              <a:t>of the chocolate bar are showing. </a:t>
            </a:r>
          </a:p>
          <a:p>
            <a:pPr algn="ctr">
              <a:lnSpc>
                <a:spcPct val="150000"/>
              </a:lnSpc>
            </a:pPr>
            <a:r>
              <a:rPr lang="en-AU" sz="4000" b="1" dirty="0"/>
              <a:t>Record</a:t>
            </a:r>
            <a:r>
              <a:rPr lang="en-AU" sz="4000" dirty="0"/>
              <a:t> the </a:t>
            </a:r>
            <a:r>
              <a:rPr lang="en-AU" sz="4000" b="1" dirty="0"/>
              <a:t>fraction</a:t>
            </a:r>
            <a:r>
              <a:rPr lang="en-AU" sz="4000" dirty="0"/>
              <a:t> of the chocolate bar that is </a:t>
            </a:r>
            <a:r>
              <a:rPr lang="en-AU" sz="4000" b="1" dirty="0"/>
              <a:t>hidden </a:t>
            </a:r>
            <a:r>
              <a:rPr lang="en-AU" sz="4000" dirty="0"/>
              <a:t>under the wrapper?</a:t>
            </a:r>
          </a:p>
        </p:txBody>
      </p:sp>
      <p:pic>
        <p:nvPicPr>
          <p:cNvPr id="4" name="Picture 3" descr="A chocolate bar with 2 pieces of chocolate showing and the rest covered by a purple wrapper.">
            <a:extLst>
              <a:ext uri="{FF2B5EF4-FFF2-40B4-BE49-F238E27FC236}">
                <a16:creationId xmlns:a16="http://schemas.microsoft.com/office/drawing/2014/main" id="{1DDFB192-210B-6449-E707-133963029CCD}"/>
              </a:ext>
            </a:extLst>
          </p:cNvPr>
          <p:cNvPicPr>
            <a:picLocks noChangeAspect="1"/>
          </p:cNvPicPr>
          <p:nvPr/>
        </p:nvPicPr>
        <p:blipFill>
          <a:blip r:embed="rId4"/>
          <a:srcRect t="35081"/>
          <a:stretch>
            <a:fillRect/>
          </a:stretch>
        </p:blipFill>
        <p:spPr>
          <a:xfrm>
            <a:off x="3017253" y="4520551"/>
            <a:ext cx="6157494" cy="1492095"/>
          </a:xfrm>
          <a:prstGeom prst="rect">
            <a:avLst/>
          </a:prstGeom>
        </p:spPr>
      </p:pic>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6525AA0A-1598-A19C-3B39-F5446FB5DD1A}"/>
              </a:ext>
            </a:extLst>
          </p:cNvPr>
          <p:cNvSpPr txBox="1"/>
          <p:nvPr/>
        </p:nvSpPr>
        <p:spPr>
          <a:xfrm>
            <a:off x="1536031" y="1882942"/>
            <a:ext cx="9119937" cy="2827421"/>
          </a:xfrm>
          <a:prstGeom prst="rect">
            <a:avLst/>
          </a:prstGeom>
          <a:noFill/>
        </p:spPr>
        <p:txBody>
          <a:bodyPr wrap="square" lIns="0" tIns="0" rIns="0" bIns="0" rtlCol="0" anchor="t">
            <a:noAutofit/>
          </a:bodyPr>
          <a:lstStyle/>
          <a:p>
            <a:pPr algn="ctr">
              <a:lnSpc>
                <a:spcPct val="150000"/>
              </a:lnSpc>
            </a:pPr>
            <a:r>
              <a:rPr lang="en-AU" sz="4400" b="1" dirty="0"/>
              <a:t>Record</a:t>
            </a:r>
            <a:r>
              <a:rPr lang="en-AU" sz="4400" dirty="0"/>
              <a:t> how many </a:t>
            </a:r>
            <a:r>
              <a:rPr lang="en-AU" sz="4400" b="1" dirty="0"/>
              <a:t>minutes</a:t>
            </a:r>
            <a:r>
              <a:rPr lang="en-AU" sz="4400" dirty="0"/>
              <a:t> are in a </a:t>
            </a:r>
            <a:r>
              <a:rPr lang="en-AU" sz="4400" b="1" dirty="0"/>
              <a:t>quarter hour</a:t>
            </a:r>
            <a:r>
              <a:rPr lang="en-AU" sz="4400" dirty="0"/>
              <a:t>.</a:t>
            </a:r>
          </a:p>
          <a:p>
            <a:pPr algn="ctr">
              <a:lnSpc>
                <a:spcPct val="150000"/>
              </a:lnSpc>
            </a:pPr>
            <a:endParaRPr lang="en-AU" sz="4400" dirty="0"/>
          </a:p>
          <a:p>
            <a:pPr algn="ctr">
              <a:lnSpc>
                <a:spcPct val="150000"/>
              </a:lnSpc>
            </a:pPr>
            <a:r>
              <a:rPr lang="en-AU" sz="4400" b="1" dirty="0"/>
              <a:t>Communicate</a:t>
            </a:r>
            <a:r>
              <a:rPr lang="en-AU" sz="4400" dirty="0"/>
              <a:t> your </a:t>
            </a:r>
            <a:r>
              <a:rPr lang="en-AU" sz="4400" b="1" dirty="0"/>
              <a:t>reasoning</a:t>
            </a:r>
            <a:r>
              <a:rPr lang="en-AU" sz="4400" dirty="0"/>
              <a:t>.</a:t>
            </a:r>
            <a:endParaRPr lang="en-AU" sz="4400" dirty="0">
              <a:cs typeface="Arial"/>
            </a:endParaRPr>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pic>
        <p:nvPicPr>
          <p:cNvPr id="3" name="Picture 2" descr="image of a clipboard with a pencil recording short answer responses">
            <a:extLst>
              <a:ext uri="{FF2B5EF4-FFF2-40B4-BE49-F238E27FC236}">
                <a16:creationId xmlns:a16="http://schemas.microsoft.com/office/drawing/2014/main" id="{77944112-784D-22C3-1462-ED0056915B9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8DABC7A-1335-65ED-DCBE-5225729EC8DF}"/>
              </a:ext>
            </a:extLst>
          </p:cNvPr>
          <p:cNvSpPr txBox="1"/>
          <p:nvPr/>
        </p:nvSpPr>
        <p:spPr>
          <a:xfrm>
            <a:off x="597322" y="930097"/>
            <a:ext cx="10886678" cy="2049246"/>
          </a:xfrm>
          <a:prstGeom prst="rect">
            <a:avLst/>
          </a:prstGeom>
          <a:noFill/>
        </p:spPr>
        <p:txBody>
          <a:bodyPr wrap="square" lIns="0" tIns="0" rIns="0" bIns="0" rtlCol="0">
            <a:noAutofit/>
          </a:bodyPr>
          <a:lstStyle/>
          <a:p>
            <a:pPr algn="ctr">
              <a:lnSpc>
                <a:spcPct val="150000"/>
              </a:lnSpc>
            </a:pPr>
            <a:r>
              <a:rPr lang="en-AU" sz="4400" dirty="0"/>
              <a:t>Choose the </a:t>
            </a:r>
            <a:r>
              <a:rPr lang="en-AU" sz="4400" b="1" dirty="0"/>
              <a:t>most efficient strategy </a:t>
            </a:r>
            <a:r>
              <a:rPr lang="en-AU" sz="4400" dirty="0"/>
              <a:t>to solve the following problem.</a:t>
            </a:r>
          </a:p>
          <a:p>
            <a:pPr algn="ctr">
              <a:lnSpc>
                <a:spcPct val="150000"/>
              </a:lnSpc>
            </a:pPr>
            <a:endParaRPr lang="en-AU" sz="2200" dirty="0"/>
          </a:p>
          <a:p>
            <a:pPr algn="ctr">
              <a:lnSpc>
                <a:spcPct val="150000"/>
              </a:lnSpc>
            </a:pPr>
            <a:r>
              <a:rPr lang="en-AU" sz="4400" dirty="0"/>
              <a:t>Emma picked </a:t>
            </a:r>
            <a:r>
              <a:rPr lang="en-AU" sz="4400" b="1" dirty="0"/>
              <a:t>34 flowers </a:t>
            </a:r>
            <a:r>
              <a:rPr lang="en-AU" sz="4400" dirty="0"/>
              <a:t>in the morning and </a:t>
            </a:r>
            <a:r>
              <a:rPr lang="en-AU" sz="4400" b="1" dirty="0"/>
              <a:t>28 flowers</a:t>
            </a:r>
            <a:r>
              <a:rPr lang="en-AU" sz="4400" dirty="0"/>
              <a:t> in the afternoon. </a:t>
            </a:r>
            <a:r>
              <a:rPr lang="en-AU" sz="4400" b="1" dirty="0"/>
              <a:t>How many </a:t>
            </a:r>
            <a:r>
              <a:rPr lang="en-AU" sz="4400" dirty="0"/>
              <a:t>flowers did she pick in </a:t>
            </a:r>
            <a:r>
              <a:rPr lang="en-AU" sz="4400" b="1" dirty="0"/>
              <a:t>total</a:t>
            </a:r>
            <a:r>
              <a:rPr lang="en-AU" sz="4400" dirty="0"/>
              <a:t>?</a:t>
            </a:r>
          </a:p>
          <a:p>
            <a:pPr algn="ctr">
              <a:lnSpc>
                <a:spcPct val="150000"/>
              </a:lnSpc>
            </a:pPr>
            <a:endParaRPr lang="en-AU" sz="3600" dirty="0"/>
          </a:p>
          <a:p>
            <a:pPr algn="ctr">
              <a:lnSpc>
                <a:spcPct val="150000"/>
              </a:lnSpc>
            </a:pPr>
            <a:endParaRPr lang="en-AU" sz="3600" dirty="0"/>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C549E85C-91E5-9BE8-499E-7C415EA963CC}"/>
              </a:ext>
            </a:extLst>
          </p:cNvPr>
          <p:cNvSpPr txBox="1"/>
          <p:nvPr/>
        </p:nvSpPr>
        <p:spPr>
          <a:xfrm>
            <a:off x="1013322" y="1189303"/>
            <a:ext cx="10165355" cy="1529480"/>
          </a:xfrm>
          <a:prstGeom prst="rect">
            <a:avLst/>
          </a:prstGeom>
          <a:noFill/>
        </p:spPr>
        <p:txBody>
          <a:bodyPr wrap="square" lIns="0" tIns="0" rIns="0" bIns="0" rtlCol="0">
            <a:noAutofit/>
          </a:bodyPr>
          <a:lstStyle/>
          <a:p>
            <a:pPr algn="ctr">
              <a:lnSpc>
                <a:spcPct val="150000"/>
              </a:lnSpc>
            </a:pPr>
            <a:r>
              <a:rPr lang="en-AU" sz="4000" b="1" dirty="0"/>
              <a:t>Record</a:t>
            </a:r>
            <a:r>
              <a:rPr lang="en-AU" sz="4000" dirty="0"/>
              <a:t> the</a:t>
            </a:r>
            <a:r>
              <a:rPr lang="en-AU" sz="4000" b="1" dirty="0"/>
              <a:t> length </a:t>
            </a:r>
            <a:r>
              <a:rPr lang="en-AU" sz="4000" dirty="0"/>
              <a:t>of the eraser in </a:t>
            </a:r>
            <a:r>
              <a:rPr lang="en-AU" sz="4000" b="1" dirty="0"/>
              <a:t>millimetres</a:t>
            </a:r>
            <a:r>
              <a:rPr lang="en-AU" sz="4000" dirty="0"/>
              <a:t>.</a:t>
            </a:r>
          </a:p>
        </p:txBody>
      </p:sp>
      <p:pic>
        <p:nvPicPr>
          <p:cNvPr id="5" name="Picture 4" descr="An eraser and a ruler showing the eraser measuring 3 centimetres.">
            <a:extLst>
              <a:ext uri="{FF2B5EF4-FFF2-40B4-BE49-F238E27FC236}">
                <a16:creationId xmlns:a16="http://schemas.microsoft.com/office/drawing/2014/main" id="{46923B21-D255-38E1-DD8D-D92FE104AD79}"/>
              </a:ext>
            </a:extLst>
          </p:cNvPr>
          <p:cNvPicPr>
            <a:picLocks noChangeAspect="1"/>
          </p:cNvPicPr>
          <p:nvPr/>
        </p:nvPicPr>
        <p:blipFill>
          <a:blip r:embed="rId4"/>
          <a:stretch>
            <a:fillRect/>
          </a:stretch>
        </p:blipFill>
        <p:spPr>
          <a:xfrm>
            <a:off x="3232702" y="3265728"/>
            <a:ext cx="5835950" cy="3340272"/>
          </a:xfrm>
          <a:prstGeom prst="rect">
            <a:avLst/>
          </a:prstGeom>
        </p:spPr>
      </p:pic>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73BB7-FE92-122C-6076-D393343A93D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C3A775-A6BD-047D-2F07-71B16AF807C9}"/>
              </a:ext>
              <a:ext uri="{C183D7F6-B498-43B3-948B-1728B52AA6E4}">
                <adec:decorative xmlns:adec="http://schemas.microsoft.com/office/drawing/2017/decorative" val="1"/>
              </a:ext>
            </a:extLst>
          </p:cNvPr>
          <p:cNvSpPr>
            <a:spLocks noGrp="1"/>
          </p:cNvSpPr>
          <p:nvPr>
            <p:ph type="sldNum" sz="quarter" idx="12"/>
          </p:nvPr>
        </p:nvSpPr>
        <p:spPr>
          <a:xfrm>
            <a:off x="11124000" y="6556822"/>
            <a:ext cx="720000" cy="180000"/>
          </a:xfrm>
        </p:spPr>
        <p:txBody>
          <a:bodyPr/>
          <a:lstStyle/>
          <a:p>
            <a:fld id="{10A01DC5-1685-4615-8240-15192985C6A2}" type="slidenum">
              <a:rPr lang="en-AU" smtClean="0"/>
              <a:t>60</a:t>
            </a:fld>
            <a:endParaRPr lang="en-AU"/>
          </a:p>
        </p:txBody>
      </p:sp>
      <p:sp>
        <p:nvSpPr>
          <p:cNvPr id="3" name="Title 2">
            <a:extLst>
              <a:ext uri="{FF2B5EF4-FFF2-40B4-BE49-F238E27FC236}">
                <a16:creationId xmlns:a16="http://schemas.microsoft.com/office/drawing/2014/main" id="{B16023A1-38C6-70FA-974B-11EC1F278987}"/>
              </a:ext>
            </a:extLst>
          </p:cNvPr>
          <p:cNvSpPr>
            <a:spLocks noGrp="1"/>
          </p:cNvSpPr>
          <p:nvPr>
            <p:ph type="title"/>
          </p:nvPr>
        </p:nvSpPr>
        <p:spPr>
          <a:xfrm>
            <a:off x="387694" y="296371"/>
            <a:ext cx="11484000" cy="545601"/>
          </a:xfrm>
        </p:spPr>
        <p:txBody>
          <a:bodyPr/>
          <a:lstStyle/>
          <a:p>
            <a:r>
              <a:rPr lang="en-AU" dirty="0">
                <a:latin typeface="Arial"/>
                <a:cs typeface="Arial"/>
              </a:rPr>
              <a:t>Activity 8 – multiples of 2, 4 ,5 and 10 (1)</a:t>
            </a:r>
            <a:endParaRPr lang="en-US" dirty="0">
              <a:latin typeface="Arial"/>
              <a:cs typeface="Arial"/>
            </a:endParaRPr>
          </a:p>
        </p:txBody>
      </p:sp>
      <p:pic>
        <p:nvPicPr>
          <p:cNvPr id="4" name="Picture 3" descr="image of a head with cogs turning inside">
            <a:extLst>
              <a:ext uri="{FF2B5EF4-FFF2-40B4-BE49-F238E27FC236}">
                <a16:creationId xmlns:a16="http://schemas.microsoft.com/office/drawing/2014/main" id="{7E3E6BD3-75AD-EC80-FC90-366CB6074AFA}"/>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6" name="Picture 5" descr="A number grid with numbers between 1 and 37. Pink counters overlayed on the number: 4, 8, 12, 16, 20, 24, 32 and 36">
            <a:extLst>
              <a:ext uri="{FF2B5EF4-FFF2-40B4-BE49-F238E27FC236}">
                <a16:creationId xmlns:a16="http://schemas.microsoft.com/office/drawing/2014/main" id="{D8BCE354-E481-240F-F04A-53C3EED65C6B}"/>
              </a:ext>
            </a:extLst>
          </p:cNvPr>
          <p:cNvPicPr>
            <a:picLocks noChangeAspect="1"/>
          </p:cNvPicPr>
          <p:nvPr/>
        </p:nvPicPr>
        <p:blipFill>
          <a:blip r:embed="rId4"/>
          <a:stretch>
            <a:fillRect/>
          </a:stretch>
        </p:blipFill>
        <p:spPr>
          <a:xfrm>
            <a:off x="562608" y="1838012"/>
            <a:ext cx="7150300" cy="3181975"/>
          </a:xfrm>
          <a:prstGeom prst="rect">
            <a:avLst/>
          </a:prstGeom>
        </p:spPr>
      </p:pic>
      <p:grpSp>
        <p:nvGrpSpPr>
          <p:cNvPr id="58" name="Group 57" descr="multiples card '4'">
            <a:extLst>
              <a:ext uri="{FF2B5EF4-FFF2-40B4-BE49-F238E27FC236}">
                <a16:creationId xmlns:a16="http://schemas.microsoft.com/office/drawing/2014/main" id="{F3AB3816-8BF3-5753-1367-5D2ACB48E649}"/>
              </a:ext>
            </a:extLst>
          </p:cNvPr>
          <p:cNvGrpSpPr/>
          <p:nvPr/>
        </p:nvGrpSpPr>
        <p:grpSpPr>
          <a:xfrm>
            <a:off x="8426034" y="1214519"/>
            <a:ext cx="2331781" cy="3203785"/>
            <a:chOff x="987449" y="1030039"/>
            <a:chExt cx="1178464" cy="3209108"/>
          </a:xfrm>
        </p:grpSpPr>
        <p:sp>
          <p:nvSpPr>
            <p:cNvPr id="55" name="Freeform 8">
              <a:extLst>
                <a:ext uri="{FF2B5EF4-FFF2-40B4-BE49-F238E27FC236}">
                  <a16:creationId xmlns:a16="http://schemas.microsoft.com/office/drawing/2014/main" id="{3A05D329-9DCD-BF22-6F78-B3B334C956F4}"/>
                </a:ext>
                <a:ext uri="{C183D7F6-B498-43B3-948B-1728B52AA6E4}">
                  <adec:decorative xmlns:adec="http://schemas.microsoft.com/office/drawing/2017/decorative" val="1"/>
                </a:ext>
              </a:extLst>
            </p:cNvPr>
            <p:cNvSpPr/>
            <p:nvPr/>
          </p:nvSpPr>
          <p:spPr>
            <a:xfrm>
              <a:off x="987449" y="2264596"/>
              <a:ext cx="1178464" cy="1974551"/>
            </a:xfrm>
            <a:custGeom>
              <a:avLst/>
              <a:gdLst/>
              <a:ahLst/>
              <a:cxnLst/>
              <a:rect l="l" t="t" r="r" b="b"/>
              <a:pathLst>
                <a:path w="2442537" h="3942384">
                  <a:moveTo>
                    <a:pt x="0" y="0"/>
                  </a:moveTo>
                  <a:lnTo>
                    <a:pt x="2442537" y="0"/>
                  </a:lnTo>
                  <a:lnTo>
                    <a:pt x="2442537" y="3942384"/>
                  </a:lnTo>
                  <a:lnTo>
                    <a:pt x="0" y="3942384"/>
                  </a:lnTo>
                  <a:lnTo>
                    <a:pt x="0" y="0"/>
                  </a:lnTo>
                  <a:close/>
                </a:path>
              </a:pathLst>
            </a:custGeom>
            <a:blipFill>
              <a:blip r:embed="rId5">
                <a:extLst>
                  <a:ext uri="{96DAC541-7B7A-43D3-8B79-37D633B846F1}">
                    <asvg:svgBlip xmlns:asvg="http://schemas.microsoft.com/office/drawing/2016/SVG/main" r:embed="rId6"/>
                  </a:ext>
                </a:extLst>
              </a:blip>
              <a:stretch>
                <a:fillRect l="-33717" r="-27687"/>
              </a:stretch>
            </a:blipFill>
          </p:spPr>
          <p:txBody>
            <a:bodyPr/>
            <a:lstStyle/>
            <a:p>
              <a:endParaRPr lang="en-AU" sz="1100">
                <a:latin typeface="Edu NSW ACT Foundation" panose="020B0604020202020204" charset="0"/>
              </a:endParaRPr>
            </a:p>
          </p:txBody>
        </p:sp>
        <p:sp>
          <p:nvSpPr>
            <p:cNvPr id="57" name="TextBox 15">
              <a:extLst>
                <a:ext uri="{FF2B5EF4-FFF2-40B4-BE49-F238E27FC236}">
                  <a16:creationId xmlns:a16="http://schemas.microsoft.com/office/drawing/2014/main" id="{16B9A494-38A6-4DE1-3D8E-E527D07EA977}"/>
                </a:ext>
              </a:extLst>
            </p:cNvPr>
            <p:cNvSpPr txBox="1"/>
            <p:nvPr/>
          </p:nvSpPr>
          <p:spPr>
            <a:xfrm>
              <a:off x="1167533" y="1030039"/>
              <a:ext cx="771571" cy="2832125"/>
            </a:xfrm>
            <a:prstGeom prst="rect">
              <a:avLst/>
            </a:prstGeom>
          </p:spPr>
          <p:txBody>
            <a:bodyPr lIns="0" tIns="0" rIns="0" bIns="0" rtlCol="0" anchor="t">
              <a:spAutoFit/>
            </a:bodyPr>
            <a:lstStyle/>
            <a:p>
              <a:pPr algn="ctr">
                <a:lnSpc>
                  <a:spcPts val="26085"/>
                </a:lnSpc>
                <a:spcBef>
                  <a:spcPct val="0"/>
                </a:spcBef>
              </a:pPr>
              <a:r>
                <a:rPr lang="en-US" sz="8000" dirty="0">
                  <a:solidFill>
                    <a:srgbClr val="000000"/>
                  </a:solidFill>
                  <a:latin typeface="Edu NSW ACT Foundation" panose="020B0604020202020204" charset="0"/>
                  <a:ea typeface="Canva Student Font"/>
                  <a:cs typeface="Canva Student Font"/>
                  <a:sym typeface="Canva Student Font"/>
                </a:rPr>
                <a:t>4</a:t>
              </a:r>
            </a:p>
          </p:txBody>
        </p:sp>
      </p:grpSp>
    </p:spTree>
    <p:extLst>
      <p:ext uri="{BB962C8B-B14F-4D97-AF65-F5344CB8AC3E}">
        <p14:creationId xmlns:p14="http://schemas.microsoft.com/office/powerpoint/2010/main" val="2022648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65119-C567-B4BB-4014-CE6CF43F2DF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36DDBA-3512-0646-04C3-8DFEA92A0A23}"/>
              </a:ext>
              <a:ext uri="{C183D7F6-B498-43B3-948B-1728B52AA6E4}">
                <adec:decorative xmlns:adec="http://schemas.microsoft.com/office/drawing/2017/decorative" val="1"/>
              </a:ext>
            </a:extLst>
          </p:cNvPr>
          <p:cNvSpPr>
            <a:spLocks noGrp="1"/>
          </p:cNvSpPr>
          <p:nvPr>
            <p:ph type="sldNum" sz="quarter" idx="12"/>
          </p:nvPr>
        </p:nvSpPr>
        <p:spPr>
          <a:xfrm>
            <a:off x="11124000" y="6556822"/>
            <a:ext cx="720000" cy="180000"/>
          </a:xfrm>
        </p:spPr>
        <p:txBody>
          <a:bodyPr/>
          <a:lstStyle/>
          <a:p>
            <a:fld id="{10A01DC5-1685-4615-8240-15192985C6A2}" type="slidenum">
              <a:rPr lang="en-AU" smtClean="0"/>
              <a:t>61</a:t>
            </a:fld>
            <a:endParaRPr lang="en-AU"/>
          </a:p>
        </p:txBody>
      </p:sp>
      <p:sp>
        <p:nvSpPr>
          <p:cNvPr id="3" name="Title 2">
            <a:extLst>
              <a:ext uri="{FF2B5EF4-FFF2-40B4-BE49-F238E27FC236}">
                <a16:creationId xmlns:a16="http://schemas.microsoft.com/office/drawing/2014/main" id="{4F3C7B87-4920-93EF-7BEF-083F1703ABF3}"/>
              </a:ext>
            </a:extLst>
          </p:cNvPr>
          <p:cNvSpPr>
            <a:spLocks noGrp="1"/>
          </p:cNvSpPr>
          <p:nvPr>
            <p:ph type="title"/>
          </p:nvPr>
        </p:nvSpPr>
        <p:spPr>
          <a:xfrm>
            <a:off x="387694" y="296371"/>
            <a:ext cx="11484000" cy="545601"/>
          </a:xfrm>
        </p:spPr>
        <p:txBody>
          <a:bodyPr/>
          <a:lstStyle/>
          <a:p>
            <a:r>
              <a:rPr lang="en-AU" dirty="0">
                <a:latin typeface="Arial"/>
                <a:cs typeface="Arial"/>
              </a:rPr>
              <a:t>Activity 8 – multiples of 2, 4 ,5 and 10 (2)</a:t>
            </a:r>
            <a:endParaRPr lang="en-US" dirty="0">
              <a:latin typeface="Arial"/>
              <a:cs typeface="Arial"/>
            </a:endParaRPr>
          </a:p>
        </p:txBody>
      </p:sp>
      <p:pic>
        <p:nvPicPr>
          <p:cNvPr id="6" name="Picture 5" descr="image of a head with cogs turning inside">
            <a:extLst>
              <a:ext uri="{FF2B5EF4-FFF2-40B4-BE49-F238E27FC236}">
                <a16:creationId xmlns:a16="http://schemas.microsoft.com/office/drawing/2014/main" id="{63C8B9EF-8E25-ED70-7F75-24C4F1317DB9}"/>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4" name="Picture 3" descr="Multiples board game with 3 rows and 8 columns displaying the following numbers: Row 1 has a 1, 2, 4, 5, 6, 7, 8,&#10;Row 2 has 10, 12, 15, 16, 17, 18, 20&#10;Row 3 has 24, 25, 30, 31, 32, 26, 27.">
            <a:extLst>
              <a:ext uri="{FF2B5EF4-FFF2-40B4-BE49-F238E27FC236}">
                <a16:creationId xmlns:a16="http://schemas.microsoft.com/office/drawing/2014/main" id="{D0E9B10D-A941-FCE8-8F96-B9C2F3F07A9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7694" y="1961535"/>
            <a:ext cx="5411502" cy="3920223"/>
          </a:xfrm>
          <a:prstGeom prst="rect">
            <a:avLst/>
          </a:prstGeom>
        </p:spPr>
      </p:pic>
      <p:pic>
        <p:nvPicPr>
          <p:cNvPr id="5" name="Picture 4" descr="Multiples game rule cards displaying the following numbers on each card 2, 2, 4, 4, 5, 5, 10 and 10.">
            <a:extLst>
              <a:ext uri="{FF2B5EF4-FFF2-40B4-BE49-F238E27FC236}">
                <a16:creationId xmlns:a16="http://schemas.microsoft.com/office/drawing/2014/main" id="{4C85720A-78CC-34E0-F1FB-861D4FCC06F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22935" y="2153264"/>
            <a:ext cx="5083927" cy="3858981"/>
          </a:xfrm>
          <a:prstGeom prst="rect">
            <a:avLst/>
          </a:prstGeom>
        </p:spPr>
      </p:pic>
    </p:spTree>
    <p:extLst>
      <p:ext uri="{BB962C8B-B14F-4D97-AF65-F5344CB8AC3E}">
        <p14:creationId xmlns:p14="http://schemas.microsoft.com/office/powerpoint/2010/main" val="4261684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62</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63</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67</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68</a:t>
            </a:fld>
            <a:endParaRPr lang="en-AU"/>
          </a:p>
        </p:txBody>
      </p:sp>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a:t>Multiple choice </a:t>
            </a:r>
            <a:r>
              <a:rPr lang="en-US">
                <a:solidFill>
                  <a:schemeClr val="bg1"/>
                </a:solidFill>
              </a:rPr>
              <a:t>(6)</a:t>
            </a:r>
          </a:p>
        </p:txBody>
      </p:sp>
      <p:sp>
        <p:nvSpPr>
          <p:cNvPr id="14" name="Text Placeholder 13">
            <a:extLst>
              <a:ext uri="{FF2B5EF4-FFF2-40B4-BE49-F238E27FC236}">
                <a16:creationId xmlns:a16="http://schemas.microsoft.com/office/drawing/2014/main" id="{AB4F46E8-39CC-516C-AA47-44AFBB8D4DF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E2AEB52E-AFAA-8A1C-4AC0-681B940D016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E4A5EB3-F414-A07E-B091-A6903C289403}"/>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DD9E4C8E-C942-2FA4-6AAC-B2B3D321FC2F}"/>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17539DAC-4E92-AFE5-86E8-50C88518EFA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33B1A6-4106-9E75-7645-88335BABE19D}"/>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8ADB1A3-D5FD-9EC3-BED8-5982F1544E0E}"/>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7E4BDDCB-88AF-EC45-6F07-05B50A0060D2}"/>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dirty="0">
                <a:latin typeface="+mj-lt"/>
              </a:rPr>
              <a:t>References (1)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69</a:t>
            </a:fld>
            <a:endParaRPr lang="en-AU"/>
          </a:p>
        </p:txBody>
      </p:sp>
      <p:sp>
        <p:nvSpPr>
          <p:cNvPr id="8" name="Content Placeholder 3">
            <a:extLst>
              <a:ext uri="{FF2B5EF4-FFF2-40B4-BE49-F238E27FC236}">
                <a16:creationId xmlns:a16="http://schemas.microsoft.com/office/drawing/2014/main" id="{91E23510-FDB3-F836-B23A-FDA0F7C195F4}"/>
              </a:ext>
            </a:extLst>
          </p:cNvPr>
          <p:cNvSpPr txBox="1">
            <a:spLocks/>
          </p:cNvSpPr>
          <p:nvPr/>
        </p:nvSpPr>
        <p:spPr>
          <a:xfrm>
            <a:off x="360000" y="3429000"/>
            <a:ext cx="11484000" cy="2927351"/>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200" b="0" kern="1200">
                <a:solidFill>
                  <a:schemeClr val="tx1"/>
                </a:solidFill>
                <a:latin typeface="+mn-lt"/>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2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2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a:cs typeface="Arial"/>
                <a:hlinkClick r:id="rId6"/>
              </a:rPr>
              <a:t>Mathematics K-10 Syllabus </a:t>
            </a:r>
            <a:r>
              <a:rPr lang="en-AU">
                <a:cs typeface="Arial"/>
              </a:rPr>
              <a:t>© Syllabus NSW Education Standards Authority (NESA) for and on behalf of the Crown in right of the State of New South Wales, 2022.</a:t>
            </a:r>
          </a:p>
          <a:p>
            <a:pPr fontAlgn="base"/>
            <a:r>
              <a:rPr lang="en-AU">
                <a:solidFill>
                  <a:schemeClr val="accent2"/>
                </a:solidFill>
                <a:cs typeface="Arial"/>
                <a:hlinkClick r:id="rId7"/>
              </a:rPr>
              <a:t>National Numeracy Learning Progression</a:t>
            </a:r>
            <a:r>
              <a:rPr lang="en-AU">
                <a:cs typeface="Arial"/>
                <a:hlinkClick r:id="rId7"/>
              </a:rPr>
              <a:t> </a:t>
            </a:r>
            <a:r>
              <a:rPr lang="en-AU">
                <a:cs typeface="Arial"/>
              </a:rPr>
              <a:t>© Australian Curriculum, Assessment and Reporting Authority (ACARA) 2010 to present, unless otherwise indicated. This material was downloaded from the </a:t>
            </a:r>
            <a:r>
              <a:rPr lang="en-AU">
                <a:solidFill>
                  <a:schemeClr val="accent2"/>
                </a:solidFill>
                <a:cs typeface="Arial"/>
                <a:hlinkClick r:id="rId8">
                  <a:extLst>
                    <a:ext uri="{A12FA001-AC4F-418D-AE19-62706E023703}">
                      <ahyp:hlinkClr xmlns:ahyp="http://schemas.microsoft.com/office/drawing/2018/hyperlinkcolor" val="tx"/>
                    </a:ext>
                  </a:extLst>
                </a:hlinkClick>
              </a:rPr>
              <a:t>Australian Curriculum</a:t>
            </a:r>
            <a:r>
              <a:rPr lang="en-AU">
                <a:solidFill>
                  <a:schemeClr val="accent2"/>
                </a:solidFill>
                <a:cs typeface="Arial"/>
              </a:rPr>
              <a:t> </a:t>
            </a:r>
            <a:r>
              <a:rPr lang="en-AU">
                <a:cs typeface="Arial"/>
              </a:rPr>
              <a:t>website (National Numeracy Learning Progression) (accessed 17 January 2024) and was not modified. </a:t>
            </a:r>
          </a:p>
          <a:p>
            <a:pPr fontAlgn="base"/>
            <a:r>
              <a:rPr lang="en-AU"/>
              <a:t>Gould P (2013) ‘Australia's next top fraction model’, Australian Primary Mathematics Classroom, 18(3):5–12. </a:t>
            </a:r>
          </a:p>
          <a:p>
            <a:pPr fontAlgn="base"/>
            <a:r>
              <a:rPr lang="en-AU">
                <a:cs typeface="Arial"/>
              </a:rPr>
              <a:t>Math Open Reference (2011) </a:t>
            </a:r>
            <a:r>
              <a:rPr lang="en-AU">
                <a:solidFill>
                  <a:schemeClr val="accent2"/>
                </a:solidFill>
                <a:cs typeface="Arial"/>
                <a:hlinkClick r:id="rId9">
                  <a:extLst>
                    <a:ext uri="{A12FA001-AC4F-418D-AE19-62706E023703}">
                      <ahyp:hlinkClr xmlns:ahyp="http://schemas.microsoft.com/office/drawing/2018/hyperlinkcolor" val="tx"/>
                    </a:ext>
                  </a:extLst>
                </a:hlinkClick>
              </a:rPr>
              <a:t>Complement</a:t>
            </a:r>
            <a:r>
              <a:rPr lang="en-AU">
                <a:cs typeface="Arial"/>
              </a:rPr>
              <a:t>, Math Open Reference website, accessed 2 February 2024. </a:t>
            </a:r>
          </a:p>
          <a:p>
            <a:pPr fontAlgn="base"/>
            <a:r>
              <a:rPr lang="en-AU">
                <a:cs typeface="Arial"/>
              </a:rPr>
              <a:t>Maths Learning Centre (2025) Number lines, Math apps website, accessed 4 July 2025</a:t>
            </a:r>
          </a:p>
          <a:p>
            <a:pPr fontAlgn="base"/>
            <a:r>
              <a:rPr lang="en-AU">
                <a:cs typeface="Arial"/>
              </a:rPr>
              <a:t>New Zealand Ministry of Education (n.d.) ‘Common multiples’, Resources, NZ Maths website, accessed 17 January 2024. </a:t>
            </a:r>
          </a:p>
          <a:p>
            <a:pPr fontAlgn="base"/>
            <a:r>
              <a:rPr lang="en-AU">
                <a:cs typeface="Arial"/>
              </a:rPr>
              <a:t>New Zealand Ministry of Education (n.d.) ‘Little Bites at Big Multiplications and Divisions’, Resources, NZ Maths website, accessed 17 January 2024. </a:t>
            </a:r>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70</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dirty="0"/>
              <a:t>References (2)</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vert="horz" lIns="0" tIns="0" rIns="0" bIns="0" rtlCol="0" anchor="t">
            <a:noAutofit/>
          </a:bodyPr>
          <a:lstStyle/>
          <a:p>
            <a:pPr algn="l" rtl="0" fontAlgn="base"/>
            <a:r>
              <a:rPr lang="en-AU">
                <a:cs typeface="Arial"/>
              </a:rPr>
              <a:t>Siemon D, Warren E, Beswick K, Faragher R, Miller J, Horne M, </a:t>
            </a:r>
            <a:r>
              <a:rPr lang="en-AU" err="1">
                <a:cs typeface="Arial"/>
              </a:rPr>
              <a:t>Jazby</a:t>
            </a:r>
            <a:r>
              <a:rPr lang="en-AU">
                <a:cs typeface="Arial"/>
              </a:rPr>
              <a:t> D, Breed M, Clark J and Brady K (2020) Teaching Mathematics: Foundations to Middle Years, 3rd edition, Oxford University Press Australia and New Zealand.</a:t>
            </a:r>
          </a:p>
          <a:p>
            <a:pPr algn="l" rtl="0" fontAlgn="base"/>
            <a:r>
              <a:rPr lang="en-AU">
                <a:cs typeface="Arial"/>
              </a:rPr>
              <a:t>Sullivan P and Lilburn P (2017) Open-Ended Maths Activities: Using Good Questions to Enhance Learning Mathematics, 2nd </a:t>
            </a:r>
            <a:r>
              <a:rPr lang="en-AU" err="1">
                <a:cs typeface="Arial"/>
              </a:rPr>
              <a:t>edn</a:t>
            </a:r>
            <a:r>
              <a:rPr lang="en-AU">
                <a:cs typeface="Arial"/>
              </a:rPr>
              <a:t>, Oxford University Press Australia and New Zealand, Great Britain. </a:t>
            </a:r>
          </a:p>
          <a:p>
            <a:pPr algn="l" rtl="0" fontAlgn="base"/>
            <a:r>
              <a:rPr lang="en-AU">
                <a:cs typeface="Arial"/>
              </a:rPr>
              <a:t>University of Cambridge (n.d.) </a:t>
            </a:r>
            <a:r>
              <a:rPr lang="en-AU">
                <a:solidFill>
                  <a:schemeClr val="accent2"/>
                </a:solidFill>
                <a:cs typeface="Arial"/>
                <a:hlinkClick r:id="rId3">
                  <a:extLst>
                    <a:ext uri="{A12FA001-AC4F-418D-AE19-62706E023703}">
                      <ahyp:hlinkClr xmlns:ahyp="http://schemas.microsoft.com/office/drawing/2018/hyperlinkcolor" val="tx"/>
                    </a:ext>
                  </a:extLst>
                </a:hlinkClick>
              </a:rPr>
              <a:t>Cuisenaire Environment</a:t>
            </a:r>
            <a:r>
              <a:rPr lang="en-AU">
                <a:cs typeface="Arial"/>
              </a:rPr>
              <a:t>, NRICH website, accessed 17 January 2024. </a:t>
            </a:r>
          </a:p>
          <a:p>
            <a:pPr algn="l" rtl="0" fontAlgn="base"/>
            <a:r>
              <a:rPr lang="en-AU">
                <a:cs typeface="Arial"/>
              </a:rPr>
              <a:t>Van de Walle J, Karp K, Bay-Williams JM, Brass A, Bentley B, Ferguson S, Goff W, Livy S, Marshman M, Martin D, Pearn C, </a:t>
            </a:r>
            <a:r>
              <a:rPr lang="en-AU" err="1">
                <a:cs typeface="Arial"/>
              </a:rPr>
              <a:t>Prodromou</a:t>
            </a:r>
            <a:r>
              <a:rPr lang="en-AU">
                <a:cs typeface="Arial"/>
              </a:rPr>
              <a:t> T, Symons D and Wilkie K (2019) Primary and Middle Years Mathematics: Teaching Developmentally, 1st Australian </a:t>
            </a:r>
            <a:r>
              <a:rPr lang="en-AU" err="1">
                <a:cs typeface="Arial"/>
              </a:rPr>
              <a:t>edn</a:t>
            </a:r>
            <a:r>
              <a:rPr lang="en-AU">
                <a:cs typeface="Arial"/>
              </a:rPr>
              <a:t>, Pearson Education Australia, Melbourne. </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5">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6">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Tree>
    <p:extLst>
      <p:ext uri="{BB962C8B-B14F-4D97-AF65-F5344CB8AC3E}">
        <p14:creationId xmlns:p14="http://schemas.microsoft.com/office/powerpoint/2010/main" val="2883748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c91fdd3e284047c3db16c369a1d39c66">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412f8ac8e43c8402a44260f543b0aa7c"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00DA3D-9F99-458E-9DAB-0CE3DD324CEB}">
  <ds:schemaRefs>
    <ds:schemaRef ds:uri="http://schemas.microsoft.com/sharepoint/v3/contenttype/forms"/>
  </ds:schemaRefs>
</ds:datastoreItem>
</file>

<file path=customXml/itemProps2.xml><?xml version="1.0" encoding="utf-8"?>
<ds:datastoreItem xmlns:ds="http://schemas.openxmlformats.org/officeDocument/2006/customXml" ds:itemID="{92A79ED5-3D27-435D-B83C-BD2537F20B0A}">
  <ds:schemaRefs>
    <ds:schemaRef ds:uri="http://schemas.microsoft.com/office/2006/documentManagement/types"/>
    <ds:schemaRef ds:uri="http://purl.org/dc/elements/1.1/"/>
    <ds:schemaRef ds:uri="http://schemas.openxmlformats.org/package/2006/metadata/core-properties"/>
    <ds:schemaRef ds:uri="http://purl.org/dc/terms/"/>
    <ds:schemaRef ds:uri="http://purl.org/dc/dcmitype/"/>
    <ds:schemaRef ds:uri="http://schemas.microsoft.com/office/infopath/2007/PartnerControls"/>
    <ds:schemaRef ds:uri="60129b06-f64b-40a8-96e2-c5b2f86112b1"/>
    <ds:schemaRef ds:uri="7e763d47-3c66-4c58-9425-1477fd3ccd1e"/>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C03A6AF7-193F-4F25-ACF9-DA158E9F5A3F}"/>
</file>

<file path=docProps/app.xml><?xml version="1.0" encoding="utf-8"?>
<Properties xmlns="http://schemas.openxmlformats.org/officeDocument/2006/extended-properties" xmlns:vt="http://schemas.openxmlformats.org/officeDocument/2006/docPropsVTypes">
  <Template>student-facing-primary-template-2025-v1-5</Template>
  <TotalTime>988</TotalTime>
  <Words>6262</Words>
  <Application>Microsoft Office PowerPoint</Application>
  <PresentationFormat>Widescreen</PresentationFormat>
  <Paragraphs>805</Paragraphs>
  <Slides>71</Slides>
  <Notes>71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71</vt:i4>
      </vt:variant>
    </vt:vector>
  </HeadingPairs>
  <TitlesOfParts>
    <vt:vector size="82" baseType="lpstr">
      <vt:lpstr>Montserrat</vt:lpstr>
      <vt:lpstr>Wingdings</vt:lpstr>
      <vt:lpstr>Arial</vt:lpstr>
      <vt:lpstr>Times New Roman</vt:lpstr>
      <vt:lpstr>Edu NSW ACT Foundation</vt:lpstr>
      <vt:lpstr>Public Sans Light</vt:lpstr>
      <vt:lpstr>Public Sans</vt:lpstr>
      <vt:lpstr>Calibri</vt:lpstr>
      <vt:lpstr>Cambria Math</vt:lpstr>
      <vt:lpstr>Cambria</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What is half?</vt:lpstr>
      <vt:lpstr>Review of learning 2</vt:lpstr>
      <vt:lpstr>True or false (1)</vt:lpstr>
      <vt:lpstr>Short response (5)</vt:lpstr>
      <vt:lpstr>Short response (6)</vt:lpstr>
      <vt:lpstr>Short response (7)</vt:lpstr>
      <vt:lpstr>Short response (8)</vt:lpstr>
      <vt:lpstr>Activity 2 – wholes on a fraction wall</vt:lpstr>
      <vt:lpstr>Review of learning 3</vt:lpstr>
      <vt:lpstr>Multiple choice (2)</vt:lpstr>
      <vt:lpstr>Short response (9)</vt:lpstr>
      <vt:lpstr>Short response (10)</vt:lpstr>
      <vt:lpstr>Short response (11)</vt:lpstr>
      <vt:lpstr>Short response (12)</vt:lpstr>
      <vt:lpstr>Activity 3 – Who is correct?</vt:lpstr>
      <vt:lpstr>Review of learning 4</vt:lpstr>
      <vt:lpstr>True or false (2)</vt:lpstr>
      <vt:lpstr>Short response (13)</vt:lpstr>
      <vt:lpstr>Short response (14)</vt:lpstr>
      <vt:lpstr>Short response (15)</vt:lpstr>
      <vt:lpstr>Short response (16)</vt:lpstr>
      <vt:lpstr>Activity 4 – fractions on a number line</vt:lpstr>
      <vt:lpstr>Review of learning 5</vt:lpstr>
      <vt:lpstr>Multiple choice (3)</vt:lpstr>
      <vt:lpstr>Short response (17)</vt:lpstr>
      <vt:lpstr>Short response (18)</vt:lpstr>
      <vt:lpstr>Short response (19)</vt:lpstr>
      <vt:lpstr>Short response (20)</vt:lpstr>
      <vt:lpstr>Activity 5 – arrays for multiples of 2 and 4</vt:lpstr>
      <vt:lpstr>Review of learning 6</vt:lpstr>
      <vt:lpstr>True or false (3)</vt:lpstr>
      <vt:lpstr>Short response (21)</vt:lpstr>
      <vt:lpstr>Short response (22)</vt:lpstr>
      <vt:lpstr>Short response (23)</vt:lpstr>
      <vt:lpstr>Short response (24)</vt:lpstr>
      <vt:lpstr>Activity 6 – doubling and halving</vt:lpstr>
      <vt:lpstr>Review of learning 7</vt:lpstr>
      <vt:lpstr>Multiple choice (4)</vt:lpstr>
      <vt:lpstr>Short response (25)</vt:lpstr>
      <vt:lpstr>Short response (26)</vt:lpstr>
      <vt:lpstr>Short response (27)</vt:lpstr>
      <vt:lpstr>Short response (28)</vt:lpstr>
      <vt:lpstr>Activity 7 –  multiples madness (1)</vt:lpstr>
      <vt:lpstr>Activity 7 – multiples madness (2)</vt:lpstr>
      <vt:lpstr>Review of learning 8</vt:lpstr>
      <vt:lpstr>True or false (4)</vt:lpstr>
      <vt:lpstr>Short response (29)</vt:lpstr>
      <vt:lpstr>Short response (30)</vt:lpstr>
      <vt:lpstr>Short response (31)</vt:lpstr>
      <vt:lpstr>Short response (32)</vt:lpstr>
      <vt:lpstr>Activity 8 – multiples of 2, 4 ,5 and 10 (1)</vt:lpstr>
      <vt:lpstr>Activity 8 – multiples of 2, 4 ,5 and 10 (2)</vt:lpstr>
      <vt:lpstr>Double Venn diagram</vt:lpstr>
      <vt:lpstr>Frayer</vt:lpstr>
      <vt:lpstr>Spider map</vt:lpstr>
      <vt:lpstr>Cline</vt:lpstr>
      <vt:lpstr>Compare and contrast</vt:lpstr>
      <vt:lpstr>Multiple choice (5)</vt:lpstr>
      <vt:lpstr>Multiple choice (6)</vt:lpstr>
      <vt:lpstr>References (1)</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2025-08-01T06:37:50Z</dcterms:created>
  <dcterms:modified xsi:type="dcterms:W3CDTF">2025-12-01T01:24:50Z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