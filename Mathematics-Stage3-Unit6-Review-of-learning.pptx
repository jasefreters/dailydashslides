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64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2"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30"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47" r:id="rId72"/>
    <p:sldId id="361" r:id="rId73"/>
  </p:sldIdLst>
  <p:sldSz cx="12192000" cy="6858000"/>
  <p:notesSz cx="6858000" cy="9144000"/>
  <p:embeddedFontLst>
    <p:embeddedFont>
      <p:font typeface="Aptos Narrow" panose="020B0004020202020204" pitchFamily="34" charset="0"/>
      <p:regular r:id="rId76"/>
      <p:bold r:id="rId77"/>
      <p:italic r:id="rId78"/>
      <p:boldItalic r:id="rId79"/>
    </p:embeddedFont>
    <p:embeddedFont>
      <p:font typeface="Cambria Math" panose="02040503050406030204" pitchFamily="18" charset="0"/>
      <p:regular r:id="rId80"/>
    </p:embeddedFont>
    <p:embeddedFont>
      <p:font typeface="Edu NSW ACT Foundation" panose="020B0604020202020204" charset="0"/>
      <p:regular r:id="rId81"/>
      <p:bold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64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30"/>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47"/>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B36B902F-6F14-FDC8-5F7B-570CA3145C15}" name="Melinda Ojeda" initials="MO" userId="S::melinda.ojeda@det.nsw.edu.au::d90aca96-824c-4874-b48e-bcce1db91155" providerId="AD"/>
  <p188:author id="{95D16B7D-CADB-F2BF-AC29-D680545C75EE}" name="Carrie Webeck" initials="CW" userId="S::CARRIE-ANN.WEBECK@det.nsw.edu.au::e5c4b697-ca15-4f3a-a906-1289ddc2fc07" providerId="AD"/>
  <p188:author id="{3990FD7D-A604-C51E-94A2-DF747800638D}" name="Daniella Brunetta" initials="DB" userId="S::daniella.brunetta@det.nsw.edu.au::4e084810-29e2-4b0b-806a-947d4f6d8f39"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C24"/>
    <a:srgbClr val="FF8632"/>
    <a:srgbClr val="7647D0"/>
    <a:srgbClr val="EA9B0C"/>
    <a:srgbClr val="007A8A"/>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0" autoAdjust="0"/>
    <p:restoredTop sz="83177" autoAdjust="0"/>
  </p:normalViewPr>
  <p:slideViewPr>
    <p:cSldViewPr snapToGrid="0">
      <p:cViewPr varScale="1">
        <p:scale>
          <a:sx n="81" d="100"/>
          <a:sy n="81" d="100"/>
        </p:scale>
        <p:origin x="588" y="60"/>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4</a:t>
            </a:r>
          </a:p>
          <a:p>
            <a:pPr marL="285750" indent="-285750">
              <a:buFont typeface="Arial" panose="020B0604020202020204" pitchFamily="34" charset="0"/>
              <a:buChar char="•"/>
            </a:pPr>
            <a:r>
              <a:rPr lang="en-AU"/>
              <a:t>Stage 3 Year A Unit 5</a:t>
            </a:r>
          </a:p>
          <a:p>
            <a:pPr marL="285750" indent="-285750">
              <a:buFont typeface="Arial" panose="020B0604020202020204" pitchFamily="34" charset="0"/>
              <a:buChar char="•"/>
            </a:pPr>
            <a:r>
              <a:rPr lang="en-AU"/>
              <a:t>Stage 3 Year A Unit 6</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 Position</a:t>
            </a:r>
            <a:r>
              <a:rPr lang="en-AU">
                <a:latin typeface="Arial"/>
                <a:cs typeface="Arial"/>
              </a:rPr>
              <a:t> (Note: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50000"/>
              </a:lnSpc>
              <a:spcBef>
                <a:spcPts val="1200"/>
              </a:spcBef>
              <a:spcAft>
                <a:spcPts val="600"/>
              </a:spcAft>
              <a:buFont typeface="+mj-lt"/>
              <a:buNone/>
            </a:pPr>
            <a:r>
              <a:rPr lang="en-AU" sz="2000" b="1">
                <a:effectLst/>
              </a:rPr>
              <a:t>Note: </a:t>
            </a:r>
            <a:r>
              <a:rPr lang="en-AU" sz="2000">
                <a:effectLst/>
              </a:rPr>
              <a:t>This slide is designed to be used in presentation mode.</a:t>
            </a:r>
          </a:p>
          <a:p>
            <a:pPr marL="0" lvl="0" indent="0">
              <a:lnSpc>
                <a:spcPct val="150000"/>
              </a:lnSpc>
              <a:spcBef>
                <a:spcPts val="1200"/>
              </a:spcBef>
              <a:spcAft>
                <a:spcPts val="600"/>
              </a:spcAft>
              <a:buFont typeface="+mj-lt"/>
              <a:buNone/>
            </a:pPr>
            <a:endParaRPr lang="en-AU" sz="2000">
              <a:effectLst/>
            </a:endParaRPr>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latin typeface="Arial"/>
                <a:cs typeface="Arial"/>
              </a:rPr>
              <a:t>Tug of war- adding and subtracting</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Tug of War from NRICH by University of Cambridge (Faculty of Mathematics).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Give pairs of students a coloured counter, three 6-sided dice and a piece of paper.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a number line on the paper with the values 100, 125 and 150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student is the ‘</a:t>
            </a:r>
            <a:r>
              <a:rPr lang="en-AU" sz="1600" kern="1200" err="1">
                <a:solidFill>
                  <a:schemeClr val="tx1"/>
                </a:solidFill>
                <a:effectLst/>
                <a:latin typeface="Arial" panose="020B0604020202020204" pitchFamily="34" charset="0"/>
                <a:ea typeface="+mn-ea"/>
                <a:cs typeface="Arial" panose="020B0604020202020204" pitchFamily="34" charset="0"/>
              </a:rPr>
              <a:t>Plus’</a:t>
            </a:r>
            <a:r>
              <a:rPr lang="en-AU" sz="1600" kern="1200">
                <a:solidFill>
                  <a:schemeClr val="tx1"/>
                </a:solidFill>
                <a:effectLst/>
                <a:latin typeface="Arial" panose="020B0604020202020204" pitchFamily="34" charset="0"/>
                <a:ea typeface="+mn-ea"/>
                <a:cs typeface="Arial" panose="020B0604020202020204" pitchFamily="34" charset="0"/>
              </a:rPr>
              <a:t> and the other student is the ‘Minus’. Plus moves right and Minus moves left.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place the counter on the number 125 and take turns to roll the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add the numbers on the dice and move the counter the corresponding number of places in their direction. For example, if the dice adds to 15 the ‘</a:t>
            </a:r>
            <a:r>
              <a:rPr lang="en-AU" sz="1600" kern="1200" err="1">
                <a:solidFill>
                  <a:schemeClr val="tx1"/>
                </a:solidFill>
                <a:effectLst/>
                <a:latin typeface="Arial" panose="020B0604020202020204" pitchFamily="34" charset="0"/>
                <a:ea typeface="+mn-ea"/>
                <a:cs typeface="Arial" panose="020B0604020202020204" pitchFamily="34" charset="0"/>
              </a:rPr>
              <a:t>plus’</a:t>
            </a:r>
            <a:r>
              <a:rPr lang="en-AU" sz="1600" kern="1200">
                <a:solidFill>
                  <a:schemeClr val="tx1"/>
                </a:solidFill>
                <a:effectLst/>
                <a:latin typeface="Arial" panose="020B0604020202020204" pitchFamily="34" charset="0"/>
                <a:ea typeface="+mn-ea"/>
                <a:cs typeface="Arial" panose="020B0604020202020204" pitchFamily="34" charset="0"/>
              </a:rPr>
              <a:t> student will move to 140.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the number they land on along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continue until the counter either reaches 100 or 150. If it gets to 100, ‘Minus’ wins and if it gets to 150, ‘</a:t>
            </a:r>
            <a:r>
              <a:rPr lang="en-AU" sz="1600" kern="1200" err="1">
                <a:solidFill>
                  <a:schemeClr val="tx1"/>
                </a:solidFill>
                <a:effectLst/>
                <a:latin typeface="Arial" panose="020B0604020202020204" pitchFamily="34" charset="0"/>
                <a:ea typeface="+mn-ea"/>
                <a:cs typeface="Arial" panose="020B0604020202020204" pitchFamily="34" charset="0"/>
              </a:rPr>
              <a:t>Plus’</a:t>
            </a:r>
            <a:r>
              <a:rPr lang="en-AU" sz="1600" kern="1200">
                <a:solidFill>
                  <a:schemeClr val="tx1"/>
                </a:solidFill>
                <a:effectLst/>
                <a:latin typeface="Arial" panose="020B0604020202020204" pitchFamily="34" charset="0"/>
                <a:ea typeface="+mn-ea"/>
                <a:cs typeface="Arial" panose="020B0604020202020204" pitchFamily="34" charset="0"/>
              </a:rPr>
              <a:t> wins.</a:t>
            </a:r>
          </a:p>
          <a:p>
            <a:pPr marL="285750" indent="-285750">
              <a:buFont typeface="Arial" panose="020B0604020202020204" pitchFamily="34" charset="0"/>
              <a:buChar char="•"/>
            </a:pP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628624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 (Note: Stage 2 content reviewed)</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latin typeface="Arial"/>
              <a:cs typeface="Arial"/>
            </a:endParaRPr>
          </a:p>
          <a:p>
            <a:r>
              <a:rPr lang="en-AU" b="1">
                <a:latin typeface="Arial"/>
                <a:cs typeface="Arial"/>
              </a:rPr>
              <a:t>Adding 3-digit numbers</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Dicey Operations in Line from NRICH by University of Cambridge (Faculty of Mathematics).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9 blank number cells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play in pairs. They take turns to roll a 6-sided die and fill a cell each time with numbers they have rolled.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continue until they have filled in all 9 of their cells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add the 3 numbers. The winner is the student that gets closest to 1000, whether the number is higher or lower than 1000.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can play multiple rounds. As students get more familiar with the game they can work more strategically when filling the cells in.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effectLst/>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2D shapes (Note: Stage 2 content reviewed)</a:t>
            </a:r>
            <a:endParaRPr lang="en-AU" sz="1600" i="0" dirty="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latin typeface="Arial"/>
                <a:cs typeface="Arial"/>
              </a:rPr>
              <a:t>Subtracting 4-digit numbers</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Dicey Operations in Line from NRICH by University of Cambridge (Faculty of Mathematics).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8 blank number cells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play in pairs. They take turns to roll a 6-sided die 8 times and record the 8 numbers they have rolled.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place their largest number in the first cell, then continue to fill the rest of the cells until they have made two 4-digit numbers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then subtract the 2 numbers. The winner is the student that gets closest to 1000, whether the number is higher or lower than 1000.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can play multiple rounds. As students get more familiar with the game they can work more strategically when filling the cells in.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 (Note: Stage 2 content reviewed)</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latin typeface="Arial"/>
                <a:cs typeface="Arial"/>
              </a:rPr>
              <a:t>Applying strategies to subtract</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Subtracting reverses from Maths for Love by Finkel.</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question: What happens when you take the difference of a number and its reverse?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a 9-sided die and prompt them to roll it three times to generate and record a 3-digit number on an individual whiteboard.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reverse the number and then subtract the smaller from the larger number. For example, the reversal of 236 is 632. The equation is 632 ­ 236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find the difference between the two numbers and then repeat the process. For example, 632- ­ 236 = 394 so the next reversal will be 493- ­ 394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Pairs continue to generate numbers and subtract the reversals.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Can you see a pattern emerging?</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Are there any numbers that won’t come to 99? </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Can you predict when the answer will be 99 on the next step?</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Do you think this pattern would continue when creating a 2-digit or 4-digit number?</a:t>
            </a:r>
          </a:p>
          <a:p>
            <a:pPr marL="285750" indent="-285750">
              <a:buFont typeface="Courier New" panose="02070309020205020404" pitchFamily="49" charset="0"/>
              <a:buChar char="o"/>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 (Note: Stage 2 content reviewed)</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latin typeface="Arial"/>
                <a:cs typeface="Arial"/>
              </a:rPr>
              <a:t>Recognising a smaller and larger number</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from Open-ended Maths Activities: Using ‘Good’ Questions to Enhance Learning in Mathematics by Sullivan and Lilburn.</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Write an 8-digit number on the board. Have students read the number aloud.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a number that is larger than this number and a number that is smaller.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Both numbers must have the same number of digits as the original number on the 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and read their numbers to a peer.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various students’ numbers on the board and ask the following questions: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do you know this number is smaller than the one on the board?</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do you know this number is larger than the one on the board?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 Time (Note: Stage 2 content reviewed)</a:t>
            </a:r>
            <a:endParaRPr lang="en-AU" sz="1600" i="0" dirty="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r>
              <a:rPr lang="en-AU" b="1">
                <a:latin typeface="Arial"/>
                <a:cs typeface="Arial"/>
              </a:rPr>
              <a:t>Mastermind- naming numbers in the millions</a:t>
            </a:r>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Mastermind from Mathematics K-6 resources by State of New South Wales (Department of Education). </a:t>
            </a:r>
          </a:p>
          <a:p>
            <a:pPr marL="285750" lvl="0" indent="-285750">
              <a:buFont typeface="Arial"/>
              <a:buChar char="•"/>
            </a:pP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In pairs, Player 1 writes down a 7-digit number without showing their partner.</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Player 2 guesses their opponent’s 7-digit number. Guessed numbers should be written down, said aloud and named correctly using place value language.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After each guess, Player 1 marks, under each digit, the following symbols:</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a tick for the correct digit in the correct place</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a circle for a correct digit but not in the correct place</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a cross for an incorrect digit </a:t>
            </a:r>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in the example in Figure 13, player 1’s number is 7 246 384 and the guess is 3 217 689. There are 2 correct digits in the correct place (tens and hundred thousand), 3 correct digits in the wrong place (millions, thousands and hundreds) and 2 incorrect thousand.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Players use this information to refine their guesses.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to correctly guess their opponent’s number in the least amount of turns is the winner.</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The level of difficulty can be changed by using numbers with more or fewer digits.</a:t>
            </a:r>
            <a:endParaRPr lang="en-AU" sz="1600" kern="1200">
              <a:solidFill>
                <a:schemeClr val="tx1"/>
              </a:solidFill>
              <a:effectLst/>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whole numbers A</a:t>
            </a: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(Note: Stage 2 content reviewed)</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latin typeface="Arial"/>
                <a:cs typeface="Arial"/>
              </a:rPr>
              <a:t>Reading numbers in the millions</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‘Reading large numbers’ from Teaching Mathematics Foundations to Middle Years by Siemon et al.</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Write a series of numbers on the board going from right to left. As each new number is added, have students read them out. For example, 7, 17, 317, 4317, 94 317.</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repeat the task by rolling a 9-sided die and recording the number rolled from right to left. As each number is rolled, the partner reads out the new number.</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Pairs continue until a 9-digit number is recorded and then swap rolls.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Repeat the activity but this time record and say the numbers from left to right.</a:t>
            </a:r>
            <a:endParaRPr lang="en-AU" sz="1600" kern="1200">
              <a:solidFill>
                <a:schemeClr val="tx1"/>
              </a:solidFill>
              <a:effectLst/>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 2D shapes</a:t>
            </a:r>
            <a:r>
              <a:rPr lang="en-AU">
                <a:latin typeface="Arial"/>
                <a:cs typeface="Arial"/>
              </a:rPr>
              <a:t> (Note: Stage 2 content reviewed)</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latin typeface="Arial"/>
                <a:cs typeface="Arial"/>
              </a:rPr>
              <a:t>Ordering numbers in the millions</a:t>
            </a:r>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Order! Order! (four-digit numbers) from Mathematics K-6 resources by State of New South Wales (Department of Education).</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This game may be played individually, in pairs or in small groups.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Use a 9-sided die to generate a 7-digit number. The number is recorded on a sticky note. </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Repeat this process to make 4 different 7-digit numbers.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The aim of the game is to rearrange the sticky notes so the numbers are in ascending order in the fewest moves possible, moving adjacent sticky notes only and recording the number of moves required.</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Repeat with 4 new numbers arranging the sticky notes so the numbers are in descending order.</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Observe students and ask questions, such as:</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will your next move be? Why?</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largest number? How do you know?</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smallest number? How do you know?</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moves have you made so far?</a:t>
            </a:r>
            <a:endParaRPr lang="en-AU" sz="1600" kern="1200">
              <a:solidFill>
                <a:schemeClr val="tx1"/>
              </a:solidFill>
              <a:effectLst/>
            </a:endParaRPr>
          </a:p>
          <a:p>
            <a:pPr marL="285750" indent="-285750">
              <a:buFont typeface="Arial"/>
              <a:buChar char="•"/>
            </a:pPr>
            <a:r>
              <a:rPr lang="en-AU" sz="1600" kern="1200">
                <a:solidFill>
                  <a:schemeClr val="tx1"/>
                </a:solidFill>
                <a:effectLst/>
                <a:latin typeface="Arial"/>
                <a:cs typeface="Arial"/>
              </a:rPr>
              <a:t>After the game, students turn and talk to compare how many moves they took. </a:t>
            </a:r>
            <a:r>
              <a:rPr lang="en-AU">
                <a:effectLst/>
                <a:latin typeface="Arial"/>
                <a:cs typeface="Arial"/>
              </a:rPr>
              <a:t> </a:t>
            </a:r>
            <a:endParaRPr lang="en-AU" b="1">
              <a:latin typeface="Arial"/>
              <a:cs typeface="Arial"/>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8A8F-E501-C899-5026-8CA461070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42A39-A884-336B-1D49-1292E50BA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261BF-6551-8E23-02AD-F54C4852709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99EAE94-BD38-A319-F8EA-583F5B7D9092}"/>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808353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7.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8.sv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52.sv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35.png"/><Relationship Id="rId7"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48.png"/><Relationship Id="rId4" Type="http://schemas.openxmlformats.org/officeDocument/2006/relationships/image" Target="../media/image53.png"/><Relationship Id="rId9" Type="http://schemas.openxmlformats.org/officeDocument/2006/relationships/image" Target="../media/image57.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65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4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35.png"/><Relationship Id="rId7"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svg"/><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69.sv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64.svg"/><Relationship Id="rId4" Type="http://schemas.openxmlformats.org/officeDocument/2006/relationships/image" Target="../media/image6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83.png"/></Relationships>
</file>

<file path=ppt/slides/_rels/slide5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png"/><Relationship Id="rId7" Type="http://schemas.openxmlformats.org/officeDocument/2006/relationships/image" Target="../media/image77.sv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76.png"/><Relationship Id="rId5" Type="http://schemas.openxmlformats.org/officeDocument/2006/relationships/image" Target="../media/image74.svg"/><Relationship Id="rId10" Type="http://schemas.openxmlformats.org/officeDocument/2006/relationships/image" Target="../media/image80.svg"/><Relationship Id="rId4" Type="http://schemas.openxmlformats.org/officeDocument/2006/relationships/image" Target="../media/image73.png"/><Relationship Id="rId9" Type="http://schemas.openxmlformats.org/officeDocument/2006/relationships/image" Target="../media/image79.svg"/></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6.</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6</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latin typeface="Arial"/>
                <a:cs typeface="Arial"/>
              </a:rPr>
              <a:t>Multiple choice </a:t>
            </a:r>
            <a:r>
              <a:rPr lang="en-US">
                <a:solidFill>
                  <a:schemeClr val="bg1"/>
                </a:solidFill>
                <a:latin typeface="Arial"/>
                <a:cs typeface="Arial"/>
              </a:rPr>
              <a:t>(1)</a:t>
            </a:r>
          </a:p>
        </p:txBody>
      </p:sp>
      <p:pic>
        <p:nvPicPr>
          <p:cNvPr id="4" name="Picture 3" descr="image of a finger selecting an option for a multiple">
            <a:extLst>
              <a:ext uri="{FF2B5EF4-FFF2-40B4-BE49-F238E27FC236}">
                <a16:creationId xmlns:a16="http://schemas.microsoft.com/office/drawing/2014/main" id="{5D11F5ED-B427-7A06-EE29-1C83BDE7EF0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757115" y="162000"/>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p:txBody>
          <a:bodyPr/>
          <a:lstStyle/>
          <a:p>
            <a:pPr algn="ctr"/>
            <a:r>
              <a:rPr lang="en-US" sz="5400" dirty="0"/>
              <a:t>125 + 89 =</a:t>
            </a:r>
          </a:p>
        </p:txBody>
      </p:sp>
      <p:sp>
        <p:nvSpPr>
          <p:cNvPr id="9" name="TextBox 8">
            <a:extLst>
              <a:ext uri="{FF2B5EF4-FFF2-40B4-BE49-F238E27FC236}">
                <a16:creationId xmlns:a16="http://schemas.microsoft.com/office/drawing/2014/main" id="{055D882C-AF43-C390-844D-CF785253532C}"/>
              </a:ext>
            </a:extLst>
          </p:cNvPr>
          <p:cNvSpPr txBox="1"/>
          <p:nvPr/>
        </p:nvSpPr>
        <p:spPr>
          <a:xfrm>
            <a:off x="1317414" y="36239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F9456CF1-71A5-8FB0-D4AE-DBFF4A3FCE0C}"/>
              </a:ext>
            </a:extLst>
          </p:cNvPr>
          <p:cNvSpPr txBox="1">
            <a:spLocks/>
          </p:cNvSpPr>
          <p:nvPr/>
        </p:nvSpPr>
        <p:spPr>
          <a:xfrm>
            <a:off x="978115" y="4112436"/>
            <a:ext cx="120802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224</a:t>
            </a:r>
          </a:p>
        </p:txBody>
      </p:sp>
      <p:sp>
        <p:nvSpPr>
          <p:cNvPr id="10" name="TextBox 9">
            <a:extLst>
              <a:ext uri="{FF2B5EF4-FFF2-40B4-BE49-F238E27FC236}">
                <a16:creationId xmlns:a16="http://schemas.microsoft.com/office/drawing/2014/main" id="{3A7CB9AE-0F31-FA92-BCB3-C4AD3EF18B05}"/>
              </a:ext>
            </a:extLst>
          </p:cNvPr>
          <p:cNvSpPr txBox="1"/>
          <p:nvPr/>
        </p:nvSpPr>
        <p:spPr>
          <a:xfrm>
            <a:off x="4310672" y="36239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F3504D9D-60F0-8B81-F901-A1FF7AA6A66A}"/>
              </a:ext>
            </a:extLst>
          </p:cNvPr>
          <p:cNvSpPr txBox="1">
            <a:spLocks/>
          </p:cNvSpPr>
          <p:nvPr/>
        </p:nvSpPr>
        <p:spPr>
          <a:xfrm>
            <a:off x="3971373" y="4112436"/>
            <a:ext cx="120802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214</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303930" y="36239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3F95586B-99F8-6075-FD84-6D38BE7F229D}"/>
              </a:ext>
            </a:extLst>
          </p:cNvPr>
          <p:cNvSpPr txBox="1">
            <a:spLocks/>
          </p:cNvSpPr>
          <p:nvPr/>
        </p:nvSpPr>
        <p:spPr>
          <a:xfrm>
            <a:off x="6964631" y="4112436"/>
            <a:ext cx="120802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216</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97189" y="36239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8857CC1C-D45D-761E-623E-FF954FDE4CC3}"/>
              </a:ext>
            </a:extLst>
          </p:cNvPr>
          <p:cNvSpPr txBox="1">
            <a:spLocks/>
          </p:cNvSpPr>
          <p:nvPr/>
        </p:nvSpPr>
        <p:spPr>
          <a:xfrm>
            <a:off x="9957890" y="4065490"/>
            <a:ext cx="120802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226</a:t>
            </a:r>
          </a:p>
        </p:txBody>
      </p:sp>
      <p:sp>
        <p:nvSpPr>
          <p:cNvPr id="14" name="TextBox 13">
            <a:extLst>
              <a:ext uri="{FF2B5EF4-FFF2-40B4-BE49-F238E27FC236}">
                <a16:creationId xmlns:a16="http://schemas.microsoft.com/office/drawing/2014/main" id="{B7A79534-5CC8-C104-B8AA-C84389F9593A}"/>
              </a:ext>
            </a:extLst>
          </p:cNvPr>
          <p:cNvSpPr txBox="1"/>
          <p:nvPr/>
        </p:nvSpPr>
        <p:spPr>
          <a:xfrm>
            <a:off x="1064914" y="5728559"/>
            <a:ext cx="10062171" cy="769441"/>
          </a:xfrm>
          <a:prstGeom prst="rect">
            <a:avLst/>
          </a:prstGeom>
          <a:noFill/>
        </p:spPr>
        <p:txBody>
          <a:bodyPr wrap="square">
            <a:spAutoFit/>
          </a:bodyPr>
          <a:lstStyle/>
          <a:p>
            <a:pPr algn="ctr"/>
            <a:r>
              <a:rPr lang="en-US" sz="4400" b="1"/>
              <a:t>Communicate </a:t>
            </a:r>
            <a:r>
              <a:rPr lang="en-US" sz="4400"/>
              <a:t>your </a:t>
            </a:r>
            <a:r>
              <a:rPr lang="en-US" sz="4400" b="1"/>
              <a:t>strategy.</a:t>
            </a:r>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34BFCC46-43C3-FDB4-D958-486FEC0E42C9}"/>
              </a:ext>
            </a:extLst>
          </p:cNvPr>
          <p:cNvSpPr txBox="1">
            <a:spLocks/>
          </p:cNvSpPr>
          <p:nvPr/>
        </p:nvSpPr>
        <p:spPr>
          <a:xfrm>
            <a:off x="240962" y="1593825"/>
            <a:ext cx="11243037"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a:t>
            </a:r>
            <a:r>
              <a:rPr lang="en-US" sz="4400" dirty="0">
                <a:latin typeface="Arial"/>
                <a:cs typeface="Arial"/>
              </a:rPr>
              <a:t> the following number as a </a:t>
            </a:r>
            <a:r>
              <a:rPr lang="en-US" sz="4400" b="1" dirty="0">
                <a:latin typeface="Arial"/>
                <a:cs typeface="Arial"/>
              </a:rPr>
              <a:t>numeral</a:t>
            </a:r>
            <a:r>
              <a:rPr lang="en-US" sz="4400" dirty="0">
                <a:latin typeface="Arial"/>
                <a:cs typeface="Arial"/>
              </a:rPr>
              <a:t>:</a:t>
            </a:r>
          </a:p>
        </p:txBody>
      </p:sp>
      <p:sp>
        <p:nvSpPr>
          <p:cNvPr id="5" name="Text Placeholder 17">
            <a:extLst>
              <a:ext uri="{FF2B5EF4-FFF2-40B4-BE49-F238E27FC236}">
                <a16:creationId xmlns:a16="http://schemas.microsoft.com/office/drawing/2014/main" id="{1D060C7E-19D5-749C-5131-0555196F3E24}"/>
              </a:ext>
            </a:extLst>
          </p:cNvPr>
          <p:cNvSpPr txBox="1">
            <a:spLocks/>
          </p:cNvSpPr>
          <p:nvPr/>
        </p:nvSpPr>
        <p:spPr>
          <a:xfrm>
            <a:off x="474481" y="2982387"/>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Six hundred and seventy-four thousand, eight hundred and ninety-nine.</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36" name="Text Placeholder 17">
            <a:extLst>
              <a:ext uri="{FF2B5EF4-FFF2-40B4-BE49-F238E27FC236}">
                <a16:creationId xmlns:a16="http://schemas.microsoft.com/office/drawing/2014/main" id="{BE47E470-774F-BD8F-356A-3A97C1E580DC}"/>
              </a:ext>
            </a:extLst>
          </p:cNvPr>
          <p:cNvSpPr txBox="1">
            <a:spLocks/>
          </p:cNvSpPr>
          <p:nvPr/>
        </p:nvSpPr>
        <p:spPr>
          <a:xfrm>
            <a:off x="491047" y="1039925"/>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What is a </a:t>
            </a:r>
            <a:r>
              <a:rPr lang="en-US" sz="4400" b="1" dirty="0"/>
              <a:t>survey</a:t>
            </a:r>
            <a:r>
              <a:rPr lang="en-US" sz="4400" dirty="0"/>
              <a:t>?</a:t>
            </a:r>
          </a:p>
        </p:txBody>
      </p:sp>
      <p:grpSp>
        <p:nvGrpSpPr>
          <p:cNvPr id="35" name="Group 34" descr="Data cycle with 4 stages. &#10;1. Pose questions: generate investigative questions that can be answered with data. &#10;2. Collect data: collect data through observation, survey or database. &#10;3. Represent data: represent data in lists, tables, timelines and graphs. &#10;4. Interpret data: describe the data. Determine conclusions and significance of the data. &#10;&#10;The collect data box is circled with a arrow pointing to it.">
            <a:extLst>
              <a:ext uri="{FF2B5EF4-FFF2-40B4-BE49-F238E27FC236}">
                <a16:creationId xmlns:a16="http://schemas.microsoft.com/office/drawing/2014/main" id="{D5B29282-8ADF-F092-9551-9B1BCBF4E797}"/>
              </a:ext>
            </a:extLst>
          </p:cNvPr>
          <p:cNvGrpSpPr/>
          <p:nvPr/>
        </p:nvGrpSpPr>
        <p:grpSpPr>
          <a:xfrm>
            <a:off x="2930013" y="2466707"/>
            <a:ext cx="6365107" cy="3936425"/>
            <a:chOff x="2299629" y="1157104"/>
            <a:chExt cx="7369551" cy="4335303"/>
          </a:xfrm>
        </p:grpSpPr>
        <p:sp>
          <p:nvSpPr>
            <p:cNvPr id="5" name="AutoShape 2">
              <a:extLst>
                <a:ext uri="{FF2B5EF4-FFF2-40B4-BE49-F238E27FC236}">
                  <a16:creationId xmlns:a16="http://schemas.microsoft.com/office/drawing/2014/main" id="{708B06CF-046C-10EC-2AE4-8A5975CD293B}"/>
                </a:ext>
              </a:extLst>
            </p:cNvPr>
            <p:cNvSpPr/>
            <p:nvPr/>
          </p:nvSpPr>
          <p:spPr>
            <a:xfrm>
              <a:off x="7252662" y="3934984"/>
              <a:ext cx="999019" cy="0"/>
            </a:xfrm>
            <a:prstGeom prst="line">
              <a:avLst/>
            </a:prstGeom>
            <a:ln w="47625" cap="rnd">
              <a:solidFill>
                <a:srgbClr val="FFBD59"/>
              </a:solidFill>
              <a:prstDash val="solid"/>
              <a:headEnd type="none" w="sm" len="sm"/>
              <a:tailEnd type="none" w="sm" len="sm"/>
            </a:ln>
          </p:spPr>
          <p:txBody>
            <a:bodyPr/>
            <a:lstStyle/>
            <a:p>
              <a:endParaRPr lang="en-AU"/>
            </a:p>
          </p:txBody>
        </p:sp>
        <p:sp>
          <p:nvSpPr>
            <p:cNvPr id="7" name="AutoShape 3">
              <a:extLst>
                <a:ext uri="{FF2B5EF4-FFF2-40B4-BE49-F238E27FC236}">
                  <a16:creationId xmlns:a16="http://schemas.microsoft.com/office/drawing/2014/main" id="{44B71501-6D40-F3ED-F0B4-F40D63A42E12}"/>
                </a:ext>
              </a:extLst>
            </p:cNvPr>
            <p:cNvSpPr/>
            <p:nvPr/>
          </p:nvSpPr>
          <p:spPr>
            <a:xfrm>
              <a:off x="3897670" y="2104367"/>
              <a:ext cx="999019" cy="0"/>
            </a:xfrm>
            <a:prstGeom prst="line">
              <a:avLst/>
            </a:prstGeom>
            <a:ln w="47625" cap="rnd">
              <a:solidFill>
                <a:srgbClr val="00BF63"/>
              </a:solidFill>
              <a:prstDash val="solid"/>
              <a:headEnd type="none" w="sm" len="sm"/>
              <a:tailEnd type="none" w="sm" len="sm"/>
            </a:ln>
          </p:spPr>
          <p:txBody>
            <a:bodyPr/>
            <a:lstStyle/>
            <a:p>
              <a:endParaRPr lang="en-AU"/>
            </a:p>
          </p:txBody>
        </p:sp>
        <p:sp>
          <p:nvSpPr>
            <p:cNvPr id="8" name="AutoShape 4">
              <a:extLst>
                <a:ext uri="{FF2B5EF4-FFF2-40B4-BE49-F238E27FC236}">
                  <a16:creationId xmlns:a16="http://schemas.microsoft.com/office/drawing/2014/main" id="{9D1D38C4-9EB6-3C42-4945-EDCC18BE136D}"/>
                </a:ext>
              </a:extLst>
            </p:cNvPr>
            <p:cNvSpPr/>
            <p:nvPr/>
          </p:nvSpPr>
          <p:spPr>
            <a:xfrm>
              <a:off x="3897670" y="3908221"/>
              <a:ext cx="999019" cy="0"/>
            </a:xfrm>
            <a:prstGeom prst="line">
              <a:avLst/>
            </a:prstGeom>
            <a:ln w="47625" cap="rnd">
              <a:solidFill>
                <a:srgbClr val="0CC0DF"/>
              </a:solidFill>
              <a:prstDash val="solid"/>
              <a:headEnd type="none" w="sm" len="sm"/>
              <a:tailEnd type="none" w="sm" len="sm"/>
            </a:ln>
          </p:spPr>
          <p:txBody>
            <a:bodyPr/>
            <a:lstStyle/>
            <a:p>
              <a:endParaRPr lang="en-AU"/>
            </a:p>
          </p:txBody>
        </p:sp>
        <p:sp>
          <p:nvSpPr>
            <p:cNvPr id="9" name="Freeform 5">
              <a:extLst>
                <a:ext uri="{FF2B5EF4-FFF2-40B4-BE49-F238E27FC236}">
                  <a16:creationId xmlns:a16="http://schemas.microsoft.com/office/drawing/2014/main" id="{36C5E7F1-9DD5-0066-44DB-ADEE4BB65AED}"/>
                </a:ext>
              </a:extLst>
            </p:cNvPr>
            <p:cNvSpPr/>
            <p:nvPr/>
          </p:nvSpPr>
          <p:spPr>
            <a:xfrm>
              <a:off x="4216636" y="1450604"/>
              <a:ext cx="3535536" cy="3535536"/>
            </a:xfrm>
            <a:custGeom>
              <a:avLst/>
              <a:gdLst/>
              <a:ahLst/>
              <a:cxnLst/>
              <a:rect l="l" t="t" r="r" b="b"/>
              <a:pathLst>
                <a:path w="3535536" h="3535536">
                  <a:moveTo>
                    <a:pt x="0" y="0"/>
                  </a:moveTo>
                  <a:lnTo>
                    <a:pt x="3535536" y="0"/>
                  </a:lnTo>
                  <a:lnTo>
                    <a:pt x="3535536" y="3535535"/>
                  </a:lnTo>
                  <a:lnTo>
                    <a:pt x="0" y="35355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AutoShape 6">
              <a:extLst>
                <a:ext uri="{FF2B5EF4-FFF2-40B4-BE49-F238E27FC236}">
                  <a16:creationId xmlns:a16="http://schemas.microsoft.com/office/drawing/2014/main" id="{0807DD0B-A9B2-06BD-C8BF-C1B759475C20}"/>
                </a:ext>
              </a:extLst>
            </p:cNvPr>
            <p:cNvSpPr/>
            <p:nvPr/>
          </p:nvSpPr>
          <p:spPr>
            <a:xfrm>
              <a:off x="7032933" y="2135489"/>
              <a:ext cx="999019" cy="0"/>
            </a:xfrm>
            <a:prstGeom prst="line">
              <a:avLst/>
            </a:prstGeom>
            <a:ln w="47625" cap="rnd">
              <a:solidFill>
                <a:srgbClr val="FF5757"/>
              </a:solidFill>
              <a:prstDash val="solid"/>
              <a:headEnd type="none" w="sm" len="sm"/>
              <a:tailEnd type="none" w="sm" len="sm"/>
            </a:ln>
          </p:spPr>
          <p:txBody>
            <a:bodyPr/>
            <a:lstStyle/>
            <a:p>
              <a:endParaRPr lang="en-AU"/>
            </a:p>
          </p:txBody>
        </p:sp>
        <p:grpSp>
          <p:nvGrpSpPr>
            <p:cNvPr id="11" name="Group 10">
              <a:extLst>
                <a:ext uri="{FF2B5EF4-FFF2-40B4-BE49-F238E27FC236}">
                  <a16:creationId xmlns:a16="http://schemas.microsoft.com/office/drawing/2014/main" id="{D4284A46-CE56-BCEC-868D-D787CC91F749}"/>
                </a:ext>
              </a:extLst>
            </p:cNvPr>
            <p:cNvGrpSpPr/>
            <p:nvPr/>
          </p:nvGrpSpPr>
          <p:grpSpPr>
            <a:xfrm>
              <a:off x="7860297" y="3642196"/>
              <a:ext cx="1808883" cy="1850211"/>
              <a:chOff x="0" y="0"/>
              <a:chExt cx="2720272" cy="2782422"/>
            </a:xfrm>
          </p:grpSpPr>
          <p:sp>
            <p:nvSpPr>
              <p:cNvPr id="33" name="Freeform 8">
                <a:extLst>
                  <a:ext uri="{FF2B5EF4-FFF2-40B4-BE49-F238E27FC236}">
                    <a16:creationId xmlns:a16="http://schemas.microsoft.com/office/drawing/2014/main" id="{D7511CF8-60C5-0A47-9DA7-52BA23824E2E}"/>
                  </a:ext>
                </a:extLst>
              </p:cNvPr>
              <p:cNvSpPr/>
              <p:nvPr/>
            </p:nvSpPr>
            <p:spPr>
              <a:xfrm>
                <a:off x="31750" y="31750"/>
                <a:ext cx="2656772" cy="2718922"/>
              </a:xfrm>
              <a:custGeom>
                <a:avLst/>
                <a:gdLst/>
                <a:ahLst/>
                <a:cxnLst/>
                <a:rect l="l" t="t" r="r" b="b"/>
                <a:pathLst>
                  <a:path w="2656772" h="2718922">
                    <a:moveTo>
                      <a:pt x="2564062" y="2718922"/>
                    </a:moveTo>
                    <a:lnTo>
                      <a:pt x="92710" y="2718922"/>
                    </a:lnTo>
                    <a:cubicBezTo>
                      <a:pt x="41910" y="2718922"/>
                      <a:pt x="0" y="2677012"/>
                      <a:pt x="0" y="2626212"/>
                    </a:cubicBezTo>
                    <a:lnTo>
                      <a:pt x="0" y="92710"/>
                    </a:lnTo>
                    <a:cubicBezTo>
                      <a:pt x="0" y="41910"/>
                      <a:pt x="41910" y="0"/>
                      <a:pt x="92710" y="0"/>
                    </a:cubicBezTo>
                    <a:lnTo>
                      <a:pt x="2562792" y="0"/>
                    </a:lnTo>
                    <a:cubicBezTo>
                      <a:pt x="2613592" y="0"/>
                      <a:pt x="2655502" y="41910"/>
                      <a:pt x="2655502" y="92710"/>
                    </a:cubicBezTo>
                    <a:lnTo>
                      <a:pt x="2655502" y="2624942"/>
                    </a:lnTo>
                    <a:cubicBezTo>
                      <a:pt x="2656772" y="2677012"/>
                      <a:pt x="2614862" y="2718922"/>
                      <a:pt x="2564062" y="2718922"/>
                    </a:cubicBezTo>
                    <a:close/>
                  </a:path>
                </a:pathLst>
              </a:custGeom>
              <a:solidFill>
                <a:srgbClr val="FFFFFF"/>
              </a:solidFill>
            </p:spPr>
            <p:txBody>
              <a:bodyPr/>
              <a:lstStyle/>
              <a:p>
                <a:endParaRPr lang="en-AU"/>
              </a:p>
            </p:txBody>
          </p:sp>
          <p:sp>
            <p:nvSpPr>
              <p:cNvPr id="34" name="Freeform 9">
                <a:extLst>
                  <a:ext uri="{FF2B5EF4-FFF2-40B4-BE49-F238E27FC236}">
                    <a16:creationId xmlns:a16="http://schemas.microsoft.com/office/drawing/2014/main" id="{3704457C-DDA9-43A5-0838-2BD5552FBAA1}"/>
                  </a:ext>
                </a:extLst>
              </p:cNvPr>
              <p:cNvSpPr/>
              <p:nvPr/>
            </p:nvSpPr>
            <p:spPr>
              <a:xfrm>
                <a:off x="0" y="0"/>
                <a:ext cx="2720272" cy="2782422"/>
              </a:xfrm>
              <a:custGeom>
                <a:avLst/>
                <a:gdLst/>
                <a:ahLst/>
                <a:cxnLst/>
                <a:rect l="l" t="t" r="r" b="b"/>
                <a:pathLst>
                  <a:path w="2720272" h="2782422">
                    <a:moveTo>
                      <a:pt x="2595812" y="59690"/>
                    </a:moveTo>
                    <a:cubicBezTo>
                      <a:pt x="2631372" y="59690"/>
                      <a:pt x="2660582" y="88900"/>
                      <a:pt x="2660582" y="124460"/>
                    </a:cubicBezTo>
                    <a:lnTo>
                      <a:pt x="2660582" y="2657962"/>
                    </a:lnTo>
                    <a:cubicBezTo>
                      <a:pt x="2660582" y="2693522"/>
                      <a:pt x="2631372" y="2722732"/>
                      <a:pt x="2595812" y="2722732"/>
                    </a:cubicBezTo>
                    <a:lnTo>
                      <a:pt x="124460" y="2722732"/>
                    </a:lnTo>
                    <a:cubicBezTo>
                      <a:pt x="88900" y="2722732"/>
                      <a:pt x="59690" y="2693522"/>
                      <a:pt x="59690" y="2657962"/>
                    </a:cubicBezTo>
                    <a:lnTo>
                      <a:pt x="59690" y="124460"/>
                    </a:lnTo>
                    <a:cubicBezTo>
                      <a:pt x="59690" y="88900"/>
                      <a:pt x="88900" y="59690"/>
                      <a:pt x="124460" y="59690"/>
                    </a:cubicBezTo>
                    <a:lnTo>
                      <a:pt x="2595812" y="59690"/>
                    </a:lnTo>
                    <a:moveTo>
                      <a:pt x="2595812" y="0"/>
                    </a:moveTo>
                    <a:lnTo>
                      <a:pt x="124460" y="0"/>
                    </a:lnTo>
                    <a:cubicBezTo>
                      <a:pt x="55880" y="0"/>
                      <a:pt x="0" y="55880"/>
                      <a:pt x="0" y="124460"/>
                    </a:cubicBezTo>
                    <a:lnTo>
                      <a:pt x="0" y="2657962"/>
                    </a:lnTo>
                    <a:cubicBezTo>
                      <a:pt x="0" y="2726542"/>
                      <a:pt x="55880" y="2782422"/>
                      <a:pt x="124460" y="2782422"/>
                    </a:cubicBezTo>
                    <a:lnTo>
                      <a:pt x="2595812" y="2782422"/>
                    </a:lnTo>
                    <a:cubicBezTo>
                      <a:pt x="2664392" y="2782422"/>
                      <a:pt x="2720272" y="2726542"/>
                      <a:pt x="2720272" y="2657962"/>
                    </a:cubicBezTo>
                    <a:lnTo>
                      <a:pt x="2720272" y="124460"/>
                    </a:lnTo>
                    <a:cubicBezTo>
                      <a:pt x="2720272" y="55880"/>
                      <a:pt x="2664392" y="0"/>
                      <a:pt x="2595812" y="0"/>
                    </a:cubicBezTo>
                    <a:close/>
                  </a:path>
                </a:pathLst>
              </a:custGeom>
              <a:solidFill>
                <a:srgbClr val="FFBD59"/>
              </a:solidFill>
            </p:spPr>
            <p:txBody>
              <a:bodyPr/>
              <a:lstStyle/>
              <a:p>
                <a:endParaRPr lang="en-AU"/>
              </a:p>
            </p:txBody>
          </p:sp>
        </p:grpSp>
        <p:grpSp>
          <p:nvGrpSpPr>
            <p:cNvPr id="12" name="Group 11">
              <a:extLst>
                <a:ext uri="{FF2B5EF4-FFF2-40B4-BE49-F238E27FC236}">
                  <a16:creationId xmlns:a16="http://schemas.microsoft.com/office/drawing/2014/main" id="{388F4722-3795-5414-FCC0-35E5F804CFFF}"/>
                </a:ext>
              </a:extLst>
            </p:cNvPr>
            <p:cNvGrpSpPr/>
            <p:nvPr/>
          </p:nvGrpSpPr>
          <p:grpSpPr>
            <a:xfrm>
              <a:off x="2299629" y="3642196"/>
              <a:ext cx="1808883" cy="1850211"/>
              <a:chOff x="0" y="0"/>
              <a:chExt cx="2720272" cy="2782422"/>
            </a:xfrm>
          </p:grpSpPr>
          <p:sp>
            <p:nvSpPr>
              <p:cNvPr id="31" name="Freeform 11">
                <a:extLst>
                  <a:ext uri="{FF2B5EF4-FFF2-40B4-BE49-F238E27FC236}">
                    <a16:creationId xmlns:a16="http://schemas.microsoft.com/office/drawing/2014/main" id="{BD2052C8-F25D-EB13-2F8F-BEE90BE216C4}"/>
                  </a:ext>
                </a:extLst>
              </p:cNvPr>
              <p:cNvSpPr/>
              <p:nvPr/>
            </p:nvSpPr>
            <p:spPr>
              <a:xfrm>
                <a:off x="31750" y="31750"/>
                <a:ext cx="2656772" cy="2718922"/>
              </a:xfrm>
              <a:custGeom>
                <a:avLst/>
                <a:gdLst/>
                <a:ahLst/>
                <a:cxnLst/>
                <a:rect l="l" t="t" r="r" b="b"/>
                <a:pathLst>
                  <a:path w="2656772" h="2718922">
                    <a:moveTo>
                      <a:pt x="2564062" y="2718922"/>
                    </a:moveTo>
                    <a:lnTo>
                      <a:pt x="92710" y="2718922"/>
                    </a:lnTo>
                    <a:cubicBezTo>
                      <a:pt x="41910" y="2718922"/>
                      <a:pt x="0" y="2677012"/>
                      <a:pt x="0" y="2626212"/>
                    </a:cubicBezTo>
                    <a:lnTo>
                      <a:pt x="0" y="92710"/>
                    </a:lnTo>
                    <a:cubicBezTo>
                      <a:pt x="0" y="41910"/>
                      <a:pt x="41910" y="0"/>
                      <a:pt x="92710" y="0"/>
                    </a:cubicBezTo>
                    <a:lnTo>
                      <a:pt x="2562792" y="0"/>
                    </a:lnTo>
                    <a:cubicBezTo>
                      <a:pt x="2613592" y="0"/>
                      <a:pt x="2655502" y="41910"/>
                      <a:pt x="2655502" y="92710"/>
                    </a:cubicBezTo>
                    <a:lnTo>
                      <a:pt x="2655502" y="2624942"/>
                    </a:lnTo>
                    <a:cubicBezTo>
                      <a:pt x="2656772" y="2677012"/>
                      <a:pt x="2614862" y="2718922"/>
                      <a:pt x="2564062" y="2718922"/>
                    </a:cubicBezTo>
                    <a:close/>
                  </a:path>
                </a:pathLst>
              </a:custGeom>
              <a:solidFill>
                <a:srgbClr val="FFFFFF"/>
              </a:solidFill>
            </p:spPr>
            <p:txBody>
              <a:bodyPr/>
              <a:lstStyle/>
              <a:p>
                <a:endParaRPr lang="en-AU"/>
              </a:p>
            </p:txBody>
          </p:sp>
          <p:sp>
            <p:nvSpPr>
              <p:cNvPr id="32" name="Freeform 12">
                <a:extLst>
                  <a:ext uri="{FF2B5EF4-FFF2-40B4-BE49-F238E27FC236}">
                    <a16:creationId xmlns:a16="http://schemas.microsoft.com/office/drawing/2014/main" id="{42402C3E-E7D6-1214-336A-9722AF6D6895}"/>
                  </a:ext>
                </a:extLst>
              </p:cNvPr>
              <p:cNvSpPr/>
              <p:nvPr/>
            </p:nvSpPr>
            <p:spPr>
              <a:xfrm>
                <a:off x="0" y="0"/>
                <a:ext cx="2720272" cy="2782422"/>
              </a:xfrm>
              <a:custGeom>
                <a:avLst/>
                <a:gdLst/>
                <a:ahLst/>
                <a:cxnLst/>
                <a:rect l="l" t="t" r="r" b="b"/>
                <a:pathLst>
                  <a:path w="2720272" h="2782422">
                    <a:moveTo>
                      <a:pt x="2595812" y="59690"/>
                    </a:moveTo>
                    <a:cubicBezTo>
                      <a:pt x="2631372" y="59690"/>
                      <a:pt x="2660582" y="88900"/>
                      <a:pt x="2660582" y="124460"/>
                    </a:cubicBezTo>
                    <a:lnTo>
                      <a:pt x="2660582" y="2657962"/>
                    </a:lnTo>
                    <a:cubicBezTo>
                      <a:pt x="2660582" y="2693522"/>
                      <a:pt x="2631372" y="2722732"/>
                      <a:pt x="2595812" y="2722732"/>
                    </a:cubicBezTo>
                    <a:lnTo>
                      <a:pt x="124460" y="2722732"/>
                    </a:lnTo>
                    <a:cubicBezTo>
                      <a:pt x="88900" y="2722732"/>
                      <a:pt x="59690" y="2693522"/>
                      <a:pt x="59690" y="2657962"/>
                    </a:cubicBezTo>
                    <a:lnTo>
                      <a:pt x="59690" y="124460"/>
                    </a:lnTo>
                    <a:cubicBezTo>
                      <a:pt x="59690" y="88900"/>
                      <a:pt x="88900" y="59690"/>
                      <a:pt x="124460" y="59690"/>
                    </a:cubicBezTo>
                    <a:lnTo>
                      <a:pt x="2595812" y="59690"/>
                    </a:lnTo>
                    <a:moveTo>
                      <a:pt x="2595812" y="0"/>
                    </a:moveTo>
                    <a:lnTo>
                      <a:pt x="124460" y="0"/>
                    </a:lnTo>
                    <a:cubicBezTo>
                      <a:pt x="55880" y="0"/>
                      <a:pt x="0" y="55880"/>
                      <a:pt x="0" y="124460"/>
                    </a:cubicBezTo>
                    <a:lnTo>
                      <a:pt x="0" y="2657962"/>
                    </a:lnTo>
                    <a:cubicBezTo>
                      <a:pt x="0" y="2726542"/>
                      <a:pt x="55880" y="2782422"/>
                      <a:pt x="124460" y="2782422"/>
                    </a:cubicBezTo>
                    <a:lnTo>
                      <a:pt x="2595812" y="2782422"/>
                    </a:lnTo>
                    <a:cubicBezTo>
                      <a:pt x="2664392" y="2782422"/>
                      <a:pt x="2720272" y="2726542"/>
                      <a:pt x="2720272" y="2657962"/>
                    </a:cubicBezTo>
                    <a:lnTo>
                      <a:pt x="2720272" y="124460"/>
                    </a:lnTo>
                    <a:cubicBezTo>
                      <a:pt x="2720272" y="55880"/>
                      <a:pt x="2664392" y="0"/>
                      <a:pt x="2595812" y="0"/>
                    </a:cubicBezTo>
                    <a:close/>
                  </a:path>
                </a:pathLst>
              </a:custGeom>
              <a:solidFill>
                <a:srgbClr val="0CC0DF"/>
              </a:solidFill>
            </p:spPr>
            <p:txBody>
              <a:bodyPr/>
              <a:lstStyle/>
              <a:p>
                <a:endParaRPr lang="en-AU"/>
              </a:p>
            </p:txBody>
          </p:sp>
        </p:grpSp>
        <p:grpSp>
          <p:nvGrpSpPr>
            <p:cNvPr id="13" name="Group 12">
              <a:extLst>
                <a:ext uri="{FF2B5EF4-FFF2-40B4-BE49-F238E27FC236}">
                  <a16:creationId xmlns:a16="http://schemas.microsoft.com/office/drawing/2014/main" id="{644AACD9-A241-0E8A-6BAD-E0577DE583A5}"/>
                </a:ext>
              </a:extLst>
            </p:cNvPr>
            <p:cNvGrpSpPr/>
            <p:nvPr/>
          </p:nvGrpSpPr>
          <p:grpSpPr>
            <a:xfrm>
              <a:off x="2299629" y="1157104"/>
              <a:ext cx="1808883" cy="1880621"/>
              <a:chOff x="0" y="0"/>
              <a:chExt cx="2720272" cy="2828154"/>
            </a:xfrm>
          </p:grpSpPr>
          <p:sp>
            <p:nvSpPr>
              <p:cNvPr id="29" name="Freeform 14">
                <a:extLst>
                  <a:ext uri="{FF2B5EF4-FFF2-40B4-BE49-F238E27FC236}">
                    <a16:creationId xmlns:a16="http://schemas.microsoft.com/office/drawing/2014/main" id="{3A351D42-9311-C8DB-A3DC-93342AE4F273}"/>
                  </a:ext>
                </a:extLst>
              </p:cNvPr>
              <p:cNvSpPr/>
              <p:nvPr/>
            </p:nvSpPr>
            <p:spPr>
              <a:xfrm>
                <a:off x="31750" y="31750"/>
                <a:ext cx="2656772" cy="2764653"/>
              </a:xfrm>
              <a:custGeom>
                <a:avLst/>
                <a:gdLst/>
                <a:ahLst/>
                <a:cxnLst/>
                <a:rect l="l" t="t" r="r" b="b"/>
                <a:pathLst>
                  <a:path w="2656772" h="2764653">
                    <a:moveTo>
                      <a:pt x="2564062" y="2764653"/>
                    </a:moveTo>
                    <a:lnTo>
                      <a:pt x="92710" y="2764653"/>
                    </a:lnTo>
                    <a:cubicBezTo>
                      <a:pt x="41910" y="2764653"/>
                      <a:pt x="0" y="2722743"/>
                      <a:pt x="0" y="2671943"/>
                    </a:cubicBezTo>
                    <a:lnTo>
                      <a:pt x="0" y="92710"/>
                    </a:lnTo>
                    <a:cubicBezTo>
                      <a:pt x="0" y="41910"/>
                      <a:pt x="41910" y="0"/>
                      <a:pt x="92710" y="0"/>
                    </a:cubicBezTo>
                    <a:lnTo>
                      <a:pt x="2562792" y="0"/>
                    </a:lnTo>
                    <a:cubicBezTo>
                      <a:pt x="2613592" y="0"/>
                      <a:pt x="2655502" y="41910"/>
                      <a:pt x="2655502" y="92710"/>
                    </a:cubicBezTo>
                    <a:lnTo>
                      <a:pt x="2655502" y="2670673"/>
                    </a:lnTo>
                    <a:cubicBezTo>
                      <a:pt x="2656772" y="2722743"/>
                      <a:pt x="2614862" y="2764653"/>
                      <a:pt x="2564062" y="2764653"/>
                    </a:cubicBezTo>
                    <a:close/>
                  </a:path>
                </a:pathLst>
              </a:custGeom>
              <a:solidFill>
                <a:srgbClr val="FFFFFF"/>
              </a:solidFill>
            </p:spPr>
            <p:txBody>
              <a:bodyPr/>
              <a:lstStyle/>
              <a:p>
                <a:endParaRPr lang="en-AU"/>
              </a:p>
            </p:txBody>
          </p:sp>
          <p:sp>
            <p:nvSpPr>
              <p:cNvPr id="30" name="Freeform 15">
                <a:extLst>
                  <a:ext uri="{FF2B5EF4-FFF2-40B4-BE49-F238E27FC236}">
                    <a16:creationId xmlns:a16="http://schemas.microsoft.com/office/drawing/2014/main" id="{3930323A-9597-B2EC-F066-F683E3AEDA89}"/>
                  </a:ext>
                </a:extLst>
              </p:cNvPr>
              <p:cNvSpPr/>
              <p:nvPr/>
            </p:nvSpPr>
            <p:spPr>
              <a:xfrm>
                <a:off x="0" y="0"/>
                <a:ext cx="2720272" cy="2828154"/>
              </a:xfrm>
              <a:custGeom>
                <a:avLst/>
                <a:gdLst/>
                <a:ahLst/>
                <a:cxnLst/>
                <a:rect l="l" t="t" r="r" b="b"/>
                <a:pathLst>
                  <a:path w="2720272" h="2828154">
                    <a:moveTo>
                      <a:pt x="2595812" y="59690"/>
                    </a:moveTo>
                    <a:cubicBezTo>
                      <a:pt x="2631372" y="59690"/>
                      <a:pt x="2660582" y="88900"/>
                      <a:pt x="2660582" y="124460"/>
                    </a:cubicBezTo>
                    <a:lnTo>
                      <a:pt x="2660582" y="2703693"/>
                    </a:lnTo>
                    <a:cubicBezTo>
                      <a:pt x="2660582" y="2739254"/>
                      <a:pt x="2631372" y="2768463"/>
                      <a:pt x="2595812" y="2768463"/>
                    </a:cubicBezTo>
                    <a:lnTo>
                      <a:pt x="124460" y="2768463"/>
                    </a:lnTo>
                    <a:cubicBezTo>
                      <a:pt x="88900" y="2768463"/>
                      <a:pt x="59690" y="2739254"/>
                      <a:pt x="59690" y="2703693"/>
                    </a:cubicBezTo>
                    <a:lnTo>
                      <a:pt x="59690" y="124460"/>
                    </a:lnTo>
                    <a:cubicBezTo>
                      <a:pt x="59690" y="88900"/>
                      <a:pt x="88900" y="59690"/>
                      <a:pt x="124460" y="59690"/>
                    </a:cubicBezTo>
                    <a:lnTo>
                      <a:pt x="2595812" y="59690"/>
                    </a:lnTo>
                    <a:moveTo>
                      <a:pt x="2595812" y="0"/>
                    </a:moveTo>
                    <a:lnTo>
                      <a:pt x="124460" y="0"/>
                    </a:lnTo>
                    <a:cubicBezTo>
                      <a:pt x="55880" y="0"/>
                      <a:pt x="0" y="55880"/>
                      <a:pt x="0" y="124460"/>
                    </a:cubicBezTo>
                    <a:lnTo>
                      <a:pt x="0" y="2703693"/>
                    </a:lnTo>
                    <a:cubicBezTo>
                      <a:pt x="0" y="2772273"/>
                      <a:pt x="55880" y="2828154"/>
                      <a:pt x="124460" y="2828154"/>
                    </a:cubicBezTo>
                    <a:lnTo>
                      <a:pt x="2595812" y="2828154"/>
                    </a:lnTo>
                    <a:cubicBezTo>
                      <a:pt x="2664392" y="2828154"/>
                      <a:pt x="2720272" y="2772273"/>
                      <a:pt x="2720272" y="2703693"/>
                    </a:cubicBezTo>
                    <a:lnTo>
                      <a:pt x="2720272" y="124460"/>
                    </a:lnTo>
                    <a:cubicBezTo>
                      <a:pt x="2720272" y="55880"/>
                      <a:pt x="2664392" y="0"/>
                      <a:pt x="2595812" y="0"/>
                    </a:cubicBezTo>
                    <a:close/>
                  </a:path>
                </a:pathLst>
              </a:custGeom>
              <a:solidFill>
                <a:srgbClr val="00BF63"/>
              </a:solidFill>
            </p:spPr>
            <p:txBody>
              <a:bodyPr/>
              <a:lstStyle/>
              <a:p>
                <a:endParaRPr lang="en-AU"/>
              </a:p>
            </p:txBody>
          </p:sp>
        </p:grpSp>
        <p:grpSp>
          <p:nvGrpSpPr>
            <p:cNvPr id="14" name="Group 13">
              <a:extLst>
                <a:ext uri="{FF2B5EF4-FFF2-40B4-BE49-F238E27FC236}">
                  <a16:creationId xmlns:a16="http://schemas.microsoft.com/office/drawing/2014/main" id="{1B9FE7D3-2957-618C-EA0B-9C5E17E5B405}"/>
                </a:ext>
              </a:extLst>
            </p:cNvPr>
            <p:cNvGrpSpPr/>
            <p:nvPr/>
          </p:nvGrpSpPr>
          <p:grpSpPr>
            <a:xfrm>
              <a:off x="7860297" y="1157104"/>
              <a:ext cx="1808883" cy="1880621"/>
              <a:chOff x="0" y="0"/>
              <a:chExt cx="2720272" cy="2828154"/>
            </a:xfrm>
          </p:grpSpPr>
          <p:sp>
            <p:nvSpPr>
              <p:cNvPr id="27" name="Freeform 17">
                <a:extLst>
                  <a:ext uri="{FF2B5EF4-FFF2-40B4-BE49-F238E27FC236}">
                    <a16:creationId xmlns:a16="http://schemas.microsoft.com/office/drawing/2014/main" id="{611E6CF8-F38A-9081-C4B6-921CE47F9113}"/>
                  </a:ext>
                </a:extLst>
              </p:cNvPr>
              <p:cNvSpPr/>
              <p:nvPr/>
            </p:nvSpPr>
            <p:spPr>
              <a:xfrm>
                <a:off x="31750" y="31750"/>
                <a:ext cx="2656772" cy="2764653"/>
              </a:xfrm>
              <a:custGeom>
                <a:avLst/>
                <a:gdLst/>
                <a:ahLst/>
                <a:cxnLst/>
                <a:rect l="l" t="t" r="r" b="b"/>
                <a:pathLst>
                  <a:path w="2656772" h="2764653">
                    <a:moveTo>
                      <a:pt x="2564062" y="2764653"/>
                    </a:moveTo>
                    <a:lnTo>
                      <a:pt x="92710" y="2764653"/>
                    </a:lnTo>
                    <a:cubicBezTo>
                      <a:pt x="41910" y="2764653"/>
                      <a:pt x="0" y="2722743"/>
                      <a:pt x="0" y="2671943"/>
                    </a:cubicBezTo>
                    <a:lnTo>
                      <a:pt x="0" y="92710"/>
                    </a:lnTo>
                    <a:cubicBezTo>
                      <a:pt x="0" y="41910"/>
                      <a:pt x="41910" y="0"/>
                      <a:pt x="92710" y="0"/>
                    </a:cubicBezTo>
                    <a:lnTo>
                      <a:pt x="2562792" y="0"/>
                    </a:lnTo>
                    <a:cubicBezTo>
                      <a:pt x="2613592" y="0"/>
                      <a:pt x="2655502" y="41910"/>
                      <a:pt x="2655502" y="92710"/>
                    </a:cubicBezTo>
                    <a:lnTo>
                      <a:pt x="2655502" y="2670673"/>
                    </a:lnTo>
                    <a:cubicBezTo>
                      <a:pt x="2656772" y="2722743"/>
                      <a:pt x="2614862" y="2764653"/>
                      <a:pt x="2564062" y="2764653"/>
                    </a:cubicBezTo>
                    <a:close/>
                  </a:path>
                </a:pathLst>
              </a:custGeom>
              <a:solidFill>
                <a:srgbClr val="FFFFFF"/>
              </a:solidFill>
            </p:spPr>
            <p:txBody>
              <a:bodyPr/>
              <a:lstStyle/>
              <a:p>
                <a:endParaRPr lang="en-AU"/>
              </a:p>
            </p:txBody>
          </p:sp>
          <p:sp>
            <p:nvSpPr>
              <p:cNvPr id="28" name="Freeform 18">
                <a:extLst>
                  <a:ext uri="{FF2B5EF4-FFF2-40B4-BE49-F238E27FC236}">
                    <a16:creationId xmlns:a16="http://schemas.microsoft.com/office/drawing/2014/main" id="{778527F2-5F05-B73B-A085-EBFBCA0F3AE6}"/>
                  </a:ext>
                </a:extLst>
              </p:cNvPr>
              <p:cNvSpPr/>
              <p:nvPr/>
            </p:nvSpPr>
            <p:spPr>
              <a:xfrm>
                <a:off x="0" y="0"/>
                <a:ext cx="2720272" cy="2828154"/>
              </a:xfrm>
              <a:custGeom>
                <a:avLst/>
                <a:gdLst/>
                <a:ahLst/>
                <a:cxnLst/>
                <a:rect l="l" t="t" r="r" b="b"/>
                <a:pathLst>
                  <a:path w="2720272" h="2828154">
                    <a:moveTo>
                      <a:pt x="2595812" y="59690"/>
                    </a:moveTo>
                    <a:cubicBezTo>
                      <a:pt x="2631372" y="59690"/>
                      <a:pt x="2660582" y="88900"/>
                      <a:pt x="2660582" y="124460"/>
                    </a:cubicBezTo>
                    <a:lnTo>
                      <a:pt x="2660582" y="2703693"/>
                    </a:lnTo>
                    <a:cubicBezTo>
                      <a:pt x="2660582" y="2739254"/>
                      <a:pt x="2631372" y="2768463"/>
                      <a:pt x="2595812" y="2768463"/>
                    </a:cubicBezTo>
                    <a:lnTo>
                      <a:pt x="124460" y="2768463"/>
                    </a:lnTo>
                    <a:cubicBezTo>
                      <a:pt x="88900" y="2768463"/>
                      <a:pt x="59690" y="2739254"/>
                      <a:pt x="59690" y="2703693"/>
                    </a:cubicBezTo>
                    <a:lnTo>
                      <a:pt x="59690" y="124460"/>
                    </a:lnTo>
                    <a:cubicBezTo>
                      <a:pt x="59690" y="88900"/>
                      <a:pt x="88900" y="59690"/>
                      <a:pt x="124460" y="59690"/>
                    </a:cubicBezTo>
                    <a:lnTo>
                      <a:pt x="2595812" y="59690"/>
                    </a:lnTo>
                    <a:moveTo>
                      <a:pt x="2595812" y="0"/>
                    </a:moveTo>
                    <a:lnTo>
                      <a:pt x="124460" y="0"/>
                    </a:lnTo>
                    <a:cubicBezTo>
                      <a:pt x="55880" y="0"/>
                      <a:pt x="0" y="55880"/>
                      <a:pt x="0" y="124460"/>
                    </a:cubicBezTo>
                    <a:lnTo>
                      <a:pt x="0" y="2703693"/>
                    </a:lnTo>
                    <a:cubicBezTo>
                      <a:pt x="0" y="2772273"/>
                      <a:pt x="55880" y="2828154"/>
                      <a:pt x="124460" y="2828154"/>
                    </a:cubicBezTo>
                    <a:lnTo>
                      <a:pt x="2595812" y="2828154"/>
                    </a:lnTo>
                    <a:cubicBezTo>
                      <a:pt x="2664392" y="2828154"/>
                      <a:pt x="2720272" y="2772273"/>
                      <a:pt x="2720272" y="2703693"/>
                    </a:cubicBezTo>
                    <a:lnTo>
                      <a:pt x="2720272" y="124460"/>
                    </a:lnTo>
                    <a:cubicBezTo>
                      <a:pt x="2720272" y="55880"/>
                      <a:pt x="2664392" y="0"/>
                      <a:pt x="2595812" y="0"/>
                    </a:cubicBezTo>
                    <a:close/>
                  </a:path>
                </a:pathLst>
              </a:custGeom>
              <a:solidFill>
                <a:srgbClr val="FF5757"/>
              </a:solidFill>
            </p:spPr>
            <p:txBody>
              <a:bodyPr/>
              <a:lstStyle/>
              <a:p>
                <a:endParaRPr lang="en-AU"/>
              </a:p>
            </p:txBody>
          </p:sp>
        </p:grpSp>
        <p:sp>
          <p:nvSpPr>
            <p:cNvPr id="15" name="Freeform 19">
              <a:extLst>
                <a:ext uri="{FF2B5EF4-FFF2-40B4-BE49-F238E27FC236}">
                  <a16:creationId xmlns:a16="http://schemas.microsoft.com/office/drawing/2014/main" id="{D6BE8E00-380A-3FB8-FDE6-6E659EC561AF}"/>
                </a:ext>
              </a:extLst>
            </p:cNvPr>
            <p:cNvSpPr/>
            <p:nvPr/>
          </p:nvSpPr>
          <p:spPr>
            <a:xfrm>
              <a:off x="8402637" y="4632583"/>
              <a:ext cx="839802" cy="655046"/>
            </a:xfrm>
            <a:custGeom>
              <a:avLst/>
              <a:gdLst/>
              <a:ahLst/>
              <a:cxnLst/>
              <a:rect l="l" t="t" r="r" b="b"/>
              <a:pathLst>
                <a:path w="839802" h="655046">
                  <a:moveTo>
                    <a:pt x="0" y="0"/>
                  </a:moveTo>
                  <a:lnTo>
                    <a:pt x="839803" y="0"/>
                  </a:lnTo>
                  <a:lnTo>
                    <a:pt x="839803" y="655045"/>
                  </a:lnTo>
                  <a:lnTo>
                    <a:pt x="0" y="6550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6" name="Freeform 20">
              <a:extLst>
                <a:ext uri="{FF2B5EF4-FFF2-40B4-BE49-F238E27FC236}">
                  <a16:creationId xmlns:a16="http://schemas.microsoft.com/office/drawing/2014/main" id="{50C33CF1-EE02-6955-AB73-7FB324145217}"/>
                </a:ext>
              </a:extLst>
            </p:cNvPr>
            <p:cNvSpPr/>
            <p:nvPr/>
          </p:nvSpPr>
          <p:spPr>
            <a:xfrm>
              <a:off x="8599498" y="2077604"/>
              <a:ext cx="388280" cy="770779"/>
            </a:xfrm>
            <a:custGeom>
              <a:avLst/>
              <a:gdLst/>
              <a:ahLst/>
              <a:cxnLst/>
              <a:rect l="l" t="t" r="r" b="b"/>
              <a:pathLst>
                <a:path w="388280" h="770779">
                  <a:moveTo>
                    <a:pt x="0" y="0"/>
                  </a:moveTo>
                  <a:lnTo>
                    <a:pt x="388280" y="0"/>
                  </a:lnTo>
                  <a:lnTo>
                    <a:pt x="388280" y="770780"/>
                  </a:lnTo>
                  <a:lnTo>
                    <a:pt x="0" y="7707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7" name="Freeform 21">
              <a:extLst>
                <a:ext uri="{FF2B5EF4-FFF2-40B4-BE49-F238E27FC236}">
                  <a16:creationId xmlns:a16="http://schemas.microsoft.com/office/drawing/2014/main" id="{6D1137C1-9F65-381B-9E3D-C2EF079F8F8D}"/>
                </a:ext>
              </a:extLst>
            </p:cNvPr>
            <p:cNvSpPr/>
            <p:nvPr/>
          </p:nvSpPr>
          <p:spPr>
            <a:xfrm>
              <a:off x="2833313" y="4567302"/>
              <a:ext cx="733370" cy="616948"/>
            </a:xfrm>
            <a:custGeom>
              <a:avLst/>
              <a:gdLst/>
              <a:ahLst/>
              <a:cxnLst/>
              <a:rect l="l" t="t" r="r" b="b"/>
              <a:pathLst>
                <a:path w="733370" h="616948">
                  <a:moveTo>
                    <a:pt x="0" y="0"/>
                  </a:moveTo>
                  <a:lnTo>
                    <a:pt x="733370" y="0"/>
                  </a:lnTo>
                  <a:lnTo>
                    <a:pt x="733370" y="616948"/>
                  </a:lnTo>
                  <a:lnTo>
                    <a:pt x="0" y="6169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8" name="Freeform 22">
              <a:extLst>
                <a:ext uri="{FF2B5EF4-FFF2-40B4-BE49-F238E27FC236}">
                  <a16:creationId xmlns:a16="http://schemas.microsoft.com/office/drawing/2014/main" id="{87E79BA7-C876-A8B0-6106-7AD34D2B8D6F}"/>
                </a:ext>
              </a:extLst>
            </p:cNvPr>
            <p:cNvSpPr/>
            <p:nvPr/>
          </p:nvSpPr>
          <p:spPr>
            <a:xfrm>
              <a:off x="2834054" y="2104367"/>
              <a:ext cx="742179" cy="735432"/>
            </a:xfrm>
            <a:custGeom>
              <a:avLst/>
              <a:gdLst/>
              <a:ahLst/>
              <a:cxnLst/>
              <a:rect l="l" t="t" r="r" b="b"/>
              <a:pathLst>
                <a:path w="742179" h="735432">
                  <a:moveTo>
                    <a:pt x="0" y="0"/>
                  </a:moveTo>
                  <a:lnTo>
                    <a:pt x="742179" y="0"/>
                  </a:lnTo>
                  <a:lnTo>
                    <a:pt x="742179" y="735432"/>
                  </a:lnTo>
                  <a:lnTo>
                    <a:pt x="0" y="7354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21" name="TextBox 25">
              <a:extLst>
                <a:ext uri="{FF2B5EF4-FFF2-40B4-BE49-F238E27FC236}">
                  <a16:creationId xmlns:a16="http://schemas.microsoft.com/office/drawing/2014/main" id="{293D7D80-B7D6-3901-9A36-348CA98BED6C}"/>
                </a:ext>
              </a:extLst>
            </p:cNvPr>
            <p:cNvSpPr txBox="1"/>
            <p:nvPr/>
          </p:nvSpPr>
          <p:spPr>
            <a:xfrm>
              <a:off x="7860297" y="1177080"/>
              <a:ext cx="1808883" cy="8180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371"/>
                </a:lnSpc>
                <a:spcBef>
                  <a:spcPct val="0"/>
                </a:spcBef>
              </a:pPr>
              <a:r>
                <a:rPr lang="en-US" sz="2408" b="1">
                  <a:solidFill>
                    <a:srgbClr val="000000"/>
                  </a:solidFill>
                  <a:latin typeface="Canva Sans Bold"/>
                  <a:ea typeface="Canva Sans Bold"/>
                  <a:cs typeface="Canva Sans Bold"/>
                  <a:sym typeface="Canva Sans Bold"/>
                </a:rPr>
                <a:t>Pose question</a:t>
              </a:r>
            </a:p>
          </p:txBody>
        </p:sp>
        <p:sp>
          <p:nvSpPr>
            <p:cNvPr id="22" name="TextBox 26">
              <a:extLst>
                <a:ext uri="{FF2B5EF4-FFF2-40B4-BE49-F238E27FC236}">
                  <a16:creationId xmlns:a16="http://schemas.microsoft.com/office/drawing/2014/main" id="{D4DB8C11-EF07-B489-92BA-BCF89666FE5D}"/>
                </a:ext>
              </a:extLst>
            </p:cNvPr>
            <p:cNvSpPr txBox="1"/>
            <p:nvPr/>
          </p:nvSpPr>
          <p:spPr>
            <a:xfrm>
              <a:off x="7860297" y="3662172"/>
              <a:ext cx="1808883" cy="8180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371"/>
                </a:lnSpc>
                <a:spcBef>
                  <a:spcPct val="0"/>
                </a:spcBef>
              </a:pPr>
              <a:r>
                <a:rPr lang="en-US" sz="2408" b="1">
                  <a:solidFill>
                    <a:srgbClr val="000000"/>
                  </a:solidFill>
                  <a:latin typeface="Canva Sans Bold"/>
                  <a:ea typeface="Canva Sans Bold"/>
                  <a:cs typeface="Canva Sans Bold"/>
                  <a:sym typeface="Canva Sans Bold"/>
                </a:rPr>
                <a:t>Collect data</a:t>
              </a:r>
            </a:p>
          </p:txBody>
        </p:sp>
        <p:sp>
          <p:nvSpPr>
            <p:cNvPr id="23" name="TextBox 27">
              <a:extLst>
                <a:ext uri="{FF2B5EF4-FFF2-40B4-BE49-F238E27FC236}">
                  <a16:creationId xmlns:a16="http://schemas.microsoft.com/office/drawing/2014/main" id="{62F6F6B1-A338-225C-C478-2039C5546A50}"/>
                </a:ext>
              </a:extLst>
            </p:cNvPr>
            <p:cNvSpPr txBox="1"/>
            <p:nvPr/>
          </p:nvSpPr>
          <p:spPr>
            <a:xfrm>
              <a:off x="2299629" y="3662172"/>
              <a:ext cx="1808883" cy="8180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371"/>
                </a:lnSpc>
                <a:spcBef>
                  <a:spcPct val="0"/>
                </a:spcBef>
              </a:pPr>
              <a:r>
                <a:rPr lang="en-US" sz="2408" b="1">
                  <a:solidFill>
                    <a:srgbClr val="000000"/>
                  </a:solidFill>
                  <a:latin typeface="Canva Sans Bold"/>
                  <a:ea typeface="Canva Sans Bold"/>
                  <a:cs typeface="Canva Sans Bold"/>
                  <a:sym typeface="Canva Sans Bold"/>
                </a:rPr>
                <a:t>Represent data</a:t>
              </a:r>
            </a:p>
          </p:txBody>
        </p:sp>
        <p:sp>
          <p:nvSpPr>
            <p:cNvPr id="24" name="TextBox 28">
              <a:extLst>
                <a:ext uri="{FF2B5EF4-FFF2-40B4-BE49-F238E27FC236}">
                  <a16:creationId xmlns:a16="http://schemas.microsoft.com/office/drawing/2014/main" id="{4166A872-607B-D46D-CD59-FB8B9F5FD523}"/>
                </a:ext>
              </a:extLst>
            </p:cNvPr>
            <p:cNvSpPr txBox="1"/>
            <p:nvPr/>
          </p:nvSpPr>
          <p:spPr>
            <a:xfrm>
              <a:off x="2300702" y="1177080"/>
              <a:ext cx="1808883" cy="8180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371"/>
                </a:lnSpc>
                <a:spcBef>
                  <a:spcPct val="0"/>
                </a:spcBef>
              </a:pPr>
              <a:r>
                <a:rPr lang="en-US" sz="2408" b="1" dirty="0">
                  <a:solidFill>
                    <a:srgbClr val="000000"/>
                  </a:solidFill>
                  <a:latin typeface="Canva Sans Bold"/>
                  <a:ea typeface="Canva Sans Bold"/>
                  <a:cs typeface="Canva Sans Bold"/>
                  <a:sym typeface="Canva Sans Bold"/>
                </a:rPr>
                <a:t>Interpret data</a:t>
              </a:r>
            </a:p>
          </p:txBody>
        </p:sp>
        <p:sp>
          <p:nvSpPr>
            <p:cNvPr id="25" name="TextBox 29">
              <a:extLst>
                <a:ext uri="{FF2B5EF4-FFF2-40B4-BE49-F238E27FC236}">
                  <a16:creationId xmlns:a16="http://schemas.microsoft.com/office/drawing/2014/main" id="{5AFE2EC7-2AB5-E135-7D7C-E0880F2692F2}"/>
                </a:ext>
              </a:extLst>
            </p:cNvPr>
            <p:cNvSpPr txBox="1"/>
            <p:nvPr/>
          </p:nvSpPr>
          <p:spPr>
            <a:xfrm>
              <a:off x="5234035" y="2636161"/>
              <a:ext cx="1646312" cy="11186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495"/>
                </a:lnSpc>
                <a:spcBef>
                  <a:spcPct val="0"/>
                </a:spcBef>
              </a:pPr>
              <a:r>
                <a:rPr lang="en-US" sz="3211" b="1">
                  <a:solidFill>
                    <a:srgbClr val="000000"/>
                  </a:solidFill>
                  <a:latin typeface="Canva Sans Bold"/>
                  <a:ea typeface="Canva Sans Bold"/>
                  <a:cs typeface="Canva Sans Bold"/>
                  <a:sym typeface="Canva Sans Bold"/>
                </a:rPr>
                <a:t>DATA CYCLE</a:t>
              </a:r>
            </a:p>
          </p:txBody>
        </p:sp>
      </p:gr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5" name="Group 4" descr="A blank 0-1 number line.&#10;&#10;The fractions to be placed on the number line include:&#10;one-quarter, one-third, one-fifth, one-tenth and one-sixth.">
            <a:extLst>
              <a:ext uri="{FF2B5EF4-FFF2-40B4-BE49-F238E27FC236}">
                <a16:creationId xmlns:a16="http://schemas.microsoft.com/office/drawing/2014/main" id="{F8C99B0A-414D-B3A6-7B08-1DF7ABB26715}"/>
              </a:ext>
            </a:extLst>
          </p:cNvPr>
          <p:cNvGrpSpPr/>
          <p:nvPr/>
        </p:nvGrpSpPr>
        <p:grpSpPr>
          <a:xfrm>
            <a:off x="2014083" y="1535686"/>
            <a:ext cx="8779860" cy="2187433"/>
            <a:chOff x="1156140" y="3257294"/>
            <a:chExt cx="8779860" cy="2187433"/>
          </a:xfrm>
        </p:grpSpPr>
        <p:sp>
          <p:nvSpPr>
            <p:cNvPr id="7" name="AutoShape 2">
              <a:extLst>
                <a:ext uri="{FF2B5EF4-FFF2-40B4-BE49-F238E27FC236}">
                  <a16:creationId xmlns:a16="http://schemas.microsoft.com/office/drawing/2014/main" id="{AF31E787-165F-1C0E-A97C-B6CA973224C0}"/>
                </a:ext>
              </a:extLst>
            </p:cNvPr>
            <p:cNvSpPr/>
            <p:nvPr/>
          </p:nvSpPr>
          <p:spPr>
            <a:xfrm>
              <a:off x="1156140" y="3482306"/>
              <a:ext cx="8779860" cy="0"/>
            </a:xfrm>
            <a:prstGeom prst="line">
              <a:avLst/>
            </a:prstGeom>
            <a:ln w="38100" cap="flat">
              <a:solidFill>
                <a:srgbClr val="000000"/>
              </a:solidFill>
              <a:prstDash val="solid"/>
              <a:headEnd type="triangle" w="lg" len="med"/>
              <a:tailEnd type="triangle" w="lg" len="med"/>
            </a:ln>
          </p:spPr>
          <p:txBody>
            <a:bodyPr/>
            <a:lstStyle/>
            <a:p>
              <a:endParaRPr lang="en-AU"/>
            </a:p>
          </p:txBody>
        </p:sp>
        <p:sp>
          <p:nvSpPr>
            <p:cNvPr id="8" name="AutoShape 3">
              <a:extLst>
                <a:ext uri="{FF2B5EF4-FFF2-40B4-BE49-F238E27FC236}">
                  <a16:creationId xmlns:a16="http://schemas.microsoft.com/office/drawing/2014/main" id="{BA5231A4-54D0-B367-8184-2207017987F0}"/>
                </a:ext>
              </a:extLst>
            </p:cNvPr>
            <p:cNvSpPr/>
            <p:nvPr/>
          </p:nvSpPr>
          <p:spPr>
            <a:xfrm flipV="1">
              <a:off x="1357696" y="3257294"/>
              <a:ext cx="0" cy="225011"/>
            </a:xfrm>
            <a:prstGeom prst="line">
              <a:avLst/>
            </a:prstGeom>
            <a:ln w="38100" cap="flat">
              <a:solidFill>
                <a:srgbClr val="000000"/>
              </a:solidFill>
              <a:prstDash val="solid"/>
              <a:headEnd type="none" w="sm" len="sm"/>
              <a:tailEnd type="none" w="sm" len="sm"/>
            </a:ln>
          </p:spPr>
          <p:txBody>
            <a:bodyPr/>
            <a:lstStyle/>
            <a:p>
              <a:endParaRPr lang="en-AU"/>
            </a:p>
          </p:txBody>
        </p:sp>
        <p:sp>
          <p:nvSpPr>
            <p:cNvPr id="9" name="AutoShape 4">
              <a:extLst>
                <a:ext uri="{FF2B5EF4-FFF2-40B4-BE49-F238E27FC236}">
                  <a16:creationId xmlns:a16="http://schemas.microsoft.com/office/drawing/2014/main" id="{1D90CE80-1E45-C8E2-5E61-5A700B78DCFB}"/>
                </a:ext>
              </a:extLst>
            </p:cNvPr>
            <p:cNvSpPr/>
            <p:nvPr/>
          </p:nvSpPr>
          <p:spPr>
            <a:xfrm flipV="1">
              <a:off x="9750795" y="3257294"/>
              <a:ext cx="0" cy="225012"/>
            </a:xfrm>
            <a:prstGeom prst="line">
              <a:avLst/>
            </a:prstGeom>
            <a:ln w="38100" cap="flat">
              <a:solidFill>
                <a:srgbClr val="000000"/>
              </a:solidFill>
              <a:prstDash val="solid"/>
              <a:headEnd type="none" w="sm" len="sm"/>
              <a:tailEnd type="none" w="sm" len="sm"/>
            </a:ln>
          </p:spPr>
          <p:txBody>
            <a:bodyPr/>
            <a:lstStyle/>
            <a:p>
              <a:endParaRPr lang="en-AU"/>
            </a:p>
          </p:txBody>
        </p:sp>
        <p:sp>
          <p:nvSpPr>
            <p:cNvPr id="10" name="TextBox 5">
              <a:extLst>
                <a:ext uri="{FF2B5EF4-FFF2-40B4-BE49-F238E27FC236}">
                  <a16:creationId xmlns:a16="http://schemas.microsoft.com/office/drawing/2014/main" id="{55966DBF-4B8B-19F0-0B28-C82B4F808620}"/>
                </a:ext>
              </a:extLst>
            </p:cNvPr>
            <p:cNvSpPr txBox="1"/>
            <p:nvPr/>
          </p:nvSpPr>
          <p:spPr>
            <a:xfrm>
              <a:off x="1276101" y="3563782"/>
              <a:ext cx="163190"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0</a:t>
              </a:r>
            </a:p>
          </p:txBody>
        </p:sp>
        <p:sp>
          <p:nvSpPr>
            <p:cNvPr id="11" name="TextBox 6">
              <a:extLst>
                <a:ext uri="{FF2B5EF4-FFF2-40B4-BE49-F238E27FC236}">
                  <a16:creationId xmlns:a16="http://schemas.microsoft.com/office/drawing/2014/main" id="{B27D1E30-FE81-D87B-E80E-334C234CFD56}"/>
                </a:ext>
              </a:extLst>
            </p:cNvPr>
            <p:cNvSpPr txBox="1"/>
            <p:nvPr/>
          </p:nvSpPr>
          <p:spPr>
            <a:xfrm>
              <a:off x="9696436" y="3563782"/>
              <a:ext cx="108719"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1</a:t>
              </a:r>
            </a:p>
          </p:txBody>
        </p:sp>
        <p:sp>
          <p:nvSpPr>
            <p:cNvPr id="12" name="TextBox 7">
              <a:extLst>
                <a:ext uri="{FF2B5EF4-FFF2-40B4-BE49-F238E27FC236}">
                  <a16:creationId xmlns:a16="http://schemas.microsoft.com/office/drawing/2014/main" id="{D3C18378-AF15-CFB3-C23C-3A3640EC35F5}"/>
                </a:ext>
              </a:extLst>
            </p:cNvPr>
            <p:cNvSpPr txBox="1"/>
            <p:nvPr/>
          </p:nvSpPr>
          <p:spPr>
            <a:xfrm>
              <a:off x="3226189" y="4390056"/>
              <a:ext cx="237147" cy="1042124"/>
            </a:xfrm>
            <a:prstGeom prst="rect">
              <a:avLst/>
            </a:prstGeom>
          </p:spPr>
          <p:txBody>
            <a:bodyPr lIns="0" tIns="0" rIns="0" bIns="0" rtlCol="0" anchor="t">
              <a:spAutoFit/>
            </a:bodyPr>
            <a:lstStyle/>
            <a:p>
              <a:pPr algn="ctr">
                <a:lnSpc>
                  <a:spcPts val="4158"/>
                </a:lnSpc>
              </a:pPr>
              <a:r>
                <a:rPr lang="en-US" sz="2970" dirty="0">
                  <a:solidFill>
                    <a:srgbClr val="000000"/>
                  </a:solidFill>
                  <a:latin typeface="Public Sans"/>
                  <a:ea typeface="Public Sans"/>
                  <a:cs typeface="Public Sans"/>
                  <a:sym typeface="Public Sans"/>
                </a:rPr>
                <a:t>1</a:t>
              </a:r>
            </a:p>
            <a:p>
              <a:pPr algn="ctr">
                <a:lnSpc>
                  <a:spcPts val="4158"/>
                </a:lnSpc>
              </a:pPr>
              <a:r>
                <a:rPr lang="en-US" sz="2970" dirty="0">
                  <a:solidFill>
                    <a:srgbClr val="000000"/>
                  </a:solidFill>
                  <a:latin typeface="Public Sans"/>
                  <a:ea typeface="Public Sans"/>
                  <a:cs typeface="Public Sans"/>
                  <a:sym typeface="Public Sans"/>
                </a:rPr>
                <a:t>4</a:t>
              </a:r>
            </a:p>
          </p:txBody>
        </p:sp>
        <p:sp>
          <p:nvSpPr>
            <p:cNvPr id="13" name="TextBox 8">
              <a:extLst>
                <a:ext uri="{FF2B5EF4-FFF2-40B4-BE49-F238E27FC236}">
                  <a16:creationId xmlns:a16="http://schemas.microsoft.com/office/drawing/2014/main" id="{226DE75A-AB70-2976-77A3-8E17B414842E}"/>
                </a:ext>
              </a:extLst>
            </p:cNvPr>
            <p:cNvSpPr txBox="1"/>
            <p:nvPr/>
          </p:nvSpPr>
          <p:spPr>
            <a:xfrm>
              <a:off x="4058382" y="4390056"/>
              <a:ext cx="237778" cy="1042124"/>
            </a:xfrm>
            <a:prstGeom prst="rect">
              <a:avLst/>
            </a:prstGeom>
          </p:spPr>
          <p:txBody>
            <a:bodyPr lIns="0" tIns="0" rIns="0" bIns="0" rtlCol="0" anchor="t">
              <a:spAutoFit/>
            </a:bodyPr>
            <a:lstStyle/>
            <a:p>
              <a:pPr algn="ctr">
                <a:lnSpc>
                  <a:spcPts val="4158"/>
                </a:lnSpc>
              </a:pPr>
              <a:r>
                <a:rPr lang="en-US" sz="2970" dirty="0">
                  <a:solidFill>
                    <a:srgbClr val="000000"/>
                  </a:solidFill>
                  <a:latin typeface="Public Sans"/>
                  <a:ea typeface="Public Sans"/>
                  <a:cs typeface="Public Sans"/>
                  <a:sym typeface="Public Sans"/>
                </a:rPr>
                <a:t>1</a:t>
              </a:r>
            </a:p>
            <a:p>
              <a:pPr algn="ctr">
                <a:lnSpc>
                  <a:spcPts val="4158"/>
                </a:lnSpc>
              </a:pPr>
              <a:r>
                <a:rPr lang="en-US" sz="2970" dirty="0">
                  <a:solidFill>
                    <a:srgbClr val="000000"/>
                  </a:solidFill>
                  <a:latin typeface="Public Sans"/>
                  <a:ea typeface="Public Sans"/>
                  <a:cs typeface="Public Sans"/>
                  <a:sym typeface="Public Sans"/>
                </a:rPr>
                <a:t>3</a:t>
              </a:r>
            </a:p>
          </p:txBody>
        </p:sp>
        <p:sp>
          <p:nvSpPr>
            <p:cNvPr id="14" name="TextBox 9">
              <a:extLst>
                <a:ext uri="{FF2B5EF4-FFF2-40B4-BE49-F238E27FC236}">
                  <a16:creationId xmlns:a16="http://schemas.microsoft.com/office/drawing/2014/main" id="{73F0BCED-04E5-1E25-0B86-1A1360BE87A4}"/>
                </a:ext>
              </a:extLst>
            </p:cNvPr>
            <p:cNvSpPr txBox="1"/>
            <p:nvPr/>
          </p:nvSpPr>
          <p:spPr>
            <a:xfrm>
              <a:off x="4947752" y="4390056"/>
              <a:ext cx="241567" cy="1042124"/>
            </a:xfrm>
            <a:prstGeom prst="rect">
              <a:avLst/>
            </a:prstGeom>
          </p:spPr>
          <p:txBody>
            <a:bodyPr lIns="0" tIns="0" rIns="0" bIns="0" rtlCol="0" anchor="t">
              <a:spAutoFit/>
            </a:bodyPr>
            <a:lstStyle/>
            <a:p>
              <a:pPr algn="ctr">
                <a:lnSpc>
                  <a:spcPts val="4158"/>
                </a:lnSpc>
              </a:pPr>
              <a:r>
                <a:rPr lang="en-US" sz="2970" dirty="0">
                  <a:solidFill>
                    <a:srgbClr val="000000"/>
                  </a:solidFill>
                  <a:latin typeface="Public Sans"/>
                  <a:ea typeface="Public Sans"/>
                  <a:cs typeface="Public Sans"/>
                  <a:sym typeface="Public Sans"/>
                </a:rPr>
                <a:t>1</a:t>
              </a:r>
            </a:p>
            <a:p>
              <a:pPr algn="ctr">
                <a:lnSpc>
                  <a:spcPts val="4158"/>
                </a:lnSpc>
              </a:pPr>
              <a:r>
                <a:rPr lang="en-US" sz="2970" dirty="0">
                  <a:solidFill>
                    <a:srgbClr val="000000"/>
                  </a:solidFill>
                  <a:latin typeface="Public Sans"/>
                  <a:ea typeface="Public Sans"/>
                  <a:cs typeface="Public Sans"/>
                  <a:sym typeface="Public Sans"/>
                </a:rPr>
                <a:t>5</a:t>
              </a:r>
            </a:p>
          </p:txBody>
        </p:sp>
        <p:sp>
          <p:nvSpPr>
            <p:cNvPr id="15" name="TextBox 10">
              <a:extLst>
                <a:ext uri="{FF2B5EF4-FFF2-40B4-BE49-F238E27FC236}">
                  <a16:creationId xmlns:a16="http://schemas.microsoft.com/office/drawing/2014/main" id="{AEE5359F-7852-4083-0997-5C3EA4AD7C14}"/>
                </a:ext>
              </a:extLst>
            </p:cNvPr>
            <p:cNvSpPr txBox="1"/>
            <p:nvPr/>
          </p:nvSpPr>
          <p:spPr>
            <a:xfrm>
              <a:off x="5673897" y="4414637"/>
              <a:ext cx="445748" cy="1030090"/>
            </a:xfrm>
            <a:prstGeom prst="rect">
              <a:avLst/>
            </a:prstGeom>
          </p:spPr>
          <p:txBody>
            <a:bodyPr wrap="square" lIns="0" tIns="0" rIns="0" bIns="0" rtlCol="0" anchor="t">
              <a:spAutoFit/>
            </a:bodyPr>
            <a:lstStyle/>
            <a:p>
              <a:pPr algn="ctr">
                <a:lnSpc>
                  <a:spcPts val="4158"/>
                </a:lnSpc>
              </a:pPr>
              <a:r>
                <a:rPr lang="en-US" sz="2970">
                  <a:solidFill>
                    <a:srgbClr val="000000"/>
                  </a:solidFill>
                  <a:latin typeface="Public Sans"/>
                  <a:ea typeface="Public Sans"/>
                  <a:cs typeface="Public Sans"/>
                  <a:sym typeface="Public Sans"/>
                </a:rPr>
                <a:t>1</a:t>
              </a:r>
            </a:p>
            <a:p>
              <a:pPr algn="ctr">
                <a:lnSpc>
                  <a:spcPts val="4158"/>
                </a:lnSpc>
              </a:pPr>
              <a:r>
                <a:rPr lang="en-US" sz="2970">
                  <a:solidFill>
                    <a:srgbClr val="000000"/>
                  </a:solidFill>
                  <a:latin typeface="Public Sans"/>
                  <a:ea typeface="Public Sans"/>
                  <a:cs typeface="Public Sans"/>
                  <a:sym typeface="Public Sans"/>
                </a:rPr>
                <a:t>10</a:t>
              </a:r>
            </a:p>
          </p:txBody>
        </p:sp>
        <p:sp>
          <p:nvSpPr>
            <p:cNvPr id="16" name="TextBox 11">
              <a:extLst>
                <a:ext uri="{FF2B5EF4-FFF2-40B4-BE49-F238E27FC236}">
                  <a16:creationId xmlns:a16="http://schemas.microsoft.com/office/drawing/2014/main" id="{FE914150-1584-5BD7-FF0A-51F07507E2FB}"/>
                </a:ext>
              </a:extLst>
            </p:cNvPr>
            <p:cNvSpPr txBox="1"/>
            <p:nvPr/>
          </p:nvSpPr>
          <p:spPr>
            <a:xfrm>
              <a:off x="6608165" y="4390056"/>
              <a:ext cx="234936" cy="1042124"/>
            </a:xfrm>
            <a:prstGeom prst="rect">
              <a:avLst/>
            </a:prstGeom>
          </p:spPr>
          <p:txBody>
            <a:bodyPr lIns="0" tIns="0" rIns="0" bIns="0" rtlCol="0" anchor="t">
              <a:spAutoFit/>
            </a:bodyPr>
            <a:lstStyle/>
            <a:p>
              <a:pPr algn="ctr">
                <a:lnSpc>
                  <a:spcPts val="4158"/>
                </a:lnSpc>
              </a:pPr>
              <a:r>
                <a:rPr lang="en-US" sz="2970">
                  <a:solidFill>
                    <a:srgbClr val="000000"/>
                  </a:solidFill>
                  <a:latin typeface="Public Sans"/>
                  <a:ea typeface="Public Sans"/>
                  <a:cs typeface="Public Sans"/>
                  <a:sym typeface="Public Sans"/>
                </a:rPr>
                <a:t>1</a:t>
              </a:r>
            </a:p>
            <a:p>
              <a:pPr algn="ctr">
                <a:lnSpc>
                  <a:spcPts val="4158"/>
                </a:lnSpc>
              </a:pPr>
              <a:r>
                <a:rPr lang="en-US" sz="2970">
                  <a:solidFill>
                    <a:srgbClr val="000000"/>
                  </a:solidFill>
                  <a:latin typeface="Public Sans"/>
                  <a:ea typeface="Public Sans"/>
                  <a:cs typeface="Public Sans"/>
                  <a:sym typeface="Public Sans"/>
                </a:rPr>
                <a:t>6</a:t>
              </a:r>
            </a:p>
          </p:txBody>
        </p:sp>
        <p:sp>
          <p:nvSpPr>
            <p:cNvPr id="17" name="AutoShape 12">
              <a:extLst>
                <a:ext uri="{FF2B5EF4-FFF2-40B4-BE49-F238E27FC236}">
                  <a16:creationId xmlns:a16="http://schemas.microsoft.com/office/drawing/2014/main" id="{682EEB5B-8746-615E-42F3-3F260DF2BCF1}"/>
                </a:ext>
              </a:extLst>
            </p:cNvPr>
            <p:cNvSpPr/>
            <p:nvPr/>
          </p:nvSpPr>
          <p:spPr>
            <a:xfrm>
              <a:off x="3153590" y="4963505"/>
              <a:ext cx="390442" cy="0"/>
            </a:xfrm>
            <a:prstGeom prst="line">
              <a:avLst/>
            </a:prstGeom>
            <a:ln w="38100" cap="flat">
              <a:solidFill>
                <a:srgbClr val="000000"/>
              </a:solidFill>
              <a:prstDash val="solid"/>
              <a:headEnd type="none" w="sm" len="sm"/>
              <a:tailEnd type="none" w="sm" len="sm"/>
            </a:ln>
          </p:spPr>
          <p:txBody>
            <a:bodyPr/>
            <a:lstStyle/>
            <a:p>
              <a:endParaRPr lang="en-AU"/>
            </a:p>
          </p:txBody>
        </p:sp>
        <p:sp>
          <p:nvSpPr>
            <p:cNvPr id="18" name="AutoShape 13">
              <a:extLst>
                <a:ext uri="{FF2B5EF4-FFF2-40B4-BE49-F238E27FC236}">
                  <a16:creationId xmlns:a16="http://schemas.microsoft.com/office/drawing/2014/main" id="{660EC379-9900-A575-2C79-7EA8EBF98730}"/>
                </a:ext>
              </a:extLst>
            </p:cNvPr>
            <p:cNvSpPr/>
            <p:nvPr/>
          </p:nvSpPr>
          <p:spPr>
            <a:xfrm>
              <a:off x="3982050" y="4963505"/>
              <a:ext cx="390442" cy="0"/>
            </a:xfrm>
            <a:prstGeom prst="line">
              <a:avLst/>
            </a:prstGeom>
            <a:ln w="38100" cap="flat">
              <a:solidFill>
                <a:srgbClr val="000000"/>
              </a:solidFill>
              <a:prstDash val="solid"/>
              <a:headEnd type="none" w="sm" len="sm"/>
              <a:tailEnd type="none" w="sm" len="sm"/>
            </a:ln>
          </p:spPr>
          <p:txBody>
            <a:bodyPr/>
            <a:lstStyle/>
            <a:p>
              <a:endParaRPr lang="en-AU"/>
            </a:p>
          </p:txBody>
        </p:sp>
        <p:sp>
          <p:nvSpPr>
            <p:cNvPr id="19" name="AutoShape 14">
              <a:extLst>
                <a:ext uri="{FF2B5EF4-FFF2-40B4-BE49-F238E27FC236}">
                  <a16:creationId xmlns:a16="http://schemas.microsoft.com/office/drawing/2014/main" id="{2CCA55B1-5F52-BAC2-DBA9-A9B0210B6E86}"/>
                </a:ext>
              </a:extLst>
            </p:cNvPr>
            <p:cNvSpPr/>
            <p:nvPr/>
          </p:nvSpPr>
          <p:spPr>
            <a:xfrm>
              <a:off x="4873315" y="4963505"/>
              <a:ext cx="390442" cy="0"/>
            </a:xfrm>
            <a:prstGeom prst="line">
              <a:avLst/>
            </a:prstGeom>
            <a:ln w="38100" cap="flat">
              <a:solidFill>
                <a:srgbClr val="000000"/>
              </a:solidFill>
              <a:prstDash val="solid"/>
              <a:headEnd type="none" w="sm" len="sm"/>
              <a:tailEnd type="none" w="sm" len="sm"/>
            </a:ln>
          </p:spPr>
          <p:txBody>
            <a:bodyPr/>
            <a:lstStyle/>
            <a:p>
              <a:endParaRPr lang="en-AU"/>
            </a:p>
          </p:txBody>
        </p:sp>
        <p:sp>
          <p:nvSpPr>
            <p:cNvPr id="20" name="AutoShape 15">
              <a:extLst>
                <a:ext uri="{FF2B5EF4-FFF2-40B4-BE49-F238E27FC236}">
                  <a16:creationId xmlns:a16="http://schemas.microsoft.com/office/drawing/2014/main" id="{475272D1-CC3E-C0E0-A95D-111C224744C4}"/>
                </a:ext>
              </a:extLst>
            </p:cNvPr>
            <p:cNvSpPr/>
            <p:nvPr/>
          </p:nvSpPr>
          <p:spPr>
            <a:xfrm>
              <a:off x="5710768" y="4963505"/>
              <a:ext cx="390442" cy="0"/>
            </a:xfrm>
            <a:prstGeom prst="line">
              <a:avLst/>
            </a:prstGeom>
            <a:ln w="38100" cap="flat">
              <a:solidFill>
                <a:srgbClr val="000000"/>
              </a:solidFill>
              <a:prstDash val="solid"/>
              <a:headEnd type="none" w="sm" len="sm"/>
              <a:tailEnd type="none" w="sm" len="sm"/>
            </a:ln>
          </p:spPr>
          <p:txBody>
            <a:bodyPr/>
            <a:lstStyle/>
            <a:p>
              <a:endParaRPr lang="en-AU"/>
            </a:p>
          </p:txBody>
        </p:sp>
        <p:sp>
          <p:nvSpPr>
            <p:cNvPr id="21" name="AutoShape 16">
              <a:extLst>
                <a:ext uri="{FF2B5EF4-FFF2-40B4-BE49-F238E27FC236}">
                  <a16:creationId xmlns:a16="http://schemas.microsoft.com/office/drawing/2014/main" id="{2D7098D3-E913-813E-3363-AA2BD7F71A88}"/>
                </a:ext>
              </a:extLst>
            </p:cNvPr>
            <p:cNvSpPr/>
            <p:nvPr/>
          </p:nvSpPr>
          <p:spPr>
            <a:xfrm>
              <a:off x="6548222" y="4963505"/>
              <a:ext cx="390442" cy="0"/>
            </a:xfrm>
            <a:prstGeom prst="line">
              <a:avLst/>
            </a:prstGeom>
            <a:ln w="38100" cap="flat">
              <a:solidFill>
                <a:srgbClr val="000000"/>
              </a:solidFill>
              <a:prstDash val="solid"/>
              <a:headEnd type="none" w="sm" len="sm"/>
              <a:tailEnd type="none" w="sm" len="sm"/>
            </a:ln>
          </p:spPr>
          <p:txBody>
            <a:bodyPr/>
            <a:lstStyle/>
            <a:p>
              <a:endParaRPr lang="en-AU"/>
            </a:p>
          </p:txBody>
        </p:sp>
      </p:grpSp>
      <p:sp>
        <p:nvSpPr>
          <p:cNvPr id="22" name="Text Placeholder 17">
            <a:extLst>
              <a:ext uri="{FF2B5EF4-FFF2-40B4-BE49-F238E27FC236}">
                <a16:creationId xmlns:a16="http://schemas.microsoft.com/office/drawing/2014/main" id="{4DEBF275-C079-A8D4-DCED-953A7C11E8C6}"/>
              </a:ext>
            </a:extLst>
          </p:cNvPr>
          <p:cNvSpPr txBox="1">
            <a:spLocks/>
          </p:cNvSpPr>
          <p:nvPr/>
        </p:nvSpPr>
        <p:spPr>
          <a:xfrm>
            <a:off x="519231" y="4001741"/>
            <a:ext cx="11243037"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latin typeface="Arial"/>
                <a:cs typeface="Arial"/>
              </a:rPr>
              <a:t>Draw </a:t>
            </a:r>
            <a:r>
              <a:rPr lang="en-US" sz="3600" dirty="0">
                <a:latin typeface="Arial"/>
                <a:cs typeface="Arial"/>
              </a:rPr>
              <a:t>a</a:t>
            </a:r>
            <a:r>
              <a:rPr lang="en-US" sz="3600" b="1" dirty="0">
                <a:latin typeface="Arial"/>
                <a:cs typeface="Arial"/>
              </a:rPr>
              <a:t> number line</a:t>
            </a:r>
            <a:endParaRPr lang="en-US" b="1" dirty="0"/>
          </a:p>
          <a:p>
            <a:pPr algn="ctr"/>
            <a:r>
              <a:rPr lang="en-US" sz="3600" b="1" dirty="0">
                <a:latin typeface="Arial"/>
                <a:cs typeface="Arial"/>
              </a:rPr>
              <a:t>Place</a:t>
            </a:r>
            <a:r>
              <a:rPr lang="en-US" sz="3600" dirty="0">
                <a:latin typeface="Arial"/>
                <a:cs typeface="Arial"/>
              </a:rPr>
              <a:t> these </a:t>
            </a:r>
            <a:r>
              <a:rPr lang="en-US" sz="3600" b="1" dirty="0">
                <a:latin typeface="Arial"/>
                <a:cs typeface="Arial"/>
              </a:rPr>
              <a:t>unit fractions </a:t>
            </a:r>
            <a:r>
              <a:rPr lang="en-US" sz="3600" dirty="0">
                <a:latin typeface="Arial"/>
                <a:cs typeface="Arial"/>
              </a:rPr>
              <a:t>on the number line.</a:t>
            </a:r>
            <a:endParaRPr lang="en-US" dirty="0">
              <a:latin typeface="Arial"/>
              <a:cs typeface="Arial"/>
            </a:endParaRP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17">
            <a:extLst>
              <a:ext uri="{FF2B5EF4-FFF2-40B4-BE49-F238E27FC236}">
                <a16:creationId xmlns:a16="http://schemas.microsoft.com/office/drawing/2014/main" id="{5178DB95-ACF2-6DCE-CF39-5806ECE3183E}"/>
              </a:ext>
            </a:extLst>
          </p:cNvPr>
          <p:cNvSpPr txBox="1">
            <a:spLocks/>
          </p:cNvSpPr>
          <p:nvPr/>
        </p:nvSpPr>
        <p:spPr>
          <a:xfrm>
            <a:off x="477733" y="1251184"/>
            <a:ext cx="455680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dirty="0"/>
              <a:t>Record </a:t>
            </a:r>
            <a:r>
              <a:rPr lang="en-US" sz="4400" dirty="0"/>
              <a:t>the </a:t>
            </a:r>
            <a:r>
              <a:rPr lang="en-US" sz="4400" b="1" dirty="0"/>
              <a:t>grid reference</a:t>
            </a:r>
            <a:r>
              <a:rPr lang="en-US" sz="4400" dirty="0"/>
              <a:t> for the king’s crown, throne and jewel.</a:t>
            </a:r>
          </a:p>
        </p:txBody>
      </p:sp>
      <p:grpSp>
        <p:nvGrpSpPr>
          <p:cNvPr id="11" name="Group 10" descr="A 5x5 grid with A-E on the horizontal axis and 1-5 on the vertical axis. A crown is placed at D5, a throne at A1 and a diamond at E2.">
            <a:extLst>
              <a:ext uri="{FF2B5EF4-FFF2-40B4-BE49-F238E27FC236}">
                <a16:creationId xmlns:a16="http://schemas.microsoft.com/office/drawing/2014/main" id="{06F6AA7F-ED78-469C-762A-E84C2160CFD5}"/>
              </a:ext>
            </a:extLst>
          </p:cNvPr>
          <p:cNvGrpSpPr/>
          <p:nvPr/>
        </p:nvGrpSpPr>
        <p:grpSpPr>
          <a:xfrm>
            <a:off x="5867460" y="1117346"/>
            <a:ext cx="5085673" cy="4821338"/>
            <a:chOff x="3474950" y="1350988"/>
            <a:chExt cx="3328780" cy="3351166"/>
          </a:xfrm>
        </p:grpSpPr>
        <p:sp>
          <p:nvSpPr>
            <p:cNvPr id="12" name="Freeform 2">
              <a:extLst>
                <a:ext uri="{FF2B5EF4-FFF2-40B4-BE49-F238E27FC236}">
                  <a16:creationId xmlns:a16="http://schemas.microsoft.com/office/drawing/2014/main" id="{79435011-834C-8580-5C59-DBDC08C46BD8}"/>
                </a:ext>
              </a:extLst>
            </p:cNvPr>
            <p:cNvSpPr/>
            <p:nvPr/>
          </p:nvSpPr>
          <p:spPr>
            <a:xfrm>
              <a:off x="3779730" y="1350988"/>
              <a:ext cx="3024000" cy="3024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dirty="0"/>
            </a:p>
          </p:txBody>
        </p:sp>
        <p:sp>
          <p:nvSpPr>
            <p:cNvPr id="13" name="Freeform 3">
              <a:extLst>
                <a:ext uri="{FF2B5EF4-FFF2-40B4-BE49-F238E27FC236}">
                  <a16:creationId xmlns:a16="http://schemas.microsoft.com/office/drawing/2014/main" id="{6BD1306D-CD30-5A16-FE78-209D45E2B469}"/>
                </a:ext>
              </a:extLst>
            </p:cNvPr>
            <p:cNvSpPr/>
            <p:nvPr/>
          </p:nvSpPr>
          <p:spPr>
            <a:xfrm>
              <a:off x="5665405" y="1577697"/>
              <a:ext cx="394768" cy="208733"/>
            </a:xfrm>
            <a:custGeom>
              <a:avLst/>
              <a:gdLst/>
              <a:ahLst/>
              <a:cxnLst/>
              <a:rect l="l" t="t" r="r" b="b"/>
              <a:pathLst>
                <a:path w="394768" h="208733">
                  <a:moveTo>
                    <a:pt x="0" y="0"/>
                  </a:moveTo>
                  <a:lnTo>
                    <a:pt x="394767" y="0"/>
                  </a:lnTo>
                  <a:lnTo>
                    <a:pt x="394767" y="208733"/>
                  </a:lnTo>
                  <a:lnTo>
                    <a:pt x="0" y="208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4" name="Freeform 4">
              <a:extLst>
                <a:ext uri="{FF2B5EF4-FFF2-40B4-BE49-F238E27FC236}">
                  <a16:creationId xmlns:a16="http://schemas.microsoft.com/office/drawing/2014/main" id="{9EB8E544-C283-D94E-9276-902775195388}"/>
                </a:ext>
              </a:extLst>
            </p:cNvPr>
            <p:cNvSpPr/>
            <p:nvPr/>
          </p:nvSpPr>
          <p:spPr>
            <a:xfrm>
              <a:off x="3939674" y="3835450"/>
              <a:ext cx="279730" cy="484380"/>
            </a:xfrm>
            <a:custGeom>
              <a:avLst/>
              <a:gdLst/>
              <a:ahLst/>
              <a:cxnLst/>
              <a:rect l="l" t="t" r="r" b="b"/>
              <a:pathLst>
                <a:path w="279730" h="484380">
                  <a:moveTo>
                    <a:pt x="0" y="0"/>
                  </a:moveTo>
                  <a:lnTo>
                    <a:pt x="279729" y="0"/>
                  </a:lnTo>
                  <a:lnTo>
                    <a:pt x="279729" y="484380"/>
                  </a:lnTo>
                  <a:lnTo>
                    <a:pt x="0" y="4843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5" name="Freeform 5">
              <a:extLst>
                <a:ext uri="{FF2B5EF4-FFF2-40B4-BE49-F238E27FC236}">
                  <a16:creationId xmlns:a16="http://schemas.microsoft.com/office/drawing/2014/main" id="{E1C2F373-8668-E1B5-D3AF-2057A7A5154B}"/>
                </a:ext>
              </a:extLst>
            </p:cNvPr>
            <p:cNvSpPr/>
            <p:nvPr/>
          </p:nvSpPr>
          <p:spPr>
            <a:xfrm>
              <a:off x="6357703" y="3344654"/>
              <a:ext cx="312720" cy="275324"/>
            </a:xfrm>
            <a:custGeom>
              <a:avLst/>
              <a:gdLst/>
              <a:ahLst/>
              <a:cxnLst/>
              <a:rect l="l" t="t" r="r" b="b"/>
              <a:pathLst>
                <a:path w="312720" h="275324">
                  <a:moveTo>
                    <a:pt x="0" y="0"/>
                  </a:moveTo>
                  <a:lnTo>
                    <a:pt x="312720" y="0"/>
                  </a:lnTo>
                  <a:lnTo>
                    <a:pt x="312720" y="275324"/>
                  </a:lnTo>
                  <a:lnTo>
                    <a:pt x="0" y="275324"/>
                  </a:lnTo>
                  <a:lnTo>
                    <a:pt x="0" y="0"/>
                  </a:lnTo>
                  <a:close/>
                </a:path>
              </a:pathLst>
            </a:custGeom>
            <a:blipFill>
              <a:blip r:embed="rId10"/>
              <a:stretch>
                <a:fillRect/>
              </a:stretch>
            </a:blipFill>
          </p:spPr>
          <p:txBody>
            <a:bodyPr/>
            <a:lstStyle/>
            <a:p>
              <a:endParaRPr lang="en-AU"/>
            </a:p>
          </p:txBody>
        </p:sp>
        <p:sp>
          <p:nvSpPr>
            <p:cNvPr id="16" name="TextBox 6">
              <a:extLst>
                <a:ext uri="{FF2B5EF4-FFF2-40B4-BE49-F238E27FC236}">
                  <a16:creationId xmlns:a16="http://schemas.microsoft.com/office/drawing/2014/main" id="{73640590-1D6E-6C64-ACB6-FCF39B1B38F6}"/>
                </a:ext>
              </a:extLst>
            </p:cNvPr>
            <p:cNvSpPr txBox="1"/>
            <p:nvPr/>
          </p:nvSpPr>
          <p:spPr>
            <a:xfrm>
              <a:off x="4006825" y="4428543"/>
              <a:ext cx="144438" cy="273611"/>
            </a:xfrm>
            <a:prstGeom prst="rect">
              <a:avLst/>
            </a:prstGeom>
          </p:spPr>
          <p:txBody>
            <a:bodyPr lIns="0" tIns="0" rIns="0" bIns="0" rtlCol="0" anchor="t">
              <a:spAutoFit/>
            </a:bodyPr>
            <a:lstStyle/>
            <a:p>
              <a:pPr algn="ctr">
                <a:lnSpc>
                  <a:spcPts val="2239"/>
                </a:lnSpc>
              </a:pPr>
              <a:r>
                <a:rPr lang="en-US" sz="1599" dirty="0">
                  <a:solidFill>
                    <a:srgbClr val="000000"/>
                  </a:solidFill>
                  <a:latin typeface="Public Sans"/>
                  <a:ea typeface="Public Sans"/>
                  <a:cs typeface="Public Sans"/>
                  <a:sym typeface="Public Sans"/>
                </a:rPr>
                <a:t>A</a:t>
              </a:r>
            </a:p>
          </p:txBody>
        </p:sp>
        <p:sp>
          <p:nvSpPr>
            <p:cNvPr id="17" name="TextBox 7">
              <a:extLst>
                <a:ext uri="{FF2B5EF4-FFF2-40B4-BE49-F238E27FC236}">
                  <a16:creationId xmlns:a16="http://schemas.microsoft.com/office/drawing/2014/main" id="{FB27F91C-B89C-6E44-A932-58B3BFC2C2CD}"/>
                </a:ext>
              </a:extLst>
            </p:cNvPr>
            <p:cNvSpPr txBox="1"/>
            <p:nvPr/>
          </p:nvSpPr>
          <p:spPr>
            <a:xfrm>
              <a:off x="4621707" y="4428543"/>
              <a:ext cx="136401"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B</a:t>
              </a:r>
            </a:p>
          </p:txBody>
        </p:sp>
        <p:sp>
          <p:nvSpPr>
            <p:cNvPr id="18" name="TextBox 8">
              <a:extLst>
                <a:ext uri="{FF2B5EF4-FFF2-40B4-BE49-F238E27FC236}">
                  <a16:creationId xmlns:a16="http://schemas.microsoft.com/office/drawing/2014/main" id="{985378A3-6DBB-6D62-AC11-7B21A2D965FF}"/>
                </a:ext>
              </a:extLst>
            </p:cNvPr>
            <p:cNvSpPr txBox="1"/>
            <p:nvPr/>
          </p:nvSpPr>
          <p:spPr>
            <a:xfrm>
              <a:off x="5228552" y="4428543"/>
              <a:ext cx="139973"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C</a:t>
              </a:r>
            </a:p>
          </p:txBody>
        </p:sp>
        <p:sp>
          <p:nvSpPr>
            <p:cNvPr id="19" name="TextBox 9">
              <a:extLst>
                <a:ext uri="{FF2B5EF4-FFF2-40B4-BE49-F238E27FC236}">
                  <a16:creationId xmlns:a16="http://schemas.microsoft.com/office/drawing/2014/main" id="{F0F44000-CB91-48C0-F920-D3A4E7D26D0C}"/>
                </a:ext>
              </a:extLst>
            </p:cNvPr>
            <p:cNvSpPr txBox="1"/>
            <p:nvPr/>
          </p:nvSpPr>
          <p:spPr>
            <a:xfrm>
              <a:off x="5838969" y="4428543"/>
              <a:ext cx="141089"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D</a:t>
              </a:r>
            </a:p>
          </p:txBody>
        </p:sp>
        <p:sp>
          <p:nvSpPr>
            <p:cNvPr id="20" name="TextBox 10">
              <a:extLst>
                <a:ext uri="{FF2B5EF4-FFF2-40B4-BE49-F238E27FC236}">
                  <a16:creationId xmlns:a16="http://schemas.microsoft.com/office/drawing/2014/main" id="{C3B61972-CB9F-8B32-DA09-31D2E31691F2}"/>
                </a:ext>
              </a:extLst>
            </p:cNvPr>
            <p:cNvSpPr txBox="1"/>
            <p:nvPr/>
          </p:nvSpPr>
          <p:spPr>
            <a:xfrm>
              <a:off x="6450503" y="4428543"/>
              <a:ext cx="126132"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E</a:t>
              </a:r>
            </a:p>
          </p:txBody>
        </p:sp>
        <p:sp>
          <p:nvSpPr>
            <p:cNvPr id="21" name="TextBox 11">
              <a:extLst>
                <a:ext uri="{FF2B5EF4-FFF2-40B4-BE49-F238E27FC236}">
                  <a16:creationId xmlns:a16="http://schemas.microsoft.com/office/drawing/2014/main" id="{82A8C769-7505-F4CA-14C0-423E452CB8CC}"/>
                </a:ext>
              </a:extLst>
            </p:cNvPr>
            <p:cNvSpPr txBox="1"/>
            <p:nvPr/>
          </p:nvSpPr>
          <p:spPr>
            <a:xfrm>
              <a:off x="3498613" y="3921785"/>
              <a:ext cx="82823"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1</a:t>
              </a:r>
            </a:p>
          </p:txBody>
        </p:sp>
        <p:sp>
          <p:nvSpPr>
            <p:cNvPr id="22" name="TextBox 12">
              <a:extLst>
                <a:ext uri="{FF2B5EF4-FFF2-40B4-BE49-F238E27FC236}">
                  <a16:creationId xmlns:a16="http://schemas.microsoft.com/office/drawing/2014/main" id="{B17B8EB6-A3F5-14F0-4309-9A887C787242}"/>
                </a:ext>
              </a:extLst>
            </p:cNvPr>
            <p:cNvSpPr txBox="1"/>
            <p:nvPr/>
          </p:nvSpPr>
          <p:spPr>
            <a:xfrm>
              <a:off x="3479415" y="3311546"/>
              <a:ext cx="121221"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2</a:t>
              </a:r>
            </a:p>
          </p:txBody>
        </p:sp>
        <p:sp>
          <p:nvSpPr>
            <p:cNvPr id="23" name="TextBox 13">
              <a:extLst>
                <a:ext uri="{FF2B5EF4-FFF2-40B4-BE49-F238E27FC236}">
                  <a16:creationId xmlns:a16="http://schemas.microsoft.com/office/drawing/2014/main" id="{0A5AFD5D-98E5-D6D2-21AF-5586AFA39709}"/>
                </a:ext>
              </a:extLst>
            </p:cNvPr>
            <p:cNvSpPr txBox="1"/>
            <p:nvPr/>
          </p:nvSpPr>
          <p:spPr>
            <a:xfrm>
              <a:off x="3475954" y="2701308"/>
              <a:ext cx="128141"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3</a:t>
              </a:r>
            </a:p>
          </p:txBody>
        </p:sp>
        <p:sp>
          <p:nvSpPr>
            <p:cNvPr id="24" name="TextBox 14">
              <a:extLst>
                <a:ext uri="{FF2B5EF4-FFF2-40B4-BE49-F238E27FC236}">
                  <a16:creationId xmlns:a16="http://schemas.microsoft.com/office/drawing/2014/main" id="{996AB3A6-EB14-DD5B-C045-C641D0911A02}"/>
                </a:ext>
              </a:extLst>
            </p:cNvPr>
            <p:cNvSpPr txBox="1"/>
            <p:nvPr/>
          </p:nvSpPr>
          <p:spPr>
            <a:xfrm>
              <a:off x="3476178" y="2091069"/>
              <a:ext cx="127695"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4</a:t>
              </a:r>
            </a:p>
          </p:txBody>
        </p:sp>
        <p:sp>
          <p:nvSpPr>
            <p:cNvPr id="25" name="TextBox 15">
              <a:extLst>
                <a:ext uri="{FF2B5EF4-FFF2-40B4-BE49-F238E27FC236}">
                  <a16:creationId xmlns:a16="http://schemas.microsoft.com/office/drawing/2014/main" id="{AC257653-44A1-1354-D03B-A85207C56C69}"/>
                </a:ext>
              </a:extLst>
            </p:cNvPr>
            <p:cNvSpPr txBox="1"/>
            <p:nvPr/>
          </p:nvSpPr>
          <p:spPr>
            <a:xfrm>
              <a:off x="3474950" y="1480831"/>
              <a:ext cx="130150" cy="273611"/>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5</a:t>
              </a:r>
            </a:p>
          </p:txBody>
        </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493559C7-9FCE-4A65-C712-351F95F9F6C1}"/>
              </a:ext>
            </a:extLst>
          </p:cNvPr>
          <p:cNvSpPr>
            <a:spLocks noGrp="1"/>
          </p:cNvSpPr>
          <p:nvPr>
            <p:ph type="title"/>
          </p:nvPr>
        </p:nvSpPr>
        <p:spPr>
          <a:xfrm>
            <a:off x="360000" y="360000"/>
            <a:ext cx="11484000" cy="545601"/>
          </a:xfrm>
        </p:spPr>
        <p:txBody>
          <a:bodyPr/>
          <a:lstStyle/>
          <a:p>
            <a:r>
              <a:rPr lang="en-AU"/>
              <a:t>Activity 1 – tug of war – adding and subtracting</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20" name="TextBox 15">
            <a:extLst>
              <a:ext uri="{FF2B5EF4-FFF2-40B4-BE49-F238E27FC236}">
                <a16:creationId xmlns:a16="http://schemas.microsoft.com/office/drawing/2014/main" id="{C07BE3A4-DFD7-1BE6-104B-209D49F81F72}"/>
              </a:ext>
            </a:extLst>
          </p:cNvPr>
          <p:cNvSpPr txBox="1"/>
          <p:nvPr/>
        </p:nvSpPr>
        <p:spPr>
          <a:xfrm>
            <a:off x="499464" y="921888"/>
            <a:ext cx="8369861" cy="585450"/>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ct val="150000"/>
              </a:lnSpc>
            </a:pPr>
            <a:r>
              <a:rPr lang="en-AU">
                <a:solidFill>
                  <a:schemeClr val="accent2"/>
                </a:solidFill>
                <a:latin typeface="Arial" panose="020B0604020202020204" pitchFamily="34" charset="0"/>
                <a:cs typeface="Arial" panose="020B0604020202020204" pitchFamily="34" charset="0"/>
              </a:rPr>
              <a:t>Example of game play</a:t>
            </a:r>
          </a:p>
        </p:txBody>
      </p:sp>
      <p:grpSp>
        <p:nvGrpSpPr>
          <p:cNvPr id="14" name="Group 13" descr="A number line 100-150 with 125 marked halfway. A jump +11 to 136 and a jump - 6 to 130. A red counter sits on 125.">
            <a:extLst>
              <a:ext uri="{FF2B5EF4-FFF2-40B4-BE49-F238E27FC236}">
                <a16:creationId xmlns:a16="http://schemas.microsoft.com/office/drawing/2014/main" id="{C4064E70-95DA-D830-63A5-14E9A5F19798}"/>
              </a:ext>
            </a:extLst>
          </p:cNvPr>
          <p:cNvGrpSpPr/>
          <p:nvPr/>
        </p:nvGrpSpPr>
        <p:grpSpPr>
          <a:xfrm>
            <a:off x="1376767" y="2428068"/>
            <a:ext cx="9601199" cy="1062924"/>
            <a:chOff x="1392265" y="1746143"/>
            <a:chExt cx="9601199" cy="1062924"/>
          </a:xfrm>
        </p:grpSpPr>
        <p:cxnSp>
          <p:nvCxnSpPr>
            <p:cNvPr id="5" name="Straight Connector 4">
              <a:extLst>
                <a:ext uri="{FF2B5EF4-FFF2-40B4-BE49-F238E27FC236}">
                  <a16:creationId xmlns:a16="http://schemas.microsoft.com/office/drawing/2014/main" id="{957398B7-592E-BF5A-0681-1FEA5B142A62}"/>
                </a:ext>
              </a:extLst>
            </p:cNvPr>
            <p:cNvCxnSpPr>
              <a:cxnSpLocks/>
            </p:cNvCxnSpPr>
            <p:nvPr/>
          </p:nvCxnSpPr>
          <p:spPr>
            <a:xfrm>
              <a:off x="1512377" y="2502976"/>
              <a:ext cx="91672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5C614F0-01F6-3BF1-1ABD-6A9AFD885091}"/>
                </a:ext>
              </a:extLst>
            </p:cNvPr>
            <p:cNvCxnSpPr>
              <a:cxnSpLocks/>
            </p:cNvCxnSpPr>
            <p:nvPr/>
          </p:nvCxnSpPr>
          <p:spPr>
            <a:xfrm flipH="1">
              <a:off x="1504627" y="2196884"/>
              <a:ext cx="7749" cy="61218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E7C0A63-29BD-D934-1347-021530C82C7B}"/>
                </a:ext>
              </a:extLst>
            </p:cNvPr>
            <p:cNvCxnSpPr>
              <a:cxnSpLocks/>
            </p:cNvCxnSpPr>
            <p:nvPr/>
          </p:nvCxnSpPr>
          <p:spPr>
            <a:xfrm flipH="1">
              <a:off x="10671874" y="2196884"/>
              <a:ext cx="7749" cy="61218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F9CD223-C0BF-5959-9706-78F9A8EB92C6}"/>
                </a:ext>
              </a:extLst>
            </p:cNvPr>
            <p:cNvCxnSpPr>
              <a:cxnSpLocks/>
            </p:cNvCxnSpPr>
            <p:nvPr/>
          </p:nvCxnSpPr>
          <p:spPr>
            <a:xfrm flipH="1">
              <a:off x="6092125" y="2196883"/>
              <a:ext cx="7749" cy="61218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C93F36A-BE68-0F9B-1498-DFD61A15FCDC}"/>
                </a:ext>
              </a:extLst>
            </p:cNvPr>
            <p:cNvSpPr txBox="1"/>
            <p:nvPr/>
          </p:nvSpPr>
          <p:spPr>
            <a:xfrm>
              <a:off x="5755036" y="1746143"/>
              <a:ext cx="658680" cy="545599"/>
            </a:xfrm>
            <a:prstGeom prst="rect">
              <a:avLst/>
            </a:prstGeom>
            <a:noFill/>
          </p:spPr>
          <p:txBody>
            <a:bodyPr wrap="square" lIns="0" tIns="0" rIns="0" bIns="0" rtlCol="0">
              <a:noAutofit/>
            </a:bodyPr>
            <a:lstStyle/>
            <a:p>
              <a:pPr algn="l"/>
              <a:r>
                <a:rPr lang="en-AU" sz="3600">
                  <a:latin typeface="Edu NSW ACT Foundation" panose="020B0604020202020204" charset="0"/>
                </a:rPr>
                <a:t>125</a:t>
              </a:r>
            </a:p>
          </p:txBody>
        </p:sp>
        <p:sp>
          <p:nvSpPr>
            <p:cNvPr id="12" name="TextBox 11">
              <a:extLst>
                <a:ext uri="{FF2B5EF4-FFF2-40B4-BE49-F238E27FC236}">
                  <a16:creationId xmlns:a16="http://schemas.microsoft.com/office/drawing/2014/main" id="{E3CCF3C4-75BA-9C26-6680-5D322B914E68}"/>
                </a:ext>
              </a:extLst>
            </p:cNvPr>
            <p:cNvSpPr txBox="1"/>
            <p:nvPr/>
          </p:nvSpPr>
          <p:spPr>
            <a:xfrm>
              <a:off x="1392265" y="1770394"/>
              <a:ext cx="658680" cy="545599"/>
            </a:xfrm>
            <a:prstGeom prst="rect">
              <a:avLst/>
            </a:prstGeom>
            <a:noFill/>
          </p:spPr>
          <p:txBody>
            <a:bodyPr wrap="square" lIns="0" tIns="0" rIns="0" bIns="0" rtlCol="0">
              <a:noAutofit/>
            </a:bodyPr>
            <a:lstStyle/>
            <a:p>
              <a:pPr algn="l"/>
              <a:r>
                <a:rPr lang="en-AU" sz="3600">
                  <a:latin typeface="Edu NSW ACT Foundation" panose="020B0604020202020204" charset="0"/>
                </a:rPr>
                <a:t>100</a:t>
              </a:r>
            </a:p>
          </p:txBody>
        </p:sp>
        <p:sp>
          <p:nvSpPr>
            <p:cNvPr id="13" name="TextBox 12">
              <a:extLst>
                <a:ext uri="{FF2B5EF4-FFF2-40B4-BE49-F238E27FC236}">
                  <a16:creationId xmlns:a16="http://schemas.microsoft.com/office/drawing/2014/main" id="{77FE3139-5BEA-1334-DE5B-637BDDE67C0B}"/>
                </a:ext>
              </a:extLst>
            </p:cNvPr>
            <p:cNvSpPr txBox="1"/>
            <p:nvPr/>
          </p:nvSpPr>
          <p:spPr>
            <a:xfrm>
              <a:off x="10334784" y="1770394"/>
              <a:ext cx="658680" cy="545599"/>
            </a:xfrm>
            <a:prstGeom prst="rect">
              <a:avLst/>
            </a:prstGeom>
            <a:noFill/>
          </p:spPr>
          <p:txBody>
            <a:bodyPr wrap="square" lIns="0" tIns="0" rIns="0" bIns="0" rtlCol="0">
              <a:noAutofit/>
            </a:bodyPr>
            <a:lstStyle/>
            <a:p>
              <a:pPr algn="l"/>
              <a:r>
                <a:rPr lang="en-AU" sz="3600">
                  <a:latin typeface="Edu NSW ACT Foundation" panose="020B0604020202020204" charset="0"/>
                </a:rPr>
                <a:t>150</a:t>
              </a:r>
            </a:p>
          </p:txBody>
        </p:sp>
      </p:grpSp>
      <p:sp>
        <p:nvSpPr>
          <p:cNvPr id="15" name="Oval 14" descr="A number line 100-150 with 125 marked halfway. A jump +11 to 136 and a jump - 6 to 130. A red counter sits on 125.">
            <a:extLst>
              <a:ext uri="{FF2B5EF4-FFF2-40B4-BE49-F238E27FC236}">
                <a16:creationId xmlns:a16="http://schemas.microsoft.com/office/drawing/2014/main" id="{3CF5006E-05F3-D173-F48F-4A25FB39E170}"/>
              </a:ext>
            </a:extLst>
          </p:cNvPr>
          <p:cNvSpPr/>
          <p:nvPr/>
        </p:nvSpPr>
        <p:spPr>
          <a:xfrm>
            <a:off x="5747287" y="2878812"/>
            <a:ext cx="658680" cy="612179"/>
          </a:xfrm>
          <a:prstGeom prst="ellipse">
            <a:avLst/>
          </a:prstGeom>
          <a:solidFill>
            <a:srgbClr val="D7153A">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D3D25566-429A-64A0-82F4-8AFB819DD4AF}"/>
              </a:ext>
            </a:extLst>
          </p:cNvPr>
          <p:cNvSpPr txBox="1"/>
          <p:nvPr/>
        </p:nvSpPr>
        <p:spPr>
          <a:xfrm>
            <a:off x="1376767" y="4238555"/>
            <a:ext cx="2040610" cy="612161"/>
          </a:xfrm>
          <a:prstGeom prst="rect">
            <a:avLst/>
          </a:prstGeom>
          <a:noFill/>
        </p:spPr>
        <p:txBody>
          <a:bodyPr wrap="square" lIns="0" tIns="0" rIns="0" bIns="0" rtlCol="0">
            <a:noAutofit/>
          </a:bodyPr>
          <a:lstStyle/>
          <a:p>
            <a:pPr algn="l"/>
            <a:r>
              <a:rPr lang="en-AU" sz="3600" b="1">
                <a:latin typeface="Edu NSW ACT Foundation" panose="020B0604020202020204" charset="0"/>
              </a:rPr>
              <a:t>Student A</a:t>
            </a:r>
          </a:p>
          <a:p>
            <a:pPr algn="ctr"/>
            <a:r>
              <a:rPr lang="en-AU" sz="3600" b="1">
                <a:latin typeface="Edu NSW ACT Foundation" panose="020B0604020202020204" charset="0"/>
              </a:rPr>
              <a:t>Plus</a:t>
            </a:r>
          </a:p>
        </p:txBody>
      </p:sp>
      <p:sp>
        <p:nvSpPr>
          <p:cNvPr id="17" name="Freeform 5" descr="3 6 sided dice with the numbers 4, 5, and 2 rolled.">
            <a:extLst>
              <a:ext uri="{FF2B5EF4-FFF2-40B4-BE49-F238E27FC236}">
                <a16:creationId xmlns:a16="http://schemas.microsoft.com/office/drawing/2014/main" id="{1AF30A5D-942C-5AA0-169B-16B416BDDFE0}"/>
              </a:ext>
            </a:extLst>
          </p:cNvPr>
          <p:cNvSpPr/>
          <p:nvPr/>
        </p:nvSpPr>
        <p:spPr>
          <a:xfrm>
            <a:off x="468310" y="5412591"/>
            <a:ext cx="1246840" cy="1259676"/>
          </a:xfrm>
          <a:custGeom>
            <a:avLst/>
            <a:gdLst/>
            <a:ahLst/>
            <a:cxnLst/>
            <a:rect l="l" t="t" r="r" b="b"/>
            <a:pathLst>
              <a:path w="2588038" h="2550394">
                <a:moveTo>
                  <a:pt x="0" y="0"/>
                </a:moveTo>
                <a:lnTo>
                  <a:pt x="2588038" y="0"/>
                </a:lnTo>
                <a:lnTo>
                  <a:pt x="2588038" y="2550394"/>
                </a:lnTo>
                <a:lnTo>
                  <a:pt x="0" y="25503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8" name="Freeform 10" descr="3 6 sided dice with the numbers 4, 5, and 2 rolled.">
            <a:extLst>
              <a:ext uri="{FF2B5EF4-FFF2-40B4-BE49-F238E27FC236}">
                <a16:creationId xmlns:a16="http://schemas.microsoft.com/office/drawing/2014/main" id="{D24BA196-424F-F1C4-10F1-CBDB31123060}"/>
              </a:ext>
            </a:extLst>
          </p:cNvPr>
          <p:cNvSpPr/>
          <p:nvPr/>
        </p:nvSpPr>
        <p:spPr>
          <a:xfrm>
            <a:off x="1829845" y="5435199"/>
            <a:ext cx="1247954" cy="1260801"/>
          </a:xfrm>
          <a:custGeom>
            <a:avLst/>
            <a:gdLst/>
            <a:ahLst/>
            <a:cxnLst/>
            <a:rect l="l" t="t" r="r" b="b"/>
            <a:pathLst>
              <a:path w="2590350" h="2552672">
                <a:moveTo>
                  <a:pt x="0" y="0"/>
                </a:moveTo>
                <a:lnTo>
                  <a:pt x="2590350" y="0"/>
                </a:lnTo>
                <a:lnTo>
                  <a:pt x="2590350" y="2552672"/>
                </a:lnTo>
                <a:lnTo>
                  <a:pt x="0" y="25526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9" name="Freeform 13" descr="Three 6 sided dice with the numbers 4, 5, and 2 rolled.">
            <a:extLst>
              <a:ext uri="{FF2B5EF4-FFF2-40B4-BE49-F238E27FC236}">
                <a16:creationId xmlns:a16="http://schemas.microsoft.com/office/drawing/2014/main" id="{FC38E8EB-57A1-E25D-D8B0-BAF8C8D91B23}"/>
              </a:ext>
            </a:extLst>
          </p:cNvPr>
          <p:cNvSpPr/>
          <p:nvPr/>
        </p:nvSpPr>
        <p:spPr>
          <a:xfrm>
            <a:off x="3192494" y="5412591"/>
            <a:ext cx="1268608" cy="1281668"/>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grpSp>
        <p:nvGrpSpPr>
          <p:cNvPr id="23" name="Group 22" descr="A number line 100-150 with 125 marked halfway. A jump +11 to 136 and a jump - 6 to 130. A red counter sits on 125.">
            <a:extLst>
              <a:ext uri="{FF2B5EF4-FFF2-40B4-BE49-F238E27FC236}">
                <a16:creationId xmlns:a16="http://schemas.microsoft.com/office/drawing/2014/main" id="{6705D19B-8E5F-C53F-9BC1-1962EA911C39}"/>
              </a:ext>
            </a:extLst>
          </p:cNvPr>
          <p:cNvGrpSpPr/>
          <p:nvPr/>
        </p:nvGrpSpPr>
        <p:grpSpPr>
          <a:xfrm>
            <a:off x="6107626" y="1566957"/>
            <a:ext cx="1953491" cy="1622656"/>
            <a:chOff x="6107626" y="1566957"/>
            <a:chExt cx="1953491" cy="1622656"/>
          </a:xfrm>
        </p:grpSpPr>
        <p:sp>
          <p:nvSpPr>
            <p:cNvPr id="21" name="Freeform: Shape 20">
              <a:extLst>
                <a:ext uri="{FF2B5EF4-FFF2-40B4-BE49-F238E27FC236}">
                  <a16:creationId xmlns:a16="http://schemas.microsoft.com/office/drawing/2014/main" id="{905E2A68-F0E9-6903-B1C0-EC302F245A72}"/>
                </a:ext>
              </a:extLst>
            </p:cNvPr>
            <p:cNvSpPr/>
            <p:nvPr/>
          </p:nvSpPr>
          <p:spPr>
            <a:xfrm>
              <a:off x="6107626" y="2117267"/>
              <a:ext cx="1953491" cy="1072346"/>
            </a:xfrm>
            <a:custGeom>
              <a:avLst/>
              <a:gdLst>
                <a:gd name="connsiteX0" fmla="*/ 0 w 1679171"/>
                <a:gd name="connsiteY0" fmla="*/ 1072346 h 1072346"/>
                <a:gd name="connsiteX1" fmla="*/ 806335 w 1679171"/>
                <a:gd name="connsiteY1" fmla="*/ 5 h 1072346"/>
                <a:gd name="connsiteX2" fmla="*/ 1679171 w 1679171"/>
                <a:gd name="connsiteY2" fmla="*/ 1055721 h 1072346"/>
                <a:gd name="connsiteX3" fmla="*/ 1679171 w 1679171"/>
                <a:gd name="connsiteY3" fmla="*/ 1055721 h 1072346"/>
                <a:gd name="connsiteX4" fmla="*/ 1679171 w 1679171"/>
                <a:gd name="connsiteY4" fmla="*/ 1055721 h 1072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9171" h="1072346">
                  <a:moveTo>
                    <a:pt x="0" y="1072346"/>
                  </a:moveTo>
                  <a:cubicBezTo>
                    <a:pt x="263236" y="537561"/>
                    <a:pt x="526473" y="2776"/>
                    <a:pt x="806335" y="5"/>
                  </a:cubicBezTo>
                  <a:cubicBezTo>
                    <a:pt x="1086197" y="-2766"/>
                    <a:pt x="1679171" y="1055721"/>
                    <a:pt x="1679171" y="1055721"/>
                  </a:cubicBezTo>
                  <a:lnTo>
                    <a:pt x="1679171" y="1055721"/>
                  </a:lnTo>
                  <a:lnTo>
                    <a:pt x="1679171" y="1055721"/>
                  </a:lnTo>
                </a:path>
              </a:pathLst>
            </a:custGeom>
            <a:noFill/>
            <a:ln w="28575">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Box 21">
              <a:extLst>
                <a:ext uri="{FF2B5EF4-FFF2-40B4-BE49-F238E27FC236}">
                  <a16:creationId xmlns:a16="http://schemas.microsoft.com/office/drawing/2014/main" id="{5BB544DE-7D72-B615-8DF8-1AC1EDC8252D}"/>
                </a:ext>
              </a:extLst>
            </p:cNvPr>
            <p:cNvSpPr txBox="1"/>
            <p:nvPr/>
          </p:nvSpPr>
          <p:spPr>
            <a:xfrm>
              <a:off x="6755031" y="1566957"/>
              <a:ext cx="658680" cy="545599"/>
            </a:xfrm>
            <a:prstGeom prst="rect">
              <a:avLst/>
            </a:prstGeom>
            <a:noFill/>
          </p:spPr>
          <p:txBody>
            <a:bodyPr wrap="square" lIns="0" tIns="0" rIns="0" bIns="0" rtlCol="0">
              <a:noAutofit/>
            </a:bodyPr>
            <a:lstStyle/>
            <a:p>
              <a:pPr algn="l"/>
              <a:r>
                <a:rPr lang="en-AU" sz="3600">
                  <a:solidFill>
                    <a:schemeClr val="accent2"/>
                  </a:solidFill>
                  <a:latin typeface="Edu NSW ACT Foundation" panose="020B0604020202020204" charset="0"/>
                </a:rPr>
                <a:t>+11</a:t>
              </a:r>
            </a:p>
          </p:txBody>
        </p:sp>
      </p:grpSp>
      <p:grpSp>
        <p:nvGrpSpPr>
          <p:cNvPr id="35" name="Group 34" descr="A number line 100-150 with 125 marked halfway. A jump +11 to 136 and a jump - 6 to 130. A red counter sits on 125.">
            <a:extLst>
              <a:ext uri="{FF2B5EF4-FFF2-40B4-BE49-F238E27FC236}">
                <a16:creationId xmlns:a16="http://schemas.microsoft.com/office/drawing/2014/main" id="{97AF79DE-6022-3A6F-E0C0-ACC0B93FA5FA}"/>
              </a:ext>
            </a:extLst>
          </p:cNvPr>
          <p:cNvGrpSpPr/>
          <p:nvPr/>
        </p:nvGrpSpPr>
        <p:grpSpPr>
          <a:xfrm>
            <a:off x="7928674" y="2452318"/>
            <a:ext cx="658680" cy="1038673"/>
            <a:chOff x="7928674" y="2452318"/>
            <a:chExt cx="658680" cy="1038673"/>
          </a:xfrm>
        </p:grpSpPr>
        <p:cxnSp>
          <p:nvCxnSpPr>
            <p:cNvPr id="24" name="Straight Connector 23">
              <a:extLst>
                <a:ext uri="{FF2B5EF4-FFF2-40B4-BE49-F238E27FC236}">
                  <a16:creationId xmlns:a16="http://schemas.microsoft.com/office/drawing/2014/main" id="{532B1B27-7D9C-ADEE-6A7C-F877AA326CBE}"/>
                </a:ext>
              </a:extLst>
            </p:cNvPr>
            <p:cNvCxnSpPr>
              <a:cxnSpLocks/>
            </p:cNvCxnSpPr>
            <p:nvPr/>
          </p:nvCxnSpPr>
          <p:spPr>
            <a:xfrm flipH="1">
              <a:off x="8041036" y="2878808"/>
              <a:ext cx="7749" cy="61218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1FE4113-6A77-524C-FCAA-390466B72652}"/>
                </a:ext>
              </a:extLst>
            </p:cNvPr>
            <p:cNvSpPr txBox="1"/>
            <p:nvPr/>
          </p:nvSpPr>
          <p:spPr>
            <a:xfrm>
              <a:off x="7928674" y="2452318"/>
              <a:ext cx="658680" cy="545599"/>
            </a:xfrm>
            <a:prstGeom prst="rect">
              <a:avLst/>
            </a:prstGeom>
            <a:noFill/>
          </p:spPr>
          <p:txBody>
            <a:bodyPr wrap="square" lIns="0" tIns="0" rIns="0" bIns="0" rtlCol="0">
              <a:noAutofit/>
            </a:bodyPr>
            <a:lstStyle/>
            <a:p>
              <a:pPr algn="l"/>
              <a:r>
                <a:rPr lang="en-AU" sz="3600">
                  <a:solidFill>
                    <a:schemeClr val="accent2"/>
                  </a:solidFill>
                  <a:latin typeface="Edu NSW ACT Foundation" panose="020B0604020202020204" charset="0"/>
                </a:rPr>
                <a:t>136</a:t>
              </a:r>
            </a:p>
          </p:txBody>
        </p:sp>
      </p:grpSp>
      <p:sp>
        <p:nvSpPr>
          <p:cNvPr id="26" name="TextBox 25">
            <a:extLst>
              <a:ext uri="{FF2B5EF4-FFF2-40B4-BE49-F238E27FC236}">
                <a16:creationId xmlns:a16="http://schemas.microsoft.com/office/drawing/2014/main" id="{D325EFC6-FAD2-2862-B8A4-71E89AFAD896}"/>
              </a:ext>
            </a:extLst>
          </p:cNvPr>
          <p:cNvSpPr txBox="1"/>
          <p:nvPr/>
        </p:nvSpPr>
        <p:spPr>
          <a:xfrm>
            <a:off x="8623515" y="4238554"/>
            <a:ext cx="2040610" cy="612161"/>
          </a:xfrm>
          <a:prstGeom prst="rect">
            <a:avLst/>
          </a:prstGeom>
          <a:noFill/>
        </p:spPr>
        <p:txBody>
          <a:bodyPr wrap="square" lIns="0" tIns="0" rIns="0" bIns="0" rtlCol="0">
            <a:noAutofit/>
          </a:bodyPr>
          <a:lstStyle/>
          <a:p>
            <a:pPr algn="l"/>
            <a:r>
              <a:rPr lang="en-AU" sz="3600" b="1">
                <a:latin typeface="Edu NSW ACT Foundation" panose="020B0604020202020204" charset="0"/>
              </a:rPr>
              <a:t>Student B</a:t>
            </a:r>
          </a:p>
          <a:p>
            <a:pPr algn="ctr"/>
            <a:r>
              <a:rPr lang="en-AU" sz="3600" b="1">
                <a:latin typeface="Edu NSW ACT Foundation" panose="020B0604020202020204" charset="0"/>
              </a:rPr>
              <a:t>Minus</a:t>
            </a:r>
          </a:p>
        </p:txBody>
      </p:sp>
      <p:sp>
        <p:nvSpPr>
          <p:cNvPr id="27" name="Freeform 6" descr="Three 6 sided dice with the numbers 3, 1, and 2 rolled.">
            <a:extLst>
              <a:ext uri="{FF2B5EF4-FFF2-40B4-BE49-F238E27FC236}">
                <a16:creationId xmlns:a16="http://schemas.microsoft.com/office/drawing/2014/main" id="{9DECCA5F-11E9-19D0-AD73-AA7769024634}"/>
              </a:ext>
            </a:extLst>
          </p:cNvPr>
          <p:cNvSpPr/>
          <p:nvPr/>
        </p:nvSpPr>
        <p:spPr>
          <a:xfrm>
            <a:off x="7413712" y="5435199"/>
            <a:ext cx="1351938" cy="1283359"/>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28" name="Freeform 9" descr="Three 6 sided dice with the numbers 3, 1, and 2 rolled.">
            <a:extLst>
              <a:ext uri="{FF2B5EF4-FFF2-40B4-BE49-F238E27FC236}">
                <a16:creationId xmlns:a16="http://schemas.microsoft.com/office/drawing/2014/main" id="{E024F4F7-3C53-743A-A30D-35C3DE2CB422}"/>
              </a:ext>
            </a:extLst>
          </p:cNvPr>
          <p:cNvSpPr/>
          <p:nvPr/>
        </p:nvSpPr>
        <p:spPr>
          <a:xfrm>
            <a:off x="10411219" y="5412591"/>
            <a:ext cx="1268608" cy="132380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9" name="Freeform 11" descr="Three 6 sided dice with the numbers 3, 1, and 2 rolled.">
            <a:extLst>
              <a:ext uri="{FF2B5EF4-FFF2-40B4-BE49-F238E27FC236}">
                <a16:creationId xmlns:a16="http://schemas.microsoft.com/office/drawing/2014/main" id="{EADF0D23-53CB-45D7-51FF-7DE4D04D6D15}"/>
              </a:ext>
            </a:extLst>
          </p:cNvPr>
          <p:cNvSpPr/>
          <p:nvPr/>
        </p:nvSpPr>
        <p:spPr>
          <a:xfrm>
            <a:off x="8797016" y="5464202"/>
            <a:ext cx="1460890" cy="1272190"/>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AU"/>
          </a:p>
        </p:txBody>
      </p:sp>
      <p:grpSp>
        <p:nvGrpSpPr>
          <p:cNvPr id="30" name="Group 29" descr="A number line 100-150 with 125 marked halfway. A jump +11 to 136 and a jump - 6 to 130. A red counter sits on 125.">
            <a:extLst>
              <a:ext uri="{FF2B5EF4-FFF2-40B4-BE49-F238E27FC236}">
                <a16:creationId xmlns:a16="http://schemas.microsoft.com/office/drawing/2014/main" id="{1F3F5258-9DD6-952E-F8F1-59B182F4B4EB}"/>
              </a:ext>
            </a:extLst>
          </p:cNvPr>
          <p:cNvGrpSpPr/>
          <p:nvPr/>
        </p:nvGrpSpPr>
        <p:grpSpPr>
          <a:xfrm flipH="1" flipV="1">
            <a:off x="7063562" y="3184899"/>
            <a:ext cx="985221" cy="1283357"/>
            <a:chOff x="6107626" y="1566957"/>
            <a:chExt cx="1953491" cy="1622656"/>
          </a:xfrm>
        </p:grpSpPr>
        <p:sp>
          <p:nvSpPr>
            <p:cNvPr id="31" name="Freeform: Shape 30">
              <a:extLst>
                <a:ext uri="{FF2B5EF4-FFF2-40B4-BE49-F238E27FC236}">
                  <a16:creationId xmlns:a16="http://schemas.microsoft.com/office/drawing/2014/main" id="{BE97868B-A665-81AA-B63C-0DA95D7B5CFC}"/>
                </a:ext>
              </a:extLst>
            </p:cNvPr>
            <p:cNvSpPr/>
            <p:nvPr/>
          </p:nvSpPr>
          <p:spPr>
            <a:xfrm>
              <a:off x="6107626" y="2117267"/>
              <a:ext cx="1953491" cy="1072346"/>
            </a:xfrm>
            <a:custGeom>
              <a:avLst/>
              <a:gdLst>
                <a:gd name="connsiteX0" fmla="*/ 0 w 1679171"/>
                <a:gd name="connsiteY0" fmla="*/ 1072346 h 1072346"/>
                <a:gd name="connsiteX1" fmla="*/ 806335 w 1679171"/>
                <a:gd name="connsiteY1" fmla="*/ 5 h 1072346"/>
                <a:gd name="connsiteX2" fmla="*/ 1679171 w 1679171"/>
                <a:gd name="connsiteY2" fmla="*/ 1055721 h 1072346"/>
                <a:gd name="connsiteX3" fmla="*/ 1679171 w 1679171"/>
                <a:gd name="connsiteY3" fmla="*/ 1055721 h 1072346"/>
                <a:gd name="connsiteX4" fmla="*/ 1679171 w 1679171"/>
                <a:gd name="connsiteY4" fmla="*/ 1055721 h 1072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9171" h="1072346">
                  <a:moveTo>
                    <a:pt x="0" y="1072346"/>
                  </a:moveTo>
                  <a:cubicBezTo>
                    <a:pt x="263236" y="537561"/>
                    <a:pt x="526473" y="2776"/>
                    <a:pt x="806335" y="5"/>
                  </a:cubicBezTo>
                  <a:cubicBezTo>
                    <a:pt x="1086197" y="-2766"/>
                    <a:pt x="1679171" y="1055721"/>
                    <a:pt x="1679171" y="1055721"/>
                  </a:cubicBezTo>
                  <a:lnTo>
                    <a:pt x="1679171" y="1055721"/>
                  </a:lnTo>
                  <a:lnTo>
                    <a:pt x="1679171" y="1055721"/>
                  </a:lnTo>
                </a:path>
              </a:pathLst>
            </a:custGeom>
            <a:noFill/>
            <a:ln w="28575">
              <a:solidFill>
                <a:schemeClr val="tx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TextBox 31">
              <a:extLst>
                <a:ext uri="{FF2B5EF4-FFF2-40B4-BE49-F238E27FC236}">
                  <a16:creationId xmlns:a16="http://schemas.microsoft.com/office/drawing/2014/main" id="{122AE9FB-2410-A802-D8CB-4672B2E8AAEE}"/>
                </a:ext>
              </a:extLst>
            </p:cNvPr>
            <p:cNvSpPr txBox="1"/>
            <p:nvPr/>
          </p:nvSpPr>
          <p:spPr>
            <a:xfrm rot="10800000">
              <a:off x="6329042" y="1566957"/>
              <a:ext cx="1084671" cy="545599"/>
            </a:xfrm>
            <a:prstGeom prst="rect">
              <a:avLst/>
            </a:prstGeom>
            <a:noFill/>
          </p:spPr>
          <p:txBody>
            <a:bodyPr wrap="square" lIns="0" tIns="0" rIns="0" bIns="0" rtlCol="0">
              <a:noAutofit/>
            </a:bodyPr>
            <a:lstStyle/>
            <a:p>
              <a:pPr algn="l"/>
              <a:r>
                <a:rPr lang="en-AU" sz="3600">
                  <a:solidFill>
                    <a:schemeClr val="tx2"/>
                  </a:solidFill>
                  <a:latin typeface="Edu NSW ACT Foundation" panose="020B0604020202020204" charset="0"/>
                </a:rPr>
                <a:t>-6</a:t>
              </a:r>
            </a:p>
          </p:txBody>
        </p:sp>
      </p:grpSp>
      <p:grpSp>
        <p:nvGrpSpPr>
          <p:cNvPr id="36" name="Group 35" descr="A number line 100-150 with 125 marked halfway. A jump +11 to 136 and a jump - 6 to 130. A red counter sits on 125.">
            <a:extLst>
              <a:ext uri="{FF2B5EF4-FFF2-40B4-BE49-F238E27FC236}">
                <a16:creationId xmlns:a16="http://schemas.microsoft.com/office/drawing/2014/main" id="{DFF7AB8D-92C8-A7BC-49D3-8F8ECC9F4A25}"/>
              </a:ext>
            </a:extLst>
          </p:cNvPr>
          <p:cNvGrpSpPr/>
          <p:nvPr/>
        </p:nvGrpSpPr>
        <p:grpSpPr>
          <a:xfrm>
            <a:off x="6989630" y="2492582"/>
            <a:ext cx="658680" cy="1038673"/>
            <a:chOff x="6989630" y="2492582"/>
            <a:chExt cx="658680" cy="1038673"/>
          </a:xfrm>
        </p:grpSpPr>
        <p:cxnSp>
          <p:nvCxnSpPr>
            <p:cNvPr id="33" name="Straight Connector 32">
              <a:extLst>
                <a:ext uri="{FF2B5EF4-FFF2-40B4-BE49-F238E27FC236}">
                  <a16:creationId xmlns:a16="http://schemas.microsoft.com/office/drawing/2014/main" id="{78ADC5A6-1B1D-F292-DF85-F963BBE47F8D}"/>
                </a:ext>
              </a:extLst>
            </p:cNvPr>
            <p:cNvCxnSpPr>
              <a:cxnSpLocks/>
            </p:cNvCxnSpPr>
            <p:nvPr/>
          </p:nvCxnSpPr>
          <p:spPr>
            <a:xfrm flipH="1">
              <a:off x="7101992" y="2919072"/>
              <a:ext cx="7749" cy="61218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12C0587-B8FE-2F67-5F6F-991ABC01F80C}"/>
                </a:ext>
              </a:extLst>
            </p:cNvPr>
            <p:cNvSpPr txBox="1"/>
            <p:nvPr/>
          </p:nvSpPr>
          <p:spPr>
            <a:xfrm>
              <a:off x="6989630" y="2492582"/>
              <a:ext cx="658680" cy="545599"/>
            </a:xfrm>
            <a:prstGeom prst="rect">
              <a:avLst/>
            </a:prstGeom>
            <a:noFill/>
          </p:spPr>
          <p:txBody>
            <a:bodyPr wrap="square" lIns="0" tIns="0" rIns="0" bIns="0" rtlCol="0">
              <a:noAutofit/>
            </a:bodyPr>
            <a:lstStyle/>
            <a:p>
              <a:pPr algn="l"/>
              <a:r>
                <a:rPr lang="en-AU" sz="3600">
                  <a:solidFill>
                    <a:schemeClr val="tx2"/>
                  </a:solidFill>
                  <a:latin typeface="Edu NSW ACT Foundation" panose="020B0604020202020204" charset="0"/>
                </a:rPr>
                <a:t>130</a:t>
              </a:r>
            </a:p>
          </p:txBody>
        </p:sp>
      </p:grpSp>
      <p:pic>
        <p:nvPicPr>
          <p:cNvPr id="3" name="Picture 2">
            <a:extLst>
              <a:ext uri="{FF2B5EF4-FFF2-40B4-BE49-F238E27FC236}">
                <a16:creationId xmlns:a16="http://schemas.microsoft.com/office/drawing/2014/main" id="{7EFB0F86-304A-0AD7-3749-4B01C8A79AF2}"/>
              </a:ex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8896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par>
                          <p:cTn id="23" fill="hold">
                            <p:stCondLst>
                              <p:cond delay="0"/>
                            </p:stCondLst>
                            <p:childTnLst>
                              <p:par>
                                <p:cTn id="24" presetID="42" presetClass="path" presetSubtype="0" accel="50000" decel="50000" fill="hold" grpId="0" nodeType="afterEffect">
                                  <p:stCondLst>
                                    <p:cond delay="0"/>
                                  </p:stCondLst>
                                  <p:childTnLst>
                                    <p:animMotion origin="layout" path="M 2.70833E-6 -1.85185E-6 L 0.16028 -0.00347 " pathEditMode="relative" rAng="0" ptsTypes="AA">
                                      <p:cBhvr>
                                        <p:cTn id="25" dur="2000" fill="hold"/>
                                        <p:tgtEl>
                                          <p:spTgt spid="15"/>
                                        </p:tgtEl>
                                        <p:attrNameLst>
                                          <p:attrName>ppt_x</p:attrName>
                                          <p:attrName>ppt_y</p:attrName>
                                        </p:attrNameLst>
                                      </p:cBhvr>
                                      <p:rCtr x="8008" y="-185"/>
                                    </p:animMotion>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childTnLst>
                          </p:cTn>
                        </p:par>
                        <p:par>
                          <p:cTn id="46" fill="hold">
                            <p:stCondLst>
                              <p:cond delay="0"/>
                            </p:stCondLst>
                            <p:childTnLst>
                              <p:par>
                                <p:cTn id="47" presetID="42" presetClass="path" presetSubtype="0" accel="50000" decel="50000" fill="hold" grpId="1" nodeType="afterEffect">
                                  <p:stCondLst>
                                    <p:cond delay="0"/>
                                  </p:stCondLst>
                                  <p:childTnLst>
                                    <p:animMotion origin="layout" path="M 0.16028 -0.00347 L 0.08281 0.0007 " pathEditMode="relative" rAng="0" ptsTypes="AA">
                                      <p:cBhvr>
                                        <p:cTn id="48" dur="2000" fill="hold"/>
                                        <p:tgtEl>
                                          <p:spTgt spid="15"/>
                                        </p:tgtEl>
                                        <p:attrNameLst>
                                          <p:attrName>ppt_x</p:attrName>
                                          <p:attrName>ppt_y</p:attrName>
                                        </p:attrNameLst>
                                      </p:cBhvr>
                                      <p:rCtr x="-3880" y="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p:bldP spid="17" grpId="0" animBg="1"/>
      <p:bldP spid="18" grpId="0" animBg="1"/>
      <p:bldP spid="19" grpId="0" animBg="1"/>
      <p:bldP spid="26" grpId="0"/>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pPr algn="ctr"/>
            <a:r>
              <a:rPr lang="en-AU" sz="5400" dirty="0"/>
              <a:t>593 + 207 = 700</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828948361"/>
              </p:ext>
            </p:extLst>
          </p:nvPr>
        </p:nvGraphicFramePr>
        <p:xfrm>
          <a:off x="2557462" y="433882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Box 7">
            <a:extLst>
              <a:ext uri="{FF2B5EF4-FFF2-40B4-BE49-F238E27FC236}">
                <a16:creationId xmlns:a16="http://schemas.microsoft.com/office/drawing/2014/main" id="{0A4F1A2A-97B3-0A9D-D7A4-9C91CD723BDD}"/>
              </a:ext>
            </a:extLst>
          </p:cNvPr>
          <p:cNvSpPr txBox="1"/>
          <p:nvPr/>
        </p:nvSpPr>
        <p:spPr>
          <a:xfrm>
            <a:off x="1064914" y="5728559"/>
            <a:ext cx="10062171" cy="769441"/>
          </a:xfrm>
          <a:prstGeom prst="rect">
            <a:avLst/>
          </a:prstGeom>
          <a:noFill/>
        </p:spPr>
        <p:txBody>
          <a:bodyPr wrap="square">
            <a:spAutoFit/>
          </a:bodyPr>
          <a:lstStyle/>
          <a:p>
            <a:pPr algn="ctr"/>
            <a:r>
              <a:rPr lang="en-US" sz="4400" b="1"/>
              <a:t>Communicate </a:t>
            </a:r>
            <a:r>
              <a:rPr lang="en-US" sz="4400"/>
              <a:t>your </a:t>
            </a:r>
            <a:r>
              <a:rPr lang="en-US" sz="4400" b="1"/>
              <a:t>strategy</a:t>
            </a:r>
            <a:r>
              <a:rPr lang="en-US"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C778CB7C-89A1-AC9F-FB9E-16985C88D6F4}"/>
              </a:ext>
            </a:extLst>
          </p:cNvPr>
          <p:cNvSpPr txBox="1">
            <a:spLocks/>
          </p:cNvSpPr>
          <p:nvPr/>
        </p:nvSpPr>
        <p:spPr>
          <a:xfrm>
            <a:off x="731520" y="1625946"/>
            <a:ext cx="1087151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 how many </a:t>
            </a:r>
            <a:r>
              <a:rPr lang="en-AU" sz="4400" b="1" dirty="0"/>
              <a:t>millions </a:t>
            </a:r>
            <a:r>
              <a:rPr lang="en-AU" sz="4400" dirty="0"/>
              <a:t>there are in the following number:</a:t>
            </a:r>
          </a:p>
        </p:txBody>
      </p:sp>
      <p:sp>
        <p:nvSpPr>
          <p:cNvPr id="5" name="Text Placeholder 5">
            <a:extLst>
              <a:ext uri="{FF2B5EF4-FFF2-40B4-BE49-F238E27FC236}">
                <a16:creationId xmlns:a16="http://schemas.microsoft.com/office/drawing/2014/main" id="{60B5104E-C387-9AFB-2514-ACEBDF56EF8D}"/>
              </a:ext>
            </a:extLst>
          </p:cNvPr>
          <p:cNvSpPr txBox="1">
            <a:spLocks/>
          </p:cNvSpPr>
          <p:nvPr/>
        </p:nvSpPr>
        <p:spPr>
          <a:xfrm>
            <a:off x="359999" y="400920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45 812 894</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7" name="Text Placeholder 17">
            <a:extLst>
              <a:ext uri="{FF2B5EF4-FFF2-40B4-BE49-F238E27FC236}">
                <a16:creationId xmlns:a16="http://schemas.microsoft.com/office/drawing/2014/main" id="{505889E2-B93D-D8D2-37D2-B39142027D2A}"/>
              </a:ext>
            </a:extLst>
          </p:cNvPr>
          <p:cNvSpPr txBox="1">
            <a:spLocks/>
          </p:cNvSpPr>
          <p:nvPr/>
        </p:nvSpPr>
        <p:spPr>
          <a:xfrm>
            <a:off x="152400" y="709310"/>
            <a:ext cx="421759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dirty="0"/>
              <a:t>This is the data collected from an </a:t>
            </a:r>
            <a:r>
              <a:rPr lang="en-US" sz="3200" b="1" dirty="0"/>
              <a:t>observation</a:t>
            </a:r>
            <a:r>
              <a:rPr lang="en-US" sz="3200" dirty="0"/>
              <a:t> of insects in the garden at </a:t>
            </a:r>
            <a:r>
              <a:rPr lang="en-US" sz="3200" b="1" dirty="0"/>
              <a:t>four different times </a:t>
            </a:r>
            <a:r>
              <a:rPr lang="en-US" sz="3200" dirty="0"/>
              <a:t>of the day. </a:t>
            </a:r>
          </a:p>
        </p:txBody>
      </p:sp>
      <p:sp>
        <p:nvSpPr>
          <p:cNvPr id="58" name="Text Placeholder 17">
            <a:extLst>
              <a:ext uri="{FF2B5EF4-FFF2-40B4-BE49-F238E27FC236}">
                <a16:creationId xmlns:a16="http://schemas.microsoft.com/office/drawing/2014/main" id="{FB167A80-62C0-014A-A4C5-8B865D58B3EF}"/>
              </a:ext>
            </a:extLst>
          </p:cNvPr>
          <p:cNvSpPr txBox="1">
            <a:spLocks/>
          </p:cNvSpPr>
          <p:nvPr/>
        </p:nvSpPr>
        <p:spPr>
          <a:xfrm>
            <a:off x="179646" y="5032298"/>
            <a:ext cx="4110970"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dirty="0">
                <a:latin typeface="Arial"/>
                <a:cs typeface="Arial"/>
              </a:rPr>
              <a:t>How could you </a:t>
            </a:r>
            <a:r>
              <a:rPr lang="en-US" sz="3200" b="1" dirty="0">
                <a:latin typeface="Arial"/>
                <a:cs typeface="Arial"/>
              </a:rPr>
              <a:t>represent </a:t>
            </a:r>
            <a:r>
              <a:rPr lang="en-US" sz="3200" dirty="0">
                <a:latin typeface="Arial"/>
                <a:cs typeface="Arial"/>
              </a:rPr>
              <a:t>this data? </a:t>
            </a:r>
          </a:p>
        </p:txBody>
      </p:sp>
      <p:grpSp>
        <p:nvGrpSpPr>
          <p:cNvPr id="5" name="Group 4" descr="4 squares with different observations of insects at different points in the day. &#10;&#10;The first box has: 2 ladybirds, 2 caterpillars, three ants and 1 grasshoppers.&#10;&#10;The second box has: 2 caterpillars, 6 ants, 3 ladybirds.&#10;&#10;The third box has: 6 ladybirds, 2 grasshoppers, 1 ant.&#10;&#10;The fourth box has 1 ladybird, 2 caterpillars 6 ants and 1 grasshopper.">
            <a:extLst>
              <a:ext uri="{FF2B5EF4-FFF2-40B4-BE49-F238E27FC236}">
                <a16:creationId xmlns:a16="http://schemas.microsoft.com/office/drawing/2014/main" id="{EE996D11-4B81-0ED1-9CD2-3B520B9DF9E5}"/>
              </a:ext>
            </a:extLst>
          </p:cNvPr>
          <p:cNvGrpSpPr/>
          <p:nvPr/>
        </p:nvGrpSpPr>
        <p:grpSpPr>
          <a:xfrm>
            <a:off x="4597747" y="1040932"/>
            <a:ext cx="6492475" cy="5424097"/>
            <a:chOff x="171677" y="98304"/>
            <a:chExt cx="7831148" cy="7337841"/>
          </a:xfrm>
        </p:grpSpPr>
        <p:sp>
          <p:nvSpPr>
            <p:cNvPr id="7" name="Freeform 2">
              <a:extLst>
                <a:ext uri="{FF2B5EF4-FFF2-40B4-BE49-F238E27FC236}">
                  <a16:creationId xmlns:a16="http://schemas.microsoft.com/office/drawing/2014/main" id="{2E9E7EBE-5FD8-9104-DC53-4B92F13077D2}"/>
                </a:ext>
              </a:extLst>
            </p:cNvPr>
            <p:cNvSpPr/>
            <p:nvPr/>
          </p:nvSpPr>
          <p:spPr>
            <a:xfrm>
              <a:off x="171778" y="98304"/>
              <a:ext cx="3681696" cy="3681696"/>
            </a:xfrm>
            <a:custGeom>
              <a:avLst/>
              <a:gdLst/>
              <a:ahLst/>
              <a:cxnLst/>
              <a:rect l="l" t="t" r="r" b="b"/>
              <a:pathLst>
                <a:path w="3681696" h="3681696">
                  <a:moveTo>
                    <a:pt x="0" y="0"/>
                  </a:moveTo>
                  <a:lnTo>
                    <a:pt x="3681696" y="0"/>
                  </a:lnTo>
                  <a:lnTo>
                    <a:pt x="3681696" y="3681696"/>
                  </a:lnTo>
                  <a:lnTo>
                    <a:pt x="0" y="36816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a:extLst>
                <a:ext uri="{FF2B5EF4-FFF2-40B4-BE49-F238E27FC236}">
                  <a16:creationId xmlns:a16="http://schemas.microsoft.com/office/drawing/2014/main" id="{E0330BE0-134F-C077-2840-3081C9BEDAC3}"/>
                </a:ext>
              </a:extLst>
            </p:cNvPr>
            <p:cNvSpPr/>
            <p:nvPr/>
          </p:nvSpPr>
          <p:spPr>
            <a:xfrm>
              <a:off x="4285364" y="98304"/>
              <a:ext cx="3681696" cy="3681696"/>
            </a:xfrm>
            <a:custGeom>
              <a:avLst/>
              <a:gdLst/>
              <a:ahLst/>
              <a:cxnLst/>
              <a:rect l="l" t="t" r="r" b="b"/>
              <a:pathLst>
                <a:path w="3681696" h="3681696">
                  <a:moveTo>
                    <a:pt x="0" y="0"/>
                  </a:moveTo>
                  <a:lnTo>
                    <a:pt x="3681696" y="0"/>
                  </a:lnTo>
                  <a:lnTo>
                    <a:pt x="3681696" y="3681696"/>
                  </a:lnTo>
                  <a:lnTo>
                    <a:pt x="0" y="368169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9" name="Freeform 4">
              <a:extLst>
                <a:ext uri="{FF2B5EF4-FFF2-40B4-BE49-F238E27FC236}">
                  <a16:creationId xmlns:a16="http://schemas.microsoft.com/office/drawing/2014/main" id="{4BC19F62-1A8C-9A91-77B9-447048A4ED2E}"/>
                </a:ext>
              </a:extLst>
            </p:cNvPr>
            <p:cNvSpPr/>
            <p:nvPr/>
          </p:nvSpPr>
          <p:spPr>
            <a:xfrm>
              <a:off x="171778" y="3754449"/>
              <a:ext cx="3681696" cy="3681696"/>
            </a:xfrm>
            <a:custGeom>
              <a:avLst/>
              <a:gdLst/>
              <a:ahLst/>
              <a:cxnLst/>
              <a:rect l="l" t="t" r="r" b="b"/>
              <a:pathLst>
                <a:path w="3681696" h="3681696">
                  <a:moveTo>
                    <a:pt x="0" y="0"/>
                  </a:moveTo>
                  <a:lnTo>
                    <a:pt x="3681696" y="0"/>
                  </a:lnTo>
                  <a:lnTo>
                    <a:pt x="3681696" y="3681697"/>
                  </a:lnTo>
                  <a:lnTo>
                    <a:pt x="0" y="3681697"/>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0" name="Freeform 5">
              <a:extLst>
                <a:ext uri="{FF2B5EF4-FFF2-40B4-BE49-F238E27FC236}">
                  <a16:creationId xmlns:a16="http://schemas.microsoft.com/office/drawing/2014/main" id="{FE8F92DC-7D53-0A5A-332D-123F32DBD9D6}"/>
                </a:ext>
              </a:extLst>
            </p:cNvPr>
            <p:cNvSpPr/>
            <p:nvPr/>
          </p:nvSpPr>
          <p:spPr>
            <a:xfrm>
              <a:off x="4285364" y="3754449"/>
              <a:ext cx="3681696" cy="3681696"/>
            </a:xfrm>
            <a:custGeom>
              <a:avLst/>
              <a:gdLst/>
              <a:ahLst/>
              <a:cxnLst/>
              <a:rect l="l" t="t" r="r" b="b"/>
              <a:pathLst>
                <a:path w="3681696" h="3681696">
                  <a:moveTo>
                    <a:pt x="0" y="0"/>
                  </a:moveTo>
                  <a:lnTo>
                    <a:pt x="3681696" y="0"/>
                  </a:lnTo>
                  <a:lnTo>
                    <a:pt x="3681696" y="3681697"/>
                  </a:lnTo>
                  <a:lnTo>
                    <a:pt x="0" y="3681697"/>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1" name="Freeform 6">
              <a:extLst>
                <a:ext uri="{FF2B5EF4-FFF2-40B4-BE49-F238E27FC236}">
                  <a16:creationId xmlns:a16="http://schemas.microsoft.com/office/drawing/2014/main" id="{3A2D1B90-F14F-34FC-B2B9-72F7FF8D7A75}"/>
                </a:ext>
              </a:extLst>
            </p:cNvPr>
            <p:cNvSpPr/>
            <p:nvPr/>
          </p:nvSpPr>
          <p:spPr>
            <a:xfrm>
              <a:off x="6827367" y="6573327"/>
              <a:ext cx="940082" cy="593107"/>
            </a:xfrm>
            <a:custGeom>
              <a:avLst/>
              <a:gdLst/>
              <a:ahLst/>
              <a:cxnLst/>
              <a:rect l="l" t="t" r="r" b="b"/>
              <a:pathLst>
                <a:path w="940082" h="593107">
                  <a:moveTo>
                    <a:pt x="0" y="0"/>
                  </a:moveTo>
                  <a:lnTo>
                    <a:pt x="940083" y="0"/>
                  </a:lnTo>
                  <a:lnTo>
                    <a:pt x="940083" y="593107"/>
                  </a:lnTo>
                  <a:lnTo>
                    <a:pt x="0" y="5931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2" name="Freeform 7">
              <a:extLst>
                <a:ext uri="{FF2B5EF4-FFF2-40B4-BE49-F238E27FC236}">
                  <a16:creationId xmlns:a16="http://schemas.microsoft.com/office/drawing/2014/main" id="{8ED219FC-5440-133D-03E5-FD81340CE447}"/>
                </a:ext>
              </a:extLst>
            </p:cNvPr>
            <p:cNvSpPr/>
            <p:nvPr/>
          </p:nvSpPr>
          <p:spPr>
            <a:xfrm>
              <a:off x="587140" y="2665085"/>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sp>
          <p:nvSpPr>
            <p:cNvPr id="13" name="Freeform 8">
              <a:extLst>
                <a:ext uri="{FF2B5EF4-FFF2-40B4-BE49-F238E27FC236}">
                  <a16:creationId xmlns:a16="http://schemas.microsoft.com/office/drawing/2014/main" id="{5DDFF41B-EE34-A61A-F2DB-34D87586A637}"/>
                </a:ext>
              </a:extLst>
            </p:cNvPr>
            <p:cNvSpPr/>
            <p:nvPr/>
          </p:nvSpPr>
          <p:spPr>
            <a:xfrm>
              <a:off x="587140" y="1426608"/>
              <a:ext cx="787765" cy="787765"/>
            </a:xfrm>
            <a:custGeom>
              <a:avLst/>
              <a:gdLst/>
              <a:ahLst/>
              <a:cxnLst/>
              <a:rect l="l" t="t" r="r" b="b"/>
              <a:pathLst>
                <a:path w="787765" h="787765">
                  <a:moveTo>
                    <a:pt x="0" y="0"/>
                  </a:moveTo>
                  <a:lnTo>
                    <a:pt x="787765" y="0"/>
                  </a:lnTo>
                  <a:lnTo>
                    <a:pt x="787765" y="787765"/>
                  </a:lnTo>
                  <a:lnTo>
                    <a:pt x="0" y="78776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4" name="Freeform 9">
              <a:extLst>
                <a:ext uri="{FF2B5EF4-FFF2-40B4-BE49-F238E27FC236}">
                  <a16:creationId xmlns:a16="http://schemas.microsoft.com/office/drawing/2014/main" id="{02CFB7DF-5374-B900-B8D4-15AF84729C49}"/>
                </a:ext>
              </a:extLst>
            </p:cNvPr>
            <p:cNvSpPr/>
            <p:nvPr/>
          </p:nvSpPr>
          <p:spPr>
            <a:xfrm>
              <a:off x="2678954" y="1130055"/>
              <a:ext cx="940082" cy="593107"/>
            </a:xfrm>
            <a:custGeom>
              <a:avLst/>
              <a:gdLst/>
              <a:ahLst/>
              <a:cxnLst/>
              <a:rect l="l" t="t" r="r" b="b"/>
              <a:pathLst>
                <a:path w="940082" h="593107">
                  <a:moveTo>
                    <a:pt x="0" y="0"/>
                  </a:moveTo>
                  <a:lnTo>
                    <a:pt x="940082" y="0"/>
                  </a:lnTo>
                  <a:lnTo>
                    <a:pt x="940082" y="593106"/>
                  </a:lnTo>
                  <a:lnTo>
                    <a:pt x="0" y="5931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5" name="Freeform 10">
              <a:extLst>
                <a:ext uri="{FF2B5EF4-FFF2-40B4-BE49-F238E27FC236}">
                  <a16:creationId xmlns:a16="http://schemas.microsoft.com/office/drawing/2014/main" id="{CF1351A3-0E45-0F45-785A-D172055D50E8}"/>
                </a:ext>
              </a:extLst>
            </p:cNvPr>
            <p:cNvSpPr/>
            <p:nvPr/>
          </p:nvSpPr>
          <p:spPr>
            <a:xfrm rot="-5762950">
              <a:off x="1096471" y="533013"/>
              <a:ext cx="787765" cy="787765"/>
            </a:xfrm>
            <a:custGeom>
              <a:avLst/>
              <a:gdLst/>
              <a:ahLst/>
              <a:cxnLst/>
              <a:rect l="l" t="t" r="r" b="b"/>
              <a:pathLst>
                <a:path w="787765" h="787765">
                  <a:moveTo>
                    <a:pt x="0" y="0"/>
                  </a:moveTo>
                  <a:lnTo>
                    <a:pt x="787765" y="0"/>
                  </a:lnTo>
                  <a:lnTo>
                    <a:pt x="787765" y="787765"/>
                  </a:lnTo>
                  <a:lnTo>
                    <a:pt x="0" y="78776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6" name="Freeform 11">
              <a:extLst>
                <a:ext uri="{FF2B5EF4-FFF2-40B4-BE49-F238E27FC236}">
                  <a16:creationId xmlns:a16="http://schemas.microsoft.com/office/drawing/2014/main" id="{CC7E5D4D-891E-78AD-5A1E-C247A31AC446}"/>
                </a:ext>
              </a:extLst>
            </p:cNvPr>
            <p:cNvSpPr/>
            <p:nvPr/>
          </p:nvSpPr>
          <p:spPr>
            <a:xfrm rot="-1647703">
              <a:off x="2609463" y="3132835"/>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grpSp>
          <p:nvGrpSpPr>
            <p:cNvPr id="17" name="Group 12">
              <a:extLst>
                <a:ext uri="{FF2B5EF4-FFF2-40B4-BE49-F238E27FC236}">
                  <a16:creationId xmlns:a16="http://schemas.microsoft.com/office/drawing/2014/main" id="{80E17A63-0950-702D-BE50-D68F8FFE157A}"/>
                </a:ext>
              </a:extLst>
            </p:cNvPr>
            <p:cNvGrpSpPr/>
            <p:nvPr/>
          </p:nvGrpSpPr>
          <p:grpSpPr>
            <a:xfrm>
              <a:off x="1631901" y="314885"/>
              <a:ext cx="1946754" cy="363700"/>
              <a:chOff x="0" y="0"/>
              <a:chExt cx="2595674" cy="484933"/>
            </a:xfrm>
          </p:grpSpPr>
          <p:sp>
            <p:nvSpPr>
              <p:cNvPr id="54" name="Freeform 13">
                <a:extLst>
                  <a:ext uri="{FF2B5EF4-FFF2-40B4-BE49-F238E27FC236}">
                    <a16:creationId xmlns:a16="http://schemas.microsoft.com/office/drawing/2014/main" id="{44D1C721-246B-33EF-7628-EB6B520EB483}"/>
                  </a:ext>
                </a:extLst>
              </p:cNvPr>
              <p:cNvSpPr/>
              <p:nvPr/>
            </p:nvSpPr>
            <p:spPr>
              <a:xfrm>
                <a:off x="0"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55" name="Freeform 14">
                <a:extLst>
                  <a:ext uri="{FF2B5EF4-FFF2-40B4-BE49-F238E27FC236}">
                    <a16:creationId xmlns:a16="http://schemas.microsoft.com/office/drawing/2014/main" id="{33F4C3A0-75D5-6211-A309-597238461E16}"/>
                  </a:ext>
                </a:extLst>
              </p:cNvPr>
              <p:cNvSpPr/>
              <p:nvPr/>
            </p:nvSpPr>
            <p:spPr>
              <a:xfrm>
                <a:off x="908434"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56" name="Freeform 15">
                <a:extLst>
                  <a:ext uri="{FF2B5EF4-FFF2-40B4-BE49-F238E27FC236}">
                    <a16:creationId xmlns:a16="http://schemas.microsoft.com/office/drawing/2014/main" id="{BB392902-46FA-8581-A64E-18F15A4CFDBD}"/>
                  </a:ext>
                </a:extLst>
              </p:cNvPr>
              <p:cNvSpPr/>
              <p:nvPr/>
            </p:nvSpPr>
            <p:spPr>
              <a:xfrm>
                <a:off x="1821904" y="8097"/>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grpSp>
        <p:grpSp>
          <p:nvGrpSpPr>
            <p:cNvPr id="18" name="Group 16">
              <a:extLst>
                <a:ext uri="{FF2B5EF4-FFF2-40B4-BE49-F238E27FC236}">
                  <a16:creationId xmlns:a16="http://schemas.microsoft.com/office/drawing/2014/main" id="{774B95DA-4D53-D179-10D3-40765630A67E}"/>
                </a:ext>
              </a:extLst>
            </p:cNvPr>
            <p:cNvGrpSpPr/>
            <p:nvPr/>
          </p:nvGrpSpPr>
          <p:grpSpPr>
            <a:xfrm rot="-2307494">
              <a:off x="4381132" y="2744311"/>
              <a:ext cx="1946754" cy="363700"/>
              <a:chOff x="0" y="0"/>
              <a:chExt cx="2595674" cy="484933"/>
            </a:xfrm>
          </p:grpSpPr>
          <p:sp>
            <p:nvSpPr>
              <p:cNvPr id="51" name="Freeform 17">
                <a:extLst>
                  <a:ext uri="{FF2B5EF4-FFF2-40B4-BE49-F238E27FC236}">
                    <a16:creationId xmlns:a16="http://schemas.microsoft.com/office/drawing/2014/main" id="{77B3F527-860D-85CC-5975-E5C923B0CF7D}"/>
                  </a:ext>
                </a:extLst>
              </p:cNvPr>
              <p:cNvSpPr/>
              <p:nvPr/>
            </p:nvSpPr>
            <p:spPr>
              <a:xfrm>
                <a:off x="0"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52" name="Freeform 18">
                <a:extLst>
                  <a:ext uri="{FF2B5EF4-FFF2-40B4-BE49-F238E27FC236}">
                    <a16:creationId xmlns:a16="http://schemas.microsoft.com/office/drawing/2014/main" id="{077944F6-2973-0B9E-BEF0-FB7965472541}"/>
                  </a:ext>
                </a:extLst>
              </p:cNvPr>
              <p:cNvSpPr/>
              <p:nvPr/>
            </p:nvSpPr>
            <p:spPr>
              <a:xfrm>
                <a:off x="908434"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53" name="Freeform 19">
                <a:extLst>
                  <a:ext uri="{FF2B5EF4-FFF2-40B4-BE49-F238E27FC236}">
                    <a16:creationId xmlns:a16="http://schemas.microsoft.com/office/drawing/2014/main" id="{F04E5F36-3C18-F90F-1C81-91DF797910C5}"/>
                  </a:ext>
                </a:extLst>
              </p:cNvPr>
              <p:cNvSpPr/>
              <p:nvPr/>
            </p:nvSpPr>
            <p:spPr>
              <a:xfrm>
                <a:off x="1821904" y="8097"/>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grpSp>
        <p:grpSp>
          <p:nvGrpSpPr>
            <p:cNvPr id="19" name="Group 20">
              <a:extLst>
                <a:ext uri="{FF2B5EF4-FFF2-40B4-BE49-F238E27FC236}">
                  <a16:creationId xmlns:a16="http://schemas.microsoft.com/office/drawing/2014/main" id="{FA51BC47-DB39-CAFB-5C10-C01DC44037F4}"/>
                </a:ext>
              </a:extLst>
            </p:cNvPr>
            <p:cNvGrpSpPr/>
            <p:nvPr/>
          </p:nvGrpSpPr>
          <p:grpSpPr>
            <a:xfrm rot="-2307494">
              <a:off x="5976043" y="1492832"/>
              <a:ext cx="1946754" cy="363700"/>
              <a:chOff x="0" y="0"/>
              <a:chExt cx="2595674" cy="484933"/>
            </a:xfrm>
          </p:grpSpPr>
          <p:sp>
            <p:nvSpPr>
              <p:cNvPr id="48" name="Freeform 21">
                <a:extLst>
                  <a:ext uri="{FF2B5EF4-FFF2-40B4-BE49-F238E27FC236}">
                    <a16:creationId xmlns:a16="http://schemas.microsoft.com/office/drawing/2014/main" id="{020405A2-F7A2-0262-0228-4CC976EE168E}"/>
                  </a:ext>
                </a:extLst>
              </p:cNvPr>
              <p:cNvSpPr/>
              <p:nvPr/>
            </p:nvSpPr>
            <p:spPr>
              <a:xfrm>
                <a:off x="0"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49" name="Freeform 22">
                <a:extLst>
                  <a:ext uri="{FF2B5EF4-FFF2-40B4-BE49-F238E27FC236}">
                    <a16:creationId xmlns:a16="http://schemas.microsoft.com/office/drawing/2014/main" id="{11C65D02-3AF9-712B-27D1-40E2E21F6787}"/>
                  </a:ext>
                </a:extLst>
              </p:cNvPr>
              <p:cNvSpPr/>
              <p:nvPr/>
            </p:nvSpPr>
            <p:spPr>
              <a:xfrm>
                <a:off x="908434"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50" name="Freeform 23">
                <a:extLst>
                  <a:ext uri="{FF2B5EF4-FFF2-40B4-BE49-F238E27FC236}">
                    <a16:creationId xmlns:a16="http://schemas.microsoft.com/office/drawing/2014/main" id="{816A159D-231F-4E7D-698F-97C623603AE6}"/>
                  </a:ext>
                </a:extLst>
              </p:cNvPr>
              <p:cNvSpPr/>
              <p:nvPr/>
            </p:nvSpPr>
            <p:spPr>
              <a:xfrm>
                <a:off x="1821904" y="8097"/>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grpSp>
        <p:sp>
          <p:nvSpPr>
            <p:cNvPr id="20" name="Freeform 24">
              <a:extLst>
                <a:ext uri="{FF2B5EF4-FFF2-40B4-BE49-F238E27FC236}">
                  <a16:creationId xmlns:a16="http://schemas.microsoft.com/office/drawing/2014/main" id="{90F80B80-5F65-999D-4EC6-228D19390D2E}"/>
                </a:ext>
              </a:extLst>
            </p:cNvPr>
            <p:cNvSpPr/>
            <p:nvPr/>
          </p:nvSpPr>
          <p:spPr>
            <a:xfrm>
              <a:off x="5690293" y="314885"/>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sp>
          <p:nvSpPr>
            <p:cNvPr id="21" name="Freeform 25">
              <a:extLst>
                <a:ext uri="{FF2B5EF4-FFF2-40B4-BE49-F238E27FC236}">
                  <a16:creationId xmlns:a16="http://schemas.microsoft.com/office/drawing/2014/main" id="{5A9710D5-1F5D-8E34-72DA-5B5E68584195}"/>
                </a:ext>
              </a:extLst>
            </p:cNvPr>
            <p:cNvSpPr/>
            <p:nvPr/>
          </p:nvSpPr>
          <p:spPr>
            <a:xfrm rot="-1647703">
              <a:off x="4424258" y="988470"/>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grpSp>
          <p:nvGrpSpPr>
            <p:cNvPr id="22" name="Group 26">
              <a:extLst>
                <a:ext uri="{FF2B5EF4-FFF2-40B4-BE49-F238E27FC236}">
                  <a16:creationId xmlns:a16="http://schemas.microsoft.com/office/drawing/2014/main" id="{387585E6-35B1-862F-784E-7E57CD73ED77}"/>
                </a:ext>
              </a:extLst>
            </p:cNvPr>
            <p:cNvGrpSpPr/>
            <p:nvPr/>
          </p:nvGrpSpPr>
          <p:grpSpPr>
            <a:xfrm>
              <a:off x="4411878" y="2238812"/>
              <a:ext cx="3590947" cy="1541189"/>
              <a:chOff x="168689" y="168689"/>
              <a:chExt cx="4787926" cy="2054918"/>
            </a:xfrm>
          </p:grpSpPr>
          <p:sp>
            <p:nvSpPr>
              <p:cNvPr id="45" name="Freeform 27">
                <a:extLst>
                  <a:ext uri="{FF2B5EF4-FFF2-40B4-BE49-F238E27FC236}">
                    <a16:creationId xmlns:a16="http://schemas.microsoft.com/office/drawing/2014/main" id="{E944A2BC-699D-E03D-A2B2-7804078F201F}"/>
                  </a:ext>
                </a:extLst>
              </p:cNvPr>
              <p:cNvSpPr/>
              <p:nvPr/>
            </p:nvSpPr>
            <p:spPr>
              <a:xfrm>
                <a:off x="2592615" y="1173254"/>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6" name="Freeform 28">
                <a:extLst>
                  <a:ext uri="{FF2B5EF4-FFF2-40B4-BE49-F238E27FC236}">
                    <a16:creationId xmlns:a16="http://schemas.microsoft.com/office/drawing/2014/main" id="{B3FBD1C3-B3D7-AE5E-4CF9-04B920E704F1}"/>
                  </a:ext>
                </a:extLst>
              </p:cNvPr>
              <p:cNvSpPr/>
              <p:nvPr/>
            </p:nvSpPr>
            <p:spPr>
              <a:xfrm rot="-5762950">
                <a:off x="3906262" y="648078"/>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7" name="Freeform 29">
                <a:extLst>
                  <a:ext uri="{FF2B5EF4-FFF2-40B4-BE49-F238E27FC236}">
                    <a16:creationId xmlns:a16="http://schemas.microsoft.com/office/drawing/2014/main" id="{061EE896-F14B-792C-2BCC-CF173FDD17BE}"/>
                  </a:ext>
                </a:extLst>
              </p:cNvPr>
              <p:cNvSpPr/>
              <p:nvPr/>
            </p:nvSpPr>
            <p:spPr>
              <a:xfrm rot="-1446270">
                <a:off x="168689" y="168689"/>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sp>
          <p:nvSpPr>
            <p:cNvPr id="23" name="Freeform 30">
              <a:extLst>
                <a:ext uri="{FF2B5EF4-FFF2-40B4-BE49-F238E27FC236}">
                  <a16:creationId xmlns:a16="http://schemas.microsoft.com/office/drawing/2014/main" id="{8C563FFC-3D32-4A4B-B47E-38CC05603D19}"/>
                </a:ext>
              </a:extLst>
            </p:cNvPr>
            <p:cNvSpPr/>
            <p:nvPr/>
          </p:nvSpPr>
          <p:spPr>
            <a:xfrm>
              <a:off x="285959" y="4026728"/>
              <a:ext cx="940082" cy="593107"/>
            </a:xfrm>
            <a:custGeom>
              <a:avLst/>
              <a:gdLst/>
              <a:ahLst/>
              <a:cxnLst/>
              <a:rect l="l" t="t" r="r" b="b"/>
              <a:pathLst>
                <a:path w="940082" h="593107">
                  <a:moveTo>
                    <a:pt x="0" y="0"/>
                  </a:moveTo>
                  <a:lnTo>
                    <a:pt x="940082" y="0"/>
                  </a:lnTo>
                  <a:lnTo>
                    <a:pt x="940082" y="593107"/>
                  </a:lnTo>
                  <a:lnTo>
                    <a:pt x="0" y="5931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4" name="Freeform 31">
              <a:extLst>
                <a:ext uri="{FF2B5EF4-FFF2-40B4-BE49-F238E27FC236}">
                  <a16:creationId xmlns:a16="http://schemas.microsoft.com/office/drawing/2014/main" id="{9BAD2255-015A-1F7A-0328-B6BE7A43FFC0}"/>
                </a:ext>
              </a:extLst>
            </p:cNvPr>
            <p:cNvSpPr/>
            <p:nvPr/>
          </p:nvSpPr>
          <p:spPr>
            <a:xfrm flipH="1">
              <a:off x="2754517" y="6706291"/>
              <a:ext cx="940082" cy="593107"/>
            </a:xfrm>
            <a:custGeom>
              <a:avLst/>
              <a:gdLst/>
              <a:ahLst/>
              <a:cxnLst/>
              <a:rect l="l" t="t" r="r" b="b"/>
              <a:pathLst>
                <a:path w="940082" h="593107">
                  <a:moveTo>
                    <a:pt x="940082" y="0"/>
                  </a:moveTo>
                  <a:lnTo>
                    <a:pt x="0" y="0"/>
                  </a:lnTo>
                  <a:lnTo>
                    <a:pt x="0" y="593107"/>
                  </a:lnTo>
                  <a:lnTo>
                    <a:pt x="940082" y="593107"/>
                  </a:lnTo>
                  <a:lnTo>
                    <a:pt x="940082"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grpSp>
          <p:nvGrpSpPr>
            <p:cNvPr id="25" name="Group 32">
              <a:extLst>
                <a:ext uri="{FF2B5EF4-FFF2-40B4-BE49-F238E27FC236}">
                  <a16:creationId xmlns:a16="http://schemas.microsoft.com/office/drawing/2014/main" id="{82B4DE04-0456-BD0B-3DE1-9080D970EC99}"/>
                </a:ext>
              </a:extLst>
            </p:cNvPr>
            <p:cNvGrpSpPr/>
            <p:nvPr/>
          </p:nvGrpSpPr>
          <p:grpSpPr>
            <a:xfrm>
              <a:off x="171677" y="5032139"/>
              <a:ext cx="3590947" cy="1541189"/>
              <a:chOff x="168689" y="168689"/>
              <a:chExt cx="4787926" cy="2054918"/>
            </a:xfrm>
          </p:grpSpPr>
          <p:sp>
            <p:nvSpPr>
              <p:cNvPr id="42" name="Freeform 33">
                <a:extLst>
                  <a:ext uri="{FF2B5EF4-FFF2-40B4-BE49-F238E27FC236}">
                    <a16:creationId xmlns:a16="http://schemas.microsoft.com/office/drawing/2014/main" id="{5A56BF10-CE4B-7CEE-EDE3-D2FEB225AD06}"/>
                  </a:ext>
                </a:extLst>
              </p:cNvPr>
              <p:cNvSpPr/>
              <p:nvPr/>
            </p:nvSpPr>
            <p:spPr>
              <a:xfrm>
                <a:off x="2592615" y="1173254"/>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3" name="Freeform 34">
                <a:extLst>
                  <a:ext uri="{FF2B5EF4-FFF2-40B4-BE49-F238E27FC236}">
                    <a16:creationId xmlns:a16="http://schemas.microsoft.com/office/drawing/2014/main" id="{7F49CEA8-5BDF-7EC5-26A9-53D466FE3CD5}"/>
                  </a:ext>
                </a:extLst>
              </p:cNvPr>
              <p:cNvSpPr/>
              <p:nvPr/>
            </p:nvSpPr>
            <p:spPr>
              <a:xfrm rot="-5762950">
                <a:off x="3906262" y="648078"/>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4" name="Freeform 35">
                <a:extLst>
                  <a:ext uri="{FF2B5EF4-FFF2-40B4-BE49-F238E27FC236}">
                    <a16:creationId xmlns:a16="http://schemas.microsoft.com/office/drawing/2014/main" id="{A81D39DF-B338-7D94-BC15-62695EFB39D7}"/>
                  </a:ext>
                </a:extLst>
              </p:cNvPr>
              <p:cNvSpPr/>
              <p:nvPr/>
            </p:nvSpPr>
            <p:spPr>
              <a:xfrm rot="-1446270">
                <a:off x="168689" y="168689"/>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grpSp>
          <p:nvGrpSpPr>
            <p:cNvPr id="26" name="Group 36">
              <a:extLst>
                <a:ext uri="{FF2B5EF4-FFF2-40B4-BE49-F238E27FC236}">
                  <a16:creationId xmlns:a16="http://schemas.microsoft.com/office/drawing/2014/main" id="{9C2D1035-B770-0A8E-70BD-89773AB19DB7}"/>
                </a:ext>
              </a:extLst>
            </p:cNvPr>
            <p:cNvGrpSpPr/>
            <p:nvPr/>
          </p:nvGrpSpPr>
          <p:grpSpPr>
            <a:xfrm rot="-3646065">
              <a:off x="-214955" y="4817543"/>
              <a:ext cx="3590947" cy="1541189"/>
              <a:chOff x="168689" y="168689"/>
              <a:chExt cx="4787926" cy="2054918"/>
            </a:xfrm>
          </p:grpSpPr>
          <p:sp>
            <p:nvSpPr>
              <p:cNvPr id="39" name="Freeform 37">
                <a:extLst>
                  <a:ext uri="{FF2B5EF4-FFF2-40B4-BE49-F238E27FC236}">
                    <a16:creationId xmlns:a16="http://schemas.microsoft.com/office/drawing/2014/main" id="{8DA98F22-29F4-91A2-0244-0EA2385A564E}"/>
                  </a:ext>
                </a:extLst>
              </p:cNvPr>
              <p:cNvSpPr/>
              <p:nvPr/>
            </p:nvSpPr>
            <p:spPr>
              <a:xfrm>
                <a:off x="2592615" y="1173254"/>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0" name="Freeform 38">
                <a:extLst>
                  <a:ext uri="{FF2B5EF4-FFF2-40B4-BE49-F238E27FC236}">
                    <a16:creationId xmlns:a16="http://schemas.microsoft.com/office/drawing/2014/main" id="{DA84043A-CDCB-3468-49F3-CACDC0F0A3A0}"/>
                  </a:ext>
                </a:extLst>
              </p:cNvPr>
              <p:cNvSpPr/>
              <p:nvPr/>
            </p:nvSpPr>
            <p:spPr>
              <a:xfrm rot="-5762950">
                <a:off x="3906262" y="648078"/>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1" name="Freeform 39">
                <a:extLst>
                  <a:ext uri="{FF2B5EF4-FFF2-40B4-BE49-F238E27FC236}">
                    <a16:creationId xmlns:a16="http://schemas.microsoft.com/office/drawing/2014/main" id="{BAB913D2-B497-C2F7-23CD-34B72AC30CB4}"/>
                  </a:ext>
                </a:extLst>
              </p:cNvPr>
              <p:cNvSpPr/>
              <p:nvPr/>
            </p:nvSpPr>
            <p:spPr>
              <a:xfrm rot="-1446270">
                <a:off x="168689" y="168689"/>
                <a:ext cx="1050353" cy="1050353"/>
              </a:xfrm>
              <a:custGeom>
                <a:avLst/>
                <a:gdLst/>
                <a:ahLst/>
                <a:cxnLst/>
                <a:rect l="l" t="t" r="r" b="b"/>
                <a:pathLst>
                  <a:path w="1050353" h="1050353">
                    <a:moveTo>
                      <a:pt x="0" y="0"/>
                    </a:moveTo>
                    <a:lnTo>
                      <a:pt x="1050353" y="0"/>
                    </a:lnTo>
                    <a:lnTo>
                      <a:pt x="1050353" y="1050353"/>
                    </a:lnTo>
                    <a:lnTo>
                      <a:pt x="0" y="10503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sp>
          <p:nvSpPr>
            <p:cNvPr id="27" name="Freeform 40">
              <a:extLst>
                <a:ext uri="{FF2B5EF4-FFF2-40B4-BE49-F238E27FC236}">
                  <a16:creationId xmlns:a16="http://schemas.microsoft.com/office/drawing/2014/main" id="{4655B8E7-598A-A580-8344-AF66BE1445F1}"/>
                </a:ext>
              </a:extLst>
            </p:cNvPr>
            <p:cNvSpPr/>
            <p:nvPr/>
          </p:nvSpPr>
          <p:spPr>
            <a:xfrm rot="2506281">
              <a:off x="3068910" y="4174571"/>
              <a:ext cx="580327" cy="357627"/>
            </a:xfrm>
            <a:custGeom>
              <a:avLst/>
              <a:gdLst/>
              <a:ahLst/>
              <a:cxnLst/>
              <a:rect l="l" t="t" r="r" b="b"/>
              <a:pathLst>
                <a:path w="580327" h="357627">
                  <a:moveTo>
                    <a:pt x="0" y="0"/>
                  </a:moveTo>
                  <a:lnTo>
                    <a:pt x="580328" y="0"/>
                  </a:lnTo>
                  <a:lnTo>
                    <a:pt x="580328" y="357626"/>
                  </a:lnTo>
                  <a:lnTo>
                    <a:pt x="0" y="357626"/>
                  </a:lnTo>
                  <a:lnTo>
                    <a:pt x="0" y="0"/>
                  </a:lnTo>
                  <a:close/>
                </a:path>
              </a:pathLst>
            </a:custGeom>
            <a:blipFill>
              <a:blip r:embed="rId12"/>
              <a:stretch>
                <a:fillRect/>
              </a:stretch>
            </a:blipFill>
          </p:spPr>
          <p:txBody>
            <a:bodyPr/>
            <a:lstStyle/>
            <a:p>
              <a:endParaRPr lang="en-AU"/>
            </a:p>
          </p:txBody>
        </p:sp>
        <p:grpSp>
          <p:nvGrpSpPr>
            <p:cNvPr id="28" name="Group 41">
              <a:extLst>
                <a:ext uri="{FF2B5EF4-FFF2-40B4-BE49-F238E27FC236}">
                  <a16:creationId xmlns:a16="http://schemas.microsoft.com/office/drawing/2014/main" id="{2E38CCC2-F58F-61BA-4CAC-EA63F572D85C}"/>
                </a:ext>
              </a:extLst>
            </p:cNvPr>
            <p:cNvGrpSpPr/>
            <p:nvPr/>
          </p:nvGrpSpPr>
          <p:grpSpPr>
            <a:xfrm rot="-2307494">
              <a:off x="4315059" y="5471559"/>
              <a:ext cx="1946754" cy="363700"/>
              <a:chOff x="0" y="0"/>
              <a:chExt cx="2595674" cy="484933"/>
            </a:xfrm>
          </p:grpSpPr>
          <p:sp>
            <p:nvSpPr>
              <p:cNvPr id="36" name="Freeform 42">
                <a:extLst>
                  <a:ext uri="{FF2B5EF4-FFF2-40B4-BE49-F238E27FC236}">
                    <a16:creationId xmlns:a16="http://schemas.microsoft.com/office/drawing/2014/main" id="{F50CFC2E-8008-2313-DFB8-741883E495B5}"/>
                  </a:ext>
                </a:extLst>
              </p:cNvPr>
              <p:cNvSpPr/>
              <p:nvPr/>
            </p:nvSpPr>
            <p:spPr>
              <a:xfrm>
                <a:off x="0"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37" name="Freeform 43">
                <a:extLst>
                  <a:ext uri="{FF2B5EF4-FFF2-40B4-BE49-F238E27FC236}">
                    <a16:creationId xmlns:a16="http://schemas.microsoft.com/office/drawing/2014/main" id="{9EC82B90-AB99-EF18-D9C2-5734F1503CEE}"/>
                  </a:ext>
                </a:extLst>
              </p:cNvPr>
              <p:cNvSpPr/>
              <p:nvPr/>
            </p:nvSpPr>
            <p:spPr>
              <a:xfrm>
                <a:off x="908434"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38" name="Freeform 44">
                <a:extLst>
                  <a:ext uri="{FF2B5EF4-FFF2-40B4-BE49-F238E27FC236}">
                    <a16:creationId xmlns:a16="http://schemas.microsoft.com/office/drawing/2014/main" id="{BAE96F32-DE0E-DBBA-264E-8BDAD9847AE3}"/>
                  </a:ext>
                </a:extLst>
              </p:cNvPr>
              <p:cNvSpPr/>
              <p:nvPr/>
            </p:nvSpPr>
            <p:spPr>
              <a:xfrm>
                <a:off x="1821904" y="8097"/>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grpSp>
        <p:grpSp>
          <p:nvGrpSpPr>
            <p:cNvPr id="29" name="Group 45">
              <a:extLst>
                <a:ext uri="{FF2B5EF4-FFF2-40B4-BE49-F238E27FC236}">
                  <a16:creationId xmlns:a16="http://schemas.microsoft.com/office/drawing/2014/main" id="{656CAFA6-67E9-A270-F04A-F6FFAC673458}"/>
                </a:ext>
              </a:extLst>
            </p:cNvPr>
            <p:cNvGrpSpPr/>
            <p:nvPr/>
          </p:nvGrpSpPr>
          <p:grpSpPr>
            <a:xfrm rot="1875179">
              <a:off x="4865727" y="4239882"/>
              <a:ext cx="1946754" cy="363700"/>
              <a:chOff x="0" y="0"/>
              <a:chExt cx="2595674" cy="484933"/>
            </a:xfrm>
          </p:grpSpPr>
          <p:sp>
            <p:nvSpPr>
              <p:cNvPr id="33" name="Freeform 46">
                <a:extLst>
                  <a:ext uri="{FF2B5EF4-FFF2-40B4-BE49-F238E27FC236}">
                    <a16:creationId xmlns:a16="http://schemas.microsoft.com/office/drawing/2014/main" id="{D494A487-31AF-E8DD-79A0-E658D3179B53}"/>
                  </a:ext>
                </a:extLst>
              </p:cNvPr>
              <p:cNvSpPr/>
              <p:nvPr/>
            </p:nvSpPr>
            <p:spPr>
              <a:xfrm>
                <a:off x="0"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34" name="Freeform 47">
                <a:extLst>
                  <a:ext uri="{FF2B5EF4-FFF2-40B4-BE49-F238E27FC236}">
                    <a16:creationId xmlns:a16="http://schemas.microsoft.com/office/drawing/2014/main" id="{C0F8FD9B-6E38-3200-274E-BD1281DE997F}"/>
                  </a:ext>
                </a:extLst>
              </p:cNvPr>
              <p:cNvSpPr/>
              <p:nvPr/>
            </p:nvSpPr>
            <p:spPr>
              <a:xfrm>
                <a:off x="908434" y="0"/>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sp>
            <p:nvSpPr>
              <p:cNvPr id="35" name="Freeform 48">
                <a:extLst>
                  <a:ext uri="{FF2B5EF4-FFF2-40B4-BE49-F238E27FC236}">
                    <a16:creationId xmlns:a16="http://schemas.microsoft.com/office/drawing/2014/main" id="{79B354BE-E2FA-61B8-A23A-A27DD2F48FE1}"/>
                  </a:ext>
                </a:extLst>
              </p:cNvPr>
              <p:cNvSpPr/>
              <p:nvPr/>
            </p:nvSpPr>
            <p:spPr>
              <a:xfrm>
                <a:off x="1821904" y="8097"/>
                <a:ext cx="773770" cy="476836"/>
              </a:xfrm>
              <a:custGeom>
                <a:avLst/>
                <a:gdLst/>
                <a:ahLst/>
                <a:cxnLst/>
                <a:rect l="l" t="t" r="r" b="b"/>
                <a:pathLst>
                  <a:path w="773770" h="476836">
                    <a:moveTo>
                      <a:pt x="0" y="0"/>
                    </a:moveTo>
                    <a:lnTo>
                      <a:pt x="773770" y="0"/>
                    </a:lnTo>
                    <a:lnTo>
                      <a:pt x="773770" y="476836"/>
                    </a:lnTo>
                    <a:lnTo>
                      <a:pt x="0" y="476836"/>
                    </a:lnTo>
                    <a:lnTo>
                      <a:pt x="0" y="0"/>
                    </a:lnTo>
                    <a:close/>
                  </a:path>
                </a:pathLst>
              </a:custGeom>
              <a:blipFill>
                <a:blip r:embed="rId12"/>
                <a:stretch>
                  <a:fillRect/>
                </a:stretch>
              </a:blipFill>
            </p:spPr>
            <p:txBody>
              <a:bodyPr/>
              <a:lstStyle/>
              <a:p>
                <a:endParaRPr lang="en-AU"/>
              </a:p>
            </p:txBody>
          </p:sp>
        </p:grpSp>
        <p:sp>
          <p:nvSpPr>
            <p:cNvPr id="30" name="Freeform 49">
              <a:extLst>
                <a:ext uri="{FF2B5EF4-FFF2-40B4-BE49-F238E27FC236}">
                  <a16:creationId xmlns:a16="http://schemas.microsoft.com/office/drawing/2014/main" id="{554308A2-ED87-3405-5BE1-5F9746ABF3EC}"/>
                </a:ext>
              </a:extLst>
            </p:cNvPr>
            <p:cNvSpPr/>
            <p:nvPr/>
          </p:nvSpPr>
          <p:spPr>
            <a:xfrm>
              <a:off x="4360939" y="4619835"/>
              <a:ext cx="787765" cy="787765"/>
            </a:xfrm>
            <a:custGeom>
              <a:avLst/>
              <a:gdLst/>
              <a:ahLst/>
              <a:cxnLst/>
              <a:rect l="l" t="t" r="r" b="b"/>
              <a:pathLst>
                <a:path w="787765" h="787765">
                  <a:moveTo>
                    <a:pt x="0" y="0"/>
                  </a:moveTo>
                  <a:lnTo>
                    <a:pt x="787764" y="0"/>
                  </a:lnTo>
                  <a:lnTo>
                    <a:pt x="787764" y="787764"/>
                  </a:lnTo>
                  <a:lnTo>
                    <a:pt x="0" y="78776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1" name="Freeform 50">
              <a:extLst>
                <a:ext uri="{FF2B5EF4-FFF2-40B4-BE49-F238E27FC236}">
                  <a16:creationId xmlns:a16="http://schemas.microsoft.com/office/drawing/2014/main" id="{1AC9B87F-4A10-96CB-0524-7E08CC0EF93A}"/>
                </a:ext>
              </a:extLst>
            </p:cNvPr>
            <p:cNvSpPr/>
            <p:nvPr/>
          </p:nvSpPr>
          <p:spPr>
            <a:xfrm>
              <a:off x="6626618" y="5510238"/>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sp>
          <p:nvSpPr>
            <p:cNvPr id="32" name="Freeform 51">
              <a:extLst>
                <a:ext uri="{FF2B5EF4-FFF2-40B4-BE49-F238E27FC236}">
                  <a16:creationId xmlns:a16="http://schemas.microsoft.com/office/drawing/2014/main" id="{A212CA06-BAB9-43C3-A2A8-80B644CFDD15}"/>
                </a:ext>
              </a:extLst>
            </p:cNvPr>
            <p:cNvSpPr/>
            <p:nvPr/>
          </p:nvSpPr>
          <p:spPr>
            <a:xfrm rot="-1647703">
              <a:off x="5360582" y="6183823"/>
              <a:ext cx="1079064" cy="289998"/>
            </a:xfrm>
            <a:custGeom>
              <a:avLst/>
              <a:gdLst/>
              <a:ahLst/>
              <a:cxnLst/>
              <a:rect l="l" t="t" r="r" b="b"/>
              <a:pathLst>
                <a:path w="1079064" h="289998">
                  <a:moveTo>
                    <a:pt x="0" y="0"/>
                  </a:moveTo>
                  <a:lnTo>
                    <a:pt x="1079064" y="0"/>
                  </a:lnTo>
                  <a:lnTo>
                    <a:pt x="1079064" y="289998"/>
                  </a:lnTo>
                  <a:lnTo>
                    <a:pt x="0" y="289998"/>
                  </a:lnTo>
                  <a:lnTo>
                    <a:pt x="0" y="0"/>
                  </a:lnTo>
                  <a:close/>
                </a:path>
              </a:pathLst>
            </a:custGeom>
            <a:blipFill>
              <a:blip r:embed="rId9"/>
              <a:stretch>
                <a:fillRect/>
              </a:stretch>
            </a:blipFill>
          </p:spPr>
          <p:txBody>
            <a:bodyPr/>
            <a:lstStyle/>
            <a:p>
              <a:endParaRPr lang="en-AU"/>
            </a:p>
          </p:txBody>
        </p:sp>
      </p:gr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Three number lines from zero to one with the distance that each person travelled.">
            <a:extLst>
              <a:ext uri="{FF2B5EF4-FFF2-40B4-BE49-F238E27FC236}">
                <a16:creationId xmlns:a16="http://schemas.microsoft.com/office/drawing/2014/main" id="{13645823-BAAE-CE23-6402-810033F792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3634" y="1632902"/>
            <a:ext cx="6172200" cy="3947795"/>
          </a:xfrm>
          <a:prstGeom prst="rect">
            <a:avLst/>
          </a:prstGeom>
          <a:ln>
            <a:noFill/>
          </a:ln>
          <a:effectLst>
            <a:outerShdw blurRad="292100" dist="139700" dir="2700000" algn="tl" rotWithShape="0">
              <a:srgbClr val="333333">
                <a:alpha val="65000"/>
              </a:srgbClr>
            </a:outerShdw>
          </a:effectLst>
        </p:spPr>
      </p:pic>
      <p:sp>
        <p:nvSpPr>
          <p:cNvPr id="8" name="Text Placeholder 17">
            <a:extLst>
              <a:ext uri="{FF2B5EF4-FFF2-40B4-BE49-F238E27FC236}">
                <a16:creationId xmlns:a16="http://schemas.microsoft.com/office/drawing/2014/main" id="{F81CF1A7-5640-AB14-F468-B91428E622B9}"/>
              </a:ext>
            </a:extLst>
          </p:cNvPr>
          <p:cNvSpPr txBox="1">
            <a:spLocks/>
          </p:cNvSpPr>
          <p:nvPr/>
        </p:nvSpPr>
        <p:spPr>
          <a:xfrm>
            <a:off x="45330" y="1099224"/>
            <a:ext cx="53467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If </a:t>
            </a:r>
            <a:r>
              <a:rPr lang="en-US" sz="4400" b="1" dirty="0"/>
              <a:t>0</a:t>
            </a:r>
            <a:r>
              <a:rPr lang="en-US" sz="4400" dirty="0"/>
              <a:t> is the </a:t>
            </a:r>
            <a:r>
              <a:rPr lang="en-US" sz="4400" b="1" dirty="0"/>
              <a:t>start</a:t>
            </a:r>
            <a:r>
              <a:rPr lang="en-US" sz="4400" dirty="0"/>
              <a:t> and </a:t>
            </a:r>
            <a:r>
              <a:rPr lang="en-US" sz="4400" b="1" dirty="0"/>
              <a:t>1</a:t>
            </a:r>
            <a:r>
              <a:rPr lang="en-US" sz="4400" dirty="0"/>
              <a:t> is the </a:t>
            </a:r>
            <a:r>
              <a:rPr lang="en-US" sz="4400" b="1" dirty="0"/>
              <a:t>finish</a:t>
            </a:r>
            <a:r>
              <a:rPr lang="en-US" sz="4400" dirty="0"/>
              <a:t> line…</a:t>
            </a:r>
          </a:p>
        </p:txBody>
      </p:sp>
      <p:sp>
        <p:nvSpPr>
          <p:cNvPr id="7" name="Text Placeholder 17">
            <a:extLst>
              <a:ext uri="{FF2B5EF4-FFF2-40B4-BE49-F238E27FC236}">
                <a16:creationId xmlns:a16="http://schemas.microsoft.com/office/drawing/2014/main" id="{6B7E4BC6-8580-04CD-B3BE-1CB2593FB0A0}"/>
              </a:ext>
            </a:extLst>
          </p:cNvPr>
          <p:cNvSpPr txBox="1">
            <a:spLocks/>
          </p:cNvSpPr>
          <p:nvPr/>
        </p:nvSpPr>
        <p:spPr>
          <a:xfrm>
            <a:off x="0" y="3429000"/>
            <a:ext cx="53467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How </a:t>
            </a:r>
            <a:r>
              <a:rPr lang="en-US" sz="4400" b="1"/>
              <a:t>far</a:t>
            </a:r>
            <a:r>
              <a:rPr lang="en-US" sz="4400"/>
              <a:t> has each child run in the               cross-country? </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90E97073-C60E-1D33-0ECC-53D65443513E}"/>
              </a:ext>
            </a:extLst>
          </p:cNvPr>
          <p:cNvSpPr txBox="1">
            <a:spLocks/>
          </p:cNvSpPr>
          <p:nvPr/>
        </p:nvSpPr>
        <p:spPr>
          <a:xfrm>
            <a:off x="1922821" y="737610"/>
            <a:ext cx="834635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Convert each measurement:</a:t>
            </a:r>
          </a:p>
          <a:p>
            <a:pPr marL="571500" indent="-571500" algn="ctr">
              <a:buFont typeface="Arial" panose="020B0604020202020204" pitchFamily="34" charset="0"/>
              <a:buChar char="•"/>
            </a:pPr>
            <a:r>
              <a:rPr lang="en-AU" sz="4400" dirty="0"/>
              <a:t>3 m = ___ cm</a:t>
            </a:r>
          </a:p>
          <a:p>
            <a:pPr marL="571500" indent="-571500" algn="ctr">
              <a:buFont typeface="Arial" panose="020B0604020202020204" pitchFamily="34" charset="0"/>
              <a:buChar char="•"/>
            </a:pPr>
            <a:r>
              <a:rPr lang="en-AU" sz="4400" dirty="0"/>
              <a:t>250 cm = ___ m</a:t>
            </a:r>
          </a:p>
          <a:p>
            <a:pPr marL="571500" indent="-571500" algn="ctr">
              <a:buFont typeface="Arial" panose="020B0604020202020204" pitchFamily="34" charset="0"/>
              <a:buChar char="•"/>
            </a:pPr>
            <a:r>
              <a:rPr lang="en-AU" sz="4400" dirty="0"/>
              <a:t>6 cm = ___ mm</a:t>
            </a:r>
          </a:p>
          <a:p>
            <a:pPr marL="571500" indent="-571500" algn="ctr">
              <a:buFont typeface="Arial" panose="020B0604020202020204" pitchFamily="34" charset="0"/>
              <a:buChar char="•"/>
            </a:pPr>
            <a:r>
              <a:rPr lang="en-AU" sz="4400" dirty="0"/>
              <a:t>90 mm = ___ cm</a:t>
            </a:r>
            <a:endParaRPr lang="en-US" sz="4400" b="1" dirty="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adding 3-digit numbers</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7" name="Group 6" descr="9 blank boxes in the form of an equation 3 boxes + 3 boxes + 3 boxes =">
            <a:extLst>
              <a:ext uri="{FF2B5EF4-FFF2-40B4-BE49-F238E27FC236}">
                <a16:creationId xmlns:a16="http://schemas.microsoft.com/office/drawing/2014/main" id="{ED38E9C4-5587-98F5-5339-A2634D5AB92C}"/>
              </a:ext>
            </a:extLst>
          </p:cNvPr>
          <p:cNvGrpSpPr/>
          <p:nvPr/>
        </p:nvGrpSpPr>
        <p:grpSpPr>
          <a:xfrm>
            <a:off x="461784" y="3163192"/>
            <a:ext cx="2820291" cy="823352"/>
            <a:chOff x="486883" y="5331524"/>
            <a:chExt cx="3170318" cy="925538"/>
          </a:xfrm>
        </p:grpSpPr>
        <p:sp>
          <p:nvSpPr>
            <p:cNvPr id="3" name="Freeform 9">
              <a:extLst>
                <a:ext uri="{FF2B5EF4-FFF2-40B4-BE49-F238E27FC236}">
                  <a16:creationId xmlns:a16="http://schemas.microsoft.com/office/drawing/2014/main" id="{C7786A0A-0F96-582C-24FD-2A67D628FEE0}"/>
                </a:ext>
              </a:extLst>
            </p:cNvPr>
            <p:cNvSpPr/>
            <p:nvPr/>
          </p:nvSpPr>
          <p:spPr>
            <a:xfrm>
              <a:off x="486883"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 name="Freeform 9">
              <a:extLst>
                <a:ext uri="{FF2B5EF4-FFF2-40B4-BE49-F238E27FC236}">
                  <a16:creationId xmlns:a16="http://schemas.microsoft.com/office/drawing/2014/main" id="{A815E535-2B2A-BBA2-F88C-DAA7E29085F2}"/>
                </a:ext>
              </a:extLst>
            </p:cNvPr>
            <p:cNvSpPr/>
            <p:nvPr/>
          </p:nvSpPr>
          <p:spPr>
            <a:xfrm>
              <a:off x="1583963" y="5331524"/>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9">
              <a:extLst>
                <a:ext uri="{FF2B5EF4-FFF2-40B4-BE49-F238E27FC236}">
                  <a16:creationId xmlns:a16="http://schemas.microsoft.com/office/drawing/2014/main" id="{A514E056-7E39-8BE5-F3F2-EC7C55B0F9AD}"/>
                </a:ext>
              </a:extLst>
            </p:cNvPr>
            <p:cNvSpPr/>
            <p:nvPr/>
          </p:nvSpPr>
          <p:spPr>
            <a:xfrm>
              <a:off x="2681044"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9" name="Group 8">
            <a:extLst>
              <a:ext uri="{FF2B5EF4-FFF2-40B4-BE49-F238E27FC236}">
                <a16:creationId xmlns:a16="http://schemas.microsoft.com/office/drawing/2014/main" id="{A115FB11-0572-E895-77C6-72D1387C09E5}"/>
              </a:ext>
              <a:ext uri="{C183D7F6-B498-43B3-948B-1728B52AA6E4}">
                <adec:decorative xmlns:adec="http://schemas.microsoft.com/office/drawing/2017/decorative" val="1"/>
              </a:ext>
            </a:extLst>
          </p:cNvPr>
          <p:cNvGrpSpPr/>
          <p:nvPr/>
        </p:nvGrpSpPr>
        <p:grpSpPr>
          <a:xfrm>
            <a:off x="3721600" y="3157340"/>
            <a:ext cx="2820291" cy="823352"/>
            <a:chOff x="486883" y="5331524"/>
            <a:chExt cx="3170318" cy="925538"/>
          </a:xfrm>
        </p:grpSpPr>
        <p:sp>
          <p:nvSpPr>
            <p:cNvPr id="10" name="Freeform 9">
              <a:extLst>
                <a:ext uri="{FF2B5EF4-FFF2-40B4-BE49-F238E27FC236}">
                  <a16:creationId xmlns:a16="http://schemas.microsoft.com/office/drawing/2014/main" id="{00553CF3-C69F-871B-C4C1-3085F3234F0F}"/>
                </a:ext>
              </a:extLst>
            </p:cNvPr>
            <p:cNvSpPr/>
            <p:nvPr/>
          </p:nvSpPr>
          <p:spPr>
            <a:xfrm>
              <a:off x="486883"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1" name="Freeform 9">
              <a:extLst>
                <a:ext uri="{FF2B5EF4-FFF2-40B4-BE49-F238E27FC236}">
                  <a16:creationId xmlns:a16="http://schemas.microsoft.com/office/drawing/2014/main" id="{4E63C5C7-EE0E-0E65-8E21-2721B2E5D99E}"/>
                </a:ext>
              </a:extLst>
            </p:cNvPr>
            <p:cNvSpPr/>
            <p:nvPr/>
          </p:nvSpPr>
          <p:spPr>
            <a:xfrm>
              <a:off x="1583963" y="5331524"/>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Freeform 9">
              <a:extLst>
                <a:ext uri="{FF2B5EF4-FFF2-40B4-BE49-F238E27FC236}">
                  <a16:creationId xmlns:a16="http://schemas.microsoft.com/office/drawing/2014/main" id="{B07C7D08-855C-1A72-E235-72ADFB60050F}"/>
                </a:ext>
              </a:extLst>
            </p:cNvPr>
            <p:cNvSpPr/>
            <p:nvPr/>
          </p:nvSpPr>
          <p:spPr>
            <a:xfrm>
              <a:off x="2681044"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13" name="Group 12">
            <a:extLst>
              <a:ext uri="{FF2B5EF4-FFF2-40B4-BE49-F238E27FC236}">
                <a16:creationId xmlns:a16="http://schemas.microsoft.com/office/drawing/2014/main" id="{751083A5-43C2-9D80-6702-6B3069C10ECB}"/>
              </a:ext>
              <a:ext uri="{C183D7F6-B498-43B3-948B-1728B52AA6E4}">
                <adec:decorative xmlns:adec="http://schemas.microsoft.com/office/drawing/2017/decorative" val="1"/>
              </a:ext>
            </a:extLst>
          </p:cNvPr>
          <p:cNvGrpSpPr/>
          <p:nvPr/>
        </p:nvGrpSpPr>
        <p:grpSpPr>
          <a:xfrm>
            <a:off x="6981415" y="3169044"/>
            <a:ext cx="2820291" cy="823352"/>
            <a:chOff x="486883" y="5331524"/>
            <a:chExt cx="3170318" cy="925538"/>
          </a:xfrm>
        </p:grpSpPr>
        <p:sp>
          <p:nvSpPr>
            <p:cNvPr id="14" name="Freeform 9">
              <a:extLst>
                <a:ext uri="{FF2B5EF4-FFF2-40B4-BE49-F238E27FC236}">
                  <a16:creationId xmlns:a16="http://schemas.microsoft.com/office/drawing/2014/main" id="{3819AE61-E7E8-26DA-9998-01330EDA95E4}"/>
                </a:ext>
              </a:extLst>
            </p:cNvPr>
            <p:cNvSpPr/>
            <p:nvPr/>
          </p:nvSpPr>
          <p:spPr>
            <a:xfrm>
              <a:off x="486883"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9">
              <a:extLst>
                <a:ext uri="{FF2B5EF4-FFF2-40B4-BE49-F238E27FC236}">
                  <a16:creationId xmlns:a16="http://schemas.microsoft.com/office/drawing/2014/main" id="{3B5BAEE0-B2BD-153C-AF42-2DF6973A308F}"/>
                </a:ext>
              </a:extLst>
            </p:cNvPr>
            <p:cNvSpPr/>
            <p:nvPr/>
          </p:nvSpPr>
          <p:spPr>
            <a:xfrm>
              <a:off x="1583963" y="5331524"/>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Freeform 9">
              <a:extLst>
                <a:ext uri="{FF2B5EF4-FFF2-40B4-BE49-F238E27FC236}">
                  <a16:creationId xmlns:a16="http://schemas.microsoft.com/office/drawing/2014/main" id="{7D5A8A7B-EB94-34AB-C60B-A2AE7E34211C}"/>
                </a:ext>
              </a:extLst>
            </p:cNvPr>
            <p:cNvSpPr/>
            <p:nvPr/>
          </p:nvSpPr>
          <p:spPr>
            <a:xfrm>
              <a:off x="2681044" y="5338102"/>
              <a:ext cx="976157" cy="91896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17" name="TextBox 16">
            <a:extLst>
              <a:ext uri="{FF2B5EF4-FFF2-40B4-BE49-F238E27FC236}">
                <a16:creationId xmlns:a16="http://schemas.microsoft.com/office/drawing/2014/main" id="{604D098F-6B4B-C8E2-05B0-E1E69BEF7214}"/>
              </a:ext>
              <a:ext uri="{C183D7F6-B498-43B3-948B-1728B52AA6E4}">
                <adec:decorative xmlns:adec="http://schemas.microsoft.com/office/drawing/2017/decorative" val="1"/>
              </a:ext>
            </a:extLst>
          </p:cNvPr>
          <p:cNvSpPr txBox="1"/>
          <p:nvPr/>
        </p:nvSpPr>
        <p:spPr>
          <a:xfrm>
            <a:off x="3181845" y="3287437"/>
            <a:ext cx="639986" cy="545601"/>
          </a:xfrm>
          <a:prstGeom prst="rect">
            <a:avLst/>
          </a:prstGeom>
          <a:noFill/>
        </p:spPr>
        <p:txBody>
          <a:bodyPr wrap="square" lIns="0" tIns="0" rIns="0" bIns="0" rtlCol="0">
            <a:noAutofit/>
          </a:bodyPr>
          <a:lstStyle/>
          <a:p>
            <a:pPr algn="ctr"/>
            <a:r>
              <a:rPr lang="en-AU" sz="4000">
                <a:solidFill>
                  <a:schemeClr val="accent2"/>
                </a:solidFill>
                <a:latin typeface="Arial" panose="020B0604020202020204" pitchFamily="34" charset="0"/>
                <a:cs typeface="Arial" panose="020B0604020202020204" pitchFamily="34" charset="0"/>
              </a:rPr>
              <a:t>+</a:t>
            </a:r>
          </a:p>
        </p:txBody>
      </p:sp>
      <p:sp>
        <p:nvSpPr>
          <p:cNvPr id="18" name="TextBox 17">
            <a:extLst>
              <a:ext uri="{FF2B5EF4-FFF2-40B4-BE49-F238E27FC236}">
                <a16:creationId xmlns:a16="http://schemas.microsoft.com/office/drawing/2014/main" id="{47EC182E-6D70-3C66-E3D5-31A5EFFDAD06}"/>
              </a:ext>
              <a:ext uri="{C183D7F6-B498-43B3-948B-1728B52AA6E4}">
                <adec:decorative xmlns:adec="http://schemas.microsoft.com/office/drawing/2017/decorative" val="1"/>
              </a:ext>
            </a:extLst>
          </p:cNvPr>
          <p:cNvSpPr txBox="1"/>
          <p:nvPr/>
        </p:nvSpPr>
        <p:spPr>
          <a:xfrm>
            <a:off x="6441661" y="3299141"/>
            <a:ext cx="639986" cy="545601"/>
          </a:xfrm>
          <a:prstGeom prst="rect">
            <a:avLst/>
          </a:prstGeom>
          <a:noFill/>
        </p:spPr>
        <p:txBody>
          <a:bodyPr wrap="square" lIns="0" tIns="0" rIns="0" bIns="0" rtlCol="0">
            <a:noAutofit/>
          </a:bodyPr>
          <a:lstStyle/>
          <a:p>
            <a:pPr algn="ctr"/>
            <a:r>
              <a:rPr lang="en-AU" sz="4000">
                <a:solidFill>
                  <a:schemeClr val="accent2"/>
                </a:solidFill>
                <a:latin typeface="Arial" panose="020B0604020202020204" pitchFamily="34" charset="0"/>
                <a:cs typeface="Arial" panose="020B0604020202020204" pitchFamily="34" charset="0"/>
              </a:rPr>
              <a:t>+</a:t>
            </a:r>
          </a:p>
        </p:txBody>
      </p:sp>
      <p:sp>
        <p:nvSpPr>
          <p:cNvPr id="19" name="TextBox 18">
            <a:extLst>
              <a:ext uri="{FF2B5EF4-FFF2-40B4-BE49-F238E27FC236}">
                <a16:creationId xmlns:a16="http://schemas.microsoft.com/office/drawing/2014/main" id="{509A3C9C-C238-5D31-C085-EB8B303A2918}"/>
              </a:ext>
              <a:ext uri="{C183D7F6-B498-43B3-948B-1728B52AA6E4}">
                <adec:decorative xmlns:adec="http://schemas.microsoft.com/office/drawing/2017/decorative" val="1"/>
              </a:ext>
            </a:extLst>
          </p:cNvPr>
          <p:cNvSpPr txBox="1"/>
          <p:nvPr/>
        </p:nvSpPr>
        <p:spPr>
          <a:xfrm>
            <a:off x="9692728" y="3299140"/>
            <a:ext cx="639986" cy="545601"/>
          </a:xfrm>
          <a:prstGeom prst="rect">
            <a:avLst/>
          </a:prstGeom>
          <a:noFill/>
        </p:spPr>
        <p:txBody>
          <a:bodyPr wrap="square" lIns="0" tIns="0" rIns="0" bIns="0" rtlCol="0">
            <a:noAutofit/>
          </a:bodyPr>
          <a:lstStyle/>
          <a:p>
            <a:pPr algn="ctr"/>
            <a:r>
              <a:rPr lang="en-AU" sz="4000">
                <a:solidFill>
                  <a:schemeClr val="accent2"/>
                </a:solidFill>
                <a:latin typeface="Arial" panose="020B0604020202020204" pitchFamily="34" charset="0"/>
                <a:cs typeface="Arial" panose="020B0604020202020204" pitchFamily="34" charset="0"/>
              </a:rPr>
              <a:t>=</a:t>
            </a:r>
          </a:p>
        </p:txBody>
      </p:sp>
      <p:cxnSp>
        <p:nvCxnSpPr>
          <p:cNvPr id="20" name="Straight Connector 19">
            <a:extLst>
              <a:ext uri="{FF2B5EF4-FFF2-40B4-BE49-F238E27FC236}">
                <a16:creationId xmlns:a16="http://schemas.microsoft.com/office/drawing/2014/main" id="{2F349F74-1FB8-F89E-75E2-F7447DEC1A96}"/>
              </a:ext>
              <a:ext uri="{C183D7F6-B498-43B3-948B-1728B52AA6E4}">
                <adec:decorative xmlns:adec="http://schemas.microsoft.com/office/drawing/2017/decorative" val="1"/>
              </a:ext>
            </a:extLst>
          </p:cNvPr>
          <p:cNvCxnSpPr>
            <a:cxnSpLocks/>
          </p:cNvCxnSpPr>
          <p:nvPr/>
        </p:nvCxnSpPr>
        <p:spPr>
          <a:xfrm>
            <a:off x="10292327" y="3986544"/>
            <a:ext cx="1663346" cy="0"/>
          </a:xfrm>
          <a:prstGeom prst="line">
            <a:avLst/>
          </a:prstGeom>
          <a:ln w="12700"/>
        </p:spPr>
        <p:style>
          <a:lnRef idx="1">
            <a:schemeClr val="accent2"/>
          </a:lnRef>
          <a:fillRef idx="0">
            <a:schemeClr val="accent2"/>
          </a:fillRef>
          <a:effectRef idx="0">
            <a:schemeClr val="accent2"/>
          </a:effectRef>
          <a:fontRef idx="minor">
            <a:schemeClr val="tx1"/>
          </a:fontRef>
        </p:style>
      </p:cxnSp>
      <p:sp>
        <p:nvSpPr>
          <p:cNvPr id="21" name="Freeform 3">
            <a:extLst>
              <a:ext uri="{FF2B5EF4-FFF2-40B4-BE49-F238E27FC236}">
                <a16:creationId xmlns:a16="http://schemas.microsoft.com/office/drawing/2014/main" id="{5537E704-6912-C18B-6DF4-9764BADF369B}"/>
              </a:ext>
              <a:ext uri="{C183D7F6-B498-43B3-948B-1728B52AA6E4}">
                <adec:decorative xmlns:adec="http://schemas.microsoft.com/office/drawing/2017/decorative" val="1"/>
              </a:ext>
            </a:extLst>
          </p:cNvPr>
          <p:cNvSpPr/>
          <p:nvPr/>
        </p:nvSpPr>
        <p:spPr>
          <a:xfrm>
            <a:off x="461784" y="1349714"/>
            <a:ext cx="1115039" cy="1019797"/>
          </a:xfrm>
          <a:custGeom>
            <a:avLst/>
            <a:gdLst/>
            <a:ahLst/>
            <a:cxnLst/>
            <a:rect l="l" t="t" r="r" b="b"/>
            <a:pathLst>
              <a:path w="1247925" h="1141332">
                <a:moveTo>
                  <a:pt x="0" y="0"/>
                </a:moveTo>
                <a:lnTo>
                  <a:pt x="1247925" y="0"/>
                </a:lnTo>
                <a:lnTo>
                  <a:pt x="1247925" y="1141332"/>
                </a:lnTo>
                <a:lnTo>
                  <a:pt x="0" y="1141332"/>
                </a:lnTo>
                <a:lnTo>
                  <a:pt x="0" y="0"/>
                </a:lnTo>
                <a:close/>
              </a:path>
            </a:pathLst>
          </a:custGeom>
          <a:blipFill>
            <a:blip r:embed="rId6"/>
            <a:stretch>
              <a:fillRect/>
            </a:stretch>
          </a:blipFill>
        </p:spPr>
        <p:txBody>
          <a:bodyPr/>
          <a:lstStyle/>
          <a:p>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4250987" y="919759"/>
            <a:ext cx="4455267" cy="754243"/>
          </a:xfrm>
        </p:spPr>
        <p:txBody>
          <a:bodyPr/>
          <a:lstStyle/>
          <a:p>
            <a:r>
              <a:rPr lang="en-US" sz="5400" dirty="0"/>
              <a:t>7851 – 1739 =</a:t>
            </a:r>
          </a:p>
        </p:txBody>
      </p:sp>
      <p:sp>
        <p:nvSpPr>
          <p:cNvPr id="9" name="TextBox 8">
            <a:extLst>
              <a:ext uri="{FF2B5EF4-FFF2-40B4-BE49-F238E27FC236}">
                <a16:creationId xmlns:a16="http://schemas.microsoft.com/office/drawing/2014/main" id="{F91A42F4-D8C9-20A3-82EB-86FAD4D776A8}"/>
              </a:ext>
            </a:extLst>
          </p:cNvPr>
          <p:cNvSpPr txBox="1"/>
          <p:nvPr/>
        </p:nvSpPr>
        <p:spPr>
          <a:xfrm>
            <a:off x="737246" y="2077697"/>
            <a:ext cx="53959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472698" y="1803374"/>
            <a:ext cx="10371302" cy="1087427"/>
          </a:xfrm>
        </p:spPr>
        <p:txBody>
          <a:bodyPr anchor="ctr"/>
          <a:lstStyle/>
          <a:p>
            <a:r>
              <a:rPr lang="en-US" sz="4400" dirty="0"/>
              <a:t>6128</a:t>
            </a:r>
          </a:p>
        </p:txBody>
      </p:sp>
      <p:sp>
        <p:nvSpPr>
          <p:cNvPr id="10" name="TextBox 9">
            <a:extLst>
              <a:ext uri="{FF2B5EF4-FFF2-40B4-BE49-F238E27FC236}">
                <a16:creationId xmlns:a16="http://schemas.microsoft.com/office/drawing/2014/main" id="{CA9D5B15-A13C-EE8B-176F-3B4E3454A1A2}"/>
              </a:ext>
            </a:extLst>
          </p:cNvPr>
          <p:cNvSpPr txBox="1"/>
          <p:nvPr/>
        </p:nvSpPr>
        <p:spPr>
          <a:xfrm>
            <a:off x="737246" y="3090684"/>
            <a:ext cx="53959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472698" y="2816361"/>
            <a:ext cx="10371302" cy="1087427"/>
          </a:xfrm>
        </p:spPr>
        <p:txBody>
          <a:bodyPr anchor="ctr"/>
          <a:lstStyle/>
          <a:p>
            <a:r>
              <a:rPr lang="en-US" sz="4400" dirty="0"/>
              <a:t>6102</a:t>
            </a:r>
          </a:p>
        </p:txBody>
      </p:sp>
      <p:sp>
        <p:nvSpPr>
          <p:cNvPr id="12" name="TextBox 11">
            <a:extLst>
              <a:ext uri="{FF2B5EF4-FFF2-40B4-BE49-F238E27FC236}">
                <a16:creationId xmlns:a16="http://schemas.microsoft.com/office/drawing/2014/main" id="{B4746450-E4E2-359C-DFCA-0532E811BD1E}"/>
              </a:ext>
            </a:extLst>
          </p:cNvPr>
          <p:cNvSpPr txBox="1"/>
          <p:nvPr/>
        </p:nvSpPr>
        <p:spPr>
          <a:xfrm>
            <a:off x="737246" y="4103851"/>
            <a:ext cx="53959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472698" y="3829348"/>
            <a:ext cx="10371302" cy="1087427"/>
          </a:xfrm>
        </p:spPr>
        <p:txBody>
          <a:bodyPr anchor="ctr"/>
          <a:lstStyle/>
          <a:p>
            <a:r>
              <a:rPr lang="en-US" sz="4400" dirty="0"/>
              <a:t>6122</a:t>
            </a:r>
          </a:p>
        </p:txBody>
      </p:sp>
      <p:sp>
        <p:nvSpPr>
          <p:cNvPr id="11" name="TextBox 10">
            <a:extLst>
              <a:ext uri="{FF2B5EF4-FFF2-40B4-BE49-F238E27FC236}">
                <a16:creationId xmlns:a16="http://schemas.microsoft.com/office/drawing/2014/main" id="{9B8955CE-78C1-2F30-7505-4CA44A86BDFF}"/>
              </a:ext>
            </a:extLst>
          </p:cNvPr>
          <p:cNvSpPr txBox="1"/>
          <p:nvPr/>
        </p:nvSpPr>
        <p:spPr>
          <a:xfrm>
            <a:off x="737246" y="5039435"/>
            <a:ext cx="53959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472698" y="4809217"/>
            <a:ext cx="10371302" cy="1087427"/>
          </a:xfrm>
        </p:spPr>
        <p:txBody>
          <a:bodyPr anchor="ctr"/>
          <a:lstStyle/>
          <a:p>
            <a:r>
              <a:rPr lang="en-US" sz="4400" dirty="0"/>
              <a:t>6112</a:t>
            </a:r>
          </a:p>
        </p:txBody>
      </p:sp>
      <p:sp>
        <p:nvSpPr>
          <p:cNvPr id="5" name="TextBox 4">
            <a:extLst>
              <a:ext uri="{FF2B5EF4-FFF2-40B4-BE49-F238E27FC236}">
                <a16:creationId xmlns:a16="http://schemas.microsoft.com/office/drawing/2014/main" id="{C1FBDF24-C311-E3F6-9AD5-67EA30C0D850}"/>
              </a:ext>
            </a:extLst>
          </p:cNvPr>
          <p:cNvSpPr txBox="1"/>
          <p:nvPr/>
        </p:nvSpPr>
        <p:spPr>
          <a:xfrm>
            <a:off x="1351100" y="5926559"/>
            <a:ext cx="10062171" cy="769441"/>
          </a:xfrm>
          <a:prstGeom prst="rect">
            <a:avLst/>
          </a:prstGeom>
          <a:noFill/>
        </p:spPr>
        <p:txBody>
          <a:bodyPr wrap="square">
            <a:spAutoFit/>
          </a:bodyPr>
          <a:lstStyle/>
          <a:p>
            <a:pPr algn="ctr"/>
            <a:r>
              <a:rPr lang="en-US" sz="4400" b="1" dirty="0"/>
              <a:t>Communicate </a:t>
            </a:r>
            <a:r>
              <a:rPr lang="en-US" sz="4400" dirty="0"/>
              <a:t>your </a:t>
            </a:r>
            <a:r>
              <a:rPr lang="en-US" sz="4400" b="1" dirty="0"/>
              <a:t>strategy</a:t>
            </a:r>
            <a:r>
              <a:rPr lang="en-US" sz="4400" dirty="0"/>
              <a:t>.</a:t>
            </a:r>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BE73CCB8-8C4B-CD49-8858-37A1E3B498B0}"/>
              </a:ext>
            </a:extLst>
          </p:cNvPr>
          <p:cNvSpPr txBox="1">
            <a:spLocks/>
          </p:cNvSpPr>
          <p:nvPr/>
        </p:nvSpPr>
        <p:spPr>
          <a:xfrm>
            <a:off x="2070229" y="1986405"/>
            <a:ext cx="8051542" cy="144259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How many </a:t>
            </a:r>
            <a:r>
              <a:rPr lang="en-AU" sz="4400" b="1" dirty="0"/>
              <a:t>millions</a:t>
            </a:r>
            <a:r>
              <a:rPr lang="en-AU" sz="4400" dirty="0"/>
              <a:t> is the same as </a:t>
            </a:r>
            <a:r>
              <a:rPr lang="en-AU" sz="4400" b="1" dirty="0"/>
              <a:t>one billion</a:t>
            </a:r>
            <a:r>
              <a:rPr lang="en-AU" sz="4400" dirty="0"/>
              <a:t>?</a:t>
            </a:r>
            <a:endParaRPr lang="en-US" sz="4400" dirty="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9F85E38D-A000-F8C4-DEF9-06AA05FF4FD2}"/>
              </a:ext>
            </a:extLst>
          </p:cNvPr>
          <p:cNvSpPr txBox="1">
            <a:spLocks/>
          </p:cNvSpPr>
          <p:nvPr/>
        </p:nvSpPr>
        <p:spPr>
          <a:xfrm>
            <a:off x="0" y="1184223"/>
            <a:ext cx="399840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dirty="0"/>
              <a:t>Which graph is </a:t>
            </a:r>
            <a:r>
              <a:rPr lang="en-US" sz="3600" b="1" dirty="0"/>
              <a:t>appropriate</a:t>
            </a:r>
            <a:r>
              <a:rPr lang="en-US" sz="3600" dirty="0"/>
              <a:t> to represent this data set?  </a:t>
            </a:r>
          </a:p>
          <a:p>
            <a:pPr algn="ctr"/>
            <a:r>
              <a:rPr lang="en-US" sz="3600" b="1" dirty="0"/>
              <a:t>Communicate</a:t>
            </a:r>
            <a:r>
              <a:rPr lang="en-US" sz="3600" dirty="0"/>
              <a:t> your </a:t>
            </a:r>
            <a:r>
              <a:rPr lang="en-US" sz="3600" b="1" dirty="0"/>
              <a:t>thinking.</a:t>
            </a:r>
            <a:r>
              <a:rPr lang="en-US" sz="3600" dirty="0"/>
              <a:t> </a:t>
            </a:r>
          </a:p>
          <a:p>
            <a:pPr algn="ctr"/>
            <a:endParaRPr lang="en-US" sz="3600" dirty="0"/>
          </a:p>
        </p:txBody>
      </p:sp>
      <p:pic>
        <p:nvPicPr>
          <p:cNvPr id="5" name="Picture 4" descr="Number of siblings recorded in the class. Data is displayed as a column graph and line graph.">
            <a:extLst>
              <a:ext uri="{FF2B5EF4-FFF2-40B4-BE49-F238E27FC236}">
                <a16:creationId xmlns:a16="http://schemas.microsoft.com/office/drawing/2014/main" id="{B6EEB49E-BAE1-7E82-4A22-CBA33A8F7912}"/>
              </a:ext>
            </a:extLst>
          </p:cNvPr>
          <p:cNvPicPr>
            <a:picLocks noChangeAspect="1"/>
          </p:cNvPicPr>
          <p:nvPr/>
        </p:nvPicPr>
        <p:blipFill>
          <a:blip r:embed="rId4"/>
          <a:stretch>
            <a:fillRect/>
          </a:stretch>
        </p:blipFill>
        <p:spPr>
          <a:xfrm>
            <a:off x="4119794" y="1314319"/>
            <a:ext cx="7826182" cy="42293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4" name="Text Placeholder 14">
            <a:extLst>
              <a:ext uri="{FF2B5EF4-FFF2-40B4-BE49-F238E27FC236}">
                <a16:creationId xmlns:a16="http://schemas.microsoft.com/office/drawing/2014/main" id="{F93E58EB-2701-7F45-5090-8FAA7C21D91F}"/>
              </a:ext>
            </a:extLst>
          </p:cNvPr>
          <p:cNvSpPr txBox="1">
            <a:spLocks/>
          </p:cNvSpPr>
          <p:nvPr/>
        </p:nvSpPr>
        <p:spPr>
          <a:xfrm>
            <a:off x="3131820" y="1988615"/>
            <a:ext cx="6916420" cy="754243"/>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dirty="0">
                <a:latin typeface="Arial"/>
                <a:cs typeface="Arial"/>
              </a:rPr>
              <a:t>Record</a:t>
            </a:r>
            <a:r>
              <a:rPr lang="en-US" sz="4400" dirty="0">
                <a:latin typeface="Arial"/>
                <a:cs typeface="Arial"/>
              </a:rPr>
              <a:t> a fraction that is </a:t>
            </a:r>
            <a:r>
              <a:rPr lang="en-US" sz="4400" b="1" dirty="0">
                <a:latin typeface="Arial"/>
                <a:cs typeface="Arial"/>
              </a:rPr>
              <a:t>smaller </a:t>
            </a:r>
            <a:r>
              <a:rPr lang="en-US" sz="4400" dirty="0">
                <a:latin typeface="Arial"/>
                <a:cs typeface="Arial"/>
              </a:rPr>
              <a:t>than one </a:t>
            </a:r>
            <a:r>
              <a:rPr lang="en-US" sz="4400" b="1" dirty="0">
                <a:latin typeface="Arial"/>
                <a:cs typeface="Arial"/>
              </a:rPr>
              <a:t>half</a:t>
            </a:r>
            <a:r>
              <a:rPr lang="en-US" sz="4400" dirty="0">
                <a:latin typeface="Arial"/>
                <a:cs typeface="Arial"/>
              </a:rPr>
              <a:t>.</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4">
            <a:extLst>
              <a:ext uri="{FF2B5EF4-FFF2-40B4-BE49-F238E27FC236}">
                <a16:creationId xmlns:a16="http://schemas.microsoft.com/office/drawing/2014/main" id="{A58172EE-9958-3CDE-D627-7EB1E821ADEB}"/>
              </a:ext>
            </a:extLst>
          </p:cNvPr>
          <p:cNvSpPr txBox="1">
            <a:spLocks/>
          </p:cNvSpPr>
          <p:nvPr/>
        </p:nvSpPr>
        <p:spPr>
          <a:xfrm>
            <a:off x="993692" y="4895536"/>
            <a:ext cx="10204616"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Which</a:t>
            </a:r>
            <a:r>
              <a:rPr lang="en-US" sz="4000" dirty="0"/>
              <a:t> of these shapes have a </a:t>
            </a:r>
            <a:r>
              <a:rPr lang="en-US" sz="4000" b="1" dirty="0"/>
              <a:t>right angle</a:t>
            </a:r>
            <a:r>
              <a:rPr lang="en-US" sz="4000" dirty="0"/>
              <a:t>?</a:t>
            </a:r>
          </a:p>
        </p:txBody>
      </p:sp>
      <p:sp>
        <p:nvSpPr>
          <p:cNvPr id="7" name="Rectangle 6" descr="rectangle">
            <a:extLst>
              <a:ext uri="{FF2B5EF4-FFF2-40B4-BE49-F238E27FC236}">
                <a16:creationId xmlns:a16="http://schemas.microsoft.com/office/drawing/2014/main" id="{F6EE5064-296C-5143-F4EE-B9933DEE5EA0}"/>
              </a:ext>
            </a:extLst>
          </p:cNvPr>
          <p:cNvSpPr/>
          <p:nvPr/>
        </p:nvSpPr>
        <p:spPr>
          <a:xfrm>
            <a:off x="245750" y="2167496"/>
            <a:ext cx="2733368" cy="1425678"/>
          </a:xfrm>
          <a:prstGeom prst="rect">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4EFD4E5A-6105-99C2-AA8C-552EDEB51751}"/>
              </a:ext>
            </a:extLst>
          </p:cNvPr>
          <p:cNvSpPr txBox="1"/>
          <p:nvPr/>
        </p:nvSpPr>
        <p:spPr>
          <a:xfrm>
            <a:off x="1322438" y="3729040"/>
            <a:ext cx="1189703" cy="971327"/>
          </a:xfrm>
          <a:prstGeom prst="rect">
            <a:avLst/>
          </a:prstGeom>
          <a:noFill/>
        </p:spPr>
        <p:txBody>
          <a:bodyPr wrap="square" lIns="0" tIns="0" rIns="0" bIns="0" rtlCol="0">
            <a:noAutofit/>
          </a:bodyPr>
          <a:lstStyle/>
          <a:p>
            <a:pPr algn="l"/>
            <a:r>
              <a:rPr lang="en-AU" sz="4000" b="1"/>
              <a:t>A</a:t>
            </a:r>
          </a:p>
        </p:txBody>
      </p:sp>
      <p:sp>
        <p:nvSpPr>
          <p:cNvPr id="10" name="Trapezoid 9" descr="trapezium">
            <a:extLst>
              <a:ext uri="{FF2B5EF4-FFF2-40B4-BE49-F238E27FC236}">
                <a16:creationId xmlns:a16="http://schemas.microsoft.com/office/drawing/2014/main" id="{4FBC9A54-A232-A678-47BA-58F30089C93E}"/>
              </a:ext>
            </a:extLst>
          </p:cNvPr>
          <p:cNvSpPr/>
          <p:nvPr/>
        </p:nvSpPr>
        <p:spPr>
          <a:xfrm>
            <a:off x="3370007" y="1826992"/>
            <a:ext cx="3195484" cy="1744193"/>
          </a:xfrm>
          <a:prstGeom prst="trapezoid">
            <a:avLst/>
          </a:prstGeom>
          <a:solidFill>
            <a:schemeClr val="tx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ED6798C7-0CBF-597A-187A-C5BA7970DB75}"/>
              </a:ext>
            </a:extLst>
          </p:cNvPr>
          <p:cNvSpPr txBox="1"/>
          <p:nvPr/>
        </p:nvSpPr>
        <p:spPr>
          <a:xfrm>
            <a:off x="4827638" y="3729039"/>
            <a:ext cx="1189703" cy="971327"/>
          </a:xfrm>
          <a:prstGeom prst="rect">
            <a:avLst/>
          </a:prstGeom>
          <a:noFill/>
        </p:spPr>
        <p:txBody>
          <a:bodyPr wrap="square" lIns="0" tIns="0" rIns="0" bIns="0" rtlCol="0">
            <a:noAutofit/>
          </a:bodyPr>
          <a:lstStyle/>
          <a:p>
            <a:pPr algn="l"/>
            <a:r>
              <a:rPr lang="en-AU" sz="4000" b="1"/>
              <a:t>B</a:t>
            </a:r>
          </a:p>
        </p:txBody>
      </p:sp>
      <p:sp>
        <p:nvSpPr>
          <p:cNvPr id="9" name="Pentagon 8" descr="pentagon">
            <a:extLst>
              <a:ext uri="{FF2B5EF4-FFF2-40B4-BE49-F238E27FC236}">
                <a16:creationId xmlns:a16="http://schemas.microsoft.com/office/drawing/2014/main" id="{184C4639-225B-DFCB-420C-B84DA68DFC21}"/>
              </a:ext>
            </a:extLst>
          </p:cNvPr>
          <p:cNvSpPr/>
          <p:nvPr/>
        </p:nvSpPr>
        <p:spPr>
          <a:xfrm>
            <a:off x="6794093" y="1398255"/>
            <a:ext cx="2566219" cy="2172930"/>
          </a:xfrm>
          <a:prstGeom prst="pentagon">
            <a:avLst/>
          </a:prstGeom>
          <a:solidFill>
            <a:schemeClr val="accent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TextBox 12">
            <a:extLst>
              <a:ext uri="{FF2B5EF4-FFF2-40B4-BE49-F238E27FC236}">
                <a16:creationId xmlns:a16="http://schemas.microsoft.com/office/drawing/2014/main" id="{AA30E634-ED3C-ED09-3518-98345CDD75AF}"/>
              </a:ext>
            </a:extLst>
          </p:cNvPr>
          <p:cNvSpPr txBox="1"/>
          <p:nvPr/>
        </p:nvSpPr>
        <p:spPr>
          <a:xfrm>
            <a:off x="8008374" y="3729038"/>
            <a:ext cx="1189703" cy="971327"/>
          </a:xfrm>
          <a:prstGeom prst="rect">
            <a:avLst/>
          </a:prstGeom>
          <a:noFill/>
        </p:spPr>
        <p:txBody>
          <a:bodyPr wrap="square" lIns="0" tIns="0" rIns="0" bIns="0" rtlCol="0">
            <a:noAutofit/>
          </a:bodyPr>
          <a:lstStyle/>
          <a:p>
            <a:pPr algn="l"/>
            <a:r>
              <a:rPr lang="en-AU" sz="4000" b="1"/>
              <a:t>C</a:t>
            </a:r>
          </a:p>
        </p:txBody>
      </p:sp>
      <p:sp>
        <p:nvSpPr>
          <p:cNvPr id="8" name="Right Triangle 7" descr="right angle triangle">
            <a:extLst>
              <a:ext uri="{FF2B5EF4-FFF2-40B4-BE49-F238E27FC236}">
                <a16:creationId xmlns:a16="http://schemas.microsoft.com/office/drawing/2014/main" id="{711734B0-14E1-C24A-5D18-9BBF2FC728EC}"/>
              </a:ext>
            </a:extLst>
          </p:cNvPr>
          <p:cNvSpPr/>
          <p:nvPr/>
        </p:nvSpPr>
        <p:spPr>
          <a:xfrm>
            <a:off x="9920804" y="1773890"/>
            <a:ext cx="2025446" cy="1759975"/>
          </a:xfrm>
          <a:prstGeom prst="rtTriangle">
            <a:avLst/>
          </a:prstGeom>
          <a:solidFill>
            <a:schemeClr val="accent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FCCA4968-2E47-3DBB-EC53-641439777FD5}"/>
              </a:ext>
            </a:extLst>
          </p:cNvPr>
          <p:cNvSpPr txBox="1"/>
          <p:nvPr/>
        </p:nvSpPr>
        <p:spPr>
          <a:xfrm>
            <a:off x="10654297" y="3729037"/>
            <a:ext cx="1189703" cy="971327"/>
          </a:xfrm>
          <a:prstGeom prst="rect">
            <a:avLst/>
          </a:prstGeom>
          <a:noFill/>
        </p:spPr>
        <p:txBody>
          <a:bodyPr wrap="square" lIns="0" tIns="0" rIns="0" bIns="0" rtlCol="0">
            <a:noAutofit/>
          </a:bodyPr>
          <a:lstStyle/>
          <a:p>
            <a:pPr algn="l"/>
            <a:r>
              <a:rPr lang="en-AU" sz="4000" b="1"/>
              <a:t>D</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Subtracting 4-digit numbers</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8" name="Group 7" descr="8 blank boxes in the form of an equation 4 boxes - 4 boxes =">
            <a:extLst>
              <a:ext uri="{FF2B5EF4-FFF2-40B4-BE49-F238E27FC236}">
                <a16:creationId xmlns:a16="http://schemas.microsoft.com/office/drawing/2014/main" id="{28D25AB1-7676-95C4-E084-603DF57AFE97}"/>
              </a:ext>
            </a:extLst>
          </p:cNvPr>
          <p:cNvGrpSpPr/>
          <p:nvPr/>
        </p:nvGrpSpPr>
        <p:grpSpPr>
          <a:xfrm>
            <a:off x="1019304" y="3697474"/>
            <a:ext cx="10363595" cy="826125"/>
            <a:chOff x="1019304" y="3697474"/>
            <a:chExt cx="10363595" cy="826125"/>
          </a:xfrm>
        </p:grpSpPr>
        <p:grpSp>
          <p:nvGrpSpPr>
            <p:cNvPr id="24" name="Group 23">
              <a:extLst>
                <a:ext uri="{FF2B5EF4-FFF2-40B4-BE49-F238E27FC236}">
                  <a16:creationId xmlns:a16="http://schemas.microsoft.com/office/drawing/2014/main" id="{9C16C734-276E-74D1-9686-E76E9B848B06}"/>
                </a:ext>
              </a:extLst>
            </p:cNvPr>
            <p:cNvGrpSpPr/>
            <p:nvPr/>
          </p:nvGrpSpPr>
          <p:grpSpPr>
            <a:xfrm>
              <a:off x="1019304" y="3697474"/>
              <a:ext cx="3777678" cy="823352"/>
              <a:chOff x="359311" y="5331524"/>
              <a:chExt cx="3777678" cy="823352"/>
            </a:xfrm>
          </p:grpSpPr>
          <p:sp>
            <p:nvSpPr>
              <p:cNvPr id="5" name="Freeform 9">
                <a:extLst>
                  <a:ext uri="{FF2B5EF4-FFF2-40B4-BE49-F238E27FC236}">
                    <a16:creationId xmlns:a16="http://schemas.microsoft.com/office/drawing/2014/main" id="{BBEFA92D-F1AC-2274-ADD5-4AA4FA0543CD}"/>
                  </a:ext>
                </a:extLst>
              </p:cNvPr>
              <p:cNvSpPr/>
              <p:nvPr/>
            </p:nvSpPr>
            <p:spPr>
              <a:xfrm>
                <a:off x="359311" y="5337376"/>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 name="Freeform 9">
                <a:extLst>
                  <a:ext uri="{FF2B5EF4-FFF2-40B4-BE49-F238E27FC236}">
                    <a16:creationId xmlns:a16="http://schemas.microsoft.com/office/drawing/2014/main" id="{B4959ACB-4E0C-FBA1-7979-9B2A51F4A476}"/>
                  </a:ext>
                </a:extLst>
              </p:cNvPr>
              <p:cNvSpPr/>
              <p:nvPr/>
            </p:nvSpPr>
            <p:spPr>
              <a:xfrm>
                <a:off x="1329076" y="5331524"/>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9">
                <a:extLst>
                  <a:ext uri="{FF2B5EF4-FFF2-40B4-BE49-F238E27FC236}">
                    <a16:creationId xmlns:a16="http://schemas.microsoft.com/office/drawing/2014/main" id="{C3564AD8-E0A8-1D98-D601-C3D5BB9074DA}"/>
                  </a:ext>
                </a:extLst>
              </p:cNvPr>
              <p:cNvSpPr/>
              <p:nvPr/>
            </p:nvSpPr>
            <p:spPr>
              <a:xfrm>
                <a:off x="2298841" y="5337376"/>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9">
                <a:extLst>
                  <a:ext uri="{FF2B5EF4-FFF2-40B4-BE49-F238E27FC236}">
                    <a16:creationId xmlns:a16="http://schemas.microsoft.com/office/drawing/2014/main" id="{6171E3A2-9279-68B6-18C1-814AD38D597C}"/>
                  </a:ext>
                </a:extLst>
              </p:cNvPr>
              <p:cNvSpPr/>
              <p:nvPr/>
            </p:nvSpPr>
            <p:spPr>
              <a:xfrm>
                <a:off x="3268607" y="5331524"/>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17" name="TextBox 16">
              <a:extLst>
                <a:ext uri="{FF2B5EF4-FFF2-40B4-BE49-F238E27FC236}">
                  <a16:creationId xmlns:a16="http://schemas.microsoft.com/office/drawing/2014/main" id="{F374093A-B281-AC36-8FD1-C90E1907D445}"/>
                </a:ext>
              </a:extLst>
            </p:cNvPr>
            <p:cNvSpPr txBox="1"/>
            <p:nvPr/>
          </p:nvSpPr>
          <p:spPr>
            <a:xfrm>
              <a:off x="4745943" y="3833423"/>
              <a:ext cx="639986" cy="545601"/>
            </a:xfrm>
            <a:prstGeom prst="rect">
              <a:avLst/>
            </a:prstGeom>
            <a:noFill/>
          </p:spPr>
          <p:txBody>
            <a:bodyPr wrap="square" lIns="0" tIns="0" rIns="0" bIns="0" rtlCol="0">
              <a:noAutofit/>
            </a:bodyPr>
            <a:lstStyle/>
            <a:p>
              <a:pPr algn="ctr"/>
              <a:r>
                <a:rPr lang="en-AU" sz="4000">
                  <a:solidFill>
                    <a:schemeClr val="accent2"/>
                  </a:solidFill>
                  <a:latin typeface="Arial" panose="020B0604020202020204" pitchFamily="34" charset="0"/>
                  <a:cs typeface="Arial" panose="020B0604020202020204" pitchFamily="34" charset="0"/>
                </a:rPr>
                <a:t>-</a:t>
              </a:r>
            </a:p>
          </p:txBody>
        </p:sp>
        <p:sp>
          <p:nvSpPr>
            <p:cNvPr id="18" name="TextBox 17">
              <a:extLst>
                <a:ext uri="{FF2B5EF4-FFF2-40B4-BE49-F238E27FC236}">
                  <a16:creationId xmlns:a16="http://schemas.microsoft.com/office/drawing/2014/main" id="{3B1192A2-F47E-DBFF-B1E7-B567FF3300A2}"/>
                </a:ext>
              </a:extLst>
            </p:cNvPr>
            <p:cNvSpPr txBox="1"/>
            <p:nvPr/>
          </p:nvSpPr>
          <p:spPr>
            <a:xfrm>
              <a:off x="9061528" y="3833422"/>
              <a:ext cx="639986" cy="545601"/>
            </a:xfrm>
            <a:prstGeom prst="rect">
              <a:avLst/>
            </a:prstGeom>
            <a:noFill/>
          </p:spPr>
          <p:txBody>
            <a:bodyPr wrap="square" lIns="0" tIns="0" rIns="0" bIns="0" rtlCol="0">
              <a:noAutofit/>
            </a:bodyPr>
            <a:lstStyle/>
            <a:p>
              <a:pPr algn="ctr"/>
              <a:r>
                <a:rPr lang="en-AU" sz="4000">
                  <a:solidFill>
                    <a:schemeClr val="accent2"/>
                  </a:solidFill>
                  <a:latin typeface="Arial" panose="020B0604020202020204" pitchFamily="34" charset="0"/>
                  <a:cs typeface="Arial" panose="020B0604020202020204" pitchFamily="34" charset="0"/>
                </a:rPr>
                <a:t>=</a:t>
              </a:r>
            </a:p>
          </p:txBody>
        </p:sp>
        <p:cxnSp>
          <p:nvCxnSpPr>
            <p:cNvPr id="19" name="Straight Connector 18">
              <a:extLst>
                <a:ext uri="{FF2B5EF4-FFF2-40B4-BE49-F238E27FC236}">
                  <a16:creationId xmlns:a16="http://schemas.microsoft.com/office/drawing/2014/main" id="{5D87ADAB-AF3B-B652-C01C-BECDF707263D}"/>
                </a:ext>
              </a:extLst>
            </p:cNvPr>
            <p:cNvCxnSpPr>
              <a:cxnSpLocks/>
            </p:cNvCxnSpPr>
            <p:nvPr/>
          </p:nvCxnSpPr>
          <p:spPr>
            <a:xfrm>
              <a:off x="9719553" y="4410955"/>
              <a:ext cx="1663346" cy="0"/>
            </a:xfrm>
            <a:prstGeom prst="line">
              <a:avLst/>
            </a:prstGeom>
            <a:ln w="12700"/>
          </p:spPr>
          <p:style>
            <a:lnRef idx="1">
              <a:schemeClr val="accent2"/>
            </a:lnRef>
            <a:fillRef idx="0">
              <a:schemeClr val="accent2"/>
            </a:fillRef>
            <a:effectRef idx="0">
              <a:schemeClr val="accent2"/>
            </a:effectRef>
            <a:fontRef idx="minor">
              <a:schemeClr val="tx1"/>
            </a:fontRef>
          </p:style>
        </p:cxnSp>
        <p:grpSp>
          <p:nvGrpSpPr>
            <p:cNvPr id="30" name="Group 29">
              <a:extLst>
                <a:ext uri="{FF2B5EF4-FFF2-40B4-BE49-F238E27FC236}">
                  <a16:creationId xmlns:a16="http://schemas.microsoft.com/office/drawing/2014/main" id="{1A490847-A107-3D4F-C6A9-5821BF2721C7}"/>
                </a:ext>
              </a:extLst>
            </p:cNvPr>
            <p:cNvGrpSpPr/>
            <p:nvPr/>
          </p:nvGrpSpPr>
          <p:grpSpPr>
            <a:xfrm>
              <a:off x="5334890" y="3700247"/>
              <a:ext cx="3777678" cy="823352"/>
              <a:chOff x="359311" y="5331524"/>
              <a:chExt cx="3777678" cy="823352"/>
            </a:xfrm>
          </p:grpSpPr>
          <p:sp>
            <p:nvSpPr>
              <p:cNvPr id="31" name="Freeform 9">
                <a:extLst>
                  <a:ext uri="{FF2B5EF4-FFF2-40B4-BE49-F238E27FC236}">
                    <a16:creationId xmlns:a16="http://schemas.microsoft.com/office/drawing/2014/main" id="{0EC8292A-5123-DDCF-C41A-1E39CCC532DE}"/>
                  </a:ext>
                </a:extLst>
              </p:cNvPr>
              <p:cNvSpPr/>
              <p:nvPr/>
            </p:nvSpPr>
            <p:spPr>
              <a:xfrm>
                <a:off x="359311" y="5337376"/>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2" name="Freeform 9">
                <a:extLst>
                  <a:ext uri="{FF2B5EF4-FFF2-40B4-BE49-F238E27FC236}">
                    <a16:creationId xmlns:a16="http://schemas.microsoft.com/office/drawing/2014/main" id="{90073F02-DB44-7915-A852-18F3B9F443BC}"/>
                  </a:ext>
                </a:extLst>
              </p:cNvPr>
              <p:cNvSpPr/>
              <p:nvPr/>
            </p:nvSpPr>
            <p:spPr>
              <a:xfrm>
                <a:off x="1329076" y="5331524"/>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3" name="Freeform 9">
                <a:extLst>
                  <a:ext uri="{FF2B5EF4-FFF2-40B4-BE49-F238E27FC236}">
                    <a16:creationId xmlns:a16="http://schemas.microsoft.com/office/drawing/2014/main" id="{E53853E8-9ABC-DF06-8C95-7378784908E0}"/>
                  </a:ext>
                </a:extLst>
              </p:cNvPr>
              <p:cNvSpPr/>
              <p:nvPr/>
            </p:nvSpPr>
            <p:spPr>
              <a:xfrm>
                <a:off x="2298841" y="5337376"/>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4" name="Freeform 9">
                <a:extLst>
                  <a:ext uri="{FF2B5EF4-FFF2-40B4-BE49-F238E27FC236}">
                    <a16:creationId xmlns:a16="http://schemas.microsoft.com/office/drawing/2014/main" id="{09EFC048-2FA6-054A-53CA-6DFC90A2C6E9}"/>
                  </a:ext>
                </a:extLst>
              </p:cNvPr>
              <p:cNvSpPr/>
              <p:nvPr/>
            </p:nvSpPr>
            <p:spPr>
              <a:xfrm>
                <a:off x="3268607" y="5331524"/>
                <a:ext cx="868382" cy="817500"/>
              </a:xfrm>
              <a:custGeom>
                <a:avLst/>
                <a:gdLst/>
                <a:ahLst/>
                <a:cxnLst/>
                <a:rect l="l" t="t" r="r" b="b"/>
                <a:pathLst>
                  <a:path w="2255641" h="2233085">
                    <a:moveTo>
                      <a:pt x="0" y="0"/>
                    </a:moveTo>
                    <a:lnTo>
                      <a:pt x="2255642" y="0"/>
                    </a:lnTo>
                    <a:lnTo>
                      <a:pt x="2255642" y="2233085"/>
                    </a:lnTo>
                    <a:lnTo>
                      <a:pt x="0" y="223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sp>
        <p:nvSpPr>
          <p:cNvPr id="20" name="Freeform 3" descr="dice">
            <a:extLst>
              <a:ext uri="{FF2B5EF4-FFF2-40B4-BE49-F238E27FC236}">
                <a16:creationId xmlns:a16="http://schemas.microsoft.com/office/drawing/2014/main" id="{C04398E8-E18C-EFD6-78C4-D95F088EE7DD}"/>
              </a:ext>
            </a:extLst>
          </p:cNvPr>
          <p:cNvSpPr/>
          <p:nvPr/>
        </p:nvSpPr>
        <p:spPr>
          <a:xfrm>
            <a:off x="461784" y="1349714"/>
            <a:ext cx="1115039" cy="1019797"/>
          </a:xfrm>
          <a:custGeom>
            <a:avLst/>
            <a:gdLst/>
            <a:ahLst/>
            <a:cxnLst/>
            <a:rect l="l" t="t" r="r" b="b"/>
            <a:pathLst>
              <a:path w="1247925" h="1141332">
                <a:moveTo>
                  <a:pt x="0" y="0"/>
                </a:moveTo>
                <a:lnTo>
                  <a:pt x="1247925" y="0"/>
                </a:lnTo>
                <a:lnTo>
                  <a:pt x="1247925" y="1141332"/>
                </a:lnTo>
                <a:lnTo>
                  <a:pt x="0" y="1141332"/>
                </a:lnTo>
                <a:lnTo>
                  <a:pt x="0" y="0"/>
                </a:lnTo>
                <a:close/>
              </a:path>
            </a:pathLst>
          </a:custGeom>
          <a:blipFill>
            <a:blip r:embed="rId6"/>
            <a:stretch>
              <a:fillRect/>
            </a:stretch>
          </a:blipFill>
        </p:spPr>
        <p:txBody>
          <a:bodyPr/>
          <a:lstStyle/>
          <a:p>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sp>
        <p:nvSpPr>
          <p:cNvPr id="5" name="Text Placeholder 4">
            <a:extLst>
              <a:ext uri="{FF2B5EF4-FFF2-40B4-BE49-F238E27FC236}">
                <a16:creationId xmlns:a16="http://schemas.microsoft.com/office/drawing/2014/main" id="{1731410E-D226-7DA9-E360-5884B47BE558}"/>
              </a:ext>
            </a:extLst>
          </p:cNvPr>
          <p:cNvSpPr txBox="1">
            <a:spLocks noGrp="1"/>
          </p:cNvSpPr>
          <p:nvPr>
            <p:ph type="body" sz="quarter" idx="22"/>
          </p:nvPr>
        </p:nvSpPr>
        <p:spPr>
          <a:xfrm>
            <a:off x="3472773" y="1693333"/>
            <a:ext cx="5019473" cy="893763"/>
          </a:xfrm>
          <a:prstGeom prst="rect">
            <a:avLst/>
          </a:prstGeom>
          <a:noFill/>
        </p:spPr>
        <p:txBody>
          <a:bodyPr wrap="square" lIns="0" tIns="0" rIns="0" bIns="0" rtlCol="0">
            <a:noAutofit/>
          </a:bodyPr>
          <a:lstStyle/>
          <a:p>
            <a:pPr algn="l"/>
            <a:r>
              <a:rPr lang="en-AU" sz="5400" dirty="0"/>
              <a:t>632 – 236 = 396 </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015765048"/>
              </p:ext>
            </p:extLst>
          </p:nvPr>
        </p:nvGraphicFramePr>
        <p:xfrm>
          <a:off x="2442981" y="442298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Box 5">
            <a:extLst>
              <a:ext uri="{FF2B5EF4-FFF2-40B4-BE49-F238E27FC236}">
                <a16:creationId xmlns:a16="http://schemas.microsoft.com/office/drawing/2014/main" id="{2AB410BB-42E1-C6AF-7E3C-FC21C9F3A57D}"/>
              </a:ext>
            </a:extLst>
          </p:cNvPr>
          <p:cNvSpPr txBox="1"/>
          <p:nvPr/>
        </p:nvSpPr>
        <p:spPr>
          <a:xfrm>
            <a:off x="1064914" y="5728559"/>
            <a:ext cx="10062171" cy="769441"/>
          </a:xfrm>
          <a:prstGeom prst="rect">
            <a:avLst/>
          </a:prstGeom>
          <a:noFill/>
        </p:spPr>
        <p:txBody>
          <a:bodyPr wrap="square">
            <a:spAutoFit/>
          </a:bodyPr>
          <a:lstStyle/>
          <a:p>
            <a:pPr algn="ctr"/>
            <a:r>
              <a:rPr lang="en-US" sz="4400" b="1"/>
              <a:t>Communicate </a:t>
            </a:r>
            <a:r>
              <a:rPr lang="en-US" sz="4400"/>
              <a:t>your </a:t>
            </a:r>
            <a:r>
              <a:rPr lang="en-US" sz="4400" b="1"/>
              <a:t>strategy</a:t>
            </a:r>
            <a:r>
              <a:rPr lang="en-US" sz="4400"/>
              <a:t>.</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a:extLst>
              <a:ext uri="{FF2B5EF4-FFF2-40B4-BE49-F238E27FC236}">
                <a16:creationId xmlns:a16="http://schemas.microsoft.com/office/drawing/2014/main" id="{B6B8916C-EC27-6464-77C1-A2C737717E1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4">
            <a:extLst>
              <a:ext uri="{FF2B5EF4-FFF2-40B4-BE49-F238E27FC236}">
                <a16:creationId xmlns:a16="http://schemas.microsoft.com/office/drawing/2014/main" id="{4E7A3D7B-0BE1-C17C-6854-0D176C46C5D4}"/>
              </a:ext>
            </a:extLst>
          </p:cNvPr>
          <p:cNvSpPr txBox="1">
            <a:spLocks/>
          </p:cNvSpPr>
          <p:nvPr/>
        </p:nvSpPr>
        <p:spPr>
          <a:xfrm>
            <a:off x="1496291" y="2015551"/>
            <a:ext cx="9958647" cy="893763"/>
          </a:xfrm>
          <a:prstGeom prst="rect">
            <a:avLst/>
          </a:prstGeom>
          <a:noFill/>
        </p:spPr>
        <p:txBody>
          <a:bodyPr vert="horz" wrap="square"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Write </a:t>
            </a:r>
            <a:r>
              <a:rPr lang="en-AU" sz="4400" b="1" dirty="0"/>
              <a:t>five and one hundred and twenty-six thousandths </a:t>
            </a:r>
            <a:r>
              <a:rPr lang="en-AU" sz="4400" dirty="0"/>
              <a:t>in </a:t>
            </a:r>
            <a:r>
              <a:rPr lang="en-AU" sz="4400" b="1" dirty="0"/>
              <a:t>decimal</a:t>
            </a:r>
            <a:r>
              <a:rPr lang="en-AU" sz="4400" dirty="0"/>
              <a:t> notation.</a:t>
            </a:r>
            <a:endParaRPr lang="en-AU" b="1" dirty="0"/>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a:extLst>
              <a:ext uri="{FF2B5EF4-FFF2-40B4-BE49-F238E27FC236}">
                <a16:creationId xmlns:a16="http://schemas.microsoft.com/office/drawing/2014/main" id="{5F20B6C4-74D6-9AE8-543F-873936583C3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4">
            <a:extLst>
              <a:ext uri="{FF2B5EF4-FFF2-40B4-BE49-F238E27FC236}">
                <a16:creationId xmlns:a16="http://schemas.microsoft.com/office/drawing/2014/main" id="{E1DF232B-6F2E-4259-CB61-38964516E999}"/>
              </a:ext>
            </a:extLst>
          </p:cNvPr>
          <p:cNvSpPr txBox="1">
            <a:spLocks/>
          </p:cNvSpPr>
          <p:nvPr/>
        </p:nvSpPr>
        <p:spPr>
          <a:xfrm>
            <a:off x="360000" y="1002110"/>
            <a:ext cx="4939794" cy="893763"/>
          </a:xfrm>
          <a:prstGeom prst="rect">
            <a:avLst/>
          </a:prstGeom>
          <a:noFill/>
        </p:spPr>
        <p:txBody>
          <a:bodyPr wrap="square"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dirty="0">
                <a:latin typeface="Arial"/>
                <a:cs typeface="Arial"/>
              </a:rPr>
              <a:t>Which bird travelled the </a:t>
            </a:r>
            <a:r>
              <a:rPr lang="en-AU" sz="4400" b="1" dirty="0">
                <a:latin typeface="Arial"/>
                <a:cs typeface="Arial"/>
              </a:rPr>
              <a:t>least</a:t>
            </a:r>
            <a:r>
              <a:rPr lang="en-AU" sz="4400" dirty="0">
                <a:latin typeface="Arial"/>
                <a:cs typeface="Arial"/>
              </a:rPr>
              <a:t> number of days?</a:t>
            </a:r>
          </a:p>
        </p:txBody>
      </p:sp>
      <p:sp>
        <p:nvSpPr>
          <p:cNvPr id="11" name="Text Placeholder 4">
            <a:extLst>
              <a:ext uri="{FF2B5EF4-FFF2-40B4-BE49-F238E27FC236}">
                <a16:creationId xmlns:a16="http://schemas.microsoft.com/office/drawing/2014/main" id="{688F6B80-FA70-523D-F26F-41381F28E790}"/>
              </a:ext>
            </a:extLst>
          </p:cNvPr>
          <p:cNvSpPr txBox="1">
            <a:spLocks/>
          </p:cNvSpPr>
          <p:nvPr/>
        </p:nvSpPr>
        <p:spPr>
          <a:xfrm>
            <a:off x="360000" y="4515246"/>
            <a:ext cx="4364400" cy="893763"/>
          </a:xfrm>
          <a:prstGeom prst="rect">
            <a:avLst/>
          </a:prstGeom>
          <a:noFill/>
        </p:spPr>
        <p:txBody>
          <a:bodyPr wrap="square"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dirty="0">
                <a:latin typeface="Arial"/>
                <a:cs typeface="Arial"/>
              </a:rPr>
              <a:t>Which bird rested the </a:t>
            </a:r>
            <a:r>
              <a:rPr lang="en-AU" sz="4400" b="1" dirty="0">
                <a:latin typeface="Arial"/>
                <a:cs typeface="Arial"/>
              </a:rPr>
              <a:t>most?</a:t>
            </a:r>
          </a:p>
        </p:txBody>
      </p:sp>
      <p:pic>
        <p:nvPicPr>
          <p:cNvPr id="5" name="Picture 4" descr="A side by side column graph.&#10;Data represented:&#10;Bird 1: 22, 17.&#10;Bird 2: 26, 64.&#10;Bird 3: 22, 0.&#10;Bird 4: 22, 0.&#10;Bird 5: 16, 35.&#10;Bird 6: 13, 34.&#10;Bird 7: 24, 55.&#10;Bird 8: 8, 0.&#10;Bird 9: 8, 0.&#10;Bird 10: 10, 3.">
            <a:extLst>
              <a:ext uri="{FF2B5EF4-FFF2-40B4-BE49-F238E27FC236}">
                <a16:creationId xmlns:a16="http://schemas.microsoft.com/office/drawing/2014/main" id="{52F5740A-8CBD-3D1F-8B14-50BFF9E8502E}"/>
              </a:ext>
            </a:extLst>
          </p:cNvPr>
          <p:cNvPicPr>
            <a:picLocks noChangeAspect="1"/>
          </p:cNvPicPr>
          <p:nvPr/>
        </p:nvPicPr>
        <p:blipFill>
          <a:blip r:embed="rId4"/>
          <a:srcRect l="4838" t="3508" r="6465" b="1819"/>
          <a:stretch>
            <a:fillRect/>
          </a:stretch>
        </p:blipFill>
        <p:spPr>
          <a:xfrm>
            <a:off x="5767862" y="1184223"/>
            <a:ext cx="5716138" cy="54958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8A1D4ECD-1F5D-5D1F-35F8-E9DC1CB7BACF}"/>
                  </a:ext>
                </a:extLst>
              </p:cNvPr>
              <p:cNvSpPr txBox="1">
                <a:spLocks/>
              </p:cNvSpPr>
              <p:nvPr/>
            </p:nvSpPr>
            <p:spPr>
              <a:xfrm>
                <a:off x="0" y="1391324"/>
                <a:ext cx="12039600" cy="893763"/>
              </a:xfrm>
              <a:prstGeom prst="rect">
                <a:avLst/>
              </a:prstGeom>
              <a:noFill/>
            </p:spPr>
            <p:txBody>
              <a:bodyPr wrap="square"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t>Michelle ate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a:latin typeface="Cambria Math" panose="02040503050406030204" pitchFamily="18" charset="0"/>
                          </a:rPr>
                          <m:t>𝟖</m:t>
                        </m:r>
                      </m:den>
                    </m:f>
                  </m:oMath>
                </a14:m>
                <a:r>
                  <a:rPr lang="en-AU" sz="4000" dirty="0"/>
                  <a:t> of a chocolate bar and Greta ate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a:latin typeface="Cambria Math" panose="02040503050406030204" pitchFamily="18" charset="0"/>
                          </a:rPr>
                          <m:t>𝟒</m:t>
                        </m:r>
                      </m:den>
                    </m:f>
                  </m:oMath>
                </a14:m>
                <a:r>
                  <a:rPr lang="en-AU" sz="4000" dirty="0"/>
                  <a:t> of another chocolate bar.</a:t>
                </a:r>
              </a:p>
              <a:p>
                <a:pPr algn="ctr"/>
                <a:r>
                  <a:rPr lang="en-AU" sz="4000" dirty="0"/>
                  <a:t>Michelle ate </a:t>
                </a:r>
                <a:r>
                  <a:rPr lang="en-AU" sz="4000" b="1" dirty="0"/>
                  <a:t>more</a:t>
                </a:r>
                <a:r>
                  <a:rPr lang="en-AU" sz="4000" dirty="0"/>
                  <a:t> chocolate than Greta. </a:t>
                </a:r>
              </a:p>
              <a:p>
                <a:pPr algn="ctr"/>
                <a:r>
                  <a:rPr lang="en-AU" sz="4000" dirty="0"/>
                  <a:t> </a:t>
                </a:r>
              </a:p>
              <a:p>
                <a:pPr algn="ctr"/>
                <a:r>
                  <a:rPr lang="en-AU" sz="4000" dirty="0"/>
                  <a:t>Draw a </a:t>
                </a:r>
                <a:r>
                  <a:rPr lang="en-AU" sz="4000" b="1" dirty="0"/>
                  <a:t>diagram</a:t>
                </a:r>
                <a:r>
                  <a:rPr lang="en-AU" sz="4000" dirty="0"/>
                  <a:t> to show how this can be </a:t>
                </a:r>
                <a:r>
                  <a:rPr lang="en-AU" sz="4000" b="1" dirty="0"/>
                  <a:t>true</a:t>
                </a:r>
                <a:r>
                  <a:rPr lang="en-AU" sz="4000" dirty="0"/>
                  <a:t>? </a:t>
                </a:r>
              </a:p>
            </p:txBody>
          </p:sp>
        </mc:Choice>
        <mc:Fallback xmlns="">
          <p:sp>
            <p:nvSpPr>
              <p:cNvPr id="5" name="Text Placeholder 4">
                <a:extLst>
                  <a:ext uri="{FF2B5EF4-FFF2-40B4-BE49-F238E27FC236}">
                    <a16:creationId xmlns:a16="http://schemas.microsoft.com/office/drawing/2014/main" id="{8A1D4ECD-1F5D-5D1F-35F8-E9DC1CB7BACF}"/>
                  </a:ext>
                </a:extLst>
              </p:cNvPr>
              <p:cNvSpPr txBox="1">
                <a:spLocks noRot="1" noChangeAspect="1" noMove="1" noResize="1" noEditPoints="1" noAdjustHandles="1" noChangeArrowheads="1" noChangeShapeType="1" noTextEdit="1"/>
              </p:cNvSpPr>
              <p:nvPr/>
            </p:nvSpPr>
            <p:spPr>
              <a:xfrm>
                <a:off x="0" y="1391324"/>
                <a:ext cx="12039600" cy="893763"/>
              </a:xfrm>
              <a:prstGeom prst="rect">
                <a:avLst/>
              </a:prstGeom>
              <a:blipFill>
                <a:blip r:embed="rId4"/>
                <a:stretch>
                  <a:fillRect r="-1215" b="-528571"/>
                </a:stretch>
              </a:blipFill>
            </p:spPr>
            <p:txBody>
              <a:bodyPr/>
              <a:lstStyle/>
              <a:p>
                <a:r>
                  <a:rPr lang="en-AU">
                    <a:noFill/>
                  </a:rPr>
                  <a:t> </a:t>
                </a:r>
              </a:p>
            </p:txBody>
          </p:sp>
        </mc:Fallback>
      </mc:AlternateContent>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EE433B55-D1EE-F931-2699-C22C16D1EF96}"/>
              </a:ext>
            </a:extLst>
          </p:cNvPr>
          <p:cNvSpPr txBox="1"/>
          <p:nvPr/>
        </p:nvSpPr>
        <p:spPr>
          <a:xfrm>
            <a:off x="351340" y="1019381"/>
            <a:ext cx="4709089" cy="4594912"/>
          </a:xfrm>
          <a:prstGeom prst="rect">
            <a:avLst/>
          </a:prstGeom>
          <a:noFill/>
        </p:spPr>
        <p:txBody>
          <a:bodyPr wrap="square">
            <a:spAutoFit/>
          </a:bodyPr>
          <a:lstStyle/>
          <a:p>
            <a:pPr algn="ctr">
              <a:lnSpc>
                <a:spcPct val="150000"/>
              </a:lnSpc>
            </a:pPr>
            <a:r>
              <a:rPr lang="en-AU" sz="4000" dirty="0"/>
              <a:t>This rectangle is made up of square centimetres. What is the </a:t>
            </a:r>
            <a:r>
              <a:rPr lang="en-AU" sz="4000" b="1" dirty="0"/>
              <a:t>area</a:t>
            </a:r>
            <a:r>
              <a:rPr lang="en-AU" sz="4000" dirty="0"/>
              <a:t> of the rectangle?</a:t>
            </a:r>
          </a:p>
        </p:txBody>
      </p:sp>
      <p:grpSp>
        <p:nvGrpSpPr>
          <p:cNvPr id="4" name="Group 3" descr="A rectangle with gridlines shown. Length is 6 cm&#10;Width is 3 cm">
            <a:extLst>
              <a:ext uri="{FF2B5EF4-FFF2-40B4-BE49-F238E27FC236}">
                <a16:creationId xmlns:a16="http://schemas.microsoft.com/office/drawing/2014/main" id="{92C78273-A271-F8DC-D286-A3E55978D538}"/>
              </a:ext>
            </a:extLst>
          </p:cNvPr>
          <p:cNvGrpSpPr/>
          <p:nvPr/>
        </p:nvGrpSpPr>
        <p:grpSpPr>
          <a:xfrm>
            <a:off x="5212033" y="1896548"/>
            <a:ext cx="6495394" cy="3361582"/>
            <a:chOff x="1456167" y="1964107"/>
            <a:chExt cx="6036378" cy="3024000"/>
          </a:xfrm>
        </p:grpSpPr>
        <p:sp>
          <p:nvSpPr>
            <p:cNvPr id="5" name="Freeform 2">
              <a:extLst>
                <a:ext uri="{FF2B5EF4-FFF2-40B4-BE49-F238E27FC236}">
                  <a16:creationId xmlns:a16="http://schemas.microsoft.com/office/drawing/2014/main" id="{1464196D-D1B6-1E8F-97FF-CBD1871397B1}"/>
                </a:ext>
              </a:extLst>
            </p:cNvPr>
            <p:cNvSpPr/>
            <p:nvPr/>
          </p:nvSpPr>
          <p:spPr>
            <a:xfrm>
              <a:off x="1456167" y="1964107"/>
              <a:ext cx="3024000" cy="3024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3">
              <a:extLst>
                <a:ext uri="{FF2B5EF4-FFF2-40B4-BE49-F238E27FC236}">
                  <a16:creationId xmlns:a16="http://schemas.microsoft.com/office/drawing/2014/main" id="{93C8F78F-9E99-887B-6E54-183E42192D56}"/>
                </a:ext>
              </a:extLst>
            </p:cNvPr>
            <p:cNvSpPr/>
            <p:nvPr/>
          </p:nvSpPr>
          <p:spPr>
            <a:xfrm>
              <a:off x="4468545" y="1964107"/>
              <a:ext cx="3024000" cy="3024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8" name="TextBox 7">
            <a:extLst>
              <a:ext uri="{FF2B5EF4-FFF2-40B4-BE49-F238E27FC236}">
                <a16:creationId xmlns:a16="http://schemas.microsoft.com/office/drawing/2014/main" id="{B4AD24D3-6C30-07D5-363B-7755272DA7BA}"/>
              </a:ext>
            </a:extLst>
          </p:cNvPr>
          <p:cNvSpPr txBox="1"/>
          <p:nvPr/>
        </p:nvSpPr>
        <p:spPr>
          <a:xfrm>
            <a:off x="1517841" y="5970456"/>
            <a:ext cx="10062171" cy="769441"/>
          </a:xfrm>
          <a:prstGeom prst="rect">
            <a:avLst/>
          </a:prstGeom>
          <a:noFill/>
        </p:spPr>
        <p:txBody>
          <a:bodyPr wrap="square">
            <a:spAutoFit/>
          </a:bodyPr>
          <a:lstStyle/>
          <a:p>
            <a:pPr algn="ctr"/>
            <a:r>
              <a:rPr lang="en-US" sz="4400" b="1" dirty="0"/>
              <a:t>Communicate </a:t>
            </a:r>
            <a:r>
              <a:rPr lang="en-US" sz="4400" dirty="0"/>
              <a:t>your </a:t>
            </a:r>
            <a:r>
              <a:rPr lang="en-US" sz="4400" b="1" dirty="0"/>
              <a:t>reasoning</a:t>
            </a:r>
            <a:r>
              <a:rPr lang="en-US" sz="4400" dirty="0"/>
              <a:t>.</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applying strategies to subtract</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1" name="Freeform 2" descr="3 dice">
            <a:extLst>
              <a:ext uri="{FF2B5EF4-FFF2-40B4-BE49-F238E27FC236}">
                <a16:creationId xmlns:a16="http://schemas.microsoft.com/office/drawing/2014/main" id="{2D53AE5A-7670-A6E6-3584-6DDD4A582174}"/>
              </a:ext>
            </a:extLst>
          </p:cNvPr>
          <p:cNvSpPr/>
          <p:nvPr/>
        </p:nvSpPr>
        <p:spPr>
          <a:xfrm>
            <a:off x="2497277" y="1587911"/>
            <a:ext cx="643674" cy="594326"/>
          </a:xfrm>
          <a:custGeom>
            <a:avLst/>
            <a:gdLst/>
            <a:ahLst/>
            <a:cxnLst/>
            <a:rect l="l" t="t" r="r" b="b"/>
            <a:pathLst>
              <a:path w="1236099" h="1141332">
                <a:moveTo>
                  <a:pt x="0" y="0"/>
                </a:moveTo>
                <a:lnTo>
                  <a:pt x="1236100" y="0"/>
                </a:lnTo>
                <a:lnTo>
                  <a:pt x="1236100" y="1141332"/>
                </a:lnTo>
                <a:lnTo>
                  <a:pt x="0" y="1141332"/>
                </a:lnTo>
                <a:lnTo>
                  <a:pt x="0" y="0"/>
                </a:lnTo>
                <a:close/>
              </a:path>
            </a:pathLst>
          </a:custGeom>
          <a:blipFill>
            <a:blip r:embed="rId4"/>
            <a:stretch>
              <a:fillRect/>
            </a:stretch>
          </a:blipFill>
        </p:spPr>
        <p:txBody>
          <a:bodyPr/>
          <a:lstStyle/>
          <a:p>
            <a:endParaRPr lang="en-AU"/>
          </a:p>
        </p:txBody>
      </p:sp>
      <p:sp>
        <p:nvSpPr>
          <p:cNvPr id="22" name="Freeform 3">
            <a:extLst>
              <a:ext uri="{FF2B5EF4-FFF2-40B4-BE49-F238E27FC236}">
                <a16:creationId xmlns:a16="http://schemas.microsoft.com/office/drawing/2014/main" id="{86A675F5-15DD-EAEE-9FCD-BE41176A5586}"/>
              </a:ext>
              <a:ext uri="{C183D7F6-B498-43B3-948B-1728B52AA6E4}">
                <adec:decorative xmlns:adec="http://schemas.microsoft.com/office/drawing/2017/decorative" val="1"/>
              </a:ext>
            </a:extLst>
          </p:cNvPr>
          <p:cNvSpPr/>
          <p:nvPr/>
        </p:nvSpPr>
        <p:spPr>
          <a:xfrm>
            <a:off x="1650426" y="1587911"/>
            <a:ext cx="649832" cy="594326"/>
          </a:xfrm>
          <a:custGeom>
            <a:avLst/>
            <a:gdLst/>
            <a:ahLst/>
            <a:cxnLst/>
            <a:rect l="l" t="t" r="r" b="b"/>
            <a:pathLst>
              <a:path w="1247925" h="1141332">
                <a:moveTo>
                  <a:pt x="0" y="0"/>
                </a:moveTo>
                <a:lnTo>
                  <a:pt x="1247925" y="0"/>
                </a:lnTo>
                <a:lnTo>
                  <a:pt x="1247925" y="1141332"/>
                </a:lnTo>
                <a:lnTo>
                  <a:pt x="0" y="1141332"/>
                </a:lnTo>
                <a:lnTo>
                  <a:pt x="0" y="0"/>
                </a:lnTo>
                <a:close/>
              </a:path>
            </a:pathLst>
          </a:custGeom>
          <a:blipFill>
            <a:blip r:embed="rId5"/>
            <a:stretch>
              <a:fillRect/>
            </a:stretch>
          </a:blipFill>
        </p:spPr>
        <p:txBody>
          <a:bodyPr/>
          <a:lstStyle/>
          <a:p>
            <a:endParaRPr lang="en-AU"/>
          </a:p>
        </p:txBody>
      </p:sp>
      <p:sp>
        <p:nvSpPr>
          <p:cNvPr id="23" name="Freeform 4">
            <a:extLst>
              <a:ext uri="{FF2B5EF4-FFF2-40B4-BE49-F238E27FC236}">
                <a16:creationId xmlns:a16="http://schemas.microsoft.com/office/drawing/2014/main" id="{B0397A79-5B17-928B-9921-79CC55F1E4FF}"/>
              </a:ext>
              <a:ext uri="{C183D7F6-B498-43B3-948B-1728B52AA6E4}">
                <adec:decorative xmlns:adec="http://schemas.microsoft.com/office/drawing/2017/decorative" val="1"/>
              </a:ext>
            </a:extLst>
          </p:cNvPr>
          <p:cNvSpPr/>
          <p:nvPr/>
        </p:nvSpPr>
        <p:spPr>
          <a:xfrm>
            <a:off x="866510" y="1587911"/>
            <a:ext cx="586897" cy="594326"/>
          </a:xfrm>
          <a:custGeom>
            <a:avLst/>
            <a:gdLst/>
            <a:ahLst/>
            <a:cxnLst/>
            <a:rect l="l" t="t" r="r" b="b"/>
            <a:pathLst>
              <a:path w="1127065" h="1141332">
                <a:moveTo>
                  <a:pt x="0" y="0"/>
                </a:moveTo>
                <a:lnTo>
                  <a:pt x="1127065" y="0"/>
                </a:lnTo>
                <a:lnTo>
                  <a:pt x="1127065" y="1141332"/>
                </a:lnTo>
                <a:lnTo>
                  <a:pt x="0" y="1141332"/>
                </a:lnTo>
                <a:lnTo>
                  <a:pt x="0" y="0"/>
                </a:lnTo>
                <a:close/>
              </a:path>
            </a:pathLst>
          </a:custGeom>
          <a:blipFill>
            <a:blip r:embed="rId6"/>
            <a:stretch>
              <a:fillRect/>
            </a:stretch>
          </a:blipFill>
        </p:spPr>
        <p:txBody>
          <a:bodyPr/>
          <a:lstStyle/>
          <a:p>
            <a:endParaRPr lang="en-AU"/>
          </a:p>
        </p:txBody>
      </p:sp>
      <p:sp>
        <p:nvSpPr>
          <p:cNvPr id="25" name="TextBox 24">
            <a:extLst>
              <a:ext uri="{FF2B5EF4-FFF2-40B4-BE49-F238E27FC236}">
                <a16:creationId xmlns:a16="http://schemas.microsoft.com/office/drawing/2014/main" id="{F6F51B88-AEFE-7A11-2C30-C10FE3659D39}"/>
              </a:ext>
            </a:extLst>
          </p:cNvPr>
          <p:cNvSpPr txBox="1"/>
          <p:nvPr/>
        </p:nvSpPr>
        <p:spPr>
          <a:xfrm>
            <a:off x="1763560" y="2582086"/>
            <a:ext cx="1341501" cy="741680"/>
          </a:xfrm>
          <a:prstGeom prst="rect">
            <a:avLst/>
          </a:prstGeom>
          <a:noFill/>
        </p:spPr>
        <p:txBody>
          <a:bodyPr wrap="square" lIns="0" tIns="0" rIns="0" bIns="0" rtlCol="0">
            <a:noAutofit/>
          </a:bodyPr>
          <a:lstStyle/>
          <a:p>
            <a:pPr algn="l"/>
            <a:r>
              <a:rPr lang="en-AU" sz="2800">
                <a:solidFill>
                  <a:schemeClr val="accent2"/>
                </a:solidFill>
              </a:rPr>
              <a:t>Roll</a:t>
            </a:r>
            <a:r>
              <a:rPr lang="en-AU" sz="1100"/>
              <a:t> </a:t>
            </a:r>
          </a:p>
        </p:txBody>
      </p:sp>
      <p:sp>
        <p:nvSpPr>
          <p:cNvPr id="24" name="Freeform 29" descr="arrow">
            <a:extLst>
              <a:ext uri="{FF2B5EF4-FFF2-40B4-BE49-F238E27FC236}">
                <a16:creationId xmlns:a16="http://schemas.microsoft.com/office/drawing/2014/main" id="{BC22E1ED-5011-88D6-3DEB-94EB94106155}"/>
              </a:ext>
            </a:extLst>
          </p:cNvPr>
          <p:cNvSpPr/>
          <p:nvPr/>
        </p:nvSpPr>
        <p:spPr>
          <a:xfrm rot="10319380" flipH="1">
            <a:off x="2619729" y="2420775"/>
            <a:ext cx="1317441" cy="650987"/>
          </a:xfrm>
          <a:custGeom>
            <a:avLst/>
            <a:gdLst/>
            <a:ahLst/>
            <a:cxnLst/>
            <a:rect l="l" t="t" r="r" b="b"/>
            <a:pathLst>
              <a:path w="3641883" h="1301973">
                <a:moveTo>
                  <a:pt x="0" y="0"/>
                </a:moveTo>
                <a:lnTo>
                  <a:pt x="3641884" y="0"/>
                </a:lnTo>
                <a:lnTo>
                  <a:pt x="3641884" y="1301973"/>
                </a:lnTo>
                <a:lnTo>
                  <a:pt x="0" y="13019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grpSp>
        <p:nvGrpSpPr>
          <p:cNvPr id="12" name="Group 11" descr="arrow">
            <a:extLst>
              <a:ext uri="{FF2B5EF4-FFF2-40B4-BE49-F238E27FC236}">
                <a16:creationId xmlns:a16="http://schemas.microsoft.com/office/drawing/2014/main" id="{42DC23D8-24E4-925D-16DE-CA7FE3301EFA}"/>
              </a:ext>
            </a:extLst>
          </p:cNvPr>
          <p:cNvGrpSpPr/>
          <p:nvPr/>
        </p:nvGrpSpPr>
        <p:grpSpPr>
          <a:xfrm>
            <a:off x="4069082" y="1619492"/>
            <a:ext cx="3637467" cy="2228087"/>
            <a:chOff x="3565973" y="1818640"/>
            <a:chExt cx="3637467" cy="2228087"/>
          </a:xfrm>
        </p:grpSpPr>
        <p:sp>
          <p:nvSpPr>
            <p:cNvPr id="3" name="TextBox 2">
              <a:extLst>
                <a:ext uri="{FF2B5EF4-FFF2-40B4-BE49-F238E27FC236}">
                  <a16:creationId xmlns:a16="http://schemas.microsoft.com/office/drawing/2014/main" id="{FCD949B6-1FD6-161D-E47E-ABC7FFBD4D99}"/>
                </a:ext>
              </a:extLst>
            </p:cNvPr>
            <p:cNvSpPr txBox="1"/>
            <p:nvPr/>
          </p:nvSpPr>
          <p:spPr>
            <a:xfrm>
              <a:off x="3565973" y="1840321"/>
              <a:ext cx="975360" cy="741680"/>
            </a:xfrm>
            <a:prstGeom prst="rect">
              <a:avLst/>
            </a:prstGeom>
            <a:noFill/>
          </p:spPr>
          <p:txBody>
            <a:bodyPr wrap="square" lIns="0" tIns="0" rIns="0" bIns="0" rtlCol="0">
              <a:noAutofit/>
            </a:bodyPr>
            <a:lstStyle/>
            <a:p>
              <a:pPr algn="l"/>
              <a:r>
                <a:rPr lang="en-AU" sz="4400"/>
                <a:t>632</a:t>
              </a:r>
              <a:r>
                <a:rPr lang="en-AU" sz="1800"/>
                <a:t> </a:t>
              </a:r>
            </a:p>
          </p:txBody>
        </p:sp>
        <p:sp>
          <p:nvSpPr>
            <p:cNvPr id="5" name="TextBox 4">
              <a:extLst>
                <a:ext uri="{FF2B5EF4-FFF2-40B4-BE49-F238E27FC236}">
                  <a16:creationId xmlns:a16="http://schemas.microsoft.com/office/drawing/2014/main" id="{53EECE9F-2B93-1C86-CEBE-073FFED4370B}"/>
                </a:ext>
              </a:extLst>
            </p:cNvPr>
            <p:cNvSpPr txBox="1"/>
            <p:nvPr/>
          </p:nvSpPr>
          <p:spPr>
            <a:xfrm>
              <a:off x="6228080" y="1818640"/>
              <a:ext cx="975360" cy="741680"/>
            </a:xfrm>
            <a:prstGeom prst="rect">
              <a:avLst/>
            </a:prstGeom>
            <a:noFill/>
          </p:spPr>
          <p:txBody>
            <a:bodyPr wrap="square" lIns="0" tIns="0" rIns="0" bIns="0" rtlCol="0">
              <a:noAutofit/>
            </a:bodyPr>
            <a:lstStyle/>
            <a:p>
              <a:pPr algn="l"/>
              <a:r>
                <a:rPr lang="en-AU" sz="4400"/>
                <a:t>236</a:t>
              </a:r>
              <a:endParaRPr lang="en-AU" sz="1800"/>
            </a:p>
          </p:txBody>
        </p:sp>
        <p:sp>
          <p:nvSpPr>
            <p:cNvPr id="7" name="Freeform 29">
              <a:extLst>
                <a:ext uri="{FF2B5EF4-FFF2-40B4-BE49-F238E27FC236}">
                  <a16:creationId xmlns:a16="http://schemas.microsoft.com/office/drawing/2014/main" id="{F7DA1505-C491-3EC1-3071-7C734EC09D32}"/>
                </a:ext>
              </a:extLst>
            </p:cNvPr>
            <p:cNvSpPr/>
            <p:nvPr/>
          </p:nvSpPr>
          <p:spPr>
            <a:xfrm rot="10569010" flipH="1">
              <a:off x="4642692" y="2606683"/>
              <a:ext cx="1402941" cy="650987"/>
            </a:xfrm>
            <a:custGeom>
              <a:avLst/>
              <a:gdLst/>
              <a:ahLst/>
              <a:cxnLst/>
              <a:rect l="l" t="t" r="r" b="b"/>
              <a:pathLst>
                <a:path w="3641883" h="1301973">
                  <a:moveTo>
                    <a:pt x="0" y="0"/>
                  </a:moveTo>
                  <a:lnTo>
                    <a:pt x="3641884" y="0"/>
                  </a:lnTo>
                  <a:lnTo>
                    <a:pt x="3641884" y="1301973"/>
                  </a:lnTo>
                  <a:lnTo>
                    <a:pt x="0" y="1301973"/>
                  </a:lnTo>
                  <a:lnTo>
                    <a:pt x="0" y="0"/>
                  </a:lnTo>
                  <a:close/>
                </a:path>
              </a:pathLst>
            </a:custGeom>
            <a:blipFill>
              <a:blip r:embed="rId7">
                <a:extLst>
                  <a:ext uri="{96DAC541-7B7A-43D3-8B79-37D633B846F1}">
                    <asvg:svgBlip xmlns:asvg="http://schemas.microsoft.com/office/drawing/2016/SVG/main" r:embed="rId9"/>
                  </a:ext>
                </a:extLst>
              </a:blip>
              <a:stretch>
                <a:fillRect/>
              </a:stretch>
            </a:blipFill>
          </p:spPr>
          <p:txBody>
            <a:bodyPr/>
            <a:lstStyle/>
            <a:p>
              <a:endParaRPr lang="en-AU"/>
            </a:p>
          </p:txBody>
        </p:sp>
        <p:sp>
          <p:nvSpPr>
            <p:cNvPr id="8" name="TextBox 7">
              <a:extLst>
                <a:ext uri="{FF2B5EF4-FFF2-40B4-BE49-F238E27FC236}">
                  <a16:creationId xmlns:a16="http://schemas.microsoft.com/office/drawing/2014/main" id="{08E716D3-D513-2B31-E787-7F06F4B92BD7}"/>
                </a:ext>
              </a:extLst>
            </p:cNvPr>
            <p:cNvSpPr txBox="1"/>
            <p:nvPr/>
          </p:nvSpPr>
          <p:spPr>
            <a:xfrm>
              <a:off x="4622421" y="3305047"/>
              <a:ext cx="1341501" cy="741680"/>
            </a:xfrm>
            <a:prstGeom prst="rect">
              <a:avLst/>
            </a:prstGeom>
            <a:noFill/>
          </p:spPr>
          <p:txBody>
            <a:bodyPr wrap="square" lIns="0" tIns="0" rIns="0" bIns="0" rtlCol="0">
              <a:noAutofit/>
            </a:bodyPr>
            <a:lstStyle/>
            <a:p>
              <a:pPr algn="l"/>
              <a:r>
                <a:rPr lang="en-AU" sz="2800">
                  <a:solidFill>
                    <a:schemeClr val="accent2"/>
                  </a:solidFill>
                </a:rPr>
                <a:t>Reverse</a:t>
              </a:r>
              <a:r>
                <a:rPr lang="en-AU" sz="1100"/>
                <a:t> </a:t>
              </a:r>
            </a:p>
          </p:txBody>
        </p:sp>
      </p:grpSp>
      <p:sp>
        <p:nvSpPr>
          <p:cNvPr id="20" name="TextBox 19">
            <a:extLst>
              <a:ext uri="{FF2B5EF4-FFF2-40B4-BE49-F238E27FC236}">
                <a16:creationId xmlns:a16="http://schemas.microsoft.com/office/drawing/2014/main" id="{BF600E28-1261-6CD3-3FFE-999ED36C18BD}"/>
              </a:ext>
            </a:extLst>
          </p:cNvPr>
          <p:cNvSpPr txBox="1"/>
          <p:nvPr/>
        </p:nvSpPr>
        <p:spPr>
          <a:xfrm>
            <a:off x="8700911" y="2269644"/>
            <a:ext cx="1341501" cy="741680"/>
          </a:xfrm>
          <a:prstGeom prst="rect">
            <a:avLst/>
          </a:prstGeom>
          <a:noFill/>
        </p:spPr>
        <p:txBody>
          <a:bodyPr wrap="square" lIns="0" tIns="0" rIns="0" bIns="0" rtlCol="0">
            <a:noAutofit/>
          </a:bodyPr>
          <a:lstStyle/>
          <a:p>
            <a:pPr algn="l"/>
            <a:r>
              <a:rPr lang="en-AU" sz="2800">
                <a:solidFill>
                  <a:schemeClr val="accent2"/>
                </a:solidFill>
              </a:rPr>
              <a:t>Subtract</a:t>
            </a:r>
            <a:r>
              <a:rPr lang="en-AU" sz="1100"/>
              <a:t> </a:t>
            </a:r>
          </a:p>
        </p:txBody>
      </p:sp>
      <p:sp>
        <p:nvSpPr>
          <p:cNvPr id="19" name="Freeform 29" descr="arrow">
            <a:extLst>
              <a:ext uri="{FF2B5EF4-FFF2-40B4-BE49-F238E27FC236}">
                <a16:creationId xmlns:a16="http://schemas.microsoft.com/office/drawing/2014/main" id="{91A81A73-2408-CA0A-4072-85F672A6EB91}"/>
              </a:ext>
            </a:extLst>
          </p:cNvPr>
          <p:cNvSpPr/>
          <p:nvPr/>
        </p:nvSpPr>
        <p:spPr>
          <a:xfrm rot="5400000">
            <a:off x="7793371" y="2685831"/>
            <a:ext cx="1102598" cy="650987"/>
          </a:xfrm>
          <a:custGeom>
            <a:avLst/>
            <a:gdLst/>
            <a:ahLst/>
            <a:cxnLst/>
            <a:rect l="l" t="t" r="r" b="b"/>
            <a:pathLst>
              <a:path w="3641883" h="1301973">
                <a:moveTo>
                  <a:pt x="0" y="0"/>
                </a:moveTo>
                <a:lnTo>
                  <a:pt x="3641884" y="0"/>
                </a:lnTo>
                <a:lnTo>
                  <a:pt x="3641884" y="1301973"/>
                </a:lnTo>
                <a:lnTo>
                  <a:pt x="0" y="13019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9" name="TextBox 8">
            <a:extLst>
              <a:ext uri="{FF2B5EF4-FFF2-40B4-BE49-F238E27FC236}">
                <a16:creationId xmlns:a16="http://schemas.microsoft.com/office/drawing/2014/main" id="{9A6CAA69-A08F-E927-DEF9-6DCB9A3ABB9E}"/>
              </a:ext>
            </a:extLst>
          </p:cNvPr>
          <p:cNvSpPr txBox="1"/>
          <p:nvPr/>
        </p:nvSpPr>
        <p:spPr>
          <a:xfrm>
            <a:off x="4069082" y="4146294"/>
            <a:ext cx="4236720" cy="741680"/>
          </a:xfrm>
          <a:prstGeom prst="rect">
            <a:avLst/>
          </a:prstGeom>
          <a:noFill/>
        </p:spPr>
        <p:txBody>
          <a:bodyPr wrap="square" lIns="0" tIns="0" rIns="0" bIns="0" rtlCol="0">
            <a:noAutofit/>
          </a:bodyPr>
          <a:lstStyle/>
          <a:p>
            <a:pPr algn="l"/>
            <a:r>
              <a:rPr lang="en-AU" sz="4400"/>
              <a:t>632 – 236 = 396</a:t>
            </a:r>
            <a:r>
              <a:rPr lang="en-AU" sz="1800"/>
              <a:t> </a:t>
            </a:r>
          </a:p>
        </p:txBody>
      </p:sp>
      <p:sp>
        <p:nvSpPr>
          <p:cNvPr id="10" name="Freeform 29" descr="arrow">
            <a:extLst>
              <a:ext uri="{FF2B5EF4-FFF2-40B4-BE49-F238E27FC236}">
                <a16:creationId xmlns:a16="http://schemas.microsoft.com/office/drawing/2014/main" id="{60CAD535-1F8C-A606-21BF-B23C5E3027DD}"/>
              </a:ext>
            </a:extLst>
          </p:cNvPr>
          <p:cNvSpPr/>
          <p:nvPr/>
        </p:nvSpPr>
        <p:spPr>
          <a:xfrm rot="5400000">
            <a:off x="7824118" y="5125729"/>
            <a:ext cx="1102598" cy="650987"/>
          </a:xfrm>
          <a:custGeom>
            <a:avLst/>
            <a:gdLst/>
            <a:ahLst/>
            <a:cxnLst/>
            <a:rect l="l" t="t" r="r" b="b"/>
            <a:pathLst>
              <a:path w="3641883" h="1301973">
                <a:moveTo>
                  <a:pt x="0" y="0"/>
                </a:moveTo>
                <a:lnTo>
                  <a:pt x="3641884" y="0"/>
                </a:lnTo>
                <a:lnTo>
                  <a:pt x="3641884" y="1301973"/>
                </a:lnTo>
                <a:lnTo>
                  <a:pt x="0" y="13019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1" name="TextBox 10">
            <a:extLst>
              <a:ext uri="{FF2B5EF4-FFF2-40B4-BE49-F238E27FC236}">
                <a16:creationId xmlns:a16="http://schemas.microsoft.com/office/drawing/2014/main" id="{C3E55A4F-F553-6E70-7303-3EE4E27A7553}"/>
              </a:ext>
            </a:extLst>
          </p:cNvPr>
          <p:cNvSpPr txBox="1"/>
          <p:nvPr/>
        </p:nvSpPr>
        <p:spPr>
          <a:xfrm>
            <a:off x="8824821" y="4961504"/>
            <a:ext cx="1341501" cy="741680"/>
          </a:xfrm>
          <a:prstGeom prst="rect">
            <a:avLst/>
          </a:prstGeom>
          <a:noFill/>
        </p:spPr>
        <p:txBody>
          <a:bodyPr wrap="square" lIns="0" tIns="0" rIns="0" bIns="0" rtlCol="0">
            <a:noAutofit/>
          </a:bodyPr>
          <a:lstStyle/>
          <a:p>
            <a:pPr algn="l"/>
            <a:r>
              <a:rPr lang="en-AU" sz="2800">
                <a:solidFill>
                  <a:schemeClr val="accent2"/>
                </a:solidFill>
              </a:rPr>
              <a:t>Repeat</a:t>
            </a:r>
            <a:r>
              <a:rPr lang="en-AU" sz="1100"/>
              <a:t> </a:t>
            </a:r>
          </a:p>
        </p:txBody>
      </p:sp>
      <p:sp>
        <p:nvSpPr>
          <p:cNvPr id="13" name="TextBox 12">
            <a:extLst>
              <a:ext uri="{FF2B5EF4-FFF2-40B4-BE49-F238E27FC236}">
                <a16:creationId xmlns:a16="http://schemas.microsoft.com/office/drawing/2014/main" id="{6C9F5069-AADB-DC5D-841C-7C9CBAF27062}"/>
              </a:ext>
            </a:extLst>
          </p:cNvPr>
          <p:cNvSpPr txBox="1"/>
          <p:nvPr/>
        </p:nvSpPr>
        <p:spPr>
          <a:xfrm>
            <a:off x="4586519" y="5611020"/>
            <a:ext cx="3664757" cy="741680"/>
          </a:xfrm>
          <a:prstGeom prst="rect">
            <a:avLst/>
          </a:prstGeom>
          <a:noFill/>
        </p:spPr>
        <p:txBody>
          <a:bodyPr wrap="square" lIns="0" tIns="0" rIns="0" bIns="0" rtlCol="0">
            <a:noAutofit/>
          </a:bodyPr>
          <a:lstStyle/>
          <a:p>
            <a:pPr algn="l"/>
            <a:r>
              <a:rPr lang="en-AU" sz="4400"/>
              <a:t>693 – 396 = </a:t>
            </a:r>
            <a:r>
              <a:rPr lang="en-AU" sz="1800"/>
              <a:t> </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latin typeface="Arial"/>
                <a:cs typeface="Arial"/>
              </a:rPr>
              <a:t>Multiple choice </a:t>
            </a:r>
            <a:r>
              <a:rPr lang="en-US">
                <a:solidFill>
                  <a:schemeClr val="bg1"/>
                </a:solidFill>
                <a:latin typeface="Arial"/>
                <a:cs typeface="Arial"/>
              </a:rPr>
              <a:t>(3)</a:t>
            </a:r>
          </a:p>
        </p:txBody>
      </p:sp>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345306" y="886691"/>
            <a:ext cx="11846694" cy="754243"/>
          </a:xfrm>
        </p:spPr>
        <p:txBody>
          <a:bodyPr vert="horz" lIns="0" tIns="0" rIns="0" bIns="0" rtlCol="0" anchor="t">
            <a:noAutofit/>
          </a:bodyPr>
          <a:lstStyle/>
          <a:p>
            <a:r>
              <a:rPr lang="en-US" sz="4000" dirty="0">
                <a:latin typeface="Arial"/>
                <a:cs typeface="Arial"/>
              </a:rPr>
              <a:t>Which of these numbers are </a:t>
            </a:r>
            <a:r>
              <a:rPr lang="en-US" sz="4000" b="1" dirty="0">
                <a:latin typeface="Arial"/>
                <a:cs typeface="Arial"/>
              </a:rPr>
              <a:t>larger</a:t>
            </a:r>
            <a:r>
              <a:rPr lang="en-US" sz="4000" dirty="0">
                <a:latin typeface="Arial"/>
                <a:cs typeface="Arial"/>
              </a:rPr>
              <a:t> than </a:t>
            </a:r>
            <a:r>
              <a:rPr lang="en-US" sz="4000" b="1" dirty="0">
                <a:latin typeface="Arial"/>
                <a:cs typeface="Arial"/>
              </a:rPr>
              <a:t>74 312 98</a:t>
            </a:r>
            <a:r>
              <a:rPr lang="en-US" sz="4000" dirty="0">
                <a:latin typeface="Arial"/>
                <a:cs typeface="Arial"/>
              </a:rPr>
              <a:t>?  You may select </a:t>
            </a:r>
            <a:r>
              <a:rPr lang="en-US" sz="4000" b="1" dirty="0">
                <a:latin typeface="Arial"/>
                <a:cs typeface="Arial"/>
              </a:rPr>
              <a:t>more than one </a:t>
            </a:r>
            <a:r>
              <a:rPr lang="en-US" sz="4000" dirty="0">
                <a:latin typeface="Arial"/>
                <a:cs typeface="Arial"/>
              </a:rPr>
              <a:t>answer.</a:t>
            </a:r>
          </a:p>
          <a:p>
            <a:endParaRPr lang="en-US" sz="4400" dirty="0"/>
          </a:p>
        </p:txBody>
      </p:sp>
      <p:sp>
        <p:nvSpPr>
          <p:cNvPr id="9" name="TextBox 8">
            <a:extLst>
              <a:ext uri="{FF2B5EF4-FFF2-40B4-BE49-F238E27FC236}">
                <a16:creationId xmlns:a16="http://schemas.microsoft.com/office/drawing/2014/main" id="{9DAA2006-ADB4-D15B-B158-97DC39D26683}"/>
              </a:ext>
            </a:extLst>
          </p:cNvPr>
          <p:cNvSpPr txBox="1"/>
          <p:nvPr/>
        </p:nvSpPr>
        <p:spPr>
          <a:xfrm>
            <a:off x="670556" y="29096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45520" y="2877704"/>
            <a:ext cx="10175920" cy="641396"/>
          </a:xfrm>
        </p:spPr>
        <p:txBody>
          <a:bodyPr anchor="ctr"/>
          <a:lstStyle/>
          <a:p>
            <a:r>
              <a:rPr lang="en-US" sz="3600"/>
              <a:t>47 312 982</a:t>
            </a:r>
          </a:p>
        </p:txBody>
      </p:sp>
      <p:sp>
        <p:nvSpPr>
          <p:cNvPr id="10" name="TextBox 9">
            <a:extLst>
              <a:ext uri="{FF2B5EF4-FFF2-40B4-BE49-F238E27FC236}">
                <a16:creationId xmlns:a16="http://schemas.microsoft.com/office/drawing/2014/main" id="{BF8FF86A-8259-4B6A-DD05-B5338957EDC3}"/>
              </a:ext>
            </a:extLst>
          </p:cNvPr>
          <p:cNvSpPr txBox="1"/>
          <p:nvPr/>
        </p:nvSpPr>
        <p:spPr>
          <a:xfrm>
            <a:off x="670556" y="37685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45520" y="3725617"/>
            <a:ext cx="10175920" cy="641396"/>
          </a:xfrm>
        </p:spPr>
        <p:txBody>
          <a:bodyPr anchor="ctr"/>
          <a:lstStyle/>
          <a:p>
            <a:r>
              <a:rPr lang="en-US" sz="3600" dirty="0">
                <a:cs typeface="Arial"/>
              </a:rPr>
              <a:t>93 321 999</a:t>
            </a:r>
          </a:p>
        </p:txBody>
      </p:sp>
      <p:sp>
        <p:nvSpPr>
          <p:cNvPr id="12" name="TextBox 11">
            <a:extLst>
              <a:ext uri="{FF2B5EF4-FFF2-40B4-BE49-F238E27FC236}">
                <a16:creationId xmlns:a16="http://schemas.microsoft.com/office/drawing/2014/main" id="{BF4B35E9-90ED-91CF-6E7D-3023EE60AD9E}"/>
              </a:ext>
            </a:extLst>
          </p:cNvPr>
          <p:cNvSpPr txBox="1"/>
          <p:nvPr/>
        </p:nvSpPr>
        <p:spPr>
          <a:xfrm>
            <a:off x="670556" y="46274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45520" y="4575670"/>
            <a:ext cx="10175920" cy="641396"/>
          </a:xfrm>
        </p:spPr>
        <p:txBody>
          <a:bodyPr anchor="ctr"/>
          <a:lstStyle/>
          <a:p>
            <a:r>
              <a:rPr lang="en-US" sz="3600"/>
              <a:t>74 312 991</a:t>
            </a:r>
          </a:p>
        </p:txBody>
      </p:sp>
      <p:sp>
        <p:nvSpPr>
          <p:cNvPr id="11" name="TextBox 10">
            <a:extLst>
              <a:ext uri="{FF2B5EF4-FFF2-40B4-BE49-F238E27FC236}">
                <a16:creationId xmlns:a16="http://schemas.microsoft.com/office/drawing/2014/main" id="{CD2988DB-B474-6203-5DD2-06443FE29ECF}"/>
              </a:ext>
            </a:extLst>
          </p:cNvPr>
          <p:cNvSpPr txBox="1"/>
          <p:nvPr/>
        </p:nvSpPr>
        <p:spPr>
          <a:xfrm>
            <a:off x="670557" y="54863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45520" y="5425723"/>
            <a:ext cx="10175920" cy="641396"/>
          </a:xfrm>
        </p:spPr>
        <p:txBody>
          <a:bodyPr anchor="ctr"/>
          <a:lstStyle/>
          <a:p>
            <a:r>
              <a:rPr lang="en-US" sz="3600" dirty="0"/>
              <a:t>7 431 299</a:t>
            </a:r>
          </a:p>
        </p:txBody>
      </p:sp>
      <p:pic>
        <p:nvPicPr>
          <p:cNvPr id="4" name="Picture 3">
            <a:extLst>
              <a:ext uri="{FF2B5EF4-FFF2-40B4-BE49-F238E27FC236}">
                <a16:creationId xmlns:a16="http://schemas.microsoft.com/office/drawing/2014/main" id="{A4D93B1C-8640-0057-E118-4A82C11676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5514C41D-5ADC-398F-C959-C7E61C432F27}"/>
              </a:ext>
            </a:extLst>
          </p:cNvPr>
          <p:cNvSpPr txBox="1"/>
          <p:nvPr/>
        </p:nvSpPr>
        <p:spPr>
          <a:xfrm>
            <a:off x="1237567" y="6045256"/>
            <a:ext cx="10062171" cy="707886"/>
          </a:xfrm>
          <a:prstGeom prst="rect">
            <a:avLst/>
          </a:prstGeom>
          <a:noFill/>
        </p:spPr>
        <p:txBody>
          <a:bodyPr wrap="square">
            <a:spAutoFit/>
          </a:bodyPr>
          <a:lstStyle/>
          <a:p>
            <a:pPr algn="ctr"/>
            <a:r>
              <a:rPr lang="en-US" sz="4000" b="1" dirty="0"/>
              <a:t>Communicate </a:t>
            </a:r>
            <a:r>
              <a:rPr lang="en-US" sz="4000" dirty="0"/>
              <a:t>your </a:t>
            </a:r>
            <a:r>
              <a:rPr lang="en-US" sz="4000" b="1" dirty="0"/>
              <a:t>reasoning </a:t>
            </a:r>
            <a:r>
              <a:rPr lang="en-US" sz="4000" dirty="0"/>
              <a:t>.</a:t>
            </a:r>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E22FF616-D1A0-AD4A-1B12-F160BCE43F08}"/>
              </a:ext>
            </a:extLst>
          </p:cNvPr>
          <p:cNvSpPr txBox="1">
            <a:spLocks/>
          </p:cNvSpPr>
          <p:nvPr/>
        </p:nvSpPr>
        <p:spPr>
          <a:xfrm>
            <a:off x="2669039" y="1790179"/>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Which decimal is </a:t>
            </a:r>
            <a:r>
              <a:rPr lang="en-US" sz="4400" b="1" dirty="0"/>
              <a:t>larger</a:t>
            </a:r>
            <a:r>
              <a:rPr lang="en-US" sz="4400" dirty="0"/>
              <a:t>?</a:t>
            </a:r>
          </a:p>
        </p:txBody>
      </p:sp>
      <p:sp>
        <p:nvSpPr>
          <p:cNvPr id="5" name="Text Placeholder 14">
            <a:extLst>
              <a:ext uri="{FF2B5EF4-FFF2-40B4-BE49-F238E27FC236}">
                <a16:creationId xmlns:a16="http://schemas.microsoft.com/office/drawing/2014/main" id="{3B251DFF-495E-FB88-4ECF-163397478E75}"/>
              </a:ext>
            </a:extLst>
          </p:cNvPr>
          <p:cNvSpPr txBox="1">
            <a:spLocks/>
          </p:cNvSpPr>
          <p:nvPr/>
        </p:nvSpPr>
        <p:spPr>
          <a:xfrm>
            <a:off x="3740195" y="3429000"/>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dirty="0"/>
              <a:t>0.578</a:t>
            </a:r>
            <a:r>
              <a:rPr lang="en-US" sz="4400" dirty="0"/>
              <a:t>  or  </a:t>
            </a:r>
            <a:r>
              <a:rPr lang="en-US" sz="4400" b="1" dirty="0"/>
              <a:t>0.6</a:t>
            </a:r>
            <a:r>
              <a:rPr lang="en-US" sz="4400" dirty="0"/>
              <a:t>  </a:t>
            </a:r>
          </a:p>
        </p:txBody>
      </p:sp>
      <p:sp>
        <p:nvSpPr>
          <p:cNvPr id="7" name="TextBox 6">
            <a:extLst>
              <a:ext uri="{FF2B5EF4-FFF2-40B4-BE49-F238E27FC236}">
                <a16:creationId xmlns:a16="http://schemas.microsoft.com/office/drawing/2014/main" id="{427AA384-389D-94F7-10E9-7B1F81F5707D}"/>
              </a:ext>
            </a:extLst>
          </p:cNvPr>
          <p:cNvSpPr txBox="1"/>
          <p:nvPr/>
        </p:nvSpPr>
        <p:spPr>
          <a:xfrm>
            <a:off x="1064914" y="5728559"/>
            <a:ext cx="10062171" cy="769441"/>
          </a:xfrm>
          <a:prstGeom prst="rect">
            <a:avLst/>
          </a:prstGeom>
          <a:noFill/>
        </p:spPr>
        <p:txBody>
          <a:bodyPr wrap="square">
            <a:spAutoFit/>
          </a:bodyPr>
          <a:lstStyle/>
          <a:p>
            <a:pPr algn="ctr"/>
            <a:r>
              <a:rPr lang="en-US" sz="4400" b="1"/>
              <a:t>Communicate </a:t>
            </a:r>
            <a:r>
              <a:rPr lang="en-US" sz="4400"/>
              <a:t>your </a:t>
            </a:r>
            <a:r>
              <a:rPr lang="en-US" sz="4400" b="1"/>
              <a:t>reasoning</a:t>
            </a:r>
            <a:r>
              <a:rPr lang="en-US" sz="440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a:extLst>
              <a:ext uri="{FF2B5EF4-FFF2-40B4-BE49-F238E27FC236}">
                <a16:creationId xmlns:a16="http://schemas.microsoft.com/office/drawing/2014/main" id="{E34FFB15-F7DE-0945-FB9C-D8A36F224B6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0" name="Text Placeholder 14">
            <a:extLst>
              <a:ext uri="{FF2B5EF4-FFF2-40B4-BE49-F238E27FC236}">
                <a16:creationId xmlns:a16="http://schemas.microsoft.com/office/drawing/2014/main" id="{79BC679A-6243-AEDD-2827-FB77ED6BD509}"/>
              </a:ext>
            </a:extLst>
          </p:cNvPr>
          <p:cNvSpPr txBox="1">
            <a:spLocks/>
          </p:cNvSpPr>
          <p:nvPr/>
        </p:nvSpPr>
        <p:spPr>
          <a:xfrm>
            <a:off x="6507841" y="823974"/>
            <a:ext cx="4249918"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accent1"/>
                </a:solidFill>
              </a:rPr>
              <a:t>Australian TV broadcasting</a:t>
            </a:r>
          </a:p>
        </p:txBody>
      </p:sp>
      <p:sp>
        <p:nvSpPr>
          <p:cNvPr id="48" name="Text Placeholder 14">
            <a:extLst>
              <a:ext uri="{FF2B5EF4-FFF2-40B4-BE49-F238E27FC236}">
                <a16:creationId xmlns:a16="http://schemas.microsoft.com/office/drawing/2014/main" id="{12C872FE-8AD4-0FFE-BB22-A29BAF02E227}"/>
              </a:ext>
            </a:extLst>
          </p:cNvPr>
          <p:cNvSpPr txBox="1">
            <a:spLocks/>
          </p:cNvSpPr>
          <p:nvPr/>
        </p:nvSpPr>
        <p:spPr>
          <a:xfrm>
            <a:off x="146540" y="961209"/>
            <a:ext cx="4757778" cy="754243"/>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latin typeface="Arial"/>
                <a:cs typeface="Arial"/>
              </a:rPr>
              <a:t>Phil thinks that the opening of the Opera House occurred </a:t>
            </a:r>
            <a:r>
              <a:rPr lang="en-US" sz="2800" b="1" dirty="0">
                <a:latin typeface="Arial"/>
                <a:cs typeface="Arial"/>
              </a:rPr>
              <a:t>before</a:t>
            </a:r>
            <a:r>
              <a:rPr lang="en-US" sz="2800" dirty="0">
                <a:latin typeface="Arial"/>
                <a:cs typeface="Arial"/>
              </a:rPr>
              <a:t> the Apollo moon landing and </a:t>
            </a:r>
            <a:r>
              <a:rPr lang="en-US" sz="2800" b="1" dirty="0">
                <a:latin typeface="Arial"/>
                <a:cs typeface="Arial"/>
              </a:rPr>
              <a:t>after</a:t>
            </a:r>
            <a:r>
              <a:rPr lang="en-US" sz="2800" dirty="0">
                <a:latin typeface="Arial"/>
                <a:cs typeface="Arial"/>
              </a:rPr>
              <a:t> </a:t>
            </a:r>
            <a:r>
              <a:rPr lang="en-US" sz="2800" dirty="0" err="1">
                <a:latin typeface="Arial"/>
                <a:cs typeface="Arial"/>
              </a:rPr>
              <a:t>colour</a:t>
            </a:r>
            <a:r>
              <a:rPr lang="en-US" sz="2800" dirty="0">
                <a:latin typeface="Arial"/>
                <a:cs typeface="Arial"/>
              </a:rPr>
              <a:t> television was launched. </a:t>
            </a:r>
          </a:p>
        </p:txBody>
      </p:sp>
      <p:sp>
        <p:nvSpPr>
          <p:cNvPr id="49" name="Text Placeholder 14">
            <a:extLst>
              <a:ext uri="{FF2B5EF4-FFF2-40B4-BE49-F238E27FC236}">
                <a16:creationId xmlns:a16="http://schemas.microsoft.com/office/drawing/2014/main" id="{40020898-A9F1-1AB4-7B78-579380400C1A}"/>
              </a:ext>
            </a:extLst>
          </p:cNvPr>
          <p:cNvSpPr txBox="1">
            <a:spLocks/>
          </p:cNvSpPr>
          <p:nvPr/>
        </p:nvSpPr>
        <p:spPr>
          <a:xfrm>
            <a:off x="88132" y="5142548"/>
            <a:ext cx="4865928"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Do you agree?</a:t>
            </a:r>
          </a:p>
          <a:p>
            <a:r>
              <a:rPr lang="en-US" sz="2800" b="1" dirty="0"/>
              <a:t>Communicate</a:t>
            </a:r>
            <a:r>
              <a:rPr lang="en-US" sz="2800" dirty="0"/>
              <a:t> your </a:t>
            </a:r>
            <a:r>
              <a:rPr lang="en-US" sz="2800" b="1" dirty="0"/>
              <a:t>thinking</a:t>
            </a:r>
          </a:p>
        </p:txBody>
      </p:sp>
      <p:pic>
        <p:nvPicPr>
          <p:cNvPr id="9" name="Picture 8" descr="A horizontal timeline showing years from 1960 to 1990. On the timeline, 1969 is labelled as 'Apollo 11 moon landing'; 1973 is labelled as 'Opening of the Sydney Opera House by Queen Elizabeth II'; 1975 is labelled as 'Colour television is launched in Australia'; 1978 is labelled as 'Wimbledon and Melbourne Cup broadcasted for the first time'; 1985 is labelled as 'The show 'Neighbours' began'; and 1988 is labelled as 'The show 'Home and Away' began'.">
            <a:extLst>
              <a:ext uri="{FF2B5EF4-FFF2-40B4-BE49-F238E27FC236}">
                <a16:creationId xmlns:a16="http://schemas.microsoft.com/office/drawing/2014/main" id="{3E5B63B1-E476-8E72-F7E4-0FA2C79D39E6}"/>
              </a:ext>
            </a:extLst>
          </p:cNvPr>
          <p:cNvPicPr>
            <a:picLocks noChangeAspect="1"/>
          </p:cNvPicPr>
          <p:nvPr/>
        </p:nvPicPr>
        <p:blipFill>
          <a:blip r:embed="rId4"/>
          <a:stretch>
            <a:fillRect/>
          </a:stretch>
        </p:blipFill>
        <p:spPr>
          <a:xfrm>
            <a:off x="4663133" y="1771060"/>
            <a:ext cx="7116329" cy="4021796"/>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a:extLst>
              <a:ext uri="{FF2B5EF4-FFF2-40B4-BE49-F238E27FC236}">
                <a16:creationId xmlns:a16="http://schemas.microsoft.com/office/drawing/2014/main" id="{B38D0ADF-3DD6-732F-15F0-9E23C650943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 Placeholder 14">
                <a:extLst>
                  <a:ext uri="{FF2B5EF4-FFF2-40B4-BE49-F238E27FC236}">
                    <a16:creationId xmlns:a16="http://schemas.microsoft.com/office/drawing/2014/main" id="{3A030426-7B27-9D3A-6553-A5DE3EEAC548}"/>
                  </a:ext>
                </a:extLst>
              </p:cNvPr>
              <p:cNvSpPr txBox="1">
                <a:spLocks/>
              </p:cNvSpPr>
              <p:nvPr/>
            </p:nvSpPr>
            <p:spPr>
              <a:xfrm>
                <a:off x="360331" y="1710744"/>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sz="4400" i="1" dirty="0" smtClean="0">
                              <a:latin typeface="Cambria Math" panose="02040503050406030204" pitchFamily="18" charset="0"/>
                            </a:rPr>
                          </m:ctrlPr>
                        </m:fPr>
                        <m:num>
                          <m:r>
                            <a:rPr lang="en-AU" sz="4400" b="0" i="1" dirty="0" smtClean="0">
                              <a:latin typeface="Cambria Math" panose="02040503050406030204" pitchFamily="18" charset="0"/>
                            </a:rPr>
                            <m:t>5</m:t>
                          </m:r>
                        </m:num>
                        <m:den>
                          <m:r>
                            <a:rPr lang="en-AU" sz="4400" b="0" i="1" dirty="0" smtClean="0">
                              <a:latin typeface="Cambria Math" panose="02040503050406030204" pitchFamily="18" charset="0"/>
                            </a:rPr>
                            <m:t>8</m:t>
                          </m:r>
                        </m:den>
                      </m:f>
                      <m:r>
                        <a:rPr lang="en-AU" sz="4400" b="0" i="1" dirty="0" smtClean="0">
                          <a:latin typeface="Cambria Math" panose="02040503050406030204" pitchFamily="18" charset="0"/>
                        </a:rPr>
                        <m:t>+ </m:t>
                      </m:r>
                      <m:f>
                        <m:fPr>
                          <m:ctrlPr>
                            <a:rPr lang="en-AU" sz="4400" b="0" i="1" dirty="0" smtClean="0">
                              <a:latin typeface="Cambria Math" panose="02040503050406030204" pitchFamily="18" charset="0"/>
                            </a:rPr>
                          </m:ctrlPr>
                        </m:fPr>
                        <m:num>
                          <m:r>
                            <a:rPr lang="en-AU" sz="4400" b="0" i="1" dirty="0" smtClean="0">
                              <a:latin typeface="Cambria Math" panose="02040503050406030204" pitchFamily="18" charset="0"/>
                            </a:rPr>
                            <m:t>6</m:t>
                          </m:r>
                        </m:num>
                        <m:den>
                          <m:r>
                            <a:rPr lang="en-AU" sz="4400" b="0" i="1" dirty="0" smtClean="0">
                              <a:latin typeface="Cambria Math" panose="02040503050406030204" pitchFamily="18" charset="0"/>
                            </a:rPr>
                            <m:t>8</m:t>
                          </m:r>
                        </m:den>
                      </m:f>
                      <m:r>
                        <a:rPr lang="en-AU" sz="4400" b="0" i="1" dirty="0" smtClean="0">
                          <a:latin typeface="Cambria Math" panose="02040503050406030204" pitchFamily="18" charset="0"/>
                        </a:rPr>
                        <m:t>=</m:t>
                      </m:r>
                      <m:r>
                        <a:rPr lang="en-US" sz="4400" i="1" dirty="0" smtClean="0">
                          <a:latin typeface="Cambria Math" panose="02040503050406030204" pitchFamily="18" charset="0"/>
                        </a:rPr>
                        <m:t> </m:t>
                      </m:r>
                    </m:oMath>
                  </m:oMathPara>
                </a14:m>
                <a:endParaRPr dirty="0"/>
              </a:p>
              <a:p>
                <a:endParaRPr lang="en-US" sz="4400" dirty="0"/>
              </a:p>
            </p:txBody>
          </p:sp>
        </mc:Choice>
        <mc:Fallback xmlns="">
          <p:sp>
            <p:nvSpPr>
              <p:cNvPr id="5" name="Text Placeholder 14">
                <a:extLst>
                  <a:ext uri="{FF2B5EF4-FFF2-40B4-BE49-F238E27FC236}">
                    <a16:creationId xmlns:a16="http://schemas.microsoft.com/office/drawing/2014/main" id="{3A030426-7B27-9D3A-6553-A5DE3EEAC548}"/>
                  </a:ext>
                </a:extLst>
              </p:cNvPr>
              <p:cNvSpPr txBox="1">
                <a:spLocks noRot="1" noChangeAspect="1" noMove="1" noResize="1" noEditPoints="1" noAdjustHandles="1" noChangeArrowheads="1" noChangeShapeType="1" noTextEdit="1"/>
              </p:cNvSpPr>
              <p:nvPr/>
            </p:nvSpPr>
            <p:spPr>
              <a:xfrm>
                <a:off x="360331" y="1710744"/>
                <a:ext cx="11243037" cy="754243"/>
              </a:xfrm>
              <a:prstGeom prst="rect">
                <a:avLst/>
              </a:prstGeom>
              <a:blipFill>
                <a:blip r:embed="rId4"/>
                <a:stretch>
                  <a:fillRect b="-139837"/>
                </a:stretch>
              </a:blipFill>
            </p:spPr>
            <p:txBody>
              <a:bodyPr/>
              <a:lstStyle/>
              <a:p>
                <a:r>
                  <a:rPr lang="en-US">
                    <a:noFill/>
                  </a:rPr>
                  <a:t> </a:t>
                </a:r>
              </a:p>
            </p:txBody>
          </p:sp>
        </mc:Fallback>
      </mc:AlternateContent>
      <p:sp>
        <p:nvSpPr>
          <p:cNvPr id="7" name="Text Placeholder 14">
            <a:extLst>
              <a:ext uri="{FF2B5EF4-FFF2-40B4-BE49-F238E27FC236}">
                <a16:creationId xmlns:a16="http://schemas.microsoft.com/office/drawing/2014/main" id="{C9FFAC4F-0029-C482-F95A-2C0D05DE51F6}"/>
              </a:ext>
            </a:extLst>
          </p:cNvPr>
          <p:cNvSpPr txBox="1">
            <a:spLocks/>
          </p:cNvSpPr>
          <p:nvPr/>
        </p:nvSpPr>
        <p:spPr>
          <a:xfrm>
            <a:off x="1832331" y="4172435"/>
            <a:ext cx="8527338"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Record the answer in </a:t>
            </a:r>
            <a:r>
              <a:rPr lang="en-US" sz="4400" b="1"/>
              <a:t>two forms</a:t>
            </a:r>
            <a:r>
              <a:rPr lang="en-US" sz="4400"/>
              <a:t>.</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a:extLst>
              <a:ext uri="{FF2B5EF4-FFF2-40B4-BE49-F238E27FC236}">
                <a16:creationId xmlns:a16="http://schemas.microsoft.com/office/drawing/2014/main" id="{8579B78F-E8F7-2A31-5798-ADB627F8314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5CE12F5-6606-E4FA-7CD0-FA99423ABBEF}"/>
              </a:ext>
            </a:extLst>
          </p:cNvPr>
          <p:cNvSpPr txBox="1"/>
          <p:nvPr/>
        </p:nvSpPr>
        <p:spPr>
          <a:xfrm>
            <a:off x="1681374" y="1505584"/>
            <a:ext cx="9045894" cy="584879"/>
          </a:xfrm>
          <a:prstGeom prst="rect">
            <a:avLst/>
          </a:prstGeom>
          <a:noFill/>
        </p:spPr>
        <p:txBody>
          <a:bodyPr wrap="square" lIns="0" tIns="0" rIns="0" bIns="0" rtlCol="0" anchor="t">
            <a:noAutofit/>
          </a:bodyPr>
          <a:lstStyle/>
          <a:p>
            <a:r>
              <a:rPr lang="en-AU" sz="4400" dirty="0">
                <a:latin typeface="Arial"/>
                <a:cs typeface="Arial"/>
              </a:rPr>
              <a:t>How many </a:t>
            </a:r>
            <a:r>
              <a:rPr lang="en-AU" sz="4400" b="1" dirty="0">
                <a:latin typeface="Arial"/>
                <a:cs typeface="Arial"/>
              </a:rPr>
              <a:t>minutes </a:t>
            </a:r>
            <a:r>
              <a:rPr lang="en-AU" sz="4400" dirty="0">
                <a:latin typeface="Arial"/>
                <a:cs typeface="Arial"/>
              </a:rPr>
              <a:t>until</a:t>
            </a:r>
            <a:r>
              <a:rPr lang="en-AU" sz="4400" b="1" dirty="0">
                <a:latin typeface="Arial"/>
                <a:cs typeface="Arial"/>
              </a:rPr>
              <a:t> 4 o’clock</a:t>
            </a:r>
            <a:r>
              <a:rPr lang="en-AU" sz="3200" b="1" dirty="0">
                <a:latin typeface="Arial"/>
                <a:cs typeface="Arial"/>
              </a:rPr>
              <a:t>?</a:t>
            </a:r>
            <a:endParaRPr lang="en-AU" sz="3200" dirty="0">
              <a:latin typeface="Arial"/>
              <a:cs typeface="Arial"/>
            </a:endParaRPr>
          </a:p>
        </p:txBody>
      </p:sp>
      <p:pic>
        <p:nvPicPr>
          <p:cNvPr id="9" name="Picture 8" descr="A digital clock displaying 3:53 am">
            <a:extLst>
              <a:ext uri="{FF2B5EF4-FFF2-40B4-BE49-F238E27FC236}">
                <a16:creationId xmlns:a16="http://schemas.microsoft.com/office/drawing/2014/main" id="{03E65C35-2EA6-BF98-1758-6ADF1DE1834A}"/>
              </a:ext>
            </a:extLst>
          </p:cNvPr>
          <p:cNvPicPr>
            <a:picLocks noChangeAspect="1"/>
          </p:cNvPicPr>
          <p:nvPr/>
        </p:nvPicPr>
        <p:blipFill>
          <a:blip r:embed="rId4"/>
          <a:stretch>
            <a:fillRect/>
          </a:stretch>
        </p:blipFill>
        <p:spPr>
          <a:xfrm>
            <a:off x="2670980" y="2584552"/>
            <a:ext cx="6850040" cy="355323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sz="3200"/>
              <a:t>Activity 5 – recognising a smaller and larger number</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Isosceles Triangle 9">
            <a:extLst>
              <a:ext uri="{FF2B5EF4-FFF2-40B4-BE49-F238E27FC236}">
                <a16:creationId xmlns:a16="http://schemas.microsoft.com/office/drawing/2014/main" id="{2D8808C1-6AAB-4129-F68E-5ED0AEAF372D}"/>
              </a:ext>
              <a:ext uri="{C183D7F6-B498-43B3-948B-1728B52AA6E4}">
                <adec:decorative xmlns:adec="http://schemas.microsoft.com/office/drawing/2017/decorative" val="1"/>
              </a:ext>
            </a:extLst>
          </p:cNvPr>
          <p:cNvSpPr/>
          <p:nvPr/>
        </p:nvSpPr>
        <p:spPr>
          <a:xfrm rot="6565945">
            <a:off x="9206499" y="3508133"/>
            <a:ext cx="478324" cy="1370436"/>
          </a:xfrm>
          <a:prstGeom prs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Rounded Corners 8">
            <a:extLst>
              <a:ext uri="{FF2B5EF4-FFF2-40B4-BE49-F238E27FC236}">
                <a16:creationId xmlns:a16="http://schemas.microsoft.com/office/drawing/2014/main" id="{E7EB0297-3FCC-A295-36F1-2B8C7B1128D7}"/>
              </a:ext>
              <a:ext uri="{C183D7F6-B498-43B3-948B-1728B52AA6E4}">
                <adec:decorative xmlns:adec="http://schemas.microsoft.com/office/drawing/2017/decorative" val="1"/>
              </a:ext>
            </a:extLst>
          </p:cNvPr>
          <p:cNvSpPr/>
          <p:nvPr/>
        </p:nvSpPr>
        <p:spPr>
          <a:xfrm>
            <a:off x="3002220" y="2343375"/>
            <a:ext cx="5879407" cy="2171250"/>
          </a:xfrm>
          <a:prstGeom prst="roundRect">
            <a:avLst/>
          </a:prstGeom>
          <a:solidFill>
            <a:schemeClr val="accent4"/>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E9645C7A-A2D1-8EBB-DFA7-5AE3BABB6229}"/>
              </a:ext>
            </a:extLst>
          </p:cNvPr>
          <p:cNvSpPr txBox="1"/>
          <p:nvPr/>
        </p:nvSpPr>
        <p:spPr>
          <a:xfrm>
            <a:off x="726100" y="1153656"/>
            <a:ext cx="6477340" cy="584879"/>
          </a:xfrm>
          <a:prstGeom prst="rect">
            <a:avLst/>
          </a:prstGeom>
          <a:noFill/>
        </p:spPr>
        <p:txBody>
          <a:bodyPr wrap="square" lIns="0" tIns="0" rIns="0" bIns="0" rtlCol="0" anchor="t">
            <a:noAutofit/>
          </a:bodyPr>
          <a:lstStyle/>
          <a:p>
            <a:r>
              <a:rPr lang="en-AU" sz="4400" b="1">
                <a:latin typeface="Arial"/>
                <a:cs typeface="Arial"/>
              </a:rPr>
              <a:t>Read</a:t>
            </a:r>
            <a:r>
              <a:rPr lang="en-AU" sz="4400">
                <a:latin typeface="Arial"/>
                <a:cs typeface="Arial"/>
              </a:rPr>
              <a:t> this number aloud:</a:t>
            </a:r>
            <a:endParaRPr lang="en-AU" sz="44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EC31D-92E6-C553-C17D-7D1BC9489A96}"/>
              </a:ext>
            </a:extLst>
          </p:cNvPr>
          <p:cNvSpPr txBox="1"/>
          <p:nvPr/>
        </p:nvSpPr>
        <p:spPr>
          <a:xfrm>
            <a:off x="3578769" y="2799203"/>
            <a:ext cx="4564591" cy="909786"/>
          </a:xfrm>
          <a:prstGeom prst="rect">
            <a:avLst/>
          </a:prstGeom>
          <a:noFill/>
        </p:spPr>
        <p:txBody>
          <a:bodyPr wrap="square" lIns="0" tIns="0" rIns="0" bIns="0" rtlCol="0">
            <a:noAutofit/>
          </a:bodyPr>
          <a:lstStyle/>
          <a:p>
            <a:pPr algn="ctr"/>
            <a:r>
              <a:rPr lang="en-AU" sz="8000" dirty="0">
                <a:solidFill>
                  <a:schemeClr val="accent1"/>
                </a:solidFill>
                <a:latin typeface="Edu NSW ACT Foundation" panose="020B0604020202020204" charset="0"/>
              </a:rPr>
              <a:t>62 451 286</a:t>
            </a:r>
          </a:p>
        </p:txBody>
      </p:sp>
      <p:sp>
        <p:nvSpPr>
          <p:cNvPr id="7" name="TextBox 6">
            <a:extLst>
              <a:ext uri="{FF2B5EF4-FFF2-40B4-BE49-F238E27FC236}">
                <a16:creationId xmlns:a16="http://schemas.microsoft.com/office/drawing/2014/main" id="{EF5B8790-3BA1-1176-58D6-D0AEA0C88F4A}"/>
              </a:ext>
            </a:extLst>
          </p:cNvPr>
          <p:cNvSpPr txBox="1"/>
          <p:nvPr/>
        </p:nvSpPr>
        <p:spPr>
          <a:xfrm>
            <a:off x="2130372" y="4806614"/>
            <a:ext cx="7931255" cy="584879"/>
          </a:xfrm>
          <a:prstGeom prst="rect">
            <a:avLst/>
          </a:prstGeom>
          <a:noFill/>
        </p:spPr>
        <p:txBody>
          <a:bodyPr wrap="square" lIns="0" tIns="0" rIns="0" bIns="0" rtlCol="0">
            <a:noAutofit/>
          </a:bodyPr>
          <a:lstStyle/>
          <a:p>
            <a:pPr>
              <a:lnSpc>
                <a:spcPct val="150000"/>
              </a:lnSpc>
            </a:pPr>
            <a:r>
              <a:rPr lang="en-AU" sz="4400" dirty="0">
                <a:latin typeface="Arial" panose="020B0604020202020204" pitchFamily="34" charset="0"/>
                <a:cs typeface="Arial" panose="020B0604020202020204" pitchFamily="34" charset="0"/>
              </a:rPr>
              <a:t>Write a number that is </a:t>
            </a:r>
            <a:r>
              <a:rPr lang="en-AU" sz="4400" b="1" dirty="0">
                <a:latin typeface="Arial" panose="020B0604020202020204" pitchFamily="34" charset="0"/>
                <a:cs typeface="Arial" panose="020B0604020202020204" pitchFamily="34" charset="0"/>
              </a:rPr>
              <a:t>larger</a:t>
            </a:r>
            <a:r>
              <a:rPr lang="en-AU" sz="4400" dirty="0">
                <a:latin typeface="Arial" panose="020B0604020202020204" pitchFamily="34" charset="0"/>
                <a:cs typeface="Arial" panose="020B0604020202020204" pitchFamily="34" charset="0"/>
              </a:rPr>
              <a:t>. </a:t>
            </a:r>
          </a:p>
          <a:p>
            <a:r>
              <a:rPr lang="en-AU" sz="4400" dirty="0">
                <a:latin typeface="Arial" panose="020B0604020202020204" pitchFamily="34" charset="0"/>
                <a:cs typeface="Arial" panose="020B0604020202020204" pitchFamily="34" charset="0"/>
              </a:rPr>
              <a:t>Write a number that is </a:t>
            </a:r>
            <a:r>
              <a:rPr lang="en-AU" sz="4400" b="1" dirty="0">
                <a:latin typeface="Arial" panose="020B0604020202020204" pitchFamily="34" charset="0"/>
                <a:cs typeface="Arial" panose="020B0604020202020204" pitchFamily="34" charset="0"/>
              </a:rPr>
              <a:t>smaller.</a:t>
            </a:r>
            <a:endParaRPr lang="en-AU" sz="4400" dirty="0">
              <a:latin typeface="Arial" panose="020B0604020202020204" pitchFamily="34" charset="0"/>
              <a:cs typeface="Arial" panose="020B0604020202020204" pitchFamily="34" charset="0"/>
            </a:endParaRPr>
          </a:p>
          <a:p>
            <a:endParaRPr lang="en-AU" sz="4400" dirty="0">
              <a:latin typeface="Arial" panose="020B0604020202020204" pitchFamily="34" charset="0"/>
              <a:cs typeface="Arial" panose="020B0604020202020204" pitchFamily="34" charset="0"/>
            </a:endParaRPr>
          </a:p>
          <a:p>
            <a:endParaRPr lang="en-AU"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3" name="Title 2">
            <a:extLst>
              <a:ext uri="{FF2B5EF4-FFF2-40B4-BE49-F238E27FC236}">
                <a16:creationId xmlns:a16="http://schemas.microsoft.com/office/drawing/2014/main" id="{496F0155-A6F4-0D5E-C07C-33FCB952EC5D}"/>
              </a:ext>
              <a:ext uri="{C183D7F6-B498-43B3-948B-1728B52AA6E4}">
                <adec:decorative xmlns:adec="http://schemas.microsoft.com/office/drawing/2017/decorative" val="0"/>
              </a:ext>
            </a:extLst>
          </p:cNvPr>
          <p:cNvSpPr>
            <a:spLocks noGrp="1"/>
          </p:cNvSpPr>
          <p:nvPr>
            <p:ph type="title"/>
          </p:nvPr>
        </p:nvSpPr>
        <p:spPr/>
        <p:txBody>
          <a:bodyPr/>
          <a:lstStyle/>
          <a:p>
            <a:r>
              <a:rPr lang="en-US" dirty="0"/>
              <a:t>True or false </a:t>
            </a:r>
            <a:r>
              <a:rPr lang="en-US" dirty="0">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824128" y="2134829"/>
            <a:ext cx="10314782" cy="893226"/>
          </a:xfrm>
        </p:spPr>
        <p:txBody>
          <a:bodyPr vert="horz" lIns="0" tIns="0" rIns="0" bIns="0" rtlCol="0" anchor="t">
            <a:noAutofit/>
          </a:bodyPr>
          <a:lstStyle/>
          <a:p>
            <a:r>
              <a:rPr lang="en-AU" sz="4000" dirty="0">
                <a:latin typeface="Arial"/>
                <a:cs typeface="Arial"/>
              </a:rPr>
              <a:t>The </a:t>
            </a:r>
            <a:r>
              <a:rPr lang="en-AU" sz="4400" dirty="0">
                <a:latin typeface="Arial"/>
                <a:cs typeface="Arial"/>
              </a:rPr>
              <a:t>number</a:t>
            </a:r>
            <a:r>
              <a:rPr lang="en-AU" sz="4000" dirty="0">
                <a:latin typeface="Arial"/>
                <a:cs typeface="Arial"/>
              </a:rPr>
              <a:t> </a:t>
            </a:r>
            <a:r>
              <a:rPr lang="en-AU" sz="4000" b="1" dirty="0">
                <a:latin typeface="Arial"/>
                <a:cs typeface="Arial"/>
              </a:rPr>
              <a:t>3 217 689 </a:t>
            </a:r>
            <a:r>
              <a:rPr lang="en-AU" sz="4000" dirty="0">
                <a:latin typeface="Arial"/>
                <a:cs typeface="Arial"/>
              </a:rPr>
              <a:t>has 3 217 thousands.</a:t>
            </a:r>
            <a:endParaRPr lang="en-AU" sz="4000" b="1" dirty="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660933879"/>
              </p:ext>
            </p:extLst>
          </p:nvPr>
        </p:nvGraphicFramePr>
        <p:xfrm>
          <a:off x="2442981" y="4593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3B06C9B9-BAC1-B0F0-AC15-09D3DA54113C}"/>
              </a:ext>
            </a:extLst>
          </p:cNvPr>
          <p:cNvSpPr txBox="1">
            <a:spLocks/>
          </p:cNvSpPr>
          <p:nvPr/>
        </p:nvSpPr>
        <p:spPr>
          <a:xfrm>
            <a:off x="684301" y="2222751"/>
            <a:ext cx="687351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 the dose </a:t>
            </a:r>
            <a:r>
              <a:rPr lang="en-AU" sz="4400" b="1" dirty="0"/>
              <a:t>marked</a:t>
            </a:r>
            <a:r>
              <a:rPr lang="en-AU" sz="4400" dirty="0"/>
              <a:t> with a </a:t>
            </a:r>
            <a:r>
              <a:rPr lang="en-AU" sz="4400" b="1" dirty="0">
                <a:solidFill>
                  <a:srgbClr val="C00000"/>
                </a:solidFill>
              </a:rPr>
              <a:t>red arrow </a:t>
            </a:r>
            <a:r>
              <a:rPr lang="en-AU" sz="4400" dirty="0"/>
              <a:t>on the syringe.</a:t>
            </a:r>
          </a:p>
        </p:txBody>
      </p:sp>
      <p:pic>
        <p:nvPicPr>
          <p:cNvPr id="9" name="Picture 8" descr="A medicine syringe showing 0.5ml-0.9ml and 10 incremental markings.">
            <a:extLst>
              <a:ext uri="{FF2B5EF4-FFF2-40B4-BE49-F238E27FC236}">
                <a16:creationId xmlns:a16="http://schemas.microsoft.com/office/drawing/2014/main" id="{5809993E-D444-689D-7D0B-C2C0998E80B9}"/>
              </a:ext>
            </a:extLst>
          </p:cNvPr>
          <p:cNvPicPr>
            <a:picLocks noChangeAspect="1"/>
          </p:cNvPicPr>
          <p:nvPr/>
        </p:nvPicPr>
        <p:blipFill>
          <a:blip r:embed="rId4"/>
          <a:stretch>
            <a:fillRect/>
          </a:stretch>
        </p:blipFill>
        <p:spPr>
          <a:xfrm>
            <a:off x="7861026" y="101041"/>
            <a:ext cx="2551335" cy="6594959"/>
          </a:xfrm>
          <a:prstGeom prst="rect">
            <a:avLst/>
          </a:prstGeom>
        </p:spPr>
      </p:pic>
      <p:cxnSp>
        <p:nvCxnSpPr>
          <p:cNvPr id="8" name="Straight Arrow Connector 7" descr="A  red arrow pointing to the third increment after 0.7ml marking  ">
            <a:extLst>
              <a:ext uri="{FF2B5EF4-FFF2-40B4-BE49-F238E27FC236}">
                <a16:creationId xmlns:a16="http://schemas.microsoft.com/office/drawing/2014/main" id="{D4734F49-FDB1-7F57-C6D1-24AC1DE7A892}"/>
              </a:ext>
            </a:extLst>
          </p:cNvPr>
          <p:cNvCxnSpPr>
            <a:cxnSpLocks/>
          </p:cNvCxnSpPr>
          <p:nvPr/>
        </p:nvCxnSpPr>
        <p:spPr>
          <a:xfrm flipH="1">
            <a:off x="9734307" y="3348038"/>
            <a:ext cx="1216551"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5636107-AA8C-AE7E-CE98-EE69C6B2B581}"/>
              </a:ext>
            </a:extLst>
          </p:cNvPr>
          <p:cNvSpPr txBox="1">
            <a:spLocks/>
          </p:cNvSpPr>
          <p:nvPr/>
        </p:nvSpPr>
        <p:spPr>
          <a:xfrm>
            <a:off x="127001" y="2165050"/>
            <a:ext cx="118189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What is the </a:t>
            </a:r>
            <a:r>
              <a:rPr lang="en-AU" sz="4400" b="1"/>
              <a:t>place value </a:t>
            </a:r>
            <a:r>
              <a:rPr lang="en-AU" sz="4400"/>
              <a:t>of the</a:t>
            </a:r>
          </a:p>
          <a:p>
            <a:pPr algn="ctr"/>
            <a:r>
              <a:rPr lang="en-AU" sz="4400"/>
              <a:t> digit </a:t>
            </a:r>
            <a:r>
              <a:rPr lang="en-AU" sz="4400" b="1"/>
              <a:t>3</a:t>
            </a:r>
            <a:r>
              <a:rPr lang="en-AU" sz="4400"/>
              <a:t> in </a:t>
            </a:r>
            <a:r>
              <a:rPr lang="en-AU" sz="4400" b="1"/>
              <a:t>0.243</a:t>
            </a:r>
            <a:r>
              <a:rPr lang="en-AU" sz="4400"/>
              <a:t>?</a:t>
            </a:r>
            <a:endParaRPr lang="en-AU" sz="4400" b="1"/>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0FB46C8-F500-3C1C-6C4F-A050E6ECF0A7}"/>
              </a:ext>
            </a:extLst>
          </p:cNvPr>
          <p:cNvSpPr txBox="1">
            <a:spLocks/>
          </p:cNvSpPr>
          <p:nvPr/>
        </p:nvSpPr>
        <p:spPr>
          <a:xfrm>
            <a:off x="1729491" y="1446890"/>
            <a:ext cx="873301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b="1"/>
              <a:t>Record</a:t>
            </a:r>
            <a:r>
              <a:rPr lang="en-AU" sz="4000"/>
              <a:t> an </a:t>
            </a:r>
            <a:r>
              <a:rPr lang="en-AU" sz="4000" b="1"/>
              <a:t>equation</a:t>
            </a:r>
            <a:r>
              <a:rPr lang="en-AU" sz="4000"/>
              <a:t> for the diagram.</a:t>
            </a:r>
            <a:endParaRPr lang="en-AU" sz="4000" b="1"/>
          </a:p>
        </p:txBody>
      </p:sp>
      <p:pic>
        <p:nvPicPr>
          <p:cNvPr id="10" name="Picture 9" descr="Bar of 5 one fifths&#10;plus 3 one-fifths">
            <a:extLst>
              <a:ext uri="{FF2B5EF4-FFF2-40B4-BE49-F238E27FC236}">
                <a16:creationId xmlns:a16="http://schemas.microsoft.com/office/drawing/2014/main" id="{81644AB1-595D-A696-7CFE-7DE5A14DC040}"/>
              </a:ext>
            </a:extLst>
          </p:cNvPr>
          <p:cNvPicPr>
            <a:picLocks noChangeAspect="1"/>
          </p:cNvPicPr>
          <p:nvPr/>
        </p:nvPicPr>
        <p:blipFill>
          <a:blip r:embed="rId4"/>
          <a:stretch>
            <a:fillRect/>
          </a:stretch>
        </p:blipFill>
        <p:spPr>
          <a:xfrm>
            <a:off x="1937352" y="2771562"/>
            <a:ext cx="8525158" cy="2221170"/>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0E322192-5690-7438-269B-3B5FD1AD4A73}"/>
              </a:ext>
            </a:extLst>
          </p:cNvPr>
          <p:cNvSpPr txBox="1">
            <a:spLocks/>
          </p:cNvSpPr>
          <p:nvPr/>
        </p:nvSpPr>
        <p:spPr>
          <a:xfrm>
            <a:off x="1960337" y="1327956"/>
            <a:ext cx="9163663"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dirty="0"/>
              <a:t>Record</a:t>
            </a:r>
            <a:r>
              <a:rPr lang="en-AU" sz="4000" dirty="0"/>
              <a:t> </a:t>
            </a:r>
            <a:r>
              <a:rPr lang="en-AU" sz="4400" dirty="0"/>
              <a:t>the</a:t>
            </a:r>
            <a:r>
              <a:rPr lang="en-AU" sz="4000" dirty="0"/>
              <a:t> time in </a:t>
            </a:r>
            <a:r>
              <a:rPr lang="en-AU" sz="4000" b="1" dirty="0"/>
              <a:t>digital</a:t>
            </a:r>
            <a:r>
              <a:rPr lang="en-AU" sz="4000" dirty="0"/>
              <a:t> notation.</a:t>
            </a:r>
            <a:endParaRPr lang="en-AU" sz="4000" b="1" dirty="0"/>
          </a:p>
        </p:txBody>
      </p:sp>
      <p:pic>
        <p:nvPicPr>
          <p:cNvPr id="8" name="Picture 7" descr="A clock displaying the minute hand pointing to 9 and the hour hand pointing between the 7 and 8">
            <a:extLst>
              <a:ext uri="{FF2B5EF4-FFF2-40B4-BE49-F238E27FC236}">
                <a16:creationId xmlns:a16="http://schemas.microsoft.com/office/drawing/2014/main" id="{5B4DCCAA-A392-566C-0429-6D56D924C44F}"/>
              </a:ext>
            </a:extLst>
          </p:cNvPr>
          <p:cNvPicPr>
            <a:picLocks noChangeAspect="1"/>
          </p:cNvPicPr>
          <p:nvPr/>
        </p:nvPicPr>
        <p:blipFill>
          <a:blip r:embed="rId4"/>
          <a:stretch>
            <a:fillRect/>
          </a:stretch>
        </p:blipFill>
        <p:spPr>
          <a:xfrm>
            <a:off x="4076596" y="2643538"/>
            <a:ext cx="4038808" cy="3638737"/>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sz="3200"/>
              <a:t>Activity 6 – Mastermind – naming numbers in the millions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Freeform 2">
            <a:extLst>
              <a:ext uri="{FF2B5EF4-FFF2-40B4-BE49-F238E27FC236}">
                <a16:creationId xmlns:a16="http://schemas.microsoft.com/office/drawing/2014/main" id="{97DAA7C6-FEA3-FFFD-0219-EEE227793FEC}"/>
              </a:ext>
              <a:ext uri="{C183D7F6-B498-43B3-948B-1728B52AA6E4}">
                <adec:decorative xmlns:adec="http://schemas.microsoft.com/office/drawing/2017/decorative" val="1"/>
              </a:ext>
            </a:extLst>
          </p:cNvPr>
          <p:cNvSpPr/>
          <p:nvPr/>
        </p:nvSpPr>
        <p:spPr>
          <a:xfrm rot="16200000">
            <a:off x="4018218" y="2194704"/>
            <a:ext cx="4624371" cy="3331512"/>
          </a:xfrm>
          <a:custGeom>
            <a:avLst/>
            <a:gdLst/>
            <a:ahLst/>
            <a:cxnLst/>
            <a:rect l="l" t="t" r="r" b="b"/>
            <a:pathLst>
              <a:path w="10437574" h="7175832">
                <a:moveTo>
                  <a:pt x="0" y="0"/>
                </a:moveTo>
                <a:lnTo>
                  <a:pt x="10437574" y="0"/>
                </a:lnTo>
                <a:lnTo>
                  <a:pt x="10437574" y="7175832"/>
                </a:lnTo>
                <a:lnTo>
                  <a:pt x="0" y="71758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TextBox 8">
            <a:extLst>
              <a:ext uri="{FF2B5EF4-FFF2-40B4-BE49-F238E27FC236}">
                <a16:creationId xmlns:a16="http://schemas.microsoft.com/office/drawing/2014/main" id="{DEEE23A2-C09D-D0A0-2B84-22917B003213}"/>
              </a:ext>
              <a:ext uri="{C183D7F6-B498-43B3-948B-1728B52AA6E4}">
                <adec:decorative xmlns:adec="http://schemas.microsoft.com/office/drawing/2017/decorative" val="1"/>
              </a:ext>
            </a:extLst>
          </p:cNvPr>
          <p:cNvSpPr txBox="1"/>
          <p:nvPr/>
        </p:nvSpPr>
        <p:spPr>
          <a:xfrm>
            <a:off x="4919343" y="1955586"/>
            <a:ext cx="2759637" cy="935123"/>
          </a:xfrm>
          <a:prstGeom prst="rect">
            <a:avLst/>
          </a:prstGeom>
          <a:noFill/>
        </p:spPr>
        <p:txBody>
          <a:bodyPr wrap="square" lIns="0" tIns="0" rIns="0" bIns="0" rtlCol="0">
            <a:noAutofit/>
          </a:bodyPr>
          <a:lstStyle/>
          <a:p>
            <a:pPr algn="ctr"/>
            <a:r>
              <a:rPr lang="en-AU" sz="5400">
                <a:latin typeface="Edu NSW ACT Foundation" panose="020B0604020202020204" charset="0"/>
              </a:rPr>
              <a:t>3 217 689</a:t>
            </a:r>
          </a:p>
        </p:txBody>
      </p:sp>
      <p:sp>
        <p:nvSpPr>
          <p:cNvPr id="10" name="Circle: Hollow 9">
            <a:extLst>
              <a:ext uri="{FF2B5EF4-FFF2-40B4-BE49-F238E27FC236}">
                <a16:creationId xmlns:a16="http://schemas.microsoft.com/office/drawing/2014/main" id="{689F918F-5737-EDC1-72E8-961E09A8ECBE}"/>
              </a:ext>
              <a:ext uri="{C183D7F6-B498-43B3-948B-1728B52AA6E4}">
                <adec:decorative xmlns:adec="http://schemas.microsoft.com/office/drawing/2017/decorative" val="1"/>
              </a:ext>
            </a:extLst>
          </p:cNvPr>
          <p:cNvSpPr/>
          <p:nvPr/>
        </p:nvSpPr>
        <p:spPr>
          <a:xfrm>
            <a:off x="5109205" y="2762117"/>
            <a:ext cx="198553" cy="226953"/>
          </a:xfrm>
          <a:prstGeom prst="donu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1" name="Multiplication Sign 10">
            <a:extLst>
              <a:ext uri="{FF2B5EF4-FFF2-40B4-BE49-F238E27FC236}">
                <a16:creationId xmlns:a16="http://schemas.microsoft.com/office/drawing/2014/main" id="{53FF614F-B2AC-AFF5-0743-2F2D35853D10}"/>
              </a:ext>
              <a:ext uri="{C183D7F6-B498-43B3-948B-1728B52AA6E4}">
                <adec:decorative xmlns:adec="http://schemas.microsoft.com/office/drawing/2017/decorative" val="1"/>
              </a:ext>
            </a:extLst>
          </p:cNvPr>
          <p:cNvSpPr/>
          <p:nvPr/>
        </p:nvSpPr>
        <p:spPr>
          <a:xfrm>
            <a:off x="5821984" y="2735976"/>
            <a:ext cx="335292" cy="279235"/>
          </a:xfrm>
          <a:prstGeom prst="mathMultiply">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11" descr="A sticky note with the number 7 246 384. Next to it sits a student whiteboard with the number 3 217 689. Under the 3 is a o, 2 a tick, 1 a cross, 7 an o, 6 an o, 8 a tick and 9 an x.">
            <a:extLst>
              <a:ext uri="{FF2B5EF4-FFF2-40B4-BE49-F238E27FC236}">
                <a16:creationId xmlns:a16="http://schemas.microsoft.com/office/drawing/2014/main" id="{E48E00C8-ABE5-DA52-00F2-2E759CE41A43}"/>
              </a:ext>
            </a:extLst>
          </p:cNvPr>
          <p:cNvPicPr>
            <a:picLocks noChangeAspect="1"/>
          </p:cNvPicPr>
          <p:nvPr/>
        </p:nvPicPr>
        <p:blipFill rotWithShape="1">
          <a:blip r:embed="rId6">
            <a:extLst>
              <a:ext uri="{28A0092B-C50C-407E-A947-70E740481C1C}">
                <a14:useLocalDpi xmlns:a14="http://schemas.microsoft.com/office/drawing/2010/main" val="0"/>
              </a:ext>
            </a:extLst>
          </a:blip>
          <a:srcRect l="34348" t="27339" r="43593" b="39023"/>
          <a:stretch/>
        </p:blipFill>
        <p:spPr>
          <a:xfrm>
            <a:off x="5578991" y="2762116"/>
            <a:ext cx="264591" cy="226955"/>
          </a:xfrm>
          <a:prstGeom prst="rect">
            <a:avLst/>
          </a:prstGeom>
        </p:spPr>
      </p:pic>
      <p:sp>
        <p:nvSpPr>
          <p:cNvPr id="13" name="Circle: Hollow 12">
            <a:extLst>
              <a:ext uri="{FF2B5EF4-FFF2-40B4-BE49-F238E27FC236}">
                <a16:creationId xmlns:a16="http://schemas.microsoft.com/office/drawing/2014/main" id="{080BCA74-99D3-EB03-47B4-37454D37C58A}"/>
              </a:ext>
              <a:ext uri="{C183D7F6-B498-43B3-948B-1728B52AA6E4}">
                <adec:decorative xmlns:adec="http://schemas.microsoft.com/office/drawing/2017/decorative" val="1"/>
              </a:ext>
            </a:extLst>
          </p:cNvPr>
          <p:cNvSpPr/>
          <p:nvPr/>
        </p:nvSpPr>
        <p:spPr>
          <a:xfrm>
            <a:off x="6168829" y="2762117"/>
            <a:ext cx="198553" cy="226953"/>
          </a:xfrm>
          <a:prstGeom prst="donu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4" name="Circle: Hollow 13">
            <a:extLst>
              <a:ext uri="{FF2B5EF4-FFF2-40B4-BE49-F238E27FC236}">
                <a16:creationId xmlns:a16="http://schemas.microsoft.com/office/drawing/2014/main" id="{E15092CD-B356-B9AF-9293-631CE7890A60}"/>
              </a:ext>
              <a:ext uri="{C183D7F6-B498-43B3-948B-1728B52AA6E4}">
                <adec:decorative xmlns:adec="http://schemas.microsoft.com/office/drawing/2017/decorative" val="1"/>
              </a:ext>
            </a:extLst>
          </p:cNvPr>
          <p:cNvSpPr/>
          <p:nvPr/>
        </p:nvSpPr>
        <p:spPr>
          <a:xfrm>
            <a:off x="6577650" y="2766969"/>
            <a:ext cx="198553" cy="226953"/>
          </a:xfrm>
          <a:prstGeom prst="donu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pic>
        <p:nvPicPr>
          <p:cNvPr id="15" name="Picture 14" descr="A sticky note with the number 7 246 384. Next to it sits a student whiteboard with the number 3 217 689. Under the 3 is a o, 2 a tick, 1 a cross, 7 an o, 6 an o, 8 a tick and 9 an x.">
            <a:extLst>
              <a:ext uri="{FF2B5EF4-FFF2-40B4-BE49-F238E27FC236}">
                <a16:creationId xmlns:a16="http://schemas.microsoft.com/office/drawing/2014/main" id="{D54569FA-0601-12C2-1A91-182AC63F544C}"/>
              </a:ext>
              <a:ext uri="{C183D7F6-B498-43B3-948B-1728B52AA6E4}">
                <adec:decorative xmlns:adec="http://schemas.microsoft.com/office/drawing/2017/decorative" val="0"/>
              </a:ext>
            </a:extLst>
          </p:cNvPr>
          <p:cNvPicPr>
            <a:picLocks noChangeAspect="1"/>
          </p:cNvPicPr>
          <p:nvPr/>
        </p:nvPicPr>
        <p:blipFill rotWithShape="1">
          <a:blip r:embed="rId6">
            <a:extLst>
              <a:ext uri="{28A0092B-C50C-407E-A947-70E740481C1C}">
                <a14:useLocalDpi xmlns:a14="http://schemas.microsoft.com/office/drawing/2010/main" val="0"/>
              </a:ext>
            </a:extLst>
          </a:blip>
          <a:srcRect l="34348" t="27339" r="43593" b="39023"/>
          <a:stretch/>
        </p:blipFill>
        <p:spPr>
          <a:xfrm>
            <a:off x="6905537" y="2762116"/>
            <a:ext cx="264591" cy="226955"/>
          </a:xfrm>
          <a:prstGeom prst="rect">
            <a:avLst/>
          </a:prstGeom>
        </p:spPr>
      </p:pic>
      <p:sp>
        <p:nvSpPr>
          <p:cNvPr id="16" name="Multiplication Sign 15">
            <a:extLst>
              <a:ext uri="{FF2B5EF4-FFF2-40B4-BE49-F238E27FC236}">
                <a16:creationId xmlns:a16="http://schemas.microsoft.com/office/drawing/2014/main" id="{D1C0DB0C-4B58-0A29-CAAE-5BE52796778F}"/>
              </a:ext>
              <a:ext uri="{C183D7F6-B498-43B3-948B-1728B52AA6E4}">
                <adec:decorative xmlns:adec="http://schemas.microsoft.com/office/drawing/2017/decorative" val="1"/>
              </a:ext>
            </a:extLst>
          </p:cNvPr>
          <p:cNvSpPr/>
          <p:nvPr/>
        </p:nvSpPr>
        <p:spPr>
          <a:xfrm>
            <a:off x="7183583" y="2735976"/>
            <a:ext cx="335292" cy="279235"/>
          </a:xfrm>
          <a:prstGeom prst="mathMultiply">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a:extLst>
              <a:ext uri="{FF2B5EF4-FFF2-40B4-BE49-F238E27FC236}">
                <a16:creationId xmlns:a16="http://schemas.microsoft.com/office/drawing/2014/main" id="{A227BD52-5D0B-4600-0252-E3027171523B}"/>
              </a:ext>
              <a:ext uri="{C183D7F6-B498-43B3-948B-1728B52AA6E4}">
                <adec:decorative xmlns:adec="http://schemas.microsoft.com/office/drawing/2017/decorative" val="1"/>
              </a:ext>
            </a:extLst>
          </p:cNvPr>
          <p:cNvGrpSpPr/>
          <p:nvPr/>
        </p:nvGrpSpPr>
        <p:grpSpPr>
          <a:xfrm>
            <a:off x="2615051" y="1522684"/>
            <a:ext cx="1645664" cy="1368025"/>
            <a:chOff x="8318348" y="1936376"/>
            <a:chExt cx="1645664" cy="1368025"/>
          </a:xfrm>
        </p:grpSpPr>
        <p:sp>
          <p:nvSpPr>
            <p:cNvPr id="18" name="Freeform 31">
              <a:extLst>
                <a:ext uri="{FF2B5EF4-FFF2-40B4-BE49-F238E27FC236}">
                  <a16:creationId xmlns:a16="http://schemas.microsoft.com/office/drawing/2014/main" id="{FD06129D-19D9-E5DF-D775-4B5F03871C83}"/>
                </a:ext>
              </a:extLst>
            </p:cNvPr>
            <p:cNvSpPr/>
            <p:nvPr/>
          </p:nvSpPr>
          <p:spPr>
            <a:xfrm>
              <a:off x="8457168" y="1936376"/>
              <a:ext cx="1368025" cy="1368025"/>
            </a:xfrm>
            <a:custGeom>
              <a:avLst/>
              <a:gdLst/>
              <a:ahLst/>
              <a:cxnLst/>
              <a:rect l="l" t="t" r="r" b="b"/>
              <a:pathLst>
                <a:path w="1824034" h="1824034">
                  <a:moveTo>
                    <a:pt x="0" y="0"/>
                  </a:moveTo>
                  <a:lnTo>
                    <a:pt x="1824034" y="0"/>
                  </a:lnTo>
                  <a:lnTo>
                    <a:pt x="1824034" y="1824034"/>
                  </a:lnTo>
                  <a:lnTo>
                    <a:pt x="0" y="18240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latin typeface="Edu NSW ACT Foundation" panose="020B0604020202020204" charset="0"/>
              </a:endParaRPr>
            </a:p>
          </p:txBody>
        </p:sp>
        <p:sp>
          <p:nvSpPr>
            <p:cNvPr id="19" name="TextBox 18">
              <a:extLst>
                <a:ext uri="{FF2B5EF4-FFF2-40B4-BE49-F238E27FC236}">
                  <a16:creationId xmlns:a16="http://schemas.microsoft.com/office/drawing/2014/main" id="{6BB700FA-A7E2-65F0-378B-00F18237ABBB}"/>
                </a:ext>
              </a:extLst>
            </p:cNvPr>
            <p:cNvSpPr txBox="1"/>
            <p:nvPr/>
          </p:nvSpPr>
          <p:spPr>
            <a:xfrm>
              <a:off x="8318348" y="2208652"/>
              <a:ext cx="1645664" cy="823472"/>
            </a:xfrm>
            <a:prstGeom prst="rect">
              <a:avLst/>
            </a:prstGeom>
            <a:noFill/>
          </p:spPr>
          <p:txBody>
            <a:bodyPr wrap="square" lIns="0" tIns="0" rIns="0" bIns="0" rtlCol="0">
              <a:noAutofit/>
            </a:bodyPr>
            <a:lstStyle/>
            <a:p>
              <a:pPr algn="ctr"/>
              <a:r>
                <a:rPr lang="en-AU" sz="2800">
                  <a:latin typeface="Edu NSW ACT Foundation" panose="020B0604020202020204" charset="0"/>
                </a:rPr>
                <a:t>7 246 384</a:t>
              </a:r>
            </a:p>
          </p:txBody>
        </p:sp>
      </p:gr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a:latin typeface="Arial"/>
                <a:cs typeface="Arial"/>
              </a:rPr>
              <a:t>Multiple choice </a:t>
            </a:r>
            <a:r>
              <a:rPr lang="en-US">
                <a:solidFill>
                  <a:schemeClr val="bg1"/>
                </a:solidFill>
                <a:latin typeface="Arial"/>
                <a:cs typeface="Arial"/>
              </a:rPr>
              <a:t>(4)</a:t>
            </a:r>
          </a:p>
        </p:txBody>
      </p:sp>
      <p:sp>
        <p:nvSpPr>
          <p:cNvPr id="6" name="Text Placeholder 14">
            <a:extLst>
              <a:ext uri="{FF2B5EF4-FFF2-40B4-BE49-F238E27FC236}">
                <a16:creationId xmlns:a16="http://schemas.microsoft.com/office/drawing/2014/main" id="{5FD6F731-9693-EE22-1518-4C92E50B6B54}"/>
              </a:ext>
            </a:extLst>
          </p:cNvPr>
          <p:cNvSpPr txBox="1">
            <a:spLocks/>
          </p:cNvSpPr>
          <p:nvPr/>
        </p:nvSpPr>
        <p:spPr>
          <a:xfrm>
            <a:off x="474481" y="978071"/>
            <a:ext cx="11243037"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latin typeface="Arial"/>
                <a:cs typeface="Arial"/>
              </a:rPr>
              <a:t>The number forty-three</a:t>
            </a:r>
            <a:r>
              <a:rPr lang="en-US" sz="3600" b="1">
                <a:latin typeface="Arial"/>
                <a:cs typeface="Arial"/>
              </a:rPr>
              <a:t> million</a:t>
            </a:r>
            <a:r>
              <a:rPr lang="en-US" sz="3600">
                <a:latin typeface="Arial"/>
                <a:cs typeface="Arial"/>
              </a:rPr>
              <a:t>, six hundred and thirty-four</a:t>
            </a:r>
            <a:r>
              <a:rPr lang="en-US" sz="3600" b="1">
                <a:latin typeface="Arial"/>
                <a:cs typeface="Arial"/>
              </a:rPr>
              <a:t> thousand</a:t>
            </a:r>
            <a:r>
              <a:rPr lang="en-US" sz="3600">
                <a:latin typeface="Arial"/>
                <a:cs typeface="Arial"/>
              </a:rPr>
              <a:t>, nine hundred and fourteen is written as</a:t>
            </a:r>
            <a:r>
              <a:rPr lang="en-US" sz="3200">
                <a:latin typeface="Arial"/>
                <a:cs typeface="Arial"/>
              </a:rPr>
              <a:t>:</a:t>
            </a:r>
            <a:endParaRPr lang="en-US" sz="3200"/>
          </a:p>
          <a:p>
            <a:endParaRPr lang="en-US" sz="4400"/>
          </a:p>
        </p:txBody>
      </p:sp>
      <p:sp>
        <p:nvSpPr>
          <p:cNvPr id="9" name="TextBox 8">
            <a:extLst>
              <a:ext uri="{FF2B5EF4-FFF2-40B4-BE49-F238E27FC236}">
                <a16:creationId xmlns:a16="http://schemas.microsoft.com/office/drawing/2014/main" id="{793EDF41-C42C-8273-E2DE-8E4910A00103}"/>
              </a:ext>
            </a:extLst>
          </p:cNvPr>
          <p:cNvSpPr txBox="1"/>
          <p:nvPr/>
        </p:nvSpPr>
        <p:spPr>
          <a:xfrm>
            <a:off x="657860" y="296257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 Placeholder 17">
            <a:extLst>
              <a:ext uri="{FF2B5EF4-FFF2-40B4-BE49-F238E27FC236}">
                <a16:creationId xmlns:a16="http://schemas.microsoft.com/office/drawing/2014/main" id="{E00A16F7-FE37-2376-0BE2-8BE41EE5DB79}"/>
              </a:ext>
            </a:extLst>
          </p:cNvPr>
          <p:cNvSpPr txBox="1">
            <a:spLocks/>
          </p:cNvSpPr>
          <p:nvPr/>
        </p:nvSpPr>
        <p:spPr>
          <a:xfrm>
            <a:off x="1447302" y="2965508"/>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43 634</a:t>
            </a:r>
          </a:p>
        </p:txBody>
      </p:sp>
      <p:sp>
        <p:nvSpPr>
          <p:cNvPr id="10" name="TextBox 9">
            <a:extLst>
              <a:ext uri="{FF2B5EF4-FFF2-40B4-BE49-F238E27FC236}">
                <a16:creationId xmlns:a16="http://schemas.microsoft.com/office/drawing/2014/main" id="{509AD87B-945E-EF0D-EE5D-D963ACE5480B}"/>
              </a:ext>
            </a:extLst>
          </p:cNvPr>
          <p:cNvSpPr txBox="1"/>
          <p:nvPr/>
        </p:nvSpPr>
        <p:spPr>
          <a:xfrm>
            <a:off x="657859" y="38104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 Placeholder 16">
            <a:extLst>
              <a:ext uri="{FF2B5EF4-FFF2-40B4-BE49-F238E27FC236}">
                <a16:creationId xmlns:a16="http://schemas.microsoft.com/office/drawing/2014/main" id="{EF86D2E0-3AC5-D9DC-EE60-75700DBDCCD8}"/>
              </a:ext>
            </a:extLst>
          </p:cNvPr>
          <p:cNvSpPr txBox="1">
            <a:spLocks/>
          </p:cNvSpPr>
          <p:nvPr/>
        </p:nvSpPr>
        <p:spPr>
          <a:xfrm>
            <a:off x="1447302" y="3813871"/>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43 634 940</a:t>
            </a:r>
          </a:p>
        </p:txBody>
      </p:sp>
      <p:sp>
        <p:nvSpPr>
          <p:cNvPr id="12" name="TextBox 11">
            <a:extLst>
              <a:ext uri="{FF2B5EF4-FFF2-40B4-BE49-F238E27FC236}">
                <a16:creationId xmlns:a16="http://schemas.microsoft.com/office/drawing/2014/main" id="{7A633D74-C65F-E185-EA4B-C6135BC39C93}"/>
              </a:ext>
            </a:extLst>
          </p:cNvPr>
          <p:cNvSpPr txBox="1"/>
          <p:nvPr/>
        </p:nvSpPr>
        <p:spPr>
          <a:xfrm>
            <a:off x="657858" y="466054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5">
            <a:extLst>
              <a:ext uri="{FF2B5EF4-FFF2-40B4-BE49-F238E27FC236}">
                <a16:creationId xmlns:a16="http://schemas.microsoft.com/office/drawing/2014/main" id="{5F8E0938-0F14-84AB-E9EB-A2BCEE1A6CF6}"/>
              </a:ext>
            </a:extLst>
          </p:cNvPr>
          <p:cNvSpPr txBox="1">
            <a:spLocks/>
          </p:cNvSpPr>
          <p:nvPr/>
        </p:nvSpPr>
        <p:spPr>
          <a:xfrm>
            <a:off x="1447302" y="4662234"/>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43 634 914</a:t>
            </a:r>
          </a:p>
        </p:txBody>
      </p:sp>
      <p:sp>
        <p:nvSpPr>
          <p:cNvPr id="11" name="TextBox 10">
            <a:extLst>
              <a:ext uri="{FF2B5EF4-FFF2-40B4-BE49-F238E27FC236}">
                <a16:creationId xmlns:a16="http://schemas.microsoft.com/office/drawing/2014/main" id="{19288423-CD91-9472-E346-D2D0ECB4C75C}"/>
              </a:ext>
            </a:extLst>
          </p:cNvPr>
          <p:cNvSpPr txBox="1"/>
          <p:nvPr/>
        </p:nvSpPr>
        <p:spPr>
          <a:xfrm>
            <a:off x="657857" y="55105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5" name="Text Placeholder 13">
            <a:extLst>
              <a:ext uri="{FF2B5EF4-FFF2-40B4-BE49-F238E27FC236}">
                <a16:creationId xmlns:a16="http://schemas.microsoft.com/office/drawing/2014/main" id="{790A21ED-2903-21FB-99BE-9990EB821CA7}"/>
              </a:ext>
            </a:extLst>
          </p:cNvPr>
          <p:cNvSpPr txBox="1">
            <a:spLocks/>
          </p:cNvSpPr>
          <p:nvPr/>
        </p:nvSpPr>
        <p:spPr>
          <a:xfrm>
            <a:off x="1447302" y="5510597"/>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634 914 43</a:t>
            </a:r>
          </a:p>
        </p:txBody>
      </p:sp>
      <p:pic>
        <p:nvPicPr>
          <p:cNvPr id="4" name="Picture 3">
            <a:extLst>
              <a:ext uri="{FF2B5EF4-FFF2-40B4-BE49-F238E27FC236}">
                <a16:creationId xmlns:a16="http://schemas.microsoft.com/office/drawing/2014/main" id="{14B8BC39-67FB-C657-188E-31701D36017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03112266-B1AC-1403-06E5-35F1435A5186}"/>
              </a:ext>
            </a:extLst>
          </p:cNvPr>
          <p:cNvSpPr txBox="1">
            <a:spLocks/>
          </p:cNvSpPr>
          <p:nvPr/>
        </p:nvSpPr>
        <p:spPr>
          <a:xfrm>
            <a:off x="702939" y="1314398"/>
            <a:ext cx="11243037"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1200"/>
              </a:spcBef>
            </a:pPr>
            <a:r>
              <a:rPr lang="en-US" sz="4400" dirty="0">
                <a:latin typeface="Arial"/>
                <a:cs typeface="Arial"/>
              </a:rPr>
              <a:t>Use the addition for subtraction strategy to solve the following equation:</a:t>
            </a:r>
            <a:endParaRPr lang="en-US" sz="4400" dirty="0"/>
          </a:p>
          <a:p>
            <a:pPr algn="ctr">
              <a:spcBef>
                <a:spcPts val="1200"/>
              </a:spcBef>
            </a:pPr>
            <a:r>
              <a:rPr lang="en-US" sz="5400" dirty="0"/>
              <a:t>405 – 389 =</a:t>
            </a:r>
          </a:p>
          <a:p>
            <a:pPr algn="ctr">
              <a:spcBef>
                <a:spcPts val="1200"/>
              </a:spcBef>
            </a:pPr>
            <a:r>
              <a:rPr lang="en-US" sz="4400" b="1" dirty="0">
                <a:latin typeface="Arial"/>
                <a:cs typeface="Arial"/>
              </a:rPr>
              <a:t>Explain </a:t>
            </a:r>
            <a:r>
              <a:rPr lang="en-US" sz="4400" dirty="0">
                <a:latin typeface="Arial"/>
                <a:cs typeface="Arial"/>
              </a:rPr>
              <a:t>why this strategy is efficient.</a:t>
            </a:r>
            <a:endParaRPr lang="en-US" sz="4400" dirty="0"/>
          </a:p>
          <a:p>
            <a:pPr algn="ctr"/>
            <a:endParaRPr lang="en-US" sz="8000" dirty="0"/>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5" name="Group 4" descr="Number line ranging from -7 to 7.&#10;&#10;Question marks are in the place of -5, -4, -2, 3, 5 and 7">
            <a:extLst>
              <a:ext uri="{FF2B5EF4-FFF2-40B4-BE49-F238E27FC236}">
                <a16:creationId xmlns:a16="http://schemas.microsoft.com/office/drawing/2014/main" id="{42702DF2-F7DB-47C0-3654-B7C7013EC015}"/>
              </a:ext>
            </a:extLst>
          </p:cNvPr>
          <p:cNvGrpSpPr/>
          <p:nvPr/>
        </p:nvGrpSpPr>
        <p:grpSpPr>
          <a:xfrm>
            <a:off x="1416905" y="4553525"/>
            <a:ext cx="9491540" cy="1145197"/>
            <a:chOff x="1156140" y="3032284"/>
            <a:chExt cx="8779860" cy="948096"/>
          </a:xfrm>
        </p:grpSpPr>
        <p:sp>
          <p:nvSpPr>
            <p:cNvPr id="7" name="AutoShape 2">
              <a:extLst>
                <a:ext uri="{FF2B5EF4-FFF2-40B4-BE49-F238E27FC236}">
                  <a16:creationId xmlns:a16="http://schemas.microsoft.com/office/drawing/2014/main" id="{89C8DD70-24AF-6BFA-E882-C87598DF7252}"/>
                </a:ext>
              </a:extLst>
            </p:cNvPr>
            <p:cNvSpPr/>
            <p:nvPr/>
          </p:nvSpPr>
          <p:spPr>
            <a:xfrm>
              <a:off x="1156140" y="3482306"/>
              <a:ext cx="8779860" cy="0"/>
            </a:xfrm>
            <a:prstGeom prst="line">
              <a:avLst/>
            </a:prstGeom>
            <a:ln w="38100" cap="flat">
              <a:solidFill>
                <a:srgbClr val="000000"/>
              </a:solidFill>
              <a:prstDash val="solid"/>
              <a:headEnd type="triangle" w="lg" len="med"/>
              <a:tailEnd type="triangle" w="lg" len="med"/>
            </a:ln>
          </p:spPr>
          <p:txBody>
            <a:bodyPr/>
            <a:lstStyle/>
            <a:p>
              <a:endParaRPr lang="en-AU"/>
            </a:p>
          </p:txBody>
        </p:sp>
        <p:sp>
          <p:nvSpPr>
            <p:cNvPr id="8" name="AutoShape 3">
              <a:extLst>
                <a:ext uri="{FF2B5EF4-FFF2-40B4-BE49-F238E27FC236}">
                  <a16:creationId xmlns:a16="http://schemas.microsoft.com/office/drawing/2014/main" id="{811E733A-734A-110F-0D92-D98F678754B6}"/>
                </a:ext>
              </a:extLst>
            </p:cNvPr>
            <p:cNvSpPr/>
            <p:nvPr/>
          </p:nvSpPr>
          <p:spPr>
            <a:xfrm flipV="1">
              <a:off x="1357696" y="3032284"/>
              <a:ext cx="0" cy="450022"/>
            </a:xfrm>
            <a:prstGeom prst="line">
              <a:avLst/>
            </a:prstGeom>
            <a:ln w="38100" cap="flat">
              <a:solidFill>
                <a:srgbClr val="000000"/>
              </a:solidFill>
              <a:prstDash val="solid"/>
              <a:headEnd type="none" w="sm" len="sm"/>
              <a:tailEnd type="none" w="sm" len="sm"/>
            </a:ln>
          </p:spPr>
          <p:txBody>
            <a:bodyPr/>
            <a:lstStyle/>
            <a:p>
              <a:endParaRPr lang="en-AU"/>
            </a:p>
          </p:txBody>
        </p:sp>
        <p:sp>
          <p:nvSpPr>
            <p:cNvPr id="9" name="AutoShape 4">
              <a:extLst>
                <a:ext uri="{FF2B5EF4-FFF2-40B4-BE49-F238E27FC236}">
                  <a16:creationId xmlns:a16="http://schemas.microsoft.com/office/drawing/2014/main" id="{9BDB7D1B-060D-0FDE-11BD-3513F79F8495}"/>
                </a:ext>
              </a:extLst>
            </p:cNvPr>
            <p:cNvSpPr/>
            <p:nvPr/>
          </p:nvSpPr>
          <p:spPr>
            <a:xfrm flipV="1">
              <a:off x="9750795" y="3032284"/>
              <a:ext cx="0" cy="450022"/>
            </a:xfrm>
            <a:prstGeom prst="line">
              <a:avLst/>
            </a:prstGeom>
            <a:ln w="38100" cap="flat">
              <a:solidFill>
                <a:srgbClr val="000000"/>
              </a:solidFill>
              <a:prstDash val="solid"/>
              <a:headEnd type="none" w="sm" len="sm"/>
              <a:tailEnd type="none" w="sm" len="sm"/>
            </a:ln>
          </p:spPr>
          <p:txBody>
            <a:bodyPr/>
            <a:lstStyle/>
            <a:p>
              <a:endParaRPr lang="en-AU"/>
            </a:p>
          </p:txBody>
        </p:sp>
        <p:sp>
          <p:nvSpPr>
            <p:cNvPr id="10" name="AutoShape 5">
              <a:extLst>
                <a:ext uri="{FF2B5EF4-FFF2-40B4-BE49-F238E27FC236}">
                  <a16:creationId xmlns:a16="http://schemas.microsoft.com/office/drawing/2014/main" id="{C6B1E7AE-E32E-C297-2B39-65A4390E7936}"/>
                </a:ext>
              </a:extLst>
            </p:cNvPr>
            <p:cNvSpPr/>
            <p:nvPr/>
          </p:nvSpPr>
          <p:spPr>
            <a:xfrm flipV="1">
              <a:off x="195777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1" name="AutoShape 6">
              <a:extLst>
                <a:ext uri="{FF2B5EF4-FFF2-40B4-BE49-F238E27FC236}">
                  <a16:creationId xmlns:a16="http://schemas.microsoft.com/office/drawing/2014/main" id="{72053083-2E9A-63C1-834E-65EDB6EC71CC}"/>
                </a:ext>
              </a:extLst>
            </p:cNvPr>
            <p:cNvSpPr/>
            <p:nvPr/>
          </p:nvSpPr>
          <p:spPr>
            <a:xfrm flipV="1">
              <a:off x="255784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2" name="AutoShape 7">
              <a:extLst>
                <a:ext uri="{FF2B5EF4-FFF2-40B4-BE49-F238E27FC236}">
                  <a16:creationId xmlns:a16="http://schemas.microsoft.com/office/drawing/2014/main" id="{7E6B90FD-FB79-47F8-90DB-63AF7827BB5B}"/>
                </a:ext>
              </a:extLst>
            </p:cNvPr>
            <p:cNvSpPr/>
            <p:nvPr/>
          </p:nvSpPr>
          <p:spPr>
            <a:xfrm flipV="1">
              <a:off x="315792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3" name="AutoShape 8">
              <a:extLst>
                <a:ext uri="{FF2B5EF4-FFF2-40B4-BE49-F238E27FC236}">
                  <a16:creationId xmlns:a16="http://schemas.microsoft.com/office/drawing/2014/main" id="{9D931C35-BB8A-6FFB-4D3B-CDB55C54FDE1}"/>
                </a:ext>
              </a:extLst>
            </p:cNvPr>
            <p:cNvSpPr/>
            <p:nvPr/>
          </p:nvSpPr>
          <p:spPr>
            <a:xfrm flipV="1">
              <a:off x="375799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4" name="AutoShape 9">
              <a:extLst>
                <a:ext uri="{FF2B5EF4-FFF2-40B4-BE49-F238E27FC236}">
                  <a16:creationId xmlns:a16="http://schemas.microsoft.com/office/drawing/2014/main" id="{D8A4834B-2BF7-3BF7-728C-0C22909B2894}"/>
                </a:ext>
              </a:extLst>
            </p:cNvPr>
            <p:cNvSpPr/>
            <p:nvPr/>
          </p:nvSpPr>
          <p:spPr>
            <a:xfrm flipV="1">
              <a:off x="5558221" y="3032284"/>
              <a:ext cx="0" cy="450022"/>
            </a:xfrm>
            <a:prstGeom prst="line">
              <a:avLst/>
            </a:prstGeom>
            <a:ln w="38100" cap="flat">
              <a:solidFill>
                <a:srgbClr val="000000"/>
              </a:solidFill>
              <a:prstDash val="solid"/>
              <a:headEnd type="none" w="sm" len="sm"/>
              <a:tailEnd type="none" w="sm" len="sm"/>
            </a:ln>
          </p:spPr>
          <p:txBody>
            <a:bodyPr/>
            <a:lstStyle/>
            <a:p>
              <a:endParaRPr lang="en-AU"/>
            </a:p>
          </p:txBody>
        </p:sp>
        <p:sp>
          <p:nvSpPr>
            <p:cNvPr id="15" name="AutoShape 10">
              <a:extLst>
                <a:ext uri="{FF2B5EF4-FFF2-40B4-BE49-F238E27FC236}">
                  <a16:creationId xmlns:a16="http://schemas.microsoft.com/office/drawing/2014/main" id="{0EE39FE1-F694-BAE7-7BC3-CA391B54E681}"/>
                </a:ext>
              </a:extLst>
            </p:cNvPr>
            <p:cNvSpPr/>
            <p:nvPr/>
          </p:nvSpPr>
          <p:spPr>
            <a:xfrm flipV="1">
              <a:off x="435807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6" name="AutoShape 11">
              <a:extLst>
                <a:ext uri="{FF2B5EF4-FFF2-40B4-BE49-F238E27FC236}">
                  <a16:creationId xmlns:a16="http://schemas.microsoft.com/office/drawing/2014/main" id="{FD57557B-7744-9D5C-FE02-255814624093}"/>
                </a:ext>
              </a:extLst>
            </p:cNvPr>
            <p:cNvSpPr/>
            <p:nvPr/>
          </p:nvSpPr>
          <p:spPr>
            <a:xfrm flipV="1">
              <a:off x="495814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7" name="AutoShape 12">
              <a:extLst>
                <a:ext uri="{FF2B5EF4-FFF2-40B4-BE49-F238E27FC236}">
                  <a16:creationId xmlns:a16="http://schemas.microsoft.com/office/drawing/2014/main" id="{92F578AC-358C-33EC-DB43-A6E90071FBE1}"/>
                </a:ext>
              </a:extLst>
            </p:cNvPr>
            <p:cNvSpPr/>
            <p:nvPr/>
          </p:nvSpPr>
          <p:spPr>
            <a:xfrm flipV="1">
              <a:off x="615829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8" name="AutoShape 13">
              <a:extLst>
                <a:ext uri="{FF2B5EF4-FFF2-40B4-BE49-F238E27FC236}">
                  <a16:creationId xmlns:a16="http://schemas.microsoft.com/office/drawing/2014/main" id="{060B7E95-9CDB-5220-D2F1-0AB65AE6B3A6}"/>
                </a:ext>
              </a:extLst>
            </p:cNvPr>
            <p:cNvSpPr/>
            <p:nvPr/>
          </p:nvSpPr>
          <p:spPr>
            <a:xfrm flipV="1">
              <a:off x="675837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19" name="AutoShape 14">
              <a:extLst>
                <a:ext uri="{FF2B5EF4-FFF2-40B4-BE49-F238E27FC236}">
                  <a16:creationId xmlns:a16="http://schemas.microsoft.com/office/drawing/2014/main" id="{E4C2717D-ADEC-D9A8-C94B-C8BFE24451AC}"/>
                </a:ext>
              </a:extLst>
            </p:cNvPr>
            <p:cNvSpPr/>
            <p:nvPr/>
          </p:nvSpPr>
          <p:spPr>
            <a:xfrm flipV="1">
              <a:off x="735844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20" name="AutoShape 15">
              <a:extLst>
                <a:ext uri="{FF2B5EF4-FFF2-40B4-BE49-F238E27FC236}">
                  <a16:creationId xmlns:a16="http://schemas.microsoft.com/office/drawing/2014/main" id="{8F812E90-863F-2E82-1B6C-30D184136D98}"/>
                </a:ext>
              </a:extLst>
            </p:cNvPr>
            <p:cNvSpPr/>
            <p:nvPr/>
          </p:nvSpPr>
          <p:spPr>
            <a:xfrm flipV="1">
              <a:off x="795852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21" name="AutoShape 16">
              <a:extLst>
                <a:ext uri="{FF2B5EF4-FFF2-40B4-BE49-F238E27FC236}">
                  <a16:creationId xmlns:a16="http://schemas.microsoft.com/office/drawing/2014/main" id="{E887A18D-33C5-8F6C-0607-523E74E36A6E}"/>
                </a:ext>
              </a:extLst>
            </p:cNvPr>
            <p:cNvSpPr/>
            <p:nvPr/>
          </p:nvSpPr>
          <p:spPr>
            <a:xfrm flipV="1">
              <a:off x="8558596"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22" name="AutoShape 17">
              <a:extLst>
                <a:ext uri="{FF2B5EF4-FFF2-40B4-BE49-F238E27FC236}">
                  <a16:creationId xmlns:a16="http://schemas.microsoft.com/office/drawing/2014/main" id="{61ED4AAD-58CC-9C78-91BC-4B0E46C7FAA0}"/>
                </a:ext>
              </a:extLst>
            </p:cNvPr>
            <p:cNvSpPr/>
            <p:nvPr/>
          </p:nvSpPr>
          <p:spPr>
            <a:xfrm flipV="1">
              <a:off x="9158671" y="3212285"/>
              <a:ext cx="0" cy="270021"/>
            </a:xfrm>
            <a:prstGeom prst="line">
              <a:avLst/>
            </a:prstGeom>
            <a:ln w="38100" cap="flat">
              <a:solidFill>
                <a:srgbClr val="000000"/>
              </a:solidFill>
              <a:prstDash val="solid"/>
              <a:headEnd type="none" w="sm" len="sm"/>
              <a:tailEnd type="none" w="sm" len="sm"/>
            </a:ln>
          </p:spPr>
          <p:txBody>
            <a:bodyPr/>
            <a:lstStyle/>
            <a:p>
              <a:endParaRPr lang="en-AU"/>
            </a:p>
          </p:txBody>
        </p:sp>
        <p:sp>
          <p:nvSpPr>
            <p:cNvPr id="23" name="TextBox 18">
              <a:extLst>
                <a:ext uri="{FF2B5EF4-FFF2-40B4-BE49-F238E27FC236}">
                  <a16:creationId xmlns:a16="http://schemas.microsoft.com/office/drawing/2014/main" id="{188274F6-130F-9443-C7CF-D71BE35714A4}"/>
                </a:ext>
              </a:extLst>
            </p:cNvPr>
            <p:cNvSpPr txBox="1"/>
            <p:nvPr/>
          </p:nvSpPr>
          <p:spPr>
            <a:xfrm>
              <a:off x="5476626" y="3605095"/>
              <a:ext cx="163190"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0</a:t>
              </a:r>
            </a:p>
          </p:txBody>
        </p:sp>
        <p:sp>
          <p:nvSpPr>
            <p:cNvPr id="24" name="TextBox 19">
              <a:extLst>
                <a:ext uri="{FF2B5EF4-FFF2-40B4-BE49-F238E27FC236}">
                  <a16:creationId xmlns:a16="http://schemas.microsoft.com/office/drawing/2014/main" id="{3335E130-A310-9C35-72ED-9AAE644AB5A1}"/>
                </a:ext>
              </a:extLst>
            </p:cNvPr>
            <p:cNvSpPr txBox="1"/>
            <p:nvPr/>
          </p:nvSpPr>
          <p:spPr>
            <a:xfrm>
              <a:off x="4797954" y="3605094"/>
              <a:ext cx="307511" cy="282144"/>
            </a:xfrm>
            <a:prstGeom prst="rect">
              <a:avLst/>
            </a:prstGeom>
          </p:spPr>
          <p:txBody>
            <a:bodyPr wrap="square"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-1</a:t>
              </a:r>
            </a:p>
          </p:txBody>
        </p:sp>
        <p:sp>
          <p:nvSpPr>
            <p:cNvPr id="25" name="TextBox 20">
              <a:extLst>
                <a:ext uri="{FF2B5EF4-FFF2-40B4-BE49-F238E27FC236}">
                  <a16:creationId xmlns:a16="http://schemas.microsoft.com/office/drawing/2014/main" id="{E007B076-0580-FB64-A766-B5300B67D09D}"/>
                </a:ext>
              </a:extLst>
            </p:cNvPr>
            <p:cNvSpPr txBox="1"/>
            <p:nvPr/>
          </p:nvSpPr>
          <p:spPr>
            <a:xfrm>
              <a:off x="6103937" y="3605095"/>
              <a:ext cx="108719"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1</a:t>
              </a:r>
            </a:p>
          </p:txBody>
        </p:sp>
        <p:sp>
          <p:nvSpPr>
            <p:cNvPr id="26" name="TextBox 21">
              <a:extLst>
                <a:ext uri="{FF2B5EF4-FFF2-40B4-BE49-F238E27FC236}">
                  <a16:creationId xmlns:a16="http://schemas.microsoft.com/office/drawing/2014/main" id="{69FDA3DA-7AD2-0FE0-11EA-8DF1BE276B64}"/>
                </a:ext>
              </a:extLst>
            </p:cNvPr>
            <p:cNvSpPr txBox="1"/>
            <p:nvPr/>
          </p:nvSpPr>
          <p:spPr>
            <a:xfrm>
              <a:off x="6678897" y="3605095"/>
              <a:ext cx="158948"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2</a:t>
              </a:r>
            </a:p>
          </p:txBody>
        </p:sp>
        <p:sp>
          <p:nvSpPr>
            <p:cNvPr id="27" name="TextBox 22">
              <a:extLst>
                <a:ext uri="{FF2B5EF4-FFF2-40B4-BE49-F238E27FC236}">
                  <a16:creationId xmlns:a16="http://schemas.microsoft.com/office/drawing/2014/main" id="{A9A43231-CB48-C6B9-A6D8-4D1073E8905C}"/>
                </a:ext>
              </a:extLst>
            </p:cNvPr>
            <p:cNvSpPr txBox="1"/>
            <p:nvPr/>
          </p:nvSpPr>
          <p:spPr>
            <a:xfrm>
              <a:off x="7288906" y="3605095"/>
              <a:ext cx="139080" cy="282144"/>
            </a:xfrm>
            <a:prstGeom prst="rect">
              <a:avLst/>
            </a:prstGeom>
          </p:spPr>
          <p:txBody>
            <a:bodyPr lIns="0" tIns="0" rIns="0" bIns="0" rtlCol="0" anchor="t">
              <a:spAutoFit/>
            </a:bodyPr>
            <a:lstStyle/>
            <a:p>
              <a:pPr algn="ctr">
                <a:lnSpc>
                  <a:spcPts val="2939"/>
                </a:lnSpc>
              </a:pPr>
              <a:r>
                <a:rPr lang="en-US" sz="2099">
                  <a:solidFill>
                    <a:schemeClr val="accent2"/>
                  </a:solidFill>
                  <a:latin typeface="Public Sans"/>
                  <a:ea typeface="Public Sans"/>
                  <a:cs typeface="Public Sans"/>
                  <a:sym typeface="Public Sans"/>
                </a:rPr>
                <a:t>?</a:t>
              </a:r>
            </a:p>
          </p:txBody>
        </p:sp>
        <p:sp>
          <p:nvSpPr>
            <p:cNvPr id="28" name="TextBox 23">
              <a:extLst>
                <a:ext uri="{FF2B5EF4-FFF2-40B4-BE49-F238E27FC236}">
                  <a16:creationId xmlns:a16="http://schemas.microsoft.com/office/drawing/2014/main" id="{F6D27692-F56F-93FC-F566-CDA9B13B8B21}"/>
                </a:ext>
              </a:extLst>
            </p:cNvPr>
            <p:cNvSpPr txBox="1"/>
            <p:nvPr/>
          </p:nvSpPr>
          <p:spPr>
            <a:xfrm>
              <a:off x="7871308" y="3605095"/>
              <a:ext cx="167655"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4</a:t>
              </a:r>
            </a:p>
          </p:txBody>
        </p:sp>
        <p:sp>
          <p:nvSpPr>
            <p:cNvPr id="29" name="TextBox 24">
              <a:extLst>
                <a:ext uri="{FF2B5EF4-FFF2-40B4-BE49-F238E27FC236}">
                  <a16:creationId xmlns:a16="http://schemas.microsoft.com/office/drawing/2014/main" id="{E50A9ECC-7686-3411-EB46-47020742B9C6}"/>
                </a:ext>
              </a:extLst>
            </p:cNvPr>
            <p:cNvSpPr txBox="1"/>
            <p:nvPr/>
          </p:nvSpPr>
          <p:spPr>
            <a:xfrm>
              <a:off x="8489056" y="3605095"/>
              <a:ext cx="139080" cy="282144"/>
            </a:xfrm>
            <a:prstGeom prst="rect">
              <a:avLst/>
            </a:prstGeom>
          </p:spPr>
          <p:txBody>
            <a:bodyPr lIns="0" tIns="0" rIns="0" bIns="0" rtlCol="0" anchor="t">
              <a:spAutoFit/>
            </a:bodyPr>
            <a:lstStyle/>
            <a:p>
              <a:pPr algn="ctr">
                <a:lnSpc>
                  <a:spcPts val="2939"/>
                </a:lnSpc>
              </a:pPr>
              <a:r>
                <a:rPr lang="en-US" sz="2099">
                  <a:solidFill>
                    <a:schemeClr val="accent2"/>
                  </a:solidFill>
                  <a:latin typeface="Public Sans"/>
                  <a:ea typeface="Public Sans"/>
                  <a:cs typeface="Public Sans"/>
                  <a:sym typeface="Public Sans"/>
                </a:rPr>
                <a:t>?</a:t>
              </a:r>
            </a:p>
          </p:txBody>
        </p:sp>
        <p:sp>
          <p:nvSpPr>
            <p:cNvPr id="30" name="TextBox 25">
              <a:extLst>
                <a:ext uri="{FF2B5EF4-FFF2-40B4-BE49-F238E27FC236}">
                  <a16:creationId xmlns:a16="http://schemas.microsoft.com/office/drawing/2014/main" id="{6F533A92-33D4-005D-5617-09CB213C95F6}"/>
                </a:ext>
              </a:extLst>
            </p:cNvPr>
            <p:cNvSpPr txBox="1"/>
            <p:nvPr/>
          </p:nvSpPr>
          <p:spPr>
            <a:xfrm>
              <a:off x="9076593" y="3605095"/>
              <a:ext cx="166092"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6</a:t>
              </a:r>
            </a:p>
          </p:txBody>
        </p:sp>
        <p:sp>
          <p:nvSpPr>
            <p:cNvPr id="31" name="TextBox 26">
              <a:extLst>
                <a:ext uri="{FF2B5EF4-FFF2-40B4-BE49-F238E27FC236}">
                  <a16:creationId xmlns:a16="http://schemas.microsoft.com/office/drawing/2014/main" id="{C88F8C79-D8DD-BCBB-7E24-6FBC49E7206B}"/>
                </a:ext>
              </a:extLst>
            </p:cNvPr>
            <p:cNvSpPr txBox="1"/>
            <p:nvPr/>
          </p:nvSpPr>
          <p:spPr>
            <a:xfrm>
              <a:off x="9681255" y="3605095"/>
              <a:ext cx="139080" cy="282144"/>
            </a:xfrm>
            <a:prstGeom prst="rect">
              <a:avLst/>
            </a:prstGeom>
          </p:spPr>
          <p:txBody>
            <a:bodyPr lIns="0" tIns="0" rIns="0" bIns="0" rtlCol="0" anchor="t">
              <a:spAutoFit/>
            </a:bodyPr>
            <a:lstStyle/>
            <a:p>
              <a:pPr algn="ctr">
                <a:lnSpc>
                  <a:spcPts val="2939"/>
                </a:lnSpc>
              </a:pPr>
              <a:r>
                <a:rPr lang="en-US" sz="2099">
                  <a:solidFill>
                    <a:schemeClr val="accent2"/>
                  </a:solidFill>
                  <a:latin typeface="Public Sans"/>
                  <a:ea typeface="Public Sans"/>
                  <a:cs typeface="Public Sans"/>
                  <a:sym typeface="Public Sans"/>
                </a:rPr>
                <a:t>?</a:t>
              </a:r>
            </a:p>
          </p:txBody>
        </p:sp>
        <p:sp>
          <p:nvSpPr>
            <p:cNvPr id="32" name="TextBox 27">
              <a:extLst>
                <a:ext uri="{FF2B5EF4-FFF2-40B4-BE49-F238E27FC236}">
                  <a16:creationId xmlns:a16="http://schemas.microsoft.com/office/drawing/2014/main" id="{91A6E729-C800-08F6-717F-6AF525422F12}"/>
                </a:ext>
              </a:extLst>
            </p:cNvPr>
            <p:cNvSpPr txBox="1"/>
            <p:nvPr/>
          </p:nvSpPr>
          <p:spPr>
            <a:xfrm>
              <a:off x="4295898" y="3605095"/>
              <a:ext cx="139080" cy="282144"/>
            </a:xfrm>
            <a:prstGeom prst="rect">
              <a:avLst/>
            </a:prstGeom>
          </p:spPr>
          <p:txBody>
            <a:bodyPr lIns="0" tIns="0" rIns="0" bIns="0" rtlCol="0" anchor="t">
              <a:spAutoFit/>
            </a:bodyPr>
            <a:lstStyle/>
            <a:p>
              <a:pPr algn="ctr">
                <a:lnSpc>
                  <a:spcPts val="2939"/>
                </a:lnSpc>
              </a:pPr>
              <a:r>
                <a:rPr lang="en-US" sz="2099">
                  <a:solidFill>
                    <a:schemeClr val="accent2"/>
                  </a:solidFill>
                  <a:latin typeface="Public Sans"/>
                  <a:ea typeface="Public Sans"/>
                  <a:cs typeface="Public Sans"/>
                  <a:sym typeface="Public Sans"/>
                </a:rPr>
                <a:t>?</a:t>
              </a:r>
            </a:p>
          </p:txBody>
        </p:sp>
        <p:sp>
          <p:nvSpPr>
            <p:cNvPr id="33" name="TextBox 28">
              <a:extLst>
                <a:ext uri="{FF2B5EF4-FFF2-40B4-BE49-F238E27FC236}">
                  <a16:creationId xmlns:a16="http://schemas.microsoft.com/office/drawing/2014/main" id="{26A865F1-247E-CFE1-3291-D418644E0112}"/>
                </a:ext>
              </a:extLst>
            </p:cNvPr>
            <p:cNvSpPr txBox="1"/>
            <p:nvPr/>
          </p:nvSpPr>
          <p:spPr>
            <a:xfrm>
              <a:off x="3638339" y="3605095"/>
              <a:ext cx="268784" cy="375285"/>
            </a:xfrm>
            <a:prstGeom prst="rect">
              <a:avLst/>
            </a:prstGeom>
          </p:spPr>
          <p:txBody>
            <a:bodyPr lIns="0" tIns="0" rIns="0" bIns="0" rtlCol="0" anchor="t">
              <a:spAutoFit/>
            </a:bodyPr>
            <a:lstStyle/>
            <a:p>
              <a:pPr algn="ctr">
                <a:lnSpc>
                  <a:spcPts val="2939"/>
                </a:lnSpc>
              </a:pPr>
              <a:r>
                <a:rPr lang="en-US" sz="2099" dirty="0">
                  <a:solidFill>
                    <a:srgbClr val="000000"/>
                  </a:solidFill>
                  <a:latin typeface="Public Sans"/>
                  <a:ea typeface="Public Sans"/>
                  <a:cs typeface="Public Sans"/>
                  <a:sym typeface="Public Sans"/>
                </a:rPr>
                <a:t>-3</a:t>
              </a:r>
            </a:p>
          </p:txBody>
        </p:sp>
        <p:sp>
          <p:nvSpPr>
            <p:cNvPr id="34" name="TextBox 29">
              <a:extLst>
                <a:ext uri="{FF2B5EF4-FFF2-40B4-BE49-F238E27FC236}">
                  <a16:creationId xmlns:a16="http://schemas.microsoft.com/office/drawing/2014/main" id="{52DDF58A-83D6-30E6-26D2-9C87141ABBA7}"/>
                </a:ext>
              </a:extLst>
            </p:cNvPr>
            <p:cNvSpPr txBox="1"/>
            <p:nvPr/>
          </p:nvSpPr>
          <p:spPr>
            <a:xfrm>
              <a:off x="3070634" y="3605095"/>
              <a:ext cx="139080" cy="282144"/>
            </a:xfrm>
            <a:prstGeom prst="rect">
              <a:avLst/>
            </a:prstGeom>
          </p:spPr>
          <p:txBody>
            <a:bodyPr lIns="0" tIns="0" rIns="0" bIns="0" rtlCol="0" anchor="t">
              <a:spAutoFit/>
            </a:bodyPr>
            <a:lstStyle/>
            <a:p>
              <a:pPr algn="ctr">
                <a:lnSpc>
                  <a:spcPts val="2939"/>
                </a:lnSpc>
              </a:pPr>
              <a:r>
                <a:rPr lang="en-US" sz="2099" dirty="0">
                  <a:solidFill>
                    <a:schemeClr val="accent2"/>
                  </a:solidFill>
                  <a:latin typeface="Public Sans"/>
                  <a:ea typeface="Public Sans"/>
                  <a:cs typeface="Public Sans"/>
                  <a:sym typeface="Public Sans"/>
                </a:rPr>
                <a:t>?</a:t>
              </a:r>
            </a:p>
          </p:txBody>
        </p:sp>
        <p:sp>
          <p:nvSpPr>
            <p:cNvPr id="35" name="TextBox 30">
              <a:extLst>
                <a:ext uri="{FF2B5EF4-FFF2-40B4-BE49-F238E27FC236}">
                  <a16:creationId xmlns:a16="http://schemas.microsoft.com/office/drawing/2014/main" id="{BDFE8729-9B3D-80B1-B82F-09BBE16EBECC}"/>
                </a:ext>
              </a:extLst>
            </p:cNvPr>
            <p:cNvSpPr txBox="1"/>
            <p:nvPr/>
          </p:nvSpPr>
          <p:spPr>
            <a:xfrm>
              <a:off x="2502929" y="3605095"/>
              <a:ext cx="139080" cy="282144"/>
            </a:xfrm>
            <a:prstGeom prst="rect">
              <a:avLst/>
            </a:prstGeom>
          </p:spPr>
          <p:txBody>
            <a:bodyPr lIns="0" tIns="0" rIns="0" bIns="0" rtlCol="0" anchor="t">
              <a:spAutoFit/>
            </a:bodyPr>
            <a:lstStyle/>
            <a:p>
              <a:pPr algn="ctr">
                <a:lnSpc>
                  <a:spcPts val="2939"/>
                </a:lnSpc>
              </a:pPr>
              <a:r>
                <a:rPr lang="en-US" sz="2099">
                  <a:solidFill>
                    <a:schemeClr val="accent2"/>
                  </a:solidFill>
                  <a:latin typeface="Public Sans"/>
                  <a:ea typeface="Public Sans"/>
                  <a:cs typeface="Public Sans"/>
                  <a:sym typeface="Public Sans"/>
                </a:rPr>
                <a:t>?</a:t>
              </a:r>
            </a:p>
          </p:txBody>
        </p:sp>
        <p:sp>
          <p:nvSpPr>
            <p:cNvPr id="36" name="TextBox 31">
              <a:extLst>
                <a:ext uri="{FF2B5EF4-FFF2-40B4-BE49-F238E27FC236}">
                  <a16:creationId xmlns:a16="http://schemas.microsoft.com/office/drawing/2014/main" id="{CFC29D12-D9FF-025D-67D2-7013BAEB5002}"/>
                </a:ext>
              </a:extLst>
            </p:cNvPr>
            <p:cNvSpPr txBox="1"/>
            <p:nvPr/>
          </p:nvSpPr>
          <p:spPr>
            <a:xfrm>
              <a:off x="1824384" y="3605095"/>
              <a:ext cx="266774"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-6</a:t>
              </a:r>
            </a:p>
          </p:txBody>
        </p:sp>
        <p:sp>
          <p:nvSpPr>
            <p:cNvPr id="37" name="TextBox 32">
              <a:extLst>
                <a:ext uri="{FF2B5EF4-FFF2-40B4-BE49-F238E27FC236}">
                  <a16:creationId xmlns:a16="http://schemas.microsoft.com/office/drawing/2014/main" id="{F22A5963-CA66-95B0-71BC-B651C51F8ABB}"/>
                </a:ext>
              </a:extLst>
            </p:cNvPr>
            <p:cNvSpPr txBox="1"/>
            <p:nvPr/>
          </p:nvSpPr>
          <p:spPr>
            <a:xfrm>
              <a:off x="1227323" y="3605095"/>
              <a:ext cx="260747" cy="375285"/>
            </a:xfrm>
            <a:prstGeom prst="rect">
              <a:avLst/>
            </a:prstGeom>
          </p:spPr>
          <p:txBody>
            <a:bodyPr lIns="0" tIns="0" rIns="0" bIns="0" rtlCol="0" anchor="t">
              <a:spAutoFit/>
            </a:bodyPr>
            <a:lstStyle/>
            <a:p>
              <a:pPr algn="ctr">
                <a:lnSpc>
                  <a:spcPts val="2939"/>
                </a:lnSpc>
              </a:pPr>
              <a:r>
                <a:rPr lang="en-US" sz="2099">
                  <a:solidFill>
                    <a:srgbClr val="000000"/>
                  </a:solidFill>
                  <a:latin typeface="Public Sans"/>
                  <a:ea typeface="Public Sans"/>
                  <a:cs typeface="Public Sans"/>
                  <a:sym typeface="Public Sans"/>
                </a:rPr>
                <a:t>-7</a:t>
              </a:r>
            </a:p>
          </p:txBody>
        </p:sp>
      </p:grpSp>
      <p:sp>
        <p:nvSpPr>
          <p:cNvPr id="39" name="TextBox 38">
            <a:extLst>
              <a:ext uri="{FF2B5EF4-FFF2-40B4-BE49-F238E27FC236}">
                <a16:creationId xmlns:a16="http://schemas.microsoft.com/office/drawing/2014/main" id="{594A2133-37CE-FD67-40FF-6909F66987B7}"/>
              </a:ext>
            </a:extLst>
          </p:cNvPr>
          <p:cNvSpPr txBox="1"/>
          <p:nvPr/>
        </p:nvSpPr>
        <p:spPr>
          <a:xfrm>
            <a:off x="449422" y="1135391"/>
            <a:ext cx="10914005" cy="1998176"/>
          </a:xfrm>
          <a:prstGeom prst="rect">
            <a:avLst/>
          </a:prstGeom>
          <a:noFill/>
        </p:spPr>
        <p:txBody>
          <a:bodyPr wrap="square" lIns="91440" tIns="45720" rIns="91440" bIns="45720" anchor="t">
            <a:spAutoFit/>
          </a:bodyPr>
          <a:lstStyle/>
          <a:p>
            <a:pPr algn="ctr">
              <a:lnSpc>
                <a:spcPct val="150000"/>
              </a:lnSpc>
            </a:pPr>
            <a:r>
              <a:rPr lang="en-US" sz="4400" b="1" dirty="0"/>
              <a:t>Record </a:t>
            </a:r>
            <a:r>
              <a:rPr lang="en-US" sz="4400" dirty="0"/>
              <a:t>the </a:t>
            </a:r>
            <a:r>
              <a:rPr lang="en-US" sz="4400" b="1" dirty="0">
                <a:solidFill>
                  <a:schemeClr val="accent2"/>
                </a:solidFill>
              </a:rPr>
              <a:t>missing integers </a:t>
            </a:r>
            <a:r>
              <a:rPr lang="en-US" sz="4400" dirty="0"/>
              <a:t>that </a:t>
            </a:r>
            <a:r>
              <a:rPr lang="en-US" sz="4400" b="1" dirty="0"/>
              <a:t>complete</a:t>
            </a:r>
            <a:r>
              <a:rPr lang="en-US" sz="4400" dirty="0"/>
              <a:t> the number line.</a:t>
            </a:r>
            <a:endParaRPr lang="en-US" sz="4400" b="1" dirty="0">
              <a:cs typeface="Arial"/>
            </a:endParaRP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 Placeholder 14">
                <a:extLst>
                  <a:ext uri="{FF2B5EF4-FFF2-40B4-BE49-F238E27FC236}">
                    <a16:creationId xmlns:a16="http://schemas.microsoft.com/office/drawing/2014/main" id="{01D572F6-7091-75B2-B18E-00CDF9C06786}"/>
                  </a:ext>
                </a:extLst>
              </p:cNvPr>
              <p:cNvSpPr txBox="1">
                <a:spLocks/>
              </p:cNvSpPr>
              <p:nvPr/>
            </p:nvSpPr>
            <p:spPr>
              <a:xfrm>
                <a:off x="4692522" y="2256265"/>
                <a:ext cx="3589034"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5400" dirty="0">
                    <a:latin typeface="Cambria Math" panose="02040503050406030204" pitchFamily="18" charset="0"/>
                    <a:ea typeface="Cambria Math" panose="02040503050406030204" pitchFamily="18" charset="0"/>
                  </a:rPr>
                  <a:t>2 - </a:t>
                </a:r>
                <a14:m>
                  <m:oMath xmlns:m="http://schemas.openxmlformats.org/officeDocument/2006/math">
                    <m:f>
                      <m:fPr>
                        <m:ctrlPr>
                          <a:rPr lang="en-US" sz="5400" i="1" smtClean="0">
                            <a:latin typeface="Cambria Math" panose="02040503050406030204" pitchFamily="18" charset="0"/>
                            <a:ea typeface="Cambria Math" panose="02040503050406030204" pitchFamily="18" charset="0"/>
                          </a:rPr>
                        </m:ctrlPr>
                      </m:fPr>
                      <m:num>
                        <m:r>
                          <a:rPr lang="en-AU" sz="5400" b="0" i="1" smtClean="0">
                            <a:latin typeface="Cambria Math" panose="02040503050406030204" pitchFamily="18" charset="0"/>
                            <a:ea typeface="Cambria Math" panose="02040503050406030204" pitchFamily="18" charset="0"/>
                          </a:rPr>
                          <m:t>3</m:t>
                        </m:r>
                      </m:num>
                      <m:den>
                        <m:r>
                          <a:rPr lang="en-AU" sz="5400" b="0" i="1" smtClean="0">
                            <a:latin typeface="Cambria Math" panose="02040503050406030204" pitchFamily="18" charset="0"/>
                            <a:ea typeface="Cambria Math" panose="02040503050406030204" pitchFamily="18" charset="0"/>
                          </a:rPr>
                          <m:t>8</m:t>
                        </m:r>
                      </m:den>
                    </m:f>
                    <m:r>
                      <a:rPr lang="en-AU" sz="5400" b="0" i="1" smtClean="0">
                        <a:latin typeface="Cambria Math" panose="02040503050406030204" pitchFamily="18" charset="0"/>
                        <a:ea typeface="Cambria Math" panose="02040503050406030204" pitchFamily="18" charset="0"/>
                      </a:rPr>
                      <m:t> =</m:t>
                    </m:r>
                  </m:oMath>
                </a14:m>
                <a:endParaRPr lang="en-US" sz="5400" dirty="0">
                  <a:latin typeface="Cambria Math" panose="02040503050406030204" pitchFamily="18" charset="0"/>
                  <a:ea typeface="Cambria Math" panose="02040503050406030204" pitchFamily="18" charset="0"/>
                </a:endParaRPr>
              </a:p>
              <a:p>
                <a:endParaRPr lang="en-US" sz="4400"/>
              </a:p>
            </p:txBody>
          </p:sp>
        </mc:Choice>
        <mc:Fallback xmlns="">
          <p:sp>
            <p:nvSpPr>
              <p:cNvPr id="5" name="Text Placeholder 14">
                <a:extLst>
                  <a:ext uri="{FF2B5EF4-FFF2-40B4-BE49-F238E27FC236}">
                    <a16:creationId xmlns:a16="http://schemas.microsoft.com/office/drawing/2014/main" id="{01D572F6-7091-75B2-B18E-00CDF9C06786}"/>
                  </a:ext>
                </a:extLst>
              </p:cNvPr>
              <p:cNvSpPr txBox="1">
                <a:spLocks noRot="1" noChangeAspect="1" noMove="1" noResize="1" noEditPoints="1" noAdjustHandles="1" noChangeArrowheads="1" noChangeShapeType="1" noTextEdit="1"/>
              </p:cNvSpPr>
              <p:nvPr/>
            </p:nvSpPr>
            <p:spPr>
              <a:xfrm>
                <a:off x="4692522" y="2256265"/>
                <a:ext cx="3589034" cy="754243"/>
              </a:xfrm>
              <a:prstGeom prst="rect">
                <a:avLst/>
              </a:prstGeom>
              <a:blipFill>
                <a:blip r:embed="rId4"/>
                <a:stretch>
                  <a:fillRect l="-11715" b="-142742"/>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6C2A9500-EF99-6FE5-AFEB-B8CCA6A5720C}"/>
              </a:ext>
            </a:extLst>
          </p:cNvPr>
          <p:cNvSpPr txBox="1"/>
          <p:nvPr/>
        </p:nvSpPr>
        <p:spPr>
          <a:xfrm>
            <a:off x="1064914" y="5004659"/>
            <a:ext cx="10062171" cy="769441"/>
          </a:xfrm>
          <a:prstGeom prst="rect">
            <a:avLst/>
          </a:prstGeom>
          <a:noFill/>
        </p:spPr>
        <p:txBody>
          <a:bodyPr wrap="square">
            <a:spAutoFit/>
          </a:bodyPr>
          <a:lstStyle/>
          <a:p>
            <a:pPr algn="ctr"/>
            <a:r>
              <a:rPr lang="en-US" sz="4400" b="1"/>
              <a:t>Communicate </a:t>
            </a:r>
            <a:r>
              <a:rPr lang="en-US" sz="4400"/>
              <a:t>your </a:t>
            </a:r>
            <a:r>
              <a:rPr lang="en-US" sz="4400" b="1"/>
              <a:t>strategy</a:t>
            </a:r>
            <a:r>
              <a:rPr lang="en-US"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 Placeholder 14">
            <a:extLst>
              <a:ext uri="{FF2B5EF4-FFF2-40B4-BE49-F238E27FC236}">
                <a16:creationId xmlns:a16="http://schemas.microsoft.com/office/drawing/2014/main" id="{482A74BA-83A7-AB6E-1F4E-D5A645B09AE1}"/>
              </a:ext>
            </a:extLst>
          </p:cNvPr>
          <p:cNvSpPr txBox="1">
            <a:spLocks/>
          </p:cNvSpPr>
          <p:nvPr/>
        </p:nvSpPr>
        <p:spPr>
          <a:xfrm>
            <a:off x="4104576" y="2674757"/>
            <a:ext cx="3982847"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dirty="0"/>
              <a:t>Sketch</a:t>
            </a:r>
            <a:r>
              <a:rPr lang="en-US" sz="4400" dirty="0"/>
              <a:t> a </a:t>
            </a:r>
            <a:r>
              <a:rPr lang="en-US" sz="4400" b="1" dirty="0"/>
              <a:t>cube.</a:t>
            </a:r>
          </a:p>
          <a:p>
            <a:endParaRPr lang="en-US" sz="4400" dirty="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reading numbers in the millions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5" name="Group 4" descr="An individual whiteboard with the numbers: 7, 17, 317, 4317, 94 317, 194 317,    28 194 317, 28 194 317, 728 194 317">
            <a:extLst>
              <a:ext uri="{FF2B5EF4-FFF2-40B4-BE49-F238E27FC236}">
                <a16:creationId xmlns:a16="http://schemas.microsoft.com/office/drawing/2014/main" id="{637EBD87-99EE-7AE2-E68D-D02850F04387}"/>
              </a:ext>
            </a:extLst>
          </p:cNvPr>
          <p:cNvGrpSpPr/>
          <p:nvPr/>
        </p:nvGrpSpPr>
        <p:grpSpPr>
          <a:xfrm>
            <a:off x="3431550" y="1538582"/>
            <a:ext cx="5328900" cy="4394598"/>
            <a:chOff x="3431550" y="1538582"/>
            <a:chExt cx="5328900" cy="4394598"/>
          </a:xfrm>
        </p:grpSpPr>
        <p:sp>
          <p:nvSpPr>
            <p:cNvPr id="3" name="Freeform 2" descr="An individual whiteboard with the numbers: ">
              <a:extLst>
                <a:ext uri="{FF2B5EF4-FFF2-40B4-BE49-F238E27FC236}">
                  <a16:creationId xmlns:a16="http://schemas.microsoft.com/office/drawing/2014/main" id="{96837934-1022-0751-B1A7-E03F8908359C}"/>
                </a:ext>
              </a:extLst>
            </p:cNvPr>
            <p:cNvSpPr/>
            <p:nvPr/>
          </p:nvSpPr>
          <p:spPr>
            <a:xfrm>
              <a:off x="3431550" y="1538582"/>
              <a:ext cx="5328900" cy="4074818"/>
            </a:xfrm>
            <a:custGeom>
              <a:avLst/>
              <a:gdLst/>
              <a:ahLst/>
              <a:cxnLst/>
              <a:rect l="l" t="t" r="r" b="b"/>
              <a:pathLst>
                <a:path w="10437574" h="7175832">
                  <a:moveTo>
                    <a:pt x="0" y="0"/>
                  </a:moveTo>
                  <a:lnTo>
                    <a:pt x="10437574" y="0"/>
                  </a:lnTo>
                  <a:lnTo>
                    <a:pt x="10437574" y="7175832"/>
                  </a:lnTo>
                  <a:lnTo>
                    <a:pt x="0" y="71758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6" descr="marker">
              <a:extLst>
                <a:ext uri="{FF2B5EF4-FFF2-40B4-BE49-F238E27FC236}">
                  <a16:creationId xmlns:a16="http://schemas.microsoft.com/office/drawing/2014/main" id="{89100D2D-983E-D0BC-71C9-110FC3C7DB1D}"/>
                </a:ext>
              </a:extLst>
            </p:cNvPr>
            <p:cNvSpPr/>
            <p:nvPr/>
          </p:nvSpPr>
          <p:spPr>
            <a:xfrm rot="11025815">
              <a:off x="6131410" y="4817599"/>
              <a:ext cx="1115581" cy="1115581"/>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7" name="TextBox 6" descr="&#10;">
              <a:extLst>
                <a:ext uri="{FF2B5EF4-FFF2-40B4-BE49-F238E27FC236}">
                  <a16:creationId xmlns:a16="http://schemas.microsoft.com/office/drawing/2014/main" id="{F9D77FB4-F0DC-A281-D227-D730324200FF}"/>
                </a:ext>
                <a:ext uri="{C183D7F6-B498-43B3-948B-1728B52AA6E4}">
                  <adec:decorative xmlns:adec="http://schemas.microsoft.com/office/drawing/2017/decorative" val="0"/>
                </a:ext>
              </a:extLst>
            </p:cNvPr>
            <p:cNvSpPr txBox="1"/>
            <p:nvPr/>
          </p:nvSpPr>
          <p:spPr>
            <a:xfrm>
              <a:off x="3839461" y="1893772"/>
              <a:ext cx="4519688" cy="909786"/>
            </a:xfrm>
            <a:prstGeom prst="rect">
              <a:avLst/>
            </a:prstGeom>
            <a:noFill/>
          </p:spPr>
          <p:txBody>
            <a:bodyPr wrap="square" lIns="0" tIns="0" rIns="0" bIns="0" rtlCol="0">
              <a:noAutofit/>
            </a:bodyPr>
            <a:lstStyle/>
            <a:p>
              <a:r>
                <a:rPr lang="en-AU" sz="2800">
                  <a:solidFill>
                    <a:schemeClr val="accent2"/>
                  </a:solidFill>
                  <a:latin typeface="Edu NSW ACT Foundation" panose="020B0604020202020204" charset="0"/>
                </a:rPr>
                <a:t>7, 17, 317, 4317, 94 317, 194 317,    8 194 317, 28 194 317, 728 194 317</a:t>
              </a:r>
            </a:p>
          </p:txBody>
        </p:sp>
      </p:gr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0" y="1222298"/>
            <a:ext cx="11243037" cy="893226"/>
          </a:xfrm>
        </p:spPr>
        <p:txBody>
          <a:bodyPr/>
          <a:lstStyle/>
          <a:p>
            <a:pPr algn="ctr"/>
            <a:r>
              <a:rPr lang="en-AU" sz="4000"/>
              <a:t>The following </a:t>
            </a:r>
            <a:r>
              <a:rPr lang="en-AU" sz="4400"/>
              <a:t>numbers</a:t>
            </a:r>
            <a:r>
              <a:rPr lang="en-AU" sz="4000"/>
              <a:t> are in </a:t>
            </a:r>
            <a:r>
              <a:rPr lang="en-AU" sz="4000" b="1"/>
              <a:t>ascending</a:t>
            </a:r>
            <a:r>
              <a:rPr lang="en-AU" sz="4000"/>
              <a:t> order.</a:t>
            </a:r>
          </a:p>
        </p:txBody>
      </p:sp>
      <p:grpSp>
        <p:nvGrpSpPr>
          <p:cNvPr id="5" name="Group 4" descr="4 yellow sticky notes with numbers:&#10;5 491 497, 3 058 723, 8 946 811, 7 212 905.">
            <a:extLst>
              <a:ext uri="{FF2B5EF4-FFF2-40B4-BE49-F238E27FC236}">
                <a16:creationId xmlns:a16="http://schemas.microsoft.com/office/drawing/2014/main" id="{D163BE9A-8E23-32DD-1575-2725D5AE4665}"/>
              </a:ext>
            </a:extLst>
          </p:cNvPr>
          <p:cNvGrpSpPr/>
          <p:nvPr/>
        </p:nvGrpSpPr>
        <p:grpSpPr>
          <a:xfrm>
            <a:off x="1228846" y="2816049"/>
            <a:ext cx="9579062" cy="2067920"/>
            <a:chOff x="0" y="0"/>
            <a:chExt cx="12772083" cy="2757227"/>
          </a:xfrm>
        </p:grpSpPr>
        <p:sp>
          <p:nvSpPr>
            <p:cNvPr id="7" name="Freeform 3">
              <a:extLst>
                <a:ext uri="{FF2B5EF4-FFF2-40B4-BE49-F238E27FC236}">
                  <a16:creationId xmlns:a16="http://schemas.microsoft.com/office/drawing/2014/main" id="{CBA03D72-7B03-4892-B7CE-463B42B0B007}"/>
                </a:ext>
              </a:extLst>
            </p:cNvPr>
            <p:cNvSpPr/>
            <p:nvPr/>
          </p:nvSpPr>
          <p:spPr>
            <a:xfrm>
              <a:off x="0"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8" name="Freeform 4">
              <a:extLst>
                <a:ext uri="{FF2B5EF4-FFF2-40B4-BE49-F238E27FC236}">
                  <a16:creationId xmlns:a16="http://schemas.microsoft.com/office/drawing/2014/main" id="{8F7EC6E9-ADAA-52D5-5AD4-C78F0D7B296B}"/>
                </a:ext>
              </a:extLst>
            </p:cNvPr>
            <p:cNvSpPr/>
            <p:nvPr/>
          </p:nvSpPr>
          <p:spPr>
            <a:xfrm>
              <a:off x="10021749"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9" name="Freeform 5">
              <a:extLst>
                <a:ext uri="{FF2B5EF4-FFF2-40B4-BE49-F238E27FC236}">
                  <a16:creationId xmlns:a16="http://schemas.microsoft.com/office/drawing/2014/main" id="{19A178EA-E54C-0F7B-2E16-3D58EE7AA723}"/>
                </a:ext>
              </a:extLst>
            </p:cNvPr>
            <p:cNvSpPr/>
            <p:nvPr/>
          </p:nvSpPr>
          <p:spPr>
            <a:xfrm>
              <a:off x="6681166"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10" name="Freeform 6">
              <a:extLst>
                <a:ext uri="{FF2B5EF4-FFF2-40B4-BE49-F238E27FC236}">
                  <a16:creationId xmlns:a16="http://schemas.microsoft.com/office/drawing/2014/main" id="{B0CD8D3E-1624-1321-84FE-62846EADB020}"/>
                </a:ext>
              </a:extLst>
            </p:cNvPr>
            <p:cNvSpPr/>
            <p:nvPr/>
          </p:nvSpPr>
          <p:spPr>
            <a:xfrm>
              <a:off x="3340583"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11" name="TextBox 7">
              <a:extLst>
                <a:ext uri="{FF2B5EF4-FFF2-40B4-BE49-F238E27FC236}">
                  <a16:creationId xmlns:a16="http://schemas.microsoft.com/office/drawing/2014/main" id="{F02EF6A7-1152-4476-9179-E86B038E757F}"/>
                </a:ext>
              </a:extLst>
            </p:cNvPr>
            <p:cNvSpPr txBox="1"/>
            <p:nvPr/>
          </p:nvSpPr>
          <p:spPr>
            <a:xfrm>
              <a:off x="139116" y="877445"/>
              <a:ext cx="2336784" cy="632349"/>
            </a:xfrm>
            <a:prstGeom prst="rect">
              <a:avLst/>
            </a:prstGeom>
          </p:spPr>
          <p:txBody>
            <a:bodyPr wrap="square"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5 481 497</a:t>
              </a:r>
            </a:p>
          </p:txBody>
        </p:sp>
        <p:sp>
          <p:nvSpPr>
            <p:cNvPr id="13" name="TextBox 8">
              <a:extLst>
                <a:ext uri="{FF2B5EF4-FFF2-40B4-BE49-F238E27FC236}">
                  <a16:creationId xmlns:a16="http://schemas.microsoft.com/office/drawing/2014/main" id="{30190CD1-9019-D71B-33A4-107F3EA1BB3A}"/>
                </a:ext>
              </a:extLst>
            </p:cNvPr>
            <p:cNvSpPr txBox="1"/>
            <p:nvPr/>
          </p:nvSpPr>
          <p:spPr>
            <a:xfrm>
              <a:off x="3566499" y="877446"/>
              <a:ext cx="2298502" cy="632349"/>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5 058 723</a:t>
              </a:r>
            </a:p>
          </p:txBody>
        </p:sp>
        <p:sp>
          <p:nvSpPr>
            <p:cNvPr id="14" name="TextBox 9">
              <a:extLst>
                <a:ext uri="{FF2B5EF4-FFF2-40B4-BE49-F238E27FC236}">
                  <a16:creationId xmlns:a16="http://schemas.microsoft.com/office/drawing/2014/main" id="{56E61CFD-7BD3-CFE9-9308-ED7C761A686F}"/>
                </a:ext>
              </a:extLst>
            </p:cNvPr>
            <p:cNvSpPr txBox="1"/>
            <p:nvPr/>
          </p:nvSpPr>
          <p:spPr>
            <a:xfrm>
              <a:off x="6993758" y="877446"/>
              <a:ext cx="2118420" cy="632349"/>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4 946 811</a:t>
              </a:r>
            </a:p>
          </p:txBody>
        </p:sp>
        <p:sp>
          <p:nvSpPr>
            <p:cNvPr id="15" name="TextBox 10">
              <a:extLst>
                <a:ext uri="{FF2B5EF4-FFF2-40B4-BE49-F238E27FC236}">
                  <a16:creationId xmlns:a16="http://schemas.microsoft.com/office/drawing/2014/main" id="{B6C37087-8297-CD59-EECA-8E5C80D1F555}"/>
                </a:ext>
              </a:extLst>
            </p:cNvPr>
            <p:cNvSpPr txBox="1"/>
            <p:nvPr/>
          </p:nvSpPr>
          <p:spPr>
            <a:xfrm>
              <a:off x="10160686" y="877445"/>
              <a:ext cx="2315979" cy="610168"/>
            </a:xfrm>
            <a:prstGeom prst="rect">
              <a:avLst/>
            </a:prstGeom>
          </p:spPr>
          <p:txBody>
            <a:bodyPr wrap="square"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4 212 905</a:t>
              </a:r>
            </a:p>
          </p:txBody>
        </p:sp>
      </p:gr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menu board with 6 plates:&#10;orange - $22&#10;purple - $25&#10;pink - $27&#10;green - $30&#10;red - $33&#10;blue - $35">
            <a:extLst>
              <a:ext uri="{FF2B5EF4-FFF2-40B4-BE49-F238E27FC236}">
                <a16:creationId xmlns:a16="http://schemas.microsoft.com/office/drawing/2014/main" id="{E738B274-6637-3705-EB80-87EF8593AA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215" y="1277178"/>
            <a:ext cx="4765662" cy="5145866"/>
          </a:xfrm>
          <a:prstGeom prst="rect">
            <a:avLst/>
          </a:prstGeom>
        </p:spPr>
      </p:pic>
      <p:sp>
        <p:nvSpPr>
          <p:cNvPr id="5" name="TextBox 4">
            <a:extLst>
              <a:ext uri="{FF2B5EF4-FFF2-40B4-BE49-F238E27FC236}">
                <a16:creationId xmlns:a16="http://schemas.microsoft.com/office/drawing/2014/main" id="{E3BE39F4-B342-4262-CF4D-B6FE10D0A381}"/>
              </a:ext>
            </a:extLst>
          </p:cNvPr>
          <p:cNvSpPr txBox="1"/>
          <p:nvPr/>
        </p:nvSpPr>
        <p:spPr>
          <a:xfrm>
            <a:off x="246024" y="1090734"/>
            <a:ext cx="7022069" cy="5275996"/>
          </a:xfrm>
          <a:prstGeom prst="rect">
            <a:avLst/>
          </a:prstGeom>
          <a:noFill/>
        </p:spPr>
        <p:txBody>
          <a:bodyPr wrap="square">
            <a:spAutoFit/>
          </a:bodyPr>
          <a:lstStyle/>
          <a:p>
            <a:pPr algn="ctr">
              <a:lnSpc>
                <a:spcPct val="150000"/>
              </a:lnSpc>
              <a:spcBef>
                <a:spcPts val="1200"/>
              </a:spcBef>
              <a:spcAft>
                <a:spcPts val="600"/>
              </a:spcAft>
              <a:buNone/>
            </a:pPr>
            <a:r>
              <a:rPr lang="en-AU" sz="4400" dirty="0">
                <a:latin typeface="Arial" panose="020B0604020202020204" pitchFamily="34" charset="0"/>
                <a:ea typeface="Calibri" panose="020F0502020204030204" pitchFamily="34" charset="0"/>
              </a:rPr>
              <a:t>Flynn</a:t>
            </a:r>
            <a:r>
              <a:rPr lang="en-AU" sz="4400" dirty="0">
                <a:effectLst/>
                <a:latin typeface="Arial" panose="020B0604020202020204" pitchFamily="34" charset="0"/>
                <a:ea typeface="Calibri" panose="020F0502020204030204" pitchFamily="34" charset="0"/>
              </a:rPr>
              <a:t> ate </a:t>
            </a:r>
            <a:r>
              <a:rPr lang="en-AU" sz="4400" b="1" dirty="0">
                <a:solidFill>
                  <a:srgbClr val="7647D0"/>
                </a:solidFill>
                <a:effectLst/>
                <a:latin typeface="Arial" panose="020B0604020202020204" pitchFamily="34" charset="0"/>
                <a:ea typeface="Calibri" panose="020F0502020204030204" pitchFamily="34" charset="0"/>
              </a:rPr>
              <a:t>2 purple </a:t>
            </a:r>
            <a:r>
              <a:rPr lang="en-AU" sz="4400" dirty="0">
                <a:effectLst/>
                <a:latin typeface="Arial" panose="020B0604020202020204" pitchFamily="34" charset="0"/>
                <a:ea typeface="Calibri" panose="020F0502020204030204" pitchFamily="34" charset="0"/>
              </a:rPr>
              <a:t>plates, </a:t>
            </a:r>
            <a:r>
              <a:rPr lang="en-AU" sz="4400" b="1" dirty="0">
                <a:solidFill>
                  <a:srgbClr val="FF8632"/>
                </a:solidFill>
                <a:effectLst/>
                <a:latin typeface="Arial" panose="020B0604020202020204" pitchFamily="34" charset="0"/>
                <a:ea typeface="Calibri" panose="020F0502020204030204" pitchFamily="34" charset="0"/>
              </a:rPr>
              <a:t>3 orange</a:t>
            </a:r>
            <a:r>
              <a:rPr lang="en-AU" sz="4400" dirty="0">
                <a:solidFill>
                  <a:srgbClr val="FF8632"/>
                </a:solidFill>
                <a:effectLst/>
                <a:latin typeface="Arial" panose="020B0604020202020204" pitchFamily="34" charset="0"/>
                <a:ea typeface="Calibri" panose="020F0502020204030204" pitchFamily="34" charset="0"/>
              </a:rPr>
              <a:t> </a:t>
            </a:r>
            <a:r>
              <a:rPr lang="en-AU" sz="4400" dirty="0">
                <a:effectLst/>
                <a:latin typeface="Arial" panose="020B0604020202020204" pitchFamily="34" charset="0"/>
                <a:ea typeface="Calibri" panose="020F0502020204030204" pitchFamily="34" charset="0"/>
              </a:rPr>
              <a:t>plates and </a:t>
            </a:r>
            <a:r>
              <a:rPr lang="en-AU" sz="4400" b="1" dirty="0">
                <a:solidFill>
                  <a:srgbClr val="ED1C24"/>
                </a:solidFill>
                <a:effectLst/>
                <a:latin typeface="Arial" panose="020B0604020202020204" pitchFamily="34" charset="0"/>
                <a:ea typeface="Calibri" panose="020F0502020204030204" pitchFamily="34" charset="0"/>
              </a:rPr>
              <a:t>2 red</a:t>
            </a:r>
            <a:r>
              <a:rPr lang="en-AU" sz="4400" dirty="0">
                <a:solidFill>
                  <a:srgbClr val="ED1C24"/>
                </a:solidFill>
                <a:effectLst/>
                <a:latin typeface="Arial" panose="020B0604020202020204" pitchFamily="34" charset="0"/>
                <a:ea typeface="Calibri" panose="020F0502020204030204" pitchFamily="34" charset="0"/>
              </a:rPr>
              <a:t> </a:t>
            </a:r>
            <a:r>
              <a:rPr lang="en-AU" sz="4400" dirty="0">
                <a:effectLst/>
                <a:latin typeface="Arial" panose="020B0604020202020204" pitchFamily="34" charset="0"/>
                <a:ea typeface="Calibri" panose="020F0502020204030204" pitchFamily="34" charset="0"/>
              </a:rPr>
              <a:t>plates. </a:t>
            </a:r>
          </a:p>
          <a:p>
            <a:pPr algn="ctr">
              <a:lnSpc>
                <a:spcPct val="150000"/>
              </a:lnSpc>
              <a:spcBef>
                <a:spcPts val="1200"/>
              </a:spcBef>
              <a:spcAft>
                <a:spcPts val="600"/>
              </a:spcAft>
              <a:buNone/>
            </a:pPr>
            <a:r>
              <a:rPr lang="en-AU" sz="4400" dirty="0">
                <a:effectLst/>
                <a:latin typeface="Arial" panose="020B0604020202020204" pitchFamily="34" charset="0"/>
                <a:ea typeface="Calibri" panose="020F0502020204030204" pitchFamily="34" charset="0"/>
              </a:rPr>
              <a:t>How much </a:t>
            </a:r>
            <a:r>
              <a:rPr lang="en-AU" sz="4400" b="1" dirty="0">
                <a:latin typeface="Arial" panose="020B0604020202020204" pitchFamily="34" charset="0"/>
                <a:ea typeface="Calibri" panose="020F0502020204030204" pitchFamily="34" charset="0"/>
              </a:rPr>
              <a:t>change </a:t>
            </a:r>
            <a:r>
              <a:rPr lang="en-AU" sz="4400" dirty="0">
                <a:latin typeface="Arial" panose="020B0604020202020204" pitchFamily="34" charset="0"/>
                <a:ea typeface="Calibri" panose="020F0502020204030204" pitchFamily="34" charset="0"/>
              </a:rPr>
              <a:t>will he get from </a:t>
            </a:r>
            <a:r>
              <a:rPr lang="en-AU" sz="4400" b="1" dirty="0">
                <a:latin typeface="Arial" panose="020B0604020202020204" pitchFamily="34" charset="0"/>
                <a:ea typeface="Calibri" panose="020F0502020204030204" pitchFamily="34" charset="0"/>
              </a:rPr>
              <a:t>$200?</a:t>
            </a:r>
            <a:endParaRPr lang="en-AU" sz="44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line graph of rainfall per month. The data has been provided in the table below.&#10;">
            <a:extLst>
              <a:ext uri="{FF2B5EF4-FFF2-40B4-BE49-F238E27FC236}">
                <a16:creationId xmlns:a16="http://schemas.microsoft.com/office/drawing/2014/main" id="{9E61ACAF-8EDD-9A3F-0784-0809BEEA01B0}"/>
              </a:ext>
            </a:extLst>
          </p:cNvPr>
          <p:cNvPicPr>
            <a:picLocks noChangeAspect="1"/>
          </p:cNvPicPr>
          <p:nvPr/>
        </p:nvPicPr>
        <p:blipFill>
          <a:blip r:embed="rId4"/>
          <a:stretch>
            <a:fillRect/>
          </a:stretch>
        </p:blipFill>
        <p:spPr>
          <a:xfrm>
            <a:off x="4729375" y="1184223"/>
            <a:ext cx="7258164" cy="5148792"/>
          </a:xfrm>
          <a:prstGeom prst="rect">
            <a:avLst/>
          </a:prstGeom>
          <a:ln>
            <a:noFill/>
          </a:ln>
          <a:effectLst>
            <a:outerShdw blurRad="292100" dist="139700" dir="2700000" algn="tl" rotWithShape="0">
              <a:srgbClr val="333333">
                <a:alpha val="65000"/>
              </a:srgbClr>
            </a:outerShdw>
          </a:effectLst>
        </p:spPr>
      </p:pic>
      <p:sp>
        <p:nvSpPr>
          <p:cNvPr id="7" name="Text Placeholder 5">
            <a:extLst>
              <a:ext uri="{FF2B5EF4-FFF2-40B4-BE49-F238E27FC236}">
                <a16:creationId xmlns:a16="http://schemas.microsoft.com/office/drawing/2014/main" id="{9C044867-D8A2-A9DD-AF1A-676CE378E1D4}"/>
              </a:ext>
            </a:extLst>
          </p:cNvPr>
          <p:cNvSpPr txBox="1">
            <a:spLocks/>
          </p:cNvSpPr>
          <p:nvPr/>
        </p:nvSpPr>
        <p:spPr>
          <a:xfrm>
            <a:off x="67747" y="1001238"/>
            <a:ext cx="466162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t>Which month had the </a:t>
            </a:r>
            <a:r>
              <a:rPr lang="en-AU" sz="4000" b="1" dirty="0"/>
              <a:t>most </a:t>
            </a:r>
            <a:r>
              <a:rPr lang="en-AU" sz="4000" dirty="0"/>
              <a:t>rainfall?</a:t>
            </a:r>
          </a:p>
          <a:p>
            <a:pPr algn="ctr"/>
            <a:endParaRPr lang="en-AU" dirty="0"/>
          </a:p>
          <a:p>
            <a:pPr algn="ctr"/>
            <a:r>
              <a:rPr lang="en-AU" sz="4000" dirty="0"/>
              <a:t>Which month had the </a:t>
            </a:r>
            <a:r>
              <a:rPr lang="en-AU" sz="4000" b="1" dirty="0"/>
              <a:t>least</a:t>
            </a:r>
            <a:r>
              <a:rPr lang="en-AU" sz="4000" dirty="0"/>
              <a:t> amount of rainfall?</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 Placeholder 14">
                <a:extLst>
                  <a:ext uri="{FF2B5EF4-FFF2-40B4-BE49-F238E27FC236}">
                    <a16:creationId xmlns:a16="http://schemas.microsoft.com/office/drawing/2014/main" id="{6F3F15EC-7D02-4153-5452-FE3C7D45309B}"/>
                  </a:ext>
                </a:extLst>
              </p:cNvPr>
              <p:cNvSpPr txBox="1">
                <a:spLocks/>
              </p:cNvSpPr>
              <p:nvPr/>
            </p:nvSpPr>
            <p:spPr>
              <a:xfrm>
                <a:off x="600963" y="1680664"/>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ar-AE" sz="5400" i="1" dirty="0" smtClean="0">
                              <a:latin typeface="Cambria Math" panose="02040503050406030204" pitchFamily="18" charset="0"/>
                            </a:rPr>
                          </m:ctrlPr>
                        </m:fPr>
                        <m:num>
                          <m:r>
                            <a:rPr lang="ar-AE" sz="5400" b="0" i="1" dirty="0" smtClean="0">
                              <a:latin typeface="Cambria Math" panose="02040503050406030204" pitchFamily="18" charset="0"/>
                            </a:rPr>
                            <m:t>5</m:t>
                          </m:r>
                        </m:num>
                        <m:den>
                          <m:r>
                            <a:rPr lang="ar-AE" sz="5400" b="0" i="1" dirty="0" smtClean="0">
                              <a:latin typeface="Cambria Math" panose="02040503050406030204" pitchFamily="18" charset="0"/>
                            </a:rPr>
                            <m:t>6</m:t>
                          </m:r>
                        </m:den>
                      </m:f>
                      <m:r>
                        <a:rPr lang="ar-AE" sz="5400" b="0" i="1" dirty="0" smtClean="0">
                          <a:latin typeface="Cambria Math" panose="02040503050406030204" pitchFamily="18" charset="0"/>
                        </a:rPr>
                        <m:t>+</m:t>
                      </m:r>
                      <m:r>
                        <a:rPr lang="ar-AE" sz="5400" b="0" i="1" dirty="0" smtClean="0">
                          <a:latin typeface="Cambria Math" panose="02040503050406030204" pitchFamily="18" charset="0"/>
                        </a:rPr>
                        <m:t>1</m:t>
                      </m:r>
                      <m:f>
                        <m:fPr>
                          <m:ctrlPr>
                            <a:rPr lang="ar-AE" sz="5400" b="0" i="1" dirty="0" smtClean="0">
                              <a:latin typeface="Cambria Math" panose="02040503050406030204" pitchFamily="18" charset="0"/>
                            </a:rPr>
                          </m:ctrlPr>
                        </m:fPr>
                        <m:num>
                          <m:r>
                            <a:rPr lang="ar-AE" sz="5400" b="0" i="1" dirty="0" smtClean="0">
                              <a:latin typeface="Cambria Math" panose="02040503050406030204" pitchFamily="18" charset="0"/>
                            </a:rPr>
                            <m:t>2</m:t>
                          </m:r>
                        </m:num>
                        <m:den>
                          <m:r>
                            <a:rPr lang="ar-AE" sz="5400" b="0" i="1" dirty="0" smtClean="0">
                              <a:latin typeface="Cambria Math" panose="02040503050406030204" pitchFamily="18" charset="0"/>
                            </a:rPr>
                            <m:t>6</m:t>
                          </m:r>
                        </m:den>
                      </m:f>
                      <m:r>
                        <a:rPr lang="ar-AE" sz="5400" b="0" i="1" dirty="0" smtClean="0">
                          <a:latin typeface="Cambria Math" panose="02040503050406030204" pitchFamily="18" charset="0"/>
                        </a:rPr>
                        <m:t>=</m:t>
                      </m:r>
                      <m:r>
                        <a:rPr lang="ar-AE" sz="5400" i="1" dirty="0" smtClean="0">
                          <a:latin typeface="Cambria Math" panose="02040503050406030204" pitchFamily="18" charset="0"/>
                        </a:rPr>
                        <m:t> </m:t>
                      </m:r>
                    </m:oMath>
                  </m:oMathPara>
                </a14:m>
                <a:endParaRPr lang="ar-AE" sz="5400" dirty="0"/>
              </a:p>
              <a:p>
                <a:endParaRPr lang="en-US" sz="4400"/>
              </a:p>
            </p:txBody>
          </p:sp>
        </mc:Choice>
        <mc:Fallback xmlns="">
          <p:sp>
            <p:nvSpPr>
              <p:cNvPr id="5" name="Text Placeholder 14">
                <a:extLst>
                  <a:ext uri="{FF2B5EF4-FFF2-40B4-BE49-F238E27FC236}">
                    <a16:creationId xmlns:a16="http://schemas.microsoft.com/office/drawing/2014/main" id="{6F3F15EC-7D02-4153-5452-FE3C7D45309B}"/>
                  </a:ext>
                </a:extLst>
              </p:cNvPr>
              <p:cNvSpPr txBox="1">
                <a:spLocks noRot="1" noChangeAspect="1" noMove="1" noResize="1" noEditPoints="1" noAdjustHandles="1" noChangeArrowheads="1" noChangeShapeType="1" noTextEdit="1"/>
              </p:cNvSpPr>
              <p:nvPr/>
            </p:nvSpPr>
            <p:spPr>
              <a:xfrm>
                <a:off x="600963" y="1680664"/>
                <a:ext cx="11243037" cy="754243"/>
              </a:xfrm>
              <a:prstGeom prst="rect">
                <a:avLst/>
              </a:prstGeom>
              <a:blipFill>
                <a:blip r:embed="rId4"/>
                <a:stretch>
                  <a:fillRect b="-193496"/>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013979C3-790A-6D90-5227-8749B5651742}"/>
              </a:ext>
            </a:extLst>
          </p:cNvPr>
          <p:cNvSpPr txBox="1"/>
          <p:nvPr/>
        </p:nvSpPr>
        <p:spPr>
          <a:xfrm>
            <a:off x="1191395" y="4792615"/>
            <a:ext cx="10062171" cy="769441"/>
          </a:xfrm>
          <a:prstGeom prst="rect">
            <a:avLst/>
          </a:prstGeom>
          <a:noFill/>
        </p:spPr>
        <p:txBody>
          <a:bodyPr wrap="square">
            <a:spAutoFit/>
          </a:bodyPr>
          <a:lstStyle/>
          <a:p>
            <a:pPr algn="ctr"/>
            <a:r>
              <a:rPr lang="en-US" sz="4400" b="1"/>
              <a:t>Communicate </a:t>
            </a:r>
            <a:r>
              <a:rPr lang="en-US" sz="4400"/>
              <a:t>your </a:t>
            </a:r>
            <a:r>
              <a:rPr lang="en-US" sz="4400" b="1"/>
              <a:t>strategy</a:t>
            </a:r>
            <a:r>
              <a:rPr lang="en-US" sz="440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1" name="Group 10" descr="triangle, hexagon and rhombus">
            <a:extLst>
              <a:ext uri="{FF2B5EF4-FFF2-40B4-BE49-F238E27FC236}">
                <a16:creationId xmlns:a16="http://schemas.microsoft.com/office/drawing/2014/main" id="{47C22635-4FF8-3CBE-52A6-17A85CC4B129}"/>
              </a:ext>
            </a:extLst>
          </p:cNvPr>
          <p:cNvGrpSpPr/>
          <p:nvPr/>
        </p:nvGrpSpPr>
        <p:grpSpPr>
          <a:xfrm>
            <a:off x="2967591" y="3434383"/>
            <a:ext cx="6256817" cy="2794946"/>
            <a:chOff x="2129467" y="2405441"/>
            <a:chExt cx="6722433" cy="3063580"/>
          </a:xfrm>
          <a:effectLst>
            <a:outerShdw blurRad="50800" dist="50800" dir="5400000" sx="103000" sy="103000" algn="ctr" rotWithShape="0">
              <a:schemeClr val="bg2"/>
            </a:outerShdw>
          </a:effectLst>
        </p:grpSpPr>
        <p:sp>
          <p:nvSpPr>
            <p:cNvPr id="4" name="Freeform 2">
              <a:extLst>
                <a:ext uri="{FF2B5EF4-FFF2-40B4-BE49-F238E27FC236}">
                  <a16:creationId xmlns:a16="http://schemas.microsoft.com/office/drawing/2014/main" id="{F69829D3-F203-1DE2-A8BC-9F0E4AFF9E67}"/>
                </a:ext>
              </a:extLst>
            </p:cNvPr>
            <p:cNvSpPr/>
            <p:nvPr/>
          </p:nvSpPr>
          <p:spPr>
            <a:xfrm>
              <a:off x="3411646" y="2405441"/>
              <a:ext cx="3456000" cy="3024000"/>
            </a:xfrm>
            <a:custGeom>
              <a:avLst/>
              <a:gdLst/>
              <a:ahLst/>
              <a:cxnLst/>
              <a:rect l="l" t="t" r="r" b="b"/>
              <a:pathLst>
                <a:path w="3456000" h="3024000">
                  <a:moveTo>
                    <a:pt x="0" y="0"/>
                  </a:moveTo>
                  <a:lnTo>
                    <a:pt x="3456000" y="0"/>
                  </a:lnTo>
                  <a:lnTo>
                    <a:pt x="345600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 name="Freeform 3">
              <a:extLst>
                <a:ext uri="{FF2B5EF4-FFF2-40B4-BE49-F238E27FC236}">
                  <a16:creationId xmlns:a16="http://schemas.microsoft.com/office/drawing/2014/main" id="{672C3E2F-EE57-588D-3B18-15BABF7735B4}"/>
                </a:ext>
              </a:extLst>
            </p:cNvPr>
            <p:cNvSpPr/>
            <p:nvPr/>
          </p:nvSpPr>
          <p:spPr>
            <a:xfrm>
              <a:off x="2129467" y="3917441"/>
              <a:ext cx="1804163" cy="1551580"/>
            </a:xfrm>
            <a:custGeom>
              <a:avLst/>
              <a:gdLst/>
              <a:ahLst/>
              <a:cxnLst/>
              <a:rect l="l" t="t" r="r" b="b"/>
              <a:pathLst>
                <a:path w="1804163" h="1551580">
                  <a:moveTo>
                    <a:pt x="0" y="0"/>
                  </a:moveTo>
                  <a:lnTo>
                    <a:pt x="1804163" y="0"/>
                  </a:lnTo>
                  <a:lnTo>
                    <a:pt x="1804163" y="1551580"/>
                  </a:lnTo>
                  <a:lnTo>
                    <a:pt x="0" y="15515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grpSp>
          <p:nvGrpSpPr>
            <p:cNvPr id="7" name="Group 4">
              <a:extLst>
                <a:ext uri="{FF2B5EF4-FFF2-40B4-BE49-F238E27FC236}">
                  <a16:creationId xmlns:a16="http://schemas.microsoft.com/office/drawing/2014/main" id="{1278274E-4426-E8AF-7A3C-347E690173B5}"/>
                </a:ext>
              </a:extLst>
            </p:cNvPr>
            <p:cNvGrpSpPr/>
            <p:nvPr/>
          </p:nvGrpSpPr>
          <p:grpSpPr>
            <a:xfrm>
              <a:off x="7099300" y="2415326"/>
              <a:ext cx="1752600" cy="3053695"/>
              <a:chOff x="0" y="0"/>
              <a:chExt cx="2411189" cy="4131910"/>
            </a:xfrm>
          </p:grpSpPr>
          <p:sp>
            <p:nvSpPr>
              <p:cNvPr id="8" name="Freeform 5">
                <a:extLst>
                  <a:ext uri="{FF2B5EF4-FFF2-40B4-BE49-F238E27FC236}">
                    <a16:creationId xmlns:a16="http://schemas.microsoft.com/office/drawing/2014/main" id="{A14D0764-A769-2623-D99F-8C72C5DD4B4B}"/>
                  </a:ext>
                </a:extLst>
              </p:cNvPr>
              <p:cNvSpPr/>
              <p:nvPr/>
            </p:nvSpPr>
            <p:spPr>
              <a:xfrm>
                <a:off x="5638" y="0"/>
                <a:ext cx="2405551" cy="2068774"/>
              </a:xfrm>
              <a:custGeom>
                <a:avLst/>
                <a:gdLst/>
                <a:ahLst/>
                <a:cxnLst/>
                <a:rect l="l" t="t" r="r" b="b"/>
                <a:pathLst>
                  <a:path w="2405551" h="2068774">
                    <a:moveTo>
                      <a:pt x="0" y="0"/>
                    </a:moveTo>
                    <a:lnTo>
                      <a:pt x="2405551" y="0"/>
                    </a:lnTo>
                    <a:lnTo>
                      <a:pt x="2405551" y="2068774"/>
                    </a:lnTo>
                    <a:lnTo>
                      <a:pt x="0" y="20687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9" name="Freeform 6">
                <a:extLst>
                  <a:ext uri="{FF2B5EF4-FFF2-40B4-BE49-F238E27FC236}">
                    <a16:creationId xmlns:a16="http://schemas.microsoft.com/office/drawing/2014/main" id="{C92794B0-285F-B055-B81A-EA20AE3D6277}"/>
                  </a:ext>
                </a:extLst>
              </p:cNvPr>
              <p:cNvSpPr/>
              <p:nvPr/>
            </p:nvSpPr>
            <p:spPr>
              <a:xfrm rot="-10800000">
                <a:off x="0" y="2063136"/>
                <a:ext cx="2405551" cy="2068774"/>
              </a:xfrm>
              <a:custGeom>
                <a:avLst/>
                <a:gdLst/>
                <a:ahLst/>
                <a:cxnLst/>
                <a:rect l="l" t="t" r="r" b="b"/>
                <a:pathLst>
                  <a:path w="2405551" h="2068774">
                    <a:moveTo>
                      <a:pt x="0" y="0"/>
                    </a:moveTo>
                    <a:lnTo>
                      <a:pt x="2405551" y="0"/>
                    </a:lnTo>
                    <a:lnTo>
                      <a:pt x="2405551" y="2068774"/>
                    </a:lnTo>
                    <a:lnTo>
                      <a:pt x="0" y="2068774"/>
                    </a:lnTo>
                    <a:lnTo>
                      <a:pt x="0" y="0"/>
                    </a:lnTo>
                    <a:close/>
                  </a:path>
                </a:pathLst>
              </a:custGeom>
              <a:blipFill>
                <a:blip r:embed="rId8">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10" name="AutoShape 7">
                <a:extLst>
                  <a:ext uri="{FF2B5EF4-FFF2-40B4-BE49-F238E27FC236}">
                    <a16:creationId xmlns:a16="http://schemas.microsoft.com/office/drawing/2014/main" id="{682D8C30-B922-D020-AF65-9EBD5B55B5D6}"/>
                  </a:ext>
                </a:extLst>
              </p:cNvPr>
              <p:cNvSpPr/>
              <p:nvPr/>
            </p:nvSpPr>
            <p:spPr>
              <a:xfrm>
                <a:off x="45878" y="2063136"/>
                <a:ext cx="2322288" cy="0"/>
              </a:xfrm>
              <a:prstGeom prst="line">
                <a:avLst/>
              </a:prstGeom>
              <a:ln w="50800" cap="flat">
                <a:solidFill>
                  <a:srgbClr val="38B6FF"/>
                </a:solidFill>
                <a:prstDash val="solid"/>
                <a:headEnd type="none" w="sm" len="sm"/>
                <a:tailEnd type="none" w="sm" len="sm"/>
              </a:ln>
            </p:spPr>
            <p:txBody>
              <a:bodyPr/>
              <a:lstStyle/>
              <a:p>
                <a:endParaRPr lang="en-AU"/>
              </a:p>
            </p:txBody>
          </p:sp>
        </p:grpSp>
      </p:grpSp>
      <p:sp>
        <p:nvSpPr>
          <p:cNvPr id="12" name="Text Placeholder 5">
            <a:extLst>
              <a:ext uri="{FF2B5EF4-FFF2-40B4-BE49-F238E27FC236}">
                <a16:creationId xmlns:a16="http://schemas.microsoft.com/office/drawing/2014/main" id="{7DC7AD93-45C1-334E-0482-DFC203669F6E}"/>
              </a:ext>
            </a:extLst>
          </p:cNvPr>
          <p:cNvSpPr txBox="1">
            <a:spLocks/>
          </p:cNvSpPr>
          <p:nvPr/>
        </p:nvSpPr>
        <p:spPr>
          <a:xfrm>
            <a:off x="568413" y="1132919"/>
            <a:ext cx="1105517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How many </a:t>
            </a:r>
            <a:r>
              <a:rPr lang="en-AU" sz="4400" b="1" dirty="0"/>
              <a:t>triangles </a:t>
            </a:r>
            <a:r>
              <a:rPr lang="en-AU" sz="4400" dirty="0"/>
              <a:t>and/or </a:t>
            </a:r>
            <a:r>
              <a:rPr lang="en-AU" sz="4400" b="1" dirty="0"/>
              <a:t>rhombus’s</a:t>
            </a:r>
            <a:r>
              <a:rPr lang="en-AU" sz="4400" dirty="0"/>
              <a:t> form a hexagon?</a:t>
            </a:r>
          </a:p>
          <a:p>
            <a:pPr algn="ctr"/>
            <a:endParaRPr lang="en-AU" sz="3200" dirty="0"/>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ordering numbers in the millions</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4 yellow sticky notes with numbers:&#10;5 491 497, 3 058 723, 8 946 811, 7 212 905.">
            <a:extLst>
              <a:ext uri="{FF2B5EF4-FFF2-40B4-BE49-F238E27FC236}">
                <a16:creationId xmlns:a16="http://schemas.microsoft.com/office/drawing/2014/main" id="{345E5CD4-8436-B81A-8E5C-0FF85F98B5A1}"/>
              </a:ext>
            </a:extLst>
          </p:cNvPr>
          <p:cNvGrpSpPr/>
          <p:nvPr/>
        </p:nvGrpSpPr>
        <p:grpSpPr>
          <a:xfrm>
            <a:off x="1062042" y="3188302"/>
            <a:ext cx="9579062" cy="2067920"/>
            <a:chOff x="0" y="0"/>
            <a:chExt cx="12772083" cy="2757227"/>
          </a:xfrm>
        </p:grpSpPr>
        <p:sp>
          <p:nvSpPr>
            <p:cNvPr id="5" name="Freeform 3">
              <a:extLst>
                <a:ext uri="{FF2B5EF4-FFF2-40B4-BE49-F238E27FC236}">
                  <a16:creationId xmlns:a16="http://schemas.microsoft.com/office/drawing/2014/main" id="{746F1702-9C3D-54B8-8311-F7737EB32DD7}"/>
                </a:ext>
              </a:extLst>
            </p:cNvPr>
            <p:cNvSpPr/>
            <p:nvPr/>
          </p:nvSpPr>
          <p:spPr>
            <a:xfrm>
              <a:off x="0"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7" name="Freeform 4">
              <a:extLst>
                <a:ext uri="{FF2B5EF4-FFF2-40B4-BE49-F238E27FC236}">
                  <a16:creationId xmlns:a16="http://schemas.microsoft.com/office/drawing/2014/main" id="{32767277-CF71-B055-0AD7-8BCE21E85DC0}"/>
                </a:ext>
              </a:extLst>
            </p:cNvPr>
            <p:cNvSpPr/>
            <p:nvPr/>
          </p:nvSpPr>
          <p:spPr>
            <a:xfrm>
              <a:off x="10021749"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8" name="Freeform 5">
              <a:extLst>
                <a:ext uri="{FF2B5EF4-FFF2-40B4-BE49-F238E27FC236}">
                  <a16:creationId xmlns:a16="http://schemas.microsoft.com/office/drawing/2014/main" id="{12CA1B60-2F97-117F-D259-9468F78D418F}"/>
                </a:ext>
              </a:extLst>
            </p:cNvPr>
            <p:cNvSpPr/>
            <p:nvPr/>
          </p:nvSpPr>
          <p:spPr>
            <a:xfrm>
              <a:off x="6681166"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9" name="Freeform 6">
              <a:extLst>
                <a:ext uri="{FF2B5EF4-FFF2-40B4-BE49-F238E27FC236}">
                  <a16:creationId xmlns:a16="http://schemas.microsoft.com/office/drawing/2014/main" id="{18EE74BB-5DC3-B45E-D4CF-BDA613A79DC4}"/>
                </a:ext>
              </a:extLst>
            </p:cNvPr>
            <p:cNvSpPr/>
            <p:nvPr/>
          </p:nvSpPr>
          <p:spPr>
            <a:xfrm>
              <a:off x="3340583" y="0"/>
              <a:ext cx="2750334" cy="2757227"/>
            </a:xfrm>
            <a:custGeom>
              <a:avLst/>
              <a:gdLst/>
              <a:ahLst/>
              <a:cxnLst/>
              <a:rect l="l" t="t" r="r" b="b"/>
              <a:pathLst>
                <a:path w="2750334" h="2757227">
                  <a:moveTo>
                    <a:pt x="0" y="0"/>
                  </a:moveTo>
                  <a:lnTo>
                    <a:pt x="2750334" y="0"/>
                  </a:lnTo>
                  <a:lnTo>
                    <a:pt x="2750334" y="2757227"/>
                  </a:lnTo>
                  <a:lnTo>
                    <a:pt x="0" y="2757227"/>
                  </a:lnTo>
                  <a:lnTo>
                    <a:pt x="0" y="0"/>
                  </a:lnTo>
                  <a:close/>
                </a:path>
              </a:pathLst>
            </a:custGeom>
            <a:blipFill>
              <a:blip r:embed="rId4"/>
              <a:stretch>
                <a:fillRect/>
              </a:stretch>
            </a:blipFill>
          </p:spPr>
          <p:txBody>
            <a:bodyPr/>
            <a:lstStyle/>
            <a:p>
              <a:endParaRPr lang="en-AU"/>
            </a:p>
          </p:txBody>
        </p:sp>
        <p:sp>
          <p:nvSpPr>
            <p:cNvPr id="10" name="TextBox 7">
              <a:extLst>
                <a:ext uri="{FF2B5EF4-FFF2-40B4-BE49-F238E27FC236}">
                  <a16:creationId xmlns:a16="http://schemas.microsoft.com/office/drawing/2014/main" id="{2DC72EDF-D957-B706-44A9-31186F43A8A3}"/>
                </a:ext>
              </a:extLst>
            </p:cNvPr>
            <p:cNvSpPr txBox="1"/>
            <p:nvPr/>
          </p:nvSpPr>
          <p:spPr>
            <a:xfrm>
              <a:off x="139116" y="877445"/>
              <a:ext cx="2336784" cy="632349"/>
            </a:xfrm>
            <a:prstGeom prst="rect">
              <a:avLst/>
            </a:prstGeom>
          </p:spPr>
          <p:txBody>
            <a:bodyPr wrap="square"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5 481 497</a:t>
              </a:r>
            </a:p>
          </p:txBody>
        </p:sp>
        <p:sp>
          <p:nvSpPr>
            <p:cNvPr id="11" name="TextBox 8">
              <a:extLst>
                <a:ext uri="{FF2B5EF4-FFF2-40B4-BE49-F238E27FC236}">
                  <a16:creationId xmlns:a16="http://schemas.microsoft.com/office/drawing/2014/main" id="{5044FA59-860C-F737-3C47-85638D8F7C9C}"/>
                </a:ext>
              </a:extLst>
            </p:cNvPr>
            <p:cNvSpPr txBox="1"/>
            <p:nvPr/>
          </p:nvSpPr>
          <p:spPr>
            <a:xfrm>
              <a:off x="3566499" y="877446"/>
              <a:ext cx="2298502" cy="632349"/>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3 058 723</a:t>
              </a:r>
            </a:p>
          </p:txBody>
        </p:sp>
        <p:sp>
          <p:nvSpPr>
            <p:cNvPr id="12" name="TextBox 9">
              <a:extLst>
                <a:ext uri="{FF2B5EF4-FFF2-40B4-BE49-F238E27FC236}">
                  <a16:creationId xmlns:a16="http://schemas.microsoft.com/office/drawing/2014/main" id="{3A6A8CBC-0C06-6B63-9A32-AD97F8723F5F}"/>
                </a:ext>
              </a:extLst>
            </p:cNvPr>
            <p:cNvSpPr txBox="1"/>
            <p:nvPr/>
          </p:nvSpPr>
          <p:spPr>
            <a:xfrm>
              <a:off x="6993758" y="877446"/>
              <a:ext cx="2118420" cy="632349"/>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8 946 811</a:t>
              </a:r>
            </a:p>
          </p:txBody>
        </p:sp>
        <p:sp>
          <p:nvSpPr>
            <p:cNvPr id="13" name="TextBox 10">
              <a:extLst>
                <a:ext uri="{FF2B5EF4-FFF2-40B4-BE49-F238E27FC236}">
                  <a16:creationId xmlns:a16="http://schemas.microsoft.com/office/drawing/2014/main" id="{EB3EC7C4-D2AA-3DF6-1909-DB6BE1672036}"/>
                </a:ext>
              </a:extLst>
            </p:cNvPr>
            <p:cNvSpPr txBox="1"/>
            <p:nvPr/>
          </p:nvSpPr>
          <p:spPr>
            <a:xfrm>
              <a:off x="10317168" y="877446"/>
              <a:ext cx="2159496" cy="632349"/>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7 212 905</a:t>
              </a:r>
            </a:p>
          </p:txBody>
        </p:sp>
      </p:gr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cs typeface="Arial"/>
              </a:rPr>
              <a:t>References </a:t>
            </a:r>
            <a:r>
              <a:rPr lang="en-AU">
                <a:solidFill>
                  <a:schemeClr val="accent4"/>
                </a:solidFill>
                <a:latin typeface="+mj-lt"/>
                <a:cs typeface="Aria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11 September 2025 and was not modified.</a:t>
            </a:r>
          </a:p>
          <a:p>
            <a:r>
              <a:rPr lang="en-AU"/>
              <a:t>Finkel, D (2017) ‘Subtracting Reverses’, Maths for love website, accessed 11 September 2025</a:t>
            </a:r>
          </a:p>
          <a:p>
            <a:r>
              <a:rPr lang="en-AU"/>
              <a:t>Siemon D, Warren E, Beswick K, Faragher R, Miller J, Horne M, </a:t>
            </a:r>
            <a:r>
              <a:rPr lang="en-AU" err="1"/>
              <a:t>Jazby</a:t>
            </a:r>
            <a:r>
              <a:rPr lang="en-AU"/>
              <a:t> D and Breed M (2020) Teaching Mathematics: Foundations to Middle Years, 3rd </a:t>
            </a:r>
            <a:r>
              <a:rPr lang="en-AU" err="1"/>
              <a:t>edn</a:t>
            </a:r>
            <a:r>
              <a:rPr lang="en-AU"/>
              <a:t>, Oxford University Press Australia and New Zealand.</a:t>
            </a:r>
          </a:p>
          <a:p>
            <a:r>
              <a:rPr lang="en-AU"/>
              <a:t>State of New South Wales (Department of Education) (2023) ‘Mastermind’, Mathematics K-6 Resources, NSW Department of Education website, accessed 11 September 2025.</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8D5DB-0C7B-43D9-E751-8A8A1A7388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687631-4CAF-C4BF-AD3C-EF37944CC743}"/>
              </a:ext>
            </a:extLst>
          </p:cNvPr>
          <p:cNvSpPr>
            <a:spLocks noGrp="1"/>
          </p:cNvSpPr>
          <p:nvPr>
            <p:ph type="title"/>
          </p:nvPr>
        </p:nvSpPr>
        <p:spPr/>
        <p:txBody>
          <a:bodyPr/>
          <a:lstStyle/>
          <a:p>
            <a:r>
              <a:rPr lang="en-AU">
                <a:latin typeface="+mj-lt"/>
                <a:cs typeface="Arial"/>
              </a:rPr>
              <a:t>References </a:t>
            </a:r>
            <a:r>
              <a:rPr lang="en-AU">
                <a:solidFill>
                  <a:schemeClr val="accent4"/>
                </a:solidFill>
                <a:latin typeface="+mj-lt"/>
                <a:cs typeface="Arial"/>
              </a:rPr>
              <a:t>(2)</a:t>
            </a:r>
          </a:p>
        </p:txBody>
      </p:sp>
      <p:sp>
        <p:nvSpPr>
          <p:cNvPr id="6" name="TextBox 5">
            <a:extLst>
              <a:ext uri="{FF2B5EF4-FFF2-40B4-BE49-F238E27FC236}">
                <a16:creationId xmlns:a16="http://schemas.microsoft.com/office/drawing/2014/main" id="{31B73B87-0AD6-5F3D-6C4B-7ADC4FC8F39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517B7892-85D5-593C-CC3B-9BFFC650F00C}"/>
              </a:ext>
            </a:extLst>
          </p:cNvPr>
          <p:cNvSpPr>
            <a:spLocks noGrp="1"/>
          </p:cNvSpPr>
          <p:nvPr>
            <p:ph idx="1"/>
          </p:nvPr>
        </p:nvSpPr>
        <p:spPr/>
        <p:txBody>
          <a:bodyPr/>
          <a:lstStyle/>
          <a:p>
            <a:r>
              <a:rPr lang="en-AU"/>
              <a:t>State of New South Wales (Department of Education) (2023) ‘Order! Order! (four-digit numbers)’, Mathematics K-6 Resources, NSW Department of Education website, accessed 11 September 2025.</a:t>
            </a:r>
          </a:p>
          <a:p>
            <a:r>
              <a:rPr lang="en-AU"/>
              <a:t>Sullivan P and Lilburn P (2017) Open-ended Maths Activities: Using ‘Good’ Questions to Enhance Learning in Mathematics, Revised 2nd </a:t>
            </a:r>
            <a:r>
              <a:rPr lang="en-AU" err="1"/>
              <a:t>edn</a:t>
            </a:r>
            <a:r>
              <a:rPr lang="en-AU"/>
              <a:t>, Oxford University Press, Melbourne.</a:t>
            </a:r>
          </a:p>
          <a:p>
            <a:r>
              <a:rPr lang="en-AU"/>
              <a:t>University of Cambridge (Faculty of Mathematics) (1997–2023) Tug of War, NRICH website, accessed 11 September 2025.</a:t>
            </a:r>
          </a:p>
          <a:p>
            <a:r>
              <a:rPr lang="en-AU"/>
              <a:t>University of Cambridge (Faculty of Mathematics) (1997–2023) Dicey Operations in Line, NRICH website, accessed 11 September 2025.</a:t>
            </a:r>
          </a:p>
          <a:p>
            <a:r>
              <a:rPr lang="en-AU"/>
              <a:t>Van de Walle J, Karp K, Bay-Williams JM, Brass A, Bentley B, Ferguson S, Goff W, Livy S, Marshman M, Martin D, Pearn C, </a:t>
            </a:r>
            <a:r>
              <a:rPr lang="en-AU" err="1"/>
              <a:t>Prodromou</a:t>
            </a:r>
            <a:r>
              <a:rPr lang="en-AU"/>
              <a:t> T, Symons D and Wilkie K (2019) Primary and Middle Years Mathematics: Teaching Developmentally, 1st Australian </a:t>
            </a:r>
            <a:r>
              <a:rPr lang="en-AU" err="1"/>
              <a:t>edn</a:t>
            </a:r>
            <a:r>
              <a:rPr lang="en-AU"/>
              <a:t>, Pearson Education Australia, Melbourne</a:t>
            </a:r>
          </a:p>
        </p:txBody>
      </p:sp>
      <p:sp>
        <p:nvSpPr>
          <p:cNvPr id="2" name="Slide Number Placeholder 1">
            <a:extLst>
              <a:ext uri="{FF2B5EF4-FFF2-40B4-BE49-F238E27FC236}">
                <a16:creationId xmlns:a16="http://schemas.microsoft.com/office/drawing/2014/main" id="{4DEFB48B-2D17-1146-D907-6C450087FA1D}"/>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71809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411DE5-4AC7-44AF-8FBD-DA3DDD07CBDE}"/>
</file>

<file path=customXml/itemProps2.xml><?xml version="1.0" encoding="utf-8"?>
<ds:datastoreItem xmlns:ds="http://schemas.openxmlformats.org/officeDocument/2006/customXml" ds:itemID="{92A79ED5-3D27-435D-B83C-BD2537F20B0A}">
  <ds:schemaRefs>
    <ds:schemaRef ds:uri="http://purl.org/dc/dcmitype/"/>
    <ds:schemaRef ds:uri="http://schemas.microsoft.com/office/infopath/2007/PartnerControls"/>
    <ds:schemaRef ds:uri="7e763d47-3c66-4c58-9425-1477fd3ccd1e"/>
    <ds:schemaRef ds:uri="http://www.w3.org/XML/1998/namespace"/>
    <ds:schemaRef ds:uri="http://schemas.microsoft.com/office/2006/documentManagement/types"/>
    <ds:schemaRef ds:uri="http://schemas.openxmlformats.org/package/2006/metadata/core-properties"/>
    <ds:schemaRef ds:uri="60129b06-f64b-40a8-96e2-c5b2f86112b1"/>
    <ds:schemaRef ds:uri="http://schemas.microsoft.com/office/2006/metadata/properties"/>
    <ds:schemaRef ds:uri="http://purl.org/dc/terms/"/>
    <ds:schemaRef ds:uri="http://purl.org/dc/elements/1.1/"/>
  </ds:schemaRefs>
</ds:datastoreItem>
</file>

<file path=customXml/itemProps3.xml><?xml version="1.0" encoding="utf-8"?>
<ds:datastoreItem xmlns:ds="http://schemas.openxmlformats.org/officeDocument/2006/customXml" ds:itemID="{1E00DA3D-9F99-458E-9DAB-0CE3DD324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1284</TotalTime>
  <Words>6151</Words>
  <Application>Microsoft Office PowerPoint</Application>
  <PresentationFormat>Widescreen</PresentationFormat>
  <Paragraphs>840</Paragraphs>
  <Slides>69</Slides>
  <Notes>69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69</vt:i4>
      </vt:variant>
    </vt:vector>
  </HeadingPairs>
  <TitlesOfParts>
    <vt:vector size="82" baseType="lpstr">
      <vt:lpstr>Calibri</vt:lpstr>
      <vt:lpstr>Public Sans Light</vt:lpstr>
      <vt:lpstr>Canva Sans Bold</vt:lpstr>
      <vt:lpstr>Arial</vt:lpstr>
      <vt:lpstr>Aptos Narrow</vt:lpstr>
      <vt:lpstr>Courier New</vt:lpstr>
      <vt:lpstr>Public Sans</vt:lpstr>
      <vt:lpstr>Times New Roman</vt:lpstr>
      <vt:lpstr>Cambria Math</vt:lpstr>
      <vt:lpstr>Wingdings</vt:lpstr>
      <vt:lpstr>Edu NSW ACT Foundation</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tug of war – adding and subtracting</vt:lpstr>
      <vt:lpstr>Review of learning 2</vt:lpstr>
      <vt:lpstr>True or false (1)</vt:lpstr>
      <vt:lpstr>Short response (5)</vt:lpstr>
      <vt:lpstr>Short response (6)</vt:lpstr>
      <vt:lpstr>Short response (7)</vt:lpstr>
      <vt:lpstr>Short response (8)</vt:lpstr>
      <vt:lpstr>Activity 2 – adding 3-digit numbers</vt:lpstr>
      <vt:lpstr>Review of learning 3</vt:lpstr>
      <vt:lpstr>Multiple choice (2)</vt:lpstr>
      <vt:lpstr>Short response (9)</vt:lpstr>
      <vt:lpstr>Short response (10)</vt:lpstr>
      <vt:lpstr>Short response (11)</vt:lpstr>
      <vt:lpstr>Short response (12)</vt:lpstr>
      <vt:lpstr>Activity 3 – Subtracting 4-digit numbers</vt:lpstr>
      <vt:lpstr>Review of learning 4</vt:lpstr>
      <vt:lpstr>True or false (2)</vt:lpstr>
      <vt:lpstr>Short response (13)</vt:lpstr>
      <vt:lpstr>Short response (14)</vt:lpstr>
      <vt:lpstr>Short response (15)</vt:lpstr>
      <vt:lpstr>Short response (16)</vt:lpstr>
      <vt:lpstr>Activity 4 – applying strategies to subtract</vt:lpstr>
      <vt:lpstr>Review of learning 5</vt:lpstr>
      <vt:lpstr>Multiple choice (3)</vt:lpstr>
      <vt:lpstr>Short response (17)</vt:lpstr>
      <vt:lpstr>Short response (18)</vt:lpstr>
      <vt:lpstr>Short response (19)</vt:lpstr>
      <vt:lpstr>Short response (20)</vt:lpstr>
      <vt:lpstr>Activity 5 – recognising a smaller and larger number</vt:lpstr>
      <vt:lpstr>Review of learning 6</vt:lpstr>
      <vt:lpstr>True or false (3)</vt:lpstr>
      <vt:lpstr>Short response (21)</vt:lpstr>
      <vt:lpstr>Short response (22)</vt:lpstr>
      <vt:lpstr>Short response (23)</vt:lpstr>
      <vt:lpstr>Short response (24)</vt:lpstr>
      <vt:lpstr>Activity 6 – Mastermind – naming numbers in the millions</vt:lpstr>
      <vt:lpstr>Review of learning 7</vt:lpstr>
      <vt:lpstr>Multiple choice (4)</vt:lpstr>
      <vt:lpstr>Short response (25)</vt:lpstr>
      <vt:lpstr>Short response (26)</vt:lpstr>
      <vt:lpstr>Short response (27)</vt:lpstr>
      <vt:lpstr>Short response (28)</vt:lpstr>
      <vt:lpstr>Activity 7 – reading numbers in the millions</vt:lpstr>
      <vt:lpstr>Review of learning 8</vt:lpstr>
      <vt:lpstr>True or false (4)</vt:lpstr>
      <vt:lpstr>Short response (29)</vt:lpstr>
      <vt:lpstr>Short response (30)</vt:lpstr>
      <vt:lpstr>Short response (31)</vt:lpstr>
      <vt:lpstr>Short response (32)</vt:lpstr>
      <vt:lpstr>Activity 8 – ordering numbers in the millions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2026-02-08T20:51:45Z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