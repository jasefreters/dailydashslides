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4"/>
  </p:notesMasterIdLst>
  <p:handoutMasterIdLst>
    <p:handoutMasterId r:id="rId75"/>
  </p:handoutMasterIdLst>
  <p:sldIdLst>
    <p:sldId id="365" r:id="rId5"/>
    <p:sldId id="26579" r:id="rId6"/>
    <p:sldId id="26359" r:id="rId7"/>
    <p:sldId id="271" r:id="rId8"/>
    <p:sldId id="26577" r:id="rId9"/>
    <p:sldId id="358" r:id="rId10"/>
    <p:sldId id="26580" r:id="rId11"/>
    <p:sldId id="26581" r:id="rId12"/>
    <p:sldId id="26582" r:id="rId13"/>
    <p:sldId id="26576" r:id="rId14"/>
    <p:sldId id="26583" r:id="rId15"/>
    <p:sldId id="26586" r:id="rId16"/>
    <p:sldId id="26587" r:id="rId17"/>
    <p:sldId id="26588" r:id="rId18"/>
    <p:sldId id="26589" r:id="rId19"/>
    <p:sldId id="26590" r:id="rId20"/>
    <p:sldId id="26591" r:id="rId21"/>
    <p:sldId id="26592" r:id="rId22"/>
    <p:sldId id="26660" r:id="rId23"/>
    <p:sldId id="26596" r:id="rId24"/>
    <p:sldId id="26597" r:id="rId25"/>
    <p:sldId id="26598" r:id="rId26"/>
    <p:sldId id="26599" r:id="rId27"/>
    <p:sldId id="26600" r:id="rId28"/>
    <p:sldId id="26601" r:id="rId29"/>
    <p:sldId id="26604" r:id="rId30"/>
    <p:sldId id="26605" r:id="rId31"/>
    <p:sldId id="26606" r:id="rId32"/>
    <p:sldId id="26607" r:id="rId33"/>
    <p:sldId id="26608" r:id="rId34"/>
    <p:sldId id="26609" r:id="rId35"/>
    <p:sldId id="26610" r:id="rId36"/>
    <p:sldId id="26611" r:id="rId37"/>
    <p:sldId id="26614" r:id="rId38"/>
    <p:sldId id="26615" r:id="rId39"/>
    <p:sldId id="26616" r:id="rId40"/>
    <p:sldId id="26617" r:id="rId41"/>
    <p:sldId id="26618" r:id="rId42"/>
    <p:sldId id="26619" r:id="rId43"/>
    <p:sldId id="26622" r:id="rId44"/>
    <p:sldId id="26623" r:id="rId45"/>
    <p:sldId id="26624" r:id="rId46"/>
    <p:sldId id="26625" r:id="rId47"/>
    <p:sldId id="26626" r:id="rId48"/>
    <p:sldId id="26627" r:id="rId49"/>
    <p:sldId id="26628" r:id="rId50"/>
    <p:sldId id="26648" r:id="rId51"/>
    <p:sldId id="26650" r:id="rId52"/>
    <p:sldId id="26633" r:id="rId53"/>
    <p:sldId id="26634" r:id="rId54"/>
    <p:sldId id="26635" r:id="rId55"/>
    <p:sldId id="26636" r:id="rId56"/>
    <p:sldId id="26637" r:id="rId57"/>
    <p:sldId id="26640" r:id="rId58"/>
    <p:sldId id="26659" r:id="rId59"/>
    <p:sldId id="26642" r:id="rId60"/>
    <p:sldId id="26643" r:id="rId61"/>
    <p:sldId id="26644" r:id="rId62"/>
    <p:sldId id="26645" r:id="rId63"/>
    <p:sldId id="26393" r:id="rId64"/>
    <p:sldId id="26387" r:id="rId65"/>
    <p:sldId id="26395" r:id="rId66"/>
    <p:sldId id="26391" r:id="rId67"/>
    <p:sldId id="26402" r:id="rId68"/>
    <p:sldId id="26507" r:id="rId69"/>
    <p:sldId id="26649" r:id="rId70"/>
    <p:sldId id="360" r:id="rId71"/>
    <p:sldId id="26661" r:id="rId72"/>
    <p:sldId id="361" r:id="rId73"/>
  </p:sldIdLst>
  <p:sldSz cx="12192000" cy="6858000"/>
  <p:notesSz cx="6858000" cy="9144000"/>
  <p:embeddedFontLst>
    <p:embeddedFont>
      <p:font typeface="Aptos Narrow" panose="020B0004020202020204" pitchFamily="34" charset="0"/>
      <p:regular r:id="rId76"/>
      <p:bold r:id="rId77"/>
      <p:italic r:id="rId78"/>
      <p:boldItalic r:id="rId79"/>
    </p:embeddedFont>
    <p:embeddedFont>
      <p:font typeface="Arial Black" panose="020B0A04020102020204" pitchFamily="34" charset="0"/>
      <p:bold r:id="rId80"/>
    </p:embeddedFont>
    <p:embeddedFont>
      <p:font typeface="Cambria Math" panose="02040503050406030204" pitchFamily="18" charset="0"/>
      <p:regular r:id="rId81"/>
    </p:embeddedFont>
    <p:embeddedFont>
      <p:font typeface="Montserrat" panose="00000500000000000000" pitchFamily="2" charset="0"/>
      <p:regular r:id="rId82"/>
      <p:bold r:id="rId83"/>
      <p:italic r:id="rId84"/>
      <p:boldItalic r:id="rId85"/>
    </p:embeddedFont>
    <p:embeddedFont>
      <p:font typeface="Public Sans" pitchFamily="2" charset="0"/>
      <p:regular r:id="rId86"/>
      <p:bold r:id="rId87"/>
      <p:italic r:id="rId88"/>
      <p:boldItalic r:id="rId89"/>
    </p:embeddedFont>
    <p:embeddedFont>
      <p:font typeface="Public Sans Light" pitchFamily="2" charset="0"/>
      <p:regular r:id="rId90"/>
      <p:italic r:id="rId91"/>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79"/>
            <p14:sldId id="26359"/>
          </p14:sldIdLst>
        </p14:section>
        <p14:section name="Review of learning 1" id="{4B1EDACC-5006-43DF-9D93-DE177A158796}">
          <p14:sldIdLst>
            <p14:sldId id="271"/>
            <p14:sldId id="26577"/>
            <p14:sldId id="358"/>
            <p14:sldId id="26580"/>
            <p14:sldId id="26581"/>
            <p14:sldId id="26582"/>
            <p14:sldId id="26576"/>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660"/>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1"/>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48"/>
            <p14:sldId id="26650"/>
            <p14:sldId id="26633"/>
            <p14:sldId id="26634"/>
            <p14:sldId id="26635"/>
            <p14:sldId id="26636"/>
          </p14:sldIdLst>
        </p14:section>
        <p14:section name="Review of learning 8" id="{6FF8F7EC-803E-4F84-BA41-6B3ED673D597}">
          <p14:sldIdLst>
            <p14:sldId id="26637"/>
            <p14:sldId id="26640"/>
            <p14:sldId id="26659"/>
            <p14:sldId id="26642"/>
            <p14:sldId id="26643"/>
            <p14:sldId id="26644"/>
            <p14:sldId id="26645"/>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360"/>
            <p14:sldId id="26661"/>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95D16B7D-CADB-F2BF-AC29-D680545C75EE}" name="Carrie Webeck" initials="CW" userId="S::CARRIE-ANN.WEBECK@det.nsw.edu.au::e5c4b697-ca15-4f3a-a906-1289ddc2fc07" providerId="AD"/>
  <p188:author id="{FD7747EE-57F8-CAC5-7CAF-C637FBE93789}" name="Ayesha Ali Khan" initials=""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4F47"/>
    <a:srgbClr val="F37D76"/>
    <a:srgbClr val="8C52FF"/>
    <a:srgbClr val="CEB7FC"/>
    <a:srgbClr val="87B4F0"/>
    <a:srgbClr val="0D99FF"/>
    <a:srgbClr val="00BF63"/>
    <a:srgbClr val="FF751F"/>
    <a:srgbClr val="F917E3"/>
    <a:srgbClr val="64BB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61CCDD-970E-493D-8DC0-9523177988EF}" v="405" dt="2026-04-30T06:52:24.932"/>
    <p1510:client id="{9C7136C3-4CAB-4299-8932-3A0F3FB7572D}" v="489" dt="2026-05-01T05:00:01.332"/>
    <p1510:client id="{B18A9E9A-A874-4537-BF2F-2B1E18734C1E}" v="288" dt="2026-05-01T03:56:54.982"/>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552" autoAdjust="0"/>
  </p:normalViewPr>
  <p:slideViewPr>
    <p:cSldViewPr snapToGrid="0">
      <p:cViewPr varScale="1">
        <p:scale>
          <a:sx n="33" d="100"/>
          <a:sy n="33" d="100"/>
        </p:scale>
        <p:origin x="628" y="40"/>
      </p:cViewPr>
      <p:guideLst>
        <p:guide orient="horz" pos="2160"/>
        <p:guide pos="386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9.fntdata"/><Relationship Id="rId89" Type="http://schemas.openxmlformats.org/officeDocument/2006/relationships/font" Target="fonts/font14.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 Target="slides/slide1.xml"/><Relationship Id="rId90" Type="http://schemas.openxmlformats.org/officeDocument/2006/relationships/font" Target="fonts/font15.fntdata"/><Relationship Id="rId95" Type="http://schemas.openxmlformats.org/officeDocument/2006/relationships/tableStyles" Target="tableStyle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font" Target="fonts/font5.fntdata"/><Relationship Id="rId85" Type="http://schemas.openxmlformats.org/officeDocument/2006/relationships/font" Target="fonts/font10.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font" Target="fonts/font13.fntdata"/><Relationship Id="rId91" Type="http://schemas.openxmlformats.org/officeDocument/2006/relationships/font" Target="fonts/font16.fntdata"/><Relationship Id="rId9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9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fntdata"/><Relationship Id="rId97" Type="http://schemas.microsoft.com/office/2018/10/relationships/authors" Target="author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presProps" Target="presProp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2.fntdata"/><Relationship Id="rId61" Type="http://schemas.openxmlformats.org/officeDocument/2006/relationships/slide" Target="slides/slide57.xml"/><Relationship Id="rId82" Type="http://schemas.openxmlformats.org/officeDocument/2006/relationships/font" Target="fonts/font7.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2.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4/05/2026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4/05/2026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AF867-63A5-8257-BEB3-843826CE3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17174D-A127-D2D1-8FE8-6EBA54B31E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CA833-D850-EA3F-9C4C-3C098CC50AFD}"/>
              </a:ext>
            </a:extLst>
          </p:cNvPr>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3 Year B Unit 32</a:t>
            </a:r>
          </a:p>
          <a:p>
            <a:pPr marL="285750" indent="-285750">
              <a:buFont typeface="Arial" panose="020B0604020202020204" pitchFamily="34" charset="0"/>
              <a:buChar char="•"/>
            </a:pPr>
            <a:r>
              <a:rPr lang="en-AU"/>
              <a:t>Stage 3 Year B Unit 31</a:t>
            </a:r>
          </a:p>
          <a:p>
            <a:pPr marL="285750" indent="-285750">
              <a:buFont typeface="Arial" panose="020B0604020202020204" pitchFamily="34" charset="0"/>
              <a:buChar char="•"/>
            </a:pPr>
            <a:r>
              <a:rPr lang="en-AU"/>
              <a:t>Stage 3 Year B Unit 30</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a:extLst>
              <a:ext uri="{FF2B5EF4-FFF2-40B4-BE49-F238E27FC236}">
                <a16:creationId xmlns:a16="http://schemas.microsoft.com/office/drawing/2014/main" id="{1361D661-6FF4-E1A2-B877-7DA266521710}"/>
              </a:ext>
            </a:extLst>
          </p:cNvPr>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331428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titles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B</a:t>
            </a: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 2D shapes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Represents numbers A</a:t>
            </a:r>
            <a:br>
              <a:rPr lang="en-AU" sz="1600" b="0" i="0" u="none" strike="noStrike">
                <a:solidFill>
                  <a:srgbClr val="000000"/>
                </a:solidFill>
                <a:effectLst/>
                <a:latin typeface="Aptos Narrow" panose="020B00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Angles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Position</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Determine the rule that describes the relationship between the bottom number and the top number in the table</a:t>
            </a:r>
          </a:p>
          <a:p>
            <a:endParaRPr lang="en-AU" b="0"/>
          </a:p>
          <a:p>
            <a:pPr marL="34290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In pairs, students discuss and identify the rule to determine the number of sides for any value in the top row. For example, students may use wording such as ‘to determine the number of sides, you need to multiply the number of shapes by 12'. Remind students that the multiplication rule needs to describe the relationship between the top number and the bottom number in the table.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Select students to share the rule and apply it to a value not displayed in the table. For example, if the number of shapes is 10, the number of sides is 120.</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In their workbooks, students draw possible shapes that could represent the sequence in the table. For example, see Figure 23.</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describe the geometric pattern they have drawn.</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many sides would there be if there were 10 shapes? How did you work out the answer?</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If there were 96 sides, how many shapes would there be? How did you work out your answer?</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does the table help determine the relationship between the number of shapes and the number of sides?</a:t>
            </a:r>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B</a:t>
            </a: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 2D shapes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Angles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Describe number patterns formed by multiples</a:t>
            </a:r>
          </a:p>
          <a:p>
            <a:endParaRPr lang="en-AU" b="0"/>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Highlight the completed table from Activity 1.</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was the relationship between the number of shapes and the number of sides?</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did we use the table to identify the rule?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Indicate the table of values (above) on the board:</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Explain that today students will be working in pairs, taking turns to complete the bottom row of the table. Student A completes the first 3 boxes in the bottom row of the table. Student B completes the row and draws shapes that would follow that rule. Student B describes the rule to Student A using wording such as ‘to determine the pattern, I had to multiply the number of shapes by the number in the first box'. Remind students that the multiplication rule needs to describe the relationship between the top number and the bottom number in the table.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repeat, swapping roles.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91310-42B5-84A1-6C26-3A7FF5B9EF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CAE27C-2DCD-D869-C7B2-039116B3A7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8ABFFA-B493-874B-4A9C-AEE028EE468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B</a:t>
            </a:r>
          </a:p>
        </p:txBody>
      </p:sp>
      <p:sp>
        <p:nvSpPr>
          <p:cNvPr id="4" name="Slide Number Placeholder 3">
            <a:extLst>
              <a:ext uri="{FF2B5EF4-FFF2-40B4-BE49-F238E27FC236}">
                <a16:creationId xmlns:a16="http://schemas.microsoft.com/office/drawing/2014/main" id="{605122A1-E5DF-1699-A7AE-11111351D6DE}"/>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31568253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B: 2D shapes</a:t>
            </a: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Represents numbers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Angles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Length</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Determine a rule describing the relationship between the bottom number and the top number in a table</a:t>
            </a:r>
          </a:p>
          <a:p>
            <a:endParaRPr lang="en-AU" b="0"/>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Explain that there is an error in the table of values. Students turn and talk to identify the error.</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Select students to share their ideas with the class. Ask:</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value is incorrect in the table?</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did you determine the error?</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is the multiplication rule describing the relationship between the bottom number and the top number in the table?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record the table of values in their workbook with the error corrected.</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describe the pattern formed by the multiples in the table.</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Multiplicative relations B</a:t>
            </a: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B: 2D shapes</a:t>
            </a: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Angles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Angles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B</a:t>
            </a:r>
          </a:p>
          <a:p>
            <a:endParaRPr lang="en-AU"/>
          </a:p>
          <a:p>
            <a:r>
              <a:rPr lang="en-AU" b="1"/>
              <a:t>Design a table which shows a relationship between the bottom number and the top number</a:t>
            </a:r>
          </a:p>
          <a:p>
            <a:endParaRPr lang="en-AU" b="1"/>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Revise table of values from Activity 3. Ensure students understand that multiplication rules describe the relationship between the bottom number and the top number in a table.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In their workbooks, students create their own table of values with an error in it.</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swap tables with a partner to:</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identify the error</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record the multiplication rule</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correct the error</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describe the pattern formed by the multiples in the table.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Regroup and ask:</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did you identify the error?</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is the multiplication rule describing the relationship between the bottom number and the top number in the table?</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did you determine the relationship?</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Represents numbers B</a:t>
            </a:r>
            <a:endParaRPr lang="en-AU" sz="1600" i="0">
              <a:solidFill>
                <a:schemeClr val="tx1"/>
              </a:solidFill>
              <a:highlight>
                <a:srgbClr val="FFFF00"/>
              </a:highlight>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B: Area</a:t>
            </a: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 Angles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A: 2D shapes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B</a:t>
            </a:r>
          </a:p>
          <a:p>
            <a:endParaRPr lang="en-AU" b="1"/>
          </a:p>
          <a:p>
            <a:r>
              <a:rPr lang="en-AU" b="1"/>
              <a:t>Integers are positive and negative whole numbers and zero</a:t>
            </a:r>
          </a:p>
          <a:p>
            <a:endParaRPr lang="en-AU" b="0"/>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‘Folding around zero’ from </a:t>
            </a:r>
            <a:r>
              <a:rPr lang="en-AU" sz="1600" i="1" kern="1200">
                <a:solidFill>
                  <a:schemeClr val="tx1"/>
                </a:solidFill>
                <a:effectLst/>
                <a:latin typeface="Arial" panose="020B0604020202020204" pitchFamily="34" charset="0"/>
                <a:ea typeface="+mn-ea"/>
                <a:cs typeface="Arial" panose="020B0604020202020204" pitchFamily="34" charset="0"/>
              </a:rPr>
              <a:t>Mindset Mathematics Visualizing and Investigating Big Ideas Grade 6</a:t>
            </a:r>
            <a:r>
              <a:rPr lang="en-AU" sz="1600" kern="1200">
                <a:solidFill>
                  <a:schemeClr val="tx1"/>
                </a:solidFill>
                <a:effectLst/>
                <a:latin typeface="Arial" panose="020B0604020202020204" pitchFamily="34" charset="0"/>
                <a:ea typeface="+mn-ea"/>
                <a:cs typeface="Arial" panose="020B0604020202020204" pitchFamily="34" charset="0"/>
              </a:rPr>
              <a:t> by </a:t>
            </a:r>
            <a:r>
              <a:rPr lang="en-AU" sz="1600" kern="1200" err="1">
                <a:solidFill>
                  <a:schemeClr val="tx1"/>
                </a:solidFill>
                <a:effectLst/>
                <a:latin typeface="Arial" panose="020B0604020202020204" pitchFamily="34" charset="0"/>
                <a:ea typeface="+mn-ea"/>
                <a:cs typeface="Arial" panose="020B0604020202020204" pitchFamily="34" charset="0"/>
              </a:rPr>
              <a:t>Boaler</a:t>
            </a:r>
            <a:r>
              <a:rPr lang="en-AU" sz="1600" kern="1200">
                <a:solidFill>
                  <a:schemeClr val="tx1"/>
                </a:solidFill>
                <a:effectLst/>
                <a:latin typeface="Arial" panose="020B0604020202020204" pitchFamily="34" charset="0"/>
                <a:ea typeface="+mn-ea"/>
                <a:cs typeface="Arial" panose="020B0604020202020204" pitchFamily="34" charset="0"/>
              </a:rPr>
              <a:t> et al.</a:t>
            </a:r>
          </a:p>
          <a:p>
            <a:endParaRPr lang="en-AU" b="1"/>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Explain that students will create a number line to explore integers.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Cut A3 paper into 20 × 420 mm strips and provide each student with a strip. Ask students to fold the strip in half and mark this mid-point as zero.</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re-fold the strip in half at the zero and then in half 4 more times. This will make 16 segments on each side of the zero.</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label the integer values on the fold lines to the right of the zero.</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Draw students’ attention to the fold lines to the left of the zero. Ask students to point to the fold line to the left of the zero and turn and talk to a partner about the integer that might go on that point.</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Through discussion, come to the agreement that the number name given to the fold immediately left of the zero is −1. This is called ‘negative one,’ which can be thought of as the opposite of one.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continue labelling their number line with the negative integers. Encourage students to use the pattern represented by the integers they have recorded on their strip to the right of the zero to support their thinking.</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In pairs, students consider what they notice about the number line.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Re-group and record students’ observations about the number line on an anchor chart.</a:t>
            </a:r>
          </a:p>
          <a:p>
            <a:endParaRPr lang="en-AU" sz="1600" b="1"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students will use their number line in Activity 6.</a:t>
            </a:r>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B: Area</a:t>
            </a: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 Angles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 3D objects</a:t>
            </a: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B</a:t>
            </a:r>
          </a:p>
          <a:p>
            <a:endParaRPr lang="en-AU"/>
          </a:p>
          <a:p>
            <a:r>
              <a:rPr lang="en-AU" b="1"/>
              <a:t>Interpret integers in temperatures</a:t>
            </a:r>
          </a:p>
          <a:p>
            <a:r>
              <a:rPr lang="en-AU" b="0"/>
              <a:t>This resource corresponds to Resource 18 – minimum overnight temperatures in Stage 3 Year B Unit 32. </a:t>
            </a:r>
          </a:p>
          <a:p>
            <a:endParaRPr lang="en-AU" b="0"/>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Review the integer number line from Activity 5.</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Looking at the image, ask students what they notice about the temperatures displayed on the map.</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record the temperatures and their locations on their integer number line.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is the highest overnight temperature?</a:t>
            </a:r>
          </a:p>
          <a:p>
            <a:pPr marL="952485" lvl="1" indent="-34290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is the lowest overnight temperature?</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 how the integer line can be used to calculate differences in temperatures. For example, the difference between the temperature in Rockhampton and Alice Springs. Explain that this method is useful when calculating the difference between positive and negative integers. Model, using multiple examples if required.</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a:t>
            </a:r>
          </a:p>
          <a:p>
            <a:pPr marL="952485" lvl="1" indent="-342900" algn="l" defTabSz="1219170" rtl="0" eaLnBrk="1" latinLnBrk="0" hangingPunct="1">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is the difference between the temperature in Rockhampton and Launceston?</a:t>
            </a:r>
          </a:p>
          <a:p>
            <a:pPr marL="952485" lvl="1" indent="-342900" algn="l" defTabSz="1219170" rtl="0" eaLnBrk="1" latinLnBrk="0" hangingPunct="1">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much warmer is it in Alice Springs compared to Falls Creek?</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Explain that the meteorologist has left some temperatures off the map. He has provided some clues to help complete the integer number line. Ask students to record the following locations and temperatures on their integer number line:</a:t>
            </a:r>
          </a:p>
          <a:p>
            <a:pPr marL="952485" lvl="1" indent="-342900" algn="l" defTabSz="1219170" rtl="0" eaLnBrk="1" latinLnBrk="0" hangingPunct="1">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Broken Hill, New South Wales is 7°C cooler than Rockhampton (2°C)</a:t>
            </a:r>
          </a:p>
          <a:p>
            <a:pPr marL="952485" lvl="1" indent="-342900" algn="l" defTabSz="1219170" rtl="0" eaLnBrk="1" latinLnBrk="0" hangingPunct="1">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Mount Wellington, Tasmania is 8°C cooler than Launceston (−10°C)</a:t>
            </a:r>
          </a:p>
          <a:p>
            <a:pPr marL="952485" lvl="1" indent="-342900" algn="l" defTabSz="1219170" rtl="0" eaLnBrk="1" latinLnBrk="0" hangingPunct="1">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Mt Gambier, South Australia is 7°C warmer than Thredbo (3°C)</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In pairs, students take turns offering a clue to their partner, who attempts to guess the location. For example, this location is 7°C warmer than Canberra (Coffs Harbour).</a:t>
            </a:r>
          </a:p>
          <a:p>
            <a:pPr marL="342900" indent="-342900">
              <a:buFont typeface="+mj-lt"/>
              <a:buAutoNum type="arabicPeriod"/>
            </a:pPr>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0B2C2-56ED-F4C7-04D9-00C4FB5F6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1568A8-C088-49AE-3548-341C78A6B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B8EBC4-5740-59C4-17D3-662AAFE4516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Represents numbers B</a:t>
            </a:r>
            <a:endParaRPr lang="en-AU" sz="1600" i="0">
              <a:solidFill>
                <a:schemeClr val="tx1"/>
              </a:solidFill>
              <a:highlight>
                <a:srgbClr val="FFFF00"/>
              </a:highlight>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1CC597E-188F-1091-E0DB-50B50F81B5D5}"/>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43181859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33B7F1-7B84-C842-F7CA-4E99A29FA3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BA42E3-4331-2DF4-CCF3-3933C3D9AF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8A804A-C4CF-97DA-5F2A-2E9D8AEEF18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B: Area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1D97322-39D1-1DD1-E768-79C19A3D8388}"/>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343607237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A: Mass</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B</a:t>
            </a:r>
          </a:p>
          <a:p>
            <a:endParaRPr lang="en-AU"/>
          </a:p>
          <a:p>
            <a:r>
              <a:rPr lang="en-AU" b="1"/>
              <a:t>Interpret integers in weather</a:t>
            </a:r>
          </a:p>
          <a:p>
            <a:r>
              <a:rPr lang="en-AU" b="0"/>
              <a:t>This resource corresponds to </a:t>
            </a:r>
            <a:r>
              <a:rPr lang="en-AU" sz="1600" kern="1200">
                <a:solidFill>
                  <a:schemeClr val="tx1"/>
                </a:solidFill>
                <a:effectLst/>
                <a:latin typeface="Arial" panose="020B0604020202020204" pitchFamily="34" charset="0"/>
                <a:ea typeface="+mn-ea"/>
                <a:cs typeface="Arial" panose="020B0604020202020204" pitchFamily="34" charset="0"/>
              </a:rPr>
              <a:t>Resource 19 – Canadian temperature and Resource 20 – weather wonders </a:t>
            </a:r>
            <a:r>
              <a:rPr lang="en-AU" b="0"/>
              <a:t>in Stage 3 Year B Unit 32. </a:t>
            </a:r>
          </a:p>
          <a:p>
            <a:endParaRPr lang="en-AU" b="1"/>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Ask students if a number line would be useful when answering the questions. Students justify their answers.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to answer the word problems using a number line. Draw attention to the fact that negative whole numbers can result from subtraction.</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Students turn and talk and discuss their thinking. Allow students to adjust their answers.</a:t>
            </a:r>
          </a:p>
          <a:p>
            <a:pPr marL="342900" lvl="0" indent="-342900">
              <a:buFont typeface="+mj-lt"/>
              <a:buAutoNum type="arabicPeriod"/>
            </a:pPr>
            <a:r>
              <a:rPr lang="en-AU" sz="1600" kern="1200">
                <a:solidFill>
                  <a:schemeClr val="tx1"/>
                </a:solidFill>
                <a:effectLst/>
                <a:latin typeface="Arial" panose="020B0604020202020204" pitchFamily="34" charset="0"/>
                <a:ea typeface="+mn-ea"/>
                <a:cs typeface="Arial" panose="020B0604020202020204" pitchFamily="34" charset="0"/>
              </a:rPr>
              <a:t>Select students to share their thinking.</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Represents numbers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38879-4FD8-8056-8F70-3AAA54CE0F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0D85AA-826C-99FB-98B7-04790B6A8F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B44946-4AC6-844A-196A-519BCC6F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Two-dimensional spatial structure B: Area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B683987-CF7C-4F47-B807-32E4BD5BB90D}"/>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305922137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Non-spatial measure B: Time</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Represents numbers B</a:t>
            </a:r>
          </a:p>
          <a:p>
            <a:endParaRPr lang="en-AU"/>
          </a:p>
          <a:p>
            <a:r>
              <a:rPr lang="en-AU" b="1"/>
              <a:t>Integers on a number line</a:t>
            </a:r>
          </a:p>
          <a:p>
            <a:r>
              <a:rPr lang="en-AU" b="0"/>
              <a:t>This resource corresponds to </a:t>
            </a:r>
            <a:r>
              <a:rPr lang="en-AU" sz="1600" kern="1200">
                <a:solidFill>
                  <a:schemeClr val="tx1"/>
                </a:solidFill>
                <a:effectLst/>
                <a:latin typeface="Arial" panose="020B0604020202020204" pitchFamily="34" charset="0"/>
                <a:ea typeface="+mn-ea"/>
                <a:cs typeface="Arial" panose="020B0604020202020204" pitchFamily="34" charset="0"/>
              </a:rPr>
              <a:t>Resource 21 – number line golf </a:t>
            </a:r>
            <a:r>
              <a:rPr lang="en-AU" b="0"/>
              <a:t>in Stage 3 Year B Unit 32.</a:t>
            </a:r>
          </a:p>
          <a:p>
            <a:endParaRPr lang="en-AU" b="0"/>
          </a:p>
          <a:p>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a:t>
            </a:r>
            <a:r>
              <a:rPr lang="en-AU" sz="1600" i="1" kern="1200">
                <a:solidFill>
                  <a:schemeClr val="tx1"/>
                </a:solidFill>
                <a:effectLst/>
                <a:latin typeface="Arial" panose="020B0604020202020204" pitchFamily="34" charset="0"/>
                <a:ea typeface="+mn-ea"/>
                <a:cs typeface="Arial" panose="020B0604020202020204" pitchFamily="34" charset="0"/>
              </a:rPr>
              <a:t>Nearest the Pin</a:t>
            </a:r>
            <a:r>
              <a:rPr lang="en-AU" sz="1600" kern="1200">
                <a:solidFill>
                  <a:schemeClr val="tx1"/>
                </a:solidFill>
                <a:effectLst/>
                <a:latin typeface="Arial" panose="020B0604020202020204" pitchFamily="34" charset="0"/>
                <a:ea typeface="+mn-ea"/>
                <a:cs typeface="Arial" panose="020B0604020202020204" pitchFamily="34" charset="0"/>
              </a:rPr>
              <a:t>’ from Bringing maths to life PDF by Think square.</a:t>
            </a:r>
          </a:p>
          <a:p>
            <a:pPr marL="342900" indent="-342900">
              <a:buFont typeface="+mj-lt"/>
              <a:buAutoNum type="arabicPeriod"/>
            </a:pPr>
            <a:endParaRPr lang="en-AU" b="0"/>
          </a:p>
          <a:p>
            <a:pPr lvl="0"/>
            <a:r>
              <a:rPr lang="en-AU" sz="1600" kern="1200">
                <a:solidFill>
                  <a:schemeClr val="tx1"/>
                </a:solidFill>
                <a:effectLst/>
                <a:latin typeface="Arial" panose="020B0604020202020204" pitchFamily="34" charset="0"/>
                <a:ea typeface="+mn-ea"/>
                <a:cs typeface="Arial" panose="020B0604020202020204" pitchFamily="34" charset="0"/>
              </a:rPr>
              <a:t>In pairs, students play the game Resource 21 – number line golf. Rules:</a:t>
            </a:r>
          </a:p>
          <a:p>
            <a:pPr marL="895335" lvl="1"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each player starts at −20</a:t>
            </a:r>
          </a:p>
          <a:p>
            <a:pPr marL="895335" lvl="1"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players roll a 10-sided dice to obtain a number between 1-10</a:t>
            </a:r>
          </a:p>
          <a:p>
            <a:pPr marL="895335" lvl="1"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players choose to move either forwards or backwards on the number line to try to and land at the hole at 0</a:t>
            </a:r>
          </a:p>
          <a:p>
            <a:pPr marL="895335" lvl="1"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 hole is won immediately if someone reaches 0. Otherwise, the hole is won by the player closest to 0 after the tenth shot has been played.</a:t>
            </a:r>
          </a:p>
          <a:p>
            <a:pPr marL="895335" lvl="1"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if players are an equal distance from the hole, it’s a draw.</a:t>
            </a:r>
          </a:p>
          <a:p>
            <a:pPr marL="895335" lvl="1"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 first player to win 3 holes, wins the match, see Figure 22.</a:t>
            </a:r>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893F2-16E2-3362-687B-929539878A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421A07-FC55-0642-81BD-61CFFB1E14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78D623-4D5D-B4D9-D70F-DE220E87DA93}"/>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0D6E2EEF-C9E9-D9AE-0434-DC9EA72EA62C}"/>
              </a:ext>
            </a:extLst>
          </p:cNvPr>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300783126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3.xml"/><Relationship Id="rId4" Type="http://schemas.openxmlformats.org/officeDocument/2006/relationships/slide" Target="slide11.xml"/><Relationship Id="rId9" Type="http://schemas.openxmlformats.org/officeDocument/2006/relationships/slide" Target="slide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4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9.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5.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4.xml"/><Relationship Id="rId1" Type="http://schemas.openxmlformats.org/officeDocument/2006/relationships/slideLayout" Target="../slideLayouts/slideLayout11.xml"/><Relationship Id="rId5" Type="http://schemas.openxmlformats.org/officeDocument/2006/relationships/image" Target="../media/image36.svg"/><Relationship Id="rId4" Type="http://schemas.openxmlformats.org/officeDocument/2006/relationships/slide" Target="slide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11" Type="http://schemas.openxmlformats.org/officeDocument/2006/relationships/hyperlink" Target="https://nrich.maths.org/problems/always-sometimes-or-never-shape" TargetMode="External"/><Relationship Id="rId5" Type="http://schemas.openxmlformats.org/officeDocument/2006/relationships/hyperlink" Target="https://curriculum.nsw.edu.au/" TargetMode="External"/><Relationship Id="rId10" Type="http://schemas.openxmlformats.org/officeDocument/2006/relationships/hyperlink" Target="https://thinksquare.com.au/games/number-line-golf/"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polypad.amplify.com/p"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s://educationstandards.nsw.edu.au/wps/portal/nesa/mini-footer/copyright" TargetMode="External"/><Relationship Id="rId2" Type="http://schemas.openxmlformats.org/officeDocument/2006/relationships/notesSlide" Target="../notesSlides/notesSlide68.xml"/><Relationship Id="rId1" Type="http://schemas.openxmlformats.org/officeDocument/2006/relationships/slideLayout" Target="../slideLayouts/slideLayout13.xml"/><Relationship Id="rId5" Type="http://schemas.openxmlformats.org/officeDocument/2006/relationships/hyperlink" Target="https://curriculum.nsw.edu.au/" TargetMode="External"/><Relationship Id="rId4" Type="http://schemas.openxmlformats.org/officeDocument/2006/relationships/hyperlink" Target="https://educationstandards.nsw.edu.au/wps/portal/nesa/home"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a:latin typeface="+mn-lt"/>
                <a:ea typeface="+mn-lt"/>
                <a:cs typeface="+mn-lt"/>
              </a:rPr>
              <a:t>This resource aligns to the learning in </a:t>
            </a:r>
            <a:r>
              <a:rPr lang="en-AU" sz="1800">
                <a:ea typeface="+mn-lt"/>
                <a:cs typeface="+mn-lt"/>
              </a:rPr>
              <a:t>Stage 3 Year B Unit 32 </a:t>
            </a:r>
            <a:r>
              <a:rPr lang="en-AU" sz="1800">
                <a:latin typeface="+mn-lt"/>
                <a:ea typeface="+mn-lt"/>
                <a:cs typeface="+mn-lt"/>
              </a:rPr>
              <a:t>and revisits content from earlier sample units.</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953DE-EA46-2AA4-25B9-BD50F0AA512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925BC9-FED8-C057-602D-063585908756}"/>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B722FDAB-21E7-04BA-D615-8E6A0F5C1AFB}"/>
              </a:ext>
            </a:extLst>
          </p:cNvPr>
          <p:cNvSpPr>
            <a:spLocks noGrp="1"/>
          </p:cNvSpPr>
          <p:nvPr>
            <p:ph type="body" sz="quarter" idx="10"/>
          </p:nvPr>
        </p:nvSpPr>
        <p:spPr/>
        <p:txBody>
          <a:bodyPr/>
          <a:lstStyle/>
          <a:p>
            <a:r>
              <a:rPr lang="en-AU">
                <a:latin typeface="+mj-lt"/>
              </a:rPr>
              <a:t>Mathematics Stage 3 – Unit 32</a:t>
            </a:r>
          </a:p>
        </p:txBody>
      </p:sp>
      <p:pic>
        <p:nvPicPr>
          <p:cNvPr id="5" name="Picture Placeholder 4">
            <a:extLst>
              <a:ext uri="{FF2B5EF4-FFF2-40B4-BE49-F238E27FC236}">
                <a16:creationId xmlns:a16="http://schemas.microsoft.com/office/drawing/2014/main" id="{3492ED26-EFFD-ABC0-5FC2-50C21A88E5D9}"/>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444" r="444"/>
          <a:stretch>
            <a:fillRect/>
          </a:stretch>
        </p:blipFill>
        <p:spPr/>
      </p:pic>
    </p:spTree>
    <p:extLst>
      <p:ext uri="{BB962C8B-B14F-4D97-AF65-F5344CB8AC3E}">
        <p14:creationId xmlns:p14="http://schemas.microsoft.com/office/powerpoint/2010/main" val="135011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descr="Review of Learning 1">
            <a:extLst>
              <a:ext uri="{FF2B5EF4-FFF2-40B4-BE49-F238E27FC236}">
                <a16:creationId xmlns:a16="http://schemas.microsoft.com/office/drawing/2014/main" id="{1B4FCA10-C38C-7EB1-6B3D-6210A414C65B}"/>
              </a:ext>
              <a:ext uri="{C183D7F6-B498-43B3-948B-1728B52AA6E4}">
                <adec:decorative xmlns:adec="http://schemas.microsoft.com/office/drawing/2017/decorative" val="0"/>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3" action="ppaction://hlinksldjump"/>
                </a:rPr>
                <a:t>Review of learning </a:t>
              </a:r>
              <a:r>
                <a:rPr lang="en-AU">
                  <a:solidFill>
                    <a:schemeClr val="accent1"/>
                  </a:solidFill>
                  <a:latin typeface="+mj-lt"/>
                  <a:hlinkClick r:id="rId3" action="ppaction://hlinksldjump"/>
                </a:rPr>
                <a:t>1</a:t>
              </a:r>
              <a:endParaRPr lang="en-AU">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descr="Review of Learning 2">
            <a:extLst>
              <a:ext uri="{FF2B5EF4-FFF2-40B4-BE49-F238E27FC236}">
                <a16:creationId xmlns:a16="http://schemas.microsoft.com/office/drawing/2014/main" id="{AF7A23A4-F1DB-31F7-E62C-F1BFA9349F64}"/>
              </a:ext>
              <a:ext uri="{C183D7F6-B498-43B3-948B-1728B52AA6E4}">
                <adec:decorative xmlns:adec="http://schemas.microsoft.com/office/drawing/2017/decorative" val="0"/>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4" action="ppaction://hlinksldjump"/>
                </a:rPr>
                <a:t>Review of learning </a:t>
              </a:r>
              <a:r>
                <a:rPr lang="en-AU">
                  <a:solidFill>
                    <a:schemeClr val="accent1"/>
                  </a:solidFill>
                  <a:latin typeface="+mj-lt"/>
                  <a:hlinkClick r:id="rId4" action="ppaction://hlinksldjump"/>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descr="Review of Learning 3">
            <a:extLst>
              <a:ext uri="{FF2B5EF4-FFF2-40B4-BE49-F238E27FC236}">
                <a16:creationId xmlns:a16="http://schemas.microsoft.com/office/drawing/2014/main" id="{DF37B4A1-413C-FC0F-E0B4-307A5BFA5855}"/>
              </a:ext>
              <a:ext uri="{C183D7F6-B498-43B3-948B-1728B52AA6E4}">
                <adec:decorative xmlns:adec="http://schemas.microsoft.com/office/drawing/2017/decorative" val="0"/>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5" action="ppaction://hlinksldjump"/>
                </a:rPr>
                <a:t>Review of learning </a:t>
              </a:r>
              <a:r>
                <a:rPr lang="en-AU">
                  <a:solidFill>
                    <a:schemeClr val="accent1"/>
                  </a:solidFill>
                  <a:latin typeface="+mj-lt"/>
                  <a:hlinkClick r:id="rId5" action="ppaction://hlinksldjump"/>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descr="Review of Learning 4">
            <a:extLst>
              <a:ext uri="{FF2B5EF4-FFF2-40B4-BE49-F238E27FC236}">
                <a16:creationId xmlns:a16="http://schemas.microsoft.com/office/drawing/2014/main" id="{C989DA6E-4839-1BBD-77AB-6F9CC520B670}"/>
              </a:ext>
              <a:ext uri="{C183D7F6-B498-43B3-948B-1728B52AA6E4}">
                <adec:decorative xmlns:adec="http://schemas.microsoft.com/office/drawing/2017/decorative" val="0"/>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6" action="ppaction://hlinksldjump"/>
                </a:rPr>
                <a:t>Review of learning </a:t>
              </a:r>
              <a:r>
                <a:rPr lang="en-AU">
                  <a:solidFill>
                    <a:schemeClr val="accent1"/>
                  </a:solidFill>
                  <a:latin typeface="+mj-lt"/>
                  <a:hlinkClick r:id="rId6" action="ppaction://hlinksldjump"/>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descr="Review of Learning 5">
            <a:extLst>
              <a:ext uri="{FF2B5EF4-FFF2-40B4-BE49-F238E27FC236}">
                <a16:creationId xmlns:a16="http://schemas.microsoft.com/office/drawing/2014/main" id="{5CA7685F-33D7-262A-AE71-7F572C4FD60A}"/>
              </a:ext>
              <a:ext uri="{C183D7F6-B498-43B3-948B-1728B52AA6E4}">
                <adec:decorative xmlns:adec="http://schemas.microsoft.com/office/drawing/2017/decorative" val="0"/>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7" action="ppaction://hlinksldjump"/>
                </a:rPr>
                <a:t>Review of learning </a:t>
              </a:r>
              <a:r>
                <a:rPr lang="en-AU">
                  <a:solidFill>
                    <a:schemeClr val="accent1"/>
                  </a:solidFill>
                  <a:latin typeface="+mj-lt"/>
                  <a:hlinkClick r:id="rId7" action="ppaction://hlinksldjump"/>
                </a:rPr>
                <a:t>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descr="Review of Learning 6">
            <a:extLst>
              <a:ext uri="{FF2B5EF4-FFF2-40B4-BE49-F238E27FC236}">
                <a16:creationId xmlns:a16="http://schemas.microsoft.com/office/drawing/2014/main" id="{98348D52-CA50-F15C-B472-B152337D805F}"/>
              </a:ext>
              <a:ext uri="{C183D7F6-B498-43B3-948B-1728B52AA6E4}">
                <adec:decorative xmlns:adec="http://schemas.microsoft.com/office/drawing/2017/decorative" val="0"/>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a:spLocks/>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8" action="ppaction://hlinksldjump"/>
                </a:rPr>
                <a:t>Review of learning </a:t>
              </a:r>
              <a:r>
                <a:rPr lang="en-AU">
                  <a:solidFill>
                    <a:schemeClr val="accent1"/>
                  </a:solidFill>
                  <a:latin typeface="+mj-lt"/>
                  <a:hlinkClick r:id="rId8" action="ppaction://hlinksldjump"/>
                </a:rPr>
                <a:t>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descr="Review of Learning 7">
            <a:extLst>
              <a:ext uri="{FF2B5EF4-FFF2-40B4-BE49-F238E27FC236}">
                <a16:creationId xmlns:a16="http://schemas.microsoft.com/office/drawing/2014/main" id="{E73741F1-615E-A4A4-088D-E0A9187F983E}"/>
              </a:ext>
              <a:ext uri="{C183D7F6-B498-43B3-948B-1728B52AA6E4}">
                <adec:decorative xmlns:adec="http://schemas.microsoft.com/office/drawing/2017/decorative" val="0"/>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9" action="ppaction://hlinksldjump"/>
                </a:rPr>
                <a:t>Review of learning </a:t>
              </a:r>
              <a:r>
                <a:rPr lang="en-AU">
                  <a:solidFill>
                    <a:schemeClr val="accent1"/>
                  </a:solidFill>
                  <a:latin typeface="+mj-lt"/>
                  <a:hlinkClick r:id="rId9" action="ppaction://hlinksldjump"/>
                </a:rPr>
                <a:t>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descr="Review of Learning 8">
            <a:extLst>
              <a:ext uri="{FF2B5EF4-FFF2-40B4-BE49-F238E27FC236}">
                <a16:creationId xmlns:a16="http://schemas.microsoft.com/office/drawing/2014/main" id="{8E45D1B3-369A-D013-FFE7-B91D37B811F7}"/>
              </a:ext>
              <a:ext uri="{C183D7F6-B498-43B3-948B-1728B52AA6E4}">
                <adec:decorative xmlns:adec="http://schemas.microsoft.com/office/drawing/2017/decorative" val="0"/>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10" action="ppaction://hlinksldjump"/>
                </a:rPr>
                <a:t>Review of learning </a:t>
              </a:r>
              <a:r>
                <a:rPr lang="en-AU">
                  <a:solidFill>
                    <a:schemeClr val="accent1"/>
                  </a:solidFill>
                  <a:latin typeface="+mj-lt"/>
                  <a:hlinkClick r:id="rId10" action="ppaction://hlinksldjump"/>
                </a:rPr>
                <a:t>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(1)</a:t>
            </a:r>
          </a:p>
        </p:txBody>
      </p:sp>
      <p:pic>
        <p:nvPicPr>
          <p:cNvPr id="4" name="Picture 3">
            <a:extLst>
              <a:ext uri="{FF2B5EF4-FFF2-40B4-BE49-F238E27FC236}">
                <a16:creationId xmlns:a16="http://schemas.microsoft.com/office/drawing/2014/main" id="{5D11F5ED-B427-7A06-EE29-1C83BDE7EF0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7" name="Text Placeholder 6">
            <a:extLst>
              <a:ext uri="{FF2B5EF4-FFF2-40B4-BE49-F238E27FC236}">
                <a16:creationId xmlns:a16="http://schemas.microsoft.com/office/drawing/2014/main" id="{A1124E39-2019-832E-BEB1-3D66A3E9067C}"/>
              </a:ext>
            </a:extLst>
          </p:cNvPr>
          <p:cNvSpPr>
            <a:spLocks noGrp="1"/>
          </p:cNvSpPr>
          <p:nvPr>
            <p:ph type="body" sz="quarter" idx="24"/>
          </p:nvPr>
        </p:nvSpPr>
        <p:spPr>
          <a:xfrm>
            <a:off x="474481" y="848669"/>
            <a:ext cx="11243037" cy="1795662"/>
          </a:xfrm>
        </p:spPr>
        <p:txBody>
          <a:bodyPr/>
          <a:lstStyle/>
          <a:p>
            <a:pPr algn="ctr"/>
            <a:r>
              <a:rPr lang="en-AU" sz="4400" dirty="0"/>
              <a:t>Following the </a:t>
            </a:r>
            <a:r>
              <a:rPr lang="en-AU" sz="4400" b="1" dirty="0"/>
              <a:t>pattern</a:t>
            </a:r>
            <a:r>
              <a:rPr lang="en-AU" sz="4400" dirty="0"/>
              <a:t>, what number would go in the </a:t>
            </a:r>
            <a:r>
              <a:rPr lang="en-AU" sz="4400" b="1" dirty="0">
                <a:solidFill>
                  <a:srgbClr val="00B050"/>
                </a:solidFill>
              </a:rPr>
              <a:t>green</a:t>
            </a:r>
            <a:r>
              <a:rPr lang="en-AU" sz="4400" b="1" dirty="0"/>
              <a:t> box</a:t>
            </a:r>
            <a:r>
              <a:rPr lang="en-AU" sz="4400" dirty="0"/>
              <a:t>?</a:t>
            </a:r>
          </a:p>
        </p:txBody>
      </p:sp>
      <p:graphicFrame>
        <p:nvGraphicFramePr>
          <p:cNvPr id="14" name="Table 13">
            <a:extLst>
              <a:ext uri="{FF2B5EF4-FFF2-40B4-BE49-F238E27FC236}">
                <a16:creationId xmlns:a16="http://schemas.microsoft.com/office/drawing/2014/main" id="{3D1242C5-6E71-3B03-03E8-0ABBB2D1E2BD}"/>
              </a:ext>
            </a:extLst>
          </p:cNvPr>
          <p:cNvGraphicFramePr>
            <a:graphicFrameLocks noGrp="1"/>
          </p:cNvGraphicFramePr>
          <p:nvPr>
            <p:extLst>
              <p:ext uri="{D42A27DB-BD31-4B8C-83A1-F6EECF244321}">
                <p14:modId xmlns:p14="http://schemas.microsoft.com/office/powerpoint/2010/main" val="3353359632"/>
              </p:ext>
            </p:extLst>
          </p:nvPr>
        </p:nvGraphicFramePr>
        <p:xfrm>
          <a:off x="1480480" y="3023477"/>
          <a:ext cx="9034027" cy="1804874"/>
        </p:xfrm>
        <a:graphic>
          <a:graphicData uri="http://schemas.openxmlformats.org/drawingml/2006/table">
            <a:tbl>
              <a:tblPr firstRow="1" bandRow="1">
                <a:tableStyleId>{5A111915-BE36-4E01-A7E5-04B1672EAD32}</a:tableStyleId>
              </a:tblPr>
              <a:tblGrid>
                <a:gridCol w="3068535">
                  <a:extLst>
                    <a:ext uri="{9D8B030D-6E8A-4147-A177-3AD203B41FA5}">
                      <a16:colId xmlns:a16="http://schemas.microsoft.com/office/drawing/2014/main" val="1037980559"/>
                    </a:ext>
                  </a:extLst>
                </a:gridCol>
                <a:gridCol w="1491373">
                  <a:extLst>
                    <a:ext uri="{9D8B030D-6E8A-4147-A177-3AD203B41FA5}">
                      <a16:colId xmlns:a16="http://schemas.microsoft.com/office/drawing/2014/main" val="1414479321"/>
                    </a:ext>
                  </a:extLst>
                </a:gridCol>
                <a:gridCol w="1491373">
                  <a:extLst>
                    <a:ext uri="{9D8B030D-6E8A-4147-A177-3AD203B41FA5}">
                      <a16:colId xmlns:a16="http://schemas.microsoft.com/office/drawing/2014/main" val="1936309375"/>
                    </a:ext>
                  </a:extLst>
                </a:gridCol>
                <a:gridCol w="1491373">
                  <a:extLst>
                    <a:ext uri="{9D8B030D-6E8A-4147-A177-3AD203B41FA5}">
                      <a16:colId xmlns:a16="http://schemas.microsoft.com/office/drawing/2014/main" val="1072593135"/>
                    </a:ext>
                  </a:extLst>
                </a:gridCol>
                <a:gridCol w="1491373">
                  <a:extLst>
                    <a:ext uri="{9D8B030D-6E8A-4147-A177-3AD203B41FA5}">
                      <a16:colId xmlns:a16="http://schemas.microsoft.com/office/drawing/2014/main" val="2617543454"/>
                    </a:ext>
                  </a:extLst>
                </a:gridCol>
              </a:tblGrid>
              <a:tr h="902437">
                <a:tc>
                  <a:txBody>
                    <a:bodyPr/>
                    <a:lstStyle/>
                    <a:p>
                      <a:pPr algn="ctr"/>
                      <a:r>
                        <a:rPr lang="en-AU" sz="2400" b="1">
                          <a:solidFill>
                            <a:schemeClr val="bg1"/>
                          </a:solidFill>
                          <a:latin typeface="Arial"/>
                          <a:cs typeface="Arial"/>
                        </a:rPr>
                        <a:t>No. of squares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AU" sz="2400" b="0">
                          <a:solidFill>
                            <a:schemeClr val="tx1"/>
                          </a:solidFill>
                          <a:latin typeface="Arial"/>
                          <a:cs typeface="Aria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2400" b="0">
                          <a:solidFill>
                            <a:schemeClr val="tx1"/>
                          </a:solidFill>
                          <a:latin typeface="Arial"/>
                          <a:cs typeface="Aria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2400" b="0">
                          <a:solidFill>
                            <a:schemeClr val="tx1"/>
                          </a:solidFill>
                          <a:latin typeface="Arial"/>
                          <a:cs typeface="Aria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2400" b="0">
                          <a:solidFill>
                            <a:schemeClr val="tx1"/>
                          </a:solidFill>
                          <a:latin typeface="Arial"/>
                          <a:cs typeface="Aria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46536183"/>
                  </a:ext>
                </a:extLst>
              </a:tr>
              <a:tr h="902437">
                <a:tc>
                  <a:txBody>
                    <a:bodyPr/>
                    <a:lstStyle/>
                    <a:p>
                      <a:pPr algn="ctr"/>
                      <a:r>
                        <a:rPr lang="en-AU" sz="2400" b="1">
                          <a:solidFill>
                            <a:schemeClr val="bg1"/>
                          </a:solidFill>
                          <a:latin typeface="Arial"/>
                          <a:cs typeface="Arial"/>
                        </a:rPr>
                        <a:t>No. of sides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AU" sz="2400" b="0">
                          <a:latin typeface="Arial"/>
                          <a:cs typeface="Aria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b="0">
                          <a:latin typeface="Arial"/>
                          <a:cs typeface="Aria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b="0">
                          <a:latin typeface="Arial"/>
                          <a:cs typeface="Arial"/>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2400" b="0">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9409323"/>
                  </a:ext>
                </a:extLst>
              </a:tr>
            </a:tbl>
          </a:graphicData>
        </a:graphic>
      </p:graphicFrame>
      <p:sp>
        <p:nvSpPr>
          <p:cNvPr id="19" name="Rectangle 18" descr="Pink outline box.">
            <a:extLst>
              <a:ext uri="{FF2B5EF4-FFF2-40B4-BE49-F238E27FC236}">
                <a16:creationId xmlns:a16="http://schemas.microsoft.com/office/drawing/2014/main" id="{24DAC470-41E7-8516-F126-15DDBD884D62}"/>
              </a:ext>
            </a:extLst>
          </p:cNvPr>
          <p:cNvSpPr/>
          <p:nvPr/>
        </p:nvSpPr>
        <p:spPr>
          <a:xfrm>
            <a:off x="9012838" y="3925914"/>
            <a:ext cx="1501669" cy="902437"/>
          </a:xfrm>
          <a:prstGeom prst="rect">
            <a:avLst/>
          </a:prstGeom>
          <a:noFill/>
          <a:ln w="57150">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055D882C-AF43-C390-844D-CF785253532C}"/>
              </a:ext>
            </a:extLst>
          </p:cNvPr>
          <p:cNvSpPr txBox="1"/>
          <p:nvPr/>
        </p:nvSpPr>
        <p:spPr>
          <a:xfrm>
            <a:off x="1509138" y="53614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3A7CB9AE-0F31-FA92-BCB3-C4AD3EF18B05}"/>
              </a:ext>
            </a:extLst>
          </p:cNvPr>
          <p:cNvSpPr txBox="1"/>
          <p:nvPr/>
        </p:nvSpPr>
        <p:spPr>
          <a:xfrm>
            <a:off x="4390569" y="53614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92ADCA88-1230-AEE8-EFD6-D8F0DF7EEE5C}"/>
              </a:ext>
            </a:extLst>
          </p:cNvPr>
          <p:cNvSpPr txBox="1"/>
          <p:nvPr/>
        </p:nvSpPr>
        <p:spPr>
          <a:xfrm>
            <a:off x="7272000" y="53614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F2C63D4C-D53C-5250-A986-AB949B67DEB8}"/>
              </a:ext>
            </a:extLst>
          </p:cNvPr>
          <p:cNvSpPr txBox="1"/>
          <p:nvPr/>
        </p:nvSpPr>
        <p:spPr>
          <a:xfrm>
            <a:off x="10153432" y="53614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1" name="Text Placeholder 6">
            <a:extLst>
              <a:ext uri="{FF2B5EF4-FFF2-40B4-BE49-F238E27FC236}">
                <a16:creationId xmlns:a16="http://schemas.microsoft.com/office/drawing/2014/main" id="{71A7599F-158F-E791-DCEC-C8C295916BEC}"/>
              </a:ext>
            </a:extLst>
          </p:cNvPr>
          <p:cNvSpPr txBox="1">
            <a:spLocks/>
          </p:cNvSpPr>
          <p:nvPr/>
        </p:nvSpPr>
        <p:spPr>
          <a:xfrm>
            <a:off x="1353797" y="5853981"/>
            <a:ext cx="840110" cy="842019"/>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18</a:t>
            </a:r>
          </a:p>
        </p:txBody>
      </p:sp>
      <p:sp>
        <p:nvSpPr>
          <p:cNvPr id="23" name="Text Placeholder 6">
            <a:extLst>
              <a:ext uri="{FF2B5EF4-FFF2-40B4-BE49-F238E27FC236}">
                <a16:creationId xmlns:a16="http://schemas.microsoft.com/office/drawing/2014/main" id="{BE8EA1A5-171E-5D53-59EC-E6D2570B3C7E}"/>
              </a:ext>
            </a:extLst>
          </p:cNvPr>
          <p:cNvSpPr txBox="1">
            <a:spLocks/>
          </p:cNvSpPr>
          <p:nvPr/>
        </p:nvSpPr>
        <p:spPr>
          <a:xfrm>
            <a:off x="4178115" y="5853981"/>
            <a:ext cx="840110" cy="842019"/>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16</a:t>
            </a:r>
          </a:p>
        </p:txBody>
      </p:sp>
      <p:sp>
        <p:nvSpPr>
          <p:cNvPr id="24" name="Text Placeholder 6">
            <a:extLst>
              <a:ext uri="{FF2B5EF4-FFF2-40B4-BE49-F238E27FC236}">
                <a16:creationId xmlns:a16="http://schemas.microsoft.com/office/drawing/2014/main" id="{892D2A48-4737-86CE-631F-8556A1AE48A9}"/>
              </a:ext>
            </a:extLst>
          </p:cNvPr>
          <p:cNvSpPr txBox="1">
            <a:spLocks/>
          </p:cNvSpPr>
          <p:nvPr/>
        </p:nvSpPr>
        <p:spPr>
          <a:xfrm>
            <a:off x="7086366" y="5853980"/>
            <a:ext cx="840110" cy="842019"/>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20</a:t>
            </a:r>
          </a:p>
        </p:txBody>
      </p:sp>
      <p:sp>
        <p:nvSpPr>
          <p:cNvPr id="25" name="Text Placeholder 6">
            <a:extLst>
              <a:ext uri="{FF2B5EF4-FFF2-40B4-BE49-F238E27FC236}">
                <a16:creationId xmlns:a16="http://schemas.microsoft.com/office/drawing/2014/main" id="{E9DA04BF-3869-EAB2-A742-423582DA2F13}"/>
              </a:ext>
            </a:extLst>
          </p:cNvPr>
          <p:cNvSpPr txBox="1">
            <a:spLocks/>
          </p:cNvSpPr>
          <p:nvPr/>
        </p:nvSpPr>
        <p:spPr>
          <a:xfrm>
            <a:off x="9998091" y="5853979"/>
            <a:ext cx="840110" cy="842019"/>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24</a:t>
            </a:r>
          </a:p>
        </p:txBody>
      </p:sp>
      <p:sp>
        <p:nvSpPr>
          <p:cNvPr id="2" name="Slide Number Placeholder 1">
            <a:extLst>
              <a:ext uri="{FF2B5EF4-FFF2-40B4-BE49-F238E27FC236}">
                <a16:creationId xmlns:a16="http://schemas.microsoft.com/office/drawing/2014/main" id="{BCDFCD28-280A-268C-8C92-8A605A7B59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sp>
        <p:nvSpPr>
          <p:cNvPr id="8" name="TextBox 7">
            <a:extLst>
              <a:ext uri="{FF2B5EF4-FFF2-40B4-BE49-F238E27FC236}">
                <a16:creationId xmlns:a16="http://schemas.microsoft.com/office/drawing/2014/main" id="{69C5137C-AFDB-CE3C-6E7E-DE517DD57FC1}"/>
              </a:ext>
            </a:extLst>
          </p:cNvPr>
          <p:cNvSpPr txBox="1"/>
          <p:nvPr/>
        </p:nvSpPr>
        <p:spPr>
          <a:xfrm>
            <a:off x="639866" y="1066229"/>
            <a:ext cx="10912265" cy="1939884"/>
          </a:xfrm>
          <a:prstGeom prst="rect">
            <a:avLst/>
          </a:prstGeom>
          <a:noFill/>
        </p:spPr>
        <p:txBody>
          <a:bodyPr wrap="square" lIns="0" tIns="0" rIns="0" bIns="0" rtlCol="0">
            <a:noAutofit/>
          </a:bodyPr>
          <a:lstStyle/>
          <a:p>
            <a:pPr algn="ctr">
              <a:lnSpc>
                <a:spcPct val="150000"/>
              </a:lnSpc>
            </a:pPr>
            <a:r>
              <a:rPr lang="en-AU" sz="4400" b="1">
                <a:latin typeface="+mj-lt"/>
              </a:rPr>
              <a:t>Identify</a:t>
            </a:r>
            <a:r>
              <a:rPr lang="en-AU" sz="4400">
                <a:latin typeface="+mj-lt"/>
              </a:rPr>
              <a:t> which is a </a:t>
            </a:r>
            <a:r>
              <a:rPr lang="en-AU" sz="4400" b="1">
                <a:latin typeface="+mj-lt"/>
              </a:rPr>
              <a:t>regular polygon</a:t>
            </a:r>
            <a:r>
              <a:rPr lang="en-AU" sz="4400">
                <a:latin typeface="+mj-lt"/>
              </a:rPr>
              <a:t> and which is an </a:t>
            </a:r>
            <a:r>
              <a:rPr lang="en-AU" sz="4400" b="1">
                <a:latin typeface="+mj-lt"/>
              </a:rPr>
              <a:t>irregular polygon</a:t>
            </a:r>
            <a:r>
              <a:rPr lang="en-AU" sz="4400">
                <a:latin typeface="+mj-lt"/>
              </a:rPr>
              <a:t>.</a:t>
            </a:r>
          </a:p>
        </p:txBody>
      </p:sp>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pic>
        <p:nvPicPr>
          <p:cNvPr id="3" name="Picture 2">
            <a:extLst>
              <a:ext uri="{FF2B5EF4-FFF2-40B4-BE49-F238E27FC236}">
                <a16:creationId xmlns:a16="http://schemas.microsoft.com/office/drawing/2014/main" id="{69E4B2B2-713D-5998-87AB-5FC222AE38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On the left (A) , there is a six-sided closed shape with straight edges. On the right (B), there is a closed shape made from a mix of straight lines and curved edges, with rounded ends.">
            <a:extLst>
              <a:ext uri="{FF2B5EF4-FFF2-40B4-BE49-F238E27FC236}">
                <a16:creationId xmlns:a16="http://schemas.microsoft.com/office/drawing/2014/main" id="{0B607305-7292-8EC4-538E-AAD0CA1E79B0}"/>
              </a:ext>
            </a:extLst>
          </p:cNvPr>
          <p:cNvPicPr>
            <a:picLocks noChangeAspect="1"/>
          </p:cNvPicPr>
          <p:nvPr/>
        </p:nvPicPr>
        <p:blipFill>
          <a:blip r:embed="rId4"/>
          <a:stretch>
            <a:fillRect/>
          </a:stretch>
        </p:blipFill>
        <p:spPr>
          <a:xfrm>
            <a:off x="1799540" y="3093773"/>
            <a:ext cx="8592916" cy="2632337"/>
          </a:xfrm>
          <a:prstGeom prst="rect">
            <a:avLst/>
          </a:prstGeom>
        </p:spPr>
      </p:pic>
      <p:sp>
        <p:nvSpPr>
          <p:cNvPr id="9" name="TextBox 8">
            <a:extLst>
              <a:ext uri="{FF2B5EF4-FFF2-40B4-BE49-F238E27FC236}">
                <a16:creationId xmlns:a16="http://schemas.microsoft.com/office/drawing/2014/main" id="{41249625-C5D2-F09F-A93E-EEE5D86AB523}"/>
              </a:ext>
            </a:extLst>
          </p:cNvPr>
          <p:cNvSpPr txBox="1"/>
          <p:nvPr/>
        </p:nvSpPr>
        <p:spPr>
          <a:xfrm>
            <a:off x="523314" y="5745500"/>
            <a:ext cx="11145371" cy="751110"/>
          </a:xfrm>
          <a:prstGeom prst="rect">
            <a:avLst/>
          </a:prstGeom>
          <a:noFill/>
        </p:spPr>
        <p:txBody>
          <a:bodyPr wrap="square" lIns="0" tIns="0" rIns="0" bIns="0" rtlCol="0">
            <a:noAutofit/>
          </a:bodyPr>
          <a:lstStyle/>
          <a:p>
            <a:pPr algn="ctr"/>
            <a:r>
              <a:rPr lang="en-AU" sz="4400" b="1"/>
              <a:t>Communicate</a:t>
            </a:r>
            <a:r>
              <a:rPr lang="en-AU" sz="4400"/>
              <a:t> your </a:t>
            </a:r>
            <a:r>
              <a:rPr lang="en-AU" sz="4400" b="1"/>
              <a:t>reasoning</a:t>
            </a:r>
            <a:r>
              <a:rPr lang="en-AU" sz="4400"/>
              <a:t>.</a:t>
            </a:r>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sp>
        <p:nvSpPr>
          <p:cNvPr id="7" name="TextBox 6">
            <a:extLst>
              <a:ext uri="{FF2B5EF4-FFF2-40B4-BE49-F238E27FC236}">
                <a16:creationId xmlns:a16="http://schemas.microsoft.com/office/drawing/2014/main" id="{1CE07E54-4AF3-8B58-5059-C8E638B5DEB1}"/>
              </a:ext>
            </a:extLst>
          </p:cNvPr>
          <p:cNvSpPr txBox="1"/>
          <p:nvPr/>
        </p:nvSpPr>
        <p:spPr>
          <a:xfrm>
            <a:off x="931735" y="1399310"/>
            <a:ext cx="10098741" cy="915500"/>
          </a:xfrm>
          <a:prstGeom prst="rect">
            <a:avLst/>
          </a:prstGeom>
          <a:noFill/>
        </p:spPr>
        <p:txBody>
          <a:bodyPr wrap="square" lIns="0" tIns="0" rIns="0" bIns="0" rtlCol="0">
            <a:noAutofit/>
          </a:bodyPr>
          <a:lstStyle/>
          <a:p>
            <a:pPr algn="ctr">
              <a:lnSpc>
                <a:spcPct val="150000"/>
              </a:lnSpc>
            </a:pPr>
            <a:r>
              <a:rPr lang="en-AU" sz="4400">
                <a:latin typeface="+mj-lt"/>
              </a:rPr>
              <a:t>What </a:t>
            </a:r>
            <a:r>
              <a:rPr lang="en-AU" sz="4400" b="1">
                <a:latin typeface="+mj-lt"/>
              </a:rPr>
              <a:t>number</a:t>
            </a:r>
            <a:r>
              <a:rPr lang="en-AU" sz="4400">
                <a:latin typeface="+mj-lt"/>
              </a:rPr>
              <a:t> am I?</a:t>
            </a:r>
          </a:p>
        </p:txBody>
      </p:sp>
      <p:sp>
        <p:nvSpPr>
          <p:cNvPr id="8" name="TextBox 7">
            <a:extLst>
              <a:ext uri="{FF2B5EF4-FFF2-40B4-BE49-F238E27FC236}">
                <a16:creationId xmlns:a16="http://schemas.microsoft.com/office/drawing/2014/main" id="{504B0151-65BD-BAEA-20D2-47B70A968FC2}"/>
              </a:ext>
            </a:extLst>
          </p:cNvPr>
          <p:cNvSpPr txBox="1"/>
          <p:nvPr/>
        </p:nvSpPr>
        <p:spPr>
          <a:xfrm>
            <a:off x="523314" y="2808519"/>
            <a:ext cx="11145371" cy="3070530"/>
          </a:xfrm>
          <a:prstGeom prst="rect">
            <a:avLst/>
          </a:prstGeom>
          <a:noFill/>
        </p:spPr>
        <p:txBody>
          <a:bodyPr wrap="square" lIns="0" tIns="0" rIns="0" bIns="0" rtlCol="0">
            <a:noAutofit/>
          </a:bodyPr>
          <a:lstStyle/>
          <a:p>
            <a:pPr algn="ctr">
              <a:lnSpc>
                <a:spcPct val="150000"/>
              </a:lnSpc>
            </a:pPr>
            <a:r>
              <a:rPr lang="en-AU" sz="4400">
                <a:latin typeface="+mj-lt"/>
              </a:rPr>
              <a:t>I can be </a:t>
            </a:r>
            <a:r>
              <a:rPr lang="en-AU" sz="4400" b="1">
                <a:latin typeface="+mj-lt"/>
              </a:rPr>
              <a:t>grouped</a:t>
            </a:r>
            <a:r>
              <a:rPr lang="en-AU" sz="4400">
                <a:latin typeface="+mj-lt"/>
              </a:rPr>
              <a:t> as:</a:t>
            </a:r>
          </a:p>
          <a:p>
            <a:pPr algn="ctr">
              <a:lnSpc>
                <a:spcPct val="150000"/>
              </a:lnSpc>
            </a:pPr>
            <a:r>
              <a:rPr lang="en-AU" sz="4400">
                <a:latin typeface="+mj-lt"/>
              </a:rPr>
              <a:t>7 millions, 2 thousands, 14 hundreds, 2 tens and 26 ones.</a:t>
            </a:r>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sp>
        <p:nvSpPr>
          <p:cNvPr id="5" name="Picture Placeholder 10">
            <a:extLst>
              <a:ext uri="{FF2B5EF4-FFF2-40B4-BE49-F238E27FC236}">
                <a16:creationId xmlns:a16="http://schemas.microsoft.com/office/drawing/2014/main" id="{AD46340F-E918-3103-A145-9C39BAE3B698}"/>
              </a:ext>
            </a:extLst>
          </p:cNvPr>
          <p:cNvSpPr txBox="1">
            <a:spLocks/>
          </p:cNvSpPr>
          <p:nvPr/>
        </p:nvSpPr>
        <p:spPr>
          <a:xfrm>
            <a:off x="683885" y="1184223"/>
            <a:ext cx="10824226" cy="2177907"/>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latin typeface="Arial"/>
                <a:cs typeface="Arial"/>
              </a:rPr>
              <a:t>Explain</a:t>
            </a:r>
            <a:r>
              <a:rPr lang="en-AU" sz="4400">
                <a:latin typeface="Arial"/>
                <a:cs typeface="Arial"/>
              </a:rPr>
              <a:t> how to use a </a:t>
            </a:r>
            <a:r>
              <a:rPr lang="en-AU" sz="4400" b="1">
                <a:latin typeface="Arial"/>
                <a:cs typeface="Arial"/>
              </a:rPr>
              <a:t>protractor</a:t>
            </a:r>
            <a:r>
              <a:rPr lang="en-AU" sz="4400">
                <a:latin typeface="Arial"/>
                <a:cs typeface="Arial"/>
              </a:rPr>
              <a:t> to </a:t>
            </a:r>
            <a:r>
              <a:rPr lang="en-AU" sz="4400" b="1">
                <a:latin typeface="Arial"/>
                <a:cs typeface="Arial"/>
              </a:rPr>
              <a:t>measure</a:t>
            </a:r>
            <a:r>
              <a:rPr lang="en-AU" sz="4400">
                <a:latin typeface="Arial"/>
                <a:cs typeface="Arial"/>
              </a:rPr>
              <a:t> an </a:t>
            </a:r>
            <a:r>
              <a:rPr lang="en-AU" sz="4400" b="1">
                <a:latin typeface="Arial"/>
                <a:cs typeface="Arial"/>
              </a:rPr>
              <a:t>angle</a:t>
            </a:r>
            <a:r>
              <a:rPr lang="en-AU" sz="4400">
                <a:latin typeface="Arial"/>
                <a:cs typeface="Arial"/>
              </a:rPr>
              <a:t>. </a:t>
            </a:r>
            <a:endParaRPr lang="en-US" baseline="30000">
              <a:latin typeface="Arial"/>
              <a:cs typeface="Arial"/>
            </a:endParaRPr>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pic>
        <p:nvPicPr>
          <p:cNvPr id="8" name="Picture 7" descr="Protractor">
            <a:extLst>
              <a:ext uri="{FF2B5EF4-FFF2-40B4-BE49-F238E27FC236}">
                <a16:creationId xmlns:a16="http://schemas.microsoft.com/office/drawing/2014/main" id="{A8E550E1-7825-837C-A4EB-84DF0E8AA1E9}"/>
              </a:ext>
            </a:extLst>
          </p:cNvPr>
          <p:cNvPicPr>
            <a:picLocks noChangeAspect="1"/>
          </p:cNvPicPr>
          <p:nvPr/>
        </p:nvPicPr>
        <p:blipFill>
          <a:blip r:embed="rId4"/>
          <a:stretch>
            <a:fillRect/>
          </a:stretch>
        </p:blipFill>
        <p:spPr>
          <a:xfrm>
            <a:off x="2779162" y="3108533"/>
            <a:ext cx="6633672" cy="3749467"/>
          </a:xfrm>
          <a:prstGeom prst="rect">
            <a:avLst/>
          </a:prstGeom>
        </p:spPr>
      </p:pic>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sp>
        <p:nvSpPr>
          <p:cNvPr id="9" name="TextBox 8">
            <a:extLst>
              <a:ext uri="{FF2B5EF4-FFF2-40B4-BE49-F238E27FC236}">
                <a16:creationId xmlns:a16="http://schemas.microsoft.com/office/drawing/2014/main" id="{870CB25F-C331-98D0-A1B9-9FAD477DD152}"/>
              </a:ext>
            </a:extLst>
          </p:cNvPr>
          <p:cNvSpPr txBox="1"/>
          <p:nvPr/>
        </p:nvSpPr>
        <p:spPr>
          <a:xfrm>
            <a:off x="195600" y="1414916"/>
            <a:ext cx="6119812" cy="1478418"/>
          </a:xfrm>
          <a:prstGeom prst="rect">
            <a:avLst/>
          </a:prstGeom>
          <a:noFill/>
        </p:spPr>
        <p:txBody>
          <a:bodyPr wrap="square">
            <a:spAutoFit/>
          </a:bodyPr>
          <a:lstStyle/>
          <a:p>
            <a:pPr algn="ctr" rtl="0" fontAlgn="base">
              <a:lnSpc>
                <a:spcPct val="150000"/>
              </a:lnSpc>
              <a:spcAft>
                <a:spcPts val="600"/>
              </a:spcAft>
              <a:buNone/>
            </a:pPr>
            <a:r>
              <a:rPr lang="en-AU" sz="3200" b="0" i="0" u="none" strike="noStrike">
                <a:solidFill>
                  <a:srgbClr val="000000"/>
                </a:solidFill>
                <a:effectLst/>
                <a:latin typeface="Arial" panose="020B0604020202020204" pitchFamily="34" charset="0"/>
              </a:rPr>
              <a:t>Record the </a:t>
            </a:r>
            <a:r>
              <a:rPr lang="en-AU" sz="3200" b="1" i="0" u="none" strike="noStrike">
                <a:solidFill>
                  <a:srgbClr val="000000"/>
                </a:solidFill>
                <a:effectLst/>
                <a:latin typeface="Arial" panose="020B0604020202020204" pitchFamily="34" charset="0"/>
              </a:rPr>
              <a:t>coordinates</a:t>
            </a:r>
            <a:r>
              <a:rPr lang="en-AU" sz="3200" b="0" i="0" u="none" strike="noStrike">
                <a:solidFill>
                  <a:srgbClr val="000000"/>
                </a:solidFill>
                <a:effectLst/>
                <a:latin typeface="Arial" panose="020B0604020202020204" pitchFamily="34" charset="0"/>
              </a:rPr>
              <a:t> of each dot on the </a:t>
            </a:r>
            <a:r>
              <a:rPr lang="en-AU" sz="3200" b="1" i="0" u="none" strike="noStrike">
                <a:solidFill>
                  <a:srgbClr val="000000"/>
                </a:solidFill>
                <a:effectLst/>
                <a:latin typeface="Arial" panose="020B0604020202020204" pitchFamily="34" charset="0"/>
              </a:rPr>
              <a:t>Cartesian plane</a:t>
            </a:r>
            <a:r>
              <a:rPr lang="en-AU" sz="3200" b="0" i="0" u="none" strike="noStrike">
                <a:solidFill>
                  <a:srgbClr val="000000"/>
                </a:solidFill>
                <a:effectLst/>
                <a:latin typeface="Arial" panose="020B0604020202020204" pitchFamily="34" charset="0"/>
              </a:rPr>
              <a:t>.</a:t>
            </a:r>
            <a:r>
              <a:rPr lang="en-US" sz="3200" b="0" i="0">
                <a:solidFill>
                  <a:srgbClr val="22272B"/>
                </a:solidFill>
                <a:effectLst/>
                <a:latin typeface="Arial" panose="020B0604020202020204" pitchFamily="34" charset="0"/>
              </a:rPr>
              <a:t>​</a:t>
            </a:r>
          </a:p>
        </p:txBody>
      </p:sp>
      <p:grpSp>
        <p:nvGrpSpPr>
          <p:cNvPr id="15" name="Group 14" descr="a. purple dot&#10;b. orange dot&#10;c. green dot&#10;d. blue dot">
            <a:extLst>
              <a:ext uri="{FF2B5EF4-FFF2-40B4-BE49-F238E27FC236}">
                <a16:creationId xmlns:a16="http://schemas.microsoft.com/office/drawing/2014/main" id="{8D74B333-F42A-C4F2-D1D0-0CF507EE35D1}"/>
              </a:ext>
            </a:extLst>
          </p:cNvPr>
          <p:cNvGrpSpPr/>
          <p:nvPr/>
        </p:nvGrpSpPr>
        <p:grpSpPr>
          <a:xfrm>
            <a:off x="1481475" y="2912545"/>
            <a:ext cx="1125877" cy="3186578"/>
            <a:chOff x="462300" y="3129295"/>
            <a:chExt cx="1125877" cy="3186578"/>
          </a:xfrm>
        </p:grpSpPr>
        <p:sp>
          <p:nvSpPr>
            <p:cNvPr id="10" name="TextBox 9">
              <a:extLst>
                <a:ext uri="{FF2B5EF4-FFF2-40B4-BE49-F238E27FC236}">
                  <a16:creationId xmlns:a16="http://schemas.microsoft.com/office/drawing/2014/main" id="{0FAE6DA8-F1BF-6E7C-E5A6-3390C819F408}"/>
                </a:ext>
              </a:extLst>
            </p:cNvPr>
            <p:cNvSpPr txBox="1"/>
            <p:nvPr/>
          </p:nvSpPr>
          <p:spPr>
            <a:xfrm>
              <a:off x="462300" y="3129295"/>
              <a:ext cx="737850" cy="3186578"/>
            </a:xfrm>
            <a:prstGeom prst="rect">
              <a:avLst/>
            </a:prstGeom>
            <a:noFill/>
          </p:spPr>
          <p:txBody>
            <a:bodyPr wrap="square">
              <a:spAutoFit/>
            </a:bodyPr>
            <a:lstStyle/>
            <a:p>
              <a:pPr marL="514350" indent="-514350" rtl="0" fontAlgn="base">
                <a:lnSpc>
                  <a:spcPct val="150000"/>
                </a:lnSpc>
                <a:spcAft>
                  <a:spcPts val="600"/>
                </a:spcAft>
                <a:buFont typeface="+mj-lt"/>
                <a:buAutoNum type="alphaLcParenR"/>
              </a:pPr>
              <a:r>
                <a:rPr lang="en-AU" sz="3200" b="0" i="0" u="none" strike="noStrike">
                  <a:effectLst/>
                  <a:latin typeface="Arial" panose="020B0604020202020204" pitchFamily="34" charset="0"/>
                </a:rPr>
                <a:t> </a:t>
              </a:r>
              <a:endParaRPr lang="en-AU" sz="3200" b="0" i="0" u="none" strike="noStrike">
                <a:solidFill>
                  <a:srgbClr val="FF751F"/>
                </a:solidFill>
                <a:effectLst/>
                <a:latin typeface="Arial" panose="020B0604020202020204" pitchFamily="34" charset="0"/>
              </a:endParaRPr>
            </a:p>
            <a:p>
              <a:pPr marL="514350" indent="-514350" rtl="0" fontAlgn="base">
                <a:lnSpc>
                  <a:spcPct val="150000"/>
                </a:lnSpc>
                <a:spcAft>
                  <a:spcPts val="600"/>
                </a:spcAft>
                <a:buFont typeface="+mj-lt"/>
                <a:buAutoNum type="alphaLcParenR"/>
              </a:pPr>
              <a:r>
                <a:rPr lang="en-AU" sz="3200">
                  <a:latin typeface="Arial" panose="020B0604020202020204" pitchFamily="34" charset="0"/>
                </a:rPr>
                <a:t> </a:t>
              </a:r>
            </a:p>
            <a:p>
              <a:pPr marL="514350" indent="-514350" fontAlgn="base">
                <a:lnSpc>
                  <a:spcPct val="150000"/>
                </a:lnSpc>
                <a:spcAft>
                  <a:spcPts val="600"/>
                </a:spcAft>
                <a:buFont typeface="+mj-lt"/>
                <a:buAutoNum type="alphaLcParenR"/>
              </a:pPr>
              <a:r>
                <a:rPr lang="en-AU" sz="3200">
                  <a:latin typeface="Arial" panose="020B0604020202020204" pitchFamily="34" charset="0"/>
                </a:rPr>
                <a:t> </a:t>
              </a:r>
            </a:p>
            <a:p>
              <a:pPr marL="514350" indent="-514350" fontAlgn="base">
                <a:lnSpc>
                  <a:spcPct val="150000"/>
                </a:lnSpc>
                <a:spcAft>
                  <a:spcPts val="600"/>
                </a:spcAft>
                <a:buFont typeface="+mj-lt"/>
                <a:buAutoNum type="alphaLcParenR"/>
              </a:pPr>
              <a:r>
                <a:rPr lang="en-AU" sz="3200">
                  <a:latin typeface="Arial" panose="020B0604020202020204" pitchFamily="34" charset="0"/>
                </a:rPr>
                <a:t> </a:t>
              </a:r>
            </a:p>
          </p:txBody>
        </p:sp>
        <p:sp>
          <p:nvSpPr>
            <p:cNvPr id="11" name="Oval 10">
              <a:extLst>
                <a:ext uri="{FF2B5EF4-FFF2-40B4-BE49-F238E27FC236}">
                  <a16:creationId xmlns:a16="http://schemas.microsoft.com/office/drawing/2014/main" id="{22819AFD-2213-FBAD-FCE2-B2D74F63A42B}"/>
                </a:ext>
              </a:extLst>
            </p:cNvPr>
            <p:cNvSpPr/>
            <p:nvPr/>
          </p:nvSpPr>
          <p:spPr>
            <a:xfrm>
              <a:off x="1197744" y="3402650"/>
              <a:ext cx="390433" cy="390433"/>
            </a:xfrm>
            <a:prstGeom prst="ellipse">
              <a:avLst/>
            </a:prstGeom>
            <a:solidFill>
              <a:srgbClr val="8C5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Oval 11">
              <a:extLst>
                <a:ext uri="{FF2B5EF4-FFF2-40B4-BE49-F238E27FC236}">
                  <a16:creationId xmlns:a16="http://schemas.microsoft.com/office/drawing/2014/main" id="{CFAAF95D-61CC-33E4-4B76-1B1E7C3E7EC9}"/>
                </a:ext>
              </a:extLst>
            </p:cNvPr>
            <p:cNvSpPr/>
            <p:nvPr/>
          </p:nvSpPr>
          <p:spPr>
            <a:xfrm>
              <a:off x="1197744" y="4205925"/>
              <a:ext cx="390433" cy="390433"/>
            </a:xfrm>
            <a:prstGeom prst="ellipse">
              <a:avLst/>
            </a:prstGeom>
            <a:solidFill>
              <a:srgbClr val="FF75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Oval 12">
              <a:extLst>
                <a:ext uri="{FF2B5EF4-FFF2-40B4-BE49-F238E27FC236}">
                  <a16:creationId xmlns:a16="http://schemas.microsoft.com/office/drawing/2014/main" id="{41CB1AE9-33C8-6BDC-DA2D-D2FD8F3AE547}"/>
                </a:ext>
              </a:extLst>
            </p:cNvPr>
            <p:cNvSpPr/>
            <p:nvPr/>
          </p:nvSpPr>
          <p:spPr>
            <a:xfrm>
              <a:off x="1197744" y="5009200"/>
              <a:ext cx="390433" cy="390433"/>
            </a:xfrm>
            <a:prstGeom prst="ellipse">
              <a:avLst/>
            </a:prstGeom>
            <a:solidFill>
              <a:srgbClr val="00BF6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4" name="Oval 13">
              <a:extLst>
                <a:ext uri="{FF2B5EF4-FFF2-40B4-BE49-F238E27FC236}">
                  <a16:creationId xmlns:a16="http://schemas.microsoft.com/office/drawing/2014/main" id="{03AA9A7A-3832-6C37-311B-571CF0611691}"/>
                </a:ext>
              </a:extLst>
            </p:cNvPr>
            <p:cNvSpPr/>
            <p:nvPr/>
          </p:nvSpPr>
          <p:spPr>
            <a:xfrm>
              <a:off x="1197744" y="5812475"/>
              <a:ext cx="390433" cy="390433"/>
            </a:xfrm>
            <a:prstGeom prst="ellipse">
              <a:avLst/>
            </a:prstGeom>
            <a:solidFill>
              <a:srgbClr val="0D9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pic>
        <p:nvPicPr>
          <p:cNvPr id="7" name="Picture 6" descr="A coordinate grid is shown with the x-axis running horizontally and the y-axis running vertically, both labelled and marked with positive and negative numbers. Four dots are placed at different points on the grid: a purple dot at 2 on the x-axis and -2 on the y-axis, an orange dot at -5 on the x-axis and -5 on the y-axis, a green dot at 1 on the x-axis and 5 on the y-axis, and a blue dot at -4 on the x-axis and 3 on the y-axis.">
            <a:extLst>
              <a:ext uri="{FF2B5EF4-FFF2-40B4-BE49-F238E27FC236}">
                <a16:creationId xmlns:a16="http://schemas.microsoft.com/office/drawing/2014/main" id="{CA2722E3-C8A7-EB7B-7949-609541EC75D0}"/>
              </a:ext>
            </a:extLst>
          </p:cNvPr>
          <p:cNvPicPr>
            <a:picLocks noChangeAspect="1"/>
          </p:cNvPicPr>
          <p:nvPr/>
        </p:nvPicPr>
        <p:blipFill>
          <a:blip r:embed="rId3"/>
          <a:stretch>
            <a:fillRect/>
          </a:stretch>
        </p:blipFill>
        <p:spPr>
          <a:xfrm>
            <a:off x="6658469" y="1355511"/>
            <a:ext cx="4947406" cy="4914900"/>
          </a:xfrm>
          <a:prstGeom prst="rect">
            <a:avLst/>
          </a:prstGeom>
          <a:solidFill>
            <a:schemeClr val="bg1"/>
          </a:solidFill>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determine the rule that describes the relationship between the bottom number and the top number in the table</a:t>
            </a:r>
          </a:p>
        </p:txBody>
      </p:sp>
      <p:graphicFrame>
        <p:nvGraphicFramePr>
          <p:cNvPr id="3" name="Table 2">
            <a:extLst>
              <a:ext uri="{FF2B5EF4-FFF2-40B4-BE49-F238E27FC236}">
                <a16:creationId xmlns:a16="http://schemas.microsoft.com/office/drawing/2014/main" id="{BDB848A9-E36E-F18B-AE49-0F6FC8C77A57}"/>
              </a:ext>
            </a:extLst>
          </p:cNvPr>
          <p:cNvGraphicFramePr>
            <a:graphicFrameLocks noGrp="1"/>
          </p:cNvGraphicFramePr>
          <p:nvPr>
            <p:extLst>
              <p:ext uri="{D42A27DB-BD31-4B8C-83A1-F6EECF244321}">
                <p14:modId xmlns:p14="http://schemas.microsoft.com/office/powerpoint/2010/main" val="713327413"/>
              </p:ext>
            </p:extLst>
          </p:nvPr>
        </p:nvGraphicFramePr>
        <p:xfrm>
          <a:off x="1189965" y="3160894"/>
          <a:ext cx="9812070" cy="2221944"/>
        </p:xfrm>
        <a:graphic>
          <a:graphicData uri="http://schemas.openxmlformats.org/drawingml/2006/table">
            <a:tbl>
              <a:tblPr firstRow="1" bandRow="1">
                <a:tableStyleId>{5A111915-BE36-4E01-A7E5-04B1672EAD32}</a:tableStyleId>
              </a:tblPr>
              <a:tblGrid>
                <a:gridCol w="2816340">
                  <a:extLst>
                    <a:ext uri="{9D8B030D-6E8A-4147-A177-3AD203B41FA5}">
                      <a16:colId xmlns:a16="http://schemas.microsoft.com/office/drawing/2014/main" val="1037980559"/>
                    </a:ext>
                  </a:extLst>
                </a:gridCol>
                <a:gridCol w="1399146">
                  <a:extLst>
                    <a:ext uri="{9D8B030D-6E8A-4147-A177-3AD203B41FA5}">
                      <a16:colId xmlns:a16="http://schemas.microsoft.com/office/drawing/2014/main" val="1414479321"/>
                    </a:ext>
                  </a:extLst>
                </a:gridCol>
                <a:gridCol w="1399146">
                  <a:extLst>
                    <a:ext uri="{9D8B030D-6E8A-4147-A177-3AD203B41FA5}">
                      <a16:colId xmlns:a16="http://schemas.microsoft.com/office/drawing/2014/main" val="1936309375"/>
                    </a:ext>
                  </a:extLst>
                </a:gridCol>
                <a:gridCol w="1399146">
                  <a:extLst>
                    <a:ext uri="{9D8B030D-6E8A-4147-A177-3AD203B41FA5}">
                      <a16:colId xmlns:a16="http://schemas.microsoft.com/office/drawing/2014/main" val="1072593135"/>
                    </a:ext>
                  </a:extLst>
                </a:gridCol>
                <a:gridCol w="1399146">
                  <a:extLst>
                    <a:ext uri="{9D8B030D-6E8A-4147-A177-3AD203B41FA5}">
                      <a16:colId xmlns:a16="http://schemas.microsoft.com/office/drawing/2014/main" val="2617543454"/>
                    </a:ext>
                  </a:extLst>
                </a:gridCol>
                <a:gridCol w="1399146">
                  <a:extLst>
                    <a:ext uri="{9D8B030D-6E8A-4147-A177-3AD203B41FA5}">
                      <a16:colId xmlns:a16="http://schemas.microsoft.com/office/drawing/2014/main" val="1179776664"/>
                    </a:ext>
                  </a:extLst>
                </a:gridCol>
              </a:tblGrid>
              <a:tr h="1110972">
                <a:tc>
                  <a:txBody>
                    <a:bodyPr/>
                    <a:lstStyle/>
                    <a:p>
                      <a:pPr algn="ctr"/>
                      <a:r>
                        <a:rPr lang="en-AU" sz="2400" b="1">
                          <a:solidFill>
                            <a:schemeClr val="bg1"/>
                          </a:solidFill>
                          <a:latin typeface="Arial" panose="020B0604020202020204" pitchFamily="34" charset="0"/>
                          <a:cs typeface="Arial" panose="020B0604020202020204" pitchFamily="34" charset="0"/>
                        </a:rPr>
                        <a:t>Number of shapes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AU" sz="2400" b="0">
                          <a:solidFill>
                            <a:schemeClr val="tx1"/>
                          </a:solidFill>
                          <a:latin typeface="Arial" panose="020B0604020202020204" pitchFamily="34" charset="0"/>
                          <a:cs typeface="Arial" panose="020B0604020202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2400" b="0" dirty="0">
                          <a:solidFill>
                            <a:schemeClr val="tx1"/>
                          </a:solidFill>
                          <a:latin typeface="Arial" panose="020B0604020202020204" pitchFamily="34" charset="0"/>
                          <a:cs typeface="Arial" panose="020B060402020202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2400" b="0">
                          <a:solidFill>
                            <a:schemeClr val="tx1"/>
                          </a:solidFill>
                          <a:latin typeface="Arial" panose="020B0604020202020204" pitchFamily="34" charset="0"/>
                          <a:cs typeface="Arial" panose="020B060402020202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2400" b="0">
                          <a:solidFill>
                            <a:schemeClr val="tx1"/>
                          </a:solidFill>
                          <a:latin typeface="Arial" panose="020B0604020202020204" pitchFamily="34" charset="0"/>
                          <a:cs typeface="Arial" panose="020B060402020202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2400" b="0">
                          <a:solidFill>
                            <a:schemeClr val="tx1"/>
                          </a:solidFill>
                          <a:latin typeface="Arial" panose="020B0604020202020204" pitchFamily="34" charset="0"/>
                          <a:cs typeface="Arial" panose="020B0604020202020204" pitchFamily="34"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46536183"/>
                  </a:ext>
                </a:extLst>
              </a:tr>
              <a:tr h="1110972">
                <a:tc>
                  <a:txBody>
                    <a:bodyPr/>
                    <a:lstStyle/>
                    <a:p>
                      <a:pPr algn="ctr"/>
                      <a:r>
                        <a:rPr lang="en-AU" sz="2400" b="1">
                          <a:solidFill>
                            <a:schemeClr val="bg1"/>
                          </a:solidFill>
                          <a:latin typeface="Arial" panose="020B0604020202020204" pitchFamily="34" charset="0"/>
                          <a:cs typeface="Arial" panose="020B0604020202020204" pitchFamily="34" charset="0"/>
                        </a:rPr>
                        <a:t>Number of sides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AU" sz="2400" b="0">
                          <a:latin typeface="Arial" panose="020B0604020202020204" pitchFamily="34" charset="0"/>
                          <a:cs typeface="Arial" panose="020B0604020202020204" pitchFamily="34"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b="0">
                          <a:latin typeface="Arial" panose="020B0604020202020204" pitchFamily="34" charset="0"/>
                          <a:cs typeface="Arial" panose="020B0604020202020204" pitchFamily="34"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b="0">
                          <a:latin typeface="Arial" panose="020B0604020202020204" pitchFamily="34" charset="0"/>
                          <a:cs typeface="Arial" panose="020B0604020202020204" pitchFamily="34" charset="0"/>
                        </a:rPr>
                        <a:t>36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b="0">
                          <a:latin typeface="Arial" panose="020B0604020202020204" pitchFamily="34" charset="0"/>
                          <a:cs typeface="Arial" panose="020B0604020202020204" pitchFamily="34" charset="0"/>
                        </a:rPr>
                        <a:t>48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b="0" dirty="0">
                          <a:latin typeface="Arial" panose="020B0604020202020204" pitchFamily="34" charset="0"/>
                          <a:cs typeface="Arial" panose="020B0604020202020204" pitchFamily="34" charset="0"/>
                        </a:rPr>
                        <a:t>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9409323"/>
                  </a:ext>
                </a:extLst>
              </a:tr>
            </a:tbl>
          </a:graphicData>
        </a:graphic>
      </p:graphicFrame>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pic>
        <p:nvPicPr>
          <p:cNvPr id="4" name="Picture 3">
            <a:extLst>
              <a:ext uri="{FF2B5EF4-FFF2-40B4-BE49-F238E27FC236}">
                <a16:creationId xmlns:a16="http://schemas.microsoft.com/office/drawing/2014/main" id="{8C7CF980-54BA-5CDE-FA07-65080BB2C43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sp>
        <p:nvSpPr>
          <p:cNvPr id="13" name="Text Placeholder 12">
            <a:extLst>
              <a:ext uri="{FF2B5EF4-FFF2-40B4-BE49-F238E27FC236}">
                <a16:creationId xmlns:a16="http://schemas.microsoft.com/office/drawing/2014/main" id="{5EDC85D4-39C0-2614-E92D-632C7699F5F9}"/>
              </a:ext>
            </a:extLst>
          </p:cNvPr>
          <p:cNvSpPr>
            <a:spLocks noGrp="1"/>
          </p:cNvSpPr>
          <p:nvPr>
            <p:ph type="body" sz="quarter" idx="22"/>
          </p:nvPr>
        </p:nvSpPr>
        <p:spPr>
          <a:xfrm>
            <a:off x="360000" y="1184019"/>
            <a:ext cx="11243038" cy="1942902"/>
          </a:xfrm>
        </p:spPr>
        <p:txBody>
          <a:bodyPr/>
          <a:lstStyle/>
          <a:p>
            <a:pPr algn="ctr"/>
            <a:r>
              <a:rPr lang="en-AU" sz="3600"/>
              <a:t>This </a:t>
            </a:r>
            <a:r>
              <a:rPr lang="en-AU" sz="3600" b="1"/>
              <a:t>rule describes </a:t>
            </a:r>
            <a:r>
              <a:rPr lang="en-AU" sz="3600"/>
              <a:t>what is happening in the </a:t>
            </a:r>
            <a:r>
              <a:rPr lang="en-AU" sz="3600" b="1"/>
              <a:t>pattern:</a:t>
            </a:r>
            <a:r>
              <a:rPr lang="en-AU" sz="3600"/>
              <a:t> There are </a:t>
            </a:r>
            <a:r>
              <a:rPr lang="en-AU" sz="3600" b="1"/>
              <a:t>3 times </a:t>
            </a:r>
            <a:r>
              <a:rPr lang="en-AU" sz="3600"/>
              <a:t>as many </a:t>
            </a:r>
            <a:r>
              <a:rPr lang="en-AU" sz="3600" b="1"/>
              <a:t>sides</a:t>
            </a:r>
            <a:r>
              <a:rPr lang="en-AU" sz="3600"/>
              <a:t> as there are </a:t>
            </a:r>
            <a:r>
              <a:rPr lang="en-AU" sz="3600" b="1"/>
              <a:t>triangles</a:t>
            </a:r>
            <a:r>
              <a:rPr lang="en-AU" sz="3600"/>
              <a:t>.</a:t>
            </a:r>
          </a:p>
        </p:txBody>
      </p:sp>
      <p:grpSp>
        <p:nvGrpSpPr>
          <p:cNvPr id="38" name="Group 37" descr="1 triangle, 2 triangles, 3 triangles.">
            <a:extLst>
              <a:ext uri="{FF2B5EF4-FFF2-40B4-BE49-F238E27FC236}">
                <a16:creationId xmlns:a16="http://schemas.microsoft.com/office/drawing/2014/main" id="{277572D5-D526-A1F9-924A-FC34E1F2EC7F}"/>
              </a:ext>
            </a:extLst>
          </p:cNvPr>
          <p:cNvGrpSpPr/>
          <p:nvPr/>
        </p:nvGrpSpPr>
        <p:grpSpPr>
          <a:xfrm>
            <a:off x="3132843" y="3973484"/>
            <a:ext cx="5926314" cy="1700497"/>
            <a:chOff x="746543" y="3731080"/>
            <a:chExt cx="4805171" cy="926996"/>
          </a:xfrm>
        </p:grpSpPr>
        <p:sp>
          <p:nvSpPr>
            <p:cNvPr id="15" name="Rectangle: Rounded Corners 14">
              <a:extLst>
                <a:ext uri="{FF2B5EF4-FFF2-40B4-BE49-F238E27FC236}">
                  <a16:creationId xmlns:a16="http://schemas.microsoft.com/office/drawing/2014/main" id="{A5C812D1-C19E-149C-E647-D9F00337C5D9}"/>
                </a:ext>
              </a:extLst>
            </p:cNvPr>
            <p:cNvSpPr/>
            <p:nvPr/>
          </p:nvSpPr>
          <p:spPr>
            <a:xfrm>
              <a:off x="746543" y="3731080"/>
              <a:ext cx="4805171" cy="926996"/>
            </a:xfrm>
            <a:prstGeom prst="roundRect">
              <a:avLst>
                <a:gd name="adj" fmla="val 0"/>
              </a:avLst>
            </a:prstGeom>
            <a:solidFill>
              <a:schemeClr val="bg1"/>
            </a:solidFill>
            <a:ln>
              <a:noFill/>
            </a:ln>
            <a:effectLst>
              <a:outerShdw blurRad="292100" dist="139700" dir="2700000" algn="tl" rotWithShape="0">
                <a:srgbClr val="333333">
                  <a:alpha val="6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37" name="Group 36">
              <a:extLst>
                <a:ext uri="{FF2B5EF4-FFF2-40B4-BE49-F238E27FC236}">
                  <a16:creationId xmlns:a16="http://schemas.microsoft.com/office/drawing/2014/main" id="{B8D650D1-5C13-7A9F-2141-20B47FF26D5D}"/>
                </a:ext>
              </a:extLst>
            </p:cNvPr>
            <p:cNvGrpSpPr/>
            <p:nvPr/>
          </p:nvGrpSpPr>
          <p:grpSpPr>
            <a:xfrm>
              <a:off x="1111340" y="3992448"/>
              <a:ext cx="4075576" cy="404261"/>
              <a:chOff x="1103682" y="3992448"/>
              <a:chExt cx="4075576" cy="404261"/>
            </a:xfrm>
          </p:grpSpPr>
          <p:sp>
            <p:nvSpPr>
              <p:cNvPr id="17" name="Isosceles Triangle 16">
                <a:extLst>
                  <a:ext uri="{FF2B5EF4-FFF2-40B4-BE49-F238E27FC236}">
                    <a16:creationId xmlns:a16="http://schemas.microsoft.com/office/drawing/2014/main" id="{7B678948-C652-3846-0C06-0385AA715BD1}"/>
                  </a:ext>
                </a:extLst>
              </p:cNvPr>
              <p:cNvSpPr/>
              <p:nvPr/>
            </p:nvSpPr>
            <p:spPr>
              <a:xfrm>
                <a:off x="1103682" y="3992448"/>
                <a:ext cx="468943" cy="404261"/>
              </a:xfrm>
              <a:prstGeom prst="triangle">
                <a:avLst/>
              </a:prstGeom>
              <a:solidFill>
                <a:srgbClr val="87D830"/>
              </a:solidFill>
              <a:ln>
                <a:solidFill>
                  <a:srgbClr val="87D8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8" name="Group 17">
                <a:extLst>
                  <a:ext uri="{FF2B5EF4-FFF2-40B4-BE49-F238E27FC236}">
                    <a16:creationId xmlns:a16="http://schemas.microsoft.com/office/drawing/2014/main" id="{EF7E281D-F84C-9739-0294-590BB7433DAE}"/>
                  </a:ext>
                </a:extLst>
              </p:cNvPr>
              <p:cNvGrpSpPr/>
              <p:nvPr/>
            </p:nvGrpSpPr>
            <p:grpSpPr>
              <a:xfrm>
                <a:off x="2203584" y="3992448"/>
                <a:ext cx="937886" cy="404261"/>
                <a:chOff x="1875322" y="1568917"/>
                <a:chExt cx="937886" cy="404261"/>
              </a:xfrm>
            </p:grpSpPr>
            <p:sp>
              <p:nvSpPr>
                <p:cNvPr id="35" name="Isosceles Triangle 34">
                  <a:extLst>
                    <a:ext uri="{FF2B5EF4-FFF2-40B4-BE49-F238E27FC236}">
                      <a16:creationId xmlns:a16="http://schemas.microsoft.com/office/drawing/2014/main" id="{71AB9FC5-CA2C-3C7F-BF3A-54E331FF1DFE}"/>
                    </a:ext>
                  </a:extLst>
                </p:cNvPr>
                <p:cNvSpPr/>
                <p:nvPr/>
              </p:nvSpPr>
              <p:spPr>
                <a:xfrm>
                  <a:off x="1875322" y="1568917"/>
                  <a:ext cx="468943" cy="404261"/>
                </a:xfrm>
                <a:prstGeom prst="triangle">
                  <a:avLst/>
                </a:prstGeom>
                <a:solidFill>
                  <a:srgbClr val="87D830"/>
                </a:solidFill>
                <a:ln>
                  <a:solidFill>
                    <a:srgbClr val="87D8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6" name="Isosceles Triangle 35">
                  <a:extLst>
                    <a:ext uri="{FF2B5EF4-FFF2-40B4-BE49-F238E27FC236}">
                      <a16:creationId xmlns:a16="http://schemas.microsoft.com/office/drawing/2014/main" id="{A0F73FC3-8B1C-5746-021C-32DCF8A2F253}"/>
                    </a:ext>
                  </a:extLst>
                </p:cNvPr>
                <p:cNvSpPr/>
                <p:nvPr/>
              </p:nvSpPr>
              <p:spPr>
                <a:xfrm>
                  <a:off x="2344265" y="1568917"/>
                  <a:ext cx="468943" cy="404261"/>
                </a:xfrm>
                <a:prstGeom prst="triangle">
                  <a:avLst/>
                </a:prstGeom>
                <a:solidFill>
                  <a:srgbClr val="87D830"/>
                </a:solidFill>
                <a:ln>
                  <a:solidFill>
                    <a:srgbClr val="87D8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grpSp>
            <p:nvGrpSpPr>
              <p:cNvPr id="19" name="Group 18">
                <a:extLst>
                  <a:ext uri="{FF2B5EF4-FFF2-40B4-BE49-F238E27FC236}">
                    <a16:creationId xmlns:a16="http://schemas.microsoft.com/office/drawing/2014/main" id="{F689993F-C8D2-66DD-735A-BDEBA3428C99}"/>
                  </a:ext>
                </a:extLst>
              </p:cNvPr>
              <p:cNvGrpSpPr/>
              <p:nvPr/>
            </p:nvGrpSpPr>
            <p:grpSpPr>
              <a:xfrm>
                <a:off x="3772429" y="3992448"/>
                <a:ext cx="1406829" cy="404261"/>
                <a:chOff x="3202005" y="1568916"/>
                <a:chExt cx="1406829" cy="404261"/>
              </a:xfrm>
            </p:grpSpPr>
            <p:sp>
              <p:nvSpPr>
                <p:cNvPr id="32" name="Isosceles Triangle 31">
                  <a:extLst>
                    <a:ext uri="{FF2B5EF4-FFF2-40B4-BE49-F238E27FC236}">
                      <a16:creationId xmlns:a16="http://schemas.microsoft.com/office/drawing/2014/main" id="{2F9F8FD4-5092-77DC-90E5-F0ADE9F5D50D}"/>
                    </a:ext>
                  </a:extLst>
                </p:cNvPr>
                <p:cNvSpPr/>
                <p:nvPr/>
              </p:nvSpPr>
              <p:spPr>
                <a:xfrm>
                  <a:off x="3202005" y="1568916"/>
                  <a:ext cx="468943" cy="404261"/>
                </a:xfrm>
                <a:prstGeom prst="triangle">
                  <a:avLst/>
                </a:prstGeom>
                <a:solidFill>
                  <a:srgbClr val="87D830"/>
                </a:solidFill>
                <a:ln>
                  <a:solidFill>
                    <a:srgbClr val="87D8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3" name="Isosceles Triangle 32">
                  <a:extLst>
                    <a:ext uri="{FF2B5EF4-FFF2-40B4-BE49-F238E27FC236}">
                      <a16:creationId xmlns:a16="http://schemas.microsoft.com/office/drawing/2014/main" id="{7EEC2144-5208-E884-E87B-819792C7E549}"/>
                    </a:ext>
                  </a:extLst>
                </p:cNvPr>
                <p:cNvSpPr/>
                <p:nvPr/>
              </p:nvSpPr>
              <p:spPr>
                <a:xfrm>
                  <a:off x="3670948" y="1568916"/>
                  <a:ext cx="468943" cy="404261"/>
                </a:xfrm>
                <a:prstGeom prst="triangle">
                  <a:avLst/>
                </a:prstGeom>
                <a:solidFill>
                  <a:srgbClr val="87D830"/>
                </a:solidFill>
                <a:ln>
                  <a:solidFill>
                    <a:srgbClr val="87D8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4" name="Isosceles Triangle 33">
                  <a:extLst>
                    <a:ext uri="{FF2B5EF4-FFF2-40B4-BE49-F238E27FC236}">
                      <a16:creationId xmlns:a16="http://schemas.microsoft.com/office/drawing/2014/main" id="{52B6970C-37A8-756E-A15C-66552D95B4A5}"/>
                    </a:ext>
                  </a:extLst>
                </p:cNvPr>
                <p:cNvSpPr/>
                <p:nvPr/>
              </p:nvSpPr>
              <p:spPr>
                <a:xfrm>
                  <a:off x="4139891" y="1568916"/>
                  <a:ext cx="468943" cy="404261"/>
                </a:xfrm>
                <a:prstGeom prst="triangle">
                  <a:avLst/>
                </a:prstGeom>
                <a:solidFill>
                  <a:srgbClr val="87D830"/>
                </a:solidFill>
                <a:ln>
                  <a:solidFill>
                    <a:srgbClr val="87D8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grpSp>
      </p:grpSp>
      <p:graphicFrame>
        <p:nvGraphicFramePr>
          <p:cNvPr id="8" name="Table 7">
            <a:extLst>
              <a:ext uri="{FF2B5EF4-FFF2-40B4-BE49-F238E27FC236}">
                <a16:creationId xmlns:a16="http://schemas.microsoft.com/office/drawing/2014/main" id="{FD424023-93C0-EEBB-AED5-450F17790F5B}"/>
              </a:ext>
            </a:extLst>
          </p:cNvPr>
          <p:cNvGraphicFramePr>
            <a:graphicFrameLocks noGrp="1"/>
          </p:cNvGraphicFramePr>
          <p:nvPr>
            <p:extLst>
              <p:ext uri="{D42A27DB-BD31-4B8C-83A1-F6EECF244321}">
                <p14:modId xmlns:p14="http://schemas.microsoft.com/office/powerpoint/2010/main" val="538655912"/>
              </p:ext>
            </p:extLst>
          </p:nvPr>
        </p:nvGraphicFramePr>
        <p:xfrm>
          <a:off x="2442981" y="5899964"/>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sp>
        <p:nvSpPr>
          <p:cNvPr id="9" name="Text Placeholder 5">
            <a:extLst>
              <a:ext uri="{FF2B5EF4-FFF2-40B4-BE49-F238E27FC236}">
                <a16:creationId xmlns:a16="http://schemas.microsoft.com/office/drawing/2014/main" id="{551392D2-ACB2-F9CD-9858-73E480DA84BB}"/>
              </a:ext>
            </a:extLst>
          </p:cNvPr>
          <p:cNvSpPr txBox="1">
            <a:spLocks/>
          </p:cNvSpPr>
          <p:nvPr/>
        </p:nvSpPr>
        <p:spPr>
          <a:xfrm>
            <a:off x="289151" y="1184223"/>
            <a:ext cx="11613694" cy="2057400"/>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t>Identify</a:t>
            </a:r>
            <a:r>
              <a:rPr lang="en-AU" sz="4400"/>
              <a:t> whether this quadrilateral has </a:t>
            </a:r>
            <a:r>
              <a:rPr lang="en-AU" sz="4400" b="1"/>
              <a:t>line symmetry</a:t>
            </a:r>
            <a:r>
              <a:rPr lang="en-AU" sz="4400"/>
              <a:t>, </a:t>
            </a:r>
            <a:r>
              <a:rPr lang="en-AU" sz="4400" b="1"/>
              <a:t>rotational symmetry</a:t>
            </a:r>
            <a:r>
              <a:rPr lang="en-AU" sz="4400"/>
              <a:t>, or </a:t>
            </a:r>
            <a:r>
              <a:rPr lang="en-AU" sz="4400" b="1"/>
              <a:t>both</a:t>
            </a:r>
            <a:r>
              <a:rPr lang="en-AU" sz="4400"/>
              <a:t>.</a:t>
            </a:r>
          </a:p>
        </p:txBody>
      </p:sp>
      <p:sp>
        <p:nvSpPr>
          <p:cNvPr id="8" name="Trapezoid 7" descr="Trapezium.">
            <a:extLst>
              <a:ext uri="{FF2B5EF4-FFF2-40B4-BE49-F238E27FC236}">
                <a16:creationId xmlns:a16="http://schemas.microsoft.com/office/drawing/2014/main" id="{43905BB3-6045-7D23-C590-2814AF80070C}"/>
              </a:ext>
            </a:extLst>
          </p:cNvPr>
          <p:cNvSpPr/>
          <p:nvPr/>
        </p:nvSpPr>
        <p:spPr>
          <a:xfrm>
            <a:off x="4441371" y="3879708"/>
            <a:ext cx="3309257" cy="2057400"/>
          </a:xfrm>
          <a:prstGeom prst="trapezoid">
            <a:avLst/>
          </a:prstGeom>
          <a:solidFill>
            <a:srgbClr val="0D99FF"/>
          </a:solidFill>
          <a:ln w="28575">
            <a:solidFill>
              <a:schemeClr val="accent1">
                <a:lumMod val="50000"/>
                <a:lumOff val="50000"/>
              </a:schemeClr>
            </a:solidFill>
          </a:ln>
          <a:effectLst/>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AU"/>
          </a:p>
        </p:txBody>
      </p:sp>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pic>
        <p:nvPicPr>
          <p:cNvPr id="3" name="Picture 2">
            <a:extLst>
              <a:ext uri="{FF2B5EF4-FFF2-40B4-BE49-F238E27FC236}">
                <a16:creationId xmlns:a16="http://schemas.microsoft.com/office/drawing/2014/main" id="{C7718586-1339-6B81-E608-E6AA891DE5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sp>
        <p:nvSpPr>
          <p:cNvPr id="7" name="TextBox 6">
            <a:extLst>
              <a:ext uri="{FF2B5EF4-FFF2-40B4-BE49-F238E27FC236}">
                <a16:creationId xmlns:a16="http://schemas.microsoft.com/office/drawing/2014/main" id="{9EA8903D-80CD-3F7E-8DF9-2C2A04752110}"/>
              </a:ext>
            </a:extLst>
          </p:cNvPr>
          <p:cNvSpPr txBox="1"/>
          <p:nvPr/>
        </p:nvSpPr>
        <p:spPr>
          <a:xfrm>
            <a:off x="360000" y="1310284"/>
            <a:ext cx="11483999" cy="1082324"/>
          </a:xfrm>
          <a:prstGeom prst="rect">
            <a:avLst/>
          </a:prstGeom>
          <a:noFill/>
        </p:spPr>
        <p:txBody>
          <a:bodyPr wrap="square" lIns="0" tIns="0" rIns="0" bIns="0" rtlCol="0">
            <a:noAutofit/>
          </a:bodyPr>
          <a:lstStyle/>
          <a:p>
            <a:pPr algn="l">
              <a:lnSpc>
                <a:spcPct val="150000"/>
              </a:lnSpc>
            </a:pPr>
            <a:r>
              <a:rPr lang="en-AU" sz="4400" b="1" dirty="0"/>
              <a:t>Record</a:t>
            </a:r>
            <a:r>
              <a:rPr lang="en-AU" sz="4400" dirty="0"/>
              <a:t> the following </a:t>
            </a:r>
            <a:r>
              <a:rPr lang="en-AU" sz="4400"/>
              <a:t>using</a:t>
            </a:r>
            <a:r>
              <a:rPr lang="en-AU" sz="4400" dirty="0"/>
              <a:t> </a:t>
            </a:r>
            <a:r>
              <a:rPr lang="en-AU" sz="4400" b="1"/>
              <a:t>decimal notation</a:t>
            </a:r>
            <a:r>
              <a:rPr lang="en-AU" sz="4400" dirty="0"/>
              <a:t>:</a:t>
            </a:r>
          </a:p>
        </p:txBody>
      </p:sp>
      <p:sp>
        <p:nvSpPr>
          <p:cNvPr id="8" name="TextBox 7">
            <a:extLst>
              <a:ext uri="{FF2B5EF4-FFF2-40B4-BE49-F238E27FC236}">
                <a16:creationId xmlns:a16="http://schemas.microsoft.com/office/drawing/2014/main" id="{8E00FB92-44CC-6AEF-893F-4873F0ED6E98}"/>
              </a:ext>
            </a:extLst>
          </p:cNvPr>
          <p:cNvSpPr txBox="1"/>
          <p:nvPr/>
        </p:nvSpPr>
        <p:spPr>
          <a:xfrm>
            <a:off x="3497679" y="2518669"/>
            <a:ext cx="6825828" cy="2791923"/>
          </a:xfrm>
          <a:prstGeom prst="rect">
            <a:avLst/>
          </a:prstGeom>
          <a:noFill/>
        </p:spPr>
        <p:txBody>
          <a:bodyPr wrap="square" lIns="0" tIns="0" rIns="0" bIns="0" rtlCol="0">
            <a:noAutofit/>
          </a:bodyPr>
          <a:lstStyle/>
          <a:p>
            <a:pPr marL="742950" indent="-742950" algn="l">
              <a:lnSpc>
                <a:spcPct val="200000"/>
              </a:lnSpc>
              <a:buFont typeface="+mj-lt"/>
              <a:buAutoNum type="alphaLcParenR"/>
            </a:pPr>
            <a:r>
              <a:rPr lang="en-AU" sz="4400"/>
              <a:t>678 thousandths</a:t>
            </a:r>
          </a:p>
          <a:p>
            <a:pPr marL="742950" indent="-742950" algn="l">
              <a:lnSpc>
                <a:spcPct val="200000"/>
              </a:lnSpc>
              <a:buFont typeface="+mj-lt"/>
              <a:buAutoNum type="alphaLcParenR"/>
            </a:pPr>
            <a:r>
              <a:rPr lang="en-AU" sz="4400"/>
              <a:t>213 thousandths</a:t>
            </a:r>
          </a:p>
          <a:p>
            <a:pPr marL="742950" indent="-742950" algn="l">
              <a:lnSpc>
                <a:spcPct val="200000"/>
              </a:lnSpc>
              <a:buFont typeface="+mj-lt"/>
              <a:buAutoNum type="alphaLcParenR"/>
            </a:pPr>
            <a:r>
              <a:rPr lang="en-AU" sz="4400"/>
              <a:t>42 thousandths</a:t>
            </a:r>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pic>
        <p:nvPicPr>
          <p:cNvPr id="3" name="Picture 2">
            <a:extLst>
              <a:ext uri="{FF2B5EF4-FFF2-40B4-BE49-F238E27FC236}">
                <a16:creationId xmlns:a16="http://schemas.microsoft.com/office/drawing/2014/main" id="{9C8770A4-A467-8E0A-C417-8D3F46A532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sp>
        <p:nvSpPr>
          <p:cNvPr id="8" name="Text Placeholder 12">
            <a:extLst>
              <a:ext uri="{FF2B5EF4-FFF2-40B4-BE49-F238E27FC236}">
                <a16:creationId xmlns:a16="http://schemas.microsoft.com/office/drawing/2014/main" id="{2ECE0CA1-B8FE-0C77-FDE8-F1E513C28CAB}"/>
              </a:ext>
            </a:extLst>
          </p:cNvPr>
          <p:cNvSpPr txBox="1">
            <a:spLocks/>
          </p:cNvSpPr>
          <p:nvPr/>
        </p:nvSpPr>
        <p:spPr>
          <a:xfrm>
            <a:off x="360000" y="1184019"/>
            <a:ext cx="11243037" cy="1942902"/>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Which</a:t>
            </a:r>
            <a:r>
              <a:rPr lang="en-AU" sz="4400" b="1"/>
              <a:t> </a:t>
            </a:r>
            <a:r>
              <a:rPr lang="en-AU" sz="4400"/>
              <a:t>of these </a:t>
            </a:r>
            <a:r>
              <a:rPr lang="en-AU" sz="4400" b="1"/>
              <a:t>lines </a:t>
            </a:r>
            <a:r>
              <a:rPr lang="en-AU" sz="4400"/>
              <a:t>are </a:t>
            </a:r>
            <a:r>
              <a:rPr lang="en-AU" sz="4400" b="1"/>
              <a:t>perpendicular</a:t>
            </a:r>
            <a:r>
              <a:rPr lang="en-AU" sz="4400"/>
              <a:t>?​</a:t>
            </a:r>
          </a:p>
        </p:txBody>
      </p:sp>
      <p:pic>
        <p:nvPicPr>
          <p:cNvPr id="10" name="Picture 9" descr="5 intersecting lines labelled A, B, C, D and E.">
            <a:extLst>
              <a:ext uri="{FF2B5EF4-FFF2-40B4-BE49-F238E27FC236}">
                <a16:creationId xmlns:a16="http://schemas.microsoft.com/office/drawing/2014/main" id="{EEF0536B-554A-C28B-88BF-724D55D93C37}"/>
              </a:ext>
            </a:extLst>
          </p:cNvPr>
          <p:cNvPicPr>
            <a:picLocks noChangeAspect="1"/>
          </p:cNvPicPr>
          <p:nvPr/>
        </p:nvPicPr>
        <p:blipFill>
          <a:blip r:embed="rId3"/>
          <a:stretch>
            <a:fillRect/>
          </a:stretch>
        </p:blipFill>
        <p:spPr>
          <a:xfrm>
            <a:off x="2852555" y="2171155"/>
            <a:ext cx="6486889" cy="4524845"/>
          </a:xfrm>
          <a:prstGeom prst="rect">
            <a:avLst/>
          </a:prstGeom>
        </p:spPr>
      </p:pic>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mc:AlternateContent xmlns:mc="http://schemas.openxmlformats.org/markup-compatibility/2006" xmlns:a14="http://schemas.microsoft.com/office/drawing/2010/main">
        <mc:Choice Requires="a14">
          <p:sp>
            <p:nvSpPr>
              <p:cNvPr id="7" name="Picture Placeholder 10">
                <a:extLst>
                  <a:ext uri="{FF2B5EF4-FFF2-40B4-BE49-F238E27FC236}">
                    <a16:creationId xmlns:a16="http://schemas.microsoft.com/office/drawing/2014/main" id="{04F2291E-0A46-432A-CAEB-DF3441AF5997}"/>
                  </a:ext>
                </a:extLst>
              </p:cNvPr>
              <p:cNvSpPr txBox="1">
                <a:spLocks/>
              </p:cNvSpPr>
              <p:nvPr/>
            </p:nvSpPr>
            <p:spPr>
              <a:xfrm>
                <a:off x="360000" y="905601"/>
                <a:ext cx="11131804" cy="385302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200" dirty="0"/>
                  <a:t>13.5 cm is </a:t>
                </a:r>
                <a:r>
                  <a:rPr lang="en-AU" sz="3200" b="1" dirty="0"/>
                  <a:t>13 centimetres and 5 millimetres </a:t>
                </a:r>
              </a:p>
              <a:p>
                <a:pPr algn="ctr"/>
                <a:r>
                  <a:rPr lang="en-AU" sz="3200" dirty="0"/>
                  <a:t>or </a:t>
                </a:r>
                <a:r>
                  <a:rPr lang="en-AU" sz="3200" b="1" dirty="0"/>
                  <a:t>13 </a:t>
                </a:r>
                <a14:m>
                  <m:oMath xmlns:m="http://schemas.openxmlformats.org/officeDocument/2006/math">
                    <m:f>
                      <m:fPr>
                        <m:ctrlPr>
                          <a:rPr lang="en-AU" sz="3200" b="1" i="1">
                            <a:latin typeface="Cambria Math" panose="02040503050406030204" pitchFamily="18" charset="0"/>
                          </a:rPr>
                        </m:ctrlPr>
                      </m:fPr>
                      <m:num>
                        <m:r>
                          <a:rPr lang="en-AU" sz="3200" b="1" i="1">
                            <a:latin typeface="Cambria Math" panose="02040503050406030204" pitchFamily="18" charset="0"/>
                          </a:rPr>
                          <m:t>𝟏</m:t>
                        </m:r>
                      </m:num>
                      <m:den>
                        <m:r>
                          <a:rPr lang="en-AU" sz="3200" b="1" i="1">
                            <a:latin typeface="Cambria Math" panose="02040503050406030204" pitchFamily="18" charset="0"/>
                          </a:rPr>
                          <m:t>𝟐</m:t>
                        </m:r>
                      </m:den>
                    </m:f>
                  </m:oMath>
                </a14:m>
                <a:r>
                  <a:rPr lang="en-AU" sz="3200" b="1" dirty="0"/>
                  <a:t> centimetres</a:t>
                </a:r>
                <a:r>
                  <a:rPr lang="en-AU" sz="3200" dirty="0">
                    <a:cs typeface="Arial"/>
                  </a:rPr>
                  <a:t>. </a:t>
                </a:r>
                <a:endParaRPr lang="en-AU" sz="3200" dirty="0"/>
              </a:p>
              <a:p>
                <a:pPr algn="ctr"/>
                <a:r>
                  <a:rPr lang="en-AU" sz="3200" b="1" dirty="0">
                    <a:cs typeface="Arial"/>
                  </a:rPr>
                  <a:t>Use this </a:t>
                </a:r>
                <a:r>
                  <a:rPr lang="en-AU" sz="3200" dirty="0">
                    <a:cs typeface="Arial"/>
                  </a:rPr>
                  <a:t>to</a:t>
                </a:r>
                <a:r>
                  <a:rPr lang="en-AU" sz="3200" b="1" dirty="0">
                    <a:cs typeface="Arial"/>
                  </a:rPr>
                  <a:t> interpret </a:t>
                </a:r>
                <a:r>
                  <a:rPr lang="en-AU" sz="3200" dirty="0">
                    <a:cs typeface="Arial"/>
                  </a:rPr>
                  <a:t>and </a:t>
                </a:r>
                <a:r>
                  <a:rPr lang="en-AU" sz="3200" b="1" dirty="0">
                    <a:cs typeface="Arial"/>
                  </a:rPr>
                  <a:t>record</a:t>
                </a:r>
                <a:r>
                  <a:rPr lang="en-AU" sz="3200" dirty="0">
                    <a:cs typeface="Arial"/>
                  </a:rPr>
                  <a:t> these </a:t>
                </a:r>
                <a:r>
                  <a:rPr lang="en-AU" sz="3200" b="1" dirty="0">
                    <a:cs typeface="Arial"/>
                  </a:rPr>
                  <a:t>measurements:</a:t>
                </a:r>
                <a:endParaRPr lang="en-US" sz="3200" dirty="0">
                  <a:cs typeface="Arial"/>
                </a:endParaRPr>
              </a:p>
              <a:p>
                <a:pPr marL="742950" indent="-742950" algn="ctr">
                  <a:buFont typeface="+mj-lt"/>
                  <a:buAutoNum type="alphaLcParenR"/>
                </a:pPr>
                <a:r>
                  <a:rPr lang="en-US" sz="3200" dirty="0">
                    <a:latin typeface="Arial"/>
                    <a:cs typeface="Arial"/>
                  </a:rPr>
                  <a:t>25.5 cm</a:t>
                </a:r>
              </a:p>
              <a:p>
                <a:pPr marL="742950" indent="-742950" algn="ctr">
                  <a:buFont typeface="+mj-lt"/>
                  <a:buAutoNum type="alphaLcParenR"/>
                </a:pPr>
                <a:r>
                  <a:rPr lang="en-US" sz="3200" dirty="0">
                    <a:latin typeface="Arial"/>
                    <a:cs typeface="Arial"/>
                  </a:rPr>
                  <a:t>75.5 cm</a:t>
                </a:r>
              </a:p>
              <a:p>
                <a:pPr marL="742950" indent="-742950" algn="ctr">
                  <a:buFont typeface="+mj-lt"/>
                  <a:buAutoNum type="alphaLcParenR"/>
                </a:pPr>
                <a:r>
                  <a:rPr lang="en-US" sz="3200" dirty="0">
                    <a:latin typeface="Arial"/>
                    <a:cs typeface="Arial"/>
                  </a:rPr>
                  <a:t>97.25 m</a:t>
                </a:r>
                <a:endParaRPr lang="en-US" sz="3200" dirty="0"/>
              </a:p>
            </p:txBody>
          </p:sp>
        </mc:Choice>
        <mc:Fallback xmlns="">
          <p:sp>
            <p:nvSpPr>
              <p:cNvPr id="7" name="Picture Placeholder 10">
                <a:extLst>
                  <a:ext uri="{FF2B5EF4-FFF2-40B4-BE49-F238E27FC236}">
                    <a16:creationId xmlns:a16="http://schemas.microsoft.com/office/drawing/2014/main" id="{04F2291E-0A46-432A-CAEB-DF3441AF5997}"/>
                  </a:ext>
                </a:extLst>
              </p:cNvPr>
              <p:cNvSpPr txBox="1">
                <a:spLocks noRot="1" noChangeAspect="1" noMove="1" noResize="1" noEditPoints="1" noAdjustHandles="1" noChangeArrowheads="1" noChangeShapeType="1" noTextEdit="1"/>
              </p:cNvSpPr>
              <p:nvPr/>
            </p:nvSpPr>
            <p:spPr>
              <a:xfrm>
                <a:off x="360000" y="905601"/>
                <a:ext cx="11131804" cy="3853026"/>
              </a:xfrm>
              <a:prstGeom prst="rect">
                <a:avLst/>
              </a:prstGeom>
              <a:blipFill>
                <a:blip r:embed="rId3"/>
                <a:stretch>
                  <a:fillRect b="-47310"/>
                </a:stretch>
              </a:blipFill>
            </p:spPr>
            <p:txBody>
              <a:bodyPr/>
              <a:lstStyle/>
              <a:p>
                <a:r>
                  <a:rPr lang="en-AU">
                    <a:noFill/>
                  </a:rPr>
                  <a:t> </a:t>
                </a:r>
              </a:p>
            </p:txBody>
          </p:sp>
        </mc:Fallback>
      </mc:AlternateContent>
      <p:pic>
        <p:nvPicPr>
          <p:cNvPr id="3" name="Picture 2">
            <a:extLst>
              <a:ext uri="{FF2B5EF4-FFF2-40B4-BE49-F238E27FC236}">
                <a16:creationId xmlns:a16="http://schemas.microsoft.com/office/drawing/2014/main" id="{5D2DD89E-AAB3-5EBB-F36F-72D71287FEEC}"/>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describe number patterns formed by multiples</a:t>
            </a:r>
          </a:p>
        </p:txBody>
      </p:sp>
      <p:sp>
        <p:nvSpPr>
          <p:cNvPr id="8" name="TextBox 7">
            <a:extLst>
              <a:ext uri="{FF2B5EF4-FFF2-40B4-BE49-F238E27FC236}">
                <a16:creationId xmlns:a16="http://schemas.microsoft.com/office/drawing/2014/main" id="{E704162B-1E3B-B020-BA5F-8033CDCF328C}"/>
              </a:ext>
            </a:extLst>
          </p:cNvPr>
          <p:cNvSpPr txBox="1"/>
          <p:nvPr/>
        </p:nvSpPr>
        <p:spPr>
          <a:xfrm>
            <a:off x="2331483" y="1414100"/>
            <a:ext cx="1338606" cy="368230"/>
          </a:xfrm>
          <a:prstGeom prst="rect">
            <a:avLst/>
          </a:prstGeom>
          <a:noFill/>
        </p:spPr>
        <p:txBody>
          <a:bodyPr wrap="square" lIns="0" tIns="0" rIns="0" bIns="0" rtlCol="0">
            <a:noAutofit/>
          </a:bodyPr>
          <a:lstStyle/>
          <a:p>
            <a:pPr algn="l"/>
            <a:r>
              <a:rPr lang="en-AU" sz="1800">
                <a:solidFill>
                  <a:schemeClr val="accent2"/>
                </a:solidFill>
              </a:rPr>
              <a:t>Activity 1:</a:t>
            </a:r>
          </a:p>
        </p:txBody>
      </p:sp>
      <p:graphicFrame>
        <p:nvGraphicFramePr>
          <p:cNvPr id="3" name="Table 2">
            <a:extLst>
              <a:ext uri="{FF2B5EF4-FFF2-40B4-BE49-F238E27FC236}">
                <a16:creationId xmlns:a16="http://schemas.microsoft.com/office/drawing/2014/main" id="{91206023-D018-6168-EC39-5F8733325C48}"/>
              </a:ext>
            </a:extLst>
          </p:cNvPr>
          <p:cNvGraphicFramePr>
            <a:graphicFrameLocks noGrp="1"/>
          </p:cNvGraphicFramePr>
          <p:nvPr>
            <p:extLst>
              <p:ext uri="{D42A27DB-BD31-4B8C-83A1-F6EECF244321}">
                <p14:modId xmlns:p14="http://schemas.microsoft.com/office/powerpoint/2010/main" val="3258181197"/>
              </p:ext>
            </p:extLst>
          </p:nvPr>
        </p:nvGraphicFramePr>
        <p:xfrm>
          <a:off x="2331483" y="1735023"/>
          <a:ext cx="7529034" cy="1359592"/>
        </p:xfrm>
        <a:graphic>
          <a:graphicData uri="http://schemas.openxmlformats.org/drawingml/2006/table">
            <a:tbl>
              <a:tblPr firstRow="1" bandRow="1">
                <a:tableStyleId>{5A111915-BE36-4E01-A7E5-04B1672EAD32}</a:tableStyleId>
              </a:tblPr>
              <a:tblGrid>
                <a:gridCol w="2161044">
                  <a:extLst>
                    <a:ext uri="{9D8B030D-6E8A-4147-A177-3AD203B41FA5}">
                      <a16:colId xmlns:a16="http://schemas.microsoft.com/office/drawing/2014/main" val="1037980559"/>
                    </a:ext>
                  </a:extLst>
                </a:gridCol>
                <a:gridCol w="1073598">
                  <a:extLst>
                    <a:ext uri="{9D8B030D-6E8A-4147-A177-3AD203B41FA5}">
                      <a16:colId xmlns:a16="http://schemas.microsoft.com/office/drawing/2014/main" val="1414479321"/>
                    </a:ext>
                  </a:extLst>
                </a:gridCol>
                <a:gridCol w="1073598">
                  <a:extLst>
                    <a:ext uri="{9D8B030D-6E8A-4147-A177-3AD203B41FA5}">
                      <a16:colId xmlns:a16="http://schemas.microsoft.com/office/drawing/2014/main" val="1936309375"/>
                    </a:ext>
                  </a:extLst>
                </a:gridCol>
                <a:gridCol w="1073598">
                  <a:extLst>
                    <a:ext uri="{9D8B030D-6E8A-4147-A177-3AD203B41FA5}">
                      <a16:colId xmlns:a16="http://schemas.microsoft.com/office/drawing/2014/main" val="1072593135"/>
                    </a:ext>
                  </a:extLst>
                </a:gridCol>
                <a:gridCol w="1073598">
                  <a:extLst>
                    <a:ext uri="{9D8B030D-6E8A-4147-A177-3AD203B41FA5}">
                      <a16:colId xmlns:a16="http://schemas.microsoft.com/office/drawing/2014/main" val="2617543454"/>
                    </a:ext>
                  </a:extLst>
                </a:gridCol>
                <a:gridCol w="1073598">
                  <a:extLst>
                    <a:ext uri="{9D8B030D-6E8A-4147-A177-3AD203B41FA5}">
                      <a16:colId xmlns:a16="http://schemas.microsoft.com/office/drawing/2014/main" val="1179776664"/>
                    </a:ext>
                  </a:extLst>
                </a:gridCol>
              </a:tblGrid>
              <a:tr h="679796">
                <a:tc>
                  <a:txBody>
                    <a:bodyPr/>
                    <a:lstStyle/>
                    <a:p>
                      <a:pPr algn="ctr"/>
                      <a:r>
                        <a:rPr lang="en-AU" sz="1800" b="1">
                          <a:solidFill>
                            <a:schemeClr val="bg1"/>
                          </a:solidFill>
                          <a:latin typeface="Arial" panose="020B0604020202020204" pitchFamily="34" charset="0"/>
                          <a:cs typeface="Arial" panose="020B0604020202020204" pitchFamily="34" charset="0"/>
                        </a:rPr>
                        <a:t>Number of shapes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AU" sz="1800" b="0">
                          <a:solidFill>
                            <a:schemeClr val="tx1"/>
                          </a:solidFill>
                          <a:latin typeface="Arial" panose="020B0604020202020204" pitchFamily="34" charset="0"/>
                          <a:cs typeface="Arial" panose="020B0604020202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1800" b="0">
                          <a:solidFill>
                            <a:schemeClr val="tx1"/>
                          </a:solidFill>
                          <a:latin typeface="Arial" panose="020B0604020202020204" pitchFamily="34" charset="0"/>
                          <a:cs typeface="Arial" panose="020B060402020202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1800" b="0">
                          <a:solidFill>
                            <a:schemeClr val="tx1"/>
                          </a:solidFill>
                          <a:latin typeface="Arial" panose="020B0604020202020204" pitchFamily="34" charset="0"/>
                          <a:cs typeface="Arial" panose="020B060402020202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1800" b="0">
                          <a:solidFill>
                            <a:schemeClr val="tx1"/>
                          </a:solidFill>
                          <a:latin typeface="Arial" panose="020B0604020202020204" pitchFamily="34" charset="0"/>
                          <a:cs typeface="Arial" panose="020B060402020202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1800" b="0">
                          <a:solidFill>
                            <a:schemeClr val="tx1"/>
                          </a:solidFill>
                          <a:latin typeface="Arial" panose="020B0604020202020204" pitchFamily="34" charset="0"/>
                          <a:cs typeface="Arial" panose="020B0604020202020204" pitchFamily="34"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46536183"/>
                  </a:ext>
                </a:extLst>
              </a:tr>
              <a:tr h="679796">
                <a:tc>
                  <a:txBody>
                    <a:bodyPr/>
                    <a:lstStyle/>
                    <a:p>
                      <a:pPr algn="ctr"/>
                      <a:r>
                        <a:rPr lang="en-AU" sz="1800" b="1">
                          <a:solidFill>
                            <a:schemeClr val="bg1"/>
                          </a:solidFill>
                          <a:latin typeface="Arial" panose="020B0604020202020204" pitchFamily="34" charset="0"/>
                          <a:cs typeface="Arial" panose="020B0604020202020204" pitchFamily="34" charset="0"/>
                        </a:rPr>
                        <a:t>Number of sides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AU" sz="1800" b="0">
                          <a:latin typeface="Arial" panose="020B0604020202020204" pitchFamily="34" charset="0"/>
                          <a:cs typeface="Arial" panose="020B0604020202020204" pitchFamily="34"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1800" b="0">
                          <a:latin typeface="Arial" panose="020B0604020202020204" pitchFamily="34" charset="0"/>
                          <a:cs typeface="Arial" panose="020B0604020202020204" pitchFamily="34" charset="0"/>
                        </a:rPr>
                        <a:t>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1800" b="0">
                          <a:latin typeface="Arial" panose="020B0604020202020204" pitchFamily="34" charset="0"/>
                          <a:cs typeface="Arial" panose="020B0604020202020204" pitchFamily="34" charset="0"/>
                        </a:rPr>
                        <a:t>36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1800" b="0">
                          <a:latin typeface="Arial" panose="020B0604020202020204" pitchFamily="34" charset="0"/>
                          <a:cs typeface="Arial" panose="020B0604020202020204" pitchFamily="34" charset="0"/>
                        </a:rPr>
                        <a:t>48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1800" b="0">
                          <a:latin typeface="Arial" panose="020B0604020202020204" pitchFamily="34" charset="0"/>
                          <a:cs typeface="Arial" panose="020B0604020202020204" pitchFamily="34" charset="0"/>
                        </a:rPr>
                        <a:t>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9409323"/>
                  </a:ext>
                </a:extLst>
              </a:tr>
            </a:tbl>
          </a:graphicData>
        </a:graphic>
      </p:graphicFrame>
      <p:graphicFrame>
        <p:nvGraphicFramePr>
          <p:cNvPr id="5" name="Table 4">
            <a:extLst>
              <a:ext uri="{FF2B5EF4-FFF2-40B4-BE49-F238E27FC236}">
                <a16:creationId xmlns:a16="http://schemas.microsoft.com/office/drawing/2014/main" id="{F4B2FDB0-217D-9E2D-9B0A-277604439036}"/>
              </a:ext>
            </a:extLst>
          </p:cNvPr>
          <p:cNvGraphicFramePr>
            <a:graphicFrameLocks noGrp="1"/>
          </p:cNvGraphicFramePr>
          <p:nvPr>
            <p:extLst>
              <p:ext uri="{D42A27DB-BD31-4B8C-83A1-F6EECF244321}">
                <p14:modId xmlns:p14="http://schemas.microsoft.com/office/powerpoint/2010/main" val="2747734522"/>
              </p:ext>
            </p:extLst>
          </p:nvPr>
        </p:nvGraphicFramePr>
        <p:xfrm>
          <a:off x="743611" y="3696237"/>
          <a:ext cx="10525400" cy="2498840"/>
        </p:xfrm>
        <a:graphic>
          <a:graphicData uri="http://schemas.openxmlformats.org/drawingml/2006/table">
            <a:tbl>
              <a:tblPr firstRow="1" bandRow="1">
                <a:tableStyleId>{5A111915-BE36-4E01-A7E5-04B1672EAD32}</a:tableStyleId>
              </a:tblPr>
              <a:tblGrid>
                <a:gridCol w="3068535">
                  <a:extLst>
                    <a:ext uri="{9D8B030D-6E8A-4147-A177-3AD203B41FA5}">
                      <a16:colId xmlns:a16="http://schemas.microsoft.com/office/drawing/2014/main" val="1037980559"/>
                    </a:ext>
                  </a:extLst>
                </a:gridCol>
                <a:gridCol w="1491373">
                  <a:extLst>
                    <a:ext uri="{9D8B030D-6E8A-4147-A177-3AD203B41FA5}">
                      <a16:colId xmlns:a16="http://schemas.microsoft.com/office/drawing/2014/main" val="1414479321"/>
                    </a:ext>
                  </a:extLst>
                </a:gridCol>
                <a:gridCol w="1491373">
                  <a:extLst>
                    <a:ext uri="{9D8B030D-6E8A-4147-A177-3AD203B41FA5}">
                      <a16:colId xmlns:a16="http://schemas.microsoft.com/office/drawing/2014/main" val="1936309375"/>
                    </a:ext>
                  </a:extLst>
                </a:gridCol>
                <a:gridCol w="1491373">
                  <a:extLst>
                    <a:ext uri="{9D8B030D-6E8A-4147-A177-3AD203B41FA5}">
                      <a16:colId xmlns:a16="http://schemas.microsoft.com/office/drawing/2014/main" val="1072593135"/>
                    </a:ext>
                  </a:extLst>
                </a:gridCol>
                <a:gridCol w="1491373">
                  <a:extLst>
                    <a:ext uri="{9D8B030D-6E8A-4147-A177-3AD203B41FA5}">
                      <a16:colId xmlns:a16="http://schemas.microsoft.com/office/drawing/2014/main" val="2617543454"/>
                    </a:ext>
                  </a:extLst>
                </a:gridCol>
                <a:gridCol w="1491373">
                  <a:extLst>
                    <a:ext uri="{9D8B030D-6E8A-4147-A177-3AD203B41FA5}">
                      <a16:colId xmlns:a16="http://schemas.microsoft.com/office/drawing/2014/main" val="1179776664"/>
                    </a:ext>
                  </a:extLst>
                </a:gridCol>
              </a:tblGrid>
              <a:tr h="1249420">
                <a:tc>
                  <a:txBody>
                    <a:bodyPr/>
                    <a:lstStyle/>
                    <a:p>
                      <a:pPr algn="ctr"/>
                      <a:r>
                        <a:rPr lang="en-AU" sz="2400" b="1">
                          <a:solidFill>
                            <a:schemeClr val="bg1"/>
                          </a:solidFill>
                          <a:latin typeface="Arial"/>
                          <a:cs typeface="Arial"/>
                        </a:rPr>
                        <a:t>Number of shapes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AU" sz="2400" b="0">
                          <a:solidFill>
                            <a:schemeClr val="tx1"/>
                          </a:solidFill>
                          <a:latin typeface="Arial"/>
                          <a:cs typeface="Aria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2400" b="0">
                          <a:solidFill>
                            <a:schemeClr val="tx1"/>
                          </a:solidFill>
                          <a:latin typeface="Arial"/>
                          <a:cs typeface="Aria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2400" b="0">
                          <a:solidFill>
                            <a:schemeClr val="tx1"/>
                          </a:solidFill>
                          <a:latin typeface="Arial"/>
                          <a:cs typeface="Aria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2400" b="0">
                          <a:solidFill>
                            <a:schemeClr val="tx1"/>
                          </a:solidFill>
                          <a:latin typeface="Arial"/>
                          <a:cs typeface="Aria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2400" b="0">
                          <a:solidFill>
                            <a:schemeClr val="tx1"/>
                          </a:solidFill>
                          <a:latin typeface="Arial"/>
                          <a:cs typeface="Aria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46536183"/>
                  </a:ext>
                </a:extLst>
              </a:tr>
              <a:tr h="1249420">
                <a:tc>
                  <a:txBody>
                    <a:bodyPr/>
                    <a:lstStyle/>
                    <a:p>
                      <a:pPr algn="ctr"/>
                      <a:r>
                        <a:rPr lang="en-AU" sz="2400" b="1">
                          <a:solidFill>
                            <a:schemeClr val="bg1"/>
                          </a:solidFill>
                          <a:latin typeface="Arial"/>
                          <a:cs typeface="Arial"/>
                        </a:rPr>
                        <a:t>Number of sides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AU" sz="2400" b="0">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2400" b="0">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2400" b="0">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2400" b="0">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2400" b="0">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9409323"/>
                  </a:ext>
                </a:extLst>
              </a:tr>
            </a:tbl>
          </a:graphicData>
        </a:graphic>
      </p:graphicFrame>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pic>
        <p:nvPicPr>
          <p:cNvPr id="4" name="Picture 3">
            <a:extLst>
              <a:ext uri="{FF2B5EF4-FFF2-40B4-BE49-F238E27FC236}">
                <a16:creationId xmlns:a16="http://schemas.microsoft.com/office/drawing/2014/main" id="{D6502462-26FB-38CD-06DC-5F98705966B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395B7-005C-31C4-0C7A-4EF2A3AD25D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F4F570C-FFB4-D41A-689E-6CE124D648CB}"/>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(2)</a:t>
            </a:r>
          </a:p>
        </p:txBody>
      </p:sp>
      <p:sp>
        <p:nvSpPr>
          <p:cNvPr id="20" name="Text Placeholder 19">
            <a:extLst>
              <a:ext uri="{FF2B5EF4-FFF2-40B4-BE49-F238E27FC236}">
                <a16:creationId xmlns:a16="http://schemas.microsoft.com/office/drawing/2014/main" id="{1309051C-1F1F-A330-704F-37DE23D4F8CD}"/>
              </a:ext>
            </a:extLst>
          </p:cNvPr>
          <p:cNvSpPr>
            <a:spLocks noGrp="1"/>
          </p:cNvSpPr>
          <p:nvPr>
            <p:ph type="body" sz="quarter" idx="28"/>
          </p:nvPr>
        </p:nvSpPr>
        <p:spPr>
          <a:xfrm>
            <a:off x="360000" y="1178072"/>
            <a:ext cx="5621519" cy="2332165"/>
          </a:xfrm>
        </p:spPr>
        <p:txBody>
          <a:bodyPr/>
          <a:lstStyle/>
          <a:p>
            <a:pPr algn="ctr"/>
            <a:r>
              <a:rPr lang="en-AU" sz="3200" dirty="0"/>
              <a:t>Which </a:t>
            </a:r>
            <a:r>
              <a:rPr lang="en-AU" sz="3200" b="1" dirty="0"/>
              <a:t>rule describes </a:t>
            </a:r>
            <a:r>
              <a:rPr lang="en-AU" sz="3200" dirty="0"/>
              <a:t>what is happening in the </a:t>
            </a:r>
            <a:r>
              <a:rPr lang="en-AU" sz="3200" b="1" dirty="0"/>
              <a:t>pattern</a:t>
            </a:r>
            <a:r>
              <a:rPr lang="en-AU" sz="3200" dirty="0"/>
              <a:t> and the </a:t>
            </a:r>
            <a:r>
              <a:rPr lang="en-AU" sz="3200" b="1" dirty="0"/>
              <a:t>table of values</a:t>
            </a:r>
            <a:r>
              <a:rPr lang="en-AU" sz="3200" dirty="0"/>
              <a:t>?</a:t>
            </a:r>
          </a:p>
        </p:txBody>
      </p:sp>
      <p:grpSp>
        <p:nvGrpSpPr>
          <p:cNvPr id="15" name="Group 14" descr="A sequence of stick arrangements forming triangles is shown across the top. The first arrangement uses three sticks to make one triangle. The second arrangement shows two triangles sharing a side, made with five sticks. The third arrangement shows three connected triangles in a row, made with seven sticks.&#10;&#10;Below, a table summarises the pattern with two rows: “Number of triangles” listed as 1, 2, 3, and “Number of sticks” listed as 3, 5, 7.">
            <a:extLst>
              <a:ext uri="{FF2B5EF4-FFF2-40B4-BE49-F238E27FC236}">
                <a16:creationId xmlns:a16="http://schemas.microsoft.com/office/drawing/2014/main" id="{8D9CB271-57F8-D7D1-13F4-72AE4A46B6AD}"/>
              </a:ext>
            </a:extLst>
          </p:cNvPr>
          <p:cNvGrpSpPr/>
          <p:nvPr/>
        </p:nvGrpSpPr>
        <p:grpSpPr>
          <a:xfrm>
            <a:off x="6324622" y="1302353"/>
            <a:ext cx="5252881" cy="2029839"/>
            <a:chOff x="6591119" y="1184019"/>
            <a:chExt cx="5252881" cy="2029839"/>
          </a:xfrm>
        </p:grpSpPr>
        <p:sp>
          <p:nvSpPr>
            <p:cNvPr id="8" name="Rectangle 7">
              <a:extLst>
                <a:ext uri="{FF2B5EF4-FFF2-40B4-BE49-F238E27FC236}">
                  <a16:creationId xmlns:a16="http://schemas.microsoft.com/office/drawing/2014/main" id="{6267E9D7-4E69-2719-038A-4368DB68E52C}"/>
                </a:ext>
              </a:extLst>
            </p:cNvPr>
            <p:cNvSpPr/>
            <p:nvPr/>
          </p:nvSpPr>
          <p:spPr>
            <a:xfrm>
              <a:off x="6591119" y="1184019"/>
              <a:ext cx="5252881" cy="2029839"/>
            </a:xfrm>
            <a:prstGeom prst="rect">
              <a:avLst/>
            </a:prstGeom>
            <a:solidFill>
              <a:schemeClr val="bg1"/>
            </a:solidFill>
            <a:ln>
              <a:noFill/>
            </a:ln>
            <a:effectLst>
              <a:outerShdw blurRad="292100" dist="139700" dir="2700000" algn="tl" rotWithShape="0">
                <a:srgbClr val="333333">
                  <a:alpha val="6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7" name="Picture 6">
              <a:extLst>
                <a:ext uri="{FF2B5EF4-FFF2-40B4-BE49-F238E27FC236}">
                  <a16:creationId xmlns:a16="http://schemas.microsoft.com/office/drawing/2014/main" id="{C95D78F2-3681-6B76-EC98-EC626F2B8C60}"/>
                </a:ext>
              </a:extLst>
            </p:cNvPr>
            <p:cNvPicPr>
              <a:picLocks noChangeAspect="1"/>
            </p:cNvPicPr>
            <p:nvPr/>
          </p:nvPicPr>
          <p:blipFill>
            <a:blip r:embed="rId3"/>
            <a:stretch>
              <a:fillRect/>
            </a:stretch>
          </p:blipFill>
          <p:spPr>
            <a:xfrm>
              <a:off x="6699681" y="1376123"/>
              <a:ext cx="5035756" cy="1645630"/>
            </a:xfrm>
            <a:prstGeom prst="rect">
              <a:avLst/>
            </a:prstGeom>
          </p:spPr>
        </p:pic>
      </p:grpSp>
      <p:sp>
        <p:nvSpPr>
          <p:cNvPr id="9" name="B">
            <a:extLst>
              <a:ext uri="{FF2B5EF4-FFF2-40B4-BE49-F238E27FC236}">
                <a16:creationId xmlns:a16="http://schemas.microsoft.com/office/drawing/2014/main" id="{5A382ED7-060A-7E98-68AA-909CA431FA73}"/>
              </a:ext>
            </a:extLst>
          </p:cNvPr>
          <p:cNvSpPr txBox="1"/>
          <p:nvPr/>
        </p:nvSpPr>
        <p:spPr>
          <a:xfrm>
            <a:off x="561702" y="351771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D32084B7-3157-B6C6-6327-3D75677695DE}"/>
              </a:ext>
            </a:extLst>
          </p:cNvPr>
          <p:cNvSpPr>
            <a:spLocks noGrp="1"/>
          </p:cNvSpPr>
          <p:nvPr>
            <p:ph type="body" sz="quarter" idx="31"/>
          </p:nvPr>
        </p:nvSpPr>
        <p:spPr>
          <a:xfrm>
            <a:off x="1236662" y="3566347"/>
            <a:ext cx="10175920" cy="641396"/>
          </a:xfrm>
        </p:spPr>
        <p:txBody>
          <a:bodyPr anchor="ctr"/>
          <a:lstStyle/>
          <a:p>
            <a:r>
              <a:rPr lang="en-US" sz="2800" dirty="0"/>
              <a:t>There are 3 times as many sticks as triangles.</a:t>
            </a:r>
          </a:p>
        </p:txBody>
      </p:sp>
      <p:sp>
        <p:nvSpPr>
          <p:cNvPr id="10" name="B">
            <a:extLst>
              <a:ext uri="{FF2B5EF4-FFF2-40B4-BE49-F238E27FC236}">
                <a16:creationId xmlns:a16="http://schemas.microsoft.com/office/drawing/2014/main" id="{A010CE09-CBAE-D43B-277A-CFF152A81A33}"/>
              </a:ext>
            </a:extLst>
          </p:cNvPr>
          <p:cNvSpPr txBox="1"/>
          <p:nvPr/>
        </p:nvSpPr>
        <p:spPr>
          <a:xfrm>
            <a:off x="561698" y="435830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CA6A9056-4360-2FF6-BEE4-68226154248D}"/>
              </a:ext>
            </a:extLst>
          </p:cNvPr>
          <p:cNvSpPr>
            <a:spLocks noGrp="1"/>
          </p:cNvSpPr>
          <p:nvPr>
            <p:ph type="body" sz="quarter" idx="30"/>
          </p:nvPr>
        </p:nvSpPr>
        <p:spPr>
          <a:xfrm>
            <a:off x="1236662" y="4393462"/>
            <a:ext cx="10175920" cy="641396"/>
          </a:xfrm>
        </p:spPr>
        <p:txBody>
          <a:bodyPr anchor="ctr"/>
          <a:lstStyle/>
          <a:p>
            <a:r>
              <a:rPr lang="en-AU" sz="2800" dirty="0"/>
              <a:t>There are 2 more sticks than triangles.</a:t>
            </a:r>
            <a:endParaRPr lang="en-US" sz="2800" dirty="0"/>
          </a:p>
        </p:txBody>
      </p:sp>
      <p:sp>
        <p:nvSpPr>
          <p:cNvPr id="12" name="C">
            <a:extLst>
              <a:ext uri="{FF2B5EF4-FFF2-40B4-BE49-F238E27FC236}">
                <a16:creationId xmlns:a16="http://schemas.microsoft.com/office/drawing/2014/main" id="{624F8ED9-A501-D764-F9FF-21D019777E96}"/>
              </a:ext>
            </a:extLst>
          </p:cNvPr>
          <p:cNvSpPr txBox="1"/>
          <p:nvPr/>
        </p:nvSpPr>
        <p:spPr>
          <a:xfrm>
            <a:off x="561698" y="514971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146566D7-7877-2A99-48F9-5D7AD5F52949}"/>
              </a:ext>
            </a:extLst>
          </p:cNvPr>
          <p:cNvSpPr>
            <a:spLocks noGrp="1"/>
          </p:cNvSpPr>
          <p:nvPr>
            <p:ph type="body" sz="quarter" idx="29"/>
          </p:nvPr>
        </p:nvSpPr>
        <p:spPr>
          <a:xfrm>
            <a:off x="1236662" y="5220577"/>
            <a:ext cx="10175920" cy="641396"/>
          </a:xfrm>
        </p:spPr>
        <p:txBody>
          <a:bodyPr anchor="ctr"/>
          <a:lstStyle/>
          <a:p>
            <a:r>
              <a:rPr lang="en-AU" sz="2800" dirty="0"/>
              <a:t>There are twice as many sticks as triangles plus 1 more.</a:t>
            </a:r>
            <a:endParaRPr lang="en-US" sz="2800" dirty="0"/>
          </a:p>
        </p:txBody>
      </p:sp>
      <p:sp>
        <p:nvSpPr>
          <p:cNvPr id="11" name="D">
            <a:extLst>
              <a:ext uri="{FF2B5EF4-FFF2-40B4-BE49-F238E27FC236}">
                <a16:creationId xmlns:a16="http://schemas.microsoft.com/office/drawing/2014/main" id="{5DC08B56-3C37-F1C8-7429-E6B2B185116B}"/>
              </a:ext>
            </a:extLst>
          </p:cNvPr>
          <p:cNvSpPr txBox="1"/>
          <p:nvPr/>
        </p:nvSpPr>
        <p:spPr>
          <a:xfrm>
            <a:off x="561698" y="599905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397B759F-FE84-7878-9307-F28A9BB32386}"/>
              </a:ext>
            </a:extLst>
          </p:cNvPr>
          <p:cNvSpPr>
            <a:spLocks noGrp="1"/>
          </p:cNvSpPr>
          <p:nvPr>
            <p:ph type="body" sz="quarter" idx="27"/>
          </p:nvPr>
        </p:nvSpPr>
        <p:spPr>
          <a:xfrm>
            <a:off x="1236662" y="6047691"/>
            <a:ext cx="10175920" cy="641396"/>
          </a:xfrm>
        </p:spPr>
        <p:txBody>
          <a:bodyPr anchor="ctr"/>
          <a:lstStyle/>
          <a:p>
            <a:r>
              <a:rPr lang="en-AU" sz="2800" dirty="0"/>
              <a:t>There are 2 times as many sticks as triangles.</a:t>
            </a:r>
            <a:endParaRPr lang="en-US" sz="2800" dirty="0"/>
          </a:p>
        </p:txBody>
      </p:sp>
      <p:pic>
        <p:nvPicPr>
          <p:cNvPr id="4" name="Picture 3">
            <a:extLst>
              <a:ext uri="{FF2B5EF4-FFF2-40B4-BE49-F238E27FC236}">
                <a16:creationId xmlns:a16="http://schemas.microsoft.com/office/drawing/2014/main" id="{D52D6FFB-ACD3-3483-AFF1-8790FA0954BF}"/>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1C4D5CCF-CB22-4320-EC3F-56335F0C416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1878202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sp>
        <p:nvSpPr>
          <p:cNvPr id="30" name="Text Placeholder 17">
            <a:extLst>
              <a:ext uri="{FF2B5EF4-FFF2-40B4-BE49-F238E27FC236}">
                <a16:creationId xmlns:a16="http://schemas.microsoft.com/office/drawing/2014/main" id="{0A595AC8-67D5-9982-CD0A-50E4E18F6260}"/>
              </a:ext>
            </a:extLst>
          </p:cNvPr>
          <p:cNvSpPr txBox="1">
            <a:spLocks/>
          </p:cNvSpPr>
          <p:nvPr/>
        </p:nvSpPr>
        <p:spPr>
          <a:xfrm>
            <a:off x="663208" y="1593289"/>
            <a:ext cx="10367268" cy="1835711"/>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dirty="0"/>
              <a:t>Has this shape </a:t>
            </a:r>
            <a:r>
              <a:rPr lang="en-AU" sz="4400" b="1" dirty="0"/>
              <a:t>only</a:t>
            </a:r>
            <a:r>
              <a:rPr lang="en-AU" sz="4400" dirty="0"/>
              <a:t> been </a:t>
            </a:r>
            <a:r>
              <a:rPr lang="en-AU" sz="4400" b="1" dirty="0"/>
              <a:t>translated?</a:t>
            </a:r>
          </a:p>
        </p:txBody>
      </p:sp>
      <p:grpSp>
        <p:nvGrpSpPr>
          <p:cNvPr id="7" name="Group 6" descr="Hexagon with black dot in bottom right corner.">
            <a:extLst>
              <a:ext uri="{FF2B5EF4-FFF2-40B4-BE49-F238E27FC236}">
                <a16:creationId xmlns:a16="http://schemas.microsoft.com/office/drawing/2014/main" id="{AF889EF5-79D4-2D4A-2377-B28A0526460A}"/>
              </a:ext>
            </a:extLst>
          </p:cNvPr>
          <p:cNvGrpSpPr/>
          <p:nvPr/>
        </p:nvGrpSpPr>
        <p:grpSpPr>
          <a:xfrm>
            <a:off x="2947127" y="3522777"/>
            <a:ext cx="1210957" cy="1040666"/>
            <a:chOff x="3845673" y="4844158"/>
            <a:chExt cx="1210957" cy="1040666"/>
          </a:xfrm>
        </p:grpSpPr>
        <p:grpSp>
          <p:nvGrpSpPr>
            <p:cNvPr id="9" name="Group 3">
              <a:extLst>
                <a:ext uri="{FF2B5EF4-FFF2-40B4-BE49-F238E27FC236}">
                  <a16:creationId xmlns:a16="http://schemas.microsoft.com/office/drawing/2014/main" id="{933850DF-346F-E6AC-4411-A845D4AFD4FA}"/>
                </a:ext>
              </a:extLst>
            </p:cNvPr>
            <p:cNvGrpSpPr/>
            <p:nvPr/>
          </p:nvGrpSpPr>
          <p:grpSpPr>
            <a:xfrm>
              <a:off x="3845673" y="4844158"/>
              <a:ext cx="1210957" cy="1040666"/>
              <a:chOff x="0" y="0"/>
              <a:chExt cx="812800" cy="698500"/>
            </a:xfrm>
          </p:grpSpPr>
          <p:sp>
            <p:nvSpPr>
              <p:cNvPr id="13" name="Freeform 4">
                <a:extLst>
                  <a:ext uri="{FF2B5EF4-FFF2-40B4-BE49-F238E27FC236}">
                    <a16:creationId xmlns:a16="http://schemas.microsoft.com/office/drawing/2014/main" id="{68D76634-CED9-BA4F-958C-99B2EBA815DF}"/>
                  </a:ext>
                </a:extLst>
              </p:cNvPr>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7ED957"/>
              </a:solidFill>
            </p:spPr>
            <p:txBody>
              <a:bodyPr/>
              <a:lstStyle/>
              <a:p>
                <a:endParaRPr lang="en-AU"/>
              </a:p>
            </p:txBody>
          </p:sp>
          <p:sp>
            <p:nvSpPr>
              <p:cNvPr id="14" name="TextBox 5">
                <a:extLst>
                  <a:ext uri="{FF2B5EF4-FFF2-40B4-BE49-F238E27FC236}">
                    <a16:creationId xmlns:a16="http://schemas.microsoft.com/office/drawing/2014/main" id="{09764FEA-C07E-BBC0-3506-706EE9D55ABE}"/>
                  </a:ext>
                </a:extLst>
              </p:cNvPr>
              <p:cNvSpPr txBox="1"/>
              <p:nvPr/>
            </p:nvSpPr>
            <p:spPr>
              <a:xfrm>
                <a:off x="114300" y="-85725"/>
                <a:ext cx="584200" cy="784225"/>
              </a:xfrm>
              <a:prstGeom prst="rect">
                <a:avLst/>
              </a:prstGeom>
            </p:spPr>
            <p:txBody>
              <a:bodyPr lIns="71384" tIns="71384" rIns="71384" bIns="71384" rtlCol="0" anchor="ctr"/>
              <a:lstStyle/>
              <a:p>
                <a:pPr algn="ctr">
                  <a:lnSpc>
                    <a:spcPts val="2519"/>
                  </a:lnSpc>
                </a:pPr>
                <a:endParaRPr/>
              </a:p>
            </p:txBody>
          </p:sp>
        </p:grpSp>
        <p:grpSp>
          <p:nvGrpSpPr>
            <p:cNvPr id="10" name="Group 6">
              <a:extLst>
                <a:ext uri="{FF2B5EF4-FFF2-40B4-BE49-F238E27FC236}">
                  <a16:creationId xmlns:a16="http://schemas.microsoft.com/office/drawing/2014/main" id="{1AFDD7AB-BE26-1112-DD1D-8CC08C3AF7BE}"/>
                </a:ext>
              </a:extLst>
            </p:cNvPr>
            <p:cNvGrpSpPr/>
            <p:nvPr/>
          </p:nvGrpSpPr>
          <p:grpSpPr>
            <a:xfrm>
              <a:off x="4641406" y="5714150"/>
              <a:ext cx="130347" cy="130347"/>
              <a:chOff x="0" y="0"/>
              <a:chExt cx="812800" cy="812800"/>
            </a:xfrm>
          </p:grpSpPr>
          <p:sp>
            <p:nvSpPr>
              <p:cNvPr id="11" name="Freeform 7">
                <a:extLst>
                  <a:ext uri="{FF2B5EF4-FFF2-40B4-BE49-F238E27FC236}">
                    <a16:creationId xmlns:a16="http://schemas.microsoft.com/office/drawing/2014/main" id="{D1162FD0-8665-5989-93B4-5165F7F59EA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en-AU"/>
              </a:p>
            </p:txBody>
          </p:sp>
          <p:sp>
            <p:nvSpPr>
              <p:cNvPr id="12" name="TextBox 8">
                <a:extLst>
                  <a:ext uri="{FF2B5EF4-FFF2-40B4-BE49-F238E27FC236}">
                    <a16:creationId xmlns:a16="http://schemas.microsoft.com/office/drawing/2014/main" id="{94924807-2BA0-CEAD-FDF0-9B2AD74C53A3}"/>
                  </a:ext>
                </a:extLst>
              </p:cNvPr>
              <p:cNvSpPr txBox="1"/>
              <p:nvPr/>
            </p:nvSpPr>
            <p:spPr>
              <a:xfrm>
                <a:off x="76200" y="-9525"/>
                <a:ext cx="660400" cy="746125"/>
              </a:xfrm>
              <a:prstGeom prst="rect">
                <a:avLst/>
              </a:prstGeom>
            </p:spPr>
            <p:txBody>
              <a:bodyPr lIns="71384" tIns="71384" rIns="71384" bIns="71384" rtlCol="0" anchor="ctr"/>
              <a:lstStyle/>
              <a:p>
                <a:pPr algn="ctr">
                  <a:lnSpc>
                    <a:spcPts val="2519"/>
                  </a:lnSpc>
                </a:pPr>
                <a:endParaRPr/>
              </a:p>
            </p:txBody>
          </p:sp>
        </p:grpSp>
      </p:grpSp>
      <p:cxnSp>
        <p:nvCxnSpPr>
          <p:cNvPr id="32" name="Straight Arrow Connector 31" descr="Arrow">
            <a:extLst>
              <a:ext uri="{FF2B5EF4-FFF2-40B4-BE49-F238E27FC236}">
                <a16:creationId xmlns:a16="http://schemas.microsoft.com/office/drawing/2014/main" id="{04877F08-02E7-4D8C-8790-711B47905E13}"/>
              </a:ext>
            </a:extLst>
          </p:cNvPr>
          <p:cNvCxnSpPr/>
          <p:nvPr/>
        </p:nvCxnSpPr>
        <p:spPr>
          <a:xfrm flipH="1">
            <a:off x="4493253" y="4026969"/>
            <a:ext cx="2032907" cy="0"/>
          </a:xfrm>
          <a:prstGeom prst="straightConnector1">
            <a:avLst/>
          </a:prstGeom>
          <a:ln w="38100">
            <a:solidFill>
              <a:srgbClr val="64BB47"/>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3" name="Group 22" descr="Large hexagon with black dot in bottom right corner.">
            <a:extLst>
              <a:ext uri="{FF2B5EF4-FFF2-40B4-BE49-F238E27FC236}">
                <a16:creationId xmlns:a16="http://schemas.microsoft.com/office/drawing/2014/main" id="{6C3AB48C-11A0-92A3-B470-5975CABD5209}"/>
              </a:ext>
            </a:extLst>
          </p:cNvPr>
          <p:cNvGrpSpPr/>
          <p:nvPr/>
        </p:nvGrpSpPr>
        <p:grpSpPr>
          <a:xfrm>
            <a:off x="6861329" y="3062588"/>
            <a:ext cx="2281943" cy="1961044"/>
            <a:chOff x="6347454" y="3907945"/>
            <a:chExt cx="2281943" cy="1961044"/>
          </a:xfrm>
        </p:grpSpPr>
        <p:grpSp>
          <p:nvGrpSpPr>
            <p:cNvPr id="24" name="Group 10">
              <a:extLst>
                <a:ext uri="{FF2B5EF4-FFF2-40B4-BE49-F238E27FC236}">
                  <a16:creationId xmlns:a16="http://schemas.microsoft.com/office/drawing/2014/main" id="{CC12F5C8-E520-79BE-16AA-B51630FB75AF}"/>
                </a:ext>
              </a:extLst>
            </p:cNvPr>
            <p:cNvGrpSpPr/>
            <p:nvPr/>
          </p:nvGrpSpPr>
          <p:grpSpPr>
            <a:xfrm>
              <a:off x="6347454" y="3907945"/>
              <a:ext cx="2281943" cy="1961044"/>
              <a:chOff x="0" y="0"/>
              <a:chExt cx="812800" cy="698500"/>
            </a:xfrm>
          </p:grpSpPr>
          <p:sp>
            <p:nvSpPr>
              <p:cNvPr id="28" name="Freeform 11">
                <a:extLst>
                  <a:ext uri="{FF2B5EF4-FFF2-40B4-BE49-F238E27FC236}">
                    <a16:creationId xmlns:a16="http://schemas.microsoft.com/office/drawing/2014/main" id="{DAD70A89-DAA3-DF1B-47C9-8B8AF69799AC}"/>
                  </a:ext>
                </a:extLst>
              </p:cNvPr>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7ED957"/>
              </a:solidFill>
            </p:spPr>
            <p:txBody>
              <a:bodyPr/>
              <a:lstStyle/>
              <a:p>
                <a:endParaRPr lang="en-AU"/>
              </a:p>
            </p:txBody>
          </p:sp>
          <p:sp>
            <p:nvSpPr>
              <p:cNvPr id="29" name="TextBox 12">
                <a:extLst>
                  <a:ext uri="{FF2B5EF4-FFF2-40B4-BE49-F238E27FC236}">
                    <a16:creationId xmlns:a16="http://schemas.microsoft.com/office/drawing/2014/main" id="{B199D283-FC5A-F281-B72E-1DB4C3EDFC4C}"/>
                  </a:ext>
                </a:extLst>
              </p:cNvPr>
              <p:cNvSpPr txBox="1"/>
              <p:nvPr/>
            </p:nvSpPr>
            <p:spPr>
              <a:xfrm>
                <a:off x="114300" y="-85725"/>
                <a:ext cx="584200" cy="784225"/>
              </a:xfrm>
              <a:prstGeom prst="rect">
                <a:avLst/>
              </a:prstGeom>
            </p:spPr>
            <p:txBody>
              <a:bodyPr lIns="71384" tIns="71384" rIns="71384" bIns="71384" rtlCol="0" anchor="ctr"/>
              <a:lstStyle/>
              <a:p>
                <a:pPr algn="ctr">
                  <a:lnSpc>
                    <a:spcPts val="2519"/>
                  </a:lnSpc>
                </a:pPr>
                <a:endParaRPr/>
              </a:p>
            </p:txBody>
          </p:sp>
        </p:grpSp>
        <p:grpSp>
          <p:nvGrpSpPr>
            <p:cNvPr id="25" name="Group 6">
              <a:extLst>
                <a:ext uri="{FF2B5EF4-FFF2-40B4-BE49-F238E27FC236}">
                  <a16:creationId xmlns:a16="http://schemas.microsoft.com/office/drawing/2014/main" id="{3B06BDDC-6587-D82B-59E6-9D3A3BDEC562}"/>
                </a:ext>
              </a:extLst>
            </p:cNvPr>
            <p:cNvGrpSpPr/>
            <p:nvPr/>
          </p:nvGrpSpPr>
          <p:grpSpPr>
            <a:xfrm>
              <a:off x="7892416" y="5642102"/>
              <a:ext cx="130347" cy="130347"/>
              <a:chOff x="0" y="0"/>
              <a:chExt cx="812800" cy="812800"/>
            </a:xfrm>
          </p:grpSpPr>
          <p:sp>
            <p:nvSpPr>
              <p:cNvPr id="26" name="Freeform 7">
                <a:extLst>
                  <a:ext uri="{FF2B5EF4-FFF2-40B4-BE49-F238E27FC236}">
                    <a16:creationId xmlns:a16="http://schemas.microsoft.com/office/drawing/2014/main" id="{424BB3BE-6CF8-E1C6-388D-B22DF2F48D3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en-AU"/>
              </a:p>
            </p:txBody>
          </p:sp>
          <p:sp>
            <p:nvSpPr>
              <p:cNvPr id="27" name="TextBox 8">
                <a:extLst>
                  <a:ext uri="{FF2B5EF4-FFF2-40B4-BE49-F238E27FC236}">
                    <a16:creationId xmlns:a16="http://schemas.microsoft.com/office/drawing/2014/main" id="{938129C4-A084-1FDF-47BC-27930C88ED88}"/>
                  </a:ext>
                </a:extLst>
              </p:cNvPr>
              <p:cNvSpPr txBox="1"/>
              <p:nvPr/>
            </p:nvSpPr>
            <p:spPr>
              <a:xfrm>
                <a:off x="76200" y="-9525"/>
                <a:ext cx="660400" cy="746125"/>
              </a:xfrm>
              <a:prstGeom prst="rect">
                <a:avLst/>
              </a:prstGeom>
            </p:spPr>
            <p:txBody>
              <a:bodyPr lIns="71384" tIns="71384" rIns="71384" bIns="71384" rtlCol="0" anchor="ctr"/>
              <a:lstStyle/>
              <a:p>
                <a:pPr algn="ctr">
                  <a:lnSpc>
                    <a:spcPts val="2519"/>
                  </a:lnSpc>
                </a:pPr>
                <a:endParaRPr/>
              </a:p>
            </p:txBody>
          </p:sp>
        </p:grpSp>
      </p:grpSp>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pic>
        <p:nvPicPr>
          <p:cNvPr id="3" name="Picture 2">
            <a:extLst>
              <a:ext uri="{FF2B5EF4-FFF2-40B4-BE49-F238E27FC236}">
                <a16:creationId xmlns:a16="http://schemas.microsoft.com/office/drawing/2014/main" id="{5EA70859-D7F4-2B7A-27DC-68B58B2816C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AB70C459-C0E8-5AB6-B271-94D0C3ACAD36}"/>
              </a:ext>
            </a:extLst>
          </p:cNvPr>
          <p:cNvSpPr txBox="1"/>
          <p:nvPr/>
        </p:nvSpPr>
        <p:spPr>
          <a:xfrm>
            <a:off x="1739900" y="5698827"/>
            <a:ext cx="8813800" cy="769441"/>
          </a:xfrm>
          <a:prstGeom prst="rect">
            <a:avLst/>
          </a:prstGeom>
          <a:noFill/>
        </p:spPr>
        <p:txBody>
          <a:bodyPr wrap="square">
            <a:spAutoFit/>
          </a:bodyPr>
          <a:lstStyle/>
          <a:p>
            <a:pPr algn="ctr"/>
            <a:r>
              <a:rPr lang="en-AU" sz="4400" b="1"/>
              <a:t>Communicate </a:t>
            </a:r>
            <a:r>
              <a:rPr lang="en-AU" sz="4400"/>
              <a:t>your</a:t>
            </a:r>
            <a:r>
              <a:rPr lang="en-AU" sz="4400" b="1"/>
              <a:t> reasoning.</a:t>
            </a:r>
            <a:endParaRPr lang="en-US" sz="4400"/>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sp>
        <p:nvSpPr>
          <p:cNvPr id="7" name="TextBox 6">
            <a:extLst>
              <a:ext uri="{FF2B5EF4-FFF2-40B4-BE49-F238E27FC236}">
                <a16:creationId xmlns:a16="http://schemas.microsoft.com/office/drawing/2014/main" id="{1D3CCCCF-56A7-E778-7910-BCD53DBEF7FE}"/>
              </a:ext>
            </a:extLst>
          </p:cNvPr>
          <p:cNvSpPr txBox="1"/>
          <p:nvPr/>
        </p:nvSpPr>
        <p:spPr>
          <a:xfrm>
            <a:off x="1182841" y="1906792"/>
            <a:ext cx="9826315" cy="1082324"/>
          </a:xfrm>
          <a:prstGeom prst="rect">
            <a:avLst/>
          </a:prstGeom>
          <a:noFill/>
        </p:spPr>
        <p:txBody>
          <a:bodyPr wrap="square" lIns="0" tIns="0" rIns="0" bIns="0" rtlCol="0">
            <a:noAutofit/>
          </a:bodyPr>
          <a:lstStyle/>
          <a:p>
            <a:pPr algn="ctr">
              <a:lnSpc>
                <a:spcPct val="150000"/>
              </a:lnSpc>
            </a:pPr>
            <a:r>
              <a:rPr lang="en-AU" sz="4400"/>
              <a:t>Calculate</a:t>
            </a:r>
            <a:r>
              <a:rPr lang="en-AU" sz="4400" b="1"/>
              <a:t> 10% </a:t>
            </a:r>
            <a:r>
              <a:rPr lang="en-AU" sz="4400"/>
              <a:t>of </a:t>
            </a:r>
            <a:r>
              <a:rPr lang="en-AU" sz="4400" b="1"/>
              <a:t>520</a:t>
            </a:r>
            <a:r>
              <a:rPr lang="en-AU" sz="4400"/>
              <a:t>. </a:t>
            </a:r>
          </a:p>
        </p:txBody>
      </p:sp>
      <p:sp>
        <p:nvSpPr>
          <p:cNvPr id="8" name="TextBox 7">
            <a:extLst>
              <a:ext uri="{FF2B5EF4-FFF2-40B4-BE49-F238E27FC236}">
                <a16:creationId xmlns:a16="http://schemas.microsoft.com/office/drawing/2014/main" id="{1AAC54DD-8D20-0643-4A5A-289F8CC13480}"/>
              </a:ext>
            </a:extLst>
          </p:cNvPr>
          <p:cNvSpPr txBox="1"/>
          <p:nvPr/>
        </p:nvSpPr>
        <p:spPr>
          <a:xfrm>
            <a:off x="1616868" y="3868884"/>
            <a:ext cx="8958263" cy="769441"/>
          </a:xfrm>
          <a:prstGeom prst="rect">
            <a:avLst/>
          </a:prstGeom>
          <a:noFill/>
        </p:spPr>
        <p:txBody>
          <a:bodyPr wrap="square">
            <a:spAutoFit/>
          </a:bodyPr>
          <a:lstStyle/>
          <a:p>
            <a:pPr algn="ctr"/>
            <a:r>
              <a:rPr lang="en-AU" sz="4400" b="1"/>
              <a:t>Communicate</a:t>
            </a:r>
            <a:r>
              <a:rPr lang="en-AU" sz="4400"/>
              <a:t> your </a:t>
            </a:r>
            <a:r>
              <a:rPr lang="en-AU" sz="4400" b="1"/>
              <a:t>thinking</a:t>
            </a:r>
            <a:r>
              <a:rPr lang="en-AU" sz="4400"/>
              <a:t>.</a:t>
            </a:r>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pic>
        <p:nvPicPr>
          <p:cNvPr id="3" name="Picture 2">
            <a:extLst>
              <a:ext uri="{FF2B5EF4-FFF2-40B4-BE49-F238E27FC236}">
                <a16:creationId xmlns:a16="http://schemas.microsoft.com/office/drawing/2014/main" id="{95A63C50-93CA-645D-9F2D-21E08F0D17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sp>
        <p:nvSpPr>
          <p:cNvPr id="8" name="Picture Placeholder 10">
            <a:extLst>
              <a:ext uri="{FF2B5EF4-FFF2-40B4-BE49-F238E27FC236}">
                <a16:creationId xmlns:a16="http://schemas.microsoft.com/office/drawing/2014/main" id="{7264D107-3E9F-96FD-3C8A-62E0EEAA0F36}"/>
              </a:ext>
            </a:extLst>
          </p:cNvPr>
          <p:cNvSpPr txBox="1">
            <a:spLocks/>
          </p:cNvSpPr>
          <p:nvPr/>
        </p:nvSpPr>
        <p:spPr>
          <a:xfrm>
            <a:off x="805557" y="905601"/>
            <a:ext cx="4429466" cy="3044137"/>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a:latin typeface="Arial"/>
                <a:cs typeface="Arial"/>
              </a:rPr>
              <a:t>Record the size of the </a:t>
            </a:r>
            <a:r>
              <a:rPr lang="en-US" sz="4400" b="1">
                <a:solidFill>
                  <a:srgbClr val="F9A147"/>
                </a:solidFill>
                <a:latin typeface="Arial"/>
                <a:cs typeface="Arial"/>
              </a:rPr>
              <a:t>orange</a:t>
            </a:r>
            <a:r>
              <a:rPr lang="en-US" sz="4400" b="1">
                <a:latin typeface="Arial"/>
                <a:cs typeface="Arial"/>
              </a:rPr>
              <a:t> angle.</a:t>
            </a:r>
            <a:endParaRPr lang="en-US" sz="4400"/>
          </a:p>
        </p:txBody>
      </p:sp>
      <p:sp>
        <p:nvSpPr>
          <p:cNvPr id="9" name="Picture Placeholder 10">
            <a:extLst>
              <a:ext uri="{FF2B5EF4-FFF2-40B4-BE49-F238E27FC236}">
                <a16:creationId xmlns:a16="http://schemas.microsoft.com/office/drawing/2014/main" id="{B14586FC-22DA-DD59-66D8-FF31520AB31C}"/>
              </a:ext>
            </a:extLst>
          </p:cNvPr>
          <p:cNvSpPr txBox="1">
            <a:spLocks/>
          </p:cNvSpPr>
          <p:nvPr/>
        </p:nvSpPr>
        <p:spPr>
          <a:xfrm>
            <a:off x="170841" y="4327520"/>
            <a:ext cx="5698899" cy="2170480"/>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a:latin typeface="Arial"/>
                <a:cs typeface="Arial"/>
              </a:rPr>
              <a:t>Communicate </a:t>
            </a:r>
            <a:r>
              <a:rPr lang="en-US" sz="4400">
                <a:latin typeface="Arial"/>
                <a:cs typeface="Arial"/>
              </a:rPr>
              <a:t>your</a:t>
            </a:r>
            <a:r>
              <a:rPr lang="en-US" sz="4400" b="1">
                <a:latin typeface="Arial"/>
                <a:cs typeface="Arial"/>
              </a:rPr>
              <a:t> reasoning.</a:t>
            </a:r>
            <a:endParaRPr lang="en-US" sz="4400"/>
          </a:p>
        </p:txBody>
      </p:sp>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pic>
        <p:nvPicPr>
          <p:cNvPr id="3" name="Picture 2">
            <a:extLst>
              <a:ext uri="{FF2B5EF4-FFF2-40B4-BE49-F238E27FC236}">
                <a16:creationId xmlns:a16="http://schemas.microsoft.com/office/drawing/2014/main" id="{CDC9578D-E509-83DC-F7E6-82182EFDC99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5" name="Picture 4" descr="Two thick black lines form a right angle, like the corner of axes. From the corner, a red line extends diagonally upward to the right. A blue curved arrow shows the angle between the horizontal line and the red line, labelled 70°. An orange curved arrow shows the angle between the red line and the vertical line on the left.">
            <a:extLst>
              <a:ext uri="{FF2B5EF4-FFF2-40B4-BE49-F238E27FC236}">
                <a16:creationId xmlns:a16="http://schemas.microsoft.com/office/drawing/2014/main" id="{678C0CDA-AF63-C490-7A1A-2CF5622168BE}"/>
              </a:ext>
            </a:extLst>
          </p:cNvPr>
          <p:cNvPicPr>
            <a:picLocks noChangeAspect="1"/>
          </p:cNvPicPr>
          <p:nvPr/>
        </p:nvPicPr>
        <p:blipFill>
          <a:blip r:embed="rId4"/>
          <a:stretch>
            <a:fillRect/>
          </a:stretch>
        </p:blipFill>
        <p:spPr>
          <a:xfrm>
            <a:off x="6130203" y="1606419"/>
            <a:ext cx="5409963" cy="4487383"/>
          </a:xfrm>
          <a:prstGeom prst="rect">
            <a:avLst/>
          </a:prstGeom>
          <a:solidFill>
            <a:schemeClr val="bg1"/>
          </a:solidFill>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sp>
        <p:nvSpPr>
          <p:cNvPr id="5" name="Picture Placeholder 10">
            <a:extLst>
              <a:ext uri="{FF2B5EF4-FFF2-40B4-BE49-F238E27FC236}">
                <a16:creationId xmlns:a16="http://schemas.microsoft.com/office/drawing/2014/main" id="{4A314A09-89D4-8109-993A-D811021FBF7F}"/>
              </a:ext>
            </a:extLst>
          </p:cNvPr>
          <p:cNvSpPr txBox="1">
            <a:spLocks/>
          </p:cNvSpPr>
          <p:nvPr/>
        </p:nvSpPr>
        <p:spPr>
          <a:xfrm>
            <a:off x="659258" y="934466"/>
            <a:ext cx="11017828" cy="1036343"/>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latin typeface="Arial"/>
                <a:cs typeface="Arial"/>
              </a:rPr>
              <a:t>Convert between </a:t>
            </a:r>
            <a:r>
              <a:rPr lang="en-AU" sz="4400" b="1">
                <a:latin typeface="Arial"/>
                <a:cs typeface="Arial"/>
              </a:rPr>
              <a:t>metres</a:t>
            </a:r>
            <a:r>
              <a:rPr lang="en-AU" sz="4400">
                <a:latin typeface="Arial"/>
                <a:cs typeface="Arial"/>
              </a:rPr>
              <a:t> and </a:t>
            </a:r>
            <a:r>
              <a:rPr lang="en-AU" sz="4400" b="1">
                <a:latin typeface="Arial"/>
                <a:cs typeface="Arial"/>
              </a:rPr>
              <a:t>kilometres</a:t>
            </a:r>
            <a:r>
              <a:rPr lang="en-AU" sz="4400">
                <a:latin typeface="Arial"/>
                <a:cs typeface="Arial"/>
              </a:rPr>
              <a:t>: </a:t>
            </a:r>
            <a:endParaRPr lang="en-US" sz="4400">
              <a:latin typeface="Arial"/>
              <a:cs typeface="Arial"/>
            </a:endParaRPr>
          </a:p>
        </p:txBody>
      </p:sp>
      <p:sp>
        <p:nvSpPr>
          <p:cNvPr id="7" name="Picture Placeholder 10">
            <a:extLst>
              <a:ext uri="{FF2B5EF4-FFF2-40B4-BE49-F238E27FC236}">
                <a16:creationId xmlns:a16="http://schemas.microsoft.com/office/drawing/2014/main" id="{04F2291E-0A46-432A-CAEB-DF3441AF5997}"/>
              </a:ext>
            </a:extLst>
          </p:cNvPr>
          <p:cNvSpPr txBox="1">
            <a:spLocks/>
          </p:cNvSpPr>
          <p:nvPr/>
        </p:nvSpPr>
        <p:spPr>
          <a:xfrm>
            <a:off x="1242364" y="2159970"/>
            <a:ext cx="10135463" cy="385302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indent="-914400" algn="ctr">
              <a:buFont typeface="+mj-lt"/>
              <a:buAutoNum type="alphaLcParenR"/>
            </a:pPr>
            <a:r>
              <a:rPr lang="en-US" sz="4400">
                <a:latin typeface="Arial"/>
                <a:cs typeface="Arial"/>
              </a:rPr>
              <a:t>8560 m</a:t>
            </a:r>
          </a:p>
          <a:p>
            <a:pPr marL="914400" indent="-914400" algn="ctr">
              <a:buFont typeface="+mj-lt"/>
              <a:buAutoNum type="alphaLcParenR"/>
            </a:pPr>
            <a:r>
              <a:rPr lang="en-US" sz="4400">
                <a:latin typeface="Arial"/>
                <a:cs typeface="Arial"/>
              </a:rPr>
              <a:t>2.75 km</a:t>
            </a:r>
          </a:p>
          <a:p>
            <a:pPr marL="914400" indent="-914400" algn="ctr">
              <a:buFont typeface="+mj-lt"/>
              <a:buAutoNum type="alphaLcParenR"/>
            </a:pPr>
            <a:r>
              <a:rPr lang="en-US" sz="4400">
                <a:latin typeface="Arial"/>
                <a:cs typeface="Arial"/>
              </a:rPr>
              <a:t>525 m</a:t>
            </a:r>
            <a:endParaRPr lang="en-US" sz="4400"/>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pic>
        <p:nvPicPr>
          <p:cNvPr id="3" name="Picture 2">
            <a:extLst>
              <a:ext uri="{FF2B5EF4-FFF2-40B4-BE49-F238E27FC236}">
                <a16:creationId xmlns:a16="http://schemas.microsoft.com/office/drawing/2014/main" id="{4F225E6B-742A-E393-5D68-B394EB858BA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determine a rule describing the relationship between the bottom number and the top number in a table</a:t>
            </a:r>
          </a:p>
        </p:txBody>
      </p:sp>
      <p:graphicFrame>
        <p:nvGraphicFramePr>
          <p:cNvPr id="3" name="Table 2">
            <a:extLst>
              <a:ext uri="{FF2B5EF4-FFF2-40B4-BE49-F238E27FC236}">
                <a16:creationId xmlns:a16="http://schemas.microsoft.com/office/drawing/2014/main" id="{28C86382-9759-48C0-30F9-753256150BE2}"/>
              </a:ext>
            </a:extLst>
          </p:cNvPr>
          <p:cNvGraphicFramePr>
            <a:graphicFrameLocks noGrp="1"/>
          </p:cNvGraphicFramePr>
          <p:nvPr>
            <p:extLst>
              <p:ext uri="{D42A27DB-BD31-4B8C-83A1-F6EECF244321}">
                <p14:modId xmlns:p14="http://schemas.microsoft.com/office/powerpoint/2010/main" val="1838890333"/>
              </p:ext>
            </p:extLst>
          </p:nvPr>
        </p:nvGraphicFramePr>
        <p:xfrm>
          <a:off x="448695" y="3049089"/>
          <a:ext cx="11294610" cy="2221944"/>
        </p:xfrm>
        <a:graphic>
          <a:graphicData uri="http://schemas.openxmlformats.org/drawingml/2006/table">
            <a:tbl>
              <a:tblPr firstRow="1" bandRow="1">
                <a:tableStyleId>{5A111915-BE36-4E01-A7E5-04B1672EAD32}</a:tableStyleId>
              </a:tblPr>
              <a:tblGrid>
                <a:gridCol w="5112000">
                  <a:extLst>
                    <a:ext uri="{9D8B030D-6E8A-4147-A177-3AD203B41FA5}">
                      <a16:colId xmlns:a16="http://schemas.microsoft.com/office/drawing/2014/main" val="1037980559"/>
                    </a:ext>
                  </a:extLst>
                </a:gridCol>
                <a:gridCol w="1236522">
                  <a:extLst>
                    <a:ext uri="{9D8B030D-6E8A-4147-A177-3AD203B41FA5}">
                      <a16:colId xmlns:a16="http://schemas.microsoft.com/office/drawing/2014/main" val="1414479321"/>
                    </a:ext>
                  </a:extLst>
                </a:gridCol>
                <a:gridCol w="1236522">
                  <a:extLst>
                    <a:ext uri="{9D8B030D-6E8A-4147-A177-3AD203B41FA5}">
                      <a16:colId xmlns:a16="http://schemas.microsoft.com/office/drawing/2014/main" val="1936309375"/>
                    </a:ext>
                  </a:extLst>
                </a:gridCol>
                <a:gridCol w="1236522">
                  <a:extLst>
                    <a:ext uri="{9D8B030D-6E8A-4147-A177-3AD203B41FA5}">
                      <a16:colId xmlns:a16="http://schemas.microsoft.com/office/drawing/2014/main" val="1072593135"/>
                    </a:ext>
                  </a:extLst>
                </a:gridCol>
                <a:gridCol w="1236522">
                  <a:extLst>
                    <a:ext uri="{9D8B030D-6E8A-4147-A177-3AD203B41FA5}">
                      <a16:colId xmlns:a16="http://schemas.microsoft.com/office/drawing/2014/main" val="2617543454"/>
                    </a:ext>
                  </a:extLst>
                </a:gridCol>
                <a:gridCol w="1236522">
                  <a:extLst>
                    <a:ext uri="{9D8B030D-6E8A-4147-A177-3AD203B41FA5}">
                      <a16:colId xmlns:a16="http://schemas.microsoft.com/office/drawing/2014/main" val="1179776664"/>
                    </a:ext>
                  </a:extLst>
                </a:gridCol>
              </a:tblGrid>
              <a:tr h="1110972">
                <a:tc>
                  <a:txBody>
                    <a:bodyPr/>
                    <a:lstStyle/>
                    <a:p>
                      <a:pPr algn="ctr"/>
                      <a:r>
                        <a:rPr lang="en-AU" sz="2400" b="1">
                          <a:solidFill>
                            <a:schemeClr val="bg1"/>
                          </a:solidFill>
                          <a:latin typeface="Arial" panose="020B0604020202020204" pitchFamily="34" charset="0"/>
                          <a:cs typeface="Arial" panose="020B0604020202020204" pitchFamily="34" charset="0"/>
                        </a:rPr>
                        <a:t>Length across river (metres)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AU" sz="2400" b="0">
                          <a:solidFill>
                            <a:schemeClr val="tx1"/>
                          </a:solidFill>
                          <a:latin typeface="Arial" panose="020B0604020202020204" pitchFamily="34" charset="0"/>
                          <a:cs typeface="Arial" panose="020B0604020202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2400" b="0">
                          <a:solidFill>
                            <a:schemeClr val="tx1"/>
                          </a:solidFill>
                          <a:latin typeface="Arial" panose="020B0604020202020204" pitchFamily="34" charset="0"/>
                          <a:cs typeface="Arial" panose="020B060402020202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2400" b="0">
                          <a:solidFill>
                            <a:schemeClr val="tx1"/>
                          </a:solidFill>
                          <a:latin typeface="Arial" panose="020B0604020202020204" pitchFamily="34" charset="0"/>
                          <a:cs typeface="Arial" panose="020B060402020202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2400" b="0">
                          <a:solidFill>
                            <a:schemeClr val="tx1"/>
                          </a:solidFill>
                          <a:latin typeface="Arial" panose="020B0604020202020204" pitchFamily="34" charset="0"/>
                          <a:cs typeface="Arial" panose="020B060402020202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2400" b="0">
                          <a:solidFill>
                            <a:schemeClr val="tx1"/>
                          </a:solidFill>
                          <a:latin typeface="Arial" panose="020B0604020202020204" pitchFamily="34" charset="0"/>
                          <a:cs typeface="Arial" panose="020B0604020202020204" pitchFamily="34"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46536183"/>
                  </a:ext>
                </a:extLst>
              </a:tr>
              <a:tr h="1110972">
                <a:tc>
                  <a:txBody>
                    <a:bodyPr/>
                    <a:lstStyle/>
                    <a:p>
                      <a:pPr algn="ctr"/>
                      <a:r>
                        <a:rPr lang="en-AU" sz="2400" b="1">
                          <a:solidFill>
                            <a:schemeClr val="bg1"/>
                          </a:solidFill>
                          <a:latin typeface="Arial" panose="020B0604020202020204" pitchFamily="34" charset="0"/>
                          <a:cs typeface="Arial" panose="020B0604020202020204" pitchFamily="34" charset="0"/>
                        </a:rPr>
                        <a:t>Length of wood need for crossing (metres)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AU" sz="2400" b="0">
                          <a:latin typeface="Arial" panose="020B0604020202020204" pitchFamily="34" charset="0"/>
                          <a:cs typeface="Arial" panose="020B060402020202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b="0">
                          <a:latin typeface="Arial" panose="020B0604020202020204" pitchFamily="34" charset="0"/>
                          <a:cs typeface="Arial" panose="020B0604020202020204" pitchFamily="34"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b="0">
                          <a:latin typeface="Arial" panose="020B0604020202020204" pitchFamily="34" charset="0"/>
                          <a:cs typeface="Arial" panose="020B0604020202020204" pitchFamily="34"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b="0">
                          <a:latin typeface="Arial" panose="020B0604020202020204" pitchFamily="34" charset="0"/>
                          <a:cs typeface="Arial" panose="020B0604020202020204" pitchFamily="34"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2400" b="0">
                          <a:latin typeface="Arial" panose="020B0604020202020204" pitchFamily="34" charset="0"/>
                          <a:cs typeface="Arial" panose="020B0604020202020204" pitchFamily="34"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9409323"/>
                  </a:ext>
                </a:extLst>
              </a:tr>
            </a:tbl>
          </a:graphicData>
        </a:graphic>
      </p:graphicFrame>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pic>
        <p:nvPicPr>
          <p:cNvPr id="4" name="Picture 3">
            <a:extLst>
              <a:ext uri="{FF2B5EF4-FFF2-40B4-BE49-F238E27FC236}">
                <a16:creationId xmlns:a16="http://schemas.microsoft.com/office/drawing/2014/main" id="{296D4226-C1D0-BEBB-1948-F7CDF78884C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sp>
        <p:nvSpPr>
          <p:cNvPr id="13" name="Text Placeholder 12">
            <a:extLst>
              <a:ext uri="{FF2B5EF4-FFF2-40B4-BE49-F238E27FC236}">
                <a16:creationId xmlns:a16="http://schemas.microsoft.com/office/drawing/2014/main" id="{DCB5B7D1-F663-BC48-CB2E-4AB078179B4E}"/>
              </a:ext>
            </a:extLst>
          </p:cNvPr>
          <p:cNvSpPr>
            <a:spLocks noGrp="1"/>
          </p:cNvSpPr>
          <p:nvPr>
            <p:ph type="body" sz="quarter" idx="22"/>
          </p:nvPr>
        </p:nvSpPr>
        <p:spPr>
          <a:xfrm>
            <a:off x="474480" y="1284648"/>
            <a:ext cx="11243037" cy="1959806"/>
          </a:xfrm>
        </p:spPr>
        <p:txBody>
          <a:bodyPr/>
          <a:lstStyle/>
          <a:p>
            <a:pPr algn="ctr"/>
            <a:r>
              <a:rPr lang="en-AU" sz="3600"/>
              <a:t>This </a:t>
            </a:r>
            <a:r>
              <a:rPr lang="en-AU" sz="3600" b="1"/>
              <a:t>rule describes </a:t>
            </a:r>
            <a:r>
              <a:rPr lang="en-AU" sz="3600"/>
              <a:t>what is happening in the </a:t>
            </a:r>
            <a:r>
              <a:rPr lang="en-AU" sz="3600" b="1"/>
              <a:t>pattern:</a:t>
            </a:r>
            <a:r>
              <a:rPr lang="en-AU" sz="3600"/>
              <a:t> There are </a:t>
            </a:r>
            <a:r>
              <a:rPr lang="en-AU" sz="3600" b="1"/>
              <a:t>5 times </a:t>
            </a:r>
            <a:r>
              <a:rPr lang="en-AU" sz="3600"/>
              <a:t>as many </a:t>
            </a:r>
            <a:r>
              <a:rPr lang="en-AU" sz="3600" b="1"/>
              <a:t>sides</a:t>
            </a:r>
            <a:r>
              <a:rPr lang="en-AU" sz="3600"/>
              <a:t> as there are </a:t>
            </a:r>
            <a:r>
              <a:rPr lang="en-AU" sz="3600" b="1"/>
              <a:t>shapes</a:t>
            </a:r>
            <a:r>
              <a:rPr lang="en-AU" sz="3600"/>
              <a:t>.</a:t>
            </a:r>
          </a:p>
        </p:txBody>
      </p:sp>
      <p:grpSp>
        <p:nvGrpSpPr>
          <p:cNvPr id="17" name="Group 16" descr="1 pentagon, 2 pentagons, 3 pentagons.">
            <a:extLst>
              <a:ext uri="{FF2B5EF4-FFF2-40B4-BE49-F238E27FC236}">
                <a16:creationId xmlns:a16="http://schemas.microsoft.com/office/drawing/2014/main" id="{8D5BC1AD-3562-A8C9-C4B7-D78895AC3647}"/>
              </a:ext>
            </a:extLst>
          </p:cNvPr>
          <p:cNvGrpSpPr/>
          <p:nvPr/>
        </p:nvGrpSpPr>
        <p:grpSpPr>
          <a:xfrm>
            <a:off x="1506680" y="3429000"/>
            <a:ext cx="9178635" cy="1959806"/>
            <a:chOff x="2152650" y="3819525"/>
            <a:chExt cx="7658100" cy="1562922"/>
          </a:xfrm>
        </p:grpSpPr>
        <p:sp>
          <p:nvSpPr>
            <p:cNvPr id="16" name="Rectangle 15">
              <a:extLst>
                <a:ext uri="{FF2B5EF4-FFF2-40B4-BE49-F238E27FC236}">
                  <a16:creationId xmlns:a16="http://schemas.microsoft.com/office/drawing/2014/main" id="{32983C6F-E772-E2B7-DEEA-3362DCC80658}"/>
                </a:ext>
              </a:extLst>
            </p:cNvPr>
            <p:cNvSpPr/>
            <p:nvPr/>
          </p:nvSpPr>
          <p:spPr>
            <a:xfrm>
              <a:off x="2152650" y="3819525"/>
              <a:ext cx="7658100" cy="1562922"/>
            </a:xfrm>
            <a:prstGeom prst="rect">
              <a:avLst/>
            </a:prstGeom>
            <a:solidFill>
              <a:schemeClr val="bg1"/>
            </a:solidFill>
            <a:ln>
              <a:noFill/>
            </a:ln>
            <a:effectLst>
              <a:outerShdw blurRad="292100" dist="139700" dir="2700000" algn="tl" rotWithShape="0">
                <a:srgbClr val="333333">
                  <a:alpha val="6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5" name="Picture 14">
              <a:extLst>
                <a:ext uri="{FF2B5EF4-FFF2-40B4-BE49-F238E27FC236}">
                  <a16:creationId xmlns:a16="http://schemas.microsoft.com/office/drawing/2014/main" id="{2D9705B5-8E44-EE80-6520-75B07BE48323}"/>
                </a:ext>
              </a:extLst>
            </p:cNvPr>
            <p:cNvPicPr>
              <a:picLocks noChangeAspect="1"/>
            </p:cNvPicPr>
            <p:nvPr/>
          </p:nvPicPr>
          <p:blipFill>
            <a:blip r:embed="rId3"/>
            <a:srcRect l="6012" t="22308" r="3708" b="14365"/>
            <a:stretch>
              <a:fillRect/>
            </a:stretch>
          </p:blipFill>
          <p:spPr>
            <a:xfrm>
              <a:off x="2442980" y="4053298"/>
              <a:ext cx="7077076" cy="1095376"/>
            </a:xfrm>
            <a:prstGeom prst="rect">
              <a:avLst/>
            </a:prstGeom>
          </p:spPr>
        </p:pic>
      </p:gr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2402890998"/>
              </p:ext>
            </p:extLst>
          </p:nvPr>
        </p:nvGraphicFramePr>
        <p:xfrm>
          <a:off x="2614792" y="5883295"/>
          <a:ext cx="6962414" cy="741680"/>
        </p:xfrm>
        <a:graphic>
          <a:graphicData uri="http://schemas.openxmlformats.org/drawingml/2006/table">
            <a:tbl>
              <a:tblPr firstRow="1" bandRow="1">
                <a:tableStyleId>{5A111915-BE36-4E01-A7E5-04B1672EAD32}</a:tableStyleId>
              </a:tblPr>
              <a:tblGrid>
                <a:gridCol w="3481207">
                  <a:extLst>
                    <a:ext uri="{9D8B030D-6E8A-4147-A177-3AD203B41FA5}">
                      <a16:colId xmlns:a16="http://schemas.microsoft.com/office/drawing/2014/main" val="481183477"/>
                    </a:ext>
                  </a:extLst>
                </a:gridCol>
                <a:gridCol w="3481207">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pic>
        <p:nvPicPr>
          <p:cNvPr id="3" name="Picture 2">
            <a:extLst>
              <a:ext uri="{FF2B5EF4-FFF2-40B4-BE49-F238E27FC236}">
                <a16:creationId xmlns:a16="http://schemas.microsoft.com/office/drawing/2014/main" id="{B6B8916C-EC27-6464-77C1-A2C737717E1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 Placeholder 5">
            <a:extLst>
              <a:ext uri="{FF2B5EF4-FFF2-40B4-BE49-F238E27FC236}">
                <a16:creationId xmlns:a16="http://schemas.microsoft.com/office/drawing/2014/main" id="{B77A554C-34F9-6E02-EC4F-6AF6B2637F68}"/>
              </a:ext>
            </a:extLst>
          </p:cNvPr>
          <p:cNvSpPr txBox="1">
            <a:spLocks/>
          </p:cNvSpPr>
          <p:nvPr/>
        </p:nvSpPr>
        <p:spPr>
          <a:xfrm>
            <a:off x="1165338" y="947124"/>
            <a:ext cx="9861323" cy="101230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dirty="0"/>
              <a:t>Label</a:t>
            </a:r>
            <a:r>
              <a:rPr lang="en-AU" sz="4400" dirty="0"/>
              <a:t> what is happening at each step.</a:t>
            </a:r>
          </a:p>
        </p:txBody>
      </p:sp>
      <p:sp>
        <p:nvSpPr>
          <p:cNvPr id="16" name="Text Placeholder 5">
            <a:extLst>
              <a:ext uri="{FF2B5EF4-FFF2-40B4-BE49-F238E27FC236}">
                <a16:creationId xmlns:a16="http://schemas.microsoft.com/office/drawing/2014/main" id="{AEC86802-CA85-E96D-D442-79E2CBCA9D9C}"/>
              </a:ext>
            </a:extLst>
          </p:cNvPr>
          <p:cNvSpPr txBox="1">
            <a:spLocks/>
          </p:cNvSpPr>
          <p:nvPr/>
        </p:nvSpPr>
        <p:spPr>
          <a:xfrm>
            <a:off x="-214513" y="2416694"/>
            <a:ext cx="3077405" cy="101230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reflect</a:t>
            </a:r>
          </a:p>
        </p:txBody>
      </p:sp>
      <p:sp>
        <p:nvSpPr>
          <p:cNvPr id="14" name="Text Placeholder 5">
            <a:extLst>
              <a:ext uri="{FF2B5EF4-FFF2-40B4-BE49-F238E27FC236}">
                <a16:creationId xmlns:a16="http://schemas.microsoft.com/office/drawing/2014/main" id="{B3D26D4A-844F-2075-0AEE-6941794A46FF}"/>
              </a:ext>
            </a:extLst>
          </p:cNvPr>
          <p:cNvSpPr txBox="1">
            <a:spLocks/>
          </p:cNvSpPr>
          <p:nvPr/>
        </p:nvSpPr>
        <p:spPr>
          <a:xfrm>
            <a:off x="-47743" y="3782721"/>
            <a:ext cx="3077405" cy="101230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translate</a:t>
            </a:r>
          </a:p>
        </p:txBody>
      </p:sp>
      <p:sp>
        <p:nvSpPr>
          <p:cNvPr id="15" name="Text Placeholder 5">
            <a:extLst>
              <a:ext uri="{FF2B5EF4-FFF2-40B4-BE49-F238E27FC236}">
                <a16:creationId xmlns:a16="http://schemas.microsoft.com/office/drawing/2014/main" id="{653D266B-FD66-EF5D-E7E1-C1A9930F2A37}"/>
              </a:ext>
            </a:extLst>
          </p:cNvPr>
          <p:cNvSpPr txBox="1">
            <a:spLocks/>
          </p:cNvSpPr>
          <p:nvPr/>
        </p:nvSpPr>
        <p:spPr>
          <a:xfrm>
            <a:off x="-137316" y="5148749"/>
            <a:ext cx="3077405" cy="101230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rotate</a:t>
            </a:r>
          </a:p>
        </p:txBody>
      </p:sp>
      <p:pic>
        <p:nvPicPr>
          <p:cNvPr id="9" name="Picture 8" descr="A four-panel sequence labelled “Original shape,” “Step 1,” “Step 2,” and “Step 3.” Each panel shows the same slanted four-sided shape in red with a small black dot marked on it. In the first two panels, the dot is near the lower right corner. In Step 2, the dot has moved to the upper left area of the shape. In Step 3, the shape has been flipped horizontally, and the dot is now near the upper right corner.">
            <a:extLst>
              <a:ext uri="{FF2B5EF4-FFF2-40B4-BE49-F238E27FC236}">
                <a16:creationId xmlns:a16="http://schemas.microsoft.com/office/drawing/2014/main" id="{F5CFC83D-F6CB-7303-1983-EC8A74CD64E7}"/>
              </a:ext>
            </a:extLst>
          </p:cNvPr>
          <p:cNvPicPr>
            <a:picLocks noChangeAspect="1"/>
          </p:cNvPicPr>
          <p:nvPr/>
        </p:nvPicPr>
        <p:blipFill>
          <a:blip r:embed="rId4"/>
          <a:srcRect t="-1" r="750" b="2227"/>
          <a:stretch>
            <a:fillRect/>
          </a:stretch>
        </p:blipFill>
        <p:spPr>
          <a:xfrm>
            <a:off x="2940089" y="2637831"/>
            <a:ext cx="8643258" cy="2822364"/>
          </a:xfrm>
          <a:prstGeom prst="rect">
            <a:avLst/>
          </a:prstGeom>
          <a:solidFill>
            <a:schemeClr val="bg1"/>
          </a:solidFill>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pic>
        <p:nvPicPr>
          <p:cNvPr id="3" name="Picture 2" descr="A growing pattern of triangles increading by one triangle each time, up to 5 triangles.">
            <a:extLst>
              <a:ext uri="{FF2B5EF4-FFF2-40B4-BE49-F238E27FC236}">
                <a16:creationId xmlns:a16="http://schemas.microsoft.com/office/drawing/2014/main" id="{5F20B6C4-74D6-9AE8-543F-873936583C3F}"/>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31" name="TextBox 30">
            <a:extLst>
              <a:ext uri="{FF2B5EF4-FFF2-40B4-BE49-F238E27FC236}">
                <a16:creationId xmlns:a16="http://schemas.microsoft.com/office/drawing/2014/main" id="{86572DDE-9FFC-282D-22C7-B2DA9E20344C}"/>
              </a:ext>
            </a:extLst>
          </p:cNvPr>
          <p:cNvSpPr txBox="1"/>
          <p:nvPr/>
        </p:nvSpPr>
        <p:spPr>
          <a:xfrm>
            <a:off x="833300" y="993059"/>
            <a:ext cx="10525400" cy="1998176"/>
          </a:xfrm>
          <a:prstGeom prst="rect">
            <a:avLst/>
          </a:prstGeom>
          <a:noFill/>
        </p:spPr>
        <p:txBody>
          <a:bodyPr wrap="square">
            <a:spAutoFit/>
          </a:bodyPr>
          <a:lstStyle/>
          <a:p>
            <a:pPr algn="ctr">
              <a:lnSpc>
                <a:spcPct val="150000"/>
              </a:lnSpc>
              <a:spcAft>
                <a:spcPts val="600"/>
              </a:spcAft>
            </a:pPr>
            <a:r>
              <a:rPr lang="en-AU" sz="4400"/>
              <a:t>Use this </a:t>
            </a:r>
            <a:r>
              <a:rPr lang="en-AU" sz="4400" b="1"/>
              <a:t>geometric pattern </a:t>
            </a:r>
            <a:r>
              <a:rPr lang="en-AU" sz="4400"/>
              <a:t>to complete the </a:t>
            </a:r>
            <a:r>
              <a:rPr lang="en-AU" sz="4400" b="1"/>
              <a:t>table of values</a:t>
            </a:r>
            <a:r>
              <a:rPr lang="en-AU" sz="4400"/>
              <a:t>.</a:t>
            </a:r>
          </a:p>
        </p:txBody>
      </p:sp>
      <p:grpSp>
        <p:nvGrpSpPr>
          <p:cNvPr id="8" name="Group 7" descr="One triangle, two triangles, three triangles, four triangles.">
            <a:extLst>
              <a:ext uri="{FF2B5EF4-FFF2-40B4-BE49-F238E27FC236}">
                <a16:creationId xmlns:a16="http://schemas.microsoft.com/office/drawing/2014/main" id="{F13F14D2-4A47-E069-764C-CEE84906260C}"/>
              </a:ext>
            </a:extLst>
          </p:cNvPr>
          <p:cNvGrpSpPr/>
          <p:nvPr/>
        </p:nvGrpSpPr>
        <p:grpSpPr>
          <a:xfrm>
            <a:off x="950650" y="3063541"/>
            <a:ext cx="10290700" cy="926996"/>
            <a:chOff x="833300" y="2502004"/>
            <a:chExt cx="10290700" cy="926996"/>
          </a:xfrm>
        </p:grpSpPr>
        <p:sp>
          <p:nvSpPr>
            <p:cNvPr id="9" name="Rectangle: Rounded Corners 8">
              <a:extLst>
                <a:ext uri="{FF2B5EF4-FFF2-40B4-BE49-F238E27FC236}">
                  <a16:creationId xmlns:a16="http://schemas.microsoft.com/office/drawing/2014/main" id="{C96C7F2B-5D54-289C-825E-3866002A1E07}"/>
                </a:ext>
              </a:extLst>
            </p:cNvPr>
            <p:cNvSpPr/>
            <p:nvPr/>
          </p:nvSpPr>
          <p:spPr>
            <a:xfrm>
              <a:off x="833300" y="2502004"/>
              <a:ext cx="10290700" cy="926996"/>
            </a:xfrm>
            <a:prstGeom prst="roundRect">
              <a:avLst>
                <a:gd name="adj" fmla="val 0"/>
              </a:avLst>
            </a:prstGeom>
            <a:solidFill>
              <a:schemeClr val="bg1"/>
            </a:solidFill>
            <a:ln>
              <a:noFill/>
            </a:ln>
            <a:effectLst>
              <a:outerShdw blurRad="292100" dist="139700" dir="2700000" algn="tl" rotWithShape="0">
                <a:srgbClr val="333333">
                  <a:alpha val="6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0" name="Group 9">
              <a:extLst>
                <a:ext uri="{FF2B5EF4-FFF2-40B4-BE49-F238E27FC236}">
                  <a16:creationId xmlns:a16="http://schemas.microsoft.com/office/drawing/2014/main" id="{8BF1D942-C167-2282-D4E0-2ABEA72E5220}"/>
                </a:ext>
              </a:extLst>
            </p:cNvPr>
            <p:cNvGrpSpPr/>
            <p:nvPr/>
          </p:nvGrpSpPr>
          <p:grpSpPr>
            <a:xfrm>
              <a:off x="1190439" y="2763372"/>
              <a:ext cx="9576422" cy="404261"/>
              <a:chOff x="1298164" y="2700741"/>
              <a:chExt cx="9576422" cy="404261"/>
            </a:xfrm>
          </p:grpSpPr>
          <p:sp>
            <p:nvSpPr>
              <p:cNvPr id="11" name="Isosceles Triangle 10">
                <a:extLst>
                  <a:ext uri="{FF2B5EF4-FFF2-40B4-BE49-F238E27FC236}">
                    <a16:creationId xmlns:a16="http://schemas.microsoft.com/office/drawing/2014/main" id="{99648AA2-6942-A541-E935-C0D5287F47A2}"/>
                  </a:ext>
                </a:extLst>
              </p:cNvPr>
              <p:cNvSpPr/>
              <p:nvPr/>
            </p:nvSpPr>
            <p:spPr>
              <a:xfrm>
                <a:off x="1298164" y="2700741"/>
                <a:ext cx="468943" cy="404261"/>
              </a:xfrm>
              <a:prstGeom prst="triangle">
                <a:avLst/>
              </a:prstGeom>
              <a:solidFill>
                <a:srgbClr val="87D830"/>
              </a:solidFill>
              <a:ln>
                <a:solidFill>
                  <a:srgbClr val="87D8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2" name="Group 11">
                <a:extLst>
                  <a:ext uri="{FF2B5EF4-FFF2-40B4-BE49-F238E27FC236}">
                    <a16:creationId xmlns:a16="http://schemas.microsoft.com/office/drawing/2014/main" id="{77931BFB-9FE1-23FA-F104-386974BCEDCF}"/>
                  </a:ext>
                </a:extLst>
              </p:cNvPr>
              <p:cNvGrpSpPr/>
              <p:nvPr/>
            </p:nvGrpSpPr>
            <p:grpSpPr>
              <a:xfrm>
                <a:off x="2398066" y="2700741"/>
                <a:ext cx="937886" cy="404261"/>
                <a:chOff x="1875322" y="1568917"/>
                <a:chExt cx="937886" cy="404261"/>
              </a:xfrm>
            </p:grpSpPr>
            <p:sp>
              <p:nvSpPr>
                <p:cNvPr id="29" name="Isosceles Triangle 28">
                  <a:extLst>
                    <a:ext uri="{FF2B5EF4-FFF2-40B4-BE49-F238E27FC236}">
                      <a16:creationId xmlns:a16="http://schemas.microsoft.com/office/drawing/2014/main" id="{2122009D-D188-FFA4-CC13-155EB9159CC5}"/>
                    </a:ext>
                  </a:extLst>
                </p:cNvPr>
                <p:cNvSpPr/>
                <p:nvPr/>
              </p:nvSpPr>
              <p:spPr>
                <a:xfrm>
                  <a:off x="1875322" y="1568917"/>
                  <a:ext cx="468943" cy="404261"/>
                </a:xfrm>
                <a:prstGeom prst="triangle">
                  <a:avLst/>
                </a:prstGeom>
                <a:solidFill>
                  <a:srgbClr val="87D830"/>
                </a:solidFill>
                <a:ln>
                  <a:solidFill>
                    <a:srgbClr val="87D8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0" name="Isosceles Triangle 29">
                  <a:extLst>
                    <a:ext uri="{FF2B5EF4-FFF2-40B4-BE49-F238E27FC236}">
                      <a16:creationId xmlns:a16="http://schemas.microsoft.com/office/drawing/2014/main" id="{B61FF520-ADE1-61B3-34E4-2E4EC73FF80D}"/>
                    </a:ext>
                  </a:extLst>
                </p:cNvPr>
                <p:cNvSpPr/>
                <p:nvPr/>
              </p:nvSpPr>
              <p:spPr>
                <a:xfrm>
                  <a:off x="2344265" y="1568917"/>
                  <a:ext cx="468943" cy="404261"/>
                </a:xfrm>
                <a:prstGeom prst="triangle">
                  <a:avLst/>
                </a:prstGeom>
                <a:solidFill>
                  <a:srgbClr val="87D830"/>
                </a:solidFill>
                <a:ln>
                  <a:solidFill>
                    <a:srgbClr val="87D8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grpSp>
            <p:nvGrpSpPr>
              <p:cNvPr id="13" name="Group 12">
                <a:extLst>
                  <a:ext uri="{FF2B5EF4-FFF2-40B4-BE49-F238E27FC236}">
                    <a16:creationId xmlns:a16="http://schemas.microsoft.com/office/drawing/2014/main" id="{0B909168-F3AB-A4D3-76CB-7A17B4C68150}"/>
                  </a:ext>
                </a:extLst>
              </p:cNvPr>
              <p:cNvGrpSpPr/>
              <p:nvPr/>
            </p:nvGrpSpPr>
            <p:grpSpPr>
              <a:xfrm>
                <a:off x="3966911" y="2700741"/>
                <a:ext cx="1406829" cy="404261"/>
                <a:chOff x="3202005" y="1568916"/>
                <a:chExt cx="1406829" cy="404261"/>
              </a:xfrm>
            </p:grpSpPr>
            <p:sp>
              <p:nvSpPr>
                <p:cNvPr id="26" name="Isosceles Triangle 25">
                  <a:extLst>
                    <a:ext uri="{FF2B5EF4-FFF2-40B4-BE49-F238E27FC236}">
                      <a16:creationId xmlns:a16="http://schemas.microsoft.com/office/drawing/2014/main" id="{1DB14EB2-CE50-F4B4-CB82-079931D5EECE}"/>
                    </a:ext>
                  </a:extLst>
                </p:cNvPr>
                <p:cNvSpPr/>
                <p:nvPr/>
              </p:nvSpPr>
              <p:spPr>
                <a:xfrm>
                  <a:off x="3202005" y="1568916"/>
                  <a:ext cx="468943" cy="404261"/>
                </a:xfrm>
                <a:prstGeom prst="triangle">
                  <a:avLst/>
                </a:prstGeom>
                <a:solidFill>
                  <a:srgbClr val="87D830"/>
                </a:solidFill>
                <a:ln>
                  <a:solidFill>
                    <a:srgbClr val="87D8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 name="Isosceles Triangle 26">
                  <a:extLst>
                    <a:ext uri="{FF2B5EF4-FFF2-40B4-BE49-F238E27FC236}">
                      <a16:creationId xmlns:a16="http://schemas.microsoft.com/office/drawing/2014/main" id="{315FF167-74DC-6D38-6B25-FCB57A2C8BEB}"/>
                    </a:ext>
                  </a:extLst>
                </p:cNvPr>
                <p:cNvSpPr/>
                <p:nvPr/>
              </p:nvSpPr>
              <p:spPr>
                <a:xfrm>
                  <a:off x="3670948" y="1568916"/>
                  <a:ext cx="468943" cy="404261"/>
                </a:xfrm>
                <a:prstGeom prst="triangle">
                  <a:avLst/>
                </a:prstGeom>
                <a:solidFill>
                  <a:srgbClr val="87D830"/>
                </a:solidFill>
                <a:ln>
                  <a:solidFill>
                    <a:srgbClr val="87D8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Isosceles Triangle 27">
                  <a:extLst>
                    <a:ext uri="{FF2B5EF4-FFF2-40B4-BE49-F238E27FC236}">
                      <a16:creationId xmlns:a16="http://schemas.microsoft.com/office/drawing/2014/main" id="{197BBC49-1FB2-E4A0-6D44-450B70EF2B1E}"/>
                    </a:ext>
                  </a:extLst>
                </p:cNvPr>
                <p:cNvSpPr/>
                <p:nvPr/>
              </p:nvSpPr>
              <p:spPr>
                <a:xfrm>
                  <a:off x="4139891" y="1568916"/>
                  <a:ext cx="468943" cy="404261"/>
                </a:xfrm>
                <a:prstGeom prst="triangle">
                  <a:avLst/>
                </a:prstGeom>
                <a:solidFill>
                  <a:srgbClr val="87D830"/>
                </a:solidFill>
                <a:ln>
                  <a:solidFill>
                    <a:srgbClr val="87D8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grpSp>
            <p:nvGrpSpPr>
              <p:cNvPr id="14" name="Group 13">
                <a:extLst>
                  <a:ext uri="{FF2B5EF4-FFF2-40B4-BE49-F238E27FC236}">
                    <a16:creationId xmlns:a16="http://schemas.microsoft.com/office/drawing/2014/main" id="{1BDCFAB0-DA51-D54D-165D-26972598C936}"/>
                  </a:ext>
                </a:extLst>
              </p:cNvPr>
              <p:cNvGrpSpPr/>
              <p:nvPr/>
            </p:nvGrpSpPr>
            <p:grpSpPr>
              <a:xfrm>
                <a:off x="6004699" y="2700741"/>
                <a:ext cx="1875772" cy="404261"/>
                <a:chOff x="5000325" y="1559289"/>
                <a:chExt cx="1875772" cy="404261"/>
              </a:xfrm>
            </p:grpSpPr>
            <p:sp>
              <p:nvSpPr>
                <p:cNvPr id="22" name="Isosceles Triangle 21">
                  <a:extLst>
                    <a:ext uri="{FF2B5EF4-FFF2-40B4-BE49-F238E27FC236}">
                      <a16:creationId xmlns:a16="http://schemas.microsoft.com/office/drawing/2014/main" id="{5F021D51-A115-EA89-C3D5-D1864289336B}"/>
                    </a:ext>
                  </a:extLst>
                </p:cNvPr>
                <p:cNvSpPr/>
                <p:nvPr/>
              </p:nvSpPr>
              <p:spPr>
                <a:xfrm>
                  <a:off x="5000325" y="1559289"/>
                  <a:ext cx="468943" cy="404261"/>
                </a:xfrm>
                <a:prstGeom prst="triangle">
                  <a:avLst/>
                </a:prstGeom>
                <a:solidFill>
                  <a:srgbClr val="87D830"/>
                </a:solidFill>
                <a:ln>
                  <a:solidFill>
                    <a:srgbClr val="87D8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3" name="Isosceles Triangle 22">
                  <a:extLst>
                    <a:ext uri="{FF2B5EF4-FFF2-40B4-BE49-F238E27FC236}">
                      <a16:creationId xmlns:a16="http://schemas.microsoft.com/office/drawing/2014/main" id="{DD776264-2C14-8500-30E5-51013FD1BB39}"/>
                    </a:ext>
                  </a:extLst>
                </p:cNvPr>
                <p:cNvSpPr/>
                <p:nvPr/>
              </p:nvSpPr>
              <p:spPr>
                <a:xfrm>
                  <a:off x="5469268" y="1559289"/>
                  <a:ext cx="468943" cy="404261"/>
                </a:xfrm>
                <a:prstGeom prst="triangle">
                  <a:avLst/>
                </a:prstGeom>
                <a:solidFill>
                  <a:srgbClr val="87D830"/>
                </a:solidFill>
                <a:ln>
                  <a:solidFill>
                    <a:srgbClr val="87D8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4" name="Isosceles Triangle 23">
                  <a:extLst>
                    <a:ext uri="{FF2B5EF4-FFF2-40B4-BE49-F238E27FC236}">
                      <a16:creationId xmlns:a16="http://schemas.microsoft.com/office/drawing/2014/main" id="{D3401F0F-6728-93B1-EB13-D1B44DF0399D}"/>
                    </a:ext>
                  </a:extLst>
                </p:cNvPr>
                <p:cNvSpPr/>
                <p:nvPr/>
              </p:nvSpPr>
              <p:spPr>
                <a:xfrm>
                  <a:off x="5938211" y="1559289"/>
                  <a:ext cx="468943" cy="404261"/>
                </a:xfrm>
                <a:prstGeom prst="triangle">
                  <a:avLst/>
                </a:prstGeom>
                <a:solidFill>
                  <a:srgbClr val="87D830"/>
                </a:solidFill>
                <a:ln>
                  <a:solidFill>
                    <a:srgbClr val="87D8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5" name="Isosceles Triangle 24">
                  <a:extLst>
                    <a:ext uri="{FF2B5EF4-FFF2-40B4-BE49-F238E27FC236}">
                      <a16:creationId xmlns:a16="http://schemas.microsoft.com/office/drawing/2014/main" id="{924421B3-1759-CCDD-CCFB-4E582697AFAB}"/>
                    </a:ext>
                  </a:extLst>
                </p:cNvPr>
                <p:cNvSpPr/>
                <p:nvPr/>
              </p:nvSpPr>
              <p:spPr>
                <a:xfrm>
                  <a:off x="6407154" y="1559289"/>
                  <a:ext cx="468943" cy="404261"/>
                </a:xfrm>
                <a:prstGeom prst="triangle">
                  <a:avLst/>
                </a:prstGeom>
                <a:solidFill>
                  <a:srgbClr val="87D830"/>
                </a:solidFill>
                <a:ln>
                  <a:solidFill>
                    <a:srgbClr val="87D8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grpSp>
            <p:nvGrpSpPr>
              <p:cNvPr id="15" name="Group 14">
                <a:extLst>
                  <a:ext uri="{FF2B5EF4-FFF2-40B4-BE49-F238E27FC236}">
                    <a16:creationId xmlns:a16="http://schemas.microsoft.com/office/drawing/2014/main" id="{9C456972-55EB-A866-3490-F466F08E29FF}"/>
                  </a:ext>
                </a:extLst>
              </p:cNvPr>
              <p:cNvGrpSpPr/>
              <p:nvPr/>
            </p:nvGrpSpPr>
            <p:grpSpPr>
              <a:xfrm>
                <a:off x="8511429" y="2700741"/>
                <a:ext cx="2363157" cy="404261"/>
                <a:chOff x="7345040" y="1548306"/>
                <a:chExt cx="2363157" cy="404261"/>
              </a:xfrm>
            </p:grpSpPr>
            <p:grpSp>
              <p:nvGrpSpPr>
                <p:cNvPr id="16" name="Group 15">
                  <a:extLst>
                    <a:ext uri="{FF2B5EF4-FFF2-40B4-BE49-F238E27FC236}">
                      <a16:creationId xmlns:a16="http://schemas.microsoft.com/office/drawing/2014/main" id="{3A2E56A5-B223-C74A-88AC-ED34529CE0F2}"/>
                    </a:ext>
                  </a:extLst>
                </p:cNvPr>
                <p:cNvGrpSpPr/>
                <p:nvPr/>
              </p:nvGrpSpPr>
              <p:grpSpPr>
                <a:xfrm>
                  <a:off x="7345040" y="1548306"/>
                  <a:ext cx="1875772" cy="404261"/>
                  <a:chOff x="5000325" y="1559289"/>
                  <a:chExt cx="1875772" cy="404261"/>
                </a:xfrm>
              </p:grpSpPr>
              <p:sp>
                <p:nvSpPr>
                  <p:cNvPr id="18" name="Isosceles Triangle 17">
                    <a:extLst>
                      <a:ext uri="{FF2B5EF4-FFF2-40B4-BE49-F238E27FC236}">
                        <a16:creationId xmlns:a16="http://schemas.microsoft.com/office/drawing/2014/main" id="{130C35D6-F5CF-F98F-0D92-07FCAC49C3FD}"/>
                      </a:ext>
                    </a:extLst>
                  </p:cNvPr>
                  <p:cNvSpPr/>
                  <p:nvPr/>
                </p:nvSpPr>
                <p:spPr>
                  <a:xfrm>
                    <a:off x="5000325" y="1559289"/>
                    <a:ext cx="468943" cy="404261"/>
                  </a:xfrm>
                  <a:prstGeom prst="triangle">
                    <a:avLst/>
                  </a:prstGeom>
                  <a:solidFill>
                    <a:srgbClr val="87D830"/>
                  </a:solidFill>
                  <a:ln>
                    <a:solidFill>
                      <a:srgbClr val="87D8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Isosceles Triangle 18">
                    <a:extLst>
                      <a:ext uri="{FF2B5EF4-FFF2-40B4-BE49-F238E27FC236}">
                        <a16:creationId xmlns:a16="http://schemas.microsoft.com/office/drawing/2014/main" id="{F24C0AE2-45A4-53B1-9154-6316AF12FD51}"/>
                      </a:ext>
                    </a:extLst>
                  </p:cNvPr>
                  <p:cNvSpPr/>
                  <p:nvPr/>
                </p:nvSpPr>
                <p:spPr>
                  <a:xfrm>
                    <a:off x="5469268" y="1559289"/>
                    <a:ext cx="468943" cy="404261"/>
                  </a:xfrm>
                  <a:prstGeom prst="triangle">
                    <a:avLst/>
                  </a:prstGeom>
                  <a:solidFill>
                    <a:srgbClr val="87D830"/>
                  </a:solidFill>
                  <a:ln>
                    <a:solidFill>
                      <a:srgbClr val="87D8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Isosceles Triangle 19">
                    <a:extLst>
                      <a:ext uri="{FF2B5EF4-FFF2-40B4-BE49-F238E27FC236}">
                        <a16:creationId xmlns:a16="http://schemas.microsoft.com/office/drawing/2014/main" id="{0FEC1A4C-DE7C-30BC-52C5-68DB5256C779}"/>
                      </a:ext>
                    </a:extLst>
                  </p:cNvPr>
                  <p:cNvSpPr/>
                  <p:nvPr/>
                </p:nvSpPr>
                <p:spPr>
                  <a:xfrm>
                    <a:off x="5938211" y="1559289"/>
                    <a:ext cx="468943" cy="404261"/>
                  </a:xfrm>
                  <a:prstGeom prst="triangle">
                    <a:avLst/>
                  </a:prstGeom>
                  <a:solidFill>
                    <a:srgbClr val="87D830"/>
                  </a:solidFill>
                  <a:ln>
                    <a:solidFill>
                      <a:srgbClr val="87D8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1" name="Isosceles Triangle 20">
                    <a:extLst>
                      <a:ext uri="{FF2B5EF4-FFF2-40B4-BE49-F238E27FC236}">
                        <a16:creationId xmlns:a16="http://schemas.microsoft.com/office/drawing/2014/main" id="{43B8C03F-A12D-9CF2-2872-5960A5752333}"/>
                      </a:ext>
                    </a:extLst>
                  </p:cNvPr>
                  <p:cNvSpPr/>
                  <p:nvPr/>
                </p:nvSpPr>
                <p:spPr>
                  <a:xfrm>
                    <a:off x="6407154" y="1559289"/>
                    <a:ext cx="468943" cy="404261"/>
                  </a:xfrm>
                  <a:prstGeom prst="triangle">
                    <a:avLst/>
                  </a:prstGeom>
                  <a:solidFill>
                    <a:srgbClr val="87D830"/>
                  </a:solidFill>
                  <a:ln>
                    <a:solidFill>
                      <a:srgbClr val="87D8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17" name="Isosceles Triangle 16">
                  <a:extLst>
                    <a:ext uri="{FF2B5EF4-FFF2-40B4-BE49-F238E27FC236}">
                      <a16:creationId xmlns:a16="http://schemas.microsoft.com/office/drawing/2014/main" id="{3CCDAF31-DA25-D550-FEA1-61DEFAF4ABDE}"/>
                    </a:ext>
                  </a:extLst>
                </p:cNvPr>
                <p:cNvSpPr/>
                <p:nvPr/>
              </p:nvSpPr>
              <p:spPr>
                <a:xfrm>
                  <a:off x="9239254" y="1548306"/>
                  <a:ext cx="468943" cy="404261"/>
                </a:xfrm>
                <a:prstGeom prst="triangle">
                  <a:avLst/>
                </a:prstGeom>
                <a:solidFill>
                  <a:srgbClr val="87D830"/>
                </a:solidFill>
                <a:ln>
                  <a:solidFill>
                    <a:srgbClr val="87D8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grpSp>
      </p:grpSp>
      <p:graphicFrame>
        <p:nvGraphicFramePr>
          <p:cNvPr id="7" name="Table 6">
            <a:extLst>
              <a:ext uri="{FF2B5EF4-FFF2-40B4-BE49-F238E27FC236}">
                <a16:creationId xmlns:a16="http://schemas.microsoft.com/office/drawing/2014/main" id="{6B079F2E-E72C-8FC3-3642-488B0BC51C0B}"/>
              </a:ext>
            </a:extLst>
          </p:cNvPr>
          <p:cNvGraphicFramePr>
            <a:graphicFrameLocks noGrp="1"/>
          </p:cNvGraphicFramePr>
          <p:nvPr>
            <p:extLst>
              <p:ext uri="{D42A27DB-BD31-4B8C-83A1-F6EECF244321}">
                <p14:modId xmlns:p14="http://schemas.microsoft.com/office/powerpoint/2010/main" val="2971515590"/>
              </p:ext>
            </p:extLst>
          </p:nvPr>
        </p:nvGraphicFramePr>
        <p:xfrm>
          <a:off x="833300" y="4519626"/>
          <a:ext cx="10525400" cy="1804874"/>
        </p:xfrm>
        <a:graphic>
          <a:graphicData uri="http://schemas.openxmlformats.org/drawingml/2006/table">
            <a:tbl>
              <a:tblPr firstRow="1" bandRow="1">
                <a:tableStyleId>{5A111915-BE36-4E01-A7E5-04B1672EAD32}</a:tableStyleId>
              </a:tblPr>
              <a:tblGrid>
                <a:gridCol w="3068535">
                  <a:extLst>
                    <a:ext uri="{9D8B030D-6E8A-4147-A177-3AD203B41FA5}">
                      <a16:colId xmlns:a16="http://schemas.microsoft.com/office/drawing/2014/main" val="1037980559"/>
                    </a:ext>
                  </a:extLst>
                </a:gridCol>
                <a:gridCol w="1491373">
                  <a:extLst>
                    <a:ext uri="{9D8B030D-6E8A-4147-A177-3AD203B41FA5}">
                      <a16:colId xmlns:a16="http://schemas.microsoft.com/office/drawing/2014/main" val="1414479321"/>
                    </a:ext>
                  </a:extLst>
                </a:gridCol>
                <a:gridCol w="1491373">
                  <a:extLst>
                    <a:ext uri="{9D8B030D-6E8A-4147-A177-3AD203B41FA5}">
                      <a16:colId xmlns:a16="http://schemas.microsoft.com/office/drawing/2014/main" val="1936309375"/>
                    </a:ext>
                  </a:extLst>
                </a:gridCol>
                <a:gridCol w="1491373">
                  <a:extLst>
                    <a:ext uri="{9D8B030D-6E8A-4147-A177-3AD203B41FA5}">
                      <a16:colId xmlns:a16="http://schemas.microsoft.com/office/drawing/2014/main" val="1072593135"/>
                    </a:ext>
                  </a:extLst>
                </a:gridCol>
                <a:gridCol w="1491373">
                  <a:extLst>
                    <a:ext uri="{9D8B030D-6E8A-4147-A177-3AD203B41FA5}">
                      <a16:colId xmlns:a16="http://schemas.microsoft.com/office/drawing/2014/main" val="2617543454"/>
                    </a:ext>
                  </a:extLst>
                </a:gridCol>
                <a:gridCol w="1491373">
                  <a:extLst>
                    <a:ext uri="{9D8B030D-6E8A-4147-A177-3AD203B41FA5}">
                      <a16:colId xmlns:a16="http://schemas.microsoft.com/office/drawing/2014/main" val="1179776664"/>
                    </a:ext>
                  </a:extLst>
                </a:gridCol>
              </a:tblGrid>
              <a:tr h="902437">
                <a:tc>
                  <a:txBody>
                    <a:bodyPr/>
                    <a:lstStyle/>
                    <a:p>
                      <a:pPr algn="ctr"/>
                      <a:r>
                        <a:rPr lang="en-AU" sz="2400" b="1">
                          <a:solidFill>
                            <a:schemeClr val="bg1"/>
                          </a:solidFill>
                          <a:latin typeface="Arial"/>
                          <a:cs typeface="Arial"/>
                        </a:rPr>
                        <a:t>No. of triangles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AU" sz="2400" b="0">
                          <a:solidFill>
                            <a:schemeClr val="tx1"/>
                          </a:solidFill>
                          <a:latin typeface="Arial"/>
                          <a:cs typeface="Aria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2400" b="0">
                          <a:solidFill>
                            <a:schemeClr val="tx1"/>
                          </a:solidFill>
                          <a:latin typeface="Arial"/>
                          <a:cs typeface="Aria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2400" b="0">
                          <a:solidFill>
                            <a:schemeClr val="tx1"/>
                          </a:solidFill>
                          <a:latin typeface="Arial"/>
                          <a:cs typeface="Aria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2400" b="0">
                          <a:solidFill>
                            <a:schemeClr val="tx1"/>
                          </a:solidFill>
                          <a:latin typeface="Arial"/>
                          <a:cs typeface="Aria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2400" b="0">
                          <a:solidFill>
                            <a:schemeClr val="tx1"/>
                          </a:solidFill>
                          <a:latin typeface="Arial"/>
                          <a:cs typeface="Aria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46536183"/>
                  </a:ext>
                </a:extLst>
              </a:tr>
              <a:tr h="902437">
                <a:tc>
                  <a:txBody>
                    <a:bodyPr/>
                    <a:lstStyle/>
                    <a:p>
                      <a:pPr algn="ctr"/>
                      <a:r>
                        <a:rPr lang="en-AU" sz="2400" b="1">
                          <a:solidFill>
                            <a:schemeClr val="bg1"/>
                          </a:solidFill>
                          <a:latin typeface="Arial"/>
                          <a:cs typeface="Arial"/>
                        </a:rPr>
                        <a:t>No. of sides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AU" sz="2400" b="0">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2400" b="0">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2400" b="0">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2400" b="0">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2400" b="0">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9409323"/>
                  </a:ext>
                </a:extLst>
              </a:tr>
            </a:tbl>
          </a:graphicData>
        </a:graphic>
      </p:graphicFrame>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sp>
        <p:nvSpPr>
          <p:cNvPr id="5" name="Picture Placeholder 10">
            <a:extLst>
              <a:ext uri="{FF2B5EF4-FFF2-40B4-BE49-F238E27FC236}">
                <a16:creationId xmlns:a16="http://schemas.microsoft.com/office/drawing/2014/main" id="{922B9DB9-9D1B-18A1-B7EB-EDED90FC89DE}"/>
              </a:ext>
            </a:extLst>
          </p:cNvPr>
          <p:cNvSpPr txBox="1">
            <a:spLocks/>
          </p:cNvSpPr>
          <p:nvPr/>
        </p:nvSpPr>
        <p:spPr>
          <a:xfrm>
            <a:off x="492393" y="1318532"/>
            <a:ext cx="5136877" cy="2110468"/>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latin typeface="Arial"/>
                <a:cs typeface="Arial"/>
              </a:rPr>
              <a:t>Record the </a:t>
            </a:r>
            <a:r>
              <a:rPr lang="en-US" sz="4400" b="1">
                <a:latin typeface="Arial"/>
                <a:cs typeface="Arial"/>
              </a:rPr>
              <a:t>size </a:t>
            </a:r>
            <a:r>
              <a:rPr lang="en-US" sz="4400">
                <a:latin typeface="Arial"/>
                <a:cs typeface="Arial"/>
              </a:rPr>
              <a:t>of the</a:t>
            </a:r>
            <a:r>
              <a:rPr lang="en-US" sz="4400" b="1">
                <a:latin typeface="Arial"/>
                <a:cs typeface="Arial"/>
              </a:rPr>
              <a:t> </a:t>
            </a:r>
            <a:r>
              <a:rPr lang="en-US" sz="4400" b="1">
                <a:solidFill>
                  <a:srgbClr val="F9A045"/>
                </a:solidFill>
                <a:latin typeface="Arial"/>
                <a:cs typeface="Arial"/>
              </a:rPr>
              <a:t>orange</a:t>
            </a:r>
            <a:r>
              <a:rPr lang="en-US" sz="4400" b="1">
                <a:latin typeface="Arial"/>
                <a:cs typeface="Arial"/>
              </a:rPr>
              <a:t> </a:t>
            </a:r>
            <a:r>
              <a:rPr lang="en-US" sz="4400" b="1">
                <a:solidFill>
                  <a:srgbClr val="F9A045"/>
                </a:solidFill>
                <a:latin typeface="Arial"/>
                <a:cs typeface="Arial"/>
              </a:rPr>
              <a:t>angle</a:t>
            </a:r>
            <a:r>
              <a:rPr lang="en-US" sz="4400" b="1">
                <a:latin typeface="Arial"/>
                <a:cs typeface="Arial"/>
              </a:rPr>
              <a:t>.</a:t>
            </a:r>
            <a:endParaRPr lang="en-US" sz="4400"/>
          </a:p>
        </p:txBody>
      </p:sp>
      <p:sp>
        <p:nvSpPr>
          <p:cNvPr id="8" name="Picture Placeholder 10">
            <a:extLst>
              <a:ext uri="{FF2B5EF4-FFF2-40B4-BE49-F238E27FC236}">
                <a16:creationId xmlns:a16="http://schemas.microsoft.com/office/drawing/2014/main" id="{E0156788-CE8A-28EB-BF9E-EB2FF2B4E974}"/>
              </a:ext>
            </a:extLst>
          </p:cNvPr>
          <p:cNvSpPr txBox="1">
            <a:spLocks/>
          </p:cNvSpPr>
          <p:nvPr/>
        </p:nvSpPr>
        <p:spPr>
          <a:xfrm>
            <a:off x="289036" y="4291418"/>
            <a:ext cx="5543590" cy="1996371"/>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a:latin typeface="Arial"/>
                <a:cs typeface="Arial"/>
              </a:rPr>
              <a:t>Communicate </a:t>
            </a:r>
            <a:r>
              <a:rPr lang="en-US" sz="4400">
                <a:latin typeface="Arial"/>
                <a:cs typeface="Arial"/>
              </a:rPr>
              <a:t>your</a:t>
            </a:r>
            <a:r>
              <a:rPr lang="en-US" sz="4400" b="1">
                <a:latin typeface="Arial"/>
                <a:cs typeface="Arial"/>
              </a:rPr>
              <a:t> reasoning.</a:t>
            </a:r>
            <a:endParaRPr lang="en-US" sz="4400"/>
          </a:p>
        </p:txBody>
      </p:sp>
      <p:pic>
        <p:nvPicPr>
          <p:cNvPr id="3" name="Picture 2">
            <a:extLst>
              <a:ext uri="{FF2B5EF4-FFF2-40B4-BE49-F238E27FC236}">
                <a16:creationId xmlns:a16="http://schemas.microsoft.com/office/drawing/2014/main" id="{71518DCE-2BBE-0AC2-F72B-B5E11C24F8A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pic>
        <p:nvPicPr>
          <p:cNvPr id="9" name="Picture 8" descr="Five straight lines radiate from a single central point, forming several angles around the point. Four of the angles are labelled 70°, 50°, 100°, and 90°. On the right side, a curved orange arrow highlights the angle between two adjacent lines, indicating the angle to be determined.">
            <a:extLst>
              <a:ext uri="{FF2B5EF4-FFF2-40B4-BE49-F238E27FC236}">
                <a16:creationId xmlns:a16="http://schemas.microsoft.com/office/drawing/2014/main" id="{6E6D612D-B061-7030-1744-5C75187BC3FF}"/>
              </a:ext>
            </a:extLst>
          </p:cNvPr>
          <p:cNvPicPr>
            <a:picLocks noChangeAspect="1"/>
          </p:cNvPicPr>
          <p:nvPr/>
        </p:nvPicPr>
        <p:blipFill>
          <a:blip r:embed="rId4"/>
          <a:stretch>
            <a:fillRect/>
          </a:stretch>
        </p:blipFill>
        <p:spPr>
          <a:xfrm>
            <a:off x="6359376" y="1546169"/>
            <a:ext cx="5295500" cy="4557084"/>
          </a:xfrm>
          <a:prstGeom prst="rect">
            <a:avLst/>
          </a:prstGeom>
          <a:solidFill>
            <a:schemeClr val="bg1"/>
          </a:solidFill>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sp>
        <p:nvSpPr>
          <p:cNvPr id="8" name="Picture Placeholder 10">
            <a:extLst>
              <a:ext uri="{FF2B5EF4-FFF2-40B4-BE49-F238E27FC236}">
                <a16:creationId xmlns:a16="http://schemas.microsoft.com/office/drawing/2014/main" id="{CB6BDE57-E869-3518-6D90-3EF171BC0E8F}"/>
              </a:ext>
            </a:extLst>
          </p:cNvPr>
          <p:cNvSpPr txBox="1">
            <a:spLocks/>
          </p:cNvSpPr>
          <p:nvPr/>
        </p:nvSpPr>
        <p:spPr>
          <a:xfrm>
            <a:off x="181481" y="1268995"/>
            <a:ext cx="6663832" cy="3231964"/>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latin typeface="Arial"/>
                <a:cs typeface="Arial"/>
              </a:rPr>
              <a:t>What is the </a:t>
            </a:r>
            <a:r>
              <a:rPr lang="en-AU" sz="4400" b="1">
                <a:latin typeface="Arial"/>
                <a:cs typeface="Arial"/>
              </a:rPr>
              <a:t>total</a:t>
            </a:r>
            <a:r>
              <a:rPr lang="en-AU" sz="4400">
                <a:latin typeface="Arial"/>
                <a:cs typeface="Arial"/>
              </a:rPr>
              <a:t> of the </a:t>
            </a:r>
            <a:r>
              <a:rPr lang="en-AU" sz="4400" b="1">
                <a:latin typeface="Arial"/>
                <a:cs typeface="Arial"/>
              </a:rPr>
              <a:t>angles at this point </a:t>
            </a:r>
            <a:r>
              <a:rPr lang="en-AU" sz="4400">
                <a:latin typeface="Arial"/>
                <a:cs typeface="Arial"/>
              </a:rPr>
              <a:t>in the </a:t>
            </a:r>
            <a:r>
              <a:rPr lang="en-AU" sz="4400" b="1">
                <a:latin typeface="Arial"/>
                <a:cs typeface="Arial"/>
              </a:rPr>
              <a:t>diagram</a:t>
            </a:r>
            <a:r>
              <a:rPr lang="en-AU" sz="4400">
                <a:latin typeface="Arial"/>
                <a:cs typeface="Arial"/>
              </a:rPr>
              <a:t>?</a:t>
            </a:r>
          </a:p>
        </p:txBody>
      </p:sp>
      <p:sp>
        <p:nvSpPr>
          <p:cNvPr id="10" name="TextBox 11">
            <a:extLst>
              <a:ext uri="{FF2B5EF4-FFF2-40B4-BE49-F238E27FC236}">
                <a16:creationId xmlns:a16="http://schemas.microsoft.com/office/drawing/2014/main" id="{F9A268BD-8597-3A94-8174-4919F03C894E}"/>
              </a:ext>
            </a:extLst>
          </p:cNvPr>
          <p:cNvSpPr txBox="1"/>
          <p:nvPr/>
        </p:nvSpPr>
        <p:spPr>
          <a:xfrm>
            <a:off x="466588" y="4765889"/>
            <a:ext cx="6093618" cy="1446550"/>
          </a:xfrm>
          <a:prstGeom prst="rect">
            <a:avLst/>
          </a:prstGeom>
          <a:noFill/>
        </p:spPr>
        <p:txBody>
          <a:bodyPr wrap="square">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a:ln>
                  <a:noFill/>
                </a:ln>
                <a:solidFill>
                  <a:srgbClr val="22272B"/>
                </a:solidFill>
                <a:effectLst/>
                <a:uLnTx/>
                <a:uFillTx/>
                <a:latin typeface="Arial"/>
                <a:ea typeface="+mn-ea"/>
                <a:cs typeface="Arial"/>
              </a:rPr>
              <a:t>Communicate </a:t>
            </a:r>
            <a:r>
              <a:rPr kumimoji="0" lang="en-US" sz="4400" b="0" i="0" u="none" strike="noStrike" kern="1200" cap="none" spc="0" normalizeH="0" baseline="0" noProof="0">
                <a:ln>
                  <a:noFill/>
                </a:ln>
                <a:solidFill>
                  <a:srgbClr val="22272B"/>
                </a:solidFill>
                <a:effectLst/>
                <a:uLnTx/>
                <a:uFillTx/>
                <a:latin typeface="Arial"/>
                <a:ea typeface="+mn-ea"/>
                <a:cs typeface="Arial"/>
              </a:rPr>
              <a:t>your</a:t>
            </a:r>
            <a:r>
              <a:rPr kumimoji="0" lang="en-US" sz="4400" b="1" i="0" u="none" strike="noStrike" kern="1200" cap="none" spc="0" normalizeH="0" baseline="0" noProof="0">
                <a:ln>
                  <a:noFill/>
                </a:ln>
                <a:solidFill>
                  <a:srgbClr val="22272B"/>
                </a:solidFill>
                <a:effectLst/>
                <a:uLnTx/>
                <a:uFillTx/>
                <a:latin typeface="Arial"/>
                <a:ea typeface="+mn-ea"/>
                <a:cs typeface="Arial"/>
              </a:rPr>
              <a:t> reasoning.</a:t>
            </a:r>
            <a:endParaRPr kumimoji="0" lang="en-US" sz="4400" b="0" i="0" u="none" strike="noStrike" kern="1200" cap="none" spc="0" normalizeH="0" baseline="0" noProof="0">
              <a:ln>
                <a:noFill/>
              </a:ln>
              <a:solidFill>
                <a:srgbClr val="22272B"/>
              </a:solidFill>
              <a:effectLst/>
              <a:uLnTx/>
              <a:uFillTx/>
              <a:latin typeface="Arial" panose="020B0604020202020204"/>
              <a:ea typeface="+mn-ea"/>
              <a:cs typeface="+mn-cs"/>
            </a:endParaRPr>
          </a:p>
        </p:txBody>
      </p:sp>
      <p:grpSp>
        <p:nvGrpSpPr>
          <p:cNvPr id="15" name="Group 14" descr="A pattern of irregular shapes is formed by straight lines meeting at different points. One intersection is highlighted with a red circle, showing several angles around a single point, with some angles shaded in yellow and blue.">
            <a:extLst>
              <a:ext uri="{FF2B5EF4-FFF2-40B4-BE49-F238E27FC236}">
                <a16:creationId xmlns:a16="http://schemas.microsoft.com/office/drawing/2014/main" id="{40E12797-DF84-FF11-9D42-E29BD22057A6}"/>
              </a:ext>
            </a:extLst>
          </p:cNvPr>
          <p:cNvGrpSpPr/>
          <p:nvPr/>
        </p:nvGrpSpPr>
        <p:grpSpPr>
          <a:xfrm>
            <a:off x="7108328" y="1751549"/>
            <a:ext cx="4538955" cy="4197125"/>
            <a:chOff x="7108328" y="1751549"/>
            <a:chExt cx="4538955" cy="4197125"/>
          </a:xfrm>
        </p:grpSpPr>
        <p:pic>
          <p:nvPicPr>
            <p:cNvPr id="14" name="Picture 13">
              <a:extLst>
                <a:ext uri="{FF2B5EF4-FFF2-40B4-BE49-F238E27FC236}">
                  <a16:creationId xmlns:a16="http://schemas.microsoft.com/office/drawing/2014/main" id="{5648128B-7915-DF6E-C301-E54F3ADC6175}"/>
                </a:ext>
              </a:extLst>
            </p:cNvPr>
            <p:cNvPicPr>
              <a:picLocks noChangeAspect="1"/>
            </p:cNvPicPr>
            <p:nvPr/>
          </p:nvPicPr>
          <p:blipFill>
            <a:blip r:embed="rId3"/>
            <a:srcRect l="4315" t="4439" r="4220" b="4497"/>
            <a:stretch>
              <a:fillRect/>
            </a:stretch>
          </p:blipFill>
          <p:spPr>
            <a:xfrm>
              <a:off x="7108328" y="1751549"/>
              <a:ext cx="4538955" cy="4197125"/>
            </a:xfrm>
            <a:prstGeom prst="rect">
              <a:avLst/>
            </a:prstGeom>
            <a:solidFill>
              <a:schemeClr val="bg1"/>
            </a:solidFill>
            <a:ln w="76200">
              <a:solidFill>
                <a:schemeClr val="tx1"/>
              </a:solidFill>
            </a:ln>
            <a:effectLst>
              <a:outerShdw blurRad="292100" dist="139700" dir="2700000" algn="tl" rotWithShape="0">
                <a:srgbClr val="333333">
                  <a:alpha val="65000"/>
                </a:srgbClr>
              </a:outerShdw>
            </a:effectLst>
          </p:spPr>
        </p:pic>
        <p:sp>
          <p:nvSpPr>
            <p:cNvPr id="12" name="Oval 11">
              <a:extLst>
                <a:ext uri="{FF2B5EF4-FFF2-40B4-BE49-F238E27FC236}">
                  <a16:creationId xmlns:a16="http://schemas.microsoft.com/office/drawing/2014/main" id="{8FAE9E76-FB91-29CA-87FE-40E067EA5FC6}"/>
                </a:ext>
              </a:extLst>
            </p:cNvPr>
            <p:cNvSpPr/>
            <p:nvPr/>
          </p:nvSpPr>
          <p:spPr>
            <a:xfrm>
              <a:off x="8111404" y="2464823"/>
              <a:ext cx="2219910" cy="2036136"/>
            </a:xfrm>
            <a:prstGeom prst="ellipse">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grpSp>
      <p:pic>
        <p:nvPicPr>
          <p:cNvPr id="3" name="Picture 2">
            <a:extLst>
              <a:ext uri="{FF2B5EF4-FFF2-40B4-BE49-F238E27FC236}">
                <a16:creationId xmlns:a16="http://schemas.microsoft.com/office/drawing/2014/main" id="{602A5C36-777A-4A3B-4BB2-D0CC6ABD6738}"/>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design a table which shows a relationship between the bottom number and the top number</a:t>
            </a:r>
          </a:p>
        </p:txBody>
      </p:sp>
      <p:sp>
        <p:nvSpPr>
          <p:cNvPr id="8" name="TextBox 7">
            <a:extLst>
              <a:ext uri="{FF2B5EF4-FFF2-40B4-BE49-F238E27FC236}">
                <a16:creationId xmlns:a16="http://schemas.microsoft.com/office/drawing/2014/main" id="{41E48FC8-4AF2-2A5B-6E70-1E473630329A}"/>
              </a:ext>
            </a:extLst>
          </p:cNvPr>
          <p:cNvSpPr txBox="1"/>
          <p:nvPr/>
        </p:nvSpPr>
        <p:spPr>
          <a:xfrm>
            <a:off x="1875609" y="2024481"/>
            <a:ext cx="1338606" cy="368230"/>
          </a:xfrm>
          <a:prstGeom prst="rect">
            <a:avLst/>
          </a:prstGeom>
          <a:noFill/>
        </p:spPr>
        <p:txBody>
          <a:bodyPr wrap="square" lIns="0" tIns="0" rIns="0" bIns="0" rtlCol="0">
            <a:noAutofit/>
          </a:bodyPr>
          <a:lstStyle/>
          <a:p>
            <a:pPr algn="l"/>
            <a:r>
              <a:rPr lang="en-AU" sz="1800">
                <a:solidFill>
                  <a:schemeClr val="accent2"/>
                </a:solidFill>
              </a:rPr>
              <a:t>Activity 3:</a:t>
            </a:r>
          </a:p>
        </p:txBody>
      </p:sp>
      <p:graphicFrame>
        <p:nvGraphicFramePr>
          <p:cNvPr id="3" name="Table 2">
            <a:extLst>
              <a:ext uri="{FF2B5EF4-FFF2-40B4-BE49-F238E27FC236}">
                <a16:creationId xmlns:a16="http://schemas.microsoft.com/office/drawing/2014/main" id="{21778D15-DE0B-9B9A-5434-386A31B854D4}"/>
              </a:ext>
            </a:extLst>
          </p:cNvPr>
          <p:cNvGraphicFramePr>
            <a:graphicFrameLocks noGrp="1"/>
          </p:cNvGraphicFramePr>
          <p:nvPr>
            <p:extLst>
              <p:ext uri="{D42A27DB-BD31-4B8C-83A1-F6EECF244321}">
                <p14:modId xmlns:p14="http://schemas.microsoft.com/office/powerpoint/2010/main" val="2628176723"/>
              </p:ext>
            </p:extLst>
          </p:nvPr>
        </p:nvGraphicFramePr>
        <p:xfrm>
          <a:off x="1875609" y="2488539"/>
          <a:ext cx="8440782" cy="1438070"/>
        </p:xfrm>
        <a:graphic>
          <a:graphicData uri="http://schemas.openxmlformats.org/drawingml/2006/table">
            <a:tbl>
              <a:tblPr firstRow="1" bandRow="1">
                <a:tableStyleId>{5A111915-BE36-4E01-A7E5-04B1672EAD32}</a:tableStyleId>
              </a:tblPr>
              <a:tblGrid>
                <a:gridCol w="3820342">
                  <a:extLst>
                    <a:ext uri="{9D8B030D-6E8A-4147-A177-3AD203B41FA5}">
                      <a16:colId xmlns:a16="http://schemas.microsoft.com/office/drawing/2014/main" val="1037980559"/>
                    </a:ext>
                  </a:extLst>
                </a:gridCol>
                <a:gridCol w="924088">
                  <a:extLst>
                    <a:ext uri="{9D8B030D-6E8A-4147-A177-3AD203B41FA5}">
                      <a16:colId xmlns:a16="http://schemas.microsoft.com/office/drawing/2014/main" val="1414479321"/>
                    </a:ext>
                  </a:extLst>
                </a:gridCol>
                <a:gridCol w="924088">
                  <a:extLst>
                    <a:ext uri="{9D8B030D-6E8A-4147-A177-3AD203B41FA5}">
                      <a16:colId xmlns:a16="http://schemas.microsoft.com/office/drawing/2014/main" val="1936309375"/>
                    </a:ext>
                  </a:extLst>
                </a:gridCol>
                <a:gridCol w="924088">
                  <a:extLst>
                    <a:ext uri="{9D8B030D-6E8A-4147-A177-3AD203B41FA5}">
                      <a16:colId xmlns:a16="http://schemas.microsoft.com/office/drawing/2014/main" val="1072593135"/>
                    </a:ext>
                  </a:extLst>
                </a:gridCol>
                <a:gridCol w="924088">
                  <a:extLst>
                    <a:ext uri="{9D8B030D-6E8A-4147-A177-3AD203B41FA5}">
                      <a16:colId xmlns:a16="http://schemas.microsoft.com/office/drawing/2014/main" val="2617543454"/>
                    </a:ext>
                  </a:extLst>
                </a:gridCol>
                <a:gridCol w="924088">
                  <a:extLst>
                    <a:ext uri="{9D8B030D-6E8A-4147-A177-3AD203B41FA5}">
                      <a16:colId xmlns:a16="http://schemas.microsoft.com/office/drawing/2014/main" val="1179776664"/>
                    </a:ext>
                  </a:extLst>
                </a:gridCol>
              </a:tblGrid>
              <a:tr h="719035">
                <a:tc>
                  <a:txBody>
                    <a:bodyPr/>
                    <a:lstStyle/>
                    <a:p>
                      <a:pPr algn="ctr"/>
                      <a:r>
                        <a:rPr lang="en-AU" sz="1800" b="1">
                          <a:solidFill>
                            <a:schemeClr val="bg1"/>
                          </a:solidFill>
                          <a:latin typeface="Arial" panose="020B0604020202020204" pitchFamily="34" charset="0"/>
                          <a:cs typeface="Arial" panose="020B0604020202020204" pitchFamily="34" charset="0"/>
                        </a:rPr>
                        <a:t>Length across river (metres)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r>
                        <a:rPr lang="en-AU" sz="1800" b="0">
                          <a:solidFill>
                            <a:schemeClr val="tx1"/>
                          </a:solidFill>
                          <a:latin typeface="Arial" panose="020B0604020202020204" pitchFamily="34" charset="0"/>
                          <a:cs typeface="Arial" panose="020B0604020202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1800" b="0">
                          <a:solidFill>
                            <a:schemeClr val="tx1"/>
                          </a:solidFill>
                          <a:latin typeface="Arial" panose="020B0604020202020204" pitchFamily="34" charset="0"/>
                          <a:cs typeface="Arial" panose="020B060402020202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1800" b="0">
                          <a:solidFill>
                            <a:schemeClr val="tx1"/>
                          </a:solidFill>
                          <a:latin typeface="Arial" panose="020B0604020202020204" pitchFamily="34" charset="0"/>
                          <a:cs typeface="Arial" panose="020B060402020202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1800" b="0">
                          <a:solidFill>
                            <a:schemeClr val="tx1"/>
                          </a:solidFill>
                          <a:latin typeface="Arial" panose="020B0604020202020204" pitchFamily="34" charset="0"/>
                          <a:cs typeface="Arial" panose="020B060402020202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AU" sz="1800" b="0">
                          <a:solidFill>
                            <a:schemeClr val="tx1"/>
                          </a:solidFill>
                          <a:latin typeface="Arial" panose="020B0604020202020204" pitchFamily="34" charset="0"/>
                          <a:cs typeface="Arial" panose="020B0604020202020204" pitchFamily="34"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46536183"/>
                  </a:ext>
                </a:extLst>
              </a:tr>
              <a:tr h="719035">
                <a:tc>
                  <a:txBody>
                    <a:bodyPr/>
                    <a:lstStyle/>
                    <a:p>
                      <a:pPr algn="ctr"/>
                      <a:r>
                        <a:rPr lang="en-AU" sz="1800" b="1">
                          <a:solidFill>
                            <a:schemeClr val="bg1"/>
                          </a:solidFill>
                          <a:latin typeface="Arial" panose="020B0604020202020204" pitchFamily="34" charset="0"/>
                          <a:cs typeface="Arial" panose="020B0604020202020204" pitchFamily="34" charset="0"/>
                        </a:rPr>
                        <a:t>Length of wood need for crossing (metres)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r>
                        <a:rPr lang="en-AU" sz="1800" b="0">
                          <a:latin typeface="Arial" panose="020B0604020202020204" pitchFamily="34" charset="0"/>
                          <a:cs typeface="Arial" panose="020B060402020202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1800" b="0">
                          <a:latin typeface="Arial" panose="020B0604020202020204" pitchFamily="34" charset="0"/>
                          <a:cs typeface="Arial" panose="020B0604020202020204" pitchFamily="34"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1800" b="0">
                          <a:latin typeface="Arial" panose="020B0604020202020204" pitchFamily="34" charset="0"/>
                          <a:cs typeface="Arial" panose="020B0604020202020204" pitchFamily="34"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1800" b="0">
                          <a:latin typeface="Arial" panose="020B0604020202020204" pitchFamily="34" charset="0"/>
                          <a:cs typeface="Arial" panose="020B0604020202020204" pitchFamily="34"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sz="1800" b="0">
                          <a:latin typeface="Arial" panose="020B0604020202020204" pitchFamily="34" charset="0"/>
                          <a:cs typeface="Arial" panose="020B0604020202020204" pitchFamily="34" charset="0"/>
                        </a:rPr>
                        <a:t>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9409323"/>
                  </a:ext>
                </a:extLst>
              </a:tr>
            </a:tbl>
          </a:graphicData>
        </a:graphic>
      </p:graphicFrame>
      <p:graphicFrame>
        <p:nvGraphicFramePr>
          <p:cNvPr id="7" name="Table 6">
            <a:extLst>
              <a:ext uri="{FF2B5EF4-FFF2-40B4-BE49-F238E27FC236}">
                <a16:creationId xmlns:a16="http://schemas.microsoft.com/office/drawing/2014/main" id="{BB8C3A72-C0BA-54DF-3200-F78109A05CA9}"/>
              </a:ext>
            </a:extLst>
          </p:cNvPr>
          <p:cNvGraphicFramePr>
            <a:graphicFrameLocks noGrp="1"/>
          </p:cNvGraphicFramePr>
          <p:nvPr>
            <p:extLst>
              <p:ext uri="{D42A27DB-BD31-4B8C-83A1-F6EECF244321}">
                <p14:modId xmlns:p14="http://schemas.microsoft.com/office/powerpoint/2010/main" val="2371991617"/>
              </p:ext>
            </p:extLst>
          </p:nvPr>
        </p:nvGraphicFramePr>
        <p:xfrm>
          <a:off x="833300" y="4118266"/>
          <a:ext cx="10525400" cy="2498840"/>
        </p:xfrm>
        <a:graphic>
          <a:graphicData uri="http://schemas.openxmlformats.org/drawingml/2006/table">
            <a:tbl>
              <a:tblPr firstRow="1" bandRow="1">
                <a:tableStyleId>{5A111915-BE36-4E01-A7E5-04B1672EAD32}</a:tableStyleId>
              </a:tblPr>
              <a:tblGrid>
                <a:gridCol w="3068535">
                  <a:extLst>
                    <a:ext uri="{9D8B030D-6E8A-4147-A177-3AD203B41FA5}">
                      <a16:colId xmlns:a16="http://schemas.microsoft.com/office/drawing/2014/main" val="1037980559"/>
                    </a:ext>
                  </a:extLst>
                </a:gridCol>
                <a:gridCol w="1491373">
                  <a:extLst>
                    <a:ext uri="{9D8B030D-6E8A-4147-A177-3AD203B41FA5}">
                      <a16:colId xmlns:a16="http://schemas.microsoft.com/office/drawing/2014/main" val="1414479321"/>
                    </a:ext>
                  </a:extLst>
                </a:gridCol>
                <a:gridCol w="1491373">
                  <a:extLst>
                    <a:ext uri="{9D8B030D-6E8A-4147-A177-3AD203B41FA5}">
                      <a16:colId xmlns:a16="http://schemas.microsoft.com/office/drawing/2014/main" val="1936309375"/>
                    </a:ext>
                  </a:extLst>
                </a:gridCol>
                <a:gridCol w="1491373">
                  <a:extLst>
                    <a:ext uri="{9D8B030D-6E8A-4147-A177-3AD203B41FA5}">
                      <a16:colId xmlns:a16="http://schemas.microsoft.com/office/drawing/2014/main" val="1072593135"/>
                    </a:ext>
                  </a:extLst>
                </a:gridCol>
                <a:gridCol w="1491373">
                  <a:extLst>
                    <a:ext uri="{9D8B030D-6E8A-4147-A177-3AD203B41FA5}">
                      <a16:colId xmlns:a16="http://schemas.microsoft.com/office/drawing/2014/main" val="2617543454"/>
                    </a:ext>
                  </a:extLst>
                </a:gridCol>
                <a:gridCol w="1491373">
                  <a:extLst>
                    <a:ext uri="{9D8B030D-6E8A-4147-A177-3AD203B41FA5}">
                      <a16:colId xmlns:a16="http://schemas.microsoft.com/office/drawing/2014/main" val="1179776664"/>
                    </a:ext>
                  </a:extLst>
                </a:gridCol>
              </a:tblGrid>
              <a:tr h="1249420">
                <a:tc>
                  <a:txBody>
                    <a:bodyPr/>
                    <a:lstStyle/>
                    <a:p>
                      <a:pPr algn="ctr"/>
                      <a:endParaRPr lang="en-AU" sz="2400" b="1">
                        <a:solidFill>
                          <a:schemeClr val="bg1"/>
                        </a:solidFill>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a:endParaRPr lang="en-AU" sz="2400" b="0">
                        <a:solidFill>
                          <a:schemeClr val="tx1"/>
                        </a:solidFill>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AU" sz="2400" b="0">
                        <a:solidFill>
                          <a:schemeClr val="tx1"/>
                        </a:solidFill>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AU" sz="2400" b="0">
                        <a:solidFill>
                          <a:schemeClr val="tx1"/>
                        </a:solidFill>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AU" sz="2400" b="0">
                        <a:solidFill>
                          <a:schemeClr val="tx1"/>
                        </a:solidFill>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AU" sz="2400" b="0">
                        <a:solidFill>
                          <a:schemeClr val="tx1"/>
                        </a:solidFill>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46536183"/>
                  </a:ext>
                </a:extLst>
              </a:tr>
              <a:tr h="1249420">
                <a:tc>
                  <a:txBody>
                    <a:bodyPr/>
                    <a:lstStyle/>
                    <a:p>
                      <a:pPr algn="ctr"/>
                      <a:endParaRPr lang="en-AU" sz="2400" b="1">
                        <a:solidFill>
                          <a:schemeClr val="bg1"/>
                        </a:solidFill>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algn="ctr"/>
                      <a:endParaRPr lang="en-AU" sz="2400" b="0">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2400" b="0">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2400" b="0">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2400" b="0">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AU" sz="2400" b="0">
                        <a:latin typeface="Arial"/>
                        <a:cs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9409323"/>
                  </a:ext>
                </a:extLst>
              </a:tr>
            </a:tbl>
          </a:graphicData>
        </a:graphic>
      </p:graphicFrame>
      <p:pic>
        <p:nvPicPr>
          <p:cNvPr id="4" name="Picture 3">
            <a:extLst>
              <a:ext uri="{FF2B5EF4-FFF2-40B4-BE49-F238E27FC236}">
                <a16:creationId xmlns:a16="http://schemas.microsoft.com/office/drawing/2014/main" id="{A43A6869-C067-0F7B-A324-667A71E8372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(3)</a:t>
            </a:r>
          </a:p>
        </p:txBody>
      </p:sp>
      <p:pic>
        <p:nvPicPr>
          <p:cNvPr id="4" name="Picture 3">
            <a:extLst>
              <a:ext uri="{FF2B5EF4-FFF2-40B4-BE49-F238E27FC236}">
                <a16:creationId xmlns:a16="http://schemas.microsoft.com/office/drawing/2014/main" id="{052C7F21-CF1B-B8E5-D48F-252B3A5306C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6" name="Text Placeholder 15">
            <a:extLst>
              <a:ext uri="{FF2B5EF4-FFF2-40B4-BE49-F238E27FC236}">
                <a16:creationId xmlns:a16="http://schemas.microsoft.com/office/drawing/2014/main" id="{91D1CE50-DF1B-4C13-506B-E3027998F50C}"/>
              </a:ext>
            </a:extLst>
          </p:cNvPr>
          <p:cNvSpPr>
            <a:spLocks noGrp="1"/>
          </p:cNvSpPr>
          <p:nvPr>
            <p:ph type="body" sz="quarter" idx="24"/>
          </p:nvPr>
        </p:nvSpPr>
        <p:spPr/>
        <p:txBody>
          <a:bodyPr/>
          <a:lstStyle/>
          <a:p>
            <a:pPr algn="ctr"/>
            <a:r>
              <a:rPr lang="en-AU" sz="4400"/>
              <a:t>Which dot is </a:t>
            </a:r>
            <a:r>
              <a:rPr lang="en-AU" sz="4400" b="1"/>
              <a:t>closest to zero</a:t>
            </a:r>
            <a:r>
              <a:rPr lang="en-AU" sz="4400"/>
              <a:t>?</a:t>
            </a:r>
          </a:p>
        </p:txBody>
      </p:sp>
      <p:pic>
        <p:nvPicPr>
          <p:cNvPr id="21" name="Picture 20" descr="A horizontal number line marked from −6 to 6 with evenly spaced tick marks and arrows at both ends. Four coloured points are shown above the line: a blue point at −2, a green point at −1, a purple point at 2, and an orange point at 6, each connected to the number line by a vertical line.">
            <a:extLst>
              <a:ext uri="{FF2B5EF4-FFF2-40B4-BE49-F238E27FC236}">
                <a16:creationId xmlns:a16="http://schemas.microsoft.com/office/drawing/2014/main" id="{D6179B75-8A05-5877-A65F-5EC9AB58DE05}"/>
              </a:ext>
            </a:extLst>
          </p:cNvPr>
          <p:cNvPicPr>
            <a:picLocks noChangeAspect="1"/>
          </p:cNvPicPr>
          <p:nvPr/>
        </p:nvPicPr>
        <p:blipFill>
          <a:blip r:embed="rId4"/>
          <a:stretch>
            <a:fillRect/>
          </a:stretch>
        </p:blipFill>
        <p:spPr>
          <a:xfrm>
            <a:off x="2219429" y="2716133"/>
            <a:ext cx="7753141" cy="2134122"/>
          </a:xfrm>
          <a:prstGeom prst="rect">
            <a:avLst/>
          </a:prstGeom>
        </p:spPr>
      </p:pic>
      <p:sp>
        <p:nvSpPr>
          <p:cNvPr id="9" name="TextBox 8">
            <a:extLst>
              <a:ext uri="{FF2B5EF4-FFF2-40B4-BE49-F238E27FC236}">
                <a16:creationId xmlns:a16="http://schemas.microsoft.com/office/drawing/2014/main" id="{4E6EA9CC-6235-8807-420B-A4371AC418C0}"/>
              </a:ext>
            </a:extLst>
          </p:cNvPr>
          <p:cNvSpPr txBox="1"/>
          <p:nvPr/>
        </p:nvSpPr>
        <p:spPr>
          <a:xfrm>
            <a:off x="1266559" y="543329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22" name="Oval 21" descr="Blue dot">
            <a:extLst>
              <a:ext uri="{FF2B5EF4-FFF2-40B4-BE49-F238E27FC236}">
                <a16:creationId xmlns:a16="http://schemas.microsoft.com/office/drawing/2014/main" id="{61D51418-9CB6-E0FD-982A-00EAB92F8914}"/>
              </a:ext>
            </a:extLst>
          </p:cNvPr>
          <p:cNvSpPr/>
          <p:nvPr/>
        </p:nvSpPr>
        <p:spPr>
          <a:xfrm>
            <a:off x="1283946" y="6246205"/>
            <a:ext cx="449795" cy="449795"/>
          </a:xfrm>
          <a:prstGeom prst="ellipse">
            <a:avLst/>
          </a:prstGeom>
          <a:solidFill>
            <a:srgbClr val="0D99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4AB24A3E-5574-D79C-6A0F-06D3F8A29BB1}"/>
              </a:ext>
            </a:extLst>
          </p:cNvPr>
          <p:cNvSpPr txBox="1"/>
          <p:nvPr/>
        </p:nvSpPr>
        <p:spPr>
          <a:xfrm>
            <a:off x="4270532" y="543329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23" name="Oval 22" descr="Green dot">
            <a:extLst>
              <a:ext uri="{FF2B5EF4-FFF2-40B4-BE49-F238E27FC236}">
                <a16:creationId xmlns:a16="http://schemas.microsoft.com/office/drawing/2014/main" id="{571F5AD4-AD4E-B083-6FC8-B38D52F9D34D}"/>
              </a:ext>
            </a:extLst>
          </p:cNvPr>
          <p:cNvSpPr/>
          <p:nvPr/>
        </p:nvSpPr>
        <p:spPr>
          <a:xfrm>
            <a:off x="4265729" y="6246205"/>
            <a:ext cx="449795" cy="449795"/>
          </a:xfrm>
          <a:prstGeom prst="ellipse">
            <a:avLst/>
          </a:prstGeom>
          <a:solidFill>
            <a:srgbClr val="00BF6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TextBox 11">
            <a:extLst>
              <a:ext uri="{FF2B5EF4-FFF2-40B4-BE49-F238E27FC236}">
                <a16:creationId xmlns:a16="http://schemas.microsoft.com/office/drawing/2014/main" id="{D92289C6-858E-E449-16B6-10640E9A4385}"/>
              </a:ext>
            </a:extLst>
          </p:cNvPr>
          <p:cNvSpPr txBox="1"/>
          <p:nvPr/>
        </p:nvSpPr>
        <p:spPr>
          <a:xfrm>
            <a:off x="7274505" y="543329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24" name="Oval 23" descr="Purple dot">
            <a:extLst>
              <a:ext uri="{FF2B5EF4-FFF2-40B4-BE49-F238E27FC236}">
                <a16:creationId xmlns:a16="http://schemas.microsoft.com/office/drawing/2014/main" id="{5EB5FA3A-D58F-4730-A982-EBC3BA4AAA5F}"/>
              </a:ext>
            </a:extLst>
          </p:cNvPr>
          <p:cNvSpPr/>
          <p:nvPr/>
        </p:nvSpPr>
        <p:spPr>
          <a:xfrm>
            <a:off x="7247512" y="6246205"/>
            <a:ext cx="449795" cy="449795"/>
          </a:xfrm>
          <a:prstGeom prst="ellipse">
            <a:avLst/>
          </a:prstGeom>
          <a:solidFill>
            <a:srgbClr val="8C52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TextBox 10">
            <a:extLst>
              <a:ext uri="{FF2B5EF4-FFF2-40B4-BE49-F238E27FC236}">
                <a16:creationId xmlns:a16="http://schemas.microsoft.com/office/drawing/2014/main" id="{C22AC239-77AC-A298-F7CD-0F89091EC017}"/>
              </a:ext>
            </a:extLst>
          </p:cNvPr>
          <p:cNvSpPr txBox="1"/>
          <p:nvPr/>
        </p:nvSpPr>
        <p:spPr>
          <a:xfrm>
            <a:off x="10278479" y="543329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5" name="Oval 24" descr="Orange dot">
            <a:extLst>
              <a:ext uri="{FF2B5EF4-FFF2-40B4-BE49-F238E27FC236}">
                <a16:creationId xmlns:a16="http://schemas.microsoft.com/office/drawing/2014/main" id="{3AC21531-9E08-5770-5DC9-EFB0F4EC3E94}"/>
              </a:ext>
            </a:extLst>
          </p:cNvPr>
          <p:cNvSpPr/>
          <p:nvPr/>
        </p:nvSpPr>
        <p:spPr>
          <a:xfrm>
            <a:off x="10229294" y="6246205"/>
            <a:ext cx="449795" cy="449795"/>
          </a:xfrm>
          <a:prstGeom prst="ellipse">
            <a:avLst/>
          </a:prstGeom>
          <a:solidFill>
            <a:srgbClr val="FF751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Slide Number Placeholder 1">
            <a:extLst>
              <a:ext uri="{FF2B5EF4-FFF2-40B4-BE49-F238E27FC236}">
                <a16:creationId xmlns:a16="http://schemas.microsoft.com/office/drawing/2014/main" id="{29BCC904-C834-E490-B334-2E65478E2C6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sp>
        <p:nvSpPr>
          <p:cNvPr id="11" name="TextBox 10">
            <a:extLst>
              <a:ext uri="{FF2B5EF4-FFF2-40B4-BE49-F238E27FC236}">
                <a16:creationId xmlns:a16="http://schemas.microsoft.com/office/drawing/2014/main" id="{A1AA6A8B-2E6A-5B6F-F256-E8E7874E2D53}"/>
              </a:ext>
            </a:extLst>
          </p:cNvPr>
          <p:cNvSpPr txBox="1"/>
          <p:nvPr/>
        </p:nvSpPr>
        <p:spPr>
          <a:xfrm>
            <a:off x="246024" y="1184223"/>
            <a:ext cx="6119426" cy="5155080"/>
          </a:xfrm>
          <a:prstGeom prst="rect">
            <a:avLst/>
          </a:prstGeom>
          <a:noFill/>
        </p:spPr>
        <p:txBody>
          <a:bodyPr wrap="square" lIns="0" tIns="0" rIns="0" bIns="0" rtlCol="0">
            <a:noAutofit/>
          </a:bodyPr>
          <a:lstStyle/>
          <a:p>
            <a:pPr algn="ctr">
              <a:lnSpc>
                <a:spcPct val="150000"/>
              </a:lnSpc>
              <a:spcAft>
                <a:spcPts val="600"/>
              </a:spcAft>
            </a:pPr>
            <a:r>
              <a:rPr lang="en-AU" sz="4400" b="1" dirty="0"/>
              <a:t>Draw</a:t>
            </a:r>
            <a:r>
              <a:rPr lang="en-AU" sz="4400" dirty="0"/>
              <a:t> 3 different ways this </a:t>
            </a:r>
            <a:r>
              <a:rPr lang="en-AU" sz="4400" b="1" dirty="0"/>
              <a:t>composite L-shape </a:t>
            </a:r>
            <a:r>
              <a:rPr lang="en-AU" sz="4400" dirty="0"/>
              <a:t>could be </a:t>
            </a:r>
            <a:r>
              <a:rPr lang="en-AU" sz="4400" b="1" dirty="0"/>
              <a:t>dissected</a:t>
            </a:r>
            <a:r>
              <a:rPr lang="en-AU" sz="4400" dirty="0"/>
              <a:t> to </a:t>
            </a:r>
            <a:r>
              <a:rPr lang="en-AU" sz="4400" b="1" dirty="0"/>
              <a:t>calculate</a:t>
            </a:r>
            <a:r>
              <a:rPr lang="en-AU" sz="4400" dirty="0"/>
              <a:t> its </a:t>
            </a:r>
            <a:r>
              <a:rPr lang="en-AU" sz="4400" b="1" dirty="0"/>
              <a:t>area</a:t>
            </a:r>
            <a:r>
              <a:rPr lang="en-AU" sz="4400" dirty="0"/>
              <a:t>.</a:t>
            </a:r>
            <a:endParaRPr lang="en-AU" sz="4400" b="1" dirty="0"/>
          </a:p>
          <a:p>
            <a:pPr algn="ctr">
              <a:lnSpc>
                <a:spcPct val="150000"/>
              </a:lnSpc>
              <a:spcAft>
                <a:spcPts val="600"/>
              </a:spcAft>
            </a:pPr>
            <a:r>
              <a:rPr lang="en-AU" sz="1800" dirty="0"/>
              <a:t> </a:t>
            </a:r>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pic>
        <p:nvPicPr>
          <p:cNvPr id="5" name="Picture 4" descr="An L shape.  Starting at the bottom left, the shape goes up, then right across the top, down partway, right again, down to the bottom, and then left back to the starting point, forming an L-shaped outline.">
            <a:extLst>
              <a:ext uri="{FF2B5EF4-FFF2-40B4-BE49-F238E27FC236}">
                <a16:creationId xmlns:a16="http://schemas.microsoft.com/office/drawing/2014/main" id="{AECF4718-671A-4638-243D-33168BB12FA2}"/>
              </a:ext>
            </a:extLst>
          </p:cNvPr>
          <p:cNvPicPr>
            <a:picLocks noChangeAspect="1"/>
          </p:cNvPicPr>
          <p:nvPr/>
        </p:nvPicPr>
        <p:blipFill>
          <a:blip r:embed="rId4">
            <a:extLst>
              <a:ext uri="{28A0092B-C50C-407E-A947-70E740481C1C}">
                <a14:useLocalDpi xmlns:a14="http://schemas.microsoft.com/office/drawing/2010/main" val="0"/>
              </a:ext>
            </a:extLst>
          </a:blip>
          <a:srcRect l="11544" t="17268" r="35269" b="36181"/>
          <a:stretch>
            <a:fillRect/>
          </a:stretch>
        </p:blipFill>
        <p:spPr>
          <a:xfrm>
            <a:off x="6627426" y="2052611"/>
            <a:ext cx="5158920" cy="319248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sp>
        <p:nvSpPr>
          <p:cNvPr id="7" name="TextBox 6">
            <a:extLst>
              <a:ext uri="{FF2B5EF4-FFF2-40B4-BE49-F238E27FC236}">
                <a16:creationId xmlns:a16="http://schemas.microsoft.com/office/drawing/2014/main" id="{2C0A35F9-7ED4-EC95-8486-54D9959E1924}"/>
              </a:ext>
            </a:extLst>
          </p:cNvPr>
          <p:cNvSpPr txBox="1"/>
          <p:nvPr/>
        </p:nvSpPr>
        <p:spPr>
          <a:xfrm>
            <a:off x="246024" y="1016401"/>
            <a:ext cx="11566566" cy="766908"/>
          </a:xfrm>
          <a:prstGeom prst="rect">
            <a:avLst/>
          </a:prstGeom>
          <a:noFill/>
        </p:spPr>
        <p:txBody>
          <a:bodyPr wrap="square" lIns="0" tIns="0" rIns="0" bIns="0" rtlCol="0">
            <a:noAutofit/>
          </a:bodyPr>
          <a:lstStyle/>
          <a:p>
            <a:pPr algn="ctr"/>
            <a:r>
              <a:rPr lang="en-AU" sz="4400" dirty="0"/>
              <a:t>Use this </a:t>
            </a:r>
            <a:r>
              <a:rPr lang="en-AU" sz="4400" b="1" dirty="0"/>
              <a:t>area model </a:t>
            </a:r>
            <a:r>
              <a:rPr lang="en-AU" sz="4400" dirty="0"/>
              <a:t>to help </a:t>
            </a:r>
            <a:r>
              <a:rPr lang="en-AU" sz="4400" b="1" dirty="0"/>
              <a:t>solve </a:t>
            </a:r>
            <a:r>
              <a:rPr lang="en-AU" sz="4400" dirty="0"/>
              <a:t>this </a:t>
            </a:r>
            <a:r>
              <a:rPr lang="en-AU" sz="4400" b="1" dirty="0"/>
              <a:t>algorithm</a:t>
            </a:r>
            <a:r>
              <a:rPr lang="en-AU" sz="4400" dirty="0"/>
              <a:t>.</a:t>
            </a:r>
            <a:endParaRPr lang="en-AU" sz="4400" b="1" dirty="0"/>
          </a:p>
          <a:p>
            <a:pPr algn="ctr"/>
            <a:r>
              <a:rPr lang="en-AU" sz="1800" dirty="0"/>
              <a:t> </a:t>
            </a:r>
          </a:p>
        </p:txBody>
      </p:sp>
      <p:pic>
        <p:nvPicPr>
          <p:cNvPr id="8" name="Picture 7" descr="Area model for 56 by 23.">
            <a:extLst>
              <a:ext uri="{FF2B5EF4-FFF2-40B4-BE49-F238E27FC236}">
                <a16:creationId xmlns:a16="http://schemas.microsoft.com/office/drawing/2014/main" id="{76EAEAA4-EEE4-8926-43BF-3A4B3DB192AE}"/>
              </a:ext>
            </a:extLst>
          </p:cNvPr>
          <p:cNvPicPr>
            <a:picLocks noChangeAspect="1"/>
          </p:cNvPicPr>
          <p:nvPr/>
        </p:nvPicPr>
        <p:blipFill>
          <a:blip r:embed="rId3"/>
          <a:srcRect l="3904" t="7834" r="8765" b="7834"/>
          <a:stretch>
            <a:fillRect/>
          </a:stretch>
        </p:blipFill>
        <p:spPr>
          <a:xfrm>
            <a:off x="855024" y="2661017"/>
            <a:ext cx="4335492" cy="3836983"/>
          </a:xfrm>
          <a:prstGeom prst="rect">
            <a:avLst/>
          </a:prstGeom>
          <a:solidFill>
            <a:schemeClr val="bg1"/>
          </a:solidFill>
          <a:ln>
            <a:noFill/>
          </a:ln>
          <a:effectLst>
            <a:outerShdw blurRad="292100" dist="139700" dir="2700000" algn="tl" rotWithShape="0">
              <a:srgbClr val="333333">
                <a:alpha val="65000"/>
              </a:srgbClr>
            </a:outerShdw>
          </a:effectLst>
        </p:spPr>
      </p:pic>
      <p:pic>
        <p:nvPicPr>
          <p:cNvPr id="10" name="Picture 9" descr="Algorithm beginning for 56 by 23.">
            <a:extLst>
              <a:ext uri="{FF2B5EF4-FFF2-40B4-BE49-F238E27FC236}">
                <a16:creationId xmlns:a16="http://schemas.microsoft.com/office/drawing/2014/main" id="{D60FDF47-B0DF-D70C-15F3-7E8C90F64861}"/>
              </a:ext>
            </a:extLst>
          </p:cNvPr>
          <p:cNvPicPr>
            <a:picLocks noChangeAspect="1"/>
          </p:cNvPicPr>
          <p:nvPr/>
        </p:nvPicPr>
        <p:blipFill>
          <a:blip r:embed="rId4"/>
          <a:stretch>
            <a:fillRect/>
          </a:stretch>
        </p:blipFill>
        <p:spPr>
          <a:xfrm>
            <a:off x="7667030" y="2661017"/>
            <a:ext cx="2829320" cy="1714739"/>
          </a:xfrm>
          <a:prstGeom prst="rect">
            <a:avLst/>
          </a:prstGeom>
        </p:spPr>
      </p:pic>
      <p:pic>
        <p:nvPicPr>
          <p:cNvPr id="3" name="Picture 2">
            <a:extLst>
              <a:ext uri="{FF2B5EF4-FFF2-40B4-BE49-F238E27FC236}">
                <a16:creationId xmlns:a16="http://schemas.microsoft.com/office/drawing/2014/main" id="{E34FFB15-F7DE-0945-FB9C-D8A36F224B61}"/>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sp>
        <p:nvSpPr>
          <p:cNvPr id="5" name="Picture Placeholder 10">
            <a:extLst>
              <a:ext uri="{FF2B5EF4-FFF2-40B4-BE49-F238E27FC236}">
                <a16:creationId xmlns:a16="http://schemas.microsoft.com/office/drawing/2014/main" id="{68E6BF90-144D-54C2-E33C-2DF12AD2BBE7}"/>
              </a:ext>
            </a:extLst>
          </p:cNvPr>
          <p:cNvSpPr txBox="1">
            <a:spLocks/>
          </p:cNvSpPr>
          <p:nvPr/>
        </p:nvSpPr>
        <p:spPr>
          <a:xfrm>
            <a:off x="199677" y="934313"/>
            <a:ext cx="11662519" cy="203613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latin typeface="Arial"/>
                <a:cs typeface="Arial"/>
              </a:rPr>
              <a:t>What is the </a:t>
            </a:r>
            <a:r>
              <a:rPr lang="en-AU" sz="4400" b="1">
                <a:latin typeface="Arial"/>
                <a:cs typeface="Arial"/>
              </a:rPr>
              <a:t>total</a:t>
            </a:r>
            <a:r>
              <a:rPr lang="en-AU" sz="4400">
                <a:latin typeface="Arial"/>
                <a:cs typeface="Arial"/>
              </a:rPr>
              <a:t> of the </a:t>
            </a:r>
            <a:r>
              <a:rPr lang="en-AU" sz="4400" b="1">
                <a:latin typeface="Arial"/>
                <a:cs typeface="Arial"/>
              </a:rPr>
              <a:t>angles at a point </a:t>
            </a:r>
            <a:r>
              <a:rPr lang="en-AU" sz="4400">
                <a:latin typeface="Arial"/>
                <a:cs typeface="Arial"/>
              </a:rPr>
              <a:t>in this </a:t>
            </a:r>
            <a:r>
              <a:rPr lang="en-AU" sz="4400" b="1">
                <a:latin typeface="Arial"/>
                <a:cs typeface="Arial"/>
              </a:rPr>
              <a:t>diagram</a:t>
            </a:r>
            <a:r>
              <a:rPr lang="en-AU" sz="4400">
                <a:latin typeface="Arial"/>
                <a:cs typeface="Arial"/>
              </a:rPr>
              <a:t>?</a:t>
            </a:r>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grpSp>
        <p:nvGrpSpPr>
          <p:cNvPr id="4" name="Group 3" descr="A long horizontal light blue rectangle contains dark blue line segments arranged symmetrically from a point at the bottom centre.&#10;&#10;From this bottom centre point:&#10;&#10;one line goes straight up&#10;2 lines slope up to the left&#10;2 lines slope up to the right&#10;&#10;Other slanted lines cross these, creating several triangular regions on both sides.&#10;&#10;A red curved arc is drawn above the bottom centre point. It starts on the lower left side and ends on the lower right side, marking the angle formed between the outer left sloping line and the outer right sloping line. ">
            <a:extLst>
              <a:ext uri="{FF2B5EF4-FFF2-40B4-BE49-F238E27FC236}">
                <a16:creationId xmlns:a16="http://schemas.microsoft.com/office/drawing/2014/main" id="{359C7600-203C-CEE5-6BB1-68ECADA174C2}"/>
              </a:ext>
            </a:extLst>
          </p:cNvPr>
          <p:cNvGrpSpPr/>
          <p:nvPr/>
        </p:nvGrpSpPr>
        <p:grpSpPr>
          <a:xfrm>
            <a:off x="3108997" y="3192469"/>
            <a:ext cx="5974005" cy="2629211"/>
            <a:chOff x="3108997" y="3192469"/>
            <a:chExt cx="5974005" cy="2629211"/>
          </a:xfrm>
        </p:grpSpPr>
        <p:pic>
          <p:nvPicPr>
            <p:cNvPr id="12" name="Picture 11" descr="A light blue rectangle with dark blue line segments. A horizontal line runs along the bottom edge. A vertical line rises from the midpoint of the bottom edge to the top edge. From the same midpoint, several diagonal line segments fan out to the left and right. On each side, diagonal lines cross to form X shapes near the top half of the rectangle, with additional diagonal lines extending toward the upper corners and side edges.&#10;">
              <a:extLst>
                <a:ext uri="{FF2B5EF4-FFF2-40B4-BE49-F238E27FC236}">
                  <a16:creationId xmlns:a16="http://schemas.microsoft.com/office/drawing/2014/main" id="{F67F7C4C-9261-7CC4-9A59-AC42337D8154}"/>
                </a:ext>
              </a:extLst>
            </p:cNvPr>
            <p:cNvPicPr>
              <a:picLocks noChangeAspect="1"/>
            </p:cNvPicPr>
            <p:nvPr/>
          </p:nvPicPr>
          <p:blipFill>
            <a:blip r:embed="rId4"/>
            <a:srcRect l="51300" t="13496" r="2333" b="71134"/>
            <a:stretch>
              <a:fillRect/>
            </a:stretch>
          </p:blipFill>
          <p:spPr>
            <a:xfrm rot="10800000">
              <a:off x="3108997" y="3192469"/>
              <a:ext cx="5974005" cy="1991360"/>
            </a:xfrm>
            <a:prstGeom prst="rect">
              <a:avLst/>
            </a:prstGeom>
            <a:solidFill>
              <a:schemeClr val="bg1"/>
            </a:solidFill>
            <a:ln>
              <a:noFill/>
            </a:ln>
            <a:effectLst>
              <a:outerShdw blurRad="292100" dist="139700" dir="2700000" algn="tl" rotWithShape="0">
                <a:srgbClr val="333333">
                  <a:alpha val="65000"/>
                </a:srgbClr>
              </a:outerShdw>
            </a:effectLst>
          </p:spPr>
        </p:pic>
        <p:sp>
          <p:nvSpPr>
            <p:cNvPr id="11" name="Arc 10">
              <a:extLst>
                <a:ext uri="{FF2B5EF4-FFF2-40B4-BE49-F238E27FC236}">
                  <a16:creationId xmlns:a16="http://schemas.microsoft.com/office/drawing/2014/main" id="{85EE8AC3-D2F3-D679-60E6-3AC5D4142CC0}"/>
                </a:ext>
              </a:extLst>
            </p:cNvPr>
            <p:cNvSpPr/>
            <p:nvPr/>
          </p:nvSpPr>
          <p:spPr>
            <a:xfrm>
              <a:off x="5080976" y="4429760"/>
              <a:ext cx="1899920" cy="1391920"/>
            </a:xfrm>
            <a:prstGeom prst="arc">
              <a:avLst>
                <a:gd name="adj1" fmla="val 10784231"/>
                <a:gd name="adj2" fmla="val 0"/>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grpSp>
      <p:sp>
        <p:nvSpPr>
          <p:cNvPr id="10" name="TextBox 11">
            <a:extLst>
              <a:ext uri="{FF2B5EF4-FFF2-40B4-BE49-F238E27FC236}">
                <a16:creationId xmlns:a16="http://schemas.microsoft.com/office/drawing/2014/main" id="{5292458E-E0EA-67F4-186C-4436FD1AC805}"/>
              </a:ext>
            </a:extLst>
          </p:cNvPr>
          <p:cNvSpPr txBox="1"/>
          <p:nvPr/>
        </p:nvSpPr>
        <p:spPr>
          <a:xfrm>
            <a:off x="568574" y="6008209"/>
            <a:ext cx="11054852" cy="769441"/>
          </a:xfrm>
          <a:prstGeom prst="rect">
            <a:avLst/>
          </a:prstGeom>
          <a:noFill/>
        </p:spPr>
        <p:txBody>
          <a:bodyPr wrap="square">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4400" b="1" i="0" u="none" strike="noStrike" kern="1200" cap="none" spc="0" normalizeH="0" baseline="0" noProof="0">
                <a:ln>
                  <a:noFill/>
                </a:ln>
                <a:solidFill>
                  <a:srgbClr val="22272B"/>
                </a:solidFill>
                <a:effectLst/>
                <a:uLnTx/>
                <a:uFillTx/>
                <a:latin typeface="Arial"/>
                <a:ea typeface="+mn-ea"/>
                <a:cs typeface="Arial"/>
              </a:rPr>
              <a:t>Communicate </a:t>
            </a:r>
            <a:r>
              <a:rPr kumimoji="0" lang="en-US" sz="4400" b="0" i="0" u="none" strike="noStrike" kern="1200" cap="none" spc="0" normalizeH="0" baseline="0" noProof="0">
                <a:ln>
                  <a:noFill/>
                </a:ln>
                <a:solidFill>
                  <a:srgbClr val="22272B"/>
                </a:solidFill>
                <a:effectLst/>
                <a:uLnTx/>
                <a:uFillTx/>
                <a:latin typeface="Arial"/>
                <a:ea typeface="+mn-ea"/>
                <a:cs typeface="Arial"/>
              </a:rPr>
              <a:t>your</a:t>
            </a:r>
            <a:r>
              <a:rPr kumimoji="0" lang="en-US" sz="4400" b="1" i="0" u="none" strike="noStrike" kern="1200" cap="none" spc="0" normalizeH="0" baseline="0" noProof="0">
                <a:ln>
                  <a:noFill/>
                </a:ln>
                <a:solidFill>
                  <a:srgbClr val="22272B"/>
                </a:solidFill>
                <a:effectLst/>
                <a:uLnTx/>
                <a:uFillTx/>
                <a:latin typeface="Arial"/>
                <a:ea typeface="+mn-ea"/>
                <a:cs typeface="Arial"/>
              </a:rPr>
              <a:t> reasoning.</a:t>
            </a:r>
            <a:endParaRPr kumimoji="0" lang="en-US" sz="4400" b="0" i="0" u="none" strike="noStrike" kern="1200" cap="none" spc="0" normalizeH="0" baseline="0" noProof="0">
              <a:ln>
                <a:noFill/>
              </a:ln>
              <a:solidFill>
                <a:srgbClr val="22272B"/>
              </a:solidFill>
              <a:effectLst/>
              <a:uLnTx/>
              <a:uFillTx/>
              <a:latin typeface="Arial" panose="020B0604020202020204"/>
              <a:ea typeface="+mn-ea"/>
              <a:cs typeface="+mn-cs"/>
            </a:endParaRPr>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sp>
        <p:nvSpPr>
          <p:cNvPr id="22" name="Picture Placeholder 10">
            <a:extLst>
              <a:ext uri="{FF2B5EF4-FFF2-40B4-BE49-F238E27FC236}">
                <a16:creationId xmlns:a16="http://schemas.microsoft.com/office/drawing/2014/main" id="{24EF258E-15EA-F587-FCDD-AB4DE9DC0A99}"/>
              </a:ext>
            </a:extLst>
          </p:cNvPr>
          <p:cNvSpPr txBox="1">
            <a:spLocks/>
          </p:cNvSpPr>
          <p:nvPr/>
        </p:nvSpPr>
        <p:spPr>
          <a:xfrm>
            <a:off x="413019" y="1356237"/>
            <a:ext cx="6532676" cy="4503783"/>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latin typeface="Arial"/>
                <a:cs typeface="Arial"/>
              </a:rPr>
              <a:t>Identify</a:t>
            </a:r>
            <a:r>
              <a:rPr lang="en-AU" sz="4400">
                <a:latin typeface="Arial"/>
                <a:cs typeface="Arial"/>
              </a:rPr>
              <a:t> which triangle is:</a:t>
            </a:r>
          </a:p>
          <a:p>
            <a:pPr marL="571500" indent="-571500">
              <a:buFont typeface="Arial" panose="020B0604020202020204" pitchFamily="34" charset="0"/>
              <a:buChar char="•"/>
            </a:pPr>
            <a:r>
              <a:rPr lang="en-AU" sz="4400">
                <a:latin typeface="Arial"/>
                <a:cs typeface="Arial"/>
              </a:rPr>
              <a:t>equilateral</a:t>
            </a:r>
          </a:p>
          <a:p>
            <a:pPr marL="571500" indent="-571500">
              <a:buFont typeface="Arial" panose="020B0604020202020204" pitchFamily="34" charset="0"/>
              <a:buChar char="•"/>
            </a:pPr>
            <a:r>
              <a:rPr lang="en-AU" sz="4400">
                <a:latin typeface="Arial"/>
                <a:cs typeface="Arial"/>
              </a:rPr>
              <a:t>isosceles</a:t>
            </a:r>
          </a:p>
          <a:p>
            <a:pPr marL="571500" indent="-571500">
              <a:buFont typeface="Arial" panose="020B0604020202020204" pitchFamily="34" charset="0"/>
              <a:buChar char="•"/>
            </a:pPr>
            <a:r>
              <a:rPr lang="en-AU" sz="4400">
                <a:latin typeface="Arial"/>
                <a:cs typeface="Arial"/>
              </a:rPr>
              <a:t>scalene.</a:t>
            </a:r>
            <a:endParaRPr lang="en-US" sz="4400" b="1"/>
          </a:p>
        </p:txBody>
      </p:sp>
      <p:grpSp>
        <p:nvGrpSpPr>
          <p:cNvPr id="20" name="Group 19" descr="A. A triangle with three sides of different lengths and no equal angles.">
            <a:extLst>
              <a:ext uri="{FF2B5EF4-FFF2-40B4-BE49-F238E27FC236}">
                <a16:creationId xmlns:a16="http://schemas.microsoft.com/office/drawing/2014/main" id="{7F79C0D3-5088-8DB9-F71A-AC224667B7E2}"/>
              </a:ext>
            </a:extLst>
          </p:cNvPr>
          <p:cNvGrpSpPr/>
          <p:nvPr/>
        </p:nvGrpSpPr>
        <p:grpSpPr>
          <a:xfrm>
            <a:off x="7020261" y="905601"/>
            <a:ext cx="2540647" cy="2666866"/>
            <a:chOff x="1152144" y="2477327"/>
            <a:chExt cx="2540647" cy="2666866"/>
          </a:xfrm>
        </p:grpSpPr>
        <p:sp>
          <p:nvSpPr>
            <p:cNvPr id="8" name="Right Triangle 7">
              <a:extLst>
                <a:ext uri="{FF2B5EF4-FFF2-40B4-BE49-F238E27FC236}">
                  <a16:creationId xmlns:a16="http://schemas.microsoft.com/office/drawing/2014/main" id="{0BCE920D-33E1-F72B-D919-CF4CD159D19F}"/>
                </a:ext>
              </a:extLst>
            </p:cNvPr>
            <p:cNvSpPr/>
            <p:nvPr/>
          </p:nvSpPr>
          <p:spPr>
            <a:xfrm>
              <a:off x="1373539" y="2750128"/>
              <a:ext cx="2319252" cy="2394065"/>
            </a:xfrm>
            <a:custGeom>
              <a:avLst/>
              <a:gdLst>
                <a:gd name="csX0" fmla="*/ 0 w 2394065"/>
                <a:gd name="csY0" fmla="*/ 2394065 h 2394065"/>
                <a:gd name="csX1" fmla="*/ 0 w 2394065"/>
                <a:gd name="csY1" fmla="*/ 0 h 2394065"/>
                <a:gd name="csX2" fmla="*/ 2394065 w 2394065"/>
                <a:gd name="csY2" fmla="*/ 2394065 h 2394065"/>
                <a:gd name="csX3" fmla="*/ 0 w 2394065"/>
                <a:gd name="csY3" fmla="*/ 2394065 h 2394065"/>
                <a:gd name="csX0" fmla="*/ 0 w 3524596"/>
                <a:gd name="csY0" fmla="*/ 1147156 h 2394065"/>
                <a:gd name="csX1" fmla="*/ 1130531 w 3524596"/>
                <a:gd name="csY1" fmla="*/ 0 h 2394065"/>
                <a:gd name="csX2" fmla="*/ 3524596 w 3524596"/>
                <a:gd name="csY2" fmla="*/ 2394065 h 2394065"/>
                <a:gd name="csX3" fmla="*/ 0 w 3524596"/>
                <a:gd name="csY3" fmla="*/ 1147156 h 2394065"/>
                <a:gd name="csX0" fmla="*/ 0 w 3175462"/>
                <a:gd name="csY0" fmla="*/ 1147156 h 2394065"/>
                <a:gd name="csX1" fmla="*/ 781397 w 3175462"/>
                <a:gd name="csY1" fmla="*/ 0 h 2394065"/>
                <a:gd name="csX2" fmla="*/ 3175462 w 3175462"/>
                <a:gd name="csY2" fmla="*/ 2394065 h 2394065"/>
                <a:gd name="csX3" fmla="*/ 0 w 3175462"/>
                <a:gd name="csY3" fmla="*/ 1147156 h 2394065"/>
                <a:gd name="csX0" fmla="*/ 0 w 3141681"/>
                <a:gd name="csY0" fmla="*/ 1729047 h 2394065"/>
                <a:gd name="csX1" fmla="*/ 747616 w 3141681"/>
                <a:gd name="csY1" fmla="*/ 0 h 2394065"/>
                <a:gd name="csX2" fmla="*/ 3141681 w 3141681"/>
                <a:gd name="csY2" fmla="*/ 2394065 h 2394065"/>
                <a:gd name="csX3" fmla="*/ 0 w 3141681"/>
                <a:gd name="csY3" fmla="*/ 1729047 h 2394065"/>
              </a:gdLst>
              <a:ahLst/>
              <a:cxnLst>
                <a:cxn ang="0">
                  <a:pos x="csX0" y="csY0"/>
                </a:cxn>
                <a:cxn ang="0">
                  <a:pos x="csX1" y="csY1"/>
                </a:cxn>
                <a:cxn ang="0">
                  <a:pos x="csX2" y="csY2"/>
                </a:cxn>
                <a:cxn ang="0">
                  <a:pos x="csX3" y="csY3"/>
                </a:cxn>
              </a:cxnLst>
              <a:rect l="l" t="t" r="r" b="b"/>
              <a:pathLst>
                <a:path w="3141681" h="2394065">
                  <a:moveTo>
                    <a:pt x="0" y="1729047"/>
                  </a:moveTo>
                  <a:lnTo>
                    <a:pt x="747616" y="0"/>
                  </a:lnTo>
                  <a:lnTo>
                    <a:pt x="3141681" y="2394065"/>
                  </a:lnTo>
                  <a:lnTo>
                    <a:pt x="0" y="1729047"/>
                  </a:lnTo>
                  <a:close/>
                </a:path>
              </a:pathLst>
            </a:custGeom>
            <a:solidFill>
              <a:srgbClr val="CEB7FC"/>
            </a:solidFill>
            <a:ln>
              <a:solidFill>
                <a:srgbClr val="CEB7F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6" name="TextBox 15">
              <a:extLst>
                <a:ext uri="{FF2B5EF4-FFF2-40B4-BE49-F238E27FC236}">
                  <a16:creationId xmlns:a16="http://schemas.microsoft.com/office/drawing/2014/main" id="{D482534C-E5DB-5FB6-452C-DA1EF167822C}"/>
                </a:ext>
              </a:extLst>
            </p:cNvPr>
            <p:cNvSpPr txBox="1"/>
            <p:nvPr/>
          </p:nvSpPr>
          <p:spPr>
            <a:xfrm>
              <a:off x="1152144" y="2477327"/>
              <a:ext cx="795528" cy="545601"/>
            </a:xfrm>
            <a:prstGeom prst="rect">
              <a:avLst/>
            </a:prstGeom>
            <a:noFill/>
          </p:spPr>
          <p:txBody>
            <a:bodyPr wrap="square" lIns="0" tIns="0" rIns="0" bIns="0" rtlCol="0">
              <a:noAutofit/>
            </a:bodyPr>
            <a:lstStyle/>
            <a:p>
              <a:pPr algn="ctr"/>
              <a:r>
                <a:rPr lang="en-AU" sz="3600">
                  <a:latin typeface="Arial Black" panose="020B0A04020102020204" pitchFamily="34" charset="0"/>
                </a:rPr>
                <a:t>A.</a:t>
              </a:r>
            </a:p>
          </p:txBody>
        </p:sp>
      </p:grpSp>
      <p:grpSp>
        <p:nvGrpSpPr>
          <p:cNvPr id="19" name="Group 18" descr="B. A triangle with all three sides the same length and all three angles equal.">
            <a:extLst>
              <a:ext uri="{FF2B5EF4-FFF2-40B4-BE49-F238E27FC236}">
                <a16:creationId xmlns:a16="http://schemas.microsoft.com/office/drawing/2014/main" id="{6B93E4EF-4ACE-DD5C-B78A-1592B321417F}"/>
              </a:ext>
            </a:extLst>
          </p:cNvPr>
          <p:cNvGrpSpPr/>
          <p:nvPr/>
        </p:nvGrpSpPr>
        <p:grpSpPr>
          <a:xfrm>
            <a:off x="9218533" y="2442338"/>
            <a:ext cx="2862072" cy="2656777"/>
            <a:chOff x="4974336" y="1218673"/>
            <a:chExt cx="2862072" cy="2656777"/>
          </a:xfrm>
        </p:grpSpPr>
        <p:sp>
          <p:nvSpPr>
            <p:cNvPr id="13" name="Isosceles Triangle 12">
              <a:extLst>
                <a:ext uri="{FF2B5EF4-FFF2-40B4-BE49-F238E27FC236}">
                  <a16:creationId xmlns:a16="http://schemas.microsoft.com/office/drawing/2014/main" id="{EEAEEEBC-D703-759B-4F66-4F25FE437C7B}"/>
                </a:ext>
              </a:extLst>
            </p:cNvPr>
            <p:cNvSpPr/>
            <p:nvPr/>
          </p:nvSpPr>
          <p:spPr>
            <a:xfrm>
              <a:off x="4974336" y="1408147"/>
              <a:ext cx="2862072" cy="2467303"/>
            </a:xfrm>
            <a:prstGeom prst="triangle">
              <a:avLst/>
            </a:prstGeom>
            <a:solidFill>
              <a:srgbClr val="F37D76"/>
            </a:solidFill>
            <a:ln>
              <a:solidFill>
                <a:srgbClr val="F37D7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TextBox 16">
              <a:extLst>
                <a:ext uri="{FF2B5EF4-FFF2-40B4-BE49-F238E27FC236}">
                  <a16:creationId xmlns:a16="http://schemas.microsoft.com/office/drawing/2014/main" id="{2BEE3506-1BD4-5306-FDC5-B16C170E9421}"/>
                </a:ext>
              </a:extLst>
            </p:cNvPr>
            <p:cNvSpPr txBox="1"/>
            <p:nvPr/>
          </p:nvSpPr>
          <p:spPr>
            <a:xfrm>
              <a:off x="5543634" y="1218673"/>
              <a:ext cx="795528" cy="545601"/>
            </a:xfrm>
            <a:prstGeom prst="rect">
              <a:avLst/>
            </a:prstGeom>
            <a:noFill/>
          </p:spPr>
          <p:txBody>
            <a:bodyPr wrap="square" lIns="0" tIns="0" rIns="0" bIns="0" rtlCol="0">
              <a:noAutofit/>
            </a:bodyPr>
            <a:lstStyle/>
            <a:p>
              <a:pPr algn="ctr"/>
              <a:r>
                <a:rPr lang="en-AU" sz="3600">
                  <a:latin typeface="Arial Black" panose="020B0A04020102020204" pitchFamily="34" charset="0"/>
                </a:rPr>
                <a:t>B.</a:t>
              </a:r>
            </a:p>
          </p:txBody>
        </p:sp>
      </p:grpSp>
      <p:grpSp>
        <p:nvGrpSpPr>
          <p:cNvPr id="21" name="Group 20" descr="C. A triangle with two sides the same length and two equal angles, with a longer base.">
            <a:extLst>
              <a:ext uri="{FF2B5EF4-FFF2-40B4-BE49-F238E27FC236}">
                <a16:creationId xmlns:a16="http://schemas.microsoft.com/office/drawing/2014/main" id="{20736537-B3EA-F2C5-0041-D8DC76CAC469}"/>
              </a:ext>
            </a:extLst>
          </p:cNvPr>
          <p:cNvGrpSpPr/>
          <p:nvPr/>
        </p:nvGrpSpPr>
        <p:grpSpPr>
          <a:xfrm>
            <a:off x="6803934" y="4853534"/>
            <a:ext cx="4680066" cy="1752466"/>
            <a:chOff x="6999317" y="3697387"/>
            <a:chExt cx="4680066" cy="1752466"/>
          </a:xfrm>
        </p:grpSpPr>
        <p:sp>
          <p:nvSpPr>
            <p:cNvPr id="9" name="Isosceles Triangle 8">
              <a:extLst>
                <a:ext uri="{FF2B5EF4-FFF2-40B4-BE49-F238E27FC236}">
                  <a16:creationId xmlns:a16="http://schemas.microsoft.com/office/drawing/2014/main" id="{B2ADB39B-5278-95A9-A1AE-C1156BDB32F4}"/>
                </a:ext>
              </a:extLst>
            </p:cNvPr>
            <p:cNvSpPr/>
            <p:nvPr/>
          </p:nvSpPr>
          <p:spPr>
            <a:xfrm>
              <a:off x="6999317" y="4064924"/>
              <a:ext cx="4680066" cy="1384929"/>
            </a:xfrm>
            <a:prstGeom prst="triangle">
              <a:avLst/>
            </a:prstGeom>
            <a:solidFill>
              <a:srgbClr val="87B4F0"/>
            </a:solidFill>
            <a:ln>
              <a:solidFill>
                <a:srgbClr val="87B4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TextBox 17">
              <a:extLst>
                <a:ext uri="{FF2B5EF4-FFF2-40B4-BE49-F238E27FC236}">
                  <a16:creationId xmlns:a16="http://schemas.microsoft.com/office/drawing/2014/main" id="{846A779C-139B-2977-DD2A-04B92A0C4F09}"/>
                </a:ext>
              </a:extLst>
            </p:cNvPr>
            <p:cNvSpPr txBox="1"/>
            <p:nvPr/>
          </p:nvSpPr>
          <p:spPr>
            <a:xfrm>
              <a:off x="8543822" y="3697387"/>
              <a:ext cx="795528" cy="545601"/>
            </a:xfrm>
            <a:prstGeom prst="rect">
              <a:avLst/>
            </a:prstGeom>
            <a:noFill/>
          </p:spPr>
          <p:txBody>
            <a:bodyPr wrap="square" lIns="0" tIns="0" rIns="0" bIns="0" rtlCol="0">
              <a:noAutofit/>
            </a:bodyPr>
            <a:lstStyle/>
            <a:p>
              <a:pPr algn="ctr"/>
              <a:r>
                <a:rPr lang="en-AU" sz="3600">
                  <a:latin typeface="Arial Black" panose="020B0A04020102020204" pitchFamily="34" charset="0"/>
                </a:rPr>
                <a:t>C.</a:t>
              </a:r>
            </a:p>
          </p:txBody>
        </p:sp>
      </p:grpSp>
      <p:pic>
        <p:nvPicPr>
          <p:cNvPr id="3" name="Picture 2">
            <a:extLst>
              <a:ext uri="{FF2B5EF4-FFF2-40B4-BE49-F238E27FC236}">
                <a16:creationId xmlns:a16="http://schemas.microsoft.com/office/drawing/2014/main" id="{8579B78F-E8F7-2A31-5798-ADB627F8314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integers are positive and negative whole numbers and zero</a:t>
            </a:r>
          </a:p>
        </p:txBody>
      </p:sp>
      <p:grpSp>
        <p:nvGrpSpPr>
          <p:cNvPr id="11" name="Group 10" descr="A strip of paper folded back and forth in a zigzag (accordion) pattern, creating a series of rectangular panels. The panels repeat evenly to the left and right, with a central panel marked with a 0. Some panels are angled forward and others backward, showing the alternating folds.">
            <a:extLst>
              <a:ext uri="{FF2B5EF4-FFF2-40B4-BE49-F238E27FC236}">
                <a16:creationId xmlns:a16="http://schemas.microsoft.com/office/drawing/2014/main" id="{1E001D84-443B-902F-480E-EBD85F4513BD}"/>
              </a:ext>
            </a:extLst>
          </p:cNvPr>
          <p:cNvGrpSpPr/>
          <p:nvPr/>
        </p:nvGrpSpPr>
        <p:grpSpPr>
          <a:xfrm>
            <a:off x="1246203" y="2021955"/>
            <a:ext cx="9699593" cy="2334004"/>
            <a:chOff x="1246203" y="2021955"/>
            <a:chExt cx="9699593" cy="2334004"/>
          </a:xfrm>
        </p:grpSpPr>
        <p:pic>
          <p:nvPicPr>
            <p:cNvPr id="9" name="Picture 8">
              <a:extLst>
                <a:ext uri="{FF2B5EF4-FFF2-40B4-BE49-F238E27FC236}">
                  <a16:creationId xmlns:a16="http://schemas.microsoft.com/office/drawing/2014/main" id="{469393FA-DE63-6B34-8BF7-E50AC46A170D}"/>
                </a:ext>
              </a:extLst>
            </p:cNvPr>
            <p:cNvPicPr>
              <a:picLocks noChangeAspect="1"/>
            </p:cNvPicPr>
            <p:nvPr/>
          </p:nvPicPr>
          <p:blipFill>
            <a:blip r:embed="rId3">
              <a:extLst>
                <a:ext uri="{28A0092B-C50C-407E-A947-70E740481C1C}">
                  <a14:useLocalDpi xmlns:a14="http://schemas.microsoft.com/office/drawing/2010/main" val="0"/>
                </a:ext>
              </a:extLst>
            </a:blip>
            <a:srcRect t="41843" b="24124"/>
            <a:stretch>
              <a:fillRect/>
            </a:stretch>
          </p:blipFill>
          <p:spPr>
            <a:xfrm>
              <a:off x="1246203" y="2021955"/>
              <a:ext cx="9699593" cy="2334004"/>
            </a:xfrm>
            <a:prstGeom prst="rect">
              <a:avLst/>
            </a:prstGeom>
          </p:spPr>
        </p:pic>
        <p:sp>
          <p:nvSpPr>
            <p:cNvPr id="10" name="TextBox 9">
              <a:extLst>
                <a:ext uri="{FF2B5EF4-FFF2-40B4-BE49-F238E27FC236}">
                  <a16:creationId xmlns:a16="http://schemas.microsoft.com/office/drawing/2014/main" id="{66467E9F-4751-5A23-5EDD-9146EEEF7028}"/>
                </a:ext>
              </a:extLst>
            </p:cNvPr>
            <p:cNvSpPr txBox="1"/>
            <p:nvPr/>
          </p:nvSpPr>
          <p:spPr>
            <a:xfrm>
              <a:off x="5857170" y="3003491"/>
              <a:ext cx="432960" cy="370932"/>
            </a:xfrm>
            <a:prstGeom prst="rect">
              <a:avLst/>
            </a:prstGeom>
            <a:solidFill>
              <a:srgbClr val="CFECFC"/>
            </a:solidFill>
          </p:spPr>
          <p:txBody>
            <a:bodyPr wrap="square" lIns="0" tIns="0" rIns="0" bIns="0" rtlCol="0">
              <a:noAutofit/>
            </a:bodyPr>
            <a:lstStyle/>
            <a:p>
              <a:pPr algn="ctr"/>
              <a:r>
                <a:rPr lang="en-AU"/>
                <a:t>0</a:t>
              </a:r>
            </a:p>
          </p:txBody>
        </p:sp>
      </p:grpSp>
      <p:grpSp>
        <p:nvGrpSpPr>
          <p:cNvPr id="51" name="Group 50" descr="A strip of paper showing 16 segments either side of zero.">
            <a:extLst>
              <a:ext uri="{FF2B5EF4-FFF2-40B4-BE49-F238E27FC236}">
                <a16:creationId xmlns:a16="http://schemas.microsoft.com/office/drawing/2014/main" id="{6DF9968D-4497-D48F-1B6A-8B92A8745D25}"/>
              </a:ext>
            </a:extLst>
          </p:cNvPr>
          <p:cNvGrpSpPr/>
          <p:nvPr/>
        </p:nvGrpSpPr>
        <p:grpSpPr>
          <a:xfrm>
            <a:off x="590736" y="4956169"/>
            <a:ext cx="11010528" cy="1032288"/>
            <a:chOff x="590735" y="4956169"/>
            <a:chExt cx="11010528" cy="1032288"/>
          </a:xfrm>
        </p:grpSpPr>
        <p:sp>
          <p:nvSpPr>
            <p:cNvPr id="12" name="Rectangle 11">
              <a:extLst>
                <a:ext uri="{FF2B5EF4-FFF2-40B4-BE49-F238E27FC236}">
                  <a16:creationId xmlns:a16="http://schemas.microsoft.com/office/drawing/2014/main" id="{91EB10B4-A512-5BE8-FB3C-5C26F73FE4E0}"/>
                </a:ext>
              </a:extLst>
            </p:cNvPr>
            <p:cNvSpPr/>
            <p:nvPr/>
          </p:nvSpPr>
          <p:spPr>
            <a:xfrm>
              <a:off x="590735" y="4956169"/>
              <a:ext cx="11010528" cy="1032288"/>
            </a:xfrm>
            <a:prstGeom prst="rect">
              <a:avLst/>
            </a:prstGeom>
            <a:ln w="19050">
              <a:solidFill>
                <a:schemeClr val="accent1"/>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AU"/>
            </a:p>
          </p:txBody>
        </p:sp>
        <p:cxnSp>
          <p:nvCxnSpPr>
            <p:cNvPr id="16" name="Straight Connector 15">
              <a:extLst>
                <a:ext uri="{FF2B5EF4-FFF2-40B4-BE49-F238E27FC236}">
                  <a16:creationId xmlns:a16="http://schemas.microsoft.com/office/drawing/2014/main" id="{6842AA44-FD0D-60E7-A37D-C79CF1A49C01}"/>
                </a:ext>
              </a:extLst>
            </p:cNvPr>
            <p:cNvCxnSpPr>
              <a:cxnSpLocks/>
            </p:cNvCxnSpPr>
            <p:nvPr/>
          </p:nvCxnSpPr>
          <p:spPr>
            <a:xfrm>
              <a:off x="934814" y="4956169"/>
              <a:ext cx="0" cy="10322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37BB8B5-2B45-E387-3C80-5186DE99CE93}"/>
                </a:ext>
              </a:extLst>
            </p:cNvPr>
            <p:cNvCxnSpPr>
              <a:cxnSpLocks/>
            </p:cNvCxnSpPr>
            <p:nvPr/>
          </p:nvCxnSpPr>
          <p:spPr>
            <a:xfrm>
              <a:off x="1278893" y="4956169"/>
              <a:ext cx="0" cy="10322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4E21412-1424-C0AA-F642-A1030C613462}"/>
                </a:ext>
              </a:extLst>
            </p:cNvPr>
            <p:cNvCxnSpPr>
              <a:cxnSpLocks/>
            </p:cNvCxnSpPr>
            <p:nvPr/>
          </p:nvCxnSpPr>
          <p:spPr>
            <a:xfrm>
              <a:off x="1622972" y="4956169"/>
              <a:ext cx="0" cy="10322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A1B9686-827D-C6DA-7344-61D9CE54A84D}"/>
                </a:ext>
              </a:extLst>
            </p:cNvPr>
            <p:cNvCxnSpPr>
              <a:cxnSpLocks/>
            </p:cNvCxnSpPr>
            <p:nvPr/>
          </p:nvCxnSpPr>
          <p:spPr>
            <a:xfrm>
              <a:off x="1967051" y="4956169"/>
              <a:ext cx="0" cy="10322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32243B0-C013-5E66-3BEB-988106C7E2D7}"/>
                </a:ext>
              </a:extLst>
            </p:cNvPr>
            <p:cNvCxnSpPr>
              <a:cxnSpLocks/>
            </p:cNvCxnSpPr>
            <p:nvPr/>
          </p:nvCxnSpPr>
          <p:spPr>
            <a:xfrm>
              <a:off x="2311130" y="4956169"/>
              <a:ext cx="0" cy="10322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D02EEA2-5F0B-8397-1B18-2946228F4468}"/>
                </a:ext>
              </a:extLst>
            </p:cNvPr>
            <p:cNvCxnSpPr>
              <a:cxnSpLocks/>
            </p:cNvCxnSpPr>
            <p:nvPr/>
          </p:nvCxnSpPr>
          <p:spPr>
            <a:xfrm>
              <a:off x="2655209" y="4956169"/>
              <a:ext cx="0" cy="10322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B5B2FD1-8E74-AF99-77E6-419C6228AB56}"/>
                </a:ext>
              </a:extLst>
            </p:cNvPr>
            <p:cNvCxnSpPr>
              <a:cxnSpLocks/>
            </p:cNvCxnSpPr>
            <p:nvPr/>
          </p:nvCxnSpPr>
          <p:spPr>
            <a:xfrm>
              <a:off x="2999288" y="4956169"/>
              <a:ext cx="0" cy="10322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D93A294-130B-E01E-FF9B-6303B1B85108}"/>
                </a:ext>
              </a:extLst>
            </p:cNvPr>
            <p:cNvCxnSpPr>
              <a:cxnSpLocks/>
            </p:cNvCxnSpPr>
            <p:nvPr/>
          </p:nvCxnSpPr>
          <p:spPr>
            <a:xfrm>
              <a:off x="3343367" y="4956169"/>
              <a:ext cx="0" cy="10322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E89FBBD-729A-ED68-49A4-F8B2F30D2985}"/>
                </a:ext>
              </a:extLst>
            </p:cNvPr>
            <p:cNvCxnSpPr>
              <a:cxnSpLocks/>
            </p:cNvCxnSpPr>
            <p:nvPr/>
          </p:nvCxnSpPr>
          <p:spPr>
            <a:xfrm>
              <a:off x="3687446" y="4956169"/>
              <a:ext cx="0" cy="10322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711B50D-8652-B352-0F9E-09CE0CE19798}"/>
                </a:ext>
              </a:extLst>
            </p:cNvPr>
            <p:cNvCxnSpPr>
              <a:cxnSpLocks/>
            </p:cNvCxnSpPr>
            <p:nvPr/>
          </p:nvCxnSpPr>
          <p:spPr>
            <a:xfrm>
              <a:off x="4031525" y="4956169"/>
              <a:ext cx="0" cy="10322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8B8A36D-502C-3A02-4000-63689A2650C5}"/>
                </a:ext>
              </a:extLst>
            </p:cNvPr>
            <p:cNvCxnSpPr>
              <a:cxnSpLocks/>
            </p:cNvCxnSpPr>
            <p:nvPr/>
          </p:nvCxnSpPr>
          <p:spPr>
            <a:xfrm>
              <a:off x="4375604" y="4956169"/>
              <a:ext cx="0" cy="10322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A0D4589-BFF7-8A5C-F100-E4C356EA3864}"/>
                </a:ext>
              </a:extLst>
            </p:cNvPr>
            <p:cNvCxnSpPr>
              <a:cxnSpLocks/>
            </p:cNvCxnSpPr>
            <p:nvPr/>
          </p:nvCxnSpPr>
          <p:spPr>
            <a:xfrm>
              <a:off x="4719683" y="4956169"/>
              <a:ext cx="0" cy="10322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B1E44EF-0D65-A344-5B28-7682B513AA4E}"/>
                </a:ext>
              </a:extLst>
            </p:cNvPr>
            <p:cNvCxnSpPr>
              <a:cxnSpLocks/>
            </p:cNvCxnSpPr>
            <p:nvPr/>
          </p:nvCxnSpPr>
          <p:spPr>
            <a:xfrm>
              <a:off x="5063762" y="4956169"/>
              <a:ext cx="0" cy="10322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0A5EB23-D4A0-80FE-B07B-D14C489E515C}"/>
                </a:ext>
              </a:extLst>
            </p:cNvPr>
            <p:cNvCxnSpPr>
              <a:cxnSpLocks/>
            </p:cNvCxnSpPr>
            <p:nvPr/>
          </p:nvCxnSpPr>
          <p:spPr>
            <a:xfrm>
              <a:off x="5407841" y="4956169"/>
              <a:ext cx="0" cy="10322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D17B230-6F42-9D8E-6F22-52D35E18527B}"/>
                </a:ext>
              </a:extLst>
            </p:cNvPr>
            <p:cNvCxnSpPr>
              <a:cxnSpLocks/>
            </p:cNvCxnSpPr>
            <p:nvPr/>
          </p:nvCxnSpPr>
          <p:spPr>
            <a:xfrm>
              <a:off x="5751920" y="4956169"/>
              <a:ext cx="0" cy="10322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E536FE-9DBA-545A-7EB0-4E6381C5AFD7}"/>
                </a:ext>
              </a:extLst>
            </p:cNvPr>
            <p:cNvCxnSpPr>
              <a:cxnSpLocks/>
            </p:cNvCxnSpPr>
            <p:nvPr/>
          </p:nvCxnSpPr>
          <p:spPr>
            <a:xfrm>
              <a:off x="6095999" y="4956169"/>
              <a:ext cx="0" cy="10322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63D79F64-48EC-CF11-81C4-0BEFAB4327C4}"/>
                </a:ext>
              </a:extLst>
            </p:cNvPr>
            <p:cNvCxnSpPr>
              <a:cxnSpLocks/>
            </p:cNvCxnSpPr>
            <p:nvPr/>
          </p:nvCxnSpPr>
          <p:spPr>
            <a:xfrm>
              <a:off x="6440078" y="4956169"/>
              <a:ext cx="0" cy="10322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6980E54-5190-3E4B-6620-650CFC946697}"/>
                </a:ext>
              </a:extLst>
            </p:cNvPr>
            <p:cNvCxnSpPr>
              <a:cxnSpLocks/>
            </p:cNvCxnSpPr>
            <p:nvPr/>
          </p:nvCxnSpPr>
          <p:spPr>
            <a:xfrm>
              <a:off x="6784157" y="4956169"/>
              <a:ext cx="0" cy="10322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FB95ED5-5529-4091-94C6-8922AE2EF1E2}"/>
                </a:ext>
              </a:extLst>
            </p:cNvPr>
            <p:cNvCxnSpPr>
              <a:cxnSpLocks/>
            </p:cNvCxnSpPr>
            <p:nvPr/>
          </p:nvCxnSpPr>
          <p:spPr>
            <a:xfrm>
              <a:off x="7128236" y="4956169"/>
              <a:ext cx="0" cy="10322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B8F2581-CF27-6EBD-F6AC-9BC8A5D0710F}"/>
                </a:ext>
              </a:extLst>
            </p:cNvPr>
            <p:cNvCxnSpPr>
              <a:cxnSpLocks/>
            </p:cNvCxnSpPr>
            <p:nvPr/>
          </p:nvCxnSpPr>
          <p:spPr>
            <a:xfrm>
              <a:off x="7472315" y="4956169"/>
              <a:ext cx="0" cy="10322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B94653A5-9EF2-2CE0-23B2-9A40A78D6CFB}"/>
                </a:ext>
              </a:extLst>
            </p:cNvPr>
            <p:cNvCxnSpPr>
              <a:cxnSpLocks/>
            </p:cNvCxnSpPr>
            <p:nvPr/>
          </p:nvCxnSpPr>
          <p:spPr>
            <a:xfrm>
              <a:off x="7816394" y="4956169"/>
              <a:ext cx="0" cy="10322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D8007CC-AE03-95DC-F566-53D1658F1028}"/>
                </a:ext>
              </a:extLst>
            </p:cNvPr>
            <p:cNvCxnSpPr>
              <a:cxnSpLocks/>
            </p:cNvCxnSpPr>
            <p:nvPr/>
          </p:nvCxnSpPr>
          <p:spPr>
            <a:xfrm>
              <a:off x="8160473" y="4956169"/>
              <a:ext cx="0" cy="10322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F4B0ECF-DD78-7DE5-AB78-612572F087CF}"/>
                </a:ext>
              </a:extLst>
            </p:cNvPr>
            <p:cNvCxnSpPr>
              <a:cxnSpLocks/>
            </p:cNvCxnSpPr>
            <p:nvPr/>
          </p:nvCxnSpPr>
          <p:spPr>
            <a:xfrm>
              <a:off x="8504552" y="4956169"/>
              <a:ext cx="0" cy="10322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2DEE390-0B32-ACC1-D1A1-F29F0BECF13A}"/>
                </a:ext>
              </a:extLst>
            </p:cNvPr>
            <p:cNvCxnSpPr>
              <a:cxnSpLocks/>
            </p:cNvCxnSpPr>
            <p:nvPr/>
          </p:nvCxnSpPr>
          <p:spPr>
            <a:xfrm>
              <a:off x="8848631" y="4956169"/>
              <a:ext cx="0" cy="10322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E2F8FA9-9FF9-1868-4F55-970140B8D7AA}"/>
                </a:ext>
              </a:extLst>
            </p:cNvPr>
            <p:cNvCxnSpPr>
              <a:cxnSpLocks/>
            </p:cNvCxnSpPr>
            <p:nvPr/>
          </p:nvCxnSpPr>
          <p:spPr>
            <a:xfrm>
              <a:off x="9192710" y="4956169"/>
              <a:ext cx="0" cy="10322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60A28D07-3876-5BAE-BE61-D12431756BBF}"/>
                </a:ext>
              </a:extLst>
            </p:cNvPr>
            <p:cNvCxnSpPr>
              <a:cxnSpLocks/>
            </p:cNvCxnSpPr>
            <p:nvPr/>
          </p:nvCxnSpPr>
          <p:spPr>
            <a:xfrm>
              <a:off x="9536789" y="4956169"/>
              <a:ext cx="0" cy="10322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30E55CA4-4B9B-6421-FBB4-33DC5F860036}"/>
                </a:ext>
              </a:extLst>
            </p:cNvPr>
            <p:cNvCxnSpPr>
              <a:cxnSpLocks/>
            </p:cNvCxnSpPr>
            <p:nvPr/>
          </p:nvCxnSpPr>
          <p:spPr>
            <a:xfrm>
              <a:off x="9880868" y="4956169"/>
              <a:ext cx="0" cy="10322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524BCA6-9173-5FF7-4F53-6263C0EC3E32}"/>
                </a:ext>
              </a:extLst>
            </p:cNvPr>
            <p:cNvCxnSpPr>
              <a:cxnSpLocks/>
            </p:cNvCxnSpPr>
            <p:nvPr/>
          </p:nvCxnSpPr>
          <p:spPr>
            <a:xfrm>
              <a:off x="10224947" y="4956169"/>
              <a:ext cx="0" cy="10322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4800FF8B-3B4E-28B8-DD5C-7B1BE8E3BE7D}"/>
                </a:ext>
              </a:extLst>
            </p:cNvPr>
            <p:cNvCxnSpPr>
              <a:cxnSpLocks/>
            </p:cNvCxnSpPr>
            <p:nvPr/>
          </p:nvCxnSpPr>
          <p:spPr>
            <a:xfrm>
              <a:off x="10569026" y="4956169"/>
              <a:ext cx="0" cy="10322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ED14A460-048D-7EC0-0975-065F619A8C9B}"/>
                </a:ext>
              </a:extLst>
            </p:cNvPr>
            <p:cNvCxnSpPr>
              <a:cxnSpLocks/>
            </p:cNvCxnSpPr>
            <p:nvPr/>
          </p:nvCxnSpPr>
          <p:spPr>
            <a:xfrm>
              <a:off x="11257184" y="4956169"/>
              <a:ext cx="0" cy="10322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D994D51C-4B2B-82FA-B06F-E264AC4DFDD3}"/>
                </a:ext>
              </a:extLst>
            </p:cNvPr>
            <p:cNvCxnSpPr>
              <a:cxnSpLocks/>
            </p:cNvCxnSpPr>
            <p:nvPr/>
          </p:nvCxnSpPr>
          <p:spPr>
            <a:xfrm>
              <a:off x="10913105" y="4956169"/>
              <a:ext cx="0" cy="103228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AC7662B-C776-6E2F-0AF6-4280A49E4696}"/>
                </a:ext>
              </a:extLst>
            </p:cNvPr>
            <p:cNvSpPr txBox="1"/>
            <p:nvPr/>
          </p:nvSpPr>
          <p:spPr>
            <a:xfrm>
              <a:off x="5879519" y="5286847"/>
              <a:ext cx="432960" cy="370932"/>
            </a:xfrm>
            <a:prstGeom prst="rect">
              <a:avLst/>
            </a:prstGeom>
            <a:solidFill>
              <a:schemeClr val="accent4"/>
            </a:solidFill>
          </p:spPr>
          <p:txBody>
            <a:bodyPr wrap="square" lIns="0" tIns="0" rIns="0" bIns="0" rtlCol="0">
              <a:noAutofit/>
            </a:bodyPr>
            <a:lstStyle/>
            <a:p>
              <a:pPr algn="ctr"/>
              <a:r>
                <a:rPr lang="en-AU"/>
                <a:t>0</a:t>
              </a:r>
            </a:p>
          </p:txBody>
        </p:sp>
      </p:grpSp>
      <p:pic>
        <p:nvPicPr>
          <p:cNvPr id="4" name="Picture 3">
            <a:extLst>
              <a:ext uri="{FF2B5EF4-FFF2-40B4-BE49-F238E27FC236}">
                <a16:creationId xmlns:a16="http://schemas.microsoft.com/office/drawing/2014/main" id="{310F3533-70A3-049C-FD4D-BE7CFB970246}"/>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pic>
        <p:nvPicPr>
          <p:cNvPr id="4" name="Picture 3">
            <a:extLst>
              <a:ext uri="{FF2B5EF4-FFF2-40B4-BE49-F238E27FC236}">
                <a16:creationId xmlns:a16="http://schemas.microsoft.com/office/drawing/2014/main" id="{239F5F22-5449-95CB-BD5E-F141E81E86F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3" name="Text Placeholder 12">
            <a:extLst>
              <a:ext uri="{FF2B5EF4-FFF2-40B4-BE49-F238E27FC236}">
                <a16:creationId xmlns:a16="http://schemas.microsoft.com/office/drawing/2014/main" id="{EED1569E-E854-EDBA-32DF-E4DBDB16F694}"/>
              </a:ext>
            </a:extLst>
          </p:cNvPr>
          <p:cNvSpPr>
            <a:spLocks noGrp="1"/>
          </p:cNvSpPr>
          <p:nvPr>
            <p:ph type="body" sz="quarter" idx="22"/>
          </p:nvPr>
        </p:nvSpPr>
        <p:spPr>
          <a:xfrm>
            <a:off x="750525" y="1568795"/>
            <a:ext cx="5631225" cy="3165129"/>
          </a:xfrm>
        </p:spPr>
        <p:txBody>
          <a:bodyPr/>
          <a:lstStyle/>
          <a:p>
            <a:pPr algn="ctr"/>
            <a:r>
              <a:rPr lang="en-AU" sz="4400"/>
              <a:t>This thermometer is read as </a:t>
            </a:r>
            <a:r>
              <a:rPr lang="en-AU" sz="4400" b="1"/>
              <a:t>-4 degrees Celsius</a:t>
            </a:r>
            <a:r>
              <a:rPr lang="en-AU" sz="4400"/>
              <a:t>.</a:t>
            </a:r>
          </a:p>
        </p:txBody>
      </p:sp>
      <p:grpSp>
        <p:nvGrpSpPr>
          <p:cNvPr id="17" name="Group 16" descr="A thermometer with the blue line sitting at the 4th mark under the zero.">
            <a:extLst>
              <a:ext uri="{FF2B5EF4-FFF2-40B4-BE49-F238E27FC236}">
                <a16:creationId xmlns:a16="http://schemas.microsoft.com/office/drawing/2014/main" id="{C1575745-854C-6BD4-3112-7F341AF118A4}"/>
              </a:ext>
            </a:extLst>
          </p:cNvPr>
          <p:cNvGrpSpPr/>
          <p:nvPr/>
        </p:nvGrpSpPr>
        <p:grpSpPr>
          <a:xfrm>
            <a:off x="7634489" y="380574"/>
            <a:ext cx="2452486" cy="6135426"/>
            <a:chOff x="7634489" y="380574"/>
            <a:chExt cx="2452486" cy="6135426"/>
          </a:xfrm>
        </p:grpSpPr>
        <p:sp>
          <p:nvSpPr>
            <p:cNvPr id="16" name="Rectangle 15">
              <a:extLst>
                <a:ext uri="{FF2B5EF4-FFF2-40B4-BE49-F238E27FC236}">
                  <a16:creationId xmlns:a16="http://schemas.microsoft.com/office/drawing/2014/main" id="{49DA50D1-8B6F-6542-C880-9D26C1A89FF3}"/>
                </a:ext>
              </a:extLst>
            </p:cNvPr>
            <p:cNvSpPr/>
            <p:nvPr/>
          </p:nvSpPr>
          <p:spPr>
            <a:xfrm>
              <a:off x="7634489" y="380574"/>
              <a:ext cx="2452486" cy="6135426"/>
            </a:xfrm>
            <a:prstGeom prst="rect">
              <a:avLst/>
            </a:prstGeom>
            <a:solidFill>
              <a:schemeClr val="bg1"/>
            </a:solidFill>
            <a:ln>
              <a:noFill/>
            </a:ln>
            <a:effectLst>
              <a:outerShdw blurRad="292100" dist="139700" dir="2700000" algn="tl" rotWithShape="0">
                <a:srgbClr val="333333">
                  <a:alpha val="6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5" name="Picture 14" descr="A thermometer with ">
              <a:extLst>
                <a:ext uri="{FF2B5EF4-FFF2-40B4-BE49-F238E27FC236}">
                  <a16:creationId xmlns:a16="http://schemas.microsoft.com/office/drawing/2014/main" id="{1DF34841-563E-3556-A8BF-D34611ED9724}"/>
                </a:ext>
              </a:extLst>
            </p:cNvPr>
            <p:cNvPicPr>
              <a:picLocks noChangeAspect="1"/>
            </p:cNvPicPr>
            <p:nvPr/>
          </p:nvPicPr>
          <p:blipFill>
            <a:blip r:embed="rId4"/>
            <a:srcRect l="25828" t="4694" r="19138" b="3599"/>
            <a:stretch>
              <a:fillRect/>
            </a:stretch>
          </p:blipFill>
          <p:spPr>
            <a:xfrm>
              <a:off x="8192842" y="455526"/>
              <a:ext cx="1335781" cy="5985522"/>
            </a:xfrm>
            <a:prstGeom prst="rect">
              <a:avLst/>
            </a:prstGeom>
          </p:spPr>
        </p:pic>
      </p:grpSp>
      <p:graphicFrame>
        <p:nvGraphicFramePr>
          <p:cNvPr id="7" name="Table 6">
            <a:extLst>
              <a:ext uri="{FF2B5EF4-FFF2-40B4-BE49-F238E27FC236}">
                <a16:creationId xmlns:a16="http://schemas.microsoft.com/office/drawing/2014/main" id="{16B321B4-7041-6DE4-8CE2-D34E9B2065B9}"/>
              </a:ext>
            </a:extLst>
          </p:cNvPr>
          <p:cNvGraphicFramePr>
            <a:graphicFrameLocks noGrp="1"/>
          </p:cNvGraphicFramePr>
          <p:nvPr>
            <p:extLst>
              <p:ext uri="{D42A27DB-BD31-4B8C-83A1-F6EECF244321}">
                <p14:modId xmlns:p14="http://schemas.microsoft.com/office/powerpoint/2010/main" val="3025702666"/>
              </p:ext>
            </p:extLst>
          </p:nvPr>
        </p:nvGraphicFramePr>
        <p:xfrm>
          <a:off x="710927" y="5397118"/>
          <a:ext cx="5710420" cy="741680"/>
        </p:xfrm>
        <a:graphic>
          <a:graphicData uri="http://schemas.openxmlformats.org/drawingml/2006/table">
            <a:tbl>
              <a:tblPr firstRow="1" bandRow="1">
                <a:tableStyleId>{5A111915-BE36-4E01-A7E5-04B1672EAD32}</a:tableStyleId>
              </a:tblPr>
              <a:tblGrid>
                <a:gridCol w="2855210">
                  <a:extLst>
                    <a:ext uri="{9D8B030D-6E8A-4147-A177-3AD203B41FA5}">
                      <a16:colId xmlns:a16="http://schemas.microsoft.com/office/drawing/2014/main" val="481183477"/>
                    </a:ext>
                  </a:extLst>
                </a:gridCol>
                <a:gridCol w="2855210">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sp>
        <p:nvSpPr>
          <p:cNvPr id="7" name="Text Placeholder 5">
            <a:extLst>
              <a:ext uri="{FF2B5EF4-FFF2-40B4-BE49-F238E27FC236}">
                <a16:creationId xmlns:a16="http://schemas.microsoft.com/office/drawing/2014/main" id="{544BD2EE-A905-297A-F04C-BF78AAB6723B}"/>
              </a:ext>
            </a:extLst>
          </p:cNvPr>
          <p:cNvSpPr txBox="1">
            <a:spLocks/>
          </p:cNvSpPr>
          <p:nvPr/>
        </p:nvSpPr>
        <p:spPr>
          <a:xfrm>
            <a:off x="529565" y="926042"/>
            <a:ext cx="6356363" cy="1648784"/>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a:t>A student </a:t>
            </a:r>
            <a:r>
              <a:rPr lang="en-AU" sz="3600" b="1"/>
              <a:t>dissected</a:t>
            </a:r>
            <a:r>
              <a:rPr lang="en-AU" sz="3600"/>
              <a:t> this </a:t>
            </a:r>
            <a:r>
              <a:rPr lang="en-AU" sz="3600" b="1"/>
              <a:t>composite L-shape</a:t>
            </a:r>
            <a:r>
              <a:rPr lang="en-AU" sz="3600"/>
              <a:t> to </a:t>
            </a:r>
            <a:r>
              <a:rPr lang="en-AU" sz="3600" b="1"/>
              <a:t>calculate</a:t>
            </a:r>
            <a:r>
              <a:rPr lang="en-AU" sz="3600"/>
              <a:t> its </a:t>
            </a:r>
            <a:r>
              <a:rPr lang="en-AU" sz="3600" b="1"/>
              <a:t>area</a:t>
            </a:r>
            <a:r>
              <a:rPr lang="en-AU" sz="3600"/>
              <a:t>.</a:t>
            </a:r>
          </a:p>
        </p:txBody>
      </p:sp>
      <p:sp>
        <p:nvSpPr>
          <p:cNvPr id="10" name="Text Placeholder 5">
            <a:extLst>
              <a:ext uri="{FF2B5EF4-FFF2-40B4-BE49-F238E27FC236}">
                <a16:creationId xmlns:a16="http://schemas.microsoft.com/office/drawing/2014/main" id="{F8EE3B89-C178-2114-DEAA-8A08D1A8CCBC}"/>
              </a:ext>
            </a:extLst>
          </p:cNvPr>
          <p:cNvSpPr txBox="1">
            <a:spLocks/>
          </p:cNvSpPr>
          <p:nvPr/>
        </p:nvSpPr>
        <p:spPr>
          <a:xfrm>
            <a:off x="529565" y="3314317"/>
            <a:ext cx="6356363" cy="2415592"/>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a:t>Show</a:t>
            </a:r>
            <a:r>
              <a:rPr lang="en-AU" sz="3600" b="1"/>
              <a:t> another way </a:t>
            </a:r>
            <a:r>
              <a:rPr lang="en-AU" sz="3600"/>
              <a:t>this composite L-shape could be </a:t>
            </a:r>
            <a:r>
              <a:rPr lang="en-AU" sz="3600" b="1"/>
              <a:t>dissected.</a:t>
            </a:r>
            <a:endParaRPr lang="en-AU" sz="3600"/>
          </a:p>
        </p:txBody>
      </p:sp>
      <p:sp>
        <p:nvSpPr>
          <p:cNvPr id="11" name="Text Placeholder 5">
            <a:extLst>
              <a:ext uri="{FF2B5EF4-FFF2-40B4-BE49-F238E27FC236}">
                <a16:creationId xmlns:a16="http://schemas.microsoft.com/office/drawing/2014/main" id="{558CB254-C121-A3E5-30A5-1C27BB50881A}"/>
              </a:ext>
            </a:extLst>
          </p:cNvPr>
          <p:cNvSpPr txBox="1">
            <a:spLocks/>
          </p:cNvSpPr>
          <p:nvPr/>
        </p:nvSpPr>
        <p:spPr>
          <a:xfrm>
            <a:off x="335098" y="5809956"/>
            <a:ext cx="6745295" cy="913340"/>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b="1"/>
              <a:t>Communicate</a:t>
            </a:r>
            <a:r>
              <a:rPr lang="en-AU" sz="3600"/>
              <a:t> your </a:t>
            </a:r>
            <a:r>
              <a:rPr lang="en-AU" sz="3600" b="1"/>
              <a:t>reasoning</a:t>
            </a:r>
            <a:r>
              <a:rPr lang="en-AU" sz="3600"/>
              <a:t>.</a:t>
            </a:r>
          </a:p>
        </p:txBody>
      </p:sp>
      <p:pic>
        <p:nvPicPr>
          <p:cNvPr id="5" name="Picture 4" descr="An irregular shape made from straight lines is drawn on a whiteboard, forming an L-shaped outline. A horizontal dashed red line runs across the shape from the left side to an inner corner, suggesting a possible partition.">
            <a:extLst>
              <a:ext uri="{FF2B5EF4-FFF2-40B4-BE49-F238E27FC236}">
                <a16:creationId xmlns:a16="http://schemas.microsoft.com/office/drawing/2014/main" id="{4C7FCFAD-9D87-C1B9-D40B-7A8A0A6158FA}"/>
              </a:ext>
            </a:extLst>
          </p:cNvPr>
          <p:cNvPicPr>
            <a:picLocks noChangeAspect="1"/>
          </p:cNvPicPr>
          <p:nvPr/>
        </p:nvPicPr>
        <p:blipFill>
          <a:blip r:embed="rId3"/>
          <a:stretch>
            <a:fillRect/>
          </a:stretch>
        </p:blipFill>
        <p:spPr>
          <a:xfrm>
            <a:off x="6885928" y="2107846"/>
            <a:ext cx="5063936" cy="3584814"/>
          </a:xfrm>
          <a:prstGeom prst="rect">
            <a:avLst/>
          </a:prstGeom>
          <a:solidFill>
            <a:schemeClr val="bg1"/>
          </a:solidFill>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pic>
        <p:nvPicPr>
          <p:cNvPr id="3" name="Picture 2">
            <a:extLst>
              <a:ext uri="{FF2B5EF4-FFF2-40B4-BE49-F238E27FC236}">
                <a16:creationId xmlns:a16="http://schemas.microsoft.com/office/drawing/2014/main" id="{4BDD99B8-CF6E-F7A3-575D-5F08BFBF6D73}"/>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sp>
        <p:nvSpPr>
          <p:cNvPr id="8" name="Text Placeholder 5">
            <a:extLst>
              <a:ext uri="{FF2B5EF4-FFF2-40B4-BE49-F238E27FC236}">
                <a16:creationId xmlns:a16="http://schemas.microsoft.com/office/drawing/2014/main" id="{1AA191C7-220C-6A30-D62C-236EEE5FEF2F}"/>
              </a:ext>
            </a:extLst>
          </p:cNvPr>
          <p:cNvSpPr txBox="1">
            <a:spLocks/>
          </p:cNvSpPr>
          <p:nvPr/>
        </p:nvSpPr>
        <p:spPr>
          <a:xfrm>
            <a:off x="713999" y="1007342"/>
            <a:ext cx="10764001" cy="962775"/>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Use </a:t>
            </a:r>
            <a:r>
              <a:rPr lang="en-AU" sz="4400" b="1"/>
              <a:t>repeated halving </a:t>
            </a:r>
            <a:r>
              <a:rPr lang="en-AU" sz="4400"/>
              <a:t>to </a:t>
            </a:r>
            <a:r>
              <a:rPr lang="en-AU" sz="4400" b="1"/>
              <a:t>solve</a:t>
            </a:r>
            <a:r>
              <a:rPr lang="en-AU" sz="4400"/>
              <a:t>:</a:t>
            </a:r>
          </a:p>
        </p:txBody>
      </p:sp>
      <p:sp>
        <p:nvSpPr>
          <p:cNvPr id="9" name="Text Placeholder 5">
            <a:extLst>
              <a:ext uri="{FF2B5EF4-FFF2-40B4-BE49-F238E27FC236}">
                <a16:creationId xmlns:a16="http://schemas.microsoft.com/office/drawing/2014/main" id="{24CEE4CC-2E43-D986-B135-D56F1A591DA8}"/>
              </a:ext>
            </a:extLst>
          </p:cNvPr>
          <p:cNvSpPr txBox="1">
            <a:spLocks/>
          </p:cNvSpPr>
          <p:nvPr/>
        </p:nvSpPr>
        <p:spPr>
          <a:xfrm>
            <a:off x="724225" y="2170682"/>
            <a:ext cx="10764001" cy="207237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indent="-742950" algn="ctr">
              <a:buFont typeface="+mj-lt"/>
              <a:buAutoNum type="alphaLcParenR"/>
            </a:pPr>
            <a:r>
              <a:rPr lang="en-AU" sz="4400"/>
              <a:t>If 4 televisions cost $6842, what is the cost of </a:t>
            </a:r>
            <a:r>
              <a:rPr lang="en-AU" sz="4400" b="1"/>
              <a:t>one</a:t>
            </a:r>
            <a:r>
              <a:rPr lang="en-AU" sz="4400"/>
              <a:t> television? </a:t>
            </a:r>
          </a:p>
          <a:p>
            <a:pPr marL="742950" indent="-742950" algn="ctr">
              <a:buFont typeface="+mj-lt"/>
              <a:buAutoNum type="alphaLcParenR"/>
            </a:pPr>
            <a:r>
              <a:rPr lang="en-AU" sz="4400"/>
              <a:t>Why is this an </a:t>
            </a:r>
            <a:r>
              <a:rPr lang="en-AU" sz="4400" b="1"/>
              <a:t>appropriate</a:t>
            </a:r>
            <a:r>
              <a:rPr lang="en-AU" sz="4400"/>
              <a:t> strategy? </a:t>
            </a:r>
            <a:r>
              <a:rPr lang="en-AU" sz="4400" b="1"/>
              <a:t>Communicate</a:t>
            </a:r>
            <a:r>
              <a:rPr lang="en-AU" sz="4400"/>
              <a:t> your </a:t>
            </a:r>
            <a:r>
              <a:rPr lang="en-AU" sz="4400" b="1"/>
              <a:t>reasoning</a:t>
            </a:r>
            <a:r>
              <a:rPr lang="en-AU" sz="4400"/>
              <a:t>. </a:t>
            </a: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sp>
        <p:nvSpPr>
          <p:cNvPr id="21" name="TextBox 20">
            <a:extLst>
              <a:ext uri="{FF2B5EF4-FFF2-40B4-BE49-F238E27FC236}">
                <a16:creationId xmlns:a16="http://schemas.microsoft.com/office/drawing/2014/main" id="{946B7C2A-D67B-4BE6-C2DE-F7F17AD4D454}"/>
              </a:ext>
            </a:extLst>
          </p:cNvPr>
          <p:cNvSpPr txBox="1"/>
          <p:nvPr/>
        </p:nvSpPr>
        <p:spPr>
          <a:xfrm>
            <a:off x="576666" y="1015872"/>
            <a:ext cx="11038668" cy="982513"/>
          </a:xfrm>
          <a:prstGeom prst="rect">
            <a:avLst/>
          </a:prstGeom>
          <a:noFill/>
        </p:spPr>
        <p:txBody>
          <a:bodyPr wrap="square">
            <a:spAutoFit/>
          </a:bodyPr>
          <a:lstStyle/>
          <a:p>
            <a:pPr algn="ctr">
              <a:lnSpc>
                <a:spcPct val="150000"/>
              </a:lnSpc>
            </a:pPr>
            <a:r>
              <a:rPr lang="en-AU" sz="4400" b="1" i="0">
                <a:effectLst/>
              </a:rPr>
              <a:t>Match</a:t>
            </a:r>
            <a:r>
              <a:rPr lang="en-AU" sz="4400" b="0" i="0">
                <a:effectLst/>
              </a:rPr>
              <a:t> the </a:t>
            </a:r>
            <a:r>
              <a:rPr lang="en-AU" sz="4400" b="1" i="0">
                <a:effectLst/>
              </a:rPr>
              <a:t>type of angle</a:t>
            </a:r>
            <a:r>
              <a:rPr lang="en-AU" sz="4400" b="0" i="0">
                <a:effectLst/>
              </a:rPr>
              <a:t> to the </a:t>
            </a:r>
            <a:r>
              <a:rPr lang="en-AU" sz="4400" b="1" i="0">
                <a:effectLst/>
              </a:rPr>
              <a:t>definition</a:t>
            </a:r>
            <a:r>
              <a:rPr lang="en-AU" sz="4400" b="0" i="0">
                <a:effectLst/>
              </a:rPr>
              <a:t>.</a:t>
            </a:r>
            <a:endParaRPr lang="en-AU" sz="4400"/>
          </a:p>
        </p:txBody>
      </p:sp>
      <p:sp>
        <p:nvSpPr>
          <p:cNvPr id="12" name="TextBox 11">
            <a:extLst>
              <a:ext uri="{FF2B5EF4-FFF2-40B4-BE49-F238E27FC236}">
                <a16:creationId xmlns:a16="http://schemas.microsoft.com/office/drawing/2014/main" id="{F0C6A749-46A2-3CCA-1FA2-40C64352FF33}"/>
              </a:ext>
            </a:extLst>
          </p:cNvPr>
          <p:cNvSpPr txBox="1"/>
          <p:nvPr/>
        </p:nvSpPr>
        <p:spPr>
          <a:xfrm>
            <a:off x="504108" y="2745535"/>
            <a:ext cx="3037114" cy="901593"/>
          </a:xfrm>
          <a:prstGeom prst="rect">
            <a:avLst/>
          </a:prstGeom>
          <a:noFill/>
        </p:spPr>
        <p:txBody>
          <a:bodyPr wrap="square">
            <a:spAutoFit/>
          </a:bodyPr>
          <a:lstStyle/>
          <a:p>
            <a:pPr>
              <a:lnSpc>
                <a:spcPct val="150000"/>
              </a:lnSpc>
            </a:pPr>
            <a:r>
              <a:rPr lang="en-AU" sz="4000" b="0" i="0">
                <a:effectLst/>
              </a:rPr>
              <a:t>1. </a:t>
            </a:r>
            <a:r>
              <a:rPr lang="en-AU" sz="4000"/>
              <a:t>o</a:t>
            </a:r>
            <a:r>
              <a:rPr lang="en-AU" sz="4000" b="0" i="0">
                <a:effectLst/>
              </a:rPr>
              <a:t>btuse</a:t>
            </a:r>
            <a:endParaRPr lang="en-AU" sz="4000"/>
          </a:p>
        </p:txBody>
      </p:sp>
      <p:sp>
        <p:nvSpPr>
          <p:cNvPr id="14" name="TextBox 13">
            <a:extLst>
              <a:ext uri="{FF2B5EF4-FFF2-40B4-BE49-F238E27FC236}">
                <a16:creationId xmlns:a16="http://schemas.microsoft.com/office/drawing/2014/main" id="{1CD6BEF1-ADA4-238D-FBFD-29A5A833FC38}"/>
              </a:ext>
            </a:extLst>
          </p:cNvPr>
          <p:cNvSpPr txBox="1"/>
          <p:nvPr/>
        </p:nvSpPr>
        <p:spPr>
          <a:xfrm>
            <a:off x="504108" y="3916244"/>
            <a:ext cx="3037114" cy="901593"/>
          </a:xfrm>
          <a:prstGeom prst="rect">
            <a:avLst/>
          </a:prstGeom>
          <a:noFill/>
        </p:spPr>
        <p:txBody>
          <a:bodyPr wrap="square">
            <a:spAutoFit/>
          </a:bodyPr>
          <a:lstStyle/>
          <a:p>
            <a:pPr>
              <a:lnSpc>
                <a:spcPct val="150000"/>
              </a:lnSpc>
            </a:pPr>
            <a:r>
              <a:rPr lang="en-AU" sz="4000" b="0" i="0">
                <a:effectLst/>
              </a:rPr>
              <a:t>2. </a:t>
            </a:r>
            <a:r>
              <a:rPr lang="en-AU" sz="4000"/>
              <a:t>r</a:t>
            </a:r>
            <a:r>
              <a:rPr lang="en-AU" sz="4000" b="0" i="0">
                <a:effectLst/>
              </a:rPr>
              <a:t>eflex</a:t>
            </a:r>
            <a:endParaRPr lang="en-AU" sz="4000"/>
          </a:p>
        </p:txBody>
      </p:sp>
      <p:sp>
        <p:nvSpPr>
          <p:cNvPr id="13" name="TextBox 12">
            <a:extLst>
              <a:ext uri="{FF2B5EF4-FFF2-40B4-BE49-F238E27FC236}">
                <a16:creationId xmlns:a16="http://schemas.microsoft.com/office/drawing/2014/main" id="{40CC9BB3-E074-32AC-C8D3-5EF294C3D5ED}"/>
              </a:ext>
            </a:extLst>
          </p:cNvPr>
          <p:cNvSpPr txBox="1"/>
          <p:nvPr/>
        </p:nvSpPr>
        <p:spPr>
          <a:xfrm>
            <a:off x="504108" y="5015802"/>
            <a:ext cx="3037114" cy="901593"/>
          </a:xfrm>
          <a:prstGeom prst="rect">
            <a:avLst/>
          </a:prstGeom>
          <a:noFill/>
        </p:spPr>
        <p:txBody>
          <a:bodyPr wrap="square">
            <a:spAutoFit/>
          </a:bodyPr>
          <a:lstStyle/>
          <a:p>
            <a:pPr>
              <a:lnSpc>
                <a:spcPct val="150000"/>
              </a:lnSpc>
            </a:pPr>
            <a:r>
              <a:rPr lang="en-AU" sz="4000" b="0" i="0">
                <a:effectLst/>
              </a:rPr>
              <a:t>3. </a:t>
            </a:r>
            <a:r>
              <a:rPr lang="en-AU" sz="4000"/>
              <a:t>a</a:t>
            </a:r>
            <a:r>
              <a:rPr lang="en-AU" sz="4000" b="0" i="0">
                <a:effectLst/>
              </a:rPr>
              <a:t>cute</a:t>
            </a:r>
            <a:endParaRPr lang="en-AU" sz="4000"/>
          </a:p>
        </p:txBody>
      </p:sp>
      <p:grpSp>
        <p:nvGrpSpPr>
          <p:cNvPr id="19" name="Group 18" descr="Blue box that says an angle that measures between 180° and 360°&#10;">
            <a:extLst>
              <a:ext uri="{FF2B5EF4-FFF2-40B4-BE49-F238E27FC236}">
                <a16:creationId xmlns:a16="http://schemas.microsoft.com/office/drawing/2014/main" id="{AFBF56A1-46F7-6303-7899-AC1F512BCB03}"/>
              </a:ext>
            </a:extLst>
          </p:cNvPr>
          <p:cNvGrpSpPr/>
          <p:nvPr/>
        </p:nvGrpSpPr>
        <p:grpSpPr>
          <a:xfrm>
            <a:off x="5725067" y="2385530"/>
            <a:ext cx="6046149" cy="1131848"/>
            <a:chOff x="5813892" y="2388892"/>
            <a:chExt cx="5725770" cy="1131848"/>
          </a:xfrm>
        </p:grpSpPr>
        <p:sp>
          <p:nvSpPr>
            <p:cNvPr id="15" name="Rectangle: Rounded Corners 14">
              <a:extLst>
                <a:ext uri="{FF2B5EF4-FFF2-40B4-BE49-F238E27FC236}">
                  <a16:creationId xmlns:a16="http://schemas.microsoft.com/office/drawing/2014/main" id="{A5081F16-0EB8-26A1-8B6A-18DB0DEA3840}"/>
                </a:ext>
              </a:extLst>
            </p:cNvPr>
            <p:cNvSpPr/>
            <p:nvPr/>
          </p:nvSpPr>
          <p:spPr>
            <a:xfrm>
              <a:off x="5813892" y="2402202"/>
              <a:ext cx="5623794" cy="1109877"/>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TextBox 10">
              <a:extLst>
                <a:ext uri="{FF2B5EF4-FFF2-40B4-BE49-F238E27FC236}">
                  <a16:creationId xmlns:a16="http://schemas.microsoft.com/office/drawing/2014/main" id="{80E9B035-AA92-38C8-CA39-87D2A9C5EB58}"/>
                </a:ext>
              </a:extLst>
            </p:cNvPr>
            <p:cNvSpPr txBox="1"/>
            <p:nvPr/>
          </p:nvSpPr>
          <p:spPr>
            <a:xfrm>
              <a:off x="5991540" y="2388892"/>
              <a:ext cx="5548122" cy="1131848"/>
            </a:xfrm>
            <a:prstGeom prst="rect">
              <a:avLst/>
            </a:prstGeom>
            <a:noFill/>
            <a:ln>
              <a:noFill/>
            </a:ln>
          </p:spPr>
          <p:txBody>
            <a:bodyPr wrap="square">
              <a:spAutoFit/>
            </a:bodyPr>
            <a:lstStyle/>
            <a:p>
              <a:pPr>
                <a:lnSpc>
                  <a:spcPct val="150000"/>
                </a:lnSpc>
              </a:pPr>
              <a:r>
                <a:rPr lang="en-AU" b="1" i="0">
                  <a:effectLst/>
                </a:rPr>
                <a:t>A. </a:t>
              </a:r>
              <a:r>
                <a:rPr lang="en-AU" b="0" i="0">
                  <a:effectLst/>
                </a:rPr>
                <a:t>An angle that measures between 180</a:t>
              </a:r>
              <a:r>
                <a:rPr lang="en-AU"/>
                <a:t>°</a:t>
              </a:r>
              <a:r>
                <a:rPr lang="en-AU" b="0" i="0">
                  <a:effectLst/>
                </a:rPr>
                <a:t> and 360</a:t>
              </a:r>
              <a:r>
                <a:rPr lang="en-AU"/>
                <a:t>°</a:t>
              </a:r>
            </a:p>
          </p:txBody>
        </p:sp>
      </p:grpSp>
      <p:grpSp>
        <p:nvGrpSpPr>
          <p:cNvPr id="18" name="Group 17" descr="Purple box that says an angle smaller than a right angle, between 0° and 90°.&#10;">
            <a:extLst>
              <a:ext uri="{FF2B5EF4-FFF2-40B4-BE49-F238E27FC236}">
                <a16:creationId xmlns:a16="http://schemas.microsoft.com/office/drawing/2014/main" id="{42C1BCA0-5360-67D5-9BD8-1D99CBD4B307}"/>
              </a:ext>
            </a:extLst>
          </p:cNvPr>
          <p:cNvGrpSpPr/>
          <p:nvPr/>
        </p:nvGrpSpPr>
        <p:grpSpPr>
          <a:xfrm>
            <a:off x="5700619" y="3838106"/>
            <a:ext cx="6245357" cy="1131848"/>
            <a:chOff x="5570793" y="3828140"/>
            <a:chExt cx="5801442" cy="1131848"/>
          </a:xfrm>
        </p:grpSpPr>
        <p:sp>
          <p:nvSpPr>
            <p:cNvPr id="16" name="Rectangle: Rounded Corners 15">
              <a:extLst>
                <a:ext uri="{FF2B5EF4-FFF2-40B4-BE49-F238E27FC236}">
                  <a16:creationId xmlns:a16="http://schemas.microsoft.com/office/drawing/2014/main" id="{84C7DECA-3FA0-A9E5-39CB-CBF4710C6CCB}"/>
                </a:ext>
              </a:extLst>
            </p:cNvPr>
            <p:cNvSpPr/>
            <p:nvPr/>
          </p:nvSpPr>
          <p:spPr>
            <a:xfrm>
              <a:off x="5570793" y="3846275"/>
              <a:ext cx="5623794" cy="1109877"/>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31D8B08B-E5EB-C71A-355E-43D633E6BE75}"/>
                </a:ext>
              </a:extLst>
            </p:cNvPr>
            <p:cNvSpPr txBox="1"/>
            <p:nvPr/>
          </p:nvSpPr>
          <p:spPr>
            <a:xfrm>
              <a:off x="5748441" y="3828140"/>
              <a:ext cx="5623794" cy="1131848"/>
            </a:xfrm>
            <a:prstGeom prst="rect">
              <a:avLst/>
            </a:prstGeom>
            <a:noFill/>
          </p:spPr>
          <p:txBody>
            <a:bodyPr wrap="square">
              <a:spAutoFit/>
            </a:bodyPr>
            <a:lstStyle/>
            <a:p>
              <a:pPr>
                <a:lnSpc>
                  <a:spcPct val="150000"/>
                </a:lnSpc>
              </a:pPr>
              <a:r>
                <a:rPr lang="en-AU" b="1" i="0" dirty="0">
                  <a:effectLst/>
                </a:rPr>
                <a:t>B. </a:t>
              </a:r>
              <a:r>
                <a:rPr lang="en-AU" b="0" i="0" dirty="0">
                  <a:effectLst/>
                </a:rPr>
                <a:t>An angle smaller than a right angle, between 0° and 90°</a:t>
              </a:r>
              <a:endParaRPr lang="en-AU" dirty="0"/>
            </a:p>
          </p:txBody>
        </p:sp>
      </p:grpSp>
      <p:grpSp>
        <p:nvGrpSpPr>
          <p:cNvPr id="20" name="Group 19" descr="Red box that says an angle bigger than a right angle (90°) but smaller than a straight angle (180°).">
            <a:extLst>
              <a:ext uri="{FF2B5EF4-FFF2-40B4-BE49-F238E27FC236}">
                <a16:creationId xmlns:a16="http://schemas.microsoft.com/office/drawing/2014/main" id="{B586D254-7086-8152-4588-D621F74BAF27}"/>
              </a:ext>
            </a:extLst>
          </p:cNvPr>
          <p:cNvGrpSpPr/>
          <p:nvPr/>
        </p:nvGrpSpPr>
        <p:grpSpPr>
          <a:xfrm>
            <a:off x="5706150" y="5348438"/>
            <a:ext cx="6485850" cy="1131848"/>
            <a:chOff x="6182370" y="5189172"/>
            <a:chExt cx="6043758" cy="1131848"/>
          </a:xfrm>
        </p:grpSpPr>
        <p:sp>
          <p:nvSpPr>
            <p:cNvPr id="17" name="Rectangle: Rounded Corners 16">
              <a:extLst>
                <a:ext uri="{FF2B5EF4-FFF2-40B4-BE49-F238E27FC236}">
                  <a16:creationId xmlns:a16="http://schemas.microsoft.com/office/drawing/2014/main" id="{9F5956EF-80AE-5F83-E82E-0006A83501FC}"/>
                </a:ext>
              </a:extLst>
            </p:cNvPr>
            <p:cNvSpPr/>
            <p:nvPr/>
          </p:nvSpPr>
          <p:spPr>
            <a:xfrm>
              <a:off x="6182370" y="5189172"/>
              <a:ext cx="5623794" cy="1109877"/>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542143F5-0DB4-1C73-8866-3A3E7AB15B54}"/>
                </a:ext>
              </a:extLst>
            </p:cNvPr>
            <p:cNvSpPr txBox="1"/>
            <p:nvPr/>
          </p:nvSpPr>
          <p:spPr>
            <a:xfrm>
              <a:off x="6354780" y="5189172"/>
              <a:ext cx="5871348" cy="1131848"/>
            </a:xfrm>
            <a:prstGeom prst="rect">
              <a:avLst/>
            </a:prstGeom>
            <a:noFill/>
          </p:spPr>
          <p:txBody>
            <a:bodyPr wrap="square">
              <a:spAutoFit/>
            </a:bodyPr>
            <a:lstStyle/>
            <a:p>
              <a:pPr>
                <a:lnSpc>
                  <a:spcPct val="150000"/>
                </a:lnSpc>
              </a:pPr>
              <a:r>
                <a:rPr lang="en-AU" b="1" i="0">
                  <a:effectLst/>
                </a:rPr>
                <a:t>C. </a:t>
              </a:r>
              <a:r>
                <a:rPr lang="en-AU" b="0" i="0">
                  <a:effectLst/>
                </a:rPr>
                <a:t>An angle bigger than a right angle (90°) but smaller than a straight angle (180°).</a:t>
              </a:r>
              <a:endParaRPr lang="en-AU"/>
            </a:p>
          </p:txBody>
        </p:sp>
      </p:gr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sp>
        <p:nvSpPr>
          <p:cNvPr id="8" name="TextBox 7">
            <a:extLst>
              <a:ext uri="{FF2B5EF4-FFF2-40B4-BE49-F238E27FC236}">
                <a16:creationId xmlns:a16="http://schemas.microsoft.com/office/drawing/2014/main" id="{450E1015-D811-1ECB-D20F-3FF3AF5DA9D5}"/>
              </a:ext>
            </a:extLst>
          </p:cNvPr>
          <p:cNvSpPr txBox="1"/>
          <p:nvPr/>
        </p:nvSpPr>
        <p:spPr>
          <a:xfrm>
            <a:off x="964956" y="1791372"/>
            <a:ext cx="6097464" cy="982513"/>
          </a:xfrm>
          <a:prstGeom prst="rect">
            <a:avLst/>
          </a:prstGeom>
          <a:noFill/>
        </p:spPr>
        <p:txBody>
          <a:bodyPr wrap="square">
            <a:spAutoFit/>
          </a:bodyPr>
          <a:lstStyle/>
          <a:p>
            <a:pPr>
              <a:lnSpc>
                <a:spcPct val="150000"/>
              </a:lnSpc>
            </a:pPr>
            <a:r>
              <a:rPr lang="en-AU" sz="4400" b="1" i="0" u="none" strike="noStrike">
                <a:solidFill>
                  <a:srgbClr val="000000"/>
                </a:solidFill>
                <a:effectLst/>
              </a:rPr>
              <a:t>Name</a:t>
            </a:r>
            <a:r>
              <a:rPr lang="en-AU" sz="4400" b="0" i="0" u="none" strike="noStrike">
                <a:solidFill>
                  <a:srgbClr val="000000"/>
                </a:solidFill>
                <a:effectLst/>
              </a:rPr>
              <a:t> this </a:t>
            </a:r>
            <a:r>
              <a:rPr lang="en-AU" sz="4400" b="1" i="0" u="none" strike="noStrike">
                <a:solidFill>
                  <a:srgbClr val="000000"/>
                </a:solidFill>
                <a:effectLst/>
              </a:rPr>
              <a:t>object</a:t>
            </a:r>
            <a:r>
              <a:rPr lang="en-AU" sz="4400" b="0" i="0" u="none" strike="noStrike">
                <a:solidFill>
                  <a:srgbClr val="000000"/>
                </a:solidFill>
                <a:effectLst/>
              </a:rPr>
              <a:t>.</a:t>
            </a:r>
            <a:endParaRPr lang="en-AU" sz="4400"/>
          </a:p>
        </p:txBody>
      </p:sp>
      <p:sp>
        <p:nvSpPr>
          <p:cNvPr id="5" name="Freeform 4" descr="A three-dimensional solid with a triangular base and three triangular faces that slope upward to meet at a single point at the top. ">
            <a:extLst>
              <a:ext uri="{FF2B5EF4-FFF2-40B4-BE49-F238E27FC236}">
                <a16:creationId xmlns:a16="http://schemas.microsoft.com/office/drawing/2014/main" id="{22D7FE17-C5A6-AA0C-4BB7-215186A976A1}"/>
              </a:ext>
            </a:extLst>
          </p:cNvPr>
          <p:cNvSpPr/>
          <p:nvPr/>
        </p:nvSpPr>
        <p:spPr>
          <a:xfrm>
            <a:off x="6576922" y="1428177"/>
            <a:ext cx="4248842" cy="4562515"/>
          </a:xfrm>
          <a:custGeom>
            <a:avLst/>
            <a:gdLst/>
            <a:ahLst/>
            <a:cxnLst/>
            <a:rect l="l" t="t" r="r" b="b"/>
            <a:pathLst>
              <a:path w="2816100" h="3024000">
                <a:moveTo>
                  <a:pt x="0" y="0"/>
                </a:moveTo>
                <a:lnTo>
                  <a:pt x="2816100" y="0"/>
                </a:lnTo>
                <a:lnTo>
                  <a:pt x="2816100" y="3024000"/>
                </a:lnTo>
                <a:lnTo>
                  <a:pt x="0" y="30240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AU"/>
          </a:p>
        </p:txBody>
      </p:sp>
      <p:pic>
        <p:nvPicPr>
          <p:cNvPr id="3" name="Picture 2">
            <a:extLst>
              <a:ext uri="{FF2B5EF4-FFF2-40B4-BE49-F238E27FC236}">
                <a16:creationId xmlns:a16="http://schemas.microsoft.com/office/drawing/2014/main" id="{7F0D925D-1709-7016-D09D-4DDBD08A31D5}"/>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 uri="{C183D7F6-B498-43B3-948B-1728B52AA6E4}">
                <adec:decorative xmlns:adec="http://schemas.microsoft.com/office/drawing/2017/decorative" val="0"/>
              </a:ext>
            </a:extLst>
          </p:cNvPr>
          <p:cNvSpPr>
            <a:spLocks noGrp="1"/>
          </p:cNvSpPr>
          <p:nvPr>
            <p:ph type="title"/>
          </p:nvPr>
        </p:nvSpPr>
        <p:spPr>
          <a:xfrm>
            <a:off x="360000" y="360000"/>
            <a:ext cx="10367268" cy="545601"/>
          </a:xfrm>
        </p:spPr>
        <p:txBody>
          <a:bodyPr/>
          <a:lstStyle/>
          <a:p>
            <a:r>
              <a:rPr lang="en-AU"/>
              <a:t>Activity 6 – interpret integers in temperatures</a:t>
            </a:r>
          </a:p>
        </p:txBody>
      </p:sp>
      <p:pic>
        <p:nvPicPr>
          <p:cNvPr id="5" name="Picture 4" descr="Map of Australia with minimum overnight temperatures in degrees Celsius. Rockhampton, 9. Coffs harbour, 8. Thredbo, −4. Canberra, 1. Launceston, −2. Falls Creek, −8. Coober Pedy, 6. Alice Springs, 4. Kalgoorlie, 5.">
            <a:extLst>
              <a:ext uri="{FF2B5EF4-FFF2-40B4-BE49-F238E27FC236}">
                <a16:creationId xmlns:a16="http://schemas.microsoft.com/office/drawing/2014/main" id="{79309D5B-7E8B-DA0B-A9E1-E2B5B0C6D6EB}"/>
              </a:ext>
            </a:extLst>
          </p:cNvPr>
          <p:cNvPicPr>
            <a:picLocks noChangeAspect="1"/>
          </p:cNvPicPr>
          <p:nvPr/>
        </p:nvPicPr>
        <p:blipFill>
          <a:blip r:embed="rId3">
            <a:extLst>
              <a:ext uri="{28A0092B-C50C-407E-A947-70E740481C1C}">
                <a14:useLocalDpi xmlns:a14="http://schemas.microsoft.com/office/drawing/2010/main" val="0"/>
              </a:ext>
            </a:extLst>
          </a:blip>
          <a:srcRect l="12031" t="1650" r="8120" b="9416"/>
          <a:stretch>
            <a:fillRect/>
          </a:stretch>
        </p:blipFill>
        <p:spPr>
          <a:xfrm>
            <a:off x="2471393" y="1097258"/>
            <a:ext cx="7249213" cy="5708691"/>
          </a:xfrm>
          <a:prstGeom prst="rect">
            <a:avLst/>
          </a:prstGeom>
        </p:spPr>
      </p:pic>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pic>
        <p:nvPicPr>
          <p:cNvPr id="4" name="Picture 3">
            <a:extLst>
              <a:ext uri="{FF2B5EF4-FFF2-40B4-BE49-F238E27FC236}">
                <a16:creationId xmlns:a16="http://schemas.microsoft.com/office/drawing/2014/main" id="{98F6F9F3-5640-0D69-7B77-0C79E603F675}"/>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BDB0F-EDB3-D42C-B9F0-90D9CE8D95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806A67-4A8B-CFA0-2639-260EFA3DE028}"/>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(4)</a:t>
            </a:r>
          </a:p>
        </p:txBody>
      </p:sp>
      <p:sp>
        <p:nvSpPr>
          <p:cNvPr id="20" name="Text Placeholder 19">
            <a:extLst>
              <a:ext uri="{FF2B5EF4-FFF2-40B4-BE49-F238E27FC236}">
                <a16:creationId xmlns:a16="http://schemas.microsoft.com/office/drawing/2014/main" id="{A9D02E3C-0B95-BB87-7A21-CFD173887D20}"/>
              </a:ext>
            </a:extLst>
          </p:cNvPr>
          <p:cNvSpPr>
            <a:spLocks noGrp="1"/>
          </p:cNvSpPr>
          <p:nvPr>
            <p:ph type="body" sz="quarter" idx="28"/>
          </p:nvPr>
        </p:nvSpPr>
        <p:spPr>
          <a:xfrm>
            <a:off x="1804012" y="1110335"/>
            <a:ext cx="8583975" cy="1850218"/>
          </a:xfrm>
        </p:spPr>
        <p:txBody>
          <a:bodyPr/>
          <a:lstStyle/>
          <a:p>
            <a:pPr algn="ctr"/>
            <a:r>
              <a:rPr lang="en-AU" sz="4400" b="1"/>
              <a:t>Which</a:t>
            </a:r>
            <a:r>
              <a:rPr lang="en-AU" sz="4400"/>
              <a:t> of these results in a </a:t>
            </a:r>
            <a:r>
              <a:rPr lang="en-AU" sz="4400" b="1"/>
              <a:t>negative whole number</a:t>
            </a:r>
            <a:r>
              <a:rPr lang="en-AU" sz="4400"/>
              <a:t>?</a:t>
            </a:r>
          </a:p>
        </p:txBody>
      </p:sp>
      <p:sp>
        <p:nvSpPr>
          <p:cNvPr id="9" name="B">
            <a:extLst>
              <a:ext uri="{FF2B5EF4-FFF2-40B4-BE49-F238E27FC236}">
                <a16:creationId xmlns:a16="http://schemas.microsoft.com/office/drawing/2014/main" id="{C9B406B5-1B1B-BC84-2596-01F05852F38E}"/>
              </a:ext>
            </a:extLst>
          </p:cNvPr>
          <p:cNvSpPr txBox="1"/>
          <p:nvPr/>
        </p:nvSpPr>
        <p:spPr>
          <a:xfrm>
            <a:off x="561702" y="316528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31DF2179-CC68-4EE0-97E0-A4308D927550}"/>
              </a:ext>
            </a:extLst>
          </p:cNvPr>
          <p:cNvSpPr>
            <a:spLocks noGrp="1"/>
          </p:cNvSpPr>
          <p:nvPr>
            <p:ph type="body" sz="quarter" idx="31"/>
          </p:nvPr>
        </p:nvSpPr>
        <p:spPr>
          <a:xfrm>
            <a:off x="1214881" y="3108302"/>
            <a:ext cx="10175920" cy="641396"/>
          </a:xfrm>
        </p:spPr>
        <p:txBody>
          <a:bodyPr anchor="ctr"/>
          <a:lstStyle/>
          <a:p>
            <a:r>
              <a:rPr lang="en-US" sz="3600" dirty="0"/>
              <a:t>15 </a:t>
            </a:r>
            <a:r>
              <a:rPr lang="en-AU" dirty="0"/>
              <a:t>−</a:t>
            </a:r>
            <a:r>
              <a:rPr lang="en-US" sz="3600" dirty="0"/>
              <a:t> 9</a:t>
            </a:r>
          </a:p>
        </p:txBody>
      </p:sp>
      <p:sp>
        <p:nvSpPr>
          <p:cNvPr id="10" name="B">
            <a:extLst>
              <a:ext uri="{FF2B5EF4-FFF2-40B4-BE49-F238E27FC236}">
                <a16:creationId xmlns:a16="http://schemas.microsoft.com/office/drawing/2014/main" id="{E50622FB-E2C3-695B-EB8A-A6DCC20CB21A}"/>
              </a:ext>
            </a:extLst>
          </p:cNvPr>
          <p:cNvSpPr txBox="1"/>
          <p:nvPr/>
        </p:nvSpPr>
        <p:spPr>
          <a:xfrm>
            <a:off x="561698" y="411065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C73A00ED-7DB5-30D2-B4A9-C92DE2E894C8}"/>
              </a:ext>
            </a:extLst>
          </p:cNvPr>
          <p:cNvSpPr>
            <a:spLocks noGrp="1"/>
          </p:cNvSpPr>
          <p:nvPr>
            <p:ph type="body" sz="quarter" idx="30"/>
          </p:nvPr>
        </p:nvSpPr>
        <p:spPr>
          <a:xfrm>
            <a:off x="1236662" y="4097216"/>
            <a:ext cx="10175920" cy="641396"/>
          </a:xfrm>
        </p:spPr>
        <p:txBody>
          <a:bodyPr anchor="ctr"/>
          <a:lstStyle/>
          <a:p>
            <a:r>
              <a:rPr lang="en-US" sz="3600" dirty="0"/>
              <a:t>8 </a:t>
            </a:r>
            <a:r>
              <a:rPr lang="en-AU" dirty="0"/>
              <a:t>−</a:t>
            </a:r>
            <a:r>
              <a:rPr lang="en-US" sz="3600" dirty="0"/>
              <a:t> 8</a:t>
            </a:r>
          </a:p>
        </p:txBody>
      </p:sp>
      <p:sp>
        <p:nvSpPr>
          <p:cNvPr id="12" name="C">
            <a:extLst>
              <a:ext uri="{FF2B5EF4-FFF2-40B4-BE49-F238E27FC236}">
                <a16:creationId xmlns:a16="http://schemas.microsoft.com/office/drawing/2014/main" id="{0C258EAC-2959-18FA-F510-CFBA4E15CEE5}"/>
              </a:ext>
            </a:extLst>
          </p:cNvPr>
          <p:cNvSpPr txBox="1"/>
          <p:nvPr/>
        </p:nvSpPr>
        <p:spPr>
          <a:xfrm>
            <a:off x="561698" y="501636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4F46D482-F339-0F56-69AD-E717BD10B08B}"/>
              </a:ext>
            </a:extLst>
          </p:cNvPr>
          <p:cNvSpPr>
            <a:spLocks noGrp="1"/>
          </p:cNvSpPr>
          <p:nvPr>
            <p:ph type="body" sz="quarter" idx="29"/>
          </p:nvPr>
        </p:nvSpPr>
        <p:spPr>
          <a:xfrm>
            <a:off x="1236662" y="4985910"/>
            <a:ext cx="10175920" cy="641396"/>
          </a:xfrm>
        </p:spPr>
        <p:txBody>
          <a:bodyPr anchor="ctr"/>
          <a:lstStyle/>
          <a:p>
            <a:r>
              <a:rPr lang="en-US" sz="3600" dirty="0"/>
              <a:t>7 </a:t>
            </a:r>
            <a:r>
              <a:rPr lang="en-AU" dirty="0"/>
              <a:t>−</a:t>
            </a:r>
            <a:r>
              <a:rPr lang="en-US" sz="3600" dirty="0"/>
              <a:t> 12</a:t>
            </a:r>
          </a:p>
        </p:txBody>
      </p:sp>
      <p:sp>
        <p:nvSpPr>
          <p:cNvPr id="11" name="D">
            <a:extLst>
              <a:ext uri="{FF2B5EF4-FFF2-40B4-BE49-F238E27FC236}">
                <a16:creationId xmlns:a16="http://schemas.microsoft.com/office/drawing/2014/main" id="{14776889-F079-73F7-28AB-FA54A997A57B}"/>
              </a:ext>
            </a:extLst>
          </p:cNvPr>
          <p:cNvSpPr txBox="1"/>
          <p:nvPr/>
        </p:nvSpPr>
        <p:spPr>
          <a:xfrm>
            <a:off x="561698" y="594190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6A6EC998-9E5D-373F-B144-268EE2D0342A}"/>
              </a:ext>
            </a:extLst>
          </p:cNvPr>
          <p:cNvSpPr>
            <a:spLocks noGrp="1"/>
          </p:cNvSpPr>
          <p:nvPr>
            <p:ph type="body" sz="quarter" idx="27"/>
          </p:nvPr>
        </p:nvSpPr>
        <p:spPr>
          <a:xfrm>
            <a:off x="1236662" y="5856604"/>
            <a:ext cx="10175920" cy="641396"/>
          </a:xfrm>
        </p:spPr>
        <p:txBody>
          <a:bodyPr anchor="ctr"/>
          <a:lstStyle/>
          <a:p>
            <a:r>
              <a:rPr lang="en-US" sz="3600" dirty="0"/>
              <a:t>18 </a:t>
            </a:r>
            <a:r>
              <a:rPr lang="en-AU" dirty="0"/>
              <a:t>−</a:t>
            </a:r>
            <a:r>
              <a:rPr lang="en-US" sz="3600" dirty="0"/>
              <a:t> 4</a:t>
            </a:r>
          </a:p>
        </p:txBody>
      </p:sp>
      <p:sp>
        <p:nvSpPr>
          <p:cNvPr id="2" name="Slide Number Placeholder 1">
            <a:extLst>
              <a:ext uri="{FF2B5EF4-FFF2-40B4-BE49-F238E27FC236}">
                <a16:creationId xmlns:a16="http://schemas.microsoft.com/office/drawing/2014/main" id="{EA003EA6-BD98-8C0D-720D-A89B6A010C6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pic>
        <p:nvPicPr>
          <p:cNvPr id="4" name="Picture 3">
            <a:extLst>
              <a:ext uri="{FF2B5EF4-FFF2-40B4-BE49-F238E27FC236}">
                <a16:creationId xmlns:a16="http://schemas.microsoft.com/office/drawing/2014/main" id="{9E6DEC87-1992-0ACF-8BBC-408DC4F8B51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2836781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665EE-BEBE-1DBD-2844-FCB0F9E97BE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35458AC-47E9-FE7C-8EB6-EAA0B3B8C37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sp>
        <p:nvSpPr>
          <p:cNvPr id="7" name="Text Placeholder">
            <a:extLst>
              <a:ext uri="{FF2B5EF4-FFF2-40B4-BE49-F238E27FC236}">
                <a16:creationId xmlns:a16="http://schemas.microsoft.com/office/drawing/2014/main" id="{9EE8FDB7-4B0E-CE23-FB13-3DE1D0F6E9C3}"/>
              </a:ext>
            </a:extLst>
          </p:cNvPr>
          <p:cNvSpPr txBox="1">
            <a:spLocks/>
          </p:cNvSpPr>
          <p:nvPr/>
        </p:nvSpPr>
        <p:spPr>
          <a:xfrm>
            <a:off x="246024" y="1182940"/>
            <a:ext cx="11495591" cy="1833447"/>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000" dirty="0"/>
              <a:t>Order these steps to </a:t>
            </a:r>
            <a:r>
              <a:rPr lang="en-AU" sz="4000" b="1" dirty="0"/>
              <a:t>transform</a:t>
            </a:r>
            <a:r>
              <a:rPr lang="en-AU" sz="4000" dirty="0"/>
              <a:t> a </a:t>
            </a:r>
            <a:r>
              <a:rPr lang="en-AU" sz="4000" b="1" dirty="0"/>
              <a:t>parallelogram</a:t>
            </a:r>
            <a:r>
              <a:rPr lang="en-AU" sz="4000" dirty="0"/>
              <a:t> into a </a:t>
            </a:r>
            <a:r>
              <a:rPr lang="en-AU" sz="4000" b="1" dirty="0"/>
              <a:t>rectangle</a:t>
            </a:r>
            <a:r>
              <a:rPr lang="en-AU" sz="4000" dirty="0"/>
              <a:t> to find its </a:t>
            </a:r>
            <a:r>
              <a:rPr lang="en-AU" sz="4000" b="1" dirty="0"/>
              <a:t>area</a:t>
            </a:r>
            <a:r>
              <a:rPr lang="en-AU" sz="4400" b="1" dirty="0"/>
              <a:t>.</a:t>
            </a:r>
            <a:endParaRPr lang="en-US" sz="4400" dirty="0"/>
          </a:p>
        </p:txBody>
      </p:sp>
      <p:sp>
        <p:nvSpPr>
          <p:cNvPr id="2" name="Slide Number Placeholder 1">
            <a:extLst>
              <a:ext uri="{FF2B5EF4-FFF2-40B4-BE49-F238E27FC236}">
                <a16:creationId xmlns:a16="http://schemas.microsoft.com/office/drawing/2014/main" id="{0480260D-6978-9215-8753-A498A3E3FB4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pic>
        <p:nvPicPr>
          <p:cNvPr id="3" name="Picture 2">
            <a:extLst>
              <a:ext uri="{FF2B5EF4-FFF2-40B4-BE49-F238E27FC236}">
                <a16:creationId xmlns:a16="http://schemas.microsoft.com/office/drawing/2014/main" id="{21221754-C943-F2EE-DA25-3FBFCF83A6CA}"/>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14" name="Picture 13" descr="A: A vertical line has been drawn from the top left corner of the parallelogram straight down to the base. Scissors are shown at the bottom of the line, indicating that the shape is being cut along this vertical line.&#10;&#10;B: &#10;The shape is shown as a rectangle with a slanted line inside it. This shows that the triangular piece has been moved to the other side to fill the gap and make a rectangle.&#10;&#10;C: A ruler is placed vertically beside the parallelogram and a pencil is drawing a straight vertical line from the top edge to the base. This shows the step where a straight line is measured and drawn to mark where the cut will be made.">
            <a:extLst>
              <a:ext uri="{FF2B5EF4-FFF2-40B4-BE49-F238E27FC236}">
                <a16:creationId xmlns:a16="http://schemas.microsoft.com/office/drawing/2014/main" id="{47AE2B36-26B6-E88B-476B-5D475FD6C205}"/>
              </a:ext>
            </a:extLst>
          </p:cNvPr>
          <p:cNvPicPr>
            <a:picLocks noChangeAspect="1"/>
          </p:cNvPicPr>
          <p:nvPr/>
        </p:nvPicPr>
        <p:blipFill>
          <a:blip r:embed="rId4">
            <a:extLst>
              <a:ext uri="{28A0092B-C50C-407E-A947-70E740481C1C}">
                <a14:useLocalDpi xmlns:a14="http://schemas.microsoft.com/office/drawing/2010/main" val="0"/>
              </a:ext>
            </a:extLst>
          </a:blip>
          <a:srcRect l="14517" t="40185" r="7577" b="25000"/>
          <a:stretch>
            <a:fillRect/>
          </a:stretch>
        </p:blipFill>
        <p:spPr>
          <a:xfrm>
            <a:off x="1703309" y="3644900"/>
            <a:ext cx="8581020" cy="2711314"/>
          </a:xfrm>
          <a:prstGeom prst="rect">
            <a:avLst/>
          </a:prstGeom>
        </p:spPr>
      </p:pic>
    </p:spTree>
    <p:extLst>
      <p:ext uri="{BB962C8B-B14F-4D97-AF65-F5344CB8AC3E}">
        <p14:creationId xmlns:p14="http://schemas.microsoft.com/office/powerpoint/2010/main" val="2991968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pic>
        <p:nvPicPr>
          <p:cNvPr id="9" name="Picture 8" descr="What is one tenth, one hundredth and one thousandth of 3650?">
            <a:extLst>
              <a:ext uri="{FF2B5EF4-FFF2-40B4-BE49-F238E27FC236}">
                <a16:creationId xmlns:a16="http://schemas.microsoft.com/office/drawing/2014/main" id="{0BD4333C-74D7-1380-74F3-0358684DBAB4}"/>
              </a:ext>
            </a:extLst>
          </p:cNvPr>
          <p:cNvPicPr>
            <a:picLocks noChangeAspect="1"/>
          </p:cNvPicPr>
          <p:nvPr/>
        </p:nvPicPr>
        <p:blipFill>
          <a:blip r:embed="rId3"/>
          <a:stretch>
            <a:fillRect/>
          </a:stretch>
        </p:blipFill>
        <p:spPr>
          <a:xfrm>
            <a:off x="0" y="2086617"/>
            <a:ext cx="12192000" cy="2322730"/>
          </a:xfrm>
          <a:prstGeom prst="rect">
            <a:avLst/>
          </a:prstGeom>
        </p:spPr>
      </p:pic>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sp>
        <p:nvSpPr>
          <p:cNvPr id="7" name="TextBox 6">
            <a:extLst>
              <a:ext uri="{FF2B5EF4-FFF2-40B4-BE49-F238E27FC236}">
                <a16:creationId xmlns:a16="http://schemas.microsoft.com/office/drawing/2014/main" id="{204A1D44-D044-5ED5-CF63-EE0708CA543E}"/>
              </a:ext>
            </a:extLst>
          </p:cNvPr>
          <p:cNvSpPr txBox="1"/>
          <p:nvPr/>
        </p:nvSpPr>
        <p:spPr>
          <a:xfrm>
            <a:off x="850003" y="1733335"/>
            <a:ext cx="10491993" cy="3013838"/>
          </a:xfrm>
          <a:prstGeom prst="rect">
            <a:avLst/>
          </a:prstGeom>
          <a:noFill/>
        </p:spPr>
        <p:txBody>
          <a:bodyPr wrap="square">
            <a:spAutoFit/>
          </a:bodyPr>
          <a:lstStyle/>
          <a:p>
            <a:pPr algn="ctr">
              <a:lnSpc>
                <a:spcPct val="150000"/>
              </a:lnSpc>
            </a:pPr>
            <a:r>
              <a:rPr lang="en-AU" sz="4400"/>
              <a:t>Using a </a:t>
            </a:r>
            <a:r>
              <a:rPr lang="en-AU" sz="4400" b="1"/>
              <a:t>bridging strategy</a:t>
            </a:r>
            <a:r>
              <a:rPr lang="en-AU" sz="4400"/>
              <a:t>, show how much time has </a:t>
            </a:r>
            <a:r>
              <a:rPr lang="en-AU" sz="4400" b="1"/>
              <a:t>elapsed</a:t>
            </a:r>
            <a:r>
              <a:rPr lang="en-AU" sz="4400"/>
              <a:t> from </a:t>
            </a:r>
            <a:r>
              <a:rPr lang="en-AU" sz="4400" b="1"/>
              <a:t>2:45 pm </a:t>
            </a:r>
            <a:r>
              <a:rPr lang="en-AU" sz="4400"/>
              <a:t>to </a:t>
            </a:r>
            <a:r>
              <a:rPr lang="en-AU" sz="4400" b="1"/>
              <a:t>5:00 pm</a:t>
            </a:r>
            <a:r>
              <a:rPr lang="en-AU" sz="4400"/>
              <a:t>.</a:t>
            </a:r>
          </a:p>
        </p:txBody>
      </p:sp>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sp>
        <p:nvSpPr>
          <p:cNvPr id="5" name="Picture Placeholder 10">
            <a:extLst>
              <a:ext uri="{FF2B5EF4-FFF2-40B4-BE49-F238E27FC236}">
                <a16:creationId xmlns:a16="http://schemas.microsoft.com/office/drawing/2014/main" id="{4A314A09-89D4-8109-993A-D811021FBF7F}"/>
              </a:ext>
            </a:extLst>
          </p:cNvPr>
          <p:cNvSpPr txBox="1">
            <a:spLocks/>
          </p:cNvSpPr>
          <p:nvPr/>
        </p:nvSpPr>
        <p:spPr>
          <a:xfrm>
            <a:off x="814171" y="815217"/>
            <a:ext cx="10563656" cy="202773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b="1">
                <a:latin typeface="Arial"/>
                <a:cs typeface="Arial"/>
              </a:rPr>
              <a:t>Convert </a:t>
            </a:r>
            <a:r>
              <a:rPr lang="en-AU" sz="4400">
                <a:latin typeface="Arial"/>
                <a:cs typeface="Arial"/>
              </a:rPr>
              <a:t>these measurements between </a:t>
            </a:r>
            <a:r>
              <a:rPr lang="en-AU" sz="4400" b="1">
                <a:latin typeface="Arial"/>
                <a:cs typeface="Arial"/>
              </a:rPr>
              <a:t>kilograms</a:t>
            </a:r>
            <a:r>
              <a:rPr lang="en-AU" sz="4400">
                <a:latin typeface="Arial"/>
                <a:cs typeface="Arial"/>
              </a:rPr>
              <a:t> to </a:t>
            </a:r>
            <a:r>
              <a:rPr lang="en-AU" sz="4400" b="1">
                <a:latin typeface="Arial"/>
                <a:cs typeface="Arial"/>
              </a:rPr>
              <a:t>grams</a:t>
            </a:r>
            <a:r>
              <a:rPr lang="en-AU" sz="4400">
                <a:latin typeface="Arial"/>
                <a:cs typeface="Arial"/>
              </a:rPr>
              <a:t>: </a:t>
            </a:r>
            <a:endParaRPr lang="en-US" sz="4400">
              <a:latin typeface="Arial"/>
              <a:cs typeface="Arial"/>
            </a:endParaRPr>
          </a:p>
        </p:txBody>
      </p:sp>
      <p:sp>
        <p:nvSpPr>
          <p:cNvPr id="7" name="Picture Placeholder 10">
            <a:extLst>
              <a:ext uri="{FF2B5EF4-FFF2-40B4-BE49-F238E27FC236}">
                <a16:creationId xmlns:a16="http://schemas.microsoft.com/office/drawing/2014/main" id="{04F2291E-0A46-432A-CAEB-DF3441AF5997}"/>
              </a:ext>
            </a:extLst>
          </p:cNvPr>
          <p:cNvSpPr txBox="1">
            <a:spLocks/>
          </p:cNvSpPr>
          <p:nvPr/>
        </p:nvSpPr>
        <p:spPr>
          <a:xfrm>
            <a:off x="1028267" y="2644974"/>
            <a:ext cx="10135463" cy="3853026"/>
          </a:xfrm>
          <a:prstGeom prst="rect">
            <a:avLst/>
          </a:prstGeom>
        </p:spPr>
        <p:txBody>
          <a:bodyPr/>
          <a:lstStyle>
            <a:defPPr>
              <a:defRPr lang="en-US"/>
            </a:defPPr>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42950" indent="-742950">
              <a:buFont typeface="+mj-lt"/>
              <a:buAutoNum type="alphaLcParenR"/>
            </a:pPr>
            <a:r>
              <a:rPr lang="en-US" sz="4400">
                <a:latin typeface="Arial"/>
                <a:cs typeface="Arial"/>
              </a:rPr>
              <a:t>2.08 kg</a:t>
            </a:r>
          </a:p>
          <a:p>
            <a:pPr marL="742950" indent="-742950">
              <a:buFont typeface="+mj-lt"/>
              <a:buAutoNum type="alphaLcParenR"/>
            </a:pPr>
            <a:r>
              <a:rPr lang="en-US" sz="4400">
                <a:latin typeface="Arial"/>
                <a:cs typeface="Arial"/>
              </a:rPr>
              <a:t>23.75 kg</a:t>
            </a:r>
          </a:p>
          <a:p>
            <a:pPr marL="742950" indent="-742950">
              <a:buFont typeface="+mj-lt"/>
              <a:buAutoNum type="alphaLcParenR"/>
            </a:pPr>
            <a:r>
              <a:rPr lang="en-US" sz="4400">
                <a:latin typeface="Arial"/>
                <a:cs typeface="Arial"/>
              </a:rPr>
              <a:t>4.205 kg</a:t>
            </a:r>
            <a:endParaRPr lang="en-US" sz="4400"/>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pic>
        <p:nvPicPr>
          <p:cNvPr id="3" name="Picture 2">
            <a:extLst>
              <a:ext uri="{FF2B5EF4-FFF2-40B4-BE49-F238E27FC236}">
                <a16:creationId xmlns:a16="http://schemas.microsoft.com/office/drawing/2014/main" id="{981E4643-C0C9-5325-74DA-A071DDDC65A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interpret integers in weather</a:t>
            </a:r>
          </a:p>
        </p:txBody>
      </p:sp>
      <p:pic>
        <p:nvPicPr>
          <p:cNvPr id="5" name="Picture 4" descr="Average low temperature in Canada&#10;A table with 6 columns and 5 rows.&#10;The headings are: location, January, February, March, April, May&#10;Locations are Quebec, Toronto, Calgary, Vancouver.&#10;The temperature in degrees Celsius s as follows. &#10;Quebec: -14, -13, -7, 1, 8&#10;Toronto: -8, -7, -3, 3, 9&#10;Calgary: -11, -9, -5, 0, 5&#10;Vancouver: 2, 3, 4, 6, 9">
            <a:extLst>
              <a:ext uri="{FF2B5EF4-FFF2-40B4-BE49-F238E27FC236}">
                <a16:creationId xmlns:a16="http://schemas.microsoft.com/office/drawing/2014/main" id="{5E7F29D1-1FD4-486F-3C3A-F61468C973C3}"/>
              </a:ext>
            </a:extLst>
          </p:cNvPr>
          <p:cNvPicPr>
            <a:picLocks noChangeAspect="1"/>
          </p:cNvPicPr>
          <p:nvPr/>
        </p:nvPicPr>
        <p:blipFill>
          <a:blip r:embed="rId3">
            <a:extLst>
              <a:ext uri="{28A0092B-C50C-407E-A947-70E740481C1C}">
                <a14:useLocalDpi xmlns:a14="http://schemas.microsoft.com/office/drawing/2010/main" val="0"/>
              </a:ext>
            </a:extLst>
          </a:blip>
          <a:srcRect l="8339" t="5249" r="9635" b="11753"/>
          <a:stretch>
            <a:fillRect/>
          </a:stretch>
        </p:blipFill>
        <p:spPr>
          <a:xfrm>
            <a:off x="206599" y="1282674"/>
            <a:ext cx="6258044" cy="4477104"/>
          </a:xfrm>
          <a:prstGeom prst="rect">
            <a:avLst/>
          </a:prstGeom>
        </p:spPr>
      </p:pic>
      <p:sp>
        <p:nvSpPr>
          <p:cNvPr id="8" name="TextBox 7">
            <a:extLst>
              <a:ext uri="{FF2B5EF4-FFF2-40B4-BE49-F238E27FC236}">
                <a16:creationId xmlns:a16="http://schemas.microsoft.com/office/drawing/2014/main" id="{C0E40FCA-7BDE-FDD2-B5B0-F6A20F913FE8}"/>
              </a:ext>
            </a:extLst>
          </p:cNvPr>
          <p:cNvSpPr txBox="1"/>
          <p:nvPr/>
        </p:nvSpPr>
        <p:spPr>
          <a:xfrm>
            <a:off x="8294083" y="1097258"/>
            <a:ext cx="2711910" cy="606285"/>
          </a:xfrm>
          <a:prstGeom prst="rect">
            <a:avLst/>
          </a:prstGeom>
          <a:noFill/>
        </p:spPr>
        <p:txBody>
          <a:bodyPr wrap="square" lIns="0" tIns="0" rIns="0" bIns="0" rtlCol="0">
            <a:noAutofit/>
          </a:bodyPr>
          <a:lstStyle/>
          <a:p>
            <a:pPr algn="ctr"/>
            <a:r>
              <a:rPr lang="en-AU">
                <a:solidFill>
                  <a:schemeClr val="accent1"/>
                </a:solidFill>
              </a:rPr>
              <a:t>Weather wonders</a:t>
            </a:r>
          </a:p>
        </p:txBody>
      </p:sp>
      <p:graphicFrame>
        <p:nvGraphicFramePr>
          <p:cNvPr id="7" name="Table 6">
            <a:extLst>
              <a:ext uri="{FF2B5EF4-FFF2-40B4-BE49-F238E27FC236}">
                <a16:creationId xmlns:a16="http://schemas.microsoft.com/office/drawing/2014/main" id="{64CD92D7-A713-07AC-16C8-EBEBD991DD7E}"/>
              </a:ext>
              <a:ext uri="{C183D7F6-B498-43B3-948B-1728B52AA6E4}">
                <adec:decorative xmlns:adec="http://schemas.microsoft.com/office/drawing/2017/decorative" val="0"/>
              </a:ext>
            </a:extLst>
          </p:cNvPr>
          <p:cNvGraphicFramePr>
            <a:graphicFrameLocks noGrp="1"/>
          </p:cNvGraphicFramePr>
          <p:nvPr>
            <p:extLst>
              <p:ext uri="{D42A27DB-BD31-4B8C-83A1-F6EECF244321}">
                <p14:modId xmlns:p14="http://schemas.microsoft.com/office/powerpoint/2010/main" val="3811267892"/>
              </p:ext>
            </p:extLst>
          </p:nvPr>
        </p:nvGraphicFramePr>
        <p:xfrm>
          <a:off x="7473073" y="1470581"/>
          <a:ext cx="4353930" cy="4929177"/>
        </p:xfrm>
        <a:graphic>
          <a:graphicData uri="http://schemas.openxmlformats.org/drawingml/2006/table">
            <a:tbl>
              <a:tblPr firstRow="1" firstCol="1" bandRow="1">
                <a:tableStyleId>{5940675A-B579-460E-94D1-54222C63F5DA}</a:tableStyleId>
              </a:tblPr>
              <a:tblGrid>
                <a:gridCol w="1451310">
                  <a:extLst>
                    <a:ext uri="{9D8B030D-6E8A-4147-A177-3AD203B41FA5}">
                      <a16:colId xmlns:a16="http://schemas.microsoft.com/office/drawing/2014/main" val="2776229977"/>
                    </a:ext>
                  </a:extLst>
                </a:gridCol>
                <a:gridCol w="1451310">
                  <a:extLst>
                    <a:ext uri="{9D8B030D-6E8A-4147-A177-3AD203B41FA5}">
                      <a16:colId xmlns:a16="http://schemas.microsoft.com/office/drawing/2014/main" val="650448455"/>
                    </a:ext>
                  </a:extLst>
                </a:gridCol>
                <a:gridCol w="1451310">
                  <a:extLst>
                    <a:ext uri="{9D8B030D-6E8A-4147-A177-3AD203B41FA5}">
                      <a16:colId xmlns:a16="http://schemas.microsoft.com/office/drawing/2014/main" val="3049555622"/>
                    </a:ext>
                  </a:extLst>
                </a:gridCol>
              </a:tblGrid>
              <a:tr h="1643059">
                <a:tc>
                  <a:txBody>
                    <a:bodyPr/>
                    <a:lstStyle/>
                    <a:p>
                      <a:pPr algn="ctr">
                        <a:lnSpc>
                          <a:spcPct val="150000"/>
                        </a:lnSpc>
                        <a:spcBef>
                          <a:spcPts val="1200"/>
                        </a:spcBef>
                        <a:spcAft>
                          <a:spcPts val="600"/>
                        </a:spcAft>
                        <a:buNone/>
                      </a:pPr>
                      <a:r>
                        <a:rPr lang="en-AU" sz="1100">
                          <a:effectLst/>
                        </a:rPr>
                        <a:t>Is it colder in Quebec or Calgary in January?</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5274" marR="45274" marT="0" marB="0" anchor="ctr"/>
                </a:tc>
                <a:tc>
                  <a:txBody>
                    <a:bodyPr/>
                    <a:lstStyle/>
                    <a:p>
                      <a:pPr algn="ctr">
                        <a:lnSpc>
                          <a:spcPct val="150000"/>
                        </a:lnSpc>
                        <a:spcBef>
                          <a:spcPts val="1200"/>
                        </a:spcBef>
                        <a:spcAft>
                          <a:spcPts val="600"/>
                        </a:spcAft>
                        <a:buNone/>
                      </a:pPr>
                      <a:r>
                        <a:rPr lang="en-AU" sz="1100">
                          <a:effectLst/>
                        </a:rPr>
                        <a:t>By how many degrees is Calgary colder in January than May?</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5274" marR="45274" marT="0" marB="0" anchor="ctr"/>
                </a:tc>
                <a:tc>
                  <a:txBody>
                    <a:bodyPr/>
                    <a:lstStyle/>
                    <a:p>
                      <a:pPr algn="ctr">
                        <a:lnSpc>
                          <a:spcPct val="150000"/>
                        </a:lnSpc>
                        <a:spcBef>
                          <a:spcPts val="1200"/>
                        </a:spcBef>
                        <a:spcAft>
                          <a:spcPts val="600"/>
                        </a:spcAft>
                        <a:buNone/>
                      </a:pPr>
                      <a:r>
                        <a:rPr lang="en-AU" sz="1100">
                          <a:effectLst/>
                        </a:rPr>
                        <a:t>What is the difference between Quebec and Toronto’s temperatures in January?</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5274" marR="45274" marT="0" marB="0" anchor="ctr"/>
                </a:tc>
                <a:extLst>
                  <a:ext uri="{0D108BD9-81ED-4DB2-BD59-A6C34878D82A}">
                    <a16:rowId xmlns:a16="http://schemas.microsoft.com/office/drawing/2014/main" val="1315016107"/>
                  </a:ext>
                </a:extLst>
              </a:tr>
              <a:tr h="1643059">
                <a:tc>
                  <a:txBody>
                    <a:bodyPr/>
                    <a:lstStyle/>
                    <a:p>
                      <a:pPr algn="ctr">
                        <a:lnSpc>
                          <a:spcPct val="150000"/>
                        </a:lnSpc>
                        <a:spcBef>
                          <a:spcPts val="1200"/>
                        </a:spcBef>
                        <a:spcAft>
                          <a:spcPts val="600"/>
                        </a:spcAft>
                        <a:buNone/>
                      </a:pPr>
                      <a:r>
                        <a:rPr lang="en-AU" sz="1100">
                          <a:effectLst/>
                        </a:rPr>
                        <a:t>Find the difference between the warmest temperature and the coldest temperature.</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5274" marR="45274" marT="0" marB="0" anchor="ctr"/>
                </a:tc>
                <a:tc>
                  <a:txBody>
                    <a:bodyPr/>
                    <a:lstStyle/>
                    <a:p>
                      <a:pPr algn="ctr">
                        <a:lnSpc>
                          <a:spcPct val="150000"/>
                        </a:lnSpc>
                        <a:spcBef>
                          <a:spcPts val="1200"/>
                        </a:spcBef>
                        <a:spcAft>
                          <a:spcPts val="600"/>
                        </a:spcAft>
                        <a:buNone/>
                      </a:pPr>
                      <a:r>
                        <a:rPr lang="en-AU" sz="1100">
                          <a:effectLst/>
                        </a:rPr>
                        <a:t>Find the December temperatures for each city if they were 2 degrees colder than the January temperatures?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5274" marR="45274" marT="0" marB="0" anchor="ctr"/>
                </a:tc>
                <a:tc>
                  <a:txBody>
                    <a:bodyPr/>
                    <a:lstStyle/>
                    <a:p>
                      <a:pPr algn="ctr">
                        <a:lnSpc>
                          <a:spcPct val="150000"/>
                        </a:lnSpc>
                        <a:spcBef>
                          <a:spcPts val="1200"/>
                        </a:spcBef>
                        <a:spcAft>
                          <a:spcPts val="600"/>
                        </a:spcAft>
                        <a:buNone/>
                      </a:pPr>
                      <a:r>
                        <a:rPr lang="en-AU" sz="1100">
                          <a:effectLst/>
                        </a:rPr>
                        <a:t>What is the difference between the temperature in Quebec in February and April?</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5274" marR="45274" marT="0" marB="0" anchor="ctr"/>
                </a:tc>
                <a:extLst>
                  <a:ext uri="{0D108BD9-81ED-4DB2-BD59-A6C34878D82A}">
                    <a16:rowId xmlns:a16="http://schemas.microsoft.com/office/drawing/2014/main" val="2696427656"/>
                  </a:ext>
                </a:extLst>
              </a:tr>
              <a:tr h="1643059">
                <a:tc>
                  <a:txBody>
                    <a:bodyPr/>
                    <a:lstStyle/>
                    <a:p>
                      <a:pPr algn="ctr">
                        <a:lnSpc>
                          <a:spcPct val="150000"/>
                        </a:lnSpc>
                        <a:spcBef>
                          <a:spcPts val="1200"/>
                        </a:spcBef>
                        <a:spcAft>
                          <a:spcPts val="600"/>
                        </a:spcAft>
                        <a:buNone/>
                      </a:pPr>
                      <a:r>
                        <a:rPr lang="en-AU" sz="1100">
                          <a:effectLst/>
                        </a:rPr>
                        <a:t>Find the September temperature for Calgary if it was 13°C warmer than the February temperature.</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5274" marR="45274" marT="0" marB="0" anchor="ctr"/>
                </a:tc>
                <a:tc>
                  <a:txBody>
                    <a:bodyPr/>
                    <a:lstStyle/>
                    <a:p>
                      <a:pPr algn="ctr">
                        <a:lnSpc>
                          <a:spcPct val="150000"/>
                        </a:lnSpc>
                        <a:spcBef>
                          <a:spcPts val="1200"/>
                        </a:spcBef>
                        <a:spcAft>
                          <a:spcPts val="600"/>
                        </a:spcAft>
                        <a:buNone/>
                      </a:pPr>
                      <a:r>
                        <a:rPr lang="en-AU" sz="1100">
                          <a:effectLst/>
                        </a:rPr>
                        <a:t>Find the November temperatures for each city if they were 3 degrees warmer than the February temperatures.</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5274" marR="45274" marT="0" marB="0" anchor="ctr"/>
                </a:tc>
                <a:tc>
                  <a:txBody>
                    <a:bodyPr/>
                    <a:lstStyle/>
                    <a:p>
                      <a:pPr algn="ctr">
                        <a:lnSpc>
                          <a:spcPct val="150000"/>
                        </a:lnSpc>
                        <a:spcBef>
                          <a:spcPts val="1200"/>
                        </a:spcBef>
                        <a:spcAft>
                          <a:spcPts val="600"/>
                        </a:spcAft>
                        <a:buNone/>
                      </a:pPr>
                      <a:r>
                        <a:rPr lang="en-AU" sz="1100">
                          <a:effectLst/>
                        </a:rPr>
                        <a:t>Find the October temperature for Quebec if it was 12°C warmer than the March temperature.</a:t>
                      </a:r>
                      <a:endParaRPr lang="en-AU" sz="1100">
                        <a:effectLst/>
                        <a:latin typeface="Arial" panose="020B0604020202020204" pitchFamily="34" charset="0"/>
                        <a:ea typeface="Calibri" panose="020F0502020204030204" pitchFamily="34" charset="0"/>
                        <a:cs typeface="Arial" panose="020B0604020202020204" pitchFamily="34" charset="0"/>
                      </a:endParaRPr>
                    </a:p>
                  </a:txBody>
                  <a:tcPr marL="45274" marR="45274" marT="0" marB="0" anchor="ctr"/>
                </a:tc>
                <a:extLst>
                  <a:ext uri="{0D108BD9-81ED-4DB2-BD59-A6C34878D82A}">
                    <a16:rowId xmlns:a16="http://schemas.microsoft.com/office/drawing/2014/main" val="1891452038"/>
                  </a:ext>
                </a:extLst>
              </a:tr>
            </a:tbl>
          </a:graphicData>
        </a:graphic>
      </p:graphicFrame>
      <p:pic>
        <p:nvPicPr>
          <p:cNvPr id="4" name="Picture 3">
            <a:extLst>
              <a:ext uri="{FF2B5EF4-FFF2-40B4-BE49-F238E27FC236}">
                <a16:creationId xmlns:a16="http://schemas.microsoft.com/office/drawing/2014/main" id="{862A61D7-0DAF-1BF8-46D6-A2E9DEA92CB9}"/>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sp>
        <p:nvSpPr>
          <p:cNvPr id="17" name="Text Placeholder 16">
            <a:extLst>
              <a:ext uri="{FF2B5EF4-FFF2-40B4-BE49-F238E27FC236}">
                <a16:creationId xmlns:a16="http://schemas.microsoft.com/office/drawing/2014/main" id="{27D67B3F-4B77-EEF6-56F1-5A11483F7571}"/>
              </a:ext>
            </a:extLst>
          </p:cNvPr>
          <p:cNvSpPr>
            <a:spLocks noGrp="1"/>
          </p:cNvSpPr>
          <p:nvPr>
            <p:ph type="body" sz="quarter" idx="22"/>
          </p:nvPr>
        </p:nvSpPr>
        <p:spPr>
          <a:xfrm>
            <a:off x="1080203" y="2141512"/>
            <a:ext cx="10031594" cy="1916138"/>
          </a:xfrm>
        </p:spPr>
        <p:txBody>
          <a:bodyPr/>
          <a:lstStyle/>
          <a:p>
            <a:pPr algn="ctr"/>
            <a:r>
              <a:rPr lang="en-AU" sz="4400" dirty="0"/>
              <a:t>We can </a:t>
            </a:r>
            <a:r>
              <a:rPr lang="en-AU" sz="4400" b="1" dirty="0"/>
              <a:t>locate negative numbers </a:t>
            </a:r>
            <a:r>
              <a:rPr lang="en-AU" sz="4400" dirty="0"/>
              <a:t>on a </a:t>
            </a:r>
          </a:p>
          <a:p>
            <a:pPr algn="ctr"/>
            <a:r>
              <a:rPr lang="en-AU" sz="4400" b="1" dirty="0"/>
              <a:t>1- 5</a:t>
            </a:r>
            <a:r>
              <a:rPr lang="en-AU" sz="4400" dirty="0"/>
              <a:t> </a:t>
            </a:r>
            <a:r>
              <a:rPr lang="en-AU" sz="4400" b="1" dirty="0"/>
              <a:t>number line</a:t>
            </a:r>
            <a:r>
              <a:rPr lang="en-AU" sz="4400" dirty="0"/>
              <a:t>.</a:t>
            </a:r>
          </a:p>
        </p:txBody>
      </p:sp>
      <p:graphicFrame>
        <p:nvGraphicFramePr>
          <p:cNvPr id="7" name="Table 6">
            <a:extLst>
              <a:ext uri="{FF2B5EF4-FFF2-40B4-BE49-F238E27FC236}">
                <a16:creationId xmlns:a16="http://schemas.microsoft.com/office/drawing/2014/main" id="{B0BE9EA2-7745-C6E0-80F2-8B726FD5EB32}"/>
              </a:ext>
            </a:extLst>
          </p:cNvPr>
          <p:cNvGraphicFramePr>
            <a:graphicFrameLocks noGrp="1"/>
          </p:cNvGraphicFramePr>
          <p:nvPr>
            <p:extLst>
              <p:ext uri="{D42A27DB-BD31-4B8C-83A1-F6EECF244321}">
                <p14:modId xmlns:p14="http://schemas.microsoft.com/office/powerpoint/2010/main" val="427602551"/>
              </p:ext>
            </p:extLst>
          </p:nvPr>
        </p:nvGraphicFramePr>
        <p:xfrm>
          <a:off x="2557462" y="5618424"/>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a:extLst>
              <a:ext uri="{FF2B5EF4-FFF2-40B4-BE49-F238E27FC236}">
                <a16:creationId xmlns:a16="http://schemas.microsoft.com/office/drawing/2014/main" id="{64B989F8-67C4-FE7B-CC90-5BE7E2CD867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AF0A5-5E54-7BA9-170D-F5CD67E82B0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3C73E38-7FB3-76AE-DE6B-E0EB03E466A0}"/>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sp>
        <p:nvSpPr>
          <p:cNvPr id="4" name="Text Placeholder 5">
            <a:extLst>
              <a:ext uri="{FF2B5EF4-FFF2-40B4-BE49-F238E27FC236}">
                <a16:creationId xmlns:a16="http://schemas.microsoft.com/office/drawing/2014/main" id="{B9E6A85C-79C0-B01A-8497-51C2557BC21B}"/>
              </a:ext>
            </a:extLst>
          </p:cNvPr>
          <p:cNvSpPr txBox="1">
            <a:spLocks/>
          </p:cNvSpPr>
          <p:nvPr/>
        </p:nvSpPr>
        <p:spPr>
          <a:xfrm>
            <a:off x="348160" y="824441"/>
            <a:ext cx="11495840" cy="1936732"/>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If the </a:t>
            </a:r>
            <a:r>
              <a:rPr lang="en-AU" sz="4400" b="1"/>
              <a:t>area</a:t>
            </a:r>
            <a:r>
              <a:rPr lang="en-AU" sz="4400"/>
              <a:t> of this </a:t>
            </a:r>
            <a:r>
              <a:rPr lang="en-AU" sz="4400" b="1"/>
              <a:t>parallelogram</a:t>
            </a:r>
            <a:r>
              <a:rPr lang="en-AU" sz="4400"/>
              <a:t> is 16 cm</a:t>
            </a:r>
            <a:r>
              <a:rPr lang="en-AU" sz="4400" baseline="30000"/>
              <a:t>2</a:t>
            </a:r>
            <a:r>
              <a:rPr lang="en-AU" sz="4400"/>
              <a:t>, what is the </a:t>
            </a:r>
            <a:r>
              <a:rPr lang="en-AU" sz="4400" b="1"/>
              <a:t>area</a:t>
            </a:r>
            <a:r>
              <a:rPr lang="en-AU" sz="4400"/>
              <a:t> of the </a:t>
            </a:r>
            <a:r>
              <a:rPr lang="en-AU" sz="4400" b="1"/>
              <a:t>triangle</a:t>
            </a:r>
            <a:r>
              <a:rPr lang="en-AU" sz="4400"/>
              <a:t>?</a:t>
            </a:r>
          </a:p>
        </p:txBody>
      </p:sp>
      <p:grpSp>
        <p:nvGrpSpPr>
          <p:cNvPr id="11" name="Group 10" descr="Side-by-side view of a parallelogram and a triangle with blue arrows showing the same base and red arrows indicting the same height. A scale of one square equals 1 cm squared is indicated below the grid.">
            <a:extLst>
              <a:ext uri="{FF2B5EF4-FFF2-40B4-BE49-F238E27FC236}">
                <a16:creationId xmlns:a16="http://schemas.microsoft.com/office/drawing/2014/main" id="{6F548026-6F47-AA1E-D888-2177AAB43803}"/>
              </a:ext>
            </a:extLst>
          </p:cNvPr>
          <p:cNvGrpSpPr/>
          <p:nvPr/>
        </p:nvGrpSpPr>
        <p:grpSpPr>
          <a:xfrm>
            <a:off x="1731463" y="3047878"/>
            <a:ext cx="8729073" cy="2939783"/>
            <a:chOff x="1468119" y="2907719"/>
            <a:chExt cx="9255760" cy="3117161"/>
          </a:xfrm>
        </p:grpSpPr>
        <p:sp>
          <p:nvSpPr>
            <p:cNvPr id="12" name="Rectangle 11">
              <a:extLst>
                <a:ext uri="{FF2B5EF4-FFF2-40B4-BE49-F238E27FC236}">
                  <a16:creationId xmlns:a16="http://schemas.microsoft.com/office/drawing/2014/main" id="{4A5772CD-78D5-24F7-7A8A-97597BB697E7}"/>
                </a:ext>
              </a:extLst>
            </p:cNvPr>
            <p:cNvSpPr/>
            <p:nvPr/>
          </p:nvSpPr>
          <p:spPr>
            <a:xfrm>
              <a:off x="1468119" y="2907719"/>
              <a:ext cx="9255760" cy="3117161"/>
            </a:xfrm>
            <a:prstGeom prst="rect">
              <a:avLst/>
            </a:prstGeom>
            <a:solidFill>
              <a:schemeClr val="bg1"/>
            </a:solidFill>
            <a:ln>
              <a:noFill/>
            </a:ln>
            <a:effectLst>
              <a:outerShdw blurRad="292100" dist="139700" dir="2700000" algn="tl" rotWithShape="0">
                <a:srgbClr val="333333">
                  <a:alpha val="65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3" name="Group 12" descr="Side-by-side view of a parallelogram and a triangle with blue arrows showing the same base and red arrows indicting the same height. A scale of one square equals 1 cm squared is indicated below the grid.">
              <a:extLst>
                <a:ext uri="{FF2B5EF4-FFF2-40B4-BE49-F238E27FC236}">
                  <a16:creationId xmlns:a16="http://schemas.microsoft.com/office/drawing/2014/main" id="{7BB3F7BA-770B-A239-F631-D9A8690FDF38}"/>
                </a:ext>
              </a:extLst>
            </p:cNvPr>
            <p:cNvGrpSpPr/>
            <p:nvPr/>
          </p:nvGrpSpPr>
          <p:grpSpPr>
            <a:xfrm>
              <a:off x="1671170" y="2978857"/>
              <a:ext cx="8849657" cy="2974884"/>
              <a:chOff x="2274343" y="2991498"/>
              <a:chExt cx="8849657" cy="2974884"/>
            </a:xfrm>
          </p:grpSpPr>
          <p:pic>
            <p:nvPicPr>
              <p:cNvPr id="14" name="Picture 13" descr="Side-by-side view of a parallelogram and a triangle with blue arrows showing the same base and red arrows indicting the same height. A scale of one square equals 1 cm squared is indicated below the grid.">
                <a:extLst>
                  <a:ext uri="{FF2B5EF4-FFF2-40B4-BE49-F238E27FC236}">
                    <a16:creationId xmlns:a16="http://schemas.microsoft.com/office/drawing/2014/main" id="{7D820E91-EEA5-34D9-3B66-BBCAE0AFC0F3}"/>
                  </a:ext>
                </a:extLst>
              </p:cNvPr>
              <p:cNvPicPr>
                <a:picLocks noChangeAspect="1"/>
              </p:cNvPicPr>
              <p:nvPr/>
            </p:nvPicPr>
            <p:blipFill>
              <a:blip r:embed="rId3"/>
              <a:srcRect t="29105" b="14499"/>
              <a:stretch>
                <a:fillRect/>
              </a:stretch>
            </p:blipFill>
            <p:spPr>
              <a:xfrm>
                <a:off x="2274343" y="2991498"/>
                <a:ext cx="7414352" cy="2974884"/>
              </a:xfrm>
              <a:prstGeom prst="rect">
                <a:avLst/>
              </a:prstGeom>
            </p:spPr>
          </p:pic>
          <p:pic>
            <p:nvPicPr>
              <p:cNvPr id="15" name="Picture 14" descr="Side-by-side view of a parallelogram and a triangle with blue arrows showing the same base and red arrows indicting the same height. A scale of one square equals 1 cm squared is indicated below the grid.">
                <a:extLst>
                  <a:ext uri="{FF2B5EF4-FFF2-40B4-BE49-F238E27FC236}">
                    <a16:creationId xmlns:a16="http://schemas.microsoft.com/office/drawing/2014/main" id="{523A3999-2C59-6C44-C717-E0F071372709}"/>
                  </a:ext>
                </a:extLst>
              </p:cNvPr>
              <p:cNvPicPr>
                <a:picLocks noChangeAspect="1"/>
              </p:cNvPicPr>
              <p:nvPr/>
            </p:nvPicPr>
            <p:blipFill>
              <a:blip r:embed="rId3"/>
              <a:srcRect l="13290" t="85287" r="66967"/>
              <a:stretch>
                <a:fillRect/>
              </a:stretch>
            </p:blipFill>
            <p:spPr>
              <a:xfrm>
                <a:off x="9915686" y="4930093"/>
                <a:ext cx="1208314" cy="640622"/>
              </a:xfrm>
              <a:prstGeom prst="rect">
                <a:avLst/>
              </a:prstGeom>
            </p:spPr>
          </p:pic>
        </p:grpSp>
      </p:grpSp>
      <p:sp>
        <p:nvSpPr>
          <p:cNvPr id="7" name="Text Placeholder 5">
            <a:extLst>
              <a:ext uri="{FF2B5EF4-FFF2-40B4-BE49-F238E27FC236}">
                <a16:creationId xmlns:a16="http://schemas.microsoft.com/office/drawing/2014/main" id="{3544F22E-DD03-39E7-1F0E-F9C4B5DE79FB}"/>
              </a:ext>
            </a:extLst>
          </p:cNvPr>
          <p:cNvSpPr txBox="1">
            <a:spLocks/>
          </p:cNvSpPr>
          <p:nvPr/>
        </p:nvSpPr>
        <p:spPr>
          <a:xfrm>
            <a:off x="890421" y="5987661"/>
            <a:ext cx="10411158" cy="813187"/>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b="1"/>
              <a:t>Communicate</a:t>
            </a:r>
            <a:r>
              <a:rPr lang="en-AU" sz="3600"/>
              <a:t> your </a:t>
            </a:r>
            <a:r>
              <a:rPr lang="en-AU" sz="3600" b="1"/>
              <a:t>reasoning</a:t>
            </a:r>
            <a:r>
              <a:rPr lang="en-AU" sz="3600"/>
              <a:t>.</a:t>
            </a:r>
          </a:p>
        </p:txBody>
      </p:sp>
      <p:pic>
        <p:nvPicPr>
          <p:cNvPr id="3" name="Picture 2">
            <a:extLst>
              <a:ext uri="{FF2B5EF4-FFF2-40B4-BE49-F238E27FC236}">
                <a16:creationId xmlns:a16="http://schemas.microsoft.com/office/drawing/2014/main" id="{78EE2EFC-9D43-50AB-AA68-517AA8440C42}"/>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C869FEA-9C9E-EE83-69E5-DED35434743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Tree>
    <p:extLst>
      <p:ext uri="{BB962C8B-B14F-4D97-AF65-F5344CB8AC3E}">
        <p14:creationId xmlns:p14="http://schemas.microsoft.com/office/powerpoint/2010/main" val="85699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sp>
        <p:nvSpPr>
          <p:cNvPr id="7" name="Text Placeholder 5">
            <a:extLst>
              <a:ext uri="{FF2B5EF4-FFF2-40B4-BE49-F238E27FC236}">
                <a16:creationId xmlns:a16="http://schemas.microsoft.com/office/drawing/2014/main" id="{0446C7FA-5136-35ED-6B16-CF3755FAC511}"/>
              </a:ext>
            </a:extLst>
          </p:cNvPr>
          <p:cNvSpPr txBox="1">
            <a:spLocks/>
          </p:cNvSpPr>
          <p:nvPr/>
        </p:nvSpPr>
        <p:spPr>
          <a:xfrm>
            <a:off x="474480" y="908527"/>
            <a:ext cx="11243037" cy="161361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600" b="1"/>
              <a:t>Complete</a:t>
            </a:r>
            <a:r>
              <a:rPr lang="en-AU" sz="3600"/>
              <a:t> the number sentence by </a:t>
            </a:r>
            <a:r>
              <a:rPr lang="en-AU" sz="3600" b="1"/>
              <a:t>calculating</a:t>
            </a:r>
            <a:r>
              <a:rPr lang="en-AU" sz="3600"/>
              <a:t> the missing numbers.</a:t>
            </a:r>
          </a:p>
        </p:txBody>
      </p:sp>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pic>
        <p:nvPicPr>
          <p:cNvPr id="5" name="Picture 4" descr="An equation is shown inside a rectangular frame. It reads: 3 multiplied by something equals 180 divided by something.">
            <a:extLst>
              <a:ext uri="{FF2B5EF4-FFF2-40B4-BE49-F238E27FC236}">
                <a16:creationId xmlns:a16="http://schemas.microsoft.com/office/drawing/2014/main" id="{98A8AF3D-6639-C6EB-8414-6E1B6FAEA72E}"/>
              </a:ext>
            </a:extLst>
          </p:cNvPr>
          <p:cNvPicPr>
            <a:picLocks noChangeAspect="1"/>
          </p:cNvPicPr>
          <p:nvPr/>
        </p:nvPicPr>
        <p:blipFill>
          <a:blip r:embed="rId4"/>
          <a:stretch>
            <a:fillRect/>
          </a:stretch>
        </p:blipFill>
        <p:spPr>
          <a:xfrm>
            <a:off x="1635758" y="2800955"/>
            <a:ext cx="8920480" cy="3263958"/>
          </a:xfrm>
          <a:prstGeom prst="rect">
            <a:avLst/>
          </a:prstGeom>
        </p:spPr>
      </p:pic>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sp>
        <p:nvSpPr>
          <p:cNvPr id="7" name="TextBox 6">
            <a:extLst>
              <a:ext uri="{FF2B5EF4-FFF2-40B4-BE49-F238E27FC236}">
                <a16:creationId xmlns:a16="http://schemas.microsoft.com/office/drawing/2014/main" id="{DE8CCAA7-8F27-D7B4-CFC1-480CB7B0716B}"/>
              </a:ext>
            </a:extLst>
          </p:cNvPr>
          <p:cNvSpPr txBox="1"/>
          <p:nvPr/>
        </p:nvSpPr>
        <p:spPr>
          <a:xfrm>
            <a:off x="1339400" y="632800"/>
            <a:ext cx="9513197" cy="3013838"/>
          </a:xfrm>
          <a:prstGeom prst="rect">
            <a:avLst/>
          </a:prstGeom>
          <a:noFill/>
        </p:spPr>
        <p:txBody>
          <a:bodyPr wrap="square">
            <a:spAutoFit/>
          </a:bodyPr>
          <a:lstStyle/>
          <a:p>
            <a:pPr algn="ctr">
              <a:lnSpc>
                <a:spcPct val="150000"/>
              </a:lnSpc>
            </a:pPr>
            <a:r>
              <a:rPr lang="en-AU" sz="4400"/>
              <a:t>Carrie arrived at the waterpark at </a:t>
            </a:r>
            <a:r>
              <a:rPr lang="en-AU" sz="4400" b="1"/>
              <a:t>8:35 am</a:t>
            </a:r>
            <a:r>
              <a:rPr lang="en-AU" sz="4400"/>
              <a:t>. She remained at the water park for 7 hours and 45 minutes.</a:t>
            </a:r>
          </a:p>
        </p:txBody>
      </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
        <p:nvSpPr>
          <p:cNvPr id="4" name="TextBox 3">
            <a:extLst>
              <a:ext uri="{FF2B5EF4-FFF2-40B4-BE49-F238E27FC236}">
                <a16:creationId xmlns:a16="http://schemas.microsoft.com/office/drawing/2014/main" id="{8633D149-1A44-D960-9C9D-884DFF7AF044}"/>
              </a:ext>
            </a:extLst>
          </p:cNvPr>
          <p:cNvSpPr txBox="1"/>
          <p:nvPr/>
        </p:nvSpPr>
        <p:spPr>
          <a:xfrm>
            <a:off x="850001" y="4239202"/>
            <a:ext cx="10491993" cy="1998176"/>
          </a:xfrm>
          <a:prstGeom prst="rect">
            <a:avLst/>
          </a:prstGeom>
          <a:noFill/>
        </p:spPr>
        <p:txBody>
          <a:bodyPr wrap="square">
            <a:spAutoFit/>
          </a:bodyPr>
          <a:lstStyle/>
          <a:p>
            <a:pPr algn="ctr">
              <a:lnSpc>
                <a:spcPct val="150000"/>
              </a:lnSpc>
            </a:pPr>
            <a:r>
              <a:rPr lang="en-AU" sz="4400"/>
              <a:t>Use the </a:t>
            </a:r>
            <a:r>
              <a:rPr lang="en-AU" sz="4400" b="1"/>
              <a:t>bridging strategy</a:t>
            </a:r>
            <a:r>
              <a:rPr lang="en-AU" sz="4400"/>
              <a:t> to calculate what time Carrie left the waterpark.</a:t>
            </a:r>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sp>
        <p:nvSpPr>
          <p:cNvPr id="5" name="TextBox 4">
            <a:extLst>
              <a:ext uri="{FF2B5EF4-FFF2-40B4-BE49-F238E27FC236}">
                <a16:creationId xmlns:a16="http://schemas.microsoft.com/office/drawing/2014/main" id="{454483FA-FD68-DD98-74B8-7E373690AB90}"/>
              </a:ext>
            </a:extLst>
          </p:cNvPr>
          <p:cNvSpPr txBox="1"/>
          <p:nvPr/>
        </p:nvSpPr>
        <p:spPr>
          <a:xfrm>
            <a:off x="850003" y="1520010"/>
            <a:ext cx="10491993" cy="1998176"/>
          </a:xfrm>
          <a:prstGeom prst="rect">
            <a:avLst/>
          </a:prstGeom>
          <a:noFill/>
        </p:spPr>
        <p:txBody>
          <a:bodyPr wrap="square">
            <a:spAutoFit/>
          </a:bodyPr>
          <a:lstStyle/>
          <a:p>
            <a:pPr algn="ctr">
              <a:lnSpc>
                <a:spcPct val="150000"/>
              </a:lnSpc>
            </a:pPr>
            <a:r>
              <a:rPr lang="en-AU" sz="4400"/>
              <a:t>A movie </a:t>
            </a:r>
            <a:r>
              <a:rPr lang="en-AU" sz="4400" b="1"/>
              <a:t>started</a:t>
            </a:r>
            <a:r>
              <a:rPr lang="en-AU" sz="4400"/>
              <a:t> at </a:t>
            </a:r>
            <a:r>
              <a:rPr lang="en-AU" sz="4400" b="1"/>
              <a:t>3:15 pm </a:t>
            </a:r>
            <a:r>
              <a:rPr lang="en-AU" sz="4400"/>
              <a:t>and </a:t>
            </a:r>
            <a:r>
              <a:rPr lang="en-AU" sz="4400" b="1"/>
              <a:t>finished</a:t>
            </a:r>
            <a:r>
              <a:rPr lang="en-AU" sz="4400"/>
              <a:t> at </a:t>
            </a:r>
            <a:r>
              <a:rPr lang="en-AU" sz="4400" b="1"/>
              <a:t>6:35 pm</a:t>
            </a:r>
            <a:r>
              <a:rPr lang="en-AU" sz="4400"/>
              <a:t>.</a:t>
            </a:r>
          </a:p>
        </p:txBody>
      </p:sp>
      <p:sp>
        <p:nvSpPr>
          <p:cNvPr id="7" name="TextBox 6">
            <a:extLst>
              <a:ext uri="{FF2B5EF4-FFF2-40B4-BE49-F238E27FC236}">
                <a16:creationId xmlns:a16="http://schemas.microsoft.com/office/drawing/2014/main" id="{99345195-294E-E905-B79E-C1473EC2B7F6}"/>
              </a:ext>
            </a:extLst>
          </p:cNvPr>
          <p:cNvSpPr txBox="1"/>
          <p:nvPr/>
        </p:nvSpPr>
        <p:spPr>
          <a:xfrm>
            <a:off x="850003" y="3853973"/>
            <a:ext cx="10491993" cy="982513"/>
          </a:xfrm>
          <a:prstGeom prst="rect">
            <a:avLst/>
          </a:prstGeom>
          <a:noFill/>
        </p:spPr>
        <p:txBody>
          <a:bodyPr wrap="square">
            <a:spAutoFit/>
          </a:bodyPr>
          <a:lstStyle/>
          <a:p>
            <a:pPr algn="ctr">
              <a:lnSpc>
                <a:spcPct val="150000"/>
              </a:lnSpc>
            </a:pPr>
            <a:r>
              <a:rPr lang="en-AU" sz="4400"/>
              <a:t>How much </a:t>
            </a:r>
            <a:r>
              <a:rPr lang="en-AU" sz="4400" b="1"/>
              <a:t>time</a:t>
            </a:r>
            <a:r>
              <a:rPr lang="en-AU" sz="4400"/>
              <a:t> has </a:t>
            </a:r>
            <a:r>
              <a:rPr lang="en-AU" sz="4400" b="1"/>
              <a:t>elapsed</a:t>
            </a:r>
            <a:r>
              <a:rPr lang="en-AU" sz="4400"/>
              <a:t>?</a:t>
            </a:r>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integers on a number line</a:t>
            </a:r>
          </a:p>
        </p:txBody>
      </p:sp>
      <p:pic>
        <p:nvPicPr>
          <p:cNvPr id="3" name="Picture 2" descr="Five identical horizontal number lines are stacked vertically. Each number line runs from −20 to 8 with evenly spaced tick marks and labels. Zero is highlighted with a small red flag above the tick mark. To the right of each number line is a vertical list showing the pairs 1–6, 2–7, 3–8, 4–9 and 5–10.">
            <a:extLst>
              <a:ext uri="{FF2B5EF4-FFF2-40B4-BE49-F238E27FC236}">
                <a16:creationId xmlns:a16="http://schemas.microsoft.com/office/drawing/2014/main" id="{586F8616-D517-0DCB-41F4-E7C595D37684}"/>
              </a:ext>
            </a:extLst>
          </p:cNvPr>
          <p:cNvPicPr>
            <a:picLocks noChangeAspect="1"/>
          </p:cNvPicPr>
          <p:nvPr/>
        </p:nvPicPr>
        <p:blipFill>
          <a:blip r:embed="rId3">
            <a:extLst>
              <a:ext uri="{28A0092B-C50C-407E-A947-70E740481C1C}">
                <a14:useLocalDpi xmlns:a14="http://schemas.microsoft.com/office/drawing/2010/main" val="0"/>
              </a:ext>
            </a:extLst>
          </a:blip>
          <a:srcRect t="61501" b="18678"/>
          <a:stretch>
            <a:fillRect/>
          </a:stretch>
        </p:blipFill>
        <p:spPr bwMode="auto">
          <a:xfrm>
            <a:off x="238535" y="2322786"/>
            <a:ext cx="11714930" cy="2890115"/>
          </a:xfrm>
          <a:prstGeom prst="rect">
            <a:avLst/>
          </a:prstGeom>
          <a:noFill/>
        </p:spPr>
      </p:pic>
      <p:pic>
        <p:nvPicPr>
          <p:cNvPr id="4" name="Picture 3">
            <a:extLst>
              <a:ext uri="{FF2B5EF4-FFF2-40B4-BE49-F238E27FC236}">
                <a16:creationId xmlns:a16="http://schemas.microsoft.com/office/drawing/2014/main" id="{2307795C-5521-91B9-C866-EC547ED62852}"/>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 </a:t>
            </a:r>
            <a:r>
              <a:rPr lang="en-AU">
                <a:solidFill>
                  <a:schemeClr val="accent4"/>
                </a:solidFill>
                <a:latin typeface="+mj-lt"/>
              </a:rPr>
              <a:t>(1)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a:lstStyle/>
          <a:p>
            <a:r>
              <a:rPr lang="en-AU"/>
              <a:t>[</a:t>
            </a:r>
            <a:r>
              <a:rPr lang="en-AU" u="sng">
                <a:hlinkClick r:id="rId6"/>
              </a:rPr>
              <a:t>Mathematics K–10 Syllabus</a:t>
            </a:r>
            <a:r>
              <a:rPr lang="en-AU"/>
              <a:t> © NSW Education Standards Authority (NESA) for and on behalf of the Crown in right of the State of New South Wales, 2022.</a:t>
            </a:r>
          </a:p>
          <a:p>
            <a:r>
              <a:rPr lang="en-AU" u="sng">
                <a:hlinkClick r:id="rId7"/>
              </a:rPr>
              <a:t>National Numeracy Learning Progression</a:t>
            </a:r>
            <a:r>
              <a:rPr lang="en-AU"/>
              <a:t> © Australian Curriculum, Assessment and Reporting Authority (ACARA) 2010 to present, unless otherwise indicated. This material was downloaded from the </a:t>
            </a:r>
            <a:r>
              <a:rPr lang="en-AU" u="sng">
                <a:hlinkClick r:id="rId8"/>
              </a:rPr>
              <a:t>Australian Curriculum</a:t>
            </a:r>
            <a:r>
              <a:rPr lang="en-AU"/>
              <a:t> website (National Numeracy Learning Progression) (accessed 17 December 2025) and was not modified.</a:t>
            </a:r>
          </a:p>
          <a:p>
            <a:r>
              <a:rPr lang="en-AU"/>
              <a:t>Amplify Education (2024) </a:t>
            </a:r>
            <a:r>
              <a:rPr lang="en-AU" i="1" u="sng">
                <a:hlinkClick r:id="rId9"/>
              </a:rPr>
              <a:t>Polygons and Shapes</a:t>
            </a:r>
            <a:r>
              <a:rPr lang="en-AU"/>
              <a:t>, Amplify </a:t>
            </a:r>
            <a:r>
              <a:rPr lang="en-AU" err="1"/>
              <a:t>Polypad</a:t>
            </a:r>
            <a:r>
              <a:rPr lang="en-AU"/>
              <a:t> website, accessed 17 December 2025.</a:t>
            </a:r>
          </a:p>
          <a:p>
            <a:r>
              <a:rPr lang="en-AU" err="1"/>
              <a:t>Boaler</a:t>
            </a:r>
            <a:r>
              <a:rPr lang="en-AU"/>
              <a:t> J, Munson J and Williams C (2019) </a:t>
            </a:r>
            <a:r>
              <a:rPr lang="en-AU" i="1"/>
              <a:t>Mindset Mathematics Visualizing and Investigating Big Ideas Grade 6, </a:t>
            </a:r>
            <a:r>
              <a:rPr lang="en-AU"/>
              <a:t>Jossey-Bass, San Francisco.</a:t>
            </a:r>
          </a:p>
          <a:p>
            <a:r>
              <a:rPr lang="en-AU"/>
              <a:t>Sullivan P (2018) </a:t>
            </a:r>
            <a:r>
              <a:rPr lang="en-AU" i="1"/>
              <a:t>Challenging Mathematical Tasks</a:t>
            </a:r>
            <a:r>
              <a:rPr lang="en-AU"/>
              <a:t>, Oxford University Press, South Melbourne.</a:t>
            </a:r>
          </a:p>
          <a:p>
            <a:r>
              <a:rPr lang="en-AU"/>
              <a:t>Think Square (2026) </a:t>
            </a:r>
            <a:r>
              <a:rPr lang="en-AU" i="1" u="sng">
                <a:hlinkClick r:id="rId10"/>
              </a:rPr>
              <a:t>Number Line Golf</a:t>
            </a:r>
            <a:r>
              <a:rPr lang="en-AU"/>
              <a:t>, Think Square website, accessed 21 April 2026.</a:t>
            </a:r>
          </a:p>
          <a:p>
            <a:r>
              <a:rPr lang="en-AU"/>
              <a:t>University of Cambridge (2023) </a:t>
            </a:r>
            <a:r>
              <a:rPr lang="en-AU" i="1" u="sng">
                <a:hlinkClick r:id="rId11"/>
              </a:rPr>
              <a:t>Always, Sometimes or Never? Shape</a:t>
            </a:r>
            <a:r>
              <a:rPr lang="en-AU"/>
              <a:t>, NRICH website, accessed 17 December 2025.</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67</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6DFE1-7F5A-0A34-B8D1-1D731FCD170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072B35-0092-B3E0-FB00-EC96C2E646B9}"/>
              </a:ext>
            </a:extLst>
          </p:cNvPr>
          <p:cNvSpPr>
            <a:spLocks noGrp="1"/>
          </p:cNvSpPr>
          <p:nvPr>
            <p:ph type="title"/>
          </p:nvPr>
        </p:nvSpPr>
        <p:spPr/>
        <p:txBody>
          <a:bodyPr/>
          <a:lstStyle/>
          <a:p>
            <a:r>
              <a:rPr lang="en-AU">
                <a:latin typeface="+mj-lt"/>
              </a:rPr>
              <a:t>References </a:t>
            </a:r>
            <a:r>
              <a:rPr lang="en-AU">
                <a:solidFill>
                  <a:schemeClr val="accent4"/>
                </a:solidFill>
                <a:latin typeface="+mj-lt"/>
              </a:rPr>
              <a:t>(2)</a:t>
            </a:r>
          </a:p>
        </p:txBody>
      </p:sp>
      <p:sp>
        <p:nvSpPr>
          <p:cNvPr id="6" name="TextBox 5">
            <a:extLst>
              <a:ext uri="{FF2B5EF4-FFF2-40B4-BE49-F238E27FC236}">
                <a16:creationId xmlns:a16="http://schemas.microsoft.com/office/drawing/2014/main" id="{9EC3C253-851E-E37F-CA85-E870241F07B3}"/>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5F6E61B6-15CA-A38D-D7AB-0B8074F9C040}"/>
              </a:ext>
            </a:extLst>
          </p:cNvPr>
          <p:cNvSpPr>
            <a:spLocks noGrp="1"/>
          </p:cNvSpPr>
          <p:nvPr>
            <p:ph idx="1"/>
          </p:nvPr>
        </p:nvSpPr>
        <p:spPr/>
        <p:txBody>
          <a:bodyPr/>
          <a:lstStyle/>
          <a:p>
            <a:r>
              <a:rPr lang="en-AU"/>
              <a:t>[Van de Walle J, Karp K, Bay-Williams JM, Brass A, Bentley B, Ferguson S, Goff W, Livy S, Marshman M, Martin D, Pearn C, </a:t>
            </a:r>
            <a:r>
              <a:rPr lang="en-AU" err="1"/>
              <a:t>Prodromou</a:t>
            </a:r>
            <a:r>
              <a:rPr lang="en-AU"/>
              <a:t> T, Symons D and Wilkie K (2019) </a:t>
            </a:r>
            <a:r>
              <a:rPr lang="en-AU" i="1"/>
              <a:t>Primary and Middle Years Mathematics: Teaching Developmentally</a:t>
            </a:r>
            <a:r>
              <a:rPr lang="en-AU"/>
              <a:t>, 1st Australian </a:t>
            </a:r>
            <a:r>
              <a:rPr lang="en-AU" err="1"/>
              <a:t>edn</a:t>
            </a:r>
            <a:r>
              <a:rPr lang="en-AU"/>
              <a:t>, Pearson Education Australia, Melbourne.</a:t>
            </a:r>
          </a:p>
        </p:txBody>
      </p:sp>
      <p:sp>
        <p:nvSpPr>
          <p:cNvPr id="2" name="Slide Number Placeholder 1">
            <a:extLst>
              <a:ext uri="{FF2B5EF4-FFF2-40B4-BE49-F238E27FC236}">
                <a16:creationId xmlns:a16="http://schemas.microsoft.com/office/drawing/2014/main" id="{6D33AE1A-AD70-7C0C-9241-5FC7477853F7}"/>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68</a:t>
            </a:fld>
            <a:endParaRPr lang="en-AU"/>
          </a:p>
        </p:txBody>
      </p:sp>
    </p:spTree>
    <p:extLst>
      <p:ext uri="{BB962C8B-B14F-4D97-AF65-F5344CB8AC3E}">
        <p14:creationId xmlns:p14="http://schemas.microsoft.com/office/powerpoint/2010/main" val="830333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Props1.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2.xml><?xml version="1.0" encoding="utf-8"?>
<ds:datastoreItem xmlns:ds="http://schemas.openxmlformats.org/officeDocument/2006/customXml" ds:itemID="{E7B882FD-A7FF-41E6-B589-E4C0F973D314}"/>
</file>

<file path=customXml/itemProps3.xml><?xml version="1.0" encoding="utf-8"?>
<ds:datastoreItem xmlns:ds="http://schemas.openxmlformats.org/officeDocument/2006/customXml" ds:itemID="{CE555570-2BD4-426B-AA32-0A79CB6508A8}">
  <ds:schemaRefs>
    <ds:schemaRef ds:uri="http://schemas.microsoft.com/office/infopath/2007/PartnerControls"/>
    <ds:schemaRef ds:uri="http://purl.org/dc/terms/"/>
    <ds:schemaRef ds:uri="http://schemas.openxmlformats.org/package/2006/metadata/core-properties"/>
    <ds:schemaRef ds:uri="http://schemas.microsoft.com/office/2006/documentManagement/types"/>
    <ds:schemaRef ds:uri="http://purl.org/dc/elements/1.1/"/>
    <ds:schemaRef ds:uri="http://schemas.microsoft.com/office/2006/metadata/properties"/>
    <ds:schemaRef ds:uri="http://www.w3.org/XML/1998/namespace"/>
    <ds:schemaRef ds:uri="60129b06-f64b-40a8-96e2-c5b2f86112b1"/>
    <ds:schemaRef ds:uri="7e763d47-3c66-4c58-9425-1477fd3ccd1e"/>
    <ds:schemaRef ds:uri="http://purl.org/dc/dcmitype/"/>
  </ds:schemaRefs>
</ds:datastoreItem>
</file>

<file path=docMetadata/LabelInfo.xml><?xml version="1.0" encoding="utf-8"?>
<clbl:labelList xmlns:clbl="http://schemas.microsoft.com/office/2020/mipLabelMetadata">
  <clbl:label id="{b603dfd7-d93a-4381-a340-2995d8282205}" enabled="1" method="Standard" siteId="{05a0e69a-418a-47c1-9c25-9387261bf991}" contentBits="0" removed="0"/>
</clbl:labelList>
</file>

<file path=docProps/app.xml><?xml version="1.0" encoding="utf-8"?>
<Properties xmlns="http://schemas.openxmlformats.org/officeDocument/2006/extended-properties" xmlns:vt="http://schemas.openxmlformats.org/officeDocument/2006/docPropsVTypes">
  <Template>Review of learning template (1)</Template>
  <TotalTime>0</TotalTime>
  <Words>6400</Words>
  <Application>Microsoft Office PowerPoint</Application>
  <PresentationFormat>Widescreen</PresentationFormat>
  <Paragraphs>862</Paragraphs>
  <Slides>69</Slides>
  <Notes>69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69</vt:i4>
      </vt:variant>
    </vt:vector>
  </HeadingPairs>
  <TitlesOfParts>
    <vt:vector size="80" baseType="lpstr">
      <vt:lpstr>Wingdings</vt:lpstr>
      <vt:lpstr>Calibri</vt:lpstr>
      <vt:lpstr>Aptos Narrow</vt:lpstr>
      <vt:lpstr>Arial</vt:lpstr>
      <vt:lpstr>Arial Black</vt:lpstr>
      <vt:lpstr>Montserrat</vt:lpstr>
      <vt:lpstr>Public Sans</vt:lpstr>
      <vt:lpstr>Cambria Math</vt:lpstr>
      <vt:lpstr>Public Sans Light</vt:lpstr>
      <vt:lpstr>Times New Roman</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determine the rule that describes the relationship between the bottom number and the top number in the table</vt:lpstr>
      <vt:lpstr>Review of learning 2</vt:lpstr>
      <vt:lpstr>True or false (1)</vt:lpstr>
      <vt:lpstr>Short response (5)</vt:lpstr>
      <vt:lpstr>Short response (6)</vt:lpstr>
      <vt:lpstr>Short response (7)</vt:lpstr>
      <vt:lpstr>Short response (8)</vt:lpstr>
      <vt:lpstr>Activity 2 – describe number patterns formed by multiples</vt:lpstr>
      <vt:lpstr>Review of learning 3</vt:lpstr>
      <vt:lpstr>Multiple choice (2)</vt:lpstr>
      <vt:lpstr>Short response (9)</vt:lpstr>
      <vt:lpstr>Short response (10)</vt:lpstr>
      <vt:lpstr>Short response (11)</vt:lpstr>
      <vt:lpstr>Short response (12)</vt:lpstr>
      <vt:lpstr>Activity 3 – determine a rule describing the relationship between the bottom number and the top number in a table</vt:lpstr>
      <vt:lpstr>Review of learning 4</vt:lpstr>
      <vt:lpstr>True or false (2)</vt:lpstr>
      <vt:lpstr>Short response (13)</vt:lpstr>
      <vt:lpstr>Short response (14)</vt:lpstr>
      <vt:lpstr>Short response (15)</vt:lpstr>
      <vt:lpstr>Short response (16)</vt:lpstr>
      <vt:lpstr>Activity 4 – design a table which shows a relationship between the bottom number and the top number</vt:lpstr>
      <vt:lpstr>Review of learning 5</vt:lpstr>
      <vt:lpstr>Multiple choice (3)</vt:lpstr>
      <vt:lpstr>Short response (17)</vt:lpstr>
      <vt:lpstr>Short response (18)</vt:lpstr>
      <vt:lpstr>Short response (19)</vt:lpstr>
      <vt:lpstr>Short response (20)</vt:lpstr>
      <vt:lpstr>Activity 5 – integers are positive and negative whole numbers and zero</vt:lpstr>
      <vt:lpstr>Review of learning 6</vt:lpstr>
      <vt:lpstr>True or false (3)</vt:lpstr>
      <vt:lpstr>Short response (21)</vt:lpstr>
      <vt:lpstr>Short response (22)</vt:lpstr>
      <vt:lpstr>Short response (23)</vt:lpstr>
      <vt:lpstr>Short response (24)</vt:lpstr>
      <vt:lpstr>Activity 6 – interpret integers in temperatures</vt:lpstr>
      <vt:lpstr>Review of learning 7</vt:lpstr>
      <vt:lpstr>Multiple choice (4)</vt:lpstr>
      <vt:lpstr>Short response (25)</vt:lpstr>
      <vt:lpstr>Short response (26)</vt:lpstr>
      <vt:lpstr>Short response (27)</vt:lpstr>
      <vt:lpstr>Short response (28)</vt:lpstr>
      <vt:lpstr>Activity 7 – interpret integers in weather</vt:lpstr>
      <vt:lpstr>Review of learning 8</vt:lpstr>
      <vt:lpstr>True or false (4)</vt:lpstr>
      <vt:lpstr>Short response (29)</vt:lpstr>
      <vt:lpstr>Short response (30)</vt:lpstr>
      <vt:lpstr>Short response (31)</vt:lpstr>
      <vt:lpstr>Short response (32)</vt:lpstr>
      <vt:lpstr>Activity 8 – integers on a number line</vt:lpstr>
      <vt:lpstr>Double Venn diagram</vt:lpstr>
      <vt:lpstr>Frayer</vt:lpstr>
      <vt:lpstr>Spider map</vt:lpstr>
      <vt:lpstr>Cline</vt:lpstr>
      <vt:lpstr>Compare and contrast</vt:lpstr>
      <vt:lpstr>Multiple choice (5)</vt:lpstr>
      <vt:lpstr>Multiple choice</vt:lpstr>
      <vt:lpstr>References (1)</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2025-10-28T21:34:25Z</dcterms:created>
  <dcterms:modified xsi:type="dcterms:W3CDTF">2026-05-03T21:49:32Z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