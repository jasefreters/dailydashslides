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bookmarkIdSeed="2">
  <p:sldMasterIdLst>
    <p:sldMasterId id="2147483660" r:id="rId4"/>
  </p:sldMasterIdLst>
  <p:notesMasterIdLst>
    <p:notesMasterId r:id="rId75"/>
  </p:notesMasterIdLst>
  <p:handoutMasterIdLst>
    <p:handoutMasterId r:id="rId76"/>
  </p:handoutMasterIdLst>
  <p:sldIdLst>
    <p:sldId id="26511" r:id="rId5"/>
    <p:sldId id="26505" r:id="rId6"/>
    <p:sldId id="26359" r:id="rId7"/>
    <p:sldId id="271" r:id="rId8"/>
    <p:sldId id="26510" r:id="rId9"/>
    <p:sldId id="26508" r:id="rId10"/>
    <p:sldId id="26524" r:id="rId11"/>
    <p:sldId id="26525" r:id="rId12"/>
    <p:sldId id="26519" r:id="rId13"/>
    <p:sldId id="26575" r:id="rId14"/>
    <p:sldId id="26512" r:id="rId15"/>
    <p:sldId id="26509" r:id="rId16"/>
    <p:sldId id="26523" r:id="rId17"/>
    <p:sldId id="26529" r:id="rId18"/>
    <p:sldId id="26530" r:id="rId19"/>
    <p:sldId id="26531" r:id="rId20"/>
    <p:sldId id="26461" r:id="rId21"/>
    <p:sldId id="26513" r:id="rId22"/>
    <p:sldId id="26534" r:id="rId23"/>
    <p:sldId id="26535" r:id="rId24"/>
    <p:sldId id="26579" r:id="rId25"/>
    <p:sldId id="26537" r:id="rId26"/>
    <p:sldId id="26536" r:id="rId27"/>
    <p:sldId id="26405" r:id="rId28"/>
    <p:sldId id="26514" r:id="rId29"/>
    <p:sldId id="26539" r:id="rId30"/>
    <p:sldId id="26540" r:id="rId31"/>
    <p:sldId id="26580" r:id="rId32"/>
    <p:sldId id="26542" r:id="rId33"/>
    <p:sldId id="26543" r:id="rId34"/>
    <p:sldId id="26462" r:id="rId35"/>
    <p:sldId id="26515" r:id="rId36"/>
    <p:sldId id="26507" r:id="rId37"/>
    <p:sldId id="26546" r:id="rId38"/>
    <p:sldId id="26582" r:id="rId39"/>
    <p:sldId id="26548" r:id="rId40"/>
    <p:sldId id="26549" r:id="rId41"/>
    <p:sldId id="26420" r:id="rId42"/>
    <p:sldId id="26516" r:id="rId43"/>
    <p:sldId id="26550" r:id="rId44"/>
    <p:sldId id="26553" r:id="rId45"/>
    <p:sldId id="26578" r:id="rId46"/>
    <p:sldId id="26555" r:id="rId47"/>
    <p:sldId id="26556" r:id="rId48"/>
    <p:sldId id="26425" r:id="rId49"/>
    <p:sldId id="26517" r:id="rId50"/>
    <p:sldId id="26574" r:id="rId51"/>
    <p:sldId id="26560" r:id="rId52"/>
    <p:sldId id="26561" r:id="rId53"/>
    <p:sldId id="26562" r:id="rId54"/>
    <p:sldId id="26563" r:id="rId55"/>
    <p:sldId id="26464" r:id="rId56"/>
    <p:sldId id="26518" r:id="rId57"/>
    <p:sldId id="26564" r:id="rId58"/>
    <p:sldId id="26565" r:id="rId59"/>
    <p:sldId id="26567" r:id="rId60"/>
    <p:sldId id="26566" r:id="rId61"/>
    <p:sldId id="26568" r:id="rId62"/>
    <p:sldId id="26576" r:id="rId63"/>
    <p:sldId id="26393" r:id="rId64"/>
    <p:sldId id="26387" r:id="rId65"/>
    <p:sldId id="26395" r:id="rId66"/>
    <p:sldId id="26391" r:id="rId67"/>
    <p:sldId id="26402" r:id="rId68"/>
    <p:sldId id="26527" r:id="rId69"/>
    <p:sldId id="26545" r:id="rId70"/>
    <p:sldId id="360" r:id="rId71"/>
    <p:sldId id="26459" r:id="rId72"/>
    <p:sldId id="26460" r:id="rId73"/>
    <p:sldId id="361" r:id="rId74"/>
  </p:sldIdLst>
  <p:sldSz cx="12192000" cy="6858000"/>
  <p:notesSz cx="6858000" cy="9144000"/>
  <p:embeddedFontLst>
    <p:embeddedFont>
      <p:font typeface="Cambria Math" panose="02040503050406030204" pitchFamily="18" charset="0"/>
      <p:regular r:id="rId77"/>
    </p:embeddedFont>
    <p:embeddedFont>
      <p:font typeface="Montserrat" panose="00000500000000000000" pitchFamily="2" charset="0"/>
      <p:regular r:id="rId78"/>
      <p:bold r:id="rId79"/>
      <p:italic r:id="rId80"/>
      <p:boldItalic r:id="rId81"/>
    </p:embeddedFont>
    <p:embeddedFont>
      <p:font typeface="Public Sans" pitchFamily="2" charset="0"/>
      <p:regular r:id="rId82"/>
      <p:bold r:id="rId83"/>
      <p:italic r:id="rId84"/>
      <p:boldItalic r:id="rId85"/>
    </p:embeddedFont>
    <p:embeddedFont>
      <p:font typeface="Public Sans Light" pitchFamily="2" charset="0"/>
      <p:regular r:id="rId86"/>
      <p:italic r:id="rId87"/>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26511"/>
          </p14:sldIdLst>
        </p14:section>
        <p14:section name="Slide templates" id="{D5A8010D-981F-43AA-A0D6-182EC53CAA84}">
          <p14:sldIdLst>
            <p14:sldId id="26505"/>
            <p14:sldId id="26359"/>
            <p14:sldId id="271"/>
            <p14:sldId id="26510"/>
            <p14:sldId id="26508"/>
            <p14:sldId id="26524"/>
            <p14:sldId id="26525"/>
            <p14:sldId id="26519"/>
            <p14:sldId id="26575"/>
            <p14:sldId id="26512"/>
            <p14:sldId id="26509"/>
            <p14:sldId id="26523"/>
            <p14:sldId id="26529"/>
            <p14:sldId id="26530"/>
            <p14:sldId id="26531"/>
            <p14:sldId id="26461"/>
            <p14:sldId id="26513"/>
            <p14:sldId id="26534"/>
            <p14:sldId id="26535"/>
            <p14:sldId id="26579"/>
            <p14:sldId id="26537"/>
            <p14:sldId id="26536"/>
            <p14:sldId id="26405"/>
            <p14:sldId id="26514"/>
            <p14:sldId id="26539"/>
            <p14:sldId id="26540"/>
            <p14:sldId id="26580"/>
            <p14:sldId id="26542"/>
            <p14:sldId id="26543"/>
            <p14:sldId id="26462"/>
            <p14:sldId id="26515"/>
            <p14:sldId id="26507"/>
            <p14:sldId id="26546"/>
            <p14:sldId id="26582"/>
            <p14:sldId id="26548"/>
            <p14:sldId id="26549"/>
            <p14:sldId id="26420"/>
            <p14:sldId id="26516"/>
            <p14:sldId id="26550"/>
            <p14:sldId id="26553"/>
            <p14:sldId id="26578"/>
            <p14:sldId id="26555"/>
            <p14:sldId id="26556"/>
            <p14:sldId id="26425"/>
            <p14:sldId id="26517"/>
            <p14:sldId id="26574"/>
            <p14:sldId id="26560"/>
            <p14:sldId id="26561"/>
            <p14:sldId id="26562"/>
            <p14:sldId id="26563"/>
            <p14:sldId id="26464"/>
            <p14:sldId id="26518"/>
            <p14:sldId id="26564"/>
            <p14:sldId id="26565"/>
            <p14:sldId id="26567"/>
            <p14:sldId id="26566"/>
            <p14:sldId id="26568"/>
            <p14:sldId id="26576"/>
          </p14:sldIdLst>
        </p14:section>
        <p14:section name="Assets for teachers to create own reviews" id="{ACCADEBA-79DB-4F18-8F19-E4DF86159DFB}">
          <p14:sldIdLst>
            <p14:sldId id="26393"/>
            <p14:sldId id="26387"/>
            <p14:sldId id="26395"/>
            <p14:sldId id="26391"/>
            <p14:sldId id="26402"/>
            <p14:sldId id="26527"/>
            <p14:sldId id="26545"/>
          </p14:sldIdLst>
        </p14:section>
        <p14:section name="References &amp; copyright" id="{DBC31484-F5F8-4CB1-8DB4-A562A9780899}">
          <p14:sldIdLst>
            <p14:sldId id="360"/>
            <p14:sldId id="26459"/>
            <p14:sldId id="2646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76652228-BA2A-8E0F-B69D-752F252CA8C9}" name="Carolyn Matthews" initials="CM" userId="S::Carolyn.Matthews2@det.nsw.edu.au::7f53049a-bf0f-477a-aa49-60e3a8d71d98" providerId="AD"/>
  <p188:author id="{4021882F-C6B3-C55E-767D-27181BD16F2B}" name="Melinda Ojeda" initials="MO" userId="S::Melinda.Ojeda@det.nsw.edu.au::d90aca96-824c-4874-b48e-bcce1db91155" providerId="AD"/>
  <p188:author id="{38A50444-57C2-0ED5-4EF0-B001B3687B58}" name="Nadia Walker" initials="NW" userId="S::Nadia.Walker2@det.nsw.edu.au::1d1c495c-8f87-451e-994f-64d576866b6d" providerId="AD"/>
  <p188:author id="{117A025F-CECB-7403-D4EE-15F295013070}" name="Carolyn Matthews" initials="CM" userId="S::carolyn.matthews2@det.nsw.edu.au::7f53049a-bf0f-477a-aa49-60e3a8d71d98" providerId="AD"/>
  <p188:author id="{95D16B7D-CADB-F2BF-AC29-D680545C75EE}" name="Carrie Webeck" initials="CW" userId="S::CARRIE-ANN.WEBECK@det.nsw.edu.au::e5c4b697-ca15-4f3a-a906-1289ddc2fc07" providerId="AD"/>
  <p188:author id="{D9FAB2E2-FCDC-C762-1ECD-0FBBF02124FD}" name="Annette Price" initials="AP" userId="S::Annette.Price4@det.nsw.edu.au::c1f433aa-1df1-446c-8140-9fd9ba3c3a08"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6CFD"/>
    <a:srgbClr val="000000"/>
    <a:srgbClr val="FFFFFF"/>
    <a:srgbClr val="002664"/>
    <a:srgbClr val="EA9B0C"/>
    <a:srgbClr val="007A8A"/>
    <a:srgbClr val="9B6808"/>
    <a:srgbClr val="427B2D"/>
    <a:srgbClr val="B51458"/>
    <a:srgbClr val="00AC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824" autoAdjust="0"/>
  </p:normalViewPr>
  <p:slideViewPr>
    <p:cSldViewPr snapToGrid="0">
      <p:cViewPr varScale="1">
        <p:scale>
          <a:sx n="77" d="100"/>
          <a:sy n="77" d="100"/>
        </p:scale>
        <p:origin x="812" y="56"/>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8.fntdata"/><Relationship Id="rId89" Type="http://schemas.openxmlformats.org/officeDocument/2006/relationships/viewProps" Target="view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3.fntdata"/><Relationship Id="rId5" Type="http://schemas.openxmlformats.org/officeDocument/2006/relationships/slide" Target="slides/slide1.xml"/><Relationship Id="rId90" Type="http://schemas.openxmlformats.org/officeDocument/2006/relationships/theme" Target="theme/theme1.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font" Target="fonts/font1.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4.fntdata"/><Relationship Id="rId85" Type="http://schemas.openxmlformats.org/officeDocument/2006/relationships/font" Target="fonts/font9.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83" Type="http://schemas.openxmlformats.org/officeDocument/2006/relationships/font" Target="fonts/font7.fntdata"/><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font" Target="fonts/font10.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handoutMaster" Target="handoutMasters/handoutMaster1.xml"/><Relationship Id="rId7" Type="http://schemas.openxmlformats.org/officeDocument/2006/relationships/slide" Target="slides/slide3.xml"/><Relationship Id="rId71" Type="http://schemas.openxmlformats.org/officeDocument/2006/relationships/slide" Target="slides/slide67.xml"/><Relationship Id="rId92" Type="http://schemas.microsoft.com/office/2018/10/relationships/authors" Target="author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1.fntdata"/><Relationship Id="rId61" Type="http://schemas.openxmlformats.org/officeDocument/2006/relationships/slide" Target="slides/slide57.xml"/><Relationship Id="rId82" Type="http://schemas.openxmlformats.org/officeDocument/2006/relationships/font" Target="fonts/font6.fntdata"/><Relationship Id="rId19" Type="http://schemas.openxmlformats.org/officeDocument/2006/relationships/slide" Target="slides/slide15.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1096766161139422E-2"/>
          <c:y val="7.1643700561113188E-2"/>
          <c:w val="0.89617061832316436"/>
          <c:h val="0.83348976161141863"/>
        </c:manualLayout>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cat>
            <c:strRef>
              <c:f>Sheet1!$A$2:$A$5</c:f>
              <c:strCache>
                <c:ptCount val="4"/>
                <c:pt idx="0">
                  <c:v>Bundjalung</c:v>
                </c:pt>
                <c:pt idx="1">
                  <c:v>Gumbaynggirr</c:v>
                </c:pt>
                <c:pt idx="2">
                  <c:v>Wiradjuri</c:v>
                </c:pt>
                <c:pt idx="3">
                  <c:v>Muruwari</c:v>
                </c:pt>
              </c:strCache>
            </c:strRef>
          </c:cat>
          <c:val>
            <c:numRef>
              <c:f>Sheet1!$B$2:$B$5</c:f>
              <c:numCache>
                <c:formatCode>General</c:formatCode>
                <c:ptCount val="4"/>
                <c:pt idx="0">
                  <c:v>13</c:v>
                </c:pt>
                <c:pt idx="1">
                  <c:v>10</c:v>
                </c:pt>
                <c:pt idx="2">
                  <c:v>15</c:v>
                </c:pt>
                <c:pt idx="3">
                  <c:v>8</c:v>
                </c:pt>
              </c:numCache>
            </c:numRef>
          </c:val>
          <c:extLst>
            <c:ext xmlns:c16="http://schemas.microsoft.com/office/drawing/2014/chart" uri="{C3380CC4-5D6E-409C-BE32-E72D297353CC}">
              <c16:uniqueId val="{00000000-B574-4638-ABD6-0C7500C21AA5}"/>
            </c:ext>
          </c:extLst>
        </c:ser>
        <c:dLbls>
          <c:showLegendKey val="0"/>
          <c:showVal val="0"/>
          <c:showCatName val="0"/>
          <c:showSerName val="0"/>
          <c:showPercent val="0"/>
          <c:showBubbleSize val="0"/>
        </c:dLbls>
        <c:gapWidth val="219"/>
        <c:overlap val="-27"/>
        <c:axId val="16932112"/>
        <c:axId val="16929232"/>
      </c:barChart>
      <c:catAx>
        <c:axId val="16932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16929232"/>
        <c:crosses val="autoZero"/>
        <c:auto val="1"/>
        <c:lblAlgn val="ctr"/>
        <c:lblOffset val="100"/>
        <c:noMultiLvlLbl val="0"/>
      </c:catAx>
      <c:valAx>
        <c:axId val="169292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1693211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a:outerShdw blurRad="63500" sx="102000" sy="102000" algn="ctr" rotWithShape="0">
        <a:prstClr val="black">
          <a:alpha val="40000"/>
        </a:prstClr>
      </a:outerShdw>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Column1</c:v>
                </c:pt>
              </c:strCache>
            </c:strRef>
          </c:tx>
          <c:spPr>
            <a:solidFill>
              <a:schemeClr val="tx2"/>
            </a:solidFill>
          </c:spPr>
          <c:dPt>
            <c:idx val="0"/>
            <c:bubble3D val="0"/>
            <c:spPr>
              <a:solidFill>
                <a:srgbClr val="FFFF00"/>
              </a:solidFill>
              <a:ln w="19050">
                <a:solidFill>
                  <a:schemeClr val="lt1"/>
                </a:solidFill>
              </a:ln>
              <a:effectLst/>
            </c:spPr>
            <c:extLst>
              <c:ext xmlns:c16="http://schemas.microsoft.com/office/drawing/2014/chart" uri="{C3380CC4-5D6E-409C-BE32-E72D297353CC}">
                <c16:uniqueId val="{00000002-6C98-43F5-B6D3-E0DEB1088A72}"/>
              </c:ext>
            </c:extLst>
          </c:dPt>
          <c:dPt>
            <c:idx val="1"/>
            <c:bubble3D val="0"/>
            <c:spPr>
              <a:solidFill>
                <a:schemeClr val="accent2">
                  <a:lumMod val="75000"/>
                </a:schemeClr>
              </a:solidFill>
              <a:ln w="19050">
                <a:solidFill>
                  <a:schemeClr val="lt1"/>
                </a:solidFill>
              </a:ln>
              <a:effectLst/>
            </c:spPr>
            <c:extLst>
              <c:ext xmlns:c16="http://schemas.microsoft.com/office/drawing/2014/chart" uri="{C3380CC4-5D6E-409C-BE32-E72D297353CC}">
                <c16:uniqueId val="{00000005-6C98-43F5-B6D3-E0DEB1088A72}"/>
              </c:ext>
            </c:extLst>
          </c:dPt>
          <c:dPt>
            <c:idx val="2"/>
            <c:bubble3D val="0"/>
            <c:spPr>
              <a:solidFill>
                <a:srgbClr val="FFC000"/>
              </a:solidFill>
              <a:ln w="19050">
                <a:solidFill>
                  <a:schemeClr val="lt1"/>
                </a:solidFill>
              </a:ln>
              <a:effectLst/>
            </c:spPr>
            <c:extLst>
              <c:ext xmlns:c16="http://schemas.microsoft.com/office/drawing/2014/chart" uri="{C3380CC4-5D6E-409C-BE32-E72D297353CC}">
                <c16:uniqueId val="{00000003-6C98-43F5-B6D3-E0DEB1088A72}"/>
              </c:ext>
            </c:extLst>
          </c:dPt>
          <c:dPt>
            <c:idx val="3"/>
            <c:bubble3D val="0"/>
            <c:spPr>
              <a:solidFill>
                <a:srgbClr val="7030A0"/>
              </a:solidFill>
              <a:ln w="19050">
                <a:solidFill>
                  <a:schemeClr val="lt1"/>
                </a:solidFill>
              </a:ln>
              <a:effectLst/>
            </c:spPr>
            <c:extLst>
              <c:ext xmlns:c16="http://schemas.microsoft.com/office/drawing/2014/chart" uri="{C3380CC4-5D6E-409C-BE32-E72D297353CC}">
                <c16:uniqueId val="{00000004-6C98-43F5-B6D3-E0DEB1088A72}"/>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0.25</c:v>
                </c:pt>
                <c:pt idx="1">
                  <c:v>0.25</c:v>
                </c:pt>
                <c:pt idx="2">
                  <c:v>0.25</c:v>
                </c:pt>
                <c:pt idx="3">
                  <c:v>0.252</c:v>
                </c:pt>
              </c:numCache>
            </c:numRef>
          </c:val>
          <c:extLst>
            <c:ext xmlns:c16="http://schemas.microsoft.com/office/drawing/2014/chart" uri="{C3380CC4-5D6E-409C-BE32-E72D297353CC}">
              <c16:uniqueId val="{00000000-6C98-43F5-B6D3-E0DEB1088A72}"/>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spc="0" baseline="0">
                <a:solidFill>
                  <a:schemeClr val="tx1"/>
                </a:solidFill>
                <a:latin typeface="+mn-lt"/>
                <a:ea typeface="+mn-ea"/>
                <a:cs typeface="+mn-cs"/>
              </a:defRPr>
            </a:pPr>
            <a:r>
              <a:rPr lang="en-AU" b="1">
                <a:solidFill>
                  <a:schemeClr val="tx1"/>
                </a:solidFill>
              </a:rPr>
              <a:t>Favourite Playground Equipment</a:t>
            </a:r>
          </a:p>
        </c:rich>
      </c:tx>
      <c:layout>
        <c:manualLayout>
          <c:xMode val="edge"/>
          <c:yMode val="edge"/>
          <c:x val="0.31776867134357145"/>
          <c:y val="1.6105820567462591E-2"/>
        </c:manualLayout>
      </c:layout>
      <c:overlay val="0"/>
      <c:spPr>
        <a:noFill/>
        <a:ln>
          <a:noFill/>
        </a:ln>
        <a:effectLst/>
      </c:spPr>
      <c:txPr>
        <a:bodyPr rot="0" spcFirstLastPara="1" vertOverflow="ellipsis" vert="horz" wrap="square" anchor="ctr" anchorCtr="1"/>
        <a:lstStyle/>
        <a:p>
          <a:pPr>
            <a:defRPr sz="1862" b="1" i="0" u="none" strike="noStrike" kern="1200" spc="0" baseline="0">
              <a:solidFill>
                <a:schemeClr val="tx1"/>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Series 1</c:v>
                </c:pt>
              </c:strCache>
            </c:strRef>
          </c:tx>
          <c:spPr>
            <a:solidFill>
              <a:schemeClr val="accent2"/>
            </a:solidFill>
            <a:ln>
              <a:noFill/>
            </a:ln>
            <a:effectLst/>
          </c:spPr>
          <c:invertIfNegative val="0"/>
          <c:cat>
            <c:strRef>
              <c:f>Sheet1!$A$2:$A$6</c:f>
              <c:strCache>
                <c:ptCount val="5"/>
                <c:pt idx="0">
                  <c:v>Ball game facilities</c:v>
                </c:pt>
                <c:pt idx="1">
                  <c:v>Swings</c:v>
                </c:pt>
                <c:pt idx="2">
                  <c:v>Skate and bike ramp</c:v>
                </c:pt>
                <c:pt idx="3">
                  <c:v>Climbing equipment</c:v>
                </c:pt>
                <c:pt idx="4">
                  <c:v>Slides</c:v>
                </c:pt>
              </c:strCache>
            </c:strRef>
          </c:cat>
          <c:val>
            <c:numRef>
              <c:f>Sheet1!$B$2:$B$6</c:f>
              <c:numCache>
                <c:formatCode>General</c:formatCode>
                <c:ptCount val="5"/>
                <c:pt idx="0">
                  <c:v>60</c:v>
                </c:pt>
                <c:pt idx="1">
                  <c:v>15</c:v>
                </c:pt>
                <c:pt idx="2">
                  <c:v>25</c:v>
                </c:pt>
                <c:pt idx="3">
                  <c:v>60</c:v>
                </c:pt>
                <c:pt idx="4">
                  <c:v>40</c:v>
                </c:pt>
              </c:numCache>
            </c:numRef>
          </c:val>
          <c:extLst>
            <c:ext xmlns:c16="http://schemas.microsoft.com/office/drawing/2014/chart" uri="{C3380CC4-5D6E-409C-BE32-E72D297353CC}">
              <c16:uniqueId val="{00000000-F1F9-4A49-9814-033BDD0191FB}"/>
            </c:ext>
          </c:extLst>
        </c:ser>
        <c:dLbls>
          <c:showLegendKey val="0"/>
          <c:showVal val="0"/>
          <c:showCatName val="0"/>
          <c:showSerName val="0"/>
          <c:showPercent val="0"/>
          <c:showBubbleSize val="0"/>
        </c:dLbls>
        <c:gapWidth val="182"/>
        <c:axId val="1619350655"/>
        <c:axId val="1619349695"/>
      </c:barChart>
      <c:catAx>
        <c:axId val="161935065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1619349695"/>
        <c:crosses val="autoZero"/>
        <c:auto val="1"/>
        <c:lblAlgn val="ctr"/>
        <c:lblOffset val="100"/>
        <c:noMultiLvlLbl val="0"/>
      </c:catAx>
      <c:valAx>
        <c:axId val="161934969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161935065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a:outerShdw blurRad="63500" sx="102000" sy="102000" algn="ctr" rotWithShape="0">
        <a:prstClr val="black">
          <a:alpha val="40000"/>
        </a:prstClr>
      </a:outerShdw>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spc="0" baseline="0">
                <a:solidFill>
                  <a:schemeClr val="tx1"/>
                </a:solidFill>
                <a:latin typeface="+mn-lt"/>
                <a:ea typeface="+mn-ea"/>
                <a:cs typeface="+mn-cs"/>
              </a:defRPr>
            </a:pPr>
            <a:r>
              <a:rPr lang="en-AU" b="1">
                <a:solidFill>
                  <a:schemeClr val="tx1"/>
                </a:solidFill>
              </a:rPr>
              <a:t>Favourite Playground Equipment</a:t>
            </a:r>
          </a:p>
        </c:rich>
      </c:tx>
      <c:layout>
        <c:manualLayout>
          <c:xMode val="edge"/>
          <c:yMode val="edge"/>
          <c:x val="0.31776867134357145"/>
          <c:y val="1.6105820567462591E-2"/>
        </c:manualLayout>
      </c:layout>
      <c:overlay val="0"/>
      <c:spPr>
        <a:noFill/>
        <a:ln>
          <a:noFill/>
        </a:ln>
        <a:effectLst/>
      </c:spPr>
      <c:txPr>
        <a:bodyPr rot="0" spcFirstLastPara="1" vertOverflow="ellipsis" vert="horz" wrap="square" anchor="ctr" anchorCtr="1"/>
        <a:lstStyle/>
        <a:p>
          <a:pPr>
            <a:defRPr sz="1862" b="1" i="0" u="none" strike="noStrike" kern="1200" spc="0" baseline="0">
              <a:solidFill>
                <a:schemeClr val="tx1"/>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Series 1</c:v>
                </c:pt>
              </c:strCache>
            </c:strRef>
          </c:tx>
          <c:spPr>
            <a:solidFill>
              <a:schemeClr val="accent2"/>
            </a:solidFill>
            <a:ln>
              <a:noFill/>
            </a:ln>
            <a:effectLst/>
          </c:spPr>
          <c:invertIfNegative val="0"/>
          <c:cat>
            <c:strRef>
              <c:f>Sheet1!$A$2:$A$6</c:f>
              <c:strCache>
                <c:ptCount val="5"/>
                <c:pt idx="0">
                  <c:v>Ball game facilities</c:v>
                </c:pt>
                <c:pt idx="1">
                  <c:v>Swings</c:v>
                </c:pt>
                <c:pt idx="2">
                  <c:v>Skate and bike ramp</c:v>
                </c:pt>
                <c:pt idx="3">
                  <c:v>Climbing equipment</c:v>
                </c:pt>
                <c:pt idx="4">
                  <c:v>Slides</c:v>
                </c:pt>
              </c:strCache>
            </c:strRef>
          </c:cat>
          <c:val>
            <c:numRef>
              <c:f>Sheet1!$B$2:$B$6</c:f>
              <c:numCache>
                <c:formatCode>General</c:formatCode>
                <c:ptCount val="5"/>
                <c:pt idx="0">
                  <c:v>60</c:v>
                </c:pt>
                <c:pt idx="1">
                  <c:v>15</c:v>
                </c:pt>
                <c:pt idx="2">
                  <c:v>25</c:v>
                </c:pt>
                <c:pt idx="3">
                  <c:v>60</c:v>
                </c:pt>
                <c:pt idx="4">
                  <c:v>40</c:v>
                </c:pt>
              </c:numCache>
            </c:numRef>
          </c:val>
          <c:extLst>
            <c:ext xmlns:c16="http://schemas.microsoft.com/office/drawing/2014/chart" uri="{C3380CC4-5D6E-409C-BE32-E72D297353CC}">
              <c16:uniqueId val="{00000000-F1F9-4A49-9814-033BDD0191FB}"/>
            </c:ext>
          </c:extLst>
        </c:ser>
        <c:dLbls>
          <c:showLegendKey val="0"/>
          <c:showVal val="0"/>
          <c:showCatName val="0"/>
          <c:showSerName val="0"/>
          <c:showPercent val="0"/>
          <c:showBubbleSize val="0"/>
        </c:dLbls>
        <c:gapWidth val="182"/>
        <c:axId val="1619350655"/>
        <c:axId val="1619349695"/>
      </c:barChart>
      <c:catAx>
        <c:axId val="161935065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1619349695"/>
        <c:crosses val="autoZero"/>
        <c:auto val="1"/>
        <c:lblAlgn val="ctr"/>
        <c:lblOffset val="100"/>
        <c:noMultiLvlLbl val="0"/>
      </c:catAx>
      <c:valAx>
        <c:axId val="161934969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161935065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a:outerShdw blurRad="63500" sx="102000" sy="102000" algn="ctr" rotWithShape="0">
        <a:prstClr val="black">
          <a:alpha val="40000"/>
        </a:prstClr>
      </a:outerShdw>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1">
                <a:solidFill>
                  <a:schemeClr val="tx1"/>
                </a:solidFill>
              </a:rPr>
              <a:t>Wattle</a:t>
            </a:r>
            <a:r>
              <a:rPr lang="en-US" b="1" baseline="0">
                <a:solidFill>
                  <a:schemeClr val="tx1"/>
                </a:solidFill>
              </a:rPr>
              <a:t> Street PS Stage 2 Results</a:t>
            </a:r>
            <a:endParaRPr lang="en-US" b="1">
              <a:solidFill>
                <a:schemeClr val="tx1"/>
              </a:solidFill>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Equipment</c:v>
                </c:pt>
              </c:strCache>
            </c:strRef>
          </c:tx>
          <c:spPr>
            <a:solidFill>
              <a:schemeClr val="tx2">
                <a:lumMod val="40000"/>
                <a:lumOff val="60000"/>
              </a:schemeClr>
            </a:solidFill>
            <a:ln>
              <a:noFill/>
            </a:ln>
            <a:effectLst/>
          </c:spPr>
          <c:invertIfNegative val="0"/>
          <c:cat>
            <c:strRef>
              <c:f>Sheet1!$A$2:$A$5</c:f>
              <c:strCache>
                <c:ptCount val="4"/>
                <c:pt idx="0">
                  <c:v>Basketball court</c:v>
                </c:pt>
                <c:pt idx="1">
                  <c:v>Bike track</c:v>
                </c:pt>
                <c:pt idx="2">
                  <c:v>Flying fox</c:v>
                </c:pt>
                <c:pt idx="3">
                  <c:v>Swings</c:v>
                </c:pt>
              </c:strCache>
            </c:strRef>
          </c:cat>
          <c:val>
            <c:numRef>
              <c:f>Sheet1!$B$2:$B$5</c:f>
              <c:numCache>
                <c:formatCode>General</c:formatCode>
                <c:ptCount val="4"/>
                <c:pt idx="0">
                  <c:v>50</c:v>
                </c:pt>
                <c:pt idx="1">
                  <c:v>25</c:v>
                </c:pt>
                <c:pt idx="2">
                  <c:v>39</c:v>
                </c:pt>
                <c:pt idx="3">
                  <c:v>10</c:v>
                </c:pt>
              </c:numCache>
            </c:numRef>
          </c:val>
          <c:extLst>
            <c:ext xmlns:c16="http://schemas.microsoft.com/office/drawing/2014/chart" uri="{C3380CC4-5D6E-409C-BE32-E72D297353CC}">
              <c16:uniqueId val="{00000000-8A72-4B79-9034-F63472F84672}"/>
            </c:ext>
          </c:extLst>
        </c:ser>
        <c:dLbls>
          <c:showLegendKey val="0"/>
          <c:showVal val="0"/>
          <c:showCatName val="0"/>
          <c:showSerName val="0"/>
          <c:showPercent val="0"/>
          <c:showBubbleSize val="0"/>
        </c:dLbls>
        <c:gapWidth val="219"/>
        <c:axId val="1463654672"/>
        <c:axId val="1463656592"/>
      </c:barChart>
      <c:catAx>
        <c:axId val="1463654672"/>
        <c:scaling>
          <c:orientation val="minMax"/>
        </c:scaling>
        <c:delete val="0"/>
        <c:axPos val="b"/>
        <c:title>
          <c:tx>
            <c:rich>
              <a:bodyPr rot="0" spcFirstLastPara="1" vertOverflow="ellipsis" vert="horz" wrap="square" anchor="ctr" anchorCtr="1"/>
              <a:lstStyle/>
              <a:p>
                <a:pPr>
                  <a:defRPr sz="1330" b="1" i="0" u="none" strike="noStrike" kern="1200" baseline="0">
                    <a:solidFill>
                      <a:schemeClr val="tx1"/>
                    </a:solidFill>
                    <a:latin typeface="+mn-lt"/>
                    <a:ea typeface="+mn-ea"/>
                    <a:cs typeface="+mn-cs"/>
                  </a:defRPr>
                </a:pPr>
                <a:r>
                  <a:rPr lang="en-AU" b="1">
                    <a:solidFill>
                      <a:schemeClr val="tx1"/>
                    </a:solidFill>
                  </a:rPr>
                  <a:t>Equipment</a:t>
                </a:r>
              </a:p>
            </c:rich>
          </c:tx>
          <c:overlay val="0"/>
          <c:spPr>
            <a:noFill/>
            <a:ln>
              <a:noFill/>
            </a:ln>
            <a:effectLst/>
          </c:spPr>
          <c:txPr>
            <a:bodyPr rot="0" spcFirstLastPara="1" vertOverflow="ellipsis" vert="horz" wrap="square" anchor="ctr" anchorCtr="1"/>
            <a:lstStyle/>
            <a:p>
              <a:pPr>
                <a:defRPr sz="133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1463656592"/>
        <c:crosses val="autoZero"/>
        <c:auto val="1"/>
        <c:lblAlgn val="ctr"/>
        <c:lblOffset val="100"/>
        <c:noMultiLvlLbl val="0"/>
      </c:catAx>
      <c:valAx>
        <c:axId val="146365659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1" i="0" u="none" strike="noStrike" kern="1200" baseline="0">
                    <a:solidFill>
                      <a:schemeClr val="tx1"/>
                    </a:solidFill>
                    <a:latin typeface="+mn-lt"/>
                    <a:ea typeface="+mn-ea"/>
                    <a:cs typeface="+mn-cs"/>
                  </a:defRPr>
                </a:pPr>
                <a:r>
                  <a:rPr lang="en-AU" b="1">
                    <a:solidFill>
                      <a:schemeClr val="tx1"/>
                    </a:solidFill>
                  </a:rPr>
                  <a:t>Number of votes</a:t>
                </a:r>
              </a:p>
            </c:rich>
          </c:tx>
          <c:overlay val="0"/>
          <c:spPr>
            <a:noFill/>
            <a:ln>
              <a:noFill/>
            </a:ln>
            <a:effectLst/>
          </c:spPr>
          <c:txPr>
            <a:bodyPr rot="-5400000" spcFirstLastPara="1" vertOverflow="ellipsis" vert="horz" wrap="square" anchor="ctr" anchorCtr="1"/>
            <a:lstStyle/>
            <a:p>
              <a:pPr>
                <a:defRPr sz="133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146365467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a:outerShdw blurRad="63500" sx="102000" sy="102000" algn="ctr" rotWithShape="0">
        <a:prstClr val="black">
          <a:alpha val="40000"/>
        </a:prstClr>
      </a:outerShdw>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spc="0" baseline="0">
                <a:solidFill>
                  <a:schemeClr val="tx1"/>
                </a:solidFill>
                <a:latin typeface="+mn-lt"/>
                <a:ea typeface="+mn-ea"/>
                <a:cs typeface="+mn-cs"/>
              </a:defRPr>
            </a:pPr>
            <a:r>
              <a:rPr lang="en-US" b="1">
                <a:solidFill>
                  <a:schemeClr val="tx1"/>
                </a:solidFill>
              </a:rPr>
              <a:t>Wattle Street PS Stage 2 Results </a:t>
            </a:r>
          </a:p>
        </c:rich>
      </c:tx>
      <c:overlay val="0"/>
      <c:spPr>
        <a:noFill/>
        <a:ln>
          <a:noFill/>
        </a:ln>
        <a:effectLst/>
      </c:spPr>
      <c:txPr>
        <a:bodyPr rot="0" spcFirstLastPara="1" vertOverflow="ellipsis" vert="horz" wrap="square" anchor="ctr" anchorCtr="1"/>
        <a:lstStyle/>
        <a:p>
          <a:pPr>
            <a:defRPr sz="1862" b="1"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Equipment</c:v>
                </c:pt>
              </c:strCache>
            </c:strRef>
          </c:tx>
          <c:spPr>
            <a:solidFill>
              <a:schemeClr val="accent2"/>
            </a:solidFill>
            <a:ln>
              <a:noFill/>
            </a:ln>
            <a:effectLst/>
          </c:spPr>
          <c:invertIfNegative val="0"/>
          <c:cat>
            <c:strRef>
              <c:f>Sheet1!$A$2:$A$5</c:f>
              <c:strCache>
                <c:ptCount val="4"/>
                <c:pt idx="0">
                  <c:v>Basketball court</c:v>
                </c:pt>
                <c:pt idx="1">
                  <c:v>Bike track</c:v>
                </c:pt>
                <c:pt idx="2">
                  <c:v>Flying fox</c:v>
                </c:pt>
                <c:pt idx="3">
                  <c:v>Swings</c:v>
                </c:pt>
              </c:strCache>
            </c:strRef>
          </c:cat>
          <c:val>
            <c:numRef>
              <c:f>Sheet1!$B$2:$B$5</c:f>
              <c:numCache>
                <c:formatCode>General</c:formatCode>
                <c:ptCount val="4"/>
                <c:pt idx="0">
                  <c:v>50</c:v>
                </c:pt>
                <c:pt idx="1">
                  <c:v>25</c:v>
                </c:pt>
                <c:pt idx="2">
                  <c:v>39</c:v>
                </c:pt>
                <c:pt idx="3">
                  <c:v>10</c:v>
                </c:pt>
              </c:numCache>
            </c:numRef>
          </c:val>
          <c:extLst>
            <c:ext xmlns:c16="http://schemas.microsoft.com/office/drawing/2014/chart" uri="{C3380CC4-5D6E-409C-BE32-E72D297353CC}">
              <c16:uniqueId val="{00000000-4127-4624-980A-B363B9E0B30D}"/>
            </c:ext>
          </c:extLst>
        </c:ser>
        <c:dLbls>
          <c:showLegendKey val="0"/>
          <c:showVal val="0"/>
          <c:showCatName val="0"/>
          <c:showSerName val="0"/>
          <c:showPercent val="0"/>
          <c:showBubbleSize val="0"/>
        </c:dLbls>
        <c:gapWidth val="219"/>
        <c:overlap val="-27"/>
        <c:axId val="1547535216"/>
        <c:axId val="1547532816"/>
      </c:barChart>
      <c:catAx>
        <c:axId val="1547535216"/>
        <c:scaling>
          <c:orientation val="minMax"/>
        </c:scaling>
        <c:delete val="0"/>
        <c:axPos val="b"/>
        <c:title>
          <c:tx>
            <c:rich>
              <a:bodyPr rot="0" spcFirstLastPara="1" vertOverflow="ellipsis" vert="horz" wrap="square" anchor="ctr" anchorCtr="1"/>
              <a:lstStyle/>
              <a:p>
                <a:pPr>
                  <a:defRPr sz="1330" b="1" i="0" u="none" strike="noStrike" kern="1200" baseline="0">
                    <a:solidFill>
                      <a:schemeClr val="tx1"/>
                    </a:solidFill>
                    <a:latin typeface="+mn-lt"/>
                    <a:ea typeface="+mn-ea"/>
                    <a:cs typeface="+mn-cs"/>
                  </a:defRPr>
                </a:pPr>
                <a:r>
                  <a:rPr lang="en-AU" b="1">
                    <a:solidFill>
                      <a:schemeClr val="tx1"/>
                    </a:solidFill>
                  </a:rPr>
                  <a:t>Equipment</a:t>
                </a:r>
              </a:p>
            </c:rich>
          </c:tx>
          <c:overlay val="0"/>
          <c:spPr>
            <a:noFill/>
            <a:ln>
              <a:noFill/>
            </a:ln>
            <a:effectLst/>
          </c:spPr>
          <c:txPr>
            <a:bodyPr rot="0" spcFirstLastPara="1" vertOverflow="ellipsis" vert="horz" wrap="square" anchor="ctr" anchorCtr="1"/>
            <a:lstStyle/>
            <a:p>
              <a:pPr>
                <a:defRPr sz="133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1547532816"/>
        <c:crossesAt val="0"/>
        <c:auto val="1"/>
        <c:lblAlgn val="ctr"/>
        <c:lblOffset val="100"/>
        <c:noMultiLvlLbl val="0"/>
      </c:catAx>
      <c:valAx>
        <c:axId val="154753281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1" i="0" u="none" strike="noStrike" kern="1200" baseline="0">
                    <a:solidFill>
                      <a:schemeClr val="tx1"/>
                    </a:solidFill>
                    <a:latin typeface="+mn-lt"/>
                    <a:ea typeface="+mn-ea"/>
                    <a:cs typeface="+mn-cs"/>
                  </a:defRPr>
                </a:pPr>
                <a:r>
                  <a:rPr lang="en-AU" b="1">
                    <a:solidFill>
                      <a:schemeClr val="tx1"/>
                    </a:solidFill>
                  </a:rPr>
                  <a:t>Number of votes</a:t>
                </a:r>
              </a:p>
            </c:rich>
          </c:tx>
          <c:overlay val="0"/>
          <c:spPr>
            <a:noFill/>
            <a:ln>
              <a:noFill/>
            </a:ln>
            <a:effectLst/>
          </c:spPr>
          <c:txPr>
            <a:bodyPr rot="-5400000" spcFirstLastPara="1" vertOverflow="ellipsis" vert="horz" wrap="square" anchor="ctr" anchorCtr="1"/>
            <a:lstStyle/>
            <a:p>
              <a:pPr>
                <a:defRPr sz="133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1547535216"/>
        <c:crosses val="autoZero"/>
        <c:crossBetween val="between"/>
        <c:majorUnit val="4"/>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a:outerShdw blurRad="63500" sx="102000" sy="102000" algn="ctr" rotWithShape="0">
        <a:prstClr val="black">
          <a:alpha val="40000"/>
        </a:prstClr>
      </a:outerShdw>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15/09/2025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15/09/2025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0F47E-49F3-DD1B-1A0A-38A6D0812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B8ADF-60E4-27C7-0C36-E3204D3FCC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808E0A-EAFF-A0D8-E1DD-8375ACF6E114}"/>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C7E6993-B6BD-36B1-495F-27B66DCA6C6C}"/>
              </a:ext>
            </a:extLst>
          </p:cNvPr>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2053636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latin typeface="Arial"/>
                <a:cs typeface="Arial"/>
              </a:rPr>
              <a:t>Reviews may include a combination of question types, requiring students to recall facts and key ideas, as well as apply their knowledge to solve problems and answer questions. To support active engagement, a mix of techniques should be employed.” (AERO, 2024).</a:t>
            </a:r>
            <a:endParaRPr lang="en-US" dirty="0">
              <a:solidFill>
                <a:srgbClr val="444444"/>
              </a:solidFill>
              <a:latin typeface="Arial"/>
              <a:cs typeface="Arial"/>
            </a:endParaRPr>
          </a:p>
          <a:p>
            <a:endParaRPr lang="en-AU" dirty="0">
              <a:solidFill>
                <a:srgbClr val="000000"/>
              </a:solidFill>
            </a:endParaRPr>
          </a:p>
          <a:p>
            <a:r>
              <a:rPr lang="en-AU" dirty="0">
                <a:solidFill>
                  <a:srgbClr val="000000"/>
                </a:solidFill>
                <a:latin typeface="Arial"/>
                <a:cs typeface="Arial"/>
              </a:rPr>
              <a:t>This Review of Learning slide deck revisits key concepts from the following units:</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2 Year A Unit 19</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2 Year A Unit 18</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2 Year A Unit 17</a:t>
            </a:r>
            <a:endParaRPr lang="en-US" dirty="0">
              <a:solidFill>
                <a:srgbClr val="444444"/>
              </a:solidFill>
              <a:latin typeface="Arial"/>
              <a:cs typeface="Arial"/>
            </a:endParaRPr>
          </a:p>
          <a:p>
            <a:r>
              <a:rPr lang="en-AU" dirty="0">
                <a:solidFill>
                  <a:srgbClr val="000000"/>
                </a:solidFill>
                <a:latin typeface="Arial"/>
                <a:cs typeface="Arial"/>
              </a:rPr>
              <a:t>It also includes opportunities to review prior learning in non-number content, supporting consolidation across focus areas.</a:t>
            </a:r>
            <a:endParaRPr lang="en-US" dirty="0">
              <a:solidFill>
                <a:srgbClr val="444444"/>
              </a:solidFill>
              <a:latin typeface="Arial"/>
              <a:cs typeface="Arial"/>
            </a:endParaRPr>
          </a:p>
          <a:p>
            <a:endParaRPr lang="en-AU" dirty="0">
              <a:solidFill>
                <a:srgbClr val="444444"/>
              </a:solidFill>
            </a:endParaRPr>
          </a:p>
          <a:p>
            <a:r>
              <a:rPr lang="en-AU" dirty="0">
                <a:latin typeface="Arial"/>
                <a:cs typeface="Arial"/>
              </a:rPr>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endParaRPr lang="en-US" dirty="0">
              <a:solidFill>
                <a:srgbClr val="444444"/>
              </a:solidFill>
              <a:latin typeface="Arial"/>
              <a:cs typeface="Arial"/>
            </a:endParaRPr>
          </a:p>
          <a:p>
            <a:endParaRPr lang="en-AU" dirty="0">
              <a:solidFill>
                <a:srgbClr val="444444"/>
              </a:solidFill>
            </a:endParaRPr>
          </a:p>
          <a:p>
            <a:pPr>
              <a:defRPr/>
            </a:pPr>
            <a:r>
              <a:rPr lang="en-AU" dirty="0">
                <a:solidFill>
                  <a:srgbClr val="444444"/>
                </a:solidFill>
                <a:latin typeface="Arial"/>
                <a:cs typeface="Arial"/>
              </a:rPr>
              <a:t>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b="1" dirty="0">
                <a:latin typeface="Arial"/>
                <a:cs typeface="Arial"/>
              </a:rPr>
              <a:t>Multiple-choice questions/True or false:</a:t>
            </a:r>
            <a:r>
              <a:rPr lang="en-AU" dirty="0">
                <a:latin typeface="Arial"/>
                <a:cs typeface="Arial"/>
              </a:rPr>
              <a:t> Designed to promote active retrieval of key concepts and identify common misconceptions in number, supporting consolidation, understanding and fluency.</a:t>
            </a:r>
            <a:br>
              <a:rPr lang="en-AU" dirty="0">
                <a:latin typeface="Arial"/>
                <a:cs typeface="Arial"/>
              </a:rPr>
            </a:br>
            <a:r>
              <a:rPr lang="en-AU" sz="1600" b="0" i="0" dirty="0">
                <a:solidFill>
                  <a:schemeClr val="tx1"/>
                </a:solidFill>
                <a:latin typeface="Arial"/>
                <a:cs typeface="Arial"/>
              </a:rPr>
              <a:t>These questions:</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285750" indent="-285750" algn="l">
              <a:buFont typeface="Wingdings"/>
              <a:buChar char="ü"/>
            </a:pPr>
            <a:r>
              <a:rPr lang="en-AU" sz="1600" b="0" i="0" dirty="0">
                <a:solidFill>
                  <a:schemeClr val="tx1"/>
                </a:solidFill>
                <a:latin typeface="Arial"/>
                <a:cs typeface="Arial"/>
              </a:rPr>
              <a:t>support spaced and interleaved practice</a:t>
            </a:r>
          </a:p>
          <a:p>
            <a:pPr marL="285750" indent="-285750" algn="l">
              <a:buFont typeface="Wingdings"/>
              <a:buChar char="ü"/>
            </a:pPr>
            <a:r>
              <a:rPr lang="en-AU" sz="1600" b="0" i="0" dirty="0">
                <a:solidFill>
                  <a:schemeClr val="tx1"/>
                </a:solidFill>
                <a:latin typeface="Arial"/>
                <a:cs typeface="Arial"/>
              </a:rPr>
              <a:t>help identify and address common misconceptions </a:t>
            </a:r>
          </a:p>
          <a:p>
            <a:pPr marL="285750" indent="-285750" algn="l">
              <a:buFont typeface="Wingdings"/>
              <a:buChar char="ü"/>
            </a:pPr>
            <a:r>
              <a:rPr lang="en-AU" sz="1600" b="0" i="0" dirty="0">
                <a:solidFill>
                  <a:schemeClr val="tx1"/>
                </a:solidFill>
                <a:latin typeface="Arial"/>
                <a:cs typeface="Arial"/>
              </a:rPr>
              <a:t>support active recall and immediate feedback</a:t>
            </a:r>
          </a:p>
          <a:p>
            <a:pPr marL="285750" indent="-285750" algn="l">
              <a:buFont typeface="Wingdings"/>
              <a:buChar char="ü"/>
            </a:pPr>
            <a:r>
              <a:rPr lang="en-AU" sz="1600" b="0" i="0" dirty="0">
                <a:solidFill>
                  <a:schemeClr val="tx1"/>
                </a:solidFill>
                <a:latin typeface="Arial"/>
                <a:cs typeface="Arial"/>
              </a:rPr>
              <a:t>support whole class participation</a:t>
            </a:r>
          </a:p>
          <a:p>
            <a:pPr marL="285750" indent="-285750">
              <a:buFont typeface="Wingdings"/>
              <a:buChar char="ü"/>
            </a:pPr>
            <a:r>
              <a:rPr lang="en-AU" sz="1600" b="0" i="0" dirty="0">
                <a:solidFill>
                  <a:schemeClr val="tx1"/>
                </a:solidFill>
                <a:latin typeface="Arial"/>
                <a:cs typeface="Arial"/>
              </a:rPr>
              <a:t>identify areas requiring reteach</a:t>
            </a:r>
            <a:endParaRPr lang="en-US" dirty="0">
              <a:solidFill>
                <a:srgbClr val="444444"/>
              </a:solidFill>
              <a:latin typeface="Arial"/>
              <a:cs typeface="Arial"/>
            </a:endParaRPr>
          </a:p>
          <a:p>
            <a:endParaRPr lang="en-AU" dirty="0">
              <a:latin typeface="Arial"/>
              <a:cs typeface="Arial"/>
            </a:endParaRPr>
          </a:p>
          <a:p>
            <a:pPr algn="l"/>
            <a:r>
              <a:rPr lang="en-AU" dirty="0">
                <a:latin typeface="Arial"/>
                <a:cs typeface="Arial"/>
              </a:rPr>
              <a:t>2.</a:t>
            </a:r>
            <a:br>
              <a:rPr lang="en-AU" dirty="0">
                <a:latin typeface="Arial"/>
                <a:cs typeface="Arial"/>
              </a:rPr>
            </a:br>
            <a:r>
              <a:rPr lang="en-AU" b="1" dirty="0">
                <a:latin typeface="Arial"/>
                <a:cs typeface="Arial"/>
              </a:rPr>
              <a:t>Short-response question sets:</a:t>
            </a:r>
            <a:r>
              <a:rPr lang="en-AU" dirty="0">
                <a:latin typeface="Arial"/>
                <a:cs typeface="Arial"/>
              </a:rPr>
              <a:t> Carefully grouped questions that encourage spaced and interleaved practice across multiple focus areas, helping students revisit and apply knowledge from different points in time.</a:t>
            </a:r>
            <a:br>
              <a:rPr lang="en-AU" dirty="0">
                <a:latin typeface="Arial"/>
                <a:cs typeface="Arial"/>
              </a:rPr>
            </a:br>
            <a:r>
              <a:rPr lang="en-AU" sz="1600" b="0" i="0" dirty="0">
                <a:solidFill>
                  <a:schemeClr val="tx1"/>
                </a:solidFill>
                <a:latin typeface="Arial"/>
                <a:cs typeface="Arial"/>
              </a:rPr>
              <a:t>These questions:</a:t>
            </a:r>
            <a:endParaRPr lang="en-US" sz="1600" b="0" i="0" dirty="0">
              <a:solidFill>
                <a:srgbClr val="444444"/>
              </a:solidFill>
              <a:latin typeface="Arial"/>
              <a:cs typeface="Arial"/>
            </a:endParaRPr>
          </a:p>
          <a:p>
            <a:pPr marL="0" indent="0" algn="l">
              <a:buFont typeface="Wingdings" panose="05000000000000000000" pitchFamily="2" charset="2"/>
              <a:buNone/>
            </a:pPr>
            <a:endParaRPr lang="en-AU" sz="1600" i="0" dirty="0"/>
          </a:p>
          <a:p>
            <a:pPr marL="285750" indent="-285750" algn="l">
              <a:buFont typeface="Wingdings"/>
              <a:buChar char="ü"/>
            </a:pPr>
            <a:r>
              <a:rPr lang="en-AU" sz="1600" i="0" dirty="0">
                <a:latin typeface="Arial"/>
                <a:cs typeface="Arial"/>
              </a:rPr>
              <a:t>have a combination of question types </a:t>
            </a:r>
          </a:p>
          <a:p>
            <a:pPr marL="285750" indent="-285750" algn="l">
              <a:buFont typeface="Wingdings"/>
              <a:buChar char="ü"/>
            </a:pPr>
            <a:r>
              <a:rPr lang="en-AU" sz="1600" i="0" dirty="0">
                <a:latin typeface="Arial"/>
                <a:cs typeface="Arial"/>
              </a:rPr>
              <a:t>address a range of focus areas</a:t>
            </a:r>
          </a:p>
          <a:p>
            <a:pPr marL="285750" indent="-285750">
              <a:buFont typeface="Wingdings"/>
              <a:buChar char="ü"/>
            </a:pPr>
            <a:r>
              <a:rPr lang="en-AU" sz="1600" i="0" dirty="0">
                <a:latin typeface="Arial"/>
                <a:cs typeface="Arial"/>
              </a:rPr>
              <a:t>build automaticity and fluency</a:t>
            </a:r>
          </a:p>
          <a:p>
            <a:pPr marL="285750" indent="-285750">
              <a:buFont typeface="Wingdings"/>
              <a:buChar char="ü"/>
            </a:pPr>
            <a:r>
              <a:rPr lang="en-AU" sz="1600" i="0" dirty="0">
                <a:latin typeface="Arial"/>
                <a:cs typeface="Arial"/>
              </a:rPr>
              <a:t>support active recall </a:t>
            </a:r>
          </a:p>
          <a:p>
            <a:pPr marL="285750" indent="-285750">
              <a:buFont typeface="Wingdings"/>
              <a:buChar char="ü"/>
            </a:pPr>
            <a:r>
              <a:rPr lang="en-AU" sz="1600" i="0" dirty="0">
                <a:latin typeface="Arial"/>
                <a:cs typeface="Arial"/>
              </a:rPr>
              <a:t>allow for immediate feedback</a:t>
            </a:r>
          </a:p>
          <a:p>
            <a:pPr marL="285750" indent="-285750" algn="l">
              <a:buFont typeface="Wingdings"/>
              <a:buChar char="ü"/>
            </a:pPr>
            <a:r>
              <a:rPr lang="en-AU" sz="1600" i="0" dirty="0">
                <a:latin typeface="Arial"/>
                <a:cs typeface="Arial"/>
              </a:rPr>
              <a:t>identify content requiring reteach</a:t>
            </a:r>
            <a:endParaRPr lang="en-AU" dirty="0">
              <a:latin typeface="Arial"/>
              <a:cs typeface="Arial"/>
            </a:endParaRPr>
          </a:p>
          <a:p>
            <a:pPr marL="285750" indent="-285750">
              <a:buFont typeface="Wingdings"/>
              <a:buChar char="ü"/>
            </a:pPr>
            <a:endParaRPr lang="en-AU" dirty="0">
              <a:latin typeface="Arial"/>
              <a:cs typeface="Arial"/>
            </a:endParaRPr>
          </a:p>
          <a:p>
            <a:r>
              <a:rPr lang="en-AU" dirty="0">
                <a:latin typeface="Arial"/>
                <a:cs typeface="Arial"/>
              </a:rPr>
              <a:t>3.</a:t>
            </a:r>
          </a:p>
          <a:p>
            <a:r>
              <a:rPr lang="en-AU" b="1" dirty="0">
                <a:latin typeface="Arial"/>
                <a:cs typeface="Arial"/>
              </a:rPr>
              <a:t>Developing number sense activities</a:t>
            </a:r>
            <a:r>
              <a:rPr lang="en-AU" dirty="0">
                <a:latin typeface="Arial"/>
                <a:cs typeface="Arial"/>
              </a:rPr>
              <a:t>: A variety of practical, purposeful tasks that reinforce current learning and build on prior knowledge. These activities promote reasoning, problem-solving and conceptual understanding.</a:t>
            </a:r>
            <a:br>
              <a:rPr lang="en-AU" dirty="0">
                <a:latin typeface="Arial"/>
                <a:cs typeface="Arial"/>
              </a:rPr>
            </a:br>
            <a:endParaRPr lang="en-US" dirty="0">
              <a:solidFill>
                <a:srgbClr val="444444"/>
              </a:solidFill>
              <a:latin typeface="Arial"/>
              <a:cs typeface="Arial"/>
            </a:endParaRPr>
          </a:p>
          <a:p>
            <a:r>
              <a:rPr lang="en-AU" dirty="0">
                <a:latin typeface="Arial"/>
                <a:cs typeface="Arial"/>
              </a:rPr>
              <a:t>The review of learning resources are designed to work support teaching and learning in mathematics. For the most effective implementation, use the resources flexibly, adapting to meet student learning needs and individual classroom contexts.</a:t>
            </a:r>
            <a:br>
              <a:rPr lang="en-AU" dirty="0">
                <a:latin typeface="Arial"/>
                <a:cs typeface="Arial"/>
              </a:rPr>
            </a:br>
            <a:br>
              <a:rPr lang="en-AU" dirty="0"/>
            </a:br>
            <a:endParaRPr lang="en-AU" dirty="0">
              <a:highlight>
                <a:srgbClr val="FFFF00"/>
              </a:highlight>
            </a:endParaRPr>
          </a:p>
          <a:p>
            <a:endParaRPr lang="en-AU" dirty="0"/>
          </a:p>
          <a:p>
            <a:endParaRPr lang="en-AU" dirty="0"/>
          </a:p>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Representing numbers using place value A</a:t>
            </a:r>
            <a:endParaRPr lang="en-AU"/>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u="none" strike="noStrike" kern="1200" dirty="0">
                <a:solidFill>
                  <a:schemeClr val="tx1"/>
                </a:solidFill>
                <a:effectLst/>
                <a:latin typeface="Arial" panose="020B0604020202020204" pitchFamily="34" charset="0"/>
                <a:ea typeface="+mn-ea"/>
                <a:cs typeface="Arial" panose="020B0604020202020204" pitchFamily="34" charset="0"/>
              </a:rPr>
              <a:t>Two-dimensional spatial structure A</a:t>
            </a: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19878973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FCC54-B770-C8F7-8C65-C091BB239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59B01-AF53-BB9A-E269-C9590389A0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6BA3FF-2E60-3C07-3004-48A94DF0F49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Data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FF21F44-6664-5C72-F922-0CAEB37C6F34}"/>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1943914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07BD-4DAB-F9EA-E8E8-947017181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780FB-6A9F-3106-F7BA-13CB4B4DB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F551D-9E5D-3133-97EF-743BDEAFDCB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Multiplicative Relations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E3111F-78D3-2FC9-2E24-14FE0EAF8035}"/>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653690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401C1-20DD-2F12-7BF9-F7A45F2408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9F27A2-CD90-5E10-45A2-1D868D9E5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050F6-FF47-0341-3566-EF6428F1CF32}"/>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i="0" u="none" strike="noStrike" kern="1200" dirty="0">
                <a:solidFill>
                  <a:schemeClr val="tx1"/>
                </a:solidFill>
                <a:effectLst/>
                <a:latin typeface="Arial" panose="020B0604020202020204" pitchFamily="34" charset="0"/>
                <a:ea typeface="+mn-ea"/>
                <a:cs typeface="Arial" panose="020B0604020202020204" pitchFamily="34" charset="0"/>
              </a:rPr>
              <a:t>Geometric measure A: Position </a:t>
            </a:r>
            <a:br>
              <a:rPr lang="en-AU" sz="1600" b="0" i="0" u="none" strike="noStrike" kern="1200" dirty="0">
                <a:solidFill>
                  <a:schemeClr val="tx1"/>
                </a:solidFill>
                <a:effectLst/>
                <a:latin typeface="Arial" panose="020B0604020202020204" pitchFamily="34" charset="0"/>
                <a:ea typeface="+mn-ea"/>
                <a:cs typeface="Arial" panose="020B0604020202020204" pitchFamily="34" charset="0"/>
              </a:rPr>
            </a:br>
            <a:br>
              <a:rPr lang="en-AU" sz="1600" b="0" i="0" u="none" strike="noStrike" kern="1200" dirty="0">
                <a:solidFill>
                  <a:schemeClr val="tx1"/>
                </a:solidFill>
                <a:effectLst/>
                <a:latin typeface="Arial" panose="020B0604020202020204" pitchFamily="34" charset="0"/>
                <a:ea typeface="+mn-ea"/>
                <a:cs typeface="Arial" panose="020B0604020202020204" pitchFamily="34" charset="0"/>
              </a:rPr>
            </a:br>
            <a:endParaRPr lang="en-AU" sz="1600" dirty="0"/>
          </a:p>
          <a:p>
            <a:endParaRPr lang="en-AU" sz="1600" b="0" i="0" u="none" strike="noStrike" kern="1200" dirty="0">
              <a:solidFill>
                <a:schemeClr val="tx1"/>
              </a:solidFill>
              <a:effectLst/>
              <a:latin typeface="Arial" panose="020B0604020202020204" pitchFamily="34" charset="0"/>
              <a:ea typeface="+mn-ea"/>
              <a:cs typeface="Arial" panose="020B0604020202020204" pitchFamily="34" charset="0"/>
            </a:endParaRPr>
          </a:p>
          <a:p>
            <a:endParaRPr lang="en-AU" dirty="0"/>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1"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68BDCB6-F91C-70A2-2397-14040D7F3E2A}"/>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3698267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sz="1600" dirty="0">
                <a:latin typeface="Arial"/>
                <a:cs typeface="Arial"/>
              </a:rPr>
              <a:t>This is a developing number sense activity. </a:t>
            </a:r>
            <a:endParaRPr lang="en-US" sz="1600" dirty="0">
              <a:solidFill>
                <a:srgbClr val="444444"/>
              </a:solidFill>
              <a:latin typeface="Arial"/>
              <a:cs typeface="Arial"/>
            </a:endParaRPr>
          </a:p>
          <a:p>
            <a:pPr>
              <a:lnSpc>
                <a:spcPct val="150000"/>
              </a:lnSpc>
              <a:spcBef>
                <a:spcPts val="1200"/>
              </a:spcBef>
              <a:spcAft>
                <a:spcPts val="600"/>
              </a:spcAft>
            </a:pPr>
            <a:endParaRPr lang="en-AU" sz="1600" dirty="0">
              <a:solidFill>
                <a:srgbClr val="444444"/>
              </a:solidFill>
            </a:endParaRPr>
          </a:p>
          <a:p>
            <a:pPr>
              <a:lnSpc>
                <a:spcPct val="150000"/>
              </a:lnSpc>
              <a:spcBef>
                <a:spcPts val="1200"/>
              </a:spcBef>
              <a:spcAft>
                <a:spcPts val="600"/>
              </a:spcAft>
            </a:pPr>
            <a:r>
              <a:rPr lang="en-AU" sz="1600"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600" dirty="0">
              <a:solidFill>
                <a:srgbClr val="444444"/>
              </a:solidFill>
              <a:latin typeface="Arial"/>
              <a:cs typeface="Arial"/>
            </a:endParaRPr>
          </a:p>
          <a:p>
            <a:pPr>
              <a:lnSpc>
                <a:spcPts val="1913"/>
              </a:lnSpc>
            </a:pPr>
            <a:endParaRPr lang="en-AU" sz="1600" dirty="0">
              <a:solidFill>
                <a:srgbClr val="444444"/>
              </a:solidFill>
            </a:endParaRPr>
          </a:p>
          <a:p>
            <a:r>
              <a:rPr lang="en-AU" sz="1600" b="1" dirty="0">
                <a:latin typeface="Arial"/>
                <a:cs typeface="Arial"/>
              </a:rPr>
              <a:t>Syllabus focus area: </a:t>
            </a:r>
            <a:r>
              <a:rPr lang="en-AU" sz="1600" b="0" dirty="0">
                <a:latin typeface="Arial"/>
                <a:cs typeface="Arial"/>
              </a:rPr>
              <a:t>Representing numbers using place value A</a:t>
            </a:r>
          </a:p>
          <a:p>
            <a:endParaRPr lang="en-AU" sz="1600" b="1" dirty="0">
              <a:solidFill>
                <a:srgbClr val="444444"/>
              </a:solidFill>
              <a:latin typeface="Arial"/>
              <a:cs typeface="Arial"/>
            </a:endParaRPr>
          </a:p>
          <a:p>
            <a:r>
              <a:rPr lang="en-AU" sz="1600" b="1" dirty="0">
                <a:solidFill>
                  <a:srgbClr val="444444"/>
                </a:solidFill>
                <a:latin typeface="Arial"/>
                <a:cs typeface="Arial"/>
              </a:rPr>
              <a:t>Ordering numbers</a:t>
            </a:r>
          </a:p>
          <a:p>
            <a:endParaRPr lang="en-US" sz="1600" dirty="0">
              <a:solidFill>
                <a:srgbClr val="444444"/>
              </a:solidFill>
              <a:latin typeface="Arial"/>
              <a:cs typeface="Arial"/>
            </a:endParaRPr>
          </a:p>
          <a:p>
            <a:r>
              <a:rPr lang="en-AU" sz="1600" kern="1200" dirty="0">
                <a:solidFill>
                  <a:schemeClr val="tx1"/>
                </a:solidFill>
                <a:effectLst/>
                <a:latin typeface="Arial" panose="020B0604020202020204" pitchFamily="34" charset="0"/>
                <a:ea typeface="+mn-ea"/>
                <a:cs typeface="Arial" panose="020B0604020202020204" pitchFamily="34" charset="0"/>
              </a:rPr>
              <a:t>This activity is an adaptation of ‘As Close As It Gets’ from Maths is Figure-Out-Able! by Harris. </a:t>
            </a:r>
          </a:p>
          <a:p>
            <a:endParaRPr lang="en-AU" sz="1800" dirty="0">
              <a:effectLst/>
              <a:latin typeface="Arial" panose="020B0604020202020204" pitchFamily="34" charset="0"/>
              <a:ea typeface="Calibri" panose="020F0502020204030204" pitchFamily="34" charset="0"/>
              <a:cs typeface="Calibri"/>
            </a:endParaRPr>
          </a:p>
          <a:p>
            <a:pPr marL="342900" lvl="0" indent="-342900">
              <a:lnSpc>
                <a:spcPct val="150000"/>
              </a:lnSpc>
              <a:spcBef>
                <a:spcPts val="1200"/>
              </a:spcBef>
              <a:spcAft>
                <a:spcPts val="600"/>
              </a:spcAft>
              <a:buFont typeface="+mj-lt"/>
              <a:buAutoNum type="arabicPeriod"/>
              <a:tabLst>
                <a:tab pos="228600" algn="l"/>
                <a:tab pos="457200" algn="l"/>
              </a:tabLst>
            </a:pPr>
            <a:r>
              <a:rPr lang="en-AU" sz="1800" dirty="0">
                <a:effectLst/>
                <a:latin typeface="Arial" panose="020B0604020202020204" pitchFamily="34" charset="0"/>
                <a:ea typeface="Calibri" panose="020F0502020204030204" pitchFamily="34" charset="0"/>
              </a:rPr>
              <a:t>Display Resource 21 – ordering numbers (this resource</a:t>
            </a:r>
            <a:r>
              <a:rPr lang="en-AU" sz="1800" b="0" dirty="0">
                <a:effectLst/>
                <a:latin typeface="Arial"/>
                <a:ea typeface="Calibri"/>
                <a:cs typeface="Arial"/>
              </a:rPr>
              <a:t> corresponds to Resource 21 – ordering numbers in Stage 2, Year A Unit 19).</a:t>
            </a:r>
            <a:r>
              <a:rPr lang="en-AU" sz="1800" dirty="0">
                <a:effectLst/>
                <a:latin typeface="Arial" panose="020B0604020202020204" pitchFamily="34" charset="0"/>
                <a:ea typeface="Calibri" panose="020F0502020204030204" pitchFamily="34" charset="0"/>
              </a:rPr>
              <a:t> </a:t>
            </a:r>
          </a:p>
          <a:p>
            <a:pPr marL="342900" lvl="0" indent="-342900">
              <a:lnSpc>
                <a:spcPct val="150000"/>
              </a:lnSpc>
              <a:spcBef>
                <a:spcPts val="1200"/>
              </a:spcBef>
              <a:spcAft>
                <a:spcPts val="600"/>
              </a:spcAft>
              <a:buFont typeface="+mj-lt"/>
              <a:buAutoNum type="arabicPeriod"/>
              <a:tabLst>
                <a:tab pos="228600" algn="l"/>
                <a:tab pos="457200" algn="l"/>
              </a:tabLst>
            </a:pPr>
            <a:r>
              <a:rPr lang="en-AU" sz="1800" dirty="0">
                <a:effectLst/>
                <a:latin typeface="Arial" panose="020B0604020202020204" pitchFamily="34" charset="0"/>
                <a:ea typeface="Calibri" panose="020F0502020204030204" pitchFamily="34" charset="0"/>
              </a:rPr>
              <a:t>Identify that each card has a target number and read aloud card 1.</a:t>
            </a:r>
          </a:p>
          <a:p>
            <a:pPr marL="342900" lvl="0" indent="-342900">
              <a:lnSpc>
                <a:spcPct val="150000"/>
              </a:lnSpc>
              <a:spcBef>
                <a:spcPts val="1200"/>
              </a:spcBef>
              <a:spcAft>
                <a:spcPts val="600"/>
              </a:spcAft>
              <a:buFont typeface="+mj-lt"/>
              <a:buAutoNum type="arabicPeriod"/>
              <a:tabLst>
                <a:tab pos="228600" algn="l"/>
                <a:tab pos="457200" algn="l"/>
              </a:tabLst>
            </a:pPr>
            <a:r>
              <a:rPr lang="en-AU" sz="1800" dirty="0">
                <a:effectLst/>
                <a:latin typeface="Arial" panose="020B0604020202020204" pitchFamily="34" charset="0"/>
                <a:ea typeface="Calibri" panose="020F0502020204030204" pitchFamily="34" charset="0"/>
              </a:rPr>
              <a:t>Draw a number line on the board and demonstrate positioning the target number on an empty number line, then each of the multiple-choice options to establish which is closest.</a:t>
            </a:r>
          </a:p>
          <a:p>
            <a:pPr marL="342900" lvl="0" indent="-342900">
              <a:lnSpc>
                <a:spcPct val="150000"/>
              </a:lnSpc>
              <a:spcBef>
                <a:spcPts val="1200"/>
              </a:spcBef>
              <a:spcAft>
                <a:spcPts val="600"/>
              </a:spcAft>
              <a:buFont typeface="+mj-lt"/>
              <a:buAutoNum type="arabicPeriod"/>
              <a:tabLst>
                <a:tab pos="228600" algn="l"/>
                <a:tab pos="457200" algn="l"/>
              </a:tabLst>
            </a:pPr>
            <a:r>
              <a:rPr lang="en-AU" sz="1800" dirty="0">
                <a:effectLst/>
                <a:latin typeface="Arial" panose="020B0604020202020204" pitchFamily="34" charset="0"/>
                <a:ea typeface="Calibri" panose="020F0502020204030204" pitchFamily="34" charset="0"/>
              </a:rPr>
              <a:t>Use card 1 to demonstrate how to rename the target number using non-standard partitions such as 42 hundreds and 96 ones, or 429 tens and 6 ones.</a:t>
            </a:r>
          </a:p>
          <a:p>
            <a:pPr marL="342900" lvl="0" indent="-342900">
              <a:lnSpc>
                <a:spcPct val="150000"/>
              </a:lnSpc>
              <a:spcBef>
                <a:spcPts val="1200"/>
              </a:spcBef>
              <a:spcAft>
                <a:spcPts val="600"/>
              </a:spcAft>
              <a:buFont typeface="+mj-lt"/>
              <a:buAutoNum type="arabicPeriod"/>
              <a:tabLst>
                <a:tab pos="228600" algn="l"/>
                <a:tab pos="457200" algn="l"/>
              </a:tabLst>
            </a:pPr>
            <a:r>
              <a:rPr lang="en-AU" sz="1800" dirty="0">
                <a:effectLst/>
                <a:latin typeface="Arial" panose="020B0604020202020204" pitchFamily="34" charset="0"/>
                <a:ea typeface="Calibri" panose="020F0502020204030204" pitchFamily="34" charset="0"/>
              </a:rPr>
              <a:t>Students use card 2 to Think-Pair-Share and read the numbers aloud. They position each of the numbers on a number line to establish which is closest.</a:t>
            </a:r>
          </a:p>
          <a:p>
            <a:pPr marL="342900" lvl="0" indent="-342900">
              <a:lnSpc>
                <a:spcPct val="150000"/>
              </a:lnSpc>
              <a:spcBef>
                <a:spcPts val="1200"/>
              </a:spcBef>
              <a:spcAft>
                <a:spcPts val="600"/>
              </a:spcAft>
              <a:buFont typeface="+mj-lt"/>
              <a:buAutoNum type="arabicPeriod"/>
              <a:tabLst>
                <a:tab pos="228600" algn="l"/>
                <a:tab pos="457200" algn="l"/>
              </a:tabLst>
            </a:pPr>
            <a:r>
              <a:rPr lang="en-AU" sz="1800" dirty="0">
                <a:effectLst/>
                <a:latin typeface="Arial" panose="020B0604020202020204" pitchFamily="34" charset="0"/>
                <a:ea typeface="Calibri" panose="020F0502020204030204" pitchFamily="34" charset="0"/>
              </a:rPr>
              <a:t>All students show their responses on their individual whiteboards. Select students to justify their answer using place value language.</a:t>
            </a:r>
          </a:p>
          <a:p>
            <a:pPr marL="342900" lvl="0" indent="-342900">
              <a:lnSpc>
                <a:spcPct val="150000"/>
              </a:lnSpc>
              <a:spcBef>
                <a:spcPts val="1200"/>
              </a:spcBef>
              <a:spcAft>
                <a:spcPts val="600"/>
              </a:spcAft>
              <a:buFont typeface="+mj-lt"/>
              <a:buAutoNum type="arabicPeriod"/>
              <a:tabLst>
                <a:tab pos="228600" algn="l"/>
                <a:tab pos="457200" algn="l"/>
              </a:tabLst>
            </a:pPr>
            <a:r>
              <a:rPr lang="en-AU" sz="1800" dirty="0">
                <a:effectLst/>
                <a:latin typeface="Arial" panose="020B0604020202020204" pitchFamily="34" charset="0"/>
                <a:ea typeface="Calibri" panose="020F0502020204030204" pitchFamily="34" charset="0"/>
              </a:rPr>
              <a:t>Explain that for card 3, the target number has been deleted.</a:t>
            </a:r>
          </a:p>
          <a:p>
            <a:pPr marL="342900" lvl="0" indent="-342900">
              <a:lnSpc>
                <a:spcPct val="150000"/>
              </a:lnSpc>
              <a:spcBef>
                <a:spcPts val="1200"/>
              </a:spcBef>
              <a:spcAft>
                <a:spcPts val="600"/>
              </a:spcAft>
              <a:buFont typeface="+mj-lt"/>
              <a:buAutoNum type="arabicPeriod"/>
              <a:tabLst>
                <a:tab pos="228600" algn="l"/>
                <a:tab pos="457200" algn="l"/>
              </a:tabLst>
            </a:pPr>
            <a:r>
              <a:rPr lang="en-AU" sz="1800" dirty="0">
                <a:effectLst/>
                <a:latin typeface="Arial" panose="020B0604020202020204" pitchFamily="34" charset="0"/>
                <a:ea typeface="Calibri" panose="020F0502020204030204" pitchFamily="34" charset="0"/>
              </a:rPr>
              <a:t>Students record at least 2 target numbers that would make more than one of the responses correct. For example, 7050, 7125 or 7175.</a:t>
            </a:r>
          </a:p>
          <a:p>
            <a:pPr marL="342900" lvl="0" indent="-342900">
              <a:lnSpc>
                <a:spcPct val="150000"/>
              </a:lnSpc>
              <a:spcBef>
                <a:spcPts val="1200"/>
              </a:spcBef>
              <a:spcAft>
                <a:spcPts val="600"/>
              </a:spcAft>
              <a:buFont typeface="+mj-lt"/>
              <a:buAutoNum type="arabicPeriod"/>
              <a:tabLst>
                <a:tab pos="228600" algn="l"/>
                <a:tab pos="457200" algn="l"/>
              </a:tabLst>
            </a:pPr>
            <a:r>
              <a:rPr lang="en-AU" sz="1800" dirty="0">
                <a:effectLst/>
                <a:latin typeface="Arial" panose="020B0604020202020204" pitchFamily="34" charset="0"/>
                <a:ea typeface="Calibri" panose="020F0502020204030204" pitchFamily="34" charset="0"/>
              </a:rPr>
              <a:t>Select students to communicate and reason about their responses.</a:t>
            </a:r>
          </a:p>
          <a:p>
            <a:pPr marL="342900" lvl="0" indent="-342900">
              <a:lnSpc>
                <a:spcPct val="150000"/>
              </a:lnSpc>
              <a:spcBef>
                <a:spcPts val="1200"/>
              </a:spcBef>
              <a:spcAft>
                <a:spcPts val="600"/>
              </a:spcAft>
              <a:buFont typeface="+mj-lt"/>
              <a:buAutoNum type="arabicPeriod"/>
              <a:tabLst>
                <a:tab pos="228600" algn="l"/>
                <a:tab pos="457200" algn="l"/>
              </a:tabLst>
            </a:pPr>
            <a:r>
              <a:rPr lang="en-AU" sz="1800" dirty="0">
                <a:effectLst/>
                <a:latin typeface="Arial" panose="020B0604020202020204" pitchFamily="34" charset="0"/>
                <a:ea typeface="Calibri" panose="020F0502020204030204" pitchFamily="34" charset="0"/>
              </a:rPr>
              <a:t>Students use card 4 to record the target number in standard and non-standard place value form.</a:t>
            </a:r>
          </a:p>
          <a:p>
            <a:pPr marL="342900" lvl="0" indent="-342900">
              <a:lnSpc>
                <a:spcPct val="150000"/>
              </a:lnSpc>
              <a:spcBef>
                <a:spcPts val="1200"/>
              </a:spcBef>
              <a:spcAft>
                <a:spcPts val="600"/>
              </a:spcAft>
              <a:buFont typeface="+mj-lt"/>
              <a:buAutoNum type="arabicPeriod"/>
              <a:tabLst>
                <a:tab pos="228600" algn="l"/>
                <a:tab pos="457200" algn="l"/>
              </a:tabLst>
            </a:pPr>
            <a:r>
              <a:rPr lang="en-AU" sz="1800" dirty="0">
                <a:effectLst/>
                <a:latin typeface="Arial" panose="020B0604020202020204" pitchFamily="34" charset="0"/>
                <a:ea typeface="Calibri" panose="020F0502020204030204" pitchFamily="34" charset="0"/>
              </a:rPr>
              <a:t>Students Think-Pair-Share to select and record the non-standard partition that is closest to the target number.</a:t>
            </a:r>
          </a:p>
          <a:p>
            <a:pPr marL="342900" lvl="0" indent="-342900">
              <a:lnSpc>
                <a:spcPct val="150000"/>
              </a:lnSpc>
              <a:spcBef>
                <a:spcPts val="1200"/>
              </a:spcBef>
              <a:spcAft>
                <a:spcPts val="600"/>
              </a:spcAft>
              <a:buFont typeface="+mj-lt"/>
              <a:buAutoNum type="arabicPeriod"/>
              <a:tabLst>
                <a:tab pos="228600" algn="l"/>
                <a:tab pos="457200" algn="l"/>
              </a:tabLst>
            </a:pPr>
            <a:r>
              <a:rPr lang="en-AU" sz="1800" dirty="0">
                <a:effectLst/>
                <a:latin typeface="Arial" panose="020B0604020202020204" pitchFamily="34" charset="0"/>
                <a:ea typeface="Calibri" panose="020F0502020204030204" pitchFamily="34" charset="0"/>
              </a:rPr>
              <a:t>Check for understanding by observing student responses. Select students to justify their answer.</a:t>
            </a:r>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31688101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A4CC2-DEEC-5F77-9C86-890FAF7AB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0BF67-37C8-1541-1492-8D448DE7D8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68DAB1-9986-1F2E-81A2-30EAE958276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B47B81-E22E-B2CC-AE7B-31B102431E3E}"/>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41090008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Representing numbers using place value A</a:t>
            </a:r>
            <a:br>
              <a:rPr lang="en-AU" sz="1600" b="0" i="0">
                <a:latin typeface="Arial" panose="020B0604020202020204" pitchFamily="34" charset="0"/>
                <a:cs typeface="Arial" panose="020B06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3340579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9B41E-DB56-33E1-8F8C-97C551FE00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0EBCA-DA6C-B002-8C5C-EAC6E3AE4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170D96-FCE9-F3CF-05FF-82718BEBCDE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Two-dimensional spatial structure A: 2D shapes</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BCE111E-7D61-2D72-81D8-B1B199F66A7E}"/>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8715119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1D6AC-F967-0167-AD3E-DCFB37248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FD765-8C68-3ADC-FECB-08095D8D1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86BABE-2AFB-941B-2068-934F2FE07A8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Data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D3028C6-C95F-0CB5-E366-B331D00932F7}"/>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7310167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891C9-DF43-E901-EAD2-C7F87E64E6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18C6F5-1426-8B6C-2BFD-911C78A9A2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DFA739-98AA-F0FF-4945-C056943A814C}"/>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Multiplicative Relations A</a:t>
            </a:r>
            <a:endParaRPr lang="en-AU">
              <a:latin typeface="Public Sans"/>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627EA6F-685B-7CDD-F781-2EE5BD18F03D}"/>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3076088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FA91D-52C3-9186-2C90-D82B023AB5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8A8E39-7439-AC38-0AC6-B1EDC23527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34AA2-88D5-6FA1-EDA7-40D0FD41289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Geometric measure A: Length</a:t>
            </a:r>
            <a:endParaRPr lang="en-AU"/>
          </a:p>
          <a:p>
            <a:endParaRPr lang="en-AU">
              <a:latin typeface="Public Sans"/>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2223C7-EC2A-C21B-507C-5AF679EAA1A9}"/>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403748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sz="1800" dirty="0">
                <a:latin typeface="Arial"/>
                <a:cs typeface="Arial"/>
              </a:rPr>
              <a:t>This is a developing number sense activity. </a:t>
            </a:r>
            <a:endParaRPr lang="en-US" sz="1800" dirty="0">
              <a:solidFill>
                <a:srgbClr val="444444"/>
              </a:solidFill>
              <a:latin typeface="Arial"/>
              <a:cs typeface="Arial"/>
            </a:endParaRPr>
          </a:p>
          <a:p>
            <a:pPr>
              <a:lnSpc>
                <a:spcPct val="150000"/>
              </a:lnSpc>
              <a:spcBef>
                <a:spcPts val="1200"/>
              </a:spcBef>
              <a:spcAft>
                <a:spcPts val="600"/>
              </a:spcAft>
              <a:defRPr/>
            </a:pPr>
            <a:endParaRPr lang="en-AU" sz="1800" dirty="0">
              <a:solidFill>
                <a:srgbClr val="444444"/>
              </a:solidFill>
            </a:endParaRPr>
          </a:p>
          <a:p>
            <a:pPr>
              <a:lnSpc>
                <a:spcPct val="150000"/>
              </a:lnSpc>
              <a:spcBef>
                <a:spcPts val="1200"/>
              </a:spcBef>
              <a:spcAft>
                <a:spcPts val="600"/>
              </a:spcAft>
              <a:defRPr/>
            </a:pPr>
            <a:r>
              <a:rPr lang="en-AU" sz="1800"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dirty="0">
              <a:solidFill>
                <a:srgbClr val="444444"/>
              </a:solidFill>
              <a:latin typeface="Arial"/>
              <a:cs typeface="Arial"/>
            </a:endParaRPr>
          </a:p>
          <a:p>
            <a:pPr>
              <a:lnSpc>
                <a:spcPts val="1913"/>
              </a:lnSpc>
              <a:defRPr/>
            </a:pPr>
            <a:endParaRPr lang="en-AU" sz="1800" dirty="0">
              <a:solidFill>
                <a:srgbClr val="444444"/>
              </a:solidFill>
            </a:endParaRPr>
          </a:p>
          <a:p>
            <a:pPr>
              <a:defRPr/>
            </a:pPr>
            <a:r>
              <a:rPr lang="en-AU" sz="1800" b="1" dirty="0">
                <a:latin typeface="Arial"/>
                <a:cs typeface="Arial"/>
              </a:rPr>
              <a:t>Syllabus focus area: </a:t>
            </a:r>
            <a:r>
              <a:rPr lang="en-AU" sz="1800" b="0" dirty="0">
                <a:latin typeface="Arial"/>
                <a:cs typeface="Arial"/>
              </a:rPr>
              <a:t>Representing numbers using place value A</a:t>
            </a:r>
          </a:p>
          <a:p>
            <a:pPr>
              <a:defRPr/>
            </a:pPr>
            <a:endParaRPr lang="en-AU" sz="1800" b="1" dirty="0">
              <a:solidFill>
                <a:srgbClr val="444444"/>
              </a:solidFill>
              <a:latin typeface="Arial"/>
              <a:cs typeface="Arial"/>
            </a:endParaRPr>
          </a:p>
          <a:p>
            <a:pPr>
              <a:defRPr/>
            </a:pPr>
            <a:r>
              <a:rPr lang="en-AU" sz="1800" b="1" dirty="0">
                <a:solidFill>
                  <a:srgbClr val="444444"/>
                </a:solidFill>
                <a:latin typeface="Arial"/>
                <a:cs typeface="Arial"/>
              </a:rPr>
              <a:t>Place value</a:t>
            </a:r>
          </a:p>
          <a:p>
            <a:pPr>
              <a:defRPr/>
            </a:pPr>
            <a:endParaRPr lang="en-US" sz="1800" dirty="0">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800" dirty="0">
                <a:effectLst/>
                <a:latin typeface="Arial" panose="020B0604020202020204" pitchFamily="34" charset="0"/>
                <a:ea typeface="Calibri" panose="020F0502020204030204" pitchFamily="34" charset="0"/>
              </a:rPr>
              <a:t>This activity is an adaptation of As Close As It Gets from Maths is Figure-Out-Able! by Harris.</a:t>
            </a:r>
          </a:p>
          <a:p>
            <a:endParaRPr lang="en-AU" dirty="0"/>
          </a:p>
          <a:p>
            <a:pPr marL="342900" lvl="0" indent="-342900">
              <a:lnSpc>
                <a:spcPct val="150000"/>
              </a:lnSpc>
              <a:spcBef>
                <a:spcPts val="1200"/>
              </a:spcBef>
              <a:spcAft>
                <a:spcPts val="600"/>
              </a:spcAft>
              <a:buFont typeface="+mj-lt"/>
              <a:buAutoNum type="arabicPeriod"/>
              <a:tabLst>
                <a:tab pos="228600" algn="l"/>
                <a:tab pos="457200" algn="l"/>
              </a:tabLst>
            </a:pPr>
            <a:r>
              <a:rPr lang="en-AU" sz="1800" dirty="0">
                <a:effectLst/>
                <a:latin typeface="Arial" panose="020B0604020202020204" pitchFamily="34" charset="0"/>
                <a:ea typeface="Calibri" panose="020F0502020204030204" pitchFamily="34" charset="0"/>
              </a:rPr>
              <a:t>Display Resource 22 – place value (this resource</a:t>
            </a:r>
            <a:r>
              <a:rPr lang="en-AU" sz="1800" b="0" dirty="0">
                <a:effectLst/>
                <a:latin typeface="Arial"/>
                <a:ea typeface="Calibri"/>
                <a:cs typeface="Arial"/>
              </a:rPr>
              <a:t> corresponds to Resource 22 – place value in Stage 2, Year A Unit 19).</a:t>
            </a:r>
            <a:r>
              <a:rPr lang="en-AU" sz="1800" dirty="0">
                <a:effectLst/>
                <a:latin typeface="Arial" panose="020B0604020202020204" pitchFamily="34" charset="0"/>
                <a:ea typeface="Calibri" panose="020F0502020204030204" pitchFamily="34" charset="0"/>
              </a:rPr>
              <a:t> </a:t>
            </a:r>
          </a:p>
          <a:p>
            <a:pPr marL="342900" lvl="0" indent="-342900">
              <a:lnSpc>
                <a:spcPct val="150000"/>
              </a:lnSpc>
              <a:spcBef>
                <a:spcPts val="1200"/>
              </a:spcBef>
              <a:spcAft>
                <a:spcPts val="600"/>
              </a:spcAft>
              <a:buFont typeface="+mj-lt"/>
              <a:buAutoNum type="arabicPeriod"/>
              <a:tabLst>
                <a:tab pos="228600" algn="l"/>
                <a:tab pos="457200" algn="l"/>
              </a:tabLst>
            </a:pPr>
            <a:r>
              <a:rPr lang="en-AU" sz="1800" dirty="0">
                <a:effectLst/>
                <a:latin typeface="Arial" panose="020B0604020202020204" pitchFamily="34" charset="0"/>
                <a:ea typeface="Calibri" panose="020F0502020204030204" pitchFamily="34" charset="0"/>
              </a:rPr>
              <a:t>Students use cards 1 and 2 to Think-Pair-Share and read the numbers aloud. They position each of the numbers on a number line to establish which is closest.</a:t>
            </a:r>
          </a:p>
          <a:p>
            <a:pPr marL="342900" lvl="0" indent="-342900">
              <a:lnSpc>
                <a:spcPct val="150000"/>
              </a:lnSpc>
              <a:spcBef>
                <a:spcPts val="1200"/>
              </a:spcBef>
              <a:spcAft>
                <a:spcPts val="600"/>
              </a:spcAft>
              <a:buFont typeface="+mj-lt"/>
              <a:buAutoNum type="arabicPeriod"/>
              <a:tabLst>
                <a:tab pos="228600" algn="l"/>
                <a:tab pos="457200" algn="l"/>
              </a:tabLst>
            </a:pPr>
            <a:r>
              <a:rPr lang="en-AU" sz="1800" dirty="0">
                <a:effectLst/>
                <a:latin typeface="Arial" panose="020B0604020202020204" pitchFamily="34" charset="0"/>
                <a:ea typeface="Calibri" panose="020F0502020204030204" pitchFamily="34" charset="0"/>
              </a:rPr>
              <a:t>All students show their responses on individual whiteboards. Select students to justify their answer using place value language.</a:t>
            </a:r>
          </a:p>
          <a:p>
            <a:pPr marL="342900" lvl="0" indent="-342900">
              <a:lnSpc>
                <a:spcPct val="150000"/>
              </a:lnSpc>
              <a:spcBef>
                <a:spcPts val="1200"/>
              </a:spcBef>
              <a:spcAft>
                <a:spcPts val="600"/>
              </a:spcAft>
              <a:buFont typeface="+mj-lt"/>
              <a:buAutoNum type="arabicPeriod"/>
              <a:tabLst>
                <a:tab pos="228600" algn="l"/>
                <a:tab pos="457200" algn="l"/>
              </a:tabLst>
            </a:pPr>
            <a:r>
              <a:rPr lang="en-AU" sz="1800" dirty="0">
                <a:effectLst/>
                <a:latin typeface="Arial" panose="020B0604020202020204" pitchFamily="34" charset="0"/>
                <a:ea typeface="Calibri" panose="020F0502020204030204" pitchFamily="34" charset="0"/>
              </a:rPr>
              <a:t>Students use card 3 to record the target number in standard and non-standard place value form.</a:t>
            </a:r>
          </a:p>
          <a:p>
            <a:pPr marL="342900" lvl="0" indent="-342900">
              <a:lnSpc>
                <a:spcPct val="150000"/>
              </a:lnSpc>
              <a:spcBef>
                <a:spcPts val="1200"/>
              </a:spcBef>
              <a:spcAft>
                <a:spcPts val="600"/>
              </a:spcAft>
              <a:buFont typeface="+mj-lt"/>
              <a:buAutoNum type="arabicPeriod"/>
              <a:tabLst>
                <a:tab pos="228600" algn="l"/>
                <a:tab pos="457200" algn="l"/>
              </a:tabLst>
            </a:pPr>
            <a:r>
              <a:rPr lang="en-AU" sz="1800" dirty="0">
                <a:effectLst/>
                <a:latin typeface="Arial" panose="020B0604020202020204" pitchFamily="34" charset="0"/>
                <a:ea typeface="Calibri" panose="020F0502020204030204" pitchFamily="34" charset="0"/>
              </a:rPr>
              <a:t>Students Think-Pair-Share to select and record the non-standard partition that is closest to the target number.</a:t>
            </a:r>
          </a:p>
          <a:p>
            <a:pPr marL="342900" lvl="0" indent="-342900">
              <a:lnSpc>
                <a:spcPct val="150000"/>
              </a:lnSpc>
              <a:spcBef>
                <a:spcPts val="1200"/>
              </a:spcBef>
              <a:spcAft>
                <a:spcPts val="600"/>
              </a:spcAft>
              <a:buFont typeface="+mj-lt"/>
              <a:buAutoNum type="arabicPeriod"/>
              <a:tabLst>
                <a:tab pos="228600" algn="l"/>
                <a:tab pos="457200" algn="l"/>
              </a:tabLst>
            </a:pPr>
            <a:r>
              <a:rPr lang="en-AU" sz="1800" dirty="0">
                <a:effectLst/>
                <a:latin typeface="Arial" panose="020B0604020202020204" pitchFamily="34" charset="0"/>
                <a:ea typeface="Calibri" panose="020F0502020204030204" pitchFamily="34" charset="0"/>
              </a:rPr>
              <a:t>Check for understanding by observing student responses. Select students to justify their answer.</a:t>
            </a:r>
          </a:p>
          <a:p>
            <a:pPr marL="342900" lvl="0" indent="-342900">
              <a:lnSpc>
                <a:spcPct val="150000"/>
              </a:lnSpc>
              <a:spcBef>
                <a:spcPts val="1200"/>
              </a:spcBef>
              <a:spcAft>
                <a:spcPts val="600"/>
              </a:spcAft>
              <a:buFont typeface="+mj-lt"/>
              <a:buAutoNum type="arabicPeriod"/>
              <a:tabLst>
                <a:tab pos="228600" algn="l"/>
                <a:tab pos="457200" algn="l"/>
              </a:tabLst>
            </a:pPr>
            <a:r>
              <a:rPr lang="en-AU" sz="1800" dirty="0">
                <a:effectLst/>
                <a:latin typeface="Arial" panose="020B0604020202020204" pitchFamily="34" charset="0"/>
                <a:ea typeface="Calibri" panose="020F0502020204030204" pitchFamily="34" charset="0"/>
              </a:rPr>
              <a:t>Remind students that for card 4, the target number has been deleted.</a:t>
            </a:r>
          </a:p>
          <a:p>
            <a:pPr marL="342900" lvl="0" indent="-342900">
              <a:lnSpc>
                <a:spcPct val="150000"/>
              </a:lnSpc>
              <a:spcBef>
                <a:spcPts val="1200"/>
              </a:spcBef>
              <a:spcAft>
                <a:spcPts val="600"/>
              </a:spcAft>
              <a:buFont typeface="+mj-lt"/>
              <a:buAutoNum type="arabicPeriod"/>
              <a:tabLst>
                <a:tab pos="228600" algn="l"/>
                <a:tab pos="457200" algn="l"/>
              </a:tabLst>
            </a:pPr>
            <a:r>
              <a:rPr lang="en-AU" sz="1800" dirty="0">
                <a:effectLst/>
                <a:latin typeface="Arial" panose="020B0604020202020204" pitchFamily="34" charset="0"/>
                <a:ea typeface="Calibri" panose="020F0502020204030204" pitchFamily="34" charset="0"/>
              </a:rPr>
              <a:t>Students record at least 2 target numbers that would make more than one of the responses correct. For example, 5205, 5281 or 5100.</a:t>
            </a:r>
          </a:p>
          <a:p>
            <a:pPr marL="342900" lvl="0" indent="-342900">
              <a:lnSpc>
                <a:spcPct val="150000"/>
              </a:lnSpc>
              <a:spcBef>
                <a:spcPts val="1200"/>
              </a:spcBef>
              <a:spcAft>
                <a:spcPts val="600"/>
              </a:spcAft>
              <a:buFont typeface="+mj-lt"/>
              <a:buAutoNum type="arabicPeriod"/>
              <a:tabLst>
                <a:tab pos="228600" algn="l"/>
                <a:tab pos="457200" algn="l"/>
              </a:tabLst>
            </a:pPr>
            <a:r>
              <a:rPr lang="en-AU" sz="1800" dirty="0">
                <a:effectLst/>
                <a:latin typeface="Arial" panose="020B0604020202020204" pitchFamily="34" charset="0"/>
                <a:ea typeface="Calibri" panose="020F0502020204030204" pitchFamily="34" charset="0"/>
              </a:rPr>
              <a:t>Select students to communicate and reason about their responses.</a:t>
            </a:r>
          </a:p>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21453106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6EE3E-15ED-C876-BD6F-EE43E8170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1EB1A0-9E83-4BB4-FF92-BA6ACF7070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D46BE-61D8-4DE9-D84A-A90083FA1A19}"/>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EE24D34-45EC-CE1B-A795-AF8194E586E1}"/>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3010102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2E296-D174-FB8B-35EA-66D72170D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C1EB-654B-1945-6DC6-4F75C008A0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A8029-49D7-F860-D388-7DB8DFAC341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a:t>
            </a:r>
            <a:r>
              <a:rPr lang="en-AU">
                <a:latin typeface="Arial"/>
                <a:cs typeface="Arial"/>
              </a:rPr>
              <a:t>3</a:t>
            </a:r>
            <a:r>
              <a:rPr lang="en-AU" sz="1600" b="0" i="0">
                <a:solidFill>
                  <a:schemeClr val="tx1"/>
                </a:solidFill>
                <a:latin typeface="Arial"/>
                <a:cs typeface="Arial"/>
              </a:rPr>
              <a:t>)</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Representing numbers using place value A</a:t>
            </a: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891F9216-63F2-70E7-9AA0-9B87A3C3F854}"/>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34421956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DD6FB-E969-73B1-8CC4-E9091BE4E5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6797C-8441-B4B8-05B8-02934460E4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26EB87-A7B9-1FF2-2370-3649A84C163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Two-dimensional spatial structure A: 2D shapes</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78FEF3-20AE-E997-3B20-C08F3E0F0BC8}"/>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512409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F1B36-47E4-7D54-B38D-6E3A12D5FA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67441C-B175-9310-62E4-2BDB843439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A007E7-BCD7-BF66-1FD5-F66F83E9A55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Chance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727C7-CC8D-698F-7170-D71A46934120}"/>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21</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6445374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DD892-37C1-7E8B-D57D-13BF6E21EC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D4BA3-81C1-0652-24A7-E708D088E4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77C95F-17AF-78D0-6712-4C5F6FD6B3DF}"/>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Multiplicative Relations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1D82EEE-5CCA-87F3-1525-8A772D6341B6}"/>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25048434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AD204-A227-B30B-2145-47BFD44D56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488E1-2F7F-3385-11D4-705B70E6F8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4E577-C09A-2075-3C63-4918A4E25CB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Chance A</a:t>
            </a:r>
            <a:endParaRPr lang="en-AU"/>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0B924AD-6469-BDE4-0792-EA5A41E39712}"/>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3532213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sz="1800" dirty="0"/>
              <a:t>This is a developing number sense activity. </a:t>
            </a:r>
            <a:endParaRPr lang="en-US" sz="1800" dirty="0">
              <a:solidFill>
                <a:srgbClr val="444444"/>
              </a:solidFill>
            </a:endParaRPr>
          </a:p>
          <a:p>
            <a:pPr>
              <a:lnSpc>
                <a:spcPct val="150000"/>
              </a:lnSpc>
              <a:spcBef>
                <a:spcPts val="1200"/>
              </a:spcBef>
              <a:spcAft>
                <a:spcPts val="600"/>
              </a:spcAft>
              <a:defRPr/>
            </a:pPr>
            <a:endParaRPr lang="en-AU" sz="1800" dirty="0">
              <a:solidFill>
                <a:srgbClr val="444444"/>
              </a:solidFill>
            </a:endParaRPr>
          </a:p>
          <a:p>
            <a:pPr>
              <a:lnSpc>
                <a:spcPct val="150000"/>
              </a:lnSpc>
              <a:spcBef>
                <a:spcPts val="1200"/>
              </a:spcBef>
              <a:spcAft>
                <a:spcPts val="600"/>
              </a:spcAft>
              <a:defRPr/>
            </a:pPr>
            <a:r>
              <a:rPr lang="en-AU" sz="1800"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dirty="0">
              <a:solidFill>
                <a:srgbClr val="444444"/>
              </a:solidFill>
            </a:endParaRPr>
          </a:p>
          <a:p>
            <a:pPr>
              <a:lnSpc>
                <a:spcPts val="1913"/>
              </a:lnSpc>
              <a:defRPr/>
            </a:pPr>
            <a:endParaRPr lang="en-AU" sz="1800" dirty="0">
              <a:solidFill>
                <a:srgbClr val="444444"/>
              </a:solidFill>
            </a:endParaRPr>
          </a:p>
          <a:p>
            <a:pPr>
              <a:defRPr/>
            </a:pPr>
            <a:r>
              <a:rPr lang="en-AU" sz="1800" b="1" dirty="0"/>
              <a:t>Syllabus focus area: </a:t>
            </a:r>
            <a:r>
              <a:rPr lang="en-AU" sz="1800" b="0" dirty="0"/>
              <a:t>Representing numbers using place value A</a:t>
            </a:r>
          </a:p>
          <a:p>
            <a:pPr>
              <a:defRPr/>
            </a:pPr>
            <a:endParaRPr lang="en-AU" sz="1800" b="1" dirty="0">
              <a:solidFill>
                <a:srgbClr val="444444"/>
              </a:solidFill>
            </a:endParaRPr>
          </a:p>
          <a:p>
            <a:pPr>
              <a:defRPr/>
            </a:pPr>
            <a:r>
              <a:rPr lang="en-AU" sz="1800" b="1" dirty="0">
                <a:solidFill>
                  <a:srgbClr val="444444"/>
                </a:solidFill>
              </a:rPr>
              <a:t>Partitioning numbers</a:t>
            </a:r>
          </a:p>
          <a:p>
            <a:pPr>
              <a:defRPr/>
            </a:pPr>
            <a:endParaRPr lang="en-US" sz="1800" dirty="0">
              <a:solidFill>
                <a:srgbClr val="444444"/>
              </a:solidFill>
            </a:endParaRPr>
          </a:p>
          <a:p>
            <a:pPr marL="0" marR="0" lvl="0" indent="0" algn="l" defTabSz="1219170" rtl="0" eaLnBrk="1" fontAlgn="auto" latinLnBrk="0" hangingPunct="1">
              <a:lnSpc>
                <a:spcPct val="100000"/>
              </a:lnSpc>
              <a:spcBef>
                <a:spcPts val="0"/>
              </a:spcBef>
              <a:spcAft>
                <a:spcPts val="0"/>
              </a:spcAft>
              <a:buClrTx/>
              <a:buSzTx/>
              <a:buFont typeface="Arial"/>
              <a:buNone/>
              <a:tabLst/>
              <a:defRPr/>
            </a:pPr>
            <a:r>
              <a:rPr lang="en-AU" sz="1800" dirty="0">
                <a:effectLst/>
                <a:latin typeface="Arial" panose="020B0604020202020204" pitchFamily="34" charset="0"/>
                <a:ea typeface="Calibri" panose="020F0502020204030204" pitchFamily="34" charset="0"/>
              </a:rPr>
              <a:t>This activity is an adaptation of As Close As It Gets from Maths is Figure-Out-Able! by Harris.</a:t>
            </a:r>
          </a:p>
          <a:p>
            <a:pPr marL="0" indent="0">
              <a:buFont typeface="Arial"/>
              <a:buNone/>
            </a:pPr>
            <a:endParaRPr lang="en-AU" dirty="0">
              <a:latin typeface="Public Sans"/>
            </a:endParaRPr>
          </a:p>
          <a:p>
            <a:pPr marL="342900" marR="0" lvl="0" indent="-342900" algn="l" defTabSz="1219170" rtl="0" eaLnBrk="1" fontAlgn="auto" latinLnBrk="0" hangingPunct="1">
              <a:lnSpc>
                <a:spcPct val="100000"/>
              </a:lnSpc>
              <a:spcBef>
                <a:spcPts val="0"/>
              </a:spcBef>
              <a:spcAft>
                <a:spcPts val="0"/>
              </a:spcAft>
              <a:buClrTx/>
              <a:buSzTx/>
              <a:buFont typeface="+mj-lt"/>
              <a:buAutoNum type="arabicPeriod"/>
              <a:tabLst/>
              <a:defRPr/>
            </a:pPr>
            <a:r>
              <a:rPr lang="en-AU" sz="1600" kern="1200" dirty="0">
                <a:solidFill>
                  <a:schemeClr val="tx1"/>
                </a:solidFill>
                <a:effectLst/>
                <a:latin typeface="Arial" panose="020B0604020202020204" pitchFamily="34" charset="0"/>
                <a:ea typeface="+mn-ea"/>
                <a:cs typeface="Arial" panose="020B0604020202020204" pitchFamily="34" charset="0"/>
              </a:rPr>
              <a:t>Display and revise Resource 21 – ordering numbers and Resource 22 – place value (these resources </a:t>
            </a:r>
            <a:r>
              <a:rPr lang="en-AU" sz="1600" b="0" dirty="0">
                <a:effectLst/>
                <a:latin typeface="Arial"/>
                <a:ea typeface="Calibri"/>
                <a:cs typeface="Arial"/>
              </a:rPr>
              <a:t>correspond to Resource 21 – ordering numbers and Resource 22 – place value in Stage 2, Year A Unit 19).</a:t>
            </a: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Display a new 4-digit target number. Students record the number in standard place value form and one option for non-standard place value form on individual whiteboards, then compare with a partner.</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In pairs, students write 4 multiple-choice questions for that target number using a mixture of 4-digit numbers in standard place value form and non-standard partitions.</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Students present their 4 multiple-choice options for another pair to answer and explain. Pairs then swap roles, checking each other’s responses and reasoning.</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Regroup and select students to share their 4 multiple-choice options to the class to respond to.</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Repeat with a new 4-digit number.</a:t>
            </a:r>
          </a:p>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22689939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C35B2-3BE5-0C7B-8CC0-327C56CC35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427FE-E01D-4F4A-5A28-F8619B48DA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E2085B-B28F-BC38-03CF-B43254C7799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8ED36F5-A8A9-0858-1AFE-47876950D19A}"/>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3565338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F732A-3965-A9F8-148C-46F030796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E9F88-151B-E2AD-A9CB-95AB92231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B8B86-2CA6-9346-88FD-0B5094FCDE8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4</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Representing numbers using place value A</a:t>
            </a:r>
            <a:br>
              <a:rPr lang="en-AU" sz="1600" b="0" i="0">
                <a:latin typeface="Arial" panose="020B0604020202020204" pitchFamily="34" charset="0"/>
                <a:cs typeface="Arial" panose="020B06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96CD2AA-96FE-F80B-6423-9E54C403B441}"/>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29975999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27CA5-2D7B-1310-B578-68B553A0C9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249B6-7558-D1B6-6AEA-31B0E23167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FBEB6-C94C-82A7-FAA9-FF20D034732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Geometric measure A: Angles</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E5E3C74-BC9E-DA14-B609-0B9E629AE558}"/>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25292910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04360-B294-6875-A777-8E65DF276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95FFA0-8D58-064B-822F-AFE07735A2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7C0922-ADB2-6D09-377E-996CEEE43E3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Chance B</a:t>
            </a:r>
            <a:endParaRPr lang="en-AU"/>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157227-2E00-F70A-D00B-E66E351F3B92}"/>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28</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1593475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7A0BB-AA34-0B65-41E4-EF814B84E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1BEDCB-C7EC-29FC-CD6C-FBF8F9D517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D923A-BE46-08B3-A42D-B88657583BA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Two-dimensional spatial structure A: Area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91AD530-CC72-1CD3-DC22-84CCE8934B30}"/>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11965645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1A993-7F4F-C93E-0AD2-A9CFA55E8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D4581-477B-5E09-01F6-928C1DFA6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0ADE64-75C4-CB72-FCCF-8818C0A6023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Non-spatial measure A: Mass</a:t>
            </a:r>
            <a:endParaRPr lang="en-AU"/>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88F882-215A-11D1-B667-F9E4F3218AA0}"/>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847601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sz="1800">
                <a:solidFill>
                  <a:srgbClr val="000000"/>
                </a:solidFill>
              </a:rPr>
              <a:t>This is a developing number sense activity. </a:t>
            </a:r>
            <a:endParaRPr lang="en-US" sz="1800">
              <a:solidFill>
                <a:srgbClr val="444444"/>
              </a:solidFill>
            </a:endParaRPr>
          </a:p>
          <a:p>
            <a:pPr>
              <a:lnSpc>
                <a:spcPct val="150000"/>
              </a:lnSpc>
              <a:spcBef>
                <a:spcPts val="1200"/>
              </a:spcBef>
              <a:spcAft>
                <a:spcPts val="600"/>
              </a:spcAft>
              <a:defRPr/>
            </a:pPr>
            <a:endParaRPr lang="en-AU" sz="1800">
              <a:solidFill>
                <a:srgbClr val="444444"/>
              </a:solidFill>
            </a:endParaRPr>
          </a:p>
          <a:p>
            <a:pPr>
              <a:lnSpc>
                <a:spcPct val="150000"/>
              </a:lnSpc>
              <a:spcBef>
                <a:spcPts val="1200"/>
              </a:spcBef>
              <a:spcAft>
                <a:spcPts val="600"/>
              </a:spcAft>
              <a:defRPr/>
            </a:pPr>
            <a:r>
              <a:rPr lang="en-AU" sz="1800">
                <a:solidFill>
                  <a:srgbClr val="000000"/>
                </a:solidFil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endParaRPr>
          </a:p>
          <a:p>
            <a:pPr>
              <a:lnSpc>
                <a:spcPts val="1913"/>
              </a:lnSpc>
              <a:defRPr/>
            </a:pPr>
            <a:endParaRPr lang="en-AU" sz="1800">
              <a:solidFill>
                <a:srgbClr val="444444"/>
              </a:solidFill>
            </a:endParaRPr>
          </a:p>
          <a:p>
            <a:pPr>
              <a:defRPr/>
            </a:pPr>
            <a:r>
              <a:rPr lang="en-AU" sz="1800" b="1">
                <a:solidFill>
                  <a:srgbClr val="000000"/>
                </a:solidFill>
              </a:rPr>
              <a:t>Syllabus focus area: </a:t>
            </a:r>
            <a:r>
              <a:rPr lang="en-AU" sz="1800" b="0">
                <a:solidFill>
                  <a:srgbClr val="000000"/>
                </a:solidFill>
              </a:rPr>
              <a:t>Representing numbers using place value A</a:t>
            </a:r>
          </a:p>
          <a:p>
            <a:pPr>
              <a:defRPr/>
            </a:pPr>
            <a:endParaRPr lang="en-AU" sz="1800" b="1">
              <a:solidFill>
                <a:srgbClr val="000000"/>
              </a:solidFill>
            </a:endParaRPr>
          </a:p>
          <a:p>
            <a:pPr>
              <a:defRPr/>
            </a:pPr>
            <a:r>
              <a:rPr lang="en-AU" sz="1800" b="1">
                <a:solidFill>
                  <a:srgbClr val="000000"/>
                </a:solidFill>
              </a:rPr>
              <a:t>Target number</a:t>
            </a:r>
          </a:p>
          <a:p>
            <a:pPr>
              <a:defRPr/>
            </a:pPr>
            <a:endParaRPr lang="en-AU" sz="1800" b="1">
              <a:solidFill>
                <a:srgbClr val="000000"/>
              </a:solidFill>
            </a:endParaRP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Display and revise Resource 21 – ordering numbers or Resource 22 – place value (these resources </a:t>
            </a:r>
            <a:r>
              <a:rPr lang="en-AU" sz="1600" b="0">
                <a:effectLst/>
                <a:highlight>
                  <a:srgbClr val="FFFF00"/>
                </a:highlight>
                <a:latin typeface="Arial"/>
                <a:ea typeface="Calibri"/>
                <a:cs typeface="Arial"/>
              </a:rPr>
              <a:t>correspond to Resource 21 – ordering numbers and Resource 22 – place value in Stage 2, Year A Unit 19).</a:t>
            </a: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Explain that students select their own target number.</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write 4 multiple-choice options for that target number using a mixture of numbers in standard place value form and non-standard partitions on individual whiteboards.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Allow students to decide if they would prefer to complete the task independently or with a partner.</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present their questions for peers to answer and explain. Students then swap roles, checking each other’s responses and reasoning.</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Select students to share their questions for the class to respond to.</a:t>
            </a:r>
          </a:p>
          <a:p>
            <a:pPr marL="0" lvl="0" indent="0">
              <a:buFont typeface="+mj-lt"/>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mj-lt"/>
              <a:buNone/>
              <a:tabLst/>
              <a:defRPr/>
            </a:pPr>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consider challenging students to select target numbers up to 6 digits or decimals up to 2 decimal places, expressing numbers as both tenths and hundredths.</a:t>
            </a:r>
          </a:p>
          <a:p>
            <a:pPr marL="342900" lvl="0" indent="-342900">
              <a:buFont typeface="+mj-lt"/>
              <a:buAutoNum type="arabicPeriod"/>
            </a:pPr>
            <a:endParaRPr lang="en-AU" sz="16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35498300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818AF-DDC4-010C-0C3E-226873281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03B7B5-593F-4E30-4201-691EFD621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4148B8-A5EE-066C-084C-26B252FC0EF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CAEACBF-48FC-503B-3932-30BDA4DEBD8C}"/>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8637027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a:t>
            </a:r>
            <a:r>
              <a:rPr lang="en-AU">
                <a:latin typeface="Arial"/>
                <a:cs typeface="Arial"/>
              </a:rPr>
              <a:t>5</a:t>
            </a:r>
            <a:r>
              <a:rPr lang="en-AU" sz="1600" b="0" i="0">
                <a:solidFill>
                  <a:schemeClr val="tx1"/>
                </a:solidFill>
                <a:latin typeface="Arial"/>
                <a:cs typeface="Arial"/>
              </a:rPr>
              <a:t>)</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Partitioned fractions A</a:t>
            </a: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a:effectLst/>
              <a:ea typeface="Calibri" panose="020F0502020204030204" pitchFamily="34" charset="0"/>
              <a:cs typeface="Arial"/>
            </a:endParaRPr>
          </a:p>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B86A9-99E2-4149-56C2-0FAD4CDFC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F2718-A36C-7497-2EE5-81A240248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EB09EE-3E10-C8AF-9F92-5B1BBAB1078C}"/>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u="none" strike="noStrike" kern="1200" dirty="0">
                <a:solidFill>
                  <a:schemeClr val="tx1"/>
                </a:solidFill>
                <a:effectLst/>
                <a:latin typeface="Arial" panose="020B0604020202020204" pitchFamily="34" charset="0"/>
                <a:ea typeface="+mn-ea"/>
                <a:cs typeface="Arial" panose="020B0604020202020204" pitchFamily="34" charset="0"/>
              </a:rPr>
              <a:t>Geometric measure A: Angles</a:t>
            </a:r>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BBA043-81EA-77EE-E881-404311353372}"/>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361160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A4939-9126-6458-BDF8-9D994F5379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684465-BDEA-04A9-0714-49B06A3210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DFBC68-36B8-8954-2F99-DC84586690F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Data 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23B6B70-569A-A261-2EC5-8F6BF1EFD918}"/>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35</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8705240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B75FC-45C2-0D96-62F4-2547ACD877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6E951-171E-CEBE-98D0-EAA8C416AD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A9FBF-0199-90F9-6207-B8212D2695D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Two-dimensional spatial structure A: Area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6675A1E-9728-DFA8-DCB5-8F3400B0B32B}"/>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0375124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94D49-0FEF-E22C-ADC0-C37054818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9EBDE-6325-50D3-1D8C-46C2A07207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CFC79-89C8-8091-6BD4-E413B8EB8F6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Three-dimensional spatial structure B: Volume</a:t>
            </a:r>
            <a:endParaRPr lang="en-AU"/>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3DCD472-CD43-2531-1524-996ECEDB5DEC}"/>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7101332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sz="1800">
                <a:solidFill>
                  <a:srgbClr val="000000"/>
                </a:solidFill>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pPr>
            <a:endParaRPr lang="en-AU" sz="1800">
              <a:solidFill>
                <a:srgbClr val="444444"/>
              </a:solidFill>
            </a:endParaRPr>
          </a:p>
          <a:p>
            <a:pPr>
              <a:lnSpc>
                <a:spcPct val="150000"/>
              </a:lnSpc>
              <a:spcBef>
                <a:spcPts val="1200"/>
              </a:spcBef>
              <a:spcAft>
                <a:spcPts val="600"/>
              </a:spcAft>
            </a:pPr>
            <a:r>
              <a:rPr lang="en-AU" sz="1800">
                <a:solidFill>
                  <a:srgbClr val="000000"/>
                </a:solidFill>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pPr>
            <a:endParaRPr lang="en-AU" sz="1800">
              <a:solidFill>
                <a:srgbClr val="444444"/>
              </a:solidFill>
            </a:endParaRPr>
          </a:p>
          <a:p>
            <a:r>
              <a:rPr lang="en-AU" sz="1800" b="1">
                <a:solidFill>
                  <a:srgbClr val="000000"/>
                </a:solidFill>
                <a:latin typeface="Arial"/>
                <a:cs typeface="Arial"/>
              </a:rPr>
              <a:t>Syllabus focus area: </a:t>
            </a:r>
            <a:r>
              <a:rPr lang="en-AU" sz="1800" b="0">
                <a:solidFill>
                  <a:srgbClr val="000000"/>
                </a:solidFill>
                <a:latin typeface="Arial"/>
                <a:cs typeface="Arial"/>
              </a:rPr>
              <a:t>Partitioned fractions A</a:t>
            </a:r>
          </a:p>
          <a:p>
            <a:endParaRPr lang="en-AU" sz="1800" b="1">
              <a:solidFill>
                <a:srgbClr val="000000"/>
              </a:solidFill>
              <a:latin typeface="Arial"/>
              <a:cs typeface="Arial"/>
            </a:endParaRPr>
          </a:p>
          <a:p>
            <a:r>
              <a:rPr lang="en-AU" sz="1800" b="1">
                <a:solidFill>
                  <a:srgbClr val="000000"/>
                </a:solidFill>
                <a:latin typeface="Arial"/>
                <a:cs typeface="Arial"/>
              </a:rPr>
              <a:t>Completing a whole</a:t>
            </a:r>
          </a:p>
          <a:p>
            <a:endParaRPr lang="en-US" sz="1800" b="1">
              <a:solidFill>
                <a:srgbClr val="444444"/>
              </a:solidFill>
              <a:latin typeface="Arial"/>
              <a:cs typeface="Arial"/>
            </a:endParaRPr>
          </a:p>
          <a:p>
            <a:pPr marL="342900" lvl="0" indent="-342900">
              <a:lnSpc>
                <a:spcPct val="150000"/>
              </a:lnSpc>
              <a:spcBef>
                <a:spcPts val="1200"/>
              </a:spcBef>
              <a:spcAft>
                <a:spcPts val="600"/>
              </a:spcAft>
              <a:buFont typeface="+mj-lt"/>
              <a:buAutoNum type="arabicPeriod"/>
              <a:tabLst>
                <a:tab pos="228600" algn="l"/>
                <a:tab pos="457200" algn="l"/>
              </a:tabLst>
            </a:pPr>
            <a:r>
              <a:rPr lang="en-AU" sz="1800">
                <a:effectLst/>
                <a:latin typeface="Arial" panose="020B0604020202020204" pitchFamily="34" charset="0"/>
                <a:ea typeface="Calibri" panose="020F0502020204030204" pitchFamily="34" charset="0"/>
              </a:rPr>
              <a:t>Display Resource 23 – whole pencils </a:t>
            </a:r>
            <a:r>
              <a:rPr lang="en-AU" sz="1800" b="0">
                <a:effectLst/>
                <a:latin typeface="Arial"/>
                <a:ea typeface="Calibri"/>
                <a:cs typeface="Arial"/>
              </a:rPr>
              <a:t>(this resource corresponds to Resource 23 – whole pencils in Stage 2, Year A Unit 19).</a:t>
            </a:r>
            <a:r>
              <a:rPr lang="en-AU" sz="1800">
                <a:effectLst/>
                <a:latin typeface="Arial" panose="020B0604020202020204" pitchFamily="34" charset="0"/>
                <a:ea typeface="Calibri" panose="020F0502020204030204" pitchFamily="34" charset="0"/>
              </a:rPr>
              <a:t> Explain that for each pencil, the unit fractional part is visible.</a:t>
            </a:r>
          </a:p>
          <a:p>
            <a:pPr marL="342900" lvl="0" indent="-342900">
              <a:lnSpc>
                <a:spcPct val="150000"/>
              </a:lnSpc>
              <a:spcBef>
                <a:spcPts val="1200"/>
              </a:spcBef>
              <a:spcAft>
                <a:spcPts val="600"/>
              </a:spcAft>
              <a:buFont typeface="+mj-lt"/>
              <a:buAutoNum type="arabicPeriod"/>
              <a:tabLst>
                <a:tab pos="228600" algn="l"/>
                <a:tab pos="457200" algn="l"/>
              </a:tabLst>
            </a:pPr>
            <a:r>
              <a:rPr lang="en-AU" sz="1800">
                <a:effectLst/>
                <a:latin typeface="Arial" panose="020B0604020202020204" pitchFamily="34" charset="0"/>
                <a:ea typeface="Calibri" panose="020F0502020204030204" pitchFamily="34" charset="0"/>
              </a:rPr>
              <a:t>Provide each student with one copy of the pencils and case from Resource 23 – whole pencils.</a:t>
            </a:r>
          </a:p>
          <a:p>
            <a:pPr marL="342900" lvl="0" indent="-342900">
              <a:lnSpc>
                <a:spcPct val="150000"/>
              </a:lnSpc>
              <a:spcBef>
                <a:spcPts val="1200"/>
              </a:spcBef>
              <a:spcAft>
                <a:spcPts val="600"/>
              </a:spcAft>
              <a:buFont typeface="+mj-lt"/>
              <a:buAutoNum type="arabicPeriod"/>
              <a:tabLst>
                <a:tab pos="228600" algn="l"/>
                <a:tab pos="457200" algn="l"/>
              </a:tabLst>
            </a:pPr>
            <a:r>
              <a:rPr lang="en-AU" sz="1800">
                <a:effectLst/>
                <a:latin typeface="Arial" panose="020B0604020202020204" pitchFamily="34" charset="0"/>
                <a:ea typeface="Calibri" panose="020F0502020204030204" pitchFamily="34" charset="0"/>
              </a:rPr>
              <a:t>To check for understanding, students draw the hidden fractional part of each pencil and identify:</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a complete whole for each pencil</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the longest and shortest pencils</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the missing fractional part for each pencil.</a:t>
            </a:r>
          </a:p>
          <a:p>
            <a:pPr marL="0" lvl="0" indent="0">
              <a:lnSpc>
                <a:spcPct val="150000"/>
              </a:lnSpc>
              <a:spcBef>
                <a:spcPts val="1200"/>
              </a:spcBef>
              <a:spcAft>
                <a:spcPts val="600"/>
              </a:spcAft>
              <a:buFont typeface="+mj-lt"/>
              <a:buNone/>
              <a:tabLst>
                <a:tab pos="228600" algn="l"/>
                <a:tab pos="457200" algn="l"/>
              </a:tabLst>
            </a:pPr>
            <a:r>
              <a:rPr lang="en-AU" sz="1800">
                <a:effectLst/>
                <a:latin typeface="Arial" panose="020B0604020202020204" pitchFamily="34" charset="0"/>
                <a:ea typeface="Calibri" panose="020F0502020204030204" pitchFamily="34" charset="0"/>
              </a:rPr>
              <a:t>4. Select students to communicate their reasoning and their answers.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a:effectLst/>
              <a:latin typeface="Arial" panose="020B0604020202020204" pitchFamily="34" charset="0"/>
              <a:ea typeface="Calibri" panose="020F0502020204030204" pitchFamily="34" charset="0"/>
            </a:endParaRP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31094400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8C1CE-3D7B-8C22-AFC5-660902D599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37C5F-4ACE-3DE4-9D05-E15869C1E5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7D0275-1957-4FCD-4C9F-4F5014D4029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0ED9EA0-63F8-DCB3-45D1-47D40D33264E}"/>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16781621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85C66-E87F-8559-1BA9-FC3610A67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92896-D187-8BC4-AFD2-7703B8D5EA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077664-AA60-3C7F-EA05-E21A631F224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6</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Partitioned fractions A</a:t>
            </a:r>
            <a:endParaRPr lang="en-AU" sz="1600" b="0" i="0">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57CEC59-E004-9475-6C50-843D04984AF6}"/>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41968075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15048-2001-38E7-C6D8-4D56F3139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C8191-A82C-7584-98A7-AB3325A543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D1080-5AAD-6FC8-34A4-C308FFD0130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Geometric measure B: Angles</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7AF038-93C9-4742-2CFB-CDB0907916EC}"/>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718513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FCE5A-0E74-CA3D-F41D-38985E40A4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ACA12D-09B9-25DB-BF5B-A1DD38897D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F63979-202F-0C7C-0EB6-A8EE56B63E2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Data 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9CE0EE0-FB2F-30D2-83FA-C7AB7A6EAC26}"/>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234255167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9237A-4851-3D2C-DEBB-BE3972BF45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8C423-A6E6-C5B7-7905-CC0BC5A1EE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63C889-7CAC-B141-2484-44CF565D2B6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Three-dimensional spatial structure A: 3D objects</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6C61C20-F4A1-5B16-3DAE-BF102D6A931F}"/>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482671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88F32-0A67-FA95-4465-407CB7E45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2FD93-170C-A7F6-032B-206207344D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81DDA8-1CA3-B1ED-E0A4-4DA46EACB79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Two-dimensional spatial structure A: Area</a:t>
            </a:r>
            <a:endParaRPr lang="en-AU"/>
          </a:p>
          <a:p>
            <a:endParaRPr lang="en-AU"/>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3B6ABB5-2F6F-3721-A6D1-DA32621E5284}"/>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24774733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defTabSz="914400">
                  <a:lnSpc>
                    <a:spcPct val="150000"/>
                  </a:lnSpc>
                  <a:spcBef>
                    <a:spcPts val="1200"/>
                  </a:spcBef>
                  <a:spcAft>
                    <a:spcPts val="600"/>
                  </a:spcAft>
                </a:pPr>
                <a:r>
                  <a:rPr lang="en-AU" sz="1800">
                    <a:latin typeface="Arial"/>
                    <a:cs typeface="Arial"/>
                  </a:rPr>
                  <a:t>This is a developing number sense activity. </a:t>
                </a:r>
                <a:endParaRPr lang="en-US" sz="1800">
                  <a:solidFill>
                    <a:srgbClr val="444444"/>
                  </a:solidFill>
                  <a:latin typeface="Arial"/>
                  <a:cs typeface="Arial"/>
                </a:endParaRPr>
              </a:p>
              <a:p>
                <a:pPr defTabSz="914400">
                  <a:lnSpc>
                    <a:spcPct val="150000"/>
                  </a:lnSpc>
                  <a:spcBef>
                    <a:spcPts val="1200"/>
                  </a:spcBef>
                  <a:spcAft>
                    <a:spcPts val="600"/>
                  </a:spcAft>
                </a:pPr>
                <a:endParaRPr lang="en-AU" sz="1800">
                  <a:solidFill>
                    <a:srgbClr val="444444"/>
                  </a:solidFill>
                </a:endParaRPr>
              </a:p>
              <a:p>
                <a:pPr defTabSz="914400">
                  <a:lnSpc>
                    <a:spcPct val="150000"/>
                  </a:lnSpc>
                  <a:spcBef>
                    <a:spcPts val="1200"/>
                  </a:spcBef>
                  <a:spcAft>
                    <a:spcPts val="600"/>
                  </a:spcAft>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defTabSz="914400">
                  <a:lnSpc>
                    <a:spcPts val="1913"/>
                  </a:lnSpc>
                </a:pPr>
                <a:endParaRPr lang="en-AU" sz="1800">
                  <a:solidFill>
                    <a:srgbClr val="444444"/>
                  </a:solidFill>
                </a:endParaRPr>
              </a:p>
              <a:p>
                <a:pPr defTabSz="914400"/>
                <a:r>
                  <a:rPr lang="en-AU" sz="1800" b="1">
                    <a:latin typeface="Arial"/>
                    <a:cs typeface="Arial"/>
                  </a:rPr>
                  <a:t>Syllabus focus area: </a:t>
                </a:r>
                <a:r>
                  <a:rPr lang="en-AU" sz="1800" b="0">
                    <a:latin typeface="Arial"/>
                    <a:cs typeface="Arial"/>
                  </a:rPr>
                  <a:t>Partitioned fractions A</a:t>
                </a:r>
              </a:p>
              <a:p>
                <a:pPr defTabSz="914400"/>
                <a:endParaRPr lang="en-AU" sz="1800" b="1">
                  <a:latin typeface="Arial"/>
                  <a:cs typeface="Arial"/>
                </a:endParaRPr>
              </a:p>
              <a:p>
                <a:pPr defTabSz="914400"/>
                <a:r>
                  <a:rPr lang="en-AU" sz="1800" b="1">
                    <a:latin typeface="Arial"/>
                    <a:cs typeface="Arial"/>
                  </a:rPr>
                  <a:t>Fractions of a whole</a:t>
                </a:r>
              </a:p>
              <a:p>
                <a:pPr defTabSz="914400"/>
                <a:endParaRPr lang="en-AU" sz="1800" b="1">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this activity explores a common misconception about fractions referred to as the double count. When working with fractions, students using the double-count strategy can lose sight of the whole and incorrectly interpret a part-whole situation as a ratio. For more information, see Misunderstandings on the Top Drawer Teachers website by Australian Association of Mathematics Teachers (AAMT).</a:t>
                </a:r>
              </a:p>
              <a:p>
                <a:pPr defTabSz="914400"/>
                <a:endParaRPr lang="en-AU" sz="1800" b="1">
                  <a:latin typeface="Arial"/>
                  <a:cs typeface="Arial"/>
                </a:endParaRPr>
              </a:p>
              <a:p>
                <a:pPr marL="342900" marR="0" lvl="0" indent="-342900" algn="l" defTabSz="1219170" rtl="0" eaLnBrk="1" fontAlgn="auto" latinLnBrk="0" hangingPunct="1">
                  <a:lnSpc>
                    <a:spcPct val="150000"/>
                  </a:lnSpc>
                  <a:spcBef>
                    <a:spcPts val="1200"/>
                  </a:spcBef>
                  <a:spcAft>
                    <a:spcPts val="600"/>
                  </a:spcAft>
                  <a:buClrTx/>
                  <a:buSzTx/>
                  <a:buFont typeface="+mj-lt"/>
                  <a:buAutoNum type="arabicPeriod"/>
                  <a:tabLst>
                    <a:tab pos="228600" algn="l"/>
                    <a:tab pos="457200" algn="l"/>
                  </a:tabLst>
                  <a:defRPr/>
                </a:pPr>
                <a:r>
                  <a:rPr lang="en-AU" sz="1800">
                    <a:effectLst/>
                    <a:latin typeface="Arial" panose="020B0604020202020204" pitchFamily="34" charset="0"/>
                    <a:ea typeface="Calibri" panose="020F0502020204030204" pitchFamily="34" charset="0"/>
                  </a:rPr>
                  <a:t>Display and read </a:t>
                </a:r>
                <a:r>
                  <a:rPr lang="en-AU" sz="1800">
                    <a:effectLst/>
                    <a:highlight>
                      <a:srgbClr val="FFFF00"/>
                    </a:highlight>
                    <a:latin typeface="Arial" panose="020B0604020202020204" pitchFamily="34" charset="0"/>
                    <a:ea typeface="Calibri" panose="020F0502020204030204" pitchFamily="34" charset="0"/>
                  </a:rPr>
                  <a:t>Resource 24 – fractions of a whole </a:t>
                </a:r>
                <a:r>
                  <a:rPr lang="en-AU" sz="1800" b="0">
                    <a:effectLst/>
                    <a:highlight>
                      <a:srgbClr val="FFFF00"/>
                    </a:highlight>
                    <a:latin typeface="Arial"/>
                    <a:ea typeface="Calibri"/>
                    <a:cs typeface="Arial"/>
                  </a:rPr>
                  <a:t>(this resource corresponds to Resource 24 – fractions of a whole in Stage 2, Year A Unit 19).</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tabLst>
                    <a:tab pos="228600" algn="l"/>
                    <a:tab pos="457200" algn="l"/>
                  </a:tabLst>
                </a:pPr>
                <a:r>
                  <a:rPr lang="en-AU" sz="1800">
                    <a:effectLst/>
                    <a:latin typeface="Arial" panose="020B0604020202020204" pitchFamily="34" charset="0"/>
                    <a:ea typeface="Calibri" panose="020F0502020204030204" pitchFamily="34" charset="0"/>
                  </a:rPr>
                  <a:t>Identify that the correct answer is C. Select students to communicate and reason why C is correct.</a:t>
                </a:r>
              </a:p>
              <a:p>
                <a:pPr marL="342900" lvl="0" indent="-342900">
                  <a:lnSpc>
                    <a:spcPct val="150000"/>
                  </a:lnSpc>
                  <a:spcBef>
                    <a:spcPts val="1200"/>
                  </a:spcBef>
                  <a:spcAft>
                    <a:spcPts val="600"/>
                  </a:spcAft>
                  <a:buFont typeface="+mj-lt"/>
                  <a:buAutoNum type="arabicPeriod"/>
                  <a:tabLst>
                    <a:tab pos="228600" algn="l"/>
                    <a:tab pos="457200" algn="l"/>
                  </a:tabLst>
                </a:pPr>
                <a:r>
                  <a:rPr lang="en-AU" sz="1800">
                    <a:effectLst/>
                    <a:latin typeface="Arial" panose="020B0604020202020204" pitchFamily="34" charset="0"/>
                    <a:ea typeface="Calibri" panose="020F0502020204030204" pitchFamily="34" charset="0"/>
                  </a:rPr>
                  <a:t>Explain that in an assessment, many students incorrectly chose B as the answer. Students Think-Pair-Share to respond to:</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What misunderstanding do you think students who chose B had?</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What would you say to those students to help them?</a:t>
                </a:r>
              </a:p>
              <a:p>
                <a:pPr marL="0" lvl="0" indent="0">
                  <a:lnSpc>
                    <a:spcPct val="150000"/>
                  </a:lnSpc>
                  <a:spcBef>
                    <a:spcPts val="1200"/>
                  </a:spcBef>
                  <a:spcAft>
                    <a:spcPts val="600"/>
                  </a:spcAft>
                  <a:buFont typeface="+mj-lt"/>
                  <a:buNone/>
                  <a:tabLst>
                    <a:tab pos="228600" algn="l"/>
                    <a:tab pos="457200" algn="l"/>
                  </a:tabLst>
                </a:pPr>
                <a:r>
                  <a:rPr lang="en-AU" sz="1800">
                    <a:effectLst/>
                    <a:latin typeface="Arial" panose="020B0604020202020204" pitchFamily="34" charset="0"/>
                    <a:ea typeface="Calibri" panose="020F0502020204030204" pitchFamily="34" charset="0"/>
                  </a:rPr>
                  <a:t>4. Repeat the questions for responses A and D.</a:t>
                </a:r>
              </a:p>
              <a:p>
                <a:pPr marL="0" marR="0" lvl="0" indent="0" algn="l" defTabSz="1219170" rtl="0" eaLnBrk="1" fontAlgn="auto" latinLnBrk="0" hangingPunct="1">
                  <a:lnSpc>
                    <a:spcPct val="150000"/>
                  </a:lnSpc>
                  <a:spcBef>
                    <a:spcPts val="1200"/>
                  </a:spcBef>
                  <a:spcAft>
                    <a:spcPts val="600"/>
                  </a:spcAft>
                  <a:buClrTx/>
                  <a:buSzTx/>
                  <a:buFont typeface="+mj-lt"/>
                  <a:buNone/>
                  <a:tabLst>
                    <a:tab pos="228600" algn="l"/>
                    <a:tab pos="457200" algn="l"/>
                  </a:tabLst>
                  <a:defRPr/>
                </a:pPr>
                <a:r>
                  <a:rPr lang="en-AU" sz="1800">
                    <a:effectLst/>
                    <a:latin typeface="Arial" panose="020B0604020202020204" pitchFamily="34" charset="0"/>
                    <a:ea typeface="Calibri" panose="020F0502020204030204" pitchFamily="34" charset="0"/>
                  </a:rPr>
                  <a:t>5. Provide student with writing materials. Ask students to draw at least 2 other fraction strips for </a:t>
                </a:r>
                <a14:m>
                  <m:oMath xmlns:m="http://schemas.openxmlformats.org/officeDocument/2006/math">
                    <m:f>
                      <m:fPr>
                        <m:ctrlPr>
                          <a:rPr lang="en-AU" sz="1800" i="1">
                            <a:effectLst/>
                            <a:latin typeface="Cambria Math" panose="02040503050406030204" pitchFamily="18" charset="0"/>
                            <a:ea typeface="Calibri" panose="020F0502020204030204" pitchFamily="34" charset="0"/>
                          </a:rPr>
                        </m:ctrlPr>
                      </m:fPr>
                      <m:num>
                        <m:r>
                          <a:rPr lang="en-AU" sz="1800" i="1">
                            <a:effectLst/>
                            <a:latin typeface="Cambria Math" panose="02040503050406030204" pitchFamily="18" charset="0"/>
                            <a:ea typeface="Calibri" panose="020F0502020204030204" pitchFamily="34" charset="0"/>
                          </a:rPr>
                          <m:t>3</m:t>
                        </m:r>
                      </m:num>
                      <m:den>
                        <m:r>
                          <a:rPr lang="en-AU" sz="1800" i="1">
                            <a:effectLst/>
                            <a:latin typeface="Cambria Math" panose="02040503050406030204" pitchFamily="18" charset="0"/>
                            <a:ea typeface="Calibri" panose="020F0502020204030204" pitchFamily="34" charset="0"/>
                          </a:rPr>
                          <m:t>8</m:t>
                        </m:r>
                      </m:den>
                    </m:f>
                  </m:oMath>
                </a14:m>
                <a:r>
                  <a:rPr lang="en-AU" sz="1800">
                    <a:effectLst/>
                    <a:latin typeface="Arial" panose="020B0604020202020204" pitchFamily="34" charset="0"/>
                    <a:ea typeface="Calibri" panose="020F0502020204030204" pitchFamily="34" charset="0"/>
                  </a:rPr>
                  <a:t> that are different to that presented in </a:t>
                </a:r>
                <a:r>
                  <a:rPr lang="en-AU" sz="1800">
                    <a:effectLst/>
                    <a:highlight>
                      <a:srgbClr val="FFFF00"/>
                    </a:highlight>
                    <a:latin typeface="Arial" panose="020B0604020202020204" pitchFamily="34" charset="0"/>
                    <a:ea typeface="Calibri" panose="020F0502020204030204" pitchFamily="34" charset="0"/>
                  </a:rPr>
                  <a:t>Resource 24 – fractions of a whole</a:t>
                </a:r>
                <a:r>
                  <a:rPr lang="en-AU" sz="1800" b="0">
                    <a:effectLst/>
                    <a:highlight>
                      <a:srgbClr val="FFFF00"/>
                    </a:highlight>
                    <a:latin typeface="Arial"/>
                    <a:ea typeface="Calibri"/>
                    <a:cs typeface="Arial"/>
                  </a:rPr>
                  <a:t>.</a:t>
                </a:r>
                <a:endParaRPr lang="en-AU" sz="1800">
                  <a:effectLst/>
                  <a:highlight>
                    <a:srgbClr val="FFFF00"/>
                  </a:highligh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tabLst>
                    <a:tab pos="228600" algn="l"/>
                    <a:tab pos="457200" algn="l"/>
                  </a:tabLst>
                </a:pPr>
                <a:endParaRPr lang="en-AU" sz="1800">
                  <a:effectLst/>
                  <a:latin typeface="Arial" panose="020B0604020202020204" pitchFamily="34" charset="0"/>
                  <a:ea typeface="Calibri" panose="020F0502020204030204" pitchFamily="34" charset="0"/>
                </a:endParaRPr>
              </a:p>
              <a:p>
                <a:endParaRPr lang="en-AU"/>
              </a:p>
            </p:txBody>
          </p:sp>
        </mc:Choice>
        <mc:Fallback xmlns="">
          <p:sp>
            <p:nvSpPr>
              <p:cNvPr id="3" name="Notes Placeholder 2"/>
              <p:cNvSpPr>
                <a:spLocks noGrp="1"/>
              </p:cNvSpPr>
              <p:nvPr>
                <p:ph type="body" idx="1"/>
              </p:nvPr>
            </p:nvSpPr>
            <p:spPr/>
            <p:txBody>
              <a:bodyPr/>
              <a:lstStyle/>
              <a:p>
                <a:pPr defTabSz="914400">
                  <a:lnSpc>
                    <a:spcPct val="150000"/>
                  </a:lnSpc>
                  <a:spcBef>
                    <a:spcPts val="1200"/>
                  </a:spcBef>
                  <a:spcAft>
                    <a:spcPts val="600"/>
                  </a:spcAft>
                </a:pPr>
                <a:r>
                  <a:rPr lang="en-AU" sz="1800">
                    <a:latin typeface="Arial"/>
                    <a:cs typeface="Arial"/>
                  </a:rPr>
                  <a:t>This is a developing number sense activity. </a:t>
                </a:r>
                <a:endParaRPr lang="en-US" sz="1800">
                  <a:solidFill>
                    <a:srgbClr val="444444"/>
                  </a:solidFill>
                  <a:latin typeface="Arial"/>
                  <a:cs typeface="Arial"/>
                </a:endParaRPr>
              </a:p>
              <a:p>
                <a:pPr defTabSz="914400">
                  <a:lnSpc>
                    <a:spcPct val="150000"/>
                  </a:lnSpc>
                  <a:spcBef>
                    <a:spcPts val="1200"/>
                  </a:spcBef>
                  <a:spcAft>
                    <a:spcPts val="600"/>
                  </a:spcAft>
                </a:pPr>
                <a:endParaRPr lang="en-AU" sz="1800">
                  <a:solidFill>
                    <a:srgbClr val="444444"/>
                  </a:solidFill>
                </a:endParaRPr>
              </a:p>
              <a:p>
                <a:pPr defTabSz="914400">
                  <a:lnSpc>
                    <a:spcPct val="150000"/>
                  </a:lnSpc>
                  <a:spcBef>
                    <a:spcPts val="1200"/>
                  </a:spcBef>
                  <a:spcAft>
                    <a:spcPts val="600"/>
                  </a:spcAft>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defTabSz="914400">
                  <a:lnSpc>
                    <a:spcPts val="1913"/>
                  </a:lnSpc>
                </a:pPr>
                <a:endParaRPr lang="en-AU" sz="1800">
                  <a:solidFill>
                    <a:srgbClr val="444444"/>
                  </a:solidFill>
                </a:endParaRPr>
              </a:p>
              <a:p>
                <a:pPr defTabSz="914400"/>
                <a:r>
                  <a:rPr lang="en-AU" sz="1800" b="1">
                    <a:latin typeface="Arial"/>
                    <a:cs typeface="Arial"/>
                  </a:rPr>
                  <a:t>Syllabus focus area: </a:t>
                </a:r>
                <a:r>
                  <a:rPr lang="en-AU" sz="1800" b="0">
                    <a:latin typeface="Arial"/>
                    <a:cs typeface="Arial"/>
                  </a:rPr>
                  <a:t>Partitioned fractions A</a:t>
                </a:r>
              </a:p>
              <a:p>
                <a:pPr defTabSz="914400"/>
                <a:endParaRPr lang="en-AU" sz="1800" b="1">
                  <a:latin typeface="Arial"/>
                  <a:cs typeface="Arial"/>
                </a:endParaRPr>
              </a:p>
              <a:p>
                <a:pPr defTabSz="914400"/>
                <a:r>
                  <a:rPr lang="en-AU" sz="1800" b="1">
                    <a:latin typeface="Arial"/>
                    <a:cs typeface="Arial"/>
                  </a:rPr>
                  <a:t>Fractions of a whole</a:t>
                </a:r>
              </a:p>
              <a:p>
                <a:pPr defTabSz="914400"/>
                <a:endParaRPr lang="en-AU" sz="1800" b="1">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this activity explores a common misconception about fractions referred to as the double count. When working with fractions, students using the double-count strategy can lose sight of the whole and incorrectly interpret a part-whole situation as a ratio. For more information, see Misunderstandings on the Top Drawer Teachers website by Australian Association of Mathematics Teachers (AAMT).</a:t>
                </a:r>
              </a:p>
              <a:p>
                <a:pPr defTabSz="914400"/>
                <a:endParaRPr lang="en-AU" sz="1800" b="1">
                  <a:latin typeface="Arial"/>
                  <a:cs typeface="Arial"/>
                </a:endParaRPr>
              </a:p>
              <a:p>
                <a:pPr marL="342900" marR="0" lvl="0" indent="-342900" algn="l" defTabSz="1219170" rtl="0" eaLnBrk="1" fontAlgn="auto" latinLnBrk="0" hangingPunct="1">
                  <a:lnSpc>
                    <a:spcPct val="150000"/>
                  </a:lnSpc>
                  <a:spcBef>
                    <a:spcPts val="1200"/>
                  </a:spcBef>
                  <a:spcAft>
                    <a:spcPts val="600"/>
                  </a:spcAft>
                  <a:buClrTx/>
                  <a:buSzTx/>
                  <a:buFont typeface="+mj-lt"/>
                  <a:buAutoNum type="arabicPeriod"/>
                  <a:tabLst>
                    <a:tab pos="228600" algn="l"/>
                    <a:tab pos="457200" algn="l"/>
                  </a:tabLst>
                  <a:defRPr/>
                </a:pPr>
                <a:r>
                  <a:rPr lang="en-AU" sz="1800">
                    <a:effectLst/>
                    <a:latin typeface="Arial" panose="020B0604020202020204" pitchFamily="34" charset="0"/>
                    <a:ea typeface="Calibri" panose="020F0502020204030204" pitchFamily="34" charset="0"/>
                  </a:rPr>
                  <a:t>Display and read </a:t>
                </a:r>
                <a:r>
                  <a:rPr lang="en-AU" sz="1800">
                    <a:effectLst/>
                    <a:highlight>
                      <a:srgbClr val="FFFF00"/>
                    </a:highlight>
                    <a:latin typeface="Arial" panose="020B0604020202020204" pitchFamily="34" charset="0"/>
                    <a:ea typeface="Calibri" panose="020F0502020204030204" pitchFamily="34" charset="0"/>
                  </a:rPr>
                  <a:t>Resource 24 – fractions of a whole </a:t>
                </a:r>
                <a:r>
                  <a:rPr lang="en-AU" sz="1800" b="0">
                    <a:effectLst/>
                    <a:highlight>
                      <a:srgbClr val="FFFF00"/>
                    </a:highlight>
                    <a:latin typeface="Arial"/>
                    <a:ea typeface="Calibri"/>
                    <a:cs typeface="Arial"/>
                  </a:rPr>
                  <a:t>(this resource corresponds to Resource 24 – fractions of a whole in Stage 2, Year A Unit 19).</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tabLst>
                    <a:tab pos="228600" algn="l"/>
                    <a:tab pos="457200" algn="l"/>
                  </a:tabLst>
                </a:pPr>
                <a:r>
                  <a:rPr lang="en-AU" sz="1800">
                    <a:effectLst/>
                    <a:latin typeface="Arial" panose="020B0604020202020204" pitchFamily="34" charset="0"/>
                    <a:ea typeface="Calibri" panose="020F0502020204030204" pitchFamily="34" charset="0"/>
                  </a:rPr>
                  <a:t>Identify that the correct answer is C. Select students to communicate and reason why C is correct.</a:t>
                </a:r>
              </a:p>
              <a:p>
                <a:pPr marL="342900" lvl="0" indent="-342900">
                  <a:lnSpc>
                    <a:spcPct val="150000"/>
                  </a:lnSpc>
                  <a:spcBef>
                    <a:spcPts val="1200"/>
                  </a:spcBef>
                  <a:spcAft>
                    <a:spcPts val="600"/>
                  </a:spcAft>
                  <a:buFont typeface="+mj-lt"/>
                  <a:buAutoNum type="arabicPeriod"/>
                  <a:tabLst>
                    <a:tab pos="228600" algn="l"/>
                    <a:tab pos="457200" algn="l"/>
                  </a:tabLst>
                </a:pPr>
                <a:r>
                  <a:rPr lang="en-AU" sz="1800">
                    <a:effectLst/>
                    <a:latin typeface="Arial" panose="020B0604020202020204" pitchFamily="34" charset="0"/>
                    <a:ea typeface="Calibri" panose="020F0502020204030204" pitchFamily="34" charset="0"/>
                  </a:rPr>
                  <a:t>Explain that in an assessment, many students incorrectly chose B as the answer. Students Think-Pair-Share to respond to:</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What misunderstanding do you think students who chose B had?</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What would you say to those students to help them?</a:t>
                </a:r>
              </a:p>
              <a:p>
                <a:pPr marL="0" lvl="0" indent="0">
                  <a:lnSpc>
                    <a:spcPct val="150000"/>
                  </a:lnSpc>
                  <a:spcBef>
                    <a:spcPts val="1200"/>
                  </a:spcBef>
                  <a:spcAft>
                    <a:spcPts val="600"/>
                  </a:spcAft>
                  <a:buFont typeface="+mj-lt"/>
                  <a:buNone/>
                  <a:tabLst>
                    <a:tab pos="228600" algn="l"/>
                    <a:tab pos="457200" algn="l"/>
                  </a:tabLst>
                </a:pPr>
                <a:r>
                  <a:rPr lang="en-AU" sz="1800">
                    <a:effectLst/>
                    <a:latin typeface="Arial" panose="020B0604020202020204" pitchFamily="34" charset="0"/>
                    <a:ea typeface="Calibri" panose="020F0502020204030204" pitchFamily="34" charset="0"/>
                  </a:rPr>
                  <a:t>4. Repeat the questions for responses A and D.</a:t>
                </a:r>
              </a:p>
              <a:p>
                <a:pPr marL="0" marR="0" lvl="0" indent="0" algn="l" defTabSz="1219170" rtl="0" eaLnBrk="1" fontAlgn="auto" latinLnBrk="0" hangingPunct="1">
                  <a:lnSpc>
                    <a:spcPct val="150000"/>
                  </a:lnSpc>
                  <a:spcBef>
                    <a:spcPts val="1200"/>
                  </a:spcBef>
                  <a:spcAft>
                    <a:spcPts val="600"/>
                  </a:spcAft>
                  <a:buClrTx/>
                  <a:buSzTx/>
                  <a:buFont typeface="+mj-lt"/>
                  <a:buNone/>
                  <a:tabLst>
                    <a:tab pos="228600" algn="l"/>
                    <a:tab pos="457200" algn="l"/>
                  </a:tabLst>
                  <a:defRPr/>
                </a:pPr>
                <a:r>
                  <a:rPr lang="en-AU" sz="1800">
                    <a:effectLst/>
                    <a:latin typeface="Arial" panose="020B0604020202020204" pitchFamily="34" charset="0"/>
                    <a:ea typeface="Calibri" panose="020F0502020204030204" pitchFamily="34" charset="0"/>
                  </a:rPr>
                  <a:t>5. Provide student with writing materials. Ask students to draw at least 2 other fraction strips for </a:t>
                </a:r>
                <a:r>
                  <a:rPr lang="en-AU" sz="1800" i="0">
                    <a:effectLst/>
                    <a:latin typeface="Cambria Math" panose="02040503050406030204" pitchFamily="18" charset="0"/>
                    <a:ea typeface="Calibri" panose="020F0502020204030204" pitchFamily="34" charset="0"/>
                  </a:rPr>
                  <a:t>3/8</a:t>
                </a:r>
                <a:r>
                  <a:rPr lang="en-AU" sz="1800">
                    <a:effectLst/>
                    <a:latin typeface="Arial" panose="020B0604020202020204" pitchFamily="34" charset="0"/>
                    <a:ea typeface="Calibri" panose="020F0502020204030204" pitchFamily="34" charset="0"/>
                  </a:rPr>
                  <a:t> that are different to that presented in </a:t>
                </a:r>
                <a:r>
                  <a:rPr lang="en-AU" sz="1800">
                    <a:effectLst/>
                    <a:highlight>
                      <a:srgbClr val="FFFF00"/>
                    </a:highlight>
                    <a:latin typeface="Arial" panose="020B0604020202020204" pitchFamily="34" charset="0"/>
                    <a:ea typeface="Calibri" panose="020F0502020204030204" pitchFamily="34" charset="0"/>
                  </a:rPr>
                  <a:t>Resource 24 – fractions of a whole</a:t>
                </a:r>
                <a:r>
                  <a:rPr lang="en-AU" sz="1800" b="0">
                    <a:effectLst/>
                    <a:highlight>
                      <a:srgbClr val="FFFF00"/>
                    </a:highlight>
                    <a:latin typeface="Arial"/>
                    <a:ea typeface="Calibri"/>
                    <a:cs typeface="Arial"/>
                  </a:rPr>
                  <a:t>.</a:t>
                </a:r>
                <a:endParaRPr lang="en-AU" sz="1800">
                  <a:effectLst/>
                  <a:highlight>
                    <a:srgbClr val="FFFF00"/>
                  </a:highligh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tabLst>
                    <a:tab pos="228600" algn="l"/>
                    <a:tab pos="457200" algn="l"/>
                  </a:tabLst>
                </a:pPr>
                <a:endParaRPr lang="en-AU" sz="1800">
                  <a:effectLst/>
                  <a:latin typeface="Arial" panose="020B0604020202020204" pitchFamily="34" charset="0"/>
                  <a:ea typeface="Calibri" panose="020F0502020204030204" pitchFamily="34" charset="0"/>
                </a:endParaRPr>
              </a:p>
              <a:p>
                <a:endParaRPr lang="en-AU"/>
              </a:p>
            </p:txBody>
          </p:sp>
        </mc:Fallback>
      </mc:AlternateContent>
      <p:sp>
        <p:nvSpPr>
          <p:cNvPr id="4" name="Slide Number Placeholder 3"/>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420149126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FBFB4-718D-9541-6358-1F66A2F4A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E09BE8-202A-1EE8-AEE4-9E9DB4B623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AB54E4-EB56-2205-5728-0E201B3506CD}"/>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2B0FEF8-B0DC-2765-6F13-0A7C1C0229C9}"/>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40432991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3401E-A733-1504-B028-B13200874F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138FF-A950-5B76-C68D-9BD01FAEF6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FAD94C-AE68-F4EB-C719-5FD2B54BE1C2}"/>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7)</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Partitioned fractions A</a:t>
            </a: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FCC49D05-E546-7611-8506-8D20FDB127B6}"/>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5488654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E809-2925-C87D-C957-FA32EC313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1B097-5E06-8DBA-B5EE-B58B05DC1B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1A37E-1569-41F2-C23C-502EC4ECAD3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Geometric measure B: Angles</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BCC9A5-6936-491A-994F-FDC4655C4B18}"/>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09795004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55F76-E6D2-7B99-F71E-DB1DF916E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54AB7-E54A-0179-7463-CC032467CD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CE1AFA-BE70-72AC-5BD2-4C54E311BE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Data 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1420019-49F3-573E-EFF8-02A0493C57F5}"/>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0974901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69749-6644-6D33-6ACB-65D320559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CCD5A-639D-4F52-8240-8ACBA29FEB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18884-0DB2-8A77-3C87-7EBDCFECB0E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Three-dimensional spatial structure A: Volume</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EFECC54-4E5C-67BD-9FEF-B1C21BC22612}"/>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46591415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48F21-7A5A-0DB8-830C-E5544F511C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5E7E3-5F10-879E-2027-47EBFA1BE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928398-6724-9761-1EBB-94DC55BDE13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Non-spatial measure A: Time</a:t>
            </a:r>
            <a:endParaRPr lang="en-AU"/>
          </a:p>
          <a:p>
            <a:endParaRPr lang="en-AU" sz="1600" b="0" i="0">
              <a:latin typeface="Public Sans"/>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10DDF84-4C7C-EAD7-3908-FD10A1831FE5}"/>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29740096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sz="1800">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pPr>
            <a:endParaRPr lang="en-AU" sz="1800">
              <a:solidFill>
                <a:srgbClr val="444444"/>
              </a:solidFill>
            </a:endParaRPr>
          </a:p>
          <a:p>
            <a:pPr>
              <a:lnSpc>
                <a:spcPct val="150000"/>
              </a:lnSpc>
              <a:spcBef>
                <a:spcPts val="1200"/>
              </a:spcBef>
              <a:spcAft>
                <a:spcPts val="600"/>
              </a:spcAft>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pPr>
            <a:endParaRPr lang="en-AU" sz="1800">
              <a:solidFill>
                <a:srgbClr val="444444"/>
              </a:solidFill>
            </a:endParaRPr>
          </a:p>
          <a:p>
            <a:r>
              <a:rPr lang="en-AU" sz="1800" b="1">
                <a:latin typeface="Arial"/>
                <a:cs typeface="Arial"/>
              </a:rPr>
              <a:t>Syllabus focus area: </a:t>
            </a:r>
            <a:r>
              <a:rPr lang="en-AU" sz="1800" b="0">
                <a:latin typeface="Arial"/>
                <a:cs typeface="Arial"/>
              </a:rPr>
              <a:t>Partitioned fractions A</a:t>
            </a:r>
          </a:p>
          <a:p>
            <a:endParaRPr lang="en-AU" sz="1800" b="1">
              <a:solidFill>
                <a:srgbClr val="444444"/>
              </a:solidFill>
              <a:latin typeface="Arial"/>
              <a:cs typeface="Arial"/>
            </a:endParaRPr>
          </a:p>
          <a:p>
            <a:r>
              <a:rPr lang="en-US" sz="1800" b="1">
                <a:solidFill>
                  <a:srgbClr val="444444"/>
                </a:solidFill>
                <a:latin typeface="Arial"/>
                <a:cs typeface="Arial"/>
              </a:rPr>
              <a:t>Fraction complements</a:t>
            </a:r>
          </a:p>
          <a:p>
            <a:pPr marL="342900" marR="0" lvl="0" indent="-342900" algn="l" defTabSz="1219170" rtl="0" eaLnBrk="1" fontAlgn="auto" latinLnBrk="0" hangingPunct="1">
              <a:lnSpc>
                <a:spcPct val="150000"/>
              </a:lnSpc>
              <a:spcBef>
                <a:spcPts val="1200"/>
              </a:spcBef>
              <a:spcAft>
                <a:spcPts val="600"/>
              </a:spcAft>
              <a:buClrTx/>
              <a:buSzTx/>
              <a:buFont typeface="+mj-lt"/>
              <a:buAutoNum type="arabicPeriod"/>
              <a:tabLst>
                <a:tab pos="228600" algn="l"/>
                <a:tab pos="457200" algn="l"/>
              </a:tabLst>
              <a:defRPr/>
            </a:pPr>
            <a:r>
              <a:rPr lang="en-AU" sz="1800">
                <a:effectLst/>
                <a:latin typeface="Arial" panose="020B0604020202020204" pitchFamily="34" charset="0"/>
                <a:ea typeface="Calibri" panose="020F0502020204030204" pitchFamily="34" charset="0"/>
              </a:rPr>
              <a:t>Display </a:t>
            </a:r>
            <a:r>
              <a:rPr lang="en-AU" sz="1800">
                <a:effectLst/>
                <a:highlight>
                  <a:srgbClr val="FFFF00"/>
                </a:highlight>
                <a:latin typeface="Arial" panose="020B0604020202020204" pitchFamily="34" charset="0"/>
                <a:ea typeface="Calibri" panose="020F0502020204030204" pitchFamily="34" charset="0"/>
              </a:rPr>
              <a:t>Resource 25 – fractions memory</a:t>
            </a:r>
            <a:r>
              <a:rPr lang="en-AU" sz="1800" b="0">
                <a:effectLst/>
                <a:highlight>
                  <a:srgbClr val="FFFF00"/>
                </a:highlight>
                <a:latin typeface="Arial"/>
                <a:ea typeface="Calibri"/>
                <a:cs typeface="Arial"/>
              </a:rPr>
              <a:t> (this resource corresponds to Resource 25 – fractions memory in Stage 2, Year A Unit 19).</a:t>
            </a:r>
            <a:endParaRPr lang="en-AU" sz="1800" b="0" u="sng">
              <a:solidFill>
                <a:schemeClr val="tx1"/>
              </a:solidFill>
              <a:effectLst/>
              <a:highlight>
                <a:srgbClr val="FFFF00"/>
              </a:highlight>
              <a:latin typeface="Arial"/>
              <a:ea typeface="Calibri"/>
              <a:cs typeface="Arial"/>
            </a:endParaRPr>
          </a:p>
          <a:p>
            <a:pPr marL="342900" lvl="0" indent="-342900">
              <a:lnSpc>
                <a:spcPct val="150000"/>
              </a:lnSpc>
              <a:spcBef>
                <a:spcPts val="1200"/>
              </a:spcBef>
              <a:spcAft>
                <a:spcPts val="600"/>
              </a:spcAft>
              <a:buFont typeface="+mj-lt"/>
              <a:buAutoNum type="arabicPeriod"/>
              <a:tabLst>
                <a:tab pos="228600" algn="l"/>
                <a:tab pos="457200" algn="l"/>
              </a:tabLst>
            </a:pPr>
            <a:r>
              <a:rPr lang="en-AU" sz="1800">
                <a:effectLst/>
                <a:latin typeface="Arial" panose="020B0604020202020204" pitchFamily="34" charset="0"/>
                <a:ea typeface="Calibri" panose="020F0502020204030204" pitchFamily="34" charset="0"/>
              </a:rPr>
              <a:t>Revise fraction complements to recreate the whole from a fractional part.</a:t>
            </a:r>
          </a:p>
          <a:p>
            <a:pPr marL="342900" lvl="0" indent="-342900">
              <a:lnSpc>
                <a:spcPct val="150000"/>
              </a:lnSpc>
              <a:spcBef>
                <a:spcPts val="1200"/>
              </a:spcBef>
              <a:spcAft>
                <a:spcPts val="600"/>
              </a:spcAft>
              <a:buFont typeface="+mj-lt"/>
              <a:buAutoNum type="arabicPeriod"/>
              <a:tabLst>
                <a:tab pos="228600" algn="l"/>
                <a:tab pos="457200" algn="l"/>
              </a:tabLst>
            </a:pPr>
            <a:r>
              <a:rPr lang="en-AU" sz="1800">
                <a:effectLst/>
                <a:latin typeface="Arial" panose="020B0604020202020204" pitchFamily="34" charset="0"/>
                <a:ea typeface="Calibri" panose="020F0502020204030204" pitchFamily="34" charset="0"/>
              </a:rPr>
              <a:t>Explain the game instructions:</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Shuffle the cards and lay out all the cards face down in an array formation.</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Players take turns flipping over 2 cards at a time, aiming to find pairs of fractions to make a whole.</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Keep the cards and take another turn if the fractions create one whole.</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Flip the cards back over and the next player has a turn if the fractions do not create a whole.</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The game continues until all pairs of fractions have been matched.</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51831105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03164-16C6-19AE-E51A-5BA4B3465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2EBD5-26DA-9FD5-0949-118C9D67EE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E585D-A265-A795-EB9A-C9041ADE398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76747B98-5F7E-AC75-DFE3-6D5FCD89656B}"/>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41481243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37C3A-DFF4-E87C-0263-2CB64DCC1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27C56C-5609-C780-6C83-DB98BFF089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79062C-1F8B-D341-F9D5-5EE25643251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8</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Partitioned fractions A</a:t>
            </a:r>
            <a:endParaRPr lang="en-AU"/>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br>
              <a:rPr lang="en-AU" sz="1600" b="0" i="0">
                <a:latin typeface="Arial" panose="020B0604020202020204" pitchFamily="34" charset="0"/>
                <a:cs typeface="Arial" panose="020B0604020202020204" pitchFamily="34" charset="0"/>
              </a:rPr>
            </a:br>
            <a:endParaRPr lang="en-AU" sz="1600" b="0" i="0">
              <a:solidFill>
                <a:schemeClr val="tx1"/>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9BF44D-0A94-58EC-0CFA-15296355176C}"/>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253000930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819E3-B0F6-7F8F-03D3-6407A21A0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BA8AD-0665-4AF9-5A1C-332FB12138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972822-3E05-64AA-6A34-FA90BE4748E9}"/>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u="none" strike="noStrike" kern="1200" dirty="0">
                <a:solidFill>
                  <a:schemeClr val="tx1"/>
                </a:solidFill>
                <a:effectLst/>
                <a:latin typeface="Arial" panose="020B0604020202020204" pitchFamily="34" charset="0"/>
                <a:ea typeface="+mn-ea"/>
                <a:cs typeface="Arial" panose="020B0604020202020204" pitchFamily="34" charset="0"/>
              </a:rPr>
              <a:t>Non-spatial measure A: Time</a:t>
            </a:r>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FF6F656-CCC2-ED1F-3E84-53642B1F7B01}"/>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75488731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6DD56-BE1A-23FB-10E3-378D5A007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A87B06-2D49-D04C-FEB0-5F2259A47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7C9C7B-0CDE-38B4-67CD-96D952AAD59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Data B</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E637398-4945-92F8-11C9-21081FF5B415}"/>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370164060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D993A-B0EC-5958-6F66-C545E0BEB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EA9FF-B123-5F5A-0CCF-31A0BAF3DE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15045E-1C4C-8CA0-E96F-0AF9A3F0ABB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Three-dimensional spatial structure A: Volume</a:t>
            </a:r>
            <a:endParaRPr lang="en-AU"/>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68A08A-0379-056A-4ADA-5D3F78B00160}"/>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55060838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4E264-FD26-1A93-B2BD-52E567F5A8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E50FF-7BD6-9625-55D4-41B34C434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67923A-C2D1-8735-1567-89B089B0E5F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Two-dimensional spatial structure A: 2D shape</a:t>
            </a:r>
            <a:endParaRPr lang="en-AU"/>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BB998A2-AF59-C506-C149-1C00BC7EDBA9}"/>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12374680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557B5-BE91-639B-78A5-6B8FB0BE25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DA8AC9-1620-F4FC-A9D3-CA1C6CB405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57C46C-75BF-0FA7-50C6-2188B7A7F8E0}"/>
              </a:ext>
            </a:extLst>
          </p:cNvPr>
          <p:cNvSpPr>
            <a:spLocks noGrp="1"/>
          </p:cNvSpPr>
          <p:nvPr>
            <p:ph type="body" idx="1"/>
          </p:nvPr>
        </p:nvSpPr>
        <p:spPr/>
        <p:txBody>
          <a:bodyPr/>
          <a:lstStyle/>
          <a:p>
            <a:pPr>
              <a:lnSpc>
                <a:spcPct val="150000"/>
              </a:lnSpc>
              <a:spcBef>
                <a:spcPts val="1200"/>
              </a:spcBef>
              <a:spcAft>
                <a:spcPts val="600"/>
              </a:spcAft>
            </a:pPr>
            <a:r>
              <a:rPr lang="en-AU" sz="1800" dirty="0">
                <a:latin typeface="Arial"/>
                <a:cs typeface="Arial"/>
              </a:rPr>
              <a:t>This is a developing number sense activity. </a:t>
            </a:r>
            <a:endParaRPr lang="en-US" sz="1800" dirty="0">
              <a:solidFill>
                <a:srgbClr val="444444"/>
              </a:solidFill>
              <a:latin typeface="Arial"/>
              <a:cs typeface="Arial"/>
            </a:endParaRPr>
          </a:p>
          <a:p>
            <a:pPr>
              <a:lnSpc>
                <a:spcPct val="150000"/>
              </a:lnSpc>
              <a:spcBef>
                <a:spcPts val="1200"/>
              </a:spcBef>
              <a:spcAft>
                <a:spcPts val="600"/>
              </a:spcAft>
            </a:pPr>
            <a:endParaRPr lang="en-AU" sz="1800" dirty="0">
              <a:solidFill>
                <a:srgbClr val="444444"/>
              </a:solidFill>
            </a:endParaRPr>
          </a:p>
          <a:p>
            <a:pPr>
              <a:lnSpc>
                <a:spcPct val="150000"/>
              </a:lnSpc>
              <a:spcBef>
                <a:spcPts val="1200"/>
              </a:spcBef>
              <a:spcAft>
                <a:spcPts val="600"/>
              </a:spcAft>
            </a:pPr>
            <a:r>
              <a:rPr lang="en-AU" sz="1800"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dirty="0">
              <a:solidFill>
                <a:srgbClr val="444444"/>
              </a:solidFill>
              <a:latin typeface="Arial"/>
              <a:cs typeface="Arial"/>
            </a:endParaRPr>
          </a:p>
          <a:p>
            <a:pPr>
              <a:lnSpc>
                <a:spcPts val="1913"/>
              </a:lnSpc>
            </a:pPr>
            <a:endParaRPr lang="en-AU" sz="1800" dirty="0">
              <a:solidFill>
                <a:srgbClr val="444444"/>
              </a:solidFill>
            </a:endParaRPr>
          </a:p>
          <a:p>
            <a:r>
              <a:rPr lang="en-AU" sz="1800" b="1" dirty="0">
                <a:latin typeface="Arial"/>
                <a:cs typeface="Arial"/>
              </a:rPr>
              <a:t>Syllabus focus area: </a:t>
            </a:r>
            <a:r>
              <a:rPr lang="en-AU" sz="1800" b="0" dirty="0">
                <a:latin typeface="Arial"/>
                <a:cs typeface="Arial"/>
              </a:rPr>
              <a:t>Partitioned fractions A</a:t>
            </a:r>
          </a:p>
          <a:p>
            <a:endParaRPr lang="en-AU" sz="1800" b="1" dirty="0">
              <a:solidFill>
                <a:srgbClr val="444444"/>
              </a:solidFill>
              <a:latin typeface="Arial"/>
              <a:cs typeface="Arial"/>
            </a:endParaRPr>
          </a:p>
          <a:p>
            <a:r>
              <a:rPr lang="en-AU" sz="1800" b="1" dirty="0">
                <a:solidFill>
                  <a:srgbClr val="444444"/>
                </a:solidFill>
                <a:latin typeface="Arial"/>
                <a:cs typeface="Arial"/>
              </a:rPr>
              <a:t>Fractions and wholes</a:t>
            </a:r>
          </a:p>
          <a:p>
            <a:endParaRPr lang="en-US" sz="1800" dirty="0">
              <a:solidFill>
                <a:srgbClr val="444444"/>
              </a:solidFill>
              <a:latin typeface="Arial"/>
              <a:cs typeface="Arial"/>
            </a:endParaRPr>
          </a:p>
          <a:p>
            <a:pPr marL="342900" marR="0" lvl="0" indent="-342900" algn="l" defTabSz="1219170" rtl="0" eaLnBrk="1" fontAlgn="auto" latinLnBrk="0" hangingPunct="1">
              <a:lnSpc>
                <a:spcPct val="150000"/>
              </a:lnSpc>
              <a:spcBef>
                <a:spcPts val="1200"/>
              </a:spcBef>
              <a:spcAft>
                <a:spcPts val="600"/>
              </a:spcAft>
              <a:buClrTx/>
              <a:buSzTx/>
              <a:buFont typeface="+mj-lt"/>
              <a:buAutoNum type="arabicPeriod"/>
              <a:tabLst>
                <a:tab pos="228600" algn="l"/>
                <a:tab pos="457200" algn="l"/>
              </a:tabLst>
              <a:defRPr/>
            </a:pPr>
            <a:r>
              <a:rPr lang="en-AU" sz="1800" dirty="0">
                <a:effectLst/>
                <a:latin typeface="Arial" panose="020B0604020202020204" pitchFamily="34" charset="0"/>
                <a:ea typeface="Calibri" panose="020F0502020204030204" pitchFamily="34" charset="0"/>
              </a:rPr>
              <a:t>Display Resource 25 – fractions memory</a:t>
            </a:r>
            <a:r>
              <a:rPr lang="en-AU" sz="1800" b="0" dirty="0">
                <a:effectLst/>
                <a:latin typeface="Arial"/>
                <a:ea typeface="Calibri"/>
                <a:cs typeface="Arial"/>
              </a:rPr>
              <a:t> (this resource corresponds to Resource 25 – fractions memory in Stage 2, Year A Unit 19).</a:t>
            </a:r>
            <a:endParaRPr lang="en-AU" sz="1800" dirty="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tabLst>
                <a:tab pos="228600" algn="l"/>
                <a:tab pos="457200" algn="l"/>
              </a:tabLst>
            </a:pPr>
            <a:r>
              <a:rPr lang="en-AU" sz="1800" dirty="0">
                <a:effectLst/>
                <a:latin typeface="Arial" panose="020B0604020202020204" pitchFamily="34" charset="0"/>
                <a:ea typeface="Calibri" panose="020F0502020204030204" pitchFamily="34" charset="0"/>
              </a:rPr>
              <a:t>Review the game instructions:</a:t>
            </a:r>
          </a:p>
          <a:p>
            <a:pPr marL="342900" lvl="0" indent="-342900">
              <a:lnSpc>
                <a:spcPct val="150000"/>
              </a:lnSpc>
              <a:spcBef>
                <a:spcPts val="1200"/>
              </a:spcBef>
              <a:spcAft>
                <a:spcPts val="600"/>
              </a:spcAft>
              <a:buFont typeface="Courier New" panose="02070309020205020404" pitchFamily="49" charset="0"/>
              <a:buChar char="o"/>
            </a:pPr>
            <a:r>
              <a:rPr lang="en-AU" sz="1800" dirty="0">
                <a:effectLst/>
                <a:latin typeface="Arial" panose="020B0604020202020204" pitchFamily="34" charset="0"/>
                <a:ea typeface="Calibri" panose="020F0502020204030204" pitchFamily="34" charset="0"/>
                <a:cs typeface="Times New Roman" panose="02020603050405020304" pitchFamily="18" charset="0"/>
              </a:rPr>
              <a:t>Shuffle the cards and lay out all the cards face down in an array formation.</a:t>
            </a:r>
          </a:p>
          <a:p>
            <a:pPr marL="342900" lvl="0" indent="-342900">
              <a:lnSpc>
                <a:spcPct val="150000"/>
              </a:lnSpc>
              <a:spcBef>
                <a:spcPts val="1200"/>
              </a:spcBef>
              <a:spcAft>
                <a:spcPts val="600"/>
              </a:spcAft>
              <a:buFont typeface="Courier New" panose="02070309020205020404" pitchFamily="49" charset="0"/>
              <a:buChar char="o"/>
            </a:pPr>
            <a:r>
              <a:rPr lang="en-AU" sz="1800" dirty="0">
                <a:effectLst/>
                <a:latin typeface="Arial" panose="020B0604020202020204" pitchFamily="34" charset="0"/>
                <a:ea typeface="Calibri" panose="020F0502020204030204" pitchFamily="34" charset="0"/>
                <a:cs typeface="Times New Roman" panose="02020603050405020304" pitchFamily="18" charset="0"/>
              </a:rPr>
              <a:t>Players take turns flipping over 2 cards at a time, aiming to find pairs of fractions to make a whole.</a:t>
            </a:r>
          </a:p>
          <a:p>
            <a:pPr marL="342900" lvl="0" indent="-342900">
              <a:lnSpc>
                <a:spcPct val="150000"/>
              </a:lnSpc>
              <a:spcBef>
                <a:spcPts val="1200"/>
              </a:spcBef>
              <a:spcAft>
                <a:spcPts val="600"/>
              </a:spcAft>
              <a:buFont typeface="Courier New" panose="02070309020205020404" pitchFamily="49" charset="0"/>
              <a:buChar char="o"/>
            </a:pPr>
            <a:r>
              <a:rPr lang="en-AU" sz="1800" dirty="0">
                <a:effectLst/>
                <a:latin typeface="Arial" panose="020B0604020202020204" pitchFamily="34" charset="0"/>
                <a:ea typeface="Calibri" panose="020F0502020204030204" pitchFamily="34" charset="0"/>
                <a:cs typeface="Times New Roman" panose="02020603050405020304" pitchFamily="18" charset="0"/>
              </a:rPr>
              <a:t>Keep the cards and take another turn if the fractions create one whole.</a:t>
            </a:r>
          </a:p>
          <a:p>
            <a:pPr marL="342900" lvl="0" indent="-342900">
              <a:lnSpc>
                <a:spcPct val="150000"/>
              </a:lnSpc>
              <a:spcBef>
                <a:spcPts val="1200"/>
              </a:spcBef>
              <a:spcAft>
                <a:spcPts val="600"/>
              </a:spcAft>
              <a:buFont typeface="Courier New" panose="02070309020205020404" pitchFamily="49" charset="0"/>
              <a:buChar char="o"/>
            </a:pPr>
            <a:r>
              <a:rPr lang="en-AU" sz="1800" dirty="0">
                <a:effectLst/>
                <a:latin typeface="Arial" panose="020B0604020202020204" pitchFamily="34" charset="0"/>
                <a:ea typeface="Calibri" panose="020F0502020204030204" pitchFamily="34" charset="0"/>
                <a:cs typeface="Times New Roman" panose="02020603050405020304" pitchFamily="18" charset="0"/>
              </a:rPr>
              <a:t>Flip the cards back over and the next player has a turn if the fractions do not create a whole.</a:t>
            </a:r>
          </a:p>
          <a:p>
            <a:pPr marL="342900" lvl="0" indent="-342900">
              <a:lnSpc>
                <a:spcPct val="150000"/>
              </a:lnSpc>
              <a:spcBef>
                <a:spcPts val="1200"/>
              </a:spcBef>
              <a:spcAft>
                <a:spcPts val="600"/>
              </a:spcAft>
              <a:buFont typeface="Courier New" panose="02070309020205020404" pitchFamily="49" charset="0"/>
              <a:buChar char="o"/>
            </a:pPr>
            <a:r>
              <a:rPr lang="en-AU" sz="1800" dirty="0">
                <a:effectLst/>
                <a:latin typeface="Arial" panose="020B0604020202020204" pitchFamily="34" charset="0"/>
                <a:ea typeface="Calibri" panose="020F0502020204030204" pitchFamily="34" charset="0"/>
                <a:cs typeface="Times New Roman" panose="02020603050405020304" pitchFamily="18" charset="0"/>
              </a:rPr>
              <a:t>The game continues until all pairs of fractions have been matched.</a:t>
            </a:r>
          </a:p>
          <a:p>
            <a:pPr marL="0" lvl="0" indent="0">
              <a:lnSpc>
                <a:spcPct val="150000"/>
              </a:lnSpc>
              <a:spcBef>
                <a:spcPts val="1200"/>
              </a:spcBef>
              <a:spcAft>
                <a:spcPts val="600"/>
              </a:spcAft>
              <a:buFont typeface="+mj-lt"/>
              <a:buNone/>
              <a:tabLst>
                <a:tab pos="228600" algn="l"/>
                <a:tab pos="457200" algn="l"/>
              </a:tabLst>
            </a:pPr>
            <a:r>
              <a:rPr lang="en-AU" sz="1800" dirty="0">
                <a:effectLst/>
                <a:latin typeface="Arial" panose="020B0604020202020204" pitchFamily="34" charset="0"/>
                <a:ea typeface="Calibri" panose="020F0502020204030204" pitchFamily="34" charset="0"/>
              </a:rPr>
              <a:t>3. To vary the activity, each player turns one card over at the same time and either:</a:t>
            </a:r>
          </a:p>
          <a:p>
            <a:pPr marL="342900" lvl="0" indent="-342900">
              <a:lnSpc>
                <a:spcPct val="150000"/>
              </a:lnSpc>
              <a:spcBef>
                <a:spcPts val="1200"/>
              </a:spcBef>
              <a:spcAft>
                <a:spcPts val="600"/>
              </a:spcAft>
              <a:buFont typeface="Courier New" panose="02070309020205020404" pitchFamily="49" charset="0"/>
              <a:buChar char="o"/>
            </a:pPr>
            <a:r>
              <a:rPr lang="en-AU" sz="1800" dirty="0">
                <a:effectLst/>
                <a:latin typeface="Arial" panose="020B0604020202020204" pitchFamily="34" charset="0"/>
                <a:ea typeface="Calibri" panose="020F0502020204030204" pitchFamily="34" charset="0"/>
                <a:cs typeface="Times New Roman" panose="02020603050405020304" pitchFamily="18" charset="0"/>
              </a:rPr>
              <a:t>the player whose card requires the largest fraction to create the whole, keeps their card</a:t>
            </a:r>
          </a:p>
          <a:p>
            <a:pPr marL="342900" lvl="0" indent="-342900">
              <a:lnSpc>
                <a:spcPct val="150000"/>
              </a:lnSpc>
              <a:spcBef>
                <a:spcPts val="1200"/>
              </a:spcBef>
              <a:spcAft>
                <a:spcPts val="600"/>
              </a:spcAft>
              <a:buFont typeface="Courier New" panose="02070309020205020404" pitchFamily="49" charset="0"/>
              <a:buChar char="o"/>
            </a:pPr>
            <a:r>
              <a:rPr lang="en-AU" sz="1800" dirty="0">
                <a:effectLst/>
                <a:latin typeface="Arial" panose="020B0604020202020204" pitchFamily="34" charset="0"/>
                <a:ea typeface="Calibri" panose="020F0502020204030204" pitchFamily="34" charset="0"/>
                <a:cs typeface="Times New Roman" panose="02020603050405020304" pitchFamily="18" charset="0"/>
              </a:rPr>
              <a:t>the player whose card requires the smallest fraction to create the whole, keeps their card</a:t>
            </a:r>
          </a:p>
          <a:p>
            <a:pPr marL="342900" lvl="0" indent="-342900">
              <a:lnSpc>
                <a:spcPct val="150000"/>
              </a:lnSpc>
              <a:spcBef>
                <a:spcPts val="1200"/>
              </a:spcBef>
              <a:spcAft>
                <a:spcPts val="600"/>
              </a:spcAft>
              <a:buFont typeface="Courier New" panose="02070309020205020404" pitchFamily="49" charset="0"/>
              <a:buChar char="o"/>
            </a:pPr>
            <a:r>
              <a:rPr lang="en-AU" sz="1800" dirty="0">
                <a:effectLst/>
                <a:latin typeface="Arial" panose="020B0604020202020204" pitchFamily="34" charset="0"/>
                <a:ea typeface="Calibri" panose="020F0502020204030204" pitchFamily="34" charset="0"/>
                <a:cs typeface="Times New Roman" panose="02020603050405020304" pitchFamily="18" charset="0"/>
              </a:rPr>
              <a:t>the player whose fraction card is closest in size to one-half keeps their card.</a:t>
            </a:r>
          </a:p>
          <a:p>
            <a:endParaRPr lang="en-AU" dirty="0"/>
          </a:p>
        </p:txBody>
      </p:sp>
      <p:sp>
        <p:nvSpPr>
          <p:cNvPr id="4" name="Slide Number Placeholder 3">
            <a:extLst>
              <a:ext uri="{FF2B5EF4-FFF2-40B4-BE49-F238E27FC236}">
                <a16:creationId xmlns:a16="http://schemas.microsoft.com/office/drawing/2014/main" id="{70A3A81B-ED4A-3172-0704-E68F0D2EF8F2}"/>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32920275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a:t>Use the arrows to navigate between related activities.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a:t>Hyperlink each arrow to compare between related slides.</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3FC8-7C27-ADA4-A03B-5E48C1C14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F9E58-3C51-C638-D2A9-0DC09233C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681D0-1819-E9EE-FB6C-BDEED94D69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This question connects to the content in the developing number sense activity (Activity 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p>
        </p:txBody>
      </p:sp>
      <p:sp>
        <p:nvSpPr>
          <p:cNvPr id="4" name="Slide Number Placeholder 3">
            <a:extLst>
              <a:ext uri="{FF2B5EF4-FFF2-40B4-BE49-F238E27FC236}">
                <a16:creationId xmlns:a16="http://schemas.microsoft.com/office/drawing/2014/main" id="{53E40460-08D8-1BDD-6B68-F7DFB23337A6}"/>
              </a:ext>
            </a:extLst>
          </p:cNvPr>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15444382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37D30-8C3C-1F9B-1235-EED776AA1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F2E79-EC8B-85C4-64A1-B9824B577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281569-AF22-80CB-50D8-8C75DD35029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1)</a:t>
            </a:r>
            <a:br>
              <a:rPr lang="en-AU">
                <a:latin typeface="Arial"/>
                <a:cs typeface="Arial"/>
              </a:rPr>
            </a:br>
            <a:br>
              <a:rPr lang="en-AU"/>
            </a:br>
            <a:r>
              <a:rPr lang="en-AU" b="1"/>
              <a:t>Syllabus focus area:</a:t>
            </a:r>
            <a:endParaRPr lang="en-US">
              <a:solidFill>
                <a:srgbClr val="444444"/>
              </a:solidFill>
            </a:endParaRPr>
          </a:p>
          <a:p>
            <a:r>
              <a:rPr lang="en-AU"/>
              <a:t>Multiplicative relations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49558E46-6CF2-2491-6CB7-1B34BC401650}"/>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03638957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167147599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70</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3.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5.xml"/><Relationship Id="rId5" Type="http://schemas.openxmlformats.org/officeDocument/2006/relationships/image" Target="../media/image210.png"/><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38.xml.rels><?xml version="1.0" encoding="UTF-8" standalone="yes"?>
<Relationships xmlns="http://schemas.openxmlformats.org/package/2006/relationships"><Relationship Id="rId8" Type="http://schemas.openxmlformats.org/officeDocument/2006/relationships/image" Target="../media/image29.svg"/><Relationship Id="rId13" Type="http://schemas.openxmlformats.org/officeDocument/2006/relationships/image" Target="../media/image34.png"/><Relationship Id="rId3" Type="http://schemas.openxmlformats.org/officeDocument/2006/relationships/image" Target="../media/image10.png"/><Relationship Id="rId7" Type="http://schemas.openxmlformats.org/officeDocument/2006/relationships/image" Target="../media/image28.png"/><Relationship Id="rId12" Type="http://schemas.openxmlformats.org/officeDocument/2006/relationships/image" Target="../media/image33.svg"/><Relationship Id="rId2" Type="http://schemas.openxmlformats.org/officeDocument/2006/relationships/notesSlide" Target="../notesSlides/notesSlide38.xml"/><Relationship Id="rId16" Type="http://schemas.openxmlformats.org/officeDocument/2006/relationships/image" Target="../media/image37.svg"/><Relationship Id="rId1" Type="http://schemas.openxmlformats.org/officeDocument/2006/relationships/slideLayout" Target="../slideLayouts/slideLayout4.xml"/><Relationship Id="rId6" Type="http://schemas.openxmlformats.org/officeDocument/2006/relationships/image" Target="../media/image27.svg"/><Relationship Id="rId11" Type="http://schemas.openxmlformats.org/officeDocument/2006/relationships/image" Target="../media/image32.png"/><Relationship Id="rId5" Type="http://schemas.openxmlformats.org/officeDocument/2006/relationships/image" Target="../media/image26.png"/><Relationship Id="rId15" Type="http://schemas.openxmlformats.org/officeDocument/2006/relationships/image" Target="../media/image36.png"/><Relationship Id="rId10" Type="http://schemas.openxmlformats.org/officeDocument/2006/relationships/image" Target="../media/image31.sv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sv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 Id="rId5" Type="http://schemas.openxmlformats.org/officeDocument/2006/relationships/image" Target="../media/image38.png"/><Relationship Id="rId4" Type="http://schemas.openxmlformats.org/officeDocument/2006/relationships/image" Target="../media/image39.png"/></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chart" Target="../charts/chart4.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10.png"/><Relationship Id="rId7" Type="http://schemas.openxmlformats.org/officeDocument/2006/relationships/image" Target="../media/image44.svg"/><Relationship Id="rId2" Type="http://schemas.openxmlformats.org/officeDocument/2006/relationships/notesSlide" Target="../notesSlides/notesSlide45.xml"/><Relationship Id="rId1" Type="http://schemas.openxmlformats.org/officeDocument/2006/relationships/slideLayout" Target="../slideLayouts/slideLayout4.xml"/><Relationship Id="rId6" Type="http://schemas.openxmlformats.org/officeDocument/2006/relationships/image" Target="../media/image43.png"/><Relationship Id="rId5" Type="http://schemas.openxmlformats.org/officeDocument/2006/relationships/image" Target="../media/image42.svg"/><Relationship Id="rId4" Type="http://schemas.openxmlformats.org/officeDocument/2006/relationships/image" Target="../media/image41.png"/><Relationship Id="rId9" Type="http://schemas.openxmlformats.org/officeDocument/2006/relationships/image" Target="../media/image46.sv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5.xml"/><Relationship Id="rId5" Type="http://schemas.openxmlformats.org/officeDocument/2006/relationships/image" Target="../media/image49.png"/><Relationship Id="rId4" Type="http://schemas.openxmlformats.org/officeDocument/2006/relationships/image" Target="../media/image47.png"/></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2.xml"/><Relationship Id="rId1" Type="http://schemas.openxmlformats.org/officeDocument/2006/relationships/slideLayout" Target="../slideLayouts/slideLayout11.xml"/><Relationship Id="rId4" Type="http://schemas.openxmlformats.org/officeDocument/2006/relationships/image" Target="../media/image52.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7.xml"/><Relationship Id="rId5" Type="http://schemas.openxmlformats.org/officeDocument/2006/relationships/chart" Target="../charts/chart6.xml"/><Relationship Id="rId4" Type="http://schemas.openxmlformats.org/officeDocument/2006/relationships/chart" Target="../charts/chart5.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7.xml"/><Relationship Id="rId4" Type="http://schemas.openxmlformats.org/officeDocument/2006/relationships/image" Target="../media/image55.png"/></Relationships>
</file>

<file path=ppt/slides/_rels/slide5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9.xml"/><Relationship Id="rId1" Type="http://schemas.openxmlformats.org/officeDocument/2006/relationships/slideLayout" Target="../slideLayouts/slideLayout11.xml"/><Relationship Id="rId4" Type="http://schemas.openxmlformats.org/officeDocument/2006/relationships/image" Target="../media/image56.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slide" Target="slide5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hyperlink" Target="https://educationstandards.nsw.edu.au/wps/portal/nesa/home" TargetMode="External"/><Relationship Id="rId7" Type="http://schemas.openxmlformats.org/officeDocument/2006/relationships/hyperlink" Target="http://www.australiancurriculum.edu.au/" TargetMode="External"/><Relationship Id="rId2" Type="http://schemas.openxmlformats.org/officeDocument/2006/relationships/hyperlink" Target="https://educationstandards.nsw.edu.au/wps/portal/nesa/mini-footer/copyright" TargetMode="External"/><Relationship Id="rId1" Type="http://schemas.openxmlformats.org/officeDocument/2006/relationships/slideLayout" Target="../slideLayouts/slideLayout13.xml"/><Relationship Id="rId6" Type="http://schemas.openxmlformats.org/officeDocument/2006/relationships/hyperlink" Target="https://education.nsw.gov.au/teaching-and-learning/curriculum/literacy-and-numeracy/resources-for-schools/learning-progressions" TargetMode="External"/><Relationship Id="rId5" Type="http://schemas.openxmlformats.org/officeDocument/2006/relationships/hyperlink" Target="https://curriculum.nsw.edu.au/learning-areas/mathematics/mathematics-k-10-2022/overview" TargetMode="External"/><Relationship Id="rId4" Type="http://schemas.openxmlformats.org/officeDocument/2006/relationships/hyperlink" Target="https://curriculum.nsw.edu.au/"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educationstandards.nsw.edu.au/wps/portal/nesa/home" TargetMode="External"/><Relationship Id="rId2" Type="http://schemas.openxmlformats.org/officeDocument/2006/relationships/hyperlink" Target="https://educationstandards.nsw.edu.au/wps/portal/nesa/mini-footer/copyright" TargetMode="External"/><Relationship Id="rId1" Type="http://schemas.openxmlformats.org/officeDocument/2006/relationships/slideLayout" Target="../slideLayouts/slideLayout13.xml"/><Relationship Id="rId4" Type="http://schemas.openxmlformats.org/officeDocument/2006/relationships/hyperlink" Target="https://curriculum.nsw.edu.au/"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educationstandards.nsw.edu.au/wps/portal/nesa/mini-footer/copyright"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70.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F6095-1EC4-AF1D-D63E-D59E13EB8A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29C7B9-C360-81F1-3033-970F881863DA}"/>
              </a:ext>
            </a:extLst>
          </p:cNvPr>
          <p:cNvSpPr>
            <a:spLocks noGrp="1"/>
          </p:cNvSpPr>
          <p:nvPr>
            <p:ph type="title"/>
          </p:nvPr>
        </p:nvSpPr>
        <p:spPr/>
        <p:txBody>
          <a:bodyPr/>
          <a:lstStyle/>
          <a:p>
            <a:r>
              <a:rPr lang="en-AU">
                <a:latin typeface="+mj-lt"/>
              </a:rPr>
              <a:t>Instructions for use</a:t>
            </a:r>
          </a:p>
        </p:txBody>
      </p:sp>
      <p:sp>
        <p:nvSpPr>
          <p:cNvPr id="6" name="Text Placeholder 5">
            <a:extLst>
              <a:ext uri="{FF2B5EF4-FFF2-40B4-BE49-F238E27FC236}">
                <a16:creationId xmlns:a16="http://schemas.microsoft.com/office/drawing/2014/main" id="{64121D11-9F8F-CC35-54B7-C6925E267FA9}"/>
              </a:ext>
            </a:extLst>
          </p:cNvPr>
          <p:cNvSpPr>
            <a:spLocks noGrp="1"/>
          </p:cNvSpPr>
          <p:nvPr>
            <p:ph type="body" sz="quarter" idx="18"/>
          </p:nvPr>
        </p:nvSpPr>
        <p:spPr/>
        <p:txBody>
          <a:bodyPr/>
          <a:lstStyle/>
          <a:p>
            <a:endParaRPr lang="en-AU"/>
          </a:p>
        </p:txBody>
      </p:sp>
      <p:sp>
        <p:nvSpPr>
          <p:cNvPr id="7" name="Picture Placeholder 6">
            <a:extLst>
              <a:ext uri="{FF2B5EF4-FFF2-40B4-BE49-F238E27FC236}">
                <a16:creationId xmlns:a16="http://schemas.microsoft.com/office/drawing/2014/main" id="{EDCC1CBD-2D5B-E7F2-8E17-B400FEB5419F}"/>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latin typeface="Arial"/>
                <a:cs typeface="Arial"/>
              </a:rPr>
              <a:t>This resource aligns to the learning in Stage 2 Year A Unit 19 and revisits content from earlier sample units.</a:t>
            </a:r>
          </a:p>
          <a:p>
            <a:pPr marL="342900" indent="-342900">
              <a:buFont typeface="Arial"/>
              <a:buChar char="•"/>
            </a:pPr>
            <a:r>
              <a:rPr lang="en-AU" sz="1800">
                <a:solidFill>
                  <a:srgbClr val="22272B"/>
                </a:solidFill>
                <a:latin typeface="+mn-lt"/>
                <a:cs typeface="Arial"/>
              </a:rPr>
              <a:t>Classroom teachers are encouraged to </a:t>
            </a:r>
            <a:r>
              <a:rPr lang="en-AU" sz="1800" b="1">
                <a:solidFill>
                  <a:srgbClr val="22272B"/>
                </a:solidFill>
                <a:latin typeface="+mn-lt"/>
                <a:cs typeface="Arial"/>
              </a:rPr>
              <a:t>add, edit and adapt</a:t>
            </a:r>
            <a:r>
              <a:rPr lang="en-AU" sz="1800">
                <a:solidFill>
                  <a:srgbClr val="22272B"/>
                </a:solidFill>
                <a:latin typeface="+mn-lt"/>
                <a:cs typeface="Arial"/>
              </a:rPr>
              <a:t> to meet the needs of their students.</a:t>
            </a:r>
          </a:p>
          <a:p>
            <a:pPr marL="342900" indent="-342900">
              <a:lnSpc>
                <a:spcPct val="150000"/>
              </a:lnSpc>
              <a:buFont typeface="Arial"/>
              <a:buChar char="•"/>
            </a:pPr>
            <a:r>
              <a:rPr lang="en-AU" sz="1800">
                <a:solidFill>
                  <a:srgbClr val="22272B"/>
                </a:solidFill>
                <a:latin typeface="+mn-lt"/>
                <a:cs typeface="Arial"/>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cs typeface="Arial"/>
              </a:rPr>
              <a:t>To convert the PowerPoint to Google Slides:</a:t>
            </a:r>
          </a:p>
          <a:p>
            <a:pPr marL="913765" lvl="1" indent="-457200">
              <a:lnSpc>
                <a:spcPct val="150000"/>
              </a:lnSpc>
              <a:buFont typeface="+mj-lt"/>
              <a:buAutoNum type="arabicPeriod"/>
            </a:pPr>
            <a:r>
              <a:rPr lang="en-AU">
                <a:solidFill>
                  <a:srgbClr val="22272B"/>
                </a:solidFill>
                <a:latin typeface="+mn-lt"/>
                <a:cs typeface="Arial"/>
              </a:rPr>
              <a:t>Upload the file into Google Drive and open it.</a:t>
            </a:r>
          </a:p>
          <a:p>
            <a:pPr marL="913765" lvl="1" indent="-457200">
              <a:lnSpc>
                <a:spcPct val="150000"/>
              </a:lnSpc>
              <a:buFont typeface="+mj-lt"/>
              <a:buAutoNum type="arabicPeriod"/>
            </a:pPr>
            <a:r>
              <a:rPr lang="en-AU">
                <a:solidFill>
                  <a:srgbClr val="22272B"/>
                </a:solidFill>
                <a:latin typeface="+mn-lt"/>
                <a:cs typeface="Arial"/>
              </a:rPr>
              <a:t>Go to File &gt; Save as Google Slides.</a:t>
            </a:r>
          </a:p>
          <a:p>
            <a:pPr marL="456565" lvl="1">
              <a:lnSpc>
                <a:spcPct val="150000"/>
              </a:lnSpc>
            </a:pPr>
            <a:r>
              <a:rPr lang="en-AU">
                <a:solidFill>
                  <a:srgbClr val="22272B"/>
                </a:solidFill>
                <a:latin typeface="+mn-lt"/>
                <a:cs typeface="Arial"/>
              </a:rPr>
              <a:t>(Note – conversion may cause formatting changes in the slides.)</a:t>
            </a:r>
          </a:p>
        </p:txBody>
      </p:sp>
      <p:sp>
        <p:nvSpPr>
          <p:cNvPr id="2" name="Slide Number Placeholder 1">
            <a:extLst>
              <a:ext uri="{FF2B5EF4-FFF2-40B4-BE49-F238E27FC236}">
                <a16:creationId xmlns:a16="http://schemas.microsoft.com/office/drawing/2014/main" id="{5054FBAE-1B2A-91CD-091C-35061078D29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3330546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latin typeface="+mj-lt"/>
                <a:cs typeface="Arial"/>
              </a:rPr>
              <a:t>Review of Learning </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sz="2400">
                <a:latin typeface="+mj-lt"/>
                <a:cs typeface="Arial"/>
              </a:rPr>
              <a:t>Mathematics Stage 2 </a:t>
            </a:r>
            <a:r>
              <a:rPr lang="en-AU" sz="2400">
                <a:solidFill>
                  <a:srgbClr val="FFFFFF"/>
                </a:solidFill>
                <a:latin typeface="+mj-lt"/>
                <a:cs typeface="Arial"/>
              </a:rPr>
              <a:t>–</a:t>
            </a:r>
            <a:r>
              <a:rPr lang="en-AU" sz="2400">
                <a:latin typeface="+mj-lt"/>
                <a:cs typeface="Arial"/>
              </a:rPr>
              <a:t> Unit 19</a:t>
            </a:r>
          </a:p>
        </p:txBody>
      </p:sp>
      <p:pic>
        <p:nvPicPr>
          <p:cNvPr id="1026" name="Picture 2" descr="A group of dice on an orange surface">
            <a:extLst>
              <a:ext uri="{FF2B5EF4-FFF2-40B4-BE49-F238E27FC236}">
                <a16:creationId xmlns:a16="http://schemas.microsoft.com/office/drawing/2014/main" id="{4C45AFD8-1A65-DE91-574E-A3BA8B7840B0}"/>
              </a:ext>
            </a:extLst>
          </p:cNvPr>
          <p:cNvPicPr>
            <a:picLocks noGrp="1" noChangeAspect="1" noChangeArrowheads="1"/>
          </p:cNvPicPr>
          <p:nvPr>
            <p:ph type="pic" sz="quarter" idx="13"/>
          </p:nvPr>
        </p:nvPicPr>
        <p:blipFill>
          <a:blip r:embed="rId3">
            <a:extLst>
              <a:ext uri="{28A0092B-C50C-407E-A947-70E740481C1C}">
                <a14:useLocalDpi xmlns:a14="http://schemas.microsoft.com/office/drawing/2010/main" val="0"/>
              </a:ext>
            </a:extLst>
          </a:blip>
          <a:srcRect l="1799" r="1799"/>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10" name="Group 9" descr="Blue circle 1 with light blue rectangle with title Review of learing 1.">
            <a:extLst>
              <a:ext uri="{FF2B5EF4-FFF2-40B4-BE49-F238E27FC236}">
                <a16:creationId xmlns:a16="http://schemas.microsoft.com/office/drawing/2014/main" id="{CAD88598-E8A3-C1F7-3B2A-214A7A666EF7}"/>
              </a:ext>
            </a:extLst>
          </p:cNvPr>
          <p:cNvGrpSpPr/>
          <p:nvPr/>
        </p:nvGrpSpPr>
        <p:grpSpPr>
          <a:xfrm>
            <a:off x="360000" y="1266959"/>
            <a:ext cx="4775638" cy="1045440"/>
            <a:chOff x="360000" y="1266959"/>
            <a:chExt cx="4775638" cy="1045440"/>
          </a:xfrm>
        </p:grpSpPr>
        <p:sp>
          <p:nvSpPr>
            <p:cNvPr id="2" name="Rectangle: Rounded Corners 1" descr="Blue circle 1 with light blue rectangle with title Review of learning 1.">
              <a:extLst>
                <a:ext uri="{FF2B5EF4-FFF2-40B4-BE49-F238E27FC236}">
                  <a16:creationId xmlns:a16="http://schemas.microsoft.com/office/drawing/2014/main" id="{935D5059-5790-C707-5987-84856AF04ADB}"/>
                </a:ext>
                <a:ext uri="{C183D7F6-B498-43B3-948B-1728B52AA6E4}">
                  <adec:decorative xmlns:adec="http://schemas.microsoft.com/office/drawing/2017/decorative" val="0"/>
                </a:ext>
              </a:extLst>
            </p:cNvPr>
            <p:cNvSpPr>
              <a:spLocks/>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1</a:t>
              </a: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descr="Blue circle 2 with light blue rectangle with title Review of learing 2.">
            <a:extLst>
              <a:ext uri="{FF2B5EF4-FFF2-40B4-BE49-F238E27FC236}">
                <a16:creationId xmlns:a16="http://schemas.microsoft.com/office/drawing/2014/main" id="{AF7A23A4-F1DB-31F7-E62C-F1BFA9349F64}"/>
              </a:ext>
              <a:ext uri="{C183D7F6-B498-43B3-948B-1728B52AA6E4}">
                <adec:decorative xmlns:adec="http://schemas.microsoft.com/office/drawing/2017/decorative" val="0"/>
              </a:ext>
            </a:extLst>
          </p:cNvPr>
          <p:cNvGrpSpPr/>
          <p:nvPr/>
        </p:nvGrpSpPr>
        <p:grpSpPr>
          <a:xfrm>
            <a:off x="360000" y="2362859"/>
            <a:ext cx="4775638" cy="1045440"/>
            <a:chOff x="360000" y="2362859"/>
            <a:chExt cx="4775638" cy="1045440"/>
          </a:xfrm>
        </p:grpSpPr>
        <p:sp>
          <p:nvSpPr>
            <p:cNvPr id="20" name="Rectangle: Rounded Corners 19" descr="Blue circle 2 with light blue rectangle with title Review of learning 2.">
              <a:extLst>
                <a:ext uri="{FF2B5EF4-FFF2-40B4-BE49-F238E27FC236}">
                  <a16:creationId xmlns:a16="http://schemas.microsoft.com/office/drawing/2014/main" id="{C3D97F66-221B-C853-0EA8-66E5F684D86A}"/>
                </a:ext>
                <a:ext uri="{C183D7F6-B498-43B3-948B-1728B52AA6E4}">
                  <adec:decorative xmlns:adec="http://schemas.microsoft.com/office/drawing/2017/decorative" val="0"/>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2</a:t>
              </a:r>
              <a:endParaRPr lang="en-US">
                <a:solidFill>
                  <a:schemeClr val="accent1"/>
                </a:solidFill>
                <a:latin typeface="+mj-lt"/>
                <a:cs typeface="Aria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descr="Blue circle 3 with light blue rectangle with title Review of learing 3.">
            <a:extLst>
              <a:ext uri="{FF2B5EF4-FFF2-40B4-BE49-F238E27FC236}">
                <a16:creationId xmlns:a16="http://schemas.microsoft.com/office/drawing/2014/main" id="{DF37B4A1-413C-FC0F-E0B4-307A5BFA5855}"/>
              </a:ext>
              <a:ext uri="{C183D7F6-B498-43B3-948B-1728B52AA6E4}">
                <adec:decorative xmlns:adec="http://schemas.microsoft.com/office/drawing/2017/decorative" val="0"/>
              </a:ext>
            </a:extLst>
          </p:cNvPr>
          <p:cNvGrpSpPr/>
          <p:nvPr/>
        </p:nvGrpSpPr>
        <p:grpSpPr>
          <a:xfrm>
            <a:off x="360000" y="3458759"/>
            <a:ext cx="4775638" cy="1045440"/>
            <a:chOff x="360000" y="3458759"/>
            <a:chExt cx="4775638" cy="1045440"/>
          </a:xfrm>
        </p:grpSpPr>
        <p:sp>
          <p:nvSpPr>
            <p:cNvPr id="23" name="Rectangle: Rounded Corners 22" descr="Blue circle 3 with light blue rectangle with title Review of learning 3.">
              <a:extLst>
                <a:ext uri="{FF2B5EF4-FFF2-40B4-BE49-F238E27FC236}">
                  <a16:creationId xmlns:a16="http://schemas.microsoft.com/office/drawing/2014/main" id="{8EDEF762-D4E6-C43E-E98A-95D6A0AE4FC9}"/>
                </a:ext>
                <a:ext uri="{C183D7F6-B498-43B3-948B-1728B52AA6E4}">
                  <adec:decorative xmlns:adec="http://schemas.microsoft.com/office/drawing/2017/decorative" val="0"/>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3 </a:t>
              </a: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descr="Blue circle 4 with light blue rectangle with title Review of learing 4.">
            <a:extLst>
              <a:ext uri="{FF2B5EF4-FFF2-40B4-BE49-F238E27FC236}">
                <a16:creationId xmlns:a16="http://schemas.microsoft.com/office/drawing/2014/main" id="{C989DA6E-4839-1BBD-77AB-6F9CC520B670}"/>
              </a:ext>
              <a:ext uri="{C183D7F6-B498-43B3-948B-1728B52AA6E4}">
                <adec:decorative xmlns:adec="http://schemas.microsoft.com/office/drawing/2017/decorative" val="0"/>
              </a:ext>
            </a:extLst>
          </p:cNvPr>
          <p:cNvGrpSpPr/>
          <p:nvPr/>
        </p:nvGrpSpPr>
        <p:grpSpPr>
          <a:xfrm>
            <a:off x="360000" y="4554659"/>
            <a:ext cx="4775638" cy="1045440"/>
            <a:chOff x="360000" y="4554659"/>
            <a:chExt cx="4775638" cy="1045440"/>
          </a:xfrm>
        </p:grpSpPr>
        <p:sp>
          <p:nvSpPr>
            <p:cNvPr id="26" name="Rectangle: Rounded Corners 25" descr="Blue circle 4 with light blue rectangle with title Review of learning 4.">
              <a:extLst>
                <a:ext uri="{FF2B5EF4-FFF2-40B4-BE49-F238E27FC236}">
                  <a16:creationId xmlns:a16="http://schemas.microsoft.com/office/drawing/2014/main" id="{B1BC8FAB-0C07-84FE-204A-47391BBEAF64}"/>
                </a:ext>
                <a:ext uri="{C183D7F6-B498-43B3-948B-1728B52AA6E4}">
                  <adec:decorative xmlns:adec="http://schemas.microsoft.com/office/drawing/2017/decorative" val="0"/>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4</a:t>
              </a:r>
              <a:endParaRPr lang="en-US">
                <a:solidFill>
                  <a:schemeClr val="accent1"/>
                </a:solidFill>
                <a:latin typeface="+mj-lt"/>
                <a:cs typeface="Arial" panose="020B0604020202020204"/>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Group 16" descr="Blue circle 5 with light blue rectangle with title Review of learing 5.">
            <a:extLst>
              <a:ext uri="{FF2B5EF4-FFF2-40B4-BE49-F238E27FC236}">
                <a16:creationId xmlns:a16="http://schemas.microsoft.com/office/drawing/2014/main" id="{5CA7685F-33D7-262A-AE71-7F572C4FD60A}"/>
              </a:ext>
              <a:ext uri="{C183D7F6-B498-43B3-948B-1728B52AA6E4}">
                <adec:decorative xmlns:adec="http://schemas.microsoft.com/office/drawing/2017/decorative" val="0"/>
              </a:ext>
            </a:extLst>
          </p:cNvPr>
          <p:cNvGrpSpPr/>
          <p:nvPr/>
        </p:nvGrpSpPr>
        <p:grpSpPr>
          <a:xfrm>
            <a:off x="6096000" y="1200486"/>
            <a:ext cx="4775638" cy="1045440"/>
            <a:chOff x="6096000" y="1266959"/>
            <a:chExt cx="4775638" cy="1045440"/>
          </a:xfrm>
        </p:grpSpPr>
        <p:sp>
          <p:nvSpPr>
            <p:cNvPr id="18" name="Rectangle: Rounded Corners 43" descr="Blue circle 5 with light blue rectangle with title Review of learning 5.">
              <a:extLst>
                <a:ext uri="{FF2B5EF4-FFF2-40B4-BE49-F238E27FC236}">
                  <a16:creationId xmlns:a16="http://schemas.microsoft.com/office/drawing/2014/main" id="{3DAA1A61-85C8-F828-1EC5-45BA7CAB872F}"/>
                </a:ext>
                <a:ext uri="{C183D7F6-B498-43B3-948B-1728B52AA6E4}">
                  <adec:decorative xmlns:adec="http://schemas.microsoft.com/office/drawing/2017/decorative" val="0"/>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5</a:t>
              </a:r>
              <a:endParaRPr lang="en-US">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Group 10" descr="Blue circle 6 with light blue rectangle with title Review of learning 6.">
            <a:extLst>
              <a:ext uri="{FF2B5EF4-FFF2-40B4-BE49-F238E27FC236}">
                <a16:creationId xmlns:a16="http://schemas.microsoft.com/office/drawing/2014/main" id="{98348D52-CA50-F15C-B472-B152337D805F}"/>
              </a:ext>
              <a:ext uri="{C183D7F6-B498-43B3-948B-1728B52AA6E4}">
                <adec:decorative xmlns:adec="http://schemas.microsoft.com/office/drawing/2017/decorative" val="0"/>
              </a:ext>
            </a:extLst>
          </p:cNvPr>
          <p:cNvGrpSpPr/>
          <p:nvPr/>
        </p:nvGrpSpPr>
        <p:grpSpPr>
          <a:xfrm>
            <a:off x="6096000" y="2362859"/>
            <a:ext cx="4775638" cy="1045440"/>
            <a:chOff x="6096000" y="1266959"/>
            <a:chExt cx="4775638" cy="1045440"/>
          </a:xfrm>
        </p:grpSpPr>
        <p:sp>
          <p:nvSpPr>
            <p:cNvPr id="44" name="Rectangle: Rounded Corners 43" descr="Blue circle 6 with light blue rectangle with title Review of learning 6.">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6</a:t>
              </a:r>
              <a:endParaRPr lang="en-US">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descr="Blue circle 7 with light blue rectangle with title Review of learning 7.">
            <a:extLst>
              <a:ext uri="{FF2B5EF4-FFF2-40B4-BE49-F238E27FC236}">
                <a16:creationId xmlns:a16="http://schemas.microsoft.com/office/drawing/2014/main" id="{E73741F1-615E-A4A4-088D-E0A9187F983E}"/>
              </a:ext>
              <a:ext uri="{C183D7F6-B498-43B3-948B-1728B52AA6E4}">
                <adec:decorative xmlns:adec="http://schemas.microsoft.com/office/drawing/2017/decorative" val="0"/>
              </a:ext>
            </a:extLst>
          </p:cNvPr>
          <p:cNvGrpSpPr/>
          <p:nvPr/>
        </p:nvGrpSpPr>
        <p:grpSpPr>
          <a:xfrm>
            <a:off x="6096000" y="3458759"/>
            <a:ext cx="4775638" cy="1045440"/>
            <a:chOff x="6096000" y="2362859"/>
            <a:chExt cx="4775638" cy="1045440"/>
          </a:xfrm>
        </p:grpSpPr>
        <p:sp>
          <p:nvSpPr>
            <p:cNvPr id="41" name="Rectangle: Rounded Corners 40" descr="Blue circle 7 with light blue rectangle with title Review of learning 7.">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panose="020B0604020202020204"/>
                </a:rPr>
                <a:t>Review of learning 7</a:t>
              </a:r>
              <a:endParaRPr lang="en-US">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descr="Blue circle 8 with light blue rectangle with title Review of learning 8.">
            <a:extLst>
              <a:ext uri="{FF2B5EF4-FFF2-40B4-BE49-F238E27FC236}">
                <a16:creationId xmlns:a16="http://schemas.microsoft.com/office/drawing/2014/main" id="{8E45D1B3-369A-D013-FFE7-B91D37B811F7}"/>
              </a:ext>
              <a:ext uri="{C183D7F6-B498-43B3-948B-1728B52AA6E4}">
                <adec:decorative xmlns:adec="http://schemas.microsoft.com/office/drawing/2017/decorative" val="0"/>
              </a:ext>
            </a:extLst>
          </p:cNvPr>
          <p:cNvGrpSpPr/>
          <p:nvPr/>
        </p:nvGrpSpPr>
        <p:grpSpPr>
          <a:xfrm>
            <a:off x="6096000" y="4554659"/>
            <a:ext cx="4775638" cy="1045440"/>
            <a:chOff x="6096000" y="3458759"/>
            <a:chExt cx="4775638" cy="1045440"/>
          </a:xfrm>
        </p:grpSpPr>
        <p:sp>
          <p:nvSpPr>
            <p:cNvPr id="38" name="Rectangle: Rounded Corners 37" descr="Blue circle 8 with light blue rectangle with title Review of learning 8.">
              <a:extLst>
                <a:ext uri="{FF2B5EF4-FFF2-40B4-BE49-F238E27FC236}">
                  <a16:creationId xmlns:a16="http://schemas.microsoft.com/office/drawing/2014/main" id="{22AE8CE5-94FD-CF39-4100-9EA79119BE34}"/>
                </a:ext>
                <a:ext uri="{C183D7F6-B498-43B3-948B-1728B52AA6E4}">
                  <adec:decorative xmlns:adec="http://schemas.microsoft.com/office/drawing/2017/decorative" val="0"/>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8</a:t>
              </a:r>
              <a:endParaRPr lang="en-US">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0"/>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cs typeface="Arial"/>
              </a:rPr>
              <a:t>Review of learning 1</a:t>
            </a:r>
            <a:endParaRPr lang="en-AU">
              <a:latin typeface="+mj-lt"/>
            </a:endParaRP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a:latin typeface="Arial"/>
                <a:cs typeface="Arial"/>
              </a:rPr>
              <a:t>Multiple choice </a:t>
            </a:r>
            <a:r>
              <a:rPr lang="en-US">
                <a:solidFill>
                  <a:schemeClr val="bg1"/>
                </a:solidFill>
                <a:latin typeface="Arial"/>
                <a:cs typeface="Arial"/>
              </a:rPr>
              <a:t>(1)</a:t>
            </a:r>
          </a:p>
        </p:txBody>
      </p:sp>
      <p:pic>
        <p:nvPicPr>
          <p:cNvPr id="4" name="Picture 3" descr="image of a finger selecting an option for a multiple choice or true and false">
            <a:extLst>
              <a:ext uri="{FF2B5EF4-FFF2-40B4-BE49-F238E27FC236}">
                <a16:creationId xmlns:a16="http://schemas.microsoft.com/office/drawing/2014/main" id="{213BF0C3-EA70-69CD-39F5-736545693249}"/>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967577"/>
            <a:ext cx="11358861" cy="1667489"/>
          </a:xfrm>
        </p:spPr>
        <p:txBody>
          <a:bodyPr vert="horz" lIns="0" tIns="0" rIns="0" bIns="0" rtlCol="0" anchor="t">
            <a:noAutofit/>
          </a:bodyPr>
          <a:lstStyle/>
          <a:p>
            <a:pPr algn="ctr"/>
            <a:r>
              <a:rPr lang="en-US" sz="4000" dirty="0">
                <a:latin typeface="Arial"/>
                <a:cs typeface="Arial"/>
              </a:rPr>
              <a:t>Which of the following shows the non-standard form for 6324?</a:t>
            </a:r>
          </a:p>
        </p:txBody>
      </p:sp>
      <p:sp>
        <p:nvSpPr>
          <p:cNvPr id="9" name="TextBox 8">
            <a:extLst>
              <a:ext uri="{FF2B5EF4-FFF2-40B4-BE49-F238E27FC236}">
                <a16:creationId xmlns:a16="http://schemas.microsoft.com/office/drawing/2014/main" id="{17539DAC-4E92-AFE5-86E8-50C88518EFAD}"/>
              </a:ext>
            </a:extLst>
          </p:cNvPr>
          <p:cNvSpPr txBox="1"/>
          <p:nvPr/>
        </p:nvSpPr>
        <p:spPr>
          <a:xfrm>
            <a:off x="699131" y="2826799"/>
            <a:ext cx="11038973" cy="6155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000" b="1"/>
              <a:t>A	 </a:t>
            </a:r>
            <a:r>
              <a:rPr lang="en-US" sz="4000"/>
              <a:t>6 thousands, 3 hundreds, 2 tens and 4 ones </a:t>
            </a:r>
            <a:endParaRPr lang="en-US" sz="4000" b="1"/>
          </a:p>
        </p:txBody>
      </p:sp>
      <p:sp>
        <p:nvSpPr>
          <p:cNvPr id="10" name="TextBox 9">
            <a:extLst>
              <a:ext uri="{FF2B5EF4-FFF2-40B4-BE49-F238E27FC236}">
                <a16:creationId xmlns:a16="http://schemas.microsoft.com/office/drawing/2014/main" id="{0E33B1A6-4106-9E75-7645-88335BABE19D}"/>
              </a:ext>
            </a:extLst>
          </p:cNvPr>
          <p:cNvSpPr txBox="1"/>
          <p:nvPr/>
        </p:nvSpPr>
        <p:spPr>
          <a:xfrm>
            <a:off x="699131" y="3698301"/>
            <a:ext cx="8263007" cy="6155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000" b="1"/>
              <a:t>B	</a:t>
            </a:r>
            <a:r>
              <a:rPr lang="en-US" sz="4000"/>
              <a:t> 6 thousands, 724 ones</a:t>
            </a:r>
            <a:endParaRPr lang="en-US" sz="4000" b="1"/>
          </a:p>
        </p:txBody>
      </p:sp>
      <p:sp>
        <p:nvSpPr>
          <p:cNvPr id="12" name="TextBox 11">
            <a:extLst>
              <a:ext uri="{FF2B5EF4-FFF2-40B4-BE49-F238E27FC236}">
                <a16:creationId xmlns:a16="http://schemas.microsoft.com/office/drawing/2014/main" id="{7E4BDDCB-88AF-EC45-6F07-05B50A0060D2}"/>
              </a:ext>
            </a:extLst>
          </p:cNvPr>
          <p:cNvSpPr txBox="1"/>
          <p:nvPr/>
        </p:nvSpPr>
        <p:spPr>
          <a:xfrm>
            <a:off x="699131" y="4505587"/>
            <a:ext cx="8571349" cy="6155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000" b="1"/>
              <a:t>C	</a:t>
            </a:r>
            <a:r>
              <a:rPr lang="en-US" sz="4000"/>
              <a:t> 63 hundreds and 24 ones</a:t>
            </a:r>
            <a:endParaRPr lang="en-US" sz="4000" b="1"/>
          </a:p>
        </p:txBody>
      </p:sp>
      <p:sp>
        <p:nvSpPr>
          <p:cNvPr id="11" name="TextBox 10">
            <a:extLst>
              <a:ext uri="{FF2B5EF4-FFF2-40B4-BE49-F238E27FC236}">
                <a16:creationId xmlns:a16="http://schemas.microsoft.com/office/drawing/2014/main" id="{28ADB1A3-D5FD-9EC3-BED8-5982F1544E0E}"/>
              </a:ext>
            </a:extLst>
          </p:cNvPr>
          <p:cNvSpPr txBox="1"/>
          <p:nvPr/>
        </p:nvSpPr>
        <p:spPr>
          <a:xfrm>
            <a:off x="699132" y="5377089"/>
            <a:ext cx="8571349" cy="6155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000" b="1"/>
              <a:t>D	</a:t>
            </a:r>
            <a:r>
              <a:rPr lang="en-US" sz="4000"/>
              <a:t> 630 thousands and 24 ones</a:t>
            </a:r>
            <a:endParaRPr lang="en-US" sz="4000" b="1"/>
          </a:p>
        </p:txBody>
      </p:sp>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7292A2D-79DC-853F-A2F3-AFB9D75909B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a:t>
            </a:r>
          </a:p>
        </p:txBody>
      </p:sp>
      <p:pic>
        <p:nvPicPr>
          <p:cNvPr id="4" name="Picture 3" descr="image of a clipboard with a pencil recording short answer responses">
            <a:extLst>
              <a:ext uri="{FF2B5EF4-FFF2-40B4-BE49-F238E27FC236}">
                <a16:creationId xmlns:a16="http://schemas.microsoft.com/office/drawing/2014/main" id="{5CD9E655-ACD9-A77F-AC24-CF29796A279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4F3FEFD7-8600-F68D-84BD-680FA1695628}"/>
              </a:ext>
            </a:extLst>
          </p:cNvPr>
          <p:cNvSpPr>
            <a:spLocks noGrp="1"/>
          </p:cNvSpPr>
          <p:nvPr>
            <p:ph type="pic" sz="quarter" idx="21"/>
          </p:nvPr>
        </p:nvSpPr>
        <p:spPr>
          <a:xfrm>
            <a:off x="200025" y="1275501"/>
            <a:ext cx="11745951" cy="915500"/>
          </a:xfrm>
        </p:spPr>
        <p:txBody>
          <a:bodyPr/>
          <a:lstStyle/>
          <a:p>
            <a:pPr algn="ctr"/>
            <a:r>
              <a:rPr lang="en-US" sz="4400">
                <a:latin typeface="Arial"/>
                <a:cs typeface="Arial"/>
              </a:rPr>
              <a:t>What is the </a:t>
            </a:r>
            <a:r>
              <a:rPr lang="en-US" sz="4400" b="1">
                <a:latin typeface="Arial"/>
                <a:cs typeface="Arial"/>
              </a:rPr>
              <a:t>same</a:t>
            </a:r>
            <a:r>
              <a:rPr lang="en-US" sz="4400">
                <a:latin typeface="Arial"/>
                <a:cs typeface="Arial"/>
              </a:rPr>
              <a:t> and what is </a:t>
            </a:r>
            <a:r>
              <a:rPr lang="en-US" sz="4400" b="1">
                <a:latin typeface="Arial"/>
                <a:cs typeface="Arial"/>
              </a:rPr>
              <a:t>different</a:t>
            </a:r>
            <a:r>
              <a:rPr lang="en-US" sz="4400">
                <a:latin typeface="Arial"/>
                <a:cs typeface="Arial"/>
              </a:rPr>
              <a:t> about these shapes?</a:t>
            </a:r>
          </a:p>
          <a:p>
            <a:endParaRPr lang="en-US" sz="2000">
              <a:latin typeface="Arial"/>
              <a:cs typeface="Arial"/>
            </a:endParaRPr>
          </a:p>
        </p:txBody>
      </p:sp>
      <p:pic>
        <p:nvPicPr>
          <p:cNvPr id="8" name="Picture 7" descr="An image of a blue rhombus and a blue rectangle.">
            <a:extLst>
              <a:ext uri="{FF2B5EF4-FFF2-40B4-BE49-F238E27FC236}">
                <a16:creationId xmlns:a16="http://schemas.microsoft.com/office/drawing/2014/main" id="{7825DEB7-7A0D-E181-7E1C-F436D739F0FA}"/>
              </a:ext>
            </a:extLst>
          </p:cNvPr>
          <p:cNvPicPr>
            <a:picLocks noChangeAspect="1"/>
          </p:cNvPicPr>
          <p:nvPr/>
        </p:nvPicPr>
        <p:blipFill>
          <a:blip r:embed="rId4"/>
          <a:stretch>
            <a:fillRect/>
          </a:stretch>
        </p:blipFill>
        <p:spPr>
          <a:xfrm>
            <a:off x="2651374" y="3359195"/>
            <a:ext cx="6889251" cy="2223304"/>
          </a:xfrm>
          <a:prstGeom prst="rect">
            <a:avLst/>
          </a:prstGeom>
        </p:spPr>
      </p:pic>
      <p:sp>
        <p:nvSpPr>
          <p:cNvPr id="2" name="Slide Number Placeholder 1">
            <a:extLst>
              <a:ext uri="{FF2B5EF4-FFF2-40B4-BE49-F238E27FC236}">
                <a16:creationId xmlns:a16="http://schemas.microsoft.com/office/drawing/2014/main" id="{EA9D6B60-D9E0-EC2E-C5BB-DF4DD3655BFD}"/>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286892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04D29-3F5A-CA10-3A4C-1106A0EFFEF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B5BAC30-6BD8-C081-77BC-D2B9575F713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a:t>
            </a:r>
          </a:p>
        </p:txBody>
      </p:sp>
      <p:pic>
        <p:nvPicPr>
          <p:cNvPr id="4" name="Picture 3" descr="image of a clipboard with a pencil recording short answer responses">
            <a:extLst>
              <a:ext uri="{FF2B5EF4-FFF2-40B4-BE49-F238E27FC236}">
                <a16:creationId xmlns:a16="http://schemas.microsoft.com/office/drawing/2014/main" id="{6A8AD6B3-D377-CD0C-D55B-8F006C042486}"/>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7157F9C0-C1ED-7744-16B0-EF203AF569DC}"/>
              </a:ext>
            </a:extLst>
          </p:cNvPr>
          <p:cNvSpPr>
            <a:spLocks noGrp="1"/>
          </p:cNvSpPr>
          <p:nvPr>
            <p:ph type="pic" sz="quarter" idx="21"/>
          </p:nvPr>
        </p:nvSpPr>
        <p:spPr>
          <a:xfrm>
            <a:off x="360000" y="996877"/>
            <a:ext cx="11243037" cy="5592399"/>
          </a:xfrm>
        </p:spPr>
        <p:txBody>
          <a:bodyPr/>
          <a:lstStyle/>
          <a:p>
            <a:pPr algn="ctr"/>
            <a:r>
              <a:rPr lang="en-US" sz="3600" b="1" dirty="0">
                <a:latin typeface="Arial"/>
                <a:cs typeface="Arial"/>
              </a:rPr>
              <a:t>Create</a:t>
            </a:r>
            <a:r>
              <a:rPr lang="en-US" sz="3600" dirty="0">
                <a:latin typeface="Arial"/>
                <a:cs typeface="Arial"/>
              </a:rPr>
              <a:t> a </a:t>
            </a:r>
            <a:r>
              <a:rPr lang="en-US" sz="3600" b="1" dirty="0">
                <a:latin typeface="Arial"/>
                <a:cs typeface="Arial"/>
              </a:rPr>
              <a:t>table</a:t>
            </a:r>
            <a:r>
              <a:rPr lang="en-US" sz="3600" dirty="0">
                <a:latin typeface="Arial"/>
                <a:cs typeface="Arial"/>
              </a:rPr>
              <a:t> to show 4D’s sporting house group data. </a:t>
            </a:r>
          </a:p>
          <a:p>
            <a:pPr algn="ctr"/>
            <a:r>
              <a:rPr lang="en-US" sz="3600" dirty="0">
                <a:latin typeface="Arial"/>
                <a:cs typeface="Arial"/>
              </a:rPr>
              <a:t>Bundjalung – 9 students</a:t>
            </a:r>
          </a:p>
          <a:p>
            <a:pPr algn="ctr"/>
            <a:r>
              <a:rPr lang="en-US" sz="3600" dirty="0" err="1">
                <a:latin typeface="Arial"/>
                <a:cs typeface="Arial"/>
              </a:rPr>
              <a:t>Gumbaynggirr</a:t>
            </a:r>
            <a:r>
              <a:rPr lang="en-US" sz="3600" dirty="0">
                <a:latin typeface="Arial"/>
                <a:cs typeface="Arial"/>
              </a:rPr>
              <a:t> – 8 students</a:t>
            </a:r>
          </a:p>
          <a:p>
            <a:pPr algn="ctr"/>
            <a:r>
              <a:rPr lang="en-US" sz="3600" dirty="0">
                <a:latin typeface="Arial"/>
                <a:cs typeface="Arial"/>
              </a:rPr>
              <a:t>Wiradjuri – 6 students</a:t>
            </a:r>
          </a:p>
          <a:p>
            <a:pPr algn="ctr"/>
            <a:r>
              <a:rPr lang="en-US" sz="3600" dirty="0">
                <a:latin typeface="Arial"/>
                <a:cs typeface="Arial"/>
              </a:rPr>
              <a:t>Muruwari – 7 students</a:t>
            </a:r>
          </a:p>
          <a:p>
            <a:pPr algn="ctr"/>
            <a:endParaRPr lang="en-US" sz="4400" dirty="0">
              <a:latin typeface="Arial"/>
              <a:cs typeface="Arial"/>
            </a:endParaRPr>
          </a:p>
          <a:p>
            <a:pPr algn="ctr"/>
            <a:endParaRPr lang="en-US" sz="4400" dirty="0"/>
          </a:p>
          <a:p>
            <a:pPr algn="ctr"/>
            <a:endParaRPr lang="en-US" sz="4400" dirty="0">
              <a:solidFill>
                <a:srgbClr val="22272B"/>
              </a:solidFill>
            </a:endParaRPr>
          </a:p>
          <a:p>
            <a:endParaRPr lang="en-US" dirty="0">
              <a:latin typeface="Arial"/>
              <a:cs typeface="Arial"/>
            </a:endParaRPr>
          </a:p>
        </p:txBody>
      </p:sp>
      <p:sp>
        <p:nvSpPr>
          <p:cNvPr id="2" name="Slide Number Placeholder 1">
            <a:extLst>
              <a:ext uri="{FF2B5EF4-FFF2-40B4-BE49-F238E27FC236}">
                <a16:creationId xmlns:a16="http://schemas.microsoft.com/office/drawing/2014/main" id="{E7694136-0ABE-6565-8E70-C408D71197A0}"/>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47140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73FA9-B3B4-3714-FC45-47F2D01CCFD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8F05DE5-C379-717B-6C87-B9DC7632F6A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a:t>
            </a:r>
          </a:p>
        </p:txBody>
      </p:sp>
      <p:pic>
        <p:nvPicPr>
          <p:cNvPr id="4" name="Picture 3" descr="image of a clipboard with a pencil recording short answer responses">
            <a:extLst>
              <a:ext uri="{FF2B5EF4-FFF2-40B4-BE49-F238E27FC236}">
                <a16:creationId xmlns:a16="http://schemas.microsoft.com/office/drawing/2014/main" id="{668EA503-53FA-A948-785F-ED4A432D9FBB}"/>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Picture Placeholder 10">
            <a:extLst>
              <a:ext uri="{FF2B5EF4-FFF2-40B4-BE49-F238E27FC236}">
                <a16:creationId xmlns:a16="http://schemas.microsoft.com/office/drawing/2014/main" id="{C71FA276-C5C1-DB90-3082-41EDC65E643E}"/>
              </a:ext>
            </a:extLst>
          </p:cNvPr>
          <p:cNvSpPr txBox="1">
            <a:spLocks/>
          </p:cNvSpPr>
          <p:nvPr/>
        </p:nvSpPr>
        <p:spPr>
          <a:xfrm>
            <a:off x="878026" y="854272"/>
            <a:ext cx="10152450" cy="1756955"/>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a:latin typeface="Arial"/>
                <a:cs typeface="Arial"/>
              </a:rPr>
              <a:t>Which statement about </a:t>
            </a:r>
            <a:r>
              <a:rPr lang="en-US" sz="4000" b="1">
                <a:latin typeface="Arial"/>
                <a:cs typeface="Arial"/>
              </a:rPr>
              <a:t>patterns of multiples </a:t>
            </a:r>
            <a:r>
              <a:rPr lang="en-US" sz="4000">
                <a:latin typeface="Arial"/>
                <a:cs typeface="Arial"/>
              </a:rPr>
              <a:t>is in the wrong column and why?</a:t>
            </a:r>
          </a:p>
          <a:p>
            <a:pPr algn="ctr"/>
            <a:br>
              <a:rPr lang="en-US" sz="4400">
                <a:latin typeface="Arial"/>
                <a:cs typeface="Arial"/>
              </a:rPr>
            </a:br>
            <a:endParaRPr lang="en-US" sz="4400">
              <a:solidFill>
                <a:srgbClr val="22272B"/>
              </a:solidFill>
            </a:endParaRPr>
          </a:p>
          <a:p>
            <a:endParaRPr lang="en-US">
              <a:latin typeface="Arial"/>
              <a:cs typeface="Arial"/>
            </a:endParaRPr>
          </a:p>
        </p:txBody>
      </p:sp>
      <p:graphicFrame>
        <p:nvGraphicFramePr>
          <p:cNvPr id="9" name="Table 8">
            <a:extLst>
              <a:ext uri="{FF2B5EF4-FFF2-40B4-BE49-F238E27FC236}">
                <a16:creationId xmlns:a16="http://schemas.microsoft.com/office/drawing/2014/main" id="{EADB195E-B317-138A-210C-A6FB0D96366B}"/>
              </a:ext>
            </a:extLst>
          </p:cNvPr>
          <p:cNvGraphicFramePr>
            <a:graphicFrameLocks noGrp="1"/>
          </p:cNvGraphicFramePr>
          <p:nvPr>
            <p:extLst>
              <p:ext uri="{D42A27DB-BD31-4B8C-83A1-F6EECF244321}">
                <p14:modId xmlns:p14="http://schemas.microsoft.com/office/powerpoint/2010/main" val="3489079530"/>
              </p:ext>
            </p:extLst>
          </p:nvPr>
        </p:nvGraphicFramePr>
        <p:xfrm>
          <a:off x="878026" y="2809920"/>
          <a:ext cx="10601895" cy="3688080"/>
        </p:xfrm>
        <a:graphic>
          <a:graphicData uri="http://schemas.openxmlformats.org/drawingml/2006/table">
            <a:tbl>
              <a:tblPr firstRow="1" bandRow="1" bandCol="1">
                <a:tableStyleId>{5A111915-BE36-4E01-A7E5-04B1672EAD32}</a:tableStyleId>
              </a:tblPr>
              <a:tblGrid>
                <a:gridCol w="3533965">
                  <a:extLst>
                    <a:ext uri="{9D8B030D-6E8A-4147-A177-3AD203B41FA5}">
                      <a16:colId xmlns:a16="http://schemas.microsoft.com/office/drawing/2014/main" val="1533134397"/>
                    </a:ext>
                  </a:extLst>
                </a:gridCol>
                <a:gridCol w="3533965">
                  <a:extLst>
                    <a:ext uri="{9D8B030D-6E8A-4147-A177-3AD203B41FA5}">
                      <a16:colId xmlns:a16="http://schemas.microsoft.com/office/drawing/2014/main" val="416235943"/>
                    </a:ext>
                  </a:extLst>
                </a:gridCol>
                <a:gridCol w="3533965">
                  <a:extLst>
                    <a:ext uri="{9D8B030D-6E8A-4147-A177-3AD203B41FA5}">
                      <a16:colId xmlns:a16="http://schemas.microsoft.com/office/drawing/2014/main" val="2749694942"/>
                    </a:ext>
                  </a:extLst>
                </a:gridCol>
              </a:tblGrid>
              <a:tr h="370840">
                <a:tc>
                  <a:txBody>
                    <a:bodyPr/>
                    <a:lstStyle/>
                    <a:p>
                      <a:pPr algn="ctr"/>
                      <a:endParaRPr lang="en-AU" sz="3200" b="1"/>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AU" sz="3200" b="1"/>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AU" sz="3200" b="1"/>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32086406"/>
                  </a:ext>
                </a:extLst>
              </a:tr>
              <a:tr h="370840">
                <a:tc>
                  <a:txBody>
                    <a:bodyPr/>
                    <a:lstStyle/>
                    <a:p>
                      <a:pPr algn="ctr"/>
                      <a:r>
                        <a:rPr lang="en-AU" sz="3200" b="1"/>
                        <a:t>Always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200" b="1"/>
                        <a:t>Sometimes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200" b="1"/>
                        <a:t>Never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428975"/>
                  </a:ext>
                </a:extLst>
              </a:tr>
              <a:tr h="370840">
                <a:tc>
                  <a:txBody>
                    <a:bodyPr/>
                    <a:lstStyle/>
                    <a:p>
                      <a:pPr algn="ctr"/>
                      <a:r>
                        <a:rPr lang="en-AU" sz="3200"/>
                        <a:t>When you add an even number and an odd number you get an even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200"/>
                        <a:t>Multiples of 5 end in a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200"/>
                        <a:t>The sum of two odd numbers is always odd.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5239322"/>
                  </a:ext>
                </a:extLst>
              </a:tr>
            </a:tbl>
          </a:graphicData>
        </a:graphic>
      </p:graphicFrame>
      <p:sp>
        <p:nvSpPr>
          <p:cNvPr id="2" name="Slide Number Placeholder 1">
            <a:extLst>
              <a:ext uri="{FF2B5EF4-FFF2-40B4-BE49-F238E27FC236}">
                <a16:creationId xmlns:a16="http://schemas.microsoft.com/office/drawing/2014/main" id="{2DBE3B1A-BD2A-49DE-A752-21D7297BB0E0}"/>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859326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86DCB-E9CB-B576-D914-C2FA7FAE931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A3EF466-F3BA-38A9-63CB-DD80F64CB1BC}"/>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(4)</a:t>
            </a:r>
          </a:p>
        </p:txBody>
      </p:sp>
      <p:pic>
        <p:nvPicPr>
          <p:cNvPr id="5" name="Picture 4" descr="image of a clipboard with a pencil recording short answer responses">
            <a:extLst>
              <a:ext uri="{FF2B5EF4-FFF2-40B4-BE49-F238E27FC236}">
                <a16:creationId xmlns:a16="http://schemas.microsoft.com/office/drawing/2014/main" id="{67A30562-E1FE-0A17-E004-1B27CE78EE7A}"/>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6" name="TextBox 15">
            <a:extLst>
              <a:ext uri="{FF2B5EF4-FFF2-40B4-BE49-F238E27FC236}">
                <a16:creationId xmlns:a16="http://schemas.microsoft.com/office/drawing/2014/main" id="{1814CB15-DE18-8A53-38F5-7D8DAA6C6D21}"/>
              </a:ext>
            </a:extLst>
          </p:cNvPr>
          <p:cNvSpPr txBox="1"/>
          <p:nvPr/>
        </p:nvSpPr>
        <p:spPr>
          <a:xfrm>
            <a:off x="550433" y="1141001"/>
            <a:ext cx="10933567" cy="1462392"/>
          </a:xfrm>
          <a:prstGeom prst="rect">
            <a:avLst/>
          </a:prstGeom>
          <a:noFill/>
        </p:spPr>
        <p:txBody>
          <a:bodyPr wrap="square" lIns="0" tIns="0" rIns="0" bIns="0" rtlCol="0" anchor="t">
            <a:noAutofit/>
          </a:bodyPr>
          <a:lstStyle/>
          <a:p>
            <a:pPr algn="ctr"/>
            <a:r>
              <a:rPr lang="en-AU" sz="3600"/>
              <a:t>Using the </a:t>
            </a:r>
            <a:r>
              <a:rPr lang="en-AU" sz="3600" b="1"/>
              <a:t>site map </a:t>
            </a:r>
            <a:r>
              <a:rPr lang="en-AU" sz="3600"/>
              <a:t>for Bulgandry Art Site Aboriginal Place, in Darkinjung Country, locate and record the engraving that is found on the grid </a:t>
            </a:r>
            <a:r>
              <a:rPr lang="en-AU" sz="3600" b="1"/>
              <a:t>position</a:t>
            </a:r>
            <a:r>
              <a:rPr lang="en-AU" sz="3600"/>
              <a:t>:  </a:t>
            </a:r>
          </a:p>
        </p:txBody>
      </p:sp>
      <p:sp>
        <p:nvSpPr>
          <p:cNvPr id="14" name="TextBox 13">
            <a:extLst>
              <a:ext uri="{FF2B5EF4-FFF2-40B4-BE49-F238E27FC236}">
                <a16:creationId xmlns:a16="http://schemas.microsoft.com/office/drawing/2014/main" id="{8A7AE412-875A-6F37-CEE5-18C59DCCAB8A}"/>
              </a:ext>
            </a:extLst>
          </p:cNvPr>
          <p:cNvSpPr txBox="1"/>
          <p:nvPr/>
        </p:nvSpPr>
        <p:spPr>
          <a:xfrm>
            <a:off x="412210" y="3184931"/>
            <a:ext cx="276446" cy="2987748"/>
          </a:xfrm>
          <a:prstGeom prst="rect">
            <a:avLst/>
          </a:prstGeom>
          <a:noFill/>
        </p:spPr>
        <p:txBody>
          <a:bodyPr vert="horz" wrap="none" lIns="0" tIns="0" rIns="0" bIns="0" rtlCol="0">
            <a:noAutofit/>
          </a:bodyPr>
          <a:lstStyle/>
          <a:p>
            <a:pPr algn="l"/>
            <a:endParaRPr lang="en-AU" sz="1800"/>
          </a:p>
          <a:p>
            <a:pPr algn="l"/>
            <a:r>
              <a:rPr lang="en-AU" sz="1800"/>
              <a:t>3</a:t>
            </a:r>
          </a:p>
          <a:p>
            <a:pPr algn="l"/>
            <a:endParaRPr lang="en-AU" sz="1800"/>
          </a:p>
          <a:p>
            <a:pPr algn="l"/>
            <a:endParaRPr lang="en-AU" sz="1800"/>
          </a:p>
          <a:p>
            <a:pPr algn="l"/>
            <a:endParaRPr lang="en-AU" sz="1800"/>
          </a:p>
          <a:p>
            <a:pPr algn="l"/>
            <a:r>
              <a:rPr lang="en-AU" sz="1800"/>
              <a:t>2</a:t>
            </a:r>
          </a:p>
          <a:p>
            <a:pPr algn="l"/>
            <a:endParaRPr lang="en-AU" sz="1800"/>
          </a:p>
          <a:p>
            <a:pPr algn="l"/>
            <a:endParaRPr lang="en-AU" sz="1800"/>
          </a:p>
          <a:p>
            <a:pPr algn="l"/>
            <a:r>
              <a:rPr lang="en-AU" sz="1800"/>
              <a:t>1</a:t>
            </a:r>
          </a:p>
        </p:txBody>
      </p:sp>
      <p:pic>
        <p:nvPicPr>
          <p:cNvPr id="13" name="Picture 12" descr="A site map of Bulgandry Art Site Aboriginal Place with overlaying pink grid lines to show position of rock engravings at the site.">
            <a:extLst>
              <a:ext uri="{FF2B5EF4-FFF2-40B4-BE49-F238E27FC236}">
                <a16:creationId xmlns:a16="http://schemas.microsoft.com/office/drawing/2014/main" id="{F090F71A-CEC0-59AE-E6F8-3ED20C815626}"/>
              </a:ext>
            </a:extLst>
          </p:cNvPr>
          <p:cNvPicPr>
            <a:picLocks noChangeAspect="1"/>
          </p:cNvPicPr>
          <p:nvPr/>
        </p:nvPicPr>
        <p:blipFill>
          <a:blip r:embed="rId4"/>
          <a:stretch>
            <a:fillRect/>
          </a:stretch>
        </p:blipFill>
        <p:spPr>
          <a:xfrm>
            <a:off x="669471" y="2946713"/>
            <a:ext cx="6274122" cy="3225966"/>
          </a:xfrm>
          <a:prstGeom prst="rect">
            <a:avLst/>
          </a:prstGeom>
        </p:spPr>
      </p:pic>
      <p:sp>
        <p:nvSpPr>
          <p:cNvPr id="15" name="TextBox 14">
            <a:extLst>
              <a:ext uri="{FF2B5EF4-FFF2-40B4-BE49-F238E27FC236}">
                <a16:creationId xmlns:a16="http://schemas.microsoft.com/office/drawing/2014/main" id="{DEE28A57-A150-E8C1-F106-2B36CD2D22BB}"/>
              </a:ext>
            </a:extLst>
          </p:cNvPr>
          <p:cNvSpPr txBox="1"/>
          <p:nvPr/>
        </p:nvSpPr>
        <p:spPr>
          <a:xfrm>
            <a:off x="669471" y="6161583"/>
            <a:ext cx="6274122" cy="444417"/>
          </a:xfrm>
          <a:prstGeom prst="rect">
            <a:avLst/>
          </a:prstGeom>
          <a:noFill/>
        </p:spPr>
        <p:txBody>
          <a:bodyPr vert="horz" wrap="none" lIns="0" tIns="0" rIns="0" bIns="0" rtlCol="0">
            <a:noAutofit/>
          </a:bodyPr>
          <a:lstStyle/>
          <a:p>
            <a:pPr algn="l"/>
            <a:r>
              <a:rPr lang="en-AU" sz="1800"/>
              <a:t>       A              B              C             D              E             F</a:t>
            </a:r>
          </a:p>
          <a:p>
            <a:pPr algn="l"/>
            <a:endParaRPr lang="en-AU" sz="1800"/>
          </a:p>
          <a:p>
            <a:pPr algn="l"/>
            <a:endParaRPr lang="en-AU" sz="1800"/>
          </a:p>
          <a:p>
            <a:pPr algn="l"/>
            <a:endParaRPr lang="en-AU" sz="1800"/>
          </a:p>
          <a:p>
            <a:pPr algn="l"/>
            <a:endParaRPr lang="en-AU" sz="1800"/>
          </a:p>
          <a:p>
            <a:pPr algn="l"/>
            <a:endParaRPr lang="en-AU" sz="1800"/>
          </a:p>
          <a:p>
            <a:pPr algn="l"/>
            <a:endParaRPr lang="en-AU" sz="1800"/>
          </a:p>
          <a:p>
            <a:pPr algn="l"/>
            <a:endParaRPr lang="en-AU" sz="1800"/>
          </a:p>
          <a:p>
            <a:pPr algn="l"/>
            <a:endParaRPr lang="en-AU" sz="1800"/>
          </a:p>
        </p:txBody>
      </p:sp>
      <p:sp>
        <p:nvSpPr>
          <p:cNvPr id="20" name="TextBox 19">
            <a:extLst>
              <a:ext uri="{FF2B5EF4-FFF2-40B4-BE49-F238E27FC236}">
                <a16:creationId xmlns:a16="http://schemas.microsoft.com/office/drawing/2014/main" id="{F9E16CE5-5545-4608-F7E4-61AC7251C4B6}"/>
              </a:ext>
            </a:extLst>
          </p:cNvPr>
          <p:cNvSpPr txBox="1"/>
          <p:nvPr/>
        </p:nvSpPr>
        <p:spPr>
          <a:xfrm>
            <a:off x="1060646" y="6556019"/>
            <a:ext cx="4052813" cy="253916"/>
          </a:xfrm>
          <a:prstGeom prst="rect">
            <a:avLst/>
          </a:prstGeom>
          <a:noFill/>
        </p:spPr>
        <p:txBody>
          <a:bodyPr wrap="square">
            <a:spAutoFit/>
          </a:bodyPr>
          <a:lstStyle/>
          <a:p>
            <a:r>
              <a:rPr lang="en-AU" sz="1050" dirty="0"/>
              <a:t>https://hikingtheworld.blog/engravings/bulgandry-brisbane-water/</a:t>
            </a:r>
          </a:p>
        </p:txBody>
      </p:sp>
      <p:sp>
        <p:nvSpPr>
          <p:cNvPr id="17" name="TextBox 16">
            <a:extLst>
              <a:ext uri="{FF2B5EF4-FFF2-40B4-BE49-F238E27FC236}">
                <a16:creationId xmlns:a16="http://schemas.microsoft.com/office/drawing/2014/main" id="{54600F7B-7139-322C-40C9-AF0B827315FA}"/>
              </a:ext>
            </a:extLst>
          </p:cNvPr>
          <p:cNvSpPr txBox="1"/>
          <p:nvPr/>
        </p:nvSpPr>
        <p:spPr>
          <a:xfrm>
            <a:off x="8517605" y="2474222"/>
            <a:ext cx="1647121" cy="4221778"/>
          </a:xfrm>
          <a:prstGeom prst="rect">
            <a:avLst/>
          </a:prstGeom>
          <a:noFill/>
        </p:spPr>
        <p:txBody>
          <a:bodyPr wrap="square" lIns="0" tIns="0" rIns="0" bIns="0" rtlCol="0" anchor="t">
            <a:noAutofit/>
          </a:bodyPr>
          <a:lstStyle/>
          <a:p>
            <a:pPr algn="ctr">
              <a:lnSpc>
                <a:spcPct val="200000"/>
              </a:lnSpc>
            </a:pPr>
            <a:r>
              <a:rPr lang="en-AU" sz="3600"/>
              <a:t>C2</a:t>
            </a:r>
          </a:p>
          <a:p>
            <a:pPr algn="ctr">
              <a:lnSpc>
                <a:spcPct val="200000"/>
              </a:lnSpc>
            </a:pPr>
            <a:r>
              <a:rPr lang="en-AU" sz="3600"/>
              <a:t>F1</a:t>
            </a:r>
          </a:p>
          <a:p>
            <a:pPr algn="ctr">
              <a:lnSpc>
                <a:spcPct val="200000"/>
              </a:lnSpc>
            </a:pPr>
            <a:r>
              <a:rPr lang="en-AU" sz="3600"/>
              <a:t>D2</a:t>
            </a:r>
          </a:p>
          <a:p>
            <a:pPr algn="ctr">
              <a:lnSpc>
                <a:spcPct val="200000"/>
              </a:lnSpc>
            </a:pPr>
            <a:r>
              <a:rPr lang="en-AU" sz="3600"/>
              <a:t>A3</a:t>
            </a:r>
          </a:p>
          <a:p>
            <a:pPr algn="ctr">
              <a:lnSpc>
                <a:spcPct val="200000"/>
              </a:lnSpc>
            </a:pPr>
            <a:endParaRPr lang="en-AU" sz="3600"/>
          </a:p>
        </p:txBody>
      </p:sp>
      <p:sp>
        <p:nvSpPr>
          <p:cNvPr id="2" name="Slide Number Placeholder 1">
            <a:extLst>
              <a:ext uri="{FF2B5EF4-FFF2-40B4-BE49-F238E27FC236}">
                <a16:creationId xmlns:a16="http://schemas.microsoft.com/office/drawing/2014/main" id="{9C32FB6E-2A90-1CC2-721F-898CF92613A0}"/>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272658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9443219" cy="545601"/>
          </a:xfrm>
        </p:spPr>
        <p:txBody>
          <a:bodyPr/>
          <a:lstStyle/>
          <a:p>
            <a:r>
              <a:rPr lang="en-AU">
                <a:latin typeface="Arial"/>
                <a:cs typeface="Arial"/>
              </a:rPr>
              <a:t>Activity 1 – ordering numbers</a:t>
            </a:r>
          </a:p>
        </p:txBody>
      </p:sp>
      <p:pic>
        <p:nvPicPr>
          <p:cNvPr id="4" name="Picture 3" descr="image of a head with cogs turning inside">
            <a:extLst>
              <a:ext uri="{FF2B5EF4-FFF2-40B4-BE49-F238E27FC236}">
                <a16:creationId xmlns:a16="http://schemas.microsoft.com/office/drawing/2014/main" id="{496A7D04-A3EA-7DA9-39FB-DE3564B9412C}"/>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83" name="Picture 82" descr="Four rectangular cards each titled ‘Which number is closest?’ &#10;&#10;Card 1 has the target number 4296. The multiple-choice answers provided are: a) 4290, b) 5000, c) 4300 and d) 4156.&#10;&#10;Card 2 has the target number 9931. The multiple-choice answers provided are a) 9900, b) 9920, c) 9831 and d) 9940.&#10;&#10;Card 3 has the target number blacked out. The multiple-choice answers provided are: a) 7000, b) 7150, c) 7100 and d) 7200.&#10;&#10;Card 4 has the target number 200. The multiple choice answers provided are: a) 18 tens, b) 14 tens + 40, c) 30 tens − 80 and d) 9 tens plus 130.">
            <a:extLst>
              <a:ext uri="{FF2B5EF4-FFF2-40B4-BE49-F238E27FC236}">
                <a16:creationId xmlns:a16="http://schemas.microsoft.com/office/drawing/2014/main" id="{E7721CA8-4494-3905-41E5-84386DCDF644}"/>
              </a:ext>
            </a:extLst>
          </p:cNvPr>
          <p:cNvPicPr>
            <a:picLocks noChangeAspect="1"/>
          </p:cNvPicPr>
          <p:nvPr/>
        </p:nvPicPr>
        <p:blipFill>
          <a:blip r:embed="rId4"/>
          <a:stretch>
            <a:fillRect/>
          </a:stretch>
        </p:blipFill>
        <p:spPr>
          <a:xfrm>
            <a:off x="516618" y="1060020"/>
            <a:ext cx="10704995" cy="5301561"/>
          </a:xfrm>
          <a:prstGeom prst="rect">
            <a:avLst/>
          </a:prstGeom>
        </p:spPr>
      </p:pic>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1439752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D668B-2570-AD54-B728-912F7A13E93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F5EB3C2-B8E5-B5DD-ECAA-CB559EC904F7}"/>
              </a:ext>
            </a:extLst>
          </p:cNvPr>
          <p:cNvSpPr>
            <a:spLocks noGrp="1"/>
          </p:cNvSpPr>
          <p:nvPr>
            <p:ph type="ctrTitle"/>
          </p:nvPr>
        </p:nvSpPr>
        <p:spPr/>
        <p:txBody>
          <a:bodyPr/>
          <a:lstStyle/>
          <a:p>
            <a:r>
              <a:rPr lang="en-AU">
                <a:latin typeface="+mj-lt"/>
                <a:cs typeface="Arial"/>
              </a:rPr>
              <a:t>Review of learning  2</a:t>
            </a:r>
            <a:endParaRPr lang="en-AU">
              <a:latin typeface="+mj-lt"/>
            </a:endParaRPr>
          </a:p>
        </p:txBody>
      </p:sp>
    </p:spTree>
    <p:extLst>
      <p:ext uri="{BB962C8B-B14F-4D97-AF65-F5344CB8AC3E}">
        <p14:creationId xmlns:p14="http://schemas.microsoft.com/office/powerpoint/2010/main" val="3134920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39087-8482-8C93-7654-8161E15881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D18FB72-95E4-7D60-C7EB-497F6F0C4C41}"/>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(1)</a:t>
            </a:r>
          </a:p>
        </p:txBody>
      </p:sp>
      <p:pic>
        <p:nvPicPr>
          <p:cNvPr id="4" name="Picture 3" descr="image of a finger selecting an option for a multiple choice or true and false">
            <a:extLst>
              <a:ext uri="{FF2B5EF4-FFF2-40B4-BE49-F238E27FC236}">
                <a16:creationId xmlns:a16="http://schemas.microsoft.com/office/drawing/2014/main" id="{655E7DA3-5BC4-03A6-88A8-5BE8009F98DB}"/>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7" name="Text Placeholder 6">
            <a:extLst>
              <a:ext uri="{FF2B5EF4-FFF2-40B4-BE49-F238E27FC236}">
                <a16:creationId xmlns:a16="http://schemas.microsoft.com/office/drawing/2014/main" id="{A26C78AF-8B76-8BE5-6FD1-C3122BE06605}"/>
              </a:ext>
            </a:extLst>
          </p:cNvPr>
          <p:cNvSpPr>
            <a:spLocks noGrp="1"/>
          </p:cNvSpPr>
          <p:nvPr>
            <p:ph type="body" sz="quarter" idx="22"/>
          </p:nvPr>
        </p:nvSpPr>
        <p:spPr>
          <a:xfrm>
            <a:off x="962025" y="1717386"/>
            <a:ext cx="10161976" cy="2703738"/>
          </a:xfrm>
        </p:spPr>
        <p:txBody>
          <a:bodyPr vert="horz" lIns="0" tIns="0" rIns="0" bIns="0" rtlCol="0" anchor="t">
            <a:noAutofit/>
          </a:bodyPr>
          <a:lstStyle/>
          <a:p>
            <a:pPr algn="ctr"/>
            <a:r>
              <a:rPr lang="en-US" sz="4400">
                <a:latin typeface="Arial"/>
                <a:cs typeface="Arial"/>
              </a:rPr>
              <a:t>2 thousands, 14 hundreds and 28 tens is </a:t>
            </a:r>
            <a:r>
              <a:rPr lang="en-US" sz="4400" b="1">
                <a:latin typeface="Arial"/>
                <a:cs typeface="Arial"/>
              </a:rPr>
              <a:t>equal</a:t>
            </a:r>
            <a:r>
              <a:rPr lang="en-US" sz="4400">
                <a:latin typeface="Arial"/>
                <a:cs typeface="Arial"/>
              </a:rPr>
              <a:t> to 3428.</a:t>
            </a:r>
            <a:endParaRPr lang="en-US" sz="4400"/>
          </a:p>
        </p:txBody>
      </p:sp>
      <p:graphicFrame>
        <p:nvGraphicFramePr>
          <p:cNvPr id="12" name="Table 11">
            <a:extLst>
              <a:ext uri="{FF2B5EF4-FFF2-40B4-BE49-F238E27FC236}">
                <a16:creationId xmlns:a16="http://schemas.microsoft.com/office/drawing/2014/main" id="{9FB43ECC-6198-CAD9-D35A-4745C2C73040}"/>
              </a:ext>
            </a:extLst>
          </p:cNvPr>
          <p:cNvGraphicFramePr>
            <a:graphicFrameLocks noGrp="1"/>
          </p:cNvGraphicFramePr>
          <p:nvPr>
            <p:extLst>
              <p:ext uri="{D42A27DB-BD31-4B8C-83A1-F6EECF244321}">
                <p14:modId xmlns:p14="http://schemas.microsoft.com/office/powerpoint/2010/main" val="1334224327"/>
              </p:ext>
            </p:extLst>
          </p:nvPr>
        </p:nvGraphicFramePr>
        <p:xfrm>
          <a:off x="2442981" y="4212811"/>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68527CEC-B9B9-C681-7B54-933A5FB66107}"/>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5" name="TextBox 4">
            <a:extLst>
              <a:ext uri="{FF2B5EF4-FFF2-40B4-BE49-F238E27FC236}">
                <a16:creationId xmlns:a16="http://schemas.microsoft.com/office/drawing/2014/main" id="{FC63ECA8-5973-5647-78C1-5AE319C73CB6}"/>
              </a:ext>
            </a:extLst>
          </p:cNvPr>
          <p:cNvSpPr txBox="1"/>
          <p:nvPr/>
        </p:nvSpPr>
        <p:spPr>
          <a:xfrm>
            <a:off x="3429000" y="5294607"/>
            <a:ext cx="9198183" cy="942975"/>
          </a:xfrm>
          <a:prstGeom prst="rect">
            <a:avLst/>
          </a:prstGeom>
          <a:noFill/>
        </p:spPr>
        <p:txBody>
          <a:bodyPr wrap="square" lIns="0" tIns="0" rIns="0" bIns="0" rtlCol="0">
            <a:noAutofit/>
          </a:bodyPr>
          <a:lstStyle/>
          <a:p>
            <a:pPr algn="l"/>
            <a:r>
              <a:rPr lang="en-AU" sz="4400"/>
              <a:t>How do you know? </a:t>
            </a:r>
          </a:p>
        </p:txBody>
      </p:sp>
    </p:spTree>
    <p:extLst>
      <p:ext uri="{BB962C8B-B14F-4D97-AF65-F5344CB8AC3E}">
        <p14:creationId xmlns:p14="http://schemas.microsoft.com/office/powerpoint/2010/main" val="4090065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86458-B3DC-1B5B-CAB0-67289592938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9E0F587-1932-6389-F8B8-958D63E6AFE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(5)</a:t>
            </a:r>
          </a:p>
        </p:txBody>
      </p:sp>
      <p:pic>
        <p:nvPicPr>
          <p:cNvPr id="4" name="Picture 3" descr="image of a clipboard with a pencil recording short answer responses">
            <a:extLst>
              <a:ext uri="{FF2B5EF4-FFF2-40B4-BE49-F238E27FC236}">
                <a16:creationId xmlns:a16="http://schemas.microsoft.com/office/drawing/2014/main" id="{132CE01C-F128-827F-0720-032C31FF573A}"/>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777805AA-3000-4F7B-AF76-0FB0E2B466BE}"/>
              </a:ext>
            </a:extLst>
          </p:cNvPr>
          <p:cNvSpPr>
            <a:spLocks noGrp="1"/>
          </p:cNvSpPr>
          <p:nvPr>
            <p:ph type="pic" sz="quarter" idx="21"/>
          </p:nvPr>
        </p:nvSpPr>
        <p:spPr>
          <a:xfrm>
            <a:off x="1035296" y="1087819"/>
            <a:ext cx="10696354" cy="915500"/>
          </a:xfrm>
        </p:spPr>
        <p:txBody>
          <a:bodyPr/>
          <a:lstStyle/>
          <a:p>
            <a:r>
              <a:rPr lang="en-US" sz="3600">
                <a:latin typeface="Arial"/>
                <a:cs typeface="Arial"/>
              </a:rPr>
              <a:t>How many of these 2D shapes are </a:t>
            </a:r>
            <a:r>
              <a:rPr lang="en-US" sz="3600" b="1">
                <a:latin typeface="Arial"/>
                <a:cs typeface="Arial"/>
              </a:rPr>
              <a:t>quadrilaterals</a:t>
            </a:r>
            <a:r>
              <a:rPr lang="en-US" sz="4400">
                <a:latin typeface="Arial"/>
                <a:cs typeface="Arial"/>
              </a:rPr>
              <a:t>?</a:t>
            </a:r>
            <a:endParaRPr lang="en-US" sz="4400"/>
          </a:p>
          <a:p>
            <a:endParaRPr lang="en-US">
              <a:latin typeface="Arial"/>
              <a:cs typeface="Arial"/>
            </a:endParaRPr>
          </a:p>
        </p:txBody>
      </p:sp>
      <p:pic>
        <p:nvPicPr>
          <p:cNvPr id="6" name="Picture 5" descr="A grid of 2D shapes. Top row: triangle, square, square on point, rhombus. Middle row: rectangle, irregular shape, parallelogram, trapezium. Bottom row: hexagon, irregular pentagon, rectangle, irregular shape. ">
            <a:extLst>
              <a:ext uri="{FF2B5EF4-FFF2-40B4-BE49-F238E27FC236}">
                <a16:creationId xmlns:a16="http://schemas.microsoft.com/office/drawing/2014/main" id="{A0A45596-8E19-95B5-AB4B-6FD8CC4093ED}"/>
              </a:ext>
            </a:extLst>
          </p:cNvPr>
          <p:cNvPicPr>
            <a:picLocks noChangeAspect="1"/>
          </p:cNvPicPr>
          <p:nvPr/>
        </p:nvPicPr>
        <p:blipFill>
          <a:blip r:embed="rId4"/>
          <a:stretch>
            <a:fillRect/>
          </a:stretch>
        </p:blipFill>
        <p:spPr>
          <a:xfrm>
            <a:off x="3079680" y="2185537"/>
            <a:ext cx="5364121" cy="3367507"/>
          </a:xfrm>
          <a:prstGeom prst="rect">
            <a:avLst/>
          </a:prstGeom>
          <a:ln>
            <a:noFill/>
          </a:ln>
          <a:effectLst>
            <a:outerShdw blurRad="292100" dist="139700" dir="2700000" algn="tl" rotWithShape="0">
              <a:srgbClr val="333333">
                <a:alpha val="65000"/>
              </a:srgbClr>
            </a:outerShdw>
          </a:effectLst>
        </p:spPr>
      </p:pic>
      <p:sp>
        <p:nvSpPr>
          <p:cNvPr id="7" name="Picture Placeholder 10">
            <a:extLst>
              <a:ext uri="{FF2B5EF4-FFF2-40B4-BE49-F238E27FC236}">
                <a16:creationId xmlns:a16="http://schemas.microsoft.com/office/drawing/2014/main" id="{5CD16D86-E3C6-E05C-A685-37B621CA9AC8}"/>
              </a:ext>
            </a:extLst>
          </p:cNvPr>
          <p:cNvSpPr txBox="1">
            <a:spLocks/>
          </p:cNvSpPr>
          <p:nvPr/>
        </p:nvSpPr>
        <p:spPr>
          <a:xfrm>
            <a:off x="787646" y="5715486"/>
            <a:ext cx="10696354" cy="915500"/>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dirty="0">
                <a:latin typeface="Arial"/>
                <a:cs typeface="Arial"/>
              </a:rPr>
              <a:t>Communicate</a:t>
            </a:r>
            <a:r>
              <a:rPr lang="en-US" sz="4400" dirty="0">
                <a:latin typeface="Arial"/>
                <a:cs typeface="Arial"/>
              </a:rPr>
              <a:t> your </a:t>
            </a:r>
            <a:r>
              <a:rPr lang="en-US" sz="4400" b="1" dirty="0">
                <a:latin typeface="Arial"/>
                <a:cs typeface="Arial"/>
              </a:rPr>
              <a:t>thinking</a:t>
            </a:r>
            <a:r>
              <a:rPr lang="en-US" sz="4400" dirty="0">
                <a:latin typeface="Arial"/>
                <a:cs typeface="Arial"/>
              </a:rPr>
              <a:t>.</a:t>
            </a:r>
            <a:endParaRPr lang="en-US" sz="4400" dirty="0"/>
          </a:p>
          <a:p>
            <a:endParaRPr lang="en-US" dirty="0">
              <a:latin typeface="Arial"/>
              <a:cs typeface="Arial"/>
            </a:endParaRPr>
          </a:p>
        </p:txBody>
      </p:sp>
      <p:sp>
        <p:nvSpPr>
          <p:cNvPr id="2" name="Slide Number Placeholder 1">
            <a:extLst>
              <a:ext uri="{FF2B5EF4-FFF2-40B4-BE49-F238E27FC236}">
                <a16:creationId xmlns:a16="http://schemas.microsoft.com/office/drawing/2014/main" id="{4D59C605-2915-EBC8-907B-0379999694C3}"/>
              </a:ext>
            </a:extLst>
          </p:cNvPr>
          <p:cNvSpPr>
            <a:spLocks noGrp="1"/>
          </p:cNvSpPr>
          <p:nvPr>
            <p:ph type="sldNum" sz="quarter" idx="12"/>
          </p:nvPr>
        </p:nvSpPr>
        <p:spPr/>
        <p:txBody>
          <a:bodyPr/>
          <a:lstStyle/>
          <a:p>
            <a:fld id="{10A01DC5-1685-4615-8240-15192985C6A2}" type="slidenum">
              <a:rPr lang="en-AU" smtClean="0"/>
              <a:t>13</a:t>
            </a:fld>
            <a:endParaRPr lang="en-AU"/>
          </a:p>
        </p:txBody>
      </p:sp>
    </p:spTree>
    <p:extLst>
      <p:ext uri="{BB962C8B-B14F-4D97-AF65-F5344CB8AC3E}">
        <p14:creationId xmlns:p14="http://schemas.microsoft.com/office/powerpoint/2010/main" val="1861443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EB60A-DB53-A5B7-8B1E-B76E42DF201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658F565-BC0F-A638-D187-0FE9F8DCFE26}"/>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(6)</a:t>
            </a:r>
          </a:p>
        </p:txBody>
      </p:sp>
      <p:pic>
        <p:nvPicPr>
          <p:cNvPr id="4" name="Picture 3" descr="image of a clipboard with a pencil recording short answer responses">
            <a:extLst>
              <a:ext uri="{FF2B5EF4-FFF2-40B4-BE49-F238E27FC236}">
                <a16:creationId xmlns:a16="http://schemas.microsoft.com/office/drawing/2014/main" id="{C26EDB88-E75C-9C64-B0FE-F9E4BF5A700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1FAEB63C-05D7-629C-93E0-6E9FD7090D30}"/>
              </a:ext>
            </a:extLst>
          </p:cNvPr>
          <p:cNvSpPr>
            <a:spLocks noGrp="1"/>
          </p:cNvSpPr>
          <p:nvPr>
            <p:ph type="pic" sz="quarter" idx="21"/>
          </p:nvPr>
        </p:nvSpPr>
        <p:spPr>
          <a:xfrm>
            <a:off x="474481" y="905601"/>
            <a:ext cx="11243037" cy="2523399"/>
          </a:xfrm>
        </p:spPr>
        <p:txBody>
          <a:bodyPr/>
          <a:lstStyle/>
          <a:p>
            <a:pPr algn="ctr"/>
            <a:r>
              <a:rPr lang="en-US" sz="3600">
                <a:latin typeface="Arial"/>
                <a:cs typeface="Arial"/>
              </a:rPr>
              <a:t>Using the data for the number of Stage 2 students in house groups, </a:t>
            </a:r>
            <a:r>
              <a:rPr lang="en-US" sz="3600" b="1">
                <a:latin typeface="Arial"/>
                <a:cs typeface="Arial"/>
              </a:rPr>
              <a:t>name and label the axes </a:t>
            </a:r>
            <a:r>
              <a:rPr lang="en-US" sz="3600">
                <a:latin typeface="Arial"/>
                <a:cs typeface="Arial"/>
              </a:rPr>
              <a:t>of the column graph and give it an appropriate </a:t>
            </a:r>
            <a:r>
              <a:rPr lang="en-US" sz="3600" b="1">
                <a:latin typeface="Arial"/>
                <a:cs typeface="Arial"/>
              </a:rPr>
              <a:t>title</a:t>
            </a:r>
            <a:r>
              <a:rPr lang="en-US" sz="3600">
                <a:latin typeface="Arial"/>
                <a:cs typeface="Arial"/>
              </a:rPr>
              <a:t>. </a:t>
            </a:r>
          </a:p>
          <a:p>
            <a:endParaRPr lang="en-US">
              <a:latin typeface="Arial"/>
              <a:cs typeface="Arial"/>
            </a:endParaRPr>
          </a:p>
        </p:txBody>
      </p:sp>
      <p:graphicFrame>
        <p:nvGraphicFramePr>
          <p:cNvPr id="12" name="Chart 11" descr="A column graph of sporting houses: Bundjalung, Gumbaynggirr, Wiradjuri, Muruwari. A scale of 0 - 16 by twos.">
            <a:extLst>
              <a:ext uri="{FF2B5EF4-FFF2-40B4-BE49-F238E27FC236}">
                <a16:creationId xmlns:a16="http://schemas.microsoft.com/office/drawing/2014/main" id="{EED3B3FB-E009-1F07-E8E0-CF4B8DC02AF7}"/>
              </a:ext>
            </a:extLst>
          </p:cNvPr>
          <p:cNvGraphicFramePr/>
          <p:nvPr>
            <p:extLst>
              <p:ext uri="{D42A27DB-BD31-4B8C-83A1-F6EECF244321}">
                <p14:modId xmlns:p14="http://schemas.microsoft.com/office/powerpoint/2010/main" val="1938549559"/>
              </p:ext>
            </p:extLst>
          </p:nvPr>
        </p:nvGraphicFramePr>
        <p:xfrm>
          <a:off x="3467510" y="3648308"/>
          <a:ext cx="5028018" cy="2957692"/>
        </p:xfrm>
        <a:graphic>
          <a:graphicData uri="http://schemas.openxmlformats.org/drawingml/2006/chart">
            <c:chart xmlns:c="http://schemas.openxmlformats.org/drawingml/2006/chart" xmlns:r="http://schemas.openxmlformats.org/officeDocument/2006/relationships" r:id="rId4"/>
          </a:graphicData>
        </a:graphic>
      </p:graphicFrame>
      <p:sp>
        <p:nvSpPr>
          <p:cNvPr id="2" name="Slide Number Placeholder 1">
            <a:extLst>
              <a:ext uri="{FF2B5EF4-FFF2-40B4-BE49-F238E27FC236}">
                <a16:creationId xmlns:a16="http://schemas.microsoft.com/office/drawing/2014/main" id="{F8C3A20D-F8A7-870F-024C-C73BED4F0723}"/>
              </a:ext>
            </a:extLst>
          </p:cNvPr>
          <p:cNvSpPr>
            <a:spLocks noGrp="1"/>
          </p:cNvSpPr>
          <p:nvPr>
            <p:ph type="sldNum" sz="quarter" idx="12"/>
          </p:nvPr>
        </p:nvSpPr>
        <p:spPr/>
        <p:txBody>
          <a:bodyPr/>
          <a:lstStyle/>
          <a:p>
            <a:fld id="{10A01DC5-1685-4615-8240-15192985C6A2}" type="slidenum">
              <a:rPr lang="en-AU" smtClean="0"/>
              <a:t>14</a:t>
            </a:fld>
            <a:endParaRPr lang="en-AU"/>
          </a:p>
        </p:txBody>
      </p:sp>
    </p:spTree>
    <p:extLst>
      <p:ext uri="{BB962C8B-B14F-4D97-AF65-F5344CB8AC3E}">
        <p14:creationId xmlns:p14="http://schemas.microsoft.com/office/powerpoint/2010/main" val="4206514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F66E2-F0C5-5138-CAEC-E3751681CC9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7207C71-565C-F655-DA13-564DFCF88FF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(7)</a:t>
            </a:r>
          </a:p>
        </p:txBody>
      </p:sp>
      <p:pic>
        <p:nvPicPr>
          <p:cNvPr id="4" name="Picture 3" descr="image of a clipboard with a pencil recording short answer responses">
            <a:extLst>
              <a:ext uri="{FF2B5EF4-FFF2-40B4-BE49-F238E27FC236}">
                <a16:creationId xmlns:a16="http://schemas.microsoft.com/office/drawing/2014/main" id="{D740BC3B-2A7E-9512-84CA-DEBB92EFECD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E83C9D2F-076B-25AC-741C-C56ACEF8B118}"/>
              </a:ext>
            </a:extLst>
          </p:cNvPr>
          <p:cNvSpPr>
            <a:spLocks noGrp="1"/>
          </p:cNvSpPr>
          <p:nvPr>
            <p:ph type="pic" sz="quarter" idx="21"/>
          </p:nvPr>
        </p:nvSpPr>
        <p:spPr>
          <a:xfrm>
            <a:off x="1176575" y="2086908"/>
            <a:ext cx="9609887" cy="2751792"/>
          </a:xfrm>
        </p:spPr>
        <p:txBody>
          <a:bodyPr/>
          <a:lstStyle/>
          <a:p>
            <a:pPr algn="ctr"/>
            <a:r>
              <a:rPr lang="en-US" sz="4400" b="1" dirty="0">
                <a:latin typeface="Arial"/>
                <a:cs typeface="Arial"/>
              </a:rPr>
              <a:t>Record</a:t>
            </a:r>
            <a:r>
              <a:rPr lang="en-US" sz="4400" dirty="0">
                <a:latin typeface="Arial"/>
                <a:cs typeface="Arial"/>
              </a:rPr>
              <a:t> the first </a:t>
            </a:r>
            <a:r>
              <a:rPr lang="en-US" sz="4400" b="1" dirty="0">
                <a:latin typeface="Arial"/>
                <a:cs typeface="Arial"/>
              </a:rPr>
              <a:t>10 multiples </a:t>
            </a:r>
            <a:r>
              <a:rPr lang="en-US" sz="4400" dirty="0">
                <a:latin typeface="Arial"/>
                <a:cs typeface="Arial"/>
              </a:rPr>
              <a:t>when counting by fours.</a:t>
            </a:r>
          </a:p>
          <a:p>
            <a:endParaRPr lang="en-US" dirty="0">
              <a:latin typeface="Arial"/>
              <a:cs typeface="Arial"/>
            </a:endParaRPr>
          </a:p>
        </p:txBody>
      </p:sp>
      <p:sp>
        <p:nvSpPr>
          <p:cNvPr id="2" name="Slide Number Placeholder 1">
            <a:extLst>
              <a:ext uri="{FF2B5EF4-FFF2-40B4-BE49-F238E27FC236}">
                <a16:creationId xmlns:a16="http://schemas.microsoft.com/office/drawing/2014/main" id="{865C0EE6-AA77-F601-9124-C2AB88FE1BA4}"/>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3098002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754AA-2C66-0C25-B9E8-7186573B43F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665DAF2-1A41-F192-2D01-F9D2CDB43416}"/>
              </a:ext>
            </a:extLst>
          </p:cNvPr>
          <p:cNvSpPr>
            <a:spLocks noGrp="1"/>
          </p:cNvSpPr>
          <p:nvPr>
            <p:ph type="title"/>
          </p:nvPr>
        </p:nvSpPr>
        <p:spPr>
          <a:xfrm>
            <a:off x="360000" y="360000"/>
            <a:ext cx="11243038" cy="545601"/>
          </a:xfrm>
        </p:spPr>
        <p:txBody>
          <a:bodyPr/>
          <a:lstStyle/>
          <a:p>
            <a:r>
              <a:rPr lang="en-US">
                <a:latin typeface="Arial"/>
                <a:cs typeface="Arial"/>
              </a:rPr>
              <a:t>Short response </a:t>
            </a:r>
            <a:r>
              <a:rPr lang="en-US">
                <a:solidFill>
                  <a:schemeClr val="bg1"/>
                </a:solidFill>
                <a:latin typeface="Arial"/>
                <a:cs typeface="Arial"/>
              </a:rPr>
              <a:t>(8)</a:t>
            </a:r>
          </a:p>
        </p:txBody>
      </p:sp>
      <p:pic>
        <p:nvPicPr>
          <p:cNvPr id="5" name="Picture 4" descr="image of a clipboard with a pencil recording short answer responses">
            <a:extLst>
              <a:ext uri="{FF2B5EF4-FFF2-40B4-BE49-F238E27FC236}">
                <a16:creationId xmlns:a16="http://schemas.microsoft.com/office/drawing/2014/main" id="{3BEDD50C-91A1-3FFB-CBDD-0B6084F047AB}"/>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37743E66-387B-D4F6-72FE-0CCB9557C3B3}"/>
              </a:ext>
            </a:extLst>
          </p:cNvPr>
          <p:cNvSpPr txBox="1"/>
          <p:nvPr/>
        </p:nvSpPr>
        <p:spPr>
          <a:xfrm>
            <a:off x="645545" y="1113380"/>
            <a:ext cx="10900909" cy="5123998"/>
          </a:xfrm>
          <a:prstGeom prst="rect">
            <a:avLst/>
          </a:prstGeom>
          <a:noFill/>
        </p:spPr>
        <p:txBody>
          <a:bodyPr wrap="square" lIns="0" tIns="0" rIns="0" bIns="0" rtlCol="0" anchor="t">
            <a:noAutofit/>
          </a:bodyPr>
          <a:lstStyle/>
          <a:p>
            <a:pPr algn="ctr"/>
            <a:r>
              <a:rPr lang="en-AU" sz="4400" dirty="0"/>
              <a:t>Order the following </a:t>
            </a:r>
            <a:r>
              <a:rPr lang="en-AU" sz="4400" b="1" dirty="0"/>
              <a:t>lengths</a:t>
            </a:r>
            <a:r>
              <a:rPr lang="en-AU" sz="4400" dirty="0"/>
              <a:t> from shortest to longest:</a:t>
            </a:r>
          </a:p>
          <a:p>
            <a:pPr algn="ctr">
              <a:lnSpc>
                <a:spcPct val="150000"/>
              </a:lnSpc>
            </a:pPr>
            <a:r>
              <a:rPr lang="en-AU" sz="4400" dirty="0"/>
              <a:t>100 cm</a:t>
            </a:r>
          </a:p>
          <a:p>
            <a:pPr algn="ctr">
              <a:lnSpc>
                <a:spcPct val="150000"/>
              </a:lnSpc>
            </a:pPr>
            <a:r>
              <a:rPr lang="en-AU" sz="4400" dirty="0"/>
              <a:t>5 metres </a:t>
            </a:r>
          </a:p>
          <a:p>
            <a:pPr algn="ctr">
              <a:lnSpc>
                <a:spcPct val="150000"/>
              </a:lnSpc>
            </a:pPr>
            <a:r>
              <a:rPr lang="en-AU" sz="4400" dirty="0"/>
              <a:t>2 metres and 18 centimetres </a:t>
            </a:r>
          </a:p>
          <a:p>
            <a:pPr algn="ctr">
              <a:lnSpc>
                <a:spcPct val="150000"/>
              </a:lnSpc>
            </a:pPr>
            <a:r>
              <a:rPr lang="en-AU" sz="4400" dirty="0"/>
              <a:t>1 metre and 4 centimetres</a:t>
            </a:r>
            <a:r>
              <a:rPr lang="en-AU" sz="4000" dirty="0"/>
              <a:t> </a:t>
            </a:r>
          </a:p>
          <a:p>
            <a:pPr algn="ctr"/>
            <a:endParaRPr lang="en-AU" sz="4000" dirty="0"/>
          </a:p>
          <a:p>
            <a:pPr algn="ctr"/>
            <a:endParaRPr lang="en-AU" sz="2000" dirty="0"/>
          </a:p>
        </p:txBody>
      </p:sp>
      <p:sp>
        <p:nvSpPr>
          <p:cNvPr id="2" name="Slide Number Placeholder 1">
            <a:extLst>
              <a:ext uri="{FF2B5EF4-FFF2-40B4-BE49-F238E27FC236}">
                <a16:creationId xmlns:a16="http://schemas.microsoft.com/office/drawing/2014/main" id="{8D3FEC2D-FBC9-6ADC-655C-61AE188BF640}"/>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16</a:t>
            </a:fld>
            <a:endParaRPr lang="en-AU"/>
          </a:p>
        </p:txBody>
      </p:sp>
    </p:spTree>
    <p:extLst>
      <p:ext uri="{BB962C8B-B14F-4D97-AF65-F5344CB8AC3E}">
        <p14:creationId xmlns:p14="http://schemas.microsoft.com/office/powerpoint/2010/main" val="3923910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0144967" cy="545601"/>
          </a:xfrm>
        </p:spPr>
        <p:txBody>
          <a:bodyPr/>
          <a:lstStyle/>
          <a:p>
            <a:r>
              <a:rPr lang="en-AU"/>
              <a:t>Activity 2 – place value</a:t>
            </a:r>
          </a:p>
        </p:txBody>
      </p:sp>
      <p:pic>
        <p:nvPicPr>
          <p:cNvPr id="4" name="Picture 3" descr="image of a head with cogs turning inside">
            <a:extLst>
              <a:ext uri="{FF2B5EF4-FFF2-40B4-BE49-F238E27FC236}">
                <a16:creationId xmlns:a16="http://schemas.microsoft.com/office/drawing/2014/main" id="{61E503FA-0620-A7E9-320D-5834FA8696CE}"/>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83" name="Picture 82" descr="Four rectangular cards each titled ‘Which number is closest?’ &#10;&#10;Card 1 has the target number 7831. The multiple-choice answers provided are a) 7800, b) 7840, c) 7931 and d) 7900.&#10;&#10;Card 2 has the target number 400. The multiple choice answers provided are: a) 39 tens, b) 50 tens - 30, c) 20 tens + 250 and d) 4 tens + 290.&#10;&#10;Card 3 has the target number 8256. The multiple-choice answers provided are: a) 82 hundreds, b) 83 hundreds, c) 80 hundreds + 56 tens and d) 852 tens.&#10;&#10;Card 4 has the target number blacked out. The multiple-choice answers provided are: a) 2010, b) 2250, c) 2300 and d) 2100.&#10;">
            <a:extLst>
              <a:ext uri="{FF2B5EF4-FFF2-40B4-BE49-F238E27FC236}">
                <a16:creationId xmlns:a16="http://schemas.microsoft.com/office/drawing/2014/main" id="{5BAC69B4-F4E8-8A1D-1B99-FFAC468E2971}"/>
              </a:ext>
            </a:extLst>
          </p:cNvPr>
          <p:cNvPicPr>
            <a:picLocks noChangeAspect="1"/>
          </p:cNvPicPr>
          <p:nvPr/>
        </p:nvPicPr>
        <p:blipFill>
          <a:blip r:embed="rId4"/>
          <a:stretch>
            <a:fillRect/>
          </a:stretch>
        </p:blipFill>
        <p:spPr>
          <a:xfrm>
            <a:off x="637572" y="1131511"/>
            <a:ext cx="10486428" cy="4985351"/>
          </a:xfrm>
          <a:prstGeom prst="rect">
            <a:avLst/>
          </a:prstGeom>
        </p:spPr>
      </p:pic>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17</a:t>
            </a:fld>
            <a:endParaRPr lang="en-AU"/>
          </a:p>
        </p:txBody>
      </p:sp>
    </p:spTree>
    <p:extLst>
      <p:ext uri="{BB962C8B-B14F-4D97-AF65-F5344CB8AC3E}">
        <p14:creationId xmlns:p14="http://schemas.microsoft.com/office/powerpoint/2010/main" val="487786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F9F5E-9F20-A840-C8DD-9ED062B9C6E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0C29BB1-E8E0-F23D-E9E0-8AB0443FBBAF}"/>
              </a:ext>
            </a:extLst>
          </p:cNvPr>
          <p:cNvSpPr>
            <a:spLocks noGrp="1"/>
          </p:cNvSpPr>
          <p:nvPr>
            <p:ph type="ctrTitle"/>
          </p:nvPr>
        </p:nvSpPr>
        <p:spPr/>
        <p:txBody>
          <a:bodyPr/>
          <a:lstStyle/>
          <a:p>
            <a:r>
              <a:rPr lang="en-AU">
                <a:latin typeface="+mj-lt"/>
                <a:cs typeface="Arial"/>
              </a:rPr>
              <a:t>Review of learning 3</a:t>
            </a:r>
            <a:endParaRPr lang="en-AU">
              <a:latin typeface="+mj-lt"/>
            </a:endParaRPr>
          </a:p>
        </p:txBody>
      </p:sp>
    </p:spTree>
    <p:extLst>
      <p:ext uri="{BB962C8B-B14F-4D97-AF65-F5344CB8AC3E}">
        <p14:creationId xmlns:p14="http://schemas.microsoft.com/office/powerpoint/2010/main" val="122646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861B1-6A34-35AF-C8F8-98FFF9B6C75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237A4AD-5902-0B45-1C0F-CD463740134A}"/>
              </a:ext>
            </a:extLst>
          </p:cNvPr>
          <p:cNvSpPr>
            <a:spLocks noGrp="1"/>
          </p:cNvSpPr>
          <p:nvPr>
            <p:ph type="title"/>
          </p:nvPr>
        </p:nvSpPr>
        <p:spPr/>
        <p:txBody>
          <a:bodyPr/>
          <a:lstStyle/>
          <a:p>
            <a:r>
              <a:rPr lang="en-US">
                <a:latin typeface="Arial"/>
                <a:cs typeface="Arial"/>
              </a:rPr>
              <a:t>Multiple choice </a:t>
            </a:r>
            <a:r>
              <a:rPr lang="en-US">
                <a:solidFill>
                  <a:schemeClr val="bg1"/>
                </a:solidFill>
                <a:latin typeface="Arial"/>
                <a:cs typeface="Arial"/>
              </a:rPr>
              <a:t>(2) </a:t>
            </a:r>
          </a:p>
        </p:txBody>
      </p:sp>
      <p:pic>
        <p:nvPicPr>
          <p:cNvPr id="17" name="Picture 16" descr="image of a finger selecting an option for a multiple choice or true and false">
            <a:extLst>
              <a:ext uri="{FF2B5EF4-FFF2-40B4-BE49-F238E27FC236}">
                <a16:creationId xmlns:a16="http://schemas.microsoft.com/office/drawing/2014/main" id="{E2BDE449-3DCA-653F-E490-6D7A3736BB5C}"/>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56364F73-E229-E283-75C8-9CCFC763AB34}"/>
              </a:ext>
            </a:extLst>
          </p:cNvPr>
          <p:cNvSpPr>
            <a:spLocks noGrp="1"/>
          </p:cNvSpPr>
          <p:nvPr>
            <p:ph type="body" sz="quarter" idx="24"/>
          </p:nvPr>
        </p:nvSpPr>
        <p:spPr>
          <a:xfrm>
            <a:off x="360000" y="1018044"/>
            <a:ext cx="11249133" cy="1140716"/>
          </a:xfrm>
        </p:spPr>
        <p:txBody>
          <a:bodyPr vert="horz" lIns="0" tIns="0" rIns="0" bIns="0" rtlCol="0" anchor="t">
            <a:noAutofit/>
          </a:bodyPr>
          <a:lstStyle/>
          <a:p>
            <a:pPr algn="ctr"/>
            <a:r>
              <a:rPr lang="en-US" sz="4400" b="1" dirty="0">
                <a:latin typeface="Arial"/>
                <a:cs typeface="Arial"/>
              </a:rPr>
              <a:t>9156</a:t>
            </a:r>
            <a:r>
              <a:rPr lang="en-US" sz="4400" dirty="0">
                <a:latin typeface="Arial"/>
                <a:cs typeface="Arial"/>
              </a:rPr>
              <a:t> is </a:t>
            </a:r>
            <a:r>
              <a:rPr lang="en-US" sz="4400" b="1" dirty="0">
                <a:latin typeface="Arial"/>
                <a:cs typeface="Arial"/>
              </a:rPr>
              <a:t>closest</a:t>
            </a:r>
            <a:r>
              <a:rPr lang="en-US" sz="4400" dirty="0">
                <a:latin typeface="Arial"/>
                <a:cs typeface="Arial"/>
              </a:rPr>
              <a:t> to which number?</a:t>
            </a:r>
            <a:endParaRPr lang="en-US" sz="2000" dirty="0"/>
          </a:p>
        </p:txBody>
      </p:sp>
      <p:sp>
        <p:nvSpPr>
          <p:cNvPr id="19" name="Text Placeholder 17">
            <a:extLst>
              <a:ext uri="{FF2B5EF4-FFF2-40B4-BE49-F238E27FC236}">
                <a16:creationId xmlns:a16="http://schemas.microsoft.com/office/drawing/2014/main" id="{EBE38E88-7EA5-5D67-97B0-3C46A4623CF0}"/>
              </a:ext>
            </a:extLst>
          </p:cNvPr>
          <p:cNvSpPr txBox="1">
            <a:spLocks/>
          </p:cNvSpPr>
          <p:nvPr/>
        </p:nvSpPr>
        <p:spPr>
          <a:xfrm>
            <a:off x="864266" y="2158760"/>
            <a:ext cx="7748105" cy="3763575"/>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b="1">
                <a:latin typeface="Arial"/>
                <a:cs typeface="Arial"/>
              </a:rPr>
              <a:t>A	</a:t>
            </a:r>
            <a:r>
              <a:rPr lang="en-US" sz="4400">
                <a:latin typeface="Arial"/>
                <a:cs typeface="Arial"/>
              </a:rPr>
              <a:t>92 hundreds</a:t>
            </a:r>
          </a:p>
          <a:p>
            <a:r>
              <a:rPr lang="en-US" sz="4400" b="1">
                <a:latin typeface="Arial"/>
                <a:cs typeface="Arial"/>
              </a:rPr>
              <a:t>B	</a:t>
            </a:r>
            <a:r>
              <a:rPr lang="en-US" sz="4400">
                <a:latin typeface="Arial"/>
                <a:cs typeface="Arial"/>
              </a:rPr>
              <a:t>93 hundreds</a:t>
            </a:r>
          </a:p>
          <a:p>
            <a:r>
              <a:rPr lang="en-US" sz="4400" b="1">
                <a:latin typeface="Arial"/>
                <a:cs typeface="Arial"/>
              </a:rPr>
              <a:t>C	</a:t>
            </a:r>
            <a:r>
              <a:rPr lang="en-US" sz="4400">
                <a:latin typeface="Arial"/>
                <a:cs typeface="Arial"/>
              </a:rPr>
              <a:t>90 hundreds + 56 tens</a:t>
            </a:r>
          </a:p>
          <a:p>
            <a:r>
              <a:rPr lang="en-US" sz="4400" b="1">
                <a:latin typeface="Arial"/>
                <a:cs typeface="Arial"/>
              </a:rPr>
              <a:t>D	</a:t>
            </a:r>
            <a:r>
              <a:rPr lang="en-US" sz="4400">
                <a:latin typeface="Arial"/>
                <a:cs typeface="Arial"/>
              </a:rPr>
              <a:t>951 tens </a:t>
            </a:r>
          </a:p>
          <a:p>
            <a:endParaRPr lang="en-US"/>
          </a:p>
        </p:txBody>
      </p:sp>
      <p:sp>
        <p:nvSpPr>
          <p:cNvPr id="2" name="Slide Number Placeholder 1">
            <a:extLst>
              <a:ext uri="{FF2B5EF4-FFF2-40B4-BE49-F238E27FC236}">
                <a16:creationId xmlns:a16="http://schemas.microsoft.com/office/drawing/2014/main" id="{A3EE77A7-FE1B-9394-E3D8-9905BF492C48}"/>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85618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91311-E2CA-3AC5-05C9-E03DA9A2845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12184FE-E6F1-A3C6-01CD-68612E2B257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(9)</a:t>
            </a:r>
          </a:p>
        </p:txBody>
      </p:sp>
      <p:pic>
        <p:nvPicPr>
          <p:cNvPr id="4" name="Picture 3" descr="image of a clipboard with a pencil recording short answer responses">
            <a:extLst>
              <a:ext uri="{FF2B5EF4-FFF2-40B4-BE49-F238E27FC236}">
                <a16:creationId xmlns:a16="http://schemas.microsoft.com/office/drawing/2014/main" id="{A7928AD0-FB0D-320D-A01E-AB930E8E6C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615793BF-4D97-0D6A-FB17-D26939AF18A8}"/>
              </a:ext>
            </a:extLst>
          </p:cNvPr>
          <p:cNvSpPr>
            <a:spLocks noGrp="1"/>
          </p:cNvSpPr>
          <p:nvPr>
            <p:ph type="pic" sz="quarter" idx="21"/>
          </p:nvPr>
        </p:nvSpPr>
        <p:spPr>
          <a:xfrm>
            <a:off x="474481" y="820527"/>
            <a:ext cx="11243037" cy="1782811"/>
          </a:xfrm>
        </p:spPr>
        <p:txBody>
          <a:bodyPr/>
          <a:lstStyle/>
          <a:p>
            <a:pPr algn="ctr"/>
            <a:r>
              <a:rPr lang="en-US" sz="3600" b="1" dirty="0">
                <a:latin typeface="Arial"/>
                <a:cs typeface="Arial"/>
              </a:rPr>
              <a:t>Identify</a:t>
            </a:r>
            <a:r>
              <a:rPr lang="en-US" sz="3600" dirty="0">
                <a:latin typeface="Arial"/>
                <a:cs typeface="Arial"/>
              </a:rPr>
              <a:t> and </a:t>
            </a:r>
            <a:r>
              <a:rPr lang="en-US" sz="3600" b="1" dirty="0">
                <a:latin typeface="Arial"/>
                <a:cs typeface="Arial"/>
              </a:rPr>
              <a:t>describe</a:t>
            </a:r>
            <a:r>
              <a:rPr lang="en-US" sz="3600" dirty="0">
                <a:latin typeface="Arial"/>
                <a:cs typeface="Arial"/>
              </a:rPr>
              <a:t> the </a:t>
            </a:r>
            <a:r>
              <a:rPr lang="en-US" sz="3600" b="1" dirty="0">
                <a:latin typeface="Arial"/>
                <a:cs typeface="Arial"/>
              </a:rPr>
              <a:t>2D shapes </a:t>
            </a:r>
            <a:r>
              <a:rPr lang="en-US" sz="3600" dirty="0">
                <a:latin typeface="Arial"/>
                <a:cs typeface="Arial"/>
              </a:rPr>
              <a:t>in the Australian, Aboriginal, Torres Strait Islands and </a:t>
            </a:r>
            <a:r>
              <a:rPr lang="en-US" sz="4000" dirty="0">
                <a:latin typeface="Arial"/>
                <a:cs typeface="Arial"/>
              </a:rPr>
              <a:t>NSW flags.</a:t>
            </a:r>
          </a:p>
        </p:txBody>
      </p:sp>
      <p:sp>
        <p:nvSpPr>
          <p:cNvPr id="2" name="Slide Number Placeholder 1">
            <a:extLst>
              <a:ext uri="{FF2B5EF4-FFF2-40B4-BE49-F238E27FC236}">
                <a16:creationId xmlns:a16="http://schemas.microsoft.com/office/drawing/2014/main" id="{3DB77910-F56A-4A66-771A-69EA4515CFC6}"/>
              </a:ext>
            </a:extLst>
          </p:cNvPr>
          <p:cNvSpPr>
            <a:spLocks noGrp="1"/>
          </p:cNvSpPr>
          <p:nvPr>
            <p:ph type="sldNum" sz="quarter" idx="12"/>
          </p:nvPr>
        </p:nvSpPr>
        <p:spPr/>
        <p:txBody>
          <a:bodyPr/>
          <a:lstStyle/>
          <a:p>
            <a:fld id="{10A01DC5-1685-4615-8240-15192985C6A2}" type="slidenum">
              <a:rPr lang="en-AU" smtClean="0"/>
              <a:t>20</a:t>
            </a:fld>
            <a:endParaRPr lang="en-AU"/>
          </a:p>
        </p:txBody>
      </p:sp>
      <p:pic>
        <p:nvPicPr>
          <p:cNvPr id="5" name="Picture 4" descr="A group of flags with different colors&#10;&#10;AI-generated content may be incorrect.">
            <a:extLst>
              <a:ext uri="{FF2B5EF4-FFF2-40B4-BE49-F238E27FC236}">
                <a16:creationId xmlns:a16="http://schemas.microsoft.com/office/drawing/2014/main" id="{A4B60952-C919-0977-C810-5BFCA85AD291}"/>
              </a:ext>
            </a:extLst>
          </p:cNvPr>
          <p:cNvPicPr>
            <a:picLocks noChangeAspect="1"/>
          </p:cNvPicPr>
          <p:nvPr/>
        </p:nvPicPr>
        <p:blipFill>
          <a:blip r:embed="rId4"/>
          <a:stretch>
            <a:fillRect/>
          </a:stretch>
        </p:blipFill>
        <p:spPr>
          <a:xfrm>
            <a:off x="2598739" y="2650305"/>
            <a:ext cx="6545262" cy="3848432"/>
          </a:xfrm>
          <a:prstGeom prst="rect">
            <a:avLst/>
          </a:prstGeom>
          <a:ln>
            <a:noFill/>
          </a:ln>
        </p:spPr>
      </p:pic>
    </p:spTree>
    <p:extLst>
      <p:ext uri="{BB962C8B-B14F-4D97-AF65-F5344CB8AC3E}">
        <p14:creationId xmlns:p14="http://schemas.microsoft.com/office/powerpoint/2010/main" val="3777370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6932C-EC37-B3ED-6E76-5D6F2C7FF6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BB4B7CA-693A-3F18-2EDC-EE94CBCA2F64}"/>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(14)</a:t>
            </a:r>
          </a:p>
        </p:txBody>
      </p:sp>
      <p:pic>
        <p:nvPicPr>
          <p:cNvPr id="4" name="Picture 3" descr="image of a clipboard with a pencil recording short answer responses">
            <a:extLst>
              <a:ext uri="{FF2B5EF4-FFF2-40B4-BE49-F238E27FC236}">
                <a16:creationId xmlns:a16="http://schemas.microsoft.com/office/drawing/2014/main" id="{B77B602D-A6DE-2C40-AE6F-710A0190825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2F913B4D-1682-BC3D-FA94-9742B9EAB2B6}"/>
              </a:ext>
            </a:extLst>
          </p:cNvPr>
          <p:cNvSpPr>
            <a:spLocks noGrp="1"/>
          </p:cNvSpPr>
          <p:nvPr>
            <p:ph type="pic" sz="quarter" idx="21"/>
          </p:nvPr>
        </p:nvSpPr>
        <p:spPr>
          <a:xfrm>
            <a:off x="360001" y="1121434"/>
            <a:ext cx="11243037" cy="5484566"/>
          </a:xfrm>
        </p:spPr>
        <p:txBody>
          <a:bodyPr/>
          <a:lstStyle/>
          <a:p>
            <a:pPr algn="ctr"/>
            <a:r>
              <a:rPr lang="en-US" sz="4000" dirty="0">
                <a:latin typeface="Arial"/>
                <a:cs typeface="Arial"/>
              </a:rPr>
              <a:t>At the school picnic, Jake can choose one food and one drink. The drinks are water or orange juice. The lunch foods are sushi, a hot dog, a salad sandwich or chicken wrap. What are the </a:t>
            </a:r>
            <a:r>
              <a:rPr lang="en-US" sz="4000" b="1" dirty="0">
                <a:latin typeface="Arial"/>
                <a:cs typeface="Arial"/>
              </a:rPr>
              <a:t>possible combinations</a:t>
            </a:r>
            <a:r>
              <a:rPr lang="en-US" sz="4000" dirty="0">
                <a:latin typeface="Arial"/>
                <a:cs typeface="Arial"/>
              </a:rPr>
              <a:t> of food and drink Jake can choose?</a:t>
            </a:r>
            <a:endParaRPr lang="en-US" sz="4000" dirty="0"/>
          </a:p>
          <a:p>
            <a:endParaRPr lang="en-US" sz="1600" dirty="0">
              <a:latin typeface="Arial"/>
              <a:cs typeface="Arial"/>
            </a:endParaRPr>
          </a:p>
        </p:txBody>
      </p:sp>
      <p:sp>
        <p:nvSpPr>
          <p:cNvPr id="2" name="Slide Number Placeholder 1">
            <a:extLst>
              <a:ext uri="{FF2B5EF4-FFF2-40B4-BE49-F238E27FC236}">
                <a16:creationId xmlns:a16="http://schemas.microsoft.com/office/drawing/2014/main" id="{490D75EE-77E1-4439-0A95-55A48CB513CA}"/>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21</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spTree>
    <p:extLst>
      <p:ext uri="{BB962C8B-B14F-4D97-AF65-F5344CB8AC3E}">
        <p14:creationId xmlns:p14="http://schemas.microsoft.com/office/powerpoint/2010/main" val="2728193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1BD45-44FF-11A5-FE27-5FEEB2BCBA9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018A579-B085-1F5A-BA99-7348214BE83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(11)</a:t>
            </a:r>
          </a:p>
        </p:txBody>
      </p:sp>
      <p:pic>
        <p:nvPicPr>
          <p:cNvPr id="4" name="Picture 3" descr="image of a clipboard with a pencil recording short answer responses">
            <a:extLst>
              <a:ext uri="{FF2B5EF4-FFF2-40B4-BE49-F238E27FC236}">
                <a16:creationId xmlns:a16="http://schemas.microsoft.com/office/drawing/2014/main" id="{C3B14898-BBF9-1AEA-328E-B3919ABCA8CA}"/>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BA99C24B-2D22-028D-AEA8-8D8B48CB4938}"/>
              </a:ext>
            </a:extLst>
          </p:cNvPr>
          <p:cNvSpPr>
            <a:spLocks noGrp="1"/>
          </p:cNvSpPr>
          <p:nvPr>
            <p:ph type="pic" sz="quarter" idx="21"/>
          </p:nvPr>
        </p:nvSpPr>
        <p:spPr>
          <a:xfrm>
            <a:off x="246024" y="802322"/>
            <a:ext cx="10993476" cy="1812927"/>
          </a:xfrm>
        </p:spPr>
        <p:txBody>
          <a:bodyPr/>
          <a:lstStyle/>
          <a:p>
            <a:pPr algn="ctr"/>
            <a:r>
              <a:rPr lang="en-US" sz="4400" dirty="0">
                <a:latin typeface="Arial"/>
                <a:cs typeface="Arial"/>
              </a:rPr>
              <a:t> </a:t>
            </a:r>
            <a:r>
              <a:rPr lang="en-US" sz="4000" dirty="0">
                <a:latin typeface="Arial"/>
                <a:cs typeface="Arial"/>
              </a:rPr>
              <a:t>Use your understanding of the </a:t>
            </a:r>
            <a:r>
              <a:rPr lang="en-US" sz="4000" b="1" dirty="0">
                <a:latin typeface="Arial"/>
                <a:cs typeface="Arial"/>
              </a:rPr>
              <a:t>commutative property</a:t>
            </a:r>
            <a:r>
              <a:rPr lang="en-US" sz="4000" dirty="0">
                <a:latin typeface="Arial"/>
                <a:cs typeface="Arial"/>
              </a:rPr>
              <a:t> to record </a:t>
            </a:r>
            <a:r>
              <a:rPr lang="en-US" sz="4000" b="1" dirty="0">
                <a:latin typeface="Arial"/>
                <a:cs typeface="Arial"/>
              </a:rPr>
              <a:t>2 number sentences </a:t>
            </a:r>
            <a:r>
              <a:rPr lang="en-US" sz="4000" dirty="0">
                <a:latin typeface="Arial"/>
                <a:cs typeface="Arial"/>
              </a:rPr>
              <a:t>to </a:t>
            </a:r>
            <a:r>
              <a:rPr lang="en-US" sz="4000" b="1" dirty="0">
                <a:latin typeface="Arial"/>
                <a:cs typeface="Arial"/>
              </a:rPr>
              <a:t>represent</a:t>
            </a:r>
            <a:r>
              <a:rPr lang="en-US" sz="4000" dirty="0">
                <a:latin typeface="Arial"/>
                <a:cs typeface="Arial"/>
              </a:rPr>
              <a:t> this array. </a:t>
            </a:r>
            <a:endParaRPr lang="en-US" sz="4000" b="1" dirty="0"/>
          </a:p>
          <a:p>
            <a:endParaRPr lang="en-US" sz="2400" dirty="0">
              <a:latin typeface="Arial"/>
              <a:cs typeface="Arial"/>
            </a:endParaRPr>
          </a:p>
        </p:txBody>
      </p:sp>
      <p:pic>
        <p:nvPicPr>
          <p:cNvPr id="23" name="Picture 22" descr="An array of blue circles 8 by 4.">
            <a:extLst>
              <a:ext uri="{FF2B5EF4-FFF2-40B4-BE49-F238E27FC236}">
                <a16:creationId xmlns:a16="http://schemas.microsoft.com/office/drawing/2014/main" id="{BD7A8C50-A1B7-4120-C59C-E7083B8D5DCC}"/>
              </a:ext>
            </a:extLst>
          </p:cNvPr>
          <p:cNvPicPr>
            <a:picLocks noChangeAspect="1"/>
          </p:cNvPicPr>
          <p:nvPr/>
        </p:nvPicPr>
        <p:blipFill>
          <a:blip r:embed="rId4"/>
          <a:stretch>
            <a:fillRect/>
          </a:stretch>
        </p:blipFill>
        <p:spPr>
          <a:xfrm>
            <a:off x="3206365" y="3793352"/>
            <a:ext cx="5301281" cy="2902648"/>
          </a:xfrm>
          <a:prstGeom prst="rect">
            <a:avLst/>
          </a:prstGeom>
        </p:spPr>
      </p:pic>
      <p:sp>
        <p:nvSpPr>
          <p:cNvPr id="2" name="Slide Number Placeholder 1">
            <a:extLst>
              <a:ext uri="{FF2B5EF4-FFF2-40B4-BE49-F238E27FC236}">
                <a16:creationId xmlns:a16="http://schemas.microsoft.com/office/drawing/2014/main" id="{605D520E-CA22-0FDB-E276-04CB5533BA58}"/>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287615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C73F8-9FD6-0ECE-3ECF-73C36B28CAE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A83EBBF-04B8-9A2C-ED9F-A19E882F3DC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(12)</a:t>
            </a:r>
          </a:p>
        </p:txBody>
      </p:sp>
      <p:pic>
        <p:nvPicPr>
          <p:cNvPr id="4" name="Picture 3" descr="image of a clipboard with a pencil recording short answer responses">
            <a:extLst>
              <a:ext uri="{FF2B5EF4-FFF2-40B4-BE49-F238E27FC236}">
                <a16:creationId xmlns:a16="http://schemas.microsoft.com/office/drawing/2014/main" id="{F6524755-11ED-9461-3FEF-45D126D2CF8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0BBCDB05-A139-44A3-EA5D-6556ADCA3BC0}"/>
              </a:ext>
            </a:extLst>
          </p:cNvPr>
          <p:cNvSpPr>
            <a:spLocks noGrp="1"/>
          </p:cNvSpPr>
          <p:nvPr>
            <p:ph type="pic" sz="quarter" idx="21"/>
          </p:nvPr>
        </p:nvSpPr>
        <p:spPr>
          <a:xfrm>
            <a:off x="474481" y="820540"/>
            <a:ext cx="11243037" cy="1837600"/>
          </a:xfrm>
        </p:spPr>
        <p:txBody>
          <a:bodyPr/>
          <a:lstStyle/>
          <a:p>
            <a:pPr algn="ctr"/>
            <a:r>
              <a:rPr lang="en-US" sz="4400" dirty="0">
                <a:latin typeface="Arial"/>
                <a:cs typeface="Arial"/>
              </a:rPr>
              <a:t>What are the </a:t>
            </a:r>
            <a:r>
              <a:rPr lang="en-US" sz="4400" b="1" dirty="0">
                <a:latin typeface="Arial"/>
                <a:cs typeface="Arial"/>
              </a:rPr>
              <a:t>chances</a:t>
            </a:r>
            <a:r>
              <a:rPr lang="en-US" sz="4400" dirty="0">
                <a:latin typeface="Arial"/>
                <a:cs typeface="Arial"/>
              </a:rPr>
              <a:t> of the spinner landing on a number that includes a 1.</a:t>
            </a:r>
          </a:p>
          <a:p>
            <a:endParaRPr lang="en-US" dirty="0">
              <a:latin typeface="Arial"/>
              <a:cs typeface="Arial"/>
            </a:endParaRPr>
          </a:p>
        </p:txBody>
      </p:sp>
      <p:pic>
        <p:nvPicPr>
          <p:cNvPr id="7" name="Picture 6" descr="A spinner with the numbers 13, 2, 18, 11, 8 14, 7 and 16.">
            <a:extLst>
              <a:ext uri="{FF2B5EF4-FFF2-40B4-BE49-F238E27FC236}">
                <a16:creationId xmlns:a16="http://schemas.microsoft.com/office/drawing/2014/main" id="{BD3D5288-2219-D79E-7600-37491CF01B41}"/>
              </a:ext>
            </a:extLst>
          </p:cNvPr>
          <p:cNvPicPr>
            <a:picLocks noChangeAspect="1"/>
          </p:cNvPicPr>
          <p:nvPr/>
        </p:nvPicPr>
        <p:blipFill>
          <a:blip r:embed="rId4"/>
          <a:stretch>
            <a:fillRect/>
          </a:stretch>
        </p:blipFill>
        <p:spPr>
          <a:xfrm>
            <a:off x="4229850" y="3119896"/>
            <a:ext cx="3732297" cy="3486104"/>
          </a:xfrm>
          <a:prstGeom prst="rect">
            <a:avLst/>
          </a:prstGeom>
          <a:effectLst>
            <a:outerShdw blurRad="63500" sx="102000" sy="102000" algn="ctr" rotWithShape="0">
              <a:prstClr val="black">
                <a:alpha val="40000"/>
              </a:prstClr>
            </a:outerShdw>
          </a:effectLst>
        </p:spPr>
      </p:pic>
      <p:sp>
        <p:nvSpPr>
          <p:cNvPr id="2" name="Slide Number Placeholder 1">
            <a:extLst>
              <a:ext uri="{FF2B5EF4-FFF2-40B4-BE49-F238E27FC236}">
                <a16:creationId xmlns:a16="http://schemas.microsoft.com/office/drawing/2014/main" id="{1C171D71-9E03-59C1-3888-D6A2F0BA0FB7}"/>
              </a:ext>
            </a:extLst>
          </p:cNvPr>
          <p:cNvSpPr>
            <a:spLocks noGrp="1"/>
          </p:cNvSpPr>
          <p:nvPr>
            <p:ph type="sldNum" sz="quarter" idx="12"/>
          </p:nvPr>
        </p:nvSpPr>
        <p:spPr/>
        <p:txBody>
          <a:bodyPr/>
          <a:lstStyle/>
          <a:p>
            <a:fld id="{10A01DC5-1685-4615-8240-15192985C6A2}" type="slidenum">
              <a:rPr lang="en-AU" smtClean="0"/>
              <a:t>23</a:t>
            </a:fld>
            <a:endParaRPr lang="en-AU"/>
          </a:p>
        </p:txBody>
      </p:sp>
    </p:spTree>
    <p:extLst>
      <p:ext uri="{BB962C8B-B14F-4D97-AF65-F5344CB8AC3E}">
        <p14:creationId xmlns:p14="http://schemas.microsoft.com/office/powerpoint/2010/main" val="4064626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9209302" cy="545601"/>
          </a:xfrm>
        </p:spPr>
        <p:txBody>
          <a:bodyPr/>
          <a:lstStyle/>
          <a:p>
            <a:r>
              <a:rPr lang="en-AU">
                <a:latin typeface="Arial"/>
                <a:cs typeface="Arial"/>
              </a:rPr>
              <a:t>Activity 3 – partitioning numbers</a:t>
            </a:r>
          </a:p>
        </p:txBody>
      </p:sp>
      <p:pic>
        <p:nvPicPr>
          <p:cNvPr id="4" name="Picture 3" descr="image of a head with cogs turning inside">
            <a:extLst>
              <a:ext uri="{FF2B5EF4-FFF2-40B4-BE49-F238E27FC236}">
                <a16:creationId xmlns:a16="http://schemas.microsoft.com/office/drawing/2014/main" id="{994FBBCA-9DE6-712E-6296-3227924747F2}"/>
              </a:ext>
            </a:extLst>
          </p:cNvPr>
          <p:cNvPicPr>
            <a:picLocks noChangeAspect="1"/>
          </p:cNvPicPr>
          <p:nvPr/>
        </p:nvPicPr>
        <p:blipFill>
          <a:blip r:embed="rId3"/>
          <a:stretch>
            <a:fillRect/>
          </a:stretch>
        </p:blipFill>
        <p:spPr>
          <a:xfrm>
            <a:off x="11223185" y="144166"/>
            <a:ext cx="720000" cy="856364"/>
          </a:xfrm>
          <a:prstGeom prst="rect">
            <a:avLst/>
          </a:prstGeom>
        </p:spPr>
      </p:pic>
      <p:pic>
        <p:nvPicPr>
          <p:cNvPr id="16" name="Picture 15" descr="Four rectangular cards each titled ‘Which number is closest?’ &#10;&#10;Card 1 has the target number 7831. The multiple-choice answers provided are a) 7800, b) 7840, c) 7931 and d) 7900.&#10;&#10;Card 2 has the target number 400. The multiple choice answers provided are: a) 39 tens, b) 50 tens - 30, c) 20 tens + 250 and d) 4 tens + 290.&#10;&#10;Card 3 has the target number 8256. The multiple-choice answers provided are: a) 82 hundreds, b) 83 hundreds, c) 80 hundreds + 56 tens and d) 852 tens.&#10;&#10;Card 4 has the target number blacked out. The multiple-choice answers provided are: a) 52 hundreds b) 53 hundreds c) 51 hundreds + 15 tens and d) 528 tens.&#10;">
            <a:extLst>
              <a:ext uri="{FF2B5EF4-FFF2-40B4-BE49-F238E27FC236}">
                <a16:creationId xmlns:a16="http://schemas.microsoft.com/office/drawing/2014/main" id="{27B8DF4B-19B4-CF95-3233-B9DC2200D221}"/>
              </a:ext>
            </a:extLst>
          </p:cNvPr>
          <p:cNvPicPr>
            <a:picLocks noChangeAspect="1"/>
          </p:cNvPicPr>
          <p:nvPr/>
        </p:nvPicPr>
        <p:blipFill>
          <a:blip r:embed="rId4"/>
          <a:stretch>
            <a:fillRect/>
          </a:stretch>
        </p:blipFill>
        <p:spPr>
          <a:xfrm>
            <a:off x="1815310" y="1025456"/>
            <a:ext cx="9014148" cy="4285415"/>
          </a:xfrm>
          <a:prstGeom prst="rect">
            <a:avLst/>
          </a:prstGeom>
        </p:spPr>
      </p:pic>
      <p:sp>
        <p:nvSpPr>
          <p:cNvPr id="17" name="TextBox 16">
            <a:extLst>
              <a:ext uri="{FF2B5EF4-FFF2-40B4-BE49-F238E27FC236}">
                <a16:creationId xmlns:a16="http://schemas.microsoft.com/office/drawing/2014/main" id="{F38245B2-712A-23DC-088B-E0807115F29F}"/>
              </a:ext>
            </a:extLst>
          </p:cNvPr>
          <p:cNvSpPr txBox="1"/>
          <p:nvPr/>
        </p:nvSpPr>
        <p:spPr>
          <a:xfrm>
            <a:off x="5174068" y="5430726"/>
            <a:ext cx="2296633" cy="1265274"/>
          </a:xfrm>
          <a:prstGeom prst="rect">
            <a:avLst/>
          </a:prstGeom>
          <a:noFill/>
        </p:spPr>
        <p:txBody>
          <a:bodyPr wrap="none" lIns="0" tIns="0" rIns="0" bIns="0" rtlCol="0">
            <a:noAutofit/>
          </a:bodyPr>
          <a:lstStyle/>
          <a:p>
            <a:pPr algn="l"/>
            <a:r>
              <a:rPr lang="en-AU" sz="8000"/>
              <a:t>8637</a:t>
            </a:r>
          </a:p>
        </p:txBody>
      </p:sp>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24</a:t>
            </a:fld>
            <a:endParaRPr lang="en-AU"/>
          </a:p>
        </p:txBody>
      </p:sp>
    </p:spTree>
    <p:extLst>
      <p:ext uri="{BB962C8B-B14F-4D97-AF65-F5344CB8AC3E}">
        <p14:creationId xmlns:p14="http://schemas.microsoft.com/office/powerpoint/2010/main" val="3094897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8D470-C119-FE15-B585-7B00E3FC0E6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38549DE-34BC-2932-4069-8C67AECD9A58}"/>
              </a:ext>
            </a:extLst>
          </p:cNvPr>
          <p:cNvSpPr>
            <a:spLocks noGrp="1"/>
          </p:cNvSpPr>
          <p:nvPr>
            <p:ph type="ctrTitle"/>
          </p:nvPr>
        </p:nvSpPr>
        <p:spPr/>
        <p:txBody>
          <a:bodyPr/>
          <a:lstStyle/>
          <a:p>
            <a:r>
              <a:rPr lang="en-AU">
                <a:latin typeface="+mj-lt"/>
                <a:cs typeface="Arial"/>
              </a:rPr>
              <a:t>Review of learning 4</a:t>
            </a:r>
            <a:endParaRPr lang="en-AU">
              <a:latin typeface="+mj-lt"/>
            </a:endParaRPr>
          </a:p>
        </p:txBody>
      </p:sp>
    </p:spTree>
    <p:extLst>
      <p:ext uri="{BB962C8B-B14F-4D97-AF65-F5344CB8AC3E}">
        <p14:creationId xmlns:p14="http://schemas.microsoft.com/office/powerpoint/2010/main" val="2097754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47EEB-F21E-045D-8ADE-B6DF797BBD6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7D4AB32-9AD3-7208-104F-40FDED38BA06}"/>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(2)</a:t>
            </a:r>
          </a:p>
        </p:txBody>
      </p:sp>
      <p:pic>
        <p:nvPicPr>
          <p:cNvPr id="6" name="Picture 5" descr="image of a finger selecting an option for a multiple choice or true and false">
            <a:extLst>
              <a:ext uri="{FF2B5EF4-FFF2-40B4-BE49-F238E27FC236}">
                <a16:creationId xmlns:a16="http://schemas.microsoft.com/office/drawing/2014/main" id="{69530689-7807-BBD6-FD1B-040AA488A195}"/>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7" name="Text Placeholder 6">
            <a:extLst>
              <a:ext uri="{FF2B5EF4-FFF2-40B4-BE49-F238E27FC236}">
                <a16:creationId xmlns:a16="http://schemas.microsoft.com/office/drawing/2014/main" id="{F060180D-91D5-EA06-E103-8B3688B0CE76}"/>
              </a:ext>
            </a:extLst>
          </p:cNvPr>
          <p:cNvSpPr>
            <a:spLocks noGrp="1"/>
          </p:cNvSpPr>
          <p:nvPr>
            <p:ph type="body" sz="quarter" idx="22"/>
          </p:nvPr>
        </p:nvSpPr>
        <p:spPr>
          <a:xfrm>
            <a:off x="474481" y="1500716"/>
            <a:ext cx="11243037" cy="2877133"/>
          </a:xfrm>
        </p:spPr>
        <p:txBody>
          <a:bodyPr vert="horz" lIns="0" tIns="0" rIns="0" bIns="0" rtlCol="0" anchor="t">
            <a:noAutofit/>
          </a:bodyPr>
          <a:lstStyle/>
          <a:p>
            <a:pPr algn="ctr"/>
            <a:r>
              <a:rPr lang="en-AU" sz="4400">
                <a:latin typeface="Arial"/>
                <a:cs typeface="Arial"/>
              </a:rPr>
              <a:t>8734 is </a:t>
            </a:r>
            <a:r>
              <a:rPr lang="en-AU" sz="4400" b="1">
                <a:latin typeface="Arial"/>
                <a:cs typeface="Arial"/>
              </a:rPr>
              <a:t>not equal to </a:t>
            </a:r>
            <a:r>
              <a:rPr lang="en-AU" sz="4400">
                <a:latin typeface="Arial"/>
                <a:cs typeface="Arial"/>
              </a:rPr>
              <a:t>7 thousands, 6 hundreds, 23 tens and 4 ones.</a:t>
            </a:r>
            <a:endParaRPr lang="en-US" sz="4400"/>
          </a:p>
        </p:txBody>
      </p:sp>
      <p:graphicFrame>
        <p:nvGraphicFramePr>
          <p:cNvPr id="5" name="Table 4">
            <a:extLst>
              <a:ext uri="{FF2B5EF4-FFF2-40B4-BE49-F238E27FC236}">
                <a16:creationId xmlns:a16="http://schemas.microsoft.com/office/drawing/2014/main" id="{DB699691-98F7-EA8F-32F1-C06DC46C20B7}"/>
              </a:ext>
            </a:extLst>
          </p:cNvPr>
          <p:cNvGraphicFramePr>
            <a:graphicFrameLocks noGrp="1"/>
          </p:cNvGraphicFramePr>
          <p:nvPr>
            <p:extLst>
              <p:ext uri="{D42A27DB-BD31-4B8C-83A1-F6EECF244321}">
                <p14:modId xmlns:p14="http://schemas.microsoft.com/office/powerpoint/2010/main" val="2864254565"/>
              </p:ext>
            </p:extLst>
          </p:nvPr>
        </p:nvGraphicFramePr>
        <p:xfrm>
          <a:off x="2442981" y="4312530"/>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8CD3A27D-3714-AE5A-F3A7-8938A8312568}"/>
              </a:ext>
            </a:extLst>
          </p:cNvPr>
          <p:cNvSpPr>
            <a:spLocks noGrp="1"/>
          </p:cNvSpPr>
          <p:nvPr>
            <p:ph type="sldNum" sz="quarter" idx="12"/>
          </p:nvPr>
        </p:nvSpPr>
        <p:spPr/>
        <p:txBody>
          <a:bodyPr/>
          <a:lstStyle/>
          <a:p>
            <a:fld id="{10A01DC5-1685-4615-8240-15192985C6A2}" type="slidenum">
              <a:rPr lang="en-AU" smtClean="0"/>
              <a:t>26</a:t>
            </a:fld>
            <a:endParaRPr lang="en-AU"/>
          </a:p>
        </p:txBody>
      </p:sp>
      <p:sp>
        <p:nvSpPr>
          <p:cNvPr id="4" name="TextBox 3">
            <a:extLst>
              <a:ext uri="{FF2B5EF4-FFF2-40B4-BE49-F238E27FC236}">
                <a16:creationId xmlns:a16="http://schemas.microsoft.com/office/drawing/2014/main" id="{EC92D8EC-4C0F-2EE6-6685-63E1D4FED7EF}"/>
              </a:ext>
            </a:extLst>
          </p:cNvPr>
          <p:cNvSpPr txBox="1"/>
          <p:nvPr/>
        </p:nvSpPr>
        <p:spPr>
          <a:xfrm>
            <a:off x="3609220" y="5449991"/>
            <a:ext cx="4744598" cy="942975"/>
          </a:xfrm>
          <a:prstGeom prst="rect">
            <a:avLst/>
          </a:prstGeom>
          <a:noFill/>
        </p:spPr>
        <p:txBody>
          <a:bodyPr wrap="square" lIns="0" tIns="0" rIns="0" bIns="0" rtlCol="0">
            <a:noAutofit/>
          </a:bodyPr>
          <a:lstStyle/>
          <a:p>
            <a:pPr algn="l"/>
            <a:r>
              <a:rPr lang="en-AU" sz="4400" dirty="0"/>
              <a:t>How do you know? </a:t>
            </a:r>
          </a:p>
        </p:txBody>
      </p:sp>
    </p:spTree>
    <p:extLst>
      <p:ext uri="{BB962C8B-B14F-4D97-AF65-F5344CB8AC3E}">
        <p14:creationId xmlns:p14="http://schemas.microsoft.com/office/powerpoint/2010/main" val="393875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EC9BF-5F7D-214B-1148-F6F0F6CD319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58B9408-BD93-F840-A268-57E14808F86B}"/>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(13)</a:t>
            </a:r>
          </a:p>
        </p:txBody>
      </p:sp>
      <p:pic>
        <p:nvPicPr>
          <p:cNvPr id="4" name="Picture 3" descr="image of a clipboard with a pencil recording short answer responses">
            <a:extLst>
              <a:ext uri="{FF2B5EF4-FFF2-40B4-BE49-F238E27FC236}">
                <a16:creationId xmlns:a16="http://schemas.microsoft.com/office/drawing/2014/main" id="{6CBFAEF5-264E-AC66-53E9-1C49CB3F5B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14C19D03-CFFF-C433-C478-7D603E7E945A}"/>
              </a:ext>
            </a:extLst>
          </p:cNvPr>
          <p:cNvSpPr>
            <a:spLocks noGrp="1"/>
          </p:cNvSpPr>
          <p:nvPr>
            <p:ph type="pic" sz="quarter" idx="21"/>
          </p:nvPr>
        </p:nvSpPr>
        <p:spPr>
          <a:xfrm>
            <a:off x="360001" y="770646"/>
            <a:ext cx="11243037" cy="1788852"/>
          </a:xfrm>
        </p:spPr>
        <p:txBody>
          <a:bodyPr/>
          <a:lstStyle/>
          <a:p>
            <a:pPr algn="ctr"/>
            <a:r>
              <a:rPr lang="en-US" sz="4400" dirty="0">
                <a:latin typeface="Arial"/>
                <a:cs typeface="Arial"/>
              </a:rPr>
              <a:t>Explain why the pencils do not represent an </a:t>
            </a:r>
            <a:r>
              <a:rPr lang="en-US" sz="4400" b="1" dirty="0">
                <a:latin typeface="Arial"/>
                <a:cs typeface="Arial"/>
              </a:rPr>
              <a:t>angle</a:t>
            </a:r>
            <a:r>
              <a:rPr lang="en-US" sz="4400" dirty="0">
                <a:latin typeface="Arial"/>
                <a:cs typeface="Arial"/>
              </a:rPr>
              <a:t>.</a:t>
            </a:r>
          </a:p>
          <a:p>
            <a:endParaRPr lang="en-US" dirty="0">
              <a:latin typeface="Arial"/>
              <a:cs typeface="Arial"/>
            </a:endParaRPr>
          </a:p>
        </p:txBody>
      </p:sp>
      <p:pic>
        <p:nvPicPr>
          <p:cNvPr id="6" name="Picture 5" descr="Two lead pencils, with left pencil off centre, both pencils individually placed.">
            <a:extLst>
              <a:ext uri="{FF2B5EF4-FFF2-40B4-BE49-F238E27FC236}">
                <a16:creationId xmlns:a16="http://schemas.microsoft.com/office/drawing/2014/main" id="{C8937CA6-B6BD-373B-8288-470AD809102E}"/>
              </a:ext>
            </a:extLst>
          </p:cNvPr>
          <p:cNvPicPr>
            <a:picLocks noChangeAspect="1"/>
          </p:cNvPicPr>
          <p:nvPr/>
        </p:nvPicPr>
        <p:blipFill>
          <a:blip r:embed="rId4"/>
          <a:stretch>
            <a:fillRect/>
          </a:stretch>
        </p:blipFill>
        <p:spPr>
          <a:xfrm>
            <a:off x="5315985" y="2970144"/>
            <a:ext cx="1233671" cy="2478406"/>
          </a:xfrm>
          <a:prstGeom prst="rect">
            <a:avLst/>
          </a:prstGeom>
        </p:spPr>
      </p:pic>
      <p:sp>
        <p:nvSpPr>
          <p:cNvPr id="7" name="Picture Placeholder 10">
            <a:extLst>
              <a:ext uri="{FF2B5EF4-FFF2-40B4-BE49-F238E27FC236}">
                <a16:creationId xmlns:a16="http://schemas.microsoft.com/office/drawing/2014/main" id="{C7045967-9898-5ED6-E6DC-069E7C5EEC3C}"/>
              </a:ext>
            </a:extLst>
          </p:cNvPr>
          <p:cNvSpPr txBox="1">
            <a:spLocks/>
          </p:cNvSpPr>
          <p:nvPr/>
        </p:nvSpPr>
        <p:spPr>
          <a:xfrm>
            <a:off x="600963" y="5673777"/>
            <a:ext cx="11243037" cy="915500"/>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latin typeface="Arial"/>
                <a:cs typeface="Arial"/>
              </a:rPr>
              <a:t>Draw the correct </a:t>
            </a:r>
            <a:r>
              <a:rPr lang="en-US" sz="4400" b="1">
                <a:latin typeface="Arial"/>
                <a:cs typeface="Arial"/>
              </a:rPr>
              <a:t>representation</a:t>
            </a:r>
            <a:r>
              <a:rPr lang="en-US" sz="4400">
                <a:latin typeface="Arial"/>
                <a:cs typeface="Arial"/>
              </a:rPr>
              <a:t> of an angle.</a:t>
            </a:r>
            <a:endParaRPr lang="en-US" sz="2000">
              <a:latin typeface="Arial"/>
              <a:cs typeface="Arial"/>
            </a:endParaRPr>
          </a:p>
        </p:txBody>
      </p:sp>
      <p:sp>
        <p:nvSpPr>
          <p:cNvPr id="2" name="Slide Number Placeholder 1">
            <a:extLst>
              <a:ext uri="{FF2B5EF4-FFF2-40B4-BE49-F238E27FC236}">
                <a16:creationId xmlns:a16="http://schemas.microsoft.com/office/drawing/2014/main" id="{8AEC1B69-AE9B-3F77-A4B2-5F8F2302B7B4}"/>
              </a:ext>
            </a:extLst>
          </p:cNvPr>
          <p:cNvSpPr>
            <a:spLocks noGrp="1"/>
          </p:cNvSpPr>
          <p:nvPr>
            <p:ph type="sldNum" sz="quarter" idx="12"/>
          </p:nvPr>
        </p:nvSpPr>
        <p:spPr/>
        <p:txBody>
          <a:bodyPr/>
          <a:lstStyle/>
          <a:p>
            <a:fld id="{10A01DC5-1685-4615-8240-15192985C6A2}" type="slidenum">
              <a:rPr lang="en-AU" smtClean="0"/>
              <a:t>27</a:t>
            </a:fld>
            <a:endParaRPr lang="en-AU"/>
          </a:p>
        </p:txBody>
      </p:sp>
    </p:spTree>
    <p:extLst>
      <p:ext uri="{BB962C8B-B14F-4D97-AF65-F5344CB8AC3E}">
        <p14:creationId xmlns:p14="http://schemas.microsoft.com/office/powerpoint/2010/main" val="3623419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58B9F-C306-6503-3373-9BF6711EAAD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FACE562-8F72-5080-9D69-0EE65AC407BE}"/>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(18)</a:t>
            </a:r>
          </a:p>
        </p:txBody>
      </p:sp>
      <p:pic>
        <p:nvPicPr>
          <p:cNvPr id="4" name="Picture 3" descr="image of a clipboard with a pencil recording short answer responses">
            <a:extLst>
              <a:ext uri="{FF2B5EF4-FFF2-40B4-BE49-F238E27FC236}">
                <a16:creationId xmlns:a16="http://schemas.microsoft.com/office/drawing/2014/main" id="{79624517-4A6E-BCB0-BE3D-E100CB8DC04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50CE3FA9-E73E-0225-40D3-D27739FD5AAA}"/>
              </a:ext>
            </a:extLst>
          </p:cNvPr>
          <p:cNvSpPr>
            <a:spLocks noGrp="1"/>
          </p:cNvSpPr>
          <p:nvPr>
            <p:ph type="pic" sz="quarter" idx="21"/>
          </p:nvPr>
        </p:nvSpPr>
        <p:spPr>
          <a:xfrm>
            <a:off x="200246" y="1018700"/>
            <a:ext cx="11791507" cy="1979681"/>
          </a:xfrm>
        </p:spPr>
        <p:txBody>
          <a:bodyPr/>
          <a:lstStyle/>
          <a:p>
            <a:pPr algn="ctr"/>
            <a:r>
              <a:rPr lang="en-US" sz="4400" dirty="0">
                <a:latin typeface="Arial"/>
                <a:cs typeface="Arial"/>
              </a:rPr>
              <a:t>The </a:t>
            </a:r>
            <a:r>
              <a:rPr lang="en-US" sz="4400" b="1" dirty="0">
                <a:latin typeface="Arial"/>
                <a:cs typeface="Arial"/>
              </a:rPr>
              <a:t>chance</a:t>
            </a:r>
            <a:r>
              <a:rPr lang="en-US" sz="4400" dirty="0">
                <a:latin typeface="Arial"/>
                <a:cs typeface="Arial"/>
              </a:rPr>
              <a:t> of landing on purple is:</a:t>
            </a:r>
          </a:p>
          <a:p>
            <a:pPr algn="ctr"/>
            <a:r>
              <a:rPr lang="en-US" sz="4400" dirty="0">
                <a:latin typeface="Arial"/>
                <a:cs typeface="Arial"/>
              </a:rPr>
              <a:t>impossible, unlikely, equally likely, likely, certain</a:t>
            </a:r>
          </a:p>
          <a:p>
            <a:endParaRPr lang="en-US" dirty="0">
              <a:latin typeface="Arial"/>
              <a:cs typeface="Arial"/>
            </a:endParaRPr>
          </a:p>
        </p:txBody>
      </p:sp>
      <p:graphicFrame>
        <p:nvGraphicFramePr>
          <p:cNvPr id="7" name="Chart 6" descr="A circle divided into to four segments with yellow, blue, orange and purple colours.">
            <a:extLst>
              <a:ext uri="{FF2B5EF4-FFF2-40B4-BE49-F238E27FC236}">
                <a16:creationId xmlns:a16="http://schemas.microsoft.com/office/drawing/2014/main" id="{31993643-E707-1983-465F-84D2D4140A3B}"/>
              </a:ext>
            </a:extLst>
          </p:cNvPr>
          <p:cNvGraphicFramePr/>
          <p:nvPr/>
        </p:nvGraphicFramePr>
        <p:xfrm>
          <a:off x="3212328" y="3379314"/>
          <a:ext cx="5538381" cy="3118686"/>
        </p:xfrm>
        <a:graphic>
          <a:graphicData uri="http://schemas.openxmlformats.org/drawingml/2006/chart">
            <c:chart xmlns:c="http://schemas.openxmlformats.org/drawingml/2006/chart" xmlns:r="http://schemas.openxmlformats.org/officeDocument/2006/relationships" r:id="rId4"/>
          </a:graphicData>
        </a:graphic>
      </p:graphicFrame>
      <p:sp>
        <p:nvSpPr>
          <p:cNvPr id="2" name="Slide Number Placeholder 1">
            <a:extLst>
              <a:ext uri="{FF2B5EF4-FFF2-40B4-BE49-F238E27FC236}">
                <a16:creationId xmlns:a16="http://schemas.microsoft.com/office/drawing/2014/main" id="{F1F2BFEC-E945-6F4C-3309-9F724EDCBBF2}"/>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28</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spTree>
    <p:extLst>
      <p:ext uri="{BB962C8B-B14F-4D97-AF65-F5344CB8AC3E}">
        <p14:creationId xmlns:p14="http://schemas.microsoft.com/office/powerpoint/2010/main" val="2753783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D986D-6D17-4AF1-8968-0D0D4C44B90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BA11519-040C-7679-15EE-A8789BC06BE3}"/>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(15) </a:t>
            </a:r>
          </a:p>
        </p:txBody>
      </p:sp>
      <p:pic>
        <p:nvPicPr>
          <p:cNvPr id="4" name="Picture 3" descr="image of a clipboard with a pencil recording short answer responses">
            <a:extLst>
              <a:ext uri="{FF2B5EF4-FFF2-40B4-BE49-F238E27FC236}">
                <a16:creationId xmlns:a16="http://schemas.microsoft.com/office/drawing/2014/main" id="{26FF086C-E9B9-CA71-EB91-C0AC0EA37979}"/>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6" name="Picture 5" descr="Grid square paper.">
            <a:extLst>
              <a:ext uri="{FF2B5EF4-FFF2-40B4-BE49-F238E27FC236}">
                <a16:creationId xmlns:a16="http://schemas.microsoft.com/office/drawing/2014/main" id="{1589C315-D2E8-E90F-79DC-8B7F997B2C7B}"/>
              </a:ext>
            </a:extLst>
          </p:cNvPr>
          <p:cNvPicPr>
            <a:picLocks noChangeAspect="1"/>
          </p:cNvPicPr>
          <p:nvPr/>
        </p:nvPicPr>
        <p:blipFill>
          <a:blip r:embed="rId4"/>
          <a:stretch>
            <a:fillRect/>
          </a:stretch>
        </p:blipFill>
        <p:spPr>
          <a:xfrm>
            <a:off x="299155" y="1487952"/>
            <a:ext cx="4761006" cy="4307198"/>
          </a:xfrm>
          <a:prstGeom prst="rect">
            <a:avLst/>
          </a:prstGeom>
          <a:ln>
            <a:solidFill>
              <a:srgbClr val="FF0000"/>
            </a:solidFill>
          </a:ln>
          <a:effectLst>
            <a:outerShdw blurRad="63500" sx="102000" sy="102000" algn="ctr" rotWithShape="0">
              <a:prstClr val="black">
                <a:alpha val="40000"/>
              </a:prstClr>
            </a:outerShdw>
          </a:effectLst>
        </p:spPr>
      </p:pic>
      <p:sp>
        <p:nvSpPr>
          <p:cNvPr id="7" name="TextBox 6">
            <a:extLst>
              <a:ext uri="{FF2B5EF4-FFF2-40B4-BE49-F238E27FC236}">
                <a16:creationId xmlns:a16="http://schemas.microsoft.com/office/drawing/2014/main" id="{8C7C955F-16BE-E3DA-E8F2-61B2AD0A7DA2}"/>
              </a:ext>
            </a:extLst>
          </p:cNvPr>
          <p:cNvSpPr txBox="1">
            <a:spLocks/>
          </p:cNvSpPr>
          <p:nvPr/>
        </p:nvSpPr>
        <p:spPr>
          <a:xfrm>
            <a:off x="1468875" y="2523018"/>
            <a:ext cx="2421566" cy="2237065"/>
          </a:xfrm>
          <a:prstGeom prst="rect">
            <a:avLst/>
          </a:prstGeom>
          <a:noFill/>
        </p:spPr>
        <p:txBody>
          <a:bodyPr wrap="square" lIns="0" tIns="0" rIns="0" bIns="0" rtlCol="0">
            <a:noAutofit/>
          </a:bodyPr>
          <a:lstStyle/>
          <a:p>
            <a:pPr algn="ctr">
              <a:lnSpc>
                <a:spcPct val="150000"/>
              </a:lnSpc>
            </a:pPr>
            <a:r>
              <a:rPr lang="en-AU" sz="3200" b="1"/>
              <a:t>6 sixes is </a:t>
            </a:r>
          </a:p>
          <a:p>
            <a:pPr algn="ctr">
              <a:lnSpc>
                <a:spcPct val="150000"/>
              </a:lnSpc>
            </a:pPr>
            <a:r>
              <a:rPr lang="en-AU" sz="3200" b="1"/>
              <a:t>30 square centimetres</a:t>
            </a:r>
          </a:p>
        </p:txBody>
      </p:sp>
      <p:sp>
        <p:nvSpPr>
          <p:cNvPr id="11" name="Picture Placeholder 10">
            <a:extLst>
              <a:ext uri="{FF2B5EF4-FFF2-40B4-BE49-F238E27FC236}">
                <a16:creationId xmlns:a16="http://schemas.microsoft.com/office/drawing/2014/main" id="{352E0507-6E6B-EB8A-88E2-35DDFC075B74}"/>
              </a:ext>
            </a:extLst>
          </p:cNvPr>
          <p:cNvSpPr>
            <a:spLocks noGrp="1"/>
          </p:cNvSpPr>
          <p:nvPr>
            <p:ph type="pic" sz="quarter" idx="21"/>
          </p:nvPr>
        </p:nvSpPr>
        <p:spPr>
          <a:xfrm>
            <a:off x="5348179" y="782773"/>
            <a:ext cx="6254859" cy="5733227"/>
          </a:xfrm>
        </p:spPr>
        <p:txBody>
          <a:bodyPr/>
          <a:lstStyle/>
          <a:p>
            <a:pPr algn="ctr"/>
            <a:r>
              <a:rPr lang="en-US" sz="4400" dirty="0">
                <a:latin typeface="Arial"/>
                <a:cs typeface="Arial"/>
              </a:rPr>
              <a:t>Explain the </a:t>
            </a:r>
            <a:r>
              <a:rPr lang="en-US" sz="4400" b="1" dirty="0">
                <a:latin typeface="Arial"/>
                <a:cs typeface="Arial"/>
              </a:rPr>
              <a:t>error</a:t>
            </a:r>
            <a:r>
              <a:rPr lang="en-US" sz="4400" dirty="0">
                <a:latin typeface="Arial"/>
                <a:cs typeface="Arial"/>
              </a:rPr>
              <a:t> made when finding the </a:t>
            </a:r>
            <a:r>
              <a:rPr lang="en-US" sz="4400" b="1" dirty="0">
                <a:latin typeface="Arial"/>
                <a:cs typeface="Arial"/>
              </a:rPr>
              <a:t>area</a:t>
            </a:r>
            <a:r>
              <a:rPr lang="en-US" sz="4400" dirty="0">
                <a:latin typeface="Arial"/>
                <a:cs typeface="Arial"/>
              </a:rPr>
              <a:t> of this rectangle.</a:t>
            </a:r>
          </a:p>
          <a:p>
            <a:pPr algn="ctr"/>
            <a:r>
              <a:rPr lang="en-US" sz="4400" dirty="0">
                <a:latin typeface="Arial"/>
                <a:cs typeface="Arial"/>
              </a:rPr>
              <a:t>What </a:t>
            </a:r>
            <a:r>
              <a:rPr lang="en-US" sz="4400" b="1" dirty="0">
                <a:latin typeface="Arial"/>
                <a:cs typeface="Arial"/>
              </a:rPr>
              <a:t>strategies</a:t>
            </a:r>
            <a:r>
              <a:rPr lang="en-US" sz="4400" dirty="0">
                <a:latin typeface="Arial"/>
                <a:cs typeface="Arial"/>
              </a:rPr>
              <a:t> did you use to find the correct area?</a:t>
            </a:r>
          </a:p>
        </p:txBody>
      </p:sp>
      <p:sp>
        <p:nvSpPr>
          <p:cNvPr id="2" name="Slide Number Placeholder 1">
            <a:extLst>
              <a:ext uri="{FF2B5EF4-FFF2-40B4-BE49-F238E27FC236}">
                <a16:creationId xmlns:a16="http://schemas.microsoft.com/office/drawing/2014/main" id="{EA1E5DD1-AEBC-FDC0-6BF2-FB696E3A8062}"/>
              </a:ext>
            </a:extLst>
          </p:cNvPr>
          <p:cNvSpPr>
            <a:spLocks noGrp="1"/>
          </p:cNvSpPr>
          <p:nvPr>
            <p:ph type="sldNum" sz="quarter" idx="12"/>
          </p:nvPr>
        </p:nvSpPr>
        <p:spPr/>
        <p:txBody>
          <a:bodyPr/>
          <a:lstStyle/>
          <a:p>
            <a:fld id="{10A01DC5-1685-4615-8240-15192985C6A2}" type="slidenum">
              <a:rPr lang="en-AU" smtClean="0"/>
              <a:t>29</a:t>
            </a:fld>
            <a:endParaRPr lang="en-AU"/>
          </a:p>
        </p:txBody>
      </p:sp>
      <p:pic>
        <p:nvPicPr>
          <p:cNvPr id="8" name="Picture 7">
            <a:extLst>
              <a:ext uri="{FF2B5EF4-FFF2-40B4-BE49-F238E27FC236}">
                <a16:creationId xmlns:a16="http://schemas.microsoft.com/office/drawing/2014/main" id="{6C9BE345-718E-6812-2E3A-7FC1342F4546}"/>
              </a:ext>
            </a:extLst>
          </p:cNvPr>
          <p:cNvPicPr>
            <a:picLocks noChangeAspect="1"/>
          </p:cNvPicPr>
          <p:nvPr/>
        </p:nvPicPr>
        <p:blipFill>
          <a:blip r:embed="rId5"/>
          <a:stretch>
            <a:fillRect/>
          </a:stretch>
        </p:blipFill>
        <p:spPr>
          <a:xfrm>
            <a:off x="3757081" y="2266873"/>
            <a:ext cx="533459" cy="512290"/>
          </a:xfrm>
          <a:prstGeom prst="rect">
            <a:avLst/>
          </a:prstGeom>
        </p:spPr>
      </p:pic>
    </p:spTree>
    <p:extLst>
      <p:ext uri="{BB962C8B-B14F-4D97-AF65-F5344CB8AC3E}">
        <p14:creationId xmlns:p14="http://schemas.microsoft.com/office/powerpoint/2010/main" val="234472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65A73-E634-98E9-DB9B-0D0C734E9F8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DF6C1BB-92D8-F3F1-FD83-E71E6EE5426B}"/>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(16)</a:t>
            </a:r>
          </a:p>
        </p:txBody>
      </p:sp>
      <p:pic>
        <p:nvPicPr>
          <p:cNvPr id="4" name="Picture 3" descr="image of a clipboard with a pencil recording short answer responses">
            <a:extLst>
              <a:ext uri="{FF2B5EF4-FFF2-40B4-BE49-F238E27FC236}">
                <a16:creationId xmlns:a16="http://schemas.microsoft.com/office/drawing/2014/main" id="{A0B7D3FC-8755-D8E4-D7AC-203728BDEE26}"/>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62E43AA6-EE50-7B61-E74B-D734C2893183}"/>
              </a:ext>
            </a:extLst>
          </p:cNvPr>
          <p:cNvSpPr>
            <a:spLocks noGrp="1"/>
          </p:cNvSpPr>
          <p:nvPr>
            <p:ph type="pic" sz="quarter" idx="21"/>
          </p:nvPr>
        </p:nvSpPr>
        <p:spPr>
          <a:xfrm>
            <a:off x="474481" y="1872700"/>
            <a:ext cx="11243037" cy="3112600"/>
          </a:xfrm>
        </p:spPr>
        <p:txBody>
          <a:bodyPr/>
          <a:lstStyle/>
          <a:p>
            <a:pPr algn="ctr"/>
            <a:r>
              <a:rPr lang="en-US" sz="4400" dirty="0">
                <a:latin typeface="Arial"/>
                <a:cs typeface="Arial"/>
              </a:rPr>
              <a:t>The </a:t>
            </a:r>
            <a:r>
              <a:rPr lang="en-US" sz="4400" b="1" dirty="0">
                <a:latin typeface="Arial"/>
                <a:cs typeface="Arial"/>
              </a:rPr>
              <a:t>mass</a:t>
            </a:r>
            <a:r>
              <a:rPr lang="en-US" sz="4400" dirty="0">
                <a:latin typeface="Arial"/>
                <a:cs typeface="Arial"/>
              </a:rPr>
              <a:t> of a pencil should be </a:t>
            </a:r>
            <a:r>
              <a:rPr lang="en-US" sz="4400" b="1" dirty="0">
                <a:latin typeface="Arial"/>
                <a:cs typeface="Arial"/>
              </a:rPr>
              <a:t>measured</a:t>
            </a:r>
            <a:r>
              <a:rPr lang="en-US" sz="4400" dirty="0">
                <a:latin typeface="Arial"/>
                <a:cs typeface="Arial"/>
              </a:rPr>
              <a:t> using kilograms. </a:t>
            </a:r>
          </a:p>
          <a:p>
            <a:pPr algn="ctr"/>
            <a:r>
              <a:rPr lang="en-US" sz="4400" dirty="0">
                <a:latin typeface="Arial"/>
                <a:cs typeface="Arial"/>
              </a:rPr>
              <a:t>Do you agree or disagree? </a:t>
            </a:r>
          </a:p>
          <a:p>
            <a:pPr algn="ctr"/>
            <a:r>
              <a:rPr lang="en-US" sz="4400" b="1" dirty="0">
                <a:latin typeface="Arial"/>
                <a:cs typeface="Arial"/>
              </a:rPr>
              <a:t>Explain</a:t>
            </a:r>
            <a:r>
              <a:rPr lang="en-US" sz="4400" dirty="0">
                <a:latin typeface="Arial"/>
                <a:cs typeface="Arial"/>
              </a:rPr>
              <a:t> your </a:t>
            </a:r>
            <a:r>
              <a:rPr lang="en-US" sz="4400" b="1" dirty="0">
                <a:latin typeface="Arial"/>
                <a:cs typeface="Arial"/>
              </a:rPr>
              <a:t>thinking</a:t>
            </a:r>
            <a:r>
              <a:rPr lang="en-US" sz="4400" dirty="0">
                <a:latin typeface="Arial"/>
                <a:cs typeface="Arial"/>
              </a:rPr>
              <a:t>.</a:t>
            </a:r>
          </a:p>
          <a:p>
            <a:endParaRPr lang="en-US" sz="4400" dirty="0">
              <a:latin typeface="Arial"/>
              <a:cs typeface="Arial"/>
            </a:endParaRPr>
          </a:p>
        </p:txBody>
      </p:sp>
      <p:sp>
        <p:nvSpPr>
          <p:cNvPr id="2" name="Slide Number Placeholder 1">
            <a:extLst>
              <a:ext uri="{FF2B5EF4-FFF2-40B4-BE49-F238E27FC236}">
                <a16:creationId xmlns:a16="http://schemas.microsoft.com/office/drawing/2014/main" id="{8DAE7550-980B-6F74-1F50-776AFA7A5FAF}"/>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4173883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9953581" cy="545601"/>
          </a:xfrm>
        </p:spPr>
        <p:txBody>
          <a:bodyPr/>
          <a:lstStyle/>
          <a:p>
            <a:r>
              <a:rPr lang="en-AU">
                <a:latin typeface="Arial"/>
                <a:cs typeface="Arial"/>
              </a:rPr>
              <a:t>Activity 4 – target number</a:t>
            </a:r>
          </a:p>
        </p:txBody>
      </p:sp>
      <p:pic>
        <p:nvPicPr>
          <p:cNvPr id="5" name="Picture 4" descr="image of a head with cogs turning inside">
            <a:extLst>
              <a:ext uri="{FF2B5EF4-FFF2-40B4-BE49-F238E27FC236}">
                <a16:creationId xmlns:a16="http://schemas.microsoft.com/office/drawing/2014/main" id="{3E26FEA5-AAB5-64B6-485D-B7029E53EEE7}"/>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12" name="Picture 11" descr="Which number is closest cards. Card 1 - 7831 a 7800 b 7840 c 7931 d 7900. &#10;Card 2 400 a 39 tens b 50 tens - 30 c 20 tens + 250 d 4 tens + 290.&#10;Card 3 8256 a 82 hundreds b  83 hundreds c 80 hundreds + 56 tens d 852 tens.&#10;Card 4 no number a 52 hundreds b 53 hundreds c 51 hundreds + 15 tens d 528 tens.">
            <a:extLst>
              <a:ext uri="{FF2B5EF4-FFF2-40B4-BE49-F238E27FC236}">
                <a16:creationId xmlns:a16="http://schemas.microsoft.com/office/drawing/2014/main" id="{7B9AD858-10B2-63DB-C704-FAF5C7C7FE37}"/>
              </a:ext>
            </a:extLst>
          </p:cNvPr>
          <p:cNvPicPr>
            <a:picLocks noChangeAspect="1"/>
          </p:cNvPicPr>
          <p:nvPr/>
        </p:nvPicPr>
        <p:blipFill>
          <a:blip r:embed="rId4"/>
          <a:stretch>
            <a:fillRect/>
          </a:stretch>
        </p:blipFill>
        <p:spPr>
          <a:xfrm>
            <a:off x="748373" y="1340753"/>
            <a:ext cx="10695254" cy="5081311"/>
          </a:xfrm>
          <a:prstGeom prst="rect">
            <a:avLst/>
          </a:prstGeom>
        </p:spPr>
      </p:pic>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31</a:t>
            </a:fld>
            <a:endParaRPr lang="en-AU"/>
          </a:p>
        </p:txBody>
      </p:sp>
    </p:spTree>
    <p:extLst>
      <p:ext uri="{BB962C8B-B14F-4D97-AF65-F5344CB8AC3E}">
        <p14:creationId xmlns:p14="http://schemas.microsoft.com/office/powerpoint/2010/main" val="366471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AA317-177A-AB71-ADCD-8AE5EF981A1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9A12372-C1A2-E699-0EC6-99DCA1418796}"/>
              </a:ext>
            </a:extLst>
          </p:cNvPr>
          <p:cNvSpPr>
            <a:spLocks noGrp="1"/>
          </p:cNvSpPr>
          <p:nvPr>
            <p:ph type="ctrTitle"/>
          </p:nvPr>
        </p:nvSpPr>
        <p:spPr/>
        <p:txBody>
          <a:bodyPr/>
          <a:lstStyle/>
          <a:p>
            <a:r>
              <a:rPr lang="en-AU">
                <a:latin typeface="+mj-lt"/>
                <a:cs typeface="Arial"/>
              </a:rPr>
              <a:t>Review of learning 5</a:t>
            </a:r>
            <a:endParaRPr lang="en-AU">
              <a:latin typeface="+mj-lt"/>
            </a:endParaRPr>
          </a:p>
        </p:txBody>
      </p:sp>
    </p:spTree>
    <p:extLst>
      <p:ext uri="{BB962C8B-B14F-4D97-AF65-F5344CB8AC3E}">
        <p14:creationId xmlns:p14="http://schemas.microsoft.com/office/powerpoint/2010/main" val="2658045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latin typeface="Arial"/>
                <a:cs typeface="Arial"/>
              </a:rPr>
              <a:t>Multiple choice </a:t>
            </a:r>
            <a:r>
              <a:rPr lang="en-US">
                <a:solidFill>
                  <a:schemeClr val="bg1"/>
                </a:solidFill>
                <a:latin typeface="Arial"/>
                <a:cs typeface="Arial"/>
              </a:rPr>
              <a:t>(3)</a:t>
            </a:r>
          </a:p>
        </p:txBody>
      </p:sp>
      <p:pic>
        <p:nvPicPr>
          <p:cNvPr id="5" name="Picture 4" descr="image of a finger selecting an option for a multiple choice or true and false">
            <a:extLst>
              <a:ext uri="{FF2B5EF4-FFF2-40B4-BE49-F238E27FC236}">
                <a16:creationId xmlns:a16="http://schemas.microsoft.com/office/drawing/2014/main" id="{A82A1270-19CB-992D-68A3-CD35F91982EE}"/>
              </a:ext>
            </a:extLst>
          </p:cNvPr>
          <p:cNvPicPr>
            <a:picLocks noChangeAspect="1"/>
          </p:cNvPicPr>
          <p:nvPr/>
        </p:nvPicPr>
        <p:blipFill>
          <a:blip r:embed="rId3"/>
          <a:stretch>
            <a:fillRect/>
          </a:stretch>
        </p:blipFill>
        <p:spPr>
          <a:xfrm>
            <a:off x="10807908" y="43303"/>
            <a:ext cx="1165786" cy="1140716"/>
          </a:xfrm>
          <a:prstGeom prst="rect">
            <a:avLst/>
          </a:prstGeom>
        </p:spPr>
      </p:pic>
      <p:pic>
        <p:nvPicPr>
          <p:cNvPr id="7" name="Picture 6" descr="A number line from 0 to 1 with a blue rectangle shading to three eighths.">
            <a:extLst>
              <a:ext uri="{FF2B5EF4-FFF2-40B4-BE49-F238E27FC236}">
                <a16:creationId xmlns:a16="http://schemas.microsoft.com/office/drawing/2014/main" id="{E9755B24-9C5C-27F6-6462-A2B1C807EC36}"/>
              </a:ext>
            </a:extLst>
          </p:cNvPr>
          <p:cNvPicPr>
            <a:picLocks noChangeAspect="1"/>
          </p:cNvPicPr>
          <p:nvPr/>
        </p:nvPicPr>
        <p:blipFill>
          <a:blip r:embed="rId4"/>
          <a:stretch>
            <a:fillRect/>
          </a:stretch>
        </p:blipFill>
        <p:spPr>
          <a:xfrm>
            <a:off x="2923937" y="923698"/>
            <a:ext cx="6597088" cy="1956334"/>
          </a:xfrm>
          <a:prstGeom prst="rect">
            <a:avLst/>
          </a:prstGeom>
        </p:spPr>
      </p:pic>
      <mc:AlternateContent xmlns:mc="http://schemas.openxmlformats.org/markup-compatibility/2006" xmlns:a14="http://schemas.microsoft.com/office/drawing/2010/main">
        <mc:Choice Requires="a14">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a:xfrm>
                <a:off x="474481" y="2944483"/>
                <a:ext cx="11243037" cy="3397493"/>
              </a:xfrm>
            </p:spPr>
            <p:txBody>
              <a:bodyPr vert="horz" lIns="0" tIns="0" rIns="0" bIns="0" rtlCol="0" anchor="t">
                <a:noAutofit/>
              </a:bodyPr>
              <a:lstStyle/>
              <a:p>
                <a:pPr algn="ctr"/>
                <a:r>
                  <a:rPr lang="en-US" sz="4000" dirty="0">
                    <a:latin typeface="Arial"/>
                    <a:cs typeface="Arial"/>
                  </a:rPr>
                  <a:t>The </a:t>
                </a:r>
                <a:r>
                  <a:rPr lang="en-US" sz="4000" b="1" dirty="0">
                    <a:latin typeface="Arial"/>
                    <a:cs typeface="Arial"/>
                  </a:rPr>
                  <a:t>fractional part </a:t>
                </a:r>
                <a:r>
                  <a:rPr lang="en-US" sz="4000" dirty="0">
                    <a:latin typeface="Arial"/>
                    <a:cs typeface="Arial"/>
                  </a:rPr>
                  <a:t>needed</a:t>
                </a:r>
                <a:r>
                  <a:rPr lang="en-US" sz="4000" b="1" dirty="0">
                    <a:latin typeface="Arial"/>
                    <a:cs typeface="Arial"/>
                  </a:rPr>
                  <a:t> </a:t>
                </a:r>
                <a:r>
                  <a:rPr lang="en-US" sz="4000" dirty="0">
                    <a:latin typeface="Arial"/>
                    <a:cs typeface="Arial"/>
                  </a:rPr>
                  <a:t>to make the whole is:</a:t>
                </a:r>
              </a:p>
              <a:p>
                <a:r>
                  <a:rPr lang="en-US" sz="4000" dirty="0">
                    <a:latin typeface="Arial"/>
                    <a:cs typeface="Arial"/>
                  </a:rPr>
                  <a:t>	</a:t>
                </a:r>
                <a:r>
                  <a:rPr lang="en-US" sz="4000" b="1" dirty="0">
                    <a:latin typeface="Arial"/>
                    <a:cs typeface="Arial"/>
                  </a:rPr>
                  <a:t>A</a:t>
                </a:r>
                <a:r>
                  <a:rPr lang="en-US" sz="4000" dirty="0">
                    <a:latin typeface="Arial"/>
                    <a:cs typeface="Arial"/>
                  </a:rPr>
                  <a:t>			</a:t>
                </a:r>
                <a:r>
                  <a:rPr lang="en-US" sz="4000" b="1" dirty="0">
                    <a:latin typeface="Arial"/>
                    <a:cs typeface="Arial"/>
                  </a:rPr>
                  <a:t>B</a:t>
                </a:r>
                <a:r>
                  <a:rPr lang="en-US" sz="4000" dirty="0">
                    <a:latin typeface="Arial"/>
                    <a:cs typeface="Arial"/>
                  </a:rPr>
                  <a:t>			</a:t>
                </a:r>
                <a:r>
                  <a:rPr lang="en-US" sz="4000" b="1" dirty="0">
                    <a:latin typeface="Arial"/>
                    <a:cs typeface="Arial"/>
                  </a:rPr>
                  <a:t>C</a:t>
                </a:r>
                <a:r>
                  <a:rPr lang="en-US" sz="4000" dirty="0">
                    <a:latin typeface="Arial"/>
                    <a:cs typeface="Arial"/>
                  </a:rPr>
                  <a:t>			</a:t>
                </a:r>
                <a:r>
                  <a:rPr lang="en-US" sz="4000" b="1" dirty="0">
                    <a:latin typeface="Arial"/>
                    <a:cs typeface="Arial"/>
                  </a:rPr>
                  <a:t>D</a:t>
                </a:r>
              </a:p>
              <a:p>
                <a:r>
                  <a:rPr lang="en-US" sz="4000" dirty="0">
                    <a:latin typeface="Arial"/>
                    <a:cs typeface="Arial"/>
                  </a:rPr>
                  <a:t>	</a:t>
                </a:r>
                <a14:m>
                  <m:oMath xmlns:m="http://schemas.openxmlformats.org/officeDocument/2006/math">
                    <m:f>
                      <m:fPr>
                        <m:ctrlPr>
                          <a:rPr lang="en-AU" sz="4000" i="1">
                            <a:latin typeface="Cambria Math" panose="02040503050406030204" pitchFamily="18" charset="0"/>
                          </a:rPr>
                        </m:ctrlPr>
                      </m:fPr>
                      <m:num>
                        <m:r>
                          <a:rPr lang="en-AU" sz="4000" i="1">
                            <a:latin typeface="Cambria Math" panose="02040503050406030204" pitchFamily="18" charset="0"/>
                          </a:rPr>
                          <m:t>1</m:t>
                        </m:r>
                      </m:num>
                      <m:den>
                        <m:r>
                          <a:rPr lang="en-AU" sz="4000" b="0" i="1" smtClean="0">
                            <a:latin typeface="Cambria Math" panose="02040503050406030204" pitchFamily="18" charset="0"/>
                          </a:rPr>
                          <m:t>8</m:t>
                        </m:r>
                      </m:den>
                    </m:f>
                    <m:r>
                      <a:rPr lang="en-AU" sz="4000" i="1">
                        <a:latin typeface="Cambria Math" panose="02040503050406030204" pitchFamily="18" charset="0"/>
                      </a:rPr>
                      <m:t> </m:t>
                    </m:r>
                  </m:oMath>
                </a14:m>
                <a:r>
                  <a:rPr lang="en-US" sz="4000" dirty="0">
                    <a:latin typeface="Arial"/>
                    <a:cs typeface="Arial"/>
                  </a:rPr>
                  <a:t>		</a:t>
                </a:r>
                <a:r>
                  <a:rPr lang="en-AU" sz="4000" dirty="0"/>
                  <a:t> 	</a:t>
                </a:r>
                <a14:m>
                  <m:oMath xmlns:m="http://schemas.openxmlformats.org/officeDocument/2006/math">
                    <m:f>
                      <m:fPr>
                        <m:ctrlPr>
                          <a:rPr lang="en-AU" sz="4000" i="1">
                            <a:latin typeface="Cambria Math" panose="02040503050406030204" pitchFamily="18" charset="0"/>
                          </a:rPr>
                        </m:ctrlPr>
                      </m:fPr>
                      <m:num>
                        <m:r>
                          <a:rPr lang="en-AU" sz="4000" b="0" i="1" smtClean="0">
                            <a:latin typeface="Cambria Math" panose="02040503050406030204" pitchFamily="18" charset="0"/>
                          </a:rPr>
                          <m:t>3</m:t>
                        </m:r>
                      </m:num>
                      <m:den>
                        <m:r>
                          <a:rPr lang="en-AU" sz="4000" b="0" i="1" smtClean="0">
                            <a:latin typeface="Cambria Math" panose="02040503050406030204" pitchFamily="18" charset="0"/>
                          </a:rPr>
                          <m:t>8</m:t>
                        </m:r>
                      </m:den>
                    </m:f>
                  </m:oMath>
                </a14:m>
                <a:r>
                  <a:rPr lang="en-US" sz="4000" dirty="0">
                    <a:latin typeface="Arial"/>
                    <a:cs typeface="Arial"/>
                  </a:rPr>
                  <a:t>			</a:t>
                </a:r>
                <a14:m>
                  <m:oMath xmlns:m="http://schemas.openxmlformats.org/officeDocument/2006/math">
                    <m:f>
                      <m:fPr>
                        <m:ctrlPr>
                          <a:rPr lang="en-AU" sz="4000" i="1">
                            <a:latin typeface="Cambria Math" panose="02040503050406030204" pitchFamily="18" charset="0"/>
                          </a:rPr>
                        </m:ctrlPr>
                      </m:fPr>
                      <m:num>
                        <m:r>
                          <a:rPr lang="en-AU" sz="4000" b="0" i="1" smtClean="0">
                            <a:latin typeface="Cambria Math" panose="02040503050406030204" pitchFamily="18" charset="0"/>
                          </a:rPr>
                          <m:t>8</m:t>
                        </m:r>
                      </m:num>
                      <m:den>
                        <m:r>
                          <a:rPr lang="en-AU" sz="4000" b="0" i="1" smtClean="0">
                            <a:latin typeface="Cambria Math" panose="02040503050406030204" pitchFamily="18" charset="0"/>
                          </a:rPr>
                          <m:t>8</m:t>
                        </m:r>
                      </m:den>
                    </m:f>
                  </m:oMath>
                </a14:m>
                <a:r>
                  <a:rPr lang="en-US" sz="4000" dirty="0">
                    <a:latin typeface="Arial"/>
                    <a:cs typeface="Arial"/>
                  </a:rPr>
                  <a:t>			</a:t>
                </a:r>
                <a14:m>
                  <m:oMath xmlns:m="http://schemas.openxmlformats.org/officeDocument/2006/math">
                    <m:f>
                      <m:fPr>
                        <m:ctrlPr>
                          <a:rPr lang="en-AU" sz="4000" i="1">
                            <a:latin typeface="Cambria Math" panose="02040503050406030204" pitchFamily="18" charset="0"/>
                          </a:rPr>
                        </m:ctrlPr>
                      </m:fPr>
                      <m:num>
                        <m:r>
                          <a:rPr lang="en-AU" sz="4000" b="0" i="1" smtClean="0">
                            <a:latin typeface="Cambria Math" panose="02040503050406030204" pitchFamily="18" charset="0"/>
                          </a:rPr>
                          <m:t>5</m:t>
                        </m:r>
                      </m:num>
                      <m:den>
                        <m:r>
                          <a:rPr lang="en-AU" sz="4000" b="0" i="1" smtClean="0">
                            <a:latin typeface="Cambria Math" panose="02040503050406030204" pitchFamily="18" charset="0"/>
                          </a:rPr>
                          <m:t>8</m:t>
                        </m:r>
                      </m:den>
                    </m:f>
                  </m:oMath>
                </a14:m>
                <a:endParaRPr lang="en-US" sz="4000" dirty="0">
                  <a:latin typeface="Arial"/>
                  <a:cs typeface="Arial"/>
                </a:endParaRPr>
              </a:p>
              <a:p>
                <a:endParaRPr lang="en-AU" sz="3600" dirty="0"/>
              </a:p>
              <a:p>
                <a:endParaRPr lang="en-US" sz="3600" dirty="0"/>
              </a:p>
            </p:txBody>
          </p:sp>
        </mc:Choice>
        <mc:Fallback xmlns="">
          <p:sp>
            <p:nvSpPr>
              <p:cNvPr id="18" name="Text Placeholder 17">
                <a:extLst>
                  <a:ext uri="{FF2B5EF4-FFF2-40B4-BE49-F238E27FC236}">
                    <a16:creationId xmlns:a16="http://schemas.microsoft.com/office/drawing/2014/main" id="{E8FE2C2C-AE76-908D-8B08-A054EB3D8479}"/>
                  </a:ext>
                </a:extLst>
              </p:cNvPr>
              <p:cNvSpPr>
                <a:spLocks noGrp="1" noRot="1" noChangeAspect="1" noMove="1" noResize="1" noEditPoints="1" noAdjustHandles="1" noChangeArrowheads="1" noChangeShapeType="1" noTextEdit="1"/>
              </p:cNvSpPr>
              <p:nvPr>
                <p:ph type="body" sz="quarter" idx="24"/>
              </p:nvPr>
            </p:nvSpPr>
            <p:spPr>
              <a:xfrm>
                <a:off x="474481" y="2944483"/>
                <a:ext cx="11243037" cy="3397493"/>
              </a:xfrm>
              <a:blipFill>
                <a:blip r:embed="rId5"/>
                <a:stretch>
                  <a:fillRect l="-2386" r="-2332"/>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D2BD3-C0AF-4708-6300-CAF6418A984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7F9A0C-D005-60FF-B9A6-94BD6542024F}"/>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(17)</a:t>
            </a:r>
          </a:p>
        </p:txBody>
      </p:sp>
      <p:pic>
        <p:nvPicPr>
          <p:cNvPr id="4" name="Picture 3" descr="image of a clipboard with a pencil recording short answer responses">
            <a:extLst>
              <a:ext uri="{FF2B5EF4-FFF2-40B4-BE49-F238E27FC236}">
                <a16:creationId xmlns:a16="http://schemas.microsoft.com/office/drawing/2014/main" id="{78965A65-E5BC-2C4E-B55B-9EF446DC1F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E3076825-3639-8154-0BA8-58E1ADFFDA47}"/>
              </a:ext>
            </a:extLst>
          </p:cNvPr>
          <p:cNvSpPr>
            <a:spLocks noGrp="1"/>
          </p:cNvSpPr>
          <p:nvPr>
            <p:ph type="pic" sz="quarter" idx="21"/>
          </p:nvPr>
        </p:nvSpPr>
        <p:spPr>
          <a:xfrm>
            <a:off x="907075" y="752920"/>
            <a:ext cx="10148887" cy="1947750"/>
          </a:xfrm>
        </p:spPr>
        <p:txBody>
          <a:bodyPr/>
          <a:lstStyle/>
          <a:p>
            <a:pPr algn="ctr"/>
            <a:r>
              <a:rPr lang="en-US" sz="4400" dirty="0">
                <a:latin typeface="Arial"/>
                <a:cs typeface="Arial"/>
              </a:rPr>
              <a:t>Name the 2 angles. Are they the same size? Explain your thinking to a partner. </a:t>
            </a:r>
          </a:p>
          <a:p>
            <a:endParaRPr lang="en-US" dirty="0">
              <a:latin typeface="Arial"/>
              <a:cs typeface="Arial"/>
            </a:endParaRPr>
          </a:p>
        </p:txBody>
      </p:sp>
      <p:sp>
        <p:nvSpPr>
          <p:cNvPr id="2" name="Slide Number Placeholder 1">
            <a:extLst>
              <a:ext uri="{FF2B5EF4-FFF2-40B4-BE49-F238E27FC236}">
                <a16:creationId xmlns:a16="http://schemas.microsoft.com/office/drawing/2014/main" id="{40130AEC-A203-6E6F-E5BE-64487BE37563}"/>
              </a:ext>
            </a:extLst>
          </p:cNvPr>
          <p:cNvSpPr>
            <a:spLocks noGrp="1"/>
          </p:cNvSpPr>
          <p:nvPr>
            <p:ph type="sldNum" sz="quarter" idx="12"/>
          </p:nvPr>
        </p:nvSpPr>
        <p:spPr/>
        <p:txBody>
          <a:bodyPr/>
          <a:lstStyle/>
          <a:p>
            <a:fld id="{10A01DC5-1685-4615-8240-15192985C6A2}" type="slidenum">
              <a:rPr lang="en-AU" smtClean="0"/>
              <a:t>34</a:t>
            </a:fld>
            <a:endParaRPr lang="en-AU"/>
          </a:p>
        </p:txBody>
      </p:sp>
      <p:pic>
        <p:nvPicPr>
          <p:cNvPr id="7" name="Picture 6" descr="Two right angles with arms different lengths">
            <a:extLst>
              <a:ext uri="{FF2B5EF4-FFF2-40B4-BE49-F238E27FC236}">
                <a16:creationId xmlns:a16="http://schemas.microsoft.com/office/drawing/2014/main" id="{C1FB9556-68EF-6950-5771-87BF4DBB76AA}"/>
              </a:ext>
            </a:extLst>
          </p:cNvPr>
          <p:cNvPicPr>
            <a:picLocks noChangeAspect="1"/>
          </p:cNvPicPr>
          <p:nvPr/>
        </p:nvPicPr>
        <p:blipFill>
          <a:blip r:embed="rId4"/>
          <a:stretch>
            <a:fillRect/>
          </a:stretch>
        </p:blipFill>
        <p:spPr>
          <a:xfrm>
            <a:off x="3342316" y="3020170"/>
            <a:ext cx="5507367" cy="358583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672030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F1E5F-B635-9667-96B3-69F62902BE7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A3748F1-F907-7A1D-7901-3EC935EBAA56}"/>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(22)</a:t>
            </a:r>
          </a:p>
        </p:txBody>
      </p:sp>
      <p:pic>
        <p:nvPicPr>
          <p:cNvPr id="4" name="Picture 3" descr="image of a clipboard with a pencil recording short answer responses">
            <a:extLst>
              <a:ext uri="{FF2B5EF4-FFF2-40B4-BE49-F238E27FC236}">
                <a16:creationId xmlns:a16="http://schemas.microsoft.com/office/drawing/2014/main" id="{6D01C18C-EFBD-CAF2-A1E3-25C6B1C3A2F9}"/>
              </a:ext>
            </a:extLst>
          </p:cNvPr>
          <p:cNvPicPr>
            <a:picLocks noChangeAspect="1"/>
          </p:cNvPicPr>
          <p:nvPr/>
        </p:nvPicPr>
        <p:blipFill>
          <a:blip r:embed="rId3"/>
          <a:stretch>
            <a:fillRect/>
          </a:stretch>
        </p:blipFill>
        <p:spPr>
          <a:xfrm>
            <a:off x="11124000" y="68108"/>
            <a:ext cx="915500" cy="915500"/>
          </a:xfrm>
          <a:prstGeom prst="rect">
            <a:avLst/>
          </a:prstGeom>
        </p:spPr>
      </p:pic>
      <p:sp>
        <p:nvSpPr>
          <p:cNvPr id="13" name="TextBox 12">
            <a:extLst>
              <a:ext uri="{FF2B5EF4-FFF2-40B4-BE49-F238E27FC236}">
                <a16:creationId xmlns:a16="http://schemas.microsoft.com/office/drawing/2014/main" id="{A893CCCB-25A9-2F40-E010-6947648372E6}"/>
              </a:ext>
            </a:extLst>
          </p:cNvPr>
          <p:cNvSpPr txBox="1"/>
          <p:nvPr/>
        </p:nvSpPr>
        <p:spPr>
          <a:xfrm>
            <a:off x="360000" y="1209551"/>
            <a:ext cx="11124000" cy="2170553"/>
          </a:xfrm>
          <a:prstGeom prst="rect">
            <a:avLst/>
          </a:prstGeom>
          <a:noFill/>
        </p:spPr>
        <p:txBody>
          <a:bodyPr wrap="square" lIns="0" tIns="0" rIns="0" bIns="0" rtlCol="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srgbClr val="22272B"/>
                </a:solidFill>
                <a:effectLst/>
                <a:uLnTx/>
                <a:uFillTx/>
                <a:latin typeface="Arial" panose="020B0604020202020204"/>
                <a:ea typeface="+mn-ea"/>
                <a:cs typeface="+mn-cs"/>
              </a:rPr>
              <a:t>Explain why the intervals in this graph are in multiples of ten.</a:t>
            </a:r>
          </a:p>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dirty="0">
              <a:ln>
                <a:noFill/>
              </a:ln>
              <a:solidFill>
                <a:srgbClr val="22272B"/>
              </a:solidFill>
              <a:effectLst/>
              <a:uLnTx/>
              <a:uFillTx/>
              <a:latin typeface="Arial" panose="020B0604020202020204"/>
              <a:ea typeface="+mn-ea"/>
              <a:cs typeface="+mn-cs"/>
            </a:endParaRPr>
          </a:p>
        </p:txBody>
      </p:sp>
      <p:graphicFrame>
        <p:nvGraphicFramePr>
          <p:cNvPr id="10" name="Chart 9" descr="A graph of favourite playground equipment with responses of 40 slides, 60 climbing equipment, 25 skate and bike ramp, 15 swings and 60 ball game facilities.">
            <a:extLst>
              <a:ext uri="{FF2B5EF4-FFF2-40B4-BE49-F238E27FC236}">
                <a16:creationId xmlns:a16="http://schemas.microsoft.com/office/drawing/2014/main" id="{E7C7B703-F9E6-C04B-6DB8-2EC240A72D1A}"/>
              </a:ext>
            </a:extLst>
          </p:cNvPr>
          <p:cNvGraphicFramePr/>
          <p:nvPr>
            <p:extLst>
              <p:ext uri="{D42A27DB-BD31-4B8C-83A1-F6EECF244321}">
                <p14:modId xmlns:p14="http://schemas.microsoft.com/office/powerpoint/2010/main" val="166681005"/>
              </p:ext>
            </p:extLst>
          </p:nvPr>
        </p:nvGraphicFramePr>
        <p:xfrm>
          <a:off x="2839504" y="2915614"/>
          <a:ext cx="5755089" cy="3145695"/>
        </p:xfrm>
        <a:graphic>
          <a:graphicData uri="http://schemas.openxmlformats.org/drawingml/2006/chart">
            <c:chart xmlns:c="http://schemas.openxmlformats.org/drawingml/2006/chart" xmlns:r="http://schemas.openxmlformats.org/officeDocument/2006/relationships" r:id="rId4"/>
          </a:graphicData>
        </a:graphic>
      </p:graphicFrame>
      <p:sp>
        <p:nvSpPr>
          <p:cNvPr id="2" name="Slide Number Placeholder 1">
            <a:extLst>
              <a:ext uri="{FF2B5EF4-FFF2-40B4-BE49-F238E27FC236}">
                <a16:creationId xmlns:a16="http://schemas.microsoft.com/office/drawing/2014/main" id="{E0F669AE-7C94-857B-9AB6-5BB0EF9FD9DD}"/>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35</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spTree>
    <p:extLst>
      <p:ext uri="{BB962C8B-B14F-4D97-AF65-F5344CB8AC3E}">
        <p14:creationId xmlns:p14="http://schemas.microsoft.com/office/powerpoint/2010/main" val="3255759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E5171-1234-D0DF-8708-3925C62E7E7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C79D7C8-F241-CB18-CA93-BC27C3BD3394}"/>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(19)</a:t>
            </a:r>
          </a:p>
        </p:txBody>
      </p:sp>
      <p:pic>
        <p:nvPicPr>
          <p:cNvPr id="4" name="Picture 3" descr="image of a clipboard with a pencil recording short answer responses">
            <a:extLst>
              <a:ext uri="{FF2B5EF4-FFF2-40B4-BE49-F238E27FC236}">
                <a16:creationId xmlns:a16="http://schemas.microsoft.com/office/drawing/2014/main" id="{DDE2B47A-8CF9-35B2-EC15-2BFADBD1573B}"/>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6" name="Picture 5" descr="A leaf with a grid overlay.">
            <a:extLst>
              <a:ext uri="{FF2B5EF4-FFF2-40B4-BE49-F238E27FC236}">
                <a16:creationId xmlns:a16="http://schemas.microsoft.com/office/drawing/2014/main" id="{F3286157-9896-2863-312C-D8CA2F738FDB}"/>
              </a:ext>
            </a:extLst>
          </p:cNvPr>
          <p:cNvPicPr>
            <a:picLocks noChangeAspect="1"/>
          </p:cNvPicPr>
          <p:nvPr/>
        </p:nvPicPr>
        <p:blipFill>
          <a:blip r:embed="rId4"/>
          <a:stretch>
            <a:fillRect/>
          </a:stretch>
        </p:blipFill>
        <p:spPr>
          <a:xfrm>
            <a:off x="246024" y="1166223"/>
            <a:ext cx="5392974" cy="5331777"/>
          </a:xfrm>
          <a:prstGeom prst="rect">
            <a:avLst/>
          </a:prstGeom>
        </p:spPr>
      </p:pic>
      <p:sp>
        <p:nvSpPr>
          <p:cNvPr id="13" name="TextBox 12">
            <a:extLst>
              <a:ext uri="{FF2B5EF4-FFF2-40B4-BE49-F238E27FC236}">
                <a16:creationId xmlns:a16="http://schemas.microsoft.com/office/drawing/2014/main" id="{51E0C1DB-5841-D74F-1A5B-6AEA3A4901D3}"/>
              </a:ext>
            </a:extLst>
          </p:cNvPr>
          <p:cNvSpPr txBox="1"/>
          <p:nvPr/>
        </p:nvSpPr>
        <p:spPr>
          <a:xfrm>
            <a:off x="6096000" y="1166223"/>
            <a:ext cx="4849284" cy="4585991"/>
          </a:xfrm>
          <a:prstGeom prst="rect">
            <a:avLst/>
          </a:prstGeom>
          <a:noFill/>
        </p:spPr>
        <p:txBody>
          <a:bodyPr wrap="square" lIns="0" tIns="0" rIns="0" bIns="0" rtlCol="0" anchor="t">
            <a:noAutofit/>
          </a:bodyPr>
          <a:lstStyle/>
          <a:p>
            <a:pPr algn="ctr"/>
            <a:r>
              <a:rPr lang="en-AU" sz="4400"/>
              <a:t>What</a:t>
            </a:r>
            <a:r>
              <a:rPr lang="en-AU" sz="4400" b="1"/>
              <a:t> strategies </a:t>
            </a:r>
            <a:r>
              <a:rPr lang="en-AU" sz="4400"/>
              <a:t>could you use to </a:t>
            </a:r>
            <a:r>
              <a:rPr lang="en-AU" sz="4400" b="1"/>
              <a:t>estimate the area </a:t>
            </a:r>
            <a:r>
              <a:rPr lang="en-AU" sz="4400"/>
              <a:t>of this leaf in </a:t>
            </a:r>
            <a:r>
              <a:rPr lang="en-AU" sz="4400" b="1"/>
              <a:t>square centimetres?</a:t>
            </a:r>
            <a:endParaRPr lang="en-AU" sz="4400"/>
          </a:p>
        </p:txBody>
      </p:sp>
      <p:sp>
        <p:nvSpPr>
          <p:cNvPr id="2" name="Slide Number Placeholder 1">
            <a:extLst>
              <a:ext uri="{FF2B5EF4-FFF2-40B4-BE49-F238E27FC236}">
                <a16:creationId xmlns:a16="http://schemas.microsoft.com/office/drawing/2014/main" id="{CF15FF86-1890-9ED1-C2D9-01A6B72ED73B}"/>
              </a:ext>
            </a:extLst>
          </p:cNvPr>
          <p:cNvSpPr>
            <a:spLocks noGrp="1"/>
          </p:cNvSpPr>
          <p:nvPr>
            <p:ph type="sldNum" sz="quarter" idx="12"/>
          </p:nvPr>
        </p:nvSpPr>
        <p:spPr/>
        <p:txBody>
          <a:bodyPr/>
          <a:lstStyle/>
          <a:p>
            <a:fld id="{10A01DC5-1685-4615-8240-15192985C6A2}" type="slidenum">
              <a:rPr lang="en-AU" smtClean="0"/>
              <a:t>36</a:t>
            </a:fld>
            <a:endParaRPr lang="en-AU"/>
          </a:p>
        </p:txBody>
      </p:sp>
    </p:spTree>
    <p:extLst>
      <p:ext uri="{BB962C8B-B14F-4D97-AF65-F5344CB8AC3E}">
        <p14:creationId xmlns:p14="http://schemas.microsoft.com/office/powerpoint/2010/main" val="79627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11101-C2AA-A4B8-D565-D0C731099D2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1012728-7DD3-DAD5-02D7-5D1F8430E7A9}"/>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(20)</a:t>
            </a:r>
          </a:p>
        </p:txBody>
      </p:sp>
      <p:pic>
        <p:nvPicPr>
          <p:cNvPr id="4" name="Picture 3" descr="image of a clipboard with a pencil recording short answer responses">
            <a:extLst>
              <a:ext uri="{FF2B5EF4-FFF2-40B4-BE49-F238E27FC236}">
                <a16:creationId xmlns:a16="http://schemas.microsoft.com/office/drawing/2014/main" id="{55FD276A-C397-9187-758E-5683EDE3430B}"/>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96CD0A12-6C4E-2A9C-E016-8C9F82325D04}"/>
              </a:ext>
            </a:extLst>
          </p:cNvPr>
          <p:cNvSpPr>
            <a:spLocks noGrp="1"/>
          </p:cNvSpPr>
          <p:nvPr>
            <p:ph type="pic" sz="quarter" idx="21"/>
          </p:nvPr>
        </p:nvSpPr>
        <p:spPr>
          <a:xfrm>
            <a:off x="1033594" y="905601"/>
            <a:ext cx="10124812" cy="5501122"/>
          </a:xfrm>
        </p:spPr>
        <p:txBody>
          <a:bodyPr/>
          <a:lstStyle/>
          <a:p>
            <a:pPr algn="ctr"/>
            <a:r>
              <a:rPr lang="en-US" sz="4400" dirty="0">
                <a:latin typeface="Arial"/>
                <a:cs typeface="Arial"/>
              </a:rPr>
              <a:t>Ben is baking a cake. He needs to </a:t>
            </a:r>
            <a:r>
              <a:rPr lang="en-US" sz="4400" b="1" dirty="0">
                <a:latin typeface="Arial"/>
                <a:cs typeface="Arial"/>
              </a:rPr>
              <a:t>measure 250 ml </a:t>
            </a:r>
            <a:r>
              <a:rPr lang="en-US" sz="4400" dirty="0">
                <a:latin typeface="Arial"/>
                <a:cs typeface="Arial"/>
              </a:rPr>
              <a:t>of milk for the recipe but only has a teacup. Will this be an </a:t>
            </a:r>
            <a:r>
              <a:rPr lang="en-US" sz="4400" b="1" dirty="0">
                <a:latin typeface="Arial"/>
                <a:cs typeface="Arial"/>
              </a:rPr>
              <a:t>accurate</a:t>
            </a:r>
            <a:r>
              <a:rPr lang="en-US" sz="4400" dirty="0">
                <a:latin typeface="Arial"/>
                <a:cs typeface="Arial"/>
              </a:rPr>
              <a:t> measurement? </a:t>
            </a:r>
          </a:p>
          <a:p>
            <a:pPr algn="ctr"/>
            <a:r>
              <a:rPr lang="en-US" sz="4400" b="1" dirty="0">
                <a:latin typeface="Arial"/>
                <a:cs typeface="Arial"/>
              </a:rPr>
              <a:t>Explain</a:t>
            </a:r>
            <a:r>
              <a:rPr lang="en-US" sz="4400" dirty="0">
                <a:latin typeface="Arial"/>
                <a:cs typeface="Arial"/>
              </a:rPr>
              <a:t> your </a:t>
            </a:r>
            <a:r>
              <a:rPr lang="en-US" sz="4400" b="1" dirty="0">
                <a:latin typeface="Arial"/>
                <a:cs typeface="Arial"/>
              </a:rPr>
              <a:t>thinking</a:t>
            </a:r>
            <a:r>
              <a:rPr lang="en-US" sz="4400" dirty="0">
                <a:latin typeface="Arial"/>
                <a:cs typeface="Arial"/>
              </a:rPr>
              <a:t>.</a:t>
            </a:r>
            <a:endParaRPr lang="en-US" dirty="0"/>
          </a:p>
          <a:p>
            <a:endParaRPr lang="en-US" dirty="0">
              <a:latin typeface="Arial"/>
              <a:cs typeface="Arial"/>
            </a:endParaRPr>
          </a:p>
        </p:txBody>
      </p:sp>
      <p:pic>
        <p:nvPicPr>
          <p:cNvPr id="8" name="Picture 7" descr="A tea cup.">
            <a:extLst>
              <a:ext uri="{FF2B5EF4-FFF2-40B4-BE49-F238E27FC236}">
                <a16:creationId xmlns:a16="http://schemas.microsoft.com/office/drawing/2014/main" id="{F789D8D8-1842-A585-0749-B5846F4F2F08}"/>
              </a:ext>
            </a:extLst>
          </p:cNvPr>
          <p:cNvPicPr>
            <a:picLocks noChangeAspect="1"/>
          </p:cNvPicPr>
          <p:nvPr/>
        </p:nvPicPr>
        <p:blipFill>
          <a:blip r:embed="rId4"/>
          <a:stretch>
            <a:fillRect/>
          </a:stretch>
        </p:blipFill>
        <p:spPr>
          <a:xfrm>
            <a:off x="175517" y="4827180"/>
            <a:ext cx="2360019" cy="1868819"/>
          </a:xfrm>
          <a:prstGeom prst="rect">
            <a:avLst/>
          </a:prstGeom>
        </p:spPr>
      </p:pic>
      <p:sp>
        <p:nvSpPr>
          <p:cNvPr id="2" name="Slide Number Placeholder 1">
            <a:extLst>
              <a:ext uri="{FF2B5EF4-FFF2-40B4-BE49-F238E27FC236}">
                <a16:creationId xmlns:a16="http://schemas.microsoft.com/office/drawing/2014/main" id="{E1891367-9F77-2286-E613-6F1B7282E70A}"/>
              </a:ext>
            </a:extLst>
          </p:cNvPr>
          <p:cNvSpPr>
            <a:spLocks noGrp="1"/>
          </p:cNvSpPr>
          <p:nvPr>
            <p:ph type="sldNum" sz="quarter" idx="12"/>
          </p:nvPr>
        </p:nvSpPr>
        <p:spPr/>
        <p:txBody>
          <a:bodyPr/>
          <a:lstStyle/>
          <a:p>
            <a:fld id="{10A01DC5-1685-4615-8240-15192985C6A2}" type="slidenum">
              <a:rPr lang="en-AU" smtClean="0"/>
              <a:t>37</a:t>
            </a:fld>
            <a:endParaRPr lang="en-AU"/>
          </a:p>
        </p:txBody>
      </p:sp>
    </p:spTree>
    <p:extLst>
      <p:ext uri="{BB962C8B-B14F-4D97-AF65-F5344CB8AC3E}">
        <p14:creationId xmlns:p14="http://schemas.microsoft.com/office/powerpoint/2010/main" val="745713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9983371" cy="545601"/>
          </a:xfrm>
        </p:spPr>
        <p:txBody>
          <a:bodyPr/>
          <a:lstStyle/>
          <a:p>
            <a:r>
              <a:rPr lang="en-AU"/>
              <a:t>Activity 5 – completing a whole</a:t>
            </a:r>
          </a:p>
        </p:txBody>
      </p:sp>
      <p:pic>
        <p:nvPicPr>
          <p:cNvPr id="18" name="Picture 17" descr="image of a head with cogs turning inside">
            <a:extLst>
              <a:ext uri="{FF2B5EF4-FFF2-40B4-BE49-F238E27FC236}">
                <a16:creationId xmlns:a16="http://schemas.microsoft.com/office/drawing/2014/main" id="{EE19C23A-14D1-B457-D48F-F45E63C7444C}"/>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30" name="Group 29" descr="Two identical pencil cases. Poking out of the top of each of the cases are 3 partially visible pencils. &#10;&#10;The first pencil is marked as being one-third visible. &#10;The second pencil is marked as being one-quarter visible. &#10;The third pencil is marked as being one-half visible.">
            <a:extLst>
              <a:ext uri="{FF2B5EF4-FFF2-40B4-BE49-F238E27FC236}">
                <a16:creationId xmlns:a16="http://schemas.microsoft.com/office/drawing/2014/main" id="{26DBE1A1-C610-416A-E472-E14B0262E76A}"/>
              </a:ext>
            </a:extLst>
          </p:cNvPr>
          <p:cNvGrpSpPr/>
          <p:nvPr/>
        </p:nvGrpSpPr>
        <p:grpSpPr>
          <a:xfrm>
            <a:off x="4077772" y="1097258"/>
            <a:ext cx="3299115" cy="5258756"/>
            <a:chOff x="367249" y="117415"/>
            <a:chExt cx="4524001" cy="7211228"/>
          </a:xfrm>
        </p:grpSpPr>
        <p:sp>
          <p:nvSpPr>
            <p:cNvPr id="4" name="Freeform 2">
              <a:extLst>
                <a:ext uri="{FF2B5EF4-FFF2-40B4-BE49-F238E27FC236}">
                  <a16:creationId xmlns:a16="http://schemas.microsoft.com/office/drawing/2014/main" id="{6D26EA79-0528-0927-7884-19104353BBB9}"/>
                </a:ext>
              </a:extLst>
            </p:cNvPr>
            <p:cNvSpPr/>
            <p:nvPr/>
          </p:nvSpPr>
          <p:spPr>
            <a:xfrm rot="-5400000">
              <a:off x="1811881" y="2498935"/>
              <a:ext cx="296276" cy="1933909"/>
            </a:xfrm>
            <a:custGeom>
              <a:avLst/>
              <a:gdLst/>
              <a:ahLst/>
              <a:cxnLst/>
              <a:rect l="l" t="t" r="r" b="b"/>
              <a:pathLst>
                <a:path w="296276" h="1933909">
                  <a:moveTo>
                    <a:pt x="0" y="0"/>
                  </a:moveTo>
                  <a:lnTo>
                    <a:pt x="296276" y="0"/>
                  </a:lnTo>
                  <a:lnTo>
                    <a:pt x="296276" y="1933909"/>
                  </a:lnTo>
                  <a:lnTo>
                    <a:pt x="0" y="1933909"/>
                  </a:lnTo>
                  <a:lnTo>
                    <a:pt x="0" y="0"/>
                  </a:lnTo>
                  <a:close/>
                </a:path>
              </a:pathLst>
            </a:custGeom>
            <a:blipFill>
              <a:blip r:embed="rId4"/>
              <a:stretch>
                <a:fillRect b="-29010"/>
              </a:stretch>
            </a:blipFill>
          </p:spPr>
          <p:txBody>
            <a:bodyPr/>
            <a:lstStyle/>
            <a:p>
              <a:endParaRPr lang="en-AU"/>
            </a:p>
          </p:txBody>
        </p:sp>
        <p:sp>
          <p:nvSpPr>
            <p:cNvPr id="5" name="Freeform 3">
              <a:extLst>
                <a:ext uri="{FF2B5EF4-FFF2-40B4-BE49-F238E27FC236}">
                  <a16:creationId xmlns:a16="http://schemas.microsoft.com/office/drawing/2014/main" id="{356C3DB7-928A-6728-BE72-F0D130094F27}"/>
                </a:ext>
              </a:extLst>
            </p:cNvPr>
            <p:cNvSpPr/>
            <p:nvPr/>
          </p:nvSpPr>
          <p:spPr>
            <a:xfrm rot="-5400000">
              <a:off x="1810454" y="363340"/>
              <a:ext cx="299130" cy="2518993"/>
            </a:xfrm>
            <a:custGeom>
              <a:avLst/>
              <a:gdLst/>
              <a:ahLst/>
              <a:cxnLst/>
              <a:rect l="l" t="t" r="r" b="b"/>
              <a:pathLst>
                <a:path w="299130" h="2518993">
                  <a:moveTo>
                    <a:pt x="0" y="0"/>
                  </a:moveTo>
                  <a:lnTo>
                    <a:pt x="299131" y="0"/>
                  </a:lnTo>
                  <a:lnTo>
                    <a:pt x="299131" y="2518992"/>
                  </a:lnTo>
                  <a:lnTo>
                    <a:pt x="0" y="251899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a:p>
          </p:txBody>
        </p:sp>
        <p:sp>
          <p:nvSpPr>
            <p:cNvPr id="6" name="Freeform 4">
              <a:extLst>
                <a:ext uri="{FF2B5EF4-FFF2-40B4-BE49-F238E27FC236}">
                  <a16:creationId xmlns:a16="http://schemas.microsoft.com/office/drawing/2014/main" id="{E119B742-BAA4-3085-764F-1EA918FA14B5}"/>
                </a:ext>
              </a:extLst>
            </p:cNvPr>
            <p:cNvSpPr/>
            <p:nvPr/>
          </p:nvSpPr>
          <p:spPr>
            <a:xfrm rot="-5400000">
              <a:off x="1255224" y="4278767"/>
              <a:ext cx="267159" cy="2043110"/>
            </a:xfrm>
            <a:custGeom>
              <a:avLst/>
              <a:gdLst/>
              <a:ahLst/>
              <a:cxnLst/>
              <a:rect l="l" t="t" r="r" b="b"/>
              <a:pathLst>
                <a:path w="267159" h="2043110">
                  <a:moveTo>
                    <a:pt x="0" y="0"/>
                  </a:moveTo>
                  <a:lnTo>
                    <a:pt x="267159" y="0"/>
                  </a:lnTo>
                  <a:lnTo>
                    <a:pt x="267159" y="2043110"/>
                  </a:lnTo>
                  <a:lnTo>
                    <a:pt x="0" y="204311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AU"/>
            </a:p>
          </p:txBody>
        </p:sp>
        <p:sp>
          <p:nvSpPr>
            <p:cNvPr id="7" name="Freeform 5">
              <a:extLst>
                <a:ext uri="{FF2B5EF4-FFF2-40B4-BE49-F238E27FC236}">
                  <a16:creationId xmlns:a16="http://schemas.microsoft.com/office/drawing/2014/main" id="{2A993459-CCE1-EA77-1FD5-903A61AE4E7E}"/>
                </a:ext>
              </a:extLst>
            </p:cNvPr>
            <p:cNvSpPr/>
            <p:nvPr/>
          </p:nvSpPr>
          <p:spPr>
            <a:xfrm rot="16200000">
              <a:off x="-351206" y="2086187"/>
              <a:ext cx="7211228" cy="3273684"/>
            </a:xfrm>
            <a:custGeom>
              <a:avLst/>
              <a:gdLst/>
              <a:ahLst/>
              <a:cxnLst/>
              <a:rect l="l" t="t" r="r" b="b"/>
              <a:pathLst>
                <a:path w="7725508" h="3273684">
                  <a:moveTo>
                    <a:pt x="0" y="0"/>
                  </a:moveTo>
                  <a:lnTo>
                    <a:pt x="7725508" y="0"/>
                  </a:lnTo>
                  <a:lnTo>
                    <a:pt x="7725508" y="3273684"/>
                  </a:lnTo>
                  <a:lnTo>
                    <a:pt x="0" y="3273684"/>
                  </a:lnTo>
                  <a:lnTo>
                    <a:pt x="0" y="0"/>
                  </a:lnTo>
                  <a:close/>
                </a:path>
              </a:pathLst>
            </a:custGeom>
            <a:blipFill>
              <a:blip r:embed="rId9">
                <a:extLst>
                  <a:ext uri="{96DAC541-7B7A-43D3-8B79-37D633B846F1}">
                    <asvg:svgBlip xmlns:asvg="http://schemas.microsoft.com/office/drawing/2016/SVG/main" r:embed="rId10"/>
                  </a:ext>
                </a:extLst>
              </a:blip>
              <a:stretch>
                <a:fillRect r="-7132"/>
              </a:stretch>
            </a:blipFill>
          </p:spPr>
          <p:txBody>
            <a:bodyPr/>
            <a:lstStyle/>
            <a:p>
              <a:endParaRPr lang="en-AU"/>
            </a:p>
          </p:txBody>
        </p:sp>
        <p:sp>
          <p:nvSpPr>
            <p:cNvPr id="8" name="AutoShape 6">
              <a:extLst>
                <a:ext uri="{FF2B5EF4-FFF2-40B4-BE49-F238E27FC236}">
                  <a16:creationId xmlns:a16="http://schemas.microsoft.com/office/drawing/2014/main" id="{C1D3206C-D267-FABB-9567-4186349FB796}"/>
                </a:ext>
              </a:extLst>
            </p:cNvPr>
            <p:cNvSpPr/>
            <p:nvPr/>
          </p:nvSpPr>
          <p:spPr>
            <a:xfrm flipV="1">
              <a:off x="381238" y="5503996"/>
              <a:ext cx="1431771" cy="16365"/>
            </a:xfrm>
            <a:prstGeom prst="line">
              <a:avLst/>
            </a:prstGeom>
            <a:ln w="28575" cap="flat">
              <a:solidFill>
                <a:srgbClr val="000000"/>
              </a:solidFill>
              <a:prstDash val="solid"/>
              <a:headEnd type="none" w="sm" len="sm"/>
              <a:tailEnd type="none" w="sm" len="sm"/>
            </a:ln>
          </p:spPr>
          <p:txBody>
            <a:bodyPr/>
            <a:lstStyle/>
            <a:p>
              <a:endParaRPr lang="en-AU"/>
            </a:p>
          </p:txBody>
        </p:sp>
        <p:sp>
          <p:nvSpPr>
            <p:cNvPr id="9" name="AutoShape 7">
              <a:extLst>
                <a:ext uri="{FF2B5EF4-FFF2-40B4-BE49-F238E27FC236}">
                  <a16:creationId xmlns:a16="http://schemas.microsoft.com/office/drawing/2014/main" id="{6DC3BB0D-7C67-F5E5-0AEF-48749D80C463}"/>
                </a:ext>
              </a:extLst>
            </p:cNvPr>
            <p:cNvSpPr/>
            <p:nvPr/>
          </p:nvSpPr>
          <p:spPr>
            <a:xfrm>
              <a:off x="993065" y="3683823"/>
              <a:ext cx="850799" cy="0"/>
            </a:xfrm>
            <a:prstGeom prst="line">
              <a:avLst/>
            </a:prstGeom>
            <a:ln w="28575" cap="flat">
              <a:solidFill>
                <a:srgbClr val="000000"/>
              </a:solidFill>
              <a:prstDash val="solid"/>
              <a:headEnd type="none" w="sm" len="sm"/>
              <a:tailEnd type="none" w="sm" len="sm"/>
            </a:ln>
          </p:spPr>
          <p:txBody>
            <a:bodyPr/>
            <a:lstStyle/>
            <a:p>
              <a:endParaRPr lang="en-AU"/>
            </a:p>
          </p:txBody>
        </p:sp>
        <p:sp>
          <p:nvSpPr>
            <p:cNvPr id="10" name="AutoShape 8">
              <a:extLst>
                <a:ext uri="{FF2B5EF4-FFF2-40B4-BE49-F238E27FC236}">
                  <a16:creationId xmlns:a16="http://schemas.microsoft.com/office/drawing/2014/main" id="{DE9FB498-30AF-E54E-6712-3E4F1CF6BAFF}"/>
                </a:ext>
              </a:extLst>
            </p:cNvPr>
            <p:cNvSpPr/>
            <p:nvPr/>
          </p:nvSpPr>
          <p:spPr>
            <a:xfrm>
              <a:off x="700523" y="1842196"/>
              <a:ext cx="1112646" cy="0"/>
            </a:xfrm>
            <a:prstGeom prst="line">
              <a:avLst/>
            </a:prstGeom>
            <a:ln w="28575" cap="flat">
              <a:solidFill>
                <a:srgbClr val="000000"/>
              </a:solidFill>
              <a:prstDash val="solid"/>
              <a:headEnd type="none" w="sm" len="sm"/>
              <a:tailEnd type="none" w="sm" len="sm"/>
            </a:ln>
          </p:spPr>
          <p:txBody>
            <a:bodyPr/>
            <a:lstStyle/>
            <a:p>
              <a:endParaRPr lang="en-AU"/>
            </a:p>
          </p:txBody>
        </p:sp>
        <p:grpSp>
          <p:nvGrpSpPr>
            <p:cNvPr id="11" name="Group 9">
              <a:extLst>
                <a:ext uri="{FF2B5EF4-FFF2-40B4-BE49-F238E27FC236}">
                  <a16:creationId xmlns:a16="http://schemas.microsoft.com/office/drawing/2014/main" id="{BCF7D6B4-817C-2251-8ADA-5E15EA3C98A2}"/>
                </a:ext>
              </a:extLst>
            </p:cNvPr>
            <p:cNvGrpSpPr/>
            <p:nvPr/>
          </p:nvGrpSpPr>
          <p:grpSpPr>
            <a:xfrm>
              <a:off x="1259877" y="5590156"/>
              <a:ext cx="257853" cy="567276"/>
              <a:chOff x="0" y="0"/>
              <a:chExt cx="343804" cy="756368"/>
            </a:xfrm>
          </p:grpSpPr>
          <p:sp>
            <p:nvSpPr>
              <p:cNvPr id="12" name="Freeform 10">
                <a:extLst>
                  <a:ext uri="{FF2B5EF4-FFF2-40B4-BE49-F238E27FC236}">
                    <a16:creationId xmlns:a16="http://schemas.microsoft.com/office/drawing/2014/main" id="{18028FCE-F089-38DA-E180-BC52A25AE550}"/>
                  </a:ext>
                </a:extLst>
              </p:cNvPr>
              <p:cNvSpPr/>
              <p:nvPr/>
            </p:nvSpPr>
            <p:spPr>
              <a:xfrm>
                <a:off x="0" y="0"/>
                <a:ext cx="343804" cy="756368"/>
              </a:xfrm>
              <a:custGeom>
                <a:avLst/>
                <a:gdLst/>
                <a:ahLst/>
                <a:cxnLst/>
                <a:rect l="l" t="t" r="r" b="b"/>
                <a:pathLst>
                  <a:path w="343804" h="756368">
                    <a:moveTo>
                      <a:pt x="0" y="0"/>
                    </a:moveTo>
                    <a:lnTo>
                      <a:pt x="343804" y="0"/>
                    </a:lnTo>
                    <a:lnTo>
                      <a:pt x="343804" y="756368"/>
                    </a:lnTo>
                    <a:lnTo>
                      <a:pt x="0" y="75636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AU"/>
              </a:p>
            </p:txBody>
          </p:sp>
        </p:grpSp>
        <p:grpSp>
          <p:nvGrpSpPr>
            <p:cNvPr id="13" name="Group 11">
              <a:extLst>
                <a:ext uri="{FF2B5EF4-FFF2-40B4-BE49-F238E27FC236}">
                  <a16:creationId xmlns:a16="http://schemas.microsoft.com/office/drawing/2014/main" id="{8061866F-8D96-3DA8-D721-F574C77F6AF9}"/>
                </a:ext>
              </a:extLst>
            </p:cNvPr>
            <p:cNvGrpSpPr/>
            <p:nvPr/>
          </p:nvGrpSpPr>
          <p:grpSpPr>
            <a:xfrm>
              <a:off x="1372088" y="3760983"/>
              <a:ext cx="245479" cy="540054"/>
              <a:chOff x="0" y="0"/>
              <a:chExt cx="327306" cy="720073"/>
            </a:xfrm>
          </p:grpSpPr>
          <p:sp>
            <p:nvSpPr>
              <p:cNvPr id="14" name="Freeform 12">
                <a:extLst>
                  <a:ext uri="{FF2B5EF4-FFF2-40B4-BE49-F238E27FC236}">
                    <a16:creationId xmlns:a16="http://schemas.microsoft.com/office/drawing/2014/main" id="{90E2B9AA-F131-21F1-3002-33BA54E6E406}"/>
                  </a:ext>
                </a:extLst>
              </p:cNvPr>
              <p:cNvSpPr/>
              <p:nvPr/>
            </p:nvSpPr>
            <p:spPr>
              <a:xfrm>
                <a:off x="0" y="0"/>
                <a:ext cx="327306" cy="720073"/>
              </a:xfrm>
              <a:custGeom>
                <a:avLst/>
                <a:gdLst/>
                <a:ahLst/>
                <a:cxnLst/>
                <a:rect l="l" t="t" r="r" b="b"/>
                <a:pathLst>
                  <a:path w="327306" h="720073">
                    <a:moveTo>
                      <a:pt x="0" y="0"/>
                    </a:moveTo>
                    <a:lnTo>
                      <a:pt x="327306" y="0"/>
                    </a:lnTo>
                    <a:lnTo>
                      <a:pt x="327306" y="720073"/>
                    </a:lnTo>
                    <a:lnTo>
                      <a:pt x="0" y="720073"/>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AU"/>
              </a:p>
            </p:txBody>
          </p:sp>
        </p:grpSp>
        <p:grpSp>
          <p:nvGrpSpPr>
            <p:cNvPr id="15" name="Group 13">
              <a:extLst>
                <a:ext uri="{FF2B5EF4-FFF2-40B4-BE49-F238E27FC236}">
                  <a16:creationId xmlns:a16="http://schemas.microsoft.com/office/drawing/2014/main" id="{795438FE-DFB5-3960-A430-39FA2B01DEAA}"/>
                </a:ext>
              </a:extLst>
            </p:cNvPr>
            <p:cNvGrpSpPr/>
            <p:nvPr/>
          </p:nvGrpSpPr>
          <p:grpSpPr>
            <a:xfrm>
              <a:off x="1327084" y="1911992"/>
              <a:ext cx="245479" cy="540054"/>
              <a:chOff x="0" y="0"/>
              <a:chExt cx="327306" cy="720073"/>
            </a:xfrm>
          </p:grpSpPr>
          <p:sp>
            <p:nvSpPr>
              <p:cNvPr id="16" name="Freeform 14">
                <a:extLst>
                  <a:ext uri="{FF2B5EF4-FFF2-40B4-BE49-F238E27FC236}">
                    <a16:creationId xmlns:a16="http://schemas.microsoft.com/office/drawing/2014/main" id="{F637B912-1964-BE14-C16C-9AD9A36B18AA}"/>
                  </a:ext>
                </a:extLst>
              </p:cNvPr>
              <p:cNvSpPr/>
              <p:nvPr/>
            </p:nvSpPr>
            <p:spPr>
              <a:xfrm>
                <a:off x="0" y="0"/>
                <a:ext cx="327306" cy="720073"/>
              </a:xfrm>
              <a:custGeom>
                <a:avLst/>
                <a:gdLst/>
                <a:ahLst/>
                <a:cxnLst/>
                <a:rect l="l" t="t" r="r" b="b"/>
                <a:pathLst>
                  <a:path w="327306" h="720073">
                    <a:moveTo>
                      <a:pt x="0" y="0"/>
                    </a:moveTo>
                    <a:lnTo>
                      <a:pt x="327306" y="0"/>
                    </a:lnTo>
                    <a:lnTo>
                      <a:pt x="327306" y="720073"/>
                    </a:lnTo>
                    <a:lnTo>
                      <a:pt x="0" y="720073"/>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AU"/>
              </a:p>
            </p:txBody>
          </p:sp>
        </p:grpSp>
      </p:grpSp>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38</a:t>
            </a:fld>
            <a:endParaRPr lang="en-AU"/>
          </a:p>
        </p:txBody>
      </p:sp>
    </p:spTree>
    <p:extLst>
      <p:ext uri="{BB962C8B-B14F-4D97-AF65-F5344CB8AC3E}">
        <p14:creationId xmlns:p14="http://schemas.microsoft.com/office/powerpoint/2010/main" val="1005646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F2A2D-5D54-42BE-C8C2-C2A6CB078AB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BD32E23-FB04-E164-BE83-F761F94A317D}"/>
              </a:ext>
            </a:extLst>
          </p:cNvPr>
          <p:cNvSpPr>
            <a:spLocks noGrp="1"/>
          </p:cNvSpPr>
          <p:nvPr>
            <p:ph type="ctrTitle"/>
          </p:nvPr>
        </p:nvSpPr>
        <p:spPr/>
        <p:txBody>
          <a:bodyPr/>
          <a:lstStyle/>
          <a:p>
            <a:r>
              <a:rPr lang="en-AU">
                <a:latin typeface="+mj-lt"/>
                <a:cs typeface="Arial"/>
              </a:rPr>
              <a:t>Review of learning 6</a:t>
            </a:r>
            <a:endParaRPr lang="en-AU">
              <a:latin typeface="+mj-lt"/>
            </a:endParaRPr>
          </a:p>
        </p:txBody>
      </p:sp>
    </p:spTree>
    <p:extLst>
      <p:ext uri="{BB962C8B-B14F-4D97-AF65-F5344CB8AC3E}">
        <p14:creationId xmlns:p14="http://schemas.microsoft.com/office/powerpoint/2010/main" val="3128611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BEE8F-3F48-A6A8-BFF8-F8998C7850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0239AA5-BD2F-916C-A693-02FBD1E332CB}"/>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(3)</a:t>
            </a:r>
          </a:p>
        </p:txBody>
      </p:sp>
      <p:pic>
        <p:nvPicPr>
          <p:cNvPr id="5" name="Picture 4" descr="image of a finger selecting an option for a multiple choice or true and false">
            <a:extLst>
              <a:ext uri="{FF2B5EF4-FFF2-40B4-BE49-F238E27FC236}">
                <a16:creationId xmlns:a16="http://schemas.microsoft.com/office/drawing/2014/main" id="{3E938BB2-3AD2-DA1B-E3B0-15AF957C979B}"/>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4743D993-BC52-886E-0C46-306156440477}"/>
                  </a:ext>
                </a:extLst>
              </p:cNvPr>
              <p:cNvSpPr>
                <a:spLocks noGrp="1"/>
              </p:cNvSpPr>
              <p:nvPr>
                <p:ph type="body" sz="quarter" idx="22"/>
              </p:nvPr>
            </p:nvSpPr>
            <p:spPr>
              <a:xfrm>
                <a:off x="503236" y="594229"/>
                <a:ext cx="11185528" cy="2361622"/>
              </a:xfrm>
            </p:spPr>
            <p:txBody>
              <a:bodyPr vert="horz" lIns="0" tIns="0" rIns="0" bIns="0" rtlCol="0" anchor="t">
                <a:noAutofit/>
              </a:bodyPr>
              <a:lstStyle/>
              <a:p>
                <a:pPr algn="ctr"/>
                <a:r>
                  <a:rPr lang="en-US" sz="4400">
                    <a:latin typeface="Arial"/>
                    <a:cs typeface="Arial"/>
                  </a:rPr>
                  <a:t>The following image displays  </a:t>
                </a:r>
                <a14:m>
                  <m:oMath xmlns:m="http://schemas.openxmlformats.org/officeDocument/2006/math">
                    <m:f>
                      <m:fPr>
                        <m:ctrlPr>
                          <a:rPr lang="en-AU" sz="4400" i="1">
                            <a:latin typeface="Cambria Math" panose="02040503050406030204" pitchFamily="18" charset="0"/>
                          </a:rPr>
                        </m:ctrlPr>
                      </m:fPr>
                      <m:num>
                        <m:r>
                          <a:rPr lang="en-AU" sz="4400" b="0" i="1" smtClean="0">
                            <a:latin typeface="Cambria Math" panose="02040503050406030204" pitchFamily="18" charset="0"/>
                          </a:rPr>
                          <m:t>3</m:t>
                        </m:r>
                      </m:num>
                      <m:den>
                        <m:r>
                          <a:rPr lang="en-AU" sz="4400" i="1">
                            <a:latin typeface="Cambria Math" panose="02040503050406030204" pitchFamily="18" charset="0"/>
                          </a:rPr>
                          <m:t>8</m:t>
                        </m:r>
                      </m:den>
                    </m:f>
                  </m:oMath>
                </a14:m>
                <a:r>
                  <a:rPr lang="en-US" sz="4400">
                    <a:latin typeface="Arial"/>
                    <a:cs typeface="Arial"/>
                  </a:rPr>
                  <a:t>,  </a:t>
                </a:r>
                <a14:m>
                  <m:oMath xmlns:m="http://schemas.openxmlformats.org/officeDocument/2006/math">
                    <m:f>
                      <m:fPr>
                        <m:ctrlPr>
                          <a:rPr lang="en-AU" sz="4400" i="1">
                            <a:latin typeface="Cambria Math" panose="02040503050406030204" pitchFamily="18" charset="0"/>
                          </a:rPr>
                        </m:ctrlPr>
                      </m:fPr>
                      <m:num>
                        <m:r>
                          <a:rPr lang="en-AU" sz="4400" i="1">
                            <a:latin typeface="Cambria Math" panose="02040503050406030204" pitchFamily="18" charset="0"/>
                          </a:rPr>
                          <m:t>1</m:t>
                        </m:r>
                      </m:num>
                      <m:den>
                        <m:r>
                          <a:rPr lang="en-AU" sz="4400" i="1">
                            <a:latin typeface="Cambria Math" panose="02040503050406030204" pitchFamily="18" charset="0"/>
                          </a:rPr>
                          <m:t>8</m:t>
                        </m:r>
                      </m:den>
                    </m:f>
                    <m:r>
                      <a:rPr lang="en-AU" sz="4400" b="0" i="1" smtClean="0">
                        <a:latin typeface="Cambria Math" panose="02040503050406030204" pitchFamily="18" charset="0"/>
                      </a:rPr>
                      <m:t>,  </m:t>
                    </m:r>
                    <m:f>
                      <m:fPr>
                        <m:ctrlPr>
                          <a:rPr lang="en-AU" sz="4400" i="1">
                            <a:latin typeface="Cambria Math" panose="02040503050406030204" pitchFamily="18" charset="0"/>
                          </a:rPr>
                        </m:ctrlPr>
                      </m:fPr>
                      <m:num>
                        <m:r>
                          <a:rPr lang="en-AU" sz="4400" i="1">
                            <a:latin typeface="Cambria Math" panose="02040503050406030204" pitchFamily="18" charset="0"/>
                          </a:rPr>
                          <m:t>1</m:t>
                        </m:r>
                      </m:num>
                      <m:den>
                        <m:r>
                          <a:rPr lang="en-AU" sz="4400" b="0" i="1" smtClean="0">
                            <a:latin typeface="Cambria Math" panose="02040503050406030204" pitchFamily="18" charset="0"/>
                          </a:rPr>
                          <m:t>2</m:t>
                        </m:r>
                      </m:den>
                    </m:f>
                  </m:oMath>
                </a14:m>
                <a:endParaRPr lang="en-US"/>
              </a:p>
              <a:p>
                <a:pPr algn="ctr"/>
                <a:r>
                  <a:rPr lang="en-US" sz="4400">
                    <a:latin typeface="Arial"/>
                    <a:cs typeface="Arial"/>
                  </a:rPr>
                  <a:t>of a </a:t>
                </a:r>
                <a:r>
                  <a:rPr lang="en-US" sz="4400" b="1">
                    <a:latin typeface="Arial"/>
                    <a:cs typeface="Arial"/>
                  </a:rPr>
                  <a:t>whole</a:t>
                </a:r>
                <a:r>
                  <a:rPr lang="en-US" sz="4400">
                    <a:latin typeface="Arial"/>
                    <a:cs typeface="Arial"/>
                  </a:rPr>
                  <a:t> on a number line:</a:t>
                </a:r>
              </a:p>
              <a:p>
                <a:pPr algn="ctr"/>
                <a:endParaRPr lang="en-US"/>
              </a:p>
            </p:txBody>
          </p:sp>
        </mc:Choice>
        <mc:Fallback xmlns="">
          <p:sp>
            <p:nvSpPr>
              <p:cNvPr id="7" name="Text Placeholder 6">
                <a:extLst>
                  <a:ext uri="{FF2B5EF4-FFF2-40B4-BE49-F238E27FC236}">
                    <a16:creationId xmlns:a16="http://schemas.microsoft.com/office/drawing/2014/main" id="{4743D993-BC52-886E-0C46-306156440477}"/>
                  </a:ext>
                </a:extLst>
              </p:cNvPr>
              <p:cNvSpPr>
                <a:spLocks noGrp="1" noRot="1" noChangeAspect="1" noMove="1" noResize="1" noEditPoints="1" noAdjustHandles="1" noChangeArrowheads="1" noChangeShapeType="1" noTextEdit="1"/>
              </p:cNvSpPr>
              <p:nvPr>
                <p:ph type="body" sz="quarter" idx="22"/>
              </p:nvPr>
            </p:nvSpPr>
            <p:spPr>
              <a:xfrm>
                <a:off x="503236" y="594229"/>
                <a:ext cx="11185528" cy="2361622"/>
              </a:xfrm>
              <a:blipFill>
                <a:blip r:embed="rId4"/>
                <a:stretch>
                  <a:fillRect b="-15206"/>
                </a:stretch>
              </a:blipFill>
            </p:spPr>
            <p:txBody>
              <a:bodyPr/>
              <a:lstStyle/>
              <a:p>
                <a:r>
                  <a:rPr lang="en-US">
                    <a:noFill/>
                  </a:rPr>
                  <a:t> </a:t>
                </a:r>
              </a:p>
            </p:txBody>
          </p:sp>
        </mc:Fallback>
      </mc:AlternateContent>
      <p:pic>
        <p:nvPicPr>
          <p:cNvPr id="9" name="Picture 8" descr="A number line from 0 to 1 marked in eighths. Randomly spread there are 3 green segments, 4 orange segments and one blue segment.">
            <a:extLst>
              <a:ext uri="{FF2B5EF4-FFF2-40B4-BE49-F238E27FC236}">
                <a16:creationId xmlns:a16="http://schemas.microsoft.com/office/drawing/2014/main" id="{594B318D-7717-F27B-86FF-1499C016460B}"/>
              </a:ext>
            </a:extLst>
          </p:cNvPr>
          <p:cNvPicPr>
            <a:picLocks noChangeAspect="1"/>
          </p:cNvPicPr>
          <p:nvPr/>
        </p:nvPicPr>
        <p:blipFill>
          <a:blip r:embed="rId5"/>
          <a:stretch>
            <a:fillRect/>
          </a:stretch>
        </p:blipFill>
        <p:spPr>
          <a:xfrm>
            <a:off x="2798525" y="3273223"/>
            <a:ext cx="6626215" cy="2101933"/>
          </a:xfrm>
          <a:prstGeom prst="rect">
            <a:avLst/>
          </a:prstGeom>
          <a:ln>
            <a:noFill/>
          </a:ln>
          <a:effectLst>
            <a:outerShdw blurRad="292100" dist="139700" dir="2700000" algn="tl" rotWithShape="0">
              <a:srgbClr val="333333">
                <a:alpha val="65000"/>
              </a:srgbClr>
            </a:outerShdw>
          </a:effectLst>
        </p:spPr>
      </p:pic>
      <p:graphicFrame>
        <p:nvGraphicFramePr>
          <p:cNvPr id="13" name="Table 12">
            <a:extLst>
              <a:ext uri="{FF2B5EF4-FFF2-40B4-BE49-F238E27FC236}">
                <a16:creationId xmlns:a16="http://schemas.microsoft.com/office/drawing/2014/main" id="{B37F8FD6-1114-0311-68BF-0ED89EC52553}"/>
              </a:ext>
            </a:extLst>
          </p:cNvPr>
          <p:cNvGraphicFramePr>
            <a:graphicFrameLocks noGrp="1"/>
          </p:cNvGraphicFramePr>
          <p:nvPr>
            <p:extLst>
              <p:ext uri="{D42A27DB-BD31-4B8C-83A1-F6EECF244321}">
                <p14:modId xmlns:p14="http://schemas.microsoft.com/office/powerpoint/2010/main" val="2645897518"/>
              </p:ext>
            </p:extLst>
          </p:nvPr>
        </p:nvGraphicFramePr>
        <p:xfrm>
          <a:off x="2442981" y="5892931"/>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4E3DBF4C-4471-70A6-E61E-AB472EE35E92}"/>
              </a:ext>
            </a:extLst>
          </p:cNvPr>
          <p:cNvSpPr>
            <a:spLocks noGrp="1"/>
          </p:cNvSpPr>
          <p:nvPr>
            <p:ph type="sldNum" sz="quarter" idx="12"/>
          </p:nvPr>
        </p:nvSpPr>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462152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6F4A1-EDA2-571F-5B96-FDF8BD0C7E5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E88FA31-7274-55BC-6613-F0B8D3114635}"/>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(21)</a:t>
            </a:r>
          </a:p>
        </p:txBody>
      </p:sp>
      <p:pic>
        <p:nvPicPr>
          <p:cNvPr id="6" name="Picture 5" descr="image of a clipboard with a pencil recording short answer responses">
            <a:extLst>
              <a:ext uri="{FF2B5EF4-FFF2-40B4-BE49-F238E27FC236}">
                <a16:creationId xmlns:a16="http://schemas.microsoft.com/office/drawing/2014/main" id="{21E4E3D2-0BD0-2FBF-559D-EDC8BC549F4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DC93A6F7-F038-1103-81A8-DEC79B934407}"/>
              </a:ext>
            </a:extLst>
          </p:cNvPr>
          <p:cNvSpPr txBox="1"/>
          <p:nvPr/>
        </p:nvSpPr>
        <p:spPr>
          <a:xfrm>
            <a:off x="530875" y="905600"/>
            <a:ext cx="10901288" cy="1837599"/>
          </a:xfrm>
          <a:prstGeom prst="rect">
            <a:avLst/>
          </a:prstGeom>
          <a:noFill/>
        </p:spPr>
        <p:txBody>
          <a:bodyPr wrap="square" lIns="0" tIns="0" rIns="0" bIns="0" rtlCol="0">
            <a:noAutofit/>
          </a:bodyPr>
          <a:lstStyle/>
          <a:p>
            <a:pPr algn="ctr">
              <a:lnSpc>
                <a:spcPct val="150000"/>
              </a:lnSpc>
            </a:pPr>
            <a:r>
              <a:rPr lang="en-AU" sz="4400" dirty="0"/>
              <a:t>Identify an object in the room with an angle that is about the same as a </a:t>
            </a:r>
            <a:r>
              <a:rPr lang="en-AU" sz="4400" b="1" dirty="0"/>
              <a:t>right angle</a:t>
            </a:r>
            <a:r>
              <a:rPr lang="en-AU" sz="4400" dirty="0"/>
              <a:t>.</a:t>
            </a:r>
            <a:endParaRPr lang="en-AU" sz="4400" b="0" dirty="0"/>
          </a:p>
          <a:p>
            <a:pPr algn="ctr"/>
            <a:endParaRPr lang="en-AU" sz="4400" dirty="0"/>
          </a:p>
        </p:txBody>
      </p:sp>
      <p:pic>
        <p:nvPicPr>
          <p:cNvPr id="10" name="Picture 9" descr="A pair of hands at a right angle with a red dot marking the right angle.">
            <a:extLst>
              <a:ext uri="{FF2B5EF4-FFF2-40B4-BE49-F238E27FC236}">
                <a16:creationId xmlns:a16="http://schemas.microsoft.com/office/drawing/2014/main" id="{0DF998C3-26BF-4A0E-B8E2-62338BC4E77E}"/>
              </a:ext>
            </a:extLst>
          </p:cNvPr>
          <p:cNvPicPr>
            <a:picLocks noChangeAspect="1"/>
          </p:cNvPicPr>
          <p:nvPr/>
        </p:nvPicPr>
        <p:blipFill>
          <a:blip r:embed="rId4"/>
          <a:stretch>
            <a:fillRect/>
          </a:stretch>
        </p:blipFill>
        <p:spPr>
          <a:xfrm>
            <a:off x="4571921" y="3073542"/>
            <a:ext cx="3048157" cy="3092609"/>
          </a:xfrm>
          <a:prstGeom prst="rect">
            <a:avLst/>
          </a:prstGeom>
        </p:spPr>
      </p:pic>
      <p:sp>
        <p:nvSpPr>
          <p:cNvPr id="2" name="Slide Number Placeholder 1">
            <a:extLst>
              <a:ext uri="{FF2B5EF4-FFF2-40B4-BE49-F238E27FC236}">
                <a16:creationId xmlns:a16="http://schemas.microsoft.com/office/drawing/2014/main" id="{5A98F8AC-46DC-BE09-C063-0F99C404F8CD}"/>
              </a:ext>
            </a:extLst>
          </p:cNvPr>
          <p:cNvSpPr>
            <a:spLocks noGrp="1"/>
          </p:cNvSpPr>
          <p:nvPr>
            <p:ph type="sldNum" sz="quarter" idx="12"/>
          </p:nvPr>
        </p:nvSpPr>
        <p:spPr/>
        <p:txBody>
          <a:bodyPr/>
          <a:lstStyle/>
          <a:p>
            <a:fld id="{10A01DC5-1685-4615-8240-15192985C6A2}" type="slidenum">
              <a:rPr lang="en-AU" smtClean="0"/>
              <a:t>41</a:t>
            </a:fld>
            <a:endParaRPr lang="en-AU"/>
          </a:p>
        </p:txBody>
      </p:sp>
    </p:spTree>
    <p:extLst>
      <p:ext uri="{BB962C8B-B14F-4D97-AF65-F5344CB8AC3E}">
        <p14:creationId xmlns:p14="http://schemas.microsoft.com/office/powerpoint/2010/main" val="36891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9A769-68D7-626C-ABBF-6E403CDAFFD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3B98E76-A88B-DC2B-59A5-081FDFB7034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(22)</a:t>
            </a:r>
          </a:p>
        </p:txBody>
      </p:sp>
      <p:pic>
        <p:nvPicPr>
          <p:cNvPr id="4" name="Picture 3" descr="image of a clipboard with a pencil recording short answer responses">
            <a:extLst>
              <a:ext uri="{FF2B5EF4-FFF2-40B4-BE49-F238E27FC236}">
                <a16:creationId xmlns:a16="http://schemas.microsoft.com/office/drawing/2014/main" id="{1AAC8A13-CDCD-A46D-446C-A20FE4D5ECC5}"/>
              </a:ext>
            </a:extLst>
          </p:cNvPr>
          <p:cNvPicPr>
            <a:picLocks noChangeAspect="1"/>
          </p:cNvPicPr>
          <p:nvPr/>
        </p:nvPicPr>
        <p:blipFill>
          <a:blip r:embed="rId3"/>
          <a:stretch>
            <a:fillRect/>
          </a:stretch>
        </p:blipFill>
        <p:spPr>
          <a:xfrm>
            <a:off x="11124000" y="68108"/>
            <a:ext cx="915500" cy="915500"/>
          </a:xfrm>
          <a:prstGeom prst="rect">
            <a:avLst/>
          </a:prstGeom>
        </p:spPr>
      </p:pic>
      <p:sp>
        <p:nvSpPr>
          <p:cNvPr id="13" name="TextBox 12">
            <a:extLst>
              <a:ext uri="{FF2B5EF4-FFF2-40B4-BE49-F238E27FC236}">
                <a16:creationId xmlns:a16="http://schemas.microsoft.com/office/drawing/2014/main" id="{0FA07689-CFE2-2030-6ACB-606457D78451}"/>
              </a:ext>
            </a:extLst>
          </p:cNvPr>
          <p:cNvSpPr txBox="1"/>
          <p:nvPr/>
        </p:nvSpPr>
        <p:spPr>
          <a:xfrm>
            <a:off x="418764" y="983608"/>
            <a:ext cx="11124000" cy="2170553"/>
          </a:xfrm>
          <a:prstGeom prst="rect">
            <a:avLst/>
          </a:prstGeom>
          <a:noFill/>
        </p:spPr>
        <p:txBody>
          <a:bodyPr wrap="square" lIns="0" tIns="0" rIns="0" bIns="0" rtlCol="0">
            <a:noAutofit/>
          </a:bodyPr>
          <a:lstStyle/>
          <a:p>
            <a:pPr algn="ctr"/>
            <a:r>
              <a:rPr lang="en-AU" sz="3600"/>
              <a:t>The council is building a sensory garden, which means they need to take out part of the playground. They </a:t>
            </a:r>
            <a:r>
              <a:rPr lang="en-AU" sz="3600" b="1"/>
              <a:t>surveyed</a:t>
            </a:r>
            <a:r>
              <a:rPr lang="en-AU" sz="3600"/>
              <a:t> visitors about their favourite playground equipment to help them decide.</a:t>
            </a:r>
          </a:p>
          <a:p>
            <a:pPr algn="l"/>
            <a:endParaRPr lang="en-AU"/>
          </a:p>
        </p:txBody>
      </p:sp>
      <p:graphicFrame>
        <p:nvGraphicFramePr>
          <p:cNvPr id="10" name="Chart 9" descr="A graph of favourite playground equipment with responses of 40 slides, 60 climbing equipment, 25 skate and bike ramp, 15 swings and 60 ball game facilities.">
            <a:extLst>
              <a:ext uri="{FF2B5EF4-FFF2-40B4-BE49-F238E27FC236}">
                <a16:creationId xmlns:a16="http://schemas.microsoft.com/office/drawing/2014/main" id="{483D638E-E3AB-D9F2-C387-4D2D14DA2FC9}"/>
              </a:ext>
            </a:extLst>
          </p:cNvPr>
          <p:cNvGraphicFramePr/>
          <p:nvPr>
            <p:extLst>
              <p:ext uri="{D42A27DB-BD31-4B8C-83A1-F6EECF244321}">
                <p14:modId xmlns:p14="http://schemas.microsoft.com/office/powerpoint/2010/main" val="1300190110"/>
              </p:ext>
            </p:extLst>
          </p:nvPr>
        </p:nvGraphicFramePr>
        <p:xfrm>
          <a:off x="496354" y="3429964"/>
          <a:ext cx="5755089" cy="3145695"/>
        </p:xfrm>
        <a:graphic>
          <a:graphicData uri="http://schemas.openxmlformats.org/drawingml/2006/chart">
            <c:chart xmlns:c="http://schemas.openxmlformats.org/drawingml/2006/chart" xmlns:r="http://schemas.openxmlformats.org/officeDocument/2006/relationships" r:id="rId4"/>
          </a:graphicData>
        </a:graphic>
      </p:graphicFrame>
      <p:sp>
        <p:nvSpPr>
          <p:cNvPr id="17" name="TextBox 16">
            <a:extLst>
              <a:ext uri="{FF2B5EF4-FFF2-40B4-BE49-F238E27FC236}">
                <a16:creationId xmlns:a16="http://schemas.microsoft.com/office/drawing/2014/main" id="{951AC2D8-054C-3C5F-6591-A3FCD7AF7E97}"/>
              </a:ext>
            </a:extLst>
          </p:cNvPr>
          <p:cNvSpPr txBox="1"/>
          <p:nvPr/>
        </p:nvSpPr>
        <p:spPr>
          <a:xfrm>
            <a:off x="6820900" y="3429000"/>
            <a:ext cx="4782138" cy="3416320"/>
          </a:xfrm>
          <a:prstGeom prst="rect">
            <a:avLst/>
          </a:prstGeom>
          <a:noFill/>
        </p:spPr>
        <p:txBody>
          <a:bodyPr wrap="square">
            <a:spAutoFit/>
          </a:bodyPr>
          <a:lstStyle/>
          <a:p>
            <a:pPr algn="ctr"/>
            <a:r>
              <a:rPr lang="en-AU" sz="3600" dirty="0"/>
              <a:t>According to the </a:t>
            </a:r>
            <a:r>
              <a:rPr lang="en-AU" sz="3600" b="1" dirty="0"/>
              <a:t>data</a:t>
            </a:r>
            <a:r>
              <a:rPr lang="en-AU" sz="3600" dirty="0"/>
              <a:t>, which equipment should be removed?</a:t>
            </a:r>
          </a:p>
          <a:p>
            <a:pPr algn="ctr"/>
            <a:endParaRPr lang="en-AU" sz="3600" dirty="0"/>
          </a:p>
          <a:p>
            <a:pPr algn="ctr"/>
            <a:r>
              <a:rPr lang="en-AU" sz="3600" b="1" dirty="0"/>
              <a:t>Explain</a:t>
            </a:r>
            <a:r>
              <a:rPr lang="en-AU" sz="3600" dirty="0"/>
              <a:t> your </a:t>
            </a:r>
            <a:r>
              <a:rPr lang="en-AU" sz="3600" b="1" dirty="0"/>
              <a:t>thinking</a:t>
            </a:r>
            <a:r>
              <a:rPr lang="en-AU" sz="3600" dirty="0"/>
              <a:t>.</a:t>
            </a:r>
          </a:p>
        </p:txBody>
      </p:sp>
      <p:sp>
        <p:nvSpPr>
          <p:cNvPr id="2" name="Slide Number Placeholder 1">
            <a:extLst>
              <a:ext uri="{FF2B5EF4-FFF2-40B4-BE49-F238E27FC236}">
                <a16:creationId xmlns:a16="http://schemas.microsoft.com/office/drawing/2014/main" id="{BD7EF75D-AFCF-C283-BC5C-82BA965B6F0C}"/>
              </a:ext>
            </a:extLst>
          </p:cNvPr>
          <p:cNvSpPr>
            <a:spLocks noGrp="1"/>
          </p:cNvSpPr>
          <p:nvPr>
            <p:ph type="sldNum" sz="quarter" idx="12"/>
          </p:nvPr>
        </p:nvSpPr>
        <p:spPr/>
        <p:txBody>
          <a:bodyPr/>
          <a:lstStyle/>
          <a:p>
            <a:fld id="{10A01DC5-1685-4615-8240-15192985C6A2}" type="slidenum">
              <a:rPr lang="en-AU" smtClean="0"/>
              <a:t>42</a:t>
            </a:fld>
            <a:endParaRPr lang="en-AU"/>
          </a:p>
        </p:txBody>
      </p:sp>
    </p:spTree>
    <p:extLst>
      <p:ext uri="{BB962C8B-B14F-4D97-AF65-F5344CB8AC3E}">
        <p14:creationId xmlns:p14="http://schemas.microsoft.com/office/powerpoint/2010/main" val="1606226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9FF86-7C5B-FA31-D796-296DE0A8C80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91C906B-02BA-2EFD-6FF2-2138C2C6F5C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(23)</a:t>
            </a:r>
          </a:p>
        </p:txBody>
      </p:sp>
      <p:pic>
        <p:nvPicPr>
          <p:cNvPr id="4" name="Picture 3" descr="image of a clipboard with a pencil recording short answer responses">
            <a:extLst>
              <a:ext uri="{FF2B5EF4-FFF2-40B4-BE49-F238E27FC236}">
                <a16:creationId xmlns:a16="http://schemas.microsoft.com/office/drawing/2014/main" id="{E1E55483-DDAD-9F28-32B5-EE0C91CE4FD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8A7FE6AB-F028-BE57-C4D2-218E23CCA7F3}"/>
              </a:ext>
            </a:extLst>
          </p:cNvPr>
          <p:cNvSpPr>
            <a:spLocks noGrp="1"/>
          </p:cNvSpPr>
          <p:nvPr>
            <p:ph type="pic" sz="quarter" idx="21"/>
          </p:nvPr>
        </p:nvSpPr>
        <p:spPr>
          <a:xfrm>
            <a:off x="359999" y="1894727"/>
            <a:ext cx="11243037" cy="3068546"/>
          </a:xfrm>
        </p:spPr>
        <p:txBody>
          <a:bodyPr/>
          <a:lstStyle/>
          <a:p>
            <a:pPr algn="ctr"/>
            <a:r>
              <a:rPr lang="en-US" sz="4400" dirty="0">
                <a:latin typeface="Arial"/>
                <a:cs typeface="Arial"/>
              </a:rPr>
              <a:t>Lachlan </a:t>
            </a:r>
            <a:r>
              <a:rPr lang="en-US" sz="4400" b="1" dirty="0">
                <a:latin typeface="Arial"/>
                <a:cs typeface="Arial"/>
              </a:rPr>
              <a:t>constructed a 3D object </a:t>
            </a:r>
            <a:r>
              <a:rPr lang="en-US" sz="4400" dirty="0">
                <a:latin typeface="Arial"/>
                <a:cs typeface="Arial"/>
              </a:rPr>
              <a:t>with 5 </a:t>
            </a:r>
            <a:r>
              <a:rPr lang="en-US" sz="4400" b="1" dirty="0">
                <a:latin typeface="Arial"/>
                <a:cs typeface="Arial"/>
              </a:rPr>
              <a:t>faces </a:t>
            </a:r>
            <a:r>
              <a:rPr lang="en-US" sz="4400" dirty="0">
                <a:latin typeface="Arial"/>
                <a:cs typeface="Arial"/>
              </a:rPr>
              <a:t>(including 2 triangles), 6 </a:t>
            </a:r>
            <a:r>
              <a:rPr lang="en-US" sz="4400" b="1" dirty="0">
                <a:latin typeface="Arial"/>
                <a:cs typeface="Arial"/>
              </a:rPr>
              <a:t>vertices</a:t>
            </a:r>
            <a:r>
              <a:rPr lang="en-US" sz="4400" dirty="0">
                <a:latin typeface="Arial"/>
                <a:cs typeface="Arial"/>
              </a:rPr>
              <a:t> and 9 </a:t>
            </a:r>
            <a:r>
              <a:rPr lang="en-US" sz="4400" b="1" dirty="0">
                <a:latin typeface="Arial"/>
                <a:cs typeface="Arial"/>
              </a:rPr>
              <a:t>edges</a:t>
            </a:r>
            <a:r>
              <a:rPr lang="en-US" sz="4400" dirty="0">
                <a:latin typeface="Arial"/>
                <a:cs typeface="Arial"/>
              </a:rPr>
              <a:t>. Draw the 3D object Lachlan made.</a:t>
            </a:r>
            <a:endParaRPr lang="en-US" sz="4400" dirty="0"/>
          </a:p>
          <a:p>
            <a:endParaRPr lang="en-US" dirty="0">
              <a:latin typeface="Arial"/>
              <a:cs typeface="Arial"/>
            </a:endParaRPr>
          </a:p>
        </p:txBody>
      </p:sp>
      <p:sp>
        <p:nvSpPr>
          <p:cNvPr id="2" name="Slide Number Placeholder 1">
            <a:extLst>
              <a:ext uri="{FF2B5EF4-FFF2-40B4-BE49-F238E27FC236}">
                <a16:creationId xmlns:a16="http://schemas.microsoft.com/office/drawing/2014/main" id="{57FEA1A1-341D-8A60-97E6-8F9B65B0FF51}"/>
              </a:ext>
            </a:extLst>
          </p:cNvPr>
          <p:cNvSpPr>
            <a:spLocks noGrp="1"/>
          </p:cNvSpPr>
          <p:nvPr>
            <p:ph type="sldNum" sz="quarter" idx="12"/>
          </p:nvPr>
        </p:nvSpPr>
        <p:spPr/>
        <p:txBody>
          <a:bodyPr/>
          <a:lstStyle/>
          <a:p>
            <a:fld id="{10A01DC5-1685-4615-8240-15192985C6A2}" type="slidenum">
              <a:rPr lang="en-AU" smtClean="0"/>
              <a:t>43</a:t>
            </a:fld>
            <a:endParaRPr lang="en-AU"/>
          </a:p>
        </p:txBody>
      </p:sp>
    </p:spTree>
    <p:extLst>
      <p:ext uri="{BB962C8B-B14F-4D97-AF65-F5344CB8AC3E}">
        <p14:creationId xmlns:p14="http://schemas.microsoft.com/office/powerpoint/2010/main" val="800713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1F0B1-A631-6222-A4F6-6ADABC92764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CF2E279-7B70-6AD5-A87B-975C74B4C5A3}"/>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(24)</a:t>
            </a:r>
          </a:p>
        </p:txBody>
      </p:sp>
      <p:pic>
        <p:nvPicPr>
          <p:cNvPr id="4" name="Picture 3" descr="image of a clipboard with a pencil recording short answer responses">
            <a:extLst>
              <a:ext uri="{FF2B5EF4-FFF2-40B4-BE49-F238E27FC236}">
                <a16:creationId xmlns:a16="http://schemas.microsoft.com/office/drawing/2014/main" id="{7B9A45D8-37E1-80DE-ED67-BEAF2EE1521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292E23AF-C9AF-1BEC-B7EF-97960722B4D3}"/>
              </a:ext>
            </a:extLst>
          </p:cNvPr>
          <p:cNvSpPr>
            <a:spLocks noGrp="1"/>
          </p:cNvSpPr>
          <p:nvPr>
            <p:ph type="pic" sz="quarter" idx="21"/>
          </p:nvPr>
        </p:nvSpPr>
        <p:spPr>
          <a:xfrm>
            <a:off x="360000" y="1164870"/>
            <a:ext cx="11243037" cy="2003632"/>
          </a:xfrm>
        </p:spPr>
        <p:txBody>
          <a:bodyPr/>
          <a:lstStyle/>
          <a:p>
            <a:pPr algn="ctr"/>
            <a:r>
              <a:rPr lang="en-US" sz="4400" dirty="0"/>
              <a:t>Do these rectangles have the same area? </a:t>
            </a:r>
            <a:r>
              <a:rPr lang="en-US" sz="4400" b="1" dirty="0"/>
              <a:t>Communicate</a:t>
            </a:r>
            <a:r>
              <a:rPr lang="en-US" sz="4400" dirty="0"/>
              <a:t> your </a:t>
            </a:r>
            <a:r>
              <a:rPr lang="en-US" sz="4400" b="1" dirty="0"/>
              <a:t>thinking</a:t>
            </a:r>
            <a:r>
              <a:rPr lang="en-US" sz="4400" dirty="0"/>
              <a:t>.</a:t>
            </a:r>
          </a:p>
          <a:p>
            <a:endParaRPr lang="en-US" dirty="0">
              <a:latin typeface="Arial"/>
              <a:cs typeface="Arial"/>
            </a:endParaRPr>
          </a:p>
        </p:txBody>
      </p:sp>
      <p:sp>
        <p:nvSpPr>
          <p:cNvPr id="9" name="TextBox 8">
            <a:extLst>
              <a:ext uri="{FF2B5EF4-FFF2-40B4-BE49-F238E27FC236}">
                <a16:creationId xmlns:a16="http://schemas.microsoft.com/office/drawing/2014/main" id="{0580301C-1C10-613E-6B04-07EDC2C72FF9}"/>
              </a:ext>
            </a:extLst>
          </p:cNvPr>
          <p:cNvSpPr txBox="1"/>
          <p:nvPr/>
        </p:nvSpPr>
        <p:spPr>
          <a:xfrm>
            <a:off x="2867246" y="3358659"/>
            <a:ext cx="1059711" cy="399950"/>
          </a:xfrm>
          <a:prstGeom prst="rect">
            <a:avLst/>
          </a:prstGeom>
          <a:noFill/>
        </p:spPr>
        <p:txBody>
          <a:bodyPr wrap="square" lIns="0" tIns="0" rIns="0" bIns="0" rtlCol="0">
            <a:noAutofit/>
          </a:bodyPr>
          <a:lstStyle/>
          <a:p>
            <a:r>
              <a:rPr lang="en-AU" sz="2800"/>
              <a:t>6 cm</a:t>
            </a:r>
          </a:p>
        </p:txBody>
      </p:sp>
      <p:sp>
        <p:nvSpPr>
          <p:cNvPr id="8" name="TextBox 7">
            <a:extLst>
              <a:ext uri="{FF2B5EF4-FFF2-40B4-BE49-F238E27FC236}">
                <a16:creationId xmlns:a16="http://schemas.microsoft.com/office/drawing/2014/main" id="{DD364EE3-2378-335C-2FEA-7F2322760DEC}"/>
              </a:ext>
            </a:extLst>
          </p:cNvPr>
          <p:cNvSpPr txBox="1"/>
          <p:nvPr/>
        </p:nvSpPr>
        <p:spPr>
          <a:xfrm>
            <a:off x="744280" y="4348716"/>
            <a:ext cx="861236" cy="520996"/>
          </a:xfrm>
          <a:prstGeom prst="rect">
            <a:avLst/>
          </a:prstGeom>
          <a:noFill/>
        </p:spPr>
        <p:txBody>
          <a:bodyPr wrap="square" lIns="0" tIns="0" rIns="0" bIns="0" rtlCol="0">
            <a:noAutofit/>
          </a:bodyPr>
          <a:lstStyle/>
          <a:p>
            <a:pPr algn="l"/>
            <a:r>
              <a:rPr lang="en-AU" sz="2800"/>
              <a:t>2 cm</a:t>
            </a:r>
          </a:p>
        </p:txBody>
      </p:sp>
      <p:sp>
        <p:nvSpPr>
          <p:cNvPr id="5" name="Rectangle 4" descr="A blue rectangle.">
            <a:extLst>
              <a:ext uri="{FF2B5EF4-FFF2-40B4-BE49-F238E27FC236}">
                <a16:creationId xmlns:a16="http://schemas.microsoft.com/office/drawing/2014/main" id="{1DD595F3-1A78-12D3-F187-D7C9CC17465C}"/>
              </a:ext>
              <a:ext uri="{C183D7F6-B498-43B3-948B-1728B52AA6E4}">
                <adec:decorative xmlns:adec="http://schemas.microsoft.com/office/drawing/2017/decorative" val="0"/>
              </a:ext>
            </a:extLst>
          </p:cNvPr>
          <p:cNvSpPr/>
          <p:nvPr/>
        </p:nvSpPr>
        <p:spPr>
          <a:xfrm>
            <a:off x="1605516" y="3827721"/>
            <a:ext cx="3583172" cy="1233377"/>
          </a:xfrm>
          <a:prstGeom prst="rect">
            <a:avLst/>
          </a:prstGeom>
          <a:solidFill>
            <a:schemeClr val="accent2"/>
          </a:solidFill>
          <a:ln>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082E528B-75CB-F35C-EE3E-B97E4D8F260A}"/>
              </a:ext>
            </a:extLst>
          </p:cNvPr>
          <p:cNvSpPr txBox="1"/>
          <p:nvPr/>
        </p:nvSpPr>
        <p:spPr>
          <a:xfrm>
            <a:off x="7012471" y="3357173"/>
            <a:ext cx="1059711" cy="399950"/>
          </a:xfrm>
          <a:prstGeom prst="rect">
            <a:avLst/>
          </a:prstGeom>
          <a:noFill/>
        </p:spPr>
        <p:txBody>
          <a:bodyPr wrap="square" lIns="0" tIns="0" rIns="0" bIns="0" rtlCol="0">
            <a:noAutofit/>
          </a:bodyPr>
          <a:lstStyle/>
          <a:p>
            <a:r>
              <a:rPr lang="en-AU" sz="2800" dirty="0"/>
              <a:t>3 cm</a:t>
            </a:r>
          </a:p>
        </p:txBody>
      </p:sp>
      <p:sp>
        <p:nvSpPr>
          <p:cNvPr id="7" name="Rectangle 6" descr="A light blue rectangle.">
            <a:extLst>
              <a:ext uri="{FF2B5EF4-FFF2-40B4-BE49-F238E27FC236}">
                <a16:creationId xmlns:a16="http://schemas.microsoft.com/office/drawing/2014/main" id="{D24120BD-3639-F069-79A2-AC3FDFEAADEB}"/>
              </a:ext>
              <a:ext uri="{C183D7F6-B498-43B3-948B-1728B52AA6E4}">
                <adec:decorative xmlns:adec="http://schemas.microsoft.com/office/drawing/2017/decorative" val="0"/>
              </a:ext>
            </a:extLst>
          </p:cNvPr>
          <p:cNvSpPr/>
          <p:nvPr/>
        </p:nvSpPr>
        <p:spPr>
          <a:xfrm>
            <a:off x="6390167" y="3827721"/>
            <a:ext cx="2083982" cy="2264130"/>
          </a:xfrm>
          <a:prstGeom prst="rect">
            <a:avLst/>
          </a:prstGeom>
          <a:solidFill>
            <a:schemeClr val="accent4">
              <a:lumMod val="90000"/>
            </a:schemeClr>
          </a:solidFill>
          <a:ln>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12" name="TextBox 11">
            <a:extLst>
              <a:ext uri="{FF2B5EF4-FFF2-40B4-BE49-F238E27FC236}">
                <a16:creationId xmlns:a16="http://schemas.microsoft.com/office/drawing/2014/main" id="{9A82F182-E7F5-DF05-2FD0-7C2F38B7851E}"/>
              </a:ext>
            </a:extLst>
          </p:cNvPr>
          <p:cNvSpPr txBox="1"/>
          <p:nvPr/>
        </p:nvSpPr>
        <p:spPr>
          <a:xfrm>
            <a:off x="8814392" y="4699288"/>
            <a:ext cx="861236" cy="520996"/>
          </a:xfrm>
          <a:prstGeom prst="rect">
            <a:avLst/>
          </a:prstGeom>
          <a:noFill/>
        </p:spPr>
        <p:txBody>
          <a:bodyPr wrap="square" lIns="0" tIns="0" rIns="0" bIns="0" rtlCol="0">
            <a:noAutofit/>
          </a:bodyPr>
          <a:lstStyle/>
          <a:p>
            <a:pPr algn="l"/>
            <a:r>
              <a:rPr lang="en-AU" sz="2800"/>
              <a:t>4 cm</a:t>
            </a:r>
          </a:p>
        </p:txBody>
      </p:sp>
      <p:sp>
        <p:nvSpPr>
          <p:cNvPr id="2" name="Slide Number Placeholder 1">
            <a:extLst>
              <a:ext uri="{FF2B5EF4-FFF2-40B4-BE49-F238E27FC236}">
                <a16:creationId xmlns:a16="http://schemas.microsoft.com/office/drawing/2014/main" id="{3AA87200-480B-20DB-4C26-10675759AD1F}"/>
              </a:ext>
            </a:extLst>
          </p:cNvPr>
          <p:cNvSpPr>
            <a:spLocks noGrp="1"/>
          </p:cNvSpPr>
          <p:nvPr>
            <p:ph type="sldNum" sz="quarter" idx="12"/>
          </p:nvPr>
        </p:nvSpPr>
        <p:spPr/>
        <p:txBody>
          <a:bodyPr/>
          <a:lstStyle/>
          <a:p>
            <a:fld id="{10A01DC5-1685-4615-8240-15192985C6A2}" type="slidenum">
              <a:rPr lang="en-AU" smtClean="0"/>
              <a:t>44</a:t>
            </a:fld>
            <a:endParaRPr lang="en-AU"/>
          </a:p>
        </p:txBody>
      </p:sp>
    </p:spTree>
    <p:extLst>
      <p:ext uri="{BB962C8B-B14F-4D97-AF65-F5344CB8AC3E}">
        <p14:creationId xmlns:p14="http://schemas.microsoft.com/office/powerpoint/2010/main" val="3284912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9783460" cy="545601"/>
          </a:xfrm>
        </p:spPr>
        <p:txBody>
          <a:bodyPr/>
          <a:lstStyle/>
          <a:p>
            <a:r>
              <a:rPr lang="en-AU" dirty="0"/>
              <a:t>Activity 6 – fractions of a whole</a:t>
            </a:r>
          </a:p>
        </p:txBody>
      </p:sp>
      <p:pic>
        <p:nvPicPr>
          <p:cNvPr id="42" name="Picture 41" descr="image of a head with cogs turning inside">
            <a:extLst>
              <a:ext uri="{FF2B5EF4-FFF2-40B4-BE49-F238E27FC236}">
                <a16:creationId xmlns:a16="http://schemas.microsoft.com/office/drawing/2014/main" id="{43FCA25A-1C94-D30C-6A25-65447B165D76}"/>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40" name="Group 39" descr="A fraction strip in eight parts, three of which are shaded blue and five of which are shaded orange. Above the strip is a question: what fraction of the strip is blue? Under the strip are 4 multiple choice answers. A says 3. B says 3/5. C says 3/8. D says 8/3.">
            <a:extLst>
              <a:ext uri="{FF2B5EF4-FFF2-40B4-BE49-F238E27FC236}">
                <a16:creationId xmlns:a16="http://schemas.microsoft.com/office/drawing/2014/main" id="{F096C7EE-0214-8514-EB1C-95EB9994D0BB}"/>
              </a:ext>
            </a:extLst>
          </p:cNvPr>
          <p:cNvGrpSpPr/>
          <p:nvPr/>
        </p:nvGrpSpPr>
        <p:grpSpPr>
          <a:xfrm>
            <a:off x="958433" y="1467448"/>
            <a:ext cx="10157712" cy="3813124"/>
            <a:chOff x="1056600" y="495042"/>
            <a:chExt cx="9764659" cy="4374235"/>
          </a:xfrm>
        </p:grpSpPr>
        <p:grpSp>
          <p:nvGrpSpPr>
            <p:cNvPr id="4" name="Group 2">
              <a:extLst>
                <a:ext uri="{FF2B5EF4-FFF2-40B4-BE49-F238E27FC236}">
                  <a16:creationId xmlns:a16="http://schemas.microsoft.com/office/drawing/2014/main" id="{DB3133AA-80BA-2741-F11F-B73BEEA5425F}"/>
                </a:ext>
              </a:extLst>
            </p:cNvPr>
            <p:cNvGrpSpPr/>
            <p:nvPr/>
          </p:nvGrpSpPr>
          <p:grpSpPr>
            <a:xfrm>
              <a:off x="8869576" y="3837653"/>
              <a:ext cx="476871" cy="975027"/>
              <a:chOff x="94101" y="-185905"/>
              <a:chExt cx="635829" cy="1300036"/>
            </a:xfrm>
          </p:grpSpPr>
          <p:sp>
            <p:nvSpPr>
              <p:cNvPr id="5" name="Freeform 3">
                <a:extLst>
                  <a:ext uri="{FF2B5EF4-FFF2-40B4-BE49-F238E27FC236}">
                    <a16:creationId xmlns:a16="http://schemas.microsoft.com/office/drawing/2014/main" id="{69CA33A5-5D46-EBD2-6468-2E8A17E57F5B}"/>
                  </a:ext>
                </a:extLst>
              </p:cNvPr>
              <p:cNvSpPr/>
              <p:nvPr/>
            </p:nvSpPr>
            <p:spPr>
              <a:xfrm>
                <a:off x="94101" y="-185905"/>
                <a:ext cx="635829" cy="1300036"/>
              </a:xfrm>
              <a:custGeom>
                <a:avLst/>
                <a:gdLst/>
                <a:ahLst/>
                <a:cxnLst/>
                <a:rect l="l" t="t" r="r" b="b"/>
                <a:pathLst>
                  <a:path w="446677" h="982688">
                    <a:moveTo>
                      <a:pt x="0" y="0"/>
                    </a:moveTo>
                    <a:lnTo>
                      <a:pt x="446677" y="0"/>
                    </a:lnTo>
                    <a:lnTo>
                      <a:pt x="446677" y="982688"/>
                    </a:lnTo>
                    <a:lnTo>
                      <a:pt x="0" y="9826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sz="4800">
                  <a:latin typeface="Arial" panose="020B0604020202020204" pitchFamily="34" charset="0"/>
                  <a:cs typeface="Arial" panose="020B0604020202020204" pitchFamily="34" charset="0"/>
                </a:endParaRPr>
              </a:p>
            </p:txBody>
          </p:sp>
        </p:grpSp>
        <p:sp>
          <p:nvSpPr>
            <p:cNvPr id="6" name="TextBox 4">
              <a:extLst>
                <a:ext uri="{FF2B5EF4-FFF2-40B4-BE49-F238E27FC236}">
                  <a16:creationId xmlns:a16="http://schemas.microsoft.com/office/drawing/2014/main" id="{3A831177-6DB2-2E55-31D3-D0A569E48407}"/>
                </a:ext>
              </a:extLst>
            </p:cNvPr>
            <p:cNvSpPr txBox="1"/>
            <p:nvPr/>
          </p:nvSpPr>
          <p:spPr>
            <a:xfrm>
              <a:off x="4694893" y="3564323"/>
              <a:ext cx="697000" cy="992688"/>
            </a:xfrm>
            <a:prstGeom prst="rect">
              <a:avLst/>
            </a:prstGeom>
          </p:spPr>
          <p:txBody>
            <a:bodyPr lIns="0" tIns="0" rIns="0" bIns="0" rtlCol="0" anchor="t">
              <a:spAutoFit/>
            </a:bodyPr>
            <a:lstStyle/>
            <a:p>
              <a:pPr algn="ctr">
                <a:lnSpc>
                  <a:spcPts val="7802"/>
                </a:lnSpc>
              </a:pPr>
              <a:r>
                <a:rPr lang="en-US" sz="4800" b="1" dirty="0">
                  <a:solidFill>
                    <a:srgbClr val="000000"/>
                  </a:solidFill>
                  <a:latin typeface="Arial"/>
                  <a:ea typeface="Canva Student Font"/>
                  <a:cs typeface="Arial"/>
                  <a:sym typeface="Canva Student Font"/>
                </a:rPr>
                <a:t>B</a:t>
              </a:r>
              <a:r>
                <a:rPr lang="en-US" sz="4800" dirty="0">
                  <a:solidFill>
                    <a:srgbClr val="000000"/>
                  </a:solidFill>
                  <a:latin typeface="Arial"/>
                  <a:ea typeface="Canva Student Font"/>
                  <a:cs typeface="Arial"/>
                  <a:sym typeface="Canva Student Font"/>
                </a:rPr>
                <a:t>.  </a:t>
              </a:r>
            </a:p>
          </p:txBody>
        </p:sp>
        <p:grpSp>
          <p:nvGrpSpPr>
            <p:cNvPr id="7" name="Group 5">
              <a:extLst>
                <a:ext uri="{FF2B5EF4-FFF2-40B4-BE49-F238E27FC236}">
                  <a16:creationId xmlns:a16="http://schemas.microsoft.com/office/drawing/2014/main" id="{E12494E7-FCE0-C656-E199-475CA7CC0393}"/>
                </a:ext>
              </a:extLst>
            </p:cNvPr>
            <p:cNvGrpSpPr/>
            <p:nvPr/>
          </p:nvGrpSpPr>
          <p:grpSpPr>
            <a:xfrm>
              <a:off x="5407080" y="3819994"/>
              <a:ext cx="490203" cy="992687"/>
              <a:chOff x="178492" y="-209451"/>
              <a:chExt cx="653606" cy="1323583"/>
            </a:xfrm>
          </p:grpSpPr>
          <p:sp>
            <p:nvSpPr>
              <p:cNvPr id="8" name="Freeform 6">
                <a:extLst>
                  <a:ext uri="{FF2B5EF4-FFF2-40B4-BE49-F238E27FC236}">
                    <a16:creationId xmlns:a16="http://schemas.microsoft.com/office/drawing/2014/main" id="{FA085FBF-0C01-6E61-4CEF-2314DCEB3C0D}"/>
                  </a:ext>
                </a:extLst>
              </p:cNvPr>
              <p:cNvSpPr/>
              <p:nvPr/>
            </p:nvSpPr>
            <p:spPr>
              <a:xfrm>
                <a:off x="178492" y="-209451"/>
                <a:ext cx="653606" cy="1323583"/>
              </a:xfrm>
              <a:custGeom>
                <a:avLst/>
                <a:gdLst/>
                <a:ahLst/>
                <a:cxnLst/>
                <a:rect l="l" t="t" r="r" b="b"/>
                <a:pathLst>
                  <a:path w="446677" h="982688">
                    <a:moveTo>
                      <a:pt x="0" y="0"/>
                    </a:moveTo>
                    <a:lnTo>
                      <a:pt x="446677" y="0"/>
                    </a:lnTo>
                    <a:lnTo>
                      <a:pt x="446677" y="982688"/>
                    </a:lnTo>
                    <a:lnTo>
                      <a:pt x="0" y="98268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sz="4000">
                  <a:latin typeface="Arial" panose="020B0604020202020204" pitchFamily="34" charset="0"/>
                  <a:cs typeface="Arial" panose="020B0604020202020204" pitchFamily="34" charset="0"/>
                </a:endParaRPr>
              </a:p>
            </p:txBody>
          </p:sp>
        </p:grpSp>
        <p:sp>
          <p:nvSpPr>
            <p:cNvPr id="9" name="TextBox 7">
              <a:extLst>
                <a:ext uri="{FF2B5EF4-FFF2-40B4-BE49-F238E27FC236}">
                  <a16:creationId xmlns:a16="http://schemas.microsoft.com/office/drawing/2014/main" id="{757197CD-52A4-2898-4FF7-6A16720000F8}"/>
                </a:ext>
              </a:extLst>
            </p:cNvPr>
            <p:cNvSpPr txBox="1"/>
            <p:nvPr/>
          </p:nvSpPr>
          <p:spPr>
            <a:xfrm>
              <a:off x="6397515" y="3585734"/>
              <a:ext cx="655814" cy="992688"/>
            </a:xfrm>
            <a:prstGeom prst="rect">
              <a:avLst/>
            </a:prstGeom>
          </p:spPr>
          <p:txBody>
            <a:bodyPr wrap="square" lIns="0" tIns="0" rIns="0" bIns="0" rtlCol="0" anchor="t">
              <a:spAutoFit/>
            </a:bodyPr>
            <a:lstStyle/>
            <a:p>
              <a:pPr algn="ctr">
                <a:lnSpc>
                  <a:spcPts val="7802"/>
                </a:lnSpc>
              </a:pPr>
              <a:r>
                <a:rPr lang="en-US" sz="4800" b="1" dirty="0">
                  <a:solidFill>
                    <a:srgbClr val="000000"/>
                  </a:solidFill>
                  <a:latin typeface="Arial"/>
                  <a:ea typeface="Canva Student Font"/>
                  <a:cs typeface="Arial"/>
                  <a:sym typeface="Canva Student Font"/>
                </a:rPr>
                <a:t>C.</a:t>
              </a:r>
              <a:r>
                <a:rPr lang="en-US" sz="4800" dirty="0">
                  <a:solidFill>
                    <a:srgbClr val="000000"/>
                  </a:solidFill>
                  <a:latin typeface="Arial"/>
                  <a:ea typeface="Canva Student Font"/>
                  <a:cs typeface="Arial"/>
                  <a:sym typeface="Canva Student Font"/>
                </a:rPr>
                <a:t> </a:t>
              </a:r>
            </a:p>
          </p:txBody>
        </p:sp>
        <p:grpSp>
          <p:nvGrpSpPr>
            <p:cNvPr id="10" name="Group 8">
              <a:extLst>
                <a:ext uri="{FF2B5EF4-FFF2-40B4-BE49-F238E27FC236}">
                  <a16:creationId xmlns:a16="http://schemas.microsoft.com/office/drawing/2014/main" id="{FB934578-5ABF-E09B-3E7C-2161EA7FBAFF}"/>
                </a:ext>
              </a:extLst>
            </p:cNvPr>
            <p:cNvGrpSpPr/>
            <p:nvPr/>
          </p:nvGrpSpPr>
          <p:grpSpPr>
            <a:xfrm>
              <a:off x="7190662" y="3837653"/>
              <a:ext cx="440258" cy="1031624"/>
              <a:chOff x="241493" y="-185905"/>
              <a:chExt cx="587010" cy="1375498"/>
            </a:xfrm>
          </p:grpSpPr>
          <p:sp>
            <p:nvSpPr>
              <p:cNvPr id="11" name="Freeform 9">
                <a:extLst>
                  <a:ext uri="{FF2B5EF4-FFF2-40B4-BE49-F238E27FC236}">
                    <a16:creationId xmlns:a16="http://schemas.microsoft.com/office/drawing/2014/main" id="{496229C9-7CFF-6274-ABD3-28BE31E85256}"/>
                  </a:ext>
                </a:extLst>
              </p:cNvPr>
              <p:cNvSpPr/>
              <p:nvPr/>
            </p:nvSpPr>
            <p:spPr>
              <a:xfrm>
                <a:off x="241493" y="-185905"/>
                <a:ext cx="587010" cy="1375498"/>
              </a:xfrm>
              <a:custGeom>
                <a:avLst/>
                <a:gdLst/>
                <a:ahLst/>
                <a:cxnLst/>
                <a:rect l="l" t="t" r="r" b="b"/>
                <a:pathLst>
                  <a:path w="446677" h="982688">
                    <a:moveTo>
                      <a:pt x="0" y="0"/>
                    </a:moveTo>
                    <a:lnTo>
                      <a:pt x="446677" y="0"/>
                    </a:lnTo>
                    <a:lnTo>
                      <a:pt x="446677" y="982688"/>
                    </a:lnTo>
                    <a:lnTo>
                      <a:pt x="0" y="98268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sz="4000">
                  <a:latin typeface="Arial" panose="020B0604020202020204" pitchFamily="34" charset="0"/>
                  <a:cs typeface="Arial" panose="020B0604020202020204" pitchFamily="34" charset="0"/>
                </a:endParaRPr>
              </a:p>
            </p:txBody>
          </p:sp>
        </p:grpSp>
        <p:grpSp>
          <p:nvGrpSpPr>
            <p:cNvPr id="12" name="Group 10">
              <a:extLst>
                <a:ext uri="{FF2B5EF4-FFF2-40B4-BE49-F238E27FC236}">
                  <a16:creationId xmlns:a16="http://schemas.microsoft.com/office/drawing/2014/main" id="{FA00739D-93D7-DD9D-B04D-624BD9395443}"/>
                </a:ext>
              </a:extLst>
            </p:cNvPr>
            <p:cNvGrpSpPr/>
            <p:nvPr/>
          </p:nvGrpSpPr>
          <p:grpSpPr>
            <a:xfrm>
              <a:off x="1056600" y="1952463"/>
              <a:ext cx="1224084" cy="1336287"/>
              <a:chOff x="0" y="-28575"/>
              <a:chExt cx="438684" cy="478895"/>
            </a:xfrm>
          </p:grpSpPr>
          <p:sp>
            <p:nvSpPr>
              <p:cNvPr id="13" name="Freeform 11">
                <a:extLst>
                  <a:ext uri="{FF2B5EF4-FFF2-40B4-BE49-F238E27FC236}">
                    <a16:creationId xmlns:a16="http://schemas.microsoft.com/office/drawing/2014/main" id="{5DF42843-298F-0ADB-1339-79A5E07C6303}"/>
                  </a:ext>
                </a:extLst>
              </p:cNvPr>
              <p:cNvSpPr/>
              <p:nvPr/>
            </p:nvSpPr>
            <p:spPr>
              <a:xfrm>
                <a:off x="0" y="0"/>
                <a:ext cx="438684" cy="450320"/>
              </a:xfrm>
              <a:custGeom>
                <a:avLst/>
                <a:gdLst/>
                <a:ahLst/>
                <a:cxnLst/>
                <a:rect l="l" t="t" r="r" b="b"/>
                <a:pathLst>
                  <a:path w="438684" h="450320">
                    <a:moveTo>
                      <a:pt x="0" y="0"/>
                    </a:moveTo>
                    <a:lnTo>
                      <a:pt x="438684" y="0"/>
                    </a:lnTo>
                    <a:lnTo>
                      <a:pt x="438684" y="450320"/>
                    </a:lnTo>
                    <a:lnTo>
                      <a:pt x="0" y="450320"/>
                    </a:lnTo>
                    <a:close/>
                  </a:path>
                </a:pathLst>
              </a:custGeom>
              <a:solidFill>
                <a:srgbClr val="CBEDFD"/>
              </a:solidFill>
              <a:ln w="38100" cap="sq">
                <a:solidFill>
                  <a:srgbClr val="000000"/>
                </a:solidFill>
                <a:prstDash val="sysDot"/>
                <a:miter/>
              </a:ln>
            </p:spPr>
            <p:txBody>
              <a:bodyPr/>
              <a:lstStyle/>
              <a:p>
                <a:endParaRPr lang="en-AU">
                  <a:latin typeface="Arial" panose="020B0604020202020204" pitchFamily="34" charset="0"/>
                  <a:cs typeface="Arial" panose="020B0604020202020204" pitchFamily="34" charset="0"/>
                </a:endParaRPr>
              </a:p>
            </p:txBody>
          </p:sp>
          <p:sp>
            <p:nvSpPr>
              <p:cNvPr id="14" name="TextBox 12">
                <a:extLst>
                  <a:ext uri="{FF2B5EF4-FFF2-40B4-BE49-F238E27FC236}">
                    <a16:creationId xmlns:a16="http://schemas.microsoft.com/office/drawing/2014/main" id="{E996EDCF-1740-D76D-35F4-D765C812F18B}"/>
                  </a:ext>
                </a:extLst>
              </p:cNvPr>
              <p:cNvSpPr txBox="1"/>
              <p:nvPr/>
            </p:nvSpPr>
            <p:spPr>
              <a:xfrm>
                <a:off x="0" y="-28575"/>
                <a:ext cx="438684" cy="478895"/>
              </a:xfrm>
              <a:prstGeom prst="rect">
                <a:avLst/>
              </a:prstGeom>
            </p:spPr>
            <p:txBody>
              <a:bodyPr lIns="50800" tIns="50800" rIns="50800" bIns="50800" rtlCol="0" anchor="ctr"/>
              <a:lstStyle/>
              <a:p>
                <a:pPr algn="ctr">
                  <a:lnSpc>
                    <a:spcPts val="2379"/>
                  </a:lnSpc>
                </a:pPr>
                <a:endParaRPr>
                  <a:latin typeface="Arial" panose="020B0604020202020204" pitchFamily="34" charset="0"/>
                  <a:cs typeface="Arial" panose="020B0604020202020204" pitchFamily="34" charset="0"/>
                </a:endParaRPr>
              </a:p>
            </p:txBody>
          </p:sp>
        </p:grpSp>
        <p:sp>
          <p:nvSpPr>
            <p:cNvPr id="15" name="TextBox 13">
              <a:extLst>
                <a:ext uri="{FF2B5EF4-FFF2-40B4-BE49-F238E27FC236}">
                  <a16:creationId xmlns:a16="http://schemas.microsoft.com/office/drawing/2014/main" id="{9C940793-AA42-42F2-60DD-2880FC471ACB}"/>
                </a:ext>
              </a:extLst>
            </p:cNvPr>
            <p:cNvSpPr txBox="1"/>
            <p:nvPr/>
          </p:nvSpPr>
          <p:spPr>
            <a:xfrm>
              <a:off x="1767885" y="495042"/>
              <a:ext cx="8585817" cy="1428006"/>
            </a:xfrm>
            <a:prstGeom prst="rect">
              <a:avLst/>
            </a:prstGeom>
          </p:spPr>
          <p:txBody>
            <a:bodyPr wrap="square" lIns="0" tIns="0" rIns="0" bIns="0" rtlCol="0" anchor="t">
              <a:spAutoFit/>
            </a:bodyPr>
            <a:lstStyle/>
            <a:p>
              <a:pPr algn="ctr">
                <a:lnSpc>
                  <a:spcPts val="4480"/>
                </a:lnSpc>
              </a:pPr>
              <a:r>
                <a:rPr lang="en-US" sz="4400">
                  <a:solidFill>
                    <a:srgbClr val="000000"/>
                  </a:solidFill>
                  <a:latin typeface="Arial" panose="020B0604020202020204" pitchFamily="34" charset="0"/>
                  <a:ea typeface="Canva Student Font"/>
                  <a:cs typeface="Arial" panose="020B0604020202020204" pitchFamily="34" charset="0"/>
                  <a:sym typeface="Canva Student Font"/>
                </a:rPr>
                <a:t>What fraction of the strip is blue?</a:t>
              </a:r>
            </a:p>
          </p:txBody>
        </p:sp>
        <p:sp>
          <p:nvSpPr>
            <p:cNvPr id="16" name="TextBox 14">
              <a:extLst>
                <a:ext uri="{FF2B5EF4-FFF2-40B4-BE49-F238E27FC236}">
                  <a16:creationId xmlns:a16="http://schemas.microsoft.com/office/drawing/2014/main" id="{671AC3BB-4F03-235E-5CC1-FC5A0CCBBE59}"/>
                </a:ext>
              </a:extLst>
            </p:cNvPr>
            <p:cNvSpPr txBox="1"/>
            <p:nvPr/>
          </p:nvSpPr>
          <p:spPr>
            <a:xfrm>
              <a:off x="2417000" y="3564323"/>
              <a:ext cx="646021" cy="992688"/>
            </a:xfrm>
            <a:prstGeom prst="rect">
              <a:avLst/>
            </a:prstGeom>
          </p:spPr>
          <p:txBody>
            <a:bodyPr lIns="0" tIns="0" rIns="0" bIns="0" rtlCol="0" anchor="t">
              <a:spAutoFit/>
            </a:bodyPr>
            <a:lstStyle/>
            <a:p>
              <a:pPr algn="ctr">
                <a:lnSpc>
                  <a:spcPts val="7802"/>
                </a:lnSpc>
              </a:pPr>
              <a:r>
                <a:rPr lang="en-US" sz="4800" b="1" dirty="0">
                  <a:solidFill>
                    <a:srgbClr val="000000"/>
                  </a:solidFill>
                  <a:latin typeface="Arial"/>
                  <a:ea typeface="Canva Student Font"/>
                  <a:cs typeface="Arial"/>
                  <a:sym typeface="Canva Student Font"/>
                </a:rPr>
                <a:t>A.</a:t>
              </a:r>
              <a:r>
                <a:rPr lang="en-US" sz="4800" dirty="0">
                  <a:solidFill>
                    <a:srgbClr val="000000"/>
                  </a:solidFill>
                  <a:latin typeface="Arial"/>
                  <a:ea typeface="Canva Student Font"/>
                  <a:cs typeface="Arial"/>
                  <a:sym typeface="Canva Student Font"/>
                </a:rPr>
                <a:t> </a:t>
              </a:r>
            </a:p>
          </p:txBody>
        </p:sp>
        <p:sp>
          <p:nvSpPr>
            <p:cNvPr id="17" name="TextBox 15">
              <a:extLst>
                <a:ext uri="{FF2B5EF4-FFF2-40B4-BE49-F238E27FC236}">
                  <a16:creationId xmlns:a16="http://schemas.microsoft.com/office/drawing/2014/main" id="{E3D01E8D-B2CD-7A43-0CF4-EA1FD6DB8B49}"/>
                </a:ext>
              </a:extLst>
            </p:cNvPr>
            <p:cNvSpPr txBox="1"/>
            <p:nvPr/>
          </p:nvSpPr>
          <p:spPr>
            <a:xfrm>
              <a:off x="8028769" y="3511963"/>
              <a:ext cx="717103" cy="992688"/>
            </a:xfrm>
            <a:prstGeom prst="rect">
              <a:avLst/>
            </a:prstGeom>
          </p:spPr>
          <p:txBody>
            <a:bodyPr wrap="square" lIns="0" tIns="0" rIns="0" bIns="0" rtlCol="0" anchor="t">
              <a:spAutoFit/>
            </a:bodyPr>
            <a:lstStyle/>
            <a:p>
              <a:pPr algn="ctr">
                <a:lnSpc>
                  <a:spcPts val="7802"/>
                </a:lnSpc>
              </a:pPr>
              <a:r>
                <a:rPr lang="en-US" sz="4800" b="1" dirty="0">
                  <a:solidFill>
                    <a:srgbClr val="000000"/>
                  </a:solidFill>
                  <a:latin typeface="Arial"/>
                  <a:ea typeface="Canva Student Font"/>
                  <a:cs typeface="Arial"/>
                  <a:sym typeface="Canva Student Font"/>
                </a:rPr>
                <a:t>D.</a:t>
              </a:r>
              <a:r>
                <a:rPr lang="en-US" sz="4800" dirty="0">
                  <a:solidFill>
                    <a:srgbClr val="000000"/>
                  </a:solidFill>
                  <a:latin typeface="Arial"/>
                  <a:ea typeface="Canva Student Font"/>
                  <a:cs typeface="Arial"/>
                  <a:sym typeface="Canva Student Font"/>
                </a:rPr>
                <a:t> </a:t>
              </a:r>
            </a:p>
          </p:txBody>
        </p:sp>
        <p:sp>
          <p:nvSpPr>
            <p:cNvPr id="18" name="TextBox 16">
              <a:extLst>
                <a:ext uri="{FF2B5EF4-FFF2-40B4-BE49-F238E27FC236}">
                  <a16:creationId xmlns:a16="http://schemas.microsoft.com/office/drawing/2014/main" id="{7271B5F3-0EFD-5BDD-7EFE-39FA4F7BA03B}"/>
                </a:ext>
              </a:extLst>
            </p:cNvPr>
            <p:cNvSpPr txBox="1"/>
            <p:nvPr/>
          </p:nvSpPr>
          <p:spPr>
            <a:xfrm>
              <a:off x="3425222" y="3580525"/>
              <a:ext cx="490203" cy="1101548"/>
            </a:xfrm>
            <a:prstGeom prst="rect">
              <a:avLst/>
            </a:prstGeom>
          </p:spPr>
          <p:txBody>
            <a:bodyPr lIns="0" tIns="0" rIns="0" bIns="0" rtlCol="0" anchor="t">
              <a:spAutoFit/>
            </a:bodyPr>
            <a:lstStyle/>
            <a:p>
              <a:pPr algn="ctr">
                <a:lnSpc>
                  <a:spcPts val="7802"/>
                </a:lnSpc>
              </a:pPr>
              <a:r>
                <a:rPr lang="en-US" sz="4800">
                  <a:solidFill>
                    <a:srgbClr val="000000"/>
                  </a:solidFill>
                  <a:latin typeface="Arial" panose="020B0604020202020204" pitchFamily="34" charset="0"/>
                  <a:ea typeface="Canva Student Font"/>
                  <a:cs typeface="Arial" panose="020B0604020202020204" pitchFamily="34" charset="0"/>
                  <a:sym typeface="Canva Student Font"/>
                </a:rPr>
                <a:t>3 </a:t>
              </a:r>
            </a:p>
          </p:txBody>
        </p:sp>
        <p:grpSp>
          <p:nvGrpSpPr>
            <p:cNvPr id="19" name="Group 17">
              <a:extLst>
                <a:ext uri="{FF2B5EF4-FFF2-40B4-BE49-F238E27FC236}">
                  <a16:creationId xmlns:a16="http://schemas.microsoft.com/office/drawing/2014/main" id="{C648FD11-C5E8-8403-2DD2-60840D1A5BAD}"/>
                </a:ext>
              </a:extLst>
            </p:cNvPr>
            <p:cNvGrpSpPr/>
            <p:nvPr/>
          </p:nvGrpSpPr>
          <p:grpSpPr>
            <a:xfrm>
              <a:off x="2276682" y="1952463"/>
              <a:ext cx="1224084" cy="1336287"/>
              <a:chOff x="0" y="-28575"/>
              <a:chExt cx="438684" cy="478895"/>
            </a:xfrm>
          </p:grpSpPr>
          <p:sp>
            <p:nvSpPr>
              <p:cNvPr id="20" name="Freeform 18">
                <a:extLst>
                  <a:ext uri="{FF2B5EF4-FFF2-40B4-BE49-F238E27FC236}">
                    <a16:creationId xmlns:a16="http://schemas.microsoft.com/office/drawing/2014/main" id="{DB04E056-560C-33F3-1753-4EA513CB0E16}"/>
                  </a:ext>
                </a:extLst>
              </p:cNvPr>
              <p:cNvSpPr/>
              <p:nvPr/>
            </p:nvSpPr>
            <p:spPr>
              <a:xfrm>
                <a:off x="0" y="0"/>
                <a:ext cx="438684" cy="450320"/>
              </a:xfrm>
              <a:custGeom>
                <a:avLst/>
                <a:gdLst/>
                <a:ahLst/>
                <a:cxnLst/>
                <a:rect l="l" t="t" r="r" b="b"/>
                <a:pathLst>
                  <a:path w="438684" h="450320">
                    <a:moveTo>
                      <a:pt x="0" y="0"/>
                    </a:moveTo>
                    <a:lnTo>
                      <a:pt x="438684" y="0"/>
                    </a:lnTo>
                    <a:lnTo>
                      <a:pt x="438684" y="450320"/>
                    </a:lnTo>
                    <a:lnTo>
                      <a:pt x="0" y="450320"/>
                    </a:lnTo>
                    <a:close/>
                  </a:path>
                </a:pathLst>
              </a:custGeom>
              <a:solidFill>
                <a:srgbClr val="FFBD59"/>
              </a:solidFill>
              <a:ln w="38100" cap="sq">
                <a:solidFill>
                  <a:srgbClr val="000000"/>
                </a:solidFill>
                <a:prstDash val="sysDot"/>
                <a:miter/>
              </a:ln>
            </p:spPr>
            <p:txBody>
              <a:bodyPr/>
              <a:lstStyle/>
              <a:p>
                <a:endParaRPr lang="en-AU">
                  <a:latin typeface="Arial" panose="020B0604020202020204" pitchFamily="34" charset="0"/>
                  <a:cs typeface="Arial" panose="020B0604020202020204" pitchFamily="34" charset="0"/>
                </a:endParaRPr>
              </a:p>
            </p:txBody>
          </p:sp>
          <p:sp>
            <p:nvSpPr>
              <p:cNvPr id="21" name="TextBox 19">
                <a:extLst>
                  <a:ext uri="{FF2B5EF4-FFF2-40B4-BE49-F238E27FC236}">
                    <a16:creationId xmlns:a16="http://schemas.microsoft.com/office/drawing/2014/main" id="{A05F86BA-8851-6F45-41A7-1BB7B2E38419}"/>
                  </a:ext>
                </a:extLst>
              </p:cNvPr>
              <p:cNvSpPr txBox="1"/>
              <p:nvPr/>
            </p:nvSpPr>
            <p:spPr>
              <a:xfrm>
                <a:off x="0" y="-28575"/>
                <a:ext cx="438684" cy="478895"/>
              </a:xfrm>
              <a:prstGeom prst="rect">
                <a:avLst/>
              </a:prstGeom>
            </p:spPr>
            <p:txBody>
              <a:bodyPr lIns="50800" tIns="50800" rIns="50800" bIns="50800" rtlCol="0" anchor="ctr"/>
              <a:lstStyle/>
              <a:p>
                <a:pPr algn="ctr">
                  <a:lnSpc>
                    <a:spcPts val="2379"/>
                  </a:lnSpc>
                </a:pPr>
                <a:endParaRPr>
                  <a:latin typeface="Arial" panose="020B0604020202020204" pitchFamily="34" charset="0"/>
                  <a:cs typeface="Arial" panose="020B0604020202020204" pitchFamily="34" charset="0"/>
                </a:endParaRPr>
              </a:p>
            </p:txBody>
          </p:sp>
        </p:grpSp>
        <p:grpSp>
          <p:nvGrpSpPr>
            <p:cNvPr id="22" name="Group 20">
              <a:extLst>
                <a:ext uri="{FF2B5EF4-FFF2-40B4-BE49-F238E27FC236}">
                  <a16:creationId xmlns:a16="http://schemas.microsoft.com/office/drawing/2014/main" id="{060EC13C-E03A-8693-C210-EF32F6AC34DF}"/>
                </a:ext>
              </a:extLst>
            </p:cNvPr>
            <p:cNvGrpSpPr/>
            <p:nvPr/>
          </p:nvGrpSpPr>
          <p:grpSpPr>
            <a:xfrm>
              <a:off x="3496764" y="1952463"/>
              <a:ext cx="1224084" cy="1336287"/>
              <a:chOff x="0" y="-28575"/>
              <a:chExt cx="438684" cy="478895"/>
            </a:xfrm>
          </p:grpSpPr>
          <p:sp>
            <p:nvSpPr>
              <p:cNvPr id="23" name="Freeform 21">
                <a:extLst>
                  <a:ext uri="{FF2B5EF4-FFF2-40B4-BE49-F238E27FC236}">
                    <a16:creationId xmlns:a16="http://schemas.microsoft.com/office/drawing/2014/main" id="{142F63E5-668A-8730-DA2F-676A5CD98FCD}"/>
                  </a:ext>
                </a:extLst>
              </p:cNvPr>
              <p:cNvSpPr/>
              <p:nvPr/>
            </p:nvSpPr>
            <p:spPr>
              <a:xfrm>
                <a:off x="0" y="0"/>
                <a:ext cx="438684" cy="450320"/>
              </a:xfrm>
              <a:custGeom>
                <a:avLst/>
                <a:gdLst/>
                <a:ahLst/>
                <a:cxnLst/>
                <a:rect l="l" t="t" r="r" b="b"/>
                <a:pathLst>
                  <a:path w="438684" h="450320">
                    <a:moveTo>
                      <a:pt x="0" y="0"/>
                    </a:moveTo>
                    <a:lnTo>
                      <a:pt x="438684" y="0"/>
                    </a:lnTo>
                    <a:lnTo>
                      <a:pt x="438684" y="450320"/>
                    </a:lnTo>
                    <a:lnTo>
                      <a:pt x="0" y="450320"/>
                    </a:lnTo>
                    <a:close/>
                  </a:path>
                </a:pathLst>
              </a:custGeom>
              <a:solidFill>
                <a:srgbClr val="CBEDFD"/>
              </a:solidFill>
              <a:ln w="38100" cap="sq">
                <a:solidFill>
                  <a:srgbClr val="000000"/>
                </a:solidFill>
                <a:prstDash val="sysDot"/>
                <a:miter/>
              </a:ln>
            </p:spPr>
            <p:txBody>
              <a:bodyPr/>
              <a:lstStyle/>
              <a:p>
                <a:endParaRPr lang="en-AU">
                  <a:latin typeface="Arial" panose="020B0604020202020204" pitchFamily="34" charset="0"/>
                  <a:cs typeface="Arial" panose="020B0604020202020204" pitchFamily="34" charset="0"/>
                </a:endParaRPr>
              </a:p>
            </p:txBody>
          </p:sp>
          <p:sp>
            <p:nvSpPr>
              <p:cNvPr id="24" name="TextBox 22">
                <a:extLst>
                  <a:ext uri="{FF2B5EF4-FFF2-40B4-BE49-F238E27FC236}">
                    <a16:creationId xmlns:a16="http://schemas.microsoft.com/office/drawing/2014/main" id="{B8615CB4-D49E-56BD-D2F8-D265EEB601D4}"/>
                  </a:ext>
                </a:extLst>
              </p:cNvPr>
              <p:cNvSpPr txBox="1"/>
              <p:nvPr/>
            </p:nvSpPr>
            <p:spPr>
              <a:xfrm>
                <a:off x="0" y="-28575"/>
                <a:ext cx="438684" cy="478895"/>
              </a:xfrm>
              <a:prstGeom prst="rect">
                <a:avLst/>
              </a:prstGeom>
            </p:spPr>
            <p:txBody>
              <a:bodyPr lIns="50800" tIns="50800" rIns="50800" bIns="50800" rtlCol="0" anchor="ctr"/>
              <a:lstStyle/>
              <a:p>
                <a:pPr algn="ctr">
                  <a:lnSpc>
                    <a:spcPts val="2379"/>
                  </a:lnSpc>
                </a:pPr>
                <a:endParaRPr>
                  <a:latin typeface="Arial" panose="020B0604020202020204" pitchFamily="34" charset="0"/>
                  <a:cs typeface="Arial" panose="020B0604020202020204" pitchFamily="34" charset="0"/>
                </a:endParaRPr>
              </a:p>
            </p:txBody>
          </p:sp>
        </p:grpSp>
        <p:grpSp>
          <p:nvGrpSpPr>
            <p:cNvPr id="25" name="Group 23">
              <a:extLst>
                <a:ext uri="{FF2B5EF4-FFF2-40B4-BE49-F238E27FC236}">
                  <a16:creationId xmlns:a16="http://schemas.microsoft.com/office/drawing/2014/main" id="{C4BD1C4B-C816-98CB-503C-91927F42BD40}"/>
                </a:ext>
              </a:extLst>
            </p:cNvPr>
            <p:cNvGrpSpPr/>
            <p:nvPr/>
          </p:nvGrpSpPr>
          <p:grpSpPr>
            <a:xfrm>
              <a:off x="4716846" y="1952463"/>
              <a:ext cx="1224084" cy="1336287"/>
              <a:chOff x="0" y="-28575"/>
              <a:chExt cx="438684" cy="478895"/>
            </a:xfrm>
          </p:grpSpPr>
          <p:sp>
            <p:nvSpPr>
              <p:cNvPr id="26" name="Freeform 24">
                <a:extLst>
                  <a:ext uri="{FF2B5EF4-FFF2-40B4-BE49-F238E27FC236}">
                    <a16:creationId xmlns:a16="http://schemas.microsoft.com/office/drawing/2014/main" id="{7927609E-FB4B-0BE5-C4A4-1C850AD83148}"/>
                  </a:ext>
                </a:extLst>
              </p:cNvPr>
              <p:cNvSpPr/>
              <p:nvPr/>
            </p:nvSpPr>
            <p:spPr>
              <a:xfrm>
                <a:off x="0" y="0"/>
                <a:ext cx="438684" cy="450320"/>
              </a:xfrm>
              <a:custGeom>
                <a:avLst/>
                <a:gdLst/>
                <a:ahLst/>
                <a:cxnLst/>
                <a:rect l="l" t="t" r="r" b="b"/>
                <a:pathLst>
                  <a:path w="438684" h="450320">
                    <a:moveTo>
                      <a:pt x="0" y="0"/>
                    </a:moveTo>
                    <a:lnTo>
                      <a:pt x="438684" y="0"/>
                    </a:lnTo>
                    <a:lnTo>
                      <a:pt x="438684" y="450320"/>
                    </a:lnTo>
                    <a:lnTo>
                      <a:pt x="0" y="450320"/>
                    </a:lnTo>
                    <a:close/>
                  </a:path>
                </a:pathLst>
              </a:custGeom>
              <a:solidFill>
                <a:srgbClr val="FFBD59"/>
              </a:solidFill>
              <a:ln w="38100" cap="sq">
                <a:solidFill>
                  <a:srgbClr val="000000"/>
                </a:solidFill>
                <a:prstDash val="sysDot"/>
                <a:miter/>
              </a:ln>
            </p:spPr>
            <p:txBody>
              <a:bodyPr/>
              <a:lstStyle/>
              <a:p>
                <a:endParaRPr lang="en-AU">
                  <a:latin typeface="Arial" panose="020B0604020202020204" pitchFamily="34" charset="0"/>
                  <a:cs typeface="Arial" panose="020B0604020202020204" pitchFamily="34" charset="0"/>
                </a:endParaRPr>
              </a:p>
            </p:txBody>
          </p:sp>
          <p:sp>
            <p:nvSpPr>
              <p:cNvPr id="27" name="TextBox 25">
                <a:extLst>
                  <a:ext uri="{FF2B5EF4-FFF2-40B4-BE49-F238E27FC236}">
                    <a16:creationId xmlns:a16="http://schemas.microsoft.com/office/drawing/2014/main" id="{D9FEBDD1-9CF5-1BF7-9D4F-D10A8B472954}"/>
                  </a:ext>
                </a:extLst>
              </p:cNvPr>
              <p:cNvSpPr txBox="1"/>
              <p:nvPr/>
            </p:nvSpPr>
            <p:spPr>
              <a:xfrm>
                <a:off x="0" y="-28575"/>
                <a:ext cx="438684" cy="478895"/>
              </a:xfrm>
              <a:prstGeom prst="rect">
                <a:avLst/>
              </a:prstGeom>
            </p:spPr>
            <p:txBody>
              <a:bodyPr lIns="50800" tIns="50800" rIns="50800" bIns="50800" rtlCol="0" anchor="ctr"/>
              <a:lstStyle/>
              <a:p>
                <a:pPr algn="ctr">
                  <a:lnSpc>
                    <a:spcPts val="2379"/>
                  </a:lnSpc>
                </a:pPr>
                <a:endParaRPr>
                  <a:latin typeface="Arial" panose="020B0604020202020204" pitchFamily="34" charset="0"/>
                  <a:cs typeface="Arial" panose="020B0604020202020204" pitchFamily="34" charset="0"/>
                </a:endParaRPr>
              </a:p>
            </p:txBody>
          </p:sp>
        </p:grpSp>
        <p:grpSp>
          <p:nvGrpSpPr>
            <p:cNvPr id="28" name="Group 26">
              <a:extLst>
                <a:ext uri="{FF2B5EF4-FFF2-40B4-BE49-F238E27FC236}">
                  <a16:creationId xmlns:a16="http://schemas.microsoft.com/office/drawing/2014/main" id="{7EAD0163-8CFD-7911-A2DA-4C24FF19AFE0}"/>
                </a:ext>
              </a:extLst>
            </p:cNvPr>
            <p:cNvGrpSpPr/>
            <p:nvPr/>
          </p:nvGrpSpPr>
          <p:grpSpPr>
            <a:xfrm>
              <a:off x="5936929" y="1952463"/>
              <a:ext cx="1224084" cy="1336287"/>
              <a:chOff x="0" y="-28575"/>
              <a:chExt cx="438684" cy="478895"/>
            </a:xfrm>
          </p:grpSpPr>
          <p:sp>
            <p:nvSpPr>
              <p:cNvPr id="29" name="Freeform 27">
                <a:extLst>
                  <a:ext uri="{FF2B5EF4-FFF2-40B4-BE49-F238E27FC236}">
                    <a16:creationId xmlns:a16="http://schemas.microsoft.com/office/drawing/2014/main" id="{590E8C19-0818-A340-8B2C-3C565C483566}"/>
                  </a:ext>
                </a:extLst>
              </p:cNvPr>
              <p:cNvSpPr/>
              <p:nvPr/>
            </p:nvSpPr>
            <p:spPr>
              <a:xfrm>
                <a:off x="0" y="0"/>
                <a:ext cx="438684" cy="450320"/>
              </a:xfrm>
              <a:custGeom>
                <a:avLst/>
                <a:gdLst/>
                <a:ahLst/>
                <a:cxnLst/>
                <a:rect l="l" t="t" r="r" b="b"/>
                <a:pathLst>
                  <a:path w="438684" h="450320">
                    <a:moveTo>
                      <a:pt x="0" y="0"/>
                    </a:moveTo>
                    <a:lnTo>
                      <a:pt x="438684" y="0"/>
                    </a:lnTo>
                    <a:lnTo>
                      <a:pt x="438684" y="450320"/>
                    </a:lnTo>
                    <a:lnTo>
                      <a:pt x="0" y="450320"/>
                    </a:lnTo>
                    <a:close/>
                  </a:path>
                </a:pathLst>
              </a:custGeom>
              <a:solidFill>
                <a:srgbClr val="CBEDFD"/>
              </a:solidFill>
              <a:ln w="38100" cap="sq">
                <a:solidFill>
                  <a:srgbClr val="000000"/>
                </a:solidFill>
                <a:prstDash val="sysDot"/>
                <a:miter/>
              </a:ln>
            </p:spPr>
            <p:txBody>
              <a:bodyPr/>
              <a:lstStyle/>
              <a:p>
                <a:endParaRPr lang="en-AU">
                  <a:latin typeface="Arial" panose="020B0604020202020204" pitchFamily="34" charset="0"/>
                  <a:cs typeface="Arial" panose="020B0604020202020204" pitchFamily="34" charset="0"/>
                </a:endParaRPr>
              </a:p>
            </p:txBody>
          </p:sp>
          <p:sp>
            <p:nvSpPr>
              <p:cNvPr id="30" name="TextBox 28">
                <a:extLst>
                  <a:ext uri="{FF2B5EF4-FFF2-40B4-BE49-F238E27FC236}">
                    <a16:creationId xmlns:a16="http://schemas.microsoft.com/office/drawing/2014/main" id="{022FF35F-A025-4D29-9E82-C4EB258014A2}"/>
                  </a:ext>
                </a:extLst>
              </p:cNvPr>
              <p:cNvSpPr txBox="1"/>
              <p:nvPr/>
            </p:nvSpPr>
            <p:spPr>
              <a:xfrm>
                <a:off x="0" y="-28575"/>
                <a:ext cx="438684" cy="478895"/>
              </a:xfrm>
              <a:prstGeom prst="rect">
                <a:avLst/>
              </a:prstGeom>
            </p:spPr>
            <p:txBody>
              <a:bodyPr lIns="50800" tIns="50800" rIns="50800" bIns="50800" rtlCol="0" anchor="ctr"/>
              <a:lstStyle/>
              <a:p>
                <a:pPr algn="ctr">
                  <a:lnSpc>
                    <a:spcPts val="2379"/>
                  </a:lnSpc>
                </a:pPr>
                <a:endParaRPr>
                  <a:latin typeface="Arial" panose="020B0604020202020204" pitchFamily="34" charset="0"/>
                  <a:cs typeface="Arial" panose="020B0604020202020204" pitchFamily="34" charset="0"/>
                </a:endParaRPr>
              </a:p>
            </p:txBody>
          </p:sp>
        </p:grpSp>
        <p:grpSp>
          <p:nvGrpSpPr>
            <p:cNvPr id="31" name="Group 29">
              <a:extLst>
                <a:ext uri="{FF2B5EF4-FFF2-40B4-BE49-F238E27FC236}">
                  <a16:creationId xmlns:a16="http://schemas.microsoft.com/office/drawing/2014/main" id="{AFE637EF-40AB-27C3-C977-3F29C5AE1933}"/>
                </a:ext>
              </a:extLst>
            </p:cNvPr>
            <p:cNvGrpSpPr/>
            <p:nvPr/>
          </p:nvGrpSpPr>
          <p:grpSpPr>
            <a:xfrm>
              <a:off x="7157011" y="1952463"/>
              <a:ext cx="1224084" cy="1336287"/>
              <a:chOff x="0" y="-28575"/>
              <a:chExt cx="438684" cy="478895"/>
            </a:xfrm>
          </p:grpSpPr>
          <p:sp>
            <p:nvSpPr>
              <p:cNvPr id="32" name="Freeform 30">
                <a:extLst>
                  <a:ext uri="{FF2B5EF4-FFF2-40B4-BE49-F238E27FC236}">
                    <a16:creationId xmlns:a16="http://schemas.microsoft.com/office/drawing/2014/main" id="{2BED82A9-9C97-7903-EA4F-D4DACD4F8E0D}"/>
                  </a:ext>
                </a:extLst>
              </p:cNvPr>
              <p:cNvSpPr/>
              <p:nvPr/>
            </p:nvSpPr>
            <p:spPr>
              <a:xfrm>
                <a:off x="0" y="0"/>
                <a:ext cx="438684" cy="450320"/>
              </a:xfrm>
              <a:custGeom>
                <a:avLst/>
                <a:gdLst/>
                <a:ahLst/>
                <a:cxnLst/>
                <a:rect l="l" t="t" r="r" b="b"/>
                <a:pathLst>
                  <a:path w="438684" h="450320">
                    <a:moveTo>
                      <a:pt x="0" y="0"/>
                    </a:moveTo>
                    <a:lnTo>
                      <a:pt x="438684" y="0"/>
                    </a:lnTo>
                    <a:lnTo>
                      <a:pt x="438684" y="450320"/>
                    </a:lnTo>
                    <a:lnTo>
                      <a:pt x="0" y="450320"/>
                    </a:lnTo>
                    <a:close/>
                  </a:path>
                </a:pathLst>
              </a:custGeom>
              <a:solidFill>
                <a:srgbClr val="FFBD59"/>
              </a:solidFill>
              <a:ln w="38100" cap="sq">
                <a:solidFill>
                  <a:srgbClr val="000000"/>
                </a:solidFill>
                <a:prstDash val="sysDot"/>
                <a:miter/>
              </a:ln>
            </p:spPr>
            <p:txBody>
              <a:bodyPr/>
              <a:lstStyle/>
              <a:p>
                <a:endParaRPr lang="en-AU">
                  <a:latin typeface="Arial" panose="020B0604020202020204" pitchFamily="34" charset="0"/>
                  <a:cs typeface="Arial" panose="020B0604020202020204" pitchFamily="34" charset="0"/>
                </a:endParaRPr>
              </a:p>
            </p:txBody>
          </p:sp>
          <p:sp>
            <p:nvSpPr>
              <p:cNvPr id="33" name="TextBox 31">
                <a:extLst>
                  <a:ext uri="{FF2B5EF4-FFF2-40B4-BE49-F238E27FC236}">
                    <a16:creationId xmlns:a16="http://schemas.microsoft.com/office/drawing/2014/main" id="{D8B921E2-04D9-00BE-98A6-B80AAF287309}"/>
                  </a:ext>
                </a:extLst>
              </p:cNvPr>
              <p:cNvSpPr txBox="1"/>
              <p:nvPr/>
            </p:nvSpPr>
            <p:spPr>
              <a:xfrm>
                <a:off x="0" y="-28575"/>
                <a:ext cx="438684" cy="478895"/>
              </a:xfrm>
              <a:prstGeom prst="rect">
                <a:avLst/>
              </a:prstGeom>
            </p:spPr>
            <p:txBody>
              <a:bodyPr lIns="50800" tIns="50800" rIns="50800" bIns="50800" rtlCol="0" anchor="ctr"/>
              <a:lstStyle/>
              <a:p>
                <a:pPr algn="ctr">
                  <a:lnSpc>
                    <a:spcPts val="2379"/>
                  </a:lnSpc>
                </a:pPr>
                <a:endParaRPr>
                  <a:latin typeface="Arial" panose="020B0604020202020204" pitchFamily="34" charset="0"/>
                  <a:cs typeface="Arial" panose="020B0604020202020204" pitchFamily="34" charset="0"/>
                </a:endParaRPr>
              </a:p>
            </p:txBody>
          </p:sp>
        </p:grpSp>
        <p:grpSp>
          <p:nvGrpSpPr>
            <p:cNvPr id="34" name="Group 32">
              <a:extLst>
                <a:ext uri="{FF2B5EF4-FFF2-40B4-BE49-F238E27FC236}">
                  <a16:creationId xmlns:a16="http://schemas.microsoft.com/office/drawing/2014/main" id="{20311684-01A4-7AF7-CE6B-EF6D62B0FE40}"/>
                </a:ext>
              </a:extLst>
            </p:cNvPr>
            <p:cNvGrpSpPr/>
            <p:nvPr/>
          </p:nvGrpSpPr>
          <p:grpSpPr>
            <a:xfrm>
              <a:off x="8377093" y="1952463"/>
              <a:ext cx="1224084" cy="1336287"/>
              <a:chOff x="0" y="-28575"/>
              <a:chExt cx="438684" cy="478895"/>
            </a:xfrm>
          </p:grpSpPr>
          <p:sp>
            <p:nvSpPr>
              <p:cNvPr id="35" name="Freeform 33">
                <a:extLst>
                  <a:ext uri="{FF2B5EF4-FFF2-40B4-BE49-F238E27FC236}">
                    <a16:creationId xmlns:a16="http://schemas.microsoft.com/office/drawing/2014/main" id="{ED7B5777-1D1F-FF0F-076D-40F00C014429}"/>
                  </a:ext>
                </a:extLst>
              </p:cNvPr>
              <p:cNvSpPr/>
              <p:nvPr/>
            </p:nvSpPr>
            <p:spPr>
              <a:xfrm>
                <a:off x="0" y="0"/>
                <a:ext cx="438684" cy="450320"/>
              </a:xfrm>
              <a:custGeom>
                <a:avLst/>
                <a:gdLst/>
                <a:ahLst/>
                <a:cxnLst/>
                <a:rect l="l" t="t" r="r" b="b"/>
                <a:pathLst>
                  <a:path w="438684" h="450320">
                    <a:moveTo>
                      <a:pt x="0" y="0"/>
                    </a:moveTo>
                    <a:lnTo>
                      <a:pt x="438684" y="0"/>
                    </a:lnTo>
                    <a:lnTo>
                      <a:pt x="438684" y="450320"/>
                    </a:lnTo>
                    <a:lnTo>
                      <a:pt x="0" y="450320"/>
                    </a:lnTo>
                    <a:close/>
                  </a:path>
                </a:pathLst>
              </a:custGeom>
              <a:solidFill>
                <a:srgbClr val="FFBD59"/>
              </a:solidFill>
              <a:ln w="38100" cap="sq">
                <a:solidFill>
                  <a:srgbClr val="000000"/>
                </a:solidFill>
                <a:prstDash val="sysDot"/>
                <a:miter/>
              </a:ln>
            </p:spPr>
            <p:txBody>
              <a:bodyPr/>
              <a:lstStyle/>
              <a:p>
                <a:endParaRPr lang="en-AU">
                  <a:latin typeface="Arial" panose="020B0604020202020204" pitchFamily="34" charset="0"/>
                  <a:cs typeface="Arial" panose="020B0604020202020204" pitchFamily="34" charset="0"/>
                </a:endParaRPr>
              </a:p>
            </p:txBody>
          </p:sp>
          <p:sp>
            <p:nvSpPr>
              <p:cNvPr id="36" name="TextBox 34">
                <a:extLst>
                  <a:ext uri="{FF2B5EF4-FFF2-40B4-BE49-F238E27FC236}">
                    <a16:creationId xmlns:a16="http://schemas.microsoft.com/office/drawing/2014/main" id="{AF941410-C7EA-F7C5-08FB-A45DEF198696}"/>
                  </a:ext>
                </a:extLst>
              </p:cNvPr>
              <p:cNvSpPr txBox="1"/>
              <p:nvPr/>
            </p:nvSpPr>
            <p:spPr>
              <a:xfrm>
                <a:off x="0" y="-28575"/>
                <a:ext cx="438684" cy="478895"/>
              </a:xfrm>
              <a:prstGeom prst="rect">
                <a:avLst/>
              </a:prstGeom>
            </p:spPr>
            <p:txBody>
              <a:bodyPr lIns="50800" tIns="50800" rIns="50800" bIns="50800" rtlCol="0" anchor="ctr"/>
              <a:lstStyle/>
              <a:p>
                <a:pPr algn="ctr">
                  <a:lnSpc>
                    <a:spcPts val="2379"/>
                  </a:lnSpc>
                </a:pPr>
                <a:endParaRPr>
                  <a:latin typeface="Arial" panose="020B0604020202020204" pitchFamily="34" charset="0"/>
                  <a:cs typeface="Arial" panose="020B0604020202020204" pitchFamily="34" charset="0"/>
                </a:endParaRPr>
              </a:p>
            </p:txBody>
          </p:sp>
        </p:grpSp>
        <p:grpSp>
          <p:nvGrpSpPr>
            <p:cNvPr id="37" name="Group 35">
              <a:extLst>
                <a:ext uri="{FF2B5EF4-FFF2-40B4-BE49-F238E27FC236}">
                  <a16:creationId xmlns:a16="http://schemas.microsoft.com/office/drawing/2014/main" id="{9B7A8075-69D7-F1E9-6914-4CE8D01B00D5}"/>
                </a:ext>
              </a:extLst>
            </p:cNvPr>
            <p:cNvGrpSpPr/>
            <p:nvPr/>
          </p:nvGrpSpPr>
          <p:grpSpPr>
            <a:xfrm>
              <a:off x="9597175" y="1952463"/>
              <a:ext cx="1224084" cy="1336287"/>
              <a:chOff x="0" y="-28575"/>
              <a:chExt cx="438684" cy="478895"/>
            </a:xfrm>
          </p:grpSpPr>
          <p:sp>
            <p:nvSpPr>
              <p:cNvPr id="38" name="Freeform 36">
                <a:extLst>
                  <a:ext uri="{FF2B5EF4-FFF2-40B4-BE49-F238E27FC236}">
                    <a16:creationId xmlns:a16="http://schemas.microsoft.com/office/drawing/2014/main" id="{F2E1AE04-A424-3166-B0AE-04EB15CB44C0}"/>
                  </a:ext>
                </a:extLst>
              </p:cNvPr>
              <p:cNvSpPr/>
              <p:nvPr/>
            </p:nvSpPr>
            <p:spPr>
              <a:xfrm>
                <a:off x="0" y="0"/>
                <a:ext cx="438684" cy="450320"/>
              </a:xfrm>
              <a:custGeom>
                <a:avLst/>
                <a:gdLst/>
                <a:ahLst/>
                <a:cxnLst/>
                <a:rect l="l" t="t" r="r" b="b"/>
                <a:pathLst>
                  <a:path w="438684" h="450320">
                    <a:moveTo>
                      <a:pt x="0" y="0"/>
                    </a:moveTo>
                    <a:lnTo>
                      <a:pt x="438684" y="0"/>
                    </a:lnTo>
                    <a:lnTo>
                      <a:pt x="438684" y="450320"/>
                    </a:lnTo>
                    <a:lnTo>
                      <a:pt x="0" y="450320"/>
                    </a:lnTo>
                    <a:close/>
                  </a:path>
                </a:pathLst>
              </a:custGeom>
              <a:solidFill>
                <a:srgbClr val="FFBD59"/>
              </a:solidFill>
              <a:ln w="38100" cap="sq">
                <a:solidFill>
                  <a:srgbClr val="000000"/>
                </a:solidFill>
                <a:prstDash val="sysDot"/>
                <a:miter/>
              </a:ln>
            </p:spPr>
            <p:txBody>
              <a:bodyPr/>
              <a:lstStyle/>
              <a:p>
                <a:endParaRPr lang="en-AU">
                  <a:latin typeface="Arial" panose="020B0604020202020204" pitchFamily="34" charset="0"/>
                  <a:cs typeface="Arial" panose="020B0604020202020204" pitchFamily="34" charset="0"/>
                </a:endParaRPr>
              </a:p>
            </p:txBody>
          </p:sp>
          <p:sp>
            <p:nvSpPr>
              <p:cNvPr id="39" name="TextBox 37">
                <a:extLst>
                  <a:ext uri="{FF2B5EF4-FFF2-40B4-BE49-F238E27FC236}">
                    <a16:creationId xmlns:a16="http://schemas.microsoft.com/office/drawing/2014/main" id="{94EF8F93-1E81-B9DB-CE2B-A7F82504F8D5}"/>
                  </a:ext>
                </a:extLst>
              </p:cNvPr>
              <p:cNvSpPr txBox="1"/>
              <p:nvPr/>
            </p:nvSpPr>
            <p:spPr>
              <a:xfrm>
                <a:off x="0" y="-28575"/>
                <a:ext cx="438684" cy="478895"/>
              </a:xfrm>
              <a:prstGeom prst="rect">
                <a:avLst/>
              </a:prstGeom>
            </p:spPr>
            <p:txBody>
              <a:bodyPr lIns="50800" tIns="50800" rIns="50800" bIns="50800" rtlCol="0" anchor="ctr"/>
              <a:lstStyle/>
              <a:p>
                <a:pPr algn="ctr">
                  <a:lnSpc>
                    <a:spcPts val="2379"/>
                  </a:lnSpc>
                </a:pPr>
                <a:endParaRPr>
                  <a:latin typeface="Arial" panose="020B0604020202020204" pitchFamily="34" charset="0"/>
                  <a:cs typeface="Arial" panose="020B0604020202020204" pitchFamily="34" charset="0"/>
                </a:endParaRPr>
              </a:p>
            </p:txBody>
          </p:sp>
        </p:grpSp>
      </p:grpSp>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45</a:t>
            </a:fld>
            <a:endParaRPr lang="en-AU"/>
          </a:p>
        </p:txBody>
      </p:sp>
    </p:spTree>
    <p:extLst>
      <p:ext uri="{BB962C8B-B14F-4D97-AF65-F5344CB8AC3E}">
        <p14:creationId xmlns:p14="http://schemas.microsoft.com/office/powerpoint/2010/main" val="4037695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B424F-7DD0-3E03-466D-8D5582F980A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55B056C-EFDF-07CA-9F8C-380C2D645C57}"/>
              </a:ext>
            </a:extLst>
          </p:cNvPr>
          <p:cNvSpPr>
            <a:spLocks noGrp="1"/>
          </p:cNvSpPr>
          <p:nvPr>
            <p:ph type="ctrTitle"/>
          </p:nvPr>
        </p:nvSpPr>
        <p:spPr/>
        <p:txBody>
          <a:bodyPr/>
          <a:lstStyle/>
          <a:p>
            <a:r>
              <a:rPr lang="en-AU">
                <a:latin typeface="+mj-lt"/>
                <a:cs typeface="Arial"/>
              </a:rPr>
              <a:t>Review of learning  7</a:t>
            </a:r>
            <a:endParaRPr lang="en-AU">
              <a:latin typeface="+mj-lt"/>
            </a:endParaRPr>
          </a:p>
        </p:txBody>
      </p:sp>
    </p:spTree>
    <p:extLst>
      <p:ext uri="{BB962C8B-B14F-4D97-AF65-F5344CB8AC3E}">
        <p14:creationId xmlns:p14="http://schemas.microsoft.com/office/powerpoint/2010/main" val="532709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B09B2-7B41-D99D-EDEF-064F74DE02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8814685-3A37-A041-5F8F-6691A2B060D6}"/>
              </a:ext>
            </a:extLst>
          </p:cNvPr>
          <p:cNvSpPr>
            <a:spLocks noGrp="1"/>
          </p:cNvSpPr>
          <p:nvPr>
            <p:ph type="title"/>
          </p:nvPr>
        </p:nvSpPr>
        <p:spPr/>
        <p:txBody>
          <a:bodyPr/>
          <a:lstStyle/>
          <a:p>
            <a:r>
              <a:rPr lang="en-US">
                <a:latin typeface="Arial"/>
                <a:cs typeface="Arial"/>
              </a:rPr>
              <a:t>Multiple choice </a:t>
            </a:r>
            <a:r>
              <a:rPr lang="en-US">
                <a:solidFill>
                  <a:schemeClr val="bg1"/>
                </a:solidFill>
                <a:latin typeface="Arial"/>
                <a:cs typeface="Arial"/>
              </a:rPr>
              <a:t>(4)(1)</a:t>
            </a:r>
          </a:p>
        </p:txBody>
      </p:sp>
      <p:pic>
        <p:nvPicPr>
          <p:cNvPr id="5" name="Picture 4" descr="image of a finger selecting an option for a multiple choice or true and false">
            <a:extLst>
              <a:ext uri="{FF2B5EF4-FFF2-40B4-BE49-F238E27FC236}">
                <a16:creationId xmlns:a16="http://schemas.microsoft.com/office/drawing/2014/main" id="{3313E438-7F57-A13D-DE77-437CCD7BAF4C}"/>
              </a:ext>
            </a:extLst>
          </p:cNvPr>
          <p:cNvPicPr>
            <a:picLocks noChangeAspect="1"/>
          </p:cNvPicPr>
          <p:nvPr/>
        </p:nvPicPr>
        <p:blipFill>
          <a:blip r:embed="rId3"/>
          <a:stretch>
            <a:fillRect/>
          </a:stretch>
        </p:blipFill>
        <p:spPr>
          <a:xfrm>
            <a:off x="10807908" y="43303"/>
            <a:ext cx="1165786" cy="1140716"/>
          </a:xfrm>
          <a:prstGeom prst="rect">
            <a:avLst/>
          </a:prstGeom>
        </p:spPr>
      </p:pic>
      <p:pic>
        <p:nvPicPr>
          <p:cNvPr id="14" name="Picture 13" descr="A number line from 0 to 1 in eighths with five eighths coloured blue.">
            <a:extLst>
              <a:ext uri="{FF2B5EF4-FFF2-40B4-BE49-F238E27FC236}">
                <a16:creationId xmlns:a16="http://schemas.microsoft.com/office/drawing/2014/main" id="{6E0718C4-5AA2-9432-FB60-C6AC220F6558}"/>
              </a:ext>
            </a:extLst>
          </p:cNvPr>
          <p:cNvPicPr>
            <a:picLocks noChangeAspect="1"/>
          </p:cNvPicPr>
          <p:nvPr/>
        </p:nvPicPr>
        <p:blipFill>
          <a:blip r:embed="rId4"/>
          <a:stretch>
            <a:fillRect/>
          </a:stretch>
        </p:blipFill>
        <p:spPr>
          <a:xfrm>
            <a:off x="2452788" y="968056"/>
            <a:ext cx="7286421" cy="2045311"/>
          </a:xfrm>
          <a:prstGeom prst="rect">
            <a:avLst/>
          </a:prstGeom>
        </p:spPr>
      </p:pic>
      <mc:AlternateContent xmlns:mc="http://schemas.openxmlformats.org/markup-compatibility/2006" xmlns:a14="http://schemas.microsoft.com/office/drawing/2010/main">
        <mc:Choice Requires="a14">
          <p:sp>
            <p:nvSpPr>
              <p:cNvPr id="18" name="Text Placeholder 17">
                <a:extLst>
                  <a:ext uri="{FF2B5EF4-FFF2-40B4-BE49-F238E27FC236}">
                    <a16:creationId xmlns:a16="http://schemas.microsoft.com/office/drawing/2014/main" id="{46752A48-96D4-4039-44A3-719E3CD9A2E6}"/>
                  </a:ext>
                </a:extLst>
              </p:cNvPr>
              <p:cNvSpPr>
                <a:spLocks noGrp="1"/>
              </p:cNvSpPr>
              <p:nvPr>
                <p:ph type="body" sz="quarter" idx="24"/>
              </p:nvPr>
            </p:nvSpPr>
            <p:spPr>
              <a:xfrm>
                <a:off x="474481" y="2974780"/>
                <a:ext cx="11243037" cy="3617406"/>
              </a:xfrm>
            </p:spPr>
            <p:txBody>
              <a:bodyPr vert="horz" lIns="0" tIns="0" rIns="0" bIns="0" rtlCol="0" anchor="t">
                <a:noAutofit/>
              </a:bodyPr>
              <a:lstStyle/>
              <a:p>
                <a:pPr algn="ctr"/>
                <a:r>
                  <a:rPr lang="en-US" sz="3600">
                    <a:latin typeface="Arial"/>
                    <a:cs typeface="Arial"/>
                  </a:rPr>
                  <a:t>The </a:t>
                </a:r>
                <a:r>
                  <a:rPr lang="en-US" sz="3600" b="1">
                    <a:latin typeface="Arial"/>
                    <a:cs typeface="Arial"/>
                  </a:rPr>
                  <a:t>complementary fraction to make a whole </a:t>
                </a:r>
                <a:r>
                  <a:rPr lang="en-US" sz="3600">
                    <a:latin typeface="Arial"/>
                    <a:cs typeface="Arial"/>
                  </a:rPr>
                  <a:t>is:</a:t>
                </a:r>
              </a:p>
              <a:p>
                <a:pPr algn="ctr"/>
                <a:r>
                  <a:rPr lang="en-US" sz="4000" b="1">
                    <a:latin typeface="Arial"/>
                    <a:cs typeface="Arial"/>
                  </a:rPr>
                  <a:t>A		B		C		D</a:t>
                </a:r>
              </a:p>
              <a:p>
                <a:r>
                  <a:rPr lang="en-US" sz="4000" b="1">
                    <a:latin typeface="Arial"/>
                    <a:cs typeface="Arial"/>
                  </a:rPr>
                  <a:t>			</a:t>
                </a:r>
                <a14:m>
                  <m:oMath xmlns:m="http://schemas.openxmlformats.org/officeDocument/2006/math">
                    <m:f>
                      <m:fPr>
                        <m:ctrlPr>
                          <a:rPr lang="en-AU" sz="4800" i="1">
                            <a:latin typeface="Cambria Math" panose="02040503050406030204" pitchFamily="18" charset="0"/>
                          </a:rPr>
                        </m:ctrlPr>
                      </m:fPr>
                      <m:num>
                        <m:r>
                          <a:rPr lang="en-AU" sz="4800" i="1">
                            <a:latin typeface="Cambria Math" panose="02040503050406030204" pitchFamily="18" charset="0"/>
                          </a:rPr>
                          <m:t>1</m:t>
                        </m:r>
                      </m:num>
                      <m:den>
                        <m:r>
                          <a:rPr lang="en-AU" sz="4800" i="1">
                            <a:latin typeface="Cambria Math" panose="02040503050406030204" pitchFamily="18" charset="0"/>
                          </a:rPr>
                          <m:t>8</m:t>
                        </m:r>
                      </m:den>
                    </m:f>
                  </m:oMath>
                </a14:m>
                <a:r>
                  <a:rPr lang="en-US" sz="4400" b="1">
                    <a:latin typeface="Arial"/>
                    <a:cs typeface="Arial"/>
                  </a:rPr>
                  <a:t>		</a:t>
                </a:r>
                <a14:m>
                  <m:oMath xmlns:m="http://schemas.openxmlformats.org/officeDocument/2006/math">
                    <m:f>
                      <m:fPr>
                        <m:ctrlPr>
                          <a:rPr lang="en-AU" sz="4800" i="1">
                            <a:latin typeface="Cambria Math" panose="02040503050406030204" pitchFamily="18" charset="0"/>
                          </a:rPr>
                        </m:ctrlPr>
                      </m:fPr>
                      <m:num>
                        <m:r>
                          <a:rPr lang="en-AU" sz="4800" b="0" i="1" smtClean="0">
                            <a:latin typeface="Cambria Math" panose="02040503050406030204" pitchFamily="18" charset="0"/>
                          </a:rPr>
                          <m:t>5</m:t>
                        </m:r>
                      </m:num>
                      <m:den>
                        <m:r>
                          <a:rPr lang="en-AU" sz="4800" i="1">
                            <a:latin typeface="Cambria Math" panose="02040503050406030204" pitchFamily="18" charset="0"/>
                          </a:rPr>
                          <m:t>8</m:t>
                        </m:r>
                      </m:den>
                    </m:f>
                  </m:oMath>
                </a14:m>
                <a:r>
                  <a:rPr lang="en-US" sz="4400" b="1">
                    <a:latin typeface="Arial"/>
                    <a:cs typeface="Arial"/>
                  </a:rPr>
                  <a:t>		</a:t>
                </a:r>
                <a14:m>
                  <m:oMath xmlns:m="http://schemas.openxmlformats.org/officeDocument/2006/math">
                    <m:f>
                      <m:fPr>
                        <m:ctrlPr>
                          <a:rPr lang="en-AU" sz="4800" i="1">
                            <a:latin typeface="Cambria Math" panose="02040503050406030204" pitchFamily="18" charset="0"/>
                          </a:rPr>
                        </m:ctrlPr>
                      </m:fPr>
                      <m:num>
                        <m:r>
                          <a:rPr lang="en-AU" sz="4800" b="0" i="1" smtClean="0">
                            <a:latin typeface="Cambria Math" panose="02040503050406030204" pitchFamily="18" charset="0"/>
                          </a:rPr>
                          <m:t>2</m:t>
                        </m:r>
                      </m:num>
                      <m:den>
                        <m:r>
                          <a:rPr lang="en-AU" sz="4800" i="1">
                            <a:latin typeface="Cambria Math" panose="02040503050406030204" pitchFamily="18" charset="0"/>
                          </a:rPr>
                          <m:t>8</m:t>
                        </m:r>
                      </m:den>
                    </m:f>
                  </m:oMath>
                </a14:m>
                <a:r>
                  <a:rPr lang="en-US" sz="4400" b="1">
                    <a:latin typeface="Arial"/>
                    <a:cs typeface="Arial"/>
                  </a:rPr>
                  <a:t>		</a:t>
                </a:r>
                <a14:m>
                  <m:oMath xmlns:m="http://schemas.openxmlformats.org/officeDocument/2006/math">
                    <m:f>
                      <m:fPr>
                        <m:ctrlPr>
                          <a:rPr lang="en-AU" sz="4800" i="1">
                            <a:latin typeface="Cambria Math" panose="02040503050406030204" pitchFamily="18" charset="0"/>
                          </a:rPr>
                        </m:ctrlPr>
                      </m:fPr>
                      <m:num>
                        <m:r>
                          <a:rPr lang="en-AU" sz="4800" b="0" i="1" smtClean="0">
                            <a:latin typeface="Cambria Math" panose="02040503050406030204" pitchFamily="18" charset="0"/>
                          </a:rPr>
                          <m:t>3</m:t>
                        </m:r>
                      </m:num>
                      <m:den>
                        <m:r>
                          <a:rPr lang="en-AU" sz="4800" i="1">
                            <a:latin typeface="Cambria Math" panose="02040503050406030204" pitchFamily="18" charset="0"/>
                          </a:rPr>
                          <m:t>8</m:t>
                        </m:r>
                      </m:den>
                    </m:f>
                  </m:oMath>
                </a14:m>
                <a:endParaRPr lang="en-US" sz="4000" b="1">
                  <a:latin typeface="Arial"/>
                  <a:cs typeface="Arial"/>
                </a:endParaRPr>
              </a:p>
              <a:p>
                <a:pPr algn="ctr"/>
                <a:endParaRPr lang="en-US" sz="4000"/>
              </a:p>
            </p:txBody>
          </p:sp>
        </mc:Choice>
        <mc:Fallback xmlns="">
          <p:sp>
            <p:nvSpPr>
              <p:cNvPr id="18" name="Text Placeholder 17">
                <a:extLst>
                  <a:ext uri="{FF2B5EF4-FFF2-40B4-BE49-F238E27FC236}">
                    <a16:creationId xmlns:a16="http://schemas.microsoft.com/office/drawing/2014/main" id="{46752A48-96D4-4039-44A3-719E3CD9A2E6}"/>
                  </a:ext>
                </a:extLst>
              </p:cNvPr>
              <p:cNvSpPr>
                <a:spLocks noGrp="1" noRot="1" noChangeAspect="1" noMove="1" noResize="1" noEditPoints="1" noAdjustHandles="1" noChangeArrowheads="1" noChangeShapeType="1" noTextEdit="1"/>
              </p:cNvSpPr>
              <p:nvPr>
                <p:ph type="body" sz="quarter" idx="24"/>
              </p:nvPr>
            </p:nvSpPr>
            <p:spPr>
              <a:xfrm>
                <a:off x="474481" y="2974780"/>
                <a:ext cx="11243037" cy="3617406"/>
              </a:xfrm>
              <a:blipFill>
                <a:blip r:embed="rId5"/>
                <a:stretch>
                  <a:fillRect/>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816B9621-C224-299B-082B-E90BD81C5902}"/>
              </a:ext>
            </a:extLst>
          </p:cNvPr>
          <p:cNvSpPr>
            <a:spLocks noGrp="1"/>
          </p:cNvSpPr>
          <p:nvPr>
            <p:ph type="sldNum" sz="quarter" idx="12"/>
          </p:nvPr>
        </p:nvSpPr>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4255010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17138-09C4-3779-3ADC-C5FC41EBD76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A79083A-0495-1351-2474-66F37FD0839A}"/>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(25)</a:t>
            </a:r>
          </a:p>
        </p:txBody>
      </p:sp>
      <p:pic>
        <p:nvPicPr>
          <p:cNvPr id="4" name="Picture 3" descr="image of a clipboard with a pencil recording short answer responses">
            <a:extLst>
              <a:ext uri="{FF2B5EF4-FFF2-40B4-BE49-F238E27FC236}">
                <a16:creationId xmlns:a16="http://schemas.microsoft.com/office/drawing/2014/main" id="{6C394F32-72F3-4115-FE74-3C0EFFCECDE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ACDE4623-0E37-0882-ACB4-C9EF952037E5}"/>
              </a:ext>
            </a:extLst>
          </p:cNvPr>
          <p:cNvSpPr>
            <a:spLocks noGrp="1"/>
          </p:cNvSpPr>
          <p:nvPr>
            <p:ph type="pic" sz="quarter" idx="21"/>
          </p:nvPr>
        </p:nvSpPr>
        <p:spPr>
          <a:xfrm>
            <a:off x="2211829" y="996878"/>
            <a:ext cx="7768341" cy="5074817"/>
          </a:xfrm>
        </p:spPr>
        <p:txBody>
          <a:bodyPr/>
          <a:lstStyle/>
          <a:p>
            <a:r>
              <a:rPr lang="en-US" sz="4000">
                <a:latin typeface="Arial"/>
                <a:cs typeface="Arial"/>
              </a:rPr>
              <a:t>Draw </a:t>
            </a:r>
            <a:r>
              <a:rPr lang="en-US" sz="4000" b="1">
                <a:latin typeface="Arial"/>
                <a:cs typeface="Arial"/>
              </a:rPr>
              <a:t>angles </a:t>
            </a:r>
            <a:r>
              <a:rPr lang="en-US" sz="4000">
                <a:latin typeface="Arial"/>
                <a:cs typeface="Arial"/>
              </a:rPr>
              <a:t>that are:</a:t>
            </a:r>
          </a:p>
          <a:p>
            <a:pPr marL="571500" lvl="2" indent="-571500">
              <a:buFont typeface="Arial" panose="020B0604020202020204" pitchFamily="34" charset="0"/>
              <a:buChar char="•"/>
            </a:pPr>
            <a:r>
              <a:rPr lang="en-US" sz="4000">
                <a:latin typeface="Arial"/>
                <a:cs typeface="Arial"/>
              </a:rPr>
              <a:t>less than a right angle</a:t>
            </a:r>
          </a:p>
          <a:p>
            <a:pPr marL="571500" indent="-571500">
              <a:buFont typeface="Arial" panose="020B0604020202020204" pitchFamily="34" charset="0"/>
              <a:buChar char="•"/>
            </a:pPr>
            <a:r>
              <a:rPr lang="en-US" sz="4000">
                <a:latin typeface="Arial"/>
                <a:cs typeface="Arial"/>
              </a:rPr>
              <a:t>equal to a right angle</a:t>
            </a:r>
          </a:p>
          <a:p>
            <a:pPr marL="571500" indent="-571500">
              <a:buFont typeface="Arial" panose="020B0604020202020204" pitchFamily="34" charset="0"/>
              <a:buChar char="•"/>
            </a:pPr>
            <a:r>
              <a:rPr lang="en-US" sz="4000">
                <a:latin typeface="Arial"/>
                <a:cs typeface="Arial"/>
              </a:rPr>
              <a:t>about the same as a right angle</a:t>
            </a:r>
          </a:p>
          <a:p>
            <a:pPr marL="571500" indent="-571500">
              <a:buFont typeface="Arial" panose="020B0604020202020204" pitchFamily="34" charset="0"/>
              <a:buChar char="•"/>
            </a:pPr>
            <a:r>
              <a:rPr lang="en-US" sz="4000">
                <a:latin typeface="Arial"/>
                <a:cs typeface="Arial"/>
              </a:rPr>
              <a:t>greater than a right angle</a:t>
            </a:r>
          </a:p>
          <a:p>
            <a:pPr algn="ctr"/>
            <a:endParaRPr lang="en-US" sz="4400"/>
          </a:p>
          <a:p>
            <a:endParaRPr lang="en-US">
              <a:latin typeface="Arial"/>
              <a:cs typeface="Arial"/>
            </a:endParaRPr>
          </a:p>
        </p:txBody>
      </p:sp>
      <p:sp>
        <p:nvSpPr>
          <p:cNvPr id="2" name="Slide Number Placeholder 1">
            <a:extLst>
              <a:ext uri="{FF2B5EF4-FFF2-40B4-BE49-F238E27FC236}">
                <a16:creationId xmlns:a16="http://schemas.microsoft.com/office/drawing/2014/main" id="{C02BE3BE-2958-C89B-F3EF-B2EDE80629D7}"/>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2796038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9FC73-CB73-205A-CAA7-7FD0D6436E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B9F4F55-65F7-47E4-8121-CF7185730C4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(26)</a:t>
            </a:r>
          </a:p>
        </p:txBody>
      </p:sp>
      <p:pic>
        <p:nvPicPr>
          <p:cNvPr id="6" name="Picture 5" descr="image of a clipboard with a pencil recording short answer responses">
            <a:extLst>
              <a:ext uri="{FF2B5EF4-FFF2-40B4-BE49-F238E27FC236}">
                <a16:creationId xmlns:a16="http://schemas.microsoft.com/office/drawing/2014/main" id="{A9F3431B-545B-ECD1-F62F-EC0981F0CA3F}"/>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9" name="Picture 18" descr="A dot plot showing round net swing - 4 dots; table tennis - 4 dots; flying fox - 4 dots; swinging bridge 3 dots; spiderweb tower - 5 dots; ninja course - 6 dots.">
            <a:extLst>
              <a:ext uri="{FF2B5EF4-FFF2-40B4-BE49-F238E27FC236}">
                <a16:creationId xmlns:a16="http://schemas.microsoft.com/office/drawing/2014/main" id="{65F92F52-9895-5DCC-075B-6E5868C95922}"/>
              </a:ext>
            </a:extLst>
          </p:cNvPr>
          <p:cNvPicPr>
            <a:picLocks noChangeAspect="1"/>
          </p:cNvPicPr>
          <p:nvPr/>
        </p:nvPicPr>
        <p:blipFill>
          <a:blip r:embed="rId4"/>
          <a:stretch>
            <a:fillRect/>
          </a:stretch>
        </p:blipFill>
        <p:spPr>
          <a:xfrm rot="5400000">
            <a:off x="-9308" y="1818016"/>
            <a:ext cx="5331778" cy="4064192"/>
          </a:xfrm>
          <a:prstGeom prst="rect">
            <a:avLst/>
          </a:prstGeom>
          <a:ln>
            <a:noFill/>
          </a:ln>
          <a:effectLst>
            <a:outerShdw blurRad="292100" dist="139700" dir="2700000" algn="tl" rotWithShape="0">
              <a:srgbClr val="333333">
                <a:alpha val="65000"/>
              </a:srgbClr>
            </a:outerShdw>
          </a:effectLst>
        </p:spPr>
      </p:pic>
      <p:sp>
        <p:nvSpPr>
          <p:cNvPr id="5" name="TextBox 4">
            <a:extLst>
              <a:ext uri="{FF2B5EF4-FFF2-40B4-BE49-F238E27FC236}">
                <a16:creationId xmlns:a16="http://schemas.microsoft.com/office/drawing/2014/main" id="{5E9ACD7A-BA3A-DC99-6BBC-53AD31BFEA1B}"/>
              </a:ext>
            </a:extLst>
          </p:cNvPr>
          <p:cNvSpPr txBox="1"/>
          <p:nvPr/>
        </p:nvSpPr>
        <p:spPr>
          <a:xfrm>
            <a:off x="5153587" y="1278079"/>
            <a:ext cx="6690413" cy="5476800"/>
          </a:xfrm>
          <a:prstGeom prst="rect">
            <a:avLst/>
          </a:prstGeom>
          <a:noFill/>
        </p:spPr>
        <p:txBody>
          <a:bodyPr wrap="square" lIns="0" tIns="0" rIns="0" bIns="0" rtlCol="0">
            <a:noAutofit/>
          </a:bodyPr>
          <a:lstStyle/>
          <a:p>
            <a:pPr algn="ctr"/>
            <a:r>
              <a:rPr lang="en-AU" sz="3600" dirty="0"/>
              <a:t>The council has space to add a new piece of equipment in the playground. After </a:t>
            </a:r>
            <a:r>
              <a:rPr lang="en-AU" sz="3600" b="1" dirty="0"/>
              <a:t>surveying</a:t>
            </a:r>
            <a:r>
              <a:rPr lang="en-AU" sz="3600" dirty="0"/>
              <a:t> 3S, the results were close. </a:t>
            </a:r>
          </a:p>
          <a:p>
            <a:pPr algn="ctr"/>
            <a:endParaRPr lang="en-AU" sz="2000" dirty="0"/>
          </a:p>
          <a:p>
            <a:pPr algn="ctr"/>
            <a:r>
              <a:rPr lang="en-AU" sz="3600" dirty="0"/>
              <a:t>According to the </a:t>
            </a:r>
            <a:r>
              <a:rPr lang="en-AU" sz="3600" b="1" dirty="0"/>
              <a:t>data</a:t>
            </a:r>
            <a:r>
              <a:rPr lang="en-AU" sz="3600" dirty="0"/>
              <a:t>, what piece of equipment should the council add? </a:t>
            </a:r>
          </a:p>
          <a:p>
            <a:pPr algn="ctr"/>
            <a:endParaRPr lang="en-AU" sz="2000" dirty="0"/>
          </a:p>
          <a:p>
            <a:pPr algn="ctr"/>
            <a:r>
              <a:rPr lang="en-AU" sz="3600" b="1" dirty="0"/>
              <a:t>Explain</a:t>
            </a:r>
            <a:r>
              <a:rPr lang="en-AU" sz="3600" dirty="0"/>
              <a:t> your </a:t>
            </a:r>
            <a:r>
              <a:rPr lang="en-AU" sz="3600" b="1" dirty="0"/>
              <a:t>thinking</a:t>
            </a:r>
            <a:r>
              <a:rPr lang="en-AU" sz="3600" dirty="0"/>
              <a:t>.</a:t>
            </a:r>
          </a:p>
        </p:txBody>
      </p:sp>
      <p:sp>
        <p:nvSpPr>
          <p:cNvPr id="2" name="Slide Number Placeholder 1">
            <a:extLst>
              <a:ext uri="{FF2B5EF4-FFF2-40B4-BE49-F238E27FC236}">
                <a16:creationId xmlns:a16="http://schemas.microsoft.com/office/drawing/2014/main" id="{53EF37E2-888E-CB04-88EA-19DCDE0D7B10}"/>
              </a:ext>
            </a:extLst>
          </p:cNvPr>
          <p:cNvSpPr>
            <a:spLocks noGrp="1"/>
          </p:cNvSpPr>
          <p:nvPr>
            <p:ph type="sldNum" sz="quarter" idx="12"/>
          </p:nvPr>
        </p:nvSpPr>
        <p:spPr/>
        <p:txBody>
          <a:bodyPr/>
          <a:lstStyle/>
          <a:p>
            <a:fld id="{10A01DC5-1685-4615-8240-15192985C6A2}" type="slidenum">
              <a:rPr lang="en-AU" smtClean="0"/>
              <a:t>49</a:t>
            </a:fld>
            <a:endParaRPr lang="en-AU"/>
          </a:p>
        </p:txBody>
      </p:sp>
    </p:spTree>
    <p:extLst>
      <p:ext uri="{BB962C8B-B14F-4D97-AF65-F5344CB8AC3E}">
        <p14:creationId xmlns:p14="http://schemas.microsoft.com/office/powerpoint/2010/main" val="2825170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0F56B-0B8D-BD79-E370-6AC7E4243CD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17A4F92-D5D2-B138-7BEF-D1ED6B9CE5C1}"/>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(27)</a:t>
            </a:r>
          </a:p>
        </p:txBody>
      </p:sp>
      <p:pic>
        <p:nvPicPr>
          <p:cNvPr id="4" name="Picture 3" descr="image of a clipboard with a pencil recording short answer responses">
            <a:extLst>
              <a:ext uri="{FF2B5EF4-FFF2-40B4-BE49-F238E27FC236}">
                <a16:creationId xmlns:a16="http://schemas.microsoft.com/office/drawing/2014/main" id="{78D0A315-9AFB-D549-2ACA-8A9D46BA0AFA}"/>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AA232421-C8EE-55E7-3B48-FB94C1F70903}"/>
              </a:ext>
            </a:extLst>
          </p:cNvPr>
          <p:cNvSpPr>
            <a:spLocks noGrp="1"/>
          </p:cNvSpPr>
          <p:nvPr>
            <p:ph type="pic" sz="quarter" idx="21"/>
          </p:nvPr>
        </p:nvSpPr>
        <p:spPr>
          <a:xfrm>
            <a:off x="478024" y="886169"/>
            <a:ext cx="11235949" cy="2680362"/>
          </a:xfrm>
        </p:spPr>
        <p:txBody>
          <a:bodyPr/>
          <a:lstStyle/>
          <a:p>
            <a:pPr algn="ctr"/>
            <a:r>
              <a:rPr lang="en-US" sz="4000" dirty="0">
                <a:latin typeface="Arial"/>
                <a:cs typeface="Arial"/>
              </a:rPr>
              <a:t>Tom believes these </a:t>
            </a:r>
            <a:r>
              <a:rPr lang="en-US" sz="4000" b="1" dirty="0">
                <a:latin typeface="Arial"/>
                <a:cs typeface="Arial"/>
              </a:rPr>
              <a:t>3D objects </a:t>
            </a:r>
            <a:r>
              <a:rPr lang="en-US" sz="4000" dirty="0">
                <a:latin typeface="Arial"/>
                <a:cs typeface="Arial"/>
              </a:rPr>
              <a:t>have the same </a:t>
            </a:r>
            <a:r>
              <a:rPr lang="en-US" sz="4000" b="1" dirty="0">
                <a:latin typeface="Arial"/>
                <a:cs typeface="Arial"/>
              </a:rPr>
              <a:t>volume in cubic </a:t>
            </a:r>
            <a:r>
              <a:rPr lang="en-US" sz="4000" b="1" dirty="0" err="1">
                <a:latin typeface="Arial"/>
                <a:cs typeface="Arial"/>
              </a:rPr>
              <a:t>centimetres</a:t>
            </a:r>
            <a:r>
              <a:rPr lang="en-US" sz="4000" dirty="0">
                <a:latin typeface="Arial"/>
                <a:cs typeface="Arial"/>
              </a:rPr>
              <a:t>. Do you agree or disagree with Tom? </a:t>
            </a:r>
            <a:r>
              <a:rPr lang="en-US" sz="4000" b="1" dirty="0">
                <a:latin typeface="Arial"/>
                <a:cs typeface="Arial"/>
              </a:rPr>
              <a:t>Explain</a:t>
            </a:r>
            <a:r>
              <a:rPr lang="en-US" sz="4000" dirty="0">
                <a:latin typeface="Arial"/>
                <a:cs typeface="Arial"/>
              </a:rPr>
              <a:t> your </a:t>
            </a:r>
            <a:r>
              <a:rPr lang="en-US" sz="4000" b="1" dirty="0">
                <a:latin typeface="Arial"/>
                <a:cs typeface="Arial"/>
              </a:rPr>
              <a:t>thinking</a:t>
            </a:r>
            <a:r>
              <a:rPr lang="en-US" sz="4000" dirty="0">
                <a:latin typeface="Arial"/>
                <a:cs typeface="Arial"/>
              </a:rPr>
              <a:t>.</a:t>
            </a:r>
            <a:endParaRPr lang="en-US" sz="4400" dirty="0"/>
          </a:p>
          <a:p>
            <a:endParaRPr lang="en-US" dirty="0">
              <a:latin typeface="Arial"/>
              <a:cs typeface="Arial"/>
            </a:endParaRPr>
          </a:p>
        </p:txBody>
      </p:sp>
      <p:pic>
        <p:nvPicPr>
          <p:cNvPr id="6" name="Picture 5" descr="Two 3D objects made of cubes. One is 2 x 3 x 3 and the other is 1 x 3 x 4. ">
            <a:extLst>
              <a:ext uri="{FF2B5EF4-FFF2-40B4-BE49-F238E27FC236}">
                <a16:creationId xmlns:a16="http://schemas.microsoft.com/office/drawing/2014/main" id="{9C106C53-9898-A85B-DA88-14A310174FA9}"/>
              </a:ext>
            </a:extLst>
          </p:cNvPr>
          <p:cNvPicPr>
            <a:picLocks noChangeAspect="1"/>
          </p:cNvPicPr>
          <p:nvPr/>
        </p:nvPicPr>
        <p:blipFill>
          <a:blip r:embed="rId4"/>
          <a:stretch>
            <a:fillRect/>
          </a:stretch>
        </p:blipFill>
        <p:spPr>
          <a:xfrm>
            <a:off x="3578095" y="3742003"/>
            <a:ext cx="5035809" cy="2863997"/>
          </a:xfrm>
          <a:prstGeom prst="rect">
            <a:avLst/>
          </a:prstGeom>
          <a:effectLst>
            <a:outerShdw blurRad="63500" sx="102000" sy="102000" algn="ctr" rotWithShape="0">
              <a:prstClr val="black">
                <a:alpha val="40000"/>
              </a:prstClr>
            </a:outerShdw>
          </a:effectLst>
        </p:spPr>
      </p:pic>
      <p:sp>
        <p:nvSpPr>
          <p:cNvPr id="2" name="Slide Number Placeholder 1">
            <a:extLst>
              <a:ext uri="{FF2B5EF4-FFF2-40B4-BE49-F238E27FC236}">
                <a16:creationId xmlns:a16="http://schemas.microsoft.com/office/drawing/2014/main" id="{4D1E675D-63E6-6EF0-A7F8-7CA3E2680A94}"/>
              </a:ext>
            </a:extLst>
          </p:cNvPr>
          <p:cNvSpPr>
            <a:spLocks noGrp="1"/>
          </p:cNvSpPr>
          <p:nvPr>
            <p:ph type="sldNum" sz="quarter" idx="12"/>
          </p:nvPr>
        </p:nvSpPr>
        <p:spPr/>
        <p:txBody>
          <a:bodyPr/>
          <a:lstStyle/>
          <a:p>
            <a:fld id="{10A01DC5-1685-4615-8240-15192985C6A2}" type="slidenum">
              <a:rPr lang="en-AU" smtClean="0"/>
              <a:t>50</a:t>
            </a:fld>
            <a:endParaRPr lang="en-AU"/>
          </a:p>
        </p:txBody>
      </p:sp>
    </p:spTree>
    <p:extLst>
      <p:ext uri="{BB962C8B-B14F-4D97-AF65-F5344CB8AC3E}">
        <p14:creationId xmlns:p14="http://schemas.microsoft.com/office/powerpoint/2010/main" val="1770370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7636B-D9FA-D8F2-87DC-26F9E69DDCA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EF2F071-69AF-26E6-9BD8-ADFB0EF0B312}"/>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(28)</a:t>
            </a:r>
          </a:p>
        </p:txBody>
      </p:sp>
      <p:pic>
        <p:nvPicPr>
          <p:cNvPr id="4" name="Picture 3" descr="image of a clipboard with a pencil recording short answer responses">
            <a:extLst>
              <a:ext uri="{FF2B5EF4-FFF2-40B4-BE49-F238E27FC236}">
                <a16:creationId xmlns:a16="http://schemas.microsoft.com/office/drawing/2014/main" id="{E7E56417-0731-9933-4CBF-B3EE29B95C6A}"/>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89E81B81-DF76-7E96-6C02-AFD9B15A4EFF}"/>
              </a:ext>
            </a:extLst>
          </p:cNvPr>
          <p:cNvSpPr>
            <a:spLocks noGrp="1"/>
          </p:cNvSpPr>
          <p:nvPr>
            <p:ph type="pic" sz="quarter" idx="21"/>
          </p:nvPr>
        </p:nvSpPr>
        <p:spPr>
          <a:xfrm>
            <a:off x="360000" y="1210049"/>
            <a:ext cx="11221572" cy="1958453"/>
          </a:xfrm>
        </p:spPr>
        <p:txBody>
          <a:bodyPr/>
          <a:lstStyle/>
          <a:p>
            <a:pPr algn="ctr"/>
            <a:r>
              <a:rPr lang="en-US" sz="4400" b="1">
                <a:latin typeface="Arial"/>
                <a:cs typeface="Arial"/>
              </a:rPr>
              <a:t>Record</a:t>
            </a:r>
            <a:r>
              <a:rPr lang="en-US" sz="4400">
                <a:latin typeface="Arial"/>
                <a:cs typeface="Arial"/>
              </a:rPr>
              <a:t> the time that is a quarter-hour after the time on the analog clock.</a:t>
            </a:r>
          </a:p>
          <a:p>
            <a:endParaRPr lang="en-US">
              <a:latin typeface="Arial"/>
              <a:cs typeface="Arial"/>
            </a:endParaRPr>
          </a:p>
        </p:txBody>
      </p:sp>
      <p:pic>
        <p:nvPicPr>
          <p:cNvPr id="6" name="Picture 5" descr="An analog clockface showing the time as six thirty.">
            <a:extLst>
              <a:ext uri="{FF2B5EF4-FFF2-40B4-BE49-F238E27FC236}">
                <a16:creationId xmlns:a16="http://schemas.microsoft.com/office/drawing/2014/main" id="{100CD813-832E-F347-A664-15B080B6ADFD}"/>
              </a:ext>
            </a:extLst>
          </p:cNvPr>
          <p:cNvPicPr>
            <a:picLocks noChangeAspect="1"/>
          </p:cNvPicPr>
          <p:nvPr/>
        </p:nvPicPr>
        <p:blipFill>
          <a:blip r:embed="rId4"/>
          <a:stretch>
            <a:fillRect/>
          </a:stretch>
        </p:blipFill>
        <p:spPr>
          <a:xfrm>
            <a:off x="4764259" y="3600467"/>
            <a:ext cx="2663482" cy="2676474"/>
          </a:xfrm>
          <a:prstGeom prst="rect">
            <a:avLst/>
          </a:prstGeom>
          <a:effectLst>
            <a:outerShdw blurRad="63500" sx="102000" sy="102000" algn="ctr" rotWithShape="0">
              <a:prstClr val="black">
                <a:alpha val="40000"/>
              </a:prstClr>
            </a:outerShdw>
          </a:effectLst>
        </p:spPr>
      </p:pic>
      <p:sp>
        <p:nvSpPr>
          <p:cNvPr id="2" name="Slide Number Placeholder 1">
            <a:extLst>
              <a:ext uri="{FF2B5EF4-FFF2-40B4-BE49-F238E27FC236}">
                <a16:creationId xmlns:a16="http://schemas.microsoft.com/office/drawing/2014/main" id="{17936BF7-7EEA-E829-93CD-C96F10F9ADE7}"/>
              </a:ext>
            </a:extLst>
          </p:cNvPr>
          <p:cNvSpPr>
            <a:spLocks noGrp="1"/>
          </p:cNvSpPr>
          <p:nvPr>
            <p:ph type="sldNum" sz="quarter" idx="12"/>
          </p:nvPr>
        </p:nvSpPr>
        <p:spPr/>
        <p:txBody>
          <a:bodyPr/>
          <a:lstStyle/>
          <a:p>
            <a:fld id="{10A01DC5-1685-4615-8240-15192985C6A2}" type="slidenum">
              <a:rPr lang="en-AU" smtClean="0"/>
              <a:t>51</a:t>
            </a:fld>
            <a:endParaRPr lang="en-AU"/>
          </a:p>
        </p:txBody>
      </p:sp>
    </p:spTree>
    <p:extLst>
      <p:ext uri="{BB962C8B-B14F-4D97-AF65-F5344CB8AC3E}">
        <p14:creationId xmlns:p14="http://schemas.microsoft.com/office/powerpoint/2010/main" val="1212306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84E42B4-94D9-1D74-190B-2DFAC866DF5D}"/>
              </a:ext>
            </a:extLst>
          </p:cNvPr>
          <p:cNvSpPr>
            <a:spLocks noGrp="1"/>
          </p:cNvSpPr>
          <p:nvPr>
            <p:ph type="title"/>
          </p:nvPr>
        </p:nvSpPr>
        <p:spPr>
          <a:xfrm>
            <a:off x="360000" y="360000"/>
            <a:ext cx="10006744" cy="545601"/>
          </a:xfrm>
        </p:spPr>
        <p:txBody>
          <a:bodyPr/>
          <a:lstStyle/>
          <a:p>
            <a:r>
              <a:rPr lang="en-AU"/>
              <a:t>Activity 7 – fractions and wholes</a:t>
            </a:r>
          </a:p>
        </p:txBody>
      </p:sp>
      <p:pic>
        <p:nvPicPr>
          <p:cNvPr id="4" name="Picture 3" descr="image of a head with cogs turning inside">
            <a:extLst>
              <a:ext uri="{FF2B5EF4-FFF2-40B4-BE49-F238E27FC236}">
                <a16:creationId xmlns:a16="http://schemas.microsoft.com/office/drawing/2014/main" id="{E966CFB0-7F71-1DF3-1D72-4943F2950B37}"/>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7" name="Picture 6" descr="Complementary fraction dominoes. The left side shows one-quarter, the right side show three-quarters.">
            <a:extLst>
              <a:ext uri="{FF2B5EF4-FFF2-40B4-BE49-F238E27FC236}">
                <a16:creationId xmlns:a16="http://schemas.microsoft.com/office/drawing/2014/main" id="{7FFB688E-C0FE-9707-4450-562597D2C0BC}"/>
              </a:ext>
            </a:extLst>
          </p:cNvPr>
          <p:cNvPicPr>
            <a:picLocks noChangeAspect="1"/>
          </p:cNvPicPr>
          <p:nvPr/>
        </p:nvPicPr>
        <p:blipFill>
          <a:blip r:embed="rId4"/>
          <a:stretch>
            <a:fillRect/>
          </a:stretch>
        </p:blipFill>
        <p:spPr>
          <a:xfrm>
            <a:off x="193854" y="1869055"/>
            <a:ext cx="11290146" cy="2830533"/>
          </a:xfrm>
          <a:prstGeom prst="rect">
            <a:avLst/>
          </a:prstGeom>
        </p:spPr>
      </p:pic>
      <p:sp>
        <p:nvSpPr>
          <p:cNvPr id="2" name="Slide Number Placeholder 1">
            <a:extLst>
              <a:ext uri="{FF2B5EF4-FFF2-40B4-BE49-F238E27FC236}">
                <a16:creationId xmlns:a16="http://schemas.microsoft.com/office/drawing/2014/main" id="{E2C8A3CB-B224-208A-CFF5-B2EA6968C1C0}"/>
              </a:ext>
            </a:extLst>
          </p:cNvPr>
          <p:cNvSpPr>
            <a:spLocks noGrp="1"/>
          </p:cNvSpPr>
          <p:nvPr>
            <p:ph type="sldNum" sz="quarter" idx="12"/>
          </p:nvPr>
        </p:nvSpPr>
        <p:spPr/>
        <p:txBody>
          <a:bodyPr/>
          <a:lstStyle/>
          <a:p>
            <a:fld id="{10A01DC5-1685-4615-8240-15192985C6A2}" type="slidenum">
              <a:rPr lang="en-AU" smtClean="0"/>
              <a:t>52</a:t>
            </a:fld>
            <a:endParaRPr lang="en-AU"/>
          </a:p>
        </p:txBody>
      </p:sp>
    </p:spTree>
    <p:extLst>
      <p:ext uri="{BB962C8B-B14F-4D97-AF65-F5344CB8AC3E}">
        <p14:creationId xmlns:p14="http://schemas.microsoft.com/office/powerpoint/2010/main" val="4269651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3B60A-22B2-4361-67CC-312F59BDAAB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54F7E62-8796-5FC7-FD38-8F4D46ED40A9}"/>
              </a:ext>
            </a:extLst>
          </p:cNvPr>
          <p:cNvSpPr>
            <a:spLocks noGrp="1"/>
          </p:cNvSpPr>
          <p:nvPr>
            <p:ph type="ctrTitle"/>
          </p:nvPr>
        </p:nvSpPr>
        <p:spPr/>
        <p:txBody>
          <a:bodyPr/>
          <a:lstStyle/>
          <a:p>
            <a:r>
              <a:rPr lang="en-AU">
                <a:latin typeface="+mj-lt"/>
                <a:cs typeface="Arial"/>
              </a:rPr>
              <a:t>Review of learning 8</a:t>
            </a:r>
            <a:endParaRPr lang="en-AU">
              <a:latin typeface="+mj-lt"/>
            </a:endParaRPr>
          </a:p>
        </p:txBody>
      </p:sp>
    </p:spTree>
    <p:extLst>
      <p:ext uri="{BB962C8B-B14F-4D97-AF65-F5344CB8AC3E}">
        <p14:creationId xmlns:p14="http://schemas.microsoft.com/office/powerpoint/2010/main" val="2515054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045DE-1C82-1DDC-BD3D-A63D7912E7B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5CD52BE-F5BD-DAA7-827E-221EB96A6BF3}"/>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(4)</a:t>
            </a:r>
          </a:p>
        </p:txBody>
      </p:sp>
      <p:pic>
        <p:nvPicPr>
          <p:cNvPr id="5" name="Picture 4" descr="image of a finger selecting an option for a multiple choice or true and false">
            <a:extLst>
              <a:ext uri="{FF2B5EF4-FFF2-40B4-BE49-F238E27FC236}">
                <a16:creationId xmlns:a16="http://schemas.microsoft.com/office/drawing/2014/main" id="{29097C5B-0822-B31F-6039-50D23FFACD33}"/>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7" name="Text Placeholder 6">
            <a:extLst>
              <a:ext uri="{FF2B5EF4-FFF2-40B4-BE49-F238E27FC236}">
                <a16:creationId xmlns:a16="http://schemas.microsoft.com/office/drawing/2014/main" id="{EA6BC0CF-ECA6-DC5C-B614-7854FEE9F3D3}"/>
              </a:ext>
            </a:extLst>
          </p:cNvPr>
          <p:cNvSpPr>
            <a:spLocks noGrp="1"/>
          </p:cNvSpPr>
          <p:nvPr>
            <p:ph type="body" sz="quarter" idx="22"/>
          </p:nvPr>
        </p:nvSpPr>
        <p:spPr>
          <a:xfrm>
            <a:off x="981740" y="1500716"/>
            <a:ext cx="10228520" cy="2045310"/>
          </a:xfrm>
        </p:spPr>
        <p:txBody>
          <a:bodyPr vert="horz" lIns="0" tIns="0" rIns="0" bIns="0" rtlCol="0" anchor="t">
            <a:noAutofit/>
          </a:bodyPr>
          <a:lstStyle/>
          <a:p>
            <a:pPr algn="ctr"/>
            <a:r>
              <a:rPr lang="en-US" sz="4400"/>
              <a:t>A </a:t>
            </a:r>
            <a:r>
              <a:rPr lang="en-US" sz="4400" b="1"/>
              <a:t>complementary fractional part </a:t>
            </a:r>
            <a:r>
              <a:rPr lang="en-US" sz="4400"/>
              <a:t>is always more than one whole. </a:t>
            </a:r>
          </a:p>
        </p:txBody>
      </p:sp>
      <p:graphicFrame>
        <p:nvGraphicFramePr>
          <p:cNvPr id="12" name="Table 11">
            <a:extLst>
              <a:ext uri="{FF2B5EF4-FFF2-40B4-BE49-F238E27FC236}">
                <a16:creationId xmlns:a16="http://schemas.microsoft.com/office/drawing/2014/main" id="{32803648-AB31-1C55-361F-D02B899E3208}"/>
              </a:ext>
            </a:extLst>
          </p:cNvPr>
          <p:cNvGraphicFramePr>
            <a:graphicFrameLocks noGrp="1"/>
          </p:cNvGraphicFramePr>
          <p:nvPr>
            <p:extLst>
              <p:ext uri="{D42A27DB-BD31-4B8C-83A1-F6EECF244321}">
                <p14:modId xmlns:p14="http://schemas.microsoft.com/office/powerpoint/2010/main" val="1098142359"/>
              </p:ext>
            </p:extLst>
          </p:nvPr>
        </p:nvGraphicFramePr>
        <p:xfrm>
          <a:off x="2557462" y="428933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4E1B704-5DF8-9EB3-2103-8C8913465761}"/>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690367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A186E-DEAD-1E3F-ADBE-CF258B9E68C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069B6F1-52F5-DBD9-FE1E-7DD78D3D510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(29)</a:t>
            </a:r>
          </a:p>
        </p:txBody>
      </p:sp>
      <p:pic>
        <p:nvPicPr>
          <p:cNvPr id="5" name="Picture 4" descr="image of a clipboard with a pencil recording short answer responses">
            <a:extLst>
              <a:ext uri="{FF2B5EF4-FFF2-40B4-BE49-F238E27FC236}">
                <a16:creationId xmlns:a16="http://schemas.microsoft.com/office/drawing/2014/main" id="{95BB9EF2-5D8F-1356-E26C-32FA516928A6}"/>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28" name="Picture 127" descr="An analog clock face with numbers but no hands.">
            <a:extLst>
              <a:ext uri="{FF2B5EF4-FFF2-40B4-BE49-F238E27FC236}">
                <a16:creationId xmlns:a16="http://schemas.microsoft.com/office/drawing/2014/main" id="{4D82C780-F1BF-A2C1-DB05-ED6C834B3D27}"/>
              </a:ext>
            </a:extLst>
          </p:cNvPr>
          <p:cNvPicPr>
            <a:picLocks noChangeAspect="1"/>
          </p:cNvPicPr>
          <p:nvPr/>
        </p:nvPicPr>
        <p:blipFill>
          <a:blip r:embed="rId4"/>
          <a:stretch>
            <a:fillRect/>
          </a:stretch>
        </p:blipFill>
        <p:spPr>
          <a:xfrm>
            <a:off x="306339" y="2420622"/>
            <a:ext cx="2553819" cy="2507554"/>
          </a:xfrm>
          <a:prstGeom prst="rect">
            <a:avLst/>
          </a:prstGeom>
        </p:spPr>
      </p:pic>
      <p:sp>
        <p:nvSpPr>
          <p:cNvPr id="11" name="Picture Placeholder 10">
            <a:extLst>
              <a:ext uri="{FF2B5EF4-FFF2-40B4-BE49-F238E27FC236}">
                <a16:creationId xmlns:a16="http://schemas.microsoft.com/office/drawing/2014/main" id="{FF54730D-1797-6F6B-C3B2-591C858320E8}"/>
              </a:ext>
            </a:extLst>
          </p:cNvPr>
          <p:cNvSpPr>
            <a:spLocks noGrp="1"/>
          </p:cNvSpPr>
          <p:nvPr>
            <p:ph type="pic" sz="quarter" idx="21"/>
          </p:nvPr>
        </p:nvSpPr>
        <p:spPr>
          <a:xfrm>
            <a:off x="2860158" y="898519"/>
            <a:ext cx="8365210" cy="4949387"/>
          </a:xfrm>
        </p:spPr>
        <p:txBody>
          <a:bodyPr/>
          <a:lstStyle/>
          <a:p>
            <a:pPr algn="ctr"/>
            <a:r>
              <a:rPr lang="en-US" sz="4400" dirty="0">
                <a:latin typeface="Arial"/>
                <a:cs typeface="Arial"/>
              </a:rPr>
              <a:t>The numbers on an </a:t>
            </a:r>
            <a:r>
              <a:rPr lang="en-US" sz="4400" b="1" dirty="0">
                <a:latin typeface="Arial"/>
                <a:cs typeface="Arial"/>
              </a:rPr>
              <a:t>analog clock </a:t>
            </a:r>
            <a:r>
              <a:rPr lang="en-US" sz="4400" dirty="0">
                <a:latin typeface="Arial"/>
                <a:cs typeface="Arial"/>
              </a:rPr>
              <a:t>can represent 2 different values. What </a:t>
            </a:r>
            <a:r>
              <a:rPr lang="en-US" sz="4400" b="1" dirty="0">
                <a:latin typeface="Arial"/>
                <a:cs typeface="Arial"/>
              </a:rPr>
              <a:t>value</a:t>
            </a:r>
            <a:r>
              <a:rPr lang="en-US" sz="4400" dirty="0">
                <a:latin typeface="Arial"/>
                <a:cs typeface="Arial"/>
              </a:rPr>
              <a:t> can the following numbers represent?</a:t>
            </a:r>
          </a:p>
          <a:p>
            <a:pPr algn="ctr"/>
            <a:r>
              <a:rPr lang="en-US" sz="4400" b="1" dirty="0">
                <a:latin typeface="Arial"/>
                <a:cs typeface="Arial"/>
              </a:rPr>
              <a:t>2		7		4		11</a:t>
            </a:r>
            <a:endParaRPr lang="en-US" sz="4400" dirty="0"/>
          </a:p>
          <a:p>
            <a:pPr algn="ctr"/>
            <a:endParaRPr lang="en-US" sz="4000" dirty="0">
              <a:latin typeface="Arial"/>
              <a:cs typeface="Arial"/>
            </a:endParaRPr>
          </a:p>
          <a:p>
            <a:pPr algn="ctr"/>
            <a:endParaRPr lang="en-US" sz="4800" dirty="0"/>
          </a:p>
          <a:p>
            <a:endParaRPr lang="en-US" sz="2000" dirty="0">
              <a:latin typeface="Arial"/>
              <a:cs typeface="Arial"/>
            </a:endParaRPr>
          </a:p>
        </p:txBody>
      </p:sp>
      <p:sp>
        <p:nvSpPr>
          <p:cNvPr id="2" name="Slide Number Placeholder 1" descr="Fractions represented (shaded) on a number line.&#10;3/4, 1/2, 5/8, 2/4, 3/10, 7/8">
            <a:extLst>
              <a:ext uri="{FF2B5EF4-FFF2-40B4-BE49-F238E27FC236}">
                <a16:creationId xmlns:a16="http://schemas.microsoft.com/office/drawing/2014/main" id="{5249BC38-5AE6-D002-8CF1-C81FA6A0F702}"/>
              </a:ext>
            </a:extLst>
          </p:cNvPr>
          <p:cNvSpPr>
            <a:spLocks noGrp="1"/>
          </p:cNvSpPr>
          <p:nvPr>
            <p:ph type="sldNum" sz="quarter" idx="12"/>
          </p:nvPr>
        </p:nvSpPr>
        <p:spPr/>
        <p:txBody>
          <a:bodyPr/>
          <a:lstStyle/>
          <a:p>
            <a:fld id="{10A01DC5-1685-4615-8240-15192985C6A2}" type="slidenum">
              <a:rPr lang="en-AU" smtClean="0"/>
              <a:t>55</a:t>
            </a:fld>
            <a:endParaRPr lang="en-AU"/>
          </a:p>
        </p:txBody>
      </p:sp>
    </p:spTree>
    <p:extLst>
      <p:ext uri="{BB962C8B-B14F-4D97-AF65-F5344CB8AC3E}">
        <p14:creationId xmlns:p14="http://schemas.microsoft.com/office/powerpoint/2010/main" val="3402796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9D3EC5-1978-D0B2-1005-F3026FF696D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D284195-A94F-3D08-B252-D7FBC4299576}"/>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(30)</a:t>
            </a:r>
          </a:p>
        </p:txBody>
      </p:sp>
      <p:pic>
        <p:nvPicPr>
          <p:cNvPr id="4" name="Picture 3" descr="image of a clipboard with a pencil recording short answer responses">
            <a:extLst>
              <a:ext uri="{FF2B5EF4-FFF2-40B4-BE49-F238E27FC236}">
                <a16:creationId xmlns:a16="http://schemas.microsoft.com/office/drawing/2014/main" id="{B2AACA3F-7A28-6CBF-E26B-3DD13855833C}"/>
              </a:ext>
            </a:extLst>
          </p:cNvPr>
          <p:cNvPicPr>
            <a:picLocks noChangeAspect="1"/>
          </p:cNvPicPr>
          <p:nvPr/>
        </p:nvPicPr>
        <p:blipFill>
          <a:blip r:embed="rId3"/>
          <a:stretch>
            <a:fillRect/>
          </a:stretch>
        </p:blipFill>
        <p:spPr>
          <a:xfrm>
            <a:off x="11145288" y="45989"/>
            <a:ext cx="915500" cy="915500"/>
          </a:xfrm>
          <a:prstGeom prst="rect">
            <a:avLst/>
          </a:prstGeom>
        </p:spPr>
      </p:pic>
      <p:graphicFrame>
        <p:nvGraphicFramePr>
          <p:cNvPr id="9" name="Chart 8" descr="A graphs for Wattle Street PS Stage 2 Results with pink colums, labelled axes are number of votes and equipment. The equipment is basketball court, bike track, flying fox, swings. The graph has a scale of 0 - 60 in increments of 10.">
            <a:extLst>
              <a:ext uri="{FF2B5EF4-FFF2-40B4-BE49-F238E27FC236}">
                <a16:creationId xmlns:a16="http://schemas.microsoft.com/office/drawing/2014/main" id="{E6241CC1-07AE-DD92-1B1F-6D7CF0B76885}"/>
              </a:ext>
            </a:extLst>
          </p:cNvPr>
          <p:cNvGraphicFramePr/>
          <p:nvPr>
            <p:extLst>
              <p:ext uri="{D42A27DB-BD31-4B8C-83A1-F6EECF244321}">
                <p14:modId xmlns:p14="http://schemas.microsoft.com/office/powerpoint/2010/main" val="1004875534"/>
              </p:ext>
            </p:extLst>
          </p:nvPr>
        </p:nvGraphicFramePr>
        <p:xfrm>
          <a:off x="1019219" y="1074586"/>
          <a:ext cx="4701098" cy="333792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7" name="Chart 16" descr="A graphs for Wattle Street PS Stage 2 Results with blue colums, labelled axes are number of votes and equipment. The equipment is basketball court, bike track, flying fox, swings. The right graph has a scale of 0 - 56 in increments of 4.">
            <a:extLst>
              <a:ext uri="{FF2B5EF4-FFF2-40B4-BE49-F238E27FC236}">
                <a16:creationId xmlns:a16="http://schemas.microsoft.com/office/drawing/2014/main" id="{006A481E-7F61-95CE-DA6B-651F283A848B}"/>
              </a:ext>
              <a:ext uri="{C183D7F6-B498-43B3-948B-1728B52AA6E4}">
                <adec:decorative xmlns:adec="http://schemas.microsoft.com/office/drawing/2017/decorative" val="0"/>
              </a:ext>
            </a:extLst>
          </p:cNvPr>
          <p:cNvGraphicFramePr/>
          <p:nvPr>
            <p:extLst>
              <p:ext uri="{D42A27DB-BD31-4B8C-83A1-F6EECF244321}">
                <p14:modId xmlns:p14="http://schemas.microsoft.com/office/powerpoint/2010/main" val="2080950640"/>
              </p:ext>
            </p:extLst>
          </p:nvPr>
        </p:nvGraphicFramePr>
        <p:xfrm>
          <a:off x="6422902" y="1074585"/>
          <a:ext cx="4701098" cy="3337927"/>
        </p:xfrm>
        <a:graphic>
          <a:graphicData uri="http://schemas.openxmlformats.org/drawingml/2006/chart">
            <c:chart xmlns:c="http://schemas.openxmlformats.org/drawingml/2006/chart" xmlns:r="http://schemas.openxmlformats.org/officeDocument/2006/relationships" r:id="rId5"/>
          </a:graphicData>
        </a:graphic>
      </p:graphicFrame>
      <p:sp>
        <p:nvSpPr>
          <p:cNvPr id="18" name="TextBox 17">
            <a:extLst>
              <a:ext uri="{FF2B5EF4-FFF2-40B4-BE49-F238E27FC236}">
                <a16:creationId xmlns:a16="http://schemas.microsoft.com/office/drawing/2014/main" id="{2D721FDD-3100-5F99-E18D-EA591300FDFD}"/>
              </a:ext>
            </a:extLst>
          </p:cNvPr>
          <p:cNvSpPr txBox="1"/>
          <p:nvPr/>
        </p:nvSpPr>
        <p:spPr>
          <a:xfrm>
            <a:off x="134717" y="4669190"/>
            <a:ext cx="11922565" cy="2026810"/>
          </a:xfrm>
          <a:prstGeom prst="rect">
            <a:avLst/>
          </a:prstGeom>
          <a:noFill/>
        </p:spPr>
        <p:txBody>
          <a:bodyPr wrap="square" lIns="0" tIns="0" rIns="0" bIns="0" rtlCol="0">
            <a:noAutofit/>
          </a:bodyPr>
          <a:lstStyle/>
          <a:p>
            <a:pPr algn="ctr"/>
            <a:r>
              <a:rPr lang="en-AU" sz="3600"/>
              <a:t>The two </a:t>
            </a:r>
            <a:r>
              <a:rPr lang="en-AU" sz="3600" b="1"/>
              <a:t>graphs</a:t>
            </a:r>
            <a:r>
              <a:rPr lang="en-AU" sz="3600"/>
              <a:t> display the same </a:t>
            </a:r>
            <a:r>
              <a:rPr lang="en-AU" sz="3600" b="1"/>
              <a:t>data</a:t>
            </a:r>
            <a:r>
              <a:rPr lang="en-AU" sz="3600"/>
              <a:t>. Evaluate the </a:t>
            </a:r>
            <a:r>
              <a:rPr lang="en-AU" sz="3600" b="1"/>
              <a:t>effectiveness</a:t>
            </a:r>
            <a:r>
              <a:rPr lang="en-AU" sz="3600"/>
              <a:t> of how the data is displayed. </a:t>
            </a:r>
          </a:p>
          <a:p>
            <a:pPr algn="ctr"/>
            <a:endParaRPr lang="en-AU"/>
          </a:p>
          <a:p>
            <a:pPr algn="ctr"/>
            <a:r>
              <a:rPr lang="en-AU" sz="3600"/>
              <a:t>Communicate your thinking.</a:t>
            </a:r>
          </a:p>
        </p:txBody>
      </p:sp>
      <p:sp>
        <p:nvSpPr>
          <p:cNvPr id="2" name="Slide Number Placeholder 1">
            <a:extLst>
              <a:ext uri="{FF2B5EF4-FFF2-40B4-BE49-F238E27FC236}">
                <a16:creationId xmlns:a16="http://schemas.microsoft.com/office/drawing/2014/main" id="{854331E5-B73F-E61B-8143-1547D7DE5518}"/>
              </a:ext>
            </a:extLst>
          </p:cNvPr>
          <p:cNvSpPr>
            <a:spLocks noGrp="1"/>
          </p:cNvSpPr>
          <p:nvPr>
            <p:ph type="sldNum" sz="quarter" idx="12"/>
          </p:nvPr>
        </p:nvSpPr>
        <p:spPr/>
        <p:txBody>
          <a:bodyPr/>
          <a:lstStyle/>
          <a:p>
            <a:fld id="{10A01DC5-1685-4615-8240-15192985C6A2}" type="slidenum">
              <a:rPr lang="en-AU" smtClean="0"/>
              <a:t>56</a:t>
            </a:fld>
            <a:endParaRPr lang="en-AU"/>
          </a:p>
        </p:txBody>
      </p:sp>
    </p:spTree>
    <p:extLst>
      <p:ext uri="{BB962C8B-B14F-4D97-AF65-F5344CB8AC3E}">
        <p14:creationId xmlns:p14="http://schemas.microsoft.com/office/powerpoint/2010/main" val="2067489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E5048-C70E-7453-F9E5-507985776F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84B6BC0-2F0C-F390-AAB1-BCCBF88DB5D1}"/>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(31)</a:t>
            </a:r>
          </a:p>
        </p:txBody>
      </p:sp>
      <p:pic>
        <p:nvPicPr>
          <p:cNvPr id="4" name="Picture 3" descr="image of a clipboard with a pencil recording short answer responses">
            <a:extLst>
              <a:ext uri="{FF2B5EF4-FFF2-40B4-BE49-F238E27FC236}">
                <a16:creationId xmlns:a16="http://schemas.microsoft.com/office/drawing/2014/main" id="{A2EF237A-5FBF-BE77-1ED8-2DA35AFFC1E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93746974-51C1-ECF2-342C-DE409734E1F1}"/>
              </a:ext>
            </a:extLst>
          </p:cNvPr>
          <p:cNvSpPr>
            <a:spLocks noGrp="1"/>
          </p:cNvSpPr>
          <p:nvPr>
            <p:ph type="pic" sz="quarter" idx="21"/>
          </p:nvPr>
        </p:nvSpPr>
        <p:spPr>
          <a:xfrm>
            <a:off x="424395" y="1101213"/>
            <a:ext cx="11178643" cy="1832599"/>
          </a:xfrm>
        </p:spPr>
        <p:txBody>
          <a:bodyPr/>
          <a:lstStyle/>
          <a:p>
            <a:pPr algn="ctr"/>
            <a:r>
              <a:rPr lang="en-AU" sz="4400">
                <a:latin typeface="Arial"/>
                <a:cs typeface="Arial"/>
              </a:rPr>
              <a:t>Record the </a:t>
            </a:r>
            <a:r>
              <a:rPr lang="en-AU" sz="4400" b="1">
                <a:latin typeface="Arial"/>
                <a:cs typeface="Arial"/>
              </a:rPr>
              <a:t>volume</a:t>
            </a:r>
            <a:r>
              <a:rPr lang="en-AU" sz="4400">
                <a:latin typeface="Arial"/>
                <a:cs typeface="Arial"/>
              </a:rPr>
              <a:t> of this </a:t>
            </a:r>
            <a:r>
              <a:rPr lang="en-AU" sz="4400" b="1">
                <a:latin typeface="Arial"/>
                <a:cs typeface="Arial"/>
              </a:rPr>
              <a:t>3D object </a:t>
            </a:r>
            <a:r>
              <a:rPr lang="en-AU" sz="4400">
                <a:latin typeface="Arial"/>
                <a:cs typeface="Arial"/>
              </a:rPr>
              <a:t>in numerals and words.</a:t>
            </a:r>
            <a:endParaRPr lang="en-AU" sz="4400"/>
          </a:p>
          <a:p>
            <a:endParaRPr lang="en-US" sz="1100">
              <a:latin typeface="Arial"/>
              <a:cs typeface="Arial"/>
            </a:endParaRPr>
          </a:p>
        </p:txBody>
      </p:sp>
      <p:pic>
        <p:nvPicPr>
          <p:cNvPr id="8" name="Picture 7" descr="A table showing the views of a 3D object. Top view 2 x 5 squares; Front view 3 x 5 squares. Side view 2 x 3 squares.">
            <a:extLst>
              <a:ext uri="{FF2B5EF4-FFF2-40B4-BE49-F238E27FC236}">
                <a16:creationId xmlns:a16="http://schemas.microsoft.com/office/drawing/2014/main" id="{3292DE95-D77C-5836-8EAA-E0DE7F5743BA}"/>
              </a:ext>
            </a:extLst>
          </p:cNvPr>
          <p:cNvPicPr>
            <a:picLocks noChangeAspect="1"/>
          </p:cNvPicPr>
          <p:nvPr/>
        </p:nvPicPr>
        <p:blipFill>
          <a:blip r:embed="rId4"/>
          <a:stretch>
            <a:fillRect/>
          </a:stretch>
        </p:blipFill>
        <p:spPr>
          <a:xfrm>
            <a:off x="2086850" y="3523268"/>
            <a:ext cx="8018299" cy="2403275"/>
          </a:xfrm>
          <a:prstGeom prst="rect">
            <a:avLst/>
          </a:prstGeom>
          <a:effectLst>
            <a:outerShdw blurRad="63500" sx="102000" sy="102000" algn="ctr" rotWithShape="0">
              <a:prstClr val="black">
                <a:alpha val="40000"/>
              </a:prstClr>
            </a:outerShdw>
          </a:effectLst>
        </p:spPr>
      </p:pic>
      <p:sp>
        <p:nvSpPr>
          <p:cNvPr id="2" name="Slide Number Placeholder 1">
            <a:extLst>
              <a:ext uri="{FF2B5EF4-FFF2-40B4-BE49-F238E27FC236}">
                <a16:creationId xmlns:a16="http://schemas.microsoft.com/office/drawing/2014/main" id="{2E2BE1B1-6CD9-10A7-4664-27A4D73F0617}"/>
              </a:ext>
            </a:extLst>
          </p:cNvPr>
          <p:cNvSpPr>
            <a:spLocks noGrp="1"/>
          </p:cNvSpPr>
          <p:nvPr>
            <p:ph type="sldNum" sz="quarter" idx="12"/>
          </p:nvPr>
        </p:nvSpPr>
        <p:spPr/>
        <p:txBody>
          <a:bodyPr/>
          <a:lstStyle/>
          <a:p>
            <a:fld id="{10A01DC5-1685-4615-8240-15192985C6A2}" type="slidenum">
              <a:rPr lang="en-AU" smtClean="0"/>
              <a:t>57</a:t>
            </a:fld>
            <a:endParaRPr lang="en-AU"/>
          </a:p>
        </p:txBody>
      </p:sp>
    </p:spTree>
    <p:extLst>
      <p:ext uri="{BB962C8B-B14F-4D97-AF65-F5344CB8AC3E}">
        <p14:creationId xmlns:p14="http://schemas.microsoft.com/office/powerpoint/2010/main" val="2110225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04D6B-9189-E91A-94F1-0BFF176CCD6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1EF5B99-01ED-96BA-A959-B34AFEB0EDB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(32)</a:t>
            </a:r>
          </a:p>
        </p:txBody>
      </p:sp>
      <p:pic>
        <p:nvPicPr>
          <p:cNvPr id="4" name="Picture 3" descr="image of a clipboard with a pencil recording short answer responses">
            <a:extLst>
              <a:ext uri="{FF2B5EF4-FFF2-40B4-BE49-F238E27FC236}">
                <a16:creationId xmlns:a16="http://schemas.microsoft.com/office/drawing/2014/main" id="{539E078C-9C47-DE07-91D4-DB47EA04B8A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6F141943-82E3-9EF3-4E0A-961E3AE7383C}"/>
              </a:ext>
            </a:extLst>
          </p:cNvPr>
          <p:cNvSpPr txBox="1"/>
          <p:nvPr/>
        </p:nvSpPr>
        <p:spPr>
          <a:xfrm>
            <a:off x="451691" y="1265600"/>
            <a:ext cx="10672309" cy="1446550"/>
          </a:xfrm>
          <a:prstGeom prst="rect">
            <a:avLst/>
          </a:prstGeom>
          <a:noFill/>
        </p:spPr>
        <p:txBody>
          <a:bodyPr wrap="square" lIns="91440" tIns="45720" rIns="91440" bIns="45720" anchor="t">
            <a:spAutoFit/>
          </a:bodyPr>
          <a:lstStyle/>
          <a:p>
            <a:pPr algn="ctr"/>
            <a:r>
              <a:rPr lang="en-AU" sz="4400">
                <a:cs typeface="Arial"/>
              </a:rPr>
              <a:t>Explain why the image below is </a:t>
            </a:r>
            <a:r>
              <a:rPr lang="en-AU" sz="4400" b="1">
                <a:cs typeface="Arial"/>
              </a:rPr>
              <a:t>symmetrical.</a:t>
            </a:r>
          </a:p>
        </p:txBody>
      </p:sp>
      <p:pic>
        <p:nvPicPr>
          <p:cNvPr id="6" name="Picture 5" descr="A pattern of a flower like image, repeated 4 times top to bottom, left to right.">
            <a:extLst>
              <a:ext uri="{FF2B5EF4-FFF2-40B4-BE49-F238E27FC236}">
                <a16:creationId xmlns:a16="http://schemas.microsoft.com/office/drawing/2014/main" id="{3F0E8837-75A8-83F6-0C70-6ADB88E8968A}"/>
              </a:ext>
            </a:extLst>
          </p:cNvPr>
          <p:cNvPicPr>
            <a:picLocks noChangeAspect="1"/>
          </p:cNvPicPr>
          <p:nvPr/>
        </p:nvPicPr>
        <p:blipFill>
          <a:blip r:embed="rId4"/>
          <a:stretch>
            <a:fillRect/>
          </a:stretch>
        </p:blipFill>
        <p:spPr>
          <a:xfrm>
            <a:off x="4573868" y="3179980"/>
            <a:ext cx="3044263" cy="3050699"/>
          </a:xfrm>
          <a:prstGeom prst="rect">
            <a:avLst/>
          </a:prstGeom>
        </p:spPr>
      </p:pic>
      <p:sp>
        <p:nvSpPr>
          <p:cNvPr id="2" name="Slide Number Placeholder 1">
            <a:extLst>
              <a:ext uri="{FF2B5EF4-FFF2-40B4-BE49-F238E27FC236}">
                <a16:creationId xmlns:a16="http://schemas.microsoft.com/office/drawing/2014/main" id="{E8AEA27B-161C-5E2A-F2CE-834142161ED0}"/>
              </a:ext>
            </a:extLst>
          </p:cNvPr>
          <p:cNvSpPr>
            <a:spLocks noGrp="1"/>
          </p:cNvSpPr>
          <p:nvPr>
            <p:ph type="sldNum" sz="quarter" idx="12"/>
          </p:nvPr>
        </p:nvSpPr>
        <p:spPr/>
        <p:txBody>
          <a:bodyPr/>
          <a:lstStyle/>
          <a:p>
            <a:fld id="{10A01DC5-1685-4615-8240-15192985C6A2}" type="slidenum">
              <a:rPr lang="en-AU" smtClean="0"/>
              <a:t>58</a:t>
            </a:fld>
            <a:endParaRPr lang="en-AU"/>
          </a:p>
        </p:txBody>
      </p:sp>
    </p:spTree>
    <p:extLst>
      <p:ext uri="{BB962C8B-B14F-4D97-AF65-F5344CB8AC3E}">
        <p14:creationId xmlns:p14="http://schemas.microsoft.com/office/powerpoint/2010/main" val="853628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03040-0DEE-05E2-5988-68A021488C8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36503B4-234D-82CE-58CD-C719FF9BB5EE}"/>
              </a:ext>
            </a:extLst>
          </p:cNvPr>
          <p:cNvSpPr>
            <a:spLocks noGrp="1"/>
          </p:cNvSpPr>
          <p:nvPr>
            <p:ph type="title"/>
          </p:nvPr>
        </p:nvSpPr>
        <p:spPr>
          <a:xfrm>
            <a:off x="360000" y="162000"/>
            <a:ext cx="10038642" cy="545601"/>
          </a:xfrm>
        </p:spPr>
        <p:txBody>
          <a:bodyPr/>
          <a:lstStyle/>
          <a:p>
            <a:r>
              <a:rPr lang="en-AU"/>
              <a:t>Activity 8 – fractions and wholes</a:t>
            </a:r>
          </a:p>
        </p:txBody>
      </p:sp>
      <p:pic>
        <p:nvPicPr>
          <p:cNvPr id="4" name="Picture 3" descr="image of a head with cogs turning inside">
            <a:extLst>
              <a:ext uri="{FF2B5EF4-FFF2-40B4-BE49-F238E27FC236}">
                <a16:creationId xmlns:a16="http://schemas.microsoft.com/office/drawing/2014/main" id="{80A086C4-2D42-4C88-454F-4833CFD04D03}"/>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12" name="Picture 11" descr="Complementary fraction dominoes. The left side shows three eighths, the right side show five eighths.">
            <a:extLst>
              <a:ext uri="{FF2B5EF4-FFF2-40B4-BE49-F238E27FC236}">
                <a16:creationId xmlns:a16="http://schemas.microsoft.com/office/drawing/2014/main" id="{91AC34C8-0113-64C1-6C94-CA02A9D368F8}"/>
              </a:ext>
            </a:extLst>
          </p:cNvPr>
          <p:cNvPicPr>
            <a:picLocks noChangeAspect="1"/>
          </p:cNvPicPr>
          <p:nvPr/>
        </p:nvPicPr>
        <p:blipFill>
          <a:blip r:embed="rId4"/>
          <a:stretch>
            <a:fillRect/>
          </a:stretch>
        </p:blipFill>
        <p:spPr>
          <a:xfrm>
            <a:off x="116581" y="1805208"/>
            <a:ext cx="11958838" cy="2883750"/>
          </a:xfrm>
          <a:prstGeom prst="rect">
            <a:avLst/>
          </a:prstGeom>
        </p:spPr>
      </p:pic>
      <p:sp>
        <p:nvSpPr>
          <p:cNvPr id="2" name="Slide Number Placeholder 1">
            <a:extLst>
              <a:ext uri="{FF2B5EF4-FFF2-40B4-BE49-F238E27FC236}">
                <a16:creationId xmlns:a16="http://schemas.microsoft.com/office/drawing/2014/main" id="{0ECF86B0-C2B9-3BEE-C9B4-8DB13FDB4224}"/>
              </a:ext>
            </a:extLst>
          </p:cNvPr>
          <p:cNvSpPr>
            <a:spLocks noGrp="1"/>
          </p:cNvSpPr>
          <p:nvPr>
            <p:ph type="sldNum" sz="quarter" idx="12"/>
          </p:nvPr>
        </p:nvSpPr>
        <p:spPr/>
        <p:txBody>
          <a:bodyPr/>
          <a:lstStyle/>
          <a:p>
            <a:fld id="{10A01DC5-1685-4615-8240-15192985C6A2}" type="slidenum">
              <a:rPr lang="en-AU" smtClean="0"/>
              <a:t>59</a:t>
            </a:fld>
            <a:endParaRPr lang="en-AU"/>
          </a:p>
        </p:txBody>
      </p:sp>
    </p:spTree>
    <p:extLst>
      <p:ext uri="{BB962C8B-B14F-4D97-AF65-F5344CB8AC3E}">
        <p14:creationId xmlns:p14="http://schemas.microsoft.com/office/powerpoint/2010/main" val="1263371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321" y="72170"/>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968662" y="3209941"/>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748407" y="3587061"/>
            <a:ext cx="4238443" cy="237047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5019504" y="3325882"/>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cxnSpLocks/>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4" name="Text Placeholder 3">
            <a:extLst>
              <a:ext uri="{FF2B5EF4-FFF2-40B4-BE49-F238E27FC236}">
                <a16:creationId xmlns:a16="http://schemas.microsoft.com/office/drawing/2014/main" id="{EB4C48A6-632A-10A7-9B85-40A6CEF59C26}"/>
              </a:ext>
            </a:extLst>
          </p:cNvPr>
          <p:cNvSpPr>
            <a:spLocks noGrp="1"/>
          </p:cNvSpPr>
          <p:nvPr>
            <p:ph type="body" sz="quarter" idx="18"/>
          </p:nvPr>
        </p:nvSpPr>
        <p:spPr/>
        <p:txBody>
          <a:bodyPr/>
          <a:lstStyle/>
          <a:p>
            <a:endParaRPr lang="en-AU">
              <a:latin typeface="+mj-lt"/>
            </a:endParaRP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EE9CE-D467-CF79-03E7-D0928BDD123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F7B9B9F-1954-2BCA-9CE2-E9BF07F578A5}"/>
              </a:ext>
            </a:extLst>
          </p:cNvPr>
          <p:cNvSpPr>
            <a:spLocks noGrp="1"/>
          </p:cNvSpPr>
          <p:nvPr>
            <p:ph type="title"/>
          </p:nvPr>
        </p:nvSpPr>
        <p:spPr/>
        <p:txBody>
          <a:bodyPr/>
          <a:lstStyle/>
          <a:p>
            <a:r>
              <a:rPr lang="en-US"/>
              <a:t>Multiple choice (1a)</a:t>
            </a:r>
          </a:p>
        </p:txBody>
      </p:sp>
      <p:sp>
        <p:nvSpPr>
          <p:cNvPr id="13" name="Text Placeholder 12">
            <a:extLst>
              <a:ext uri="{FF2B5EF4-FFF2-40B4-BE49-F238E27FC236}">
                <a16:creationId xmlns:a16="http://schemas.microsoft.com/office/drawing/2014/main" id="{884A26B5-6F52-2F0A-8648-DEA4BF0E15B4}"/>
              </a:ext>
            </a:extLst>
          </p:cNvPr>
          <p:cNvSpPr>
            <a:spLocks noGrp="1"/>
          </p:cNvSpPr>
          <p:nvPr>
            <p:ph type="body" sz="quarter" idx="18"/>
          </p:nvPr>
        </p:nvSpPr>
        <p:spPr/>
        <p:txBody>
          <a:bodyPr/>
          <a:lstStyle/>
          <a:p>
            <a:endParaRPr lang="en-US"/>
          </a:p>
        </p:txBody>
      </p:sp>
      <p:sp>
        <p:nvSpPr>
          <p:cNvPr id="15" name="Text Placeholder 14">
            <a:extLst>
              <a:ext uri="{FF2B5EF4-FFF2-40B4-BE49-F238E27FC236}">
                <a16:creationId xmlns:a16="http://schemas.microsoft.com/office/drawing/2014/main" id="{871424B5-AF1B-EBC1-192B-253358954B69}"/>
              </a:ext>
            </a:extLst>
          </p:cNvPr>
          <p:cNvSpPr>
            <a:spLocks noGrp="1"/>
          </p:cNvSpPr>
          <p:nvPr>
            <p:ph type="body" sz="quarter" idx="28"/>
          </p:nvPr>
        </p:nvSpPr>
        <p:spPr>
          <a:xfrm>
            <a:off x="360000" y="1625945"/>
            <a:ext cx="11243037" cy="754243"/>
          </a:xfrm>
        </p:spPr>
        <p:txBody>
          <a:bodyPr/>
          <a:lstStyle/>
          <a:p>
            <a:endParaRPr lang="en-US"/>
          </a:p>
        </p:txBody>
      </p:sp>
      <p:sp>
        <p:nvSpPr>
          <p:cNvPr id="9" name="TextBox 8">
            <a:extLst>
              <a:ext uri="{FF2B5EF4-FFF2-40B4-BE49-F238E27FC236}">
                <a16:creationId xmlns:a16="http://schemas.microsoft.com/office/drawing/2014/main" id="{31E8794B-BDE8-037D-0CAF-AA0E5A7E8583}"/>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Text Placeholder 17">
            <a:extLst>
              <a:ext uri="{FF2B5EF4-FFF2-40B4-BE49-F238E27FC236}">
                <a16:creationId xmlns:a16="http://schemas.microsoft.com/office/drawing/2014/main" id="{EA13EBFB-AE4F-2AC8-7064-60FC4C858E88}"/>
              </a:ext>
            </a:extLst>
          </p:cNvPr>
          <p:cNvSpPr>
            <a:spLocks noGrp="1"/>
          </p:cNvSpPr>
          <p:nvPr>
            <p:ph type="body" sz="quarter" idx="31"/>
          </p:nvPr>
        </p:nvSpPr>
        <p:spPr>
          <a:xfrm>
            <a:off x="1345520" y="2877704"/>
            <a:ext cx="10175920" cy="641396"/>
          </a:xfrm>
        </p:spPr>
        <p:txBody>
          <a:bodyPr/>
          <a:lstStyle/>
          <a:p>
            <a:endParaRPr lang="en-US"/>
          </a:p>
        </p:txBody>
      </p:sp>
      <p:sp>
        <p:nvSpPr>
          <p:cNvPr id="10" name="TextBox 9">
            <a:extLst>
              <a:ext uri="{FF2B5EF4-FFF2-40B4-BE49-F238E27FC236}">
                <a16:creationId xmlns:a16="http://schemas.microsoft.com/office/drawing/2014/main" id="{68AE238C-3606-5F78-F03A-0E9E40F4FDA4}"/>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586611D7-8B32-72EA-14FB-A57E82998441}"/>
              </a:ext>
            </a:extLst>
          </p:cNvPr>
          <p:cNvSpPr>
            <a:spLocks noGrp="1"/>
          </p:cNvSpPr>
          <p:nvPr>
            <p:ph type="body" sz="quarter" idx="30"/>
          </p:nvPr>
        </p:nvSpPr>
        <p:spPr>
          <a:xfrm>
            <a:off x="1345520" y="3725617"/>
            <a:ext cx="10175920" cy="641396"/>
          </a:xfrm>
        </p:spPr>
        <p:txBody>
          <a:bodyPr/>
          <a:lstStyle/>
          <a:p>
            <a:endParaRPr lang="en-US"/>
          </a:p>
        </p:txBody>
      </p:sp>
      <p:sp>
        <p:nvSpPr>
          <p:cNvPr id="12" name="TextBox 11">
            <a:extLst>
              <a:ext uri="{FF2B5EF4-FFF2-40B4-BE49-F238E27FC236}">
                <a16:creationId xmlns:a16="http://schemas.microsoft.com/office/drawing/2014/main" id="{E989C16C-1E4B-799F-ACDD-636F7693F2A6}"/>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5">
            <a:extLst>
              <a:ext uri="{FF2B5EF4-FFF2-40B4-BE49-F238E27FC236}">
                <a16:creationId xmlns:a16="http://schemas.microsoft.com/office/drawing/2014/main" id="{057F8B72-6486-DAFE-D378-A7E3F82B47C0}"/>
              </a:ext>
            </a:extLst>
          </p:cNvPr>
          <p:cNvSpPr>
            <a:spLocks noGrp="1"/>
          </p:cNvSpPr>
          <p:nvPr>
            <p:ph type="body" sz="quarter" idx="29"/>
          </p:nvPr>
        </p:nvSpPr>
        <p:spPr>
          <a:xfrm>
            <a:off x="1345520" y="4575670"/>
            <a:ext cx="10175920" cy="641396"/>
          </a:xfrm>
        </p:spPr>
        <p:txBody>
          <a:bodyPr/>
          <a:lstStyle/>
          <a:p>
            <a:endParaRPr lang="en-US"/>
          </a:p>
        </p:txBody>
      </p:sp>
      <p:sp>
        <p:nvSpPr>
          <p:cNvPr id="11" name="TextBox 10">
            <a:extLst>
              <a:ext uri="{FF2B5EF4-FFF2-40B4-BE49-F238E27FC236}">
                <a16:creationId xmlns:a16="http://schemas.microsoft.com/office/drawing/2014/main" id="{6464E12C-842E-0AE5-19AB-798F6BC2845D}"/>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 Placeholder 13">
            <a:extLst>
              <a:ext uri="{FF2B5EF4-FFF2-40B4-BE49-F238E27FC236}">
                <a16:creationId xmlns:a16="http://schemas.microsoft.com/office/drawing/2014/main" id="{2FAE27F9-31E0-BEE8-BFCB-40B14864DE84}"/>
              </a:ext>
            </a:extLst>
          </p:cNvPr>
          <p:cNvSpPr>
            <a:spLocks noGrp="1"/>
          </p:cNvSpPr>
          <p:nvPr>
            <p:ph type="body" sz="quarter" idx="27"/>
          </p:nvPr>
        </p:nvSpPr>
        <p:spPr>
          <a:xfrm>
            <a:off x="1345520" y="5425723"/>
            <a:ext cx="10175920" cy="641396"/>
          </a:xfrm>
        </p:spPr>
        <p:txBody>
          <a:bodyPr/>
          <a:lstStyle/>
          <a:p>
            <a:endParaRPr lang="en-US"/>
          </a:p>
        </p:txBody>
      </p:sp>
      <p:sp>
        <p:nvSpPr>
          <p:cNvPr id="2" name="Slide Number Placeholder 1">
            <a:extLst>
              <a:ext uri="{FF2B5EF4-FFF2-40B4-BE49-F238E27FC236}">
                <a16:creationId xmlns:a16="http://schemas.microsoft.com/office/drawing/2014/main" id="{8B0CABD8-EB9E-30C6-352A-9951178A7DB9}"/>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2643762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E7187-0435-DC00-BB5D-2125BBCA438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7BC9526-5863-A869-9375-A013AA9B1360}"/>
              </a:ext>
            </a:extLst>
          </p:cNvPr>
          <p:cNvSpPr>
            <a:spLocks noGrp="1"/>
          </p:cNvSpPr>
          <p:nvPr>
            <p:ph type="title"/>
          </p:nvPr>
        </p:nvSpPr>
        <p:spPr/>
        <p:txBody>
          <a:bodyPr/>
          <a:lstStyle/>
          <a:p>
            <a:r>
              <a:rPr lang="en-US"/>
              <a:t>Multiple choice (1b)</a:t>
            </a:r>
          </a:p>
        </p:txBody>
      </p:sp>
      <p:sp>
        <p:nvSpPr>
          <p:cNvPr id="18" name="Text Placeholder 17">
            <a:extLst>
              <a:ext uri="{FF2B5EF4-FFF2-40B4-BE49-F238E27FC236}">
                <a16:creationId xmlns:a16="http://schemas.microsoft.com/office/drawing/2014/main" id="{8B713342-A845-FC63-9421-B086E3AB3C41}"/>
              </a:ext>
            </a:extLst>
          </p:cNvPr>
          <p:cNvSpPr>
            <a:spLocks noGrp="1"/>
          </p:cNvSpPr>
          <p:nvPr>
            <p:ph type="body" sz="quarter" idx="24"/>
          </p:nvPr>
        </p:nvSpPr>
        <p:spPr>
          <a:xfrm>
            <a:off x="360000" y="1068785"/>
            <a:ext cx="11243037" cy="893226"/>
          </a:xfrm>
        </p:spPr>
        <p:txBody>
          <a:bodyPr vert="horz" lIns="0" tIns="0" rIns="0" bIns="0" rtlCol="0" anchor="t">
            <a:noAutofit/>
          </a:bodyPr>
          <a:lstStyle/>
          <a:p>
            <a:endParaRPr lang="en-US" sz="4000"/>
          </a:p>
        </p:txBody>
      </p:sp>
      <p:sp>
        <p:nvSpPr>
          <p:cNvPr id="14" name="Picture Placeholder 13">
            <a:extLst>
              <a:ext uri="{FF2B5EF4-FFF2-40B4-BE49-F238E27FC236}">
                <a16:creationId xmlns:a16="http://schemas.microsoft.com/office/drawing/2014/main" id="{29B9EC75-6577-E32D-99A2-E54978EE9438}"/>
              </a:ext>
            </a:extLst>
          </p:cNvPr>
          <p:cNvSpPr>
            <a:spLocks noGrp="1"/>
          </p:cNvSpPr>
          <p:nvPr>
            <p:ph type="pic" sz="quarter" idx="20"/>
          </p:nvPr>
        </p:nvSpPr>
        <p:spPr/>
        <p:txBody>
          <a:bodyPr/>
          <a:lstStyle/>
          <a:p>
            <a:pPr algn="ctr"/>
            <a:endParaRPr lang="en-AU" sz="4000"/>
          </a:p>
        </p:txBody>
      </p:sp>
      <p:sp>
        <p:nvSpPr>
          <p:cNvPr id="9" name="TextBox 8">
            <a:extLst>
              <a:ext uri="{FF2B5EF4-FFF2-40B4-BE49-F238E27FC236}">
                <a16:creationId xmlns:a16="http://schemas.microsoft.com/office/drawing/2014/main" id="{277FD18C-1E47-9FBB-532B-0DE3C233677A}"/>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5" name="Picture Placeholder 14">
            <a:extLst>
              <a:ext uri="{FF2B5EF4-FFF2-40B4-BE49-F238E27FC236}">
                <a16:creationId xmlns:a16="http://schemas.microsoft.com/office/drawing/2014/main" id="{08C58CC8-E167-CE35-57C2-0AFB8730B7FA}"/>
              </a:ext>
            </a:extLst>
          </p:cNvPr>
          <p:cNvSpPr>
            <a:spLocks noGrp="1"/>
          </p:cNvSpPr>
          <p:nvPr>
            <p:ph type="pic" sz="quarter" idx="21"/>
          </p:nvPr>
        </p:nvSpPr>
        <p:spPr/>
        <p:txBody>
          <a:bodyPr/>
          <a:lstStyle/>
          <a:p>
            <a:endParaRPr lang="en-AU"/>
          </a:p>
        </p:txBody>
      </p:sp>
      <p:sp>
        <p:nvSpPr>
          <p:cNvPr id="10" name="TextBox 9">
            <a:extLst>
              <a:ext uri="{FF2B5EF4-FFF2-40B4-BE49-F238E27FC236}">
                <a16:creationId xmlns:a16="http://schemas.microsoft.com/office/drawing/2014/main" id="{0EFC4CB8-AF3F-406B-99FC-2C281AD6990A}"/>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Picture Placeholder 16">
            <a:extLst>
              <a:ext uri="{FF2B5EF4-FFF2-40B4-BE49-F238E27FC236}">
                <a16:creationId xmlns:a16="http://schemas.microsoft.com/office/drawing/2014/main" id="{86C354AA-6397-16D8-C4C4-474F76D4A1C7}"/>
              </a:ext>
            </a:extLst>
          </p:cNvPr>
          <p:cNvSpPr>
            <a:spLocks noGrp="1"/>
          </p:cNvSpPr>
          <p:nvPr>
            <p:ph type="pic" sz="quarter" idx="23"/>
          </p:nvPr>
        </p:nvSpPr>
        <p:spPr/>
        <p:txBody>
          <a:bodyPr/>
          <a:lstStyle/>
          <a:p>
            <a:endParaRPr lang="en-AU"/>
          </a:p>
        </p:txBody>
      </p:sp>
      <p:sp>
        <p:nvSpPr>
          <p:cNvPr id="12" name="TextBox 11">
            <a:extLst>
              <a:ext uri="{FF2B5EF4-FFF2-40B4-BE49-F238E27FC236}">
                <a16:creationId xmlns:a16="http://schemas.microsoft.com/office/drawing/2014/main" id="{5C468B22-5176-DF39-28C7-B9C61DEEF657}"/>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Picture Placeholder 15">
            <a:extLst>
              <a:ext uri="{FF2B5EF4-FFF2-40B4-BE49-F238E27FC236}">
                <a16:creationId xmlns:a16="http://schemas.microsoft.com/office/drawing/2014/main" id="{4796CCA1-ED50-C4F4-B332-BD3BA3238549}"/>
              </a:ext>
            </a:extLst>
          </p:cNvPr>
          <p:cNvSpPr>
            <a:spLocks noGrp="1"/>
          </p:cNvSpPr>
          <p:nvPr>
            <p:ph type="pic" sz="quarter" idx="22"/>
          </p:nvPr>
        </p:nvSpPr>
        <p:spPr/>
        <p:txBody>
          <a:bodyPr/>
          <a:lstStyle/>
          <a:p>
            <a:endParaRPr lang="en-AU"/>
          </a:p>
        </p:txBody>
      </p:sp>
      <p:sp>
        <p:nvSpPr>
          <p:cNvPr id="11" name="TextBox 10">
            <a:extLst>
              <a:ext uri="{FF2B5EF4-FFF2-40B4-BE49-F238E27FC236}">
                <a16:creationId xmlns:a16="http://schemas.microsoft.com/office/drawing/2014/main" id="{25B95680-E32C-1E10-95C3-D0583F057C8A}"/>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BE2BC893-9530-AC61-D7B3-3A452ECBB315}"/>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884063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 </a:t>
            </a:r>
            <a:r>
              <a:rPr lang="en-AU">
                <a:solidFill>
                  <a:schemeClr val="accent4"/>
                </a:solidFill>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2">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pPr>
              <a:lnSpc>
                <a:spcPct val="100000"/>
              </a:lnSpc>
            </a:pPr>
            <a:r>
              <a:rPr lang="en-AU" sz="1200" u="sng">
                <a:solidFill>
                  <a:srgbClr val="2F5496"/>
                </a:solidFill>
                <a:effectLst/>
                <a:latin typeface="Arial" panose="020B0604020202020204" pitchFamily="34" charset="0"/>
                <a:ea typeface="Calibri" panose="020F0502020204030204" pitchFamily="34" charset="0"/>
                <a:hlinkClick r:id="rId5"/>
              </a:rPr>
              <a:t>Mathematics K–10 Syllabus</a:t>
            </a:r>
            <a:r>
              <a:rPr lang="en-AU" sz="1200">
                <a:effectLst/>
                <a:latin typeface="Arial" panose="020B0604020202020204" pitchFamily="34" charset="0"/>
                <a:ea typeface="Calibri" panose="020F0502020204030204" pitchFamily="34" charset="0"/>
              </a:rPr>
              <a:t> </a:t>
            </a:r>
            <a:r>
              <a:rPr lang="en-AU">
                <a:latin typeface="Public Sans Light" pitchFamily="2" charset="0"/>
              </a:rPr>
              <a:t>© </a:t>
            </a:r>
            <a:r>
              <a:rPr lang="en-AU"/>
              <a:t>Syllabus NSW Education Standards Authority (NESA) for and on behalf of the Crown in right of the State of New South Wales, 2022.</a:t>
            </a:r>
          </a:p>
          <a:p>
            <a:pPr>
              <a:lnSpc>
                <a:spcPct val="100000"/>
              </a:lnSpc>
              <a:spcBef>
                <a:spcPts val="1200"/>
              </a:spcBef>
              <a:spcAft>
                <a:spcPts val="600"/>
              </a:spcAft>
            </a:pPr>
            <a:r>
              <a:rPr lang="en-AU" u="sng">
                <a:solidFill>
                  <a:srgbClr val="2F5496"/>
                </a:solidFill>
                <a:latin typeface="Arial" panose="020B0604020202020204" pitchFamily="34" charset="0"/>
                <a:hlinkClick r:id="rId6"/>
              </a:rPr>
              <a:t>National Numeracy Learning Progression</a:t>
            </a:r>
            <a:r>
              <a:rPr lang="en-AU">
                <a:solidFill>
                  <a:srgbClr val="000000"/>
                </a:solidFill>
                <a:latin typeface="Arial" panose="020B0604020202020204" pitchFamily="34" charset="0"/>
                <a:hlinkClick r:id="rId6"/>
              </a:rPr>
              <a:t> </a:t>
            </a:r>
            <a:r>
              <a:rPr lang="en-AU">
                <a:solidFill>
                  <a:srgbClr val="000000"/>
                </a:solidFill>
                <a:latin typeface="Arial" panose="020B0604020202020204" pitchFamily="34" charset="0"/>
              </a:rPr>
              <a:t>© Australian Curriculum, Assessment and Reporting Authority (ACARA) 2010 to present, unless otherwise indicated. This material was downloaded from the </a:t>
            </a:r>
            <a:r>
              <a:rPr lang="en-AU" u="sng">
                <a:solidFill>
                  <a:srgbClr val="2F5496"/>
                </a:solidFill>
                <a:latin typeface="Arial" panose="020B0604020202020204" pitchFamily="34" charset="0"/>
                <a:hlinkClick r:id="rId7"/>
              </a:rPr>
              <a:t>Australian Curriculum</a:t>
            </a:r>
            <a:r>
              <a:rPr lang="en-AU">
                <a:solidFill>
                  <a:srgbClr val="000000"/>
                </a:solidFill>
                <a:latin typeface="Arial" panose="020B0604020202020204" pitchFamily="34" charset="0"/>
              </a:rPr>
              <a:t> website (National Literacy Learning Progression) (accessed 8 April 2024 and was not modified. </a:t>
            </a:r>
          </a:p>
          <a:p>
            <a:pPr>
              <a:lnSpc>
                <a:spcPct val="100000"/>
              </a:lnSpc>
              <a:spcBef>
                <a:spcPts val="1200"/>
              </a:spcBef>
              <a:spcAft>
                <a:spcPts val="600"/>
              </a:spcAft>
            </a:pPr>
            <a:r>
              <a:rPr lang="en-AU" sz="1200">
                <a:effectLst/>
                <a:latin typeface="Arial" panose="020B0604020202020204" pitchFamily="34" charset="0"/>
                <a:ea typeface="Calibri" panose="020F0502020204030204" pitchFamily="34" charset="0"/>
              </a:rPr>
              <a:t>Amplify (n.d.) </a:t>
            </a:r>
            <a:r>
              <a:rPr lang="en-AU" sz="1200" err="1">
                <a:effectLst/>
                <a:latin typeface="Arial" panose="020B0604020202020204" pitchFamily="34" charset="0"/>
                <a:ea typeface="Calibri" panose="020F0502020204030204" pitchFamily="34" charset="0"/>
              </a:rPr>
              <a:t>Polypad</a:t>
            </a:r>
            <a:r>
              <a:rPr lang="en-AU" sz="1200">
                <a:effectLst/>
                <a:latin typeface="Arial" panose="020B0604020202020204" pitchFamily="34" charset="0"/>
                <a:ea typeface="Calibri" panose="020F0502020204030204" pitchFamily="34" charset="0"/>
              </a:rPr>
              <a:t> [website], accessed 3 June 2025.</a:t>
            </a:r>
          </a:p>
          <a:p>
            <a:pPr>
              <a:lnSpc>
                <a:spcPct val="100000"/>
              </a:lnSpc>
              <a:spcBef>
                <a:spcPts val="1200"/>
              </a:spcBef>
              <a:spcAft>
                <a:spcPts val="600"/>
              </a:spcAft>
            </a:pPr>
            <a:r>
              <a:rPr lang="en-AU" sz="1200">
                <a:effectLst/>
                <a:latin typeface="Arial" panose="020B0604020202020204" pitchFamily="34" charset="0"/>
                <a:ea typeface="Calibri" panose="020F0502020204030204" pitchFamily="34" charset="0"/>
              </a:rPr>
              <a:t>AAMT (Australian Association of Mathematics Teachers) (n.d.) ‘Misunderstandings’, Fractions, Top Drawer Teachers website, accessed 15 May 2024.</a:t>
            </a:r>
          </a:p>
          <a:p>
            <a:pPr>
              <a:lnSpc>
                <a:spcPct val="100000"/>
              </a:lnSpc>
              <a:spcBef>
                <a:spcPts val="1200"/>
              </a:spcBef>
              <a:spcAft>
                <a:spcPts val="600"/>
              </a:spcAft>
            </a:pPr>
            <a:r>
              <a:rPr lang="en-AU" sz="1200">
                <a:effectLst/>
                <a:latin typeface="Arial" panose="020B0604020202020204" pitchFamily="34" charset="0"/>
                <a:ea typeface="Calibri" panose="020F0502020204030204" pitchFamily="34" charset="0"/>
              </a:rPr>
              <a:t>Harris P (2024) As Close As It Gets, Math is Figure-Out-Able! website, accessed 4 July 2024.</a:t>
            </a:r>
          </a:p>
          <a:p>
            <a:pPr>
              <a:lnSpc>
                <a:spcPct val="100000"/>
              </a:lnSpc>
              <a:spcBef>
                <a:spcPts val="1200"/>
              </a:spcBef>
              <a:spcAft>
                <a:spcPts val="600"/>
              </a:spcAft>
            </a:pPr>
            <a:r>
              <a:rPr lang="en-AU" sz="1200">
                <a:effectLst/>
                <a:latin typeface="Arial" panose="020B0604020202020204" pitchFamily="34" charset="0"/>
                <a:ea typeface="Calibri" panose="020F0502020204030204" pitchFamily="34" charset="0"/>
              </a:rPr>
              <a:t>Harris P (2024) Math is Figure-Out-Able! [website], accessed 4 July 2024.</a:t>
            </a:r>
          </a:p>
          <a:p>
            <a:pPr>
              <a:lnSpc>
                <a:spcPct val="100000"/>
              </a:lnSpc>
              <a:spcBef>
                <a:spcPts val="1200"/>
              </a:spcBef>
              <a:spcAft>
                <a:spcPts val="600"/>
              </a:spcAft>
            </a:pPr>
            <a:r>
              <a:rPr lang="en-AU" sz="1200">
                <a:effectLst/>
                <a:latin typeface="Arial" panose="020B0604020202020204" pitchFamily="34" charset="0"/>
                <a:ea typeface="Calibri" panose="020F0502020204030204" pitchFamily="34" charset="0"/>
              </a:rPr>
              <a:t>International Olympic Committee (2017)</a:t>
            </a:r>
            <a:r>
              <a:rPr lang="en-AU" sz="1200" i="1">
                <a:effectLst/>
                <a:latin typeface="Arial" panose="020B0604020202020204" pitchFamily="34" charset="0"/>
                <a:ea typeface="Calibri" panose="020F0502020204030204" pitchFamily="34" charset="0"/>
              </a:rPr>
              <a:t> </a:t>
            </a:r>
            <a:r>
              <a:rPr lang="en-AU" sz="1200">
                <a:effectLst/>
                <a:latin typeface="Arial" panose="020B0604020202020204" pitchFamily="34" charset="0"/>
                <a:ea typeface="Calibri" panose="020F0502020204030204" pitchFamily="34" charset="0"/>
              </a:rPr>
              <a:t>The Sports Pictograms of the Olympic Summer Games from Tokyo 1964 to Rio 2016 [PDF 4.98 MB], The Olympic Studies Centre, International Olympic Committee,  accessed 23 May 2024.</a:t>
            </a:r>
            <a:endParaRPr lang="en-AU"/>
          </a:p>
        </p:txBody>
      </p:sp>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67</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 </a:t>
            </a:r>
            <a:r>
              <a:rPr lang="en-AU">
                <a:solidFill>
                  <a:schemeClr val="accent4"/>
                </a:solidFill>
              </a:rPr>
              <a:t>(2)</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2">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pPr>
              <a:lnSpc>
                <a:spcPct val="150000"/>
              </a:lnSpc>
              <a:spcBef>
                <a:spcPts val="1200"/>
              </a:spcBef>
              <a:spcAft>
                <a:spcPts val="600"/>
              </a:spcAft>
            </a:pPr>
            <a:r>
              <a:rPr lang="en-AU" sz="1200">
                <a:effectLst/>
                <a:latin typeface="Arial" panose="020B0604020202020204" pitchFamily="34" charset="0"/>
                <a:ea typeface="Calibri" panose="020F0502020204030204" pitchFamily="34" charset="0"/>
              </a:rPr>
              <a:t>NCTM (National Council of Teachers of Mathematics) (n.d.) National Council of Teachers of Mathematics [website], accessed 4 July 2024.</a:t>
            </a:r>
          </a:p>
          <a:p>
            <a:pPr>
              <a:lnSpc>
                <a:spcPct val="150000"/>
              </a:lnSpc>
              <a:spcBef>
                <a:spcPts val="1200"/>
              </a:spcBef>
              <a:spcAft>
                <a:spcPts val="600"/>
              </a:spcAft>
            </a:pPr>
            <a:r>
              <a:rPr lang="en-AU" sz="1200">
                <a:effectLst/>
                <a:latin typeface="Arial" panose="020B0604020202020204" pitchFamily="34" charset="0"/>
                <a:ea typeface="Calibri" panose="020F0502020204030204" pitchFamily="34" charset="0"/>
              </a:rPr>
              <a:t>NCTM (2008) Polygon Capture: A Geometry Game [PDF 57 KB], NCTM, accessed 9 May 2024.</a:t>
            </a:r>
          </a:p>
          <a:p>
            <a:pPr>
              <a:lnSpc>
                <a:spcPct val="150000"/>
              </a:lnSpc>
              <a:spcBef>
                <a:spcPts val="1200"/>
              </a:spcBef>
              <a:spcAft>
                <a:spcPts val="600"/>
              </a:spcAft>
            </a:pPr>
            <a:r>
              <a:rPr lang="en-AU" sz="1200">
                <a:effectLst/>
                <a:latin typeface="Arial" panose="020B0604020202020204" pitchFamily="34" charset="0"/>
                <a:ea typeface="Calibri" panose="020F0502020204030204" pitchFamily="34" charset="0"/>
              </a:rPr>
              <a:t>NESA (NSW Education Standards Authority) (2022a) ‘Stage 2 – Teaching advice for Two-dimensional spatial structure A: Language’, Mathematics K–10 Syllabus: Content, NESA website, accessed 8 August 2024.</a:t>
            </a:r>
          </a:p>
          <a:p>
            <a:pPr>
              <a:lnSpc>
                <a:spcPct val="150000"/>
              </a:lnSpc>
              <a:spcBef>
                <a:spcPts val="1200"/>
              </a:spcBef>
              <a:spcAft>
                <a:spcPts val="600"/>
              </a:spcAft>
            </a:pPr>
            <a:r>
              <a:rPr lang="en-AU" sz="1200">
                <a:effectLst/>
                <a:latin typeface="Arial" panose="020B0604020202020204" pitchFamily="34" charset="0"/>
                <a:ea typeface="Calibri" panose="020F0502020204030204" pitchFamily="34" charset="0"/>
              </a:rPr>
              <a:t>NESA (2022b) ‘Stage 2 – Teaching advice for Geometric measure A: Misconceptions with angles’, Mathematics K–10 Syllabus: Content, NESA website, accessed 8 August 2024.</a:t>
            </a:r>
          </a:p>
          <a:p>
            <a:pPr>
              <a:lnSpc>
                <a:spcPct val="150000"/>
              </a:lnSpc>
              <a:spcBef>
                <a:spcPts val="1200"/>
              </a:spcBef>
              <a:spcAft>
                <a:spcPts val="600"/>
              </a:spcAft>
            </a:pPr>
            <a:r>
              <a:rPr lang="en-AU" sz="1200">
                <a:effectLst/>
                <a:latin typeface="Arial" panose="020B0604020202020204" pitchFamily="34" charset="0"/>
                <a:ea typeface="Calibri" panose="020F0502020204030204" pitchFamily="34" charset="0"/>
              </a:rPr>
              <a:t>Robichaux RR and Rodrigue PR (2010) ‘Polygon properties: What is possible?’, Teaching Children Mathematics, 16(9):524–531, doi:10.5951/TCM.16.9.0514, accessed 19 June 2024.</a:t>
            </a:r>
            <a:endParaRPr lang="en-AU"/>
          </a:p>
        </p:txBody>
      </p:sp>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68</a:t>
            </a:fld>
            <a:endParaRPr lang="en-AU"/>
          </a:p>
        </p:txBody>
      </p:sp>
    </p:spTree>
    <p:extLst>
      <p:ext uri="{BB962C8B-B14F-4D97-AF65-F5344CB8AC3E}">
        <p14:creationId xmlns:p14="http://schemas.microsoft.com/office/powerpoint/2010/main" val="283140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 </a:t>
            </a:r>
            <a:r>
              <a:rPr lang="en-AU">
                <a:solidFill>
                  <a:schemeClr val="accent4"/>
                </a:solidFill>
              </a:rPr>
              <a:t>(3)</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pPr>
              <a:lnSpc>
                <a:spcPct val="150000"/>
              </a:lnSpc>
              <a:spcBef>
                <a:spcPts val="1200"/>
              </a:spcBef>
              <a:spcAft>
                <a:spcPts val="600"/>
              </a:spcAft>
            </a:pPr>
            <a:r>
              <a:rPr lang="en-AU" sz="1200">
                <a:effectLst/>
                <a:latin typeface="Arial" panose="020B0604020202020204" pitchFamily="34" charset="0"/>
                <a:ea typeface="Calibri" panose="020F0502020204030204" pitchFamily="34" charset="0"/>
              </a:rPr>
              <a:t>State of New South Wales (Department of Education) (2024) ‘Analysing fractions’, Mathematics 3–6, My Professional Learning website, accessed 15 May 2024.</a:t>
            </a:r>
          </a:p>
          <a:p>
            <a:pPr>
              <a:lnSpc>
                <a:spcPct val="150000"/>
              </a:lnSpc>
              <a:spcBef>
                <a:spcPts val="1200"/>
              </a:spcBef>
              <a:spcAft>
                <a:spcPts val="600"/>
              </a:spcAft>
            </a:pPr>
            <a:r>
              <a:rPr lang="en-AU" sz="1200">
                <a:effectLst/>
                <a:latin typeface="Arial" panose="020B0604020202020204" pitchFamily="34" charset="0"/>
                <a:ea typeface="Calibri" panose="020F0502020204030204" pitchFamily="34" charset="0"/>
              </a:rPr>
              <a:t>State of New South Wales (Department of Education) (2024) ‘The role of place value’, Mathematics 3-6, My Professional Learning website, accessed 15 May 2024.</a:t>
            </a:r>
          </a:p>
          <a:p>
            <a:pPr>
              <a:lnSpc>
                <a:spcPct val="150000"/>
              </a:lnSpc>
              <a:spcBef>
                <a:spcPts val="1200"/>
              </a:spcBef>
              <a:spcAft>
                <a:spcPts val="600"/>
              </a:spcAft>
            </a:pPr>
            <a:r>
              <a:rPr lang="en-AU" sz="1200">
                <a:effectLst/>
                <a:latin typeface="Arial" panose="020B0604020202020204" pitchFamily="34" charset="0"/>
                <a:ea typeface="Calibri" panose="020F0502020204030204" pitchFamily="34" charset="0"/>
              </a:rPr>
              <a:t>Thinkport Maryland Public Television and Great Blue Hill (WGBH) Educational Foundation (n.d.) 'Angles in Soccer | Thinkport' [video], PBS LearningMedia, PBS LearningMedia website, accessed 27 May 2024.</a:t>
            </a:r>
          </a:p>
          <a:p>
            <a:pPr>
              <a:lnSpc>
                <a:spcPct val="150000"/>
              </a:lnSpc>
              <a:spcBef>
                <a:spcPts val="1200"/>
              </a:spcBef>
              <a:spcAft>
                <a:spcPts val="600"/>
              </a:spcAft>
            </a:pPr>
            <a:r>
              <a:rPr lang="en-AU" sz="1200">
                <a:effectLst/>
                <a:latin typeface="Arial" panose="020B0604020202020204" pitchFamily="34" charset="0"/>
                <a:ea typeface="Calibri" panose="020F0502020204030204" pitchFamily="34" charset="0"/>
              </a:rPr>
              <a:t>Toy Theater (2024) ‘Interactive clock | Telling Time’, Time Manipulatives, Toy Theater website, accessed 19 May 2024.</a:t>
            </a:r>
          </a:p>
          <a:p>
            <a:pPr>
              <a:lnSpc>
                <a:spcPct val="150000"/>
              </a:lnSpc>
              <a:spcBef>
                <a:spcPts val="1200"/>
              </a:spcBef>
              <a:spcAft>
                <a:spcPts val="600"/>
              </a:spcAft>
            </a:pPr>
            <a:r>
              <a:rPr lang="en-AU" sz="1200">
                <a:effectLst/>
                <a:latin typeface="Arial" panose="020B0604020202020204" pitchFamily="34" charset="0"/>
                <a:ea typeface="Calibri" panose="020F0502020204030204" pitchFamily="34" charset="0"/>
              </a:rPr>
              <a:t>University of Cambridge (</a:t>
            </a:r>
            <a:r>
              <a:rPr lang="en-AU" sz="1200" err="1">
                <a:effectLst/>
                <a:latin typeface="Arial" panose="020B0604020202020204" pitchFamily="34" charset="0"/>
                <a:ea typeface="Calibri" panose="020F0502020204030204" pitchFamily="34" charset="0"/>
              </a:rPr>
              <a:t>n.d.a</a:t>
            </a:r>
            <a:r>
              <a:rPr lang="en-AU" sz="1200">
                <a:effectLst/>
                <a:latin typeface="Arial" panose="020B0604020202020204" pitchFamily="34" charset="0"/>
                <a:ea typeface="Calibri" panose="020F0502020204030204" pitchFamily="34" charset="0"/>
              </a:rPr>
              <a:t>) Clocks, NRICH website, accessed 3 June 2025.</a:t>
            </a:r>
          </a:p>
          <a:p>
            <a:pPr>
              <a:lnSpc>
                <a:spcPct val="150000"/>
              </a:lnSpc>
              <a:spcBef>
                <a:spcPts val="1200"/>
              </a:spcBef>
              <a:spcAft>
                <a:spcPts val="600"/>
              </a:spcAft>
            </a:pPr>
            <a:r>
              <a:rPr lang="en-AU" sz="1200">
                <a:effectLst/>
                <a:latin typeface="Arial" panose="020B0604020202020204" pitchFamily="34" charset="0"/>
                <a:ea typeface="Calibri" panose="020F0502020204030204" pitchFamily="34" charset="0"/>
              </a:rPr>
              <a:t>University of Cambridge (</a:t>
            </a:r>
            <a:r>
              <a:rPr lang="en-AU" sz="1200" err="1">
                <a:effectLst/>
                <a:latin typeface="Arial" panose="020B0604020202020204" pitchFamily="34" charset="0"/>
                <a:ea typeface="Calibri" panose="020F0502020204030204" pitchFamily="34" charset="0"/>
              </a:rPr>
              <a:t>n.d.b</a:t>
            </a:r>
            <a:r>
              <a:rPr lang="en-AU" sz="1200">
                <a:effectLst/>
                <a:latin typeface="Arial" panose="020B0604020202020204" pitchFamily="34" charset="0"/>
                <a:ea typeface="Calibri" panose="020F0502020204030204" pitchFamily="34" charset="0"/>
              </a:rPr>
              <a:t>) Two clocks, NRICH website, accessed 3 June 2025.</a:t>
            </a:r>
          </a:p>
          <a:p>
            <a:pPr>
              <a:lnSpc>
                <a:spcPct val="150000"/>
              </a:lnSpc>
              <a:spcBef>
                <a:spcPts val="1200"/>
              </a:spcBef>
              <a:spcAft>
                <a:spcPts val="600"/>
              </a:spcAft>
            </a:pPr>
            <a:endParaRPr lang="en-AU" sz="1200">
              <a:effectLst/>
              <a:latin typeface="Arial" panose="020B0604020202020204" pitchFamily="34" charset="0"/>
              <a:ea typeface="Calibri" panose="020F0502020204030204" pitchFamily="34" charset="0"/>
            </a:endParaRPr>
          </a:p>
          <a:p>
            <a:endParaRPr lang="en-AU"/>
          </a:p>
        </p:txBody>
      </p:sp>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69</a:t>
            </a:fld>
            <a:endParaRPr lang="en-AU"/>
          </a:p>
        </p:txBody>
      </p:sp>
    </p:spTree>
    <p:extLst>
      <p:ext uri="{BB962C8B-B14F-4D97-AF65-F5344CB8AC3E}">
        <p14:creationId xmlns:p14="http://schemas.microsoft.com/office/powerpoint/2010/main" val="3111847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8550904603AA64982DCAA86C5CFC06E" ma:contentTypeVersion="32" ma:contentTypeDescription="Create a new document." ma:contentTypeScope="" ma:versionID="05891fa245dabad90296fcda280daeb8">
  <xsd:schema xmlns:xsd="http://www.w3.org/2001/XMLSchema" xmlns:xs="http://www.w3.org/2001/XMLSchema" xmlns:p="http://schemas.microsoft.com/office/2006/metadata/properties" xmlns:ns2="7e763d47-3c66-4c58-9425-1477fd3ccd1e" xmlns:ns3="60129b06-f64b-40a8-96e2-c5b2f86112b1" targetNamespace="http://schemas.microsoft.com/office/2006/metadata/properties" ma:root="true" ma:fieldsID="3e7d40734bf85537985a675388facd7f" ns2:_="" ns3:_="">
    <xsd:import namespace="7e763d47-3c66-4c58-9425-1477fd3ccd1e"/>
    <xsd:import namespace="60129b06-f64b-40a8-96e2-c5b2f86112b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Writingpod" minOccurs="0"/>
                <xsd:element ref="ns2:Designanddevelopment" minOccurs="0"/>
                <xsd:element ref="ns2:FeedbackfromNSWMS" minOccurs="0"/>
                <xsd:element ref="ns2:Contentediting" minOccurs="0"/>
                <xsd:element ref="ns2:Projectleadreview" minOccurs="0"/>
                <xsd:element ref="ns2:Workstreamleadendorsement" minOccurs="0"/>
                <xsd:element ref="ns2:Digitalsupport" minOccurs="0"/>
                <xsd:element ref="ns2:StoredinTRIM" minOccurs="0"/>
                <xsd:element ref="ns2:Published" minOccurs="0"/>
                <xsd:element ref="ns2:Resourcedrop"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Addedtoexce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63d47-3c66-4c58-9425-1477fd3ccd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Writingpod" ma:index="20" nillable="true" ma:displayName="Writing pod" ma:format="Dropdown" ma:list="UserInfo" ma:SharePointGroup="0" ma:internalName="Writingpod">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ignanddevelopment" ma:index="21" nillable="true" ma:displayName="Design and development" ma:format="Dropdown" ma:internalName="Designanddevelopment">
      <xsd:simpleType>
        <xsd:restriction base="dms:Choice">
          <xsd:enumeration value="Not yet started"/>
          <xsd:enumeration value="In progress"/>
          <xsd:enumeration value="Complete"/>
        </xsd:restriction>
      </xsd:simpleType>
    </xsd:element>
    <xsd:element name="FeedbackfromNSWMS" ma:index="22" nillable="true" ma:displayName="Feedback from NSWMS" ma:description="Have leaders Michelle and Ayesha provided input?" ma:format="Dropdown" ma:internalName="FeedbackfromNSWMS">
      <xsd:simpleType>
        <xsd:restriction base="dms:Choice">
          <xsd:enumeration value="Not yet requested"/>
          <xsd:enumeration value="Request submitted"/>
          <xsd:enumeration value="Feedback received"/>
        </xsd:restriction>
      </xsd:simpleType>
    </xsd:element>
    <xsd:element name="Contentediting" ma:index="23" nillable="true" ma:displayName="Content editing" ma:description="Has unit content been edited by Senior Editor (R. Kilroy)?" ma:format="Dropdown" ma:internalName="Contentediting">
      <xsd:simpleType>
        <xsd:restriction base="dms:Choice">
          <xsd:enumeration value="Not yet requested"/>
          <xsd:enumeration value="Request submitted"/>
          <xsd:enumeration value="Editing complete"/>
        </xsd:restriction>
      </xsd:simpleType>
    </xsd:element>
    <xsd:element name="Projectleadreview" ma:index="24" nillable="true" ma:displayName="Project lead review" ma:description="Have project leads (H. Laverick and R. Cheal) reviewed the unit?" ma:format="Dropdown" ma:internalName="Projectleadreview">
      <xsd:simpleType>
        <xsd:restriction base="dms:Choice">
          <xsd:enumeration value="Not yet requested"/>
          <xsd:enumeration value="Request submitted"/>
          <xsd:enumeration value="Review complete"/>
        </xsd:restriction>
      </xsd:simpleType>
    </xsd:element>
    <xsd:element name="Workstreamleadendorsement" ma:index="25" nillable="true" ma:displayName="Workstream lead endorsement" ma:description="Has J. Hoffman endorsed the unit?" ma:format="Dropdown" ma:internalName="Workstreamleadendorsement">
      <xsd:simpleType>
        <xsd:restriction base="dms:Choice">
          <xsd:enumeration value="Not yet submitted"/>
          <xsd:enumeration value="Request submitted"/>
          <xsd:enumeration value="Endorsement complete"/>
        </xsd:restriction>
      </xsd:simpleType>
    </xsd:element>
    <xsd:element name="Digitalsupport" ma:index="26" nillable="true" ma:displayName="Digital support" ma:format="Dropdown" ma:internalName="Digitalsupport">
      <xsd:simpleType>
        <xsd:restriction base="dms:Choice">
          <xsd:enumeration value="Not yet submitted"/>
          <xsd:enumeration value="Request submitted (by project manager)"/>
          <xsd:enumeration value="Digital support complete"/>
        </xsd:restriction>
      </xsd:simpleType>
    </xsd:element>
    <xsd:element name="StoredinTRIM" ma:index="27" nillable="true" ma:displayName="Stored in TRIM" ma:format="Dropdown" ma:internalName="StoredinTRIM">
      <xsd:simpleType>
        <xsd:restriction base="dms:Choice">
          <xsd:enumeration value="Yes"/>
          <xsd:enumeration value="No"/>
        </xsd:restriction>
      </xsd:simpleType>
    </xsd:element>
    <xsd:element name="Published" ma:index="28" nillable="true" ma:displayName="Published" ma:format="Dropdown" ma:internalName="Published">
      <xsd:simpleType>
        <xsd:restriction base="dms:Choice">
          <xsd:enumeration value="Yes"/>
          <xsd:enumeration value="No"/>
        </xsd:restriction>
      </xsd:simpleType>
    </xsd:element>
    <xsd:element name="Resourcedrop" ma:index="29" nillable="true" ma:displayName="Drop week" ma:format="Dropdown" ma:internalName="Resourcedrop">
      <xsd:simpleType>
        <xsd:restriction base="dms:Choice">
          <xsd:enumeration value="T1, W1"/>
          <xsd:enumeration value="T1, W3"/>
          <xsd:enumeration value="T1, W7"/>
          <xsd:enumeration value="T1, W10"/>
          <xsd:enumeration value="T2, W1"/>
          <xsd:enumeration value="T2, W3"/>
          <xsd:enumeration value="T2, W7"/>
          <xsd:enumeration value="T2, W10"/>
          <xsd:enumeration value="T3, W1"/>
          <xsd:enumeration value="T3, W3"/>
          <xsd:enumeration value="T3, W7"/>
          <xsd:enumeration value="T3, W10"/>
          <xsd:enumeration value="T4, W1"/>
          <xsd:enumeration value="T4, W3"/>
          <xsd:enumeration value="T4, W7"/>
          <xsd:enumeration value="T4, W10"/>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description="" ma:hidden="true" ma:indexed="true" ma:internalName="MediaServiceObjectDetectorVersions" ma:readOnly="true">
      <xsd:simpleType>
        <xsd:restriction base="dms:Text"/>
      </xsd:simpleType>
    </xsd:element>
    <xsd:element name="MediaServiceLocation" ma:index="34" nillable="true" ma:displayName="Location" ma:description="" ma:indexed="true" ma:internalName="MediaServiceLocation"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element name="Addedtoexcel" ma:index="36" nillable="true" ma:displayName="Added to excel" ma:format="Dropdown" ma:internalName="Addedtoexcel">
      <xsd:simpleType>
        <xsd:restriction base="dms:Choice">
          <xsd:enumeration value="Yes"/>
        </xsd:restriction>
      </xsd:simpleType>
    </xsd:element>
    <xsd:element name="MediaServiceBillingMetadata" ma:index="3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129b06-f64b-40a8-96e2-c5b2f86112b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2" nillable="true" ma:displayName="Taxonomy Catch All Column" ma:hidden="true" ma:list="{d14652b1-c484-4c0c-a021-a754efd78e11}" ma:internalName="TaxCatchAll" ma:showField="CatchAllData" ma:web="60129b06-f64b-40a8-96e2-c5b2f86112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rojectleadreview xmlns="7e763d47-3c66-4c58-9425-1477fd3ccd1e" xsi:nil="true"/>
    <Workstreamleadendorsement xmlns="7e763d47-3c66-4c58-9425-1477fd3ccd1e" xsi:nil="true"/>
    <Digitalsupport xmlns="7e763d47-3c66-4c58-9425-1477fd3ccd1e" xsi:nil="true"/>
    <TaxCatchAll xmlns="60129b06-f64b-40a8-96e2-c5b2f86112b1" xsi:nil="true"/>
    <Addedtoexcel xmlns="7e763d47-3c66-4c58-9425-1477fd3ccd1e" xsi:nil="true"/>
    <Writingpod xmlns="7e763d47-3c66-4c58-9425-1477fd3ccd1e">
      <UserInfo>
        <DisplayName/>
        <AccountId xsi:nil="true"/>
        <AccountType/>
      </UserInfo>
    </Writingpod>
    <FeedbackfromNSWMS xmlns="7e763d47-3c66-4c58-9425-1477fd3ccd1e" xsi:nil="true"/>
    <Resourcedrop xmlns="7e763d47-3c66-4c58-9425-1477fd3ccd1e" xsi:nil="true"/>
    <Designanddevelopment xmlns="7e763d47-3c66-4c58-9425-1477fd3ccd1e" xsi:nil="true"/>
    <StoredinTRIM xmlns="7e763d47-3c66-4c58-9425-1477fd3ccd1e" xsi:nil="true"/>
    <Contentediting xmlns="7e763d47-3c66-4c58-9425-1477fd3ccd1e" xsi:nil="true"/>
    <Published xmlns="7e763d47-3c66-4c58-9425-1477fd3ccd1e" xsi:nil="true"/>
    <lcf76f155ced4ddcb4097134ff3c332f xmlns="7e763d47-3c66-4c58-9425-1477fd3ccd1e">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9C55488-759E-4CDA-A4F2-CC79CC67FF9A}">
  <ds:schemaRefs>
    <ds:schemaRef ds:uri="60129b06-f64b-40a8-96e2-c5b2f86112b1"/>
    <ds:schemaRef ds:uri="7e763d47-3c66-4c58-9425-1477fd3ccd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524F4DA-5415-43D4-8474-C9BE68919175}">
  <ds:schemaRefs>
    <ds:schemaRef ds:uri="60129b06-f64b-40a8-96e2-c5b2f86112b1"/>
    <ds:schemaRef ds:uri="http://schemas.microsoft.com/office/2006/metadata/properties"/>
    <ds:schemaRef ds:uri="http://www.w3.org/XML/1998/namespace"/>
    <ds:schemaRef ds:uri="http://schemas.microsoft.com/office/2006/documentManagement/types"/>
    <ds:schemaRef ds:uri="http://purl.org/dc/terms/"/>
    <ds:schemaRef ds:uri="http://schemas.microsoft.com/office/infopath/2007/PartnerControls"/>
    <ds:schemaRef ds:uri="http://purl.org/dc/dcmitype/"/>
    <ds:schemaRef ds:uri="http://schemas.openxmlformats.org/package/2006/metadata/core-properties"/>
    <ds:schemaRef ds:uri="7e763d47-3c66-4c58-9425-1477fd3ccd1e"/>
    <ds:schemaRef ds:uri="http://purl.org/dc/elements/1.1/"/>
  </ds:schemaRefs>
</ds:datastoreItem>
</file>

<file path=customXml/itemProps3.xml><?xml version="1.0" encoding="utf-8"?>
<ds:datastoreItem xmlns:ds="http://schemas.openxmlformats.org/officeDocument/2006/customXml" ds:itemID="{B9C68242-C972-4815-B4EF-36DAD899F77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student-facing-primary-template-2025-v1-5 (1)</Template>
  <TotalTime>183</TotalTime>
  <Words>6931</Words>
  <Application>Microsoft Office PowerPoint</Application>
  <PresentationFormat>Widescreen</PresentationFormat>
  <Paragraphs>802</Paragraphs>
  <Slides>70</Slides>
  <Notes>68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70</vt:i4>
      </vt:variant>
    </vt:vector>
  </HeadingPairs>
  <TitlesOfParts>
    <vt:vector size="81" baseType="lpstr">
      <vt:lpstr>Wingdings</vt:lpstr>
      <vt:lpstr>Arial,Sans-Serif</vt:lpstr>
      <vt:lpstr>Cambria Math</vt:lpstr>
      <vt:lpstr>Calibri</vt:lpstr>
      <vt:lpstr>Courier New</vt:lpstr>
      <vt:lpstr>Montserrat</vt:lpstr>
      <vt:lpstr>Times New Roman</vt:lpstr>
      <vt:lpstr>Public Sans</vt:lpstr>
      <vt:lpstr>Arial</vt:lpstr>
      <vt:lpstr>Public Sans Light</vt:lpstr>
      <vt:lpstr>NSWG Corporate</vt:lpstr>
      <vt:lpstr>Instructions for use</vt:lpstr>
      <vt:lpstr>Review of Learning </vt:lpstr>
      <vt:lpstr>Lessons</vt:lpstr>
      <vt:lpstr>Review of learning 1</vt:lpstr>
      <vt:lpstr>Multiple choice (1)</vt:lpstr>
      <vt:lpstr>Short response (1)</vt:lpstr>
      <vt:lpstr>Short response (2)</vt:lpstr>
      <vt:lpstr>Short response (3)</vt:lpstr>
      <vt:lpstr>Short response (4)</vt:lpstr>
      <vt:lpstr>Activity 1 – ordering numbers</vt:lpstr>
      <vt:lpstr>Review of learning  2</vt:lpstr>
      <vt:lpstr>True or false (1)</vt:lpstr>
      <vt:lpstr>Short response (5)</vt:lpstr>
      <vt:lpstr>Short response (6)</vt:lpstr>
      <vt:lpstr>Short response (7)</vt:lpstr>
      <vt:lpstr>Short response (8)</vt:lpstr>
      <vt:lpstr>Activity 2 – place value</vt:lpstr>
      <vt:lpstr>Review of learning 3</vt:lpstr>
      <vt:lpstr>Multiple choice (2) </vt:lpstr>
      <vt:lpstr>Short response (9)</vt:lpstr>
      <vt:lpstr>Short response (14)</vt:lpstr>
      <vt:lpstr>Short response (11)</vt:lpstr>
      <vt:lpstr>Short response (12)</vt:lpstr>
      <vt:lpstr>Activity 3 – partitioning numbers</vt:lpstr>
      <vt:lpstr>Review of learning 4</vt:lpstr>
      <vt:lpstr>True or false (2)</vt:lpstr>
      <vt:lpstr>Short response (13)</vt:lpstr>
      <vt:lpstr>Short response (18)</vt:lpstr>
      <vt:lpstr>Short response (15) </vt:lpstr>
      <vt:lpstr>Short response (16)</vt:lpstr>
      <vt:lpstr>Activity 4 – target number</vt:lpstr>
      <vt:lpstr>Review of learning 5</vt:lpstr>
      <vt:lpstr>Multiple choice (3)</vt:lpstr>
      <vt:lpstr>Short response (17)</vt:lpstr>
      <vt:lpstr>Short response (22)</vt:lpstr>
      <vt:lpstr>Short response (19)</vt:lpstr>
      <vt:lpstr>Short response (20)</vt:lpstr>
      <vt:lpstr>Activity 5 – completing a whole</vt:lpstr>
      <vt:lpstr>Review of learning 6</vt:lpstr>
      <vt:lpstr>True or false (3)</vt:lpstr>
      <vt:lpstr>Short response (21)</vt:lpstr>
      <vt:lpstr>Short response (22)</vt:lpstr>
      <vt:lpstr>Short response (23)</vt:lpstr>
      <vt:lpstr>Short response (24)</vt:lpstr>
      <vt:lpstr>Activity 6 – fractions of a whole</vt:lpstr>
      <vt:lpstr>Review of learning  7</vt:lpstr>
      <vt:lpstr>Multiple choice (4)(1)</vt:lpstr>
      <vt:lpstr>Short response (25)</vt:lpstr>
      <vt:lpstr>Short response (26)</vt:lpstr>
      <vt:lpstr>Short response (27)</vt:lpstr>
      <vt:lpstr>Short response (28)</vt:lpstr>
      <vt:lpstr>Activity 7 – fractions and wholes</vt:lpstr>
      <vt:lpstr>Review of learning 8</vt:lpstr>
      <vt:lpstr>True or false (4)</vt:lpstr>
      <vt:lpstr>Short response (29)</vt:lpstr>
      <vt:lpstr>Short response (30)</vt:lpstr>
      <vt:lpstr>Short response (31)</vt:lpstr>
      <vt:lpstr>Short response (32)</vt:lpstr>
      <vt:lpstr>Activity 8 – fractions and wholes</vt:lpstr>
      <vt:lpstr>Double Venn diagram</vt:lpstr>
      <vt:lpstr>Frayer</vt:lpstr>
      <vt:lpstr>Spider map</vt:lpstr>
      <vt:lpstr>Cline</vt:lpstr>
      <vt:lpstr>Compare and contrast</vt:lpstr>
      <vt:lpstr>Multiple choice (1a)</vt:lpstr>
      <vt:lpstr>Multiple choice (1b)</vt:lpstr>
      <vt:lpstr>References (1)</vt:lpstr>
      <vt:lpstr>References (2)</vt:lpstr>
      <vt:lpstr>References (3)</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Carolyn Matthews</dc:creator>
  <cp:keywords/>
  <dc:description/>
  <cp:lastModifiedBy>Daniel Archer</cp:lastModifiedBy>
  <cp:revision>19</cp:revision>
  <dcterms:created xsi:type="dcterms:W3CDTF">2025-07-07T07:05:15Z</dcterms:created>
  <dcterms:modified xsi:type="dcterms:W3CDTF">2025-09-14T23:32:54Z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0x01010028550904603AA64982DCAA86C5CFC06E</vt:lpwstr>
  </property>
  <property fmtid="{D5CDD505-2E9C-101B-9397-08002B2CF9AE}" pid="10" name="MediaServiceImageTags">
    <vt:lpwstr/>
  </property>
</Properties>
</file>