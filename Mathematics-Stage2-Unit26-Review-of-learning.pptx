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77" r:id="rId9"/>
    <p:sldId id="26671" r:id="rId10"/>
    <p:sldId id="358" r:id="rId11"/>
    <p:sldId id="26580" r:id="rId12"/>
    <p:sldId id="26646" r:id="rId13"/>
    <p:sldId id="26660" r:id="rId14"/>
    <p:sldId id="26583" r:id="rId15"/>
    <p:sldId id="26654" r:id="rId16"/>
    <p:sldId id="26632" r:id="rId17"/>
    <p:sldId id="26672" r:id="rId18"/>
    <p:sldId id="26587" r:id="rId19"/>
    <p:sldId id="26588" r:id="rId20"/>
    <p:sldId id="26661" r:id="rId21"/>
    <p:sldId id="26592" r:id="rId22"/>
    <p:sldId id="26604" r:id="rId23"/>
    <p:sldId id="26674" r:id="rId24"/>
    <p:sldId id="26673" r:id="rId25"/>
    <p:sldId id="26594" r:id="rId26"/>
    <p:sldId id="26616" r:id="rId27"/>
    <p:sldId id="26454" r:id="rId28"/>
    <p:sldId id="26601" r:id="rId29"/>
    <p:sldId id="26665" r:id="rId30"/>
    <p:sldId id="26675" r:id="rId31"/>
    <p:sldId id="26656" r:id="rId32"/>
    <p:sldId id="26606" r:id="rId33"/>
    <p:sldId id="26608" r:id="rId34"/>
    <p:sldId id="26664" r:id="rId35"/>
    <p:sldId id="26610" r:id="rId36"/>
    <p:sldId id="26676" r:id="rId37"/>
    <p:sldId id="26647" r:id="rId38"/>
    <p:sldId id="26614" r:id="rId39"/>
    <p:sldId id="26611" r:id="rId40"/>
    <p:sldId id="26658" r:id="rId41"/>
    <p:sldId id="26669" r:id="rId42"/>
    <p:sldId id="26619" r:id="rId43"/>
    <p:sldId id="26507" r:id="rId44"/>
    <p:sldId id="26622" r:id="rId45"/>
    <p:sldId id="26605" r:id="rId46"/>
    <p:sldId id="26624" r:id="rId47"/>
    <p:sldId id="26625" r:id="rId48"/>
    <p:sldId id="26465" r:id="rId49"/>
    <p:sldId id="26628" r:id="rId50"/>
    <p:sldId id="26680" r:id="rId51"/>
    <p:sldId id="26629" r:id="rId52"/>
    <p:sldId id="26657" r:id="rId53"/>
    <p:sldId id="26633" r:id="rId54"/>
    <p:sldId id="26634" r:id="rId55"/>
    <p:sldId id="26670" r:id="rId56"/>
    <p:sldId id="26637" r:id="rId57"/>
    <p:sldId id="26682" r:id="rId58"/>
    <p:sldId id="26681" r:id="rId59"/>
    <p:sldId id="26659" r:id="rId60"/>
    <p:sldId id="26642" r:id="rId61"/>
    <p:sldId id="26652" r:id="rId62"/>
    <p:sldId id="26655" r:id="rId63"/>
    <p:sldId id="26393" r:id="rId64"/>
    <p:sldId id="26387" r:id="rId65"/>
    <p:sldId id="26395" r:id="rId66"/>
    <p:sldId id="26391" r:id="rId67"/>
    <p:sldId id="26402" r:id="rId68"/>
    <p:sldId id="26684" r:id="rId69"/>
    <p:sldId id="26649" r:id="rId70"/>
    <p:sldId id="360" r:id="rId71"/>
    <p:sldId id="26683" r:id="rId72"/>
    <p:sldId id="361" r:id="rId73"/>
  </p:sldIdLst>
  <p:sldSz cx="12192000" cy="6858000"/>
  <p:notesSz cx="6858000" cy="9144000"/>
  <p:embeddedFontLst>
    <p:embeddedFont>
      <p:font typeface="Aptos Narrow" panose="020B0004020202020204" pitchFamily="34" charset="0"/>
      <p:regular r:id="rId76"/>
      <p:bold r:id="rId77"/>
      <p:italic r:id="rId78"/>
      <p:boldItalic r:id="rId79"/>
    </p:embeddedFont>
    <p:embeddedFont>
      <p:font typeface="Cambria Math" panose="02040503050406030204" pitchFamily="18" charset="0"/>
      <p:regular r:id="rId80"/>
    </p:embeddedFont>
    <p:embeddedFont>
      <p:font typeface="Edu NSW ACT Foundation" panose="020B0604020202020204" charset="0"/>
      <p:regular r:id="rId81"/>
      <p:bold r:id="rId82"/>
    </p:embeddedFont>
    <p:embeddedFont>
      <p:font typeface="Montserrat" panose="00000500000000000000" pitchFamily="2" charset="0"/>
      <p:regular r:id="rId83"/>
      <p:bold r:id="rId84"/>
      <p:italic r:id="rId85"/>
      <p:boldItalic r:id="rId86"/>
    </p:embeddedFont>
    <p:embeddedFont>
      <p:font typeface="Public Sans" pitchFamily="2" charset="0"/>
      <p:regular r:id="rId87"/>
      <p:bold r:id="rId88"/>
      <p:italic r:id="rId89"/>
      <p:boldItalic r:id="rId90"/>
    </p:embeddedFont>
    <p:embeddedFont>
      <p:font typeface="Public Sans Light" pitchFamily="2" charset="0"/>
      <p:regular r:id="rId91"/>
      <p:italic r:id="rId92"/>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26671"/>
            <p14:sldId id="358"/>
            <p14:sldId id="26580"/>
            <p14:sldId id="26646"/>
            <p14:sldId id="26660"/>
          </p14:sldIdLst>
        </p14:section>
        <p14:section name="Review of learning 2" id="{0AC6BBCB-7E49-46CE-B777-EFCDD4B60F91}">
          <p14:sldIdLst>
            <p14:sldId id="26583"/>
            <p14:sldId id="26654"/>
            <p14:sldId id="26632"/>
            <p14:sldId id="26672"/>
            <p14:sldId id="26587"/>
            <p14:sldId id="26588"/>
            <p14:sldId id="26661"/>
          </p14:sldIdLst>
        </p14:section>
        <p14:section name="Review of learning 3" id="{6F5E1C19-5255-4FF7-A3CD-4549F7EF69B2}">
          <p14:sldIdLst>
            <p14:sldId id="26592"/>
            <p14:sldId id="26604"/>
            <p14:sldId id="26674"/>
            <p14:sldId id="26673"/>
            <p14:sldId id="26594"/>
            <p14:sldId id="26616"/>
            <p14:sldId id="26454"/>
          </p14:sldIdLst>
        </p14:section>
        <p14:section name="Review of learning 4" id="{6EB8E1CE-ED7B-4635-88AB-9D1D052BB011}">
          <p14:sldIdLst>
            <p14:sldId id="26601"/>
            <p14:sldId id="26665"/>
            <p14:sldId id="26675"/>
            <p14:sldId id="26656"/>
            <p14:sldId id="26606"/>
            <p14:sldId id="26608"/>
            <p14:sldId id="26664"/>
          </p14:sldIdLst>
        </p14:section>
        <p14:section name="Review of learning 5" id="{E365C8CF-14E0-4F5A-BCE8-2E930DEEA864}">
          <p14:sldIdLst>
            <p14:sldId id="26610"/>
            <p14:sldId id="26676"/>
            <p14:sldId id="26647"/>
            <p14:sldId id="26614"/>
            <p14:sldId id="26611"/>
            <p14:sldId id="26658"/>
            <p14:sldId id="26669"/>
          </p14:sldIdLst>
        </p14:section>
        <p14:section name="Review of learning 6" id="{6721D3DC-F7BB-49CA-9E61-8454C104591D}">
          <p14:sldIdLst>
            <p14:sldId id="26619"/>
            <p14:sldId id="26507"/>
            <p14:sldId id="26622"/>
            <p14:sldId id="26605"/>
            <p14:sldId id="26624"/>
            <p14:sldId id="26625"/>
            <p14:sldId id="26465"/>
          </p14:sldIdLst>
        </p14:section>
        <p14:section name="Review of learning 7" id="{CF63834E-0BE9-495B-9761-037C836F185E}">
          <p14:sldIdLst>
            <p14:sldId id="26628"/>
            <p14:sldId id="26680"/>
            <p14:sldId id="26629"/>
            <p14:sldId id="26657"/>
            <p14:sldId id="26633"/>
            <p14:sldId id="26634"/>
            <p14:sldId id="26670"/>
          </p14:sldIdLst>
        </p14:section>
        <p14:section name="Review of learning 8" id="{6FF8F7EC-803E-4F84-BA41-6B3ED673D597}">
          <p14:sldIdLst>
            <p14:sldId id="26637"/>
            <p14:sldId id="26682"/>
            <p14:sldId id="26681"/>
            <p14:sldId id="26659"/>
            <p14:sldId id="26642"/>
            <p14:sldId id="26652"/>
            <p14:sldId id="26655"/>
          </p14:sldIdLst>
        </p14:section>
        <p14:section name="Assets" id="{ACCADEBA-79DB-4F18-8F19-E4DF86159DFB}">
          <p14:sldIdLst>
            <p14:sldId id="26393"/>
            <p14:sldId id="26387"/>
            <p14:sldId id="26395"/>
            <p14:sldId id="26391"/>
            <p14:sldId id="26402"/>
            <p14:sldId id="26684"/>
            <p14:sldId id="26649"/>
          </p14:sldIdLst>
        </p14:section>
        <p14:section name="References &amp; copyright" id="{DBC31484-F5F8-4CB1-8DB4-A562A9780899}">
          <p14:sldIdLst>
            <p14:sldId id="360"/>
            <p14:sldId id="26683"/>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365AC197-B100-6765-5B29-0870BE985137}" name="Lynelle Patterson (Worimi Country)" initials="LP" userId="S::Lynelle.PATTERSON@det.nsw.edu.au::c449517b-552b-4a43-be0f-142819430981"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F2F"/>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3AEBB8-6728-4FE3-89DC-9578A81BA2EB}" v="31" dt="2026-01-27T01:06:50.079"/>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94" autoAdjust="0"/>
    <p:restoredTop sz="72384" autoAdjust="0"/>
  </p:normalViewPr>
  <p:slideViewPr>
    <p:cSldViewPr snapToGrid="0">
      <p:cViewPr varScale="1">
        <p:scale>
          <a:sx n="70" d="100"/>
          <a:sy n="70" d="100"/>
        </p:scale>
        <p:origin x="964" y="64"/>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7.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26</a:t>
            </a:r>
          </a:p>
          <a:p>
            <a:pPr marL="285750" indent="-285750">
              <a:buFont typeface="Arial" panose="020B0604020202020204" pitchFamily="34" charset="0"/>
              <a:buChar char="•"/>
            </a:pPr>
            <a:r>
              <a:rPr lang="en-AU"/>
              <a:t>Stage 2 Year B Unit 25</a:t>
            </a:r>
          </a:p>
          <a:p>
            <a:pPr marL="285750" indent="-285750">
              <a:buFont typeface="Arial" panose="020B0604020202020204" pitchFamily="34" charset="0"/>
              <a:buChar char="•"/>
            </a:pPr>
            <a:r>
              <a:rPr lang="en-AU"/>
              <a:t>Stage 2 Year B Unit 24</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r>
              <a:rPr lang="en-AU" b="1">
                <a:latin typeface="Arial"/>
                <a:cs typeface="Arial"/>
              </a:rPr>
              <a:t>Syllabus focus area: </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 Decimals</a:t>
            </a:r>
          </a:p>
          <a:p>
            <a:endPar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endParaRPr>
          </a:p>
          <a:p>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7CA41-6434-57DC-24FE-C2E34D280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43192-490A-1C3B-BC30-B765DF6ED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D981F-F166-1C21-78C4-3EEB34DA9A67}"/>
              </a:ext>
            </a:extLst>
          </p:cNvPr>
          <p:cNvSpPr>
            <a:spLocks noGrp="1"/>
          </p:cNvSpPr>
          <p:nvPr>
            <p:ph type="body" idx="1"/>
          </p:nvPr>
        </p:nvSpPr>
        <p:spPr/>
        <p:txBody>
          <a:bodyPr/>
          <a:lstStyle/>
          <a:p>
            <a:pPr marL="0" indent="0" algn="l">
              <a:buFont typeface="Wingdings" panose="05000000000000000000" pitchFamily="2" charset="2"/>
              <a:buNone/>
            </a:pPr>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Short response questions provide brisk paced questions focussing on review of current and previous content to support spaced and interleaved practice. </a:t>
            </a:r>
            <a:r>
              <a:rPr lang="en-AU" sz="1600" b="0" i="0" kern="1200" dirty="0">
                <a:solidFill>
                  <a:schemeClr val="tx1"/>
                </a:solidFill>
                <a:effectLst/>
                <a:latin typeface="Arial" panose="020B0604020202020204" pitchFamily="34" charset="0"/>
                <a:ea typeface="+mn-ea"/>
                <a:cs typeface="Arial" panose="020B0604020202020204" pitchFamily="34" charset="0"/>
              </a:rPr>
              <a:t>​</a:t>
            </a:r>
          </a:p>
          <a:p>
            <a:pPr marL="0" indent="0" algn="l">
              <a:buFont typeface="Wingdings" panose="05000000000000000000" pitchFamily="2" charset="2"/>
              <a:buNone/>
            </a:pPr>
            <a:endParaRPr lang="en-AU" dirty="0">
              <a:latin typeface="Arial"/>
              <a:cs typeface="Arial"/>
            </a:endParaRPr>
          </a:p>
          <a:p>
            <a:r>
              <a:rPr lang="en-AU" b="1" dirty="0">
                <a:latin typeface="Arial"/>
                <a:cs typeface="Arial"/>
              </a:rPr>
              <a:t>Syllabus focus area: </a:t>
            </a:r>
          </a:p>
          <a:p>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A</a:t>
            </a:r>
          </a:p>
          <a:p>
            <a:pPr>
              <a:defRPr/>
            </a:pP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967366CE-2BB5-7C22-619A-1062E94D6B27}"/>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3167239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b="1" dirty="0"/>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Data A</a:t>
            </a:r>
            <a:endParaRPr lang="en-AU" b="1"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a:latin typeface="Arial"/>
                <a:cs typeface="Arial"/>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t>Short response questions provide brisk paced questions focussing on review of current and previous content to support spaced and interleaved practice. </a:t>
            </a:r>
          </a:p>
          <a:p>
            <a:pPr>
              <a:defRPr/>
            </a:pPr>
            <a:endParaRPr lang="en-AU" b="1" dirty="0">
              <a:latin typeface="Arial"/>
              <a:cs typeface="Arial"/>
            </a:endParaRPr>
          </a:p>
          <a:p>
            <a:pPr>
              <a:defRPr/>
            </a:pPr>
            <a:endParaRPr lang="en-AU" b="1" dirty="0">
              <a:latin typeface="Arial"/>
              <a:cs typeface="Arial"/>
            </a:endParaRPr>
          </a:p>
          <a:p>
            <a:pPr>
              <a:defRPr/>
            </a:pPr>
            <a:r>
              <a:rPr lang="en-AU" b="1" dirty="0">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latin typeface="Arial"/>
                <a:cs typeface="Arial"/>
              </a:rPr>
              <a:t>Data A</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dirty="0">
              <a:latin typeface="Arial"/>
              <a:cs typeface="Arial"/>
            </a:endParaRP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DCDB8-C372-2999-58D3-E1F4C4D22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48763-2CED-3666-151F-E0AAF6512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DE11A-D02A-582C-F6DF-7B33A2649658}"/>
              </a:ext>
            </a:extLst>
          </p:cNvPr>
          <p:cNvSpPr>
            <a:spLocks noGrp="1"/>
          </p:cNvSpPr>
          <p:nvPr>
            <p:ph type="body" idx="1"/>
          </p:nvPr>
        </p:nvSpPr>
        <p:spPr/>
        <p:txBody>
          <a:bodyPr/>
          <a:lstStyle/>
          <a:p>
            <a:r>
              <a:rPr lang="en-AU" b="1">
                <a:effectLst/>
              </a:rPr>
              <a:t>Note: </a:t>
            </a:r>
            <a:r>
              <a:rPr lang="en-AU">
                <a:effectLst/>
              </a:rPr>
              <a:t>This slide is designed to be used in presentation mode.</a:t>
            </a:r>
            <a:endParaRPr lang="en-AU"/>
          </a:p>
          <a:p>
            <a:pPr marL="0" lvl="0" indent="0">
              <a:lnSpc>
                <a:spcPct val="150000"/>
              </a:lnSpc>
              <a:spcBef>
                <a:spcPts val="1200"/>
              </a:spcBef>
              <a:spcAft>
                <a:spcPts val="600"/>
              </a:spcAft>
              <a:buFont typeface="+mj-lt"/>
              <a:buNone/>
            </a:pPr>
            <a:endParaRPr lang="en-US"/>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 </a:t>
            </a: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a:p>
          <a:p>
            <a:r>
              <a:rPr lang="en-AU" b="1"/>
              <a:t>5-digit numbers 1</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‘Hit it (3-digit numbers)’ from Thinking mathematically resources by State of New South Wales (Department of Education).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with markers, a whiteboard and a 10-sided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a gameboard on their whiteboard with 5 lines to represent the 5-digits.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aim of the game is to make numbers as close to 99 999 as possible, with the closest number winning a point. The player with the most points after 5 rounds is declared the winner.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turns to roll the dice. After each roll, place the number on one of the lines to begin forming a 5-digit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the 5 blank lines are full, players read their numbers and explain which they think is the closest to 99 999. The winner gets one point.</a:t>
            </a:r>
          </a:p>
          <a:p>
            <a:pPr marL="0" lvl="0" indent="0">
              <a:lnSpc>
                <a:spcPct val="150000"/>
              </a:lnSpc>
              <a:spcBef>
                <a:spcPts val="1200"/>
              </a:spcBef>
              <a:spcAft>
                <a:spcPts val="600"/>
              </a:spcAft>
              <a:buFont typeface="+mj-lt"/>
              <a:buNone/>
            </a:pPr>
            <a:endParaRPr lang="en-US"/>
          </a:p>
        </p:txBody>
      </p:sp>
      <p:sp>
        <p:nvSpPr>
          <p:cNvPr id="4" name="Slide Number Placeholder 3">
            <a:extLst>
              <a:ext uri="{FF2B5EF4-FFF2-40B4-BE49-F238E27FC236}">
                <a16:creationId xmlns:a16="http://schemas.microsoft.com/office/drawing/2014/main" id="{94B3842B-863E-8820-3D27-38D0239143D8}"/>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761916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46E0-F60E-44D9-BC37-F10973EE1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97691-5815-8B1E-6376-961410AAD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8CDE8-0FF4-6AF5-85E0-6764D7E42EC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2)</a:t>
            </a:r>
          </a:p>
          <a:p>
            <a:pPr>
              <a:buFont typeface="Wingdings" panose="05000000000000000000" pitchFamily="2" charset="2"/>
              <a:defRPr/>
            </a:pP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1">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 numbers using place value B</a:t>
            </a: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E3083EE1-A5B9-83FB-20B4-CCD67CB93C1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544758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 numbers using place value B</a:t>
            </a:r>
            <a:endParaRPr lang="en-AU" b="1"/>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3B5F4-D5AE-7D08-421C-2FC60000B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14A08-B053-F90C-0CA5-1BCAB774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0B7E0-E3E5-6678-9693-A13708B6D5D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B</a:t>
            </a:r>
            <a:endParaRPr lang="en-AU" b="1"/>
          </a:p>
        </p:txBody>
      </p:sp>
      <p:sp>
        <p:nvSpPr>
          <p:cNvPr id="4" name="Slide Number Placeholder 3">
            <a:extLst>
              <a:ext uri="{FF2B5EF4-FFF2-40B4-BE49-F238E27FC236}">
                <a16:creationId xmlns:a16="http://schemas.microsoft.com/office/drawing/2014/main" id="{12C231C8-4915-CD8F-C18E-3AA915421FB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3032113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b="0" i="0">
                <a:solidFill>
                  <a:srgbClr val="000000"/>
                </a:solidFill>
                <a:effectLst/>
                <a:latin typeface="Aptos Narrow" panose="020B0004020202020204" pitchFamily="34" charset="0"/>
              </a:rPr>
              <a:t>Partitioned fractions A </a:t>
            </a:r>
            <a:endParaRPr lang="en-AU" b="1"/>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64C01-695B-B79D-462E-C26B7B2F0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C4D3E-31B5-18B3-0D8A-6EEDF99E9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A4307-5479-D92E-802F-858EDC0288C8}"/>
              </a:ext>
            </a:extLst>
          </p:cNvPr>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5-digit numbers 2</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‘Hit it (3-digit numbers)’ from Thinking mathematically resources by State of New South Wales (Department of Education).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with markers, a whiteboard and a 10-sided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a gameboard on their whiteboard with 5 lines to represent the 5-digits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aim of the game is to make numbers as close to 10 000 as possible, with the closest number winning a point. The player with the most points after 5 rounds is declared the winner.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turns to roll the dice. After each roll, place the number on one of the lines to begin forming a 5-digit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the 5 blank lines are full, players read their numbers and explain which they think is the closest to 10 000. The winner gets one point.</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kern="1200">
              <a:solidFill>
                <a:schemeClr val="tx1"/>
              </a:solidFill>
              <a:effectLst/>
              <a:latin typeface="Arial" panose="020B0604020202020204" pitchFamily="34" charset="0"/>
              <a:ea typeface="+mn-ea"/>
              <a:cs typeface="Arial" panose="020B0604020202020204" pitchFamily="34" charset="0"/>
            </a:endParaRPr>
          </a:p>
          <a:p>
            <a:endParaRPr lang="en-AU"/>
          </a:p>
        </p:txBody>
      </p:sp>
      <p:sp>
        <p:nvSpPr>
          <p:cNvPr id="4" name="Slide Number Placeholder 3">
            <a:extLst>
              <a:ext uri="{FF2B5EF4-FFF2-40B4-BE49-F238E27FC236}">
                <a16:creationId xmlns:a16="http://schemas.microsoft.com/office/drawing/2014/main" id="{50931A28-5575-5896-E3B2-5C0FC95EB8D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460973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3)</a:t>
            </a:r>
          </a:p>
          <a:p>
            <a:pPr>
              <a:defRPr/>
            </a:pPr>
            <a:endParaRPr lang="en-AU" b="1">
              <a:latin typeface="Arial"/>
              <a:cs typeface="Arial"/>
            </a:endParaRPr>
          </a:p>
          <a:p>
            <a:pPr>
              <a:defRPr/>
            </a:pPr>
            <a:r>
              <a:rPr lang="en-AU" b="1">
                <a:latin typeface="Arial"/>
                <a:cs typeface="Arial"/>
              </a:rPr>
              <a:t>Syllabus focus area :</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using place value B</a:t>
            </a: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59FF-9DFE-85D2-8760-0BFA632B0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D21F4-1C70-399F-A64B-85EB92CD3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F0924-DB33-38B7-1621-7D6C1F6072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dirty="0"/>
          </a:p>
        </p:txBody>
      </p:sp>
      <p:sp>
        <p:nvSpPr>
          <p:cNvPr id="4" name="Slide Number Placeholder 3">
            <a:extLst>
              <a:ext uri="{FF2B5EF4-FFF2-40B4-BE49-F238E27FC236}">
                <a16:creationId xmlns:a16="http://schemas.microsoft.com/office/drawing/2014/main" id="{29FCCDFC-0B9E-8D7C-F2CE-EB5D3740A603}"/>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899015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6495-4545-FAA2-E759-8DF5AD47A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E5087-364F-4294-FE46-9801D5DF2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8BDFF-6C68-7A69-4C92-819DAD8F0E6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endParaRPr lang="en-AU" dirty="0"/>
          </a:p>
          <a:p>
            <a:r>
              <a:rPr lang="en-AU" b="1" dirty="0"/>
              <a:t>Syllabus focus area: </a:t>
            </a:r>
          </a:p>
          <a:p>
            <a:r>
              <a:rPr lang="en-AU" b="0" dirty="0"/>
              <a:t>Data A</a:t>
            </a:r>
          </a:p>
          <a:p>
            <a:endParaRPr lang="en-AU"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This activity was adapted from Sullivan and Lilburn, Open-ended Maths Activities.</a:t>
            </a:r>
          </a:p>
          <a:p>
            <a:br>
              <a:rPr lang="en-AU" sz="1600" b="0" i="0" u="none" strike="noStrike" kern="1200" dirty="0">
                <a:solidFill>
                  <a:schemeClr val="tx1"/>
                </a:solidFill>
                <a:effectLst/>
                <a:latin typeface="Arial" panose="020B0604020202020204" pitchFamily="34" charset="0"/>
                <a:ea typeface="+mn-ea"/>
                <a:cs typeface="Arial" panose="020B0604020202020204" pitchFamily="34" charset="0"/>
              </a:rPr>
            </a:br>
            <a:endParaRPr lang="en-AU" b="1" dirty="0"/>
          </a:p>
        </p:txBody>
      </p:sp>
      <p:sp>
        <p:nvSpPr>
          <p:cNvPr id="4" name="Slide Number Placeholder 3">
            <a:extLst>
              <a:ext uri="{FF2B5EF4-FFF2-40B4-BE49-F238E27FC236}">
                <a16:creationId xmlns:a16="http://schemas.microsoft.com/office/drawing/2014/main" id="{DD88A6EC-8034-CE31-AD61-8B2D3A780BC7}"/>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16964822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kern="1200">
                <a:solidFill>
                  <a:schemeClr val="tx1"/>
                </a:solidFill>
                <a:effectLst/>
                <a:latin typeface="Arial" panose="020B0604020202020204" pitchFamily="34" charset="0"/>
                <a:ea typeface="+mn-ea"/>
                <a:cs typeface="Arial" panose="020B0604020202020204" pitchFamily="34" charset="0"/>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a:latin typeface="Arial"/>
              <a:cs typeface="Arial"/>
            </a:endParaRPr>
          </a:p>
          <a:p>
            <a:pPr>
              <a:defRPr/>
            </a:pPr>
            <a:r>
              <a:rPr lang="en-AU" b="1">
                <a:latin typeface="Arial"/>
                <a:cs typeface="Arial"/>
              </a:rPr>
              <a:t>Syllabus focus area: </a:t>
            </a:r>
          </a:p>
          <a:p>
            <a:pPr>
              <a:defRPr/>
            </a:pPr>
            <a:r>
              <a:rPr lang="en-AU" b="0">
                <a:latin typeface="Arial"/>
                <a:cs typeface="Arial"/>
              </a:rPr>
              <a:t>Partitioned fractions B</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A: Time</a:t>
            </a:r>
            <a:endParaRPr lang="en-AU" b="1"/>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 </a:t>
            </a:r>
          </a:p>
          <a:p>
            <a:r>
              <a:rPr lang="en-AU" sz="1800" b="0"/>
              <a:t>Representing numbers using place value B</a:t>
            </a:r>
            <a:endParaRPr lang="en-AU" sz="1800"/>
          </a:p>
          <a:p>
            <a:endParaRPr lang="en-AU" sz="1800" b="1"/>
          </a:p>
          <a:p>
            <a:r>
              <a:rPr lang="en-AU" sz="1800" b="1"/>
              <a:t>Arranging numbers in ascending order</a:t>
            </a:r>
          </a:p>
          <a:p>
            <a:r>
              <a:rPr lang="en-AU" sz="1800" b="0"/>
              <a:t>This resource corresponds to Resource 23 –  ascending order gameboard in Stage 2 Year B Unit 26. </a:t>
            </a:r>
          </a:p>
          <a:p>
            <a:endParaRPr lang="en-AU" sz="1800"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aim of the game is to position 5-digit numbers in sequence on the gameboard. Provide pairs with four 10-sided dice and a gameboard.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dice and create a 5-digit number. For example, 4, 6, 9, 8 and zero could be recorded as 46 089, 64 890 or 98 604. Players record their chosen number in an appropriate position between 10 000 and 99 999 in ascending order on </a:t>
            </a:r>
            <a:r>
              <a:rPr lang="en-AU" sz="1600" b="0"/>
              <a:t>Resource 23 –  ascending order.</a:t>
            </a:r>
          </a:p>
          <a:p>
            <a:pPr marL="285750" lvl="0" indent="-285750">
              <a:buFont typeface="Arial" panose="020B0604020202020204" pitchFamily="34" charset="0"/>
              <a:buChar char="•"/>
            </a:pPr>
            <a:r>
              <a:rPr lang="en-AU" sz="1600" b="0"/>
              <a:t> </a:t>
            </a:r>
            <a:r>
              <a:rPr lang="en-AU" sz="1600" kern="1200">
                <a:solidFill>
                  <a:schemeClr val="tx1"/>
                </a:solidFill>
                <a:effectLst/>
                <a:latin typeface="Arial" panose="020B0604020202020204" pitchFamily="34" charset="0"/>
                <a:ea typeface="+mn-ea"/>
                <a:cs typeface="Arial" panose="020B0604020202020204" pitchFamily="34" charset="0"/>
              </a:rPr>
              <a:t>If numbers cannot be placed, students miss their turn. Play continues until all boxes are filled.</a:t>
            </a:r>
          </a:p>
          <a:p>
            <a:pPr marL="285750" indent="-285750">
              <a:buFont typeface="Arial" panose="020B0604020202020204" pitchFamily="34" charset="0"/>
              <a:buChar cha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game can also be played as whole class. Use dice that have a zero as it is important for students to understand that the zero is a placeholder and does not have a value. Using a reusable sleeve for the gameboard will allow students to play multiple games.</a:t>
            </a:r>
          </a:p>
          <a:p>
            <a:endParaRPr lang="en-AU" sz="1800" b="0"/>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4043196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3B645-0A85-11F0-6398-B49718AD1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000A5-FD5D-C5A9-2851-EB94B4A7C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AD5E0-5E38-56F5-A703-A7EA5591EB0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4)</a:t>
            </a:r>
          </a:p>
          <a:p>
            <a:pPr>
              <a:defRPr/>
            </a:pPr>
            <a:endParaRPr lang="en-AU" b="1">
              <a:latin typeface="Arial"/>
              <a:cs typeface="Arial"/>
            </a:endParaRPr>
          </a:p>
          <a:p>
            <a:pPr>
              <a:defRPr/>
            </a:pPr>
            <a:r>
              <a:rPr lang="en-AU" b="1">
                <a:latin typeface="Arial"/>
                <a:cs typeface="Arial"/>
              </a:rPr>
              <a:t>Syllabus focus area: </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using place value B</a:t>
            </a: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F8A090AC-DE06-5BC7-E5DE-55D74AAAF85C}"/>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778060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1838494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8B5B-35C6-A342-8B86-C156338A1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B89D3-71E2-71D0-C6D4-A260EA371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99B83-36B5-2A11-A76B-7600415DF35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B39844DF-949E-A797-2DA8-D95CDB93DCB3}"/>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709669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b="0"/>
              <a:t>Partitioned fractions B </a:t>
            </a: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b="1" dirty="0"/>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0FFE5-8912-3782-97D8-BC932FFA9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13D75-9F0C-40D6-08D3-508EC13E7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ED182-00F6-D4EC-FA29-C06D8DDD39A1}"/>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 </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B: Whole numbers</a:t>
            </a:r>
            <a:endParaRPr lang="en-AU" b="1" dirty="0"/>
          </a:p>
          <a:p>
            <a:endParaRPr lang="en-AU" dirty="0"/>
          </a:p>
          <a:p>
            <a:r>
              <a:rPr lang="en-AU" b="1" dirty="0"/>
              <a:t>Arranging numbers in descending order</a:t>
            </a:r>
          </a:p>
          <a:p>
            <a:r>
              <a:rPr lang="en-AU" b="0" dirty="0"/>
              <a:t>This resource corresponds to Resource 24 descending order gameboard and figure 16 in Stage 2 Year B Unit 26</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the aim of the game is to position 5-digit numbers in sequence on the gameboard. Provide pairs with four 10-sided dice and </a:t>
            </a:r>
            <a:r>
              <a:rPr lang="en-AU" sz="1600" i="0" u="none" kern="1200" dirty="0">
                <a:solidFill>
                  <a:schemeClr val="tx1"/>
                </a:solidFill>
                <a:effectLst/>
                <a:latin typeface="Arial" panose="020B0604020202020204" pitchFamily="34" charset="0"/>
                <a:ea typeface="+mn-ea"/>
                <a:cs typeface="Arial" panose="020B0604020202020204" pitchFamily="34" charset="0"/>
              </a:rPr>
              <a:t>a copy of Resource 24 – descending order gameboard </a:t>
            </a:r>
            <a:r>
              <a:rPr lang="en-AU" sz="1600" kern="1200" dirty="0">
                <a:solidFill>
                  <a:schemeClr val="tx1"/>
                </a:solidFill>
                <a:effectLst/>
                <a:latin typeface="Arial" panose="020B0604020202020204" pitchFamily="34" charset="0"/>
                <a:ea typeface="+mn-ea"/>
                <a:cs typeface="Arial" panose="020B0604020202020204" pitchFamily="34" charset="0"/>
              </a:rPr>
              <a:t>to each player.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roll the dice and create a 5-digit number. For example, 4, 6, 9, 8 and zero could be recorded as 46 089, 64 890 or 98 604. Players record their chosen number in appropriate position between 99 999 and 10 000 in descending order (see Figure 16)</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If numbers cannot be placed, students miss their turn. Play continues until all boxes are filled.</a:t>
            </a:r>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2DC8FA97-7F54-DB2A-6EE6-6C774D8CC9B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555724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3892D-190E-45BD-0DE6-290776C4C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56781-8456-745E-456B-B4DFB44D5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7C9EF-D381-B60C-8526-5D4865E29B5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defRPr/>
            </a:pPr>
            <a:endParaRPr lang="en-AU" b="1">
              <a:latin typeface="Arial"/>
              <a:cs typeface="Arial"/>
            </a:endParaRPr>
          </a:p>
          <a:p>
            <a:r>
              <a:rPr lang="en-AU" b="1">
                <a:latin typeface="Arial"/>
                <a:cs typeface="Arial"/>
              </a:rPr>
              <a:t>Syllabus focus area: </a:t>
            </a:r>
          </a:p>
          <a:p>
            <a:pPr>
              <a:defRPr/>
            </a:pPr>
            <a:r>
              <a:rPr lang="en-AU" sz="1600" i="0">
                <a:solidFill>
                  <a:schemeClr val="tx1"/>
                </a:solidFill>
                <a:latin typeface="Arial" panose="020B0604020202020204" pitchFamily="34" charset="0"/>
                <a:cs typeface="Arial" panose="020B0604020202020204" pitchFamily="34" charset="0"/>
              </a:rPr>
              <a:t>Additive relations A</a:t>
            </a:r>
          </a:p>
        </p:txBody>
      </p:sp>
      <p:sp>
        <p:nvSpPr>
          <p:cNvPr id="4" name="Slide Number Placeholder 3">
            <a:extLst>
              <a:ext uri="{FF2B5EF4-FFF2-40B4-BE49-F238E27FC236}">
                <a16:creationId xmlns:a16="http://schemas.microsoft.com/office/drawing/2014/main" id="{306339C7-A175-7F53-C90B-241698CC6B5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29857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a:t>Short response questions provide brisk paced questions focussing on review of current and previous content to support spaced and interleaved practice. </a:t>
            </a:r>
          </a:p>
          <a:p>
            <a:pPr>
              <a:buFont typeface="Wingdings" panose="05000000000000000000" pitchFamily="2" charset="2"/>
              <a:defRPr/>
            </a:pP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1">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B </a:t>
            </a:r>
            <a:br>
              <a:rPr lang="en-AU" sz="1600" b="0" i="0" u="none" strike="noStrike" kern="1200">
                <a:solidFill>
                  <a:schemeClr val="tx1"/>
                </a:solidFill>
                <a:effectLst/>
                <a:latin typeface="Arial" panose="020B0604020202020204" pitchFamily="34" charset="0"/>
                <a:ea typeface="+mn-ea"/>
                <a:cs typeface="Arial" panose="020B0604020202020204" pitchFamily="34" charset="0"/>
              </a:rPr>
            </a:b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B</a:t>
            </a:r>
            <a:endParaRPr lang="en-AU" b="1"/>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b="0"/>
              <a:t>Partitioned fractions B</a:t>
            </a:r>
          </a:p>
          <a:p>
            <a:pPr>
              <a:defRPr/>
            </a:pP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5F2C4-B0A4-6F60-1D37-F4DE50F23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E02F4-8667-268B-389A-E281BF27B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050E0-4432-B89B-7A44-B7CE86B60F7F}"/>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b="0" dirty="0"/>
              <a:t>Non-spatial measure A</a:t>
            </a:r>
          </a:p>
        </p:txBody>
      </p:sp>
      <p:sp>
        <p:nvSpPr>
          <p:cNvPr id="4" name="Slide Number Placeholder 3">
            <a:extLst>
              <a:ext uri="{FF2B5EF4-FFF2-40B4-BE49-F238E27FC236}">
                <a16:creationId xmlns:a16="http://schemas.microsoft.com/office/drawing/2014/main" id="{3E5C5732-F8A6-CD6D-9A5B-049BDAC043E2}"/>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595575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0F6BC-5FD5-27D0-107B-12B99E075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19D44-6898-080B-46E8-0002F470A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853C9-C664-10DF-88B7-CEC1570020AA}"/>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a:t>Additive relations A</a:t>
            </a:r>
            <a:endParaRPr lang="en-AU" b="1"/>
          </a:p>
          <a:p>
            <a:endParaRPr lang="en-AU" b="1"/>
          </a:p>
          <a:p>
            <a:r>
              <a:rPr lang="en-AU" b="1"/>
              <a:t>Equal difference</a:t>
            </a:r>
          </a:p>
          <a:p>
            <a:r>
              <a:rPr lang="en-AU" b="0"/>
              <a:t>This resource corresponds to Resource 25 – equal difference in Stage 2 Year B Unit 26.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scenario to the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Independently or in pairs, students work on whiteboards to determine who has the correct answer to the number sentence. They must provide justification for their answer, for example, 32 + 24 = 56. 15 + 41 = 56. Eva has the correct answer because her answer is the same as the answer to the number sentence.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student answers as a class.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the correct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Was there more than one correct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Was there an answer you could rule out right away?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if there are any other correct answers to the number sentence that are not on the display.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Give students an opportunity to write as many different answers to the number sentence as they can on their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ideas with a partner, justifying their answers.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0"/>
          </a:p>
          <a:p>
            <a:endParaRPr lang="en-AU" b="1"/>
          </a:p>
          <a:p>
            <a:endParaRPr lang="en-AU"/>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791C10BF-66C2-4732-A045-C11ED24303B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24092123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6).</a:t>
            </a:r>
          </a:p>
          <a:p>
            <a:pPr>
              <a:defRPr/>
            </a:pPr>
            <a:endParaRPr lang="en-AU" b="1">
              <a:latin typeface="Arial"/>
              <a:cs typeface="Arial"/>
            </a:endParaRPr>
          </a:p>
          <a:p>
            <a:r>
              <a:rPr lang="en-AU" b="1">
                <a:latin typeface="Arial"/>
                <a:cs typeface="Arial"/>
              </a:rPr>
              <a:t>Syllabus focus area: </a:t>
            </a:r>
          </a:p>
          <a:p>
            <a:r>
              <a:rPr lang="en-US"/>
              <a:t>Additive relations A</a:t>
            </a:r>
          </a:p>
        </p:txBody>
      </p:sp>
      <p:sp>
        <p:nvSpPr>
          <p:cNvPr id="4" name="Slide Number Placeholder 3"/>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t>Short response questions provide brisk paced questions focussing on review of current and previous content to support spaced and interleaved practice. </a:t>
            </a:r>
          </a:p>
          <a:p>
            <a:pPr>
              <a:defRPr/>
            </a:pPr>
            <a:endParaRPr lang="en-AU" b="1" dirty="0">
              <a:latin typeface="Arial"/>
              <a:cs typeface="Arial"/>
            </a:endParaRPr>
          </a:p>
          <a:p>
            <a:r>
              <a:rPr lang="en-AU" b="1" dirty="0">
                <a:latin typeface="Arial"/>
                <a:cs typeface="Arial"/>
              </a:rPr>
              <a:t>Syllabus focus area: </a:t>
            </a:r>
          </a:p>
          <a:p>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B: Decimals</a:t>
            </a:r>
          </a:p>
          <a:p>
            <a:pPr>
              <a:defRPr/>
            </a:pPr>
            <a:endParaRPr lang="en-US" dirty="0">
              <a:solidFill>
                <a:srgbClr val="444444"/>
              </a:solidFill>
              <a:latin typeface="Arial"/>
              <a:cs typeface="Arial"/>
            </a:endParaRPr>
          </a:p>
          <a:p>
            <a:pPr>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b="0"/>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B</a:t>
            </a:r>
            <a:endParaRPr lang="en-AU" b="1"/>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Geometric measure A: Angles</a:t>
            </a:r>
            <a:endParaRPr lang="en-AU" b="1" dirty="0"/>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a:t>Additive relations A</a:t>
            </a:r>
          </a:p>
          <a:p>
            <a:endParaRPr lang="en-AU"/>
          </a:p>
          <a:p>
            <a:r>
              <a:rPr lang="en-AU" b="1"/>
              <a:t>Equivalent number sentences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roll two 10-sided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arrange the dice to make a 2-digit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student records a number sentence on their whiteboard that would have the 2-digit number as the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check their partners number sentence and record it as the answer to their number sentence.</a:t>
            </a:r>
            <a:endParaRPr lang="en-AU" b="0"/>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41201086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E467-C2E5-9159-F464-70DD5EA58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8902E-B9CA-7E2D-013B-55D8B9D5D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365F02-7E94-9415-A602-ADC0B22B44B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1">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latin typeface="Arial"/>
                <a:cs typeface="Arial"/>
              </a:rPr>
              <a:t>Additive relations: Use the principle of equality</a:t>
            </a:r>
          </a:p>
        </p:txBody>
      </p:sp>
      <p:sp>
        <p:nvSpPr>
          <p:cNvPr id="4" name="Slide Number Placeholder 3">
            <a:extLst>
              <a:ext uri="{FF2B5EF4-FFF2-40B4-BE49-F238E27FC236}">
                <a16:creationId xmlns:a16="http://schemas.microsoft.com/office/drawing/2014/main" id="{0924ABD6-4A68-172B-20E8-4E2CE5D7242C}"/>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7992889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pPr>
              <a:buFont typeface="Wingdings" panose="05000000000000000000" pitchFamily="2" charset="2"/>
              <a:defRPr/>
            </a:pPr>
            <a:endParaRPr lang="en-AU">
              <a:latin typeface="Arial"/>
              <a:cs typeface="Arial"/>
            </a:endParaRPr>
          </a:p>
          <a:p>
            <a:r>
              <a:rPr lang="en-AU" b="1">
                <a:latin typeface="Arial"/>
                <a:cs typeface="Arial"/>
              </a:rPr>
              <a:t>Syllabus focus area: </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 Decimals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latin typeface="Arial"/>
              <a:cs typeface="Arial"/>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ED1E-E8BE-BC1F-637C-E55758BC1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F60736-D80A-2D51-8D04-1756587BC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1D071-5F19-9141-BE5F-D09AE25B5F5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b="1"/>
          </a:p>
          <a:p>
            <a:r>
              <a:rPr lang="en-AU" b="1"/>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B</a:t>
            </a:r>
            <a:endParaRPr lang="en-AU" b="1"/>
          </a:p>
        </p:txBody>
      </p:sp>
      <p:sp>
        <p:nvSpPr>
          <p:cNvPr id="4" name="Slide Number Placeholder 3">
            <a:extLst>
              <a:ext uri="{FF2B5EF4-FFF2-40B4-BE49-F238E27FC236}">
                <a16:creationId xmlns:a16="http://schemas.microsoft.com/office/drawing/2014/main" id="{35DEB956-761B-1688-A825-AD96F9E9AA27}"/>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2682082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i="0">
              <a:solidFill>
                <a:schemeClr val="tx1"/>
              </a:solidFill>
              <a:latin typeface="Arial"/>
              <a:cs typeface="Arial"/>
            </a:endParaRPr>
          </a:p>
          <a:p>
            <a:endParaRPr lang="en-AU"/>
          </a:p>
          <a:p>
            <a:r>
              <a:rPr lang="en-AU" b="1"/>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B</a:t>
            </a:r>
            <a:endParaRPr lang="en-AU" b="1"/>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b="1" dirty="0"/>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B733E-F3E0-8274-7BFC-1A939B99A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66335-86D8-BDAF-464C-8796C2A5A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E6901-05BA-6A95-612D-DCBDD8737971}"/>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dirty="0"/>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0" dirty="0"/>
              <a:t>Additive relations A</a:t>
            </a:r>
          </a:p>
          <a:p>
            <a:endParaRPr lang="en-AU" sz="1800" b="1" dirty="0"/>
          </a:p>
          <a:p>
            <a:r>
              <a:rPr lang="en-AU" sz="1800" b="1" dirty="0"/>
              <a:t>Equivalent number sentences 2</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roll two 10-sided dice.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arrange the dice to make a 2-digit number. Each student records a number sentence on their whiteboard that would have the 2-digit number as the answer.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check their partners number sentence and record it as the answer to their number sentence </a:t>
            </a:r>
            <a:endParaRPr lang="en-AU" sz="1800" dirty="0">
              <a:effectLst/>
              <a:latin typeface="Arial" panose="020B0604020202020204" pitchFamily="34" charset="0"/>
              <a:ea typeface="Calibri" panose="020F0502020204030204" pitchFamily="34" charset="0"/>
            </a:endParaRPr>
          </a:p>
          <a:p>
            <a:endParaRPr lang="en-AU" dirty="0"/>
          </a:p>
        </p:txBody>
      </p:sp>
      <p:sp>
        <p:nvSpPr>
          <p:cNvPr id="4" name="Slide Number Placeholder 3">
            <a:extLst>
              <a:ext uri="{FF2B5EF4-FFF2-40B4-BE49-F238E27FC236}">
                <a16:creationId xmlns:a16="http://schemas.microsoft.com/office/drawing/2014/main" id="{A1BC2959-5048-954C-9B52-5A7451963BA7}"/>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27507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4BDE6-E3BC-0391-3263-940042CA1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2D5C2-100B-8B28-4346-38F0E34E1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7033D-6A7B-F9DC-6CA7-06206BA674F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8)</a:t>
            </a:r>
          </a:p>
          <a:p>
            <a:pPr>
              <a:defRPr/>
            </a:pPr>
            <a:endParaRPr lang="en-AU" b="1">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1">
                <a:latin typeface="Arial"/>
                <a:cs typeface="Arial"/>
              </a:rPr>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a:t>Additive relations A</a:t>
            </a:r>
          </a:p>
          <a:p>
            <a:endParaRPr lang="en-US"/>
          </a:p>
        </p:txBody>
      </p:sp>
      <p:sp>
        <p:nvSpPr>
          <p:cNvPr id="4" name="Slide Number Placeholder 3">
            <a:extLst>
              <a:ext uri="{FF2B5EF4-FFF2-40B4-BE49-F238E27FC236}">
                <a16:creationId xmlns:a16="http://schemas.microsoft.com/office/drawing/2014/main" id="{71F103D6-29A6-F687-5C7D-F8D365A54A8F}"/>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7622007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0" i="0">
              <a:solidFill>
                <a:schemeClr val="tx1"/>
              </a:solidFill>
              <a:latin typeface="Arial"/>
              <a:cs typeface="Arial"/>
            </a:endParaRPr>
          </a:p>
          <a:p>
            <a:r>
              <a:rPr lang="en-AU" b="1">
                <a:latin typeface="Arial"/>
                <a:cs typeface="Arial"/>
              </a:rPr>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Additive relations A</a:t>
            </a:r>
            <a:br>
              <a:rPr lang="en-AU" sz="1600" b="0" i="0" u="none" strike="noStrike" kern="1200">
                <a:solidFill>
                  <a:schemeClr val="tx1"/>
                </a:solidFill>
                <a:effectLst/>
                <a:latin typeface="Arial" panose="020B0604020202020204" pitchFamily="34" charset="0"/>
                <a:ea typeface="+mn-ea"/>
                <a:cs typeface="Arial" panose="020B0604020202020204" pitchFamily="34" charset="0"/>
              </a:rPr>
            </a:b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965666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56A03-0F07-CD7B-6D48-1733CBFF8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B4698-4070-5297-01B8-144E2ABD6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6EEAD-99E2-8CD8-A0EF-13B891619088}"/>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b="0" dirty="0"/>
              <a:t>Data A: interpret and compare data</a:t>
            </a:r>
          </a:p>
        </p:txBody>
      </p:sp>
      <p:sp>
        <p:nvSpPr>
          <p:cNvPr id="4" name="Slide Number Placeholder 3">
            <a:extLst>
              <a:ext uri="{FF2B5EF4-FFF2-40B4-BE49-F238E27FC236}">
                <a16:creationId xmlns:a16="http://schemas.microsoft.com/office/drawing/2014/main" id="{FF90C64D-E10E-6569-F072-1B52B1D1AE62}"/>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1398525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049B3-A7BD-7ED0-1208-E07E44F17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25721-102F-F27D-1EF7-4956CF9E41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F7DF3-A9B3-BA6D-C39E-5BD9CB5E3E4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 </a:t>
            </a:r>
            <a:r>
              <a:rPr lang="en-AU" b="1"/>
              <a:t> </a:t>
            </a:r>
          </a:p>
          <a:p>
            <a:pPr>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A: Length</a:t>
            </a:r>
            <a:endParaRPr lang="en-US">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A84FBE31-6274-6F75-B732-11D86F78865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22538561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5B7A8-843D-C98C-1A07-E34CC54D5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3DC25-EFAC-72C5-4949-12FE5D56E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6E06F-6CF3-E207-8B56-73C4817021B9}"/>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dirty="0"/>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0" dirty="0"/>
              <a:t>Additive relations A</a:t>
            </a:r>
          </a:p>
          <a:p>
            <a:endParaRPr lang="en-AU" sz="1800" dirty="0"/>
          </a:p>
          <a:p>
            <a:r>
              <a:rPr lang="en-AU" sz="1800" b="1" dirty="0"/>
              <a:t>Target number sentence</a:t>
            </a:r>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‘Target number’ from </a:t>
            </a:r>
            <a:r>
              <a:rPr lang="en-AU" dirty="0"/>
              <a:t>Math for Love </a:t>
            </a:r>
            <a:r>
              <a:rPr lang="en-AU" sz="1600" kern="1200" dirty="0">
                <a:solidFill>
                  <a:schemeClr val="tx1"/>
                </a:solidFill>
                <a:effectLst/>
                <a:latin typeface="Arial" panose="020B0604020202020204" pitchFamily="34" charset="0"/>
                <a:ea typeface="+mn-ea"/>
                <a:cs typeface="Arial" panose="020B0604020202020204" pitchFamily="34" charset="0"/>
              </a:rPr>
              <a:t>by Finkel.</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indent="-285750">
              <a:buFont typeface="Arial" panose="020B0604020202020204" pitchFamily="34" charset="0"/>
              <a:buChar char="•"/>
            </a:pPr>
            <a:r>
              <a:rPr lang="en-AU" sz="1800" dirty="0">
                <a:effectLst/>
                <a:latin typeface="Arial" panose="020B0604020202020204" pitchFamily="34" charset="0"/>
                <a:ea typeface="Arial" panose="020B0604020202020204" pitchFamily="34" charset="0"/>
              </a:rPr>
              <a:t>Write a target number sentence on the board.</a:t>
            </a:r>
            <a:endParaRPr lang="en-AU" sz="1800" dirty="0">
              <a:effectLst/>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r>
              <a:rPr lang="en-AU" sz="1800" dirty="0">
                <a:effectLst/>
                <a:latin typeface="Arial" panose="020B0604020202020204" pitchFamily="34" charset="0"/>
                <a:ea typeface="Arial" panose="020B0604020202020204" pitchFamily="34" charset="0"/>
              </a:rPr>
              <a:t>Using whiteboards, students write down as many different number sentences as they can that have the same answer as the target number sentence. Students must write number sentences to identify equal differences. For example, 50 -19= 61-30.  </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Students turn and talk to a partner to share one of their number sentences, describe the strategies they used to create it and how they know it is correct.</a:t>
            </a:r>
          </a:p>
          <a:p>
            <a:endParaRPr lang="en-AU" dirty="0"/>
          </a:p>
        </p:txBody>
      </p:sp>
      <p:sp>
        <p:nvSpPr>
          <p:cNvPr id="4" name="Slide Number Placeholder 3">
            <a:extLst>
              <a:ext uri="{FF2B5EF4-FFF2-40B4-BE49-F238E27FC236}">
                <a16:creationId xmlns:a16="http://schemas.microsoft.com/office/drawing/2014/main" id="{99930450-2A44-EF9A-49F3-862A0A9F208E}"/>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6177005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E8A11-59CD-7D77-4153-1800C7438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B30E3-9F90-ABBA-2E0C-7104E0009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3F462-53BC-CFF6-F402-3C9F78B51977}"/>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26DD29D5-14E0-0130-42A0-A8362EC0CD60}"/>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1385928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slide" Target="slide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s://mathforlove.com/lesson/target-number/"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www.australiancurriculum.edu.au/"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Arial"/>
                <a:cs typeface="Arial"/>
              </a:rPr>
              <a:t>This resource aligns to the learning in Stage 2 Year B Unit 26 and revisits content from earlier sample units.</a:t>
            </a:r>
          </a:p>
          <a:p>
            <a:pPr marL="342900" indent="-342900">
              <a:buFont typeface="Arial"/>
              <a:buChar char="•"/>
            </a:pPr>
            <a:r>
              <a:rPr lang="en-AU" sz="1800" dirty="0">
                <a:solidFill>
                  <a:srgbClr val="22272B"/>
                </a:solidFill>
                <a:latin typeface="+mn-lt"/>
                <a:cs typeface="Arial"/>
              </a:rPr>
              <a:t>Classroom teachers are encouraged to </a:t>
            </a:r>
            <a:r>
              <a:rPr lang="en-AU" sz="1800" b="1" dirty="0">
                <a:solidFill>
                  <a:srgbClr val="22272B"/>
                </a:solidFill>
                <a:latin typeface="+mn-lt"/>
                <a:cs typeface="Arial"/>
              </a:rPr>
              <a:t>add, edit and adapt</a:t>
            </a:r>
            <a:r>
              <a:rPr lang="en-AU" sz="1800" dirty="0">
                <a:solidFill>
                  <a:srgbClr val="22272B"/>
                </a:solidFill>
                <a:latin typeface="+mn-lt"/>
                <a:cs typeface="Arial"/>
              </a:rPr>
              <a:t> to meet the needs of their students.</a:t>
            </a:r>
          </a:p>
          <a:p>
            <a:pPr marL="342900" indent="-342900">
              <a:lnSpc>
                <a:spcPct val="150000"/>
              </a:lnSpc>
              <a:buFont typeface="Arial"/>
              <a:buChar char="•"/>
            </a:pPr>
            <a:r>
              <a:rPr lang="en-AU" sz="1800" dirty="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cs typeface="Arial"/>
              </a:rPr>
              <a:t>To convert the PowerPoint to Google Slides:</a:t>
            </a:r>
          </a:p>
          <a:p>
            <a:pPr marL="913765" lvl="1" indent="-457200">
              <a:lnSpc>
                <a:spcPct val="150000"/>
              </a:lnSpc>
              <a:buFont typeface="+mj-lt"/>
              <a:buAutoNum type="arabicPeriod"/>
            </a:pPr>
            <a:r>
              <a:rPr lang="en-AU" dirty="0">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dirty="0">
                <a:solidFill>
                  <a:srgbClr val="22272B"/>
                </a:solidFill>
                <a:latin typeface="+mn-lt"/>
                <a:cs typeface="Arial"/>
              </a:rPr>
              <a:t>Go to File &gt; Save as Google Slides.</a:t>
            </a:r>
          </a:p>
          <a:p>
            <a:pPr marL="456565" lvl="1">
              <a:lnSpc>
                <a:spcPct val="150000"/>
              </a:lnSpc>
            </a:pPr>
            <a:r>
              <a:rPr lang="en-AU" dirty="0">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26</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RoL1" descr="1. Review of learning">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2. review of learning">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3. Review of learning ">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4.Review of learning">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5. Review of learning">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pPr>
              <a:tabLst>
                <a:tab pos="7175500" algn="l"/>
              </a:tabLst>
            </a:pPr>
            <a:r>
              <a:rPr lang="en-US" dirty="0"/>
              <a:t>Multiple choice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4" name="TextBox 13">
            <a:extLst>
              <a:ext uri="{FF2B5EF4-FFF2-40B4-BE49-F238E27FC236}">
                <a16:creationId xmlns:a16="http://schemas.microsoft.com/office/drawing/2014/main" id="{CFA0F07F-1E23-85D6-F814-D22F43C2932F}"/>
              </a:ext>
            </a:extLst>
          </p:cNvPr>
          <p:cNvSpPr txBox="1"/>
          <p:nvPr/>
        </p:nvSpPr>
        <p:spPr>
          <a:xfrm>
            <a:off x="242013" y="1909181"/>
            <a:ext cx="11484000" cy="828517"/>
          </a:xfrm>
          <a:prstGeom prst="rect">
            <a:avLst/>
          </a:prstGeom>
          <a:noFill/>
        </p:spPr>
        <p:txBody>
          <a:bodyPr wrap="square" lIns="0" tIns="0" rIns="0" bIns="0" rtlCol="0">
            <a:noAutofit/>
          </a:bodyPr>
          <a:lstStyle/>
          <a:p>
            <a:pPr algn="ctr"/>
            <a:r>
              <a:rPr lang="en-AU" sz="4000"/>
              <a:t>Which </a:t>
            </a:r>
            <a:r>
              <a:rPr lang="en-AU" sz="4000" b="1"/>
              <a:t>number</a:t>
            </a:r>
            <a:r>
              <a:rPr lang="en-AU" sz="4000"/>
              <a:t> is </a:t>
            </a:r>
            <a:r>
              <a:rPr lang="en-AU" sz="4000" b="1"/>
              <a:t>closest</a:t>
            </a:r>
            <a:r>
              <a:rPr lang="en-AU" sz="4000"/>
              <a:t> to 9 999? </a:t>
            </a:r>
          </a:p>
        </p:txBody>
      </p:sp>
      <p:sp>
        <p:nvSpPr>
          <p:cNvPr id="9" name="TextBox 8">
            <a:extLst>
              <a:ext uri="{FF2B5EF4-FFF2-40B4-BE49-F238E27FC236}">
                <a16:creationId xmlns:a16="http://schemas.microsoft.com/office/drawing/2014/main" id="{055D882C-AF43-C390-844D-CF785253532C}"/>
              </a:ext>
            </a:extLst>
          </p:cNvPr>
          <p:cNvSpPr txBox="1"/>
          <p:nvPr/>
        </p:nvSpPr>
        <p:spPr>
          <a:xfrm>
            <a:off x="1316155" y="453690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9" name="TextBox 18">
            <a:extLst>
              <a:ext uri="{FF2B5EF4-FFF2-40B4-BE49-F238E27FC236}">
                <a16:creationId xmlns:a16="http://schemas.microsoft.com/office/drawing/2014/main" id="{958561A0-43CE-BBFB-5DD3-BCE6D2D422CE}"/>
              </a:ext>
            </a:extLst>
          </p:cNvPr>
          <p:cNvSpPr txBox="1"/>
          <p:nvPr/>
        </p:nvSpPr>
        <p:spPr>
          <a:xfrm>
            <a:off x="943830" y="5361875"/>
            <a:ext cx="1131745" cy="914400"/>
          </a:xfrm>
          <a:prstGeom prst="rect">
            <a:avLst/>
          </a:prstGeom>
          <a:noFill/>
        </p:spPr>
        <p:txBody>
          <a:bodyPr wrap="none" lIns="0" tIns="0" rIns="0" bIns="0" rtlCol="0">
            <a:noAutofit/>
          </a:bodyPr>
          <a:lstStyle/>
          <a:p>
            <a:pPr algn="l"/>
            <a:r>
              <a:rPr lang="en-AU" sz="4000"/>
              <a:t>9 899</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54603" y="45392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6" name="TextBox 15">
            <a:extLst>
              <a:ext uri="{FF2B5EF4-FFF2-40B4-BE49-F238E27FC236}">
                <a16:creationId xmlns:a16="http://schemas.microsoft.com/office/drawing/2014/main" id="{03E42C06-8352-1B6D-47EE-FD791CFABE1E}"/>
              </a:ext>
            </a:extLst>
          </p:cNvPr>
          <p:cNvSpPr txBox="1"/>
          <p:nvPr/>
        </p:nvSpPr>
        <p:spPr>
          <a:xfrm>
            <a:off x="3826535" y="5361875"/>
            <a:ext cx="1131745" cy="914400"/>
          </a:xfrm>
          <a:prstGeom prst="rect">
            <a:avLst/>
          </a:prstGeom>
          <a:noFill/>
        </p:spPr>
        <p:txBody>
          <a:bodyPr wrap="none" lIns="0" tIns="0" rIns="0" bIns="0" rtlCol="0">
            <a:noAutofit/>
          </a:bodyPr>
          <a:lstStyle/>
          <a:p>
            <a:pPr algn="l"/>
            <a:r>
              <a:rPr lang="en-AU" sz="4000"/>
              <a:t>9 099</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04180" y="45542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7" name="TextBox 16">
            <a:extLst>
              <a:ext uri="{FF2B5EF4-FFF2-40B4-BE49-F238E27FC236}">
                <a16:creationId xmlns:a16="http://schemas.microsoft.com/office/drawing/2014/main" id="{52E9E894-D30E-E624-92E6-278C243462D3}"/>
              </a:ext>
            </a:extLst>
          </p:cNvPr>
          <p:cNvSpPr txBox="1"/>
          <p:nvPr/>
        </p:nvSpPr>
        <p:spPr>
          <a:xfrm>
            <a:off x="6907444" y="5361875"/>
            <a:ext cx="1131745" cy="914400"/>
          </a:xfrm>
          <a:prstGeom prst="rect">
            <a:avLst/>
          </a:prstGeom>
          <a:noFill/>
        </p:spPr>
        <p:txBody>
          <a:bodyPr wrap="none" lIns="0" tIns="0" rIns="0" bIns="0" rtlCol="0">
            <a:noAutofit/>
          </a:bodyPr>
          <a:lstStyle/>
          <a:p>
            <a:pPr algn="l"/>
            <a:r>
              <a:rPr lang="en-AU" sz="4000"/>
              <a:t>9 990</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153757" y="45542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5" name="TextBox 14">
            <a:extLst>
              <a:ext uri="{FF2B5EF4-FFF2-40B4-BE49-F238E27FC236}">
                <a16:creationId xmlns:a16="http://schemas.microsoft.com/office/drawing/2014/main" id="{BD4C225D-A1A2-5457-B5E1-633623980D9C}"/>
              </a:ext>
            </a:extLst>
          </p:cNvPr>
          <p:cNvSpPr txBox="1"/>
          <p:nvPr/>
        </p:nvSpPr>
        <p:spPr>
          <a:xfrm>
            <a:off x="9852600" y="5361875"/>
            <a:ext cx="1131745" cy="914400"/>
          </a:xfrm>
          <a:prstGeom prst="rect">
            <a:avLst/>
          </a:prstGeom>
          <a:noFill/>
        </p:spPr>
        <p:txBody>
          <a:bodyPr wrap="none" lIns="0" tIns="0" rIns="0" bIns="0" rtlCol="0">
            <a:noAutofit/>
          </a:bodyPr>
          <a:lstStyle/>
          <a:p>
            <a:pPr algn="l"/>
            <a:r>
              <a:rPr lang="en-AU" sz="4000"/>
              <a:t>9 909</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5279D-6F07-055C-1A60-9634F86AFB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FA74DC-AD68-F2CE-116B-1455B6E77334}"/>
              </a:ext>
            </a:extLst>
          </p:cNvPr>
          <p:cNvSpPr>
            <a:spLocks noGrp="1"/>
          </p:cNvSpPr>
          <p:nvPr>
            <p:ph type="title"/>
          </p:nvPr>
        </p:nvSpPr>
        <p:spPr>
          <a:xfrm>
            <a:off x="360000" y="360000"/>
            <a:ext cx="10397115" cy="545601"/>
          </a:xfrm>
        </p:spPr>
        <p:txBody>
          <a:bodyPr/>
          <a:lstStyle/>
          <a:p>
            <a:r>
              <a:rPr lang="en-US" dirty="0"/>
              <a:t>Short response </a:t>
            </a:r>
            <a:r>
              <a:rPr lang="en-US" dirty="0">
                <a:solidFill>
                  <a:schemeClr val="bg1"/>
                </a:solidFill>
              </a:rPr>
              <a:t>(1)</a:t>
            </a:r>
          </a:p>
        </p:txBody>
      </p:sp>
      <p:pic>
        <p:nvPicPr>
          <p:cNvPr id="8" name="Picture 7" descr="image of a clipboard with a pencil recording short answer">
            <a:extLst>
              <a:ext uri="{FF2B5EF4-FFF2-40B4-BE49-F238E27FC236}">
                <a16:creationId xmlns:a16="http://schemas.microsoft.com/office/drawing/2014/main" id="{5C52C893-C1C6-A6B3-0921-AD7FDC18B49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8" name="Text Placeholder 17">
            <a:extLst>
              <a:ext uri="{FF2B5EF4-FFF2-40B4-BE49-F238E27FC236}">
                <a16:creationId xmlns:a16="http://schemas.microsoft.com/office/drawing/2014/main" id="{00F12179-56B2-3AD5-64C1-E948DEFC8634}"/>
              </a:ext>
            </a:extLst>
          </p:cNvPr>
          <p:cNvSpPr>
            <a:spLocks noGrp="1"/>
          </p:cNvSpPr>
          <p:nvPr>
            <p:ph type="body" sz="quarter" idx="24"/>
          </p:nvPr>
        </p:nvSpPr>
        <p:spPr>
          <a:xfrm>
            <a:off x="600963" y="994869"/>
            <a:ext cx="11243037" cy="893226"/>
          </a:xfrm>
        </p:spPr>
        <p:txBody>
          <a:bodyPr/>
          <a:lstStyle/>
          <a:p>
            <a:pPr lvl="0" algn="ctr"/>
            <a:r>
              <a:rPr lang="en-AU" sz="4400" b="1" dirty="0"/>
              <a:t>Read</a:t>
            </a:r>
            <a:r>
              <a:rPr lang="en-AU" sz="4400" dirty="0"/>
              <a:t> the following number </a:t>
            </a:r>
            <a:r>
              <a:rPr lang="en-AU" sz="4400" b="1" dirty="0"/>
              <a:t>aloud</a:t>
            </a:r>
            <a:r>
              <a:rPr lang="en-AU" sz="4400" dirty="0"/>
              <a:t>.</a:t>
            </a:r>
          </a:p>
          <a:p>
            <a:pPr lvl="0"/>
            <a:endParaRPr lang="en-AU" sz="4400" dirty="0"/>
          </a:p>
        </p:txBody>
      </p:sp>
      <p:pic>
        <p:nvPicPr>
          <p:cNvPr id="7" name="Picture 6" descr="Place value houses for recording 6-digit numbers. The left house is labelled 'Thousands' and has three columns labelled H, T, O with the digits 1 under H, 3 under T and 6 under O. The right house has three columns labelled H, T, O with the digits 2 under H, 8 under T and 4 under O.">
            <a:extLst>
              <a:ext uri="{FF2B5EF4-FFF2-40B4-BE49-F238E27FC236}">
                <a16:creationId xmlns:a16="http://schemas.microsoft.com/office/drawing/2014/main" id="{463B1164-69BA-6F81-C5F7-2D1122DA17C3}"/>
              </a:ext>
            </a:extLst>
          </p:cNvPr>
          <p:cNvPicPr>
            <a:picLocks noChangeAspect="1"/>
          </p:cNvPicPr>
          <p:nvPr/>
        </p:nvPicPr>
        <p:blipFill>
          <a:blip r:embed="rId4"/>
          <a:stretch>
            <a:fillRect/>
          </a:stretch>
        </p:blipFill>
        <p:spPr>
          <a:xfrm>
            <a:off x="1765004" y="2264709"/>
            <a:ext cx="8661991" cy="2032079"/>
          </a:xfrm>
          <a:prstGeom prst="rect">
            <a:avLst/>
          </a:prstGeom>
        </p:spPr>
      </p:pic>
      <p:sp>
        <p:nvSpPr>
          <p:cNvPr id="5" name="Text Placeholder 17">
            <a:extLst>
              <a:ext uri="{FF2B5EF4-FFF2-40B4-BE49-F238E27FC236}">
                <a16:creationId xmlns:a16="http://schemas.microsoft.com/office/drawing/2014/main" id="{84FF5126-C523-B003-CA56-5678FDF8AD06}"/>
              </a:ext>
            </a:extLst>
          </p:cNvPr>
          <p:cNvSpPr txBox="1">
            <a:spLocks/>
          </p:cNvSpPr>
          <p:nvPr/>
        </p:nvSpPr>
        <p:spPr>
          <a:xfrm>
            <a:off x="348000" y="5086893"/>
            <a:ext cx="1184400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Next record this number in </a:t>
            </a:r>
            <a:r>
              <a:rPr lang="en-AU" sz="4400" b="1" dirty="0"/>
              <a:t>expanded notation</a:t>
            </a:r>
            <a:r>
              <a:rPr lang="en-AU" sz="4400" dirty="0"/>
              <a:t>.</a:t>
            </a:r>
          </a:p>
          <a:p>
            <a:endParaRPr lang="en-AU" sz="4400" dirty="0"/>
          </a:p>
        </p:txBody>
      </p:sp>
      <p:sp>
        <p:nvSpPr>
          <p:cNvPr id="2" name="Slide Number Placeholder 1">
            <a:extLst>
              <a:ext uri="{FF2B5EF4-FFF2-40B4-BE49-F238E27FC236}">
                <a16:creationId xmlns:a16="http://schemas.microsoft.com/office/drawing/2014/main" id="{04F15EF9-ABE1-F28C-6F8A-E3FD2963FB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3228577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pic>
        <p:nvPicPr>
          <p:cNvPr id="3" name="Picture 2" descr="image of a clipboard with a pencil recording short answer">
            <a:extLst>
              <a:ext uri="{FF2B5EF4-FFF2-40B4-BE49-F238E27FC236}">
                <a16:creationId xmlns:a16="http://schemas.microsoft.com/office/drawing/2014/main" id="{69E4B2B2-713D-5998-87AB-5FC222AE389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Box 13">
            <a:extLst>
              <a:ext uri="{FF2B5EF4-FFF2-40B4-BE49-F238E27FC236}">
                <a16:creationId xmlns:a16="http://schemas.microsoft.com/office/drawing/2014/main" id="{E5B50CEF-3B22-8150-BC52-B1C6FC3BE16F}"/>
              </a:ext>
            </a:extLst>
          </p:cNvPr>
          <p:cNvSpPr txBox="1"/>
          <p:nvPr/>
        </p:nvSpPr>
        <p:spPr>
          <a:xfrm>
            <a:off x="503567" y="798697"/>
            <a:ext cx="10793324" cy="3671583"/>
          </a:xfrm>
          <a:prstGeom prst="rect">
            <a:avLst/>
          </a:prstGeom>
          <a:noFill/>
        </p:spPr>
        <p:txBody>
          <a:bodyPr wrap="square">
            <a:spAutoFit/>
          </a:bodyPr>
          <a:lstStyle/>
          <a:p>
            <a:pPr algn="ctr">
              <a:lnSpc>
                <a:spcPct val="150000"/>
              </a:lnSpc>
            </a:pPr>
            <a:r>
              <a:rPr lang="en-AU" sz="4000" dirty="0"/>
              <a:t>What is the best way to </a:t>
            </a:r>
            <a:r>
              <a:rPr lang="en-AU" sz="4000" b="1" dirty="0"/>
              <a:t>display data </a:t>
            </a:r>
            <a:r>
              <a:rPr lang="en-AU" sz="4000" dirty="0"/>
              <a:t>involving </a:t>
            </a:r>
            <a:r>
              <a:rPr lang="en-AU" sz="4000" b="1" dirty="0"/>
              <a:t>large numbers</a:t>
            </a:r>
            <a:r>
              <a:rPr lang="en-AU" sz="4000" dirty="0"/>
              <a:t>, such as populations? </a:t>
            </a:r>
          </a:p>
          <a:p>
            <a:pPr algn="ctr">
              <a:lnSpc>
                <a:spcPct val="150000"/>
              </a:lnSpc>
            </a:pPr>
            <a:r>
              <a:rPr lang="en-AU" sz="4000" dirty="0"/>
              <a:t>Tally table? Column graph? Or dot plot?</a:t>
            </a:r>
          </a:p>
          <a:p>
            <a:pPr algn="ctr">
              <a:lnSpc>
                <a:spcPct val="150000"/>
              </a:lnSpc>
            </a:pPr>
            <a:r>
              <a:rPr lang="en-AU" sz="4000" b="1" dirty="0"/>
              <a:t>Communicate</a:t>
            </a:r>
            <a:r>
              <a:rPr lang="en-AU" sz="4000" dirty="0"/>
              <a:t> your</a:t>
            </a:r>
            <a:r>
              <a:rPr lang="en-AU" sz="4000" b="1" dirty="0"/>
              <a:t> reasoning</a:t>
            </a:r>
            <a:r>
              <a:rPr lang="en-AU" sz="4000" dirty="0"/>
              <a:t>.</a:t>
            </a:r>
          </a:p>
        </p:txBody>
      </p:sp>
      <p:pic>
        <p:nvPicPr>
          <p:cNvPr id="17" name="Picture 16" descr="A blank tally table">
            <a:extLst>
              <a:ext uri="{FF2B5EF4-FFF2-40B4-BE49-F238E27FC236}">
                <a16:creationId xmlns:a16="http://schemas.microsoft.com/office/drawing/2014/main" id="{BEA6DDD6-EEFE-201A-1BF2-9E9906961E9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0000" y="4535196"/>
            <a:ext cx="3435043" cy="1980000"/>
          </a:xfrm>
          <a:prstGeom prst="rect">
            <a:avLst/>
          </a:prstGeom>
          <a:ln>
            <a:noFill/>
          </a:ln>
          <a:effectLst>
            <a:outerShdw blurRad="292100" dist="139700" dir="2700000" algn="tl" rotWithShape="0">
              <a:srgbClr val="333333">
                <a:alpha val="65000"/>
              </a:srgbClr>
            </a:outerShdw>
          </a:effectLst>
        </p:spPr>
      </p:pic>
      <p:pic>
        <p:nvPicPr>
          <p:cNvPr id="2050" name="Picture 2" descr="A column graph.">
            <a:extLst>
              <a:ext uri="{FF2B5EF4-FFF2-40B4-BE49-F238E27FC236}">
                <a16:creationId xmlns:a16="http://schemas.microsoft.com/office/drawing/2014/main" id="{055E60D9-A98D-75BD-36F0-883FB15DBD7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523" t="12085" b="11299"/>
          <a:stretch>
            <a:fillRect/>
          </a:stretch>
        </p:blipFill>
        <p:spPr bwMode="auto">
          <a:xfrm>
            <a:off x="4225970" y="4518000"/>
            <a:ext cx="3095697" cy="198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3" descr="A dot plot. It has 4 columns of dots going up with different numbers of dots in each column.">
            <a:extLst>
              <a:ext uri="{FF2B5EF4-FFF2-40B4-BE49-F238E27FC236}">
                <a16:creationId xmlns:a16="http://schemas.microsoft.com/office/drawing/2014/main" id="{EBB776ED-C390-472E-5E6E-BBD8AD395BE2}"/>
              </a:ext>
            </a:extLst>
          </p:cNvPr>
          <p:cNvPicPr>
            <a:picLocks noChangeAspect="1"/>
          </p:cNvPicPr>
          <p:nvPr/>
        </p:nvPicPr>
        <p:blipFill>
          <a:blip r:embed="rId6"/>
          <a:srcRect l="11169" t="20134" r="8221" b="16955"/>
          <a:stretch>
            <a:fillRect/>
          </a:stretch>
        </p:blipFill>
        <p:spPr>
          <a:xfrm>
            <a:off x="7752595" y="4535196"/>
            <a:ext cx="4030714" cy="198000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364C7C4D-B9C0-3A9C-3DD6-111293FAC2FF}"/>
              </a:ext>
            </a:extLst>
          </p:cNvPr>
          <p:cNvSpPr txBox="1"/>
          <p:nvPr/>
        </p:nvSpPr>
        <p:spPr>
          <a:xfrm>
            <a:off x="486439" y="1102721"/>
            <a:ext cx="6097772" cy="901593"/>
          </a:xfrm>
          <a:prstGeom prst="rect">
            <a:avLst/>
          </a:prstGeom>
          <a:noFill/>
        </p:spPr>
        <p:txBody>
          <a:bodyPr wrap="square">
            <a:spAutoFit/>
          </a:bodyPr>
          <a:lstStyle/>
          <a:p>
            <a:pPr>
              <a:lnSpc>
                <a:spcPct val="150000"/>
              </a:lnSpc>
            </a:pPr>
            <a:r>
              <a:rPr lang="en-AU" sz="4000" dirty="0">
                <a:latin typeface="+mj-lt"/>
              </a:rPr>
              <a:t>Draw a strip, like this: </a:t>
            </a:r>
          </a:p>
        </p:txBody>
      </p:sp>
      <p:sp>
        <p:nvSpPr>
          <p:cNvPr id="7" name="Rectangle 6" descr="A short fraction strip.">
            <a:extLst>
              <a:ext uri="{FF2B5EF4-FFF2-40B4-BE49-F238E27FC236}">
                <a16:creationId xmlns:a16="http://schemas.microsoft.com/office/drawing/2014/main" id="{792FC58B-8ADD-3529-88D8-EC9E3B414585}"/>
              </a:ext>
              <a:ext uri="{C183D7F6-B498-43B3-948B-1728B52AA6E4}">
                <adec:decorative xmlns:adec="http://schemas.microsoft.com/office/drawing/2017/decorative" val="0"/>
              </a:ext>
            </a:extLst>
          </p:cNvPr>
          <p:cNvSpPr/>
          <p:nvPr/>
        </p:nvSpPr>
        <p:spPr>
          <a:xfrm>
            <a:off x="5969810" y="1290588"/>
            <a:ext cx="1674999" cy="713726"/>
          </a:xfrm>
          <a:prstGeom prst="rect">
            <a:avLst/>
          </a:prstGeom>
          <a:solidFill>
            <a:schemeClr val="tx2">
              <a:lumMod val="40000"/>
              <a:lumOff val="60000"/>
            </a:schemeClr>
          </a:solidFill>
          <a:ln w="28575">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911B641-6880-A254-E8BC-63B7BDD565B4}"/>
                  </a:ext>
                </a:extLst>
              </p:cNvPr>
              <p:cNvSpPr txBox="1"/>
              <p:nvPr/>
            </p:nvSpPr>
            <p:spPr>
              <a:xfrm>
                <a:off x="486439" y="2601952"/>
                <a:ext cx="11585976" cy="914400"/>
              </a:xfrm>
              <a:prstGeom prst="rect">
                <a:avLst/>
              </a:prstGeom>
              <a:noFill/>
            </p:spPr>
            <p:txBody>
              <a:bodyPr wrap="none" lIns="0" tIns="0" rIns="0" bIns="0" rtlCol="0">
                <a:noAutofit/>
              </a:bodyPr>
              <a:lstStyle/>
              <a:p>
                <a:pPr>
                  <a:lnSpc>
                    <a:spcPct val="150000"/>
                  </a:lnSpc>
                </a:pPr>
                <a:r>
                  <a:rPr lang="en-AU" sz="4000" dirty="0"/>
                  <a:t>If this strip is a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smtClean="0">
                            <a:latin typeface="Cambria Math" panose="02040503050406030204" pitchFamily="18" charset="0"/>
                          </a:rPr>
                          <m:t>𝟐</m:t>
                        </m:r>
                        <m:r>
                          <a:rPr lang="en-AU" sz="4000" b="1" i="1">
                            <a:latin typeface="Cambria Math" panose="02040503050406030204" pitchFamily="18" charset="0"/>
                          </a:rPr>
                          <m:t> </m:t>
                        </m:r>
                      </m:den>
                    </m:f>
                  </m:oMath>
                </a14:m>
                <a:r>
                  <a:rPr lang="en-AU" sz="4000" dirty="0"/>
                  <a:t>, draw the </a:t>
                </a:r>
                <a:r>
                  <a:rPr lang="en-AU" sz="4000" b="1" dirty="0"/>
                  <a:t>whole</a:t>
                </a:r>
                <a:r>
                  <a:rPr lang="en-AU" sz="4000" dirty="0"/>
                  <a:t>.</a:t>
                </a:r>
              </a:p>
              <a:p>
                <a:pPr algn="l">
                  <a:lnSpc>
                    <a:spcPct val="150000"/>
                  </a:lnSpc>
                </a:pPr>
                <a:r>
                  <a:rPr lang="en-AU" sz="4000" dirty="0"/>
                  <a:t>If this strip is a </a:t>
                </a:r>
                <a14:m>
                  <m:oMath xmlns:m="http://schemas.openxmlformats.org/officeDocument/2006/math">
                    <m:f>
                      <m:fPr>
                        <m:ctrlPr>
                          <a:rPr lang="en-AU" sz="4000" b="1" i="1" smtClean="0">
                            <a:latin typeface="Cambria Math" panose="02040503050406030204" pitchFamily="18" charset="0"/>
                          </a:rPr>
                        </m:ctrlPr>
                      </m:fPr>
                      <m:num>
                        <m:r>
                          <a:rPr lang="en-AU" sz="4000" b="1" i="1" smtClean="0">
                            <a:latin typeface="Cambria Math" panose="02040503050406030204" pitchFamily="18" charset="0"/>
                          </a:rPr>
                          <m:t>𝟏</m:t>
                        </m:r>
                      </m:num>
                      <m:den>
                        <m:r>
                          <a:rPr lang="en-AU" sz="4000" b="1" i="1" smtClean="0">
                            <a:latin typeface="Cambria Math" panose="02040503050406030204" pitchFamily="18" charset="0"/>
                          </a:rPr>
                          <m:t>𝟑</m:t>
                        </m:r>
                        <m:r>
                          <a:rPr lang="en-AU" sz="4000" b="1" i="1" smtClean="0">
                            <a:latin typeface="Cambria Math" panose="02040503050406030204" pitchFamily="18" charset="0"/>
                          </a:rPr>
                          <m:t> </m:t>
                        </m:r>
                      </m:den>
                    </m:f>
                  </m:oMath>
                </a14:m>
                <a:r>
                  <a:rPr lang="en-AU" sz="4000" dirty="0"/>
                  <a:t>, draw the </a:t>
                </a:r>
                <a:r>
                  <a:rPr lang="en-AU" sz="4000" b="1" dirty="0"/>
                  <a:t>whole</a:t>
                </a:r>
                <a:r>
                  <a:rPr lang="en-AU" sz="4000" dirty="0"/>
                  <a:t>.</a:t>
                </a:r>
              </a:p>
              <a:p>
                <a:pPr algn="l">
                  <a:lnSpc>
                    <a:spcPct val="150000"/>
                  </a:lnSpc>
                </a:pPr>
                <a:r>
                  <a:rPr lang="en-AU" sz="4000" dirty="0"/>
                  <a:t>If this strip is a </a:t>
                </a:r>
                <a14:m>
                  <m:oMath xmlns:m="http://schemas.openxmlformats.org/officeDocument/2006/math">
                    <m:f>
                      <m:fPr>
                        <m:ctrlPr>
                          <a:rPr lang="en-AU" sz="4000" b="1" i="1" dirty="0" smtClean="0">
                            <a:latin typeface="Cambria Math" panose="02040503050406030204" pitchFamily="18" charset="0"/>
                          </a:rPr>
                        </m:ctrlPr>
                      </m:fPr>
                      <m:num>
                        <m:r>
                          <a:rPr lang="en-AU" sz="4000" b="1" i="1" dirty="0" smtClean="0">
                            <a:latin typeface="Cambria Math" panose="02040503050406030204" pitchFamily="18" charset="0"/>
                          </a:rPr>
                          <m:t>𝟏</m:t>
                        </m:r>
                      </m:num>
                      <m:den>
                        <m:r>
                          <a:rPr lang="en-AU" sz="4000" b="1" i="1" dirty="0" smtClean="0">
                            <a:latin typeface="Cambria Math" panose="02040503050406030204" pitchFamily="18" charset="0"/>
                          </a:rPr>
                          <m:t>𝟒</m:t>
                        </m:r>
                      </m:den>
                    </m:f>
                  </m:oMath>
                </a14:m>
                <a:r>
                  <a:rPr lang="en-AU" sz="4000" dirty="0"/>
                  <a:t>, draw the </a:t>
                </a:r>
                <a:r>
                  <a:rPr lang="en-AU" sz="4000" b="1" dirty="0"/>
                  <a:t>whole</a:t>
                </a:r>
                <a:r>
                  <a:rPr lang="en-AU" sz="4000" dirty="0"/>
                  <a:t>.</a:t>
                </a:r>
              </a:p>
              <a:p>
                <a:pPr algn="l">
                  <a:lnSpc>
                    <a:spcPct val="150000"/>
                  </a:lnSpc>
                </a:pPr>
                <a:r>
                  <a:rPr lang="en-AU" sz="4000" dirty="0"/>
                  <a:t> </a:t>
                </a:r>
              </a:p>
            </p:txBody>
          </p:sp>
        </mc:Choice>
        <mc:Fallback xmlns="">
          <p:sp>
            <p:nvSpPr>
              <p:cNvPr id="9" name="TextBox 8">
                <a:extLst>
                  <a:ext uri="{FF2B5EF4-FFF2-40B4-BE49-F238E27FC236}">
                    <a16:creationId xmlns:a16="http://schemas.microsoft.com/office/drawing/2014/main" id="{6911B641-6880-A254-E8BC-63B7BDD565B4}"/>
                  </a:ext>
                </a:extLst>
              </p:cNvPr>
              <p:cNvSpPr txBox="1">
                <a:spLocks noRot="1" noChangeAspect="1" noMove="1" noResize="1" noEditPoints="1" noAdjustHandles="1" noChangeArrowheads="1" noChangeShapeType="1" noTextEdit="1"/>
              </p:cNvSpPr>
              <p:nvPr/>
            </p:nvSpPr>
            <p:spPr>
              <a:xfrm>
                <a:off x="486439" y="2601952"/>
                <a:ext cx="11585976" cy="914400"/>
              </a:xfrm>
              <a:prstGeom prst="rect">
                <a:avLst/>
              </a:prstGeom>
              <a:blipFill>
                <a:blip r:embed="rId4"/>
                <a:stretch>
                  <a:fillRect l="-2684" b="-338667"/>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dirty="0"/>
              <a:t>Short response </a:t>
            </a:r>
            <a:r>
              <a:rPr lang="en-US" dirty="0">
                <a:solidFill>
                  <a:schemeClr val="bg1"/>
                </a:solidFill>
              </a:rPr>
              <a:t>(4)</a:t>
            </a:r>
          </a:p>
        </p:txBody>
      </p:sp>
      <p:pic>
        <p:nvPicPr>
          <p:cNvPr id="19" name="Picture 18" descr="Image of a clipboard with a pencil recording short answer.">
            <a:extLst>
              <a:ext uri="{FF2B5EF4-FFF2-40B4-BE49-F238E27FC236}">
                <a16:creationId xmlns:a16="http://schemas.microsoft.com/office/drawing/2014/main" id="{C8833AF6-3264-7F9E-5F5C-12DDD1607D3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714211" y="162000"/>
            <a:ext cx="1105758" cy="1105758"/>
          </a:xfrm>
          <a:prstGeom prst="rect">
            <a:avLst/>
          </a:prstGeom>
        </p:spPr>
      </p:pic>
      <p:sp>
        <p:nvSpPr>
          <p:cNvPr id="7" name="TextBox 6">
            <a:extLst>
              <a:ext uri="{FF2B5EF4-FFF2-40B4-BE49-F238E27FC236}">
                <a16:creationId xmlns:a16="http://schemas.microsoft.com/office/drawing/2014/main" id="{9EA199C5-D61A-6B42-0967-1FF0D363777F}"/>
              </a:ext>
            </a:extLst>
          </p:cNvPr>
          <p:cNvSpPr txBox="1"/>
          <p:nvPr/>
        </p:nvSpPr>
        <p:spPr>
          <a:xfrm>
            <a:off x="924910" y="1184223"/>
            <a:ext cx="10199090" cy="3331779"/>
          </a:xfrm>
          <a:prstGeom prst="rect">
            <a:avLst/>
          </a:prstGeom>
          <a:noFill/>
        </p:spPr>
        <p:txBody>
          <a:bodyPr wrap="square" lIns="0" tIns="0" rIns="0" bIns="0" rtlCol="0">
            <a:noAutofit/>
          </a:bodyPr>
          <a:lstStyle/>
          <a:p>
            <a:pPr algn="ctr">
              <a:lnSpc>
                <a:spcPct val="150000"/>
              </a:lnSpc>
            </a:pPr>
            <a:r>
              <a:rPr lang="en-AU" sz="4400" b="1" dirty="0"/>
              <a:t>Create</a:t>
            </a:r>
            <a:r>
              <a:rPr lang="en-AU" sz="4400" dirty="0"/>
              <a:t> a list of </a:t>
            </a:r>
            <a:r>
              <a:rPr lang="en-AU" sz="4400" b="1" dirty="0"/>
              <a:t>categories</a:t>
            </a:r>
            <a:r>
              <a:rPr lang="en-AU" sz="4400" dirty="0"/>
              <a:t> for a matter of interest about </a:t>
            </a:r>
            <a:r>
              <a:rPr lang="en-AU" sz="4400" b="1" dirty="0"/>
              <a:t>favourite ice-cream flavours.</a:t>
            </a:r>
            <a:endParaRPr lang="en-AU" sz="4400" dirty="0"/>
          </a:p>
          <a:p>
            <a:pPr algn="ctr">
              <a:lnSpc>
                <a:spcPct val="150000"/>
              </a:lnSpc>
            </a:pPr>
            <a:endParaRPr lang="en-AU" sz="2200" dirty="0"/>
          </a:p>
          <a:p>
            <a:pPr algn="ctr">
              <a:lnSpc>
                <a:spcPct val="150000"/>
              </a:lnSpc>
            </a:pPr>
            <a:r>
              <a:rPr lang="en-AU" sz="4400" b="1" dirty="0"/>
              <a:t>Communicate </a:t>
            </a:r>
            <a:r>
              <a:rPr lang="en-AU" sz="4400" dirty="0"/>
              <a:t>your</a:t>
            </a:r>
            <a:r>
              <a:rPr lang="en-AU" sz="4400" b="1" dirty="0"/>
              <a:t> reasoning.</a:t>
            </a:r>
          </a:p>
          <a:p>
            <a:pPr algn="ctr">
              <a:lnSpc>
                <a:spcPct val="150000"/>
              </a:lnSpc>
            </a:pPr>
            <a:endParaRPr lang="en-AU" sz="4400" dirty="0"/>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64DB-5F09-057E-A26D-36E2DBD496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D6BCE7-144A-7E42-805C-8278F8CFAB17}"/>
              </a:ext>
            </a:extLst>
          </p:cNvPr>
          <p:cNvSpPr>
            <a:spLocks noGrp="1"/>
          </p:cNvSpPr>
          <p:nvPr>
            <p:ph type="title"/>
          </p:nvPr>
        </p:nvSpPr>
        <p:spPr>
          <a:xfrm>
            <a:off x="370935" y="264639"/>
            <a:ext cx="11484000" cy="545601"/>
          </a:xfrm>
        </p:spPr>
        <p:txBody>
          <a:bodyPr/>
          <a:lstStyle/>
          <a:p>
            <a:r>
              <a:rPr lang="en-AU"/>
              <a:t>Activity 1 – 5-digit numbers 1</a:t>
            </a:r>
          </a:p>
        </p:txBody>
      </p:sp>
      <p:pic>
        <p:nvPicPr>
          <p:cNvPr id="4" name="Picture 3" descr="image of a head with cogs turning inside">
            <a:extLst>
              <a:ext uri="{FF2B5EF4-FFF2-40B4-BE49-F238E27FC236}">
                <a16:creationId xmlns:a16="http://schemas.microsoft.com/office/drawing/2014/main" id="{F41C9F53-CEFB-32C7-09C7-9F207BB3BA5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wo whiteboards with 5-digit numbers used as a gameboard to record numbers on. Player 1's board shows 96 352 and Player 2's board shows 86 550.">
            <a:extLst>
              <a:ext uri="{FF2B5EF4-FFF2-40B4-BE49-F238E27FC236}">
                <a16:creationId xmlns:a16="http://schemas.microsoft.com/office/drawing/2014/main" id="{0FE952A3-5367-3095-97F4-F15EC64450D2}"/>
              </a:ext>
            </a:extLst>
          </p:cNvPr>
          <p:cNvPicPr>
            <a:picLocks noChangeAspect="1"/>
          </p:cNvPicPr>
          <p:nvPr/>
        </p:nvPicPr>
        <p:blipFill>
          <a:blip r:embed="rId4"/>
          <a:stretch>
            <a:fillRect/>
          </a:stretch>
        </p:blipFill>
        <p:spPr>
          <a:xfrm>
            <a:off x="1991387" y="942268"/>
            <a:ext cx="8243095" cy="5441704"/>
          </a:xfrm>
          <a:prstGeom prst="rect">
            <a:avLst/>
          </a:prstGeom>
        </p:spPr>
      </p:pic>
      <p:sp>
        <p:nvSpPr>
          <p:cNvPr id="2" name="Slide Number Placeholder 1">
            <a:extLst>
              <a:ext uri="{FF2B5EF4-FFF2-40B4-BE49-F238E27FC236}">
                <a16:creationId xmlns:a16="http://schemas.microsoft.com/office/drawing/2014/main" id="{D178B61A-4826-7A51-6CEA-A398F714EE1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88390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9A937-B25D-DA9E-CC31-09436D48B0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F75EB1-3A42-7A5D-446C-89815F5C2592}"/>
              </a:ext>
            </a:extLst>
          </p:cNvPr>
          <p:cNvSpPr>
            <a:spLocks noGrp="1"/>
          </p:cNvSpPr>
          <p:nvPr>
            <p:ph type="title"/>
          </p:nvPr>
        </p:nvSpPr>
        <p:spPr>
          <a:xfrm>
            <a:off x="360000" y="360000"/>
            <a:ext cx="10397115" cy="545601"/>
          </a:xfrm>
        </p:spPr>
        <p:txBody>
          <a:bodyPr/>
          <a:lstStyle/>
          <a:p>
            <a:r>
              <a:rPr lang="en-US" dirty="0"/>
              <a:t>True or false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1E4016BE-95F2-8916-DF8F-83C083E5E699}"/>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09B26F93-D341-C6F3-64B0-D69974E6C138}"/>
              </a:ext>
            </a:extLst>
          </p:cNvPr>
          <p:cNvSpPr>
            <a:spLocks noGrp="1"/>
          </p:cNvSpPr>
          <p:nvPr>
            <p:ph type="body" sz="quarter" idx="24"/>
          </p:nvPr>
        </p:nvSpPr>
        <p:spPr>
          <a:xfrm>
            <a:off x="948963" y="1750000"/>
            <a:ext cx="11243037" cy="893226"/>
          </a:xfrm>
        </p:spPr>
        <p:txBody>
          <a:bodyPr vert="horz" lIns="0" tIns="0" rIns="0" bIns="0" rtlCol="0" anchor="t">
            <a:noAutofit/>
          </a:bodyPr>
          <a:lstStyle/>
          <a:p>
            <a:r>
              <a:rPr lang="en-US" sz="4400">
                <a:latin typeface="Arial"/>
                <a:cs typeface="Arial"/>
              </a:rPr>
              <a:t> If I rearrange the digits in 546 433, the largest number I can make is 654 433.</a:t>
            </a:r>
          </a:p>
        </p:txBody>
      </p:sp>
      <p:graphicFrame>
        <p:nvGraphicFramePr>
          <p:cNvPr id="15" name="Table 14">
            <a:extLst>
              <a:ext uri="{FF2B5EF4-FFF2-40B4-BE49-F238E27FC236}">
                <a16:creationId xmlns:a16="http://schemas.microsoft.com/office/drawing/2014/main" id="{7B71098D-7852-360C-9181-D51C1E68E5A8}"/>
              </a:ext>
            </a:extLst>
          </p:cNvPr>
          <p:cNvGraphicFramePr>
            <a:graphicFrameLocks noGrp="1"/>
          </p:cNvGraphicFramePr>
          <p:nvPr>
            <p:extLst>
              <p:ext uri="{D42A27DB-BD31-4B8C-83A1-F6EECF244321}">
                <p14:modId xmlns:p14="http://schemas.microsoft.com/office/powerpoint/2010/main" val="902961178"/>
              </p:ext>
            </p:extLst>
          </p:nvPr>
        </p:nvGraphicFramePr>
        <p:xfrm>
          <a:off x="2557462" y="5129595"/>
          <a:ext cx="7077076" cy="742121"/>
        </p:xfrm>
        <a:graphic>
          <a:graphicData uri="http://schemas.openxmlformats.org/drawingml/2006/table">
            <a:tbl>
              <a:tblPr bandRow="1">
                <a:tableStyleId>{5A111915-BE36-4E01-A7E5-04B1672EAD32}</a:tableStyleId>
              </a:tblPr>
              <a:tblGrid>
                <a:gridCol w="3538538">
                  <a:extLst>
                    <a:ext uri="{9D8B030D-6E8A-4147-A177-3AD203B41FA5}">
                      <a16:colId xmlns:a16="http://schemas.microsoft.com/office/drawing/2014/main" val="2010651814"/>
                    </a:ext>
                  </a:extLst>
                </a:gridCol>
                <a:gridCol w="3538538">
                  <a:extLst>
                    <a:ext uri="{9D8B030D-6E8A-4147-A177-3AD203B41FA5}">
                      <a16:colId xmlns:a16="http://schemas.microsoft.com/office/drawing/2014/main" val="3934122634"/>
                    </a:ext>
                  </a:extLst>
                </a:gridCol>
              </a:tblGrid>
              <a:tr h="742121">
                <a:tc>
                  <a:txBody>
                    <a:bodyPr/>
                    <a:lstStyle/>
                    <a:p>
                      <a:pPr algn="ctr" rtl="0" fontAlgn="base">
                        <a:lnSpc>
                          <a:spcPts val="3975"/>
                        </a:lnSpc>
                        <a:buNone/>
                      </a:pPr>
                      <a:r>
                        <a:rPr lang="en-US" sz="4000" b="1" dirty="0">
                          <a:solidFill>
                            <a:srgbClr val="146CFD"/>
                          </a:solidFill>
                          <a:effectLst/>
                          <a:latin typeface="Arial" panose="020B0604020202020204" pitchFamily="34" charset="0"/>
                        </a:rPr>
                        <a:t>True</a:t>
                      </a:r>
                      <a:endParaRPr lang="en-US" b="1" dirty="0">
                        <a:solidFill>
                          <a:srgbClr val="FFFFFF"/>
                        </a:solidFill>
                        <a:effectLst/>
                      </a:endParaRPr>
                    </a:p>
                  </a:txBody>
                  <a:tcPr marL="75105" marR="75105" marT="37548" marB="375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3975"/>
                        </a:lnSpc>
                        <a:buNone/>
                      </a:pPr>
                      <a:r>
                        <a:rPr lang="en-US" sz="4000" b="1" dirty="0">
                          <a:solidFill>
                            <a:srgbClr val="146CFD"/>
                          </a:solidFill>
                          <a:effectLst/>
                          <a:latin typeface="Arial" panose="020B0604020202020204" pitchFamily="34" charset="0"/>
                        </a:rPr>
                        <a:t>False</a:t>
                      </a:r>
                      <a:endParaRPr lang="en-US" b="1" dirty="0">
                        <a:solidFill>
                          <a:srgbClr val="FFFFFF"/>
                        </a:solidFill>
                        <a:effectLst/>
                      </a:endParaRPr>
                    </a:p>
                  </a:txBody>
                  <a:tcPr marL="75105" marR="75105" marT="37548" marB="375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2920258"/>
                  </a:ext>
                </a:extLst>
              </a:tr>
            </a:tbl>
          </a:graphicData>
        </a:graphic>
      </p:graphicFrame>
      <p:sp>
        <p:nvSpPr>
          <p:cNvPr id="2" name="Slide Number Placeholder 1">
            <a:extLst>
              <a:ext uri="{FF2B5EF4-FFF2-40B4-BE49-F238E27FC236}">
                <a16:creationId xmlns:a16="http://schemas.microsoft.com/office/drawing/2014/main" id="{B2A87B94-1731-C634-AFC6-6500DE3D4F05}"/>
              </a:ext>
              <a:ext uri="{C183D7F6-B498-43B3-948B-1728B52AA6E4}">
                <adec:decorative xmlns:adec="http://schemas.microsoft.com/office/drawing/2017/decorative" val="1"/>
              </a:ext>
            </a:extLst>
          </p:cNvPr>
          <p:cNvSpPr>
            <a:spLocks noGrp="1"/>
          </p:cNvSpPr>
          <p:nvPr>
            <p:ph type="sldNum" sz="quarter" idx="12"/>
          </p:nvPr>
        </p:nvSpPr>
        <p:spPr>
          <a:xfrm>
            <a:off x="11146972" y="6627730"/>
            <a:ext cx="720000" cy="180000"/>
          </a:xfrm>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9582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pic>
        <p:nvPicPr>
          <p:cNvPr id="3" name="Picture 2" descr="image of a clipboard with a pencil recording short answer">
            <a:extLst>
              <a:ext uri="{FF2B5EF4-FFF2-40B4-BE49-F238E27FC236}">
                <a16:creationId xmlns:a16="http://schemas.microsoft.com/office/drawing/2014/main" id="{3BDDE108-B743-E59F-31B4-5F4FCBC7EB67}"/>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EEE9CBA-A718-26A2-31D0-013EB99386FF}"/>
              </a:ext>
            </a:extLst>
          </p:cNvPr>
          <p:cNvSpPr txBox="1"/>
          <p:nvPr/>
        </p:nvSpPr>
        <p:spPr>
          <a:xfrm>
            <a:off x="1494972" y="2931095"/>
            <a:ext cx="9774171" cy="784563"/>
          </a:xfrm>
          <a:prstGeom prst="rect">
            <a:avLst/>
          </a:prstGeom>
          <a:noFill/>
        </p:spPr>
        <p:txBody>
          <a:bodyPr wrap="square" lIns="0" tIns="0" rIns="0" bIns="0" rtlCol="0">
            <a:noAutofit/>
          </a:bodyPr>
          <a:lstStyle/>
          <a:p>
            <a:pPr algn="ctr"/>
            <a:r>
              <a:rPr lang="en-AU" sz="4400" b="1" dirty="0"/>
              <a:t>Record</a:t>
            </a:r>
            <a:r>
              <a:rPr lang="en-AU" sz="4400" dirty="0"/>
              <a:t> 48 356 in </a:t>
            </a:r>
            <a:r>
              <a:rPr lang="en-AU" sz="4400" b="1" dirty="0"/>
              <a:t>expanded notation</a:t>
            </a:r>
            <a:r>
              <a:rPr lang="en-AU" sz="4400" dirty="0"/>
              <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7D498-9910-1903-3A79-A3355E6378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4C7299E-A326-C918-CB58-691CBF98DFF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pic>
        <p:nvPicPr>
          <p:cNvPr id="3" name="Picture 2" descr="image of a clipboard with a pencil recording short answer">
            <a:extLst>
              <a:ext uri="{FF2B5EF4-FFF2-40B4-BE49-F238E27FC236}">
                <a16:creationId xmlns:a16="http://schemas.microsoft.com/office/drawing/2014/main" id="{28597055-BA10-8449-E0E3-C2A4E904E17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DF10786-6A4B-535F-2C7A-792162812D9B}"/>
              </a:ext>
            </a:extLst>
          </p:cNvPr>
          <p:cNvSpPr txBox="1"/>
          <p:nvPr/>
        </p:nvSpPr>
        <p:spPr>
          <a:xfrm>
            <a:off x="708000" y="1072869"/>
            <a:ext cx="10549815" cy="3264061"/>
          </a:xfrm>
          <a:prstGeom prst="rect">
            <a:avLst/>
          </a:prstGeom>
          <a:noFill/>
        </p:spPr>
        <p:txBody>
          <a:bodyPr wrap="square" lIns="0" tIns="0" rIns="0" bIns="0" rtlCol="0">
            <a:noAutofit/>
          </a:bodyPr>
          <a:lstStyle/>
          <a:p>
            <a:pPr algn="ctr">
              <a:lnSpc>
                <a:spcPct val="200000"/>
              </a:lnSpc>
            </a:pPr>
            <a:r>
              <a:rPr lang="en-AU" sz="4400" dirty="0"/>
              <a:t>Create a question that would involve </a:t>
            </a:r>
            <a:r>
              <a:rPr lang="en-AU" sz="4400" b="1" dirty="0"/>
              <a:t>collecting data </a:t>
            </a:r>
            <a:r>
              <a:rPr lang="en-AU" sz="4400" dirty="0"/>
              <a:t>in </a:t>
            </a:r>
            <a:r>
              <a:rPr lang="en-AU" sz="4400" b="1" dirty="0"/>
              <a:t>categories.</a:t>
            </a:r>
            <a:r>
              <a:rPr lang="en-AU" sz="4400" dirty="0"/>
              <a:t> </a:t>
            </a:r>
          </a:p>
          <a:p>
            <a:pPr algn="ctr">
              <a:lnSpc>
                <a:spcPct val="200000"/>
              </a:lnSpc>
            </a:pPr>
            <a:endParaRPr lang="en-AU" sz="4400" b="1" dirty="0"/>
          </a:p>
          <a:p>
            <a:pPr algn="ctr">
              <a:lnSpc>
                <a:spcPct val="200000"/>
              </a:lnSpc>
            </a:pPr>
            <a:r>
              <a:rPr lang="en-AU" sz="4400" b="1" dirty="0"/>
              <a:t>Communicate your reasoning.</a:t>
            </a:r>
            <a:endParaRPr lang="en-AU" sz="4400" dirty="0"/>
          </a:p>
          <a:p>
            <a:pPr algn="l"/>
            <a:endParaRPr lang="en-AU" sz="3200" dirty="0"/>
          </a:p>
          <a:p>
            <a:pPr algn="l"/>
            <a:endParaRPr lang="en-AU" sz="1800" dirty="0"/>
          </a:p>
        </p:txBody>
      </p:sp>
      <p:sp>
        <p:nvSpPr>
          <p:cNvPr id="2" name="Slide Number Placeholder 1">
            <a:extLst>
              <a:ext uri="{FF2B5EF4-FFF2-40B4-BE49-F238E27FC236}">
                <a16:creationId xmlns:a16="http://schemas.microsoft.com/office/drawing/2014/main" id="{758F0A04-7018-7027-09B3-B9B28F1B6E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419116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F7E0E3E-FEA7-B24F-F1D9-DF8072EEFBEB}"/>
                  </a:ext>
                </a:extLst>
              </p:cNvPr>
              <p:cNvSpPr txBox="1"/>
              <p:nvPr/>
            </p:nvSpPr>
            <p:spPr>
              <a:xfrm>
                <a:off x="571727" y="1347798"/>
                <a:ext cx="7288575" cy="914400"/>
              </a:xfrm>
              <a:prstGeom prst="rect">
                <a:avLst/>
              </a:prstGeom>
              <a:noFill/>
            </p:spPr>
            <p:txBody>
              <a:bodyPr wrap="square" lIns="0" tIns="0" rIns="0" bIns="0" rtlCol="0">
                <a:noAutofit/>
              </a:bodyPr>
              <a:lstStyle/>
              <a:p>
                <a:pPr>
                  <a:lnSpc>
                    <a:spcPct val="150000"/>
                  </a:lnSpc>
                </a:pPr>
                <a:r>
                  <a:rPr lang="en-AU" sz="4400" dirty="0">
                    <a:latin typeface="+mj-lt"/>
                  </a:rPr>
                  <a:t>A tree has reached </a:t>
                </a:r>
                <a14:m>
                  <m:oMath xmlns:m="http://schemas.openxmlformats.org/officeDocument/2006/math">
                    <m:f>
                      <m:fPr>
                        <m:ctrlPr>
                          <a:rPr lang="en-AU" sz="4400" b="1" i="1" dirty="0" smtClean="0">
                            <a:latin typeface="Cambria Math" panose="02040503050406030204" pitchFamily="18" charset="0"/>
                          </a:rPr>
                        </m:ctrlPr>
                      </m:fPr>
                      <m:num>
                        <m:r>
                          <a:rPr lang="en-AU" sz="4400" b="1" i="1" dirty="0" smtClean="0">
                            <a:latin typeface="Cambria Math" panose="02040503050406030204" pitchFamily="18" charset="0"/>
                          </a:rPr>
                          <m:t>𝟏</m:t>
                        </m:r>
                      </m:num>
                      <m:den>
                        <m:r>
                          <a:rPr lang="en-AU" sz="4400" b="1" i="1" dirty="0" smtClean="0">
                            <a:latin typeface="Cambria Math" panose="02040503050406030204" pitchFamily="18" charset="0"/>
                          </a:rPr>
                          <m:t>𝟑</m:t>
                        </m:r>
                      </m:den>
                    </m:f>
                  </m:oMath>
                </a14:m>
                <a:r>
                  <a:rPr lang="en-AU" sz="4400" b="1" dirty="0">
                    <a:latin typeface="+mj-lt"/>
                  </a:rPr>
                  <a:t> </a:t>
                </a:r>
                <a:r>
                  <a:rPr lang="en-AU" sz="4400" dirty="0">
                    <a:latin typeface="+mj-lt"/>
                  </a:rPr>
                  <a:t>of its full </a:t>
                </a:r>
                <a:r>
                  <a:rPr lang="en-AU" sz="4400" b="1" dirty="0">
                    <a:latin typeface="+mj-lt"/>
                  </a:rPr>
                  <a:t>height</a:t>
                </a:r>
                <a:r>
                  <a:rPr lang="en-AU" sz="4400" dirty="0">
                    <a:latin typeface="+mj-lt"/>
                  </a:rPr>
                  <a:t>. What is the </a:t>
                </a:r>
                <a:r>
                  <a:rPr lang="en-AU" sz="4400" b="1" dirty="0">
                    <a:latin typeface="+mj-lt"/>
                  </a:rPr>
                  <a:t>remaining fraction </a:t>
                </a:r>
                <a:r>
                  <a:rPr lang="en-AU" sz="4400" dirty="0">
                    <a:latin typeface="+mj-lt"/>
                  </a:rPr>
                  <a:t>until the tree is </a:t>
                </a:r>
                <a:r>
                  <a:rPr lang="en-AU" sz="4400" b="1" dirty="0">
                    <a:latin typeface="+mj-lt"/>
                  </a:rPr>
                  <a:t>fully grown</a:t>
                </a:r>
                <a:r>
                  <a:rPr lang="en-AU" sz="4400" dirty="0">
                    <a:latin typeface="+mj-lt"/>
                  </a:rPr>
                  <a:t>? </a:t>
                </a:r>
              </a:p>
            </p:txBody>
          </p:sp>
        </mc:Choice>
        <mc:Fallback xmlns="">
          <p:sp>
            <p:nvSpPr>
              <p:cNvPr id="7" name="TextBox 6">
                <a:extLst>
                  <a:ext uri="{FF2B5EF4-FFF2-40B4-BE49-F238E27FC236}">
                    <a16:creationId xmlns:a16="http://schemas.microsoft.com/office/drawing/2014/main" id="{1F7E0E3E-FEA7-B24F-F1D9-DF8072EEFBEB}"/>
                  </a:ext>
                </a:extLst>
              </p:cNvPr>
              <p:cNvSpPr txBox="1">
                <a:spLocks noRot="1" noChangeAspect="1" noMove="1" noResize="1" noEditPoints="1" noAdjustHandles="1" noChangeArrowheads="1" noChangeShapeType="1" noTextEdit="1"/>
              </p:cNvSpPr>
              <p:nvPr/>
            </p:nvSpPr>
            <p:spPr>
              <a:xfrm>
                <a:off x="571727" y="1347798"/>
                <a:ext cx="7288575" cy="914400"/>
              </a:xfrm>
              <a:prstGeom prst="rect">
                <a:avLst/>
              </a:prstGeom>
              <a:blipFill>
                <a:blip r:embed="rId4"/>
                <a:stretch>
                  <a:fillRect l="-4686" r="-2678" b="-412000"/>
                </a:stretch>
              </a:blipFill>
            </p:spPr>
            <p:txBody>
              <a:bodyPr/>
              <a:lstStyle/>
              <a:p>
                <a:r>
                  <a:rPr lang="en-AU">
                    <a:noFill/>
                  </a:rPr>
                  <a:t> </a:t>
                </a:r>
              </a:p>
            </p:txBody>
          </p:sp>
        </mc:Fallback>
      </mc:AlternateContent>
      <p:pic>
        <p:nvPicPr>
          <p:cNvPr id="5" name="Picture 4" descr="s one third">
            <a:extLst>
              <a:ext uri="{FF2B5EF4-FFF2-40B4-BE49-F238E27FC236}">
                <a16:creationId xmlns:a16="http://schemas.microsoft.com/office/drawing/2014/main" id="{DDCC72EF-13B4-DD0F-CCD3-04315EA96832}"/>
              </a:ext>
            </a:extLst>
          </p:cNvPr>
          <p:cNvPicPr>
            <a:picLocks noChangeAspect="1"/>
          </p:cNvPicPr>
          <p:nvPr/>
        </p:nvPicPr>
        <p:blipFill>
          <a:blip r:embed="rId5"/>
          <a:stretch>
            <a:fillRect/>
          </a:stretch>
        </p:blipFill>
        <p:spPr>
          <a:xfrm>
            <a:off x="8223632" y="360000"/>
            <a:ext cx="2806844" cy="6115364"/>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pic>
        <p:nvPicPr>
          <p:cNvPr id="3" name="Picture 2" descr="image of a clipboard with a pencil recording short answer">
            <a:extLst>
              <a:ext uri="{FF2B5EF4-FFF2-40B4-BE49-F238E27FC236}">
                <a16:creationId xmlns:a16="http://schemas.microsoft.com/office/drawing/2014/main" id="{9C8770A4-A467-8E0A-C417-8D3F46A5320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07C8E441-8CE9-7603-E9FF-CAB7EB8FAE26}"/>
              </a:ext>
            </a:extLst>
          </p:cNvPr>
          <p:cNvSpPr txBox="1"/>
          <p:nvPr/>
        </p:nvSpPr>
        <p:spPr>
          <a:xfrm>
            <a:off x="507663" y="997758"/>
            <a:ext cx="11438313" cy="5056577"/>
          </a:xfrm>
          <a:prstGeom prst="rect">
            <a:avLst/>
          </a:prstGeom>
          <a:noFill/>
        </p:spPr>
        <p:txBody>
          <a:bodyPr wrap="square">
            <a:spAutoFit/>
          </a:bodyPr>
          <a:lstStyle/>
          <a:p>
            <a:pPr>
              <a:lnSpc>
                <a:spcPct val="150000"/>
              </a:lnSpc>
              <a:spcBef>
                <a:spcPts val="600"/>
              </a:spcBef>
              <a:spcAft>
                <a:spcPts val="1200"/>
              </a:spcAft>
            </a:pPr>
            <a:r>
              <a:rPr lang="en-AU" sz="4000" dirty="0"/>
              <a:t>Which </a:t>
            </a:r>
            <a:r>
              <a:rPr lang="en-AU" sz="4000" b="1" dirty="0"/>
              <a:t>3D objects </a:t>
            </a:r>
            <a:r>
              <a:rPr lang="en-AU" sz="4000" dirty="0"/>
              <a:t>have </a:t>
            </a:r>
            <a:r>
              <a:rPr lang="en-AU" sz="4000" b="1" dirty="0"/>
              <a:t>faces</a:t>
            </a:r>
            <a:r>
              <a:rPr lang="en-AU" sz="4000" dirty="0"/>
              <a:t> that are all </a:t>
            </a:r>
            <a:r>
              <a:rPr lang="en-AU" sz="4000" b="1" dirty="0"/>
              <a:t>rectangles</a:t>
            </a:r>
            <a:r>
              <a:rPr lang="en-AU" sz="4000" dirty="0"/>
              <a:t> or </a:t>
            </a:r>
            <a:r>
              <a:rPr lang="en-AU" sz="4000" b="1" dirty="0"/>
              <a:t>squares</a:t>
            </a:r>
            <a:r>
              <a:rPr lang="en-AU" sz="4000" dirty="0"/>
              <a:t> and two identical </a:t>
            </a:r>
            <a:r>
              <a:rPr lang="en-AU" sz="4000" b="1" dirty="0"/>
              <a:t>parallel bases</a:t>
            </a:r>
            <a:r>
              <a:rPr lang="en-AU" sz="4000" dirty="0"/>
              <a:t>?</a:t>
            </a:r>
          </a:p>
          <a:p>
            <a:pPr marL="571500" indent="-571500">
              <a:lnSpc>
                <a:spcPct val="150000"/>
              </a:lnSpc>
              <a:spcBef>
                <a:spcPts val="600"/>
              </a:spcBef>
              <a:spcAft>
                <a:spcPts val="1200"/>
              </a:spcAft>
              <a:buFont typeface="Arial" panose="020B0604020202020204" pitchFamily="34" charset="0"/>
              <a:buChar char="•"/>
            </a:pPr>
            <a:r>
              <a:rPr lang="en-AU" sz="4000" dirty="0"/>
              <a:t>Is it a</a:t>
            </a:r>
            <a:r>
              <a:rPr lang="en-AU" sz="4000" b="1" dirty="0"/>
              <a:t> prism, </a:t>
            </a:r>
            <a:r>
              <a:rPr lang="en-AU" sz="4000" dirty="0"/>
              <a:t>a</a:t>
            </a:r>
            <a:r>
              <a:rPr lang="en-AU" sz="4000" b="1" dirty="0"/>
              <a:t> pyramid, </a:t>
            </a:r>
            <a:r>
              <a:rPr lang="en-AU" sz="4000" dirty="0"/>
              <a:t>or a </a:t>
            </a:r>
            <a:r>
              <a:rPr lang="en-AU" sz="4000" b="1" dirty="0"/>
              <a:t>cylinder</a:t>
            </a:r>
            <a:r>
              <a:rPr lang="en-AU" sz="4000" dirty="0"/>
              <a:t>? </a:t>
            </a:r>
          </a:p>
          <a:p>
            <a:pPr marL="571500" indent="-571500">
              <a:lnSpc>
                <a:spcPct val="150000"/>
              </a:lnSpc>
              <a:spcBef>
                <a:spcPts val="600"/>
              </a:spcBef>
              <a:spcAft>
                <a:spcPts val="1200"/>
              </a:spcAft>
              <a:buFont typeface="Arial" panose="020B0604020202020204" pitchFamily="34" charset="0"/>
              <a:buChar char="•"/>
            </a:pPr>
            <a:r>
              <a:rPr lang="en-AU" sz="4000" dirty="0"/>
              <a:t>Draw the </a:t>
            </a:r>
            <a:r>
              <a:rPr lang="en-AU" sz="4000" b="1" dirty="0"/>
              <a:t>object</a:t>
            </a:r>
            <a:r>
              <a:rPr lang="en-AU" sz="4000" dirty="0"/>
              <a:t> and </a:t>
            </a:r>
            <a:r>
              <a:rPr lang="en-AU" sz="4000" b="1" dirty="0"/>
              <a:t>justify</a:t>
            </a:r>
            <a:r>
              <a:rPr lang="en-AU" sz="4000" dirty="0"/>
              <a:t> your answer.</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D4995-E1AA-1803-4189-C5EBE2D3A0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EF6CD5-93F9-B732-DB74-CCCAB10DD851}"/>
              </a:ext>
            </a:extLst>
          </p:cNvPr>
          <p:cNvSpPr>
            <a:spLocks noGrp="1"/>
          </p:cNvSpPr>
          <p:nvPr>
            <p:ph type="title"/>
          </p:nvPr>
        </p:nvSpPr>
        <p:spPr>
          <a:xfrm>
            <a:off x="360000" y="360000"/>
            <a:ext cx="11484000" cy="545601"/>
          </a:xfrm>
        </p:spPr>
        <p:txBody>
          <a:bodyPr/>
          <a:lstStyle/>
          <a:p>
            <a:r>
              <a:rPr lang="en-AU" dirty="0"/>
              <a:t>Activity 2 –  5-digit numbers 2</a:t>
            </a:r>
          </a:p>
        </p:txBody>
      </p:sp>
      <p:pic>
        <p:nvPicPr>
          <p:cNvPr id="4" name="Picture 3" descr="image of a head with cogs turning inside">
            <a:extLst>
              <a:ext uri="{FF2B5EF4-FFF2-40B4-BE49-F238E27FC236}">
                <a16:creationId xmlns:a16="http://schemas.microsoft.com/office/drawing/2014/main" id="{7872CF60-F2DD-CB4A-F6C8-29AEC0483A9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 name="Picture 5" descr="Two whiteboards with 5-digit numbers used as a gameboard to record numbers on. Player 1's board shows 10 345 and Player 2's board shows 12 456.">
            <a:extLst>
              <a:ext uri="{FF2B5EF4-FFF2-40B4-BE49-F238E27FC236}">
                <a16:creationId xmlns:a16="http://schemas.microsoft.com/office/drawing/2014/main" id="{830DE5F6-DA07-D472-F9F6-45EAE6F0CE4C}"/>
              </a:ext>
            </a:extLst>
          </p:cNvPr>
          <p:cNvPicPr>
            <a:picLocks noChangeAspect="1"/>
          </p:cNvPicPr>
          <p:nvPr/>
        </p:nvPicPr>
        <p:blipFill>
          <a:blip r:embed="rId4"/>
          <a:srcRect t="8675"/>
          <a:stretch>
            <a:fillRect/>
          </a:stretch>
        </p:blipFill>
        <p:spPr>
          <a:xfrm>
            <a:off x="1704000" y="1024707"/>
            <a:ext cx="8784000" cy="5606716"/>
          </a:xfrm>
          <a:prstGeom prst="rect">
            <a:avLst/>
          </a:prstGeom>
          <a:ln>
            <a:noFill/>
          </a:ln>
          <a:effectLst/>
        </p:spPr>
      </p:pic>
      <p:sp>
        <p:nvSpPr>
          <p:cNvPr id="2" name="Slide Number Placeholder 1">
            <a:extLst>
              <a:ext uri="{FF2B5EF4-FFF2-40B4-BE49-F238E27FC236}">
                <a16:creationId xmlns:a16="http://schemas.microsoft.com/office/drawing/2014/main" id="{AF3929C9-A483-49FB-24CC-5B7D6E3EFFB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93475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latin typeface="Arial"/>
                <a:cs typeface="Arial"/>
              </a:rPr>
              <a:t>Multiple choice </a:t>
            </a:r>
            <a:r>
              <a:rPr lang="en-US" dirty="0">
                <a:solidFill>
                  <a:schemeClr val="bg1"/>
                </a:solidFill>
                <a:latin typeface="Arial"/>
                <a:cs typeface="Aria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24" name="Picture 23" descr="Place value houses for recording 6-digit numbers. The left house is labelled “Thousands” and has three columns labelled H, T, O with the digits 5 under H, 3 under T and 2 under O. The right house has three columns labelled H, T, O with the digits 1 under H, 7 under T and 8 under O..">
            <a:extLst>
              <a:ext uri="{FF2B5EF4-FFF2-40B4-BE49-F238E27FC236}">
                <a16:creationId xmlns:a16="http://schemas.microsoft.com/office/drawing/2014/main" id="{4CEF4671-557C-6645-7AD5-1BA8E4F468FE}"/>
              </a:ext>
            </a:extLst>
          </p:cNvPr>
          <p:cNvPicPr>
            <a:picLocks noChangeAspect="1"/>
          </p:cNvPicPr>
          <p:nvPr/>
        </p:nvPicPr>
        <p:blipFill>
          <a:blip r:embed="rId4"/>
          <a:srcRect b="29810"/>
          <a:stretch>
            <a:fillRect/>
          </a:stretch>
        </p:blipFill>
        <p:spPr>
          <a:xfrm>
            <a:off x="3152274" y="750478"/>
            <a:ext cx="6857958" cy="1572235"/>
          </a:xfrm>
          <a:prstGeom prst="rect">
            <a:avLst/>
          </a:prstGeom>
        </p:spPr>
      </p:pic>
      <p:sp>
        <p:nvSpPr>
          <p:cNvPr id="28" name="TextBox 27">
            <a:extLst>
              <a:ext uri="{FF2B5EF4-FFF2-40B4-BE49-F238E27FC236}">
                <a16:creationId xmlns:a16="http://schemas.microsoft.com/office/drawing/2014/main" id="{71D15644-AF71-CE4D-AF13-E1A91876372F}"/>
              </a:ext>
            </a:extLst>
          </p:cNvPr>
          <p:cNvSpPr txBox="1"/>
          <p:nvPr/>
        </p:nvSpPr>
        <p:spPr>
          <a:xfrm>
            <a:off x="442713" y="2226464"/>
            <a:ext cx="10800325" cy="820674"/>
          </a:xfrm>
          <a:prstGeom prst="rect">
            <a:avLst/>
          </a:prstGeom>
          <a:noFill/>
        </p:spPr>
        <p:txBody>
          <a:bodyPr wrap="square">
            <a:spAutoFit/>
          </a:bodyPr>
          <a:lstStyle/>
          <a:p>
            <a:pPr>
              <a:lnSpc>
                <a:spcPct val="150000"/>
              </a:lnSpc>
            </a:pPr>
            <a:r>
              <a:rPr lang="en-AU" sz="3600"/>
              <a:t>This number in non-standard partitioning is:</a:t>
            </a:r>
          </a:p>
        </p:txBody>
      </p:sp>
      <p:sp>
        <p:nvSpPr>
          <p:cNvPr id="13" name="TextBox 12">
            <a:extLst>
              <a:ext uri="{FF2B5EF4-FFF2-40B4-BE49-F238E27FC236}">
                <a16:creationId xmlns:a16="http://schemas.microsoft.com/office/drawing/2014/main" id="{C1182F43-C229-B744-BF90-173AC0D225E6}"/>
              </a:ext>
            </a:extLst>
          </p:cNvPr>
          <p:cNvSpPr txBox="1"/>
          <p:nvPr/>
        </p:nvSpPr>
        <p:spPr>
          <a:xfrm>
            <a:off x="611095" y="32090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25" name="TextBox 24">
            <a:extLst>
              <a:ext uri="{FF2B5EF4-FFF2-40B4-BE49-F238E27FC236}">
                <a16:creationId xmlns:a16="http://schemas.microsoft.com/office/drawing/2014/main" id="{9AE18D96-19EF-3C1C-35BD-C5FE5E182795}"/>
              </a:ext>
            </a:extLst>
          </p:cNvPr>
          <p:cNvSpPr txBox="1"/>
          <p:nvPr/>
        </p:nvSpPr>
        <p:spPr>
          <a:xfrm>
            <a:off x="1329852" y="3300719"/>
            <a:ext cx="1569227" cy="914400"/>
          </a:xfrm>
          <a:prstGeom prst="rect">
            <a:avLst/>
          </a:prstGeom>
          <a:noFill/>
        </p:spPr>
        <p:txBody>
          <a:bodyPr wrap="none" lIns="0" tIns="0" rIns="0" bIns="0" rtlCol="0" anchor="t">
            <a:noAutofit/>
          </a:bodyPr>
          <a:lstStyle/>
          <a:p>
            <a:r>
              <a:rPr lang="en-AU" sz="3600" dirty="0">
                <a:cs typeface="Arial"/>
              </a:rPr>
              <a:t>520 000 + 178  </a:t>
            </a:r>
          </a:p>
        </p:txBody>
      </p:sp>
      <p:sp>
        <p:nvSpPr>
          <p:cNvPr id="12" name="TextBox 11">
            <a:extLst>
              <a:ext uri="{FF2B5EF4-FFF2-40B4-BE49-F238E27FC236}">
                <a16:creationId xmlns:a16="http://schemas.microsoft.com/office/drawing/2014/main" id="{3021B79B-06FD-F6DD-1F12-B73CA7A4C226}"/>
              </a:ext>
            </a:extLst>
          </p:cNvPr>
          <p:cNvSpPr txBox="1"/>
          <p:nvPr/>
        </p:nvSpPr>
        <p:spPr>
          <a:xfrm>
            <a:off x="611095" y="4215119"/>
            <a:ext cx="42924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0" name="TextBox 9">
            <a:extLst>
              <a:ext uri="{FF2B5EF4-FFF2-40B4-BE49-F238E27FC236}">
                <a16:creationId xmlns:a16="http://schemas.microsoft.com/office/drawing/2014/main" id="{02A8CD01-1818-35BE-754E-15219171F8E6}"/>
              </a:ext>
            </a:extLst>
          </p:cNvPr>
          <p:cNvSpPr txBox="1"/>
          <p:nvPr/>
        </p:nvSpPr>
        <p:spPr>
          <a:xfrm>
            <a:off x="1311164" y="4237932"/>
            <a:ext cx="8699068" cy="646331"/>
          </a:xfrm>
          <a:prstGeom prst="rect">
            <a:avLst/>
          </a:prstGeom>
          <a:noFill/>
        </p:spPr>
        <p:txBody>
          <a:bodyPr wrap="square">
            <a:spAutoFit/>
          </a:bodyPr>
          <a:lstStyle/>
          <a:p>
            <a:r>
              <a:rPr lang="en-AU" sz="3600" dirty="0">
                <a:cs typeface="Arial"/>
              </a:rPr>
              <a:t>400 000 + 130 000 + 2100 + 70 + 8</a:t>
            </a:r>
          </a:p>
        </p:txBody>
      </p:sp>
      <p:sp>
        <p:nvSpPr>
          <p:cNvPr id="11" name="TextBox 10">
            <a:extLst>
              <a:ext uri="{FF2B5EF4-FFF2-40B4-BE49-F238E27FC236}">
                <a16:creationId xmlns:a16="http://schemas.microsoft.com/office/drawing/2014/main" id="{2CF41C47-5ABC-3456-5DB1-5F65579415DD}"/>
              </a:ext>
            </a:extLst>
          </p:cNvPr>
          <p:cNvSpPr txBox="1"/>
          <p:nvPr/>
        </p:nvSpPr>
        <p:spPr>
          <a:xfrm>
            <a:off x="561000" y="51746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23" name="TextBox 22">
            <a:extLst>
              <a:ext uri="{FF2B5EF4-FFF2-40B4-BE49-F238E27FC236}">
                <a16:creationId xmlns:a16="http://schemas.microsoft.com/office/drawing/2014/main" id="{3146B892-8DE9-D849-3BCC-98ED1E537FA8}"/>
              </a:ext>
            </a:extLst>
          </p:cNvPr>
          <p:cNvSpPr txBox="1"/>
          <p:nvPr/>
        </p:nvSpPr>
        <p:spPr>
          <a:xfrm>
            <a:off x="1329852" y="5256209"/>
            <a:ext cx="7925870" cy="914400"/>
          </a:xfrm>
          <a:prstGeom prst="rect">
            <a:avLst/>
          </a:prstGeom>
          <a:noFill/>
        </p:spPr>
        <p:txBody>
          <a:bodyPr wrap="none" lIns="0" tIns="0" rIns="0" bIns="0" rtlCol="0">
            <a:noAutofit/>
          </a:bodyPr>
          <a:lstStyle/>
          <a:p>
            <a:pPr algn="l"/>
            <a:r>
              <a:rPr lang="en-AU" sz="3600" dirty="0"/>
              <a:t>500 000 + 30 000 + 2000 + 100 + 70 + 8</a:t>
            </a:r>
          </a:p>
        </p:txBody>
      </p:sp>
      <p:sp>
        <p:nvSpPr>
          <p:cNvPr id="14" name="TextBox 13">
            <a:extLst>
              <a:ext uri="{FF2B5EF4-FFF2-40B4-BE49-F238E27FC236}">
                <a16:creationId xmlns:a16="http://schemas.microsoft.com/office/drawing/2014/main" id="{F910B5D5-AFF9-A752-C581-8D751468701C}"/>
              </a:ext>
            </a:extLst>
          </p:cNvPr>
          <p:cNvSpPr txBox="1"/>
          <p:nvPr/>
        </p:nvSpPr>
        <p:spPr>
          <a:xfrm>
            <a:off x="632288" y="60495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6" name="TextBox 15">
            <a:extLst>
              <a:ext uri="{FF2B5EF4-FFF2-40B4-BE49-F238E27FC236}">
                <a16:creationId xmlns:a16="http://schemas.microsoft.com/office/drawing/2014/main" id="{93E5F014-EF7C-9A04-0AA9-9A3D12ED83AE}"/>
              </a:ext>
            </a:extLst>
          </p:cNvPr>
          <p:cNvSpPr txBox="1"/>
          <p:nvPr/>
        </p:nvSpPr>
        <p:spPr>
          <a:xfrm>
            <a:off x="1329852" y="6237636"/>
            <a:ext cx="9546318" cy="914400"/>
          </a:xfrm>
          <a:prstGeom prst="rect">
            <a:avLst/>
          </a:prstGeom>
          <a:noFill/>
        </p:spPr>
        <p:txBody>
          <a:bodyPr wrap="none" lIns="0" tIns="0" rIns="0" bIns="0" rtlCol="0">
            <a:noAutofit/>
          </a:bodyPr>
          <a:lstStyle/>
          <a:p>
            <a:pPr algn="l"/>
            <a:r>
              <a:rPr lang="en-AU" sz="3600"/>
              <a:t>5000 + 3000 + 2000 + 178</a:t>
            </a:r>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a:xfrm>
            <a:off x="11243038" y="6514836"/>
            <a:ext cx="720000" cy="180000"/>
          </a:xfrm>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2A43A-669D-B849-62C8-91E29D707E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6579-EA81-D66F-9235-CC6C0113D028}"/>
              </a:ext>
            </a:extLst>
          </p:cNvPr>
          <p:cNvSpPr>
            <a:spLocks noGrp="1"/>
          </p:cNvSpPr>
          <p:nvPr>
            <p:ph type="title"/>
          </p:nvPr>
        </p:nvSpPr>
        <p:spPr/>
        <p:txBody>
          <a:bodyPr/>
          <a:lstStyle/>
          <a:p>
            <a:r>
              <a:rPr lang="en-AU" dirty="0">
                <a:latin typeface="+mj-lt"/>
              </a:rPr>
              <a:t>Short response </a:t>
            </a:r>
            <a:r>
              <a:rPr lang="en-AU" dirty="0">
                <a:solidFill>
                  <a:schemeClr val="bg1"/>
                </a:solidFill>
                <a:latin typeface="+mj-lt"/>
              </a:rPr>
              <a:t>(9)</a:t>
            </a:r>
          </a:p>
        </p:txBody>
      </p:sp>
      <p:pic>
        <p:nvPicPr>
          <p:cNvPr id="4" name="Picture 3" descr="image of a clipboard with a pencil recording short answer">
            <a:extLst>
              <a:ext uri="{FF2B5EF4-FFF2-40B4-BE49-F238E27FC236}">
                <a16:creationId xmlns:a16="http://schemas.microsoft.com/office/drawing/2014/main" id="{6FEE7275-2EF3-CC9C-7B58-B68DD870611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B29F649B-E0A3-0E9B-DEDD-130139FB957F}"/>
              </a:ext>
            </a:extLst>
          </p:cNvPr>
          <p:cNvSpPr txBox="1"/>
          <p:nvPr/>
        </p:nvSpPr>
        <p:spPr>
          <a:xfrm>
            <a:off x="461976" y="1335648"/>
            <a:ext cx="11484000" cy="769441"/>
          </a:xfrm>
          <a:prstGeom prst="rect">
            <a:avLst/>
          </a:prstGeom>
          <a:noFill/>
        </p:spPr>
        <p:txBody>
          <a:bodyPr wrap="square">
            <a:spAutoFit/>
          </a:bodyPr>
          <a:lstStyle/>
          <a:p>
            <a:r>
              <a:rPr lang="en-AU" sz="4400" dirty="0"/>
              <a:t>Partition this number in a </a:t>
            </a:r>
            <a:r>
              <a:rPr lang="en-AU" sz="4400" b="1" dirty="0"/>
              <a:t>non-standard</a:t>
            </a:r>
            <a:r>
              <a:rPr lang="en-AU" sz="4400" dirty="0"/>
              <a:t> way.</a:t>
            </a:r>
          </a:p>
        </p:txBody>
      </p:sp>
      <p:pic>
        <p:nvPicPr>
          <p:cNvPr id="19" name="Picture 18" descr="A place value chart showing two three-digit groups. The first roof is labelled 'Thousands'. The columns in the first house  are labelled: H, T, O and in the second house, H, T, O. In the first house, the hundred thousands column shows 1, the ten thousands column shows 2, and the thousands column shows 5. In the second house, the hundreds column shows 9, the tens column shows 0, and the ones column shows 7.">
            <a:extLst>
              <a:ext uri="{FF2B5EF4-FFF2-40B4-BE49-F238E27FC236}">
                <a16:creationId xmlns:a16="http://schemas.microsoft.com/office/drawing/2014/main" id="{DF2C79AF-DE0F-66DF-E5EE-988B86166ED5}"/>
              </a:ext>
            </a:extLst>
          </p:cNvPr>
          <p:cNvPicPr>
            <a:picLocks noChangeAspect="1"/>
          </p:cNvPicPr>
          <p:nvPr/>
        </p:nvPicPr>
        <p:blipFill>
          <a:blip r:embed="rId4"/>
          <a:stretch>
            <a:fillRect/>
          </a:stretch>
        </p:blipFill>
        <p:spPr>
          <a:xfrm>
            <a:off x="1270047" y="2607284"/>
            <a:ext cx="9375982" cy="2282234"/>
          </a:xfrm>
          <a:prstGeom prst="rect">
            <a:avLst/>
          </a:prstGeom>
        </p:spPr>
      </p:pic>
      <p:sp>
        <p:nvSpPr>
          <p:cNvPr id="6" name="TextBox 5">
            <a:extLst>
              <a:ext uri="{FF2B5EF4-FFF2-40B4-BE49-F238E27FC236}">
                <a16:creationId xmlns:a16="http://schemas.microsoft.com/office/drawing/2014/main" id="{363B9084-F457-973A-9288-63B2D74A32C8}"/>
              </a:ext>
            </a:extLst>
          </p:cNvPr>
          <p:cNvSpPr txBox="1"/>
          <p:nvPr/>
        </p:nvSpPr>
        <p:spPr>
          <a:xfrm>
            <a:off x="904366" y="5316512"/>
            <a:ext cx="10823344" cy="769441"/>
          </a:xfrm>
          <a:prstGeom prst="rect">
            <a:avLst/>
          </a:prstGeom>
          <a:noFill/>
        </p:spPr>
        <p:txBody>
          <a:bodyPr wrap="square">
            <a:spAutoFit/>
          </a:bodyPr>
          <a:lstStyle/>
          <a:p>
            <a:r>
              <a:rPr lang="en-AU" sz="4400" dirty="0"/>
              <a:t>How many </a:t>
            </a:r>
            <a:r>
              <a:rPr lang="en-AU" sz="4400" b="1" dirty="0"/>
              <a:t>100</a:t>
            </a:r>
            <a:r>
              <a:rPr lang="en-AU" sz="4400" dirty="0"/>
              <a:t>s are there in this number?</a:t>
            </a:r>
          </a:p>
        </p:txBody>
      </p:sp>
      <p:sp>
        <p:nvSpPr>
          <p:cNvPr id="2" name="Slide Number Placeholder 1">
            <a:extLst>
              <a:ext uri="{FF2B5EF4-FFF2-40B4-BE49-F238E27FC236}">
                <a16:creationId xmlns:a16="http://schemas.microsoft.com/office/drawing/2014/main" id="{4CB2DF7A-FADF-1DD7-9861-CBC4DCA572F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20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7503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45C9B-296B-D9AA-84B4-03BC136602D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473D6F-9D6D-3303-23FC-C1A322C2B2B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pic>
        <p:nvPicPr>
          <p:cNvPr id="3" name="Picture 2" descr="image of a clipboard with a pencil recording short answer">
            <a:extLst>
              <a:ext uri="{FF2B5EF4-FFF2-40B4-BE49-F238E27FC236}">
                <a16:creationId xmlns:a16="http://schemas.microsoft.com/office/drawing/2014/main" id="{5EF7AA9F-EAF1-3F79-6226-02DD43AE9BF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6547C913-6BCC-3B3E-F77D-2E42365A617E}"/>
              </a:ext>
            </a:extLst>
          </p:cNvPr>
          <p:cNvSpPr txBox="1"/>
          <p:nvPr/>
        </p:nvSpPr>
        <p:spPr>
          <a:xfrm>
            <a:off x="1248937" y="772009"/>
            <a:ext cx="9875063" cy="982513"/>
          </a:xfrm>
          <a:prstGeom prst="rect">
            <a:avLst/>
          </a:prstGeom>
          <a:noFill/>
        </p:spPr>
        <p:txBody>
          <a:bodyPr wrap="square">
            <a:spAutoFit/>
          </a:bodyPr>
          <a:lstStyle/>
          <a:p>
            <a:pPr algn="l">
              <a:lnSpc>
                <a:spcPct val="150000"/>
              </a:lnSpc>
            </a:pPr>
            <a:r>
              <a:rPr lang="en-AU" sz="4400" dirty="0"/>
              <a:t>Here are</a:t>
            </a:r>
            <a:r>
              <a:rPr lang="en-AU" sz="4400" b="1" dirty="0"/>
              <a:t> the results </a:t>
            </a:r>
            <a:r>
              <a:rPr lang="en-AU" sz="4400" dirty="0"/>
              <a:t>from a </a:t>
            </a:r>
            <a:r>
              <a:rPr lang="en-AU" sz="4400" b="1" dirty="0"/>
              <a:t>survey. </a:t>
            </a:r>
          </a:p>
        </p:txBody>
      </p:sp>
      <p:pic>
        <p:nvPicPr>
          <p:cNvPr id="17" name="Picture 16" descr="A two-row tally table is shown.&#10;&#10;The first row is labelled Green. In the tally cell there are 11 tally marks, shown as two groups of five (each group has four vertical lines with a diagonal slash) plus one extra tally mark.&#10;&#10;The second row is labelled Blue. In the tally cell there are 8 tally marks, shown as one group of five plus three extra tally marks.">
            <a:extLst>
              <a:ext uri="{FF2B5EF4-FFF2-40B4-BE49-F238E27FC236}">
                <a16:creationId xmlns:a16="http://schemas.microsoft.com/office/drawing/2014/main" id="{18CED728-008B-45CF-7EE2-43F473DB57F1}"/>
              </a:ext>
            </a:extLst>
          </p:cNvPr>
          <p:cNvPicPr>
            <a:picLocks noChangeAspect="1"/>
          </p:cNvPicPr>
          <p:nvPr/>
        </p:nvPicPr>
        <p:blipFill>
          <a:blip r:embed="rId4"/>
          <a:stretch>
            <a:fillRect/>
          </a:stretch>
        </p:blipFill>
        <p:spPr>
          <a:xfrm>
            <a:off x="1142499" y="1947453"/>
            <a:ext cx="9439776" cy="2963094"/>
          </a:xfrm>
          <a:prstGeom prst="rect">
            <a:avLst/>
          </a:prstGeom>
        </p:spPr>
      </p:pic>
      <p:sp>
        <p:nvSpPr>
          <p:cNvPr id="16" name="TextBox 15">
            <a:extLst>
              <a:ext uri="{FF2B5EF4-FFF2-40B4-BE49-F238E27FC236}">
                <a16:creationId xmlns:a16="http://schemas.microsoft.com/office/drawing/2014/main" id="{16257B98-A390-9181-E85D-DA4B178F1318}"/>
              </a:ext>
            </a:extLst>
          </p:cNvPr>
          <p:cNvSpPr txBox="1"/>
          <p:nvPr/>
        </p:nvSpPr>
        <p:spPr>
          <a:xfrm>
            <a:off x="622160" y="4757215"/>
            <a:ext cx="11128615" cy="914400"/>
          </a:xfrm>
          <a:prstGeom prst="rect">
            <a:avLst/>
          </a:prstGeom>
          <a:noFill/>
        </p:spPr>
        <p:txBody>
          <a:bodyPr wrap="square" lIns="0" tIns="0" rIns="0" bIns="0" rtlCol="0">
            <a:noAutofit/>
          </a:bodyPr>
          <a:lstStyle/>
          <a:p>
            <a:pPr algn="ctr">
              <a:lnSpc>
                <a:spcPct val="150000"/>
              </a:lnSpc>
            </a:pPr>
            <a:r>
              <a:rPr lang="en-AU" sz="4000" dirty="0"/>
              <a:t>What might the </a:t>
            </a:r>
            <a:r>
              <a:rPr lang="en-AU" sz="4000" b="1" dirty="0"/>
              <a:t>survey</a:t>
            </a:r>
            <a:r>
              <a:rPr lang="en-AU" sz="4000" dirty="0"/>
              <a:t> have been about? </a:t>
            </a:r>
          </a:p>
          <a:p>
            <a:pPr algn="ctr">
              <a:lnSpc>
                <a:spcPct val="150000"/>
              </a:lnSpc>
            </a:pPr>
            <a:r>
              <a:rPr lang="en-AU" sz="4000" b="1" dirty="0"/>
              <a:t>Communicate </a:t>
            </a:r>
            <a:r>
              <a:rPr lang="en-AU" sz="4000" dirty="0"/>
              <a:t>your </a:t>
            </a:r>
            <a:r>
              <a:rPr lang="en-AU" sz="4000" b="1" dirty="0"/>
              <a:t>reasoning.</a:t>
            </a:r>
            <a:endParaRPr lang="en-AU" sz="4000" dirty="0"/>
          </a:p>
          <a:p>
            <a:pPr algn="l"/>
            <a:endParaRPr lang="en-AU" sz="1800" dirty="0"/>
          </a:p>
        </p:txBody>
      </p:sp>
      <p:sp>
        <p:nvSpPr>
          <p:cNvPr id="2" name="Slide Number Placeholder 1">
            <a:extLst>
              <a:ext uri="{FF2B5EF4-FFF2-40B4-BE49-F238E27FC236}">
                <a16:creationId xmlns:a16="http://schemas.microsoft.com/office/drawing/2014/main" id="{20747E6D-DAC3-F4F0-8982-CCF2CDB0934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39385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Short response </a:t>
            </a:r>
            <a:r>
              <a:rPr lang="en-US" dirty="0">
                <a:solidFill>
                  <a:schemeClr val="bg1"/>
                </a:solidFill>
              </a:rPr>
              <a:t>(11)</a:t>
            </a:r>
          </a:p>
        </p:txBody>
      </p:sp>
      <p:pic>
        <p:nvPicPr>
          <p:cNvPr id="5" name="Picture 4" descr="image of a clipboard with a pencil recording short answer">
            <a:extLst>
              <a:ext uri="{FF2B5EF4-FFF2-40B4-BE49-F238E27FC236}">
                <a16:creationId xmlns:a16="http://schemas.microsoft.com/office/drawing/2014/main" id="{63AF69FA-C218-1DE0-674F-4D70EF0AB1B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23712" y="0"/>
            <a:ext cx="920576" cy="914479"/>
          </a:xfrm>
          <a:prstGeom prst="rect">
            <a:avLst/>
          </a:prstGeom>
        </p:spPr>
      </p:pic>
      <mc:AlternateContent xmlns:mc="http://schemas.openxmlformats.org/markup-compatibility/2006" xmlns:a14="http://schemas.microsoft.com/office/drawing/2010/main">
        <mc:Choice Requires="a14">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600963" y="1194243"/>
                <a:ext cx="11243037" cy="754243"/>
              </a:xfrm>
            </p:spPr>
            <p:txBody>
              <a:bodyPr/>
              <a:lstStyle/>
              <a:p>
                <a:pPr algn="ctr"/>
                <a14:m>
                  <m:oMath xmlns:m="http://schemas.openxmlformats.org/officeDocument/2006/math">
                    <m:f>
                      <m:fPr>
                        <m:ctrlPr>
                          <a:rPr lang="en-US" sz="4400" b="1" i="1" dirty="0" smtClean="0">
                            <a:latin typeface="Cambria Math" panose="02040503050406030204" pitchFamily="18" charset="0"/>
                          </a:rPr>
                        </m:ctrlPr>
                      </m:fPr>
                      <m:num>
                        <m:r>
                          <a:rPr lang="en-AU" sz="4400" b="1" i="1" dirty="0" smtClean="0">
                            <a:latin typeface="Cambria Math" panose="02040503050406030204" pitchFamily="18" charset="0"/>
                          </a:rPr>
                          <m:t>𝟑</m:t>
                        </m:r>
                      </m:num>
                      <m:den>
                        <m:r>
                          <a:rPr lang="en-AU" sz="4400" b="1" i="1" dirty="0" smtClean="0">
                            <a:latin typeface="Cambria Math" panose="02040503050406030204" pitchFamily="18" charset="0"/>
                          </a:rPr>
                          <m:t>𝟒</m:t>
                        </m:r>
                      </m:den>
                    </m:f>
                  </m:oMath>
                </a14:m>
                <a:r>
                  <a:rPr lang="en-US" sz="4400" dirty="0"/>
                  <a:t> is the same as how many </a:t>
                </a:r>
                <a:r>
                  <a:rPr lang="en-US" sz="4400" b="1" dirty="0"/>
                  <a:t>eighths</a:t>
                </a:r>
                <a:r>
                  <a:rPr lang="en-US" sz="4400" dirty="0"/>
                  <a:t>?</a:t>
                </a:r>
              </a:p>
              <a:p>
                <a:pPr algn="ctr"/>
                <a:r>
                  <a:rPr lang="en-US" sz="4400" dirty="0"/>
                  <a:t>Show this on a </a:t>
                </a:r>
                <a:r>
                  <a:rPr lang="en-US" sz="4400" b="1" dirty="0"/>
                  <a:t>fraction strip</a:t>
                </a:r>
                <a:r>
                  <a:rPr lang="en-US" sz="4400" dirty="0"/>
                  <a:t>.</a:t>
                </a:r>
              </a:p>
            </p:txBody>
          </p:sp>
        </mc:Choice>
        <mc:Fallback xmlns="">
          <p:sp>
            <p:nvSpPr>
              <p:cNvPr id="15" name="Text Placeholder">
                <a:extLst>
                  <a:ext uri="{FF2B5EF4-FFF2-40B4-BE49-F238E27FC236}">
                    <a16:creationId xmlns:a16="http://schemas.microsoft.com/office/drawing/2014/main" id="{9C7C84D9-7468-F57D-99F1-C58A56040A58}"/>
                  </a:ext>
                </a:extLst>
              </p:cNvPr>
              <p:cNvSpPr>
                <a:spLocks noGrp="1" noRot="1" noChangeAspect="1" noMove="1" noResize="1" noEditPoints="1" noAdjustHandles="1" noChangeArrowheads="1" noChangeShapeType="1" noTextEdit="1"/>
              </p:cNvSpPr>
              <p:nvPr>
                <p:ph type="body" sz="quarter" idx="28"/>
              </p:nvPr>
            </p:nvSpPr>
            <p:spPr>
              <a:xfrm>
                <a:off x="600963" y="1194243"/>
                <a:ext cx="11243037" cy="754243"/>
              </a:xfrm>
              <a:blipFill>
                <a:blip r:embed="rId4"/>
                <a:stretch>
                  <a:fillRect b="-262097"/>
                </a:stretch>
              </a:blipFill>
            </p:spPr>
            <p:txBody>
              <a:bodyPr/>
              <a:lstStyle/>
              <a:p>
                <a:r>
                  <a:rPr lang="en-AU">
                    <a:noFill/>
                  </a:rPr>
                  <a:t> </a:t>
                </a:r>
              </a:p>
            </p:txBody>
          </p:sp>
        </mc:Fallback>
      </mc:AlternateContent>
      <p:sp>
        <p:nvSpPr>
          <p:cNvPr id="20" name="Rectangle 19" descr="Long rectangle representing a fraction strip">
            <a:extLst>
              <a:ext uri="{FF2B5EF4-FFF2-40B4-BE49-F238E27FC236}">
                <a16:creationId xmlns:a16="http://schemas.microsoft.com/office/drawing/2014/main" id="{30E23147-3E3C-7014-4326-517019C981EC}"/>
              </a:ext>
              <a:ext uri="{C183D7F6-B498-43B3-948B-1728B52AA6E4}">
                <adec:decorative xmlns:adec="http://schemas.microsoft.com/office/drawing/2017/decorative" val="0"/>
              </a:ext>
            </a:extLst>
          </p:cNvPr>
          <p:cNvSpPr/>
          <p:nvPr/>
        </p:nvSpPr>
        <p:spPr>
          <a:xfrm>
            <a:off x="968991" y="4563312"/>
            <a:ext cx="10155009" cy="1005195"/>
          </a:xfrm>
          <a:prstGeom prst="rect">
            <a:avLst/>
          </a:prstGeom>
          <a:solidFill>
            <a:srgbClr val="447F2F"/>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7" name="TextBox 6">
            <a:extLst>
              <a:ext uri="{FF2B5EF4-FFF2-40B4-BE49-F238E27FC236}">
                <a16:creationId xmlns:a16="http://schemas.microsoft.com/office/drawing/2014/main" id="{F20802E0-49AC-3BDE-AC72-8217B76F9B09}"/>
              </a:ext>
            </a:extLst>
          </p:cNvPr>
          <p:cNvSpPr txBox="1"/>
          <p:nvPr/>
        </p:nvSpPr>
        <p:spPr>
          <a:xfrm>
            <a:off x="1067999" y="1184223"/>
            <a:ext cx="914400" cy="914400"/>
          </a:xfrm>
          <a:prstGeom prst="rect">
            <a:avLst/>
          </a:prstGeom>
          <a:noFill/>
        </p:spPr>
        <p:txBody>
          <a:bodyPr wrap="none" lIns="0" tIns="0" rIns="0" bIns="0" rtlCol="0">
            <a:noAutofit/>
          </a:bodyPr>
          <a:lstStyle/>
          <a:p>
            <a:r>
              <a:rPr lang="en-AU" sz="4000" dirty="0"/>
              <a:t>Record the </a:t>
            </a:r>
            <a:r>
              <a:rPr lang="en-AU" sz="4000" b="1" dirty="0"/>
              <a:t>time </a:t>
            </a:r>
            <a:r>
              <a:rPr lang="en-AU" sz="4000" dirty="0"/>
              <a:t>shown on the clock in words.</a:t>
            </a:r>
          </a:p>
          <a:p>
            <a:pPr algn="l"/>
            <a:endParaRPr lang="en-AU" sz="4000" dirty="0"/>
          </a:p>
        </p:txBody>
      </p:sp>
      <p:pic>
        <p:nvPicPr>
          <p:cNvPr id="8" name="Picture 7" descr="An analog clock shows the long hand  pointing to the 10 and the short hand pointing almost to the 2.">
            <a:extLst>
              <a:ext uri="{FF2B5EF4-FFF2-40B4-BE49-F238E27FC236}">
                <a16:creationId xmlns:a16="http://schemas.microsoft.com/office/drawing/2014/main" id="{A3D69241-2E2E-80EC-0B44-BCFF753C9D9C}"/>
              </a:ext>
            </a:extLst>
          </p:cNvPr>
          <p:cNvPicPr>
            <a:picLocks noChangeAspect="1"/>
          </p:cNvPicPr>
          <p:nvPr/>
        </p:nvPicPr>
        <p:blipFill>
          <a:blip r:embed="rId4"/>
          <a:stretch>
            <a:fillRect/>
          </a:stretch>
        </p:blipFill>
        <p:spPr>
          <a:xfrm>
            <a:off x="4039992" y="2211339"/>
            <a:ext cx="4264035" cy="3991207"/>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arranging numbers in ascending order</a:t>
            </a:r>
          </a:p>
        </p:txBody>
      </p:sp>
      <p:pic>
        <p:nvPicPr>
          <p:cNvPr id="5" name="Picture 4" descr="image of a head with cogs turning inside">
            <a:extLst>
              <a:ext uri="{FF2B5EF4-FFF2-40B4-BE49-F238E27FC236}">
                <a16:creationId xmlns:a16="http://schemas.microsoft.com/office/drawing/2014/main" id="{009D0554-765B-7480-765E-02FDCC17B4FC}"/>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 name="Picture 3" descr="Ascending order gameboard starting at 10 000 then 18 boxes leading to the number 99 999 The boxes are for students to fill in the missing numbers.">
            <a:extLst>
              <a:ext uri="{FF2B5EF4-FFF2-40B4-BE49-F238E27FC236}">
                <a16:creationId xmlns:a16="http://schemas.microsoft.com/office/drawing/2014/main" id="{563497ED-3B3F-6D10-6C31-6EB609FC860C}"/>
              </a:ext>
            </a:extLst>
          </p:cNvPr>
          <p:cNvPicPr>
            <a:picLocks noChangeAspect="1"/>
          </p:cNvPicPr>
          <p:nvPr/>
        </p:nvPicPr>
        <p:blipFill>
          <a:blip r:embed="rId4"/>
          <a:stretch>
            <a:fillRect/>
          </a:stretch>
        </p:blipFill>
        <p:spPr>
          <a:xfrm>
            <a:off x="1862776" y="905601"/>
            <a:ext cx="8229400" cy="58216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78389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1E10-EBF3-D88F-9D3C-AE353CDDCE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AA30B1-4689-4C52-AAC8-75105054B0F3}"/>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D2C6A4F1-4C7C-01F8-8A33-4422D3BD3F06}"/>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19" name="Table 18">
            <a:extLst>
              <a:ext uri="{FF2B5EF4-FFF2-40B4-BE49-F238E27FC236}">
                <a16:creationId xmlns:a16="http://schemas.microsoft.com/office/drawing/2014/main" id="{74FC5EA8-0D62-ED80-A954-56CC42B9D164}"/>
              </a:ext>
            </a:extLst>
          </p:cNvPr>
          <p:cNvGraphicFramePr>
            <a:graphicFrameLocks noGrp="1"/>
          </p:cNvGraphicFramePr>
          <p:nvPr>
            <p:extLst>
              <p:ext uri="{D42A27DB-BD31-4B8C-83A1-F6EECF244321}">
                <p14:modId xmlns:p14="http://schemas.microsoft.com/office/powerpoint/2010/main" val="1993837435"/>
              </p:ext>
            </p:extLst>
          </p:nvPr>
        </p:nvGraphicFramePr>
        <p:xfrm>
          <a:off x="1917518" y="1969358"/>
          <a:ext cx="8890392" cy="3440842"/>
        </p:xfrm>
        <a:graphic>
          <a:graphicData uri="http://schemas.openxmlformats.org/drawingml/2006/table">
            <a:tbl>
              <a:tblPr firstRow="1" bandRow="1">
                <a:tableStyleId>{17292A2E-F333-43FB-9621-5CBBE7FDCDCB}</a:tableStyleId>
              </a:tblPr>
              <a:tblGrid>
                <a:gridCol w="1481732">
                  <a:extLst>
                    <a:ext uri="{9D8B030D-6E8A-4147-A177-3AD203B41FA5}">
                      <a16:colId xmlns:a16="http://schemas.microsoft.com/office/drawing/2014/main" val="3927373465"/>
                    </a:ext>
                  </a:extLst>
                </a:gridCol>
                <a:gridCol w="1481732">
                  <a:extLst>
                    <a:ext uri="{9D8B030D-6E8A-4147-A177-3AD203B41FA5}">
                      <a16:colId xmlns:a16="http://schemas.microsoft.com/office/drawing/2014/main" val="3241866160"/>
                    </a:ext>
                  </a:extLst>
                </a:gridCol>
                <a:gridCol w="1481732">
                  <a:extLst>
                    <a:ext uri="{9D8B030D-6E8A-4147-A177-3AD203B41FA5}">
                      <a16:colId xmlns:a16="http://schemas.microsoft.com/office/drawing/2014/main" val="567051310"/>
                    </a:ext>
                  </a:extLst>
                </a:gridCol>
                <a:gridCol w="1481732">
                  <a:extLst>
                    <a:ext uri="{9D8B030D-6E8A-4147-A177-3AD203B41FA5}">
                      <a16:colId xmlns:a16="http://schemas.microsoft.com/office/drawing/2014/main" val="1026142893"/>
                    </a:ext>
                  </a:extLst>
                </a:gridCol>
                <a:gridCol w="1481732">
                  <a:extLst>
                    <a:ext uri="{9D8B030D-6E8A-4147-A177-3AD203B41FA5}">
                      <a16:colId xmlns:a16="http://schemas.microsoft.com/office/drawing/2014/main" val="1463147129"/>
                    </a:ext>
                  </a:extLst>
                </a:gridCol>
                <a:gridCol w="1481732">
                  <a:extLst>
                    <a:ext uri="{9D8B030D-6E8A-4147-A177-3AD203B41FA5}">
                      <a16:colId xmlns:a16="http://schemas.microsoft.com/office/drawing/2014/main" val="3157484578"/>
                    </a:ext>
                  </a:extLst>
                </a:gridCol>
              </a:tblGrid>
              <a:tr h="413808">
                <a:tc>
                  <a:txBody>
                    <a:bodyPr/>
                    <a:lstStyle/>
                    <a:p>
                      <a:pPr algn="ctr"/>
                      <a:r>
                        <a:rPr lang="en-AU">
                          <a:solidFill>
                            <a:schemeClr val="tx1"/>
                          </a:solidFill>
                        </a:rPr>
                        <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a:solidFill>
                            <a:schemeClr val="tx1"/>
                          </a:solidFill>
                        </a:rPr>
                        <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9623836"/>
                  </a:ext>
                </a:extLst>
              </a:tr>
              <a:tr h="782267">
                <a:tc>
                  <a:txBody>
                    <a:bodyPr/>
                    <a:lstStyle/>
                    <a:p>
                      <a:pPr algn="ctr"/>
                      <a:r>
                        <a:rPr lang="en-AU" sz="4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6700184"/>
                  </a:ext>
                </a:extLst>
              </a:tr>
              <a:tr h="1462500">
                <a:tc gridSpan="6">
                  <a:txBody>
                    <a:bodyPr/>
                    <a:lstStyle/>
                    <a:p>
                      <a:pPr algn="ctr"/>
                      <a:r>
                        <a:rPr lang="en-AU" sz="4000" dirty="0"/>
                        <a:t>This number in </a:t>
                      </a:r>
                      <a:r>
                        <a:rPr lang="en-AU" sz="4000" b="1" dirty="0"/>
                        <a:t>non-standard partitioning </a:t>
                      </a:r>
                      <a:r>
                        <a:rPr lang="en-AU" sz="4000" dirty="0"/>
                        <a:t>is the same as: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AU" sz="4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AU" sz="4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AU" sz="4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AU" sz="4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AU" sz="4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9101827"/>
                  </a:ext>
                </a:extLst>
              </a:tr>
              <a:tr h="782267">
                <a:tc>
                  <a:txBody>
                    <a:bodyPr/>
                    <a:lstStyle/>
                    <a:p>
                      <a:pPr algn="ctr"/>
                      <a:r>
                        <a:rPr lang="en-AU" sz="4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AU" sz="4000" dirty="0"/>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937041"/>
                  </a:ext>
                </a:extLst>
              </a:tr>
            </a:tbl>
          </a:graphicData>
        </a:graphic>
      </p:graphicFrame>
      <p:grpSp>
        <p:nvGrpSpPr>
          <p:cNvPr id="8" name="Group 7">
            <a:extLst>
              <a:ext uri="{FF2B5EF4-FFF2-40B4-BE49-F238E27FC236}">
                <a16:creationId xmlns:a16="http://schemas.microsoft.com/office/drawing/2014/main" id="{C967031F-F1E1-3ED7-2A55-22BC5EA162DA}"/>
              </a:ext>
              <a:ext uri="{C183D7F6-B498-43B3-948B-1728B52AA6E4}">
                <adec:decorative xmlns:adec="http://schemas.microsoft.com/office/drawing/2017/decorative" val="1"/>
              </a:ext>
            </a:extLst>
          </p:cNvPr>
          <p:cNvGrpSpPr/>
          <p:nvPr/>
        </p:nvGrpSpPr>
        <p:grpSpPr>
          <a:xfrm>
            <a:off x="1904920" y="1229223"/>
            <a:ext cx="8902988" cy="740135"/>
            <a:chOff x="3237603" y="583093"/>
            <a:chExt cx="8153198" cy="740135"/>
          </a:xfrm>
        </p:grpSpPr>
        <p:sp>
          <p:nvSpPr>
            <p:cNvPr id="20" name="Isosceles Triangle 19">
              <a:extLst>
                <a:ext uri="{FF2B5EF4-FFF2-40B4-BE49-F238E27FC236}">
                  <a16:creationId xmlns:a16="http://schemas.microsoft.com/office/drawing/2014/main" id="{0AB997D4-4349-608C-F6B4-7AA422A67F95}"/>
                </a:ext>
              </a:extLst>
            </p:cNvPr>
            <p:cNvSpPr/>
            <p:nvPr/>
          </p:nvSpPr>
          <p:spPr>
            <a:xfrm>
              <a:off x="3237603" y="583093"/>
              <a:ext cx="4111802" cy="73866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Thousands</a:t>
              </a:r>
            </a:p>
          </p:txBody>
        </p:sp>
        <p:sp>
          <p:nvSpPr>
            <p:cNvPr id="21" name="Isosceles Triangle 20">
              <a:extLst>
                <a:ext uri="{FF2B5EF4-FFF2-40B4-BE49-F238E27FC236}">
                  <a16:creationId xmlns:a16="http://schemas.microsoft.com/office/drawing/2014/main" id="{E136C20F-F729-0BF8-C09A-7DE390CCCEE7}"/>
                </a:ext>
              </a:extLst>
            </p:cNvPr>
            <p:cNvSpPr/>
            <p:nvPr/>
          </p:nvSpPr>
          <p:spPr>
            <a:xfrm>
              <a:off x="7278999" y="584564"/>
              <a:ext cx="4111802" cy="73866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aphicFrame>
        <p:nvGraphicFramePr>
          <p:cNvPr id="12" name="Table 11">
            <a:extLst>
              <a:ext uri="{FF2B5EF4-FFF2-40B4-BE49-F238E27FC236}">
                <a16:creationId xmlns:a16="http://schemas.microsoft.com/office/drawing/2014/main" id="{C0D0041C-DF80-4892-A931-619AA4138E9A}"/>
              </a:ext>
            </a:extLst>
          </p:cNvPr>
          <p:cNvGraphicFramePr>
            <a:graphicFrameLocks noGrp="1"/>
          </p:cNvGraphicFramePr>
          <p:nvPr>
            <p:extLst>
              <p:ext uri="{D42A27DB-BD31-4B8C-83A1-F6EECF244321}">
                <p14:modId xmlns:p14="http://schemas.microsoft.com/office/powerpoint/2010/main" val="3900386698"/>
              </p:ext>
            </p:extLst>
          </p:nvPr>
        </p:nvGraphicFramePr>
        <p:xfrm>
          <a:off x="2779436" y="582469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057BA2B-996E-1BB1-18EC-9D0D27BAC30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4226239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C1637C-D437-137B-32C0-D857194D41AF}"/>
              </a:ext>
            </a:extLst>
          </p:cNvPr>
          <p:cNvSpPr>
            <a:spLocks noGrp="1"/>
          </p:cNvSpPr>
          <p:nvPr>
            <p:ph type="title"/>
          </p:nvPr>
        </p:nvSpPr>
        <p:spPr/>
        <p:txBody>
          <a:bodyPr/>
          <a:lstStyle/>
          <a:p>
            <a:r>
              <a:rPr lang="en-AU" dirty="0"/>
              <a:t>Short Response </a:t>
            </a:r>
            <a:r>
              <a:rPr lang="en-AU" dirty="0">
                <a:solidFill>
                  <a:schemeClr val="bg1"/>
                </a:solidFill>
              </a:rPr>
              <a:t>(13)</a:t>
            </a:r>
          </a:p>
        </p:txBody>
      </p:sp>
      <p:pic>
        <p:nvPicPr>
          <p:cNvPr id="3" name="Picture 2" descr="Image of a clipboard with a pencil recording short answer.">
            <a:extLst>
              <a:ext uri="{FF2B5EF4-FFF2-40B4-BE49-F238E27FC236}">
                <a16:creationId xmlns:a16="http://schemas.microsoft.com/office/drawing/2014/main" id="{2A6AD28C-0228-378C-F5FC-4EEFB076D9A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 Placeholder 9">
            <a:extLst>
              <a:ext uri="{FF2B5EF4-FFF2-40B4-BE49-F238E27FC236}">
                <a16:creationId xmlns:a16="http://schemas.microsoft.com/office/drawing/2014/main" id="{CBEAE2B2-09B5-4D41-971A-D146B741A016}"/>
              </a:ext>
            </a:extLst>
          </p:cNvPr>
          <p:cNvSpPr>
            <a:spLocks noGrp="1"/>
          </p:cNvSpPr>
          <p:nvPr>
            <p:ph type="body" sz="quarter" idx="17"/>
          </p:nvPr>
        </p:nvSpPr>
        <p:spPr>
          <a:xfrm>
            <a:off x="761640" y="1690165"/>
            <a:ext cx="10668719" cy="4807835"/>
          </a:xfrm>
        </p:spPr>
        <p:txBody>
          <a:bodyPr/>
          <a:lstStyle/>
          <a:p>
            <a:pPr algn="ctr"/>
            <a:r>
              <a:rPr lang="en-AU" sz="4400" b="1" dirty="0"/>
              <a:t>Partition</a:t>
            </a:r>
            <a:r>
              <a:rPr lang="en-AU" sz="4400" dirty="0"/>
              <a:t> this </a:t>
            </a:r>
            <a:r>
              <a:rPr lang="en-AU" sz="4400" b="1" dirty="0"/>
              <a:t>number</a:t>
            </a:r>
            <a:r>
              <a:rPr lang="en-AU" sz="4400" dirty="0"/>
              <a:t> in </a:t>
            </a:r>
            <a:br>
              <a:rPr lang="en-AU" sz="4400" dirty="0"/>
            </a:br>
            <a:r>
              <a:rPr lang="en-AU" sz="4400" b="1" dirty="0"/>
              <a:t>non-standard forms</a:t>
            </a:r>
            <a:r>
              <a:rPr lang="en-AU" sz="4400" dirty="0"/>
              <a:t>:</a:t>
            </a:r>
          </a:p>
          <a:p>
            <a:pPr algn="ctr"/>
            <a:r>
              <a:rPr lang="en-AU" sz="8800" dirty="0"/>
              <a:t>526</a:t>
            </a:r>
            <a:r>
              <a:rPr lang="en-AU" sz="5400" dirty="0"/>
              <a:t> </a:t>
            </a:r>
            <a:r>
              <a:rPr lang="en-AU" sz="8800" dirty="0"/>
              <a:t>342</a:t>
            </a:r>
          </a:p>
        </p:txBody>
      </p:sp>
      <p:sp>
        <p:nvSpPr>
          <p:cNvPr id="2" name="Slide Number Placeholder 1">
            <a:extLst>
              <a:ext uri="{FF2B5EF4-FFF2-40B4-BE49-F238E27FC236}">
                <a16:creationId xmlns:a16="http://schemas.microsoft.com/office/drawing/2014/main" id="{9A4409A9-1222-BF26-BFDF-DD88136C6E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3094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C4689-7938-D738-18B1-9A47BFC0683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FBB560D-0FA5-2FF1-D26A-5F1BB23893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pic>
        <p:nvPicPr>
          <p:cNvPr id="3" name="Picture 2" descr="Image of a clipboard with a pencil recording short answer.">
            <a:extLst>
              <a:ext uri="{FF2B5EF4-FFF2-40B4-BE49-F238E27FC236}">
                <a16:creationId xmlns:a16="http://schemas.microsoft.com/office/drawing/2014/main" id="{2432E23B-3307-935D-1952-C1C2A6FB1836}"/>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B9875B59-E223-87E2-00C8-916113CE0369}"/>
              </a:ext>
            </a:extLst>
          </p:cNvPr>
          <p:cNvSpPr txBox="1"/>
          <p:nvPr/>
        </p:nvSpPr>
        <p:spPr>
          <a:xfrm>
            <a:off x="167454" y="1360450"/>
            <a:ext cx="4214976" cy="498598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AU" sz="2800" dirty="0"/>
              <a:t>How many students play soccer? </a:t>
            </a:r>
          </a:p>
          <a:p>
            <a:pPr marL="342900" indent="-342900">
              <a:lnSpc>
                <a:spcPct val="150000"/>
              </a:lnSpc>
              <a:buFont typeface="Arial" panose="020B0604020202020204" pitchFamily="34" charset="0"/>
              <a:buChar char="•"/>
            </a:pPr>
            <a:r>
              <a:rPr lang="en-AU" sz="2800" dirty="0"/>
              <a:t>How many students play NRL? </a:t>
            </a:r>
          </a:p>
          <a:p>
            <a:pPr marL="342900" indent="-342900">
              <a:lnSpc>
                <a:spcPct val="150000"/>
              </a:lnSpc>
              <a:buFont typeface="Arial" panose="020B0604020202020204" pitchFamily="34" charset="0"/>
              <a:buChar char="•"/>
            </a:pPr>
            <a:r>
              <a:rPr lang="en-AU" sz="2800" dirty="0"/>
              <a:t>How </a:t>
            </a:r>
            <a:r>
              <a:rPr lang="en-AU" sz="2800" b="1" dirty="0"/>
              <a:t>many more </a:t>
            </a:r>
            <a:r>
              <a:rPr lang="en-AU" sz="2800" dirty="0"/>
              <a:t>students play soccer than NRL?</a:t>
            </a:r>
          </a:p>
          <a:p>
            <a:r>
              <a:rPr lang="en-AU" dirty="0"/>
              <a:t> </a:t>
            </a:r>
          </a:p>
        </p:txBody>
      </p:sp>
      <p:pic>
        <p:nvPicPr>
          <p:cNvPr id="7" name="Picture 6" descr="GRaph showing students participation in sports. There are four sports displayted with soccer balls as the key equalling 2 students. in the table NRL has 6 soccer balls, soccer has 8 soccer balls, netball has three soccer balls and basketball has 2 soccer balls. ">
            <a:extLst>
              <a:ext uri="{FF2B5EF4-FFF2-40B4-BE49-F238E27FC236}">
                <a16:creationId xmlns:a16="http://schemas.microsoft.com/office/drawing/2014/main" id="{6B246F9A-33EC-91B2-6BB5-198BFB7834A6}"/>
              </a:ext>
            </a:extLst>
          </p:cNvPr>
          <p:cNvPicPr>
            <a:picLocks noChangeAspect="1"/>
          </p:cNvPicPr>
          <p:nvPr/>
        </p:nvPicPr>
        <p:blipFill>
          <a:blip r:embed="rId4"/>
          <a:srcRect t="7092"/>
          <a:stretch>
            <a:fillRect/>
          </a:stretch>
        </p:blipFill>
        <p:spPr>
          <a:xfrm>
            <a:off x="4026598" y="1642029"/>
            <a:ext cx="7696865" cy="385552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A17EEB6-280B-2E7D-4B5D-70404E6F05A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66566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pic>
        <p:nvPicPr>
          <p:cNvPr id="4" name="Picture 3" descr="Image of a clipboard with a pencil recording short answer.">
            <a:extLst>
              <a:ext uri="{FF2B5EF4-FFF2-40B4-BE49-F238E27FC236}">
                <a16:creationId xmlns:a16="http://schemas.microsoft.com/office/drawing/2014/main" id="{B131AFB7-3495-9349-7CE8-E28B90B86976}"/>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76D56C2-5B71-3C18-3BA6-052FDCAFE728}"/>
              </a:ext>
            </a:extLst>
          </p:cNvPr>
          <p:cNvSpPr txBox="1"/>
          <p:nvPr/>
        </p:nvSpPr>
        <p:spPr>
          <a:xfrm>
            <a:off x="490426" y="952833"/>
            <a:ext cx="10762138" cy="901593"/>
          </a:xfrm>
          <a:prstGeom prst="rect">
            <a:avLst/>
          </a:prstGeom>
          <a:noFill/>
        </p:spPr>
        <p:txBody>
          <a:bodyPr wrap="square">
            <a:spAutoFit/>
          </a:bodyPr>
          <a:lstStyle/>
          <a:p>
            <a:pPr algn="ctr">
              <a:lnSpc>
                <a:spcPct val="150000"/>
              </a:lnSpc>
            </a:pPr>
            <a:r>
              <a:rPr lang="en-AU" sz="4000" dirty="0"/>
              <a:t>Record the missing fraction parts. </a:t>
            </a:r>
          </a:p>
        </p:txBody>
      </p:sp>
      <p:grpSp>
        <p:nvGrpSpPr>
          <p:cNvPr id="17" name="Group 16" descr="Fractions strips . One whole fraction strip with 2 halves of a fraction strip underneath, one half is covered with tape showing only one half of the strip. The nect fraction strip shows quarters and has two of the quarters visible, The last fraction strip is cut into eighths and there are four eighths displayed with the rest covered.">
            <a:extLst>
              <a:ext uri="{FF2B5EF4-FFF2-40B4-BE49-F238E27FC236}">
                <a16:creationId xmlns:a16="http://schemas.microsoft.com/office/drawing/2014/main" id="{878BE748-C03A-AE9B-9181-DA08F4C9C29D}"/>
              </a:ext>
            </a:extLst>
          </p:cNvPr>
          <p:cNvGrpSpPr/>
          <p:nvPr/>
        </p:nvGrpSpPr>
        <p:grpSpPr>
          <a:xfrm>
            <a:off x="3115340" y="2022963"/>
            <a:ext cx="6029990" cy="2846749"/>
            <a:chOff x="2135784" y="991302"/>
            <a:chExt cx="7370703" cy="3890365"/>
          </a:xfrm>
        </p:grpSpPr>
        <p:pic>
          <p:nvPicPr>
            <p:cNvPr id="12" name="Picture 11" descr="A fraction wall with missing fractional notation.">
              <a:extLst>
                <a:ext uri="{FF2B5EF4-FFF2-40B4-BE49-F238E27FC236}">
                  <a16:creationId xmlns:a16="http://schemas.microsoft.com/office/drawing/2014/main" id="{D93FFC8C-7094-81EA-0D06-0D572916A8B3}"/>
                </a:ext>
              </a:extLst>
            </p:cNvPr>
            <p:cNvPicPr>
              <a:picLocks noChangeAspect="1"/>
            </p:cNvPicPr>
            <p:nvPr/>
          </p:nvPicPr>
          <p:blipFill>
            <a:blip r:embed="rId4">
              <a:extLst>
                <a:ext uri="{28A0092B-C50C-407E-A947-70E740481C1C}">
                  <a14:useLocalDpi xmlns:a14="http://schemas.microsoft.com/office/drawing/2010/main" val="0"/>
                </a:ext>
              </a:extLst>
            </a:blip>
            <a:srcRect b="82967"/>
            <a:stretch>
              <a:fillRect/>
            </a:stretch>
          </p:blipFill>
          <p:spPr>
            <a:xfrm>
              <a:off x="2135784" y="991302"/>
              <a:ext cx="7367954" cy="915500"/>
            </a:xfrm>
            <a:prstGeom prst="rect">
              <a:avLst/>
            </a:prstGeom>
          </p:spPr>
        </p:pic>
        <p:pic>
          <p:nvPicPr>
            <p:cNvPr id="13" name="Picture 12">
              <a:extLst>
                <a:ext uri="{FF2B5EF4-FFF2-40B4-BE49-F238E27FC236}">
                  <a16:creationId xmlns:a16="http://schemas.microsoft.com/office/drawing/2014/main" id="{67E0ABE6-19E3-AE27-DD47-1FBC53907848}"/>
                </a:ext>
              </a:extLst>
            </p:cNvPr>
            <p:cNvPicPr>
              <a:picLocks noChangeAspect="1"/>
            </p:cNvPicPr>
            <p:nvPr/>
          </p:nvPicPr>
          <p:blipFill>
            <a:blip r:embed="rId5"/>
            <a:srcRect t="58786"/>
            <a:stretch>
              <a:fillRect/>
            </a:stretch>
          </p:blipFill>
          <p:spPr>
            <a:xfrm>
              <a:off x="2135784" y="2665538"/>
              <a:ext cx="7370703" cy="2216129"/>
            </a:xfrm>
            <a:prstGeom prst="rect">
              <a:avLst/>
            </a:prstGeom>
          </p:spPr>
        </p:pic>
        <p:pic>
          <p:nvPicPr>
            <p:cNvPr id="15" name="Picture 14">
              <a:extLst>
                <a:ext uri="{FF2B5EF4-FFF2-40B4-BE49-F238E27FC236}">
                  <a16:creationId xmlns:a16="http://schemas.microsoft.com/office/drawing/2014/main" id="{EFE58B8C-6A3D-FF47-9FEF-743B3FE913BF}"/>
                </a:ext>
              </a:extLst>
            </p:cNvPr>
            <p:cNvPicPr>
              <a:picLocks noChangeAspect="1"/>
            </p:cNvPicPr>
            <p:nvPr/>
          </p:nvPicPr>
          <p:blipFill>
            <a:blip r:embed="rId6"/>
            <a:srcRect t="18257" b="62897"/>
            <a:stretch>
              <a:fillRect/>
            </a:stretch>
          </p:blipFill>
          <p:spPr>
            <a:xfrm>
              <a:off x="2139132" y="1853261"/>
              <a:ext cx="7364606" cy="1013382"/>
            </a:xfrm>
            <a:prstGeom prst="rect">
              <a:avLst/>
            </a:prstGeom>
          </p:spPr>
        </p:pic>
      </p:grpSp>
      <p:sp>
        <p:nvSpPr>
          <p:cNvPr id="8" name="TextBox 7">
            <a:extLst>
              <a:ext uri="{FF2B5EF4-FFF2-40B4-BE49-F238E27FC236}">
                <a16:creationId xmlns:a16="http://schemas.microsoft.com/office/drawing/2014/main" id="{D360A88E-89AF-B46F-4A50-B1F63C6C8EDB}"/>
              </a:ext>
            </a:extLst>
          </p:cNvPr>
          <p:cNvSpPr txBox="1"/>
          <p:nvPr/>
        </p:nvSpPr>
        <p:spPr>
          <a:xfrm>
            <a:off x="252307" y="4949122"/>
            <a:ext cx="11591693" cy="1824923"/>
          </a:xfrm>
          <a:prstGeom prst="rect">
            <a:avLst/>
          </a:prstGeom>
          <a:noFill/>
        </p:spPr>
        <p:txBody>
          <a:bodyPr wrap="square">
            <a:spAutoFit/>
          </a:bodyPr>
          <a:lstStyle/>
          <a:p>
            <a:pPr algn="ctr">
              <a:lnSpc>
                <a:spcPct val="150000"/>
              </a:lnSpc>
            </a:pPr>
            <a:r>
              <a:rPr lang="en-AU" sz="4000" dirty="0"/>
              <a:t>What is the relationship between halves, quarters and eighths?</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pic>
        <p:nvPicPr>
          <p:cNvPr id="3" name="Picture 2" descr="Image of a clipboard with a pencil recording short answer.">
            <a:extLst>
              <a:ext uri="{FF2B5EF4-FFF2-40B4-BE49-F238E27FC236}">
                <a16:creationId xmlns:a16="http://schemas.microsoft.com/office/drawing/2014/main" id="{602A5C36-777A-4A3B-4BB2-D0CC6ABD673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683AA71-EBB0-FB30-8FD0-266A01EA10BE}"/>
              </a:ext>
            </a:extLst>
          </p:cNvPr>
          <p:cNvSpPr txBox="1"/>
          <p:nvPr/>
        </p:nvSpPr>
        <p:spPr>
          <a:xfrm>
            <a:off x="1731601" y="1130661"/>
            <a:ext cx="9609190" cy="615553"/>
          </a:xfrm>
          <a:prstGeom prst="rect">
            <a:avLst/>
          </a:prstGeom>
          <a:noFill/>
        </p:spPr>
        <p:txBody>
          <a:bodyPr wrap="square" lIns="0" tIns="0" rIns="0" bIns="0" rtlCol="0">
            <a:noAutofit/>
          </a:bodyPr>
          <a:lstStyle/>
          <a:p>
            <a:pPr algn="l"/>
            <a:r>
              <a:rPr lang="en-AU" sz="3600" dirty="0"/>
              <a:t>Record the</a:t>
            </a:r>
            <a:r>
              <a:rPr lang="en-AU" sz="3600" b="1" dirty="0"/>
              <a:t> shapes </a:t>
            </a:r>
            <a:r>
              <a:rPr lang="en-AU" sz="3600" dirty="0"/>
              <a:t>that have</a:t>
            </a:r>
            <a:r>
              <a:rPr lang="en-AU" sz="3600" b="1" dirty="0"/>
              <a:t> parallel sides</a:t>
            </a:r>
            <a:r>
              <a:rPr lang="en-AU" sz="3600" dirty="0"/>
              <a:t>.</a:t>
            </a:r>
          </a:p>
        </p:txBody>
      </p:sp>
      <p:pic>
        <p:nvPicPr>
          <p:cNvPr id="10" name="Picture 9" descr="2D Shapes and their names: triangle, square, pentagon, kite, trapezium, rhombus, pentagon, hexagon, rectangle, kite.">
            <a:extLst>
              <a:ext uri="{FF2B5EF4-FFF2-40B4-BE49-F238E27FC236}">
                <a16:creationId xmlns:a16="http://schemas.microsoft.com/office/drawing/2014/main" id="{B9BB716B-A881-2B56-D9F5-ED975D7949D3}"/>
              </a:ext>
            </a:extLst>
          </p:cNvPr>
          <p:cNvPicPr>
            <a:picLocks noChangeAspect="1"/>
          </p:cNvPicPr>
          <p:nvPr/>
        </p:nvPicPr>
        <p:blipFill>
          <a:blip r:embed="rId4"/>
          <a:stretch>
            <a:fillRect/>
          </a:stretch>
        </p:blipFill>
        <p:spPr>
          <a:xfrm>
            <a:off x="942236" y="1663768"/>
            <a:ext cx="9898670" cy="4942232"/>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70C6-C010-E1E5-5B8F-303587672F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8206DFE-27C5-DB8B-65F8-F54962C898F6}"/>
              </a:ext>
            </a:extLst>
          </p:cNvPr>
          <p:cNvSpPr>
            <a:spLocks noGrp="1"/>
          </p:cNvSpPr>
          <p:nvPr>
            <p:ph type="title"/>
          </p:nvPr>
        </p:nvSpPr>
        <p:spPr>
          <a:xfrm>
            <a:off x="360000" y="360000"/>
            <a:ext cx="10367268" cy="545601"/>
          </a:xfrm>
        </p:spPr>
        <p:txBody>
          <a:bodyPr/>
          <a:lstStyle/>
          <a:p>
            <a:r>
              <a:rPr lang="en-AU"/>
              <a:t>Activity 4 – descending order</a:t>
            </a:r>
          </a:p>
        </p:txBody>
      </p:sp>
      <p:pic>
        <p:nvPicPr>
          <p:cNvPr id="4" name="Picture 3" descr="image of a head with cogs turning inside">
            <a:extLst>
              <a:ext uri="{FF2B5EF4-FFF2-40B4-BE49-F238E27FC236}">
                <a16:creationId xmlns:a16="http://schemas.microsoft.com/office/drawing/2014/main" id="{2B263DF4-F0AC-92B6-D24C-67110EEC4513}"/>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Image of the descending order gameboard Starts at 99 999 and snakes around with squares for the students to fill in the missing numbers that are in between 99 999 and 10 000.">
            <a:extLst>
              <a:ext uri="{FF2B5EF4-FFF2-40B4-BE49-F238E27FC236}">
                <a16:creationId xmlns:a16="http://schemas.microsoft.com/office/drawing/2014/main" id="{AD7FC4F0-72AF-D8FE-0D12-DF8018233291}"/>
              </a:ext>
            </a:extLst>
          </p:cNvPr>
          <p:cNvPicPr>
            <a:picLocks noChangeAspect="1"/>
          </p:cNvPicPr>
          <p:nvPr/>
        </p:nvPicPr>
        <p:blipFill>
          <a:blip r:embed="rId4"/>
          <a:stretch>
            <a:fillRect/>
          </a:stretch>
        </p:blipFill>
        <p:spPr>
          <a:xfrm>
            <a:off x="2883129" y="1154995"/>
            <a:ext cx="6425741" cy="4548010"/>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F4DF1F62-FA96-EC40-AA64-582A7770CE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51948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7BE11-583A-52D8-E709-0FBA5E2CD6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DA50A1-32D6-B2E5-A568-6D2CBB708AEE}"/>
              </a:ext>
            </a:extLst>
          </p:cNvPr>
          <p:cNvSpPr>
            <a:spLocks noGrp="1"/>
          </p:cNvSpPr>
          <p:nvPr>
            <p:ph type="title"/>
          </p:nvPr>
        </p:nvSpPr>
        <p:spPr/>
        <p:txBody>
          <a:bodyPr/>
          <a:lstStyle/>
          <a:p>
            <a:r>
              <a:rPr lang="en-US" dirty="0"/>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313B832D-DCFD-3EDB-7D95-0CD50C7D87D7}"/>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Box 5">
            <a:extLst>
              <a:ext uri="{FF2B5EF4-FFF2-40B4-BE49-F238E27FC236}">
                <a16:creationId xmlns:a16="http://schemas.microsoft.com/office/drawing/2014/main" id="{E39E969D-DCD0-9210-9953-B49D94659C30}"/>
              </a:ext>
            </a:extLst>
          </p:cNvPr>
          <p:cNvSpPr txBox="1"/>
          <p:nvPr/>
        </p:nvSpPr>
        <p:spPr>
          <a:xfrm>
            <a:off x="227573" y="1309523"/>
            <a:ext cx="11375465" cy="382385"/>
          </a:xfrm>
          <a:prstGeom prst="rect">
            <a:avLst/>
          </a:prstGeom>
          <a:noFill/>
        </p:spPr>
        <p:txBody>
          <a:bodyPr wrap="square" lIns="0" tIns="0" rIns="0" bIns="0" rtlCol="0">
            <a:noAutofit/>
          </a:bodyPr>
          <a:lstStyle/>
          <a:p>
            <a:pPr algn="ctr">
              <a:lnSpc>
                <a:spcPct val="150000"/>
              </a:lnSpc>
            </a:pPr>
            <a:r>
              <a:rPr lang="en-AU" sz="4000" dirty="0"/>
              <a:t>Which of the following are </a:t>
            </a:r>
            <a:r>
              <a:rPr lang="en-AU" sz="4000" b="1" dirty="0"/>
              <a:t>the same as </a:t>
            </a:r>
            <a:r>
              <a:rPr lang="en-AU" sz="4000" dirty="0"/>
              <a:t>94 – 65 ? </a:t>
            </a:r>
          </a:p>
          <a:p>
            <a:pPr algn="ctr">
              <a:lnSpc>
                <a:spcPct val="150000"/>
              </a:lnSpc>
            </a:pPr>
            <a:r>
              <a:rPr lang="en-AU" sz="4000" dirty="0"/>
              <a:t>You may choose </a:t>
            </a:r>
            <a:r>
              <a:rPr lang="en-AU" sz="4000" b="1" dirty="0"/>
              <a:t>more than one </a:t>
            </a:r>
            <a:r>
              <a:rPr lang="en-AU" sz="4000" dirty="0"/>
              <a:t>answer.</a:t>
            </a:r>
          </a:p>
        </p:txBody>
      </p:sp>
      <p:sp>
        <p:nvSpPr>
          <p:cNvPr id="5" name="B">
            <a:extLst>
              <a:ext uri="{FF2B5EF4-FFF2-40B4-BE49-F238E27FC236}">
                <a16:creationId xmlns:a16="http://schemas.microsoft.com/office/drawing/2014/main" id="{7B7D00A9-53F0-8D7D-1013-9560DAD99E6C}"/>
              </a:ext>
            </a:extLst>
          </p:cNvPr>
          <p:cNvSpPr txBox="1"/>
          <p:nvPr/>
        </p:nvSpPr>
        <p:spPr>
          <a:xfrm>
            <a:off x="649295" y="336959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5" name="TextBox 14">
            <a:extLst>
              <a:ext uri="{FF2B5EF4-FFF2-40B4-BE49-F238E27FC236}">
                <a16:creationId xmlns:a16="http://schemas.microsoft.com/office/drawing/2014/main" id="{A676396F-97F5-5BA7-807F-A4050B08E899}"/>
              </a:ext>
            </a:extLst>
          </p:cNvPr>
          <p:cNvSpPr txBox="1"/>
          <p:nvPr/>
        </p:nvSpPr>
        <p:spPr>
          <a:xfrm>
            <a:off x="1360180" y="3429000"/>
            <a:ext cx="6097772" cy="707886"/>
          </a:xfrm>
          <a:prstGeom prst="rect">
            <a:avLst/>
          </a:prstGeom>
          <a:noFill/>
        </p:spPr>
        <p:txBody>
          <a:bodyPr wrap="square">
            <a:spAutoFit/>
          </a:bodyPr>
          <a:lstStyle/>
          <a:p>
            <a:r>
              <a:rPr lang="en-AU" sz="4000" dirty="0"/>
              <a:t>84 – 55</a:t>
            </a:r>
          </a:p>
        </p:txBody>
      </p:sp>
      <p:sp>
        <p:nvSpPr>
          <p:cNvPr id="7" name="B">
            <a:extLst>
              <a:ext uri="{FF2B5EF4-FFF2-40B4-BE49-F238E27FC236}">
                <a16:creationId xmlns:a16="http://schemas.microsoft.com/office/drawing/2014/main" id="{A469708B-A391-247D-F2BE-3A107D8E1F04}"/>
              </a:ext>
            </a:extLst>
          </p:cNvPr>
          <p:cNvSpPr txBox="1"/>
          <p:nvPr/>
        </p:nvSpPr>
        <p:spPr>
          <a:xfrm>
            <a:off x="649294" y="42175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4" name="TextBox 13">
            <a:extLst>
              <a:ext uri="{FF2B5EF4-FFF2-40B4-BE49-F238E27FC236}">
                <a16:creationId xmlns:a16="http://schemas.microsoft.com/office/drawing/2014/main" id="{3316AAE7-09B2-5592-D0B5-16D2B050C122}"/>
              </a:ext>
            </a:extLst>
          </p:cNvPr>
          <p:cNvSpPr txBox="1"/>
          <p:nvPr/>
        </p:nvSpPr>
        <p:spPr>
          <a:xfrm>
            <a:off x="1360180" y="4263671"/>
            <a:ext cx="6097772" cy="707886"/>
          </a:xfrm>
          <a:prstGeom prst="rect">
            <a:avLst/>
          </a:prstGeom>
          <a:noFill/>
        </p:spPr>
        <p:txBody>
          <a:bodyPr wrap="square">
            <a:spAutoFit/>
          </a:bodyPr>
          <a:lstStyle/>
          <a:p>
            <a:r>
              <a:rPr lang="en-AU" sz="4000" dirty="0"/>
              <a:t>34 – 5</a:t>
            </a:r>
          </a:p>
        </p:txBody>
      </p:sp>
      <p:sp>
        <p:nvSpPr>
          <p:cNvPr id="8" name="C">
            <a:extLst>
              <a:ext uri="{FF2B5EF4-FFF2-40B4-BE49-F238E27FC236}">
                <a16:creationId xmlns:a16="http://schemas.microsoft.com/office/drawing/2014/main" id="{8F40330B-D9CF-F741-ACE6-4A0BEF71AD32}"/>
              </a:ext>
            </a:extLst>
          </p:cNvPr>
          <p:cNvSpPr txBox="1"/>
          <p:nvPr/>
        </p:nvSpPr>
        <p:spPr>
          <a:xfrm>
            <a:off x="649293" y="50675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B01E28CD-DC0A-66AF-7801-2596092C8C5B}"/>
              </a:ext>
            </a:extLst>
          </p:cNvPr>
          <p:cNvSpPr txBox="1"/>
          <p:nvPr/>
        </p:nvSpPr>
        <p:spPr>
          <a:xfrm>
            <a:off x="1360180" y="5067558"/>
            <a:ext cx="6097772" cy="707886"/>
          </a:xfrm>
          <a:prstGeom prst="rect">
            <a:avLst/>
          </a:prstGeom>
          <a:noFill/>
        </p:spPr>
        <p:txBody>
          <a:bodyPr wrap="square">
            <a:spAutoFit/>
          </a:bodyPr>
          <a:lstStyle/>
          <a:p>
            <a:r>
              <a:rPr lang="en-AU" sz="4000" dirty="0"/>
              <a:t>84 + 55</a:t>
            </a:r>
          </a:p>
        </p:txBody>
      </p:sp>
      <p:sp>
        <p:nvSpPr>
          <p:cNvPr id="9" name="D">
            <a:extLst>
              <a:ext uri="{FF2B5EF4-FFF2-40B4-BE49-F238E27FC236}">
                <a16:creationId xmlns:a16="http://schemas.microsoft.com/office/drawing/2014/main" id="{F30613F9-D3E7-87A7-D159-77C2A34601B1}"/>
              </a:ext>
            </a:extLst>
          </p:cNvPr>
          <p:cNvSpPr txBox="1"/>
          <p:nvPr/>
        </p:nvSpPr>
        <p:spPr>
          <a:xfrm>
            <a:off x="649292" y="591761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1" name="TextBox 10">
            <a:extLst>
              <a:ext uri="{FF2B5EF4-FFF2-40B4-BE49-F238E27FC236}">
                <a16:creationId xmlns:a16="http://schemas.microsoft.com/office/drawing/2014/main" id="{7953738F-2D3F-6620-ECB1-F18A92A246C1}"/>
              </a:ext>
            </a:extLst>
          </p:cNvPr>
          <p:cNvSpPr txBox="1"/>
          <p:nvPr/>
        </p:nvSpPr>
        <p:spPr>
          <a:xfrm>
            <a:off x="1360180" y="5957025"/>
            <a:ext cx="6097772" cy="707886"/>
          </a:xfrm>
          <a:prstGeom prst="rect">
            <a:avLst/>
          </a:prstGeom>
          <a:noFill/>
        </p:spPr>
        <p:txBody>
          <a:bodyPr wrap="square">
            <a:spAutoFit/>
          </a:bodyPr>
          <a:lstStyle/>
          <a:p>
            <a:r>
              <a:rPr lang="en-AU" sz="4000" dirty="0"/>
              <a:t>90 – 60</a:t>
            </a:r>
          </a:p>
        </p:txBody>
      </p:sp>
      <p:sp>
        <p:nvSpPr>
          <p:cNvPr id="2" name="Slide Number Placeholder 1">
            <a:extLst>
              <a:ext uri="{FF2B5EF4-FFF2-40B4-BE49-F238E27FC236}">
                <a16:creationId xmlns:a16="http://schemas.microsoft.com/office/drawing/2014/main" id="{B6E646F1-D043-3BDA-BD1D-959553B0887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16950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AU" dirty="0"/>
              <a:t>Short response </a:t>
            </a:r>
            <a:r>
              <a:rPr lang="en-US" dirty="0">
                <a:solidFill>
                  <a:schemeClr val="bg1"/>
                </a:solidFill>
              </a:rPr>
              <a:t>(17)</a:t>
            </a:r>
          </a:p>
        </p:txBody>
      </p:sp>
      <p:pic>
        <p:nvPicPr>
          <p:cNvPr id="5" name="Picture 4" descr="Image of a clipboard with a pencil recording short answer.">
            <a:extLst>
              <a:ext uri="{FF2B5EF4-FFF2-40B4-BE49-F238E27FC236}">
                <a16:creationId xmlns:a16="http://schemas.microsoft.com/office/drawing/2014/main" id="{8F749122-3FB5-67A6-8BBE-E724F350FD9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600963" y="1279492"/>
            <a:ext cx="11243037" cy="754243"/>
          </a:xfrm>
        </p:spPr>
        <p:txBody>
          <a:bodyPr/>
          <a:lstStyle/>
          <a:p>
            <a:pPr algn="ctr"/>
            <a:r>
              <a:rPr lang="en-US" sz="4400" dirty="0"/>
              <a:t>Which letter represents 1.2? </a:t>
            </a:r>
          </a:p>
        </p:txBody>
      </p:sp>
      <p:pic>
        <p:nvPicPr>
          <p:cNvPr id="41" name="Picture 40" descr="Number line labelled 0 to 2 with increments of one tenth. Labels on the number line are 0.5,1, 1.5 and 2. A is pointing to two tenths after the 0 mark.&#10;&#10;B is pointing to two tenths after the 0.5 mark.&#10;&#10;C is pointing to two tenths after the 1 mark. &#10;">
            <a:extLst>
              <a:ext uri="{FF2B5EF4-FFF2-40B4-BE49-F238E27FC236}">
                <a16:creationId xmlns:a16="http://schemas.microsoft.com/office/drawing/2014/main" id="{14F271BB-5A59-9AFD-5698-1E2506514458}"/>
              </a:ext>
            </a:extLst>
          </p:cNvPr>
          <p:cNvPicPr>
            <a:picLocks noChangeAspect="1"/>
          </p:cNvPicPr>
          <p:nvPr/>
        </p:nvPicPr>
        <p:blipFill>
          <a:blip r:embed="rId4"/>
          <a:stretch>
            <a:fillRect/>
          </a:stretch>
        </p:blipFill>
        <p:spPr>
          <a:xfrm>
            <a:off x="1310198" y="2407626"/>
            <a:ext cx="10173802" cy="2529081"/>
          </a:xfrm>
          <a:prstGeom prst="rect">
            <a:avLst/>
          </a:prstGeom>
          <a:ln>
            <a:noFill/>
          </a:ln>
          <a:effectLst>
            <a:outerShdw blurRad="292100" dist="139700" dir="2700000" algn="tl" rotWithShape="0">
              <a:srgbClr val="333333">
                <a:alpha val="65000"/>
              </a:srgbClr>
            </a:outerShdw>
          </a:effectLst>
        </p:spPr>
      </p:pic>
      <p:sp>
        <p:nvSpPr>
          <p:cNvPr id="42" name="TextBox 41">
            <a:extLst>
              <a:ext uri="{FF2B5EF4-FFF2-40B4-BE49-F238E27FC236}">
                <a16:creationId xmlns:a16="http://schemas.microsoft.com/office/drawing/2014/main" id="{3176FF42-485C-AD3A-E4A4-C09FE0115705}"/>
              </a:ext>
            </a:extLst>
          </p:cNvPr>
          <p:cNvSpPr txBox="1"/>
          <p:nvPr/>
        </p:nvSpPr>
        <p:spPr>
          <a:xfrm>
            <a:off x="2462247" y="5459733"/>
            <a:ext cx="7520468" cy="707886"/>
          </a:xfrm>
          <a:prstGeom prst="rect">
            <a:avLst/>
          </a:prstGeom>
          <a:noFill/>
        </p:spPr>
        <p:txBody>
          <a:bodyPr wrap="square">
            <a:spAutoFit/>
          </a:bodyPr>
          <a:lstStyle/>
          <a:p>
            <a:r>
              <a:rPr lang="en-AU" sz="4000" b="1" dirty="0"/>
              <a:t>Communicate </a:t>
            </a:r>
            <a:r>
              <a:rPr lang="en-AU" sz="4000" dirty="0"/>
              <a:t>your</a:t>
            </a:r>
            <a:r>
              <a:rPr lang="en-AU" sz="4000" b="1" dirty="0"/>
              <a:t> reasoning.</a:t>
            </a:r>
            <a:endParaRPr lang="en-AU" sz="4000" dirty="0"/>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descr="Image of a clipboard with a pencil recording short answer.">
            <a:extLst>
              <a:ext uri="{FF2B5EF4-FFF2-40B4-BE49-F238E27FC236}">
                <a16:creationId xmlns:a16="http://schemas.microsoft.com/office/drawing/2014/main" id="{2D93CD05-EEB0-3C8B-380D-9FC3C1D1498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78F70CB-E031-25E1-BB0A-840A55F1CD60}"/>
              </a:ext>
            </a:extLst>
          </p:cNvPr>
          <p:cNvSpPr txBox="1"/>
          <p:nvPr/>
        </p:nvSpPr>
        <p:spPr>
          <a:xfrm>
            <a:off x="462987" y="905601"/>
            <a:ext cx="10661013" cy="3310359"/>
          </a:xfrm>
          <a:prstGeom prst="rect">
            <a:avLst/>
          </a:prstGeom>
          <a:noFill/>
        </p:spPr>
        <p:txBody>
          <a:bodyPr wrap="square" lIns="0" tIns="0" rIns="0" bIns="0" rtlCol="0">
            <a:noAutofit/>
          </a:bodyPr>
          <a:lstStyle/>
          <a:p>
            <a:pPr algn="ctr">
              <a:lnSpc>
                <a:spcPct val="150000"/>
              </a:lnSpc>
            </a:pPr>
            <a:r>
              <a:rPr lang="en-AU" sz="4000" dirty="0"/>
              <a:t>Year 4 have </a:t>
            </a:r>
            <a:r>
              <a:rPr lang="en-AU" sz="4000" b="1" dirty="0"/>
              <a:t>money</a:t>
            </a:r>
            <a:r>
              <a:rPr lang="en-AU" sz="4000" dirty="0"/>
              <a:t> to spend on sports equipment and would like to </a:t>
            </a:r>
            <a:r>
              <a:rPr lang="en-AU" sz="4000" b="1" dirty="0"/>
              <a:t>collect data </a:t>
            </a:r>
            <a:r>
              <a:rPr lang="en-AU" sz="4000" dirty="0"/>
              <a:t>to decide what to purchase. </a:t>
            </a:r>
          </a:p>
          <a:p>
            <a:pPr marL="571500" indent="-571500" algn="l">
              <a:lnSpc>
                <a:spcPct val="150000"/>
              </a:lnSpc>
              <a:buFont typeface="Arial" panose="020B0604020202020204" pitchFamily="34" charset="0"/>
              <a:buChar char="•"/>
            </a:pPr>
            <a:r>
              <a:rPr lang="en-AU" sz="4000" dirty="0"/>
              <a:t>Write a </a:t>
            </a:r>
            <a:r>
              <a:rPr lang="en-AU" sz="4000" b="1" dirty="0"/>
              <a:t>question</a:t>
            </a:r>
            <a:r>
              <a:rPr lang="en-AU" sz="4000" dirty="0"/>
              <a:t> to </a:t>
            </a:r>
            <a:r>
              <a:rPr lang="en-AU" sz="4000" b="1" dirty="0"/>
              <a:t>collect </a:t>
            </a:r>
            <a:r>
              <a:rPr lang="en-AU" sz="4000" dirty="0"/>
              <a:t>the</a:t>
            </a:r>
            <a:r>
              <a:rPr lang="en-AU" sz="4000" b="1" dirty="0"/>
              <a:t> data.</a:t>
            </a:r>
          </a:p>
          <a:p>
            <a:pPr marL="571500" indent="-571500" algn="l">
              <a:lnSpc>
                <a:spcPct val="150000"/>
              </a:lnSpc>
              <a:buFont typeface="Arial" panose="020B0604020202020204" pitchFamily="34" charset="0"/>
              <a:buChar char="•"/>
            </a:pPr>
            <a:r>
              <a:rPr lang="en-AU" sz="4000" dirty="0"/>
              <a:t>Write </a:t>
            </a:r>
            <a:r>
              <a:rPr lang="en-AU" sz="4000" b="1" dirty="0"/>
              <a:t>four categories </a:t>
            </a:r>
            <a:r>
              <a:rPr lang="en-AU" sz="4000" dirty="0"/>
              <a:t>to use for </a:t>
            </a:r>
            <a:r>
              <a:rPr lang="en-AU" sz="4000" b="1" dirty="0"/>
              <a:t>data collection.</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Short answer </a:t>
            </a:r>
            <a:r>
              <a:rPr lang="en-US" dirty="0">
                <a:solidFill>
                  <a:schemeClr val="bg1"/>
                </a:solidFill>
              </a:rPr>
              <a:t>(19) </a:t>
            </a:r>
          </a:p>
        </p:txBody>
      </p:sp>
      <p:pic>
        <p:nvPicPr>
          <p:cNvPr id="4" name="Picture 3" descr="Image of a clipboard with a pencil recording short answer.">
            <a:extLst>
              <a:ext uri="{FF2B5EF4-FFF2-40B4-BE49-F238E27FC236}">
                <a16:creationId xmlns:a16="http://schemas.microsoft.com/office/drawing/2014/main" id="{F8BD1E1A-A5C1-C3E4-4E23-90809767C96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 Placeholder">
                <a:extLst>
                  <a:ext uri="{FF2B5EF4-FFF2-40B4-BE49-F238E27FC236}">
                    <a16:creationId xmlns:a16="http://schemas.microsoft.com/office/drawing/2014/main" id="{DA2FFA4A-9142-0EC0-E714-B2855CB83B78}"/>
                  </a:ext>
                </a:extLst>
              </p:cNvPr>
              <p:cNvSpPr>
                <a:spLocks noGrp="1"/>
              </p:cNvSpPr>
              <p:nvPr>
                <p:ph type="body" sz="quarter" idx="24"/>
              </p:nvPr>
            </p:nvSpPr>
            <p:spPr>
              <a:xfrm>
                <a:off x="474662" y="916788"/>
                <a:ext cx="11242675" cy="893763"/>
              </a:xfrm>
            </p:spPr>
            <p:txBody>
              <a:bodyPr/>
              <a:lstStyle/>
              <a:p>
                <a:pPr algn="ctr">
                  <a:spcAft>
                    <a:spcPts val="1200"/>
                  </a:spcAft>
                </a:pPr>
                <a:r>
                  <a:rPr lang="en-US" sz="4400" dirty="0"/>
                  <a:t>Matt and Lucy are in a race. Matt has run </a:t>
                </a:r>
                <a14:m>
                  <m:oMath xmlns:m="http://schemas.openxmlformats.org/officeDocument/2006/math">
                    <m:f>
                      <m:fPr>
                        <m:ctrlPr>
                          <a:rPr lang="en-US" sz="4400" b="1" i="1" smtClean="0">
                            <a:latin typeface="Cambria Math" panose="02040503050406030204" pitchFamily="18" charset="0"/>
                          </a:rPr>
                        </m:ctrlPr>
                      </m:fPr>
                      <m:num>
                        <m:r>
                          <a:rPr lang="en-AU" sz="4400" b="1" i="0" smtClean="0">
                            <a:latin typeface="Cambria Math" panose="02040503050406030204" pitchFamily="18" charset="0"/>
                          </a:rPr>
                          <m:t> </m:t>
                        </m:r>
                        <m:r>
                          <a:rPr lang="en-AU" sz="4400" b="1" i="0" smtClean="0">
                            <a:latin typeface="Cambria Math" panose="02040503050406030204" pitchFamily="18" charset="0"/>
                          </a:rPr>
                          <m:t>𝟑</m:t>
                        </m:r>
                      </m:num>
                      <m:den>
                        <m:r>
                          <a:rPr lang="en-AU" sz="4400" b="1" i="0" smtClean="0">
                            <a:latin typeface="Cambria Math" panose="02040503050406030204" pitchFamily="18" charset="0"/>
                          </a:rPr>
                          <m:t> </m:t>
                        </m:r>
                        <m:r>
                          <a:rPr lang="en-AU" sz="4400" b="1" i="0" smtClean="0">
                            <a:latin typeface="Cambria Math" panose="02040503050406030204" pitchFamily="18" charset="0"/>
                          </a:rPr>
                          <m:t>𝟔</m:t>
                        </m:r>
                        <m:r>
                          <a:rPr lang="en-AU" sz="4400" b="1" i="0" smtClean="0">
                            <a:latin typeface="Cambria Math" panose="02040503050406030204" pitchFamily="18" charset="0"/>
                          </a:rPr>
                          <m:t> </m:t>
                        </m:r>
                      </m:den>
                    </m:f>
                  </m:oMath>
                </a14:m>
                <a:r>
                  <a:rPr lang="en-US" sz="4400" b="1" dirty="0"/>
                  <a:t> </a:t>
                </a:r>
                <a:r>
                  <a:rPr lang="en-US" sz="4400" dirty="0"/>
                  <a:t>of the way and Lucy has run </a:t>
                </a:r>
                <a14:m>
                  <m:oMath xmlns:m="http://schemas.openxmlformats.org/officeDocument/2006/math">
                    <m:f>
                      <m:fPr>
                        <m:ctrlPr>
                          <a:rPr lang="en-US" sz="4400" b="1" i="1" smtClean="0">
                            <a:latin typeface="Cambria Math" panose="02040503050406030204" pitchFamily="18" charset="0"/>
                          </a:rPr>
                        </m:ctrlPr>
                      </m:fPr>
                      <m:num>
                        <m:r>
                          <a:rPr lang="en-AU" sz="4400" b="1" i="1" smtClean="0">
                            <a:latin typeface="Cambria Math" panose="02040503050406030204" pitchFamily="18" charset="0"/>
                          </a:rPr>
                          <m:t>𝟐</m:t>
                        </m:r>
                      </m:num>
                      <m:den>
                        <m:r>
                          <a:rPr lang="en-AU" sz="4400" b="1" i="1" smtClean="0">
                            <a:latin typeface="Cambria Math" panose="02040503050406030204" pitchFamily="18" charset="0"/>
                          </a:rPr>
                          <m:t>𝟑</m:t>
                        </m:r>
                      </m:den>
                    </m:f>
                  </m:oMath>
                </a14:m>
                <a:r>
                  <a:rPr lang="en-US" sz="4400" b="1" dirty="0"/>
                  <a:t> </a:t>
                </a:r>
                <a:r>
                  <a:rPr lang="en-US" sz="4400" dirty="0"/>
                  <a:t>of the way. </a:t>
                </a:r>
                <a:br>
                  <a:rPr lang="en-US" sz="4400" dirty="0"/>
                </a:br>
                <a:r>
                  <a:rPr lang="en-US" sz="4400" dirty="0"/>
                  <a:t>Who is in the lead? </a:t>
                </a:r>
              </a:p>
              <a:p>
                <a:pPr algn="ctr">
                  <a:spcAft>
                    <a:spcPts val="1200"/>
                  </a:spcAft>
                </a:pPr>
                <a:r>
                  <a:rPr lang="en-US" sz="4400" dirty="0"/>
                  <a:t>Draw fraction strips to </a:t>
                </a:r>
                <a:r>
                  <a:rPr lang="en-AU" sz="4400" b="1" dirty="0"/>
                  <a:t>show </a:t>
                </a:r>
                <a:r>
                  <a:rPr lang="en-AU" sz="4400" dirty="0"/>
                  <a:t>your</a:t>
                </a:r>
                <a:r>
                  <a:rPr lang="en-AU" sz="4400" b="1" dirty="0"/>
                  <a:t> reasoning.</a:t>
                </a:r>
                <a:endParaRPr lang="en-AU" sz="4400" dirty="0"/>
              </a:p>
              <a:p>
                <a:pPr algn="ctr">
                  <a:lnSpc>
                    <a:spcPct val="100000"/>
                  </a:lnSpc>
                </a:pPr>
                <a:r>
                  <a:rPr lang="en-US" sz="4400" dirty="0"/>
                  <a:t> </a:t>
                </a:r>
                <a:endParaRPr lang="en-US" sz="4400" b="1" dirty="0"/>
              </a:p>
            </p:txBody>
          </p:sp>
        </mc:Choice>
        <mc:Fallback xmlns="">
          <p:sp>
            <p:nvSpPr>
              <p:cNvPr id="5" name="Text Placeholder">
                <a:extLst>
                  <a:ext uri="{FF2B5EF4-FFF2-40B4-BE49-F238E27FC236}">
                    <a16:creationId xmlns:a16="http://schemas.microsoft.com/office/drawing/2014/main" id="{DA2FFA4A-9142-0EC0-E714-B2855CB83B78}"/>
                  </a:ext>
                </a:extLst>
              </p:cNvPr>
              <p:cNvSpPr>
                <a:spLocks noGrp="1" noRot="1" noChangeAspect="1" noMove="1" noResize="1" noEditPoints="1" noAdjustHandles="1" noChangeArrowheads="1" noChangeShapeType="1" noTextEdit="1"/>
              </p:cNvSpPr>
              <p:nvPr>
                <p:ph type="body" sz="quarter" idx="24"/>
              </p:nvPr>
            </p:nvSpPr>
            <p:spPr>
              <a:xfrm>
                <a:off x="474662" y="916788"/>
                <a:ext cx="11242675" cy="893763"/>
              </a:xfrm>
              <a:blipFill>
                <a:blip r:embed="rId4"/>
                <a:stretch>
                  <a:fillRect l="-2983" r="-2874" b="-489116"/>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3FB29-698C-C238-C49D-EA8E49BD4D6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8EFC54-0FBB-39F2-4FC7-CEDEC6F7AFC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pic>
        <p:nvPicPr>
          <p:cNvPr id="4" name="Picture 3" descr="Image of a clipboard with a pencil recording short answer.">
            <a:extLst>
              <a:ext uri="{FF2B5EF4-FFF2-40B4-BE49-F238E27FC236}">
                <a16:creationId xmlns:a16="http://schemas.microsoft.com/office/drawing/2014/main" id="{A988F3D6-CB2E-8A54-A17F-91D053CA920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035D613-1D96-849B-9D4B-90A4535ED6A5}"/>
              </a:ext>
            </a:extLst>
          </p:cNvPr>
          <p:cNvSpPr txBox="1"/>
          <p:nvPr/>
        </p:nvSpPr>
        <p:spPr>
          <a:xfrm>
            <a:off x="993917" y="1139735"/>
            <a:ext cx="914400" cy="914400"/>
          </a:xfrm>
          <a:prstGeom prst="rect">
            <a:avLst/>
          </a:prstGeom>
          <a:noFill/>
        </p:spPr>
        <p:txBody>
          <a:bodyPr wrap="none" lIns="0" tIns="0" rIns="0" bIns="0" rtlCol="0">
            <a:noAutofit/>
          </a:bodyPr>
          <a:lstStyle/>
          <a:p>
            <a:r>
              <a:rPr lang="en-AU" sz="4000" b="1" dirty="0"/>
              <a:t>Write</a:t>
            </a:r>
            <a:r>
              <a:rPr lang="en-AU" sz="4000" dirty="0"/>
              <a:t> the </a:t>
            </a:r>
            <a:r>
              <a:rPr lang="en-AU" sz="4000" b="1" dirty="0"/>
              <a:t>time</a:t>
            </a:r>
            <a:r>
              <a:rPr lang="en-AU" sz="4000" dirty="0"/>
              <a:t> shown on the clock in </a:t>
            </a:r>
            <a:r>
              <a:rPr lang="en-AU" sz="4000" b="1" dirty="0"/>
              <a:t>words</a:t>
            </a:r>
            <a:r>
              <a:rPr lang="en-AU" sz="4000" dirty="0"/>
              <a:t>.</a:t>
            </a:r>
          </a:p>
        </p:txBody>
      </p:sp>
      <p:pic>
        <p:nvPicPr>
          <p:cNvPr id="5" name="Picture 4" descr="An analog clock with the long hand pointing to the 2 and the short hand pointing past the 7.">
            <a:extLst>
              <a:ext uri="{FF2B5EF4-FFF2-40B4-BE49-F238E27FC236}">
                <a16:creationId xmlns:a16="http://schemas.microsoft.com/office/drawing/2014/main" id="{F57C81EB-D3CD-4DEA-A678-40DA84F20B32}"/>
              </a:ext>
            </a:extLst>
          </p:cNvPr>
          <p:cNvPicPr>
            <a:picLocks noChangeAspect="1"/>
          </p:cNvPicPr>
          <p:nvPr/>
        </p:nvPicPr>
        <p:blipFill>
          <a:blip r:embed="rId4"/>
          <a:stretch>
            <a:fillRect/>
          </a:stretch>
        </p:blipFill>
        <p:spPr>
          <a:xfrm>
            <a:off x="3861093" y="2071442"/>
            <a:ext cx="4469814" cy="4426558"/>
          </a:xfrm>
          <a:prstGeom prst="rect">
            <a:avLst/>
          </a:prstGeom>
        </p:spPr>
      </p:pic>
      <p:sp>
        <p:nvSpPr>
          <p:cNvPr id="2" name="Slide Number Placeholder 1">
            <a:extLst>
              <a:ext uri="{FF2B5EF4-FFF2-40B4-BE49-F238E27FC236}">
                <a16:creationId xmlns:a16="http://schemas.microsoft.com/office/drawing/2014/main" id="{2149A569-6A0D-E51F-ACE5-0F743B20B0F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45223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2AF4-16F7-7B99-5904-D03C47AF495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FFC6920-D550-E8A1-8ED6-6A76998D9F1D}"/>
              </a:ext>
            </a:extLst>
          </p:cNvPr>
          <p:cNvSpPr>
            <a:spLocks noGrp="1"/>
          </p:cNvSpPr>
          <p:nvPr>
            <p:ph type="title"/>
          </p:nvPr>
        </p:nvSpPr>
        <p:spPr>
          <a:xfrm>
            <a:off x="360000" y="360000"/>
            <a:ext cx="10367268" cy="545601"/>
          </a:xfrm>
        </p:spPr>
        <p:txBody>
          <a:bodyPr/>
          <a:lstStyle/>
          <a:p>
            <a:r>
              <a:rPr lang="en-AU" dirty="0"/>
              <a:t>Activity 5 – equal difference</a:t>
            </a:r>
            <a:br>
              <a:rPr lang="en-AU" b="1" dirty="0"/>
            </a:br>
            <a:endParaRPr lang="en-AU" dirty="0"/>
          </a:p>
        </p:txBody>
      </p:sp>
      <p:pic>
        <p:nvPicPr>
          <p:cNvPr id="4" name="Picture 3" descr="image of a head with cogs turning inside">
            <a:extLst>
              <a:ext uri="{FF2B5EF4-FFF2-40B4-BE49-F238E27FC236}">
                <a16:creationId xmlns:a16="http://schemas.microsoft.com/office/drawing/2014/main" id="{9E5F152B-6CAA-C563-B518-CE6068111D13}"/>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Picture of five students with different answers to the number sentence 32 + 24 =&#10;Text reads: Five students were asked to complete the number sentence: 32 + 24 = Who is correct? How do you know? &#10;Kai's answers is 56 + 12&#10;Mel's answer is 3224&#10;Tina's answer is 56&#10;Eva's answer is 15 + 41&#10;John's answer is 63 - 7">
            <a:extLst>
              <a:ext uri="{FF2B5EF4-FFF2-40B4-BE49-F238E27FC236}">
                <a16:creationId xmlns:a16="http://schemas.microsoft.com/office/drawing/2014/main" id="{2BD5122B-3637-04D2-7C67-4C7429B149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1228" y="971842"/>
            <a:ext cx="8221602" cy="575461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AB8946C8-4CFB-624D-29C5-3A38EDB2F11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632359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True or false</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68A42C3E-6327-5B96-1AEC-4D3FF093694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17">
            <a:extLst>
              <a:ext uri="{FF2B5EF4-FFF2-40B4-BE49-F238E27FC236}">
                <a16:creationId xmlns:a16="http://schemas.microsoft.com/office/drawing/2014/main" id="{ED8227B9-6363-79F1-A9FD-5242948869B4}"/>
              </a:ext>
            </a:extLst>
          </p:cNvPr>
          <p:cNvSpPr txBox="1">
            <a:spLocks/>
          </p:cNvSpPr>
          <p:nvPr/>
        </p:nvSpPr>
        <p:spPr>
          <a:xfrm>
            <a:off x="2465614" y="2113486"/>
            <a:ext cx="726077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 </a:t>
            </a:r>
            <a:r>
              <a:rPr lang="en-US" sz="5400" dirty="0"/>
              <a:t>507 + 599 = 500 + 606</a:t>
            </a:r>
          </a:p>
        </p:txBody>
      </p:sp>
      <p:graphicFrame>
        <p:nvGraphicFramePr>
          <p:cNvPr id="25" name="Table 24">
            <a:extLst>
              <a:ext uri="{FF2B5EF4-FFF2-40B4-BE49-F238E27FC236}">
                <a16:creationId xmlns:a16="http://schemas.microsoft.com/office/drawing/2014/main" id="{72C201E7-969B-5CF8-1DD0-8792B3D46C14}"/>
              </a:ext>
            </a:extLst>
          </p:cNvPr>
          <p:cNvGraphicFramePr>
            <a:graphicFrameLocks noGrp="1"/>
          </p:cNvGraphicFramePr>
          <p:nvPr>
            <p:extLst>
              <p:ext uri="{D42A27DB-BD31-4B8C-83A1-F6EECF244321}">
                <p14:modId xmlns:p14="http://schemas.microsoft.com/office/powerpoint/2010/main" val="429964212"/>
              </p:ext>
            </p:extLst>
          </p:nvPr>
        </p:nvGraphicFramePr>
        <p:xfrm>
          <a:off x="2557461" y="4944538"/>
          <a:ext cx="7077076" cy="742121"/>
        </p:xfrm>
        <a:graphic>
          <a:graphicData uri="http://schemas.openxmlformats.org/drawingml/2006/table">
            <a:tbl>
              <a:tblPr bandRow="1">
                <a:tableStyleId>{5A111915-BE36-4E01-A7E5-04B1672EAD32}</a:tableStyleId>
              </a:tblPr>
              <a:tblGrid>
                <a:gridCol w="3538538">
                  <a:extLst>
                    <a:ext uri="{9D8B030D-6E8A-4147-A177-3AD203B41FA5}">
                      <a16:colId xmlns:a16="http://schemas.microsoft.com/office/drawing/2014/main" val="2010651814"/>
                    </a:ext>
                  </a:extLst>
                </a:gridCol>
                <a:gridCol w="3538538">
                  <a:extLst>
                    <a:ext uri="{9D8B030D-6E8A-4147-A177-3AD203B41FA5}">
                      <a16:colId xmlns:a16="http://schemas.microsoft.com/office/drawing/2014/main" val="3934122634"/>
                    </a:ext>
                  </a:extLst>
                </a:gridCol>
              </a:tblGrid>
              <a:tr h="742121">
                <a:tc>
                  <a:txBody>
                    <a:bodyPr/>
                    <a:lstStyle/>
                    <a:p>
                      <a:pPr algn="ctr" rtl="0" fontAlgn="base">
                        <a:lnSpc>
                          <a:spcPts val="3975"/>
                        </a:lnSpc>
                        <a:buNone/>
                      </a:pPr>
                      <a:r>
                        <a:rPr lang="en-US" sz="4000" b="1" dirty="0">
                          <a:solidFill>
                            <a:srgbClr val="146CFD"/>
                          </a:solidFill>
                          <a:effectLst/>
                          <a:latin typeface="Arial" panose="020B0604020202020204" pitchFamily="34" charset="0"/>
                        </a:rPr>
                        <a:t>True</a:t>
                      </a:r>
                      <a:endParaRPr lang="en-US" b="1" dirty="0">
                        <a:solidFill>
                          <a:srgbClr val="FFFFFF"/>
                        </a:solidFill>
                        <a:effectLst/>
                      </a:endParaRPr>
                    </a:p>
                  </a:txBody>
                  <a:tcPr marL="75105" marR="75105" marT="37548" marB="375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3975"/>
                        </a:lnSpc>
                        <a:buNone/>
                      </a:pPr>
                      <a:r>
                        <a:rPr lang="en-US" sz="4000" b="1" dirty="0">
                          <a:solidFill>
                            <a:srgbClr val="146CFD"/>
                          </a:solidFill>
                          <a:effectLst/>
                          <a:latin typeface="Arial" panose="020B0604020202020204" pitchFamily="34" charset="0"/>
                        </a:rPr>
                        <a:t>False</a:t>
                      </a:r>
                      <a:endParaRPr lang="en-US" b="1" dirty="0">
                        <a:solidFill>
                          <a:srgbClr val="FFFFFF"/>
                        </a:solidFill>
                        <a:effectLst/>
                      </a:endParaRPr>
                    </a:p>
                  </a:txBody>
                  <a:tcPr marL="75105" marR="75105" marT="37548" marB="375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2920258"/>
                  </a:ext>
                </a:extLst>
              </a:tr>
            </a:tbl>
          </a:graphicData>
        </a:graphic>
      </p:graphicFrame>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a:xfrm>
            <a:off x="11243037" y="6553424"/>
            <a:ext cx="720000" cy="180000"/>
          </a:xfrm>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AU" dirty="0"/>
              <a:t>Short response </a:t>
            </a:r>
            <a:r>
              <a:rPr lang="en-US" dirty="0">
                <a:solidFill>
                  <a:schemeClr val="bg1"/>
                </a:solidFill>
              </a:rPr>
              <a:t>(21)</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1" name="Text Placeholder 17">
            <a:extLst>
              <a:ext uri="{FF2B5EF4-FFF2-40B4-BE49-F238E27FC236}">
                <a16:creationId xmlns:a16="http://schemas.microsoft.com/office/drawing/2014/main" id="{85868C16-841B-059F-CE21-13C051F4FDB0}"/>
              </a:ext>
            </a:extLst>
          </p:cNvPr>
          <p:cNvSpPr txBox="1">
            <a:spLocks/>
          </p:cNvSpPr>
          <p:nvPr/>
        </p:nvSpPr>
        <p:spPr>
          <a:xfrm>
            <a:off x="474479" y="876615"/>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dirty="0"/>
              <a:t>Record</a:t>
            </a:r>
            <a:r>
              <a:rPr lang="en-US" sz="4000" dirty="0"/>
              <a:t> the number shown. </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6" name="Picture 5">
            <a:extLst>
              <a:ext uri="{FF2B5EF4-FFF2-40B4-BE49-F238E27FC236}">
                <a16:creationId xmlns:a16="http://schemas.microsoft.com/office/drawing/2014/main" id="{C23B527C-8328-6309-79A3-E1C0997B1553}"/>
              </a:ext>
            </a:extLst>
          </p:cNvPr>
          <p:cNvPicPr>
            <a:picLocks noChangeAspect="1"/>
          </p:cNvPicPr>
          <p:nvPr/>
        </p:nvPicPr>
        <p:blipFill>
          <a:blip r:embed="rId4"/>
          <a:stretch>
            <a:fillRect/>
          </a:stretch>
        </p:blipFill>
        <p:spPr>
          <a:xfrm>
            <a:off x="1690548" y="1945605"/>
            <a:ext cx="8810901" cy="4392393"/>
          </a:xfrm>
          <a:prstGeom prst="rect">
            <a:avLst/>
          </a:prstGeom>
        </p:spPr>
      </p:pic>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7" name="Picture 6" descr="Table showing books read per month. Year 1 has 20 books, Year 2 has 17 books, Year 3 has 12 books and Year 4 has 8 books.  ">
            <a:extLst>
              <a:ext uri="{FF2B5EF4-FFF2-40B4-BE49-F238E27FC236}">
                <a16:creationId xmlns:a16="http://schemas.microsoft.com/office/drawing/2014/main" id="{059ACCA3-C3D2-B522-3161-948A76EB237C}"/>
              </a:ext>
            </a:extLst>
          </p:cNvPr>
          <p:cNvPicPr>
            <a:picLocks noChangeAspect="1"/>
          </p:cNvPicPr>
          <p:nvPr/>
        </p:nvPicPr>
        <p:blipFill>
          <a:blip r:embed="rId3"/>
          <a:srcRect l="4147" t="7562" r="2435" b="5056"/>
          <a:stretch>
            <a:fillRect/>
          </a:stretch>
        </p:blipFill>
        <p:spPr>
          <a:xfrm>
            <a:off x="360000" y="2381396"/>
            <a:ext cx="6948738" cy="3770916"/>
          </a:xfrm>
          <a:prstGeom prst="rect">
            <a:avLst/>
          </a:prstGeom>
          <a:ln>
            <a:noFill/>
          </a:ln>
          <a:effectLst>
            <a:outerShdw blurRad="292100" dist="139700" dir="2700000" algn="tl" rotWithShape="0">
              <a:srgbClr val="333333">
                <a:alpha val="65000"/>
              </a:srgbClr>
            </a:outerShdw>
          </a:effectLst>
        </p:spPr>
      </p:pic>
      <p:pic>
        <p:nvPicPr>
          <p:cNvPr id="10" name="Picture 9" descr="Column graph showing the same data in a column graph. ">
            <a:extLst>
              <a:ext uri="{FF2B5EF4-FFF2-40B4-BE49-F238E27FC236}">
                <a16:creationId xmlns:a16="http://schemas.microsoft.com/office/drawing/2014/main" id="{70F953F4-331B-273D-6C45-A4846A3598FC}"/>
              </a:ext>
            </a:extLst>
          </p:cNvPr>
          <p:cNvPicPr>
            <a:picLocks noChangeAspect="1"/>
          </p:cNvPicPr>
          <p:nvPr/>
        </p:nvPicPr>
        <p:blipFill>
          <a:blip r:embed="rId4"/>
          <a:stretch>
            <a:fillRect/>
          </a:stretch>
        </p:blipFill>
        <p:spPr>
          <a:xfrm>
            <a:off x="7615903" y="1922957"/>
            <a:ext cx="4216097" cy="4514496"/>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ECFFD784-747A-40E2-86C6-56CE900083AB}"/>
              </a:ext>
            </a:extLst>
          </p:cNvPr>
          <p:cNvSpPr txBox="1"/>
          <p:nvPr/>
        </p:nvSpPr>
        <p:spPr>
          <a:xfrm>
            <a:off x="246024" y="1072204"/>
            <a:ext cx="11651278" cy="772206"/>
          </a:xfrm>
          <a:prstGeom prst="rect">
            <a:avLst/>
          </a:prstGeom>
          <a:noFill/>
        </p:spPr>
        <p:txBody>
          <a:bodyPr wrap="square" lIns="0" tIns="0" rIns="0" bIns="0" rtlCol="0">
            <a:noAutofit/>
          </a:bodyPr>
          <a:lstStyle/>
          <a:p>
            <a:pPr algn="ctr">
              <a:lnSpc>
                <a:spcPct val="150000"/>
              </a:lnSpc>
            </a:pPr>
            <a:r>
              <a:rPr lang="en-AU" sz="3600" dirty="0"/>
              <a:t>Which </a:t>
            </a:r>
            <a:r>
              <a:rPr lang="en-AU" sz="3600" b="1" dirty="0"/>
              <a:t>graph</a:t>
            </a:r>
            <a:r>
              <a:rPr lang="en-AU" sz="3600" dirty="0"/>
              <a:t> is easier to understand and why? </a:t>
            </a:r>
          </a:p>
        </p:txBody>
      </p:sp>
      <p:pic>
        <p:nvPicPr>
          <p:cNvPr id="9" name="Picture 8" descr="Image of a clipboard with a pencil recording short answer.">
            <a:extLst>
              <a:ext uri="{FF2B5EF4-FFF2-40B4-BE49-F238E27FC236}">
                <a16:creationId xmlns:a16="http://schemas.microsoft.com/office/drawing/2014/main" id="{4E037033-C7D2-E439-4AFC-5FFDDCFC0E65}"/>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Rectangle 3">
            <a:extLst>
              <a:ext uri="{FF2B5EF4-FFF2-40B4-BE49-F238E27FC236}">
                <a16:creationId xmlns:a16="http://schemas.microsoft.com/office/drawing/2014/main" id="{9B5E26C4-3421-4567-2D31-C37DB5055119}"/>
              </a:ext>
              <a:ext uri="{C183D7F6-B498-43B3-948B-1728B52AA6E4}">
                <adec:decorative xmlns:adec="http://schemas.microsoft.com/office/drawing/2017/decorative" val="1"/>
              </a:ext>
            </a:extLst>
          </p:cNvPr>
          <p:cNvSpPr/>
          <p:nvPr/>
        </p:nvSpPr>
        <p:spPr>
          <a:xfrm>
            <a:off x="1794076" y="1458410"/>
            <a:ext cx="5081286" cy="694481"/>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0BA1AA6B-BA17-BA03-932F-926F9EAC2C6D}"/>
              </a:ext>
              <a:ext uri="{C183D7F6-B498-43B3-948B-1728B52AA6E4}">
                <adec:decorative xmlns:adec="http://schemas.microsoft.com/office/drawing/2017/decorative" val="1"/>
              </a:ext>
            </a:extLst>
          </p:cNvPr>
          <p:cNvSpPr/>
          <p:nvPr/>
        </p:nvSpPr>
        <p:spPr>
          <a:xfrm>
            <a:off x="6883068" y="2461943"/>
            <a:ext cx="2550299" cy="694481"/>
          </a:xfrm>
          <a:prstGeom prst="rect">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E2FD4C58-5787-8E23-2D6B-03580E03144D}"/>
              </a:ext>
            </a:extLst>
          </p:cNvPr>
          <p:cNvSpPr txBox="1"/>
          <p:nvPr/>
        </p:nvSpPr>
        <p:spPr>
          <a:xfrm>
            <a:off x="303012" y="4656600"/>
            <a:ext cx="11585976" cy="914400"/>
          </a:xfrm>
          <a:prstGeom prst="rect">
            <a:avLst/>
          </a:prstGeom>
          <a:noFill/>
        </p:spPr>
        <p:txBody>
          <a:bodyPr wrap="square" lIns="0" tIns="0" rIns="0" bIns="0" rtlCol="0">
            <a:noAutofit/>
          </a:bodyPr>
          <a:lstStyle/>
          <a:p>
            <a:pPr marL="571500" indent="-571500" algn="l">
              <a:lnSpc>
                <a:spcPct val="150000"/>
              </a:lnSpc>
              <a:buFont typeface="Arial" panose="020B0604020202020204" pitchFamily="34" charset="0"/>
              <a:buChar char="•"/>
            </a:pPr>
            <a:r>
              <a:rPr lang="en-AU" sz="4000" dirty="0"/>
              <a:t>What is the </a:t>
            </a:r>
            <a:r>
              <a:rPr lang="en-AU" sz="4000" b="1" dirty="0"/>
              <a:t>fractional quantity </a:t>
            </a:r>
            <a:r>
              <a:rPr lang="en-AU" sz="4000" dirty="0"/>
              <a:t>of the pink strip? </a:t>
            </a:r>
          </a:p>
          <a:p>
            <a:pPr marL="571500" indent="-571500" algn="l">
              <a:lnSpc>
                <a:spcPct val="150000"/>
              </a:lnSpc>
              <a:buFont typeface="Arial" panose="020B0604020202020204" pitchFamily="34" charset="0"/>
              <a:buChar char="•"/>
            </a:pPr>
            <a:r>
              <a:rPr lang="en-AU" sz="4000" dirty="0"/>
              <a:t>Can you write this in another way?  </a:t>
            </a:r>
          </a:p>
        </p:txBody>
      </p:sp>
      <p:sp>
        <p:nvSpPr>
          <p:cNvPr id="9" name="Rectangle 8">
            <a:extLst>
              <a:ext uri="{FF2B5EF4-FFF2-40B4-BE49-F238E27FC236}">
                <a16:creationId xmlns:a16="http://schemas.microsoft.com/office/drawing/2014/main" id="{1B76881B-F90D-3A34-DBB6-FCB837B6D5E1}"/>
              </a:ext>
              <a:ext uri="{C183D7F6-B498-43B3-948B-1728B52AA6E4}">
                <adec:decorative xmlns:adec="http://schemas.microsoft.com/office/drawing/2017/decorative" val="1"/>
              </a:ext>
            </a:extLst>
          </p:cNvPr>
          <p:cNvSpPr/>
          <p:nvPr/>
        </p:nvSpPr>
        <p:spPr>
          <a:xfrm>
            <a:off x="1794076" y="2461941"/>
            <a:ext cx="5081286" cy="69448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Connector 10">
            <a:extLst>
              <a:ext uri="{FF2B5EF4-FFF2-40B4-BE49-F238E27FC236}">
                <a16:creationId xmlns:a16="http://schemas.microsoft.com/office/drawing/2014/main" id="{5760CC65-B0C5-351C-7EB6-44E32CE69BBB}"/>
              </a:ext>
              <a:ext uri="{C183D7F6-B498-43B3-948B-1728B52AA6E4}">
                <adec:decorative xmlns:adec="http://schemas.microsoft.com/office/drawing/2017/decorative" val="1"/>
              </a:ext>
            </a:extLst>
          </p:cNvPr>
          <p:cNvCxnSpPr>
            <a:stCxn id="4" idx="0"/>
            <a:endCxn id="4" idx="2"/>
          </p:cNvCxnSpPr>
          <p:nvPr/>
        </p:nvCxnSpPr>
        <p:spPr>
          <a:xfrm>
            <a:off x="4334719" y="1458410"/>
            <a:ext cx="0" cy="6944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D5933E-923F-1AC2-4A52-03079CACFD9E}"/>
              </a:ext>
              <a:ext uri="{C183D7F6-B498-43B3-948B-1728B52AA6E4}">
                <adec:decorative xmlns:adec="http://schemas.microsoft.com/office/drawing/2017/decorative" val="1"/>
              </a:ext>
            </a:extLst>
          </p:cNvPr>
          <p:cNvCxnSpPr/>
          <p:nvPr/>
        </p:nvCxnSpPr>
        <p:spPr>
          <a:xfrm>
            <a:off x="4334719" y="2461942"/>
            <a:ext cx="0" cy="694481"/>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6CE1C9-66BB-DA93-DE6D-A4134E2AA24F}"/>
              </a:ext>
            </a:extLst>
          </p:cNvPr>
          <p:cNvSpPr txBox="1"/>
          <p:nvPr/>
        </p:nvSpPr>
        <p:spPr>
          <a:xfrm>
            <a:off x="360000" y="3552569"/>
            <a:ext cx="11472000" cy="707886"/>
          </a:xfrm>
          <a:prstGeom prst="rect">
            <a:avLst/>
          </a:prstGeom>
          <a:noFill/>
        </p:spPr>
        <p:txBody>
          <a:bodyPr wrap="square">
            <a:spAutoFit/>
          </a:bodyPr>
          <a:lstStyle/>
          <a:p>
            <a:r>
              <a:rPr lang="en-AU" sz="4000"/>
              <a:t>The blue </a:t>
            </a:r>
            <a:r>
              <a:rPr lang="en-AU" sz="4000" b="1"/>
              <a:t>fraction strip </a:t>
            </a:r>
            <a:r>
              <a:rPr lang="en-AU" sz="4000"/>
              <a:t>is </a:t>
            </a:r>
            <a:r>
              <a:rPr lang="en-AU" sz="4000" b="1"/>
              <a:t>equal</a:t>
            </a:r>
            <a:r>
              <a:rPr lang="en-AU" sz="4000"/>
              <a:t> to </a:t>
            </a:r>
            <a:r>
              <a:rPr lang="en-AU" sz="4000" b="1"/>
              <a:t>one whole</a:t>
            </a:r>
            <a:r>
              <a:rPr lang="en-AU" sz="4000"/>
              <a:t>. </a:t>
            </a:r>
          </a:p>
        </p:txBody>
      </p:sp>
      <p:pic>
        <p:nvPicPr>
          <p:cNvPr id="5" name="Picture 4" descr="Image of a clipboard with a pencil recording short answer.">
            <a:extLst>
              <a:ext uri="{FF2B5EF4-FFF2-40B4-BE49-F238E27FC236}">
                <a16:creationId xmlns:a16="http://schemas.microsoft.com/office/drawing/2014/main" id="{C0C5E8D4-3E15-5C2B-EEAE-7BB2C2A9D6E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EBBC3C95-EC0D-1B1E-BB2C-6978A9DB0249}"/>
              </a:ext>
            </a:extLst>
          </p:cNvPr>
          <p:cNvSpPr txBox="1"/>
          <p:nvPr/>
        </p:nvSpPr>
        <p:spPr>
          <a:xfrm>
            <a:off x="360000" y="1109812"/>
            <a:ext cx="11295706" cy="1125388"/>
          </a:xfrm>
          <a:prstGeom prst="rect">
            <a:avLst/>
          </a:prstGeom>
          <a:noFill/>
        </p:spPr>
        <p:txBody>
          <a:bodyPr wrap="square" lIns="0" tIns="0" rIns="0" bIns="0" rtlCol="0">
            <a:noAutofit/>
          </a:bodyPr>
          <a:lstStyle/>
          <a:p>
            <a:pPr algn="ctr">
              <a:lnSpc>
                <a:spcPct val="150000"/>
              </a:lnSpc>
            </a:pPr>
            <a:r>
              <a:rPr lang="en-AU" sz="4000" dirty="0"/>
              <a:t>Which of the angles indicated with a </a:t>
            </a:r>
            <a:r>
              <a:rPr lang="en-AU" sz="4000" dirty="0">
                <a:solidFill>
                  <a:srgbClr val="FF0000"/>
                </a:solidFill>
              </a:rPr>
              <a:t>red</a:t>
            </a:r>
            <a:r>
              <a:rPr lang="en-AU" sz="4000" dirty="0"/>
              <a:t> dot are </a:t>
            </a:r>
            <a:r>
              <a:rPr lang="en-AU" sz="4000" b="1" dirty="0"/>
              <a:t>right angles</a:t>
            </a:r>
            <a:r>
              <a:rPr lang="en-AU" sz="4000" dirty="0"/>
              <a:t>?</a:t>
            </a:r>
          </a:p>
        </p:txBody>
      </p:sp>
      <p:pic>
        <p:nvPicPr>
          <p:cNvPr id="9" name="Picture 8" descr="A pair of scissors, with a red dot showing the angle between the blades which have been opened a little. A book, with a red dot showing the angle near the bottom right corner of the front cover.&#10;A clock showing 7 o'clock, with a red dot indicating the angle between the hands.&#10;Two pencils forming a T shape, with a red dot where the 2 pencils cross.">
            <a:extLst>
              <a:ext uri="{FF2B5EF4-FFF2-40B4-BE49-F238E27FC236}">
                <a16:creationId xmlns:a16="http://schemas.microsoft.com/office/drawing/2014/main" id="{B152A590-053E-6DEA-BEF8-204B5A659983}"/>
              </a:ext>
            </a:extLst>
          </p:cNvPr>
          <p:cNvPicPr>
            <a:picLocks noChangeAspect="1"/>
          </p:cNvPicPr>
          <p:nvPr/>
        </p:nvPicPr>
        <p:blipFill>
          <a:blip r:embed="rId3"/>
          <a:stretch>
            <a:fillRect/>
          </a:stretch>
        </p:blipFill>
        <p:spPr>
          <a:xfrm>
            <a:off x="1124157" y="3241422"/>
            <a:ext cx="10255777" cy="3454578"/>
          </a:xfrm>
          <a:prstGeom prst="rect">
            <a:avLst/>
          </a:prstGeom>
        </p:spPr>
      </p:pic>
      <p:pic>
        <p:nvPicPr>
          <p:cNvPr id="5" name="Picture 4" descr="Image of a clipboard with a pencil recording short answer.">
            <a:extLst>
              <a:ext uri="{FF2B5EF4-FFF2-40B4-BE49-F238E27FC236}">
                <a16:creationId xmlns:a16="http://schemas.microsoft.com/office/drawing/2014/main" id="{8158495B-9088-DF2C-BD99-351CC3AFAF8B}"/>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6 – equivalent number sentences 1 </a:t>
            </a:r>
          </a:p>
        </p:txBody>
      </p:sp>
      <p:pic>
        <p:nvPicPr>
          <p:cNvPr id="15" name="Picture 14" descr="A screen shot of the equivalent number sentences 1 game. It shows to whiteboards one for students A and one for Student B with dice in between. Student As board has the number sentence 32 = 35 = 17 +50 and Students be has the number sentence 17+ 50=32+35.">
            <a:extLst>
              <a:ext uri="{FF2B5EF4-FFF2-40B4-BE49-F238E27FC236}">
                <a16:creationId xmlns:a16="http://schemas.microsoft.com/office/drawing/2014/main" id="{6EC738A2-D9D5-69AF-3DFA-EED96F661E4B}"/>
              </a:ext>
            </a:extLst>
          </p:cNvPr>
          <p:cNvPicPr>
            <a:picLocks noChangeAspect="1"/>
          </p:cNvPicPr>
          <p:nvPr/>
        </p:nvPicPr>
        <p:blipFill>
          <a:blip r:embed="rId3"/>
          <a:stretch>
            <a:fillRect/>
          </a:stretch>
        </p:blipFill>
        <p:spPr>
          <a:xfrm>
            <a:off x="523103" y="1501139"/>
            <a:ext cx="11455260" cy="3022735"/>
          </a:xfrm>
          <a:prstGeom prst="rect">
            <a:avLst/>
          </a:prstGeom>
        </p:spPr>
      </p:pic>
      <p:pic>
        <p:nvPicPr>
          <p:cNvPr id="4" name="Picture 3" descr="image of a head with cogs turning inside">
            <a:extLst>
              <a:ext uri="{FF2B5EF4-FFF2-40B4-BE49-F238E27FC236}">
                <a16:creationId xmlns:a16="http://schemas.microsoft.com/office/drawing/2014/main" id="{B6650306-4A95-B0F9-4303-1F141625E0FF}"/>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02170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E3DD-A754-599D-1538-3DF6271A7A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51577C-3FEA-0371-0919-81A37E6C8833}"/>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EA993129-A980-55FC-ED86-C0BC2AA111C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A4C955A-76C3-0F12-F223-B20A184936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8" name="Text Placeholder 17">
            <a:extLst>
              <a:ext uri="{FF2B5EF4-FFF2-40B4-BE49-F238E27FC236}">
                <a16:creationId xmlns:a16="http://schemas.microsoft.com/office/drawing/2014/main" id="{E8FE2C2C-AE76-908D-8B08-A054EB3D8479}"/>
              </a:ext>
            </a:extLst>
          </p:cNvPr>
          <p:cNvSpPr txBox="1">
            <a:spLocks/>
          </p:cNvSpPr>
          <p:nvPr/>
        </p:nvSpPr>
        <p:spPr>
          <a:xfrm>
            <a:off x="600963" y="972230"/>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dirty="0"/>
              <a:t>Which of these </a:t>
            </a:r>
            <a:r>
              <a:rPr lang="en-US" sz="4000" b="1" dirty="0"/>
              <a:t>number sentences is correct. </a:t>
            </a:r>
            <a:r>
              <a:rPr lang="en-US" sz="4000" dirty="0"/>
              <a:t>You may select more than one. </a:t>
            </a:r>
          </a:p>
        </p:txBody>
      </p:sp>
      <p:sp>
        <p:nvSpPr>
          <p:cNvPr id="13"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a:xfrm>
            <a:off x="1440128" y="2764127"/>
            <a:ext cx="3795901" cy="893227"/>
          </a:xfrm>
        </p:spPr>
        <p:txBody>
          <a:bodyPr/>
          <a:lstStyle/>
          <a:p>
            <a:r>
              <a:rPr lang="en-AU" sz="4000" dirty="0"/>
              <a:t>59 - 13 </a:t>
            </a:r>
            <a:r>
              <a:rPr lang="en-AU" sz="4000"/>
              <a:t>= 60 -</a:t>
            </a:r>
            <a:r>
              <a:rPr lang="en-AU" sz="4000" dirty="0"/>
              <a:t> </a:t>
            </a:r>
            <a:r>
              <a:rPr lang="en-AU" sz="4000"/>
              <a:t>14</a:t>
            </a:r>
          </a:p>
        </p:txBody>
      </p:sp>
      <p:sp>
        <p:nvSpPr>
          <p:cNvPr id="17"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a:xfrm>
            <a:off x="1440128" y="3780654"/>
            <a:ext cx="3987779" cy="645267"/>
          </a:xfrm>
        </p:spPr>
        <p:txBody>
          <a:bodyPr/>
          <a:lstStyle/>
          <a:p>
            <a:r>
              <a:rPr lang="en-AU" sz="4000" dirty="0"/>
              <a:t>49 - </a:t>
            </a:r>
            <a:r>
              <a:rPr lang="en-AU" sz="4000"/>
              <a:t>19 = 50 -</a:t>
            </a:r>
            <a:r>
              <a:rPr lang="en-AU" sz="4000" dirty="0"/>
              <a:t> </a:t>
            </a:r>
            <a:r>
              <a:rPr lang="en-AU" sz="4000"/>
              <a:t>18 </a:t>
            </a:r>
          </a:p>
        </p:txBody>
      </p:sp>
      <p:sp>
        <p:nvSpPr>
          <p:cNvPr id="19"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1442417" y="5664753"/>
            <a:ext cx="4780064" cy="1193247"/>
          </a:xfrm>
        </p:spPr>
        <p:txBody>
          <a:bodyPr/>
          <a:lstStyle/>
          <a:p>
            <a:r>
              <a:rPr lang="en-AU" sz="4000"/>
              <a:t>155 + 75 = 160 + 80</a:t>
            </a:r>
          </a:p>
        </p:txBody>
      </p:sp>
      <p:sp>
        <p:nvSpPr>
          <p:cNvPr id="20"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a:xfrm>
            <a:off x="1440128" y="4672521"/>
            <a:ext cx="4968427" cy="677515"/>
          </a:xfrm>
        </p:spPr>
        <p:txBody>
          <a:bodyPr/>
          <a:lstStyle/>
          <a:p>
            <a:r>
              <a:rPr lang="en-AU" sz="4000"/>
              <a:t>68 + 35 = 70 + 37 </a:t>
            </a:r>
          </a:p>
        </p:txBody>
      </p:sp>
      <p:sp>
        <p:nvSpPr>
          <p:cNvPr id="21" name="TextBox 20">
            <a:extLst>
              <a:ext uri="{FF2B5EF4-FFF2-40B4-BE49-F238E27FC236}">
                <a16:creationId xmlns:a16="http://schemas.microsoft.com/office/drawing/2014/main" id="{40925CB5-DA36-8590-C133-CAA805E3F6B0}"/>
              </a:ext>
            </a:extLst>
          </p:cNvPr>
          <p:cNvSpPr txBox="1"/>
          <p:nvPr/>
        </p:nvSpPr>
        <p:spPr>
          <a:xfrm>
            <a:off x="663627" y="292232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22" name="TextBox 21">
            <a:extLst>
              <a:ext uri="{FF2B5EF4-FFF2-40B4-BE49-F238E27FC236}">
                <a16:creationId xmlns:a16="http://schemas.microsoft.com/office/drawing/2014/main" id="{4FA85E5F-0765-ABDF-E173-0F271C718E84}"/>
              </a:ext>
            </a:extLst>
          </p:cNvPr>
          <p:cNvSpPr txBox="1"/>
          <p:nvPr/>
        </p:nvSpPr>
        <p:spPr>
          <a:xfrm>
            <a:off x="663628" y="37806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3" name="TextBox 22">
            <a:extLst>
              <a:ext uri="{FF2B5EF4-FFF2-40B4-BE49-F238E27FC236}">
                <a16:creationId xmlns:a16="http://schemas.microsoft.com/office/drawing/2014/main" id="{3BF7E817-ED87-F068-6991-9872B9D8A1D9}"/>
              </a:ext>
            </a:extLst>
          </p:cNvPr>
          <p:cNvSpPr txBox="1"/>
          <p:nvPr/>
        </p:nvSpPr>
        <p:spPr>
          <a:xfrm>
            <a:off x="663627" y="47813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24" name="TextBox 23">
            <a:extLst>
              <a:ext uri="{FF2B5EF4-FFF2-40B4-BE49-F238E27FC236}">
                <a16:creationId xmlns:a16="http://schemas.microsoft.com/office/drawing/2014/main" id="{5B5ACF4E-5C00-647E-137E-A741C1139CAB}"/>
              </a:ext>
            </a:extLst>
          </p:cNvPr>
          <p:cNvSpPr txBox="1"/>
          <p:nvPr/>
        </p:nvSpPr>
        <p:spPr>
          <a:xfrm>
            <a:off x="663627"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Tree>
    <p:extLst>
      <p:ext uri="{BB962C8B-B14F-4D97-AF65-F5344CB8AC3E}">
        <p14:creationId xmlns:p14="http://schemas.microsoft.com/office/powerpoint/2010/main" val="62525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AU" dirty="0"/>
              <a:t>Short response </a:t>
            </a:r>
            <a:r>
              <a:rPr lang="en-US" dirty="0">
                <a:solidFill>
                  <a:schemeClr val="bg1"/>
                </a:solidFill>
              </a:rPr>
              <a:t>(25)</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897443" y="1351649"/>
            <a:ext cx="10397114" cy="893226"/>
          </a:xfrm>
        </p:spPr>
        <p:txBody>
          <a:bodyPr/>
          <a:lstStyle/>
          <a:p>
            <a:r>
              <a:rPr lang="en-AU" sz="4400" dirty="0"/>
              <a:t>Record the role of zero in these decimals:</a:t>
            </a:r>
          </a:p>
          <a:p>
            <a:pPr marL="893763" indent="-893763">
              <a:buFont typeface="Arial" panose="020B0604020202020204" pitchFamily="34" charset="0"/>
              <a:buChar char="•"/>
            </a:pPr>
            <a:r>
              <a:rPr lang="en-AU" sz="4400" dirty="0"/>
              <a:t>0.05</a:t>
            </a:r>
          </a:p>
          <a:p>
            <a:pPr marL="893763" indent="-893763">
              <a:buFont typeface="Arial" panose="020B0604020202020204" pitchFamily="34" charset="0"/>
              <a:buChar char="•"/>
            </a:pPr>
            <a:r>
              <a:rPr lang="en-AU" sz="4400" dirty="0"/>
              <a:t>0.50</a:t>
            </a:r>
          </a:p>
          <a:p>
            <a:pPr marL="893763" indent="-893763">
              <a:buFont typeface="Arial" panose="020B0604020202020204" pitchFamily="34" charset="0"/>
              <a:buChar char="•"/>
            </a:pPr>
            <a:r>
              <a:rPr lang="en-AU" sz="4400" dirty="0"/>
              <a:t>0.005</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4" name="Picture 3" descr="Image of a clipboard with a pencil recording short answer.">
            <a:extLst>
              <a:ext uri="{FF2B5EF4-FFF2-40B4-BE49-F238E27FC236}">
                <a16:creationId xmlns:a16="http://schemas.microsoft.com/office/drawing/2014/main" id="{9F042546-2C84-29EC-D2E6-8DB9E2CAE91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2050-568F-31F1-11DB-66D53781F55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AD81C6E-18B1-CBAE-1A00-289FAB23693F}"/>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375C4A21-7EE8-88E0-1816-FF08F241FF2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5" name="TextBox 4">
            <a:extLst>
              <a:ext uri="{FF2B5EF4-FFF2-40B4-BE49-F238E27FC236}">
                <a16:creationId xmlns:a16="http://schemas.microsoft.com/office/drawing/2014/main" id="{A7B15A72-1474-4722-33D1-84089F4C017A}"/>
              </a:ext>
            </a:extLst>
          </p:cNvPr>
          <p:cNvSpPr txBox="1"/>
          <p:nvPr/>
        </p:nvSpPr>
        <p:spPr>
          <a:xfrm>
            <a:off x="360000" y="941248"/>
            <a:ext cx="11293284" cy="4642494"/>
          </a:xfrm>
          <a:prstGeom prst="rect">
            <a:avLst/>
          </a:prstGeom>
          <a:noFill/>
        </p:spPr>
        <p:txBody>
          <a:bodyPr wrap="square" lIns="0" tIns="0" rIns="0" bIns="0" rtlCol="0">
            <a:noAutofit/>
          </a:bodyPr>
          <a:lstStyle/>
          <a:p>
            <a:pPr>
              <a:lnSpc>
                <a:spcPct val="150000"/>
              </a:lnSpc>
            </a:pPr>
            <a:r>
              <a:rPr lang="en-AU" sz="4000" dirty="0"/>
              <a:t>Our class wants to create a </a:t>
            </a:r>
            <a:r>
              <a:rPr lang="en-AU" sz="4000" b="1" dirty="0"/>
              <a:t>data</a:t>
            </a:r>
            <a:r>
              <a:rPr lang="en-AU" sz="4000" dirty="0"/>
              <a:t> </a:t>
            </a:r>
            <a:r>
              <a:rPr lang="en-AU" sz="4000" b="1" dirty="0"/>
              <a:t>display</a:t>
            </a:r>
            <a:r>
              <a:rPr lang="en-AU" sz="4000" dirty="0"/>
              <a:t> on their favourite fruit. To </a:t>
            </a:r>
            <a:r>
              <a:rPr lang="en-AU" sz="4000" b="1" dirty="0"/>
              <a:t>collect the data, </a:t>
            </a:r>
            <a:r>
              <a:rPr lang="en-AU" sz="4000" dirty="0"/>
              <a:t>Group 1 conducts a </a:t>
            </a:r>
            <a:r>
              <a:rPr lang="en-AU" sz="4000" b="1" dirty="0"/>
              <a:t>survey</a:t>
            </a:r>
            <a:r>
              <a:rPr lang="en-AU" sz="4000" dirty="0"/>
              <a:t> and Group 2 makes </a:t>
            </a:r>
            <a:r>
              <a:rPr lang="en-AU" sz="4000" b="1" dirty="0"/>
              <a:t>observations. </a:t>
            </a:r>
          </a:p>
          <a:p>
            <a:pPr marL="457200" indent="-457200">
              <a:lnSpc>
                <a:spcPct val="150000"/>
              </a:lnSpc>
              <a:buFont typeface="Arial" panose="020B0604020202020204" pitchFamily="34" charset="0"/>
              <a:buChar char="•"/>
            </a:pPr>
            <a:r>
              <a:rPr lang="en-AU" sz="4000" dirty="0"/>
              <a:t>What </a:t>
            </a:r>
            <a:r>
              <a:rPr lang="en-AU" sz="4000" b="1" dirty="0"/>
              <a:t>question </a:t>
            </a:r>
            <a:r>
              <a:rPr lang="en-AU" sz="4000" dirty="0"/>
              <a:t>might Group 1 have asked? </a:t>
            </a:r>
          </a:p>
          <a:p>
            <a:pPr marL="457200" indent="-457200">
              <a:lnSpc>
                <a:spcPct val="150000"/>
              </a:lnSpc>
              <a:buFont typeface="Arial" panose="020B0604020202020204" pitchFamily="34" charset="0"/>
              <a:buChar char="•"/>
            </a:pPr>
            <a:r>
              <a:rPr lang="en-AU" sz="4000" b="1" dirty="0"/>
              <a:t>What might </a:t>
            </a:r>
            <a:r>
              <a:rPr lang="en-AU" sz="4000" dirty="0"/>
              <a:t>Group 2 </a:t>
            </a:r>
            <a:r>
              <a:rPr lang="en-AU" sz="4000" b="1" dirty="0"/>
              <a:t>observe? </a:t>
            </a:r>
            <a:endParaRPr lang="en-AU" sz="4000" dirty="0"/>
          </a:p>
        </p:txBody>
      </p:sp>
    </p:spTree>
    <p:extLst>
      <p:ext uri="{BB962C8B-B14F-4D97-AF65-F5344CB8AC3E}">
        <p14:creationId xmlns:p14="http://schemas.microsoft.com/office/powerpoint/2010/main" val="340671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159E4C6-C786-5DBF-2F48-BB93808FFD37}"/>
                  </a:ext>
                </a:extLst>
              </p:cNvPr>
              <p:cNvSpPr txBox="1"/>
              <p:nvPr/>
            </p:nvSpPr>
            <p:spPr>
              <a:xfrm>
                <a:off x="1870238" y="1418140"/>
                <a:ext cx="8451523" cy="1360039"/>
              </a:xfrm>
              <a:prstGeom prst="rect">
                <a:avLst/>
              </a:prstGeom>
              <a:noFill/>
              <a:ln>
                <a:noFill/>
              </a:ln>
            </p:spPr>
            <p:txBody>
              <a:bodyPr wrap="square" lIns="0" tIns="0" rIns="0" bIns="0" rtlCol="0">
                <a:noAutofit/>
              </a:bodyPr>
              <a:lstStyle/>
              <a:p>
                <a:pPr>
                  <a:spcAft>
                    <a:spcPts val="2400"/>
                  </a:spcAft>
                </a:pPr>
                <a14:m>
                  <m:oMathPara xmlns:m="http://schemas.openxmlformats.org/officeDocument/2006/math">
                    <m:oMathParaPr>
                      <m:jc m:val="centerGroup"/>
                    </m:oMathParaPr>
                    <m:oMath xmlns:m="http://schemas.openxmlformats.org/officeDocument/2006/math">
                      <m:f>
                        <m:fPr>
                          <m:ctrlPr>
                            <a:rPr lang="en-AU" sz="6600" b="1" i="1" dirty="0" smtClean="0">
                              <a:latin typeface="Cambria Math" panose="02040503050406030204" pitchFamily="18" charset="0"/>
                            </a:rPr>
                          </m:ctrlPr>
                        </m:fPr>
                        <m:num>
                          <m:r>
                            <a:rPr lang="en-AU" sz="6600" b="1" i="1" dirty="0" smtClean="0">
                              <a:latin typeface="Cambria Math" panose="02040503050406030204" pitchFamily="18" charset="0"/>
                            </a:rPr>
                            <m:t>𝟒</m:t>
                          </m:r>
                        </m:num>
                        <m:den>
                          <m:r>
                            <a:rPr lang="en-AU" sz="6600" b="1" i="1" dirty="0" smtClean="0">
                              <a:latin typeface="Cambria Math" panose="02040503050406030204" pitchFamily="18" charset="0"/>
                            </a:rPr>
                            <m:t>𝟑</m:t>
                          </m:r>
                        </m:den>
                      </m:f>
                      <m:r>
                        <a:rPr lang="en-AU" sz="6600" b="1" i="1" dirty="0">
                          <a:latin typeface="Cambria Math" panose="02040503050406030204" pitchFamily="18" charset="0"/>
                        </a:rPr>
                        <m:t> </m:t>
                      </m:r>
                    </m:oMath>
                  </m:oMathPara>
                </a14:m>
                <a:endParaRPr lang="en-AU" sz="6600" b="1" dirty="0"/>
              </a:p>
              <a:p>
                <a:pPr algn="ctr">
                  <a:lnSpc>
                    <a:spcPct val="150000"/>
                  </a:lnSpc>
                  <a:spcAft>
                    <a:spcPts val="2400"/>
                  </a:spcAft>
                </a:pPr>
                <a:r>
                  <a:rPr lang="en-AU" sz="4400" dirty="0"/>
                  <a:t>How many </a:t>
                </a:r>
                <a:r>
                  <a:rPr lang="en-AU" sz="4400" b="1" dirty="0"/>
                  <a:t>more thirds </a:t>
                </a:r>
                <a:r>
                  <a:rPr lang="en-AU" sz="4400" dirty="0"/>
                  <a:t>are needed to make </a:t>
                </a:r>
                <a:r>
                  <a:rPr lang="en-AU" sz="4400" b="1" dirty="0"/>
                  <a:t>2 wholes</a:t>
                </a:r>
                <a:r>
                  <a:rPr lang="en-AU" sz="4400" dirty="0"/>
                  <a:t>?</a:t>
                </a:r>
              </a:p>
              <a:p>
                <a:pPr algn="l"/>
                <a:endParaRPr lang="en-AU" sz="1800" dirty="0"/>
              </a:p>
            </p:txBody>
          </p:sp>
        </mc:Choice>
        <mc:Fallback xmlns="">
          <p:sp>
            <p:nvSpPr>
              <p:cNvPr id="4" name="TextBox 3">
                <a:extLst>
                  <a:ext uri="{FF2B5EF4-FFF2-40B4-BE49-F238E27FC236}">
                    <a16:creationId xmlns:a16="http://schemas.microsoft.com/office/drawing/2014/main" id="{8159E4C6-C786-5DBF-2F48-BB93808FFD37}"/>
                  </a:ext>
                </a:extLst>
              </p:cNvPr>
              <p:cNvSpPr txBox="1">
                <a:spLocks noRot="1" noChangeAspect="1" noMove="1" noResize="1" noEditPoints="1" noAdjustHandles="1" noChangeArrowheads="1" noChangeShapeType="1" noTextEdit="1"/>
              </p:cNvSpPr>
              <p:nvPr/>
            </p:nvSpPr>
            <p:spPr>
              <a:xfrm>
                <a:off x="1870238" y="1418140"/>
                <a:ext cx="8451523" cy="1360039"/>
              </a:xfrm>
              <a:prstGeom prst="rect">
                <a:avLst/>
              </a:prstGeom>
              <a:blipFill>
                <a:blip r:embed="rId4"/>
                <a:stretch>
                  <a:fillRect b="-224215"/>
                </a:stretch>
              </a:blipFill>
              <a:ln>
                <a:noFill/>
              </a:ln>
            </p:spPr>
            <p:txBody>
              <a:bodyPr/>
              <a:lstStyle/>
              <a:p>
                <a:r>
                  <a:rPr lang="en-AU">
                    <a:noFill/>
                  </a:rPr>
                  <a:t> </a:t>
                </a:r>
              </a:p>
            </p:txBody>
          </p:sp>
        </mc:Fallback>
      </mc:AlternateContent>
      <p:pic>
        <p:nvPicPr>
          <p:cNvPr id="5" name="Picture 4" descr="Image of a clipboard with a pencil recording short answer.">
            <a:extLst>
              <a:ext uri="{FF2B5EF4-FFF2-40B4-BE49-F238E27FC236}">
                <a16:creationId xmlns:a16="http://schemas.microsoft.com/office/drawing/2014/main" id="{D1EE0500-8D82-6DA5-0E5D-BD6883F93220}"/>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11" name="TextBox 10">
            <a:extLst>
              <a:ext uri="{FF2B5EF4-FFF2-40B4-BE49-F238E27FC236}">
                <a16:creationId xmlns:a16="http://schemas.microsoft.com/office/drawing/2014/main" id="{2B757925-2CDD-6659-F948-71FCE96DDB75}"/>
              </a:ext>
            </a:extLst>
          </p:cNvPr>
          <p:cNvSpPr txBox="1"/>
          <p:nvPr/>
        </p:nvSpPr>
        <p:spPr>
          <a:xfrm>
            <a:off x="373489" y="914167"/>
            <a:ext cx="11110511" cy="1706081"/>
          </a:xfrm>
          <a:prstGeom prst="rect">
            <a:avLst/>
          </a:prstGeom>
          <a:noFill/>
        </p:spPr>
        <p:txBody>
          <a:bodyPr wrap="square" lIns="0" tIns="0" rIns="0" bIns="0" rtlCol="0">
            <a:noAutofit/>
          </a:bodyPr>
          <a:lstStyle/>
          <a:p>
            <a:pPr algn="l">
              <a:lnSpc>
                <a:spcPct val="150000"/>
              </a:lnSpc>
            </a:pPr>
            <a:r>
              <a:rPr lang="en-AU" sz="4400" dirty="0"/>
              <a:t>What is the </a:t>
            </a:r>
            <a:r>
              <a:rPr lang="en-AU" sz="4400" b="1" dirty="0"/>
              <a:t>area</a:t>
            </a:r>
            <a:r>
              <a:rPr lang="en-AU" sz="4400" dirty="0"/>
              <a:t> of this </a:t>
            </a:r>
            <a:r>
              <a:rPr lang="en-AU" sz="4400" b="1" dirty="0"/>
              <a:t>rectangle drawn onto 1 cm grid paper</a:t>
            </a:r>
            <a:r>
              <a:rPr lang="en-AU" sz="4400" dirty="0"/>
              <a:t>?  </a:t>
            </a:r>
          </a:p>
        </p:txBody>
      </p:sp>
      <p:grpSp>
        <p:nvGrpSpPr>
          <p:cNvPr id="5" name="Group 4" descr="A rectangle drawn onto 1 cm grid paper. The rectangle covers 5 rows of 3 squares.">
            <a:extLst>
              <a:ext uri="{FF2B5EF4-FFF2-40B4-BE49-F238E27FC236}">
                <a16:creationId xmlns:a16="http://schemas.microsoft.com/office/drawing/2014/main" id="{62734183-348E-6EF8-D3D2-C5C0BBF36D98}"/>
              </a:ext>
            </a:extLst>
          </p:cNvPr>
          <p:cNvGrpSpPr/>
          <p:nvPr/>
        </p:nvGrpSpPr>
        <p:grpSpPr>
          <a:xfrm>
            <a:off x="5703707" y="2907871"/>
            <a:ext cx="5326769" cy="3680227"/>
            <a:chOff x="5703707" y="2907871"/>
            <a:chExt cx="5326769" cy="3680227"/>
          </a:xfrm>
        </p:grpSpPr>
        <p:pic>
          <p:nvPicPr>
            <p:cNvPr id="7" name="Picture 6" descr="A squre 1cm grid with a rectangle covering 5 rows of 3. ">
              <a:extLst>
                <a:ext uri="{FF2B5EF4-FFF2-40B4-BE49-F238E27FC236}">
                  <a16:creationId xmlns:a16="http://schemas.microsoft.com/office/drawing/2014/main" id="{CCF8171C-5848-8116-4423-FEDF747F5DB3}"/>
                </a:ext>
              </a:extLst>
            </p:cNvPr>
            <p:cNvPicPr>
              <a:picLocks noChangeAspect="1"/>
            </p:cNvPicPr>
            <p:nvPr/>
          </p:nvPicPr>
          <p:blipFill>
            <a:blip r:embed="rId3"/>
            <a:srcRect t="30626" b="-1"/>
            <a:stretch>
              <a:fillRect/>
            </a:stretch>
          </p:blipFill>
          <p:spPr>
            <a:xfrm>
              <a:off x="5703707" y="2907871"/>
              <a:ext cx="5326769" cy="3680227"/>
            </a:xfrm>
            <a:prstGeom prst="rect">
              <a:avLst/>
            </a:prstGeom>
            <a:ln>
              <a:noFill/>
            </a:ln>
            <a:effectLst>
              <a:outerShdw blurRad="292100" dist="139700" dir="2700000" algn="tl" rotWithShape="0">
                <a:srgbClr val="333333">
                  <a:alpha val="65000"/>
                </a:srgbClr>
              </a:outerShdw>
            </a:effectLst>
          </p:spPr>
        </p:pic>
        <p:sp>
          <p:nvSpPr>
            <p:cNvPr id="4" name="Rectangle 3" descr="A squre 1cm grid with a rectangle covering 5 rows of 3. ">
              <a:extLst>
                <a:ext uri="{FF2B5EF4-FFF2-40B4-BE49-F238E27FC236}">
                  <a16:creationId xmlns:a16="http://schemas.microsoft.com/office/drawing/2014/main" id="{614A39F3-3142-0B05-6794-17B01FA3D96F}"/>
                </a:ext>
              </a:extLst>
            </p:cNvPr>
            <p:cNvSpPr/>
            <p:nvPr/>
          </p:nvSpPr>
          <p:spPr>
            <a:xfrm>
              <a:off x="6799548" y="3429000"/>
              <a:ext cx="1567543" cy="2637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grpSp>
      <p:pic>
        <p:nvPicPr>
          <p:cNvPr id="8" name="Picture 7" descr="Image of a clipboard with a pencil recording short answer.">
            <a:extLst>
              <a:ext uri="{FF2B5EF4-FFF2-40B4-BE49-F238E27FC236}">
                <a16:creationId xmlns:a16="http://schemas.microsoft.com/office/drawing/2014/main" id="{D78527BF-6E21-2F38-77A2-96173D8A7E6D}"/>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37CFA-9D3D-5EBB-6FB9-59E41E6816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1CE772-0037-6F2E-5B44-C3EBE8F03CEE}"/>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605379CF-216E-1A8F-CD77-5825AF9A8E8A}"/>
              </a:ext>
            </a:extLst>
          </p:cNvPr>
          <p:cNvSpPr>
            <a:spLocks noGrp="1"/>
          </p:cNvSpPr>
          <p:nvPr>
            <p:ph type="title"/>
          </p:nvPr>
        </p:nvSpPr>
        <p:spPr>
          <a:xfrm>
            <a:off x="360000" y="360000"/>
            <a:ext cx="11484000" cy="545601"/>
          </a:xfrm>
        </p:spPr>
        <p:txBody>
          <a:bodyPr/>
          <a:lstStyle/>
          <a:p>
            <a:r>
              <a:rPr lang="en-AU"/>
              <a:t>Activity 7– equivalent number sentences 2</a:t>
            </a:r>
          </a:p>
        </p:txBody>
      </p:sp>
      <p:pic>
        <p:nvPicPr>
          <p:cNvPr id="5" name="Picture 4" descr="Example of equivalent number sentences 2. Students A has a whiteboard with 32+35=17+50 and students b has a white board with 17+50=32+35">
            <a:extLst>
              <a:ext uri="{FF2B5EF4-FFF2-40B4-BE49-F238E27FC236}">
                <a16:creationId xmlns:a16="http://schemas.microsoft.com/office/drawing/2014/main" id="{EFAE3969-C6AA-A53E-B36B-2961E07F6257}"/>
              </a:ext>
            </a:extLst>
          </p:cNvPr>
          <p:cNvPicPr>
            <a:picLocks noChangeAspect="1"/>
          </p:cNvPicPr>
          <p:nvPr/>
        </p:nvPicPr>
        <p:blipFill>
          <a:blip r:embed="rId3"/>
          <a:stretch>
            <a:fillRect/>
          </a:stretch>
        </p:blipFill>
        <p:spPr>
          <a:xfrm>
            <a:off x="786626" y="1387046"/>
            <a:ext cx="10337374" cy="3478097"/>
          </a:xfrm>
          <a:prstGeom prst="rect">
            <a:avLst/>
          </a:prstGeom>
        </p:spPr>
      </p:pic>
      <p:pic>
        <p:nvPicPr>
          <p:cNvPr id="4" name="Picture 3" descr="image of a head with cogs turning inside">
            <a:extLst>
              <a:ext uri="{FF2B5EF4-FFF2-40B4-BE49-F238E27FC236}">
                <a16:creationId xmlns:a16="http://schemas.microsoft.com/office/drawing/2014/main" id="{84D4A921-769C-A2E7-6F57-121C766FA71B}"/>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82364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89946-1378-2139-A679-1469619D30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0D027E-5B75-AB56-50EC-67BA99E7CB66}"/>
              </a:ext>
            </a:extLst>
          </p:cNvPr>
          <p:cNvSpPr>
            <a:spLocks noGrp="1"/>
          </p:cNvSpPr>
          <p:nvPr>
            <p:ph type="title"/>
          </p:nvPr>
        </p:nvSpPr>
        <p:spPr/>
        <p:txBody>
          <a:bodyPr/>
          <a:lstStyle/>
          <a:p>
            <a:r>
              <a:rPr lang="en-US" dirty="0"/>
              <a:t>True or false</a:t>
            </a:r>
            <a:r>
              <a:rPr lang="en-US" dirty="0">
                <a:solidFill>
                  <a:schemeClr val="bg1"/>
                </a:solidFill>
              </a:rPr>
              <a:t>(4)</a:t>
            </a:r>
          </a:p>
        </p:txBody>
      </p:sp>
      <p:sp>
        <p:nvSpPr>
          <p:cNvPr id="18" name="Text Placeholder 17">
            <a:extLst>
              <a:ext uri="{FF2B5EF4-FFF2-40B4-BE49-F238E27FC236}">
                <a16:creationId xmlns:a16="http://schemas.microsoft.com/office/drawing/2014/main" id="{0AD36A81-9FE8-5027-F247-947735C7C61D}"/>
              </a:ext>
            </a:extLst>
          </p:cNvPr>
          <p:cNvSpPr>
            <a:spLocks noGrp="1"/>
          </p:cNvSpPr>
          <p:nvPr>
            <p:ph type="body" sz="quarter" idx="24"/>
          </p:nvPr>
        </p:nvSpPr>
        <p:spPr>
          <a:xfrm>
            <a:off x="474481" y="874378"/>
            <a:ext cx="11243037" cy="893226"/>
          </a:xfrm>
        </p:spPr>
        <p:txBody>
          <a:bodyPr/>
          <a:lstStyle/>
          <a:p>
            <a:r>
              <a:rPr lang="en-US" sz="4000" dirty="0"/>
              <a:t>This </a:t>
            </a:r>
            <a:r>
              <a:rPr lang="en-US" sz="4000" b="1" dirty="0"/>
              <a:t>number sentence </a:t>
            </a:r>
            <a:r>
              <a:rPr lang="en-US" sz="4000" dirty="0"/>
              <a:t>shows equal difference.</a:t>
            </a:r>
          </a:p>
        </p:txBody>
      </p:sp>
      <p:sp>
        <p:nvSpPr>
          <p:cNvPr id="17" name="Picture Placeholder 16">
            <a:extLst>
              <a:ext uri="{FF2B5EF4-FFF2-40B4-BE49-F238E27FC236}">
                <a16:creationId xmlns:a16="http://schemas.microsoft.com/office/drawing/2014/main" id="{B25B14D8-12AA-8EC5-FA5E-D6EA7737D6C7}"/>
              </a:ext>
            </a:extLst>
          </p:cNvPr>
          <p:cNvSpPr>
            <a:spLocks noGrp="1"/>
          </p:cNvSpPr>
          <p:nvPr>
            <p:ph type="pic" sz="quarter" idx="23"/>
          </p:nvPr>
        </p:nvSpPr>
        <p:spPr>
          <a:xfrm>
            <a:off x="3377134" y="2786771"/>
            <a:ext cx="5580548" cy="677515"/>
          </a:xfrm>
        </p:spPr>
        <p:txBody>
          <a:bodyPr/>
          <a:lstStyle/>
          <a:p>
            <a:r>
              <a:rPr lang="en-AU" sz="5400" dirty="0"/>
              <a:t>68 + 35 = 70 + 37 </a:t>
            </a:r>
          </a:p>
        </p:txBody>
      </p:sp>
      <p:sp>
        <p:nvSpPr>
          <p:cNvPr id="2" name="Slide Number Placeholder 1">
            <a:extLst>
              <a:ext uri="{FF2B5EF4-FFF2-40B4-BE49-F238E27FC236}">
                <a16:creationId xmlns:a16="http://schemas.microsoft.com/office/drawing/2014/main" id="{BC0A2A04-858F-ABA9-6855-EE35F5C981B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4" name="Picture 3" descr="image of a finger selecting an option for a multiple choice or true and false">
            <a:extLst>
              <a:ext uri="{FF2B5EF4-FFF2-40B4-BE49-F238E27FC236}">
                <a16:creationId xmlns:a16="http://schemas.microsoft.com/office/drawing/2014/main" id="{AC4CDA21-2E95-19A3-F9F9-532EB64B5D0E}"/>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20" name="Table 19">
            <a:extLst>
              <a:ext uri="{FF2B5EF4-FFF2-40B4-BE49-F238E27FC236}">
                <a16:creationId xmlns:a16="http://schemas.microsoft.com/office/drawing/2014/main" id="{1F7573FC-F634-075D-F7F6-BC27DA3650B6}"/>
              </a:ext>
            </a:extLst>
          </p:cNvPr>
          <p:cNvGraphicFramePr>
            <a:graphicFrameLocks noGrp="1"/>
          </p:cNvGraphicFramePr>
          <p:nvPr>
            <p:extLst>
              <p:ext uri="{D42A27DB-BD31-4B8C-83A1-F6EECF244321}">
                <p14:modId xmlns:p14="http://schemas.microsoft.com/office/powerpoint/2010/main" val="2281739629"/>
              </p:ext>
            </p:extLst>
          </p:nvPr>
        </p:nvGraphicFramePr>
        <p:xfrm>
          <a:off x="2557461" y="5090397"/>
          <a:ext cx="7077076" cy="742121"/>
        </p:xfrm>
        <a:graphic>
          <a:graphicData uri="http://schemas.openxmlformats.org/drawingml/2006/table">
            <a:tbl>
              <a:tblPr bandRow="1">
                <a:tableStyleId>{5A111915-BE36-4E01-A7E5-04B1672EAD32}</a:tableStyleId>
              </a:tblPr>
              <a:tblGrid>
                <a:gridCol w="3538538">
                  <a:extLst>
                    <a:ext uri="{9D8B030D-6E8A-4147-A177-3AD203B41FA5}">
                      <a16:colId xmlns:a16="http://schemas.microsoft.com/office/drawing/2014/main" val="2010651814"/>
                    </a:ext>
                  </a:extLst>
                </a:gridCol>
                <a:gridCol w="3538538">
                  <a:extLst>
                    <a:ext uri="{9D8B030D-6E8A-4147-A177-3AD203B41FA5}">
                      <a16:colId xmlns:a16="http://schemas.microsoft.com/office/drawing/2014/main" val="3934122634"/>
                    </a:ext>
                  </a:extLst>
                </a:gridCol>
              </a:tblGrid>
              <a:tr h="742121">
                <a:tc>
                  <a:txBody>
                    <a:bodyPr/>
                    <a:lstStyle/>
                    <a:p>
                      <a:pPr algn="ctr" rtl="0" fontAlgn="base">
                        <a:lnSpc>
                          <a:spcPts val="3975"/>
                        </a:lnSpc>
                        <a:buNone/>
                      </a:pPr>
                      <a:r>
                        <a:rPr lang="en-US" sz="4000" b="1" dirty="0">
                          <a:solidFill>
                            <a:srgbClr val="146CFD"/>
                          </a:solidFill>
                          <a:effectLst/>
                          <a:latin typeface="Arial" panose="020B0604020202020204" pitchFamily="34" charset="0"/>
                        </a:rPr>
                        <a:t>True</a:t>
                      </a:r>
                      <a:endParaRPr lang="en-US" b="1" dirty="0">
                        <a:solidFill>
                          <a:srgbClr val="FFFFFF"/>
                        </a:solidFill>
                        <a:effectLst/>
                      </a:endParaRPr>
                    </a:p>
                  </a:txBody>
                  <a:tcPr marL="75105" marR="75105" marT="37548" marB="375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3975"/>
                        </a:lnSpc>
                        <a:buNone/>
                      </a:pPr>
                      <a:r>
                        <a:rPr lang="en-US" sz="4000" b="1" dirty="0">
                          <a:solidFill>
                            <a:srgbClr val="146CFD"/>
                          </a:solidFill>
                          <a:effectLst/>
                          <a:latin typeface="Arial" panose="020B0604020202020204" pitchFamily="34" charset="0"/>
                        </a:rPr>
                        <a:t>False</a:t>
                      </a:r>
                      <a:endParaRPr lang="en-US" b="1" dirty="0">
                        <a:solidFill>
                          <a:srgbClr val="FFFFFF"/>
                        </a:solidFill>
                        <a:effectLst/>
                      </a:endParaRPr>
                    </a:p>
                  </a:txBody>
                  <a:tcPr marL="75105" marR="75105" marT="37548" marB="375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2920258"/>
                  </a:ext>
                </a:extLst>
              </a:tr>
            </a:tbl>
          </a:graphicData>
        </a:graphic>
      </p:graphicFrame>
    </p:spTree>
    <p:extLst>
      <p:ext uri="{BB962C8B-B14F-4D97-AF65-F5344CB8AC3E}">
        <p14:creationId xmlns:p14="http://schemas.microsoft.com/office/powerpoint/2010/main" val="17233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00DE5C-6C80-8E69-7F3D-4CBB13E71477}"/>
              </a:ext>
            </a:extLst>
          </p:cNvPr>
          <p:cNvSpPr>
            <a:spLocks noGrp="1"/>
          </p:cNvSpPr>
          <p:nvPr>
            <p:ph type="title"/>
          </p:nvPr>
        </p:nvSpPr>
        <p:spPr/>
        <p:txBody>
          <a:bodyPr/>
          <a:lstStyle/>
          <a:p>
            <a:r>
              <a:rPr lang="en-AU" dirty="0"/>
              <a:t>Short response </a:t>
            </a:r>
            <a:r>
              <a:rPr lang="en-AU" dirty="0">
                <a:solidFill>
                  <a:schemeClr val="bg1"/>
                </a:solidFill>
              </a:rPr>
              <a:t>(29)</a:t>
            </a:r>
          </a:p>
        </p:txBody>
      </p:sp>
      <p:sp>
        <p:nvSpPr>
          <p:cNvPr id="4" name="Text Placeholder 3">
            <a:extLst>
              <a:ext uri="{FF2B5EF4-FFF2-40B4-BE49-F238E27FC236}">
                <a16:creationId xmlns:a16="http://schemas.microsoft.com/office/drawing/2014/main" id="{9F02BCB1-052E-AEFE-F249-BEBFA91C9615}"/>
              </a:ext>
            </a:extLst>
          </p:cNvPr>
          <p:cNvSpPr>
            <a:spLocks noGrp="1"/>
          </p:cNvSpPr>
          <p:nvPr>
            <p:ph type="body" sz="quarter" idx="17"/>
          </p:nvPr>
        </p:nvSpPr>
        <p:spPr>
          <a:xfrm>
            <a:off x="461976" y="1184223"/>
            <a:ext cx="11484000" cy="4807835"/>
          </a:xfrm>
        </p:spPr>
        <p:txBody>
          <a:bodyPr/>
          <a:lstStyle/>
          <a:p>
            <a:pPr algn="ctr"/>
            <a:r>
              <a:rPr lang="en-AU" sz="4400" dirty="0"/>
              <a:t>Solve this using </a:t>
            </a:r>
            <a:r>
              <a:rPr lang="en-AU" sz="4400" b="1" dirty="0"/>
              <a:t>standard or non-standard </a:t>
            </a:r>
            <a:r>
              <a:rPr lang="en-AU" sz="4400" dirty="0"/>
              <a:t>partitioning: </a:t>
            </a:r>
          </a:p>
          <a:p>
            <a:pPr algn="ctr"/>
            <a:r>
              <a:rPr lang="en-AU" sz="5400" dirty="0"/>
              <a:t>673 – 27 =</a:t>
            </a:r>
          </a:p>
          <a:p>
            <a:pPr algn="ctr"/>
            <a:r>
              <a:rPr lang="en-AU" sz="4400" b="1" dirty="0"/>
              <a:t>Communicate</a:t>
            </a:r>
            <a:r>
              <a:rPr lang="en-AU" sz="4400" dirty="0"/>
              <a:t> your </a:t>
            </a:r>
            <a:r>
              <a:rPr lang="en-AU" sz="4400" b="1" dirty="0"/>
              <a:t>reasoning</a:t>
            </a:r>
            <a:r>
              <a:rPr lang="en-AU" sz="4400" dirty="0"/>
              <a:t>.</a:t>
            </a:r>
          </a:p>
        </p:txBody>
      </p:sp>
      <p:pic>
        <p:nvPicPr>
          <p:cNvPr id="5" name="Picture 4" descr="Image of a clipboard with a pencil recording short answer.">
            <a:extLst>
              <a:ext uri="{FF2B5EF4-FFF2-40B4-BE49-F238E27FC236}">
                <a16:creationId xmlns:a16="http://schemas.microsoft.com/office/drawing/2014/main" id="{20DFA6CD-1354-0E20-62F7-8A63216D66B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Slide Number Placeholder 1">
            <a:extLst>
              <a:ext uri="{FF2B5EF4-FFF2-40B4-BE49-F238E27FC236}">
                <a16:creationId xmlns:a16="http://schemas.microsoft.com/office/drawing/2014/main" id="{48C55D82-6F9C-14AC-F260-9D89A535895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t>55</a:t>
            </a:fld>
            <a:endParaRPr lang="en-AU" dirty="0"/>
          </a:p>
        </p:txBody>
      </p:sp>
    </p:spTree>
    <p:extLst>
      <p:ext uri="{BB962C8B-B14F-4D97-AF65-F5344CB8AC3E}">
        <p14:creationId xmlns:p14="http://schemas.microsoft.com/office/powerpoint/2010/main" val="10861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563B-F606-E84F-B196-45C2C28F418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00BC61F-4538-CF92-5C4B-E434C49AFE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7" name="Picture 6" descr="A column graph displaying Rycycling of different countries. The countries are Australia showing 8% of rubbish recycles, Italy displayinf 12% of rubbish recycled, Spain has 16% and New Zealand recycles 20%.">
            <a:extLst>
              <a:ext uri="{FF2B5EF4-FFF2-40B4-BE49-F238E27FC236}">
                <a16:creationId xmlns:a16="http://schemas.microsoft.com/office/drawing/2014/main" id="{FFC4DC0F-6479-D659-87ED-4739249F3B4D}"/>
              </a:ext>
            </a:extLst>
          </p:cNvPr>
          <p:cNvPicPr>
            <a:picLocks noChangeAspect="1"/>
          </p:cNvPicPr>
          <p:nvPr/>
        </p:nvPicPr>
        <p:blipFill>
          <a:blip r:embed="rId3"/>
          <a:stretch>
            <a:fillRect/>
          </a:stretch>
        </p:blipFill>
        <p:spPr>
          <a:xfrm>
            <a:off x="6703944" y="925751"/>
            <a:ext cx="5031547" cy="572420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AF738FA7-F011-1B83-B346-4ACCB9A42D9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8" name="TextBox 7">
            <a:extLst>
              <a:ext uri="{FF2B5EF4-FFF2-40B4-BE49-F238E27FC236}">
                <a16:creationId xmlns:a16="http://schemas.microsoft.com/office/drawing/2014/main" id="{67340791-B99F-2ACE-598D-F5BAAA781502}"/>
              </a:ext>
            </a:extLst>
          </p:cNvPr>
          <p:cNvSpPr txBox="1"/>
          <p:nvPr/>
        </p:nvSpPr>
        <p:spPr>
          <a:xfrm>
            <a:off x="187589" y="1184223"/>
            <a:ext cx="6088985" cy="5133434"/>
          </a:xfrm>
          <a:prstGeom prst="rect">
            <a:avLst/>
          </a:prstGeom>
          <a:noFill/>
        </p:spPr>
        <p:txBody>
          <a:bodyPr wrap="square" lIns="0" tIns="0" rIns="0" bIns="0" rtlCol="0">
            <a:noAutofit/>
          </a:bodyPr>
          <a:lstStyle/>
          <a:p>
            <a:pPr marL="361950" indent="-361950" algn="l">
              <a:lnSpc>
                <a:spcPct val="150000"/>
              </a:lnSpc>
              <a:spcAft>
                <a:spcPts val="2400"/>
              </a:spcAft>
              <a:buFont typeface="Arial" panose="020B0604020202020204" pitchFamily="34" charset="0"/>
              <a:buChar char="•"/>
            </a:pPr>
            <a:r>
              <a:rPr lang="en-AU" sz="3200" dirty="0"/>
              <a:t>Which country recycles the </a:t>
            </a:r>
            <a:r>
              <a:rPr lang="en-AU" sz="3200" b="1" dirty="0"/>
              <a:t>highest percentage </a:t>
            </a:r>
            <a:r>
              <a:rPr lang="en-AU" sz="3200" dirty="0"/>
              <a:t>of waste?</a:t>
            </a:r>
          </a:p>
          <a:p>
            <a:pPr marL="361950" indent="-361950" algn="l">
              <a:lnSpc>
                <a:spcPct val="150000"/>
              </a:lnSpc>
              <a:spcAft>
                <a:spcPts val="2400"/>
              </a:spcAft>
              <a:buFont typeface="Arial" panose="020B0604020202020204" pitchFamily="34" charset="0"/>
              <a:buChar char="•"/>
            </a:pPr>
            <a:r>
              <a:rPr lang="en-AU" sz="3200" dirty="0"/>
              <a:t>What percentage of rubbish is recycled in </a:t>
            </a:r>
            <a:r>
              <a:rPr lang="en-AU" sz="3200" b="1" dirty="0"/>
              <a:t>Italy</a:t>
            </a:r>
            <a:r>
              <a:rPr lang="en-AU" sz="3200" dirty="0"/>
              <a:t>? </a:t>
            </a:r>
          </a:p>
          <a:p>
            <a:pPr marL="361950" indent="-361950" algn="l">
              <a:lnSpc>
                <a:spcPct val="150000"/>
              </a:lnSpc>
              <a:spcAft>
                <a:spcPts val="2400"/>
              </a:spcAft>
              <a:buFont typeface="Arial" panose="020B0604020202020204" pitchFamily="34" charset="0"/>
              <a:buChar char="•"/>
            </a:pPr>
            <a:r>
              <a:rPr lang="en-AU" sz="3200" dirty="0"/>
              <a:t>Has </a:t>
            </a:r>
            <a:r>
              <a:rPr lang="en-AU" sz="3200" b="1" dirty="0"/>
              <a:t>Australia</a:t>
            </a:r>
            <a:r>
              <a:rPr lang="en-AU" sz="3200" dirty="0"/>
              <a:t> achieved its goal to recycle </a:t>
            </a:r>
            <a:r>
              <a:rPr lang="en-AU" sz="3200" b="1" dirty="0"/>
              <a:t>20%</a:t>
            </a:r>
            <a:r>
              <a:rPr lang="en-AU" sz="3200" dirty="0"/>
              <a:t> of its rubbish? </a:t>
            </a:r>
            <a:endParaRPr lang="en-AU" sz="1800" dirty="0"/>
          </a:p>
        </p:txBody>
      </p:sp>
      <p:pic>
        <p:nvPicPr>
          <p:cNvPr id="4" name="Picture 3" descr="Image of a clipboard with a pencil recording short answer.">
            <a:extLst>
              <a:ext uri="{FF2B5EF4-FFF2-40B4-BE49-F238E27FC236}">
                <a16:creationId xmlns:a16="http://schemas.microsoft.com/office/drawing/2014/main" id="{7CA21111-216A-A11C-4F92-BF3BDA3AD809}"/>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1189588" y="10251"/>
            <a:ext cx="915500" cy="915500"/>
          </a:xfrm>
          <a:prstGeom prst="rect">
            <a:avLst/>
          </a:prstGeom>
        </p:spPr>
      </p:pic>
    </p:spTree>
    <p:extLst>
      <p:ext uri="{BB962C8B-B14F-4D97-AF65-F5344CB8AC3E}">
        <p14:creationId xmlns:p14="http://schemas.microsoft.com/office/powerpoint/2010/main" val="181180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82E7CA1D-E99F-136B-4F12-B9B000C5A189}"/>
              </a:ext>
            </a:extLst>
          </p:cNvPr>
          <p:cNvSpPr txBox="1"/>
          <p:nvPr/>
        </p:nvSpPr>
        <p:spPr>
          <a:xfrm>
            <a:off x="348000" y="1120339"/>
            <a:ext cx="11677423" cy="4721998"/>
          </a:xfrm>
          <a:prstGeom prst="rect">
            <a:avLst/>
          </a:prstGeom>
          <a:noFill/>
        </p:spPr>
        <p:txBody>
          <a:bodyPr wrap="square">
            <a:spAutoFit/>
          </a:bodyPr>
          <a:lstStyle/>
          <a:p>
            <a:pPr lvl="0">
              <a:lnSpc>
                <a:spcPct val="150000"/>
              </a:lnSpc>
              <a:spcBef>
                <a:spcPts val="1200"/>
              </a:spcBef>
              <a:spcAft>
                <a:spcPts val="600"/>
              </a:spcAft>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Record the answers</a:t>
            </a:r>
            <a:r>
              <a:rPr lang="en-AU" sz="4400" dirty="0">
                <a:latin typeface="Arial" panose="020B0604020202020204" pitchFamily="34" charset="0"/>
                <a:ea typeface="Calibri" panose="020F0502020204030204" pitchFamily="34" charset="0"/>
                <a:cs typeface="Times New Roman" panose="02020603050405020304" pitchFamily="18" charset="0"/>
              </a:rPr>
              <a:t>:</a:t>
            </a:r>
          </a:p>
          <a:p>
            <a:pPr marL="361950" lvl="0" indent="-361950">
              <a:lnSpc>
                <a:spcPct val="150000"/>
              </a:lnSpc>
              <a:spcBef>
                <a:spcPts val="1200"/>
              </a:spcBef>
              <a:spcAft>
                <a:spcPts val="600"/>
              </a:spcAft>
              <a:buFont typeface="Arial" panose="020B0604020202020204" pitchFamily="34" charset="0"/>
              <a:buChar char="•"/>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How many </a:t>
            </a:r>
            <a:r>
              <a:rPr lang="en-AU" sz="4400" b="1" dirty="0">
                <a:effectLst/>
                <a:latin typeface="Arial" panose="020B0604020202020204" pitchFamily="34" charset="0"/>
                <a:ea typeface="Calibri" panose="020F0502020204030204" pitchFamily="34" charset="0"/>
                <a:cs typeface="Times New Roman" panose="02020603050405020304" pitchFamily="18" charset="0"/>
              </a:rPr>
              <a:t>eighths</a:t>
            </a:r>
            <a:r>
              <a:rPr lang="en-AU" sz="4400" dirty="0">
                <a:effectLst/>
                <a:latin typeface="Arial" panose="020B0604020202020204" pitchFamily="34" charset="0"/>
                <a:ea typeface="Calibri" panose="020F0502020204030204" pitchFamily="34" charset="0"/>
                <a:cs typeface="Times New Roman" panose="02020603050405020304" pitchFamily="18" charset="0"/>
              </a:rPr>
              <a:t> are equal to </a:t>
            </a:r>
            <a:r>
              <a:rPr lang="en-AU" sz="4400" b="1" dirty="0">
                <a:effectLst/>
                <a:latin typeface="Arial" panose="020B0604020202020204" pitchFamily="34" charset="0"/>
                <a:ea typeface="Calibri" panose="020F0502020204030204" pitchFamily="34" charset="0"/>
                <a:cs typeface="Times New Roman" panose="02020603050405020304" pitchFamily="18" charset="0"/>
              </a:rPr>
              <a:t>one whole</a:t>
            </a:r>
            <a:r>
              <a:rPr lang="en-AU" sz="4400" dirty="0">
                <a:effectLst/>
                <a:latin typeface="Arial" panose="020B0604020202020204" pitchFamily="34" charset="0"/>
                <a:ea typeface="Calibri" panose="020F0502020204030204" pitchFamily="34" charset="0"/>
                <a:cs typeface="Times New Roman" panose="02020603050405020304" pitchFamily="18" charset="0"/>
              </a:rPr>
              <a:t>?</a:t>
            </a:r>
          </a:p>
          <a:p>
            <a:pPr marL="361950" lvl="0" indent="-361950">
              <a:lnSpc>
                <a:spcPct val="150000"/>
              </a:lnSpc>
              <a:spcBef>
                <a:spcPts val="1200"/>
              </a:spcBef>
              <a:spcAft>
                <a:spcPts val="600"/>
              </a:spcAft>
              <a:buFont typeface="Arial" panose="020B0604020202020204" pitchFamily="34" charset="0"/>
              <a:buChar char="•"/>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How many </a:t>
            </a:r>
            <a:r>
              <a:rPr lang="en-AU" sz="4400" b="1" dirty="0">
                <a:effectLst/>
                <a:latin typeface="Arial" panose="020B0604020202020204" pitchFamily="34" charset="0"/>
                <a:ea typeface="Calibri" panose="020F0502020204030204" pitchFamily="34" charset="0"/>
                <a:cs typeface="Times New Roman" panose="02020603050405020304" pitchFamily="18" charset="0"/>
              </a:rPr>
              <a:t>quarters </a:t>
            </a:r>
            <a:r>
              <a:rPr lang="en-AU" sz="4400" dirty="0">
                <a:effectLst/>
                <a:latin typeface="Arial" panose="020B0604020202020204" pitchFamily="34" charset="0"/>
                <a:ea typeface="Calibri" panose="020F0502020204030204" pitchFamily="34" charset="0"/>
                <a:cs typeface="Times New Roman" panose="02020603050405020304" pitchFamily="18" charset="0"/>
              </a:rPr>
              <a:t>make </a:t>
            </a:r>
            <a:r>
              <a:rPr lang="en-AU" sz="4400" b="1" dirty="0">
                <a:effectLst/>
                <a:latin typeface="Arial" panose="020B0604020202020204" pitchFamily="34" charset="0"/>
                <a:ea typeface="Calibri" panose="020F0502020204030204" pitchFamily="34" charset="0"/>
                <a:cs typeface="Times New Roman" panose="02020603050405020304" pitchFamily="18" charset="0"/>
              </a:rPr>
              <a:t>2 wholes</a:t>
            </a:r>
            <a:r>
              <a:rPr lang="en-AU" sz="4400" dirty="0">
                <a:effectLst/>
                <a:latin typeface="Arial" panose="020B0604020202020204" pitchFamily="34" charset="0"/>
                <a:ea typeface="Calibri" panose="020F0502020204030204" pitchFamily="34" charset="0"/>
                <a:cs typeface="Times New Roman" panose="02020603050405020304" pitchFamily="18" charset="0"/>
              </a:rPr>
              <a:t>?</a:t>
            </a:r>
          </a:p>
          <a:p>
            <a:pPr marL="361950" lvl="0" indent="-361950">
              <a:lnSpc>
                <a:spcPct val="150000"/>
              </a:lnSpc>
              <a:spcBef>
                <a:spcPts val="1200"/>
              </a:spcBef>
              <a:spcAft>
                <a:spcPts val="600"/>
              </a:spcAft>
              <a:buFont typeface="Arial" panose="020B0604020202020204" pitchFamily="34" charset="0"/>
              <a:buChar char="•"/>
              <a:tabLst>
                <a:tab pos="408305" algn="l"/>
              </a:tabLst>
            </a:pPr>
            <a:r>
              <a:rPr lang="en-AU" sz="4400" dirty="0">
                <a:effectLst/>
                <a:latin typeface="Arial" panose="020B0604020202020204" pitchFamily="34" charset="0"/>
                <a:ea typeface="Calibri" panose="020F0502020204030204" pitchFamily="34" charset="0"/>
                <a:cs typeface="Times New Roman" panose="02020603050405020304" pitchFamily="18" charset="0"/>
              </a:rPr>
              <a:t>How many </a:t>
            </a:r>
            <a:r>
              <a:rPr lang="en-AU" sz="4400" b="1" dirty="0">
                <a:effectLst/>
                <a:latin typeface="Arial" panose="020B0604020202020204" pitchFamily="34" charset="0"/>
                <a:ea typeface="Calibri" panose="020F0502020204030204" pitchFamily="34" charset="0"/>
                <a:cs typeface="Times New Roman" panose="02020603050405020304" pitchFamily="18" charset="0"/>
              </a:rPr>
              <a:t>wholes</a:t>
            </a:r>
            <a:r>
              <a:rPr lang="en-AU" sz="4400" dirty="0">
                <a:effectLst/>
                <a:latin typeface="Arial" panose="020B0604020202020204" pitchFamily="34" charset="0"/>
                <a:ea typeface="Calibri" panose="020F0502020204030204" pitchFamily="34" charset="0"/>
                <a:cs typeface="Times New Roman" panose="02020603050405020304" pitchFamily="18" charset="0"/>
              </a:rPr>
              <a:t> do </a:t>
            </a:r>
            <a:r>
              <a:rPr lang="en-AU" sz="4400" b="1" dirty="0">
                <a:effectLst/>
                <a:latin typeface="Arial" panose="020B0604020202020204" pitchFamily="34" charset="0"/>
                <a:ea typeface="Calibri" panose="020F0502020204030204" pitchFamily="34" charset="0"/>
                <a:cs typeface="Times New Roman" panose="02020603050405020304" pitchFamily="18" charset="0"/>
              </a:rPr>
              <a:t>6-thirds </a:t>
            </a:r>
            <a:r>
              <a:rPr lang="en-AU" sz="4400" dirty="0">
                <a:effectLst/>
                <a:latin typeface="Arial" panose="020B0604020202020204" pitchFamily="34" charset="0"/>
                <a:ea typeface="Calibri" panose="020F0502020204030204" pitchFamily="34" charset="0"/>
                <a:cs typeface="Times New Roman" panose="02020603050405020304" pitchFamily="18" charset="0"/>
              </a:rPr>
              <a:t>make?</a:t>
            </a:r>
          </a:p>
        </p:txBody>
      </p:sp>
      <p:pic>
        <p:nvPicPr>
          <p:cNvPr id="5" name="Picture 4" descr="Image of a clipboard with a pencil recording short answer.">
            <a:extLst>
              <a:ext uri="{FF2B5EF4-FFF2-40B4-BE49-F238E27FC236}">
                <a16:creationId xmlns:a16="http://schemas.microsoft.com/office/drawing/2014/main" id="{5CD6797F-4DA8-97AF-D029-31AAD8DC48EB}"/>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969F8-2C1E-CD1B-96DA-3D50F8CD18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C52316-44B0-D4C9-6522-B1B22A1EE937}"/>
              </a:ext>
            </a:extLst>
          </p:cNvPr>
          <p:cNvSpPr>
            <a:spLocks noGrp="1"/>
          </p:cNvSpPr>
          <p:nvPr>
            <p:ph type="title"/>
          </p:nvPr>
        </p:nvSpPr>
        <p:spPr/>
        <p:txBody>
          <a:bodyPr/>
          <a:lstStyle/>
          <a:p>
            <a:r>
              <a:rPr lang="en-AU" dirty="0"/>
              <a:t>Short response </a:t>
            </a:r>
            <a:r>
              <a:rPr lang="en-AU" dirty="0">
                <a:solidFill>
                  <a:schemeClr val="bg1"/>
                </a:solidFill>
              </a:rPr>
              <a:t>(32)</a:t>
            </a:r>
          </a:p>
        </p:txBody>
      </p:sp>
      <p:pic>
        <p:nvPicPr>
          <p:cNvPr id="4" name="Picture 3" descr="Image of a clipboard with a pencil recording short answer.">
            <a:extLst>
              <a:ext uri="{FF2B5EF4-FFF2-40B4-BE49-F238E27FC236}">
                <a16:creationId xmlns:a16="http://schemas.microsoft.com/office/drawing/2014/main" id="{5A74C1ED-57FA-119D-647B-9F18A22E470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5" name="Text Placeholder">
            <a:extLst>
              <a:ext uri="{FF2B5EF4-FFF2-40B4-BE49-F238E27FC236}">
                <a16:creationId xmlns:a16="http://schemas.microsoft.com/office/drawing/2014/main" id="{7394B76C-B52A-025C-CD9A-DA7AE28E250C}"/>
              </a:ext>
            </a:extLst>
          </p:cNvPr>
          <p:cNvSpPr>
            <a:spLocks noGrp="1"/>
          </p:cNvSpPr>
          <p:nvPr>
            <p:ph type="body" sz="quarter" idx="28"/>
          </p:nvPr>
        </p:nvSpPr>
        <p:spPr>
          <a:xfrm>
            <a:off x="474481" y="946413"/>
            <a:ext cx="11243037" cy="754243"/>
          </a:xfrm>
        </p:spPr>
        <p:txBody>
          <a:bodyPr/>
          <a:lstStyle/>
          <a:p>
            <a:r>
              <a:rPr lang="en-AU" sz="4000" dirty="0"/>
              <a:t>Milla is going fishing. She needs to choose the </a:t>
            </a:r>
            <a:r>
              <a:rPr lang="en-AU" sz="4000" b="1" dirty="0"/>
              <a:t>shortest</a:t>
            </a:r>
            <a:r>
              <a:rPr lang="en-AU" sz="4000" dirty="0"/>
              <a:t> rod. Which rod should she choose?</a:t>
            </a:r>
            <a:endParaRPr lang="en-US" sz="4000" dirty="0"/>
          </a:p>
        </p:txBody>
      </p:sp>
      <p:sp>
        <p:nvSpPr>
          <p:cNvPr id="18" name="A text">
            <a:extLst>
              <a:ext uri="{FF2B5EF4-FFF2-40B4-BE49-F238E27FC236}">
                <a16:creationId xmlns:a16="http://schemas.microsoft.com/office/drawing/2014/main" id="{58620635-BF1B-5A9C-86D0-3D893C8036A1}"/>
              </a:ext>
            </a:extLst>
          </p:cNvPr>
          <p:cNvSpPr>
            <a:spLocks noGrp="1"/>
          </p:cNvSpPr>
          <p:nvPr>
            <p:ph type="body" sz="quarter" idx="31"/>
          </p:nvPr>
        </p:nvSpPr>
        <p:spPr>
          <a:xfrm>
            <a:off x="360000" y="3345330"/>
            <a:ext cx="6092558" cy="641396"/>
          </a:xfrm>
        </p:spPr>
        <p:txBody>
          <a:bodyPr anchor="ctr"/>
          <a:lstStyle/>
          <a:p>
            <a:r>
              <a:rPr lang="en-US" sz="3600" dirty="0"/>
              <a:t>Rod </a:t>
            </a:r>
            <a:r>
              <a:rPr lang="en-US" sz="3600" b="1" dirty="0"/>
              <a:t>A</a:t>
            </a:r>
            <a:r>
              <a:rPr lang="en-US" sz="3600" dirty="0"/>
              <a:t>: 1 m and 30 cm</a:t>
            </a:r>
          </a:p>
        </p:txBody>
      </p:sp>
      <p:sp>
        <p:nvSpPr>
          <p:cNvPr id="17" name="B text">
            <a:extLst>
              <a:ext uri="{FF2B5EF4-FFF2-40B4-BE49-F238E27FC236}">
                <a16:creationId xmlns:a16="http://schemas.microsoft.com/office/drawing/2014/main" id="{DF1237BB-1315-28AE-0B45-9A5E1C12E713}"/>
              </a:ext>
            </a:extLst>
          </p:cNvPr>
          <p:cNvSpPr>
            <a:spLocks noGrp="1"/>
          </p:cNvSpPr>
          <p:nvPr>
            <p:ph type="body" sz="quarter" idx="30"/>
          </p:nvPr>
        </p:nvSpPr>
        <p:spPr>
          <a:xfrm>
            <a:off x="360000" y="4637298"/>
            <a:ext cx="10175920" cy="641396"/>
          </a:xfrm>
        </p:spPr>
        <p:txBody>
          <a:bodyPr anchor="ctr">
            <a:noAutofit/>
          </a:bodyPr>
          <a:lstStyle/>
          <a:p>
            <a:r>
              <a:rPr lang="en-US" sz="3600" dirty="0"/>
              <a:t>Rod </a:t>
            </a:r>
            <a:r>
              <a:rPr lang="en-US" sz="3600" b="1" dirty="0"/>
              <a:t>B</a:t>
            </a:r>
            <a:r>
              <a:rPr lang="en-US" sz="3600" dirty="0"/>
              <a:t>: 120 cm</a:t>
            </a:r>
          </a:p>
        </p:txBody>
      </p:sp>
      <p:sp>
        <p:nvSpPr>
          <p:cNvPr id="16" name="C text">
            <a:extLst>
              <a:ext uri="{FF2B5EF4-FFF2-40B4-BE49-F238E27FC236}">
                <a16:creationId xmlns:a16="http://schemas.microsoft.com/office/drawing/2014/main" id="{13F30C0E-AF9A-817B-EA24-7FA964C75151}"/>
              </a:ext>
            </a:extLst>
          </p:cNvPr>
          <p:cNvSpPr>
            <a:spLocks noGrp="1"/>
          </p:cNvSpPr>
          <p:nvPr>
            <p:ph type="body" sz="quarter" idx="29"/>
          </p:nvPr>
        </p:nvSpPr>
        <p:spPr>
          <a:xfrm>
            <a:off x="6452558" y="3345330"/>
            <a:ext cx="10175920" cy="641396"/>
          </a:xfrm>
        </p:spPr>
        <p:txBody>
          <a:bodyPr anchor="ctr"/>
          <a:lstStyle/>
          <a:p>
            <a:r>
              <a:rPr lang="en-US" sz="3600" dirty="0"/>
              <a:t>Rod </a:t>
            </a:r>
            <a:r>
              <a:rPr lang="en-US" sz="3600" b="1" dirty="0"/>
              <a:t>C</a:t>
            </a:r>
            <a:r>
              <a:rPr lang="en-US" sz="3600" dirty="0"/>
              <a:t>:118 cm</a:t>
            </a:r>
          </a:p>
        </p:txBody>
      </p:sp>
      <p:sp>
        <p:nvSpPr>
          <p:cNvPr id="14" name="D text">
            <a:extLst>
              <a:ext uri="{FF2B5EF4-FFF2-40B4-BE49-F238E27FC236}">
                <a16:creationId xmlns:a16="http://schemas.microsoft.com/office/drawing/2014/main" id="{C5DC539E-3B35-7249-0938-4E71A3207DFF}"/>
              </a:ext>
            </a:extLst>
          </p:cNvPr>
          <p:cNvSpPr>
            <a:spLocks noGrp="1"/>
          </p:cNvSpPr>
          <p:nvPr>
            <p:ph type="body" sz="quarter" idx="27"/>
          </p:nvPr>
        </p:nvSpPr>
        <p:spPr>
          <a:xfrm>
            <a:off x="6396040" y="4637298"/>
            <a:ext cx="10175920" cy="641396"/>
          </a:xfrm>
        </p:spPr>
        <p:txBody>
          <a:bodyPr anchor="ctr">
            <a:noAutofit/>
          </a:bodyPr>
          <a:lstStyle/>
          <a:p>
            <a:r>
              <a:rPr lang="en-US" sz="3600" dirty="0"/>
              <a:t>Rod </a:t>
            </a:r>
            <a:r>
              <a:rPr lang="en-US" sz="3600" b="1" dirty="0"/>
              <a:t>D</a:t>
            </a:r>
            <a:r>
              <a:rPr lang="en-US" sz="3600" dirty="0"/>
              <a:t>: 1 m 50 cm</a:t>
            </a:r>
          </a:p>
        </p:txBody>
      </p:sp>
      <p:sp>
        <p:nvSpPr>
          <p:cNvPr id="5" name="TextBox 4">
            <a:extLst>
              <a:ext uri="{FF2B5EF4-FFF2-40B4-BE49-F238E27FC236}">
                <a16:creationId xmlns:a16="http://schemas.microsoft.com/office/drawing/2014/main" id="{F09D4B32-36E4-BB3F-5EB6-73EDA6AED017}"/>
              </a:ext>
            </a:extLst>
          </p:cNvPr>
          <p:cNvSpPr txBox="1"/>
          <p:nvPr/>
        </p:nvSpPr>
        <p:spPr>
          <a:xfrm>
            <a:off x="1943099" y="5808114"/>
            <a:ext cx="8305800" cy="707886"/>
          </a:xfrm>
          <a:prstGeom prst="rect">
            <a:avLst/>
          </a:prstGeom>
          <a:noFill/>
        </p:spPr>
        <p:txBody>
          <a:bodyPr wrap="square">
            <a:spAutoFit/>
          </a:bodyPr>
          <a:lstStyle/>
          <a:p>
            <a:r>
              <a:rPr lang="en-AU" sz="4000" b="1" dirty="0"/>
              <a:t>Communicate </a:t>
            </a:r>
            <a:r>
              <a:rPr lang="en-AU" sz="4000" dirty="0"/>
              <a:t>your</a:t>
            </a:r>
            <a:r>
              <a:rPr lang="en-AU" sz="4000" b="1" dirty="0"/>
              <a:t> reasoning.</a:t>
            </a:r>
            <a:endParaRPr lang="en-AU" sz="4000" dirty="0"/>
          </a:p>
        </p:txBody>
      </p:sp>
      <p:sp>
        <p:nvSpPr>
          <p:cNvPr id="2" name="Slide Number Placeholder 1">
            <a:extLst>
              <a:ext uri="{FF2B5EF4-FFF2-40B4-BE49-F238E27FC236}">
                <a16:creationId xmlns:a16="http://schemas.microsoft.com/office/drawing/2014/main" id="{E3E035ED-EB93-6C25-A978-0EED9FDE226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80606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0C66C-9246-D3FB-AA87-800B71EC0C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F62D81-CE82-E365-9364-D0A10EB47A96}"/>
              </a:ext>
            </a:extLst>
          </p:cNvPr>
          <p:cNvSpPr>
            <a:spLocks noGrp="1"/>
          </p:cNvSpPr>
          <p:nvPr>
            <p:ph type="title"/>
          </p:nvPr>
        </p:nvSpPr>
        <p:spPr>
          <a:xfrm>
            <a:off x="360000" y="360000"/>
            <a:ext cx="11484000" cy="545601"/>
          </a:xfrm>
        </p:spPr>
        <p:txBody>
          <a:bodyPr/>
          <a:lstStyle/>
          <a:p>
            <a:r>
              <a:rPr lang="en-AU" dirty="0"/>
              <a:t>Activity 8 – target number sentence</a:t>
            </a:r>
          </a:p>
        </p:txBody>
      </p:sp>
      <p:pic>
        <p:nvPicPr>
          <p:cNvPr id="5" name="Picture 4" descr="image of a head with cogs turning inside">
            <a:extLst>
              <a:ext uri="{FF2B5EF4-FFF2-40B4-BE49-F238E27FC236}">
                <a16:creationId xmlns:a16="http://schemas.microsoft.com/office/drawing/2014/main" id="{48C64473-7861-5A1B-E2F3-935706DA7D1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 name="TextBox 3">
            <a:extLst>
              <a:ext uri="{FF2B5EF4-FFF2-40B4-BE49-F238E27FC236}">
                <a16:creationId xmlns:a16="http://schemas.microsoft.com/office/drawing/2014/main" id="{08D932D0-D224-03E2-DD64-D7F69D7DDE64}"/>
              </a:ext>
            </a:extLst>
          </p:cNvPr>
          <p:cNvSpPr txBox="1"/>
          <p:nvPr/>
        </p:nvSpPr>
        <p:spPr>
          <a:xfrm>
            <a:off x="2329419" y="2736801"/>
            <a:ext cx="7533162" cy="844599"/>
          </a:xfrm>
          <a:prstGeom prst="rect">
            <a:avLst/>
          </a:prstGeom>
          <a:noFill/>
        </p:spPr>
        <p:txBody>
          <a:bodyPr wrap="square" lIns="0" tIns="0" rIns="0" bIns="0" rtlCol="0">
            <a:noAutofit/>
          </a:bodyPr>
          <a:lstStyle/>
          <a:p>
            <a:pPr algn="ctr"/>
            <a:r>
              <a:rPr lang="en-AU" sz="6600" dirty="0">
                <a:solidFill>
                  <a:schemeClr val="accent2"/>
                </a:solidFill>
                <a:latin typeface="Edu NSW ACT Foundation" panose="020B0604020202020204" charset="0"/>
              </a:rPr>
              <a:t>52 – 21 = 63 - 32</a:t>
            </a:r>
          </a:p>
        </p:txBody>
      </p:sp>
      <p:sp>
        <p:nvSpPr>
          <p:cNvPr id="2" name="Slide Number Placeholder 1">
            <a:extLst>
              <a:ext uri="{FF2B5EF4-FFF2-40B4-BE49-F238E27FC236}">
                <a16:creationId xmlns:a16="http://schemas.microsoft.com/office/drawing/2014/main" id="{6F2A2598-5ED7-87C2-F92A-A2EF791B102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40911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82546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23825" y="3291604"/>
            <a:ext cx="11484000" cy="2927351"/>
          </a:xfrm>
        </p:spPr>
        <p:txBody>
          <a:bodyPr vert="horz" lIns="0" tIns="0" rIns="0" bIns="0" rtlCol="0" anchor="t">
            <a:noAutofit/>
          </a:bodyPr>
          <a:lstStyle/>
          <a:p>
            <a:r>
              <a:rPr lang="en-AU" dirty="0">
                <a:cs typeface="Arial"/>
              </a:rPr>
              <a:t>Mathematics K–10 © Syllabus NSW Education Standards Authority (NESA) for and on behalf of the Crown in right of the State of New South Wales 2021</a:t>
            </a:r>
          </a:p>
          <a:p>
            <a:pPr fontAlgn="base"/>
            <a:r>
              <a:rPr lang="en-AU" u="sng" dirty="0">
                <a:hlinkClick r:id="rId6"/>
              </a:rPr>
              <a:t>National Numeracy Learning Progression</a:t>
            </a:r>
            <a:r>
              <a:rPr lang="en-AU" dirty="0"/>
              <a:t> © Australian Curriculum, Assessment and Reporting Authority (ACARA) 2010 to present, unless otherwise indicated. This material was downloaded from the </a:t>
            </a:r>
            <a:r>
              <a:rPr lang="en-AU" u="sng" dirty="0">
                <a:hlinkClick r:id="rId7"/>
              </a:rPr>
              <a:t>Australian Curriculum</a:t>
            </a:r>
            <a:r>
              <a:rPr lang="en-AU" dirty="0"/>
              <a:t> website (National Numeracy Learning Progression) (accessed 23 August 2025) and was not modified. </a:t>
            </a:r>
          </a:p>
          <a:p>
            <a:pPr fontAlgn="base"/>
            <a:r>
              <a:rPr lang="en-AU" dirty="0"/>
              <a:t>Finkel D (2020) ‘</a:t>
            </a:r>
            <a:r>
              <a:rPr lang="en-AU" u="sng" dirty="0">
                <a:hlinkClick r:id="rId8"/>
              </a:rPr>
              <a:t>Target Number</a:t>
            </a:r>
            <a:r>
              <a:rPr lang="en-AU" dirty="0"/>
              <a:t>’, </a:t>
            </a:r>
            <a:r>
              <a:rPr lang="en-AU" i="1" dirty="0"/>
              <a:t>Free Lessons, </a:t>
            </a:r>
            <a:r>
              <a:rPr lang="en-AU" dirty="0"/>
              <a:t>Math for Love website, accessed 18 December 2025. </a:t>
            </a:r>
          </a:p>
          <a:p>
            <a:pPr fontAlgn="base"/>
            <a:r>
              <a:rPr lang="en-AU" dirty="0"/>
              <a:t>Siemon, D., Warren, E., Beswick, K., Faragher, R., &amp; Miller, J. (2020). </a:t>
            </a:r>
            <a:r>
              <a:rPr lang="en-AU" i="1" dirty="0"/>
              <a:t>Teaching Mathematics: Foundations to Middle Years</a:t>
            </a:r>
            <a:r>
              <a:rPr lang="en-AU" dirty="0"/>
              <a:t> (3rd ed.). Oxford University Press ANZ. ISBN 9780190311537. </a:t>
            </a:r>
          </a:p>
          <a:p>
            <a:endParaRPr lang="en-AU"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FC601-72E2-1E06-FBE6-8165772C9F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E3FCCC-D93A-C8E0-4B61-CD90C41A2EE5}"/>
              </a:ext>
            </a:extLst>
          </p:cNvPr>
          <p:cNvSpPr>
            <a:spLocks noGrp="1"/>
          </p:cNvSpPr>
          <p:nvPr>
            <p:ph type="title"/>
          </p:nvPr>
        </p:nvSpPr>
        <p:spPr/>
        <p:txBody>
          <a:bodyPr/>
          <a:lstStyle/>
          <a:p>
            <a:r>
              <a:rPr lang="en-AU" dirty="0">
                <a:latin typeface="+mj-lt"/>
              </a:rPr>
              <a:t>References 2</a:t>
            </a:r>
          </a:p>
        </p:txBody>
      </p:sp>
      <p:sp>
        <p:nvSpPr>
          <p:cNvPr id="6" name="TextBox 5">
            <a:extLst>
              <a:ext uri="{FF2B5EF4-FFF2-40B4-BE49-F238E27FC236}">
                <a16:creationId xmlns:a16="http://schemas.microsoft.com/office/drawing/2014/main" id="{07A5AB7A-565A-2BEA-577B-F535FF43913A}"/>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53A026D3-D1D1-B863-D979-32917F9301C2}"/>
              </a:ext>
            </a:extLst>
          </p:cNvPr>
          <p:cNvSpPr>
            <a:spLocks noGrp="1"/>
          </p:cNvSpPr>
          <p:nvPr>
            <p:ph idx="1"/>
          </p:nvPr>
        </p:nvSpPr>
        <p:spPr>
          <a:xfrm>
            <a:off x="360000" y="3429000"/>
            <a:ext cx="11484000" cy="2927351"/>
          </a:xfrm>
        </p:spPr>
        <p:txBody>
          <a:bodyPr vert="horz" lIns="0" tIns="0" rIns="0" bIns="0" rtlCol="0" anchor="t">
            <a:noAutofit/>
          </a:bodyPr>
          <a:lstStyle/>
          <a:p>
            <a:r>
              <a:rPr lang="en-AU" dirty="0"/>
              <a:t>Small, M. (2009). </a:t>
            </a:r>
            <a:r>
              <a:rPr lang="en-AU" i="1" dirty="0"/>
              <a:t>Good questions: Great ways to differentiate mathematics instruction</a:t>
            </a:r>
            <a:r>
              <a:rPr lang="en-AU" dirty="0"/>
              <a:t>. Teachers College, Columbia University.</a:t>
            </a:r>
          </a:p>
          <a:p>
            <a:r>
              <a:rPr lang="en-AU" dirty="0"/>
              <a:t>Sullivan, P., &amp; Lilburn, P. (2009). </a:t>
            </a:r>
            <a:r>
              <a:rPr lang="en-AU" i="1" dirty="0"/>
              <a:t>Open-ended Maths Activities</a:t>
            </a:r>
            <a:r>
              <a:rPr lang="en-AU" dirty="0"/>
              <a:t> (revised ed.). Oxford University Press.</a:t>
            </a:r>
          </a:p>
          <a:p>
            <a:r>
              <a:rPr lang="en-AU" dirty="0"/>
              <a:t>Van de Walle J, Karp K, Bay-Williams JM, Brass A, Bentley B, Ferguson S, Goff W, Livy S, Marshman M, Martin D, Pearn C, </a:t>
            </a:r>
            <a:r>
              <a:rPr lang="en-AU" dirty="0" err="1"/>
              <a:t>Prodromou</a:t>
            </a:r>
            <a:r>
              <a:rPr lang="en-AU" dirty="0"/>
              <a:t> T, Symons D and Wilkie K (2019) </a:t>
            </a:r>
            <a:r>
              <a:rPr lang="en-AU" i="1" dirty="0"/>
              <a:t>Primary and Middle Years Mathematics: Teaching Developmentally</a:t>
            </a:r>
            <a:r>
              <a:rPr lang="en-AU" dirty="0"/>
              <a:t>, 1st Australian </a:t>
            </a:r>
            <a:r>
              <a:rPr lang="en-AU" dirty="0" err="1"/>
              <a:t>edn</a:t>
            </a:r>
            <a:r>
              <a:rPr lang="en-AU" dirty="0"/>
              <a:t>, Pearson Education Australia, Melbourne. </a:t>
            </a:r>
          </a:p>
          <a:p>
            <a:endParaRPr lang="en-AU" dirty="0"/>
          </a:p>
          <a:p>
            <a:endParaRPr lang="en-AU" dirty="0"/>
          </a:p>
        </p:txBody>
      </p:sp>
      <p:sp>
        <p:nvSpPr>
          <p:cNvPr id="2" name="Slide Number Placeholder 1">
            <a:extLst>
              <a:ext uri="{FF2B5EF4-FFF2-40B4-BE49-F238E27FC236}">
                <a16:creationId xmlns:a16="http://schemas.microsoft.com/office/drawing/2014/main" id="{59919044-8218-DF30-74E9-6B205C455CF2}"/>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528758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D15454-7F8B-4821-B323-D17CFB29FA77}">
  <we:reference id="4b785c87-866c-4bad-85d8-5d1ae467ac9a" version="3.19.0.0" store="EXCatalog" storeType="EXCatalog"/>
  <we:alternateReferences>
    <we:reference id="WA104381909" version="3.19.0.0" store="en-AU"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B7466106-9741-4A29-909C-6B0D75B75090}"/>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CE555570-2BD4-426B-AA32-0A79CB6508A8}">
  <ds:schemaRefs>
    <ds:schemaRef ds:uri="60129b06-f64b-40a8-96e2-c5b2f86112b1"/>
    <ds:schemaRef ds:uri="http://schemas.microsoft.com/office/2006/documentManagement/types"/>
    <ds:schemaRef ds:uri="http://www.w3.org/XML/1998/namespace"/>
    <ds:schemaRef ds:uri="http://purl.org/dc/elements/1.1/"/>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7e763d47-3c66-4c58-9425-1477fd3ccd1e"/>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1661</TotalTime>
  <Words>5841</Words>
  <Application>Microsoft Office PowerPoint</Application>
  <PresentationFormat>Widescreen</PresentationFormat>
  <Paragraphs>754</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Edu NSW ACT Foundation</vt:lpstr>
      <vt:lpstr>Public Sans Light</vt:lpstr>
      <vt:lpstr>Cambria Math</vt:lpstr>
      <vt:lpstr>Calibri</vt:lpstr>
      <vt:lpstr>Arial</vt:lpstr>
      <vt:lpstr>Wingdings</vt:lpstr>
      <vt:lpstr>Aptos Narrow</vt:lpstr>
      <vt:lpstr>Montserrat</vt:lpstr>
      <vt:lpstr>Times New Roman</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5-digit numbers 1</vt:lpstr>
      <vt:lpstr>Review of learning 2</vt:lpstr>
      <vt:lpstr>True or false (1)</vt:lpstr>
      <vt:lpstr>Short response (5)</vt:lpstr>
      <vt:lpstr>Short response (6)</vt:lpstr>
      <vt:lpstr>Short response (7)</vt:lpstr>
      <vt:lpstr>Short response (8)</vt:lpstr>
      <vt:lpstr>Activity 2 –  5-digit numbers 2</vt:lpstr>
      <vt:lpstr>Review of learning 3</vt:lpstr>
      <vt:lpstr>Multiple choice (2)</vt:lpstr>
      <vt:lpstr>Short response (9)</vt:lpstr>
      <vt:lpstr>Short response (10)</vt:lpstr>
      <vt:lpstr>Short response (11)</vt:lpstr>
      <vt:lpstr>Short response (12)</vt:lpstr>
      <vt:lpstr>Activity 3 – arranging numbers in ascending order</vt:lpstr>
      <vt:lpstr>Review of learning 4</vt:lpstr>
      <vt:lpstr>True or false (2)</vt:lpstr>
      <vt:lpstr>Short Response (13)</vt:lpstr>
      <vt:lpstr>Short response (14)</vt:lpstr>
      <vt:lpstr>Short response (15)</vt:lpstr>
      <vt:lpstr>Short response (16)</vt:lpstr>
      <vt:lpstr>Activity 4 – descending order</vt:lpstr>
      <vt:lpstr>Review of learning 5</vt:lpstr>
      <vt:lpstr>Multiple choice (3)</vt:lpstr>
      <vt:lpstr>Short response (17)</vt:lpstr>
      <vt:lpstr>Short response (18)</vt:lpstr>
      <vt:lpstr>Short answer (19) </vt:lpstr>
      <vt:lpstr>Short response (20)</vt:lpstr>
      <vt:lpstr>Activity 5 – equal difference </vt:lpstr>
      <vt:lpstr>Review of learning 6</vt:lpstr>
      <vt:lpstr>True or false(3)</vt:lpstr>
      <vt:lpstr>Short response (21)</vt:lpstr>
      <vt:lpstr>Short response (22)</vt:lpstr>
      <vt:lpstr>Short response (23)</vt:lpstr>
      <vt:lpstr>Short response (24)</vt:lpstr>
      <vt:lpstr>Activity 6 – equivalent number sentences 1 </vt:lpstr>
      <vt:lpstr>Review of learning 7</vt:lpstr>
      <vt:lpstr>Multiple choice (4)</vt:lpstr>
      <vt:lpstr>Short response (25)</vt:lpstr>
      <vt:lpstr>Short response (26)</vt:lpstr>
      <vt:lpstr>Short response (27)</vt:lpstr>
      <vt:lpstr>Short response (28)</vt:lpstr>
      <vt:lpstr>Activity 7– equivalent number sentences 2</vt:lpstr>
      <vt:lpstr>Review of learning 8</vt:lpstr>
      <vt:lpstr>True or false(4)</vt:lpstr>
      <vt:lpstr>Short response (29)</vt:lpstr>
      <vt:lpstr>Short response (30)</vt:lpstr>
      <vt:lpstr>Short response (31)</vt:lpstr>
      <vt:lpstr>Short response (32)</vt:lpstr>
      <vt:lpstr>Activity 8 – target number sentence</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2026-02-08T20:46:01Z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