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bookmarkIdSeed="2">
  <p:sldMasterIdLst>
    <p:sldMasterId id="2147483660" r:id="rId4"/>
  </p:sldMasterIdLst>
  <p:notesMasterIdLst>
    <p:notesMasterId r:id="rId75"/>
  </p:notesMasterIdLst>
  <p:handoutMasterIdLst>
    <p:handoutMasterId r:id="rId76"/>
  </p:handoutMasterIdLst>
  <p:sldIdLst>
    <p:sldId id="26511" r:id="rId5"/>
    <p:sldId id="26505" r:id="rId6"/>
    <p:sldId id="26359" r:id="rId7"/>
    <p:sldId id="271" r:id="rId8"/>
    <p:sldId id="26510" r:id="rId9"/>
    <p:sldId id="26508" r:id="rId10"/>
    <p:sldId id="26524" r:id="rId11"/>
    <p:sldId id="26525" r:id="rId12"/>
    <p:sldId id="26519" r:id="rId13"/>
    <p:sldId id="26571" r:id="rId14"/>
    <p:sldId id="26512" r:id="rId15"/>
    <p:sldId id="26509" r:id="rId16"/>
    <p:sldId id="26523" r:id="rId17"/>
    <p:sldId id="26529" r:id="rId18"/>
    <p:sldId id="26530" r:id="rId19"/>
    <p:sldId id="26531" r:id="rId20"/>
    <p:sldId id="26405" r:id="rId21"/>
    <p:sldId id="26513" r:id="rId22"/>
    <p:sldId id="26534" r:id="rId23"/>
    <p:sldId id="26535" r:id="rId24"/>
    <p:sldId id="26528" r:id="rId25"/>
    <p:sldId id="26537" r:id="rId26"/>
    <p:sldId id="26536" r:id="rId27"/>
    <p:sldId id="26443" r:id="rId28"/>
    <p:sldId id="26514" r:id="rId29"/>
    <p:sldId id="26539" r:id="rId30"/>
    <p:sldId id="26540" r:id="rId31"/>
    <p:sldId id="26541" r:id="rId32"/>
    <p:sldId id="26542" r:id="rId33"/>
    <p:sldId id="26543" r:id="rId34"/>
    <p:sldId id="26572" r:id="rId35"/>
    <p:sldId id="26515" r:id="rId36"/>
    <p:sldId id="26507" r:id="rId37"/>
    <p:sldId id="26546" r:id="rId38"/>
    <p:sldId id="26547" r:id="rId39"/>
    <p:sldId id="26548" r:id="rId40"/>
    <p:sldId id="26549" r:id="rId41"/>
    <p:sldId id="26425" r:id="rId42"/>
    <p:sldId id="26516" r:id="rId43"/>
    <p:sldId id="26550" r:id="rId44"/>
    <p:sldId id="26553" r:id="rId45"/>
    <p:sldId id="26554" r:id="rId46"/>
    <p:sldId id="26555" r:id="rId47"/>
    <p:sldId id="26556" r:id="rId48"/>
    <p:sldId id="26522" r:id="rId49"/>
    <p:sldId id="26517" r:id="rId50"/>
    <p:sldId id="26574" r:id="rId51"/>
    <p:sldId id="26560" r:id="rId52"/>
    <p:sldId id="26561" r:id="rId53"/>
    <p:sldId id="26562" r:id="rId54"/>
    <p:sldId id="26563" r:id="rId55"/>
    <p:sldId id="26430" r:id="rId56"/>
    <p:sldId id="26518" r:id="rId57"/>
    <p:sldId id="26564" r:id="rId58"/>
    <p:sldId id="26565" r:id="rId59"/>
    <p:sldId id="26567" r:id="rId60"/>
    <p:sldId id="26566" r:id="rId61"/>
    <p:sldId id="26568" r:id="rId62"/>
    <p:sldId id="26573" r:id="rId63"/>
    <p:sldId id="26393" r:id="rId64"/>
    <p:sldId id="26387" r:id="rId65"/>
    <p:sldId id="26395" r:id="rId66"/>
    <p:sldId id="26391" r:id="rId67"/>
    <p:sldId id="26402" r:id="rId68"/>
    <p:sldId id="26527" r:id="rId69"/>
    <p:sldId id="26545" r:id="rId70"/>
    <p:sldId id="26569" r:id="rId71"/>
    <p:sldId id="26460" r:id="rId72"/>
    <p:sldId id="26570" r:id="rId73"/>
    <p:sldId id="361" r:id="rId74"/>
  </p:sldIdLst>
  <p:sldSz cx="12192000" cy="6858000"/>
  <p:notesSz cx="6858000" cy="9144000"/>
  <p:embeddedFontLst>
    <p:embeddedFont>
      <p:font typeface="Montserrat" panose="00000500000000000000" pitchFamily="2" charset="0"/>
      <p:regular r:id="rId77"/>
      <p:bold r:id="rId78"/>
      <p:italic r:id="rId79"/>
      <p:boldItalic r:id="rId80"/>
    </p:embeddedFont>
    <p:embeddedFont>
      <p:font typeface="Public Sans" pitchFamily="2" charset="0"/>
      <p:regular r:id="rId81"/>
      <p:bold r:id="rId82"/>
      <p:italic r:id="rId83"/>
      <p:boldItalic r:id="rId84"/>
    </p:embeddedFont>
    <p:embeddedFont>
      <p:font typeface="Public Sans Light" pitchFamily="2" charset="0"/>
      <p:regular r:id="rId85"/>
      <p:italic r:id="rId86"/>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 id="271"/>
            <p14:sldId id="26510"/>
            <p14:sldId id="26508"/>
            <p14:sldId id="26524"/>
            <p14:sldId id="26525"/>
            <p14:sldId id="26519"/>
            <p14:sldId id="26571"/>
            <p14:sldId id="26512"/>
            <p14:sldId id="26509"/>
            <p14:sldId id="26523"/>
            <p14:sldId id="26529"/>
            <p14:sldId id="26530"/>
            <p14:sldId id="26531"/>
            <p14:sldId id="26405"/>
            <p14:sldId id="26513"/>
            <p14:sldId id="26534"/>
            <p14:sldId id="26535"/>
            <p14:sldId id="26528"/>
            <p14:sldId id="26537"/>
            <p14:sldId id="26536"/>
            <p14:sldId id="26443"/>
            <p14:sldId id="26514"/>
            <p14:sldId id="26539"/>
            <p14:sldId id="26540"/>
            <p14:sldId id="26541"/>
            <p14:sldId id="26542"/>
            <p14:sldId id="26543"/>
            <p14:sldId id="26572"/>
            <p14:sldId id="26515"/>
            <p14:sldId id="26507"/>
            <p14:sldId id="26546"/>
            <p14:sldId id="26547"/>
            <p14:sldId id="26548"/>
            <p14:sldId id="26549"/>
            <p14:sldId id="26425"/>
            <p14:sldId id="26516"/>
            <p14:sldId id="26550"/>
            <p14:sldId id="26553"/>
            <p14:sldId id="26554"/>
            <p14:sldId id="26555"/>
            <p14:sldId id="26556"/>
            <p14:sldId id="26522"/>
            <p14:sldId id="26517"/>
            <p14:sldId id="26574"/>
            <p14:sldId id="26560"/>
            <p14:sldId id="26561"/>
            <p14:sldId id="26562"/>
            <p14:sldId id="26563"/>
            <p14:sldId id="26430"/>
            <p14:sldId id="26518"/>
            <p14:sldId id="26564"/>
            <p14:sldId id="26565"/>
            <p14:sldId id="26567"/>
            <p14:sldId id="26566"/>
            <p14:sldId id="26568"/>
            <p14:sldId id="26573"/>
          </p14:sldIdLst>
        </p14:section>
        <p14:section name="Assets for teachers to create own reviews" id="{ACCADEBA-79DB-4F18-8F19-E4DF86159DFB}">
          <p14:sldIdLst>
            <p14:sldId id="26393"/>
            <p14:sldId id="26387"/>
            <p14:sldId id="26395"/>
            <p14:sldId id="26391"/>
            <p14:sldId id="26402"/>
            <p14:sldId id="26527"/>
            <p14:sldId id="26545"/>
          </p14:sldIdLst>
        </p14:section>
        <p14:section name="References &amp; copyright" id="{DBC31484-F5F8-4CB1-8DB4-A562A9780899}">
          <p14:sldIdLst>
            <p14:sldId id="26569"/>
            <p14:sldId id="26460"/>
            <p14:sldId id="2657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76652228-BA2A-8E0F-B69D-752F252CA8C9}" name="Carolyn Matthews" initials="CM" userId="S::Carolyn.Matthews2@det.nsw.edu.au::7f53049a-bf0f-477a-aa49-60e3a8d71d98" providerId="AD"/>
  <p188:author id="{5C30132E-288C-53FD-93C9-9EB835F45213}" name="Nichole Wood" initials="NW" userId="S::NICHOLE.DEMPSEY@det.nsw.edu.au::f4dd199f-85d5-4f2b-8bc1-8ba23649a9c2" providerId="AD"/>
  <p188:author id="{4021882F-C6B3-C55E-767D-27181BD16F2B}" name="Melinda Ojeda" initials="MO" userId="S::Melinda.Ojeda@det.nsw.edu.au::d90aca96-824c-4874-b48e-bcce1db91155" providerId="AD"/>
  <p188:author id="{38A50444-57C2-0ED5-4EF0-B001B3687B58}" name="Nadia Walker" initials="NW" userId="S::Nadia.Walker2@det.nsw.edu.au::1d1c495c-8f87-451e-994f-64d576866b6d" providerId="AD"/>
  <p188:author id="{117A025F-CECB-7403-D4EE-15F295013070}" name="Carolyn Matthews" initials="CM" userId="S::carolyn.matthews2@det.nsw.edu.au::7f53049a-bf0f-477a-aa49-60e3a8d71d98" providerId="AD"/>
  <p188:author id="{95D16B7D-CADB-F2BF-AC29-D680545C75EE}" name="Carrie Webeck" initials="CW" userId="S::CARRIE-ANN.WEBECK@det.nsw.edu.au::e5c4b697-ca15-4f3a-a906-1289ddc2fc07"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6CFD"/>
    <a:srgbClr val="000000"/>
    <a:srgbClr val="FFFFFF"/>
    <a:srgbClr val="002664"/>
    <a:srgbClr val="EA9B0C"/>
    <a:srgbClr val="007A8A"/>
    <a:srgbClr val="9B6808"/>
    <a:srgbClr val="427B2D"/>
    <a:srgbClr val="B5145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48C828-3104-418F-B7DA-ECA8B8DDB4E1}" v="1" dt="2025-09-06T04:21:01.576"/>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6084" autoAdjust="0"/>
  </p:normalViewPr>
  <p:slideViewPr>
    <p:cSldViewPr snapToGrid="0">
      <p:cViewPr varScale="1">
        <p:scale>
          <a:sx n="45" d="100"/>
          <a:sy n="45" d="100"/>
        </p:scale>
        <p:origin x="2040" y="36"/>
      </p:cViewPr>
      <p:guideLst>
        <p:guide orient="horz" pos="2160"/>
        <p:guide pos="3863"/>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8.fntdata"/><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3.fntdata"/><Relationship Id="rId5" Type="http://schemas.openxmlformats.org/officeDocument/2006/relationships/slide" Target="slides/slide1.xml"/><Relationship Id="rId90" Type="http://schemas.openxmlformats.org/officeDocument/2006/relationships/tableStyles" Target="tableStyle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1.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4.fntdata"/><Relationship Id="rId85" Type="http://schemas.openxmlformats.org/officeDocument/2006/relationships/font" Target="fonts/font9.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viewProps" Target="viewProps.xml"/><Relationship Id="rId9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8/10/relationships/authors" Target="author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font" Target="fonts/font6.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15/09/2025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15/09/2025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toytheater.com/playing-card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toytheater.com/playing-cards/"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endParaRPr lang="en-US" dirty="0">
              <a:solidFill>
                <a:srgbClr val="444444"/>
              </a:solidFill>
              <a:latin typeface="Arial"/>
              <a:cs typeface="Arial"/>
            </a:endParaRPr>
          </a:p>
          <a:p>
            <a:endParaRPr lang="en-AU" dirty="0">
              <a:solidFill>
                <a:srgbClr val="000000"/>
              </a:solidFill>
            </a:endParaRPr>
          </a:p>
          <a:p>
            <a:r>
              <a:rPr lang="en-AU" dirty="0">
                <a:solidFill>
                  <a:srgbClr val="000000"/>
                </a:solidFill>
                <a:latin typeface="Arial"/>
                <a:cs typeface="Arial"/>
              </a:rPr>
              <a:t>This Review of Learning slide deck revisits key concepts from the following units:</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Year A Unit 20</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Year A Unit 19</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Year A Unit 18</a:t>
            </a:r>
            <a:endParaRPr lang="en-US" dirty="0">
              <a:solidFill>
                <a:srgbClr val="444444"/>
              </a:solidFill>
              <a:latin typeface="Arial"/>
              <a:cs typeface="Arial"/>
            </a:endParaRPr>
          </a:p>
          <a:p>
            <a:r>
              <a:rPr lang="en-AU" dirty="0">
                <a:solidFill>
                  <a:srgbClr val="000000"/>
                </a:solidFill>
                <a:latin typeface="Arial"/>
                <a:cs typeface="Arial"/>
              </a:rPr>
              <a:t>It also includes opportunities to review prior learning in non-number content, supporting consolidation across focus areas.</a:t>
            </a:r>
            <a:endParaRPr lang="en-US" dirty="0">
              <a:solidFill>
                <a:srgbClr val="444444"/>
              </a:solidFill>
              <a:latin typeface="Arial"/>
              <a:cs typeface="Arial"/>
            </a:endParaRPr>
          </a:p>
          <a:p>
            <a:endParaRPr lang="en-AU" dirty="0">
              <a:solidFill>
                <a:srgbClr val="444444"/>
              </a:solidFill>
            </a:endParaRPr>
          </a:p>
          <a:p>
            <a:r>
              <a:rPr lang="en-AU" dirty="0">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endParaRPr lang="en-US" dirty="0">
              <a:solidFill>
                <a:srgbClr val="444444"/>
              </a:solidFill>
              <a:latin typeface="Arial"/>
              <a:cs typeface="Arial"/>
            </a:endParaRPr>
          </a:p>
          <a:p>
            <a:endParaRPr lang="en-AU" dirty="0">
              <a:solidFill>
                <a:srgbClr val="444444"/>
              </a:solidFill>
            </a:endParaRPr>
          </a:p>
          <a:p>
            <a:pPr>
              <a:defRPr/>
            </a:pPr>
            <a:r>
              <a:rPr lang="en-AU" dirty="0">
                <a:solidFill>
                  <a:srgbClr val="444444"/>
                </a:solidFill>
                <a:latin typeface="Arial"/>
                <a:cs typeface="Arial"/>
              </a:rPr>
              <a:t>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dirty="0">
                <a:latin typeface="Arial"/>
                <a:cs typeface="Arial"/>
              </a:rPr>
              <a:t>Multiple-choice questions/True or false:</a:t>
            </a:r>
            <a:r>
              <a:rPr lang="en-AU" dirty="0">
                <a:latin typeface="Arial"/>
                <a:cs typeface="Arial"/>
              </a:rPr>
              <a:t> Designed to promote active retrieval of key concepts and identify common misconceptions in number, supporting consolidation, understanding and fluency.</a:t>
            </a:r>
            <a:br>
              <a:rPr lang="en-AU" dirty="0">
                <a:latin typeface="Arial"/>
                <a:cs typeface="Arial"/>
              </a:rPr>
            </a:br>
            <a:r>
              <a:rPr lang="en-AU" sz="1600" b="0" i="0" dirty="0">
                <a:solidFill>
                  <a:schemeClr val="tx1"/>
                </a:solidFill>
                <a:latin typeface="Arial"/>
                <a:cs typeface="Arial"/>
              </a:rPr>
              <a:t>These questions:</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285750" indent="-285750" algn="l">
              <a:buFont typeface="Wingdings"/>
              <a:buChar char="ü"/>
            </a:pPr>
            <a:r>
              <a:rPr lang="en-AU" sz="1600" b="0" i="0" dirty="0">
                <a:solidFill>
                  <a:schemeClr val="tx1"/>
                </a:solidFill>
                <a:latin typeface="Arial"/>
                <a:cs typeface="Arial"/>
              </a:rPr>
              <a:t>support spaced and interleaved practice</a:t>
            </a:r>
          </a:p>
          <a:p>
            <a:pPr marL="285750" indent="-285750" algn="l">
              <a:buFont typeface="Wingdings"/>
              <a:buChar char="ü"/>
            </a:pPr>
            <a:r>
              <a:rPr lang="en-AU" sz="1600" b="0" i="0" dirty="0">
                <a:solidFill>
                  <a:schemeClr val="tx1"/>
                </a:solidFill>
                <a:latin typeface="Arial"/>
                <a:cs typeface="Arial"/>
              </a:rPr>
              <a:t>help identify and address common misconceptions </a:t>
            </a:r>
          </a:p>
          <a:p>
            <a:pPr marL="285750" indent="-285750" algn="l">
              <a:buFont typeface="Wingdings"/>
              <a:buChar char="ü"/>
            </a:pPr>
            <a:r>
              <a:rPr lang="en-AU" sz="1600" b="0" i="0" dirty="0">
                <a:solidFill>
                  <a:schemeClr val="tx1"/>
                </a:solidFill>
                <a:latin typeface="Arial"/>
                <a:cs typeface="Arial"/>
              </a:rPr>
              <a:t>support active recall and immediate feedback</a:t>
            </a:r>
          </a:p>
          <a:p>
            <a:pPr marL="285750" indent="-285750" algn="l">
              <a:buFont typeface="Wingdings"/>
              <a:buChar char="ü"/>
            </a:pPr>
            <a:r>
              <a:rPr lang="en-AU" sz="1600" b="0" i="0" dirty="0">
                <a:solidFill>
                  <a:schemeClr val="tx1"/>
                </a:solidFill>
                <a:latin typeface="Arial"/>
                <a:cs typeface="Arial"/>
              </a:rPr>
              <a:t>support whole class participation</a:t>
            </a:r>
          </a:p>
          <a:p>
            <a:pPr marL="285750" indent="-285750">
              <a:buFont typeface="Wingdings"/>
              <a:buChar char="ü"/>
            </a:pPr>
            <a:r>
              <a:rPr lang="en-AU" sz="1600" b="0" i="0" dirty="0">
                <a:solidFill>
                  <a:schemeClr val="tx1"/>
                </a:solidFill>
                <a:latin typeface="Arial"/>
                <a:cs typeface="Arial"/>
              </a:rPr>
              <a:t>identify areas requiring reteach</a:t>
            </a:r>
            <a:endParaRPr lang="en-US" dirty="0">
              <a:solidFill>
                <a:srgbClr val="444444"/>
              </a:solidFill>
              <a:latin typeface="Arial"/>
              <a:cs typeface="Arial"/>
            </a:endParaRPr>
          </a:p>
          <a:p>
            <a:endParaRPr lang="en-AU" dirty="0">
              <a:latin typeface="Arial"/>
              <a:cs typeface="Arial"/>
            </a:endParaRPr>
          </a:p>
          <a:p>
            <a:pPr algn="l"/>
            <a:r>
              <a:rPr lang="en-AU" dirty="0">
                <a:latin typeface="Arial"/>
                <a:cs typeface="Arial"/>
              </a:rPr>
              <a:t>2.</a:t>
            </a:r>
            <a:br>
              <a:rPr lang="en-AU" dirty="0">
                <a:latin typeface="Arial"/>
                <a:cs typeface="Arial"/>
              </a:rPr>
            </a:br>
            <a:r>
              <a:rPr lang="en-AU" b="1" dirty="0">
                <a:latin typeface="Arial"/>
                <a:cs typeface="Arial"/>
              </a:rPr>
              <a:t>Short-response question sets:</a:t>
            </a:r>
            <a:r>
              <a:rPr lang="en-AU" dirty="0">
                <a:latin typeface="Arial"/>
                <a:cs typeface="Arial"/>
              </a:rPr>
              <a:t> Carefully grouped questions that encourage spaced and interleaved practice across multiple focus areas, helping students revisit and apply knowledge from different points in time.</a:t>
            </a:r>
            <a:br>
              <a:rPr lang="en-AU" dirty="0">
                <a:latin typeface="Arial"/>
                <a:cs typeface="Arial"/>
              </a:rPr>
            </a:br>
            <a:r>
              <a:rPr lang="en-AU" sz="1600" b="0" i="0" dirty="0">
                <a:solidFill>
                  <a:schemeClr val="tx1"/>
                </a:solidFill>
                <a:latin typeface="Arial"/>
                <a:cs typeface="Arial"/>
              </a:rPr>
              <a:t>These questions:</a:t>
            </a:r>
            <a:endParaRPr lang="en-US" sz="1600" b="0" i="0" dirty="0">
              <a:solidFill>
                <a:srgbClr val="444444"/>
              </a:solidFill>
              <a:latin typeface="Arial"/>
              <a:cs typeface="Arial"/>
            </a:endParaRPr>
          </a:p>
          <a:p>
            <a:pPr marL="0" indent="0" algn="l">
              <a:buFont typeface="Wingdings" panose="05000000000000000000" pitchFamily="2" charset="2"/>
              <a:buNone/>
            </a:pPr>
            <a:endParaRPr lang="en-AU" sz="1600" i="0" dirty="0"/>
          </a:p>
          <a:p>
            <a:pPr marL="285750" indent="-285750" algn="l">
              <a:buFont typeface="Wingdings"/>
              <a:buChar char="ü"/>
            </a:pPr>
            <a:r>
              <a:rPr lang="en-AU" sz="1600" i="0" dirty="0">
                <a:latin typeface="Arial"/>
                <a:cs typeface="Arial"/>
              </a:rPr>
              <a:t>have a combination of question types </a:t>
            </a:r>
          </a:p>
          <a:p>
            <a:pPr marL="285750" indent="-285750" algn="l">
              <a:buFont typeface="Wingdings"/>
              <a:buChar char="ü"/>
            </a:pPr>
            <a:r>
              <a:rPr lang="en-AU" sz="1600" i="0" dirty="0">
                <a:latin typeface="Arial"/>
                <a:cs typeface="Arial"/>
              </a:rPr>
              <a:t>address a range of focus areas</a:t>
            </a:r>
          </a:p>
          <a:p>
            <a:pPr marL="285750" indent="-285750">
              <a:buFont typeface="Wingdings"/>
              <a:buChar char="ü"/>
            </a:pPr>
            <a:r>
              <a:rPr lang="en-AU" sz="1600" i="0" dirty="0">
                <a:latin typeface="Arial"/>
                <a:cs typeface="Arial"/>
              </a:rPr>
              <a:t>build automaticity and fluency</a:t>
            </a:r>
          </a:p>
          <a:p>
            <a:pPr marL="285750" indent="-285750">
              <a:buFont typeface="Wingdings"/>
              <a:buChar char="ü"/>
            </a:pPr>
            <a:r>
              <a:rPr lang="en-AU" sz="1600" i="0" dirty="0">
                <a:latin typeface="Arial"/>
                <a:cs typeface="Arial"/>
              </a:rPr>
              <a:t>support active recall </a:t>
            </a:r>
          </a:p>
          <a:p>
            <a:pPr marL="285750" indent="-285750">
              <a:buFont typeface="Wingdings"/>
              <a:buChar char="ü"/>
            </a:pPr>
            <a:r>
              <a:rPr lang="en-AU" sz="1600" i="0" dirty="0">
                <a:latin typeface="Arial"/>
                <a:cs typeface="Arial"/>
              </a:rPr>
              <a:t>allow for immediate feedback</a:t>
            </a:r>
          </a:p>
          <a:p>
            <a:pPr marL="285750" indent="-285750" algn="l">
              <a:buFont typeface="Wingdings"/>
              <a:buChar char="ü"/>
            </a:pPr>
            <a:r>
              <a:rPr lang="en-AU" sz="1600" i="0" dirty="0">
                <a:latin typeface="Arial"/>
                <a:cs typeface="Arial"/>
              </a:rPr>
              <a:t>identify content requiring reteach</a:t>
            </a:r>
            <a:endParaRPr lang="en-AU" dirty="0">
              <a:latin typeface="Arial"/>
              <a:cs typeface="Arial"/>
            </a:endParaRPr>
          </a:p>
          <a:p>
            <a:pPr marL="285750" indent="-285750">
              <a:buFont typeface="Wingdings"/>
              <a:buChar char="ü"/>
            </a:pPr>
            <a:endParaRPr lang="en-AU" dirty="0">
              <a:latin typeface="Arial"/>
              <a:cs typeface="Arial"/>
            </a:endParaRPr>
          </a:p>
          <a:p>
            <a:r>
              <a:rPr lang="en-AU" dirty="0">
                <a:latin typeface="Arial"/>
                <a:cs typeface="Arial"/>
              </a:rPr>
              <a:t>3.</a:t>
            </a:r>
          </a:p>
          <a:p>
            <a:r>
              <a:rPr lang="en-AU" b="1" dirty="0">
                <a:latin typeface="Arial"/>
                <a:cs typeface="Arial"/>
              </a:rPr>
              <a:t>Developing number sense activities</a:t>
            </a:r>
            <a:r>
              <a:rPr lang="en-AU" dirty="0">
                <a:latin typeface="Arial"/>
                <a:cs typeface="Arial"/>
              </a:rPr>
              <a:t>: A variety of practical, purposeful tasks that reinforce current learning and build on prior knowledge. These activities promote reasoning, problem-solving and conceptual understanding.</a:t>
            </a:r>
            <a:br>
              <a:rPr lang="en-AU" dirty="0">
                <a:latin typeface="Arial"/>
                <a:cs typeface="Arial"/>
              </a:rPr>
            </a:br>
            <a:br>
              <a:rPr lang="en-AU" dirty="0">
                <a:latin typeface="Arial"/>
                <a:cs typeface="Arial"/>
              </a:rPr>
            </a:br>
            <a:endParaRPr lang="en-US" dirty="0">
              <a:solidFill>
                <a:srgbClr val="444444"/>
              </a:solidFill>
              <a:latin typeface="Arial"/>
              <a:cs typeface="Arial"/>
            </a:endParaRPr>
          </a:p>
          <a:p>
            <a:r>
              <a:rPr lang="en-AU" dirty="0">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br>
              <a:rPr lang="en-AU" dirty="0">
                <a:latin typeface="Arial"/>
                <a:cs typeface="Arial"/>
              </a:rPr>
            </a:br>
            <a:br>
              <a:rPr lang="en-AU" dirty="0"/>
            </a:br>
            <a:endParaRPr lang="en-AU" dirty="0">
              <a:highlight>
                <a:srgbClr val="FFFF00"/>
              </a:highlight>
            </a:endParaRP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a:defRPr/>
            </a:pPr>
            <a:r>
              <a:rPr lang="en-AU" sz="1600" b="1" i="0" dirty="0">
                <a:solidFill>
                  <a:schemeClr val="tx1"/>
                </a:solidFill>
                <a:latin typeface="Arial"/>
                <a:cs typeface="Arial"/>
              </a:rPr>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A: Position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987897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CC54-B770-C8F7-8C65-C091BB23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9B01-AF53-BB9A-E269-C9590389A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A3FF-2E60-3C07-3004-48A94DF0F4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FF21F44-6664-5C72-F922-0CAEB37C6F34}"/>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943914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07BD-4DAB-F9EA-E8E8-947017181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80FB-6A9F-3106-F7BA-13CB4B4D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F551D-9E5D-3133-97EF-743BDEAFDCB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E3111F-78D3-2FC9-2E24-14FE0EAF8035}"/>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65369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01C1-20DD-2F12-7BF9-F7A45F240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27A2-CD90-5E10-45A2-1D868D9E5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050F6-FF47-0341-3566-EF6428F1CF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a:latin typeface="Public Sans"/>
              </a:rPr>
              <a:t>Non-spatial measure A: Time</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68BDCB6-F91C-70A2-2397-14040D7F3E2A}"/>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69826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2000" dirty="0">
                <a:latin typeface="Arial"/>
                <a:cs typeface="Arial"/>
              </a:rPr>
              <a:t>This is a developing number sense activity. </a:t>
            </a:r>
            <a:endParaRPr lang="en-US" sz="2000" dirty="0">
              <a:solidFill>
                <a:srgbClr val="444444"/>
              </a:solidFill>
              <a:latin typeface="Arial"/>
              <a:cs typeface="Arial"/>
            </a:endParaRPr>
          </a:p>
          <a:p>
            <a:pPr>
              <a:lnSpc>
                <a:spcPct val="150000"/>
              </a:lnSpc>
              <a:spcBef>
                <a:spcPts val="1200"/>
              </a:spcBef>
              <a:spcAft>
                <a:spcPts val="600"/>
              </a:spcAft>
            </a:pPr>
            <a:endParaRPr lang="en-AU" sz="2000" dirty="0">
              <a:solidFill>
                <a:srgbClr val="444444"/>
              </a:solidFill>
            </a:endParaRPr>
          </a:p>
          <a:p>
            <a:pPr>
              <a:lnSpc>
                <a:spcPct val="150000"/>
              </a:lnSpc>
              <a:spcBef>
                <a:spcPts val="1200"/>
              </a:spcBef>
              <a:spcAft>
                <a:spcPts val="600"/>
              </a:spcAft>
            </a:pPr>
            <a:r>
              <a:rPr lang="en-AU" sz="20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2000" dirty="0">
              <a:solidFill>
                <a:srgbClr val="444444"/>
              </a:solidFill>
              <a:latin typeface="Arial"/>
              <a:cs typeface="Arial"/>
            </a:endParaRPr>
          </a:p>
          <a:p>
            <a:pPr>
              <a:lnSpc>
                <a:spcPts val="1913"/>
              </a:lnSpc>
            </a:pPr>
            <a:endParaRPr lang="en-AU" sz="2000" dirty="0">
              <a:solidFill>
                <a:srgbClr val="444444"/>
              </a:solidFill>
            </a:endParaRPr>
          </a:p>
          <a:p>
            <a:r>
              <a:rPr lang="en-AU" sz="2000" b="1" dirty="0">
                <a:latin typeface="Arial"/>
                <a:cs typeface="Arial"/>
              </a:rPr>
              <a:t>Syllabus focus area:</a:t>
            </a:r>
            <a:endParaRPr lang="en-US" sz="2000" dirty="0">
              <a:solidFill>
                <a:srgbClr val="444444"/>
              </a:solidFill>
              <a:latin typeface="Arial"/>
              <a:cs typeface="Arial"/>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0" kern="1200" dirty="0">
                <a:solidFill>
                  <a:schemeClr val="tx1"/>
                </a:solidFill>
                <a:effectLst/>
                <a:latin typeface="Arial" panose="020B0604020202020204" pitchFamily="34" charset="0"/>
                <a:ea typeface="+mn-ea"/>
                <a:cs typeface="Arial" panose="020B0604020202020204" pitchFamily="34" charset="0"/>
              </a:rPr>
              <a:t>Additive relations A</a:t>
            </a:r>
          </a:p>
          <a:p>
            <a:pPr>
              <a:lnSpc>
                <a:spcPct val="150000"/>
              </a:lnSpc>
              <a:spcBef>
                <a:spcPts val="1200"/>
              </a:spcBef>
              <a:spcAft>
                <a:spcPts val="600"/>
              </a:spcAft>
              <a:buNone/>
            </a:pPr>
            <a:endParaRPr lang="en-AU" sz="2000" dirty="0"/>
          </a:p>
          <a:p>
            <a:pPr>
              <a:lnSpc>
                <a:spcPct val="150000"/>
              </a:lnSpc>
              <a:spcBef>
                <a:spcPts val="1200"/>
              </a:spcBef>
              <a:spcAft>
                <a:spcPts val="600"/>
              </a:spcAft>
              <a:buNone/>
            </a:pPr>
            <a:r>
              <a:rPr lang="en-AU" sz="2000" b="1" dirty="0"/>
              <a:t>Apply known mental strategies to add</a:t>
            </a:r>
            <a:br>
              <a:rPr lang="en-AU" sz="2000" dirty="0"/>
            </a:br>
            <a:br>
              <a:rPr lang="en-AU" sz="2000" dirty="0"/>
            </a:br>
            <a:r>
              <a:rPr lang="en-AU" sz="1600" dirty="0">
                <a:effectLst/>
                <a:latin typeface="Arial" panose="020B0604020202020204" pitchFamily="34" charset="0"/>
                <a:ea typeface="Calibri" panose="020F0502020204030204" pitchFamily="34" charset="0"/>
              </a:rPr>
              <a:t>This activity is an adaptation of ‘Unpacking game mechanics: Five types of whole-class mathematical games: King’s Tax’ from </a:t>
            </a:r>
            <a:r>
              <a:rPr lang="en-AU" sz="1600" i="1" dirty="0">
                <a:effectLst/>
                <a:latin typeface="Arial" panose="020B0604020202020204" pitchFamily="34" charset="0"/>
                <a:ea typeface="Calibri" panose="020F0502020204030204" pitchFamily="34" charset="0"/>
              </a:rPr>
              <a:t>Australian Primary Mathematics Classroom</a:t>
            </a:r>
            <a:r>
              <a:rPr lang="en-AU" sz="1600" dirty="0">
                <a:effectLst/>
                <a:latin typeface="Arial" panose="020B0604020202020204" pitchFamily="34" charset="0"/>
                <a:ea typeface="Calibri" panose="020F0502020204030204" pitchFamily="34" charset="0"/>
              </a:rPr>
              <a:t> by Russo and Russo.</a:t>
            </a:r>
          </a:p>
          <a:p>
            <a:pPr>
              <a:lnSpc>
                <a:spcPct val="150000"/>
              </a:lnSpc>
              <a:spcBef>
                <a:spcPts val="1200"/>
              </a:spcBef>
              <a:spcAft>
                <a:spcPts val="600"/>
              </a:spcAft>
              <a:buNone/>
            </a:pPr>
            <a:endParaRPr lang="en-AU" sz="1600" dirty="0">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600" b="1" dirty="0">
                <a:effectLst/>
                <a:latin typeface="Arial" panose="020B0604020202020204" pitchFamily="34" charset="0"/>
                <a:ea typeface="Calibri" panose="020F0502020204030204" pitchFamily="34" charset="0"/>
              </a:rPr>
              <a:t>Note:</a:t>
            </a:r>
            <a:r>
              <a:rPr lang="en-AU" sz="1600" dirty="0">
                <a:effectLst/>
                <a:latin typeface="Arial" panose="020B0604020202020204" pitchFamily="34" charset="0"/>
                <a:ea typeface="Calibri" panose="020F0502020204030204" pitchFamily="34" charset="0"/>
              </a:rPr>
              <a:t> the game is to be played as a whole class. You may choose to use a deck of cards or an </a:t>
            </a:r>
            <a:r>
              <a:rPr lang="en-AU" sz="1600" u="sng" dirty="0">
                <a:solidFill>
                  <a:srgbClr val="2F5496"/>
                </a:solidFill>
                <a:effectLst/>
                <a:latin typeface="Arial" panose="020B0604020202020204" pitchFamily="34" charset="0"/>
                <a:ea typeface="Calibri" panose="020F0502020204030204" pitchFamily="34" charset="0"/>
                <a:hlinkClick r:id="rId3"/>
              </a:rPr>
              <a:t>online card generator</a:t>
            </a:r>
            <a:r>
              <a:rPr lang="en-AU" sz="1600" dirty="0">
                <a:effectLst/>
                <a:latin typeface="Arial" panose="020B0604020202020204" pitchFamily="34" charset="0"/>
                <a:ea typeface="Calibri" panose="020F0502020204030204" pitchFamily="34" charset="0"/>
              </a:rPr>
              <a:t>.</a:t>
            </a:r>
          </a:p>
          <a:p>
            <a:pPr>
              <a:lnSpc>
                <a:spcPct val="150000"/>
              </a:lnSpc>
              <a:spcBef>
                <a:spcPts val="1200"/>
              </a:spcBef>
              <a:spcAft>
                <a:spcPts val="600"/>
              </a:spcAft>
              <a:buNone/>
            </a:pPr>
            <a:endParaRPr lang="en-AU" sz="16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Provide students with individual whiteboards and ask them to stand up to start the game.</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Explain that they are going to play “King’s Tax”. To play, one card is drawn from the pack. This is the amount of money that has been earned. For example, if a 5 is turned over, the class has earned $5.</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After each turn, students choose whether they will ‘bank’ their money (by sitting down and recording their amount on their individual whiteboard) or whether to play on. The players who stay in, continue to add to their money.</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The following rules apply:</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If a Jack is turned over, the players receive $15.</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If a Queen is turned over, the amount is doubled for that round (For example, if 6 is turned over, the players receive $12).</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If a King is turned over, he collects his taxes. Anyone who is still standing loses their money for that round.</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A round ends after the King collects his taxes or if nobody is left standing.</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After 4 rounds, students add up the amount they have banked. The winner is the student with the most money in their bank.</a:t>
            </a:r>
          </a:p>
          <a:p>
            <a:pPr marL="342900" lvl="0" indent="-342900">
              <a:lnSpc>
                <a:spcPct val="150000"/>
              </a:lnSpc>
              <a:spcBef>
                <a:spcPts val="1200"/>
              </a:spcBef>
              <a:spcAft>
                <a:spcPts val="600"/>
              </a:spcAft>
              <a:buFont typeface="+mj-lt"/>
              <a:buAutoNum type="arabicPeriod" startAt="5"/>
            </a:pPr>
            <a:r>
              <a:rPr lang="en-AU" sz="1600" dirty="0">
                <a:effectLst/>
                <a:latin typeface="Arial" panose="020B0604020202020204" pitchFamily="34" charset="0"/>
                <a:ea typeface="Calibri" panose="020F0502020204030204" pitchFamily="34" charset="0"/>
              </a:rPr>
              <a:t>Ask students:</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What strategy did you use to add your money?</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Did you use the same strategy each time? Why or why not?</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Was one strategy more efficient than another one you tried?</a:t>
            </a:r>
          </a:p>
          <a:p>
            <a:pPr marL="0" lvl="0" indent="0">
              <a:lnSpc>
                <a:spcPct val="150000"/>
              </a:lnSpc>
              <a:spcBef>
                <a:spcPts val="1200"/>
              </a:spcBef>
              <a:spcAft>
                <a:spcPts val="600"/>
              </a:spcAft>
              <a:buSzPts val="1100"/>
              <a:buFont typeface="Arial" panose="020B0604020202020204" pitchFamily="34" charset="0"/>
              <a:buNone/>
            </a:pPr>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39663814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4CC2-DEEC-5F77-9C86-890FAF7A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BF67-37C8-1541-1492-8D448DE7D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DAB1-9986-1F2E-81A2-30EAE958276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B47B81-E22E-B2CC-AE7B-31B102431E3E}"/>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4109000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2).</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A</a:t>
            </a:r>
            <a:br>
              <a:rPr lang="en-AU" sz="1600" b="0" i="0" dirty="0">
                <a:latin typeface="Arial" panose="020B0604020202020204" pitchFamily="34" charset="0"/>
                <a:cs typeface="Arial" panose="020B0604020202020204" pitchFamily="34" charset="0"/>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334057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Geometric measure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D6AC-F967-0167-AD3E-DCFB37248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FD765-8C68-3ADC-FECB-08095D8D1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6BABE-2AFB-941B-2068-934F2FE07A8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3028C6-C95F-0CB5-E366-B331D00932F7}"/>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731016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1C9-DF43-E901-EAD2-C7F87E64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C6F5-1426-8B6C-2BFD-911C78A9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FA739-98AA-F0FF-4945-C056943A814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27EA6F-685B-7CDD-F781-2EE5BD18F03D}"/>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307608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FA91D-52C3-9186-2C90-D82B023A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A8E39-7439-AC38-0AC6-B1EDC2352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34AA2-88D5-6FA1-EDA7-40D0FD4128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2D Shape</a:t>
            </a: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2223C7-EC2A-C21B-507C-5AF679EAA1A9}"/>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40374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sz="1800" dirty="0">
                <a:latin typeface="Arial"/>
                <a:cs typeface="Arial"/>
              </a:rPr>
              <a:t>This is a developing number sense activity. </a:t>
            </a:r>
            <a:endParaRPr lang="en-US" sz="1800" dirty="0">
              <a:solidFill>
                <a:srgbClr val="444444"/>
              </a:solidFill>
              <a:latin typeface="Arial"/>
              <a:cs typeface="Arial"/>
            </a:endParaRPr>
          </a:p>
          <a:p>
            <a:pPr>
              <a:lnSpc>
                <a:spcPct val="150000"/>
              </a:lnSpc>
              <a:spcBef>
                <a:spcPts val="1200"/>
              </a:spcBef>
              <a:spcAft>
                <a:spcPts val="600"/>
              </a:spcAft>
              <a:defRPr/>
            </a:pPr>
            <a:endParaRPr lang="en-AU" sz="1800" dirty="0">
              <a:solidFill>
                <a:srgbClr val="444444"/>
              </a:solidFill>
            </a:endParaRPr>
          </a:p>
          <a:p>
            <a:pPr>
              <a:lnSpc>
                <a:spcPct val="150000"/>
              </a:lnSpc>
              <a:spcBef>
                <a:spcPts val="1200"/>
              </a:spcBef>
              <a:spcAft>
                <a:spcPts val="600"/>
              </a:spcAft>
              <a:defRPr/>
            </a:pPr>
            <a:r>
              <a:rPr lang="en-AU" sz="18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latin typeface="Arial"/>
              <a:cs typeface="Arial"/>
            </a:endParaRPr>
          </a:p>
          <a:p>
            <a:pPr>
              <a:lnSpc>
                <a:spcPts val="1913"/>
              </a:lnSpc>
              <a:defRPr/>
            </a:pPr>
            <a:endParaRPr lang="en-AU" sz="1800" dirty="0">
              <a:solidFill>
                <a:srgbClr val="444444"/>
              </a:solidFill>
            </a:endParaRPr>
          </a:p>
          <a:p>
            <a:pPr>
              <a:defRPr/>
            </a:pPr>
            <a:r>
              <a:rPr lang="en-AU" sz="1800" b="1" dirty="0">
                <a:latin typeface="Arial"/>
                <a:cs typeface="Arial"/>
              </a:rPr>
              <a:t>Syllabus focus area:</a:t>
            </a:r>
            <a:endParaRPr lang="en-US" sz="1800" dirty="0">
              <a:solidFill>
                <a:srgbClr val="444444"/>
              </a:solidFill>
              <a:latin typeface="Arial"/>
              <a:cs typeface="Arial"/>
            </a:endParaRPr>
          </a:p>
          <a:p>
            <a:pPr marL="0" lvl="0" indent="0">
              <a:lnSpc>
                <a:spcPct val="150000"/>
              </a:lnSpc>
              <a:spcBef>
                <a:spcPts val="1200"/>
              </a:spcBef>
              <a:spcAft>
                <a:spcPts val="600"/>
              </a:spcAft>
              <a:buSzPts val="1100"/>
              <a:buFont typeface="Arial" panose="020B0604020202020204" pitchFamily="34" charset="0"/>
              <a:buNone/>
            </a:pPr>
            <a:r>
              <a:rPr lang="en-AU" sz="1800" dirty="0"/>
              <a:t>Additive relations A</a:t>
            </a:r>
          </a:p>
          <a:p>
            <a:pPr marL="0" lvl="0" indent="0">
              <a:lnSpc>
                <a:spcPct val="150000"/>
              </a:lnSpc>
              <a:spcBef>
                <a:spcPts val="1200"/>
              </a:spcBef>
              <a:spcAft>
                <a:spcPts val="600"/>
              </a:spcAft>
              <a:buSzPts val="1100"/>
              <a:buFont typeface="Arial" panose="020B0604020202020204" pitchFamily="34" charset="0"/>
              <a:buNone/>
            </a:pPr>
            <a:endParaRPr lang="en-AU" sz="1800" dirty="0"/>
          </a:p>
          <a:p>
            <a:pPr marL="0" lvl="0" indent="0">
              <a:lnSpc>
                <a:spcPct val="150000"/>
              </a:lnSpc>
              <a:spcBef>
                <a:spcPts val="1200"/>
              </a:spcBef>
              <a:spcAft>
                <a:spcPts val="600"/>
              </a:spcAft>
              <a:buSzPts val="1100"/>
              <a:buFont typeface="Arial" panose="020B0604020202020204" pitchFamily="34" charset="0"/>
              <a:buNone/>
            </a:pPr>
            <a:r>
              <a:rPr lang="en-AU" sz="1800" b="1" dirty="0"/>
              <a:t>Apply known mental strategies to add and subtract</a:t>
            </a:r>
          </a:p>
          <a:p>
            <a:pPr marL="0" lvl="0" indent="0">
              <a:lnSpc>
                <a:spcPct val="150000"/>
              </a:lnSpc>
              <a:spcBef>
                <a:spcPts val="1200"/>
              </a:spcBef>
              <a:spcAft>
                <a:spcPts val="600"/>
              </a:spcAft>
              <a:buSzPts val="1100"/>
              <a:buFont typeface="Arial" panose="020B0604020202020204" pitchFamily="34" charset="0"/>
              <a:buNone/>
            </a:pPr>
            <a:endParaRPr lang="en-AU" sz="1800" dirty="0"/>
          </a:p>
          <a:p>
            <a:pPr>
              <a:lnSpc>
                <a:spcPct val="150000"/>
              </a:lnSpc>
              <a:spcBef>
                <a:spcPts val="1200"/>
              </a:spcBef>
              <a:spcAft>
                <a:spcPts val="600"/>
              </a:spcAft>
              <a:buNone/>
            </a:pPr>
            <a:r>
              <a:rPr lang="en-AU" sz="1800" u="none" dirty="0">
                <a:solidFill>
                  <a:srgbClr val="2F5496"/>
                </a:solidFill>
                <a:effectLst/>
                <a:latin typeface="Arial" panose="020B0604020202020204" pitchFamily="34" charset="0"/>
                <a:ea typeface="Calibri" panose="020F0502020204030204" pitchFamily="34" charset="0"/>
              </a:rPr>
              <a:t>This activity is an adaptation of ‘Unpacking game mechanics: Five types of whole-class mathematical games: King’s Tax’ from </a:t>
            </a:r>
            <a:r>
              <a:rPr lang="en-AU" sz="1800" i="1" u="none" dirty="0">
                <a:solidFill>
                  <a:srgbClr val="2F5496"/>
                </a:solidFill>
                <a:effectLst/>
                <a:latin typeface="Arial" panose="020B0604020202020204" pitchFamily="34" charset="0"/>
                <a:ea typeface="Calibri" panose="020F0502020204030204" pitchFamily="34" charset="0"/>
              </a:rPr>
              <a:t>Australian Primary Mathematics Classroom</a:t>
            </a:r>
            <a:r>
              <a:rPr lang="en-AU" sz="1800" u="none" dirty="0">
                <a:solidFill>
                  <a:srgbClr val="2F5496"/>
                </a:solidFill>
                <a:effectLst/>
                <a:latin typeface="Arial" panose="020B0604020202020204" pitchFamily="34" charset="0"/>
                <a:ea typeface="Calibri" panose="020F0502020204030204" pitchFamily="34" charset="0"/>
              </a:rPr>
              <a:t> by Russo and Russo.</a:t>
            </a:r>
          </a:p>
          <a:p>
            <a:pPr>
              <a:lnSpc>
                <a:spcPct val="150000"/>
              </a:lnSpc>
              <a:spcBef>
                <a:spcPts val="1200"/>
              </a:spcBef>
              <a:spcAft>
                <a:spcPts val="600"/>
              </a:spcAft>
              <a:buNone/>
            </a:pPr>
            <a:endParaRPr lang="en-AU" sz="1800" dirty="0">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800" b="1" dirty="0">
                <a:effectLst/>
                <a:latin typeface="Arial" panose="020B0604020202020204" pitchFamily="34" charset="0"/>
                <a:ea typeface="Calibri" panose="020F0502020204030204" pitchFamily="34" charset="0"/>
              </a:rPr>
              <a:t>Note:</a:t>
            </a:r>
            <a:r>
              <a:rPr lang="en-AU" sz="1800" dirty="0">
                <a:effectLst/>
                <a:latin typeface="Arial" panose="020B0604020202020204" pitchFamily="34" charset="0"/>
                <a:ea typeface="Calibri" panose="020F0502020204030204" pitchFamily="34" charset="0"/>
              </a:rPr>
              <a:t> the game is to be played as a whole class. You may choose to use a deck of cards or an </a:t>
            </a:r>
            <a:r>
              <a:rPr lang="en-AU" sz="1800" u="sng" dirty="0">
                <a:solidFill>
                  <a:srgbClr val="2F5496"/>
                </a:solidFill>
                <a:effectLst/>
                <a:latin typeface="Arial" panose="020B0604020202020204" pitchFamily="34" charset="0"/>
                <a:ea typeface="Calibri" panose="020F0502020204030204" pitchFamily="34" charset="0"/>
                <a:hlinkClick r:id="rId3"/>
              </a:rPr>
              <a:t>online card generator</a:t>
            </a:r>
            <a:r>
              <a:rPr lang="en-AU" sz="1800" dirty="0">
                <a:effectLst/>
                <a:latin typeface="Arial" panose="020B0604020202020204" pitchFamily="34" charset="0"/>
                <a:ea typeface="Calibri" panose="020F0502020204030204" pitchFamily="34" charset="0"/>
              </a:rPr>
              <a:t>.</a:t>
            </a:r>
          </a:p>
          <a:p>
            <a:pPr>
              <a:lnSpc>
                <a:spcPct val="150000"/>
              </a:lnSpc>
              <a:spcBef>
                <a:spcPts val="1200"/>
              </a:spcBef>
              <a:spcAft>
                <a:spcPts val="600"/>
              </a:spcAft>
              <a:buNone/>
            </a:pPr>
            <a:endParaRPr lang="en-AU" sz="18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dirty="0">
                <a:effectLst/>
                <a:latin typeface="Arial" panose="020B0604020202020204" pitchFamily="34" charset="0"/>
                <a:ea typeface="Calibri" panose="020F0502020204030204" pitchFamily="34" charset="0"/>
              </a:rPr>
              <a:t>Revise the rules to “King’s Tax” from Activity 1.</a:t>
            </a:r>
          </a:p>
          <a:p>
            <a:pPr marL="342900" lvl="0" indent="-342900">
              <a:lnSpc>
                <a:spcPct val="150000"/>
              </a:lnSpc>
              <a:spcBef>
                <a:spcPts val="1200"/>
              </a:spcBef>
              <a:spcAft>
                <a:spcPts val="600"/>
              </a:spcAft>
              <a:buFont typeface="+mj-lt"/>
              <a:buAutoNum type="arabicPeriod"/>
            </a:pPr>
            <a:r>
              <a:rPr lang="en-AU" sz="1800" dirty="0">
                <a:effectLst/>
                <a:latin typeface="Arial" panose="020B0604020202020204" pitchFamily="34" charset="0"/>
                <a:ea typeface="Calibri" panose="020F0502020204030204" pitchFamily="34" charset="0"/>
              </a:rPr>
              <a:t>Explain that they are going to play the game again today but with a new rule:</a:t>
            </a:r>
          </a:p>
          <a:p>
            <a:pPr marL="285750" lvl="0" indent="-28575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If an Ace is turned over, it represents an unexpected expense. Anyone still standing must subtract $10 from their total. If their total is less than $10, it becomes zero for that round and they must sit down.</a:t>
            </a:r>
          </a:p>
          <a:p>
            <a:pPr marL="342900" lvl="0" indent="-342900">
              <a:lnSpc>
                <a:spcPct val="150000"/>
              </a:lnSpc>
              <a:spcBef>
                <a:spcPts val="1200"/>
              </a:spcBef>
              <a:spcAft>
                <a:spcPts val="600"/>
              </a:spcAft>
              <a:buFont typeface="+mj-lt"/>
              <a:buAutoNum type="arabicPeriod" startAt="3"/>
            </a:pPr>
            <a:r>
              <a:rPr lang="en-AU" sz="1800" dirty="0">
                <a:effectLst/>
                <a:latin typeface="Arial" panose="020B0604020202020204" pitchFamily="34" charset="0"/>
                <a:ea typeface="Calibri" panose="020F0502020204030204" pitchFamily="34" charset="0"/>
              </a:rPr>
              <a:t>Play the game using the new rule.</a:t>
            </a:r>
          </a:p>
          <a:p>
            <a:pPr marL="342900" lvl="0" indent="-342900">
              <a:lnSpc>
                <a:spcPct val="150000"/>
              </a:lnSpc>
              <a:spcBef>
                <a:spcPts val="1200"/>
              </a:spcBef>
              <a:spcAft>
                <a:spcPts val="600"/>
              </a:spcAft>
              <a:buFont typeface="+mj-lt"/>
              <a:buAutoNum type="arabicPeriod" startAt="3"/>
            </a:pPr>
            <a:r>
              <a:rPr lang="en-AU" sz="1800" dirty="0">
                <a:effectLst/>
                <a:latin typeface="Arial" panose="020B0604020202020204" pitchFamily="34" charset="0"/>
                <a:ea typeface="Calibri" panose="020F0502020204030204" pitchFamily="34" charset="0"/>
              </a:rPr>
              <a:t>After playing, ask students:</a:t>
            </a:r>
          </a:p>
          <a:p>
            <a:pPr marL="285750" lvl="0" indent="-28575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What strategy did you use to add your money?</a:t>
            </a:r>
          </a:p>
          <a:p>
            <a:pPr marL="285750" lvl="0" indent="-28575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Did you use the same strategy each time? Why or why not?</a:t>
            </a:r>
          </a:p>
          <a:p>
            <a:pPr marL="285750" lvl="0" indent="-28575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Was one strategy more efficient than another one you tried?</a:t>
            </a:r>
          </a:p>
          <a:p>
            <a:pPr marL="0" lvl="0" indent="0">
              <a:lnSpc>
                <a:spcPct val="150000"/>
              </a:lnSpc>
              <a:spcBef>
                <a:spcPts val="1200"/>
              </a:spcBef>
              <a:spcAft>
                <a:spcPts val="600"/>
              </a:spcAft>
              <a:buSzPts val="1100"/>
              <a:buFont typeface="Arial" panose="020B0604020202020204" pitchFamily="34" charset="0"/>
              <a:buNone/>
            </a:pPr>
            <a:endParaRPr lang="en-AU" sz="1800" dirty="0"/>
          </a:p>
          <a:p>
            <a:pPr marL="0" lvl="0" indent="0">
              <a:lnSpc>
                <a:spcPct val="150000"/>
              </a:lnSpc>
              <a:spcBef>
                <a:spcPts val="1200"/>
              </a:spcBef>
              <a:spcAft>
                <a:spcPts val="600"/>
              </a:spcAft>
              <a:buSzPts val="1100"/>
              <a:buFont typeface="Arial" panose="020B0604020202020204" pitchFamily="34" charset="0"/>
              <a:buNone/>
            </a:pPr>
            <a:endParaRPr lang="en-AU" sz="1800" dirty="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2338796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EE3E-15ED-C876-BD6F-EE43E8170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B1A0-9E83-4BB4-FF92-BA6ACF707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D46BE-61D8-4DE9-D84A-A90083FA1A1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E24D34-45EC-CE1B-A795-AF8194E586E1}"/>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30101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E296-D174-FB8B-35EA-66D72170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C1EB-654B-1945-6DC6-4F75C008A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A8029-49D7-F860-D388-7DB8DFAC341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3</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891F9216-63F2-70E7-9AA0-9B87A3C3F854}"/>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442195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Additive relations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1240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9025A-464A-1964-87D2-D2B0F402C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00734-83E4-D4FD-7416-6158F127F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09325-BA4F-C414-3806-6356D5B1F81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7C977BC-3AE4-8ABC-BA1C-6BCC2480FD2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86168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D892-37C1-7E8B-D57D-13BF6E21E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D4BA3-81C1-0652-24A7-E708D088E4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7C95F-17AF-78D0-6712-4C5F6FD6B3DF}"/>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1D82EEE-5CCA-87F3-1525-8A772D6341B6}"/>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2504843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D204-A227-B30B-2145-47BFD44D5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488E1-2F7F-3385-11D4-705B70E6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4E577-C09A-2075-3C63-4918A4E25CB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Three-dimensional spatial structure A: 3DS Objects</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B924AD-6469-BDE4-0792-EA5A41E39712}"/>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53221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dirty="0"/>
              <a:t>This is a developing number sense activity. </a:t>
            </a:r>
            <a:endParaRPr lang="en-US" dirty="0">
              <a:solidFill>
                <a:srgbClr val="444444"/>
              </a:solidFill>
            </a:endParaRPr>
          </a:p>
          <a:p>
            <a:pPr>
              <a:lnSpc>
                <a:spcPct val="150000"/>
              </a:lnSpc>
              <a:spcBef>
                <a:spcPts val="1200"/>
              </a:spcBef>
              <a:spcAft>
                <a:spcPts val="600"/>
              </a:spcAft>
              <a:defRPr/>
            </a:pPr>
            <a:endParaRPr lang="en-AU" dirty="0">
              <a:solidFill>
                <a:srgbClr val="444444"/>
              </a:solidFill>
            </a:endParaRPr>
          </a:p>
          <a:p>
            <a:pPr>
              <a:lnSpc>
                <a:spcPct val="150000"/>
              </a:lnSpc>
              <a:spcBef>
                <a:spcPts val="1200"/>
              </a:spcBef>
              <a:spcAft>
                <a:spcPts val="600"/>
              </a:spcAft>
              <a:defRPr/>
            </a:pPr>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dirty="0">
              <a:solidFill>
                <a:srgbClr val="444444"/>
              </a:solidFill>
            </a:endParaRPr>
          </a:p>
          <a:p>
            <a:pPr>
              <a:lnSpc>
                <a:spcPts val="1913"/>
              </a:lnSpc>
              <a:defRPr/>
            </a:pPr>
            <a:endParaRPr lang="en-AU" dirty="0">
              <a:solidFill>
                <a:srgbClr val="444444"/>
              </a:solidFill>
            </a:endParaRPr>
          </a:p>
          <a:p>
            <a:pPr>
              <a:defRPr/>
            </a:pPr>
            <a:r>
              <a:rPr lang="en-AU" b="1" dirty="0"/>
              <a:t>Syllabus focus area:</a:t>
            </a:r>
            <a:endParaRPr lang="en-US" dirty="0">
              <a:solidFill>
                <a:srgbClr val="444444"/>
              </a:solidFill>
            </a:endParaRPr>
          </a:p>
          <a:p>
            <a:r>
              <a:rPr lang="en-AU" sz="1600" b="0" kern="1200" dirty="0">
                <a:solidFill>
                  <a:schemeClr val="tx1"/>
                </a:solidFill>
                <a:effectLst/>
                <a:latin typeface="Arial" panose="020B0604020202020204" pitchFamily="34" charset="0"/>
                <a:ea typeface="+mn-ea"/>
                <a:cs typeface="Arial" panose="020B0604020202020204" pitchFamily="34" charset="0"/>
              </a:rPr>
              <a:t>Additive relations A</a:t>
            </a:r>
          </a:p>
          <a:p>
            <a:endParaRPr lang="en-AU" sz="1600" b="0" kern="1200" dirty="0">
              <a:solidFill>
                <a:schemeClr val="tx1"/>
              </a:solidFill>
              <a:effectLst/>
              <a:latin typeface="Arial" panose="020B0604020202020204" pitchFamily="34" charset="0"/>
              <a:ea typeface="+mn-ea"/>
              <a:cs typeface="Arial" panose="020B0604020202020204" pitchFamily="34" charset="0"/>
            </a:endParaRPr>
          </a:p>
          <a:p>
            <a:r>
              <a:rPr lang="en-AU" sz="1600" b="1" kern="1200" dirty="0">
                <a:solidFill>
                  <a:schemeClr val="tx1"/>
                </a:solidFill>
                <a:effectLst/>
                <a:latin typeface="Arial" panose="020B0604020202020204" pitchFamily="34" charset="0"/>
                <a:ea typeface="+mn-ea"/>
                <a:cs typeface="Arial" panose="020B0604020202020204" pitchFamily="34" charset="0"/>
              </a:rPr>
              <a:t>Apply know mental strategies to add and represent the solutions using a model</a:t>
            </a:r>
          </a:p>
          <a:p>
            <a:endParaRPr lang="en-AU" sz="1600" dirty="0"/>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Revise mental strategies to add 2 numbers together, including bridging the decades.</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Provide each student with an individual whiteboard and ask them to draw an empty number line and a bar model</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Working in pairs, students roll 3 dice.</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Students use the numbers rolled to form two 3-digit numbers, for example, 264 and 426.</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The aim is to use mental strategies to calculate the sum of the 2 numbers. Students then represent their solution using a bar model or number line.</a:t>
            </a:r>
          </a:p>
          <a:p>
            <a:pPr marL="342900" lvl="0" indent="-342900">
              <a:lnSpc>
                <a:spcPct val="150000"/>
              </a:lnSpc>
              <a:spcBef>
                <a:spcPts val="1200"/>
              </a:spcBef>
              <a:spcAft>
                <a:spcPts val="600"/>
              </a:spcAft>
              <a:buFont typeface="+mj-lt"/>
              <a:buAutoNum type="arabicPeriod"/>
            </a:pPr>
            <a:r>
              <a:rPr lang="en-AU" sz="1600" dirty="0">
                <a:effectLst/>
                <a:latin typeface="Arial" panose="020B0604020202020204" pitchFamily="34" charset="0"/>
                <a:ea typeface="Calibri" panose="020F0502020204030204" pitchFamily="34" charset="0"/>
              </a:rPr>
              <a:t>Ask the following questions:</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Which strategy did you use? Explain why.</a:t>
            </a:r>
          </a:p>
          <a:p>
            <a:pPr marL="285750" lvl="0"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cs typeface="Times New Roman" panose="02020603050405020304" pitchFamily="18" charset="0"/>
              </a:rPr>
              <a:t>Can you explain your representation to a partner?</a:t>
            </a:r>
          </a:p>
          <a:p>
            <a:pPr marL="342900" lvl="0" indent="-342900">
              <a:lnSpc>
                <a:spcPct val="150000"/>
              </a:lnSpc>
              <a:spcBef>
                <a:spcPts val="1200"/>
              </a:spcBef>
              <a:spcAft>
                <a:spcPts val="600"/>
              </a:spcAft>
              <a:buFont typeface="+mj-lt"/>
              <a:buAutoNum type="arabicPeriod" startAt="7"/>
            </a:pPr>
            <a:r>
              <a:rPr lang="en-AU" sz="1600" dirty="0">
                <a:effectLst/>
                <a:latin typeface="Arial" panose="020B0604020202020204" pitchFamily="34" charset="0"/>
                <a:ea typeface="Calibri" panose="020F0502020204030204" pitchFamily="34" charset="0"/>
              </a:rPr>
              <a:t>Students roll the dice again and repeat the activity.</a:t>
            </a:r>
          </a:p>
          <a:p>
            <a:endParaRPr lang="en-AU" dirty="0"/>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20675834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5B2-3BE5-0C7B-8CC0-327C56CC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427FE-E01D-4F4A-5A28-F8619B48D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2085B-B28F-BC38-03CF-B43254C7799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8ED36F5-A8A9-0858-1AFE-47876950D19A}"/>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565338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732A-3965-A9F8-148C-46F0307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9F88-151B-E2AD-A9CB-95AB9223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B8B86-2CA6-9346-88FD-0B5094FCDE8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4</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6CD2AA-96FE-F80B-6423-9E54C403B441}"/>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997599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A5-2D7B-1310-B578-68B553A0C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49B6-7558-D1B6-6AEA-31B0E2316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BEB6-C94C-82A7-FAA9-FF20D034732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Representing numbers using place value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E5E3C74-BC9E-DA14-B609-0B9E629AE55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5292910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F1B36-47E4-7D54-B38D-6E3A12D5F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441C-B175-9310-62E4-2BDB84343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007E7-BCD7-BF66-1FD5-F66F83E9A55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727C7-CC8D-698F-7170-D71A46934120}"/>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2644537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0BB-AA34-0B65-41E4-EF814B84E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EDCB-C7EC-29FC-CD6C-FBF8F9D5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D923A-BE46-08B3-A42D-B88657583BA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1AD530-CC72-1CD3-DC22-84CCE8934B30}"/>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11965645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A993-7F4F-C93E-0AD2-A9CFA55E8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D4581-477B-5E09-01F6-928C1DFA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ADE64-75C4-CB72-FCCF-8818C0A6023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Area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88F882-215A-11D1-B667-F9E4F3218AA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84760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CF788-1815-ED9B-26CD-000879E881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7AC408-5927-C5E6-6F33-8209D9B42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4AAF5A-8466-6991-3FD2-A3EAD2D42E74}"/>
              </a:ext>
            </a:extLst>
          </p:cNvPr>
          <p:cNvSpPr>
            <a:spLocks noGrp="1"/>
          </p:cNvSpPr>
          <p:nvPr>
            <p:ph type="body" idx="1"/>
          </p:nvPr>
        </p:nvSpPr>
        <p:spPr/>
        <p:txBody>
          <a:bodyPr/>
          <a:lstStyle/>
          <a:p>
            <a:pPr>
              <a:lnSpc>
                <a:spcPct val="150000"/>
              </a:lnSpc>
              <a:spcBef>
                <a:spcPts val="1200"/>
              </a:spcBef>
              <a:spcAft>
                <a:spcPts val="600"/>
              </a:spcAft>
              <a:defRPr/>
            </a:pPr>
            <a:r>
              <a:rPr lang="en-AU" sz="1800">
                <a:solidFill>
                  <a:srgbClr val="000000"/>
                </a:solidFill>
              </a:rPr>
              <a:t>This is a developing number sense activity. </a:t>
            </a:r>
            <a:endParaRPr lang="en-US" sz="1800">
              <a:solidFill>
                <a:srgbClr val="444444"/>
              </a:solidFill>
            </a:endParaRPr>
          </a:p>
          <a:p>
            <a:pPr>
              <a:lnSpc>
                <a:spcPct val="150000"/>
              </a:lnSpc>
              <a:spcBef>
                <a:spcPts val="1200"/>
              </a:spcBef>
              <a:spcAft>
                <a:spcPts val="600"/>
              </a:spcAft>
              <a:defRPr/>
            </a:pPr>
            <a:endParaRPr lang="en-AU" sz="1800">
              <a:solidFill>
                <a:srgbClr val="444444"/>
              </a:solidFill>
            </a:endParaRPr>
          </a:p>
          <a:p>
            <a:pPr>
              <a:lnSpc>
                <a:spcPct val="150000"/>
              </a:lnSpc>
              <a:spcBef>
                <a:spcPts val="1200"/>
              </a:spcBef>
              <a:spcAft>
                <a:spcPts val="600"/>
              </a:spcAft>
              <a:defRPr/>
            </a:pPr>
            <a:r>
              <a:rPr lang="en-AU" sz="1800">
                <a:solidFill>
                  <a:srgbClr val="000000"/>
                </a:solidFil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endParaRPr>
          </a:p>
          <a:p>
            <a:pPr>
              <a:lnSpc>
                <a:spcPts val="1913"/>
              </a:lnSpc>
              <a:defRPr/>
            </a:pPr>
            <a:endParaRPr lang="en-AU" sz="1800">
              <a:solidFill>
                <a:srgbClr val="444444"/>
              </a:solidFill>
            </a:endParaRPr>
          </a:p>
          <a:p>
            <a:pPr>
              <a:defRPr/>
            </a:pPr>
            <a:r>
              <a:rPr lang="en-AU" sz="1800" b="1">
                <a:solidFill>
                  <a:srgbClr val="000000"/>
                </a:solidFill>
              </a:rPr>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Additive relations A</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Apply known mental strategies to subtract and represent the solutions using a model</a:t>
            </a:r>
          </a:p>
          <a:p>
            <a:pPr>
              <a:defRPr/>
            </a:pPr>
            <a:endParaRPr lang="en-AU" sz="1800" b="0">
              <a:solidFill>
                <a:srgbClr val="000000"/>
              </a:solidFill>
            </a:endParaRP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Provide each student with an individual whiteboard and ask them to draw an empty number line and a bar model.</a:t>
            </a:r>
            <a:endParaRPr lang="en-AU" sz="1800">
              <a:solidFill>
                <a:srgbClr val="002664"/>
              </a:solidFill>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Working in pairs, students roll 3 dice.</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Students use the numbers rolled to form two 3-digit numbers, for example, 827 and 278.</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The aim is to use mental strategies to calculate the difference between the 2 numbers. Students then represent their solution using a bar model or number line.</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Ask the following questions:</a:t>
            </a:r>
          </a:p>
          <a:p>
            <a:pPr marL="285750" lvl="0" indent="-28575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Which strategy did you use? Explain why.</a:t>
            </a:r>
          </a:p>
          <a:p>
            <a:pPr marL="285750" lvl="0" indent="-28575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Can you explain your representation to a partner?</a:t>
            </a:r>
          </a:p>
          <a:p>
            <a:pPr marL="342900" lvl="0" indent="-342900">
              <a:lnSpc>
                <a:spcPct val="150000"/>
              </a:lnSpc>
              <a:spcBef>
                <a:spcPts val="1200"/>
              </a:spcBef>
              <a:spcAft>
                <a:spcPts val="600"/>
              </a:spcAft>
              <a:buFont typeface="+mj-lt"/>
              <a:buAutoNum type="arabicPeriod" startAt="6"/>
            </a:pPr>
            <a:r>
              <a:rPr lang="en-AU" sz="1800">
                <a:effectLst/>
                <a:latin typeface="Arial" panose="020B0604020202020204" pitchFamily="34" charset="0"/>
                <a:ea typeface="Calibri" panose="020F0502020204030204" pitchFamily="34" charset="0"/>
              </a:rPr>
              <a:t>Students roll the dice again and repeat the activity.</a:t>
            </a:r>
          </a:p>
          <a:p>
            <a:pPr>
              <a:defRPr/>
            </a:pPr>
            <a:endParaRPr lang="en-AU" sz="1800" b="0">
              <a:solidFill>
                <a:srgbClr val="000000"/>
              </a:solidFill>
            </a:endParaRPr>
          </a:p>
        </p:txBody>
      </p:sp>
      <p:sp>
        <p:nvSpPr>
          <p:cNvPr id="4" name="Slide Number Placeholder 3">
            <a:extLst>
              <a:ext uri="{FF2B5EF4-FFF2-40B4-BE49-F238E27FC236}">
                <a16:creationId xmlns:a16="http://schemas.microsoft.com/office/drawing/2014/main" id="{6144088C-9CEB-5B5F-0A1B-323316E046FD}"/>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36822566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18AF-DDC4-010C-0C3E-22687328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7B5-593F-4E30-4201-691EFD621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48B8-A5EE-066C-084C-26B252FC0EF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CAEACBF-48FC-503B-3932-30BDA4DEBD8C}"/>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863702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5</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A</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effectLst/>
              <a:ea typeface="Calibri" panose="020F0502020204030204" pitchFamily="34" charset="0"/>
              <a:cs typeface="Arial"/>
            </a:endParaRPr>
          </a:p>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86A9-99E2-4149-56C2-0FAD4CDFC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2718-A36C-7497-2EE5-81A24024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9EE-3E10-C8AF-9F92-5B1BBAB1078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Additive relations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BBA043-81EA-77EE-E881-404311353372}"/>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36116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4360-B294-6875-A777-8E65DF276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5FFA0-8D58-064B-822F-AFE07735A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C0922-ADB2-6D09-377E-996CEEE43E3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157227-2E00-F70A-D00B-E66E351F3B92}"/>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1593475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5FC-45C2-0D96-62F4-2547ACD87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6E951-171E-CEBE-98D0-EAA8C416A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9FBF-0199-90F9-6207-B8212D2695D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675A1E-9728-DFA8-DCB5-8F3400B0B32B}"/>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037512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94D49-0FEF-E22C-ADC0-C3705481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9EBDE-6325-50D3-1D8C-46C2A0720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CFC79-89C8-8091-6BD4-E413B8EB8F6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CD472-CD43-2531-1524-996ECEDB5DEC}"/>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7101332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a:solidFill>
                  <a:srgbClr val="000000"/>
                </a:solidFill>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solidFill>
                  <a:srgbClr val="000000"/>
                </a:solidFill>
                <a:latin typeface="Arial"/>
                <a:cs typeface="Arial"/>
              </a:rPr>
              <a:t>Syllabus focus area:</a:t>
            </a:r>
            <a:endParaRPr lang="en-US" sz="1600" b="1">
              <a:solidFill>
                <a:srgbClr val="444444"/>
              </a:solidFill>
              <a:latin typeface="Arial"/>
              <a:cs typeface="Arial"/>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0" kern="1200">
                <a:solidFill>
                  <a:schemeClr val="tx1"/>
                </a:solidFill>
                <a:effectLst/>
                <a:latin typeface="Arial" panose="020B0604020202020204" pitchFamily="34" charset="0"/>
                <a:ea typeface="+mn-ea"/>
                <a:cs typeface="Arial" panose="020B0604020202020204" pitchFamily="34" charset="0"/>
              </a:rPr>
              <a:t>Representing numbers using place value A</a:t>
            </a:r>
          </a:p>
          <a:p>
            <a:pPr marL="0" marR="0" lvl="0" indent="0" algn="l" defTabSz="1219170" rtl="0" eaLnBrk="1" fontAlgn="auto" latinLnBrk="0" hangingPunct="1">
              <a:lnSpc>
                <a:spcPct val="150000"/>
              </a:lnSpc>
              <a:spcBef>
                <a:spcPts val="1200"/>
              </a:spcBef>
              <a:spcAft>
                <a:spcPts val="600"/>
              </a:spcAft>
              <a:buClrTx/>
              <a:buSzTx/>
              <a:buFontTx/>
              <a:buNone/>
              <a:tabLst/>
              <a:defRPr/>
            </a:pPr>
            <a:endParaRPr lang="en-AU" sz="1600" b="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kern="1200">
                <a:solidFill>
                  <a:schemeClr val="tx1"/>
                </a:solidFill>
                <a:effectLst/>
                <a:latin typeface="Arial" panose="020B0604020202020204" pitchFamily="34" charset="0"/>
                <a:ea typeface="+mn-ea"/>
                <a:cs typeface="Arial" panose="020B0604020202020204" pitchFamily="34" charset="0"/>
              </a:rPr>
              <a:t>Represent numbers up to thousands using numerals</a:t>
            </a:r>
            <a:br>
              <a:rPr lang="en-AU" sz="1600"/>
            </a:br>
            <a:br>
              <a:rPr lang="en-AU" sz="1600"/>
            </a:br>
            <a:r>
              <a:rPr lang="en-AU" sz="1600">
                <a:effectLst/>
                <a:latin typeface="Arial" panose="020B0604020202020204" pitchFamily="34" charset="0"/>
                <a:ea typeface="Calibri" panose="020F0502020204030204" pitchFamily="34" charset="0"/>
              </a:rPr>
              <a:t>This activity is an adaptation of Hit it (3-digit numbers) from </a:t>
            </a:r>
            <a:r>
              <a:rPr lang="en-AU" sz="1600" i="1">
                <a:effectLst/>
                <a:latin typeface="Arial" panose="020B0604020202020204" pitchFamily="34" charset="0"/>
                <a:ea typeface="Calibri" panose="020F0502020204030204" pitchFamily="34" charset="0"/>
              </a:rPr>
              <a:t>Thinking mathematically resources</a:t>
            </a:r>
            <a:r>
              <a:rPr lang="en-AU" sz="1600">
                <a:effectLst/>
                <a:latin typeface="Arial" panose="020B0604020202020204" pitchFamily="34" charset="0"/>
                <a:ea typeface="Calibri" panose="020F0502020204030204" pitchFamily="34" charset="0"/>
              </a:rPr>
              <a:t> by the State of New South Wales (Department of Education).</a:t>
            </a:r>
          </a:p>
          <a:p>
            <a:pPr>
              <a:lnSpc>
                <a:spcPct val="150000"/>
              </a:lnSpc>
              <a:spcBef>
                <a:spcPts val="1200"/>
              </a:spcBef>
              <a:spcAft>
                <a:spcPts val="600"/>
              </a:spcAft>
              <a:buNone/>
            </a:pPr>
            <a:endParaRPr lang="en-AU" sz="16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Provide pairs with markers, an individual whiteboard and a 9-sided die.</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Students draw a gameboard on their whiteboard with 4 place value labels and 4 lines to represent the 4 digits.</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Students take turns to roll the die. After each roll, write the number on one of the lines. Once the 4 blank lines are full, players read their number and identify which number is the closest to 9999. This player wins a point.</a:t>
            </a:r>
          </a:p>
          <a:p>
            <a:pPr marL="342900" lvl="0" indent="-342900">
              <a:lnSpc>
                <a:spcPct val="150000"/>
              </a:lnSpc>
              <a:spcBef>
                <a:spcPts val="1200"/>
              </a:spcBef>
              <a:spcAft>
                <a:spcPts val="600"/>
              </a:spcAft>
              <a:buFont typeface="+mj-lt"/>
              <a:buAutoNum type="arabicPeriod"/>
            </a:pPr>
            <a:r>
              <a:rPr lang="en-AU" sz="1600">
                <a:effectLst/>
                <a:latin typeface="Arial" panose="020B0604020202020204" pitchFamily="34" charset="0"/>
                <a:ea typeface="Calibri" panose="020F0502020204030204" pitchFamily="34" charset="0"/>
              </a:rPr>
              <a:t>The player with the most points after 5 rounds is declared the winner.</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930083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C1CE-3D7B-8C22-AFC5-660902D5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7C5F-4ACE-3DE4-9D05-E15869C1E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D0275-1957-4FCD-4C9F-4F5014D4029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ED9EA0-63F8-DCB3-45D1-47D40D33264E}"/>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678162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5C66-E87F-8559-1BA9-FC3610A67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92896-D187-8BC4-AFD2-7703B8D5E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77664-AA60-3C7F-EA05-E21A631F2245}"/>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a:t>
            </a:r>
            <a:r>
              <a:rPr lang="en-AU" dirty="0">
                <a:latin typeface="Arial"/>
                <a:cs typeface="Arial"/>
              </a:rPr>
              <a:t>6</a:t>
            </a:r>
            <a:r>
              <a:rPr lang="en-AU" sz="1600" b="0" i="0" dirty="0">
                <a:solidFill>
                  <a:schemeClr val="tx1"/>
                </a:solidFill>
                <a:latin typeface="Arial"/>
                <a:cs typeface="Arial"/>
              </a:rPr>
              <a:t>)</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Representing numbers using place value A</a:t>
            </a:r>
            <a:endParaRPr lang="en-AU" sz="1600" b="0" i="0" dirty="0">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7CEC59-E004-9475-6C50-843D04984AF6}"/>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196807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5048-2001-38E7-C6D8-4D56F313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C8191-A82C-7584-98A7-AB3325A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D1080-5AAD-6FC8-34A4-C308FFD0130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7AF038-93C9-4742-2CFB-CDB0907916EC}"/>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718513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6D1B-C30D-914C-D301-04E3D9415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D6EBE-AC3C-D895-E00D-A6AB845EB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34EA7-7CE3-4F4E-4C9B-79F74EFA3E1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20FF9E-D104-FB31-D6A0-7D894B5152CA}"/>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760212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237A-4851-3D2C-DEBB-BE3972BF4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C423-A6E6-C5B7-7905-CC0BC5A1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C889-7CAC-B141-2484-44CF565D2B6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61C20-F4A1-5B16-3DAE-BF102D6A931F}"/>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482671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8F32-0A67-FA95-4465-407CB7E4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FD93-170C-A7F6-032B-206207344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1DDA8-1CA3-B1ED-E0A4-4DA46EACB7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A: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3B6ABB5-2F6F-3721-A6D1-DA32621E5284}"/>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24774733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25EB0-81AA-77FE-B157-2291E59213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EF29E-D10C-0B81-5014-0414688E14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0F9AB9-45F0-F305-F789-08099CE930CF}"/>
              </a:ext>
            </a:extLst>
          </p:cNvPr>
          <p:cNvSpPr>
            <a:spLocks noGrp="1"/>
          </p:cNvSpPr>
          <p:nvPr>
            <p:ph type="body" idx="1"/>
          </p:nvPr>
        </p:nvSpPr>
        <p:spPr/>
        <p:txBody>
          <a:bodyPr/>
          <a:lstStyle/>
          <a:p>
            <a:pPr defTabSz="914400">
              <a:lnSpc>
                <a:spcPct val="150000"/>
              </a:lnSpc>
              <a:spcBef>
                <a:spcPts val="1200"/>
              </a:spcBef>
              <a:spcAft>
                <a:spcPts val="600"/>
              </a:spcAft>
            </a:pPr>
            <a:r>
              <a:rPr lang="en-AU" sz="1800" dirty="0">
                <a:latin typeface="Arial"/>
                <a:cs typeface="Arial"/>
              </a:rPr>
              <a:t>This is a developing number sense activity. </a:t>
            </a:r>
            <a:endParaRPr lang="en-US" sz="1800" dirty="0">
              <a:solidFill>
                <a:srgbClr val="444444"/>
              </a:solidFill>
              <a:latin typeface="Arial"/>
              <a:cs typeface="Arial"/>
            </a:endParaRPr>
          </a:p>
          <a:p>
            <a:pPr defTabSz="914400">
              <a:lnSpc>
                <a:spcPct val="150000"/>
              </a:lnSpc>
              <a:spcBef>
                <a:spcPts val="1200"/>
              </a:spcBef>
              <a:spcAft>
                <a:spcPts val="600"/>
              </a:spcAft>
            </a:pPr>
            <a:endParaRPr lang="en-AU" sz="1800" dirty="0">
              <a:solidFill>
                <a:srgbClr val="444444"/>
              </a:solidFill>
            </a:endParaRPr>
          </a:p>
          <a:p>
            <a:pPr defTabSz="914400">
              <a:lnSpc>
                <a:spcPct val="150000"/>
              </a:lnSpc>
              <a:spcBef>
                <a:spcPts val="1200"/>
              </a:spcBef>
              <a:spcAft>
                <a:spcPts val="600"/>
              </a:spcAft>
            </a:pPr>
            <a:r>
              <a:rPr lang="en-AU" sz="18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latin typeface="Arial"/>
              <a:cs typeface="Arial"/>
            </a:endParaRPr>
          </a:p>
          <a:p>
            <a:pPr defTabSz="914400">
              <a:lnSpc>
                <a:spcPts val="1913"/>
              </a:lnSpc>
            </a:pPr>
            <a:endParaRPr lang="en-AU" sz="1800" dirty="0">
              <a:solidFill>
                <a:srgbClr val="444444"/>
              </a:solidFill>
            </a:endParaRPr>
          </a:p>
          <a:p>
            <a:pPr defTabSz="914400"/>
            <a:r>
              <a:rPr lang="en-AU" sz="1800" b="1" dirty="0">
                <a:latin typeface="Arial"/>
                <a:cs typeface="Arial"/>
              </a:rPr>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Representing numbers using place value A</a:t>
            </a:r>
          </a:p>
          <a:p>
            <a:endParaRPr lang="en-AU" sz="1600" b="0" kern="1200" dirty="0">
              <a:solidFill>
                <a:schemeClr val="tx1"/>
              </a:solidFill>
              <a:effectLst/>
              <a:latin typeface="Arial" panose="020B0604020202020204" pitchFamily="34" charset="0"/>
              <a:ea typeface="+mn-ea"/>
              <a:cs typeface="Arial" panose="020B0604020202020204" pitchFamily="34" charset="0"/>
            </a:endParaRPr>
          </a:p>
          <a:p>
            <a:r>
              <a:rPr lang="en-AU" sz="1600" b="1" kern="1200" dirty="0">
                <a:solidFill>
                  <a:schemeClr val="tx1"/>
                </a:solidFill>
                <a:effectLst/>
                <a:latin typeface="Arial" panose="020B0604020202020204" pitchFamily="34" charset="0"/>
                <a:ea typeface="+mn-ea"/>
                <a:cs typeface="Arial" panose="020B0604020202020204" pitchFamily="34" charset="0"/>
              </a:rPr>
              <a:t>Represent, read and order numbers up to thousands</a:t>
            </a:r>
          </a:p>
          <a:p>
            <a:pPr marL="0" marR="0" lvl="0" indent="0" algn="l" defTabSz="1219170" rtl="0" eaLnBrk="1" fontAlgn="auto" latinLnBrk="0" hangingPunct="1">
              <a:lnSpc>
                <a:spcPct val="150000"/>
              </a:lnSpc>
              <a:spcBef>
                <a:spcPts val="1200"/>
              </a:spcBef>
              <a:spcAft>
                <a:spcPts val="600"/>
              </a:spcAft>
              <a:buClrTx/>
              <a:buSzPts val="1100"/>
              <a:buFont typeface="Arial" panose="020B0604020202020204" pitchFamily="34" charset="0"/>
              <a:buNone/>
              <a:tabLst/>
              <a:defRPr/>
            </a:pPr>
            <a:endParaRPr lang="en-AU" sz="1800" dirty="0"/>
          </a:p>
          <a:p>
            <a:pPr>
              <a:lnSpc>
                <a:spcPct val="150000"/>
              </a:lnSpc>
              <a:spcBef>
                <a:spcPts val="1200"/>
              </a:spcBef>
              <a:spcAft>
                <a:spcPts val="600"/>
              </a:spcAft>
              <a:buNone/>
            </a:pPr>
            <a:r>
              <a:rPr lang="en-AU" sz="1800" dirty="0">
                <a:effectLst/>
                <a:latin typeface="Arial" panose="020B0604020202020204" pitchFamily="34" charset="0"/>
                <a:ea typeface="Calibri" panose="020F0502020204030204" pitchFamily="34" charset="0"/>
              </a:rPr>
              <a:t>This activity is an adaptation of Mastermind from </a:t>
            </a:r>
            <a:r>
              <a:rPr lang="en-AU" sz="1800" i="1" dirty="0">
                <a:effectLst/>
                <a:latin typeface="Arial" panose="020B0604020202020204" pitchFamily="34" charset="0"/>
                <a:ea typeface="Calibri" panose="020F0502020204030204" pitchFamily="34" charset="0"/>
              </a:rPr>
              <a:t>Thinking mathematically resources</a:t>
            </a:r>
            <a:r>
              <a:rPr lang="en-AU" sz="1800" dirty="0">
                <a:effectLst/>
                <a:latin typeface="Arial" panose="020B0604020202020204" pitchFamily="34" charset="0"/>
                <a:ea typeface="Calibri" panose="020F0502020204030204" pitchFamily="34" charset="0"/>
              </a:rPr>
              <a:t> by the State of New South Wales (Department of Education).</a:t>
            </a:r>
          </a:p>
          <a:p>
            <a:pPr>
              <a:lnSpc>
                <a:spcPct val="150000"/>
              </a:lnSpc>
              <a:spcBef>
                <a:spcPts val="1200"/>
              </a:spcBef>
              <a:spcAft>
                <a:spcPts val="600"/>
              </a:spcAft>
              <a:buNone/>
            </a:pPr>
            <a:endParaRPr lang="en-AU" sz="18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dirty="0">
                <a:effectLst/>
                <a:latin typeface="Arial" panose="020B0604020202020204" pitchFamily="34" charset="0"/>
                <a:ea typeface="Calibri" panose="020F0502020204030204" pitchFamily="34" charset="0"/>
              </a:rPr>
              <a:t>In pairs, each student records a 4-digit number, with no repeated digits, on a sticky note. Students draw up their gameboard on individual whiteboards.</a:t>
            </a:r>
          </a:p>
          <a:p>
            <a:pPr marL="342900" lvl="0" indent="-342900">
              <a:lnSpc>
                <a:spcPct val="150000"/>
              </a:lnSpc>
              <a:spcBef>
                <a:spcPts val="1200"/>
              </a:spcBef>
              <a:spcAft>
                <a:spcPts val="600"/>
              </a:spcAft>
              <a:buFont typeface="+mj-lt"/>
              <a:buAutoNum type="arabicPeriod"/>
            </a:pPr>
            <a:r>
              <a:rPr lang="en-AU" sz="1800" dirty="0">
                <a:effectLst/>
                <a:latin typeface="Arial" panose="020B0604020202020204" pitchFamily="34" charset="0"/>
                <a:ea typeface="Calibri" panose="020F0502020204030204" pitchFamily="34" charset="0"/>
              </a:rPr>
              <a:t>Students take turns to guess their partner’s 4-digit number. Partners record the guess, the number of digits that are correct and the number of digits that are in the right place, see Figure 17. Students then use this information to refine their guesses.</a:t>
            </a:r>
          </a:p>
          <a:p>
            <a:pPr marL="342900" lvl="0" indent="-342900">
              <a:lnSpc>
                <a:spcPct val="150000"/>
              </a:lnSpc>
              <a:spcBef>
                <a:spcPts val="1200"/>
              </a:spcBef>
              <a:spcAft>
                <a:spcPts val="600"/>
              </a:spcAft>
              <a:buFont typeface="+mj-lt"/>
              <a:buAutoNum type="arabicPeriod"/>
            </a:pPr>
            <a:r>
              <a:rPr lang="en-AU" sz="1800" dirty="0">
                <a:effectLst/>
                <a:latin typeface="Arial" panose="020B0604020202020204" pitchFamily="34" charset="0"/>
                <a:ea typeface="Calibri" panose="020F0502020204030204" pitchFamily="34" charset="0"/>
              </a:rPr>
              <a:t>The first student to correctly guess their partner’s number is the winner.</a:t>
            </a:r>
          </a:p>
          <a:p>
            <a:pPr>
              <a:lnSpc>
                <a:spcPct val="150000"/>
              </a:lnSpc>
              <a:spcBef>
                <a:spcPts val="1200"/>
              </a:spcBef>
              <a:spcAft>
                <a:spcPts val="600"/>
              </a:spcAft>
            </a:pPr>
            <a:endParaRPr lang="en-AU" sz="1800" b="1" dirty="0">
              <a:effectLst/>
              <a:latin typeface="Arial" panose="020B0604020202020204" pitchFamily="34" charset="0"/>
              <a:ea typeface="Calibri" panose="020F0502020204030204" pitchFamily="34" charset="0"/>
            </a:endParaRPr>
          </a:p>
          <a:p>
            <a:pPr>
              <a:lnSpc>
                <a:spcPct val="150000"/>
              </a:lnSpc>
              <a:spcBef>
                <a:spcPts val="1200"/>
              </a:spcBef>
              <a:spcAft>
                <a:spcPts val="600"/>
              </a:spcAft>
            </a:pPr>
            <a:r>
              <a:rPr lang="en-AU" sz="1800" b="1" dirty="0">
                <a:effectLst/>
                <a:latin typeface="Arial" panose="020B0604020202020204" pitchFamily="34" charset="0"/>
                <a:ea typeface="Calibri" panose="020F0502020204030204" pitchFamily="34" charset="0"/>
              </a:rPr>
              <a:t>Note:</a:t>
            </a:r>
            <a:r>
              <a:rPr lang="en-AU" sz="1800" dirty="0">
                <a:effectLst/>
                <a:latin typeface="Arial" panose="020B0604020202020204" pitchFamily="34" charset="0"/>
                <a:ea typeface="Calibri" panose="020F0502020204030204" pitchFamily="34" charset="0"/>
              </a:rPr>
              <a:t> this activity can be adapted by using 2-, 3- or 5-digit numbers.</a:t>
            </a:r>
          </a:p>
          <a:p>
            <a:pPr marL="0" marR="0" lvl="0" indent="0" algn="l" defTabSz="1219170" rtl="0" eaLnBrk="1" fontAlgn="auto" latinLnBrk="0" hangingPunct="1">
              <a:lnSpc>
                <a:spcPct val="150000"/>
              </a:lnSpc>
              <a:spcBef>
                <a:spcPts val="1200"/>
              </a:spcBef>
              <a:spcAft>
                <a:spcPts val="600"/>
              </a:spcAft>
              <a:buClrTx/>
              <a:buSzPts val="1100"/>
              <a:buFont typeface="Arial" panose="020B0604020202020204" pitchFamily="34" charset="0"/>
              <a:buNone/>
              <a:tabLst/>
              <a:defRPr/>
            </a:pPr>
            <a:endParaRPr lang="en-AU" sz="1800" dirty="0"/>
          </a:p>
        </p:txBody>
      </p:sp>
      <p:sp>
        <p:nvSpPr>
          <p:cNvPr id="4" name="Slide Number Placeholder 3">
            <a:extLst>
              <a:ext uri="{FF2B5EF4-FFF2-40B4-BE49-F238E27FC236}">
                <a16:creationId xmlns:a16="http://schemas.microsoft.com/office/drawing/2014/main" id="{B5C1C296-B50C-ED1C-BC9E-F3ECA1439065}"/>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37079706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BFB4-718D-9541-6358-1F66A2F4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09BE8-202A-1EE8-AEE4-9E9DB4B62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B54E4-EB56-2205-5728-0E201B3506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2B0FEF8-B0DC-2765-6F13-0A7C1C0229C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40432991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3401E-A733-1504-B028-B13200874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138FF-A950-5B76-C68D-9BD01FAEF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AD94C-AE68-F4EB-C719-5FD2B54BE1C2}"/>
              </a:ext>
            </a:extLst>
          </p:cNvPr>
          <p:cNvSpPr>
            <a:spLocks noGrp="1"/>
          </p:cNvSpPr>
          <p:nvPr>
            <p:ph type="body" idx="1"/>
          </p:nvPr>
        </p:nvSpPr>
        <p:spPr/>
        <p:txBody>
          <a:bodyPr/>
          <a:lstStyle/>
          <a:p>
            <a:r>
              <a:rPr lang="en-AU" sz="1600" b="0" i="0" dirty="0">
                <a:solidFill>
                  <a:schemeClr val="tx1"/>
                </a:solidFill>
                <a:latin typeface="Arial"/>
                <a:cs typeface="Arial"/>
              </a:rPr>
              <a:t>This question connects to the content in the developing number sense activity (Activity 7)</a:t>
            </a:r>
            <a:br>
              <a:rPr lang="en-AU" dirty="0">
                <a:latin typeface="Arial"/>
                <a:cs typeface="Arial"/>
              </a:rPr>
            </a:br>
            <a:br>
              <a:rPr lang="en-AU" dirty="0"/>
            </a:b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Representing numbers using place value A</a:t>
            </a: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dirty="0">
              <a:effectLst/>
              <a:ea typeface="Calibri" panose="020F0502020204030204" pitchFamily="34" charset="0"/>
              <a:cs typeface="Arial"/>
            </a:endParaRPr>
          </a:p>
          <a:p>
            <a:endParaRPr lang="en-US" dirty="0"/>
          </a:p>
        </p:txBody>
      </p:sp>
      <p:sp>
        <p:nvSpPr>
          <p:cNvPr id="4" name="Slide Number Placeholder 3">
            <a:extLst>
              <a:ext uri="{FF2B5EF4-FFF2-40B4-BE49-F238E27FC236}">
                <a16:creationId xmlns:a16="http://schemas.microsoft.com/office/drawing/2014/main" id="{FCC49D05-E546-7611-8506-8D20FDB127B6}"/>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5488654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E809-2925-C87D-C957-FA32EC313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1B097-5E06-8DBA-B5EE-B58B05DC1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A37E-1569-41F2-C23C-502EC4ECAD3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BCC9A5-6936-491A-994F-FDC4655C4B1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0979500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F76-E6D2-7B99-F71E-DB1DF916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4AB7-E54A-0179-7463-CC032467C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1AFA-BE70-72AC-5BD2-4C54E311BE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1420019-49F3-573E-EFF8-02A0493C57F5}"/>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097490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69749-6644-6D33-6ACB-65D320559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CCD5A-639D-4F52-8240-8ACBA29FE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18884-0DB2-8A77-3C87-7EBDCFECB0E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FECC54-4E5C-67BD-9FEF-B1C21BC22612}"/>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659141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8F21-7A5A-0DB8-830C-E5544F511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7E3-5F10-879E-2027-47EBFA1B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28398-6724-9761-1EBB-94DC55BDE13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0DDF84-4C7C-EAD7-3908-FD10A1831FE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974009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r>
              <a:rPr lang="en-AU" sz="1600" b="0" kern="1200">
                <a:solidFill>
                  <a:schemeClr val="tx1"/>
                </a:solidFill>
                <a:effectLst/>
                <a:latin typeface="Arial" panose="020B0604020202020204" pitchFamily="34" charset="0"/>
                <a:ea typeface="+mn-ea"/>
                <a:cs typeface="Arial" panose="020B0604020202020204" pitchFamily="34" charset="0"/>
              </a:rPr>
              <a:t>Representing numbers using place value A</a:t>
            </a:r>
          </a:p>
          <a:p>
            <a:endParaRPr lang="en-AU" sz="1600" b="0"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Read and order 4-digit numbers 1</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a:p>
          <a:p>
            <a:pPr>
              <a:lnSpc>
                <a:spcPct val="150000"/>
              </a:lnSpc>
              <a:spcBef>
                <a:spcPts val="1200"/>
              </a:spcBef>
              <a:spcAft>
                <a:spcPts val="600"/>
              </a:spcAft>
              <a:buNone/>
            </a:pPr>
            <a:r>
              <a:rPr lang="en-AU" sz="1800">
                <a:effectLst/>
                <a:latin typeface="Arial" panose="020B0604020202020204" pitchFamily="34" charset="0"/>
                <a:ea typeface="Calibri" panose="020F0502020204030204" pitchFamily="34" charset="0"/>
              </a:rPr>
              <a:t>This activity is an adaptation of the Place value game from </a:t>
            </a:r>
            <a:r>
              <a:rPr lang="en-AU" sz="1800" i="1">
                <a:effectLst/>
                <a:latin typeface="Arial" panose="020B0604020202020204" pitchFamily="34" charset="0"/>
                <a:ea typeface="Calibri" panose="020F0502020204030204" pitchFamily="34" charset="0"/>
              </a:rPr>
              <a:t>Thinking mathematically resources</a:t>
            </a:r>
            <a:r>
              <a:rPr lang="en-AU" sz="1800">
                <a:effectLst/>
                <a:latin typeface="Arial" panose="020B0604020202020204" pitchFamily="34" charset="0"/>
                <a:ea typeface="Calibri" panose="020F0502020204030204" pitchFamily="34" charset="0"/>
              </a:rPr>
              <a:t> by the State of New South Wales (Department of Education).</a:t>
            </a:r>
          </a:p>
          <a:p>
            <a:pPr>
              <a:lnSpc>
                <a:spcPct val="150000"/>
              </a:lnSpc>
              <a:spcBef>
                <a:spcPts val="1200"/>
              </a:spcBef>
              <a:spcAft>
                <a:spcPts val="600"/>
              </a:spcAft>
              <a:buNone/>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Explain that the students will be playing the “Place value game”. The aim of the game is to order 4-digit numbers in ascending order on a gameboard.</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Provide pairs with four 9-sided dice and </a:t>
            </a:r>
            <a:r>
              <a:rPr lang="en-AU" sz="1800">
                <a:effectLst/>
                <a:highlight>
                  <a:srgbClr val="FFFF00"/>
                </a:highlight>
                <a:latin typeface="Arial" panose="020B0604020202020204" pitchFamily="34" charset="0"/>
                <a:ea typeface="Calibri" panose="020F0502020204030204" pitchFamily="34" charset="0"/>
              </a:rPr>
              <a:t>Resource 27 – place value game</a:t>
            </a:r>
            <a:r>
              <a:rPr lang="en-AU" sz="1800">
                <a:effectLst/>
                <a:latin typeface="Arial" panose="020B0604020202020204" pitchFamily="34" charset="0"/>
                <a:ea typeface="Calibri" panose="020F0502020204030204" pitchFamily="34" charset="0"/>
              </a:rPr>
              <a:t>, for each player.</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Students roll the dice and create a 4-digit number. For example, 6, 2, 8, 3 could be recorded as 6238, 3682, 2863, 3826, 3628 and so on. Players record their chosen number in the most appropriate position between 1000 and 10 000.</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If numbers cannot be placed, students miss their turn. Play continues until all boxes are filled.</a:t>
            </a:r>
          </a:p>
          <a:p>
            <a:pPr>
              <a:lnSpc>
                <a:spcPct val="150000"/>
              </a:lnSpc>
              <a:spcBef>
                <a:spcPts val="1200"/>
              </a:spcBef>
              <a:spcAft>
                <a:spcPts val="600"/>
              </a:spcAft>
              <a:buNone/>
            </a:pPr>
            <a:endParaRPr lang="en-AU" sz="1800" b="1">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800" b="1">
                <a:effectLst/>
                <a:latin typeface="Arial" panose="020B0604020202020204" pitchFamily="34" charset="0"/>
                <a:ea typeface="Calibri" panose="020F0502020204030204" pitchFamily="34" charset="0"/>
              </a:rPr>
              <a:t>Note:</a:t>
            </a:r>
            <a:r>
              <a:rPr lang="en-AU" sz="1800">
                <a:effectLst/>
                <a:latin typeface="Arial" panose="020B0604020202020204" pitchFamily="34" charset="0"/>
                <a:ea typeface="Calibri" panose="020F0502020204030204" pitchFamily="34" charset="0"/>
              </a:rPr>
              <a:t> the game can also be played as a whole class. It is recommended to use dice that have a zero. It is important that students understand the role of zero in changing the value of the 4-digit numbers created.</a:t>
            </a:r>
          </a:p>
          <a:p>
            <a:pPr>
              <a:lnSpc>
                <a:spcPct val="150000"/>
              </a:lnSpc>
              <a:spcBef>
                <a:spcPts val="1200"/>
              </a:spcBef>
              <a:spcAft>
                <a:spcPts val="600"/>
              </a:spcAft>
            </a:pPr>
            <a:r>
              <a:rPr lang="en-AU" sz="1800">
                <a:effectLst/>
                <a:latin typeface="Arial" panose="020B0604020202020204" pitchFamily="34" charset="0"/>
                <a:ea typeface="Calibri" panose="020F0502020204030204" pitchFamily="34" charset="0"/>
              </a:rPr>
              <a:t>Using a reusable sleeve for the gameboard and non-permanent markers will allow students to play multiple games.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a:p>
        </p:txBody>
      </p:sp>
      <p:sp>
        <p:nvSpPr>
          <p:cNvPr id="4" name="Slide Number Placeholder 3"/>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335619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3164-16C6-19AE-E51A-5BA4B3465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EBD5-26DA-9FD5-0949-118C9D67E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585D-A265-A795-EB9A-C9041ADE398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747B98-5F7E-AC75-DFE3-6D5FCD89656B}"/>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41481243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C3A-DFF4-E87C-0263-2CB64DCC1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C56C-5609-C780-6C83-DB98BFF08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9062C-1F8B-D341-F9D5-5EE25643251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8</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A</a:t>
            </a:r>
            <a:br>
              <a:rPr lang="en-AU" sz="1600" b="0" i="0">
                <a:latin typeface="Arial" panose="020B0604020202020204" pitchFamily="34" charset="0"/>
                <a:cs typeface="Arial" panose="020B0604020202020204" pitchFamily="34" charset="0"/>
              </a:rPr>
            </a:br>
            <a:endParaRPr lang="en-AU" sz="1600" b="0" i="0">
              <a:solidFill>
                <a:schemeClr val="tx1"/>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9BF44D-0A94-58EC-0CFA-15296355176C}"/>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300093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19E3-B0F6-7F8F-03D3-6407A21A0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BA8AD-0665-4AF9-5A1C-332FB1213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72822-3E05-64AA-6A34-FA90BE4748E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Multiplicative relations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FF6F656-CCC2-ED1F-3E84-53642B1F7B01}"/>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7548873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DD56-BE1A-23FB-10E3-378D5A007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87B06-2D49-D04C-FEB0-5F2259A4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C9C7B-0CDE-38B4-67CD-96D952AAD5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A</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637398-4945-92F8-11C9-21081FF5B415}"/>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37016406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993A-B0EC-5958-6F66-C545E0BEB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EA9FF-B123-5F5A-0CCF-31A0BAF3D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5045E-1C4C-8CA0-E96F-0AF9A3F0ABB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B</a:t>
            </a:r>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68A08A-0379-056A-4ADA-5D3F78B00160}"/>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5506083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4E264-FD26-1A93-B2BD-52E567F5A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E50FF-7BD6-9625-55D4-41B34C434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7923A-C2D1-8735-1567-89B089B0E5F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A: Time</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B998A2-AF59-C506-C149-1C00BC7EDBA9}"/>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2374680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D8BCB-A604-C3BD-81AA-DEA8113A5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9EE3EE-376A-32CF-2A9E-4340997EA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5E0EA8-68BF-D025-AEFD-A8B19D8CA9EE}"/>
              </a:ext>
            </a:extLst>
          </p:cNvPr>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r>
              <a:rPr lang="en-AU" sz="1600" b="0" kern="1200">
                <a:solidFill>
                  <a:schemeClr val="tx1"/>
                </a:solidFill>
                <a:effectLst/>
                <a:latin typeface="Arial" panose="020B0604020202020204" pitchFamily="34" charset="0"/>
                <a:ea typeface="+mn-ea"/>
                <a:cs typeface="Arial" panose="020B0604020202020204" pitchFamily="34" charset="0"/>
              </a:rPr>
              <a:t>Representing numbers using place value A</a:t>
            </a:r>
          </a:p>
          <a:p>
            <a:endParaRPr lang="en-AU" sz="1600" b="0"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Read and order 4-digit numbers 2</a:t>
            </a:r>
          </a:p>
          <a:p>
            <a:pPr marL="0" marR="0" lvl="0" indent="0" algn="l" defTabSz="1219170" rtl="0" eaLnBrk="1" fontAlgn="auto" latinLnBrk="0" hangingPunct="1">
              <a:lnSpc>
                <a:spcPct val="150000"/>
              </a:lnSpc>
              <a:spcBef>
                <a:spcPts val="1200"/>
              </a:spcBef>
              <a:spcAft>
                <a:spcPts val="600"/>
              </a:spcAft>
              <a:buClrTx/>
              <a:buSzTx/>
              <a:buFont typeface="+mj-lt"/>
              <a:buNone/>
              <a:tabLst>
                <a:tab pos="228600" algn="l"/>
              </a:tabLst>
              <a:defRPr/>
            </a:pPr>
            <a:endParaRPr lang="en-AU" sz="1800"/>
          </a:p>
          <a:p>
            <a:pPr>
              <a:lnSpc>
                <a:spcPct val="150000"/>
              </a:lnSpc>
              <a:spcBef>
                <a:spcPts val="1200"/>
              </a:spcBef>
              <a:spcAft>
                <a:spcPts val="600"/>
              </a:spcAft>
              <a:buNone/>
            </a:pPr>
            <a:r>
              <a:rPr lang="en-AU" sz="1800">
                <a:effectLst/>
                <a:latin typeface="Arial" panose="020B0604020202020204" pitchFamily="34" charset="0"/>
                <a:ea typeface="Calibri" panose="020F0502020204030204" pitchFamily="34" charset="0"/>
              </a:rPr>
              <a:t>This activity is an adaptation of the Place value game from </a:t>
            </a:r>
            <a:r>
              <a:rPr lang="en-AU" sz="1800" i="1">
                <a:effectLst/>
                <a:latin typeface="Arial" panose="020B0604020202020204" pitchFamily="34" charset="0"/>
                <a:ea typeface="Calibri" panose="020F0502020204030204" pitchFamily="34" charset="0"/>
              </a:rPr>
              <a:t>Thinking mathematically resources</a:t>
            </a:r>
            <a:r>
              <a:rPr lang="en-AU" sz="1800">
                <a:effectLst/>
                <a:latin typeface="Arial" panose="020B0604020202020204" pitchFamily="34" charset="0"/>
                <a:ea typeface="Calibri" panose="020F0502020204030204" pitchFamily="34" charset="0"/>
              </a:rPr>
              <a:t> by the State of New South Wales (Department of Education).</a:t>
            </a:r>
          </a:p>
          <a:p>
            <a:pPr>
              <a:lnSpc>
                <a:spcPct val="150000"/>
              </a:lnSpc>
              <a:spcBef>
                <a:spcPts val="1200"/>
              </a:spcBef>
              <a:spcAft>
                <a:spcPts val="600"/>
              </a:spcAft>
              <a:buNone/>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Revise the rules to the “Place value game” from Activity 7.</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Explain that the students are going to play a variation of the game called “Place value game - closest fit challenge”. This version follows the rules from the previous activity but adds the following:</a:t>
            </a:r>
          </a:p>
          <a:p>
            <a:pPr marL="285750" lvl="0" indent="-28575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If a player creates a number that does not fit into the sequence, they may still place it above/below/beside the box where it is closest in value.</a:t>
            </a:r>
          </a:p>
          <a:p>
            <a:pPr marL="285750" lvl="0" indent="-28575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The player must justify their choice by comparing the number to those already placed in the sequence. For example, “4823 is closer to 4689 than to 5000, so I can place it here”.</a:t>
            </a:r>
          </a:p>
          <a:p>
            <a:pPr marL="285750" lvl="0" indent="-28575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If a player cannot justify a logical placement such as if the number is too far out of range or the space has already been filled, they miss their turn as in the original game.</a:t>
            </a:r>
          </a:p>
          <a:p>
            <a:pPr marL="285750" lvl="0" indent="-28575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Each box can only have up to two numbers above, below or beside it. If both positions are already taken, the player must choose another box or miss their turn.</a:t>
            </a:r>
          </a:p>
          <a:p>
            <a:pPr marL="0" lvl="0" indent="0">
              <a:lnSpc>
                <a:spcPct val="150000"/>
              </a:lnSpc>
              <a:spcBef>
                <a:spcPts val="1200"/>
              </a:spcBef>
              <a:spcAft>
                <a:spcPts val="600"/>
              </a:spcAft>
              <a:buFont typeface="+mj-lt"/>
              <a:buNone/>
              <a:tabLst>
                <a:tab pos="228600" algn="l"/>
              </a:tabLst>
            </a:pPr>
            <a:endParaRPr lang="en-AU" sz="1800" b="1">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57803316-B6A5-4ADB-4F98-19215837F2B1}"/>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2289232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slide" Target="slide5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8" Type="http://schemas.openxmlformats.org/officeDocument/2006/relationships/hyperlink" Target="https://mathsvenns.com/volume-of-a-cuboid-1/" TargetMode="External"/><Relationship Id="rId3" Type="http://schemas.openxmlformats.org/officeDocument/2006/relationships/hyperlink" Target="https://educationstandards.nsw.edu.au/wps/portal/nesa/home" TargetMode="External"/><Relationship Id="rId7" Type="http://schemas.openxmlformats.org/officeDocument/2006/relationships/hyperlink" Target="http://www.australiancurriculum.edu.au/"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6" Type="http://schemas.openxmlformats.org/officeDocument/2006/relationships/hyperlink" Target="https://www.australiancurriculum.edu.au/resources/national-literacy-and-numeracy-learning-progressions/version-3-of-national-literacy-and-numeracy-learning-progressions/" TargetMode="External"/><Relationship Id="rId11" Type="http://schemas.openxmlformats.org/officeDocument/2006/relationships/hyperlink" Target="https://education.nsw.gov.au/teaching-and-learning/curriculum/mathematics/mathematics-curriculum-resources-k-12/thinking-mathematically-resources/mathematics-s2-s3-factors-fun" TargetMode="External"/><Relationship Id="rId5" Type="http://schemas.openxmlformats.org/officeDocument/2006/relationships/hyperlink" Target="https://curriculum.nsw.edu.au/learning-areas/mathematics/mathematics-k-10-2022" TargetMode="External"/><Relationship Id="rId10" Type="http://schemas.openxmlformats.org/officeDocument/2006/relationships/hyperlink" Target="https://curriculum.nsw.edu.au/learning-areas/mathematics/mathematics-k-10-2022/content/stage-3/fa51e61164?show=advice&amp;ta_scroll=no#:~:text=Teaching%20advice%20for%20Three%2Ddimensional%20spatial%20structure%20A" TargetMode="External"/><Relationship Id="rId4" Type="http://schemas.openxmlformats.org/officeDocument/2006/relationships/hyperlink" Target="https://curriculum.nsw.edu.au/" TargetMode="External"/><Relationship Id="rId9" Type="http://schemas.openxmlformats.org/officeDocument/2006/relationships/hyperlink" Target="https://mathforlove.com/lesson/fill-the-stairs/"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curriculum.nsw.edu.au/" TargetMode="External"/><Relationship Id="rId3" Type="http://schemas.openxmlformats.org/officeDocument/2006/relationships/hyperlink" Target="https://toytheater.com/playing-cards/" TargetMode="External"/><Relationship Id="rId7" Type="http://schemas.openxmlformats.org/officeDocument/2006/relationships/hyperlink" Target="https://educationstandards.nsw.edu.au/wps/portal/nesa/home" TargetMode="External"/><Relationship Id="rId2" Type="http://schemas.openxmlformats.org/officeDocument/2006/relationships/hyperlink" Target="https://education.nsw.gov.au/teaching-and-learning/curriculum/mathematics/mathematics-curriculum-resources-k-12/thinking-mathematically-resources/mathematics-s1-s2-hit-it" TargetMode="External"/><Relationship Id="rId1" Type="http://schemas.openxmlformats.org/officeDocument/2006/relationships/slideLayout" Target="../slideLayouts/slideLayout13.xml"/><Relationship Id="rId6" Type="http://schemas.openxmlformats.org/officeDocument/2006/relationships/hyperlink" Target="https://educationstandards.nsw.edu.au/wps/portal/nesa/mini-footer/copyright" TargetMode="External"/><Relationship Id="rId5" Type="http://schemas.openxmlformats.org/officeDocument/2006/relationships/hyperlink" Target="https://www.researchgate.net/publication/364307525_Our_epic_Monopoly_game_Exploring_non-standard_partitioning_using_money" TargetMode="External"/><Relationship Id="rId4" Type="http://schemas.openxmlformats.org/officeDocument/2006/relationships/hyperlink" Target="https://nrich.maths.org/6288"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educationstandards.nsw.edu.au/wps/portal/nesa/home"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5" Type="http://schemas.openxmlformats.org/officeDocument/2006/relationships/hyperlink" Target="https://nrich.maths.org/7280" TargetMode="External"/><Relationship Id="rId4" Type="http://schemas.openxmlformats.org/officeDocument/2006/relationships/hyperlink" Target="https://curriculum.nsw.edu.au/" TargetMode="External"/></Relationships>
</file>

<file path=ppt/slides/_rels/slide70.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6" name="Text Placeholder 5">
            <a:extLst>
              <a:ext uri="{FF2B5EF4-FFF2-40B4-BE49-F238E27FC236}">
                <a16:creationId xmlns:a16="http://schemas.microsoft.com/office/drawing/2014/main" id="{64121D11-9F8F-CC35-54B7-C6925E267FA9}"/>
              </a:ext>
            </a:extLst>
          </p:cNvPr>
          <p:cNvSpPr>
            <a:spLocks noGrp="1"/>
          </p:cNvSpPr>
          <p:nvPr>
            <p:ph type="body" sz="quarter" idx="18"/>
          </p:nvPr>
        </p:nvSpPr>
        <p:spPr/>
        <p:txBody>
          <a:bodyPr/>
          <a:lstStyle/>
          <a:p>
            <a:endParaRPr lang="en-AU"/>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Arial"/>
                <a:cs typeface="Arial"/>
              </a:rPr>
              <a:t>This resource aligns to the learning in Stage 2 Year A Unit 20 and revisits content from earlier sample units.</a:t>
            </a:r>
          </a:p>
          <a:p>
            <a:pPr marL="342900" indent="-342900">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edit and adapt</a:t>
            </a:r>
            <a:r>
              <a:rPr lang="en-AU" sz="1800">
                <a:solidFill>
                  <a:srgbClr val="22272B"/>
                </a:solidFill>
                <a:latin typeface="+mn-lt"/>
                <a:cs typeface="Arial"/>
              </a:rPr>
              <a:t>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latin typeface="+mj-lt"/>
                <a:cs typeface="Arial"/>
              </a:rPr>
              <a:t>Review of Learning </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sz="2400">
                <a:latin typeface="+mj-lt"/>
                <a:cs typeface="Arial"/>
              </a:rPr>
              <a:t>Mathematics Stage 2 </a:t>
            </a:r>
            <a:r>
              <a:rPr lang="en-AU" sz="2400">
                <a:solidFill>
                  <a:srgbClr val="FFFFFF"/>
                </a:solidFill>
                <a:latin typeface="+mj-lt"/>
                <a:cs typeface="Arial"/>
              </a:rPr>
              <a:t>–</a:t>
            </a:r>
            <a:r>
              <a:rPr lang="en-AU" sz="2400">
                <a:latin typeface="+mj-lt"/>
                <a:cs typeface="Arial"/>
              </a:rPr>
              <a:t> Unit 20</a:t>
            </a:r>
          </a:p>
        </p:txBody>
      </p:sp>
      <p:pic>
        <p:nvPicPr>
          <p:cNvPr id="1026" name="Picture 2" descr="A group of dice on an orange surface">
            <a:extLst>
              <a:ext uri="{FF2B5EF4-FFF2-40B4-BE49-F238E27FC236}">
                <a16:creationId xmlns:a16="http://schemas.microsoft.com/office/drawing/2014/main" id="{4C45AFD8-1A65-DE91-574E-A3BA8B7840B0}"/>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l="1799" r="1799"/>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2</a:t>
              </a:r>
              <a:endParaRPr lang="en-US">
                <a:solidFill>
                  <a:schemeClr val="accent1"/>
                </a:solidFill>
                <a:latin typeface="+mj-lt"/>
                <a:cs typeface="Aria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3 </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4</a:t>
              </a:r>
              <a:endParaRPr lang="en-US">
                <a:solidFill>
                  <a:schemeClr val="accent1"/>
                </a:solidFill>
                <a:latin typeface="+mj-lt"/>
                <a:cs typeface="Arial" panose="020B0604020202020204"/>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5</a:t>
              </a:r>
              <a:endParaRPr lang="en-US">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6</a:t>
              </a:r>
              <a:endParaRPr lang="en-US">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panose="020B0604020202020204"/>
                </a:rPr>
                <a:t>Review of learning 7</a:t>
              </a:r>
              <a:endParaRPr lang="en-US">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8</a:t>
              </a:r>
              <a:endParaRPr lang="en-US">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0"/>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cs typeface="Arial"/>
              </a:rPr>
              <a:t>Review of learning 1</a:t>
            </a:r>
            <a:endParaRPr lang="en-AU">
              <a:latin typeface="+mj-lt"/>
            </a:endParaRP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(1)</a:t>
            </a:r>
          </a:p>
        </p:txBody>
      </p:sp>
      <p:pic>
        <p:nvPicPr>
          <p:cNvPr id="4" name="Picture 3" descr="image of a finger selecting an option for a multiple choice or true and false">
            <a:extLst>
              <a:ext uri="{FF2B5EF4-FFF2-40B4-BE49-F238E27FC236}">
                <a16:creationId xmlns:a16="http://schemas.microsoft.com/office/drawing/2014/main" id="{213BF0C3-EA70-69CD-39F5-736545693249}"/>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54000" y="1167492"/>
            <a:ext cx="11484000" cy="1418708"/>
          </a:xfrm>
        </p:spPr>
        <p:txBody>
          <a:bodyPr vert="horz" lIns="0" tIns="0" rIns="0" bIns="0" rtlCol="0" anchor="t">
            <a:noAutofit/>
          </a:bodyPr>
          <a:lstStyle/>
          <a:p>
            <a:pPr algn="ctr"/>
            <a:r>
              <a:rPr lang="en-US" sz="7200" dirty="0">
                <a:latin typeface="Arial"/>
                <a:cs typeface="Arial"/>
              </a:rPr>
              <a:t>36 + 27 =</a:t>
            </a:r>
          </a:p>
        </p:txBody>
      </p:sp>
      <p:graphicFrame>
        <p:nvGraphicFramePr>
          <p:cNvPr id="5" name="Table 4">
            <a:extLst>
              <a:ext uri="{FF2B5EF4-FFF2-40B4-BE49-F238E27FC236}">
                <a16:creationId xmlns:a16="http://schemas.microsoft.com/office/drawing/2014/main" id="{3797F57D-692A-CC2D-EED4-5B8D5F2215C4}"/>
              </a:ext>
            </a:extLst>
          </p:cNvPr>
          <p:cNvGraphicFramePr>
            <a:graphicFrameLocks noGrp="1"/>
          </p:cNvGraphicFramePr>
          <p:nvPr>
            <p:extLst>
              <p:ext uri="{D42A27DB-BD31-4B8C-83A1-F6EECF244321}">
                <p14:modId xmlns:p14="http://schemas.microsoft.com/office/powerpoint/2010/main" val="2247549829"/>
              </p:ext>
            </p:extLst>
          </p:nvPr>
        </p:nvGraphicFramePr>
        <p:xfrm>
          <a:off x="705873" y="4275619"/>
          <a:ext cx="10551292" cy="16764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54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54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54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54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400" dirty="0"/>
                        <a:t>53</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400">
                          <a:latin typeface="+mn-lt"/>
                          <a:cs typeface="Arial"/>
                        </a:rPr>
                        <a:t>63</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400">
                          <a:latin typeface="+mn-lt"/>
                          <a:cs typeface="Arial"/>
                        </a:rPr>
                        <a:t>73</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400" dirty="0">
                          <a:latin typeface="+mn-lt"/>
                          <a:cs typeface="Arial"/>
                        </a:rPr>
                        <a:t>83</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a:t>
            </a:r>
          </a:p>
        </p:txBody>
      </p:sp>
      <p:pic>
        <p:nvPicPr>
          <p:cNvPr id="4" name="Picture 3" descr="image of a clipboard with a pencil recording short answer responses">
            <a:extLst>
              <a:ext uri="{FF2B5EF4-FFF2-40B4-BE49-F238E27FC236}">
                <a16:creationId xmlns:a16="http://schemas.microsoft.com/office/drawing/2014/main" id="{5CD9E655-ACD9-A77F-AC24-CF29796A2798}"/>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11" name="Picture Placeholder 10">
            <a:extLst>
              <a:ext uri="{FF2B5EF4-FFF2-40B4-BE49-F238E27FC236}">
                <a16:creationId xmlns:a16="http://schemas.microsoft.com/office/drawing/2014/main" id="{4F3FEFD7-8600-F68D-84BD-680FA1695628}"/>
              </a:ext>
            </a:extLst>
          </p:cNvPr>
          <p:cNvSpPr>
            <a:spLocks noGrp="1"/>
          </p:cNvSpPr>
          <p:nvPr>
            <p:ph type="pic" sz="quarter" idx="21"/>
          </p:nvPr>
        </p:nvSpPr>
        <p:spPr>
          <a:xfrm>
            <a:off x="121424" y="1452452"/>
            <a:ext cx="4887546" cy="5063153"/>
          </a:xfrm>
        </p:spPr>
        <p:txBody>
          <a:bodyPr/>
          <a:lstStyle/>
          <a:p>
            <a:pPr algn="ctr"/>
            <a:r>
              <a:rPr lang="en-US" sz="4000">
                <a:latin typeface="Arial"/>
                <a:cs typeface="Arial"/>
              </a:rPr>
              <a:t>On the </a:t>
            </a:r>
            <a:r>
              <a:rPr lang="en-US" sz="4000" b="1">
                <a:latin typeface="Arial"/>
                <a:cs typeface="Arial"/>
              </a:rPr>
              <a:t>grid map</a:t>
            </a:r>
            <a:r>
              <a:rPr lang="en-US" sz="4000">
                <a:latin typeface="Arial"/>
                <a:cs typeface="Arial"/>
              </a:rPr>
              <a:t>, what is </a:t>
            </a:r>
            <a:r>
              <a:rPr lang="en-US" sz="4000" b="1">
                <a:latin typeface="Arial"/>
                <a:cs typeface="Arial"/>
              </a:rPr>
              <a:t>located</a:t>
            </a:r>
            <a:r>
              <a:rPr lang="en-US" sz="4000">
                <a:latin typeface="Arial"/>
                <a:cs typeface="Arial"/>
              </a:rPr>
              <a:t> at:</a:t>
            </a:r>
          </a:p>
          <a:p>
            <a:pPr marL="571500" indent="-571500" algn="ctr">
              <a:buChar char="•"/>
            </a:pPr>
            <a:r>
              <a:rPr lang="en-US" sz="4000">
                <a:latin typeface="Arial"/>
                <a:cs typeface="Arial"/>
              </a:rPr>
              <a:t>G4 </a:t>
            </a:r>
          </a:p>
          <a:p>
            <a:pPr marL="571500" indent="-571500" algn="ctr">
              <a:buChar char="•"/>
            </a:pPr>
            <a:r>
              <a:rPr lang="en-US" sz="4000">
                <a:latin typeface="Arial"/>
                <a:cs typeface="Arial"/>
              </a:rPr>
              <a:t>C5</a:t>
            </a:r>
          </a:p>
          <a:p>
            <a:pPr marL="571500" indent="-571500" algn="ctr">
              <a:buChar char="•"/>
            </a:pPr>
            <a:r>
              <a:rPr lang="en-US" sz="4000">
                <a:latin typeface="Arial"/>
                <a:cs typeface="Arial"/>
              </a:rPr>
              <a:t>E7</a:t>
            </a:r>
            <a:endParaRPr lang="en-US" sz="4000"/>
          </a:p>
          <a:p>
            <a:endParaRPr lang="en-US">
              <a:latin typeface="Arial"/>
              <a:cs typeface="Arial"/>
            </a:endParaRPr>
          </a:p>
        </p:txBody>
      </p:sp>
      <p:pic>
        <p:nvPicPr>
          <p:cNvPr id="6" name="Picture 5" descr="A beach scene overlaid with a coordinate grid. The grid has letters A to J along the bottom (x-axis) and numbers 1 to 7 along the left side (y-axis). Objects in the scene include:&#10;A surfboard at B2&#10;A red starfish at F2 and F7&#10;Flip-flops at F2&#10;A red and white umbrella at H1&#10;Two children building a sandcastle at G4&#10;A red bucket at F4&#10;A green spade at G3&#10;A beach towel and large green leaves at H2–I3&#10;A red crab at G6&#10;A yellow flag at D2 and F5&#10;A lifebuoy at C5&#10;A turtle at E7&#10;A group of blue fish at A7 and B7&#10;Purple flip-flops at I4&#10;Compass rose at top right showing directions&#10;The background transitions from ocean (left) to beach (right), and includes palm leaves at the top and bottom right.">
            <a:extLst>
              <a:ext uri="{FF2B5EF4-FFF2-40B4-BE49-F238E27FC236}">
                <a16:creationId xmlns:a16="http://schemas.microsoft.com/office/drawing/2014/main" id="{59591FAC-AB6E-329C-4594-0F4CDC4AFF05}"/>
              </a:ext>
            </a:extLst>
          </p:cNvPr>
          <p:cNvPicPr>
            <a:picLocks noChangeAspect="1"/>
          </p:cNvPicPr>
          <p:nvPr/>
        </p:nvPicPr>
        <p:blipFill>
          <a:blip r:embed="rId4"/>
          <a:stretch>
            <a:fillRect/>
          </a:stretch>
        </p:blipFill>
        <p:spPr>
          <a:xfrm>
            <a:off x="5008970" y="1184223"/>
            <a:ext cx="6890669" cy="5125288"/>
          </a:xfrm>
          <a:prstGeom prst="rect">
            <a:avLst/>
          </a:prstGeom>
        </p:spPr>
      </p:pic>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29-3F5A-CA10-3A4C-1106A0EFFEF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5BAC30-6BD8-C081-77BC-D2B9575F71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pic>
        <p:nvPicPr>
          <p:cNvPr id="4" name="Picture 3" descr="image of a clipboard with a pencil recording short answer responses">
            <a:extLst>
              <a:ext uri="{FF2B5EF4-FFF2-40B4-BE49-F238E27FC236}">
                <a16:creationId xmlns:a16="http://schemas.microsoft.com/office/drawing/2014/main" id="{6A8AD6B3-D377-CD0C-D55B-8F006C042486}"/>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11" name="Picture Placeholder 10">
            <a:extLst>
              <a:ext uri="{FF2B5EF4-FFF2-40B4-BE49-F238E27FC236}">
                <a16:creationId xmlns:a16="http://schemas.microsoft.com/office/drawing/2014/main" id="{7157F9C0-C1ED-7744-16B0-EF203AF569DC}"/>
              </a:ext>
            </a:extLst>
          </p:cNvPr>
          <p:cNvSpPr>
            <a:spLocks noGrp="1"/>
          </p:cNvSpPr>
          <p:nvPr>
            <p:ph type="pic" sz="quarter" idx="21"/>
          </p:nvPr>
        </p:nvSpPr>
        <p:spPr>
          <a:xfrm>
            <a:off x="2005693" y="1316322"/>
            <a:ext cx="8180614" cy="2112678"/>
          </a:xfrm>
        </p:spPr>
        <p:txBody>
          <a:bodyPr/>
          <a:lstStyle/>
          <a:p>
            <a:pPr algn="ctr"/>
            <a:r>
              <a:rPr lang="en-US" sz="4400" dirty="0">
                <a:latin typeface="Arial"/>
                <a:cs typeface="Arial"/>
              </a:rPr>
              <a:t>Describe the</a:t>
            </a:r>
            <a:r>
              <a:rPr lang="en-US" sz="4400" b="1" dirty="0">
                <a:latin typeface="Arial"/>
                <a:cs typeface="Arial"/>
              </a:rPr>
              <a:t> features </a:t>
            </a:r>
            <a:r>
              <a:rPr lang="en-US" sz="4400" dirty="0">
                <a:latin typeface="Arial"/>
                <a:cs typeface="Arial"/>
              </a:rPr>
              <a:t>of these </a:t>
            </a:r>
            <a:r>
              <a:rPr lang="en-US" sz="4400" b="1" dirty="0">
                <a:latin typeface="Arial"/>
                <a:cs typeface="Arial"/>
              </a:rPr>
              <a:t>two-dimensional shapes.</a:t>
            </a:r>
            <a:endParaRPr lang="en-US" sz="4400" b="1" dirty="0"/>
          </a:p>
          <a:p>
            <a:pPr algn="ctr"/>
            <a:endParaRPr lang="en-US" sz="4400" dirty="0">
              <a:solidFill>
                <a:srgbClr val="22272B"/>
              </a:solidFill>
            </a:endParaRPr>
          </a:p>
          <a:p>
            <a:endParaRPr lang="en-US" dirty="0">
              <a:latin typeface="Arial"/>
              <a:cs typeface="Arial"/>
            </a:endParaRPr>
          </a:p>
        </p:txBody>
      </p:sp>
      <p:pic>
        <p:nvPicPr>
          <p:cNvPr id="6" name="Picture 5" descr="Two coloured 2D shapes on a white background. On the left is a green triangle with three equal sides, and on the right is a purple trapezium with one pair of parallel sides.">
            <a:extLst>
              <a:ext uri="{FF2B5EF4-FFF2-40B4-BE49-F238E27FC236}">
                <a16:creationId xmlns:a16="http://schemas.microsoft.com/office/drawing/2014/main" id="{15E01819-E76F-F89C-9D6E-AA651D0E1B08}"/>
              </a:ext>
            </a:extLst>
          </p:cNvPr>
          <p:cNvPicPr>
            <a:picLocks noChangeAspect="1"/>
          </p:cNvPicPr>
          <p:nvPr/>
        </p:nvPicPr>
        <p:blipFill>
          <a:blip r:embed="rId4"/>
          <a:stretch>
            <a:fillRect/>
          </a:stretch>
        </p:blipFill>
        <p:spPr>
          <a:xfrm>
            <a:off x="2504715" y="3797236"/>
            <a:ext cx="6953607" cy="2463927"/>
          </a:xfrm>
          <a:prstGeom prst="rect">
            <a:avLst/>
          </a:prstGeom>
        </p:spPr>
      </p:pic>
      <p:sp>
        <p:nvSpPr>
          <p:cNvPr id="2" name="Slide Number Placeholder 1">
            <a:extLst>
              <a:ext uri="{FF2B5EF4-FFF2-40B4-BE49-F238E27FC236}">
                <a16:creationId xmlns:a16="http://schemas.microsoft.com/office/drawing/2014/main" id="{E7694136-0ABE-6565-8E70-C408D71197A0}"/>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47140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3FA9-B3B4-3714-FC45-47F2D01CCFD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8F05DE5-C379-717B-6C87-B9DC7632F6A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pic>
        <p:nvPicPr>
          <p:cNvPr id="4" name="Picture 3" descr="image of a clipboard with a pencil recording short answer responses">
            <a:extLst>
              <a:ext uri="{FF2B5EF4-FFF2-40B4-BE49-F238E27FC236}">
                <a16:creationId xmlns:a16="http://schemas.microsoft.com/office/drawing/2014/main" id="{668EA503-53FA-A948-785F-ED4A432D9FBB}"/>
              </a:ext>
            </a:extLst>
          </p:cNvPr>
          <p:cNvPicPr>
            <a:picLocks noChangeAspect="1"/>
          </p:cNvPicPr>
          <p:nvPr/>
        </p:nvPicPr>
        <p:blipFill>
          <a:blip r:embed="rId3"/>
          <a:stretch>
            <a:fillRect/>
          </a:stretch>
        </p:blipFill>
        <p:spPr>
          <a:xfrm>
            <a:off x="11030476" y="268723"/>
            <a:ext cx="915500" cy="915500"/>
          </a:xfrm>
          <a:prstGeom prst="rect">
            <a:avLst/>
          </a:prstGeom>
          <a:ln>
            <a:noFill/>
          </a:ln>
        </p:spPr>
      </p:pic>
      <p:pic>
        <p:nvPicPr>
          <p:cNvPr id="9" name="Picture 8" descr="A tally table showing the number of students who like different fruits.&#10;Watermelon: 6 tallies&#10;Strawberries: 8 tallies&#10;Bananas: 5 tallies&#10;Apples: 4 tallies&#10;Oranges: 3 tallies&#10;Blueberries: 4 tallies&#10;Pears: 3 tallies.">
            <a:extLst>
              <a:ext uri="{FF2B5EF4-FFF2-40B4-BE49-F238E27FC236}">
                <a16:creationId xmlns:a16="http://schemas.microsoft.com/office/drawing/2014/main" id="{A1D1AC54-9D15-A400-3578-CFD2325C8B89}"/>
              </a:ext>
            </a:extLst>
          </p:cNvPr>
          <p:cNvPicPr>
            <a:picLocks noChangeAspect="1"/>
          </p:cNvPicPr>
          <p:nvPr/>
        </p:nvPicPr>
        <p:blipFill>
          <a:blip r:embed="rId4"/>
          <a:stretch>
            <a:fillRect/>
          </a:stretch>
        </p:blipFill>
        <p:spPr>
          <a:xfrm>
            <a:off x="530773" y="1184223"/>
            <a:ext cx="3722820" cy="5208753"/>
          </a:xfrm>
          <a:prstGeom prst="rect">
            <a:avLst/>
          </a:prstGeom>
        </p:spPr>
      </p:pic>
      <p:sp>
        <p:nvSpPr>
          <p:cNvPr id="8" name="Picture Placeholder 10">
            <a:extLst>
              <a:ext uri="{FF2B5EF4-FFF2-40B4-BE49-F238E27FC236}">
                <a16:creationId xmlns:a16="http://schemas.microsoft.com/office/drawing/2014/main" id="{C71FA276-C5C1-DB90-3082-41EDC65E643E}"/>
              </a:ext>
            </a:extLst>
          </p:cNvPr>
          <p:cNvSpPr txBox="1">
            <a:spLocks/>
          </p:cNvSpPr>
          <p:nvPr/>
        </p:nvSpPr>
        <p:spPr>
          <a:xfrm>
            <a:off x="4520401" y="1064727"/>
            <a:ext cx="7169891" cy="4982111"/>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latin typeface="Arial"/>
                <a:cs typeface="Arial"/>
              </a:rPr>
              <a:t>If you created a </a:t>
            </a:r>
            <a:r>
              <a:rPr lang="en-US" sz="4400" b="1">
                <a:latin typeface="Arial"/>
                <a:cs typeface="Arial"/>
              </a:rPr>
              <a:t>column graph </a:t>
            </a:r>
            <a:r>
              <a:rPr lang="en-US" sz="4400">
                <a:latin typeface="Arial"/>
                <a:cs typeface="Arial"/>
              </a:rPr>
              <a:t>to show the number of students who liked each fruit, what would you label the </a:t>
            </a:r>
            <a:r>
              <a:rPr lang="en-US" sz="4400" b="1">
                <a:latin typeface="Arial"/>
                <a:cs typeface="Arial"/>
              </a:rPr>
              <a:t>title</a:t>
            </a:r>
            <a:r>
              <a:rPr lang="en-US" sz="4400">
                <a:latin typeface="Arial"/>
                <a:cs typeface="Arial"/>
              </a:rPr>
              <a:t> and the </a:t>
            </a:r>
            <a:r>
              <a:rPr lang="en-US" sz="4400" b="1">
                <a:latin typeface="Arial"/>
                <a:cs typeface="Arial"/>
              </a:rPr>
              <a:t>y-axis</a:t>
            </a:r>
            <a:r>
              <a:rPr lang="en-US" sz="4400">
                <a:latin typeface="Arial"/>
                <a:cs typeface="Arial"/>
              </a:rPr>
              <a:t>?  </a:t>
            </a:r>
          </a:p>
          <a:p>
            <a:pPr algn="ctr"/>
            <a:br>
              <a:rPr lang="en-US" sz="4400">
                <a:latin typeface="Arial"/>
                <a:cs typeface="Arial"/>
              </a:rPr>
            </a:br>
            <a:endParaRPr lang="en-US" sz="4400">
              <a:solidFill>
                <a:srgbClr val="22272B"/>
              </a:solidFill>
            </a:endParaRPr>
          </a:p>
          <a:p>
            <a:endParaRPr lang="en-US">
              <a:latin typeface="Arial"/>
              <a:cs typeface="Arial"/>
            </a:endParaRPr>
          </a:p>
        </p:txBody>
      </p:sp>
      <p:sp>
        <p:nvSpPr>
          <p:cNvPr id="2" name="Slide Number Placeholder 1">
            <a:extLst>
              <a:ext uri="{FF2B5EF4-FFF2-40B4-BE49-F238E27FC236}">
                <a16:creationId xmlns:a16="http://schemas.microsoft.com/office/drawing/2014/main" id="{2DBE3B1A-BD2A-49DE-A752-21D7297BB0E0}"/>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85932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6DCB-E9CB-B576-D914-C2FA7FAE931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A3EF466-F3BA-38A9-63CB-DD80F64CB1BC}"/>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pic>
        <p:nvPicPr>
          <p:cNvPr id="5" name="Picture 4" descr="image of a clipboard with a pencil recording short answer responses">
            <a:extLst>
              <a:ext uri="{FF2B5EF4-FFF2-40B4-BE49-F238E27FC236}">
                <a16:creationId xmlns:a16="http://schemas.microsoft.com/office/drawing/2014/main" id="{67A30562-E1FE-0A17-E004-1B27CE78EE7A}"/>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Box 3">
            <a:extLst>
              <a:ext uri="{FF2B5EF4-FFF2-40B4-BE49-F238E27FC236}">
                <a16:creationId xmlns:a16="http://schemas.microsoft.com/office/drawing/2014/main" id="{ACE368C0-314C-A403-7607-31BE895B3C86}"/>
              </a:ext>
            </a:extLst>
          </p:cNvPr>
          <p:cNvSpPr txBox="1"/>
          <p:nvPr/>
        </p:nvSpPr>
        <p:spPr>
          <a:xfrm>
            <a:off x="1927951" y="1309183"/>
            <a:ext cx="8107135" cy="4239634"/>
          </a:xfrm>
          <a:prstGeom prst="rect">
            <a:avLst/>
          </a:prstGeom>
          <a:noFill/>
        </p:spPr>
        <p:txBody>
          <a:bodyPr wrap="square" lIns="0" tIns="0" rIns="0" bIns="0" rtlCol="0">
            <a:noAutofit/>
          </a:bodyPr>
          <a:lstStyle/>
          <a:p>
            <a:pPr algn="ctr"/>
            <a:r>
              <a:rPr lang="en-AU" sz="4400"/>
              <a:t>Draw </a:t>
            </a:r>
            <a:r>
              <a:rPr lang="en-AU" sz="4400" b="1" err="1"/>
              <a:t>analog</a:t>
            </a:r>
            <a:r>
              <a:rPr lang="en-AU" sz="4400"/>
              <a:t> clocks with the following </a:t>
            </a:r>
            <a:r>
              <a:rPr lang="en-AU" sz="4400" b="1"/>
              <a:t>times</a:t>
            </a:r>
            <a:r>
              <a:rPr lang="en-AU" sz="4400"/>
              <a:t>:</a:t>
            </a:r>
          </a:p>
          <a:p>
            <a:pPr algn="ctr"/>
            <a:endParaRPr lang="en-AU" sz="4400"/>
          </a:p>
          <a:p>
            <a:pPr marL="571500" indent="-571500">
              <a:lnSpc>
                <a:spcPct val="150000"/>
              </a:lnSpc>
              <a:buFont typeface="Arial" panose="020B0604020202020204" pitchFamily="34" charset="0"/>
              <a:buChar char="•"/>
            </a:pPr>
            <a:r>
              <a:rPr lang="en-AU" sz="4400"/>
              <a:t>ten minutes past 3</a:t>
            </a:r>
          </a:p>
          <a:p>
            <a:pPr marL="571500" indent="-571500">
              <a:lnSpc>
                <a:spcPct val="150000"/>
              </a:lnSpc>
              <a:buFont typeface="Arial" panose="020B0604020202020204" pitchFamily="34" charset="0"/>
              <a:buChar char="•"/>
            </a:pPr>
            <a:r>
              <a:rPr lang="en-AU" sz="4400"/>
              <a:t>ten minutes to 8</a:t>
            </a:r>
          </a:p>
        </p:txBody>
      </p:sp>
      <p:sp>
        <p:nvSpPr>
          <p:cNvPr id="2" name="Slide Number Placeholder 1">
            <a:extLst>
              <a:ext uri="{FF2B5EF4-FFF2-40B4-BE49-F238E27FC236}">
                <a16:creationId xmlns:a16="http://schemas.microsoft.com/office/drawing/2014/main" id="{9C32FB6E-2A90-1CC2-721F-898CF92613A0}"/>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7265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43003" y="396275"/>
            <a:ext cx="11484000" cy="545601"/>
          </a:xfrm>
        </p:spPr>
        <p:txBody>
          <a:bodyPr/>
          <a:lstStyle/>
          <a:p>
            <a:r>
              <a:rPr lang="en-AU"/>
              <a:t>Activity 1 – apply known mental strategies to add</a:t>
            </a:r>
          </a:p>
        </p:txBody>
      </p:sp>
      <p:pic>
        <p:nvPicPr>
          <p:cNvPr id="4" name="Picture 3" descr="image of a head with cogs turning inside">
            <a:extLst>
              <a:ext uri="{FF2B5EF4-FFF2-40B4-BE49-F238E27FC236}">
                <a16:creationId xmlns:a16="http://schemas.microsoft.com/office/drawing/2014/main" id="{EA7C190E-81B5-C9DA-F92E-7CB00CD847FE}"/>
              </a:ext>
            </a:extLst>
          </p:cNvPr>
          <p:cNvPicPr>
            <a:picLocks noChangeAspect="1"/>
          </p:cNvPicPr>
          <p:nvPr/>
        </p:nvPicPr>
        <p:blipFill>
          <a:blip r:embed="rId3"/>
          <a:stretch>
            <a:fillRect/>
          </a:stretch>
        </p:blipFill>
        <p:spPr>
          <a:xfrm>
            <a:off x="11107003" y="240894"/>
            <a:ext cx="720000" cy="856364"/>
          </a:xfrm>
          <a:prstGeom prst="rect">
            <a:avLst/>
          </a:prstGeom>
          <a:ln>
            <a:noFill/>
          </a:ln>
        </p:spPr>
      </p:pic>
      <p:pic>
        <p:nvPicPr>
          <p:cNvPr id="19" name="Picture 18" descr="Five playing cards are displayed: the Jack of Diamonds, Queen of Hearts, King of Clubs, Four of Diamonds, and Ten of Spades.">
            <a:extLst>
              <a:ext uri="{FF2B5EF4-FFF2-40B4-BE49-F238E27FC236}">
                <a16:creationId xmlns:a16="http://schemas.microsoft.com/office/drawing/2014/main" id="{71E07CBA-B47A-77EA-2069-2DFF8A637F01}"/>
              </a:ext>
            </a:extLst>
          </p:cNvPr>
          <p:cNvPicPr>
            <a:picLocks noChangeAspect="1"/>
          </p:cNvPicPr>
          <p:nvPr/>
        </p:nvPicPr>
        <p:blipFill>
          <a:blip r:embed="rId4"/>
          <a:stretch>
            <a:fillRect/>
          </a:stretch>
        </p:blipFill>
        <p:spPr>
          <a:xfrm>
            <a:off x="2619233" y="1097256"/>
            <a:ext cx="6391905" cy="5418743"/>
          </a:xfrm>
          <a:prstGeom prst="rect">
            <a:avLst/>
          </a:prstGeom>
        </p:spPr>
      </p:pic>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2702605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D668B-2570-AD54-B728-912F7A13E9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5EB3C2-B8E5-B5DD-ECAA-CB559EC904F7}"/>
              </a:ext>
            </a:extLst>
          </p:cNvPr>
          <p:cNvSpPr>
            <a:spLocks noGrp="1"/>
          </p:cNvSpPr>
          <p:nvPr>
            <p:ph type="ctrTitle"/>
          </p:nvPr>
        </p:nvSpPr>
        <p:spPr/>
        <p:txBody>
          <a:bodyPr/>
          <a:lstStyle/>
          <a:p>
            <a:r>
              <a:rPr lang="en-AU">
                <a:latin typeface="+mj-lt"/>
                <a:cs typeface="Arial"/>
              </a:rPr>
              <a:t>Review of learning  2</a:t>
            </a:r>
            <a:endParaRPr lang="en-AU">
              <a:latin typeface="+mj-lt"/>
            </a:endParaRPr>
          </a:p>
        </p:txBody>
      </p:sp>
    </p:spTree>
    <p:extLst>
      <p:ext uri="{BB962C8B-B14F-4D97-AF65-F5344CB8AC3E}">
        <p14:creationId xmlns:p14="http://schemas.microsoft.com/office/powerpoint/2010/main" val="31349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9087-8482-8C93-7654-8161E15881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D18FB72-95E4-7D60-C7EB-497F6F0C4C41}"/>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(1)</a:t>
            </a:r>
          </a:p>
        </p:txBody>
      </p:sp>
      <p:pic>
        <p:nvPicPr>
          <p:cNvPr id="4" name="Picture 3" descr="image of a finger selecting an option for a multiple choice or true and false">
            <a:extLst>
              <a:ext uri="{FF2B5EF4-FFF2-40B4-BE49-F238E27FC236}">
                <a16:creationId xmlns:a16="http://schemas.microsoft.com/office/drawing/2014/main" id="{655E7DA3-5BC4-03A6-88A8-5BE8009F98D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6">
            <a:extLst>
              <a:ext uri="{FF2B5EF4-FFF2-40B4-BE49-F238E27FC236}">
                <a16:creationId xmlns:a16="http://schemas.microsoft.com/office/drawing/2014/main" id="{A26C78AF-8B76-8BE5-6FD1-C3122BE06605}"/>
              </a:ext>
            </a:extLst>
          </p:cNvPr>
          <p:cNvSpPr>
            <a:spLocks noGrp="1"/>
          </p:cNvSpPr>
          <p:nvPr>
            <p:ph type="body" sz="quarter" idx="22"/>
          </p:nvPr>
        </p:nvSpPr>
        <p:spPr>
          <a:xfrm>
            <a:off x="504826" y="1031586"/>
            <a:ext cx="11098212" cy="4209008"/>
          </a:xfrm>
        </p:spPr>
        <p:txBody>
          <a:bodyPr vert="horz" lIns="0" tIns="0" rIns="0" bIns="0" rtlCol="0" anchor="t">
            <a:noAutofit/>
          </a:bodyPr>
          <a:lstStyle/>
          <a:p>
            <a:pPr algn="ctr"/>
            <a:r>
              <a:rPr lang="en-AU" sz="3600">
                <a:latin typeface="Arial"/>
                <a:cs typeface="Arial"/>
              </a:rPr>
              <a:t>Liam has </a:t>
            </a:r>
            <a:r>
              <a:rPr lang="en-AU" sz="3600" b="1">
                <a:latin typeface="Arial"/>
                <a:cs typeface="Arial"/>
              </a:rPr>
              <a:t>36</a:t>
            </a:r>
            <a:r>
              <a:rPr lang="en-AU" sz="3600">
                <a:latin typeface="Arial"/>
                <a:cs typeface="Arial"/>
              </a:rPr>
              <a:t> marbles and finds another </a:t>
            </a:r>
            <a:r>
              <a:rPr lang="en-AU" sz="3600" b="1">
                <a:latin typeface="Arial"/>
                <a:cs typeface="Arial"/>
              </a:rPr>
              <a:t>27</a:t>
            </a:r>
            <a:r>
              <a:rPr lang="en-AU" sz="3600">
                <a:latin typeface="Arial"/>
                <a:cs typeface="Arial"/>
              </a:rPr>
              <a:t> more marbles in his toy box. To find the total, Liam added </a:t>
            </a:r>
            <a:r>
              <a:rPr lang="en-AU" sz="3600" b="1">
                <a:latin typeface="Arial"/>
                <a:cs typeface="Arial"/>
              </a:rPr>
              <a:t>4</a:t>
            </a:r>
            <a:r>
              <a:rPr lang="en-AU" sz="3600">
                <a:latin typeface="Arial"/>
                <a:cs typeface="Arial"/>
              </a:rPr>
              <a:t> to get to </a:t>
            </a:r>
            <a:r>
              <a:rPr lang="en-AU" sz="3600" b="1">
                <a:latin typeface="Arial"/>
                <a:cs typeface="Arial"/>
              </a:rPr>
              <a:t>40</a:t>
            </a:r>
            <a:r>
              <a:rPr lang="en-AU" sz="3600">
                <a:latin typeface="Arial"/>
                <a:cs typeface="Arial"/>
              </a:rPr>
              <a:t>. Then, he added 23 more marbles to get </a:t>
            </a:r>
            <a:r>
              <a:rPr lang="en-AU" sz="3600" b="1">
                <a:latin typeface="Arial"/>
                <a:cs typeface="Arial"/>
              </a:rPr>
              <a:t>63</a:t>
            </a:r>
            <a:r>
              <a:rPr lang="en-AU" sz="3600">
                <a:latin typeface="Arial"/>
                <a:cs typeface="Arial"/>
              </a:rPr>
              <a:t>. Liam correctly used the </a:t>
            </a:r>
            <a:r>
              <a:rPr lang="en-AU" sz="3600" b="1">
                <a:latin typeface="Arial"/>
                <a:cs typeface="Arial"/>
              </a:rPr>
              <a:t>bridging the decades </a:t>
            </a:r>
            <a:r>
              <a:rPr lang="en-AU" sz="3600">
                <a:latin typeface="Arial"/>
                <a:cs typeface="Arial"/>
              </a:rPr>
              <a:t>strategy to find a total of </a:t>
            </a:r>
            <a:r>
              <a:rPr lang="en-AU" sz="3600" b="1">
                <a:latin typeface="Arial"/>
                <a:cs typeface="Arial"/>
              </a:rPr>
              <a:t>63</a:t>
            </a:r>
            <a:r>
              <a:rPr lang="en-AU" sz="3600">
                <a:latin typeface="Arial"/>
                <a:cs typeface="Arial"/>
              </a:rPr>
              <a:t> marbles. </a:t>
            </a:r>
            <a:endParaRPr lang="en-US" sz="3600"/>
          </a:p>
        </p:txBody>
      </p:sp>
      <p:graphicFrame>
        <p:nvGraphicFramePr>
          <p:cNvPr id="12" name="Table 11">
            <a:extLst>
              <a:ext uri="{FF2B5EF4-FFF2-40B4-BE49-F238E27FC236}">
                <a16:creationId xmlns:a16="http://schemas.microsoft.com/office/drawing/2014/main" id="{9FB43ECC-6198-CAD9-D35A-4745C2C73040}"/>
              </a:ext>
            </a:extLst>
          </p:cNvPr>
          <p:cNvGraphicFramePr>
            <a:graphicFrameLocks noGrp="1"/>
          </p:cNvGraphicFramePr>
          <p:nvPr>
            <p:extLst>
              <p:ext uri="{D42A27DB-BD31-4B8C-83A1-F6EECF244321}">
                <p14:modId xmlns:p14="http://schemas.microsoft.com/office/powerpoint/2010/main" val="2187848402"/>
              </p:ext>
            </p:extLst>
          </p:nvPr>
        </p:nvGraphicFramePr>
        <p:xfrm>
          <a:off x="2442981" y="5599513"/>
          <a:ext cx="7077076" cy="70104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68527CEC-B9B9-C681-7B54-933A5FB66107}"/>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409006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(5)</a:t>
            </a:r>
          </a:p>
        </p:txBody>
      </p:sp>
      <p:pic>
        <p:nvPicPr>
          <p:cNvPr id="4" name="Picture 3" descr="image of a clipboard with a pencil recording short answer responses">
            <a:extLst>
              <a:ext uri="{FF2B5EF4-FFF2-40B4-BE49-F238E27FC236}">
                <a16:creationId xmlns:a16="http://schemas.microsoft.com/office/drawing/2014/main" id="{132CE01C-F128-827F-0720-032C31FF573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88973" y="1114015"/>
            <a:ext cx="5759196" cy="5483429"/>
          </a:xfrm>
        </p:spPr>
        <p:txBody>
          <a:bodyPr/>
          <a:lstStyle/>
          <a:p>
            <a:pPr algn="ctr"/>
            <a:r>
              <a:rPr lang="en-US" sz="4400" dirty="0">
                <a:latin typeface="Arial"/>
                <a:cs typeface="Arial"/>
              </a:rPr>
              <a:t>Identify the </a:t>
            </a:r>
            <a:r>
              <a:rPr lang="en-US" sz="4400" b="1" dirty="0">
                <a:latin typeface="Arial"/>
                <a:cs typeface="Arial"/>
              </a:rPr>
              <a:t>grid location </a:t>
            </a:r>
            <a:r>
              <a:rPr lang="en-US" sz="4400" dirty="0">
                <a:latin typeface="Arial"/>
                <a:cs typeface="Arial"/>
              </a:rPr>
              <a:t>for:</a:t>
            </a:r>
          </a:p>
          <a:p>
            <a:pPr algn="ctr"/>
            <a:r>
              <a:rPr lang="en-US" sz="4400" dirty="0">
                <a:latin typeface="Arial"/>
                <a:cs typeface="Arial"/>
              </a:rPr>
              <a:t>- crab</a:t>
            </a:r>
          </a:p>
          <a:p>
            <a:pPr algn="ctr"/>
            <a:r>
              <a:rPr lang="en-US" sz="4400" dirty="0">
                <a:latin typeface="Arial"/>
                <a:cs typeface="Arial"/>
              </a:rPr>
              <a:t>- surfboard </a:t>
            </a:r>
          </a:p>
          <a:p>
            <a:pPr algn="ctr"/>
            <a:r>
              <a:rPr lang="en-US" sz="4400" dirty="0">
                <a:latin typeface="Arial"/>
                <a:cs typeface="Arial"/>
              </a:rPr>
              <a:t>- red bucket </a:t>
            </a:r>
            <a:endParaRPr lang="en-US" sz="4400" dirty="0"/>
          </a:p>
          <a:p>
            <a:endParaRPr lang="en-US" dirty="0">
              <a:latin typeface="Arial"/>
              <a:cs typeface="Arial"/>
            </a:endParaRPr>
          </a:p>
        </p:txBody>
      </p:sp>
      <p:pic>
        <p:nvPicPr>
          <p:cNvPr id="5" name="Picture 4" descr="A beach scene overlaid with a coordinate grid. The grid has letters A to J along the bottom (x-axis) and numbers 1 to 7 along the left side (y-axis). Objects in the scene include:&#10;A surfboard at B2&#10;A red starfish at F2 and F7&#10;Flip-flops at F2&#10;A red and white umbrella at H1&#10;Two children building a sandcastle at G4&#10;A red bucket at F4&#10;A green spade at G3&#10;A beach towel and large green leaves at H2–I3&#10;A red crab at G6&#10;A yellow flag at D2 and F5&#10;A lifebuoy at C5&#10;A turtle at E7&#10;A group of blue fish at A7 and B7&#10;Purple flip-flops at I4&#10;Compass rose at top right showing directions&#10;The background transitions from ocean (left) to beach (right), and includes palm leaves at the top and bottom right.">
            <a:extLst>
              <a:ext uri="{FF2B5EF4-FFF2-40B4-BE49-F238E27FC236}">
                <a16:creationId xmlns:a16="http://schemas.microsoft.com/office/drawing/2014/main" id="{E6C6BAD2-8370-9703-D2E3-D4D3D5701BF9}"/>
              </a:ext>
            </a:extLst>
          </p:cNvPr>
          <p:cNvPicPr>
            <a:picLocks noChangeAspect="1"/>
          </p:cNvPicPr>
          <p:nvPr/>
        </p:nvPicPr>
        <p:blipFill>
          <a:blip r:embed="rId4"/>
          <a:stretch>
            <a:fillRect/>
          </a:stretch>
        </p:blipFill>
        <p:spPr>
          <a:xfrm>
            <a:off x="4848520" y="1275500"/>
            <a:ext cx="6925391" cy="5151114"/>
          </a:xfrm>
          <a:prstGeom prst="rect">
            <a:avLst/>
          </a:prstGeom>
        </p:spPr>
      </p:pic>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86144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B60A-DB53-A5B7-8B1E-B76E42DF201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58F565-BC0F-A638-D187-0FE9F8DCFE2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(6)</a:t>
            </a:r>
          </a:p>
        </p:txBody>
      </p:sp>
      <p:pic>
        <p:nvPicPr>
          <p:cNvPr id="4" name="Picture 3" descr="image of a clipboard with a pencil recording short answer responses">
            <a:extLst>
              <a:ext uri="{FF2B5EF4-FFF2-40B4-BE49-F238E27FC236}">
                <a16:creationId xmlns:a16="http://schemas.microsoft.com/office/drawing/2014/main" id="{C26EDB88-E75C-9C64-B0FE-F9E4BF5A70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1FAEB63C-05D7-629C-93E0-6E9FD7090D30}"/>
              </a:ext>
            </a:extLst>
          </p:cNvPr>
          <p:cNvSpPr>
            <a:spLocks noGrp="1"/>
          </p:cNvSpPr>
          <p:nvPr>
            <p:ph type="pic" sz="quarter" idx="21"/>
          </p:nvPr>
        </p:nvSpPr>
        <p:spPr>
          <a:xfrm>
            <a:off x="246024" y="996878"/>
            <a:ext cx="11243037" cy="5699122"/>
          </a:xfrm>
        </p:spPr>
        <p:txBody>
          <a:bodyPr/>
          <a:lstStyle/>
          <a:p>
            <a:pPr algn="ctr"/>
            <a:r>
              <a:rPr lang="en-AU" sz="4000" dirty="0">
                <a:latin typeface="Arial"/>
                <a:cs typeface="Arial"/>
              </a:rPr>
              <a:t>Shape A has </a:t>
            </a:r>
            <a:r>
              <a:rPr lang="en-AU" sz="4000" b="1" dirty="0">
                <a:latin typeface="Arial"/>
                <a:cs typeface="Arial"/>
              </a:rPr>
              <a:t>4 sides</a:t>
            </a:r>
            <a:r>
              <a:rPr lang="en-AU" sz="4000" dirty="0">
                <a:latin typeface="Arial"/>
                <a:cs typeface="Arial"/>
              </a:rPr>
              <a:t>, 2 pairs are </a:t>
            </a:r>
            <a:r>
              <a:rPr lang="en-AU" sz="4000" b="1" dirty="0">
                <a:latin typeface="Arial"/>
                <a:cs typeface="Arial"/>
              </a:rPr>
              <a:t>parallel</a:t>
            </a:r>
            <a:r>
              <a:rPr lang="en-AU" sz="4000" dirty="0">
                <a:latin typeface="Arial"/>
                <a:cs typeface="Arial"/>
              </a:rPr>
              <a:t>, and </a:t>
            </a:r>
            <a:r>
              <a:rPr lang="en-AU" sz="4000" b="1" dirty="0">
                <a:latin typeface="Arial"/>
                <a:cs typeface="Arial"/>
              </a:rPr>
              <a:t>all</a:t>
            </a:r>
            <a:r>
              <a:rPr lang="en-AU" sz="4000" dirty="0">
                <a:latin typeface="Arial"/>
                <a:cs typeface="Arial"/>
              </a:rPr>
              <a:t> angles are </a:t>
            </a:r>
            <a:r>
              <a:rPr lang="en-AU" sz="4000" b="1" dirty="0">
                <a:latin typeface="Arial"/>
                <a:cs typeface="Arial"/>
              </a:rPr>
              <a:t>right angles</a:t>
            </a:r>
            <a:r>
              <a:rPr lang="en-AU" sz="4000" dirty="0">
                <a:latin typeface="Arial"/>
                <a:cs typeface="Arial"/>
              </a:rPr>
              <a:t>.</a:t>
            </a:r>
            <a:endParaRPr lang="en-AU" sz="2800" dirty="0">
              <a:latin typeface="Arial"/>
              <a:cs typeface="Arial"/>
            </a:endParaRPr>
          </a:p>
          <a:p>
            <a:pPr algn="ctr"/>
            <a:r>
              <a:rPr lang="en-AU" sz="4000" dirty="0">
                <a:latin typeface="Arial"/>
                <a:cs typeface="Arial"/>
              </a:rPr>
              <a:t>Shape B has </a:t>
            </a:r>
            <a:r>
              <a:rPr lang="en-AU" sz="4000" b="1" dirty="0">
                <a:latin typeface="Arial"/>
                <a:cs typeface="Arial"/>
              </a:rPr>
              <a:t>4 sides</a:t>
            </a:r>
            <a:r>
              <a:rPr lang="en-AU" sz="4000" dirty="0">
                <a:latin typeface="Arial"/>
                <a:cs typeface="Arial"/>
              </a:rPr>
              <a:t>, 2 pairs are </a:t>
            </a:r>
            <a:r>
              <a:rPr lang="en-AU" sz="4000" b="1" dirty="0">
                <a:latin typeface="Arial"/>
                <a:cs typeface="Arial"/>
              </a:rPr>
              <a:t>parallel</a:t>
            </a:r>
            <a:r>
              <a:rPr lang="en-AU" sz="4000" dirty="0">
                <a:latin typeface="Arial"/>
                <a:cs typeface="Arial"/>
              </a:rPr>
              <a:t>, but it </a:t>
            </a:r>
            <a:r>
              <a:rPr lang="en-AU" sz="4000" b="1" dirty="0">
                <a:latin typeface="Arial"/>
                <a:cs typeface="Arial"/>
              </a:rPr>
              <a:t>does not </a:t>
            </a:r>
            <a:r>
              <a:rPr lang="en-AU" sz="4000" dirty="0">
                <a:latin typeface="Arial"/>
                <a:cs typeface="Arial"/>
              </a:rPr>
              <a:t>have any </a:t>
            </a:r>
            <a:r>
              <a:rPr lang="en-AU" sz="4000" b="1" dirty="0">
                <a:latin typeface="Arial"/>
                <a:cs typeface="Arial"/>
              </a:rPr>
              <a:t>right angles</a:t>
            </a:r>
            <a:r>
              <a:rPr lang="en-AU" sz="4000" dirty="0">
                <a:latin typeface="Arial"/>
                <a:cs typeface="Arial"/>
              </a:rPr>
              <a:t>.</a:t>
            </a:r>
          </a:p>
          <a:p>
            <a:pPr algn="ctr"/>
            <a:r>
              <a:rPr lang="en-AU" sz="4000" dirty="0">
                <a:latin typeface="Arial"/>
                <a:cs typeface="Arial"/>
              </a:rPr>
              <a:t>Name the 2 shapes and identify  how are they different.</a:t>
            </a:r>
            <a:endParaRPr lang="en-US" sz="4000" dirty="0">
              <a:latin typeface="Arial"/>
              <a:cs typeface="Arial"/>
            </a:endParaRPr>
          </a:p>
        </p:txBody>
      </p:sp>
      <p:sp>
        <p:nvSpPr>
          <p:cNvPr id="2" name="Slide Number Placeholder 1">
            <a:extLst>
              <a:ext uri="{FF2B5EF4-FFF2-40B4-BE49-F238E27FC236}">
                <a16:creationId xmlns:a16="http://schemas.microsoft.com/office/drawing/2014/main" id="{F8C3A20D-F8A7-870F-024C-C73BED4F0723}"/>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420651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66E2-F0C5-5138-CAEC-E3751681CC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7207C71-565C-F655-DA13-564DFCF88FF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(7)</a:t>
            </a:r>
          </a:p>
        </p:txBody>
      </p:sp>
      <p:pic>
        <p:nvPicPr>
          <p:cNvPr id="4" name="Picture 3" descr="image of a clipboard with a pencil recording short answer responses">
            <a:extLst>
              <a:ext uri="{FF2B5EF4-FFF2-40B4-BE49-F238E27FC236}">
                <a16:creationId xmlns:a16="http://schemas.microsoft.com/office/drawing/2014/main" id="{D740BC3B-2A7E-9512-84CA-DEBB92EFECD0}"/>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9" name="Picture 8" descr="A vertical bar graph with seven dark blue bars. The bars decrease in height from left to right, then alternate between lower and slightly higher bars. The graph has a white background with faint horizontal gridlines and a thin black border, but no visible labels, axis titles, or category names.">
            <a:extLst>
              <a:ext uri="{FF2B5EF4-FFF2-40B4-BE49-F238E27FC236}">
                <a16:creationId xmlns:a16="http://schemas.microsoft.com/office/drawing/2014/main" id="{B7B7B8D5-E51E-2A90-64D3-92B7A428C779}"/>
              </a:ext>
            </a:extLst>
          </p:cNvPr>
          <p:cNvPicPr>
            <a:picLocks noChangeAspect="1"/>
          </p:cNvPicPr>
          <p:nvPr/>
        </p:nvPicPr>
        <p:blipFill>
          <a:blip r:embed="rId4"/>
          <a:stretch>
            <a:fillRect/>
          </a:stretch>
        </p:blipFill>
        <p:spPr>
          <a:xfrm>
            <a:off x="453439" y="1432969"/>
            <a:ext cx="5303913" cy="3735249"/>
          </a:xfrm>
          <a:prstGeom prst="rect">
            <a:avLst/>
          </a:prstGeom>
        </p:spPr>
      </p:pic>
      <p:sp>
        <p:nvSpPr>
          <p:cNvPr id="11" name="Picture Placeholder 10">
            <a:extLst>
              <a:ext uri="{FF2B5EF4-FFF2-40B4-BE49-F238E27FC236}">
                <a16:creationId xmlns:a16="http://schemas.microsoft.com/office/drawing/2014/main" id="{E83C9D2F-076B-25AC-741C-C56ACEF8B118}"/>
              </a:ext>
            </a:extLst>
          </p:cNvPr>
          <p:cNvSpPr>
            <a:spLocks noGrp="1"/>
          </p:cNvSpPr>
          <p:nvPr>
            <p:ph type="pic" sz="quarter" idx="21"/>
          </p:nvPr>
        </p:nvSpPr>
        <p:spPr>
          <a:xfrm>
            <a:off x="6319508" y="1432969"/>
            <a:ext cx="4565276" cy="3056398"/>
          </a:xfrm>
        </p:spPr>
        <p:txBody>
          <a:bodyPr/>
          <a:lstStyle/>
          <a:p>
            <a:pPr algn="ctr"/>
            <a:r>
              <a:rPr lang="en-US" sz="4400">
                <a:latin typeface="Arial"/>
                <a:cs typeface="Arial"/>
              </a:rPr>
              <a:t>What </a:t>
            </a:r>
            <a:r>
              <a:rPr lang="en-US" sz="4400" b="1">
                <a:latin typeface="Arial"/>
                <a:cs typeface="Arial"/>
              </a:rPr>
              <a:t>features</a:t>
            </a:r>
            <a:r>
              <a:rPr lang="en-US" sz="4400">
                <a:latin typeface="Arial"/>
                <a:cs typeface="Arial"/>
              </a:rPr>
              <a:t> are </a:t>
            </a:r>
            <a:r>
              <a:rPr lang="en-US" sz="4400" b="1">
                <a:latin typeface="Arial"/>
                <a:cs typeface="Arial"/>
              </a:rPr>
              <a:t>missing</a:t>
            </a:r>
            <a:r>
              <a:rPr lang="en-US" sz="4400">
                <a:latin typeface="Arial"/>
                <a:cs typeface="Arial"/>
              </a:rPr>
              <a:t> from this graph? </a:t>
            </a:r>
          </a:p>
          <a:p>
            <a:endParaRPr lang="en-US">
              <a:latin typeface="Arial"/>
              <a:cs typeface="Arial"/>
            </a:endParaRPr>
          </a:p>
        </p:txBody>
      </p:sp>
      <p:sp>
        <p:nvSpPr>
          <p:cNvPr id="2" name="Slide Number Placeholder 1">
            <a:extLst>
              <a:ext uri="{FF2B5EF4-FFF2-40B4-BE49-F238E27FC236}">
                <a16:creationId xmlns:a16="http://schemas.microsoft.com/office/drawing/2014/main" id="{865C0EE6-AA77-F601-9124-C2AB88FE1BA4}"/>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09800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54AA-2C66-0C25-B9E8-7186573B43F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65DAF2-1A41-F192-2D01-F9D2CDB43416}"/>
              </a:ext>
            </a:extLst>
          </p:cNvPr>
          <p:cNvSpPr>
            <a:spLocks noGrp="1"/>
          </p:cNvSpPr>
          <p:nvPr>
            <p:ph type="title"/>
          </p:nvPr>
        </p:nvSpPr>
        <p:spPr>
          <a:xfrm>
            <a:off x="360000" y="360000"/>
            <a:ext cx="11243038" cy="545601"/>
          </a:xfrm>
        </p:spPr>
        <p:txBody>
          <a:bodyPr/>
          <a:lstStyle/>
          <a:p>
            <a:r>
              <a:rPr lang="en-US">
                <a:latin typeface="Arial"/>
                <a:cs typeface="Arial"/>
              </a:rPr>
              <a:t>Short response</a:t>
            </a:r>
            <a:r>
              <a:rPr lang="en-US">
                <a:solidFill>
                  <a:schemeClr val="bg1"/>
                </a:solidFill>
                <a:latin typeface="Arial"/>
                <a:cs typeface="Arial"/>
              </a:rPr>
              <a:t> (8)</a:t>
            </a:r>
          </a:p>
        </p:txBody>
      </p:sp>
      <p:pic>
        <p:nvPicPr>
          <p:cNvPr id="5" name="Picture 4" descr="image of a clipboard with a pencil recording short answer responses">
            <a:extLst>
              <a:ext uri="{FF2B5EF4-FFF2-40B4-BE49-F238E27FC236}">
                <a16:creationId xmlns:a16="http://schemas.microsoft.com/office/drawing/2014/main" id="{3BEDD50C-91A1-3FFB-CBDD-0B6084F047AB}"/>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2" name="TextBox 21">
            <a:extLst>
              <a:ext uri="{FF2B5EF4-FFF2-40B4-BE49-F238E27FC236}">
                <a16:creationId xmlns:a16="http://schemas.microsoft.com/office/drawing/2014/main" id="{727D2B61-636D-6FB4-B1E7-C0C9F4AB95E4}"/>
              </a:ext>
            </a:extLst>
          </p:cNvPr>
          <p:cNvSpPr txBox="1"/>
          <p:nvPr/>
        </p:nvSpPr>
        <p:spPr>
          <a:xfrm>
            <a:off x="418971" y="1213008"/>
            <a:ext cx="10505251" cy="1446550"/>
          </a:xfrm>
          <a:prstGeom prst="rect">
            <a:avLst/>
          </a:prstGeom>
          <a:noFill/>
        </p:spPr>
        <p:txBody>
          <a:bodyPr wrap="square">
            <a:spAutoFit/>
          </a:bodyPr>
          <a:lstStyle/>
          <a:p>
            <a:pPr algn="ctr"/>
            <a:r>
              <a:rPr lang="en-AU" sz="4400"/>
              <a:t>Which </a:t>
            </a:r>
            <a:r>
              <a:rPr lang="en-AU" sz="4400" b="1"/>
              <a:t>quadrilateral</a:t>
            </a:r>
            <a:r>
              <a:rPr lang="en-AU" sz="4400"/>
              <a:t> does </a:t>
            </a:r>
            <a:r>
              <a:rPr lang="en-AU" sz="4400" b="1"/>
              <a:t>not</a:t>
            </a:r>
            <a:r>
              <a:rPr lang="en-AU" sz="4400"/>
              <a:t> have a line of symmetry?</a:t>
            </a:r>
          </a:p>
        </p:txBody>
      </p:sp>
      <p:pic>
        <p:nvPicPr>
          <p:cNvPr id="26" name="Picture 25" descr="An image displaying four coloured quadrilaterals in a row:&#10;A green kite&#10;A blue trapezium&#10;A purple square&#10;A pink parallelogram">
            <a:extLst>
              <a:ext uri="{FF2B5EF4-FFF2-40B4-BE49-F238E27FC236}">
                <a16:creationId xmlns:a16="http://schemas.microsoft.com/office/drawing/2014/main" id="{7837AB60-D951-A915-3E84-F6B9E3C20441}"/>
              </a:ext>
            </a:extLst>
          </p:cNvPr>
          <p:cNvPicPr>
            <a:picLocks noChangeAspect="1"/>
          </p:cNvPicPr>
          <p:nvPr/>
        </p:nvPicPr>
        <p:blipFill>
          <a:blip r:embed="rId4"/>
          <a:stretch>
            <a:fillRect/>
          </a:stretch>
        </p:blipFill>
        <p:spPr>
          <a:xfrm>
            <a:off x="1038887" y="2668418"/>
            <a:ext cx="10114226" cy="2476627"/>
          </a:xfrm>
          <a:prstGeom prst="rect">
            <a:avLst/>
          </a:prstGeom>
        </p:spPr>
      </p:pic>
      <p:sp>
        <p:nvSpPr>
          <p:cNvPr id="29" name="TextBox 28">
            <a:extLst>
              <a:ext uri="{FF2B5EF4-FFF2-40B4-BE49-F238E27FC236}">
                <a16:creationId xmlns:a16="http://schemas.microsoft.com/office/drawing/2014/main" id="{35B30BE1-FBB0-E52E-77F7-C06234E350E3}"/>
              </a:ext>
            </a:extLst>
          </p:cNvPr>
          <p:cNvSpPr txBox="1"/>
          <p:nvPr/>
        </p:nvSpPr>
        <p:spPr>
          <a:xfrm>
            <a:off x="348000" y="5277016"/>
            <a:ext cx="11775174" cy="1446550"/>
          </a:xfrm>
          <a:prstGeom prst="rect">
            <a:avLst/>
          </a:prstGeom>
          <a:noFill/>
        </p:spPr>
        <p:txBody>
          <a:bodyPr wrap="square">
            <a:spAutoFit/>
          </a:bodyPr>
          <a:lstStyle/>
          <a:p>
            <a:pPr algn="ctr"/>
            <a:r>
              <a:rPr lang="en-AU" sz="4400" b="1"/>
              <a:t>Explain</a:t>
            </a:r>
            <a:r>
              <a:rPr lang="en-AU" sz="4400"/>
              <a:t> why it does </a:t>
            </a:r>
            <a:r>
              <a:rPr lang="en-AU" sz="4400" b="1"/>
              <a:t>not</a:t>
            </a:r>
            <a:r>
              <a:rPr lang="en-AU" sz="4400"/>
              <a:t> have a line of symmetry.</a:t>
            </a:r>
          </a:p>
        </p:txBody>
      </p:sp>
      <p:sp>
        <p:nvSpPr>
          <p:cNvPr id="2" name="Slide Number Placeholder 1">
            <a:extLst>
              <a:ext uri="{FF2B5EF4-FFF2-40B4-BE49-F238E27FC236}">
                <a16:creationId xmlns:a16="http://schemas.microsoft.com/office/drawing/2014/main" id="{8D3FEC2D-FBC9-6ADC-655C-61AE188BF640}"/>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16</a:t>
            </a:fld>
            <a:endParaRPr lang="en-AU"/>
          </a:p>
        </p:txBody>
      </p:sp>
    </p:spTree>
    <p:extLst>
      <p:ext uri="{BB962C8B-B14F-4D97-AF65-F5344CB8AC3E}">
        <p14:creationId xmlns:p14="http://schemas.microsoft.com/office/powerpoint/2010/main" val="392391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2 – apply known mental strategies to add and subtract</a:t>
            </a:r>
          </a:p>
        </p:txBody>
      </p:sp>
      <p:pic>
        <p:nvPicPr>
          <p:cNvPr id="5" name="Picture 4" descr="image of a head with cogs turning inside">
            <a:extLst>
              <a:ext uri="{FF2B5EF4-FFF2-40B4-BE49-F238E27FC236}">
                <a16:creationId xmlns:a16="http://schemas.microsoft.com/office/drawing/2014/main" id="{BEBFB52C-2919-BE32-9EB9-3F3347AD63B4}"/>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6" name="Picture 5" descr="Five playing cards are displayed: the Jack of Diamonds, Queen of Hearts, King of Clubs, Four of Diamonds, and Ten of Spades.">
            <a:extLst>
              <a:ext uri="{FF2B5EF4-FFF2-40B4-BE49-F238E27FC236}">
                <a16:creationId xmlns:a16="http://schemas.microsoft.com/office/drawing/2014/main" id="{0E66CD96-CA45-34BF-0C1B-30790C2D7063}"/>
              </a:ext>
            </a:extLst>
          </p:cNvPr>
          <p:cNvPicPr>
            <a:picLocks noChangeAspect="1"/>
          </p:cNvPicPr>
          <p:nvPr/>
        </p:nvPicPr>
        <p:blipFill>
          <a:blip r:embed="rId4"/>
          <a:stretch>
            <a:fillRect/>
          </a:stretch>
        </p:blipFill>
        <p:spPr>
          <a:xfrm>
            <a:off x="2809733" y="1277257"/>
            <a:ext cx="6391905" cy="5418743"/>
          </a:xfrm>
          <a:prstGeom prst="rect">
            <a:avLst/>
          </a:prstGeom>
        </p:spPr>
      </p:pic>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972997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9F5E-9F20-A840-C8DD-9ED062B9C6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C29BB1-E8E0-F23D-E9E0-8AB0443FBBAF}"/>
              </a:ext>
            </a:extLst>
          </p:cNvPr>
          <p:cNvSpPr>
            <a:spLocks noGrp="1"/>
          </p:cNvSpPr>
          <p:nvPr>
            <p:ph type="ctrTitle"/>
          </p:nvPr>
        </p:nvSpPr>
        <p:spPr/>
        <p:txBody>
          <a:bodyPr/>
          <a:lstStyle/>
          <a:p>
            <a:r>
              <a:rPr lang="en-AU">
                <a:latin typeface="+mj-lt"/>
                <a:cs typeface="Arial"/>
              </a:rPr>
              <a:t>Review of learning 3</a:t>
            </a:r>
            <a:endParaRPr lang="en-AU">
              <a:latin typeface="+mj-lt"/>
            </a:endParaRPr>
          </a:p>
        </p:txBody>
      </p:sp>
    </p:spTree>
    <p:extLst>
      <p:ext uri="{BB962C8B-B14F-4D97-AF65-F5344CB8AC3E}">
        <p14:creationId xmlns:p14="http://schemas.microsoft.com/office/powerpoint/2010/main" val="12264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61B1-6A34-35AF-C8F8-98FFF9B6C75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237A4AD-5902-0B45-1C0F-CD463740134A}"/>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(2)</a:t>
            </a:r>
            <a:r>
              <a:rPr lang="en-US">
                <a:latin typeface="Arial"/>
                <a:cs typeface="Arial"/>
              </a:rPr>
              <a:t> </a:t>
            </a:r>
            <a:endParaRPr lang="en-US">
              <a:solidFill>
                <a:schemeClr val="bg1"/>
              </a:solidFill>
              <a:latin typeface="Arial"/>
              <a:cs typeface="Arial"/>
            </a:endParaRPr>
          </a:p>
        </p:txBody>
      </p:sp>
      <p:pic>
        <p:nvPicPr>
          <p:cNvPr id="17" name="Picture 16" descr="image of a finger selecting an option for a multiple choice or true and false">
            <a:extLst>
              <a:ext uri="{FF2B5EF4-FFF2-40B4-BE49-F238E27FC236}">
                <a16:creationId xmlns:a16="http://schemas.microsoft.com/office/drawing/2014/main" id="{E2BDE449-3DCA-653F-E490-6D7A3736BB5C}"/>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56364F73-E229-E283-75C8-9CCFC763AB34}"/>
              </a:ext>
            </a:extLst>
          </p:cNvPr>
          <p:cNvSpPr>
            <a:spLocks noGrp="1"/>
          </p:cNvSpPr>
          <p:nvPr>
            <p:ph type="body" sz="quarter" idx="24"/>
          </p:nvPr>
        </p:nvSpPr>
        <p:spPr>
          <a:xfrm>
            <a:off x="360000" y="905601"/>
            <a:ext cx="11249133" cy="2828987"/>
          </a:xfrm>
        </p:spPr>
        <p:txBody>
          <a:bodyPr vert="horz" lIns="0" tIns="0" rIns="0" bIns="0" rtlCol="0" anchor="t">
            <a:noAutofit/>
          </a:bodyPr>
          <a:lstStyle/>
          <a:p>
            <a:pPr algn="ctr"/>
            <a:r>
              <a:rPr lang="en-AU" sz="4400" dirty="0">
                <a:latin typeface="Arial"/>
                <a:cs typeface="Arial"/>
              </a:rPr>
              <a:t>Use a number line to show</a:t>
            </a:r>
          </a:p>
          <a:p>
            <a:pPr algn="ctr"/>
            <a:r>
              <a:rPr lang="en-AU" sz="4400" dirty="0">
                <a:latin typeface="Arial"/>
                <a:cs typeface="Arial"/>
              </a:rPr>
              <a:t>67 + 86  = </a:t>
            </a:r>
          </a:p>
          <a:p>
            <a:pPr algn="ctr"/>
            <a:r>
              <a:rPr lang="en-AU" sz="4400" dirty="0">
                <a:latin typeface="Arial"/>
                <a:cs typeface="Arial"/>
              </a:rPr>
              <a:t>Select the correct answer. </a:t>
            </a:r>
            <a:endParaRPr lang="en-US" sz="2000" dirty="0"/>
          </a:p>
        </p:txBody>
      </p:sp>
      <p:graphicFrame>
        <p:nvGraphicFramePr>
          <p:cNvPr id="7" name="Table 6">
            <a:extLst>
              <a:ext uri="{FF2B5EF4-FFF2-40B4-BE49-F238E27FC236}">
                <a16:creationId xmlns:a16="http://schemas.microsoft.com/office/drawing/2014/main" id="{D0D37505-C50A-E6B5-3A37-A9BF025A532A}"/>
              </a:ext>
            </a:extLst>
          </p:cNvPr>
          <p:cNvGraphicFramePr>
            <a:graphicFrameLocks noGrp="1"/>
          </p:cNvGraphicFramePr>
          <p:nvPr>
            <p:extLst>
              <p:ext uri="{D42A27DB-BD31-4B8C-83A1-F6EECF244321}">
                <p14:modId xmlns:p14="http://schemas.microsoft.com/office/powerpoint/2010/main" val="2672741228"/>
              </p:ext>
            </p:extLst>
          </p:nvPr>
        </p:nvGraphicFramePr>
        <p:xfrm>
          <a:off x="572708" y="4713582"/>
          <a:ext cx="10551292" cy="15240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4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4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4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4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400" dirty="0"/>
                        <a:t>153</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400" dirty="0">
                          <a:latin typeface="+mn-lt"/>
                          <a:cs typeface="Arial"/>
                        </a:rPr>
                        <a:t>160</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400" dirty="0">
                          <a:latin typeface="+mn-lt"/>
                          <a:cs typeface="Arial"/>
                        </a:rPr>
                        <a:t>157</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400" dirty="0">
                          <a:latin typeface="+mn-lt"/>
                          <a:cs typeface="Arial"/>
                        </a:rPr>
                        <a:t>178</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
        <p:nvSpPr>
          <p:cNvPr id="2" name="Slide Number Placeholder 1">
            <a:extLst>
              <a:ext uri="{FF2B5EF4-FFF2-40B4-BE49-F238E27FC236}">
                <a16:creationId xmlns:a16="http://schemas.microsoft.com/office/drawing/2014/main" id="{A3EE77A7-FE1B-9394-E3D8-9905BF492C48}"/>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561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(9)</a:t>
            </a:r>
          </a:p>
        </p:txBody>
      </p:sp>
      <p:pic>
        <p:nvPicPr>
          <p:cNvPr id="4" name="Picture 3" descr="image of a clipboard with a pencil recording short answer responses">
            <a:extLst>
              <a:ext uri="{FF2B5EF4-FFF2-40B4-BE49-F238E27FC236}">
                <a16:creationId xmlns:a16="http://schemas.microsoft.com/office/drawing/2014/main" id="{A7928AD0-FB0D-320D-A01E-AB930E8E6C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615793BF-4D97-0D6A-FB17-D26939AF18A8}"/>
              </a:ext>
            </a:extLst>
          </p:cNvPr>
          <p:cNvSpPr>
            <a:spLocks noGrp="1"/>
          </p:cNvSpPr>
          <p:nvPr>
            <p:ph type="pic" sz="quarter" idx="21"/>
          </p:nvPr>
        </p:nvSpPr>
        <p:spPr>
          <a:xfrm>
            <a:off x="738371" y="1925904"/>
            <a:ext cx="10715257" cy="3988432"/>
          </a:xfrm>
        </p:spPr>
        <p:txBody>
          <a:bodyPr/>
          <a:lstStyle/>
          <a:p>
            <a:pPr algn="ctr"/>
            <a:r>
              <a:rPr lang="en-AU" sz="4400">
                <a:latin typeface="Arial"/>
                <a:cs typeface="Arial"/>
              </a:rPr>
              <a:t>Record the </a:t>
            </a:r>
            <a:r>
              <a:rPr lang="en-AU" sz="4400" b="1">
                <a:latin typeface="Arial"/>
                <a:cs typeface="Arial"/>
              </a:rPr>
              <a:t>different combinations </a:t>
            </a:r>
            <a:r>
              <a:rPr lang="en-AU" sz="4400">
                <a:latin typeface="Arial"/>
                <a:cs typeface="Arial"/>
              </a:rPr>
              <a:t>of coins that can be used to make a </a:t>
            </a:r>
            <a:r>
              <a:rPr lang="en-AU" sz="4400" b="1">
                <a:latin typeface="Arial"/>
                <a:cs typeface="Arial"/>
              </a:rPr>
              <a:t>total</a:t>
            </a:r>
            <a:r>
              <a:rPr lang="en-AU" sz="4400">
                <a:latin typeface="Arial"/>
                <a:cs typeface="Arial"/>
              </a:rPr>
              <a:t> of $2.60</a:t>
            </a:r>
            <a:endParaRPr lang="en-US" sz="4400">
              <a:latin typeface="Arial"/>
              <a:cs typeface="Arial"/>
            </a:endParaRPr>
          </a:p>
        </p:txBody>
      </p:sp>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D7D5-E3D8-3EA4-002E-040D80D173B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CC67C6-6231-F53A-D387-99ECE9B2DACA}"/>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(10)</a:t>
            </a:r>
          </a:p>
        </p:txBody>
      </p:sp>
      <p:pic>
        <p:nvPicPr>
          <p:cNvPr id="4" name="Picture 3" descr="image of a clipboard with a pencil recording short answer responses">
            <a:extLst>
              <a:ext uri="{FF2B5EF4-FFF2-40B4-BE49-F238E27FC236}">
                <a16:creationId xmlns:a16="http://schemas.microsoft.com/office/drawing/2014/main" id="{3E03FFC0-6E0A-A05F-B9DA-60172F35794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TextBox 5">
            <a:extLst>
              <a:ext uri="{FF2B5EF4-FFF2-40B4-BE49-F238E27FC236}">
                <a16:creationId xmlns:a16="http://schemas.microsoft.com/office/drawing/2014/main" id="{630B5D9C-962C-EEA8-5772-1BC9459EF494}"/>
              </a:ext>
            </a:extLst>
          </p:cNvPr>
          <p:cNvSpPr txBox="1"/>
          <p:nvPr/>
        </p:nvSpPr>
        <p:spPr>
          <a:xfrm>
            <a:off x="530942" y="1288619"/>
            <a:ext cx="11243037" cy="1446550"/>
          </a:xfrm>
          <a:prstGeom prst="rect">
            <a:avLst/>
          </a:prstGeom>
          <a:noFill/>
        </p:spPr>
        <p:txBody>
          <a:bodyPr wrap="square">
            <a:spAutoFit/>
          </a:bodyPr>
          <a:lstStyle/>
          <a:p>
            <a:pPr algn="ctr"/>
            <a:r>
              <a:rPr lang="en-AU" sz="4400"/>
              <a:t>Identify which </a:t>
            </a:r>
            <a:r>
              <a:rPr lang="en-AU" sz="4400" b="1"/>
              <a:t>two-dimensional shape </a:t>
            </a:r>
            <a:r>
              <a:rPr lang="en-AU" sz="4400"/>
              <a:t>doesn’t belong. </a:t>
            </a:r>
          </a:p>
        </p:txBody>
      </p:sp>
      <p:sp>
        <p:nvSpPr>
          <p:cNvPr id="11" name="Picture Placeholder 10">
            <a:extLst>
              <a:ext uri="{FF2B5EF4-FFF2-40B4-BE49-F238E27FC236}">
                <a16:creationId xmlns:a16="http://schemas.microsoft.com/office/drawing/2014/main" id="{D0E0EC4F-A97F-1AC0-49C2-238243DB79CE}"/>
              </a:ext>
            </a:extLst>
          </p:cNvPr>
          <p:cNvSpPr>
            <a:spLocks noGrp="1"/>
          </p:cNvSpPr>
          <p:nvPr>
            <p:ph type="pic" sz="quarter" idx="21"/>
          </p:nvPr>
        </p:nvSpPr>
        <p:spPr>
          <a:xfrm>
            <a:off x="246024" y="2871966"/>
            <a:ext cx="11699951" cy="1110343"/>
          </a:xfrm>
        </p:spPr>
        <p:txBody>
          <a:bodyPr/>
          <a:lstStyle/>
          <a:p>
            <a:r>
              <a:rPr lang="en-AU" sz="4400" b="1"/>
              <a:t>parallelogram</a:t>
            </a:r>
            <a:r>
              <a:rPr lang="en-AU" sz="4400"/>
              <a:t>   </a:t>
            </a:r>
            <a:r>
              <a:rPr lang="en-AU" sz="4400" b="1"/>
              <a:t>kite</a:t>
            </a:r>
            <a:r>
              <a:rPr lang="en-AU" sz="4400"/>
              <a:t>   </a:t>
            </a:r>
            <a:r>
              <a:rPr lang="en-AU" sz="4400" b="1"/>
              <a:t>rhombus</a:t>
            </a:r>
            <a:r>
              <a:rPr lang="en-AU" sz="4400"/>
              <a:t>   </a:t>
            </a:r>
            <a:r>
              <a:rPr lang="en-AU" sz="4400" b="1"/>
              <a:t>trapezium</a:t>
            </a:r>
            <a:endParaRPr lang="en-AU" sz="4400"/>
          </a:p>
          <a:p>
            <a:endParaRPr lang="en-US">
              <a:latin typeface="Arial"/>
              <a:cs typeface="Arial"/>
            </a:endParaRPr>
          </a:p>
        </p:txBody>
      </p:sp>
      <p:sp>
        <p:nvSpPr>
          <p:cNvPr id="8" name="TextBox 7">
            <a:extLst>
              <a:ext uri="{FF2B5EF4-FFF2-40B4-BE49-F238E27FC236}">
                <a16:creationId xmlns:a16="http://schemas.microsoft.com/office/drawing/2014/main" id="{AAE89A36-CCE7-E74E-5ED9-4FC0F6C799EB}"/>
              </a:ext>
            </a:extLst>
          </p:cNvPr>
          <p:cNvSpPr txBox="1"/>
          <p:nvPr/>
        </p:nvSpPr>
        <p:spPr>
          <a:xfrm>
            <a:off x="960483" y="4748345"/>
            <a:ext cx="10042071" cy="1446550"/>
          </a:xfrm>
          <a:prstGeom prst="rect">
            <a:avLst/>
          </a:prstGeom>
          <a:noFill/>
        </p:spPr>
        <p:txBody>
          <a:bodyPr wrap="square">
            <a:spAutoFit/>
          </a:bodyPr>
          <a:lstStyle/>
          <a:p>
            <a:pPr algn="ctr"/>
            <a:r>
              <a:rPr lang="en-AU" sz="4400" dirty="0"/>
              <a:t>Explain your reasoning, describing the features of each shape.</a:t>
            </a:r>
          </a:p>
        </p:txBody>
      </p:sp>
      <p:sp>
        <p:nvSpPr>
          <p:cNvPr id="2" name="Slide Number Placeholder 1">
            <a:extLst>
              <a:ext uri="{FF2B5EF4-FFF2-40B4-BE49-F238E27FC236}">
                <a16:creationId xmlns:a16="http://schemas.microsoft.com/office/drawing/2014/main" id="{82D34442-A9BE-0442-A29E-FA970CD892F8}"/>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144667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BD45-44FF-11A5-FE27-5FEEB2BCBA9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18A579-B085-1F5A-BA99-7348214BE8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(11)</a:t>
            </a:r>
          </a:p>
        </p:txBody>
      </p:sp>
      <p:pic>
        <p:nvPicPr>
          <p:cNvPr id="4" name="Picture 3" descr="image of a clipboard with a pencil recording short answer responses">
            <a:extLst>
              <a:ext uri="{FF2B5EF4-FFF2-40B4-BE49-F238E27FC236}">
                <a16:creationId xmlns:a16="http://schemas.microsoft.com/office/drawing/2014/main" id="{C3B14898-BBF9-1AEA-328E-B3919ABCA8C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BA99C24B-2D22-028D-AEA8-8D8B48CB4938}"/>
              </a:ext>
            </a:extLst>
          </p:cNvPr>
          <p:cNvSpPr>
            <a:spLocks noGrp="1"/>
          </p:cNvSpPr>
          <p:nvPr>
            <p:ph type="pic" sz="quarter" idx="21"/>
          </p:nvPr>
        </p:nvSpPr>
        <p:spPr>
          <a:xfrm>
            <a:off x="1157378" y="874927"/>
            <a:ext cx="10048876" cy="801145"/>
          </a:xfrm>
        </p:spPr>
        <p:txBody>
          <a:bodyPr/>
          <a:lstStyle/>
          <a:p>
            <a:pPr algn="ctr"/>
            <a:r>
              <a:rPr lang="en-US" sz="4000">
                <a:latin typeface="Arial"/>
                <a:cs typeface="Arial"/>
              </a:rPr>
              <a:t>What information is missing from the graph? </a:t>
            </a:r>
            <a:endParaRPr lang="en-US" sz="4000"/>
          </a:p>
          <a:p>
            <a:endParaRPr lang="en-US" sz="2000">
              <a:latin typeface="Arial"/>
              <a:cs typeface="Arial"/>
            </a:endParaRPr>
          </a:p>
        </p:txBody>
      </p:sp>
      <p:pic>
        <p:nvPicPr>
          <p:cNvPr id="22" name="Picture 21" descr="A tally table titled with fruit names and corresponding tally marks showing the number of votes each fruit received. The data is as follows:&#10;Watermelon: 6 votes&#10;Strawberries: 8 votes&#10;Bananas: 5 votes&#10;Apples: 4 votes&#10;Oranges: 3 votes&#10;Blueberries: 4 votes&#10;Pears: 3 votes">
            <a:extLst>
              <a:ext uri="{FF2B5EF4-FFF2-40B4-BE49-F238E27FC236}">
                <a16:creationId xmlns:a16="http://schemas.microsoft.com/office/drawing/2014/main" id="{98FC8D9C-92F8-05E5-3611-D86325F8CC8D}"/>
              </a:ext>
            </a:extLst>
          </p:cNvPr>
          <p:cNvPicPr>
            <a:picLocks noChangeAspect="1"/>
          </p:cNvPicPr>
          <p:nvPr/>
        </p:nvPicPr>
        <p:blipFill>
          <a:blip r:embed="rId4"/>
          <a:stretch>
            <a:fillRect/>
          </a:stretch>
        </p:blipFill>
        <p:spPr>
          <a:xfrm>
            <a:off x="1066158" y="1884376"/>
            <a:ext cx="3248614" cy="4545271"/>
          </a:xfrm>
          <a:prstGeom prst="rect">
            <a:avLst/>
          </a:prstGeom>
        </p:spPr>
      </p:pic>
      <p:pic>
        <p:nvPicPr>
          <p:cNvPr id="21" name="Picture 20" descr="A vertical bar graph comparing the number of votes for different fruits. The graph shows:&#10;Watermelon: 6 votes&#10;Strawberries: 7 votes&#10;Bananas: 5 votes&#10;Oranges: 3 votes&#10;Blueberries: 4 votes&#10;The y-axis is numbered from 0 to 8, representing the number of votes, and the x-axis lists the fruit names">
            <a:extLst>
              <a:ext uri="{FF2B5EF4-FFF2-40B4-BE49-F238E27FC236}">
                <a16:creationId xmlns:a16="http://schemas.microsoft.com/office/drawing/2014/main" id="{C5531C01-0E67-C0A3-E232-D368378A9FBF}"/>
              </a:ext>
            </a:extLst>
          </p:cNvPr>
          <p:cNvPicPr>
            <a:picLocks noChangeAspect="1"/>
          </p:cNvPicPr>
          <p:nvPr/>
        </p:nvPicPr>
        <p:blipFill>
          <a:blip r:embed="rId5"/>
          <a:stretch>
            <a:fillRect/>
          </a:stretch>
        </p:blipFill>
        <p:spPr>
          <a:xfrm>
            <a:off x="4974671" y="1966227"/>
            <a:ext cx="6264203" cy="4463420"/>
          </a:xfrm>
          <a:prstGeom prst="rect">
            <a:avLst/>
          </a:prstGeom>
        </p:spPr>
      </p:pic>
      <p:sp>
        <p:nvSpPr>
          <p:cNvPr id="2" name="Slide Number Placeholder 1">
            <a:extLst>
              <a:ext uri="{FF2B5EF4-FFF2-40B4-BE49-F238E27FC236}">
                <a16:creationId xmlns:a16="http://schemas.microsoft.com/office/drawing/2014/main" id="{605D520E-CA22-0FDB-E276-04CB5533BA58}"/>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28761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73F8-9FD6-0ECE-3ECF-73C36B28CA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A83EBBF-04B8-9A2C-ED9F-A19E882F3DC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(12)</a:t>
            </a:r>
          </a:p>
        </p:txBody>
      </p:sp>
      <p:pic>
        <p:nvPicPr>
          <p:cNvPr id="4" name="Picture 3" descr="image of a clipboard with a pencil recording short answer responses">
            <a:extLst>
              <a:ext uri="{FF2B5EF4-FFF2-40B4-BE49-F238E27FC236}">
                <a16:creationId xmlns:a16="http://schemas.microsoft.com/office/drawing/2014/main" id="{F6524755-11ED-9461-3FEF-45D126D2CF8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0BBCDB05-A139-44A3-EA5D-6556ADCA3BC0}"/>
              </a:ext>
            </a:extLst>
          </p:cNvPr>
          <p:cNvSpPr>
            <a:spLocks noGrp="1"/>
          </p:cNvSpPr>
          <p:nvPr>
            <p:ph type="pic" sz="quarter" idx="21"/>
          </p:nvPr>
        </p:nvSpPr>
        <p:spPr>
          <a:xfrm>
            <a:off x="474481" y="2252569"/>
            <a:ext cx="11243037" cy="3659902"/>
          </a:xfrm>
        </p:spPr>
        <p:txBody>
          <a:bodyPr/>
          <a:lstStyle/>
          <a:p>
            <a:pPr algn="ctr"/>
            <a:r>
              <a:rPr lang="en-AU" sz="4400">
                <a:latin typeface="Arial"/>
                <a:cs typeface="Arial"/>
              </a:rPr>
              <a:t>Record how a </a:t>
            </a:r>
            <a:r>
              <a:rPr lang="en-AU" sz="4400" b="1">
                <a:latin typeface="Arial"/>
                <a:cs typeface="Arial"/>
              </a:rPr>
              <a:t>rectangular prism </a:t>
            </a:r>
            <a:r>
              <a:rPr lang="en-AU" sz="4400">
                <a:latin typeface="Arial"/>
                <a:cs typeface="Arial"/>
              </a:rPr>
              <a:t>is different from a pyramid?</a:t>
            </a:r>
            <a:endParaRPr lang="en-US" sz="4400">
              <a:latin typeface="Arial"/>
              <a:cs typeface="Arial"/>
            </a:endParaRPr>
          </a:p>
        </p:txBody>
      </p:sp>
      <p:sp>
        <p:nvSpPr>
          <p:cNvPr id="2" name="Slide Number Placeholder 1">
            <a:extLst>
              <a:ext uri="{FF2B5EF4-FFF2-40B4-BE49-F238E27FC236}">
                <a16:creationId xmlns:a16="http://schemas.microsoft.com/office/drawing/2014/main" id="{1C171D71-9E03-59C1-3888-D6A2F0BA0FB7}"/>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406462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3 – apply known mental strategies to add and represent the solutions using a model</a:t>
            </a:r>
          </a:p>
        </p:txBody>
      </p:sp>
      <p:pic>
        <p:nvPicPr>
          <p:cNvPr id="4" name="Picture 3" descr="image of a head with cogs turning inside">
            <a:extLst>
              <a:ext uri="{FF2B5EF4-FFF2-40B4-BE49-F238E27FC236}">
                <a16:creationId xmlns:a16="http://schemas.microsoft.com/office/drawing/2014/main" id="{F450BC58-2A0D-EEE1-BA93-7DDAAACC64B7}"/>
              </a:ext>
            </a:extLst>
          </p:cNvPr>
          <p:cNvPicPr>
            <a:picLocks noChangeAspect="1"/>
          </p:cNvPicPr>
          <p:nvPr/>
        </p:nvPicPr>
        <p:blipFill>
          <a:blip r:embed="rId3"/>
          <a:stretch>
            <a:fillRect/>
          </a:stretch>
        </p:blipFill>
        <p:spPr>
          <a:xfrm>
            <a:off x="11223185" y="144166"/>
            <a:ext cx="720000" cy="856364"/>
          </a:xfrm>
          <a:prstGeom prst="rect">
            <a:avLst/>
          </a:prstGeom>
        </p:spPr>
      </p:pic>
      <p:pic>
        <p:nvPicPr>
          <p:cNvPr id="5" name="Picture 4" descr="Number line with the numbers 426, 430, 630, 690. There is a +4 jump from 426 to 430, a +200 jump from 430 to 630 and a +60 jump from 630 to 690.&#10;&#10;The bar model below has 690 in the top and 426 and 264 split in the bottom.">
            <a:extLst>
              <a:ext uri="{FF2B5EF4-FFF2-40B4-BE49-F238E27FC236}">
                <a16:creationId xmlns:a16="http://schemas.microsoft.com/office/drawing/2014/main" id="{615993ED-46DC-A297-754A-F0A3F5CC3C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02006" y="1499028"/>
            <a:ext cx="8787988" cy="4998972"/>
          </a:xfrm>
          <a:prstGeom prst="rect">
            <a:avLst/>
          </a:prstGeom>
        </p:spPr>
      </p:pic>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3529291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D470-C119-FE15-B585-7B00E3FC0E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8549DE-34BC-2932-4069-8C67AECD9A58}"/>
              </a:ext>
            </a:extLst>
          </p:cNvPr>
          <p:cNvSpPr>
            <a:spLocks noGrp="1"/>
          </p:cNvSpPr>
          <p:nvPr>
            <p:ph type="ctrTitle"/>
          </p:nvPr>
        </p:nvSpPr>
        <p:spPr/>
        <p:txBody>
          <a:bodyPr/>
          <a:lstStyle/>
          <a:p>
            <a:r>
              <a:rPr lang="en-AU">
                <a:latin typeface="+mj-lt"/>
                <a:cs typeface="Arial"/>
              </a:rPr>
              <a:t>Review of learning 4</a:t>
            </a:r>
            <a:endParaRPr lang="en-AU">
              <a:latin typeface="+mj-lt"/>
            </a:endParaRPr>
          </a:p>
        </p:txBody>
      </p:sp>
    </p:spTree>
    <p:extLst>
      <p:ext uri="{BB962C8B-B14F-4D97-AF65-F5344CB8AC3E}">
        <p14:creationId xmlns:p14="http://schemas.microsoft.com/office/powerpoint/2010/main" val="209775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7EEB-F21E-045D-8ADE-B6DF797BBD6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7D4AB32-9AD3-7208-104F-40FDED38BA06}"/>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(2)</a:t>
            </a:r>
          </a:p>
        </p:txBody>
      </p:sp>
      <p:pic>
        <p:nvPicPr>
          <p:cNvPr id="6" name="Picture 5" descr="image of a finger selecting an option for a multiple choice or true and false">
            <a:extLst>
              <a:ext uri="{FF2B5EF4-FFF2-40B4-BE49-F238E27FC236}">
                <a16:creationId xmlns:a16="http://schemas.microsoft.com/office/drawing/2014/main" id="{69530689-7807-BBD6-FD1B-040AA488A195}"/>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6">
            <a:extLst>
              <a:ext uri="{FF2B5EF4-FFF2-40B4-BE49-F238E27FC236}">
                <a16:creationId xmlns:a16="http://schemas.microsoft.com/office/drawing/2014/main" id="{F060180D-91D5-EA06-E103-8B3688B0CE76}"/>
              </a:ext>
            </a:extLst>
          </p:cNvPr>
          <p:cNvSpPr>
            <a:spLocks noGrp="1"/>
          </p:cNvSpPr>
          <p:nvPr>
            <p:ph type="body" sz="quarter" idx="22"/>
          </p:nvPr>
        </p:nvSpPr>
        <p:spPr>
          <a:xfrm>
            <a:off x="360000" y="1014723"/>
            <a:ext cx="11484000" cy="4653021"/>
          </a:xfrm>
        </p:spPr>
        <p:txBody>
          <a:bodyPr vert="horz" lIns="0" tIns="0" rIns="0" bIns="0" rtlCol="0" anchor="t">
            <a:noAutofit/>
          </a:bodyPr>
          <a:lstStyle/>
          <a:p>
            <a:pPr algn="ctr"/>
            <a:r>
              <a:rPr lang="en-US" sz="4000" dirty="0"/>
              <a:t>Sam used a number line to solve 98 – 75.</a:t>
            </a:r>
          </a:p>
          <a:p>
            <a:pPr algn="ctr"/>
            <a:r>
              <a:rPr lang="en-US" sz="4000" dirty="0"/>
              <a:t>His solution is correct. </a:t>
            </a:r>
          </a:p>
          <a:p>
            <a:pPr algn="ctr"/>
            <a:endParaRPr lang="en-US" sz="4000" dirty="0"/>
          </a:p>
        </p:txBody>
      </p:sp>
      <p:graphicFrame>
        <p:nvGraphicFramePr>
          <p:cNvPr id="5" name="Table 4">
            <a:extLst>
              <a:ext uri="{FF2B5EF4-FFF2-40B4-BE49-F238E27FC236}">
                <a16:creationId xmlns:a16="http://schemas.microsoft.com/office/drawing/2014/main" id="{DB699691-98F7-EA8F-32F1-C06DC46C20B7}"/>
              </a:ext>
            </a:extLst>
          </p:cNvPr>
          <p:cNvGraphicFramePr>
            <a:graphicFrameLocks noGrp="1"/>
          </p:cNvGraphicFramePr>
          <p:nvPr>
            <p:extLst>
              <p:ext uri="{D42A27DB-BD31-4B8C-83A1-F6EECF244321}">
                <p14:modId xmlns:p14="http://schemas.microsoft.com/office/powerpoint/2010/main" val="2798867822"/>
              </p:ext>
            </p:extLst>
          </p:nvPr>
        </p:nvGraphicFramePr>
        <p:xfrm>
          <a:off x="2442981" y="577432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8CD3A27D-3714-AE5A-F3A7-8938A8312568}"/>
              </a:ext>
            </a:extLst>
          </p:cNvPr>
          <p:cNvSpPr>
            <a:spLocks noGrp="1"/>
          </p:cNvSpPr>
          <p:nvPr>
            <p:ph type="sldNum" sz="quarter" idx="12"/>
          </p:nvPr>
        </p:nvSpPr>
        <p:spPr/>
        <p:txBody>
          <a:bodyPr/>
          <a:lstStyle/>
          <a:p>
            <a:fld id="{10A01DC5-1685-4615-8240-15192985C6A2}" type="slidenum">
              <a:rPr lang="en-AU" smtClean="0"/>
              <a:t>26</a:t>
            </a:fld>
            <a:endParaRPr lang="en-AU"/>
          </a:p>
        </p:txBody>
      </p:sp>
      <p:pic>
        <p:nvPicPr>
          <p:cNvPr id="10" name="Picture 9">
            <a:extLst>
              <a:ext uri="{FF2B5EF4-FFF2-40B4-BE49-F238E27FC236}">
                <a16:creationId xmlns:a16="http://schemas.microsoft.com/office/drawing/2014/main" id="{2CE32289-8ED5-B587-BE84-57108D08D70E}"/>
              </a:ext>
            </a:extLst>
          </p:cNvPr>
          <p:cNvPicPr>
            <a:picLocks noChangeAspect="1"/>
          </p:cNvPicPr>
          <p:nvPr/>
        </p:nvPicPr>
        <p:blipFill>
          <a:blip r:embed="rId4"/>
          <a:stretch>
            <a:fillRect/>
          </a:stretch>
        </p:blipFill>
        <p:spPr>
          <a:xfrm>
            <a:off x="2442981" y="3139440"/>
            <a:ext cx="7038678" cy="2325104"/>
          </a:xfrm>
          <a:prstGeom prst="rect">
            <a:avLst/>
          </a:prstGeom>
        </p:spPr>
      </p:pic>
    </p:spTree>
    <p:extLst>
      <p:ext uri="{BB962C8B-B14F-4D97-AF65-F5344CB8AC3E}">
        <p14:creationId xmlns:p14="http://schemas.microsoft.com/office/powerpoint/2010/main" val="39387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9BF-5F7D-214B-1148-F6F0F6CD319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8B9408-BD93-F840-A268-57E14808F86B}"/>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(13)</a:t>
            </a:r>
          </a:p>
        </p:txBody>
      </p:sp>
      <p:pic>
        <p:nvPicPr>
          <p:cNvPr id="4" name="Picture 3" descr="image of a clipboard with a pencil recording short answer responses">
            <a:extLst>
              <a:ext uri="{FF2B5EF4-FFF2-40B4-BE49-F238E27FC236}">
                <a16:creationId xmlns:a16="http://schemas.microsoft.com/office/drawing/2014/main" id="{6CBFAEF5-264E-AC66-53E9-1C49CB3F5B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14C19D03-CFFF-C433-C478-7D603E7E945A}"/>
              </a:ext>
            </a:extLst>
          </p:cNvPr>
          <p:cNvSpPr>
            <a:spLocks noGrp="1"/>
          </p:cNvSpPr>
          <p:nvPr>
            <p:ph type="pic" sz="quarter" idx="21"/>
          </p:nvPr>
        </p:nvSpPr>
        <p:spPr>
          <a:xfrm>
            <a:off x="1831703" y="1340214"/>
            <a:ext cx="8934994" cy="4958986"/>
          </a:xfrm>
        </p:spPr>
        <p:txBody>
          <a:bodyPr/>
          <a:lstStyle/>
          <a:p>
            <a:pPr algn="ctr"/>
            <a:r>
              <a:rPr lang="en-AU" sz="4400" b="1" dirty="0">
                <a:latin typeface="Arial"/>
                <a:cs typeface="Arial"/>
              </a:rPr>
              <a:t>Record </a:t>
            </a:r>
            <a:r>
              <a:rPr lang="en-AU" sz="4400" dirty="0">
                <a:latin typeface="Arial"/>
                <a:cs typeface="Arial"/>
              </a:rPr>
              <a:t>the number </a:t>
            </a:r>
            <a:r>
              <a:rPr lang="en-AU" sz="4400" b="1" dirty="0">
                <a:latin typeface="Arial"/>
                <a:cs typeface="Arial"/>
              </a:rPr>
              <a:t>79:</a:t>
            </a:r>
          </a:p>
          <a:p>
            <a:pPr marL="571500" indent="-571500" algn="ctr">
              <a:buFont typeface="Arial" panose="020B0604020202020204" pitchFamily="34" charset="0"/>
              <a:buChar char="•"/>
            </a:pPr>
            <a:r>
              <a:rPr lang="en-AU" sz="4000" dirty="0"/>
              <a:t>10 times larger</a:t>
            </a:r>
          </a:p>
          <a:p>
            <a:pPr marL="571500" indent="-571500" algn="ctr">
              <a:buFont typeface="Arial" panose="020B0604020202020204" pitchFamily="34" charset="0"/>
              <a:buChar char="•"/>
            </a:pPr>
            <a:r>
              <a:rPr lang="en-AU" sz="4000" dirty="0"/>
              <a:t>100 times larger</a:t>
            </a:r>
          </a:p>
          <a:p>
            <a:pPr marL="571500" indent="-571500" algn="ctr">
              <a:buFont typeface="Arial" panose="020B0604020202020204" pitchFamily="34" charset="0"/>
              <a:buChar char="•"/>
            </a:pPr>
            <a:r>
              <a:rPr lang="en-AU" sz="4000" dirty="0"/>
              <a:t>1000 </a:t>
            </a:r>
            <a:r>
              <a:rPr lang="en-AU" sz="4000" dirty="0">
                <a:latin typeface="Arial"/>
                <a:cs typeface="Arial"/>
              </a:rPr>
              <a:t>times larger</a:t>
            </a:r>
          </a:p>
          <a:p>
            <a:endParaRPr lang="en-US" sz="2000" dirty="0">
              <a:latin typeface="Arial"/>
              <a:cs typeface="Arial"/>
            </a:endParaRPr>
          </a:p>
        </p:txBody>
      </p:sp>
      <p:sp>
        <p:nvSpPr>
          <p:cNvPr id="2" name="Slide Number Placeholder 1">
            <a:extLst>
              <a:ext uri="{FF2B5EF4-FFF2-40B4-BE49-F238E27FC236}">
                <a16:creationId xmlns:a16="http://schemas.microsoft.com/office/drawing/2014/main" id="{8AEC1B69-AE9B-3F77-A4B2-5F8F2302B7B4}"/>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362341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932C-EC37-B3ED-6E76-5D6F2C7FF6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B4B7CA-693A-3F18-2EDC-EE94CBCA2F64}"/>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(14)</a:t>
            </a:r>
          </a:p>
        </p:txBody>
      </p:sp>
      <p:pic>
        <p:nvPicPr>
          <p:cNvPr id="4" name="Picture 3" descr="image of a clipboard with a pencil recording short answer responses">
            <a:extLst>
              <a:ext uri="{FF2B5EF4-FFF2-40B4-BE49-F238E27FC236}">
                <a16:creationId xmlns:a16="http://schemas.microsoft.com/office/drawing/2014/main" id="{B77B602D-A6DE-2C40-AE6F-710A01908253}"/>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23" name="Picture 22" descr="A diagram of an angle formed by two lines. One line is green and slants upward from left to right, while the other line is purple and lies horizontally. The two lines meet at a common point on the left, creating an acute angle.">
            <a:extLst>
              <a:ext uri="{FF2B5EF4-FFF2-40B4-BE49-F238E27FC236}">
                <a16:creationId xmlns:a16="http://schemas.microsoft.com/office/drawing/2014/main" id="{E7FBDD67-487D-A25A-898F-CED39E1AA19B}"/>
              </a:ext>
            </a:extLst>
          </p:cNvPr>
          <p:cNvPicPr>
            <a:picLocks noChangeAspect="1"/>
          </p:cNvPicPr>
          <p:nvPr/>
        </p:nvPicPr>
        <p:blipFill>
          <a:blip r:embed="rId4"/>
          <a:stretch>
            <a:fillRect/>
          </a:stretch>
        </p:blipFill>
        <p:spPr>
          <a:xfrm>
            <a:off x="4084003" y="1184223"/>
            <a:ext cx="3795031" cy="2336842"/>
          </a:xfrm>
          <a:prstGeom prst="rect">
            <a:avLst/>
          </a:prstGeom>
        </p:spPr>
      </p:pic>
      <p:sp>
        <p:nvSpPr>
          <p:cNvPr id="11" name="Picture Placeholder 10">
            <a:extLst>
              <a:ext uri="{FF2B5EF4-FFF2-40B4-BE49-F238E27FC236}">
                <a16:creationId xmlns:a16="http://schemas.microsoft.com/office/drawing/2014/main" id="{2F913B4D-1682-BC3D-FA94-9742B9EAB2B6}"/>
              </a:ext>
            </a:extLst>
          </p:cNvPr>
          <p:cNvSpPr>
            <a:spLocks noGrp="1"/>
          </p:cNvSpPr>
          <p:nvPr>
            <p:ph type="pic" sz="quarter" idx="21"/>
          </p:nvPr>
        </p:nvSpPr>
        <p:spPr>
          <a:xfrm>
            <a:off x="474481" y="3782374"/>
            <a:ext cx="11243037" cy="2136288"/>
          </a:xfrm>
        </p:spPr>
        <p:txBody>
          <a:bodyPr/>
          <a:lstStyle/>
          <a:p>
            <a:pPr algn="ctr"/>
            <a:r>
              <a:rPr lang="en-AU" sz="4400">
                <a:latin typeface="Arial"/>
                <a:cs typeface="Arial"/>
              </a:rPr>
              <a:t>What happens to the angle when you move the </a:t>
            </a:r>
            <a:r>
              <a:rPr lang="en-AU" sz="4400" b="1">
                <a:latin typeface="Arial"/>
                <a:cs typeface="Arial"/>
              </a:rPr>
              <a:t>arms</a:t>
            </a:r>
            <a:r>
              <a:rPr lang="en-AU" sz="4400">
                <a:latin typeface="Arial"/>
                <a:cs typeface="Arial"/>
              </a:rPr>
              <a:t> further apart?</a:t>
            </a:r>
            <a:endParaRPr lang="en-US">
              <a:latin typeface="Arial"/>
              <a:cs typeface="Arial"/>
            </a:endParaRPr>
          </a:p>
        </p:txBody>
      </p:sp>
      <p:sp>
        <p:nvSpPr>
          <p:cNvPr id="2" name="Slide Number Placeholder 1">
            <a:extLst>
              <a:ext uri="{FF2B5EF4-FFF2-40B4-BE49-F238E27FC236}">
                <a16:creationId xmlns:a16="http://schemas.microsoft.com/office/drawing/2014/main" id="{490D75EE-77E1-4439-0A95-55A48CB513CA}"/>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212658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986D-6D17-4AF1-8968-0D0D4C44B90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BA11519-040C-7679-15EE-A8789BC06BE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(15) </a:t>
            </a:r>
          </a:p>
        </p:txBody>
      </p:sp>
      <p:pic>
        <p:nvPicPr>
          <p:cNvPr id="4" name="Picture 3" descr="image of a clipboard with a pencil recording short answer responses">
            <a:extLst>
              <a:ext uri="{FF2B5EF4-FFF2-40B4-BE49-F238E27FC236}">
                <a16:creationId xmlns:a16="http://schemas.microsoft.com/office/drawing/2014/main" id="{26FF086C-E9B9-CA71-EB91-C0AC0EA37979}"/>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A four-section spinner featuring images of strawberry, chocolate, mint, and vanilla ice cream, each flavour occupying an equal segment.">
            <a:extLst>
              <a:ext uri="{FF2B5EF4-FFF2-40B4-BE49-F238E27FC236}">
                <a16:creationId xmlns:a16="http://schemas.microsoft.com/office/drawing/2014/main" id="{505CB223-4305-BF86-D388-494538B4E211}"/>
              </a:ext>
            </a:extLst>
          </p:cNvPr>
          <p:cNvPicPr>
            <a:picLocks noChangeAspect="1"/>
          </p:cNvPicPr>
          <p:nvPr/>
        </p:nvPicPr>
        <p:blipFill>
          <a:blip r:embed="rId4"/>
          <a:stretch>
            <a:fillRect/>
          </a:stretch>
        </p:blipFill>
        <p:spPr>
          <a:xfrm>
            <a:off x="833390" y="905601"/>
            <a:ext cx="2644881" cy="2751566"/>
          </a:xfrm>
          <a:prstGeom prst="rect">
            <a:avLst/>
          </a:prstGeom>
        </p:spPr>
      </p:pic>
      <p:pic>
        <p:nvPicPr>
          <p:cNvPr id="8" name="Picture 7" descr="A two-part spinner with one half showing sprinkles and the other half showing chocolate topping.">
            <a:extLst>
              <a:ext uri="{FF2B5EF4-FFF2-40B4-BE49-F238E27FC236}">
                <a16:creationId xmlns:a16="http://schemas.microsoft.com/office/drawing/2014/main" id="{6351A3B5-20B1-AD74-5039-52948EEB1882}"/>
              </a:ext>
            </a:extLst>
          </p:cNvPr>
          <p:cNvPicPr>
            <a:picLocks noChangeAspect="1"/>
          </p:cNvPicPr>
          <p:nvPr/>
        </p:nvPicPr>
        <p:blipFill>
          <a:blip r:embed="rId5"/>
          <a:stretch>
            <a:fillRect/>
          </a:stretch>
        </p:blipFill>
        <p:spPr>
          <a:xfrm>
            <a:off x="833390" y="3839143"/>
            <a:ext cx="2644881" cy="2676857"/>
          </a:xfrm>
          <a:prstGeom prst="rect">
            <a:avLst/>
          </a:prstGeom>
        </p:spPr>
      </p:pic>
      <p:sp>
        <p:nvSpPr>
          <p:cNvPr id="11" name="Picture Placeholder 10">
            <a:extLst>
              <a:ext uri="{FF2B5EF4-FFF2-40B4-BE49-F238E27FC236}">
                <a16:creationId xmlns:a16="http://schemas.microsoft.com/office/drawing/2014/main" id="{352E0507-6E6B-EB8A-88E2-35DDFC075B74}"/>
              </a:ext>
            </a:extLst>
          </p:cNvPr>
          <p:cNvSpPr>
            <a:spLocks noGrp="1"/>
          </p:cNvSpPr>
          <p:nvPr>
            <p:ph type="pic" sz="quarter" idx="21"/>
          </p:nvPr>
        </p:nvSpPr>
        <p:spPr>
          <a:xfrm>
            <a:off x="3478271" y="996877"/>
            <a:ext cx="8365729" cy="5592399"/>
          </a:xfrm>
        </p:spPr>
        <p:txBody>
          <a:bodyPr/>
          <a:lstStyle/>
          <a:p>
            <a:pPr algn="ctr"/>
            <a:r>
              <a:rPr lang="en-AU" sz="4000">
                <a:latin typeface="Arial"/>
                <a:cs typeface="Arial"/>
              </a:rPr>
              <a:t>At the canteen, there is a spinner for ice cream flavours and another for toppings. </a:t>
            </a:r>
          </a:p>
          <a:p>
            <a:pPr algn="ctr"/>
            <a:r>
              <a:rPr lang="en-AU" sz="4000"/>
              <a:t>How many different </a:t>
            </a:r>
            <a:r>
              <a:rPr lang="en-AU" sz="4000" b="1"/>
              <a:t>outcomes</a:t>
            </a:r>
            <a:r>
              <a:rPr lang="en-AU" sz="4000"/>
              <a:t> are possible when one flavour and one topping are selected?</a:t>
            </a:r>
            <a:endParaRPr lang="en-US" sz="4000">
              <a:latin typeface="Arial"/>
              <a:cs typeface="Arial"/>
            </a:endParaRPr>
          </a:p>
        </p:txBody>
      </p:sp>
      <p:sp>
        <p:nvSpPr>
          <p:cNvPr id="2" name="Slide Number Placeholder 1">
            <a:extLst>
              <a:ext uri="{FF2B5EF4-FFF2-40B4-BE49-F238E27FC236}">
                <a16:creationId xmlns:a16="http://schemas.microsoft.com/office/drawing/2014/main" id="{EA1E5DD1-AEBC-FDC0-6BF2-FB696E3A8062}"/>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234472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5A73-E634-98E9-DB9B-0D0C734E9F8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DF6C1BB-92D8-F3F1-FD83-E71E6EE542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(16)</a:t>
            </a:r>
          </a:p>
        </p:txBody>
      </p:sp>
      <p:pic>
        <p:nvPicPr>
          <p:cNvPr id="4" name="Picture 3" descr="image of a clipboard with a pencil recording short answer responses">
            <a:extLst>
              <a:ext uri="{FF2B5EF4-FFF2-40B4-BE49-F238E27FC236}">
                <a16:creationId xmlns:a16="http://schemas.microsoft.com/office/drawing/2014/main" id="{A0B7D3FC-8755-D8E4-D7AC-203728BDEE26}"/>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7310197D-5549-E618-D987-5A98C7C35CD4}"/>
              </a:ext>
            </a:extLst>
          </p:cNvPr>
          <p:cNvSpPr txBox="1"/>
          <p:nvPr/>
        </p:nvSpPr>
        <p:spPr>
          <a:xfrm>
            <a:off x="1200893" y="1922081"/>
            <a:ext cx="9561251" cy="3013838"/>
          </a:xfrm>
          <a:prstGeom prst="rect">
            <a:avLst/>
          </a:prstGeom>
          <a:noFill/>
        </p:spPr>
        <p:txBody>
          <a:bodyPr wrap="square">
            <a:spAutoFit/>
          </a:bodyPr>
          <a:lstStyle/>
          <a:p>
            <a:pPr algn="ctr">
              <a:lnSpc>
                <a:spcPct val="150000"/>
              </a:lnSpc>
            </a:pPr>
            <a:r>
              <a:rPr lang="en-AU" sz="4400"/>
              <a:t>How many </a:t>
            </a:r>
            <a:r>
              <a:rPr lang="en-AU" sz="4400" b="1"/>
              <a:t>square metres </a:t>
            </a:r>
            <a:r>
              <a:rPr lang="en-AU" sz="4400"/>
              <a:t>would you need to cover a rectangle that is </a:t>
            </a:r>
            <a:r>
              <a:rPr lang="en-AU" sz="4400" b="1"/>
              <a:t>2 metres</a:t>
            </a:r>
            <a:r>
              <a:rPr lang="en-AU" sz="4400"/>
              <a:t> wide and </a:t>
            </a:r>
            <a:r>
              <a:rPr lang="en-AU" sz="4400" b="1"/>
              <a:t>5 metres </a:t>
            </a:r>
            <a:r>
              <a:rPr lang="en-AU" sz="4400"/>
              <a:t>long?</a:t>
            </a:r>
          </a:p>
        </p:txBody>
      </p:sp>
      <p:sp>
        <p:nvSpPr>
          <p:cNvPr id="2" name="Slide Number Placeholder 1">
            <a:extLst>
              <a:ext uri="{FF2B5EF4-FFF2-40B4-BE49-F238E27FC236}">
                <a16:creationId xmlns:a16="http://schemas.microsoft.com/office/drawing/2014/main" id="{8DAE7550-980B-6F74-1F50-776AFA7A5FAF}"/>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41738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20563-1813-1995-D32E-DDC6D9DE481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78AF4BF-84AD-0971-5D0F-9FC03D181470}"/>
              </a:ext>
            </a:extLst>
          </p:cNvPr>
          <p:cNvSpPr>
            <a:spLocks noGrp="1"/>
          </p:cNvSpPr>
          <p:nvPr>
            <p:ph type="title"/>
          </p:nvPr>
        </p:nvSpPr>
        <p:spPr>
          <a:xfrm>
            <a:off x="360000" y="360000"/>
            <a:ext cx="11484000" cy="545601"/>
          </a:xfrm>
        </p:spPr>
        <p:txBody>
          <a:bodyPr/>
          <a:lstStyle/>
          <a:p>
            <a:r>
              <a:rPr lang="en-AU"/>
              <a:t>Activity 4 – apply known mental strategies to subtract and represent the solutions using a model</a:t>
            </a:r>
          </a:p>
        </p:txBody>
      </p:sp>
      <p:pic>
        <p:nvPicPr>
          <p:cNvPr id="4" name="Picture 3" descr="image of a head with cogs turning inside">
            <a:extLst>
              <a:ext uri="{FF2B5EF4-FFF2-40B4-BE49-F238E27FC236}">
                <a16:creationId xmlns:a16="http://schemas.microsoft.com/office/drawing/2014/main" id="{1F6155F8-85A5-4C89-11B1-1565166D26FB}"/>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6" name="Picture 5" descr="Number line with the numbers 278, 280, 820 and 827. There is a −7 jump from 827 to 820, a −540 jump from 820 to 280 and a −2 jump from 280 to 278.&#10;&#10;The bar model has 827 in the top and 278 and 549 split in the bottom.">
            <a:extLst>
              <a:ext uri="{FF2B5EF4-FFF2-40B4-BE49-F238E27FC236}">
                <a16:creationId xmlns:a16="http://schemas.microsoft.com/office/drawing/2014/main" id="{B8C03901-04FE-1224-6DC0-4526B3C7492B}"/>
              </a:ext>
            </a:extLst>
          </p:cNvPr>
          <p:cNvPicPr>
            <a:picLocks noChangeAspect="1"/>
          </p:cNvPicPr>
          <p:nvPr/>
        </p:nvPicPr>
        <p:blipFill>
          <a:blip r:embed="rId4"/>
          <a:stretch>
            <a:fillRect/>
          </a:stretch>
        </p:blipFill>
        <p:spPr>
          <a:xfrm>
            <a:off x="1833428" y="1421786"/>
            <a:ext cx="8525143" cy="5094214"/>
          </a:xfrm>
          <a:prstGeom prst="rect">
            <a:avLst/>
          </a:prstGeom>
        </p:spPr>
      </p:pic>
      <p:sp>
        <p:nvSpPr>
          <p:cNvPr id="2" name="Slide Number Placeholder 1">
            <a:extLst>
              <a:ext uri="{FF2B5EF4-FFF2-40B4-BE49-F238E27FC236}">
                <a16:creationId xmlns:a16="http://schemas.microsoft.com/office/drawing/2014/main" id="{25CEFD0F-F581-CFC5-D0D1-51A3B841FA1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4233822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A317-177A-AB71-ADCD-8AE5EF981A1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A12372-C1A2-E699-0EC6-99DCA1418796}"/>
              </a:ext>
            </a:extLst>
          </p:cNvPr>
          <p:cNvSpPr>
            <a:spLocks noGrp="1"/>
          </p:cNvSpPr>
          <p:nvPr>
            <p:ph type="ctrTitle"/>
          </p:nvPr>
        </p:nvSpPr>
        <p:spPr/>
        <p:txBody>
          <a:bodyPr/>
          <a:lstStyle/>
          <a:p>
            <a:r>
              <a:rPr lang="en-AU">
                <a:latin typeface="+mj-lt"/>
                <a:cs typeface="Arial"/>
              </a:rPr>
              <a:t>Review of learning 5</a:t>
            </a:r>
            <a:endParaRPr lang="en-AU">
              <a:latin typeface="+mj-lt"/>
            </a:endParaRPr>
          </a:p>
        </p:txBody>
      </p:sp>
    </p:spTree>
    <p:extLst>
      <p:ext uri="{BB962C8B-B14F-4D97-AF65-F5344CB8AC3E}">
        <p14:creationId xmlns:p14="http://schemas.microsoft.com/office/powerpoint/2010/main" val="265804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(3)</a:t>
            </a:r>
          </a:p>
        </p:txBody>
      </p:sp>
      <p:pic>
        <p:nvPicPr>
          <p:cNvPr id="5" name="Picture 4" descr="image of a finger selecting an option for a multiple choice or true and false">
            <a:extLst>
              <a:ext uri="{FF2B5EF4-FFF2-40B4-BE49-F238E27FC236}">
                <a16:creationId xmlns:a16="http://schemas.microsoft.com/office/drawing/2014/main" id="{A82A1270-19CB-992D-68A3-CD35F91982E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6">
            <a:extLst>
              <a:ext uri="{FF2B5EF4-FFF2-40B4-BE49-F238E27FC236}">
                <a16:creationId xmlns:a16="http://schemas.microsoft.com/office/drawing/2014/main" id="{5DF38C65-236C-D29F-858F-CF3FE811A1B8}"/>
              </a:ext>
            </a:extLst>
          </p:cNvPr>
          <p:cNvSpPr>
            <a:spLocks noGrp="1"/>
          </p:cNvSpPr>
          <p:nvPr>
            <p:ph type="body" sz="quarter" idx="24"/>
          </p:nvPr>
        </p:nvSpPr>
        <p:spPr>
          <a:xfrm>
            <a:off x="355466" y="1384931"/>
            <a:ext cx="11243037" cy="2154682"/>
          </a:xfrm>
        </p:spPr>
        <p:txBody>
          <a:bodyPr/>
          <a:lstStyle/>
          <a:p>
            <a:pPr algn="ctr"/>
            <a:r>
              <a:rPr lang="en-AU" sz="4400"/>
              <a:t>Which number is made up of 5 </a:t>
            </a:r>
            <a:r>
              <a:rPr lang="en-AU" sz="4400" b="1"/>
              <a:t>thousands</a:t>
            </a:r>
            <a:r>
              <a:rPr lang="en-AU" sz="4400"/>
              <a:t>, 3 </a:t>
            </a:r>
            <a:r>
              <a:rPr lang="en-AU" sz="4400" b="1"/>
              <a:t>hundreds</a:t>
            </a:r>
            <a:r>
              <a:rPr lang="en-AU" sz="4400"/>
              <a:t>, 2 </a:t>
            </a:r>
            <a:r>
              <a:rPr lang="en-AU" sz="4400" b="1"/>
              <a:t>tens</a:t>
            </a:r>
            <a:r>
              <a:rPr lang="en-AU" sz="4400"/>
              <a:t> and 4 </a:t>
            </a:r>
            <a:r>
              <a:rPr lang="en-AU" sz="4400" b="1"/>
              <a:t>ones</a:t>
            </a:r>
            <a:r>
              <a:rPr lang="en-AU" sz="4400"/>
              <a:t>?</a:t>
            </a:r>
          </a:p>
        </p:txBody>
      </p:sp>
      <p:graphicFrame>
        <p:nvGraphicFramePr>
          <p:cNvPr id="4" name="Table 3">
            <a:extLst>
              <a:ext uri="{FF2B5EF4-FFF2-40B4-BE49-F238E27FC236}">
                <a16:creationId xmlns:a16="http://schemas.microsoft.com/office/drawing/2014/main" id="{35E5AB9F-F464-7892-DE49-02CB519550E6}"/>
              </a:ext>
            </a:extLst>
          </p:cNvPr>
          <p:cNvGraphicFramePr>
            <a:graphicFrameLocks noGrp="1"/>
          </p:cNvGraphicFramePr>
          <p:nvPr>
            <p:extLst>
              <p:ext uri="{D42A27DB-BD31-4B8C-83A1-F6EECF244321}">
                <p14:modId xmlns:p14="http://schemas.microsoft.com/office/powerpoint/2010/main" val="4099506545"/>
              </p:ext>
            </p:extLst>
          </p:nvPr>
        </p:nvGraphicFramePr>
        <p:xfrm>
          <a:off x="239518" y="4479800"/>
          <a:ext cx="11484000" cy="1584960"/>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r>
                        <a:rPr lang="en-AU" sz="4400">
                          <a:latin typeface="+mn-lt"/>
                          <a:cs typeface="Arial"/>
                        </a:rPr>
                        <a:t>5304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400" kern="1200">
                          <a:solidFill>
                            <a:schemeClr val="tx1"/>
                          </a:solidFill>
                          <a:latin typeface="+mn-lt"/>
                          <a:ea typeface="+mn-ea"/>
                          <a:cs typeface="Arial"/>
                        </a:rPr>
                        <a:t>5032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400" kern="1200">
                          <a:solidFill>
                            <a:schemeClr val="tx1"/>
                          </a:solidFill>
                          <a:latin typeface="+mn-lt"/>
                          <a:ea typeface="+mn-ea"/>
                          <a:cs typeface="Arial"/>
                        </a:rPr>
                        <a:t>5234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400" kern="1200">
                          <a:solidFill>
                            <a:schemeClr val="tx1"/>
                          </a:solidFill>
                          <a:latin typeface="+mn-lt"/>
                          <a:ea typeface="+mn-ea"/>
                          <a:cs typeface="Arial"/>
                        </a:rPr>
                        <a:t>5324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BD3-C0AF-4708-6300-CAF6418A984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7F9A0C-D005-60FF-B9A6-94BD6542024F}"/>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(17)</a:t>
            </a:r>
          </a:p>
        </p:txBody>
      </p:sp>
      <p:pic>
        <p:nvPicPr>
          <p:cNvPr id="4" name="Picture 3" descr="image of a clipboard with a pencil recording short answer responses">
            <a:extLst>
              <a:ext uri="{FF2B5EF4-FFF2-40B4-BE49-F238E27FC236}">
                <a16:creationId xmlns:a16="http://schemas.microsoft.com/office/drawing/2014/main" id="{78965A65-E5BC-2C4E-B55B-9EF446DC1F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E3076825-3639-8154-0BA8-58E1ADFFDA47}"/>
              </a:ext>
            </a:extLst>
          </p:cNvPr>
          <p:cNvSpPr>
            <a:spLocks noGrp="1"/>
          </p:cNvSpPr>
          <p:nvPr>
            <p:ph type="pic" sz="quarter" idx="21"/>
          </p:nvPr>
        </p:nvSpPr>
        <p:spPr>
          <a:xfrm>
            <a:off x="531469" y="736256"/>
            <a:ext cx="11243038" cy="5501122"/>
          </a:xfrm>
        </p:spPr>
        <p:txBody>
          <a:bodyPr/>
          <a:lstStyle/>
          <a:p>
            <a:pPr algn="ctr"/>
            <a:r>
              <a:rPr lang="en-AU" sz="4000" dirty="0">
                <a:latin typeface="Arial"/>
                <a:cs typeface="Arial"/>
              </a:rPr>
              <a:t>Solve the following:</a:t>
            </a:r>
          </a:p>
          <a:p>
            <a:pPr algn="ctr"/>
            <a:r>
              <a:rPr lang="en-AU" sz="4000" dirty="0">
                <a:latin typeface="Arial"/>
                <a:cs typeface="Arial"/>
              </a:rPr>
              <a:t>248 + 36 = ?</a:t>
            </a:r>
          </a:p>
          <a:p>
            <a:pPr algn="ctr"/>
            <a:r>
              <a:rPr lang="en-AU" sz="4000" dirty="0">
                <a:latin typeface="Arial"/>
                <a:cs typeface="Arial"/>
              </a:rPr>
              <a:t>172 − 59 = ?</a:t>
            </a:r>
          </a:p>
          <a:p>
            <a:pPr algn="ctr"/>
            <a:r>
              <a:rPr lang="en-AU" sz="4000" dirty="0">
                <a:latin typeface="Arial"/>
                <a:cs typeface="Arial"/>
              </a:rPr>
              <a:t>Explain your </a:t>
            </a:r>
            <a:r>
              <a:rPr lang="en-AU" sz="4000" b="1" dirty="0">
                <a:latin typeface="Arial"/>
                <a:cs typeface="Arial"/>
              </a:rPr>
              <a:t>strategy</a:t>
            </a:r>
            <a:r>
              <a:rPr lang="en-AU" sz="4000" dirty="0">
                <a:latin typeface="Arial"/>
                <a:cs typeface="Arial"/>
              </a:rPr>
              <a:t> to a partner.</a:t>
            </a:r>
          </a:p>
          <a:p>
            <a:pPr algn="ctr"/>
            <a:br>
              <a:rPr lang="en-US" sz="4000" dirty="0">
                <a:latin typeface="Arial"/>
                <a:cs typeface="Arial"/>
              </a:rPr>
            </a:br>
            <a:endParaRPr lang="en-US" sz="4000" dirty="0">
              <a:latin typeface="Arial"/>
              <a:cs typeface="Arial"/>
            </a:endParaRPr>
          </a:p>
          <a:p>
            <a:pPr algn="ctr"/>
            <a:endParaRPr lang="en-US" sz="4000" dirty="0">
              <a:latin typeface="Arial"/>
              <a:cs typeface="Arial"/>
            </a:endParaRPr>
          </a:p>
        </p:txBody>
      </p:sp>
      <p:sp>
        <p:nvSpPr>
          <p:cNvPr id="2" name="Slide Number Placeholder 1">
            <a:extLst>
              <a:ext uri="{FF2B5EF4-FFF2-40B4-BE49-F238E27FC236}">
                <a16:creationId xmlns:a16="http://schemas.microsoft.com/office/drawing/2014/main" id="{40130AEC-A203-6E6F-E5BE-64487BE37563}"/>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6720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8B9F-C306-6503-3373-9BF6711EAAD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ACE562-8F72-5080-9D69-0EE65AC407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(18) </a:t>
            </a:r>
          </a:p>
        </p:txBody>
      </p:sp>
      <p:pic>
        <p:nvPicPr>
          <p:cNvPr id="4" name="Picture 3" descr="image of a clipboard with a pencil recording short answer responses">
            <a:extLst>
              <a:ext uri="{FF2B5EF4-FFF2-40B4-BE49-F238E27FC236}">
                <a16:creationId xmlns:a16="http://schemas.microsoft.com/office/drawing/2014/main" id="{79624517-4A6E-BCB0-BE3D-E100CB8DC045}"/>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cute angle ">
            <a:extLst>
              <a:ext uri="{FF2B5EF4-FFF2-40B4-BE49-F238E27FC236}">
                <a16:creationId xmlns:a16="http://schemas.microsoft.com/office/drawing/2014/main" id="{CCF26803-6F1B-C56E-D977-1515A26A76DF}"/>
              </a:ext>
            </a:extLst>
          </p:cNvPr>
          <p:cNvPicPr>
            <a:picLocks noChangeAspect="1"/>
          </p:cNvPicPr>
          <p:nvPr/>
        </p:nvPicPr>
        <p:blipFill>
          <a:blip r:embed="rId4"/>
          <a:stretch>
            <a:fillRect/>
          </a:stretch>
        </p:blipFill>
        <p:spPr>
          <a:xfrm>
            <a:off x="1343670" y="1470892"/>
            <a:ext cx="3029106" cy="2057506"/>
          </a:xfrm>
          <a:prstGeom prst="rect">
            <a:avLst/>
          </a:prstGeom>
        </p:spPr>
      </p:pic>
      <p:pic>
        <p:nvPicPr>
          <p:cNvPr id="6" name="Picture 5" descr="Acute angle with longer arms">
            <a:extLst>
              <a:ext uri="{FF2B5EF4-FFF2-40B4-BE49-F238E27FC236}">
                <a16:creationId xmlns:a16="http://schemas.microsoft.com/office/drawing/2014/main" id="{0A3EB20D-604F-550A-D2AC-72C9CDD9241B}"/>
              </a:ext>
            </a:extLst>
          </p:cNvPr>
          <p:cNvPicPr>
            <a:picLocks noChangeAspect="1"/>
          </p:cNvPicPr>
          <p:nvPr/>
        </p:nvPicPr>
        <p:blipFill>
          <a:blip r:embed="rId4"/>
          <a:stretch>
            <a:fillRect/>
          </a:stretch>
        </p:blipFill>
        <p:spPr>
          <a:xfrm>
            <a:off x="5474798" y="0"/>
            <a:ext cx="5373532" cy="3649946"/>
          </a:xfrm>
          <a:prstGeom prst="rect">
            <a:avLst/>
          </a:prstGeom>
        </p:spPr>
      </p:pic>
      <p:sp>
        <p:nvSpPr>
          <p:cNvPr id="11" name="Picture Placeholder 10">
            <a:extLst>
              <a:ext uri="{FF2B5EF4-FFF2-40B4-BE49-F238E27FC236}">
                <a16:creationId xmlns:a16="http://schemas.microsoft.com/office/drawing/2014/main" id="{50CE3FA9-E73E-0225-40D3-D27739FD5AAA}"/>
              </a:ext>
            </a:extLst>
          </p:cNvPr>
          <p:cNvSpPr>
            <a:spLocks noGrp="1"/>
          </p:cNvSpPr>
          <p:nvPr>
            <p:ph type="pic" sz="quarter" idx="21"/>
          </p:nvPr>
        </p:nvSpPr>
        <p:spPr>
          <a:xfrm>
            <a:off x="668144" y="3963997"/>
            <a:ext cx="10626750" cy="2469462"/>
          </a:xfrm>
        </p:spPr>
        <p:txBody>
          <a:bodyPr/>
          <a:lstStyle/>
          <a:p>
            <a:pPr algn="ctr"/>
            <a:r>
              <a:rPr lang="en-AU" sz="4400"/>
              <a:t>Compare the two </a:t>
            </a:r>
            <a:r>
              <a:rPr lang="en-AU" sz="4400" b="1"/>
              <a:t>angles</a:t>
            </a:r>
            <a:r>
              <a:rPr lang="en-AU" sz="4400"/>
              <a:t>. Does the </a:t>
            </a:r>
            <a:r>
              <a:rPr lang="en-AU" sz="4400" b="1"/>
              <a:t>length</a:t>
            </a:r>
            <a:r>
              <a:rPr lang="en-AU" sz="4400"/>
              <a:t> of the </a:t>
            </a:r>
            <a:r>
              <a:rPr lang="en-AU" sz="4400" b="1"/>
              <a:t>arms</a:t>
            </a:r>
            <a:r>
              <a:rPr lang="en-AU" sz="4400"/>
              <a:t> change the size of the angle? </a:t>
            </a:r>
            <a:endParaRPr lang="en-US">
              <a:latin typeface="Arial"/>
              <a:cs typeface="Arial"/>
            </a:endParaRPr>
          </a:p>
        </p:txBody>
      </p:sp>
      <p:sp>
        <p:nvSpPr>
          <p:cNvPr id="2" name="Slide Number Placeholder 1">
            <a:extLst>
              <a:ext uri="{FF2B5EF4-FFF2-40B4-BE49-F238E27FC236}">
                <a16:creationId xmlns:a16="http://schemas.microsoft.com/office/drawing/2014/main" id="{F1F2BFEC-E945-6F4C-3309-9F724EDCBBF2}"/>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256030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5171-1234-D0DF-8708-3925C62E7E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C79D7C8-F241-CB18-CA93-BC27C3BD3394}"/>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(19) </a:t>
            </a:r>
          </a:p>
        </p:txBody>
      </p:sp>
      <p:pic>
        <p:nvPicPr>
          <p:cNvPr id="4" name="Picture 3" descr="image of a clipboard with a pencil recording short answer responses">
            <a:extLst>
              <a:ext uri="{FF2B5EF4-FFF2-40B4-BE49-F238E27FC236}">
                <a16:creationId xmlns:a16="http://schemas.microsoft.com/office/drawing/2014/main" id="{DDE2B47A-8CF9-35B2-EC15-2BFADBD1573B}"/>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four-section spinner featuring images of strawberry, chocolate, mint, and vanilla ice cream, each flavour occupying an equal segment.">
            <a:extLst>
              <a:ext uri="{FF2B5EF4-FFF2-40B4-BE49-F238E27FC236}">
                <a16:creationId xmlns:a16="http://schemas.microsoft.com/office/drawing/2014/main" id="{4AB95545-C551-F05F-E9B0-B975D7525507}"/>
              </a:ext>
            </a:extLst>
          </p:cNvPr>
          <p:cNvPicPr>
            <a:picLocks noChangeAspect="1"/>
          </p:cNvPicPr>
          <p:nvPr/>
        </p:nvPicPr>
        <p:blipFill>
          <a:blip r:embed="rId4"/>
          <a:stretch>
            <a:fillRect/>
          </a:stretch>
        </p:blipFill>
        <p:spPr>
          <a:xfrm>
            <a:off x="523148" y="1051320"/>
            <a:ext cx="2644881" cy="2751566"/>
          </a:xfrm>
          <a:prstGeom prst="rect">
            <a:avLst/>
          </a:prstGeom>
        </p:spPr>
      </p:pic>
      <p:pic>
        <p:nvPicPr>
          <p:cNvPr id="6" name="Picture 5" descr="A two-part spinner with one half showing sprinkles and the other half showing chocolate topping.">
            <a:extLst>
              <a:ext uri="{FF2B5EF4-FFF2-40B4-BE49-F238E27FC236}">
                <a16:creationId xmlns:a16="http://schemas.microsoft.com/office/drawing/2014/main" id="{1F5558A3-DCB5-FACE-CBFB-F364906AAAA1}"/>
              </a:ext>
            </a:extLst>
          </p:cNvPr>
          <p:cNvPicPr>
            <a:picLocks noChangeAspect="1"/>
          </p:cNvPicPr>
          <p:nvPr/>
        </p:nvPicPr>
        <p:blipFill>
          <a:blip r:embed="rId5"/>
          <a:stretch>
            <a:fillRect/>
          </a:stretch>
        </p:blipFill>
        <p:spPr>
          <a:xfrm>
            <a:off x="523148" y="3821143"/>
            <a:ext cx="2644881" cy="2676857"/>
          </a:xfrm>
          <a:prstGeom prst="rect">
            <a:avLst/>
          </a:prstGeom>
        </p:spPr>
      </p:pic>
      <p:sp>
        <p:nvSpPr>
          <p:cNvPr id="13" name="TextBox 12">
            <a:extLst>
              <a:ext uri="{FF2B5EF4-FFF2-40B4-BE49-F238E27FC236}">
                <a16:creationId xmlns:a16="http://schemas.microsoft.com/office/drawing/2014/main" id="{51E0C1DB-5841-D74F-1A5B-6AEA3A4901D3}"/>
              </a:ext>
            </a:extLst>
          </p:cNvPr>
          <p:cNvSpPr txBox="1"/>
          <p:nvPr/>
        </p:nvSpPr>
        <p:spPr>
          <a:xfrm>
            <a:off x="3422469" y="1275500"/>
            <a:ext cx="8180569" cy="5240500"/>
          </a:xfrm>
          <a:prstGeom prst="rect">
            <a:avLst/>
          </a:prstGeom>
          <a:noFill/>
        </p:spPr>
        <p:txBody>
          <a:bodyPr wrap="square" lIns="0" tIns="0" rIns="0" bIns="0" rtlCol="0">
            <a:noAutofit/>
          </a:bodyPr>
          <a:lstStyle/>
          <a:p>
            <a:pPr algn="ctr"/>
            <a:r>
              <a:rPr lang="en-AU" sz="4000" dirty="0"/>
              <a:t>Archer spins two spinners to create an ice cream.</a:t>
            </a:r>
          </a:p>
          <a:p>
            <a:pPr algn="ctr"/>
            <a:r>
              <a:rPr lang="en-AU" sz="4000" dirty="0"/>
              <a:t>Is it </a:t>
            </a:r>
            <a:r>
              <a:rPr lang="en-AU" sz="4000" b="1" dirty="0"/>
              <a:t>likely, unlikely, </a:t>
            </a:r>
            <a:r>
              <a:rPr lang="en-AU" sz="4000" dirty="0"/>
              <a:t>or </a:t>
            </a:r>
            <a:r>
              <a:rPr lang="en-AU" sz="4000" b="1" dirty="0"/>
              <a:t>certain</a:t>
            </a:r>
            <a:r>
              <a:rPr lang="en-AU" sz="4000" dirty="0"/>
              <a:t> that Archer will get chocolate as his ice cream flavour? </a:t>
            </a:r>
          </a:p>
          <a:p>
            <a:pPr algn="ctr"/>
            <a:r>
              <a:rPr lang="en-AU" sz="4000" dirty="0"/>
              <a:t>Is it </a:t>
            </a:r>
            <a:r>
              <a:rPr lang="en-AU" sz="4000" b="1" dirty="0"/>
              <a:t>possible</a:t>
            </a:r>
            <a:r>
              <a:rPr lang="en-AU" sz="4000" dirty="0"/>
              <a:t> that Archer will get vanilla and sprinkles? </a:t>
            </a:r>
          </a:p>
          <a:p>
            <a:pPr algn="ctr"/>
            <a:r>
              <a:rPr lang="en-AU" sz="4000" b="1" dirty="0"/>
              <a:t>Explain</a:t>
            </a:r>
            <a:r>
              <a:rPr lang="en-AU" sz="4000" dirty="0"/>
              <a:t> your thinking.</a:t>
            </a:r>
          </a:p>
        </p:txBody>
      </p:sp>
      <p:sp>
        <p:nvSpPr>
          <p:cNvPr id="2" name="Slide Number Placeholder 1">
            <a:extLst>
              <a:ext uri="{FF2B5EF4-FFF2-40B4-BE49-F238E27FC236}">
                <a16:creationId xmlns:a16="http://schemas.microsoft.com/office/drawing/2014/main" id="{CF15FF86-1890-9ED1-C2D9-01A6B72ED73B}"/>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7962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1101-C2AA-A4B8-D565-D0C731099D2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012728-7DD3-DAD5-02D7-5D1F8430E7A9}"/>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(20)</a:t>
            </a:r>
          </a:p>
        </p:txBody>
      </p:sp>
      <p:sp>
        <p:nvSpPr>
          <p:cNvPr id="2" name="Slide Number Placeholder 1">
            <a:extLst>
              <a:ext uri="{FF2B5EF4-FFF2-40B4-BE49-F238E27FC236}">
                <a16:creationId xmlns:a16="http://schemas.microsoft.com/office/drawing/2014/main" id="{E1891367-9F77-2286-E613-6F1B7282E70A}"/>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11" name="Picture Placeholder 10">
            <a:extLst>
              <a:ext uri="{FF2B5EF4-FFF2-40B4-BE49-F238E27FC236}">
                <a16:creationId xmlns:a16="http://schemas.microsoft.com/office/drawing/2014/main" id="{96CD0A12-6C4E-2A9C-E016-8C9F82325D04}"/>
              </a:ext>
            </a:extLst>
          </p:cNvPr>
          <p:cNvSpPr>
            <a:spLocks noGrp="1"/>
          </p:cNvSpPr>
          <p:nvPr>
            <p:ph type="pic" sz="quarter" idx="21"/>
          </p:nvPr>
        </p:nvSpPr>
        <p:spPr>
          <a:xfrm>
            <a:off x="490580" y="1184222"/>
            <a:ext cx="11210840" cy="4823287"/>
          </a:xfrm>
        </p:spPr>
        <p:txBody>
          <a:bodyPr/>
          <a:lstStyle/>
          <a:p>
            <a:pPr algn="ctr"/>
            <a:r>
              <a:rPr lang="en-AU" sz="4400">
                <a:latin typeface="Arial"/>
                <a:cs typeface="Arial"/>
              </a:rPr>
              <a:t>You are going to roll a standard 6-sided dice 60 times. </a:t>
            </a:r>
          </a:p>
          <a:p>
            <a:pPr algn="ctr"/>
            <a:r>
              <a:rPr lang="en-AU" sz="4400">
                <a:latin typeface="Arial"/>
                <a:cs typeface="Arial"/>
              </a:rPr>
              <a:t>How many times do you </a:t>
            </a:r>
            <a:r>
              <a:rPr lang="en-AU" sz="4400" b="1">
                <a:latin typeface="Arial"/>
                <a:cs typeface="Arial"/>
              </a:rPr>
              <a:t>predict</a:t>
            </a:r>
            <a:r>
              <a:rPr lang="en-AU" sz="4400">
                <a:latin typeface="Arial"/>
                <a:cs typeface="Arial"/>
              </a:rPr>
              <a:t> it will land on the number 3?</a:t>
            </a:r>
          </a:p>
          <a:p>
            <a:pPr algn="ctr"/>
            <a:r>
              <a:rPr lang="en-AU" sz="4400">
                <a:latin typeface="Arial"/>
                <a:cs typeface="Arial"/>
              </a:rPr>
              <a:t>Communicate your reasoning.</a:t>
            </a:r>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55FD276A-C397-9187-758E-5683EDE3430B}"/>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74571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0193700" cy="545601"/>
          </a:xfrm>
        </p:spPr>
        <p:txBody>
          <a:bodyPr/>
          <a:lstStyle/>
          <a:p>
            <a:r>
              <a:rPr lang="en-AU"/>
              <a:t>Activity 5 – represent numbers up to thousands using numerals</a:t>
            </a:r>
          </a:p>
        </p:txBody>
      </p:sp>
      <p:pic>
        <p:nvPicPr>
          <p:cNvPr id="5" name="Picture 4" descr="image of a head with cogs turning inside">
            <a:extLst>
              <a:ext uri="{FF2B5EF4-FFF2-40B4-BE49-F238E27FC236}">
                <a16:creationId xmlns:a16="http://schemas.microsoft.com/office/drawing/2014/main" id="{0B0A891C-E6E7-D441-E886-AF2C9ED4937A}"/>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6" name="Picture 5" descr="‘Hit it 9999’ gameboard showing 2 whiteboards labelled ‘Student A’ and ‘Student B’. Each whiteboard has 4 place value labels for the thousands, hundreds, tens and ones columns, and 4 lines to represent each of the 4 digits rolled. Three rows of numbers have been completed, with 2 empty rows to fill in.&#10;Student A has rolled 8741, 2968 and 8939.&#10;Student B has rolled 5331, 9418 and 7839.&#10;For each row, the student who has rolled the highest number scores a point.">
            <a:extLst>
              <a:ext uri="{FF2B5EF4-FFF2-40B4-BE49-F238E27FC236}">
                <a16:creationId xmlns:a16="http://schemas.microsoft.com/office/drawing/2014/main" id="{3486578F-A381-8D11-C41A-EED50563EB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6009" y="1495786"/>
            <a:ext cx="8539981" cy="5277517"/>
          </a:xfrm>
          <a:prstGeom prst="rect">
            <a:avLst/>
          </a:prstGeom>
        </p:spPr>
      </p:pic>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217171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2A2D-5D54-42BE-C8C2-C2A6CB078A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32E23-FB04-E164-BE83-F761F94A317D}"/>
              </a:ext>
            </a:extLst>
          </p:cNvPr>
          <p:cNvSpPr>
            <a:spLocks noGrp="1"/>
          </p:cNvSpPr>
          <p:nvPr>
            <p:ph type="ctrTitle"/>
          </p:nvPr>
        </p:nvSpPr>
        <p:spPr/>
        <p:txBody>
          <a:bodyPr/>
          <a:lstStyle/>
          <a:p>
            <a:r>
              <a:rPr lang="en-AU">
                <a:latin typeface="+mj-lt"/>
                <a:cs typeface="Arial"/>
              </a:rPr>
              <a:t>Review of learning 6</a:t>
            </a:r>
            <a:endParaRPr lang="en-AU">
              <a:latin typeface="+mj-lt"/>
            </a:endParaRPr>
          </a:p>
        </p:txBody>
      </p:sp>
    </p:spTree>
    <p:extLst>
      <p:ext uri="{BB962C8B-B14F-4D97-AF65-F5344CB8AC3E}">
        <p14:creationId xmlns:p14="http://schemas.microsoft.com/office/powerpoint/2010/main" val="31286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EE8F-3F48-A6A8-BFF8-F8998C7850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239AA5-BD2F-916C-A693-02FBD1E332CB}"/>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(3)</a:t>
            </a:r>
          </a:p>
        </p:txBody>
      </p:sp>
      <p:pic>
        <p:nvPicPr>
          <p:cNvPr id="5" name="Picture 4" descr="image of a finger selecting an option for a multiple choice or true and false">
            <a:extLst>
              <a:ext uri="{FF2B5EF4-FFF2-40B4-BE49-F238E27FC236}">
                <a16:creationId xmlns:a16="http://schemas.microsoft.com/office/drawing/2014/main" id="{3E938BB2-3AD2-DA1B-E3B0-15AF957C979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6">
            <a:extLst>
              <a:ext uri="{FF2B5EF4-FFF2-40B4-BE49-F238E27FC236}">
                <a16:creationId xmlns:a16="http://schemas.microsoft.com/office/drawing/2014/main" id="{4743D993-BC52-886E-0C46-306156440477}"/>
              </a:ext>
            </a:extLst>
          </p:cNvPr>
          <p:cNvSpPr>
            <a:spLocks noGrp="1"/>
          </p:cNvSpPr>
          <p:nvPr>
            <p:ph type="body" sz="quarter" idx="22"/>
          </p:nvPr>
        </p:nvSpPr>
        <p:spPr>
          <a:xfrm>
            <a:off x="303295" y="1279509"/>
            <a:ext cx="11185528" cy="2128068"/>
          </a:xfrm>
        </p:spPr>
        <p:txBody>
          <a:bodyPr vert="horz" lIns="0" tIns="0" rIns="0" bIns="0" rtlCol="0" anchor="t">
            <a:noAutofit/>
          </a:bodyPr>
          <a:lstStyle/>
          <a:p>
            <a:pPr algn="ctr"/>
            <a:r>
              <a:rPr lang="en-AU" sz="4400" dirty="0">
                <a:latin typeface="Arial"/>
                <a:cs typeface="Arial"/>
              </a:rPr>
              <a:t>Five thousand and sixty-two is the same as 5062.</a:t>
            </a:r>
            <a:endParaRPr lang="en-US" dirty="0"/>
          </a:p>
        </p:txBody>
      </p:sp>
      <p:graphicFrame>
        <p:nvGraphicFramePr>
          <p:cNvPr id="13" name="Table 12">
            <a:extLst>
              <a:ext uri="{FF2B5EF4-FFF2-40B4-BE49-F238E27FC236}">
                <a16:creationId xmlns:a16="http://schemas.microsoft.com/office/drawing/2014/main" id="{B37F8FD6-1114-0311-68BF-0ED89EC52553}"/>
              </a:ext>
            </a:extLst>
          </p:cNvPr>
          <p:cNvGraphicFramePr>
            <a:graphicFrameLocks noGrp="1"/>
          </p:cNvGraphicFramePr>
          <p:nvPr>
            <p:extLst>
              <p:ext uri="{D42A27DB-BD31-4B8C-83A1-F6EECF244321}">
                <p14:modId xmlns:p14="http://schemas.microsoft.com/office/powerpoint/2010/main" val="2172982458"/>
              </p:ext>
            </p:extLst>
          </p:nvPr>
        </p:nvGraphicFramePr>
        <p:xfrm>
          <a:off x="2442981" y="388201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6" name="Text Placeholder 6">
            <a:extLst>
              <a:ext uri="{FF2B5EF4-FFF2-40B4-BE49-F238E27FC236}">
                <a16:creationId xmlns:a16="http://schemas.microsoft.com/office/drawing/2014/main" id="{0F92E5A7-6B31-AB53-C955-F26938BA825B}"/>
              </a:ext>
            </a:extLst>
          </p:cNvPr>
          <p:cNvSpPr txBox="1">
            <a:spLocks/>
          </p:cNvSpPr>
          <p:nvPr/>
        </p:nvSpPr>
        <p:spPr>
          <a:xfrm>
            <a:off x="470073" y="5098135"/>
            <a:ext cx="11243037" cy="142357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latin typeface="Arial"/>
                <a:cs typeface="Arial"/>
              </a:rPr>
              <a:t>Communicate your reasoning. </a:t>
            </a:r>
            <a:endParaRPr lang="en-US" sz="4400"/>
          </a:p>
        </p:txBody>
      </p:sp>
      <p:sp>
        <p:nvSpPr>
          <p:cNvPr id="2" name="Slide Number Placeholder 1">
            <a:extLst>
              <a:ext uri="{FF2B5EF4-FFF2-40B4-BE49-F238E27FC236}">
                <a16:creationId xmlns:a16="http://schemas.microsoft.com/office/drawing/2014/main" id="{4E3DBF4C-4471-70A6-E61E-AB472EE35E92}"/>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46215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F4A1-EDA2-571F-5B96-FDF8BD0C7E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E88FA31-7274-55BC-6613-F0B8D3114635}"/>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(21)</a:t>
            </a:r>
          </a:p>
        </p:txBody>
      </p:sp>
      <p:pic>
        <p:nvPicPr>
          <p:cNvPr id="6" name="Picture 5" descr="image of a clipboard with a pencil recording short answer responses">
            <a:extLst>
              <a:ext uri="{FF2B5EF4-FFF2-40B4-BE49-F238E27FC236}">
                <a16:creationId xmlns:a16="http://schemas.microsoft.com/office/drawing/2014/main" id="{21E4E3D2-0BD0-2FBF-559D-EDC8BC549F4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C93A6F7-F038-1103-81A8-DEC79B934407}"/>
              </a:ext>
            </a:extLst>
          </p:cNvPr>
          <p:cNvSpPr txBox="1"/>
          <p:nvPr/>
        </p:nvSpPr>
        <p:spPr>
          <a:xfrm>
            <a:off x="413662" y="996878"/>
            <a:ext cx="11189376" cy="5043055"/>
          </a:xfrm>
          <a:prstGeom prst="rect">
            <a:avLst/>
          </a:prstGeom>
          <a:noFill/>
        </p:spPr>
        <p:txBody>
          <a:bodyPr wrap="square" lIns="0" tIns="0" rIns="0" bIns="0" rtlCol="0">
            <a:noAutofit/>
          </a:bodyPr>
          <a:lstStyle/>
          <a:p>
            <a:pPr algn="ctr"/>
            <a:r>
              <a:rPr lang="en-AU" sz="4400" dirty="0"/>
              <a:t>Solve:</a:t>
            </a:r>
          </a:p>
          <a:p>
            <a:pPr algn="ctr"/>
            <a:r>
              <a:rPr lang="en-AU" sz="4400" dirty="0"/>
              <a:t> </a:t>
            </a:r>
          </a:p>
          <a:p>
            <a:pPr algn="ctr"/>
            <a:r>
              <a:rPr lang="en-AU" sz="4400" b="1" dirty="0"/>
              <a:t>67 + 29 + 13 = ?</a:t>
            </a:r>
            <a:endParaRPr lang="en-AU" sz="4400" dirty="0"/>
          </a:p>
          <a:p>
            <a:pPr algn="ctr">
              <a:lnSpc>
                <a:spcPct val="150000"/>
              </a:lnSpc>
            </a:pPr>
            <a:endParaRPr lang="en-AU" sz="4400" dirty="0"/>
          </a:p>
          <a:p>
            <a:pPr algn="ctr">
              <a:lnSpc>
                <a:spcPct val="150000"/>
              </a:lnSpc>
            </a:pPr>
            <a:r>
              <a:rPr lang="en-AU" sz="4400" dirty="0"/>
              <a:t>How could you rearrange the numbers to make it easier to solve?</a:t>
            </a:r>
          </a:p>
          <a:p>
            <a:pPr marL="571500" indent="-571500" algn="ctr">
              <a:lnSpc>
                <a:spcPct val="150000"/>
              </a:lnSpc>
              <a:buFontTx/>
              <a:buChar char="-"/>
            </a:pPr>
            <a:endParaRPr lang="en-AU" sz="3600" dirty="0"/>
          </a:p>
        </p:txBody>
      </p:sp>
      <p:sp>
        <p:nvSpPr>
          <p:cNvPr id="2" name="Slide Number Placeholder 1">
            <a:extLst>
              <a:ext uri="{FF2B5EF4-FFF2-40B4-BE49-F238E27FC236}">
                <a16:creationId xmlns:a16="http://schemas.microsoft.com/office/drawing/2014/main" id="{5A98F8AC-46DC-BE09-C063-0F99C404F8CD}"/>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689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5182-257F-1678-1C50-B8D0403D96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D1DC104-86CB-4221-6644-89860C0DAC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(22)</a:t>
            </a:r>
          </a:p>
        </p:txBody>
      </p:sp>
      <p:pic>
        <p:nvPicPr>
          <p:cNvPr id="4" name="Picture 3" descr="image of a clipboard with a pencil recording short answer responses">
            <a:extLst>
              <a:ext uri="{FF2B5EF4-FFF2-40B4-BE49-F238E27FC236}">
                <a16:creationId xmlns:a16="http://schemas.microsoft.com/office/drawing/2014/main" id="{74AF2FB9-0796-D0A5-0E5E-4B63AC091B6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Picture Placeholder 10">
            <a:extLst>
              <a:ext uri="{FF2B5EF4-FFF2-40B4-BE49-F238E27FC236}">
                <a16:creationId xmlns:a16="http://schemas.microsoft.com/office/drawing/2014/main" id="{37AA3CA6-5BA0-3A47-4F6F-2D8A022B961F}"/>
              </a:ext>
            </a:extLst>
          </p:cNvPr>
          <p:cNvSpPr txBox="1">
            <a:spLocks/>
          </p:cNvSpPr>
          <p:nvPr/>
        </p:nvSpPr>
        <p:spPr>
          <a:xfrm>
            <a:off x="474480" y="828295"/>
            <a:ext cx="11243037" cy="331055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a:latin typeface="Arial"/>
                <a:cs typeface="Arial"/>
              </a:rPr>
              <a:t>Match the </a:t>
            </a:r>
            <a:r>
              <a:rPr lang="en-US" sz="4000" b="1">
                <a:latin typeface="Arial"/>
                <a:cs typeface="Arial"/>
              </a:rPr>
              <a:t>angle</a:t>
            </a:r>
            <a:r>
              <a:rPr lang="en-US" sz="4000">
                <a:latin typeface="Arial"/>
                <a:cs typeface="Arial"/>
              </a:rPr>
              <a:t> to the description:</a:t>
            </a:r>
          </a:p>
          <a:p>
            <a:pPr marL="571500" indent="-571500" algn="ctr">
              <a:lnSpc>
                <a:spcPct val="100000"/>
              </a:lnSpc>
              <a:buFont typeface="Arial" panose="020B0604020202020204" pitchFamily="34" charset="0"/>
              <a:buChar char="•"/>
            </a:pPr>
            <a:r>
              <a:rPr lang="en-AU" sz="4000"/>
              <a:t>greater than a right angle </a:t>
            </a:r>
          </a:p>
          <a:p>
            <a:pPr marL="571500" indent="-571500" algn="ctr">
              <a:lnSpc>
                <a:spcPct val="100000"/>
              </a:lnSpc>
              <a:buFont typeface="Arial" panose="020B0604020202020204" pitchFamily="34" charset="0"/>
              <a:buChar char="•"/>
            </a:pPr>
            <a:r>
              <a:rPr lang="en-AU" sz="4000"/>
              <a:t>a right angle </a:t>
            </a:r>
          </a:p>
          <a:p>
            <a:pPr marL="571500" indent="-571500" algn="ctr">
              <a:lnSpc>
                <a:spcPct val="100000"/>
              </a:lnSpc>
              <a:buFont typeface="Arial" panose="020B0604020202020204" pitchFamily="34" charset="0"/>
              <a:buChar char="•"/>
            </a:pPr>
            <a:r>
              <a:rPr lang="en-AU" sz="4000"/>
              <a:t>less than a right angle</a:t>
            </a:r>
          </a:p>
          <a:p>
            <a:pPr algn="ctr"/>
            <a:endParaRPr lang="en-US" sz="4400">
              <a:latin typeface="Arial"/>
              <a:cs typeface="Arial"/>
            </a:endParaRPr>
          </a:p>
          <a:p>
            <a:pPr algn="ctr"/>
            <a:endParaRPr lang="en-US" sz="4400"/>
          </a:p>
          <a:p>
            <a:pPr algn="ctr"/>
            <a:endParaRPr lang="en-US">
              <a:latin typeface="Arial"/>
              <a:cs typeface="Arial"/>
            </a:endParaRPr>
          </a:p>
        </p:txBody>
      </p:sp>
      <p:sp>
        <p:nvSpPr>
          <p:cNvPr id="27" name="TextBox 26">
            <a:extLst>
              <a:ext uri="{FF2B5EF4-FFF2-40B4-BE49-F238E27FC236}">
                <a16:creationId xmlns:a16="http://schemas.microsoft.com/office/drawing/2014/main" id="{4B34802F-419D-663C-6353-07D83BAB5DF4}"/>
              </a:ext>
            </a:extLst>
          </p:cNvPr>
          <p:cNvSpPr txBox="1"/>
          <p:nvPr/>
        </p:nvSpPr>
        <p:spPr>
          <a:xfrm>
            <a:off x="360000" y="4417467"/>
            <a:ext cx="10900909" cy="658314"/>
          </a:xfrm>
          <a:prstGeom prst="rect">
            <a:avLst/>
          </a:prstGeom>
          <a:noFill/>
        </p:spPr>
        <p:txBody>
          <a:bodyPr wrap="square" lIns="0" tIns="0" rIns="0" bIns="0" rtlCol="0">
            <a:noAutofit/>
          </a:bodyPr>
          <a:lstStyle/>
          <a:p>
            <a:pPr algn="l"/>
            <a:r>
              <a:rPr lang="en-AU" sz="3600" b="1"/>
              <a:t> A                              B                                C</a:t>
            </a:r>
            <a:br>
              <a:rPr lang="en-AU" sz="3600"/>
            </a:br>
            <a:br>
              <a:rPr lang="en-AU" sz="3600"/>
            </a:br>
            <a:endParaRPr lang="en-AU" sz="3600"/>
          </a:p>
          <a:p>
            <a:pPr algn="l"/>
            <a:endParaRPr lang="en-AU" sz="1800"/>
          </a:p>
        </p:txBody>
      </p:sp>
      <p:pic>
        <p:nvPicPr>
          <p:cNvPr id="28" name="Picture 27" descr="Acute angle ">
            <a:extLst>
              <a:ext uri="{FF2B5EF4-FFF2-40B4-BE49-F238E27FC236}">
                <a16:creationId xmlns:a16="http://schemas.microsoft.com/office/drawing/2014/main" id="{33E73404-086C-C640-2E29-88450F4822FF}"/>
              </a:ext>
            </a:extLst>
          </p:cNvPr>
          <p:cNvPicPr>
            <a:picLocks noChangeAspect="1"/>
          </p:cNvPicPr>
          <p:nvPr/>
        </p:nvPicPr>
        <p:blipFill>
          <a:blip r:embed="rId4"/>
          <a:stretch>
            <a:fillRect/>
          </a:stretch>
        </p:blipFill>
        <p:spPr>
          <a:xfrm>
            <a:off x="971825" y="4237935"/>
            <a:ext cx="3029106" cy="2057506"/>
          </a:xfrm>
          <a:prstGeom prst="rect">
            <a:avLst/>
          </a:prstGeom>
        </p:spPr>
      </p:pic>
      <p:pic>
        <p:nvPicPr>
          <p:cNvPr id="30" name="Picture 29" descr="Obtuse angle">
            <a:extLst>
              <a:ext uri="{FF2B5EF4-FFF2-40B4-BE49-F238E27FC236}">
                <a16:creationId xmlns:a16="http://schemas.microsoft.com/office/drawing/2014/main" id="{BF3A6556-7C8B-E00B-983C-4AD24274B513}"/>
              </a:ext>
            </a:extLst>
          </p:cNvPr>
          <p:cNvPicPr>
            <a:picLocks noChangeAspect="1"/>
          </p:cNvPicPr>
          <p:nvPr/>
        </p:nvPicPr>
        <p:blipFill>
          <a:blip r:embed="rId5"/>
          <a:stretch>
            <a:fillRect/>
          </a:stretch>
        </p:blipFill>
        <p:spPr>
          <a:xfrm>
            <a:off x="4987123" y="4443661"/>
            <a:ext cx="3791145" cy="1930499"/>
          </a:xfrm>
          <a:prstGeom prst="rect">
            <a:avLst/>
          </a:prstGeom>
        </p:spPr>
      </p:pic>
      <p:pic>
        <p:nvPicPr>
          <p:cNvPr id="29" name="Picture 28" descr="Right angle">
            <a:extLst>
              <a:ext uri="{FF2B5EF4-FFF2-40B4-BE49-F238E27FC236}">
                <a16:creationId xmlns:a16="http://schemas.microsoft.com/office/drawing/2014/main" id="{701D1F14-E8BF-9FA9-0B42-6B9DAED136B0}"/>
              </a:ext>
            </a:extLst>
          </p:cNvPr>
          <p:cNvPicPr>
            <a:picLocks noChangeAspect="1"/>
          </p:cNvPicPr>
          <p:nvPr/>
        </p:nvPicPr>
        <p:blipFill>
          <a:blip r:embed="rId6"/>
          <a:stretch>
            <a:fillRect/>
          </a:stretch>
        </p:blipFill>
        <p:spPr>
          <a:xfrm>
            <a:off x="9317005" y="4138845"/>
            <a:ext cx="2273417" cy="2235315"/>
          </a:xfrm>
          <a:prstGeom prst="rect">
            <a:avLst/>
          </a:prstGeom>
        </p:spPr>
      </p:pic>
      <p:sp>
        <p:nvSpPr>
          <p:cNvPr id="2" name="Slide Number Placeholder 1">
            <a:extLst>
              <a:ext uri="{FF2B5EF4-FFF2-40B4-BE49-F238E27FC236}">
                <a16:creationId xmlns:a16="http://schemas.microsoft.com/office/drawing/2014/main" id="{DDDCFCF7-04CF-C461-ECB1-3FC634BF5BAD}"/>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184714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FF86-7C5B-FA31-D796-296DE0A8C80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1C906B-02BA-2EFD-6FF2-2138C2C6F5C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(23) </a:t>
            </a:r>
          </a:p>
        </p:txBody>
      </p:sp>
      <p:pic>
        <p:nvPicPr>
          <p:cNvPr id="4" name="Picture 3" descr="image of a clipboard with a pencil recording short answer responses">
            <a:extLst>
              <a:ext uri="{FF2B5EF4-FFF2-40B4-BE49-F238E27FC236}">
                <a16:creationId xmlns:a16="http://schemas.microsoft.com/office/drawing/2014/main" id="{E1E55483-DDAD-9F28-32B5-EE0C91CE4FD5}"/>
              </a:ext>
            </a:extLst>
          </p:cNvPr>
          <p:cNvPicPr>
            <a:picLocks noChangeAspect="1"/>
          </p:cNvPicPr>
          <p:nvPr/>
        </p:nvPicPr>
        <p:blipFill>
          <a:blip r:embed="rId3"/>
          <a:stretch>
            <a:fillRect/>
          </a:stretch>
        </p:blipFill>
        <p:spPr>
          <a:xfrm>
            <a:off x="11124000" y="55921"/>
            <a:ext cx="915500" cy="915500"/>
          </a:xfrm>
          <a:prstGeom prst="rect">
            <a:avLst/>
          </a:prstGeom>
        </p:spPr>
      </p:pic>
      <p:pic>
        <p:nvPicPr>
          <p:cNvPr id="7" name="Picture 6" descr="A vertical column graph titled &quot;Favourite sport&quot; with five categories:&#10;Soccer (12 votes)&#10;Netball (6 votes)&#10;Swimming (7 votes)&#10;Basketball (8 votes)&#10;Dance (10 votes).&#10;The bars are dark blue and labelled along the x-axis with sport names and a y-axis showing frequency from 0 to 12.">
            <a:extLst>
              <a:ext uri="{FF2B5EF4-FFF2-40B4-BE49-F238E27FC236}">
                <a16:creationId xmlns:a16="http://schemas.microsoft.com/office/drawing/2014/main" id="{F01DF78F-269F-E661-D681-5DC8369D03B0}"/>
              </a:ext>
            </a:extLst>
          </p:cNvPr>
          <p:cNvPicPr>
            <a:picLocks noChangeAspect="1"/>
          </p:cNvPicPr>
          <p:nvPr/>
        </p:nvPicPr>
        <p:blipFill>
          <a:blip r:embed="rId4"/>
          <a:stretch>
            <a:fillRect/>
          </a:stretch>
        </p:blipFill>
        <p:spPr>
          <a:xfrm>
            <a:off x="246024" y="1078227"/>
            <a:ext cx="4483330" cy="5334274"/>
          </a:xfrm>
          <a:prstGeom prst="rect">
            <a:avLst/>
          </a:prstGeom>
        </p:spPr>
      </p:pic>
      <p:sp>
        <p:nvSpPr>
          <p:cNvPr id="11" name="Picture Placeholder 10">
            <a:extLst>
              <a:ext uri="{FF2B5EF4-FFF2-40B4-BE49-F238E27FC236}">
                <a16:creationId xmlns:a16="http://schemas.microsoft.com/office/drawing/2014/main" id="{8A7FE6AB-F028-BE57-C4D2-218E23CCA7F3}"/>
              </a:ext>
            </a:extLst>
          </p:cNvPr>
          <p:cNvSpPr>
            <a:spLocks noGrp="1"/>
          </p:cNvSpPr>
          <p:nvPr>
            <p:ph type="pic" sz="quarter" idx="21"/>
          </p:nvPr>
        </p:nvSpPr>
        <p:spPr>
          <a:xfrm>
            <a:off x="5275602" y="1037240"/>
            <a:ext cx="6827908" cy="5091860"/>
          </a:xfrm>
        </p:spPr>
        <p:txBody>
          <a:bodyPr/>
          <a:lstStyle/>
          <a:p>
            <a:pPr algn="ctr">
              <a:lnSpc>
                <a:spcPct val="100000"/>
              </a:lnSpc>
            </a:pPr>
            <a:r>
              <a:rPr lang="en-AU" sz="3600"/>
              <a:t>Using the </a:t>
            </a:r>
            <a:r>
              <a:rPr lang="en-AU" sz="3600" b="1"/>
              <a:t>data</a:t>
            </a:r>
            <a:r>
              <a:rPr lang="en-AU" sz="3600"/>
              <a:t> in the </a:t>
            </a:r>
            <a:r>
              <a:rPr lang="en-AU" sz="3600" b="1"/>
              <a:t>column graph:</a:t>
            </a:r>
          </a:p>
          <a:p>
            <a:pPr marL="571500" indent="-571500">
              <a:lnSpc>
                <a:spcPct val="100000"/>
              </a:lnSpc>
              <a:buFont typeface="Arial" panose="020B0604020202020204" pitchFamily="34" charset="0"/>
              <a:buChar char="•"/>
            </a:pPr>
            <a:r>
              <a:rPr lang="en-AU" sz="3600"/>
              <a:t>Which sport was the most </a:t>
            </a:r>
            <a:r>
              <a:rPr lang="en-AU" sz="3600" b="1"/>
              <a:t>popular</a:t>
            </a:r>
            <a:r>
              <a:rPr lang="en-AU" sz="3600"/>
              <a:t>?</a:t>
            </a:r>
          </a:p>
          <a:p>
            <a:pPr marL="571500" indent="-571500">
              <a:lnSpc>
                <a:spcPct val="100000"/>
              </a:lnSpc>
              <a:buFont typeface="Arial" panose="020B0604020202020204" pitchFamily="34" charset="0"/>
              <a:buChar char="•"/>
            </a:pPr>
            <a:r>
              <a:rPr lang="en-AU" sz="3600"/>
              <a:t>How many students chose basketball and netball </a:t>
            </a:r>
            <a:r>
              <a:rPr lang="en-AU" sz="3600" b="1"/>
              <a:t>altogether</a:t>
            </a:r>
            <a:r>
              <a:rPr lang="en-AU" sz="3600"/>
              <a:t>?</a:t>
            </a:r>
          </a:p>
          <a:p>
            <a:pPr marL="571500" indent="-571500">
              <a:lnSpc>
                <a:spcPct val="100000"/>
              </a:lnSpc>
              <a:buFont typeface="Arial" panose="020B0604020202020204" pitchFamily="34" charset="0"/>
              <a:buChar char="•"/>
            </a:pPr>
            <a:r>
              <a:rPr lang="en-AU" sz="3600"/>
              <a:t>How many </a:t>
            </a:r>
            <a:r>
              <a:rPr lang="en-AU" sz="3600" b="1"/>
              <a:t>more</a:t>
            </a:r>
            <a:r>
              <a:rPr lang="en-AU" sz="3600"/>
              <a:t> students chose soccer than swimming?</a:t>
            </a:r>
            <a:endParaRPr lang="en-US" sz="3600"/>
          </a:p>
          <a:p>
            <a:endParaRPr lang="en-US">
              <a:latin typeface="Arial"/>
              <a:cs typeface="Arial"/>
            </a:endParaRPr>
          </a:p>
        </p:txBody>
      </p:sp>
      <p:sp>
        <p:nvSpPr>
          <p:cNvPr id="2" name="Slide Number Placeholder 1">
            <a:extLst>
              <a:ext uri="{FF2B5EF4-FFF2-40B4-BE49-F238E27FC236}">
                <a16:creationId xmlns:a16="http://schemas.microsoft.com/office/drawing/2014/main" id="{57FEA1A1-341D-8A60-97E6-8F9B65B0FF5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800713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F0B1-A631-6222-A4F6-6ADABC92764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CF2E279-7B70-6AD5-A87B-975C74B4C5A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(24)</a:t>
            </a:r>
          </a:p>
        </p:txBody>
      </p:sp>
      <p:pic>
        <p:nvPicPr>
          <p:cNvPr id="4" name="Picture 3" descr="image of a clipboard with a pencil recording short answer responses">
            <a:extLst>
              <a:ext uri="{FF2B5EF4-FFF2-40B4-BE49-F238E27FC236}">
                <a16:creationId xmlns:a16="http://schemas.microsoft.com/office/drawing/2014/main" id="{7B9A45D8-37E1-80DE-ED67-BEAF2EE1521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292E23AF-C9AF-1BEC-B7EF-97960722B4D3}"/>
              </a:ext>
            </a:extLst>
          </p:cNvPr>
          <p:cNvSpPr>
            <a:spLocks noGrp="1"/>
          </p:cNvSpPr>
          <p:nvPr>
            <p:ph type="pic" sz="quarter" idx="21"/>
          </p:nvPr>
        </p:nvSpPr>
        <p:spPr>
          <a:xfrm>
            <a:off x="418989" y="1238604"/>
            <a:ext cx="11065011" cy="4326454"/>
          </a:xfrm>
        </p:spPr>
        <p:txBody>
          <a:bodyPr/>
          <a:lstStyle/>
          <a:p>
            <a:r>
              <a:rPr lang="en-AU" sz="4000" dirty="0"/>
              <a:t>Identify everyday items that would hold</a:t>
            </a:r>
          </a:p>
          <a:p>
            <a:pPr marL="571500" indent="-571500">
              <a:buFont typeface="Arial" panose="020B0604020202020204" pitchFamily="34" charset="0"/>
              <a:buChar char="•"/>
            </a:pPr>
            <a:r>
              <a:rPr lang="en-AU" sz="4000" b="1" dirty="0"/>
              <a:t>less than 1 litre</a:t>
            </a:r>
            <a:endParaRPr lang="en-AU" sz="4000" dirty="0"/>
          </a:p>
          <a:p>
            <a:pPr marL="571500" indent="-571500">
              <a:buFont typeface="Arial" panose="020B0604020202020204" pitchFamily="34" charset="0"/>
              <a:buChar char="•"/>
            </a:pPr>
            <a:r>
              <a:rPr lang="en-AU" sz="4000" b="1" dirty="0"/>
              <a:t>about 1 litre</a:t>
            </a:r>
            <a:endParaRPr lang="en-AU" sz="4000" dirty="0"/>
          </a:p>
          <a:p>
            <a:pPr marL="571500" indent="-571500">
              <a:buFont typeface="Arial" panose="020B0604020202020204" pitchFamily="34" charset="0"/>
              <a:buChar char="•"/>
            </a:pPr>
            <a:r>
              <a:rPr lang="en-AU" sz="4000" b="1"/>
              <a:t>more </a:t>
            </a:r>
            <a:r>
              <a:rPr lang="en-AU" sz="4000" b="1" dirty="0"/>
              <a:t>than 1 litre</a:t>
            </a:r>
            <a:endParaRPr lang="en-AU" sz="4000" dirty="0"/>
          </a:p>
        </p:txBody>
      </p:sp>
      <p:sp>
        <p:nvSpPr>
          <p:cNvPr id="2" name="Slide Number Placeholder 1">
            <a:extLst>
              <a:ext uri="{FF2B5EF4-FFF2-40B4-BE49-F238E27FC236}">
                <a16:creationId xmlns:a16="http://schemas.microsoft.com/office/drawing/2014/main" id="{3AA87200-480B-20DB-4C26-10675759AD1F}"/>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28491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1045C-5F90-CA78-C66E-E986C1547EC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0C3FF6-F367-C090-601F-DA7EF7F79C55}"/>
              </a:ext>
            </a:extLst>
          </p:cNvPr>
          <p:cNvSpPr>
            <a:spLocks noGrp="1"/>
          </p:cNvSpPr>
          <p:nvPr>
            <p:ph type="title"/>
          </p:nvPr>
        </p:nvSpPr>
        <p:spPr>
          <a:xfrm>
            <a:off x="360000" y="360000"/>
            <a:ext cx="11484000" cy="545601"/>
          </a:xfrm>
        </p:spPr>
        <p:txBody>
          <a:bodyPr/>
          <a:lstStyle/>
          <a:p>
            <a:r>
              <a:rPr lang="en-AU"/>
              <a:t>Activity 6 – represent, read and order numbers up to thousands</a:t>
            </a:r>
          </a:p>
        </p:txBody>
      </p:sp>
      <p:pic>
        <p:nvPicPr>
          <p:cNvPr id="5" name="Picture 4" descr="image of a head with cogs turning inside">
            <a:extLst>
              <a:ext uri="{FF2B5EF4-FFF2-40B4-BE49-F238E27FC236}">
                <a16:creationId xmlns:a16="http://schemas.microsoft.com/office/drawing/2014/main" id="{73D6EC62-3C78-76C1-5B80-6CCB4AD0A84A}"/>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9" name="Picture 8" descr="There is a sticky note with the number 4892 on it. To the right of the sticky note is a whiteboard showing 3 columns titled: Guess, Digits and Places. &#10;&#10;The first guess reads: 2859 in the Guess column, 2 in the Digits column and 1 in the Places column. &#10;&#10;The second guess reads: 3865 in the Guess column, 1 in the Digits column and 1 in the Places column.&#10;&#10;The third guess reads: 1894 in the Guess column, 2 in the Digits column and 2 in the Places column.">
            <a:extLst>
              <a:ext uri="{FF2B5EF4-FFF2-40B4-BE49-F238E27FC236}">
                <a16:creationId xmlns:a16="http://schemas.microsoft.com/office/drawing/2014/main" id="{3D141BD0-ECDC-CD4B-89B2-5BD0C5138CF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99506" y="1038432"/>
            <a:ext cx="5267991" cy="5477568"/>
          </a:xfrm>
          <a:prstGeom prst="rect">
            <a:avLst/>
          </a:prstGeom>
        </p:spPr>
      </p:pic>
      <p:sp>
        <p:nvSpPr>
          <p:cNvPr id="2" name="Slide Number Placeholder 1">
            <a:extLst>
              <a:ext uri="{FF2B5EF4-FFF2-40B4-BE49-F238E27FC236}">
                <a16:creationId xmlns:a16="http://schemas.microsoft.com/office/drawing/2014/main" id="{94932E69-68C8-0707-FB2F-1DA3D5CA277F}"/>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782496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424F-7DD0-3E03-466D-8D5582F98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B056C-EFDF-07CA-9F8C-380C2D645C57}"/>
              </a:ext>
            </a:extLst>
          </p:cNvPr>
          <p:cNvSpPr>
            <a:spLocks noGrp="1"/>
          </p:cNvSpPr>
          <p:nvPr>
            <p:ph type="ctrTitle"/>
          </p:nvPr>
        </p:nvSpPr>
        <p:spPr/>
        <p:txBody>
          <a:bodyPr/>
          <a:lstStyle/>
          <a:p>
            <a:r>
              <a:rPr lang="en-AU">
                <a:latin typeface="+mj-lt"/>
                <a:cs typeface="Arial"/>
              </a:rPr>
              <a:t>Review of learning  7</a:t>
            </a:r>
            <a:endParaRPr lang="en-AU">
              <a:latin typeface="+mj-lt"/>
            </a:endParaRPr>
          </a:p>
        </p:txBody>
      </p:sp>
    </p:spTree>
    <p:extLst>
      <p:ext uri="{BB962C8B-B14F-4D97-AF65-F5344CB8AC3E}">
        <p14:creationId xmlns:p14="http://schemas.microsoft.com/office/powerpoint/2010/main" val="53270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B09B2-7B41-D99D-EDEF-064F74DE02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8814685-3A37-A041-5F8F-6691A2B060D6}"/>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(4)</a:t>
            </a:r>
          </a:p>
        </p:txBody>
      </p:sp>
      <p:pic>
        <p:nvPicPr>
          <p:cNvPr id="5" name="Picture 4" descr="image of a finger selecting an option for a multiple choice or true and false">
            <a:extLst>
              <a:ext uri="{FF2B5EF4-FFF2-40B4-BE49-F238E27FC236}">
                <a16:creationId xmlns:a16="http://schemas.microsoft.com/office/drawing/2014/main" id="{3313E438-7F57-A13D-DE77-437CCD7BAF4C}"/>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46752A48-96D4-4039-44A3-719E3CD9A2E6}"/>
              </a:ext>
            </a:extLst>
          </p:cNvPr>
          <p:cNvSpPr>
            <a:spLocks noGrp="1"/>
          </p:cNvSpPr>
          <p:nvPr>
            <p:ph type="body" sz="quarter" idx="24"/>
          </p:nvPr>
        </p:nvSpPr>
        <p:spPr>
          <a:xfrm>
            <a:off x="474481" y="951199"/>
            <a:ext cx="11243037" cy="893226"/>
          </a:xfrm>
        </p:spPr>
        <p:txBody>
          <a:bodyPr vert="horz" lIns="0" tIns="0" rIns="0" bIns="0" rtlCol="0" anchor="t">
            <a:noAutofit/>
          </a:bodyPr>
          <a:lstStyle/>
          <a:p>
            <a:pPr algn="ctr"/>
            <a:r>
              <a:rPr lang="en-AU" sz="4000">
                <a:latin typeface="Arial"/>
                <a:cs typeface="Arial"/>
              </a:rPr>
              <a:t>Which group of numbers is ordered in </a:t>
            </a:r>
            <a:r>
              <a:rPr lang="en-AU" sz="4000" b="1">
                <a:latin typeface="Arial"/>
                <a:cs typeface="Arial"/>
              </a:rPr>
              <a:t>ascending order</a:t>
            </a:r>
            <a:r>
              <a:rPr lang="en-AU" sz="4000">
                <a:latin typeface="Arial"/>
                <a:cs typeface="Arial"/>
              </a:rPr>
              <a:t>?</a:t>
            </a:r>
            <a:endParaRPr lang="en-US" sz="4000"/>
          </a:p>
        </p:txBody>
      </p:sp>
      <p:sp>
        <p:nvSpPr>
          <p:cNvPr id="19" name="TextBox 18">
            <a:extLst>
              <a:ext uri="{FF2B5EF4-FFF2-40B4-BE49-F238E27FC236}">
                <a16:creationId xmlns:a16="http://schemas.microsoft.com/office/drawing/2014/main" id="{C22486B5-B20B-ECFB-B68C-72DF33B5AEF8}"/>
              </a:ext>
            </a:extLst>
          </p:cNvPr>
          <p:cNvSpPr txBox="1"/>
          <p:nvPr/>
        </p:nvSpPr>
        <p:spPr>
          <a:xfrm>
            <a:off x="593497" y="276041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7" name="Text Placeholder 17">
            <a:extLst>
              <a:ext uri="{FF2B5EF4-FFF2-40B4-BE49-F238E27FC236}">
                <a16:creationId xmlns:a16="http://schemas.microsoft.com/office/drawing/2014/main" id="{450C3286-B7E8-AAAB-8EBD-4BA9FBCB15D0}"/>
              </a:ext>
            </a:extLst>
          </p:cNvPr>
          <p:cNvSpPr txBox="1">
            <a:spLocks/>
          </p:cNvSpPr>
          <p:nvPr/>
        </p:nvSpPr>
        <p:spPr>
          <a:xfrm>
            <a:off x="1581688" y="2704991"/>
            <a:ext cx="10175920"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000" dirty="0"/>
              <a:t>4321  3214  1432  2143</a:t>
            </a:r>
            <a:endParaRPr lang="en-US" sz="4000" dirty="0">
              <a:cs typeface="Arial"/>
            </a:endParaRPr>
          </a:p>
        </p:txBody>
      </p:sp>
      <p:sp>
        <p:nvSpPr>
          <p:cNvPr id="20" name="TextBox 19">
            <a:extLst>
              <a:ext uri="{FF2B5EF4-FFF2-40B4-BE49-F238E27FC236}">
                <a16:creationId xmlns:a16="http://schemas.microsoft.com/office/drawing/2014/main" id="{1110263D-2A03-479E-24BF-653D29194A9F}"/>
              </a:ext>
            </a:extLst>
          </p:cNvPr>
          <p:cNvSpPr txBox="1"/>
          <p:nvPr/>
        </p:nvSpPr>
        <p:spPr>
          <a:xfrm>
            <a:off x="603215" y="383959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5" name="Text Placeholder 16">
            <a:extLst>
              <a:ext uri="{FF2B5EF4-FFF2-40B4-BE49-F238E27FC236}">
                <a16:creationId xmlns:a16="http://schemas.microsoft.com/office/drawing/2014/main" id="{1C3A464C-A5E0-09E1-ED19-F93DE29CF68D}"/>
              </a:ext>
            </a:extLst>
          </p:cNvPr>
          <p:cNvSpPr txBox="1">
            <a:spLocks/>
          </p:cNvSpPr>
          <p:nvPr/>
        </p:nvSpPr>
        <p:spPr>
          <a:xfrm>
            <a:off x="1581688" y="3700303"/>
            <a:ext cx="10175920"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000" dirty="0"/>
              <a:t>1432  2143  3214  4321</a:t>
            </a:r>
            <a:endParaRPr lang="en-US" sz="4000" dirty="0">
              <a:cs typeface="Arial"/>
            </a:endParaRPr>
          </a:p>
        </p:txBody>
      </p:sp>
      <p:sp>
        <p:nvSpPr>
          <p:cNvPr id="22" name="TextBox 21">
            <a:extLst>
              <a:ext uri="{FF2B5EF4-FFF2-40B4-BE49-F238E27FC236}">
                <a16:creationId xmlns:a16="http://schemas.microsoft.com/office/drawing/2014/main" id="{2186A1D1-9233-0F98-2494-7F7F6E040000}"/>
              </a:ext>
            </a:extLst>
          </p:cNvPr>
          <p:cNvSpPr txBox="1"/>
          <p:nvPr/>
        </p:nvSpPr>
        <p:spPr>
          <a:xfrm>
            <a:off x="603217" y="4774153"/>
            <a:ext cx="52942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4" name="Text Placeholder 15">
            <a:extLst>
              <a:ext uri="{FF2B5EF4-FFF2-40B4-BE49-F238E27FC236}">
                <a16:creationId xmlns:a16="http://schemas.microsoft.com/office/drawing/2014/main" id="{6B1CCA8F-0E32-30AF-D13E-E8C5D15C4AD0}"/>
              </a:ext>
            </a:extLst>
          </p:cNvPr>
          <p:cNvSpPr txBox="1">
            <a:spLocks/>
          </p:cNvSpPr>
          <p:nvPr/>
        </p:nvSpPr>
        <p:spPr>
          <a:xfrm>
            <a:off x="1581688" y="4704880"/>
            <a:ext cx="10175920"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000" dirty="0"/>
              <a:t>3214  2143  1432  4321</a:t>
            </a:r>
            <a:endParaRPr lang="en-US" sz="4000" dirty="0"/>
          </a:p>
        </p:txBody>
      </p:sp>
      <p:sp>
        <p:nvSpPr>
          <p:cNvPr id="21" name="TextBox 20">
            <a:extLst>
              <a:ext uri="{FF2B5EF4-FFF2-40B4-BE49-F238E27FC236}">
                <a16:creationId xmlns:a16="http://schemas.microsoft.com/office/drawing/2014/main" id="{D057A82E-080A-B2DA-EB11-019F71459DE8}"/>
              </a:ext>
            </a:extLst>
          </p:cNvPr>
          <p:cNvSpPr txBox="1"/>
          <p:nvPr/>
        </p:nvSpPr>
        <p:spPr>
          <a:xfrm>
            <a:off x="612740" y="585333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3" name="Text Placeholder 13">
            <a:extLst>
              <a:ext uri="{FF2B5EF4-FFF2-40B4-BE49-F238E27FC236}">
                <a16:creationId xmlns:a16="http://schemas.microsoft.com/office/drawing/2014/main" id="{B74C9356-58E3-A974-BF11-4F6B8E74ABB1}"/>
              </a:ext>
            </a:extLst>
          </p:cNvPr>
          <p:cNvSpPr txBox="1">
            <a:spLocks/>
          </p:cNvSpPr>
          <p:nvPr/>
        </p:nvSpPr>
        <p:spPr>
          <a:xfrm>
            <a:off x="1587547" y="5725277"/>
            <a:ext cx="10175920" cy="64139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000" dirty="0"/>
              <a:t>2143  1432  4321  3214</a:t>
            </a:r>
            <a:endParaRPr lang="en-US" sz="4000" dirty="0"/>
          </a:p>
        </p:txBody>
      </p:sp>
      <p:sp>
        <p:nvSpPr>
          <p:cNvPr id="2" name="Slide Number Placeholder 1">
            <a:extLst>
              <a:ext uri="{FF2B5EF4-FFF2-40B4-BE49-F238E27FC236}">
                <a16:creationId xmlns:a16="http://schemas.microsoft.com/office/drawing/2014/main" id="{816B9621-C224-299B-082B-E90BD81C5902}"/>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4255010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7138-09C4-3779-3ADC-C5FC41EBD76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A79083A-0495-1351-2474-66F37FD0839A}"/>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(25)</a:t>
            </a:r>
          </a:p>
        </p:txBody>
      </p:sp>
      <p:pic>
        <p:nvPicPr>
          <p:cNvPr id="4" name="Picture 3" descr="image of a clipboard with a pencil recording short answer responses">
            <a:extLst>
              <a:ext uri="{FF2B5EF4-FFF2-40B4-BE49-F238E27FC236}">
                <a16:creationId xmlns:a16="http://schemas.microsoft.com/office/drawing/2014/main" id="{6C394F32-72F3-4115-FE74-3C0EFFCECDE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ACDE4623-0E37-0882-ACB4-C9EF952037E5}"/>
              </a:ext>
            </a:extLst>
          </p:cNvPr>
          <p:cNvSpPr>
            <a:spLocks noGrp="1"/>
          </p:cNvSpPr>
          <p:nvPr>
            <p:ph type="pic" sz="quarter" idx="21"/>
          </p:nvPr>
        </p:nvSpPr>
        <p:spPr>
          <a:xfrm>
            <a:off x="404767" y="726473"/>
            <a:ext cx="11369740" cy="5771527"/>
          </a:xfrm>
        </p:spPr>
        <p:txBody>
          <a:bodyPr/>
          <a:lstStyle/>
          <a:p>
            <a:pPr algn="ctr"/>
            <a:r>
              <a:rPr lang="en-US" sz="4400" dirty="0">
                <a:latin typeface="Arial"/>
                <a:cs typeface="Arial"/>
              </a:rPr>
              <a:t>Solve the problems: </a:t>
            </a:r>
          </a:p>
          <a:p>
            <a:pPr algn="ctr"/>
            <a:endParaRPr lang="en-US" sz="2000" dirty="0">
              <a:latin typeface="Arial"/>
              <a:cs typeface="Arial"/>
            </a:endParaRPr>
          </a:p>
          <a:p>
            <a:pPr algn="ctr"/>
            <a:r>
              <a:rPr lang="en-US" sz="4400" dirty="0">
                <a:latin typeface="Arial"/>
                <a:cs typeface="Arial"/>
              </a:rPr>
              <a:t>245 + 35 = ?</a:t>
            </a:r>
          </a:p>
          <a:p>
            <a:pPr algn="ctr"/>
            <a:r>
              <a:rPr lang="en-US" sz="4400" dirty="0">
                <a:latin typeface="Arial"/>
                <a:cs typeface="Arial"/>
              </a:rPr>
              <a:t>150 - 142 = ?</a:t>
            </a:r>
          </a:p>
          <a:p>
            <a:pPr algn="ctr"/>
            <a:endParaRPr lang="en-US" b="1" dirty="0">
              <a:latin typeface="Arial"/>
              <a:cs typeface="Arial"/>
            </a:endParaRPr>
          </a:p>
          <a:p>
            <a:pPr algn="ctr"/>
            <a:r>
              <a:rPr lang="en-AU" sz="4400" dirty="0"/>
              <a:t>What </a:t>
            </a:r>
            <a:r>
              <a:rPr lang="en-AU" sz="4400" b="1" dirty="0"/>
              <a:t>strategies</a:t>
            </a:r>
            <a:r>
              <a:rPr lang="en-AU" sz="4400" dirty="0"/>
              <a:t> did you use?</a:t>
            </a:r>
            <a:endParaRPr lang="en-US" sz="4400" dirty="0">
              <a:latin typeface="Arial"/>
              <a:cs typeface="Arial"/>
            </a:endParaRPr>
          </a:p>
        </p:txBody>
      </p:sp>
      <p:sp>
        <p:nvSpPr>
          <p:cNvPr id="2" name="Slide Number Placeholder 1">
            <a:extLst>
              <a:ext uri="{FF2B5EF4-FFF2-40B4-BE49-F238E27FC236}">
                <a16:creationId xmlns:a16="http://schemas.microsoft.com/office/drawing/2014/main" id="{C02BE3BE-2958-C89B-F3EF-B2EDE80629D7}"/>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279603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C73-CB73-205A-CAA7-7FD0D6436E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B9F4F55-65F7-47E4-8121-CF7185730C4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(26) </a:t>
            </a:r>
          </a:p>
        </p:txBody>
      </p:sp>
      <p:pic>
        <p:nvPicPr>
          <p:cNvPr id="6" name="Picture 5" descr="image of a clipboard with a pencil recording short answer responses">
            <a:extLst>
              <a:ext uri="{FF2B5EF4-FFF2-40B4-BE49-F238E27FC236}">
                <a16:creationId xmlns:a16="http://schemas.microsoft.com/office/drawing/2014/main" id="{A9F3431B-545B-ECD1-F62F-EC0981F0CA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E9ACD7A-BA3A-DC99-6BBC-53AD31BFEA1B}"/>
              </a:ext>
            </a:extLst>
          </p:cNvPr>
          <p:cNvSpPr txBox="1"/>
          <p:nvPr/>
        </p:nvSpPr>
        <p:spPr>
          <a:xfrm>
            <a:off x="638691" y="1061138"/>
            <a:ext cx="10845309" cy="1480938"/>
          </a:xfrm>
          <a:prstGeom prst="rect">
            <a:avLst/>
          </a:prstGeom>
          <a:noFill/>
        </p:spPr>
        <p:txBody>
          <a:bodyPr wrap="square" lIns="0" tIns="0" rIns="0" bIns="0" rtlCol="0">
            <a:noAutofit/>
          </a:bodyPr>
          <a:lstStyle/>
          <a:p>
            <a:pPr algn="ctr">
              <a:lnSpc>
                <a:spcPct val="150000"/>
              </a:lnSpc>
            </a:pPr>
            <a:r>
              <a:rPr lang="en-AU" sz="4400"/>
              <a:t>Is this angle  </a:t>
            </a:r>
            <a:r>
              <a:rPr lang="en-AU" sz="4400" b="1"/>
              <a:t>less than</a:t>
            </a:r>
            <a:r>
              <a:rPr lang="en-AU" sz="4400"/>
              <a:t>, </a:t>
            </a:r>
            <a:r>
              <a:rPr lang="en-AU" sz="4400" b="1"/>
              <a:t>equal to</a:t>
            </a:r>
            <a:r>
              <a:rPr lang="en-AU" sz="4400"/>
              <a:t>, </a:t>
            </a:r>
            <a:r>
              <a:rPr lang="en-AU" sz="4400" b="1"/>
              <a:t>about the same a</a:t>
            </a:r>
            <a:r>
              <a:rPr lang="en-AU" sz="4400"/>
              <a:t>s or </a:t>
            </a:r>
            <a:r>
              <a:rPr lang="en-AU" sz="4400" b="1"/>
              <a:t>greater than </a:t>
            </a:r>
            <a:r>
              <a:rPr lang="en-AU" sz="4400"/>
              <a:t>a right angle? </a:t>
            </a:r>
          </a:p>
        </p:txBody>
      </p:sp>
      <p:pic>
        <p:nvPicPr>
          <p:cNvPr id="9" name="Picture 8" descr="Obtuse angle">
            <a:extLst>
              <a:ext uri="{FF2B5EF4-FFF2-40B4-BE49-F238E27FC236}">
                <a16:creationId xmlns:a16="http://schemas.microsoft.com/office/drawing/2014/main" id="{6BA8BE68-F3BD-2FD0-2EE0-7E448C35F91A}"/>
              </a:ext>
            </a:extLst>
          </p:cNvPr>
          <p:cNvPicPr>
            <a:picLocks noChangeAspect="1"/>
          </p:cNvPicPr>
          <p:nvPr/>
        </p:nvPicPr>
        <p:blipFill>
          <a:blip r:embed="rId4"/>
          <a:stretch>
            <a:fillRect/>
          </a:stretch>
        </p:blipFill>
        <p:spPr>
          <a:xfrm>
            <a:off x="3639495" y="3179348"/>
            <a:ext cx="4388076" cy="2063856"/>
          </a:xfrm>
          <a:prstGeom prst="rect">
            <a:avLst/>
          </a:prstGeom>
        </p:spPr>
      </p:pic>
      <p:sp>
        <p:nvSpPr>
          <p:cNvPr id="13" name="TextBox 12">
            <a:extLst>
              <a:ext uri="{FF2B5EF4-FFF2-40B4-BE49-F238E27FC236}">
                <a16:creationId xmlns:a16="http://schemas.microsoft.com/office/drawing/2014/main" id="{C9C5A122-335A-DB53-1DEC-E30EAF94B26A}"/>
              </a:ext>
            </a:extLst>
          </p:cNvPr>
          <p:cNvSpPr txBox="1"/>
          <p:nvPr/>
        </p:nvSpPr>
        <p:spPr>
          <a:xfrm>
            <a:off x="558864" y="5531858"/>
            <a:ext cx="10845309" cy="1057419"/>
          </a:xfrm>
          <a:prstGeom prst="rect">
            <a:avLst/>
          </a:prstGeom>
          <a:noFill/>
        </p:spPr>
        <p:txBody>
          <a:bodyPr wrap="square" lIns="0" tIns="0" rIns="0" bIns="0" rtlCol="0">
            <a:noAutofit/>
          </a:bodyPr>
          <a:lstStyle/>
          <a:p>
            <a:pPr algn="ctr">
              <a:lnSpc>
                <a:spcPct val="150000"/>
              </a:lnSpc>
            </a:pPr>
            <a:r>
              <a:rPr lang="en-AU" sz="4400"/>
              <a:t>Communicate your reasoning.</a:t>
            </a:r>
          </a:p>
        </p:txBody>
      </p:sp>
      <p:sp>
        <p:nvSpPr>
          <p:cNvPr id="2" name="Slide Number Placeholder 1">
            <a:extLst>
              <a:ext uri="{FF2B5EF4-FFF2-40B4-BE49-F238E27FC236}">
                <a16:creationId xmlns:a16="http://schemas.microsoft.com/office/drawing/2014/main" id="{53EF37E2-888E-CB04-88EA-19DCDE0D7B10}"/>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282517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F56B-0B8D-BD79-E370-6AC7E4243C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17A4F92-D5D2-B138-7BEF-D1ED6B9CE5C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(29)</a:t>
            </a:r>
          </a:p>
        </p:txBody>
      </p:sp>
      <p:pic>
        <p:nvPicPr>
          <p:cNvPr id="4" name="Picture 3" descr="image of a clipboard with a pencil recording short answer responses">
            <a:extLst>
              <a:ext uri="{FF2B5EF4-FFF2-40B4-BE49-F238E27FC236}">
                <a16:creationId xmlns:a16="http://schemas.microsoft.com/office/drawing/2014/main" id="{78D0A315-9AFB-D549-2ACA-8A9D46BA0AFA}"/>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A tally table showing the number of different pets. The pet types are:&#10;Dogs (16 tallies)&#10;Cats (13 tallies)&#10;Fish (11 tallies)&#10;Bird (2 tallies)&#10;Lizard (4 tallies)&#10;Rabbit (5 tallies)">
            <a:extLst>
              <a:ext uri="{FF2B5EF4-FFF2-40B4-BE49-F238E27FC236}">
                <a16:creationId xmlns:a16="http://schemas.microsoft.com/office/drawing/2014/main" id="{34287A4C-5040-04D0-FB62-F5F871228EF6}"/>
              </a:ext>
            </a:extLst>
          </p:cNvPr>
          <p:cNvPicPr>
            <a:picLocks noChangeAspect="1"/>
          </p:cNvPicPr>
          <p:nvPr/>
        </p:nvPicPr>
        <p:blipFill>
          <a:blip r:embed="rId4"/>
          <a:stretch>
            <a:fillRect/>
          </a:stretch>
        </p:blipFill>
        <p:spPr>
          <a:xfrm>
            <a:off x="360000" y="947355"/>
            <a:ext cx="4484883" cy="5534732"/>
          </a:xfrm>
          <a:prstGeom prst="rect">
            <a:avLst/>
          </a:prstGeom>
        </p:spPr>
      </p:pic>
      <p:sp>
        <p:nvSpPr>
          <p:cNvPr id="11" name="Picture Placeholder 10">
            <a:extLst>
              <a:ext uri="{FF2B5EF4-FFF2-40B4-BE49-F238E27FC236}">
                <a16:creationId xmlns:a16="http://schemas.microsoft.com/office/drawing/2014/main" id="{AA232421-C8EE-55E7-3B48-FB94C1F70903}"/>
              </a:ext>
            </a:extLst>
          </p:cNvPr>
          <p:cNvSpPr>
            <a:spLocks noGrp="1"/>
          </p:cNvSpPr>
          <p:nvPr>
            <p:ph type="pic" sz="quarter" idx="21"/>
          </p:nvPr>
        </p:nvSpPr>
        <p:spPr>
          <a:xfrm>
            <a:off x="5021036" y="1151967"/>
            <a:ext cx="6810964" cy="5005278"/>
          </a:xfrm>
        </p:spPr>
        <p:txBody>
          <a:bodyPr/>
          <a:lstStyle/>
          <a:p>
            <a:pPr algn="ctr"/>
            <a:r>
              <a:rPr lang="en-AU" sz="4400" dirty="0">
                <a:latin typeface="Arial"/>
                <a:cs typeface="Arial"/>
              </a:rPr>
              <a:t>What does the </a:t>
            </a:r>
            <a:r>
              <a:rPr lang="en-AU" sz="4400" b="1" dirty="0">
                <a:latin typeface="Arial"/>
                <a:cs typeface="Arial"/>
              </a:rPr>
              <a:t>tally table </a:t>
            </a:r>
            <a:r>
              <a:rPr lang="en-AU" sz="4400" dirty="0">
                <a:latin typeface="Arial"/>
                <a:cs typeface="Arial"/>
              </a:rPr>
              <a:t>tell you about the most popular pet?</a:t>
            </a:r>
          </a:p>
          <a:p>
            <a:pPr algn="ctr"/>
            <a:r>
              <a:rPr lang="en-AU" sz="4400" b="1" dirty="0">
                <a:latin typeface="Arial"/>
                <a:cs typeface="Arial"/>
              </a:rPr>
              <a:t>Communicate</a:t>
            </a:r>
            <a:r>
              <a:rPr lang="en-AU" sz="4400" dirty="0">
                <a:latin typeface="Arial"/>
                <a:cs typeface="Arial"/>
              </a:rPr>
              <a:t> your </a:t>
            </a:r>
            <a:r>
              <a:rPr lang="en-AU" sz="4400" b="1" dirty="0">
                <a:latin typeface="Arial"/>
                <a:cs typeface="Arial"/>
              </a:rPr>
              <a:t>reasoning</a:t>
            </a:r>
            <a:r>
              <a:rPr lang="en-AU" sz="4400" dirty="0">
                <a:latin typeface="Arial"/>
                <a:cs typeface="Arial"/>
              </a:rPr>
              <a:t>.</a:t>
            </a:r>
            <a:endParaRPr lang="en-US" sz="4400" dirty="0">
              <a:latin typeface="Arial"/>
              <a:cs typeface="Arial"/>
            </a:endParaRPr>
          </a:p>
        </p:txBody>
      </p:sp>
      <p:sp>
        <p:nvSpPr>
          <p:cNvPr id="2" name="Slide Number Placeholder 1">
            <a:extLst>
              <a:ext uri="{FF2B5EF4-FFF2-40B4-BE49-F238E27FC236}">
                <a16:creationId xmlns:a16="http://schemas.microsoft.com/office/drawing/2014/main" id="{4D1E675D-63E6-6EF0-A7F8-7CA3E2680A94}"/>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1770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36B-D9FA-D8F2-87DC-26F9E69DDC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F2F071-69AF-26E6-9BD8-ADFB0EF0B312}"/>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(30)</a:t>
            </a:r>
          </a:p>
        </p:txBody>
      </p:sp>
      <p:pic>
        <p:nvPicPr>
          <p:cNvPr id="4" name="Picture 3" descr="image of a clipboard with a pencil recording short answer responses">
            <a:extLst>
              <a:ext uri="{FF2B5EF4-FFF2-40B4-BE49-F238E27FC236}">
                <a16:creationId xmlns:a16="http://schemas.microsoft.com/office/drawing/2014/main" id="{E7E56417-0731-9933-4CBF-B3EE29B95C6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89E81B81-DF76-7E96-6C02-AFD9B15A4EFF}"/>
              </a:ext>
            </a:extLst>
          </p:cNvPr>
          <p:cNvSpPr>
            <a:spLocks noGrp="1"/>
          </p:cNvSpPr>
          <p:nvPr>
            <p:ph type="pic" sz="quarter" idx="21"/>
          </p:nvPr>
        </p:nvSpPr>
        <p:spPr>
          <a:xfrm>
            <a:off x="360000" y="1210049"/>
            <a:ext cx="11221572" cy="1169357"/>
          </a:xfrm>
        </p:spPr>
        <p:txBody>
          <a:bodyPr/>
          <a:lstStyle/>
          <a:p>
            <a:pPr algn="ctr"/>
            <a:r>
              <a:rPr lang="en-AU" sz="4400">
                <a:latin typeface="Arial"/>
                <a:cs typeface="Arial"/>
              </a:rPr>
              <a:t>Label the parts of the </a:t>
            </a:r>
            <a:r>
              <a:rPr lang="en-AU" sz="4400" b="1">
                <a:latin typeface="Arial"/>
                <a:cs typeface="Arial"/>
              </a:rPr>
              <a:t>angle</a:t>
            </a:r>
            <a:r>
              <a:rPr lang="en-AU" sz="4400">
                <a:latin typeface="Arial"/>
                <a:cs typeface="Arial"/>
              </a:rPr>
              <a:t>.</a:t>
            </a:r>
            <a:endParaRPr lang="en-US">
              <a:latin typeface="Arial"/>
              <a:cs typeface="Arial"/>
            </a:endParaRPr>
          </a:p>
        </p:txBody>
      </p:sp>
      <p:pic>
        <p:nvPicPr>
          <p:cNvPr id="6" name="Picture 5" descr="A blue acute angle with two straight arms meeting at a vertex on the left, one arm horizontal and the other slanting upward to the right.">
            <a:extLst>
              <a:ext uri="{FF2B5EF4-FFF2-40B4-BE49-F238E27FC236}">
                <a16:creationId xmlns:a16="http://schemas.microsoft.com/office/drawing/2014/main" id="{2371AA38-DA66-0001-E31D-4E6C0EDD7DE7}"/>
              </a:ext>
            </a:extLst>
          </p:cNvPr>
          <p:cNvPicPr>
            <a:picLocks noChangeAspect="1"/>
          </p:cNvPicPr>
          <p:nvPr/>
        </p:nvPicPr>
        <p:blipFill>
          <a:blip r:embed="rId4"/>
          <a:stretch>
            <a:fillRect/>
          </a:stretch>
        </p:blipFill>
        <p:spPr>
          <a:xfrm>
            <a:off x="3107891" y="2762865"/>
            <a:ext cx="5976217" cy="3735135"/>
          </a:xfrm>
          <a:prstGeom prst="rect">
            <a:avLst/>
          </a:prstGeom>
        </p:spPr>
      </p:pic>
      <p:sp>
        <p:nvSpPr>
          <p:cNvPr id="2" name="Slide Number Placeholder 1">
            <a:extLst>
              <a:ext uri="{FF2B5EF4-FFF2-40B4-BE49-F238E27FC236}">
                <a16:creationId xmlns:a16="http://schemas.microsoft.com/office/drawing/2014/main" id="{17936BF7-7EEA-E829-93CD-C96F10F9ADE7}"/>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1212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7 – read and order 4-digit numbers 1</a:t>
            </a:r>
          </a:p>
        </p:txBody>
      </p:sp>
      <p:pic>
        <p:nvPicPr>
          <p:cNvPr id="53" name="Picture 52" descr="image of a head with cogs turning inside">
            <a:extLst>
              <a:ext uri="{FF2B5EF4-FFF2-40B4-BE49-F238E27FC236}">
                <a16:creationId xmlns:a16="http://schemas.microsoft.com/office/drawing/2014/main" id="{C1A8149C-1711-5461-B794-500EE60A92AF}"/>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5" name="Picture 54" descr="A place value game board with the starting number 1000 and a pathway of blank boxes to the ending number 10 000. The number 5000 is placed in the middle of the path.&#10;&#10;As an example of playing the game, the number 2354 has been placed in the fourth box, 4689 in the ninth box, 6239 in the twelfth box and 8556 in the fifteenth box.">
            <a:extLst>
              <a:ext uri="{FF2B5EF4-FFF2-40B4-BE49-F238E27FC236}">
                <a16:creationId xmlns:a16="http://schemas.microsoft.com/office/drawing/2014/main" id="{E6AC89E6-D81A-6FC6-B742-94974594BB6A}"/>
              </a:ext>
            </a:extLst>
          </p:cNvPr>
          <p:cNvPicPr>
            <a:picLocks noChangeAspect="1"/>
          </p:cNvPicPr>
          <p:nvPr/>
        </p:nvPicPr>
        <p:blipFill>
          <a:blip r:embed="rId4"/>
          <a:stretch>
            <a:fillRect/>
          </a:stretch>
        </p:blipFill>
        <p:spPr>
          <a:xfrm>
            <a:off x="3493725" y="963721"/>
            <a:ext cx="4147345" cy="5494158"/>
          </a:xfrm>
          <a:prstGeom prst="rect">
            <a:avLst/>
          </a:prstGeom>
        </p:spPr>
      </p:pic>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475370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B60A-22B2-4361-67CC-312F59BDAA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4F7E62-8796-5FC7-FD38-8F4D46ED40A9}"/>
              </a:ext>
            </a:extLst>
          </p:cNvPr>
          <p:cNvSpPr>
            <a:spLocks noGrp="1"/>
          </p:cNvSpPr>
          <p:nvPr>
            <p:ph type="ctrTitle"/>
          </p:nvPr>
        </p:nvSpPr>
        <p:spPr/>
        <p:txBody>
          <a:bodyPr/>
          <a:lstStyle/>
          <a:p>
            <a:r>
              <a:rPr lang="en-AU">
                <a:latin typeface="+mj-lt"/>
                <a:cs typeface="Arial"/>
              </a:rPr>
              <a:t>Review of learning 8</a:t>
            </a:r>
            <a:endParaRPr lang="en-AU">
              <a:latin typeface="+mj-lt"/>
            </a:endParaRPr>
          </a:p>
        </p:txBody>
      </p:sp>
    </p:spTree>
    <p:extLst>
      <p:ext uri="{BB962C8B-B14F-4D97-AF65-F5344CB8AC3E}">
        <p14:creationId xmlns:p14="http://schemas.microsoft.com/office/powerpoint/2010/main" val="251505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45DE-1C82-1DDC-BD3D-A63D7912E7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CD52BE-F5BD-DAA7-827E-221EB96A6BF3}"/>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(4) </a:t>
            </a:r>
          </a:p>
        </p:txBody>
      </p:sp>
      <p:pic>
        <p:nvPicPr>
          <p:cNvPr id="5" name="Picture 4" descr="image of a finger selecting an option for a multiple choice or true and false">
            <a:extLst>
              <a:ext uri="{FF2B5EF4-FFF2-40B4-BE49-F238E27FC236}">
                <a16:creationId xmlns:a16="http://schemas.microsoft.com/office/drawing/2014/main" id="{29097C5B-0822-B31F-6039-50D23FFACD33}"/>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6">
            <a:extLst>
              <a:ext uri="{FF2B5EF4-FFF2-40B4-BE49-F238E27FC236}">
                <a16:creationId xmlns:a16="http://schemas.microsoft.com/office/drawing/2014/main" id="{EA6BC0CF-ECA6-DC5C-B614-7854FEE9F3D3}"/>
              </a:ext>
            </a:extLst>
          </p:cNvPr>
          <p:cNvSpPr>
            <a:spLocks noGrp="1"/>
          </p:cNvSpPr>
          <p:nvPr>
            <p:ph type="body" sz="quarter" idx="22"/>
          </p:nvPr>
        </p:nvSpPr>
        <p:spPr>
          <a:xfrm>
            <a:off x="487137" y="1184019"/>
            <a:ext cx="11217725" cy="3784793"/>
          </a:xfrm>
        </p:spPr>
        <p:txBody>
          <a:bodyPr vert="horz" lIns="0" tIns="0" rIns="0" bIns="0" rtlCol="0" anchor="t">
            <a:noAutofit/>
          </a:bodyPr>
          <a:lstStyle/>
          <a:p>
            <a:pPr algn="ctr"/>
            <a:r>
              <a:rPr lang="en-AU" sz="4400" dirty="0">
                <a:latin typeface="Arial"/>
                <a:cs typeface="Arial"/>
              </a:rPr>
              <a:t>These </a:t>
            </a:r>
            <a:r>
              <a:rPr lang="en-AU" sz="4400" b="1" dirty="0">
                <a:latin typeface="Arial"/>
                <a:cs typeface="Arial"/>
              </a:rPr>
              <a:t>4-digi</a:t>
            </a:r>
            <a:r>
              <a:rPr lang="en-AU" sz="4400" dirty="0">
                <a:latin typeface="Arial"/>
                <a:cs typeface="Arial"/>
              </a:rPr>
              <a:t>t numbers are written in </a:t>
            </a:r>
            <a:r>
              <a:rPr lang="en-AU" sz="4400" b="1" dirty="0">
                <a:latin typeface="Arial"/>
                <a:cs typeface="Arial"/>
              </a:rPr>
              <a:t>descending</a:t>
            </a:r>
            <a:r>
              <a:rPr lang="en-AU" sz="4400" dirty="0">
                <a:latin typeface="Arial"/>
                <a:cs typeface="Arial"/>
              </a:rPr>
              <a:t> order.</a:t>
            </a:r>
          </a:p>
          <a:p>
            <a:pPr algn="ctr"/>
            <a:endParaRPr lang="en-US" sz="4000" b="1" dirty="0">
              <a:latin typeface="Arial"/>
              <a:cs typeface="Arial"/>
            </a:endParaRPr>
          </a:p>
          <a:p>
            <a:pPr algn="ctr"/>
            <a:r>
              <a:rPr lang="en-US" sz="4400" b="1" dirty="0">
                <a:latin typeface="Arial"/>
                <a:cs typeface="Arial"/>
              </a:rPr>
              <a:t>5432		4987		4675		3210</a:t>
            </a:r>
            <a:r>
              <a:rPr lang="en-US" sz="4400" dirty="0">
                <a:latin typeface="Arial"/>
                <a:cs typeface="Arial"/>
              </a:rPr>
              <a:t>.</a:t>
            </a:r>
            <a:br>
              <a:rPr lang="en-US" sz="4400" dirty="0">
                <a:latin typeface="Arial"/>
                <a:cs typeface="Arial"/>
              </a:rPr>
            </a:br>
            <a:endParaRPr lang="en-US" sz="4400" b="1" dirty="0"/>
          </a:p>
        </p:txBody>
      </p:sp>
      <p:graphicFrame>
        <p:nvGraphicFramePr>
          <p:cNvPr id="12" name="Table 11">
            <a:extLst>
              <a:ext uri="{FF2B5EF4-FFF2-40B4-BE49-F238E27FC236}">
                <a16:creationId xmlns:a16="http://schemas.microsoft.com/office/drawing/2014/main" id="{32803648-AB31-1C55-361F-D02B899E3208}"/>
              </a:ext>
            </a:extLst>
          </p:cNvPr>
          <p:cNvGraphicFramePr>
            <a:graphicFrameLocks noGrp="1"/>
          </p:cNvGraphicFramePr>
          <p:nvPr>
            <p:extLst>
              <p:ext uri="{D42A27DB-BD31-4B8C-83A1-F6EECF244321}">
                <p14:modId xmlns:p14="http://schemas.microsoft.com/office/powerpoint/2010/main" val="3532031224"/>
              </p:ext>
            </p:extLst>
          </p:nvPr>
        </p:nvGraphicFramePr>
        <p:xfrm>
          <a:off x="2442981" y="563735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4E1B704-5DF8-9EB3-2103-8C891346576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6903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186E-DEAD-1E3F-ADBE-CF258B9E68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69B6F1-52F5-DBD9-FE1E-7DD78D3D510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(31)</a:t>
            </a:r>
          </a:p>
        </p:txBody>
      </p:sp>
      <p:pic>
        <p:nvPicPr>
          <p:cNvPr id="128" name="Picture 127" descr="A 4 by 3 array of green circles, arranged in 4 rows and 3 columns.">
            <a:extLst>
              <a:ext uri="{FF2B5EF4-FFF2-40B4-BE49-F238E27FC236}">
                <a16:creationId xmlns:a16="http://schemas.microsoft.com/office/drawing/2014/main" id="{FCD121B1-C045-DA19-6BD2-3A0C76DC196A}"/>
              </a:ext>
            </a:extLst>
          </p:cNvPr>
          <p:cNvPicPr>
            <a:picLocks noChangeAspect="1"/>
          </p:cNvPicPr>
          <p:nvPr/>
        </p:nvPicPr>
        <p:blipFill>
          <a:blip r:embed="rId3"/>
          <a:stretch>
            <a:fillRect/>
          </a:stretch>
        </p:blipFill>
        <p:spPr>
          <a:xfrm rot="5400000">
            <a:off x="4629066" y="1080498"/>
            <a:ext cx="3276768" cy="2381372"/>
          </a:xfrm>
          <a:prstGeom prst="rect">
            <a:avLst/>
          </a:prstGeom>
        </p:spPr>
      </p:pic>
      <p:pic>
        <p:nvPicPr>
          <p:cNvPr id="5" name="Picture 4" descr="image of a clipboard with a pencil recording short answer responses">
            <a:extLst>
              <a:ext uri="{FF2B5EF4-FFF2-40B4-BE49-F238E27FC236}">
                <a16:creationId xmlns:a16="http://schemas.microsoft.com/office/drawing/2014/main" id="{95BB9EF2-5D8F-1356-E26C-32FA516928A6}"/>
              </a:ext>
            </a:extLst>
          </p:cNvPr>
          <p:cNvPicPr>
            <a:picLocks noChangeAspect="1"/>
          </p:cNvPicPr>
          <p:nvPr/>
        </p:nvPicPr>
        <p:blipFill>
          <a:blip r:embed="rId4"/>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FF54730D-1797-6F6B-C3B2-591C858320E8}"/>
              </a:ext>
            </a:extLst>
          </p:cNvPr>
          <p:cNvSpPr>
            <a:spLocks noGrp="1"/>
          </p:cNvSpPr>
          <p:nvPr>
            <p:ph type="pic" sz="quarter" idx="21"/>
          </p:nvPr>
        </p:nvSpPr>
        <p:spPr>
          <a:xfrm>
            <a:off x="915299" y="3984620"/>
            <a:ext cx="10132439" cy="1887543"/>
          </a:xfrm>
        </p:spPr>
        <p:txBody>
          <a:bodyPr/>
          <a:lstStyle/>
          <a:p>
            <a:pPr algn="ctr"/>
            <a:r>
              <a:rPr lang="en-AU" sz="4400" dirty="0">
                <a:latin typeface="Arial"/>
                <a:cs typeface="Arial"/>
              </a:rPr>
              <a:t> Record all the related </a:t>
            </a:r>
            <a:r>
              <a:rPr lang="en-AU" sz="4400" b="1" dirty="0">
                <a:latin typeface="Arial"/>
                <a:cs typeface="Arial"/>
              </a:rPr>
              <a:t>multiplication</a:t>
            </a:r>
            <a:r>
              <a:rPr lang="en-AU" sz="4400" dirty="0">
                <a:latin typeface="Arial"/>
                <a:cs typeface="Arial"/>
              </a:rPr>
              <a:t> and </a:t>
            </a:r>
            <a:r>
              <a:rPr lang="en-AU" sz="4400" b="1" dirty="0">
                <a:latin typeface="Arial"/>
                <a:cs typeface="Arial"/>
              </a:rPr>
              <a:t>division</a:t>
            </a:r>
            <a:r>
              <a:rPr lang="en-AU" sz="4400" dirty="0">
                <a:latin typeface="Arial"/>
                <a:cs typeface="Arial"/>
              </a:rPr>
              <a:t> facts for this </a:t>
            </a:r>
            <a:r>
              <a:rPr lang="en-AU" sz="4400" b="1" dirty="0">
                <a:latin typeface="Arial"/>
                <a:cs typeface="Arial"/>
              </a:rPr>
              <a:t>array</a:t>
            </a:r>
            <a:r>
              <a:rPr lang="en-AU" sz="4400" dirty="0">
                <a:latin typeface="Arial"/>
                <a:cs typeface="Arial"/>
              </a:rPr>
              <a:t>.</a:t>
            </a:r>
            <a:endParaRPr lang="en-US" sz="4400" dirty="0"/>
          </a:p>
          <a:p>
            <a:endParaRPr lang="en-US" sz="4400" dirty="0">
              <a:latin typeface="Arial"/>
              <a:cs typeface="Arial"/>
            </a:endParaRPr>
          </a:p>
        </p:txBody>
      </p:sp>
      <p:sp>
        <p:nvSpPr>
          <p:cNvPr id="2" name="Slide Number Placeholder 1" descr="Fractions represented (shaded) on a number line.&#10;3/4, 1/2, 5/8, 2/4, 3/10, 7/8">
            <a:extLst>
              <a:ext uri="{FF2B5EF4-FFF2-40B4-BE49-F238E27FC236}">
                <a16:creationId xmlns:a16="http://schemas.microsoft.com/office/drawing/2014/main" id="{5249BC38-5AE6-D002-8CF1-C81FA6A0F702}"/>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3402796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D3EC5-1978-D0B2-1005-F3026FF696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284195-A94F-3D08-B252-D7FBC429957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(32)</a:t>
            </a:r>
          </a:p>
        </p:txBody>
      </p:sp>
      <p:pic>
        <p:nvPicPr>
          <p:cNvPr id="4" name="Picture 3" descr="image of a clipboard with a pencil recording short answer responses">
            <a:extLst>
              <a:ext uri="{FF2B5EF4-FFF2-40B4-BE49-F238E27FC236}">
                <a16:creationId xmlns:a16="http://schemas.microsoft.com/office/drawing/2014/main" id="{B2AACA3F-7A28-6CBF-E26B-3DD13855833C}"/>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8" name="Picture 7" descr="Analog clock with quarter to 3 displayed">
            <a:extLst>
              <a:ext uri="{FF2B5EF4-FFF2-40B4-BE49-F238E27FC236}">
                <a16:creationId xmlns:a16="http://schemas.microsoft.com/office/drawing/2014/main" id="{E1D365CF-322B-9EA5-416E-55E9B2F850DC}"/>
              </a:ext>
            </a:extLst>
          </p:cNvPr>
          <p:cNvPicPr>
            <a:picLocks noChangeAspect="1"/>
          </p:cNvPicPr>
          <p:nvPr/>
        </p:nvPicPr>
        <p:blipFill>
          <a:blip r:embed="rId4"/>
          <a:stretch>
            <a:fillRect/>
          </a:stretch>
        </p:blipFill>
        <p:spPr>
          <a:xfrm>
            <a:off x="1081705" y="1677247"/>
            <a:ext cx="4004143" cy="3825481"/>
          </a:xfrm>
          <a:prstGeom prst="rect">
            <a:avLst/>
          </a:prstGeom>
        </p:spPr>
      </p:pic>
      <p:sp>
        <p:nvSpPr>
          <p:cNvPr id="6" name="TextBox 5">
            <a:extLst>
              <a:ext uri="{FF2B5EF4-FFF2-40B4-BE49-F238E27FC236}">
                <a16:creationId xmlns:a16="http://schemas.microsoft.com/office/drawing/2014/main" id="{5A4C3E82-5860-73DE-6E1E-F245CCFFF597}"/>
              </a:ext>
            </a:extLst>
          </p:cNvPr>
          <p:cNvSpPr txBox="1"/>
          <p:nvPr/>
        </p:nvSpPr>
        <p:spPr>
          <a:xfrm>
            <a:off x="5981519" y="1077754"/>
            <a:ext cx="5120069" cy="4702492"/>
          </a:xfrm>
          <a:prstGeom prst="rect">
            <a:avLst/>
          </a:prstGeom>
          <a:noFill/>
        </p:spPr>
        <p:txBody>
          <a:bodyPr wrap="square" lIns="0" tIns="0" rIns="0" bIns="0" rtlCol="0">
            <a:noAutofit/>
          </a:bodyPr>
          <a:lstStyle/>
          <a:p>
            <a:pPr algn="ctr"/>
            <a:r>
              <a:rPr lang="en-AU" sz="4400"/>
              <a:t>What </a:t>
            </a:r>
            <a:r>
              <a:rPr lang="en-AU" sz="4400" b="1"/>
              <a:t>time</a:t>
            </a:r>
            <a:r>
              <a:rPr lang="en-AU" sz="4400"/>
              <a:t> is the </a:t>
            </a:r>
            <a:r>
              <a:rPr lang="en-AU" sz="4400" err="1"/>
              <a:t>analog</a:t>
            </a:r>
            <a:r>
              <a:rPr lang="en-AU" sz="4400"/>
              <a:t> clock showing?</a:t>
            </a:r>
          </a:p>
          <a:p>
            <a:pPr algn="ctr"/>
            <a:endParaRPr lang="en-AU" sz="4400"/>
          </a:p>
          <a:p>
            <a:pPr algn="ctr"/>
            <a:endParaRPr lang="en-AU" sz="4400"/>
          </a:p>
          <a:p>
            <a:pPr algn="ctr"/>
            <a:r>
              <a:rPr lang="en-AU" sz="4400"/>
              <a:t>What time will it be </a:t>
            </a:r>
            <a:r>
              <a:rPr lang="en-AU" sz="4400" b="1"/>
              <a:t>in 2 hours</a:t>
            </a:r>
            <a:r>
              <a:rPr lang="en-AU" sz="4400"/>
              <a:t>?  </a:t>
            </a:r>
          </a:p>
        </p:txBody>
      </p:sp>
      <p:sp>
        <p:nvSpPr>
          <p:cNvPr id="2" name="Slide Number Placeholder 1">
            <a:extLst>
              <a:ext uri="{FF2B5EF4-FFF2-40B4-BE49-F238E27FC236}">
                <a16:creationId xmlns:a16="http://schemas.microsoft.com/office/drawing/2014/main" id="{854331E5-B73F-E61B-8143-1547D7DE5518}"/>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206748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5048-C70E-7453-F9E5-507985776F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84B6BC0-2F0C-F390-AAB1-BCCBF88DB5D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(33)</a:t>
            </a:r>
          </a:p>
        </p:txBody>
      </p:sp>
      <p:pic>
        <p:nvPicPr>
          <p:cNvPr id="4" name="Picture 3" descr="image of a clipboard with a pencil recording short answer responses">
            <a:extLst>
              <a:ext uri="{FF2B5EF4-FFF2-40B4-BE49-F238E27FC236}">
                <a16:creationId xmlns:a16="http://schemas.microsoft.com/office/drawing/2014/main" id="{A2EF237A-5FBF-BE77-1ED8-2DA35AFFC1E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93746974-51C1-ECF2-342C-DE409734E1F1}"/>
              </a:ext>
            </a:extLst>
          </p:cNvPr>
          <p:cNvSpPr>
            <a:spLocks noGrp="1"/>
          </p:cNvSpPr>
          <p:nvPr>
            <p:ph type="pic" sz="quarter" idx="21"/>
          </p:nvPr>
        </p:nvSpPr>
        <p:spPr>
          <a:xfrm>
            <a:off x="442388" y="996878"/>
            <a:ext cx="11307224" cy="5699122"/>
          </a:xfrm>
        </p:spPr>
        <p:txBody>
          <a:bodyPr/>
          <a:lstStyle/>
          <a:p>
            <a:pPr algn="ctr"/>
            <a:r>
              <a:rPr lang="en-AU" sz="4000">
                <a:latin typeface="Arial"/>
                <a:cs typeface="Arial"/>
              </a:rPr>
              <a:t>A </a:t>
            </a:r>
            <a:r>
              <a:rPr lang="en-AU" sz="4000" b="1">
                <a:latin typeface="Arial"/>
                <a:cs typeface="Arial"/>
              </a:rPr>
              <a:t>column graph </a:t>
            </a:r>
            <a:r>
              <a:rPr lang="en-AU" sz="4000">
                <a:latin typeface="Arial"/>
                <a:cs typeface="Arial"/>
              </a:rPr>
              <a:t>shows the number of books read by students in each class. The </a:t>
            </a:r>
            <a:r>
              <a:rPr lang="en-AU" sz="4000" b="1">
                <a:latin typeface="Arial"/>
                <a:cs typeface="Arial"/>
              </a:rPr>
              <a:t>vertical axis </a:t>
            </a:r>
            <a:r>
              <a:rPr lang="en-AU" sz="4000">
                <a:latin typeface="Arial"/>
                <a:cs typeface="Arial"/>
              </a:rPr>
              <a:t>goes up in multiples of 5, and each block on the graph represents 5 books. </a:t>
            </a:r>
          </a:p>
          <a:p>
            <a:pPr algn="ctr"/>
            <a:r>
              <a:rPr lang="en-AU" sz="4000">
                <a:latin typeface="Arial"/>
                <a:cs typeface="Arial"/>
              </a:rPr>
              <a:t>Why might the graph use a </a:t>
            </a:r>
            <a:r>
              <a:rPr lang="en-AU" sz="4000" b="1">
                <a:latin typeface="Arial"/>
                <a:cs typeface="Arial"/>
              </a:rPr>
              <a:t>scale</a:t>
            </a:r>
            <a:r>
              <a:rPr lang="en-AU" sz="4000">
                <a:latin typeface="Arial"/>
                <a:cs typeface="Arial"/>
              </a:rPr>
              <a:t> of 1 block = 5 books instead of 1 block = 1 book?</a:t>
            </a:r>
            <a:endParaRPr lang="en-US" sz="4000">
              <a:latin typeface="Arial"/>
              <a:cs typeface="Arial"/>
            </a:endParaRPr>
          </a:p>
        </p:txBody>
      </p:sp>
      <p:sp>
        <p:nvSpPr>
          <p:cNvPr id="2" name="Slide Number Placeholder 1">
            <a:extLst>
              <a:ext uri="{FF2B5EF4-FFF2-40B4-BE49-F238E27FC236}">
                <a16:creationId xmlns:a16="http://schemas.microsoft.com/office/drawing/2014/main" id="{2E2BE1B1-6CD9-10A7-4664-27A4D73F0617}"/>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211022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4D6B-9189-E91A-94F1-0BFF176CCD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1EF5B99-01ED-96BA-A959-B34AFEB0EDB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(34)</a:t>
            </a:r>
          </a:p>
        </p:txBody>
      </p:sp>
      <p:pic>
        <p:nvPicPr>
          <p:cNvPr id="4" name="Picture 3" descr="image of a clipboard with a pencil recording short answer responses">
            <a:extLst>
              <a:ext uri="{FF2B5EF4-FFF2-40B4-BE49-F238E27FC236}">
                <a16:creationId xmlns:a16="http://schemas.microsoft.com/office/drawing/2014/main" id="{539E078C-9C47-DE07-91D4-DB47EA04B8A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6F141943-82E3-9EF3-4E0A-961E3AE7383C}"/>
              </a:ext>
            </a:extLst>
          </p:cNvPr>
          <p:cNvSpPr txBox="1"/>
          <p:nvPr/>
        </p:nvSpPr>
        <p:spPr>
          <a:xfrm>
            <a:off x="1403249" y="1666686"/>
            <a:ext cx="9385502" cy="4029501"/>
          </a:xfrm>
          <a:prstGeom prst="rect">
            <a:avLst/>
          </a:prstGeom>
          <a:noFill/>
        </p:spPr>
        <p:txBody>
          <a:bodyPr wrap="square">
            <a:spAutoFit/>
          </a:bodyPr>
          <a:lstStyle/>
          <a:p>
            <a:pPr algn="ctr">
              <a:lnSpc>
                <a:spcPct val="150000"/>
              </a:lnSpc>
            </a:pPr>
            <a:r>
              <a:rPr lang="en-AU" sz="4400" dirty="0"/>
              <a:t>The time is 4:19 pm.</a:t>
            </a:r>
          </a:p>
          <a:p>
            <a:pPr algn="ctr">
              <a:lnSpc>
                <a:spcPct val="150000"/>
              </a:lnSpc>
            </a:pPr>
            <a:endParaRPr lang="en-AU" sz="4400" dirty="0"/>
          </a:p>
          <a:p>
            <a:pPr algn="ctr">
              <a:lnSpc>
                <a:spcPct val="150000"/>
              </a:lnSpc>
            </a:pPr>
            <a:r>
              <a:rPr lang="en-AU" sz="4400" dirty="0"/>
              <a:t>Describe this time to the </a:t>
            </a:r>
            <a:r>
              <a:rPr lang="en-AU" sz="4400" b="1" dirty="0"/>
              <a:t>nearest 5-minute interval</a:t>
            </a:r>
            <a:r>
              <a:rPr lang="en-AU" sz="4400" dirty="0"/>
              <a:t>. </a:t>
            </a:r>
          </a:p>
        </p:txBody>
      </p:sp>
      <p:sp>
        <p:nvSpPr>
          <p:cNvPr id="2" name="Slide Number Placeholder 1">
            <a:extLst>
              <a:ext uri="{FF2B5EF4-FFF2-40B4-BE49-F238E27FC236}">
                <a16:creationId xmlns:a16="http://schemas.microsoft.com/office/drawing/2014/main" id="{E8AEA27B-161C-5E2A-F2CE-834142161ED0}"/>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85362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C0A72-2996-CB1D-124F-F0184490F86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3A78C06-448C-5351-6974-261336393B3A}"/>
              </a:ext>
            </a:extLst>
          </p:cNvPr>
          <p:cNvSpPr>
            <a:spLocks noGrp="1"/>
          </p:cNvSpPr>
          <p:nvPr>
            <p:ph type="title"/>
          </p:nvPr>
        </p:nvSpPr>
        <p:spPr>
          <a:xfrm>
            <a:off x="360000" y="360000"/>
            <a:ext cx="11484000" cy="545601"/>
          </a:xfrm>
        </p:spPr>
        <p:txBody>
          <a:bodyPr/>
          <a:lstStyle/>
          <a:p>
            <a:r>
              <a:rPr lang="en-AU"/>
              <a:t>Activity 8 – read and order 4-digit numbers 2</a:t>
            </a:r>
          </a:p>
        </p:txBody>
      </p:sp>
      <p:pic>
        <p:nvPicPr>
          <p:cNvPr id="5" name="Picture 4" descr="image of a head with cogs turning inside">
            <a:extLst>
              <a:ext uri="{FF2B5EF4-FFF2-40B4-BE49-F238E27FC236}">
                <a16:creationId xmlns:a16="http://schemas.microsoft.com/office/drawing/2014/main" id="{C95D9371-26C8-CE57-E565-A041D4084BF4}"/>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6" name="Picture 5" descr="A place value game board with the starting number 1000 and a pathway of blank boxes to the ending number 10 000. The number 5000 is placed in the middle of the path.&#10;&#10;As an example of playing the game, the number 2354 has been placed in the fourth box, 4689 in the ninth box, 6239 in the twelfth box and 8556 in the fifteenth box.">
            <a:extLst>
              <a:ext uri="{FF2B5EF4-FFF2-40B4-BE49-F238E27FC236}">
                <a16:creationId xmlns:a16="http://schemas.microsoft.com/office/drawing/2014/main" id="{F7A73B01-E227-118D-3CAB-46CC333E27C4}"/>
              </a:ext>
            </a:extLst>
          </p:cNvPr>
          <p:cNvPicPr>
            <a:picLocks noChangeAspect="1"/>
          </p:cNvPicPr>
          <p:nvPr/>
        </p:nvPicPr>
        <p:blipFill>
          <a:blip r:embed="rId4"/>
          <a:stretch>
            <a:fillRect/>
          </a:stretch>
        </p:blipFill>
        <p:spPr>
          <a:xfrm>
            <a:off x="3659829" y="1097258"/>
            <a:ext cx="4147345" cy="5494158"/>
          </a:xfrm>
          <a:prstGeom prst="rect">
            <a:avLst/>
          </a:prstGeom>
        </p:spPr>
      </p:pic>
      <p:sp>
        <p:nvSpPr>
          <p:cNvPr id="2" name="Slide Number Placeholder 1">
            <a:extLst>
              <a:ext uri="{FF2B5EF4-FFF2-40B4-BE49-F238E27FC236}">
                <a16:creationId xmlns:a16="http://schemas.microsoft.com/office/drawing/2014/main" id="{5BC18066-5363-5EA1-42A7-43C9E9C4CA76}"/>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2484337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 uri="{C183D7F6-B498-43B3-948B-1728B52AA6E4}">
                <adec:decorative xmlns:adec="http://schemas.microsoft.com/office/drawing/2017/decorative" val="0"/>
              </a:ext>
            </a:extLst>
          </p:cNvPr>
          <p:cNvSpPr>
            <a:spLocks noGrp="1"/>
          </p:cNvSpPr>
          <p:nvPr>
            <p:ph type="title"/>
          </p:nvPr>
        </p:nvSpPr>
        <p:spPr/>
        <p:txBody>
          <a:bodyPr/>
          <a:lstStyle/>
          <a:p>
            <a:r>
              <a:rPr lang="en-AU">
                <a:latin typeface="+mj-lt"/>
              </a:rPr>
              <a:t>Double Venn diagram</a:t>
            </a:r>
          </a:p>
        </p:txBody>
      </p:sp>
      <p:grpSp>
        <p:nvGrpSpPr>
          <p:cNvPr id="4" name="Group 3">
            <a:extLst>
              <a:ext uri="{FF2B5EF4-FFF2-40B4-BE49-F238E27FC236}">
                <a16:creationId xmlns:a16="http://schemas.microsoft.com/office/drawing/2014/main" id="{95D9560F-6B51-6AF3-CD5C-741454253462}"/>
              </a:ext>
              <a:ext uri="{C183D7F6-B498-43B3-948B-1728B52AA6E4}">
                <adec:decorative xmlns:adec="http://schemas.microsoft.com/office/drawing/2017/decorative" val="1"/>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a:extLst>
              <a:ext uri="{FF2B5EF4-FFF2-40B4-BE49-F238E27FC236}">
                <a16:creationId xmlns:a16="http://schemas.microsoft.com/office/drawing/2014/main" id="{C5AED732-DC57-3916-DBAC-438AE2CFC8ED}"/>
              </a:ext>
              <a:ext uri="{C183D7F6-B498-43B3-948B-1728B52AA6E4}">
                <adec:decorative xmlns:adec="http://schemas.microsoft.com/office/drawing/2017/decorative" val="1"/>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 uri="{C183D7F6-B498-43B3-948B-1728B52AA6E4}">
                <adec:decorative xmlns:adec="http://schemas.microsoft.com/office/drawing/2017/decorative" val="0"/>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a:t>Multiple choice (1a)</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a:t>Multiple choice (1b)</a:t>
            </a:r>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noRot="1" noMove="1" noResize="1" noEditPoints="1" noAdjustHandles="1" noChangeArrowheads="1" noChangeShapeType="1"/>
          </p:cNvSpPr>
          <p:nvPr>
            <p:ph idx="1"/>
          </p:nvPr>
        </p:nvSpPr>
        <p:spPr/>
        <p:txBody>
          <a:bodyPr vert="horz" lIns="0" tIns="0" rIns="0" bIns="0" rtlCol="0" anchor="t">
            <a:noAutofit/>
          </a:bodyPr>
          <a:lstStyle/>
          <a:p>
            <a:pPr algn="l" rtl="0" fontAlgn="base"/>
            <a:r>
              <a:rPr lang="en-AU" b="0" i="0" u="sng" strike="noStrike">
                <a:solidFill>
                  <a:srgbClr val="2F5496"/>
                </a:solidFill>
                <a:effectLst/>
                <a:latin typeface="Arial" panose="020B0604020202020204" pitchFamily="34" charset="0"/>
                <a:hlinkClick r:id="rId5"/>
              </a:rPr>
              <a:t>Mathematics K–10 Syllabus</a:t>
            </a:r>
            <a:r>
              <a:rPr lang="en-AU" b="0" i="0">
                <a:solidFill>
                  <a:srgbClr val="000000"/>
                </a:solidFill>
                <a:effectLst/>
                <a:latin typeface="Arial" panose="020B0604020202020204" pitchFamily="34" charset="0"/>
              </a:rPr>
              <a:t> © NSW Education Standards Authority (NESA) for and on behalf of the Crown in right of the State of New South Wales, 2022. </a:t>
            </a:r>
          </a:p>
          <a:p>
            <a:pPr algn="l" rtl="0" fontAlgn="base"/>
            <a:r>
              <a:rPr lang="en-AU" b="0" i="0" u="sng" strike="noStrike">
                <a:solidFill>
                  <a:srgbClr val="2F5496"/>
                </a:solidFill>
                <a:effectLst/>
                <a:latin typeface="Arial" panose="020B0604020202020204" pitchFamily="34" charset="0"/>
                <a:hlinkClick r:id="rId6"/>
              </a:rPr>
              <a:t>National Numeracy Learning Progression</a:t>
            </a:r>
            <a:r>
              <a:rPr lang="en-AU" b="0" i="0">
                <a:solidFill>
                  <a:srgbClr val="000000"/>
                </a:solidFill>
                <a:effectLst/>
                <a:latin typeface="Arial" panose="020B0604020202020204" pitchFamily="34" charset="0"/>
              </a:rPr>
              <a:t> © Australian Curriculum, Assessment and Reporting Authority (ACARA) 2010 to present, unless otherwise indicated. This material was downloaded from the </a:t>
            </a:r>
            <a:r>
              <a:rPr lang="en-AU" b="0" i="0" u="sng" strike="noStrike">
                <a:solidFill>
                  <a:srgbClr val="2F5496"/>
                </a:solidFill>
                <a:effectLst/>
                <a:latin typeface="Arial" panose="020B0604020202020204" pitchFamily="34" charset="0"/>
                <a:hlinkClick r:id="rId7"/>
              </a:rPr>
              <a:t>Australian Curriculum</a:t>
            </a:r>
            <a:r>
              <a:rPr lang="en-AU" b="0" i="0">
                <a:solidFill>
                  <a:srgbClr val="000000"/>
                </a:solidFill>
                <a:effectLst/>
                <a:latin typeface="Arial" panose="020B0604020202020204" pitchFamily="34" charset="0"/>
              </a:rPr>
              <a:t> website (National Literacy Learning Progression) (accessed 8 April 2024 and was not modified. </a:t>
            </a:r>
          </a:p>
          <a:p>
            <a:pPr algn="l" rtl="0" fontAlgn="base"/>
            <a:r>
              <a:rPr lang="en-AU" b="0" i="0">
                <a:solidFill>
                  <a:srgbClr val="000000"/>
                </a:solidFill>
                <a:effectLst/>
                <a:latin typeface="Arial" panose="020B0604020202020204" pitchFamily="34" charset="0"/>
              </a:rPr>
              <a:t>Barton C (2019) </a:t>
            </a:r>
            <a:r>
              <a:rPr lang="en-AU" b="0" i="1" u="sng" strike="noStrike">
                <a:solidFill>
                  <a:srgbClr val="2F5496"/>
                </a:solidFill>
                <a:effectLst/>
                <a:latin typeface="Arial" panose="020B0604020202020204" pitchFamily="34" charset="0"/>
                <a:hlinkClick r:id="rId8"/>
              </a:rPr>
              <a:t>Volume of a cuboid 1</a:t>
            </a:r>
            <a:r>
              <a:rPr lang="en-AU" b="0" i="0">
                <a:solidFill>
                  <a:srgbClr val="000000"/>
                </a:solidFill>
                <a:effectLst/>
                <a:latin typeface="Arial" panose="020B0604020202020204" pitchFamily="34" charset="0"/>
              </a:rPr>
              <a:t>, Maths </a:t>
            </a:r>
            <a:r>
              <a:rPr lang="en-AU" b="0" i="0" err="1">
                <a:solidFill>
                  <a:srgbClr val="000000"/>
                </a:solidFill>
                <a:effectLst/>
                <a:latin typeface="Arial" panose="020B0604020202020204" pitchFamily="34" charset="0"/>
              </a:rPr>
              <a:t>Venns</a:t>
            </a:r>
            <a:r>
              <a:rPr lang="en-AU" b="0" i="0">
                <a:solidFill>
                  <a:srgbClr val="000000"/>
                </a:solidFill>
                <a:effectLst/>
                <a:latin typeface="Arial" panose="020B0604020202020204" pitchFamily="34" charset="0"/>
              </a:rPr>
              <a:t> Website, accessed 8 April 2024. </a:t>
            </a:r>
          </a:p>
          <a:p>
            <a:pPr algn="l" rtl="0" fontAlgn="base"/>
            <a:r>
              <a:rPr lang="en-AU" b="0" i="0">
                <a:solidFill>
                  <a:srgbClr val="000000"/>
                </a:solidFill>
                <a:effectLst/>
                <a:latin typeface="Arial" panose="020B0604020202020204" pitchFamily="34" charset="0"/>
              </a:rPr>
              <a:t>Finkel D (2019) </a:t>
            </a:r>
            <a:r>
              <a:rPr lang="en-AU" b="0" i="1" u="sng" strike="noStrike">
                <a:solidFill>
                  <a:srgbClr val="2F5496"/>
                </a:solidFill>
                <a:effectLst/>
                <a:latin typeface="Arial" panose="020B0604020202020204" pitchFamily="34" charset="0"/>
                <a:hlinkClick r:id="rId9"/>
              </a:rPr>
              <a:t>Fill the Stairs</a:t>
            </a:r>
            <a:r>
              <a:rPr lang="en-AU" b="0" i="0">
                <a:solidFill>
                  <a:srgbClr val="000000"/>
                </a:solidFill>
                <a:effectLst/>
                <a:latin typeface="Arial" panose="020B0604020202020204" pitchFamily="34" charset="0"/>
              </a:rPr>
              <a:t>, Math for Love website, accessed 8 April 2024. </a:t>
            </a:r>
          </a:p>
          <a:p>
            <a:pPr algn="l" rtl="0" fontAlgn="base"/>
            <a:r>
              <a:rPr lang="en-AU" b="0" i="0">
                <a:solidFill>
                  <a:srgbClr val="000000"/>
                </a:solidFill>
                <a:effectLst/>
                <a:latin typeface="Arial" panose="020B0604020202020204" pitchFamily="34" charset="0"/>
              </a:rPr>
              <a:t>NESA (NSW Education Standards Authority) (2024) ‘</a:t>
            </a:r>
            <a:r>
              <a:rPr lang="en-AU" b="0" i="0" u="sng" strike="noStrike">
                <a:solidFill>
                  <a:srgbClr val="2F5496"/>
                </a:solidFill>
                <a:effectLst/>
                <a:latin typeface="Arial" panose="020B0604020202020204" pitchFamily="34" charset="0"/>
                <a:hlinkClick r:id="rId10"/>
              </a:rPr>
              <a:t>Teaching advice for Three-dimensional spatial structure A</a:t>
            </a:r>
            <a:r>
              <a:rPr lang="en-AU" b="0" i="0">
                <a:solidFill>
                  <a:srgbClr val="000000"/>
                </a:solidFill>
                <a:effectLst/>
                <a:latin typeface="Arial" panose="020B0604020202020204" pitchFamily="34" charset="0"/>
              </a:rPr>
              <a:t>’, </a:t>
            </a:r>
            <a:r>
              <a:rPr lang="en-AU" b="0" i="1">
                <a:solidFill>
                  <a:srgbClr val="000000"/>
                </a:solidFill>
                <a:effectLst/>
                <a:latin typeface="Arial" panose="020B0604020202020204" pitchFamily="34" charset="0"/>
              </a:rPr>
              <a:t>Stage 3</a:t>
            </a:r>
            <a:r>
              <a:rPr lang="en-AU" b="0" i="0">
                <a:solidFill>
                  <a:srgbClr val="000000"/>
                </a:solidFill>
                <a:effectLst/>
                <a:latin typeface="Arial" panose="020B0604020202020204" pitchFamily="34" charset="0"/>
              </a:rPr>
              <a:t>, NESA website, accessed 30 May 2024. </a:t>
            </a:r>
          </a:p>
          <a:p>
            <a:pPr algn="l" rtl="0" fontAlgn="base"/>
            <a:r>
              <a:rPr lang="en-AU" b="0" i="0">
                <a:solidFill>
                  <a:srgbClr val="000000"/>
                </a:solidFill>
                <a:effectLst/>
                <a:latin typeface="Arial"/>
                <a:cs typeface="Arial"/>
              </a:rPr>
              <a:t>State of New South Wales (Department of Education) (2023) </a:t>
            </a:r>
            <a:r>
              <a:rPr lang="en-AU" b="0" i="1">
                <a:solidFill>
                  <a:srgbClr val="000000"/>
                </a:solidFill>
                <a:effectLst/>
                <a:latin typeface="Arial"/>
                <a:cs typeface="Arial"/>
              </a:rPr>
              <a:t>‘</a:t>
            </a:r>
            <a:r>
              <a:rPr lang="en-AU" b="0" i="0" u="sng" strike="noStrike">
                <a:solidFill>
                  <a:srgbClr val="2F5496"/>
                </a:solidFill>
                <a:effectLst/>
                <a:latin typeface="Arial"/>
                <a:cs typeface="Arial"/>
                <a:hlinkClick r:id="rId11"/>
              </a:rPr>
              <a:t>Factors fun</a:t>
            </a:r>
            <a:r>
              <a:rPr lang="en-AU" b="0" i="0">
                <a:solidFill>
                  <a:srgbClr val="000000"/>
                </a:solidFill>
                <a:effectLst/>
                <a:latin typeface="Arial"/>
                <a:cs typeface="Arial"/>
              </a:rPr>
              <a:t>’,</a:t>
            </a:r>
            <a:r>
              <a:rPr lang="en-AU" b="0" i="1">
                <a:solidFill>
                  <a:srgbClr val="000000"/>
                </a:solidFill>
                <a:effectLst/>
                <a:latin typeface="Arial"/>
                <a:cs typeface="Arial"/>
              </a:rPr>
              <a:t> Mathematics K–6 resources</a:t>
            </a:r>
            <a:r>
              <a:rPr lang="en-AU" b="0" i="0">
                <a:solidFill>
                  <a:srgbClr val="000000"/>
                </a:solidFill>
                <a:effectLst/>
                <a:latin typeface="Arial"/>
                <a:cs typeface="Arial"/>
              </a:rPr>
              <a:t>, NSW Department of Education website, accessed 3 April 2024. </a:t>
            </a:r>
          </a:p>
          <a:p>
            <a:pPr algn="l" rtl="0" fontAlgn="base"/>
            <a:endParaRPr lang="en-AU" b="0" i="0">
              <a:solidFill>
                <a:srgbClr val="000000"/>
              </a:solidFill>
              <a:effectLst/>
              <a:latin typeface="Arial" panose="020B0604020202020204" pitchFamily="34" charset="0"/>
            </a:endParaRPr>
          </a:p>
          <a:p>
            <a:pPr algn="l" rtl="0" fontAlgn="base"/>
            <a:endParaRPr lang="en-AU" b="0" i="0">
              <a:solidFill>
                <a:srgbClr val="000000"/>
              </a:solidFill>
              <a:effectLst/>
              <a:latin typeface="Arial" panose="020B0604020202020204" pitchFamily="34" charset="0"/>
            </a:endParaRPr>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409977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68</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pPr>
              <a:lnSpc>
                <a:spcPct val="150000"/>
              </a:lnSpc>
              <a:spcBef>
                <a:spcPts val="1200"/>
              </a:spcBef>
              <a:spcAft>
                <a:spcPts val="600"/>
              </a:spcAft>
            </a:pPr>
            <a:r>
              <a:rPr lang="en-AU" sz="1200">
                <a:effectLst/>
                <a:latin typeface="Arial" panose="020B0604020202020204" pitchFamily="34" charset="0"/>
                <a:ea typeface="Calibri" panose="020F0502020204030204" pitchFamily="34" charset="0"/>
              </a:rPr>
              <a:t>State of New South Wales (Department of Education) (2024b) </a:t>
            </a:r>
            <a:r>
              <a:rPr lang="en-AU" sz="1200" u="sng">
                <a:solidFill>
                  <a:srgbClr val="2F5496"/>
                </a:solidFill>
                <a:effectLst/>
                <a:latin typeface="Arial" panose="020B0604020202020204" pitchFamily="34" charset="0"/>
                <a:ea typeface="Calibri" panose="020F0502020204030204" pitchFamily="34" charset="0"/>
                <a:hlinkClick r:id="rId2"/>
              </a:rPr>
              <a:t>‘Hit it (3-digit numbers)</a:t>
            </a:r>
            <a:r>
              <a:rPr lang="en-AU" sz="1200">
                <a:effectLst/>
                <a:latin typeface="Arial" panose="020B0604020202020204" pitchFamily="34" charset="0"/>
                <a:ea typeface="Calibri" panose="020F0502020204030204" pitchFamily="34" charset="0"/>
              </a:rPr>
              <a:t>’, </a:t>
            </a:r>
            <a:r>
              <a:rPr lang="en-AU" sz="1200" i="1">
                <a:effectLst/>
                <a:latin typeface="Arial" panose="020B0604020202020204" pitchFamily="34" charset="0"/>
                <a:ea typeface="Calibri" panose="020F0502020204030204" pitchFamily="34" charset="0"/>
              </a:rPr>
              <a:t>Thinking mathematically resources</a:t>
            </a:r>
            <a:r>
              <a:rPr lang="en-AU" sz="1200">
                <a:effectLst/>
                <a:latin typeface="Arial" panose="020B0604020202020204" pitchFamily="34" charset="0"/>
                <a:ea typeface="Calibri" panose="020F0502020204030204" pitchFamily="34" charset="0"/>
              </a:rPr>
              <a:t>, NSW Department of Education website, accessed 13 August 2024. </a:t>
            </a:r>
          </a:p>
          <a:p>
            <a:pPr>
              <a:lnSpc>
                <a:spcPct val="150000"/>
              </a:lnSpc>
              <a:spcBef>
                <a:spcPts val="1200"/>
              </a:spcBef>
              <a:spcAft>
                <a:spcPts val="600"/>
              </a:spcAft>
            </a:pPr>
            <a:r>
              <a:rPr lang="en-AU" sz="1200">
                <a:effectLst/>
                <a:latin typeface="Arial" panose="020B0604020202020204" pitchFamily="34" charset="0"/>
                <a:ea typeface="Calibri" panose="020F0502020204030204" pitchFamily="34" charset="0"/>
              </a:rPr>
              <a:t>Toy </a:t>
            </a:r>
            <a:r>
              <a:rPr lang="en-AU" sz="1200" err="1">
                <a:effectLst/>
                <a:latin typeface="Arial" panose="020B0604020202020204" pitchFamily="34" charset="0"/>
                <a:ea typeface="Calibri" panose="020F0502020204030204" pitchFamily="34" charset="0"/>
              </a:rPr>
              <a:t>Theater</a:t>
            </a:r>
            <a:r>
              <a:rPr lang="en-AU" sz="1200">
                <a:effectLst/>
                <a:latin typeface="Arial" panose="020B0604020202020204" pitchFamily="34" charset="0"/>
                <a:ea typeface="Calibri" panose="020F0502020204030204" pitchFamily="34" charset="0"/>
              </a:rPr>
              <a:t> (2001–2024)</a:t>
            </a:r>
            <a:r>
              <a:rPr lang="en-AU" sz="1200" i="1">
                <a:effectLst/>
                <a:latin typeface="Arial" panose="020B0604020202020204" pitchFamily="34" charset="0"/>
                <a:ea typeface="Calibri" panose="020F0502020204030204" pitchFamily="34" charset="0"/>
              </a:rPr>
              <a:t> </a:t>
            </a:r>
            <a:r>
              <a:rPr lang="en-AU" sz="1200">
                <a:effectLst/>
                <a:latin typeface="Arial" panose="020B0604020202020204" pitchFamily="34" charset="0"/>
                <a:ea typeface="Calibri" panose="020F0502020204030204" pitchFamily="34" charset="0"/>
              </a:rPr>
              <a:t>‘</a:t>
            </a:r>
            <a:r>
              <a:rPr lang="en-AU" sz="1200" i="1" u="sng">
                <a:solidFill>
                  <a:srgbClr val="2F5496"/>
                </a:solidFill>
                <a:effectLst/>
                <a:latin typeface="Arial" panose="020B0604020202020204" pitchFamily="34" charset="0"/>
                <a:ea typeface="Calibri" panose="020F0502020204030204" pitchFamily="34" charset="0"/>
                <a:hlinkClick r:id="rId3"/>
              </a:rPr>
              <a:t>Playing Cards</a:t>
            </a:r>
            <a:r>
              <a:rPr lang="en-AU" sz="1200">
                <a:effectLst/>
                <a:latin typeface="Arial" panose="020B0604020202020204" pitchFamily="34" charset="0"/>
                <a:ea typeface="Calibri" panose="020F0502020204030204" pitchFamily="34" charset="0"/>
              </a:rPr>
              <a:t>’, </a:t>
            </a:r>
            <a:r>
              <a:rPr lang="en-AU" sz="1200" i="1">
                <a:effectLst/>
                <a:latin typeface="Arial" panose="020B0604020202020204" pitchFamily="34" charset="0"/>
                <a:ea typeface="Calibri" panose="020F0502020204030204" pitchFamily="34" charset="0"/>
              </a:rPr>
              <a:t>Probability Manipulatives</a:t>
            </a:r>
            <a:r>
              <a:rPr lang="en-AU" sz="1200">
                <a:effectLst/>
                <a:latin typeface="Arial" panose="020B0604020202020204" pitchFamily="34" charset="0"/>
                <a:ea typeface="Calibri" panose="020F0502020204030204" pitchFamily="34" charset="0"/>
              </a:rPr>
              <a:t>, Toy </a:t>
            </a:r>
            <a:r>
              <a:rPr lang="en-AU" sz="1200" err="1">
                <a:effectLst/>
                <a:latin typeface="Arial" panose="020B0604020202020204" pitchFamily="34" charset="0"/>
                <a:ea typeface="Calibri" panose="020F0502020204030204" pitchFamily="34" charset="0"/>
              </a:rPr>
              <a:t>Theater</a:t>
            </a:r>
            <a:r>
              <a:rPr lang="en-AU" sz="1200">
                <a:effectLst/>
                <a:latin typeface="Arial" panose="020B0604020202020204" pitchFamily="34" charset="0"/>
                <a:ea typeface="Calibri" panose="020F0502020204030204" pitchFamily="34" charset="0"/>
              </a:rPr>
              <a:t> website, accessed 26th June 2024.</a:t>
            </a:r>
            <a:endParaRPr lang="en-AU"/>
          </a:p>
          <a:p>
            <a:pPr>
              <a:lnSpc>
                <a:spcPct val="150000"/>
              </a:lnSpc>
              <a:spcBef>
                <a:spcPts val="1200"/>
              </a:spcBef>
              <a:spcAft>
                <a:spcPts val="600"/>
              </a:spcAft>
            </a:pPr>
            <a:r>
              <a:rPr lang="en-AU" sz="1200">
                <a:effectLst/>
                <a:latin typeface="Arial" panose="020B0604020202020204" pitchFamily="34" charset="0"/>
                <a:ea typeface="Calibri" panose="020F0502020204030204" pitchFamily="34" charset="0"/>
              </a:rPr>
              <a:t>University of Cambridge </a:t>
            </a:r>
            <a:r>
              <a:rPr lang="en-AU" sz="1200" u="sng">
                <a:solidFill>
                  <a:srgbClr val="2F5496"/>
                </a:solidFill>
                <a:effectLst/>
                <a:latin typeface="Arial" panose="020B0604020202020204" pitchFamily="34" charset="0"/>
                <a:ea typeface="Calibri" panose="020F0502020204030204" pitchFamily="34" charset="0"/>
              </a:rPr>
              <a:t>(</a:t>
            </a:r>
            <a:r>
              <a:rPr lang="en-AU" sz="1200" u="sng" err="1">
                <a:solidFill>
                  <a:srgbClr val="2F5496"/>
                </a:solidFill>
                <a:effectLst/>
                <a:latin typeface="Arial" panose="020B0604020202020204" pitchFamily="34" charset="0"/>
                <a:ea typeface="Calibri" panose="020F0502020204030204" pitchFamily="34" charset="0"/>
              </a:rPr>
              <a:t>n.d.b</a:t>
            </a:r>
            <a:r>
              <a:rPr lang="en-AU" sz="1200" u="sng">
                <a:solidFill>
                  <a:srgbClr val="2F5496"/>
                </a:solidFill>
                <a:effectLst/>
                <a:latin typeface="Arial" panose="020B0604020202020204" pitchFamily="34" charset="0"/>
                <a:ea typeface="Calibri" panose="020F0502020204030204" pitchFamily="34" charset="0"/>
              </a:rPr>
              <a:t>) </a:t>
            </a:r>
            <a:r>
              <a:rPr lang="en-AU" sz="1200" i="1" u="sng">
                <a:solidFill>
                  <a:srgbClr val="2F5496"/>
                </a:solidFill>
                <a:effectLst/>
                <a:latin typeface="Arial" panose="020B0604020202020204" pitchFamily="34" charset="0"/>
                <a:ea typeface="Calibri" panose="020F0502020204030204" pitchFamily="34" charset="0"/>
                <a:hlinkClick r:id="rId4"/>
              </a:rPr>
              <a:t>Treasure Hunt</a:t>
            </a:r>
            <a:r>
              <a:rPr lang="en-AU" sz="1200">
                <a:effectLst/>
                <a:latin typeface="Arial" panose="020B0604020202020204" pitchFamily="34" charset="0"/>
                <a:ea typeface="Calibri" panose="020F0502020204030204" pitchFamily="34" charset="0"/>
              </a:rPr>
              <a:t>,</a:t>
            </a:r>
            <a:r>
              <a:rPr lang="en-AU" sz="1200" i="1">
                <a:effectLst/>
                <a:latin typeface="Arial" panose="020B0604020202020204" pitchFamily="34" charset="0"/>
                <a:ea typeface="Calibri" panose="020F0502020204030204" pitchFamily="34" charset="0"/>
              </a:rPr>
              <a:t> </a:t>
            </a:r>
            <a:r>
              <a:rPr lang="en-AU" sz="1200">
                <a:effectLst/>
                <a:latin typeface="Arial" panose="020B0604020202020204" pitchFamily="34" charset="0"/>
                <a:ea typeface="Calibri" panose="020F0502020204030204" pitchFamily="34" charset="0"/>
              </a:rPr>
              <a:t>NRICH website, accessed 13 June 2024.</a:t>
            </a:r>
          </a:p>
          <a:p>
            <a:pPr>
              <a:lnSpc>
                <a:spcPct val="150000"/>
              </a:lnSpc>
              <a:spcBef>
                <a:spcPts val="1200"/>
              </a:spcBef>
              <a:spcAft>
                <a:spcPts val="600"/>
              </a:spcAft>
            </a:pPr>
            <a:r>
              <a:rPr lang="en-AU" sz="1200">
                <a:effectLst/>
                <a:latin typeface="Arial" panose="020B0604020202020204" pitchFamily="34" charset="0"/>
                <a:ea typeface="Calibri" panose="020F0502020204030204" pitchFamily="34" charset="0"/>
              </a:rPr>
              <a:t>Wang E and Russo J (2022) </a:t>
            </a:r>
            <a:r>
              <a:rPr lang="en-AU" sz="1200" u="sng">
                <a:solidFill>
                  <a:srgbClr val="2F5496"/>
                </a:solidFill>
                <a:effectLst/>
                <a:latin typeface="Arial" panose="020B0604020202020204" pitchFamily="34" charset="0"/>
                <a:ea typeface="Calibri" panose="020F0502020204030204" pitchFamily="34" charset="0"/>
              </a:rPr>
              <a:t>‘</a:t>
            </a:r>
            <a:r>
              <a:rPr lang="en-AU" sz="1200" u="sng">
                <a:solidFill>
                  <a:srgbClr val="2F5496"/>
                </a:solidFill>
                <a:effectLst/>
                <a:latin typeface="Arial" panose="020B0604020202020204" pitchFamily="34" charset="0"/>
                <a:ea typeface="Calibri" panose="020F0502020204030204" pitchFamily="34" charset="0"/>
                <a:hlinkClick r:id="rId5"/>
              </a:rPr>
              <a:t>Our epic Monopoly game: Exploring non-standard partitioning using money</a:t>
            </a:r>
            <a:r>
              <a:rPr lang="en-AU" sz="1200">
                <a:effectLst/>
                <a:latin typeface="Arial" panose="020B0604020202020204" pitchFamily="34" charset="0"/>
                <a:ea typeface="Calibri" panose="020F0502020204030204" pitchFamily="34" charset="0"/>
              </a:rPr>
              <a:t>’, </a:t>
            </a:r>
            <a:r>
              <a:rPr lang="en-AU" sz="1200" i="1">
                <a:effectLst/>
                <a:latin typeface="Arial" panose="020B0604020202020204" pitchFamily="34" charset="0"/>
                <a:ea typeface="Calibri" panose="020F0502020204030204" pitchFamily="34" charset="0"/>
              </a:rPr>
              <a:t>Prime Number</a:t>
            </a:r>
            <a:r>
              <a:rPr lang="en-AU" sz="1200">
                <a:effectLst/>
                <a:latin typeface="Arial" panose="020B0604020202020204" pitchFamily="34" charset="0"/>
                <a:ea typeface="Calibri" panose="020F0502020204030204" pitchFamily="34" charset="0"/>
              </a:rPr>
              <a:t>, 37(4):21–23, accessed 13 June 2024.</a:t>
            </a:r>
          </a:p>
          <a:p>
            <a:pPr>
              <a:lnSpc>
                <a:spcPct val="150000"/>
              </a:lnSpc>
              <a:spcBef>
                <a:spcPts val="1200"/>
              </a:spcBef>
              <a:spcAft>
                <a:spcPts val="600"/>
              </a:spcAft>
            </a:pPr>
            <a:r>
              <a:rPr lang="en-AU" sz="1200">
                <a:effectLst/>
                <a:latin typeface="Arial" panose="020B0604020202020204" pitchFamily="34" charset="0"/>
                <a:ea typeface="Calibri" panose="020F0502020204030204" pitchFamily="34" charset="0"/>
              </a:rPr>
              <a:t>White Rose Education (2022) ‘</a:t>
            </a:r>
            <a:r>
              <a:rPr lang="en-AU" sz="1200" i="1">
                <a:effectLst/>
                <a:latin typeface="Arial" panose="020B0604020202020204" pitchFamily="34" charset="0"/>
                <a:ea typeface="Calibri" panose="020F0502020204030204" pitchFamily="34" charset="0"/>
              </a:rPr>
              <a:t>Use arrays’, Number: Multiplication and division</a:t>
            </a:r>
            <a:r>
              <a:rPr lang="en-AU" sz="1200">
                <a:effectLst/>
                <a:latin typeface="Arial" panose="020B0604020202020204" pitchFamily="34" charset="0"/>
                <a:ea typeface="Calibri" panose="020F0502020204030204" pitchFamily="34" charset="0"/>
              </a:rPr>
              <a:t>, White Rose Education.</a:t>
            </a:r>
          </a:p>
          <a:p>
            <a:endParaRPr lang="en-AU"/>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6">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7">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8">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1417523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noRot="1" noMove="1" noResize="1" noEditPoints="1" noAdjustHandles="1" noChangeArrowheads="1" noChangeShapeType="1"/>
          </p:cNvSpPr>
          <p:nvPr>
            <p:ph idx="1"/>
          </p:nvPr>
        </p:nvSpPr>
        <p:spPr/>
        <p:txBody>
          <a:bodyPr/>
          <a:lstStyle/>
          <a:p>
            <a:pPr algn="l" rtl="0" fontAlgn="base"/>
            <a:r>
              <a:rPr lang="en-AU" b="0" i="0">
                <a:solidFill>
                  <a:srgbClr val="000000"/>
                </a:solidFill>
                <a:effectLst/>
                <a:latin typeface="Arial" panose="020B0604020202020204" pitchFamily="34" charset="0"/>
              </a:rPr>
              <a:t>Sullivan P (2018) </a:t>
            </a:r>
            <a:r>
              <a:rPr lang="en-AU" b="0" i="1">
                <a:solidFill>
                  <a:srgbClr val="000000"/>
                </a:solidFill>
                <a:effectLst/>
                <a:latin typeface="Arial" panose="020B0604020202020204" pitchFamily="34" charset="0"/>
              </a:rPr>
              <a:t>Challenging Mathematical Tasks</a:t>
            </a:r>
            <a:r>
              <a:rPr lang="en-AU" b="0" i="0">
                <a:solidFill>
                  <a:srgbClr val="000000"/>
                </a:solidFill>
                <a:effectLst/>
                <a:latin typeface="Arial" panose="020B0604020202020204" pitchFamily="34" charset="0"/>
              </a:rPr>
              <a:t>, Oxford University Press Australia and New Zealand. </a:t>
            </a:r>
          </a:p>
          <a:p>
            <a:pPr algn="l" rtl="0" fontAlgn="base"/>
            <a:r>
              <a:rPr lang="en-AU" b="0" i="0">
                <a:solidFill>
                  <a:srgbClr val="000000"/>
                </a:solidFill>
                <a:effectLst/>
                <a:latin typeface="Arial" panose="020B0604020202020204" pitchFamily="34" charset="0"/>
              </a:rPr>
              <a:t>University of Cambridge (</a:t>
            </a:r>
            <a:r>
              <a:rPr lang="en-AU" b="0" i="0" err="1">
                <a:solidFill>
                  <a:srgbClr val="000000"/>
                </a:solidFill>
                <a:effectLst/>
                <a:latin typeface="Arial" panose="020B0604020202020204" pitchFamily="34" charset="0"/>
              </a:rPr>
              <a:t>n.d.a</a:t>
            </a:r>
            <a:r>
              <a:rPr lang="en-AU" b="0" i="0">
                <a:solidFill>
                  <a:srgbClr val="000000"/>
                </a:solidFill>
                <a:effectLst/>
                <a:latin typeface="Arial" panose="020B0604020202020204" pitchFamily="34" charset="0"/>
              </a:rPr>
              <a:t>) </a:t>
            </a:r>
            <a:r>
              <a:rPr lang="en-AU" b="0" i="1" u="sng" strike="noStrike">
                <a:solidFill>
                  <a:srgbClr val="2F5496"/>
                </a:solidFill>
                <a:effectLst/>
                <a:latin typeface="Arial" panose="020B0604020202020204" pitchFamily="34" charset="0"/>
                <a:hlinkClick r:id="rId5"/>
              </a:rPr>
              <a:t>Area and Perimeter</a:t>
            </a:r>
            <a:r>
              <a:rPr lang="en-AU" b="0" i="0">
                <a:solidFill>
                  <a:srgbClr val="000000"/>
                </a:solidFill>
                <a:effectLst/>
                <a:latin typeface="Arial" panose="020B0604020202020204" pitchFamily="34" charset="0"/>
              </a:rPr>
              <a:t>, NRICH website, accessed 4 April 2024. </a:t>
            </a:r>
          </a:p>
          <a:p>
            <a:pPr algn="l" rtl="0" fontAlgn="base"/>
            <a:r>
              <a:rPr lang="en-AU" b="0" i="0">
                <a:solidFill>
                  <a:srgbClr val="000000"/>
                </a:solidFill>
                <a:effectLst/>
                <a:latin typeface="Arial" panose="020B0604020202020204" pitchFamily="34" charset="0"/>
              </a:rPr>
              <a:t>Sullivan P (2018) Challenging Mathematical Tasks, Oxford University Press Australia and New Zealand. </a:t>
            </a:r>
          </a:p>
          <a:p>
            <a:pPr algn="l" rtl="0" fontAlgn="base"/>
            <a:r>
              <a:rPr lang="en-AU" b="0" i="0">
                <a:solidFill>
                  <a:srgbClr val="000000"/>
                </a:solidFill>
                <a:effectLst/>
                <a:latin typeface="Arial" panose="020B0604020202020204" pitchFamily="34" charset="0"/>
              </a:rPr>
              <a:t>University of Cambridge (</a:t>
            </a:r>
            <a:r>
              <a:rPr lang="en-AU" b="0" i="0" err="1">
                <a:solidFill>
                  <a:srgbClr val="000000"/>
                </a:solidFill>
                <a:effectLst/>
                <a:latin typeface="Arial" panose="020B0604020202020204" pitchFamily="34" charset="0"/>
              </a:rPr>
              <a:t>n.d.a</a:t>
            </a:r>
            <a:r>
              <a:rPr lang="en-AU" b="0" i="0">
                <a:solidFill>
                  <a:srgbClr val="000000"/>
                </a:solidFill>
                <a:effectLst/>
                <a:latin typeface="Arial" panose="020B0604020202020204" pitchFamily="34" charset="0"/>
              </a:rPr>
              <a:t>) Area and Perimeter, NRICH website, accessed 4 April 2024. </a:t>
            </a:r>
          </a:p>
          <a:p>
            <a:pPr algn="l" rtl="0" fontAlgn="base"/>
            <a:r>
              <a:rPr lang="en-AU" b="0" i="0">
                <a:solidFill>
                  <a:srgbClr val="000000"/>
                </a:solidFill>
                <a:effectLst/>
                <a:latin typeface="Arial" panose="020B0604020202020204" pitchFamily="34" charset="0"/>
              </a:rPr>
              <a:t>——(</a:t>
            </a:r>
            <a:r>
              <a:rPr lang="en-AU" b="0" i="0" err="1">
                <a:solidFill>
                  <a:srgbClr val="000000"/>
                </a:solidFill>
                <a:effectLst/>
                <a:latin typeface="Arial" panose="020B0604020202020204" pitchFamily="34" charset="0"/>
              </a:rPr>
              <a:t>n.d.b</a:t>
            </a:r>
            <a:r>
              <a:rPr lang="en-AU" b="0" i="0">
                <a:solidFill>
                  <a:srgbClr val="000000"/>
                </a:solidFill>
                <a:effectLst/>
                <a:latin typeface="Arial" panose="020B0604020202020204" pitchFamily="34" charset="0"/>
              </a:rPr>
              <a:t>) Factor-multiple Chains, NRICH website, accessed 4 April 2024. </a:t>
            </a:r>
          </a:p>
          <a:p>
            <a:pPr algn="l" rtl="0" fontAlgn="base"/>
            <a:r>
              <a:rPr lang="en-AU" b="0" i="0">
                <a:solidFill>
                  <a:srgbClr val="000000"/>
                </a:solidFill>
                <a:effectLst/>
                <a:latin typeface="Arial" panose="020B0604020202020204" pitchFamily="34" charset="0"/>
              </a:rPr>
              <a:t>——(</a:t>
            </a:r>
            <a:r>
              <a:rPr lang="en-AU" b="0" i="0" err="1">
                <a:solidFill>
                  <a:srgbClr val="000000"/>
                </a:solidFill>
                <a:effectLst/>
                <a:latin typeface="Arial" panose="020B0604020202020204" pitchFamily="34" charset="0"/>
              </a:rPr>
              <a:t>n.d.c</a:t>
            </a:r>
            <a:r>
              <a:rPr lang="en-AU" b="0" i="0">
                <a:solidFill>
                  <a:srgbClr val="000000"/>
                </a:solidFill>
                <a:effectLst/>
                <a:latin typeface="Arial" panose="020B0604020202020204" pitchFamily="34" charset="0"/>
              </a:rPr>
              <a:t>) Rod Area, NRICH website, accessed 4 April 2024. </a:t>
            </a:r>
          </a:p>
          <a:p>
            <a:pPr algn="l" rtl="0" fontAlgn="base"/>
            <a:r>
              <a:rPr lang="en-AU" b="0" i="0">
                <a:solidFill>
                  <a:srgbClr val="000000"/>
                </a:solidFill>
                <a:effectLst/>
                <a:latin typeface="Arial" panose="020B0604020202020204" pitchFamily="34" charset="0"/>
              </a:rPr>
              <a:t>——(</a:t>
            </a:r>
            <a:r>
              <a:rPr lang="en-AU" b="0" i="0" err="1">
                <a:solidFill>
                  <a:srgbClr val="000000"/>
                </a:solidFill>
                <a:effectLst/>
                <a:latin typeface="Arial" panose="020B0604020202020204" pitchFamily="34" charset="0"/>
              </a:rPr>
              <a:t>n.d.d</a:t>
            </a:r>
            <a:r>
              <a:rPr lang="en-AU" b="0" i="0">
                <a:solidFill>
                  <a:srgbClr val="000000"/>
                </a:solidFill>
                <a:effectLst/>
                <a:latin typeface="Arial" panose="020B0604020202020204" pitchFamily="34" charset="0"/>
              </a:rPr>
              <a:t>) Route Product, NRICH website, accessed 4 April 2024. </a:t>
            </a:r>
          </a:p>
          <a:p>
            <a:pPr algn="l" rtl="0" fontAlgn="base"/>
            <a:endParaRPr lang="en-AU" b="0" i="0">
              <a:solidFill>
                <a:srgbClr val="000000"/>
              </a:solidFill>
              <a:effectLst/>
              <a:latin typeface="Arial" panose="020B0604020202020204" pitchFamily="34" charset="0"/>
            </a:endParaRPr>
          </a:p>
          <a:p>
            <a:pPr algn="l" rtl="0" fontAlgn="base"/>
            <a:endParaRPr lang="en-AU" b="0" i="0">
              <a:solidFill>
                <a:srgbClr val="000000"/>
              </a:solidFill>
              <a:effectLst/>
              <a:latin typeface="Arial" panose="020B0604020202020204" pitchFamily="34" charset="0"/>
            </a:endParaRPr>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69</a:t>
            </a:fld>
            <a:endParaRPr lang="en-AU"/>
          </a:p>
        </p:txBody>
      </p:sp>
    </p:spTree>
    <p:extLst>
      <p:ext uri="{BB962C8B-B14F-4D97-AF65-F5344CB8AC3E}">
        <p14:creationId xmlns:p14="http://schemas.microsoft.com/office/powerpoint/2010/main" val="1293536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0129b06-f64b-40a8-96e2-c5b2f86112b1" xsi:nil="true"/>
    <lcf76f155ced4ddcb4097134ff3c332f xmlns="7e763d47-3c66-4c58-9425-1477fd3ccd1e">
      <Terms xmlns="http://schemas.microsoft.com/office/infopath/2007/PartnerControls"/>
    </lcf76f155ced4ddcb4097134ff3c332f>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24F4DA-5415-43D4-8474-C9BE68919175}">
  <ds:schemaRefs>
    <ds:schemaRef ds:uri="http://purl.org/dc/dcmitype/"/>
    <ds:schemaRef ds:uri="http://purl.org/dc/elements/1.1/"/>
    <ds:schemaRef ds:uri="http://schemas.microsoft.com/office/2006/documentManagement/types"/>
    <ds:schemaRef ds:uri="http://schemas.openxmlformats.org/package/2006/metadata/core-properties"/>
    <ds:schemaRef ds:uri="http://www.w3.org/XML/1998/namespace"/>
    <ds:schemaRef ds:uri="http://purl.org/dc/terms/"/>
    <ds:schemaRef ds:uri="http://schemas.microsoft.com/office/2006/metadata/properties"/>
    <ds:schemaRef ds:uri="60129b06-f64b-40a8-96e2-c5b2f86112b1"/>
    <ds:schemaRef ds:uri="http://schemas.microsoft.com/office/infopath/2007/PartnerControls"/>
    <ds:schemaRef ds:uri="7e763d47-3c66-4c58-9425-1477fd3ccd1e"/>
  </ds:schemaRefs>
</ds:datastoreItem>
</file>

<file path=customXml/itemProps2.xml><?xml version="1.0" encoding="utf-8"?>
<ds:datastoreItem xmlns:ds="http://schemas.openxmlformats.org/officeDocument/2006/customXml" ds:itemID="{B9C68242-C972-4815-B4EF-36DAD899F771}">
  <ds:schemaRefs>
    <ds:schemaRef ds:uri="http://schemas.microsoft.com/sharepoint/v3/contenttype/forms"/>
  </ds:schemaRefs>
</ds:datastoreItem>
</file>

<file path=customXml/itemProps3.xml><?xml version="1.0" encoding="utf-8"?>
<ds:datastoreItem xmlns:ds="http://schemas.openxmlformats.org/officeDocument/2006/customXml" ds:itemID="{D967AA61-45AB-4061-B05B-022421D0C7D7}">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student-facing-primary-template-2025-v1-5 (1)</Template>
  <TotalTime>65</TotalTime>
  <Words>6750</Words>
  <Application>Microsoft Office PowerPoint</Application>
  <PresentationFormat>Widescreen</PresentationFormat>
  <Paragraphs>798</Paragraphs>
  <Slides>70</Slides>
  <Notes>67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70</vt:i4>
      </vt:variant>
    </vt:vector>
  </HeadingPairs>
  <TitlesOfParts>
    <vt:vector size="79" baseType="lpstr">
      <vt:lpstr>Calibri</vt:lpstr>
      <vt:lpstr>Arial</vt:lpstr>
      <vt:lpstr>Public Sans</vt:lpstr>
      <vt:lpstr>Montserrat</vt:lpstr>
      <vt:lpstr>Wingdings</vt:lpstr>
      <vt:lpstr>Times New Roman</vt:lpstr>
      <vt:lpstr>Public Sans Light</vt:lpstr>
      <vt:lpstr>Arial,Sans-Serif</vt:lpstr>
      <vt:lpstr>NSWG Corporate</vt:lpstr>
      <vt:lpstr>Instructions for use</vt:lpstr>
      <vt:lpstr>Review of Learning </vt:lpstr>
      <vt:lpstr>Lessons</vt:lpstr>
      <vt:lpstr>Review of learning 1</vt:lpstr>
      <vt:lpstr>Multiple choice (1)</vt:lpstr>
      <vt:lpstr>Short response (1)</vt:lpstr>
      <vt:lpstr>Short response (2)</vt:lpstr>
      <vt:lpstr>Short response (3)</vt:lpstr>
      <vt:lpstr>Short response (4)</vt:lpstr>
      <vt:lpstr>Activity 1 – apply known mental strategies to add</vt:lpstr>
      <vt:lpstr>Review of learning  2</vt:lpstr>
      <vt:lpstr>True or false (1)</vt:lpstr>
      <vt:lpstr>Short response (5)</vt:lpstr>
      <vt:lpstr>Short response (6)</vt:lpstr>
      <vt:lpstr>Short response (7)</vt:lpstr>
      <vt:lpstr>Short response (8)</vt:lpstr>
      <vt:lpstr>Activity 2 – apply known mental strategies to add and subtract</vt:lpstr>
      <vt:lpstr>Review of learning 3</vt:lpstr>
      <vt:lpstr>Multiple choice (2) </vt:lpstr>
      <vt:lpstr>Short response (9)</vt:lpstr>
      <vt:lpstr>Short response (10)</vt:lpstr>
      <vt:lpstr>Short response (11)</vt:lpstr>
      <vt:lpstr>Short response (12)</vt:lpstr>
      <vt:lpstr>Activity 3 – apply known mental strategies to add and represent the solutions using a model</vt:lpstr>
      <vt:lpstr>Review of learning 4</vt:lpstr>
      <vt:lpstr>True or false (2)</vt:lpstr>
      <vt:lpstr>Short response (13)</vt:lpstr>
      <vt:lpstr>Short response (14)</vt:lpstr>
      <vt:lpstr>Short response (15) </vt:lpstr>
      <vt:lpstr>Short response (16)</vt:lpstr>
      <vt:lpstr>Activity 4 – apply known mental strategies to subtract and represent the solutions using a model</vt:lpstr>
      <vt:lpstr>Review of learning 5</vt:lpstr>
      <vt:lpstr>Multiple choice (3)</vt:lpstr>
      <vt:lpstr>Short response (17)</vt:lpstr>
      <vt:lpstr>Short response (18) </vt:lpstr>
      <vt:lpstr>Short response (19) </vt:lpstr>
      <vt:lpstr>Short response (20)</vt:lpstr>
      <vt:lpstr>Activity 5 – represent numbers up to thousands using numerals</vt:lpstr>
      <vt:lpstr>Review of learning 6</vt:lpstr>
      <vt:lpstr>True or false (3)</vt:lpstr>
      <vt:lpstr>Short response (21)</vt:lpstr>
      <vt:lpstr>Short response (22)</vt:lpstr>
      <vt:lpstr>Short response (23) </vt:lpstr>
      <vt:lpstr>Short response (24)</vt:lpstr>
      <vt:lpstr>Activity 6 – represent, read and order numbers up to thousands</vt:lpstr>
      <vt:lpstr>Review of learning  7</vt:lpstr>
      <vt:lpstr>Multiple choice (4)</vt:lpstr>
      <vt:lpstr>Short response (25)</vt:lpstr>
      <vt:lpstr>Short response (26) </vt:lpstr>
      <vt:lpstr>Short response (29)</vt:lpstr>
      <vt:lpstr>Short response (30)</vt:lpstr>
      <vt:lpstr>Activity 7 – read and order 4-digit numbers 1</vt:lpstr>
      <vt:lpstr>Review of learning 8</vt:lpstr>
      <vt:lpstr>True or false (4) </vt:lpstr>
      <vt:lpstr>Short response (31)</vt:lpstr>
      <vt:lpstr>Short response (32)</vt:lpstr>
      <vt:lpstr>Short response (33)</vt:lpstr>
      <vt:lpstr>Short response (34)</vt:lpstr>
      <vt:lpstr>Activity 8 – read and order 4-digit numbers 2</vt:lpstr>
      <vt:lpstr>Double Venn diagram</vt:lpstr>
      <vt:lpstr>Frayer</vt:lpstr>
      <vt:lpstr>Spider map</vt:lpstr>
      <vt:lpstr>Cline</vt:lpstr>
      <vt:lpstr>Compare and contrast</vt:lpstr>
      <vt:lpstr>Multiple choice (1a)</vt:lpstr>
      <vt:lpstr>Multiple choice (1b)</vt:lpstr>
      <vt:lpstr>References</vt:lpstr>
      <vt:lpstr>References</vt:lpstr>
      <vt:lpstr>References 1</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Daniel Archer</cp:lastModifiedBy>
  <cp:revision>2</cp:revision>
  <dcterms:created xsi:type="dcterms:W3CDTF">2025-07-07T07:05:15Z</dcterms:created>
  <dcterms:modified xsi:type="dcterms:W3CDTF">2025-09-14T23:37:13Z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