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5" r:id="rId5"/>
  </p:sldMasterIdLst>
  <p:notesMasterIdLst>
    <p:notesMasterId r:id="rId75"/>
  </p:notesMasterIdLst>
  <p:handoutMasterIdLst>
    <p:handoutMasterId r:id="rId76"/>
  </p:handoutMasterIdLst>
  <p:sldIdLst>
    <p:sldId id="365" r:id="rId6"/>
    <p:sldId id="26505" r:id="rId7"/>
    <p:sldId id="26359" r:id="rId8"/>
    <p:sldId id="271" r:id="rId9"/>
    <p:sldId id="26578" r:id="rId10"/>
    <p:sldId id="26580" r:id="rId11"/>
    <p:sldId id="26648" r:id="rId12"/>
    <p:sldId id="26581" r:id="rId13"/>
    <p:sldId id="26582" r:id="rId14"/>
    <p:sldId id="26464" r:id="rId15"/>
    <p:sldId id="26583" r:id="rId16"/>
    <p:sldId id="26586" r:id="rId17"/>
    <p:sldId id="26588" r:id="rId18"/>
    <p:sldId id="26649" r:id="rId19"/>
    <p:sldId id="26589" r:id="rId20"/>
    <p:sldId id="26590" r:id="rId21"/>
    <p:sldId id="26405" r:id="rId22"/>
    <p:sldId id="26656" r:id="rId23"/>
    <p:sldId id="26592" r:id="rId24"/>
    <p:sldId id="26594" r:id="rId25"/>
    <p:sldId id="26597" r:id="rId26"/>
    <p:sldId id="26650" r:id="rId27"/>
    <p:sldId id="26598" r:id="rId28"/>
    <p:sldId id="26599" r:id="rId29"/>
    <p:sldId id="26410" r:id="rId30"/>
    <p:sldId id="26601" r:id="rId31"/>
    <p:sldId id="26604" r:id="rId32"/>
    <p:sldId id="26606" r:id="rId33"/>
    <p:sldId id="26651" r:id="rId34"/>
    <p:sldId id="26607" r:id="rId35"/>
    <p:sldId id="26608" r:id="rId36"/>
    <p:sldId id="26609" r:id="rId37"/>
    <p:sldId id="26610" r:id="rId38"/>
    <p:sldId id="26612" r:id="rId39"/>
    <p:sldId id="26615" r:id="rId40"/>
    <p:sldId id="26652" r:id="rId41"/>
    <p:sldId id="26616" r:id="rId42"/>
    <p:sldId id="26617" r:id="rId43"/>
    <p:sldId id="26618" r:id="rId44"/>
    <p:sldId id="26619" r:id="rId45"/>
    <p:sldId id="26622" r:id="rId46"/>
    <p:sldId id="26624" r:id="rId47"/>
    <p:sldId id="26653" r:id="rId48"/>
    <p:sldId id="26625" r:id="rId49"/>
    <p:sldId id="26626" r:id="rId50"/>
    <p:sldId id="26627" r:id="rId51"/>
    <p:sldId id="26628" r:id="rId52"/>
    <p:sldId id="26630" r:id="rId53"/>
    <p:sldId id="26633" r:id="rId54"/>
    <p:sldId id="26655" r:id="rId55"/>
    <p:sldId id="26634" r:id="rId56"/>
    <p:sldId id="26635" r:id="rId57"/>
    <p:sldId id="26636" r:id="rId58"/>
    <p:sldId id="26637" r:id="rId59"/>
    <p:sldId id="26640" r:id="rId60"/>
    <p:sldId id="26642" r:id="rId61"/>
    <p:sldId id="26654" r:id="rId62"/>
    <p:sldId id="26643" r:id="rId63"/>
    <p:sldId id="26644" r:id="rId64"/>
    <p:sldId id="26645" r:id="rId65"/>
    <p:sldId id="26393" r:id="rId66"/>
    <p:sldId id="26387" r:id="rId67"/>
    <p:sldId id="26395" r:id="rId68"/>
    <p:sldId id="26391" r:id="rId69"/>
    <p:sldId id="26402" r:id="rId70"/>
    <p:sldId id="26507" r:id="rId71"/>
    <p:sldId id="26510" r:id="rId72"/>
    <p:sldId id="360" r:id="rId73"/>
    <p:sldId id="361" r:id="rId74"/>
  </p:sldIdLst>
  <p:sldSz cx="12192000" cy="6858000"/>
  <p:notesSz cx="6858000" cy="9144000"/>
  <p:embeddedFontLst>
    <p:embeddedFont>
      <p:font typeface="Arial Black" panose="020B0A04020102020204" pitchFamily="34" charset="0"/>
      <p:bold r:id="rId77"/>
    </p:embeddedFont>
    <p:embeddedFont>
      <p:font typeface="Cambria Math" panose="02040503050406030204" pitchFamily="18" charset="0"/>
      <p:regular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8"/>
            <p14:sldId id="26580"/>
            <p14:sldId id="26648"/>
            <p14:sldId id="26581"/>
            <p14:sldId id="26582"/>
            <p14:sldId id="26464"/>
          </p14:sldIdLst>
        </p14:section>
        <p14:section name="Review of learning 2" id="{0AC6BBCB-7E49-46CE-B777-EFCDD4B60F91}">
          <p14:sldIdLst>
            <p14:sldId id="26583"/>
            <p14:sldId id="26586"/>
            <p14:sldId id="26588"/>
            <p14:sldId id="26649"/>
            <p14:sldId id="26589"/>
            <p14:sldId id="26590"/>
            <p14:sldId id="26405"/>
            <p14:sldId id="26656"/>
          </p14:sldIdLst>
        </p14:section>
        <p14:section name="Review of learning 3" id="{6F5E1C19-5255-4FF7-A3CD-4549F7EF69B2}">
          <p14:sldIdLst>
            <p14:sldId id="26592"/>
            <p14:sldId id="26594"/>
            <p14:sldId id="26597"/>
            <p14:sldId id="26650"/>
            <p14:sldId id="26598"/>
            <p14:sldId id="26599"/>
            <p14:sldId id="26410"/>
          </p14:sldIdLst>
        </p14:section>
        <p14:section name="Review of learning 4" id="{6EB8E1CE-ED7B-4635-88AB-9D1D052BB011}">
          <p14:sldIdLst>
            <p14:sldId id="26601"/>
            <p14:sldId id="26604"/>
            <p14:sldId id="26606"/>
            <p14:sldId id="26651"/>
            <p14:sldId id="26607"/>
            <p14:sldId id="26608"/>
            <p14:sldId id="26609"/>
          </p14:sldIdLst>
        </p14:section>
        <p14:section name="Review of learning 5" id="{E365C8CF-14E0-4F5A-BCE8-2E930DEEA864}">
          <p14:sldIdLst>
            <p14:sldId id="26610"/>
            <p14:sldId id="26612"/>
            <p14:sldId id="26615"/>
            <p14:sldId id="26652"/>
            <p14:sldId id="26616"/>
            <p14:sldId id="26617"/>
            <p14:sldId id="26618"/>
          </p14:sldIdLst>
        </p14:section>
        <p14:section name="Review of learning 6" id="{6721D3DC-F7BB-49CA-9E61-8454C104591D}">
          <p14:sldIdLst>
            <p14:sldId id="26619"/>
            <p14:sldId id="26622"/>
            <p14:sldId id="26624"/>
            <p14:sldId id="26653"/>
            <p14:sldId id="26625"/>
            <p14:sldId id="26626"/>
            <p14:sldId id="26627"/>
          </p14:sldIdLst>
        </p14:section>
        <p14:section name="Review of learning 7" id="{CF63834E-0BE9-495B-9761-037C836F185E}">
          <p14:sldIdLst>
            <p14:sldId id="26628"/>
            <p14:sldId id="26630"/>
            <p14:sldId id="26633"/>
            <p14:sldId id="26655"/>
            <p14:sldId id="26634"/>
            <p14:sldId id="26635"/>
            <p14:sldId id="26636"/>
          </p14:sldIdLst>
        </p14:section>
        <p14:section name="Review of learning 8" id="{6FF8F7EC-803E-4F84-BA41-6B3ED673D597}">
          <p14:sldIdLst>
            <p14:sldId id="26637"/>
            <p14:sldId id="26640"/>
            <p14:sldId id="26642"/>
            <p14:sldId id="26654"/>
            <p14:sldId id="26643"/>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6620E8C6-7E4F-1318-D9B4-C749088EC486}" name="Daniella Brunetta" initials="DB" userId="S::Daniella.Brunetta@det.nsw.edu.au::4e084810-29e2-4b0b-806a-947d4f6d8f39"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297" autoAdjust="0"/>
  </p:normalViewPr>
  <p:slideViewPr>
    <p:cSldViewPr snapToGrid="0">
      <p:cViewPr varScale="1">
        <p:scale>
          <a:sx n="77" d="100"/>
          <a:sy n="77" d="100"/>
        </p:scale>
        <p:origin x="812" y="64"/>
      </p:cViewPr>
      <p:guideLst>
        <p:guide orient="horz" pos="2160"/>
        <p:guide pos="3863"/>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8.fntdata"/><Relationship Id="rId89" Type="http://schemas.openxmlformats.org/officeDocument/2006/relationships/presProps" Target="pres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font" Target="fonts/font3.fntdata"/><Relationship Id="rId5" Type="http://schemas.openxmlformats.org/officeDocument/2006/relationships/slideMaster" Target="slideMasters/slideMaster2.xml"/><Relationship Id="rId90" Type="http://schemas.openxmlformats.org/officeDocument/2006/relationships/viewProps" Target="viewProp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font" Target="fonts/font4.fntdata"/><Relationship Id="rId85" Type="http://schemas.openxmlformats.org/officeDocument/2006/relationships/font" Target="fonts/font9.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11.fntdata"/><Relationship Id="rId61" Type="http://schemas.openxmlformats.org/officeDocument/2006/relationships/slide" Target="slides/slide56.xml"/><Relationship Id="rId82" Type="http://schemas.openxmlformats.org/officeDocument/2006/relationships/font" Target="fonts/font6.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latin typeface="Arial"/>
                <a:cs typeface="Arial"/>
              </a:rPr>
              <a:t>This Review of Learning slide deck revisits key concepts from the following units:</a:t>
            </a:r>
          </a:p>
          <a:p>
            <a:pPr marL="285750" indent="-285750">
              <a:buFont typeface="Arial" panose="020B0604020202020204" pitchFamily="34" charset="0"/>
              <a:buChar char="•"/>
            </a:pPr>
            <a:r>
              <a:rPr lang="en-AU">
                <a:latin typeface="Arial"/>
                <a:cs typeface="Arial"/>
              </a:rPr>
              <a:t>Stage 2 Year B Unit 25</a:t>
            </a:r>
          </a:p>
          <a:p>
            <a:pPr marL="285750" indent="-285750">
              <a:buFont typeface="Arial" panose="020B0604020202020204" pitchFamily="34" charset="0"/>
              <a:buChar char="•"/>
            </a:pPr>
            <a:r>
              <a:rPr lang="en-AU">
                <a:latin typeface="Arial"/>
                <a:cs typeface="Arial"/>
              </a:rPr>
              <a:t>Stage 2 Year B Unit 24</a:t>
            </a:r>
            <a:endParaRPr lang="en-AU"/>
          </a:p>
          <a:p>
            <a:pPr marL="285750" indent="-285750">
              <a:buFont typeface="Arial" panose="020B0604020202020204" pitchFamily="34" charset="0"/>
              <a:buChar char="•"/>
            </a:pPr>
            <a:r>
              <a:rPr lang="en-AU">
                <a:latin typeface="Arial"/>
                <a:cs typeface="Arial"/>
              </a:rPr>
              <a:t>Stage 2 Year B Unit 23</a:t>
            </a:r>
            <a:endParaRPr lang="en-AU"/>
          </a:p>
          <a:p>
            <a:pPr marL="285750" indent="-285750">
              <a:buFont typeface="Arial" panose="020B0604020202020204" pitchFamily="34" charset="0"/>
              <a:buChar char="•"/>
            </a:pPr>
            <a:endParaRPr lang="en-AU">
              <a:latin typeface="Arial"/>
              <a:cs typeface="Arial"/>
            </a:endParaRPr>
          </a:p>
          <a:p>
            <a:r>
              <a:rPr lang="en-AU">
                <a:latin typeface="Arial"/>
                <a:cs typeface="Arial"/>
              </a:rPr>
              <a:t>It also includes opportunities to review prior learning in non-number content, supporting consolidation across focus areas.</a:t>
            </a:r>
          </a:p>
          <a:p>
            <a:endParaRPr lang="en-AU"/>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latin typeface="Arial"/>
                <a:cs typeface="Arial"/>
              </a:rPr>
              <a:t>1.</a:t>
            </a:r>
          </a:p>
          <a:p>
            <a:r>
              <a:rPr lang="en-AU" b="1">
                <a:latin typeface="Arial"/>
                <a:cs typeface="Arial"/>
              </a:rPr>
              <a:t>Multiple-choice questions/True or false: </a:t>
            </a:r>
            <a:r>
              <a:rPr lang="en-AU">
                <a:latin typeface="Arial"/>
                <a:cs typeface="Arial"/>
              </a:rPr>
              <a:t>Designed to promote active retrieval of key concepts and identify common misconceptions in number, supporting consolidation, understanding and fluency.</a:t>
            </a:r>
            <a:br>
              <a:rPr lang="en-AU"/>
            </a:br>
            <a:r>
              <a:rPr lang="en-AU">
                <a:latin typeface="Arial"/>
                <a:cs typeface="Arial"/>
              </a:rPr>
              <a:t>These questions:</a:t>
            </a:r>
          </a:p>
          <a:p>
            <a:endParaRPr lang="en-AU"/>
          </a:p>
          <a:p>
            <a:pPr marL="285750" indent="-285750">
              <a:buFont typeface="Wingdings" panose="05000000000000000000" pitchFamily="2" charset="2"/>
              <a:buChar char="ü"/>
            </a:pPr>
            <a:r>
              <a:rPr lang="en-AU">
                <a:latin typeface="Arial"/>
                <a:cs typeface="Arial"/>
              </a:rPr>
              <a:t>support spaced and interleaved practice</a:t>
            </a:r>
          </a:p>
          <a:p>
            <a:pPr marL="285750" indent="-285750">
              <a:buFont typeface="Wingdings" panose="05000000000000000000" pitchFamily="2" charset="2"/>
              <a:buChar char="ü"/>
            </a:pPr>
            <a:r>
              <a:rPr lang="en-AU">
                <a:latin typeface="Arial"/>
                <a:cs typeface="Arial"/>
              </a:rPr>
              <a:t>help identify and address common misconceptions </a:t>
            </a:r>
          </a:p>
          <a:p>
            <a:pPr marL="285750" indent="-285750">
              <a:buFont typeface="Wingdings" panose="05000000000000000000" pitchFamily="2" charset="2"/>
              <a:buChar char="ü"/>
            </a:pPr>
            <a:r>
              <a:rPr lang="en-AU">
                <a:latin typeface="Arial"/>
                <a:cs typeface="Arial"/>
              </a:rPr>
              <a:t>support active recall and immediate feedback</a:t>
            </a:r>
          </a:p>
          <a:p>
            <a:pPr marL="285750" indent="-285750">
              <a:buFont typeface="Wingdings" panose="05000000000000000000" pitchFamily="2" charset="2"/>
              <a:buChar char="ü"/>
            </a:pPr>
            <a:r>
              <a:rPr lang="en-AU">
                <a:latin typeface="Arial"/>
                <a:cs typeface="Arial"/>
              </a:rPr>
              <a:t>support whole class participation</a:t>
            </a:r>
          </a:p>
          <a:p>
            <a:pPr marL="285750" indent="-285750">
              <a:buFont typeface="Wingdings" panose="05000000000000000000" pitchFamily="2" charset="2"/>
              <a:buChar char="ü"/>
            </a:pPr>
            <a:r>
              <a:rPr lang="en-AU">
                <a:latin typeface="Arial"/>
                <a:cs typeface="Arial"/>
              </a:rPr>
              <a:t>identify areas requiring reteach</a:t>
            </a:r>
          </a:p>
          <a:p>
            <a:endParaRPr lang="en-AU"/>
          </a:p>
          <a:p>
            <a:r>
              <a:rPr lang="en-AU" b="1">
                <a:latin typeface="Arial"/>
                <a:cs typeface="Arial"/>
              </a:rPr>
              <a:t>2.</a:t>
            </a:r>
            <a:br>
              <a:rPr lang="en-AU" b="1"/>
            </a:br>
            <a:r>
              <a:rPr lang="en-AU" b="1">
                <a:latin typeface="Arial"/>
                <a:cs typeface="Arial"/>
              </a:rPr>
              <a:t>Short-response question sets: </a:t>
            </a:r>
            <a:r>
              <a:rPr lang="en-AU">
                <a:latin typeface="Arial"/>
                <a:cs typeface="Arial"/>
              </a:rPr>
              <a:t>Carefully grouped questions that encourage spaced and interleaved practice across multiple focus areas, helping students revisit and apply knowledge from different points in time.</a:t>
            </a:r>
            <a:br>
              <a:rPr lang="en-AU"/>
            </a:br>
            <a:r>
              <a:rPr lang="en-AU">
                <a:latin typeface="Arial"/>
                <a:cs typeface="Arial"/>
              </a:rPr>
              <a:t>These questions:</a:t>
            </a:r>
          </a:p>
          <a:p>
            <a:endParaRPr lang="en-AU"/>
          </a:p>
          <a:p>
            <a:pPr marL="285750" indent="-285750">
              <a:buFont typeface="Wingdings" panose="05000000000000000000" pitchFamily="2" charset="2"/>
              <a:buChar char="ü"/>
            </a:pPr>
            <a:r>
              <a:rPr lang="en-AU">
                <a:latin typeface="Arial"/>
                <a:cs typeface="Arial"/>
              </a:rPr>
              <a:t>have a combination of question types </a:t>
            </a:r>
          </a:p>
          <a:p>
            <a:pPr marL="285750" indent="-285750">
              <a:buFont typeface="Wingdings" panose="05000000000000000000" pitchFamily="2" charset="2"/>
              <a:buChar char="ü"/>
            </a:pPr>
            <a:r>
              <a:rPr lang="en-AU">
                <a:latin typeface="Arial"/>
                <a:cs typeface="Arial"/>
              </a:rPr>
              <a:t>address a range of focus areas</a:t>
            </a:r>
          </a:p>
          <a:p>
            <a:pPr marL="285750" indent="-285750">
              <a:buFont typeface="Wingdings" panose="05000000000000000000" pitchFamily="2" charset="2"/>
              <a:buChar char="ü"/>
            </a:pPr>
            <a:r>
              <a:rPr lang="en-AU">
                <a:latin typeface="Arial"/>
                <a:cs typeface="Arial"/>
              </a:rPr>
              <a:t>build automaticity and fluency</a:t>
            </a:r>
          </a:p>
          <a:p>
            <a:pPr marL="285750" indent="-285750">
              <a:buFont typeface="Wingdings" panose="05000000000000000000" pitchFamily="2" charset="2"/>
              <a:buChar char="ü"/>
            </a:pPr>
            <a:r>
              <a:rPr lang="en-AU">
                <a:latin typeface="Arial"/>
                <a:cs typeface="Arial"/>
              </a:rPr>
              <a:t>support active recall </a:t>
            </a:r>
          </a:p>
          <a:p>
            <a:pPr marL="285750" indent="-285750">
              <a:buFont typeface="Wingdings" panose="05000000000000000000" pitchFamily="2" charset="2"/>
              <a:buChar char="ü"/>
            </a:pPr>
            <a:r>
              <a:rPr lang="en-AU">
                <a:latin typeface="Arial"/>
                <a:cs typeface="Arial"/>
              </a:rPr>
              <a:t>allow for immediate feedback</a:t>
            </a:r>
          </a:p>
          <a:p>
            <a:pPr marL="285750" indent="-285750">
              <a:buFont typeface="Wingdings" panose="05000000000000000000" pitchFamily="2" charset="2"/>
              <a:buChar char="ü"/>
            </a:pPr>
            <a:r>
              <a:rPr lang="en-AU">
                <a:latin typeface="Arial"/>
                <a:cs typeface="Arial"/>
              </a:rPr>
              <a:t>identify content requiring reteach</a:t>
            </a:r>
          </a:p>
          <a:p>
            <a:endParaRPr lang="en-AU"/>
          </a:p>
          <a:p>
            <a:r>
              <a:rPr lang="en-AU" b="1">
                <a:latin typeface="Arial"/>
                <a:cs typeface="Arial"/>
              </a:rPr>
              <a:t>3.</a:t>
            </a:r>
          </a:p>
          <a:p>
            <a:r>
              <a:rPr lang="en-AU" b="1">
                <a:latin typeface="Arial"/>
                <a:cs typeface="Arial"/>
              </a:rPr>
              <a:t>Developing number sense activities: </a:t>
            </a:r>
            <a:r>
              <a:rPr lang="en-AU">
                <a:latin typeface="Arial"/>
                <a:cs typeface="Arial"/>
              </a:rPr>
              <a:t>A variety of practical, purposeful tasks that reinforce current learning and build on prior knowledge. These activities promote reasoning, problem-solving and conceptual understanding.</a:t>
            </a:r>
            <a:br>
              <a:rPr lang="en-AU"/>
            </a:br>
            <a:br>
              <a:rPr lang="en-AU"/>
            </a:br>
            <a:endParaRPr lang="en-AU"/>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B</a:t>
            </a:r>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Data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D3926-04AC-1581-6BD6-45D9194C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37C84-ABB2-E3B4-092E-87DBC91F5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DD82-DF6C-B3D3-DB16-80A741D1E89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Partitioned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686A9E9-4BA8-DC57-6987-9DFCDE32335D}"/>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465894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Multiplicative Relations B</a:t>
            </a:r>
          </a:p>
          <a:p>
            <a:endParaRPr lang="en-AU" sz="1800" dirty="0"/>
          </a:p>
          <a:p>
            <a:r>
              <a:rPr lang="en-AU" sz="1800" b="1" dirty="0"/>
              <a:t>Activity 1 </a:t>
            </a:r>
            <a:r>
              <a:rPr lang="en-AU" sz="1800" dirty="0"/>
              <a:t>– </a:t>
            </a:r>
            <a:r>
              <a:rPr lang="en-AU" sz="1800" b="1" dirty="0"/>
              <a:t>Counting by tens</a:t>
            </a:r>
          </a:p>
          <a:p>
            <a:pPr marL="0" marR="0" lvl="0" indent="0" algn="l" defTabSz="609585" rtl="0" eaLnBrk="1" fontAlgn="auto" latinLnBrk="0" hangingPunct="1">
              <a:lnSpc>
                <a:spcPct val="15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the ‘Counting game (by multiples of 10)’ from Thinking mathematically resources by State of New South Wales (Department of Education). </a:t>
            </a:r>
            <a:endPar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l" defTabSz="609585" rtl="0" eaLnBrk="1" fontAlgn="auto" latinLnBrk="0" hangingPunct="1">
              <a:lnSpc>
                <a:spcPct val="150000"/>
              </a:lnSpc>
              <a:spcBef>
                <a:spcPts val="0"/>
              </a:spcBef>
              <a:spcAft>
                <a:spcPts val="0"/>
              </a:spcAft>
              <a:buClrTx/>
              <a:buSzTx/>
              <a:buFontTx/>
              <a:buNone/>
              <a:tabLst/>
              <a:defRPr/>
            </a:pPr>
            <a:endPar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Aim of the game</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Be the player to say the target number in the counting by tens sequence to score a point.</a:t>
            </a:r>
          </a:p>
          <a:p>
            <a:pPr marL="0" marR="0" lvl="0" indent="0" algn="l" defTabSz="609585" rtl="0" eaLnBrk="1" fontAlgn="auto" latinLnBrk="0" hangingPunct="1">
              <a:lnSpc>
                <a:spcPct val="150000"/>
              </a:lnSpc>
              <a:spcBef>
                <a:spcPts val="0"/>
              </a:spcBef>
              <a:spcAft>
                <a:spcPts val="0"/>
              </a:spcAft>
              <a:buClrTx/>
              <a:buSzTx/>
              <a:buFontTx/>
              <a:buNone/>
              <a:tabLst/>
              <a:defRPr/>
            </a:pPr>
            <a:endPar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Rules:</a:t>
            </a:r>
          </a:p>
          <a:p>
            <a:pPr marL="0" marR="0" lvl="0" indent="0" algn="l" defTabSz="609585" rtl="0" eaLnBrk="1" fontAlgn="auto" latinLnBrk="0" hangingPunct="1">
              <a:lnSpc>
                <a:spcPct val="150000"/>
              </a:lnSpc>
              <a:spcBef>
                <a:spcPts val="0"/>
              </a:spcBef>
              <a:spcAft>
                <a:spcPts val="0"/>
              </a:spcAft>
              <a:buClrTx/>
              <a:buSzTx/>
              <a:buFontTx/>
              <a:buNone/>
              <a:tabLst/>
              <a:defRPr/>
            </a:pPr>
            <a:endPar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marL="342900" marR="0" lvl="0" indent="-34290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roll the die/spin the spinner four times. Multiply each number by 10, then add them together to find the target number</a:t>
            </a:r>
          </a:p>
          <a:p>
            <a:pPr marL="342900" marR="0" lvl="0" indent="-34290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start at zero and take turns counting on by saying the next 1, 2, or 3 numbers in the tens sequence</a:t>
            </a:r>
          </a:p>
          <a:p>
            <a:pPr marL="342900" marR="0" lvl="0" indent="-34290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keep track of the target number and the numbers said during each turn</a:t>
            </a:r>
          </a:p>
          <a:p>
            <a:pPr marL="342900" marR="0" lvl="0" indent="-34290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the player who says the target number scores a point. Choose a new target number and play again.</a:t>
            </a:r>
          </a:p>
          <a:p>
            <a:endParaRPr lang="en-AU" sz="1800" b="1" dirty="0"/>
          </a:p>
          <a:p>
            <a:endParaRPr lang="en-AU" sz="1800" b="1" dirty="0"/>
          </a:p>
          <a:p>
            <a:pPr marL="0" lvl="0" indent="0">
              <a:lnSpc>
                <a:spcPct val="150000"/>
              </a:lnSpc>
              <a:spcBef>
                <a:spcPts val="1200"/>
              </a:spcBef>
              <a:buFont typeface="+mj-lt"/>
              <a:buNone/>
            </a:pPr>
            <a:r>
              <a:rPr lang="en-AU" sz="1800" dirty="0">
                <a:effectLst/>
                <a:latin typeface="Arial" panose="020B0604020202020204" pitchFamily="34" charset="0"/>
                <a:ea typeface="Calibri" panose="020F0502020204030204" pitchFamily="34" charset="0"/>
              </a:rPr>
              <a:t>1. The game may be varied by:</a:t>
            </a:r>
          </a:p>
          <a:p>
            <a:pPr marL="342900" lvl="0" indent="-342900">
              <a:lnSpc>
                <a:spcPct val="150000"/>
              </a:lnSpc>
              <a:spcBef>
                <a:spcPts val="1200"/>
              </a:spcBef>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starting at the target number and counting backwards to zero</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rolling the die or spinning the spinner once and multiplying by a multiple of 10, for example, if a player rolls a 5, it becomes 50.</a:t>
            </a:r>
          </a:p>
          <a:p>
            <a:pPr marL="0" lvl="0" indent="0">
              <a:lnSpc>
                <a:spcPct val="150000"/>
              </a:lnSpc>
              <a:spcBef>
                <a:spcPts val="1200"/>
              </a:spcBef>
              <a:buFont typeface="+mj-lt"/>
              <a:buNone/>
            </a:pP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buFont typeface="+mj-lt"/>
              <a:buNone/>
            </a:pPr>
            <a:r>
              <a:rPr lang="en-AU" sz="1800" dirty="0">
                <a:effectLst/>
                <a:latin typeface="Arial" panose="020B0604020202020204" pitchFamily="34" charset="0"/>
                <a:ea typeface="Calibri" panose="020F0502020204030204" pitchFamily="34" charset="0"/>
              </a:rPr>
              <a:t>2. Reflect on the activity, asking questions such as:</a:t>
            </a:r>
          </a:p>
          <a:p>
            <a:pPr marL="342900" lvl="0" indent="-342900">
              <a:lnSpc>
                <a:spcPct val="150000"/>
              </a:lnSpc>
              <a:spcBef>
                <a:spcPts val="1200"/>
              </a:spcBef>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Did you prefer going first or second? Why?</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What strategy did you use? How successful was it and why?</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Looking back on the games that you played, can you see any ways that one player could change their moves to win?</a:t>
            </a:r>
          </a:p>
          <a:p>
            <a:pPr marL="342900" lvl="0" indent="-342900">
              <a:lnSpc>
                <a:spcPct val="150000"/>
              </a:lnSpc>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How could you make the game easier or harder?</a:t>
            </a: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438581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latin typeface="Arial"/>
                <a:cs typeface="Arial"/>
              </a:rPr>
              <a:t>Short response questions provide brisk paced questions focussing on review of current and previous content to support spaced and interleaved practice. </a:t>
            </a:r>
          </a:p>
          <a:p>
            <a:endParaRPr lang="en-AU" dirty="0"/>
          </a:p>
          <a:p>
            <a:r>
              <a:rPr lang="en-AU" b="1" dirty="0">
                <a:latin typeface="Arial"/>
                <a:cs typeface="Arial"/>
              </a:rPr>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Partitioned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AU" sz="1600" b="0" i="0" u="none" strike="noStrike" kern="1200" dirty="0">
                <a:solidFill>
                  <a:schemeClr val="tx1"/>
                </a:solidFill>
                <a:effectLst/>
                <a:latin typeface="Arial"/>
                <a:cs typeface="Arial"/>
              </a:rPr>
              <a:t>This is a developing number sense activity. </a:t>
            </a:r>
            <a:r>
              <a:rPr lang="en-US" sz="1600" b="0" i="0" kern="1200" dirty="0">
                <a:solidFill>
                  <a:schemeClr val="tx1"/>
                </a:solidFill>
                <a:effectLst/>
                <a:latin typeface="Arial"/>
                <a:cs typeface="Arial"/>
              </a:rPr>
              <a:t>​</a:t>
            </a:r>
          </a:p>
          <a:p>
            <a:pPr rtl="0" fontAlgn="base"/>
            <a:r>
              <a:rPr lang="en-AU" sz="1600" b="0" i="0" kern="1200" dirty="0">
                <a:solidFill>
                  <a:schemeClr val="tx1"/>
                </a:solidFill>
                <a:effectLst/>
                <a:latin typeface="Arial"/>
                <a:cs typeface="Arial"/>
              </a:rPr>
              <a:t>​</a:t>
            </a:r>
          </a:p>
          <a:p>
            <a:pPr rtl="0" fontAlgn="base"/>
            <a:r>
              <a:rPr lang="en-AU" sz="1600" b="0" i="0" u="none" strike="noStrike" kern="1200" dirty="0">
                <a:solidFill>
                  <a:schemeClr val="tx1"/>
                </a:solidFill>
                <a:effectLst/>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r>
              <a:rPr lang="en-US" sz="1600" b="0" i="0" kern="1200" dirty="0">
                <a:solidFill>
                  <a:schemeClr val="tx1"/>
                </a:solidFill>
                <a:effectLst/>
                <a:latin typeface="Arial"/>
                <a:cs typeface="Arial"/>
              </a:rPr>
              <a:t>​</a:t>
            </a:r>
          </a:p>
          <a:p>
            <a:pPr rtl="0" fontAlgn="base"/>
            <a:r>
              <a:rPr lang="en-AU" sz="1600" b="0" i="0" kern="1200" dirty="0">
                <a:solidFill>
                  <a:schemeClr val="tx1"/>
                </a:solidFill>
                <a:effectLst/>
                <a:latin typeface="Arial"/>
                <a:cs typeface="Arial"/>
              </a:rPr>
              <a:t>​</a:t>
            </a:r>
          </a:p>
          <a:p>
            <a:pPr rtl="0" fontAlgn="base"/>
            <a:r>
              <a:rPr lang="en-AU" sz="1600" b="1" i="0" u="none" strike="noStrike" kern="1200" dirty="0">
                <a:solidFill>
                  <a:schemeClr val="tx1"/>
                </a:solidFill>
                <a:effectLst/>
                <a:latin typeface="Arial"/>
                <a:cs typeface="Arial"/>
              </a:rPr>
              <a:t>Syllabus focus area:</a:t>
            </a:r>
            <a:r>
              <a:rPr lang="en-US" sz="1600" b="0" i="0" kern="1200" dirty="0">
                <a:solidFill>
                  <a:schemeClr val="tx1"/>
                </a:solidFill>
                <a:effectLst/>
                <a:latin typeface="Arial"/>
                <a:cs typeface="Arial"/>
              </a:rPr>
              <a:t>​</a:t>
            </a:r>
          </a:p>
          <a:p>
            <a:pPr fontAlgn="base"/>
            <a:r>
              <a:rPr lang="en-AU" dirty="0">
                <a:latin typeface="Arial"/>
                <a:cs typeface="Arial"/>
              </a:rPr>
              <a:t>Multiplicative relations B</a:t>
            </a:r>
            <a:endParaRPr lang="en-AU" sz="1600" b="0" i="0" kern="1200" dirty="0">
              <a:solidFill>
                <a:schemeClr val="tx1"/>
              </a:solidFill>
              <a:effectLst/>
              <a:latin typeface="Arial" panose="020B0604020202020204" pitchFamily="34" charset="0"/>
              <a:cs typeface="Arial" panose="020B0604020202020204" pitchFamily="34" charset="0"/>
            </a:endParaRPr>
          </a:p>
          <a:p>
            <a:pPr rtl="0" fontAlgn="base"/>
            <a:r>
              <a:rPr lang="en-AU" sz="1600" b="0" i="0" kern="1200" dirty="0">
                <a:solidFill>
                  <a:schemeClr val="tx1"/>
                </a:solidFill>
                <a:effectLst/>
                <a:latin typeface="Arial"/>
                <a:cs typeface="Arial"/>
              </a:rPr>
              <a:t>​</a:t>
            </a:r>
          </a:p>
          <a:p>
            <a:pPr rtl="0" fontAlgn="base"/>
            <a:r>
              <a:rPr lang="en-AU" sz="1600" b="1" dirty="0"/>
              <a:t>Activity 2 </a:t>
            </a:r>
            <a:r>
              <a:rPr lang="en-AU" sz="1600" dirty="0"/>
              <a:t>– </a:t>
            </a:r>
            <a:r>
              <a:rPr lang="en-AU" sz="1600" b="1" i="0" u="none" strike="noStrike" kern="1200" dirty="0">
                <a:solidFill>
                  <a:schemeClr val="tx1"/>
                </a:solidFill>
                <a:effectLst/>
                <a:latin typeface="Arial"/>
                <a:cs typeface="Arial"/>
              </a:rPr>
              <a:t>Multiply by 10</a:t>
            </a:r>
          </a:p>
          <a:p>
            <a:pPr rtl="0" fontAlgn="base"/>
            <a:r>
              <a:rPr lang="en-AU" sz="1600" b="0" i="0" kern="1200" dirty="0">
                <a:solidFill>
                  <a:schemeClr val="tx1"/>
                </a:solidFill>
                <a:effectLst/>
                <a:latin typeface="Arial" panose="020B0604020202020204" pitchFamily="34" charset="0"/>
                <a:ea typeface="+mn-ea"/>
                <a:cs typeface="Arial" panose="020B0604020202020204" pitchFamily="34" charset="0"/>
              </a:rPr>
              <a:t>This activity is an adaptation of ‘Multiples madness (fives)’ from ‘Thinking mathematically resources’ by State of New South Wales (Department of Education). </a:t>
            </a:r>
          </a:p>
          <a:p>
            <a:pPr rtl="0" fontAlgn="base"/>
            <a:endParaRPr lang="en-US" sz="1600" b="0" i="0" kern="1200" dirty="0">
              <a:solidFill>
                <a:schemeClr val="tx1"/>
              </a:solidFill>
              <a:effectLst/>
              <a:latin typeface="Arial"/>
              <a:cs typeface="Arial"/>
            </a:endParaRPr>
          </a:p>
          <a:p>
            <a:pPr fontAlgn="base"/>
            <a:r>
              <a:rPr lang="en-AU" sz="1600" b="0" i="0" u="none" strike="noStrike" kern="1200" dirty="0">
                <a:solidFill>
                  <a:schemeClr val="tx1"/>
                </a:solidFill>
                <a:effectLst/>
                <a:latin typeface="Arial"/>
                <a:cs typeface="Arial"/>
              </a:rPr>
              <a:t>This resource corresponds to Resource </a:t>
            </a:r>
            <a:r>
              <a:rPr lang="en-AU" dirty="0">
                <a:latin typeface="Arial"/>
                <a:cs typeface="Arial"/>
              </a:rPr>
              <a:t>22 – multiples madness gameboard and Resource 23</a:t>
            </a:r>
            <a:r>
              <a:rPr lang="en-AU" sz="1600" b="0" i="0" u="none" strike="noStrike" kern="1200" dirty="0">
                <a:solidFill>
                  <a:schemeClr val="tx1"/>
                </a:solidFill>
                <a:effectLst/>
                <a:latin typeface="Arial"/>
                <a:cs typeface="Arial"/>
              </a:rPr>
              <a:t>– </a:t>
            </a:r>
            <a:r>
              <a:rPr lang="en-AU" dirty="0">
                <a:latin typeface="Arial"/>
                <a:cs typeface="Arial"/>
              </a:rPr>
              <a:t>multiples madness scoreboard </a:t>
            </a:r>
            <a:r>
              <a:rPr lang="en-AU" sz="1600" b="0" i="0" u="none" strike="noStrike" kern="1200" dirty="0">
                <a:solidFill>
                  <a:schemeClr val="tx1"/>
                </a:solidFill>
                <a:effectLst/>
                <a:latin typeface="Arial"/>
                <a:cs typeface="Arial"/>
              </a:rPr>
              <a:t>in Stage </a:t>
            </a:r>
            <a:r>
              <a:rPr lang="en-AU" dirty="0">
                <a:latin typeface="Arial"/>
                <a:cs typeface="Arial"/>
              </a:rPr>
              <a:t>2 </a:t>
            </a:r>
            <a:r>
              <a:rPr lang="en-AU" sz="1600" b="0" i="0" u="none" strike="noStrike" kern="1200" dirty="0">
                <a:solidFill>
                  <a:schemeClr val="tx1"/>
                </a:solidFill>
                <a:effectLst/>
                <a:latin typeface="Arial"/>
                <a:cs typeface="Arial"/>
              </a:rPr>
              <a:t>Year B Unit </a:t>
            </a:r>
            <a:r>
              <a:rPr lang="en-AU" dirty="0">
                <a:latin typeface="Arial"/>
                <a:cs typeface="Arial"/>
              </a:rPr>
              <a:t>25</a:t>
            </a:r>
            <a:r>
              <a:rPr lang="en-AU" sz="1600" b="0" i="0" u="none" strike="noStrike" kern="1200" dirty="0">
                <a:solidFill>
                  <a:schemeClr val="tx1"/>
                </a:solidFill>
                <a:effectLst/>
                <a:latin typeface="Arial"/>
                <a:cs typeface="Arial"/>
              </a:rPr>
              <a:t>. </a:t>
            </a:r>
            <a:endParaRPr lang="en-US" sz="1600" b="0" i="0" kern="1200" dirty="0">
              <a:solidFill>
                <a:schemeClr val="tx1"/>
              </a:solidFill>
              <a:effectLst/>
              <a:latin typeface="Arial"/>
              <a:cs typeface="Arial"/>
            </a:endParaRPr>
          </a:p>
          <a:p>
            <a:pPr marL="0" marR="0" lvl="0" indent="0" algn="l" defTabSz="609585" rtl="0" eaLnBrk="1" fontAlgn="auto" latinLnBrk="0" hangingPunct="1">
              <a:lnSpc>
                <a:spcPct val="150000"/>
              </a:lnSpc>
              <a:spcBef>
                <a:spcPts val="0"/>
              </a:spcBef>
              <a:spcAft>
                <a:spcPts val="0"/>
              </a:spcAft>
              <a:buClrTx/>
              <a:buSzTx/>
              <a:buFontTx/>
              <a:buNone/>
              <a:tabLst/>
              <a:defRPr/>
            </a:pPr>
            <a:endPar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Aim of the game</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Be the first player to get 3 counters in a row on the gameboard by multiplying numbers by 10.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Rules</a:t>
            </a: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a:t>
            </a:r>
          </a:p>
          <a:p>
            <a:pPr marL="285750" marR="0" lvl="0" indent="-28575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err="1">
                <a:ln>
                  <a:noFill/>
                </a:ln>
                <a:solidFill>
                  <a:srgbClr val="22272B"/>
                </a:solidFill>
                <a:effectLst/>
                <a:uLnTx/>
                <a:uFillTx/>
                <a:latin typeface="Arial" panose="020B0604020202020204" pitchFamily="34" charset="0"/>
                <a:ea typeface="+mn-ea"/>
                <a:cs typeface="Arial" panose="020B0604020202020204" pitchFamily="34" charset="0"/>
              </a:rPr>
              <a:t>ning</a:t>
            </a: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 the spinner. Multiply the number by 10 and explain your thinking to your partner</a:t>
            </a:r>
          </a:p>
          <a:p>
            <a:pPr marL="285750" marR="0" lvl="0" indent="-28575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place a counter on the matching number on the gameboard. If the number is already taken, you miss a turn</a:t>
            </a:r>
          </a:p>
          <a:p>
            <a:pPr marL="285750" marR="0" lvl="0" indent="-28575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once all 3 of your counters are on the board, you’ll need to move one of them to a new number to try for 3 in a row.</a:t>
            </a:r>
          </a:p>
          <a:p>
            <a:pPr marL="0" marR="0" lvl="0" indent="0" algn="l" defTabSz="609585" rtl="0" eaLnBrk="1" fontAlgn="auto" latinLnBrk="0" hangingPunct="1">
              <a:lnSpc>
                <a:spcPct val="15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marL="342900" indent="-342900">
              <a:lnSpc>
                <a:spcPct val="150000"/>
              </a:lnSpc>
              <a:spcBef>
                <a:spcPts val="1200"/>
              </a:spcBef>
              <a:buAutoNum type="arabicPeriod"/>
            </a:pPr>
            <a:endParaRPr lang="en-AU" sz="1800" dirty="0">
              <a:latin typeface="Arial"/>
              <a:ea typeface="Calibri"/>
              <a:cs typeface="Arial"/>
            </a:endParaRPr>
          </a:p>
          <a:p>
            <a:pPr marL="342900" lvl="0" indent="-342900">
              <a:lnSpc>
                <a:spcPct val="150000"/>
              </a:lnSpc>
              <a:spcBef>
                <a:spcPts val="1200"/>
              </a:spcBef>
              <a:buAutoNum type="arabicPeriod"/>
            </a:pPr>
            <a:r>
              <a:rPr lang="en-AU" sz="1800" dirty="0">
                <a:effectLst/>
                <a:latin typeface="Arial"/>
                <a:ea typeface="Calibri"/>
                <a:cs typeface="Arial"/>
              </a:rPr>
              <a:t>Reflect on the activity, asking questions such as:</a:t>
            </a:r>
            <a:endParaRPr lang="en-AU" dirty="0"/>
          </a:p>
          <a:p>
            <a:pPr marL="342900" lvl="0" indent="-342900">
              <a:lnSpc>
                <a:spcPct val="150000"/>
              </a:lnSpc>
              <a:spcBef>
                <a:spcPts val="1200"/>
              </a:spcBef>
              <a:buFont typeface="Symbol" panose="05050102010706020507" pitchFamily="18" charset="2"/>
              <a:buChar char=""/>
            </a:pPr>
            <a:r>
              <a:rPr lang="en-AU" sz="1800" dirty="0">
                <a:effectLst/>
                <a:latin typeface="Arial"/>
                <a:ea typeface="Calibri"/>
                <a:cs typeface="Arial"/>
              </a:rPr>
              <a:t>Did you prefer going first or second? Why?</a:t>
            </a:r>
          </a:p>
          <a:p>
            <a:pPr marL="342900" lvl="0" indent="-342900">
              <a:lnSpc>
                <a:spcPct val="150000"/>
              </a:lnSpc>
              <a:buFont typeface="Symbol" panose="05050102010706020507" pitchFamily="18" charset="2"/>
              <a:buChar char=""/>
            </a:pPr>
            <a:r>
              <a:rPr lang="en-AU" sz="1800" dirty="0">
                <a:effectLst/>
                <a:latin typeface="Arial"/>
                <a:ea typeface="Calibri"/>
                <a:cs typeface="Arial"/>
              </a:rPr>
              <a:t>What strategy did you use? How successful was it and why?</a:t>
            </a:r>
          </a:p>
          <a:p>
            <a:pPr marL="342900" lvl="0" indent="-342900">
              <a:lnSpc>
                <a:spcPct val="150000"/>
              </a:lnSpc>
              <a:buFont typeface="Symbol" panose="05050102010706020507" pitchFamily="18" charset="2"/>
              <a:buChar char=""/>
            </a:pPr>
            <a:r>
              <a:rPr lang="en-AU" sz="1800" dirty="0">
                <a:effectLst/>
                <a:latin typeface="Arial"/>
                <a:ea typeface="Calibri"/>
                <a:cs typeface="Arial"/>
              </a:rPr>
              <a:t>How might the game change if you multiplied by 20?</a:t>
            </a:r>
          </a:p>
          <a:p>
            <a:pPr marL="342900" lvl="0" indent="-342900">
              <a:lnSpc>
                <a:spcPct val="150000"/>
              </a:lnSpc>
              <a:buFont typeface="Symbol" panose="05050102010706020507" pitchFamily="18" charset="2"/>
              <a:buChar char=""/>
            </a:pPr>
            <a:r>
              <a:rPr lang="en-AU" sz="1800" dirty="0">
                <a:effectLst/>
                <a:latin typeface="Arial"/>
                <a:ea typeface="Calibri"/>
                <a:cs typeface="Arial"/>
              </a:rPr>
              <a:t>Would it be easier if you had more counters? Why?</a:t>
            </a:r>
          </a:p>
          <a:p>
            <a:endParaRPr lang="en-AU" b="1" dirty="0"/>
          </a:p>
          <a:p>
            <a:r>
              <a:rPr lang="en-AU" b="1" dirty="0">
                <a:latin typeface="Arial"/>
                <a:cs typeface="Arial"/>
              </a:rPr>
              <a:t>Note: </a:t>
            </a:r>
            <a:r>
              <a:rPr lang="en-AU" b="0" dirty="0">
                <a:latin typeface="Arial"/>
                <a:cs typeface="Arial"/>
              </a:rPr>
              <a:t>The counters can be moved in normal view. </a:t>
            </a:r>
            <a:r>
              <a:rPr lang="en-AU" dirty="0">
                <a:latin typeface="Arial"/>
                <a:cs typeface="Arial"/>
              </a:rPr>
              <a:t>The spinner (next slide) functions in the presentation mode. Click on the ‘Spin’ button to make the spinner spin. Click again on the ‘Spin’ button to make it stop. The spinner does not work in the same mode as the pile of infinite counters.</a:t>
            </a: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504147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30101-0119-37F8-3ADE-9DF5AE570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02A10-2643-C24A-A631-3BB82B9A1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418CDB-D7AC-6327-67BA-7DFE05A8162E}"/>
              </a:ext>
            </a:extLst>
          </p:cNvPr>
          <p:cNvSpPr>
            <a:spLocks noGrp="1"/>
          </p:cNvSpPr>
          <p:nvPr>
            <p:ph type="body" idx="1"/>
          </p:nvPr>
        </p:nvSpPr>
        <p:spPr/>
        <p:txBody>
          <a:bodyPr/>
          <a:lstStyle/>
          <a:p>
            <a:r>
              <a:rPr lang="en-AU" b="1" dirty="0">
                <a:latin typeface="Arial"/>
                <a:cs typeface="Arial"/>
              </a:rPr>
              <a:t>Note: </a:t>
            </a:r>
            <a:r>
              <a:rPr lang="en-AU" dirty="0">
                <a:latin typeface="Arial"/>
                <a:cs typeface="Arial"/>
              </a:rPr>
              <a:t>The spinner functions in the presentation mode. Click on the ‘Spin’ button to make the spinner spin. Click again on the ‘Spin’ button to make it stop. The spinner does not work in the same mode as the pile of infinite counters.</a:t>
            </a:r>
          </a:p>
        </p:txBody>
      </p:sp>
      <p:sp>
        <p:nvSpPr>
          <p:cNvPr id="4" name="Slide Number Placeholder 3">
            <a:extLst>
              <a:ext uri="{FF2B5EF4-FFF2-40B4-BE49-F238E27FC236}">
                <a16:creationId xmlns:a16="http://schemas.microsoft.com/office/drawing/2014/main" id="{88769C35-956B-02F9-6E4F-9BD984EB3FC1}"/>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420579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B</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Partitioned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722142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highlight>
                  <a:srgbClr val="FFFFFF"/>
                </a:highlight>
                <a:latin typeface="Arial"/>
                <a:cs typeface="Arial"/>
              </a:rPr>
              <a:t>This is a developing number sense activity. </a:t>
            </a:r>
          </a:p>
          <a:p>
            <a:endParaRPr lang="en-AU" sz="1800" dirty="0">
              <a:highlight>
                <a:srgbClr val="FFFFFF"/>
              </a:highlight>
            </a:endParaRPr>
          </a:p>
          <a:p>
            <a:r>
              <a:rPr lang="en-AU" sz="1800" dirty="0">
                <a:highlight>
                  <a:srgbClr val="FFFFFF"/>
                </a:highlight>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highlight>
                <a:srgbClr val="FFFFFF"/>
              </a:highlight>
            </a:endParaRPr>
          </a:p>
          <a:p>
            <a:r>
              <a:rPr lang="en-AU" sz="1800" b="1" dirty="0">
                <a:highlight>
                  <a:srgbClr val="FFFFFF"/>
                </a:highlight>
                <a:latin typeface="Arial"/>
                <a:cs typeface="Arial"/>
              </a:rPr>
              <a:t>Syllabus focus area:</a:t>
            </a:r>
          </a:p>
          <a:p>
            <a:r>
              <a:rPr lang="en-AU" sz="1800" dirty="0">
                <a:highlight>
                  <a:srgbClr val="FFFFFF"/>
                </a:highlight>
                <a:latin typeface="Arial"/>
                <a:cs typeface="Arial"/>
              </a:rPr>
              <a:t>Multiplicative Relations B</a:t>
            </a:r>
            <a:endParaRPr lang="en-AU" sz="1800" dirty="0">
              <a:highlight>
                <a:srgbClr val="FFFFFF"/>
              </a:highlight>
            </a:endParaRPr>
          </a:p>
          <a:p>
            <a:endParaRPr lang="en-AU" sz="1800" dirty="0">
              <a:highlight>
                <a:srgbClr val="FFFFFF"/>
              </a:highlight>
              <a:latin typeface="Arial"/>
              <a:cs typeface="Arial"/>
            </a:endParaRPr>
          </a:p>
          <a:p>
            <a:r>
              <a:rPr lang="en-AU" sz="1800" b="1" dirty="0">
                <a:highlight>
                  <a:srgbClr val="FFFFFF"/>
                </a:highlight>
              </a:rPr>
              <a:t>Activity 3 </a:t>
            </a:r>
            <a:r>
              <a:rPr lang="en-AU" sz="1800" dirty="0">
                <a:highlight>
                  <a:srgbClr val="FFFFFF"/>
                </a:highlight>
              </a:rPr>
              <a:t>– </a:t>
            </a:r>
            <a:r>
              <a:rPr lang="en-AU" sz="1800" b="1" dirty="0">
                <a:highlight>
                  <a:srgbClr val="FFFFFF"/>
                </a:highlight>
                <a:latin typeface="Arial"/>
                <a:cs typeface="Arial"/>
              </a:rPr>
              <a:t>Multiplying by multiples</a:t>
            </a:r>
          </a:p>
          <a:p>
            <a:r>
              <a:rPr lang="en-AU" sz="1800" b="0" dirty="0">
                <a:highlight>
                  <a:srgbClr val="FFFFFF"/>
                </a:highlight>
                <a:latin typeface="Arial"/>
                <a:cs typeface="Arial"/>
              </a:rPr>
              <a:t>This resource corresponds to Resource </a:t>
            </a:r>
            <a:r>
              <a:rPr lang="en-AU" sz="1800" dirty="0">
                <a:highlight>
                  <a:srgbClr val="FFFFFF"/>
                </a:highlight>
                <a:latin typeface="Arial"/>
                <a:cs typeface="Arial"/>
              </a:rPr>
              <a:t>24 </a:t>
            </a:r>
            <a:r>
              <a:rPr lang="en-AU" sz="1800" b="0" dirty="0">
                <a:highlight>
                  <a:srgbClr val="FFFFFF"/>
                </a:highlight>
                <a:latin typeface="Arial"/>
                <a:cs typeface="Arial"/>
              </a:rPr>
              <a:t>– </a:t>
            </a:r>
            <a:r>
              <a:rPr lang="en-AU" sz="1800" dirty="0">
                <a:highlight>
                  <a:srgbClr val="FFFFFF"/>
                </a:highlight>
                <a:latin typeface="Arial"/>
                <a:cs typeface="Arial"/>
              </a:rPr>
              <a:t>multiplying multiples </a:t>
            </a:r>
            <a:r>
              <a:rPr lang="en-AU" sz="1800" b="0" dirty="0">
                <a:highlight>
                  <a:srgbClr val="FFFFFF"/>
                </a:highlight>
                <a:latin typeface="Arial"/>
                <a:cs typeface="Arial"/>
              </a:rPr>
              <a:t>in Stage </a:t>
            </a:r>
            <a:r>
              <a:rPr lang="en-AU" sz="1800" dirty="0">
                <a:highlight>
                  <a:srgbClr val="FFFFFF"/>
                </a:highlight>
                <a:latin typeface="Arial"/>
                <a:cs typeface="Arial"/>
              </a:rPr>
              <a:t>2 </a:t>
            </a:r>
            <a:r>
              <a:rPr lang="en-AU" sz="1800" b="0" dirty="0">
                <a:highlight>
                  <a:srgbClr val="FFFFFF"/>
                </a:highlight>
                <a:latin typeface="Arial"/>
                <a:cs typeface="Arial"/>
              </a:rPr>
              <a:t>Year B Unit </a:t>
            </a:r>
            <a:r>
              <a:rPr lang="en-AU" sz="1800" dirty="0">
                <a:highlight>
                  <a:srgbClr val="FFFFFF"/>
                </a:highlight>
                <a:latin typeface="Arial"/>
                <a:cs typeface="Arial"/>
              </a:rPr>
              <a:t>25.</a:t>
            </a:r>
          </a:p>
          <a:p>
            <a:endParaRPr lang="en-AU" sz="1800" b="0" dirty="0">
              <a:highlight>
                <a:srgbClr val="FFFFFF"/>
              </a:highlight>
              <a:latin typeface="Arial"/>
              <a:cs typeface="Arial"/>
            </a:endParaRP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Aim of the game</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Be the player with the most points by correctly placing your multiplication products in ascending order.</a:t>
            </a:r>
          </a:p>
          <a:p>
            <a:pPr marL="0" marR="0" lvl="0" indent="0" algn="l" defTabSz="609585" rtl="0" eaLnBrk="1" fontAlgn="auto" latinLnBrk="0" hangingPunct="1">
              <a:lnSpc>
                <a:spcPct val="15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Rules:</a:t>
            </a:r>
          </a:p>
          <a:p>
            <a:pPr marL="285750" marR="0" lvl="0" indent="-28575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in pairs, take turns spinning the spinner twice per turn</a:t>
            </a:r>
          </a:p>
          <a:p>
            <a:pPr marL="285750" marR="0" lvl="0" indent="-28575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the first number is the multiplier. The second number becomes a multiple of 10</a:t>
            </a:r>
          </a:p>
          <a:p>
            <a:pPr marL="285750" marR="0" lvl="0" indent="-28575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multiply the two numbers and record your thinking in one row of the game sheet. Choose a row that keeps your results in ascending order</a:t>
            </a:r>
          </a:p>
          <a:p>
            <a:pPr marL="285750" marR="0" lvl="0" indent="-285750" algn="l"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rPr>
              <a:t>after 5 turns, check the ‘Actual Order’ column to see how many of your products were correctly placed. Score 1 point for each correct placement.</a:t>
            </a:r>
          </a:p>
          <a:p>
            <a:pPr marL="0" marR="0" lvl="0" indent="0" algn="l" defTabSz="609585" rtl="0" eaLnBrk="1" fontAlgn="auto" latinLnBrk="0" hangingPunct="1">
              <a:lnSpc>
                <a:spcPct val="15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22272B"/>
              </a:solidFill>
              <a:effectLst/>
              <a:uLnTx/>
              <a:uFillTx/>
              <a:latin typeface="Arial" panose="020B0604020202020204" pitchFamily="34" charset="0"/>
              <a:ea typeface="+mn-ea"/>
              <a:cs typeface="Arial" panose="020B0604020202020204" pitchFamily="34" charset="0"/>
            </a:endParaRPr>
          </a:p>
          <a:p>
            <a:endParaRPr lang="en-AU" sz="1800" b="0" dirty="0">
              <a:highlight>
                <a:srgbClr val="FFFFFF"/>
              </a:highlight>
              <a:latin typeface="Arial"/>
              <a:cs typeface="Arial"/>
            </a:endParaRPr>
          </a:p>
          <a:p>
            <a:pPr algn="l" rtl="0" fontAlgn="base">
              <a:buFont typeface="+mj-lt"/>
              <a:buNone/>
            </a:pPr>
            <a:r>
              <a:rPr lang="en-AU" sz="1800" b="0" i="0" dirty="0">
                <a:solidFill>
                  <a:srgbClr val="000000"/>
                </a:solidFill>
                <a:effectLst/>
                <a:highlight>
                  <a:srgbClr val="FFFFFF"/>
                </a:highlight>
                <a:latin typeface="Arial"/>
                <a:cs typeface="Arial"/>
              </a:rPr>
              <a:t>Reflect on the game, asking questions such as: </a:t>
            </a:r>
          </a:p>
          <a:p>
            <a:pPr marL="285750" indent="-285750" algn="l" rtl="0" fontAlgn="base">
              <a:buFont typeface="Arial" panose="020B0604020202020204" pitchFamily="34" charset="0"/>
              <a:buChar char="•"/>
            </a:pPr>
            <a:r>
              <a:rPr lang="en-AU" sz="1800" b="0" i="0" dirty="0">
                <a:solidFill>
                  <a:srgbClr val="000000"/>
                </a:solidFill>
                <a:effectLst/>
                <a:highlight>
                  <a:srgbClr val="FFFFFF"/>
                </a:highlight>
                <a:latin typeface="Arial"/>
                <a:cs typeface="Arial"/>
              </a:rPr>
              <a:t>What strategy did you use to multiply? </a:t>
            </a:r>
          </a:p>
          <a:p>
            <a:pPr marL="285750" indent="-285750" algn="l" rtl="0" fontAlgn="base">
              <a:buFont typeface="Arial" panose="020B0604020202020204" pitchFamily="34" charset="0"/>
              <a:buChar char="•"/>
            </a:pPr>
            <a:r>
              <a:rPr lang="en-AU" sz="1800" b="0" i="0" dirty="0">
                <a:solidFill>
                  <a:srgbClr val="000000"/>
                </a:solidFill>
                <a:effectLst/>
                <a:highlight>
                  <a:srgbClr val="FFFFFF"/>
                </a:highlight>
                <a:latin typeface="Arial"/>
                <a:cs typeface="Arial"/>
              </a:rPr>
              <a:t>How did you decide where to place each answer? </a:t>
            </a:r>
          </a:p>
          <a:p>
            <a:pPr marL="285750" indent="-285750" algn="l" rtl="0" fontAlgn="base">
              <a:buFont typeface="Arial" panose="020B0604020202020204" pitchFamily="34" charset="0"/>
              <a:buChar char="•"/>
            </a:pPr>
            <a:r>
              <a:rPr lang="en-AU" sz="1800" b="0" i="0" dirty="0">
                <a:solidFill>
                  <a:srgbClr val="000000"/>
                </a:solidFill>
                <a:effectLst/>
                <a:highlight>
                  <a:srgbClr val="FFFFFF"/>
                </a:highlight>
                <a:latin typeface="Arial"/>
                <a:cs typeface="Arial"/>
              </a:rPr>
              <a:t>Did you change your strategy in the next round? Why or why not? </a:t>
            </a:r>
          </a:p>
          <a:p>
            <a:pPr marL="285750" indent="-285750" algn="l" rtl="0" fontAlgn="base">
              <a:buFont typeface="Arial" panose="020B0604020202020204" pitchFamily="34" charset="0"/>
              <a:buChar char="•"/>
            </a:pPr>
            <a:r>
              <a:rPr lang="en-AU" sz="1800" b="0" i="0" dirty="0">
                <a:solidFill>
                  <a:srgbClr val="000000"/>
                </a:solidFill>
                <a:effectLst/>
                <a:highlight>
                  <a:srgbClr val="FFFFFF"/>
                </a:highlight>
                <a:latin typeface="Arial"/>
                <a:cs typeface="Arial"/>
              </a:rPr>
              <a:t>What modifications could you suggest for the game?</a:t>
            </a:r>
          </a:p>
          <a:p>
            <a:pPr marL="285750" indent="-285750" algn="l" rtl="0" fontAlgn="base">
              <a:buFont typeface="Arial" panose="020B0604020202020204" pitchFamily="34" charset="0"/>
              <a:buChar char="•"/>
            </a:pPr>
            <a:endParaRPr lang="en-AU" sz="1800" b="0" i="0" dirty="0">
              <a:solidFill>
                <a:srgbClr val="000000"/>
              </a:solidFill>
              <a:effectLst/>
              <a:highlight>
                <a:srgbClr val="FFFFFF"/>
              </a:highlight>
              <a:latin typeface="Arial" panose="020B0604020202020204" pitchFamily="34" charset="0"/>
            </a:endParaRPr>
          </a:p>
          <a:p>
            <a:pPr marL="0" marR="0" lvl="0" indent="0" algn="l" defTabSz="1219170" rtl="0" eaLnBrk="1" fontAlgn="base" latinLnBrk="0" hangingPunct="1">
              <a:lnSpc>
                <a:spcPct val="100000"/>
              </a:lnSpc>
              <a:spcBef>
                <a:spcPts val="0"/>
              </a:spcBef>
              <a:spcAft>
                <a:spcPts val="0"/>
              </a:spcAft>
              <a:buClrTx/>
              <a:buSzTx/>
              <a:buFont typeface="Arial" panose="020B0604020202020204" pitchFamily="34" charset="0"/>
              <a:buNone/>
              <a:tabLst/>
              <a:defRPr/>
            </a:pPr>
            <a:r>
              <a:rPr lang="en-AU" sz="1800" b="1" dirty="0">
                <a:latin typeface="Arial"/>
                <a:cs typeface="Arial"/>
              </a:rPr>
              <a:t>Note: </a:t>
            </a:r>
            <a:r>
              <a:rPr lang="en-AU" sz="1800" dirty="0">
                <a:latin typeface="Arial"/>
                <a:cs typeface="Arial"/>
              </a:rPr>
              <a:t>The spinner functions in the presentation mode. Click on the ‘Spin’ button to make the spinner spin. Click again on the ‘Spin’ button to make it stop. The spinner does not work in the same mode as the pile of infinite counters.</a:t>
            </a:r>
          </a:p>
          <a:p>
            <a:pPr marL="0" indent="0" algn="l" rtl="0" fontAlgn="base">
              <a:buFont typeface="Arial" panose="020B0604020202020204" pitchFamily="34" charset="0"/>
              <a:buNone/>
            </a:pPr>
            <a:endParaRPr lang="en-AU" sz="1800" b="0" i="0" dirty="0">
              <a:solidFill>
                <a:srgbClr val="000000"/>
              </a:solidFill>
              <a:effectLst/>
              <a:highlight>
                <a:srgbClr val="FFFFFF"/>
              </a:highlight>
              <a:latin typeface="Arial" panose="020B0604020202020204" pitchFamily="34" charset="0"/>
            </a:endParaRPr>
          </a:p>
          <a:p>
            <a:endParaRPr lang="en-AU" dirty="0"/>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5766293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Partitioned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616440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latin typeface="Arial"/>
                <a:cs typeface="Arial"/>
              </a:rPr>
              <a:t>This is a developing number sense activity. </a:t>
            </a:r>
          </a:p>
          <a:p>
            <a:endParaRPr lang="en-AU" dirty="0"/>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latin typeface="Arial"/>
                <a:cs typeface="Arial"/>
              </a:rPr>
              <a:t>Syllabus focus area:</a:t>
            </a:r>
          </a:p>
          <a:p>
            <a:r>
              <a:rPr lang="en-AU" dirty="0">
                <a:latin typeface="Arial"/>
                <a:cs typeface="Arial"/>
              </a:rPr>
              <a:t>Multiplicative Relations B</a:t>
            </a:r>
          </a:p>
          <a:p>
            <a:endParaRPr lang="en-AU" dirty="0">
              <a:latin typeface="Arial"/>
              <a:cs typeface="Arial"/>
            </a:endParaRPr>
          </a:p>
          <a:p>
            <a:r>
              <a:rPr lang="en-AU" b="1" dirty="0">
                <a:latin typeface="Arial"/>
                <a:cs typeface="Arial"/>
              </a:rPr>
              <a:t>Activity 4 – multiplying multiples reflection</a:t>
            </a:r>
            <a:endParaRPr lang="en-AU" b="1" dirty="0"/>
          </a:p>
          <a:p>
            <a:pPr marL="285750" indent="-285750">
              <a:buFont typeface="Arial"/>
              <a:buChar char="•"/>
            </a:pPr>
            <a:r>
              <a:rPr lang="en-AU" dirty="0"/>
              <a:t>Revisit the responses from Resource 24 – multiplying multiples, completed during Activity 3.</a:t>
            </a:r>
          </a:p>
          <a:p>
            <a:pPr marL="285750" indent="-285750">
              <a:buFont typeface="Arial"/>
              <a:buChar char="•"/>
            </a:pPr>
            <a:r>
              <a:rPr lang="en-AU" dirty="0"/>
              <a:t>Reflect on the game, asking questions such as:</a:t>
            </a:r>
          </a:p>
          <a:p>
            <a:pPr marL="285750" indent="-285750">
              <a:buFont typeface="Arial"/>
              <a:buChar char="•"/>
            </a:pPr>
            <a:r>
              <a:rPr lang="en-AU" dirty="0"/>
              <a:t>What strategy did you use to multiply?</a:t>
            </a:r>
          </a:p>
          <a:p>
            <a:pPr marL="285750" indent="-285750">
              <a:buFont typeface="Arial"/>
              <a:buChar char="•"/>
            </a:pPr>
            <a:r>
              <a:rPr lang="en-AU" dirty="0"/>
              <a:t>How did you decide where to place each answer?</a:t>
            </a:r>
          </a:p>
          <a:p>
            <a:pPr marL="285750" indent="-285750">
              <a:buFont typeface="Arial"/>
              <a:buChar char="•"/>
            </a:pPr>
            <a:r>
              <a:rPr lang="en-AU" dirty="0"/>
              <a:t>Did you change your strategy in the next round? Why or why not?</a:t>
            </a:r>
          </a:p>
          <a:p>
            <a:pPr marL="285750" indent="-285750">
              <a:buFont typeface="Arial"/>
              <a:buChar char="•"/>
            </a:pPr>
            <a:r>
              <a:rPr lang="en-AU" dirty="0"/>
              <a:t>What modifications could you suggest for the game?</a:t>
            </a:r>
          </a:p>
          <a:p>
            <a:endParaRPr lang="en-AU"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latin typeface="Arial"/>
                <a:cs typeface="Arial"/>
              </a:rPr>
              <a:t>Short response questions provide brisk paced questions focussing on review of current and previous content to support spaced and interleaved practice. </a:t>
            </a:r>
          </a:p>
          <a:p>
            <a:endParaRPr lang="en-AU" dirty="0"/>
          </a:p>
          <a:p>
            <a:r>
              <a:rPr lang="en-AU" b="1" dirty="0">
                <a:latin typeface="Arial"/>
                <a:cs typeface="Arial"/>
              </a:rPr>
              <a:t>Syllabus focus area:</a:t>
            </a:r>
          </a:p>
          <a:p>
            <a:pPr>
              <a:defRPr/>
            </a:pPr>
            <a:r>
              <a:rPr lang="en-AU" dirty="0">
                <a:latin typeface="Arial"/>
                <a:cs typeface="Arial"/>
              </a:rPr>
              <a:t>Data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36</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122848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r>
              <a:rPr lang="en-AU" dirty="0"/>
              <a:t>Three-dimensional spatial structure A: 3D objects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latin typeface="Arial"/>
                <a:cs typeface="Arial"/>
              </a:rPr>
              <a:t>This is a developing number sense activity. </a:t>
            </a:r>
          </a:p>
          <a:p>
            <a:endParaRPr lang="en-AU" dirty="0"/>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latin typeface="Arial"/>
                <a:cs typeface="Arial"/>
              </a:rPr>
              <a:t>Syllabus focus area:</a:t>
            </a:r>
          </a:p>
          <a:p>
            <a:r>
              <a:rPr lang="en-AU" dirty="0">
                <a:latin typeface="Arial"/>
                <a:cs typeface="Arial"/>
              </a:rPr>
              <a:t>Multiplicative Relations A</a:t>
            </a:r>
            <a:endParaRPr lang="en-AU" dirty="0"/>
          </a:p>
          <a:p>
            <a:endParaRPr lang="en-AU" dirty="0"/>
          </a:p>
          <a:p>
            <a:r>
              <a:rPr lang="en-AU" b="1" dirty="0">
                <a:latin typeface="Arial"/>
                <a:cs typeface="Arial"/>
              </a:rPr>
              <a:t>Activity 5 – Odds and Evens</a:t>
            </a:r>
          </a:p>
          <a:p>
            <a:r>
              <a:rPr lang="en-AU" sz="1600" b="0" i="0" kern="1200" dirty="0">
                <a:solidFill>
                  <a:schemeClr val="tx1"/>
                </a:solidFill>
                <a:effectLst/>
                <a:latin typeface="Arial" panose="020B0604020202020204" pitchFamily="34" charset="0"/>
                <a:ea typeface="+mn-ea"/>
                <a:cs typeface="Arial" panose="020B0604020202020204" pitchFamily="34" charset="0"/>
              </a:rPr>
              <a:t>This activity is an adaptation of ‘Always, sometimes or never?’ from NRICH by University of Cambridge. </a:t>
            </a:r>
          </a:p>
          <a:p>
            <a:endParaRPr lang="en-AU" sz="1600" b="0" i="0" kern="1200" dirty="0">
              <a:solidFill>
                <a:schemeClr val="tx1"/>
              </a:solidFill>
              <a:effectLst/>
              <a:latin typeface="Arial" panose="020B0604020202020204" pitchFamily="34" charset="0"/>
              <a:ea typeface="+mn-ea"/>
              <a:cs typeface="Arial" panose="020B0604020202020204" pitchFamily="34" charset="0"/>
            </a:endParaRPr>
          </a:p>
          <a:p>
            <a:r>
              <a:rPr lang="en-AU" b="0" dirty="0">
                <a:latin typeface="Arial"/>
                <a:cs typeface="Arial"/>
              </a:rPr>
              <a:t>This resource corresponds to Resource </a:t>
            </a:r>
            <a:r>
              <a:rPr lang="en-AU" dirty="0">
                <a:latin typeface="Arial"/>
                <a:cs typeface="Arial"/>
              </a:rPr>
              <a:t>25 </a:t>
            </a:r>
            <a:r>
              <a:rPr lang="en-AU" b="0" dirty="0">
                <a:latin typeface="Arial"/>
                <a:cs typeface="Arial"/>
              </a:rPr>
              <a:t>– </a:t>
            </a:r>
            <a:r>
              <a:rPr lang="en-AU" dirty="0">
                <a:latin typeface="Arial"/>
                <a:cs typeface="Arial"/>
              </a:rPr>
              <a:t>always, sometimes, never? </a:t>
            </a:r>
            <a:r>
              <a:rPr lang="en-AU" b="0" dirty="0">
                <a:latin typeface="Arial"/>
                <a:cs typeface="Arial"/>
              </a:rPr>
              <a:t>in Stage </a:t>
            </a:r>
            <a:r>
              <a:rPr lang="en-AU" dirty="0">
                <a:latin typeface="Arial"/>
                <a:cs typeface="Arial"/>
              </a:rPr>
              <a:t>2 </a:t>
            </a:r>
            <a:r>
              <a:rPr lang="en-AU" b="0" dirty="0">
                <a:latin typeface="Arial"/>
                <a:cs typeface="Arial"/>
              </a:rPr>
              <a:t>Year B Unit </a:t>
            </a:r>
            <a:r>
              <a:rPr lang="en-AU" dirty="0">
                <a:latin typeface="Arial"/>
                <a:cs typeface="Arial"/>
              </a:rPr>
              <a:t>25. </a:t>
            </a:r>
            <a:endParaRPr lang="en-AU" b="0" dirty="0">
              <a:latin typeface="Arial"/>
              <a:cs typeface="Arial"/>
            </a:endParaRPr>
          </a:p>
          <a:p>
            <a:endParaRPr lang="en-AU" dirty="0"/>
          </a:p>
          <a:p>
            <a:pPr marL="285750" indent="-285750">
              <a:buFont typeface="Arial"/>
              <a:buChar char="•"/>
            </a:pPr>
            <a:r>
              <a:rPr lang="en-AU" dirty="0"/>
              <a:t>Display a variety of odd and even one-, 2- and 3-digit numbers and ask students to identify if they are odd or even.</a:t>
            </a:r>
          </a:p>
          <a:p>
            <a:pPr marL="285750" indent="-285750">
              <a:buFont typeface="Arial"/>
              <a:buChar char="•"/>
            </a:pPr>
            <a:r>
              <a:rPr lang="en-AU" dirty="0"/>
              <a:t>Ask students to explain how they know if a number is odd or even.</a:t>
            </a:r>
          </a:p>
          <a:p>
            <a:pPr marL="285750" indent="-285750">
              <a:buFont typeface="Arial"/>
              <a:buChar char="•"/>
            </a:pPr>
            <a:r>
              <a:rPr lang="en-AU" dirty="0"/>
              <a:t>Demonstrate the link between even numbers and the multiplication facts for 2. Explain the significance of the final digit of a whole number.</a:t>
            </a:r>
          </a:p>
          <a:p>
            <a:endParaRPr lang="en-AU" b="1" dirty="0">
              <a:latin typeface="Arial"/>
              <a:cs typeface="Arial"/>
            </a:endParaRPr>
          </a:p>
          <a:p>
            <a:r>
              <a:rPr lang="en-AU" b="1" dirty="0">
                <a:latin typeface="Arial"/>
                <a:cs typeface="Arial"/>
              </a:rPr>
              <a:t>Note</a:t>
            </a:r>
            <a:r>
              <a:rPr lang="en-AU" dirty="0">
                <a:latin typeface="Arial"/>
                <a:cs typeface="Arial"/>
              </a:rPr>
              <a:t>:</a:t>
            </a:r>
            <a:r>
              <a:rPr lang="en-AU" b="1" dirty="0">
                <a:latin typeface="Arial"/>
                <a:cs typeface="Arial"/>
              </a:rPr>
              <a:t> </a:t>
            </a:r>
            <a:r>
              <a:rPr lang="en-AU" dirty="0">
                <a:latin typeface="Arial"/>
                <a:cs typeface="Arial"/>
              </a:rPr>
              <a:t>one result that follows from the place value system is that any whole number can be written as a multiple of 10 plus a single digit. For example, 153 is 150 plus 3. Since a multiple of 10 is always even because every group of 10 is 2 rows of 5, then whether a number is odd or even can be determined by its final digit.</a:t>
            </a:r>
          </a:p>
          <a:p>
            <a:endParaRPr lang="en-AU" dirty="0">
              <a:latin typeface="Arial"/>
              <a:cs typeface="Arial"/>
            </a:endParaRPr>
          </a:p>
          <a:p>
            <a:pPr marL="285750" indent="-285750">
              <a:buFont typeface="Arial"/>
              <a:buChar char="•"/>
            </a:pPr>
            <a:r>
              <a:rPr lang="en-AU" dirty="0"/>
              <a:t>Direct students to this display</a:t>
            </a:r>
          </a:p>
          <a:p>
            <a:pPr marL="285750" indent="-285750">
              <a:buFont typeface="Arial"/>
              <a:buChar char="•"/>
            </a:pPr>
            <a:r>
              <a:rPr lang="en-AU" dirty="0"/>
              <a:t>Students work in pairs or small groups to explore and then record if each statement is always true, sometimes true or never true. Advise students to check each statement with at least 3 different sets of numbers of varying size.</a:t>
            </a:r>
          </a:p>
          <a:p>
            <a:pPr marL="285750" indent="-285750">
              <a:buFont typeface="Arial"/>
              <a:buChar char="•"/>
            </a:pPr>
            <a:r>
              <a:rPr lang="en-AU" dirty="0"/>
              <a:t>Select students to share their thinking and discuss, asking questions such as:</a:t>
            </a:r>
          </a:p>
          <a:p>
            <a:pPr marL="285750" indent="-285750">
              <a:buFont typeface="Arial"/>
              <a:buChar char="•"/>
            </a:pPr>
            <a:r>
              <a:rPr lang="en-AU" dirty="0"/>
              <a:t>Can you explain your thinking?</a:t>
            </a:r>
          </a:p>
          <a:p>
            <a:pPr marL="285750" indent="-285750">
              <a:buFont typeface="Arial"/>
              <a:buChar char="•"/>
            </a:pPr>
            <a:r>
              <a:rPr lang="en-AU" dirty="0"/>
              <a:t>Does anyone disagree? Why?</a:t>
            </a:r>
          </a:p>
          <a:p>
            <a:pPr marL="285750" indent="-285750">
              <a:buFont typeface="Arial"/>
              <a:buChar char="•"/>
            </a:pPr>
            <a:r>
              <a:rPr lang="en-AU" dirty="0"/>
              <a:t>Can you explain why this statement is always or never true?</a:t>
            </a:r>
          </a:p>
          <a:p>
            <a:pPr marL="285750" indent="-285750">
              <a:buFont typeface="Arial"/>
              <a:buChar char="•"/>
            </a:pPr>
            <a:r>
              <a:rPr lang="en-AU" dirty="0"/>
              <a:t>Can you rewrite this ‘sometimes’ statement so that it changes to an ‘always’ statement?</a:t>
            </a:r>
          </a:p>
          <a:p>
            <a:endParaRPr lang="en-AU" dirty="0"/>
          </a:p>
          <a:p>
            <a:endParaRPr lang="en-AU" b="1" dirty="0"/>
          </a:p>
          <a:p>
            <a:pPr marL="342900" indent="-342900">
              <a:buFont typeface="Calibri Light" panose="020F0302020204030204"/>
              <a:buAutoNum type="arabicPeriod"/>
            </a:pPr>
            <a:endParaRPr lang="en-AU" dirty="0"/>
          </a:p>
          <a:p>
            <a:endParaRPr lang="en-AU" b="1" dirty="0"/>
          </a:p>
          <a:p>
            <a:pPr marL="342900" indent="-342900">
              <a:buFont typeface="Calibri Light" panose="020F0302020204030204"/>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latin typeface="Arial"/>
                <a:cs typeface="Arial"/>
              </a:rPr>
              <a:t>Short response questions provide brisk paced questions focussing on review of current and previous content to support spaced and interleaved practice. </a:t>
            </a:r>
          </a:p>
          <a:p>
            <a:endParaRPr lang="en-AU"/>
          </a:p>
          <a:p>
            <a:r>
              <a:rPr lang="en-AU" b="1" dirty="0">
                <a:latin typeface="Arial"/>
                <a:cs typeface="Arial"/>
              </a:rPr>
              <a:t>Syllabus focus area:</a:t>
            </a:r>
          </a:p>
          <a:p>
            <a:pPr>
              <a:defRPr/>
            </a:pPr>
            <a:r>
              <a:rPr lang="en-AU" dirty="0">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Partitioned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43</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7379224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latin typeface="Arial"/>
                <a:cs typeface="Arial"/>
              </a:rPr>
              <a:t>This is a developing number sense activity. </a:t>
            </a:r>
          </a:p>
          <a:p>
            <a:endParaRPr lang="en-AU" dirty="0"/>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latin typeface="Arial"/>
                <a:cs typeface="Arial"/>
              </a:rPr>
              <a:t>Syllabus focus area:</a:t>
            </a:r>
          </a:p>
          <a:p>
            <a:r>
              <a:rPr lang="en-AU" dirty="0">
                <a:latin typeface="Arial"/>
                <a:cs typeface="Arial"/>
              </a:rPr>
              <a:t>Multiplicative Relations A</a:t>
            </a:r>
          </a:p>
          <a:p>
            <a:endParaRPr lang="en-AU" dirty="0"/>
          </a:p>
          <a:p>
            <a:r>
              <a:rPr kumimoji="0" lang="en-AU" sz="3600" b="1" i="0" u="none" strike="noStrike" kern="1200" cap="none" spc="0" normalizeH="0" baseline="0" noProof="0" dirty="0">
                <a:ln>
                  <a:noFill/>
                </a:ln>
                <a:solidFill>
                  <a:srgbClr val="002664"/>
                </a:solidFill>
                <a:effectLst/>
                <a:uLnTx/>
                <a:uFillTx/>
                <a:latin typeface="Arial"/>
                <a:ea typeface="+mj-ea"/>
                <a:cs typeface="Arial"/>
              </a:rPr>
              <a:t>Activity 6 – </a:t>
            </a:r>
            <a:r>
              <a:rPr lang="en-AU" b="1" dirty="0">
                <a:latin typeface="Arial"/>
                <a:cs typeface="Arial"/>
              </a:rPr>
              <a:t>Number chart patterns</a:t>
            </a:r>
          </a:p>
          <a:p>
            <a:r>
              <a:rPr lang="en-AU" b="0" dirty="0">
                <a:latin typeface="Arial"/>
                <a:cs typeface="Arial"/>
              </a:rPr>
              <a:t>This activity is an adaptation of ‘Multiple Patterns’ from Meaningful Maths.</a:t>
            </a:r>
          </a:p>
          <a:p>
            <a:endParaRPr lang="en-AU" b="1" dirty="0">
              <a:latin typeface="Arial"/>
              <a:cs typeface="Arial"/>
            </a:endParaRPr>
          </a:p>
          <a:p>
            <a:r>
              <a:rPr lang="en-AU" b="0" dirty="0">
                <a:latin typeface="Arial"/>
                <a:cs typeface="Arial"/>
              </a:rPr>
              <a:t>This resource corresponds to Resource </a:t>
            </a:r>
            <a:r>
              <a:rPr lang="en-AU" dirty="0">
                <a:latin typeface="Arial"/>
                <a:cs typeface="Arial"/>
              </a:rPr>
              <a:t>26 </a:t>
            </a:r>
            <a:r>
              <a:rPr lang="en-AU" b="0" dirty="0">
                <a:latin typeface="Arial"/>
                <a:cs typeface="Arial"/>
              </a:rPr>
              <a:t>– </a:t>
            </a:r>
            <a:r>
              <a:rPr lang="en-AU" dirty="0">
                <a:latin typeface="Arial"/>
                <a:cs typeface="Arial"/>
              </a:rPr>
              <a:t>number chart patterns and Resource 27 – number chart in Stage 2 Year B Unit 25. </a:t>
            </a:r>
          </a:p>
          <a:p>
            <a:endParaRPr lang="en-AU" dirty="0">
              <a:latin typeface="Arial"/>
              <a:cs typeface="Arial"/>
            </a:endParaRPr>
          </a:p>
          <a:p>
            <a:pPr marL="0" indent="0">
              <a:buFont typeface="Arial"/>
              <a:buNone/>
            </a:pPr>
            <a:r>
              <a:rPr lang="en-AU" dirty="0">
                <a:latin typeface="Arial"/>
                <a:cs typeface="Arial"/>
              </a:rPr>
              <a:t>Ask students:</a:t>
            </a:r>
          </a:p>
          <a:p>
            <a:pPr marL="342900" indent="-342900">
              <a:buFont typeface="Arial"/>
              <a:buChar char="•"/>
            </a:pPr>
            <a:r>
              <a:rPr lang="en-AU" dirty="0">
                <a:latin typeface="Arial"/>
                <a:cs typeface="Arial"/>
              </a:rPr>
              <a:t>What do you notice? </a:t>
            </a:r>
          </a:p>
          <a:p>
            <a:pPr marL="342900" indent="-342900">
              <a:buFont typeface="Arial"/>
              <a:buChar char="•"/>
            </a:pPr>
            <a:r>
              <a:rPr lang="en-AU" dirty="0">
                <a:latin typeface="Arial"/>
                <a:cs typeface="Arial"/>
              </a:rPr>
              <a:t>What do you wonder?</a:t>
            </a:r>
          </a:p>
          <a:p>
            <a:pPr marL="342900" indent="-342900">
              <a:buFont typeface="Arial"/>
              <a:buChar char="•"/>
            </a:pPr>
            <a:r>
              <a:rPr lang="en-AU" dirty="0">
                <a:latin typeface="Arial"/>
                <a:cs typeface="Arial"/>
              </a:rPr>
              <a:t>What might the pattern look like if multiples of 2 are covered?</a:t>
            </a:r>
          </a:p>
          <a:p>
            <a:pPr marL="342900" indent="-342900">
              <a:buFont typeface="Arial"/>
              <a:buChar char="•"/>
            </a:pPr>
            <a:r>
              <a:rPr lang="en-AU" dirty="0">
                <a:latin typeface="Arial"/>
                <a:cs typeface="Arial"/>
              </a:rPr>
              <a:t>How do we know if a number is a multiple of 2?</a:t>
            </a:r>
          </a:p>
          <a:p>
            <a:pPr marL="342900" indent="-342900">
              <a:buFont typeface="Arial"/>
              <a:buChar char="•"/>
            </a:pPr>
            <a:r>
              <a:rPr lang="en-AU" dirty="0">
                <a:latin typeface="Arial"/>
                <a:cs typeface="Arial"/>
              </a:rPr>
              <a:t>What might the pattern look like if multiples of 10 are covered?</a:t>
            </a:r>
          </a:p>
          <a:p>
            <a:pPr marL="342900" indent="-342900">
              <a:buFont typeface="Arial"/>
              <a:buChar char="•"/>
            </a:pPr>
            <a:r>
              <a:rPr lang="en-AU" dirty="0">
                <a:latin typeface="Arial"/>
                <a:cs typeface="Arial"/>
              </a:rPr>
              <a:t>How do we know if a number is a multiple of 10?</a:t>
            </a:r>
          </a:p>
          <a:p>
            <a:pPr marL="342900" indent="-342900">
              <a:buFont typeface="Arial"/>
              <a:buChar char="•"/>
            </a:pPr>
            <a:r>
              <a:rPr lang="en-AU" dirty="0">
                <a:latin typeface="Arial"/>
                <a:cs typeface="Arial"/>
              </a:rPr>
              <a:t>What might the pattern look like if multiples of 5 are covered?</a:t>
            </a:r>
          </a:p>
          <a:p>
            <a:pPr marL="342900" indent="-342900">
              <a:buFont typeface="Arial"/>
              <a:buChar char="•"/>
            </a:pPr>
            <a:r>
              <a:rPr lang="en-AU" dirty="0">
                <a:latin typeface="Arial"/>
                <a:cs typeface="Arial"/>
              </a:rPr>
              <a:t>How do we know if a number is a multiple of 5?</a:t>
            </a:r>
          </a:p>
          <a:p>
            <a:pPr marL="342900" indent="-342900">
              <a:buFont typeface="Arial"/>
              <a:buChar char="•"/>
            </a:pPr>
            <a:r>
              <a:rPr lang="en-AU" dirty="0">
                <a:latin typeface="Arial"/>
                <a:cs typeface="Arial"/>
              </a:rPr>
              <a:t>Provide students with a copy of Resource 27 - number chart.</a:t>
            </a:r>
          </a:p>
          <a:p>
            <a:pPr marL="342900" indent="-342900">
              <a:buFont typeface="Arial"/>
              <a:buChar char="•"/>
            </a:pPr>
            <a:r>
              <a:rPr lang="en-AU" dirty="0">
                <a:latin typeface="Arial"/>
                <a:cs typeface="Arial"/>
              </a:rPr>
              <a:t>Students to use coloured counters or markers to indicate multiples of 2, 5 and 10.</a:t>
            </a:r>
          </a:p>
          <a:p>
            <a:pPr marL="0" indent="0">
              <a:buFont typeface="Arial"/>
              <a:buNone/>
            </a:pPr>
            <a:r>
              <a:rPr lang="en-AU" dirty="0">
                <a:latin typeface="Arial"/>
                <a:cs typeface="Arial"/>
              </a:rPr>
              <a:t>Ask students:</a:t>
            </a:r>
          </a:p>
          <a:p>
            <a:pPr marL="285750" indent="-285750">
              <a:buFont typeface="Arial"/>
              <a:buChar char="•"/>
            </a:pPr>
            <a:r>
              <a:rPr lang="en-AU" dirty="0">
                <a:latin typeface="Arial"/>
                <a:cs typeface="Arial"/>
              </a:rPr>
              <a:t>Do the patterns match your predictions?</a:t>
            </a:r>
          </a:p>
          <a:p>
            <a:pPr marL="285750" indent="-285750">
              <a:buFont typeface="Arial" panose="020B0604020202020204" pitchFamily="34" charset="0"/>
              <a:buChar char="•"/>
            </a:pPr>
            <a:r>
              <a:rPr lang="en-AU" dirty="0">
                <a:latin typeface="Arial"/>
                <a:cs typeface="Arial"/>
              </a:rPr>
              <a:t>What do you notice about the numbers that are not covered?</a:t>
            </a:r>
          </a:p>
          <a:p>
            <a:pPr marL="285750" indent="-285750">
              <a:buFont typeface="Arial" panose="020B0604020202020204" pitchFamily="34" charset="0"/>
              <a:buChar char="•"/>
            </a:pPr>
            <a:r>
              <a:rPr lang="en-AU" dirty="0">
                <a:latin typeface="Arial"/>
                <a:cs typeface="Arial"/>
              </a:rPr>
              <a:t>What might the pattern look like if multiples of 6 are covered?</a:t>
            </a:r>
          </a:p>
          <a:p>
            <a:pPr marL="285750" indent="-285750">
              <a:buFont typeface="Arial" panose="020B0604020202020204" pitchFamily="34" charset="0"/>
              <a:buChar char="•"/>
            </a:pPr>
            <a:r>
              <a:rPr lang="en-AU" dirty="0">
                <a:latin typeface="Arial"/>
                <a:cs typeface="Arial"/>
              </a:rPr>
              <a:t>What might the pattern look like if multiples of 8 are covered?</a:t>
            </a:r>
          </a:p>
          <a:p>
            <a:endParaRPr lang="en-AU" dirty="0"/>
          </a:p>
          <a:p>
            <a:endParaRPr lang="en-AU" dirty="0"/>
          </a:p>
          <a:p>
            <a:endParaRPr lang="en-AU" b="1" dirty="0"/>
          </a:p>
          <a:p>
            <a:pPr marL="342900" indent="-342900">
              <a:buFont typeface="Arial"/>
              <a:buChar char="•"/>
            </a:pPr>
            <a:endParaRPr lang="en-AU" dirty="0"/>
          </a:p>
          <a:p>
            <a:endParaRPr lang="en-AU" b="1" dirty="0"/>
          </a:p>
          <a:p>
            <a:pPr marL="342900" indent="-342900">
              <a:buFont typeface="Arial"/>
              <a:buChar char="•"/>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4DFCD-31FA-F3F1-0503-00AA2F65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9FC2-CCEB-CEDC-3A01-C9E26E32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3C90A-C744-5006-D536-E6891BDEE95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dirty="0">
                <a:latin typeface="Arial"/>
                <a:cs typeface="Arial"/>
              </a:rPr>
              <a:t>Multiplicative relations A</a:t>
            </a:r>
          </a:p>
        </p:txBody>
      </p:sp>
      <p:sp>
        <p:nvSpPr>
          <p:cNvPr id="4" name="Slide Number Placeholder 3">
            <a:extLst>
              <a:ext uri="{FF2B5EF4-FFF2-40B4-BE49-F238E27FC236}">
                <a16:creationId xmlns:a16="http://schemas.microsoft.com/office/drawing/2014/main" id="{CF66ABEE-F3BE-E1BA-B1D3-0327A7ADD536}"/>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32401760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latin typeface="Arial"/>
                <a:cs typeface="Arial"/>
              </a:rPr>
              <a:t>Short response questions provide brisk paced questions focussing on review of current and previous content to support spaced and interleaved practice. </a:t>
            </a:r>
          </a:p>
          <a:p>
            <a:endParaRPr lang="en-AU" dirty="0"/>
          </a:p>
          <a:p>
            <a:r>
              <a:rPr lang="en-AU" b="1" dirty="0">
                <a:latin typeface="Arial"/>
                <a:cs typeface="Arial"/>
              </a:rPr>
              <a:t>Syllabus focus area:</a:t>
            </a:r>
          </a:p>
          <a:p>
            <a:pPr>
              <a:defRPr/>
            </a:pPr>
            <a:r>
              <a:rPr lang="en-AU" dirty="0">
                <a:latin typeface="Arial"/>
                <a:cs typeface="Arial"/>
              </a:rPr>
              <a:t>Data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Partitioned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50</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153520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Geometric measure: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latin typeface="Arial"/>
                <a:cs typeface="Arial"/>
              </a:rPr>
              <a:t>This is a developing number sense activity. </a:t>
            </a:r>
          </a:p>
          <a:p>
            <a:endParaRPr lang="en-AU" dirty="0"/>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latin typeface="Arial"/>
                <a:cs typeface="Arial"/>
              </a:rPr>
              <a:t>Syllabus focus area:</a:t>
            </a:r>
          </a:p>
          <a:p>
            <a:r>
              <a:rPr lang="en-AU" dirty="0">
                <a:latin typeface="Arial"/>
                <a:cs typeface="Arial"/>
              </a:rPr>
              <a:t>Multiplicative Relations A</a:t>
            </a:r>
          </a:p>
          <a:p>
            <a:endParaRPr lang="en-AU" dirty="0">
              <a:latin typeface="Arial"/>
              <a:cs typeface="Arial"/>
            </a:endParaRPr>
          </a:p>
          <a:p>
            <a:r>
              <a:rPr lang="en-AU" b="1" dirty="0">
                <a:latin typeface="Arial"/>
                <a:cs typeface="Arial"/>
              </a:rPr>
              <a:t>Activity 7 – increasing number patterns</a:t>
            </a:r>
            <a:endParaRPr lang="en-AU" b="1" dirty="0"/>
          </a:p>
          <a:p>
            <a:endParaRPr lang="en-AU" dirty="0"/>
          </a:p>
          <a:p>
            <a:pPr marL="285750" indent="-285750">
              <a:buFont typeface="Arial"/>
              <a:buChar char="•"/>
            </a:pPr>
            <a:r>
              <a:rPr lang="en-AU" dirty="0"/>
              <a:t>For each number pattern, ask students:</a:t>
            </a:r>
          </a:p>
          <a:p>
            <a:pPr marL="285750" indent="-285750">
              <a:buFont typeface="Arial"/>
              <a:buChar char="•"/>
            </a:pPr>
            <a:r>
              <a:rPr lang="en-AU" dirty="0">
                <a:latin typeface="Arial"/>
                <a:cs typeface="Arial"/>
              </a:rPr>
              <a:t>Can you describe the pattern?</a:t>
            </a:r>
          </a:p>
          <a:p>
            <a:pPr marL="285750" indent="-285750">
              <a:buFont typeface="Arial"/>
              <a:buChar char="•"/>
            </a:pPr>
            <a:r>
              <a:rPr lang="en-AU" dirty="0">
                <a:latin typeface="Arial"/>
                <a:cs typeface="Arial"/>
              </a:rPr>
              <a:t>How do you know it is a pattern?</a:t>
            </a:r>
          </a:p>
          <a:p>
            <a:pPr marL="285750" indent="-285750">
              <a:buFont typeface="Arial"/>
              <a:buChar char="•"/>
            </a:pPr>
            <a:r>
              <a:rPr lang="en-AU" dirty="0">
                <a:latin typeface="Arial"/>
                <a:cs typeface="Arial"/>
              </a:rPr>
              <a:t>What would the next 3 numbers be?</a:t>
            </a:r>
          </a:p>
          <a:p>
            <a:pPr marL="285750" indent="-285750">
              <a:buFont typeface="Arial"/>
              <a:buChar char="•"/>
            </a:pPr>
            <a:r>
              <a:rPr lang="en-AU" dirty="0">
                <a:latin typeface="Arial"/>
                <a:cs typeface="Arial"/>
              </a:rPr>
              <a:t>What would the 3 numbers be before the displayed numbers?</a:t>
            </a:r>
          </a:p>
          <a:p>
            <a:pPr marL="285750" indent="-285750">
              <a:buFont typeface="Arial"/>
              <a:buChar char="•"/>
            </a:pPr>
            <a:r>
              <a:rPr lang="en-AU" dirty="0">
                <a:latin typeface="Arial"/>
                <a:cs typeface="Arial"/>
              </a:rPr>
              <a:t>Students create and record their own number patterns that increase by any number under 12.</a:t>
            </a:r>
          </a:p>
          <a:p>
            <a:pPr marL="285750" indent="-285750">
              <a:buFont typeface="Arial"/>
              <a:buChar char="•"/>
            </a:pPr>
            <a:r>
              <a:rPr lang="en-AU" dirty="0">
                <a:latin typeface="Arial"/>
                <a:cs typeface="Arial"/>
              </a:rPr>
              <a:t>Students give their patterns to a partner and ask them to describe the pattern and record the next 3 numbers.</a:t>
            </a:r>
          </a:p>
          <a:p>
            <a:endParaRPr lang="en-AU" b="1" dirty="0">
              <a:latin typeface="Arial"/>
              <a:cs typeface="Arial"/>
            </a:endParaRPr>
          </a:p>
          <a:p>
            <a:endParaRPr lang="en-AU" b="0" dirty="0">
              <a:latin typeface="Arial"/>
              <a:cs typeface="Arial"/>
            </a:endParaRP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latin typeface="Arial"/>
                <a:cs typeface="Arial"/>
              </a:rPr>
              <a:t>Short response questions provide brisk paced questions focussing on review of current and previous content to support spaced and interleaved practice. </a:t>
            </a:r>
          </a:p>
          <a:p>
            <a:endParaRPr lang="en-AU"/>
          </a:p>
          <a:p>
            <a:r>
              <a:rPr lang="en-AU" b="1" dirty="0">
                <a:latin typeface="Arial"/>
                <a:cs typeface="Arial"/>
              </a:rPr>
              <a:t>Syllabus focus area:</a:t>
            </a:r>
          </a:p>
          <a:p>
            <a:pPr>
              <a:defRPr/>
            </a:pPr>
            <a:r>
              <a:rPr lang="en-AU" dirty="0">
                <a:latin typeface="Arial"/>
                <a:cs typeface="Arial"/>
              </a:rPr>
              <a:t>Data </a:t>
            </a:r>
            <a:r>
              <a:rPr lang="en-AU">
                <a:latin typeface="Arial"/>
                <a:cs typeface="Arial"/>
              </a:rPr>
              <a:t>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Partitioned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4601121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t>Non-spatial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Geometric measure: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latin typeface="Arial"/>
                <a:cs typeface="Arial"/>
              </a:rPr>
              <a:t>This is a developing number sense activity. </a:t>
            </a:r>
          </a:p>
          <a:p>
            <a:endParaRPr lang="en-AU" dirty="0"/>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latin typeface="Arial"/>
                <a:cs typeface="Arial"/>
              </a:rPr>
              <a:t>Syllabus focus area:</a:t>
            </a:r>
          </a:p>
          <a:p>
            <a:r>
              <a:rPr lang="en-AU" dirty="0">
                <a:latin typeface="Arial"/>
                <a:cs typeface="Arial"/>
              </a:rPr>
              <a:t>Multiplicative Relations A</a:t>
            </a:r>
            <a:endParaRPr lang="en-AU" dirty="0"/>
          </a:p>
          <a:p>
            <a:endParaRPr lang="en-AU" dirty="0">
              <a:latin typeface="Arial"/>
              <a:cs typeface="Arial"/>
            </a:endParaRPr>
          </a:p>
          <a:p>
            <a:r>
              <a:rPr lang="en-AU" b="1" dirty="0">
                <a:latin typeface="Arial"/>
                <a:cs typeface="Arial"/>
              </a:rPr>
              <a:t>Activity 8 – decreasing number patterns</a:t>
            </a:r>
            <a:endParaRPr lang="en-AU" dirty="0"/>
          </a:p>
          <a:p>
            <a:endParaRPr lang="en-AU" b="1" dirty="0"/>
          </a:p>
          <a:p>
            <a:pPr marL="285750" indent="-285750">
              <a:buFont typeface="Arial"/>
              <a:buChar char="•"/>
            </a:pPr>
            <a:r>
              <a:rPr lang="en-AU" dirty="0"/>
              <a:t>For each number pattern, ask students:</a:t>
            </a:r>
          </a:p>
          <a:p>
            <a:pPr marL="285750" indent="-285750">
              <a:buFont typeface="Arial"/>
              <a:buChar char="•"/>
            </a:pPr>
            <a:r>
              <a:rPr lang="en-AU" dirty="0"/>
              <a:t>Can you describe the pattern?</a:t>
            </a:r>
          </a:p>
          <a:p>
            <a:pPr marL="285750" indent="-285750">
              <a:buFont typeface="Arial"/>
              <a:buChar char="•"/>
            </a:pPr>
            <a:r>
              <a:rPr lang="en-AU" dirty="0"/>
              <a:t>How do you know it is a pattern?</a:t>
            </a:r>
          </a:p>
          <a:p>
            <a:pPr marL="285750" indent="-285750">
              <a:buFont typeface="Arial"/>
              <a:buChar char="•"/>
            </a:pPr>
            <a:r>
              <a:rPr lang="en-AU" dirty="0"/>
              <a:t>What would the next 3 numbers be?</a:t>
            </a:r>
          </a:p>
          <a:p>
            <a:pPr marL="285750" indent="-285750">
              <a:buFont typeface="Arial"/>
              <a:buChar char="•"/>
            </a:pPr>
            <a:r>
              <a:rPr lang="en-AU" dirty="0"/>
              <a:t>What would the 3 numbers be before the displayed numbers?</a:t>
            </a:r>
          </a:p>
          <a:p>
            <a:pPr marL="285750" indent="-285750">
              <a:buFont typeface="Arial"/>
              <a:buChar char="•"/>
            </a:pPr>
            <a:r>
              <a:rPr lang="en-AU" dirty="0"/>
              <a:t>Students create and record their own number patterns that decrease by any number under 12.</a:t>
            </a:r>
          </a:p>
          <a:p>
            <a:pPr marL="285750" indent="-285750">
              <a:buFont typeface="Arial"/>
              <a:buChar char="•"/>
            </a:pPr>
            <a:r>
              <a:rPr lang="en-AU" dirty="0"/>
              <a:t>Students give their patterns to a partner and ask them to describe the pattern and record the next 3 numbers.</a:t>
            </a:r>
          </a:p>
          <a:p>
            <a:endParaRPr lang="en-AU" dirty="0"/>
          </a:p>
          <a:p>
            <a:endParaRPr lang="en-AU" b="1" dirty="0"/>
          </a:p>
          <a:p>
            <a:pPr marL="342900" indent="-342900">
              <a:buFont typeface="Calibri Light" panose="020F0302020204030204"/>
              <a:buAutoNum type="arabicPeriod"/>
            </a:pPr>
            <a:endParaRPr lang="en-AU" dirty="0"/>
          </a:p>
          <a:p>
            <a:endParaRPr lang="en-AU" b="1" dirty="0"/>
          </a:p>
          <a:p>
            <a:pPr marL="342900" indent="-342900">
              <a:buFont typeface="Calibri Light" panose="020F0302020204030204"/>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323617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104908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3546213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8331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389719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410430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24313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2508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695779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6772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2511576904"/>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slide" Target="slide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13" Type="http://schemas.openxmlformats.org/officeDocument/2006/relationships/hyperlink" Target="https://nrich.maths.org/12670"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meaningfulmaths.nt.edu.au/mmws/nz/resource/multiple-patterns.html"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education.nsw.gov.au/teaching-and-learning/curriculum/mathematics/mathematics-curriculum-resources-k-12/thinking-mathematically-resources/mathematics-s2-multiples-madness"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teaching-and-learning/curriculum/mathematics/mathematics-curriculum-resources-k-12/thinking-mathematically-resources/mathematics-s1-s2-counting-game-by-multiples-of-10"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curriculum.nsw.edu.au/learning-areas/mathematics/mathematics-k-10-2022/content/stage-2/fae1144fe0?show=advic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B Unit 25.</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and adapt</a:t>
            </a:r>
            <a:r>
              <a:rPr lang="en-AU" sz="1800">
                <a:solidFill>
                  <a:srgbClr val="22272B"/>
                </a:solidFill>
                <a:latin typeface="+mn-lt"/>
                <a:cs typeface="Arial"/>
              </a:rPr>
              <a:t> slides as required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cs typeface="Arial"/>
              </a:rPr>
              <a:t>Mathematics Stage 2 – Unit 25</a:t>
            </a:r>
            <a:endParaRPr lang="en-AU">
              <a:latin typeface="+mj-lt"/>
            </a:endParaRP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descr="Review of learning 1">
            <a:extLst>
              <a:ext uri="{FF2B5EF4-FFF2-40B4-BE49-F238E27FC236}">
                <a16:creationId xmlns:a16="http://schemas.microsoft.com/office/drawing/2014/main" id="{1B4FCA10-C38C-7EB1-6B3D-6210A414C65B}"/>
              </a:ext>
              <a:ext uri="{C183D7F6-B498-43B3-948B-1728B52AA6E4}">
                <adec:decorative xmlns:adec="http://schemas.microsoft.com/office/drawing/2017/decorative" val="0"/>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descr="Review of learning 2">
            <a:extLst>
              <a:ext uri="{FF2B5EF4-FFF2-40B4-BE49-F238E27FC236}">
                <a16:creationId xmlns:a16="http://schemas.microsoft.com/office/drawing/2014/main" id="{AF7A23A4-F1DB-31F7-E62C-F1BFA9349F64}"/>
              </a:ext>
              <a:ext uri="{C183D7F6-B498-43B3-948B-1728B52AA6E4}">
                <adec:decorative xmlns:adec="http://schemas.microsoft.com/office/drawing/2017/decorative" val="0"/>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descr="Review of learning 3">
            <a:extLst>
              <a:ext uri="{FF2B5EF4-FFF2-40B4-BE49-F238E27FC236}">
                <a16:creationId xmlns:a16="http://schemas.microsoft.com/office/drawing/2014/main" id="{DF37B4A1-413C-FC0F-E0B4-307A5BFA5855}"/>
              </a:ext>
              <a:ext uri="{C183D7F6-B498-43B3-948B-1728B52AA6E4}">
                <adec:decorative xmlns:adec="http://schemas.microsoft.com/office/drawing/2017/decorative" val="0"/>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descr="Review of learning 4">
            <a:extLst>
              <a:ext uri="{FF2B5EF4-FFF2-40B4-BE49-F238E27FC236}">
                <a16:creationId xmlns:a16="http://schemas.microsoft.com/office/drawing/2014/main" id="{C989DA6E-4839-1BBD-77AB-6F9CC520B670}"/>
              </a:ext>
              <a:ext uri="{C183D7F6-B498-43B3-948B-1728B52AA6E4}">
                <adec:decorative xmlns:adec="http://schemas.microsoft.com/office/drawing/2017/decorative" val="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descr="Review of learning 5">
            <a:extLst>
              <a:ext uri="{FF2B5EF4-FFF2-40B4-BE49-F238E27FC236}">
                <a16:creationId xmlns:a16="http://schemas.microsoft.com/office/drawing/2014/main" id="{5CA7685F-33D7-262A-AE71-7F572C4FD60A}"/>
              </a:ext>
              <a:ext uri="{C183D7F6-B498-43B3-948B-1728B52AA6E4}">
                <adec:decorative xmlns:adec="http://schemas.microsoft.com/office/drawing/2017/decorative" val="0"/>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descr="Review of learning 6">
            <a:extLst>
              <a:ext uri="{FF2B5EF4-FFF2-40B4-BE49-F238E27FC236}">
                <a16:creationId xmlns:a16="http://schemas.microsoft.com/office/drawing/2014/main" id="{98348D52-CA50-F15C-B472-B152337D805F}"/>
              </a:ext>
              <a:ext uri="{C183D7F6-B498-43B3-948B-1728B52AA6E4}">
                <adec:decorative xmlns:adec="http://schemas.microsoft.com/office/drawing/2017/decorative" val="0"/>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descr="Review of learning 7">
            <a:extLst>
              <a:ext uri="{FF2B5EF4-FFF2-40B4-BE49-F238E27FC236}">
                <a16:creationId xmlns:a16="http://schemas.microsoft.com/office/drawing/2014/main" id="{E73741F1-615E-A4A4-088D-E0A9187F983E}"/>
              </a:ext>
              <a:ext uri="{C183D7F6-B498-43B3-948B-1728B52AA6E4}">
                <adec:decorative xmlns:adec="http://schemas.microsoft.com/office/drawing/2017/decorative" val="0"/>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7</a:t>
              </a:r>
              <a:endParaRPr lang="en-AU" dirty="0">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descr="Review of learning 8">
            <a:extLst>
              <a:ext uri="{FF2B5EF4-FFF2-40B4-BE49-F238E27FC236}">
                <a16:creationId xmlns:a16="http://schemas.microsoft.com/office/drawing/2014/main" id="{8E45D1B3-369A-D013-FFE7-B91D37B811F7}"/>
              </a:ext>
              <a:ext uri="{C183D7F6-B498-43B3-948B-1728B52AA6E4}">
                <adec:decorative xmlns:adec="http://schemas.microsoft.com/office/drawing/2017/decorative" val="0"/>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65148B-F5B2-7EDD-CE57-A079E0DD806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4CB8848C-93F2-E2F9-DB5A-FC58F0111C1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360000" y="1625945"/>
            <a:ext cx="11243037" cy="754243"/>
          </a:xfrm>
        </p:spPr>
        <p:txBody>
          <a:bodyPr vert="horz" lIns="0" tIns="0" rIns="0" bIns="0" rtlCol="0" anchor="t">
            <a:noAutofit/>
          </a:bodyPr>
          <a:lstStyle/>
          <a:p>
            <a:pPr algn="ctr"/>
            <a:r>
              <a:rPr lang="en-US" sz="4400">
                <a:latin typeface="Arial"/>
                <a:cs typeface="Arial"/>
              </a:rPr>
              <a:t>60 x 3 is the same as: </a:t>
            </a:r>
            <a:endParaRPr lang="en-US" sz="4400"/>
          </a:p>
        </p:txBody>
      </p:sp>
      <p:sp>
        <p:nvSpPr>
          <p:cNvPr id="9" name="TextBox 8">
            <a:extLst>
              <a:ext uri="{FF2B5EF4-FFF2-40B4-BE49-F238E27FC236}">
                <a16:creationId xmlns:a16="http://schemas.microsoft.com/office/drawing/2014/main" id="{EF8DF706-D80F-92B1-7253-8E6E8E474570}"/>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249CF990-9203-0FC6-FA8E-0E52BA054215}"/>
              </a:ext>
            </a:extLst>
          </p:cNvPr>
          <p:cNvSpPr>
            <a:spLocks noGrp="1"/>
          </p:cNvSpPr>
          <p:nvPr>
            <p:ph type="body" sz="quarter" idx="31"/>
          </p:nvPr>
        </p:nvSpPr>
        <p:spPr>
          <a:xfrm>
            <a:off x="1345520" y="2877704"/>
            <a:ext cx="10175920" cy="641396"/>
          </a:xfrm>
        </p:spPr>
        <p:txBody>
          <a:bodyPr anchor="ctr"/>
          <a:lstStyle/>
          <a:p>
            <a:r>
              <a:rPr lang="en-US" sz="3600" dirty="0">
                <a:cs typeface="Arial"/>
              </a:rPr>
              <a:t>60 groups of 10, 3 tens and 180</a:t>
            </a:r>
            <a:endParaRPr lang="en-US" sz="3600" dirty="0"/>
          </a:p>
        </p:txBody>
      </p:sp>
      <p:sp>
        <p:nvSpPr>
          <p:cNvPr id="10" name="TextBox 9">
            <a:extLst>
              <a:ext uri="{FF2B5EF4-FFF2-40B4-BE49-F238E27FC236}">
                <a16:creationId xmlns:a16="http://schemas.microsoft.com/office/drawing/2014/main" id="{E8E3048F-F2CC-3A16-FD64-BA70C679B369}"/>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C6C948D4-2A38-1E27-BC1F-1141CAAF7C2A}"/>
              </a:ext>
            </a:extLst>
          </p:cNvPr>
          <p:cNvSpPr>
            <a:spLocks noGrp="1"/>
          </p:cNvSpPr>
          <p:nvPr>
            <p:ph type="body" sz="quarter" idx="30"/>
          </p:nvPr>
        </p:nvSpPr>
        <p:spPr>
          <a:xfrm>
            <a:off x="1345520" y="3725617"/>
            <a:ext cx="10175920" cy="641396"/>
          </a:xfrm>
        </p:spPr>
        <p:txBody>
          <a:bodyPr anchor="ctr"/>
          <a:lstStyle/>
          <a:p>
            <a:r>
              <a:rPr lang="en-US" sz="3600">
                <a:cs typeface="Arial"/>
              </a:rPr>
              <a:t>6 groups of 3 tens, 18 tens and 180</a:t>
            </a:r>
            <a:endParaRPr lang="en-US" sz="3600"/>
          </a:p>
        </p:txBody>
      </p:sp>
      <p:sp>
        <p:nvSpPr>
          <p:cNvPr id="12" name="TextBox 11">
            <a:extLst>
              <a:ext uri="{FF2B5EF4-FFF2-40B4-BE49-F238E27FC236}">
                <a16:creationId xmlns:a16="http://schemas.microsoft.com/office/drawing/2014/main" id="{653CFB63-79BB-2581-B3F1-80CDC52E39F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4DADA01A-C328-7361-07E5-3C59D9534D7B}"/>
              </a:ext>
            </a:extLst>
          </p:cNvPr>
          <p:cNvSpPr>
            <a:spLocks noGrp="1"/>
          </p:cNvSpPr>
          <p:nvPr>
            <p:ph type="body" sz="quarter" idx="29"/>
          </p:nvPr>
        </p:nvSpPr>
        <p:spPr>
          <a:xfrm>
            <a:off x="1345520" y="4575670"/>
            <a:ext cx="10175920" cy="641396"/>
          </a:xfrm>
        </p:spPr>
        <p:txBody>
          <a:bodyPr anchor="ctr"/>
          <a:lstStyle/>
          <a:p>
            <a:r>
              <a:rPr lang="en-US" sz="3600" dirty="0">
                <a:cs typeface="Arial"/>
              </a:rPr>
              <a:t>6 groups of 3 tens, 120 tens and 180</a:t>
            </a:r>
            <a:endParaRPr lang="en-US" sz="3600" dirty="0"/>
          </a:p>
        </p:txBody>
      </p:sp>
      <p:sp>
        <p:nvSpPr>
          <p:cNvPr id="11" name="TextBox 10">
            <a:extLst>
              <a:ext uri="{FF2B5EF4-FFF2-40B4-BE49-F238E27FC236}">
                <a16:creationId xmlns:a16="http://schemas.microsoft.com/office/drawing/2014/main" id="{A7CF7502-CF88-ED76-425C-93F1166598D5}"/>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7DB50E8A-7E96-50A9-15AA-962C16AA899C}"/>
              </a:ext>
            </a:extLst>
          </p:cNvPr>
          <p:cNvSpPr>
            <a:spLocks noGrp="1"/>
          </p:cNvSpPr>
          <p:nvPr>
            <p:ph type="body" sz="quarter" idx="27"/>
          </p:nvPr>
        </p:nvSpPr>
        <p:spPr>
          <a:xfrm>
            <a:off x="1345520" y="5425723"/>
            <a:ext cx="10175920" cy="641396"/>
          </a:xfrm>
        </p:spPr>
        <p:txBody>
          <a:bodyPr anchor="ctr"/>
          <a:lstStyle/>
          <a:p>
            <a:r>
              <a:rPr lang="en-US" sz="3600">
                <a:cs typeface="Arial"/>
              </a:rPr>
              <a:t>6 groups of 100, 18 tens and 180</a:t>
            </a:r>
            <a:endParaRPr lang="en-US" sz="3600"/>
          </a:p>
        </p:txBody>
      </p:sp>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96926E2-B629-8116-72DE-EB5E21E34D1A}"/>
              </a:ext>
            </a:extLst>
          </p:cNvPr>
          <p:cNvSpPr txBox="1"/>
          <p:nvPr/>
        </p:nvSpPr>
        <p:spPr>
          <a:xfrm>
            <a:off x="711758" y="2287598"/>
            <a:ext cx="10760109" cy="1998176"/>
          </a:xfrm>
          <a:prstGeom prst="rect">
            <a:avLst/>
          </a:prstGeom>
          <a:noFill/>
        </p:spPr>
        <p:txBody>
          <a:bodyPr wrap="square" lIns="91440" tIns="45720" rIns="91440" bIns="45720" anchor="t">
            <a:spAutoFit/>
          </a:bodyPr>
          <a:lstStyle/>
          <a:p>
            <a:pPr algn="ctr">
              <a:lnSpc>
                <a:spcPct val="150000"/>
              </a:lnSpc>
            </a:pPr>
            <a:r>
              <a:rPr lang="en-AU" sz="4400" dirty="0">
                <a:cs typeface="Arial"/>
              </a:rPr>
              <a:t>Write a definition for the term </a:t>
            </a:r>
            <a:r>
              <a:rPr lang="en-AU" sz="4400" b="1" dirty="0">
                <a:cs typeface="Arial"/>
              </a:rPr>
              <a:t>'statistical question'.</a:t>
            </a:r>
            <a:endParaRPr lang="en-US" b="1" dirty="0"/>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D3199-0FC1-B4CC-9B15-35768A590D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3013305-0E7A-CD73-59FD-E85698AC2883}"/>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A476661-4A84-3266-4551-8C796B98201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43942F3D-5B8C-F768-B49B-9287D423780F}"/>
              </a:ext>
            </a:extLst>
          </p:cNvPr>
          <p:cNvSpPr txBox="1"/>
          <p:nvPr/>
        </p:nvSpPr>
        <p:spPr>
          <a:xfrm>
            <a:off x="81280" y="733426"/>
            <a:ext cx="12110720" cy="982513"/>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Record </a:t>
            </a:r>
            <a:r>
              <a:rPr kumimoji="0" lang="en-AU" sz="4400" i="0" u="none" strike="noStrike" kern="1200" cap="none" spc="0" normalizeH="0" baseline="0" noProof="0">
                <a:ln>
                  <a:noFill/>
                </a:ln>
                <a:solidFill>
                  <a:srgbClr val="22272B"/>
                </a:solidFill>
                <a:effectLst/>
                <a:uLnTx/>
                <a:uFillTx/>
                <a:latin typeface="Arial" panose="020B0604020202020204"/>
                <a:ea typeface="+mn-ea"/>
                <a:cs typeface="+mn-cs"/>
              </a:rPr>
              <a:t>the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missing</a:t>
            </a:r>
            <a:r>
              <a:rPr kumimoji="0" lang="en-AU" sz="4400" i="0" u="none" strike="noStrike" kern="1200" cap="none" spc="0" normalizeH="0" baseline="0" noProof="0">
                <a:ln>
                  <a:noFill/>
                </a:ln>
                <a:solidFill>
                  <a:srgbClr val="22272B"/>
                </a:solidFill>
                <a:effectLst/>
                <a:uLnTx/>
                <a:uFillTx/>
                <a:latin typeface="Arial" panose="020B0604020202020204"/>
                <a:ea typeface="+mn-ea"/>
                <a:cs typeface="+mn-cs"/>
              </a:rPr>
              <a:t> fraction parts.</a:t>
            </a:r>
          </a:p>
        </p:txBody>
      </p:sp>
      <p:sp>
        <p:nvSpPr>
          <p:cNvPr id="2" name="Slide Number Placeholder 1">
            <a:extLst>
              <a:ext uri="{FF2B5EF4-FFF2-40B4-BE49-F238E27FC236}">
                <a16:creationId xmlns:a16="http://schemas.microsoft.com/office/drawing/2014/main" id="{50943099-A9D7-54BF-5579-60E7D377773A}"/>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7" name="Picture 6" descr="A fraction wall with parts missing.">
            <a:extLst>
              <a:ext uri="{FF2B5EF4-FFF2-40B4-BE49-F238E27FC236}">
                <a16:creationId xmlns:a16="http://schemas.microsoft.com/office/drawing/2014/main" id="{46E1C1BC-DD22-359B-4061-132B30EE5573}"/>
              </a:ext>
            </a:extLst>
          </p:cNvPr>
          <p:cNvPicPr>
            <a:picLocks noChangeAspect="1"/>
          </p:cNvPicPr>
          <p:nvPr/>
        </p:nvPicPr>
        <p:blipFill>
          <a:blip r:embed="rId4"/>
          <a:stretch>
            <a:fillRect/>
          </a:stretch>
        </p:blipFill>
        <p:spPr>
          <a:xfrm>
            <a:off x="3205292" y="1938083"/>
            <a:ext cx="5862695" cy="43557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38734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615969C2-ABCB-200A-C4BA-C00335E38A88}"/>
              </a:ext>
            </a:extLst>
          </p:cNvPr>
          <p:cNvSpPr txBox="1"/>
          <p:nvPr/>
        </p:nvSpPr>
        <p:spPr>
          <a:xfrm>
            <a:off x="964689" y="726473"/>
            <a:ext cx="10065787" cy="4921302"/>
          </a:xfrm>
          <a:prstGeom prst="rect">
            <a:avLst/>
          </a:prstGeom>
          <a:noFill/>
        </p:spPr>
        <p:txBody>
          <a:bodyPr wrap="square" lIns="0" tIns="0" rIns="0" bIns="0" rtlCol="0">
            <a:noAutofit/>
          </a:bodyPr>
          <a:lstStyle/>
          <a:p>
            <a:pPr algn="ctr">
              <a:lnSpc>
                <a:spcPct val="150000"/>
              </a:lnSpc>
            </a:pPr>
            <a:r>
              <a:rPr lang="en-AU" sz="4400" dirty="0"/>
              <a:t>Which </a:t>
            </a:r>
            <a:r>
              <a:rPr lang="en-AU" sz="4400" b="1" dirty="0"/>
              <a:t>scaled instrument </a:t>
            </a:r>
            <a:r>
              <a:rPr lang="en-AU" sz="4400" dirty="0"/>
              <a:t>would be the most appropriate to use to </a:t>
            </a:r>
            <a:r>
              <a:rPr lang="en-AU" sz="4400" b="1" dirty="0"/>
              <a:t>measure</a:t>
            </a:r>
            <a:r>
              <a:rPr lang="en-AU" sz="4400" dirty="0"/>
              <a:t> the </a:t>
            </a:r>
            <a:r>
              <a:rPr lang="en-AU" sz="4400" b="1" dirty="0"/>
              <a:t>length</a:t>
            </a:r>
            <a:r>
              <a:rPr lang="en-AU" sz="4400" dirty="0"/>
              <a:t> of the following?</a:t>
            </a:r>
          </a:p>
          <a:p>
            <a:pPr marL="3619424" lvl="5" indent="-571500">
              <a:buFont typeface="Arial" panose="020B0604020202020204" pitchFamily="34" charset="0"/>
              <a:buChar char="•"/>
            </a:pPr>
            <a:r>
              <a:rPr lang="en-AU" sz="4400" dirty="0"/>
              <a:t>a laptop</a:t>
            </a:r>
          </a:p>
          <a:p>
            <a:pPr marL="3619424" lvl="5" indent="-571500">
              <a:buFont typeface="Arial" panose="020B0604020202020204" pitchFamily="34" charset="0"/>
              <a:buChar char="•"/>
            </a:pPr>
            <a:r>
              <a:rPr lang="en-AU" sz="4400" dirty="0"/>
              <a:t>a desk</a:t>
            </a:r>
          </a:p>
          <a:p>
            <a:pPr marL="3619424" lvl="5" indent="-571500">
              <a:buFont typeface="Arial" panose="020B0604020202020204" pitchFamily="34" charset="0"/>
              <a:buChar char="•"/>
            </a:pPr>
            <a:r>
              <a:rPr lang="en-AU" sz="4400" dirty="0"/>
              <a:t>	a swimming pool</a:t>
            </a:r>
          </a:p>
          <a:p>
            <a:pPr lvl="5"/>
            <a:r>
              <a:rPr lang="en-AU" sz="4400" dirty="0"/>
              <a:t>		</a:t>
            </a:r>
          </a:p>
        </p:txBody>
      </p:sp>
      <p:sp>
        <p:nvSpPr>
          <p:cNvPr id="9" name="TextBox 8">
            <a:extLst>
              <a:ext uri="{FF2B5EF4-FFF2-40B4-BE49-F238E27FC236}">
                <a16:creationId xmlns:a16="http://schemas.microsoft.com/office/drawing/2014/main" id="{030A12A2-4D0A-F666-B107-458CF655FBEC}"/>
              </a:ext>
            </a:extLst>
          </p:cNvPr>
          <p:cNvSpPr txBox="1"/>
          <p:nvPr/>
        </p:nvSpPr>
        <p:spPr>
          <a:xfrm>
            <a:off x="162674" y="5836559"/>
            <a:ext cx="11866652" cy="769441"/>
          </a:xfrm>
          <a:prstGeom prst="rect">
            <a:avLst/>
          </a:prstGeom>
          <a:noFill/>
        </p:spPr>
        <p:txBody>
          <a:bodyPr wrap="square">
            <a:spAutoFit/>
          </a:bodyPr>
          <a:lstStyle/>
          <a:p>
            <a:pPr algn="ctr"/>
            <a:r>
              <a:rPr lang="en-AU" sz="4400" b="1" dirty="0"/>
              <a:t>Communicate</a:t>
            </a:r>
            <a:r>
              <a:rPr lang="en-AU" sz="4400" dirty="0"/>
              <a:t> your </a:t>
            </a:r>
            <a:r>
              <a:rPr lang="en-AU" sz="4400" b="1" dirty="0"/>
              <a:t>reasoning</a:t>
            </a:r>
            <a:r>
              <a:rPr lang="en-AU" sz="4400" dirty="0"/>
              <a:t>.	</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F56BD30-D128-D885-EFCA-A73E9C892A0E}"/>
              </a:ext>
            </a:extLst>
          </p:cNvPr>
          <p:cNvSpPr txBox="1"/>
          <p:nvPr/>
        </p:nvSpPr>
        <p:spPr>
          <a:xfrm>
            <a:off x="1630375" y="1080959"/>
            <a:ext cx="8931248" cy="1446550"/>
          </a:xfrm>
          <a:prstGeom prst="rect">
            <a:avLst/>
          </a:prstGeom>
          <a:noFill/>
        </p:spPr>
        <p:txBody>
          <a:bodyPr wrap="square">
            <a:spAutoFit/>
          </a:bodyPr>
          <a:lstStyle/>
          <a:p>
            <a:pPr algn="ctr"/>
            <a:r>
              <a:rPr lang="en-AU" sz="4400"/>
              <a:t>Describe the </a:t>
            </a:r>
            <a:r>
              <a:rPr lang="en-AU" sz="4400" b="1"/>
              <a:t>route</a:t>
            </a:r>
            <a:r>
              <a:rPr lang="en-AU" sz="4400"/>
              <a:t> from the blue houses to the pond.</a:t>
            </a:r>
          </a:p>
        </p:txBody>
      </p:sp>
      <p:pic>
        <p:nvPicPr>
          <p:cNvPr id="7" name="Picture 6" descr="Map showing different locations">
            <a:extLst>
              <a:ext uri="{FF2B5EF4-FFF2-40B4-BE49-F238E27FC236}">
                <a16:creationId xmlns:a16="http://schemas.microsoft.com/office/drawing/2014/main" id="{93B8F872-2F5E-8DA6-F139-4579887F7312}"/>
              </a:ext>
            </a:extLst>
          </p:cNvPr>
          <p:cNvPicPr>
            <a:picLocks noChangeAspect="1"/>
          </p:cNvPicPr>
          <p:nvPr/>
        </p:nvPicPr>
        <p:blipFill>
          <a:blip r:embed="rId4"/>
          <a:stretch>
            <a:fillRect/>
          </a:stretch>
        </p:blipFill>
        <p:spPr>
          <a:xfrm>
            <a:off x="3026691" y="2409497"/>
            <a:ext cx="6138616" cy="4448503"/>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48000" y="325110"/>
            <a:ext cx="11484000" cy="545601"/>
          </a:xfrm>
        </p:spPr>
        <p:txBody>
          <a:bodyPr/>
          <a:lstStyle/>
          <a:p>
            <a:r>
              <a:rPr lang="en-AU" dirty="0"/>
              <a:t>Activity  1 – counting by tens</a:t>
            </a:r>
          </a:p>
        </p:txBody>
      </p:sp>
      <p:pic>
        <p:nvPicPr>
          <p:cNvPr id="2" name="Picture 1" descr="image of a head with cogs turning inside">
            <a:extLst>
              <a:ext uri="{FF2B5EF4-FFF2-40B4-BE49-F238E27FC236}">
                <a16:creationId xmlns:a16="http://schemas.microsoft.com/office/drawing/2014/main" id="{6AFDF09B-B207-A036-0968-20CE7D80C54A}"/>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0" name="TextBox 3">
            <a:extLst>
              <a:ext uri="{FF2B5EF4-FFF2-40B4-BE49-F238E27FC236}">
                <a16:creationId xmlns:a16="http://schemas.microsoft.com/office/drawing/2014/main" id="{BBD6AC7B-54A1-DE6E-10E4-03F0FDC05A31}"/>
              </a:ext>
            </a:extLst>
          </p:cNvPr>
          <p:cNvSpPr txBox="1"/>
          <p:nvPr/>
        </p:nvSpPr>
        <p:spPr>
          <a:xfrm>
            <a:off x="4228267" y="2730988"/>
            <a:ext cx="741687" cy="1396023"/>
          </a:xfrm>
          <a:prstGeom prst="rect">
            <a:avLst/>
          </a:prstGeom>
        </p:spPr>
        <p:txBody>
          <a:bodyPr wrap="square" lIns="0" tIns="0" rIns="0" bIns="0" rtlCol="0" anchor="t">
            <a:spAutoFit/>
          </a:bodyPr>
          <a:lstStyle/>
          <a:p>
            <a:pPr marL="0" marR="0" lvl="0" indent="0" algn="ctr" defTabSz="609585" rtl="0" eaLnBrk="1" fontAlgn="auto" latinLnBrk="0" hangingPunct="1">
              <a:lnSpc>
                <a:spcPts val="7129"/>
              </a:lnSpc>
              <a:spcBef>
                <a:spcPts val="0"/>
              </a:spcBef>
              <a:spcAft>
                <a:spcPts val="0"/>
              </a:spcAft>
              <a:buClrTx/>
              <a:buSzTx/>
              <a:buFontTx/>
              <a:buNone/>
              <a:tabLst/>
              <a:defRPr/>
            </a:pPr>
            <a:r>
              <a:rPr kumimoji="0" lang="en-US" b="0" i="0" u="none" strike="noStrike" kern="1200" cap="none" spc="0" normalizeH="0" baseline="0" noProof="0" dirty="0">
                <a:ln>
                  <a:noFill/>
                </a:ln>
                <a:solidFill>
                  <a:srgbClr val="0054C5"/>
                </a:solidFill>
                <a:effectLst/>
                <a:uLnTx/>
                <a:uFillTx/>
                <a:latin typeface="Arial" panose="020B0604020202020204" pitchFamily="34" charset="0"/>
                <a:ea typeface="Canva Student Font"/>
                <a:cs typeface="Arial" panose="020B0604020202020204" pitchFamily="34" charset="0"/>
                <a:sym typeface="Canva Student Font"/>
              </a:rPr>
              <a:t>Madi</a:t>
            </a:r>
          </a:p>
          <a:p>
            <a:pPr marL="0" marR="0" lvl="0" indent="0" algn="ctr" defTabSz="609585" rtl="0" eaLnBrk="1" fontAlgn="auto" latinLnBrk="0" hangingPunct="1">
              <a:lnSpc>
                <a:spcPct val="150000"/>
              </a:lnSpc>
              <a:spcBef>
                <a:spcPct val="0"/>
              </a:spcBef>
              <a:spcAft>
                <a:spcPts val="0"/>
              </a:spcAft>
              <a:buClrTx/>
              <a:buSzTx/>
              <a:buFontTx/>
              <a:buNone/>
              <a:tabLst/>
              <a:defRPr/>
            </a:pPr>
            <a:r>
              <a:rPr kumimoji="0" lang="en-US" b="0" i="0" u="none" strike="noStrike" kern="1200" cap="none" spc="0" normalizeH="0" baseline="0" noProof="0" dirty="0">
                <a:ln>
                  <a:noFill/>
                </a:ln>
                <a:solidFill>
                  <a:srgbClr val="F66A04"/>
                </a:solidFill>
                <a:effectLst/>
                <a:uLnTx/>
                <a:uFillTx/>
                <a:latin typeface="Arial" panose="020B0604020202020204" pitchFamily="34" charset="0"/>
                <a:ea typeface="Canva Student Font"/>
                <a:cs typeface="Arial" panose="020B0604020202020204" pitchFamily="34" charset="0"/>
                <a:sym typeface="Canva Student Font"/>
              </a:rPr>
              <a:t>Ruby</a:t>
            </a:r>
          </a:p>
        </p:txBody>
      </p:sp>
      <p:sp>
        <p:nvSpPr>
          <p:cNvPr id="7" name="TextBox 2">
            <a:extLst>
              <a:ext uri="{FF2B5EF4-FFF2-40B4-BE49-F238E27FC236}">
                <a16:creationId xmlns:a16="http://schemas.microsoft.com/office/drawing/2014/main" id="{3C4AE099-CE7F-658B-B51A-690DBBA543E8}"/>
              </a:ext>
            </a:extLst>
          </p:cNvPr>
          <p:cNvSpPr txBox="1"/>
          <p:nvPr/>
        </p:nvSpPr>
        <p:spPr>
          <a:xfrm>
            <a:off x="6183086" y="870711"/>
            <a:ext cx="3621558" cy="6644787"/>
          </a:xfrm>
          <a:prstGeom prst="rect">
            <a:avLst/>
          </a:prstGeom>
          <a:ln w="19050">
            <a:solidFill>
              <a:schemeClr val="bg1">
                <a:lumMod val="85000"/>
              </a:schemeClr>
            </a:solidFill>
          </a:ln>
        </p:spPr>
        <p:txBody>
          <a:bodyPr wrap="square" lIns="360000" tIns="180000" rIns="360000" bIns="180000" rtlCol="0" anchor="t">
            <a:spAutoFit/>
          </a:bodyPr>
          <a:lstStyle/>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00000"/>
                </a:solidFill>
                <a:effectLst/>
                <a:uLnTx/>
                <a:uFillTx/>
                <a:latin typeface="Arial" panose="020B0604020202020204" pitchFamily="34" charset="0"/>
                <a:ea typeface="Canva Student Font"/>
                <a:cs typeface="Arial" panose="020B0604020202020204" pitchFamily="34" charset="0"/>
                <a:sym typeface="Canva Student Font"/>
              </a:rPr>
              <a:t>Target number – 180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54C5"/>
                </a:solidFill>
                <a:effectLst/>
                <a:uLnTx/>
                <a:uFillTx/>
                <a:latin typeface="Arial" panose="020B0604020202020204" pitchFamily="34" charset="0"/>
                <a:ea typeface="Canva Student Font"/>
                <a:cs typeface="Arial" panose="020B0604020202020204" pitchFamily="34" charset="0"/>
                <a:sym typeface="Canva Student Font"/>
              </a:rPr>
              <a:t>10, 20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66A04"/>
                </a:solidFill>
                <a:effectLst/>
                <a:uLnTx/>
                <a:uFillTx/>
                <a:latin typeface="Arial" panose="020B0604020202020204" pitchFamily="34" charset="0"/>
                <a:ea typeface="Canva Student Font"/>
                <a:cs typeface="Arial" panose="020B0604020202020204" pitchFamily="34" charset="0"/>
                <a:sym typeface="Canva Student Font"/>
              </a:rPr>
              <a:t>30, 40, 50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54C5"/>
                </a:solidFill>
                <a:effectLst/>
                <a:uLnTx/>
                <a:uFillTx/>
                <a:latin typeface="Arial" panose="020B0604020202020204" pitchFamily="34" charset="0"/>
                <a:ea typeface="Canva Student Font"/>
                <a:cs typeface="Arial" panose="020B0604020202020204" pitchFamily="34" charset="0"/>
                <a:sym typeface="Canva Student Font"/>
              </a:rPr>
              <a:t>60, 70, 80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66A04"/>
                </a:solidFill>
                <a:effectLst/>
                <a:uLnTx/>
                <a:uFillTx/>
                <a:latin typeface="Arial" panose="020B0604020202020204" pitchFamily="34" charset="0"/>
                <a:ea typeface="Canva Student Font"/>
                <a:cs typeface="Arial" panose="020B0604020202020204" pitchFamily="34" charset="0"/>
                <a:sym typeface="Canva Student Font"/>
              </a:rPr>
              <a:t>90, 100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54C5"/>
                </a:solidFill>
                <a:effectLst/>
                <a:uLnTx/>
                <a:uFillTx/>
                <a:latin typeface="Arial" panose="020B0604020202020204" pitchFamily="34" charset="0"/>
                <a:ea typeface="Canva Student Font"/>
                <a:cs typeface="Arial" panose="020B0604020202020204" pitchFamily="34" charset="0"/>
                <a:sym typeface="Canva Student Font"/>
              </a:rPr>
              <a:t>110, 120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66A04"/>
                </a:solidFill>
                <a:effectLst/>
                <a:uLnTx/>
                <a:uFillTx/>
                <a:latin typeface="Arial" panose="020B0604020202020204" pitchFamily="34" charset="0"/>
                <a:ea typeface="Canva Student Font"/>
                <a:cs typeface="Arial" panose="020B0604020202020204" pitchFamily="34" charset="0"/>
                <a:sym typeface="Canva Student Font"/>
              </a:rPr>
              <a:t>130, 140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54C5"/>
                </a:solidFill>
                <a:effectLst/>
                <a:uLnTx/>
                <a:uFillTx/>
                <a:latin typeface="Arial" panose="020B0604020202020204" pitchFamily="34" charset="0"/>
                <a:ea typeface="Canva Student Font"/>
                <a:cs typeface="Arial" panose="020B0604020202020204" pitchFamily="34" charset="0"/>
                <a:sym typeface="Canva Student Font"/>
              </a:rPr>
              <a:t>150</a:t>
            </a:r>
          </a:p>
          <a:p>
            <a:pPr marL="0" marR="0" lvl="0" indent="0" algn="l" defTabSz="609585" rtl="0" eaLnBrk="1" fontAlgn="auto" latinLnBrk="0" hangingPunct="1">
              <a:lnSpc>
                <a:spcPct val="15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66A04"/>
                </a:solidFill>
                <a:effectLst/>
                <a:uLnTx/>
                <a:uFillTx/>
                <a:latin typeface="Arial" panose="020B0604020202020204" pitchFamily="34" charset="0"/>
                <a:ea typeface="Canva Student Font"/>
                <a:cs typeface="Arial" panose="020B0604020202020204" pitchFamily="34" charset="0"/>
                <a:sym typeface="Canva Student Font"/>
              </a:rPr>
              <a:t>160, 170, 180</a:t>
            </a:r>
          </a:p>
          <a:p>
            <a:pPr marL="0" marR="0" lvl="0" indent="0" algn="ctr" defTabSz="609585" rtl="0" eaLnBrk="1" fontAlgn="auto" latinLnBrk="0" hangingPunct="1">
              <a:lnSpc>
                <a:spcPts val="7129"/>
              </a:lnSpc>
              <a:spcBef>
                <a:spcPct val="0"/>
              </a:spcBef>
              <a:spcAft>
                <a:spcPts val="0"/>
              </a:spcAft>
              <a:buClrTx/>
              <a:buSzTx/>
              <a:buFontTx/>
              <a:buNone/>
              <a:tabLst/>
              <a:defRPr/>
            </a:pPr>
            <a:endParaRPr kumimoji="0" lang="en-US" sz="2000" b="0" i="0" u="none" strike="noStrike" kern="1200" cap="none" spc="0" normalizeH="0" baseline="0" noProof="0" dirty="0">
              <a:ln>
                <a:noFill/>
              </a:ln>
              <a:solidFill>
                <a:srgbClr val="F66A04"/>
              </a:solidFill>
              <a:effectLst/>
              <a:uLnTx/>
              <a:uFillTx/>
              <a:latin typeface="Arial" panose="020B0604020202020204" pitchFamily="34" charset="0"/>
              <a:ea typeface="Canva Student Font"/>
              <a:cs typeface="Arial" panose="020B0604020202020204" pitchFamily="34" charset="0"/>
              <a:sym typeface="Canva Student Font"/>
            </a:endParaRPr>
          </a:p>
        </p:txBody>
      </p:sp>
    </p:spTree>
    <p:extLst>
      <p:ext uri="{BB962C8B-B14F-4D97-AF65-F5344CB8AC3E}">
        <p14:creationId xmlns:p14="http://schemas.microsoft.com/office/powerpoint/2010/main" val="955180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dirty="0"/>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260303" y="2242215"/>
            <a:ext cx="4241602" cy="893226"/>
          </a:xfrm>
        </p:spPr>
        <p:txBody>
          <a:bodyPr vert="horz" lIns="0" tIns="0" rIns="0" bIns="0" rtlCol="0" anchor="t">
            <a:noAutofit/>
          </a:bodyPr>
          <a:lstStyle/>
          <a:p>
            <a:r>
              <a:rPr lang="en-AU" sz="6000" dirty="0">
                <a:latin typeface="Arial"/>
                <a:cs typeface="Arial"/>
              </a:rPr>
              <a:t>7 x 10 = 700</a:t>
            </a:r>
            <a:endParaRPr lang="en-AU" sz="6000" dirty="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45E57675-D98E-66E9-A1C2-02C21C7F5CB8}"/>
              </a:ext>
            </a:extLst>
          </p:cNvPr>
          <p:cNvSpPr txBox="1"/>
          <p:nvPr/>
        </p:nvSpPr>
        <p:spPr>
          <a:xfrm>
            <a:off x="746635" y="905601"/>
            <a:ext cx="10698729" cy="387798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b="1" dirty="0">
                <a:cs typeface="Arial"/>
              </a:rPr>
              <a:t>Data</a:t>
            </a:r>
            <a:r>
              <a:rPr lang="en-US" sz="4400" dirty="0">
                <a:cs typeface="Arial"/>
              </a:rPr>
              <a:t> was collected from students in class KD about their </a:t>
            </a:r>
            <a:r>
              <a:rPr lang="en-US" sz="4400" dirty="0" err="1">
                <a:cs typeface="Arial"/>
              </a:rPr>
              <a:t>favourite</a:t>
            </a:r>
            <a:r>
              <a:rPr lang="en-US" sz="4400" dirty="0">
                <a:cs typeface="Arial" panose="020B0604020202020204"/>
              </a:rPr>
              <a:t> sports. </a:t>
            </a:r>
            <a:endParaRPr lang="en-US" sz="4400" dirty="0"/>
          </a:p>
          <a:p>
            <a:pPr algn="ctr">
              <a:lnSpc>
                <a:spcPct val="150000"/>
              </a:lnSpc>
            </a:pPr>
            <a:r>
              <a:rPr lang="en-US" sz="4400" dirty="0">
                <a:cs typeface="Arial" panose="020B0604020202020204"/>
              </a:rPr>
              <a:t>Represent this</a:t>
            </a:r>
            <a:r>
              <a:rPr lang="en-US" sz="4400" b="1" dirty="0">
                <a:cs typeface="Arial" panose="020B0604020202020204"/>
              </a:rPr>
              <a:t> data</a:t>
            </a:r>
            <a:r>
              <a:rPr lang="en-US" sz="4400" dirty="0">
                <a:cs typeface="Arial" panose="020B0604020202020204"/>
              </a:rPr>
              <a:t> in a </a:t>
            </a:r>
            <a:r>
              <a:rPr lang="en-US" sz="4400" b="1" dirty="0">
                <a:cs typeface="Arial" panose="020B0604020202020204"/>
              </a:rPr>
              <a:t>dot plot.</a:t>
            </a:r>
          </a:p>
          <a:p>
            <a:endParaRPr lang="en-US" sz="1800" dirty="0">
              <a:cs typeface="Arial" panose="020B0604020202020204"/>
            </a:endParaRPr>
          </a:p>
          <a:p>
            <a:endParaRPr lang="en-US" sz="1800" dirty="0">
              <a:cs typeface="Arial" panose="020B0604020202020204"/>
            </a:endParaRPr>
          </a:p>
          <a:p>
            <a:endParaRPr lang="en-US" sz="1800" dirty="0">
              <a:cs typeface="Arial" panose="020B0604020202020204"/>
            </a:endParaRPr>
          </a:p>
        </p:txBody>
      </p:sp>
      <p:graphicFrame>
        <p:nvGraphicFramePr>
          <p:cNvPr id="8" name="Table 7">
            <a:extLst>
              <a:ext uri="{FF2B5EF4-FFF2-40B4-BE49-F238E27FC236}">
                <a16:creationId xmlns:a16="http://schemas.microsoft.com/office/drawing/2014/main" id="{C023BF6F-EF7E-2B18-B468-1615AC6311B9}"/>
              </a:ext>
            </a:extLst>
          </p:cNvPr>
          <p:cNvGraphicFramePr>
            <a:graphicFrameLocks noGrp="1"/>
          </p:cNvGraphicFramePr>
          <p:nvPr>
            <p:extLst>
              <p:ext uri="{D42A27DB-BD31-4B8C-83A1-F6EECF244321}">
                <p14:modId xmlns:p14="http://schemas.microsoft.com/office/powerpoint/2010/main" val="1124047139"/>
              </p:ext>
            </p:extLst>
          </p:nvPr>
        </p:nvGraphicFramePr>
        <p:xfrm>
          <a:off x="3373120" y="3937680"/>
          <a:ext cx="5445760" cy="2560320"/>
        </p:xfrm>
        <a:graphic>
          <a:graphicData uri="http://schemas.openxmlformats.org/drawingml/2006/table">
            <a:tbl>
              <a:tblPr firstRow="1" bandRow="1">
                <a:tableStyleId>{5940675A-B579-460E-94D1-54222C63F5DA}</a:tableStyleId>
              </a:tblPr>
              <a:tblGrid>
                <a:gridCol w="2722880">
                  <a:extLst>
                    <a:ext uri="{9D8B030D-6E8A-4147-A177-3AD203B41FA5}">
                      <a16:colId xmlns:a16="http://schemas.microsoft.com/office/drawing/2014/main" val="2605925536"/>
                    </a:ext>
                  </a:extLst>
                </a:gridCol>
                <a:gridCol w="2722880">
                  <a:extLst>
                    <a:ext uri="{9D8B030D-6E8A-4147-A177-3AD203B41FA5}">
                      <a16:colId xmlns:a16="http://schemas.microsoft.com/office/drawing/2014/main" val="729552409"/>
                    </a:ext>
                  </a:extLst>
                </a:gridCol>
              </a:tblGrid>
              <a:tr h="370840">
                <a:tc>
                  <a:txBody>
                    <a:bodyPr/>
                    <a:lstStyle/>
                    <a:p>
                      <a:r>
                        <a:rPr lang="en-US" sz="3600" dirty="0"/>
                        <a:t>Football</a:t>
                      </a:r>
                    </a:p>
                  </a:txBody>
                  <a:tcPr/>
                </a:tc>
                <a:tc>
                  <a:txBody>
                    <a:bodyPr/>
                    <a:lstStyle/>
                    <a:p>
                      <a:r>
                        <a:rPr lang="en-US" sz="3600" dirty="0"/>
                        <a:t>8</a:t>
                      </a:r>
                    </a:p>
                  </a:txBody>
                  <a:tcPr/>
                </a:tc>
                <a:extLst>
                  <a:ext uri="{0D108BD9-81ED-4DB2-BD59-A6C34878D82A}">
                    <a16:rowId xmlns:a16="http://schemas.microsoft.com/office/drawing/2014/main" val="3143062554"/>
                  </a:ext>
                </a:extLst>
              </a:tr>
              <a:tr h="370840">
                <a:tc>
                  <a:txBody>
                    <a:bodyPr/>
                    <a:lstStyle/>
                    <a:p>
                      <a:r>
                        <a:rPr lang="en-US" sz="3600" dirty="0"/>
                        <a:t>AFL</a:t>
                      </a:r>
                    </a:p>
                  </a:txBody>
                  <a:tcPr/>
                </a:tc>
                <a:tc>
                  <a:txBody>
                    <a:bodyPr/>
                    <a:lstStyle/>
                    <a:p>
                      <a:r>
                        <a:rPr lang="en-US" sz="3600" dirty="0"/>
                        <a:t>7</a:t>
                      </a:r>
                    </a:p>
                  </a:txBody>
                  <a:tcPr/>
                </a:tc>
                <a:extLst>
                  <a:ext uri="{0D108BD9-81ED-4DB2-BD59-A6C34878D82A}">
                    <a16:rowId xmlns:a16="http://schemas.microsoft.com/office/drawing/2014/main" val="1537105801"/>
                  </a:ext>
                </a:extLst>
              </a:tr>
              <a:tr h="370840">
                <a:tc>
                  <a:txBody>
                    <a:bodyPr/>
                    <a:lstStyle/>
                    <a:p>
                      <a:r>
                        <a:rPr lang="en-US" sz="3600" dirty="0"/>
                        <a:t>Netball</a:t>
                      </a:r>
                    </a:p>
                  </a:txBody>
                  <a:tcPr/>
                </a:tc>
                <a:tc>
                  <a:txBody>
                    <a:bodyPr/>
                    <a:lstStyle/>
                    <a:p>
                      <a:r>
                        <a:rPr lang="en-US" sz="3600" dirty="0"/>
                        <a:t>4</a:t>
                      </a:r>
                    </a:p>
                  </a:txBody>
                  <a:tcPr/>
                </a:tc>
                <a:extLst>
                  <a:ext uri="{0D108BD9-81ED-4DB2-BD59-A6C34878D82A}">
                    <a16:rowId xmlns:a16="http://schemas.microsoft.com/office/drawing/2014/main" val="3295193186"/>
                  </a:ext>
                </a:extLst>
              </a:tr>
              <a:tr h="370840">
                <a:tc>
                  <a:txBody>
                    <a:bodyPr/>
                    <a:lstStyle/>
                    <a:p>
                      <a:r>
                        <a:rPr lang="en-US" sz="3600" dirty="0"/>
                        <a:t>Tennis </a:t>
                      </a:r>
                    </a:p>
                  </a:txBody>
                  <a:tcPr/>
                </a:tc>
                <a:tc>
                  <a:txBody>
                    <a:bodyPr/>
                    <a:lstStyle/>
                    <a:p>
                      <a:r>
                        <a:rPr lang="en-US" sz="3600" dirty="0"/>
                        <a:t>2</a:t>
                      </a:r>
                    </a:p>
                  </a:txBody>
                  <a:tcPr/>
                </a:tc>
                <a:extLst>
                  <a:ext uri="{0D108BD9-81ED-4DB2-BD59-A6C34878D82A}">
                    <a16:rowId xmlns:a16="http://schemas.microsoft.com/office/drawing/2014/main" val="3603576686"/>
                  </a:ext>
                </a:extLst>
              </a:tr>
            </a:tbl>
          </a:graphicData>
        </a:graphic>
      </p:graphicFrame>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(6)</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13CC0648-DCF0-31D0-3C96-1A0ABC8A1986}"/>
              </a:ext>
            </a:extLst>
          </p:cNvPr>
          <p:cNvSpPr txBox="1"/>
          <p:nvPr/>
        </p:nvSpPr>
        <p:spPr>
          <a:xfrm>
            <a:off x="101600" y="726473"/>
            <a:ext cx="11988800" cy="982513"/>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Record </a:t>
            </a:r>
            <a:r>
              <a:rPr kumimoji="0" lang="en-AU" sz="4400" i="0" u="none" strike="noStrike" kern="1200" cap="none" spc="0" normalizeH="0" baseline="0" noProof="0">
                <a:ln>
                  <a:noFill/>
                </a:ln>
                <a:solidFill>
                  <a:srgbClr val="22272B"/>
                </a:solidFill>
                <a:effectLst/>
                <a:uLnTx/>
                <a:uFillTx/>
                <a:latin typeface="Arial" panose="020B0604020202020204"/>
                <a:ea typeface="+mn-ea"/>
                <a:cs typeface="+mn-cs"/>
              </a:rPr>
              <a:t>the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missing</a:t>
            </a:r>
            <a:r>
              <a:rPr kumimoji="0" lang="en-AU" sz="4400" i="0" u="none" strike="noStrike" kern="1200" cap="none" spc="0" normalizeH="0" baseline="0" noProof="0">
                <a:ln>
                  <a:noFill/>
                </a:ln>
                <a:solidFill>
                  <a:srgbClr val="22272B"/>
                </a:solidFill>
                <a:effectLst/>
                <a:uLnTx/>
                <a:uFillTx/>
                <a:latin typeface="Arial" panose="020B0604020202020204"/>
                <a:ea typeface="+mn-ea"/>
                <a:cs typeface="+mn-cs"/>
              </a:rPr>
              <a:t> fraction parts.</a:t>
            </a:r>
          </a:p>
        </p:txBody>
      </p:sp>
      <p:pic>
        <p:nvPicPr>
          <p:cNvPr id="5" name="Picture 4" descr="A fraction wall with parts missing.">
            <a:extLst>
              <a:ext uri="{FF2B5EF4-FFF2-40B4-BE49-F238E27FC236}">
                <a16:creationId xmlns:a16="http://schemas.microsoft.com/office/drawing/2014/main" id="{D0B7AD42-850E-9281-8AC0-B00A3A2B746E}"/>
              </a:ext>
            </a:extLst>
          </p:cNvPr>
          <p:cNvPicPr>
            <a:picLocks noChangeAspect="1"/>
          </p:cNvPicPr>
          <p:nvPr/>
        </p:nvPicPr>
        <p:blipFill>
          <a:blip r:embed="rId4"/>
          <a:stretch>
            <a:fillRect/>
          </a:stretch>
        </p:blipFill>
        <p:spPr>
          <a:xfrm>
            <a:off x="3626400" y="1747521"/>
            <a:ext cx="4939200" cy="48686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7815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7" name="Picture 16" descr="A trapezium with the parallel sides labelled 10cm and 6 cm. One of the non parallel sides is labelled 5 cm.">
            <a:extLst>
              <a:ext uri="{FF2B5EF4-FFF2-40B4-BE49-F238E27FC236}">
                <a16:creationId xmlns:a16="http://schemas.microsoft.com/office/drawing/2014/main" id="{3EC6184F-0EA5-B4E1-29B3-7243A17C4713}"/>
              </a:ext>
            </a:extLst>
          </p:cNvPr>
          <p:cNvPicPr>
            <a:picLocks noChangeAspect="1"/>
          </p:cNvPicPr>
          <p:nvPr/>
        </p:nvPicPr>
        <p:blipFill>
          <a:blip r:embed="rId4"/>
          <a:srcRect t="2343" b="-1"/>
          <a:stretch>
            <a:fillRect/>
          </a:stretch>
        </p:blipFill>
        <p:spPr>
          <a:xfrm>
            <a:off x="813521" y="3198338"/>
            <a:ext cx="4965949" cy="3023459"/>
          </a:xfrm>
          <a:prstGeom prst="rect">
            <a:avLst/>
          </a:prstGeom>
        </p:spPr>
      </p:pic>
      <p:pic>
        <p:nvPicPr>
          <p:cNvPr id="19" name="Picture 18" descr="A square with 2 sides labelled with 5 cm.">
            <a:extLst>
              <a:ext uri="{FF2B5EF4-FFF2-40B4-BE49-F238E27FC236}">
                <a16:creationId xmlns:a16="http://schemas.microsoft.com/office/drawing/2014/main" id="{A80E28E9-613A-6317-13F2-E94E453010B8}"/>
              </a:ext>
            </a:extLst>
          </p:cNvPr>
          <p:cNvPicPr>
            <a:picLocks noChangeAspect="1"/>
          </p:cNvPicPr>
          <p:nvPr/>
        </p:nvPicPr>
        <p:blipFill>
          <a:blip r:embed="rId5"/>
          <a:stretch>
            <a:fillRect/>
          </a:stretch>
        </p:blipFill>
        <p:spPr>
          <a:xfrm>
            <a:off x="7979925" y="3429000"/>
            <a:ext cx="3398554" cy="2717929"/>
          </a:xfrm>
          <a:prstGeom prst="rect">
            <a:avLst/>
          </a:prstGeom>
        </p:spPr>
      </p:pic>
      <p:sp>
        <p:nvSpPr>
          <p:cNvPr id="10" name="TextBox 9">
            <a:extLst>
              <a:ext uri="{FF2B5EF4-FFF2-40B4-BE49-F238E27FC236}">
                <a16:creationId xmlns:a16="http://schemas.microsoft.com/office/drawing/2014/main" id="{159E8E4C-3891-E3CF-1728-1C3023978F5C}"/>
              </a:ext>
            </a:extLst>
          </p:cNvPr>
          <p:cNvSpPr txBox="1"/>
          <p:nvPr/>
        </p:nvSpPr>
        <p:spPr>
          <a:xfrm>
            <a:off x="460625" y="828288"/>
            <a:ext cx="11270749" cy="5478423"/>
          </a:xfrm>
          <a:prstGeom prst="rect">
            <a:avLst/>
          </a:prstGeom>
          <a:noFill/>
        </p:spPr>
        <p:txBody>
          <a:bodyPr wrap="square">
            <a:spAutoFit/>
          </a:bodyPr>
          <a:lstStyle/>
          <a:p>
            <a:pPr algn="ctr"/>
            <a:r>
              <a:rPr lang="en-AU" sz="4400"/>
              <a:t>Which quadrilateral has the greater </a:t>
            </a:r>
            <a:r>
              <a:rPr lang="en-AU" sz="4400" b="1"/>
              <a:t>perimeter</a:t>
            </a:r>
            <a:r>
              <a:rPr lang="en-AU" sz="4400"/>
              <a:t>?</a:t>
            </a:r>
          </a:p>
          <a:p>
            <a:pPr algn="ctr"/>
            <a:endParaRPr lang="en-AU" sz="4400"/>
          </a:p>
          <a:p>
            <a:pPr algn="ctr"/>
            <a:endParaRPr lang="en-AU" sz="4400"/>
          </a:p>
          <a:p>
            <a:pPr algn="ctr"/>
            <a:endParaRPr lang="en-AU" sz="4400"/>
          </a:p>
          <a:p>
            <a:pPr algn="ctr"/>
            <a:endParaRPr lang="en-AU" sz="4400"/>
          </a:p>
          <a:p>
            <a:pPr algn="ctr"/>
            <a:endParaRPr lang="en-AU" sz="1800"/>
          </a:p>
          <a:p>
            <a:pPr algn="ctr"/>
            <a:r>
              <a:rPr lang="en-AU" sz="4400"/>
              <a:t> </a:t>
            </a:r>
          </a:p>
          <a:p>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89798F1-D8AC-FAE5-FCAF-116B2596AAE5}"/>
              </a:ext>
            </a:extLst>
          </p:cNvPr>
          <p:cNvSpPr txBox="1"/>
          <p:nvPr/>
        </p:nvSpPr>
        <p:spPr>
          <a:xfrm>
            <a:off x="360000" y="948921"/>
            <a:ext cx="10764000" cy="1998176"/>
          </a:xfrm>
          <a:prstGeom prst="rect">
            <a:avLst/>
          </a:prstGeom>
          <a:noFill/>
        </p:spPr>
        <p:txBody>
          <a:bodyPr wrap="square">
            <a:spAutoFit/>
          </a:bodyPr>
          <a:lstStyle/>
          <a:p>
            <a:pPr>
              <a:lnSpc>
                <a:spcPct val="150000"/>
              </a:lnSpc>
            </a:pPr>
            <a:r>
              <a:rPr lang="en-AU" sz="4400" dirty="0"/>
              <a:t>Name the shapes below that have </a:t>
            </a:r>
            <a:r>
              <a:rPr lang="en-AU" sz="4400" b="1" dirty="0"/>
              <a:t>right angles</a:t>
            </a:r>
            <a:r>
              <a:rPr lang="en-AU" sz="4400" dirty="0"/>
              <a:t>.</a:t>
            </a:r>
          </a:p>
        </p:txBody>
      </p:sp>
      <p:pic>
        <p:nvPicPr>
          <p:cNvPr id="15" name="Picture 14" descr="A group of shapes. e top row, from left to right they are a square, a rectangle and a circle. On the bow row there is a  right angle triangle and a trapezium.">
            <a:extLst>
              <a:ext uri="{FF2B5EF4-FFF2-40B4-BE49-F238E27FC236}">
                <a16:creationId xmlns:a16="http://schemas.microsoft.com/office/drawing/2014/main" id="{74CEDE99-18E4-1FB8-5914-366AFEFC1AE4}"/>
              </a:ext>
            </a:extLst>
          </p:cNvPr>
          <p:cNvPicPr>
            <a:picLocks noChangeAspect="1"/>
          </p:cNvPicPr>
          <p:nvPr/>
        </p:nvPicPr>
        <p:blipFill>
          <a:blip r:embed="rId4"/>
          <a:stretch>
            <a:fillRect/>
          </a:stretch>
        </p:blipFill>
        <p:spPr>
          <a:xfrm>
            <a:off x="1958762" y="2775658"/>
            <a:ext cx="8274475" cy="3740342"/>
          </a:xfrm>
          <a:prstGeom prst="rect">
            <a:avLst/>
          </a:prstGeom>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t>Activity 2 – multiply by 10 (1)</a:t>
            </a:r>
          </a:p>
        </p:txBody>
      </p:sp>
      <p:pic>
        <p:nvPicPr>
          <p:cNvPr id="10" name="Picture 9" descr="image of a head with cogs turning inside">
            <a:extLst>
              <a:ext uri="{FF2B5EF4-FFF2-40B4-BE49-F238E27FC236}">
                <a16:creationId xmlns:a16="http://schemas.microsoft.com/office/drawing/2014/main" id="{2A8A45C9-5398-BF8A-0ADE-37AF25D7B620}"/>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12" name="Table 2" descr="Multiples madness gameboard- number across 0,10, 40. 80, 60&#10;second row is 30,70, 20, 50, 30. The third row is 50, 20, 0, 40, 60. The fourth row is 90, 10, 70, 80, 50. The last row is 40, 60, 30, 90 and 20.">
            <a:extLst>
              <a:ext uri="{FF2B5EF4-FFF2-40B4-BE49-F238E27FC236}">
                <a16:creationId xmlns:a16="http://schemas.microsoft.com/office/drawing/2014/main" id="{8F33AF6C-133F-57A3-A39D-778F1039AF9E}"/>
              </a:ext>
            </a:extLst>
          </p:cNvPr>
          <p:cNvGraphicFramePr>
            <a:graphicFrameLocks noGrp="1"/>
          </p:cNvGraphicFramePr>
          <p:nvPr>
            <p:extLst>
              <p:ext uri="{D42A27DB-BD31-4B8C-83A1-F6EECF244321}">
                <p14:modId xmlns:p14="http://schemas.microsoft.com/office/powerpoint/2010/main" val="2852969770"/>
              </p:ext>
            </p:extLst>
          </p:nvPr>
        </p:nvGraphicFramePr>
        <p:xfrm>
          <a:off x="4034787" y="1220575"/>
          <a:ext cx="4122425" cy="4133375"/>
        </p:xfrm>
        <a:graphic>
          <a:graphicData uri="http://schemas.openxmlformats.org/drawingml/2006/table">
            <a:tbl>
              <a:tblPr/>
              <a:tblGrid>
                <a:gridCol w="824485">
                  <a:extLst>
                    <a:ext uri="{9D8B030D-6E8A-4147-A177-3AD203B41FA5}">
                      <a16:colId xmlns:a16="http://schemas.microsoft.com/office/drawing/2014/main" val="20000"/>
                    </a:ext>
                  </a:extLst>
                </a:gridCol>
                <a:gridCol w="824485">
                  <a:extLst>
                    <a:ext uri="{9D8B030D-6E8A-4147-A177-3AD203B41FA5}">
                      <a16:colId xmlns:a16="http://schemas.microsoft.com/office/drawing/2014/main" val="20001"/>
                    </a:ext>
                  </a:extLst>
                </a:gridCol>
                <a:gridCol w="824485">
                  <a:extLst>
                    <a:ext uri="{9D8B030D-6E8A-4147-A177-3AD203B41FA5}">
                      <a16:colId xmlns:a16="http://schemas.microsoft.com/office/drawing/2014/main" val="20002"/>
                    </a:ext>
                  </a:extLst>
                </a:gridCol>
                <a:gridCol w="824485">
                  <a:extLst>
                    <a:ext uri="{9D8B030D-6E8A-4147-A177-3AD203B41FA5}">
                      <a16:colId xmlns:a16="http://schemas.microsoft.com/office/drawing/2014/main" val="20003"/>
                    </a:ext>
                  </a:extLst>
                </a:gridCol>
                <a:gridCol w="824485">
                  <a:extLst>
                    <a:ext uri="{9D8B030D-6E8A-4147-A177-3AD203B41FA5}">
                      <a16:colId xmlns:a16="http://schemas.microsoft.com/office/drawing/2014/main" val="20004"/>
                    </a:ext>
                  </a:extLst>
                </a:gridCol>
              </a:tblGrid>
              <a:tr h="826675">
                <a:tc>
                  <a:txBody>
                    <a:bodyPr/>
                    <a:lstStyle/>
                    <a:p>
                      <a:pPr algn="ctr">
                        <a:lnSpc>
                          <a:spcPts val="3359"/>
                        </a:lnSpc>
                        <a:defRPr/>
                      </a:pPr>
                      <a:r>
                        <a:rPr lang="en-US" sz="1800">
                          <a:solidFill>
                            <a:srgbClr val="000000"/>
                          </a:solidFill>
                          <a:latin typeface="Public Sans"/>
                          <a:ea typeface="Public Sans"/>
                          <a:cs typeface="Public Sans"/>
                          <a:sym typeface="Public Sans"/>
                        </a:rPr>
                        <a:t>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10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40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dirty="0">
                          <a:solidFill>
                            <a:srgbClr val="000000"/>
                          </a:solidFill>
                          <a:latin typeface="Public Sans"/>
                          <a:ea typeface="Public Sans"/>
                          <a:cs typeface="Public Sans"/>
                          <a:sym typeface="Public Sans"/>
                        </a:rPr>
                        <a:t>80</a:t>
                      </a:r>
                      <a:endParaRPr lang="en-US" sz="1800" dirty="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60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6675">
                <a:tc>
                  <a:txBody>
                    <a:bodyPr/>
                    <a:lstStyle/>
                    <a:p>
                      <a:pPr algn="ctr">
                        <a:lnSpc>
                          <a:spcPts val="2799"/>
                        </a:lnSpc>
                        <a:defRPr/>
                      </a:pPr>
                      <a:r>
                        <a:rPr lang="en-US" sz="1800">
                          <a:solidFill>
                            <a:srgbClr val="000000"/>
                          </a:solidFill>
                          <a:latin typeface="Public Sans"/>
                          <a:ea typeface="Public Sans"/>
                          <a:cs typeface="Public Sans"/>
                          <a:sym typeface="Public Sans"/>
                        </a:rPr>
                        <a:t>30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70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dirty="0">
                          <a:solidFill>
                            <a:srgbClr val="000000"/>
                          </a:solidFill>
                          <a:latin typeface="Public Sans"/>
                          <a:ea typeface="Public Sans"/>
                          <a:cs typeface="Public Sans"/>
                          <a:sym typeface="Public Sans"/>
                        </a:rPr>
                        <a:t>20</a:t>
                      </a:r>
                      <a:endParaRPr lang="en-US" sz="1800" dirty="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dirty="0">
                          <a:solidFill>
                            <a:srgbClr val="000000"/>
                          </a:solidFill>
                          <a:latin typeface="Public Sans"/>
                          <a:ea typeface="Public Sans"/>
                          <a:cs typeface="Public Sans"/>
                          <a:sym typeface="Public Sans"/>
                        </a:rPr>
                        <a:t>50</a:t>
                      </a:r>
                      <a:endParaRPr lang="en-US" sz="1800" dirty="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30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6675">
                <a:tc>
                  <a:txBody>
                    <a:bodyPr/>
                    <a:lstStyle/>
                    <a:p>
                      <a:pPr algn="ctr">
                        <a:lnSpc>
                          <a:spcPts val="2799"/>
                        </a:lnSpc>
                        <a:defRPr/>
                      </a:pPr>
                      <a:r>
                        <a:rPr lang="en-US" sz="1800">
                          <a:solidFill>
                            <a:srgbClr val="000000"/>
                          </a:solidFill>
                          <a:latin typeface="Public Sans"/>
                          <a:ea typeface="Public Sans"/>
                          <a:cs typeface="Public Sans"/>
                          <a:sym typeface="Public Sans"/>
                        </a:rPr>
                        <a:t>50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20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40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60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6675">
                <a:tc>
                  <a:txBody>
                    <a:bodyPr/>
                    <a:lstStyle/>
                    <a:p>
                      <a:pPr algn="ctr">
                        <a:lnSpc>
                          <a:spcPts val="2799"/>
                        </a:lnSpc>
                        <a:defRPr/>
                      </a:pPr>
                      <a:r>
                        <a:rPr lang="en-US" sz="1800">
                          <a:solidFill>
                            <a:srgbClr val="000000"/>
                          </a:solidFill>
                          <a:latin typeface="Public Sans"/>
                          <a:ea typeface="Public Sans"/>
                          <a:cs typeface="Public Sans"/>
                          <a:sym typeface="Public Sans"/>
                        </a:rPr>
                        <a:t>90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10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70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80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50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26675">
                <a:tc>
                  <a:txBody>
                    <a:bodyPr/>
                    <a:lstStyle/>
                    <a:p>
                      <a:pPr algn="ctr">
                        <a:lnSpc>
                          <a:spcPts val="2799"/>
                        </a:lnSpc>
                        <a:defRPr/>
                      </a:pPr>
                      <a:r>
                        <a:rPr lang="en-US" sz="1800">
                          <a:solidFill>
                            <a:srgbClr val="000000"/>
                          </a:solidFill>
                          <a:latin typeface="Public Sans"/>
                          <a:ea typeface="Public Sans"/>
                          <a:cs typeface="Public Sans"/>
                          <a:sym typeface="Public Sans"/>
                        </a:rPr>
                        <a:t>40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60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a:solidFill>
                            <a:srgbClr val="000000"/>
                          </a:solidFill>
                          <a:latin typeface="Public Sans"/>
                          <a:ea typeface="Public Sans"/>
                          <a:cs typeface="Public Sans"/>
                          <a:sym typeface="Public Sans"/>
                        </a:rPr>
                        <a:t>30</a:t>
                      </a:r>
                      <a:endParaRPr lang="en-US" sz="180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dirty="0">
                          <a:solidFill>
                            <a:srgbClr val="000000"/>
                          </a:solidFill>
                          <a:latin typeface="Public Sans"/>
                          <a:ea typeface="Public Sans"/>
                          <a:cs typeface="Public Sans"/>
                          <a:sym typeface="Public Sans"/>
                        </a:rPr>
                        <a:t>90</a:t>
                      </a:r>
                      <a:endParaRPr lang="en-US" sz="1800" dirty="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800" dirty="0">
                          <a:solidFill>
                            <a:srgbClr val="000000"/>
                          </a:solidFill>
                          <a:latin typeface="Public Sans"/>
                          <a:ea typeface="Public Sans"/>
                          <a:cs typeface="Public Sans"/>
                          <a:sym typeface="Public Sans"/>
                        </a:rPr>
                        <a:t>20</a:t>
                      </a:r>
                      <a:endParaRPr lang="en-US" sz="1800" dirty="0"/>
                    </a:p>
                  </a:txBody>
                  <a:tcPr marL="63523" marR="63523" marT="63523" marB="63523"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Oval 12" descr="Blue counter">
            <a:extLst>
              <a:ext uri="{FF2B5EF4-FFF2-40B4-BE49-F238E27FC236}">
                <a16:creationId xmlns:a16="http://schemas.microsoft.com/office/drawing/2014/main" id="{F8ADA398-9EA6-52CF-4BB8-C5646EFA7EAE}"/>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4" name="Oval 13" descr="Blue counter">
            <a:extLst>
              <a:ext uri="{FF2B5EF4-FFF2-40B4-BE49-F238E27FC236}">
                <a16:creationId xmlns:a16="http://schemas.microsoft.com/office/drawing/2014/main" id="{90BCDE31-EBB9-3609-30B4-3F4BB0D5705A}"/>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5" name="Oval 14" descr="Blue counter">
            <a:extLst>
              <a:ext uri="{FF2B5EF4-FFF2-40B4-BE49-F238E27FC236}">
                <a16:creationId xmlns:a16="http://schemas.microsoft.com/office/drawing/2014/main" id="{05F0374D-AA1C-9135-CC34-228A4F1E130C}"/>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6" name="Oval 15" descr="Blue counter">
            <a:extLst>
              <a:ext uri="{FF2B5EF4-FFF2-40B4-BE49-F238E27FC236}">
                <a16:creationId xmlns:a16="http://schemas.microsoft.com/office/drawing/2014/main" id="{C520E384-BAB9-A2B2-F0E1-D3F6566ABF26}"/>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8" name="Oval 17" descr="Blue counter">
            <a:extLst>
              <a:ext uri="{FF2B5EF4-FFF2-40B4-BE49-F238E27FC236}">
                <a16:creationId xmlns:a16="http://schemas.microsoft.com/office/drawing/2014/main" id="{08F3624F-2CC5-5915-A2E9-E01C88B81BE6}"/>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9" name="Oval 18" descr="Blue counter">
            <a:extLst>
              <a:ext uri="{FF2B5EF4-FFF2-40B4-BE49-F238E27FC236}">
                <a16:creationId xmlns:a16="http://schemas.microsoft.com/office/drawing/2014/main" id="{9538E39A-D086-2F21-D527-81618A3C92D0}"/>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0" name="Oval 19" descr="Blue counter">
            <a:extLst>
              <a:ext uri="{FF2B5EF4-FFF2-40B4-BE49-F238E27FC236}">
                <a16:creationId xmlns:a16="http://schemas.microsoft.com/office/drawing/2014/main" id="{CB5315BA-2827-3918-24BD-FD46B1F0E8C6}"/>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7" name="Oval 16" descr="Blue counter">
            <a:extLst>
              <a:ext uri="{FF2B5EF4-FFF2-40B4-BE49-F238E27FC236}">
                <a16:creationId xmlns:a16="http://schemas.microsoft.com/office/drawing/2014/main" id="{98F4C2A8-F707-86CF-5FD6-2F25E9714619}"/>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1" name="Oval 20" descr="Blue counter">
            <a:extLst>
              <a:ext uri="{FF2B5EF4-FFF2-40B4-BE49-F238E27FC236}">
                <a16:creationId xmlns:a16="http://schemas.microsoft.com/office/drawing/2014/main" id="{FC7B62BB-0D59-F5CA-6913-A5BB767CE32C}"/>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2" name="Oval 21" descr="Blue counter">
            <a:extLst>
              <a:ext uri="{FF2B5EF4-FFF2-40B4-BE49-F238E27FC236}">
                <a16:creationId xmlns:a16="http://schemas.microsoft.com/office/drawing/2014/main" id="{9D02A4DB-2973-F4E9-F56A-028FADDF30E8}"/>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3" name="Oval 22" descr="Blue counter">
            <a:extLst>
              <a:ext uri="{FF2B5EF4-FFF2-40B4-BE49-F238E27FC236}">
                <a16:creationId xmlns:a16="http://schemas.microsoft.com/office/drawing/2014/main" id="{9E739B4E-642B-C3B6-C171-4811AFBB9346}"/>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4" name="Oval 23" descr="Blue counter">
            <a:extLst>
              <a:ext uri="{FF2B5EF4-FFF2-40B4-BE49-F238E27FC236}">
                <a16:creationId xmlns:a16="http://schemas.microsoft.com/office/drawing/2014/main" id="{682A5562-FF60-22EF-9C2A-3A56949547D9}"/>
              </a:ext>
              <a:ext uri="{C183D7F6-B498-43B3-948B-1728B52AA6E4}">
                <adec:decorative xmlns:adec="http://schemas.microsoft.com/office/drawing/2017/decorative" val="0"/>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5" name="Oval 24" descr="Blue counter">
            <a:extLst>
              <a:ext uri="{FF2B5EF4-FFF2-40B4-BE49-F238E27FC236}">
                <a16:creationId xmlns:a16="http://schemas.microsoft.com/office/drawing/2014/main" id="{F198A8FC-B70F-54CF-D5C5-0EE2A34A21FA}"/>
              </a:ext>
            </a:extLst>
          </p:cNvPr>
          <p:cNvSpPr/>
          <p:nvPr/>
        </p:nvSpPr>
        <p:spPr>
          <a:xfrm>
            <a:off x="4902893" y="5494172"/>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6" name="Oval 25" descr="Player 1 - pile of blue counters">
            <a:extLst>
              <a:ext uri="{FF2B5EF4-FFF2-40B4-BE49-F238E27FC236}">
                <a16:creationId xmlns:a16="http://schemas.microsoft.com/office/drawing/2014/main" id="{1FF6E656-A2CF-6240-7F1E-A54C6DE39005}"/>
              </a:ext>
            </a:extLst>
          </p:cNvPr>
          <p:cNvSpPr/>
          <p:nvPr/>
        </p:nvSpPr>
        <p:spPr>
          <a:xfrm>
            <a:off x="4902893" y="5473118"/>
            <a:ext cx="665018" cy="653143"/>
          </a:xfrm>
          <a:prstGeom prst="ellipse">
            <a:avLst/>
          </a:prstGeom>
          <a:solidFill>
            <a:srgbClr val="8CE0FF">
              <a:alpha val="40000"/>
            </a:srgb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srgbClr val="FFFFFF"/>
              </a:solidFill>
              <a:effectLst/>
              <a:uLnTx/>
              <a:uFillTx/>
              <a:latin typeface="Public Sans Light"/>
              <a:ea typeface="+mn-ea"/>
              <a:cs typeface="+mn-cs"/>
            </a:endParaRPr>
          </a:p>
        </p:txBody>
      </p:sp>
      <p:sp>
        <p:nvSpPr>
          <p:cNvPr id="27" name="Oval 26" descr="Purple counter">
            <a:extLst>
              <a:ext uri="{FF2B5EF4-FFF2-40B4-BE49-F238E27FC236}">
                <a16:creationId xmlns:a16="http://schemas.microsoft.com/office/drawing/2014/main" id="{8C17BE2D-2740-4310-06A6-F9E57733CA2D}"/>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8" name="Oval 27" descr="Purple counter">
            <a:extLst>
              <a:ext uri="{FF2B5EF4-FFF2-40B4-BE49-F238E27FC236}">
                <a16:creationId xmlns:a16="http://schemas.microsoft.com/office/drawing/2014/main" id="{F61F89B6-8755-1F8B-2F77-BBE9901D4260}"/>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9" name="Oval 28" descr="Purple counter">
            <a:extLst>
              <a:ext uri="{FF2B5EF4-FFF2-40B4-BE49-F238E27FC236}">
                <a16:creationId xmlns:a16="http://schemas.microsoft.com/office/drawing/2014/main" id="{28803C2E-726F-3EBD-861F-8E36804BCB39}"/>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0" name="Oval 29" descr="Purple counter">
            <a:extLst>
              <a:ext uri="{FF2B5EF4-FFF2-40B4-BE49-F238E27FC236}">
                <a16:creationId xmlns:a16="http://schemas.microsoft.com/office/drawing/2014/main" id="{AD82F58D-E981-2045-02AB-3A7C2DC51D27}"/>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1" name="Oval 30" descr="Purple counter">
            <a:extLst>
              <a:ext uri="{FF2B5EF4-FFF2-40B4-BE49-F238E27FC236}">
                <a16:creationId xmlns:a16="http://schemas.microsoft.com/office/drawing/2014/main" id="{F89CE1AC-CA3D-F36B-25EA-DEC620C05D59}"/>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2" name="Oval 31" descr="Purple counter">
            <a:extLst>
              <a:ext uri="{FF2B5EF4-FFF2-40B4-BE49-F238E27FC236}">
                <a16:creationId xmlns:a16="http://schemas.microsoft.com/office/drawing/2014/main" id="{F918B0FF-E8B2-8DF5-B899-AC2908E9AA9A}"/>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5" name="Oval 34" descr="Purple counter">
            <a:extLst>
              <a:ext uri="{FF2B5EF4-FFF2-40B4-BE49-F238E27FC236}">
                <a16:creationId xmlns:a16="http://schemas.microsoft.com/office/drawing/2014/main" id="{CFBFE54A-988F-D4EF-EA0C-3452826FCA33}"/>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4" name="Oval 33" descr="Purple counter">
            <a:extLst>
              <a:ext uri="{FF2B5EF4-FFF2-40B4-BE49-F238E27FC236}">
                <a16:creationId xmlns:a16="http://schemas.microsoft.com/office/drawing/2014/main" id="{96536849-33C3-36B8-8300-EC6D697BE60B}"/>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6" name="Oval 35" descr="Purple counter">
            <a:extLst>
              <a:ext uri="{FF2B5EF4-FFF2-40B4-BE49-F238E27FC236}">
                <a16:creationId xmlns:a16="http://schemas.microsoft.com/office/drawing/2014/main" id="{0FA25373-B72D-0B15-5357-C1FA15D274E2}"/>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3" name="Oval 32" descr="Purple counter">
            <a:extLst>
              <a:ext uri="{FF2B5EF4-FFF2-40B4-BE49-F238E27FC236}">
                <a16:creationId xmlns:a16="http://schemas.microsoft.com/office/drawing/2014/main" id="{FBD42B86-0F32-65EA-0CFA-74518C01B3A1}"/>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7" name="Oval 36" descr="Purple counter">
            <a:extLst>
              <a:ext uri="{FF2B5EF4-FFF2-40B4-BE49-F238E27FC236}">
                <a16:creationId xmlns:a16="http://schemas.microsoft.com/office/drawing/2014/main" id="{F14B19CC-C513-3D4E-C958-C0D0498B5C2A}"/>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8" name="Oval 37" descr="Purple counter">
            <a:extLst>
              <a:ext uri="{FF2B5EF4-FFF2-40B4-BE49-F238E27FC236}">
                <a16:creationId xmlns:a16="http://schemas.microsoft.com/office/drawing/2014/main" id="{5F8CEBC6-D749-8305-CD49-BFE4AEC050D7}"/>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39" name="Oval 38" descr="Purple counter">
            <a:extLst>
              <a:ext uri="{FF2B5EF4-FFF2-40B4-BE49-F238E27FC236}">
                <a16:creationId xmlns:a16="http://schemas.microsoft.com/office/drawing/2014/main" id="{162E504A-23AC-7859-9098-B8A2C2175EB9}"/>
              </a:ext>
            </a:extLst>
          </p:cNvPr>
          <p:cNvSpPr/>
          <p:nvPr/>
        </p:nvSpPr>
        <p:spPr>
          <a:xfrm>
            <a:off x="6575335" y="5494172"/>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40" name="Oval 39" descr="Player 2 - a pile of purple counters">
            <a:extLst>
              <a:ext uri="{FF2B5EF4-FFF2-40B4-BE49-F238E27FC236}">
                <a16:creationId xmlns:a16="http://schemas.microsoft.com/office/drawing/2014/main" id="{06FCEB8B-A7A9-F0EE-6A56-0BE51389CEA6}"/>
              </a:ext>
            </a:extLst>
          </p:cNvPr>
          <p:cNvSpPr/>
          <p:nvPr/>
        </p:nvSpPr>
        <p:spPr>
          <a:xfrm>
            <a:off x="6573835" y="5473117"/>
            <a:ext cx="665018" cy="653143"/>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srgbClr val="FFFFFF"/>
              </a:solidFill>
              <a:effectLst/>
              <a:uLnTx/>
              <a:uFillTx/>
              <a:latin typeface="Public Sans Light"/>
              <a:ea typeface="+mn-ea"/>
              <a:cs typeface="+mn-cs"/>
            </a:endParaRPr>
          </a:p>
        </p:txBody>
      </p:sp>
      <p:sp>
        <p:nvSpPr>
          <p:cNvPr id="4" name="TextBox 3" descr="An interactive version of Multiples madness. Shows gameboard, recording space for two players, infinite pile of counters of two different colours and an interactive 0-9 spinner.">
            <a:extLst>
              <a:ext uri="{FF2B5EF4-FFF2-40B4-BE49-F238E27FC236}">
                <a16:creationId xmlns:a16="http://schemas.microsoft.com/office/drawing/2014/main" id="{8AD45C47-BD22-B35E-1841-3203C7548B82}"/>
              </a:ext>
            </a:extLst>
          </p:cNvPr>
          <p:cNvSpPr txBox="1"/>
          <p:nvPr/>
        </p:nvSpPr>
        <p:spPr>
          <a:xfrm>
            <a:off x="4511007" y="6168369"/>
            <a:ext cx="1448789" cy="326994"/>
          </a:xfrm>
          <a:prstGeom prst="rect">
            <a:avLst/>
          </a:prstGeom>
          <a:noFill/>
        </p:spPr>
        <p:txBody>
          <a:bodyPr wrap="squar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B0F0"/>
                </a:solidFill>
                <a:effectLst/>
                <a:uLnTx/>
                <a:uFillTx/>
                <a:latin typeface="Arial Black" panose="020B0A04020102020204" pitchFamily="34" charset="0"/>
                <a:ea typeface="+mn-ea"/>
                <a:cs typeface="+mn-cs"/>
              </a:rPr>
              <a:t>Player 1 counters</a:t>
            </a:r>
          </a:p>
        </p:txBody>
      </p:sp>
      <p:sp>
        <p:nvSpPr>
          <p:cNvPr id="5" name="TextBox 4" descr="An interactive version of Multiples madness. Shows gameboard, recording space for two players, infinite pile of counters of two different colours and an interactive 0-9 spinner.">
            <a:extLst>
              <a:ext uri="{FF2B5EF4-FFF2-40B4-BE49-F238E27FC236}">
                <a16:creationId xmlns:a16="http://schemas.microsoft.com/office/drawing/2014/main" id="{3E2FDF3D-0934-40C7-EC38-250E04A17063}"/>
              </a:ext>
            </a:extLst>
          </p:cNvPr>
          <p:cNvSpPr txBox="1"/>
          <p:nvPr/>
        </p:nvSpPr>
        <p:spPr>
          <a:xfrm>
            <a:off x="6181950" y="6168369"/>
            <a:ext cx="1448789" cy="326994"/>
          </a:xfrm>
          <a:prstGeom prst="rect">
            <a:avLst/>
          </a:prstGeom>
          <a:noFill/>
        </p:spPr>
        <p:txBody>
          <a:bodyPr wrap="squar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B47FDB"/>
                </a:solidFill>
                <a:effectLst/>
                <a:uLnTx/>
                <a:uFillTx/>
                <a:latin typeface="Arial Black" panose="020B0A04020102020204" pitchFamily="34" charset="0"/>
                <a:ea typeface="+mn-ea"/>
                <a:cs typeface="+mn-cs"/>
              </a:rPr>
              <a:t>Player 2 counters</a:t>
            </a:r>
          </a:p>
        </p:txBody>
      </p:sp>
    </p:spTree>
    <p:extLst>
      <p:ext uri="{BB962C8B-B14F-4D97-AF65-F5344CB8AC3E}">
        <p14:creationId xmlns:p14="http://schemas.microsoft.com/office/powerpoint/2010/main" val="309489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D2D4D-0162-595B-60DF-36CCB086C45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690C94-6060-2C21-686F-2D5A7B886DEF}"/>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8EFDD867-1849-EC31-89C2-FA973503896F}"/>
              </a:ext>
            </a:extLst>
          </p:cNvPr>
          <p:cNvSpPr>
            <a:spLocks noGrp="1"/>
          </p:cNvSpPr>
          <p:nvPr>
            <p:ph type="title"/>
          </p:nvPr>
        </p:nvSpPr>
        <p:spPr>
          <a:xfrm>
            <a:off x="360000" y="360000"/>
            <a:ext cx="11484000" cy="545601"/>
          </a:xfrm>
        </p:spPr>
        <p:txBody>
          <a:bodyPr/>
          <a:lstStyle/>
          <a:p>
            <a:r>
              <a:rPr lang="en-AU" dirty="0"/>
              <a:t>Activity 2 – multiply by 10 (2)</a:t>
            </a:r>
          </a:p>
        </p:txBody>
      </p:sp>
      <p:pic>
        <p:nvPicPr>
          <p:cNvPr id="10" name="Picture 9" descr="image of a head with cogs turning inside">
            <a:extLst>
              <a:ext uri="{FF2B5EF4-FFF2-40B4-BE49-F238E27FC236}">
                <a16:creationId xmlns:a16="http://schemas.microsoft.com/office/drawing/2014/main" id="{A1509EBF-9B9A-6C72-13C4-5BD1EBCF09A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An interactive 0-9 spinner.">
            <a:extLst>
              <a:ext uri="{FF2B5EF4-FFF2-40B4-BE49-F238E27FC236}">
                <a16:creationId xmlns:a16="http://schemas.microsoft.com/office/drawing/2014/main" id="{F3A9343F-CD6C-830E-17B3-86FDF44B7BAB}"/>
              </a:ext>
            </a:extLst>
          </p:cNvPr>
          <p:cNvPicPr>
            <a:picLocks noChangeAspect="1"/>
          </p:cNvPicPr>
          <p:nvPr/>
        </p:nvPicPr>
        <p:blipFill rotWithShape="1">
          <a:blip r:embed="rId4"/>
          <a:srcRect l="16719" r="16904"/>
          <a:stretch/>
        </p:blipFill>
        <p:spPr>
          <a:xfrm>
            <a:off x="4229921" y="2352926"/>
            <a:ext cx="2699133" cy="2709907"/>
          </a:xfrm>
          <a:prstGeom prst="rect">
            <a:avLst/>
          </a:prstGeom>
        </p:spPr>
      </p:pic>
      <p:sp>
        <p:nvSpPr>
          <p:cNvPr id="9" name="Isosceles Triangle 8" descr="An interactive version of Multiples madness. Shows gameboard, recording space for two players, infinite pile of counters of two different colours and an interactive 0-9 spinner.">
            <a:extLst>
              <a:ext uri="{FF2B5EF4-FFF2-40B4-BE49-F238E27FC236}">
                <a16:creationId xmlns:a16="http://schemas.microsoft.com/office/drawing/2014/main" id="{5677E262-90D4-84ED-02FA-495A6B3D88C8}"/>
              </a:ext>
            </a:extLst>
          </p:cNvPr>
          <p:cNvSpPr/>
          <p:nvPr/>
        </p:nvSpPr>
        <p:spPr>
          <a:xfrm rot="10800000">
            <a:off x="5288541" y="1768282"/>
            <a:ext cx="581891" cy="800220"/>
          </a:xfrm>
          <a:prstGeom prst="triangle">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srgbClr val="FFFFFF"/>
              </a:solidFill>
              <a:effectLst/>
              <a:uLnTx/>
              <a:uFillTx/>
              <a:latin typeface="Public Sans Light"/>
              <a:ea typeface="+mn-ea"/>
              <a:cs typeface="+mn-cs"/>
            </a:endParaRPr>
          </a:p>
        </p:txBody>
      </p:sp>
      <p:sp>
        <p:nvSpPr>
          <p:cNvPr id="11" name="Oval 10" descr="An interactive version of Multiples madness. Shows gameboard, recording space for two players, infinite pile of counters of two different colours and an interactive 0-9 spinner.">
            <a:extLst>
              <a:ext uri="{FF2B5EF4-FFF2-40B4-BE49-F238E27FC236}">
                <a16:creationId xmlns:a16="http://schemas.microsoft.com/office/drawing/2014/main" id="{D532A27B-C0DA-E580-D87C-1C7F8C664529}"/>
              </a:ext>
            </a:extLst>
          </p:cNvPr>
          <p:cNvSpPr/>
          <p:nvPr/>
        </p:nvSpPr>
        <p:spPr>
          <a:xfrm>
            <a:off x="5301346" y="3453466"/>
            <a:ext cx="556282" cy="55628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22272B"/>
                </a:solidFill>
                <a:effectLst/>
                <a:uLnTx/>
                <a:uFillTx/>
                <a:latin typeface="Arial Black" panose="020B0A04020102020204" pitchFamily="34" charset="0"/>
                <a:ea typeface="+mn-ea"/>
                <a:cs typeface="+mn-cs"/>
              </a:rPr>
              <a:t>Spin!</a:t>
            </a:r>
          </a:p>
        </p:txBody>
      </p:sp>
    </p:spTree>
    <p:extLst>
      <p:ext uri="{BB962C8B-B14F-4D97-AF65-F5344CB8AC3E}">
        <p14:creationId xmlns:p14="http://schemas.microsoft.com/office/powerpoint/2010/main" val="2196600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8"/>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a:t>
            </a:r>
            <a:r>
              <a:rPr lang="en-US" dirty="0">
                <a:solidFill>
                  <a:schemeClr val="bg1"/>
                </a:solidFill>
              </a:rPr>
              <a:t> (2)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281559" y="1334592"/>
            <a:ext cx="11243037" cy="754243"/>
          </a:xfrm>
        </p:spPr>
        <p:txBody>
          <a:bodyPr vert="horz" lIns="0" tIns="0" rIns="0" bIns="0" rtlCol="0" anchor="t">
            <a:noAutofit/>
          </a:bodyPr>
          <a:lstStyle/>
          <a:p>
            <a:pPr algn="ctr"/>
            <a:r>
              <a:rPr lang="en-US" sz="5400" dirty="0">
                <a:latin typeface="Arial"/>
                <a:cs typeface="Arial"/>
              </a:rPr>
              <a:t>9 x 60 =</a:t>
            </a:r>
            <a:endParaRPr lang="en-US" sz="5400" dirty="0"/>
          </a:p>
        </p:txBody>
      </p:sp>
      <p:sp>
        <p:nvSpPr>
          <p:cNvPr id="9" name="TextBox 8">
            <a:extLst>
              <a:ext uri="{FF2B5EF4-FFF2-40B4-BE49-F238E27FC236}">
                <a16:creationId xmlns:a16="http://schemas.microsoft.com/office/drawing/2014/main" id="{F91A42F4-D8C9-20A3-82EB-86FAD4D776A8}"/>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829070"/>
            <a:ext cx="10175920" cy="641396"/>
          </a:xfrm>
        </p:spPr>
        <p:txBody>
          <a:bodyPr anchor="ctr"/>
          <a:lstStyle/>
          <a:p>
            <a:r>
              <a:rPr lang="en-US" sz="3600" dirty="0">
                <a:cs typeface="Arial"/>
              </a:rPr>
              <a:t>480</a:t>
            </a:r>
            <a:endParaRPr lang="en-US" sz="3600" dirty="0"/>
          </a:p>
        </p:txBody>
      </p:sp>
      <p:sp>
        <p:nvSpPr>
          <p:cNvPr id="10" name="TextBox 9">
            <a:extLst>
              <a:ext uri="{FF2B5EF4-FFF2-40B4-BE49-F238E27FC236}">
                <a16:creationId xmlns:a16="http://schemas.microsoft.com/office/drawing/2014/main" id="{CA9D5B15-A13C-EE8B-176F-3B4E3454A1A2}"/>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687850"/>
            <a:ext cx="10175920" cy="641396"/>
          </a:xfrm>
        </p:spPr>
        <p:txBody>
          <a:bodyPr anchor="ctr"/>
          <a:lstStyle/>
          <a:p>
            <a:r>
              <a:rPr lang="en-US" sz="3600" dirty="0"/>
              <a:t>460</a:t>
            </a:r>
          </a:p>
        </p:txBody>
      </p:sp>
      <p:sp>
        <p:nvSpPr>
          <p:cNvPr id="12" name="TextBox 11">
            <a:extLst>
              <a:ext uri="{FF2B5EF4-FFF2-40B4-BE49-F238E27FC236}">
                <a16:creationId xmlns:a16="http://schemas.microsoft.com/office/drawing/2014/main" id="{B4746450-E4E2-359C-DFCA-0532E811BD1E}"/>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482072"/>
            <a:ext cx="10175920" cy="641396"/>
          </a:xfrm>
        </p:spPr>
        <p:txBody>
          <a:bodyPr anchor="ctr"/>
          <a:lstStyle/>
          <a:p>
            <a:r>
              <a:rPr lang="en-US" sz="3600" dirty="0">
                <a:cs typeface="Arial"/>
              </a:rPr>
              <a:t>540</a:t>
            </a:r>
            <a:endParaRPr lang="en-US" sz="3600" dirty="0"/>
          </a:p>
        </p:txBody>
      </p:sp>
      <p:sp>
        <p:nvSpPr>
          <p:cNvPr id="11" name="TextBox 10">
            <a:extLst>
              <a:ext uri="{FF2B5EF4-FFF2-40B4-BE49-F238E27FC236}">
                <a16:creationId xmlns:a16="http://schemas.microsoft.com/office/drawing/2014/main" id="{9B8955CE-78C1-2F30-7505-4CA44A86BDFF}"/>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360615"/>
            <a:ext cx="10175920" cy="641396"/>
          </a:xfrm>
        </p:spPr>
        <p:txBody>
          <a:bodyPr anchor="ctr"/>
          <a:lstStyle/>
          <a:p>
            <a:r>
              <a:rPr lang="en-US" sz="3600" dirty="0">
                <a:cs typeface="Arial"/>
              </a:rPr>
              <a:t>54</a:t>
            </a:r>
            <a:endParaRPr lang="en-US" sz="3600" dirty="0"/>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(9)</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6141799-CF3F-7B31-F308-337C02F0AE46}"/>
              </a:ext>
            </a:extLst>
          </p:cNvPr>
          <p:cNvSpPr txBox="1"/>
          <p:nvPr/>
        </p:nvSpPr>
        <p:spPr>
          <a:xfrm>
            <a:off x="439254" y="1922081"/>
            <a:ext cx="10684746" cy="3013838"/>
          </a:xfrm>
          <a:prstGeom prst="rect">
            <a:avLst/>
          </a:prstGeom>
          <a:noFill/>
        </p:spPr>
        <p:txBody>
          <a:bodyPr wrap="square" lIns="91440" tIns="45720" rIns="91440" bIns="45720" anchor="t">
            <a:spAutoFit/>
          </a:bodyPr>
          <a:lstStyle/>
          <a:p>
            <a:pPr algn="ctr">
              <a:lnSpc>
                <a:spcPct val="150000"/>
              </a:lnSpc>
            </a:pPr>
            <a:r>
              <a:rPr lang="en-AU" sz="4400" dirty="0"/>
              <a:t>Create a </a:t>
            </a:r>
            <a:r>
              <a:rPr lang="en-AU" sz="4400" b="1" dirty="0"/>
              <a:t>statistical question</a:t>
            </a:r>
            <a:r>
              <a:rPr lang="en-AU" sz="4400" dirty="0"/>
              <a:t> to ask a group of students about their favourite food.</a:t>
            </a:r>
            <a:endParaRPr lang="en-AU" sz="4400" dirty="0">
              <a:cs typeface="Arial"/>
            </a:endParaRP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(10)</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8723CC24-C1A9-BEE9-44C3-BF0221D4C7E1}"/>
              </a:ext>
            </a:extLst>
          </p:cNvPr>
          <p:cNvSpPr txBox="1"/>
          <p:nvPr/>
        </p:nvSpPr>
        <p:spPr>
          <a:xfrm>
            <a:off x="101600" y="726473"/>
            <a:ext cx="11988800" cy="982513"/>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i="0" u="none" strike="noStrike" kern="1200" cap="none" spc="0" normalizeH="0" baseline="0" noProof="0">
                <a:ln>
                  <a:noFill/>
                </a:ln>
                <a:solidFill>
                  <a:srgbClr val="22272B"/>
                </a:solidFill>
                <a:effectLst/>
                <a:uLnTx/>
                <a:uFillTx/>
                <a:latin typeface="Arial" panose="020B0604020202020204"/>
                <a:ea typeface="+mn-ea"/>
                <a:cs typeface="+mn-cs"/>
              </a:rPr>
              <a:t>Which one does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not </a:t>
            </a:r>
            <a:r>
              <a:rPr kumimoji="0" lang="en-AU" sz="4400" i="0" u="none" strike="noStrike" kern="1200" cap="none" spc="0" normalizeH="0" baseline="0" noProof="0">
                <a:ln>
                  <a:noFill/>
                </a:ln>
                <a:solidFill>
                  <a:srgbClr val="22272B"/>
                </a:solidFill>
                <a:effectLst/>
                <a:uLnTx/>
                <a:uFillTx/>
                <a:latin typeface="Arial" panose="020B0604020202020204"/>
                <a:ea typeface="+mn-ea"/>
                <a:cs typeface="+mn-cs"/>
              </a:rPr>
              <a:t>belong?</a:t>
            </a:r>
          </a:p>
        </p:txBody>
      </p:sp>
      <p:pic>
        <p:nvPicPr>
          <p:cNvPr id="4" name="Picture 3" descr="Four different quadrants labelled 1 to 4. Each quadrant has 3 different fractions written in words.&#10;Quadrant 1: 3-fifths, one-half, 4-eighths.&#10;Quadrant 2: 3-quarters, 4-sixths, 6-eighths.&#10;Quadrant 3: 4-tenths, one-half, 2-fifths.&#10;Quadrant 4: 4-sixths, 2-thirds, 3-fifths.">
            <a:extLst>
              <a:ext uri="{FF2B5EF4-FFF2-40B4-BE49-F238E27FC236}">
                <a16:creationId xmlns:a16="http://schemas.microsoft.com/office/drawing/2014/main" id="{483A5F74-6336-7C22-6229-564CE9026FAA}"/>
              </a:ext>
            </a:extLst>
          </p:cNvPr>
          <p:cNvPicPr>
            <a:picLocks noChangeAspect="1"/>
          </p:cNvPicPr>
          <p:nvPr/>
        </p:nvPicPr>
        <p:blipFill>
          <a:blip r:embed="rId4"/>
          <a:stretch>
            <a:fillRect/>
          </a:stretch>
        </p:blipFill>
        <p:spPr>
          <a:xfrm>
            <a:off x="2081847" y="1615440"/>
            <a:ext cx="8028305" cy="5242560"/>
          </a:xfrm>
          <a:prstGeom prst="rect">
            <a:avLst/>
          </a:prstGeom>
        </p:spPr>
      </p:pic>
    </p:spTree>
    <p:extLst>
      <p:ext uri="{BB962C8B-B14F-4D97-AF65-F5344CB8AC3E}">
        <p14:creationId xmlns:p14="http://schemas.microsoft.com/office/powerpoint/2010/main" val="149951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7" name="Picture 16" descr="A rectangle with one side labelled 8 cm and the other labelled A">
            <a:extLst>
              <a:ext uri="{FF2B5EF4-FFF2-40B4-BE49-F238E27FC236}">
                <a16:creationId xmlns:a16="http://schemas.microsoft.com/office/drawing/2014/main" id="{FF742C6A-9462-CB49-BA6C-B7A1BA022CB6}"/>
              </a:ext>
            </a:extLst>
          </p:cNvPr>
          <p:cNvPicPr>
            <a:picLocks noChangeAspect="1"/>
          </p:cNvPicPr>
          <p:nvPr/>
        </p:nvPicPr>
        <p:blipFill>
          <a:blip r:embed="rId4"/>
          <a:stretch>
            <a:fillRect/>
          </a:stretch>
        </p:blipFill>
        <p:spPr>
          <a:xfrm>
            <a:off x="454544" y="1458789"/>
            <a:ext cx="4769095" cy="4496031"/>
          </a:xfrm>
          <a:prstGeom prst="rect">
            <a:avLst/>
          </a:prstGeom>
        </p:spPr>
      </p:pic>
      <p:sp>
        <p:nvSpPr>
          <p:cNvPr id="11" name="TextBox 10">
            <a:extLst>
              <a:ext uri="{FF2B5EF4-FFF2-40B4-BE49-F238E27FC236}">
                <a16:creationId xmlns:a16="http://schemas.microsoft.com/office/drawing/2014/main" id="{38ECCFAF-3EF0-8CAF-5E41-32DFDCEA9EDB}"/>
              </a:ext>
            </a:extLst>
          </p:cNvPr>
          <p:cNvSpPr txBox="1"/>
          <p:nvPr/>
        </p:nvSpPr>
        <p:spPr>
          <a:xfrm>
            <a:off x="5979560" y="1184223"/>
            <a:ext cx="5864440" cy="5045164"/>
          </a:xfrm>
          <a:prstGeom prst="rect">
            <a:avLst/>
          </a:prstGeom>
          <a:noFill/>
        </p:spPr>
        <p:txBody>
          <a:bodyPr wrap="square">
            <a:spAutoFit/>
          </a:bodyPr>
          <a:lstStyle/>
          <a:p>
            <a:pPr algn="ctr">
              <a:lnSpc>
                <a:spcPct val="150000"/>
              </a:lnSpc>
            </a:pPr>
            <a:r>
              <a:rPr lang="en-AU" sz="4400"/>
              <a:t>The </a:t>
            </a:r>
            <a:r>
              <a:rPr lang="en-AU" sz="4400" b="1"/>
              <a:t>perimeter</a:t>
            </a:r>
            <a:r>
              <a:rPr lang="en-AU" sz="4400"/>
              <a:t> of this rectangle is </a:t>
            </a:r>
            <a:r>
              <a:rPr lang="en-AU" sz="4400" b="1"/>
              <a:t>30 cm</a:t>
            </a:r>
            <a:r>
              <a:rPr lang="en-AU" sz="4400"/>
              <a:t>. </a:t>
            </a:r>
          </a:p>
          <a:p>
            <a:pPr algn="ctr">
              <a:lnSpc>
                <a:spcPct val="150000"/>
              </a:lnSpc>
            </a:pPr>
            <a:r>
              <a:rPr lang="en-AU" sz="4400"/>
              <a:t>One side is 8 cm. </a:t>
            </a:r>
          </a:p>
          <a:p>
            <a:pPr algn="ctr">
              <a:lnSpc>
                <a:spcPct val="150000"/>
              </a:lnSpc>
            </a:pPr>
            <a:r>
              <a:rPr lang="en-AU" sz="4400"/>
              <a:t>What is the length of side A?</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9150DBF-E929-D114-EF66-0BD69B6ABB25}"/>
              </a:ext>
            </a:extLst>
          </p:cNvPr>
          <p:cNvSpPr txBox="1"/>
          <p:nvPr/>
        </p:nvSpPr>
        <p:spPr>
          <a:xfrm>
            <a:off x="1550995" y="1110749"/>
            <a:ext cx="9176273" cy="3013838"/>
          </a:xfrm>
          <a:prstGeom prst="rect">
            <a:avLst/>
          </a:prstGeom>
          <a:noFill/>
        </p:spPr>
        <p:txBody>
          <a:bodyPr wrap="square">
            <a:spAutoFit/>
          </a:bodyPr>
          <a:lstStyle/>
          <a:p>
            <a:pPr>
              <a:lnSpc>
                <a:spcPct val="150000"/>
              </a:lnSpc>
            </a:pPr>
            <a:r>
              <a:rPr lang="en-AU" sz="4400" dirty="0"/>
              <a:t>If this arrow moves </a:t>
            </a:r>
            <a:r>
              <a:rPr lang="en-AU" sz="4400" b="1" dirty="0"/>
              <a:t>one quarter turn clockwise</a:t>
            </a:r>
            <a:r>
              <a:rPr lang="en-AU" sz="4400" dirty="0"/>
              <a:t>, draw what it would look like.</a:t>
            </a:r>
          </a:p>
        </p:txBody>
      </p:sp>
      <p:pic>
        <p:nvPicPr>
          <p:cNvPr id="8" name="Picture 7" descr="an arrow pointing to the right">
            <a:extLst>
              <a:ext uri="{FF2B5EF4-FFF2-40B4-BE49-F238E27FC236}">
                <a16:creationId xmlns:a16="http://schemas.microsoft.com/office/drawing/2014/main" id="{54862487-6C87-CBA0-012B-F698CD544F4D}"/>
              </a:ext>
            </a:extLst>
          </p:cNvPr>
          <p:cNvPicPr>
            <a:picLocks noChangeAspect="1"/>
          </p:cNvPicPr>
          <p:nvPr/>
        </p:nvPicPr>
        <p:blipFill>
          <a:blip r:embed="rId4"/>
          <a:stretch>
            <a:fillRect/>
          </a:stretch>
        </p:blipFill>
        <p:spPr>
          <a:xfrm>
            <a:off x="4052502" y="3870995"/>
            <a:ext cx="5320098" cy="2386930"/>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3 – multiplying by multiples</a:t>
            </a:r>
          </a:p>
        </p:txBody>
      </p:sp>
      <p:pic>
        <p:nvPicPr>
          <p:cNvPr id="9" name="Picture 8" descr="image of a head with cogs turning inside">
            <a:extLst>
              <a:ext uri="{FF2B5EF4-FFF2-40B4-BE49-F238E27FC236}">
                <a16:creationId xmlns:a16="http://schemas.microsoft.com/office/drawing/2014/main" id="{BAC7B6C1-B72C-0422-5656-F5FE6696062A}"/>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7" name="Table 2" descr="An interactive version of multiplying multiples. Shows recording space for two players">
            <a:extLst>
              <a:ext uri="{FF2B5EF4-FFF2-40B4-BE49-F238E27FC236}">
                <a16:creationId xmlns:a16="http://schemas.microsoft.com/office/drawing/2014/main" id="{E59A93D5-BC0C-2408-7F3F-9E7B4420206E}"/>
              </a:ext>
            </a:extLst>
          </p:cNvPr>
          <p:cNvGraphicFramePr>
            <a:graphicFrameLocks noGrp="1"/>
          </p:cNvGraphicFramePr>
          <p:nvPr>
            <p:extLst>
              <p:ext uri="{D42A27DB-BD31-4B8C-83A1-F6EECF244321}">
                <p14:modId xmlns:p14="http://schemas.microsoft.com/office/powerpoint/2010/main" val="304723268"/>
              </p:ext>
            </p:extLst>
          </p:nvPr>
        </p:nvGraphicFramePr>
        <p:xfrm>
          <a:off x="941989" y="1868993"/>
          <a:ext cx="7177079" cy="4007802"/>
        </p:xfrm>
        <a:graphic>
          <a:graphicData uri="http://schemas.openxmlformats.org/drawingml/2006/table">
            <a:tbl>
              <a:tblPr/>
              <a:tblGrid>
                <a:gridCol w="709325">
                  <a:extLst>
                    <a:ext uri="{9D8B030D-6E8A-4147-A177-3AD203B41FA5}">
                      <a16:colId xmlns:a16="http://schemas.microsoft.com/office/drawing/2014/main" val="20000"/>
                    </a:ext>
                  </a:extLst>
                </a:gridCol>
                <a:gridCol w="676521">
                  <a:extLst>
                    <a:ext uri="{9D8B030D-6E8A-4147-A177-3AD203B41FA5}">
                      <a16:colId xmlns:a16="http://schemas.microsoft.com/office/drawing/2014/main" val="20001"/>
                    </a:ext>
                  </a:extLst>
                </a:gridCol>
                <a:gridCol w="677250">
                  <a:extLst>
                    <a:ext uri="{9D8B030D-6E8A-4147-A177-3AD203B41FA5}">
                      <a16:colId xmlns:a16="http://schemas.microsoft.com/office/drawing/2014/main" val="20002"/>
                    </a:ext>
                  </a:extLst>
                </a:gridCol>
                <a:gridCol w="3313621">
                  <a:extLst>
                    <a:ext uri="{9D8B030D-6E8A-4147-A177-3AD203B41FA5}">
                      <a16:colId xmlns:a16="http://schemas.microsoft.com/office/drawing/2014/main" val="20003"/>
                    </a:ext>
                  </a:extLst>
                </a:gridCol>
                <a:gridCol w="1800362">
                  <a:extLst>
                    <a:ext uri="{9D8B030D-6E8A-4147-A177-3AD203B41FA5}">
                      <a16:colId xmlns:a16="http://schemas.microsoft.com/office/drawing/2014/main" val="20004"/>
                    </a:ext>
                  </a:extLst>
                </a:gridCol>
              </a:tblGrid>
              <a:tr h="667967">
                <a:tc>
                  <a:txBody>
                    <a:bodyPr/>
                    <a:lstStyle/>
                    <a:p>
                      <a:pPr algn="ctr">
                        <a:lnSpc>
                          <a:spcPts val="2799"/>
                        </a:lnSpc>
                        <a:defRPr/>
                      </a:pPr>
                      <a:r>
                        <a:rPr lang="en-US" sz="1400" dirty="0">
                          <a:solidFill>
                            <a:srgbClr val="000000"/>
                          </a:solidFill>
                          <a:latin typeface="Arial" panose="020B0604020202020204" pitchFamily="34" charset="0"/>
                          <a:ea typeface="Public Sans"/>
                          <a:cs typeface="Arial" panose="020B0604020202020204" pitchFamily="34" charset="0"/>
                          <a:sym typeface="Public Sans"/>
                        </a:rPr>
                        <a:t>Order</a:t>
                      </a:r>
                      <a:endParaRPr lang="en-US" sz="1400" dirty="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400" dirty="0">
                          <a:solidFill>
                            <a:srgbClr val="000000"/>
                          </a:solidFill>
                          <a:latin typeface="Arial" panose="020B0604020202020204" pitchFamily="34" charset="0"/>
                          <a:ea typeface="Public Sans"/>
                          <a:cs typeface="Arial" panose="020B0604020202020204" pitchFamily="34" charset="0"/>
                          <a:sym typeface="Public Sans"/>
                        </a:rPr>
                        <a:t>Roll 1</a:t>
                      </a:r>
                      <a:endParaRPr lang="en-US" sz="1400" dirty="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400">
                          <a:solidFill>
                            <a:srgbClr val="000000"/>
                          </a:solidFill>
                          <a:latin typeface="Arial" panose="020B0604020202020204" pitchFamily="34" charset="0"/>
                          <a:ea typeface="Public Sans"/>
                          <a:cs typeface="Arial" panose="020B0604020202020204" pitchFamily="34" charset="0"/>
                          <a:sym typeface="Public Sans"/>
                        </a:rPr>
                        <a:t>Roll 2</a:t>
                      </a:r>
                      <a:endParaRPr lang="en-US" sz="140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400" dirty="0">
                          <a:solidFill>
                            <a:srgbClr val="000000"/>
                          </a:solidFill>
                          <a:latin typeface="Arial" panose="020B0604020202020204" pitchFamily="34" charset="0"/>
                          <a:ea typeface="Public Sans"/>
                          <a:cs typeface="Arial" panose="020B0604020202020204" pitchFamily="34" charset="0"/>
                          <a:sym typeface="Public Sans"/>
                        </a:rPr>
                        <a:t>Number sentence</a:t>
                      </a:r>
                      <a:endParaRPr lang="en-US" sz="1400" dirty="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400" dirty="0">
                          <a:solidFill>
                            <a:srgbClr val="000000"/>
                          </a:solidFill>
                          <a:latin typeface="Arial" panose="020B0604020202020204" pitchFamily="34" charset="0"/>
                          <a:ea typeface="Public Sans"/>
                          <a:cs typeface="Arial" panose="020B0604020202020204" pitchFamily="34" charset="0"/>
                          <a:sym typeface="Public Sans"/>
                        </a:rPr>
                        <a:t>Actual order</a:t>
                      </a:r>
                      <a:endParaRPr lang="en-US" sz="1400" dirty="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67967">
                <a:tc>
                  <a:txBody>
                    <a:bodyPr/>
                    <a:lstStyle/>
                    <a:p>
                      <a:pPr algn="ctr">
                        <a:lnSpc>
                          <a:spcPts val="2799"/>
                        </a:lnSpc>
                        <a:defRPr/>
                      </a:pPr>
                      <a:r>
                        <a:rPr lang="en-US" sz="1600">
                          <a:solidFill>
                            <a:srgbClr val="000000"/>
                          </a:solidFill>
                          <a:latin typeface="Arial" panose="020B0604020202020204" pitchFamily="34" charset="0"/>
                          <a:ea typeface="Public Sans"/>
                          <a:cs typeface="Arial" panose="020B0604020202020204" pitchFamily="34" charset="0"/>
                          <a:sym typeface="Public Sans"/>
                        </a:rPr>
                        <a:t>1</a:t>
                      </a:r>
                      <a:endParaRPr lang="en-US" sz="160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dirty="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7967">
                <a:tc>
                  <a:txBody>
                    <a:bodyPr/>
                    <a:lstStyle/>
                    <a:p>
                      <a:pPr algn="ctr">
                        <a:lnSpc>
                          <a:spcPts val="2799"/>
                        </a:lnSpc>
                        <a:defRPr/>
                      </a:pPr>
                      <a:r>
                        <a:rPr lang="en-US" sz="1600">
                          <a:solidFill>
                            <a:srgbClr val="000000"/>
                          </a:solidFill>
                          <a:latin typeface="Arial" panose="020B0604020202020204" pitchFamily="34" charset="0"/>
                          <a:ea typeface="Public Sans"/>
                          <a:cs typeface="Arial" panose="020B0604020202020204" pitchFamily="34" charset="0"/>
                          <a:sym typeface="Public Sans"/>
                        </a:rPr>
                        <a:t>2</a:t>
                      </a:r>
                      <a:endParaRPr lang="en-US" sz="160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67967">
                <a:tc>
                  <a:txBody>
                    <a:bodyPr/>
                    <a:lstStyle/>
                    <a:p>
                      <a:pPr algn="ctr">
                        <a:lnSpc>
                          <a:spcPts val="2799"/>
                        </a:lnSpc>
                        <a:defRPr/>
                      </a:pPr>
                      <a:r>
                        <a:rPr lang="en-US" sz="1600">
                          <a:solidFill>
                            <a:srgbClr val="000000"/>
                          </a:solidFill>
                          <a:latin typeface="Arial" panose="020B0604020202020204" pitchFamily="34" charset="0"/>
                          <a:ea typeface="Public Sans"/>
                          <a:cs typeface="Arial" panose="020B0604020202020204" pitchFamily="34" charset="0"/>
                          <a:sym typeface="Public Sans"/>
                        </a:rPr>
                        <a:t>3</a:t>
                      </a:r>
                      <a:endParaRPr lang="en-US" sz="160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67967">
                <a:tc>
                  <a:txBody>
                    <a:bodyPr/>
                    <a:lstStyle/>
                    <a:p>
                      <a:pPr algn="ctr">
                        <a:lnSpc>
                          <a:spcPts val="2799"/>
                        </a:lnSpc>
                        <a:defRPr/>
                      </a:pPr>
                      <a:r>
                        <a:rPr lang="en-US" sz="1600">
                          <a:solidFill>
                            <a:srgbClr val="000000"/>
                          </a:solidFill>
                          <a:latin typeface="Arial" panose="020B0604020202020204" pitchFamily="34" charset="0"/>
                          <a:ea typeface="Public Sans"/>
                          <a:cs typeface="Arial" panose="020B0604020202020204" pitchFamily="34" charset="0"/>
                          <a:sym typeface="Public Sans"/>
                        </a:rPr>
                        <a:t>4</a:t>
                      </a:r>
                      <a:endParaRPr lang="en-US" sz="160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67967">
                <a:tc>
                  <a:txBody>
                    <a:bodyPr/>
                    <a:lstStyle/>
                    <a:p>
                      <a:pPr algn="ctr">
                        <a:lnSpc>
                          <a:spcPts val="2799"/>
                        </a:lnSpc>
                        <a:defRPr/>
                      </a:pPr>
                      <a:r>
                        <a:rPr lang="en-US" sz="1600" dirty="0">
                          <a:solidFill>
                            <a:srgbClr val="000000"/>
                          </a:solidFill>
                          <a:latin typeface="Arial" panose="020B0604020202020204" pitchFamily="34" charset="0"/>
                          <a:ea typeface="Public Sans"/>
                          <a:cs typeface="Arial" panose="020B0604020202020204" pitchFamily="34" charset="0"/>
                          <a:sym typeface="Public Sans"/>
                        </a:rPr>
                        <a:t>5</a:t>
                      </a:r>
                      <a:endParaRPr lang="en-US" sz="1600" dirty="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endParaRPr lang="en-US" sz="1050" dirty="0">
                        <a:latin typeface="Arial" panose="020B0604020202020204" pitchFamily="34" charset="0"/>
                        <a:cs typeface="Arial" panose="020B0604020202020204" pitchFamily="34" charset="0"/>
                      </a:endParaRPr>
                    </a:p>
                  </a:txBody>
                  <a:tcPr marL="66675" marR="66675" marT="66675" marB="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1" name="Group 10" descr="An interactive version of multiplying multiples. Shows recording space for two players and an interactive 0-9 spinner.">
            <a:extLst>
              <a:ext uri="{FF2B5EF4-FFF2-40B4-BE49-F238E27FC236}">
                <a16:creationId xmlns:a16="http://schemas.microsoft.com/office/drawing/2014/main" id="{113D46BE-F4E2-E961-956C-92AD49E53FF9}"/>
              </a:ext>
            </a:extLst>
          </p:cNvPr>
          <p:cNvGrpSpPr/>
          <p:nvPr/>
        </p:nvGrpSpPr>
        <p:grpSpPr>
          <a:xfrm>
            <a:off x="8550878" y="1916697"/>
            <a:ext cx="3307690" cy="3960098"/>
            <a:chOff x="8550878" y="1916697"/>
            <a:chExt cx="3307690" cy="3960098"/>
          </a:xfrm>
        </p:grpSpPr>
        <p:pic>
          <p:nvPicPr>
            <p:cNvPr id="4" name="Picture 3" descr="An interactive version of multiplying multiples. Shows recording space for two players and an interactive 0-9 spinner.">
              <a:extLst>
                <a:ext uri="{FF2B5EF4-FFF2-40B4-BE49-F238E27FC236}">
                  <a16:creationId xmlns:a16="http://schemas.microsoft.com/office/drawing/2014/main" id="{9D09A921-5AC6-DB84-B3AE-CF90C43C4C20}"/>
                </a:ext>
              </a:extLst>
            </p:cNvPr>
            <p:cNvPicPr>
              <a:picLocks noChangeAspect="1"/>
            </p:cNvPicPr>
            <p:nvPr/>
          </p:nvPicPr>
          <p:blipFill rotWithShape="1">
            <a:blip r:embed="rId4"/>
            <a:srcRect l="16719" r="16904"/>
            <a:stretch/>
          </p:blipFill>
          <p:spPr>
            <a:xfrm>
              <a:off x="8550878" y="2555902"/>
              <a:ext cx="3307690" cy="3320893"/>
            </a:xfrm>
            <a:prstGeom prst="rect">
              <a:avLst/>
            </a:prstGeom>
          </p:spPr>
        </p:pic>
        <p:sp>
          <p:nvSpPr>
            <p:cNvPr id="5" name="Isosceles Triangle 4" descr="An interactive version of multiplying multiples. Shows recording space for two players and an interactive 0-9 spinner.">
              <a:extLst>
                <a:ext uri="{FF2B5EF4-FFF2-40B4-BE49-F238E27FC236}">
                  <a16:creationId xmlns:a16="http://schemas.microsoft.com/office/drawing/2014/main" id="{F9852383-B7F6-D2D8-1CE4-4ABD5905AD04}"/>
                </a:ext>
              </a:extLst>
            </p:cNvPr>
            <p:cNvSpPr/>
            <p:nvPr/>
          </p:nvSpPr>
          <p:spPr>
            <a:xfrm rot="10800000">
              <a:off x="9851582" y="1916697"/>
              <a:ext cx="706281" cy="980641"/>
            </a:xfrm>
            <a:prstGeom prst="triangle">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6" name="Oval 5" descr="An interactive version of multiplying multiples. Shows recording space for two players and an interactive 0-9 spinner.">
              <a:extLst>
                <a:ext uri="{FF2B5EF4-FFF2-40B4-BE49-F238E27FC236}">
                  <a16:creationId xmlns:a16="http://schemas.microsoft.com/office/drawing/2014/main" id="{2E589FFF-D423-ADA4-9FA7-31B346D3CAFA}"/>
                </a:ext>
              </a:extLst>
            </p:cNvPr>
            <p:cNvSpPr/>
            <p:nvPr/>
          </p:nvSpPr>
          <p:spPr>
            <a:xfrm>
              <a:off x="9851582" y="3932808"/>
              <a:ext cx="675198" cy="68170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dirty="0">
                  <a:ln>
                    <a:noFill/>
                  </a:ln>
                  <a:solidFill>
                    <a:srgbClr val="22272B"/>
                  </a:solidFill>
                  <a:effectLst/>
                  <a:uLnTx/>
                  <a:uFillTx/>
                  <a:latin typeface="Arial Black" panose="020B0A04020102020204" pitchFamily="34" charset="0"/>
                  <a:ea typeface="+mn-ea"/>
                  <a:cs typeface="+mn-cs"/>
                </a:rPr>
                <a:t>Spin!</a:t>
              </a:r>
            </a:p>
          </p:txBody>
        </p:sp>
      </p:grpSp>
    </p:spTree>
    <p:extLst>
      <p:ext uri="{BB962C8B-B14F-4D97-AF65-F5344CB8AC3E}">
        <p14:creationId xmlns:p14="http://schemas.microsoft.com/office/powerpoint/2010/main" val="397274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744337" y="2384393"/>
            <a:ext cx="11243037" cy="893226"/>
          </a:xfrm>
        </p:spPr>
        <p:txBody>
          <a:bodyPr vert="horz" lIns="0" tIns="0" rIns="0" bIns="0" rtlCol="0" anchor="t">
            <a:noAutofit/>
          </a:bodyPr>
          <a:lstStyle/>
          <a:p>
            <a:r>
              <a:rPr lang="en-AU" sz="4400">
                <a:latin typeface="Arial"/>
                <a:cs typeface="Arial"/>
              </a:rPr>
              <a:t>30 x 4 = 3 </a:t>
            </a:r>
            <a:r>
              <a:rPr lang="en-AU" sz="4400" dirty="0">
                <a:latin typeface="Arial"/>
                <a:cs typeface="Arial"/>
              </a:rPr>
              <a:t>x 10</a:t>
            </a:r>
            <a:r>
              <a:rPr lang="en-AU" sz="4400">
                <a:latin typeface="Arial"/>
                <a:cs typeface="Arial"/>
              </a:rPr>
              <a:t> x 4 = 12 x 10 =120</a:t>
            </a:r>
            <a:endParaRPr lang="en-AU" sz="4400"/>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(13)</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A column graph titled ‘Resource X – Yr 3/4’s favourite sports’. The x-axis is labelled ‘Favourite sports’ and the y-axis is titled ‘number of respondents’ and ranges from 0–6.&#10;Results are as follows: Soccer (6), tennis (1), cricket (4), netball (4), hockey (1), AFL (3) and rugby league (5).&#10;">
            <a:extLst>
              <a:ext uri="{FF2B5EF4-FFF2-40B4-BE49-F238E27FC236}">
                <a16:creationId xmlns:a16="http://schemas.microsoft.com/office/drawing/2014/main" id="{0B7A58DA-766E-BAC9-A685-4F0BAAF7CFE3}"/>
              </a:ext>
            </a:extLst>
          </p:cNvPr>
          <p:cNvPicPr>
            <a:picLocks noChangeAspect="1"/>
          </p:cNvPicPr>
          <p:nvPr/>
        </p:nvPicPr>
        <p:blipFill>
          <a:blip r:embed="rId4"/>
          <a:srcRect l="5229" t="13218" r="1089" b="6322"/>
          <a:stretch>
            <a:fillRect/>
          </a:stretch>
        </p:blipFill>
        <p:spPr>
          <a:xfrm>
            <a:off x="482412" y="1288901"/>
            <a:ext cx="7232324" cy="4711849"/>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3BA60E75-C429-6A9C-F69E-F81636011F96}"/>
              </a:ext>
            </a:extLst>
          </p:cNvPr>
          <p:cNvSpPr txBox="1"/>
          <p:nvPr/>
        </p:nvSpPr>
        <p:spPr>
          <a:xfrm>
            <a:off x="8018988" y="1279132"/>
            <a:ext cx="3690600" cy="541686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dirty="0">
                <a:cs typeface="Arial"/>
              </a:rPr>
              <a:t>Label each </a:t>
            </a:r>
            <a:r>
              <a:rPr lang="en-US" sz="4400" b="1" dirty="0">
                <a:cs typeface="Arial"/>
              </a:rPr>
              <a:t>axes</a:t>
            </a:r>
            <a:r>
              <a:rPr lang="en-US" sz="4400" dirty="0">
                <a:cs typeface="Arial"/>
              </a:rPr>
              <a:t> of the </a:t>
            </a:r>
            <a:r>
              <a:rPr lang="en-US" sz="4400" b="1" dirty="0">
                <a:cs typeface="Arial"/>
              </a:rPr>
              <a:t>column graph.</a:t>
            </a:r>
          </a:p>
          <a:p>
            <a:pPr algn="ctr"/>
            <a:r>
              <a:rPr lang="en-US" sz="4400" dirty="0">
                <a:cs typeface="Arial"/>
              </a:rPr>
              <a:t>Create a </a:t>
            </a:r>
            <a:r>
              <a:rPr lang="en-US" sz="4400" b="1" dirty="0">
                <a:cs typeface="Arial"/>
              </a:rPr>
              <a:t>title</a:t>
            </a:r>
            <a:r>
              <a:rPr lang="en-US" sz="4400" dirty="0">
                <a:cs typeface="Arial"/>
              </a:rPr>
              <a:t> for the </a:t>
            </a:r>
            <a:r>
              <a:rPr lang="en-US" sz="4400" b="1" dirty="0">
                <a:cs typeface="Arial"/>
              </a:rPr>
              <a:t>column graph.</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(14)</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29</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FC81FAF4-5015-D6BB-37C4-407E9A5FB9F6}"/>
              </a:ext>
            </a:extLst>
          </p:cNvPr>
          <p:cNvSpPr txBox="1"/>
          <p:nvPr/>
        </p:nvSpPr>
        <p:spPr>
          <a:xfrm>
            <a:off x="246024" y="1184223"/>
            <a:ext cx="11597976" cy="982513"/>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i="0" u="none" strike="noStrike" kern="1200" cap="none" spc="0" normalizeH="0" baseline="0" noProof="0">
                <a:ln>
                  <a:noFill/>
                </a:ln>
                <a:solidFill>
                  <a:srgbClr val="22272B"/>
                </a:solidFill>
                <a:effectLst/>
                <a:uLnTx/>
                <a:uFillTx/>
                <a:latin typeface="Arial" panose="020B0604020202020204"/>
                <a:ea typeface="+mn-ea"/>
                <a:cs typeface="+mn-cs"/>
              </a:rPr>
              <a:t>Draw</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 </a:t>
            </a:r>
            <a:r>
              <a:rPr lang="en-AU" sz="4400" b="1">
                <a:solidFill>
                  <a:srgbClr val="22272B"/>
                </a:solidFill>
                <a:latin typeface="Arial" panose="020B0604020202020204"/>
              </a:rPr>
              <a:t>fraction strips</a:t>
            </a:r>
            <a:r>
              <a:rPr lang="en-AU" sz="4400">
                <a:solidFill>
                  <a:srgbClr val="22272B"/>
                </a:solidFill>
                <a:latin typeface="Arial" panose="020B0604020202020204"/>
              </a:rPr>
              <a:t> to s</a:t>
            </a:r>
            <a:r>
              <a:rPr kumimoji="0" lang="en-AU" sz="4400" i="0" u="none" strike="noStrike" kern="1200" cap="none" spc="0" normalizeH="0" baseline="0" noProof="0">
                <a:ln>
                  <a:noFill/>
                </a:ln>
                <a:solidFill>
                  <a:srgbClr val="22272B"/>
                </a:solidFill>
                <a:effectLst/>
                <a:uLnTx/>
                <a:uFillTx/>
                <a:latin typeface="Arial" panose="020B0604020202020204"/>
                <a:ea typeface="+mn-ea"/>
                <a:cs typeface="+mn-cs"/>
              </a:rPr>
              <a:t>how </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which</a:t>
            </a:r>
            <a:r>
              <a:rPr kumimoji="0" lang="en-AU" sz="4400" b="0" i="0" u="none" strike="noStrike" kern="1200" cap="none" spc="0" normalizeH="0" noProof="0">
                <a:ln>
                  <a:noFill/>
                </a:ln>
                <a:solidFill>
                  <a:srgbClr val="22272B"/>
                </a:solidFill>
                <a:effectLst/>
                <a:uLnTx/>
                <a:uFillTx/>
                <a:latin typeface="Arial" panose="020B0604020202020204"/>
                <a:ea typeface="+mn-ea"/>
                <a:cs typeface="+mn-cs"/>
              </a:rPr>
              <a:t> is bigger.</a:t>
            </a: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9CD45C1-544D-E051-7CF4-EF3279FED078}"/>
                  </a:ext>
                </a:extLst>
              </p:cNvPr>
              <p:cNvSpPr txBox="1"/>
              <p:nvPr/>
            </p:nvSpPr>
            <p:spPr>
              <a:xfrm>
                <a:off x="2682240" y="3194721"/>
                <a:ext cx="6096000" cy="21964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0" lang="en-AU" sz="7200" b="0" i="1" u="none" strike="noStrike" kern="1200" cap="none" spc="0" normalizeH="0" baseline="0" noProof="0" smtClean="0">
                              <a:ln>
                                <a:noFill/>
                              </a:ln>
                              <a:solidFill>
                                <a:srgbClr val="22272B"/>
                              </a:solidFill>
                              <a:effectLst/>
                              <a:uLnTx/>
                              <a:uFillTx/>
                              <a:latin typeface="Cambria Math" panose="02040503050406030204" pitchFamily="18" charset="0"/>
                            </a:rPr>
                          </m:ctrlPr>
                        </m:fPr>
                        <m:num>
                          <m:r>
                            <a:rPr kumimoji="0" lang="en-AU" sz="7200" b="0" i="0" u="none" strike="noStrike" kern="1200" cap="none" spc="0" normalizeH="0" baseline="0" noProof="0" smtClean="0">
                              <a:ln>
                                <a:noFill/>
                              </a:ln>
                              <a:solidFill>
                                <a:srgbClr val="22272B"/>
                              </a:solidFill>
                              <a:effectLst/>
                              <a:uLnTx/>
                              <a:uFillTx/>
                              <a:latin typeface="Cambria Math" panose="02040503050406030204" pitchFamily="18" charset="0"/>
                            </a:rPr>
                            <m:t>3</m:t>
                          </m:r>
                        </m:num>
                        <m:den>
                          <m:r>
                            <a:rPr kumimoji="0" lang="en-AU" sz="7200" b="0" i="0" u="none" strike="noStrike" kern="1200" cap="none" spc="0" normalizeH="0" baseline="0" noProof="0" smtClean="0">
                              <a:ln>
                                <a:noFill/>
                              </a:ln>
                              <a:solidFill>
                                <a:srgbClr val="22272B"/>
                              </a:solidFill>
                              <a:effectLst/>
                              <a:uLnTx/>
                              <a:uFillTx/>
                              <a:latin typeface="Cambria Math" panose="02040503050406030204" pitchFamily="18" charset="0"/>
                            </a:rPr>
                            <m:t>4</m:t>
                          </m:r>
                        </m:den>
                      </m:f>
                      <m:r>
                        <a:rPr kumimoji="0" lang="en-AU" sz="7200" b="0" i="0" u="none" strike="noStrike" kern="1200" cap="none" spc="0" normalizeH="0" baseline="0" noProof="0">
                          <a:ln>
                            <a:noFill/>
                          </a:ln>
                          <a:solidFill>
                            <a:srgbClr val="22272B"/>
                          </a:solidFill>
                          <a:effectLst/>
                          <a:uLnTx/>
                          <a:uFillTx/>
                          <a:latin typeface="Cambria Math" panose="02040503050406030204" pitchFamily="18" charset="0"/>
                        </a:rPr>
                        <m:t> </m:t>
                      </m:r>
                      <m:r>
                        <a:rPr kumimoji="0" lang="en-AU" sz="7200" b="0" i="0" u="none" strike="noStrike" kern="1200" cap="none" spc="0" normalizeH="0" baseline="0" noProof="0" smtClean="0">
                          <a:ln>
                            <a:noFill/>
                          </a:ln>
                          <a:solidFill>
                            <a:srgbClr val="22272B"/>
                          </a:solidFill>
                          <a:effectLst/>
                          <a:uLnTx/>
                          <a:uFillTx/>
                          <a:latin typeface="Cambria Math" panose="02040503050406030204" pitchFamily="18" charset="0"/>
                        </a:rPr>
                        <m:t> </m:t>
                      </m:r>
                      <m:r>
                        <m:rPr>
                          <m:sty m:val="p"/>
                        </m:rPr>
                        <a:rPr kumimoji="0" lang="en-AU" sz="7200" b="0" i="0" u="none" strike="noStrike" kern="1200" cap="none" spc="0" normalizeH="0" baseline="0" noProof="0" smtClean="0">
                          <a:ln>
                            <a:noFill/>
                          </a:ln>
                          <a:solidFill>
                            <a:srgbClr val="22272B"/>
                          </a:solidFill>
                          <a:effectLst/>
                          <a:uLnTx/>
                          <a:uFillTx/>
                          <a:latin typeface="Cambria Math" panose="02040503050406030204" pitchFamily="18" charset="0"/>
                        </a:rPr>
                        <m:t>or</m:t>
                      </m:r>
                      <m:r>
                        <a:rPr kumimoji="0" lang="en-AU" sz="7200" b="0" i="0" u="none" strike="noStrike" kern="1200" cap="none" spc="0" normalizeH="0" baseline="0" noProof="0" smtClean="0">
                          <a:ln>
                            <a:noFill/>
                          </a:ln>
                          <a:solidFill>
                            <a:srgbClr val="22272B"/>
                          </a:solidFill>
                          <a:effectLst/>
                          <a:uLnTx/>
                          <a:uFillTx/>
                          <a:latin typeface="Cambria Math" panose="02040503050406030204" pitchFamily="18" charset="0"/>
                        </a:rPr>
                        <m:t>  </m:t>
                      </m:r>
                      <m:f>
                        <m:fPr>
                          <m:ctrlPr>
                            <a:rPr kumimoji="0" lang="en-AU" sz="7200" b="0" i="1" u="none" strike="noStrike" kern="1200" cap="none" spc="0" normalizeH="0" baseline="0" noProof="0">
                              <a:ln>
                                <a:noFill/>
                              </a:ln>
                              <a:solidFill>
                                <a:srgbClr val="22272B"/>
                              </a:solidFill>
                              <a:effectLst/>
                              <a:uLnTx/>
                              <a:uFillTx/>
                              <a:latin typeface="Cambria Math" panose="02040503050406030204" pitchFamily="18" charset="0"/>
                            </a:rPr>
                          </m:ctrlPr>
                        </m:fPr>
                        <m:num>
                          <m:r>
                            <a:rPr kumimoji="0" lang="en-AU" sz="7200" b="0" i="0" u="none" strike="noStrike" kern="1200" cap="none" spc="0" normalizeH="0" baseline="0" noProof="0" smtClean="0">
                              <a:ln>
                                <a:noFill/>
                              </a:ln>
                              <a:solidFill>
                                <a:srgbClr val="22272B"/>
                              </a:solidFill>
                              <a:effectLst/>
                              <a:uLnTx/>
                              <a:uFillTx/>
                              <a:latin typeface="Cambria Math" panose="02040503050406030204" pitchFamily="18" charset="0"/>
                            </a:rPr>
                            <m:t>5</m:t>
                          </m:r>
                        </m:num>
                        <m:den>
                          <m:r>
                            <a:rPr kumimoji="0" lang="en-AU" sz="7200" b="0" i="0" u="none" strike="noStrike" kern="1200" cap="none" spc="0" normalizeH="0" baseline="0" noProof="0" smtClean="0">
                              <a:ln>
                                <a:noFill/>
                              </a:ln>
                              <a:solidFill>
                                <a:srgbClr val="22272B"/>
                              </a:solidFill>
                              <a:effectLst/>
                              <a:uLnTx/>
                              <a:uFillTx/>
                              <a:latin typeface="Cambria Math" panose="02040503050406030204" pitchFamily="18" charset="0"/>
                            </a:rPr>
                            <m:t>8</m:t>
                          </m:r>
                        </m:den>
                      </m:f>
                      <m:r>
                        <a:rPr kumimoji="0" lang="en-AU" sz="7200" b="0" i="0" u="none" strike="noStrike" kern="1200" cap="none" spc="0" normalizeH="0" baseline="0" noProof="0">
                          <a:ln>
                            <a:noFill/>
                          </a:ln>
                          <a:solidFill>
                            <a:srgbClr val="22272B"/>
                          </a:solidFill>
                          <a:effectLst/>
                          <a:uLnTx/>
                          <a:uFillTx/>
                          <a:latin typeface="Cambria Math" panose="02040503050406030204" pitchFamily="18" charset="0"/>
                        </a:rPr>
                        <m:t> </m:t>
                      </m:r>
                    </m:oMath>
                  </m:oMathPara>
                </a14:m>
                <a:endParaRPr lang="en-AU" sz="7200"/>
              </a:p>
            </p:txBody>
          </p:sp>
        </mc:Choice>
        <mc:Fallback xmlns="">
          <p:sp>
            <p:nvSpPr>
              <p:cNvPr id="10" name="TextBox 9">
                <a:extLst>
                  <a:ext uri="{FF2B5EF4-FFF2-40B4-BE49-F238E27FC236}">
                    <a16:creationId xmlns:a16="http://schemas.microsoft.com/office/drawing/2014/main" id="{19CD45C1-544D-E051-7CF4-EF3279FED078}"/>
                  </a:ext>
                </a:extLst>
              </p:cNvPr>
              <p:cNvSpPr txBox="1">
                <a:spLocks noRot="1" noChangeAspect="1" noMove="1" noResize="1" noEditPoints="1" noAdjustHandles="1" noChangeArrowheads="1" noChangeShapeType="1" noTextEdit="1"/>
              </p:cNvSpPr>
              <p:nvPr/>
            </p:nvSpPr>
            <p:spPr>
              <a:xfrm>
                <a:off x="2682240" y="3194721"/>
                <a:ext cx="6096000" cy="219643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13691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783CBA2-623B-DF27-E4F7-BC457929F0BC}"/>
              </a:ext>
            </a:extLst>
          </p:cNvPr>
          <p:cNvSpPr txBox="1"/>
          <p:nvPr/>
        </p:nvSpPr>
        <p:spPr>
          <a:xfrm>
            <a:off x="1190708" y="1520785"/>
            <a:ext cx="10293292" cy="3816429"/>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Convert:</a:t>
            </a:r>
            <a:endPar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endParaRPr>
          </a:p>
          <a:p>
            <a:pPr marL="571500" marR="0" lvl="0" indent="-571500" algn="ctr"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105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millimetres</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into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centimetres</a:t>
            </a:r>
            <a:endPar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endParaRPr>
          </a:p>
          <a:p>
            <a:pPr marL="571500" marR="0" lvl="0" indent="-571500" algn="ctr" defTabSz="609585"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AU" sz="4400">
                <a:solidFill>
                  <a:srgbClr val="22272B"/>
                </a:solidFill>
                <a:latin typeface="Arial" panose="020B0604020202020204"/>
              </a:rPr>
              <a:t>27</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centimetres</a:t>
            </a:r>
            <a:r>
              <a:rPr kumimoji="0" lang="en-AU" sz="4400" b="0" i="0" u="none" strike="noStrike" kern="1200" cap="none" spc="0" normalizeH="0" baseline="0" noProof="0">
                <a:ln>
                  <a:noFill/>
                </a:ln>
                <a:solidFill>
                  <a:srgbClr val="22272B"/>
                </a:solidFill>
                <a:effectLst/>
                <a:uLnTx/>
                <a:uFillTx/>
                <a:latin typeface="Arial" panose="020B0604020202020204"/>
                <a:ea typeface="+mn-ea"/>
                <a:cs typeface="+mn-cs"/>
              </a:rPr>
              <a:t> into </a:t>
            </a:r>
            <a:r>
              <a:rPr kumimoji="0" lang="en-AU" sz="4400" b="1" i="0" u="none" strike="noStrike" kern="1200" cap="none" spc="0" normalizeH="0" baseline="0" noProof="0">
                <a:ln>
                  <a:noFill/>
                </a:ln>
                <a:solidFill>
                  <a:srgbClr val="22272B"/>
                </a:solidFill>
                <a:effectLst/>
                <a:uLnTx/>
                <a:uFillTx/>
                <a:latin typeface="Arial" panose="020B0604020202020204"/>
                <a:ea typeface="+mn-ea"/>
                <a:cs typeface="+mn-cs"/>
              </a:rPr>
              <a:t>millimetres</a:t>
            </a:r>
            <a:endPar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endParaRPr>
          </a:p>
          <a:p>
            <a:pPr marL="571500" marR="0" lvl="0" indent="-57150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E98E276-1F19-7DAB-CADA-E75F528471E3}"/>
              </a:ext>
            </a:extLst>
          </p:cNvPr>
          <p:cNvSpPr txBox="1"/>
          <p:nvPr/>
        </p:nvSpPr>
        <p:spPr>
          <a:xfrm>
            <a:off x="0" y="1134581"/>
            <a:ext cx="12128626" cy="738664"/>
          </a:xfrm>
          <a:prstGeom prst="rect">
            <a:avLst/>
          </a:prstGeom>
          <a:noFill/>
        </p:spPr>
        <p:txBody>
          <a:bodyPr wrap="square">
            <a:spAutoFit/>
          </a:bodyPr>
          <a:lstStyle/>
          <a:p>
            <a:pPr algn="ctr"/>
            <a:r>
              <a:rPr lang="en-AU" sz="4200" dirty="0"/>
              <a:t>Which of the following items is </a:t>
            </a:r>
            <a:r>
              <a:rPr lang="en-AU" sz="4200" b="1" dirty="0"/>
              <a:t>about a kilogram</a:t>
            </a:r>
            <a:r>
              <a:rPr lang="en-AU" sz="4200" dirty="0"/>
              <a:t>? </a:t>
            </a:r>
          </a:p>
        </p:txBody>
      </p:sp>
      <p:sp>
        <p:nvSpPr>
          <p:cNvPr id="7" name="TextBox 6">
            <a:extLst>
              <a:ext uri="{FF2B5EF4-FFF2-40B4-BE49-F238E27FC236}">
                <a16:creationId xmlns:a16="http://schemas.microsoft.com/office/drawing/2014/main" id="{10E3647D-3ACD-B2BE-727B-D65250EA6962}"/>
              </a:ext>
            </a:extLst>
          </p:cNvPr>
          <p:cNvSpPr txBox="1"/>
          <p:nvPr/>
        </p:nvSpPr>
        <p:spPr>
          <a:xfrm>
            <a:off x="4264050" y="1771459"/>
            <a:ext cx="7219950" cy="3562350"/>
          </a:xfrm>
          <a:prstGeom prst="rect">
            <a:avLst/>
          </a:prstGeom>
          <a:noFill/>
        </p:spPr>
        <p:txBody>
          <a:bodyPr wrap="square" lIns="0" tIns="0" rIns="0" bIns="0" rtlCol="0">
            <a:noAutofit/>
          </a:bodyPr>
          <a:lstStyle/>
          <a:p>
            <a:pPr marL="571500" indent="-571500" algn="l">
              <a:lnSpc>
                <a:spcPct val="150000"/>
              </a:lnSpc>
              <a:buFont typeface="Arial" panose="020B0604020202020204" pitchFamily="34" charset="0"/>
              <a:buChar char="•"/>
            </a:pPr>
            <a:r>
              <a:rPr lang="en-AU" sz="4400" dirty="0"/>
              <a:t> </a:t>
            </a:r>
            <a:r>
              <a:rPr lang="en-AU" sz="3600" dirty="0"/>
              <a:t>banana</a:t>
            </a:r>
          </a:p>
          <a:p>
            <a:pPr marL="571500" indent="-571500" algn="l">
              <a:lnSpc>
                <a:spcPct val="150000"/>
              </a:lnSpc>
              <a:buFont typeface="Arial" panose="020B0604020202020204" pitchFamily="34" charset="0"/>
              <a:buChar char="•"/>
            </a:pPr>
            <a:r>
              <a:rPr lang="en-AU" sz="3600" dirty="0"/>
              <a:t> glue stick</a:t>
            </a:r>
          </a:p>
          <a:p>
            <a:pPr marL="571500" indent="-571500" algn="l">
              <a:lnSpc>
                <a:spcPct val="150000"/>
              </a:lnSpc>
              <a:buFont typeface="Arial" panose="020B0604020202020204" pitchFamily="34" charset="0"/>
              <a:buChar char="•"/>
            </a:pPr>
            <a:r>
              <a:rPr lang="en-AU" sz="3600" dirty="0"/>
              <a:t> laptop</a:t>
            </a:r>
          </a:p>
          <a:p>
            <a:pPr marL="571500" indent="-571500" algn="l">
              <a:lnSpc>
                <a:spcPct val="150000"/>
              </a:lnSpc>
              <a:buFont typeface="Arial" panose="020B0604020202020204" pitchFamily="34" charset="0"/>
              <a:buChar char="•"/>
            </a:pPr>
            <a:r>
              <a:rPr lang="en-AU" sz="3600" dirty="0"/>
              <a:t> a bucket of water</a:t>
            </a:r>
          </a:p>
          <a:p>
            <a:pPr marL="571500" indent="-571500" algn="l">
              <a:lnSpc>
                <a:spcPct val="150000"/>
              </a:lnSpc>
              <a:buFont typeface="Arial" panose="020B0604020202020204" pitchFamily="34" charset="0"/>
              <a:buChar char="•"/>
            </a:pPr>
            <a:r>
              <a:rPr lang="en-AU" sz="3600" dirty="0"/>
              <a:t> pencil case</a:t>
            </a:r>
          </a:p>
          <a:p>
            <a:pPr marL="571500" indent="-571500" algn="l">
              <a:lnSpc>
                <a:spcPct val="150000"/>
              </a:lnSpc>
              <a:buFont typeface="Arial" panose="020B0604020202020204" pitchFamily="34" charset="0"/>
              <a:buChar char="•"/>
            </a:pPr>
            <a:r>
              <a:rPr lang="en-AU" sz="3600" dirty="0"/>
              <a:t> you</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latin typeface="Arial"/>
                <a:cs typeface="Arial"/>
              </a:rPr>
              <a:t>Activity 4 – multiplying multiples reflection</a:t>
            </a:r>
            <a:endParaRPr lang="en-AU" dirty="0"/>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7D645F15-B448-8B91-EF08-C24639A922A7}"/>
              </a:ext>
            </a:extLst>
          </p:cNvPr>
          <p:cNvSpPr txBox="1"/>
          <p:nvPr/>
        </p:nvSpPr>
        <p:spPr>
          <a:xfrm>
            <a:off x="279504" y="919662"/>
            <a:ext cx="10972057" cy="627864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588645" indent="-228600">
              <a:lnSpc>
                <a:spcPct val="150000"/>
              </a:lnSpc>
            </a:pPr>
            <a:r>
              <a:rPr lang="en-US" sz="3600" b="1" dirty="0">
                <a:cs typeface="Arial"/>
              </a:rPr>
              <a:t>Reflection questions:</a:t>
            </a:r>
          </a:p>
          <a:p>
            <a:pPr marL="702945" indent="-342900">
              <a:lnSpc>
                <a:spcPct val="150000"/>
              </a:lnSpc>
              <a:buFont typeface="Arial"/>
              <a:buChar char="•"/>
            </a:pPr>
            <a:r>
              <a:rPr lang="en-US" sz="3600" dirty="0"/>
              <a:t>What strategy did you use to </a:t>
            </a:r>
            <a:r>
              <a:rPr lang="en-US" sz="3600" b="1" dirty="0"/>
              <a:t>multiply</a:t>
            </a:r>
            <a:r>
              <a:rPr lang="en-US" sz="3600" dirty="0"/>
              <a:t>?</a:t>
            </a:r>
            <a:endParaRPr lang="en-US" sz="3600" dirty="0">
              <a:cs typeface="Arial" panose="020B0604020202020204"/>
            </a:endParaRPr>
          </a:p>
          <a:p>
            <a:pPr marL="702945" indent="-342900">
              <a:lnSpc>
                <a:spcPct val="150000"/>
              </a:lnSpc>
              <a:buFont typeface="Arial"/>
              <a:buChar char="•"/>
            </a:pPr>
            <a:r>
              <a:rPr lang="en-US" sz="3600" dirty="0"/>
              <a:t>How did you decide where to place each answer?</a:t>
            </a:r>
            <a:endParaRPr lang="en-US" sz="3600" dirty="0">
              <a:cs typeface="Arial" panose="020B0604020202020204"/>
            </a:endParaRPr>
          </a:p>
          <a:p>
            <a:pPr marL="702945" indent="-342900">
              <a:lnSpc>
                <a:spcPct val="150000"/>
              </a:lnSpc>
              <a:buFont typeface="Arial"/>
              <a:buChar char="•"/>
            </a:pPr>
            <a:r>
              <a:rPr lang="en-US" sz="3600" dirty="0"/>
              <a:t>Did you change your </a:t>
            </a:r>
            <a:r>
              <a:rPr lang="en-US" sz="3600" b="1" dirty="0"/>
              <a:t>strategy</a:t>
            </a:r>
            <a:r>
              <a:rPr lang="en-US" sz="3600" dirty="0"/>
              <a:t> in the next round? Why or why not?</a:t>
            </a:r>
            <a:endParaRPr lang="en-US" sz="3600" dirty="0">
              <a:cs typeface="Arial" panose="020B0604020202020204"/>
            </a:endParaRPr>
          </a:p>
          <a:p>
            <a:pPr marL="702945" indent="-342900">
              <a:lnSpc>
                <a:spcPct val="150000"/>
              </a:lnSpc>
              <a:buFont typeface="Arial"/>
              <a:buChar char="•"/>
            </a:pPr>
            <a:r>
              <a:rPr lang="en-US" sz="3600" dirty="0"/>
              <a:t>What </a:t>
            </a:r>
            <a:r>
              <a:rPr lang="en-US" sz="3600" b="1" dirty="0"/>
              <a:t>modifications</a:t>
            </a:r>
            <a:r>
              <a:rPr lang="en-US" sz="3600" dirty="0"/>
              <a:t> could you suggest for the game?</a:t>
            </a:r>
            <a:endParaRPr lang="en-US" sz="3600" dirty="0">
              <a:cs typeface="Arial" panose="020B0604020202020204"/>
            </a:endParaRPr>
          </a:p>
          <a:p>
            <a:pPr algn="l"/>
            <a:endParaRPr lang="en-US" sz="1800" dirty="0"/>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C2BFFC-84AB-C30B-C108-1205554FD32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a:t>Multiple choice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2881517" y="886691"/>
            <a:ext cx="6195808" cy="754243"/>
          </a:xfrm>
        </p:spPr>
        <p:txBody>
          <a:bodyPr vert="horz" lIns="0" tIns="0" rIns="0" bIns="0" rtlCol="0" anchor="t">
            <a:noAutofit/>
          </a:bodyPr>
          <a:lstStyle/>
          <a:p>
            <a:r>
              <a:rPr lang="en-US" sz="4400" dirty="0">
                <a:latin typeface="Arial"/>
                <a:cs typeface="Arial"/>
              </a:rPr>
              <a:t>146, 155, 164, 173</a:t>
            </a:r>
          </a:p>
          <a:p>
            <a:r>
              <a:rPr lang="en-US" sz="4400" dirty="0">
                <a:latin typeface="Arial"/>
                <a:cs typeface="Arial"/>
              </a:rPr>
              <a:t>This pattern increases…</a:t>
            </a:r>
            <a:endParaRPr lang="en-US" sz="4400" dirty="0"/>
          </a:p>
        </p:txBody>
      </p:sp>
      <p:sp>
        <p:nvSpPr>
          <p:cNvPr id="9" name="TextBox 8">
            <a:extLst>
              <a:ext uri="{FF2B5EF4-FFF2-40B4-BE49-F238E27FC236}">
                <a16:creationId xmlns:a16="http://schemas.microsoft.com/office/drawing/2014/main" id="{9DAA2006-ADB4-D15B-B158-97DC39D266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1345520" y="2877704"/>
            <a:ext cx="10175920" cy="641396"/>
          </a:xfrm>
        </p:spPr>
        <p:txBody>
          <a:bodyPr anchor="ctr"/>
          <a:lstStyle/>
          <a:p>
            <a:r>
              <a:rPr lang="en-US" sz="3600" dirty="0">
                <a:cs typeface="Arial"/>
              </a:rPr>
              <a:t>by 8</a:t>
            </a:r>
            <a:endParaRPr lang="en-US" sz="3600" dirty="0"/>
          </a:p>
        </p:txBody>
      </p:sp>
      <p:sp>
        <p:nvSpPr>
          <p:cNvPr id="10" name="TextBox 9">
            <a:extLst>
              <a:ext uri="{FF2B5EF4-FFF2-40B4-BE49-F238E27FC236}">
                <a16:creationId xmlns:a16="http://schemas.microsoft.com/office/drawing/2014/main" id="{BF8FF86A-8259-4B6A-DD05-B5338957EDC3}"/>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1345520" y="3725617"/>
            <a:ext cx="10175920" cy="641396"/>
          </a:xfrm>
        </p:spPr>
        <p:txBody>
          <a:bodyPr anchor="ctr"/>
          <a:lstStyle/>
          <a:p>
            <a:r>
              <a:rPr lang="en-US" sz="3600" dirty="0">
                <a:cs typeface="Arial"/>
              </a:rPr>
              <a:t>by 9</a:t>
            </a:r>
            <a:endParaRPr lang="en-US" sz="3600" dirty="0"/>
          </a:p>
        </p:txBody>
      </p:sp>
      <p:sp>
        <p:nvSpPr>
          <p:cNvPr id="12" name="TextBox 11">
            <a:extLst>
              <a:ext uri="{FF2B5EF4-FFF2-40B4-BE49-F238E27FC236}">
                <a16:creationId xmlns:a16="http://schemas.microsoft.com/office/drawing/2014/main" id="{BF4B35E9-90ED-91CF-6E7D-3023EE60AD9E}"/>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1345520" y="4575670"/>
            <a:ext cx="10175920" cy="641396"/>
          </a:xfrm>
        </p:spPr>
        <p:txBody>
          <a:bodyPr anchor="ctr"/>
          <a:lstStyle/>
          <a:p>
            <a:r>
              <a:rPr lang="en-US" sz="3600" dirty="0">
                <a:cs typeface="Arial"/>
              </a:rPr>
              <a:t>by 7</a:t>
            </a:r>
            <a:endParaRPr lang="en-US" sz="3600"/>
          </a:p>
        </p:txBody>
      </p:sp>
      <p:sp>
        <p:nvSpPr>
          <p:cNvPr id="11" name="TextBox 10">
            <a:extLst>
              <a:ext uri="{FF2B5EF4-FFF2-40B4-BE49-F238E27FC236}">
                <a16:creationId xmlns:a16="http://schemas.microsoft.com/office/drawing/2014/main" id="{CD2988DB-B474-6203-5DD2-06443FE29ECF}"/>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1345520" y="5425723"/>
            <a:ext cx="10175920" cy="641396"/>
          </a:xfrm>
        </p:spPr>
        <p:txBody>
          <a:bodyPr anchor="ctr"/>
          <a:lstStyle/>
          <a:p>
            <a:r>
              <a:rPr lang="en-US" sz="3600" dirty="0">
                <a:cs typeface="Arial"/>
              </a:rPr>
              <a:t>by 10</a:t>
            </a:r>
            <a:endParaRPr lang="en-US" sz="3600"/>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(17)</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Four column graphs representing the different mountain bike trail usage for each season.">
            <a:extLst>
              <a:ext uri="{FF2B5EF4-FFF2-40B4-BE49-F238E27FC236}">
                <a16:creationId xmlns:a16="http://schemas.microsoft.com/office/drawing/2014/main" id="{78271F86-35F9-E6E4-40F0-4354C03DFCCC}"/>
              </a:ext>
            </a:extLst>
          </p:cNvPr>
          <p:cNvPicPr>
            <a:picLocks noChangeAspect="1"/>
          </p:cNvPicPr>
          <p:nvPr/>
        </p:nvPicPr>
        <p:blipFill>
          <a:blip r:embed="rId4"/>
          <a:stretch>
            <a:fillRect/>
          </a:stretch>
        </p:blipFill>
        <p:spPr>
          <a:xfrm>
            <a:off x="360392" y="1190905"/>
            <a:ext cx="6675344" cy="4924425"/>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F2844B00-B589-1BC4-3E88-624CFBBAE69E}"/>
              </a:ext>
            </a:extLst>
          </p:cNvPr>
          <p:cNvSpPr txBox="1"/>
          <p:nvPr/>
        </p:nvSpPr>
        <p:spPr>
          <a:xfrm>
            <a:off x="7263966" y="1204257"/>
            <a:ext cx="4412445" cy="56938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3200" dirty="0">
                <a:cs typeface="Arial"/>
              </a:rPr>
              <a:t>Which season had the most bike riders use the extreme trail?</a:t>
            </a:r>
          </a:p>
          <a:p>
            <a:endParaRPr lang="en-US" sz="3200" dirty="0">
              <a:cs typeface="Arial"/>
            </a:endParaRPr>
          </a:p>
          <a:p>
            <a:r>
              <a:rPr lang="en-US" sz="3200" dirty="0">
                <a:cs typeface="Arial"/>
              </a:rPr>
              <a:t>Which season had the most bike riders use the intermediate trail?</a:t>
            </a:r>
          </a:p>
          <a:p>
            <a:endParaRPr lang="en-US" sz="3200" dirty="0">
              <a:cs typeface="Arial"/>
            </a:endParaRPr>
          </a:p>
          <a:p>
            <a:r>
              <a:rPr lang="en-US" sz="3200" dirty="0">
                <a:cs typeface="Arial"/>
              </a:rPr>
              <a:t>Which season had the least bike riders use the easy trail?</a:t>
            </a:r>
            <a:endParaRPr lang="en-US" sz="3200" dirty="0"/>
          </a:p>
          <a:p>
            <a:endParaRPr lang="en-US" sz="1800" dirty="0">
              <a:cs typeface="Arial"/>
            </a:endParaRP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(18)</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36</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BAC11ED9-202D-5919-6278-E0416A47604B}"/>
              </a:ext>
            </a:extLst>
          </p:cNvPr>
          <p:cNvSpPr txBox="1"/>
          <p:nvPr/>
        </p:nvSpPr>
        <p:spPr>
          <a:xfrm>
            <a:off x="549300" y="1192214"/>
            <a:ext cx="10934700" cy="4462697"/>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4400" i="0" u="none" strike="noStrike" kern="1200" cap="none" spc="0" normalizeH="0" baseline="0" noProof="0" dirty="0">
                <a:ln>
                  <a:noFill/>
                </a:ln>
                <a:solidFill>
                  <a:srgbClr val="22272B"/>
                </a:solidFill>
                <a:effectLst/>
                <a:uLnTx/>
                <a:uFillTx/>
                <a:latin typeface="Arial" panose="020B0604020202020204"/>
                <a:ea typeface="+mn-ea"/>
                <a:cs typeface="+mn-cs"/>
              </a:rPr>
              <a:t>Draw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fraction strips </a:t>
            </a:r>
            <a:r>
              <a:rPr kumimoji="0" lang="en-AU" sz="4400" i="0" u="none" strike="noStrike" kern="1200" cap="none" spc="0" normalizeH="0" baseline="0" noProof="0" dirty="0">
                <a:ln>
                  <a:noFill/>
                </a:ln>
                <a:solidFill>
                  <a:srgbClr val="22272B"/>
                </a:solidFill>
                <a:effectLst/>
                <a:uLnTx/>
                <a:uFillTx/>
                <a:latin typeface="Arial" panose="020B0604020202020204"/>
                <a:ea typeface="+mn-ea"/>
                <a:cs typeface="+mn-cs"/>
              </a:rPr>
              <a:t>to</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 </a:t>
            </a:r>
            <a:r>
              <a:rPr kumimoji="0" lang="en-AU" sz="4400" i="0" u="none" strike="noStrike" kern="1200" cap="none" spc="0" normalizeH="0" baseline="0" noProof="0" dirty="0">
                <a:ln>
                  <a:noFill/>
                </a:ln>
                <a:solidFill>
                  <a:srgbClr val="22272B"/>
                </a:solidFill>
                <a:effectLst/>
                <a:uLnTx/>
                <a:uFillTx/>
                <a:latin typeface="Arial" panose="020B0604020202020204"/>
                <a:ea typeface="+mn-ea"/>
                <a:cs typeface="+mn-cs"/>
              </a:rPr>
              <a:t>show</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how these fractions are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equivalent:</a:t>
            </a:r>
          </a:p>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5400" i="0" u="none" strike="noStrike" kern="1200" cap="none" spc="0" normalizeH="0" baseline="0" noProof="0" dirty="0">
                <a:ln>
                  <a:noFill/>
                </a:ln>
                <a:solidFill>
                  <a:srgbClr val="22272B"/>
                </a:solidFill>
                <a:effectLst/>
                <a:uLnTx/>
                <a:uFillTx/>
                <a:latin typeface="Arial" panose="020B0604020202020204"/>
                <a:ea typeface="+mn-ea"/>
                <a:cs typeface="+mn-cs"/>
              </a:rPr>
              <a:t>2-quarters</a:t>
            </a:r>
          </a:p>
          <a:p>
            <a:pPr marL="0" marR="0" lvl="0" indent="0" algn="ctr" defTabSz="609585" rtl="0" eaLnBrk="1" fontAlgn="auto" latinLnBrk="0" hangingPunct="1">
              <a:lnSpc>
                <a:spcPct val="150000"/>
              </a:lnSpc>
              <a:spcBef>
                <a:spcPts val="0"/>
              </a:spcBef>
              <a:spcAft>
                <a:spcPts val="0"/>
              </a:spcAft>
              <a:buClrTx/>
              <a:buSzTx/>
              <a:buFontTx/>
              <a:buNone/>
              <a:tabLst/>
              <a:defRPr/>
            </a:pPr>
            <a:r>
              <a:rPr lang="en-AU" sz="5400" dirty="0">
                <a:solidFill>
                  <a:srgbClr val="22272B"/>
                </a:solidFill>
                <a:latin typeface="Arial" panose="020B0604020202020204"/>
              </a:rPr>
              <a:t>1-half</a:t>
            </a:r>
            <a:endParaRPr kumimoji="0" lang="en-AU" sz="5400"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8817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EDC10BC-005C-A60F-5E8B-E756BD75ABB5}"/>
              </a:ext>
            </a:extLst>
          </p:cNvPr>
          <p:cNvSpPr txBox="1"/>
          <p:nvPr/>
        </p:nvSpPr>
        <p:spPr>
          <a:xfrm>
            <a:off x="636998" y="905601"/>
            <a:ext cx="11075541" cy="5845383"/>
          </a:xfrm>
          <a:prstGeom prst="rect">
            <a:avLst/>
          </a:prstGeom>
          <a:noFill/>
        </p:spPr>
        <p:txBody>
          <a:bodyPr wrap="square">
            <a:spAutoFit/>
          </a:bodyPr>
          <a:lstStyle/>
          <a:p>
            <a:r>
              <a:rPr lang="en-AU" sz="4400"/>
              <a:t>Record if the following activities would be measured in </a:t>
            </a:r>
            <a:r>
              <a:rPr lang="en-AU" sz="4400" b="1"/>
              <a:t>minutes</a:t>
            </a:r>
            <a:r>
              <a:rPr lang="en-AU" sz="4400"/>
              <a:t> or </a:t>
            </a:r>
            <a:r>
              <a:rPr lang="en-AU" sz="4400" b="1"/>
              <a:t>seconds</a:t>
            </a:r>
            <a:r>
              <a:rPr lang="en-AU" sz="4400"/>
              <a:t>:</a:t>
            </a:r>
          </a:p>
          <a:p>
            <a:pPr>
              <a:lnSpc>
                <a:spcPct val="150000"/>
              </a:lnSpc>
            </a:pPr>
            <a:endParaRPr lang="en-AU" sz="1050"/>
          </a:p>
          <a:p>
            <a:pPr marL="571500" indent="-571500">
              <a:lnSpc>
                <a:spcPct val="150000"/>
              </a:lnSpc>
              <a:buFont typeface="Arial" panose="020B0604020202020204" pitchFamily="34" charset="0"/>
              <a:buChar char="•"/>
            </a:pPr>
            <a:r>
              <a:rPr lang="en-AU" sz="4400"/>
              <a:t>Reading a short story</a:t>
            </a:r>
          </a:p>
          <a:p>
            <a:pPr marL="571500" indent="-571500">
              <a:lnSpc>
                <a:spcPct val="150000"/>
              </a:lnSpc>
              <a:buFont typeface="Arial" panose="020B0604020202020204" pitchFamily="34" charset="0"/>
              <a:buChar char="•"/>
            </a:pPr>
            <a:r>
              <a:rPr lang="en-AU" sz="4400"/>
              <a:t>Taking a shower</a:t>
            </a:r>
          </a:p>
          <a:p>
            <a:pPr marL="571500" indent="-571500">
              <a:lnSpc>
                <a:spcPct val="150000"/>
              </a:lnSpc>
              <a:buFont typeface="Arial" panose="020B0604020202020204" pitchFamily="34" charset="0"/>
              <a:buChar char="•"/>
            </a:pPr>
            <a:r>
              <a:rPr lang="en-AU" sz="4400"/>
              <a:t>Counting to 20</a:t>
            </a:r>
          </a:p>
          <a:p>
            <a:pPr marL="571500" indent="-571500">
              <a:lnSpc>
                <a:spcPct val="150000"/>
              </a:lnSpc>
              <a:buFont typeface="Arial" panose="020B0604020202020204" pitchFamily="34" charset="0"/>
              <a:buChar char="•"/>
            </a:pPr>
            <a:r>
              <a:rPr lang="en-AU" sz="4400"/>
              <a:t>Eating lunch</a:t>
            </a:r>
            <a:r>
              <a:rPr lang="en-AU" sz="4400" dirty="0"/>
              <a:t>.</a:t>
            </a:r>
            <a:endParaRPr lang="en-AU" sz="4400"/>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Box 12">
            <a:extLst>
              <a:ext uri="{FF2B5EF4-FFF2-40B4-BE49-F238E27FC236}">
                <a16:creationId xmlns:a16="http://schemas.microsoft.com/office/drawing/2014/main" id="{B1EC9CD6-8552-745A-6DB8-1A8C09462C78}"/>
              </a:ext>
            </a:extLst>
          </p:cNvPr>
          <p:cNvSpPr txBox="1"/>
          <p:nvPr/>
        </p:nvSpPr>
        <p:spPr>
          <a:xfrm>
            <a:off x="246024" y="887007"/>
            <a:ext cx="10481244" cy="3013838"/>
          </a:xfrm>
          <a:prstGeom prst="rect">
            <a:avLst/>
          </a:prstGeom>
          <a:noFill/>
        </p:spPr>
        <p:txBody>
          <a:bodyPr wrap="square" lIns="91440" tIns="45720" rIns="91440" bIns="45720" anchor="t">
            <a:spAutoFit/>
          </a:bodyPr>
          <a:lstStyle/>
          <a:p>
            <a:pPr>
              <a:lnSpc>
                <a:spcPct val="150000"/>
              </a:lnSpc>
            </a:pPr>
            <a:r>
              <a:rPr lang="en-AU" sz="4400" dirty="0"/>
              <a:t>This </a:t>
            </a:r>
            <a:r>
              <a:rPr lang="en-AU" sz="4400" b="1" dirty="0"/>
              <a:t>net</a:t>
            </a:r>
            <a:r>
              <a:rPr lang="en-AU" sz="4400" dirty="0"/>
              <a:t> can be folded to make a </a:t>
            </a:r>
            <a:r>
              <a:rPr lang="en-AU" sz="4400" b="1" dirty="0"/>
              <a:t>three-dimensional object</a:t>
            </a:r>
            <a:r>
              <a:rPr lang="en-AU" sz="4400" dirty="0"/>
              <a:t>. What object will it make when folded? </a:t>
            </a:r>
          </a:p>
        </p:txBody>
      </p:sp>
      <p:pic>
        <p:nvPicPr>
          <p:cNvPr id="15" name="Picture 14" descr="A net of a cube with 4 squares across and 3 down">
            <a:extLst>
              <a:ext uri="{FF2B5EF4-FFF2-40B4-BE49-F238E27FC236}">
                <a16:creationId xmlns:a16="http://schemas.microsoft.com/office/drawing/2014/main" id="{ED1A9CF7-A847-FFF4-7091-27294D30A59E}"/>
              </a:ext>
            </a:extLst>
          </p:cNvPr>
          <p:cNvPicPr>
            <a:picLocks noChangeAspect="1"/>
          </p:cNvPicPr>
          <p:nvPr/>
        </p:nvPicPr>
        <p:blipFill>
          <a:blip r:embed="rId4"/>
          <a:stretch>
            <a:fillRect/>
          </a:stretch>
        </p:blipFill>
        <p:spPr>
          <a:xfrm rot="10800000">
            <a:off x="7459869" y="3092147"/>
            <a:ext cx="4007199" cy="3145231"/>
          </a:xfrm>
          <a:prstGeom prst="rect">
            <a:avLst/>
          </a:prstGeom>
        </p:spPr>
      </p:pic>
      <p:sp>
        <p:nvSpPr>
          <p:cNvPr id="17" name="TextBox 16">
            <a:extLst>
              <a:ext uri="{FF2B5EF4-FFF2-40B4-BE49-F238E27FC236}">
                <a16:creationId xmlns:a16="http://schemas.microsoft.com/office/drawing/2014/main" id="{7E50F93F-D003-383B-B281-1AF1444A1D4B}"/>
              </a:ext>
            </a:extLst>
          </p:cNvPr>
          <p:cNvSpPr txBox="1"/>
          <p:nvPr/>
        </p:nvSpPr>
        <p:spPr>
          <a:xfrm>
            <a:off x="246025" y="4499824"/>
            <a:ext cx="7031076" cy="1998176"/>
          </a:xfrm>
          <a:prstGeom prst="rect">
            <a:avLst/>
          </a:prstGeom>
          <a:noFill/>
        </p:spPr>
        <p:txBody>
          <a:bodyPr wrap="square" lIns="91440" tIns="45720" rIns="91440" bIns="45720" anchor="t">
            <a:spAutoFit/>
          </a:bodyPr>
          <a:lstStyle/>
          <a:p>
            <a:pPr>
              <a:lnSpc>
                <a:spcPct val="150000"/>
              </a:lnSpc>
            </a:pPr>
            <a:r>
              <a:rPr lang="en-AU" sz="4400" dirty="0"/>
              <a:t>Describe the </a:t>
            </a:r>
            <a:r>
              <a:rPr lang="en-AU" sz="4400" b="1" dirty="0"/>
              <a:t>faces, edges</a:t>
            </a:r>
            <a:r>
              <a:rPr lang="en-AU" sz="4400" dirty="0"/>
              <a:t> and </a:t>
            </a:r>
            <a:r>
              <a:rPr lang="en-AU" sz="4400" b="1" dirty="0"/>
              <a:t>vertices</a:t>
            </a:r>
            <a:r>
              <a:rPr lang="en-AU" sz="4400" dirty="0"/>
              <a:t> of the object.</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latin typeface="Arial"/>
                <a:cs typeface="Arial"/>
              </a:rPr>
              <a:t>Activity 5 – odds and evens</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9 squares - The first one says when you add 2 even numbers, the answer is even. The second one is when you add 2 odd numbers, the number is odd.&#10;The third box says if you add an even number to an odd number, the answer is even.&#10;The fourth box states when you multiply by an odd number, the answer is odd.&#10;The fifth box states when you multiply by an even number, the answer is even.&#10;The sixth box says doubling a number results in an even number&#10;The next box states when you multiply a number by itself, the answer is even. The next box says the sum of 4 even numbers is divisible by 2. The last box states when you add 3 consecutive numbers, the answer is even.">
            <a:extLst>
              <a:ext uri="{FF2B5EF4-FFF2-40B4-BE49-F238E27FC236}">
                <a16:creationId xmlns:a16="http://schemas.microsoft.com/office/drawing/2014/main" id="{4655B553-6FCC-5856-8E42-BC3ECFBD806E}"/>
              </a:ext>
            </a:extLst>
          </p:cNvPr>
          <p:cNvPicPr>
            <a:picLocks noChangeAspect="1"/>
          </p:cNvPicPr>
          <p:nvPr/>
        </p:nvPicPr>
        <p:blipFill>
          <a:blip r:embed="rId4"/>
          <a:stretch>
            <a:fillRect/>
          </a:stretch>
        </p:blipFill>
        <p:spPr>
          <a:xfrm>
            <a:off x="2823197" y="964406"/>
            <a:ext cx="5938388" cy="5548312"/>
          </a:xfrm>
          <a:prstGeom prst="rect">
            <a:avLst/>
          </a:prstGeom>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41082" y="1859029"/>
            <a:ext cx="11243037" cy="893226"/>
          </a:xfrm>
        </p:spPr>
        <p:txBody>
          <a:bodyPr vert="horz" lIns="0" tIns="0" rIns="0" bIns="0" rtlCol="0" anchor="t">
            <a:noAutofit/>
          </a:bodyPr>
          <a:lstStyle/>
          <a:p>
            <a:r>
              <a:rPr lang="en-AU" sz="4400" dirty="0">
                <a:latin typeface="Arial"/>
                <a:cs typeface="Arial"/>
              </a:rPr>
              <a:t>94, 104, 114, 124</a:t>
            </a:r>
            <a:endParaRPr lang="en-AU" sz="4400"/>
          </a:p>
        </p:txBody>
      </p:sp>
      <p:sp>
        <p:nvSpPr>
          <p:cNvPr id="7" name="TextBox 6">
            <a:extLst>
              <a:ext uri="{FF2B5EF4-FFF2-40B4-BE49-F238E27FC236}">
                <a16:creationId xmlns:a16="http://schemas.microsoft.com/office/drawing/2014/main" id="{874196D0-1816-E429-0B52-9649FBAFC063}"/>
              </a:ext>
            </a:extLst>
          </p:cNvPr>
          <p:cNvSpPr txBox="1"/>
          <p:nvPr/>
        </p:nvSpPr>
        <p:spPr>
          <a:xfrm>
            <a:off x="772195" y="3040396"/>
            <a:ext cx="11073868" cy="769441"/>
          </a:xfrm>
          <a:prstGeom prst="rect">
            <a:avLst/>
          </a:prstGeom>
          <a:noFill/>
        </p:spPr>
        <p:txBody>
          <a:bodyPr wrap="square" lIns="91440" tIns="45720" rIns="91440" bIns="45720" anchor="t">
            <a:spAutoFit/>
          </a:bodyPr>
          <a:lstStyle/>
          <a:p>
            <a:r>
              <a:rPr lang="en-AU" sz="4400" dirty="0"/>
              <a:t>This pattern increases by </a:t>
            </a:r>
            <a:r>
              <a:rPr lang="en-AU" sz="4400" b="1" dirty="0"/>
              <a:t>multiples of 10</a:t>
            </a:r>
            <a:r>
              <a:rPr lang="en-AU" sz="4400" dirty="0"/>
              <a:t>.</a:t>
            </a:r>
            <a:endParaRPr lang="en-AU" sz="4400" dirty="0">
              <a:cs typeface="Arial"/>
            </a:endParaRP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(21)</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6BD3AE32-F1C0-89A1-E575-7D756682B2A8}"/>
              </a:ext>
            </a:extLst>
          </p:cNvPr>
          <p:cNvSpPr txBox="1"/>
          <p:nvPr/>
        </p:nvSpPr>
        <p:spPr>
          <a:xfrm>
            <a:off x="2252763" y="1673179"/>
            <a:ext cx="7686474" cy="249831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200000"/>
              </a:lnSpc>
            </a:pPr>
            <a:r>
              <a:rPr lang="en-US" sz="4400" dirty="0">
                <a:cs typeface="Arial"/>
              </a:rPr>
              <a:t>Write a definition for the term '</a:t>
            </a:r>
            <a:r>
              <a:rPr lang="en-US" sz="4400" b="1" dirty="0">
                <a:cs typeface="Arial"/>
              </a:rPr>
              <a:t>many to one scale</a:t>
            </a:r>
            <a:r>
              <a:rPr lang="en-US" sz="4400" dirty="0">
                <a:cs typeface="Arial"/>
              </a:rPr>
              <a:t>'.</a:t>
            </a:r>
            <a:endParaRPr lang="en-US" dirty="0"/>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(22)</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43</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468084BB-28A5-6022-EC7D-70A5E8E58A72}"/>
              </a:ext>
            </a:extLst>
          </p:cNvPr>
          <p:cNvSpPr txBox="1"/>
          <p:nvPr/>
        </p:nvSpPr>
        <p:spPr>
          <a:xfrm>
            <a:off x="272143" y="1429476"/>
            <a:ext cx="11673833" cy="2055756"/>
          </a:xfrm>
          <a:prstGeom prst="rect">
            <a:avLst/>
          </a:prstGeom>
          <a:noFill/>
        </p:spPr>
        <p:txBody>
          <a:bodyPr wrap="square">
            <a:spAutoFit/>
          </a:bodyPr>
          <a:lstStyle/>
          <a:p>
            <a:pPr marL="571500" marR="0" lvl="0" indent="-571500" algn="l" defTabSz="609585" rtl="0" eaLnBrk="1" fontAlgn="auto" latinLnBrk="0" hangingPunct="1">
              <a:lnSpc>
                <a:spcPct val="150000"/>
              </a:lnSpc>
              <a:spcBef>
                <a:spcPts val="1200"/>
              </a:spcBef>
              <a:spcAft>
                <a:spcPts val="600"/>
              </a:spcAft>
              <a:buClrTx/>
              <a:buSzTx/>
              <a:buFont typeface="Arial" panose="020B0604020202020204" pitchFamily="34" charset="0"/>
              <a:buChar char="•"/>
              <a:tabLst>
                <a:tab pos="408305" algn="l"/>
              </a:tabLst>
              <a:defRPr/>
            </a:pPr>
            <a:r>
              <a:rPr kumimoji="0" lang="en-AU" sz="4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How many quarters make one and 3- quarters?</a:t>
            </a:r>
          </a:p>
          <a:p>
            <a:pPr marL="571500" marR="0" lvl="0" indent="-571500" algn="l" defTabSz="609585" rtl="0" eaLnBrk="1" fontAlgn="auto" latinLnBrk="0" hangingPunct="1">
              <a:lnSpc>
                <a:spcPct val="150000"/>
              </a:lnSpc>
              <a:spcBef>
                <a:spcPts val="1200"/>
              </a:spcBef>
              <a:spcAft>
                <a:spcPts val="600"/>
              </a:spcAft>
              <a:buClrTx/>
              <a:buSzTx/>
              <a:buFont typeface="Arial" panose="020B0604020202020204" pitchFamily="34" charset="0"/>
              <a:buChar char="•"/>
              <a:tabLst>
                <a:tab pos="408305" algn="l"/>
              </a:tabLst>
              <a:defRPr/>
            </a:pPr>
            <a:r>
              <a:rPr kumimoji="0" lang="en-AU" sz="4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How many wholes do 12-sixths make?</a:t>
            </a:r>
          </a:p>
        </p:txBody>
      </p:sp>
      <p:sp>
        <p:nvSpPr>
          <p:cNvPr id="5" name="TextBox 4">
            <a:extLst>
              <a:ext uri="{FF2B5EF4-FFF2-40B4-BE49-F238E27FC236}">
                <a16:creationId xmlns:a16="http://schemas.microsoft.com/office/drawing/2014/main" id="{D4CABE0E-74E2-6CA1-323F-A05899E19456}"/>
              </a:ext>
            </a:extLst>
          </p:cNvPr>
          <p:cNvSpPr txBox="1"/>
          <p:nvPr/>
        </p:nvSpPr>
        <p:spPr>
          <a:xfrm>
            <a:off x="1020357" y="4333421"/>
            <a:ext cx="9525525" cy="982513"/>
          </a:xfrm>
          <a:prstGeom prst="rect">
            <a:avLst/>
          </a:prstGeom>
          <a:noFill/>
        </p:spPr>
        <p:txBody>
          <a:bodyPr wrap="square">
            <a:spAutoFit/>
          </a:bodyPr>
          <a:lstStyle/>
          <a:p>
            <a:pPr marR="0" lvl="0" algn="ctr" defTabSz="609585" rtl="0" eaLnBrk="1" fontAlgn="auto" latinLnBrk="0" hangingPunct="1">
              <a:lnSpc>
                <a:spcPct val="150000"/>
              </a:lnSpc>
              <a:spcBef>
                <a:spcPts val="1200"/>
              </a:spcBef>
              <a:spcAft>
                <a:spcPts val="600"/>
              </a:spcAft>
              <a:buClrTx/>
              <a:buSzTx/>
              <a:tabLst>
                <a:tab pos="408305" algn="l"/>
              </a:tabLst>
              <a:defRPr/>
            </a:pPr>
            <a:r>
              <a:rPr kumimoji="0" lang="en-AU" sz="4400" b="1"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Communicate</a:t>
            </a:r>
            <a:r>
              <a:rPr kumimoji="0" lang="en-AU" sz="44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 your </a:t>
            </a:r>
            <a:r>
              <a:rPr kumimoji="0" lang="en-AU" sz="4400" b="1"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reasoning</a:t>
            </a:r>
            <a:r>
              <a:rPr kumimoji="0" lang="en-AU" sz="44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14051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49F617C-7BD8-130A-A2B4-A72FA8AF6949}"/>
              </a:ext>
            </a:extLst>
          </p:cNvPr>
          <p:cNvSpPr txBox="1"/>
          <p:nvPr/>
        </p:nvSpPr>
        <p:spPr>
          <a:xfrm>
            <a:off x="705492" y="1105293"/>
            <a:ext cx="11240484" cy="2492990"/>
          </a:xfrm>
          <a:prstGeom prst="rect">
            <a:avLst/>
          </a:prstGeom>
          <a:noFill/>
        </p:spPr>
        <p:txBody>
          <a:bodyPr wrap="square">
            <a:spAutoFit/>
          </a:bodyPr>
          <a:lstStyle/>
          <a:p>
            <a:pPr algn="ctr">
              <a:lnSpc>
                <a:spcPct val="150000"/>
              </a:lnSpc>
            </a:pPr>
            <a:r>
              <a:rPr lang="en-AU" sz="4400"/>
              <a:t>Daniella sets her timer for 2 </a:t>
            </a:r>
            <a:r>
              <a:rPr lang="en-AU" sz="4400" b="1" dirty="0"/>
              <a:t>minutes. </a:t>
            </a:r>
          </a:p>
          <a:p>
            <a:pPr algn="ctr">
              <a:lnSpc>
                <a:spcPct val="150000"/>
              </a:lnSpc>
            </a:pPr>
            <a:r>
              <a:rPr lang="en-AU" sz="4400"/>
              <a:t>How many </a:t>
            </a:r>
            <a:r>
              <a:rPr lang="en-AU" sz="4400" b="1"/>
              <a:t>seconds</a:t>
            </a:r>
            <a:r>
              <a:rPr lang="en-AU" sz="4400"/>
              <a:t> until the timer rings?</a:t>
            </a:r>
          </a:p>
          <a:p>
            <a:endParaRPr lang="en-AU">
              <a:solidFill>
                <a:srgbClr val="FF0000"/>
              </a:solidFill>
            </a:endParaRPr>
          </a:p>
        </p:txBody>
      </p:sp>
      <p:pic>
        <p:nvPicPr>
          <p:cNvPr id="7" name="Picture 6" descr="Clock with the digital time of 2:00">
            <a:extLst>
              <a:ext uri="{FF2B5EF4-FFF2-40B4-BE49-F238E27FC236}">
                <a16:creationId xmlns:a16="http://schemas.microsoft.com/office/drawing/2014/main" id="{F51137EE-575F-F099-083B-E9D5649B70F5}"/>
              </a:ext>
            </a:extLst>
          </p:cNvPr>
          <p:cNvPicPr>
            <a:picLocks noChangeAspect="1"/>
          </p:cNvPicPr>
          <p:nvPr/>
        </p:nvPicPr>
        <p:blipFill>
          <a:blip r:embed="rId4"/>
          <a:stretch>
            <a:fillRect/>
          </a:stretch>
        </p:blipFill>
        <p:spPr>
          <a:xfrm>
            <a:off x="4506692" y="3240731"/>
            <a:ext cx="3178615" cy="3365269"/>
          </a:xfrm>
          <a:prstGeom prst="rect">
            <a:avLst/>
          </a:prstGeom>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8413592-525A-76C1-CC1A-6137B6D9A11E}"/>
              </a:ext>
            </a:extLst>
          </p:cNvPr>
          <p:cNvSpPr txBox="1"/>
          <p:nvPr/>
        </p:nvSpPr>
        <p:spPr>
          <a:xfrm>
            <a:off x="1900517" y="2114227"/>
            <a:ext cx="8390965" cy="1998176"/>
          </a:xfrm>
          <a:prstGeom prst="rect">
            <a:avLst/>
          </a:prstGeom>
          <a:noFill/>
        </p:spPr>
        <p:txBody>
          <a:bodyPr wrap="square" lIns="91440" tIns="45720" rIns="91440" bIns="45720" anchor="t">
            <a:spAutoFit/>
          </a:bodyPr>
          <a:lstStyle/>
          <a:p>
            <a:pPr algn="ctr">
              <a:lnSpc>
                <a:spcPct val="150000"/>
              </a:lnSpc>
            </a:pPr>
            <a:r>
              <a:rPr lang="en-AU" sz="4400"/>
              <a:t>How many </a:t>
            </a:r>
            <a:r>
              <a:rPr lang="en-AU" sz="4400" b="1" dirty="0"/>
              <a:t>minutes</a:t>
            </a:r>
            <a:r>
              <a:rPr lang="en-AU" sz="4400"/>
              <a:t> are in </a:t>
            </a:r>
          </a:p>
          <a:p>
            <a:pPr algn="ctr">
              <a:lnSpc>
                <a:spcPct val="150000"/>
              </a:lnSpc>
            </a:pPr>
            <a:r>
              <a:rPr lang="en-AU" sz="4400" dirty="0"/>
              <a:t>two</a:t>
            </a:r>
            <a:r>
              <a:rPr lang="en-AU" sz="4400"/>
              <a:t> and a half hours?</a:t>
            </a:r>
            <a:endParaRPr lang="en-AU" sz="4400" dirty="0">
              <a:cs typeface="Arial"/>
            </a:endParaRP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dirty="0">
                <a:latin typeface="Arial"/>
                <a:cs typeface="Arial"/>
              </a:rPr>
              <a:t>Activity 6 – number chart patterns</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number chart with blue dots on various numbers. These are: 4, 8, 12, 16, 20, 24, 28, 32, 36, 40, 44, 48, 52, 56, 60, 64, 68, 72, 76, 80, 84, 88, 92, 96 and 100.">
            <a:extLst>
              <a:ext uri="{FF2B5EF4-FFF2-40B4-BE49-F238E27FC236}">
                <a16:creationId xmlns:a16="http://schemas.microsoft.com/office/drawing/2014/main" id="{29CCF021-78AA-2152-2EBA-14DBA09CD7C1}"/>
              </a:ext>
            </a:extLst>
          </p:cNvPr>
          <p:cNvPicPr>
            <a:picLocks noChangeAspect="1"/>
          </p:cNvPicPr>
          <p:nvPr/>
        </p:nvPicPr>
        <p:blipFill>
          <a:blip r:embed="rId4"/>
          <a:stretch>
            <a:fillRect/>
          </a:stretch>
        </p:blipFill>
        <p:spPr>
          <a:xfrm>
            <a:off x="3046135" y="1095375"/>
            <a:ext cx="5099605" cy="5119688"/>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6312-4D47-D736-1580-5416FF14F3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0674C-5B03-98FC-310B-BB63294773C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4B172920-EC42-6A33-1517-E8439981ED94}"/>
              </a:ext>
            </a:extLst>
          </p:cNvPr>
          <p:cNvSpPr>
            <a:spLocks noGrp="1"/>
          </p:cNvSpPr>
          <p:nvPr>
            <p:ph type="title"/>
          </p:nvPr>
        </p:nvSpPr>
        <p:spPr>
          <a:xfrm>
            <a:off x="360000" y="360000"/>
            <a:ext cx="9901600" cy="545601"/>
          </a:xfrm>
        </p:spPr>
        <p:txBody>
          <a:bodyPr/>
          <a:lstStyle/>
          <a:p>
            <a:r>
              <a:rPr lang="en-US"/>
              <a:t>Multiple choice </a:t>
            </a:r>
            <a:r>
              <a:rPr lang="en-US" dirty="0">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14B8BC39-67FB-C657-188E-31701D36017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63F2F355-954E-44CF-4ECF-7CD3C57CE1C0}"/>
              </a:ext>
            </a:extLst>
          </p:cNvPr>
          <p:cNvSpPr>
            <a:spLocks noGrp="1"/>
          </p:cNvSpPr>
          <p:nvPr>
            <p:ph type="body" sz="quarter" idx="28"/>
          </p:nvPr>
        </p:nvSpPr>
        <p:spPr>
          <a:xfrm>
            <a:off x="467156" y="911570"/>
            <a:ext cx="11243037" cy="754243"/>
          </a:xfrm>
        </p:spPr>
        <p:txBody>
          <a:bodyPr vert="horz" lIns="0" tIns="0" rIns="0" bIns="0" rtlCol="0" anchor="t">
            <a:noAutofit/>
          </a:bodyPr>
          <a:lstStyle/>
          <a:p>
            <a:pPr algn="ctr"/>
            <a:r>
              <a:rPr lang="en-US" sz="4400" dirty="0">
                <a:latin typeface="Arial"/>
                <a:cs typeface="Arial"/>
              </a:rPr>
              <a:t>An example of an </a:t>
            </a:r>
            <a:r>
              <a:rPr lang="en-US" sz="4400" b="1" dirty="0">
                <a:latin typeface="Arial"/>
                <a:cs typeface="Arial"/>
              </a:rPr>
              <a:t>increasing number pattern</a:t>
            </a:r>
            <a:r>
              <a:rPr lang="en-US" sz="4400" dirty="0">
                <a:latin typeface="Arial"/>
                <a:cs typeface="Arial"/>
              </a:rPr>
              <a:t> by a </a:t>
            </a:r>
            <a:r>
              <a:rPr lang="en-US" sz="4400" b="1" dirty="0">
                <a:latin typeface="Arial"/>
                <a:cs typeface="Arial"/>
              </a:rPr>
              <a:t>constant amount</a:t>
            </a:r>
            <a:r>
              <a:rPr lang="en-US" sz="4400" dirty="0">
                <a:latin typeface="Arial"/>
                <a:cs typeface="Arial"/>
              </a:rPr>
              <a:t> is:</a:t>
            </a:r>
            <a:endParaRPr lang="en-US"/>
          </a:p>
        </p:txBody>
      </p:sp>
      <p:sp>
        <p:nvSpPr>
          <p:cNvPr id="9" name="TextBox 8">
            <a:extLst>
              <a:ext uri="{FF2B5EF4-FFF2-40B4-BE49-F238E27FC236}">
                <a16:creationId xmlns:a16="http://schemas.microsoft.com/office/drawing/2014/main" id="{793EDF41-C42C-8273-E2DE-8E4910A00103}"/>
              </a:ext>
            </a:extLst>
          </p:cNvPr>
          <p:cNvSpPr txBox="1"/>
          <p:nvPr/>
        </p:nvSpPr>
        <p:spPr>
          <a:xfrm>
            <a:off x="651510" y="33803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6DCA7DBF-5599-1A3D-C39E-54412033284F}"/>
              </a:ext>
            </a:extLst>
          </p:cNvPr>
          <p:cNvSpPr>
            <a:spLocks noGrp="1"/>
          </p:cNvSpPr>
          <p:nvPr>
            <p:ph type="body" sz="quarter" idx="31"/>
          </p:nvPr>
        </p:nvSpPr>
        <p:spPr>
          <a:xfrm>
            <a:off x="1326470" y="3429000"/>
            <a:ext cx="10175920" cy="641396"/>
          </a:xfrm>
        </p:spPr>
        <p:txBody>
          <a:bodyPr anchor="ctr"/>
          <a:lstStyle/>
          <a:p>
            <a:r>
              <a:rPr lang="en-US" sz="3600" dirty="0">
                <a:cs typeface="Arial"/>
              </a:rPr>
              <a:t>44, 55, 66, 77, 88</a:t>
            </a:r>
            <a:endParaRPr lang="en-US" sz="3600"/>
          </a:p>
        </p:txBody>
      </p:sp>
      <p:sp>
        <p:nvSpPr>
          <p:cNvPr id="10" name="TextBox 9">
            <a:extLst>
              <a:ext uri="{FF2B5EF4-FFF2-40B4-BE49-F238E27FC236}">
                <a16:creationId xmlns:a16="http://schemas.microsoft.com/office/drawing/2014/main" id="{509AD87B-945E-EF0D-EE5D-D963ACE5480B}"/>
              </a:ext>
            </a:extLst>
          </p:cNvPr>
          <p:cNvSpPr txBox="1"/>
          <p:nvPr/>
        </p:nvSpPr>
        <p:spPr>
          <a:xfrm>
            <a:off x="651509" y="422827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9A4E7C9-5ADB-F023-46E3-7F1A450E28B3}"/>
              </a:ext>
            </a:extLst>
          </p:cNvPr>
          <p:cNvSpPr>
            <a:spLocks noGrp="1"/>
          </p:cNvSpPr>
          <p:nvPr>
            <p:ph type="body" sz="quarter" idx="30"/>
          </p:nvPr>
        </p:nvSpPr>
        <p:spPr>
          <a:xfrm>
            <a:off x="1326470" y="4276913"/>
            <a:ext cx="10175920" cy="641396"/>
          </a:xfrm>
        </p:spPr>
        <p:txBody>
          <a:bodyPr anchor="ctr"/>
          <a:lstStyle/>
          <a:p>
            <a:r>
              <a:rPr lang="en-US" sz="3600" dirty="0">
                <a:cs typeface="Arial"/>
              </a:rPr>
              <a:t>45, 76, 89, 100</a:t>
            </a:r>
            <a:endParaRPr lang="en-US" sz="3600"/>
          </a:p>
        </p:txBody>
      </p:sp>
      <p:sp>
        <p:nvSpPr>
          <p:cNvPr id="12" name="TextBox 11">
            <a:extLst>
              <a:ext uri="{FF2B5EF4-FFF2-40B4-BE49-F238E27FC236}">
                <a16:creationId xmlns:a16="http://schemas.microsoft.com/office/drawing/2014/main" id="{7A633D74-C65F-E185-EA4B-C6135BC39C93}"/>
              </a:ext>
            </a:extLst>
          </p:cNvPr>
          <p:cNvSpPr txBox="1"/>
          <p:nvPr/>
        </p:nvSpPr>
        <p:spPr>
          <a:xfrm>
            <a:off x="651508" y="507833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92C95EDB-DE45-91C1-57A8-4D7305326D0D}"/>
              </a:ext>
            </a:extLst>
          </p:cNvPr>
          <p:cNvSpPr>
            <a:spLocks noGrp="1"/>
          </p:cNvSpPr>
          <p:nvPr>
            <p:ph type="body" sz="quarter" idx="29"/>
          </p:nvPr>
        </p:nvSpPr>
        <p:spPr>
          <a:xfrm>
            <a:off x="1326470" y="5126966"/>
            <a:ext cx="10175920" cy="641396"/>
          </a:xfrm>
        </p:spPr>
        <p:txBody>
          <a:bodyPr anchor="ctr"/>
          <a:lstStyle/>
          <a:p>
            <a:r>
              <a:rPr lang="en-US" sz="3600" dirty="0">
                <a:cs typeface="Arial"/>
              </a:rPr>
              <a:t>23, 25, 27, 30</a:t>
            </a:r>
            <a:endParaRPr lang="en-US" sz="3600"/>
          </a:p>
        </p:txBody>
      </p:sp>
      <p:sp>
        <p:nvSpPr>
          <p:cNvPr id="11" name="TextBox 10">
            <a:extLst>
              <a:ext uri="{FF2B5EF4-FFF2-40B4-BE49-F238E27FC236}">
                <a16:creationId xmlns:a16="http://schemas.microsoft.com/office/drawing/2014/main" id="{19288423-CD91-9472-E346-D2D0ECB4C75C}"/>
              </a:ext>
            </a:extLst>
          </p:cNvPr>
          <p:cNvSpPr txBox="1"/>
          <p:nvPr/>
        </p:nvSpPr>
        <p:spPr>
          <a:xfrm>
            <a:off x="651507" y="59283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AA11334F-1845-E708-AB18-7FCB93CE3329}"/>
              </a:ext>
            </a:extLst>
          </p:cNvPr>
          <p:cNvSpPr>
            <a:spLocks noGrp="1"/>
          </p:cNvSpPr>
          <p:nvPr>
            <p:ph type="body" sz="quarter" idx="27"/>
          </p:nvPr>
        </p:nvSpPr>
        <p:spPr>
          <a:xfrm>
            <a:off x="1326470" y="5977019"/>
            <a:ext cx="10175920" cy="641396"/>
          </a:xfrm>
        </p:spPr>
        <p:txBody>
          <a:bodyPr anchor="ctr"/>
          <a:lstStyle/>
          <a:p>
            <a:r>
              <a:rPr lang="en-US" sz="3600" dirty="0">
                <a:cs typeface="Arial"/>
              </a:rPr>
              <a:t>59, 63, 66, 67</a:t>
            </a:r>
            <a:endParaRPr lang="en-US" sz="3600"/>
          </a:p>
        </p:txBody>
      </p:sp>
    </p:spTree>
    <p:extLst>
      <p:ext uri="{BB962C8B-B14F-4D97-AF65-F5344CB8AC3E}">
        <p14:creationId xmlns:p14="http://schemas.microsoft.com/office/powerpoint/2010/main" val="328577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(25)</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4EBA3DE-89F0-8344-C26C-7FF0EC503398}"/>
              </a:ext>
            </a:extLst>
          </p:cNvPr>
          <p:cNvSpPr txBox="1"/>
          <p:nvPr/>
        </p:nvSpPr>
        <p:spPr>
          <a:xfrm>
            <a:off x="509868" y="1142688"/>
            <a:ext cx="11172263" cy="503214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5400" dirty="0">
                <a:solidFill>
                  <a:schemeClr val="tx2"/>
                </a:solidFill>
                <a:ea typeface="+mn-lt"/>
                <a:cs typeface="+mn-lt"/>
              </a:rPr>
              <a:t>She sells seashells by the seashore.</a:t>
            </a:r>
          </a:p>
          <a:p>
            <a:pPr algn="ctr">
              <a:lnSpc>
                <a:spcPct val="150000"/>
              </a:lnSpc>
            </a:pPr>
            <a:endParaRPr lang="en-US" sz="2000" dirty="0">
              <a:solidFill>
                <a:schemeClr val="tx2"/>
              </a:solidFill>
              <a:cs typeface="Arial"/>
            </a:endParaRPr>
          </a:p>
          <a:p>
            <a:pPr algn="ctr">
              <a:lnSpc>
                <a:spcPct val="150000"/>
              </a:lnSpc>
            </a:pPr>
            <a:r>
              <a:rPr lang="en-US" sz="4400" dirty="0">
                <a:latin typeface="Arial"/>
                <a:ea typeface="Arial"/>
                <a:cs typeface="Arial"/>
              </a:rPr>
              <a:t>Use </a:t>
            </a:r>
            <a:r>
              <a:rPr lang="en-US" sz="4400" b="1" dirty="0">
                <a:latin typeface="Arial"/>
                <a:ea typeface="Arial"/>
                <a:cs typeface="Arial"/>
              </a:rPr>
              <a:t>tally marks </a:t>
            </a:r>
            <a:r>
              <a:rPr lang="en-US" sz="4400" dirty="0">
                <a:latin typeface="Arial"/>
                <a:ea typeface="Arial"/>
                <a:cs typeface="Arial"/>
              </a:rPr>
              <a:t>to create a </a:t>
            </a:r>
            <a:r>
              <a:rPr lang="en-US" sz="4400" b="1" dirty="0">
                <a:latin typeface="Arial"/>
                <a:ea typeface="Arial"/>
                <a:cs typeface="Arial"/>
              </a:rPr>
              <a:t>table</a:t>
            </a:r>
            <a:r>
              <a:rPr lang="en-US" sz="4400" dirty="0">
                <a:latin typeface="Arial"/>
                <a:ea typeface="Arial"/>
                <a:cs typeface="Arial"/>
              </a:rPr>
              <a:t> identifying how many times each letter appears in the sentence.</a:t>
            </a:r>
            <a:endParaRPr lang="en-US" sz="4400" dirty="0">
              <a:cs typeface="Arial"/>
            </a:endParaRPr>
          </a:p>
          <a:p>
            <a:pPr algn="l"/>
            <a:endParaRPr lang="en-US" sz="1800" dirty="0"/>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(26)</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50</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0FFB04F9-0A48-A755-A594-694DEAAA87C8}"/>
              </a:ext>
            </a:extLst>
          </p:cNvPr>
          <p:cNvSpPr txBox="1"/>
          <p:nvPr/>
        </p:nvSpPr>
        <p:spPr>
          <a:xfrm>
            <a:off x="974899" y="1405400"/>
            <a:ext cx="10242201" cy="982513"/>
          </a:xfrm>
          <a:prstGeom prst="rect">
            <a:avLst/>
          </a:prstGeom>
          <a:noFill/>
        </p:spPr>
        <p:txBody>
          <a:bodyPr wrap="square">
            <a:spAutoFit/>
          </a:bodyPr>
          <a:lstStyle/>
          <a:p>
            <a:pPr marL="0" marR="0" lvl="0" indent="0" algn="l" defTabSz="609585" rtl="0" eaLnBrk="1" fontAlgn="auto" latinLnBrk="0" hangingPunct="1">
              <a:lnSpc>
                <a:spcPct val="150000"/>
              </a:lnSpc>
              <a:spcBef>
                <a:spcPts val="1200"/>
              </a:spcBef>
              <a:spcAft>
                <a:spcPts val="600"/>
              </a:spcAft>
              <a:buClrTx/>
              <a:buSzTx/>
              <a:buFontTx/>
              <a:buNone/>
              <a:tabLst>
                <a:tab pos="408305" algn="l"/>
              </a:tabLst>
              <a:defRPr/>
            </a:pP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How many thirds in one and </a:t>
            </a:r>
            <a:r>
              <a:rPr lang="en-AU" sz="4400" dirty="0">
                <a:solidFill>
                  <a:srgbClr val="22272B"/>
                </a:solidFill>
                <a:latin typeface="Arial" panose="020B0604020202020204" pitchFamily="34" charset="0"/>
                <a:ea typeface="Calibri" panose="020F0502020204030204" pitchFamily="34" charset="0"/>
                <a:cs typeface="Times New Roman" panose="02020603050405020304" pitchFamily="18" charset="0"/>
              </a:rPr>
              <a:t>2-</a:t>
            </a:r>
            <a:r>
              <a:rPr kumimoji="0" lang="en-AU" sz="44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thirds</a:t>
            </a:r>
            <a:r>
              <a:rPr kumimoji="0" lang="en-AU" sz="4400" b="0" i="0" u="none" strike="noStrike" kern="1200" cap="none" spc="0" normalizeH="0" baseline="0" noProof="0">
                <a:ln>
                  <a:noFill/>
                </a:ln>
                <a:solidFill>
                  <a:srgbClr val="22272B"/>
                </a:solidFill>
                <a:effectLst/>
                <a:uLnTx/>
                <a:uFillTx/>
                <a:latin typeface="Arial" panose="020B0604020202020204" pitchFamily="34" charset="0"/>
                <a:ea typeface="Calibri" panose="020F0502020204030204" pitchFamily="34" charset="0"/>
                <a:cs typeface="Times New Roman" panose="02020603050405020304" pitchFamily="18" charset="0"/>
              </a:rPr>
              <a:t>?</a:t>
            </a:r>
          </a:p>
        </p:txBody>
      </p:sp>
      <p:pic>
        <p:nvPicPr>
          <p:cNvPr id="5" name="Picture 4" descr="A number line with fractions 0, 1/3. 2/3,1 . 1 1/3, 1 2/3 and 2. Red shaded part from 0 to 1 2/3.">
            <a:extLst>
              <a:ext uri="{FF2B5EF4-FFF2-40B4-BE49-F238E27FC236}">
                <a16:creationId xmlns:a16="http://schemas.microsoft.com/office/drawing/2014/main" id="{E5D453C2-F38C-D691-58DA-4A1A23567837}"/>
              </a:ext>
            </a:extLst>
          </p:cNvPr>
          <p:cNvPicPr>
            <a:picLocks noChangeAspect="1"/>
          </p:cNvPicPr>
          <p:nvPr/>
        </p:nvPicPr>
        <p:blipFill>
          <a:blip r:embed="rId4"/>
          <a:srcRect b="41478"/>
          <a:stretch>
            <a:fillRect/>
          </a:stretch>
        </p:blipFill>
        <p:spPr>
          <a:xfrm>
            <a:off x="1720257" y="2887713"/>
            <a:ext cx="8751486" cy="25728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72862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5FD1152-65BD-683E-04C3-613E2B3D9903}"/>
              </a:ext>
            </a:extLst>
          </p:cNvPr>
          <p:cNvSpPr txBox="1"/>
          <p:nvPr/>
        </p:nvSpPr>
        <p:spPr>
          <a:xfrm>
            <a:off x="1543148" y="1177590"/>
            <a:ext cx="9487328" cy="769441"/>
          </a:xfrm>
          <a:prstGeom prst="rect">
            <a:avLst/>
          </a:prstGeom>
          <a:noFill/>
        </p:spPr>
        <p:txBody>
          <a:bodyPr wrap="square">
            <a:spAutoFit/>
          </a:bodyPr>
          <a:lstStyle/>
          <a:p>
            <a:pPr algn="ctr"/>
            <a:r>
              <a:rPr lang="en-AU" sz="4400" dirty="0"/>
              <a:t>Record these </a:t>
            </a:r>
            <a:r>
              <a:rPr lang="en-AU" sz="4400" b="1" dirty="0"/>
              <a:t>digital</a:t>
            </a:r>
            <a:r>
              <a:rPr lang="en-AU" sz="4400" dirty="0"/>
              <a:t> </a:t>
            </a:r>
            <a:r>
              <a:rPr lang="en-AU" sz="4400" b="1" dirty="0"/>
              <a:t>times</a:t>
            </a:r>
            <a:r>
              <a:rPr lang="en-AU" sz="4400" dirty="0"/>
              <a:t> in words.</a:t>
            </a:r>
          </a:p>
        </p:txBody>
      </p:sp>
      <p:pic>
        <p:nvPicPr>
          <p:cNvPr id="9" name="Picture 8" descr="4  digital clocks. The blue clock shows 01:30, the red shows 11:45, the  green shows 06:15 and the pink shows 04:15.">
            <a:extLst>
              <a:ext uri="{FF2B5EF4-FFF2-40B4-BE49-F238E27FC236}">
                <a16:creationId xmlns:a16="http://schemas.microsoft.com/office/drawing/2014/main" id="{AD38E9C8-EA7F-D013-16A8-E5D988988C9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009867" y="2139126"/>
            <a:ext cx="8553890" cy="4376159"/>
          </a:xfrm>
          <a:prstGeom prst="rect">
            <a:avLst/>
          </a:prstGeom>
        </p:spPr>
      </p:pic>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970D794-CDB4-BC5C-7D45-4703EB5DCAA7}"/>
              </a:ext>
            </a:extLst>
          </p:cNvPr>
          <p:cNvSpPr txBox="1"/>
          <p:nvPr/>
        </p:nvSpPr>
        <p:spPr>
          <a:xfrm>
            <a:off x="970845" y="1060244"/>
            <a:ext cx="10153155" cy="1446550"/>
          </a:xfrm>
          <a:prstGeom prst="rect">
            <a:avLst/>
          </a:prstGeom>
          <a:noFill/>
        </p:spPr>
        <p:txBody>
          <a:bodyPr wrap="square">
            <a:spAutoFit/>
          </a:bodyPr>
          <a:lstStyle/>
          <a:p>
            <a:pPr algn="ctr"/>
            <a:r>
              <a:rPr lang="en-AU" sz="4400"/>
              <a:t>Record the length of this paper clip in </a:t>
            </a:r>
            <a:r>
              <a:rPr lang="en-AU" sz="4400" b="1"/>
              <a:t>millimetres</a:t>
            </a:r>
            <a:r>
              <a:rPr lang="en-AU" sz="4400"/>
              <a:t>.</a:t>
            </a:r>
          </a:p>
        </p:txBody>
      </p:sp>
      <p:pic>
        <p:nvPicPr>
          <p:cNvPr id="7" name="Picture 6" descr="A ruler from 0 to 4 cm. Each centimetere is divided into ten milimetres.  The paperclip is on the top from 0 to 2.8cm">
            <a:extLst>
              <a:ext uri="{FF2B5EF4-FFF2-40B4-BE49-F238E27FC236}">
                <a16:creationId xmlns:a16="http://schemas.microsoft.com/office/drawing/2014/main" id="{AB148D30-5B35-ED1A-6111-7CE30701FB20}"/>
              </a:ext>
            </a:extLst>
          </p:cNvPr>
          <p:cNvPicPr>
            <a:picLocks noChangeAspect="1"/>
          </p:cNvPicPr>
          <p:nvPr/>
        </p:nvPicPr>
        <p:blipFill>
          <a:blip r:embed="rId4"/>
          <a:srcRect t="18378"/>
          <a:stretch>
            <a:fillRect/>
          </a:stretch>
        </p:blipFill>
        <p:spPr>
          <a:xfrm>
            <a:off x="2852441" y="3009900"/>
            <a:ext cx="6810848" cy="3160344"/>
          </a:xfrm>
          <a:prstGeom prst="rect">
            <a:avLst/>
          </a:prstGeom>
        </p:spPr>
      </p:pic>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dirty="0">
                <a:latin typeface="Arial"/>
                <a:cs typeface="Arial"/>
              </a:rPr>
              <a:t>Activity 7 – increasing number patterns</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0B996EA0-6CCE-793F-CD10-B22EE0882111}"/>
              </a:ext>
            </a:extLst>
          </p:cNvPr>
          <p:cNvSpPr txBox="1"/>
          <p:nvPr/>
        </p:nvSpPr>
        <p:spPr>
          <a:xfrm>
            <a:off x="2936081" y="1652588"/>
            <a:ext cx="6319838" cy="43396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588645" indent="-228600">
              <a:lnSpc>
                <a:spcPct val="150000"/>
              </a:lnSpc>
            </a:pPr>
            <a:r>
              <a:rPr lang="en-US" sz="4400" dirty="0"/>
              <a:t>95, 88, 81, 74, 67</a:t>
            </a:r>
            <a:endParaRPr lang="en-US" sz="4400" dirty="0">
              <a:cs typeface="Arial"/>
            </a:endParaRPr>
          </a:p>
          <a:p>
            <a:pPr marL="588645" indent="-228600">
              <a:lnSpc>
                <a:spcPct val="150000"/>
              </a:lnSpc>
            </a:pPr>
            <a:endParaRPr lang="en-US" dirty="0">
              <a:cs typeface="Arial"/>
            </a:endParaRPr>
          </a:p>
          <a:p>
            <a:pPr marL="588645" indent="-228600">
              <a:lnSpc>
                <a:spcPct val="150000"/>
              </a:lnSpc>
            </a:pPr>
            <a:r>
              <a:rPr lang="en-US" sz="4400" dirty="0"/>
              <a:t>90, 96, 102, 108, 114</a:t>
            </a:r>
            <a:endParaRPr lang="en-US" sz="4400" dirty="0">
              <a:cs typeface="Arial"/>
            </a:endParaRPr>
          </a:p>
          <a:p>
            <a:pPr marL="588645" indent="-228600">
              <a:lnSpc>
                <a:spcPct val="150000"/>
              </a:lnSpc>
            </a:pPr>
            <a:endParaRPr lang="en-US" sz="2000" dirty="0">
              <a:cs typeface="Arial"/>
            </a:endParaRPr>
          </a:p>
          <a:p>
            <a:pPr marL="588645" indent="-228600">
              <a:lnSpc>
                <a:spcPct val="150000"/>
              </a:lnSpc>
            </a:pPr>
            <a:r>
              <a:rPr lang="en-US" sz="4400" dirty="0"/>
              <a:t>79, 88, 97, 106, 115.</a:t>
            </a:r>
            <a:endParaRPr lang="en-US" sz="4400" dirty="0">
              <a:cs typeface="Arial"/>
            </a:endParaRPr>
          </a:p>
          <a:p>
            <a:pPr algn="l"/>
            <a:endParaRPr lang="en-US" sz="1800" dirty="0"/>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dirty="0">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1" y="1141647"/>
            <a:ext cx="11243037" cy="893226"/>
          </a:xfrm>
        </p:spPr>
        <p:txBody>
          <a:bodyPr vert="horz" lIns="0" tIns="0" rIns="0" bIns="0" rtlCol="0" anchor="t">
            <a:noAutofit/>
          </a:bodyPr>
          <a:lstStyle/>
          <a:p>
            <a:pPr algn="ctr"/>
            <a:r>
              <a:rPr lang="en-US" sz="4400" dirty="0">
                <a:latin typeface="Arial"/>
                <a:cs typeface="Arial"/>
              </a:rPr>
              <a:t>An example of a </a:t>
            </a:r>
            <a:r>
              <a:rPr lang="en-US" sz="4400" b="1" dirty="0">
                <a:latin typeface="Arial"/>
                <a:cs typeface="Arial"/>
              </a:rPr>
              <a:t>decreasing number pattern</a:t>
            </a:r>
            <a:r>
              <a:rPr lang="en-US" sz="4400" dirty="0">
                <a:latin typeface="Arial"/>
                <a:cs typeface="Arial"/>
              </a:rPr>
              <a:t> by a </a:t>
            </a:r>
            <a:r>
              <a:rPr lang="en-US" sz="4400" b="1" dirty="0">
                <a:latin typeface="Arial"/>
                <a:cs typeface="Arial"/>
              </a:rPr>
              <a:t>constant amount</a:t>
            </a:r>
            <a:r>
              <a:rPr lang="en-US" sz="4400" dirty="0">
                <a:latin typeface="Arial"/>
                <a:cs typeface="Arial"/>
              </a:rPr>
              <a:t> is: </a:t>
            </a:r>
            <a:endParaRPr lang="en-US" dirty="0">
              <a:latin typeface="Arial"/>
              <a:cs typeface="Arial"/>
            </a:endParaRPr>
          </a:p>
          <a:p>
            <a:pPr algn="ctr"/>
            <a:r>
              <a:rPr lang="en-US" sz="4400" dirty="0">
                <a:latin typeface="Arial"/>
                <a:cs typeface="Arial"/>
              </a:rPr>
              <a:t>134, 130, 126, 122</a:t>
            </a:r>
            <a:endParaRPr lang="en-US" dirty="0">
              <a:latin typeface="Arial"/>
              <a:cs typeface="Arial"/>
            </a:endParaRP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(29)</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8F8833BD-3396-561E-C331-61845095EF6C}"/>
              </a:ext>
            </a:extLst>
          </p:cNvPr>
          <p:cNvSpPr txBox="1"/>
          <p:nvPr/>
        </p:nvSpPr>
        <p:spPr>
          <a:xfrm>
            <a:off x="1546513" y="1869291"/>
            <a:ext cx="8885960" cy="19058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dirty="0">
                <a:cs typeface="Arial"/>
              </a:rPr>
              <a:t>What makes </a:t>
            </a:r>
            <a:r>
              <a:rPr lang="en-US" sz="4400" b="1" dirty="0">
                <a:cs typeface="Arial"/>
              </a:rPr>
              <a:t>data representations </a:t>
            </a:r>
            <a:r>
              <a:rPr lang="en-US" sz="4400" dirty="0">
                <a:cs typeface="Arial"/>
              </a:rPr>
              <a:t>in the media effective?</a:t>
            </a:r>
            <a:endParaRPr lang="en-US" dirty="0"/>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(30)</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57</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0B415B3-A976-8393-EF7F-2F965B82293C}"/>
              </a:ext>
            </a:extLst>
          </p:cNvPr>
          <p:cNvSpPr txBox="1"/>
          <p:nvPr/>
        </p:nvSpPr>
        <p:spPr>
          <a:xfrm>
            <a:off x="174000" y="1187346"/>
            <a:ext cx="11844000" cy="6432530"/>
          </a:xfrm>
          <a:prstGeom prst="rect">
            <a:avLst/>
          </a:prstGeom>
          <a:noFill/>
        </p:spPr>
        <p:txBody>
          <a:bodyPr wrap="square">
            <a:spAutoFit/>
          </a:bodyPr>
          <a:lstStyle/>
          <a:p>
            <a:pPr marL="342900" marR="0" lvl="0" indent="-342900" algn="l" defTabSz="609585" rtl="0" eaLnBrk="1" fontAlgn="auto" latinLnBrk="0" hangingPunct="1">
              <a:lnSpc>
                <a:spcPct val="150000"/>
              </a:lnSpc>
              <a:spcBef>
                <a:spcPts val="0"/>
              </a:spcBef>
              <a:spcAft>
                <a:spcPts val="1200"/>
              </a:spcAft>
              <a:buClrTx/>
              <a:buSzTx/>
              <a:buFont typeface="Arial" panose="020B0604020202020204" pitchFamily="34" charset="0"/>
              <a:buChar char="•"/>
              <a:tabLst/>
              <a:defRPr/>
            </a:pPr>
            <a:r>
              <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rPr>
              <a:t>How many </a:t>
            </a:r>
            <a:r>
              <a:rPr kumimoji="0" lang="en-AU" sz="4000" b="1" i="0" u="none" strike="noStrike" kern="1200" cap="none" spc="0" normalizeH="0" baseline="0" noProof="0" dirty="0">
                <a:ln>
                  <a:noFill/>
                </a:ln>
                <a:solidFill>
                  <a:srgbClr val="22272B"/>
                </a:solidFill>
                <a:effectLst/>
                <a:uLnTx/>
                <a:uFillTx/>
                <a:latin typeface="Arial" panose="020B0604020202020204"/>
                <a:ea typeface="+mn-ea"/>
                <a:cs typeface="+mn-cs"/>
              </a:rPr>
              <a:t>wholes</a:t>
            </a:r>
            <a:r>
              <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rPr>
              <a:t> can you make with </a:t>
            </a:r>
            <a:r>
              <a:rPr kumimoji="0" lang="en-AU" sz="4000" b="1" i="0" u="none" strike="noStrike" kern="1200" cap="none" spc="0" normalizeH="0" baseline="0" noProof="0" dirty="0">
                <a:ln>
                  <a:noFill/>
                </a:ln>
                <a:solidFill>
                  <a:srgbClr val="22272B"/>
                </a:solidFill>
                <a:effectLst/>
                <a:uLnTx/>
                <a:uFillTx/>
                <a:latin typeface="Arial" panose="020B0604020202020204"/>
                <a:ea typeface="+mn-ea"/>
                <a:cs typeface="+mn-cs"/>
              </a:rPr>
              <a:t>5-halves</a:t>
            </a:r>
            <a:r>
              <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rPr>
              <a:t>?</a:t>
            </a:r>
          </a:p>
          <a:p>
            <a:pPr marL="342900" marR="0" lvl="0" indent="-342900" algn="l" defTabSz="609585" rtl="0" eaLnBrk="1" fontAlgn="auto" latinLnBrk="0" hangingPunct="1">
              <a:lnSpc>
                <a:spcPct val="150000"/>
              </a:lnSpc>
              <a:spcBef>
                <a:spcPts val="0"/>
              </a:spcBef>
              <a:spcAft>
                <a:spcPts val="1200"/>
              </a:spcAft>
              <a:buClrTx/>
              <a:buSzTx/>
              <a:buFont typeface="Arial" panose="020B0604020202020204" pitchFamily="34" charset="0"/>
              <a:buChar char="•"/>
              <a:tabLst/>
              <a:defRPr/>
            </a:pPr>
            <a:r>
              <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rPr>
              <a:t>How many halves will be </a:t>
            </a:r>
            <a:r>
              <a:rPr kumimoji="0" lang="en-AU" sz="4000" b="1" i="0" u="none" strike="noStrike" kern="1200" cap="none" spc="0" normalizeH="0" baseline="0" noProof="0" dirty="0">
                <a:ln>
                  <a:noFill/>
                </a:ln>
                <a:solidFill>
                  <a:srgbClr val="22272B"/>
                </a:solidFill>
                <a:effectLst/>
                <a:uLnTx/>
                <a:uFillTx/>
                <a:latin typeface="Arial" panose="020B0604020202020204"/>
                <a:ea typeface="+mn-ea"/>
                <a:cs typeface="+mn-cs"/>
              </a:rPr>
              <a:t>left over</a:t>
            </a:r>
            <a:r>
              <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rPr>
              <a:t>?</a:t>
            </a:r>
          </a:p>
          <a:p>
            <a:pPr marL="342900" marR="0" lvl="0" indent="-342900" algn="l" defTabSz="609585" rtl="0" eaLnBrk="1" fontAlgn="auto" latinLnBrk="0" hangingPunct="1">
              <a:lnSpc>
                <a:spcPct val="150000"/>
              </a:lnSpc>
              <a:spcBef>
                <a:spcPts val="0"/>
              </a:spcBef>
              <a:spcAft>
                <a:spcPts val="1200"/>
              </a:spcAft>
              <a:buClrTx/>
              <a:buSzTx/>
              <a:buFont typeface="Arial" panose="020B0604020202020204" pitchFamily="34" charset="0"/>
              <a:buChar char="•"/>
              <a:tabLst/>
              <a:defRPr/>
            </a:pPr>
            <a:r>
              <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rPr>
              <a:t>How can we represent </a:t>
            </a:r>
            <a:r>
              <a:rPr kumimoji="0" lang="en-AU" sz="4000" b="1" i="0" u="none" strike="noStrike" kern="1200" cap="none" spc="0" normalizeH="0" baseline="0" noProof="0" dirty="0">
                <a:ln>
                  <a:noFill/>
                </a:ln>
                <a:solidFill>
                  <a:srgbClr val="22272B"/>
                </a:solidFill>
                <a:effectLst/>
                <a:uLnTx/>
                <a:uFillTx/>
                <a:latin typeface="Arial" panose="020B0604020202020204"/>
                <a:ea typeface="+mn-ea"/>
                <a:cs typeface="+mn-cs"/>
              </a:rPr>
              <a:t>5-halves </a:t>
            </a:r>
            <a:r>
              <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rPr>
              <a:t>as </a:t>
            </a:r>
            <a:r>
              <a:rPr kumimoji="0" lang="en-AU" sz="4000" b="1" i="0" u="none" strike="noStrike" kern="1200" cap="none" spc="0" normalizeH="0" baseline="0" noProof="0" dirty="0">
                <a:ln>
                  <a:noFill/>
                </a:ln>
                <a:solidFill>
                  <a:srgbClr val="22272B"/>
                </a:solidFill>
                <a:effectLst/>
                <a:uLnTx/>
                <a:uFillTx/>
                <a:latin typeface="Arial" panose="020B0604020202020204"/>
                <a:ea typeface="+mn-ea"/>
                <a:cs typeface="+mn-cs"/>
              </a:rPr>
              <a:t>wholes and fractions</a:t>
            </a:r>
            <a:r>
              <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rPr>
              <a:t>?</a:t>
            </a:r>
          </a:p>
          <a:p>
            <a:pPr marR="0" lvl="0" algn="ctr" defTabSz="609585" rtl="0" eaLnBrk="1" fontAlgn="auto" latinLnBrk="0" hangingPunct="1">
              <a:lnSpc>
                <a:spcPct val="150000"/>
              </a:lnSpc>
              <a:spcBef>
                <a:spcPts val="0"/>
              </a:spcBef>
              <a:spcAft>
                <a:spcPts val="1200"/>
              </a:spcAft>
              <a:buClrTx/>
              <a:buSzTx/>
              <a:tabLst/>
              <a:defRPr/>
            </a:pPr>
            <a:r>
              <a:rPr lang="en-AU" sz="4000" b="1" dirty="0">
                <a:solidFill>
                  <a:srgbClr val="22272B"/>
                </a:solidFill>
                <a:latin typeface="Arial" panose="020B0604020202020204"/>
              </a:rPr>
              <a:t>Record</a:t>
            </a:r>
            <a:r>
              <a:rPr lang="en-AU" sz="4000" dirty="0">
                <a:solidFill>
                  <a:srgbClr val="22272B"/>
                </a:solidFill>
                <a:latin typeface="Arial" panose="020B0604020202020204"/>
              </a:rPr>
              <a:t> your </a:t>
            </a:r>
            <a:r>
              <a:rPr lang="en-AU" sz="4000" b="1" dirty="0">
                <a:solidFill>
                  <a:srgbClr val="22272B"/>
                </a:solidFill>
                <a:latin typeface="Arial" panose="020B0604020202020204"/>
              </a:rPr>
              <a:t>thinking</a:t>
            </a:r>
            <a:r>
              <a:rPr lang="en-AU" sz="4000" dirty="0">
                <a:solidFill>
                  <a:srgbClr val="22272B"/>
                </a:solidFill>
                <a:latin typeface="Arial" panose="020B0604020202020204"/>
              </a:rPr>
              <a:t>.</a:t>
            </a:r>
            <a:endParaRPr kumimoji="0" lang="en-AU" sz="4000" b="0" i="0" u="none" strike="noStrike" kern="1200" cap="none" spc="0" normalizeH="0" baseline="0" noProof="0" dirty="0">
              <a:ln>
                <a:noFill/>
              </a:ln>
              <a:solidFill>
                <a:srgbClr val="22272B"/>
              </a:solidFill>
              <a:effectLst/>
              <a:uLnTx/>
              <a:uFillTx/>
              <a:latin typeface="Arial" panose="020B0604020202020204"/>
              <a:ea typeface="+mn-ea"/>
              <a:cs typeface="+mn-cs"/>
            </a:endParaRPr>
          </a:p>
          <a:p>
            <a:pPr marL="342900" marR="0" lvl="0" indent="-34290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2400" b="0" i="0" u="none" strike="noStrike" kern="1200" cap="none" spc="0" normalizeH="0" baseline="0" noProof="0" dirty="0">
              <a:ln>
                <a:noFill/>
              </a:ln>
              <a:solidFill>
                <a:srgbClr val="22272B"/>
              </a:solidFill>
              <a:effectLst/>
              <a:uLnTx/>
              <a:uFillTx/>
              <a:latin typeface="Arial" panose="020B0604020202020204"/>
              <a:ea typeface="+mn-ea"/>
              <a:cs typeface="+mn-cs"/>
            </a:endParaRPr>
          </a:p>
          <a:p>
            <a:pPr marL="342900" marR="0" lvl="0" indent="-34290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2400" b="0" i="0" u="none" strike="noStrike" kern="1200" cap="none" spc="0" normalizeH="0" baseline="0" noProof="0" dirty="0">
              <a:ln>
                <a:noFill/>
              </a:ln>
              <a:solidFill>
                <a:srgbClr val="22272B"/>
              </a:solidFill>
              <a:effectLst/>
              <a:uLnTx/>
              <a:uFillTx/>
              <a:latin typeface="Arial" panose="020B0604020202020204"/>
              <a:ea typeface="+mn-ea"/>
              <a:cs typeface="+mn-cs"/>
            </a:endParaRPr>
          </a:p>
          <a:p>
            <a:pPr marL="342900" marR="0" lvl="0" indent="-342900" algn="l" defTabSz="60958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2400" b="0"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326301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5A0937C-20E5-5C73-9C53-041BD4AEF9A8}"/>
              </a:ext>
            </a:extLst>
          </p:cNvPr>
          <p:cNvSpPr txBox="1"/>
          <p:nvPr/>
        </p:nvSpPr>
        <p:spPr>
          <a:xfrm>
            <a:off x="1379638" y="1268764"/>
            <a:ext cx="9432724" cy="3477875"/>
          </a:xfrm>
          <a:prstGeom prst="rect">
            <a:avLst/>
          </a:prstGeom>
          <a:noFill/>
        </p:spPr>
        <p:txBody>
          <a:bodyPr wrap="square" lIns="91440" tIns="45720" rIns="91440" bIns="45720" anchor="t">
            <a:spAutoFit/>
          </a:bodyPr>
          <a:lstStyle/>
          <a:p>
            <a:pPr algn="ctr">
              <a:lnSpc>
                <a:spcPct val="150000"/>
              </a:lnSpc>
            </a:pPr>
            <a:r>
              <a:rPr lang="en-AU" sz="4400" dirty="0"/>
              <a:t>How long is left until </a:t>
            </a:r>
            <a:r>
              <a:rPr lang="en-AU" sz="4400" b="1" dirty="0"/>
              <a:t>twelve o’clock for the following times</a:t>
            </a:r>
            <a:r>
              <a:rPr lang="en-AU" sz="4400" dirty="0"/>
              <a:t>?</a:t>
            </a:r>
          </a:p>
          <a:p>
            <a:endParaRPr lang="en-AU" sz="4400" dirty="0"/>
          </a:p>
          <a:p>
            <a:pPr marL="571500" indent="-571500">
              <a:buFont typeface="Arial" panose="020B0604020202020204" pitchFamily="34" charset="0"/>
              <a:buChar char="•"/>
            </a:pPr>
            <a:endParaRPr lang="en-AU" sz="4400" dirty="0"/>
          </a:p>
        </p:txBody>
      </p:sp>
      <p:pic>
        <p:nvPicPr>
          <p:cNvPr id="7" name="Picture 6" descr="A digital clock with the time 11:55">
            <a:extLst>
              <a:ext uri="{FF2B5EF4-FFF2-40B4-BE49-F238E27FC236}">
                <a16:creationId xmlns:a16="http://schemas.microsoft.com/office/drawing/2014/main" id="{78B20FF2-AF90-8B53-9B59-E6E92EB3779E}"/>
              </a:ext>
            </a:extLst>
          </p:cNvPr>
          <p:cNvPicPr>
            <a:picLocks noChangeAspect="1"/>
          </p:cNvPicPr>
          <p:nvPr/>
        </p:nvPicPr>
        <p:blipFill>
          <a:blip r:embed="rId4"/>
          <a:stretch>
            <a:fillRect/>
          </a:stretch>
        </p:blipFill>
        <p:spPr>
          <a:xfrm>
            <a:off x="1379638" y="4188852"/>
            <a:ext cx="2895968" cy="1368000"/>
          </a:xfrm>
          <a:prstGeom prst="rect">
            <a:avLst/>
          </a:prstGeom>
        </p:spPr>
      </p:pic>
      <p:pic>
        <p:nvPicPr>
          <p:cNvPr id="9" name="Picture 8" descr="A digital clock with the time 11:44">
            <a:extLst>
              <a:ext uri="{FF2B5EF4-FFF2-40B4-BE49-F238E27FC236}">
                <a16:creationId xmlns:a16="http://schemas.microsoft.com/office/drawing/2014/main" id="{87DE6571-B7D5-D286-9BE8-618E2265E944}"/>
              </a:ext>
            </a:extLst>
          </p:cNvPr>
          <p:cNvPicPr>
            <a:picLocks noChangeAspect="1"/>
          </p:cNvPicPr>
          <p:nvPr/>
        </p:nvPicPr>
        <p:blipFill>
          <a:blip r:embed="rId5"/>
          <a:stretch>
            <a:fillRect/>
          </a:stretch>
        </p:blipFill>
        <p:spPr>
          <a:xfrm>
            <a:off x="6990351" y="4113067"/>
            <a:ext cx="2891972" cy="1476169"/>
          </a:xfrm>
          <a:prstGeom prst="rect">
            <a:avLst/>
          </a:prstGeom>
        </p:spPr>
      </p:pic>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48265E8-D50C-079A-B2B2-3B4DDF67F3CA}"/>
              </a:ext>
            </a:extLst>
          </p:cNvPr>
          <p:cNvSpPr txBox="1"/>
          <p:nvPr/>
        </p:nvSpPr>
        <p:spPr>
          <a:xfrm>
            <a:off x="1154206" y="2086462"/>
            <a:ext cx="10074088" cy="1998176"/>
          </a:xfrm>
          <a:prstGeom prst="rect">
            <a:avLst/>
          </a:prstGeom>
          <a:noFill/>
        </p:spPr>
        <p:txBody>
          <a:bodyPr wrap="square" lIns="91440" tIns="45720" rIns="91440" bIns="45720" anchor="t">
            <a:spAutoFit/>
          </a:bodyPr>
          <a:lstStyle/>
          <a:p>
            <a:pPr algn="ctr">
              <a:lnSpc>
                <a:spcPct val="150000"/>
              </a:lnSpc>
            </a:pPr>
            <a:r>
              <a:rPr lang="en-AU" sz="4400" dirty="0">
                <a:ea typeface="+mn-lt"/>
                <a:cs typeface="+mn-lt"/>
              </a:rPr>
              <a:t>Record three </a:t>
            </a:r>
            <a:r>
              <a:rPr lang="en-AU" sz="4400" b="1" dirty="0">
                <a:ea typeface="+mn-lt"/>
                <a:cs typeface="+mn-lt"/>
              </a:rPr>
              <a:t>angles</a:t>
            </a:r>
            <a:r>
              <a:rPr lang="en-AU" sz="4400" dirty="0">
                <a:ea typeface="+mn-lt"/>
                <a:cs typeface="+mn-lt"/>
              </a:rPr>
              <a:t> found in your classroom.</a:t>
            </a:r>
            <a:endParaRPr lang="en-US" sz="4400" dirty="0">
              <a:ea typeface="+mn-lt"/>
              <a:cs typeface="+mn-lt"/>
            </a:endParaRP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latin typeface="Arial"/>
                <a:cs typeface="Arial"/>
              </a:rPr>
              <a:t>Activity 8 – decreasing number patterns</a:t>
            </a:r>
            <a:endParaRPr lang="en-US" dirty="0"/>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002D7125-6A2A-2375-A87C-5CC9A7511E1C}"/>
              </a:ext>
            </a:extLst>
          </p:cNvPr>
          <p:cNvSpPr txBox="1"/>
          <p:nvPr/>
        </p:nvSpPr>
        <p:spPr>
          <a:xfrm>
            <a:off x="3317081" y="1253484"/>
            <a:ext cx="6096000" cy="544251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588645" indent="-228600">
              <a:lnSpc>
                <a:spcPct val="150000"/>
              </a:lnSpc>
            </a:pPr>
            <a:r>
              <a:rPr lang="en-US" sz="4400" dirty="0"/>
              <a:t>55, 51, 48, 45, 41</a:t>
            </a:r>
            <a:endParaRPr lang="en-US" sz="4400" dirty="0">
              <a:cs typeface="Arial"/>
            </a:endParaRPr>
          </a:p>
          <a:p>
            <a:pPr marL="588645" indent="-228600">
              <a:lnSpc>
                <a:spcPct val="150000"/>
              </a:lnSpc>
            </a:pPr>
            <a:endParaRPr lang="en-US" sz="4400" dirty="0">
              <a:cs typeface="Arial"/>
            </a:endParaRPr>
          </a:p>
          <a:p>
            <a:pPr marL="588645" indent="-228600">
              <a:lnSpc>
                <a:spcPct val="150000"/>
              </a:lnSpc>
            </a:pPr>
            <a:r>
              <a:rPr lang="en-US" sz="4400" dirty="0"/>
              <a:t>88, 84, 80, 76, 72</a:t>
            </a:r>
          </a:p>
          <a:p>
            <a:pPr marL="588645" indent="-228600">
              <a:lnSpc>
                <a:spcPct val="150000"/>
              </a:lnSpc>
            </a:pPr>
            <a:endParaRPr lang="en-US" sz="4400" dirty="0">
              <a:cs typeface="Arial"/>
            </a:endParaRPr>
          </a:p>
          <a:p>
            <a:pPr marL="588645" indent="-228600">
              <a:lnSpc>
                <a:spcPct val="150000"/>
              </a:lnSpc>
            </a:pPr>
            <a:r>
              <a:rPr lang="en-US" sz="4400" dirty="0"/>
              <a:t>115, 109, 103, 97, 91</a:t>
            </a:r>
            <a:endParaRPr lang="en-US" sz="4400" dirty="0">
              <a:cs typeface="Arial"/>
            </a:endParaRPr>
          </a:p>
          <a:p>
            <a:pPr algn="l">
              <a:lnSpc>
                <a:spcPct val="150000"/>
              </a:lnSpc>
            </a:pPr>
            <a:endParaRPr lang="en-US" sz="1800" dirty="0">
              <a:cs typeface="Arial" panose="020B0604020202020204"/>
            </a:endParaRP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60000" y="3315667"/>
            <a:ext cx="11484000" cy="2927351"/>
          </a:xfrm>
        </p:spPr>
        <p:txBody>
          <a:bodyPr/>
          <a:lstStyle/>
          <a:p>
            <a:pPr fontAlgn="base"/>
            <a:r>
              <a:rPr lang="en-AU" u="sng" dirty="0">
                <a:hlinkClick r:id="rId6"/>
              </a:rPr>
              <a:t>Mathematics K–10 Syllabus</a:t>
            </a:r>
            <a:r>
              <a:rPr lang="en-AU" dirty="0"/>
              <a:t> © NSW Education Standards Authority (NESA) for and on behalf of the Crown in right of the State of New South Wales, 2022.</a:t>
            </a:r>
            <a:r>
              <a:rPr lang="en-US" dirty="0"/>
              <a:t>​</a:t>
            </a:r>
          </a:p>
          <a:p>
            <a:pPr fontAlgn="base"/>
            <a:r>
              <a:rPr lang="en-AU" u="sng" dirty="0">
                <a:hlinkClick r:id="rId7"/>
              </a:rPr>
              <a:t>National Numeracy Learning Progression</a:t>
            </a:r>
            <a:r>
              <a:rPr lang="en-AU" dirty="0"/>
              <a:t> © Australian Curriculum, Assessment and Reporting Authority (ACARA) 2010 to present, unless otherwise indicated. This material was downloaded from the </a:t>
            </a:r>
            <a:r>
              <a:rPr lang="en-AU" u="sng" dirty="0">
                <a:hlinkClick r:id="rId8"/>
              </a:rPr>
              <a:t>Australian Curriculum</a:t>
            </a:r>
            <a:r>
              <a:rPr lang="en-AU" dirty="0"/>
              <a:t> website (National Numeracy Learning Progression) (accessed 17 November 2025) and was not modified. </a:t>
            </a:r>
            <a:r>
              <a:rPr lang="en-US" dirty="0"/>
              <a:t>​</a:t>
            </a:r>
          </a:p>
          <a:p>
            <a:pPr fontAlgn="base"/>
            <a:r>
              <a:rPr lang="en-AU" dirty="0"/>
              <a:t>NSW Education Standards Authority (NESA) (2022) </a:t>
            </a:r>
            <a:r>
              <a:rPr lang="en-AU" u="sng" dirty="0">
                <a:hlinkClick r:id="rId9"/>
              </a:rPr>
              <a:t>‘Teaching advice for Data A</a:t>
            </a:r>
            <a:r>
              <a:rPr lang="en-AU" dirty="0"/>
              <a:t>’, </a:t>
            </a:r>
            <a:r>
              <a:rPr lang="en-AU" i="1" dirty="0"/>
              <a:t>Stage 2</a:t>
            </a:r>
            <a:r>
              <a:rPr lang="en-AU" dirty="0"/>
              <a:t>, NSW Curriculum website accessed 23 October 2025. </a:t>
            </a:r>
          </a:p>
          <a:p>
            <a:pPr fontAlgn="base"/>
            <a:r>
              <a:rPr lang="en-AU" dirty="0"/>
              <a:t>State of New South Wales (Department of Education) (2023) ‘</a:t>
            </a:r>
            <a:r>
              <a:rPr lang="en-AU" u="sng" dirty="0">
                <a:hlinkClick r:id="rId10"/>
              </a:rPr>
              <a:t>Counting game (by multiples of 10)</a:t>
            </a:r>
            <a:r>
              <a:rPr lang="en-AU" dirty="0"/>
              <a:t>’, </a:t>
            </a:r>
            <a:r>
              <a:rPr lang="en-AU" i="1" dirty="0"/>
              <a:t>Thinking mathematically resources</a:t>
            </a:r>
            <a:r>
              <a:rPr lang="en-AU" dirty="0"/>
              <a:t>, NSW Department of Education website, accessed 23 June 2023. </a:t>
            </a:r>
          </a:p>
          <a:p>
            <a:pPr fontAlgn="base"/>
            <a:r>
              <a:rPr lang="en-AU" dirty="0"/>
              <a:t>——(2023) ‘</a:t>
            </a:r>
            <a:r>
              <a:rPr lang="en-AU" u="sng" dirty="0">
                <a:hlinkClick r:id="rId11"/>
              </a:rPr>
              <a:t>Multiples madness (fives)</a:t>
            </a:r>
            <a:r>
              <a:rPr lang="en-AU" dirty="0"/>
              <a:t>’, </a:t>
            </a:r>
            <a:r>
              <a:rPr lang="en-AU" i="1" dirty="0"/>
              <a:t>Thinking mathematically resources</a:t>
            </a:r>
            <a:r>
              <a:rPr lang="en-AU" dirty="0"/>
              <a:t>, NSW Department of Education website, accessed 23 June 2023. </a:t>
            </a:r>
          </a:p>
          <a:p>
            <a:r>
              <a:rPr lang="en-AU" dirty="0"/>
              <a:t>Meaningful Maths (n.d.) </a:t>
            </a:r>
            <a:r>
              <a:rPr lang="en-AU" i="1" u="sng" dirty="0">
                <a:hlinkClick r:id="rId12"/>
              </a:rPr>
              <a:t>Multiple Patterns</a:t>
            </a:r>
            <a:r>
              <a:rPr lang="en-AU" dirty="0"/>
              <a:t>, Meaningful Maths website, accessed 23 June 2023. </a:t>
            </a:r>
          </a:p>
          <a:p>
            <a:r>
              <a:rPr lang="en-AU" dirty="0"/>
              <a:t>University of Cambridge (n.d.) </a:t>
            </a:r>
            <a:r>
              <a:rPr lang="en-AU" i="1" u="sng" dirty="0">
                <a:hlinkClick r:id="rId13"/>
              </a:rPr>
              <a:t>Always, sometimes or never?</a:t>
            </a:r>
            <a:r>
              <a:rPr lang="en-AU" dirty="0"/>
              <a:t>, NRICH website, accessed 23 June 2023. </a:t>
            </a:r>
          </a:p>
          <a:p>
            <a:endParaRPr lang="en-AU" dirty="0"/>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A79ED5-3D27-435D-B83C-BD2537F20B0A}">
  <ds:schemaRefs>
    <ds:schemaRef ds:uri="http://schemas.microsoft.com/office/2006/metadata/properties"/>
    <ds:schemaRef ds:uri="http://www.w3.org/XML/1998/namespace"/>
    <ds:schemaRef ds:uri="60129b06-f64b-40a8-96e2-c5b2f86112b1"/>
    <ds:schemaRef ds:uri="7e763d47-3c66-4c58-9425-1477fd3ccd1e"/>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6624CDCD-FC5F-4D00-A222-2AC6495DB54D}"/>
</file>

<file path=customXml/itemProps3.xml><?xml version="1.0" encoding="utf-8"?>
<ds:datastoreItem xmlns:ds="http://schemas.openxmlformats.org/officeDocument/2006/customXml" ds:itemID="{1E00DA3D-9F99-458E-9DAB-0CE3DD324C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Template>
  <TotalTime>1347</TotalTime>
  <Words>6085</Words>
  <Application>Microsoft Office PowerPoint</Application>
  <PresentationFormat>Widescreen</PresentationFormat>
  <Paragraphs>880</Paragraphs>
  <Slides>69</Slides>
  <Notes>69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69</vt:i4>
      </vt:variant>
    </vt:vector>
  </HeadingPairs>
  <TitlesOfParts>
    <vt:vector size="82" baseType="lpstr">
      <vt:lpstr>Arial Black</vt:lpstr>
      <vt:lpstr>Wingdings</vt:lpstr>
      <vt:lpstr>Calibri Light</vt:lpstr>
      <vt:lpstr>Arial</vt:lpstr>
      <vt:lpstr>Times New Roman</vt:lpstr>
      <vt:lpstr>Symbol</vt:lpstr>
      <vt:lpstr>Calibri</vt:lpstr>
      <vt:lpstr>Public Sans Light</vt:lpstr>
      <vt:lpstr>Montserrat</vt:lpstr>
      <vt:lpstr>Cambria Math</vt:lpstr>
      <vt:lpstr>Public Sans</vt:lpstr>
      <vt:lpstr>NSWG Corporate</vt:lpstr>
      <vt:lpstr>1_NSWG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counting by tens</vt:lpstr>
      <vt:lpstr>Review of learning 2</vt:lpstr>
      <vt:lpstr>True or false (1)</vt:lpstr>
      <vt:lpstr>Short response (5)</vt:lpstr>
      <vt:lpstr>Short response (6)</vt:lpstr>
      <vt:lpstr>Short response (7)</vt:lpstr>
      <vt:lpstr>Short response (8)</vt:lpstr>
      <vt:lpstr>Activity 2 – multiply by 10 (1)</vt:lpstr>
      <vt:lpstr>Activity 2 – multiply by 10 (2)</vt:lpstr>
      <vt:lpstr>Review of learning 3</vt:lpstr>
      <vt:lpstr>Multiple choice (2)</vt:lpstr>
      <vt:lpstr>Short response (9)</vt:lpstr>
      <vt:lpstr>Short response (10)</vt:lpstr>
      <vt:lpstr>Short response (11)</vt:lpstr>
      <vt:lpstr>Short response (12)</vt:lpstr>
      <vt:lpstr>Activity 3 – multiplying by multiples</vt:lpstr>
      <vt:lpstr>Review of learning 4</vt:lpstr>
      <vt:lpstr>True or false (2)</vt:lpstr>
      <vt:lpstr>Short response (13)</vt:lpstr>
      <vt:lpstr>Short response (14)</vt:lpstr>
      <vt:lpstr>Short response (15)</vt:lpstr>
      <vt:lpstr>Short response (16)</vt:lpstr>
      <vt:lpstr>Activity 4 – multiplying multiples reflection</vt:lpstr>
      <vt:lpstr>Review of learning 5</vt:lpstr>
      <vt:lpstr>Multiple choice (3)</vt:lpstr>
      <vt:lpstr>Short response (17)</vt:lpstr>
      <vt:lpstr>Short response (18)</vt:lpstr>
      <vt:lpstr>Short response (19)</vt:lpstr>
      <vt:lpstr>Short response (20)</vt:lpstr>
      <vt:lpstr>Activity 5 – odds and evens</vt:lpstr>
      <vt:lpstr>Review of learning 6</vt:lpstr>
      <vt:lpstr>True or false (3)</vt:lpstr>
      <vt:lpstr>Short response (21)</vt:lpstr>
      <vt:lpstr>Short response (22)</vt:lpstr>
      <vt:lpstr>Short response (23)</vt:lpstr>
      <vt:lpstr>Short response (24)</vt:lpstr>
      <vt:lpstr>Activity 6 – number chart patterns</vt:lpstr>
      <vt:lpstr>Review of learning 7</vt:lpstr>
      <vt:lpstr>Multiple choice (4)</vt:lpstr>
      <vt:lpstr>Short response (25)</vt:lpstr>
      <vt:lpstr>Short response (26)</vt:lpstr>
      <vt:lpstr>Short response (27)</vt:lpstr>
      <vt:lpstr>Short response (28)</vt:lpstr>
      <vt:lpstr>Activity 7 – increasing number patterns</vt:lpstr>
      <vt:lpstr>Review of learning 8</vt:lpstr>
      <vt:lpstr>True or false (4)</vt:lpstr>
      <vt:lpstr>Short response (29)</vt:lpstr>
      <vt:lpstr>Short response (30)</vt:lpstr>
      <vt:lpstr>Short response (31)</vt:lpstr>
      <vt:lpstr>Short response (32)</vt:lpstr>
      <vt:lpstr>Activity 8 – decreasing number patterns</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2025-12-01T01:52:56Z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