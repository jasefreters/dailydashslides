
<file path=[Content_Types].xml><?xml version="1.0" encoding="utf-8"?>
<Types xmlns="http://schemas.openxmlformats.org/package/2006/content-types">
  <Default Extension="fntdata" ContentType="application/x-fontdata"/>
  <Default Extension="glb" ContentType="model/gltf.binary"/>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 id="2147483755" r:id="rId5"/>
  </p:sldMasterIdLst>
  <p:notesMasterIdLst>
    <p:notesMasterId r:id="rId74"/>
  </p:notesMasterIdLst>
  <p:handoutMasterIdLst>
    <p:handoutMasterId r:id="rId75"/>
  </p:handoutMasterIdLst>
  <p:sldIdLst>
    <p:sldId id="26511" r:id="rId6"/>
    <p:sldId id="26505" r:id="rId7"/>
    <p:sldId id="26359" r:id="rId8"/>
    <p:sldId id="271" r:id="rId9"/>
    <p:sldId id="26510" r:id="rId10"/>
    <p:sldId id="26508" r:id="rId11"/>
    <p:sldId id="26524" r:id="rId12"/>
    <p:sldId id="26525" r:id="rId13"/>
    <p:sldId id="26519" r:id="rId14"/>
    <p:sldId id="26571" r:id="rId15"/>
    <p:sldId id="26512" r:id="rId16"/>
    <p:sldId id="26509" r:id="rId17"/>
    <p:sldId id="26523" r:id="rId18"/>
    <p:sldId id="26529" r:id="rId19"/>
    <p:sldId id="26530" r:id="rId20"/>
    <p:sldId id="26531" r:id="rId21"/>
    <p:sldId id="26532" r:id="rId22"/>
    <p:sldId id="26513" r:id="rId23"/>
    <p:sldId id="26534" r:id="rId24"/>
    <p:sldId id="26535" r:id="rId25"/>
    <p:sldId id="26528" r:id="rId26"/>
    <p:sldId id="26537" r:id="rId27"/>
    <p:sldId id="26536" r:id="rId28"/>
    <p:sldId id="26533" r:id="rId29"/>
    <p:sldId id="26514" r:id="rId30"/>
    <p:sldId id="26539" r:id="rId31"/>
    <p:sldId id="26540" r:id="rId32"/>
    <p:sldId id="26541" r:id="rId33"/>
    <p:sldId id="26542" r:id="rId34"/>
    <p:sldId id="26543" r:id="rId35"/>
    <p:sldId id="26538" r:id="rId36"/>
    <p:sldId id="26515" r:id="rId37"/>
    <p:sldId id="26507" r:id="rId38"/>
    <p:sldId id="26546" r:id="rId39"/>
    <p:sldId id="26573" r:id="rId40"/>
    <p:sldId id="26548" r:id="rId41"/>
    <p:sldId id="26549" r:id="rId42"/>
    <p:sldId id="26544" r:id="rId43"/>
    <p:sldId id="26516" r:id="rId44"/>
    <p:sldId id="26550" r:id="rId45"/>
    <p:sldId id="26553" r:id="rId46"/>
    <p:sldId id="26554" r:id="rId47"/>
    <p:sldId id="26555" r:id="rId48"/>
    <p:sldId id="26556" r:id="rId49"/>
    <p:sldId id="26551" r:id="rId50"/>
    <p:sldId id="26517" r:id="rId51"/>
    <p:sldId id="26559" r:id="rId52"/>
    <p:sldId id="26561" r:id="rId53"/>
    <p:sldId id="26560" r:id="rId54"/>
    <p:sldId id="26562" r:id="rId55"/>
    <p:sldId id="26563" r:id="rId56"/>
    <p:sldId id="26518" r:id="rId57"/>
    <p:sldId id="26564" r:id="rId58"/>
    <p:sldId id="26565" r:id="rId59"/>
    <p:sldId id="26567" r:id="rId60"/>
    <p:sldId id="26566" r:id="rId61"/>
    <p:sldId id="26568" r:id="rId62"/>
    <p:sldId id="26557" r:id="rId63"/>
    <p:sldId id="26393" r:id="rId64"/>
    <p:sldId id="26387" r:id="rId65"/>
    <p:sldId id="26395" r:id="rId66"/>
    <p:sldId id="26391" r:id="rId67"/>
    <p:sldId id="26402" r:id="rId68"/>
    <p:sldId id="26527" r:id="rId69"/>
    <p:sldId id="26545" r:id="rId70"/>
    <p:sldId id="360" r:id="rId71"/>
    <p:sldId id="26456" r:id="rId72"/>
    <p:sldId id="361" r:id="rId73"/>
  </p:sldIdLst>
  <p:sldSz cx="12192000" cy="6858000"/>
  <p:notesSz cx="6858000" cy="9144000"/>
  <p:embeddedFontLst>
    <p:embeddedFont>
      <p:font typeface="Montserrat" panose="00000500000000000000" pitchFamily="2" charset="0"/>
      <p:regular r:id="rId76"/>
      <p:bold r:id="rId77"/>
      <p:italic r:id="rId78"/>
      <p:boldItalic r:id="rId79"/>
    </p:embeddedFont>
    <p:embeddedFont>
      <p:font typeface="Public Sans" pitchFamily="2" charset="0"/>
      <p:regular r:id="rId80"/>
      <p:bold r:id="rId81"/>
      <p:italic r:id="rId82"/>
      <p:boldItalic r:id="rId83"/>
    </p:embeddedFont>
    <p:embeddedFont>
      <p:font typeface="Public Sans Light" pitchFamily="2" charset="0"/>
      <p:regular r:id="rId84"/>
      <p:italic r:id="rId85"/>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26511"/>
          </p14:sldIdLst>
        </p14:section>
        <p14:section name="Slide templates" id="{D5A8010D-981F-43AA-A0D6-182EC53CAA84}">
          <p14:sldIdLst>
            <p14:sldId id="26505"/>
            <p14:sldId id="26359"/>
            <p14:sldId id="271"/>
            <p14:sldId id="26510"/>
            <p14:sldId id="26508"/>
            <p14:sldId id="26524"/>
            <p14:sldId id="26525"/>
            <p14:sldId id="26519"/>
            <p14:sldId id="26571"/>
            <p14:sldId id="26512"/>
            <p14:sldId id="26509"/>
            <p14:sldId id="26523"/>
            <p14:sldId id="26529"/>
            <p14:sldId id="26530"/>
            <p14:sldId id="26531"/>
            <p14:sldId id="26532"/>
            <p14:sldId id="26513"/>
            <p14:sldId id="26534"/>
            <p14:sldId id="26535"/>
            <p14:sldId id="26528"/>
            <p14:sldId id="26537"/>
            <p14:sldId id="26536"/>
            <p14:sldId id="26533"/>
            <p14:sldId id="26514"/>
            <p14:sldId id="26539"/>
            <p14:sldId id="26540"/>
            <p14:sldId id="26541"/>
            <p14:sldId id="26542"/>
            <p14:sldId id="26543"/>
            <p14:sldId id="26538"/>
            <p14:sldId id="26515"/>
            <p14:sldId id="26507"/>
            <p14:sldId id="26546"/>
            <p14:sldId id="26573"/>
            <p14:sldId id="26548"/>
            <p14:sldId id="26549"/>
            <p14:sldId id="26544"/>
            <p14:sldId id="26516"/>
            <p14:sldId id="26550"/>
            <p14:sldId id="26553"/>
            <p14:sldId id="26554"/>
            <p14:sldId id="26555"/>
            <p14:sldId id="26556"/>
            <p14:sldId id="26551"/>
            <p14:sldId id="26517"/>
            <p14:sldId id="26559"/>
            <p14:sldId id="26561"/>
            <p14:sldId id="26560"/>
            <p14:sldId id="26562"/>
            <p14:sldId id="26563"/>
            <p14:sldId id="26518"/>
            <p14:sldId id="26564"/>
            <p14:sldId id="26565"/>
            <p14:sldId id="26567"/>
            <p14:sldId id="26566"/>
            <p14:sldId id="26568"/>
            <p14:sldId id="26557"/>
          </p14:sldIdLst>
        </p14:section>
        <p14:section name="Assets for teachers to create own reviews" id="{ACCADEBA-79DB-4F18-8F19-E4DF86159DFB}">
          <p14:sldIdLst>
            <p14:sldId id="26393"/>
            <p14:sldId id="26387"/>
            <p14:sldId id="26395"/>
            <p14:sldId id="26391"/>
            <p14:sldId id="26402"/>
            <p14:sldId id="26527"/>
            <p14:sldId id="26545"/>
          </p14:sldIdLst>
        </p14:section>
        <p14:section name="References &amp; copyright" id="{DBC31484-F5F8-4CB1-8DB4-A562A9780899}">
          <p14:sldIdLst>
            <p14:sldId id="360"/>
            <p14:sldId id="26456"/>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76652228-BA2A-8E0F-B69D-752F252CA8C9}" name="Carolyn Matthews" initials="CM" userId="S::Carolyn.Matthews2@det.nsw.edu.au::7f53049a-bf0f-477a-aa49-60e3a8d71d98" providerId="AD"/>
  <p188:author id="{38A50444-57C2-0ED5-4EF0-B001B3687B58}" name="Nadia Walker" initials="NW" userId="S::Nadia.Walker2@det.nsw.edu.au::1d1c495c-8f87-451e-994f-64d576866b6d" providerId="AD"/>
  <p188:author id="{1ED6684A-C670-1F56-1E53-1B296B435328}" name="Evelyn Plunkett" initials="EP" userId="S::EVELYN.LORENZ@det.nsw.edu.au::563cb6cc-61b5-4fff-a76a-5068b5b827dd" providerId="AD"/>
  <p188:author id="{117A025F-CECB-7403-D4EE-15F295013070}" name="Carolyn Matthews" initials="CM" userId="S::carolyn.matthews2@det.nsw.edu.au::7f53049a-bf0f-477a-aa49-60e3a8d71d98" providerId="AD"/>
  <p188:author id="{95D16B7D-CADB-F2BF-AC29-D680545C75EE}" name="Carrie Webeck" initials="CW" userId="S::CARRIE-ANN.WEBECK@det.nsw.edu.au::e5c4b697-ca15-4f3a-a906-1289ddc2fc07" providerId="AD"/>
  <p188:author id="{D7748CAD-4730-709D-51B8-05F53F9A5AD7}" name="Christie Williams" initials="CW" userId="S::CHRISTIE.Williams2@det.nsw.edu.au::881f3a5c-b614-46db-a2f1-8ad4840e9c37" providerId="AD"/>
  <p188:author id="{D9FAB2E2-FCDC-C762-1ECD-0FBBF02124FD}" name="Annette Price" initials="AP" userId="S::Annette.Price4@det.nsw.edu.au::c1f433aa-1df1-446c-8140-9fd9ba3c3a08"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FF"/>
    <a:srgbClr val="FF3300"/>
    <a:srgbClr val="146CFD"/>
    <a:srgbClr val="000000"/>
    <a:srgbClr val="FFFFFF"/>
    <a:srgbClr val="002664"/>
    <a:srgbClr val="EA9B0C"/>
    <a:srgbClr val="007A8A"/>
    <a:srgbClr val="9B6808"/>
    <a:srgbClr val="427B2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0AAF52-147D-46D7-8A0C-B7CAEBB2BB63}" v="41" dt="2025-10-23T01:45:37.156"/>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78" y="114"/>
      </p:cViewPr>
      <p:guideLst>
        <p:guide orient="horz" pos="2160"/>
        <p:guide pos="3863"/>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font" Target="fonts/font9.fntdata"/><Relationship Id="rId89" Type="http://schemas.openxmlformats.org/officeDocument/2006/relationships/tableStyles" Target="tableStyles.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notesMaster" Target="notesMasters/notesMaster1.xml"/><Relationship Id="rId79" Type="http://schemas.openxmlformats.org/officeDocument/2006/relationships/font" Target="fonts/font4.fntdata"/><Relationship Id="rId5" Type="http://schemas.openxmlformats.org/officeDocument/2006/relationships/slideMaster" Target="slideMasters/slideMaster2.xml"/><Relationship Id="rId90" Type="http://schemas.microsoft.com/office/2015/10/relationships/revisionInfo" Target="revisionInfo.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font" Target="fonts/font2.fntdata"/><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font" Target="fonts/font5.fntdata"/><Relationship Id="rId85" Type="http://schemas.openxmlformats.org/officeDocument/2006/relationships/font" Target="fonts/font10.fntdata"/><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handoutMaster" Target="handoutMasters/handoutMaster1.xml"/><Relationship Id="rId83" Type="http://schemas.openxmlformats.org/officeDocument/2006/relationships/font" Target="fonts/font8.fntdata"/><Relationship Id="rId88" Type="http://schemas.openxmlformats.org/officeDocument/2006/relationships/theme" Target="theme/theme1.xml"/><Relationship Id="rId91"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font" Target="fonts/font3.fntdata"/><Relationship Id="rId81" Type="http://schemas.openxmlformats.org/officeDocument/2006/relationships/font" Target="fonts/font6.fntdata"/><Relationship Id="rId86"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font" Target="fonts/font1.fntdata"/><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viewProps" Target="viewProps.xml"/><Relationship Id="rId61" Type="http://schemas.openxmlformats.org/officeDocument/2006/relationships/slide" Target="slides/slide56.xml"/><Relationship Id="rId82" Type="http://schemas.openxmlformats.org/officeDocument/2006/relationships/font" Target="fonts/font7.fntdata"/><Relationship Id="rId19" Type="http://schemas.openxmlformats.org/officeDocument/2006/relationships/slide" Target="slides/slide1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1"/>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24/10/2025</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24/10/2025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0F47E-49F3-DD1B-1A0A-38A6D0812F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9B8ADF-60E4-27C7-0C36-E3204D3FCC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808E0A-EAFF-A0D8-E1DD-8375ACF6E114}"/>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C7E6993-B6BD-36B1-495F-27B66DCA6C6C}"/>
              </a:ext>
            </a:extLst>
          </p:cNvPr>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20536364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latin typeface="Arial"/>
                <a:cs typeface="Arial"/>
              </a:rPr>
              <a:t>Reviews may include a combination of question types, requiring students to recall facts and key ideas, as well as apply their knowledge to solve problems and answer questions. To support active engagement, a mix of techniques should be employed.” (AERO, 2024).</a:t>
            </a:r>
            <a:endParaRPr lang="en-US">
              <a:solidFill>
                <a:srgbClr val="444444"/>
              </a:solidFill>
              <a:latin typeface="Arial"/>
              <a:cs typeface="Arial"/>
            </a:endParaRPr>
          </a:p>
          <a:p>
            <a:endParaRPr lang="en-AU">
              <a:solidFill>
                <a:srgbClr val="000000"/>
              </a:solidFill>
            </a:endParaRPr>
          </a:p>
          <a:p>
            <a:r>
              <a:rPr lang="en-AU">
                <a:solidFill>
                  <a:srgbClr val="000000"/>
                </a:solidFill>
                <a:latin typeface="Arial"/>
                <a:cs typeface="Arial"/>
              </a:rPr>
              <a:t>This Review of Learning slide deck revisits key concepts from the following units:</a:t>
            </a:r>
            <a:endParaRPr lang="en-US">
              <a:solidFill>
                <a:srgbClr val="444444"/>
              </a:solidFill>
              <a:latin typeface="Arial"/>
              <a:cs typeface="Arial"/>
            </a:endParaRPr>
          </a:p>
          <a:p>
            <a:pPr marL="285750" indent="-285750">
              <a:buFont typeface="Arial,Sans-Serif"/>
              <a:buChar char="•"/>
            </a:pPr>
            <a:r>
              <a:rPr lang="en-AU">
                <a:solidFill>
                  <a:srgbClr val="000000"/>
                </a:solidFill>
                <a:highlight>
                  <a:srgbClr val="FFFF00"/>
                </a:highlight>
                <a:latin typeface="Arial"/>
                <a:cs typeface="Arial"/>
              </a:rPr>
              <a:t>Stage 3 Year A Unit 1</a:t>
            </a:r>
            <a:endParaRPr lang="en-US">
              <a:solidFill>
                <a:srgbClr val="444444"/>
              </a:solidFill>
              <a:highlight>
                <a:srgbClr val="FFFF00"/>
              </a:highlight>
              <a:latin typeface="Arial"/>
              <a:cs typeface="Arial"/>
            </a:endParaRPr>
          </a:p>
          <a:p>
            <a:pPr marL="285750" indent="-285750">
              <a:buFont typeface="Arial,Sans-Serif"/>
              <a:buChar char="•"/>
            </a:pPr>
            <a:r>
              <a:rPr lang="en-AU">
                <a:solidFill>
                  <a:srgbClr val="000000"/>
                </a:solidFill>
                <a:highlight>
                  <a:srgbClr val="FFFF00"/>
                </a:highlight>
                <a:latin typeface="Arial"/>
                <a:cs typeface="Arial"/>
              </a:rPr>
              <a:t>Stage 2 Year B Unit 40</a:t>
            </a:r>
            <a:endParaRPr lang="en-US">
              <a:solidFill>
                <a:srgbClr val="444444"/>
              </a:solidFill>
              <a:highlight>
                <a:srgbClr val="FFFF00"/>
              </a:highlight>
              <a:latin typeface="Arial"/>
              <a:cs typeface="Arial"/>
            </a:endParaRPr>
          </a:p>
          <a:p>
            <a:pPr marL="285750" indent="-285750">
              <a:buFont typeface="Arial,Sans-Serif"/>
              <a:buChar char="•"/>
            </a:pPr>
            <a:r>
              <a:rPr lang="en-AU">
                <a:solidFill>
                  <a:srgbClr val="000000"/>
                </a:solidFill>
                <a:highlight>
                  <a:srgbClr val="FFFF00"/>
                </a:highlight>
                <a:latin typeface="Arial"/>
                <a:cs typeface="Arial"/>
              </a:rPr>
              <a:t>Stage 2 Year B Unit 39</a:t>
            </a:r>
            <a:endParaRPr lang="en-US">
              <a:solidFill>
                <a:srgbClr val="444444"/>
              </a:solidFill>
              <a:highlight>
                <a:srgbClr val="FFFF00"/>
              </a:highlight>
              <a:latin typeface="Arial"/>
              <a:cs typeface="Arial"/>
            </a:endParaRPr>
          </a:p>
          <a:p>
            <a:r>
              <a:rPr lang="en-AU">
                <a:solidFill>
                  <a:srgbClr val="000000"/>
                </a:solidFill>
                <a:latin typeface="Arial"/>
                <a:cs typeface="Arial"/>
              </a:rPr>
              <a:t>It also includes opportunities to review prior learning in non-number content, supporting consolidation across focus areas.</a:t>
            </a:r>
            <a:endParaRPr lang="en-US">
              <a:solidFill>
                <a:srgbClr val="444444"/>
              </a:solidFill>
              <a:latin typeface="Arial"/>
              <a:cs typeface="Arial"/>
            </a:endParaRPr>
          </a:p>
          <a:p>
            <a:endParaRPr lang="en-AU">
              <a:solidFill>
                <a:srgbClr val="444444"/>
              </a:solidFill>
            </a:endParaRPr>
          </a:p>
          <a:p>
            <a:r>
              <a:rPr lang="en-AU">
                <a:latin typeface="Arial"/>
                <a:cs typeface="Arial"/>
              </a:rPr>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endParaRPr lang="en-US">
              <a:solidFill>
                <a:srgbClr val="444444"/>
              </a:solidFill>
              <a:latin typeface="Arial"/>
              <a:cs typeface="Arial"/>
            </a:endParaRPr>
          </a:p>
          <a:p>
            <a:endParaRPr lang="en-AU">
              <a:solidFill>
                <a:srgbClr val="444444"/>
              </a:solidFill>
            </a:endParaRPr>
          </a:p>
          <a:p>
            <a:pPr>
              <a:defRPr/>
            </a:pPr>
            <a:r>
              <a:rPr lang="en-AU">
                <a:solidFill>
                  <a:srgbClr val="444444"/>
                </a:solidFill>
                <a:latin typeface="Arial"/>
                <a:cs typeface="Arial"/>
              </a:rPr>
              <a:t>1.</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b="1">
                <a:latin typeface="Arial"/>
                <a:cs typeface="Arial"/>
              </a:rPr>
              <a:t>Multiple-choice questions/True or false:</a:t>
            </a:r>
            <a:r>
              <a:rPr lang="en-AU">
                <a:latin typeface="Arial"/>
                <a:cs typeface="Arial"/>
              </a:rPr>
              <a:t> Designed to promote active retrieval of key concepts and identify common misconceptions in number, supporting consolidation, understanding and fluency.</a:t>
            </a:r>
            <a:br>
              <a:rPr lang="en-AU">
                <a:latin typeface="Arial"/>
                <a:cs typeface="Arial"/>
              </a:rPr>
            </a:br>
            <a:r>
              <a:rPr lang="en-AU" sz="1600" b="0" i="0">
                <a:solidFill>
                  <a:schemeClr val="tx1"/>
                </a:solidFill>
                <a:latin typeface="Arial"/>
                <a:cs typeface="Arial"/>
              </a:rPr>
              <a:t>These questions:</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285750" indent="-285750" algn="l">
              <a:buFont typeface="Wingdings"/>
              <a:buChar char="ü"/>
            </a:pPr>
            <a:r>
              <a:rPr lang="en-AU" sz="1600" b="0" i="0">
                <a:solidFill>
                  <a:schemeClr val="tx1"/>
                </a:solidFill>
                <a:latin typeface="Arial"/>
                <a:cs typeface="Arial"/>
              </a:rPr>
              <a:t>support spaced and interleaved practice</a:t>
            </a:r>
          </a:p>
          <a:p>
            <a:pPr marL="285750" indent="-285750" algn="l">
              <a:buFont typeface="Wingdings"/>
              <a:buChar char="ü"/>
            </a:pPr>
            <a:r>
              <a:rPr lang="en-AU" sz="1600" b="0" i="0">
                <a:solidFill>
                  <a:schemeClr val="tx1"/>
                </a:solidFill>
                <a:latin typeface="Arial"/>
                <a:cs typeface="Arial"/>
              </a:rPr>
              <a:t>help identify and address common misconceptions </a:t>
            </a:r>
          </a:p>
          <a:p>
            <a:pPr marL="285750" indent="-285750" algn="l">
              <a:buFont typeface="Wingdings"/>
              <a:buChar char="ü"/>
            </a:pPr>
            <a:r>
              <a:rPr lang="en-AU" sz="1600" b="0" i="0">
                <a:solidFill>
                  <a:schemeClr val="tx1"/>
                </a:solidFill>
                <a:latin typeface="Arial"/>
                <a:cs typeface="Arial"/>
              </a:rPr>
              <a:t>support active recall and immediate feedback</a:t>
            </a:r>
          </a:p>
          <a:p>
            <a:pPr marL="285750" indent="-285750" algn="l">
              <a:buFont typeface="Wingdings"/>
              <a:buChar char="ü"/>
            </a:pPr>
            <a:r>
              <a:rPr lang="en-AU" sz="1600" b="0" i="0">
                <a:solidFill>
                  <a:schemeClr val="tx1"/>
                </a:solidFill>
                <a:latin typeface="Arial"/>
                <a:cs typeface="Arial"/>
              </a:rPr>
              <a:t>support whole class participation</a:t>
            </a:r>
          </a:p>
          <a:p>
            <a:pPr marL="285750" indent="-285750">
              <a:buFont typeface="Wingdings"/>
              <a:buChar char="ü"/>
            </a:pPr>
            <a:r>
              <a:rPr lang="en-AU" sz="1600" b="0" i="0">
                <a:solidFill>
                  <a:schemeClr val="tx1"/>
                </a:solidFill>
                <a:latin typeface="Arial"/>
                <a:cs typeface="Arial"/>
              </a:rPr>
              <a:t>identify areas requiring reteach</a:t>
            </a:r>
            <a:endParaRPr lang="en-US">
              <a:solidFill>
                <a:srgbClr val="444444"/>
              </a:solidFill>
              <a:latin typeface="Arial"/>
              <a:cs typeface="Arial"/>
            </a:endParaRPr>
          </a:p>
          <a:p>
            <a:endParaRPr lang="en-AU">
              <a:latin typeface="Arial"/>
              <a:cs typeface="Arial"/>
            </a:endParaRPr>
          </a:p>
          <a:p>
            <a:pPr algn="l"/>
            <a:r>
              <a:rPr lang="en-AU">
                <a:latin typeface="Arial"/>
                <a:cs typeface="Arial"/>
              </a:rPr>
              <a:t>2.</a:t>
            </a:r>
            <a:br>
              <a:rPr lang="en-AU">
                <a:latin typeface="Arial"/>
                <a:cs typeface="Arial"/>
              </a:rPr>
            </a:br>
            <a:r>
              <a:rPr lang="en-AU" b="1">
                <a:latin typeface="Arial"/>
                <a:cs typeface="Arial"/>
              </a:rPr>
              <a:t>Short-response question sets:</a:t>
            </a:r>
            <a:r>
              <a:rPr lang="en-AU">
                <a:latin typeface="Arial"/>
                <a:cs typeface="Arial"/>
              </a:rPr>
              <a:t> Carefully grouped questions that encourage spaced and interleaved practice across multiple focus areas, helping students revisit and apply knowledge from different points in time.</a:t>
            </a:r>
            <a:br>
              <a:rPr lang="en-AU">
                <a:latin typeface="Arial"/>
                <a:cs typeface="Arial"/>
              </a:rPr>
            </a:br>
            <a:r>
              <a:rPr lang="en-AU" sz="1600" b="0" i="0">
                <a:solidFill>
                  <a:schemeClr val="tx1"/>
                </a:solidFill>
                <a:latin typeface="Arial"/>
                <a:cs typeface="Arial"/>
              </a:rPr>
              <a:t>These questions:</a:t>
            </a:r>
            <a:endParaRPr lang="en-US" sz="1600" b="0" i="0">
              <a:solidFill>
                <a:srgbClr val="444444"/>
              </a:solidFill>
              <a:latin typeface="Arial"/>
              <a:cs typeface="Arial"/>
            </a:endParaRPr>
          </a:p>
          <a:p>
            <a:pPr marL="0" indent="0" algn="l">
              <a:buFont typeface="Wingdings" panose="05000000000000000000" pitchFamily="2" charset="2"/>
              <a:buNone/>
            </a:pPr>
            <a:endParaRPr lang="en-AU" sz="1600" i="0"/>
          </a:p>
          <a:p>
            <a:pPr marL="285750" indent="-285750" algn="l">
              <a:buFont typeface="Wingdings"/>
              <a:buChar char="ü"/>
            </a:pPr>
            <a:r>
              <a:rPr lang="en-AU" sz="1600" i="0">
                <a:latin typeface="Arial"/>
                <a:cs typeface="Arial"/>
              </a:rPr>
              <a:t>have a combination of question types </a:t>
            </a:r>
          </a:p>
          <a:p>
            <a:pPr marL="285750" indent="-285750" algn="l">
              <a:buFont typeface="Wingdings"/>
              <a:buChar char="ü"/>
            </a:pPr>
            <a:r>
              <a:rPr lang="en-AU" sz="1600" i="0">
                <a:latin typeface="Arial"/>
                <a:cs typeface="Arial"/>
              </a:rPr>
              <a:t>address a range of focus areas</a:t>
            </a:r>
          </a:p>
          <a:p>
            <a:pPr marL="285750" indent="-285750">
              <a:buFont typeface="Wingdings"/>
              <a:buChar char="ü"/>
            </a:pPr>
            <a:r>
              <a:rPr lang="en-AU" sz="1600" i="0">
                <a:latin typeface="Arial"/>
                <a:cs typeface="Arial"/>
              </a:rPr>
              <a:t>build automaticity and fluency</a:t>
            </a:r>
          </a:p>
          <a:p>
            <a:pPr marL="285750" indent="-285750">
              <a:buFont typeface="Wingdings"/>
              <a:buChar char="ü"/>
            </a:pPr>
            <a:r>
              <a:rPr lang="en-AU" sz="1600" i="0">
                <a:latin typeface="Arial"/>
                <a:cs typeface="Arial"/>
              </a:rPr>
              <a:t>support active recall </a:t>
            </a:r>
          </a:p>
          <a:p>
            <a:pPr marL="285750" indent="-285750">
              <a:buFont typeface="Wingdings"/>
              <a:buChar char="ü"/>
            </a:pPr>
            <a:r>
              <a:rPr lang="en-AU" sz="1600" i="0">
                <a:latin typeface="Arial"/>
                <a:cs typeface="Arial"/>
              </a:rPr>
              <a:t>allow for immediate feedback</a:t>
            </a:r>
          </a:p>
          <a:p>
            <a:pPr marL="285750" indent="-285750" algn="l">
              <a:buFont typeface="Wingdings"/>
              <a:buChar char="ü"/>
            </a:pPr>
            <a:r>
              <a:rPr lang="en-AU" sz="1600" i="0">
                <a:latin typeface="Arial"/>
                <a:cs typeface="Arial"/>
              </a:rPr>
              <a:t>identify content requiring reteach</a:t>
            </a:r>
            <a:endParaRPr lang="en-AU">
              <a:latin typeface="Arial"/>
              <a:cs typeface="Arial"/>
            </a:endParaRPr>
          </a:p>
          <a:p>
            <a:pPr marL="285750" indent="-285750">
              <a:buFont typeface="Wingdings"/>
              <a:buChar char="ü"/>
            </a:pPr>
            <a:endParaRPr lang="en-AU">
              <a:latin typeface="Arial"/>
              <a:cs typeface="Arial"/>
            </a:endParaRPr>
          </a:p>
          <a:p>
            <a:r>
              <a:rPr lang="en-AU">
                <a:latin typeface="Arial"/>
                <a:cs typeface="Arial"/>
              </a:rPr>
              <a:t>3.</a:t>
            </a:r>
          </a:p>
          <a:p>
            <a:r>
              <a:rPr lang="en-AU" b="1">
                <a:latin typeface="Arial"/>
                <a:cs typeface="Arial"/>
              </a:rPr>
              <a:t>Developing number sense activities</a:t>
            </a:r>
            <a:r>
              <a:rPr lang="en-AU">
                <a:latin typeface="Arial"/>
                <a:cs typeface="Arial"/>
              </a:rPr>
              <a:t>: A variety of practical, purposeful tasks that reinforce current learning and build on prior knowledge. These activities promote reasoning, problem-solving and conceptual understanding.</a:t>
            </a:r>
            <a:br>
              <a:rPr lang="en-AU">
                <a:latin typeface="Arial"/>
                <a:cs typeface="Arial"/>
              </a:rPr>
            </a:br>
            <a:br>
              <a:rPr lang="en-AU">
                <a:latin typeface="Arial"/>
                <a:cs typeface="Arial"/>
              </a:rPr>
            </a:br>
            <a:endParaRPr lang="en-US">
              <a:solidFill>
                <a:srgbClr val="444444"/>
              </a:solidFill>
              <a:latin typeface="Arial"/>
              <a:cs typeface="Arial"/>
            </a:endParaRPr>
          </a:p>
          <a:p>
            <a:r>
              <a:rPr lang="en-AU">
                <a:latin typeface="Arial"/>
                <a:cs typeface="Arial"/>
              </a:rPr>
              <a:t>The review of learning resources are designed to work support teaching and learning in mathematics. For the most effective implementation, use the resources flexibly, adapting to meet student learning needs and individual classroom contexts.</a:t>
            </a:r>
            <a:br>
              <a:rPr lang="en-AU">
                <a:latin typeface="Arial"/>
                <a:cs typeface="Arial"/>
              </a:rPr>
            </a:br>
            <a:br>
              <a:rPr lang="en-AU"/>
            </a:br>
            <a:endParaRPr lang="en-AU">
              <a:highlight>
                <a:srgbClr val="FFFF00"/>
              </a:highlight>
            </a:endParaRPr>
          </a:p>
          <a:p>
            <a:endParaRPr lang="en-AU"/>
          </a:p>
          <a:p>
            <a:endParaRPr lang="en-AU"/>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008813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numbers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Representing numbers using place value A: Whole numbers</a:t>
            </a:r>
          </a:p>
          <a:p>
            <a:pPr>
              <a:defRPr/>
            </a:pPr>
            <a:r>
              <a:rPr lang="en-AU"/>
              <a:t>(</a:t>
            </a:r>
            <a:r>
              <a:rPr lang="en-AU" b="1"/>
              <a:t>Note</a:t>
            </a:r>
            <a:r>
              <a:rPr lang="en-AU"/>
              <a:t>: Stage 2 content is reviewed) </a:t>
            </a:r>
            <a:endParaRPr lang="en-AU">
              <a:highlight>
                <a:srgbClr val="FFFF00"/>
              </a:highlight>
              <a:latin typeface="Arial"/>
              <a:cs typeface="Arial"/>
            </a:endParaRPr>
          </a:p>
          <a:p>
            <a:pPr>
              <a:defRPr/>
            </a:pPr>
            <a:endParaRPr lang="en-AU"/>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40367651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highlight>
                  <a:srgbClr val="FFFF00"/>
                </a:highlight>
                <a:latin typeface="Public Sans"/>
              </a:rPr>
              <a:t>Represents numbers A: Whole numbers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19878973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FCC54-B770-C8F7-8C65-C091BB2397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E59B01-AF53-BB9A-E269-C9590389A0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6BA3FF-2E60-3C07-3004-48A94DF0F49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a:highlight>
                  <a:srgbClr val="FFFF00"/>
                </a:highlight>
                <a:latin typeface="Public Sans"/>
              </a:rPr>
              <a:t>Representing numbers using place value B </a:t>
            </a:r>
            <a:r>
              <a:rPr lang="en-AU">
                <a:highlight>
                  <a:srgbClr val="FFFF00"/>
                </a:highlight>
              </a:rPr>
              <a:t>(</a:t>
            </a:r>
            <a:r>
              <a:rPr lang="en-AU" b="1">
                <a:highlight>
                  <a:srgbClr val="FFFF00"/>
                </a:highlight>
              </a:rPr>
              <a:t>Note</a:t>
            </a:r>
            <a:r>
              <a:rPr lang="en-AU">
                <a:highlight>
                  <a:srgbClr val="FFFF00"/>
                </a:highlight>
              </a:rPr>
              <a:t>: Stage 2 content is reviewed) </a:t>
            </a:r>
            <a:endParaRPr lang="en-AU" sz="1600" i="0">
              <a:solidFill>
                <a:schemeClr val="tx1"/>
              </a:solidFill>
              <a:highlight>
                <a:srgbClr val="FFFF00"/>
              </a:highlight>
              <a:latin typeface="Arial" panose="020B0604020202020204" pitchFamily="34" charset="0"/>
              <a:cs typeface="Arial" panose="020B0604020202020204" pitchFamily="34" charset="0"/>
            </a:endParaRPr>
          </a:p>
          <a:p>
            <a:endParaRPr lang="en-AU" sz="1600">
              <a:highlight>
                <a:srgbClr val="FFFF00"/>
              </a:highlight>
              <a:latin typeface="Public Sans"/>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FF21F44-6664-5C72-F922-0CAEB37C6F34}"/>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19439144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107BD-4DAB-F9EA-E8E8-9470171810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9780FB-6A9F-3106-F7BA-13CB4B4DB8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CF551D-9E5D-3133-97EF-743BDEAFDCB0}"/>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highlight>
                  <a:srgbClr val="FFFF00"/>
                </a:highlight>
                <a:latin typeface="Public Sans"/>
              </a:rPr>
              <a:t>Non-spatial measure B: Time </a:t>
            </a:r>
            <a:r>
              <a:rPr lang="en-AU">
                <a:highlight>
                  <a:srgbClr val="FFFF00"/>
                </a:highlight>
              </a:rPr>
              <a:t>(</a:t>
            </a:r>
            <a:r>
              <a:rPr lang="en-AU" b="1">
                <a:highlight>
                  <a:srgbClr val="FFFF00"/>
                </a:highlight>
              </a:rPr>
              <a:t>Note</a:t>
            </a:r>
            <a:r>
              <a:rPr lang="en-AU">
                <a:highlight>
                  <a:srgbClr val="FFFF00"/>
                </a:highlight>
              </a:rPr>
              <a:t>: Stage 2 content is reviewed) </a:t>
            </a:r>
            <a:endParaRPr lang="en-AU" sz="1600">
              <a:highlight>
                <a:srgbClr val="FFFF00"/>
              </a:highlight>
              <a:latin typeface="Public Sans"/>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E3111F-78D3-2FC9-2E24-14FE0EAF8035}"/>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6536902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401C1-20DD-2F12-7BF9-F7A45F2408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9F27A2-CD90-5E10-45A2-1D868D9E59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9050F6-FF47-0341-3566-EF6428F1CF32}"/>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r>
              <a:rPr lang="en-AU" sz="1600" b="1" i="0">
                <a:solidFill>
                  <a:schemeClr val="tx1"/>
                </a:solidFill>
                <a:latin typeface="Arial" panose="020B0604020202020204" pitchFamily="34" charset="0"/>
                <a:cs typeface="Arial" panose="020B0604020202020204" pitchFamily="34" charset="0"/>
              </a:rPr>
              <a:t>Geometric measure B:</a:t>
            </a:r>
            <a:r>
              <a:rPr lang="en-AU" sz="1600" b="0" i="0">
                <a:solidFill>
                  <a:schemeClr val="tx1"/>
                </a:solidFill>
                <a:latin typeface="Arial" panose="020B0604020202020204" pitchFamily="34" charset="0"/>
                <a:cs typeface="Arial" panose="020B0604020202020204" pitchFamily="34" charset="0"/>
              </a:rPr>
              <a:t> Length </a:t>
            </a:r>
            <a:r>
              <a:rPr lang="en-AU"/>
              <a:t>(</a:t>
            </a:r>
            <a:r>
              <a:rPr lang="en-AU" b="1"/>
              <a:t>Note</a:t>
            </a:r>
            <a:r>
              <a:rPr lang="en-AU"/>
              <a:t>: Stage 2 content is reviewed) </a:t>
            </a:r>
            <a:endParaRPr lang="en-AU" sz="1600" b="1"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68BDCB6-F91C-70A2-2397-14040D7F3E2A}"/>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36982677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pPr>
            <a:r>
              <a:rPr lang="en-AU">
                <a:latin typeface="Arial"/>
                <a:cs typeface="Arial"/>
              </a:rPr>
              <a:t>This is a developing number sense activity. </a:t>
            </a:r>
            <a:endParaRPr lang="en-US">
              <a:solidFill>
                <a:srgbClr val="444444"/>
              </a:solidFill>
              <a:latin typeface="Arial"/>
              <a:cs typeface="Arial"/>
            </a:endParaRPr>
          </a:p>
          <a:p>
            <a:pPr>
              <a:lnSpc>
                <a:spcPct val="150000"/>
              </a:lnSpc>
              <a:spcBef>
                <a:spcPts val="1200"/>
              </a:spcBef>
              <a:spcAft>
                <a:spcPts val="600"/>
              </a:spcAft>
            </a:pPr>
            <a:endParaRPr lang="en-AU">
              <a:solidFill>
                <a:srgbClr val="444444"/>
              </a:solidFill>
            </a:endParaRPr>
          </a:p>
          <a:p>
            <a:pPr>
              <a:lnSpc>
                <a:spcPct val="150000"/>
              </a:lnSpc>
              <a:spcBef>
                <a:spcPts val="1200"/>
              </a:spcBef>
              <a:spcAft>
                <a:spcPts val="600"/>
              </a:spcAft>
            </a:pPr>
            <a:r>
              <a:rPr lang="en-AU">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a:solidFill>
                <a:srgbClr val="444444"/>
              </a:solidFill>
              <a:latin typeface="Arial"/>
              <a:cs typeface="Arial"/>
            </a:endParaRPr>
          </a:p>
          <a:p>
            <a:pPr>
              <a:lnSpc>
                <a:spcPts val="1913"/>
              </a:lnSpc>
            </a:pPr>
            <a:endParaRPr lang="en-AU">
              <a:solidFill>
                <a:srgbClr val="444444"/>
              </a:solidFill>
            </a:endParaRPr>
          </a:p>
          <a:p>
            <a:r>
              <a:rPr lang="en-AU" b="1">
                <a:latin typeface="Arial"/>
                <a:cs typeface="Arial"/>
              </a:rPr>
              <a:t>Syllabus focus area:</a:t>
            </a:r>
            <a:endParaRPr lang="en-US">
              <a:solidFill>
                <a:srgbClr val="444444"/>
              </a:solidFill>
              <a:latin typeface="Arial"/>
              <a:cs typeface="Arial"/>
            </a:endParaRPr>
          </a:p>
          <a:p>
            <a:r>
              <a:rPr lang="en-AU">
                <a:solidFill>
                  <a:srgbClr val="000000"/>
                </a:solidFill>
                <a:latin typeface="Arial"/>
                <a:cs typeface="Arial"/>
              </a:rPr>
              <a:t>Representing numbers using place value A </a:t>
            </a:r>
            <a:r>
              <a:rPr lang="en-AU"/>
              <a:t>(</a:t>
            </a:r>
            <a:r>
              <a:rPr lang="en-AU" b="1"/>
              <a:t>Note</a:t>
            </a:r>
            <a:r>
              <a:rPr lang="en-AU"/>
              <a:t>: Stage 2 content is reviewed) </a:t>
            </a:r>
          </a:p>
          <a:p>
            <a:pPr>
              <a:lnSpc>
                <a:spcPts val="1913"/>
              </a:lnSpc>
            </a:pPr>
            <a:br>
              <a:rPr lang="en-US" b="1">
                <a:latin typeface="Arial"/>
                <a:ea typeface="Arial" panose="020B0604020202020204" pitchFamily="34" charset="0"/>
                <a:cs typeface="Arial"/>
              </a:rPr>
            </a:br>
            <a:r>
              <a:rPr lang="en-US" b="1">
                <a:latin typeface="Arial"/>
                <a:ea typeface="Arial" panose="020B0604020202020204" pitchFamily="34" charset="0"/>
                <a:cs typeface="Arial"/>
              </a:rPr>
              <a:t>Mastermind</a:t>
            </a:r>
            <a:endParaRPr lang="en-US">
              <a:ea typeface="Arial" panose="020B0604020202020204" pitchFamily="34" charset="0"/>
            </a:endParaRPr>
          </a:p>
          <a:p>
            <a:r>
              <a:rPr lang="en-AU" b="1">
                <a:solidFill>
                  <a:srgbClr val="22272B"/>
                </a:solidFill>
                <a:latin typeface="Arial"/>
                <a:cs typeface="Arial"/>
              </a:rPr>
              <a:t>Aim of the game- </a:t>
            </a:r>
            <a:r>
              <a:rPr lang="en-AU">
                <a:solidFill>
                  <a:srgbClr val="22272B"/>
                </a:solidFill>
                <a:latin typeface="Arial"/>
                <a:cs typeface="Arial"/>
              </a:rPr>
              <a:t>To use mental strategies to correctly guess their opponent’s number</a:t>
            </a:r>
            <a:endParaRPr lang="en-US">
              <a:solidFill>
                <a:srgbClr val="000000"/>
              </a:solidFill>
              <a:latin typeface="Arial"/>
              <a:cs typeface="Arial"/>
            </a:endParaRPr>
          </a:p>
          <a:p>
            <a:r>
              <a:rPr lang="en-AU" b="1">
                <a:solidFill>
                  <a:srgbClr val="22272B"/>
                </a:solidFill>
                <a:latin typeface="Arial"/>
                <a:cs typeface="Arial"/>
              </a:rPr>
              <a:t>Rules:</a:t>
            </a:r>
            <a:endParaRPr lang="en-US">
              <a:solidFill>
                <a:srgbClr val="22272B"/>
              </a:solidFill>
              <a:latin typeface="Arial"/>
              <a:cs typeface="Arial"/>
            </a:endParaRPr>
          </a:p>
          <a:p>
            <a:pPr marL="285750" indent="-285750">
              <a:lnSpc>
                <a:spcPct val="150000"/>
              </a:lnSpc>
              <a:buFont typeface="Arial,Sans-Serif"/>
              <a:buChar char="•"/>
            </a:pPr>
            <a:r>
              <a:rPr lang="en-AU">
                <a:solidFill>
                  <a:srgbClr val="22272B"/>
                </a:solidFill>
                <a:latin typeface="Arial"/>
                <a:cs typeface="Arial"/>
              </a:rPr>
              <a:t>Students play in pairs. Each player writes down a 5-digit number without showing the other player.</a:t>
            </a:r>
            <a:endParaRPr lang="en-US">
              <a:solidFill>
                <a:srgbClr val="22272B"/>
              </a:solidFill>
              <a:latin typeface="Arial"/>
              <a:cs typeface="Arial"/>
            </a:endParaRPr>
          </a:p>
          <a:p>
            <a:pPr marL="285750" indent="-285750">
              <a:lnSpc>
                <a:spcPct val="150000"/>
              </a:lnSpc>
              <a:buFont typeface="Arial,Sans-Serif"/>
              <a:buChar char="•"/>
            </a:pPr>
            <a:r>
              <a:rPr lang="en-AU">
                <a:solidFill>
                  <a:srgbClr val="22272B"/>
                </a:solidFill>
                <a:latin typeface="Arial"/>
                <a:cs typeface="Arial"/>
              </a:rPr>
              <a:t>Each player then creates a gameboard, consisting of a table with 3 columns. The columns are titled ‘Guess’, ‘Digits’ and ‘Place’ (see Figure 20 – Mastermind example)</a:t>
            </a:r>
            <a:endParaRPr lang="en-US">
              <a:solidFill>
                <a:srgbClr val="22272B"/>
              </a:solidFill>
              <a:latin typeface="Arial"/>
              <a:cs typeface="Arial"/>
            </a:endParaRPr>
          </a:p>
          <a:p>
            <a:pPr marL="285750" indent="-285750">
              <a:buFont typeface="Arial,Sans-Serif"/>
              <a:buChar char="•"/>
            </a:pPr>
            <a:endParaRPr lang="en-AU">
              <a:solidFill>
                <a:srgbClr val="22272B"/>
              </a:solidFill>
            </a:endParaRPr>
          </a:p>
          <a:p>
            <a:pPr marL="285750" indent="-285750">
              <a:lnSpc>
                <a:spcPct val="150000"/>
              </a:lnSpc>
              <a:spcBef>
                <a:spcPct val="0"/>
              </a:spcBef>
              <a:spcAft>
                <a:spcPct val="0"/>
              </a:spcAft>
              <a:buFont typeface="Arial,Sans-Serif"/>
              <a:buChar char="•"/>
            </a:pPr>
            <a:r>
              <a:rPr lang="en-AU">
                <a:solidFill>
                  <a:srgbClr val="22272B"/>
                </a:solidFill>
                <a:latin typeface="Arial"/>
                <a:cs typeface="Arial"/>
              </a:rPr>
              <a:t>Players take it in turns to guess their opponent’s 5-digit number. Guessed numbers should be said aloud and named correctly using place value language.</a:t>
            </a:r>
            <a:endParaRPr lang="en-US">
              <a:solidFill>
                <a:srgbClr val="22272B"/>
              </a:solidFill>
              <a:latin typeface="Arial"/>
              <a:cs typeface="Arial"/>
            </a:endParaRPr>
          </a:p>
          <a:p>
            <a:pPr marL="285750" indent="-285750">
              <a:lnSpc>
                <a:spcPct val="150000"/>
              </a:lnSpc>
              <a:spcBef>
                <a:spcPct val="0"/>
              </a:spcBef>
              <a:spcAft>
                <a:spcPct val="0"/>
              </a:spcAft>
              <a:buFont typeface="Arial,Sans-Serif"/>
              <a:buChar char="•"/>
            </a:pPr>
            <a:r>
              <a:rPr lang="en-AU">
                <a:latin typeface="Arial"/>
                <a:cs typeface="Arial"/>
              </a:rPr>
              <a:t>After each guess, the player’s opponent tells them how many digits are correct and how many are in the correct place.</a:t>
            </a:r>
            <a:endParaRPr lang="en-US">
              <a:solidFill>
                <a:srgbClr val="22272B"/>
              </a:solidFill>
              <a:latin typeface="Arial"/>
              <a:cs typeface="Arial"/>
            </a:endParaRPr>
          </a:p>
          <a:p>
            <a:pPr marL="285750" indent="-285750">
              <a:lnSpc>
                <a:spcPct val="150000"/>
              </a:lnSpc>
              <a:spcBef>
                <a:spcPct val="0"/>
              </a:spcBef>
              <a:spcAft>
                <a:spcPct val="0"/>
              </a:spcAft>
              <a:buFont typeface="Arial,Sans-Serif"/>
              <a:buChar char="•"/>
            </a:pPr>
            <a:r>
              <a:rPr lang="en-AU">
                <a:latin typeface="Arial"/>
                <a:cs typeface="Arial"/>
              </a:rPr>
              <a:t>Players record their guess, the number of digits that are correct and the number of digits that are in the right place. For example, if the number is 15 384 and the guess is 14 628, there are 3 correct digits and there is one digit in the right place. Players then use this information to refine their guesses.</a:t>
            </a:r>
            <a:endParaRPr lang="en-AU">
              <a:solidFill>
                <a:srgbClr val="22272B"/>
              </a:solidFill>
              <a:latin typeface="Arial"/>
              <a:cs typeface="Arial"/>
            </a:endParaRPr>
          </a:p>
          <a:p>
            <a:pPr marL="285750" indent="-285750">
              <a:lnSpc>
                <a:spcPct val="150000"/>
              </a:lnSpc>
              <a:spcBef>
                <a:spcPct val="0"/>
              </a:spcBef>
              <a:spcAft>
                <a:spcPct val="0"/>
              </a:spcAft>
              <a:buFont typeface="Arial,Sans-Serif"/>
              <a:buChar char="•"/>
            </a:pPr>
            <a:r>
              <a:rPr lang="en-AU">
                <a:latin typeface="Arial"/>
                <a:cs typeface="Arial"/>
              </a:rPr>
              <a:t>The first player to correctly guess their opponent’s number is the winner.</a:t>
            </a:r>
            <a:endParaRPr lang="en-AU">
              <a:solidFill>
                <a:srgbClr val="22272B"/>
              </a:solidFill>
              <a:latin typeface="Arial"/>
              <a:cs typeface="Arial"/>
            </a:endParaRPr>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20171992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A4CC2-DEEC-5F77-9C86-890FAF7AB5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C0BF67-37C8-1541-1492-8D448DE7D8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68DAB1-9986-1F2E-81A2-30EAE9582766}"/>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B47B81-E22E-B2CC-AE7B-31B102431E3E}"/>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41090008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Representing numbers using place value A: Whole numbers </a:t>
            </a:r>
            <a:r>
              <a:rPr lang="en-AU"/>
              <a:t>(</a:t>
            </a:r>
            <a:r>
              <a:rPr lang="en-AU" b="1"/>
              <a:t>Note</a:t>
            </a:r>
            <a:r>
              <a:rPr lang="en-AU"/>
              <a:t>: Stage 2 content is reviewed) </a:t>
            </a:r>
            <a:endParaRPr lang="en-AU">
              <a:latin typeface="Arial"/>
              <a:cs typeface="Arial"/>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br>
              <a:rPr lang="en-AU" sz="1600" b="0" i="0">
                <a:latin typeface="Arial" panose="020B0604020202020204" pitchFamily="34" charset="0"/>
                <a:cs typeface="Arial" panose="020B0604020202020204" pitchFamily="34" charset="0"/>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33405796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9B41E-DB56-33E1-8F8C-97C551FE00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50EBCA-DA6C-B002-8C5C-EAC6E3AE47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170D96-FCE9-F3CF-05FF-82718BEBCDE8}"/>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Represent numbers A: Whole numbers</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FBCE111E-7D61-2D72-81D8-B1B199F66A7E}"/>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8715119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1D6AC-F967-0167-AD3E-DCFB372487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4FD765-8C68-3ADC-FECB-08095D8D1E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86BABE-2AFB-941B-2068-934F2FE07A8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Representing numbers using place value B: Whole numbers (</a:t>
            </a:r>
            <a:r>
              <a:rPr lang="en-AU" sz="1600" b="1" i="0" u="none" strike="noStrike" kern="1200">
                <a:solidFill>
                  <a:schemeClr val="tx1"/>
                </a:solidFill>
                <a:effectLst/>
                <a:latin typeface="Arial" panose="020B0604020202020204" pitchFamily="34" charset="0"/>
                <a:ea typeface="+mn-ea"/>
                <a:cs typeface="Arial" panose="020B0604020202020204" pitchFamily="34" charset="0"/>
              </a:rPr>
              <a:t>Note: Stage 2 content revised)</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D3028C6-C95F-0CB5-E366-B331D00932F7}"/>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7310167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891C9-DF43-E901-EAD2-C7F87E64E6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18C6F5-1426-8B6C-2BFD-911C78A9A2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DFA739-98AA-F0FF-4945-C056943A814C}"/>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Non-spatial measure B: Time </a:t>
            </a:r>
            <a:r>
              <a:rPr lang="en-AU"/>
              <a:t>(</a:t>
            </a:r>
            <a:r>
              <a:rPr lang="en-AU" b="1"/>
              <a:t>Note</a:t>
            </a:r>
            <a:r>
              <a:rPr lang="en-AU"/>
              <a:t>: Stage 2 content is reviewed) </a:t>
            </a:r>
          </a:p>
          <a:p>
            <a:endParaRPr lang="en-AU">
              <a:latin typeface="Public Sans"/>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627EA6F-685B-7CDD-F781-2EE5BD18F03D}"/>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3076088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FA91D-52C3-9186-2C90-D82B023AB5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8A8E39-7439-AC38-0AC6-B1EDC23527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834AA2-88D5-6FA1-EDA7-40D0FD41289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b="1">
                <a:latin typeface="Public Sans"/>
              </a:rPr>
              <a:t>Geometric measure B: Angles </a:t>
            </a:r>
            <a:r>
              <a:rPr lang="en-AU"/>
              <a:t>(</a:t>
            </a:r>
            <a:r>
              <a:rPr lang="en-AU" b="1"/>
              <a:t>Note</a:t>
            </a:r>
            <a:r>
              <a:rPr lang="en-AU"/>
              <a:t>: Stage 2 content is reviewed) </a:t>
            </a:r>
          </a:p>
          <a:p>
            <a:endParaRPr lang="en-AU">
              <a:latin typeface="Public Sans"/>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E2223C7-EC2A-C21B-507C-5AF679EAA1A9}"/>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9403748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defRPr/>
            </a:pPr>
            <a:r>
              <a:rPr lang="en-AU">
                <a:latin typeface="Arial"/>
                <a:cs typeface="Arial"/>
              </a:rPr>
              <a:t>This is a developing number sense activity. </a:t>
            </a:r>
            <a:endParaRPr lang="en-US">
              <a:solidFill>
                <a:srgbClr val="444444"/>
              </a:solidFill>
              <a:latin typeface="Arial"/>
              <a:cs typeface="Arial"/>
            </a:endParaRPr>
          </a:p>
          <a:p>
            <a:pPr>
              <a:lnSpc>
                <a:spcPct val="150000"/>
              </a:lnSpc>
              <a:spcBef>
                <a:spcPts val="1200"/>
              </a:spcBef>
              <a:spcAft>
                <a:spcPts val="600"/>
              </a:spcAft>
              <a:defRPr/>
            </a:pPr>
            <a:endParaRPr lang="en-AU">
              <a:solidFill>
                <a:srgbClr val="444444"/>
              </a:solidFill>
            </a:endParaRPr>
          </a:p>
          <a:p>
            <a:pPr>
              <a:lnSpc>
                <a:spcPct val="150000"/>
              </a:lnSpc>
              <a:spcBef>
                <a:spcPts val="1200"/>
              </a:spcBef>
              <a:spcAft>
                <a:spcPts val="600"/>
              </a:spcAft>
              <a:defRPr/>
            </a:pPr>
            <a:r>
              <a:rPr lang="en-AU">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a:solidFill>
                <a:srgbClr val="444444"/>
              </a:solidFill>
              <a:latin typeface="Arial"/>
              <a:cs typeface="Arial"/>
            </a:endParaRPr>
          </a:p>
          <a:p>
            <a:pPr>
              <a:lnSpc>
                <a:spcPts val="1913"/>
              </a:lnSpc>
              <a:defRPr/>
            </a:pPr>
            <a:endParaRPr lang="en-AU">
              <a:solidFill>
                <a:srgbClr val="444444"/>
              </a:solidFil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Representing numbers using place value A </a:t>
            </a:r>
            <a:r>
              <a:rPr lang="en-AU"/>
              <a:t>(</a:t>
            </a:r>
            <a:r>
              <a:rPr lang="en-AU" b="1"/>
              <a:t>Note</a:t>
            </a:r>
            <a:r>
              <a:rPr lang="en-AU"/>
              <a:t>: Stage 2 content is reviewed) </a:t>
            </a:r>
            <a:endParaRPr lang="en-AU">
              <a:latin typeface="Arial"/>
              <a:cs typeface="Arial"/>
            </a:endParaRPr>
          </a:p>
          <a:p>
            <a:pPr>
              <a:defRPr/>
            </a:pPr>
            <a:r>
              <a:rPr lang="en-AU" b="1">
                <a:latin typeface="Arial"/>
                <a:ea typeface="Calibri"/>
                <a:cs typeface="Arial"/>
              </a:rPr>
              <a:t>Ordering numbers</a:t>
            </a:r>
          </a:p>
          <a:p>
            <a:pPr>
              <a:defRPr/>
            </a:pPr>
            <a:r>
              <a:rPr lang="en-AU" b="1">
                <a:latin typeface="Arial"/>
                <a:ea typeface="Calibri"/>
                <a:cs typeface="Arial"/>
              </a:rPr>
              <a:t>Aim of the game</a:t>
            </a:r>
          </a:p>
          <a:p>
            <a:pPr>
              <a:defRPr/>
            </a:pPr>
            <a:r>
              <a:rPr lang="en-AU">
                <a:latin typeface="Arial"/>
                <a:ea typeface="Calibri"/>
                <a:cs typeface="Arial"/>
              </a:rPr>
              <a:t>-rearrange the sticky notes so that numbers are in ascending order in the fewest moves possible.</a:t>
            </a:r>
            <a:endParaRPr lang="en-AU"/>
          </a:p>
          <a:p>
            <a:pPr>
              <a:defRPr/>
            </a:pPr>
            <a:r>
              <a:rPr lang="en-AU" sz="1800" b="1">
                <a:latin typeface="Arial"/>
                <a:ea typeface="Calibri"/>
                <a:cs typeface="Arial"/>
              </a:rPr>
              <a:t>Rules</a:t>
            </a:r>
          </a:p>
          <a:p>
            <a:pPr marL="285750" indent="-285750">
              <a:lnSpc>
                <a:spcPct val="150000"/>
              </a:lnSpc>
              <a:buFont typeface="Arial,Sans-Serif"/>
              <a:buChar char="•"/>
              <a:defRPr/>
            </a:pPr>
            <a:r>
              <a:rPr lang="en-AU">
                <a:latin typeface="Arial"/>
                <a:cs typeface="Arial"/>
              </a:rPr>
              <a:t>This game may be played individually, in pairs or in small groups. </a:t>
            </a:r>
            <a:endParaRPr lang="en-US">
              <a:solidFill>
                <a:srgbClr val="444444"/>
              </a:solidFill>
              <a:latin typeface="Arial"/>
              <a:cs typeface="Arial"/>
            </a:endParaRPr>
          </a:p>
          <a:p>
            <a:pPr marL="285750" indent="-285750">
              <a:lnSpc>
                <a:spcPct val="150000"/>
              </a:lnSpc>
              <a:buFont typeface="Arial,Sans-Serif"/>
              <a:buChar char="•"/>
              <a:defRPr/>
            </a:pPr>
            <a:r>
              <a:rPr lang="en-AU">
                <a:latin typeface="Arial"/>
                <a:cs typeface="Arial"/>
              </a:rPr>
              <a:t>Use 0–9 dice, a spinner or playing cards to generate 4 digits. The 4 digits are then combined to create a 4-digit number which is recorded on a sticky note. This process is repeated to make 4 different 4-digit numbers.</a:t>
            </a:r>
            <a:endParaRPr lang="en-US">
              <a:solidFill>
                <a:srgbClr val="444444"/>
              </a:solidFill>
              <a:latin typeface="Arial"/>
              <a:cs typeface="Arial"/>
            </a:endParaRPr>
          </a:p>
          <a:p>
            <a:pPr marL="285750" indent="-285750">
              <a:lnSpc>
                <a:spcPct val="150000"/>
              </a:lnSpc>
              <a:buFont typeface="Arial,Sans-Serif"/>
              <a:buChar char="•"/>
              <a:defRPr/>
            </a:pPr>
            <a:r>
              <a:rPr lang="en-AU">
                <a:latin typeface="Arial"/>
                <a:cs typeface="Arial"/>
              </a:rPr>
              <a:t>The aim of the game is to rearrange the sticky notes, so the numbers are in ascending order in the fewest moves possible, moving adjacent sticky notes only and recording the number of moves required.</a:t>
            </a:r>
            <a:endParaRPr lang="en-US">
              <a:solidFill>
                <a:srgbClr val="444444"/>
              </a:solidFill>
              <a:latin typeface="Arial"/>
              <a:cs typeface="Arial"/>
            </a:endParaRPr>
          </a:p>
          <a:p>
            <a:pPr marL="342900" indent="-342900">
              <a:lnSpc>
                <a:spcPct val="150000"/>
              </a:lnSpc>
              <a:spcBef>
                <a:spcPts val="1200"/>
              </a:spcBef>
              <a:spcAft>
                <a:spcPts val="600"/>
              </a:spcAft>
              <a:buAutoNum type="arabicPeriod"/>
              <a:defRPr/>
            </a:pPr>
            <a:r>
              <a:rPr lang="en-AU">
                <a:latin typeface="Arial"/>
                <a:cs typeface="Arial"/>
              </a:rPr>
              <a:t>Repeat with 4 new numbers arranging the sticky notes so the numbers are in descending order.</a:t>
            </a:r>
            <a:endParaRPr lang="en-US">
              <a:solidFill>
                <a:srgbClr val="444444"/>
              </a:solidFill>
              <a:latin typeface="Arial"/>
              <a:cs typeface="Arial"/>
            </a:endParaRPr>
          </a:p>
          <a:p>
            <a:pPr marL="342900" indent="-342900">
              <a:lnSpc>
                <a:spcPct val="150000"/>
              </a:lnSpc>
              <a:spcBef>
                <a:spcPts val="1200"/>
              </a:spcBef>
              <a:spcAft>
                <a:spcPts val="600"/>
              </a:spcAft>
              <a:buAutoNum type="arabicPeriod"/>
              <a:defRPr/>
            </a:pPr>
            <a:r>
              <a:rPr lang="en-AU">
                <a:latin typeface="Arial"/>
                <a:cs typeface="Arial"/>
              </a:rPr>
              <a:t>Observe students and ask questions, such as:</a:t>
            </a:r>
            <a:endParaRPr lang="en-US">
              <a:solidFill>
                <a:srgbClr val="444444"/>
              </a:solidFill>
              <a:latin typeface="Arial"/>
              <a:cs typeface="Arial"/>
            </a:endParaRPr>
          </a:p>
          <a:p>
            <a:pPr marL="342900" indent="-342900">
              <a:lnSpc>
                <a:spcPct val="150000"/>
              </a:lnSpc>
              <a:spcBef>
                <a:spcPts val="1200"/>
              </a:spcBef>
              <a:spcAft>
                <a:spcPts val="600"/>
              </a:spcAft>
              <a:buFont typeface="Arial,Sans-Serif"/>
              <a:buChar char="–"/>
              <a:defRPr/>
            </a:pPr>
            <a:r>
              <a:rPr lang="en-AU">
                <a:latin typeface="Arial"/>
                <a:cs typeface="Arial"/>
              </a:rPr>
              <a:t>What will your next move be? Why?</a:t>
            </a:r>
            <a:endParaRPr lang="en-US">
              <a:solidFill>
                <a:srgbClr val="444444"/>
              </a:solidFill>
              <a:latin typeface="Arial"/>
              <a:cs typeface="Arial"/>
            </a:endParaRPr>
          </a:p>
          <a:p>
            <a:pPr marL="342900" indent="-342900">
              <a:lnSpc>
                <a:spcPct val="150000"/>
              </a:lnSpc>
              <a:spcBef>
                <a:spcPts val="1200"/>
              </a:spcBef>
              <a:spcAft>
                <a:spcPts val="600"/>
              </a:spcAft>
              <a:buFont typeface="Arial,Sans-Serif"/>
              <a:buChar char="–"/>
              <a:defRPr/>
            </a:pPr>
            <a:r>
              <a:rPr lang="en-AU">
                <a:latin typeface="Arial"/>
                <a:cs typeface="Arial"/>
              </a:rPr>
              <a:t>What is the largest number? How do you know?</a:t>
            </a:r>
            <a:endParaRPr lang="en-US">
              <a:solidFill>
                <a:srgbClr val="444444"/>
              </a:solidFill>
              <a:latin typeface="Arial"/>
              <a:cs typeface="Arial"/>
            </a:endParaRPr>
          </a:p>
          <a:p>
            <a:pPr marL="342900" indent="-342900">
              <a:lnSpc>
                <a:spcPct val="150000"/>
              </a:lnSpc>
              <a:spcBef>
                <a:spcPts val="1200"/>
              </a:spcBef>
              <a:spcAft>
                <a:spcPts val="600"/>
              </a:spcAft>
              <a:buFont typeface="Arial,Sans-Serif"/>
              <a:buChar char="–"/>
              <a:defRPr/>
            </a:pPr>
            <a:r>
              <a:rPr lang="en-AU">
                <a:latin typeface="Arial"/>
                <a:cs typeface="Arial"/>
              </a:rPr>
              <a:t>What is the smallest number? How do you know?</a:t>
            </a:r>
            <a:endParaRPr lang="en-US">
              <a:solidFill>
                <a:srgbClr val="444444"/>
              </a:solidFill>
              <a:latin typeface="Arial"/>
              <a:cs typeface="Arial"/>
            </a:endParaRPr>
          </a:p>
          <a:p>
            <a:pPr marL="342900" indent="-342900">
              <a:lnSpc>
                <a:spcPct val="150000"/>
              </a:lnSpc>
              <a:spcBef>
                <a:spcPts val="1200"/>
              </a:spcBef>
              <a:spcAft>
                <a:spcPts val="600"/>
              </a:spcAft>
              <a:buFont typeface="Arial,Sans-Serif"/>
              <a:buChar char="–"/>
              <a:defRPr/>
            </a:pPr>
            <a:r>
              <a:rPr lang="en-AU">
                <a:latin typeface="Arial"/>
                <a:cs typeface="Arial"/>
              </a:rPr>
              <a:t>How many moves have you made so far?</a:t>
            </a:r>
            <a:endParaRPr lang="en-US">
              <a:solidFill>
                <a:srgbClr val="444444"/>
              </a:solidFill>
              <a:latin typeface="Arial"/>
              <a:cs typeface="Arial"/>
            </a:endParaRPr>
          </a:p>
          <a:p>
            <a:pPr marL="342900" indent="-342900">
              <a:lnSpc>
                <a:spcPct val="150000"/>
              </a:lnSpc>
              <a:spcBef>
                <a:spcPts val="1200"/>
              </a:spcBef>
              <a:spcAft>
                <a:spcPts val="600"/>
              </a:spcAft>
              <a:buAutoNum type="arabicPeriod"/>
              <a:defRPr/>
            </a:pPr>
            <a:r>
              <a:rPr lang="en-AU">
                <a:latin typeface="Arial"/>
                <a:cs typeface="Arial"/>
              </a:rPr>
              <a:t>After the game, students turn and talk to compare how many moves they took.</a:t>
            </a:r>
            <a:endParaRPr lang="en-AU">
              <a:solidFill>
                <a:srgbClr val="444444"/>
              </a:solidFill>
              <a:latin typeface="Arial"/>
              <a:cs typeface="Arial"/>
            </a:endParaRPr>
          </a:p>
          <a:p>
            <a:pPr>
              <a:defRPr/>
            </a:pPr>
            <a:endParaRPr lang="en-AU">
              <a:latin typeface="Arial"/>
              <a:cs typeface="Arial"/>
            </a:endParaRPr>
          </a:p>
        </p:txBody>
      </p:sp>
      <p:sp>
        <p:nvSpPr>
          <p:cNvPr id="4" name="Slide Number Placeholder 3"/>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17</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15371567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6EE3E-15ED-C876-BD6F-EE43E8170C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1EB1A0-9E83-4BB4-FF92-BA6ACF7070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FD46BE-61D8-4DE9-D84A-A90083FA1A19}"/>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EE24D34-45EC-CE1B-A795-AF8194E586E1}"/>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3010102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2E296-D174-FB8B-35EA-66D72170DD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5FC1EB-654B-1945-6DC6-4F75C008A0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EA8029-49D7-F860-D388-7DB8DFAC3418}"/>
              </a:ext>
            </a:extLst>
          </p:cNvPr>
          <p:cNvSpPr>
            <a:spLocks noGrp="1"/>
          </p:cNvSpPr>
          <p:nvPr>
            <p:ph type="body" idx="1"/>
          </p:nvPr>
        </p:nvSpPr>
        <p:spPr/>
        <p:txBody>
          <a:bodyPr/>
          <a:lstStyle/>
          <a:p>
            <a:r>
              <a:rPr lang="en-AU" sz="1600" b="0" i="0">
                <a:solidFill>
                  <a:schemeClr val="tx1"/>
                </a:solidFill>
                <a:latin typeface="Arial"/>
                <a:cs typeface="Arial"/>
              </a:rPr>
              <a:t>This question connects to the content in the developing number sense activity (Activity </a:t>
            </a:r>
            <a:r>
              <a:rPr lang="en-AU">
                <a:latin typeface="Arial"/>
                <a:cs typeface="Arial"/>
              </a:rPr>
              <a:t>3</a:t>
            </a:r>
            <a:r>
              <a:rPr lang="en-AU" sz="1600" b="0" i="0">
                <a:solidFill>
                  <a:schemeClr val="tx1"/>
                </a:solidFill>
                <a:latin typeface="Arial"/>
                <a:cs typeface="Arial"/>
              </a:rPr>
              <a:t>)</a:t>
            </a:r>
            <a:br>
              <a:rPr lang="en-AU">
                <a:latin typeface="Arial"/>
                <a:cs typeface="Arial"/>
              </a:rPr>
            </a:br>
            <a:br>
              <a:rPr lang="en-AU"/>
            </a:br>
            <a:r>
              <a:rPr lang="en-AU" b="1">
                <a:latin typeface="Arial"/>
                <a:cs typeface="Arial"/>
              </a:rPr>
              <a:t>Syllabus focus area:</a:t>
            </a:r>
            <a:endParaRPr lang="en-US">
              <a:solidFill>
                <a:srgbClr val="444444"/>
              </a:solidFill>
              <a:latin typeface="Arial"/>
              <a:cs typeface="Arial"/>
            </a:endParaRPr>
          </a:p>
          <a:p>
            <a:r>
              <a:rPr lang="en-AU">
                <a:latin typeface="Arial"/>
                <a:cs typeface="Arial"/>
              </a:rPr>
              <a:t>Representing numbers using place value A: Whole numbers</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a:t>(</a:t>
            </a:r>
            <a:r>
              <a:rPr lang="en-AU" b="1"/>
              <a:t>Note</a:t>
            </a:r>
            <a:r>
              <a:rPr lang="en-AU"/>
              <a:t>: Stage 2 content is reviewed) </a:t>
            </a: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a:lnSpc>
                <a:spcPct val="150000"/>
              </a:lnSpc>
              <a:spcBef>
                <a:spcPts val="1200"/>
              </a:spcBef>
              <a:spcAft>
                <a:spcPts val="600"/>
              </a:spcAft>
            </a:pPr>
            <a:endParaRPr lang="en-AU" sz="1600" b="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endParaRPr lang="en-AU" b="1">
              <a:effectLst/>
              <a:ea typeface="Calibri" panose="020F0502020204030204" pitchFamily="34" charset="0"/>
              <a:cs typeface="Arial"/>
            </a:endParaRPr>
          </a:p>
          <a:p>
            <a:endParaRPr lang="en-US"/>
          </a:p>
        </p:txBody>
      </p:sp>
      <p:sp>
        <p:nvSpPr>
          <p:cNvPr id="4" name="Slide Number Placeholder 3">
            <a:extLst>
              <a:ext uri="{FF2B5EF4-FFF2-40B4-BE49-F238E27FC236}">
                <a16:creationId xmlns:a16="http://schemas.microsoft.com/office/drawing/2014/main" id="{891F9216-63F2-70E7-9AA0-9B87A3C3F854}"/>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34421956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DD6FB-E969-73B1-8CC4-E9091BE4E5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F6797C-8441-B4B8-05B8-02934460E4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26EB87-A7B9-1FF2-2370-3649A84C1638}"/>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Represents numbers A: Whole numbers</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78FEF3-20AE-E997-3B20-C08F3E0F0BC8}"/>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25124098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9025A-464A-1964-87D2-D2B0F402C4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E00734-83E4-D4FD-7416-6158F127FC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409325-BA4F-C414-3806-6356D5B1F812}"/>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Representing numbers using place value B: Decimals </a:t>
            </a:r>
            <a:r>
              <a:rPr lang="en-AU"/>
              <a:t>(</a:t>
            </a:r>
            <a:r>
              <a:rPr lang="en-AU" b="1"/>
              <a:t>Note</a:t>
            </a:r>
            <a:r>
              <a:rPr lang="en-AU"/>
              <a:t>: Stage 2 content is reviewed) </a:t>
            </a:r>
            <a:endParaRPr lang="en-AU" sz="1600">
              <a:latin typeface="Public Sans"/>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7C977BC-3AE4-8ABC-BA1C-6BCC2480FD2E}"/>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6861682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DD892-37C1-7E8B-D57D-13BF6E21EC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6D4BA3-81C1-0652-24A7-E708D088E4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77C95F-17AF-78D0-6712-4C5F6FD6B3DF}"/>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Non-spatial measure B: Time </a:t>
            </a:r>
            <a:r>
              <a:rPr lang="en-AU"/>
              <a:t>(</a:t>
            </a:r>
            <a:r>
              <a:rPr lang="en-AU" b="1"/>
              <a:t>Note</a:t>
            </a:r>
            <a:r>
              <a:rPr lang="en-AU"/>
              <a:t>: Stage 2 content is reviewed) </a:t>
            </a:r>
            <a:endParaRPr lang="en-AU" sz="1600">
              <a:latin typeface="Public Sans"/>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1D82EEE-5CCA-87F3-1525-8A772D6341B6}"/>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25048434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AD204-A227-B30B-2145-47BFD44D56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8488E1-2F7F-3385-11D4-705B70E6F8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A4E577-C09A-2075-3C63-4918A4E25CB8}"/>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Area </a:t>
            </a:r>
            <a:r>
              <a:rPr lang="en-AU"/>
              <a:t>(</a:t>
            </a:r>
            <a:r>
              <a:rPr lang="en-AU" b="1"/>
              <a:t>Note</a:t>
            </a:r>
            <a:r>
              <a:rPr lang="en-AU"/>
              <a:t>: Stage 2 content is reviewed) </a:t>
            </a:r>
            <a:endParaRPr lang="en-AU" sz="1600">
              <a:latin typeface="Public Sans"/>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0B924AD-6469-BDE4-0792-EA5A41E39712}"/>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3532213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C4833-1F85-A8D5-9DE7-AC27C1569F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19529B-4C8D-A457-504B-4C8892750C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2F85EF-0FE7-E950-CE62-B1B65D09EDFC}"/>
              </a:ext>
            </a:extLst>
          </p:cNvPr>
          <p:cNvSpPr>
            <a:spLocks noGrp="1"/>
          </p:cNvSpPr>
          <p:nvPr>
            <p:ph type="body" idx="1"/>
          </p:nvPr>
        </p:nvSpPr>
        <p:spPr/>
        <p:txBody>
          <a:bodyPr/>
          <a:lstStyle/>
          <a:p>
            <a:pPr>
              <a:lnSpc>
                <a:spcPct val="150000"/>
              </a:lnSpc>
              <a:spcBef>
                <a:spcPts val="1200"/>
              </a:spcBef>
              <a:spcAft>
                <a:spcPts val="600"/>
              </a:spcAft>
              <a:defRPr/>
            </a:pPr>
            <a:r>
              <a:rPr lang="en-AU">
                <a:latin typeface="Arial"/>
                <a:cs typeface="Arial"/>
              </a:rPr>
              <a:t>This is a developing number sense activity. </a:t>
            </a:r>
            <a:endParaRPr lang="en-US">
              <a:solidFill>
                <a:srgbClr val="444444"/>
              </a:solidFill>
              <a:latin typeface="Arial"/>
              <a:cs typeface="Arial"/>
            </a:endParaRPr>
          </a:p>
          <a:p>
            <a:pPr>
              <a:lnSpc>
                <a:spcPct val="150000"/>
              </a:lnSpc>
              <a:spcBef>
                <a:spcPts val="1200"/>
              </a:spcBef>
              <a:spcAft>
                <a:spcPts val="600"/>
              </a:spcAft>
              <a:defRPr/>
            </a:pPr>
            <a:endParaRPr lang="en-AU">
              <a:solidFill>
                <a:srgbClr val="444444"/>
              </a:solidFill>
            </a:endParaRPr>
          </a:p>
          <a:p>
            <a:pPr>
              <a:lnSpc>
                <a:spcPct val="150000"/>
              </a:lnSpc>
              <a:spcBef>
                <a:spcPts val="1200"/>
              </a:spcBef>
              <a:spcAft>
                <a:spcPts val="600"/>
              </a:spcAft>
              <a:defRPr/>
            </a:pPr>
            <a:r>
              <a:rPr lang="en-AU">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a:solidFill>
                <a:srgbClr val="444444"/>
              </a:solidFill>
              <a:latin typeface="Arial"/>
              <a:cs typeface="Arial"/>
            </a:endParaRPr>
          </a:p>
          <a:p>
            <a:pPr>
              <a:lnSpc>
                <a:spcPts val="1913"/>
              </a:lnSpc>
              <a:defRPr/>
            </a:pPr>
            <a:endParaRPr lang="en-AU">
              <a:solidFill>
                <a:srgbClr val="444444"/>
              </a:solidFil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Representing numbers using place value A </a:t>
            </a:r>
            <a:r>
              <a:rPr lang="en-AU"/>
              <a:t>(</a:t>
            </a:r>
            <a:r>
              <a:rPr lang="en-AU" b="1"/>
              <a:t>Note</a:t>
            </a:r>
            <a:r>
              <a:rPr lang="en-AU"/>
              <a:t>: Stage 2 content is reviewed) </a:t>
            </a:r>
          </a:p>
          <a:p>
            <a:pPr>
              <a:defRPr/>
            </a:pPr>
            <a:endParaRPr lang="en-AU">
              <a:latin typeface="Arial"/>
              <a:ea typeface="Calibri"/>
              <a:cs typeface="Arial"/>
            </a:endParaRPr>
          </a:p>
          <a:p>
            <a:pPr>
              <a:defRPr/>
            </a:pPr>
            <a:r>
              <a:rPr lang="en-AU">
                <a:latin typeface="Arial"/>
                <a:ea typeface="Calibri"/>
                <a:cs typeface="Arial"/>
              </a:rPr>
              <a:t>Decimals game</a:t>
            </a:r>
          </a:p>
          <a:p>
            <a:pPr>
              <a:defRPr/>
            </a:pPr>
            <a:endParaRPr lang="en-AU" b="1">
              <a:solidFill>
                <a:srgbClr val="22272B"/>
              </a:solidFill>
              <a:latin typeface="Arial"/>
              <a:ea typeface="Calibri"/>
              <a:cs typeface="Arial"/>
            </a:endParaRPr>
          </a:p>
          <a:p>
            <a:pPr>
              <a:defRPr/>
            </a:pPr>
            <a:r>
              <a:rPr lang="en-AU" b="1">
                <a:solidFill>
                  <a:srgbClr val="22272B"/>
                </a:solidFill>
                <a:latin typeface="Arial"/>
                <a:ea typeface="Calibri"/>
                <a:cs typeface="Arial"/>
              </a:rPr>
              <a:t>Aim</a:t>
            </a:r>
            <a:r>
              <a:rPr lang="en-AU" b="1">
                <a:solidFill>
                  <a:srgbClr val="22272B"/>
                </a:solidFill>
                <a:latin typeface="Arial"/>
                <a:cs typeface="Arial"/>
              </a:rPr>
              <a:t> of the game- </a:t>
            </a:r>
            <a:r>
              <a:rPr lang="en-AU">
                <a:solidFill>
                  <a:srgbClr val="22272B"/>
                </a:solidFill>
                <a:latin typeface="Arial"/>
                <a:cs typeface="Arial"/>
              </a:rPr>
              <a:t>to be the player who records 3 decimals next to each other on the number line first.</a:t>
            </a:r>
            <a:r>
              <a:rPr lang="en-US">
                <a:solidFill>
                  <a:srgbClr val="22272B"/>
                </a:solidFill>
                <a:latin typeface="Arial"/>
                <a:cs typeface="Arial"/>
              </a:rPr>
              <a:t> </a:t>
            </a:r>
            <a:endParaRPr lang="en-AU">
              <a:latin typeface="Arial"/>
              <a:cs typeface="Arial"/>
            </a:endParaRPr>
          </a:p>
          <a:p>
            <a:pPr marL="0" marR="0" lvl="0" indent="0" algn="l" defTabSz="1219170">
              <a:lnSpc>
                <a:spcPct val="100000"/>
              </a:lnSpc>
              <a:spcBef>
                <a:spcPts val="0"/>
              </a:spcBef>
              <a:spcAft>
                <a:spcPts val="0"/>
              </a:spcAft>
              <a:buClrTx/>
              <a:buSzTx/>
              <a:buFontTx/>
              <a:buNone/>
              <a:tabLst/>
              <a:defRPr/>
            </a:pPr>
            <a:endParaRPr lang="en-AU" b="1">
              <a:effectLst/>
              <a:latin typeface="Arial" panose="020B0604020202020204" pitchFamily="34" charset="0"/>
              <a:ea typeface="Calibri" panose="020F0502020204030204" pitchFamily="34" charset="0"/>
            </a:endParaRPr>
          </a:p>
          <a:p>
            <a:pPr>
              <a:defRPr/>
            </a:pPr>
            <a:r>
              <a:rPr lang="en-AU" b="1">
                <a:latin typeface="Arial"/>
                <a:ea typeface="Calibri"/>
                <a:cs typeface="Arial"/>
              </a:rPr>
              <a:t>Rules of the game</a:t>
            </a:r>
            <a:endParaRPr lang="en-AU" b="1">
              <a:ea typeface="Calibri" panose="020F0502020204030204" pitchFamily="34" charset="0"/>
            </a:endParaRPr>
          </a:p>
          <a:p>
            <a:pPr marL="342900" indent="-342900">
              <a:lnSpc>
                <a:spcPct val="150000"/>
              </a:lnSpc>
              <a:spcBef>
                <a:spcPts val="1200"/>
              </a:spcBef>
              <a:spcAft>
                <a:spcPts val="600"/>
              </a:spcAft>
              <a:buFont typeface="Arial,Sans-Serif"/>
              <a:buChar char="•"/>
              <a:defRPr/>
            </a:pPr>
            <a:r>
              <a:rPr lang="en-AU">
                <a:latin typeface="Arial"/>
                <a:cs typeface="Arial"/>
              </a:rPr>
              <a:t>Provide pairs of students Resource 21: straight line, Resource 22: decimal number grid and 2 different coloured pencils from Stage 3 Unit 1</a:t>
            </a:r>
            <a:endParaRPr lang="en-US">
              <a:solidFill>
                <a:srgbClr val="444444"/>
              </a:solidFill>
              <a:latin typeface="Arial"/>
              <a:cs typeface="Arial"/>
            </a:endParaRPr>
          </a:p>
          <a:p>
            <a:pPr marL="342900" indent="-342900">
              <a:lnSpc>
                <a:spcPct val="150000"/>
              </a:lnSpc>
              <a:spcBef>
                <a:spcPts val="1200"/>
              </a:spcBef>
              <a:spcAft>
                <a:spcPts val="600"/>
              </a:spcAft>
              <a:buFont typeface="Arial,Sans-Serif"/>
              <a:buChar char="•"/>
              <a:defRPr/>
            </a:pPr>
            <a:r>
              <a:rPr lang="en-AU">
                <a:latin typeface="Arial"/>
                <a:cs typeface="Arial"/>
              </a:rPr>
              <a:t>Students take turns picking numbers from Resource 10: decimal number grid and marking their number down on Resource 9: straight line.</a:t>
            </a:r>
            <a:endParaRPr lang="en-US">
              <a:solidFill>
                <a:srgbClr val="444444"/>
              </a:solidFill>
              <a:latin typeface="Arial"/>
              <a:cs typeface="Arial"/>
            </a:endParaRPr>
          </a:p>
          <a:p>
            <a:pPr marL="342900" indent="-342900">
              <a:lnSpc>
                <a:spcPct val="150000"/>
              </a:lnSpc>
              <a:spcBef>
                <a:spcPts val="1200"/>
              </a:spcBef>
              <a:spcAft>
                <a:spcPts val="600"/>
              </a:spcAft>
              <a:buFont typeface="Arial,Sans-Serif"/>
              <a:buChar char="•"/>
              <a:defRPr/>
            </a:pPr>
            <a:r>
              <a:rPr lang="en-AU"/>
              <a:t>Students take turns until one student has recorded 3 decimals next to each other on the number line, making them the winner. Repeat.</a:t>
            </a:r>
          </a:p>
          <a:p>
            <a:pPr>
              <a:defRPr/>
            </a:pPr>
            <a:endParaRPr lang="en-AU">
              <a:ea typeface="Calibri" panose="020F0502020204030204" pitchFamily="34" charset="0"/>
            </a:endParaRPr>
          </a:p>
          <a:p>
            <a:pPr>
              <a:defRPr/>
            </a:pPr>
            <a:endParaRPr lang="en-AU" sz="1800">
              <a:ea typeface="Calibri" panose="020F0502020204030204" pitchFamily="34" charset="0"/>
            </a:endParaRPr>
          </a:p>
        </p:txBody>
      </p:sp>
      <p:sp>
        <p:nvSpPr>
          <p:cNvPr id="4" name="Slide Number Placeholder 3">
            <a:extLst>
              <a:ext uri="{FF2B5EF4-FFF2-40B4-BE49-F238E27FC236}">
                <a16:creationId xmlns:a16="http://schemas.microsoft.com/office/drawing/2014/main" id="{0B370F8B-88BE-7ED7-009B-24265E51C367}"/>
              </a:ext>
            </a:extLst>
          </p:cNvPr>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24</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210995440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C35B2-3BE5-0C7B-8CC0-327C56CC35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4427FE-E01D-4F4A-5A28-F8619B48DA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E2085B-B28F-BC38-03CF-B43254C77996}"/>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18ED36F5-A8A9-0858-1AFE-47876950D19A}"/>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35653383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F732A-3965-A9F8-148C-46F030796B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8E9F88-151B-E2AD-A9CB-95AB922312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FB8B86-2CA6-9346-88FD-0B5094FCDE8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a:t>
            </a:r>
            <a:r>
              <a:rPr lang="en-AU">
                <a:latin typeface="Arial"/>
                <a:cs typeface="Arial"/>
              </a:rPr>
              <a:t>4</a:t>
            </a:r>
            <a:r>
              <a:rPr lang="en-AU" sz="1600" b="0" i="0">
                <a:solidFill>
                  <a:schemeClr val="tx1"/>
                </a:solidFill>
                <a:latin typeface="Arial"/>
                <a:cs typeface="Arial"/>
              </a:rPr>
              <a:t>)</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Representing numbers using place value A: Whole numbers </a:t>
            </a:r>
            <a:r>
              <a:rPr lang="en-AU"/>
              <a:t>(</a:t>
            </a:r>
            <a:r>
              <a:rPr lang="en-AU" b="1"/>
              <a:t>Note</a:t>
            </a:r>
            <a:r>
              <a:rPr lang="en-AU"/>
              <a:t>: Stage 2 content is reviewed) </a:t>
            </a:r>
            <a:endParaRPr lang="en-AU">
              <a:latin typeface="Arial"/>
              <a:cs typeface="Arial"/>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br>
              <a:rPr lang="en-AU" sz="1600" b="0" i="0">
                <a:latin typeface="Arial" panose="020B0604020202020204" pitchFamily="34" charset="0"/>
                <a:cs typeface="Arial" panose="020B0604020202020204" pitchFamily="34" charset="0"/>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96CD2AA-96FE-F80B-6423-9E54C403B441}"/>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29975999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27CA5-2D7B-1310-B578-68B553A0C9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9249B6-7558-D1B6-6AEA-31B0E23167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2FBEB6-C94C-82A7-FAA9-FF20D034732D}"/>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Represents numbers A: Decimals and Percentages</a:t>
            </a:r>
            <a:endParaRPr lang="en-AU" sz="1600">
              <a:latin typeface="Public Sans"/>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E5E3C74-BC9E-DA14-B609-0B9E629AE558}"/>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25292910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F1B36-47E4-7D54-B38D-6E3A12D5FA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67441C-B175-9310-62E4-2BDB843439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A007E7-BCD7-BF66-1FD5-F66F83E9A55D}"/>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Additive relations B (</a:t>
            </a:r>
            <a:r>
              <a:rPr lang="en-AU" b="1"/>
              <a:t>Note</a:t>
            </a:r>
            <a:r>
              <a:rPr lang="en-AU"/>
              <a:t>: Stage 2 content is reviewed) </a:t>
            </a:r>
            <a:endParaRPr lang="en-AU">
              <a:latin typeface="Arial"/>
              <a:cs typeface="Arial"/>
            </a:endParaRPr>
          </a:p>
          <a:p>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727C7-CC8D-698F-7170-D71A46934120}"/>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26445374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7A0BB-AA34-0B65-41E4-EF814B84E4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1BEDCB-C7EC-29FC-CD6C-FBF8F9D517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BD923A-BE46-08B3-A42D-B88657583BA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Two-dimensional spatial structure B </a:t>
            </a:r>
            <a:r>
              <a:rPr lang="en-AU"/>
              <a:t>(</a:t>
            </a:r>
            <a:r>
              <a:rPr lang="en-AU" b="1"/>
              <a:t>Note</a:t>
            </a:r>
            <a:r>
              <a:rPr lang="en-AU"/>
              <a:t>: Stage 2 content is reviewed) </a:t>
            </a:r>
            <a:endParaRPr lang="en-AU" sz="1600">
              <a:latin typeface="Public Sans"/>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91AD530-CC72-1CD3-DC22-84CCE8934B30}"/>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11965645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1A993-7F4F-C93E-0AD2-A9CFA55E89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D4581-477B-5E09-01F6-928C1DFA69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0ADE64-75C4-CB72-FCCF-8818C0A60230}"/>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b="1">
                <a:latin typeface="Public Sans"/>
              </a:rPr>
              <a:t>Three-dimensional spatial structure: 3D objects </a:t>
            </a:r>
            <a:r>
              <a:rPr lang="en-AU"/>
              <a:t>(</a:t>
            </a:r>
            <a:r>
              <a:rPr lang="en-AU" b="1"/>
              <a:t>Note</a:t>
            </a:r>
            <a:r>
              <a:rPr lang="en-AU"/>
              <a:t>: Stage 2 content is reviewed) </a:t>
            </a:r>
            <a:endParaRPr lang="en-AU" sz="1600">
              <a:latin typeface="Public Sans"/>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88F882-215A-11D1-B667-F9E4F3218AA0}"/>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98476015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defRPr/>
            </a:pPr>
            <a:r>
              <a:rPr lang="en-AU">
                <a:solidFill>
                  <a:srgbClr val="000000"/>
                </a:solidFill>
                <a:latin typeface="Arial"/>
                <a:cs typeface="Arial"/>
              </a:rPr>
              <a:t>This is a developing number sense activity. </a:t>
            </a:r>
            <a:endParaRPr lang="en-US">
              <a:solidFill>
                <a:srgbClr val="444444"/>
              </a:solidFill>
              <a:latin typeface="Arial"/>
              <a:cs typeface="Arial"/>
            </a:endParaRPr>
          </a:p>
          <a:p>
            <a:pPr>
              <a:lnSpc>
                <a:spcPct val="150000"/>
              </a:lnSpc>
              <a:spcBef>
                <a:spcPts val="1200"/>
              </a:spcBef>
              <a:spcAft>
                <a:spcPts val="600"/>
              </a:spcAft>
              <a:defRPr/>
            </a:pPr>
            <a:endParaRPr lang="en-AU">
              <a:solidFill>
                <a:srgbClr val="444444"/>
              </a:solidFill>
            </a:endParaRPr>
          </a:p>
          <a:p>
            <a:pPr>
              <a:lnSpc>
                <a:spcPct val="150000"/>
              </a:lnSpc>
              <a:spcBef>
                <a:spcPts val="1200"/>
              </a:spcBef>
              <a:spcAft>
                <a:spcPts val="600"/>
              </a:spcAft>
              <a:defRPr/>
            </a:pPr>
            <a:r>
              <a:rPr lang="en-AU">
                <a:solidFill>
                  <a:srgbClr val="000000"/>
                </a:solidFill>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a:solidFill>
                <a:srgbClr val="444444"/>
              </a:solidFill>
              <a:latin typeface="Arial"/>
              <a:cs typeface="Arial"/>
            </a:endParaRPr>
          </a:p>
          <a:p>
            <a:pPr>
              <a:lnSpc>
                <a:spcPts val="1913"/>
              </a:lnSpc>
              <a:defRPr/>
            </a:pPr>
            <a:endParaRPr lang="en-AU">
              <a:solidFill>
                <a:srgbClr val="444444"/>
              </a:solidFill>
            </a:endParaRPr>
          </a:p>
          <a:p>
            <a:pPr>
              <a:defRPr/>
            </a:pPr>
            <a:r>
              <a:rPr lang="en-AU" b="1">
                <a:solidFill>
                  <a:srgbClr val="000000"/>
                </a:solidFill>
                <a:latin typeface="Arial"/>
                <a:cs typeface="Arial"/>
              </a:rPr>
              <a:t>Syllabus focus area:</a:t>
            </a:r>
            <a:endParaRPr lang="en-US">
              <a:solidFill>
                <a:srgbClr val="444444"/>
              </a:solidFill>
              <a:latin typeface="Arial"/>
              <a:cs typeface="Arial"/>
            </a:endParaRPr>
          </a:p>
          <a:p>
            <a:pPr>
              <a:defRPr/>
            </a:pPr>
            <a:r>
              <a:rPr lang="en-AU">
                <a:solidFill>
                  <a:srgbClr val="000000"/>
                </a:solidFill>
                <a:latin typeface="Arial"/>
                <a:cs typeface="Arial"/>
              </a:rPr>
              <a:t>Representing numbers using place value A </a:t>
            </a:r>
            <a:r>
              <a:rPr lang="en-AU"/>
              <a:t>(</a:t>
            </a:r>
            <a:r>
              <a:rPr lang="en-AU" b="1"/>
              <a:t>Note</a:t>
            </a:r>
            <a:r>
              <a:rPr lang="en-AU"/>
              <a:t>: Stage 2 content is reviewed) </a:t>
            </a:r>
          </a:p>
          <a:p>
            <a:pPr>
              <a:tabLst>
                <a:tab pos="228600" algn="l"/>
                <a:tab pos="859155" algn="l"/>
                <a:tab pos="859155" algn="l"/>
              </a:tabLst>
            </a:pPr>
            <a:r>
              <a:rPr lang="en-AU" b="1">
                <a:solidFill>
                  <a:srgbClr val="22272B"/>
                </a:solidFill>
                <a:latin typeface="Arial"/>
                <a:cs typeface="Arial"/>
              </a:rPr>
              <a:t>Aim of the game- </a:t>
            </a:r>
            <a:r>
              <a:rPr lang="en-AU">
                <a:solidFill>
                  <a:srgbClr val="22272B"/>
                </a:solidFill>
                <a:latin typeface="Arial"/>
                <a:cs typeface="Arial"/>
              </a:rPr>
              <a:t>to rearrange the sticky notes so the numbers are in ascending order in the fewest moves possible.</a:t>
            </a:r>
            <a:r>
              <a:rPr lang="en-US">
                <a:solidFill>
                  <a:srgbClr val="22272B"/>
                </a:solidFill>
                <a:latin typeface="Arial"/>
                <a:cs typeface="Arial"/>
              </a:rPr>
              <a:t> </a:t>
            </a:r>
            <a:endParaRPr lang="en-AU">
              <a:latin typeface="Arial"/>
              <a:cs typeface="Arial"/>
            </a:endParaRPr>
          </a:p>
          <a:p>
            <a:pPr>
              <a:tabLst>
                <a:tab pos="228600" algn="l"/>
                <a:tab pos="859155" algn="l"/>
                <a:tab pos="859155" algn="l"/>
              </a:tabLst>
            </a:pPr>
            <a:r>
              <a:rPr lang="en-AU" b="1">
                <a:latin typeface="Arial"/>
                <a:cs typeface="Arial"/>
              </a:rPr>
              <a:t>Rules of the game</a:t>
            </a:r>
          </a:p>
          <a:p>
            <a:pPr>
              <a:lnSpc>
                <a:spcPct val="150000"/>
              </a:lnSpc>
              <a:spcBef>
                <a:spcPct val="0"/>
              </a:spcBef>
              <a:spcAft>
                <a:spcPct val="0"/>
              </a:spcAft>
              <a:tabLst>
                <a:tab pos="228600" algn="l"/>
                <a:tab pos="859155" algn="l"/>
                <a:tab pos="859155" algn="l"/>
              </a:tabLst>
            </a:pPr>
            <a:r>
              <a:rPr lang="en-AU">
                <a:latin typeface="Arial"/>
                <a:cs typeface="Arial"/>
              </a:rPr>
              <a:t>This game may be played individually, in pairs or in small groups. </a:t>
            </a:r>
            <a:endParaRPr lang="en-AU">
              <a:solidFill>
                <a:srgbClr val="444444"/>
              </a:solidFill>
              <a:latin typeface="Arial"/>
              <a:cs typeface="Arial"/>
            </a:endParaRPr>
          </a:p>
          <a:p>
            <a:pPr marL="285750" indent="-285750">
              <a:lnSpc>
                <a:spcPct val="150000"/>
              </a:lnSpc>
              <a:spcBef>
                <a:spcPct val="0"/>
              </a:spcBef>
              <a:spcAft>
                <a:spcPct val="0"/>
              </a:spcAft>
              <a:buFont typeface="Arial,Sans-Serif"/>
              <a:buChar char="•"/>
              <a:tabLst>
                <a:tab pos="228600" algn="l"/>
                <a:tab pos="859155" algn="l"/>
                <a:tab pos="859155" algn="l"/>
              </a:tabLst>
            </a:pPr>
            <a:r>
              <a:rPr lang="en-AU">
                <a:latin typeface="Arial"/>
                <a:cs typeface="Arial"/>
              </a:rPr>
              <a:t>Use 0–9 dice, a spinner or playing cards to generate 4 digits. The 4 digits are then combined to create a 4-digit number which is recorded on a sticky note.</a:t>
            </a:r>
            <a:endParaRPr lang="en-US">
              <a:solidFill>
                <a:srgbClr val="444444"/>
              </a:solidFill>
              <a:latin typeface="Arial"/>
              <a:cs typeface="Arial"/>
            </a:endParaRPr>
          </a:p>
          <a:p>
            <a:pPr marL="285750" indent="-285750">
              <a:lnSpc>
                <a:spcPct val="150000"/>
              </a:lnSpc>
              <a:spcBef>
                <a:spcPct val="0"/>
              </a:spcBef>
              <a:spcAft>
                <a:spcPct val="0"/>
              </a:spcAft>
              <a:buFont typeface="Arial,Sans-Serif"/>
              <a:buChar char="•"/>
              <a:tabLst>
                <a:tab pos="228600" algn="l"/>
                <a:tab pos="859155" algn="l"/>
                <a:tab pos="859155" algn="l"/>
              </a:tabLst>
            </a:pPr>
            <a:r>
              <a:rPr lang="en-AU">
                <a:latin typeface="Arial"/>
                <a:cs typeface="Arial"/>
              </a:rPr>
              <a:t>Players place a decimal point after the first digit. This process is repeated to make 4 different numbers with three decimal places.</a:t>
            </a:r>
            <a:endParaRPr lang="en-US">
              <a:solidFill>
                <a:srgbClr val="444444"/>
              </a:solidFill>
              <a:latin typeface="Arial"/>
              <a:cs typeface="Arial"/>
            </a:endParaRPr>
          </a:p>
          <a:p>
            <a:pPr>
              <a:lnSpc>
                <a:spcPct val="150000"/>
              </a:lnSpc>
              <a:spcBef>
                <a:spcPts val="1200"/>
              </a:spcBef>
              <a:spcAft>
                <a:spcPts val="600"/>
              </a:spcAft>
              <a:tabLst>
                <a:tab pos="228600" algn="l"/>
                <a:tab pos="859155" algn="l"/>
                <a:tab pos="859155" algn="l"/>
              </a:tabLst>
            </a:pPr>
            <a:r>
              <a:rPr lang="en-AU">
                <a:latin typeface="Arial"/>
                <a:cs typeface="Arial"/>
              </a:rPr>
              <a:t>The aim of the game is to rearrange the sticky notes so the numbers are in ascending order in the fewest moves possible, moving adjacent sticky notes only and recording the number of moves required.</a:t>
            </a:r>
            <a:endParaRPr lang="en-US">
              <a:solidFill>
                <a:srgbClr val="444444"/>
              </a:solidFill>
              <a:latin typeface="Arial"/>
              <a:cs typeface="Arial"/>
            </a:endParaRPr>
          </a:p>
          <a:p>
            <a:pPr>
              <a:lnSpc>
                <a:spcPct val="150000"/>
              </a:lnSpc>
              <a:spcBef>
                <a:spcPts val="1200"/>
              </a:spcBef>
              <a:spcAft>
                <a:spcPts val="600"/>
              </a:spcAft>
              <a:tabLst>
                <a:tab pos="228600" algn="l"/>
                <a:tab pos="859155" algn="l"/>
                <a:tab pos="859155" algn="l"/>
              </a:tabLst>
            </a:pPr>
            <a:r>
              <a:rPr lang="en-AU">
                <a:latin typeface="Arial"/>
                <a:cs typeface="Arial"/>
              </a:rPr>
              <a:t>Repeat with 4 new numbers arranging the sticky notes so the numbers are in descending order.</a:t>
            </a:r>
            <a:endParaRPr lang="en-US">
              <a:solidFill>
                <a:srgbClr val="444444"/>
              </a:solidFill>
              <a:latin typeface="Arial"/>
              <a:cs typeface="Arial"/>
            </a:endParaRPr>
          </a:p>
          <a:p>
            <a:pPr marL="285750" indent="-285750">
              <a:lnSpc>
                <a:spcPct val="150000"/>
              </a:lnSpc>
              <a:spcBef>
                <a:spcPts val="1200"/>
              </a:spcBef>
              <a:spcAft>
                <a:spcPts val="600"/>
              </a:spcAft>
              <a:buFont typeface="Arial,Sans-Serif"/>
              <a:buChar char="•"/>
              <a:tabLst>
                <a:tab pos="228600" algn="l"/>
                <a:tab pos="859155" algn="l"/>
                <a:tab pos="859155" algn="l"/>
              </a:tabLst>
            </a:pPr>
            <a:r>
              <a:rPr lang="en-AU">
                <a:latin typeface="Arial"/>
                <a:cs typeface="Arial"/>
              </a:rPr>
              <a:t>Observe students and ask questions, such as:</a:t>
            </a:r>
            <a:endParaRPr lang="en-US">
              <a:solidFill>
                <a:srgbClr val="444444"/>
              </a:solidFill>
              <a:latin typeface="Arial"/>
              <a:cs typeface="Arial"/>
            </a:endParaRPr>
          </a:p>
          <a:p>
            <a:pPr marL="342900" indent="-342900">
              <a:lnSpc>
                <a:spcPct val="150000"/>
              </a:lnSpc>
              <a:spcBef>
                <a:spcPts val="1200"/>
              </a:spcBef>
              <a:spcAft>
                <a:spcPts val="600"/>
              </a:spcAft>
              <a:buFont typeface="Arial,Sans-Serif"/>
              <a:buChar char="–"/>
              <a:tabLst>
                <a:tab pos="228600" algn="l"/>
                <a:tab pos="859155" algn="l"/>
                <a:tab pos="859155" algn="l"/>
              </a:tabLst>
            </a:pPr>
            <a:r>
              <a:rPr lang="en-AU">
                <a:latin typeface="Arial"/>
                <a:cs typeface="Arial"/>
              </a:rPr>
              <a:t>What will your next move be? Why?</a:t>
            </a:r>
            <a:endParaRPr lang="en-US">
              <a:solidFill>
                <a:srgbClr val="444444"/>
              </a:solidFill>
              <a:latin typeface="Arial"/>
              <a:cs typeface="Arial"/>
            </a:endParaRPr>
          </a:p>
          <a:p>
            <a:pPr marL="342900" indent="-342900">
              <a:lnSpc>
                <a:spcPct val="150000"/>
              </a:lnSpc>
              <a:spcBef>
                <a:spcPts val="1200"/>
              </a:spcBef>
              <a:spcAft>
                <a:spcPts val="600"/>
              </a:spcAft>
              <a:buFont typeface="Arial,Sans-Serif"/>
              <a:buChar char="–"/>
              <a:tabLst>
                <a:tab pos="228600" algn="l"/>
                <a:tab pos="859155" algn="l"/>
                <a:tab pos="859155" algn="l"/>
              </a:tabLst>
            </a:pPr>
            <a:r>
              <a:rPr lang="en-AU">
                <a:latin typeface="Arial"/>
                <a:cs typeface="Arial"/>
              </a:rPr>
              <a:t>What is the largest number? How do you know?</a:t>
            </a:r>
            <a:endParaRPr lang="en-US">
              <a:solidFill>
                <a:srgbClr val="444444"/>
              </a:solidFill>
              <a:latin typeface="Arial"/>
              <a:cs typeface="Arial"/>
            </a:endParaRPr>
          </a:p>
          <a:p>
            <a:pPr marL="342900" indent="-342900">
              <a:lnSpc>
                <a:spcPct val="150000"/>
              </a:lnSpc>
              <a:spcBef>
                <a:spcPts val="1200"/>
              </a:spcBef>
              <a:spcAft>
                <a:spcPts val="600"/>
              </a:spcAft>
              <a:buFont typeface="Arial,Sans-Serif"/>
              <a:buChar char="–"/>
              <a:tabLst>
                <a:tab pos="228600" algn="l"/>
                <a:tab pos="859155" algn="l"/>
                <a:tab pos="859155" algn="l"/>
              </a:tabLst>
            </a:pPr>
            <a:r>
              <a:rPr lang="en-AU">
                <a:latin typeface="Arial"/>
                <a:cs typeface="Arial"/>
              </a:rPr>
              <a:t>What is the smallest number? How do you know?</a:t>
            </a:r>
            <a:endParaRPr lang="en-US">
              <a:solidFill>
                <a:srgbClr val="444444"/>
              </a:solidFill>
              <a:latin typeface="Arial"/>
              <a:cs typeface="Arial"/>
            </a:endParaRPr>
          </a:p>
          <a:p>
            <a:pPr marL="342900" indent="-342900">
              <a:lnSpc>
                <a:spcPct val="150000"/>
              </a:lnSpc>
              <a:spcBef>
                <a:spcPts val="1200"/>
              </a:spcBef>
              <a:spcAft>
                <a:spcPts val="600"/>
              </a:spcAft>
              <a:buFont typeface="Arial,Sans-Serif"/>
              <a:buChar char="–"/>
              <a:tabLst>
                <a:tab pos="228600" algn="l"/>
                <a:tab pos="859155" algn="l"/>
                <a:tab pos="859155" algn="l"/>
              </a:tabLst>
            </a:pPr>
            <a:r>
              <a:rPr lang="en-AU">
                <a:latin typeface="Arial"/>
                <a:cs typeface="Arial"/>
              </a:rPr>
              <a:t>How many moves have you made so far?</a:t>
            </a:r>
            <a:endParaRPr lang="en-US">
              <a:solidFill>
                <a:srgbClr val="444444"/>
              </a:solidFill>
              <a:latin typeface="Arial"/>
              <a:cs typeface="Arial"/>
            </a:endParaRPr>
          </a:p>
          <a:p>
            <a:pPr marL="342900" indent="-342900">
              <a:lnSpc>
                <a:spcPct val="150000"/>
              </a:lnSpc>
              <a:spcBef>
                <a:spcPts val="1200"/>
              </a:spcBef>
              <a:spcAft>
                <a:spcPts val="600"/>
              </a:spcAft>
              <a:buFont typeface="Arial,Sans-Serif"/>
              <a:buChar char="•"/>
              <a:tabLst>
                <a:tab pos="228600" algn="l"/>
                <a:tab pos="859155" algn="l"/>
                <a:tab pos="859155" algn="l"/>
              </a:tabLst>
            </a:pPr>
            <a:r>
              <a:rPr lang="en-AU">
                <a:latin typeface="Arial"/>
                <a:cs typeface="Arial"/>
              </a:rPr>
              <a:t>After the game, students turn and talk to compare how many moves they took.</a:t>
            </a:r>
            <a:endParaRPr lang="en-AU">
              <a:solidFill>
                <a:srgbClr val="444444"/>
              </a:solidFill>
              <a:latin typeface="Arial"/>
              <a:cs typeface="Arial"/>
            </a:endParaRPr>
          </a:p>
          <a:p>
            <a:pPr marL="285750" indent="-285750">
              <a:lnSpc>
                <a:spcPct val="150000"/>
              </a:lnSpc>
              <a:spcBef>
                <a:spcPct val="0"/>
              </a:spcBef>
              <a:spcAft>
                <a:spcPct val="0"/>
              </a:spcAft>
              <a:buFont typeface="Arial,Sans-Serif"/>
              <a:buChar char="•"/>
              <a:tabLst>
                <a:tab pos="228600" algn="l"/>
                <a:tab pos="859155" algn="l"/>
                <a:tab pos="859155" algn="l"/>
              </a:tabLst>
            </a:pPr>
            <a:endParaRPr lang="en-AU">
              <a:solidFill>
                <a:srgbClr val="444444"/>
              </a:solidFill>
            </a:endParaRPr>
          </a:p>
          <a:p>
            <a:pPr>
              <a:tabLst>
                <a:tab pos="228600" algn="l"/>
                <a:tab pos="859155" algn="l"/>
                <a:tab pos="859155" algn="l"/>
              </a:tabLst>
            </a:pPr>
            <a:endParaRPr lang="en-AU">
              <a:latin typeface="Arial"/>
              <a:ea typeface="Calibri" panose="020F0502020204030204" pitchFamily="34" charset="0"/>
              <a:cs typeface="Arial"/>
            </a:endParaRPr>
          </a:p>
          <a:p>
            <a:pPr>
              <a:tabLst>
                <a:tab pos="228600" algn="l"/>
                <a:tab pos="859155" algn="l"/>
                <a:tab pos="859155" algn="l"/>
              </a:tabLst>
            </a:pPr>
            <a:endParaRPr lang="en-AU" sz="1800">
              <a:effectLst/>
              <a:latin typeface="Arial" panose="020B0604020202020204" pitchFamily="34" charset="0"/>
              <a:ea typeface="Calibri" panose="020F050202020403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600477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818AF-DDC4-010C-0C3E-226873281D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03B7B5-593F-4E30-4201-691EFD621B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4148B8-A5EE-066C-084C-26B252FC0EF8}"/>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CAEACBF-48FC-503B-3932-30BDA4DEBD8C}"/>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286370276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600" b="0" i="0">
                <a:solidFill>
                  <a:schemeClr val="tx1"/>
                </a:solidFill>
                <a:latin typeface="Arial"/>
                <a:cs typeface="Arial"/>
              </a:rPr>
              <a:t>This question connects to the content in the developing number sense activity (Activity </a:t>
            </a:r>
            <a:r>
              <a:rPr lang="en-AU">
                <a:latin typeface="Arial"/>
                <a:cs typeface="Arial"/>
              </a:rPr>
              <a:t>5</a:t>
            </a:r>
            <a:r>
              <a:rPr lang="en-AU" sz="1600" b="0" i="0">
                <a:solidFill>
                  <a:schemeClr val="tx1"/>
                </a:solidFill>
                <a:latin typeface="Arial"/>
                <a:cs typeface="Arial"/>
              </a:rPr>
              <a:t>)</a:t>
            </a:r>
            <a:br>
              <a:rPr lang="en-AU">
                <a:latin typeface="Arial"/>
                <a:cs typeface="Arial"/>
              </a:rPr>
            </a:br>
            <a:br>
              <a:rPr lang="en-AU"/>
            </a:br>
            <a:r>
              <a:rPr lang="en-AU" b="1">
                <a:latin typeface="Arial"/>
                <a:cs typeface="Arial"/>
              </a:rPr>
              <a:t>Syllabus focus area:</a:t>
            </a:r>
            <a:endParaRPr lang="en-US">
              <a:solidFill>
                <a:srgbClr val="444444"/>
              </a:solidFill>
              <a:latin typeface="Arial"/>
              <a:cs typeface="Arial"/>
            </a:endParaRPr>
          </a:p>
          <a:p>
            <a:r>
              <a:rPr lang="en-AU">
                <a:latin typeface="Arial"/>
                <a:cs typeface="Arial"/>
              </a:rPr>
              <a:t>Additive relations A </a:t>
            </a:r>
            <a:r>
              <a:rPr lang="en-AU"/>
              <a:t>(</a:t>
            </a:r>
            <a:r>
              <a:rPr lang="en-AU" b="1"/>
              <a:t>Note</a:t>
            </a:r>
            <a:r>
              <a:rPr lang="en-AU"/>
              <a:t>: Stage 2 content is reviewed) </a:t>
            </a:r>
            <a:endParaRPr lang="en-AU">
              <a:latin typeface="Arial"/>
              <a:cs typeface="Arial"/>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a:effectLst/>
              <a:ea typeface="Calibri" panose="020F0502020204030204" pitchFamily="34" charset="0"/>
              <a:cs typeface="Arial"/>
            </a:endParaRPr>
          </a:p>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B86A9-99E2-4149-56C2-0FAD4CDFCD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8F2718-A36C-7497-2EE5-81A2402489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EB09EE-3E10-C8AF-9F92-5B1BBAB1078C}"/>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Represents numbers A: Decimals and percentages</a:t>
            </a:r>
            <a:endParaRPr lang="en-AU" sz="1600">
              <a:latin typeface="Public Sans"/>
            </a:endParaRP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BBA043-81EA-77EE-E881-404311353372}"/>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113611601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6A6EF-805E-FE77-DAD8-AA8018EF50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A09CE4-F2EF-98B7-438E-3EF230ACA6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0245D5-F1BF-741F-C316-A3C2432158A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Additive relations B (</a:t>
            </a:r>
            <a:r>
              <a:rPr lang="en-AU" b="1"/>
              <a:t>Note</a:t>
            </a:r>
            <a:r>
              <a:rPr lang="en-AU"/>
              <a:t>: Stage 2 content is reviewed) </a:t>
            </a:r>
            <a:endParaRPr lang="en-AU">
              <a:latin typeface="Arial"/>
              <a:cs typeface="Arial"/>
            </a:endParaRPr>
          </a:p>
          <a:p>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9A5FA0A-9E73-69E2-2319-281E46A47E04}"/>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17191939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B75FC-45C2-0D96-62F4-2547ACD877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26E951-171E-CEBE-98D0-EAA8C416AD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4A9FBF-0199-90F9-6207-B8212D2695D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Two-dimensional spatial structure B </a:t>
            </a:r>
            <a:r>
              <a:rPr lang="en-AU"/>
              <a:t>(</a:t>
            </a:r>
            <a:r>
              <a:rPr lang="en-AU" b="1"/>
              <a:t>Note</a:t>
            </a:r>
            <a:r>
              <a:rPr lang="en-AU"/>
              <a:t>: Stage 2 content is reviewed) </a:t>
            </a:r>
            <a:endParaRPr lang="en-AU" sz="1600">
              <a:latin typeface="Public Sans"/>
            </a:endParaRP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6675A1E-9728-DFA8-DCB5-8F3400B0B32B}"/>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103751245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94D49-0FEF-E22C-ADC0-C370548188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F9EBDE-6325-50D3-1D8C-46C2A07207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4CFC79-89C8-8091-6BD4-E413B8EB8F65}"/>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Three-dimensional spatial structure: Volume </a:t>
            </a:r>
            <a:r>
              <a:rPr lang="en-AU"/>
              <a:t>(</a:t>
            </a:r>
            <a:r>
              <a:rPr lang="en-AU" b="1"/>
              <a:t>Note</a:t>
            </a:r>
            <a:r>
              <a:rPr lang="en-AU"/>
              <a:t>: Stage 2 content is reviewed) </a:t>
            </a:r>
            <a:endParaRPr lang="en-AU" sz="1600">
              <a:latin typeface="Public Sans"/>
            </a:endParaRP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3DCD472-CD43-2531-1524-996ECEDB5DEC}"/>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171013329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14400">
              <a:lnSpc>
                <a:spcPct val="150000"/>
              </a:lnSpc>
              <a:spcBef>
                <a:spcPts val="1200"/>
              </a:spcBef>
              <a:spcAft>
                <a:spcPts val="600"/>
              </a:spcAft>
            </a:pPr>
            <a:r>
              <a:rPr lang="en-AU">
                <a:latin typeface="Arial"/>
                <a:cs typeface="Arial"/>
              </a:rPr>
              <a:t>This is a developing number sense activity. </a:t>
            </a:r>
            <a:endParaRPr lang="en-US">
              <a:solidFill>
                <a:srgbClr val="444444"/>
              </a:solidFill>
              <a:latin typeface="Arial"/>
              <a:cs typeface="Arial"/>
            </a:endParaRPr>
          </a:p>
          <a:p>
            <a:pPr defTabSz="914400">
              <a:lnSpc>
                <a:spcPct val="150000"/>
              </a:lnSpc>
              <a:spcBef>
                <a:spcPts val="1200"/>
              </a:spcBef>
              <a:spcAft>
                <a:spcPts val="600"/>
              </a:spcAft>
            </a:pPr>
            <a:endParaRPr lang="en-AU">
              <a:solidFill>
                <a:srgbClr val="444444"/>
              </a:solidFill>
            </a:endParaRPr>
          </a:p>
          <a:p>
            <a:pPr defTabSz="914400">
              <a:lnSpc>
                <a:spcPct val="150000"/>
              </a:lnSpc>
              <a:spcBef>
                <a:spcPts val="1200"/>
              </a:spcBef>
              <a:spcAft>
                <a:spcPts val="600"/>
              </a:spcAft>
            </a:pPr>
            <a:r>
              <a:rPr lang="en-AU">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a:solidFill>
                <a:srgbClr val="444444"/>
              </a:solidFill>
              <a:latin typeface="Arial"/>
              <a:cs typeface="Arial"/>
            </a:endParaRPr>
          </a:p>
          <a:p>
            <a:pPr defTabSz="914400">
              <a:lnSpc>
                <a:spcPts val="1913"/>
              </a:lnSpc>
            </a:pPr>
            <a:endParaRPr lang="en-AU">
              <a:solidFill>
                <a:srgbClr val="444444"/>
              </a:solidFill>
            </a:endParaRPr>
          </a:p>
          <a:p>
            <a:pPr defTabSz="914400"/>
            <a:r>
              <a:rPr lang="en-AU" b="1">
                <a:latin typeface="Arial"/>
                <a:cs typeface="Arial"/>
              </a:rPr>
              <a:t>Syllabus focus area: Additive relations A </a:t>
            </a:r>
            <a:r>
              <a:rPr lang="en-AU"/>
              <a:t>(</a:t>
            </a:r>
            <a:r>
              <a:rPr lang="en-AU" b="1"/>
              <a:t>Note</a:t>
            </a:r>
            <a:r>
              <a:rPr lang="en-AU"/>
              <a:t>: Stage 2 content is reviewed) </a:t>
            </a:r>
            <a:endParaRPr lang="en-US">
              <a:solidFill>
                <a:srgbClr val="444444"/>
              </a:solidFill>
              <a:latin typeface="Arial"/>
              <a:cs typeface="Arial"/>
            </a:endParaRPr>
          </a:p>
          <a:p>
            <a:pPr defTabSz="914400">
              <a:lnSpc>
                <a:spcPct val="150000"/>
              </a:lnSpc>
            </a:pPr>
            <a:r>
              <a:rPr lang="en-AU" b="1">
                <a:solidFill>
                  <a:srgbClr val="22272B"/>
                </a:solidFill>
                <a:latin typeface="Arial"/>
                <a:cs typeface="Arial"/>
              </a:rPr>
              <a:t>Aim of the game- </a:t>
            </a:r>
            <a:r>
              <a:rPr lang="en-AU">
                <a:solidFill>
                  <a:srgbClr val="22272B"/>
                </a:solidFill>
                <a:latin typeface="Arial"/>
                <a:cs typeface="Arial"/>
              </a:rPr>
              <a:t>to get to 100 without going over.</a:t>
            </a:r>
            <a:endParaRPr lang="en-US">
              <a:solidFill>
                <a:srgbClr val="22272B"/>
              </a:solidFill>
              <a:latin typeface="Arial"/>
              <a:cs typeface="Arial"/>
            </a:endParaRPr>
          </a:p>
          <a:p>
            <a:pPr defTabSz="914400">
              <a:lnSpc>
                <a:spcPct val="150000"/>
              </a:lnSpc>
            </a:pPr>
            <a:r>
              <a:rPr lang="en-AU" b="1">
                <a:solidFill>
                  <a:srgbClr val="22272B"/>
                </a:solidFill>
                <a:latin typeface="Arial"/>
                <a:cs typeface="Arial"/>
              </a:rPr>
              <a:t>Rules:</a:t>
            </a:r>
            <a:endParaRPr lang="en-US">
              <a:solidFill>
                <a:srgbClr val="22272B"/>
              </a:solidFill>
              <a:latin typeface="Arial"/>
              <a:cs typeface="Arial"/>
            </a:endParaRPr>
          </a:p>
          <a:p>
            <a:pPr marL="285750" indent="-285750" defTabSz="914400">
              <a:lnSpc>
                <a:spcPct val="150000"/>
              </a:lnSpc>
              <a:buFont typeface="Arial,Sans-Serif"/>
              <a:buChar char="•"/>
            </a:pPr>
            <a:r>
              <a:rPr lang="en-AU">
                <a:solidFill>
                  <a:srgbClr val="22272B"/>
                </a:solidFill>
                <a:latin typeface="Arial"/>
                <a:cs typeface="Arial"/>
              </a:rPr>
              <a:t>In pairs, students make a game board by drawing a table with 4 columns and 7 rows. Label the columns from left to right as ‘tens’, ‘ones, ‘number’ and ‘total’. Using a 0–9 die or spinner, players take turns to roll or spin.</a:t>
            </a:r>
            <a:endParaRPr lang="en-US">
              <a:solidFill>
                <a:srgbClr val="22272B"/>
              </a:solidFill>
              <a:latin typeface="Arial"/>
              <a:cs typeface="Arial"/>
            </a:endParaRPr>
          </a:p>
          <a:p>
            <a:pPr marL="285750" indent="-285750" defTabSz="914400">
              <a:lnSpc>
                <a:spcPct val="150000"/>
              </a:lnSpc>
              <a:buFont typeface="Arial,Sans-Serif"/>
              <a:buChar char="•"/>
            </a:pPr>
            <a:r>
              <a:rPr lang="en-AU">
                <a:solidFill>
                  <a:srgbClr val="22272B"/>
                </a:solidFill>
                <a:latin typeface="Arial"/>
                <a:cs typeface="Arial"/>
              </a:rPr>
              <a:t>After every roll, each player decides whether to write the number in the tens or ones column. For example, if a 4 is rolled, players can either write it in the tens</a:t>
            </a:r>
            <a:endParaRPr lang="en-US">
              <a:solidFill>
                <a:srgbClr val="22272B"/>
              </a:solidFill>
              <a:latin typeface="Arial"/>
              <a:cs typeface="Arial"/>
            </a:endParaRPr>
          </a:p>
          <a:p>
            <a:pPr defTabSz="914400">
              <a:lnSpc>
                <a:spcPct val="150000"/>
              </a:lnSpc>
            </a:pPr>
            <a:r>
              <a:rPr lang="en-AU">
                <a:solidFill>
                  <a:srgbClr val="22272B"/>
                </a:solidFill>
                <a:latin typeface="Arial"/>
                <a:cs typeface="Arial"/>
              </a:rPr>
              <a:t>column to indicate 40 or in the ones column to indicate 4.</a:t>
            </a:r>
            <a:endParaRPr lang="en-US">
              <a:solidFill>
                <a:srgbClr val="22272B"/>
              </a:solidFill>
              <a:latin typeface="Arial"/>
              <a:cs typeface="Arial"/>
            </a:endParaRPr>
          </a:p>
          <a:p>
            <a:pPr marL="285750" indent="-285750" defTabSz="914400">
              <a:lnSpc>
                <a:spcPct val="150000"/>
              </a:lnSpc>
              <a:buFont typeface="Arial,Sans-Serif"/>
              <a:buChar char="•"/>
            </a:pPr>
            <a:r>
              <a:rPr lang="en-AU">
                <a:solidFill>
                  <a:srgbClr val="22272B"/>
                </a:solidFill>
                <a:latin typeface="Arial"/>
                <a:cs typeface="Arial"/>
              </a:rPr>
              <a:t>The game concludes after 6 rolls or spins. The winner is </a:t>
            </a:r>
            <a:endParaRPr lang="en-US">
              <a:solidFill>
                <a:srgbClr val="22272B"/>
              </a:solidFill>
              <a:latin typeface="Arial"/>
              <a:cs typeface="Arial"/>
            </a:endParaRPr>
          </a:p>
          <a:p>
            <a:pPr defTabSz="914400">
              <a:lnSpc>
                <a:spcPct val="150000"/>
              </a:lnSpc>
            </a:pPr>
            <a:r>
              <a:rPr lang="en-AU">
                <a:latin typeface="Arial"/>
                <a:cs typeface="Arial"/>
              </a:rPr>
              <a:t>the player whose sum is closest to 100 without going over.</a:t>
            </a:r>
            <a:endParaRPr lang="en-US">
              <a:solidFill>
                <a:srgbClr val="22272B"/>
              </a:solidFill>
              <a:latin typeface="Arial"/>
              <a:cs typeface="Arial"/>
            </a:endParaRPr>
          </a:p>
          <a:p>
            <a:pPr defTabSz="914400"/>
            <a:endParaRPr lang="en-AU" sz="1800">
              <a:effectLst/>
              <a:latin typeface="Arial"/>
              <a:ea typeface="Calibri"/>
              <a:cs typeface="Arial"/>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54035360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8C1CE-3D7B-8C22-AFC5-660902D599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E37C5F-4ACE-3DE4-9D05-E15869C1E5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7D0275-1957-4FCD-4C9F-4F5014D40298}"/>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0ED9EA0-63F8-DCB3-45D1-47D40D33264E}"/>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167816210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85C66-E87F-8559-1BA9-FC3610A67C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B92896-D187-8BC4-AFD2-7703B8D5EA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077664-AA60-3C7F-EA05-E21A631F2245}"/>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a:t>
            </a:r>
            <a:r>
              <a:rPr lang="en-AU">
                <a:latin typeface="Arial"/>
                <a:cs typeface="Arial"/>
              </a:rPr>
              <a:t>6</a:t>
            </a:r>
            <a:r>
              <a:rPr lang="en-AU" sz="1600" b="0" i="0">
                <a:solidFill>
                  <a:schemeClr val="tx1"/>
                </a:solidFill>
                <a:latin typeface="Arial"/>
                <a:cs typeface="Arial"/>
              </a:rPr>
              <a:t>)</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Additive relations A </a:t>
            </a:r>
            <a:r>
              <a:rPr lang="en-AU"/>
              <a:t>(</a:t>
            </a:r>
            <a:r>
              <a:rPr lang="en-AU" b="1"/>
              <a:t>Note</a:t>
            </a:r>
            <a:r>
              <a:rPr lang="en-AU"/>
              <a:t>: Stage 2 content is reviewed) </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57CEC59-E004-9475-6C50-843D04984AF6}"/>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419680754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15048-2001-38E7-C6D8-4D56F31393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9C8191-A82C-7584-98A7-AB3325A543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5D1080-5AAD-6FC8-34A4-C308FFD01307}"/>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Multiplicative relations A</a:t>
            </a:r>
            <a:endParaRPr lang="en-AU" sz="1600">
              <a:latin typeface="Public Sans"/>
            </a:endParaRP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7AF038-93C9-4742-2CFB-CDB0907916EC}"/>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377185135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76D1B-C30D-914C-D301-04E3D94155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5D6EBE-AC3C-D895-E00D-A6AB845EB2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934EA7-7CE3-4F4E-4C9B-79F74EFA3E19}"/>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Additive relations B </a:t>
            </a:r>
            <a:r>
              <a:rPr lang="en-AU"/>
              <a:t>(</a:t>
            </a:r>
            <a:r>
              <a:rPr lang="en-AU" b="1"/>
              <a:t>Note</a:t>
            </a:r>
            <a:r>
              <a:rPr lang="en-AU"/>
              <a:t>: Stage 2 content is reviewed) </a:t>
            </a:r>
            <a:endParaRPr lang="en-AU" sz="1600">
              <a:latin typeface="Public Sans"/>
            </a:endParaRP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B20FF9E-D104-FB31-D6A0-7D894B5152CA}"/>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76021244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9237A-4851-3D2C-DEBB-BE3972BF45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98C423-A6E6-C5B7-7905-CC0BC5A1EE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63C889-7CAC-B141-2484-44CF565D2B6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Geometric measure B </a:t>
            </a:r>
            <a:r>
              <a:rPr lang="en-AU"/>
              <a:t>(</a:t>
            </a:r>
            <a:r>
              <a:rPr lang="en-AU" b="1"/>
              <a:t>Note</a:t>
            </a:r>
            <a:r>
              <a:rPr lang="en-AU"/>
              <a:t>: Stage 2 content is reviewed) </a:t>
            </a:r>
            <a:endParaRPr lang="en-AU" sz="1600">
              <a:latin typeface="Public Sans"/>
            </a:endParaRP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6C61C20-F4A1-5B16-3DAE-BF102D6A931F}"/>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14826718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88F32-0A67-FA95-4465-407CB7E459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92FD93-170C-A7F6-032B-206207344D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81DDA8-1CA3-B1ED-E0A4-4DA46EACB79E}"/>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Three-dimensional spatial structure: Volume</a:t>
            </a:r>
            <a:r>
              <a:rPr lang="en-AU" sz="1600">
                <a:latin typeface="Public Sans"/>
              </a:rPr>
              <a:t> </a:t>
            </a:r>
            <a:r>
              <a:rPr lang="en-AU"/>
              <a:t>(</a:t>
            </a:r>
            <a:r>
              <a:rPr lang="en-AU" b="1"/>
              <a:t>Note</a:t>
            </a:r>
            <a:r>
              <a:rPr lang="en-AU"/>
              <a:t>: Stage 2 content is reviewed) </a:t>
            </a: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3B6ABB5-2F6F-3721-A6D1-DA32621E5284}"/>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247747337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lang="en-AU" b="1"/>
          </a:p>
          <a:p>
            <a:pPr>
              <a:lnSpc>
                <a:spcPct val="150000"/>
              </a:lnSpc>
              <a:spcBef>
                <a:spcPts val="1200"/>
              </a:spcBef>
              <a:spcAft>
                <a:spcPts val="600"/>
              </a:spcAft>
            </a:pPr>
            <a:r>
              <a:rPr lang="en-AU">
                <a:solidFill>
                  <a:srgbClr val="000000"/>
                </a:solidFill>
                <a:latin typeface="Arial"/>
                <a:cs typeface="Arial"/>
              </a:rPr>
              <a:t>This is a developing number sense activity. </a:t>
            </a:r>
            <a:endParaRPr lang="en-US">
              <a:solidFill>
                <a:srgbClr val="444444"/>
              </a:solidFill>
              <a:latin typeface="Arial"/>
              <a:cs typeface="Arial"/>
            </a:endParaRPr>
          </a:p>
          <a:p>
            <a:pPr>
              <a:lnSpc>
                <a:spcPct val="150000"/>
              </a:lnSpc>
              <a:spcBef>
                <a:spcPts val="1200"/>
              </a:spcBef>
              <a:spcAft>
                <a:spcPts val="600"/>
              </a:spcAft>
            </a:pPr>
            <a:endParaRPr lang="en-AU">
              <a:solidFill>
                <a:srgbClr val="444444"/>
              </a:solidFill>
            </a:endParaRPr>
          </a:p>
          <a:p>
            <a:pPr>
              <a:lnSpc>
                <a:spcPct val="150000"/>
              </a:lnSpc>
              <a:spcBef>
                <a:spcPts val="1200"/>
              </a:spcBef>
              <a:spcAft>
                <a:spcPts val="600"/>
              </a:spcAft>
            </a:pPr>
            <a:r>
              <a:rPr lang="en-AU">
                <a:solidFill>
                  <a:srgbClr val="000000"/>
                </a:solidFill>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a:solidFill>
                <a:srgbClr val="444444"/>
              </a:solidFill>
              <a:latin typeface="Arial"/>
              <a:cs typeface="Arial"/>
            </a:endParaRPr>
          </a:p>
          <a:p>
            <a:pPr>
              <a:lnSpc>
                <a:spcPts val="1913"/>
              </a:lnSpc>
            </a:pPr>
            <a:endParaRPr lang="en-AU">
              <a:solidFill>
                <a:srgbClr val="444444"/>
              </a:solidFill>
            </a:endParaRPr>
          </a:p>
          <a:p>
            <a:r>
              <a:rPr lang="en-AU" b="1">
                <a:solidFill>
                  <a:srgbClr val="000000"/>
                </a:solidFill>
                <a:latin typeface="Arial"/>
                <a:cs typeface="Arial"/>
              </a:rPr>
              <a:t>Syllabus focus area:</a:t>
            </a:r>
            <a:endParaRPr lang="en-US">
              <a:solidFill>
                <a:srgbClr val="444444"/>
              </a:solidFill>
              <a:latin typeface="Arial"/>
              <a:cs typeface="Arial"/>
            </a:endParaRPr>
          </a:p>
          <a:p>
            <a:r>
              <a:rPr lang="en-AU">
                <a:solidFill>
                  <a:srgbClr val="000000"/>
                </a:solidFill>
                <a:latin typeface="Arial"/>
                <a:cs typeface="Arial"/>
              </a:rPr>
              <a:t>Additive relations A </a:t>
            </a:r>
            <a:r>
              <a:rPr lang="en-AU"/>
              <a:t>(</a:t>
            </a:r>
            <a:r>
              <a:rPr lang="en-AU" b="1"/>
              <a:t>Note</a:t>
            </a:r>
            <a:r>
              <a:rPr lang="en-AU"/>
              <a:t>: Stage 2 content is reviewed) </a:t>
            </a:r>
          </a:p>
          <a:p>
            <a:pPr>
              <a:lnSpc>
                <a:spcPct val="150000"/>
              </a:lnSpc>
            </a:pPr>
            <a:r>
              <a:rPr lang="en-AU" b="1">
                <a:solidFill>
                  <a:srgbClr val="22272B"/>
                </a:solidFill>
                <a:latin typeface="Arial"/>
                <a:cs typeface="Arial"/>
              </a:rPr>
              <a:t>Aim of the game- </a:t>
            </a:r>
            <a:r>
              <a:rPr lang="en-AU">
                <a:solidFill>
                  <a:srgbClr val="22272B"/>
                </a:solidFill>
                <a:latin typeface="Arial"/>
                <a:cs typeface="Arial"/>
              </a:rPr>
              <a:t>to get the closest to 1000</a:t>
            </a:r>
            <a:endParaRPr lang="en-US">
              <a:solidFill>
                <a:srgbClr val="22272B"/>
              </a:solidFill>
              <a:latin typeface="Arial"/>
              <a:cs typeface="Arial"/>
            </a:endParaRPr>
          </a:p>
          <a:p>
            <a:pPr>
              <a:lnSpc>
                <a:spcPct val="150000"/>
              </a:lnSpc>
            </a:pPr>
            <a:endParaRPr lang="en-AU">
              <a:solidFill>
                <a:srgbClr val="22272B"/>
              </a:solidFill>
            </a:endParaRPr>
          </a:p>
          <a:p>
            <a:pPr>
              <a:lnSpc>
                <a:spcPct val="150000"/>
              </a:lnSpc>
            </a:pPr>
            <a:r>
              <a:rPr lang="en-AU" b="1">
                <a:solidFill>
                  <a:srgbClr val="22272B"/>
                </a:solidFill>
                <a:latin typeface="Arial"/>
                <a:cs typeface="Arial"/>
              </a:rPr>
              <a:t>Rules: </a:t>
            </a:r>
            <a:endParaRPr lang="en-US" b="1">
              <a:solidFill>
                <a:srgbClr val="22272B"/>
              </a:solidFill>
              <a:latin typeface="Arial"/>
              <a:cs typeface="Arial"/>
            </a:endParaRPr>
          </a:p>
          <a:p>
            <a:pPr marL="285750" indent="-285750">
              <a:lnSpc>
                <a:spcPct val="150000"/>
              </a:lnSpc>
              <a:buFont typeface="Arial,Sans-Serif"/>
              <a:buChar char="•"/>
            </a:pPr>
            <a:r>
              <a:rPr lang="en-AU">
                <a:solidFill>
                  <a:srgbClr val="22272B"/>
                </a:solidFill>
                <a:latin typeface="Arial"/>
                <a:cs typeface="Arial"/>
              </a:rPr>
              <a:t>In pairs, students draw an identical gameboard for each player. Ensure that each pair has a 0–9 die or spinner.</a:t>
            </a:r>
            <a:endParaRPr lang="en-US">
              <a:solidFill>
                <a:srgbClr val="22272B"/>
              </a:solidFill>
              <a:latin typeface="Arial"/>
              <a:cs typeface="Arial"/>
            </a:endParaRPr>
          </a:p>
          <a:p>
            <a:pPr marL="285750" indent="-285750">
              <a:lnSpc>
                <a:spcPct val="150000"/>
              </a:lnSpc>
              <a:buFont typeface="Arial,Sans-Serif"/>
              <a:buChar char="•"/>
            </a:pPr>
            <a:r>
              <a:rPr lang="en-AU">
                <a:solidFill>
                  <a:srgbClr val="22272B"/>
                </a:solidFill>
                <a:latin typeface="Arial"/>
                <a:cs typeface="Arial"/>
              </a:rPr>
              <a:t>Each player will have 9 turns. The player whose sum is closest to 1000 is the winner.</a:t>
            </a:r>
            <a:endParaRPr lang="en-US">
              <a:solidFill>
                <a:srgbClr val="22272B"/>
              </a:solidFill>
              <a:latin typeface="Arial"/>
              <a:cs typeface="Arial"/>
            </a:endParaRPr>
          </a:p>
          <a:p>
            <a:pPr marL="285750" indent="-285750">
              <a:lnSpc>
                <a:spcPct val="150000"/>
              </a:lnSpc>
              <a:buFont typeface="Arial,Sans-Serif"/>
              <a:buChar char="•"/>
            </a:pPr>
            <a:r>
              <a:rPr lang="en-AU">
                <a:solidFill>
                  <a:srgbClr val="22272B"/>
                </a:solidFill>
                <a:latin typeface="Arial"/>
                <a:cs typeface="Arial"/>
              </a:rPr>
              <a:t>Players take turns to roll the die or spin the spinner and decide where to write that digit in the equation.</a:t>
            </a:r>
            <a:endParaRPr lang="en-US">
              <a:solidFill>
                <a:srgbClr val="22272B"/>
              </a:solidFill>
              <a:latin typeface="Arial"/>
              <a:cs typeface="Arial"/>
            </a:endParaRPr>
          </a:p>
          <a:p>
            <a:endParaRPr lang="en-AU">
              <a:solidFill>
                <a:srgbClr val="000000"/>
              </a:solidFill>
              <a:latin typeface="Arial"/>
              <a:cs typeface="Arial"/>
            </a:endParaRPr>
          </a:p>
          <a:p>
            <a:endParaRPr lang="en-AU">
              <a:effectLst/>
              <a:latin typeface="Arial"/>
              <a:ea typeface="Calibri"/>
              <a:cs typeface="Arial"/>
            </a:endParaRPr>
          </a:p>
          <a:p>
            <a:endParaRPr lang="en-AU" sz="1800">
              <a:latin typeface="Arial"/>
              <a:ea typeface="Calibri"/>
              <a:cs typeface="Arial"/>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363426652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FBFB4-718D-9541-6358-1F66A2F4A1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E09BE8-202A-1EE8-AEE4-9E9DB4B623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AB54E4-EB56-2205-5728-0E201B3506CD}"/>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12B0FEF8-B0DC-2765-6F13-0A7C1C0229C9}"/>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404329910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4E1AA-AE86-2419-E2D4-2F289D4B1B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DB1A52-D738-FB15-6A68-894885BF73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E58CA6-89FC-61BC-201C-3E8BC638A28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a:t>
            </a:r>
            <a:r>
              <a:rPr lang="en-AU">
                <a:latin typeface="Arial"/>
                <a:cs typeface="Arial"/>
              </a:rPr>
              <a:t>7</a:t>
            </a:r>
            <a:r>
              <a:rPr lang="en-AU" sz="1600" b="0" i="0">
                <a:solidFill>
                  <a:schemeClr val="tx1"/>
                </a:solidFill>
                <a:latin typeface="Arial"/>
                <a:cs typeface="Arial"/>
              </a:rPr>
              <a:t>)</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Additive relations A </a:t>
            </a:r>
            <a:r>
              <a:rPr lang="en-AU"/>
              <a:t>(</a:t>
            </a:r>
            <a:r>
              <a:rPr lang="en-AU" b="1"/>
              <a:t>Note</a:t>
            </a:r>
            <a:r>
              <a:rPr lang="en-AU"/>
              <a:t>: Stage 2 content is reviewed) </a:t>
            </a:r>
          </a:p>
          <a:p>
            <a:pPr>
              <a:defRPr/>
            </a:pPr>
            <a:endParaRPr lang="en-AU"/>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6C2E524-5D71-6633-0348-9CDDC581B714}"/>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279928596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55F76-E6D2-7B99-F71E-DB1DF916EA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954AB7-E54A-0179-7463-CC032467CD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CE1AFA-BE70-72AC-5BD2-4C54E311BE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Multiplicative relations A </a:t>
            </a:r>
            <a:endParaRPr lang="en-AU" sz="1600">
              <a:latin typeface="Public Sans"/>
            </a:endParaRP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1420019-49F3-573E-EFF8-02A0493C57F5}"/>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10974901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0E809-2925-C87D-C957-FA32EC3138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71B097-5E06-8DBA-B5EE-B58B05DC1B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31A37E-1569-41F2-C23C-502EC4ECAD37}"/>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a:latin typeface="Public Sans"/>
              </a:rPr>
              <a:t>Multiplicative relations B</a:t>
            </a: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BCC9A5-6936-491A-994F-FDC4655C4B18}"/>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109795004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69749-6644-6D33-6ACB-65D3205596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4CCD5A-639D-4F52-8240-8ACBA29FEB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C18884-0DB2-8A77-3C87-7EBDCFECB0E5}"/>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Geometric measure B </a:t>
            </a:r>
            <a:r>
              <a:rPr lang="en-AU"/>
              <a:t>(</a:t>
            </a:r>
            <a:r>
              <a:rPr lang="en-AU" b="1"/>
              <a:t>Note</a:t>
            </a:r>
            <a:r>
              <a:rPr lang="en-AU"/>
              <a:t>: Stage 2 content is reviewed) </a:t>
            </a:r>
            <a:endParaRPr lang="en-AU" sz="1600">
              <a:latin typeface="Public Sans"/>
            </a:endParaRP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EFECC54-4E5C-67BD-9FEF-B1C21BC22612}"/>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246591415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48F21-7A5A-0DB8-830C-E5544F511C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25E7E3-5F10-879E-2027-47EBFA1BE1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928398-6724-9761-1EBB-94DC55BDE13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Non-spatial measure A: Time </a:t>
            </a:r>
            <a:r>
              <a:rPr lang="en-AU"/>
              <a:t>(</a:t>
            </a:r>
            <a:r>
              <a:rPr lang="en-AU" b="1"/>
              <a:t>Note</a:t>
            </a:r>
            <a:r>
              <a:rPr lang="en-AU"/>
              <a:t>: Stage 2 content is reviewed) </a:t>
            </a:r>
            <a:endParaRPr lang="en-AU" sz="1600">
              <a:latin typeface="Public Sans"/>
            </a:endParaRPr>
          </a:p>
          <a:p>
            <a:endParaRPr lang="en-AU" sz="1600" b="0" i="0">
              <a:latin typeface="Public Sans"/>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10DDF84-4C7C-EAD7-3908-FD10A1831FE5}"/>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297400969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03164-16C6-19AE-E51A-5BA4B3465F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52EBD5-26DA-9FD5-0949-118C9D67EE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2E585D-A265-A795-EB9A-C9041ADE398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76747B98-5F7E-AC75-DFE3-6D5FCD89656B}"/>
              </a:ext>
            </a:extLst>
          </p:cNvPr>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414812431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37C3A-DFF4-E87C-0263-2CB64DCC17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27C56C-5609-C780-6C83-DB98BFF089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79062C-1F8B-D341-F9D5-5EE25643251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a:t>
            </a:r>
            <a:r>
              <a:rPr lang="en-AU">
                <a:latin typeface="Arial"/>
                <a:cs typeface="Arial"/>
              </a:rPr>
              <a:t>8</a:t>
            </a:r>
            <a:r>
              <a:rPr lang="en-AU" sz="1600" b="0" i="0">
                <a:solidFill>
                  <a:schemeClr val="tx1"/>
                </a:solidFill>
                <a:latin typeface="Arial"/>
                <a:cs typeface="Arial"/>
              </a:rPr>
              <a:t>)</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Additive relations A </a:t>
            </a:r>
            <a:r>
              <a:rPr lang="en-AU"/>
              <a:t>(</a:t>
            </a:r>
            <a:r>
              <a:rPr lang="en-AU" b="1"/>
              <a:t>Note</a:t>
            </a:r>
            <a:r>
              <a:rPr lang="en-AU"/>
              <a:t>: Stage 2 content is reviewed) </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br>
              <a:rPr lang="en-AU" sz="1600" b="0" i="0">
                <a:latin typeface="Arial" panose="020B0604020202020204" pitchFamily="34" charset="0"/>
                <a:cs typeface="Arial" panose="020B0604020202020204" pitchFamily="34" charset="0"/>
              </a:rPr>
            </a:br>
            <a:endParaRPr lang="en-AU" sz="1600" b="0" i="0">
              <a:solidFill>
                <a:schemeClr val="tx1"/>
              </a:solidFill>
              <a:latin typeface="Arial"/>
              <a:cs typeface="Arial"/>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F9BF44D-0A94-58EC-0CFA-15296355176C}"/>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253000930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819E3-B0F6-7F8F-03D3-6407A21A03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9BA8AD-0665-4AF9-5A1C-332FB12138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972822-3E05-64AA-6A34-FA90BE4748E9}"/>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Multiplicative relations A</a:t>
            </a:r>
            <a:endParaRPr lang="en-AU" sz="1600">
              <a:latin typeface="Public Sans"/>
            </a:endParaRP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FF6F656-CCC2-ED1F-3E84-53642B1F7B01}"/>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75488731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6DD56-BE1A-23FB-10E3-378D5A007F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A87B06-2D49-D04C-FEB0-5F2259A470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7C9C7B-0CDE-38B4-67CD-96D952AAD59E}"/>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Multiplicative relations B </a:t>
            </a:r>
            <a:r>
              <a:rPr lang="en-AU"/>
              <a:t>(</a:t>
            </a:r>
            <a:r>
              <a:rPr lang="en-AU" b="1"/>
              <a:t>Note</a:t>
            </a:r>
            <a:r>
              <a:rPr lang="en-AU"/>
              <a:t>: Stage 2 content is reviewed) </a:t>
            </a:r>
            <a:endParaRPr lang="en-AU" sz="1600">
              <a:latin typeface="Public Sans"/>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E637398-4945-92F8-11C9-21081FF5B415}"/>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370164060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D993A-B0EC-5958-6F66-C545E0BEBA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1EA9FF-B123-5F5A-0CCF-31A0BAF3DE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15045E-1C4C-8CA0-E96F-0AF9A3F0ABB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Geometric measure B </a:t>
            </a:r>
            <a:r>
              <a:rPr lang="en-AU"/>
              <a:t>(</a:t>
            </a:r>
            <a:r>
              <a:rPr lang="en-AU" b="1"/>
              <a:t>Note</a:t>
            </a:r>
            <a:r>
              <a:rPr lang="en-AU"/>
              <a:t>: Stage 2 content is reviewed) </a:t>
            </a:r>
          </a:p>
          <a:p>
            <a:endParaRPr lang="en-AU"/>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68A08A-0379-056A-4ADA-5D3F78B00160}"/>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355060838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4E264-FD26-1A93-B2BD-52E567F5A8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AE50FF-7BD6-9625-55D4-41B34C4346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67923A-C2D1-8735-1567-89B089B0E5F7}"/>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Non-spatial measure B: Time </a:t>
            </a:r>
            <a:r>
              <a:rPr lang="en-AU"/>
              <a:t>(</a:t>
            </a:r>
            <a:r>
              <a:rPr lang="en-AU" b="1"/>
              <a:t>Note</a:t>
            </a:r>
            <a:r>
              <a:rPr lang="en-AU"/>
              <a:t>: Stage 2 content is reviewed) </a:t>
            </a: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BB998A2-AF59-C506-C149-1C00BC7EDBA9}"/>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123746803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EB2DA-D00A-CEC7-928F-02C5CBFF5F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FE87F3-3012-0A7D-4C81-B6EEE31A07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70ABAC-F7EB-444D-ED88-8E17415C9E29}"/>
              </a:ext>
            </a:extLst>
          </p:cNvPr>
          <p:cNvSpPr>
            <a:spLocks noGrp="1"/>
          </p:cNvSpPr>
          <p:nvPr>
            <p:ph type="body" idx="1"/>
          </p:nvPr>
        </p:nvSpPr>
        <p:spPr/>
        <p:txBody>
          <a:bodyPr/>
          <a:lstStyle/>
          <a:p>
            <a:endParaRPr lang="en-AU" sz="1800">
              <a:latin typeface="Arial"/>
              <a:ea typeface="Calibri"/>
              <a:cs typeface="Arial"/>
            </a:endParaRPr>
          </a:p>
          <a:p>
            <a:pPr>
              <a:lnSpc>
                <a:spcPct val="150000"/>
              </a:lnSpc>
              <a:spcBef>
                <a:spcPts val="1200"/>
              </a:spcBef>
              <a:spcAft>
                <a:spcPts val="600"/>
              </a:spcAft>
            </a:pPr>
            <a:r>
              <a:rPr lang="en-AU">
                <a:latin typeface="Arial"/>
                <a:cs typeface="Arial"/>
              </a:rPr>
              <a:t>This is a developing number sense activity. </a:t>
            </a:r>
            <a:endParaRPr lang="en-US">
              <a:solidFill>
                <a:srgbClr val="444444"/>
              </a:solidFill>
              <a:latin typeface="Arial"/>
              <a:cs typeface="Arial"/>
            </a:endParaRPr>
          </a:p>
          <a:p>
            <a:pPr>
              <a:lnSpc>
                <a:spcPct val="150000"/>
              </a:lnSpc>
              <a:spcBef>
                <a:spcPts val="1200"/>
              </a:spcBef>
              <a:spcAft>
                <a:spcPts val="600"/>
              </a:spcAft>
            </a:pPr>
            <a:endParaRPr lang="en-AU">
              <a:solidFill>
                <a:srgbClr val="444444"/>
              </a:solidFill>
            </a:endParaRPr>
          </a:p>
          <a:p>
            <a:pPr>
              <a:lnSpc>
                <a:spcPct val="150000"/>
              </a:lnSpc>
              <a:spcBef>
                <a:spcPts val="1200"/>
              </a:spcBef>
              <a:spcAft>
                <a:spcPts val="600"/>
              </a:spcAft>
            </a:pPr>
            <a:r>
              <a:rPr lang="en-AU">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a:solidFill>
                <a:srgbClr val="444444"/>
              </a:solidFill>
              <a:latin typeface="Arial"/>
              <a:cs typeface="Arial"/>
            </a:endParaRPr>
          </a:p>
          <a:p>
            <a:pPr>
              <a:lnSpc>
                <a:spcPts val="1913"/>
              </a:lnSpc>
            </a:pPr>
            <a:endParaRPr lang="en-AU">
              <a:solidFill>
                <a:srgbClr val="444444"/>
              </a:solidFill>
            </a:endParaRPr>
          </a:p>
          <a:p>
            <a:r>
              <a:rPr lang="en-AU" b="1">
                <a:latin typeface="Arial"/>
                <a:cs typeface="Arial"/>
              </a:rPr>
              <a:t>Syllabus focus area:</a:t>
            </a:r>
            <a:endParaRPr lang="en-US">
              <a:solidFill>
                <a:srgbClr val="444444"/>
              </a:solidFill>
              <a:latin typeface="Arial"/>
              <a:cs typeface="Arial"/>
            </a:endParaRPr>
          </a:p>
          <a:p>
            <a:r>
              <a:rPr lang="en-AU">
                <a:latin typeface="Arial"/>
                <a:cs typeface="Arial"/>
              </a:rPr>
              <a:t>Additive relations A </a:t>
            </a:r>
            <a:r>
              <a:rPr lang="en-AU"/>
              <a:t>(</a:t>
            </a:r>
            <a:r>
              <a:rPr lang="en-AU" b="1"/>
              <a:t>Note</a:t>
            </a:r>
            <a:r>
              <a:rPr lang="en-AU"/>
              <a:t>: Stage 2 content is reviewed) </a:t>
            </a:r>
            <a:endParaRPr lang="en-AU">
              <a:latin typeface="Arial"/>
              <a:cs typeface="Arial"/>
            </a:endParaRPr>
          </a:p>
          <a:p>
            <a:pPr rtl="0" fontAlgn="base"/>
            <a:r>
              <a:rPr lang="en-AU" sz="1600" b="1" i="0" u="none" strike="noStrike" kern="1200">
                <a:solidFill>
                  <a:schemeClr val="tx1"/>
                </a:solidFill>
                <a:effectLst/>
                <a:latin typeface="Arial" panose="020B0604020202020204" pitchFamily="34" charset="0"/>
                <a:ea typeface="+mn-ea"/>
                <a:cs typeface="Arial" panose="020B0604020202020204" pitchFamily="34" charset="0"/>
              </a:rPr>
              <a:t>Aim – to use addition or subtraction to get as close to the target number as possible.</a:t>
            </a:r>
            <a:r>
              <a:rPr lang="en-US" sz="1600" b="0" i="0" kern="1200">
                <a:solidFill>
                  <a:schemeClr val="tx1"/>
                </a:solidFill>
                <a:effectLst/>
                <a:latin typeface="Arial" panose="020B0604020202020204" pitchFamily="34" charset="0"/>
                <a:ea typeface="+mn-ea"/>
                <a:cs typeface="Arial" panose="020B0604020202020204" pitchFamily="34" charset="0"/>
              </a:rPr>
              <a:t>​</a:t>
            </a:r>
          </a:p>
          <a:p>
            <a:pPr rtl="0" fontAlgn="base"/>
            <a:r>
              <a:rPr lang="en-AU" sz="1600" b="1" i="0" u="none" strike="noStrike" kern="1200">
                <a:solidFill>
                  <a:schemeClr val="tx1"/>
                </a:solidFill>
                <a:effectLst/>
                <a:latin typeface="Arial" panose="020B0604020202020204" pitchFamily="34" charset="0"/>
                <a:ea typeface="+mn-ea"/>
                <a:cs typeface="Arial" panose="020B0604020202020204" pitchFamily="34" charset="0"/>
              </a:rPr>
              <a:t>Rules:</a:t>
            </a:r>
            <a:r>
              <a:rPr lang="en-US" sz="1600" b="0" i="0" kern="1200">
                <a:solidFill>
                  <a:schemeClr val="tx1"/>
                </a:solidFill>
                <a:effectLst/>
                <a:latin typeface="Arial" panose="020B0604020202020204" pitchFamily="34" charset="0"/>
                <a:ea typeface="+mn-ea"/>
                <a:cs typeface="Arial" panose="020B0604020202020204" pitchFamily="34" charset="0"/>
              </a:rPr>
              <a:t>​</a:t>
            </a:r>
          </a:p>
          <a:p>
            <a:pPr rtl="0" fontAlgn="base"/>
            <a:r>
              <a:rPr lang="en-AU" sz="1600" b="0" i="0" u="none" strike="noStrike" kern="1200">
                <a:solidFill>
                  <a:schemeClr val="tx1"/>
                </a:solidFill>
                <a:effectLst/>
                <a:latin typeface="Arial" panose="020B0604020202020204" pitchFamily="34" charset="0"/>
                <a:ea typeface="+mn-ea"/>
                <a:cs typeface="Arial" panose="020B0604020202020204" pitchFamily="34" charset="0"/>
              </a:rPr>
              <a:t>Each pair sets a target number between 800 and 1200 </a:t>
            </a:r>
            <a:r>
              <a:rPr lang="en-US" sz="1600" b="0" i="0" kern="1200">
                <a:solidFill>
                  <a:schemeClr val="tx1"/>
                </a:solidFill>
                <a:effectLst/>
                <a:latin typeface="Arial" panose="020B0604020202020204" pitchFamily="34" charset="0"/>
                <a:ea typeface="+mn-ea"/>
                <a:cs typeface="Arial" panose="020B0604020202020204" pitchFamily="34" charset="0"/>
              </a:rPr>
              <a:t>​</a:t>
            </a:r>
          </a:p>
          <a:p>
            <a:pPr rtl="0" fontAlgn="base"/>
            <a:r>
              <a:rPr lang="en-AU" sz="1600" b="0" i="0" u="none" strike="noStrike" kern="1200">
                <a:solidFill>
                  <a:schemeClr val="tx1"/>
                </a:solidFill>
                <a:effectLst/>
                <a:latin typeface="Arial" panose="020B0604020202020204" pitchFamily="34" charset="0"/>
                <a:ea typeface="+mn-ea"/>
                <a:cs typeface="Arial" panose="020B0604020202020204" pitchFamily="34" charset="0"/>
              </a:rPr>
              <a:t>Each player rolls the die twelve times to build three 3-digit numbers.</a:t>
            </a:r>
            <a:r>
              <a:rPr lang="en-US" sz="1600" b="0" i="0" kern="1200">
                <a:solidFill>
                  <a:schemeClr val="tx1"/>
                </a:solidFill>
                <a:effectLst/>
                <a:latin typeface="Arial" panose="020B0604020202020204" pitchFamily="34" charset="0"/>
                <a:ea typeface="+mn-ea"/>
                <a:cs typeface="Arial" panose="020B0604020202020204" pitchFamily="34" charset="0"/>
              </a:rPr>
              <a:t>​</a:t>
            </a:r>
          </a:p>
          <a:p>
            <a:pPr rtl="0" fontAlgn="base"/>
            <a:r>
              <a:rPr lang="en-AU" sz="1600" b="0" i="0" u="none" strike="noStrike" kern="1200">
                <a:solidFill>
                  <a:schemeClr val="tx1"/>
                </a:solidFill>
                <a:effectLst/>
                <a:latin typeface="Arial" panose="020B0604020202020204" pitchFamily="34" charset="0"/>
                <a:ea typeface="+mn-ea"/>
                <a:cs typeface="Arial" panose="020B0604020202020204" pitchFamily="34" charset="0"/>
              </a:rPr>
              <a:t>Players then use addition or subtraction in any order to get as close as possible to the target number, using regrouping where necessary.</a:t>
            </a:r>
            <a:r>
              <a:rPr lang="en-US" sz="1600" b="0" i="0" kern="1200">
                <a:solidFill>
                  <a:schemeClr val="tx1"/>
                </a:solidFill>
                <a:effectLst/>
                <a:latin typeface="Arial" panose="020B0604020202020204" pitchFamily="34" charset="0"/>
                <a:ea typeface="+mn-ea"/>
                <a:cs typeface="Arial" panose="020B0604020202020204" pitchFamily="34" charset="0"/>
              </a:rPr>
              <a:t>​</a:t>
            </a:r>
          </a:p>
          <a:p>
            <a:pPr rtl="0" fontAlgn="base"/>
            <a:r>
              <a:rPr lang="en-AU" sz="1600" b="0" i="0" u="none" strike="noStrike" kern="1200">
                <a:solidFill>
                  <a:schemeClr val="tx1"/>
                </a:solidFill>
                <a:effectLst/>
                <a:latin typeface="Arial" panose="020B0604020202020204" pitchFamily="34" charset="0"/>
                <a:ea typeface="+mn-ea"/>
                <a:cs typeface="Arial" panose="020B0604020202020204" pitchFamily="34" charset="0"/>
              </a:rPr>
              <a:t>The player closest to the target wins the round.</a:t>
            </a:r>
            <a:r>
              <a:rPr lang="en-US" sz="1600" b="0" i="0" kern="1200">
                <a:solidFill>
                  <a:schemeClr val="tx1"/>
                </a:solidFill>
                <a:effectLst/>
                <a:latin typeface="Arial" panose="020B0604020202020204" pitchFamily="34" charset="0"/>
                <a:ea typeface="+mn-ea"/>
                <a:cs typeface="Arial" panose="020B0604020202020204" pitchFamily="34" charset="0"/>
              </a:rPr>
              <a:t>​</a:t>
            </a:r>
          </a:p>
          <a:p>
            <a:endParaRPr lang="en-AU">
              <a:latin typeface="Arial"/>
              <a:cs typeface="Arial"/>
            </a:endParaRPr>
          </a:p>
          <a:p>
            <a:endParaRPr lang="en-AU">
              <a:solidFill>
                <a:srgbClr val="444444"/>
              </a:solidFill>
              <a:latin typeface="Arial"/>
              <a:cs typeface="Arial"/>
            </a:endParaRPr>
          </a:p>
          <a:p>
            <a:endParaRPr lang="en-AU">
              <a:solidFill>
                <a:srgbClr val="444444"/>
              </a:solidFill>
            </a:endParaRPr>
          </a:p>
          <a:p>
            <a:endParaRPr lang="en-AU">
              <a:solidFill>
                <a:srgbClr val="444444"/>
              </a:solidFill>
            </a:endParaRPr>
          </a:p>
          <a:p>
            <a:pPr marL="342900" indent="-342900">
              <a:buFont typeface="+mj-lt"/>
              <a:buAutoNum type="arabicPeriod"/>
            </a:pPr>
            <a:endParaRPr lang="en-AU" sz="1800">
              <a:effectLst/>
              <a:latin typeface="Arial" panose="020B0604020202020204" pitchFamily="34" charset="0"/>
              <a:ea typeface="Calibri" panose="020F0502020204030204" pitchFamily="34" charset="0"/>
            </a:endParaRPr>
          </a:p>
        </p:txBody>
      </p:sp>
      <p:sp>
        <p:nvSpPr>
          <p:cNvPr id="4" name="Slide Number Placeholder 3">
            <a:extLst>
              <a:ext uri="{FF2B5EF4-FFF2-40B4-BE49-F238E27FC236}">
                <a16:creationId xmlns:a16="http://schemas.microsoft.com/office/drawing/2014/main" id="{68EDC15E-18C1-4960-876B-ABB3A042E462}"/>
              </a:ext>
            </a:extLst>
          </p:cNvPr>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58</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72413539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AU"/>
              <a:t>Use the arrows to navigate between related activities.</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a:p>
          <a:p>
            <a:pPr marL="0" marR="0" lvl="0" indent="0" algn="l" defTabSz="1219170" rtl="0" eaLnBrk="1" fontAlgn="auto" latinLnBrk="0" hangingPunct="1">
              <a:lnSpc>
                <a:spcPct val="100000"/>
              </a:lnSpc>
              <a:spcBef>
                <a:spcPts val="0"/>
              </a:spcBef>
              <a:spcAft>
                <a:spcPts val="0"/>
              </a:spcAft>
              <a:buClrTx/>
              <a:buSzTx/>
              <a:buFontTx/>
              <a:buNone/>
              <a:tabLst/>
              <a:defRPr/>
            </a:pPr>
            <a:r>
              <a:rPr lang="en-AU"/>
              <a:t>Hyperlink each arrow to compare between related slides.</a:t>
            </a:r>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A3FC8-7C27-ADA4-A03B-5E48C1C148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3F9E58-3C51-C638-D2A9-0DC09233C5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9681D0-1819-E9EE-FB6C-BDEED94D695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panose="020B0604020202020204" pitchFamily="34" charset="0"/>
                <a:cs typeface="Arial" panose="020B0604020202020204" pitchFamily="34" charset="0"/>
              </a:rPr>
              <a:t>This question connects to the content in the developing number sense activity (Activity 1)</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0" i="0">
                <a:solidFill>
                  <a:schemeClr val="tx1"/>
                </a:solidFill>
                <a:latin typeface="Arial" panose="020B0604020202020204" pitchFamily="34" charset="0"/>
                <a:cs typeface="Arial" panose="020B0604020202020204" pitchFamily="34" charset="0"/>
              </a:rPr>
              <a:t>This question can:</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spaced and interleaved practice</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help identify and address common misconceptions </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active recall and immediate feedback</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whole class participation</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identify areas requiring reteach</a:t>
            </a:r>
          </a:p>
          <a:p>
            <a:pPr>
              <a:lnSpc>
                <a:spcPct val="150000"/>
              </a:lnSpc>
              <a:spcBef>
                <a:spcPts val="1200"/>
              </a:spcBef>
              <a:spcAft>
                <a:spcPts val="600"/>
              </a:spcAft>
            </a:pPr>
            <a:endParaRPr lang="en-AU" sz="1600" b="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r>
              <a:rPr lang="en-AU" sz="1600" b="1" i="0">
                <a:solidFill>
                  <a:schemeClr val="tx1"/>
                </a:solidFill>
                <a:latin typeface="Arial" panose="020B0604020202020204" pitchFamily="34" charset="0"/>
                <a:cs typeface="Arial" panose="020B0604020202020204" pitchFamily="34" charset="0"/>
              </a:rPr>
              <a:t>Teachers are encouraged to adapt and contextualise for their contexts.</a:t>
            </a:r>
          </a:p>
        </p:txBody>
      </p:sp>
      <p:sp>
        <p:nvSpPr>
          <p:cNvPr id="4" name="Slide Number Placeholder 3">
            <a:extLst>
              <a:ext uri="{FF2B5EF4-FFF2-40B4-BE49-F238E27FC236}">
                <a16:creationId xmlns:a16="http://schemas.microsoft.com/office/drawing/2014/main" id="{53E40460-08D8-1BDD-6B68-F7DFB23337A6}"/>
              </a:ext>
            </a:extLst>
          </p:cNvPr>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115444382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37D30-8C3C-1F9B-1235-EED776AA1E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0F2E79-EC8B-85C4-64A1-B9824B5777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281569-AF22-80CB-50D8-8C75DD350298}"/>
              </a:ext>
            </a:extLst>
          </p:cNvPr>
          <p:cNvSpPr>
            <a:spLocks noGrp="1"/>
          </p:cNvSpPr>
          <p:nvPr>
            <p:ph type="body" idx="1"/>
          </p:nvPr>
        </p:nvSpPr>
        <p:spPr/>
        <p:txBody>
          <a:bodyPr/>
          <a:lstStyle/>
          <a:p>
            <a:r>
              <a:rPr lang="en-AU" sz="1600" b="0" i="0">
                <a:solidFill>
                  <a:schemeClr val="tx1"/>
                </a:solidFill>
                <a:latin typeface="Arial"/>
                <a:cs typeface="Arial"/>
              </a:rPr>
              <a:t>This question connects to the content in the developing number sense activity (Activity 1)</a:t>
            </a:r>
            <a:br>
              <a:rPr lang="en-AU">
                <a:latin typeface="Arial"/>
                <a:cs typeface="Arial"/>
              </a:rPr>
            </a:br>
            <a:br>
              <a:rPr lang="en-AU"/>
            </a:br>
            <a:r>
              <a:rPr lang="en-AU" b="1"/>
              <a:t>Syllabus focus area:</a:t>
            </a:r>
            <a:endParaRPr lang="en-US">
              <a:solidFill>
                <a:srgbClr val="444444"/>
              </a:solidFill>
            </a:endParaRPr>
          </a:p>
          <a:p>
            <a:r>
              <a:rPr lang="en-AU"/>
              <a:t>Multiplicative relations A</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0" i="0">
                <a:solidFill>
                  <a:schemeClr val="tx1"/>
                </a:solidFill>
                <a:latin typeface="Arial" panose="020B0604020202020204" pitchFamily="34" charset="0"/>
                <a:cs typeface="Arial" panose="020B0604020202020204" pitchFamily="34" charset="0"/>
              </a:rPr>
              <a:t>This question can:</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spaced and interleaved practice</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help identify and address common misconceptions </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active recall and immediate feedback</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whole class participation</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identify areas requiring reteach</a:t>
            </a:r>
          </a:p>
          <a:p>
            <a:pPr>
              <a:lnSpc>
                <a:spcPct val="150000"/>
              </a:lnSpc>
              <a:spcBef>
                <a:spcPts val="1200"/>
              </a:spcBef>
              <a:spcAft>
                <a:spcPts val="600"/>
              </a:spcAft>
            </a:pPr>
            <a:endParaRPr lang="en-AU" sz="1600" b="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r>
              <a:rPr lang="en-AU" sz="1600" b="1" i="0">
                <a:solidFill>
                  <a:schemeClr val="tx1"/>
                </a:solidFill>
                <a:latin typeface="Arial" panose="020B0604020202020204" pitchFamily="34" charset="0"/>
                <a:cs typeface="Arial" panose="020B0604020202020204" pitchFamily="34" charset="0"/>
              </a:rPr>
              <a:t>Teachers are encouraged to adapt and contextualise for their contexts.</a:t>
            </a:r>
            <a:endParaRPr lang="en-AU" b="1">
              <a:effectLst/>
              <a:ea typeface="Calibri" panose="020F0502020204030204" pitchFamily="34" charset="0"/>
              <a:cs typeface="Arial"/>
            </a:endParaRPr>
          </a:p>
          <a:p>
            <a:endParaRPr lang="en-US"/>
          </a:p>
        </p:txBody>
      </p:sp>
      <p:sp>
        <p:nvSpPr>
          <p:cNvPr id="4" name="Slide Number Placeholder 3">
            <a:extLst>
              <a:ext uri="{FF2B5EF4-FFF2-40B4-BE49-F238E27FC236}">
                <a16:creationId xmlns:a16="http://schemas.microsoft.com/office/drawing/2014/main" id="{49558E46-6CF2-2491-6CB7-1B34BC401650}"/>
              </a:ext>
            </a:extLst>
          </p:cNvPr>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103638957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215549093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67</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120899051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973345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1805675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6549501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19631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5570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739146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763420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28282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3383170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4046493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theme" Target="../theme/theme2.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188662349"/>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9.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10.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7.xml"/><Relationship Id="rId5" Type="http://schemas.openxmlformats.org/officeDocument/2006/relationships/image" Target="../media/image14.png"/><Relationship Id="rId4" Type="http://schemas.microsoft.com/office/2017/06/relationships/model3d" Target="../media/model3d1.glb"/></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15.jpe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8.xml"/><Relationship Id="rId1" Type="http://schemas.openxmlformats.org/officeDocument/2006/relationships/slideLayout" Target="../slideLayouts/slideLayout4.xml"/><Relationship Id="rId6" Type="http://schemas.openxmlformats.org/officeDocument/2006/relationships/image" Target="../media/image17.png"/><Relationship Id="rId5" Type="http://schemas.microsoft.com/office/2017/06/relationships/model3d" Target="../media/model3d2.glb"/><Relationship Id="rId4" Type="http://schemas.openxmlformats.org/officeDocument/2006/relationships/image" Target="../media/image16.jpe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20.png"/><Relationship Id="rId2" Type="http://schemas.openxmlformats.org/officeDocument/2006/relationships/notesSlide" Target="../notesSlides/notesSlide45.xml"/><Relationship Id="rId1" Type="http://schemas.openxmlformats.org/officeDocument/2006/relationships/slideLayout" Target="../slideLayouts/slideLayout4.xml"/><Relationship Id="rId6" Type="http://schemas.openxmlformats.org/officeDocument/2006/relationships/image" Target="../media/image19.png"/><Relationship Id="rId5" Type="http://schemas.microsoft.com/office/2017/06/relationships/model3d" Target="../media/model3d2.glb"/><Relationship Id="rId4" Type="http://schemas.openxmlformats.org/officeDocument/2006/relationships/image" Target="../media/image18.jpe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3.xml"/><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8.xml"/><Relationship Id="rId1" Type="http://schemas.openxmlformats.org/officeDocument/2006/relationships/slideLayout" Target="../slideLayouts/slideLayout4.xml"/><Relationship Id="rId5" Type="http://schemas.openxmlformats.org/officeDocument/2006/relationships/image" Target="../media/image21.png"/><Relationship Id="rId4" Type="http://schemas.microsoft.com/office/2017/06/relationships/model3d" Target="../media/model3d2.glb"/></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3.xml"/><Relationship Id="rId1" Type="http://schemas.openxmlformats.org/officeDocument/2006/relationships/slideLayout" Target="../slideLayouts/slideLayout11.xml"/><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slide" Target="slide58.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8" Type="http://schemas.openxmlformats.org/officeDocument/2006/relationships/hyperlink" Target="https://educationstandards.nsw.edu.au/wps/portal/nesa/mini-footer/copyright" TargetMode="External"/><Relationship Id="rId3" Type="http://schemas.openxmlformats.org/officeDocument/2006/relationships/hyperlink" Target="https://www.abc.net.au/education/goat-maths-goat-busters/102120816" TargetMode="External"/><Relationship Id="rId7" Type="http://schemas.openxmlformats.org/officeDocument/2006/relationships/hyperlink" Target="https://education.nsw.gov.au/teaching-and-learning/curriculum/mathematics/mathematics-curriculum-resources-k-12/thinking-mathematically-resources/mathematics-s2-s3-order-order-four-digit-numbers" TargetMode="External"/><Relationship Id="rId2" Type="http://schemas.openxmlformats.org/officeDocument/2006/relationships/notesSlide" Target="../notesSlides/notesSlide66.xml"/><Relationship Id="rId1" Type="http://schemas.openxmlformats.org/officeDocument/2006/relationships/slideLayout" Target="../slideLayouts/slideLayout13.xml"/><Relationship Id="rId6" Type="http://schemas.openxmlformats.org/officeDocument/2006/relationships/hyperlink" Target="https://education.nsw.gov.au/teaching-and-learning/curriculum/mathematics/mathematics-curriculum-resources-k-12/thinking-mathematically-resources/mathematics-s1-s3-mastermind" TargetMode="External"/><Relationship Id="rId5" Type="http://schemas.openxmlformats.org/officeDocument/2006/relationships/hyperlink" Target="https://education.nsw.gov.au/teaching-and-learning/curriculum/mathematics/mathematics-curriculum-resources-k-12/thinking-mathematically-resources/mathematics-s2-s3-dicey-addition" TargetMode="External"/><Relationship Id="rId10" Type="http://schemas.openxmlformats.org/officeDocument/2006/relationships/hyperlink" Target="https://curriculum.nsw.edu.au/" TargetMode="External"/><Relationship Id="rId4" Type="http://schemas.openxmlformats.org/officeDocument/2006/relationships/hyperlink" Target="https://education.nsw.gov.au/teaching-and-learning/curriculum/mathematics/mathematics-curriculum-resources-k-12/thinking-mathematically-resources/mathematics-s1-s2-101-and-you-are-out" TargetMode="External"/><Relationship Id="rId9" Type="http://schemas.openxmlformats.org/officeDocument/2006/relationships/hyperlink" Target="https://educationstandards.nsw.edu.au/wps/portal/nesa/home" TargetMode="External"/></Relationships>
</file>

<file path=ppt/slides/_rels/slide67.xml.rels><?xml version="1.0" encoding="UTF-8" standalone="yes"?>
<Relationships xmlns="http://schemas.openxmlformats.org/package/2006/relationships"><Relationship Id="rId8" Type="http://schemas.openxmlformats.org/officeDocument/2006/relationships/hyperlink" Target="https://curriculum.nsw.edu.au/" TargetMode="External"/><Relationship Id="rId3" Type="http://schemas.openxmlformats.org/officeDocument/2006/relationships/hyperlink" Target="https://nrich.maths.org/factorsandmultiples" TargetMode="External"/><Relationship Id="rId7" Type="http://schemas.openxmlformats.org/officeDocument/2006/relationships/hyperlink" Target="https://educationstandards.nsw.edu.au/wps/portal/nesa/home" TargetMode="External"/><Relationship Id="rId2" Type="http://schemas.openxmlformats.org/officeDocument/2006/relationships/notesSlide" Target="../notesSlides/notesSlide67.xml"/><Relationship Id="rId1" Type="http://schemas.openxmlformats.org/officeDocument/2006/relationships/slideLayout" Target="../slideLayouts/slideLayout23.xml"/><Relationship Id="rId6" Type="http://schemas.openxmlformats.org/officeDocument/2006/relationships/hyperlink" Target="https://educationstandards.nsw.edu.au/wps/portal/nesa/mini-footer/copyright" TargetMode="External"/><Relationship Id="rId5" Type="http://schemas.openxmlformats.org/officeDocument/2006/relationships/hyperlink" Target="https://nrich.maths.org/10424" TargetMode="External"/><Relationship Id="rId4" Type="http://schemas.openxmlformats.org/officeDocument/2006/relationships/hyperlink" Target="https://nrich.maths.org/10421/note" TargetMode="External"/></Relationships>
</file>

<file path=ppt/slides/_rels/slide68.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68.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F6095-1EC4-AF1D-D63E-D59E13EB8A7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529C7B9-C360-81F1-3033-970F881863DA}"/>
              </a:ext>
            </a:extLst>
          </p:cNvPr>
          <p:cNvSpPr>
            <a:spLocks noGrp="1"/>
          </p:cNvSpPr>
          <p:nvPr>
            <p:ph type="title"/>
          </p:nvPr>
        </p:nvSpPr>
        <p:spPr/>
        <p:txBody>
          <a:bodyPr/>
          <a:lstStyle/>
          <a:p>
            <a:r>
              <a:rPr lang="en-AU">
                <a:latin typeface="+mj-lt"/>
              </a:rPr>
              <a:t>Instructions for use</a:t>
            </a:r>
          </a:p>
        </p:txBody>
      </p:sp>
      <p:sp>
        <p:nvSpPr>
          <p:cNvPr id="6" name="Text Placeholder 5">
            <a:extLst>
              <a:ext uri="{FF2B5EF4-FFF2-40B4-BE49-F238E27FC236}">
                <a16:creationId xmlns:a16="http://schemas.microsoft.com/office/drawing/2014/main" id="{64121D11-9F8F-CC35-54B7-C6925E267FA9}"/>
              </a:ext>
            </a:extLst>
          </p:cNvPr>
          <p:cNvSpPr>
            <a:spLocks noGrp="1"/>
          </p:cNvSpPr>
          <p:nvPr>
            <p:ph type="body" sz="quarter" idx="18"/>
          </p:nvPr>
        </p:nvSpPr>
        <p:spPr/>
        <p:txBody>
          <a:bodyPr/>
          <a:lstStyle/>
          <a:p>
            <a:r>
              <a:rPr lang="en-AU">
                <a:latin typeface="Arial"/>
                <a:cs typeface="Arial"/>
              </a:rPr>
              <a:t>Review of learning</a:t>
            </a:r>
            <a:endParaRPr lang="en-AU"/>
          </a:p>
        </p:txBody>
      </p:sp>
      <p:sp>
        <p:nvSpPr>
          <p:cNvPr id="7" name="Picture Placeholder 6">
            <a:extLst>
              <a:ext uri="{FF2B5EF4-FFF2-40B4-BE49-F238E27FC236}">
                <a16:creationId xmlns:a16="http://schemas.microsoft.com/office/drawing/2014/main" id="{EDCC1CBD-2D5B-E7F2-8E17-B400FEB5419F}"/>
              </a:ext>
            </a:extLst>
          </p:cNvPr>
          <p:cNvSpPr>
            <a:spLocks noGrp="1"/>
          </p:cNvSpPr>
          <p:nvPr>
            <p:ph type="pic" sz="quarter" idx="13"/>
          </p:nvPr>
        </p:nvSpPr>
        <p:spPr>
          <a:xfrm>
            <a:off x="354000" y="1931625"/>
            <a:ext cx="11483999" cy="4498641"/>
          </a:xfrm>
        </p:spPr>
        <p:txBody>
          <a:bodyPr/>
          <a:lstStyle/>
          <a:p>
            <a:pPr marL="342900" indent="-342900">
              <a:buFont typeface="Arial"/>
              <a:buChar char="•"/>
            </a:pPr>
            <a:r>
              <a:rPr lang="en-AU" sz="1800">
                <a:latin typeface="Arial"/>
                <a:cs typeface="Arial"/>
              </a:rPr>
              <a:t>This resource aligns to the learning in Stage 3 Year A Unit 1 and revisits content from earlier sample units.</a:t>
            </a:r>
          </a:p>
          <a:p>
            <a:pPr marL="342900" indent="-342900">
              <a:buFont typeface="Arial"/>
              <a:buChar char="•"/>
            </a:pPr>
            <a:r>
              <a:rPr lang="en-AU" sz="1800">
                <a:solidFill>
                  <a:srgbClr val="22272B"/>
                </a:solidFill>
                <a:latin typeface="+mn-lt"/>
                <a:cs typeface="Arial"/>
              </a:rPr>
              <a:t>Classroom teachers are encouraged to </a:t>
            </a:r>
            <a:r>
              <a:rPr lang="en-AU" sz="1800" b="1">
                <a:solidFill>
                  <a:srgbClr val="22272B"/>
                </a:solidFill>
                <a:latin typeface="+mn-lt"/>
                <a:cs typeface="Arial"/>
              </a:rPr>
              <a:t>add, edit and adapt</a:t>
            </a:r>
            <a:r>
              <a:rPr lang="en-AU" sz="1800">
                <a:solidFill>
                  <a:srgbClr val="22272B"/>
                </a:solidFill>
                <a:latin typeface="+mn-lt"/>
                <a:cs typeface="Arial"/>
              </a:rPr>
              <a:t> to meet the needs of their students.</a:t>
            </a:r>
          </a:p>
          <a:p>
            <a:pPr marL="342900" indent="-342900">
              <a:lnSpc>
                <a:spcPct val="150000"/>
              </a:lnSpc>
              <a:buFont typeface="Arial"/>
              <a:buChar char="•"/>
            </a:pPr>
            <a:r>
              <a:rPr lang="en-AU" sz="1800">
                <a:solidFill>
                  <a:srgbClr val="22272B"/>
                </a:solidFill>
                <a:latin typeface="+mn-lt"/>
                <a:cs typeface="Arial"/>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a:solidFill>
                  <a:srgbClr val="22272B"/>
                </a:solidFill>
                <a:latin typeface="+mn-lt"/>
                <a:cs typeface="Arial"/>
              </a:rPr>
              <a:t>To convert the PowerPoint to Google Slides:</a:t>
            </a:r>
          </a:p>
          <a:p>
            <a:pPr marL="913765" lvl="1" indent="-457200">
              <a:lnSpc>
                <a:spcPct val="150000"/>
              </a:lnSpc>
              <a:buFont typeface="+mj-lt"/>
              <a:buAutoNum type="arabicPeriod"/>
            </a:pPr>
            <a:r>
              <a:rPr lang="en-AU">
                <a:solidFill>
                  <a:srgbClr val="22272B"/>
                </a:solidFill>
                <a:latin typeface="+mn-lt"/>
                <a:cs typeface="Arial"/>
              </a:rPr>
              <a:t>Upload the file into Google Drive and open it.</a:t>
            </a:r>
          </a:p>
          <a:p>
            <a:pPr marL="913765" lvl="1" indent="-457200">
              <a:lnSpc>
                <a:spcPct val="150000"/>
              </a:lnSpc>
              <a:buFont typeface="+mj-lt"/>
              <a:buAutoNum type="arabicPeriod"/>
            </a:pPr>
            <a:r>
              <a:rPr lang="en-AU">
                <a:solidFill>
                  <a:srgbClr val="22272B"/>
                </a:solidFill>
                <a:latin typeface="+mn-lt"/>
                <a:cs typeface="Arial"/>
              </a:rPr>
              <a:t>Go to File &gt; Save as Google Slides.</a:t>
            </a:r>
          </a:p>
          <a:p>
            <a:pPr marL="456565" lvl="1">
              <a:lnSpc>
                <a:spcPct val="150000"/>
              </a:lnSpc>
            </a:pPr>
            <a:r>
              <a:rPr lang="en-AU">
                <a:solidFill>
                  <a:srgbClr val="22272B"/>
                </a:solidFill>
                <a:latin typeface="+mn-lt"/>
                <a:cs typeface="Arial"/>
              </a:rPr>
              <a:t>(Note – conversion may cause formatting changes in the slides.)</a:t>
            </a:r>
          </a:p>
        </p:txBody>
      </p:sp>
      <p:sp>
        <p:nvSpPr>
          <p:cNvPr id="2" name="Slide Number Placeholder 1">
            <a:extLst>
              <a:ext uri="{FF2B5EF4-FFF2-40B4-BE49-F238E27FC236}">
                <a16:creationId xmlns:a16="http://schemas.microsoft.com/office/drawing/2014/main" id="{5054FBAE-1B2A-91CD-091C-35061078D29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3330546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F38185-B00A-9878-8E80-7D55E5647711}"/>
              </a:ext>
            </a:extLst>
          </p:cNvPr>
          <p:cNvSpPr>
            <a:spLocks noGrp="1"/>
          </p:cNvSpPr>
          <p:nvPr>
            <p:ph type="ctrTitle"/>
          </p:nvPr>
        </p:nvSpPr>
        <p:spPr/>
        <p:txBody>
          <a:bodyPr/>
          <a:lstStyle/>
          <a:p>
            <a:r>
              <a:rPr lang="en-AU">
                <a:latin typeface="+mj-lt"/>
                <a:cs typeface="Arial"/>
              </a:rPr>
              <a:t>Review of Learning </a:t>
            </a:r>
            <a:endParaRPr lang="en-AU">
              <a:latin typeface="+mj-lt"/>
            </a:endParaRPr>
          </a:p>
        </p:txBody>
      </p:sp>
      <p:sp>
        <p:nvSpPr>
          <p:cNvPr id="11" name="Text Placeholder 10">
            <a:extLst>
              <a:ext uri="{FF2B5EF4-FFF2-40B4-BE49-F238E27FC236}">
                <a16:creationId xmlns:a16="http://schemas.microsoft.com/office/drawing/2014/main" id="{3D12AD43-6748-1D46-1B69-DCBF45A45856}"/>
              </a:ext>
            </a:extLst>
          </p:cNvPr>
          <p:cNvSpPr>
            <a:spLocks noGrp="1"/>
          </p:cNvSpPr>
          <p:nvPr>
            <p:ph type="body" sz="quarter" idx="10"/>
          </p:nvPr>
        </p:nvSpPr>
        <p:spPr/>
        <p:txBody>
          <a:bodyPr/>
          <a:lstStyle/>
          <a:p>
            <a:r>
              <a:rPr lang="en-AU" sz="2400">
                <a:latin typeface="+mj-lt"/>
                <a:cs typeface="Arial"/>
              </a:rPr>
              <a:t>Mathematics Stage 3 </a:t>
            </a:r>
            <a:r>
              <a:rPr lang="en-AU" sz="2400">
                <a:solidFill>
                  <a:srgbClr val="FFFFFF"/>
                </a:solidFill>
                <a:latin typeface="+mj-lt"/>
                <a:cs typeface="Arial"/>
              </a:rPr>
              <a:t>–</a:t>
            </a:r>
            <a:r>
              <a:rPr lang="en-AU" sz="2400">
                <a:latin typeface="+mj-lt"/>
                <a:cs typeface="Arial"/>
              </a:rPr>
              <a:t> Unit 1</a:t>
            </a:r>
          </a:p>
        </p:txBody>
      </p:sp>
      <p:pic>
        <p:nvPicPr>
          <p:cNvPr id="4" name="Picture Placeholder 3" descr="A row of dice on a blue background">
            <a:extLst>
              <a:ext uri="{FF2B5EF4-FFF2-40B4-BE49-F238E27FC236}">
                <a16:creationId xmlns:a16="http://schemas.microsoft.com/office/drawing/2014/main" id="{27D6D49C-580D-CED2-3F28-318B6A237077}"/>
              </a:ext>
            </a:extLst>
          </p:cNvPr>
          <p:cNvPicPr>
            <a:picLocks noGrp="1" noChangeAspect="1"/>
          </p:cNvPicPr>
          <p:nvPr>
            <p:ph type="pic" sz="quarter" idx="13"/>
          </p:nvPr>
        </p:nvPicPr>
        <p:blipFill>
          <a:blip r:embed="rId3"/>
          <a:srcRect l="435" r="435"/>
          <a:stretch/>
        </p:blipFill>
        <p:spPr>
          <a:xfrm>
            <a:off x="7128000" y="2233"/>
            <a:ext cx="5064000" cy="6853534"/>
          </a:xfrm>
          <a:prstGeom prst="rect">
            <a:avLst/>
          </a:prstGeom>
        </p:spPr>
      </p:pic>
    </p:spTree>
    <p:extLst>
      <p:ext uri="{BB962C8B-B14F-4D97-AF65-F5344CB8AC3E}">
        <p14:creationId xmlns:p14="http://schemas.microsoft.com/office/powerpoint/2010/main" val="1661965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Group 5">
            <a:extLst>
              <a:ext uri="{FF2B5EF4-FFF2-40B4-BE49-F238E27FC236}">
                <a16:creationId xmlns:a16="http://schemas.microsoft.com/office/drawing/2014/main" id="{1B4FCA10-C38C-7EB1-6B3D-6210A414C65B}"/>
              </a:ext>
              <a:ext uri="{C183D7F6-B498-43B3-948B-1728B52AA6E4}">
                <adec:decorative xmlns:adec="http://schemas.microsoft.com/office/drawing/2017/decorative" val="1"/>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1</a:t>
              </a: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Group 6">
            <a:extLst>
              <a:ext uri="{FF2B5EF4-FFF2-40B4-BE49-F238E27FC236}">
                <a16:creationId xmlns:a16="http://schemas.microsoft.com/office/drawing/2014/main" id="{AF7A23A4-F1DB-31F7-E62C-F1BFA9349F64}"/>
              </a:ext>
              <a:ext uri="{C183D7F6-B498-43B3-948B-1728B52AA6E4}">
                <adec:decorative xmlns:adec="http://schemas.microsoft.com/office/drawing/2017/decorative" val="1"/>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rPr>
                <a:t>Review of learning 2</a:t>
              </a:r>
              <a:endParaRPr lang="en-US">
                <a:solidFill>
                  <a:schemeClr val="accent1"/>
                </a:solidFill>
                <a:latin typeface="+mj-lt"/>
                <a:cs typeface="Arial"/>
              </a:endParaRPr>
            </a:p>
          </p:txBody>
        </p:sp>
        <p:sp>
          <p:nvSpPr>
            <p:cNvPr id="21" name="Oval 20">
              <a:hlinkClick r:id="rId3"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Group 7">
            <a:extLst>
              <a:ext uri="{FF2B5EF4-FFF2-40B4-BE49-F238E27FC236}">
                <a16:creationId xmlns:a16="http://schemas.microsoft.com/office/drawing/2014/main" id="{DF37B4A1-413C-FC0F-E0B4-307A5BFA5855}"/>
              </a:ext>
              <a:ext uri="{C183D7F6-B498-43B3-948B-1728B52AA6E4}">
                <adec:decorative xmlns:adec="http://schemas.microsoft.com/office/drawing/2017/decorative" val="1"/>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3 </a:t>
              </a:r>
            </a:p>
          </p:txBody>
        </p:sp>
        <p:sp>
          <p:nvSpPr>
            <p:cNvPr id="24" name="Oval 23">
              <a:hlinkClick r:id="rId3"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Group 8">
            <a:extLst>
              <a:ext uri="{FF2B5EF4-FFF2-40B4-BE49-F238E27FC236}">
                <a16:creationId xmlns:a16="http://schemas.microsoft.com/office/drawing/2014/main" id="{C989DA6E-4839-1BBD-77AB-6F9CC520B670}"/>
              </a:ext>
              <a:ext uri="{C183D7F6-B498-43B3-948B-1728B52AA6E4}">
                <adec:decorative xmlns:adec="http://schemas.microsoft.com/office/drawing/2017/decorative" val="1"/>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rPr>
                <a:t>Review of learning 4</a:t>
              </a:r>
              <a:endParaRPr lang="en-US">
                <a:solidFill>
                  <a:schemeClr val="accent1"/>
                </a:solidFill>
                <a:latin typeface="+mj-lt"/>
                <a:cs typeface="Arial" panose="020B0604020202020204"/>
              </a:endParaRPr>
            </a:p>
          </p:txBody>
        </p:sp>
        <p:sp>
          <p:nvSpPr>
            <p:cNvPr id="27" name="Oval 26">
              <a:hlinkClick r:id="rId3"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1" name="Group 10">
            <a:extLst>
              <a:ext uri="{FF2B5EF4-FFF2-40B4-BE49-F238E27FC236}">
                <a16:creationId xmlns:a16="http://schemas.microsoft.com/office/drawing/2014/main" id="{98348D52-CA50-F15C-B472-B152337D805F}"/>
              </a:ext>
              <a:ext uri="{C183D7F6-B498-43B3-948B-1728B52AA6E4}">
                <adec:decorative xmlns:adec="http://schemas.microsoft.com/office/drawing/2017/decorative" val="1"/>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6</a:t>
              </a:r>
              <a:endParaRPr lang="en-US">
                <a:solidFill>
                  <a:schemeClr val="accent1"/>
                </a:solidFill>
              </a:endParaRPr>
            </a:p>
          </p:txBody>
        </p:sp>
        <p:sp>
          <p:nvSpPr>
            <p:cNvPr id="45" name="Oval 44">
              <a:hlinkClick r:id="rId3"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Group 11">
            <a:extLst>
              <a:ext uri="{FF2B5EF4-FFF2-40B4-BE49-F238E27FC236}">
                <a16:creationId xmlns:a16="http://schemas.microsoft.com/office/drawing/2014/main" id="{E73741F1-615E-A4A4-088D-E0A9187F983E}"/>
              </a:ext>
              <a:ext uri="{C183D7F6-B498-43B3-948B-1728B52AA6E4}">
                <adec:decorative xmlns:adec="http://schemas.microsoft.com/office/drawing/2017/decorative" val="1"/>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panose="020B0604020202020204"/>
                </a:rPr>
                <a:t>Review of learning 7</a:t>
              </a:r>
              <a:endParaRPr lang="en-US">
                <a:solidFill>
                  <a:schemeClr val="accent1"/>
                </a:solidFill>
              </a:endParaRPr>
            </a:p>
          </p:txBody>
        </p:sp>
        <p:sp>
          <p:nvSpPr>
            <p:cNvPr id="42" name="Oval 41">
              <a:hlinkClick r:id="rId3"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Group 12">
            <a:extLst>
              <a:ext uri="{FF2B5EF4-FFF2-40B4-BE49-F238E27FC236}">
                <a16:creationId xmlns:a16="http://schemas.microsoft.com/office/drawing/2014/main" id="{8E45D1B3-369A-D013-FFE7-B91D37B811F7}"/>
              </a:ext>
              <a:ext uri="{C183D7F6-B498-43B3-948B-1728B52AA6E4}">
                <adec:decorative xmlns:adec="http://schemas.microsoft.com/office/drawing/2017/decorative" val="1"/>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8</a:t>
              </a:r>
              <a:endParaRPr lang="en-US">
                <a:solidFill>
                  <a:schemeClr val="accent1"/>
                </a:solidFill>
              </a:endParaRPr>
            </a:p>
          </p:txBody>
        </p:sp>
        <p:sp>
          <p:nvSpPr>
            <p:cNvPr id="39" name="Oval 38">
              <a:hlinkClick r:id="rId3"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grpSp>
        <p:nvGrpSpPr>
          <p:cNvPr id="17" name="Group 16">
            <a:extLst>
              <a:ext uri="{FF2B5EF4-FFF2-40B4-BE49-F238E27FC236}">
                <a16:creationId xmlns:a16="http://schemas.microsoft.com/office/drawing/2014/main" id="{5CA7685F-33D7-262A-AE71-7F572C4FD60A}"/>
              </a:ext>
              <a:ext uri="{C183D7F6-B498-43B3-948B-1728B52AA6E4}">
                <adec:decorative xmlns:adec="http://schemas.microsoft.com/office/drawing/2017/decorative" val="1"/>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rPr>
                <a:t>Review of learning 5</a:t>
              </a:r>
              <a:endParaRPr lang="en-US">
                <a:solidFill>
                  <a:schemeClr val="accent1"/>
                </a:solidFill>
              </a:endParaRPr>
            </a:p>
          </p:txBody>
        </p:sp>
        <p:sp>
          <p:nvSpPr>
            <p:cNvPr id="19" name="Oval 18">
              <a:hlinkClick r:id="rId3"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cs typeface="Arial"/>
              </a:rPr>
              <a:t>Review of learning 1</a:t>
            </a:r>
            <a:endParaRPr lang="en-AU">
              <a:latin typeface="+mj-lt"/>
            </a:endParaRP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FE470CA-37B9-5866-8D09-298FF55EE989}"/>
              </a:ext>
            </a:extLst>
          </p:cNvPr>
          <p:cNvSpPr>
            <a:spLocks noGrp="1"/>
          </p:cNvSpPr>
          <p:nvPr>
            <p:ph type="sldNum" sz="quarter" idx="12"/>
          </p:nvPr>
        </p:nvSpPr>
        <p:spPr/>
        <p:txBody>
          <a:bodyPr/>
          <a:lstStyle/>
          <a:p>
            <a:fld id="{10A01DC5-1685-4615-8240-15192985C6A2}" type="slidenum">
              <a:rPr lang="en-AU" smtClean="0"/>
              <a:t>5</a:t>
            </a:fld>
            <a:endParaRPr lang="en-AU"/>
          </a:p>
        </p:txBody>
      </p:sp>
      <p:sp>
        <p:nvSpPr>
          <p:cNvPr id="3" name="Title 2">
            <a:extLst>
              <a:ext uri="{FF2B5EF4-FFF2-40B4-BE49-F238E27FC236}">
                <a16:creationId xmlns:a16="http://schemas.microsoft.com/office/drawing/2014/main" id="{293E9645-0D96-A57E-C0D8-3B2B5635236C}"/>
              </a:ext>
            </a:extLst>
          </p:cNvPr>
          <p:cNvSpPr>
            <a:spLocks noGrp="1"/>
          </p:cNvSpPr>
          <p:nvPr>
            <p:ph type="title"/>
          </p:nvPr>
        </p:nvSpPr>
        <p:spPr/>
        <p:txBody>
          <a:bodyPr/>
          <a:lstStyle/>
          <a:p>
            <a:r>
              <a:rPr lang="en-US"/>
              <a:t>Multiple choice </a:t>
            </a:r>
            <a:r>
              <a:rPr lang="en-US">
                <a:solidFill>
                  <a:schemeClr val="bg1"/>
                </a:solidFill>
              </a:rPr>
              <a:t>(1) (1)</a:t>
            </a:r>
          </a:p>
        </p:txBody>
      </p:sp>
      <p:sp>
        <p:nvSpPr>
          <p:cNvPr id="14" name="Text Placeholder 13">
            <a:extLst>
              <a:ext uri="{FF2B5EF4-FFF2-40B4-BE49-F238E27FC236}">
                <a16:creationId xmlns:a16="http://schemas.microsoft.com/office/drawing/2014/main" id="{AB4F46E8-39CC-516C-AA47-44AFBB8D4DF4}"/>
              </a:ext>
            </a:extLst>
          </p:cNvPr>
          <p:cNvSpPr>
            <a:spLocks noGrp="1"/>
          </p:cNvSpPr>
          <p:nvPr>
            <p:ph type="body" sz="quarter" idx="27"/>
          </p:nvPr>
        </p:nvSpPr>
        <p:spPr>
          <a:xfrm>
            <a:off x="1673939" y="5249027"/>
            <a:ext cx="10175920" cy="641396"/>
          </a:xfrm>
        </p:spPr>
        <p:txBody>
          <a:bodyPr vert="horz" lIns="0" tIns="0" rIns="0" bIns="0" rtlCol="0" anchor="t">
            <a:noAutofit/>
          </a:bodyPr>
          <a:lstStyle/>
          <a:p>
            <a:r>
              <a:rPr lang="en-US" sz="4000">
                <a:ea typeface="+mn-lt"/>
                <a:cs typeface="+mn-lt"/>
              </a:rPr>
              <a:t>1056, 1046, 1036, 1026…</a:t>
            </a:r>
            <a:endParaRPr lang="en-US" sz="4000"/>
          </a:p>
        </p:txBody>
      </p:sp>
      <p:sp>
        <p:nvSpPr>
          <p:cNvPr id="15" name="Text Placeholder 14">
            <a:extLst>
              <a:ext uri="{FF2B5EF4-FFF2-40B4-BE49-F238E27FC236}">
                <a16:creationId xmlns:a16="http://schemas.microsoft.com/office/drawing/2014/main" id="{6B9A183C-33B3-4568-C43F-096BAC3A3E3A}"/>
              </a:ext>
            </a:extLst>
          </p:cNvPr>
          <p:cNvSpPr>
            <a:spLocks noGrp="1"/>
          </p:cNvSpPr>
          <p:nvPr>
            <p:ph type="body" sz="quarter" idx="28"/>
          </p:nvPr>
        </p:nvSpPr>
        <p:spPr>
          <a:xfrm>
            <a:off x="360000" y="967577"/>
            <a:ext cx="11358861" cy="754243"/>
          </a:xfrm>
        </p:spPr>
        <p:txBody>
          <a:bodyPr vert="horz" lIns="0" tIns="0" rIns="0" bIns="0" rtlCol="0" anchor="t">
            <a:noAutofit/>
          </a:bodyPr>
          <a:lstStyle/>
          <a:p>
            <a:r>
              <a:rPr lang="en-US" sz="3600">
                <a:latin typeface="Arial"/>
                <a:cs typeface="Arial"/>
              </a:rPr>
              <a:t>Which </a:t>
            </a:r>
            <a:r>
              <a:rPr lang="en-US" sz="3600" b="1">
                <a:latin typeface="Arial"/>
                <a:cs typeface="Arial"/>
              </a:rPr>
              <a:t>number pattern </a:t>
            </a:r>
            <a:r>
              <a:rPr lang="en-US" sz="3600">
                <a:latin typeface="Arial"/>
                <a:cs typeface="Arial"/>
              </a:rPr>
              <a:t>is </a:t>
            </a:r>
            <a:r>
              <a:rPr lang="en-US" sz="3600" b="1">
                <a:latin typeface="Arial"/>
                <a:cs typeface="Arial"/>
              </a:rPr>
              <a:t>descending</a:t>
            </a:r>
            <a:r>
              <a:rPr lang="en-US" sz="3600">
                <a:latin typeface="Arial"/>
                <a:cs typeface="Arial"/>
              </a:rPr>
              <a:t> by 10’s</a:t>
            </a:r>
          </a:p>
        </p:txBody>
      </p:sp>
      <p:sp>
        <p:nvSpPr>
          <p:cNvPr id="16" name="Text Placeholder 15">
            <a:extLst>
              <a:ext uri="{FF2B5EF4-FFF2-40B4-BE49-F238E27FC236}">
                <a16:creationId xmlns:a16="http://schemas.microsoft.com/office/drawing/2014/main" id="{E2AEB52E-AFAA-8A1C-4AC0-681B940D0160}"/>
              </a:ext>
            </a:extLst>
          </p:cNvPr>
          <p:cNvSpPr>
            <a:spLocks noGrp="1"/>
          </p:cNvSpPr>
          <p:nvPr>
            <p:ph type="body" sz="quarter" idx="29"/>
          </p:nvPr>
        </p:nvSpPr>
        <p:spPr>
          <a:xfrm>
            <a:off x="1668080" y="4228630"/>
            <a:ext cx="10175920" cy="641396"/>
          </a:xfrm>
        </p:spPr>
        <p:txBody>
          <a:bodyPr vert="horz" lIns="0" tIns="0" rIns="0" bIns="0" rtlCol="0" anchor="t">
            <a:noAutofit/>
          </a:bodyPr>
          <a:lstStyle/>
          <a:p>
            <a:r>
              <a:rPr lang="en-US" sz="4000">
                <a:ea typeface="+mn-lt"/>
                <a:cs typeface="+mn-lt"/>
              </a:rPr>
              <a:t>548, 448, 348, 248…</a:t>
            </a:r>
            <a:endParaRPr lang="en-US" sz="4000"/>
          </a:p>
        </p:txBody>
      </p:sp>
      <p:sp>
        <p:nvSpPr>
          <p:cNvPr id="17" name="Text Placeholder 16">
            <a:extLst>
              <a:ext uri="{FF2B5EF4-FFF2-40B4-BE49-F238E27FC236}">
                <a16:creationId xmlns:a16="http://schemas.microsoft.com/office/drawing/2014/main" id="{5E4A5EB3-F414-A07E-B091-A6903C289403}"/>
              </a:ext>
            </a:extLst>
          </p:cNvPr>
          <p:cNvSpPr>
            <a:spLocks noGrp="1"/>
          </p:cNvSpPr>
          <p:nvPr>
            <p:ph type="body" sz="quarter" idx="30"/>
          </p:nvPr>
        </p:nvSpPr>
        <p:spPr>
          <a:xfrm>
            <a:off x="1668080" y="3224053"/>
            <a:ext cx="10175920" cy="641396"/>
          </a:xfrm>
        </p:spPr>
        <p:txBody>
          <a:bodyPr vert="horz" lIns="0" tIns="0" rIns="0" bIns="0" rtlCol="0" anchor="t">
            <a:noAutofit/>
          </a:bodyPr>
          <a:lstStyle/>
          <a:p>
            <a:r>
              <a:rPr lang="en-US" sz="4000">
                <a:cs typeface="Arial"/>
              </a:rPr>
              <a:t>6, 16, 26, 36, 46, 56…</a:t>
            </a:r>
          </a:p>
        </p:txBody>
      </p:sp>
      <p:sp>
        <p:nvSpPr>
          <p:cNvPr id="18" name="Text Placeholder 17">
            <a:extLst>
              <a:ext uri="{FF2B5EF4-FFF2-40B4-BE49-F238E27FC236}">
                <a16:creationId xmlns:a16="http://schemas.microsoft.com/office/drawing/2014/main" id="{DD9E4C8E-C942-2FA4-6AAC-B2B3D321FC2F}"/>
              </a:ext>
            </a:extLst>
          </p:cNvPr>
          <p:cNvSpPr>
            <a:spLocks noGrp="1"/>
          </p:cNvSpPr>
          <p:nvPr>
            <p:ph type="body" sz="quarter" idx="31"/>
          </p:nvPr>
        </p:nvSpPr>
        <p:spPr>
          <a:xfrm>
            <a:off x="1668080" y="2228741"/>
            <a:ext cx="10175920" cy="641396"/>
          </a:xfrm>
        </p:spPr>
        <p:txBody>
          <a:bodyPr vert="horz" lIns="0" tIns="0" rIns="0" bIns="0" rtlCol="0" anchor="t">
            <a:noAutofit/>
          </a:bodyPr>
          <a:lstStyle/>
          <a:p>
            <a:r>
              <a:rPr lang="en-US" sz="4000">
                <a:cs typeface="Arial"/>
              </a:rPr>
              <a:t>1078, 1088, 1098, 2008…</a:t>
            </a:r>
          </a:p>
        </p:txBody>
      </p:sp>
      <p:sp>
        <p:nvSpPr>
          <p:cNvPr id="9" name="TextBox 8">
            <a:extLst>
              <a:ext uri="{FF2B5EF4-FFF2-40B4-BE49-F238E27FC236}">
                <a16:creationId xmlns:a16="http://schemas.microsoft.com/office/drawing/2014/main" id="{17539DAC-4E92-AFE5-86E8-50C88518EFAD}"/>
              </a:ext>
            </a:extLst>
          </p:cNvPr>
          <p:cNvSpPr txBox="1"/>
          <p:nvPr/>
        </p:nvSpPr>
        <p:spPr>
          <a:xfrm>
            <a:off x="679889" y="228416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0E33B1A6-4106-9E75-7645-88335BABE19D}"/>
              </a:ext>
            </a:extLst>
          </p:cNvPr>
          <p:cNvSpPr txBox="1"/>
          <p:nvPr/>
        </p:nvSpPr>
        <p:spPr>
          <a:xfrm>
            <a:off x="689607" y="336334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28ADB1A3-D5FD-9EC3-BED8-5982F1544E0E}"/>
              </a:ext>
            </a:extLst>
          </p:cNvPr>
          <p:cNvSpPr txBox="1"/>
          <p:nvPr/>
        </p:nvSpPr>
        <p:spPr>
          <a:xfrm>
            <a:off x="699132"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7E4BDDCB-88AF-EC45-6F07-05B50A0060D2}"/>
              </a:ext>
            </a:extLst>
          </p:cNvPr>
          <p:cNvSpPr txBox="1"/>
          <p:nvPr/>
        </p:nvSpPr>
        <p:spPr>
          <a:xfrm>
            <a:off x="689609" y="4297903"/>
            <a:ext cx="529428"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pic>
        <p:nvPicPr>
          <p:cNvPr id="6" name="Picture 5" descr="image of a finger selecting an option for a multiple choice or true and false">
            <a:extLst>
              <a:ext uri="{FF2B5EF4-FFF2-40B4-BE49-F238E27FC236}">
                <a16:creationId xmlns:a16="http://schemas.microsoft.com/office/drawing/2014/main" id="{D3D1DC3B-1B1B-6515-571E-5C8995A16EF6}"/>
              </a:ext>
            </a:extLst>
          </p:cNvPr>
          <p:cNvPicPr>
            <a:picLocks noChangeAspect="1"/>
          </p:cNvPicPr>
          <p:nvPr/>
        </p:nvPicPr>
        <p:blipFill>
          <a:blip r:embed="rId3"/>
          <a:stretch>
            <a:fillRect/>
          </a:stretch>
        </p:blipFill>
        <p:spPr>
          <a:xfrm>
            <a:off x="10807908" y="43303"/>
            <a:ext cx="1165786" cy="1140716"/>
          </a:xfrm>
          <a:prstGeom prst="rect">
            <a:avLst/>
          </a:prstGeom>
          <a:ln>
            <a:noFill/>
          </a:ln>
        </p:spPr>
      </p:pic>
    </p:spTree>
    <p:extLst>
      <p:ext uri="{BB962C8B-B14F-4D97-AF65-F5344CB8AC3E}">
        <p14:creationId xmlns:p14="http://schemas.microsoft.com/office/powerpoint/2010/main" val="1019636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A9D6B60-D9E0-EC2E-C5BB-DF4DD3655BFD}"/>
              </a:ext>
            </a:extLst>
          </p:cNvPr>
          <p:cNvSpPr>
            <a:spLocks noGrp="1"/>
          </p:cNvSpPr>
          <p:nvPr>
            <p:ph type="sldNum" sz="quarter" idx="12"/>
          </p:nvPr>
        </p:nvSpPr>
        <p:spPr/>
        <p:txBody>
          <a:bodyPr/>
          <a:lstStyle/>
          <a:p>
            <a:fld id="{10A01DC5-1685-4615-8240-15192985C6A2}" type="slidenum">
              <a:rPr lang="en-AU" smtClean="0"/>
              <a:t>6</a:t>
            </a:fld>
            <a:endParaRPr lang="en-AU"/>
          </a:p>
        </p:txBody>
      </p:sp>
      <p:sp>
        <p:nvSpPr>
          <p:cNvPr id="3" name="Title 2">
            <a:extLst>
              <a:ext uri="{FF2B5EF4-FFF2-40B4-BE49-F238E27FC236}">
                <a16:creationId xmlns:a16="http://schemas.microsoft.com/office/drawing/2014/main" id="{A7292A2D-79DC-853F-A2F3-AFB9D75909BD}"/>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 (1)</a:t>
            </a:r>
          </a:p>
        </p:txBody>
      </p:sp>
      <p:sp>
        <p:nvSpPr>
          <p:cNvPr id="11" name="Picture Placeholder 10">
            <a:extLst>
              <a:ext uri="{FF2B5EF4-FFF2-40B4-BE49-F238E27FC236}">
                <a16:creationId xmlns:a16="http://schemas.microsoft.com/office/drawing/2014/main" id="{4F3FEFD7-8600-F68D-84BD-680FA1695628}"/>
              </a:ext>
            </a:extLst>
          </p:cNvPr>
          <p:cNvSpPr>
            <a:spLocks noGrp="1"/>
          </p:cNvSpPr>
          <p:nvPr>
            <p:ph type="pic" sz="quarter" idx="21"/>
          </p:nvPr>
        </p:nvSpPr>
        <p:spPr>
          <a:xfrm>
            <a:off x="359999" y="1689473"/>
            <a:ext cx="11200365" cy="4092718"/>
          </a:xfrm>
        </p:spPr>
        <p:txBody>
          <a:bodyPr/>
          <a:lstStyle/>
          <a:p>
            <a:pPr algn="ctr"/>
            <a:r>
              <a:rPr lang="en-US" sz="4400" b="1">
                <a:latin typeface="Arial"/>
                <a:cs typeface="Arial"/>
              </a:rPr>
              <a:t>Record</a:t>
            </a:r>
            <a:r>
              <a:rPr lang="en-US" sz="4400">
                <a:latin typeface="Arial"/>
                <a:cs typeface="Arial"/>
              </a:rPr>
              <a:t> numbers in </a:t>
            </a:r>
            <a:r>
              <a:rPr lang="en-US" sz="4400" b="1">
                <a:latin typeface="Arial"/>
                <a:cs typeface="Arial"/>
              </a:rPr>
              <a:t>ascending</a:t>
            </a:r>
            <a:r>
              <a:rPr lang="en-US" sz="4400">
                <a:latin typeface="Arial"/>
                <a:cs typeface="Arial"/>
              </a:rPr>
              <a:t> order:</a:t>
            </a:r>
          </a:p>
          <a:p>
            <a:pPr algn="ctr"/>
            <a:r>
              <a:rPr lang="en-US" sz="4400">
                <a:latin typeface="Arial"/>
                <a:cs typeface="Arial"/>
              </a:rPr>
              <a:t>100 009</a:t>
            </a:r>
          </a:p>
          <a:p>
            <a:pPr algn="ctr"/>
            <a:r>
              <a:rPr lang="en-US" sz="4400">
                <a:latin typeface="Arial"/>
                <a:cs typeface="Arial"/>
              </a:rPr>
              <a:t>121 001</a:t>
            </a:r>
          </a:p>
          <a:p>
            <a:pPr algn="ctr"/>
            <a:r>
              <a:rPr lang="en-US" sz="4400">
                <a:latin typeface="Arial"/>
                <a:cs typeface="Arial"/>
              </a:rPr>
              <a:t>101 987</a:t>
            </a:r>
          </a:p>
        </p:txBody>
      </p:sp>
      <p:pic>
        <p:nvPicPr>
          <p:cNvPr id="5" name="Picture 4" descr="image of a clipboard with a pencil recording short answer responses">
            <a:extLst>
              <a:ext uri="{FF2B5EF4-FFF2-40B4-BE49-F238E27FC236}">
                <a16:creationId xmlns:a16="http://schemas.microsoft.com/office/drawing/2014/main" id="{60B5CDFF-4A15-89C2-D24B-9A50E271EEC2}"/>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868920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04D29-3F5A-CA10-3A4C-1106A0EFFEF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694136-0ABE-6565-8E70-C408D71197A0}"/>
              </a:ext>
            </a:extLst>
          </p:cNvPr>
          <p:cNvSpPr>
            <a:spLocks noGrp="1"/>
          </p:cNvSpPr>
          <p:nvPr>
            <p:ph type="sldNum" sz="quarter" idx="12"/>
          </p:nvPr>
        </p:nvSpPr>
        <p:spPr/>
        <p:txBody>
          <a:bodyPr/>
          <a:lstStyle/>
          <a:p>
            <a:fld id="{10A01DC5-1685-4615-8240-15192985C6A2}" type="slidenum">
              <a:rPr lang="en-AU" smtClean="0"/>
              <a:t>7</a:t>
            </a:fld>
            <a:endParaRPr lang="en-AU"/>
          </a:p>
        </p:txBody>
      </p:sp>
      <p:sp>
        <p:nvSpPr>
          <p:cNvPr id="3" name="Title 2">
            <a:extLst>
              <a:ext uri="{FF2B5EF4-FFF2-40B4-BE49-F238E27FC236}">
                <a16:creationId xmlns:a16="http://schemas.microsoft.com/office/drawing/2014/main" id="{BB5BAC30-6BD8-C081-77BC-D2B9575F7138}"/>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a:t>
            </a:r>
          </a:p>
        </p:txBody>
      </p:sp>
      <p:sp>
        <p:nvSpPr>
          <p:cNvPr id="11" name="Picture Placeholder 10">
            <a:extLst>
              <a:ext uri="{FF2B5EF4-FFF2-40B4-BE49-F238E27FC236}">
                <a16:creationId xmlns:a16="http://schemas.microsoft.com/office/drawing/2014/main" id="{7157F9C0-C1ED-7744-16B0-EF203AF569DC}"/>
              </a:ext>
            </a:extLst>
          </p:cNvPr>
          <p:cNvSpPr>
            <a:spLocks noGrp="1"/>
          </p:cNvSpPr>
          <p:nvPr>
            <p:ph type="pic" sz="quarter" idx="21"/>
          </p:nvPr>
        </p:nvSpPr>
        <p:spPr>
          <a:xfrm>
            <a:off x="242495" y="1178404"/>
            <a:ext cx="11243037" cy="1959118"/>
          </a:xfrm>
        </p:spPr>
        <p:txBody>
          <a:bodyPr/>
          <a:lstStyle/>
          <a:p>
            <a:pPr algn="ctr"/>
            <a:r>
              <a:rPr lang="en-US" sz="4400" b="1">
                <a:latin typeface="Arial"/>
                <a:cs typeface="Arial"/>
              </a:rPr>
              <a:t>Partition </a:t>
            </a:r>
            <a:r>
              <a:rPr lang="en-US" sz="4400">
                <a:latin typeface="Arial"/>
                <a:cs typeface="Arial"/>
              </a:rPr>
              <a:t>the following numbers in </a:t>
            </a:r>
          </a:p>
          <a:p>
            <a:pPr algn="ctr"/>
            <a:r>
              <a:rPr lang="en-US" sz="4400" b="1">
                <a:latin typeface="Arial"/>
                <a:cs typeface="Arial"/>
              </a:rPr>
              <a:t>non-standard form.</a:t>
            </a:r>
          </a:p>
          <a:p>
            <a:pPr algn="ctr"/>
            <a:r>
              <a:rPr lang="en-US" sz="4400">
                <a:latin typeface="Arial"/>
                <a:cs typeface="Arial"/>
              </a:rPr>
              <a:t>25 698</a:t>
            </a:r>
          </a:p>
          <a:p>
            <a:pPr algn="ctr"/>
            <a:r>
              <a:rPr lang="en-US" sz="4400">
                <a:latin typeface="Arial"/>
                <a:cs typeface="Arial"/>
              </a:rPr>
              <a:t>104 789</a:t>
            </a:r>
          </a:p>
          <a:p>
            <a:pPr algn="ctr"/>
            <a:r>
              <a:rPr lang="en-US" sz="4400">
                <a:latin typeface="Arial"/>
                <a:cs typeface="Arial"/>
              </a:rPr>
              <a:t>604 601</a:t>
            </a:r>
          </a:p>
        </p:txBody>
      </p:sp>
      <p:pic>
        <p:nvPicPr>
          <p:cNvPr id="14" name="Picture 13" descr="image of a clipboard with a pencil recording short answer responses">
            <a:extLst>
              <a:ext uri="{FF2B5EF4-FFF2-40B4-BE49-F238E27FC236}">
                <a16:creationId xmlns:a16="http://schemas.microsoft.com/office/drawing/2014/main" id="{7BB2949F-67D4-548C-6CCB-387B9E3F7EA4}"/>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471408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73FA9-B3B4-3714-FC45-47F2D01CCFD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DBE3B1A-BD2A-49DE-A752-21D7297BB0E0}"/>
              </a:ext>
            </a:extLst>
          </p:cNvPr>
          <p:cNvSpPr>
            <a:spLocks noGrp="1"/>
          </p:cNvSpPr>
          <p:nvPr>
            <p:ph type="sldNum" sz="quarter" idx="12"/>
          </p:nvPr>
        </p:nvSpPr>
        <p:spPr/>
        <p:txBody>
          <a:bodyPr/>
          <a:lstStyle/>
          <a:p>
            <a:fld id="{10A01DC5-1685-4615-8240-15192985C6A2}" type="slidenum">
              <a:rPr lang="en-AU" smtClean="0"/>
              <a:t>8</a:t>
            </a:fld>
            <a:endParaRPr lang="en-AU"/>
          </a:p>
        </p:txBody>
      </p:sp>
      <p:sp>
        <p:nvSpPr>
          <p:cNvPr id="3" name="Title 2">
            <a:extLst>
              <a:ext uri="{FF2B5EF4-FFF2-40B4-BE49-F238E27FC236}">
                <a16:creationId xmlns:a16="http://schemas.microsoft.com/office/drawing/2014/main" id="{98F05DE5-C379-717B-6C87-B9DC7632F6AE}"/>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(4)</a:t>
            </a:r>
          </a:p>
        </p:txBody>
      </p:sp>
      <p:sp>
        <p:nvSpPr>
          <p:cNvPr id="11" name="Picture Placeholder 10">
            <a:extLst>
              <a:ext uri="{FF2B5EF4-FFF2-40B4-BE49-F238E27FC236}">
                <a16:creationId xmlns:a16="http://schemas.microsoft.com/office/drawing/2014/main" id="{8B598472-9720-A705-623A-487E3FF7A7C8}"/>
              </a:ext>
            </a:extLst>
          </p:cNvPr>
          <p:cNvSpPr>
            <a:spLocks noGrp="1"/>
          </p:cNvSpPr>
          <p:nvPr>
            <p:ph type="pic" sz="quarter" idx="21"/>
          </p:nvPr>
        </p:nvSpPr>
        <p:spPr>
          <a:xfrm>
            <a:off x="596063" y="1471012"/>
            <a:ext cx="11243037" cy="1959118"/>
          </a:xfrm>
        </p:spPr>
        <p:txBody>
          <a:bodyPr/>
          <a:lstStyle/>
          <a:p>
            <a:pPr algn="ctr"/>
            <a:r>
              <a:rPr lang="en-US" sz="4400">
                <a:latin typeface="Arial"/>
                <a:cs typeface="Arial"/>
              </a:rPr>
              <a:t>The </a:t>
            </a:r>
            <a:r>
              <a:rPr lang="en-US" sz="4400" b="1">
                <a:latin typeface="Arial"/>
                <a:cs typeface="Arial"/>
              </a:rPr>
              <a:t>time</a:t>
            </a:r>
            <a:r>
              <a:rPr lang="en-US" sz="4400">
                <a:latin typeface="Arial"/>
                <a:cs typeface="Arial"/>
              </a:rPr>
              <a:t> is</a:t>
            </a:r>
          </a:p>
          <a:p>
            <a:pPr algn="ctr"/>
            <a:r>
              <a:rPr lang="en-US" sz="4400">
                <a:latin typeface="Arial"/>
                <a:cs typeface="Arial"/>
              </a:rPr>
              <a:t>2:37</a:t>
            </a:r>
          </a:p>
          <a:p>
            <a:pPr algn="ctr"/>
            <a:r>
              <a:rPr lang="en-US" sz="4400" b="1">
                <a:latin typeface="Arial"/>
                <a:cs typeface="Arial"/>
              </a:rPr>
              <a:t>How many minutes</a:t>
            </a:r>
            <a:r>
              <a:rPr lang="en-US" sz="4400">
                <a:latin typeface="Arial"/>
                <a:cs typeface="Arial"/>
              </a:rPr>
              <a:t> until 3:00?</a:t>
            </a:r>
            <a:br>
              <a:rPr lang="en-US" sz="4400">
                <a:latin typeface="Arial"/>
                <a:cs typeface="Arial"/>
              </a:rPr>
            </a:br>
            <a:endParaRPr lang="en-US" sz="4400">
              <a:solidFill>
                <a:srgbClr val="22272B"/>
              </a:solidFill>
            </a:endParaRPr>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FF142F24-A346-63B3-9C1B-1E3C7790562A}"/>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1859326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86DCB-E9CB-B576-D914-C2FA7FAE931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C32FB6E-2A90-1CC2-721F-898CF92613A0}"/>
              </a:ext>
            </a:extLst>
          </p:cNvPr>
          <p:cNvSpPr>
            <a:spLocks noGrp="1"/>
          </p:cNvSpPr>
          <p:nvPr>
            <p:ph type="sldNum" sz="quarter" idx="12"/>
          </p:nvPr>
        </p:nvSpPr>
        <p:spPr/>
        <p:txBody>
          <a:bodyPr/>
          <a:lstStyle/>
          <a:p>
            <a:fld id="{10A01DC5-1685-4615-8240-15192985C6A2}" type="slidenum">
              <a:rPr lang="en-AU" smtClean="0"/>
              <a:t>9</a:t>
            </a:fld>
            <a:endParaRPr lang="en-AU"/>
          </a:p>
        </p:txBody>
      </p:sp>
      <p:sp>
        <p:nvSpPr>
          <p:cNvPr id="3" name="Title 2">
            <a:extLst>
              <a:ext uri="{FF2B5EF4-FFF2-40B4-BE49-F238E27FC236}">
                <a16:creationId xmlns:a16="http://schemas.microsoft.com/office/drawing/2014/main" id="{2A3EF466-F3BA-38A9-63CB-DD80F64CB1BC}"/>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(4)</a:t>
            </a:r>
          </a:p>
        </p:txBody>
      </p:sp>
      <p:sp>
        <p:nvSpPr>
          <p:cNvPr id="12" name="Text Placeholder 11">
            <a:extLst>
              <a:ext uri="{FF2B5EF4-FFF2-40B4-BE49-F238E27FC236}">
                <a16:creationId xmlns:a16="http://schemas.microsoft.com/office/drawing/2014/main" id="{65C867D5-8CB8-739D-AB4F-83858803E2F0}"/>
              </a:ext>
            </a:extLst>
          </p:cNvPr>
          <p:cNvSpPr>
            <a:spLocks noGrp="1"/>
          </p:cNvSpPr>
          <p:nvPr>
            <p:ph type="body" sz="quarter" idx="22"/>
          </p:nvPr>
        </p:nvSpPr>
        <p:spPr>
          <a:xfrm>
            <a:off x="955567" y="1421215"/>
            <a:ext cx="10280865" cy="1792082"/>
          </a:xfrm>
        </p:spPr>
        <p:txBody>
          <a:bodyPr vert="horz" lIns="0" tIns="0" rIns="0" bIns="0" rtlCol="0" anchor="t">
            <a:noAutofit/>
          </a:bodyPr>
          <a:lstStyle/>
          <a:p>
            <a:pPr algn="ctr"/>
            <a:r>
              <a:rPr lang="en-US" sz="4400"/>
              <a:t>What is the </a:t>
            </a:r>
            <a:r>
              <a:rPr lang="en-US" sz="4400" b="1"/>
              <a:t>perimeter</a:t>
            </a:r>
            <a:r>
              <a:rPr lang="en-US" sz="4400"/>
              <a:t> of the field?</a:t>
            </a:r>
          </a:p>
        </p:txBody>
      </p:sp>
      <p:pic>
        <p:nvPicPr>
          <p:cNvPr id="4" name="Picture 3" descr="image of a clipboard with a pencil recording short answer responses">
            <a:extLst>
              <a:ext uri="{FF2B5EF4-FFF2-40B4-BE49-F238E27FC236}">
                <a16:creationId xmlns:a16="http://schemas.microsoft.com/office/drawing/2014/main" id="{9AFF81D9-B035-9967-8700-C5F2EB26519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Rectangle 4">
            <a:extLst>
              <a:ext uri="{FF2B5EF4-FFF2-40B4-BE49-F238E27FC236}">
                <a16:creationId xmlns:a16="http://schemas.microsoft.com/office/drawing/2014/main" id="{BFD98603-5FB8-9FD0-9560-910E4F56E6F5}"/>
              </a:ext>
              <a:ext uri="{C183D7F6-B498-43B3-948B-1728B52AA6E4}">
                <adec:decorative xmlns:adec="http://schemas.microsoft.com/office/drawing/2017/decorative" val="1"/>
              </a:ext>
            </a:extLst>
          </p:cNvPr>
          <p:cNvSpPr/>
          <p:nvPr/>
        </p:nvSpPr>
        <p:spPr>
          <a:xfrm>
            <a:off x="2152469" y="2733320"/>
            <a:ext cx="7658100" cy="2873828"/>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TextBox 5">
            <a:extLst>
              <a:ext uri="{FF2B5EF4-FFF2-40B4-BE49-F238E27FC236}">
                <a16:creationId xmlns:a16="http://schemas.microsoft.com/office/drawing/2014/main" id="{D6A92B68-6555-A684-41E4-78EE0182017C}"/>
              </a:ext>
            </a:extLst>
          </p:cNvPr>
          <p:cNvSpPr txBox="1"/>
          <p:nvPr/>
        </p:nvSpPr>
        <p:spPr>
          <a:xfrm>
            <a:off x="5307964" y="5886257"/>
            <a:ext cx="1347109" cy="719743"/>
          </a:xfrm>
          <a:prstGeom prst="rect">
            <a:avLst/>
          </a:prstGeom>
          <a:noFill/>
        </p:spPr>
        <p:txBody>
          <a:bodyPr wrap="square" lIns="0" tIns="0" rIns="0" bIns="0" rtlCol="0">
            <a:noAutofit/>
          </a:bodyPr>
          <a:lstStyle/>
          <a:p>
            <a:pPr algn="l"/>
            <a:r>
              <a:rPr lang="en-AU" sz="4400"/>
              <a:t>50 m</a:t>
            </a:r>
          </a:p>
        </p:txBody>
      </p:sp>
      <p:sp>
        <p:nvSpPr>
          <p:cNvPr id="8" name="TextBox 7">
            <a:extLst>
              <a:ext uri="{FF2B5EF4-FFF2-40B4-BE49-F238E27FC236}">
                <a16:creationId xmlns:a16="http://schemas.microsoft.com/office/drawing/2014/main" id="{ECF2CD7B-F645-3F5D-2EDF-6132A23209B6}"/>
              </a:ext>
            </a:extLst>
          </p:cNvPr>
          <p:cNvSpPr txBox="1"/>
          <p:nvPr/>
        </p:nvSpPr>
        <p:spPr>
          <a:xfrm>
            <a:off x="9889323" y="3690479"/>
            <a:ext cx="1557006" cy="719743"/>
          </a:xfrm>
          <a:prstGeom prst="rect">
            <a:avLst/>
          </a:prstGeom>
          <a:noFill/>
        </p:spPr>
        <p:txBody>
          <a:bodyPr wrap="square" lIns="0" tIns="0" rIns="0" bIns="0" rtlCol="0">
            <a:noAutofit/>
          </a:bodyPr>
          <a:lstStyle/>
          <a:p>
            <a:pPr algn="l"/>
            <a:r>
              <a:rPr lang="en-AU" sz="4400"/>
              <a:t> 20 m</a:t>
            </a:r>
          </a:p>
        </p:txBody>
      </p:sp>
    </p:spTree>
    <p:extLst>
      <p:ext uri="{BB962C8B-B14F-4D97-AF65-F5344CB8AC3E}">
        <p14:creationId xmlns:p14="http://schemas.microsoft.com/office/powerpoint/2010/main" val="272658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4408270-1764-398D-CC6C-3C7FD9C117DB}"/>
              </a:ext>
            </a:extLst>
          </p:cNvPr>
          <p:cNvSpPr>
            <a:spLocks noGrp="1"/>
          </p:cNvSpPr>
          <p:nvPr>
            <p:ph type="sldNum" sz="quarter" idx="12"/>
          </p:nvPr>
        </p:nvSpPr>
        <p:spPr/>
        <p:txBody>
          <a:bodyPr/>
          <a:lstStyle/>
          <a:p>
            <a:fld id="{10A01DC5-1685-4615-8240-15192985C6A2}" type="slidenum">
              <a:rPr lang="en-AU" smtClean="0"/>
              <a:t>10</a:t>
            </a:fld>
            <a:endParaRPr lang="en-AU"/>
          </a:p>
        </p:txBody>
      </p:sp>
      <p:sp>
        <p:nvSpPr>
          <p:cNvPr id="4" name="TextBox 3">
            <a:extLst>
              <a:ext uri="{FF2B5EF4-FFF2-40B4-BE49-F238E27FC236}">
                <a16:creationId xmlns:a16="http://schemas.microsoft.com/office/drawing/2014/main" id="{9DBB53EA-72F5-6E61-B961-303AF8560CEC}"/>
              </a:ext>
            </a:extLst>
          </p:cNvPr>
          <p:cNvSpPr txBox="1"/>
          <p:nvPr/>
        </p:nvSpPr>
        <p:spPr>
          <a:xfrm>
            <a:off x="420461" y="308011"/>
            <a:ext cx="6098720" cy="646331"/>
          </a:xfrm>
          <a:prstGeom prst="rect">
            <a:avLst/>
          </a:prstGeom>
          <a:noFill/>
        </p:spPr>
        <p:txBody>
          <a:bodyPr wrap="square">
            <a:spAutoFit/>
          </a:bodyPr>
          <a:lstStyle/>
          <a:p>
            <a:r>
              <a:rPr lang="en-AU" sz="3600">
                <a:solidFill>
                  <a:schemeClr val="accent1"/>
                </a:solidFill>
                <a:latin typeface="Arial"/>
                <a:cs typeface="Arial"/>
              </a:rPr>
              <a:t>Activity 1 – 5-digit numbers</a:t>
            </a:r>
            <a:endParaRPr lang="en-AU" sz="3600">
              <a:solidFill>
                <a:schemeClr val="accent1"/>
              </a:solidFill>
            </a:endParaRPr>
          </a:p>
        </p:txBody>
      </p:sp>
      <p:pic>
        <p:nvPicPr>
          <p:cNvPr id="6" name="Picture 5" descr="image of a head with cogs turning inside">
            <a:extLst>
              <a:ext uri="{FF2B5EF4-FFF2-40B4-BE49-F238E27FC236}">
                <a16:creationId xmlns:a16="http://schemas.microsoft.com/office/drawing/2014/main" id="{FD9CB2FA-5D2D-5F87-87BC-91BD9E444679}"/>
              </a:ext>
            </a:extLst>
          </p:cNvPr>
          <p:cNvPicPr>
            <a:picLocks noChangeAspect="1"/>
          </p:cNvPicPr>
          <p:nvPr/>
        </p:nvPicPr>
        <p:blipFill>
          <a:blip r:embed="rId3"/>
          <a:stretch>
            <a:fillRect/>
          </a:stretch>
        </p:blipFill>
        <p:spPr>
          <a:xfrm>
            <a:off x="11124000" y="162000"/>
            <a:ext cx="720000" cy="856364"/>
          </a:xfrm>
          <a:prstGeom prst="rect">
            <a:avLst/>
          </a:prstGeom>
          <a:ln>
            <a:noFill/>
          </a:ln>
        </p:spPr>
      </p:pic>
      <p:sp>
        <p:nvSpPr>
          <p:cNvPr id="7" name="Title 6">
            <a:extLst>
              <a:ext uri="{FF2B5EF4-FFF2-40B4-BE49-F238E27FC236}">
                <a16:creationId xmlns:a16="http://schemas.microsoft.com/office/drawing/2014/main" id="{294723C3-0B7B-F098-6826-A673AB4BB30A}"/>
              </a:ext>
            </a:extLst>
          </p:cNvPr>
          <p:cNvSpPr txBox="1">
            <a:spLocks noGrp="1"/>
          </p:cNvSpPr>
          <p:nvPr>
            <p:ph type="title" idx="4294967295"/>
          </p:nvPr>
        </p:nvSpPr>
        <p:spPr>
          <a:xfrm>
            <a:off x="293914" y="1167846"/>
            <a:ext cx="11550086" cy="1998176"/>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609585" rtl="0" eaLnBrk="1" fontAlgn="auto" latinLnBrk="0" hangingPunct="1">
              <a:lnSpc>
                <a:spcPct val="150000"/>
              </a:lnSpc>
              <a:spcBef>
                <a:spcPts val="0"/>
              </a:spcBef>
              <a:spcAft>
                <a:spcPts val="0"/>
              </a:spcAft>
              <a:buClrTx/>
              <a:buSzTx/>
              <a:buFontTx/>
              <a:buNone/>
              <a:tabLst/>
              <a:defRPr/>
            </a:pPr>
            <a:r>
              <a:rPr kumimoji="0" lang="en-AU" sz="4400" b="1" i="0" u="none" strike="noStrike" kern="1200" cap="none" spc="0" normalizeH="0" baseline="0" noProof="0">
                <a:ln>
                  <a:noFill/>
                </a:ln>
                <a:solidFill>
                  <a:schemeClr val="tx1"/>
                </a:solidFill>
                <a:effectLst/>
                <a:uLnTx/>
                <a:uFillTx/>
                <a:latin typeface="+mn-lt"/>
                <a:ea typeface="+mn-ea"/>
                <a:cs typeface="Arial"/>
              </a:rPr>
              <a:t>Aim of the game- </a:t>
            </a:r>
            <a:r>
              <a:rPr kumimoji="0" lang="en-AU" sz="4400" b="0" i="0" u="none" strike="noStrike" kern="1200" cap="none" spc="0" normalizeH="0" baseline="0" noProof="0">
                <a:ln>
                  <a:noFill/>
                </a:ln>
                <a:solidFill>
                  <a:schemeClr val="tx1"/>
                </a:solidFill>
                <a:effectLst/>
                <a:uLnTx/>
                <a:uFillTx/>
                <a:latin typeface="+mn-lt"/>
                <a:ea typeface="+mn-ea"/>
                <a:cs typeface="Arial"/>
              </a:rPr>
              <a:t>To use </a:t>
            </a:r>
            <a:r>
              <a:rPr kumimoji="0" lang="en-AU" sz="4400" b="1" i="0" u="none" strike="noStrike" kern="1200" cap="none" spc="0" normalizeH="0" baseline="0" noProof="0">
                <a:ln>
                  <a:noFill/>
                </a:ln>
                <a:solidFill>
                  <a:schemeClr val="tx1"/>
                </a:solidFill>
                <a:effectLst/>
                <a:uLnTx/>
                <a:uFillTx/>
                <a:latin typeface="+mn-lt"/>
                <a:ea typeface="+mn-ea"/>
                <a:cs typeface="Arial"/>
              </a:rPr>
              <a:t>mental strategies </a:t>
            </a:r>
            <a:r>
              <a:rPr kumimoji="0" lang="en-AU" sz="4400" b="0" i="0" u="none" strike="noStrike" kern="1200" cap="none" spc="0" normalizeH="0" baseline="0" noProof="0">
                <a:ln>
                  <a:noFill/>
                </a:ln>
                <a:solidFill>
                  <a:schemeClr val="tx1"/>
                </a:solidFill>
                <a:effectLst/>
                <a:uLnTx/>
                <a:uFillTx/>
                <a:latin typeface="+mn-lt"/>
                <a:ea typeface="+mn-ea"/>
                <a:cs typeface="Arial"/>
              </a:rPr>
              <a:t>to </a:t>
            </a:r>
            <a:r>
              <a:rPr kumimoji="0" lang="en-AU" sz="4400" b="1" i="0" u="none" strike="noStrike" kern="1200" cap="none" spc="0" normalizeH="0" baseline="0" noProof="0">
                <a:ln>
                  <a:noFill/>
                </a:ln>
                <a:solidFill>
                  <a:schemeClr val="tx1"/>
                </a:solidFill>
                <a:effectLst/>
                <a:uLnTx/>
                <a:uFillTx/>
                <a:latin typeface="+mn-lt"/>
                <a:ea typeface="+mn-ea"/>
                <a:cs typeface="Arial"/>
              </a:rPr>
              <a:t>correctly guess </a:t>
            </a:r>
            <a:r>
              <a:rPr kumimoji="0" lang="en-AU" sz="4400" b="0" i="0" u="none" strike="noStrike" kern="1200" cap="none" spc="0" normalizeH="0" baseline="0" noProof="0">
                <a:ln>
                  <a:noFill/>
                </a:ln>
                <a:solidFill>
                  <a:schemeClr val="tx1"/>
                </a:solidFill>
                <a:effectLst/>
                <a:uLnTx/>
                <a:uFillTx/>
                <a:latin typeface="+mn-lt"/>
                <a:ea typeface="+mn-ea"/>
                <a:cs typeface="Arial"/>
              </a:rPr>
              <a:t>their opponent’s </a:t>
            </a:r>
            <a:r>
              <a:rPr kumimoji="0" lang="en-AU" sz="4400" b="1" i="0" u="none" strike="noStrike" kern="1200" cap="none" spc="0" normalizeH="0" baseline="0" noProof="0">
                <a:ln>
                  <a:noFill/>
                </a:ln>
                <a:solidFill>
                  <a:schemeClr val="tx1"/>
                </a:solidFill>
                <a:effectLst/>
                <a:uLnTx/>
                <a:uFillTx/>
                <a:latin typeface="+mn-lt"/>
                <a:ea typeface="+mn-ea"/>
                <a:cs typeface="Arial"/>
              </a:rPr>
              <a:t>number.</a:t>
            </a:r>
            <a:endParaRPr kumimoji="0" lang="en-AU" sz="4400" b="1" i="0" u="none" strike="noStrike" kern="1200" cap="none" spc="0" normalizeH="0" baseline="0" noProof="0">
              <a:ln>
                <a:noFill/>
              </a:ln>
              <a:solidFill>
                <a:schemeClr val="tx1"/>
              </a:solidFill>
              <a:effectLst/>
              <a:uLnTx/>
              <a:uFillTx/>
              <a:latin typeface="+mn-lt"/>
              <a:ea typeface="+mn-ea"/>
              <a:cs typeface="+mn-cs"/>
            </a:endParaRPr>
          </a:p>
        </p:txBody>
      </p:sp>
      <p:pic>
        <p:nvPicPr>
          <p:cNvPr id="8" name="Picture 7" descr="Mastermind gameboard consisting of a table with 3 columns with the headings Guess, Digits and Place. In the first row the number 14,628 is in the guess column, 3 is in the digits column and 1 is in the place column. There are 10 blank rows underneath.">
            <a:extLst>
              <a:ext uri="{FF2B5EF4-FFF2-40B4-BE49-F238E27FC236}">
                <a16:creationId xmlns:a16="http://schemas.microsoft.com/office/drawing/2014/main" id="{055C362E-1F50-8639-8B27-5E758DC76476}"/>
              </a:ext>
            </a:extLst>
          </p:cNvPr>
          <p:cNvPicPr>
            <a:picLocks noChangeAspect="1"/>
          </p:cNvPicPr>
          <p:nvPr/>
        </p:nvPicPr>
        <p:blipFill>
          <a:blip r:embed="rId4"/>
          <a:stretch>
            <a:fillRect/>
          </a:stretch>
        </p:blipFill>
        <p:spPr>
          <a:xfrm>
            <a:off x="4547600" y="3251483"/>
            <a:ext cx="3180307" cy="3256898"/>
          </a:xfrm>
          <a:prstGeom prst="rect">
            <a:avLst/>
          </a:prstGeom>
          <a:ln>
            <a:noFill/>
          </a:ln>
        </p:spPr>
      </p:pic>
    </p:spTree>
    <p:extLst>
      <p:ext uri="{BB962C8B-B14F-4D97-AF65-F5344CB8AC3E}">
        <p14:creationId xmlns:p14="http://schemas.microsoft.com/office/powerpoint/2010/main" val="703679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D668B-2570-AD54-B728-912F7A13E93E}"/>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F5EB3C2-B8E5-B5DD-ECAA-CB559EC904F7}"/>
              </a:ext>
            </a:extLst>
          </p:cNvPr>
          <p:cNvSpPr>
            <a:spLocks noGrp="1"/>
          </p:cNvSpPr>
          <p:nvPr>
            <p:ph type="ctrTitle"/>
          </p:nvPr>
        </p:nvSpPr>
        <p:spPr/>
        <p:txBody>
          <a:bodyPr/>
          <a:lstStyle/>
          <a:p>
            <a:r>
              <a:rPr lang="en-AU">
                <a:latin typeface="+mj-lt"/>
                <a:cs typeface="Arial"/>
              </a:rPr>
              <a:t>Review of learning  2</a:t>
            </a:r>
            <a:endParaRPr lang="en-AU">
              <a:latin typeface="+mj-lt"/>
            </a:endParaRPr>
          </a:p>
        </p:txBody>
      </p:sp>
    </p:spTree>
    <p:extLst>
      <p:ext uri="{BB962C8B-B14F-4D97-AF65-F5344CB8AC3E}">
        <p14:creationId xmlns:p14="http://schemas.microsoft.com/office/powerpoint/2010/main" val="3134920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39087-8482-8C93-7654-8161E158814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8527CEC-B9B9-C681-7B54-933A5FB66107}"/>
              </a:ext>
            </a:extLst>
          </p:cNvPr>
          <p:cNvSpPr>
            <a:spLocks noGrp="1"/>
          </p:cNvSpPr>
          <p:nvPr>
            <p:ph type="sldNum" sz="quarter" idx="12"/>
          </p:nvPr>
        </p:nvSpPr>
        <p:spPr/>
        <p:txBody>
          <a:bodyPr/>
          <a:lstStyle/>
          <a:p>
            <a:fld id="{10A01DC5-1685-4615-8240-15192985C6A2}" type="slidenum">
              <a:rPr lang="en-AU" smtClean="0"/>
              <a:t>12</a:t>
            </a:fld>
            <a:endParaRPr lang="en-AU"/>
          </a:p>
        </p:txBody>
      </p:sp>
      <p:sp>
        <p:nvSpPr>
          <p:cNvPr id="3" name="Title 2">
            <a:extLst>
              <a:ext uri="{FF2B5EF4-FFF2-40B4-BE49-F238E27FC236}">
                <a16:creationId xmlns:a16="http://schemas.microsoft.com/office/drawing/2014/main" id="{0D18FB72-95E4-7D60-C7EB-497F6F0C4C41}"/>
              </a:ext>
            </a:extLst>
          </p:cNvPr>
          <p:cNvSpPr>
            <a:spLocks noGrp="1"/>
          </p:cNvSpPr>
          <p:nvPr>
            <p:ph type="title"/>
          </p:nvPr>
        </p:nvSpPr>
        <p:spPr/>
        <p:txBody>
          <a:bodyPr/>
          <a:lstStyle/>
          <a:p>
            <a:r>
              <a:rPr lang="en-US"/>
              <a:t>True or false </a:t>
            </a:r>
            <a:r>
              <a:rPr lang="en-US">
                <a:solidFill>
                  <a:schemeClr val="bg1"/>
                </a:solidFill>
              </a:rPr>
              <a:t>(1)</a:t>
            </a:r>
          </a:p>
        </p:txBody>
      </p:sp>
      <p:sp>
        <p:nvSpPr>
          <p:cNvPr id="7" name="Text Placeholder 6">
            <a:extLst>
              <a:ext uri="{FF2B5EF4-FFF2-40B4-BE49-F238E27FC236}">
                <a16:creationId xmlns:a16="http://schemas.microsoft.com/office/drawing/2014/main" id="{A26C78AF-8B76-8BE5-6FD1-C3122BE06605}"/>
              </a:ext>
            </a:extLst>
          </p:cNvPr>
          <p:cNvSpPr>
            <a:spLocks noGrp="1"/>
          </p:cNvSpPr>
          <p:nvPr>
            <p:ph type="body" sz="quarter" idx="22"/>
          </p:nvPr>
        </p:nvSpPr>
        <p:spPr>
          <a:xfrm>
            <a:off x="962025" y="1717386"/>
            <a:ext cx="10161976" cy="2703738"/>
          </a:xfrm>
        </p:spPr>
        <p:txBody>
          <a:bodyPr vert="horz" lIns="0" tIns="0" rIns="0" bIns="0" rtlCol="0" anchor="t">
            <a:noAutofit/>
          </a:bodyPr>
          <a:lstStyle/>
          <a:p>
            <a:pPr algn="ctr"/>
            <a:r>
              <a:rPr lang="en-US" sz="4400"/>
              <a:t>These </a:t>
            </a:r>
            <a:r>
              <a:rPr lang="en-US" sz="4400" b="1"/>
              <a:t>numbers</a:t>
            </a:r>
            <a:r>
              <a:rPr lang="en-US" sz="4400"/>
              <a:t> are in </a:t>
            </a:r>
            <a:r>
              <a:rPr lang="en-US" sz="4400" b="1"/>
              <a:t>ascending</a:t>
            </a:r>
            <a:r>
              <a:rPr lang="en-US" sz="4400"/>
              <a:t> order.</a:t>
            </a:r>
          </a:p>
          <a:p>
            <a:pPr algn="ctr"/>
            <a:r>
              <a:rPr lang="en-US" sz="4400"/>
              <a:t>909, 999, 99 788, 1089, 9009</a:t>
            </a:r>
          </a:p>
          <a:p>
            <a:pPr algn="ctr"/>
            <a:endParaRPr lang="en-US" sz="4000"/>
          </a:p>
        </p:txBody>
      </p:sp>
      <p:graphicFrame>
        <p:nvGraphicFramePr>
          <p:cNvPr id="12" name="Table 11">
            <a:extLst>
              <a:ext uri="{FF2B5EF4-FFF2-40B4-BE49-F238E27FC236}">
                <a16:creationId xmlns:a16="http://schemas.microsoft.com/office/drawing/2014/main" id="{9FB43ECC-6198-CAD9-D35A-4745C2C73040}"/>
              </a:ext>
            </a:extLst>
          </p:cNvPr>
          <p:cNvGraphicFramePr>
            <a:graphicFrameLocks noGrp="1"/>
          </p:cNvGraphicFramePr>
          <p:nvPr>
            <p:extLst>
              <p:ext uri="{D42A27DB-BD31-4B8C-83A1-F6EECF244321}">
                <p14:modId xmlns:p14="http://schemas.microsoft.com/office/powerpoint/2010/main" val="2743736753"/>
              </p:ext>
            </p:extLst>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descr="image of a finger selecting an option for a multiple choice or true and false">
            <a:extLst>
              <a:ext uri="{FF2B5EF4-FFF2-40B4-BE49-F238E27FC236}">
                <a16:creationId xmlns:a16="http://schemas.microsoft.com/office/drawing/2014/main" id="{87EDFC9E-A618-53A7-C204-54881B9AC2B6}"/>
              </a:ext>
            </a:extLst>
          </p:cNvPr>
          <p:cNvPicPr>
            <a:picLocks noChangeAspect="1"/>
          </p:cNvPicPr>
          <p:nvPr/>
        </p:nvPicPr>
        <p:blipFill>
          <a:blip r:embed="rId3"/>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4090065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86458-B3DC-1B5B-CAB0-67289592938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D59C605-2915-EBC8-907B-0379999694C3}"/>
              </a:ext>
            </a:extLst>
          </p:cNvPr>
          <p:cNvSpPr>
            <a:spLocks noGrp="1"/>
          </p:cNvSpPr>
          <p:nvPr>
            <p:ph type="sldNum" sz="quarter" idx="12"/>
          </p:nvPr>
        </p:nvSpPr>
        <p:spPr/>
        <p:txBody>
          <a:bodyPr/>
          <a:lstStyle/>
          <a:p>
            <a:fld id="{10A01DC5-1685-4615-8240-15192985C6A2}" type="slidenum">
              <a:rPr lang="en-AU" smtClean="0"/>
              <a:t>13</a:t>
            </a:fld>
            <a:endParaRPr lang="en-AU"/>
          </a:p>
        </p:txBody>
      </p:sp>
      <p:sp>
        <p:nvSpPr>
          <p:cNvPr id="3" name="Title 2">
            <a:extLst>
              <a:ext uri="{FF2B5EF4-FFF2-40B4-BE49-F238E27FC236}">
                <a16:creationId xmlns:a16="http://schemas.microsoft.com/office/drawing/2014/main" id="{F9E0F587-1932-6389-F8B8-958D63E6AFED}"/>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a:t>
            </a:r>
          </a:p>
        </p:txBody>
      </p:sp>
      <p:sp>
        <p:nvSpPr>
          <p:cNvPr id="11" name="Picture Placeholder 10">
            <a:extLst>
              <a:ext uri="{FF2B5EF4-FFF2-40B4-BE49-F238E27FC236}">
                <a16:creationId xmlns:a16="http://schemas.microsoft.com/office/drawing/2014/main" id="{777805AA-3000-4F7B-AF76-0FB0E2B466BE}"/>
              </a:ext>
            </a:extLst>
          </p:cNvPr>
          <p:cNvSpPr>
            <a:spLocks noGrp="1"/>
          </p:cNvSpPr>
          <p:nvPr>
            <p:ph type="pic" sz="quarter" idx="21"/>
          </p:nvPr>
        </p:nvSpPr>
        <p:spPr>
          <a:xfrm>
            <a:off x="1362075" y="905601"/>
            <a:ext cx="9761925" cy="5420500"/>
          </a:xfrm>
        </p:spPr>
        <p:txBody>
          <a:bodyPr/>
          <a:lstStyle/>
          <a:p>
            <a:pPr algn="ctr"/>
            <a:r>
              <a:rPr lang="en-US" sz="4400">
                <a:latin typeface="Arial"/>
                <a:cs typeface="Arial"/>
              </a:rPr>
              <a:t>Read the following </a:t>
            </a:r>
            <a:r>
              <a:rPr lang="en-US" sz="4400" b="1">
                <a:latin typeface="Arial"/>
                <a:cs typeface="Arial"/>
              </a:rPr>
              <a:t>numbers</a:t>
            </a:r>
            <a:r>
              <a:rPr lang="en-US" sz="4400">
                <a:latin typeface="Arial"/>
                <a:cs typeface="Arial"/>
              </a:rPr>
              <a:t> aloud:</a:t>
            </a:r>
          </a:p>
          <a:p>
            <a:pPr algn="ctr"/>
            <a:r>
              <a:rPr lang="en-US" sz="4400">
                <a:latin typeface="Arial"/>
                <a:cs typeface="Arial"/>
              </a:rPr>
              <a:t>5 709 852</a:t>
            </a:r>
          </a:p>
          <a:p>
            <a:pPr algn="ctr"/>
            <a:r>
              <a:rPr lang="en-US" sz="4400">
                <a:latin typeface="Arial"/>
                <a:cs typeface="Arial"/>
              </a:rPr>
              <a:t>6 475 200</a:t>
            </a:r>
          </a:p>
          <a:p>
            <a:pPr algn="ctr"/>
            <a:r>
              <a:rPr lang="en-US" sz="4400">
                <a:latin typeface="Arial"/>
                <a:cs typeface="Arial"/>
              </a:rPr>
              <a:t>1 111 870</a:t>
            </a:r>
          </a:p>
          <a:p>
            <a:pPr algn="ctr"/>
            <a:r>
              <a:rPr lang="en-US" sz="4400">
                <a:latin typeface="Arial"/>
                <a:cs typeface="Arial"/>
              </a:rPr>
              <a:t>4 098 654</a:t>
            </a:r>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D6AA7882-9128-F96D-36AE-AAE3C6433E5E}"/>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1861443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EB60A-DB53-A5B7-8B1E-B76E42DF201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8C3A20D-F8A7-870F-024C-C73BED4F0723}"/>
              </a:ext>
            </a:extLst>
          </p:cNvPr>
          <p:cNvSpPr>
            <a:spLocks noGrp="1"/>
          </p:cNvSpPr>
          <p:nvPr>
            <p:ph type="sldNum" sz="quarter" idx="12"/>
          </p:nvPr>
        </p:nvSpPr>
        <p:spPr/>
        <p:txBody>
          <a:bodyPr/>
          <a:lstStyle/>
          <a:p>
            <a:fld id="{10A01DC5-1685-4615-8240-15192985C6A2}" type="slidenum">
              <a:rPr lang="en-AU" smtClean="0"/>
              <a:t>14</a:t>
            </a:fld>
            <a:endParaRPr lang="en-AU"/>
          </a:p>
        </p:txBody>
      </p:sp>
      <p:sp>
        <p:nvSpPr>
          <p:cNvPr id="3" name="Title 2">
            <a:extLst>
              <a:ext uri="{FF2B5EF4-FFF2-40B4-BE49-F238E27FC236}">
                <a16:creationId xmlns:a16="http://schemas.microsoft.com/office/drawing/2014/main" id="{4658F565-BC0F-A638-D187-0FE9F8DCFE26}"/>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a:t>
            </a:r>
          </a:p>
        </p:txBody>
      </p:sp>
      <p:pic>
        <p:nvPicPr>
          <p:cNvPr id="12" name="Picture 11" descr="image of a clipboard with a pencil recording short answer responses">
            <a:extLst>
              <a:ext uri="{FF2B5EF4-FFF2-40B4-BE49-F238E27FC236}">
                <a16:creationId xmlns:a16="http://schemas.microsoft.com/office/drawing/2014/main" id="{9AA4C562-DA8B-AB67-B4B6-E448C50E15A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3" name="TextBox 12">
            <a:extLst>
              <a:ext uri="{FF2B5EF4-FFF2-40B4-BE49-F238E27FC236}">
                <a16:creationId xmlns:a16="http://schemas.microsoft.com/office/drawing/2014/main" id="{B411E7FC-A171-8161-78C0-6A47C9C75F8F}"/>
              </a:ext>
            </a:extLst>
          </p:cNvPr>
          <p:cNvSpPr txBox="1"/>
          <p:nvPr/>
        </p:nvSpPr>
        <p:spPr>
          <a:xfrm>
            <a:off x="360000" y="1698171"/>
            <a:ext cx="11484000" cy="4539207"/>
          </a:xfrm>
          <a:prstGeom prst="rect">
            <a:avLst/>
          </a:prstGeom>
          <a:noFill/>
        </p:spPr>
        <p:txBody>
          <a:bodyPr wrap="square" lIns="0" tIns="0" rIns="0" bIns="0" rtlCol="0">
            <a:noAutofit/>
          </a:bodyPr>
          <a:lstStyle/>
          <a:p>
            <a:pPr algn="ctr">
              <a:lnSpc>
                <a:spcPct val="150000"/>
              </a:lnSpc>
            </a:pPr>
            <a:r>
              <a:rPr lang="en-AU" sz="4400" b="1"/>
              <a:t>Record</a:t>
            </a:r>
            <a:r>
              <a:rPr lang="en-AU" sz="4400"/>
              <a:t> as a </a:t>
            </a:r>
            <a:r>
              <a:rPr lang="en-AU" sz="4400" b="1"/>
              <a:t>number</a:t>
            </a:r>
            <a:r>
              <a:rPr lang="en-AU" sz="4400"/>
              <a:t>:</a:t>
            </a:r>
          </a:p>
          <a:p>
            <a:pPr algn="ctr">
              <a:lnSpc>
                <a:spcPct val="150000"/>
              </a:lnSpc>
            </a:pPr>
            <a:r>
              <a:rPr lang="en-AU" sz="4400"/>
              <a:t>one hundred and twenty hundreds, forty tens and one.</a:t>
            </a:r>
          </a:p>
        </p:txBody>
      </p:sp>
    </p:spTree>
    <p:extLst>
      <p:ext uri="{BB962C8B-B14F-4D97-AF65-F5344CB8AC3E}">
        <p14:creationId xmlns:p14="http://schemas.microsoft.com/office/powerpoint/2010/main" val="4206514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F66E2-F0C5-5138-CAEC-E3751681CC9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65C0EE6-AA77-F601-9124-C2AB88FE1BA4}"/>
              </a:ext>
            </a:extLst>
          </p:cNvPr>
          <p:cNvSpPr>
            <a:spLocks noGrp="1"/>
          </p:cNvSpPr>
          <p:nvPr>
            <p:ph type="sldNum" sz="quarter" idx="12"/>
          </p:nvPr>
        </p:nvSpPr>
        <p:spPr/>
        <p:txBody>
          <a:bodyPr/>
          <a:lstStyle/>
          <a:p>
            <a:fld id="{10A01DC5-1685-4615-8240-15192985C6A2}" type="slidenum">
              <a:rPr lang="en-AU" smtClean="0"/>
              <a:t>15</a:t>
            </a:fld>
            <a:endParaRPr lang="en-AU"/>
          </a:p>
        </p:txBody>
      </p:sp>
      <p:sp>
        <p:nvSpPr>
          <p:cNvPr id="3" name="Title 2">
            <a:extLst>
              <a:ext uri="{FF2B5EF4-FFF2-40B4-BE49-F238E27FC236}">
                <a16:creationId xmlns:a16="http://schemas.microsoft.com/office/drawing/2014/main" id="{97207C71-565C-F655-DA13-564DFCF88FFE}"/>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(3)</a:t>
            </a:r>
          </a:p>
        </p:txBody>
      </p:sp>
      <p:pic>
        <p:nvPicPr>
          <p:cNvPr id="4" name="Picture 3" descr="image of a clipboard with a pencil recording short answer responses">
            <a:extLst>
              <a:ext uri="{FF2B5EF4-FFF2-40B4-BE49-F238E27FC236}">
                <a16:creationId xmlns:a16="http://schemas.microsoft.com/office/drawing/2014/main" id="{878A31AB-6C94-1BFB-9B08-E66847EEC2BB}"/>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88541715-7690-7A8E-BEAF-98B052C8CE4B}"/>
              </a:ext>
            </a:extLst>
          </p:cNvPr>
          <p:cNvSpPr txBox="1"/>
          <p:nvPr/>
        </p:nvSpPr>
        <p:spPr>
          <a:xfrm>
            <a:off x="669471" y="1518557"/>
            <a:ext cx="10933567" cy="4392386"/>
          </a:xfrm>
          <a:prstGeom prst="rect">
            <a:avLst/>
          </a:prstGeom>
          <a:noFill/>
        </p:spPr>
        <p:txBody>
          <a:bodyPr wrap="square" lIns="0" tIns="0" rIns="0" bIns="0" rtlCol="0">
            <a:noAutofit/>
          </a:bodyPr>
          <a:lstStyle/>
          <a:p>
            <a:pPr algn="ctr">
              <a:lnSpc>
                <a:spcPct val="150000"/>
              </a:lnSpc>
            </a:pPr>
            <a:r>
              <a:rPr lang="en-AU" sz="4400"/>
              <a:t>Lunch </a:t>
            </a:r>
            <a:r>
              <a:rPr lang="en-AU" sz="4400" b="1"/>
              <a:t>begins</a:t>
            </a:r>
            <a:r>
              <a:rPr lang="en-AU" sz="4400"/>
              <a:t> at 12:00pm</a:t>
            </a:r>
          </a:p>
          <a:p>
            <a:pPr algn="ctr">
              <a:lnSpc>
                <a:spcPct val="150000"/>
              </a:lnSpc>
            </a:pPr>
            <a:r>
              <a:rPr lang="en-AU" sz="4400"/>
              <a:t>It is 33 minutes </a:t>
            </a:r>
            <a:r>
              <a:rPr lang="en-AU" sz="4400" b="1"/>
              <a:t>until lunch</a:t>
            </a:r>
            <a:r>
              <a:rPr lang="en-AU" sz="4400"/>
              <a:t>.</a:t>
            </a:r>
          </a:p>
          <a:p>
            <a:pPr algn="ctr">
              <a:lnSpc>
                <a:spcPct val="150000"/>
              </a:lnSpc>
            </a:pPr>
            <a:r>
              <a:rPr lang="en-AU" sz="4400"/>
              <a:t>What is the </a:t>
            </a:r>
            <a:r>
              <a:rPr lang="en-AU" sz="4400" b="1"/>
              <a:t>time now</a:t>
            </a:r>
            <a:r>
              <a:rPr lang="en-AU" sz="4400"/>
              <a:t>?</a:t>
            </a:r>
          </a:p>
        </p:txBody>
      </p:sp>
    </p:spTree>
    <p:extLst>
      <p:ext uri="{BB962C8B-B14F-4D97-AF65-F5344CB8AC3E}">
        <p14:creationId xmlns:p14="http://schemas.microsoft.com/office/powerpoint/2010/main" val="3098002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754AA-2C66-0C25-B9E8-7186573B43F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D3FEC2D-FBC9-6ADC-655C-61AE188BF640}"/>
              </a:ext>
            </a:extLst>
          </p:cNvPr>
          <p:cNvSpPr>
            <a:spLocks noGrp="1"/>
          </p:cNvSpPr>
          <p:nvPr>
            <p:ph type="sldNum" sz="quarter" idx="12"/>
          </p:nvPr>
        </p:nvSpPr>
        <p:spPr/>
        <p:txBody>
          <a:bodyPr/>
          <a:lstStyle/>
          <a:p>
            <a:fld id="{10A01DC5-1685-4615-8240-15192985C6A2}" type="slidenum">
              <a:rPr lang="en-AU" smtClean="0"/>
              <a:t>16</a:t>
            </a:fld>
            <a:endParaRPr lang="en-AU"/>
          </a:p>
        </p:txBody>
      </p:sp>
      <p:sp>
        <p:nvSpPr>
          <p:cNvPr id="3" name="Title 2">
            <a:extLst>
              <a:ext uri="{FF2B5EF4-FFF2-40B4-BE49-F238E27FC236}">
                <a16:creationId xmlns:a16="http://schemas.microsoft.com/office/drawing/2014/main" id="{4665DAF2-1A41-F192-2D01-F9D2CDB43416}"/>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(4)</a:t>
            </a:r>
          </a:p>
        </p:txBody>
      </p:sp>
      <p:sp>
        <p:nvSpPr>
          <p:cNvPr id="11" name="Picture Placeholder 10">
            <a:extLst>
              <a:ext uri="{FF2B5EF4-FFF2-40B4-BE49-F238E27FC236}">
                <a16:creationId xmlns:a16="http://schemas.microsoft.com/office/drawing/2014/main" id="{686F4CE3-1291-37C6-C630-AE7D9898FB44}"/>
              </a:ext>
            </a:extLst>
          </p:cNvPr>
          <p:cNvSpPr>
            <a:spLocks noGrp="1"/>
          </p:cNvSpPr>
          <p:nvPr>
            <p:ph type="pic" sz="quarter" idx="21"/>
          </p:nvPr>
        </p:nvSpPr>
        <p:spPr>
          <a:xfrm>
            <a:off x="413132" y="1105273"/>
            <a:ext cx="11430868" cy="4647454"/>
          </a:xfrm>
        </p:spPr>
        <p:txBody>
          <a:bodyPr/>
          <a:lstStyle/>
          <a:p>
            <a:pPr algn="ctr"/>
            <a:endParaRPr lang="en-US" sz="4400" b="1">
              <a:latin typeface="Arial"/>
              <a:cs typeface="Arial"/>
            </a:endParaRPr>
          </a:p>
          <a:p>
            <a:pPr algn="ctr"/>
            <a:r>
              <a:rPr lang="en-US" sz="4400" b="1">
                <a:latin typeface="Arial"/>
                <a:cs typeface="Arial"/>
              </a:rPr>
              <a:t>Draw</a:t>
            </a:r>
            <a:r>
              <a:rPr lang="en-US" sz="4400">
                <a:latin typeface="Arial"/>
                <a:cs typeface="Arial"/>
              </a:rPr>
              <a:t> an angle you can see in the classroom that is less than a right angle.</a:t>
            </a:r>
          </a:p>
        </p:txBody>
      </p:sp>
      <p:pic>
        <p:nvPicPr>
          <p:cNvPr id="4" name="Picture 3" descr="image of a clipboard with a pencil recording short answer responses">
            <a:extLst>
              <a:ext uri="{FF2B5EF4-FFF2-40B4-BE49-F238E27FC236}">
                <a16:creationId xmlns:a16="http://schemas.microsoft.com/office/drawing/2014/main" id="{9008FCB9-73D4-8BB4-C873-11DABD7754D1}"/>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3923910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17</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latin typeface="Arial"/>
                <a:cs typeface="Arial"/>
              </a:rPr>
              <a:t>Activity 2 – Ordering numbers</a:t>
            </a:r>
            <a:endParaRPr lang="en-AU">
              <a:solidFill>
                <a:srgbClr val="000000"/>
              </a:solidFill>
              <a:latin typeface="Arial"/>
              <a:cs typeface="Arial"/>
            </a:endParaRPr>
          </a:p>
          <a:p>
            <a:endParaRPr lang="en-AU">
              <a:latin typeface="Arial"/>
              <a:cs typeface="Arial"/>
            </a:endParaRPr>
          </a:p>
        </p:txBody>
      </p:sp>
      <p:sp>
        <p:nvSpPr>
          <p:cNvPr id="5" name="TextBox 4">
            <a:extLst>
              <a:ext uri="{FF2B5EF4-FFF2-40B4-BE49-F238E27FC236}">
                <a16:creationId xmlns:a16="http://schemas.microsoft.com/office/drawing/2014/main" id="{77B502C4-CFD6-0EF2-6FE9-74A0F91E47F1}"/>
              </a:ext>
            </a:extLst>
          </p:cNvPr>
          <p:cNvSpPr txBox="1"/>
          <p:nvPr/>
        </p:nvSpPr>
        <p:spPr>
          <a:xfrm>
            <a:off x="334554" y="1414596"/>
            <a:ext cx="11492449" cy="2487861"/>
          </a:xfrm>
          <a:prstGeom prst="rect">
            <a:avLst/>
          </a:prstGeom>
          <a:noFill/>
        </p:spPr>
        <p:txBody>
          <a:bodyPr wrap="square" lIns="91440" tIns="45720" rIns="91440" bIns="45720" anchor="t">
            <a:spAutoFit/>
          </a:bodyPr>
          <a:lstStyle/>
          <a:p>
            <a:pPr algn="ctr"/>
            <a:r>
              <a:rPr lang="en-AU" sz="4400">
                <a:latin typeface="Arial"/>
                <a:ea typeface="Calibri"/>
                <a:cs typeface="Arial"/>
              </a:rPr>
              <a:t>Rearrange the sticky notes so the numbers are </a:t>
            </a:r>
            <a:r>
              <a:rPr lang="en-AU" sz="4400" b="0" i="0">
                <a:solidFill>
                  <a:srgbClr val="22272B"/>
                </a:solidFill>
                <a:effectLst/>
                <a:latin typeface="Arial"/>
                <a:cs typeface="Arial"/>
              </a:rPr>
              <a:t>in </a:t>
            </a:r>
            <a:r>
              <a:rPr lang="en-AU" sz="4400" b="1">
                <a:latin typeface="Arial"/>
                <a:ea typeface="Calibri"/>
                <a:cs typeface="Arial"/>
              </a:rPr>
              <a:t>ascending</a:t>
            </a:r>
            <a:r>
              <a:rPr lang="en-AU" sz="4400">
                <a:latin typeface="Arial"/>
                <a:ea typeface="Calibri"/>
                <a:cs typeface="Arial"/>
              </a:rPr>
              <a:t> order </a:t>
            </a:r>
            <a:r>
              <a:rPr lang="en-AU" sz="4400">
                <a:effectLst/>
                <a:latin typeface="Arial"/>
                <a:ea typeface="Calibri"/>
                <a:cs typeface="Arial"/>
              </a:rPr>
              <a:t>in the </a:t>
            </a:r>
            <a:r>
              <a:rPr lang="en-AU" sz="4400">
                <a:latin typeface="Arial"/>
                <a:ea typeface="Calibri"/>
                <a:cs typeface="Arial"/>
              </a:rPr>
              <a:t>fewest moves possible</a:t>
            </a:r>
            <a:r>
              <a:rPr lang="en-AU" sz="4400">
                <a:effectLst/>
                <a:latin typeface="Arial"/>
                <a:ea typeface="Calibri"/>
                <a:cs typeface="Arial"/>
              </a:rPr>
              <a:t>.</a:t>
            </a:r>
            <a:r>
              <a:rPr lang="en-AU" sz="4400">
                <a:latin typeface="Arial"/>
                <a:ea typeface="Calibri"/>
                <a:cs typeface="Arial"/>
              </a:rPr>
              <a:t> </a:t>
            </a:r>
            <a:endParaRPr lang="en-US" sz="4400">
              <a:effectLst/>
              <a:latin typeface="Arial" panose="020B0604020202020204" pitchFamily="34" charset="0"/>
              <a:ea typeface="Calibri"/>
              <a:cs typeface="Arial"/>
            </a:endParaRPr>
          </a:p>
          <a:p>
            <a:pPr lvl="0">
              <a:lnSpc>
                <a:spcPct val="150000"/>
              </a:lnSpc>
            </a:pPr>
            <a:endParaRPr lang="en-US" sz="1800">
              <a:effectLst/>
              <a:latin typeface="Arial" panose="020B0604020202020204" pitchFamily="34" charset="0"/>
              <a:ea typeface="Calibri" panose="020F0502020204030204" pitchFamily="34" charset="0"/>
              <a:cs typeface="Arial"/>
            </a:endParaRPr>
          </a:p>
        </p:txBody>
      </p:sp>
      <p:pic>
        <p:nvPicPr>
          <p:cNvPr id="4" name="Picture 3" descr="image of a head with cogs turning inside">
            <a:extLst>
              <a:ext uri="{FF2B5EF4-FFF2-40B4-BE49-F238E27FC236}">
                <a16:creationId xmlns:a16="http://schemas.microsoft.com/office/drawing/2014/main" id="{7A1306BB-7902-319C-CF8F-A2DB61C77D2C}"/>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7" name="Picture 6" descr="4 yellow sticky notes numbered from left to right 5481, 3058, 8946 and 7212">
            <a:extLst>
              <a:ext uri="{FF2B5EF4-FFF2-40B4-BE49-F238E27FC236}">
                <a16:creationId xmlns:a16="http://schemas.microsoft.com/office/drawing/2014/main" id="{924AE8B1-E5CE-D8E8-4F92-1DF366B50107}"/>
              </a:ext>
            </a:extLst>
          </p:cNvPr>
          <p:cNvPicPr>
            <a:picLocks noChangeAspect="1"/>
          </p:cNvPicPr>
          <p:nvPr/>
        </p:nvPicPr>
        <p:blipFill>
          <a:blip r:embed="rId4"/>
          <a:stretch>
            <a:fillRect/>
          </a:stretch>
        </p:blipFill>
        <p:spPr>
          <a:xfrm>
            <a:off x="1781958" y="3778407"/>
            <a:ext cx="8834581" cy="2484726"/>
          </a:xfrm>
          <a:prstGeom prst="rect">
            <a:avLst/>
          </a:prstGeom>
        </p:spPr>
      </p:pic>
    </p:spTree>
    <p:extLst>
      <p:ext uri="{BB962C8B-B14F-4D97-AF65-F5344CB8AC3E}">
        <p14:creationId xmlns:p14="http://schemas.microsoft.com/office/powerpoint/2010/main" val="1249675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F9F5E-9F20-A840-C8DD-9ED062B9C6E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30C29BB1-E8E0-F23D-E9E0-8AB0443FBBAF}"/>
              </a:ext>
            </a:extLst>
          </p:cNvPr>
          <p:cNvSpPr>
            <a:spLocks noGrp="1"/>
          </p:cNvSpPr>
          <p:nvPr>
            <p:ph type="ctrTitle"/>
          </p:nvPr>
        </p:nvSpPr>
        <p:spPr/>
        <p:txBody>
          <a:bodyPr/>
          <a:lstStyle/>
          <a:p>
            <a:r>
              <a:rPr lang="en-AU">
                <a:latin typeface="+mj-lt"/>
                <a:cs typeface="Arial"/>
              </a:rPr>
              <a:t>Review of learning 3</a:t>
            </a:r>
            <a:endParaRPr lang="en-AU">
              <a:latin typeface="+mj-lt"/>
            </a:endParaRPr>
          </a:p>
        </p:txBody>
      </p:sp>
    </p:spTree>
    <p:extLst>
      <p:ext uri="{BB962C8B-B14F-4D97-AF65-F5344CB8AC3E}">
        <p14:creationId xmlns:p14="http://schemas.microsoft.com/office/powerpoint/2010/main" val="122646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861B1-6A34-35AF-C8F8-98FFF9B6C75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3EE77A7-FE1B-9394-E3D8-9905BF492C48}"/>
              </a:ext>
            </a:extLst>
          </p:cNvPr>
          <p:cNvSpPr>
            <a:spLocks noGrp="1"/>
          </p:cNvSpPr>
          <p:nvPr>
            <p:ph type="sldNum" sz="quarter" idx="12"/>
          </p:nvPr>
        </p:nvSpPr>
        <p:spPr/>
        <p:txBody>
          <a:bodyPr/>
          <a:lstStyle/>
          <a:p>
            <a:fld id="{10A01DC5-1685-4615-8240-15192985C6A2}" type="slidenum">
              <a:rPr lang="en-AU" smtClean="0"/>
              <a:t>19</a:t>
            </a:fld>
            <a:endParaRPr lang="en-AU"/>
          </a:p>
        </p:txBody>
      </p:sp>
      <p:sp>
        <p:nvSpPr>
          <p:cNvPr id="3" name="Title 2">
            <a:extLst>
              <a:ext uri="{FF2B5EF4-FFF2-40B4-BE49-F238E27FC236}">
                <a16:creationId xmlns:a16="http://schemas.microsoft.com/office/drawing/2014/main" id="{0237A4AD-5902-0B45-1C0F-CD463740134A}"/>
              </a:ext>
            </a:extLst>
          </p:cNvPr>
          <p:cNvSpPr>
            <a:spLocks noGrp="1"/>
          </p:cNvSpPr>
          <p:nvPr>
            <p:ph type="title"/>
          </p:nvPr>
        </p:nvSpPr>
        <p:spPr/>
        <p:txBody>
          <a:bodyPr/>
          <a:lstStyle/>
          <a:p>
            <a:r>
              <a:rPr lang="en-US"/>
              <a:t>Multiple choice </a:t>
            </a:r>
            <a:r>
              <a:rPr lang="en-US">
                <a:solidFill>
                  <a:schemeClr val="bg1"/>
                </a:solidFill>
              </a:rPr>
              <a:t>(1)</a:t>
            </a:r>
          </a:p>
        </p:txBody>
      </p:sp>
      <p:sp>
        <p:nvSpPr>
          <p:cNvPr id="18" name="Text Placeholder 17">
            <a:extLst>
              <a:ext uri="{FF2B5EF4-FFF2-40B4-BE49-F238E27FC236}">
                <a16:creationId xmlns:a16="http://schemas.microsoft.com/office/drawing/2014/main" id="{56364F73-E229-E283-75C8-9CCFC763AB34}"/>
              </a:ext>
            </a:extLst>
          </p:cNvPr>
          <p:cNvSpPr>
            <a:spLocks noGrp="1"/>
          </p:cNvSpPr>
          <p:nvPr>
            <p:ph type="body" sz="quarter" idx="24"/>
          </p:nvPr>
        </p:nvSpPr>
        <p:spPr>
          <a:xfrm>
            <a:off x="360000" y="1032209"/>
            <a:ext cx="11249133" cy="1399194"/>
          </a:xfrm>
        </p:spPr>
        <p:txBody>
          <a:bodyPr vert="horz" lIns="0" tIns="0" rIns="0" bIns="0" rtlCol="0" anchor="t">
            <a:noAutofit/>
          </a:bodyPr>
          <a:lstStyle/>
          <a:p>
            <a:pPr algn="ctr"/>
            <a:r>
              <a:rPr lang="en-US" sz="4400"/>
              <a:t>I am a </a:t>
            </a:r>
            <a:r>
              <a:rPr lang="en-US" sz="4400" b="1"/>
              <a:t>number</a:t>
            </a:r>
            <a:r>
              <a:rPr lang="en-US" sz="4400"/>
              <a:t> with </a:t>
            </a:r>
            <a:r>
              <a:rPr lang="en-US" sz="4400" b="1"/>
              <a:t>43 hundreds </a:t>
            </a:r>
            <a:r>
              <a:rPr lang="en-US" sz="4400"/>
              <a:t>and </a:t>
            </a:r>
            <a:r>
              <a:rPr lang="en-US" sz="4400" b="1"/>
              <a:t>3 ones</a:t>
            </a:r>
            <a:r>
              <a:rPr lang="en-US" sz="4400"/>
              <a:t>. </a:t>
            </a:r>
            <a:r>
              <a:rPr lang="en-US" sz="4400" b="1"/>
              <a:t>Which</a:t>
            </a:r>
            <a:r>
              <a:rPr lang="en-US" sz="4400"/>
              <a:t> number am </a:t>
            </a:r>
            <a:r>
              <a:rPr lang="en-US" sz="4400" b="1"/>
              <a:t>I</a:t>
            </a:r>
            <a:r>
              <a:rPr lang="en-US" sz="4400"/>
              <a:t>?</a:t>
            </a:r>
          </a:p>
        </p:txBody>
      </p:sp>
      <p:graphicFrame>
        <p:nvGraphicFramePr>
          <p:cNvPr id="7" name="Table 6">
            <a:extLst>
              <a:ext uri="{FF2B5EF4-FFF2-40B4-BE49-F238E27FC236}">
                <a16:creationId xmlns:a16="http://schemas.microsoft.com/office/drawing/2014/main" id="{D0D37505-C50A-E6B5-3A37-A9BF025A532A}"/>
              </a:ext>
            </a:extLst>
          </p:cNvPr>
          <p:cNvGraphicFramePr>
            <a:graphicFrameLocks noGrp="1"/>
          </p:cNvGraphicFramePr>
          <p:nvPr>
            <p:extLst>
              <p:ext uri="{D42A27DB-BD31-4B8C-83A1-F6EECF244321}">
                <p14:modId xmlns:p14="http://schemas.microsoft.com/office/powerpoint/2010/main" val="3972645244"/>
              </p:ext>
            </p:extLst>
          </p:nvPr>
        </p:nvGraphicFramePr>
        <p:xfrm>
          <a:off x="572708" y="4426598"/>
          <a:ext cx="10551292" cy="1524000"/>
        </p:xfrm>
        <a:graphic>
          <a:graphicData uri="http://schemas.openxmlformats.org/drawingml/2006/table">
            <a:tbl>
              <a:tblPr firstRow="1" bandRow="1">
                <a:tableStyleId>{5A111915-BE36-4E01-A7E5-04B1672EAD32}</a:tableStyleId>
              </a:tblPr>
              <a:tblGrid>
                <a:gridCol w="2637823">
                  <a:extLst>
                    <a:ext uri="{9D8B030D-6E8A-4147-A177-3AD203B41FA5}">
                      <a16:colId xmlns:a16="http://schemas.microsoft.com/office/drawing/2014/main" val="1764535638"/>
                    </a:ext>
                  </a:extLst>
                </a:gridCol>
                <a:gridCol w="2637823">
                  <a:extLst>
                    <a:ext uri="{9D8B030D-6E8A-4147-A177-3AD203B41FA5}">
                      <a16:colId xmlns:a16="http://schemas.microsoft.com/office/drawing/2014/main" val="1542929608"/>
                    </a:ext>
                  </a:extLst>
                </a:gridCol>
                <a:gridCol w="2637823">
                  <a:extLst>
                    <a:ext uri="{9D8B030D-6E8A-4147-A177-3AD203B41FA5}">
                      <a16:colId xmlns:a16="http://schemas.microsoft.com/office/drawing/2014/main" val="4128396063"/>
                    </a:ext>
                  </a:extLst>
                </a:gridCol>
                <a:gridCol w="2637823">
                  <a:extLst>
                    <a:ext uri="{9D8B030D-6E8A-4147-A177-3AD203B41FA5}">
                      <a16:colId xmlns:a16="http://schemas.microsoft.com/office/drawing/2014/main" val="684268156"/>
                    </a:ext>
                  </a:extLst>
                </a:gridCol>
              </a:tblGrid>
              <a:tr h="681547">
                <a:tc>
                  <a:txBody>
                    <a:bodyPr/>
                    <a:lstStyle/>
                    <a:p>
                      <a:pPr algn="ctr"/>
                      <a:r>
                        <a:rPr lang="en-US" sz="4800" b="1">
                          <a:solidFill>
                            <a:schemeClr val="tx1"/>
                          </a:solidFill>
                        </a:rPr>
                        <a:t>A</a:t>
                      </a:r>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B</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C</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D</a:t>
                      </a: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r h="681547">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000">
                          <a:latin typeface="+mn-lt"/>
                          <a:cs typeface="Arial"/>
                        </a:rPr>
                        <a:t>4300</a:t>
                      </a:r>
                      <a:endParaRPr lang="en-AU" sz="4000"/>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000">
                          <a:latin typeface="+mn-lt"/>
                          <a:cs typeface="Arial"/>
                        </a:rPr>
                        <a:t>433</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000">
                          <a:latin typeface="+mn-lt"/>
                          <a:cs typeface="Arial"/>
                        </a:rPr>
                        <a:t>4331</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000">
                          <a:latin typeface="+mn-lt"/>
                          <a:cs typeface="Arial"/>
                        </a:rPr>
                        <a:t>4303</a:t>
                      </a: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505300166"/>
                  </a:ext>
                </a:extLst>
              </a:tr>
            </a:tbl>
          </a:graphicData>
        </a:graphic>
      </p:graphicFrame>
      <p:pic>
        <p:nvPicPr>
          <p:cNvPr id="5" name="Picture 4" descr="image of a finger selecting an option for a multiple choice or true and false">
            <a:extLst>
              <a:ext uri="{FF2B5EF4-FFF2-40B4-BE49-F238E27FC236}">
                <a16:creationId xmlns:a16="http://schemas.microsoft.com/office/drawing/2014/main" id="{35EA0110-8963-8FFF-008C-5572AAB946D2}"/>
              </a:ext>
            </a:extLst>
          </p:cNvPr>
          <p:cNvPicPr>
            <a:picLocks noChangeAspect="1"/>
          </p:cNvPicPr>
          <p:nvPr/>
        </p:nvPicPr>
        <p:blipFill>
          <a:blip r:embed="rId3"/>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85618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91311-E2CA-3AC5-05C9-E03DA9A2845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DB77910-F56A-4A66-771A-69EA4515CFC6}"/>
              </a:ext>
            </a:extLst>
          </p:cNvPr>
          <p:cNvSpPr>
            <a:spLocks noGrp="1"/>
          </p:cNvSpPr>
          <p:nvPr>
            <p:ph type="sldNum" sz="quarter" idx="12"/>
          </p:nvPr>
        </p:nvSpPr>
        <p:spPr/>
        <p:txBody>
          <a:bodyPr/>
          <a:lstStyle/>
          <a:p>
            <a:fld id="{10A01DC5-1685-4615-8240-15192985C6A2}" type="slidenum">
              <a:rPr lang="en-AU" smtClean="0"/>
              <a:t>20</a:t>
            </a:fld>
            <a:endParaRPr lang="en-AU"/>
          </a:p>
        </p:txBody>
      </p:sp>
      <p:sp>
        <p:nvSpPr>
          <p:cNvPr id="3" name="Title 2">
            <a:extLst>
              <a:ext uri="{FF2B5EF4-FFF2-40B4-BE49-F238E27FC236}">
                <a16:creationId xmlns:a16="http://schemas.microsoft.com/office/drawing/2014/main" id="{D12184FE-E6F1-A3C6-01CD-68612E2B257D}"/>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a:t>
            </a:r>
          </a:p>
        </p:txBody>
      </p:sp>
      <p:sp>
        <p:nvSpPr>
          <p:cNvPr id="11" name="Picture Placeholder 10">
            <a:extLst>
              <a:ext uri="{FF2B5EF4-FFF2-40B4-BE49-F238E27FC236}">
                <a16:creationId xmlns:a16="http://schemas.microsoft.com/office/drawing/2014/main" id="{615793BF-4D97-0D6A-FB17-D26939AF18A8}"/>
              </a:ext>
            </a:extLst>
          </p:cNvPr>
          <p:cNvSpPr>
            <a:spLocks noGrp="1"/>
          </p:cNvSpPr>
          <p:nvPr>
            <p:ph type="pic" sz="quarter" idx="21"/>
          </p:nvPr>
        </p:nvSpPr>
        <p:spPr>
          <a:xfrm>
            <a:off x="603839" y="2030849"/>
            <a:ext cx="11243037" cy="3056398"/>
          </a:xfrm>
        </p:spPr>
        <p:txBody>
          <a:bodyPr/>
          <a:lstStyle/>
          <a:p>
            <a:pPr algn="ctr"/>
            <a:r>
              <a:rPr lang="en-US" sz="4400" b="1">
                <a:latin typeface="Arial"/>
                <a:cs typeface="Arial"/>
              </a:rPr>
              <a:t>Rewrite</a:t>
            </a:r>
            <a:r>
              <a:rPr lang="en-US" sz="4400">
                <a:latin typeface="Arial"/>
                <a:cs typeface="Arial"/>
              </a:rPr>
              <a:t> 4 563 927 using </a:t>
            </a:r>
            <a:r>
              <a:rPr lang="en-US" sz="4400" b="1">
                <a:latin typeface="Arial"/>
                <a:cs typeface="Arial"/>
              </a:rPr>
              <a:t>standard partitioning </a:t>
            </a:r>
            <a:r>
              <a:rPr lang="en-US" sz="4400">
                <a:latin typeface="Arial"/>
                <a:cs typeface="Arial"/>
              </a:rPr>
              <a:t>and </a:t>
            </a:r>
            <a:r>
              <a:rPr lang="en-US" sz="4400" b="1">
                <a:latin typeface="Arial"/>
                <a:cs typeface="Arial"/>
              </a:rPr>
              <a:t>non-standard partitioning.</a:t>
            </a:r>
            <a:endParaRPr lang="en-US" sz="3600" b="1"/>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0BADCB8F-5A5A-827C-24CB-6A28E30A5102}"/>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3777370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BD7D5-E3D8-3EA4-002E-040D80D173B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2D34442-A9BE-0442-A29E-FA970CD892F8}"/>
              </a:ext>
            </a:extLst>
          </p:cNvPr>
          <p:cNvSpPr>
            <a:spLocks noGrp="1"/>
          </p:cNvSpPr>
          <p:nvPr>
            <p:ph type="sldNum" sz="quarter" idx="12"/>
          </p:nvPr>
        </p:nvSpPr>
        <p:spPr/>
        <p:txBody>
          <a:bodyPr/>
          <a:lstStyle/>
          <a:p>
            <a:fld id="{10A01DC5-1685-4615-8240-15192985C6A2}" type="slidenum">
              <a:rPr lang="en-AU" smtClean="0"/>
              <a:t>21</a:t>
            </a:fld>
            <a:endParaRPr lang="en-AU"/>
          </a:p>
        </p:txBody>
      </p:sp>
      <p:sp>
        <p:nvSpPr>
          <p:cNvPr id="3" name="Title 2">
            <a:extLst>
              <a:ext uri="{FF2B5EF4-FFF2-40B4-BE49-F238E27FC236}">
                <a16:creationId xmlns:a16="http://schemas.microsoft.com/office/drawing/2014/main" id="{2DCC67C6-6231-F53A-D387-99ECE9B2DACA}"/>
              </a:ext>
            </a:extLst>
          </p:cNvPr>
          <p:cNvSpPr>
            <a:spLocks noGrp="1"/>
          </p:cNvSpPr>
          <p:nvPr>
            <p:ph type="title"/>
          </p:nvPr>
        </p:nvSpPr>
        <p:spPr/>
        <p:txBody>
          <a:bodyPr/>
          <a:lstStyle/>
          <a:p>
            <a:r>
              <a:rPr lang="en-US">
                <a:latin typeface="Arial"/>
                <a:cs typeface="Arial"/>
              </a:rPr>
              <a:t>Short response</a:t>
            </a:r>
            <a:r>
              <a:rPr lang="en-US">
                <a:solidFill>
                  <a:schemeClr val="bg1"/>
                </a:solidFill>
                <a:latin typeface="Arial"/>
                <a:cs typeface="Arial"/>
              </a:rPr>
              <a:t> (2)</a:t>
            </a:r>
          </a:p>
        </p:txBody>
      </p:sp>
      <p:pic>
        <p:nvPicPr>
          <p:cNvPr id="4" name="Picture 3" descr="image of a clipboard with a pencil recording short answer responses">
            <a:extLst>
              <a:ext uri="{FF2B5EF4-FFF2-40B4-BE49-F238E27FC236}">
                <a16:creationId xmlns:a16="http://schemas.microsoft.com/office/drawing/2014/main" id="{CE7CF1E4-4432-483B-E4F0-A7EDC0414FD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6" name="TextBox 15">
            <a:extLst>
              <a:ext uri="{FF2B5EF4-FFF2-40B4-BE49-F238E27FC236}">
                <a16:creationId xmlns:a16="http://schemas.microsoft.com/office/drawing/2014/main" id="{78B7461D-7DFC-891F-748A-290C10802EEB}"/>
              </a:ext>
            </a:extLst>
          </p:cNvPr>
          <p:cNvSpPr txBox="1"/>
          <p:nvPr/>
        </p:nvSpPr>
        <p:spPr>
          <a:xfrm>
            <a:off x="762824" y="1275500"/>
            <a:ext cx="10437389" cy="1959429"/>
          </a:xfrm>
          <a:prstGeom prst="rect">
            <a:avLst/>
          </a:prstGeom>
          <a:noFill/>
        </p:spPr>
        <p:txBody>
          <a:bodyPr wrap="square" lIns="0" tIns="0" rIns="0" bIns="0" rtlCol="0">
            <a:noAutofit/>
          </a:bodyPr>
          <a:lstStyle/>
          <a:p>
            <a:pPr algn="ctr">
              <a:lnSpc>
                <a:spcPct val="150000"/>
              </a:lnSpc>
            </a:pPr>
            <a:r>
              <a:rPr lang="en-AU" sz="4400"/>
              <a:t>Draw a </a:t>
            </a:r>
            <a:r>
              <a:rPr lang="en-AU" sz="4400" b="1"/>
              <a:t>0-10 number line </a:t>
            </a:r>
            <a:r>
              <a:rPr lang="en-AU" sz="4400"/>
              <a:t>and </a:t>
            </a:r>
            <a:r>
              <a:rPr lang="en-AU" sz="4400" b="1"/>
              <a:t>record </a:t>
            </a:r>
            <a:r>
              <a:rPr lang="en-AU" sz="4400"/>
              <a:t>the following decimals in order:</a:t>
            </a:r>
          </a:p>
          <a:p>
            <a:pPr marL="571500" indent="-571500" algn="ctr">
              <a:lnSpc>
                <a:spcPct val="150000"/>
              </a:lnSpc>
              <a:buFont typeface="Arial" panose="020B0604020202020204" pitchFamily="34" charset="0"/>
              <a:buChar char="•"/>
            </a:pPr>
            <a:r>
              <a:rPr lang="en-AU" sz="4400"/>
              <a:t>3.5</a:t>
            </a:r>
          </a:p>
          <a:p>
            <a:pPr marL="571500" indent="-571500" algn="ctr">
              <a:lnSpc>
                <a:spcPct val="150000"/>
              </a:lnSpc>
              <a:buFont typeface="Arial" panose="020B0604020202020204" pitchFamily="34" charset="0"/>
              <a:buChar char="•"/>
            </a:pPr>
            <a:r>
              <a:rPr lang="en-AU" sz="4400"/>
              <a:t>5.75</a:t>
            </a:r>
          </a:p>
          <a:p>
            <a:pPr marL="571500" indent="-571500" algn="ctr">
              <a:lnSpc>
                <a:spcPct val="150000"/>
              </a:lnSpc>
              <a:buFont typeface="Arial" panose="020B0604020202020204" pitchFamily="34" charset="0"/>
              <a:buChar char="•"/>
            </a:pPr>
            <a:r>
              <a:rPr lang="en-AU" sz="4400"/>
              <a:t>8.09</a:t>
            </a:r>
            <a:endParaRPr lang="en-AU" sz="4400" b="1"/>
          </a:p>
        </p:txBody>
      </p:sp>
    </p:spTree>
    <p:extLst>
      <p:ext uri="{BB962C8B-B14F-4D97-AF65-F5344CB8AC3E}">
        <p14:creationId xmlns:p14="http://schemas.microsoft.com/office/powerpoint/2010/main" val="1446672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1BD45-44FF-11A5-FE27-5FEEB2BCBA9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05D520E-CA22-0FDB-E276-04CB5533BA58}"/>
              </a:ext>
            </a:extLst>
          </p:cNvPr>
          <p:cNvSpPr>
            <a:spLocks noGrp="1"/>
          </p:cNvSpPr>
          <p:nvPr>
            <p:ph type="sldNum" sz="quarter" idx="12"/>
          </p:nvPr>
        </p:nvSpPr>
        <p:spPr/>
        <p:txBody>
          <a:bodyPr/>
          <a:lstStyle/>
          <a:p>
            <a:fld id="{10A01DC5-1685-4615-8240-15192985C6A2}" type="slidenum">
              <a:rPr lang="en-AU" smtClean="0"/>
              <a:t>22</a:t>
            </a:fld>
            <a:endParaRPr lang="en-AU"/>
          </a:p>
        </p:txBody>
      </p:sp>
      <p:sp>
        <p:nvSpPr>
          <p:cNvPr id="3" name="Title 2">
            <a:extLst>
              <a:ext uri="{FF2B5EF4-FFF2-40B4-BE49-F238E27FC236}">
                <a16:creationId xmlns:a16="http://schemas.microsoft.com/office/drawing/2014/main" id="{3018A579-B085-1F5A-BA99-7348214BE838}"/>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(3)</a:t>
            </a:r>
          </a:p>
        </p:txBody>
      </p:sp>
      <p:sp>
        <p:nvSpPr>
          <p:cNvPr id="11" name="Picture Placeholder 10">
            <a:extLst>
              <a:ext uri="{FF2B5EF4-FFF2-40B4-BE49-F238E27FC236}">
                <a16:creationId xmlns:a16="http://schemas.microsoft.com/office/drawing/2014/main" id="{BA99C24B-2D22-028D-AEA8-8D8B48CB4938}"/>
              </a:ext>
            </a:extLst>
          </p:cNvPr>
          <p:cNvSpPr>
            <a:spLocks noGrp="1"/>
          </p:cNvSpPr>
          <p:nvPr>
            <p:ph type="pic" sz="quarter" idx="21"/>
          </p:nvPr>
        </p:nvSpPr>
        <p:spPr>
          <a:xfrm>
            <a:off x="952500" y="1290185"/>
            <a:ext cx="10048876" cy="4598686"/>
          </a:xfrm>
        </p:spPr>
        <p:txBody>
          <a:bodyPr/>
          <a:lstStyle/>
          <a:p>
            <a:pPr algn="ctr"/>
            <a:r>
              <a:rPr lang="en-US" sz="4400">
                <a:latin typeface="Arial"/>
                <a:cs typeface="Arial"/>
              </a:rPr>
              <a:t>School </a:t>
            </a:r>
            <a:r>
              <a:rPr lang="en-US" sz="4400" b="1">
                <a:latin typeface="Arial"/>
                <a:cs typeface="Arial"/>
              </a:rPr>
              <a:t>finishes</a:t>
            </a:r>
            <a:r>
              <a:rPr lang="en-US" sz="4400">
                <a:latin typeface="Arial"/>
                <a:cs typeface="Arial"/>
              </a:rPr>
              <a:t> at 3:20 pm</a:t>
            </a:r>
          </a:p>
          <a:p>
            <a:pPr algn="ctr"/>
            <a:r>
              <a:rPr lang="en-US" sz="4400">
                <a:latin typeface="Arial"/>
                <a:cs typeface="Arial"/>
              </a:rPr>
              <a:t>It is </a:t>
            </a:r>
            <a:r>
              <a:rPr lang="en-US" sz="4400" b="1">
                <a:latin typeface="Arial"/>
                <a:cs typeface="Arial"/>
              </a:rPr>
              <a:t>now</a:t>
            </a:r>
            <a:r>
              <a:rPr lang="en-US" sz="4400">
                <a:latin typeface="Arial"/>
                <a:cs typeface="Arial"/>
              </a:rPr>
              <a:t> </a:t>
            </a:r>
            <a:r>
              <a:rPr lang="en-US" sz="4400" b="1">
                <a:latin typeface="Arial"/>
                <a:cs typeface="Arial"/>
              </a:rPr>
              <a:t>midday</a:t>
            </a:r>
            <a:r>
              <a:rPr lang="en-US" sz="4400">
                <a:latin typeface="Arial"/>
                <a:cs typeface="Arial"/>
              </a:rPr>
              <a:t>.</a:t>
            </a:r>
          </a:p>
          <a:p>
            <a:pPr algn="ctr"/>
            <a:r>
              <a:rPr lang="en-US" sz="4400">
                <a:latin typeface="Arial"/>
                <a:cs typeface="Arial"/>
              </a:rPr>
              <a:t>How </a:t>
            </a:r>
            <a:r>
              <a:rPr lang="en-US" sz="4400" b="1">
                <a:latin typeface="Arial"/>
                <a:cs typeface="Arial"/>
              </a:rPr>
              <a:t>much longer </a:t>
            </a:r>
            <a:r>
              <a:rPr lang="en-US" sz="4400">
                <a:latin typeface="Arial"/>
                <a:cs typeface="Arial"/>
              </a:rPr>
              <a:t>until school </a:t>
            </a:r>
            <a:r>
              <a:rPr lang="en-US" sz="4400" b="1">
                <a:latin typeface="Arial"/>
                <a:cs typeface="Arial"/>
              </a:rPr>
              <a:t>finishes</a:t>
            </a:r>
            <a:r>
              <a:rPr lang="en-US" sz="4400">
                <a:latin typeface="Arial"/>
                <a:cs typeface="Arial"/>
              </a:rPr>
              <a:t>?</a:t>
            </a:r>
          </a:p>
        </p:txBody>
      </p:sp>
      <p:pic>
        <p:nvPicPr>
          <p:cNvPr id="4" name="Picture 3" descr="image of a clipboard with a pencil recording short answer responses">
            <a:extLst>
              <a:ext uri="{FF2B5EF4-FFF2-40B4-BE49-F238E27FC236}">
                <a16:creationId xmlns:a16="http://schemas.microsoft.com/office/drawing/2014/main" id="{B8D0C62D-183A-CACC-790E-F241DFF5E1EF}"/>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87615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C73F8-9FD6-0ECE-3ECF-73C36B28CAE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C171D71-9E03-59C1-3888-D6A2F0BA0FB7}"/>
              </a:ext>
            </a:extLst>
          </p:cNvPr>
          <p:cNvSpPr>
            <a:spLocks noGrp="1"/>
          </p:cNvSpPr>
          <p:nvPr>
            <p:ph type="sldNum" sz="quarter" idx="12"/>
          </p:nvPr>
        </p:nvSpPr>
        <p:spPr/>
        <p:txBody>
          <a:bodyPr/>
          <a:lstStyle/>
          <a:p>
            <a:fld id="{10A01DC5-1685-4615-8240-15192985C6A2}" type="slidenum">
              <a:rPr lang="en-AU" smtClean="0"/>
              <a:t>23</a:t>
            </a:fld>
            <a:endParaRPr lang="en-AU"/>
          </a:p>
        </p:txBody>
      </p:sp>
      <p:sp>
        <p:nvSpPr>
          <p:cNvPr id="3" name="Title 2">
            <a:extLst>
              <a:ext uri="{FF2B5EF4-FFF2-40B4-BE49-F238E27FC236}">
                <a16:creationId xmlns:a16="http://schemas.microsoft.com/office/drawing/2014/main" id="{8A83EBBF-04B8-9A2C-ED9F-A19E882F3DCE}"/>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a:t>
            </a:r>
          </a:p>
        </p:txBody>
      </p:sp>
      <p:pic>
        <p:nvPicPr>
          <p:cNvPr id="4" name="Picture 3" descr="image of a clipboard with a pencil recording short answer responses">
            <a:extLst>
              <a:ext uri="{FF2B5EF4-FFF2-40B4-BE49-F238E27FC236}">
                <a16:creationId xmlns:a16="http://schemas.microsoft.com/office/drawing/2014/main" id="{684B5940-5140-3FDA-A2C8-AEE3D94BCCE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AC1B0546-8BE8-3C87-2B79-BFED37462519}"/>
              </a:ext>
            </a:extLst>
          </p:cNvPr>
          <p:cNvSpPr txBox="1"/>
          <p:nvPr/>
        </p:nvSpPr>
        <p:spPr>
          <a:xfrm>
            <a:off x="360000" y="1665514"/>
            <a:ext cx="11243038" cy="4310743"/>
          </a:xfrm>
          <a:prstGeom prst="rect">
            <a:avLst/>
          </a:prstGeom>
          <a:noFill/>
        </p:spPr>
        <p:txBody>
          <a:bodyPr wrap="square" lIns="0" tIns="0" rIns="0" bIns="0" rtlCol="0">
            <a:noAutofit/>
          </a:bodyPr>
          <a:lstStyle/>
          <a:p>
            <a:pPr algn="ctr">
              <a:lnSpc>
                <a:spcPct val="150000"/>
              </a:lnSpc>
            </a:pPr>
            <a:r>
              <a:rPr lang="en-AU" sz="4400"/>
              <a:t>Each </a:t>
            </a:r>
            <a:r>
              <a:rPr lang="en-AU" sz="4400" b="1"/>
              <a:t>square</a:t>
            </a:r>
            <a:r>
              <a:rPr lang="en-AU" sz="4400"/>
              <a:t> is 1cm x 1cm</a:t>
            </a:r>
          </a:p>
          <a:p>
            <a:pPr algn="ctr">
              <a:lnSpc>
                <a:spcPct val="150000"/>
              </a:lnSpc>
            </a:pPr>
            <a:r>
              <a:rPr lang="en-AU" sz="4400"/>
              <a:t>What is the </a:t>
            </a:r>
            <a:r>
              <a:rPr lang="en-AU" sz="4400" b="1"/>
              <a:t>area</a:t>
            </a:r>
            <a:r>
              <a:rPr lang="en-AU" sz="4400"/>
              <a:t> of the </a:t>
            </a:r>
            <a:r>
              <a:rPr lang="en-AU" sz="4400" b="1"/>
              <a:t>shape</a:t>
            </a:r>
            <a:r>
              <a:rPr lang="en-AU" sz="4400"/>
              <a:t>?</a:t>
            </a:r>
          </a:p>
        </p:txBody>
      </p:sp>
      <p:graphicFrame>
        <p:nvGraphicFramePr>
          <p:cNvPr id="6" name="Table 5">
            <a:extLst>
              <a:ext uri="{FF2B5EF4-FFF2-40B4-BE49-F238E27FC236}">
                <a16:creationId xmlns:a16="http://schemas.microsoft.com/office/drawing/2014/main" id="{9568782B-D0A2-12E2-620B-E513A0621B9C}"/>
              </a:ext>
            </a:extLst>
          </p:cNvPr>
          <p:cNvGraphicFramePr>
            <a:graphicFrameLocks noGrp="1"/>
          </p:cNvGraphicFramePr>
          <p:nvPr>
            <p:extLst>
              <p:ext uri="{D42A27DB-BD31-4B8C-83A1-F6EECF244321}">
                <p14:modId xmlns:p14="http://schemas.microsoft.com/office/powerpoint/2010/main" val="2755939849"/>
              </p:ext>
            </p:extLst>
          </p:nvPr>
        </p:nvGraphicFramePr>
        <p:xfrm>
          <a:off x="4513943" y="3820885"/>
          <a:ext cx="3240000" cy="2160000"/>
        </p:xfrm>
        <a:graphic>
          <a:graphicData uri="http://schemas.openxmlformats.org/drawingml/2006/table">
            <a:tbl>
              <a:tblPr firstRow="1" bandRow="1"/>
              <a:tblGrid>
                <a:gridCol w="540000">
                  <a:extLst>
                    <a:ext uri="{9D8B030D-6E8A-4147-A177-3AD203B41FA5}">
                      <a16:colId xmlns:a16="http://schemas.microsoft.com/office/drawing/2014/main" val="3440660756"/>
                    </a:ext>
                  </a:extLst>
                </a:gridCol>
                <a:gridCol w="540000">
                  <a:extLst>
                    <a:ext uri="{9D8B030D-6E8A-4147-A177-3AD203B41FA5}">
                      <a16:colId xmlns:a16="http://schemas.microsoft.com/office/drawing/2014/main" val="3336516649"/>
                    </a:ext>
                  </a:extLst>
                </a:gridCol>
                <a:gridCol w="540000">
                  <a:extLst>
                    <a:ext uri="{9D8B030D-6E8A-4147-A177-3AD203B41FA5}">
                      <a16:colId xmlns:a16="http://schemas.microsoft.com/office/drawing/2014/main" val="3353091233"/>
                    </a:ext>
                  </a:extLst>
                </a:gridCol>
                <a:gridCol w="540000">
                  <a:extLst>
                    <a:ext uri="{9D8B030D-6E8A-4147-A177-3AD203B41FA5}">
                      <a16:colId xmlns:a16="http://schemas.microsoft.com/office/drawing/2014/main" val="110503836"/>
                    </a:ext>
                  </a:extLst>
                </a:gridCol>
                <a:gridCol w="540000">
                  <a:extLst>
                    <a:ext uri="{9D8B030D-6E8A-4147-A177-3AD203B41FA5}">
                      <a16:colId xmlns:a16="http://schemas.microsoft.com/office/drawing/2014/main" val="2776114642"/>
                    </a:ext>
                  </a:extLst>
                </a:gridCol>
                <a:gridCol w="540000">
                  <a:extLst>
                    <a:ext uri="{9D8B030D-6E8A-4147-A177-3AD203B41FA5}">
                      <a16:colId xmlns:a16="http://schemas.microsoft.com/office/drawing/2014/main" val="1321113296"/>
                    </a:ext>
                  </a:extLst>
                </a:gridCol>
              </a:tblGrid>
              <a:tr h="540000">
                <a:tc>
                  <a:txBody>
                    <a:bodyPr/>
                    <a:lstStyle/>
                    <a:p>
                      <a:endParaRPr lang="en-AU"/>
                    </a:p>
                  </a:txBody>
                  <a:tcPr>
                    <a:solidFill>
                      <a:srgbClr val="FFFF00"/>
                    </a:solidFill>
                  </a:tcPr>
                </a:tc>
                <a:tc>
                  <a:txBody>
                    <a:bodyPr/>
                    <a:lstStyle/>
                    <a:p>
                      <a:endParaRPr lang="en-AU"/>
                    </a:p>
                  </a:txBody>
                  <a:tcPr>
                    <a:solidFill>
                      <a:srgbClr val="FFFF00"/>
                    </a:solidFill>
                  </a:tcPr>
                </a:tc>
                <a:tc>
                  <a:txBody>
                    <a:bodyPr/>
                    <a:lstStyle/>
                    <a:p>
                      <a:endParaRPr lang="en-AU"/>
                    </a:p>
                  </a:txBody>
                  <a:tcPr>
                    <a:solidFill>
                      <a:srgbClr val="FFFF00"/>
                    </a:solidFill>
                  </a:tcPr>
                </a:tc>
                <a:tc>
                  <a:txBody>
                    <a:bodyPr/>
                    <a:lstStyle/>
                    <a:p>
                      <a:endParaRPr lang="en-AU"/>
                    </a:p>
                  </a:txBody>
                  <a:tcPr>
                    <a:solidFill>
                      <a:srgbClr val="FFFF00"/>
                    </a:solidFill>
                  </a:tcPr>
                </a:tc>
                <a:tc>
                  <a:txBody>
                    <a:bodyPr/>
                    <a:lstStyle/>
                    <a:p>
                      <a:endParaRPr lang="en-AU"/>
                    </a:p>
                  </a:txBody>
                  <a:tcPr>
                    <a:solidFill>
                      <a:srgbClr val="FFFF00"/>
                    </a:solidFill>
                  </a:tcPr>
                </a:tc>
                <a:tc>
                  <a:txBody>
                    <a:bodyPr/>
                    <a:lstStyle/>
                    <a:p>
                      <a:endParaRPr lang="en-AU"/>
                    </a:p>
                  </a:txBody>
                  <a:tcPr>
                    <a:solidFill>
                      <a:srgbClr val="FFFF00"/>
                    </a:solidFill>
                  </a:tcPr>
                </a:tc>
                <a:extLst>
                  <a:ext uri="{0D108BD9-81ED-4DB2-BD59-A6C34878D82A}">
                    <a16:rowId xmlns:a16="http://schemas.microsoft.com/office/drawing/2014/main" val="1852524184"/>
                  </a:ext>
                </a:extLst>
              </a:tr>
              <a:tr h="540000">
                <a:tc>
                  <a:txBody>
                    <a:bodyPr/>
                    <a:lstStyle/>
                    <a:p>
                      <a:endParaRPr lang="en-AU"/>
                    </a:p>
                  </a:txBody>
                  <a:tcPr>
                    <a:solidFill>
                      <a:srgbClr val="FFFF00"/>
                    </a:solidFill>
                  </a:tcPr>
                </a:tc>
                <a:tc>
                  <a:txBody>
                    <a:bodyPr/>
                    <a:lstStyle/>
                    <a:p>
                      <a:endParaRPr lang="en-AU"/>
                    </a:p>
                  </a:txBody>
                  <a:tcPr>
                    <a:solidFill>
                      <a:srgbClr val="FFFF00"/>
                    </a:solidFill>
                  </a:tcPr>
                </a:tc>
                <a:tc>
                  <a:txBody>
                    <a:bodyPr/>
                    <a:lstStyle/>
                    <a:p>
                      <a:endParaRPr lang="en-AU"/>
                    </a:p>
                  </a:txBody>
                  <a:tcPr>
                    <a:solidFill>
                      <a:srgbClr val="FFFF00"/>
                    </a:solidFill>
                  </a:tcPr>
                </a:tc>
                <a:tc>
                  <a:txBody>
                    <a:bodyPr/>
                    <a:lstStyle/>
                    <a:p>
                      <a:endParaRPr lang="en-AU"/>
                    </a:p>
                  </a:txBody>
                  <a:tcPr>
                    <a:solidFill>
                      <a:srgbClr val="FFFF00"/>
                    </a:solidFill>
                  </a:tcPr>
                </a:tc>
                <a:tc>
                  <a:txBody>
                    <a:bodyPr/>
                    <a:lstStyle/>
                    <a:p>
                      <a:endParaRPr lang="en-AU"/>
                    </a:p>
                  </a:txBody>
                  <a:tcPr>
                    <a:solidFill>
                      <a:srgbClr val="FFFF00"/>
                    </a:solidFill>
                  </a:tcPr>
                </a:tc>
                <a:tc>
                  <a:txBody>
                    <a:bodyPr/>
                    <a:lstStyle/>
                    <a:p>
                      <a:endParaRPr lang="en-AU"/>
                    </a:p>
                  </a:txBody>
                  <a:tcPr>
                    <a:solidFill>
                      <a:srgbClr val="FFFF00"/>
                    </a:solidFill>
                  </a:tcPr>
                </a:tc>
                <a:extLst>
                  <a:ext uri="{0D108BD9-81ED-4DB2-BD59-A6C34878D82A}">
                    <a16:rowId xmlns:a16="http://schemas.microsoft.com/office/drawing/2014/main" val="1039065256"/>
                  </a:ext>
                </a:extLst>
              </a:tr>
              <a:tr h="540000">
                <a:tc>
                  <a:txBody>
                    <a:bodyPr/>
                    <a:lstStyle/>
                    <a:p>
                      <a:endParaRPr lang="en-AU"/>
                    </a:p>
                  </a:txBody>
                  <a:tcPr>
                    <a:solidFill>
                      <a:srgbClr val="FFFF00"/>
                    </a:solidFill>
                  </a:tcPr>
                </a:tc>
                <a:tc>
                  <a:txBody>
                    <a:bodyPr/>
                    <a:lstStyle/>
                    <a:p>
                      <a:endParaRPr lang="en-AU"/>
                    </a:p>
                  </a:txBody>
                  <a:tcPr>
                    <a:solidFill>
                      <a:srgbClr val="FFFF00"/>
                    </a:solidFill>
                  </a:tcPr>
                </a:tc>
                <a:tc>
                  <a:txBody>
                    <a:bodyPr/>
                    <a:lstStyle/>
                    <a:p>
                      <a:endParaRPr lang="en-AU"/>
                    </a:p>
                  </a:txBody>
                  <a:tcPr>
                    <a:solidFill>
                      <a:srgbClr val="FFFF00"/>
                    </a:solidFill>
                  </a:tcPr>
                </a:tc>
                <a:tc>
                  <a:txBody>
                    <a:bodyPr/>
                    <a:lstStyle/>
                    <a:p>
                      <a:endParaRPr lang="en-AU"/>
                    </a:p>
                  </a:txBody>
                  <a:tcPr>
                    <a:solidFill>
                      <a:srgbClr val="FFFF00"/>
                    </a:solidFill>
                  </a:tcPr>
                </a:tc>
                <a:tc>
                  <a:txBody>
                    <a:bodyPr/>
                    <a:lstStyle/>
                    <a:p>
                      <a:endParaRPr lang="en-AU"/>
                    </a:p>
                  </a:txBody>
                  <a:tcPr>
                    <a:solidFill>
                      <a:srgbClr val="FFFF00"/>
                    </a:solidFill>
                  </a:tcPr>
                </a:tc>
                <a:tc>
                  <a:txBody>
                    <a:bodyPr/>
                    <a:lstStyle/>
                    <a:p>
                      <a:endParaRPr lang="en-AU"/>
                    </a:p>
                  </a:txBody>
                  <a:tcPr>
                    <a:solidFill>
                      <a:srgbClr val="FFFF00"/>
                    </a:solidFill>
                  </a:tcPr>
                </a:tc>
                <a:extLst>
                  <a:ext uri="{0D108BD9-81ED-4DB2-BD59-A6C34878D82A}">
                    <a16:rowId xmlns:a16="http://schemas.microsoft.com/office/drawing/2014/main" val="3833290656"/>
                  </a:ext>
                </a:extLst>
              </a:tr>
              <a:tr h="540000">
                <a:tc>
                  <a:txBody>
                    <a:bodyPr/>
                    <a:lstStyle/>
                    <a:p>
                      <a:endParaRPr lang="en-AU"/>
                    </a:p>
                  </a:txBody>
                  <a:tcPr>
                    <a:solidFill>
                      <a:srgbClr val="FFFF00"/>
                    </a:solidFill>
                  </a:tcPr>
                </a:tc>
                <a:tc>
                  <a:txBody>
                    <a:bodyPr/>
                    <a:lstStyle/>
                    <a:p>
                      <a:endParaRPr lang="en-AU"/>
                    </a:p>
                  </a:txBody>
                  <a:tcPr>
                    <a:solidFill>
                      <a:srgbClr val="FFFF00"/>
                    </a:solidFill>
                  </a:tcPr>
                </a:tc>
                <a:tc>
                  <a:txBody>
                    <a:bodyPr/>
                    <a:lstStyle/>
                    <a:p>
                      <a:endParaRPr lang="en-AU"/>
                    </a:p>
                  </a:txBody>
                  <a:tcPr>
                    <a:solidFill>
                      <a:srgbClr val="FFFF00"/>
                    </a:solidFill>
                  </a:tcPr>
                </a:tc>
                <a:tc>
                  <a:txBody>
                    <a:bodyPr/>
                    <a:lstStyle/>
                    <a:p>
                      <a:endParaRPr lang="en-AU"/>
                    </a:p>
                  </a:txBody>
                  <a:tcPr>
                    <a:solidFill>
                      <a:srgbClr val="FFFF00"/>
                    </a:solidFill>
                  </a:tcPr>
                </a:tc>
                <a:tc>
                  <a:txBody>
                    <a:bodyPr/>
                    <a:lstStyle/>
                    <a:p>
                      <a:endParaRPr lang="en-AU"/>
                    </a:p>
                  </a:txBody>
                  <a:tcPr>
                    <a:solidFill>
                      <a:srgbClr val="FFFF00"/>
                    </a:solidFill>
                  </a:tcPr>
                </a:tc>
                <a:tc>
                  <a:txBody>
                    <a:bodyPr/>
                    <a:lstStyle/>
                    <a:p>
                      <a:endParaRPr lang="en-AU"/>
                    </a:p>
                  </a:txBody>
                  <a:tcPr>
                    <a:solidFill>
                      <a:srgbClr val="FFFF00"/>
                    </a:solidFill>
                  </a:tcPr>
                </a:tc>
                <a:extLst>
                  <a:ext uri="{0D108BD9-81ED-4DB2-BD59-A6C34878D82A}">
                    <a16:rowId xmlns:a16="http://schemas.microsoft.com/office/drawing/2014/main" val="2536274130"/>
                  </a:ext>
                </a:extLst>
              </a:tr>
            </a:tbl>
          </a:graphicData>
        </a:graphic>
      </p:graphicFrame>
    </p:spTree>
    <p:extLst>
      <p:ext uri="{BB962C8B-B14F-4D97-AF65-F5344CB8AC3E}">
        <p14:creationId xmlns:p14="http://schemas.microsoft.com/office/powerpoint/2010/main" val="4064626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CE83E-162B-B6C8-57BA-E14ADBD2B75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70124D-E74D-F87F-BBEC-902E70862F1C}"/>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24</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 name="Title 2">
            <a:extLst>
              <a:ext uri="{FF2B5EF4-FFF2-40B4-BE49-F238E27FC236}">
                <a16:creationId xmlns:a16="http://schemas.microsoft.com/office/drawing/2014/main" id="{695B5D1B-7C0C-37AE-B03B-351DC5EF1723}"/>
              </a:ext>
            </a:extLst>
          </p:cNvPr>
          <p:cNvSpPr>
            <a:spLocks noGrp="1"/>
          </p:cNvSpPr>
          <p:nvPr>
            <p:ph type="title"/>
          </p:nvPr>
        </p:nvSpPr>
        <p:spPr>
          <a:xfrm>
            <a:off x="354000" y="445988"/>
            <a:ext cx="11484000" cy="545601"/>
          </a:xfrm>
        </p:spPr>
        <p:txBody>
          <a:bodyPr/>
          <a:lstStyle/>
          <a:p>
            <a:r>
              <a:rPr lang="en-AU">
                <a:latin typeface="Arial"/>
                <a:cs typeface="Arial"/>
              </a:rPr>
              <a:t>Activity 3 – decimals on a number line</a:t>
            </a:r>
            <a:endParaRPr lang="en-AU">
              <a:solidFill>
                <a:srgbClr val="000000"/>
              </a:solidFill>
              <a:latin typeface="Arial"/>
              <a:cs typeface="Arial"/>
            </a:endParaRPr>
          </a:p>
          <a:p>
            <a:endParaRPr lang="en-AU">
              <a:latin typeface="Arial"/>
              <a:cs typeface="Arial"/>
            </a:endParaRPr>
          </a:p>
        </p:txBody>
      </p:sp>
      <p:pic>
        <p:nvPicPr>
          <p:cNvPr id="4" name="Picture 3" descr="image of a head with cogs turning inside">
            <a:extLst>
              <a:ext uri="{FF2B5EF4-FFF2-40B4-BE49-F238E27FC236}">
                <a16:creationId xmlns:a16="http://schemas.microsoft.com/office/drawing/2014/main" id="{04FBAE01-76F7-7386-4896-0917BE2654A2}"/>
              </a:ext>
            </a:extLst>
          </p:cNvPr>
          <p:cNvPicPr>
            <a:picLocks noChangeAspect="1"/>
          </p:cNvPicPr>
          <p:nvPr/>
        </p:nvPicPr>
        <p:blipFill>
          <a:blip r:embed="rId3"/>
          <a:stretch>
            <a:fillRect/>
          </a:stretch>
        </p:blipFill>
        <p:spPr>
          <a:xfrm>
            <a:off x="11107003" y="240894"/>
            <a:ext cx="720000" cy="856364"/>
          </a:xfrm>
          <a:prstGeom prst="rect">
            <a:avLst/>
          </a:prstGeom>
        </p:spPr>
      </p:pic>
      <p:sp>
        <p:nvSpPr>
          <p:cNvPr id="7" name="TextBox 6">
            <a:extLst>
              <a:ext uri="{FF2B5EF4-FFF2-40B4-BE49-F238E27FC236}">
                <a16:creationId xmlns:a16="http://schemas.microsoft.com/office/drawing/2014/main" id="{2DB998B9-E615-CB0E-C48E-87A45175F96D}"/>
              </a:ext>
            </a:extLst>
          </p:cNvPr>
          <p:cNvSpPr txBox="1"/>
          <p:nvPr/>
        </p:nvSpPr>
        <p:spPr>
          <a:xfrm>
            <a:off x="978494" y="1391541"/>
            <a:ext cx="10484265" cy="369332"/>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endParaRPr lang="en-US"/>
          </a:p>
        </p:txBody>
      </p:sp>
      <p:pic>
        <p:nvPicPr>
          <p:cNvPr id="8" name="Picture 7" descr="Resource 9 A place value house that goes from hundreds to thousandths.">
            <a:extLst>
              <a:ext uri="{FF2B5EF4-FFF2-40B4-BE49-F238E27FC236}">
                <a16:creationId xmlns:a16="http://schemas.microsoft.com/office/drawing/2014/main" id="{CDDA29A7-D675-CE51-FC23-E7250DB31B3D}"/>
              </a:ext>
            </a:extLst>
          </p:cNvPr>
          <p:cNvPicPr>
            <a:picLocks noChangeAspect="1"/>
          </p:cNvPicPr>
          <p:nvPr/>
        </p:nvPicPr>
        <p:blipFill>
          <a:blip r:embed="rId4"/>
          <a:stretch>
            <a:fillRect/>
          </a:stretch>
        </p:blipFill>
        <p:spPr>
          <a:xfrm>
            <a:off x="2700154" y="3429000"/>
            <a:ext cx="6359176" cy="2888673"/>
          </a:xfrm>
          <a:prstGeom prst="rect">
            <a:avLst/>
          </a:prstGeom>
        </p:spPr>
      </p:pic>
      <p:pic>
        <p:nvPicPr>
          <p:cNvPr id="9" name="Picture 8" descr="Resource 10 A decimal number line from 0-1 with 100 smaller internal markings">
            <a:extLst>
              <a:ext uri="{FF2B5EF4-FFF2-40B4-BE49-F238E27FC236}">
                <a16:creationId xmlns:a16="http://schemas.microsoft.com/office/drawing/2014/main" id="{6FA0250C-AC3D-969A-5A81-CBCFB48154FE}"/>
              </a:ext>
            </a:extLst>
          </p:cNvPr>
          <p:cNvPicPr>
            <a:picLocks noChangeAspect="1"/>
          </p:cNvPicPr>
          <p:nvPr/>
        </p:nvPicPr>
        <p:blipFill>
          <a:blip r:embed="rId5"/>
          <a:stretch>
            <a:fillRect/>
          </a:stretch>
        </p:blipFill>
        <p:spPr>
          <a:xfrm>
            <a:off x="803361" y="1576370"/>
            <a:ext cx="11034639" cy="1721457"/>
          </a:xfrm>
          <a:prstGeom prst="rect">
            <a:avLst/>
          </a:prstGeom>
        </p:spPr>
      </p:pic>
    </p:spTree>
    <p:extLst>
      <p:ext uri="{BB962C8B-B14F-4D97-AF65-F5344CB8AC3E}">
        <p14:creationId xmlns:p14="http://schemas.microsoft.com/office/powerpoint/2010/main" val="4258774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8D470-C119-FE15-B585-7B00E3FC0E6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38549DE-34BC-2932-4069-8C67AECD9A58}"/>
              </a:ext>
            </a:extLst>
          </p:cNvPr>
          <p:cNvSpPr>
            <a:spLocks noGrp="1"/>
          </p:cNvSpPr>
          <p:nvPr>
            <p:ph type="ctrTitle"/>
          </p:nvPr>
        </p:nvSpPr>
        <p:spPr/>
        <p:txBody>
          <a:bodyPr/>
          <a:lstStyle/>
          <a:p>
            <a:r>
              <a:rPr lang="en-AU">
                <a:latin typeface="+mj-lt"/>
                <a:cs typeface="Arial"/>
              </a:rPr>
              <a:t>Review of learning 4</a:t>
            </a:r>
            <a:endParaRPr lang="en-AU">
              <a:latin typeface="+mj-lt"/>
            </a:endParaRPr>
          </a:p>
        </p:txBody>
      </p:sp>
    </p:spTree>
    <p:extLst>
      <p:ext uri="{BB962C8B-B14F-4D97-AF65-F5344CB8AC3E}">
        <p14:creationId xmlns:p14="http://schemas.microsoft.com/office/powerpoint/2010/main" val="2097754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47EEB-F21E-045D-8ADE-B6DF797BBD6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D3A27D-3714-AE5A-F3A7-8938A8312568}"/>
              </a:ext>
            </a:extLst>
          </p:cNvPr>
          <p:cNvSpPr>
            <a:spLocks noGrp="1"/>
          </p:cNvSpPr>
          <p:nvPr>
            <p:ph type="sldNum" sz="quarter" idx="12"/>
          </p:nvPr>
        </p:nvSpPr>
        <p:spPr/>
        <p:txBody>
          <a:bodyPr/>
          <a:lstStyle/>
          <a:p>
            <a:fld id="{10A01DC5-1685-4615-8240-15192985C6A2}" type="slidenum">
              <a:rPr lang="en-AU" smtClean="0"/>
              <a:t>26</a:t>
            </a:fld>
            <a:endParaRPr lang="en-AU"/>
          </a:p>
        </p:txBody>
      </p:sp>
      <p:sp>
        <p:nvSpPr>
          <p:cNvPr id="3" name="Title 2">
            <a:extLst>
              <a:ext uri="{FF2B5EF4-FFF2-40B4-BE49-F238E27FC236}">
                <a16:creationId xmlns:a16="http://schemas.microsoft.com/office/drawing/2014/main" id="{A7D4AB32-9AD3-7208-104F-40FDED38BA06}"/>
              </a:ext>
            </a:extLst>
          </p:cNvPr>
          <p:cNvSpPr>
            <a:spLocks noGrp="1"/>
          </p:cNvSpPr>
          <p:nvPr>
            <p:ph type="title"/>
          </p:nvPr>
        </p:nvSpPr>
        <p:spPr/>
        <p:txBody>
          <a:bodyPr/>
          <a:lstStyle/>
          <a:p>
            <a:r>
              <a:rPr lang="en-US"/>
              <a:t>True or false </a:t>
            </a:r>
            <a:r>
              <a:rPr lang="en-US">
                <a:solidFill>
                  <a:schemeClr val="bg1"/>
                </a:solidFill>
              </a:rPr>
              <a:t>(1)</a:t>
            </a:r>
          </a:p>
        </p:txBody>
      </p:sp>
      <p:sp>
        <p:nvSpPr>
          <p:cNvPr id="7" name="Text Placeholder 6">
            <a:extLst>
              <a:ext uri="{FF2B5EF4-FFF2-40B4-BE49-F238E27FC236}">
                <a16:creationId xmlns:a16="http://schemas.microsoft.com/office/drawing/2014/main" id="{F060180D-91D5-EA06-E103-8B3688B0CE76}"/>
              </a:ext>
            </a:extLst>
          </p:cNvPr>
          <p:cNvSpPr>
            <a:spLocks noGrp="1"/>
          </p:cNvSpPr>
          <p:nvPr>
            <p:ph type="body" sz="quarter" idx="22"/>
          </p:nvPr>
        </p:nvSpPr>
        <p:spPr>
          <a:xfrm>
            <a:off x="474481" y="2005422"/>
            <a:ext cx="11243037" cy="1423578"/>
          </a:xfrm>
        </p:spPr>
        <p:txBody>
          <a:bodyPr vert="horz" lIns="0" tIns="0" rIns="0" bIns="0" rtlCol="0" anchor="t">
            <a:noAutofit/>
          </a:bodyPr>
          <a:lstStyle/>
          <a:p>
            <a:pPr algn="ctr"/>
            <a:r>
              <a:rPr lang="en-US" sz="4400">
                <a:latin typeface="Arial"/>
                <a:cs typeface="Arial"/>
              </a:rPr>
              <a:t>3000 can be </a:t>
            </a:r>
            <a:r>
              <a:rPr lang="en-US" sz="4400" b="1">
                <a:latin typeface="Arial"/>
                <a:cs typeface="Arial"/>
              </a:rPr>
              <a:t>partitioned </a:t>
            </a:r>
            <a:r>
              <a:rPr lang="en-US" sz="4400">
                <a:latin typeface="Arial"/>
                <a:cs typeface="Arial"/>
              </a:rPr>
              <a:t>as 3 thousands, 30 hundreds or 3000 ones.</a:t>
            </a:r>
            <a:endParaRPr lang="en-US" sz="4400"/>
          </a:p>
        </p:txBody>
      </p:sp>
      <p:graphicFrame>
        <p:nvGraphicFramePr>
          <p:cNvPr id="5" name="Table 4">
            <a:extLst>
              <a:ext uri="{FF2B5EF4-FFF2-40B4-BE49-F238E27FC236}">
                <a16:creationId xmlns:a16="http://schemas.microsoft.com/office/drawing/2014/main" id="{DB699691-98F7-EA8F-32F1-C06DC46C20B7}"/>
              </a:ext>
            </a:extLst>
          </p:cNvPr>
          <p:cNvGraphicFramePr>
            <a:graphicFrameLocks noGrp="1"/>
          </p:cNvGraphicFramePr>
          <p:nvPr>
            <p:extLst>
              <p:ext uri="{D42A27DB-BD31-4B8C-83A1-F6EECF244321}">
                <p14:modId xmlns:p14="http://schemas.microsoft.com/office/powerpoint/2010/main" val="2541497064"/>
              </p:ext>
            </p:extLst>
          </p:nvPr>
        </p:nvGraphicFramePr>
        <p:xfrm>
          <a:off x="2442981" y="47841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6" name="Picture 5" descr="image of a finger selecting an option for a multiple choice or true and false">
            <a:extLst>
              <a:ext uri="{FF2B5EF4-FFF2-40B4-BE49-F238E27FC236}">
                <a16:creationId xmlns:a16="http://schemas.microsoft.com/office/drawing/2014/main" id="{4348276A-08AB-CAAE-2AF9-8F7FE9DCE3A5}"/>
              </a:ext>
            </a:extLst>
          </p:cNvPr>
          <p:cNvPicPr>
            <a:picLocks noChangeAspect="1"/>
          </p:cNvPicPr>
          <p:nvPr/>
        </p:nvPicPr>
        <p:blipFill>
          <a:blip r:embed="rId3"/>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3938758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EC9BF-5F7D-214B-1148-F6F0F6CD319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AEC1B69-AE9B-3F77-A4B2-5F8F2302B7B4}"/>
              </a:ext>
            </a:extLst>
          </p:cNvPr>
          <p:cNvSpPr>
            <a:spLocks noGrp="1"/>
          </p:cNvSpPr>
          <p:nvPr>
            <p:ph type="sldNum" sz="quarter" idx="12"/>
          </p:nvPr>
        </p:nvSpPr>
        <p:spPr/>
        <p:txBody>
          <a:bodyPr/>
          <a:lstStyle/>
          <a:p>
            <a:fld id="{10A01DC5-1685-4615-8240-15192985C6A2}" type="slidenum">
              <a:rPr lang="en-AU" smtClean="0"/>
              <a:t>27</a:t>
            </a:fld>
            <a:endParaRPr lang="en-AU"/>
          </a:p>
        </p:txBody>
      </p:sp>
      <p:sp>
        <p:nvSpPr>
          <p:cNvPr id="3" name="Title 2">
            <a:extLst>
              <a:ext uri="{FF2B5EF4-FFF2-40B4-BE49-F238E27FC236}">
                <a16:creationId xmlns:a16="http://schemas.microsoft.com/office/drawing/2014/main" id="{B58B9408-BD93-F840-A268-57E14808F86B}"/>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a:t>
            </a:r>
          </a:p>
        </p:txBody>
      </p:sp>
      <p:sp>
        <p:nvSpPr>
          <p:cNvPr id="11" name="Picture Placeholder 10">
            <a:extLst>
              <a:ext uri="{FF2B5EF4-FFF2-40B4-BE49-F238E27FC236}">
                <a16:creationId xmlns:a16="http://schemas.microsoft.com/office/drawing/2014/main" id="{14C19D03-CFFF-C433-C478-7D603E7E945A}"/>
              </a:ext>
            </a:extLst>
          </p:cNvPr>
          <p:cNvSpPr>
            <a:spLocks noGrp="1"/>
          </p:cNvSpPr>
          <p:nvPr>
            <p:ph type="pic" sz="quarter" idx="21"/>
          </p:nvPr>
        </p:nvSpPr>
        <p:spPr>
          <a:xfrm>
            <a:off x="359999" y="1287137"/>
            <a:ext cx="11243037" cy="4009258"/>
          </a:xfrm>
        </p:spPr>
        <p:txBody>
          <a:bodyPr/>
          <a:lstStyle/>
          <a:p>
            <a:pPr algn="ctr"/>
            <a:r>
              <a:rPr lang="en-US" sz="3600" b="1">
                <a:latin typeface="Arial"/>
                <a:cs typeface="Arial"/>
              </a:rPr>
              <a:t>Record</a:t>
            </a:r>
            <a:r>
              <a:rPr lang="en-US" sz="3600">
                <a:latin typeface="Arial"/>
                <a:cs typeface="Arial"/>
              </a:rPr>
              <a:t> as decimals:</a:t>
            </a:r>
          </a:p>
          <a:p>
            <a:pPr marL="571500" indent="-571500" algn="ctr">
              <a:buFont typeface="Arial" panose="020B0604020202020204" pitchFamily="34" charset="0"/>
              <a:buChar char="•"/>
            </a:pPr>
            <a:r>
              <a:rPr lang="en-US" sz="3600">
                <a:latin typeface="Arial"/>
                <a:cs typeface="Arial"/>
              </a:rPr>
              <a:t>6 tenths</a:t>
            </a:r>
          </a:p>
          <a:p>
            <a:pPr marL="571500" indent="-571500" algn="ctr">
              <a:buFont typeface="Arial" panose="020B0604020202020204" pitchFamily="34" charset="0"/>
              <a:buChar char="•"/>
            </a:pPr>
            <a:r>
              <a:rPr lang="en-US" sz="3600">
                <a:latin typeface="Arial"/>
                <a:cs typeface="Arial"/>
              </a:rPr>
              <a:t>30 hundredths</a:t>
            </a:r>
          </a:p>
          <a:p>
            <a:pPr marL="571500" indent="-571500" algn="ctr">
              <a:buFont typeface="Arial" panose="020B0604020202020204" pitchFamily="34" charset="0"/>
              <a:buChar char="•"/>
            </a:pPr>
            <a:r>
              <a:rPr lang="en-US" sz="3600">
                <a:latin typeface="Arial"/>
                <a:cs typeface="Arial"/>
              </a:rPr>
              <a:t>425 thousandths</a:t>
            </a:r>
            <a:endParaRPr lang="en-US" sz="3600"/>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8630EBD8-CFDA-21D1-0781-2E0CE818F684}"/>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3623419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6932C-EC37-B3ED-6E76-5D6F2C7FF6E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90D75EE-77E1-4439-0A95-55A48CB513CA}"/>
              </a:ext>
            </a:extLst>
          </p:cNvPr>
          <p:cNvSpPr>
            <a:spLocks noGrp="1"/>
          </p:cNvSpPr>
          <p:nvPr>
            <p:ph type="sldNum" sz="quarter" idx="12"/>
          </p:nvPr>
        </p:nvSpPr>
        <p:spPr/>
        <p:txBody>
          <a:bodyPr/>
          <a:lstStyle/>
          <a:p>
            <a:fld id="{10A01DC5-1685-4615-8240-15192985C6A2}" type="slidenum">
              <a:rPr lang="en-AU" smtClean="0"/>
              <a:t>28</a:t>
            </a:fld>
            <a:endParaRPr lang="en-AU"/>
          </a:p>
        </p:txBody>
      </p:sp>
      <p:sp>
        <p:nvSpPr>
          <p:cNvPr id="3" name="Title 2">
            <a:extLst>
              <a:ext uri="{FF2B5EF4-FFF2-40B4-BE49-F238E27FC236}">
                <a16:creationId xmlns:a16="http://schemas.microsoft.com/office/drawing/2014/main" id="{CBB4B7CA-693A-3F18-2EDC-EE94CBCA2F64}"/>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a:t>
            </a:r>
          </a:p>
        </p:txBody>
      </p:sp>
      <p:pic>
        <p:nvPicPr>
          <p:cNvPr id="4" name="Picture 3" descr="image of a clipboard with a pencil recording short answer responses">
            <a:extLst>
              <a:ext uri="{FF2B5EF4-FFF2-40B4-BE49-F238E27FC236}">
                <a16:creationId xmlns:a16="http://schemas.microsoft.com/office/drawing/2014/main" id="{21214CBC-B671-BA4C-E583-4EAEC31F1FE3}"/>
              </a:ext>
            </a:extLst>
          </p:cNvPr>
          <p:cNvPicPr>
            <a:picLocks noChangeAspect="1"/>
          </p:cNvPicPr>
          <p:nvPr/>
        </p:nvPicPr>
        <p:blipFill>
          <a:blip r:embed="rId3"/>
          <a:stretch>
            <a:fillRect/>
          </a:stretch>
        </p:blipFill>
        <p:spPr>
          <a:xfrm>
            <a:off x="11030476" y="268723"/>
            <a:ext cx="915500" cy="915500"/>
          </a:xfrm>
          <a:prstGeom prst="rect">
            <a:avLst/>
          </a:prstGeom>
        </p:spPr>
      </p:pic>
      <p:sp>
        <p:nvSpPr>
          <p:cNvPr id="9" name="TextBox 8">
            <a:extLst>
              <a:ext uri="{FF2B5EF4-FFF2-40B4-BE49-F238E27FC236}">
                <a16:creationId xmlns:a16="http://schemas.microsoft.com/office/drawing/2014/main" id="{CC4805FD-63FF-5879-454F-105920CEF29E}"/>
              </a:ext>
            </a:extLst>
          </p:cNvPr>
          <p:cNvSpPr txBox="1"/>
          <p:nvPr/>
        </p:nvSpPr>
        <p:spPr>
          <a:xfrm rot="16200000">
            <a:off x="-2067236" y="1682850"/>
            <a:ext cx="11939560" cy="2126630"/>
          </a:xfrm>
          <a:prstGeom prst="rect">
            <a:avLst/>
          </a:prstGeom>
          <a:noFill/>
        </p:spPr>
        <p:txBody>
          <a:bodyPr wrap="square" lIns="0" tIns="0" rIns="0" bIns="0" rtlCol="0">
            <a:noAutofit/>
          </a:bodyPr>
          <a:lstStyle/>
          <a:p>
            <a:pPr algn="ctr"/>
            <a:endParaRPr lang="en-AU" sz="4400" b="1"/>
          </a:p>
          <a:p>
            <a:pPr algn="ctr"/>
            <a:endParaRPr lang="en-AU" sz="4400"/>
          </a:p>
          <a:p>
            <a:pPr algn="ctr"/>
            <a:endParaRPr lang="en-AU" sz="1800"/>
          </a:p>
        </p:txBody>
      </p:sp>
      <p:pic>
        <p:nvPicPr>
          <p:cNvPr id="1026" name="Picture 2" descr="A Games Galore Big Sale catalogue. &#10;&#10;The following items are listed for sale: ten-pin bowling $49.50, jumbo pick-up sticks $50.75, giant chess set $279.00, ring toss $25.25, set of 12 hula hoops $102.00, set of 8 mixed balls $80.25, giant checkers $225.00, roundnet $89.50 and outdoor tic-tac-toe $95.00.">
            <a:extLst>
              <a:ext uri="{FF2B5EF4-FFF2-40B4-BE49-F238E27FC236}">
                <a16:creationId xmlns:a16="http://schemas.microsoft.com/office/drawing/2014/main" id="{B3E5C159-7CCC-E496-B386-88B64944B1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6200000">
            <a:off x="1456780" y="-90812"/>
            <a:ext cx="5313777" cy="753133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528A506-27B6-703C-AF2B-2AFD45E53F21}"/>
              </a:ext>
            </a:extLst>
          </p:cNvPr>
          <p:cNvSpPr txBox="1"/>
          <p:nvPr/>
        </p:nvSpPr>
        <p:spPr>
          <a:xfrm>
            <a:off x="8146473" y="1184223"/>
            <a:ext cx="3697527" cy="5187834"/>
          </a:xfrm>
          <a:prstGeom prst="rect">
            <a:avLst/>
          </a:prstGeom>
          <a:noFill/>
        </p:spPr>
        <p:txBody>
          <a:bodyPr wrap="square" lIns="0" tIns="0" rIns="0" bIns="0" rtlCol="0">
            <a:noAutofit/>
          </a:bodyPr>
          <a:lstStyle/>
          <a:p>
            <a:pPr algn="l"/>
            <a:r>
              <a:rPr lang="en-AU" sz="4000"/>
              <a:t>Choose </a:t>
            </a:r>
            <a:r>
              <a:rPr lang="en-AU" sz="4000" b="1"/>
              <a:t>3 items </a:t>
            </a:r>
            <a:r>
              <a:rPr lang="en-AU" sz="4000"/>
              <a:t>to purchase.</a:t>
            </a:r>
          </a:p>
          <a:p>
            <a:pPr algn="l"/>
            <a:endParaRPr lang="en-AU" sz="4000"/>
          </a:p>
          <a:p>
            <a:pPr algn="l"/>
            <a:r>
              <a:rPr lang="en-AU" sz="4000"/>
              <a:t>Show the </a:t>
            </a:r>
            <a:r>
              <a:rPr lang="en-AU" sz="4000" b="1"/>
              <a:t>total cost o</a:t>
            </a:r>
            <a:r>
              <a:rPr lang="en-AU" sz="4000"/>
              <a:t>f your items using an appropriate strategy. </a:t>
            </a:r>
          </a:p>
        </p:txBody>
      </p:sp>
    </p:spTree>
    <p:extLst>
      <p:ext uri="{BB962C8B-B14F-4D97-AF65-F5344CB8AC3E}">
        <p14:creationId xmlns:p14="http://schemas.microsoft.com/office/powerpoint/2010/main" val="2126581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D986D-6D17-4AF1-8968-0D0D4C44B90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A1E5DD1-AEBC-FDC0-6BF2-FB696E3A8062}"/>
              </a:ext>
            </a:extLst>
          </p:cNvPr>
          <p:cNvSpPr>
            <a:spLocks noGrp="1"/>
          </p:cNvSpPr>
          <p:nvPr>
            <p:ph type="sldNum" sz="quarter" idx="12"/>
          </p:nvPr>
        </p:nvSpPr>
        <p:spPr/>
        <p:txBody>
          <a:bodyPr/>
          <a:lstStyle/>
          <a:p>
            <a:fld id="{10A01DC5-1685-4615-8240-15192985C6A2}" type="slidenum">
              <a:rPr lang="en-AU" smtClean="0"/>
              <a:t>29</a:t>
            </a:fld>
            <a:endParaRPr lang="en-AU"/>
          </a:p>
        </p:txBody>
      </p:sp>
      <p:sp>
        <p:nvSpPr>
          <p:cNvPr id="3" name="Title 2">
            <a:extLst>
              <a:ext uri="{FF2B5EF4-FFF2-40B4-BE49-F238E27FC236}">
                <a16:creationId xmlns:a16="http://schemas.microsoft.com/office/drawing/2014/main" id="{1BA11519-040C-7679-15EE-A8789BC06BE3}"/>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(3)</a:t>
            </a:r>
          </a:p>
        </p:txBody>
      </p:sp>
      <p:sp>
        <p:nvSpPr>
          <p:cNvPr id="11" name="Picture Placeholder 10">
            <a:extLst>
              <a:ext uri="{FF2B5EF4-FFF2-40B4-BE49-F238E27FC236}">
                <a16:creationId xmlns:a16="http://schemas.microsoft.com/office/drawing/2014/main" id="{352E0507-6E6B-EB8A-88E2-35DDFC075B74}"/>
              </a:ext>
            </a:extLst>
          </p:cNvPr>
          <p:cNvSpPr>
            <a:spLocks noGrp="1"/>
          </p:cNvSpPr>
          <p:nvPr>
            <p:ph type="pic" sz="quarter" idx="21"/>
          </p:nvPr>
        </p:nvSpPr>
        <p:spPr>
          <a:xfrm>
            <a:off x="359998" y="1275500"/>
            <a:ext cx="11243037" cy="3336814"/>
          </a:xfrm>
        </p:spPr>
        <p:txBody>
          <a:bodyPr/>
          <a:lstStyle/>
          <a:p>
            <a:pPr algn="ctr"/>
            <a:r>
              <a:rPr lang="en-US" sz="4400">
                <a:latin typeface="Arial"/>
                <a:cs typeface="Arial"/>
              </a:rPr>
              <a:t>Draw this </a:t>
            </a:r>
            <a:r>
              <a:rPr lang="en-US" sz="4400" b="1">
                <a:latin typeface="Arial"/>
                <a:cs typeface="Arial"/>
              </a:rPr>
              <a:t>shape</a:t>
            </a:r>
            <a:r>
              <a:rPr lang="en-US" sz="4400">
                <a:latin typeface="Arial"/>
                <a:cs typeface="Arial"/>
              </a:rPr>
              <a:t> and </a:t>
            </a:r>
            <a:r>
              <a:rPr lang="en-US" sz="4400" b="1">
                <a:latin typeface="Arial"/>
                <a:cs typeface="Arial"/>
              </a:rPr>
              <a:t>split</a:t>
            </a:r>
            <a:r>
              <a:rPr lang="en-US" sz="4400">
                <a:latin typeface="Arial"/>
                <a:cs typeface="Arial"/>
              </a:rPr>
              <a:t> it into </a:t>
            </a:r>
            <a:r>
              <a:rPr lang="en-US" sz="4400" b="1">
                <a:latin typeface="Arial"/>
                <a:cs typeface="Arial"/>
              </a:rPr>
              <a:t>3</a:t>
            </a:r>
            <a:r>
              <a:rPr lang="en-US" sz="4400">
                <a:latin typeface="Arial"/>
                <a:cs typeface="Arial"/>
              </a:rPr>
              <a:t> </a:t>
            </a:r>
            <a:r>
              <a:rPr lang="en-US" sz="4400" b="1">
                <a:latin typeface="Arial"/>
                <a:cs typeface="Arial"/>
              </a:rPr>
              <a:t>triangles</a:t>
            </a:r>
            <a:r>
              <a:rPr lang="en-US" sz="4400">
                <a:latin typeface="Arial"/>
                <a:cs typeface="Arial"/>
              </a:rPr>
              <a:t>.</a:t>
            </a:r>
          </a:p>
        </p:txBody>
      </p:sp>
      <p:pic>
        <p:nvPicPr>
          <p:cNvPr id="4" name="Picture 3" descr="image of a clipboard with a pencil recording short answer responses">
            <a:extLst>
              <a:ext uri="{FF2B5EF4-FFF2-40B4-BE49-F238E27FC236}">
                <a16:creationId xmlns:a16="http://schemas.microsoft.com/office/drawing/2014/main" id="{5AE60A7A-7377-46D6-1913-99B349DCED23}"/>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Parallelogram 4" descr="parallelogram">
            <a:extLst>
              <a:ext uri="{FF2B5EF4-FFF2-40B4-BE49-F238E27FC236}">
                <a16:creationId xmlns:a16="http://schemas.microsoft.com/office/drawing/2014/main" id="{EC5051BC-EA59-87F3-BA65-51FCF1F87C66}"/>
              </a:ext>
            </a:extLst>
          </p:cNvPr>
          <p:cNvSpPr/>
          <p:nvPr/>
        </p:nvSpPr>
        <p:spPr>
          <a:xfrm>
            <a:off x="3645078" y="3429000"/>
            <a:ext cx="4672876" cy="2785114"/>
          </a:xfrm>
          <a:prstGeom prst="parallelogram">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344726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65A73-E634-98E9-DB9B-0D0C734E9F8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DAE7550-980B-6F74-1F50-776AFA7A5FAF}"/>
              </a:ext>
            </a:extLst>
          </p:cNvPr>
          <p:cNvSpPr>
            <a:spLocks noGrp="1"/>
          </p:cNvSpPr>
          <p:nvPr>
            <p:ph type="sldNum" sz="quarter" idx="12"/>
          </p:nvPr>
        </p:nvSpPr>
        <p:spPr/>
        <p:txBody>
          <a:bodyPr/>
          <a:lstStyle/>
          <a:p>
            <a:fld id="{10A01DC5-1685-4615-8240-15192985C6A2}" type="slidenum">
              <a:rPr lang="en-AU" smtClean="0"/>
              <a:t>30</a:t>
            </a:fld>
            <a:endParaRPr lang="en-AU"/>
          </a:p>
        </p:txBody>
      </p:sp>
      <p:sp>
        <p:nvSpPr>
          <p:cNvPr id="3" name="Title 2">
            <a:extLst>
              <a:ext uri="{FF2B5EF4-FFF2-40B4-BE49-F238E27FC236}">
                <a16:creationId xmlns:a16="http://schemas.microsoft.com/office/drawing/2014/main" id="{EDF6C1BB-92D8-F3F1-FD83-E71E6EE5426B}"/>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(4)</a:t>
            </a:r>
          </a:p>
        </p:txBody>
      </p:sp>
      <p:sp>
        <p:nvSpPr>
          <p:cNvPr id="11" name="Picture Placeholder 10">
            <a:extLst>
              <a:ext uri="{FF2B5EF4-FFF2-40B4-BE49-F238E27FC236}">
                <a16:creationId xmlns:a16="http://schemas.microsoft.com/office/drawing/2014/main" id="{62E43AA6-EE50-7B61-E74B-D734C2893183}"/>
              </a:ext>
            </a:extLst>
          </p:cNvPr>
          <p:cNvSpPr>
            <a:spLocks noGrp="1"/>
          </p:cNvSpPr>
          <p:nvPr>
            <p:ph type="pic" sz="quarter" idx="21"/>
          </p:nvPr>
        </p:nvSpPr>
        <p:spPr>
          <a:xfrm>
            <a:off x="474480" y="1116943"/>
            <a:ext cx="11243037" cy="3336814"/>
          </a:xfrm>
        </p:spPr>
        <p:txBody>
          <a:bodyPr/>
          <a:lstStyle/>
          <a:p>
            <a:pPr algn="ctr"/>
            <a:r>
              <a:rPr lang="en-US" sz="4400">
                <a:latin typeface="Arial"/>
                <a:cs typeface="Arial"/>
              </a:rPr>
              <a:t>Draw the </a:t>
            </a:r>
            <a:r>
              <a:rPr lang="en-US" sz="4400" b="1">
                <a:latin typeface="Arial"/>
                <a:cs typeface="Arial"/>
              </a:rPr>
              <a:t>net</a:t>
            </a:r>
            <a:r>
              <a:rPr lang="en-US" sz="4400">
                <a:latin typeface="Arial"/>
                <a:cs typeface="Arial"/>
              </a:rPr>
              <a:t> of a </a:t>
            </a:r>
            <a:r>
              <a:rPr lang="en-US" sz="4400" b="1">
                <a:latin typeface="Arial"/>
                <a:cs typeface="Arial"/>
              </a:rPr>
              <a:t>rectangular prism.</a:t>
            </a:r>
            <a:endParaRPr lang="en-US" sz="4400" b="1"/>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67930802-0D15-204B-8B8B-C39671389CDA}"/>
              </a:ext>
            </a:extLst>
          </p:cNvPr>
          <p:cNvPicPr>
            <a:picLocks noChangeAspect="1"/>
          </p:cNvPicPr>
          <p:nvPr/>
        </p:nvPicPr>
        <p:blipFill>
          <a:blip r:embed="rId3"/>
          <a:stretch>
            <a:fillRect/>
          </a:stretch>
        </p:blipFill>
        <p:spPr>
          <a:xfrm>
            <a:off x="11030476" y="268723"/>
            <a:ext cx="915500" cy="915500"/>
          </a:xfrm>
          <a:prstGeom prst="rect">
            <a:avLst/>
          </a:prstGeom>
        </p:spPr>
      </p:pic>
      <mc:AlternateContent xmlns:mc="http://schemas.openxmlformats.org/markup-compatibility/2006">
        <mc:Choice xmlns:am3d="http://schemas.microsoft.com/office/drawing/2017/model3d" Requires="am3d">
          <p:graphicFrame>
            <p:nvGraphicFramePr>
              <p:cNvPr id="5" name="3D Model 4" descr="Domes And Pinacoid Red">
                <a:extLst>
                  <a:ext uri="{FF2B5EF4-FFF2-40B4-BE49-F238E27FC236}">
                    <a16:creationId xmlns:a16="http://schemas.microsoft.com/office/drawing/2014/main" id="{65969A1F-5DF0-9102-76B4-A8A15A7113C0}"/>
                  </a:ext>
                </a:extLst>
              </p:cNvPr>
              <p:cNvGraphicFramePr>
                <a:graphicFrameLocks noChangeAspect="1"/>
              </p:cNvGraphicFramePr>
              <p:nvPr>
                <p:extLst>
                  <p:ext uri="{D42A27DB-BD31-4B8C-83A1-F6EECF244321}">
                    <p14:modId xmlns:p14="http://schemas.microsoft.com/office/powerpoint/2010/main" val="3872643821"/>
                  </p:ext>
                </p:extLst>
              </p:nvPr>
            </p:nvGraphicFramePr>
            <p:xfrm>
              <a:off x="2983803" y="1483795"/>
              <a:ext cx="5995430" cy="4593711"/>
            </p:xfrm>
            <a:graphic>
              <a:graphicData uri="http://schemas.microsoft.com/office/drawing/2017/model3d">
                <am3d:model3d r:embed="rId4">
                  <am3d:spPr>
                    <a:xfrm>
                      <a:off x="0" y="0"/>
                      <a:ext cx="5995430" cy="4593711"/>
                    </a:xfrm>
                    <a:prstGeom prst="rect">
                      <a:avLst/>
                    </a:prstGeom>
                  </am3d:spPr>
                  <am3d:camera>
                    <am3d:pos x="0" y="0" z="61634510"/>
                    <am3d:up dx="0" dy="36000000" dz="0"/>
                    <am3d:lookAt x="0" y="0" z="0"/>
                    <am3d:perspective fov="2700000"/>
                  </am3d:camera>
                  <am3d:trans>
                    <am3d:meterPerModelUnit n="105404" d="1000000"/>
                    <am3d:preTrans dx="-38771" dy="-6202928" dz="0"/>
                    <am3d:scale>
                      <am3d:sx n="1000000" d="1000000"/>
                      <am3d:sy n="1000000" d="1000000"/>
                      <am3d:sz n="1000000" d="1000000"/>
                    </am3d:scale>
                    <am3d:rot ax="1344085" ay="1946904" az="748243"/>
                    <am3d:postTrans dx="0" dy="0" dz="0"/>
                  </am3d:trans>
                  <am3d:raster rName="Office3DRenderer" rVer="16.0.8326">
                    <am3d:blip r:embed="rId5"/>
                  </am3d:raster>
                  <am3d:objViewport viewportSz="6386989"/>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5" name="3D Model 4" descr="Domes And Pinacoid Red">
                <a:extLst>
                  <a:ext uri="{FF2B5EF4-FFF2-40B4-BE49-F238E27FC236}">
                    <a16:creationId xmlns:a16="http://schemas.microsoft.com/office/drawing/2014/main" id="{65969A1F-5DF0-9102-76B4-A8A15A7113C0}"/>
                  </a:ext>
                </a:extLst>
              </p:cNvPr>
              <p:cNvPicPr>
                <a:picLocks noGrp="1" noRot="1" noChangeAspect="1" noMove="1" noResize="1" noEditPoints="1" noAdjustHandles="1" noChangeArrowheads="1" noChangeShapeType="1" noCrop="1"/>
              </p:cNvPicPr>
              <p:nvPr/>
            </p:nvPicPr>
            <p:blipFill>
              <a:blip r:embed="rId5"/>
              <a:stretch>
                <a:fillRect/>
              </a:stretch>
            </p:blipFill>
            <p:spPr>
              <a:xfrm>
                <a:off x="2983803" y="1483795"/>
                <a:ext cx="5995430" cy="4593711"/>
              </a:xfrm>
              <a:prstGeom prst="rect">
                <a:avLst/>
              </a:prstGeom>
            </p:spPr>
          </p:pic>
        </mc:Fallback>
      </mc:AlternateContent>
    </p:spTree>
    <p:extLst>
      <p:ext uri="{BB962C8B-B14F-4D97-AF65-F5344CB8AC3E}">
        <p14:creationId xmlns:p14="http://schemas.microsoft.com/office/powerpoint/2010/main" val="4173883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fld id="{10A01DC5-1685-4615-8240-15192985C6A2}" type="slidenum">
              <a:rPr lang="en-AU" smtClean="0"/>
              <a:t>31</a:t>
            </a:fld>
            <a:endParaRPr lang="en-AU"/>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latin typeface="Arial"/>
                <a:cs typeface="Arial"/>
              </a:rPr>
              <a:t>Activity 4 – ordering decimal numbers</a:t>
            </a:r>
            <a:endParaRPr lang="en-AU">
              <a:solidFill>
                <a:srgbClr val="000000"/>
              </a:solidFill>
              <a:latin typeface="Arial"/>
              <a:cs typeface="Arial"/>
            </a:endParaRPr>
          </a:p>
          <a:p>
            <a:endParaRPr lang="en-AU">
              <a:latin typeface="Arial"/>
              <a:cs typeface="Arial"/>
            </a:endParaRPr>
          </a:p>
        </p:txBody>
      </p:sp>
      <p:pic>
        <p:nvPicPr>
          <p:cNvPr id="37" name="Picture 36" descr="image of a head with cogs turning inside">
            <a:extLst>
              <a:ext uri="{FF2B5EF4-FFF2-40B4-BE49-F238E27FC236}">
                <a16:creationId xmlns:a16="http://schemas.microsoft.com/office/drawing/2014/main" id="{A8A9B36F-AE3F-071C-A58E-9514E08F1D5A}"/>
              </a:ext>
            </a:extLst>
          </p:cNvPr>
          <p:cNvPicPr>
            <a:picLocks noChangeAspect="1"/>
          </p:cNvPicPr>
          <p:nvPr/>
        </p:nvPicPr>
        <p:blipFill>
          <a:blip r:embed="rId3"/>
          <a:stretch>
            <a:fillRect/>
          </a:stretch>
        </p:blipFill>
        <p:spPr>
          <a:xfrm>
            <a:off x="11107003" y="240894"/>
            <a:ext cx="720000" cy="856364"/>
          </a:xfrm>
          <a:prstGeom prst="rect">
            <a:avLst/>
          </a:prstGeom>
        </p:spPr>
      </p:pic>
      <p:sp>
        <p:nvSpPr>
          <p:cNvPr id="35" name="TextBox 34">
            <a:extLst>
              <a:ext uri="{FF2B5EF4-FFF2-40B4-BE49-F238E27FC236}">
                <a16:creationId xmlns:a16="http://schemas.microsoft.com/office/drawing/2014/main" id="{05EFF287-5A28-FD70-8D53-841AB0BD7CB4}"/>
              </a:ext>
            </a:extLst>
          </p:cNvPr>
          <p:cNvSpPr txBox="1"/>
          <p:nvPr/>
        </p:nvSpPr>
        <p:spPr>
          <a:xfrm>
            <a:off x="554967" y="1719532"/>
            <a:ext cx="10866406" cy="203132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AU" sz="4400" b="1"/>
              <a:t>Aim of the game- </a:t>
            </a:r>
            <a:r>
              <a:rPr lang="en-AU" sz="4400"/>
              <a:t>to </a:t>
            </a:r>
            <a:r>
              <a:rPr lang="en-AU" sz="4400" b="1"/>
              <a:t>rearrange</a:t>
            </a:r>
            <a:r>
              <a:rPr lang="en-AU" sz="4400"/>
              <a:t> the sticky notes so the </a:t>
            </a:r>
            <a:r>
              <a:rPr lang="en-AU" sz="4400" b="1"/>
              <a:t>numbers</a:t>
            </a:r>
            <a:r>
              <a:rPr lang="en-AU" sz="4400"/>
              <a:t> are in </a:t>
            </a:r>
            <a:r>
              <a:rPr lang="en-AU" sz="4400" b="1"/>
              <a:t>ascending order</a:t>
            </a:r>
            <a:r>
              <a:rPr lang="en-AU" sz="4400"/>
              <a:t> in the </a:t>
            </a:r>
            <a:r>
              <a:rPr lang="en-AU" sz="4400" b="1"/>
              <a:t>fewest moves</a:t>
            </a:r>
            <a:r>
              <a:rPr lang="en-AU" sz="4400"/>
              <a:t> possible.</a:t>
            </a:r>
            <a:r>
              <a:rPr lang="en-US" sz="4400">
                <a:cs typeface="Arial"/>
              </a:rPr>
              <a:t>​</a:t>
            </a:r>
            <a:endParaRPr lang="en-US" sz="4400"/>
          </a:p>
        </p:txBody>
      </p:sp>
      <p:pic>
        <p:nvPicPr>
          <p:cNvPr id="38" name="Picture 37" descr="4 yellow rectangles displaying 4 different decimal quantities. From left to right 5.481, 3.058, 8.946 and 7.212">
            <a:extLst>
              <a:ext uri="{FF2B5EF4-FFF2-40B4-BE49-F238E27FC236}">
                <a16:creationId xmlns:a16="http://schemas.microsoft.com/office/drawing/2014/main" id="{2FFEFF42-8637-180A-903B-582C9EABFB75}"/>
              </a:ext>
            </a:extLst>
          </p:cNvPr>
          <p:cNvPicPr>
            <a:picLocks noChangeAspect="1"/>
          </p:cNvPicPr>
          <p:nvPr/>
        </p:nvPicPr>
        <p:blipFill>
          <a:blip r:embed="rId4"/>
          <a:stretch>
            <a:fillRect/>
          </a:stretch>
        </p:blipFill>
        <p:spPr>
          <a:xfrm>
            <a:off x="2300288" y="4260371"/>
            <a:ext cx="7591425" cy="2247900"/>
          </a:xfrm>
          <a:prstGeom prst="rect">
            <a:avLst/>
          </a:prstGeom>
          <a:ln>
            <a:noFill/>
          </a:ln>
        </p:spPr>
      </p:pic>
    </p:spTree>
    <p:extLst>
      <p:ext uri="{BB962C8B-B14F-4D97-AF65-F5344CB8AC3E}">
        <p14:creationId xmlns:p14="http://schemas.microsoft.com/office/powerpoint/2010/main" val="4261653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AA317-177A-AB71-ADCD-8AE5EF981A1A}"/>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9A12372-C1A2-E699-0EC6-99DCA1418796}"/>
              </a:ext>
            </a:extLst>
          </p:cNvPr>
          <p:cNvSpPr>
            <a:spLocks noGrp="1"/>
          </p:cNvSpPr>
          <p:nvPr>
            <p:ph type="ctrTitle"/>
          </p:nvPr>
        </p:nvSpPr>
        <p:spPr/>
        <p:txBody>
          <a:bodyPr/>
          <a:lstStyle/>
          <a:p>
            <a:r>
              <a:rPr lang="en-AU">
                <a:latin typeface="+mj-lt"/>
                <a:cs typeface="Arial"/>
              </a:rPr>
              <a:t>Review of learning 5</a:t>
            </a:r>
            <a:endParaRPr lang="en-AU">
              <a:latin typeface="+mj-lt"/>
            </a:endParaRPr>
          </a:p>
        </p:txBody>
      </p:sp>
    </p:spTree>
    <p:extLst>
      <p:ext uri="{BB962C8B-B14F-4D97-AF65-F5344CB8AC3E}">
        <p14:creationId xmlns:p14="http://schemas.microsoft.com/office/powerpoint/2010/main" val="2658045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98F811F-90F9-6EF5-D718-C527F19B166A}"/>
              </a:ext>
            </a:extLst>
          </p:cNvPr>
          <p:cNvSpPr>
            <a:spLocks noGrp="1"/>
          </p:cNvSpPr>
          <p:nvPr>
            <p:ph type="sldNum" sz="quarter" idx="12"/>
          </p:nvPr>
        </p:nvSpPr>
        <p:spPr/>
        <p:txBody>
          <a:bodyPr/>
          <a:lstStyle/>
          <a:p>
            <a:fld id="{10A01DC5-1685-4615-8240-15192985C6A2}" type="slidenum">
              <a:rPr lang="en-AU" smtClean="0"/>
              <a:t>33</a:t>
            </a:fld>
            <a:endParaRPr lang="en-AU"/>
          </a:p>
        </p:txBody>
      </p:sp>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t>Multiple choice </a:t>
            </a:r>
            <a:r>
              <a:rPr lang="en-US">
                <a:solidFill>
                  <a:schemeClr val="bg1"/>
                </a:solidFill>
              </a:rPr>
              <a:t>(1)</a:t>
            </a:r>
          </a:p>
        </p:txBody>
      </p:sp>
      <p:sp>
        <p:nvSpPr>
          <p:cNvPr id="16" name="Picture Placeholder 15">
            <a:extLst>
              <a:ext uri="{FF2B5EF4-FFF2-40B4-BE49-F238E27FC236}">
                <a16:creationId xmlns:a16="http://schemas.microsoft.com/office/drawing/2014/main" id="{63A3BB78-AEDF-9AFC-ED52-CA2DCA61D2C9}"/>
              </a:ext>
              <a:ext uri="{C183D7F6-B498-43B3-948B-1728B52AA6E4}">
                <adec:decorative xmlns:adec="http://schemas.microsoft.com/office/drawing/2017/decorative" val="1"/>
              </a:ext>
            </a:extLst>
          </p:cNvPr>
          <p:cNvSpPr>
            <a:spLocks noGrp="1"/>
          </p:cNvSpPr>
          <p:nvPr>
            <p:ph type="pic" sz="quarter" idx="22"/>
          </p:nvPr>
        </p:nvSpPr>
        <p:spPr>
          <a:xfrm>
            <a:off x="9371920" y="3987103"/>
            <a:ext cx="2226583" cy="1312255"/>
          </a:xfrm>
        </p:spPr>
        <p:txBody>
          <a:bodyPr/>
          <a:lstStyle/>
          <a:p>
            <a:pPr algn="ctr"/>
            <a:r>
              <a:rPr lang="en-AU" sz="3600">
                <a:latin typeface="Arial"/>
                <a:cs typeface="Arial"/>
              </a:rPr>
              <a:t> </a:t>
            </a:r>
            <a:endParaRPr lang="en-AU" sz="3600"/>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a:xfrm>
            <a:off x="355466" y="2283809"/>
            <a:ext cx="11243037" cy="893226"/>
          </a:xfrm>
        </p:spPr>
        <p:txBody>
          <a:bodyPr vert="horz" lIns="0" tIns="0" rIns="0" bIns="0" rtlCol="0" anchor="t">
            <a:noAutofit/>
          </a:bodyPr>
          <a:lstStyle/>
          <a:p>
            <a:pPr algn="ctr"/>
            <a:r>
              <a:rPr lang="en-US" sz="4400" b="1"/>
              <a:t>Subtract</a:t>
            </a:r>
            <a:r>
              <a:rPr lang="en-US" sz="4400"/>
              <a:t> 1010 </a:t>
            </a:r>
            <a:r>
              <a:rPr lang="en-US" sz="4400" b="1"/>
              <a:t>from</a:t>
            </a:r>
            <a:r>
              <a:rPr lang="en-US" sz="4400"/>
              <a:t> 1109.</a:t>
            </a:r>
          </a:p>
          <a:p>
            <a:pPr algn="ctr"/>
            <a:r>
              <a:rPr lang="en-US" sz="4400"/>
              <a:t> </a:t>
            </a:r>
          </a:p>
        </p:txBody>
      </p:sp>
      <p:graphicFrame>
        <p:nvGraphicFramePr>
          <p:cNvPr id="4" name="Table 3">
            <a:extLst>
              <a:ext uri="{FF2B5EF4-FFF2-40B4-BE49-F238E27FC236}">
                <a16:creationId xmlns:a16="http://schemas.microsoft.com/office/drawing/2014/main" id="{35E5AB9F-F464-7892-DE49-02CB519550E6}"/>
              </a:ext>
              <a:ext uri="{C183D7F6-B498-43B3-948B-1728B52AA6E4}">
                <adec:decorative xmlns:adec="http://schemas.microsoft.com/office/drawing/2017/decorative" val="1"/>
              </a:ext>
            </a:extLst>
          </p:cNvPr>
          <p:cNvGraphicFramePr>
            <a:graphicFrameLocks noGrp="1"/>
          </p:cNvGraphicFramePr>
          <p:nvPr>
            <p:extLst>
              <p:ext uri="{D42A27DB-BD31-4B8C-83A1-F6EECF244321}">
                <p14:modId xmlns:p14="http://schemas.microsoft.com/office/powerpoint/2010/main" val="2125052159"/>
              </p:ext>
            </p:extLst>
          </p:nvPr>
        </p:nvGraphicFramePr>
        <p:xfrm>
          <a:off x="360000" y="4204129"/>
          <a:ext cx="11484000" cy="1584960"/>
        </p:xfrm>
        <a:graphic>
          <a:graphicData uri="http://schemas.openxmlformats.org/drawingml/2006/table">
            <a:tbl>
              <a:tblPr firstRow="1" bandRow="1">
                <a:tableStyleId>{5A111915-BE36-4E01-A7E5-04B1672EAD32}</a:tableStyleId>
              </a:tblPr>
              <a:tblGrid>
                <a:gridCol w="2871000">
                  <a:extLst>
                    <a:ext uri="{9D8B030D-6E8A-4147-A177-3AD203B41FA5}">
                      <a16:colId xmlns:a16="http://schemas.microsoft.com/office/drawing/2014/main" val="1764535638"/>
                    </a:ext>
                  </a:extLst>
                </a:gridCol>
                <a:gridCol w="2871000">
                  <a:extLst>
                    <a:ext uri="{9D8B030D-6E8A-4147-A177-3AD203B41FA5}">
                      <a16:colId xmlns:a16="http://schemas.microsoft.com/office/drawing/2014/main" val="1542929608"/>
                    </a:ext>
                  </a:extLst>
                </a:gridCol>
                <a:gridCol w="2871000">
                  <a:extLst>
                    <a:ext uri="{9D8B030D-6E8A-4147-A177-3AD203B41FA5}">
                      <a16:colId xmlns:a16="http://schemas.microsoft.com/office/drawing/2014/main" val="4128396063"/>
                    </a:ext>
                  </a:extLst>
                </a:gridCol>
                <a:gridCol w="2871000">
                  <a:extLst>
                    <a:ext uri="{9D8B030D-6E8A-4147-A177-3AD203B41FA5}">
                      <a16:colId xmlns:a16="http://schemas.microsoft.com/office/drawing/2014/main" val="684268156"/>
                    </a:ext>
                  </a:extLst>
                </a:gridCol>
              </a:tblGrid>
              <a:tr h="681547">
                <a:tc>
                  <a:txBody>
                    <a:bodyPr/>
                    <a:lstStyle/>
                    <a:p>
                      <a:pPr algn="ctr"/>
                      <a:r>
                        <a:rPr lang="en-US" sz="4800" b="1">
                          <a:solidFill>
                            <a:schemeClr val="tx1"/>
                          </a:solidFill>
                        </a:rPr>
                        <a:t>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B</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C</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r h="681547">
                <a:tc>
                  <a:txBody>
                    <a:bodyPr/>
                    <a:lstStyle/>
                    <a:p>
                      <a:pPr algn="ctr"/>
                      <a:r>
                        <a:rPr lang="en-AU" sz="4400"/>
                        <a:t>999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400"/>
                        <a:t>109</a:t>
                      </a:r>
                      <a:endParaRPr lang="en-US" sz="4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400"/>
                        <a:t>99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400">
                          <a:latin typeface="+mn-lt"/>
                          <a:cs typeface="Arial"/>
                        </a:rPr>
                        <a:t>1099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05300166"/>
                  </a:ext>
                </a:extLst>
              </a:tr>
            </a:tbl>
          </a:graphicData>
        </a:graphic>
      </p:graphicFrame>
      <p:pic>
        <p:nvPicPr>
          <p:cNvPr id="5" name="Picture 4" descr="image of a finger selecting an option for a multiple choice or true and false">
            <a:extLst>
              <a:ext uri="{FF2B5EF4-FFF2-40B4-BE49-F238E27FC236}">
                <a16:creationId xmlns:a16="http://schemas.microsoft.com/office/drawing/2014/main" id="{F31D1F19-3C77-CBD3-78E2-B3C67CA06991}"/>
              </a:ext>
            </a:extLst>
          </p:cNvPr>
          <p:cNvPicPr>
            <a:picLocks noChangeAspect="1"/>
          </p:cNvPicPr>
          <p:nvPr/>
        </p:nvPicPr>
        <p:blipFill>
          <a:blip r:embed="rId3"/>
          <a:stretch>
            <a:fillRect/>
          </a:stretch>
        </p:blipFill>
        <p:spPr>
          <a:xfrm>
            <a:off x="10639184" y="43303"/>
            <a:ext cx="1334510" cy="1305812"/>
          </a:xfrm>
          <a:prstGeom prst="rect">
            <a:avLst/>
          </a:prstGeom>
        </p:spPr>
      </p:pic>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D2BD3-C0AF-4708-6300-CAF6418A984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0130AEC-A203-6E6F-E5BE-64487BE37563}"/>
              </a:ext>
            </a:extLst>
          </p:cNvPr>
          <p:cNvSpPr>
            <a:spLocks noGrp="1"/>
          </p:cNvSpPr>
          <p:nvPr>
            <p:ph type="sldNum" sz="quarter" idx="12"/>
          </p:nvPr>
        </p:nvSpPr>
        <p:spPr/>
        <p:txBody>
          <a:bodyPr/>
          <a:lstStyle/>
          <a:p>
            <a:fld id="{10A01DC5-1685-4615-8240-15192985C6A2}" type="slidenum">
              <a:rPr lang="en-AU" smtClean="0"/>
              <a:t>34</a:t>
            </a:fld>
            <a:endParaRPr lang="en-AU"/>
          </a:p>
        </p:txBody>
      </p:sp>
      <p:sp>
        <p:nvSpPr>
          <p:cNvPr id="3" name="Title 2">
            <a:extLst>
              <a:ext uri="{FF2B5EF4-FFF2-40B4-BE49-F238E27FC236}">
                <a16:creationId xmlns:a16="http://schemas.microsoft.com/office/drawing/2014/main" id="{B67F9A0C-D005-60FF-B9A6-94BD6542024F}"/>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a:t>
            </a:r>
          </a:p>
        </p:txBody>
      </p:sp>
      <p:sp>
        <p:nvSpPr>
          <p:cNvPr id="11" name="Picture Placeholder 10">
            <a:extLst>
              <a:ext uri="{FF2B5EF4-FFF2-40B4-BE49-F238E27FC236}">
                <a16:creationId xmlns:a16="http://schemas.microsoft.com/office/drawing/2014/main" id="{E3076825-3639-8154-0BA8-58E1ADFFDA47}"/>
              </a:ext>
            </a:extLst>
          </p:cNvPr>
          <p:cNvSpPr>
            <a:spLocks noGrp="1"/>
          </p:cNvSpPr>
          <p:nvPr>
            <p:ph type="pic" sz="quarter" idx="21"/>
          </p:nvPr>
        </p:nvSpPr>
        <p:spPr>
          <a:xfrm>
            <a:off x="1543049" y="1539872"/>
            <a:ext cx="9105901" cy="3424014"/>
          </a:xfrm>
        </p:spPr>
        <p:txBody>
          <a:bodyPr/>
          <a:lstStyle/>
          <a:p>
            <a:pPr algn="ctr"/>
            <a:r>
              <a:rPr lang="en-US" sz="4400" b="1">
                <a:latin typeface="Arial"/>
                <a:cs typeface="Arial"/>
              </a:rPr>
              <a:t>Partition</a:t>
            </a:r>
            <a:r>
              <a:rPr lang="en-US" sz="4400">
                <a:latin typeface="Arial"/>
                <a:cs typeface="Arial"/>
              </a:rPr>
              <a:t> the following decimal in 2 different ways:</a:t>
            </a:r>
          </a:p>
          <a:p>
            <a:pPr algn="ctr"/>
            <a:r>
              <a:rPr lang="en-US" sz="4400" b="1">
                <a:latin typeface="Arial"/>
                <a:cs typeface="Arial"/>
              </a:rPr>
              <a:t>7.459</a:t>
            </a:r>
          </a:p>
          <a:p>
            <a:pPr algn="ctr"/>
            <a:r>
              <a:rPr lang="en-US" sz="4400" b="1">
                <a:latin typeface="Arial"/>
                <a:cs typeface="Arial"/>
              </a:rPr>
              <a:t>Communicate </a:t>
            </a:r>
            <a:r>
              <a:rPr lang="en-US" sz="4400">
                <a:latin typeface="Arial"/>
                <a:cs typeface="Arial"/>
              </a:rPr>
              <a:t>your </a:t>
            </a:r>
            <a:r>
              <a:rPr lang="en-US" sz="4400" b="1">
                <a:latin typeface="Arial"/>
                <a:cs typeface="Arial"/>
              </a:rPr>
              <a:t>reasoning.</a:t>
            </a:r>
          </a:p>
        </p:txBody>
      </p:sp>
      <p:pic>
        <p:nvPicPr>
          <p:cNvPr id="4" name="Picture 3" descr="image of a clipboard with a pencil recording short answer responses">
            <a:extLst>
              <a:ext uri="{FF2B5EF4-FFF2-40B4-BE49-F238E27FC236}">
                <a16:creationId xmlns:a16="http://schemas.microsoft.com/office/drawing/2014/main" id="{BB099BAB-328B-59D1-278A-FFBF494FA8C0}"/>
              </a:ext>
            </a:extLst>
          </p:cNvPr>
          <p:cNvPicPr>
            <a:picLocks noChangeAspect="1"/>
          </p:cNvPicPr>
          <p:nvPr/>
        </p:nvPicPr>
        <p:blipFill>
          <a:blip r:embed="rId3"/>
          <a:stretch>
            <a:fillRect/>
          </a:stretch>
        </p:blipFill>
        <p:spPr>
          <a:xfrm>
            <a:off x="11124000" y="162000"/>
            <a:ext cx="915500" cy="915500"/>
          </a:xfrm>
          <a:prstGeom prst="rect">
            <a:avLst/>
          </a:prstGeom>
        </p:spPr>
      </p:pic>
    </p:spTree>
    <p:extLst>
      <p:ext uri="{BB962C8B-B14F-4D97-AF65-F5344CB8AC3E}">
        <p14:creationId xmlns:p14="http://schemas.microsoft.com/office/powerpoint/2010/main" val="1672030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E6E53-E70E-33ED-DCAD-828BEDCDBAE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39B456D-C78A-3140-B229-DFD6F1BB8062}"/>
              </a:ext>
            </a:extLst>
          </p:cNvPr>
          <p:cNvSpPr>
            <a:spLocks noGrp="1"/>
          </p:cNvSpPr>
          <p:nvPr>
            <p:ph type="sldNum" sz="quarter" idx="12"/>
          </p:nvPr>
        </p:nvSpPr>
        <p:spPr/>
        <p:txBody>
          <a:bodyPr/>
          <a:lstStyle/>
          <a:p>
            <a:fld id="{10A01DC5-1685-4615-8240-15192985C6A2}" type="slidenum">
              <a:rPr lang="en-AU" smtClean="0"/>
              <a:t>35</a:t>
            </a:fld>
            <a:endParaRPr lang="en-AU"/>
          </a:p>
        </p:txBody>
      </p:sp>
      <p:sp>
        <p:nvSpPr>
          <p:cNvPr id="3" name="Title 2">
            <a:extLst>
              <a:ext uri="{FF2B5EF4-FFF2-40B4-BE49-F238E27FC236}">
                <a16:creationId xmlns:a16="http://schemas.microsoft.com/office/drawing/2014/main" id="{AB72DC29-5A1C-BC19-8EE7-05C82DDB6343}"/>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a:t>
            </a:r>
          </a:p>
        </p:txBody>
      </p:sp>
      <p:pic>
        <p:nvPicPr>
          <p:cNvPr id="4" name="Picture 3" descr="image of a clipboard with a pencil recording short answer responses">
            <a:extLst>
              <a:ext uri="{FF2B5EF4-FFF2-40B4-BE49-F238E27FC236}">
                <a16:creationId xmlns:a16="http://schemas.microsoft.com/office/drawing/2014/main" id="{A4CBA27C-0274-5914-4AD8-A8DEA11A5113}"/>
              </a:ext>
            </a:extLst>
          </p:cNvPr>
          <p:cNvPicPr>
            <a:picLocks noChangeAspect="1"/>
          </p:cNvPicPr>
          <p:nvPr/>
        </p:nvPicPr>
        <p:blipFill>
          <a:blip r:embed="rId3"/>
          <a:stretch>
            <a:fillRect/>
          </a:stretch>
        </p:blipFill>
        <p:spPr>
          <a:xfrm>
            <a:off x="11030476" y="268723"/>
            <a:ext cx="915500" cy="915500"/>
          </a:xfrm>
          <a:prstGeom prst="rect">
            <a:avLst/>
          </a:prstGeom>
        </p:spPr>
      </p:pic>
      <p:sp>
        <p:nvSpPr>
          <p:cNvPr id="9" name="TextBox 8">
            <a:extLst>
              <a:ext uri="{FF2B5EF4-FFF2-40B4-BE49-F238E27FC236}">
                <a16:creationId xmlns:a16="http://schemas.microsoft.com/office/drawing/2014/main" id="{BB4FD72B-8C89-6105-6590-DE5F952D5B9E}"/>
              </a:ext>
            </a:extLst>
          </p:cNvPr>
          <p:cNvSpPr txBox="1"/>
          <p:nvPr/>
        </p:nvSpPr>
        <p:spPr>
          <a:xfrm rot="16200000">
            <a:off x="-2067236" y="1682850"/>
            <a:ext cx="11939560" cy="2126630"/>
          </a:xfrm>
          <a:prstGeom prst="rect">
            <a:avLst/>
          </a:prstGeom>
          <a:noFill/>
        </p:spPr>
        <p:txBody>
          <a:bodyPr wrap="square" lIns="0" tIns="0" rIns="0" bIns="0" rtlCol="0">
            <a:noAutofit/>
          </a:bodyPr>
          <a:lstStyle/>
          <a:p>
            <a:pPr algn="ctr"/>
            <a:endParaRPr lang="en-AU" sz="4400" b="1"/>
          </a:p>
          <a:p>
            <a:pPr algn="ctr"/>
            <a:endParaRPr lang="en-AU" sz="4400"/>
          </a:p>
          <a:p>
            <a:pPr algn="ctr"/>
            <a:endParaRPr lang="en-AU" sz="1800"/>
          </a:p>
        </p:txBody>
      </p:sp>
      <p:pic>
        <p:nvPicPr>
          <p:cNvPr id="1026" name="Picture 2" descr="A Games Galore Big Sale catalogue. &#10;&#10;The following items are listed for sale: ten-pin bowling $49.50, jumbo pick-up sticks $50.75, giant chess set $279.00, ring toss $25.25, set of 12 hula hoops $102.00, set of 8 mixed balls $80.25, giant checkers $225.00, roundnet $89.50 and outdoor tic-tac-toe $95.00.">
            <a:extLst>
              <a:ext uri="{FF2B5EF4-FFF2-40B4-BE49-F238E27FC236}">
                <a16:creationId xmlns:a16="http://schemas.microsoft.com/office/drawing/2014/main" id="{C201C906-AE03-9555-C3B9-A9D969E240B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6200000">
            <a:off x="1456780" y="-90812"/>
            <a:ext cx="5313777" cy="753133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E14CE4C-4921-2C42-DA7D-29BAA80FCB27}"/>
              </a:ext>
            </a:extLst>
          </p:cNvPr>
          <p:cNvSpPr txBox="1"/>
          <p:nvPr/>
        </p:nvSpPr>
        <p:spPr>
          <a:xfrm>
            <a:off x="8146473" y="1184223"/>
            <a:ext cx="3697527" cy="5187834"/>
          </a:xfrm>
          <a:prstGeom prst="rect">
            <a:avLst/>
          </a:prstGeom>
          <a:noFill/>
        </p:spPr>
        <p:txBody>
          <a:bodyPr wrap="square" lIns="0" tIns="0" rIns="0" bIns="0" rtlCol="0">
            <a:noAutofit/>
          </a:bodyPr>
          <a:lstStyle/>
          <a:p>
            <a:pPr algn="l"/>
            <a:r>
              <a:rPr lang="en-AU" sz="4000"/>
              <a:t>You have a budget of $375.</a:t>
            </a:r>
            <a:br>
              <a:rPr lang="en-AU" sz="4000"/>
            </a:br>
            <a:br>
              <a:rPr lang="en-AU" sz="4000"/>
            </a:br>
            <a:r>
              <a:rPr lang="en-AU" sz="4000"/>
              <a:t>What items could you </a:t>
            </a:r>
            <a:r>
              <a:rPr lang="en-AU" sz="4000" b="1"/>
              <a:t>buy that total as close to $375 </a:t>
            </a:r>
            <a:r>
              <a:rPr lang="en-AU" sz="4000"/>
              <a:t>as possible? </a:t>
            </a:r>
          </a:p>
          <a:p>
            <a:pPr algn="l"/>
            <a:endParaRPr lang="en-AU" sz="4000"/>
          </a:p>
        </p:txBody>
      </p:sp>
    </p:spTree>
    <p:extLst>
      <p:ext uri="{BB962C8B-B14F-4D97-AF65-F5344CB8AC3E}">
        <p14:creationId xmlns:p14="http://schemas.microsoft.com/office/powerpoint/2010/main" val="395006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E5171-1234-D0DF-8708-3925C62E7E7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15FF86-1890-9ED1-C2D9-01A6B72ED73B}"/>
              </a:ext>
            </a:extLst>
          </p:cNvPr>
          <p:cNvSpPr>
            <a:spLocks noGrp="1"/>
          </p:cNvSpPr>
          <p:nvPr>
            <p:ph type="sldNum" sz="quarter" idx="12"/>
          </p:nvPr>
        </p:nvSpPr>
        <p:spPr/>
        <p:txBody>
          <a:bodyPr/>
          <a:lstStyle/>
          <a:p>
            <a:fld id="{10A01DC5-1685-4615-8240-15192985C6A2}" type="slidenum">
              <a:rPr lang="en-AU" smtClean="0"/>
              <a:t>36</a:t>
            </a:fld>
            <a:endParaRPr lang="en-AU"/>
          </a:p>
        </p:txBody>
      </p:sp>
      <p:sp>
        <p:nvSpPr>
          <p:cNvPr id="3" name="Title 2">
            <a:extLst>
              <a:ext uri="{FF2B5EF4-FFF2-40B4-BE49-F238E27FC236}">
                <a16:creationId xmlns:a16="http://schemas.microsoft.com/office/drawing/2014/main" id="{2C79D7C8-F241-CB18-CA93-BC27C3BD3394}"/>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(3)</a:t>
            </a:r>
          </a:p>
        </p:txBody>
      </p:sp>
      <p:pic>
        <p:nvPicPr>
          <p:cNvPr id="4" name="Picture 3" descr="image of a clipboard with a pencil recording short answer responses">
            <a:extLst>
              <a:ext uri="{FF2B5EF4-FFF2-40B4-BE49-F238E27FC236}">
                <a16:creationId xmlns:a16="http://schemas.microsoft.com/office/drawing/2014/main" id="{7DFD27BE-68F7-D289-2C28-ACC03945378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600BFF4E-00DD-A3C8-6328-B8E903A72FCE}"/>
              </a:ext>
            </a:extLst>
          </p:cNvPr>
          <p:cNvSpPr txBox="1"/>
          <p:nvPr/>
        </p:nvSpPr>
        <p:spPr>
          <a:xfrm>
            <a:off x="637381" y="1477735"/>
            <a:ext cx="10917238" cy="3902529"/>
          </a:xfrm>
          <a:prstGeom prst="rect">
            <a:avLst/>
          </a:prstGeom>
          <a:noFill/>
        </p:spPr>
        <p:txBody>
          <a:bodyPr wrap="square" lIns="0" tIns="0" rIns="0" bIns="0" rtlCol="0">
            <a:noAutofit/>
          </a:bodyPr>
          <a:lstStyle/>
          <a:p>
            <a:pPr algn="ctr">
              <a:lnSpc>
                <a:spcPct val="150000"/>
              </a:lnSpc>
            </a:pPr>
            <a:r>
              <a:rPr lang="en-AU" sz="4400" b="1"/>
              <a:t>Combine</a:t>
            </a:r>
            <a:r>
              <a:rPr lang="en-AU" sz="4400"/>
              <a:t> </a:t>
            </a:r>
            <a:r>
              <a:rPr lang="en-AU" sz="4400" b="1"/>
              <a:t>at least </a:t>
            </a:r>
            <a:r>
              <a:rPr lang="en-AU" sz="4400"/>
              <a:t>2 different </a:t>
            </a:r>
            <a:r>
              <a:rPr lang="en-AU" sz="4400" b="1"/>
              <a:t>2D shapes </a:t>
            </a:r>
            <a:r>
              <a:rPr lang="en-AU" sz="4400"/>
              <a:t>to sketch a </a:t>
            </a:r>
            <a:r>
              <a:rPr lang="en-AU" sz="4400" b="1"/>
              <a:t>trapezium</a:t>
            </a:r>
            <a:r>
              <a:rPr lang="en-AU" sz="4400"/>
              <a:t>.</a:t>
            </a:r>
          </a:p>
        </p:txBody>
      </p:sp>
      <p:sp>
        <p:nvSpPr>
          <p:cNvPr id="6" name="Trapezoid 5" descr="trapezium">
            <a:extLst>
              <a:ext uri="{FF2B5EF4-FFF2-40B4-BE49-F238E27FC236}">
                <a16:creationId xmlns:a16="http://schemas.microsoft.com/office/drawing/2014/main" id="{E3045C53-D71B-D405-C09C-E62DEBC514A0}"/>
              </a:ext>
            </a:extLst>
          </p:cNvPr>
          <p:cNvSpPr/>
          <p:nvPr/>
        </p:nvSpPr>
        <p:spPr>
          <a:xfrm>
            <a:off x="3522798" y="3608614"/>
            <a:ext cx="5146403" cy="2645228"/>
          </a:xfrm>
          <a:prstGeom prst="trapezoid">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79627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11101-C2AA-A4B8-D565-D0C731099D2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891367-9F77-2286-E613-6F1B7282E70A}"/>
              </a:ext>
            </a:extLst>
          </p:cNvPr>
          <p:cNvSpPr>
            <a:spLocks noGrp="1"/>
          </p:cNvSpPr>
          <p:nvPr>
            <p:ph type="sldNum" sz="quarter" idx="12"/>
          </p:nvPr>
        </p:nvSpPr>
        <p:spPr/>
        <p:txBody>
          <a:bodyPr/>
          <a:lstStyle/>
          <a:p>
            <a:fld id="{10A01DC5-1685-4615-8240-15192985C6A2}" type="slidenum">
              <a:rPr lang="en-AU" smtClean="0"/>
              <a:t>37</a:t>
            </a:fld>
            <a:endParaRPr lang="en-AU"/>
          </a:p>
        </p:txBody>
      </p:sp>
      <p:sp>
        <p:nvSpPr>
          <p:cNvPr id="3" name="Title 2">
            <a:extLst>
              <a:ext uri="{FF2B5EF4-FFF2-40B4-BE49-F238E27FC236}">
                <a16:creationId xmlns:a16="http://schemas.microsoft.com/office/drawing/2014/main" id="{D1012728-7DD3-DAD5-02D7-5D1F8430E7A9}"/>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(4)</a:t>
            </a:r>
          </a:p>
        </p:txBody>
      </p:sp>
      <p:sp>
        <p:nvSpPr>
          <p:cNvPr id="11" name="Picture Placeholder 10">
            <a:extLst>
              <a:ext uri="{FF2B5EF4-FFF2-40B4-BE49-F238E27FC236}">
                <a16:creationId xmlns:a16="http://schemas.microsoft.com/office/drawing/2014/main" id="{96CD0A12-6C4E-2A9C-E016-8C9F82325D04}"/>
              </a:ext>
            </a:extLst>
          </p:cNvPr>
          <p:cNvSpPr>
            <a:spLocks noGrp="1"/>
          </p:cNvSpPr>
          <p:nvPr>
            <p:ph type="pic" sz="quarter" idx="21"/>
          </p:nvPr>
        </p:nvSpPr>
        <p:spPr>
          <a:xfrm>
            <a:off x="490580" y="2042943"/>
            <a:ext cx="11210840" cy="1507241"/>
          </a:xfrm>
        </p:spPr>
        <p:txBody>
          <a:bodyPr/>
          <a:lstStyle/>
          <a:p>
            <a:pPr algn="ctr"/>
            <a:r>
              <a:rPr lang="en-US" sz="4400" b="1">
                <a:latin typeface="Arial"/>
                <a:cs typeface="Arial"/>
              </a:rPr>
              <a:t>Draw</a:t>
            </a:r>
            <a:r>
              <a:rPr lang="en-US" sz="4400">
                <a:latin typeface="Arial"/>
                <a:cs typeface="Arial"/>
              </a:rPr>
              <a:t> and </a:t>
            </a:r>
            <a:r>
              <a:rPr lang="en-US" sz="4400" b="1">
                <a:latin typeface="Arial"/>
                <a:cs typeface="Arial"/>
              </a:rPr>
              <a:t>label</a:t>
            </a:r>
            <a:r>
              <a:rPr lang="en-US" sz="4400">
                <a:latin typeface="Arial"/>
                <a:cs typeface="Arial"/>
              </a:rPr>
              <a:t> several </a:t>
            </a:r>
            <a:r>
              <a:rPr lang="en-US" sz="4400" b="1">
                <a:latin typeface="Arial"/>
                <a:cs typeface="Arial"/>
              </a:rPr>
              <a:t>objects</a:t>
            </a:r>
            <a:r>
              <a:rPr lang="en-US" sz="4400">
                <a:latin typeface="Arial"/>
                <a:cs typeface="Arial"/>
              </a:rPr>
              <a:t> that would be </a:t>
            </a:r>
            <a:r>
              <a:rPr lang="en-US" sz="4400" b="1">
                <a:latin typeface="Arial"/>
                <a:cs typeface="Arial"/>
              </a:rPr>
              <a:t>about</a:t>
            </a:r>
            <a:r>
              <a:rPr lang="en-US" sz="4400">
                <a:latin typeface="Arial"/>
                <a:cs typeface="Arial"/>
              </a:rPr>
              <a:t> </a:t>
            </a:r>
            <a:r>
              <a:rPr lang="en-US" sz="4400" b="1">
                <a:latin typeface="Arial"/>
                <a:cs typeface="Arial"/>
              </a:rPr>
              <a:t>1 </a:t>
            </a:r>
            <a:r>
              <a:rPr lang="en-US" sz="4400" b="1" err="1">
                <a:latin typeface="Arial"/>
                <a:cs typeface="Arial"/>
              </a:rPr>
              <a:t>litre</a:t>
            </a:r>
            <a:r>
              <a:rPr lang="en-US" sz="4400" b="1">
                <a:latin typeface="Arial"/>
                <a:cs typeface="Arial"/>
              </a:rPr>
              <a:t> </a:t>
            </a:r>
            <a:r>
              <a:rPr lang="en-US" sz="4400">
                <a:latin typeface="Arial"/>
                <a:cs typeface="Arial"/>
              </a:rPr>
              <a:t>in</a:t>
            </a:r>
            <a:r>
              <a:rPr lang="en-US" sz="4400" b="1">
                <a:latin typeface="Arial"/>
                <a:cs typeface="Arial"/>
              </a:rPr>
              <a:t> capacity.</a:t>
            </a:r>
          </a:p>
        </p:txBody>
      </p:sp>
      <p:pic>
        <p:nvPicPr>
          <p:cNvPr id="4" name="Picture 3" descr="image of a clipboard with a pencil recording short answer responses">
            <a:extLst>
              <a:ext uri="{FF2B5EF4-FFF2-40B4-BE49-F238E27FC236}">
                <a16:creationId xmlns:a16="http://schemas.microsoft.com/office/drawing/2014/main" id="{89697BB4-4FB9-C885-399C-CADFAFEEE3D9}"/>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745713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fld id="{10A01DC5-1685-4615-8240-15192985C6A2}" type="slidenum">
              <a:rPr lang="en-AU" smtClean="0"/>
              <a:t>38</a:t>
            </a:fld>
            <a:endParaRPr lang="en-AU"/>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latin typeface="Arial"/>
                <a:cs typeface="Arial"/>
              </a:rPr>
              <a:t>Activity 5 – partitioning for addition</a:t>
            </a:r>
            <a:endParaRPr lang="en-AU">
              <a:solidFill>
                <a:srgbClr val="000000"/>
              </a:solidFill>
              <a:latin typeface="Arial"/>
              <a:cs typeface="Arial"/>
            </a:endParaRPr>
          </a:p>
          <a:p>
            <a:endParaRPr lang="en-AU">
              <a:latin typeface="Arial"/>
              <a:cs typeface="Arial"/>
            </a:endParaRPr>
          </a:p>
        </p:txBody>
      </p:sp>
      <p:pic>
        <p:nvPicPr>
          <p:cNvPr id="5" name="Picture 4" descr="image of a head with cogs turning inside">
            <a:extLst>
              <a:ext uri="{FF2B5EF4-FFF2-40B4-BE49-F238E27FC236}">
                <a16:creationId xmlns:a16="http://schemas.microsoft.com/office/drawing/2014/main" id="{BCAF02A7-5A84-CB69-0FAE-1E0108277AAA}"/>
              </a:ext>
            </a:extLst>
          </p:cNvPr>
          <p:cNvPicPr>
            <a:picLocks noChangeAspect="1"/>
          </p:cNvPicPr>
          <p:nvPr/>
        </p:nvPicPr>
        <p:blipFill>
          <a:blip r:embed="rId3"/>
          <a:stretch>
            <a:fillRect/>
          </a:stretch>
        </p:blipFill>
        <p:spPr>
          <a:xfrm>
            <a:off x="11107003" y="240894"/>
            <a:ext cx="720000" cy="856364"/>
          </a:xfrm>
          <a:prstGeom prst="rect">
            <a:avLst/>
          </a:prstGeom>
          <a:ln>
            <a:noFill/>
          </a:ln>
        </p:spPr>
      </p:pic>
      <p:pic>
        <p:nvPicPr>
          <p:cNvPr id="8" name="Picture 7" descr="A table with 4 columns labelled tens, ones, number and total.&#10;&#10;In the first row, the tens column has the numeral 4, the number column has 40, and the total column has 40.&#10;In the second row, the ones column has the numeral 8, the number column has 8, and the total column has 48.&#10;In the third row, the tens column has the numeral 1, the number column has 10, and the total column has 58.&#10;The fourth and fifth rows are blank.&#10;">
            <a:extLst>
              <a:ext uri="{FF2B5EF4-FFF2-40B4-BE49-F238E27FC236}">
                <a16:creationId xmlns:a16="http://schemas.microsoft.com/office/drawing/2014/main" id="{892EA736-87B2-1308-203F-9E41BD414216}"/>
              </a:ext>
            </a:extLst>
          </p:cNvPr>
          <p:cNvPicPr>
            <a:picLocks noChangeAspect="1"/>
          </p:cNvPicPr>
          <p:nvPr/>
        </p:nvPicPr>
        <p:blipFill>
          <a:blip r:embed="rId4"/>
          <a:stretch>
            <a:fillRect/>
          </a:stretch>
        </p:blipFill>
        <p:spPr>
          <a:xfrm>
            <a:off x="2199382" y="1531918"/>
            <a:ext cx="9305728" cy="4441370"/>
          </a:xfrm>
          <a:prstGeom prst="rect">
            <a:avLst/>
          </a:prstGeom>
        </p:spPr>
      </p:pic>
      <mc:AlternateContent xmlns:mc="http://schemas.openxmlformats.org/markup-compatibility/2006">
        <mc:Choice xmlns:am3d="http://schemas.microsoft.com/office/drawing/2017/model3d" Requires="am3d">
          <p:graphicFrame>
            <p:nvGraphicFramePr>
              <p:cNvPr id="6" name="3D Model 5" descr="Dice">
                <a:extLst>
                  <a:ext uri="{FF2B5EF4-FFF2-40B4-BE49-F238E27FC236}">
                    <a16:creationId xmlns:a16="http://schemas.microsoft.com/office/drawing/2014/main" id="{B37C7813-4077-5957-9E8A-49CF7E325E27}"/>
                  </a:ext>
                </a:extLst>
              </p:cNvPr>
              <p:cNvGraphicFramePr>
                <a:graphicFrameLocks noChangeAspect="1"/>
              </p:cNvGraphicFramePr>
              <p:nvPr>
                <p:extLst>
                  <p:ext uri="{D42A27DB-BD31-4B8C-83A1-F6EECF244321}">
                    <p14:modId xmlns:p14="http://schemas.microsoft.com/office/powerpoint/2010/main" val="3163347094"/>
                  </p:ext>
                </p:extLst>
              </p:nvPr>
            </p:nvGraphicFramePr>
            <p:xfrm>
              <a:off x="153064" y="2489875"/>
              <a:ext cx="2143635" cy="2394351"/>
            </p:xfrm>
            <a:graphic>
              <a:graphicData uri="http://schemas.microsoft.com/office/drawing/2017/model3d">
                <am3d:model3d r:embed="rId5">
                  <am3d:spPr>
                    <a:xfrm>
                      <a:off x="0" y="0"/>
                      <a:ext cx="2143635" cy="2394351"/>
                    </a:xfrm>
                    <a:prstGeom prst="rect">
                      <a:avLst/>
                    </a:prstGeom>
                  </am3d:spPr>
                  <am3d:camera>
                    <am3d:pos x="0" y="0" z="81469202"/>
                    <am3d:up dx="0" dy="36000000" dz="0"/>
                    <am3d:lookAt x="0" y="0" z="0"/>
                    <am3d:perspective fov="2700000"/>
                  </am3d:camera>
                  <am3d:trans>
                    <am3d:meterPerModelUnit n="83333332" d="1000000"/>
                    <am3d:preTrans dx="0" dy="-169971" dz="0"/>
                    <am3d:scale>
                      <am3d:sx n="1000000" d="1000000"/>
                      <am3d:sy n="1000000" d="1000000"/>
                      <am3d:sz n="1000000" d="1000000"/>
                    </am3d:scale>
                    <am3d:rot ax="3050574" ay="1999351" az="2040217"/>
                    <am3d:postTrans dx="0" dy="0" dz="0"/>
                  </am3d:trans>
                  <am3d:raster rName="Office3DRenderer" rVer="16.0.8326">
                    <am3d:blip r:embed="rId6"/>
                  </am3d:raster>
                  <am3d:objViewport viewportSz="2421769"/>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6" name="3D Model 5" descr="Dice">
                <a:extLst>
                  <a:ext uri="{FF2B5EF4-FFF2-40B4-BE49-F238E27FC236}">
                    <a16:creationId xmlns:a16="http://schemas.microsoft.com/office/drawing/2014/main" id="{B37C7813-4077-5957-9E8A-49CF7E325E27}"/>
                  </a:ext>
                </a:extLst>
              </p:cNvPr>
              <p:cNvPicPr>
                <a:picLocks noGrp="1" noRot="1" noChangeAspect="1" noMove="1" noResize="1" noEditPoints="1" noAdjustHandles="1" noChangeArrowheads="1" noChangeShapeType="1" noCrop="1"/>
              </p:cNvPicPr>
              <p:nvPr/>
            </p:nvPicPr>
            <p:blipFill>
              <a:blip r:embed="rId6"/>
              <a:stretch>
                <a:fillRect/>
              </a:stretch>
            </p:blipFill>
            <p:spPr>
              <a:xfrm>
                <a:off x="153064" y="2489875"/>
                <a:ext cx="2143635" cy="2394351"/>
              </a:xfrm>
              <a:prstGeom prst="rect">
                <a:avLst/>
              </a:prstGeom>
            </p:spPr>
          </p:pic>
        </mc:Fallback>
      </mc:AlternateContent>
    </p:spTree>
    <p:extLst>
      <p:ext uri="{BB962C8B-B14F-4D97-AF65-F5344CB8AC3E}">
        <p14:creationId xmlns:p14="http://schemas.microsoft.com/office/powerpoint/2010/main" val="3968120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F2A2D-5D54-42BE-C8C2-C2A6CB078AB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BD32E23-FB04-E164-BE83-F761F94A317D}"/>
              </a:ext>
            </a:extLst>
          </p:cNvPr>
          <p:cNvSpPr>
            <a:spLocks noGrp="1"/>
          </p:cNvSpPr>
          <p:nvPr>
            <p:ph type="ctrTitle"/>
          </p:nvPr>
        </p:nvSpPr>
        <p:spPr/>
        <p:txBody>
          <a:bodyPr/>
          <a:lstStyle/>
          <a:p>
            <a:r>
              <a:rPr lang="en-AU">
                <a:latin typeface="+mj-lt"/>
                <a:cs typeface="Arial"/>
              </a:rPr>
              <a:t>Review of learning 6</a:t>
            </a:r>
            <a:endParaRPr lang="en-AU">
              <a:latin typeface="+mj-lt"/>
            </a:endParaRPr>
          </a:p>
        </p:txBody>
      </p:sp>
    </p:spTree>
    <p:extLst>
      <p:ext uri="{BB962C8B-B14F-4D97-AF65-F5344CB8AC3E}">
        <p14:creationId xmlns:p14="http://schemas.microsoft.com/office/powerpoint/2010/main" val="3128611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BEE8F-3F48-A6A8-BFF8-F8998C7850C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E3DBF4C-4471-70A6-E61E-AB472EE35E92}"/>
              </a:ext>
            </a:extLst>
          </p:cNvPr>
          <p:cNvSpPr>
            <a:spLocks noGrp="1"/>
          </p:cNvSpPr>
          <p:nvPr>
            <p:ph type="sldNum" sz="quarter" idx="12"/>
          </p:nvPr>
        </p:nvSpPr>
        <p:spPr/>
        <p:txBody>
          <a:bodyPr/>
          <a:lstStyle/>
          <a:p>
            <a:fld id="{10A01DC5-1685-4615-8240-15192985C6A2}" type="slidenum">
              <a:rPr lang="en-AU" smtClean="0"/>
              <a:t>40</a:t>
            </a:fld>
            <a:endParaRPr lang="en-AU"/>
          </a:p>
        </p:txBody>
      </p:sp>
      <p:sp>
        <p:nvSpPr>
          <p:cNvPr id="3" name="Title 2">
            <a:extLst>
              <a:ext uri="{FF2B5EF4-FFF2-40B4-BE49-F238E27FC236}">
                <a16:creationId xmlns:a16="http://schemas.microsoft.com/office/drawing/2014/main" id="{10239AA5-BD2F-916C-A693-02FBD1E332CB}"/>
              </a:ext>
            </a:extLst>
          </p:cNvPr>
          <p:cNvSpPr>
            <a:spLocks noGrp="1"/>
          </p:cNvSpPr>
          <p:nvPr>
            <p:ph type="title"/>
          </p:nvPr>
        </p:nvSpPr>
        <p:spPr/>
        <p:txBody>
          <a:bodyPr/>
          <a:lstStyle/>
          <a:p>
            <a:r>
              <a:rPr lang="en-US"/>
              <a:t>True or false </a:t>
            </a:r>
            <a:r>
              <a:rPr lang="en-US">
                <a:solidFill>
                  <a:schemeClr val="bg1"/>
                </a:solidFill>
              </a:rPr>
              <a:t>(1)</a:t>
            </a:r>
          </a:p>
        </p:txBody>
      </p:sp>
      <p:sp>
        <p:nvSpPr>
          <p:cNvPr id="7" name="Text Placeholder 6">
            <a:extLst>
              <a:ext uri="{FF2B5EF4-FFF2-40B4-BE49-F238E27FC236}">
                <a16:creationId xmlns:a16="http://schemas.microsoft.com/office/drawing/2014/main" id="{4743D993-BC52-886E-0C46-306156440477}"/>
              </a:ext>
            </a:extLst>
          </p:cNvPr>
          <p:cNvSpPr>
            <a:spLocks noGrp="1"/>
          </p:cNvSpPr>
          <p:nvPr>
            <p:ph type="body" sz="quarter" idx="22"/>
          </p:nvPr>
        </p:nvSpPr>
        <p:spPr>
          <a:xfrm>
            <a:off x="388755" y="1753948"/>
            <a:ext cx="11185528" cy="2128068"/>
          </a:xfrm>
        </p:spPr>
        <p:txBody>
          <a:bodyPr vert="horz" lIns="0" tIns="0" rIns="0" bIns="0" rtlCol="0" anchor="t">
            <a:noAutofit/>
          </a:bodyPr>
          <a:lstStyle/>
          <a:p>
            <a:pPr algn="ctr"/>
            <a:r>
              <a:rPr lang="en-US" sz="4400"/>
              <a:t>107 + 574 = 103 + 571</a:t>
            </a:r>
          </a:p>
        </p:txBody>
      </p:sp>
      <p:sp>
        <p:nvSpPr>
          <p:cNvPr id="6" name="Text Placeholder 6">
            <a:extLst>
              <a:ext uri="{FF2B5EF4-FFF2-40B4-BE49-F238E27FC236}">
                <a16:creationId xmlns:a16="http://schemas.microsoft.com/office/drawing/2014/main" id="{0F92E5A7-6B31-AB53-C955-F26938BA825B}"/>
              </a:ext>
            </a:extLst>
          </p:cNvPr>
          <p:cNvSpPr txBox="1">
            <a:spLocks/>
          </p:cNvSpPr>
          <p:nvPr/>
        </p:nvSpPr>
        <p:spPr>
          <a:xfrm>
            <a:off x="470073" y="5098135"/>
            <a:ext cx="11243037" cy="1423578"/>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b="1">
                <a:latin typeface="Arial"/>
                <a:cs typeface="Arial"/>
              </a:rPr>
              <a:t>Communicate</a:t>
            </a:r>
            <a:r>
              <a:rPr lang="en-US" sz="4400">
                <a:latin typeface="Arial"/>
                <a:cs typeface="Arial"/>
              </a:rPr>
              <a:t> your </a:t>
            </a:r>
            <a:r>
              <a:rPr lang="en-US" sz="4400" b="1">
                <a:latin typeface="Arial"/>
                <a:cs typeface="Arial"/>
              </a:rPr>
              <a:t>reasoning. </a:t>
            </a:r>
            <a:endParaRPr lang="en-US" sz="4400" b="1"/>
          </a:p>
        </p:txBody>
      </p:sp>
      <p:graphicFrame>
        <p:nvGraphicFramePr>
          <p:cNvPr id="13" name="Table 12">
            <a:extLst>
              <a:ext uri="{FF2B5EF4-FFF2-40B4-BE49-F238E27FC236}">
                <a16:creationId xmlns:a16="http://schemas.microsoft.com/office/drawing/2014/main" id="{B37F8FD6-1114-0311-68BF-0ED89EC52553}"/>
              </a:ext>
            </a:extLst>
          </p:cNvPr>
          <p:cNvGraphicFramePr>
            <a:graphicFrameLocks noGrp="1"/>
          </p:cNvGraphicFramePr>
          <p:nvPr>
            <p:extLst>
              <p:ext uri="{D42A27DB-BD31-4B8C-83A1-F6EECF244321}">
                <p14:modId xmlns:p14="http://schemas.microsoft.com/office/powerpoint/2010/main" val="2172982458"/>
              </p:ext>
            </p:extLst>
          </p:nvPr>
        </p:nvGraphicFramePr>
        <p:xfrm>
          <a:off x="2442981" y="3882016"/>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5" name="Picture 4" descr="image of a finger selecting an option for a multiple choice or true and false">
            <a:extLst>
              <a:ext uri="{FF2B5EF4-FFF2-40B4-BE49-F238E27FC236}">
                <a16:creationId xmlns:a16="http://schemas.microsoft.com/office/drawing/2014/main" id="{55D61279-F839-6A02-5B10-40DD79748FE7}"/>
              </a:ext>
            </a:extLst>
          </p:cNvPr>
          <p:cNvPicPr>
            <a:picLocks noChangeAspect="1"/>
          </p:cNvPicPr>
          <p:nvPr/>
        </p:nvPicPr>
        <p:blipFill>
          <a:blip r:embed="rId3"/>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462152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6F4A1-EDA2-571F-5B96-FDF8BD0C7E5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A98F8AC-46DC-BE09-C063-0F99C404F8CD}"/>
              </a:ext>
            </a:extLst>
          </p:cNvPr>
          <p:cNvSpPr>
            <a:spLocks noGrp="1"/>
          </p:cNvSpPr>
          <p:nvPr>
            <p:ph type="sldNum" sz="quarter" idx="12"/>
          </p:nvPr>
        </p:nvSpPr>
        <p:spPr/>
        <p:txBody>
          <a:bodyPr/>
          <a:lstStyle/>
          <a:p>
            <a:fld id="{10A01DC5-1685-4615-8240-15192985C6A2}" type="slidenum">
              <a:rPr lang="en-AU" smtClean="0"/>
              <a:t>41</a:t>
            </a:fld>
            <a:endParaRPr lang="en-AU"/>
          </a:p>
        </p:txBody>
      </p:sp>
      <p:sp>
        <p:nvSpPr>
          <p:cNvPr id="3" name="Title 2">
            <a:extLst>
              <a:ext uri="{FF2B5EF4-FFF2-40B4-BE49-F238E27FC236}">
                <a16:creationId xmlns:a16="http://schemas.microsoft.com/office/drawing/2014/main" id="{6E88FA31-7274-55BC-6613-F0B8D3114635}"/>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a:t>
            </a:r>
          </a:p>
        </p:txBody>
      </p:sp>
      <p:sp>
        <p:nvSpPr>
          <p:cNvPr id="11" name="Picture Placeholder 10">
            <a:extLst>
              <a:ext uri="{FF2B5EF4-FFF2-40B4-BE49-F238E27FC236}">
                <a16:creationId xmlns:a16="http://schemas.microsoft.com/office/drawing/2014/main" id="{6AEDAC5B-7D79-7FBF-9542-5724B621995A}"/>
              </a:ext>
            </a:extLst>
          </p:cNvPr>
          <p:cNvSpPr>
            <a:spLocks noGrp="1"/>
          </p:cNvSpPr>
          <p:nvPr>
            <p:ph type="pic" sz="quarter" idx="21"/>
          </p:nvPr>
        </p:nvSpPr>
        <p:spPr>
          <a:xfrm>
            <a:off x="360000" y="1556533"/>
            <a:ext cx="11189376" cy="4168875"/>
          </a:xfrm>
        </p:spPr>
        <p:txBody>
          <a:bodyPr/>
          <a:lstStyle/>
          <a:p>
            <a:pPr algn="ctr"/>
            <a:r>
              <a:rPr lang="en-US" sz="4400" b="1">
                <a:latin typeface="Arial"/>
                <a:cs typeface="Arial"/>
              </a:rPr>
              <a:t>Record</a:t>
            </a:r>
            <a:r>
              <a:rPr lang="en-US" sz="4400">
                <a:latin typeface="Arial"/>
                <a:cs typeface="Arial"/>
              </a:rPr>
              <a:t> all the </a:t>
            </a:r>
            <a:r>
              <a:rPr lang="en-US" sz="4400" b="1">
                <a:latin typeface="Arial"/>
                <a:cs typeface="Arial"/>
              </a:rPr>
              <a:t>factors</a:t>
            </a:r>
            <a:r>
              <a:rPr lang="en-US" sz="4400">
                <a:latin typeface="Arial"/>
                <a:cs typeface="Arial"/>
              </a:rPr>
              <a:t> of 54?</a:t>
            </a:r>
          </a:p>
          <a:p>
            <a:pPr algn="ctr"/>
            <a:endParaRPr lang="en-US" sz="4400">
              <a:latin typeface="Arial"/>
              <a:cs typeface="Arial"/>
            </a:endParaRPr>
          </a:p>
          <a:p>
            <a:pPr algn="ctr"/>
            <a:r>
              <a:rPr lang="en-US" sz="4400">
                <a:solidFill>
                  <a:schemeClr val="accent2"/>
                </a:solidFill>
                <a:latin typeface="Arial"/>
                <a:cs typeface="Arial"/>
              </a:rPr>
              <a:t>Remember: a factor is a number that divides another number without a remainder.</a:t>
            </a:r>
          </a:p>
        </p:txBody>
      </p:sp>
      <p:pic>
        <p:nvPicPr>
          <p:cNvPr id="4" name="Picture 3" descr="image of a clipboard with a pencil recording short answer responses">
            <a:extLst>
              <a:ext uri="{FF2B5EF4-FFF2-40B4-BE49-F238E27FC236}">
                <a16:creationId xmlns:a16="http://schemas.microsoft.com/office/drawing/2014/main" id="{FFC89052-219D-2803-0123-F3BA24E9962C}"/>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3689152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E5182-257F-1678-1C50-B8D0403D963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DDCFCF7-04CF-C461-ECB1-3FC634BF5BAD}"/>
              </a:ext>
            </a:extLst>
          </p:cNvPr>
          <p:cNvSpPr>
            <a:spLocks noGrp="1"/>
          </p:cNvSpPr>
          <p:nvPr>
            <p:ph type="sldNum" sz="quarter" idx="12"/>
          </p:nvPr>
        </p:nvSpPr>
        <p:spPr/>
        <p:txBody>
          <a:bodyPr/>
          <a:lstStyle/>
          <a:p>
            <a:fld id="{10A01DC5-1685-4615-8240-15192985C6A2}" type="slidenum">
              <a:rPr lang="en-AU" smtClean="0"/>
              <a:t>42</a:t>
            </a:fld>
            <a:endParaRPr lang="en-AU"/>
          </a:p>
        </p:txBody>
      </p:sp>
      <p:sp>
        <p:nvSpPr>
          <p:cNvPr id="3" name="Title 2">
            <a:extLst>
              <a:ext uri="{FF2B5EF4-FFF2-40B4-BE49-F238E27FC236}">
                <a16:creationId xmlns:a16="http://schemas.microsoft.com/office/drawing/2014/main" id="{6D1DC104-86CB-4221-6644-89860C0DACBE}"/>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a:t>
            </a:r>
          </a:p>
        </p:txBody>
      </p:sp>
      <p:sp>
        <p:nvSpPr>
          <p:cNvPr id="11" name="Picture Placeholder 10">
            <a:extLst>
              <a:ext uri="{FF2B5EF4-FFF2-40B4-BE49-F238E27FC236}">
                <a16:creationId xmlns:a16="http://schemas.microsoft.com/office/drawing/2014/main" id="{80B7212B-2801-5D27-0B76-52A657270CAF}"/>
              </a:ext>
              <a:ext uri="{C183D7F6-B498-43B3-948B-1728B52AA6E4}">
                <adec:decorative xmlns:adec="http://schemas.microsoft.com/office/drawing/2017/decorative" val="1"/>
              </a:ext>
            </a:extLst>
          </p:cNvPr>
          <p:cNvSpPr>
            <a:spLocks noGrp="1"/>
          </p:cNvSpPr>
          <p:nvPr>
            <p:ph type="pic" sz="quarter" idx="21"/>
          </p:nvPr>
        </p:nvSpPr>
        <p:spPr>
          <a:xfrm>
            <a:off x="360001" y="1164870"/>
            <a:ext cx="11243037" cy="5091860"/>
          </a:xfrm>
        </p:spPr>
        <p:txBody>
          <a:bodyPr/>
          <a:lstStyle/>
          <a:p>
            <a:pPr algn="ctr"/>
            <a:r>
              <a:rPr lang="en-US" sz="4400" b="1"/>
              <a:t>Use </a:t>
            </a:r>
            <a:r>
              <a:rPr lang="en-US" sz="4400"/>
              <a:t>the</a:t>
            </a:r>
            <a:r>
              <a:rPr lang="en-US" sz="4400" b="1"/>
              <a:t> associative property of addition to regroup </a:t>
            </a:r>
            <a:r>
              <a:rPr lang="en-US" sz="4400"/>
              <a:t>and</a:t>
            </a:r>
            <a:r>
              <a:rPr lang="en-US" sz="4400" b="1"/>
              <a:t> solve:</a:t>
            </a:r>
          </a:p>
          <a:p>
            <a:pPr algn="ctr"/>
            <a:r>
              <a:rPr lang="en-US" sz="4400"/>
              <a:t>123 + 78 + 57 + 12</a:t>
            </a:r>
          </a:p>
          <a:p>
            <a:pPr algn="ctr"/>
            <a:endParaRPr lang="en-US" sz="4400"/>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A5C75FC3-3580-0C1D-8090-EC44658DAC9E}"/>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1847143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9FF86-7C5B-FA31-D796-296DE0A8C80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7FEA1A1-341D-8A60-97E6-8F9B65B0FF51}"/>
              </a:ext>
            </a:extLst>
          </p:cNvPr>
          <p:cNvSpPr>
            <a:spLocks noGrp="1"/>
          </p:cNvSpPr>
          <p:nvPr>
            <p:ph type="sldNum" sz="quarter" idx="12"/>
          </p:nvPr>
        </p:nvSpPr>
        <p:spPr/>
        <p:txBody>
          <a:bodyPr/>
          <a:lstStyle/>
          <a:p>
            <a:fld id="{10A01DC5-1685-4615-8240-15192985C6A2}" type="slidenum">
              <a:rPr lang="en-AU" smtClean="0"/>
              <a:t>43</a:t>
            </a:fld>
            <a:endParaRPr lang="en-AU"/>
          </a:p>
        </p:txBody>
      </p:sp>
      <p:sp>
        <p:nvSpPr>
          <p:cNvPr id="3" name="Title 2">
            <a:extLst>
              <a:ext uri="{FF2B5EF4-FFF2-40B4-BE49-F238E27FC236}">
                <a16:creationId xmlns:a16="http://schemas.microsoft.com/office/drawing/2014/main" id="{B91C906B-02BA-2EFD-6FF2-2138C2C6F5C8}"/>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(3)</a:t>
            </a:r>
          </a:p>
        </p:txBody>
      </p:sp>
      <p:sp>
        <p:nvSpPr>
          <p:cNvPr id="11" name="Picture Placeholder 10">
            <a:extLst>
              <a:ext uri="{FF2B5EF4-FFF2-40B4-BE49-F238E27FC236}">
                <a16:creationId xmlns:a16="http://schemas.microsoft.com/office/drawing/2014/main" id="{8A7FE6AB-F028-BE57-C4D2-218E23CCA7F3}"/>
              </a:ext>
            </a:extLst>
          </p:cNvPr>
          <p:cNvSpPr>
            <a:spLocks noGrp="1"/>
          </p:cNvSpPr>
          <p:nvPr>
            <p:ph type="pic" sz="quarter" idx="21"/>
          </p:nvPr>
        </p:nvSpPr>
        <p:spPr>
          <a:xfrm>
            <a:off x="474481" y="268723"/>
            <a:ext cx="11243037" cy="5091860"/>
          </a:xfrm>
        </p:spPr>
        <p:txBody>
          <a:bodyPr/>
          <a:lstStyle/>
          <a:p>
            <a:pPr algn="ctr"/>
            <a:endParaRPr lang="en-US" sz="4400"/>
          </a:p>
          <a:p>
            <a:pPr algn="ctr"/>
            <a:r>
              <a:rPr lang="en-US" sz="4400" b="1">
                <a:latin typeface="Arial"/>
                <a:cs typeface="Arial"/>
              </a:rPr>
              <a:t>Draw</a:t>
            </a:r>
            <a:r>
              <a:rPr lang="en-US" sz="4400">
                <a:latin typeface="Arial"/>
                <a:cs typeface="Arial"/>
              </a:rPr>
              <a:t> an </a:t>
            </a:r>
            <a:r>
              <a:rPr lang="en-US" sz="4400" b="1">
                <a:latin typeface="Arial"/>
                <a:cs typeface="Arial"/>
              </a:rPr>
              <a:t>angle</a:t>
            </a:r>
            <a:r>
              <a:rPr lang="en-US" sz="4400">
                <a:latin typeface="Arial"/>
                <a:cs typeface="Arial"/>
              </a:rPr>
              <a:t> that is: </a:t>
            </a:r>
          </a:p>
          <a:p>
            <a:pPr marL="571500" indent="-571500" algn="ctr">
              <a:buFont typeface="Arial" panose="020B0604020202020204" pitchFamily="34" charset="0"/>
              <a:buChar char="•"/>
            </a:pPr>
            <a:r>
              <a:rPr lang="en-US" sz="4400" b="1">
                <a:latin typeface="Arial"/>
                <a:cs typeface="Arial"/>
              </a:rPr>
              <a:t>greater</a:t>
            </a:r>
            <a:r>
              <a:rPr lang="en-US" sz="4400">
                <a:latin typeface="Arial"/>
                <a:cs typeface="Arial"/>
              </a:rPr>
              <a:t> than a </a:t>
            </a:r>
            <a:r>
              <a:rPr lang="en-US" sz="4400" b="1">
                <a:latin typeface="Arial"/>
                <a:cs typeface="Arial"/>
              </a:rPr>
              <a:t>right angle</a:t>
            </a:r>
          </a:p>
          <a:p>
            <a:pPr marL="571500" indent="-571500" algn="ctr">
              <a:buFont typeface="Arial" panose="020B0604020202020204" pitchFamily="34" charset="0"/>
              <a:buChar char="•"/>
            </a:pPr>
            <a:r>
              <a:rPr lang="en-US" sz="4400" b="1">
                <a:latin typeface="Arial"/>
                <a:cs typeface="Arial"/>
              </a:rPr>
              <a:t>less than </a:t>
            </a:r>
            <a:r>
              <a:rPr lang="en-US" sz="4400">
                <a:latin typeface="Arial"/>
                <a:cs typeface="Arial"/>
              </a:rPr>
              <a:t>a </a:t>
            </a:r>
            <a:r>
              <a:rPr lang="en-US" sz="4400" b="1">
                <a:latin typeface="Arial"/>
                <a:cs typeface="Arial"/>
              </a:rPr>
              <a:t>right angle</a:t>
            </a:r>
          </a:p>
          <a:p>
            <a:pPr marL="571500" indent="-571500" algn="ctr">
              <a:buFont typeface="Arial" panose="020B0604020202020204" pitchFamily="34" charset="0"/>
              <a:buChar char="•"/>
            </a:pPr>
            <a:r>
              <a:rPr lang="en-US" sz="4400" b="1">
                <a:latin typeface="Arial"/>
                <a:cs typeface="Arial"/>
              </a:rPr>
              <a:t>about the same </a:t>
            </a:r>
            <a:r>
              <a:rPr lang="en-US" sz="4400">
                <a:latin typeface="Arial"/>
                <a:cs typeface="Arial"/>
              </a:rPr>
              <a:t>as a </a:t>
            </a:r>
            <a:r>
              <a:rPr lang="en-US" sz="4400" b="1">
                <a:latin typeface="Arial"/>
                <a:cs typeface="Arial"/>
              </a:rPr>
              <a:t>right angle.</a:t>
            </a:r>
          </a:p>
        </p:txBody>
      </p:sp>
      <p:pic>
        <p:nvPicPr>
          <p:cNvPr id="4" name="Picture 3" descr="image of a clipboard with a pencil recording short answer responses">
            <a:extLst>
              <a:ext uri="{FF2B5EF4-FFF2-40B4-BE49-F238E27FC236}">
                <a16:creationId xmlns:a16="http://schemas.microsoft.com/office/drawing/2014/main" id="{60BD3A60-80E3-562B-92FB-07B4A07F11E3}"/>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800713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1F0B1-A631-6222-A4F6-6ADABC92764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87200-480B-20DB-4C26-10675759AD1F}"/>
              </a:ext>
            </a:extLst>
          </p:cNvPr>
          <p:cNvSpPr>
            <a:spLocks noGrp="1"/>
          </p:cNvSpPr>
          <p:nvPr>
            <p:ph type="sldNum" sz="quarter" idx="12"/>
          </p:nvPr>
        </p:nvSpPr>
        <p:spPr/>
        <p:txBody>
          <a:bodyPr/>
          <a:lstStyle/>
          <a:p>
            <a:fld id="{10A01DC5-1685-4615-8240-15192985C6A2}" type="slidenum">
              <a:rPr lang="en-AU" smtClean="0"/>
              <a:t>44</a:t>
            </a:fld>
            <a:endParaRPr lang="en-AU"/>
          </a:p>
        </p:txBody>
      </p:sp>
      <p:sp>
        <p:nvSpPr>
          <p:cNvPr id="3" name="Title 2">
            <a:extLst>
              <a:ext uri="{FF2B5EF4-FFF2-40B4-BE49-F238E27FC236}">
                <a16:creationId xmlns:a16="http://schemas.microsoft.com/office/drawing/2014/main" id="{4CF2E279-7B70-6AD5-A87B-975C74B4C5A3}"/>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(4)</a:t>
            </a:r>
          </a:p>
        </p:txBody>
      </p:sp>
      <p:sp>
        <p:nvSpPr>
          <p:cNvPr id="11" name="Picture Placeholder 10">
            <a:extLst>
              <a:ext uri="{FF2B5EF4-FFF2-40B4-BE49-F238E27FC236}">
                <a16:creationId xmlns:a16="http://schemas.microsoft.com/office/drawing/2014/main" id="{292E23AF-C9AF-1BEC-B7EF-97960722B4D3}"/>
              </a:ext>
            </a:extLst>
          </p:cNvPr>
          <p:cNvSpPr>
            <a:spLocks noGrp="1"/>
          </p:cNvSpPr>
          <p:nvPr>
            <p:ph type="pic" sz="quarter" idx="21"/>
          </p:nvPr>
        </p:nvSpPr>
        <p:spPr>
          <a:xfrm>
            <a:off x="474481" y="684514"/>
            <a:ext cx="11243037" cy="4574887"/>
          </a:xfrm>
        </p:spPr>
        <p:txBody>
          <a:bodyPr/>
          <a:lstStyle/>
          <a:p>
            <a:pPr algn="ctr"/>
            <a:endParaRPr lang="en-US" sz="3200"/>
          </a:p>
          <a:p>
            <a:pPr algn="ctr"/>
            <a:r>
              <a:rPr lang="en-US" sz="4400">
                <a:latin typeface="Arial"/>
                <a:cs typeface="Arial"/>
              </a:rPr>
              <a:t>This </a:t>
            </a:r>
            <a:r>
              <a:rPr lang="en-US" sz="4400" b="1">
                <a:latin typeface="Arial"/>
                <a:cs typeface="Arial"/>
              </a:rPr>
              <a:t>structure of a prism has</a:t>
            </a:r>
            <a:r>
              <a:rPr lang="en-US" sz="4400">
                <a:latin typeface="Arial"/>
                <a:cs typeface="Arial"/>
              </a:rPr>
              <a:t> </a:t>
            </a:r>
            <a:r>
              <a:rPr lang="en-US" sz="4400" b="1">
                <a:latin typeface="Arial"/>
                <a:cs typeface="Arial"/>
              </a:rPr>
              <a:t>2 layers </a:t>
            </a:r>
            <a:r>
              <a:rPr lang="en-US" sz="4400">
                <a:latin typeface="Arial"/>
                <a:cs typeface="Arial"/>
              </a:rPr>
              <a:t>of </a:t>
            </a:r>
            <a:r>
              <a:rPr lang="en-US" sz="4400" b="1">
                <a:latin typeface="Arial"/>
                <a:cs typeface="Arial"/>
              </a:rPr>
              <a:t>16 cubic </a:t>
            </a:r>
            <a:r>
              <a:rPr lang="en-US" sz="4400" b="1" err="1">
                <a:latin typeface="Arial"/>
                <a:cs typeface="Arial"/>
              </a:rPr>
              <a:t>centimetre</a:t>
            </a:r>
            <a:r>
              <a:rPr lang="en-US" sz="4400">
                <a:latin typeface="Arial"/>
                <a:cs typeface="Arial"/>
              </a:rPr>
              <a:t> blocks. </a:t>
            </a:r>
          </a:p>
          <a:p>
            <a:pPr algn="ctr"/>
            <a:r>
              <a:rPr lang="en-US" sz="4400">
                <a:latin typeface="Arial"/>
                <a:cs typeface="Arial"/>
              </a:rPr>
              <a:t>What is the </a:t>
            </a:r>
            <a:r>
              <a:rPr lang="en-US" sz="4400" b="1">
                <a:latin typeface="Arial"/>
                <a:cs typeface="Arial"/>
              </a:rPr>
              <a:t>total volume</a:t>
            </a:r>
            <a:r>
              <a:rPr lang="en-US" sz="4400">
                <a:latin typeface="Arial"/>
                <a:cs typeface="Arial"/>
              </a:rPr>
              <a:t>?</a:t>
            </a:r>
          </a:p>
          <a:p>
            <a:pPr algn="ctr"/>
            <a:endParaRPr lang="en-US" sz="4400"/>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9413A593-D677-BE14-4F68-8ED6884EFE14}"/>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3284912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fld id="{10A01DC5-1685-4615-8240-15192985C6A2}" type="slidenum">
              <a:rPr lang="en-AU" smtClean="0"/>
              <a:t>45</a:t>
            </a:fld>
            <a:endParaRPr lang="en-AU"/>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83750"/>
            <a:ext cx="11484000" cy="545601"/>
          </a:xfrm>
        </p:spPr>
        <p:txBody>
          <a:bodyPr/>
          <a:lstStyle/>
          <a:p>
            <a:r>
              <a:rPr lang="en-AU">
                <a:latin typeface="Arial"/>
                <a:cs typeface="Arial"/>
              </a:rPr>
              <a:t>Activity 6 – addition with and without regrouping</a:t>
            </a:r>
            <a:endParaRPr lang="en-AU">
              <a:solidFill>
                <a:srgbClr val="000000"/>
              </a:solidFill>
              <a:latin typeface="Arial"/>
              <a:cs typeface="Arial"/>
            </a:endParaRPr>
          </a:p>
          <a:p>
            <a:endParaRPr lang="en-AU">
              <a:latin typeface="Arial"/>
              <a:cs typeface="Arial"/>
            </a:endParaRPr>
          </a:p>
        </p:txBody>
      </p:sp>
      <p:pic>
        <p:nvPicPr>
          <p:cNvPr id="5" name="Picture 4" descr="image of a head with cogs turning inside">
            <a:extLst>
              <a:ext uri="{FF2B5EF4-FFF2-40B4-BE49-F238E27FC236}">
                <a16:creationId xmlns:a16="http://schemas.microsoft.com/office/drawing/2014/main" id="{F7AC7457-76E6-8D53-F23B-FA6A7DBB46C1}"/>
              </a:ext>
            </a:extLst>
          </p:cNvPr>
          <p:cNvPicPr>
            <a:picLocks noChangeAspect="1"/>
          </p:cNvPicPr>
          <p:nvPr/>
        </p:nvPicPr>
        <p:blipFill>
          <a:blip r:embed="rId3"/>
          <a:stretch>
            <a:fillRect/>
          </a:stretch>
        </p:blipFill>
        <p:spPr>
          <a:xfrm>
            <a:off x="11107003" y="240894"/>
            <a:ext cx="720000" cy="856364"/>
          </a:xfrm>
          <a:prstGeom prst="rect">
            <a:avLst/>
          </a:prstGeom>
          <a:ln>
            <a:noFill/>
          </a:ln>
        </p:spPr>
      </p:pic>
      <p:pic>
        <p:nvPicPr>
          <p:cNvPr id="6" name="Picture 5" descr="Dicey addition gameboard. Target number is 1000. A number sentence with spaces for the addition of three 3-digit numbers and an equals sign">
            <a:extLst>
              <a:ext uri="{FF2B5EF4-FFF2-40B4-BE49-F238E27FC236}">
                <a16:creationId xmlns:a16="http://schemas.microsoft.com/office/drawing/2014/main" id="{52ADD015-6293-EA3B-4C99-F0E0C1F11E8F}"/>
              </a:ext>
            </a:extLst>
          </p:cNvPr>
          <p:cNvPicPr>
            <a:picLocks noChangeAspect="1"/>
          </p:cNvPicPr>
          <p:nvPr/>
        </p:nvPicPr>
        <p:blipFill>
          <a:blip r:embed="rId4"/>
          <a:stretch>
            <a:fillRect/>
          </a:stretch>
        </p:blipFill>
        <p:spPr>
          <a:xfrm>
            <a:off x="4002871" y="1999189"/>
            <a:ext cx="7311649" cy="3214079"/>
          </a:xfrm>
          <a:prstGeom prst="rect">
            <a:avLst/>
          </a:prstGeom>
        </p:spPr>
      </p:pic>
      <mc:AlternateContent xmlns:mc="http://schemas.openxmlformats.org/markup-compatibility/2006">
        <mc:Choice xmlns:am3d="http://schemas.microsoft.com/office/drawing/2017/model3d" Requires="am3d">
          <p:graphicFrame>
            <p:nvGraphicFramePr>
              <p:cNvPr id="7" name="3D Model 6" descr="Dice">
                <a:extLst>
                  <a:ext uri="{FF2B5EF4-FFF2-40B4-BE49-F238E27FC236}">
                    <a16:creationId xmlns:a16="http://schemas.microsoft.com/office/drawing/2014/main" id="{164C506A-1124-4031-A6BC-BDC9E468A9E2}"/>
                  </a:ext>
                </a:extLst>
              </p:cNvPr>
              <p:cNvGraphicFramePr>
                <a:graphicFrameLocks noChangeAspect="1"/>
              </p:cNvGraphicFramePr>
              <p:nvPr>
                <p:extLst>
                  <p:ext uri="{D42A27DB-BD31-4B8C-83A1-F6EECF244321}">
                    <p14:modId xmlns:p14="http://schemas.microsoft.com/office/powerpoint/2010/main" val="762690378"/>
                  </p:ext>
                </p:extLst>
              </p:nvPr>
            </p:nvGraphicFramePr>
            <p:xfrm>
              <a:off x="256263" y="1664634"/>
              <a:ext cx="2215767" cy="2336909"/>
            </p:xfrm>
            <a:graphic>
              <a:graphicData uri="http://schemas.microsoft.com/office/drawing/2017/model3d">
                <am3d:model3d r:embed="rId5">
                  <am3d:spPr>
                    <a:xfrm>
                      <a:off x="0" y="0"/>
                      <a:ext cx="2215767" cy="2336909"/>
                    </a:xfrm>
                    <a:prstGeom prst="rect">
                      <a:avLst/>
                    </a:prstGeom>
                  </am3d:spPr>
                  <am3d:camera>
                    <am3d:pos x="0" y="0" z="81469202"/>
                    <am3d:up dx="0" dy="36000000" dz="0"/>
                    <am3d:lookAt x="0" y="0" z="0"/>
                    <am3d:perspective fov="2700000"/>
                  </am3d:camera>
                  <am3d:trans>
                    <am3d:meterPerModelUnit n="83333332" d="1000000"/>
                    <am3d:preTrans dx="0" dy="-169971" dz="0"/>
                    <am3d:scale>
                      <am3d:sx n="1000000" d="1000000"/>
                      <am3d:sy n="1000000" d="1000000"/>
                      <am3d:sz n="1000000" d="1000000"/>
                    </am3d:scale>
                    <am3d:rot ax="2256615" ay="1209157" az="891868"/>
                    <am3d:postTrans dx="0" dy="0" dz="0"/>
                  </am3d:trans>
                  <am3d:raster rName="Office3DRenderer" rVer="16.0.8326">
                    <am3d:blip r:embed="rId6"/>
                  </am3d:raster>
                  <am3d:objViewport viewportSz="2456745"/>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7" name="3D Model 6" descr="Dice">
                <a:extLst>
                  <a:ext uri="{FF2B5EF4-FFF2-40B4-BE49-F238E27FC236}">
                    <a16:creationId xmlns:a16="http://schemas.microsoft.com/office/drawing/2014/main" id="{164C506A-1124-4031-A6BC-BDC9E468A9E2}"/>
                  </a:ext>
                </a:extLst>
              </p:cNvPr>
              <p:cNvPicPr>
                <a:picLocks noGrp="1" noRot="1" noChangeAspect="1" noMove="1" noResize="1" noEditPoints="1" noAdjustHandles="1" noChangeArrowheads="1" noChangeShapeType="1" noCrop="1"/>
              </p:cNvPicPr>
              <p:nvPr/>
            </p:nvPicPr>
            <p:blipFill>
              <a:blip r:embed="rId6"/>
              <a:stretch>
                <a:fillRect/>
              </a:stretch>
            </p:blipFill>
            <p:spPr>
              <a:xfrm>
                <a:off x="256263" y="1664634"/>
                <a:ext cx="2215767" cy="2336909"/>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8" name="3D Model 7" descr="Dice x 2">
                <a:extLst>
                  <a:ext uri="{FF2B5EF4-FFF2-40B4-BE49-F238E27FC236}">
                    <a16:creationId xmlns:a16="http://schemas.microsoft.com/office/drawing/2014/main" id="{DB6EC148-BF6D-27BB-6A07-4D64E95AD495}"/>
                  </a:ext>
                </a:extLst>
              </p:cNvPr>
              <p:cNvGraphicFramePr>
                <a:graphicFrameLocks noChangeAspect="1"/>
              </p:cNvGraphicFramePr>
              <p:nvPr>
                <p:extLst>
                  <p:ext uri="{D42A27DB-BD31-4B8C-83A1-F6EECF244321}">
                    <p14:modId xmlns:p14="http://schemas.microsoft.com/office/powerpoint/2010/main" val="682581394"/>
                  </p:ext>
                </p:extLst>
              </p:nvPr>
            </p:nvGraphicFramePr>
            <p:xfrm>
              <a:off x="1166109" y="3169569"/>
              <a:ext cx="2071342" cy="2148894"/>
            </p:xfrm>
            <a:graphic>
              <a:graphicData uri="http://schemas.microsoft.com/office/drawing/2017/model3d">
                <am3d:model3d r:embed="rId5">
                  <am3d:spPr>
                    <a:xfrm>
                      <a:off x="0" y="0"/>
                      <a:ext cx="2071342" cy="2148894"/>
                    </a:xfrm>
                    <a:prstGeom prst="rect">
                      <a:avLst/>
                    </a:prstGeom>
                  </am3d:spPr>
                  <am3d:camera>
                    <am3d:pos x="0" y="0" z="81469202"/>
                    <am3d:up dx="0" dy="36000000" dz="0"/>
                    <am3d:lookAt x="0" y="0" z="0"/>
                    <am3d:perspective fov="2700000"/>
                  </am3d:camera>
                  <am3d:trans>
                    <am3d:meterPerModelUnit n="83333332" d="1000000"/>
                    <am3d:preTrans dx="0" dy="-169971" dz="0"/>
                    <am3d:scale>
                      <am3d:sx n="1000000" d="1000000"/>
                      <am3d:sy n="1000000" d="1000000"/>
                      <am3d:sz n="1000000" d="1000000"/>
                    </am3d:scale>
                    <am3d:rot ax="6611492" ay="-3615195" az="4022646"/>
                    <am3d:postTrans dx="0" dy="0" dz="0"/>
                  </am3d:trans>
                  <am3d:raster rName="Office3DRenderer" rVer="16.0.8326">
                    <am3d:blip r:embed="rId7"/>
                  </am3d:raster>
                  <am3d:objViewport viewportSz="2456744"/>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8" name="3D Model 7" descr="Dice x 2">
                <a:extLst>
                  <a:ext uri="{FF2B5EF4-FFF2-40B4-BE49-F238E27FC236}">
                    <a16:creationId xmlns:a16="http://schemas.microsoft.com/office/drawing/2014/main" id="{DB6EC148-BF6D-27BB-6A07-4D64E95AD495}"/>
                  </a:ext>
                </a:extLst>
              </p:cNvPr>
              <p:cNvPicPr>
                <a:picLocks noGrp="1" noRot="1" noChangeAspect="1" noMove="1" noResize="1" noEditPoints="1" noAdjustHandles="1" noChangeArrowheads="1" noChangeShapeType="1" noCrop="1"/>
              </p:cNvPicPr>
              <p:nvPr/>
            </p:nvPicPr>
            <p:blipFill>
              <a:blip r:embed="rId7"/>
              <a:stretch>
                <a:fillRect/>
              </a:stretch>
            </p:blipFill>
            <p:spPr>
              <a:xfrm>
                <a:off x="1166109" y="3169569"/>
                <a:ext cx="2071342" cy="2148894"/>
              </a:xfrm>
              <a:prstGeom prst="rect">
                <a:avLst/>
              </a:prstGeom>
            </p:spPr>
          </p:pic>
        </mc:Fallback>
      </mc:AlternateContent>
    </p:spTree>
    <p:extLst>
      <p:ext uri="{BB962C8B-B14F-4D97-AF65-F5344CB8AC3E}">
        <p14:creationId xmlns:p14="http://schemas.microsoft.com/office/powerpoint/2010/main" val="3032192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B424F-7DD0-3E03-466D-8D5582F980A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55B056C-EFDF-07CA-9F8C-380C2D645C57}"/>
              </a:ext>
            </a:extLst>
          </p:cNvPr>
          <p:cNvSpPr>
            <a:spLocks noGrp="1"/>
          </p:cNvSpPr>
          <p:nvPr>
            <p:ph type="ctrTitle"/>
          </p:nvPr>
        </p:nvSpPr>
        <p:spPr/>
        <p:txBody>
          <a:bodyPr/>
          <a:lstStyle/>
          <a:p>
            <a:r>
              <a:rPr lang="en-AU">
                <a:latin typeface="+mj-lt"/>
                <a:cs typeface="Arial"/>
              </a:rPr>
              <a:t>Review of learning  7</a:t>
            </a:r>
            <a:endParaRPr lang="en-AU">
              <a:latin typeface="+mj-lt"/>
            </a:endParaRPr>
          </a:p>
        </p:txBody>
      </p:sp>
    </p:spTree>
    <p:extLst>
      <p:ext uri="{BB962C8B-B14F-4D97-AF65-F5344CB8AC3E}">
        <p14:creationId xmlns:p14="http://schemas.microsoft.com/office/powerpoint/2010/main" val="532709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DEC98-6E64-B27A-62A0-329A669AEC8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54353F3-AFA1-F86F-DE0E-4EEDDC077D1C}"/>
              </a:ext>
            </a:extLst>
          </p:cNvPr>
          <p:cNvSpPr>
            <a:spLocks noGrp="1"/>
          </p:cNvSpPr>
          <p:nvPr>
            <p:ph type="sldNum" sz="quarter" idx="12"/>
          </p:nvPr>
        </p:nvSpPr>
        <p:spPr/>
        <p:txBody>
          <a:bodyPr/>
          <a:lstStyle/>
          <a:p>
            <a:fld id="{10A01DC5-1685-4615-8240-15192985C6A2}" type="slidenum">
              <a:rPr lang="en-AU" smtClean="0"/>
              <a:t>47</a:t>
            </a:fld>
            <a:endParaRPr lang="en-AU"/>
          </a:p>
        </p:txBody>
      </p:sp>
      <p:sp>
        <p:nvSpPr>
          <p:cNvPr id="3" name="Title 2">
            <a:extLst>
              <a:ext uri="{FF2B5EF4-FFF2-40B4-BE49-F238E27FC236}">
                <a16:creationId xmlns:a16="http://schemas.microsoft.com/office/drawing/2014/main" id="{E0021225-41F1-0C16-7955-7A20CE3F9226}"/>
              </a:ext>
            </a:extLst>
          </p:cNvPr>
          <p:cNvSpPr>
            <a:spLocks noGrp="1"/>
          </p:cNvSpPr>
          <p:nvPr>
            <p:ph type="title"/>
          </p:nvPr>
        </p:nvSpPr>
        <p:spPr/>
        <p:txBody>
          <a:bodyPr/>
          <a:lstStyle/>
          <a:p>
            <a:r>
              <a:rPr lang="en-US"/>
              <a:t>Multiple choice </a:t>
            </a:r>
            <a:r>
              <a:rPr lang="en-US">
                <a:solidFill>
                  <a:schemeClr val="bg1"/>
                </a:solidFill>
              </a:rPr>
              <a:t>(1)</a:t>
            </a:r>
          </a:p>
        </p:txBody>
      </p:sp>
      <p:sp>
        <p:nvSpPr>
          <p:cNvPr id="14" name="Text Placeholder 13">
            <a:extLst>
              <a:ext uri="{FF2B5EF4-FFF2-40B4-BE49-F238E27FC236}">
                <a16:creationId xmlns:a16="http://schemas.microsoft.com/office/drawing/2014/main" id="{675CACB5-5FB0-E2CF-54E9-1F4523AF622E}"/>
              </a:ext>
            </a:extLst>
          </p:cNvPr>
          <p:cNvSpPr>
            <a:spLocks noGrp="1"/>
          </p:cNvSpPr>
          <p:nvPr>
            <p:ph type="body" sz="quarter" idx="27"/>
          </p:nvPr>
        </p:nvSpPr>
        <p:spPr>
          <a:xfrm>
            <a:off x="1345520" y="5267227"/>
            <a:ext cx="10175920" cy="641396"/>
          </a:xfrm>
        </p:spPr>
        <p:txBody>
          <a:bodyPr vert="horz" lIns="0" tIns="0" rIns="0" bIns="0" rtlCol="0" anchor="t">
            <a:noAutofit/>
          </a:bodyPr>
          <a:lstStyle/>
          <a:p>
            <a:r>
              <a:rPr lang="en-US" sz="4000">
                <a:ea typeface="+mn-lt"/>
                <a:cs typeface="+mn-lt"/>
              </a:rPr>
              <a:t>678 – 231 = 231</a:t>
            </a:r>
            <a:endParaRPr lang="en-US" sz="4000"/>
          </a:p>
        </p:txBody>
      </p:sp>
      <p:sp>
        <p:nvSpPr>
          <p:cNvPr id="15" name="Text Placeholder 14">
            <a:extLst>
              <a:ext uri="{FF2B5EF4-FFF2-40B4-BE49-F238E27FC236}">
                <a16:creationId xmlns:a16="http://schemas.microsoft.com/office/drawing/2014/main" id="{CA95A8D3-8910-15F9-8CCD-CC5CE999586C}"/>
              </a:ext>
            </a:extLst>
          </p:cNvPr>
          <p:cNvSpPr>
            <a:spLocks noGrp="1"/>
          </p:cNvSpPr>
          <p:nvPr>
            <p:ph type="body" sz="quarter" idx="28"/>
          </p:nvPr>
        </p:nvSpPr>
        <p:spPr>
          <a:xfrm>
            <a:off x="497199" y="725605"/>
            <a:ext cx="11291167" cy="915329"/>
          </a:xfrm>
        </p:spPr>
        <p:txBody>
          <a:bodyPr vert="horz" lIns="0" tIns="0" rIns="0" bIns="0" rtlCol="0" anchor="t">
            <a:noAutofit/>
          </a:bodyPr>
          <a:lstStyle/>
          <a:p>
            <a:pPr algn="ctr">
              <a:lnSpc>
                <a:spcPct val="100000"/>
              </a:lnSpc>
            </a:pPr>
            <a:r>
              <a:rPr lang="en-US" sz="4400">
                <a:latin typeface="Arial"/>
                <a:cs typeface="Arial"/>
              </a:rPr>
              <a:t>678 - 231= 231 + 447 </a:t>
            </a:r>
          </a:p>
          <a:p>
            <a:pPr algn="ctr">
              <a:lnSpc>
                <a:spcPct val="100000"/>
              </a:lnSpc>
            </a:pPr>
            <a:r>
              <a:rPr lang="en-US" sz="4400">
                <a:latin typeface="Arial"/>
                <a:cs typeface="Arial"/>
              </a:rPr>
              <a:t>Which </a:t>
            </a:r>
            <a:r>
              <a:rPr lang="en-US" sz="4400" b="1">
                <a:latin typeface="Arial"/>
                <a:cs typeface="Arial"/>
              </a:rPr>
              <a:t>other number sentence </a:t>
            </a:r>
            <a:r>
              <a:rPr lang="en-US" sz="4400">
                <a:latin typeface="Arial"/>
                <a:cs typeface="Arial"/>
              </a:rPr>
              <a:t>is related? </a:t>
            </a:r>
          </a:p>
          <a:p>
            <a:pPr algn="ctr"/>
            <a:endParaRPr lang="en-US" sz="4400">
              <a:latin typeface="Arial"/>
              <a:cs typeface="Arial"/>
            </a:endParaRPr>
          </a:p>
        </p:txBody>
      </p:sp>
      <p:sp>
        <p:nvSpPr>
          <p:cNvPr id="16" name="Text Placeholder 15">
            <a:extLst>
              <a:ext uri="{FF2B5EF4-FFF2-40B4-BE49-F238E27FC236}">
                <a16:creationId xmlns:a16="http://schemas.microsoft.com/office/drawing/2014/main" id="{E0D6F30C-8CEC-E4E0-1551-B27B081FFF00}"/>
              </a:ext>
            </a:extLst>
          </p:cNvPr>
          <p:cNvSpPr>
            <a:spLocks noGrp="1"/>
          </p:cNvSpPr>
          <p:nvPr>
            <p:ph type="body" sz="quarter" idx="29"/>
          </p:nvPr>
        </p:nvSpPr>
        <p:spPr>
          <a:xfrm>
            <a:off x="1345520" y="4417174"/>
            <a:ext cx="10175920" cy="641396"/>
          </a:xfrm>
        </p:spPr>
        <p:txBody>
          <a:bodyPr vert="horz" lIns="0" tIns="0" rIns="0" bIns="0" rtlCol="0" anchor="t">
            <a:noAutofit/>
          </a:bodyPr>
          <a:lstStyle/>
          <a:p>
            <a:r>
              <a:rPr lang="en-US" sz="4000">
                <a:ea typeface="+mn-lt"/>
                <a:cs typeface="+mn-lt"/>
              </a:rPr>
              <a:t>231 + 678 =</a:t>
            </a:r>
            <a:endParaRPr lang="en-US" sz="4000"/>
          </a:p>
        </p:txBody>
      </p:sp>
      <p:sp>
        <p:nvSpPr>
          <p:cNvPr id="17" name="Text Placeholder 16">
            <a:extLst>
              <a:ext uri="{FF2B5EF4-FFF2-40B4-BE49-F238E27FC236}">
                <a16:creationId xmlns:a16="http://schemas.microsoft.com/office/drawing/2014/main" id="{44BFA8E5-50BD-0893-BC01-B6B36BC802E1}"/>
              </a:ext>
            </a:extLst>
          </p:cNvPr>
          <p:cNvSpPr>
            <a:spLocks noGrp="1"/>
          </p:cNvSpPr>
          <p:nvPr>
            <p:ph type="body" sz="quarter" idx="30"/>
          </p:nvPr>
        </p:nvSpPr>
        <p:spPr>
          <a:xfrm>
            <a:off x="1345520" y="3567121"/>
            <a:ext cx="10175920" cy="641396"/>
          </a:xfrm>
        </p:spPr>
        <p:txBody>
          <a:bodyPr vert="horz" lIns="0" tIns="0" rIns="0" bIns="0" rtlCol="0" anchor="t">
            <a:noAutofit/>
          </a:bodyPr>
          <a:lstStyle/>
          <a:p>
            <a:r>
              <a:rPr lang="en-US" sz="4000">
                <a:cs typeface="Arial"/>
              </a:rPr>
              <a:t>447 +  678 =</a:t>
            </a:r>
          </a:p>
        </p:txBody>
      </p:sp>
      <p:sp>
        <p:nvSpPr>
          <p:cNvPr id="18" name="Text Placeholder 17">
            <a:extLst>
              <a:ext uri="{FF2B5EF4-FFF2-40B4-BE49-F238E27FC236}">
                <a16:creationId xmlns:a16="http://schemas.microsoft.com/office/drawing/2014/main" id="{9E79809D-9372-E31A-587E-B87233AE7FEB}"/>
              </a:ext>
            </a:extLst>
          </p:cNvPr>
          <p:cNvSpPr>
            <a:spLocks noGrp="1"/>
          </p:cNvSpPr>
          <p:nvPr>
            <p:ph type="body" sz="quarter" idx="31"/>
          </p:nvPr>
        </p:nvSpPr>
        <p:spPr>
          <a:xfrm>
            <a:off x="1345520" y="2829070"/>
            <a:ext cx="10175920" cy="641396"/>
          </a:xfrm>
        </p:spPr>
        <p:txBody>
          <a:bodyPr vert="horz" lIns="0" tIns="0" rIns="0" bIns="0" rtlCol="0" anchor="t">
            <a:noAutofit/>
          </a:bodyPr>
          <a:lstStyle/>
          <a:p>
            <a:r>
              <a:rPr lang="en-US" sz="4000">
                <a:cs typeface="Arial"/>
              </a:rPr>
              <a:t>447 + 231 = 678</a:t>
            </a:r>
          </a:p>
        </p:txBody>
      </p:sp>
      <p:sp>
        <p:nvSpPr>
          <p:cNvPr id="9" name="TextBox 8">
            <a:extLst>
              <a:ext uri="{FF2B5EF4-FFF2-40B4-BE49-F238E27FC236}">
                <a16:creationId xmlns:a16="http://schemas.microsoft.com/office/drawing/2014/main" id="{01959E7F-5339-4140-06DD-3FCB073486C3}"/>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BEE40492-9435-5860-3C94-30096476C915}"/>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5912478F-CB84-AC6C-FE6E-1FCE453E61F6}"/>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C86D3D05-3E76-5A4E-DF8C-4677FB0BC3BF}"/>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pic>
        <p:nvPicPr>
          <p:cNvPr id="4" name="Picture 3" descr="image of a finger selecting an option for a multiple choice or true and false">
            <a:extLst>
              <a:ext uri="{FF2B5EF4-FFF2-40B4-BE49-F238E27FC236}">
                <a16:creationId xmlns:a16="http://schemas.microsoft.com/office/drawing/2014/main" id="{762B9242-51CC-E9FE-F0ED-48F177A9021B}"/>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5" name="Rectangle 4">
            <a:extLst>
              <a:ext uri="{FF2B5EF4-FFF2-40B4-BE49-F238E27FC236}">
                <a16:creationId xmlns:a16="http://schemas.microsoft.com/office/drawing/2014/main" id="{0ADD10B6-818E-9197-5FE2-C9C2CE175103}"/>
              </a:ext>
              <a:ext uri="{C183D7F6-B498-43B3-948B-1728B52AA6E4}">
                <adec:decorative xmlns:adec="http://schemas.microsoft.com/office/drawing/2017/decorative" val="1"/>
              </a:ext>
            </a:extLst>
          </p:cNvPr>
          <p:cNvSpPr/>
          <p:nvPr/>
        </p:nvSpPr>
        <p:spPr>
          <a:xfrm>
            <a:off x="4413976" y="3725617"/>
            <a:ext cx="1191985" cy="64139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F981937E-09B7-09E4-1F44-C9A74C76E370}"/>
              </a:ext>
              <a:ext uri="{C183D7F6-B498-43B3-948B-1728B52AA6E4}">
                <adec:decorative xmlns:adec="http://schemas.microsoft.com/office/drawing/2017/decorative" val="1"/>
              </a:ext>
            </a:extLst>
          </p:cNvPr>
          <p:cNvSpPr/>
          <p:nvPr/>
        </p:nvSpPr>
        <p:spPr>
          <a:xfrm>
            <a:off x="4413975" y="4575670"/>
            <a:ext cx="1191985" cy="64139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587296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9FC73-CB73-205A-CAA7-7FD0D6436E5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EF37E2-888E-CB04-88EA-19DCDE0D7B10}"/>
              </a:ext>
            </a:extLst>
          </p:cNvPr>
          <p:cNvSpPr>
            <a:spLocks noGrp="1"/>
          </p:cNvSpPr>
          <p:nvPr>
            <p:ph type="sldNum" sz="quarter" idx="12"/>
          </p:nvPr>
        </p:nvSpPr>
        <p:spPr/>
        <p:txBody>
          <a:bodyPr/>
          <a:lstStyle/>
          <a:p>
            <a:fld id="{10A01DC5-1685-4615-8240-15192985C6A2}" type="slidenum">
              <a:rPr lang="en-AU" smtClean="0"/>
              <a:t>48</a:t>
            </a:fld>
            <a:endParaRPr lang="en-AU"/>
          </a:p>
        </p:txBody>
      </p:sp>
      <p:sp>
        <p:nvSpPr>
          <p:cNvPr id="3" name="Title 2">
            <a:extLst>
              <a:ext uri="{FF2B5EF4-FFF2-40B4-BE49-F238E27FC236}">
                <a16:creationId xmlns:a16="http://schemas.microsoft.com/office/drawing/2014/main" id="{7B9F4F55-65F7-47E4-8121-CF7185730C4D}"/>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a:t>
            </a:r>
          </a:p>
        </p:txBody>
      </p:sp>
      <p:sp>
        <p:nvSpPr>
          <p:cNvPr id="11" name="Picture Placeholder 10">
            <a:extLst>
              <a:ext uri="{FF2B5EF4-FFF2-40B4-BE49-F238E27FC236}">
                <a16:creationId xmlns:a16="http://schemas.microsoft.com/office/drawing/2014/main" id="{21E9C82F-FE72-F379-EE54-EC40C9DE00C1}"/>
              </a:ext>
            </a:extLst>
          </p:cNvPr>
          <p:cNvSpPr>
            <a:spLocks noGrp="1"/>
          </p:cNvSpPr>
          <p:nvPr>
            <p:ph type="pic" sz="quarter" idx="21"/>
          </p:nvPr>
        </p:nvSpPr>
        <p:spPr>
          <a:xfrm>
            <a:off x="359999" y="1042317"/>
            <a:ext cx="11210840" cy="4769889"/>
          </a:xfrm>
        </p:spPr>
        <p:txBody>
          <a:bodyPr/>
          <a:lstStyle/>
          <a:p>
            <a:pPr algn="ctr"/>
            <a:r>
              <a:rPr lang="en-AU" sz="4400" b="1"/>
              <a:t>Record</a:t>
            </a:r>
            <a:r>
              <a:rPr lang="en-AU" sz="4400"/>
              <a:t> the </a:t>
            </a:r>
            <a:r>
              <a:rPr lang="en-AU" sz="4400" b="1"/>
              <a:t>answers</a:t>
            </a:r>
            <a:r>
              <a:rPr lang="en-AU" sz="4400"/>
              <a:t> to the following:</a:t>
            </a:r>
          </a:p>
          <a:p>
            <a:pPr algn="ctr"/>
            <a:r>
              <a:rPr lang="en-AU" sz="4400"/>
              <a:t>4 x 70 </a:t>
            </a:r>
          </a:p>
          <a:p>
            <a:pPr algn="ctr"/>
            <a:r>
              <a:rPr lang="en-AU" sz="4400"/>
              <a:t>6 x 300 </a:t>
            </a:r>
          </a:p>
          <a:p>
            <a:pPr algn="ctr"/>
            <a:r>
              <a:rPr lang="en-AU" sz="4400"/>
              <a:t>9 x 8000 </a:t>
            </a:r>
          </a:p>
          <a:p>
            <a:pPr algn="ctr"/>
            <a:endParaRPr lang="en-US" sz="4400"/>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03DE4DA9-4B9A-92DD-CA74-B2C1DDF4FB03}"/>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825170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17138-09C4-3779-3ADC-C5FC41EBD76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02BE3BE-2958-C89B-F3EF-B2EDE80629D7}"/>
              </a:ext>
            </a:extLst>
          </p:cNvPr>
          <p:cNvSpPr>
            <a:spLocks noGrp="1"/>
          </p:cNvSpPr>
          <p:nvPr>
            <p:ph type="sldNum" sz="quarter" idx="12"/>
          </p:nvPr>
        </p:nvSpPr>
        <p:spPr/>
        <p:txBody>
          <a:bodyPr/>
          <a:lstStyle/>
          <a:p>
            <a:fld id="{10A01DC5-1685-4615-8240-15192985C6A2}" type="slidenum">
              <a:rPr lang="en-AU" smtClean="0"/>
              <a:t>49</a:t>
            </a:fld>
            <a:endParaRPr lang="en-AU"/>
          </a:p>
        </p:txBody>
      </p:sp>
      <p:sp>
        <p:nvSpPr>
          <p:cNvPr id="3" name="Title 2">
            <a:extLst>
              <a:ext uri="{FF2B5EF4-FFF2-40B4-BE49-F238E27FC236}">
                <a16:creationId xmlns:a16="http://schemas.microsoft.com/office/drawing/2014/main" id="{7A79083A-0495-1351-2474-66F37FD0839A}"/>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a:t>
            </a:r>
          </a:p>
        </p:txBody>
      </p:sp>
      <p:pic>
        <p:nvPicPr>
          <p:cNvPr id="4" name="Picture 3" descr="image of a clipboard with a pencil recording short answer responses">
            <a:extLst>
              <a:ext uri="{FF2B5EF4-FFF2-40B4-BE49-F238E27FC236}">
                <a16:creationId xmlns:a16="http://schemas.microsoft.com/office/drawing/2014/main" id="{0B2658E5-897D-F102-F9BC-10C464CD9E83}"/>
              </a:ext>
            </a:extLst>
          </p:cNvPr>
          <p:cNvPicPr>
            <a:picLocks noChangeAspect="1"/>
          </p:cNvPicPr>
          <p:nvPr/>
        </p:nvPicPr>
        <p:blipFill>
          <a:blip r:embed="rId3"/>
          <a:stretch>
            <a:fillRect/>
          </a:stretch>
        </p:blipFill>
        <p:spPr>
          <a:xfrm>
            <a:off x="11030476" y="268723"/>
            <a:ext cx="915500" cy="915500"/>
          </a:xfrm>
          <a:prstGeom prst="rect">
            <a:avLst/>
          </a:prstGeom>
        </p:spPr>
      </p:pic>
      <p:sp>
        <p:nvSpPr>
          <p:cNvPr id="6" name="TextBox 5">
            <a:extLst>
              <a:ext uri="{FF2B5EF4-FFF2-40B4-BE49-F238E27FC236}">
                <a16:creationId xmlns:a16="http://schemas.microsoft.com/office/drawing/2014/main" id="{DB2CF287-7F59-A02A-B27D-BC08D614A684}"/>
              </a:ext>
            </a:extLst>
          </p:cNvPr>
          <p:cNvSpPr txBox="1"/>
          <p:nvPr/>
        </p:nvSpPr>
        <p:spPr>
          <a:xfrm>
            <a:off x="669471" y="1344562"/>
            <a:ext cx="10933567" cy="4168875"/>
          </a:xfrm>
          <a:prstGeom prst="rect">
            <a:avLst/>
          </a:prstGeom>
          <a:noFill/>
        </p:spPr>
        <p:txBody>
          <a:bodyPr wrap="square" lIns="0" tIns="0" rIns="0" bIns="0" rtlCol="0">
            <a:noAutofit/>
          </a:bodyPr>
          <a:lstStyle/>
          <a:p>
            <a:pPr algn="ctr">
              <a:lnSpc>
                <a:spcPct val="150000"/>
              </a:lnSpc>
            </a:pPr>
            <a:r>
              <a:rPr lang="en-AU" sz="4400" b="1"/>
              <a:t>Solve</a:t>
            </a:r>
          </a:p>
          <a:p>
            <a:pPr algn="ctr">
              <a:lnSpc>
                <a:spcPct val="150000"/>
              </a:lnSpc>
            </a:pPr>
            <a:r>
              <a:rPr lang="en-AU" sz="4400"/>
              <a:t>32 = ___ x 4</a:t>
            </a:r>
          </a:p>
          <a:p>
            <a:pPr algn="ctr">
              <a:lnSpc>
                <a:spcPct val="150000"/>
              </a:lnSpc>
            </a:pPr>
            <a:endParaRPr lang="en-AU" sz="4400"/>
          </a:p>
          <a:p>
            <a:pPr algn="ctr">
              <a:lnSpc>
                <a:spcPct val="150000"/>
              </a:lnSpc>
            </a:pPr>
            <a:r>
              <a:rPr lang="en-AU" sz="4400" b="1"/>
              <a:t>Explain</a:t>
            </a:r>
            <a:r>
              <a:rPr lang="en-AU" sz="4400"/>
              <a:t> what </a:t>
            </a:r>
            <a:r>
              <a:rPr lang="en-AU" sz="4400" b="1"/>
              <a:t>strategy</a:t>
            </a:r>
            <a:r>
              <a:rPr lang="en-AU" sz="4400"/>
              <a:t> you used.</a:t>
            </a:r>
          </a:p>
          <a:p>
            <a:pPr algn="ctr"/>
            <a:endParaRPr lang="en-AU" sz="4400"/>
          </a:p>
        </p:txBody>
      </p:sp>
    </p:spTree>
    <p:extLst>
      <p:ext uri="{BB962C8B-B14F-4D97-AF65-F5344CB8AC3E}">
        <p14:creationId xmlns:p14="http://schemas.microsoft.com/office/powerpoint/2010/main" val="2796038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0F56B-0B8D-BD79-E370-6AC7E4243CD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D1E675D-63E6-6EF0-A7F8-7CA3E2680A94}"/>
              </a:ext>
            </a:extLst>
          </p:cNvPr>
          <p:cNvSpPr>
            <a:spLocks noGrp="1"/>
          </p:cNvSpPr>
          <p:nvPr>
            <p:ph type="sldNum" sz="quarter" idx="12"/>
          </p:nvPr>
        </p:nvSpPr>
        <p:spPr/>
        <p:txBody>
          <a:bodyPr/>
          <a:lstStyle/>
          <a:p>
            <a:fld id="{10A01DC5-1685-4615-8240-15192985C6A2}" type="slidenum">
              <a:rPr lang="en-AU" smtClean="0"/>
              <a:t>50</a:t>
            </a:fld>
            <a:endParaRPr lang="en-AU"/>
          </a:p>
        </p:txBody>
      </p:sp>
      <p:sp>
        <p:nvSpPr>
          <p:cNvPr id="3" name="Title 2">
            <a:extLst>
              <a:ext uri="{FF2B5EF4-FFF2-40B4-BE49-F238E27FC236}">
                <a16:creationId xmlns:a16="http://schemas.microsoft.com/office/drawing/2014/main" id="{617A4F92-D5D2-B138-7BEF-D1ED6B9CE5C1}"/>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(3)</a:t>
            </a:r>
          </a:p>
        </p:txBody>
      </p:sp>
      <p:sp>
        <p:nvSpPr>
          <p:cNvPr id="11" name="Picture Placeholder 10">
            <a:extLst>
              <a:ext uri="{FF2B5EF4-FFF2-40B4-BE49-F238E27FC236}">
                <a16:creationId xmlns:a16="http://schemas.microsoft.com/office/drawing/2014/main" id="{AA232421-C8EE-55E7-3B48-FB94C1F70903}"/>
              </a:ext>
            </a:extLst>
          </p:cNvPr>
          <p:cNvSpPr>
            <a:spLocks noGrp="1"/>
          </p:cNvSpPr>
          <p:nvPr>
            <p:ph type="pic" sz="quarter" idx="21"/>
          </p:nvPr>
        </p:nvSpPr>
        <p:spPr>
          <a:xfrm>
            <a:off x="478025" y="1184223"/>
            <a:ext cx="11235949" cy="5146131"/>
          </a:xfrm>
        </p:spPr>
        <p:txBody>
          <a:bodyPr/>
          <a:lstStyle/>
          <a:p>
            <a:pPr algn="ctr"/>
            <a:r>
              <a:rPr lang="en-US" sz="4400" b="1"/>
              <a:t>Draw</a:t>
            </a:r>
            <a:r>
              <a:rPr lang="en-US" sz="4400"/>
              <a:t> and </a:t>
            </a:r>
            <a:r>
              <a:rPr lang="en-US" sz="4400" b="1"/>
              <a:t>label</a:t>
            </a:r>
            <a:r>
              <a:rPr lang="en-US" sz="4400"/>
              <a:t> an angle:</a:t>
            </a:r>
          </a:p>
          <a:p>
            <a:pPr marL="571500" indent="-571500" algn="ctr">
              <a:buFont typeface="Arial" panose="020B0604020202020204" pitchFamily="34" charset="0"/>
              <a:buChar char="•"/>
            </a:pPr>
            <a:r>
              <a:rPr lang="en-US" sz="4400"/>
              <a:t>less than a quarter turn</a:t>
            </a:r>
          </a:p>
          <a:p>
            <a:pPr marL="571500" indent="-571500" algn="ctr">
              <a:buFont typeface="Arial" panose="020B0604020202020204" pitchFamily="34" charset="0"/>
              <a:buChar char="•"/>
            </a:pPr>
            <a:r>
              <a:rPr lang="en-US" sz="4400"/>
              <a:t>greater than a quarter turn</a:t>
            </a:r>
          </a:p>
          <a:p>
            <a:pPr marL="571500" indent="-571500" algn="ctr">
              <a:buFont typeface="Arial" panose="020B0604020202020204" pitchFamily="34" charset="0"/>
              <a:buChar char="•"/>
            </a:pPr>
            <a:r>
              <a:rPr lang="en-US" sz="4400"/>
              <a:t>the same as a quarter turn </a:t>
            </a:r>
          </a:p>
          <a:p>
            <a:pPr algn="ctr"/>
            <a:endParaRPr lang="en-US" sz="4400"/>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1E63D2BF-38DB-BA0C-BA80-947F471E8061}"/>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1770370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7636B-D9FA-D8F2-87DC-26F9E69DDCA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7936BF7-7EEA-E829-93CD-C96F10F9ADE7}"/>
              </a:ext>
            </a:extLst>
          </p:cNvPr>
          <p:cNvSpPr>
            <a:spLocks noGrp="1"/>
          </p:cNvSpPr>
          <p:nvPr>
            <p:ph type="sldNum" sz="quarter" idx="12"/>
          </p:nvPr>
        </p:nvSpPr>
        <p:spPr/>
        <p:txBody>
          <a:bodyPr/>
          <a:lstStyle/>
          <a:p>
            <a:fld id="{10A01DC5-1685-4615-8240-15192985C6A2}" type="slidenum">
              <a:rPr lang="en-AU" smtClean="0"/>
              <a:t>51</a:t>
            </a:fld>
            <a:endParaRPr lang="en-AU"/>
          </a:p>
        </p:txBody>
      </p:sp>
      <p:sp>
        <p:nvSpPr>
          <p:cNvPr id="3" name="Title 2">
            <a:extLst>
              <a:ext uri="{FF2B5EF4-FFF2-40B4-BE49-F238E27FC236}">
                <a16:creationId xmlns:a16="http://schemas.microsoft.com/office/drawing/2014/main" id="{1EF2F071-69AF-26E6-9BD8-ADFB0EF0B312}"/>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(3)</a:t>
            </a:r>
          </a:p>
        </p:txBody>
      </p:sp>
      <p:sp>
        <p:nvSpPr>
          <p:cNvPr id="11" name="Picture Placeholder 10">
            <a:extLst>
              <a:ext uri="{FF2B5EF4-FFF2-40B4-BE49-F238E27FC236}">
                <a16:creationId xmlns:a16="http://schemas.microsoft.com/office/drawing/2014/main" id="{89E81B81-DF76-7E96-6C02-AFD9B15A4EFF}"/>
              </a:ext>
            </a:extLst>
          </p:cNvPr>
          <p:cNvSpPr>
            <a:spLocks noGrp="1"/>
          </p:cNvSpPr>
          <p:nvPr>
            <p:ph type="pic" sz="quarter" idx="21"/>
          </p:nvPr>
        </p:nvSpPr>
        <p:spPr>
          <a:xfrm>
            <a:off x="262428" y="1536619"/>
            <a:ext cx="11221572" cy="2730735"/>
          </a:xfrm>
        </p:spPr>
        <p:txBody>
          <a:bodyPr/>
          <a:lstStyle/>
          <a:p>
            <a:pPr algn="ctr"/>
            <a:r>
              <a:rPr lang="en-US" sz="4400" b="1">
                <a:latin typeface="+mn-lt"/>
                <a:cs typeface="Arial"/>
              </a:rPr>
              <a:t>Record</a:t>
            </a:r>
            <a:r>
              <a:rPr lang="en-US" sz="4400">
                <a:latin typeface="+mn-lt"/>
                <a:cs typeface="Arial"/>
              </a:rPr>
              <a:t> how many </a:t>
            </a:r>
            <a:r>
              <a:rPr lang="en-US" sz="4400" b="1">
                <a:latin typeface="+mn-lt"/>
                <a:cs typeface="Arial"/>
              </a:rPr>
              <a:t>minutes</a:t>
            </a:r>
            <a:r>
              <a:rPr lang="en-US" sz="4400">
                <a:latin typeface="+mn-lt"/>
                <a:cs typeface="Arial"/>
              </a:rPr>
              <a:t> in:</a:t>
            </a:r>
          </a:p>
          <a:p>
            <a:pPr marL="571500" indent="-571500" algn="ctr">
              <a:buFont typeface="Arial" panose="020B0604020202020204" pitchFamily="34" charset="0"/>
              <a:buChar char="•"/>
            </a:pPr>
            <a:r>
              <a:rPr lang="en-US" sz="4400" b="1">
                <a:latin typeface="+mn-lt"/>
                <a:cs typeface="Arial"/>
              </a:rPr>
              <a:t>half</a:t>
            </a:r>
            <a:r>
              <a:rPr lang="en-US" sz="4400">
                <a:latin typeface="+mn-lt"/>
                <a:cs typeface="Arial"/>
              </a:rPr>
              <a:t> an hour</a:t>
            </a:r>
          </a:p>
          <a:p>
            <a:pPr marL="571500" indent="-571500" algn="ctr">
              <a:buFont typeface="Arial" panose="020B0604020202020204" pitchFamily="34" charset="0"/>
              <a:buChar char="•"/>
            </a:pPr>
            <a:r>
              <a:rPr lang="en-US" sz="4400">
                <a:latin typeface="+mn-lt"/>
                <a:cs typeface="Arial"/>
              </a:rPr>
              <a:t>a</a:t>
            </a:r>
            <a:r>
              <a:rPr lang="en-US" sz="4400" b="1">
                <a:latin typeface="+mn-lt"/>
                <a:cs typeface="Arial"/>
              </a:rPr>
              <a:t> quarter</a:t>
            </a:r>
            <a:r>
              <a:rPr lang="en-US" sz="4400">
                <a:latin typeface="+mn-lt"/>
                <a:cs typeface="Arial"/>
              </a:rPr>
              <a:t> of an hour</a:t>
            </a:r>
          </a:p>
          <a:p>
            <a:pPr marL="571500" indent="-571500" algn="ctr">
              <a:buFont typeface="Arial" panose="020B0604020202020204" pitchFamily="34" charset="0"/>
              <a:buChar char="•"/>
            </a:pPr>
            <a:r>
              <a:rPr lang="en-US" sz="4400">
                <a:latin typeface="+mn-lt"/>
                <a:cs typeface="Arial"/>
              </a:rPr>
              <a:t>1 </a:t>
            </a:r>
            <a:r>
              <a:rPr lang="en-US" sz="4400" b="1">
                <a:latin typeface="+mn-lt"/>
                <a:cs typeface="Arial"/>
              </a:rPr>
              <a:t>hour</a:t>
            </a:r>
            <a:endParaRPr lang="en-US" sz="4400">
              <a:latin typeface="+mn-lt"/>
              <a:cs typeface="Arial"/>
            </a:endParaRPr>
          </a:p>
          <a:p>
            <a:pPr algn="ctr"/>
            <a:endParaRPr lang="en-US" sz="4400">
              <a:latin typeface="+mn-lt"/>
              <a:cs typeface="Arial"/>
            </a:endParaRPr>
          </a:p>
        </p:txBody>
      </p:sp>
      <p:pic>
        <p:nvPicPr>
          <p:cNvPr id="4" name="Picture 3" descr="image of a clipboard with a pencil recording short answer responses">
            <a:extLst>
              <a:ext uri="{FF2B5EF4-FFF2-40B4-BE49-F238E27FC236}">
                <a16:creationId xmlns:a16="http://schemas.microsoft.com/office/drawing/2014/main" id="{4B75951C-A82E-F9E5-67E0-9214B5EB3E99}"/>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1212306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3B60A-22B2-4361-67CC-312F59BDAAB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A54F7E62-8796-5FC7-FD38-8F4D46ED40A9}"/>
              </a:ext>
            </a:extLst>
          </p:cNvPr>
          <p:cNvSpPr>
            <a:spLocks noGrp="1"/>
          </p:cNvSpPr>
          <p:nvPr>
            <p:ph type="ctrTitle"/>
          </p:nvPr>
        </p:nvSpPr>
        <p:spPr/>
        <p:txBody>
          <a:bodyPr/>
          <a:lstStyle/>
          <a:p>
            <a:r>
              <a:rPr lang="en-AU">
                <a:latin typeface="+mj-lt"/>
                <a:cs typeface="Arial"/>
              </a:rPr>
              <a:t>Review of learning 8</a:t>
            </a:r>
            <a:endParaRPr lang="en-AU">
              <a:latin typeface="+mj-lt"/>
            </a:endParaRPr>
          </a:p>
        </p:txBody>
      </p:sp>
    </p:spTree>
    <p:extLst>
      <p:ext uri="{BB962C8B-B14F-4D97-AF65-F5344CB8AC3E}">
        <p14:creationId xmlns:p14="http://schemas.microsoft.com/office/powerpoint/2010/main" val="2515054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045DE-1C82-1DDC-BD3D-A63D7912E7B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E1B704-5DF8-9EB3-2103-8C8913465761}"/>
              </a:ext>
            </a:extLst>
          </p:cNvPr>
          <p:cNvSpPr>
            <a:spLocks noGrp="1"/>
          </p:cNvSpPr>
          <p:nvPr>
            <p:ph type="sldNum" sz="quarter" idx="12"/>
          </p:nvPr>
        </p:nvSpPr>
        <p:spPr/>
        <p:txBody>
          <a:bodyPr/>
          <a:lstStyle/>
          <a:p>
            <a:fld id="{10A01DC5-1685-4615-8240-15192985C6A2}" type="slidenum">
              <a:rPr lang="en-AU" smtClean="0"/>
              <a:t>53</a:t>
            </a:fld>
            <a:endParaRPr lang="en-AU"/>
          </a:p>
        </p:txBody>
      </p:sp>
      <p:sp>
        <p:nvSpPr>
          <p:cNvPr id="3" name="Title 2">
            <a:extLst>
              <a:ext uri="{FF2B5EF4-FFF2-40B4-BE49-F238E27FC236}">
                <a16:creationId xmlns:a16="http://schemas.microsoft.com/office/drawing/2014/main" id="{A5CD52BE-F5BD-DAA7-827E-221EB96A6BF3}"/>
              </a:ext>
            </a:extLst>
          </p:cNvPr>
          <p:cNvSpPr>
            <a:spLocks noGrp="1"/>
          </p:cNvSpPr>
          <p:nvPr>
            <p:ph type="title"/>
          </p:nvPr>
        </p:nvSpPr>
        <p:spPr/>
        <p:txBody>
          <a:bodyPr/>
          <a:lstStyle/>
          <a:p>
            <a:r>
              <a:rPr lang="en-US"/>
              <a:t>True or false </a:t>
            </a:r>
            <a:r>
              <a:rPr lang="en-US">
                <a:solidFill>
                  <a:schemeClr val="bg1"/>
                </a:solidFill>
              </a:rPr>
              <a:t>(1)</a:t>
            </a:r>
          </a:p>
        </p:txBody>
      </p:sp>
      <p:sp>
        <p:nvSpPr>
          <p:cNvPr id="7" name="Text Placeholder 6">
            <a:extLst>
              <a:ext uri="{FF2B5EF4-FFF2-40B4-BE49-F238E27FC236}">
                <a16:creationId xmlns:a16="http://schemas.microsoft.com/office/drawing/2014/main" id="{EA6BC0CF-ECA6-DC5C-B614-7854FEE9F3D3}"/>
              </a:ext>
            </a:extLst>
          </p:cNvPr>
          <p:cNvSpPr>
            <a:spLocks noGrp="1"/>
          </p:cNvSpPr>
          <p:nvPr>
            <p:ph type="body" sz="quarter" idx="22"/>
          </p:nvPr>
        </p:nvSpPr>
        <p:spPr>
          <a:xfrm>
            <a:off x="348000" y="2765409"/>
            <a:ext cx="11217725" cy="4220884"/>
          </a:xfrm>
        </p:spPr>
        <p:txBody>
          <a:bodyPr vert="horz" lIns="0" tIns="0" rIns="0" bIns="0" rtlCol="0" anchor="t">
            <a:noAutofit/>
          </a:bodyPr>
          <a:lstStyle/>
          <a:p>
            <a:pPr algn="ctr"/>
            <a:r>
              <a:rPr lang="en-US" sz="4400"/>
              <a:t>543 + 245 = 500 + 200 + 88</a:t>
            </a:r>
          </a:p>
        </p:txBody>
      </p:sp>
      <p:graphicFrame>
        <p:nvGraphicFramePr>
          <p:cNvPr id="12" name="Table 11">
            <a:extLst>
              <a:ext uri="{FF2B5EF4-FFF2-40B4-BE49-F238E27FC236}">
                <a16:creationId xmlns:a16="http://schemas.microsoft.com/office/drawing/2014/main" id="{32803648-AB31-1C55-361F-D02B899E3208}"/>
              </a:ext>
            </a:extLst>
          </p:cNvPr>
          <p:cNvGraphicFramePr>
            <a:graphicFrameLocks noGrp="1"/>
          </p:cNvGraphicFramePr>
          <p:nvPr>
            <p:extLst>
              <p:ext uri="{D42A27DB-BD31-4B8C-83A1-F6EECF244321}">
                <p14:modId xmlns:p14="http://schemas.microsoft.com/office/powerpoint/2010/main" val="3532031224"/>
              </p:ext>
            </p:extLst>
          </p:nvPr>
        </p:nvGraphicFramePr>
        <p:xfrm>
          <a:off x="2442981" y="5637356"/>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5" name="Picture 4" descr="image of a finger selecting an option for a multiple choice or true and false">
            <a:extLst>
              <a:ext uri="{FF2B5EF4-FFF2-40B4-BE49-F238E27FC236}">
                <a16:creationId xmlns:a16="http://schemas.microsoft.com/office/drawing/2014/main" id="{75557DD5-EF65-9FF3-3C88-C4692F9C2F2F}"/>
              </a:ext>
            </a:extLst>
          </p:cNvPr>
          <p:cNvPicPr>
            <a:picLocks noChangeAspect="1"/>
          </p:cNvPicPr>
          <p:nvPr/>
        </p:nvPicPr>
        <p:blipFill>
          <a:blip r:embed="rId3"/>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690367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A186E-DEAD-1E3F-ADBE-CF258B9E68C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49BC38-5AE6-D002-8CF1-C81FA6A0F702}"/>
              </a:ext>
            </a:extLst>
          </p:cNvPr>
          <p:cNvSpPr>
            <a:spLocks noGrp="1"/>
          </p:cNvSpPr>
          <p:nvPr>
            <p:ph type="sldNum" sz="quarter" idx="12"/>
          </p:nvPr>
        </p:nvSpPr>
        <p:spPr/>
        <p:txBody>
          <a:bodyPr/>
          <a:lstStyle/>
          <a:p>
            <a:fld id="{10A01DC5-1685-4615-8240-15192985C6A2}" type="slidenum">
              <a:rPr lang="en-AU" smtClean="0"/>
              <a:t>54</a:t>
            </a:fld>
            <a:endParaRPr lang="en-AU"/>
          </a:p>
        </p:txBody>
      </p:sp>
      <p:sp>
        <p:nvSpPr>
          <p:cNvPr id="3" name="Title 2">
            <a:extLst>
              <a:ext uri="{FF2B5EF4-FFF2-40B4-BE49-F238E27FC236}">
                <a16:creationId xmlns:a16="http://schemas.microsoft.com/office/drawing/2014/main" id="{1069B6F1-52F5-DBD9-FE1E-7DD78D3D5108}"/>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a:t>
            </a:r>
          </a:p>
        </p:txBody>
      </p:sp>
      <p:sp>
        <p:nvSpPr>
          <p:cNvPr id="11" name="Picture Placeholder 10">
            <a:extLst>
              <a:ext uri="{FF2B5EF4-FFF2-40B4-BE49-F238E27FC236}">
                <a16:creationId xmlns:a16="http://schemas.microsoft.com/office/drawing/2014/main" id="{FF54730D-1797-6F6B-C3B2-591C858320E8}"/>
              </a:ext>
            </a:extLst>
          </p:cNvPr>
          <p:cNvSpPr>
            <a:spLocks noGrp="1"/>
          </p:cNvSpPr>
          <p:nvPr>
            <p:ph type="pic" sz="quarter" idx="21"/>
          </p:nvPr>
        </p:nvSpPr>
        <p:spPr>
          <a:xfrm>
            <a:off x="359999" y="2147754"/>
            <a:ext cx="11189376" cy="4168875"/>
          </a:xfrm>
        </p:spPr>
        <p:txBody>
          <a:bodyPr/>
          <a:lstStyle/>
          <a:p>
            <a:pPr algn="ctr"/>
            <a:r>
              <a:rPr lang="en-US" sz="4400" b="1">
                <a:latin typeface="Arial"/>
                <a:cs typeface="Arial"/>
              </a:rPr>
              <a:t>Record</a:t>
            </a:r>
            <a:r>
              <a:rPr lang="en-US" sz="4400">
                <a:latin typeface="Arial"/>
                <a:cs typeface="Arial"/>
              </a:rPr>
              <a:t> 3 </a:t>
            </a:r>
            <a:r>
              <a:rPr lang="en-US" sz="4400" b="1">
                <a:latin typeface="Arial"/>
                <a:cs typeface="Arial"/>
              </a:rPr>
              <a:t>number sentences </a:t>
            </a:r>
            <a:r>
              <a:rPr lang="en-US" sz="4400">
                <a:latin typeface="Arial"/>
                <a:cs typeface="Arial"/>
              </a:rPr>
              <a:t>using </a:t>
            </a:r>
            <a:r>
              <a:rPr lang="en-US" sz="4400" b="1">
                <a:latin typeface="Arial"/>
                <a:cs typeface="Arial"/>
              </a:rPr>
              <a:t>multiples</a:t>
            </a:r>
            <a:r>
              <a:rPr lang="en-US" sz="4400">
                <a:latin typeface="Arial"/>
                <a:cs typeface="Arial"/>
              </a:rPr>
              <a:t> of </a:t>
            </a:r>
            <a:r>
              <a:rPr lang="en-US" sz="4400" b="1">
                <a:latin typeface="Arial"/>
                <a:cs typeface="Arial"/>
              </a:rPr>
              <a:t>10</a:t>
            </a:r>
            <a:r>
              <a:rPr lang="en-US" sz="4400">
                <a:latin typeface="Arial"/>
                <a:cs typeface="Arial"/>
              </a:rPr>
              <a:t> to get an answer of </a:t>
            </a:r>
            <a:r>
              <a:rPr lang="en-US" sz="4400" b="1">
                <a:latin typeface="Arial"/>
                <a:cs typeface="Arial"/>
              </a:rPr>
              <a:t>180.</a:t>
            </a:r>
            <a:endParaRPr lang="en-US" sz="4400" b="1"/>
          </a:p>
          <a:p>
            <a:pPr algn="ctr"/>
            <a:r>
              <a:rPr lang="en-US" sz="4400"/>
              <a:t>For example: 10 x 18 = 180</a:t>
            </a:r>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2A2578A1-ADBB-72FE-B090-2577A9392D24}"/>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3402796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D3EC5-1978-D0B2-1005-F3026FF696D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54331E5-B73F-E61B-8143-1547D7DE5518}"/>
              </a:ext>
            </a:extLst>
          </p:cNvPr>
          <p:cNvSpPr>
            <a:spLocks noGrp="1"/>
          </p:cNvSpPr>
          <p:nvPr>
            <p:ph type="sldNum" sz="quarter" idx="12"/>
          </p:nvPr>
        </p:nvSpPr>
        <p:spPr/>
        <p:txBody>
          <a:bodyPr/>
          <a:lstStyle/>
          <a:p>
            <a:fld id="{10A01DC5-1685-4615-8240-15192985C6A2}" type="slidenum">
              <a:rPr lang="en-AU" smtClean="0"/>
              <a:t>55</a:t>
            </a:fld>
            <a:endParaRPr lang="en-AU"/>
          </a:p>
        </p:txBody>
      </p:sp>
      <p:sp>
        <p:nvSpPr>
          <p:cNvPr id="3" name="Title 2">
            <a:extLst>
              <a:ext uri="{FF2B5EF4-FFF2-40B4-BE49-F238E27FC236}">
                <a16:creationId xmlns:a16="http://schemas.microsoft.com/office/drawing/2014/main" id="{9D284195-A94F-3D08-B252-D7FBC4299576}"/>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a:t>
            </a:r>
          </a:p>
        </p:txBody>
      </p:sp>
      <p:pic>
        <p:nvPicPr>
          <p:cNvPr id="5" name="Picture 4" descr="image of a clipboard with a pencil recording short answer responses">
            <a:extLst>
              <a:ext uri="{FF2B5EF4-FFF2-40B4-BE49-F238E27FC236}">
                <a16:creationId xmlns:a16="http://schemas.microsoft.com/office/drawing/2014/main" id="{96D03F5E-A893-89A8-C765-B38394489A2E}"/>
              </a:ext>
            </a:extLst>
          </p:cNvPr>
          <p:cNvPicPr>
            <a:picLocks noChangeAspect="1"/>
          </p:cNvPicPr>
          <p:nvPr/>
        </p:nvPicPr>
        <p:blipFill>
          <a:blip r:embed="rId3"/>
          <a:stretch>
            <a:fillRect/>
          </a:stretch>
        </p:blipFill>
        <p:spPr>
          <a:xfrm>
            <a:off x="11030476" y="268723"/>
            <a:ext cx="915500" cy="915500"/>
          </a:xfrm>
          <a:prstGeom prst="rect">
            <a:avLst/>
          </a:prstGeom>
        </p:spPr>
      </p:pic>
      <p:sp>
        <p:nvSpPr>
          <p:cNvPr id="6" name="TextBox 5">
            <a:extLst>
              <a:ext uri="{FF2B5EF4-FFF2-40B4-BE49-F238E27FC236}">
                <a16:creationId xmlns:a16="http://schemas.microsoft.com/office/drawing/2014/main" id="{345902AB-FD5E-BCD7-06EB-BF5DF0B67440}"/>
              </a:ext>
            </a:extLst>
          </p:cNvPr>
          <p:cNvSpPr txBox="1"/>
          <p:nvPr/>
        </p:nvSpPr>
        <p:spPr>
          <a:xfrm>
            <a:off x="360000" y="1600200"/>
            <a:ext cx="11484000" cy="4457700"/>
          </a:xfrm>
          <a:prstGeom prst="rect">
            <a:avLst/>
          </a:prstGeom>
          <a:noFill/>
        </p:spPr>
        <p:txBody>
          <a:bodyPr wrap="square" lIns="0" tIns="0" rIns="0" bIns="0" rtlCol="0">
            <a:noAutofit/>
          </a:bodyPr>
          <a:lstStyle/>
          <a:p>
            <a:pPr algn="ctr">
              <a:lnSpc>
                <a:spcPct val="150000"/>
              </a:lnSpc>
            </a:pPr>
            <a:r>
              <a:rPr lang="en-AU" sz="4400"/>
              <a:t>I buy </a:t>
            </a:r>
            <a:r>
              <a:rPr lang="en-AU" sz="4400" b="1"/>
              <a:t>7</a:t>
            </a:r>
            <a:r>
              <a:rPr lang="en-AU" sz="4400"/>
              <a:t> tennis balls, and the total cost is </a:t>
            </a:r>
            <a:r>
              <a:rPr lang="en-AU" sz="4400" b="1"/>
              <a:t>$35.</a:t>
            </a:r>
          </a:p>
          <a:p>
            <a:pPr algn="ctr">
              <a:lnSpc>
                <a:spcPct val="150000"/>
              </a:lnSpc>
            </a:pPr>
            <a:r>
              <a:rPr lang="en-AU" sz="4400"/>
              <a:t>What is the </a:t>
            </a:r>
            <a:r>
              <a:rPr lang="en-AU" sz="4400" b="1"/>
              <a:t>cost of each tennis ball</a:t>
            </a:r>
            <a:r>
              <a:rPr lang="en-AU" sz="4400"/>
              <a:t>? </a:t>
            </a:r>
          </a:p>
          <a:p>
            <a:pPr algn="ctr">
              <a:lnSpc>
                <a:spcPct val="150000"/>
              </a:lnSpc>
            </a:pPr>
            <a:r>
              <a:rPr lang="en-AU" sz="4400"/>
              <a:t>Create a </a:t>
            </a:r>
            <a:r>
              <a:rPr lang="en-AU" sz="4400" b="1"/>
              <a:t>number sentence </a:t>
            </a:r>
            <a:r>
              <a:rPr lang="en-AU" sz="4400"/>
              <a:t>to show your thinking. </a:t>
            </a:r>
          </a:p>
        </p:txBody>
      </p:sp>
    </p:spTree>
    <p:extLst>
      <p:ext uri="{BB962C8B-B14F-4D97-AF65-F5344CB8AC3E}">
        <p14:creationId xmlns:p14="http://schemas.microsoft.com/office/powerpoint/2010/main" val="2067489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E5048-C70E-7453-F9E5-507985776F1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E2BE1B1-6CD9-10A7-4664-27A4D73F0617}"/>
              </a:ext>
            </a:extLst>
          </p:cNvPr>
          <p:cNvSpPr>
            <a:spLocks noGrp="1"/>
          </p:cNvSpPr>
          <p:nvPr>
            <p:ph type="sldNum" sz="quarter" idx="12"/>
          </p:nvPr>
        </p:nvSpPr>
        <p:spPr/>
        <p:txBody>
          <a:bodyPr/>
          <a:lstStyle/>
          <a:p>
            <a:fld id="{10A01DC5-1685-4615-8240-15192985C6A2}" type="slidenum">
              <a:rPr lang="en-AU" smtClean="0"/>
              <a:t>56</a:t>
            </a:fld>
            <a:endParaRPr lang="en-AU"/>
          </a:p>
        </p:txBody>
      </p:sp>
      <p:sp>
        <p:nvSpPr>
          <p:cNvPr id="3" name="Title 2">
            <a:extLst>
              <a:ext uri="{FF2B5EF4-FFF2-40B4-BE49-F238E27FC236}">
                <a16:creationId xmlns:a16="http://schemas.microsoft.com/office/drawing/2014/main" id="{484B6BC0-2F0C-F390-AAB1-BCCBF88DB5D1}"/>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(3)</a:t>
            </a:r>
          </a:p>
        </p:txBody>
      </p:sp>
      <p:sp>
        <p:nvSpPr>
          <p:cNvPr id="11" name="Picture Placeholder 10">
            <a:extLst>
              <a:ext uri="{FF2B5EF4-FFF2-40B4-BE49-F238E27FC236}">
                <a16:creationId xmlns:a16="http://schemas.microsoft.com/office/drawing/2014/main" id="{93746974-51C1-ECF2-342C-DE409734E1F1}"/>
              </a:ext>
            </a:extLst>
          </p:cNvPr>
          <p:cNvSpPr>
            <a:spLocks noGrp="1"/>
          </p:cNvSpPr>
          <p:nvPr>
            <p:ph type="pic" sz="quarter" idx="21"/>
          </p:nvPr>
        </p:nvSpPr>
        <p:spPr>
          <a:xfrm>
            <a:off x="506678" y="1988506"/>
            <a:ext cx="11178643" cy="2880988"/>
          </a:xfrm>
        </p:spPr>
        <p:txBody>
          <a:bodyPr/>
          <a:lstStyle/>
          <a:p>
            <a:pPr algn="ctr"/>
            <a:r>
              <a:rPr lang="en-US" sz="4400" b="1"/>
              <a:t>Identify</a:t>
            </a:r>
            <a:r>
              <a:rPr lang="en-US" sz="4400"/>
              <a:t> and </a:t>
            </a:r>
            <a:r>
              <a:rPr lang="en-US" sz="4400" b="1"/>
              <a:t>record</a:t>
            </a:r>
            <a:r>
              <a:rPr lang="en-US" sz="4400"/>
              <a:t> </a:t>
            </a:r>
            <a:r>
              <a:rPr lang="en-US" sz="4400" b="1"/>
              <a:t>3 objects </a:t>
            </a:r>
            <a:r>
              <a:rPr lang="en-US" sz="4400"/>
              <a:t>in the classroom that have a </a:t>
            </a:r>
            <a:r>
              <a:rPr lang="en-US" sz="4400" b="1"/>
              <a:t>right angle</a:t>
            </a:r>
            <a:r>
              <a:rPr lang="en-US" sz="4400"/>
              <a:t>. </a:t>
            </a:r>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FFF091A0-BE16-4A35-B2E1-6ACE56F3AA88}"/>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110225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04D6B-9189-E91A-94F1-0BFF176CCD6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8AEA27B-161C-5E2A-F2CE-834142161ED0}"/>
              </a:ext>
            </a:extLst>
          </p:cNvPr>
          <p:cNvSpPr>
            <a:spLocks noGrp="1"/>
          </p:cNvSpPr>
          <p:nvPr>
            <p:ph type="sldNum" sz="quarter" idx="12"/>
          </p:nvPr>
        </p:nvSpPr>
        <p:spPr/>
        <p:txBody>
          <a:bodyPr/>
          <a:lstStyle/>
          <a:p>
            <a:fld id="{10A01DC5-1685-4615-8240-15192985C6A2}" type="slidenum">
              <a:rPr lang="en-AU" smtClean="0"/>
              <a:t>57</a:t>
            </a:fld>
            <a:endParaRPr lang="en-AU"/>
          </a:p>
        </p:txBody>
      </p:sp>
      <p:sp>
        <p:nvSpPr>
          <p:cNvPr id="3" name="Title 2">
            <a:extLst>
              <a:ext uri="{FF2B5EF4-FFF2-40B4-BE49-F238E27FC236}">
                <a16:creationId xmlns:a16="http://schemas.microsoft.com/office/drawing/2014/main" id="{71EF5B99-01ED-96BA-A959-B34AFEB0EDB8}"/>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(4)</a:t>
            </a:r>
          </a:p>
        </p:txBody>
      </p:sp>
      <p:sp>
        <p:nvSpPr>
          <p:cNvPr id="8" name="Rectangle 1">
            <a:extLst>
              <a:ext uri="{FF2B5EF4-FFF2-40B4-BE49-F238E27FC236}">
                <a16:creationId xmlns:a16="http://schemas.microsoft.com/office/drawing/2014/main" id="{5AC34F0C-28B1-3022-A067-304B23CEDBC3}"/>
              </a:ext>
              <a:ext uri="{C183D7F6-B498-43B3-948B-1728B52AA6E4}">
                <adec:decorative xmlns:adec="http://schemas.microsoft.com/office/drawing/2017/decorative" val="1"/>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AU"/>
          </a:p>
        </p:txBody>
      </p:sp>
      <p:sp>
        <p:nvSpPr>
          <p:cNvPr id="14" name="TextBox 13">
            <a:extLst>
              <a:ext uri="{FF2B5EF4-FFF2-40B4-BE49-F238E27FC236}">
                <a16:creationId xmlns:a16="http://schemas.microsoft.com/office/drawing/2014/main" id="{51BCFBB5-7824-F17B-5948-CE18B7EDA9D7}"/>
              </a:ext>
            </a:extLst>
          </p:cNvPr>
          <p:cNvSpPr txBox="1"/>
          <p:nvPr/>
        </p:nvSpPr>
        <p:spPr>
          <a:xfrm>
            <a:off x="7598352" y="3069824"/>
            <a:ext cx="1385454" cy="717341"/>
          </a:xfrm>
          <a:prstGeom prst="rect">
            <a:avLst/>
          </a:prstGeom>
          <a:noFill/>
        </p:spPr>
        <p:txBody>
          <a:bodyPr wrap="square" lIns="0" tIns="0" rIns="0" bIns="0" rtlCol="0">
            <a:noAutofit/>
          </a:bodyPr>
          <a:lstStyle/>
          <a:p>
            <a:pPr algn="l"/>
            <a:r>
              <a:rPr lang="en-AU" b="1">
                <a:solidFill>
                  <a:schemeClr val="bg1"/>
                </a:solidFill>
              </a:rPr>
              <a:t>Shape B</a:t>
            </a:r>
          </a:p>
        </p:txBody>
      </p:sp>
      <p:pic>
        <p:nvPicPr>
          <p:cNvPr id="5" name="Picture 4" descr="image of a clipboard with a pencil recording short answer responses">
            <a:extLst>
              <a:ext uri="{FF2B5EF4-FFF2-40B4-BE49-F238E27FC236}">
                <a16:creationId xmlns:a16="http://schemas.microsoft.com/office/drawing/2014/main" id="{41CBD14D-6B43-D6D7-65E4-0BA5584EEAD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6" name="TextBox 5">
            <a:extLst>
              <a:ext uri="{FF2B5EF4-FFF2-40B4-BE49-F238E27FC236}">
                <a16:creationId xmlns:a16="http://schemas.microsoft.com/office/drawing/2014/main" id="{D7E551B2-6FB8-C99E-FBF7-FE6F04EEABC8}"/>
              </a:ext>
            </a:extLst>
          </p:cNvPr>
          <p:cNvSpPr txBox="1"/>
          <p:nvPr/>
        </p:nvSpPr>
        <p:spPr>
          <a:xfrm>
            <a:off x="360000" y="1665514"/>
            <a:ext cx="11484000" cy="4425043"/>
          </a:xfrm>
          <a:prstGeom prst="rect">
            <a:avLst/>
          </a:prstGeom>
          <a:noFill/>
        </p:spPr>
        <p:txBody>
          <a:bodyPr wrap="square" lIns="0" tIns="0" rIns="0" bIns="0" rtlCol="0">
            <a:noAutofit/>
          </a:bodyPr>
          <a:lstStyle/>
          <a:p>
            <a:pPr algn="ctr">
              <a:lnSpc>
                <a:spcPct val="150000"/>
              </a:lnSpc>
            </a:pPr>
            <a:r>
              <a:rPr lang="en-AU" sz="4400"/>
              <a:t>The </a:t>
            </a:r>
            <a:r>
              <a:rPr lang="en-AU" sz="4400" b="1"/>
              <a:t>time</a:t>
            </a:r>
            <a:r>
              <a:rPr lang="en-AU" sz="4400"/>
              <a:t> is</a:t>
            </a:r>
          </a:p>
          <a:p>
            <a:pPr algn="ctr">
              <a:lnSpc>
                <a:spcPct val="150000"/>
              </a:lnSpc>
            </a:pPr>
            <a:r>
              <a:rPr lang="en-AU" sz="4400"/>
              <a:t>1:26 pm</a:t>
            </a:r>
          </a:p>
          <a:p>
            <a:pPr algn="ctr">
              <a:lnSpc>
                <a:spcPct val="150000"/>
              </a:lnSpc>
            </a:pPr>
            <a:r>
              <a:rPr lang="en-AU" sz="4400" b="1"/>
              <a:t>How many minutes </a:t>
            </a:r>
            <a:r>
              <a:rPr lang="en-AU" sz="4400"/>
              <a:t>until it is 2:00 pm?</a:t>
            </a:r>
          </a:p>
        </p:txBody>
      </p:sp>
    </p:spTree>
    <p:extLst>
      <p:ext uri="{BB962C8B-B14F-4D97-AF65-F5344CB8AC3E}">
        <p14:creationId xmlns:p14="http://schemas.microsoft.com/office/powerpoint/2010/main" val="853628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678F2-4E06-253C-7FA4-41B04B22578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10FD35F-6187-C003-82CF-A82BC3DF3DA5}"/>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58</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 name="Title 2">
            <a:extLst>
              <a:ext uri="{FF2B5EF4-FFF2-40B4-BE49-F238E27FC236}">
                <a16:creationId xmlns:a16="http://schemas.microsoft.com/office/drawing/2014/main" id="{44983AAD-3169-9F03-9285-FDCB0BC94F9E}"/>
              </a:ext>
            </a:extLst>
          </p:cNvPr>
          <p:cNvSpPr>
            <a:spLocks noGrp="1"/>
          </p:cNvSpPr>
          <p:nvPr>
            <p:ph type="title"/>
          </p:nvPr>
        </p:nvSpPr>
        <p:spPr>
          <a:xfrm>
            <a:off x="360000" y="360000"/>
            <a:ext cx="11484000" cy="545601"/>
          </a:xfrm>
        </p:spPr>
        <p:txBody>
          <a:bodyPr/>
          <a:lstStyle/>
          <a:p>
            <a:r>
              <a:rPr lang="en-AU">
                <a:latin typeface="Arial"/>
                <a:cs typeface="Arial"/>
              </a:rPr>
              <a:t>Activity 8 – </a:t>
            </a:r>
            <a:r>
              <a:rPr lang="en-AU"/>
              <a:t>addition and subtraction with and without regrouping </a:t>
            </a:r>
            <a:r>
              <a:rPr lang="en-AU">
                <a:solidFill>
                  <a:schemeClr val="bg1"/>
                </a:solidFill>
                <a:latin typeface="Arial"/>
                <a:cs typeface="Arial"/>
              </a:rPr>
              <a:t>)</a:t>
            </a:r>
          </a:p>
        </p:txBody>
      </p:sp>
      <p:pic>
        <p:nvPicPr>
          <p:cNvPr id="4" name="Picture 3" descr="image of a head with cogs turning inside">
            <a:extLst>
              <a:ext uri="{FF2B5EF4-FFF2-40B4-BE49-F238E27FC236}">
                <a16:creationId xmlns:a16="http://schemas.microsoft.com/office/drawing/2014/main" id="{87576929-8103-4A0A-E4C9-FC4E6E7607D7}"/>
              </a:ext>
            </a:extLst>
          </p:cNvPr>
          <p:cNvPicPr>
            <a:picLocks noChangeAspect="1"/>
          </p:cNvPicPr>
          <p:nvPr/>
        </p:nvPicPr>
        <p:blipFill>
          <a:blip r:embed="rId3"/>
          <a:stretch>
            <a:fillRect/>
          </a:stretch>
        </p:blipFill>
        <p:spPr>
          <a:xfrm>
            <a:off x="11107003" y="240894"/>
            <a:ext cx="720000" cy="856364"/>
          </a:xfrm>
          <a:prstGeom prst="rect">
            <a:avLst/>
          </a:prstGeom>
        </p:spPr>
      </p:pic>
      <mc:AlternateContent xmlns:mc="http://schemas.openxmlformats.org/markup-compatibility/2006">
        <mc:Choice xmlns:am3d="http://schemas.microsoft.com/office/drawing/2017/model3d" Requires="am3d">
          <p:graphicFrame>
            <p:nvGraphicFramePr>
              <p:cNvPr id="9" name="3D Model 8" descr="Dice">
                <a:extLst>
                  <a:ext uri="{FF2B5EF4-FFF2-40B4-BE49-F238E27FC236}">
                    <a16:creationId xmlns:a16="http://schemas.microsoft.com/office/drawing/2014/main" id="{C5EA399A-1550-5C45-FDFC-71A035215798}"/>
                  </a:ext>
                </a:extLst>
              </p:cNvPr>
              <p:cNvGraphicFramePr>
                <a:graphicFrameLocks noChangeAspect="1"/>
              </p:cNvGraphicFramePr>
              <p:nvPr>
                <p:extLst>
                  <p:ext uri="{D42A27DB-BD31-4B8C-83A1-F6EECF244321}">
                    <p14:modId xmlns:p14="http://schemas.microsoft.com/office/powerpoint/2010/main" val="1619313150"/>
                  </p:ext>
                </p:extLst>
              </p:nvPr>
            </p:nvGraphicFramePr>
            <p:xfrm>
              <a:off x="4362540" y="1740903"/>
              <a:ext cx="3189378" cy="3697996"/>
            </p:xfrm>
            <a:graphic>
              <a:graphicData uri="http://schemas.microsoft.com/office/drawing/2017/model3d">
                <am3d:model3d r:embed="rId4">
                  <am3d:spPr>
                    <a:xfrm>
                      <a:off x="0" y="0"/>
                      <a:ext cx="3189378" cy="3697996"/>
                    </a:xfrm>
                    <a:prstGeom prst="rect">
                      <a:avLst/>
                    </a:prstGeom>
                  </am3d:spPr>
                  <am3d:camera>
                    <am3d:pos x="0" y="0" z="81469202"/>
                    <am3d:up dx="0" dy="36000000" dz="0"/>
                    <am3d:lookAt x="0" y="0" z="0"/>
                    <am3d:perspective fov="2700000"/>
                  </am3d:camera>
                  <am3d:trans>
                    <am3d:meterPerModelUnit n="83333332" d="1000000"/>
                    <am3d:preTrans dx="0" dy="-169971" dz="0"/>
                    <am3d:scale>
                      <am3d:sx n="1000000" d="1000000"/>
                      <am3d:sy n="1000000" d="1000000"/>
                      <am3d:sz n="1000000" d="1000000"/>
                    </am3d:scale>
                    <am3d:rot ax="-2486507" ay="2363504" az="9044290"/>
                    <am3d:postTrans dx="0" dy="0" dz="0"/>
                  </am3d:trans>
                  <am3d:raster rName="Office3DRenderer" rVer="16.0.8326">
                    <am3d:blip r:embed="rId5"/>
                  </am3d:raster>
                  <am3d:objViewport viewportSz="3702409"/>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9" name="3D Model 8" descr="Dice">
                <a:extLst>
                  <a:ext uri="{FF2B5EF4-FFF2-40B4-BE49-F238E27FC236}">
                    <a16:creationId xmlns:a16="http://schemas.microsoft.com/office/drawing/2014/main" id="{C5EA399A-1550-5C45-FDFC-71A035215798}"/>
                  </a:ext>
                </a:extLst>
              </p:cNvPr>
              <p:cNvPicPr>
                <a:picLocks noGrp="1" noRot="1" noChangeAspect="1" noMove="1" noResize="1" noEditPoints="1" noAdjustHandles="1" noChangeArrowheads="1" noChangeShapeType="1" noCrop="1"/>
              </p:cNvPicPr>
              <p:nvPr/>
            </p:nvPicPr>
            <p:blipFill>
              <a:blip r:embed="rId5"/>
              <a:stretch>
                <a:fillRect/>
              </a:stretch>
            </p:blipFill>
            <p:spPr>
              <a:xfrm>
                <a:off x="4362540" y="1740903"/>
                <a:ext cx="3189378" cy="3697996"/>
              </a:xfrm>
              <a:prstGeom prst="rect">
                <a:avLst/>
              </a:prstGeom>
            </p:spPr>
          </p:pic>
        </mc:Fallback>
      </mc:AlternateContent>
    </p:spTree>
    <p:extLst>
      <p:ext uri="{BB962C8B-B14F-4D97-AF65-F5344CB8AC3E}">
        <p14:creationId xmlns:p14="http://schemas.microsoft.com/office/powerpoint/2010/main" val="3398563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59</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60</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61</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62</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4" name="Text Placeholder 3">
            <a:extLst>
              <a:ext uri="{FF2B5EF4-FFF2-40B4-BE49-F238E27FC236}">
                <a16:creationId xmlns:a16="http://schemas.microsoft.com/office/drawing/2014/main" id="{EB4C48A6-632A-10A7-9B85-40A6CEF59C26}"/>
              </a:ext>
            </a:extLst>
          </p:cNvPr>
          <p:cNvSpPr>
            <a:spLocks noGrp="1"/>
          </p:cNvSpPr>
          <p:nvPr>
            <p:ph type="body" sz="quarter" idx="18"/>
          </p:nvPr>
        </p:nvSpPr>
        <p:spPr/>
        <p:txBody>
          <a:bodyPr/>
          <a:lstStyle/>
          <a:p>
            <a:endParaRPr lang="en-AU">
              <a:latin typeface="+mj-lt"/>
            </a:endParaRP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63</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EE9CE-D467-CF79-03E7-D0928BDD123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B0CABD8-EB9E-30C6-352A-9951178A7DB9}"/>
              </a:ext>
            </a:extLst>
          </p:cNvPr>
          <p:cNvSpPr>
            <a:spLocks noGrp="1"/>
          </p:cNvSpPr>
          <p:nvPr>
            <p:ph type="sldNum" sz="quarter" idx="12"/>
          </p:nvPr>
        </p:nvSpPr>
        <p:spPr/>
        <p:txBody>
          <a:bodyPr/>
          <a:lstStyle/>
          <a:p>
            <a:fld id="{10A01DC5-1685-4615-8240-15192985C6A2}" type="slidenum">
              <a:rPr lang="en-AU" smtClean="0"/>
              <a:t>64</a:t>
            </a:fld>
            <a:endParaRPr lang="en-AU"/>
          </a:p>
        </p:txBody>
      </p:sp>
      <p:sp>
        <p:nvSpPr>
          <p:cNvPr id="3" name="Title 2">
            <a:extLst>
              <a:ext uri="{FF2B5EF4-FFF2-40B4-BE49-F238E27FC236}">
                <a16:creationId xmlns:a16="http://schemas.microsoft.com/office/drawing/2014/main" id="{6F7B9B9F-1954-2BCA-9CE2-E9BF07F578A5}"/>
              </a:ext>
            </a:extLst>
          </p:cNvPr>
          <p:cNvSpPr>
            <a:spLocks noGrp="1"/>
          </p:cNvSpPr>
          <p:nvPr>
            <p:ph type="title"/>
          </p:nvPr>
        </p:nvSpPr>
        <p:spPr/>
        <p:txBody>
          <a:bodyPr/>
          <a:lstStyle/>
          <a:p>
            <a:r>
              <a:rPr lang="en-US"/>
              <a:t>Multiple choice </a:t>
            </a:r>
          </a:p>
        </p:txBody>
      </p:sp>
      <p:sp>
        <p:nvSpPr>
          <p:cNvPr id="13" name="Text Placeholder 12">
            <a:extLst>
              <a:ext uri="{FF2B5EF4-FFF2-40B4-BE49-F238E27FC236}">
                <a16:creationId xmlns:a16="http://schemas.microsoft.com/office/drawing/2014/main" id="{884A26B5-6F52-2F0A-8648-DEA4BF0E15B4}"/>
              </a:ext>
            </a:extLst>
          </p:cNvPr>
          <p:cNvSpPr>
            <a:spLocks noGrp="1"/>
          </p:cNvSpPr>
          <p:nvPr>
            <p:ph type="body" sz="quarter" idx="18"/>
          </p:nvPr>
        </p:nvSpPr>
        <p:spPr/>
        <p:txBody>
          <a:bodyPr/>
          <a:lstStyle/>
          <a:p>
            <a:endParaRPr lang="en-US"/>
          </a:p>
        </p:txBody>
      </p:sp>
      <p:sp>
        <p:nvSpPr>
          <p:cNvPr id="14" name="Text Placeholder 13">
            <a:extLst>
              <a:ext uri="{FF2B5EF4-FFF2-40B4-BE49-F238E27FC236}">
                <a16:creationId xmlns:a16="http://schemas.microsoft.com/office/drawing/2014/main" id="{2FAE27F9-31E0-BEE8-BFCB-40B14864DE84}"/>
              </a:ext>
            </a:extLst>
          </p:cNvPr>
          <p:cNvSpPr>
            <a:spLocks noGrp="1"/>
          </p:cNvSpPr>
          <p:nvPr>
            <p:ph type="body" sz="quarter" idx="27"/>
          </p:nvPr>
        </p:nvSpPr>
        <p:spPr>
          <a:xfrm>
            <a:off x="1345520" y="5425723"/>
            <a:ext cx="10175920" cy="641396"/>
          </a:xfrm>
        </p:spPr>
        <p:txBody>
          <a:bodyPr/>
          <a:lstStyle/>
          <a:p>
            <a:endParaRPr lang="en-US"/>
          </a:p>
        </p:txBody>
      </p:sp>
      <p:sp>
        <p:nvSpPr>
          <p:cNvPr id="15" name="Text Placeholder 14">
            <a:extLst>
              <a:ext uri="{FF2B5EF4-FFF2-40B4-BE49-F238E27FC236}">
                <a16:creationId xmlns:a16="http://schemas.microsoft.com/office/drawing/2014/main" id="{871424B5-AF1B-EBC1-192B-253358954B69}"/>
              </a:ext>
            </a:extLst>
          </p:cNvPr>
          <p:cNvSpPr>
            <a:spLocks noGrp="1"/>
          </p:cNvSpPr>
          <p:nvPr>
            <p:ph type="body" sz="quarter" idx="28"/>
          </p:nvPr>
        </p:nvSpPr>
        <p:spPr>
          <a:xfrm>
            <a:off x="360000" y="1625945"/>
            <a:ext cx="11243037" cy="754243"/>
          </a:xfrm>
        </p:spPr>
        <p:txBody>
          <a:bodyPr/>
          <a:lstStyle/>
          <a:p>
            <a:endParaRPr lang="en-US"/>
          </a:p>
        </p:txBody>
      </p:sp>
      <p:sp>
        <p:nvSpPr>
          <p:cNvPr id="16" name="Text Placeholder 15">
            <a:extLst>
              <a:ext uri="{FF2B5EF4-FFF2-40B4-BE49-F238E27FC236}">
                <a16:creationId xmlns:a16="http://schemas.microsoft.com/office/drawing/2014/main" id="{057F8B72-6486-DAFE-D378-A7E3F82B47C0}"/>
              </a:ext>
            </a:extLst>
          </p:cNvPr>
          <p:cNvSpPr>
            <a:spLocks noGrp="1"/>
          </p:cNvSpPr>
          <p:nvPr>
            <p:ph type="body" sz="quarter" idx="29"/>
          </p:nvPr>
        </p:nvSpPr>
        <p:spPr>
          <a:xfrm>
            <a:off x="1345520" y="4575670"/>
            <a:ext cx="10175920" cy="641396"/>
          </a:xfrm>
        </p:spPr>
        <p:txBody>
          <a:bodyPr/>
          <a:lstStyle/>
          <a:p>
            <a:endParaRPr lang="en-US"/>
          </a:p>
        </p:txBody>
      </p:sp>
      <p:sp>
        <p:nvSpPr>
          <p:cNvPr id="17" name="Text Placeholder 16">
            <a:extLst>
              <a:ext uri="{FF2B5EF4-FFF2-40B4-BE49-F238E27FC236}">
                <a16:creationId xmlns:a16="http://schemas.microsoft.com/office/drawing/2014/main" id="{586611D7-8B32-72EA-14FB-A57E82998441}"/>
              </a:ext>
            </a:extLst>
          </p:cNvPr>
          <p:cNvSpPr>
            <a:spLocks noGrp="1"/>
          </p:cNvSpPr>
          <p:nvPr>
            <p:ph type="body" sz="quarter" idx="30"/>
          </p:nvPr>
        </p:nvSpPr>
        <p:spPr>
          <a:xfrm>
            <a:off x="1345520" y="3725617"/>
            <a:ext cx="10175920" cy="641396"/>
          </a:xfrm>
        </p:spPr>
        <p:txBody>
          <a:bodyPr/>
          <a:lstStyle/>
          <a:p>
            <a:endParaRPr lang="en-US"/>
          </a:p>
        </p:txBody>
      </p:sp>
      <p:sp>
        <p:nvSpPr>
          <p:cNvPr id="18" name="Text Placeholder 17">
            <a:extLst>
              <a:ext uri="{FF2B5EF4-FFF2-40B4-BE49-F238E27FC236}">
                <a16:creationId xmlns:a16="http://schemas.microsoft.com/office/drawing/2014/main" id="{EA13EBFB-AE4F-2AC8-7064-60FC4C858E88}"/>
              </a:ext>
            </a:extLst>
          </p:cNvPr>
          <p:cNvSpPr>
            <a:spLocks noGrp="1"/>
          </p:cNvSpPr>
          <p:nvPr>
            <p:ph type="body" sz="quarter" idx="31"/>
          </p:nvPr>
        </p:nvSpPr>
        <p:spPr>
          <a:xfrm>
            <a:off x="1345520" y="2877704"/>
            <a:ext cx="10175920" cy="641396"/>
          </a:xfrm>
        </p:spPr>
        <p:txBody>
          <a:bodyPr/>
          <a:lstStyle/>
          <a:p>
            <a:endParaRPr lang="en-US"/>
          </a:p>
        </p:txBody>
      </p:sp>
      <p:sp>
        <p:nvSpPr>
          <p:cNvPr id="9" name="TextBox 8">
            <a:extLst>
              <a:ext uri="{FF2B5EF4-FFF2-40B4-BE49-F238E27FC236}">
                <a16:creationId xmlns:a16="http://schemas.microsoft.com/office/drawing/2014/main" id="{31E8794B-BDE8-037D-0CAF-AA0E5A7E8583}"/>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68AE238C-3606-5F78-F03A-0E9E40F4FDA4}"/>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6464E12C-842E-0AE5-19AB-798F6BC2845D}"/>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E989C16C-1E4B-799F-ACDD-636F7693F2A6}"/>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2643762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E7187-0435-DC00-BB5D-2125BBCA438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E2BC893-9530-AC61-D7B3-3A452ECBB315}"/>
              </a:ext>
            </a:extLst>
          </p:cNvPr>
          <p:cNvSpPr>
            <a:spLocks noGrp="1"/>
          </p:cNvSpPr>
          <p:nvPr>
            <p:ph type="sldNum" sz="quarter" idx="12"/>
          </p:nvPr>
        </p:nvSpPr>
        <p:spPr/>
        <p:txBody>
          <a:bodyPr/>
          <a:lstStyle/>
          <a:p>
            <a:fld id="{10A01DC5-1685-4615-8240-15192985C6A2}" type="slidenum">
              <a:rPr lang="en-AU" smtClean="0"/>
              <a:t>65</a:t>
            </a:fld>
            <a:endParaRPr lang="en-AU"/>
          </a:p>
        </p:txBody>
      </p:sp>
      <p:sp>
        <p:nvSpPr>
          <p:cNvPr id="3" name="Title 2">
            <a:extLst>
              <a:ext uri="{FF2B5EF4-FFF2-40B4-BE49-F238E27FC236}">
                <a16:creationId xmlns:a16="http://schemas.microsoft.com/office/drawing/2014/main" id="{47BC9526-5863-A869-9375-A013AA9B1360}"/>
              </a:ext>
            </a:extLst>
          </p:cNvPr>
          <p:cNvSpPr>
            <a:spLocks noGrp="1"/>
          </p:cNvSpPr>
          <p:nvPr>
            <p:ph type="title"/>
          </p:nvPr>
        </p:nvSpPr>
        <p:spPr/>
        <p:txBody>
          <a:bodyPr/>
          <a:lstStyle/>
          <a:p>
            <a:r>
              <a:rPr lang="en-US"/>
              <a:t>Multiple choice </a:t>
            </a:r>
          </a:p>
        </p:txBody>
      </p:sp>
      <p:sp>
        <p:nvSpPr>
          <p:cNvPr id="14" name="Picture Placeholder 13">
            <a:extLst>
              <a:ext uri="{FF2B5EF4-FFF2-40B4-BE49-F238E27FC236}">
                <a16:creationId xmlns:a16="http://schemas.microsoft.com/office/drawing/2014/main" id="{29B9EC75-6577-E32D-99A2-E54978EE9438}"/>
              </a:ext>
            </a:extLst>
          </p:cNvPr>
          <p:cNvSpPr>
            <a:spLocks noGrp="1"/>
          </p:cNvSpPr>
          <p:nvPr>
            <p:ph type="pic" sz="quarter" idx="20"/>
          </p:nvPr>
        </p:nvSpPr>
        <p:spPr/>
        <p:txBody>
          <a:bodyPr/>
          <a:lstStyle/>
          <a:p>
            <a:pPr algn="ctr"/>
            <a:endParaRPr lang="en-AU" sz="4000"/>
          </a:p>
        </p:txBody>
      </p:sp>
      <p:sp>
        <p:nvSpPr>
          <p:cNvPr id="15" name="Picture Placeholder 14">
            <a:extLst>
              <a:ext uri="{FF2B5EF4-FFF2-40B4-BE49-F238E27FC236}">
                <a16:creationId xmlns:a16="http://schemas.microsoft.com/office/drawing/2014/main" id="{08C58CC8-E167-CE35-57C2-0AFB8730B7FA}"/>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4796CCA1-ED50-C4F4-B332-BD3BA323854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86C354AA-6397-16D8-C4C4-474F76D4A1C7}"/>
              </a:ext>
            </a:extLst>
          </p:cNvPr>
          <p:cNvSpPr>
            <a:spLocks noGrp="1"/>
          </p:cNvSpPr>
          <p:nvPr>
            <p:ph type="pic" sz="quarter" idx="23"/>
          </p:nvPr>
        </p:nvSpPr>
        <p:spPr/>
        <p:txBody>
          <a:bodyPr/>
          <a:lstStyle/>
          <a:p>
            <a:endParaRPr lang="en-AU"/>
          </a:p>
        </p:txBody>
      </p:sp>
      <p:sp>
        <p:nvSpPr>
          <p:cNvPr id="18" name="Text Placeholder 17">
            <a:extLst>
              <a:ext uri="{FF2B5EF4-FFF2-40B4-BE49-F238E27FC236}">
                <a16:creationId xmlns:a16="http://schemas.microsoft.com/office/drawing/2014/main" id="{8B713342-A845-FC63-9421-B086E3AB3C41}"/>
              </a:ext>
            </a:extLst>
          </p:cNvPr>
          <p:cNvSpPr>
            <a:spLocks noGrp="1"/>
          </p:cNvSpPr>
          <p:nvPr>
            <p:ph type="body" sz="quarter" idx="24"/>
          </p:nvPr>
        </p:nvSpPr>
        <p:spPr>
          <a:xfrm>
            <a:off x="360000" y="1068785"/>
            <a:ext cx="11243037" cy="893226"/>
          </a:xfrm>
        </p:spPr>
        <p:txBody>
          <a:bodyPr vert="horz" lIns="0" tIns="0" rIns="0" bIns="0" rtlCol="0" anchor="t">
            <a:noAutofit/>
          </a:bodyPr>
          <a:lstStyle/>
          <a:p>
            <a:endParaRPr lang="en-US" sz="4000"/>
          </a:p>
        </p:txBody>
      </p:sp>
      <p:sp>
        <p:nvSpPr>
          <p:cNvPr id="9" name="TextBox 8">
            <a:extLst>
              <a:ext uri="{FF2B5EF4-FFF2-40B4-BE49-F238E27FC236}">
                <a16:creationId xmlns:a16="http://schemas.microsoft.com/office/drawing/2014/main" id="{277FD18C-1E47-9FBB-532B-0DE3C233677A}"/>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0EFC4CB8-AF3F-406B-99FC-2C281AD6990A}"/>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25B95680-E32C-1E10-95C3-D0583F057C8A}"/>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5C468B22-5176-DF39-28C7-B9C61DEEF657}"/>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884063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8223418-AC99-D403-B6BA-7F5E5111A87A}"/>
              </a:ext>
            </a:extLst>
          </p:cNvPr>
          <p:cNvSpPr>
            <a:spLocks noGrp="1"/>
          </p:cNvSpPr>
          <p:nvPr>
            <p:ph type="sldNum" sz="quarter" idx="10"/>
          </p:nvPr>
        </p:nvSpPr>
        <p:spPr/>
        <p:txBody>
          <a:bodyPr/>
          <a:lstStyle/>
          <a:p>
            <a:fld id="{10A01DC5-1685-4615-8240-15192985C6A2}" type="slidenum">
              <a:rPr lang="en-AU" smtClean="0"/>
              <a:pPr/>
              <a:t>66</a:t>
            </a:fld>
            <a:endParaRPr lang="en-AU"/>
          </a:p>
        </p:txBody>
      </p:sp>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t>References</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a:xfrm>
            <a:off x="207600" y="3141133"/>
            <a:ext cx="11484000" cy="2927351"/>
          </a:xfrm>
        </p:spPr>
        <p:txBody>
          <a:bodyPr vert="horz" lIns="0" tIns="0" rIns="0" bIns="0" rtlCol="0" anchor="t">
            <a:noAutofit/>
          </a:bodyPr>
          <a:lstStyle/>
          <a:p>
            <a:pPr marL="388620" lvl="1" indent="-194310" algn="l">
              <a:lnSpc>
                <a:spcPts val="2880"/>
              </a:lnSpc>
              <a:buFont typeface="Arial"/>
              <a:buChar char="•"/>
            </a:pPr>
            <a:r>
              <a:rPr lang="en-US" spc="-21">
                <a:solidFill>
                  <a:srgbClr val="000000"/>
                </a:solidFill>
                <a:latin typeface="Arial"/>
                <a:ea typeface="Arial"/>
                <a:cs typeface="Arial"/>
                <a:sym typeface="Arial"/>
              </a:rPr>
              <a:t> ABC Education. (2020). ‘</a:t>
            </a:r>
            <a:r>
              <a:rPr lang="en-US" u="sng" spc="-21">
                <a:solidFill>
                  <a:srgbClr val="000000"/>
                </a:solidFill>
                <a:latin typeface="Arial"/>
                <a:ea typeface="Arial"/>
                <a:cs typeface="Arial"/>
                <a:sym typeface="Arial"/>
                <a:hlinkClick r:id="rId3" tooltip="https://www.abc.net.au/education/goat-maths-goat-busters/102120816"/>
              </a:rPr>
              <a:t>Goat Busters (area model for multiplication)’</a:t>
            </a:r>
            <a:r>
              <a:rPr lang="en-US" spc="-21">
                <a:solidFill>
                  <a:srgbClr val="000000"/>
                </a:solidFill>
                <a:latin typeface="Arial"/>
                <a:ea typeface="Arial"/>
                <a:cs typeface="Arial"/>
                <a:sym typeface="Arial"/>
              </a:rPr>
              <a:t>, GOAT </a:t>
            </a:r>
            <a:r>
              <a:rPr lang="en-US" spc="-21" err="1">
                <a:solidFill>
                  <a:srgbClr val="000000"/>
                </a:solidFill>
                <a:latin typeface="Arial"/>
                <a:ea typeface="Arial"/>
                <a:cs typeface="Arial"/>
                <a:sym typeface="Arial"/>
              </a:rPr>
              <a:t>Maths</a:t>
            </a:r>
            <a:r>
              <a:rPr lang="en-US" spc="-21">
                <a:solidFill>
                  <a:srgbClr val="000000"/>
                </a:solidFill>
                <a:latin typeface="Arial"/>
                <a:ea typeface="Arial"/>
                <a:cs typeface="Arial"/>
                <a:sym typeface="Arial"/>
              </a:rPr>
              <a:t> games website, Accessed 18/05/2023.</a:t>
            </a:r>
          </a:p>
          <a:p>
            <a:pPr marL="388620" lvl="1" indent="-194310" algn="l">
              <a:lnSpc>
                <a:spcPts val="2880"/>
              </a:lnSpc>
              <a:buFont typeface="Arial"/>
              <a:buChar char="•"/>
            </a:pPr>
            <a:r>
              <a:rPr lang="en-US" spc="-21">
                <a:solidFill>
                  <a:srgbClr val="000000"/>
                </a:solidFill>
                <a:latin typeface="Arial"/>
                <a:ea typeface="Arial"/>
                <a:cs typeface="Arial"/>
                <a:sym typeface="Arial"/>
              </a:rPr>
              <a:t>NSW Department of Education (2023) ‘</a:t>
            </a:r>
            <a:r>
              <a:rPr lang="en-US" u="sng" spc="-21">
                <a:solidFill>
                  <a:srgbClr val="000000"/>
                </a:solidFill>
                <a:latin typeface="Arial"/>
                <a:ea typeface="Arial"/>
                <a:cs typeface="Arial"/>
                <a:sym typeface="Arial"/>
                <a:hlinkClick r:id="rId4"/>
              </a:rPr>
              <a:t>101 and you’re out (2-digit-addition)</a:t>
            </a:r>
            <a:r>
              <a:rPr lang="en-US" spc="-21">
                <a:solidFill>
                  <a:srgbClr val="000000"/>
                </a:solidFill>
                <a:latin typeface="Arial"/>
                <a:ea typeface="Arial"/>
                <a:cs typeface="Arial"/>
                <a:sym typeface="Arial"/>
              </a:rPr>
              <a:t>’, Mathematics K-6 resources website, accessed 18/05/2023.</a:t>
            </a:r>
          </a:p>
          <a:p>
            <a:pPr marL="388620" lvl="1" indent="-194310" algn="l">
              <a:lnSpc>
                <a:spcPts val="2880"/>
              </a:lnSpc>
              <a:buFont typeface="Arial"/>
              <a:buChar char="•"/>
            </a:pPr>
            <a:r>
              <a:rPr lang="en-US" spc="-21">
                <a:solidFill>
                  <a:srgbClr val="000000"/>
                </a:solidFill>
                <a:latin typeface="Arial"/>
                <a:ea typeface="Arial"/>
                <a:cs typeface="Arial"/>
                <a:sym typeface="Arial"/>
              </a:rPr>
              <a:t>NSW Department of Education (2023) ‘</a:t>
            </a:r>
            <a:r>
              <a:rPr lang="en-US" u="sng" spc="-21">
                <a:solidFill>
                  <a:srgbClr val="000000"/>
                </a:solidFill>
                <a:latin typeface="Arial"/>
                <a:ea typeface="Arial"/>
                <a:cs typeface="Arial"/>
                <a:sym typeface="Arial"/>
                <a:hlinkClick r:id="rId5"/>
              </a:rPr>
              <a:t>Dicey addition (3-digit addition)</a:t>
            </a:r>
            <a:r>
              <a:rPr lang="en-US" spc="-21">
                <a:solidFill>
                  <a:srgbClr val="000000"/>
                </a:solidFill>
                <a:latin typeface="Arial"/>
                <a:ea typeface="Arial"/>
                <a:cs typeface="Arial"/>
                <a:sym typeface="Arial"/>
              </a:rPr>
              <a:t>’, Mathematics K-6 resources website, accessed 18/05/2023.</a:t>
            </a:r>
          </a:p>
          <a:p>
            <a:pPr marL="388620" lvl="1" indent="-194310" algn="l">
              <a:lnSpc>
                <a:spcPts val="2880"/>
              </a:lnSpc>
              <a:buFont typeface="Arial"/>
              <a:buChar char="•"/>
            </a:pPr>
            <a:r>
              <a:rPr lang="en-US" spc="-21">
                <a:solidFill>
                  <a:srgbClr val="000000"/>
                </a:solidFill>
                <a:latin typeface="Arial"/>
                <a:ea typeface="Arial"/>
                <a:cs typeface="Arial"/>
                <a:sym typeface="Arial"/>
              </a:rPr>
              <a:t>NSW Department of Education (2023) ‘</a:t>
            </a:r>
            <a:r>
              <a:rPr lang="en-US" u="sng" spc="-21">
                <a:solidFill>
                  <a:srgbClr val="000000"/>
                </a:solidFill>
                <a:latin typeface="Arial"/>
                <a:ea typeface="Arial"/>
                <a:cs typeface="Arial"/>
                <a:sym typeface="Arial"/>
                <a:hlinkClick r:id="rId6"/>
              </a:rPr>
              <a:t>Mastermind’,</a:t>
            </a:r>
            <a:r>
              <a:rPr lang="en-US" spc="-21">
                <a:solidFill>
                  <a:srgbClr val="000000"/>
                </a:solidFill>
                <a:latin typeface="Arial"/>
                <a:ea typeface="Arial"/>
                <a:cs typeface="Arial"/>
                <a:sym typeface="Arial"/>
              </a:rPr>
              <a:t> Mathematics K-6 resources website, accessed 18/05/2023.</a:t>
            </a:r>
          </a:p>
          <a:p>
            <a:pPr marL="388620" lvl="1" indent="-194310" algn="l">
              <a:lnSpc>
                <a:spcPts val="2880"/>
              </a:lnSpc>
              <a:buFont typeface="Arial"/>
              <a:buChar char="•"/>
            </a:pPr>
            <a:r>
              <a:rPr lang="en-US" spc="-21">
                <a:solidFill>
                  <a:srgbClr val="000000"/>
                </a:solidFill>
                <a:latin typeface="Arial"/>
                <a:ea typeface="Arial"/>
                <a:cs typeface="Arial"/>
                <a:sym typeface="Arial"/>
              </a:rPr>
              <a:t>NSW Department of Education (2023) ‘</a:t>
            </a:r>
            <a:r>
              <a:rPr lang="en-US" u="sng" spc="-21">
                <a:solidFill>
                  <a:srgbClr val="000000"/>
                </a:solidFill>
                <a:latin typeface="Arial"/>
                <a:ea typeface="Arial"/>
                <a:cs typeface="Arial"/>
                <a:sym typeface="Arial"/>
                <a:hlinkClick r:id="rId7"/>
              </a:rPr>
              <a:t>Order! Order! (four-digit numbers)</a:t>
            </a:r>
            <a:r>
              <a:rPr lang="en-US" spc="-21">
                <a:solidFill>
                  <a:srgbClr val="000000"/>
                </a:solidFill>
                <a:latin typeface="Arial"/>
                <a:ea typeface="Arial"/>
                <a:cs typeface="Arial"/>
                <a:sym typeface="Arial"/>
              </a:rPr>
              <a:t>’, Mathematics K-6 resources website, accessed 18/05/2023.</a:t>
            </a:r>
          </a:p>
          <a:p>
            <a:pPr marL="388620" lvl="1" indent="-194310" algn="l">
              <a:lnSpc>
                <a:spcPts val="2880"/>
              </a:lnSpc>
              <a:buFont typeface="Arial"/>
              <a:buChar char="•"/>
            </a:pPr>
            <a:r>
              <a:rPr lang="en-US" spc="-21">
                <a:solidFill>
                  <a:srgbClr val="000000"/>
                </a:solidFill>
                <a:latin typeface="Arial"/>
                <a:ea typeface="Arial"/>
                <a:cs typeface="Arial"/>
                <a:sym typeface="Arial"/>
              </a:rPr>
              <a:t>New Zealand Ministry of Education (</a:t>
            </a:r>
            <a:r>
              <a:rPr lang="en-US" spc="-21" err="1">
                <a:solidFill>
                  <a:srgbClr val="000000"/>
                </a:solidFill>
                <a:latin typeface="Arial"/>
                <a:ea typeface="Arial"/>
                <a:cs typeface="Arial"/>
                <a:sym typeface="Arial"/>
              </a:rPr>
              <a:t>n.d</a:t>
            </a:r>
            <a:r>
              <a:rPr lang="en-US" spc="-21">
                <a:solidFill>
                  <a:srgbClr val="000000"/>
                </a:solidFill>
                <a:latin typeface="Arial"/>
                <a:ea typeface="Arial"/>
                <a:cs typeface="Arial"/>
                <a:sym typeface="Arial"/>
              </a:rPr>
              <a:t>) ‘</a:t>
            </a:r>
            <a:r>
              <a:rPr lang="en-US" u="sng" spc="-21">
                <a:solidFill>
                  <a:srgbClr val="000000"/>
                </a:solidFill>
                <a:latin typeface="Arial"/>
                <a:ea typeface="Arial"/>
                <a:cs typeface="Arial"/>
                <a:sym typeface="Arial"/>
              </a:rPr>
              <a:t>Place value with whole numbers</a:t>
            </a:r>
            <a:r>
              <a:rPr lang="en-US" spc="-21">
                <a:solidFill>
                  <a:srgbClr val="000000"/>
                </a:solidFill>
                <a:latin typeface="Arial"/>
                <a:ea typeface="Arial"/>
                <a:cs typeface="Arial"/>
                <a:sym typeface="Arial"/>
              </a:rPr>
              <a:t>’, </a:t>
            </a:r>
            <a:r>
              <a:rPr lang="en-US" u="sng" spc="-21">
                <a:solidFill>
                  <a:srgbClr val="000000"/>
                </a:solidFill>
                <a:latin typeface="Arial"/>
                <a:ea typeface="Arial"/>
                <a:cs typeface="Arial"/>
                <a:sym typeface="Arial"/>
              </a:rPr>
              <a:t>NZ </a:t>
            </a:r>
            <a:r>
              <a:rPr lang="en-US" u="sng" spc="-21" err="1">
                <a:solidFill>
                  <a:srgbClr val="000000"/>
                </a:solidFill>
                <a:latin typeface="Arial"/>
                <a:ea typeface="Arial"/>
                <a:cs typeface="Arial"/>
                <a:sym typeface="Arial"/>
              </a:rPr>
              <a:t>Maths</a:t>
            </a:r>
            <a:r>
              <a:rPr lang="en-US" spc="-21">
                <a:solidFill>
                  <a:srgbClr val="000000"/>
                </a:solidFill>
                <a:latin typeface="Arial"/>
                <a:ea typeface="Arial"/>
                <a:cs typeface="Arial"/>
                <a:sym typeface="Arial"/>
              </a:rPr>
              <a:t> website, accessed 18/05/2023.</a:t>
            </a:r>
            <a:endParaRPr lang="en-US" spc="-21">
              <a:solidFill>
                <a:srgbClr val="000000"/>
              </a:solidFill>
              <a:latin typeface="Arial"/>
              <a:ea typeface="Arial"/>
              <a:cs typeface="Arial"/>
            </a:endParaRPr>
          </a:p>
          <a:p>
            <a:pPr marL="388620" lvl="1" indent="-194310" algn="l">
              <a:lnSpc>
                <a:spcPts val="2880"/>
              </a:lnSpc>
              <a:buFont typeface="Arial"/>
              <a:buChar char="•"/>
            </a:pPr>
            <a:r>
              <a:rPr lang="en-US" spc="-21">
                <a:solidFill>
                  <a:srgbClr val="000000"/>
                </a:solidFill>
                <a:latin typeface="Arial"/>
                <a:ea typeface="Arial"/>
                <a:cs typeface="Arial"/>
                <a:sym typeface="Arial"/>
              </a:rPr>
              <a:t>New Zealand Ministry of Education (</a:t>
            </a:r>
            <a:r>
              <a:rPr lang="en-US" spc="-21" err="1">
                <a:solidFill>
                  <a:srgbClr val="000000"/>
                </a:solidFill>
                <a:latin typeface="Arial"/>
                <a:ea typeface="Arial"/>
                <a:cs typeface="Arial"/>
                <a:sym typeface="Arial"/>
              </a:rPr>
              <a:t>n.d</a:t>
            </a:r>
            <a:r>
              <a:rPr lang="en-US" spc="-21">
                <a:solidFill>
                  <a:srgbClr val="000000"/>
                </a:solidFill>
                <a:latin typeface="Arial"/>
                <a:ea typeface="Arial"/>
                <a:cs typeface="Arial"/>
                <a:sym typeface="Arial"/>
              </a:rPr>
              <a:t>) ‘</a:t>
            </a:r>
            <a:r>
              <a:rPr lang="en-US" u="sng" spc="-21">
                <a:solidFill>
                  <a:srgbClr val="000000"/>
                </a:solidFill>
                <a:latin typeface="Arial"/>
                <a:ea typeface="Arial"/>
                <a:cs typeface="Arial"/>
                <a:sym typeface="Arial"/>
              </a:rPr>
              <a:t>Place value with whole numbers and decimals</a:t>
            </a:r>
            <a:r>
              <a:rPr lang="en-US" spc="-21">
                <a:solidFill>
                  <a:srgbClr val="000000"/>
                </a:solidFill>
                <a:latin typeface="Arial"/>
                <a:ea typeface="Arial"/>
                <a:cs typeface="Arial"/>
                <a:sym typeface="Arial"/>
              </a:rPr>
              <a:t>’, </a:t>
            </a:r>
            <a:r>
              <a:rPr lang="en-US" u="sng" spc="-21">
                <a:solidFill>
                  <a:srgbClr val="000000"/>
                </a:solidFill>
                <a:latin typeface="Arial"/>
                <a:ea typeface="Arial"/>
                <a:cs typeface="Arial"/>
                <a:sym typeface="Arial"/>
              </a:rPr>
              <a:t>NZ </a:t>
            </a:r>
            <a:r>
              <a:rPr lang="en-US" u="sng" spc="-21" err="1">
                <a:solidFill>
                  <a:srgbClr val="000000"/>
                </a:solidFill>
                <a:latin typeface="Arial"/>
                <a:ea typeface="Arial"/>
                <a:cs typeface="Arial"/>
                <a:sym typeface="Arial"/>
              </a:rPr>
              <a:t>Maths</a:t>
            </a:r>
            <a:r>
              <a:rPr lang="en-US" spc="-21">
                <a:solidFill>
                  <a:srgbClr val="000000"/>
                </a:solidFill>
                <a:latin typeface="Arial"/>
                <a:ea typeface="Arial"/>
                <a:cs typeface="Arial"/>
                <a:sym typeface="Arial"/>
              </a:rPr>
              <a:t> website, accessed 18/05/2023.</a:t>
            </a:r>
            <a:endParaRPr lang="en-US" spc="-21">
              <a:solidFill>
                <a:srgbClr val="000000"/>
              </a:solidFill>
              <a:latin typeface="Arial"/>
              <a:ea typeface="Arial"/>
              <a:cs typeface="Arial"/>
            </a:endParaRPr>
          </a:p>
          <a:p>
            <a:pPr marL="388620" lvl="1" indent="-194310" algn="l">
              <a:lnSpc>
                <a:spcPts val="2880"/>
              </a:lnSpc>
              <a:buFont typeface="Arial"/>
              <a:buChar char="•"/>
            </a:pPr>
            <a:r>
              <a:rPr lang="en-US" spc="-21">
                <a:solidFill>
                  <a:srgbClr val="000000"/>
                </a:solidFill>
                <a:latin typeface="Arial"/>
                <a:ea typeface="Arial"/>
                <a:cs typeface="Arial"/>
                <a:sym typeface="Arial"/>
              </a:rPr>
              <a:t>New Zealand Ministry of Education (</a:t>
            </a:r>
            <a:r>
              <a:rPr lang="en-US" spc="-21" err="1">
                <a:solidFill>
                  <a:srgbClr val="000000"/>
                </a:solidFill>
                <a:latin typeface="Arial"/>
                <a:ea typeface="Arial"/>
                <a:cs typeface="Arial"/>
                <a:sym typeface="Arial"/>
              </a:rPr>
              <a:t>n.d</a:t>
            </a:r>
            <a:r>
              <a:rPr lang="en-US" spc="-21">
                <a:solidFill>
                  <a:srgbClr val="000000"/>
                </a:solidFill>
                <a:latin typeface="Arial"/>
                <a:ea typeface="Arial"/>
                <a:cs typeface="Arial"/>
                <a:sym typeface="Arial"/>
              </a:rPr>
              <a:t>) ‘</a:t>
            </a:r>
            <a:r>
              <a:rPr lang="en-US" u="sng" spc="-21">
                <a:solidFill>
                  <a:srgbClr val="000000"/>
                </a:solidFill>
                <a:latin typeface="Arial"/>
                <a:ea typeface="Arial"/>
                <a:cs typeface="Arial"/>
                <a:sym typeface="Arial"/>
              </a:rPr>
              <a:t>Prime Numbers</a:t>
            </a:r>
            <a:r>
              <a:rPr lang="en-US" spc="-21">
                <a:solidFill>
                  <a:srgbClr val="000000"/>
                </a:solidFill>
                <a:latin typeface="Arial"/>
                <a:ea typeface="Arial"/>
                <a:cs typeface="Arial"/>
                <a:sym typeface="Arial"/>
              </a:rPr>
              <a:t>’, NZ </a:t>
            </a:r>
            <a:r>
              <a:rPr lang="en-US" spc="-21" err="1">
                <a:solidFill>
                  <a:srgbClr val="000000"/>
                </a:solidFill>
                <a:latin typeface="Arial"/>
                <a:ea typeface="Arial"/>
                <a:cs typeface="Arial"/>
                <a:sym typeface="Arial"/>
              </a:rPr>
              <a:t>Maths</a:t>
            </a:r>
            <a:r>
              <a:rPr lang="en-US" spc="-21">
                <a:solidFill>
                  <a:srgbClr val="000000"/>
                </a:solidFill>
                <a:latin typeface="Arial"/>
                <a:ea typeface="Arial"/>
                <a:cs typeface="Arial"/>
                <a:sym typeface="Arial"/>
              </a:rPr>
              <a:t> website, accessed 18/05/2023.</a:t>
            </a:r>
            <a:endParaRPr lang="en-US" spc="-21">
              <a:solidFill>
                <a:srgbClr val="000000"/>
              </a:solidFill>
              <a:latin typeface="Arial"/>
              <a:ea typeface="Arial"/>
              <a:cs typeface="Arial"/>
            </a:endParaRP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8">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latin typeface="Public Sans Light"/>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9">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latin typeface="Public Sans Light"/>
                <a:ea typeface="+mn-ea"/>
                <a:cs typeface="+mn-cs"/>
              </a:rPr>
              <a:t> </a:t>
            </a:r>
            <a:r>
              <a:rPr kumimoji="0" lang="en-AU" sz="1200" b="0" i="0" u="none" strike="noStrike" kern="1200" cap="none" spc="0" normalizeH="0" baseline="0" noProof="0">
                <a:ln>
                  <a:noFill/>
                </a:ln>
                <a:solidFill>
                  <a:srgbClr val="FFFFFF"/>
                </a:solidFill>
                <a:effectLst/>
                <a:uLnTx/>
                <a:uFillTx/>
                <a:latin typeface="Public Sans Light"/>
                <a:ea typeface="+mn-ea"/>
                <a:cs typeface="+mn-cs"/>
              </a:rPr>
              <a:t>and the NSW Curriculum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10">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latin typeface="Public Sans Light"/>
                <a:ea typeface="+mn-ea"/>
                <a:cs typeface="+mn-cs"/>
              </a:rPr>
              <a:t>.</a:t>
            </a:r>
          </a:p>
        </p:txBody>
      </p:sp>
    </p:spTree>
    <p:extLst>
      <p:ext uri="{BB962C8B-B14F-4D97-AF65-F5344CB8AC3E}">
        <p14:creationId xmlns:p14="http://schemas.microsoft.com/office/powerpoint/2010/main" val="118101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8223418-AC99-D403-B6BA-7F5E5111A87A}"/>
              </a:ext>
            </a:extLst>
          </p:cNvPr>
          <p:cNvSpPr>
            <a:spLocks noGrp="1"/>
          </p:cNvSpPr>
          <p:nvPr>
            <p:ph type="sldNum" sz="quarter" idx="10"/>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67</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t>References</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a:xfrm>
            <a:off x="207600" y="3141133"/>
            <a:ext cx="11484000" cy="2927351"/>
          </a:xfrm>
        </p:spPr>
        <p:txBody>
          <a:bodyPr/>
          <a:lstStyle/>
          <a:p>
            <a:pPr marL="388620" lvl="1" indent="-194310" algn="l">
              <a:lnSpc>
                <a:spcPts val="2880"/>
              </a:lnSpc>
              <a:buFont typeface="Arial"/>
              <a:buChar char="•"/>
            </a:pPr>
            <a:r>
              <a:rPr lang="en-US" sz="1200" spc="-21">
                <a:solidFill>
                  <a:srgbClr val="000000"/>
                </a:solidFill>
                <a:latin typeface="Arial"/>
                <a:ea typeface="Arial"/>
                <a:cs typeface="Arial"/>
                <a:sym typeface="Arial"/>
              </a:rPr>
              <a:t>University of Cambridge (Faculty of Mathematics) (2023) ‘</a:t>
            </a:r>
            <a:r>
              <a:rPr lang="en-US" sz="1200" u="sng" spc="-21">
                <a:solidFill>
                  <a:srgbClr val="000000"/>
                </a:solidFill>
                <a:latin typeface="Arial"/>
                <a:ea typeface="Arial"/>
                <a:cs typeface="Arial"/>
                <a:sym typeface="Arial"/>
                <a:hlinkClick r:id="rId3" tooltip="https://nrich.maths.org/factorsandmultiples"/>
              </a:rPr>
              <a:t>Factors and Multiples Game</a:t>
            </a:r>
            <a:r>
              <a:rPr lang="en-US" sz="1200" spc="-21">
                <a:solidFill>
                  <a:srgbClr val="000000"/>
                </a:solidFill>
                <a:latin typeface="Arial"/>
                <a:ea typeface="Arial"/>
                <a:cs typeface="Arial"/>
                <a:sym typeface="Arial"/>
              </a:rPr>
              <a:t>’, NRICH website, accessed18/05/2023.</a:t>
            </a:r>
          </a:p>
          <a:p>
            <a:pPr marL="388620" lvl="1" indent="-194310" algn="l">
              <a:lnSpc>
                <a:spcPts val="2880"/>
              </a:lnSpc>
              <a:buFont typeface="Arial"/>
              <a:buChar char="•"/>
            </a:pPr>
            <a:r>
              <a:rPr lang="en-US" sz="1200" spc="-21">
                <a:solidFill>
                  <a:srgbClr val="000000"/>
                </a:solidFill>
                <a:latin typeface="Arial"/>
                <a:ea typeface="Arial"/>
                <a:cs typeface="Arial"/>
                <a:sym typeface="Arial"/>
              </a:rPr>
              <a:t>University of Cambridge (Faculty of Mathematics) (2023) ‘</a:t>
            </a:r>
            <a:r>
              <a:rPr lang="en-US" sz="1200" u="sng" spc="-21">
                <a:solidFill>
                  <a:srgbClr val="000000"/>
                </a:solidFill>
                <a:latin typeface="Arial"/>
                <a:ea typeface="Arial"/>
                <a:cs typeface="Arial"/>
                <a:sym typeface="Arial"/>
                <a:hlinkClick r:id="rId4" tooltip="https://nrich.maths.org/10421/note"/>
              </a:rPr>
              <a:t>Multiply Multiples 1</a:t>
            </a:r>
            <a:r>
              <a:rPr lang="en-US" sz="1200" spc="-21">
                <a:solidFill>
                  <a:srgbClr val="000000"/>
                </a:solidFill>
                <a:latin typeface="Arial"/>
                <a:ea typeface="Arial"/>
                <a:cs typeface="Arial"/>
                <a:sym typeface="Arial"/>
              </a:rPr>
              <a:t>’, NRICH website, accessed 18/05/2023.</a:t>
            </a:r>
          </a:p>
          <a:p>
            <a:pPr marL="388620" lvl="1" indent="-194310" algn="l">
              <a:lnSpc>
                <a:spcPts val="2880"/>
              </a:lnSpc>
              <a:buFont typeface="Arial"/>
              <a:buChar char="•"/>
            </a:pPr>
            <a:r>
              <a:rPr lang="en-US" sz="1200" spc="-21">
                <a:solidFill>
                  <a:srgbClr val="000000"/>
                </a:solidFill>
                <a:latin typeface="Arial"/>
                <a:ea typeface="Arial"/>
                <a:cs typeface="Arial"/>
                <a:sym typeface="Arial"/>
              </a:rPr>
              <a:t>University of Cambridge (Faculty of Mathematics) (2023) ‘</a:t>
            </a:r>
            <a:r>
              <a:rPr lang="en-US" sz="1200" u="sng" spc="-21">
                <a:solidFill>
                  <a:srgbClr val="000000"/>
                </a:solidFill>
                <a:latin typeface="Arial"/>
                <a:ea typeface="Arial"/>
                <a:cs typeface="Arial"/>
                <a:sym typeface="Arial"/>
                <a:hlinkClick r:id="rId5" tooltip="https://nrich.maths.org/10424"/>
              </a:rPr>
              <a:t>Multiply Multiples 2</a:t>
            </a:r>
            <a:r>
              <a:rPr lang="en-US" sz="1200" spc="-21">
                <a:solidFill>
                  <a:srgbClr val="000000"/>
                </a:solidFill>
                <a:latin typeface="Arial"/>
                <a:ea typeface="Arial"/>
                <a:cs typeface="Arial"/>
                <a:sym typeface="Arial"/>
              </a:rPr>
              <a:t>’, NRICH website, accessed 18/05/2023.</a:t>
            </a:r>
          </a:p>
          <a:p>
            <a:pPr marL="194310" lvl="1" algn="l">
              <a:lnSpc>
                <a:spcPts val="2880"/>
              </a:lnSpc>
            </a:pPr>
            <a:endParaRPr lang="en-US" spc="-21">
              <a:solidFill>
                <a:srgbClr val="000000"/>
              </a:solidFill>
              <a:latin typeface="Arial"/>
              <a:ea typeface="Arial"/>
              <a:cs typeface="Arial"/>
              <a:sym typeface="Arial"/>
            </a:endParaRP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6">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latin typeface="Public Sans Light"/>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7">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latin typeface="Public Sans Light"/>
                <a:ea typeface="+mn-ea"/>
                <a:cs typeface="+mn-cs"/>
              </a:rPr>
              <a:t> </a:t>
            </a:r>
            <a:r>
              <a:rPr kumimoji="0" lang="en-AU" sz="1200" b="0" i="0" u="none" strike="noStrike" kern="1200" cap="none" spc="0" normalizeH="0" baseline="0" noProof="0">
                <a:ln>
                  <a:noFill/>
                </a:ln>
                <a:solidFill>
                  <a:srgbClr val="FFFFFF"/>
                </a:solidFill>
                <a:effectLst/>
                <a:uLnTx/>
                <a:uFillTx/>
                <a:latin typeface="Public Sans Light"/>
                <a:ea typeface="+mn-ea"/>
                <a:cs typeface="+mn-cs"/>
              </a:rPr>
              <a:t>and the NSW Curriculum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8">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latin typeface="Public Sans Light"/>
                <a:ea typeface="+mn-ea"/>
                <a:cs typeface="+mn-cs"/>
              </a:rPr>
              <a:t>.</a:t>
            </a:r>
          </a:p>
        </p:txBody>
      </p:sp>
    </p:spTree>
    <p:extLst>
      <p:ext uri="{BB962C8B-B14F-4D97-AF65-F5344CB8AC3E}">
        <p14:creationId xmlns:p14="http://schemas.microsoft.com/office/powerpoint/2010/main" val="1119515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student-facing-primary-template-2025-v1.5" id="{A9A19751-B500-3D41-BF6E-0C76E7DB2487}" vid="{D6BC33BF-2A14-9E48-959C-B41C5F1C3CB1}"/>
    </a:ext>
  </a:extLst>
</a:theme>
</file>

<file path=ppt/theme/theme2.xml><?xml version="1.0" encoding="utf-8"?>
<a:theme xmlns:a="http://schemas.openxmlformats.org/drawingml/2006/main" name="1_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NSW Gov PPT">
      <a:majorFont>
        <a:latin typeface="Public Sans"/>
        <a:ea typeface=""/>
        <a:cs typeface=""/>
      </a:majorFont>
      <a:minorFont>
        <a:latin typeface="Public Sans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Mathematics PowerPoint template" id="{199D4273-0580-424B-B855-9A8BB1348783}" vid="{B38BF3CA-A6F3-4BBC-8CF4-5E0B855A470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60129b06-f64b-40a8-96e2-c5b2f86112b1" xsi:nil="true"/>
    <lcf76f155ced4ddcb4097134ff3c332f xmlns="7e763d47-3c66-4c58-9425-1477fd3ccd1e">
      <Terms xmlns="http://schemas.microsoft.com/office/infopath/2007/PartnerControls"/>
    </lcf76f155ced4ddcb4097134ff3c332f>
    <Projectleadreview xmlns="7e763d47-3c66-4c58-9425-1477fd3ccd1e" xsi:nil="true"/>
    <Workstreamleadendorsement xmlns="7e763d47-3c66-4c58-9425-1477fd3ccd1e" xsi:nil="true"/>
    <Digitalsupport xmlns="7e763d47-3c66-4c58-9425-1477fd3ccd1e" xsi:nil="true"/>
    <Addedtoexcel xmlns="7e763d47-3c66-4c58-9425-1477fd3ccd1e" xsi:nil="true"/>
    <Writingpod xmlns="7e763d47-3c66-4c58-9425-1477fd3ccd1e">
      <UserInfo>
        <DisplayName/>
        <AccountId xsi:nil="true"/>
        <AccountType/>
      </UserInfo>
    </Writingpod>
    <FeedbackfromNSWMS xmlns="7e763d47-3c66-4c58-9425-1477fd3ccd1e" xsi:nil="true"/>
    <Resourcedrop xmlns="7e763d47-3c66-4c58-9425-1477fd3ccd1e" xsi:nil="true"/>
    <Designanddevelopment xmlns="7e763d47-3c66-4c58-9425-1477fd3ccd1e" xsi:nil="true"/>
    <StoredinTRIM xmlns="7e763d47-3c66-4c58-9425-1477fd3ccd1e" xsi:nil="true"/>
    <Contentediting xmlns="7e763d47-3c66-4c58-9425-1477fd3ccd1e" xsi:nil="true"/>
    <Published xmlns="7e763d47-3c66-4c58-9425-1477fd3ccd1e"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8550904603AA64982DCAA86C5CFC06E" ma:contentTypeVersion="32" ma:contentTypeDescription="Create a new document." ma:contentTypeScope="" ma:versionID="05891fa245dabad90296fcda280daeb8">
  <xsd:schema xmlns:xsd="http://www.w3.org/2001/XMLSchema" xmlns:xs="http://www.w3.org/2001/XMLSchema" xmlns:p="http://schemas.microsoft.com/office/2006/metadata/properties" xmlns:ns2="7e763d47-3c66-4c58-9425-1477fd3ccd1e" xmlns:ns3="60129b06-f64b-40a8-96e2-c5b2f86112b1" targetNamespace="http://schemas.microsoft.com/office/2006/metadata/properties" ma:root="true" ma:fieldsID="3e7d40734bf85537985a675388facd7f" ns2:_="" ns3:_="">
    <xsd:import namespace="7e763d47-3c66-4c58-9425-1477fd3ccd1e"/>
    <xsd:import namespace="60129b06-f64b-40a8-96e2-c5b2f86112b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LengthInSeconds" minOccurs="0"/>
                <xsd:element ref="ns2:Writingpod" minOccurs="0"/>
                <xsd:element ref="ns2:Designanddevelopment" minOccurs="0"/>
                <xsd:element ref="ns2:FeedbackfromNSWMS" minOccurs="0"/>
                <xsd:element ref="ns2:Contentediting" minOccurs="0"/>
                <xsd:element ref="ns2:Projectleadreview" minOccurs="0"/>
                <xsd:element ref="ns2:Workstreamleadendorsement" minOccurs="0"/>
                <xsd:element ref="ns2:Digitalsupport" minOccurs="0"/>
                <xsd:element ref="ns2:StoredinTRIM" minOccurs="0"/>
                <xsd:element ref="ns2:Published" minOccurs="0"/>
                <xsd:element ref="ns2:Resourcedrop" minOccurs="0"/>
                <xsd:element ref="ns2:lcf76f155ced4ddcb4097134ff3c332f" minOccurs="0"/>
                <xsd:element ref="ns3:TaxCatchAll" minOccurs="0"/>
                <xsd:element ref="ns2:MediaServiceObjectDetectorVersions" minOccurs="0"/>
                <xsd:element ref="ns2:MediaServiceLocation" minOccurs="0"/>
                <xsd:element ref="ns2:MediaServiceSearchProperties" minOccurs="0"/>
                <xsd:element ref="ns2:Addedtoexcel"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e763d47-3c66-4c58-9425-1477fd3ccd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element name="Writingpod" ma:index="20" nillable="true" ma:displayName="Writing pod" ma:format="Dropdown" ma:list="UserInfo" ma:SharePointGroup="0" ma:internalName="Writingpod">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esignanddevelopment" ma:index="21" nillable="true" ma:displayName="Design and development" ma:format="Dropdown" ma:internalName="Designanddevelopment">
      <xsd:simpleType>
        <xsd:restriction base="dms:Choice">
          <xsd:enumeration value="Not yet started"/>
          <xsd:enumeration value="In progress"/>
          <xsd:enumeration value="Complete"/>
        </xsd:restriction>
      </xsd:simpleType>
    </xsd:element>
    <xsd:element name="FeedbackfromNSWMS" ma:index="22" nillable="true" ma:displayName="Feedback from NSWMS" ma:description="Have leaders Michelle and Ayesha provided input?" ma:format="Dropdown" ma:internalName="FeedbackfromNSWMS">
      <xsd:simpleType>
        <xsd:restriction base="dms:Choice">
          <xsd:enumeration value="Not yet requested"/>
          <xsd:enumeration value="Request submitted"/>
          <xsd:enumeration value="Feedback received"/>
        </xsd:restriction>
      </xsd:simpleType>
    </xsd:element>
    <xsd:element name="Contentediting" ma:index="23" nillable="true" ma:displayName="Content editing" ma:description="Has unit content been edited by Senior Editor (R. Kilroy)?" ma:format="Dropdown" ma:internalName="Contentediting">
      <xsd:simpleType>
        <xsd:restriction base="dms:Choice">
          <xsd:enumeration value="Not yet requested"/>
          <xsd:enumeration value="Request submitted"/>
          <xsd:enumeration value="Editing complete"/>
        </xsd:restriction>
      </xsd:simpleType>
    </xsd:element>
    <xsd:element name="Projectleadreview" ma:index="24" nillable="true" ma:displayName="Project lead review" ma:description="Have project leads (H. Laverick and R. Cheal) reviewed the unit?" ma:format="Dropdown" ma:internalName="Projectleadreview">
      <xsd:simpleType>
        <xsd:restriction base="dms:Choice">
          <xsd:enumeration value="Not yet requested"/>
          <xsd:enumeration value="Request submitted"/>
          <xsd:enumeration value="Review complete"/>
        </xsd:restriction>
      </xsd:simpleType>
    </xsd:element>
    <xsd:element name="Workstreamleadendorsement" ma:index="25" nillable="true" ma:displayName="Workstream lead endorsement" ma:description="Has J. Hoffman endorsed the unit?" ma:format="Dropdown" ma:internalName="Workstreamleadendorsement">
      <xsd:simpleType>
        <xsd:restriction base="dms:Choice">
          <xsd:enumeration value="Not yet submitted"/>
          <xsd:enumeration value="Request submitted"/>
          <xsd:enumeration value="Endorsement complete"/>
        </xsd:restriction>
      </xsd:simpleType>
    </xsd:element>
    <xsd:element name="Digitalsupport" ma:index="26" nillable="true" ma:displayName="Digital support" ma:format="Dropdown" ma:internalName="Digitalsupport">
      <xsd:simpleType>
        <xsd:restriction base="dms:Choice">
          <xsd:enumeration value="Not yet submitted"/>
          <xsd:enumeration value="Request submitted (by project manager)"/>
          <xsd:enumeration value="Digital support complete"/>
        </xsd:restriction>
      </xsd:simpleType>
    </xsd:element>
    <xsd:element name="StoredinTRIM" ma:index="27" nillable="true" ma:displayName="Stored in TRIM" ma:format="Dropdown" ma:internalName="StoredinTRIM">
      <xsd:simpleType>
        <xsd:restriction base="dms:Choice">
          <xsd:enumeration value="Yes"/>
          <xsd:enumeration value="No"/>
        </xsd:restriction>
      </xsd:simpleType>
    </xsd:element>
    <xsd:element name="Published" ma:index="28" nillable="true" ma:displayName="Published" ma:format="Dropdown" ma:internalName="Published">
      <xsd:simpleType>
        <xsd:restriction base="dms:Choice">
          <xsd:enumeration value="Yes"/>
          <xsd:enumeration value="No"/>
        </xsd:restriction>
      </xsd:simpleType>
    </xsd:element>
    <xsd:element name="Resourcedrop" ma:index="29" nillable="true" ma:displayName="Drop week" ma:format="Dropdown" ma:internalName="Resourcedrop">
      <xsd:simpleType>
        <xsd:restriction base="dms:Choice">
          <xsd:enumeration value="T1, W1"/>
          <xsd:enumeration value="T1, W3"/>
          <xsd:enumeration value="T1, W7"/>
          <xsd:enumeration value="T1, W10"/>
          <xsd:enumeration value="T2, W1"/>
          <xsd:enumeration value="T2, W3"/>
          <xsd:enumeration value="T2, W7"/>
          <xsd:enumeration value="T2, W10"/>
          <xsd:enumeration value="T3, W1"/>
          <xsd:enumeration value="T3, W3"/>
          <xsd:enumeration value="T3, W7"/>
          <xsd:enumeration value="T3, W10"/>
          <xsd:enumeration value="T4, W1"/>
          <xsd:enumeration value="T4, W3"/>
          <xsd:enumeration value="T4, W7"/>
          <xsd:enumeration value="T4, W10"/>
        </xsd:restriction>
      </xsd:simpleType>
    </xsd:element>
    <xsd:element name="lcf76f155ced4ddcb4097134ff3c332f" ma:index="31"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33" nillable="true" ma:displayName="MediaServiceObjectDetectorVersions" ma:description="" ma:hidden="true" ma:indexed="true" ma:internalName="MediaServiceObjectDetectorVersions" ma:readOnly="true">
      <xsd:simpleType>
        <xsd:restriction base="dms:Text"/>
      </xsd:simpleType>
    </xsd:element>
    <xsd:element name="MediaServiceLocation" ma:index="34" nillable="true" ma:displayName="Location" ma:description="" ma:indexed="true" ma:internalName="MediaServiceLocation" ma:readOnly="true">
      <xsd:simpleType>
        <xsd:restriction base="dms:Text"/>
      </xsd:simpleType>
    </xsd:element>
    <xsd:element name="MediaServiceSearchProperties" ma:index="35" nillable="true" ma:displayName="MediaServiceSearchProperties" ma:hidden="true" ma:internalName="MediaServiceSearchProperties" ma:readOnly="true">
      <xsd:simpleType>
        <xsd:restriction base="dms:Note"/>
      </xsd:simpleType>
    </xsd:element>
    <xsd:element name="Addedtoexcel" ma:index="36" nillable="true" ma:displayName="Added to excel" ma:format="Dropdown" ma:internalName="Addedtoexcel">
      <xsd:simpleType>
        <xsd:restriction base="dms:Choice">
          <xsd:enumeration value="Yes"/>
        </xsd:restriction>
      </xsd:simpleType>
    </xsd:element>
    <xsd:element name="MediaServiceBillingMetadata" ma:index="3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0129b06-f64b-40a8-96e2-c5b2f86112b1"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32" nillable="true" ma:displayName="Taxonomy Catch All Column" ma:hidden="true" ma:list="{d14652b1-c484-4c0c-a021-a754efd78e11}" ma:internalName="TaxCatchAll" ma:showField="CatchAllData" ma:web="60129b06-f64b-40a8-96e2-c5b2f86112b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524F4DA-5415-43D4-8474-C9BE68919175}">
  <ds:schemaRefs>
    <ds:schemaRef ds:uri="60129b06-f64b-40a8-96e2-c5b2f86112b1"/>
    <ds:schemaRef ds:uri="7e763d47-3c66-4c58-9425-1477fd3ccd1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B9C68242-C972-4815-B4EF-36DAD899F771}">
  <ds:schemaRefs>
    <ds:schemaRef ds:uri="http://schemas.microsoft.com/sharepoint/v3/contenttype/forms"/>
  </ds:schemaRefs>
</ds:datastoreItem>
</file>

<file path=customXml/itemProps3.xml><?xml version="1.0" encoding="utf-8"?>
<ds:datastoreItem xmlns:ds="http://schemas.openxmlformats.org/officeDocument/2006/customXml" ds:itemID="{181595BE-8DAF-49E1-AB19-9A653ACEB872}">
  <ds:schemaRefs>
    <ds:schemaRef ds:uri="60129b06-f64b-40a8-96e2-c5b2f86112b1"/>
    <ds:schemaRef ds:uri="7e763d47-3c66-4c58-9425-1477fd3ccd1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student-facing-primary-template-2025-v1-5 (1)</Template>
  <TotalTime>0</TotalTime>
  <Words>6065</Words>
  <Application>Microsoft Office PowerPoint</Application>
  <PresentationFormat>Widescreen</PresentationFormat>
  <Paragraphs>782</Paragraphs>
  <Slides>68</Slides>
  <Notes>68</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68</vt:i4>
      </vt:variant>
    </vt:vector>
  </HeadingPairs>
  <TitlesOfParts>
    <vt:vector size="78" baseType="lpstr">
      <vt:lpstr>Wingdings</vt:lpstr>
      <vt:lpstr>Montserrat</vt:lpstr>
      <vt:lpstr>Times New Roman</vt:lpstr>
      <vt:lpstr>Calibri</vt:lpstr>
      <vt:lpstr>Public Sans</vt:lpstr>
      <vt:lpstr>Arial,Sans-Serif</vt:lpstr>
      <vt:lpstr>Arial</vt:lpstr>
      <vt:lpstr>Public Sans Light</vt:lpstr>
      <vt:lpstr>NSWG Corporate</vt:lpstr>
      <vt:lpstr>1_NSWG Corporate</vt:lpstr>
      <vt:lpstr>Instructions for use</vt:lpstr>
      <vt:lpstr>Review of Learning </vt:lpstr>
      <vt:lpstr>Lessons</vt:lpstr>
      <vt:lpstr>Review of learning 1</vt:lpstr>
      <vt:lpstr>Multiple choice (1) (1)</vt:lpstr>
      <vt:lpstr>Short response (1) (1)</vt:lpstr>
      <vt:lpstr>Short response (2))</vt:lpstr>
      <vt:lpstr>Short response (4)</vt:lpstr>
      <vt:lpstr>Short response (4)</vt:lpstr>
      <vt:lpstr>Aim of the game- To use mental strategies to correctly guess their opponent’s number.</vt:lpstr>
      <vt:lpstr>Review of learning  2</vt:lpstr>
      <vt:lpstr>True or false (1)</vt:lpstr>
      <vt:lpstr>Short response (1)</vt:lpstr>
      <vt:lpstr>Short response (2)</vt:lpstr>
      <vt:lpstr>Short response (3)</vt:lpstr>
      <vt:lpstr>Short response (4)</vt:lpstr>
      <vt:lpstr>Activity 2 – Ordering numbers </vt:lpstr>
      <vt:lpstr>Review of learning 3</vt:lpstr>
      <vt:lpstr>Multiple choice (1)</vt:lpstr>
      <vt:lpstr>Short response (1)</vt:lpstr>
      <vt:lpstr>Short response (2)</vt:lpstr>
      <vt:lpstr>Short response (3)</vt:lpstr>
      <vt:lpstr>Short response (2)</vt:lpstr>
      <vt:lpstr>Activity 3 – decimals on a number line </vt:lpstr>
      <vt:lpstr>Review of learning 4</vt:lpstr>
      <vt:lpstr>True or false (1)</vt:lpstr>
      <vt:lpstr>Short response (1)</vt:lpstr>
      <vt:lpstr>Short response (2)</vt:lpstr>
      <vt:lpstr>Short response (3)</vt:lpstr>
      <vt:lpstr>Short response (4)</vt:lpstr>
      <vt:lpstr>Activity 4 – ordering decimal numbers </vt:lpstr>
      <vt:lpstr>Review of learning 5</vt:lpstr>
      <vt:lpstr>Multiple choice (1)</vt:lpstr>
      <vt:lpstr>Short response (1)</vt:lpstr>
      <vt:lpstr>Short response (2)</vt:lpstr>
      <vt:lpstr>Short response (3)</vt:lpstr>
      <vt:lpstr>Short response (4)</vt:lpstr>
      <vt:lpstr>Activity 5 – partitioning for addition </vt:lpstr>
      <vt:lpstr>Review of learning 6</vt:lpstr>
      <vt:lpstr>True or false (1)</vt:lpstr>
      <vt:lpstr>Short response (1)</vt:lpstr>
      <vt:lpstr>Short response (2)</vt:lpstr>
      <vt:lpstr>Short response (3)</vt:lpstr>
      <vt:lpstr>Short response (4)</vt:lpstr>
      <vt:lpstr>Activity 6 – addition with and without regrouping </vt:lpstr>
      <vt:lpstr>Review of learning  7</vt:lpstr>
      <vt:lpstr>Multiple choice (1)</vt:lpstr>
      <vt:lpstr>Short response (2)</vt:lpstr>
      <vt:lpstr>Short response (1)</vt:lpstr>
      <vt:lpstr>Short response (3)</vt:lpstr>
      <vt:lpstr>Short response (3)</vt:lpstr>
      <vt:lpstr>Review of learning 8</vt:lpstr>
      <vt:lpstr>True or false (1)</vt:lpstr>
      <vt:lpstr>Short response (1)</vt:lpstr>
      <vt:lpstr>Short response (2)</vt:lpstr>
      <vt:lpstr>Short response (3)</vt:lpstr>
      <vt:lpstr>Short response (4)</vt:lpstr>
      <vt:lpstr>Activity 8 – addition and subtraction with and without regrouping )</vt:lpstr>
      <vt:lpstr>Double Venn diagram</vt:lpstr>
      <vt:lpstr>Frayer</vt:lpstr>
      <vt:lpstr>Spider map</vt:lpstr>
      <vt:lpstr>Cline</vt:lpstr>
      <vt:lpstr>Compare and contrast</vt:lpstr>
      <vt:lpstr>Multiple choice </vt:lpstr>
      <vt:lpstr>Multiple choice </vt:lpstr>
      <vt:lpstr>References</vt:lpstr>
      <vt:lpstr>References</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Carolyn Matthews</dc:creator>
  <cp:keywords/>
  <dc:description/>
  <cp:lastModifiedBy>Daniel Archer</cp:lastModifiedBy>
  <cp:revision>2</cp:revision>
  <dcterms:created xsi:type="dcterms:W3CDTF">2025-07-07T07:05:15Z</dcterms:created>
  <dcterms:modified xsi:type="dcterms:W3CDTF">2025-10-23T23:07:49Z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0x01010028550904603AA64982DCAA86C5CFC06E</vt:lpwstr>
  </property>
  <property fmtid="{D5CDD505-2E9C-101B-9397-08002B2CF9AE}" pid="10" name="MediaServiceImageTags">
    <vt:lpwstr/>
  </property>
</Properties>
</file>