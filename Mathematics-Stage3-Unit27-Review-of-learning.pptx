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5"/>
  </p:notesMasterIdLst>
  <p:handoutMasterIdLst>
    <p:handoutMasterId r:id="rId76"/>
  </p:handoutMasterIdLst>
  <p:sldIdLst>
    <p:sldId id="365" r:id="rId5"/>
    <p:sldId id="26579" r:id="rId6"/>
    <p:sldId id="26359" r:id="rId7"/>
    <p:sldId id="271" r:id="rId8"/>
    <p:sldId id="26646" r:id="rId9"/>
    <p:sldId id="358" r:id="rId10"/>
    <p:sldId id="26580" r:id="rId11"/>
    <p:sldId id="26581" r:id="rId12"/>
    <p:sldId id="26582" r:id="rId13"/>
    <p:sldId id="26576" r:id="rId14"/>
    <p:sldId id="26665" r:id="rId15"/>
    <p:sldId id="26666" r:id="rId16"/>
    <p:sldId id="26583" r:id="rId17"/>
    <p:sldId id="26586" r:id="rId18"/>
    <p:sldId id="26587" r:id="rId19"/>
    <p:sldId id="26588" r:id="rId20"/>
    <p:sldId id="26589" r:id="rId21"/>
    <p:sldId id="26590" r:id="rId22"/>
    <p:sldId id="26591" r:id="rId23"/>
    <p:sldId id="26592" r:id="rId24"/>
    <p:sldId id="26593" r:id="rId25"/>
    <p:sldId id="26596" r:id="rId26"/>
    <p:sldId id="26597" r:id="rId27"/>
    <p:sldId id="26598" r:id="rId28"/>
    <p:sldId id="26599" r:id="rId29"/>
    <p:sldId id="26600" r:id="rId30"/>
    <p:sldId id="26601" r:id="rId31"/>
    <p:sldId id="26604" r:id="rId32"/>
    <p:sldId id="26605" r:id="rId33"/>
    <p:sldId id="26606" r:id="rId34"/>
    <p:sldId id="26607" r:id="rId35"/>
    <p:sldId id="26608" r:id="rId36"/>
    <p:sldId id="26609" r:id="rId37"/>
    <p:sldId id="26610" r:id="rId38"/>
    <p:sldId id="26611" r:id="rId39"/>
    <p:sldId id="26614" r:id="rId40"/>
    <p:sldId id="26615" r:id="rId41"/>
    <p:sldId id="26616" r:id="rId42"/>
    <p:sldId id="26617" r:id="rId43"/>
    <p:sldId id="26618" r:id="rId44"/>
    <p:sldId id="26619" r:id="rId45"/>
    <p:sldId id="26622" r:id="rId46"/>
    <p:sldId id="26623" r:id="rId47"/>
    <p:sldId id="26624" r:id="rId48"/>
    <p:sldId id="26625" r:id="rId49"/>
    <p:sldId id="26626" r:id="rId50"/>
    <p:sldId id="26627" r:id="rId51"/>
    <p:sldId id="26628" r:id="rId52"/>
    <p:sldId id="26629" r:id="rId53"/>
    <p:sldId id="26632" r:id="rId54"/>
    <p:sldId id="26633" r:id="rId55"/>
    <p:sldId id="26634" r:id="rId56"/>
    <p:sldId id="26635" r:id="rId57"/>
    <p:sldId id="26636" r:id="rId58"/>
    <p:sldId id="26637" r:id="rId59"/>
    <p:sldId id="26640" r:id="rId60"/>
    <p:sldId id="26641" r:id="rId61"/>
    <p:sldId id="26642" r:id="rId62"/>
    <p:sldId id="26643" r:id="rId63"/>
    <p:sldId id="26644" r:id="rId64"/>
    <p:sldId id="26645" r:id="rId65"/>
    <p:sldId id="26393" r:id="rId66"/>
    <p:sldId id="26387" r:id="rId67"/>
    <p:sldId id="26395" r:id="rId68"/>
    <p:sldId id="26391" r:id="rId69"/>
    <p:sldId id="26402" r:id="rId70"/>
    <p:sldId id="26507" r:id="rId71"/>
    <p:sldId id="26649" r:id="rId72"/>
    <p:sldId id="360" r:id="rId73"/>
    <p:sldId id="361" r:id="rId74"/>
  </p:sldIdLst>
  <p:sldSz cx="12192000" cy="6858000"/>
  <p:notesSz cx="6858000" cy="9144000"/>
  <p:embeddedFontLs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46"/>
            <p14:sldId id="358"/>
            <p14:sldId id="26580"/>
            <p14:sldId id="26581"/>
            <p14:sldId id="26582"/>
            <p14:sldId id="26576"/>
            <p14:sldId id="26665"/>
            <p14:sldId id="2666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9512C2BD-3C6E-54E1-1B5F-6159248B895C}" name="Penelope Walden" initials="PW" userId="S::PENELOPE.WALDEN@det.nsw.edu.au::41188047-2d28-4ee7-88bd-64e1e89b07b3"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B2E"/>
    <a:srgbClr val="EA9B0C"/>
    <a:srgbClr val="146CFD"/>
    <a:srgbClr val="FF0000"/>
    <a:srgbClr val="FFFF00"/>
    <a:srgbClr val="F8ED08"/>
    <a:srgbClr val="B014BC"/>
    <a:srgbClr val="007A8A"/>
    <a:srgbClr val="9B6808"/>
    <a:srgbClr val="427B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4A54C4-5B60-42F9-915C-2A853341F283}" v="1888" dt="2026-02-19T07:55:23.894"/>
    <p1510:client id="{CBD160BE-2456-4E2C-906C-2F55F95DFC8B}" v="164" dt="2026-02-20T01:59:59.412"/>
    <p1510:client id="{F348918D-F6AF-46D7-AFBB-FC4D5F8D4A0E}" v="1517" dt="2026-02-20T02:13:36.89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20/02/2026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27</a:t>
            </a:r>
          </a:p>
          <a:p>
            <a:pPr marL="285750" indent="-285750">
              <a:buFont typeface="Arial" panose="020B0604020202020204" pitchFamily="34" charset="0"/>
              <a:buChar char="•"/>
            </a:pPr>
            <a:r>
              <a:rPr lang="en-AU"/>
              <a:t>Stage 3 Year B Unit 26</a:t>
            </a:r>
          </a:p>
          <a:p>
            <a:pPr marL="285750" indent="-285750">
              <a:buFont typeface="Arial" panose="020B0604020202020204" pitchFamily="34" charset="0"/>
              <a:buChar char="•"/>
            </a:pPr>
            <a:r>
              <a:rPr lang="en-AU"/>
              <a:t>Stage 3 Year B Unit 25</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 </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highlight>
                  <a:srgbClr val="FFFF00"/>
                </a:highlight>
                <a:latin typeface="Arial"/>
                <a:cs typeface="Arial"/>
              </a:rPr>
              <a:t>Multiplicative relations A (Stage 2 content reviewed)</a:t>
            </a: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Prime, composite, neither</a:t>
            </a:r>
          </a:p>
          <a:p>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Factor</a:t>
            </a:r>
            <a:r>
              <a:rPr lang="en-AU" sz="1600" kern="1200">
                <a:solidFill>
                  <a:schemeClr val="tx1"/>
                </a:solidFill>
                <a:effectLst/>
                <a:latin typeface="Arial" panose="020B0604020202020204" pitchFamily="34" charset="0"/>
                <a:ea typeface="+mn-ea"/>
                <a:cs typeface="Arial" panose="020B0604020202020204" pitchFamily="34" charset="0"/>
              </a:rPr>
              <a:t>: a number which divides another number without a remainder. For example, 1, 2, 3 and 6 are factors of 6, but 4 and 5 are not.</a:t>
            </a:r>
          </a:p>
          <a:p>
            <a:r>
              <a:rPr lang="en-AU" sz="1600" b="1" kern="1200">
                <a:solidFill>
                  <a:schemeClr val="tx1"/>
                </a:solidFill>
                <a:effectLst/>
                <a:latin typeface="Arial" panose="020B0604020202020204" pitchFamily="34" charset="0"/>
                <a:ea typeface="+mn-ea"/>
                <a:cs typeface="Arial" panose="020B0604020202020204" pitchFamily="34" charset="0"/>
              </a:rPr>
              <a:t>Composite number:</a:t>
            </a:r>
            <a:r>
              <a:rPr lang="en-AU" sz="1600" kern="1200">
                <a:solidFill>
                  <a:schemeClr val="tx1"/>
                </a:solidFill>
                <a:effectLst/>
                <a:latin typeface="Arial" panose="020B0604020202020204" pitchFamily="34" charset="0"/>
                <a:ea typeface="+mn-ea"/>
                <a:cs typeface="Arial" panose="020B0604020202020204" pitchFamily="34" charset="0"/>
              </a:rPr>
              <a:t> a non-zero natural number that has a factor other than one and itself. For example, all even numbers besides 2 are composite numbers. Some odd numbers are composite (for example, 21) but not all are composite (for example, 11).</a:t>
            </a:r>
          </a:p>
          <a:p>
            <a:r>
              <a:rPr lang="en-AU" sz="1600" b="1" kern="1200">
                <a:solidFill>
                  <a:schemeClr val="tx1"/>
                </a:solidFill>
                <a:effectLst/>
                <a:latin typeface="Arial" panose="020B0604020202020204" pitchFamily="34" charset="0"/>
                <a:ea typeface="+mn-ea"/>
                <a:cs typeface="Arial" panose="020B0604020202020204" pitchFamily="34" charset="0"/>
              </a:rPr>
              <a:t>Prime number:</a:t>
            </a:r>
            <a:r>
              <a:rPr lang="en-AU" sz="1600" kern="1200">
                <a:solidFill>
                  <a:schemeClr val="tx1"/>
                </a:solidFill>
                <a:effectLst/>
                <a:latin typeface="Arial" panose="020B0604020202020204" pitchFamily="34" charset="0"/>
                <a:ea typeface="+mn-ea"/>
                <a:cs typeface="Arial" panose="020B0604020202020204" pitchFamily="34" charset="0"/>
              </a:rPr>
              <a:t> a prime number is a positive integer which has exactly 2 distinct factors, itself and one. Modelled as an array it has only one row.</a:t>
            </a:r>
            <a:endParaRPr lang="en-AU" b="1"/>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Revise the definition of prime number, composite number and factor.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Prompt students to record the factors of 12 and 13 on their whiteboards. 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are the factors of 12?</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are the factors of 13?</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12 a composite or prime number? How do you know?</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13 a composite or prime number? How do you know?</a:t>
            </a:r>
          </a:p>
          <a:p>
            <a:pPr marL="609585" lvl="1"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609585" lvl="1"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CONTINUED ON NEXT SLIDE</a:t>
            </a:r>
          </a:p>
          <a:p>
            <a:endParaRPr lang="en-AU" b="0"/>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CBE47-450B-DDDC-2093-6969E0021A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D0146-36ED-981E-EF35-8CF2DA7B2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2EB74-EB6A-6793-18F5-60ABE371AD6E}"/>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Prime, composite, neither</a:t>
            </a:r>
          </a:p>
          <a:p>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Factor</a:t>
            </a:r>
            <a:r>
              <a:rPr lang="en-AU" sz="1600" kern="1200">
                <a:solidFill>
                  <a:schemeClr val="tx1"/>
                </a:solidFill>
                <a:effectLst/>
                <a:latin typeface="Arial" panose="020B0604020202020204" pitchFamily="34" charset="0"/>
                <a:ea typeface="+mn-ea"/>
                <a:cs typeface="Arial" panose="020B0604020202020204" pitchFamily="34" charset="0"/>
              </a:rPr>
              <a:t>: a number which divides another number without a remainder. For example, 1, 2, 3 and 6 are factors of 6, but 4 and 5 are not.</a:t>
            </a:r>
          </a:p>
          <a:p>
            <a:r>
              <a:rPr lang="en-AU" sz="1600" b="1" kern="1200">
                <a:solidFill>
                  <a:schemeClr val="tx1"/>
                </a:solidFill>
                <a:effectLst/>
                <a:latin typeface="Arial" panose="020B0604020202020204" pitchFamily="34" charset="0"/>
                <a:ea typeface="+mn-ea"/>
                <a:cs typeface="Arial" panose="020B0604020202020204" pitchFamily="34" charset="0"/>
              </a:rPr>
              <a:t>Composite number:</a:t>
            </a:r>
            <a:r>
              <a:rPr lang="en-AU" sz="1600" kern="1200">
                <a:solidFill>
                  <a:schemeClr val="tx1"/>
                </a:solidFill>
                <a:effectLst/>
                <a:latin typeface="Arial" panose="020B0604020202020204" pitchFamily="34" charset="0"/>
                <a:ea typeface="+mn-ea"/>
                <a:cs typeface="Arial" panose="020B0604020202020204" pitchFamily="34" charset="0"/>
              </a:rPr>
              <a:t> a non-zero natural number that has a factor other than one and itself. For example, all even numbers besides 2 are composite numbers. Some odd numbers are composite (for example, 21) but not all are composite (for example, 11).</a:t>
            </a:r>
          </a:p>
          <a:p>
            <a:r>
              <a:rPr lang="en-AU" sz="1600" b="1" kern="1200">
                <a:solidFill>
                  <a:schemeClr val="tx1"/>
                </a:solidFill>
                <a:effectLst/>
                <a:latin typeface="Arial" panose="020B0604020202020204" pitchFamily="34" charset="0"/>
                <a:ea typeface="+mn-ea"/>
                <a:cs typeface="Arial" panose="020B0604020202020204" pitchFamily="34" charset="0"/>
              </a:rPr>
              <a:t>Prime number:</a:t>
            </a:r>
            <a:r>
              <a:rPr lang="en-AU" sz="1600" kern="1200">
                <a:solidFill>
                  <a:schemeClr val="tx1"/>
                </a:solidFill>
                <a:effectLst/>
                <a:latin typeface="Arial" panose="020B0604020202020204" pitchFamily="34" charset="0"/>
                <a:ea typeface="+mn-ea"/>
                <a:cs typeface="Arial" panose="020B0604020202020204" pitchFamily="34" charset="0"/>
              </a:rPr>
              <a:t> a prime number is a positive integer which has exactly 2 distinct factors, itself and one. Modelled as an array it has only one row.</a:t>
            </a:r>
            <a:endParaRPr lang="en-AU" b="1"/>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Prompt students to record the factors of 41, 44, 48 and 49 on their whiteboards and identify whether each number is prime or composite.</a:t>
            </a:r>
          </a:p>
          <a:p>
            <a:pPr marL="609585" lvl="1"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609585" lvl="1"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CONTINUED ON NEXT SLIDE</a:t>
            </a:r>
          </a:p>
          <a:p>
            <a:pPr marL="342900" lvl="0" indent="-342900">
              <a:buFont typeface="+mj-lt"/>
              <a:buAutoNum type="arabicPeriod"/>
            </a:pP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0"/>
          </a:p>
          <a:p>
            <a:endParaRPr lang="en-AU"/>
          </a:p>
        </p:txBody>
      </p:sp>
      <p:sp>
        <p:nvSpPr>
          <p:cNvPr id="4" name="Slide Number Placeholder 3">
            <a:extLst>
              <a:ext uri="{FF2B5EF4-FFF2-40B4-BE49-F238E27FC236}">
                <a16:creationId xmlns:a16="http://schemas.microsoft.com/office/drawing/2014/main" id="{2CB29304-A4E4-EF44-0682-B7B1F407BD2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17900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AA9B5-04B8-FAB6-5113-66D4CAEC4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014C0-EC21-F3B2-AAF2-5045AE5AAA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8F7E3D-CC81-E831-BEDB-D92F6CDDE4CA}"/>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Prime, composite, neither</a:t>
            </a:r>
          </a:p>
          <a:p>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Factor</a:t>
            </a:r>
            <a:r>
              <a:rPr lang="en-AU" sz="1600" kern="1200">
                <a:solidFill>
                  <a:schemeClr val="tx1"/>
                </a:solidFill>
                <a:effectLst/>
                <a:latin typeface="Arial" panose="020B0604020202020204" pitchFamily="34" charset="0"/>
                <a:ea typeface="+mn-ea"/>
                <a:cs typeface="Arial" panose="020B0604020202020204" pitchFamily="34" charset="0"/>
              </a:rPr>
              <a:t>: a number which divides another number without a remainder. For example, 1, 2, 3 and 6 are factors of 6, but 4 and 5 are not.</a:t>
            </a:r>
          </a:p>
          <a:p>
            <a:r>
              <a:rPr lang="en-AU" sz="1600" b="1" kern="1200">
                <a:solidFill>
                  <a:schemeClr val="tx1"/>
                </a:solidFill>
                <a:effectLst/>
                <a:latin typeface="Arial" panose="020B0604020202020204" pitchFamily="34" charset="0"/>
                <a:ea typeface="+mn-ea"/>
                <a:cs typeface="Arial" panose="020B0604020202020204" pitchFamily="34" charset="0"/>
              </a:rPr>
              <a:t>Composite number:</a:t>
            </a:r>
            <a:r>
              <a:rPr lang="en-AU" sz="1600" kern="1200">
                <a:solidFill>
                  <a:schemeClr val="tx1"/>
                </a:solidFill>
                <a:effectLst/>
                <a:latin typeface="Arial" panose="020B0604020202020204" pitchFamily="34" charset="0"/>
                <a:ea typeface="+mn-ea"/>
                <a:cs typeface="Arial" panose="020B0604020202020204" pitchFamily="34" charset="0"/>
              </a:rPr>
              <a:t> a non-zero natural number that has a factor other than one and itself. For example, all even numbers besides 2 are composite numbers. Some odd numbers are composite (for example, 21) but not all are composite (for example, 11).</a:t>
            </a:r>
          </a:p>
          <a:p>
            <a:r>
              <a:rPr lang="en-AU" sz="1600" b="1" kern="1200">
                <a:solidFill>
                  <a:schemeClr val="tx1"/>
                </a:solidFill>
                <a:effectLst/>
                <a:latin typeface="Arial" panose="020B0604020202020204" pitchFamily="34" charset="0"/>
                <a:ea typeface="+mn-ea"/>
                <a:cs typeface="Arial" panose="020B0604020202020204" pitchFamily="34" charset="0"/>
              </a:rPr>
              <a:t>Prime number:</a:t>
            </a:r>
            <a:r>
              <a:rPr lang="en-AU" sz="1600" kern="1200">
                <a:solidFill>
                  <a:schemeClr val="tx1"/>
                </a:solidFill>
                <a:effectLst/>
                <a:latin typeface="Arial" panose="020B0604020202020204" pitchFamily="34" charset="0"/>
                <a:ea typeface="+mn-ea"/>
                <a:cs typeface="Arial" panose="020B0604020202020204" pitchFamily="34" charset="0"/>
              </a:rPr>
              <a:t> a prime number is a positive integer which has exactly 2 distinct factors, itself and one. Modelled as an array it has only one row.</a:t>
            </a:r>
            <a:endParaRPr lang="en-AU" b="1"/>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whether one is a prime or composite number.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Revise that one is neither prime nor composite because it only has one factor which is itself.</a:t>
            </a:r>
          </a:p>
        </p:txBody>
      </p:sp>
      <p:sp>
        <p:nvSpPr>
          <p:cNvPr id="4" name="Slide Number Placeholder 3">
            <a:extLst>
              <a:ext uri="{FF2B5EF4-FFF2-40B4-BE49-F238E27FC236}">
                <a16:creationId xmlns:a16="http://schemas.microsoft.com/office/drawing/2014/main" id="{748A25A3-944A-2F2C-AD0A-7BA171AD38B0}"/>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234199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 </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Product 100 target</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Product: </a:t>
            </a:r>
            <a:r>
              <a:rPr lang="en-AU" sz="1600" kern="1200">
                <a:solidFill>
                  <a:schemeClr val="tx1"/>
                </a:solidFill>
                <a:effectLst/>
                <a:latin typeface="Arial" panose="020B0604020202020204" pitchFamily="34" charset="0"/>
                <a:ea typeface="+mn-ea"/>
                <a:cs typeface="Arial" panose="020B0604020202020204" pitchFamily="34" charset="0"/>
              </a:rPr>
              <a:t>a number which is the result of multiplying 2 or more numbers.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Revise the definition of product.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provide students with playing cards (ace–9).</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One student deals out 4 cards to each player.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Using their 4 cards, students form any one-digit or 2-digit number.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find the product of 2 or more numbers to get as close to 100 as possible. Each card can only be used once and not all cards need to be used. Students record their multiplication number sentence on their whiteboard. For example, if 2, 6, 5 and 3 are dealt, a student may choose to record 53 × 2 = 106.</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score one point for being the player closest to 100.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game continues until a player reaches 10 points. </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 numbers A</a:t>
            </a: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Product game</a:t>
            </a:r>
          </a:p>
          <a:p>
            <a:r>
              <a:rPr lang="en-AU" b="0"/>
              <a:t>This resource corresponds to Resource 18 – product gameboard in Stage 3 Year B Unit 27. </a:t>
            </a:r>
          </a:p>
          <a:p>
            <a:endParaRPr lang="en-AU" b="0"/>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‘Product Game’ by National Council of Teachers of Mathematics.</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u="none" kern="1200">
                <a:solidFill>
                  <a:schemeClr val="tx1"/>
                </a:solidFill>
                <a:effectLst/>
                <a:latin typeface="Arial" panose="020B0604020202020204" pitchFamily="34" charset="0"/>
                <a:ea typeface="+mn-ea"/>
                <a:cs typeface="Arial" panose="020B0604020202020204" pitchFamily="34" charset="0"/>
              </a:rPr>
              <a:t>Provide pairs of students with </a:t>
            </a:r>
            <a:r>
              <a:rPr lang="en-AU" b="0"/>
              <a:t>Resource 18 – product gameboard</a:t>
            </a:r>
            <a:r>
              <a:rPr lang="en-AU" sz="1600" u="none" kern="1200">
                <a:solidFill>
                  <a:schemeClr val="tx1"/>
                </a:solidFill>
                <a:effectLst/>
                <a:latin typeface="Arial" panose="020B0604020202020204" pitchFamily="34" charset="0"/>
                <a:ea typeface="+mn-ea"/>
                <a:cs typeface="Arial" panose="020B0604020202020204" pitchFamily="34" charset="0"/>
              </a:rPr>
              <a:t>, 2 paper clips and coloured counters.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the rules of the product game:</a:t>
            </a:r>
          </a:p>
          <a:p>
            <a:pPr marL="952485" lvl="1" indent="-342900">
              <a:buFont typeface="+mj-lt"/>
              <a:buAutoNum type="alphaLcPeriod"/>
            </a:pPr>
            <a:r>
              <a:rPr lang="en-AU" sz="1600" u="none" kern="1200">
                <a:solidFill>
                  <a:schemeClr val="tx1"/>
                </a:solidFill>
                <a:effectLst/>
                <a:latin typeface="Arial" panose="020B0604020202020204" pitchFamily="34" charset="0"/>
                <a:ea typeface="+mn-ea"/>
                <a:cs typeface="Arial" panose="020B0604020202020204" pitchFamily="34" charset="0"/>
              </a:rPr>
              <a:t>Player</a:t>
            </a:r>
            <a:r>
              <a:rPr lang="en-AU" sz="1600" kern="1200">
                <a:solidFill>
                  <a:schemeClr val="tx1"/>
                </a:solidFill>
                <a:effectLst/>
                <a:latin typeface="Arial" panose="020B0604020202020204" pitchFamily="34" charset="0"/>
                <a:ea typeface="+mn-ea"/>
                <a:cs typeface="Arial" panose="020B0604020202020204" pitchFamily="34" charset="0"/>
              </a:rPr>
              <a:t>  A puts a paper clip on a number in the factor list.</a:t>
            </a:r>
          </a:p>
          <a:p>
            <a:pPr marL="952485" lvl="1" indent="-342900">
              <a:buFont typeface="+mj-lt"/>
              <a:buAutoNum type="alphaLcPeriod"/>
            </a:pPr>
            <a:r>
              <a:rPr lang="en-AU" sz="1600" kern="1200">
                <a:solidFill>
                  <a:schemeClr val="tx1"/>
                </a:solidFill>
                <a:effectLst/>
                <a:latin typeface="Arial" panose="020B0604020202020204" pitchFamily="34" charset="0"/>
                <a:ea typeface="+mn-ea"/>
                <a:cs typeface="Arial" panose="020B0604020202020204" pitchFamily="34" charset="0"/>
              </a:rPr>
              <a:t>Player B puts the other paper clip on any number in the factor list. They then cover the product of the 2 factors on the grid using a coloured counter.</a:t>
            </a:r>
          </a:p>
          <a:p>
            <a:pPr marL="952485" lvl="1" indent="-342900">
              <a:buFont typeface="+mj-lt"/>
              <a:buAutoNum type="alphaLcPeriod"/>
            </a:pPr>
            <a:r>
              <a:rPr lang="en-AU" sz="1600" kern="1200">
                <a:solidFill>
                  <a:schemeClr val="tx1"/>
                </a:solidFill>
                <a:effectLst/>
                <a:latin typeface="Arial" panose="020B0604020202020204" pitchFamily="34" charset="0"/>
                <a:ea typeface="+mn-ea"/>
                <a:cs typeface="Arial" panose="020B0604020202020204" pitchFamily="34" charset="0"/>
              </a:rPr>
              <a:t>Players can put the paper clips on the same number in the factor list.</a:t>
            </a:r>
          </a:p>
          <a:p>
            <a:pPr marL="952485" lvl="1" indent="-342900">
              <a:buFont typeface="+mj-lt"/>
              <a:buAutoNum type="alphaLcPeriod"/>
            </a:pPr>
            <a:r>
              <a:rPr lang="en-AU" sz="1600" kern="1200">
                <a:solidFill>
                  <a:schemeClr val="tx1"/>
                </a:solidFill>
                <a:effectLst/>
                <a:latin typeface="Arial" panose="020B0604020202020204" pitchFamily="34" charset="0"/>
                <a:ea typeface="+mn-ea"/>
                <a:cs typeface="Arial" panose="020B0604020202020204" pitchFamily="34" charset="0"/>
              </a:rPr>
              <a:t>Player A moves either one of the paper clips to another number in the factor list. Then they cover the new product using a different coloured counter.</a:t>
            </a:r>
          </a:p>
          <a:p>
            <a:pPr marL="952485" lvl="1" indent="-342900">
              <a:buFont typeface="+mj-lt"/>
              <a:buAutoNum type="alphaLcPeriod"/>
            </a:pPr>
            <a:r>
              <a:rPr lang="en-AU" sz="1600" kern="1200">
                <a:solidFill>
                  <a:schemeClr val="tx1"/>
                </a:solidFill>
                <a:effectLst/>
                <a:latin typeface="Arial" panose="020B0604020202020204" pitchFamily="34" charset="0"/>
                <a:ea typeface="+mn-ea"/>
                <a:cs typeface="Arial" panose="020B0604020202020204" pitchFamily="34" charset="0"/>
              </a:rPr>
              <a:t>Each player, in turn, moves a paper clip and covers a product. </a:t>
            </a:r>
          </a:p>
          <a:p>
            <a:pPr marL="952485" lvl="1" indent="-342900">
              <a:buFont typeface="+mj-lt"/>
              <a:buAutoNum type="alphaLcPeriod"/>
            </a:pPr>
            <a:r>
              <a:rPr lang="en-AU" sz="1600" kern="1200">
                <a:solidFill>
                  <a:schemeClr val="tx1"/>
                </a:solidFill>
                <a:effectLst/>
                <a:latin typeface="Arial" panose="020B0604020202020204" pitchFamily="34" charset="0"/>
                <a:ea typeface="+mn-ea"/>
                <a:cs typeface="Arial" panose="020B0604020202020204" pitchFamily="34" charset="0"/>
              </a:rPr>
              <a:t>If a product is already covered, the player does not get a mark for that turn. </a:t>
            </a:r>
          </a:p>
          <a:p>
            <a:pPr marL="952485" lvl="1" indent="-342900">
              <a:buFont typeface="+mj-lt"/>
              <a:buAutoNum type="alphaLcPeriod"/>
            </a:pPr>
            <a:r>
              <a:rPr lang="en-AU" sz="1600" kern="1200">
                <a:solidFill>
                  <a:schemeClr val="tx1"/>
                </a:solidFill>
                <a:effectLst/>
                <a:latin typeface="Arial" panose="020B0604020202020204" pitchFamily="34" charset="0"/>
                <a:ea typeface="+mn-ea"/>
                <a:cs typeface="Arial" panose="020B0604020202020204" pitchFamily="34" charset="0"/>
              </a:rPr>
              <a:t>The winner is the first player to cover 4 squares in a row vertically, horizontally or diagonally.</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 numbers A</a:t>
            </a: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Rearrange arrays</a:t>
            </a:r>
          </a:p>
          <a:p>
            <a:endParaRPr lang="en-AU" b="1"/>
          </a:p>
          <a:p>
            <a:pPr marL="342900" indent="-342900">
              <a:buFont typeface="+mj-lt"/>
              <a:buAutoNum type="arabicPeriod"/>
            </a:pPr>
            <a:r>
              <a:rPr lang="en-AU" b="0"/>
              <a:t>Pose the following question: I have 48 counters arranged in an array. How might they be arranged?</a:t>
            </a:r>
          </a:p>
          <a:p>
            <a:pPr marL="342900" indent="-342900">
              <a:buFont typeface="+mj-lt"/>
              <a:buAutoNum type="arabicPeriod"/>
            </a:pPr>
            <a:r>
              <a:rPr lang="en-AU" b="0"/>
              <a:t>Students turn and talk and record their ideas on a whiteboard. For example, 48 as 2 by 24, 4 by 12, 6 by 8.</a:t>
            </a:r>
          </a:p>
          <a:p>
            <a:pPr marL="342900" indent="-342900">
              <a:buFont typeface="+mj-lt"/>
              <a:buAutoNum type="arabicPeriod"/>
            </a:pPr>
            <a:r>
              <a:rPr lang="en-AU" b="0"/>
              <a:t>Ask:</a:t>
            </a:r>
          </a:p>
          <a:p>
            <a:pPr marL="952485" lvl="1" indent="-342900">
              <a:buFont typeface="Arial" panose="020B0604020202020204" pitchFamily="34" charset="0"/>
              <a:buChar char="−"/>
            </a:pPr>
            <a:r>
              <a:rPr lang="en-AU" b="0"/>
              <a:t>How many possibilities are there?</a:t>
            </a:r>
          </a:p>
          <a:p>
            <a:pPr marL="952485" lvl="1" indent="-342900">
              <a:buFont typeface="Arial" panose="020B0604020202020204" pitchFamily="34" charset="0"/>
              <a:buChar char="−"/>
            </a:pPr>
            <a:r>
              <a:rPr lang="en-AU" b="0"/>
              <a:t>How did multiplication help you with this problem?</a:t>
            </a:r>
          </a:p>
          <a:p>
            <a:pPr marL="609585" lvl="1" indent="0">
              <a:buFont typeface="Arial" panose="020B0604020202020204" pitchFamily="34" charset="0"/>
              <a:buNone/>
            </a:pPr>
            <a:endParaRPr lang="en-AU" b="0"/>
          </a:p>
          <a:p>
            <a:pPr marL="342900" indent="-342900">
              <a:buFont typeface="+mj-lt"/>
              <a:buAutoNum type="arabicPeriod" startAt="4"/>
            </a:pPr>
            <a:r>
              <a:rPr lang="en-AU" b="0"/>
              <a:t>Pose the following question: I have 96 counters arranged in an array. How might they be arranged?</a:t>
            </a:r>
          </a:p>
          <a:p>
            <a:pPr marL="342900" indent="-342900">
              <a:buFont typeface="+mj-lt"/>
              <a:buAutoNum type="arabicPeriod" startAt="4"/>
            </a:pPr>
            <a:r>
              <a:rPr lang="en-AU" b="0"/>
              <a:t>Ask students to record their ideas as number sentences where 96 is the product and identify the factors of 96.</a:t>
            </a:r>
          </a:p>
          <a:p>
            <a:pPr marL="342900" indent="-342900">
              <a:buFont typeface="+mj-lt"/>
              <a:buAutoNum type="arabicPeriod" startAt="4"/>
            </a:pPr>
            <a:r>
              <a:rPr lang="en-AU" b="0"/>
              <a:t>Ask:</a:t>
            </a:r>
          </a:p>
          <a:p>
            <a:pPr marL="952485" lvl="1" indent="-342900">
              <a:buFont typeface="Arial" panose="020B0604020202020204" pitchFamily="34" charset="0"/>
              <a:buChar char="−"/>
            </a:pPr>
            <a:r>
              <a:rPr lang="en-AU" b="0"/>
              <a:t>How many possibilities are there?</a:t>
            </a:r>
          </a:p>
          <a:p>
            <a:pPr marL="952485" lvl="1" indent="-342900">
              <a:buFont typeface="Arial" panose="020B0604020202020204" pitchFamily="34" charset="0"/>
              <a:buChar char="−"/>
            </a:pPr>
            <a:r>
              <a:rPr lang="en-AU" b="0"/>
              <a:t>How did the factors of 48 help you work out the factors of 96?</a:t>
            </a:r>
          </a:p>
          <a:p>
            <a:pPr marL="342900" indent="-34290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Decimal addition</a:t>
            </a:r>
          </a:p>
          <a:p>
            <a:r>
              <a:rPr lang="en-AU" b="0"/>
              <a:t>This resource corresponds to Resource 19 – labelled 12 charts and Resource 20 – fraction spinner in Stage 3 Year B Unit 27. </a:t>
            </a:r>
          </a:p>
          <a:p>
            <a:pPr marL="342900" indent="-342900">
              <a:buFont typeface="+mj-lt"/>
              <a:buAutoNum type="arabicPeriod"/>
            </a:pPr>
            <a:endParaRPr lang="en-AU" b="0"/>
          </a:p>
          <a:p>
            <a:pPr marL="0" indent="0">
              <a:buFont typeface="+mj-lt"/>
              <a:buNone/>
            </a:pPr>
            <a:r>
              <a:rPr lang="en-AU" b="0"/>
              <a:t>This activity is an adaptation of ‘Task 4 – I’ll race you to zero: decimal place value’ from Flexible additive strategies – Decimals by State of New South Wales (Department of Education). Resources used for this daily number sense will be reused for variations of the same game in Activity 6 and Activity 7.</a:t>
            </a:r>
          </a:p>
          <a:p>
            <a:pPr marL="0" indent="0">
              <a:buFont typeface="+mj-lt"/>
              <a:buNone/>
            </a:pPr>
            <a:endParaRPr lang="en-AU" b="0"/>
          </a:p>
          <a:p>
            <a:pPr marL="342900" indent="-342900">
              <a:buFont typeface="+mj-lt"/>
              <a:buAutoNum type="arabicPeriod"/>
            </a:pPr>
            <a:r>
              <a:rPr lang="en-AU" b="0"/>
              <a:t>Provide pairs of students with:</a:t>
            </a:r>
          </a:p>
          <a:p>
            <a:pPr marL="952485" lvl="1" indent="-342900">
              <a:buFont typeface="Arial" panose="020B0604020202020204" pitchFamily="34" charset="0"/>
              <a:buChar char="−"/>
            </a:pPr>
            <a:r>
              <a:rPr lang="en-AU" b="0"/>
              <a:t>a copy of Resource 19 – labelled 12 charts</a:t>
            </a:r>
          </a:p>
          <a:p>
            <a:pPr marL="952485" lvl="1" indent="-342900">
              <a:buFont typeface="Arial" panose="020B0604020202020204" pitchFamily="34" charset="0"/>
              <a:buChar char="−"/>
            </a:pPr>
            <a:r>
              <a:rPr lang="en-AU" b="0"/>
              <a:t>a copy of Resource 20 – fraction spinner</a:t>
            </a:r>
          </a:p>
          <a:p>
            <a:pPr marL="952485" lvl="1" indent="-342900">
              <a:buFont typeface="Arial" panose="020B0604020202020204" pitchFamily="34" charset="0"/>
              <a:buChar char="−"/>
            </a:pPr>
            <a:r>
              <a:rPr lang="en-AU" b="0"/>
              <a:t>2 counters</a:t>
            </a:r>
          </a:p>
          <a:p>
            <a:pPr marL="952485" lvl="1" indent="-342900">
              <a:buFont typeface="Arial" panose="020B0604020202020204" pitchFamily="34" charset="0"/>
              <a:buChar char="−"/>
            </a:pPr>
            <a:r>
              <a:rPr lang="en-AU" b="0"/>
              <a:t>a 6-sided dice.</a:t>
            </a:r>
          </a:p>
          <a:p>
            <a:pPr marL="342900" indent="-342900">
              <a:buFont typeface="+mj-lt"/>
              <a:buAutoNum type="arabicPeriod"/>
            </a:pPr>
            <a:r>
              <a:rPr lang="en-AU" b="0"/>
              <a:t>Students place their counters at zero. Spin to decide who goes first.</a:t>
            </a:r>
          </a:p>
          <a:p>
            <a:pPr marL="342900" indent="-342900">
              <a:buFont typeface="+mj-lt"/>
              <a:buAutoNum type="arabicPeriod"/>
            </a:pPr>
            <a:r>
              <a:rPr lang="en-AU" b="0"/>
              <a:t>Students take turns to spin and roll and then decide which to use, adding the amount to their current position. For example, if a student spun six-tenths and rolled a 4, they can choose to add six-tenths or to add 4.</a:t>
            </a:r>
          </a:p>
          <a:p>
            <a:pPr marL="342900" indent="-342900">
              <a:buFont typeface="+mj-lt"/>
              <a:buAutoNum type="arabicPeriod"/>
            </a:pPr>
            <a:r>
              <a:rPr lang="en-AU" b="0"/>
              <a:t>Students explain where they need to move their counter to their partner, justifying their thinking. If their partner agrees, they move the counter to the corresponding position.</a:t>
            </a:r>
          </a:p>
          <a:p>
            <a:pPr marL="342900" indent="-342900">
              <a:buFont typeface="+mj-lt"/>
              <a:buAutoNum type="arabicPeriod"/>
            </a:pPr>
            <a:r>
              <a:rPr lang="en-AU" b="0"/>
              <a:t>Students take turns until someone has been able to land exactly on 12.</a:t>
            </a:r>
          </a:p>
          <a:p>
            <a:pPr marL="342900" indent="-342900">
              <a:buFont typeface="+mj-lt"/>
              <a:buAutoNum type="arabicPeriod"/>
            </a:pPr>
            <a:r>
              <a:rPr lang="en-AU" b="0"/>
              <a:t>Students miss a turn if they cannot move.</a:t>
            </a:r>
          </a:p>
          <a:p>
            <a:pPr marL="342900" indent="-342900">
              <a:buFont typeface="+mj-lt"/>
              <a:buAutoNum type="arabicPeriod"/>
            </a:pPr>
            <a:r>
              <a:rPr lang="en-AU" b="0"/>
              <a:t>Variations include:</a:t>
            </a:r>
          </a:p>
          <a:p>
            <a:pPr marL="952485" lvl="1" indent="-342900">
              <a:buFont typeface="Arial" panose="020B0604020202020204" pitchFamily="34" charset="0"/>
              <a:buChar char="−"/>
            </a:pPr>
            <a:r>
              <a:rPr lang="en-AU" b="0"/>
              <a:t>Students make a number roll by cutting their 12 chart into strips and joining them into one number strip – students can roll it up when out of use.</a:t>
            </a:r>
          </a:p>
          <a:p>
            <a:pPr marL="952485" lvl="1" indent="-342900">
              <a:buFont typeface="Arial" panose="020B0604020202020204" pitchFamily="34" charset="0"/>
              <a:buChar char="−"/>
            </a:pPr>
            <a:r>
              <a:rPr lang="en-AU" b="0"/>
              <a:t>Students make their own chart where the target number is 1.2 and numbers increase by hundredths, such as 0, 0.01, 0.02 and so on. Use Resource 20 – fraction spinner for tenths and the 1–6 dice for hundredths.</a:t>
            </a:r>
          </a:p>
          <a:p>
            <a:pPr marL="342900" indent="-342900">
              <a:buFont typeface="+mj-lt"/>
              <a:buAutoNum type="arabicPeriod"/>
            </a:pPr>
            <a:endParaRPr lang="en-AU" b="0"/>
          </a:p>
          <a:p>
            <a:pPr marL="342900" indent="-342900">
              <a:buFont typeface="+mj-lt"/>
              <a:buAutoNum type="arabicPeriod"/>
            </a:pPr>
            <a:endParaRPr lang="en-AU" b="0"/>
          </a:p>
          <a:p>
            <a:pPr marL="342900" indent="-342900">
              <a:buFont typeface="+mj-lt"/>
              <a:buAutoNum type="arabicPeriod"/>
            </a:pPr>
            <a:endParaRPr lang="en-AU" b="0"/>
          </a:p>
          <a:p>
            <a:pPr marL="342900" indent="-342900">
              <a:buFont typeface="+mj-lt"/>
              <a:buAutoNum type="arabicPeriod"/>
            </a:pPr>
            <a:endParaRPr lang="en-AU" b="0"/>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A</a:t>
            </a:r>
          </a:p>
          <a:p>
            <a:r>
              <a:rPr lang="en-AU" sz="1600" b="0" i="0" kern="1200">
                <a:solidFill>
                  <a:schemeClr val="tx1"/>
                </a:solidFill>
                <a:effectLst/>
                <a:latin typeface="Arial" panose="020B0604020202020204" pitchFamily="34" charset="0"/>
                <a:ea typeface="+mn-ea"/>
                <a:cs typeface="Arial" panose="020B0604020202020204" pitchFamily="34" charset="0"/>
              </a:rPr>
              <a:t>Mass: Connect decimal representations to the metric system</a:t>
            </a:r>
          </a:p>
          <a:p>
            <a:r>
              <a:rPr lang="en-AU" sz="1600" b="0" i="0" kern="1200">
                <a:solidFill>
                  <a:schemeClr val="tx1"/>
                </a:solidFill>
                <a:effectLst/>
                <a:latin typeface="Arial" panose="020B0604020202020204" pitchFamily="34" charset="0"/>
                <a:ea typeface="+mn-ea"/>
                <a:cs typeface="Arial" panose="020B0604020202020204" pitchFamily="34" charset="0"/>
              </a:rPr>
              <a:t>• Recognise the equivalence of whole-number and decimal representations of measurements of mass</a:t>
            </a: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 Decimals and percentages</a:t>
            </a: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Decimal subtraction</a:t>
            </a:r>
          </a:p>
          <a:p>
            <a:r>
              <a:rPr lang="en-AU" b="0"/>
              <a:t>This resource corresponds to Resource 19 – labelled 12 charts and Resource 20 – fraction spinner in Stage 3 Year B Unit 27. </a:t>
            </a:r>
          </a:p>
          <a:p>
            <a:endParaRPr lang="en-AU" b="0"/>
          </a:p>
          <a:p>
            <a:r>
              <a:rPr lang="en-AU" b="0"/>
              <a:t> This activity is an adaptation of ‘Task 4 – I’ll race you to zero: decimal place value’ from Flexible additive strategies – Decimals by State of New South Wales (Department of Education) using resources in Lesson 5.</a:t>
            </a:r>
          </a:p>
          <a:p>
            <a:endParaRPr lang="en-AU" b="0"/>
          </a:p>
          <a:p>
            <a:pPr marL="342900" indent="-342900">
              <a:buFont typeface="+mj-lt"/>
              <a:buAutoNum type="arabicPeriod"/>
            </a:pPr>
            <a:r>
              <a:rPr lang="en-AU" b="0"/>
              <a:t>Provide pairs of students with their resources from Activity 5.</a:t>
            </a:r>
          </a:p>
          <a:p>
            <a:pPr marL="342900" indent="-342900">
              <a:buFont typeface="+mj-lt"/>
              <a:buAutoNum type="arabicPeriod"/>
            </a:pPr>
            <a:r>
              <a:rPr lang="en-AU" b="0"/>
              <a:t>Students place their counters at 12. Spin to decide who goes first.</a:t>
            </a:r>
          </a:p>
          <a:p>
            <a:pPr marL="342900" indent="-342900">
              <a:buFont typeface="+mj-lt"/>
              <a:buAutoNum type="arabicPeriod"/>
            </a:pPr>
            <a:r>
              <a:rPr lang="en-AU" b="0"/>
              <a:t>Students take turns to spin and roll and then to decide which to use, subtracting the amount to their current position. For example, if a student spun six-tenths and rolled a 4, they can choose to subtract six-tenths or to subtract 4.</a:t>
            </a:r>
          </a:p>
          <a:p>
            <a:pPr marL="342900" indent="-342900">
              <a:buFont typeface="+mj-lt"/>
              <a:buAutoNum type="arabicPeriod"/>
            </a:pPr>
            <a:r>
              <a:rPr lang="en-AU" b="0"/>
              <a:t>Students explain where they need to move their counter to their partner, justifying their thinking. If their partner agrees, they move the counter to the corresponding position.</a:t>
            </a:r>
          </a:p>
          <a:p>
            <a:pPr marL="342900" indent="-342900">
              <a:buFont typeface="+mj-lt"/>
              <a:buAutoNum type="arabicPeriod"/>
            </a:pPr>
            <a:r>
              <a:rPr lang="en-AU" b="0"/>
              <a:t>Students take turns until someone has been able to land exactly on zero.</a:t>
            </a:r>
          </a:p>
          <a:p>
            <a:pPr marL="342900" indent="-342900">
              <a:buFont typeface="+mj-lt"/>
              <a:buAutoNum type="arabicPeriod"/>
            </a:pPr>
            <a:r>
              <a:rPr lang="en-AU" b="0"/>
              <a:t>Students miss a turn if they cannot move.</a:t>
            </a:r>
          </a:p>
          <a:p>
            <a:pPr marL="342900" indent="-342900">
              <a:buFont typeface="+mj-lt"/>
              <a:buAutoNum type="arabicPeriod"/>
            </a:pPr>
            <a:r>
              <a:rPr lang="en-AU" b="0"/>
              <a:t>Variations include:</a:t>
            </a:r>
          </a:p>
          <a:p>
            <a:pPr marL="952485" lvl="1" indent="-342900">
              <a:buFont typeface="Arial" panose="020B0604020202020204" pitchFamily="34" charset="0"/>
              <a:buChar char="−"/>
            </a:pPr>
            <a:r>
              <a:rPr lang="en-AU" b="0"/>
              <a:t>Students make a number roll by cutting their 12 chart into strips and joining them into one number strip.</a:t>
            </a:r>
          </a:p>
          <a:p>
            <a:pPr marL="952485" lvl="1" indent="-342900">
              <a:buFont typeface="Arial" panose="020B0604020202020204" pitchFamily="34" charset="0"/>
              <a:buChar char="−"/>
            </a:pPr>
            <a:r>
              <a:rPr lang="en-AU" b="0"/>
              <a:t>Students make their own chart, where the starting number is 1.2. Numbers decrease by hundredths, such as 1.2, 1.19, 1.18 and so on. Use Resource 20 – fraction spinner for tenths and the 1–6 dice for hundredths.</a:t>
            </a:r>
          </a:p>
          <a:p>
            <a:pPr marL="895335" lvl="1" indent="-285750">
              <a:buFont typeface="Arial" panose="020B0604020202020204" pitchFamily="34" charset="0"/>
              <a:buChar char="−"/>
            </a:pP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Additive relations B</a:t>
            </a: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 Decimals and percentages</a:t>
            </a: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Activity title</a:t>
            </a:r>
          </a:p>
          <a:p>
            <a:r>
              <a:rPr lang="en-AU" b="0"/>
              <a:t>This resource corresponds to Resource 19 – labelled 12 charts and Resource 20 – fraction spinner in Stage 3 Year B Unit 27. </a:t>
            </a:r>
          </a:p>
          <a:p>
            <a:endParaRPr lang="en-AU" b="1"/>
          </a:p>
          <a:p>
            <a:r>
              <a:rPr lang="en-AU" b="0"/>
              <a:t>This activity is an adaptation of ‘Task 4 – I’ll race you to zero: decimal place value’ from Flexible additive strategies – Decimals by State of New South Wales (Department of Education) using resources in Lesson 5.</a:t>
            </a:r>
          </a:p>
          <a:p>
            <a:endParaRPr lang="en-AU" b="0"/>
          </a:p>
          <a:p>
            <a:pPr marL="342900" indent="-342900">
              <a:buFont typeface="+mj-lt"/>
              <a:buAutoNum type="arabicPeriod"/>
            </a:pPr>
            <a:r>
              <a:rPr lang="en-AU" b="0"/>
              <a:t>Provide pairs of students with their resources from Activity 5.</a:t>
            </a:r>
          </a:p>
          <a:p>
            <a:pPr marL="342900" indent="-342900">
              <a:buFont typeface="+mj-lt"/>
              <a:buAutoNum type="arabicPeriod"/>
            </a:pPr>
            <a:r>
              <a:rPr lang="en-AU" b="0"/>
              <a:t>The aim of this variation is to stay as close to 6 as possible by selecting amounts to add or subtract.</a:t>
            </a:r>
          </a:p>
          <a:p>
            <a:pPr marL="342900" indent="-342900">
              <a:buFont typeface="+mj-lt"/>
              <a:buAutoNum type="arabicPeriod"/>
            </a:pPr>
            <a:r>
              <a:rPr lang="en-AU" b="0"/>
              <a:t>Students place their counters at 6. Spin to decide who goes first.</a:t>
            </a:r>
          </a:p>
          <a:p>
            <a:pPr marL="342900" indent="-342900">
              <a:buFont typeface="+mj-lt"/>
              <a:buAutoNum type="arabicPeriod"/>
            </a:pPr>
            <a:r>
              <a:rPr lang="en-AU" b="0"/>
              <a:t>Students take turns to spin and roll and to decide which to use, subtracting or adding the amount to their current position. For example, if a student spun six-tenths and rolled a 4, they can choose to add or subtract six-tenths or to add or subtract 4.</a:t>
            </a:r>
          </a:p>
          <a:p>
            <a:pPr marL="342900" indent="-342900">
              <a:buFont typeface="+mj-lt"/>
              <a:buAutoNum type="arabicPeriod"/>
            </a:pPr>
            <a:r>
              <a:rPr lang="en-AU" b="0"/>
              <a:t>Students explain where they need to move their counter to their partner, justifying their thinking. If their partner agrees, they move the counter to the corresponding position.</a:t>
            </a:r>
          </a:p>
          <a:p>
            <a:pPr marL="342900" indent="-342900">
              <a:buFont typeface="+mj-lt"/>
              <a:buAutoNum type="arabicPeriod"/>
            </a:pPr>
            <a:r>
              <a:rPr lang="en-AU" b="0"/>
              <a:t>The winner is the student closest to 6 after 10 rolls each. Students may have a score that is higher or lower than 6.</a:t>
            </a:r>
          </a:p>
          <a:p>
            <a:endParaRPr lang="en-AU" b="0"/>
          </a:p>
          <a:p>
            <a:pPr marL="342900" indent="-342900">
              <a:buFont typeface="+mj-lt"/>
              <a:buAutoNum type="arabicPeriod"/>
            </a:pPr>
            <a:endParaRPr lang="en-AU" b="0"/>
          </a:p>
          <a:p>
            <a:endParaRPr lang="en-AU" b="0"/>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Represents numbers B</a:t>
            </a:r>
          </a:p>
          <a:p>
            <a:r>
              <a:rPr lang="en-AU" sz="1600" b="0" i="0" kern="1200">
                <a:solidFill>
                  <a:schemeClr val="tx1"/>
                </a:solidFill>
                <a:effectLst/>
                <a:latin typeface="Arial" panose="020B0604020202020204" pitchFamily="34" charset="0"/>
                <a:ea typeface="+mn-ea"/>
                <a:cs typeface="Arial" panose="020B0604020202020204" pitchFamily="34" charset="0"/>
              </a:rPr>
              <a:t>Decimals and percentages: Determine percentage discounts of 10%, 25% and 50% </a:t>
            </a:r>
          </a:p>
          <a:p>
            <a:r>
              <a:rPr lang="en-AU" sz="1600" b="0" i="0" kern="1200">
                <a:solidFill>
                  <a:schemeClr val="tx1"/>
                </a:solidFill>
                <a:effectLst/>
                <a:latin typeface="Arial" panose="020B0604020202020204" pitchFamily="34" charset="0"/>
                <a:ea typeface="+mn-ea"/>
                <a:cs typeface="Arial" panose="020B0604020202020204" pitchFamily="34" charset="0"/>
              </a:rPr>
              <a:t>• Use mental strategies to estimate discounts of 10%, 25% and 50%</a:t>
            </a: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Activity title</a:t>
            </a:r>
          </a:p>
          <a:p>
            <a:r>
              <a:rPr lang="en-AU" b="0"/>
              <a:t>This resource corresponds to Resource 19 – labelled 12 charts and Resource 20 – fraction spinner in Stage 3 Year B Unit 27.</a:t>
            </a:r>
          </a:p>
          <a:p>
            <a:endParaRPr lang="en-AU" b="0"/>
          </a:p>
          <a:p>
            <a:r>
              <a:rPr lang="en-AU" b="0"/>
              <a:t>This activity is an adaptation of ‘Task 4 – I’ll race you to zero: decimal place value’ from Flexible additive strategies – Decimals by State of New South Wales (Department of Education) using resources in Lesson 5.</a:t>
            </a:r>
          </a:p>
          <a:p>
            <a:endParaRPr lang="en-AU" b="0"/>
          </a:p>
          <a:p>
            <a:pPr marL="342900" indent="-342900">
              <a:buFont typeface="+mj-lt"/>
              <a:buAutoNum type="arabicPeriod"/>
            </a:pPr>
            <a:r>
              <a:rPr lang="en-AU" b="0"/>
              <a:t>Provide pairs of students with their resources from Lesson 5.</a:t>
            </a:r>
          </a:p>
          <a:p>
            <a:pPr marL="342900" indent="-342900">
              <a:buFont typeface="+mj-lt"/>
              <a:buAutoNum type="arabicPeriod"/>
            </a:pPr>
            <a:r>
              <a:rPr lang="en-AU" b="0"/>
              <a:t>The aim of this variation is to stay as close to 11 as possible by selecting amounts to add or subtract.</a:t>
            </a:r>
          </a:p>
          <a:p>
            <a:pPr marL="342900" indent="-342900">
              <a:buFont typeface="+mj-lt"/>
              <a:buAutoNum type="arabicPeriod"/>
            </a:pPr>
            <a:r>
              <a:rPr lang="en-AU" b="0"/>
              <a:t>Students place their counters at 11. Spin to decide who goes first.</a:t>
            </a:r>
          </a:p>
          <a:p>
            <a:pPr marL="342900" indent="-342900">
              <a:buFont typeface="+mj-lt"/>
              <a:buAutoNum type="arabicPeriod"/>
            </a:pPr>
            <a:r>
              <a:rPr lang="en-AU" b="0"/>
              <a:t>Students take turns to spin and roll and to decide which to use, subtracting or adding the amount to their current position. For example, if a student spun six-tenths and rolled a 4, they can choose to add or subtract six-tenths or to add or subtract 4.</a:t>
            </a:r>
          </a:p>
          <a:p>
            <a:pPr marL="342900" indent="-342900">
              <a:buFont typeface="+mj-lt"/>
              <a:buAutoNum type="arabicPeriod"/>
            </a:pPr>
            <a:r>
              <a:rPr lang="en-AU" b="0"/>
              <a:t>Students explain where they need to move their counter to their partner, justifying their thinking. If their partner agrees, they move the counter to the corresponding position.</a:t>
            </a:r>
          </a:p>
          <a:p>
            <a:pPr marL="342900" indent="-342900">
              <a:buFont typeface="+mj-lt"/>
              <a:buAutoNum type="arabicPeriod"/>
            </a:pPr>
            <a:r>
              <a:rPr lang="en-AU" b="0"/>
              <a:t>The winner is the student closest to 11 after 10 rolls each. Students may have a score that is higher or lower than 11.</a:t>
            </a:r>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4.xml"/><Relationship Id="rId7" Type="http://schemas.openxmlformats.org/officeDocument/2006/relationships/slide" Target="slide34.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7.xml"/><Relationship Id="rId5" Type="http://schemas.openxmlformats.org/officeDocument/2006/relationships/slide" Target="slide20.xml"/><Relationship Id="rId10" Type="http://schemas.openxmlformats.org/officeDocument/2006/relationships/slide" Target="slide55.xml"/><Relationship Id="rId4" Type="http://schemas.openxmlformats.org/officeDocument/2006/relationships/slide" Target="slide13.xml"/><Relationship Id="rId9" Type="http://schemas.openxmlformats.org/officeDocument/2006/relationships/slide" Target="slide4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sv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9.svg"/></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1.pn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1.sv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slide" Target="slide1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currentresults.com/Environment-Facts/changes-in-earth-temperature.php#:~:text=The%20average%20global%20annual%20temperature,%C2%B0F)%20until%20the%201980s"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teaching-and-learning/curriculum/literacy-and-numeracy/teaching-and-learning-resources/numeracy/decimals#:~:text=I%E2%80%99ll%20race%20you%20to%20zero%3A%20decimal%20place%20valu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nctm.org/Classroom-Resources/Illuminations/Interactives/Product-Game/"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B Unit 27.</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27</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Blue circle 1 with light blue rectangle with title Review of learning 1.">
            <a:extLst>
              <a:ext uri="{FF2B5EF4-FFF2-40B4-BE49-F238E27FC236}">
                <a16:creationId xmlns:a16="http://schemas.microsoft.com/office/drawing/2014/main" id="{1B4FCA10-C38C-7EB1-6B3D-6210A414C65B}"/>
              </a:ext>
              <a:ext uri="{C183D7F6-B498-43B3-948B-1728B52AA6E4}">
                <adec:decorative xmlns:adec="http://schemas.microsoft.com/office/drawing/2017/decorative" val="0"/>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Blue circle 2 with light blue rectangle with title Review of learning 2.">
            <a:extLst>
              <a:ext uri="{FF2B5EF4-FFF2-40B4-BE49-F238E27FC236}">
                <a16:creationId xmlns:a16="http://schemas.microsoft.com/office/drawing/2014/main" id="{AF7A23A4-F1DB-31F7-E62C-F1BFA9349F64}"/>
              </a:ext>
              <a:ext uri="{C183D7F6-B498-43B3-948B-1728B52AA6E4}">
                <adec:decorative xmlns:adec="http://schemas.microsoft.com/office/drawing/2017/decorative" val="0"/>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Blue circle 3 with light blue rectangle with title Review of learning 3.">
            <a:extLst>
              <a:ext uri="{FF2B5EF4-FFF2-40B4-BE49-F238E27FC236}">
                <a16:creationId xmlns:a16="http://schemas.microsoft.com/office/drawing/2014/main" id="{DF37B4A1-413C-FC0F-E0B4-307A5BFA5855}"/>
              </a:ext>
              <a:ext uri="{C183D7F6-B498-43B3-948B-1728B52AA6E4}">
                <adec:decorative xmlns:adec="http://schemas.microsoft.com/office/drawing/2017/decorative" val="0"/>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Blue circle 4 with light blue rectangle with title Review of learning 4.">
            <a:extLst>
              <a:ext uri="{FF2B5EF4-FFF2-40B4-BE49-F238E27FC236}">
                <a16:creationId xmlns:a16="http://schemas.microsoft.com/office/drawing/2014/main" id="{C989DA6E-4839-1BBD-77AB-6F9CC520B670}"/>
              </a:ext>
              <a:ext uri="{C183D7F6-B498-43B3-948B-1728B52AA6E4}">
                <adec:decorative xmlns:adec="http://schemas.microsoft.com/office/drawing/2017/decorative" val="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Blue circle 5 with light blue rectangle with title Review of learning 5.">
            <a:extLst>
              <a:ext uri="{FF2B5EF4-FFF2-40B4-BE49-F238E27FC236}">
                <a16:creationId xmlns:a16="http://schemas.microsoft.com/office/drawing/2014/main" id="{5CA7685F-33D7-262A-AE71-7F572C4FD60A}"/>
              </a:ext>
              <a:ext uri="{C183D7F6-B498-43B3-948B-1728B52AA6E4}">
                <adec:decorative xmlns:adec="http://schemas.microsoft.com/office/drawing/2017/decorative" val="0"/>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Blue circle 6 with light blue rectangle with title Review of learning 6.">
            <a:extLst>
              <a:ext uri="{FF2B5EF4-FFF2-40B4-BE49-F238E27FC236}">
                <a16:creationId xmlns:a16="http://schemas.microsoft.com/office/drawing/2014/main" id="{98348D52-CA50-F15C-B472-B152337D805F}"/>
              </a:ext>
              <a:ext uri="{C183D7F6-B498-43B3-948B-1728B52AA6E4}">
                <adec:decorative xmlns:adec="http://schemas.microsoft.com/office/drawing/2017/decorative" val="0"/>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Blue circle 7 with light blue rectangle with title Review of learning 7.">
            <a:extLst>
              <a:ext uri="{FF2B5EF4-FFF2-40B4-BE49-F238E27FC236}">
                <a16:creationId xmlns:a16="http://schemas.microsoft.com/office/drawing/2014/main" id="{E73741F1-615E-A4A4-088D-E0A9187F983E}"/>
              </a:ext>
              <a:ext uri="{C183D7F6-B498-43B3-948B-1728B52AA6E4}">
                <adec:decorative xmlns:adec="http://schemas.microsoft.com/office/drawing/2017/decorative" val="0"/>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Blue circle 8 with light blue rectangle with title Review of learning 8.">
            <a:extLst>
              <a:ext uri="{FF2B5EF4-FFF2-40B4-BE49-F238E27FC236}">
                <a16:creationId xmlns:a16="http://schemas.microsoft.com/office/drawing/2014/main" id="{8E45D1B3-369A-D013-FFE7-B91D37B811F7}"/>
              </a:ext>
              <a:ext uri="{C183D7F6-B498-43B3-948B-1728B52AA6E4}">
                <adec:decorative xmlns:adec="http://schemas.microsoft.com/office/drawing/2017/decorative" val="0"/>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9BDCD778-E71A-A4F2-9CEF-2A78DFB28F68}"/>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60000" y="1243061"/>
            <a:ext cx="11243037" cy="917149"/>
          </a:xfrm>
        </p:spPr>
        <p:txBody>
          <a:bodyPr anchor="ctr"/>
          <a:lstStyle/>
          <a:p>
            <a:r>
              <a:rPr lang="en-US" sz="4400"/>
              <a:t>The number </a:t>
            </a:r>
            <a:r>
              <a:rPr lang="en-US" sz="4400" b="1"/>
              <a:t>73</a:t>
            </a:r>
            <a:r>
              <a:rPr lang="en-US" sz="4400"/>
              <a:t> is. . .</a:t>
            </a:r>
          </a:p>
        </p:txBody>
      </p:sp>
      <p:sp>
        <p:nvSpPr>
          <p:cNvPr id="9" name="B">
            <a:extLst>
              <a:ext uri="{FF2B5EF4-FFF2-40B4-BE49-F238E27FC236}">
                <a16:creationId xmlns:a16="http://schemas.microsoft.com/office/drawing/2014/main" id="{2579E796-78E6-099B-1516-BE205CC4FACD}"/>
              </a:ext>
            </a:extLst>
          </p:cNvPr>
          <p:cNvSpPr txBox="1"/>
          <p:nvPr/>
        </p:nvSpPr>
        <p:spPr>
          <a:xfrm>
            <a:off x="670554" y="247658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0" y="2447712"/>
            <a:ext cx="10175920" cy="641396"/>
          </a:xfrm>
        </p:spPr>
        <p:txBody>
          <a:bodyPr anchor="ctr"/>
          <a:lstStyle/>
          <a:p>
            <a:r>
              <a:rPr lang="en-US" sz="3600"/>
              <a:t>prime</a:t>
            </a:r>
          </a:p>
        </p:txBody>
      </p:sp>
      <p:sp>
        <p:nvSpPr>
          <p:cNvPr id="10" name="B">
            <a:extLst>
              <a:ext uri="{FF2B5EF4-FFF2-40B4-BE49-F238E27FC236}">
                <a16:creationId xmlns:a16="http://schemas.microsoft.com/office/drawing/2014/main" id="{04CBC687-138E-8135-BF08-A76285D998BD}"/>
              </a:ext>
            </a:extLst>
          </p:cNvPr>
          <p:cNvSpPr txBox="1"/>
          <p:nvPr/>
        </p:nvSpPr>
        <p:spPr>
          <a:xfrm>
            <a:off x="670559" y="352307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498236"/>
            <a:ext cx="10175920" cy="641396"/>
          </a:xfrm>
        </p:spPr>
        <p:txBody>
          <a:bodyPr anchor="ctr"/>
          <a:lstStyle/>
          <a:p>
            <a:r>
              <a:rPr lang="en-US" sz="3600"/>
              <a:t>composite</a:t>
            </a:r>
          </a:p>
        </p:txBody>
      </p:sp>
      <p:sp>
        <p:nvSpPr>
          <p:cNvPr id="12" name="C">
            <a:extLst>
              <a:ext uri="{FF2B5EF4-FFF2-40B4-BE49-F238E27FC236}">
                <a16:creationId xmlns:a16="http://schemas.microsoft.com/office/drawing/2014/main" id="{C605E3A9-768F-B21E-1E87-27B06AEB3AF5}"/>
              </a:ext>
            </a:extLst>
          </p:cNvPr>
          <p:cNvSpPr txBox="1"/>
          <p:nvPr/>
        </p:nvSpPr>
        <p:spPr>
          <a:xfrm>
            <a:off x="670558" y="45695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504157"/>
            <a:ext cx="10175920" cy="641396"/>
          </a:xfrm>
        </p:spPr>
        <p:txBody>
          <a:bodyPr anchor="ctr"/>
          <a:lstStyle/>
          <a:p>
            <a:r>
              <a:rPr lang="en-US" sz="3600"/>
              <a:t>both prime and composite</a:t>
            </a:r>
          </a:p>
        </p:txBody>
      </p:sp>
      <p:sp>
        <p:nvSpPr>
          <p:cNvPr id="11" name="D">
            <a:extLst>
              <a:ext uri="{FF2B5EF4-FFF2-40B4-BE49-F238E27FC236}">
                <a16:creationId xmlns:a16="http://schemas.microsoft.com/office/drawing/2014/main" id="{8EADE37E-99CA-3A50-524F-30E28DF3B7C4}"/>
              </a:ext>
            </a:extLst>
          </p:cNvPr>
          <p:cNvSpPr txBox="1"/>
          <p:nvPr/>
        </p:nvSpPr>
        <p:spPr>
          <a:xfrm>
            <a:off x="670555" y="56160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596186"/>
            <a:ext cx="10175920" cy="641396"/>
          </a:xfrm>
        </p:spPr>
        <p:txBody>
          <a:bodyPr anchor="ctr"/>
          <a:lstStyle/>
          <a:p>
            <a:r>
              <a:rPr lang="en-US" sz="3600"/>
              <a:t>Neither prime nor composite. </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FD056D9-9243-613E-C5AB-5DE8230E4B2D}"/>
              </a:ext>
            </a:extLst>
          </p:cNvPr>
          <p:cNvSpPr txBox="1"/>
          <p:nvPr/>
        </p:nvSpPr>
        <p:spPr>
          <a:xfrm>
            <a:off x="757646" y="1329409"/>
            <a:ext cx="10272830" cy="1998176"/>
          </a:xfrm>
          <a:prstGeom prst="rect">
            <a:avLst/>
          </a:prstGeom>
          <a:noFill/>
        </p:spPr>
        <p:txBody>
          <a:bodyPr wrap="square">
            <a:spAutoFit/>
          </a:bodyPr>
          <a:lstStyle/>
          <a:p>
            <a:pPr algn="ctr">
              <a:lnSpc>
                <a:spcPct val="150000"/>
              </a:lnSpc>
            </a:pPr>
            <a:r>
              <a:rPr lang="en-AU" sz="4400">
                <a:latin typeface="Arial" panose="020B0604020202020204" pitchFamily="34" charset="0"/>
                <a:ea typeface="Calibri" panose="020F0502020204030204" pitchFamily="34" charset="0"/>
              </a:rPr>
              <a:t>W</a:t>
            </a:r>
            <a:r>
              <a:rPr lang="en-AU" sz="4400">
                <a:effectLst/>
                <a:latin typeface="Arial" panose="020B0604020202020204" pitchFamily="34" charset="0"/>
                <a:ea typeface="Calibri" panose="020F0502020204030204" pitchFamily="34" charset="0"/>
              </a:rPr>
              <a:t>rite the </a:t>
            </a:r>
            <a:r>
              <a:rPr lang="en-AU" sz="4400" b="1">
                <a:effectLst/>
                <a:latin typeface="Arial" panose="020B0604020202020204" pitchFamily="34" charset="0"/>
                <a:ea typeface="Calibri" panose="020F0502020204030204" pitchFamily="34" charset="0"/>
              </a:rPr>
              <a:t>related multiplication and division </a:t>
            </a:r>
            <a:r>
              <a:rPr lang="en-AU" sz="4400">
                <a:effectLst/>
                <a:latin typeface="Arial" panose="020B0604020202020204" pitchFamily="34" charset="0"/>
                <a:ea typeface="Calibri" panose="020F0502020204030204" pitchFamily="34" charset="0"/>
              </a:rPr>
              <a:t>number sentences for:</a:t>
            </a:r>
          </a:p>
        </p:txBody>
      </p:sp>
      <p:sp>
        <p:nvSpPr>
          <p:cNvPr id="8" name="Rectangle: Rounded Corners 7">
            <a:extLst>
              <a:ext uri="{FF2B5EF4-FFF2-40B4-BE49-F238E27FC236}">
                <a16:creationId xmlns:a16="http://schemas.microsoft.com/office/drawing/2014/main" id="{9A652233-E20C-DEF8-0CE6-3038F5B8A4E8}"/>
              </a:ext>
            </a:extLst>
          </p:cNvPr>
          <p:cNvSpPr/>
          <p:nvPr/>
        </p:nvSpPr>
        <p:spPr>
          <a:xfrm>
            <a:off x="2908227" y="3751394"/>
            <a:ext cx="6375545" cy="1440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7200" b="1">
                <a:solidFill>
                  <a:schemeClr val="tx1"/>
                </a:solidFill>
                <a:cs typeface="Arial" panose="020B0604020202020204" pitchFamily="34" charset="0"/>
              </a:rPr>
              <a:t>56, 8 and 7</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Box 12">
            <a:extLst>
              <a:ext uri="{FF2B5EF4-FFF2-40B4-BE49-F238E27FC236}">
                <a16:creationId xmlns:a16="http://schemas.microsoft.com/office/drawing/2014/main" id="{E3B76658-95C5-20B7-A675-34A10A7C1CD4}"/>
              </a:ext>
            </a:extLst>
          </p:cNvPr>
          <p:cNvSpPr txBox="1"/>
          <p:nvPr/>
        </p:nvSpPr>
        <p:spPr>
          <a:xfrm>
            <a:off x="360000" y="1480919"/>
            <a:ext cx="11444674" cy="1123266"/>
          </a:xfrm>
          <a:prstGeom prst="rect">
            <a:avLst/>
          </a:prstGeom>
          <a:noFill/>
        </p:spPr>
        <p:txBody>
          <a:bodyPr wrap="square" lIns="0" tIns="0" rIns="0" bIns="0" rtlCol="0">
            <a:noAutofit/>
          </a:bodyPr>
          <a:lstStyle/>
          <a:p>
            <a:pPr algn="ctr"/>
            <a:r>
              <a:rPr lang="en-AU" sz="4400" b="1"/>
              <a:t>Write</a:t>
            </a:r>
            <a:r>
              <a:rPr lang="en-AU" sz="4400"/>
              <a:t> the number 3 458 217 in words</a:t>
            </a:r>
            <a:r>
              <a:rPr lang="en-AU" sz="3600"/>
              <a:t>.</a:t>
            </a:r>
            <a:endParaRPr lang="en-US" sz="3600"/>
          </a:p>
        </p:txBody>
      </p:sp>
      <p:pic>
        <p:nvPicPr>
          <p:cNvPr id="15" name="Picture 14" descr="Place value houses to billions.">
            <a:extLst>
              <a:ext uri="{FF2B5EF4-FFF2-40B4-BE49-F238E27FC236}">
                <a16:creationId xmlns:a16="http://schemas.microsoft.com/office/drawing/2014/main" id="{354301C5-3061-2060-EBD6-F90C60CFAEFA}"/>
              </a:ext>
            </a:extLst>
          </p:cNvPr>
          <p:cNvPicPr>
            <a:picLocks noChangeAspect="1"/>
          </p:cNvPicPr>
          <p:nvPr/>
        </p:nvPicPr>
        <p:blipFill>
          <a:blip r:embed="rId4"/>
          <a:stretch>
            <a:fillRect/>
          </a:stretch>
        </p:blipFill>
        <p:spPr>
          <a:xfrm>
            <a:off x="505955" y="2604185"/>
            <a:ext cx="11348350" cy="3390055"/>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EDAEA68-1DAE-FF5E-16BD-677F683EFEF8}"/>
              </a:ext>
            </a:extLst>
          </p:cNvPr>
          <p:cNvSpPr txBox="1"/>
          <p:nvPr/>
        </p:nvSpPr>
        <p:spPr>
          <a:xfrm>
            <a:off x="246024" y="1086165"/>
            <a:ext cx="3725003" cy="1804953"/>
          </a:xfrm>
          <a:prstGeom prst="rect">
            <a:avLst/>
          </a:prstGeom>
          <a:noFill/>
        </p:spPr>
        <p:txBody>
          <a:bodyPr wrap="square" lIns="0" tIns="0" rIns="0" bIns="0" rtlCol="0">
            <a:noAutofit/>
          </a:bodyPr>
          <a:lstStyle/>
          <a:p>
            <a:pPr algn="ctr">
              <a:lnSpc>
                <a:spcPct val="150000"/>
              </a:lnSpc>
            </a:pPr>
            <a:r>
              <a:rPr lang="en-US" sz="3600"/>
              <a:t>Who recorded the </a:t>
            </a:r>
            <a:r>
              <a:rPr lang="en-US" sz="3600" b="1"/>
              <a:t>lowest resting </a:t>
            </a:r>
            <a:r>
              <a:rPr lang="en-US" sz="3600"/>
              <a:t>pulse rate?</a:t>
            </a:r>
          </a:p>
        </p:txBody>
      </p:sp>
      <p:sp>
        <p:nvSpPr>
          <p:cNvPr id="5" name="TextBox 4">
            <a:extLst>
              <a:ext uri="{FF2B5EF4-FFF2-40B4-BE49-F238E27FC236}">
                <a16:creationId xmlns:a16="http://schemas.microsoft.com/office/drawing/2014/main" id="{9ED49F39-10A8-BD8B-A7DE-13131E8DFF67}"/>
              </a:ext>
            </a:extLst>
          </p:cNvPr>
          <p:cNvSpPr txBox="1"/>
          <p:nvPr/>
        </p:nvSpPr>
        <p:spPr>
          <a:xfrm>
            <a:off x="360000" y="3966883"/>
            <a:ext cx="3812656" cy="1489520"/>
          </a:xfrm>
          <a:prstGeom prst="rect">
            <a:avLst/>
          </a:prstGeom>
          <a:noFill/>
        </p:spPr>
        <p:txBody>
          <a:bodyPr wrap="square" lIns="0" tIns="0" rIns="0" bIns="0" rtlCol="0">
            <a:noAutofit/>
          </a:bodyPr>
          <a:lstStyle/>
          <a:p>
            <a:pPr algn="ctr">
              <a:lnSpc>
                <a:spcPct val="150000"/>
              </a:lnSpc>
            </a:pPr>
            <a:r>
              <a:rPr lang="en-US" sz="3600"/>
              <a:t>Who recorded the </a:t>
            </a:r>
            <a:r>
              <a:rPr lang="en-US" sz="3600" b="1"/>
              <a:t>highest </a:t>
            </a:r>
            <a:r>
              <a:rPr lang="en-US" sz="3600"/>
              <a:t>pulse rate </a:t>
            </a:r>
            <a:r>
              <a:rPr lang="en-US" sz="3600" b="1"/>
              <a:t>after </a:t>
            </a:r>
            <a:r>
              <a:rPr lang="en-US" sz="3600"/>
              <a:t>exercise?</a:t>
            </a:r>
          </a:p>
        </p:txBody>
      </p:sp>
      <p:pic>
        <p:nvPicPr>
          <p:cNvPr id="8" name="Picture 7" descr="Pulse rate column graph showing Pulse rates in beats per minute resting and after exercise. &#10;Keira: 80 resting and 110 after exercise. &#10;Marli: 86 resting and 98 after exercise.&#10;Bella: 78 resting and 100 after exercise.&#10;Bayah: 82 resting and 120 after exercise.&#10;Kenji: 70 resting and 96 after exercise.&#10;Koen: 84 resting and 112 after exercise.&#10;Monaro: 76 resting and 116 after exercise. &#10;Tahnee: 82 resting and 124 after exercise.&#10;Kody: 88 resting and 118 after exercise.&#10;Naomi: 76 resting and 116 after exercise.">
            <a:extLst>
              <a:ext uri="{FF2B5EF4-FFF2-40B4-BE49-F238E27FC236}">
                <a16:creationId xmlns:a16="http://schemas.microsoft.com/office/drawing/2014/main" id="{0416F429-FAB2-65D6-9421-77609FD062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0343" y="1512783"/>
            <a:ext cx="7555633" cy="4674657"/>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91F56BD-70C2-9554-D711-AF64F78C6E6F}"/>
              </a:ext>
            </a:extLst>
          </p:cNvPr>
          <p:cNvSpPr txBox="1"/>
          <p:nvPr/>
        </p:nvSpPr>
        <p:spPr>
          <a:xfrm>
            <a:off x="171741" y="1554086"/>
            <a:ext cx="4198553" cy="3313664"/>
          </a:xfrm>
          <a:prstGeom prst="rect">
            <a:avLst/>
          </a:prstGeom>
          <a:noFill/>
        </p:spPr>
        <p:txBody>
          <a:bodyPr wrap="square">
            <a:spAutoFit/>
          </a:bodyPr>
          <a:lstStyle/>
          <a:p>
            <a:pPr algn="ctr">
              <a:lnSpc>
                <a:spcPct val="150000"/>
              </a:lnSpc>
            </a:pPr>
            <a:r>
              <a:rPr lang="en-AU" sz="3600" b="1"/>
              <a:t>Describe</a:t>
            </a:r>
            <a:r>
              <a:rPr lang="en-AU" sz="3600"/>
              <a:t> how the </a:t>
            </a:r>
            <a:r>
              <a:rPr lang="en-AU" sz="3600" b="1"/>
              <a:t>range </a:t>
            </a:r>
            <a:r>
              <a:rPr lang="en-AU" sz="3600"/>
              <a:t>is different for each facility at the swimming pool.</a:t>
            </a:r>
          </a:p>
        </p:txBody>
      </p:sp>
      <p:pic>
        <p:nvPicPr>
          <p:cNvPr id="4" name="Picture 2" descr="Use of swimming pool facilities (average number of people) line graph for Monday to Sunday.&#10;Recreational pool - 10, 12, 15, 9, 28, 63, 52. &#10;Lane Swimming - 22, 26, 28, 25, 28, 12, 15. Waterslide - 10, 6, 8, 5, 15, 60, 50.">
            <a:extLst>
              <a:ext uri="{FF2B5EF4-FFF2-40B4-BE49-F238E27FC236}">
                <a16:creationId xmlns:a16="http://schemas.microsoft.com/office/drawing/2014/main" id="{37283E0F-6E73-E8C8-79ED-2986F9F7E2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320" y="393721"/>
            <a:ext cx="6275552" cy="621227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prime, composite, neither (1)</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123B6E56-853A-6276-CDE2-385A10A9602A}"/>
              </a:ext>
            </a:extLst>
          </p:cNvPr>
          <p:cNvGraphicFramePr>
            <a:graphicFrameLocks noGrp="1"/>
          </p:cNvGraphicFramePr>
          <p:nvPr>
            <p:extLst>
              <p:ext uri="{D42A27DB-BD31-4B8C-83A1-F6EECF244321}">
                <p14:modId xmlns:p14="http://schemas.microsoft.com/office/powerpoint/2010/main" val="867774367"/>
              </p:ext>
            </p:extLst>
          </p:nvPr>
        </p:nvGraphicFramePr>
        <p:xfrm>
          <a:off x="1021346" y="1268305"/>
          <a:ext cx="9585694" cy="4960080"/>
        </p:xfrm>
        <a:graphic>
          <a:graphicData uri="http://schemas.openxmlformats.org/drawingml/2006/table">
            <a:tbl>
              <a:tblPr firstRow="1" bandRow="1">
                <a:tableStyleId>{69012ECD-51FC-41F1-AA8D-1B2483CD663E}</a:tableStyleId>
              </a:tblPr>
              <a:tblGrid>
                <a:gridCol w="4792847">
                  <a:extLst>
                    <a:ext uri="{9D8B030D-6E8A-4147-A177-3AD203B41FA5}">
                      <a16:colId xmlns:a16="http://schemas.microsoft.com/office/drawing/2014/main" val="3168920985"/>
                    </a:ext>
                  </a:extLst>
                </a:gridCol>
                <a:gridCol w="4792847">
                  <a:extLst>
                    <a:ext uri="{9D8B030D-6E8A-4147-A177-3AD203B41FA5}">
                      <a16:colId xmlns:a16="http://schemas.microsoft.com/office/drawing/2014/main" val="1345435343"/>
                    </a:ext>
                  </a:extLst>
                </a:gridCol>
              </a:tblGrid>
              <a:tr h="540000">
                <a:tc>
                  <a:txBody>
                    <a:bodyPr/>
                    <a:lstStyle/>
                    <a:p>
                      <a:pPr algn="ctr"/>
                      <a:r>
                        <a:rPr lang="en-AU" sz="3600"/>
                        <a:t>12</a:t>
                      </a:r>
                    </a:p>
                  </a:txBody>
                  <a:tcPr>
                    <a:lnR w="12700" cap="flat" cmpd="sng" algn="ctr">
                      <a:solidFill>
                        <a:schemeClr val="accent1"/>
                      </a:solidFill>
                      <a:prstDash val="solid"/>
                      <a:round/>
                      <a:headEnd type="none" w="med" len="med"/>
                      <a:tailEnd type="none" w="med" len="med"/>
                    </a:lnR>
                  </a:tcPr>
                </a:tc>
                <a:tc>
                  <a:txBody>
                    <a:bodyPr/>
                    <a:lstStyle/>
                    <a:p>
                      <a:pPr algn="ctr"/>
                      <a:r>
                        <a:rPr lang="en-AU" sz="3600"/>
                        <a:t>13</a:t>
                      </a:r>
                    </a:p>
                  </a:txBody>
                  <a:tcP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1716408291"/>
                  </a:ext>
                </a:extLst>
              </a:tr>
              <a:tr h="4320000">
                <a:tc>
                  <a:txBody>
                    <a:bodyPr/>
                    <a:lstStyle/>
                    <a:p>
                      <a:endParaRPr lang="en-AU"/>
                    </a:p>
                  </a:txBody>
                  <a:tcPr>
                    <a:lnR w="12700" cap="flat" cmpd="sng" algn="ctr">
                      <a:solidFill>
                        <a:schemeClr val="accent1"/>
                      </a:solidFill>
                      <a:prstDash val="solid"/>
                      <a:round/>
                      <a:headEnd type="none" w="med" len="med"/>
                      <a:tailEnd type="none" w="med" len="med"/>
                    </a:lnR>
                  </a:tcPr>
                </a:tc>
                <a:tc>
                  <a:txBody>
                    <a:bodyPr/>
                    <a:lstStyle/>
                    <a:p>
                      <a:endParaRPr lang="en-AU"/>
                    </a:p>
                  </a:txBody>
                  <a:tcP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45782493"/>
                  </a:ext>
                </a:extLst>
              </a:tr>
            </a:tbl>
          </a:graphicData>
        </a:graphic>
      </p:graphicFrame>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721D4-BD24-54ED-D855-CD419C8D1BA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16556BB-DA27-3008-017B-BB80A25214AD}"/>
              </a:ext>
            </a:extLst>
          </p:cNvPr>
          <p:cNvSpPr>
            <a:spLocks noGrp="1"/>
          </p:cNvSpPr>
          <p:nvPr>
            <p:ph type="title"/>
          </p:nvPr>
        </p:nvSpPr>
        <p:spPr>
          <a:xfrm>
            <a:off x="360000" y="360000"/>
            <a:ext cx="10367268" cy="545601"/>
          </a:xfrm>
        </p:spPr>
        <p:txBody>
          <a:bodyPr/>
          <a:lstStyle/>
          <a:p>
            <a:r>
              <a:rPr lang="en-AU"/>
              <a:t>Activity 1 – prime, composite, neither (2)</a:t>
            </a:r>
          </a:p>
        </p:txBody>
      </p:sp>
      <p:pic>
        <p:nvPicPr>
          <p:cNvPr id="4" name="Picture 3" descr="image of a head with cogs turning inside">
            <a:extLst>
              <a:ext uri="{FF2B5EF4-FFF2-40B4-BE49-F238E27FC236}">
                <a16:creationId xmlns:a16="http://schemas.microsoft.com/office/drawing/2014/main" id="{1F9311B3-6C6C-764B-AA66-2633173C9950}"/>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76DA4387-150F-0D93-4284-2FF4980CF52F}"/>
              </a:ext>
            </a:extLst>
          </p:cNvPr>
          <p:cNvGraphicFramePr>
            <a:graphicFrameLocks noGrp="1"/>
          </p:cNvGraphicFramePr>
          <p:nvPr>
            <p:extLst>
              <p:ext uri="{D42A27DB-BD31-4B8C-83A1-F6EECF244321}">
                <p14:modId xmlns:p14="http://schemas.microsoft.com/office/powerpoint/2010/main" val="161937890"/>
              </p:ext>
            </p:extLst>
          </p:nvPr>
        </p:nvGraphicFramePr>
        <p:xfrm>
          <a:off x="1021346" y="1268305"/>
          <a:ext cx="9585692" cy="4960080"/>
        </p:xfrm>
        <a:graphic>
          <a:graphicData uri="http://schemas.openxmlformats.org/drawingml/2006/table">
            <a:tbl>
              <a:tblPr firstRow="1" bandRow="1">
                <a:tableStyleId>{69012ECD-51FC-41F1-AA8D-1B2483CD663E}</a:tableStyleId>
              </a:tblPr>
              <a:tblGrid>
                <a:gridCol w="2396423">
                  <a:extLst>
                    <a:ext uri="{9D8B030D-6E8A-4147-A177-3AD203B41FA5}">
                      <a16:colId xmlns:a16="http://schemas.microsoft.com/office/drawing/2014/main" val="3168920985"/>
                    </a:ext>
                  </a:extLst>
                </a:gridCol>
                <a:gridCol w="2396423">
                  <a:extLst>
                    <a:ext uri="{9D8B030D-6E8A-4147-A177-3AD203B41FA5}">
                      <a16:colId xmlns:a16="http://schemas.microsoft.com/office/drawing/2014/main" val="1345435343"/>
                    </a:ext>
                  </a:extLst>
                </a:gridCol>
                <a:gridCol w="2396423">
                  <a:extLst>
                    <a:ext uri="{9D8B030D-6E8A-4147-A177-3AD203B41FA5}">
                      <a16:colId xmlns:a16="http://schemas.microsoft.com/office/drawing/2014/main" val="718133085"/>
                    </a:ext>
                  </a:extLst>
                </a:gridCol>
                <a:gridCol w="2396423">
                  <a:extLst>
                    <a:ext uri="{9D8B030D-6E8A-4147-A177-3AD203B41FA5}">
                      <a16:colId xmlns:a16="http://schemas.microsoft.com/office/drawing/2014/main" val="3313409137"/>
                    </a:ext>
                  </a:extLst>
                </a:gridCol>
              </a:tblGrid>
              <a:tr h="540000">
                <a:tc>
                  <a:txBody>
                    <a:bodyPr/>
                    <a:lstStyle/>
                    <a:p>
                      <a:pPr algn="ctr"/>
                      <a:r>
                        <a:rPr lang="en-AU" sz="3600"/>
                        <a:t>41</a:t>
                      </a:r>
                    </a:p>
                  </a:txBody>
                  <a:tcPr>
                    <a:lnR w="12700" cap="flat" cmpd="sng" algn="ctr">
                      <a:solidFill>
                        <a:schemeClr val="accent1"/>
                      </a:solidFill>
                      <a:prstDash val="solid"/>
                      <a:round/>
                      <a:headEnd type="none" w="med" len="med"/>
                      <a:tailEnd type="none" w="med" len="med"/>
                    </a:lnR>
                  </a:tcPr>
                </a:tc>
                <a:tc>
                  <a:txBody>
                    <a:bodyPr/>
                    <a:lstStyle/>
                    <a:p>
                      <a:pPr algn="ctr"/>
                      <a:r>
                        <a:rPr lang="en-AU" sz="3600"/>
                        <a:t>44</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a:r>
                        <a:rPr lang="en-AU" sz="3600"/>
                        <a:t>48</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a:r>
                        <a:rPr lang="en-AU" sz="3600"/>
                        <a:t>49</a:t>
                      </a:r>
                    </a:p>
                  </a:txBody>
                  <a:tcP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1716408291"/>
                  </a:ext>
                </a:extLst>
              </a:tr>
              <a:tr h="4320000">
                <a:tc>
                  <a:txBody>
                    <a:bodyPr/>
                    <a:lstStyle/>
                    <a:p>
                      <a:endParaRPr lang="en-AU"/>
                    </a:p>
                  </a:txBody>
                  <a:tcPr>
                    <a:lnR w="12700" cap="flat" cmpd="sng" algn="ctr">
                      <a:solidFill>
                        <a:schemeClr val="accent1"/>
                      </a:solidFill>
                      <a:prstDash val="solid"/>
                      <a:round/>
                      <a:headEnd type="none" w="med" len="med"/>
                      <a:tailEnd type="none" w="med" len="med"/>
                    </a:lnR>
                  </a:tcPr>
                </a:tc>
                <a:tc>
                  <a:txBody>
                    <a:bodyPr/>
                    <a:lstStyle/>
                    <a:p>
                      <a:endParaRPr lang="en-AU"/>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endParaRPr lang="en-AU"/>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endParaRPr lang="en-AU"/>
                    </a:p>
                  </a:txBody>
                  <a:tcP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45782493"/>
                  </a:ext>
                </a:extLst>
              </a:tr>
            </a:tbl>
          </a:graphicData>
        </a:graphic>
      </p:graphicFrame>
      <p:sp>
        <p:nvSpPr>
          <p:cNvPr id="2" name="Slide Number Placeholder 1">
            <a:extLst>
              <a:ext uri="{FF2B5EF4-FFF2-40B4-BE49-F238E27FC236}">
                <a16:creationId xmlns:a16="http://schemas.microsoft.com/office/drawing/2014/main" id="{1A711518-B401-36DC-A003-5F60485A8EB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spTree>
    <p:extLst>
      <p:ext uri="{BB962C8B-B14F-4D97-AF65-F5344CB8AC3E}">
        <p14:creationId xmlns:p14="http://schemas.microsoft.com/office/powerpoint/2010/main" val="24390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CEDA7-62BE-867F-FD6E-DE0FAD3AAAA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E464681-858B-6693-6726-ACA2424D2AA4}"/>
              </a:ext>
            </a:extLst>
          </p:cNvPr>
          <p:cNvSpPr>
            <a:spLocks noGrp="1"/>
          </p:cNvSpPr>
          <p:nvPr>
            <p:ph type="title"/>
          </p:nvPr>
        </p:nvSpPr>
        <p:spPr>
          <a:xfrm>
            <a:off x="360000" y="360000"/>
            <a:ext cx="10367268" cy="545601"/>
          </a:xfrm>
        </p:spPr>
        <p:txBody>
          <a:bodyPr/>
          <a:lstStyle/>
          <a:p>
            <a:r>
              <a:rPr lang="en-AU"/>
              <a:t>Activity 1 – prime, composite, neither (3)</a:t>
            </a:r>
          </a:p>
        </p:txBody>
      </p:sp>
      <p:pic>
        <p:nvPicPr>
          <p:cNvPr id="4" name="Picture 3" descr="image of a head with cogs turning inside">
            <a:extLst>
              <a:ext uri="{FF2B5EF4-FFF2-40B4-BE49-F238E27FC236}">
                <a16:creationId xmlns:a16="http://schemas.microsoft.com/office/drawing/2014/main" id="{DDBAB918-1570-8D31-F7F5-C2D8D046AE16}"/>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98CD64A4-D846-F77A-3B5E-2A4AFEAE7EBC}"/>
              </a:ext>
            </a:extLst>
          </p:cNvPr>
          <p:cNvGraphicFramePr>
            <a:graphicFrameLocks noGrp="1"/>
          </p:cNvGraphicFramePr>
          <p:nvPr>
            <p:extLst>
              <p:ext uri="{D42A27DB-BD31-4B8C-83A1-F6EECF244321}">
                <p14:modId xmlns:p14="http://schemas.microsoft.com/office/powerpoint/2010/main" val="457745169"/>
              </p:ext>
            </p:extLst>
          </p:nvPr>
        </p:nvGraphicFramePr>
        <p:xfrm>
          <a:off x="3147210" y="1235936"/>
          <a:ext cx="4792847" cy="4960080"/>
        </p:xfrm>
        <a:graphic>
          <a:graphicData uri="http://schemas.openxmlformats.org/drawingml/2006/table">
            <a:tbl>
              <a:tblPr firstRow="1" bandRow="1">
                <a:tableStyleId>{69012ECD-51FC-41F1-AA8D-1B2483CD663E}</a:tableStyleId>
              </a:tblPr>
              <a:tblGrid>
                <a:gridCol w="4792847">
                  <a:extLst>
                    <a:ext uri="{9D8B030D-6E8A-4147-A177-3AD203B41FA5}">
                      <a16:colId xmlns:a16="http://schemas.microsoft.com/office/drawing/2014/main" val="3168920985"/>
                    </a:ext>
                  </a:extLst>
                </a:gridCol>
              </a:tblGrid>
              <a:tr h="540000">
                <a:tc>
                  <a:txBody>
                    <a:bodyPr/>
                    <a:lstStyle/>
                    <a:p>
                      <a:pPr algn="ctr"/>
                      <a:r>
                        <a:rPr lang="en-AU" sz="3600"/>
                        <a:t>1</a:t>
                      </a:r>
                    </a:p>
                  </a:txBody>
                  <a:tcPr>
                    <a:lnR w="12700" cap="flat" cmpd="sng" algn="ctr">
                      <a:solidFill>
                        <a:schemeClr val="accent1"/>
                      </a:solidFill>
                      <a:prstDash val="solid"/>
                      <a:round/>
                      <a:headEnd type="none" w="med" len="med"/>
                      <a:tailEnd type="none" w="med" len="med"/>
                    </a:lnR>
                  </a:tcPr>
                </a:tc>
                <a:extLst>
                  <a:ext uri="{0D108BD9-81ED-4DB2-BD59-A6C34878D82A}">
                    <a16:rowId xmlns:a16="http://schemas.microsoft.com/office/drawing/2014/main" val="1716408291"/>
                  </a:ext>
                </a:extLst>
              </a:tr>
              <a:tr h="4320000">
                <a:tc>
                  <a:txBody>
                    <a:bodyPr/>
                    <a:lstStyle/>
                    <a:p>
                      <a:endParaRPr lang="en-AU"/>
                    </a:p>
                  </a:txBody>
                  <a:tcPr>
                    <a:lnR w="12700" cap="flat" cmpd="sng" algn="ctr">
                      <a:solidFill>
                        <a:schemeClr val="accent1"/>
                      </a:solidFill>
                      <a:prstDash val="solid"/>
                      <a:round/>
                      <a:headEnd type="none" w="med" len="med"/>
                      <a:tailEnd type="none" w="med" len="med"/>
                    </a:lnR>
                  </a:tcPr>
                </a:tc>
                <a:extLst>
                  <a:ext uri="{0D108BD9-81ED-4DB2-BD59-A6C34878D82A}">
                    <a16:rowId xmlns:a16="http://schemas.microsoft.com/office/drawing/2014/main" val="45782493"/>
                  </a:ext>
                </a:extLst>
              </a:tr>
            </a:tbl>
          </a:graphicData>
        </a:graphic>
      </p:graphicFrame>
      <p:sp>
        <p:nvSpPr>
          <p:cNvPr id="2" name="Slide Number Placeholder 1">
            <a:extLst>
              <a:ext uri="{FF2B5EF4-FFF2-40B4-BE49-F238E27FC236}">
                <a16:creationId xmlns:a16="http://schemas.microsoft.com/office/drawing/2014/main" id="{0EF28E55-563D-FD6A-96F7-B73C7738DC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2874215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600963" y="1768129"/>
            <a:ext cx="11243037" cy="1387920"/>
          </a:xfrm>
        </p:spPr>
        <p:txBody>
          <a:bodyPr/>
          <a:lstStyle/>
          <a:p>
            <a:pPr algn="ctr">
              <a:lnSpc>
                <a:spcPct val="200000"/>
              </a:lnSpc>
            </a:pPr>
            <a:r>
              <a:rPr lang="en-AU" sz="4400" b="1"/>
              <a:t>‘Product’ </a:t>
            </a:r>
            <a:r>
              <a:rPr lang="en-AU" sz="4400"/>
              <a:t>means the result of </a:t>
            </a:r>
            <a:r>
              <a:rPr lang="en-AU" sz="4400" b="1"/>
              <a:t>multiplying</a:t>
            </a:r>
            <a:r>
              <a:rPr lang="en-AU" sz="4400"/>
              <a:t> 2 or more numbers.</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4271881436"/>
              </p:ext>
            </p:extLst>
          </p:nvPr>
        </p:nvGraphicFramePr>
        <p:xfrm>
          <a:off x="2442981" y="5688998"/>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FE38CAF-C2B4-F40F-4F17-5D55D9E02E84}"/>
              </a:ext>
            </a:extLst>
          </p:cNvPr>
          <p:cNvSpPr txBox="1"/>
          <p:nvPr/>
        </p:nvSpPr>
        <p:spPr>
          <a:xfrm>
            <a:off x="700556" y="1012729"/>
            <a:ext cx="10764000" cy="982513"/>
          </a:xfrm>
          <a:prstGeom prst="rect">
            <a:avLst/>
          </a:prstGeom>
          <a:noFill/>
        </p:spPr>
        <p:txBody>
          <a:bodyPr wrap="square">
            <a:spAutoFit/>
          </a:bodyPr>
          <a:lstStyle/>
          <a:p>
            <a:pPr algn="ctr">
              <a:lnSpc>
                <a:spcPct val="150000"/>
              </a:lnSpc>
            </a:pPr>
            <a:r>
              <a:rPr lang="en-AU" sz="4400" i="0">
                <a:solidFill>
                  <a:srgbClr val="000000"/>
                </a:solidFill>
                <a:effectLst/>
              </a:rPr>
              <a:t>Use a multiplication </a:t>
            </a:r>
            <a:r>
              <a:rPr lang="en-AU" sz="4400" b="1" i="0">
                <a:solidFill>
                  <a:srgbClr val="000000"/>
                </a:solidFill>
                <a:effectLst/>
              </a:rPr>
              <a:t>algorithm</a:t>
            </a:r>
            <a:r>
              <a:rPr lang="en-AU" sz="4400" i="0">
                <a:solidFill>
                  <a:srgbClr val="000000"/>
                </a:solidFill>
                <a:effectLst/>
              </a:rPr>
              <a:t> to </a:t>
            </a:r>
            <a:r>
              <a:rPr lang="en-AU" sz="4400" b="1" i="0">
                <a:solidFill>
                  <a:srgbClr val="000000"/>
                </a:solidFill>
                <a:effectLst/>
              </a:rPr>
              <a:t>solve:</a:t>
            </a:r>
            <a:endParaRPr lang="en-AU" sz="4400"/>
          </a:p>
        </p:txBody>
      </p:sp>
      <p:sp>
        <p:nvSpPr>
          <p:cNvPr id="7" name="TextBox 6">
            <a:extLst>
              <a:ext uri="{FF2B5EF4-FFF2-40B4-BE49-F238E27FC236}">
                <a16:creationId xmlns:a16="http://schemas.microsoft.com/office/drawing/2014/main" id="{DDBD0D67-D9C2-A1B9-9F0D-3067BA33EA2B}"/>
              </a:ext>
            </a:extLst>
          </p:cNvPr>
          <p:cNvSpPr txBox="1"/>
          <p:nvPr/>
        </p:nvSpPr>
        <p:spPr>
          <a:xfrm>
            <a:off x="462969" y="2166736"/>
            <a:ext cx="11239174" cy="4029501"/>
          </a:xfrm>
          <a:prstGeom prst="rect">
            <a:avLst/>
          </a:prstGeom>
          <a:noFill/>
        </p:spPr>
        <p:txBody>
          <a:bodyPr wrap="square">
            <a:spAutoFit/>
          </a:bodyPr>
          <a:lstStyle/>
          <a:p>
            <a:pPr algn="ctr">
              <a:lnSpc>
                <a:spcPct val="150000"/>
              </a:lnSpc>
            </a:pPr>
            <a:r>
              <a:rPr lang="en-AU" sz="4400" i="0">
                <a:solidFill>
                  <a:srgbClr val="000000"/>
                </a:solidFill>
                <a:effectLst/>
              </a:rPr>
              <a:t>The cricket club buys boxes of cricket balls. </a:t>
            </a:r>
            <a:r>
              <a:rPr lang="en-AU" sz="4400" b="1" i="0">
                <a:solidFill>
                  <a:srgbClr val="000000"/>
                </a:solidFill>
                <a:effectLst/>
              </a:rPr>
              <a:t>Each</a:t>
            </a:r>
            <a:r>
              <a:rPr lang="en-AU" sz="4400" i="0">
                <a:solidFill>
                  <a:srgbClr val="000000"/>
                </a:solidFill>
                <a:effectLst/>
              </a:rPr>
              <a:t> box holds </a:t>
            </a:r>
            <a:r>
              <a:rPr lang="en-AU" sz="4400" b="1" i="0">
                <a:solidFill>
                  <a:srgbClr val="000000"/>
                </a:solidFill>
                <a:effectLst/>
              </a:rPr>
              <a:t>22 balls</a:t>
            </a:r>
            <a:r>
              <a:rPr lang="en-AU" sz="4400" i="0">
                <a:solidFill>
                  <a:srgbClr val="000000"/>
                </a:solidFill>
                <a:effectLst/>
              </a:rPr>
              <a:t>. The cricket club bought </a:t>
            </a:r>
            <a:r>
              <a:rPr lang="en-AU" sz="4400" b="1" i="0">
                <a:solidFill>
                  <a:srgbClr val="000000"/>
                </a:solidFill>
                <a:effectLst/>
              </a:rPr>
              <a:t>35 boxes</a:t>
            </a:r>
            <a:r>
              <a:rPr lang="en-AU" sz="4400" i="0">
                <a:solidFill>
                  <a:srgbClr val="000000"/>
                </a:solidFill>
                <a:effectLst/>
              </a:rPr>
              <a:t>. </a:t>
            </a:r>
            <a:r>
              <a:rPr lang="en-AU" sz="4400" b="1" i="0">
                <a:solidFill>
                  <a:srgbClr val="000000"/>
                </a:solidFill>
                <a:effectLst/>
              </a:rPr>
              <a:t>How many </a:t>
            </a:r>
            <a:r>
              <a:rPr lang="en-AU" sz="4400" i="0">
                <a:solidFill>
                  <a:srgbClr val="000000"/>
                </a:solidFill>
                <a:effectLst/>
              </a:rPr>
              <a:t>cricket balls did they get </a:t>
            </a:r>
            <a:r>
              <a:rPr lang="en-AU" sz="4400" b="1" i="0">
                <a:solidFill>
                  <a:srgbClr val="000000"/>
                </a:solidFill>
                <a:effectLst/>
              </a:rPr>
              <a:t>in total</a:t>
            </a:r>
            <a:r>
              <a:rPr lang="en-AU" sz="4400" i="0">
                <a:solidFill>
                  <a:srgbClr val="000000"/>
                </a:solidFill>
                <a:effectLst/>
              </a:rPr>
              <a:t>?</a:t>
            </a:r>
            <a:endParaRPr lang="en-AU" sz="4400"/>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5" name="TextBox 4">
            <a:extLst>
              <a:ext uri="{FF2B5EF4-FFF2-40B4-BE49-F238E27FC236}">
                <a16:creationId xmlns:a16="http://schemas.microsoft.com/office/drawing/2014/main" id="{5CF78D3B-25DB-8BED-05E4-81F048CC5CB6}"/>
              </a:ext>
            </a:extLst>
          </p:cNvPr>
          <p:cNvSpPr txBox="1"/>
          <p:nvPr/>
        </p:nvSpPr>
        <p:spPr>
          <a:xfrm>
            <a:off x="526865" y="1325043"/>
            <a:ext cx="11317135" cy="1998176"/>
          </a:xfrm>
          <a:prstGeom prst="rect">
            <a:avLst/>
          </a:prstGeom>
          <a:noFill/>
        </p:spPr>
        <p:txBody>
          <a:bodyPr wrap="square">
            <a:spAutoFit/>
          </a:bodyPr>
          <a:lstStyle/>
          <a:p>
            <a:pPr algn="ctr">
              <a:lnSpc>
                <a:spcPct val="150000"/>
              </a:lnSpc>
            </a:pPr>
            <a:r>
              <a:rPr lang="en-AU" sz="4400" b="1" i="0">
                <a:solidFill>
                  <a:srgbClr val="000000"/>
                </a:solidFill>
                <a:effectLst/>
              </a:rPr>
              <a:t>Partition</a:t>
            </a:r>
            <a:r>
              <a:rPr lang="en-AU" sz="4400" b="0" i="0">
                <a:solidFill>
                  <a:srgbClr val="000000"/>
                </a:solidFill>
                <a:effectLst/>
              </a:rPr>
              <a:t> the following number in 2 different ways using </a:t>
            </a:r>
            <a:r>
              <a:rPr lang="en-AU" sz="4400" b="1" i="0">
                <a:solidFill>
                  <a:srgbClr val="000000"/>
                </a:solidFill>
                <a:effectLst/>
              </a:rPr>
              <a:t>non-standard</a:t>
            </a:r>
            <a:r>
              <a:rPr lang="en-AU" sz="4400" b="0" i="0">
                <a:solidFill>
                  <a:srgbClr val="000000"/>
                </a:solidFill>
                <a:effectLst/>
              </a:rPr>
              <a:t> partitioning.</a:t>
            </a:r>
            <a:endParaRPr lang="en-AU" sz="4400"/>
          </a:p>
        </p:txBody>
      </p:sp>
      <p:sp>
        <p:nvSpPr>
          <p:cNvPr id="7" name="Rectangle: Rounded Corners 6">
            <a:extLst>
              <a:ext uri="{FF2B5EF4-FFF2-40B4-BE49-F238E27FC236}">
                <a16:creationId xmlns:a16="http://schemas.microsoft.com/office/drawing/2014/main" id="{ED0DB539-4CE7-05C1-B91A-30575FF4A885}"/>
              </a:ext>
            </a:extLst>
          </p:cNvPr>
          <p:cNvSpPr/>
          <p:nvPr/>
        </p:nvSpPr>
        <p:spPr>
          <a:xfrm>
            <a:off x="2952375" y="3831933"/>
            <a:ext cx="6466114" cy="1998176"/>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6000">
                <a:solidFill>
                  <a:schemeClr val="tx1"/>
                </a:solidFill>
                <a:cs typeface="Arial" panose="020B0604020202020204" pitchFamily="34" charset="0"/>
              </a:rPr>
              <a:t>541 267 895</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0EB96F4A-9FCD-5BB4-8C08-ED061AC29845}"/>
              </a:ext>
            </a:extLst>
          </p:cNvPr>
          <p:cNvSpPr txBox="1"/>
          <p:nvPr/>
        </p:nvSpPr>
        <p:spPr>
          <a:xfrm>
            <a:off x="221168" y="1410551"/>
            <a:ext cx="11724808" cy="545601"/>
          </a:xfrm>
          <a:prstGeom prst="rect">
            <a:avLst/>
          </a:prstGeom>
          <a:noFill/>
        </p:spPr>
        <p:txBody>
          <a:bodyPr wrap="square" lIns="0" tIns="0" rIns="0" bIns="0" rtlCol="0">
            <a:noAutofit/>
          </a:bodyPr>
          <a:lstStyle/>
          <a:p>
            <a:pPr algn="ctr"/>
            <a:r>
              <a:rPr lang="en-US" sz="3300"/>
              <a:t>Which of these </a:t>
            </a:r>
            <a:r>
              <a:rPr lang="en-US" sz="3300" b="1"/>
              <a:t>data representations </a:t>
            </a:r>
            <a:r>
              <a:rPr lang="en-US" sz="3300"/>
              <a:t>is the most </a:t>
            </a:r>
            <a:r>
              <a:rPr lang="en-US" sz="3300" b="1"/>
              <a:t>misleading</a:t>
            </a:r>
            <a:r>
              <a:rPr lang="en-US" sz="3300"/>
              <a:t>?</a:t>
            </a:r>
          </a:p>
        </p:txBody>
      </p:sp>
      <p:pic>
        <p:nvPicPr>
          <p:cNvPr id="5" name="Picture 2" descr="Column graph advertising 'Huge sales' for the months January through to December. Description categories of 'Annual sales through the roof', 'Never seen before', 'All time high', 'Up and Up' and 'Sold out!'&#10;Column graph - January 400 (Up and Up category), February 1100 (All time high category), March 360 (Up and Up category), April 1900 (Never seen before category), May 330 (Up and up category), June 222 (border of Sold out and up and up category), July 2000 (border of Never seen before and Annual sales through the roof category), August 140 (Sold out category), September 2200 (Annual sales through the roof category), October 500 (Up and up category), November 360 (Up and Up category), December 110 (Sold out category).">
            <a:extLst>
              <a:ext uri="{FF2B5EF4-FFF2-40B4-BE49-F238E27FC236}">
                <a16:creationId xmlns:a16="http://schemas.microsoft.com/office/drawing/2014/main" id="{C5E25795-4A4D-4299-CD56-94A4B16C99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00" y="2061047"/>
            <a:ext cx="5620996" cy="39742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 name="Picture 2" descr="Column graph advertising 'Huge sales' for the months February, April, July and September. Description categories of 'Annual sales through the roof', 'Never seen before', 'All time high', 'Up and Up' and 'Sold out!'&#10;Column graph with February 1100 (All time high category), April 2000 (Never seen before category), July 2000 (Never seen before category), September 2200 (Annual sales through the roof category).">
            <a:extLst>
              <a:ext uri="{FF2B5EF4-FFF2-40B4-BE49-F238E27FC236}">
                <a16:creationId xmlns:a16="http://schemas.microsoft.com/office/drawing/2014/main" id="{9AF972A8-4697-DC51-E095-C3436CB7CB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9194" y="1974152"/>
            <a:ext cx="5745776" cy="406115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FB16C9B-3E29-D257-B232-D9AD77174C7D}"/>
              </a:ext>
            </a:extLst>
          </p:cNvPr>
          <p:cNvSpPr txBox="1"/>
          <p:nvPr/>
        </p:nvSpPr>
        <p:spPr>
          <a:xfrm>
            <a:off x="-74839" y="6150399"/>
            <a:ext cx="11364808" cy="545601"/>
          </a:xfrm>
          <a:prstGeom prst="rect">
            <a:avLst/>
          </a:prstGeom>
          <a:noFill/>
        </p:spPr>
        <p:txBody>
          <a:bodyPr wrap="square" lIns="0" tIns="0" rIns="0" bIns="0" rtlCol="0">
            <a:noAutofit/>
          </a:bodyPr>
          <a:lstStyle/>
          <a:p>
            <a:pPr algn="ctr"/>
            <a:r>
              <a:rPr lang="en-AU" sz="4400"/>
              <a:t>Communicate </a:t>
            </a:r>
            <a:r>
              <a:rPr lang="en-US" sz="4400"/>
              <a:t>your </a:t>
            </a:r>
            <a:r>
              <a:rPr lang="en-US" sz="4400" b="1"/>
              <a:t>reasoning</a:t>
            </a:r>
            <a:r>
              <a:rPr lang="en-US" sz="3200"/>
              <a:t>.</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3E76DF5-5F02-22B3-B6DA-336B3948DD26}"/>
              </a:ext>
            </a:extLst>
          </p:cNvPr>
          <p:cNvSpPr txBox="1"/>
          <p:nvPr/>
        </p:nvSpPr>
        <p:spPr>
          <a:xfrm>
            <a:off x="1936690" y="1154738"/>
            <a:ext cx="8318619" cy="901593"/>
          </a:xfrm>
          <a:prstGeom prst="rect">
            <a:avLst/>
          </a:prstGeom>
          <a:noFill/>
        </p:spPr>
        <p:txBody>
          <a:bodyPr wrap="square">
            <a:spAutoFit/>
          </a:bodyPr>
          <a:lstStyle/>
          <a:p>
            <a:pPr algn="ctr">
              <a:lnSpc>
                <a:spcPct val="150000"/>
              </a:lnSpc>
            </a:pPr>
            <a:r>
              <a:rPr lang="en-AU" sz="4000"/>
              <a:t>Classify the triangles.</a:t>
            </a:r>
          </a:p>
        </p:txBody>
      </p:sp>
      <p:sp>
        <p:nvSpPr>
          <p:cNvPr id="7" name="Freeform 2" descr="Purple triangle with all sides equal in length and three angles that are equal.">
            <a:extLst>
              <a:ext uri="{FF2B5EF4-FFF2-40B4-BE49-F238E27FC236}">
                <a16:creationId xmlns:a16="http://schemas.microsoft.com/office/drawing/2014/main" id="{D950A736-F670-FE7C-7E2D-68B587EBCF5F}"/>
              </a:ext>
            </a:extLst>
          </p:cNvPr>
          <p:cNvSpPr/>
          <p:nvPr/>
        </p:nvSpPr>
        <p:spPr>
          <a:xfrm rot="21117228" flipV="1">
            <a:off x="1505397" y="2829488"/>
            <a:ext cx="2688897" cy="2322534"/>
          </a:xfrm>
          <a:custGeom>
            <a:avLst/>
            <a:gdLst/>
            <a:ahLst/>
            <a:cxnLst/>
            <a:rect l="l" t="t" r="r" b="b"/>
            <a:pathLst>
              <a:path w="2688897" h="2322534">
                <a:moveTo>
                  <a:pt x="0" y="2322535"/>
                </a:moveTo>
                <a:lnTo>
                  <a:pt x="2688896" y="2322535"/>
                </a:lnTo>
                <a:lnTo>
                  <a:pt x="2688896" y="0"/>
                </a:lnTo>
                <a:lnTo>
                  <a:pt x="0" y="0"/>
                </a:lnTo>
                <a:lnTo>
                  <a:pt x="0" y="232253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3" descr="Blue triangle with three sides and three angles, where one angle is exactly ninety degrees.&#10;">
            <a:extLst>
              <a:ext uri="{FF2B5EF4-FFF2-40B4-BE49-F238E27FC236}">
                <a16:creationId xmlns:a16="http://schemas.microsoft.com/office/drawing/2014/main" id="{E189ACF9-3DAA-0D9E-95F0-EE3E1512C9B6}"/>
              </a:ext>
            </a:extLst>
          </p:cNvPr>
          <p:cNvSpPr/>
          <p:nvPr/>
        </p:nvSpPr>
        <p:spPr>
          <a:xfrm>
            <a:off x="5045581" y="3990756"/>
            <a:ext cx="2302670" cy="2322996"/>
          </a:xfrm>
          <a:custGeom>
            <a:avLst/>
            <a:gdLst/>
            <a:ahLst/>
            <a:cxnLst/>
            <a:rect l="l" t="t" r="r" b="b"/>
            <a:pathLst>
              <a:path w="2302670" h="2322996">
                <a:moveTo>
                  <a:pt x="0" y="0"/>
                </a:moveTo>
                <a:lnTo>
                  <a:pt x="2302669" y="0"/>
                </a:lnTo>
                <a:lnTo>
                  <a:pt x="2302669" y="2322996"/>
                </a:lnTo>
                <a:lnTo>
                  <a:pt x="0" y="23229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9" name="Freeform 4" descr="Red triangle where all sides are different lengths and there are no equal angles.">
            <a:extLst>
              <a:ext uri="{FF2B5EF4-FFF2-40B4-BE49-F238E27FC236}">
                <a16:creationId xmlns:a16="http://schemas.microsoft.com/office/drawing/2014/main" id="{030CAC5D-30B7-4808-1570-B9B3E9DB08D8}"/>
              </a:ext>
            </a:extLst>
          </p:cNvPr>
          <p:cNvSpPr/>
          <p:nvPr/>
        </p:nvSpPr>
        <p:spPr>
          <a:xfrm rot="1428795">
            <a:off x="7630490" y="2899145"/>
            <a:ext cx="3723728" cy="2183222"/>
          </a:xfrm>
          <a:custGeom>
            <a:avLst/>
            <a:gdLst/>
            <a:ahLst/>
            <a:cxnLst/>
            <a:rect l="l" t="t" r="r" b="b"/>
            <a:pathLst>
              <a:path w="3353834" h="1752378">
                <a:moveTo>
                  <a:pt x="0" y="0"/>
                </a:moveTo>
                <a:lnTo>
                  <a:pt x="3353834" y="0"/>
                </a:lnTo>
                <a:lnTo>
                  <a:pt x="3353834" y="1752378"/>
                </a:lnTo>
                <a:lnTo>
                  <a:pt x="0" y="175237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product 100 target</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Freeform 3" descr="Playing card - 2 of hearts">
            <a:extLst>
              <a:ext uri="{FF2B5EF4-FFF2-40B4-BE49-F238E27FC236}">
                <a16:creationId xmlns:a16="http://schemas.microsoft.com/office/drawing/2014/main" id="{798DDD86-AC17-40CD-D26F-9B8DC71E0E14}"/>
              </a:ext>
            </a:extLst>
          </p:cNvPr>
          <p:cNvSpPr/>
          <p:nvPr/>
        </p:nvSpPr>
        <p:spPr>
          <a:xfrm>
            <a:off x="1047952" y="1287365"/>
            <a:ext cx="1600441" cy="2398482"/>
          </a:xfrm>
          <a:custGeom>
            <a:avLst/>
            <a:gdLst/>
            <a:ahLst/>
            <a:cxnLst/>
            <a:rect l="l" t="t" r="r" b="b"/>
            <a:pathLst>
              <a:path w="2745694" h="4114800">
                <a:moveTo>
                  <a:pt x="0" y="0"/>
                </a:moveTo>
                <a:lnTo>
                  <a:pt x="2745694" y="0"/>
                </a:lnTo>
                <a:lnTo>
                  <a:pt x="274569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5" name="Freeform 2" descr="Playing card - 6 of spades">
            <a:extLst>
              <a:ext uri="{FF2B5EF4-FFF2-40B4-BE49-F238E27FC236}">
                <a16:creationId xmlns:a16="http://schemas.microsoft.com/office/drawing/2014/main" id="{8A361BDF-8BCD-093F-CA3E-C00FF1793971}"/>
              </a:ext>
            </a:extLst>
          </p:cNvPr>
          <p:cNvSpPr/>
          <p:nvPr/>
        </p:nvSpPr>
        <p:spPr>
          <a:xfrm>
            <a:off x="3014087" y="1287365"/>
            <a:ext cx="1600441" cy="2398482"/>
          </a:xfrm>
          <a:custGeom>
            <a:avLst/>
            <a:gdLst/>
            <a:ahLst/>
            <a:cxnLst/>
            <a:rect l="l" t="t" r="r" b="b"/>
            <a:pathLst>
              <a:path w="2745694" h="4114800">
                <a:moveTo>
                  <a:pt x="0" y="0"/>
                </a:moveTo>
                <a:lnTo>
                  <a:pt x="2745694" y="0"/>
                </a:lnTo>
                <a:lnTo>
                  <a:pt x="27456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2" name="Freeform 8" descr="Playing card - 5 of clubs">
            <a:extLst>
              <a:ext uri="{FF2B5EF4-FFF2-40B4-BE49-F238E27FC236}">
                <a16:creationId xmlns:a16="http://schemas.microsoft.com/office/drawing/2014/main" id="{3BC256C1-2810-620D-739C-8272823227CB}"/>
              </a:ext>
            </a:extLst>
          </p:cNvPr>
          <p:cNvSpPr/>
          <p:nvPr/>
        </p:nvSpPr>
        <p:spPr>
          <a:xfrm>
            <a:off x="1047952" y="3970630"/>
            <a:ext cx="1600441" cy="2398482"/>
          </a:xfrm>
          <a:custGeom>
            <a:avLst/>
            <a:gdLst/>
            <a:ahLst/>
            <a:cxnLst/>
            <a:rect l="l" t="t" r="r" b="b"/>
            <a:pathLst>
              <a:path w="2745694" h="4114800">
                <a:moveTo>
                  <a:pt x="0" y="0"/>
                </a:moveTo>
                <a:lnTo>
                  <a:pt x="2745693" y="0"/>
                </a:lnTo>
                <a:lnTo>
                  <a:pt x="274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8" name="Freeform 4" descr="Playing card - 3 of diamonds">
            <a:extLst>
              <a:ext uri="{FF2B5EF4-FFF2-40B4-BE49-F238E27FC236}">
                <a16:creationId xmlns:a16="http://schemas.microsoft.com/office/drawing/2014/main" id="{E0AEB6C3-45FC-E4C5-2491-6DC5011248E8}"/>
              </a:ext>
            </a:extLst>
          </p:cNvPr>
          <p:cNvSpPr/>
          <p:nvPr/>
        </p:nvSpPr>
        <p:spPr>
          <a:xfrm>
            <a:off x="3014087" y="3970630"/>
            <a:ext cx="1600441" cy="2398482"/>
          </a:xfrm>
          <a:custGeom>
            <a:avLst/>
            <a:gdLst/>
            <a:ahLst/>
            <a:cxnLst/>
            <a:rect l="l" t="t" r="r" b="b"/>
            <a:pathLst>
              <a:path w="2745694" h="4114800">
                <a:moveTo>
                  <a:pt x="0" y="0"/>
                </a:moveTo>
                <a:lnTo>
                  <a:pt x="2745694" y="0"/>
                </a:lnTo>
                <a:lnTo>
                  <a:pt x="2745694"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 name="Freeform 2" descr="Whiteboard displaying 53 x 2 = 106">
            <a:extLst>
              <a:ext uri="{FF2B5EF4-FFF2-40B4-BE49-F238E27FC236}">
                <a16:creationId xmlns:a16="http://schemas.microsoft.com/office/drawing/2014/main" id="{B24D3D7B-FAC7-0704-22AA-19FE862F2359}"/>
              </a:ext>
            </a:extLst>
          </p:cNvPr>
          <p:cNvSpPr/>
          <p:nvPr/>
        </p:nvSpPr>
        <p:spPr>
          <a:xfrm>
            <a:off x="5763492" y="1902750"/>
            <a:ext cx="5568108" cy="3566193"/>
          </a:xfrm>
          <a:custGeom>
            <a:avLst/>
            <a:gdLst/>
            <a:ahLst/>
            <a:cxnLst/>
            <a:rect l="l" t="t" r="r" b="b"/>
            <a:pathLst>
              <a:path w="13580993" h="9336933">
                <a:moveTo>
                  <a:pt x="0" y="0"/>
                </a:moveTo>
                <a:lnTo>
                  <a:pt x="13580994" y="0"/>
                </a:lnTo>
                <a:lnTo>
                  <a:pt x="13580994" y="9336932"/>
                </a:lnTo>
                <a:lnTo>
                  <a:pt x="0" y="93369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16" name="TextBox 15">
            <a:extLst>
              <a:ext uri="{FF2B5EF4-FFF2-40B4-BE49-F238E27FC236}">
                <a16:creationId xmlns:a16="http://schemas.microsoft.com/office/drawing/2014/main" id="{707FBA34-5215-9109-699B-5B2E7DF25B30}"/>
              </a:ext>
              <a:ext uri="{C183D7F6-B498-43B3-948B-1728B52AA6E4}">
                <adec:decorative xmlns:adec="http://schemas.microsoft.com/office/drawing/2017/decorative" val="1"/>
              </a:ext>
            </a:extLst>
          </p:cNvPr>
          <p:cNvSpPr txBox="1"/>
          <p:nvPr/>
        </p:nvSpPr>
        <p:spPr>
          <a:xfrm>
            <a:off x="6517855" y="2847646"/>
            <a:ext cx="4059382" cy="1676400"/>
          </a:xfrm>
          <a:prstGeom prst="rect">
            <a:avLst/>
          </a:prstGeom>
          <a:noFill/>
        </p:spPr>
        <p:txBody>
          <a:bodyPr wrap="square" lIns="0" tIns="0" rIns="0" bIns="0" rtlCol="0">
            <a:noAutofit/>
          </a:bodyPr>
          <a:lstStyle/>
          <a:p>
            <a:pPr algn="ctr"/>
            <a:r>
              <a:rPr lang="en-AU" sz="4800">
                <a:solidFill>
                  <a:schemeClr val="accent2"/>
                </a:solidFill>
                <a:latin typeface="Arial" panose="020B0604020202020204" pitchFamily="34" charset="0"/>
                <a:cs typeface="Arial" panose="020B0604020202020204" pitchFamily="34" charset="0"/>
              </a:rPr>
              <a:t>53 x 2 = 106</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1465099" y="1675042"/>
            <a:ext cx="9261802" cy="2155479"/>
          </a:xfrm>
        </p:spPr>
        <p:txBody>
          <a:bodyPr/>
          <a:lstStyle/>
          <a:p>
            <a:pPr algn="ctr"/>
            <a:r>
              <a:rPr lang="en-US" sz="4400"/>
              <a:t>Which of these numbers have the </a:t>
            </a:r>
            <a:r>
              <a:rPr lang="en-US" sz="4400" b="1"/>
              <a:t>factors</a:t>
            </a:r>
            <a:r>
              <a:rPr lang="en-US" sz="4400"/>
              <a:t> </a:t>
            </a:r>
            <a:r>
              <a:rPr lang="en-US" sz="4400" b="1"/>
              <a:t>6</a:t>
            </a:r>
            <a:r>
              <a:rPr lang="en-US" sz="4400"/>
              <a:t> and </a:t>
            </a:r>
            <a:r>
              <a:rPr lang="en-US" sz="4400" b="1"/>
              <a:t>7</a:t>
            </a:r>
            <a:r>
              <a:rPr lang="en-US" sz="4400"/>
              <a:t>?</a:t>
            </a:r>
          </a:p>
        </p:txBody>
      </p:sp>
      <p:sp>
        <p:nvSpPr>
          <p:cNvPr id="9" name="TextBox 8">
            <a:extLst>
              <a:ext uri="{FF2B5EF4-FFF2-40B4-BE49-F238E27FC236}">
                <a16:creationId xmlns:a16="http://schemas.microsoft.com/office/drawing/2014/main" id="{AF13415D-5ABE-8CE1-9EF6-D83C6FF3BAC9}"/>
              </a:ext>
            </a:extLst>
          </p:cNvPr>
          <p:cNvSpPr txBox="1"/>
          <p:nvPr/>
        </p:nvSpPr>
        <p:spPr>
          <a:xfrm>
            <a:off x="1181080" y="498989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Box 5">
            <a:extLst>
              <a:ext uri="{FF2B5EF4-FFF2-40B4-BE49-F238E27FC236}">
                <a16:creationId xmlns:a16="http://schemas.microsoft.com/office/drawing/2014/main" id="{71A89DF3-1BA6-7782-DD2C-1C017C503B23}"/>
              </a:ext>
            </a:extLst>
          </p:cNvPr>
          <p:cNvSpPr txBox="1"/>
          <p:nvPr/>
        </p:nvSpPr>
        <p:spPr>
          <a:xfrm>
            <a:off x="789180" y="5728559"/>
            <a:ext cx="1411064" cy="769441"/>
          </a:xfrm>
          <a:prstGeom prst="rect">
            <a:avLst/>
          </a:prstGeom>
          <a:noFill/>
        </p:spPr>
        <p:txBody>
          <a:bodyPr wrap="square">
            <a:spAutoFit/>
          </a:bodyPr>
          <a:lstStyle/>
          <a:p>
            <a:pPr algn="ctr"/>
            <a:r>
              <a:rPr lang="en-US" sz="4400"/>
              <a:t>24</a:t>
            </a:r>
            <a:endParaRPr lang="en-AU" sz="4400"/>
          </a:p>
        </p:txBody>
      </p:sp>
      <p:sp>
        <p:nvSpPr>
          <p:cNvPr id="10" name="TextBox 9">
            <a:extLst>
              <a:ext uri="{FF2B5EF4-FFF2-40B4-BE49-F238E27FC236}">
                <a16:creationId xmlns:a16="http://schemas.microsoft.com/office/drawing/2014/main" id="{06BFC4FD-CDBD-E74C-2B4B-957276E8D806}"/>
              </a:ext>
            </a:extLst>
          </p:cNvPr>
          <p:cNvSpPr txBox="1"/>
          <p:nvPr/>
        </p:nvSpPr>
        <p:spPr>
          <a:xfrm>
            <a:off x="4185053" y="498989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Box 6">
            <a:extLst>
              <a:ext uri="{FF2B5EF4-FFF2-40B4-BE49-F238E27FC236}">
                <a16:creationId xmlns:a16="http://schemas.microsoft.com/office/drawing/2014/main" id="{6223CB5D-010A-DEB1-C4CC-4419733AB8F7}"/>
              </a:ext>
            </a:extLst>
          </p:cNvPr>
          <p:cNvSpPr txBox="1"/>
          <p:nvPr/>
        </p:nvSpPr>
        <p:spPr>
          <a:xfrm>
            <a:off x="3626153" y="5717182"/>
            <a:ext cx="1411064" cy="769441"/>
          </a:xfrm>
          <a:prstGeom prst="rect">
            <a:avLst/>
          </a:prstGeom>
          <a:noFill/>
        </p:spPr>
        <p:txBody>
          <a:bodyPr wrap="square">
            <a:spAutoFit/>
          </a:bodyPr>
          <a:lstStyle/>
          <a:p>
            <a:pPr algn="ctr"/>
            <a:r>
              <a:rPr lang="en-US" sz="4400"/>
              <a:t>42</a:t>
            </a:r>
            <a:endParaRPr lang="en-AU" sz="4400"/>
          </a:p>
        </p:txBody>
      </p:sp>
      <p:sp>
        <p:nvSpPr>
          <p:cNvPr id="12" name="TextBox 11">
            <a:extLst>
              <a:ext uri="{FF2B5EF4-FFF2-40B4-BE49-F238E27FC236}">
                <a16:creationId xmlns:a16="http://schemas.microsoft.com/office/drawing/2014/main" id="{0CCBA3B1-EB4D-D918-A8D0-B78C7621C52A}"/>
              </a:ext>
            </a:extLst>
          </p:cNvPr>
          <p:cNvSpPr txBox="1"/>
          <p:nvPr/>
        </p:nvSpPr>
        <p:spPr>
          <a:xfrm>
            <a:off x="7154785" y="498989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Box 7">
            <a:extLst>
              <a:ext uri="{FF2B5EF4-FFF2-40B4-BE49-F238E27FC236}">
                <a16:creationId xmlns:a16="http://schemas.microsoft.com/office/drawing/2014/main" id="{F5F55DA3-3C81-37B7-D9F8-AE72AA31B758}"/>
              </a:ext>
            </a:extLst>
          </p:cNvPr>
          <p:cNvSpPr txBox="1"/>
          <p:nvPr/>
        </p:nvSpPr>
        <p:spPr>
          <a:xfrm>
            <a:off x="6663151" y="5728559"/>
            <a:ext cx="1411064" cy="769441"/>
          </a:xfrm>
          <a:prstGeom prst="rect">
            <a:avLst/>
          </a:prstGeom>
          <a:noFill/>
        </p:spPr>
        <p:txBody>
          <a:bodyPr wrap="square">
            <a:spAutoFit/>
          </a:bodyPr>
          <a:lstStyle/>
          <a:p>
            <a:pPr algn="ctr"/>
            <a:r>
              <a:rPr lang="en-US" sz="4400"/>
              <a:t>36</a:t>
            </a:r>
            <a:endParaRPr lang="en-AU" sz="4400"/>
          </a:p>
        </p:txBody>
      </p:sp>
      <p:sp>
        <p:nvSpPr>
          <p:cNvPr id="11" name="TextBox 10">
            <a:extLst>
              <a:ext uri="{FF2B5EF4-FFF2-40B4-BE49-F238E27FC236}">
                <a16:creationId xmlns:a16="http://schemas.microsoft.com/office/drawing/2014/main" id="{002A7C63-4C7D-5EB4-47F9-AF81CCED5985}"/>
              </a:ext>
            </a:extLst>
          </p:cNvPr>
          <p:cNvSpPr txBox="1"/>
          <p:nvPr/>
        </p:nvSpPr>
        <p:spPr>
          <a:xfrm>
            <a:off x="10019330" y="50050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TextBox 12">
            <a:extLst>
              <a:ext uri="{FF2B5EF4-FFF2-40B4-BE49-F238E27FC236}">
                <a16:creationId xmlns:a16="http://schemas.microsoft.com/office/drawing/2014/main" id="{5EFA6B34-DFC0-83B0-A988-33008BB56B1F}"/>
              </a:ext>
            </a:extLst>
          </p:cNvPr>
          <p:cNvSpPr txBox="1"/>
          <p:nvPr/>
        </p:nvSpPr>
        <p:spPr>
          <a:xfrm>
            <a:off x="9500124" y="5728559"/>
            <a:ext cx="1411064" cy="769441"/>
          </a:xfrm>
          <a:prstGeom prst="rect">
            <a:avLst/>
          </a:prstGeom>
          <a:noFill/>
        </p:spPr>
        <p:txBody>
          <a:bodyPr wrap="square">
            <a:spAutoFit/>
          </a:bodyPr>
          <a:lstStyle/>
          <a:p>
            <a:pPr algn="ctr"/>
            <a:r>
              <a:rPr lang="en-US" sz="4400"/>
              <a:t>40</a:t>
            </a:r>
            <a:endParaRPr lang="en-AU" sz="4400"/>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9965F77-48B0-0A22-F236-7FF0BEBF0CCB}"/>
              </a:ext>
            </a:extLst>
          </p:cNvPr>
          <p:cNvSpPr txBox="1"/>
          <p:nvPr/>
        </p:nvSpPr>
        <p:spPr>
          <a:xfrm>
            <a:off x="1046618" y="1610141"/>
            <a:ext cx="10098764" cy="4029501"/>
          </a:xfrm>
          <a:prstGeom prst="rect">
            <a:avLst/>
          </a:prstGeom>
          <a:noFill/>
        </p:spPr>
        <p:txBody>
          <a:bodyPr wrap="square">
            <a:spAutoFit/>
          </a:bodyPr>
          <a:lstStyle/>
          <a:p>
            <a:pPr algn="ctr">
              <a:lnSpc>
                <a:spcPct val="150000"/>
              </a:lnSpc>
            </a:pPr>
            <a:r>
              <a:rPr lang="en-AU" sz="4400"/>
              <a:t>A farmer has collected </a:t>
            </a:r>
            <a:r>
              <a:rPr lang="en-AU" sz="4400" b="1"/>
              <a:t>97 eggs</a:t>
            </a:r>
            <a:r>
              <a:rPr lang="en-AU" sz="4400"/>
              <a:t>. </a:t>
            </a:r>
          </a:p>
          <a:p>
            <a:pPr algn="ctr">
              <a:lnSpc>
                <a:spcPct val="150000"/>
              </a:lnSpc>
            </a:pPr>
            <a:r>
              <a:rPr lang="en-AU" sz="4400" b="1"/>
              <a:t>Each carton</a:t>
            </a:r>
            <a:r>
              <a:rPr lang="en-AU" sz="4400"/>
              <a:t> holds </a:t>
            </a:r>
            <a:r>
              <a:rPr lang="en-AU" sz="4400" b="1"/>
              <a:t>12 eggs</a:t>
            </a:r>
            <a:r>
              <a:rPr lang="en-AU" sz="4400"/>
              <a:t>. </a:t>
            </a:r>
          </a:p>
          <a:p>
            <a:pPr algn="ctr">
              <a:lnSpc>
                <a:spcPct val="150000"/>
              </a:lnSpc>
            </a:pPr>
            <a:r>
              <a:rPr lang="en-AU" sz="4400" b="1"/>
              <a:t>8 cartons </a:t>
            </a:r>
            <a:r>
              <a:rPr lang="en-AU" sz="4400"/>
              <a:t>are filled.</a:t>
            </a:r>
          </a:p>
          <a:p>
            <a:pPr algn="ctr">
              <a:lnSpc>
                <a:spcPct val="150000"/>
              </a:lnSpc>
            </a:pPr>
            <a:r>
              <a:rPr lang="en-AU" sz="4400"/>
              <a:t>How many </a:t>
            </a:r>
            <a:r>
              <a:rPr lang="en-AU" sz="4400" b="1"/>
              <a:t>eggs</a:t>
            </a:r>
            <a:r>
              <a:rPr lang="en-AU" sz="4400"/>
              <a:t> are left?</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0" name="TextBox 19">
            <a:extLst>
              <a:ext uri="{FF2B5EF4-FFF2-40B4-BE49-F238E27FC236}">
                <a16:creationId xmlns:a16="http://schemas.microsoft.com/office/drawing/2014/main" id="{9018AE32-4DCD-7493-8ED3-A2867CB20232}"/>
              </a:ext>
            </a:extLst>
          </p:cNvPr>
          <p:cNvSpPr txBox="1"/>
          <p:nvPr/>
        </p:nvSpPr>
        <p:spPr>
          <a:xfrm>
            <a:off x="246024" y="947017"/>
            <a:ext cx="11832000" cy="1651671"/>
          </a:xfrm>
          <a:prstGeom prst="rect">
            <a:avLst/>
          </a:prstGeom>
          <a:noFill/>
        </p:spPr>
        <p:txBody>
          <a:bodyPr wrap="square">
            <a:spAutoFit/>
          </a:bodyPr>
          <a:lstStyle/>
          <a:p>
            <a:pPr algn="ctr">
              <a:lnSpc>
                <a:spcPct val="150000"/>
              </a:lnSpc>
            </a:pPr>
            <a:r>
              <a:rPr lang="en-US" sz="3600"/>
              <a:t>What is the </a:t>
            </a:r>
            <a:r>
              <a:rPr lang="en-US" sz="3600" b="1"/>
              <a:t>value</a:t>
            </a:r>
            <a:r>
              <a:rPr lang="en-US" sz="3600"/>
              <a:t> of the </a:t>
            </a:r>
            <a:r>
              <a:rPr lang="en-US" sz="3600" b="1"/>
              <a:t>digit</a:t>
            </a:r>
            <a:r>
              <a:rPr lang="en-US" sz="3600"/>
              <a:t> in the:</a:t>
            </a:r>
          </a:p>
          <a:p>
            <a:pPr algn="ctr">
              <a:lnSpc>
                <a:spcPct val="150000"/>
              </a:lnSpc>
            </a:pPr>
            <a:r>
              <a:rPr lang="en-US" sz="3600" b="1"/>
              <a:t>Tenths</a:t>
            </a:r>
            <a:r>
              <a:rPr lang="en-US" sz="3600"/>
              <a:t> place? </a:t>
            </a:r>
            <a:r>
              <a:rPr lang="en-US" sz="3600" b="1"/>
              <a:t>Hundredths</a:t>
            </a:r>
            <a:r>
              <a:rPr lang="en-US" sz="3600"/>
              <a:t> place? </a:t>
            </a:r>
            <a:r>
              <a:rPr lang="en-US" sz="3600" b="1"/>
              <a:t>Thousandths</a:t>
            </a:r>
            <a:r>
              <a:rPr lang="en-US" sz="3600"/>
              <a:t> place?</a:t>
            </a:r>
          </a:p>
        </p:txBody>
      </p:sp>
      <p:grpSp>
        <p:nvGrpSpPr>
          <p:cNvPr id="18" name="Group 17" descr="Number line 1 to 10 with an arrow indicating 4.581 between 4 and 5.">
            <a:extLst>
              <a:ext uri="{FF2B5EF4-FFF2-40B4-BE49-F238E27FC236}">
                <a16:creationId xmlns:a16="http://schemas.microsoft.com/office/drawing/2014/main" id="{C0E87461-CB66-1D9E-1FE6-913A6D381C87}"/>
              </a:ext>
            </a:extLst>
          </p:cNvPr>
          <p:cNvGrpSpPr/>
          <p:nvPr/>
        </p:nvGrpSpPr>
        <p:grpSpPr>
          <a:xfrm>
            <a:off x="1419379" y="2898816"/>
            <a:ext cx="9353242" cy="2207436"/>
            <a:chOff x="1374026" y="1676930"/>
            <a:chExt cx="9353242" cy="2207436"/>
          </a:xfrm>
          <a:effectLst/>
        </p:grpSpPr>
        <p:sp>
          <p:nvSpPr>
            <p:cNvPr id="5" name="TextBox 4">
              <a:extLst>
                <a:ext uri="{FF2B5EF4-FFF2-40B4-BE49-F238E27FC236}">
                  <a16:creationId xmlns:a16="http://schemas.microsoft.com/office/drawing/2014/main" id="{6F6963C3-92BF-F32B-C901-482014C4D60D}"/>
                </a:ext>
              </a:extLst>
            </p:cNvPr>
            <p:cNvSpPr txBox="1">
              <a:spLocks/>
            </p:cNvSpPr>
            <p:nvPr/>
          </p:nvSpPr>
          <p:spPr>
            <a:xfrm>
              <a:off x="4618074" y="1676930"/>
              <a:ext cx="1477926" cy="659219"/>
            </a:xfrm>
            <a:prstGeom prst="rect">
              <a:avLst/>
            </a:prstGeom>
            <a:noFill/>
          </p:spPr>
          <p:txBody>
            <a:bodyPr wrap="square" lIns="0" tIns="0" rIns="0" bIns="0" rtlCol="0">
              <a:noAutofit/>
            </a:bodyPr>
            <a:lstStyle/>
            <a:p>
              <a:pPr algn="l"/>
              <a:r>
                <a:rPr lang="en-AU" sz="3200"/>
                <a:t>4.581</a:t>
              </a:r>
            </a:p>
          </p:txBody>
        </p:sp>
        <p:sp>
          <p:nvSpPr>
            <p:cNvPr id="4" name="Freeform 4">
              <a:extLst>
                <a:ext uri="{FF2B5EF4-FFF2-40B4-BE49-F238E27FC236}">
                  <a16:creationId xmlns:a16="http://schemas.microsoft.com/office/drawing/2014/main" id="{4C69BB00-7D23-75FF-19C8-0D22CCD4B098}"/>
                </a:ext>
              </a:extLst>
            </p:cNvPr>
            <p:cNvSpPr/>
            <p:nvPr/>
          </p:nvSpPr>
          <p:spPr>
            <a:xfrm>
              <a:off x="1374026" y="2539348"/>
              <a:ext cx="9353242" cy="482600"/>
            </a:xfrm>
            <a:custGeom>
              <a:avLst/>
              <a:gdLst/>
              <a:ahLst/>
              <a:cxnLst/>
              <a:rect l="l" t="t" r="r" b="b"/>
              <a:pathLst>
                <a:path w="9647150" h="458240">
                  <a:moveTo>
                    <a:pt x="0" y="0"/>
                  </a:moveTo>
                  <a:lnTo>
                    <a:pt x="9647150" y="0"/>
                  </a:lnTo>
                  <a:lnTo>
                    <a:pt x="9647150" y="458240"/>
                  </a:lnTo>
                  <a:lnTo>
                    <a:pt x="0" y="4582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TextBox 6">
              <a:extLst>
                <a:ext uri="{FF2B5EF4-FFF2-40B4-BE49-F238E27FC236}">
                  <a16:creationId xmlns:a16="http://schemas.microsoft.com/office/drawing/2014/main" id="{75BA1F24-3416-52A5-7B92-E7CFE77C0ED9}"/>
                </a:ext>
              </a:extLst>
            </p:cNvPr>
            <p:cNvSpPr txBox="1"/>
            <p:nvPr/>
          </p:nvSpPr>
          <p:spPr>
            <a:xfrm>
              <a:off x="2031540" y="3225147"/>
              <a:ext cx="8522784" cy="659219"/>
            </a:xfrm>
            <a:prstGeom prst="rect">
              <a:avLst/>
            </a:prstGeom>
            <a:noFill/>
            <a:effectLst/>
          </p:spPr>
          <p:txBody>
            <a:bodyPr wrap="square" lIns="0" tIns="0" rIns="0" bIns="0" rtlCol="0">
              <a:noAutofit/>
            </a:bodyPr>
            <a:lstStyle/>
            <a:p>
              <a:pPr algn="l"/>
              <a:r>
                <a:rPr lang="en-AU" sz="3200"/>
                <a:t> 1	   2	     3	  4	    5	 6	   7		8	  9	   10</a:t>
              </a:r>
            </a:p>
          </p:txBody>
        </p:sp>
        <p:sp>
          <p:nvSpPr>
            <p:cNvPr id="11" name="Arrow: Down 10">
              <a:extLst>
                <a:ext uri="{FF2B5EF4-FFF2-40B4-BE49-F238E27FC236}">
                  <a16:creationId xmlns:a16="http://schemas.microsoft.com/office/drawing/2014/main" id="{691030B3-2D16-E22F-A094-B729CEF27FAC}"/>
                </a:ext>
              </a:extLst>
            </p:cNvPr>
            <p:cNvSpPr/>
            <p:nvPr/>
          </p:nvSpPr>
          <p:spPr>
            <a:xfrm>
              <a:off x="5146157" y="2134160"/>
              <a:ext cx="159489" cy="482600"/>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0E3B675E-97FD-BD7B-693F-9F62FADF4222}"/>
                </a:ext>
              </a:extLst>
            </p:cNvPr>
            <p:cNvCxnSpPr>
              <a:cxnSpLocks/>
            </p:cNvCxnSpPr>
            <p:nvPr/>
          </p:nvCxnSpPr>
          <p:spPr>
            <a:xfrm>
              <a:off x="4779288" y="2764465"/>
              <a:ext cx="828000" cy="0"/>
            </a:xfrm>
            <a:prstGeom prst="line">
              <a:avLst/>
            </a:prstGeom>
            <a:ln w="28575"/>
          </p:spPr>
          <p:style>
            <a:lnRef idx="1">
              <a:schemeClr val="accent3"/>
            </a:lnRef>
            <a:fillRef idx="0">
              <a:schemeClr val="accent3"/>
            </a:fillRef>
            <a:effectRef idx="0">
              <a:schemeClr val="accent3"/>
            </a:effectRef>
            <a:fontRef idx="minor">
              <a:schemeClr val="tx1"/>
            </a:fontRef>
          </p:style>
        </p:cxnSp>
      </p:grpSp>
      <p:sp>
        <p:nvSpPr>
          <p:cNvPr id="21" name="TextBox 20">
            <a:extLst>
              <a:ext uri="{FF2B5EF4-FFF2-40B4-BE49-F238E27FC236}">
                <a16:creationId xmlns:a16="http://schemas.microsoft.com/office/drawing/2014/main" id="{8970E9EC-D9F3-A642-5057-348A2F5C3EC4}"/>
              </a:ext>
            </a:extLst>
          </p:cNvPr>
          <p:cNvSpPr txBox="1"/>
          <p:nvPr/>
        </p:nvSpPr>
        <p:spPr>
          <a:xfrm>
            <a:off x="619861" y="5406381"/>
            <a:ext cx="10864139" cy="1200329"/>
          </a:xfrm>
          <a:prstGeom prst="rect">
            <a:avLst/>
          </a:prstGeom>
          <a:noFill/>
        </p:spPr>
        <p:txBody>
          <a:bodyPr wrap="square">
            <a:spAutoFit/>
          </a:bodyPr>
          <a:lstStyle/>
          <a:p>
            <a:pPr algn="ctr"/>
            <a:r>
              <a:rPr lang="en-US" sz="3600"/>
              <a:t>How many </a:t>
            </a:r>
            <a:r>
              <a:rPr lang="en-US" sz="3600" b="1"/>
              <a:t>thousandths</a:t>
            </a:r>
            <a:r>
              <a:rPr lang="en-US" sz="3600"/>
              <a:t> are represented in the number?</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7" name="TextBox 16">
            <a:extLst>
              <a:ext uri="{FF2B5EF4-FFF2-40B4-BE49-F238E27FC236}">
                <a16:creationId xmlns:a16="http://schemas.microsoft.com/office/drawing/2014/main" id="{4E1F7CCD-FBFE-C8BB-5188-D650ADD958CE}"/>
              </a:ext>
            </a:extLst>
          </p:cNvPr>
          <p:cNvSpPr txBox="1"/>
          <p:nvPr/>
        </p:nvSpPr>
        <p:spPr>
          <a:xfrm>
            <a:off x="347998" y="911422"/>
            <a:ext cx="4662151" cy="545601"/>
          </a:xfrm>
          <a:prstGeom prst="rect">
            <a:avLst/>
          </a:prstGeom>
          <a:noFill/>
        </p:spPr>
        <p:txBody>
          <a:bodyPr wrap="square" lIns="0" tIns="0" rIns="0" bIns="0" rtlCol="0">
            <a:noAutofit/>
          </a:bodyPr>
          <a:lstStyle/>
          <a:p>
            <a:pPr>
              <a:lnSpc>
                <a:spcPct val="150000"/>
              </a:lnSpc>
            </a:pPr>
            <a:r>
              <a:rPr lang="en-AU" sz="3200"/>
              <a:t>Which days had </a:t>
            </a:r>
            <a:r>
              <a:rPr lang="en-AU" sz="3200" b="1">
                <a:solidFill>
                  <a:srgbClr val="ED7B2E"/>
                </a:solidFill>
              </a:rPr>
              <a:t>maximum</a:t>
            </a:r>
            <a:r>
              <a:rPr lang="en-AU" sz="3200"/>
              <a:t> temperatures </a:t>
            </a:r>
            <a:r>
              <a:rPr lang="en-AU" sz="3200" b="1"/>
              <a:t>below 0°C?</a:t>
            </a:r>
          </a:p>
          <a:p>
            <a:pPr lvl="0"/>
            <a:endParaRPr lang="en-AU"/>
          </a:p>
          <a:p>
            <a:pPr lvl="0"/>
            <a:endParaRPr lang="en-AU"/>
          </a:p>
        </p:txBody>
      </p:sp>
      <p:pic>
        <p:nvPicPr>
          <p:cNvPr id="12" name="Picture 11" descr="Beijing 2022 Olympic Games Daily Temperatures (maximum and minimum in degrees Celsius) for days in January. &#10;4th - minimum -6, maximum 2.&#10;5th - minimum -7, maximum 5. &#10;6th - minimum -5, maximum 6.&#10;7th - minimum -5, maximum 6.&#10;8th - minimum -5, maximum 8.&#10;9th - minimum -4, maximum 7.&#10;10th - minimum -4, maximum 9.&#10;11th - minimum -2, maximum 7.&#10;12th - minimum -3, maximum 2.&#10;13th - minimum -4, maximum -2.&#10;14th - minimum -7, maximum 0.&#10;15th - minimum -9, maximum -3.&#10;16th - minimum -10, maximum 1.&#10;17th - minimum -8, maximum -1.&#10;18th - minimum -6, maximum 2.&#10;19th - minimum -8, maximum 1.&#10;20th - minimum -8, maximum 4.&#10;5th - minimum -7, maximum 5. &#10;6th - minimum -5, maximum 6.&#10;7th - minimum -5, maximum 6.&#10;8th - minimum -5, maximum 8.&#10;9th - minimum -4, maximum 7.&#10;10th - minimum -4, maximum 9.&#10;11th - minimum -2, maximum 7.&#10;12th - minimum -3, maximum 2.&#10;13th - minimum -4, maximum -2.&#10;14th - minimum -7, maximum 0.&#10;15th - minimum -9, maximum -3.&#10;16th - minimum -10, maximum 1.&#10;17th - minimum -8, maximum -1.&#10;18th - minimum -6, maximum 2.&#10;19th - minimum -8, maximum 1.&#10;20th - minimum -8, maximum 4.">
            <a:extLst>
              <a:ext uri="{FF2B5EF4-FFF2-40B4-BE49-F238E27FC236}">
                <a16:creationId xmlns:a16="http://schemas.microsoft.com/office/drawing/2014/main" id="{210932A4-B52F-9711-6052-4D6FF50A520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bwMode="auto">
          <a:xfrm>
            <a:off x="4932582" y="1273149"/>
            <a:ext cx="7126594" cy="5057775"/>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14" name="TextBox 13">
            <a:extLst>
              <a:ext uri="{FF2B5EF4-FFF2-40B4-BE49-F238E27FC236}">
                <a16:creationId xmlns:a16="http://schemas.microsoft.com/office/drawing/2014/main" id="{D6996A93-B941-41C9-CC10-62E7C7C94CC1}"/>
              </a:ext>
            </a:extLst>
          </p:cNvPr>
          <p:cNvSpPr txBox="1"/>
          <p:nvPr/>
        </p:nvSpPr>
        <p:spPr>
          <a:xfrm>
            <a:off x="257175" y="3163591"/>
            <a:ext cx="4126857" cy="3694409"/>
          </a:xfrm>
          <a:prstGeom prst="rect">
            <a:avLst/>
          </a:prstGeom>
          <a:noFill/>
        </p:spPr>
        <p:txBody>
          <a:bodyPr wrap="square">
            <a:spAutoFit/>
          </a:bodyPr>
          <a:lstStyle/>
          <a:p>
            <a:pPr lvl="0">
              <a:lnSpc>
                <a:spcPct val="150000"/>
              </a:lnSpc>
            </a:pPr>
            <a:r>
              <a:rPr lang="en-AU" sz="3200"/>
              <a:t>What is the </a:t>
            </a:r>
            <a:r>
              <a:rPr lang="en-AU" sz="3200" b="1"/>
              <a:t>difference</a:t>
            </a:r>
            <a:r>
              <a:rPr lang="en-AU" sz="3200"/>
              <a:t> in temperature between the </a:t>
            </a:r>
            <a:r>
              <a:rPr lang="en-AU" sz="3200" b="1"/>
              <a:t>warmest </a:t>
            </a:r>
            <a:r>
              <a:rPr lang="en-AU" sz="3200"/>
              <a:t>day and the </a:t>
            </a:r>
            <a:r>
              <a:rPr lang="en-AU" sz="3200" b="1"/>
              <a:t>coldest </a:t>
            </a:r>
            <a:r>
              <a:rPr lang="en-AU" sz="3200"/>
              <a:t>day?</a:t>
            </a:r>
          </a:p>
        </p:txBody>
      </p:sp>
      <p:sp>
        <p:nvSpPr>
          <p:cNvPr id="16" name="TextBox 15">
            <a:extLst>
              <a:ext uri="{FF2B5EF4-FFF2-40B4-BE49-F238E27FC236}">
                <a16:creationId xmlns:a16="http://schemas.microsoft.com/office/drawing/2014/main" id="{2265D457-3AF3-9308-DAE3-9D4D5C5092B6}"/>
              </a:ext>
              <a:ext uri="{C183D7F6-B498-43B3-948B-1728B52AA6E4}">
                <adec:decorative xmlns:adec="http://schemas.microsoft.com/office/drawing/2017/decorative" val="1"/>
              </a:ext>
            </a:extLst>
          </p:cNvPr>
          <p:cNvSpPr txBox="1"/>
          <p:nvPr/>
        </p:nvSpPr>
        <p:spPr>
          <a:xfrm>
            <a:off x="9011176" y="6419850"/>
            <a:ext cx="6096000" cy="215444"/>
          </a:xfrm>
          <a:prstGeom prst="rect">
            <a:avLst/>
          </a:prstGeom>
          <a:noFill/>
        </p:spPr>
        <p:txBody>
          <a:bodyPr wrap="square">
            <a:spAutoFit/>
          </a:bodyPr>
          <a:lstStyle/>
          <a:p>
            <a:r>
              <a:rPr lang="en-AU" sz="800">
                <a:effectLst/>
                <a:latin typeface="Arial" panose="020B0604020202020204" pitchFamily="34" charset="0"/>
                <a:ea typeface="Calibri" panose="020F0502020204030204" pitchFamily="34" charset="0"/>
              </a:rPr>
              <a:t>Source: Adapted from World Weather Online (2023).</a:t>
            </a:r>
            <a:endParaRPr lang="en-AU" sz="800"/>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8A3C1235-58F6-5009-5C64-23F29C36E3A3}"/>
              </a:ext>
            </a:extLst>
          </p:cNvPr>
          <p:cNvSpPr txBox="1"/>
          <p:nvPr/>
        </p:nvSpPr>
        <p:spPr>
          <a:xfrm>
            <a:off x="413596" y="1320052"/>
            <a:ext cx="11364808" cy="545601"/>
          </a:xfrm>
          <a:prstGeom prst="rect">
            <a:avLst/>
          </a:prstGeom>
          <a:noFill/>
        </p:spPr>
        <p:txBody>
          <a:bodyPr wrap="square" lIns="0" tIns="0" rIns="0" bIns="0" rtlCol="0">
            <a:noAutofit/>
          </a:bodyPr>
          <a:lstStyle/>
          <a:p>
            <a:pPr algn="ctr"/>
            <a:r>
              <a:rPr lang="en-US" sz="3200"/>
              <a:t>Which of these </a:t>
            </a:r>
            <a:r>
              <a:rPr lang="en-US" sz="3200" b="1"/>
              <a:t>data representations </a:t>
            </a:r>
            <a:r>
              <a:rPr lang="en-US" sz="3200"/>
              <a:t>is the most </a:t>
            </a:r>
            <a:r>
              <a:rPr lang="en-US" sz="3200" b="1"/>
              <a:t>misleading</a:t>
            </a:r>
            <a:r>
              <a:rPr lang="en-US" sz="3200"/>
              <a:t>?</a:t>
            </a:r>
          </a:p>
        </p:txBody>
      </p:sp>
      <p:pic>
        <p:nvPicPr>
          <p:cNvPr id="4" name="Picture 2" descr="Global average annual temperature per decade (in degrees Celsius) line graph. &#10;1880s - 13.73&#10;1890s - 13.75&#10;1900s - 13.74&#10;1910s - 13.72&#10;1920s - 13.83&#10;1930s - 13.96&#10;1940s - 14.04&#10;1950s - 13.98&#10;1960s - 13.99&#10;1970s - 14&#10;1980s - 14.18&#10;1990s - 14.31&#10;2000s -14.51.">
            <a:extLst>
              <a:ext uri="{FF2B5EF4-FFF2-40B4-BE49-F238E27FC236}">
                <a16:creationId xmlns:a16="http://schemas.microsoft.com/office/drawing/2014/main" id="{ECA7CB96-BA80-4F70-A876-B5F6532FF5D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 t="700" r="-90" b="1581"/>
          <a:stretch>
            <a:fillRect/>
          </a:stretch>
        </p:blipFill>
        <p:spPr bwMode="auto">
          <a:xfrm>
            <a:off x="106680" y="2172664"/>
            <a:ext cx="5971431" cy="37218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2" descr="Global Mean Annual Temperature Average per Decade line graph. &#10;1880s - 13.73&#10;1890s - 13.75&#10;1900s - 13.74&#10;1910s - 13.72&#10;1920s - 13.83&#10;1930s - 13.96&#10;1940s - 14.04&#10;1950s - 13.98&#10;1960s - 13.99&#10;1970s - 14&#10;1980s - 14.18&#10;1990s - 14.31&#10;2000s -14.51.">
            <a:extLst>
              <a:ext uri="{FF2B5EF4-FFF2-40B4-BE49-F238E27FC236}">
                <a16:creationId xmlns:a16="http://schemas.microsoft.com/office/drawing/2014/main" id="{F1E3BFBE-0EE3-0614-7E0B-2AF28895AE2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74" t="-64" r="891" b="-110"/>
          <a:stretch>
            <a:fillRect/>
          </a:stretch>
        </p:blipFill>
        <p:spPr bwMode="auto">
          <a:xfrm>
            <a:off x="6244917" y="2172664"/>
            <a:ext cx="5701059" cy="37218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F306EBC-F0AC-955D-1DE0-43300E15594C}"/>
              </a:ext>
            </a:extLst>
          </p:cNvPr>
          <p:cNvSpPr txBox="1"/>
          <p:nvPr/>
        </p:nvSpPr>
        <p:spPr>
          <a:xfrm>
            <a:off x="413596" y="6043676"/>
            <a:ext cx="11364808" cy="545601"/>
          </a:xfrm>
          <a:prstGeom prst="rect">
            <a:avLst/>
          </a:prstGeom>
          <a:noFill/>
        </p:spPr>
        <p:txBody>
          <a:bodyPr wrap="square" lIns="0" tIns="0" rIns="0" bIns="0" rtlCol="0">
            <a:noAutofit/>
          </a:bodyPr>
          <a:lstStyle/>
          <a:p>
            <a:pPr algn="ctr"/>
            <a:r>
              <a:rPr lang="en-US" sz="3200" b="1"/>
              <a:t>Communicate </a:t>
            </a:r>
            <a:r>
              <a:rPr lang="en-US" sz="3200"/>
              <a:t>your</a:t>
            </a:r>
            <a:r>
              <a:rPr lang="en-US" sz="3200" b="1"/>
              <a:t> reasoning.</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product game</a:t>
            </a:r>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72852BD3-1A94-08E9-1294-7ED23B07D68D}"/>
              </a:ext>
            </a:extLst>
          </p:cNvPr>
          <p:cNvGraphicFramePr>
            <a:graphicFrameLocks noGrp="1"/>
          </p:cNvGraphicFramePr>
          <p:nvPr>
            <p:extLst>
              <p:ext uri="{D42A27DB-BD31-4B8C-83A1-F6EECF244321}">
                <p14:modId xmlns:p14="http://schemas.microsoft.com/office/powerpoint/2010/main" val="2834335639"/>
              </p:ext>
            </p:extLst>
          </p:nvPr>
        </p:nvGraphicFramePr>
        <p:xfrm>
          <a:off x="618836" y="1564793"/>
          <a:ext cx="6480000" cy="4320000"/>
        </p:xfrm>
        <a:graphic>
          <a:graphicData uri="http://schemas.openxmlformats.org/drawingml/2006/table">
            <a:tbl>
              <a:tblPr firstRow="1" bandRow="1">
                <a:tableStyleId>{2D5ABB26-0587-4C30-8999-92F81FD0307C}</a:tableStyleId>
              </a:tblPr>
              <a:tblGrid>
                <a:gridCol w="1080000">
                  <a:extLst>
                    <a:ext uri="{9D8B030D-6E8A-4147-A177-3AD203B41FA5}">
                      <a16:colId xmlns:a16="http://schemas.microsoft.com/office/drawing/2014/main" val="4251482260"/>
                    </a:ext>
                  </a:extLst>
                </a:gridCol>
                <a:gridCol w="1080000">
                  <a:extLst>
                    <a:ext uri="{9D8B030D-6E8A-4147-A177-3AD203B41FA5}">
                      <a16:colId xmlns:a16="http://schemas.microsoft.com/office/drawing/2014/main" val="3253063090"/>
                    </a:ext>
                  </a:extLst>
                </a:gridCol>
                <a:gridCol w="1080000">
                  <a:extLst>
                    <a:ext uri="{9D8B030D-6E8A-4147-A177-3AD203B41FA5}">
                      <a16:colId xmlns:a16="http://schemas.microsoft.com/office/drawing/2014/main" val="973191180"/>
                    </a:ext>
                  </a:extLst>
                </a:gridCol>
                <a:gridCol w="1080000">
                  <a:extLst>
                    <a:ext uri="{9D8B030D-6E8A-4147-A177-3AD203B41FA5}">
                      <a16:colId xmlns:a16="http://schemas.microsoft.com/office/drawing/2014/main" val="29204447"/>
                    </a:ext>
                  </a:extLst>
                </a:gridCol>
                <a:gridCol w="1080000">
                  <a:extLst>
                    <a:ext uri="{9D8B030D-6E8A-4147-A177-3AD203B41FA5}">
                      <a16:colId xmlns:a16="http://schemas.microsoft.com/office/drawing/2014/main" val="1093291497"/>
                    </a:ext>
                  </a:extLst>
                </a:gridCol>
                <a:gridCol w="1080000">
                  <a:extLst>
                    <a:ext uri="{9D8B030D-6E8A-4147-A177-3AD203B41FA5}">
                      <a16:colId xmlns:a16="http://schemas.microsoft.com/office/drawing/2014/main" val="3212297515"/>
                    </a:ext>
                  </a:extLst>
                </a:gridCol>
              </a:tblGrid>
              <a:tr h="720000">
                <a:tc>
                  <a:txBody>
                    <a:bodyPr/>
                    <a:lstStyle/>
                    <a:p>
                      <a:pPr algn="ctr"/>
                      <a:r>
                        <a:rPr lang="en-AU" sz="3200"/>
                        <a:t>1</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2</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3</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4</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5</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6</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808633642"/>
                  </a:ext>
                </a:extLst>
              </a:tr>
              <a:tr h="720000">
                <a:tc>
                  <a:txBody>
                    <a:bodyPr/>
                    <a:lstStyle/>
                    <a:p>
                      <a:pPr algn="ctr"/>
                      <a:r>
                        <a:rPr lang="en-AU" sz="3200"/>
                        <a:t>7</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8</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9</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10</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12</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14</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02811780"/>
                  </a:ext>
                </a:extLst>
              </a:tr>
              <a:tr h="720000">
                <a:tc>
                  <a:txBody>
                    <a:bodyPr/>
                    <a:lstStyle/>
                    <a:p>
                      <a:pPr algn="ctr"/>
                      <a:r>
                        <a:rPr lang="en-AU" sz="3200"/>
                        <a:t>15</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16</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18</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20</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21</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24</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914926189"/>
                  </a:ext>
                </a:extLst>
              </a:tr>
              <a:tr h="720000">
                <a:tc>
                  <a:txBody>
                    <a:bodyPr/>
                    <a:lstStyle/>
                    <a:p>
                      <a:pPr algn="ctr"/>
                      <a:r>
                        <a:rPr lang="en-AU" sz="3200"/>
                        <a:t>25</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27</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28</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30</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32</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35</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10018707"/>
                  </a:ext>
                </a:extLst>
              </a:tr>
              <a:tr h="720000">
                <a:tc>
                  <a:txBody>
                    <a:bodyPr/>
                    <a:lstStyle/>
                    <a:p>
                      <a:pPr algn="ctr"/>
                      <a:r>
                        <a:rPr lang="en-AU" sz="3200"/>
                        <a:t>36</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40</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42</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45</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48</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49</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924235331"/>
                  </a:ext>
                </a:extLst>
              </a:tr>
              <a:tr h="720000">
                <a:tc>
                  <a:txBody>
                    <a:bodyPr/>
                    <a:lstStyle/>
                    <a:p>
                      <a:pPr algn="ctr"/>
                      <a:r>
                        <a:rPr lang="en-AU" sz="3200"/>
                        <a:t>54</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56</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63</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64</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72</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a:r>
                        <a:rPr lang="en-AU" sz="3200"/>
                        <a:t>81</a:t>
                      </a: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054249373"/>
                  </a:ext>
                </a:extLst>
              </a:tr>
            </a:tbl>
          </a:graphicData>
        </a:graphic>
      </p:graphicFrame>
      <p:graphicFrame>
        <p:nvGraphicFramePr>
          <p:cNvPr id="5" name="Table 4">
            <a:extLst>
              <a:ext uri="{FF2B5EF4-FFF2-40B4-BE49-F238E27FC236}">
                <a16:creationId xmlns:a16="http://schemas.microsoft.com/office/drawing/2014/main" id="{56372203-E9F8-5EFE-550F-B03424B2AD4B}"/>
              </a:ext>
            </a:extLst>
          </p:cNvPr>
          <p:cNvGraphicFramePr>
            <a:graphicFrameLocks noGrp="1"/>
          </p:cNvGraphicFramePr>
          <p:nvPr>
            <p:extLst>
              <p:ext uri="{D42A27DB-BD31-4B8C-83A1-F6EECF244321}">
                <p14:modId xmlns:p14="http://schemas.microsoft.com/office/powerpoint/2010/main" val="442667370"/>
              </p:ext>
            </p:extLst>
          </p:nvPr>
        </p:nvGraphicFramePr>
        <p:xfrm>
          <a:off x="8356680" y="878896"/>
          <a:ext cx="1551708" cy="5791200"/>
        </p:xfrm>
        <a:graphic>
          <a:graphicData uri="http://schemas.openxmlformats.org/drawingml/2006/table">
            <a:tbl>
              <a:tblPr firstRow="1" bandRow="1">
                <a:tableStyleId>{2D5ABB26-0587-4C30-8999-92F81FD0307C}</a:tableStyleId>
              </a:tblPr>
              <a:tblGrid>
                <a:gridCol w="1551708">
                  <a:extLst>
                    <a:ext uri="{9D8B030D-6E8A-4147-A177-3AD203B41FA5}">
                      <a16:colId xmlns:a16="http://schemas.microsoft.com/office/drawing/2014/main" val="4137754595"/>
                    </a:ext>
                  </a:extLst>
                </a:gridCol>
              </a:tblGrid>
              <a:tr h="480000">
                <a:tc>
                  <a:txBody>
                    <a:bodyPr/>
                    <a:lstStyle/>
                    <a:p>
                      <a:pPr algn="ctr"/>
                      <a:r>
                        <a:rPr lang="en-AU" sz="3200">
                          <a:solidFill>
                            <a:schemeClr val="accent2"/>
                          </a:solidFill>
                        </a:rPr>
                        <a:t>Factors</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41962019"/>
                  </a:ext>
                </a:extLst>
              </a:tr>
              <a:tr h="480000">
                <a:tc>
                  <a:txBody>
                    <a:bodyPr/>
                    <a:lstStyle/>
                    <a:p>
                      <a:pPr algn="ctr"/>
                      <a:r>
                        <a:rPr lang="en-AU" sz="3200">
                          <a:solidFill>
                            <a:schemeClr val="accent2"/>
                          </a:solidFill>
                        </a:rPr>
                        <a:t>1</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73052857"/>
                  </a:ext>
                </a:extLst>
              </a:tr>
              <a:tr h="480000">
                <a:tc>
                  <a:txBody>
                    <a:bodyPr/>
                    <a:lstStyle/>
                    <a:p>
                      <a:pPr algn="ctr"/>
                      <a:r>
                        <a:rPr lang="en-AU" sz="3200">
                          <a:solidFill>
                            <a:schemeClr val="accent2"/>
                          </a:solidFill>
                        </a:rPr>
                        <a:t>2</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181173557"/>
                  </a:ext>
                </a:extLst>
              </a:tr>
              <a:tr h="480000">
                <a:tc>
                  <a:txBody>
                    <a:bodyPr/>
                    <a:lstStyle/>
                    <a:p>
                      <a:pPr algn="ctr"/>
                      <a:r>
                        <a:rPr lang="en-AU" sz="3200">
                          <a:solidFill>
                            <a:schemeClr val="accent2"/>
                          </a:solidFill>
                        </a:rPr>
                        <a:t>3</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078304785"/>
                  </a:ext>
                </a:extLst>
              </a:tr>
              <a:tr h="480000">
                <a:tc>
                  <a:txBody>
                    <a:bodyPr/>
                    <a:lstStyle/>
                    <a:p>
                      <a:pPr algn="ctr"/>
                      <a:r>
                        <a:rPr lang="en-AU" sz="3200">
                          <a:solidFill>
                            <a:schemeClr val="accent2"/>
                          </a:solidFill>
                        </a:rPr>
                        <a:t>4</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00848310"/>
                  </a:ext>
                </a:extLst>
              </a:tr>
              <a:tr h="480000">
                <a:tc>
                  <a:txBody>
                    <a:bodyPr/>
                    <a:lstStyle/>
                    <a:p>
                      <a:pPr algn="ctr"/>
                      <a:r>
                        <a:rPr lang="en-AU" sz="3200">
                          <a:solidFill>
                            <a:schemeClr val="accent2"/>
                          </a:solidFill>
                        </a:rPr>
                        <a:t>5</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32991684"/>
                  </a:ext>
                </a:extLst>
              </a:tr>
              <a:tr h="480000">
                <a:tc>
                  <a:txBody>
                    <a:bodyPr/>
                    <a:lstStyle/>
                    <a:p>
                      <a:pPr algn="ctr"/>
                      <a:r>
                        <a:rPr lang="en-AU" sz="3200">
                          <a:solidFill>
                            <a:schemeClr val="accent2"/>
                          </a:solidFill>
                        </a:rPr>
                        <a:t>6</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537742528"/>
                  </a:ext>
                </a:extLst>
              </a:tr>
              <a:tr h="480000">
                <a:tc>
                  <a:txBody>
                    <a:bodyPr/>
                    <a:lstStyle/>
                    <a:p>
                      <a:pPr algn="ctr"/>
                      <a:r>
                        <a:rPr lang="en-AU" sz="3200">
                          <a:solidFill>
                            <a:schemeClr val="accent2"/>
                          </a:solidFill>
                        </a:rPr>
                        <a:t>7</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148096247"/>
                  </a:ext>
                </a:extLst>
              </a:tr>
              <a:tr h="480000">
                <a:tc>
                  <a:txBody>
                    <a:bodyPr/>
                    <a:lstStyle/>
                    <a:p>
                      <a:pPr algn="ctr"/>
                      <a:r>
                        <a:rPr lang="en-AU" sz="3200">
                          <a:solidFill>
                            <a:schemeClr val="accent2"/>
                          </a:solidFill>
                        </a:rPr>
                        <a:t>8</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19710628"/>
                  </a:ext>
                </a:extLst>
              </a:tr>
              <a:tr h="480000">
                <a:tc>
                  <a:txBody>
                    <a:bodyPr/>
                    <a:lstStyle/>
                    <a:p>
                      <a:pPr algn="ctr"/>
                      <a:r>
                        <a:rPr lang="en-AU" sz="3200">
                          <a:solidFill>
                            <a:schemeClr val="accent2"/>
                          </a:solidFill>
                        </a:rPr>
                        <a:t>9</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771944021"/>
                  </a:ext>
                </a:extLst>
              </a:tr>
            </a:tbl>
          </a:graphicData>
        </a:graphic>
      </p:graphicFrame>
      <p:sp>
        <p:nvSpPr>
          <p:cNvPr id="7" name="Oval 6" descr="Yellow counter">
            <a:extLst>
              <a:ext uri="{FF2B5EF4-FFF2-40B4-BE49-F238E27FC236}">
                <a16:creationId xmlns:a16="http://schemas.microsoft.com/office/drawing/2014/main" id="{3BFCB140-2D46-643C-ACB9-9F0689EC71F9}"/>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descr="Yellow counter">
            <a:extLst>
              <a:ext uri="{FF2B5EF4-FFF2-40B4-BE49-F238E27FC236}">
                <a16:creationId xmlns:a16="http://schemas.microsoft.com/office/drawing/2014/main" id="{F4902BAE-A971-B922-222B-C2567A801AA2}"/>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descr="Yellow counter">
            <a:extLst>
              <a:ext uri="{FF2B5EF4-FFF2-40B4-BE49-F238E27FC236}">
                <a16:creationId xmlns:a16="http://schemas.microsoft.com/office/drawing/2014/main" id="{64BC6675-968C-E78D-5EEE-782D74CC84E8}"/>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descr="Yellow counter">
            <a:extLst>
              <a:ext uri="{FF2B5EF4-FFF2-40B4-BE49-F238E27FC236}">
                <a16:creationId xmlns:a16="http://schemas.microsoft.com/office/drawing/2014/main" id="{EC26170E-97C9-D520-7D74-8D8A962F5B54}"/>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descr="Yellow counter">
            <a:extLst>
              <a:ext uri="{FF2B5EF4-FFF2-40B4-BE49-F238E27FC236}">
                <a16:creationId xmlns:a16="http://schemas.microsoft.com/office/drawing/2014/main" id="{336DE3BB-CC48-AD8D-C20D-66DBFA79C21E}"/>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descr="Yellow counter">
            <a:extLst>
              <a:ext uri="{FF2B5EF4-FFF2-40B4-BE49-F238E27FC236}">
                <a16:creationId xmlns:a16="http://schemas.microsoft.com/office/drawing/2014/main" id="{877AE6A0-C1F1-D48A-FD74-3733BE3B5BF1}"/>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descr="Yellow counter">
            <a:extLst>
              <a:ext uri="{FF2B5EF4-FFF2-40B4-BE49-F238E27FC236}">
                <a16:creationId xmlns:a16="http://schemas.microsoft.com/office/drawing/2014/main" id="{B152BFBF-2552-8FEE-F9BC-571020BEE002}"/>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descr="Yellow counter">
            <a:extLst>
              <a:ext uri="{FF2B5EF4-FFF2-40B4-BE49-F238E27FC236}">
                <a16:creationId xmlns:a16="http://schemas.microsoft.com/office/drawing/2014/main" id="{B70E5D81-E04F-8B00-DF93-ED9F1808FB09}"/>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descr="Yellow counter">
            <a:extLst>
              <a:ext uri="{FF2B5EF4-FFF2-40B4-BE49-F238E27FC236}">
                <a16:creationId xmlns:a16="http://schemas.microsoft.com/office/drawing/2014/main" id="{CF8E36E1-7F29-6A5C-081E-EEEBB7FA6717}"/>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descr="Yellow counter">
            <a:extLst>
              <a:ext uri="{FF2B5EF4-FFF2-40B4-BE49-F238E27FC236}">
                <a16:creationId xmlns:a16="http://schemas.microsoft.com/office/drawing/2014/main" id="{238C3A38-66C5-DB62-13BA-A91EBC05AFF0}"/>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descr="Yellow counter">
            <a:extLst>
              <a:ext uri="{FF2B5EF4-FFF2-40B4-BE49-F238E27FC236}">
                <a16:creationId xmlns:a16="http://schemas.microsoft.com/office/drawing/2014/main" id="{9E0FE448-3091-EAEF-3B75-A8AFD0FDFB8F}"/>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descr="Yellow counter">
            <a:extLst>
              <a:ext uri="{FF2B5EF4-FFF2-40B4-BE49-F238E27FC236}">
                <a16:creationId xmlns:a16="http://schemas.microsoft.com/office/drawing/2014/main" id="{F4CE217E-C0EA-F12B-3B9D-C239986356CD}"/>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descr="Yellow counter">
            <a:extLst>
              <a:ext uri="{FF2B5EF4-FFF2-40B4-BE49-F238E27FC236}">
                <a16:creationId xmlns:a16="http://schemas.microsoft.com/office/drawing/2014/main" id="{C8EEED08-5B24-1244-06DF-A41EC9D65B0F}"/>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descr="Yellow counter">
            <a:extLst>
              <a:ext uri="{FF2B5EF4-FFF2-40B4-BE49-F238E27FC236}">
                <a16:creationId xmlns:a16="http://schemas.microsoft.com/office/drawing/2014/main" id="{05CA0290-8C07-A915-2BC7-CB612E91722E}"/>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descr="Yellow counter">
            <a:extLst>
              <a:ext uri="{FF2B5EF4-FFF2-40B4-BE49-F238E27FC236}">
                <a16:creationId xmlns:a16="http://schemas.microsoft.com/office/drawing/2014/main" id="{421A405F-53FB-63AE-7FB3-A97865210CB2}"/>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descr="Yellow counter">
            <a:extLst>
              <a:ext uri="{FF2B5EF4-FFF2-40B4-BE49-F238E27FC236}">
                <a16:creationId xmlns:a16="http://schemas.microsoft.com/office/drawing/2014/main" id="{D0C37AC3-19EE-B66A-3BD0-C6A7E2F9292E}"/>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descr="Yellow counter">
            <a:extLst>
              <a:ext uri="{FF2B5EF4-FFF2-40B4-BE49-F238E27FC236}">
                <a16:creationId xmlns:a16="http://schemas.microsoft.com/office/drawing/2014/main" id="{EC551A4A-1B8C-47A7-D882-89E0036E844D}"/>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descr="Yellow counter">
            <a:extLst>
              <a:ext uri="{FF2B5EF4-FFF2-40B4-BE49-F238E27FC236}">
                <a16:creationId xmlns:a16="http://schemas.microsoft.com/office/drawing/2014/main" id="{9B344C88-007F-A63F-77D1-4C18FD53AFAF}"/>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descr="Yellow counter">
            <a:extLst>
              <a:ext uri="{FF2B5EF4-FFF2-40B4-BE49-F238E27FC236}">
                <a16:creationId xmlns:a16="http://schemas.microsoft.com/office/drawing/2014/main" id="{45C18256-8871-7679-B0F9-97836342A0CA}"/>
              </a:ext>
            </a:extLst>
          </p:cNvPr>
          <p:cNvSpPr/>
          <p:nvPr/>
        </p:nvSpPr>
        <p:spPr>
          <a:xfrm>
            <a:off x="11166233" y="212710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descr="Yellow counter placed on number 24">
            <a:extLst>
              <a:ext uri="{FF2B5EF4-FFF2-40B4-BE49-F238E27FC236}">
                <a16:creationId xmlns:a16="http://schemas.microsoft.com/office/drawing/2014/main" id="{8F10D1B3-2642-0C5A-2463-9CB161E549B2}"/>
              </a:ext>
            </a:extLst>
          </p:cNvPr>
          <p:cNvSpPr/>
          <p:nvPr/>
        </p:nvSpPr>
        <p:spPr>
          <a:xfrm>
            <a:off x="6226135" y="3049511"/>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descr="Red counter">
            <a:extLst>
              <a:ext uri="{FF2B5EF4-FFF2-40B4-BE49-F238E27FC236}">
                <a16:creationId xmlns:a16="http://schemas.microsoft.com/office/drawing/2014/main" id="{6C02592A-B226-40D5-C3D8-F8F460FB0C3C}"/>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descr="Red counter">
            <a:extLst>
              <a:ext uri="{FF2B5EF4-FFF2-40B4-BE49-F238E27FC236}">
                <a16:creationId xmlns:a16="http://schemas.microsoft.com/office/drawing/2014/main" id="{31033425-38A7-4AD6-1078-B0BFAE8AB04E}"/>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descr="Red counter">
            <a:extLst>
              <a:ext uri="{FF2B5EF4-FFF2-40B4-BE49-F238E27FC236}">
                <a16:creationId xmlns:a16="http://schemas.microsoft.com/office/drawing/2014/main" id="{EC68D409-60E3-341D-5AC5-1C28E32E7E37}"/>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descr="Red counter">
            <a:extLst>
              <a:ext uri="{FF2B5EF4-FFF2-40B4-BE49-F238E27FC236}">
                <a16:creationId xmlns:a16="http://schemas.microsoft.com/office/drawing/2014/main" id="{8387A92C-7BC8-C0B9-348B-F4338E6FEBCE}"/>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descr="Red counter">
            <a:extLst>
              <a:ext uri="{FF2B5EF4-FFF2-40B4-BE49-F238E27FC236}">
                <a16:creationId xmlns:a16="http://schemas.microsoft.com/office/drawing/2014/main" id="{D44BFED2-8981-E0DC-64D5-4CD4062C1702}"/>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descr="Red counter">
            <a:extLst>
              <a:ext uri="{FF2B5EF4-FFF2-40B4-BE49-F238E27FC236}">
                <a16:creationId xmlns:a16="http://schemas.microsoft.com/office/drawing/2014/main" id="{0AE276A2-FE6A-B58D-1D92-E716BD09F1C0}"/>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descr="Red counter">
            <a:extLst>
              <a:ext uri="{FF2B5EF4-FFF2-40B4-BE49-F238E27FC236}">
                <a16:creationId xmlns:a16="http://schemas.microsoft.com/office/drawing/2014/main" id="{2B36919B-FD0B-0297-C083-EEC6B0CF7C7B}"/>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descr="Red counter">
            <a:extLst>
              <a:ext uri="{FF2B5EF4-FFF2-40B4-BE49-F238E27FC236}">
                <a16:creationId xmlns:a16="http://schemas.microsoft.com/office/drawing/2014/main" id="{78D0ABC3-3273-541E-BFE8-39B389C75A3C}"/>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descr="Red counter">
            <a:extLst>
              <a:ext uri="{FF2B5EF4-FFF2-40B4-BE49-F238E27FC236}">
                <a16:creationId xmlns:a16="http://schemas.microsoft.com/office/drawing/2014/main" id="{5072DF9C-356B-F5C4-8916-A05F01C5DD9C}"/>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descr="Red counter">
            <a:extLst>
              <a:ext uri="{FF2B5EF4-FFF2-40B4-BE49-F238E27FC236}">
                <a16:creationId xmlns:a16="http://schemas.microsoft.com/office/drawing/2014/main" id="{4ED14F84-0C7A-252F-8BD2-6AE3E1C97CE6}"/>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descr="Red counter">
            <a:extLst>
              <a:ext uri="{FF2B5EF4-FFF2-40B4-BE49-F238E27FC236}">
                <a16:creationId xmlns:a16="http://schemas.microsoft.com/office/drawing/2014/main" id="{A2622DE5-7D24-55D1-4724-153492DCBDAB}"/>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descr="Red counter">
            <a:extLst>
              <a:ext uri="{FF2B5EF4-FFF2-40B4-BE49-F238E27FC236}">
                <a16:creationId xmlns:a16="http://schemas.microsoft.com/office/drawing/2014/main" id="{D4E55888-4881-CEE2-3729-E9E2A5854825}"/>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descr="Red counter">
            <a:extLst>
              <a:ext uri="{FF2B5EF4-FFF2-40B4-BE49-F238E27FC236}">
                <a16:creationId xmlns:a16="http://schemas.microsoft.com/office/drawing/2014/main" id="{1DA22055-1614-7844-C7EE-BA3C2236C379}"/>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descr="Red counter">
            <a:extLst>
              <a:ext uri="{FF2B5EF4-FFF2-40B4-BE49-F238E27FC236}">
                <a16:creationId xmlns:a16="http://schemas.microsoft.com/office/drawing/2014/main" id="{9A701633-A413-321B-68C5-6610FA0F8434}"/>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descr="Red counter">
            <a:extLst>
              <a:ext uri="{FF2B5EF4-FFF2-40B4-BE49-F238E27FC236}">
                <a16:creationId xmlns:a16="http://schemas.microsoft.com/office/drawing/2014/main" id="{B403BC97-7508-DFFD-47B7-9E90B81337D3}"/>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descr="Red counter">
            <a:extLst>
              <a:ext uri="{FF2B5EF4-FFF2-40B4-BE49-F238E27FC236}">
                <a16:creationId xmlns:a16="http://schemas.microsoft.com/office/drawing/2014/main" id="{1A63F6E5-4960-4778-A993-74941FCA5065}"/>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descr="Red counter">
            <a:extLst>
              <a:ext uri="{FF2B5EF4-FFF2-40B4-BE49-F238E27FC236}">
                <a16:creationId xmlns:a16="http://schemas.microsoft.com/office/drawing/2014/main" id="{CC02B462-5733-A0A3-D720-3E68403A335C}"/>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descr="Red counter">
            <a:extLst>
              <a:ext uri="{FF2B5EF4-FFF2-40B4-BE49-F238E27FC236}">
                <a16:creationId xmlns:a16="http://schemas.microsoft.com/office/drawing/2014/main" id="{B69258B6-C001-C85B-63A9-0399852A3827}"/>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descr="Red counter">
            <a:extLst>
              <a:ext uri="{FF2B5EF4-FFF2-40B4-BE49-F238E27FC236}">
                <a16:creationId xmlns:a16="http://schemas.microsoft.com/office/drawing/2014/main" id="{90E80871-A706-9D84-A9DF-594D3EAD44AA}"/>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descr="Red counter">
            <a:extLst>
              <a:ext uri="{FF2B5EF4-FFF2-40B4-BE49-F238E27FC236}">
                <a16:creationId xmlns:a16="http://schemas.microsoft.com/office/drawing/2014/main" id="{84EB1395-0381-E0CC-8930-ECC9D3E58E4A}"/>
              </a:ext>
            </a:extLst>
          </p:cNvPr>
          <p:cNvSpPr/>
          <p:nvPr/>
        </p:nvSpPr>
        <p:spPr>
          <a:xfrm>
            <a:off x="11166233" y="3449125"/>
            <a:ext cx="660770" cy="65074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descr="Blue counter">
            <a:extLst>
              <a:ext uri="{FF2B5EF4-FFF2-40B4-BE49-F238E27FC236}">
                <a16:creationId xmlns:a16="http://schemas.microsoft.com/office/drawing/2014/main" id="{F8C0EF45-CC67-4E1B-4D24-E31FEB13396E}"/>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descr="Blue counter">
            <a:extLst>
              <a:ext uri="{FF2B5EF4-FFF2-40B4-BE49-F238E27FC236}">
                <a16:creationId xmlns:a16="http://schemas.microsoft.com/office/drawing/2014/main" id="{0DD97D95-5C6B-FCB5-686B-929D5C92492B}"/>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descr="Blue counter">
            <a:extLst>
              <a:ext uri="{FF2B5EF4-FFF2-40B4-BE49-F238E27FC236}">
                <a16:creationId xmlns:a16="http://schemas.microsoft.com/office/drawing/2014/main" id="{6DA31E2C-331B-1532-E259-2A6DF29FABF0}"/>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descr="Blue counter">
            <a:extLst>
              <a:ext uri="{FF2B5EF4-FFF2-40B4-BE49-F238E27FC236}">
                <a16:creationId xmlns:a16="http://schemas.microsoft.com/office/drawing/2014/main" id="{76F05A1A-664A-7A74-1AA4-6B0FF46ED61F}"/>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descr="Blue counter">
            <a:extLst>
              <a:ext uri="{FF2B5EF4-FFF2-40B4-BE49-F238E27FC236}">
                <a16:creationId xmlns:a16="http://schemas.microsoft.com/office/drawing/2014/main" id="{0C9B3F50-3429-599A-E5C9-872BC005DA48}"/>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descr="Blue counter">
            <a:extLst>
              <a:ext uri="{FF2B5EF4-FFF2-40B4-BE49-F238E27FC236}">
                <a16:creationId xmlns:a16="http://schemas.microsoft.com/office/drawing/2014/main" id="{6AF89FD1-45BD-9B6D-B399-0A5E85546E17}"/>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descr="Blue counter">
            <a:extLst>
              <a:ext uri="{FF2B5EF4-FFF2-40B4-BE49-F238E27FC236}">
                <a16:creationId xmlns:a16="http://schemas.microsoft.com/office/drawing/2014/main" id="{2F0810B1-0AAB-950B-07BB-5D6AF51452AF}"/>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descr="Blue counter">
            <a:extLst>
              <a:ext uri="{FF2B5EF4-FFF2-40B4-BE49-F238E27FC236}">
                <a16:creationId xmlns:a16="http://schemas.microsoft.com/office/drawing/2014/main" id="{3606BCF0-0316-7F7A-7F20-D29566ECCBD0}"/>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descr="Blue counter">
            <a:extLst>
              <a:ext uri="{FF2B5EF4-FFF2-40B4-BE49-F238E27FC236}">
                <a16:creationId xmlns:a16="http://schemas.microsoft.com/office/drawing/2014/main" id="{9162AE42-A202-08C7-FD3E-A3F7955D4EEC}"/>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descr="Blue counter">
            <a:extLst>
              <a:ext uri="{FF2B5EF4-FFF2-40B4-BE49-F238E27FC236}">
                <a16:creationId xmlns:a16="http://schemas.microsoft.com/office/drawing/2014/main" id="{CAE61F45-A12C-7CE4-FF1F-D5E5D8FB96B0}"/>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descr="Blue counter">
            <a:extLst>
              <a:ext uri="{FF2B5EF4-FFF2-40B4-BE49-F238E27FC236}">
                <a16:creationId xmlns:a16="http://schemas.microsoft.com/office/drawing/2014/main" id="{03899C71-661C-1484-9235-99179B941C85}"/>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descr="Blue counter">
            <a:extLst>
              <a:ext uri="{FF2B5EF4-FFF2-40B4-BE49-F238E27FC236}">
                <a16:creationId xmlns:a16="http://schemas.microsoft.com/office/drawing/2014/main" id="{4B240732-7A0D-194A-095D-A9CA2859143D}"/>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descr="Blue counter">
            <a:extLst>
              <a:ext uri="{FF2B5EF4-FFF2-40B4-BE49-F238E27FC236}">
                <a16:creationId xmlns:a16="http://schemas.microsoft.com/office/drawing/2014/main" id="{44959228-2A26-3489-BE2C-A8D1705982BF}"/>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descr="Blue counter">
            <a:extLst>
              <a:ext uri="{FF2B5EF4-FFF2-40B4-BE49-F238E27FC236}">
                <a16:creationId xmlns:a16="http://schemas.microsoft.com/office/drawing/2014/main" id="{AF7ECFE1-A5C6-8048-7C3A-4F0C0D83F2D9}"/>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descr="Blue counter">
            <a:extLst>
              <a:ext uri="{FF2B5EF4-FFF2-40B4-BE49-F238E27FC236}">
                <a16:creationId xmlns:a16="http://schemas.microsoft.com/office/drawing/2014/main" id="{B47CD21A-4F1A-4129-0C0A-219D5E2BE0E0}"/>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descr="Blue counter">
            <a:extLst>
              <a:ext uri="{FF2B5EF4-FFF2-40B4-BE49-F238E27FC236}">
                <a16:creationId xmlns:a16="http://schemas.microsoft.com/office/drawing/2014/main" id="{7DFC74EC-BB6A-1FDF-736B-BB29C956C8F7}"/>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descr="Blue counter">
            <a:extLst>
              <a:ext uri="{FF2B5EF4-FFF2-40B4-BE49-F238E27FC236}">
                <a16:creationId xmlns:a16="http://schemas.microsoft.com/office/drawing/2014/main" id="{84BE22CD-A1C6-8C26-C7C1-04C01A8A46B0}"/>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descr="Blue counter">
            <a:extLst>
              <a:ext uri="{FF2B5EF4-FFF2-40B4-BE49-F238E27FC236}">
                <a16:creationId xmlns:a16="http://schemas.microsoft.com/office/drawing/2014/main" id="{8424E20B-3C0A-EA6F-9C46-DE671C7AA9AF}"/>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descr="Blue counter">
            <a:extLst>
              <a:ext uri="{FF2B5EF4-FFF2-40B4-BE49-F238E27FC236}">
                <a16:creationId xmlns:a16="http://schemas.microsoft.com/office/drawing/2014/main" id="{6687715B-673E-C2B0-8CCE-D59A87208E0F}"/>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descr="Blue counter">
            <a:extLst>
              <a:ext uri="{FF2B5EF4-FFF2-40B4-BE49-F238E27FC236}">
                <a16:creationId xmlns:a16="http://schemas.microsoft.com/office/drawing/2014/main" id="{EF5E2F6D-BFCE-8711-CE9D-9D77FA7D55DA}"/>
              </a:ext>
            </a:extLst>
          </p:cNvPr>
          <p:cNvSpPr/>
          <p:nvPr/>
        </p:nvSpPr>
        <p:spPr>
          <a:xfrm>
            <a:off x="11166233" y="4835414"/>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2" descr="Red paper clip nextto the number 3">
            <a:extLst>
              <a:ext uri="{FF2B5EF4-FFF2-40B4-BE49-F238E27FC236}">
                <a16:creationId xmlns:a16="http://schemas.microsoft.com/office/drawing/2014/main" id="{20351CCE-8C4C-4623-36F3-0579B35FAE3A}"/>
              </a:ext>
            </a:extLst>
          </p:cNvPr>
          <p:cNvSpPr/>
          <p:nvPr/>
        </p:nvSpPr>
        <p:spPr>
          <a:xfrm rot="18962571">
            <a:off x="9382139" y="2531563"/>
            <a:ext cx="845939" cy="814216"/>
          </a:xfrm>
          <a:custGeom>
            <a:avLst/>
            <a:gdLst/>
            <a:ahLst/>
            <a:cxnLst/>
            <a:rect l="l" t="t" r="r" b="b"/>
            <a:pathLst>
              <a:path w="4421656" h="4255844">
                <a:moveTo>
                  <a:pt x="0" y="0"/>
                </a:moveTo>
                <a:lnTo>
                  <a:pt x="4421656" y="0"/>
                </a:lnTo>
                <a:lnTo>
                  <a:pt x="4421656" y="4255844"/>
                </a:lnTo>
                <a:lnTo>
                  <a:pt x="0" y="4255844"/>
                </a:lnTo>
                <a:lnTo>
                  <a:pt x="0" y="0"/>
                </a:lnTo>
                <a:close/>
              </a:path>
            </a:pathLst>
          </a:custGeom>
          <a:blipFill>
            <a:blip r:embed="rId4"/>
            <a:stretch>
              <a:fillRect/>
            </a:stretch>
          </a:blipFill>
        </p:spPr>
        <p:txBody>
          <a:bodyPr/>
          <a:lstStyle/>
          <a:p>
            <a:endParaRPr lang="en-AU"/>
          </a:p>
        </p:txBody>
      </p:sp>
      <p:sp>
        <p:nvSpPr>
          <p:cNvPr id="68" name="Freeform 4" descr="Yellow paper clip next to number 8">
            <a:extLst>
              <a:ext uri="{FF2B5EF4-FFF2-40B4-BE49-F238E27FC236}">
                <a16:creationId xmlns:a16="http://schemas.microsoft.com/office/drawing/2014/main" id="{A0600AB5-81BD-DB26-874F-BB302094FC1B}"/>
              </a:ext>
            </a:extLst>
          </p:cNvPr>
          <p:cNvSpPr/>
          <p:nvPr/>
        </p:nvSpPr>
        <p:spPr>
          <a:xfrm rot="18962571">
            <a:off x="9381825" y="5432552"/>
            <a:ext cx="846305" cy="814216"/>
          </a:xfrm>
          <a:custGeom>
            <a:avLst/>
            <a:gdLst/>
            <a:ahLst/>
            <a:cxnLst/>
            <a:rect l="l" t="t" r="r" b="b"/>
            <a:pathLst>
              <a:path w="4423571" h="4255844">
                <a:moveTo>
                  <a:pt x="0" y="0"/>
                </a:moveTo>
                <a:lnTo>
                  <a:pt x="4423571" y="0"/>
                </a:lnTo>
                <a:lnTo>
                  <a:pt x="4423571" y="4255844"/>
                </a:lnTo>
                <a:lnTo>
                  <a:pt x="0" y="4255844"/>
                </a:lnTo>
                <a:lnTo>
                  <a:pt x="0" y="0"/>
                </a:lnTo>
                <a:close/>
              </a:path>
            </a:pathLst>
          </a:custGeom>
          <a:blipFill>
            <a:blip r:embed="rId5"/>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a:xfrm>
            <a:off x="11152837" y="6527106"/>
            <a:ext cx="720000" cy="180000"/>
          </a:xfrm>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310367" y="1725098"/>
            <a:ext cx="9342304" cy="893226"/>
          </a:xfrm>
        </p:spPr>
        <p:txBody>
          <a:bodyPr/>
          <a:lstStyle/>
          <a:p>
            <a:pPr algn="ctr"/>
            <a:r>
              <a:rPr lang="en-AU" sz="4400" b="1"/>
              <a:t>24</a:t>
            </a:r>
            <a:r>
              <a:rPr lang="en-AU" sz="4400"/>
              <a:t> counters could be </a:t>
            </a:r>
            <a:r>
              <a:rPr lang="en-AU" sz="4400" b="1"/>
              <a:t>arranged</a:t>
            </a:r>
            <a:r>
              <a:rPr lang="en-AU" sz="4400"/>
              <a:t> into an </a:t>
            </a:r>
            <a:r>
              <a:rPr lang="en-AU" sz="4400" b="1"/>
              <a:t>8 by 3 </a:t>
            </a:r>
            <a:r>
              <a:rPr lang="en-AU" sz="4400"/>
              <a:t>array. </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426858905"/>
              </p:ext>
            </p:extLst>
          </p:nvPr>
        </p:nvGraphicFramePr>
        <p:xfrm>
          <a:off x="2442981" y="462633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Box 4">
            <a:extLst>
              <a:ext uri="{FF2B5EF4-FFF2-40B4-BE49-F238E27FC236}">
                <a16:creationId xmlns:a16="http://schemas.microsoft.com/office/drawing/2014/main" id="{6C047760-DBB8-3510-B1BB-5D596AA8F22D}"/>
              </a:ext>
            </a:extLst>
          </p:cNvPr>
          <p:cNvSpPr txBox="1"/>
          <p:nvPr/>
        </p:nvSpPr>
        <p:spPr>
          <a:xfrm>
            <a:off x="573505" y="5836559"/>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838E552-6952-5D66-9652-542CDBDF62C1}"/>
              </a:ext>
            </a:extLst>
          </p:cNvPr>
          <p:cNvSpPr txBox="1"/>
          <p:nvPr/>
        </p:nvSpPr>
        <p:spPr>
          <a:xfrm>
            <a:off x="437432" y="1553643"/>
            <a:ext cx="11317135" cy="982513"/>
          </a:xfrm>
          <a:prstGeom prst="rect">
            <a:avLst/>
          </a:prstGeom>
          <a:noFill/>
        </p:spPr>
        <p:txBody>
          <a:bodyPr wrap="square">
            <a:spAutoFit/>
          </a:bodyPr>
          <a:lstStyle/>
          <a:p>
            <a:pPr algn="ctr">
              <a:lnSpc>
                <a:spcPct val="150000"/>
              </a:lnSpc>
            </a:pPr>
            <a:r>
              <a:rPr lang="en-AU" sz="4400" b="1" i="0">
                <a:solidFill>
                  <a:srgbClr val="000000"/>
                </a:solidFill>
                <a:effectLst/>
              </a:rPr>
              <a:t>Solve</a:t>
            </a:r>
            <a:r>
              <a:rPr lang="en-AU" sz="4400" i="0">
                <a:solidFill>
                  <a:srgbClr val="000000"/>
                </a:solidFill>
                <a:effectLst/>
              </a:rPr>
              <a:t> this number sentence.</a:t>
            </a:r>
            <a:endParaRPr lang="en-AU" sz="4400"/>
          </a:p>
        </p:txBody>
      </p:sp>
      <p:sp>
        <p:nvSpPr>
          <p:cNvPr id="5" name="Rectangle: Rounded Corners 4">
            <a:extLst>
              <a:ext uri="{FF2B5EF4-FFF2-40B4-BE49-F238E27FC236}">
                <a16:creationId xmlns:a16="http://schemas.microsoft.com/office/drawing/2014/main" id="{2322BD47-A44F-725A-5E20-0F3D6B3EB1F4}"/>
              </a:ext>
            </a:extLst>
          </p:cNvPr>
          <p:cNvSpPr/>
          <p:nvPr/>
        </p:nvSpPr>
        <p:spPr>
          <a:xfrm>
            <a:off x="1544780" y="3184198"/>
            <a:ext cx="9102437" cy="1440000"/>
          </a:xfrm>
          <a:prstGeom prst="roundRect">
            <a:avLst/>
          </a:prstGeom>
          <a:noFill/>
          <a:ln w="19050">
            <a:no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6000">
                <a:solidFill>
                  <a:schemeClr val="tx1"/>
                </a:solidFill>
                <a:cs typeface="Arial" panose="020B0604020202020204" pitchFamily="34" charset="0"/>
              </a:rPr>
              <a:t>12 × __ = 96 ÷ 8</a:t>
            </a:r>
          </a:p>
        </p:txBody>
      </p:sp>
      <p:sp>
        <p:nvSpPr>
          <p:cNvPr id="7" name="TextBox 6">
            <a:extLst>
              <a:ext uri="{FF2B5EF4-FFF2-40B4-BE49-F238E27FC236}">
                <a16:creationId xmlns:a16="http://schemas.microsoft.com/office/drawing/2014/main" id="{7DC20E4B-6021-E820-D3E1-84757D9B8B75}"/>
              </a:ext>
            </a:extLst>
          </p:cNvPr>
          <p:cNvSpPr txBox="1"/>
          <p:nvPr/>
        </p:nvSpPr>
        <p:spPr>
          <a:xfrm>
            <a:off x="439010" y="5553531"/>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7" name="TextBox 16">
            <a:extLst>
              <a:ext uri="{FF2B5EF4-FFF2-40B4-BE49-F238E27FC236}">
                <a16:creationId xmlns:a16="http://schemas.microsoft.com/office/drawing/2014/main" id="{4DAAA17A-D44B-58C9-35CF-6446913F1E8E}"/>
              </a:ext>
            </a:extLst>
          </p:cNvPr>
          <p:cNvSpPr txBox="1"/>
          <p:nvPr/>
        </p:nvSpPr>
        <p:spPr>
          <a:xfrm>
            <a:off x="1835573" y="1070591"/>
            <a:ext cx="9050784" cy="545601"/>
          </a:xfrm>
          <a:prstGeom prst="rect">
            <a:avLst/>
          </a:prstGeom>
          <a:noFill/>
        </p:spPr>
        <p:txBody>
          <a:bodyPr wrap="square" lIns="0" tIns="0" rIns="0" bIns="0" rtlCol="0">
            <a:noAutofit/>
          </a:bodyPr>
          <a:lstStyle/>
          <a:p>
            <a:pPr algn="ctr">
              <a:lnSpc>
                <a:spcPct val="150000"/>
              </a:lnSpc>
            </a:pPr>
            <a:r>
              <a:rPr lang="en-AU" sz="4000" b="1"/>
              <a:t>Place </a:t>
            </a:r>
            <a:r>
              <a:rPr lang="en-AU" sz="4000"/>
              <a:t>the</a:t>
            </a:r>
            <a:r>
              <a:rPr lang="en-AU" sz="4000" b="1"/>
              <a:t> </a:t>
            </a:r>
            <a:r>
              <a:rPr lang="en-AU" sz="4000"/>
              <a:t>decimal numbers in </a:t>
            </a:r>
            <a:r>
              <a:rPr lang="en-AU" sz="4000" b="1"/>
              <a:t>ascending order</a:t>
            </a:r>
            <a:r>
              <a:rPr lang="en-AU" sz="4000"/>
              <a:t>. </a:t>
            </a:r>
          </a:p>
          <a:p>
            <a:br>
              <a:rPr lang="en-AU" sz="3200"/>
            </a:br>
            <a:endParaRPr lang="en-US" sz="3200"/>
          </a:p>
        </p:txBody>
      </p:sp>
      <p:sp>
        <p:nvSpPr>
          <p:cNvPr id="26" name="Rectangle: Rounded Corners 25">
            <a:extLst>
              <a:ext uri="{FF2B5EF4-FFF2-40B4-BE49-F238E27FC236}">
                <a16:creationId xmlns:a16="http://schemas.microsoft.com/office/drawing/2014/main" id="{614CAE56-F04F-A88C-5A70-DFA7B1B3E95D}"/>
              </a:ext>
            </a:extLst>
          </p:cNvPr>
          <p:cNvSpPr/>
          <p:nvPr/>
        </p:nvSpPr>
        <p:spPr>
          <a:xfrm>
            <a:off x="1835573" y="3266837"/>
            <a:ext cx="2268000"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0.490</a:t>
            </a:r>
          </a:p>
        </p:txBody>
      </p:sp>
      <p:sp>
        <p:nvSpPr>
          <p:cNvPr id="28" name="Rectangle: Rounded Corners 27">
            <a:extLst>
              <a:ext uri="{FF2B5EF4-FFF2-40B4-BE49-F238E27FC236}">
                <a16:creationId xmlns:a16="http://schemas.microsoft.com/office/drawing/2014/main" id="{A8A54E59-97A5-AA50-1298-959D8022B578}"/>
              </a:ext>
            </a:extLst>
          </p:cNvPr>
          <p:cNvSpPr/>
          <p:nvPr/>
        </p:nvSpPr>
        <p:spPr>
          <a:xfrm>
            <a:off x="4962000" y="3294367"/>
            <a:ext cx="2268000"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0.55</a:t>
            </a:r>
          </a:p>
        </p:txBody>
      </p:sp>
      <p:sp>
        <p:nvSpPr>
          <p:cNvPr id="29" name="Rectangle: Rounded Corners 28">
            <a:extLst>
              <a:ext uri="{FF2B5EF4-FFF2-40B4-BE49-F238E27FC236}">
                <a16:creationId xmlns:a16="http://schemas.microsoft.com/office/drawing/2014/main" id="{C16DD872-C75A-8D10-33EE-27CC326DFCF2}"/>
              </a:ext>
            </a:extLst>
          </p:cNvPr>
          <p:cNvSpPr/>
          <p:nvPr/>
        </p:nvSpPr>
        <p:spPr>
          <a:xfrm>
            <a:off x="8088427" y="3288333"/>
            <a:ext cx="2268000"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0.901</a:t>
            </a:r>
          </a:p>
        </p:txBody>
      </p:sp>
      <p:sp>
        <p:nvSpPr>
          <p:cNvPr id="18" name="TextBox 17">
            <a:extLst>
              <a:ext uri="{FF2B5EF4-FFF2-40B4-BE49-F238E27FC236}">
                <a16:creationId xmlns:a16="http://schemas.microsoft.com/office/drawing/2014/main" id="{DC4D9EAD-2839-F8B5-1A65-487306F5D714}"/>
              </a:ext>
            </a:extLst>
          </p:cNvPr>
          <p:cNvSpPr txBox="1"/>
          <p:nvPr/>
        </p:nvSpPr>
        <p:spPr>
          <a:xfrm>
            <a:off x="479192" y="5537948"/>
            <a:ext cx="11364808" cy="545601"/>
          </a:xfrm>
          <a:prstGeom prst="rect">
            <a:avLst/>
          </a:prstGeom>
          <a:noFill/>
        </p:spPr>
        <p:txBody>
          <a:bodyPr wrap="square" lIns="0" tIns="0" rIns="0" bIns="0" rtlCol="0">
            <a:noAutofit/>
          </a:bodyPr>
          <a:lstStyle/>
          <a:p>
            <a:pPr algn="ctr"/>
            <a:r>
              <a:rPr lang="en-US" sz="3600" b="1"/>
              <a:t>Communicate</a:t>
            </a:r>
            <a:r>
              <a:rPr lang="en-US" sz="3600"/>
              <a:t> your </a:t>
            </a:r>
            <a:r>
              <a:rPr lang="en-US" sz="3600" b="1"/>
              <a:t>reasoning</a:t>
            </a:r>
            <a:r>
              <a:rPr lang="en-US" sz="3600"/>
              <a:t>.</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2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2D5EEF85-9403-087F-8F3A-7F1BAFC79B45}"/>
              </a:ext>
            </a:extLst>
          </p:cNvPr>
          <p:cNvSpPr txBox="1"/>
          <p:nvPr/>
        </p:nvSpPr>
        <p:spPr>
          <a:xfrm>
            <a:off x="1077796" y="740422"/>
            <a:ext cx="10036408" cy="545601"/>
          </a:xfrm>
          <a:prstGeom prst="rect">
            <a:avLst/>
          </a:prstGeom>
          <a:noFill/>
        </p:spPr>
        <p:txBody>
          <a:bodyPr wrap="square" lIns="0" tIns="0" rIns="0" bIns="0" rtlCol="0">
            <a:noAutofit/>
          </a:bodyPr>
          <a:lstStyle/>
          <a:p>
            <a:pPr algn="ctr">
              <a:lnSpc>
                <a:spcPct val="150000"/>
              </a:lnSpc>
            </a:pPr>
            <a:r>
              <a:rPr lang="en-AU" sz="3200" b="1"/>
              <a:t>How many </a:t>
            </a:r>
            <a:r>
              <a:rPr lang="en-AU" sz="3200"/>
              <a:t>years </a:t>
            </a:r>
            <a:r>
              <a:rPr lang="en-AU" sz="3200" b="1"/>
              <a:t>between</a:t>
            </a:r>
            <a:r>
              <a:rPr lang="en-AU" sz="3200"/>
              <a:t> the child’s first steps and going to zone in cross country</a:t>
            </a:r>
            <a:r>
              <a:rPr lang="en-US" sz="3200"/>
              <a:t>?</a:t>
            </a:r>
          </a:p>
        </p:txBody>
      </p:sp>
      <p:pic>
        <p:nvPicPr>
          <p:cNvPr id="9" name="Picture 8" descr="A personal timeline outlining key events from 2012–2026.">
            <a:extLst>
              <a:ext uri="{FF2B5EF4-FFF2-40B4-BE49-F238E27FC236}">
                <a16:creationId xmlns:a16="http://schemas.microsoft.com/office/drawing/2014/main" id="{0A2953B1-99E1-0BC2-E22B-A05297875C76}"/>
              </a:ext>
            </a:extLst>
          </p:cNvPr>
          <p:cNvPicPr>
            <a:picLocks noChangeAspect="1"/>
          </p:cNvPicPr>
          <p:nvPr/>
        </p:nvPicPr>
        <p:blipFill>
          <a:blip r:embed="rId4"/>
          <a:srcRect l="3926" t="8525"/>
          <a:stretch>
            <a:fillRect/>
          </a:stretch>
        </p:blipFill>
        <p:spPr>
          <a:xfrm>
            <a:off x="472441" y="2257712"/>
            <a:ext cx="10837980" cy="3850711"/>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2581C442-1D04-0352-0A97-3B20EB2ED896}"/>
              </a:ext>
            </a:extLst>
          </p:cNvPr>
          <p:cNvSpPr txBox="1"/>
          <p:nvPr/>
        </p:nvSpPr>
        <p:spPr>
          <a:xfrm>
            <a:off x="314073" y="6225199"/>
            <a:ext cx="11364808" cy="545601"/>
          </a:xfrm>
          <a:prstGeom prst="rect">
            <a:avLst/>
          </a:prstGeom>
          <a:noFill/>
        </p:spPr>
        <p:txBody>
          <a:bodyPr wrap="square" lIns="0" tIns="0" rIns="0" bIns="0" rtlCol="0">
            <a:noAutofit/>
          </a:bodyPr>
          <a:lstStyle/>
          <a:p>
            <a:pPr algn="ctr"/>
            <a:r>
              <a:rPr lang="en-US" sz="3600" b="1"/>
              <a:t>Communicate </a:t>
            </a:r>
            <a:r>
              <a:rPr lang="en-US" sz="3600"/>
              <a:t>your</a:t>
            </a:r>
            <a:r>
              <a:rPr lang="en-US" sz="3600" b="1"/>
              <a:t> reasoning</a:t>
            </a:r>
            <a:r>
              <a:rPr lang="en-US" sz="3200" b="1"/>
              <a:t>.</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4">
            <a:extLst>
              <a:ext uri="{FF2B5EF4-FFF2-40B4-BE49-F238E27FC236}">
                <a16:creationId xmlns:a16="http://schemas.microsoft.com/office/drawing/2014/main" id="{861D523F-63EA-12F9-BAE8-507C24DF2168}"/>
              </a:ext>
            </a:extLst>
          </p:cNvPr>
          <p:cNvSpPr txBox="1">
            <a:spLocks/>
          </p:cNvSpPr>
          <p:nvPr/>
        </p:nvSpPr>
        <p:spPr>
          <a:xfrm>
            <a:off x="0" y="1246195"/>
            <a:ext cx="3896411" cy="526980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a:t>Record the </a:t>
            </a:r>
            <a:r>
              <a:rPr lang="en-US" sz="3600" b="1"/>
              <a:t>position</a:t>
            </a:r>
            <a:r>
              <a:rPr lang="en-US" sz="3600"/>
              <a:t> of the:</a:t>
            </a:r>
          </a:p>
          <a:p>
            <a:pPr marL="571500" indent="-571500" algn="ctr">
              <a:buFont typeface="Arial" panose="020B0604020202020204" pitchFamily="34" charset="0"/>
              <a:buChar char="•"/>
            </a:pPr>
            <a:r>
              <a:rPr lang="en-US" sz="3600"/>
              <a:t>Canoeing</a:t>
            </a:r>
          </a:p>
          <a:p>
            <a:pPr marL="571500" indent="-571500" algn="ctr">
              <a:buFont typeface="Arial" panose="020B0604020202020204" pitchFamily="34" charset="0"/>
              <a:buChar char="•"/>
            </a:pPr>
            <a:r>
              <a:rPr lang="en-US" sz="3600"/>
              <a:t>Campfire</a:t>
            </a:r>
          </a:p>
        </p:txBody>
      </p:sp>
      <p:pic>
        <p:nvPicPr>
          <p:cNvPr id="5" name="Picture 4" descr="A camp adventure map divided into a grid with various symbols.&#10;&#10;The map includes icons for canoeing at −3, −2, archery at −1, −1, campfire at 2, 4, campground at 3, −1, camp kitchen at 1, 1, hiking at −2, 2 and toilets at −1, −4.&#10;">
            <a:extLst>
              <a:ext uri="{FF2B5EF4-FFF2-40B4-BE49-F238E27FC236}">
                <a16:creationId xmlns:a16="http://schemas.microsoft.com/office/drawing/2014/main" id="{1AC8CBB8-C678-AE24-B893-4EBF5CD11C93}"/>
              </a:ext>
            </a:extLst>
          </p:cNvPr>
          <p:cNvPicPr>
            <a:picLocks noChangeAspect="1"/>
          </p:cNvPicPr>
          <p:nvPr/>
        </p:nvPicPr>
        <p:blipFill>
          <a:blip r:embed="rId4"/>
          <a:srcRect l="3816" r="2732"/>
          <a:stretch>
            <a:fillRect/>
          </a:stretch>
        </p:blipFill>
        <p:spPr>
          <a:xfrm>
            <a:off x="4122152" y="1184676"/>
            <a:ext cx="7721848" cy="542132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rearrange arrays</a:t>
            </a:r>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9" name="Oval 18" descr="Red counter">
            <a:extLst>
              <a:ext uri="{FF2B5EF4-FFF2-40B4-BE49-F238E27FC236}">
                <a16:creationId xmlns:a16="http://schemas.microsoft.com/office/drawing/2014/main" id="{ACF75AE6-D143-21CE-A5AB-6B84A2D19B99}"/>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descr="Red counter">
            <a:extLst>
              <a:ext uri="{FF2B5EF4-FFF2-40B4-BE49-F238E27FC236}">
                <a16:creationId xmlns:a16="http://schemas.microsoft.com/office/drawing/2014/main" id="{F7EA100C-8550-9585-67FB-09CFDFE79B72}"/>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descr="Red counter">
            <a:extLst>
              <a:ext uri="{FF2B5EF4-FFF2-40B4-BE49-F238E27FC236}">
                <a16:creationId xmlns:a16="http://schemas.microsoft.com/office/drawing/2014/main" id="{D1D97A1D-EB27-BE6A-2862-01E247B63095}"/>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descr="Red counter">
            <a:extLst>
              <a:ext uri="{FF2B5EF4-FFF2-40B4-BE49-F238E27FC236}">
                <a16:creationId xmlns:a16="http://schemas.microsoft.com/office/drawing/2014/main" id="{8F40858A-DB6E-ED66-4CF1-812FF6938CF9}"/>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descr="Red counter">
            <a:extLst>
              <a:ext uri="{FF2B5EF4-FFF2-40B4-BE49-F238E27FC236}">
                <a16:creationId xmlns:a16="http://schemas.microsoft.com/office/drawing/2014/main" id="{D68FF067-C2D7-6FF4-BE38-57F2DD09CD33}"/>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descr="Red counter">
            <a:extLst>
              <a:ext uri="{FF2B5EF4-FFF2-40B4-BE49-F238E27FC236}">
                <a16:creationId xmlns:a16="http://schemas.microsoft.com/office/drawing/2014/main" id="{0A4A23FF-142E-4E54-FA39-2F7521442DF0}"/>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descr="Red counter">
            <a:extLst>
              <a:ext uri="{FF2B5EF4-FFF2-40B4-BE49-F238E27FC236}">
                <a16:creationId xmlns:a16="http://schemas.microsoft.com/office/drawing/2014/main" id="{F8D8B7A5-9E1D-5E9A-6F8F-68F46BEDCE8C}"/>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descr="Red counter">
            <a:extLst>
              <a:ext uri="{FF2B5EF4-FFF2-40B4-BE49-F238E27FC236}">
                <a16:creationId xmlns:a16="http://schemas.microsoft.com/office/drawing/2014/main" id="{C85A5AF4-E347-E6AD-7CF4-C45F959CA248}"/>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descr="Red counter">
            <a:extLst>
              <a:ext uri="{FF2B5EF4-FFF2-40B4-BE49-F238E27FC236}">
                <a16:creationId xmlns:a16="http://schemas.microsoft.com/office/drawing/2014/main" id="{F9F240BD-9B7E-CACE-6A10-46B7D723617C}"/>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descr="Red counter">
            <a:extLst>
              <a:ext uri="{FF2B5EF4-FFF2-40B4-BE49-F238E27FC236}">
                <a16:creationId xmlns:a16="http://schemas.microsoft.com/office/drawing/2014/main" id="{3D70BA58-4FBE-6BD1-7E42-61E72DC6D7C4}"/>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descr="Red counter">
            <a:extLst>
              <a:ext uri="{FF2B5EF4-FFF2-40B4-BE49-F238E27FC236}">
                <a16:creationId xmlns:a16="http://schemas.microsoft.com/office/drawing/2014/main" id="{C794897D-B781-B68F-804C-5A81D7DFB1E6}"/>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descr="Red counter">
            <a:extLst>
              <a:ext uri="{FF2B5EF4-FFF2-40B4-BE49-F238E27FC236}">
                <a16:creationId xmlns:a16="http://schemas.microsoft.com/office/drawing/2014/main" id="{8667CD60-B08C-51B2-F528-8FCB4A6BCD8C}"/>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descr="Red counter">
            <a:extLst>
              <a:ext uri="{FF2B5EF4-FFF2-40B4-BE49-F238E27FC236}">
                <a16:creationId xmlns:a16="http://schemas.microsoft.com/office/drawing/2014/main" id="{241A5EA2-5FE6-A5B7-944B-F247259C1E38}"/>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descr="Red counter">
            <a:extLst>
              <a:ext uri="{FF2B5EF4-FFF2-40B4-BE49-F238E27FC236}">
                <a16:creationId xmlns:a16="http://schemas.microsoft.com/office/drawing/2014/main" id="{B2837E32-B0EC-FB1C-3044-C88E00D51147}"/>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descr="Red counter">
            <a:extLst>
              <a:ext uri="{FF2B5EF4-FFF2-40B4-BE49-F238E27FC236}">
                <a16:creationId xmlns:a16="http://schemas.microsoft.com/office/drawing/2014/main" id="{3CF56E8B-8E2D-C23E-3662-621E3ECF66C0}"/>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descr="Red counter">
            <a:extLst>
              <a:ext uri="{FF2B5EF4-FFF2-40B4-BE49-F238E27FC236}">
                <a16:creationId xmlns:a16="http://schemas.microsoft.com/office/drawing/2014/main" id="{F38B5A7A-3825-CA70-064F-564879A01BE9}"/>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descr="Red counter">
            <a:extLst>
              <a:ext uri="{FF2B5EF4-FFF2-40B4-BE49-F238E27FC236}">
                <a16:creationId xmlns:a16="http://schemas.microsoft.com/office/drawing/2014/main" id="{E5B42B59-0AAC-B769-3ACE-CEDC6423A7C7}"/>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descr="Red counter">
            <a:extLst>
              <a:ext uri="{FF2B5EF4-FFF2-40B4-BE49-F238E27FC236}">
                <a16:creationId xmlns:a16="http://schemas.microsoft.com/office/drawing/2014/main" id="{1F7FC2AF-F4B6-A662-63B5-110F0FD98109}"/>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descr="Red counter">
            <a:extLst>
              <a:ext uri="{FF2B5EF4-FFF2-40B4-BE49-F238E27FC236}">
                <a16:creationId xmlns:a16="http://schemas.microsoft.com/office/drawing/2014/main" id="{DE32A19D-675F-7100-9F1D-8032B48EDAE1}"/>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descr="Red counter">
            <a:extLst>
              <a:ext uri="{FF2B5EF4-FFF2-40B4-BE49-F238E27FC236}">
                <a16:creationId xmlns:a16="http://schemas.microsoft.com/office/drawing/2014/main" id="{D3899E01-E131-9F44-36AF-95EEADE34CD6}"/>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descr="Red counter">
            <a:extLst>
              <a:ext uri="{FF2B5EF4-FFF2-40B4-BE49-F238E27FC236}">
                <a16:creationId xmlns:a16="http://schemas.microsoft.com/office/drawing/2014/main" id="{00F99D16-F18E-7C93-277E-94F67B3E9AF2}"/>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descr="Red counter">
            <a:extLst>
              <a:ext uri="{FF2B5EF4-FFF2-40B4-BE49-F238E27FC236}">
                <a16:creationId xmlns:a16="http://schemas.microsoft.com/office/drawing/2014/main" id="{0416D763-81E1-DDD1-E5DE-BEE3F9C7B14A}"/>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descr="Red counter">
            <a:extLst>
              <a:ext uri="{FF2B5EF4-FFF2-40B4-BE49-F238E27FC236}">
                <a16:creationId xmlns:a16="http://schemas.microsoft.com/office/drawing/2014/main" id="{D67B2790-2486-D4F7-E93D-51682101B3B1}"/>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descr="Red counter">
            <a:extLst>
              <a:ext uri="{FF2B5EF4-FFF2-40B4-BE49-F238E27FC236}">
                <a16:creationId xmlns:a16="http://schemas.microsoft.com/office/drawing/2014/main" id="{F58DA235-B75E-A6B8-3BCE-4796E4A5B064}"/>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descr="Red counter">
            <a:extLst>
              <a:ext uri="{FF2B5EF4-FFF2-40B4-BE49-F238E27FC236}">
                <a16:creationId xmlns:a16="http://schemas.microsoft.com/office/drawing/2014/main" id="{D6531086-0455-3E50-FDC8-94174DB20D7B}"/>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descr="Red counter">
            <a:extLst>
              <a:ext uri="{FF2B5EF4-FFF2-40B4-BE49-F238E27FC236}">
                <a16:creationId xmlns:a16="http://schemas.microsoft.com/office/drawing/2014/main" id="{CA861F0B-A873-1A5E-BBFF-3F984EED18A4}"/>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descr="Red counter">
            <a:extLst>
              <a:ext uri="{FF2B5EF4-FFF2-40B4-BE49-F238E27FC236}">
                <a16:creationId xmlns:a16="http://schemas.microsoft.com/office/drawing/2014/main" id="{FF53EE99-9F28-E7AA-98C0-97C02B8FA156}"/>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descr="Red counter">
            <a:extLst>
              <a:ext uri="{FF2B5EF4-FFF2-40B4-BE49-F238E27FC236}">
                <a16:creationId xmlns:a16="http://schemas.microsoft.com/office/drawing/2014/main" id="{2702CBB4-21F3-7E7B-25CE-5C5DB380D471}"/>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descr="Red counter">
            <a:extLst>
              <a:ext uri="{FF2B5EF4-FFF2-40B4-BE49-F238E27FC236}">
                <a16:creationId xmlns:a16="http://schemas.microsoft.com/office/drawing/2014/main" id="{96BB5743-F53F-8D63-16A3-AD53D6FE9ED9}"/>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descr="Red counter">
            <a:extLst>
              <a:ext uri="{FF2B5EF4-FFF2-40B4-BE49-F238E27FC236}">
                <a16:creationId xmlns:a16="http://schemas.microsoft.com/office/drawing/2014/main" id="{17117BC5-8412-B158-5170-C8CE07E3A04C}"/>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descr="Red counter">
            <a:extLst>
              <a:ext uri="{FF2B5EF4-FFF2-40B4-BE49-F238E27FC236}">
                <a16:creationId xmlns:a16="http://schemas.microsoft.com/office/drawing/2014/main" id="{0788DA09-E446-BF67-3F91-41F689706AEF}"/>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descr="Red counter">
            <a:extLst>
              <a:ext uri="{FF2B5EF4-FFF2-40B4-BE49-F238E27FC236}">
                <a16:creationId xmlns:a16="http://schemas.microsoft.com/office/drawing/2014/main" id="{D44B6B41-3D75-1A15-70F4-C4F4EE0AAC26}"/>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descr="Red counter">
            <a:extLst>
              <a:ext uri="{FF2B5EF4-FFF2-40B4-BE49-F238E27FC236}">
                <a16:creationId xmlns:a16="http://schemas.microsoft.com/office/drawing/2014/main" id="{0167392B-16D1-F886-1CB2-6A2714B34E70}"/>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descr="Red counter">
            <a:extLst>
              <a:ext uri="{FF2B5EF4-FFF2-40B4-BE49-F238E27FC236}">
                <a16:creationId xmlns:a16="http://schemas.microsoft.com/office/drawing/2014/main" id="{B02B8C3D-6095-025F-67D1-9DB2CCFB5830}"/>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descr="Red counter">
            <a:extLst>
              <a:ext uri="{FF2B5EF4-FFF2-40B4-BE49-F238E27FC236}">
                <a16:creationId xmlns:a16="http://schemas.microsoft.com/office/drawing/2014/main" id="{89DEAED1-4D9C-B823-2875-D5BA46A81CE9}"/>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descr="Red counter">
            <a:extLst>
              <a:ext uri="{FF2B5EF4-FFF2-40B4-BE49-F238E27FC236}">
                <a16:creationId xmlns:a16="http://schemas.microsoft.com/office/drawing/2014/main" id="{34AFCAB6-2610-AFE0-1B95-0FE50247B695}"/>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descr="Red counter">
            <a:extLst>
              <a:ext uri="{FF2B5EF4-FFF2-40B4-BE49-F238E27FC236}">
                <a16:creationId xmlns:a16="http://schemas.microsoft.com/office/drawing/2014/main" id="{00CE9745-8402-3DBA-2515-BE71A023C365}"/>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descr="Red counter">
            <a:extLst>
              <a:ext uri="{FF2B5EF4-FFF2-40B4-BE49-F238E27FC236}">
                <a16:creationId xmlns:a16="http://schemas.microsoft.com/office/drawing/2014/main" id="{29535BB2-D93E-D66A-D2D5-74E0E998593D}"/>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descr="Red counter">
            <a:extLst>
              <a:ext uri="{FF2B5EF4-FFF2-40B4-BE49-F238E27FC236}">
                <a16:creationId xmlns:a16="http://schemas.microsoft.com/office/drawing/2014/main" id="{47C05895-953C-5750-350D-AAACAABC706A}"/>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descr="Red counter">
            <a:extLst>
              <a:ext uri="{FF2B5EF4-FFF2-40B4-BE49-F238E27FC236}">
                <a16:creationId xmlns:a16="http://schemas.microsoft.com/office/drawing/2014/main" id="{6CB70EB1-58D0-50DD-B770-F0F2AC5C29C9}"/>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descr="Red counter">
            <a:extLst>
              <a:ext uri="{FF2B5EF4-FFF2-40B4-BE49-F238E27FC236}">
                <a16:creationId xmlns:a16="http://schemas.microsoft.com/office/drawing/2014/main" id="{E4AF52E3-4366-F516-6B64-559048A02C57}"/>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descr="Red counter">
            <a:extLst>
              <a:ext uri="{FF2B5EF4-FFF2-40B4-BE49-F238E27FC236}">
                <a16:creationId xmlns:a16="http://schemas.microsoft.com/office/drawing/2014/main" id="{4FF3BF93-DE4D-4502-28AA-77A5E1963117}"/>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descr="Red counter">
            <a:extLst>
              <a:ext uri="{FF2B5EF4-FFF2-40B4-BE49-F238E27FC236}">
                <a16:creationId xmlns:a16="http://schemas.microsoft.com/office/drawing/2014/main" id="{60AD2A77-29E4-94D9-DC48-41B67D1E7FC7}"/>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descr="Red counter">
            <a:extLst>
              <a:ext uri="{FF2B5EF4-FFF2-40B4-BE49-F238E27FC236}">
                <a16:creationId xmlns:a16="http://schemas.microsoft.com/office/drawing/2014/main" id="{F83F8C34-6073-F122-D66D-D19504855710}"/>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descr="Red counter">
            <a:extLst>
              <a:ext uri="{FF2B5EF4-FFF2-40B4-BE49-F238E27FC236}">
                <a16:creationId xmlns:a16="http://schemas.microsoft.com/office/drawing/2014/main" id="{B49C6096-92F6-7302-D988-79D0209D7358}"/>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descr="Red counter">
            <a:extLst>
              <a:ext uri="{FF2B5EF4-FFF2-40B4-BE49-F238E27FC236}">
                <a16:creationId xmlns:a16="http://schemas.microsoft.com/office/drawing/2014/main" id="{ADF94D9A-7BA5-153A-D09C-94EC6DB5A6C0}"/>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descr="Red counter">
            <a:extLst>
              <a:ext uri="{FF2B5EF4-FFF2-40B4-BE49-F238E27FC236}">
                <a16:creationId xmlns:a16="http://schemas.microsoft.com/office/drawing/2014/main" id="{141E1567-86BB-AC8F-F662-FB544F34420B}"/>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descr="Red counter">
            <a:extLst>
              <a:ext uri="{FF2B5EF4-FFF2-40B4-BE49-F238E27FC236}">
                <a16:creationId xmlns:a16="http://schemas.microsoft.com/office/drawing/2014/main" id="{DEC84D30-2057-489E-7995-CE3A4D2A9C49}"/>
              </a:ext>
            </a:extLst>
          </p:cNvPr>
          <p:cNvSpPr/>
          <p:nvPr/>
        </p:nvSpPr>
        <p:spPr>
          <a:xfrm>
            <a:off x="363688" y="1337859"/>
            <a:ext cx="442234" cy="435523"/>
          </a:xfrm>
          <a:prstGeom prst="ellipse">
            <a:avLst/>
          </a:prstGeom>
          <a:solidFill>
            <a:srgbClr val="FF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CB3FBE0A-EB8B-19DD-82A5-CB3FBD5B64A3}"/>
              </a:ext>
              <a:ext uri="{C183D7F6-B498-43B3-948B-1728B52AA6E4}">
                <adec:decorative xmlns:adec="http://schemas.microsoft.com/office/drawing/2017/decorative" val="1"/>
              </a:ext>
            </a:extLst>
          </p:cNvPr>
          <p:cNvCxnSpPr>
            <a:cxnSpLocks/>
          </p:cNvCxnSpPr>
          <p:nvPr/>
        </p:nvCxnSpPr>
        <p:spPr>
          <a:xfrm>
            <a:off x="6096000" y="1171183"/>
            <a:ext cx="0" cy="5524817"/>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905F5C11-E213-C693-3291-F8976830C066}"/>
              </a:ext>
            </a:extLst>
          </p:cNvPr>
          <p:cNvSpPr txBox="1"/>
          <p:nvPr/>
        </p:nvSpPr>
        <p:spPr>
          <a:xfrm>
            <a:off x="1221017" y="1171183"/>
            <a:ext cx="4681005" cy="1384995"/>
          </a:xfrm>
          <a:prstGeom prst="rect">
            <a:avLst/>
          </a:prstGeom>
          <a:noFill/>
        </p:spPr>
        <p:txBody>
          <a:bodyPr wrap="square">
            <a:spAutoFit/>
          </a:bodyPr>
          <a:lstStyle/>
          <a:p>
            <a:pPr algn="ctr"/>
            <a:r>
              <a:rPr lang="en-AU" sz="2800">
                <a:effectLst/>
                <a:latin typeface="Arial" panose="020B0604020202020204" pitchFamily="34" charset="0"/>
                <a:ea typeface="Calibri" panose="020F0502020204030204" pitchFamily="34" charset="0"/>
              </a:rPr>
              <a:t>I have 48 counters arranged in an array. How might they be arranged?</a:t>
            </a:r>
            <a:endParaRPr lang="en-AU" sz="2800"/>
          </a:p>
        </p:txBody>
      </p:sp>
      <p:sp>
        <p:nvSpPr>
          <p:cNvPr id="130" name="Oval 129" descr="Blue counter">
            <a:extLst>
              <a:ext uri="{FF2B5EF4-FFF2-40B4-BE49-F238E27FC236}">
                <a16:creationId xmlns:a16="http://schemas.microsoft.com/office/drawing/2014/main" id="{9162D55B-83BA-7D0D-1E53-4A80E4B2DBED}"/>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descr="Blue counter">
            <a:extLst>
              <a:ext uri="{FF2B5EF4-FFF2-40B4-BE49-F238E27FC236}">
                <a16:creationId xmlns:a16="http://schemas.microsoft.com/office/drawing/2014/main" id="{7B124ADE-B464-6752-7BAD-81C6C8F960A2}"/>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descr="Blue counter">
            <a:extLst>
              <a:ext uri="{FF2B5EF4-FFF2-40B4-BE49-F238E27FC236}">
                <a16:creationId xmlns:a16="http://schemas.microsoft.com/office/drawing/2014/main" id="{D0749CC6-6F81-5485-F44C-281C3E9FB57D}"/>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descr="Blue counter">
            <a:extLst>
              <a:ext uri="{FF2B5EF4-FFF2-40B4-BE49-F238E27FC236}">
                <a16:creationId xmlns:a16="http://schemas.microsoft.com/office/drawing/2014/main" id="{30CE3515-20C8-48A0-36D3-FE469F12980F}"/>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descr="Blue counter">
            <a:extLst>
              <a:ext uri="{FF2B5EF4-FFF2-40B4-BE49-F238E27FC236}">
                <a16:creationId xmlns:a16="http://schemas.microsoft.com/office/drawing/2014/main" id="{412E738A-FE71-0F1A-2BA3-26FC165C8730}"/>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descr="Blue counter">
            <a:extLst>
              <a:ext uri="{FF2B5EF4-FFF2-40B4-BE49-F238E27FC236}">
                <a16:creationId xmlns:a16="http://schemas.microsoft.com/office/drawing/2014/main" id="{059F29DB-FA40-3AD6-FADF-29F9AB2A6A2A}"/>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descr="Blue counter">
            <a:extLst>
              <a:ext uri="{FF2B5EF4-FFF2-40B4-BE49-F238E27FC236}">
                <a16:creationId xmlns:a16="http://schemas.microsoft.com/office/drawing/2014/main" id="{7E32FA9F-8AB0-728F-957A-4E34DBE26C31}"/>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descr="Blue counter">
            <a:extLst>
              <a:ext uri="{FF2B5EF4-FFF2-40B4-BE49-F238E27FC236}">
                <a16:creationId xmlns:a16="http://schemas.microsoft.com/office/drawing/2014/main" id="{77FFB314-EE98-94D2-A771-7150B3F0F191}"/>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descr="Blue counter">
            <a:extLst>
              <a:ext uri="{FF2B5EF4-FFF2-40B4-BE49-F238E27FC236}">
                <a16:creationId xmlns:a16="http://schemas.microsoft.com/office/drawing/2014/main" id="{BFD31D63-B0F3-C5F6-270A-1DA7F0A0C0E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descr="Blue counter">
            <a:extLst>
              <a:ext uri="{FF2B5EF4-FFF2-40B4-BE49-F238E27FC236}">
                <a16:creationId xmlns:a16="http://schemas.microsoft.com/office/drawing/2014/main" id="{B2B73F73-5904-36F9-9599-5782A1C17230}"/>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descr="Blue counter">
            <a:extLst>
              <a:ext uri="{FF2B5EF4-FFF2-40B4-BE49-F238E27FC236}">
                <a16:creationId xmlns:a16="http://schemas.microsoft.com/office/drawing/2014/main" id="{19C301DF-DA50-DA34-5E47-6F91F829562C}"/>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descr="Blue counter">
            <a:extLst>
              <a:ext uri="{FF2B5EF4-FFF2-40B4-BE49-F238E27FC236}">
                <a16:creationId xmlns:a16="http://schemas.microsoft.com/office/drawing/2014/main" id="{9ED8EC6A-DCF6-CE5F-20E2-48C25B493B94}"/>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descr="Blue counter">
            <a:extLst>
              <a:ext uri="{FF2B5EF4-FFF2-40B4-BE49-F238E27FC236}">
                <a16:creationId xmlns:a16="http://schemas.microsoft.com/office/drawing/2014/main" id="{4CE01D6B-A5C6-70FC-B77F-F2165BDE884F}"/>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descr="Blue counter">
            <a:extLst>
              <a:ext uri="{FF2B5EF4-FFF2-40B4-BE49-F238E27FC236}">
                <a16:creationId xmlns:a16="http://schemas.microsoft.com/office/drawing/2014/main" id="{C95F4D8B-39C4-7EC7-9795-A7BD82AE851C}"/>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descr="Blue counter">
            <a:extLst>
              <a:ext uri="{FF2B5EF4-FFF2-40B4-BE49-F238E27FC236}">
                <a16:creationId xmlns:a16="http://schemas.microsoft.com/office/drawing/2014/main" id="{DBF17822-3D66-D312-62B1-E47D07CA9014}"/>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descr="Blue counter">
            <a:extLst>
              <a:ext uri="{FF2B5EF4-FFF2-40B4-BE49-F238E27FC236}">
                <a16:creationId xmlns:a16="http://schemas.microsoft.com/office/drawing/2014/main" id="{764AB0CA-BB69-9219-D2CA-88927D85C122}"/>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descr="Blue counter">
            <a:extLst>
              <a:ext uri="{FF2B5EF4-FFF2-40B4-BE49-F238E27FC236}">
                <a16:creationId xmlns:a16="http://schemas.microsoft.com/office/drawing/2014/main" id="{FF69211E-BA77-32B7-B3CB-2C577BE6F4A1}"/>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descr="Blue counter">
            <a:extLst>
              <a:ext uri="{FF2B5EF4-FFF2-40B4-BE49-F238E27FC236}">
                <a16:creationId xmlns:a16="http://schemas.microsoft.com/office/drawing/2014/main" id="{EBF98DD1-4A6D-3294-E2E1-CA65C01A5E7B}"/>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descr="Blue counter">
            <a:extLst>
              <a:ext uri="{FF2B5EF4-FFF2-40B4-BE49-F238E27FC236}">
                <a16:creationId xmlns:a16="http://schemas.microsoft.com/office/drawing/2014/main" id="{6FD5B7F2-DD80-1BAC-13C8-CB27B1152A4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descr="Blue counter">
            <a:extLst>
              <a:ext uri="{FF2B5EF4-FFF2-40B4-BE49-F238E27FC236}">
                <a16:creationId xmlns:a16="http://schemas.microsoft.com/office/drawing/2014/main" id="{86C12105-DAC8-72AB-EBAB-23C0CE234D55}"/>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descr="Blue counter">
            <a:extLst>
              <a:ext uri="{FF2B5EF4-FFF2-40B4-BE49-F238E27FC236}">
                <a16:creationId xmlns:a16="http://schemas.microsoft.com/office/drawing/2014/main" id="{FE2994DF-F7C4-C1CF-18DF-A4A926CAFC8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descr="Blue counter">
            <a:extLst>
              <a:ext uri="{FF2B5EF4-FFF2-40B4-BE49-F238E27FC236}">
                <a16:creationId xmlns:a16="http://schemas.microsoft.com/office/drawing/2014/main" id="{3CE1C152-3F66-C13E-E416-2ACA07C5B065}"/>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descr="Blue counter">
            <a:extLst>
              <a:ext uri="{FF2B5EF4-FFF2-40B4-BE49-F238E27FC236}">
                <a16:creationId xmlns:a16="http://schemas.microsoft.com/office/drawing/2014/main" id="{8F86668E-1F9C-57D5-FF14-015D049C168C}"/>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descr="Blue counter">
            <a:extLst>
              <a:ext uri="{FF2B5EF4-FFF2-40B4-BE49-F238E27FC236}">
                <a16:creationId xmlns:a16="http://schemas.microsoft.com/office/drawing/2014/main" id="{88BEB93B-2B67-FD7A-70AE-8A9084A8851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descr="Blue counter">
            <a:extLst>
              <a:ext uri="{FF2B5EF4-FFF2-40B4-BE49-F238E27FC236}">
                <a16:creationId xmlns:a16="http://schemas.microsoft.com/office/drawing/2014/main" id="{222C3BE7-7E29-7958-DA18-40C94EACD98B}"/>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descr="Blue counter">
            <a:extLst>
              <a:ext uri="{FF2B5EF4-FFF2-40B4-BE49-F238E27FC236}">
                <a16:creationId xmlns:a16="http://schemas.microsoft.com/office/drawing/2014/main" id="{A24EDEA3-2BA3-0E43-84C5-7BC2F8EEAB7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descr="Blue counter">
            <a:extLst>
              <a:ext uri="{FF2B5EF4-FFF2-40B4-BE49-F238E27FC236}">
                <a16:creationId xmlns:a16="http://schemas.microsoft.com/office/drawing/2014/main" id="{F9851A8A-3210-66E0-B17A-7680DD56FD2B}"/>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descr="Blue counter">
            <a:extLst>
              <a:ext uri="{FF2B5EF4-FFF2-40B4-BE49-F238E27FC236}">
                <a16:creationId xmlns:a16="http://schemas.microsoft.com/office/drawing/2014/main" id="{DCE92C24-ABEC-C4AB-EF41-A351CCE9F0D5}"/>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descr="Blue counter">
            <a:extLst>
              <a:ext uri="{FF2B5EF4-FFF2-40B4-BE49-F238E27FC236}">
                <a16:creationId xmlns:a16="http://schemas.microsoft.com/office/drawing/2014/main" id="{63CA5DB9-A67B-BAD2-3379-420CF77DA7AD}"/>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descr="Blue counter">
            <a:extLst>
              <a:ext uri="{FF2B5EF4-FFF2-40B4-BE49-F238E27FC236}">
                <a16:creationId xmlns:a16="http://schemas.microsoft.com/office/drawing/2014/main" id="{8745EEAF-74BD-94D6-4B1E-60FE3EA85AB4}"/>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descr="Blue counter">
            <a:extLst>
              <a:ext uri="{FF2B5EF4-FFF2-40B4-BE49-F238E27FC236}">
                <a16:creationId xmlns:a16="http://schemas.microsoft.com/office/drawing/2014/main" id="{6D49E1BA-4A7E-5DEC-27E8-65CD1D730D3A}"/>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descr="Blue counter">
            <a:extLst>
              <a:ext uri="{FF2B5EF4-FFF2-40B4-BE49-F238E27FC236}">
                <a16:creationId xmlns:a16="http://schemas.microsoft.com/office/drawing/2014/main" id="{A2A1CC2C-6851-16B8-B941-5D2E1124B902}"/>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descr="Blue counter">
            <a:extLst>
              <a:ext uri="{FF2B5EF4-FFF2-40B4-BE49-F238E27FC236}">
                <a16:creationId xmlns:a16="http://schemas.microsoft.com/office/drawing/2014/main" id="{0EC5379D-DF9B-3951-11B0-B3A5CD3FC53A}"/>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descr="Blue counter">
            <a:extLst>
              <a:ext uri="{FF2B5EF4-FFF2-40B4-BE49-F238E27FC236}">
                <a16:creationId xmlns:a16="http://schemas.microsoft.com/office/drawing/2014/main" id="{F692E60F-7269-241E-4808-BEE8B0B09D52}"/>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descr="Blue counter">
            <a:extLst>
              <a:ext uri="{FF2B5EF4-FFF2-40B4-BE49-F238E27FC236}">
                <a16:creationId xmlns:a16="http://schemas.microsoft.com/office/drawing/2014/main" id="{52FBD1FD-5881-8D32-D55E-18C00B94BAF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descr="Blue counter">
            <a:extLst>
              <a:ext uri="{FF2B5EF4-FFF2-40B4-BE49-F238E27FC236}">
                <a16:creationId xmlns:a16="http://schemas.microsoft.com/office/drawing/2014/main" id="{56FEC6F6-E459-C221-FF09-11875C29B2E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descr="Blue counter">
            <a:extLst>
              <a:ext uri="{FF2B5EF4-FFF2-40B4-BE49-F238E27FC236}">
                <a16:creationId xmlns:a16="http://schemas.microsoft.com/office/drawing/2014/main" id="{D22BA2E8-6EA2-BAD3-D325-B539A1C43AB0}"/>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descr="Blue counter">
            <a:extLst>
              <a:ext uri="{FF2B5EF4-FFF2-40B4-BE49-F238E27FC236}">
                <a16:creationId xmlns:a16="http://schemas.microsoft.com/office/drawing/2014/main" id="{2BA568D5-9989-C0BB-7CDC-B0DBB9B73A8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descr="Blue counter">
            <a:extLst>
              <a:ext uri="{FF2B5EF4-FFF2-40B4-BE49-F238E27FC236}">
                <a16:creationId xmlns:a16="http://schemas.microsoft.com/office/drawing/2014/main" id="{D4842677-BFBF-4AC0-09F9-3814310128D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descr="Blue counter">
            <a:extLst>
              <a:ext uri="{FF2B5EF4-FFF2-40B4-BE49-F238E27FC236}">
                <a16:creationId xmlns:a16="http://schemas.microsoft.com/office/drawing/2014/main" id="{93457C9C-0451-853C-9F6A-601220CA100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descr="Blue counter">
            <a:extLst>
              <a:ext uri="{FF2B5EF4-FFF2-40B4-BE49-F238E27FC236}">
                <a16:creationId xmlns:a16="http://schemas.microsoft.com/office/drawing/2014/main" id="{C56D8F58-80D1-82D5-EAD8-1FDC4F6806C8}"/>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descr="Blue counter">
            <a:extLst>
              <a:ext uri="{FF2B5EF4-FFF2-40B4-BE49-F238E27FC236}">
                <a16:creationId xmlns:a16="http://schemas.microsoft.com/office/drawing/2014/main" id="{23D7B88E-1A43-0958-02F2-75555374DC0A}"/>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descr="Blue counter">
            <a:extLst>
              <a:ext uri="{FF2B5EF4-FFF2-40B4-BE49-F238E27FC236}">
                <a16:creationId xmlns:a16="http://schemas.microsoft.com/office/drawing/2014/main" id="{04CDAF5F-8A4A-97C7-22F6-E890957E8AA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descr="Blue counter">
            <a:extLst>
              <a:ext uri="{FF2B5EF4-FFF2-40B4-BE49-F238E27FC236}">
                <a16:creationId xmlns:a16="http://schemas.microsoft.com/office/drawing/2014/main" id="{42326BE3-9AA6-5FA1-1967-3A2758CA9CC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descr="Blue counter">
            <a:extLst>
              <a:ext uri="{FF2B5EF4-FFF2-40B4-BE49-F238E27FC236}">
                <a16:creationId xmlns:a16="http://schemas.microsoft.com/office/drawing/2014/main" id="{E5B86473-7F88-D388-DD8A-B601FF1984F1}"/>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descr="Blue counter">
            <a:extLst>
              <a:ext uri="{FF2B5EF4-FFF2-40B4-BE49-F238E27FC236}">
                <a16:creationId xmlns:a16="http://schemas.microsoft.com/office/drawing/2014/main" id="{A4774D41-156E-C059-3981-C8A3A8C6678B}"/>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descr="Blue counter">
            <a:extLst>
              <a:ext uri="{FF2B5EF4-FFF2-40B4-BE49-F238E27FC236}">
                <a16:creationId xmlns:a16="http://schemas.microsoft.com/office/drawing/2014/main" id="{B01E8A1D-4251-4BA3-7F9E-17B12A79F1FD}"/>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descr="Blue counter">
            <a:extLst>
              <a:ext uri="{FF2B5EF4-FFF2-40B4-BE49-F238E27FC236}">
                <a16:creationId xmlns:a16="http://schemas.microsoft.com/office/drawing/2014/main" id="{541B917E-BDB0-DE5E-E1BF-3298422CF374}"/>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TextBox 177">
            <a:extLst>
              <a:ext uri="{FF2B5EF4-FFF2-40B4-BE49-F238E27FC236}">
                <a16:creationId xmlns:a16="http://schemas.microsoft.com/office/drawing/2014/main" id="{9CD46AB8-C641-B840-54FC-E607E06E1880}"/>
              </a:ext>
            </a:extLst>
          </p:cNvPr>
          <p:cNvSpPr txBox="1"/>
          <p:nvPr/>
        </p:nvSpPr>
        <p:spPr>
          <a:xfrm>
            <a:off x="6289979" y="1171182"/>
            <a:ext cx="4681005" cy="1384995"/>
          </a:xfrm>
          <a:prstGeom prst="rect">
            <a:avLst/>
          </a:prstGeom>
          <a:noFill/>
        </p:spPr>
        <p:txBody>
          <a:bodyPr wrap="square">
            <a:spAutoFit/>
          </a:bodyPr>
          <a:lstStyle/>
          <a:p>
            <a:pPr algn="ctr"/>
            <a:r>
              <a:rPr lang="en-AU" sz="2800">
                <a:effectLst/>
                <a:latin typeface="Arial" panose="020B0604020202020204" pitchFamily="34" charset="0"/>
                <a:ea typeface="Calibri" panose="020F0502020204030204" pitchFamily="34" charset="0"/>
              </a:rPr>
              <a:t>I have 96 counters arranged in an array. How might they be arranged?</a:t>
            </a:r>
            <a:endParaRPr lang="en-AU" sz="2800"/>
          </a:p>
        </p:txBody>
      </p:sp>
      <p:sp>
        <p:nvSpPr>
          <p:cNvPr id="179" name="Oval 178" descr="Blue counter">
            <a:extLst>
              <a:ext uri="{FF2B5EF4-FFF2-40B4-BE49-F238E27FC236}">
                <a16:creationId xmlns:a16="http://schemas.microsoft.com/office/drawing/2014/main" id="{0FD46DE5-31B6-D401-2115-A9B292787E14}"/>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descr="Blue counter">
            <a:extLst>
              <a:ext uri="{FF2B5EF4-FFF2-40B4-BE49-F238E27FC236}">
                <a16:creationId xmlns:a16="http://schemas.microsoft.com/office/drawing/2014/main" id="{FAF5F2A1-B8D8-CDD9-F3CC-6F4BDA275EC7}"/>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descr="Blue counter">
            <a:extLst>
              <a:ext uri="{FF2B5EF4-FFF2-40B4-BE49-F238E27FC236}">
                <a16:creationId xmlns:a16="http://schemas.microsoft.com/office/drawing/2014/main" id="{9E334B02-588B-BD0B-A5D3-4325CD4BBE0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descr="Blue counter">
            <a:extLst>
              <a:ext uri="{FF2B5EF4-FFF2-40B4-BE49-F238E27FC236}">
                <a16:creationId xmlns:a16="http://schemas.microsoft.com/office/drawing/2014/main" id="{302C96AD-9671-3A2C-7C76-52BE2D550F3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descr="Blue counter">
            <a:extLst>
              <a:ext uri="{FF2B5EF4-FFF2-40B4-BE49-F238E27FC236}">
                <a16:creationId xmlns:a16="http://schemas.microsoft.com/office/drawing/2014/main" id="{EF5B418C-24F4-AC40-67D2-C55A32E8FBAB}"/>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descr="Blue counter">
            <a:extLst>
              <a:ext uri="{FF2B5EF4-FFF2-40B4-BE49-F238E27FC236}">
                <a16:creationId xmlns:a16="http://schemas.microsoft.com/office/drawing/2014/main" id="{1464E30B-8CB5-BE81-1DC4-75B2FEC206B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descr="Blue counter">
            <a:extLst>
              <a:ext uri="{FF2B5EF4-FFF2-40B4-BE49-F238E27FC236}">
                <a16:creationId xmlns:a16="http://schemas.microsoft.com/office/drawing/2014/main" id="{DE01C7F6-106B-A895-AE68-39FEBB36A5F8}"/>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descr="Blue counter">
            <a:extLst>
              <a:ext uri="{FF2B5EF4-FFF2-40B4-BE49-F238E27FC236}">
                <a16:creationId xmlns:a16="http://schemas.microsoft.com/office/drawing/2014/main" id="{01906A2C-9633-484A-BD2E-116871D9D62C}"/>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descr="Blue counter">
            <a:extLst>
              <a:ext uri="{FF2B5EF4-FFF2-40B4-BE49-F238E27FC236}">
                <a16:creationId xmlns:a16="http://schemas.microsoft.com/office/drawing/2014/main" id="{F5022429-20E3-7C51-C9DC-395A01550F2C}"/>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descr="Blue counter">
            <a:extLst>
              <a:ext uri="{FF2B5EF4-FFF2-40B4-BE49-F238E27FC236}">
                <a16:creationId xmlns:a16="http://schemas.microsoft.com/office/drawing/2014/main" id="{10014717-1C30-A3FD-E24A-29A53E97870B}"/>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descr="Blue counter">
            <a:extLst>
              <a:ext uri="{FF2B5EF4-FFF2-40B4-BE49-F238E27FC236}">
                <a16:creationId xmlns:a16="http://schemas.microsoft.com/office/drawing/2014/main" id="{24825670-02DE-1089-1572-CCE4AE4DC341}"/>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descr="Blue counter">
            <a:extLst>
              <a:ext uri="{FF2B5EF4-FFF2-40B4-BE49-F238E27FC236}">
                <a16:creationId xmlns:a16="http://schemas.microsoft.com/office/drawing/2014/main" id="{F8A78203-AA02-AA34-D871-EDC2A2E2649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descr="Blue counter">
            <a:extLst>
              <a:ext uri="{FF2B5EF4-FFF2-40B4-BE49-F238E27FC236}">
                <a16:creationId xmlns:a16="http://schemas.microsoft.com/office/drawing/2014/main" id="{1509C1C4-3061-8792-011D-D61509D990D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descr="Blue counter">
            <a:extLst>
              <a:ext uri="{FF2B5EF4-FFF2-40B4-BE49-F238E27FC236}">
                <a16:creationId xmlns:a16="http://schemas.microsoft.com/office/drawing/2014/main" id="{4DC399BC-82A2-9F5A-DA6C-42C3163AEE3F}"/>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descr="Blue counter">
            <a:extLst>
              <a:ext uri="{FF2B5EF4-FFF2-40B4-BE49-F238E27FC236}">
                <a16:creationId xmlns:a16="http://schemas.microsoft.com/office/drawing/2014/main" id="{541699B4-A0DD-65A2-83D6-B7E88199DFCF}"/>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descr="Blue counter">
            <a:extLst>
              <a:ext uri="{FF2B5EF4-FFF2-40B4-BE49-F238E27FC236}">
                <a16:creationId xmlns:a16="http://schemas.microsoft.com/office/drawing/2014/main" id="{2FA725ED-F1C9-1100-C4D6-04BB91B7844D}"/>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descr="Blue counter">
            <a:extLst>
              <a:ext uri="{FF2B5EF4-FFF2-40B4-BE49-F238E27FC236}">
                <a16:creationId xmlns:a16="http://schemas.microsoft.com/office/drawing/2014/main" id="{F4664D2D-63BA-2862-2E04-328D04A711E0}"/>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descr="Blue counter">
            <a:extLst>
              <a:ext uri="{FF2B5EF4-FFF2-40B4-BE49-F238E27FC236}">
                <a16:creationId xmlns:a16="http://schemas.microsoft.com/office/drawing/2014/main" id="{367302A1-211A-3FB7-636E-0158679545D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descr="Blue counter">
            <a:extLst>
              <a:ext uri="{FF2B5EF4-FFF2-40B4-BE49-F238E27FC236}">
                <a16:creationId xmlns:a16="http://schemas.microsoft.com/office/drawing/2014/main" id="{8CBC64DB-DFA2-5141-AE8E-E951F7F4E32F}"/>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descr="Blue counter">
            <a:extLst>
              <a:ext uri="{FF2B5EF4-FFF2-40B4-BE49-F238E27FC236}">
                <a16:creationId xmlns:a16="http://schemas.microsoft.com/office/drawing/2014/main" id="{5E1D1D2F-7D69-91E1-FEE0-6977712DE3E0}"/>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descr="Blue counter">
            <a:extLst>
              <a:ext uri="{FF2B5EF4-FFF2-40B4-BE49-F238E27FC236}">
                <a16:creationId xmlns:a16="http://schemas.microsoft.com/office/drawing/2014/main" id="{0B3FE288-B4D4-2209-EDF4-E3213B2EB772}"/>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descr="Blue counter">
            <a:extLst>
              <a:ext uri="{FF2B5EF4-FFF2-40B4-BE49-F238E27FC236}">
                <a16:creationId xmlns:a16="http://schemas.microsoft.com/office/drawing/2014/main" id="{C7C4C0DD-7C5E-D37A-4D60-6855B949E0F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descr="Blue counter">
            <a:extLst>
              <a:ext uri="{FF2B5EF4-FFF2-40B4-BE49-F238E27FC236}">
                <a16:creationId xmlns:a16="http://schemas.microsoft.com/office/drawing/2014/main" id="{28118363-D21F-8628-B3AB-C636A8020577}"/>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descr="Blue counter">
            <a:extLst>
              <a:ext uri="{FF2B5EF4-FFF2-40B4-BE49-F238E27FC236}">
                <a16:creationId xmlns:a16="http://schemas.microsoft.com/office/drawing/2014/main" id="{28BFBAAB-7DA8-1778-987B-028FCFDE0F9D}"/>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descr="Blue counter">
            <a:extLst>
              <a:ext uri="{FF2B5EF4-FFF2-40B4-BE49-F238E27FC236}">
                <a16:creationId xmlns:a16="http://schemas.microsoft.com/office/drawing/2014/main" id="{43CCE099-FCAB-C2F2-D800-E1CFB97D85C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descr="Blue counter">
            <a:extLst>
              <a:ext uri="{FF2B5EF4-FFF2-40B4-BE49-F238E27FC236}">
                <a16:creationId xmlns:a16="http://schemas.microsoft.com/office/drawing/2014/main" id="{8BC075BE-92CE-A066-352E-A7DBBCD84BC2}"/>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descr="Blue counter">
            <a:extLst>
              <a:ext uri="{FF2B5EF4-FFF2-40B4-BE49-F238E27FC236}">
                <a16:creationId xmlns:a16="http://schemas.microsoft.com/office/drawing/2014/main" id="{46FC17DC-51EF-9BBE-3637-02C8942D8D98}"/>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descr="Blue counter">
            <a:extLst>
              <a:ext uri="{FF2B5EF4-FFF2-40B4-BE49-F238E27FC236}">
                <a16:creationId xmlns:a16="http://schemas.microsoft.com/office/drawing/2014/main" id="{535BEEE6-1F77-B88D-C3BB-6ABE9FA286B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descr="Blue counter">
            <a:extLst>
              <a:ext uri="{FF2B5EF4-FFF2-40B4-BE49-F238E27FC236}">
                <a16:creationId xmlns:a16="http://schemas.microsoft.com/office/drawing/2014/main" id="{7B9C0E00-8F0D-170D-6610-9E2CAB93E00A}"/>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descr="Blue counter">
            <a:extLst>
              <a:ext uri="{FF2B5EF4-FFF2-40B4-BE49-F238E27FC236}">
                <a16:creationId xmlns:a16="http://schemas.microsoft.com/office/drawing/2014/main" id="{E5AF302B-DADB-FB06-2521-73C2B5E8964E}"/>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descr="Blue counter">
            <a:extLst>
              <a:ext uri="{FF2B5EF4-FFF2-40B4-BE49-F238E27FC236}">
                <a16:creationId xmlns:a16="http://schemas.microsoft.com/office/drawing/2014/main" id="{EA9DE6CC-BB94-54C9-E617-F5BB1D98CEF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descr="Blue counter">
            <a:extLst>
              <a:ext uri="{FF2B5EF4-FFF2-40B4-BE49-F238E27FC236}">
                <a16:creationId xmlns:a16="http://schemas.microsoft.com/office/drawing/2014/main" id="{1D50C145-9A59-6A51-9678-2C776CBB95C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descr="Blue counter">
            <a:extLst>
              <a:ext uri="{FF2B5EF4-FFF2-40B4-BE49-F238E27FC236}">
                <a16:creationId xmlns:a16="http://schemas.microsoft.com/office/drawing/2014/main" id="{81249048-FA72-DBD8-71BB-BA67E565556F}"/>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descr="Blue counter">
            <a:extLst>
              <a:ext uri="{FF2B5EF4-FFF2-40B4-BE49-F238E27FC236}">
                <a16:creationId xmlns:a16="http://schemas.microsoft.com/office/drawing/2014/main" id="{CDDB511B-0E91-3D7B-98F8-D983F38BEEA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descr="Blue counter">
            <a:extLst>
              <a:ext uri="{FF2B5EF4-FFF2-40B4-BE49-F238E27FC236}">
                <a16:creationId xmlns:a16="http://schemas.microsoft.com/office/drawing/2014/main" id="{F9802A13-A3F6-CDCD-DDFD-43FF395EF85C}"/>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descr="Blue counter">
            <a:extLst>
              <a:ext uri="{FF2B5EF4-FFF2-40B4-BE49-F238E27FC236}">
                <a16:creationId xmlns:a16="http://schemas.microsoft.com/office/drawing/2014/main" id="{DA1391C9-8FA5-820C-5020-D8DFF209600D}"/>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descr="Blue counter">
            <a:extLst>
              <a:ext uri="{FF2B5EF4-FFF2-40B4-BE49-F238E27FC236}">
                <a16:creationId xmlns:a16="http://schemas.microsoft.com/office/drawing/2014/main" id="{9F0CE2D2-DBDE-A0F2-CD16-0C6BD314E64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descr="Blue counter">
            <a:extLst>
              <a:ext uri="{FF2B5EF4-FFF2-40B4-BE49-F238E27FC236}">
                <a16:creationId xmlns:a16="http://schemas.microsoft.com/office/drawing/2014/main" id="{9FB2494F-1752-7CFC-F423-F199E2E3D5E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descr="Blue counter">
            <a:extLst>
              <a:ext uri="{FF2B5EF4-FFF2-40B4-BE49-F238E27FC236}">
                <a16:creationId xmlns:a16="http://schemas.microsoft.com/office/drawing/2014/main" id="{3C513D07-B8F4-5F60-35F2-0C44EE586C0B}"/>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descr="Blue counter">
            <a:extLst>
              <a:ext uri="{FF2B5EF4-FFF2-40B4-BE49-F238E27FC236}">
                <a16:creationId xmlns:a16="http://schemas.microsoft.com/office/drawing/2014/main" id="{044E8FC9-3DA6-5EAB-EE27-A91F146FFCDA}"/>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descr="Blue counter">
            <a:extLst>
              <a:ext uri="{FF2B5EF4-FFF2-40B4-BE49-F238E27FC236}">
                <a16:creationId xmlns:a16="http://schemas.microsoft.com/office/drawing/2014/main" id="{DC19910B-DED2-5A71-AFE1-33145D25CE8E}"/>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descr="Blue counter">
            <a:extLst>
              <a:ext uri="{FF2B5EF4-FFF2-40B4-BE49-F238E27FC236}">
                <a16:creationId xmlns:a16="http://schemas.microsoft.com/office/drawing/2014/main" id="{77655474-1596-766F-32D4-B23D39F07270}"/>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descr="Blue counter">
            <a:extLst>
              <a:ext uri="{FF2B5EF4-FFF2-40B4-BE49-F238E27FC236}">
                <a16:creationId xmlns:a16="http://schemas.microsoft.com/office/drawing/2014/main" id="{388D1D89-6F4C-148B-2B84-5D97E8B415F9}"/>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descr="Blue counter">
            <a:extLst>
              <a:ext uri="{FF2B5EF4-FFF2-40B4-BE49-F238E27FC236}">
                <a16:creationId xmlns:a16="http://schemas.microsoft.com/office/drawing/2014/main" id="{2CDDE528-D5AC-328C-3756-E85675C2C3F3}"/>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descr="Blue counter">
            <a:extLst>
              <a:ext uri="{FF2B5EF4-FFF2-40B4-BE49-F238E27FC236}">
                <a16:creationId xmlns:a16="http://schemas.microsoft.com/office/drawing/2014/main" id="{A9AC8C1B-8761-2C63-6F00-C7744F0E590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descr="Blue counter">
            <a:extLst>
              <a:ext uri="{FF2B5EF4-FFF2-40B4-BE49-F238E27FC236}">
                <a16:creationId xmlns:a16="http://schemas.microsoft.com/office/drawing/2014/main" id="{A3443615-5E0C-DB24-3BC8-BF2664259DF1}"/>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descr="Blue counter">
            <a:extLst>
              <a:ext uri="{FF2B5EF4-FFF2-40B4-BE49-F238E27FC236}">
                <a16:creationId xmlns:a16="http://schemas.microsoft.com/office/drawing/2014/main" id="{2F6FD6E1-4CF1-1C89-BC1B-B05DB1443904}"/>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descr="Blue counter">
            <a:extLst>
              <a:ext uri="{FF2B5EF4-FFF2-40B4-BE49-F238E27FC236}">
                <a16:creationId xmlns:a16="http://schemas.microsoft.com/office/drawing/2014/main" id="{B5F7FA49-82AE-81B9-3C04-6EFEEF02ACB6}"/>
              </a:ext>
            </a:extLst>
          </p:cNvPr>
          <p:cNvSpPr/>
          <p:nvPr/>
        </p:nvSpPr>
        <p:spPr>
          <a:xfrm>
            <a:off x="11401766" y="1337859"/>
            <a:ext cx="442234" cy="43552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474481" y="1959394"/>
            <a:ext cx="11243037" cy="893226"/>
          </a:xfrm>
        </p:spPr>
        <p:txBody>
          <a:bodyPr/>
          <a:lstStyle/>
          <a:p>
            <a:pPr algn="ctr"/>
            <a:r>
              <a:rPr lang="en-US" sz="5400"/>
              <a:t>4.6 plus 6 tenths equals</a:t>
            </a:r>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44933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88DB8945-0752-844A-1251-67CD39D7F34B}"/>
              </a:ext>
            </a:extLst>
          </p:cNvPr>
          <p:cNvSpPr txBox="1"/>
          <p:nvPr/>
        </p:nvSpPr>
        <p:spPr>
          <a:xfrm>
            <a:off x="707180" y="5433547"/>
            <a:ext cx="1411064" cy="769441"/>
          </a:xfrm>
          <a:prstGeom prst="rect">
            <a:avLst/>
          </a:prstGeom>
          <a:noFill/>
        </p:spPr>
        <p:txBody>
          <a:bodyPr wrap="square">
            <a:spAutoFit/>
          </a:bodyPr>
          <a:lstStyle/>
          <a:p>
            <a:pPr algn="ctr"/>
            <a:r>
              <a:rPr lang="en-US" sz="4400"/>
              <a:t>5.2</a:t>
            </a:r>
            <a:endParaRPr lang="en-AU" sz="4400"/>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44933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CB66A649-0CF1-CE15-DC21-6FC6E78F5312}"/>
              </a:ext>
            </a:extLst>
          </p:cNvPr>
          <p:cNvSpPr txBox="1"/>
          <p:nvPr/>
        </p:nvSpPr>
        <p:spPr>
          <a:xfrm>
            <a:off x="3690460" y="5433546"/>
            <a:ext cx="1411064" cy="769441"/>
          </a:xfrm>
          <a:prstGeom prst="rect">
            <a:avLst/>
          </a:prstGeom>
          <a:noFill/>
        </p:spPr>
        <p:txBody>
          <a:bodyPr wrap="square">
            <a:spAutoFit/>
          </a:bodyPr>
          <a:lstStyle/>
          <a:p>
            <a:pPr algn="ctr"/>
            <a:r>
              <a:rPr lang="en-US" sz="4400"/>
              <a:t>10.6</a:t>
            </a:r>
            <a:endParaRPr lang="en-AU" sz="4400"/>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44933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ED0EB2ED-AE37-A0D6-5DF6-6E3DA24C47FF}"/>
              </a:ext>
            </a:extLst>
          </p:cNvPr>
          <p:cNvSpPr txBox="1"/>
          <p:nvPr/>
        </p:nvSpPr>
        <p:spPr>
          <a:xfrm>
            <a:off x="6782894" y="5414448"/>
            <a:ext cx="1411064" cy="769441"/>
          </a:xfrm>
          <a:prstGeom prst="rect">
            <a:avLst/>
          </a:prstGeom>
          <a:noFill/>
        </p:spPr>
        <p:txBody>
          <a:bodyPr wrap="square">
            <a:spAutoFit/>
          </a:bodyPr>
          <a:lstStyle/>
          <a:p>
            <a:pPr algn="ctr"/>
            <a:r>
              <a:rPr lang="en-US" sz="4400"/>
              <a:t>4.12</a:t>
            </a:r>
            <a:endParaRPr lang="en-AU" sz="4400"/>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44933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9E898412-3AA7-E67A-E4BE-CD93617FE747}"/>
              </a:ext>
            </a:extLst>
          </p:cNvPr>
          <p:cNvSpPr txBox="1"/>
          <p:nvPr/>
        </p:nvSpPr>
        <p:spPr>
          <a:xfrm>
            <a:off x="9712936" y="5414447"/>
            <a:ext cx="1411064" cy="769441"/>
          </a:xfrm>
          <a:prstGeom prst="rect">
            <a:avLst/>
          </a:prstGeom>
          <a:noFill/>
        </p:spPr>
        <p:txBody>
          <a:bodyPr wrap="square">
            <a:spAutoFit/>
          </a:bodyPr>
          <a:lstStyle/>
          <a:p>
            <a:pPr algn="ctr"/>
            <a:r>
              <a:rPr lang="en-US" sz="4400"/>
              <a:t>5.4</a:t>
            </a:r>
            <a:endParaRPr lang="en-AU" sz="4400"/>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E43AC1DA-1099-F632-8C60-2588FCC0885A}"/>
              </a:ext>
            </a:extLst>
          </p:cNvPr>
          <p:cNvSpPr txBox="1">
            <a:spLocks/>
          </p:cNvSpPr>
          <p:nvPr/>
        </p:nvSpPr>
        <p:spPr>
          <a:xfrm>
            <a:off x="912366" y="1475715"/>
            <a:ext cx="10367267" cy="202123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How can we </a:t>
            </a:r>
            <a:r>
              <a:rPr lang="en-AU" sz="4400" b="1"/>
              <a:t>express</a:t>
            </a:r>
            <a:r>
              <a:rPr lang="en-AU" sz="4400"/>
              <a:t> 4 cakes </a:t>
            </a:r>
            <a:r>
              <a:rPr lang="en-AU" sz="4400" b="1"/>
              <a:t>shared</a:t>
            </a:r>
            <a:r>
              <a:rPr lang="en-AU" sz="4400"/>
              <a:t> </a:t>
            </a:r>
            <a:r>
              <a:rPr lang="en-AU" sz="4400" b="1"/>
              <a:t>between</a:t>
            </a:r>
            <a:r>
              <a:rPr lang="en-AU" sz="4400"/>
              <a:t> 3 people?</a:t>
            </a:r>
          </a:p>
        </p:txBody>
      </p:sp>
      <p:sp>
        <p:nvSpPr>
          <p:cNvPr id="5" name="Text Placeholder 5">
            <a:extLst>
              <a:ext uri="{FF2B5EF4-FFF2-40B4-BE49-F238E27FC236}">
                <a16:creationId xmlns:a16="http://schemas.microsoft.com/office/drawing/2014/main" id="{8BA58329-BB6F-81F7-2214-AAE9A510CC29}"/>
              </a:ext>
            </a:extLst>
          </p:cNvPr>
          <p:cNvSpPr txBox="1">
            <a:spLocks/>
          </p:cNvSpPr>
          <p:nvPr/>
        </p:nvSpPr>
        <p:spPr>
          <a:xfrm>
            <a:off x="912366" y="4194040"/>
            <a:ext cx="10367267" cy="204333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your </a:t>
            </a:r>
            <a:r>
              <a:rPr lang="en-AU" sz="4400" b="1"/>
              <a:t>answer</a:t>
            </a:r>
            <a:r>
              <a:rPr lang="en-AU" sz="4400"/>
              <a:t> using fractions, words and division symbols.</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20B77BF-0E80-DD37-BD01-2677237AB8C6}"/>
              </a:ext>
            </a:extLst>
          </p:cNvPr>
          <p:cNvSpPr txBox="1"/>
          <p:nvPr/>
        </p:nvSpPr>
        <p:spPr>
          <a:xfrm>
            <a:off x="1277600" y="1681000"/>
            <a:ext cx="10206400" cy="3907000"/>
          </a:xfrm>
          <a:prstGeom prst="rect">
            <a:avLst/>
          </a:prstGeom>
          <a:noFill/>
        </p:spPr>
        <p:txBody>
          <a:bodyPr wrap="square" lIns="0" tIns="0" rIns="0" bIns="0" rtlCol="0">
            <a:noAutofit/>
          </a:bodyPr>
          <a:lstStyle/>
          <a:p>
            <a:pPr algn="ctr">
              <a:lnSpc>
                <a:spcPct val="150000"/>
              </a:lnSpc>
            </a:pPr>
            <a:r>
              <a:rPr lang="en-US" sz="4400"/>
              <a:t>3.14 m</a:t>
            </a:r>
            <a:r>
              <a:rPr lang="en-US" sz="4400" b="1"/>
              <a:t> is equivalent to </a:t>
            </a:r>
          </a:p>
          <a:p>
            <a:pPr algn="ctr">
              <a:lnSpc>
                <a:spcPct val="150000"/>
              </a:lnSpc>
            </a:pPr>
            <a:r>
              <a:rPr lang="en-US" sz="4400"/>
              <a:t>________ centimetres or </a:t>
            </a:r>
          </a:p>
          <a:p>
            <a:pPr algn="ctr">
              <a:lnSpc>
                <a:spcPct val="150000"/>
              </a:lnSpc>
            </a:pPr>
            <a:r>
              <a:rPr lang="en-US" sz="4400"/>
              <a:t>_________ </a:t>
            </a:r>
            <a:r>
              <a:rPr lang="en-US" sz="4400" err="1"/>
              <a:t>millimetres</a:t>
            </a:r>
            <a:r>
              <a:rPr lang="en-US" sz="4400"/>
              <a:t>.</a:t>
            </a:r>
          </a:p>
        </p:txBody>
      </p:sp>
      <p:sp>
        <p:nvSpPr>
          <p:cNvPr id="5" name="TextBox 4">
            <a:extLst>
              <a:ext uri="{FF2B5EF4-FFF2-40B4-BE49-F238E27FC236}">
                <a16:creationId xmlns:a16="http://schemas.microsoft.com/office/drawing/2014/main" id="{8F0E4ACC-D87C-6671-FFB5-081C6DC06089}"/>
              </a:ext>
            </a:extLst>
          </p:cNvPr>
          <p:cNvSpPr txBox="1"/>
          <p:nvPr/>
        </p:nvSpPr>
        <p:spPr>
          <a:xfrm>
            <a:off x="573505" y="5836559"/>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E3C866B-3275-6438-177B-C186C6E1234F}"/>
              </a:ext>
            </a:extLst>
          </p:cNvPr>
          <p:cNvSpPr txBox="1"/>
          <p:nvPr/>
        </p:nvSpPr>
        <p:spPr>
          <a:xfrm>
            <a:off x="659894" y="782363"/>
            <a:ext cx="10872207" cy="545601"/>
          </a:xfrm>
          <a:prstGeom prst="rect">
            <a:avLst/>
          </a:prstGeom>
          <a:noFill/>
        </p:spPr>
        <p:txBody>
          <a:bodyPr wrap="square" lIns="0" tIns="0" rIns="0" bIns="0" rtlCol="0">
            <a:noAutofit/>
          </a:bodyPr>
          <a:lstStyle/>
          <a:p>
            <a:pPr algn="ctr">
              <a:lnSpc>
                <a:spcPct val="150000"/>
              </a:lnSpc>
            </a:pPr>
            <a:r>
              <a:rPr lang="en-AU" sz="4400" b="1"/>
              <a:t>Arrange</a:t>
            </a:r>
            <a:r>
              <a:rPr lang="en-AU" sz="4400"/>
              <a:t> the following numbers in </a:t>
            </a:r>
            <a:r>
              <a:rPr lang="en-AU" sz="4400" b="1"/>
              <a:t>ascending</a:t>
            </a:r>
            <a:r>
              <a:rPr lang="en-AU" sz="4400"/>
              <a:t> order:</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7" name="TextBox 6">
            <a:extLst>
              <a:ext uri="{FF2B5EF4-FFF2-40B4-BE49-F238E27FC236}">
                <a16:creationId xmlns:a16="http://schemas.microsoft.com/office/drawing/2014/main" id="{90890DE3-7969-E552-B47C-7F3FC83DB6BA}"/>
              </a:ext>
            </a:extLst>
          </p:cNvPr>
          <p:cNvSpPr txBox="1"/>
          <p:nvPr/>
        </p:nvSpPr>
        <p:spPr>
          <a:xfrm>
            <a:off x="799010" y="5486987"/>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8" name="Rectangle: Rounded Corners 7">
            <a:extLst>
              <a:ext uri="{FF2B5EF4-FFF2-40B4-BE49-F238E27FC236}">
                <a16:creationId xmlns:a16="http://schemas.microsoft.com/office/drawing/2014/main" id="{06EF7496-A2E0-0941-D3FC-C14D9918FCFE}"/>
              </a:ext>
            </a:extLst>
          </p:cNvPr>
          <p:cNvSpPr/>
          <p:nvPr/>
        </p:nvSpPr>
        <p:spPr>
          <a:xfrm>
            <a:off x="446340" y="3276626"/>
            <a:ext cx="3377945"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3 452 478</a:t>
            </a:r>
          </a:p>
        </p:txBody>
      </p:sp>
      <p:sp>
        <p:nvSpPr>
          <p:cNvPr id="12" name="Rectangle: Rounded Corners 11">
            <a:extLst>
              <a:ext uri="{FF2B5EF4-FFF2-40B4-BE49-F238E27FC236}">
                <a16:creationId xmlns:a16="http://schemas.microsoft.com/office/drawing/2014/main" id="{F39865CD-31C7-4ED7-D8EA-6E4668E00BB2}"/>
              </a:ext>
            </a:extLst>
          </p:cNvPr>
          <p:cNvSpPr/>
          <p:nvPr/>
        </p:nvSpPr>
        <p:spPr>
          <a:xfrm>
            <a:off x="4419027" y="3276626"/>
            <a:ext cx="3377945"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8 601 329</a:t>
            </a:r>
          </a:p>
        </p:txBody>
      </p:sp>
      <p:sp>
        <p:nvSpPr>
          <p:cNvPr id="13" name="Rectangle: Rounded Corners 12">
            <a:extLst>
              <a:ext uri="{FF2B5EF4-FFF2-40B4-BE49-F238E27FC236}">
                <a16:creationId xmlns:a16="http://schemas.microsoft.com/office/drawing/2014/main" id="{15E05DA6-81C9-FB05-AD79-7AD2D73B8B50}"/>
              </a:ext>
            </a:extLst>
          </p:cNvPr>
          <p:cNvSpPr/>
          <p:nvPr/>
        </p:nvSpPr>
        <p:spPr>
          <a:xfrm>
            <a:off x="8466055" y="3276626"/>
            <a:ext cx="3377945"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3 452 577</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D359179-CAC6-3C30-C4FD-A690F40A46CE}"/>
              </a:ext>
            </a:extLst>
          </p:cNvPr>
          <p:cNvSpPr txBox="1"/>
          <p:nvPr/>
        </p:nvSpPr>
        <p:spPr>
          <a:xfrm>
            <a:off x="360000" y="1047878"/>
            <a:ext cx="11216640" cy="1732590"/>
          </a:xfrm>
          <a:prstGeom prst="rect">
            <a:avLst/>
          </a:prstGeom>
          <a:noFill/>
        </p:spPr>
        <p:txBody>
          <a:bodyPr wrap="square" lIns="0" tIns="0" rIns="0" bIns="0" rtlCol="0">
            <a:spAutoFit/>
          </a:bodyPr>
          <a:lstStyle/>
          <a:p>
            <a:pPr algn="ctr">
              <a:lnSpc>
                <a:spcPct val="150000"/>
              </a:lnSpc>
            </a:pPr>
            <a:r>
              <a:rPr lang="en-AU" sz="4000"/>
              <a:t>Use the </a:t>
            </a:r>
            <a:r>
              <a:rPr lang="en-AU" sz="4000" b="1"/>
              <a:t>abbreviations</a:t>
            </a:r>
            <a:r>
              <a:rPr lang="en-AU" sz="4000"/>
              <a:t> for </a:t>
            </a:r>
            <a:r>
              <a:rPr lang="en-AU" sz="4000" b="1"/>
              <a:t>kilometres</a:t>
            </a:r>
            <a:r>
              <a:rPr lang="en-AU" sz="4000"/>
              <a:t> and </a:t>
            </a:r>
            <a:r>
              <a:rPr lang="en-AU" sz="4000" b="1"/>
              <a:t>metres </a:t>
            </a:r>
            <a:r>
              <a:rPr lang="en-AU" sz="4000"/>
              <a:t>to </a:t>
            </a:r>
            <a:r>
              <a:rPr lang="en-AU" sz="4000" b="1"/>
              <a:t>record</a:t>
            </a:r>
            <a:r>
              <a:rPr lang="en-AU" sz="4000"/>
              <a:t> the following distances:</a:t>
            </a:r>
          </a:p>
        </p:txBody>
      </p:sp>
      <p:sp>
        <p:nvSpPr>
          <p:cNvPr id="5" name="TextBox 4">
            <a:extLst>
              <a:ext uri="{FF2B5EF4-FFF2-40B4-BE49-F238E27FC236}">
                <a16:creationId xmlns:a16="http://schemas.microsoft.com/office/drawing/2014/main" id="{3ED4AEB5-DC09-2F3E-F2BF-8975BE05DB96}"/>
              </a:ext>
            </a:extLst>
          </p:cNvPr>
          <p:cNvSpPr txBox="1"/>
          <p:nvPr/>
        </p:nvSpPr>
        <p:spPr>
          <a:xfrm>
            <a:off x="4166198" y="3054688"/>
            <a:ext cx="5313680" cy="3187091"/>
          </a:xfrm>
          <a:prstGeom prst="rect">
            <a:avLst/>
          </a:prstGeom>
          <a:noFill/>
        </p:spPr>
        <p:txBody>
          <a:bodyPr wrap="square" lIns="0" tIns="0" rIns="0" bIns="0" rtlCol="0">
            <a:spAutoFit/>
          </a:bodyPr>
          <a:lstStyle/>
          <a:p>
            <a:pPr marL="571500" indent="-571500" algn="l">
              <a:lnSpc>
                <a:spcPct val="150000"/>
              </a:lnSpc>
              <a:buFont typeface="Arial" panose="020B0604020202020204" pitchFamily="34" charset="0"/>
              <a:buChar char="•"/>
            </a:pPr>
            <a:r>
              <a:rPr lang="en-AU" sz="4800"/>
              <a:t>1200 metres</a:t>
            </a:r>
          </a:p>
          <a:p>
            <a:pPr marL="571500" indent="-571500" algn="l">
              <a:lnSpc>
                <a:spcPct val="150000"/>
              </a:lnSpc>
              <a:buFont typeface="Arial" panose="020B0604020202020204" pitchFamily="34" charset="0"/>
              <a:buChar char="•"/>
            </a:pPr>
            <a:r>
              <a:rPr lang="en-AU" sz="4800"/>
              <a:t>3650 metres</a:t>
            </a:r>
          </a:p>
          <a:p>
            <a:pPr marL="571500" indent="-571500" algn="l">
              <a:lnSpc>
                <a:spcPct val="150000"/>
              </a:lnSpc>
              <a:buFont typeface="Arial" panose="020B0604020202020204" pitchFamily="34" charset="0"/>
              <a:buChar char="•"/>
            </a:pPr>
            <a:r>
              <a:rPr lang="en-AU" sz="4800"/>
              <a:t>12 550 metres</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decimal addition</a:t>
            </a:r>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grid with 12 rows of 10 columns. The cells show the decimal numbers increasing from 0 to 12, to one decimal place. Each cell also has the value represented in words, for example, 3 point 5, then 3 and 5 tenths. ">
            <a:extLst>
              <a:ext uri="{FF2B5EF4-FFF2-40B4-BE49-F238E27FC236}">
                <a16:creationId xmlns:a16="http://schemas.microsoft.com/office/drawing/2014/main" id="{8BFC036E-F68B-D22D-1B26-1393E5E29745}"/>
              </a:ext>
            </a:extLst>
          </p:cNvPr>
          <p:cNvPicPr>
            <a:picLocks noChangeAspect="1"/>
          </p:cNvPicPr>
          <p:nvPr/>
        </p:nvPicPr>
        <p:blipFill>
          <a:blip r:embed="rId4">
            <a:extLst>
              <a:ext uri="{28A0092B-C50C-407E-A947-70E740481C1C}">
                <a14:useLocalDpi xmlns:a14="http://schemas.microsoft.com/office/drawing/2010/main" val="0"/>
              </a:ext>
            </a:extLst>
          </a:blip>
          <a:srcRect l="7878" t="12350" r="6374" b="13306"/>
          <a:stretch>
            <a:fillRect/>
          </a:stretch>
        </p:blipFill>
        <p:spPr>
          <a:xfrm>
            <a:off x="6266046" y="766180"/>
            <a:ext cx="4868463" cy="5970015"/>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Oval 2" descr="Yellow counter">
            <a:extLst>
              <a:ext uri="{FF2B5EF4-FFF2-40B4-BE49-F238E27FC236}">
                <a16:creationId xmlns:a16="http://schemas.microsoft.com/office/drawing/2014/main" id="{9A2628F3-D90E-344D-86A0-4D9DDEDA4E31}"/>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descr="Yellow counter">
            <a:extLst>
              <a:ext uri="{FF2B5EF4-FFF2-40B4-BE49-F238E27FC236}">
                <a16:creationId xmlns:a16="http://schemas.microsoft.com/office/drawing/2014/main" id="{4869E569-4EE0-1BC1-9DE1-3518702655A8}"/>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descr="Yellow counter">
            <a:extLst>
              <a:ext uri="{FF2B5EF4-FFF2-40B4-BE49-F238E27FC236}">
                <a16:creationId xmlns:a16="http://schemas.microsoft.com/office/drawing/2014/main" id="{31017AE5-157B-A70C-BF26-C31C57436418}"/>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descr="Yellow counter">
            <a:extLst>
              <a:ext uri="{FF2B5EF4-FFF2-40B4-BE49-F238E27FC236}">
                <a16:creationId xmlns:a16="http://schemas.microsoft.com/office/drawing/2014/main" id="{1F1A9469-8F53-7C94-4F1E-0E2A3647EC71}"/>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descr="Yellow counter">
            <a:extLst>
              <a:ext uri="{FF2B5EF4-FFF2-40B4-BE49-F238E27FC236}">
                <a16:creationId xmlns:a16="http://schemas.microsoft.com/office/drawing/2014/main" id="{75AAFD46-B46A-973C-86F2-26AE93650B08}"/>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descr="Yellow counter">
            <a:extLst>
              <a:ext uri="{FF2B5EF4-FFF2-40B4-BE49-F238E27FC236}">
                <a16:creationId xmlns:a16="http://schemas.microsoft.com/office/drawing/2014/main" id="{25E292DD-0D00-94C2-8EB4-F0A522F6A67D}"/>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descr="Yellow counter">
            <a:extLst>
              <a:ext uri="{FF2B5EF4-FFF2-40B4-BE49-F238E27FC236}">
                <a16:creationId xmlns:a16="http://schemas.microsoft.com/office/drawing/2014/main" id="{88988944-30D5-4502-C48E-D8ED4E6DACC9}"/>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descr="Yellow counter">
            <a:extLst>
              <a:ext uri="{FF2B5EF4-FFF2-40B4-BE49-F238E27FC236}">
                <a16:creationId xmlns:a16="http://schemas.microsoft.com/office/drawing/2014/main" id="{1C579919-EFF7-B8F5-13D8-ECB2D9DD4B49}"/>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descr="Yellow counter">
            <a:extLst>
              <a:ext uri="{FF2B5EF4-FFF2-40B4-BE49-F238E27FC236}">
                <a16:creationId xmlns:a16="http://schemas.microsoft.com/office/drawing/2014/main" id="{0927DEC6-9B2B-E00C-AD14-352A1D10D877}"/>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descr="Yellow counter">
            <a:extLst>
              <a:ext uri="{FF2B5EF4-FFF2-40B4-BE49-F238E27FC236}">
                <a16:creationId xmlns:a16="http://schemas.microsoft.com/office/drawing/2014/main" id="{6C457CF3-4FC0-669B-6B0A-F22A2D5C1577}"/>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descr="Yellow counter">
            <a:extLst>
              <a:ext uri="{FF2B5EF4-FFF2-40B4-BE49-F238E27FC236}">
                <a16:creationId xmlns:a16="http://schemas.microsoft.com/office/drawing/2014/main" id="{C54EBC83-F404-0340-A196-6F57296C7246}"/>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descr="Yellow counter">
            <a:extLst>
              <a:ext uri="{FF2B5EF4-FFF2-40B4-BE49-F238E27FC236}">
                <a16:creationId xmlns:a16="http://schemas.microsoft.com/office/drawing/2014/main" id="{29665BAE-6B70-E05F-E37D-C9123A581017}"/>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descr="Yellow counter">
            <a:extLst>
              <a:ext uri="{FF2B5EF4-FFF2-40B4-BE49-F238E27FC236}">
                <a16:creationId xmlns:a16="http://schemas.microsoft.com/office/drawing/2014/main" id="{82685552-6570-973E-7DA2-44A951D260E6}"/>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descr="Yellow counter">
            <a:extLst>
              <a:ext uri="{FF2B5EF4-FFF2-40B4-BE49-F238E27FC236}">
                <a16:creationId xmlns:a16="http://schemas.microsoft.com/office/drawing/2014/main" id="{3B18866F-E312-A928-CDA9-3CD471B34BA0}"/>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descr="Yellow counter">
            <a:extLst>
              <a:ext uri="{FF2B5EF4-FFF2-40B4-BE49-F238E27FC236}">
                <a16:creationId xmlns:a16="http://schemas.microsoft.com/office/drawing/2014/main" id="{A1D5F3E6-1C81-3EFF-1831-640A0A6BEAE8}"/>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descr="Yellow counter">
            <a:extLst>
              <a:ext uri="{FF2B5EF4-FFF2-40B4-BE49-F238E27FC236}">
                <a16:creationId xmlns:a16="http://schemas.microsoft.com/office/drawing/2014/main" id="{62AB935C-58C5-4C45-D0D9-79FE108AEA3F}"/>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descr="Yellow counter">
            <a:extLst>
              <a:ext uri="{FF2B5EF4-FFF2-40B4-BE49-F238E27FC236}">
                <a16:creationId xmlns:a16="http://schemas.microsoft.com/office/drawing/2014/main" id="{143CFFC3-D146-C834-B660-6E5F4BBFF763}"/>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descr="Yellow counter">
            <a:extLst>
              <a:ext uri="{FF2B5EF4-FFF2-40B4-BE49-F238E27FC236}">
                <a16:creationId xmlns:a16="http://schemas.microsoft.com/office/drawing/2014/main" id="{A40E6F5C-2847-C7C9-30B9-8BD1AD0EA7FA}"/>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descr="Yellow counter">
            <a:extLst>
              <a:ext uri="{FF2B5EF4-FFF2-40B4-BE49-F238E27FC236}">
                <a16:creationId xmlns:a16="http://schemas.microsoft.com/office/drawing/2014/main" id="{5B82FDEE-7D7F-27C1-3C1A-B358EAD32E10}"/>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descr="Blue counter">
            <a:extLst>
              <a:ext uri="{FF2B5EF4-FFF2-40B4-BE49-F238E27FC236}">
                <a16:creationId xmlns:a16="http://schemas.microsoft.com/office/drawing/2014/main" id="{94F86F18-3EEF-87CB-B2DA-6F65B6DB8E5E}"/>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descr="Blue counter">
            <a:extLst>
              <a:ext uri="{FF2B5EF4-FFF2-40B4-BE49-F238E27FC236}">
                <a16:creationId xmlns:a16="http://schemas.microsoft.com/office/drawing/2014/main" id="{02003411-9F9F-6DC7-048B-8860281CECAE}"/>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descr="Blue counter">
            <a:extLst>
              <a:ext uri="{FF2B5EF4-FFF2-40B4-BE49-F238E27FC236}">
                <a16:creationId xmlns:a16="http://schemas.microsoft.com/office/drawing/2014/main" id="{CC8C1B8C-23E8-1BF0-BAC2-13A828754D7D}"/>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descr="Blue counter">
            <a:extLst>
              <a:ext uri="{FF2B5EF4-FFF2-40B4-BE49-F238E27FC236}">
                <a16:creationId xmlns:a16="http://schemas.microsoft.com/office/drawing/2014/main" id="{39CB6453-D08D-7C55-44E6-748CA53553E9}"/>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descr="Blue counter">
            <a:extLst>
              <a:ext uri="{FF2B5EF4-FFF2-40B4-BE49-F238E27FC236}">
                <a16:creationId xmlns:a16="http://schemas.microsoft.com/office/drawing/2014/main" id="{D373C1BE-E5D5-E605-8E84-622D21FE8808}"/>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descr="Blue counter">
            <a:extLst>
              <a:ext uri="{FF2B5EF4-FFF2-40B4-BE49-F238E27FC236}">
                <a16:creationId xmlns:a16="http://schemas.microsoft.com/office/drawing/2014/main" id="{1C360C31-CE86-6041-40F6-FEDC25E3A731}"/>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descr="Blue counter">
            <a:extLst>
              <a:ext uri="{FF2B5EF4-FFF2-40B4-BE49-F238E27FC236}">
                <a16:creationId xmlns:a16="http://schemas.microsoft.com/office/drawing/2014/main" id="{89FD304C-786B-31F9-A74B-EE6594172834}"/>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descr="Blue counter">
            <a:extLst>
              <a:ext uri="{FF2B5EF4-FFF2-40B4-BE49-F238E27FC236}">
                <a16:creationId xmlns:a16="http://schemas.microsoft.com/office/drawing/2014/main" id="{D0E79FAE-3B90-B37F-8138-C6F7DD3D8CE7}"/>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descr="Blue counter">
            <a:extLst>
              <a:ext uri="{FF2B5EF4-FFF2-40B4-BE49-F238E27FC236}">
                <a16:creationId xmlns:a16="http://schemas.microsoft.com/office/drawing/2014/main" id="{8C1ECABD-E888-709C-4B4A-91E4C20D77FB}"/>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descr="Blue counter">
            <a:extLst>
              <a:ext uri="{FF2B5EF4-FFF2-40B4-BE49-F238E27FC236}">
                <a16:creationId xmlns:a16="http://schemas.microsoft.com/office/drawing/2014/main" id="{1AB2A5E5-784B-021C-4C4B-8A0BD0C00DB0}"/>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descr="Blue counter">
            <a:extLst>
              <a:ext uri="{FF2B5EF4-FFF2-40B4-BE49-F238E27FC236}">
                <a16:creationId xmlns:a16="http://schemas.microsoft.com/office/drawing/2014/main" id="{A356C924-64C8-B288-0783-FE4F36027764}"/>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descr="Blue counter">
            <a:extLst>
              <a:ext uri="{FF2B5EF4-FFF2-40B4-BE49-F238E27FC236}">
                <a16:creationId xmlns:a16="http://schemas.microsoft.com/office/drawing/2014/main" id="{B5732FEC-7C74-F345-EF9A-77E8581E590A}"/>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descr="Blue counter">
            <a:extLst>
              <a:ext uri="{FF2B5EF4-FFF2-40B4-BE49-F238E27FC236}">
                <a16:creationId xmlns:a16="http://schemas.microsoft.com/office/drawing/2014/main" id="{F72D8689-AE74-0FE7-4700-435FE0CAEF98}"/>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descr="Blue counter">
            <a:extLst>
              <a:ext uri="{FF2B5EF4-FFF2-40B4-BE49-F238E27FC236}">
                <a16:creationId xmlns:a16="http://schemas.microsoft.com/office/drawing/2014/main" id="{DF6C9D6A-CED9-D7FE-F667-0FC9EDBADB55}"/>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descr="Blue counter">
            <a:extLst>
              <a:ext uri="{FF2B5EF4-FFF2-40B4-BE49-F238E27FC236}">
                <a16:creationId xmlns:a16="http://schemas.microsoft.com/office/drawing/2014/main" id="{00D44741-B425-4C80-5A79-55255B62B10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descr="Blue counter">
            <a:extLst>
              <a:ext uri="{FF2B5EF4-FFF2-40B4-BE49-F238E27FC236}">
                <a16:creationId xmlns:a16="http://schemas.microsoft.com/office/drawing/2014/main" id="{EEA50C5E-35BF-C3C3-B225-BB2E55AE9B56}"/>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descr="Blue counter">
            <a:extLst>
              <a:ext uri="{FF2B5EF4-FFF2-40B4-BE49-F238E27FC236}">
                <a16:creationId xmlns:a16="http://schemas.microsoft.com/office/drawing/2014/main" id="{BB12CF66-9F11-6EFE-56EE-693E51F9EC57}"/>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descr="Blue counter">
            <a:extLst>
              <a:ext uri="{FF2B5EF4-FFF2-40B4-BE49-F238E27FC236}">
                <a16:creationId xmlns:a16="http://schemas.microsoft.com/office/drawing/2014/main" id="{FB9B83EB-61AD-802E-E0D8-128593B387A6}"/>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descr="Blue counter">
            <a:extLst>
              <a:ext uri="{FF2B5EF4-FFF2-40B4-BE49-F238E27FC236}">
                <a16:creationId xmlns:a16="http://schemas.microsoft.com/office/drawing/2014/main" id="{2BC4BF75-FC2A-20ED-FAA8-F87BC07AD675}"/>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descr="Blue counter">
            <a:extLst>
              <a:ext uri="{FF2B5EF4-FFF2-40B4-BE49-F238E27FC236}">
                <a16:creationId xmlns:a16="http://schemas.microsoft.com/office/drawing/2014/main" id="{4BF9C583-B559-245B-CE89-6CA2A49042D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p:txBody>
          <a:bodyPr/>
          <a:lstStyle/>
          <a:p>
            <a:pPr algn="ctr"/>
            <a:r>
              <a:rPr lang="en-US" sz="4400"/>
              <a:t>11.5 </a:t>
            </a:r>
            <a:r>
              <a:rPr lang="en-US" sz="4400" b="1"/>
              <a:t>take away </a:t>
            </a:r>
            <a:r>
              <a:rPr lang="en-US" sz="4400"/>
              <a:t>9 tenths equals 10.4</a:t>
            </a:r>
          </a:p>
          <a:p>
            <a:pPr algn="ctr"/>
            <a:endParaRPr lang="en-AU" sz="440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898410349"/>
              </p:ext>
            </p:extLst>
          </p:nvPr>
        </p:nvGraphicFramePr>
        <p:xfrm>
          <a:off x="2557462" y="4146746"/>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Box 4">
            <a:extLst>
              <a:ext uri="{FF2B5EF4-FFF2-40B4-BE49-F238E27FC236}">
                <a16:creationId xmlns:a16="http://schemas.microsoft.com/office/drawing/2014/main" id="{2F67E20B-FBAF-0F86-341D-DFB960E5EC1E}"/>
              </a:ext>
            </a:extLst>
          </p:cNvPr>
          <p:cNvSpPr txBox="1"/>
          <p:nvPr/>
        </p:nvSpPr>
        <p:spPr>
          <a:xfrm>
            <a:off x="573505" y="5836559"/>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TextBox 3">
            <a:extLst>
              <a:ext uri="{FF2B5EF4-FFF2-40B4-BE49-F238E27FC236}">
                <a16:creationId xmlns:a16="http://schemas.microsoft.com/office/drawing/2014/main" id="{850D2226-0A28-C689-9B6F-176F52010B38}"/>
              </a:ext>
            </a:extLst>
          </p:cNvPr>
          <p:cNvSpPr txBox="1"/>
          <p:nvPr/>
        </p:nvSpPr>
        <p:spPr>
          <a:xfrm>
            <a:off x="640967" y="1603409"/>
            <a:ext cx="11305009" cy="748016"/>
          </a:xfrm>
          <a:prstGeom prst="rect">
            <a:avLst/>
          </a:prstGeom>
          <a:noFill/>
        </p:spPr>
        <p:txBody>
          <a:bodyPr wrap="square" lIns="0" tIns="0" rIns="0" bIns="0" rtlCol="0">
            <a:noAutofit/>
          </a:bodyPr>
          <a:lstStyle/>
          <a:p>
            <a:pPr algn="ctr"/>
            <a:r>
              <a:rPr lang="en-AU" sz="4400" b="1"/>
              <a:t>Complete</a:t>
            </a:r>
            <a:r>
              <a:rPr lang="en-AU" sz="4400"/>
              <a:t> the table using the </a:t>
            </a:r>
            <a:r>
              <a:rPr lang="en-AU" sz="4400" b="1"/>
              <a:t>pattern</a:t>
            </a:r>
            <a:r>
              <a:rPr lang="en-AU" sz="4400"/>
              <a:t>.</a:t>
            </a:r>
          </a:p>
        </p:txBody>
      </p:sp>
      <p:pic>
        <p:nvPicPr>
          <p:cNvPr id="25" name="Picture 24" descr="Table of values showing number of shapes along the top with values of 1, 2, 3, 4, 5, 10, and 15. Along the bottom show number of sides and the value of 7 under the 1.">
            <a:extLst>
              <a:ext uri="{FF2B5EF4-FFF2-40B4-BE49-F238E27FC236}">
                <a16:creationId xmlns:a16="http://schemas.microsoft.com/office/drawing/2014/main" id="{D4E69A62-A208-6FA8-9EFD-0B1B92B5672D}"/>
              </a:ext>
            </a:extLst>
          </p:cNvPr>
          <p:cNvPicPr>
            <a:picLocks noChangeAspect="1"/>
          </p:cNvPicPr>
          <p:nvPr/>
        </p:nvPicPr>
        <p:blipFill>
          <a:blip r:embed="rId4"/>
          <a:srcRect r="22460"/>
          <a:stretch>
            <a:fillRect/>
          </a:stretch>
        </p:blipFill>
        <p:spPr>
          <a:xfrm>
            <a:off x="360000" y="3229234"/>
            <a:ext cx="10933946" cy="2020942"/>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3772631-72B7-0C06-FEF3-929211FF78C8}"/>
              </a:ext>
            </a:extLst>
          </p:cNvPr>
          <p:cNvSpPr txBox="1"/>
          <p:nvPr/>
        </p:nvSpPr>
        <p:spPr>
          <a:xfrm>
            <a:off x="443494" y="1087921"/>
            <a:ext cx="11305009" cy="1391021"/>
          </a:xfrm>
          <a:prstGeom prst="rect">
            <a:avLst/>
          </a:prstGeom>
          <a:noFill/>
        </p:spPr>
        <p:txBody>
          <a:bodyPr wrap="square" lIns="0" tIns="0" rIns="0" bIns="0" rtlCol="0">
            <a:noAutofit/>
          </a:bodyPr>
          <a:lstStyle/>
          <a:p>
            <a:pPr algn="ctr">
              <a:lnSpc>
                <a:spcPct val="150000"/>
              </a:lnSpc>
            </a:pPr>
            <a:r>
              <a:rPr lang="en-AU" sz="4400" b="1"/>
              <a:t>Write</a:t>
            </a:r>
            <a:r>
              <a:rPr lang="en-AU" sz="4400"/>
              <a:t> the measurements of </a:t>
            </a:r>
            <a:r>
              <a:rPr lang="en-AU" sz="4400" b="1"/>
              <a:t>mass</a:t>
            </a:r>
            <a:r>
              <a:rPr lang="en-AU" sz="4400"/>
              <a:t> in </a:t>
            </a:r>
            <a:r>
              <a:rPr lang="en-AU" sz="4400" b="1"/>
              <a:t>decimals.</a:t>
            </a:r>
          </a:p>
        </p:txBody>
      </p:sp>
      <p:sp>
        <p:nvSpPr>
          <p:cNvPr id="5" name="TextBox 4">
            <a:extLst>
              <a:ext uri="{FF2B5EF4-FFF2-40B4-BE49-F238E27FC236}">
                <a16:creationId xmlns:a16="http://schemas.microsoft.com/office/drawing/2014/main" id="{63DF294B-4EDF-73B3-8AE2-40B340632AAB}"/>
              </a:ext>
            </a:extLst>
          </p:cNvPr>
          <p:cNvSpPr txBox="1"/>
          <p:nvPr/>
        </p:nvSpPr>
        <p:spPr>
          <a:xfrm>
            <a:off x="839097" y="3106059"/>
            <a:ext cx="10513804" cy="1247467"/>
          </a:xfrm>
          <a:prstGeom prst="rect">
            <a:avLst/>
          </a:prstGeom>
          <a:noFill/>
        </p:spPr>
        <p:txBody>
          <a:bodyPr wrap="square" lIns="0" tIns="0" rIns="0" bIns="0" rtlCol="0">
            <a:noAutofit/>
          </a:bodyPr>
          <a:lstStyle/>
          <a:p>
            <a:pPr marL="901700" indent="-901700">
              <a:lnSpc>
                <a:spcPct val="150000"/>
              </a:lnSpc>
              <a:buFont typeface="Arial" panose="020B0604020202020204" pitchFamily="34" charset="0"/>
              <a:buChar char="•"/>
            </a:pPr>
            <a:r>
              <a:rPr lang="en-AU" sz="4400"/>
              <a:t>5 kilograms and 258 grams</a:t>
            </a:r>
          </a:p>
        </p:txBody>
      </p:sp>
      <p:sp>
        <p:nvSpPr>
          <p:cNvPr id="7" name="TextBox 6">
            <a:extLst>
              <a:ext uri="{FF2B5EF4-FFF2-40B4-BE49-F238E27FC236}">
                <a16:creationId xmlns:a16="http://schemas.microsoft.com/office/drawing/2014/main" id="{3BF89BF6-1D53-C728-6A4F-F51008DF45D0}"/>
              </a:ext>
            </a:extLst>
          </p:cNvPr>
          <p:cNvSpPr txBox="1"/>
          <p:nvPr/>
        </p:nvSpPr>
        <p:spPr>
          <a:xfrm>
            <a:off x="839097" y="4641416"/>
            <a:ext cx="10513804" cy="1247467"/>
          </a:xfrm>
          <a:prstGeom prst="rect">
            <a:avLst/>
          </a:prstGeom>
          <a:noFill/>
        </p:spPr>
        <p:txBody>
          <a:bodyPr wrap="square" lIns="0" tIns="0" rIns="0" bIns="0" rtlCol="0">
            <a:noAutofit/>
          </a:bodyPr>
          <a:lstStyle/>
          <a:p>
            <a:pPr marL="901700" indent="-901700">
              <a:lnSpc>
                <a:spcPct val="150000"/>
              </a:lnSpc>
              <a:buFont typeface="Arial" panose="020B0604020202020204" pitchFamily="34" charset="0"/>
              <a:buChar char="•"/>
            </a:pPr>
            <a:r>
              <a:rPr lang="en-AU" sz="4400"/>
              <a:t>2650 grams</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D6813D0-9FC8-C08A-61FC-A352B05C4315}"/>
              </a:ext>
            </a:extLst>
          </p:cNvPr>
          <p:cNvSpPr txBox="1"/>
          <p:nvPr/>
        </p:nvSpPr>
        <p:spPr>
          <a:xfrm>
            <a:off x="313486" y="1585042"/>
            <a:ext cx="11305009" cy="545601"/>
          </a:xfrm>
          <a:prstGeom prst="rect">
            <a:avLst/>
          </a:prstGeom>
          <a:noFill/>
        </p:spPr>
        <p:txBody>
          <a:bodyPr wrap="square" lIns="0" tIns="0" rIns="0" bIns="0" rtlCol="0">
            <a:noAutofit/>
          </a:bodyPr>
          <a:lstStyle/>
          <a:p>
            <a:pPr algn="ctr"/>
            <a:r>
              <a:rPr lang="en-AU" sz="4400"/>
              <a:t>Record</a:t>
            </a:r>
            <a:r>
              <a:rPr lang="en-AU" sz="4400" b="1"/>
              <a:t> </a:t>
            </a:r>
            <a:r>
              <a:rPr lang="en-AU" sz="4400"/>
              <a:t>in </a:t>
            </a:r>
            <a:r>
              <a:rPr lang="en-AU" sz="4400" b="1"/>
              <a:t>ascending</a:t>
            </a:r>
            <a:r>
              <a:rPr lang="en-AU" sz="4400"/>
              <a:t> order:</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7" name="TextBox 6">
            <a:extLst>
              <a:ext uri="{FF2B5EF4-FFF2-40B4-BE49-F238E27FC236}">
                <a16:creationId xmlns:a16="http://schemas.microsoft.com/office/drawing/2014/main" id="{5C8ECCBF-386E-C8C4-E683-D1BB0BF8216A}"/>
              </a:ext>
            </a:extLst>
          </p:cNvPr>
          <p:cNvSpPr txBox="1"/>
          <p:nvPr/>
        </p:nvSpPr>
        <p:spPr>
          <a:xfrm>
            <a:off x="360000" y="5467937"/>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10" name="Rectangle: Rounded Corners 9">
            <a:extLst>
              <a:ext uri="{FF2B5EF4-FFF2-40B4-BE49-F238E27FC236}">
                <a16:creationId xmlns:a16="http://schemas.microsoft.com/office/drawing/2014/main" id="{1E0218DF-1718-9781-80CC-084B757A20AA}"/>
              </a:ext>
            </a:extLst>
          </p:cNvPr>
          <p:cNvSpPr/>
          <p:nvPr/>
        </p:nvSpPr>
        <p:spPr>
          <a:xfrm>
            <a:off x="360000" y="3239834"/>
            <a:ext cx="3377945"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7.294</a:t>
            </a:r>
          </a:p>
        </p:txBody>
      </p:sp>
      <p:sp>
        <p:nvSpPr>
          <p:cNvPr id="11" name="Rectangle: Rounded Corners 10">
            <a:extLst>
              <a:ext uri="{FF2B5EF4-FFF2-40B4-BE49-F238E27FC236}">
                <a16:creationId xmlns:a16="http://schemas.microsoft.com/office/drawing/2014/main" id="{55F879CD-4745-4392-F9B8-6004E6095212}"/>
              </a:ext>
            </a:extLst>
          </p:cNvPr>
          <p:cNvSpPr/>
          <p:nvPr/>
        </p:nvSpPr>
        <p:spPr>
          <a:xfrm>
            <a:off x="4332687" y="3239834"/>
            <a:ext cx="3377945"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7.924</a:t>
            </a:r>
          </a:p>
        </p:txBody>
      </p:sp>
      <p:sp>
        <p:nvSpPr>
          <p:cNvPr id="12" name="Rectangle: Rounded Corners 11">
            <a:extLst>
              <a:ext uri="{FF2B5EF4-FFF2-40B4-BE49-F238E27FC236}">
                <a16:creationId xmlns:a16="http://schemas.microsoft.com/office/drawing/2014/main" id="{79893791-D3C3-B3D6-8B5C-CB8A322B5817}"/>
              </a:ext>
            </a:extLst>
          </p:cNvPr>
          <p:cNvSpPr/>
          <p:nvPr/>
        </p:nvSpPr>
        <p:spPr>
          <a:xfrm>
            <a:off x="8379715" y="3239834"/>
            <a:ext cx="3377945"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7.429</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685C020-65EF-26BC-C5EA-218192C18BA6}"/>
              </a:ext>
            </a:extLst>
          </p:cNvPr>
          <p:cNvSpPr txBox="1"/>
          <p:nvPr/>
        </p:nvSpPr>
        <p:spPr>
          <a:xfrm>
            <a:off x="1457325" y="1863472"/>
            <a:ext cx="9077325" cy="2921505"/>
          </a:xfrm>
          <a:prstGeom prst="rect">
            <a:avLst/>
          </a:prstGeom>
          <a:noFill/>
        </p:spPr>
        <p:txBody>
          <a:bodyPr wrap="square" lIns="0" tIns="0" rIns="0" bIns="0" rtlCol="0">
            <a:spAutoFit/>
          </a:bodyPr>
          <a:lstStyle/>
          <a:p>
            <a:pPr algn="ctr">
              <a:lnSpc>
                <a:spcPct val="150000"/>
              </a:lnSpc>
            </a:pPr>
            <a:r>
              <a:rPr lang="en-AU" sz="4400" b="1"/>
              <a:t>Find </a:t>
            </a:r>
            <a:r>
              <a:rPr lang="en-AU" sz="4400"/>
              <a:t>the</a:t>
            </a:r>
            <a:r>
              <a:rPr lang="en-AU" sz="4400" b="1"/>
              <a:t> </a:t>
            </a:r>
            <a:r>
              <a:rPr lang="en-AU" sz="4400"/>
              <a:t>total </a:t>
            </a:r>
            <a:r>
              <a:rPr lang="en-AU" sz="4400" b="1"/>
              <a:t>length</a:t>
            </a:r>
            <a:r>
              <a:rPr lang="en-AU" sz="4400"/>
              <a:t> of 3 items measuring </a:t>
            </a:r>
            <a:r>
              <a:rPr lang="en-AU" sz="4400" b="1"/>
              <a:t>5 millimetres</a:t>
            </a:r>
            <a:r>
              <a:rPr lang="en-AU" sz="4400"/>
              <a:t>, </a:t>
            </a:r>
            <a:r>
              <a:rPr lang="en-AU" sz="4400" b="1"/>
              <a:t>45 centimetres</a:t>
            </a:r>
            <a:r>
              <a:rPr lang="en-AU" sz="4400"/>
              <a:t> and </a:t>
            </a:r>
            <a:r>
              <a:rPr lang="en-AU" sz="4400" b="1"/>
              <a:t>6.2 metres</a:t>
            </a:r>
            <a:r>
              <a:rPr lang="en-AU" sz="4400"/>
              <a:t>.</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decimal subtraction</a:t>
            </a:r>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grid with 12 rows of 10 columns. The cells show the decimal numbers increasing from 0 to 12, to one decimal place. Each cell also has the value represented in words, for example, 3 point 5, then 3 and 5 tenths. ">
            <a:extLst>
              <a:ext uri="{FF2B5EF4-FFF2-40B4-BE49-F238E27FC236}">
                <a16:creationId xmlns:a16="http://schemas.microsoft.com/office/drawing/2014/main" id="{440D5778-EE8A-93F6-277A-F9B15A321672}"/>
              </a:ext>
            </a:extLst>
          </p:cNvPr>
          <p:cNvPicPr>
            <a:picLocks noChangeAspect="1"/>
          </p:cNvPicPr>
          <p:nvPr/>
        </p:nvPicPr>
        <p:blipFill>
          <a:blip r:embed="rId4">
            <a:extLst>
              <a:ext uri="{28A0092B-C50C-407E-A947-70E740481C1C}">
                <a14:useLocalDpi xmlns:a14="http://schemas.microsoft.com/office/drawing/2010/main" val="0"/>
              </a:ext>
            </a:extLst>
          </a:blip>
          <a:srcRect l="7878" t="12350" r="6374" b="13306"/>
          <a:stretch>
            <a:fillRect/>
          </a:stretch>
        </p:blipFill>
        <p:spPr>
          <a:xfrm>
            <a:off x="6266046" y="766180"/>
            <a:ext cx="4868463" cy="5970015"/>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45" name="Oval 44" descr="Yellow counter">
            <a:extLst>
              <a:ext uri="{FF2B5EF4-FFF2-40B4-BE49-F238E27FC236}">
                <a16:creationId xmlns:a16="http://schemas.microsoft.com/office/drawing/2014/main" id="{FC3C4E6C-C5A8-BEF5-0567-F38ED7EF9D3B}"/>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descr="Yellow counter">
            <a:extLst>
              <a:ext uri="{FF2B5EF4-FFF2-40B4-BE49-F238E27FC236}">
                <a16:creationId xmlns:a16="http://schemas.microsoft.com/office/drawing/2014/main" id="{AF90C134-9ED6-CDCF-DFD4-3EB253F2F4B7}"/>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descr="Yellow counter">
            <a:extLst>
              <a:ext uri="{FF2B5EF4-FFF2-40B4-BE49-F238E27FC236}">
                <a16:creationId xmlns:a16="http://schemas.microsoft.com/office/drawing/2014/main" id="{956FE879-C200-E806-F124-DE2E09C80B1D}"/>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descr="Yellow counter">
            <a:extLst>
              <a:ext uri="{FF2B5EF4-FFF2-40B4-BE49-F238E27FC236}">
                <a16:creationId xmlns:a16="http://schemas.microsoft.com/office/drawing/2014/main" id="{62BB9A9F-5C1A-4720-7355-4A8C8A79835C}"/>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descr="Yellow counter">
            <a:extLst>
              <a:ext uri="{FF2B5EF4-FFF2-40B4-BE49-F238E27FC236}">
                <a16:creationId xmlns:a16="http://schemas.microsoft.com/office/drawing/2014/main" id="{93883FDA-E592-BFE7-434C-21DE0BC5DFAF}"/>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descr="Yellow counter">
            <a:extLst>
              <a:ext uri="{FF2B5EF4-FFF2-40B4-BE49-F238E27FC236}">
                <a16:creationId xmlns:a16="http://schemas.microsoft.com/office/drawing/2014/main" id="{023CB01E-FD02-E729-3F8E-A036A632E06A}"/>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descr="Yellow counter">
            <a:extLst>
              <a:ext uri="{FF2B5EF4-FFF2-40B4-BE49-F238E27FC236}">
                <a16:creationId xmlns:a16="http://schemas.microsoft.com/office/drawing/2014/main" id="{12446804-4E3C-22E5-0BB3-00B393C08951}"/>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descr="Yellow counter">
            <a:extLst>
              <a:ext uri="{FF2B5EF4-FFF2-40B4-BE49-F238E27FC236}">
                <a16:creationId xmlns:a16="http://schemas.microsoft.com/office/drawing/2014/main" id="{9A501515-CB43-B971-999C-61376C47EB62}"/>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descr="Yellow counter">
            <a:extLst>
              <a:ext uri="{FF2B5EF4-FFF2-40B4-BE49-F238E27FC236}">
                <a16:creationId xmlns:a16="http://schemas.microsoft.com/office/drawing/2014/main" id="{D91D937B-1FB7-201C-CEA6-013E340730D3}"/>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descr="Yellow counter">
            <a:extLst>
              <a:ext uri="{FF2B5EF4-FFF2-40B4-BE49-F238E27FC236}">
                <a16:creationId xmlns:a16="http://schemas.microsoft.com/office/drawing/2014/main" id="{FAA75D24-754D-3C7B-228F-5FC6BCDD9E43}"/>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descr="Yellow counter">
            <a:extLst>
              <a:ext uri="{FF2B5EF4-FFF2-40B4-BE49-F238E27FC236}">
                <a16:creationId xmlns:a16="http://schemas.microsoft.com/office/drawing/2014/main" id="{C6C1F230-DE85-BD61-6C89-FEC455219476}"/>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descr="Yellow counter">
            <a:extLst>
              <a:ext uri="{FF2B5EF4-FFF2-40B4-BE49-F238E27FC236}">
                <a16:creationId xmlns:a16="http://schemas.microsoft.com/office/drawing/2014/main" id="{0678CCCA-95BE-587E-8DA7-AD3823C9C9D0}"/>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descr="Yellow counter">
            <a:extLst>
              <a:ext uri="{FF2B5EF4-FFF2-40B4-BE49-F238E27FC236}">
                <a16:creationId xmlns:a16="http://schemas.microsoft.com/office/drawing/2014/main" id="{193C2C2E-604F-FDE0-6BA6-800E800A75AD}"/>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descr="Yellow counter">
            <a:extLst>
              <a:ext uri="{FF2B5EF4-FFF2-40B4-BE49-F238E27FC236}">
                <a16:creationId xmlns:a16="http://schemas.microsoft.com/office/drawing/2014/main" id="{DB762507-2E56-7F84-4441-54230A89B724}"/>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descr="Yellow counter">
            <a:extLst>
              <a:ext uri="{FF2B5EF4-FFF2-40B4-BE49-F238E27FC236}">
                <a16:creationId xmlns:a16="http://schemas.microsoft.com/office/drawing/2014/main" id="{24002A96-72BB-F5AA-7052-D4DDBC9277A2}"/>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descr="Yellow counter">
            <a:extLst>
              <a:ext uri="{FF2B5EF4-FFF2-40B4-BE49-F238E27FC236}">
                <a16:creationId xmlns:a16="http://schemas.microsoft.com/office/drawing/2014/main" id="{8D9B22A6-05BA-B7BB-9DAD-2DD7DFBECF0F}"/>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descr="Yellow counter">
            <a:extLst>
              <a:ext uri="{FF2B5EF4-FFF2-40B4-BE49-F238E27FC236}">
                <a16:creationId xmlns:a16="http://schemas.microsoft.com/office/drawing/2014/main" id="{47B67648-E208-0698-8702-60D055B95841}"/>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descr="Yellow counter">
            <a:extLst>
              <a:ext uri="{FF2B5EF4-FFF2-40B4-BE49-F238E27FC236}">
                <a16:creationId xmlns:a16="http://schemas.microsoft.com/office/drawing/2014/main" id="{92D66866-B0C5-C377-6D21-775F6C6155C1}"/>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descr="Yellow counter">
            <a:extLst>
              <a:ext uri="{FF2B5EF4-FFF2-40B4-BE49-F238E27FC236}">
                <a16:creationId xmlns:a16="http://schemas.microsoft.com/office/drawing/2014/main" id="{B4D4FA3E-89EB-19C7-C0AF-6B3E03E21F9C}"/>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descr="Blue counter">
            <a:extLst>
              <a:ext uri="{FF2B5EF4-FFF2-40B4-BE49-F238E27FC236}">
                <a16:creationId xmlns:a16="http://schemas.microsoft.com/office/drawing/2014/main" id="{A6E17B0C-0751-7139-9044-870F89D5990E}"/>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descr="Blue counter">
            <a:extLst>
              <a:ext uri="{FF2B5EF4-FFF2-40B4-BE49-F238E27FC236}">
                <a16:creationId xmlns:a16="http://schemas.microsoft.com/office/drawing/2014/main" id="{ACF0228A-6453-7FF8-7092-F7E8BFD3720C}"/>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descr="Blue counter">
            <a:extLst>
              <a:ext uri="{FF2B5EF4-FFF2-40B4-BE49-F238E27FC236}">
                <a16:creationId xmlns:a16="http://schemas.microsoft.com/office/drawing/2014/main" id="{4E4CAD32-CB66-C94D-7723-CFB7C6666246}"/>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descr="Blue counter">
            <a:extLst>
              <a:ext uri="{FF2B5EF4-FFF2-40B4-BE49-F238E27FC236}">
                <a16:creationId xmlns:a16="http://schemas.microsoft.com/office/drawing/2014/main" id="{61A7DCFA-862B-BD71-E8D8-E31F52A5173C}"/>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descr="Blue counter">
            <a:extLst>
              <a:ext uri="{FF2B5EF4-FFF2-40B4-BE49-F238E27FC236}">
                <a16:creationId xmlns:a16="http://schemas.microsoft.com/office/drawing/2014/main" id="{CA8957EE-4969-F73A-4246-8F558ACF2422}"/>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descr="Blue counter">
            <a:extLst>
              <a:ext uri="{FF2B5EF4-FFF2-40B4-BE49-F238E27FC236}">
                <a16:creationId xmlns:a16="http://schemas.microsoft.com/office/drawing/2014/main" id="{DA060FAF-B1ED-C6AC-AC8E-8746EF03CE55}"/>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descr="Blue counter">
            <a:extLst>
              <a:ext uri="{FF2B5EF4-FFF2-40B4-BE49-F238E27FC236}">
                <a16:creationId xmlns:a16="http://schemas.microsoft.com/office/drawing/2014/main" id="{1FC313E4-691E-F76F-2982-A8D2816CDB50}"/>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descr="Blue counter">
            <a:extLst>
              <a:ext uri="{FF2B5EF4-FFF2-40B4-BE49-F238E27FC236}">
                <a16:creationId xmlns:a16="http://schemas.microsoft.com/office/drawing/2014/main" id="{84CA3D08-2006-A02F-315B-D9D7B9BD670C}"/>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descr="Blue counter">
            <a:extLst>
              <a:ext uri="{FF2B5EF4-FFF2-40B4-BE49-F238E27FC236}">
                <a16:creationId xmlns:a16="http://schemas.microsoft.com/office/drawing/2014/main" id="{E9DDF5F4-8DB8-433A-12BE-B34C0D754D70}"/>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descr="Blue counter">
            <a:extLst>
              <a:ext uri="{FF2B5EF4-FFF2-40B4-BE49-F238E27FC236}">
                <a16:creationId xmlns:a16="http://schemas.microsoft.com/office/drawing/2014/main" id="{5304B4A4-615D-860D-7116-D038817C34E5}"/>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descr="Blue counter">
            <a:extLst>
              <a:ext uri="{FF2B5EF4-FFF2-40B4-BE49-F238E27FC236}">
                <a16:creationId xmlns:a16="http://schemas.microsoft.com/office/drawing/2014/main" id="{ECE04EA8-A490-7FF4-A50D-A30EBB61085D}"/>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descr="Blue counter">
            <a:extLst>
              <a:ext uri="{FF2B5EF4-FFF2-40B4-BE49-F238E27FC236}">
                <a16:creationId xmlns:a16="http://schemas.microsoft.com/office/drawing/2014/main" id="{2D68C160-AB6F-BA6C-0CEC-EFC5F6DB2509}"/>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descr="Blue counter">
            <a:extLst>
              <a:ext uri="{FF2B5EF4-FFF2-40B4-BE49-F238E27FC236}">
                <a16:creationId xmlns:a16="http://schemas.microsoft.com/office/drawing/2014/main" id="{BEF12032-75EC-0796-6512-6DBE4FF8ACCD}"/>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descr="Blue counter">
            <a:extLst>
              <a:ext uri="{FF2B5EF4-FFF2-40B4-BE49-F238E27FC236}">
                <a16:creationId xmlns:a16="http://schemas.microsoft.com/office/drawing/2014/main" id="{8063E0D4-8DF2-2036-2029-554EB32DC922}"/>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descr="Blue counter">
            <a:extLst>
              <a:ext uri="{FF2B5EF4-FFF2-40B4-BE49-F238E27FC236}">
                <a16:creationId xmlns:a16="http://schemas.microsoft.com/office/drawing/2014/main" id="{860CD9C3-23BF-838A-B9B3-7492F1754E9E}"/>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descr="Blue counter">
            <a:extLst>
              <a:ext uri="{FF2B5EF4-FFF2-40B4-BE49-F238E27FC236}">
                <a16:creationId xmlns:a16="http://schemas.microsoft.com/office/drawing/2014/main" id="{2323EFB9-CECD-642D-A786-F4476DB7D842}"/>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descr="Blue counter">
            <a:extLst>
              <a:ext uri="{FF2B5EF4-FFF2-40B4-BE49-F238E27FC236}">
                <a16:creationId xmlns:a16="http://schemas.microsoft.com/office/drawing/2014/main" id="{43D71A8B-AF79-BF63-ABAD-2D7CD77CBBFB}"/>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descr="Blue counter">
            <a:extLst>
              <a:ext uri="{FF2B5EF4-FFF2-40B4-BE49-F238E27FC236}">
                <a16:creationId xmlns:a16="http://schemas.microsoft.com/office/drawing/2014/main" id="{E3635576-F938-C22C-3ED6-0872853E2B25}"/>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descr="Blue counter">
            <a:extLst>
              <a:ext uri="{FF2B5EF4-FFF2-40B4-BE49-F238E27FC236}">
                <a16:creationId xmlns:a16="http://schemas.microsoft.com/office/drawing/2014/main" id="{46B2730B-9936-FF28-C2A1-570B1D2CA609}"/>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descr="Blue counter">
            <a:extLst>
              <a:ext uri="{FF2B5EF4-FFF2-40B4-BE49-F238E27FC236}">
                <a16:creationId xmlns:a16="http://schemas.microsoft.com/office/drawing/2014/main" id="{DB33B2D3-9D9A-B8DB-E663-28E6EEB1941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4" name="Text Placeholder 13">
            <a:extLst>
              <a:ext uri="{FF2B5EF4-FFF2-40B4-BE49-F238E27FC236}">
                <a16:creationId xmlns:a16="http://schemas.microsoft.com/office/drawing/2014/main" id="{2254C131-DC1C-7E1B-D1EC-F8BD4F4B0716}"/>
              </a:ext>
            </a:extLst>
          </p:cNvPr>
          <p:cNvSpPr>
            <a:spLocks noGrp="1"/>
          </p:cNvSpPr>
          <p:nvPr>
            <p:ph type="body" sz="quarter" idx="24"/>
          </p:nvPr>
        </p:nvSpPr>
        <p:spPr>
          <a:xfrm>
            <a:off x="722284" y="887135"/>
            <a:ext cx="10747431" cy="1850127"/>
          </a:xfrm>
        </p:spPr>
        <p:txBody>
          <a:bodyPr/>
          <a:lstStyle/>
          <a:p>
            <a:r>
              <a:rPr lang="en-AU" sz="4000"/>
              <a:t>This metal bar is </a:t>
            </a:r>
            <a:r>
              <a:rPr lang="en-AU" sz="4000" b="1"/>
              <a:t>2.7 m long</a:t>
            </a:r>
            <a:r>
              <a:rPr lang="en-AU" sz="4000"/>
              <a:t>. If one section is </a:t>
            </a:r>
            <a:r>
              <a:rPr lang="en-AU" sz="4000" b="1"/>
              <a:t>1.2 m, </a:t>
            </a:r>
            <a:r>
              <a:rPr lang="en-AU" sz="4000"/>
              <a:t>how long is the other part of the bar?</a:t>
            </a:r>
          </a:p>
        </p:txBody>
      </p:sp>
      <p:sp>
        <p:nvSpPr>
          <p:cNvPr id="9" name="TextBox 8">
            <a:extLst>
              <a:ext uri="{FF2B5EF4-FFF2-40B4-BE49-F238E27FC236}">
                <a16:creationId xmlns:a16="http://schemas.microsoft.com/office/drawing/2014/main" id="{8B9CE09D-4912-352C-EDD3-2F5B22293E2B}"/>
              </a:ext>
            </a:extLst>
          </p:cNvPr>
          <p:cNvSpPr txBox="1"/>
          <p:nvPr/>
        </p:nvSpPr>
        <p:spPr>
          <a:xfrm>
            <a:off x="848609" y="54215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37C3BB04-89AD-CEBA-960A-903AD6EA6FC1}"/>
              </a:ext>
            </a:extLst>
          </p:cNvPr>
          <p:cNvSpPr txBox="1"/>
          <p:nvPr/>
        </p:nvSpPr>
        <p:spPr>
          <a:xfrm>
            <a:off x="266384" y="5970865"/>
            <a:ext cx="2173922" cy="769441"/>
          </a:xfrm>
          <a:prstGeom prst="rect">
            <a:avLst/>
          </a:prstGeom>
          <a:noFill/>
        </p:spPr>
        <p:txBody>
          <a:bodyPr wrap="square">
            <a:spAutoFit/>
          </a:bodyPr>
          <a:lstStyle/>
          <a:p>
            <a:pPr algn="ctr"/>
            <a:r>
              <a:rPr lang="en-US" sz="4400"/>
              <a:t>3.9 m</a:t>
            </a:r>
            <a:endParaRPr lang="en-AU" sz="4400"/>
          </a:p>
        </p:txBody>
      </p:sp>
      <p:sp>
        <p:nvSpPr>
          <p:cNvPr id="10" name="TextBox 9">
            <a:extLst>
              <a:ext uri="{FF2B5EF4-FFF2-40B4-BE49-F238E27FC236}">
                <a16:creationId xmlns:a16="http://schemas.microsoft.com/office/drawing/2014/main" id="{6720C9BD-206D-1246-CC58-B94DA2A9FDA7}"/>
              </a:ext>
            </a:extLst>
          </p:cNvPr>
          <p:cNvSpPr txBox="1"/>
          <p:nvPr/>
        </p:nvSpPr>
        <p:spPr>
          <a:xfrm>
            <a:off x="4000494" y="53764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9510DFCC-AE71-4CE6-345B-36B10B82E857}"/>
              </a:ext>
            </a:extLst>
          </p:cNvPr>
          <p:cNvSpPr txBox="1"/>
          <p:nvPr/>
        </p:nvSpPr>
        <p:spPr>
          <a:xfrm>
            <a:off x="3272748" y="5989724"/>
            <a:ext cx="2008866" cy="769441"/>
          </a:xfrm>
          <a:prstGeom prst="rect">
            <a:avLst/>
          </a:prstGeom>
          <a:noFill/>
        </p:spPr>
        <p:txBody>
          <a:bodyPr wrap="square">
            <a:spAutoFit/>
          </a:bodyPr>
          <a:lstStyle/>
          <a:p>
            <a:pPr algn="ctr"/>
            <a:r>
              <a:rPr lang="en-US" sz="4400"/>
              <a:t>1.9 m</a:t>
            </a:r>
            <a:endParaRPr lang="en-AU" sz="4400"/>
          </a:p>
        </p:txBody>
      </p:sp>
      <p:sp>
        <p:nvSpPr>
          <p:cNvPr id="12" name="TextBox 11">
            <a:extLst>
              <a:ext uri="{FF2B5EF4-FFF2-40B4-BE49-F238E27FC236}">
                <a16:creationId xmlns:a16="http://schemas.microsoft.com/office/drawing/2014/main" id="{53D31413-FF78-7189-1A0F-0B12F84CC32D}"/>
              </a:ext>
            </a:extLst>
          </p:cNvPr>
          <p:cNvSpPr txBox="1"/>
          <p:nvPr/>
        </p:nvSpPr>
        <p:spPr>
          <a:xfrm>
            <a:off x="7022418" y="53764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86E4AC6B-DBBF-D84A-D9F6-0814801D0864}"/>
              </a:ext>
            </a:extLst>
          </p:cNvPr>
          <p:cNvSpPr txBox="1"/>
          <p:nvPr/>
        </p:nvSpPr>
        <p:spPr>
          <a:xfrm>
            <a:off x="6246301" y="5970865"/>
            <a:ext cx="1942804" cy="769441"/>
          </a:xfrm>
          <a:prstGeom prst="rect">
            <a:avLst/>
          </a:prstGeom>
          <a:noFill/>
        </p:spPr>
        <p:txBody>
          <a:bodyPr wrap="square">
            <a:spAutoFit/>
          </a:bodyPr>
          <a:lstStyle/>
          <a:p>
            <a:pPr algn="ctr"/>
            <a:r>
              <a:rPr lang="en-US" sz="4400"/>
              <a:t>1.5 m</a:t>
            </a:r>
            <a:endParaRPr lang="en-AU" sz="4400"/>
          </a:p>
        </p:txBody>
      </p:sp>
      <p:sp>
        <p:nvSpPr>
          <p:cNvPr id="11" name="TextBox 10">
            <a:extLst>
              <a:ext uri="{FF2B5EF4-FFF2-40B4-BE49-F238E27FC236}">
                <a16:creationId xmlns:a16="http://schemas.microsoft.com/office/drawing/2014/main" id="{F03294A5-CB62-91E6-0D20-1199ECBFAF01}"/>
              </a:ext>
            </a:extLst>
          </p:cNvPr>
          <p:cNvSpPr txBox="1"/>
          <p:nvPr/>
        </p:nvSpPr>
        <p:spPr>
          <a:xfrm>
            <a:off x="10026392" y="53764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03614739-930F-765D-6A0B-1F767285BBE2}"/>
              </a:ext>
            </a:extLst>
          </p:cNvPr>
          <p:cNvSpPr txBox="1"/>
          <p:nvPr/>
        </p:nvSpPr>
        <p:spPr>
          <a:xfrm>
            <a:off x="9460849" y="5970865"/>
            <a:ext cx="2008866" cy="769441"/>
          </a:xfrm>
          <a:prstGeom prst="rect">
            <a:avLst/>
          </a:prstGeom>
          <a:noFill/>
        </p:spPr>
        <p:txBody>
          <a:bodyPr wrap="square">
            <a:spAutoFit/>
          </a:bodyPr>
          <a:lstStyle/>
          <a:p>
            <a:pPr algn="ctr"/>
            <a:r>
              <a:rPr lang="en-US" sz="4400"/>
              <a:t>2.5 m</a:t>
            </a:r>
            <a:endParaRPr lang="en-AU" sz="4400"/>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16" name="Picture 15" descr="A horizontal blue bar divided into two segments. One part  measuring 1.2 meters and the total length shown as 2.7 metres.">
            <a:extLst>
              <a:ext uri="{FF2B5EF4-FFF2-40B4-BE49-F238E27FC236}">
                <a16:creationId xmlns:a16="http://schemas.microsoft.com/office/drawing/2014/main" id="{7F293F3D-2EB6-4D46-2E77-23F53E956152}"/>
              </a:ext>
            </a:extLst>
          </p:cNvPr>
          <p:cNvPicPr>
            <a:picLocks noChangeAspect="1"/>
          </p:cNvPicPr>
          <p:nvPr/>
        </p:nvPicPr>
        <p:blipFill>
          <a:blip r:embed="rId4"/>
          <a:stretch>
            <a:fillRect/>
          </a:stretch>
        </p:blipFill>
        <p:spPr>
          <a:xfrm>
            <a:off x="2155683" y="2914586"/>
            <a:ext cx="7636017" cy="23801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15980368-424B-52A3-8296-BD5BC37F8B47}"/>
              </a:ext>
            </a:extLst>
          </p:cNvPr>
          <p:cNvSpPr txBox="1"/>
          <p:nvPr/>
        </p:nvSpPr>
        <p:spPr>
          <a:xfrm>
            <a:off x="538991" y="1565153"/>
            <a:ext cx="11305009" cy="915500"/>
          </a:xfrm>
          <a:prstGeom prst="rect">
            <a:avLst/>
          </a:prstGeom>
          <a:noFill/>
        </p:spPr>
        <p:txBody>
          <a:bodyPr wrap="square" lIns="0" tIns="0" rIns="0" bIns="0" rtlCol="0">
            <a:noAutofit/>
          </a:bodyPr>
          <a:lstStyle/>
          <a:p>
            <a:pPr algn="ctr">
              <a:lnSpc>
                <a:spcPct val="150000"/>
              </a:lnSpc>
            </a:pPr>
            <a:r>
              <a:rPr lang="en-AU" sz="4400" b="1"/>
              <a:t>Solve </a:t>
            </a:r>
            <a:r>
              <a:rPr lang="en-AU" sz="4400"/>
              <a:t>the following problem:</a:t>
            </a:r>
          </a:p>
        </p:txBody>
      </p:sp>
      <p:sp>
        <p:nvSpPr>
          <p:cNvPr id="7" name="TextBox 6">
            <a:extLst>
              <a:ext uri="{FF2B5EF4-FFF2-40B4-BE49-F238E27FC236}">
                <a16:creationId xmlns:a16="http://schemas.microsoft.com/office/drawing/2014/main" id="{AED1F390-E734-28BA-9C20-BE67FC841BE0}"/>
              </a:ext>
            </a:extLst>
          </p:cNvPr>
          <p:cNvSpPr txBox="1"/>
          <p:nvPr/>
        </p:nvSpPr>
        <p:spPr>
          <a:xfrm>
            <a:off x="443495" y="2861583"/>
            <a:ext cx="11305009" cy="1977056"/>
          </a:xfrm>
          <a:prstGeom prst="rect">
            <a:avLst/>
          </a:prstGeom>
          <a:noFill/>
        </p:spPr>
        <p:txBody>
          <a:bodyPr wrap="square" lIns="0" tIns="0" rIns="0" bIns="0" rtlCol="0">
            <a:noAutofit/>
          </a:bodyPr>
          <a:lstStyle/>
          <a:p>
            <a:pPr algn="ctr">
              <a:lnSpc>
                <a:spcPct val="150000"/>
              </a:lnSpc>
            </a:pPr>
            <a:r>
              <a:rPr lang="en-AU" sz="4400"/>
              <a:t>If </a:t>
            </a:r>
            <a:r>
              <a:rPr lang="en-AU" sz="4400" b="1"/>
              <a:t>8</a:t>
            </a:r>
            <a:r>
              <a:rPr lang="en-AU" sz="4400"/>
              <a:t> concert tickets cost </a:t>
            </a:r>
            <a:r>
              <a:rPr lang="en-AU" sz="4400" b="1"/>
              <a:t>$1 936</a:t>
            </a:r>
            <a:r>
              <a:rPr lang="en-AU" sz="4400"/>
              <a:t>, what is the cost of </a:t>
            </a:r>
            <a:r>
              <a:rPr lang="en-AU" sz="4400" b="1"/>
              <a:t>one ticket</a:t>
            </a:r>
            <a:r>
              <a:rPr lang="en-AU" sz="4400"/>
              <a:t>?</a:t>
            </a:r>
          </a:p>
        </p:txBody>
      </p:sp>
      <p:sp>
        <p:nvSpPr>
          <p:cNvPr id="4" name="TextBox 3">
            <a:extLst>
              <a:ext uri="{FF2B5EF4-FFF2-40B4-BE49-F238E27FC236}">
                <a16:creationId xmlns:a16="http://schemas.microsoft.com/office/drawing/2014/main" id="{81B57930-5E21-636A-6784-A831E4C03328}"/>
              </a:ext>
            </a:extLst>
          </p:cNvPr>
          <p:cNvSpPr txBox="1"/>
          <p:nvPr/>
        </p:nvSpPr>
        <p:spPr>
          <a:xfrm>
            <a:off x="573505" y="5836559"/>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33937F3-6C26-C5EB-309B-9AE3C3CDDF9C}"/>
              </a:ext>
            </a:extLst>
          </p:cNvPr>
          <p:cNvSpPr txBox="1"/>
          <p:nvPr/>
        </p:nvSpPr>
        <p:spPr>
          <a:xfrm>
            <a:off x="443495" y="1184223"/>
            <a:ext cx="11305009" cy="545601"/>
          </a:xfrm>
          <a:prstGeom prst="rect">
            <a:avLst/>
          </a:prstGeom>
          <a:noFill/>
        </p:spPr>
        <p:txBody>
          <a:bodyPr wrap="square" lIns="0" tIns="0" rIns="0" bIns="0" rtlCol="0">
            <a:noAutofit/>
          </a:bodyPr>
          <a:lstStyle/>
          <a:p>
            <a:pPr algn="ctr"/>
            <a:r>
              <a:rPr lang="en-AU" sz="4400" b="1"/>
              <a:t>Solve</a:t>
            </a:r>
            <a:r>
              <a:rPr lang="en-AU" sz="4400"/>
              <a:t> the problem using </a:t>
            </a:r>
            <a:r>
              <a:rPr lang="en-AU" sz="4400" b="1"/>
              <a:t>2 different strategies.</a:t>
            </a:r>
          </a:p>
        </p:txBody>
      </p:sp>
      <p:sp>
        <p:nvSpPr>
          <p:cNvPr id="8" name="TextBox 7">
            <a:extLst>
              <a:ext uri="{FF2B5EF4-FFF2-40B4-BE49-F238E27FC236}">
                <a16:creationId xmlns:a16="http://schemas.microsoft.com/office/drawing/2014/main" id="{35D391ED-9841-6334-EE86-E5F3B94EB419}"/>
              </a:ext>
            </a:extLst>
          </p:cNvPr>
          <p:cNvSpPr txBox="1"/>
          <p:nvPr/>
        </p:nvSpPr>
        <p:spPr>
          <a:xfrm>
            <a:off x="360000" y="2608778"/>
            <a:ext cx="11320334" cy="2482667"/>
          </a:xfrm>
          <a:prstGeom prst="rect">
            <a:avLst/>
          </a:prstGeom>
          <a:noFill/>
        </p:spPr>
        <p:txBody>
          <a:bodyPr wrap="square">
            <a:spAutoFit/>
          </a:bodyPr>
          <a:lstStyle/>
          <a:p>
            <a:pPr algn="ctr">
              <a:lnSpc>
                <a:spcPct val="150000"/>
              </a:lnSpc>
            </a:pPr>
            <a:r>
              <a:rPr lang="en-AU" sz="3600" b="0" i="0">
                <a:solidFill>
                  <a:schemeClr val="accent2"/>
                </a:solidFill>
                <a:effectLst/>
              </a:rPr>
              <a:t>A cyclist completes part 1 of a race in 732.589 seconds and part 2 in 730.124 seconds. </a:t>
            </a:r>
          </a:p>
          <a:p>
            <a:pPr algn="ctr">
              <a:lnSpc>
                <a:spcPct val="150000"/>
              </a:lnSpc>
            </a:pPr>
            <a:r>
              <a:rPr lang="en-AU" sz="3600" b="0" i="0">
                <a:solidFill>
                  <a:schemeClr val="accent2"/>
                </a:solidFill>
                <a:effectLst/>
              </a:rPr>
              <a:t>What is the </a:t>
            </a:r>
            <a:r>
              <a:rPr lang="en-AU" sz="3600" b="1" i="0">
                <a:solidFill>
                  <a:schemeClr val="accent2"/>
                </a:solidFill>
                <a:effectLst/>
              </a:rPr>
              <a:t>total</a:t>
            </a:r>
            <a:r>
              <a:rPr lang="en-AU" sz="3600" b="0" i="0">
                <a:solidFill>
                  <a:schemeClr val="accent2"/>
                </a:solidFill>
                <a:effectLst/>
              </a:rPr>
              <a:t> </a:t>
            </a:r>
            <a:r>
              <a:rPr lang="en-AU" sz="3600" b="1" i="0">
                <a:solidFill>
                  <a:schemeClr val="accent2"/>
                </a:solidFill>
                <a:effectLst/>
              </a:rPr>
              <a:t>time</a:t>
            </a:r>
            <a:r>
              <a:rPr lang="en-AU" sz="3600" b="0" i="0">
                <a:solidFill>
                  <a:schemeClr val="accent2"/>
                </a:solidFill>
                <a:effectLst/>
              </a:rPr>
              <a:t> taken to complete both parts?</a:t>
            </a:r>
          </a:p>
        </p:txBody>
      </p:sp>
      <p:sp>
        <p:nvSpPr>
          <p:cNvPr id="5" name="TextBox 4">
            <a:extLst>
              <a:ext uri="{FF2B5EF4-FFF2-40B4-BE49-F238E27FC236}">
                <a16:creationId xmlns:a16="http://schemas.microsoft.com/office/drawing/2014/main" id="{D27C82F8-8738-DE4E-453A-CF6027B2C725}"/>
              </a:ext>
            </a:extLst>
          </p:cNvPr>
          <p:cNvSpPr txBox="1"/>
          <p:nvPr/>
        </p:nvSpPr>
        <p:spPr>
          <a:xfrm>
            <a:off x="538991" y="5530922"/>
            <a:ext cx="11305009" cy="545601"/>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 </a:t>
            </a:r>
            <a:endParaRPr lang="en-AU" sz="4400"/>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B7CC723-2747-C05C-0ED6-DD388C828A81}"/>
              </a:ext>
            </a:extLst>
          </p:cNvPr>
          <p:cNvSpPr txBox="1"/>
          <p:nvPr/>
        </p:nvSpPr>
        <p:spPr>
          <a:xfrm>
            <a:off x="360000" y="1518373"/>
            <a:ext cx="11305009" cy="545601"/>
          </a:xfrm>
          <a:prstGeom prst="rect">
            <a:avLst/>
          </a:prstGeom>
          <a:noFill/>
        </p:spPr>
        <p:txBody>
          <a:bodyPr wrap="square" lIns="0" tIns="0" rIns="0" bIns="0" rtlCol="0">
            <a:noAutofit/>
          </a:bodyPr>
          <a:lstStyle/>
          <a:p>
            <a:pPr algn="ctr"/>
            <a:r>
              <a:rPr lang="en-AU" sz="4400"/>
              <a:t>Record</a:t>
            </a:r>
            <a:r>
              <a:rPr lang="en-AU" sz="4400" b="1"/>
              <a:t> </a:t>
            </a:r>
            <a:r>
              <a:rPr lang="en-AU" sz="4400"/>
              <a:t>in </a:t>
            </a:r>
            <a:r>
              <a:rPr lang="en-AU" sz="4400" b="1"/>
              <a:t>descending</a:t>
            </a:r>
            <a:r>
              <a:rPr lang="en-AU" sz="4400"/>
              <a:t> order:</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7" name="TextBox 6">
            <a:extLst>
              <a:ext uri="{FF2B5EF4-FFF2-40B4-BE49-F238E27FC236}">
                <a16:creationId xmlns:a16="http://schemas.microsoft.com/office/drawing/2014/main" id="{4A1B547F-BF6C-2755-B9F4-A99E938D7895}"/>
              </a:ext>
            </a:extLst>
          </p:cNvPr>
          <p:cNvSpPr txBox="1"/>
          <p:nvPr/>
        </p:nvSpPr>
        <p:spPr>
          <a:xfrm>
            <a:off x="573505" y="5467937"/>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8" name="Rectangle: Rounded Corners 7">
            <a:extLst>
              <a:ext uri="{FF2B5EF4-FFF2-40B4-BE49-F238E27FC236}">
                <a16:creationId xmlns:a16="http://schemas.microsoft.com/office/drawing/2014/main" id="{671AA8C2-1776-F808-537C-03AE7FDC7097}"/>
              </a:ext>
            </a:extLst>
          </p:cNvPr>
          <p:cNvSpPr/>
          <p:nvPr/>
        </p:nvSpPr>
        <p:spPr>
          <a:xfrm>
            <a:off x="741001" y="3020441"/>
            <a:ext cx="2497500"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6.971</a:t>
            </a:r>
          </a:p>
        </p:txBody>
      </p:sp>
      <p:sp>
        <p:nvSpPr>
          <p:cNvPr id="9" name="Rectangle: Rounded Corners 8">
            <a:extLst>
              <a:ext uri="{FF2B5EF4-FFF2-40B4-BE49-F238E27FC236}">
                <a16:creationId xmlns:a16="http://schemas.microsoft.com/office/drawing/2014/main" id="{5C302A6B-BB70-FE11-A759-8B01B11EEC7D}"/>
              </a:ext>
            </a:extLst>
          </p:cNvPr>
          <p:cNvSpPr/>
          <p:nvPr/>
        </p:nvSpPr>
        <p:spPr>
          <a:xfrm>
            <a:off x="9275401" y="3003865"/>
            <a:ext cx="2497500"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0.697</a:t>
            </a:r>
          </a:p>
        </p:txBody>
      </p:sp>
      <p:sp>
        <p:nvSpPr>
          <p:cNvPr id="10" name="Rectangle: Rounded Corners 9">
            <a:extLst>
              <a:ext uri="{FF2B5EF4-FFF2-40B4-BE49-F238E27FC236}">
                <a16:creationId xmlns:a16="http://schemas.microsoft.com/office/drawing/2014/main" id="{2F1BF484-E56B-24D8-83A6-03A4941FA163}"/>
              </a:ext>
            </a:extLst>
          </p:cNvPr>
          <p:cNvSpPr/>
          <p:nvPr/>
        </p:nvSpPr>
        <p:spPr>
          <a:xfrm>
            <a:off x="6430601" y="3013326"/>
            <a:ext cx="2497500"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6.719</a:t>
            </a:r>
          </a:p>
        </p:txBody>
      </p:sp>
      <p:sp>
        <p:nvSpPr>
          <p:cNvPr id="11" name="Rectangle: Rounded Corners 10">
            <a:extLst>
              <a:ext uri="{FF2B5EF4-FFF2-40B4-BE49-F238E27FC236}">
                <a16:creationId xmlns:a16="http://schemas.microsoft.com/office/drawing/2014/main" id="{4172C10D-A30F-B59F-3B1A-94C43A85EC06}"/>
              </a:ext>
            </a:extLst>
          </p:cNvPr>
          <p:cNvSpPr/>
          <p:nvPr/>
        </p:nvSpPr>
        <p:spPr>
          <a:xfrm>
            <a:off x="3585801" y="3003865"/>
            <a:ext cx="2497500" cy="1368000"/>
          </a:xfrm>
          <a:prstGeom prst="roundRect">
            <a:avLst/>
          </a:prstGeom>
          <a:noFill/>
          <a:ln w="19050">
            <a:solidFill>
              <a:schemeClr val="tx1"/>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cs typeface="Arial" panose="020B0604020202020204" pitchFamily="34" charset="0"/>
              </a:rPr>
              <a:t>6.9</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3F7F08A-0577-0B78-139C-E7543DDEAA1E}"/>
              </a:ext>
            </a:extLst>
          </p:cNvPr>
          <p:cNvSpPr txBox="1"/>
          <p:nvPr/>
        </p:nvSpPr>
        <p:spPr>
          <a:xfrm>
            <a:off x="360000" y="1184223"/>
            <a:ext cx="11216640" cy="1231106"/>
          </a:xfrm>
          <a:prstGeom prst="rect">
            <a:avLst/>
          </a:prstGeom>
          <a:noFill/>
        </p:spPr>
        <p:txBody>
          <a:bodyPr wrap="square" lIns="0" tIns="0" rIns="0" bIns="0" rtlCol="0">
            <a:spAutoFit/>
          </a:bodyPr>
          <a:lstStyle/>
          <a:p>
            <a:pPr algn="ctr"/>
            <a:r>
              <a:rPr lang="en-AU" sz="4000"/>
              <a:t>If each side of this rhombus is </a:t>
            </a:r>
            <a:r>
              <a:rPr lang="en-AU" sz="4000" b="1"/>
              <a:t>12 cm</a:t>
            </a:r>
            <a:r>
              <a:rPr lang="en-AU" sz="4000"/>
              <a:t>, what is its </a:t>
            </a:r>
            <a:r>
              <a:rPr lang="en-AU" sz="4000" b="1"/>
              <a:t>perimeter</a:t>
            </a:r>
            <a:r>
              <a:rPr lang="en-AU" sz="4000"/>
              <a:t>?</a:t>
            </a:r>
          </a:p>
        </p:txBody>
      </p:sp>
      <p:sp>
        <p:nvSpPr>
          <p:cNvPr id="8" name="Parallelogram 7" descr="Blue rhombus">
            <a:extLst>
              <a:ext uri="{FF2B5EF4-FFF2-40B4-BE49-F238E27FC236}">
                <a16:creationId xmlns:a16="http://schemas.microsoft.com/office/drawing/2014/main" id="{16ACBE0A-5640-030A-ACEB-F1FF8B4E2741}"/>
              </a:ext>
            </a:extLst>
          </p:cNvPr>
          <p:cNvSpPr/>
          <p:nvPr/>
        </p:nvSpPr>
        <p:spPr>
          <a:xfrm rot="2294648">
            <a:off x="4679451" y="2980062"/>
            <a:ext cx="3063857" cy="2409750"/>
          </a:xfrm>
          <a:prstGeom prst="parallelogram">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21CA72AD-28F3-3AA1-8C2E-B2378ABC2CD3}"/>
              </a:ext>
            </a:extLst>
          </p:cNvPr>
          <p:cNvSpPr txBox="1"/>
          <p:nvPr/>
        </p:nvSpPr>
        <p:spPr>
          <a:xfrm>
            <a:off x="2014960" y="5882447"/>
            <a:ext cx="7626876" cy="615553"/>
          </a:xfrm>
          <a:prstGeom prst="rect">
            <a:avLst/>
          </a:prstGeom>
          <a:noFill/>
        </p:spPr>
        <p:txBody>
          <a:bodyPr wrap="square" lIns="0" tIns="0" rIns="0" bIns="0" rtlCol="0">
            <a:spAutoFit/>
          </a:bodyPr>
          <a:lstStyle/>
          <a:p>
            <a:pPr algn="ctr"/>
            <a:r>
              <a:rPr lang="en-AU" sz="4000" b="1"/>
              <a:t>Communicate</a:t>
            </a:r>
            <a:r>
              <a:rPr lang="en-AU" sz="4000"/>
              <a:t> your </a:t>
            </a:r>
            <a:r>
              <a:rPr lang="en-AU" sz="4000" b="1"/>
              <a:t>reasoning</a:t>
            </a:r>
            <a:r>
              <a:rPr lang="en-AU" sz="4000"/>
              <a:t>.</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decimal operations</a:t>
            </a:r>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grid with 12 rows of 10 columns. The cells show the decimal numbers increasing from 0 to 12, to one decimal place. Each cell also has the value represented in words, for example, 3 point 5, then 3 and 5 tenths. ">
            <a:extLst>
              <a:ext uri="{FF2B5EF4-FFF2-40B4-BE49-F238E27FC236}">
                <a16:creationId xmlns:a16="http://schemas.microsoft.com/office/drawing/2014/main" id="{198D2095-2914-09E3-970E-CD13C8818BC1}"/>
              </a:ext>
            </a:extLst>
          </p:cNvPr>
          <p:cNvPicPr>
            <a:picLocks noChangeAspect="1"/>
          </p:cNvPicPr>
          <p:nvPr/>
        </p:nvPicPr>
        <p:blipFill>
          <a:blip r:embed="rId4">
            <a:extLst>
              <a:ext uri="{28A0092B-C50C-407E-A947-70E740481C1C}">
                <a14:useLocalDpi xmlns:a14="http://schemas.microsoft.com/office/drawing/2010/main" val="0"/>
              </a:ext>
            </a:extLst>
          </a:blip>
          <a:srcRect l="7878" t="12350" r="6374" b="13306"/>
          <a:stretch>
            <a:fillRect/>
          </a:stretch>
        </p:blipFill>
        <p:spPr>
          <a:xfrm>
            <a:off x="6266046" y="766180"/>
            <a:ext cx="4868463" cy="5970015"/>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45" name="Oval 44" descr="Yellow counter">
            <a:extLst>
              <a:ext uri="{FF2B5EF4-FFF2-40B4-BE49-F238E27FC236}">
                <a16:creationId xmlns:a16="http://schemas.microsoft.com/office/drawing/2014/main" id="{64B7DB49-E369-E0BC-8156-D5805C1CF1C4}"/>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descr="Yellow counter">
            <a:extLst>
              <a:ext uri="{FF2B5EF4-FFF2-40B4-BE49-F238E27FC236}">
                <a16:creationId xmlns:a16="http://schemas.microsoft.com/office/drawing/2014/main" id="{57DC0127-F81E-62F2-012B-1061357406C4}"/>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descr="Yellow counter">
            <a:extLst>
              <a:ext uri="{FF2B5EF4-FFF2-40B4-BE49-F238E27FC236}">
                <a16:creationId xmlns:a16="http://schemas.microsoft.com/office/drawing/2014/main" id="{E0BCEA8A-B2F8-83CC-75DC-2E9BCDF4B690}"/>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descr="Yellow counter">
            <a:extLst>
              <a:ext uri="{FF2B5EF4-FFF2-40B4-BE49-F238E27FC236}">
                <a16:creationId xmlns:a16="http://schemas.microsoft.com/office/drawing/2014/main" id="{E7C2A023-08CA-FAC9-40E5-071B90EAA495}"/>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descr="Yellow counter">
            <a:extLst>
              <a:ext uri="{FF2B5EF4-FFF2-40B4-BE49-F238E27FC236}">
                <a16:creationId xmlns:a16="http://schemas.microsoft.com/office/drawing/2014/main" id="{957DE6EF-DFB1-6295-191B-CDAAE07C0BDD}"/>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descr="Yellow counter">
            <a:extLst>
              <a:ext uri="{FF2B5EF4-FFF2-40B4-BE49-F238E27FC236}">
                <a16:creationId xmlns:a16="http://schemas.microsoft.com/office/drawing/2014/main" id="{356426FA-5AA8-2E4D-05D9-237165ECC7ED}"/>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descr="Yellow counter">
            <a:extLst>
              <a:ext uri="{FF2B5EF4-FFF2-40B4-BE49-F238E27FC236}">
                <a16:creationId xmlns:a16="http://schemas.microsoft.com/office/drawing/2014/main" id="{23F88B22-9AF5-E2E5-0A39-690D55CCDB4F}"/>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descr="Yellow counter">
            <a:extLst>
              <a:ext uri="{FF2B5EF4-FFF2-40B4-BE49-F238E27FC236}">
                <a16:creationId xmlns:a16="http://schemas.microsoft.com/office/drawing/2014/main" id="{6257C0CF-2817-5700-7676-AA361198903E}"/>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descr="Yellow counter">
            <a:extLst>
              <a:ext uri="{FF2B5EF4-FFF2-40B4-BE49-F238E27FC236}">
                <a16:creationId xmlns:a16="http://schemas.microsoft.com/office/drawing/2014/main" id="{5302A5DD-EEA5-CD84-842B-E7B35678F518}"/>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descr="Yellow counter">
            <a:extLst>
              <a:ext uri="{FF2B5EF4-FFF2-40B4-BE49-F238E27FC236}">
                <a16:creationId xmlns:a16="http://schemas.microsoft.com/office/drawing/2014/main" id="{1B994ADC-D2A5-29FA-3320-896DEC1A7B66}"/>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descr="Yellow counter">
            <a:extLst>
              <a:ext uri="{FF2B5EF4-FFF2-40B4-BE49-F238E27FC236}">
                <a16:creationId xmlns:a16="http://schemas.microsoft.com/office/drawing/2014/main" id="{C56948E0-5751-CBC3-7518-C1E80204072F}"/>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descr="Yellow counter">
            <a:extLst>
              <a:ext uri="{FF2B5EF4-FFF2-40B4-BE49-F238E27FC236}">
                <a16:creationId xmlns:a16="http://schemas.microsoft.com/office/drawing/2014/main" id="{DD9BB982-2EB5-456C-DE32-8973555F72C6}"/>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descr="Yellow counter">
            <a:extLst>
              <a:ext uri="{FF2B5EF4-FFF2-40B4-BE49-F238E27FC236}">
                <a16:creationId xmlns:a16="http://schemas.microsoft.com/office/drawing/2014/main" id="{F8511884-5FB0-ABD7-8C64-EEC79EA1FE2B}"/>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descr="Yellow counter">
            <a:extLst>
              <a:ext uri="{FF2B5EF4-FFF2-40B4-BE49-F238E27FC236}">
                <a16:creationId xmlns:a16="http://schemas.microsoft.com/office/drawing/2014/main" id="{C6996718-7EA7-97D8-ABE2-8064A8324F49}"/>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descr="Yellow counter">
            <a:extLst>
              <a:ext uri="{FF2B5EF4-FFF2-40B4-BE49-F238E27FC236}">
                <a16:creationId xmlns:a16="http://schemas.microsoft.com/office/drawing/2014/main" id="{A0A32C2C-F0E0-5E2F-19D4-BE72115F2BC1}"/>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descr="Yellow counter">
            <a:extLst>
              <a:ext uri="{FF2B5EF4-FFF2-40B4-BE49-F238E27FC236}">
                <a16:creationId xmlns:a16="http://schemas.microsoft.com/office/drawing/2014/main" id="{C72DEE1B-BBB7-B512-6AA2-5E7941FB0F46}"/>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descr="Yellow counter">
            <a:extLst>
              <a:ext uri="{FF2B5EF4-FFF2-40B4-BE49-F238E27FC236}">
                <a16:creationId xmlns:a16="http://schemas.microsoft.com/office/drawing/2014/main" id="{AE48E34F-F2FA-D304-36E0-48E7E817A6F8}"/>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descr="Yellow counter">
            <a:extLst>
              <a:ext uri="{FF2B5EF4-FFF2-40B4-BE49-F238E27FC236}">
                <a16:creationId xmlns:a16="http://schemas.microsoft.com/office/drawing/2014/main" id="{4DFE79E2-CC0C-7D48-B93E-3810B93CBB53}"/>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descr="Yellow counter">
            <a:extLst>
              <a:ext uri="{FF2B5EF4-FFF2-40B4-BE49-F238E27FC236}">
                <a16:creationId xmlns:a16="http://schemas.microsoft.com/office/drawing/2014/main" id="{7E3B2074-3A04-8959-2218-6F7F4DE26CFF}"/>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descr="Blue counter">
            <a:extLst>
              <a:ext uri="{FF2B5EF4-FFF2-40B4-BE49-F238E27FC236}">
                <a16:creationId xmlns:a16="http://schemas.microsoft.com/office/drawing/2014/main" id="{746E9E16-3BA0-82C5-C427-1CE3F90BF4C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descr="Blue counter">
            <a:extLst>
              <a:ext uri="{FF2B5EF4-FFF2-40B4-BE49-F238E27FC236}">
                <a16:creationId xmlns:a16="http://schemas.microsoft.com/office/drawing/2014/main" id="{1C4F78D1-E92D-4F4D-A3FD-9BC414353742}"/>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descr="Blue counter">
            <a:extLst>
              <a:ext uri="{FF2B5EF4-FFF2-40B4-BE49-F238E27FC236}">
                <a16:creationId xmlns:a16="http://schemas.microsoft.com/office/drawing/2014/main" id="{ABAAEB23-E134-5373-A48F-5C7C62DF66D3}"/>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descr="Blue counter">
            <a:extLst>
              <a:ext uri="{FF2B5EF4-FFF2-40B4-BE49-F238E27FC236}">
                <a16:creationId xmlns:a16="http://schemas.microsoft.com/office/drawing/2014/main" id="{4B97ED85-D578-D278-6524-5C6AA09EDF65}"/>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descr="Blue counter">
            <a:extLst>
              <a:ext uri="{FF2B5EF4-FFF2-40B4-BE49-F238E27FC236}">
                <a16:creationId xmlns:a16="http://schemas.microsoft.com/office/drawing/2014/main" id="{71B27B40-2A63-4F2C-4B2C-714D4BBE12DD}"/>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descr="Blue counter">
            <a:extLst>
              <a:ext uri="{FF2B5EF4-FFF2-40B4-BE49-F238E27FC236}">
                <a16:creationId xmlns:a16="http://schemas.microsoft.com/office/drawing/2014/main" id="{F7FD0249-C49A-A6C3-96C5-574D1E42A26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descr="Blue counter">
            <a:extLst>
              <a:ext uri="{FF2B5EF4-FFF2-40B4-BE49-F238E27FC236}">
                <a16:creationId xmlns:a16="http://schemas.microsoft.com/office/drawing/2014/main" id="{07077476-B196-FBE3-C199-BDACC273C320}"/>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descr="Blue counter">
            <a:extLst>
              <a:ext uri="{FF2B5EF4-FFF2-40B4-BE49-F238E27FC236}">
                <a16:creationId xmlns:a16="http://schemas.microsoft.com/office/drawing/2014/main" id="{0A0A4B57-59BB-AC76-8EBA-08BB9A1A8DD1}"/>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descr="Blue counter">
            <a:extLst>
              <a:ext uri="{FF2B5EF4-FFF2-40B4-BE49-F238E27FC236}">
                <a16:creationId xmlns:a16="http://schemas.microsoft.com/office/drawing/2014/main" id="{CD796D5B-E432-6F80-9458-9EF5865ECE68}"/>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descr="Blue counter">
            <a:extLst>
              <a:ext uri="{FF2B5EF4-FFF2-40B4-BE49-F238E27FC236}">
                <a16:creationId xmlns:a16="http://schemas.microsoft.com/office/drawing/2014/main" id="{BF3FCEFF-3EAB-5D4B-38F1-B1A2BDE883C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descr="Blue counter">
            <a:extLst>
              <a:ext uri="{FF2B5EF4-FFF2-40B4-BE49-F238E27FC236}">
                <a16:creationId xmlns:a16="http://schemas.microsoft.com/office/drawing/2014/main" id="{745C453F-8E6A-F1F6-2C50-3D6B73F90E5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descr="Blue counter">
            <a:extLst>
              <a:ext uri="{FF2B5EF4-FFF2-40B4-BE49-F238E27FC236}">
                <a16:creationId xmlns:a16="http://schemas.microsoft.com/office/drawing/2014/main" id="{1A259664-8493-8D25-8D5B-682B07FE6888}"/>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descr="Blue counter">
            <a:extLst>
              <a:ext uri="{FF2B5EF4-FFF2-40B4-BE49-F238E27FC236}">
                <a16:creationId xmlns:a16="http://schemas.microsoft.com/office/drawing/2014/main" id="{2C93A06C-C2EC-0566-8D5A-548A800B9B3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descr="Blue counter">
            <a:extLst>
              <a:ext uri="{FF2B5EF4-FFF2-40B4-BE49-F238E27FC236}">
                <a16:creationId xmlns:a16="http://schemas.microsoft.com/office/drawing/2014/main" id="{0B43132D-11D4-3D1C-2EB0-7C6493341F44}"/>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descr="Blue counter">
            <a:extLst>
              <a:ext uri="{FF2B5EF4-FFF2-40B4-BE49-F238E27FC236}">
                <a16:creationId xmlns:a16="http://schemas.microsoft.com/office/drawing/2014/main" id="{E5E637BC-91C9-FBBB-F547-E195327AB55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descr="Blue counter">
            <a:extLst>
              <a:ext uri="{FF2B5EF4-FFF2-40B4-BE49-F238E27FC236}">
                <a16:creationId xmlns:a16="http://schemas.microsoft.com/office/drawing/2014/main" id="{8C3BF327-DDC5-C266-2651-9476EA496B3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descr="Blue counter">
            <a:extLst>
              <a:ext uri="{FF2B5EF4-FFF2-40B4-BE49-F238E27FC236}">
                <a16:creationId xmlns:a16="http://schemas.microsoft.com/office/drawing/2014/main" id="{44803433-695B-AD32-70A3-A24824BEA4E4}"/>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descr="Blue counter">
            <a:extLst>
              <a:ext uri="{FF2B5EF4-FFF2-40B4-BE49-F238E27FC236}">
                <a16:creationId xmlns:a16="http://schemas.microsoft.com/office/drawing/2014/main" id="{83ED0EAA-AD5C-BBD7-6943-76E32A4CC370}"/>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descr="Blue counter">
            <a:extLst>
              <a:ext uri="{FF2B5EF4-FFF2-40B4-BE49-F238E27FC236}">
                <a16:creationId xmlns:a16="http://schemas.microsoft.com/office/drawing/2014/main" id="{194319E1-5CEA-E69E-88E0-DD31CC0D4730}"/>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descr="Blue counter">
            <a:extLst>
              <a:ext uri="{FF2B5EF4-FFF2-40B4-BE49-F238E27FC236}">
                <a16:creationId xmlns:a16="http://schemas.microsoft.com/office/drawing/2014/main" id="{E91C28E1-29D2-DA18-569C-D8A4979B6133}"/>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p:txBody>
          <a:bodyPr/>
          <a:lstStyle/>
          <a:p>
            <a:pPr algn="ctr"/>
            <a:r>
              <a:rPr lang="en-US" sz="4400"/>
              <a:t>7.8 </a:t>
            </a:r>
            <a:r>
              <a:rPr lang="en-US" sz="4400" b="1"/>
              <a:t>plus</a:t>
            </a:r>
            <a:r>
              <a:rPr lang="en-US" sz="4400"/>
              <a:t> 8 tenths equals 8.6</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883375855"/>
              </p:ext>
            </p:extLst>
          </p:nvPr>
        </p:nvGraphicFramePr>
        <p:xfrm>
          <a:off x="2442980" y="4338829"/>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Box 4">
            <a:extLst>
              <a:ext uri="{FF2B5EF4-FFF2-40B4-BE49-F238E27FC236}">
                <a16:creationId xmlns:a16="http://schemas.microsoft.com/office/drawing/2014/main" id="{79E5ABFB-3CDF-0CD3-3DF9-7D1F97D397BF}"/>
              </a:ext>
            </a:extLst>
          </p:cNvPr>
          <p:cNvSpPr txBox="1"/>
          <p:nvPr/>
        </p:nvSpPr>
        <p:spPr>
          <a:xfrm>
            <a:off x="928704" y="5618845"/>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F9C220E-B6AB-60F9-7661-064171D2DA95}"/>
              </a:ext>
            </a:extLst>
          </p:cNvPr>
          <p:cNvSpPr txBox="1"/>
          <p:nvPr/>
        </p:nvSpPr>
        <p:spPr>
          <a:xfrm>
            <a:off x="1239771" y="3037543"/>
            <a:ext cx="9884229" cy="1977056"/>
          </a:xfrm>
          <a:prstGeom prst="rect">
            <a:avLst/>
          </a:prstGeom>
          <a:noFill/>
        </p:spPr>
        <p:txBody>
          <a:bodyPr wrap="square" lIns="0" tIns="0" rIns="0" bIns="0" rtlCol="0">
            <a:noAutofit/>
          </a:bodyPr>
          <a:lstStyle/>
          <a:p>
            <a:pPr algn="ctr">
              <a:lnSpc>
                <a:spcPct val="150000"/>
              </a:lnSpc>
            </a:pPr>
            <a:r>
              <a:rPr lang="en-AU" sz="4400"/>
              <a:t>A recipe uses </a:t>
            </a:r>
            <a:r>
              <a:rPr lang="en-AU" sz="4400" b="1"/>
              <a:t>5 eggs </a:t>
            </a:r>
            <a:r>
              <a:rPr lang="en-AU" sz="4400"/>
              <a:t>for </a:t>
            </a:r>
            <a:r>
              <a:rPr lang="en-AU" sz="4400" b="1"/>
              <a:t>12 muffins</a:t>
            </a:r>
            <a:r>
              <a:rPr lang="en-AU" sz="4400"/>
              <a:t>.</a:t>
            </a:r>
          </a:p>
          <a:p>
            <a:pPr algn="ctr">
              <a:lnSpc>
                <a:spcPct val="150000"/>
              </a:lnSpc>
            </a:pPr>
            <a:r>
              <a:rPr lang="en-AU" sz="4400" b="1"/>
              <a:t>How many </a:t>
            </a:r>
            <a:r>
              <a:rPr lang="en-AU" sz="4400"/>
              <a:t>eggs are needed to make </a:t>
            </a:r>
            <a:r>
              <a:rPr lang="en-AU" sz="4400" b="1"/>
              <a:t>36 muffins</a:t>
            </a:r>
            <a:r>
              <a:rPr lang="en-AU" sz="4400"/>
              <a:t>?</a:t>
            </a:r>
          </a:p>
        </p:txBody>
      </p:sp>
      <p:sp>
        <p:nvSpPr>
          <p:cNvPr id="8" name="TextBox 7">
            <a:extLst>
              <a:ext uri="{FF2B5EF4-FFF2-40B4-BE49-F238E27FC236}">
                <a16:creationId xmlns:a16="http://schemas.microsoft.com/office/drawing/2014/main" id="{8133C1A2-B5F2-9E8D-AE14-66B4FA94D69A}"/>
              </a:ext>
            </a:extLst>
          </p:cNvPr>
          <p:cNvSpPr txBox="1"/>
          <p:nvPr/>
        </p:nvSpPr>
        <p:spPr>
          <a:xfrm>
            <a:off x="443495" y="1513822"/>
            <a:ext cx="11305009" cy="915500"/>
          </a:xfrm>
          <a:prstGeom prst="rect">
            <a:avLst/>
          </a:prstGeom>
          <a:noFill/>
        </p:spPr>
        <p:txBody>
          <a:bodyPr wrap="square" lIns="0" tIns="0" rIns="0" bIns="0" rtlCol="0">
            <a:noAutofit/>
          </a:bodyPr>
          <a:lstStyle/>
          <a:p>
            <a:pPr algn="ctr">
              <a:lnSpc>
                <a:spcPct val="150000"/>
              </a:lnSpc>
            </a:pPr>
            <a:r>
              <a:rPr lang="en-AU" sz="4400" b="1"/>
              <a:t>Solve </a:t>
            </a:r>
            <a:r>
              <a:rPr lang="en-AU" sz="4400"/>
              <a:t>the following problem:</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1A71A96-59E8-E06F-E1C1-FED7C92A5EC8}"/>
              </a:ext>
            </a:extLst>
          </p:cNvPr>
          <p:cNvSpPr txBox="1"/>
          <p:nvPr/>
        </p:nvSpPr>
        <p:spPr>
          <a:xfrm>
            <a:off x="360000" y="1145574"/>
            <a:ext cx="5960125" cy="3937168"/>
          </a:xfrm>
          <a:prstGeom prst="rect">
            <a:avLst/>
          </a:prstGeom>
          <a:noFill/>
        </p:spPr>
        <p:txBody>
          <a:bodyPr wrap="square">
            <a:spAutoFit/>
          </a:bodyPr>
          <a:lstStyle/>
          <a:p>
            <a:pPr algn="ctr">
              <a:lnSpc>
                <a:spcPct val="150000"/>
              </a:lnSpc>
            </a:pPr>
            <a:r>
              <a:rPr lang="en-AU" sz="4000" b="1" i="0">
                <a:effectLst/>
                <a:latin typeface="+mj-lt"/>
              </a:rPr>
              <a:t>Estimate</a:t>
            </a:r>
            <a:r>
              <a:rPr lang="en-AU" sz="4000" b="0" i="0">
                <a:effectLst/>
                <a:latin typeface="+mj-lt"/>
              </a:rPr>
              <a:t> a </a:t>
            </a:r>
            <a:r>
              <a:rPr lang="en-AU" sz="4000" b="1" i="0">
                <a:effectLst/>
                <a:latin typeface="+mj-lt"/>
              </a:rPr>
              <a:t>discount</a:t>
            </a:r>
            <a:r>
              <a:rPr lang="en-AU" sz="4000" b="0" i="0">
                <a:effectLst/>
                <a:latin typeface="+mj-lt"/>
              </a:rPr>
              <a:t> of :</a:t>
            </a:r>
          </a:p>
          <a:p>
            <a:pPr marL="571500" indent="-571500" algn="ctr">
              <a:lnSpc>
                <a:spcPct val="150000"/>
              </a:lnSpc>
              <a:buFont typeface="Arial" panose="020B0604020202020204" pitchFamily="34" charset="0"/>
              <a:buChar char="•"/>
            </a:pPr>
            <a:r>
              <a:rPr lang="en-AU" sz="4400">
                <a:latin typeface="+mj-lt"/>
              </a:rPr>
              <a:t>1</a:t>
            </a:r>
            <a:r>
              <a:rPr lang="en-AU" sz="4400" b="0" i="0">
                <a:effectLst/>
                <a:latin typeface="+mj-lt"/>
              </a:rPr>
              <a:t>0%</a:t>
            </a:r>
          </a:p>
          <a:p>
            <a:pPr marL="571500" indent="-571500" algn="ctr">
              <a:lnSpc>
                <a:spcPct val="150000"/>
              </a:lnSpc>
              <a:buFont typeface="Arial" panose="020B0604020202020204" pitchFamily="34" charset="0"/>
              <a:buChar char="•"/>
            </a:pPr>
            <a:r>
              <a:rPr lang="en-AU" sz="4400" b="0" i="0">
                <a:effectLst/>
                <a:latin typeface="+mj-lt"/>
              </a:rPr>
              <a:t> 25%</a:t>
            </a:r>
          </a:p>
          <a:p>
            <a:pPr marL="571500" indent="-571500" algn="ctr">
              <a:lnSpc>
                <a:spcPct val="150000"/>
              </a:lnSpc>
              <a:buFont typeface="Arial" panose="020B0604020202020204" pitchFamily="34" charset="0"/>
              <a:buChar char="•"/>
            </a:pPr>
            <a:r>
              <a:rPr lang="en-AU" sz="4400" b="0" i="0">
                <a:effectLst/>
                <a:latin typeface="+mj-lt"/>
              </a:rPr>
              <a:t>50%</a:t>
            </a:r>
            <a:endParaRPr lang="en-AU" sz="4400">
              <a:latin typeface="+mj-lt"/>
            </a:endParaRPr>
          </a:p>
        </p:txBody>
      </p:sp>
      <p:pic>
        <p:nvPicPr>
          <p:cNvPr id="10" name="Picture 9" descr="A jacket with a price tag showing $128.69.">
            <a:extLst>
              <a:ext uri="{FF2B5EF4-FFF2-40B4-BE49-F238E27FC236}">
                <a16:creationId xmlns:a16="http://schemas.microsoft.com/office/drawing/2014/main" id="{897C3E72-FC32-1659-F20B-4B88D52FEEDA}"/>
              </a:ext>
            </a:extLst>
          </p:cNvPr>
          <p:cNvPicPr>
            <a:picLocks noChangeAspect="1"/>
          </p:cNvPicPr>
          <p:nvPr/>
        </p:nvPicPr>
        <p:blipFill>
          <a:blip r:embed="rId4"/>
          <a:srcRect l="5495" t="9680"/>
          <a:stretch>
            <a:fillRect/>
          </a:stretch>
        </p:blipFill>
        <p:spPr>
          <a:xfrm>
            <a:off x="5331473" y="1899391"/>
            <a:ext cx="6287022" cy="3597448"/>
          </a:xfrm>
          <a:prstGeom prst="rect">
            <a:avLst/>
          </a:prstGeom>
        </p:spPr>
      </p:pic>
      <p:sp>
        <p:nvSpPr>
          <p:cNvPr id="5" name="TextBox 4">
            <a:extLst>
              <a:ext uri="{FF2B5EF4-FFF2-40B4-BE49-F238E27FC236}">
                <a16:creationId xmlns:a16="http://schemas.microsoft.com/office/drawing/2014/main" id="{24F34B62-F377-417D-C758-740A3E95875B}"/>
              </a:ext>
            </a:extLst>
          </p:cNvPr>
          <p:cNvSpPr txBox="1"/>
          <p:nvPr/>
        </p:nvSpPr>
        <p:spPr>
          <a:xfrm>
            <a:off x="573505" y="5836559"/>
            <a:ext cx="11044990" cy="769441"/>
          </a:xfrm>
          <a:prstGeom prst="rect">
            <a:avLst/>
          </a:prstGeom>
          <a:noFill/>
        </p:spPr>
        <p:txBody>
          <a:bodyPr wrap="square">
            <a:spAutoFit/>
          </a:bodyPr>
          <a:lstStyle/>
          <a:p>
            <a:pPr algn="ctr"/>
            <a:r>
              <a:rPr lang="en-AU" sz="4400" b="1" i="0" kern="1200">
                <a:solidFill>
                  <a:schemeClr val="tx1"/>
                </a:solidFill>
                <a:effectLst/>
                <a:latin typeface="Arial" panose="020B0604020202020204" pitchFamily="34" charset="0"/>
                <a:ea typeface="+mn-ea"/>
                <a:cs typeface="Arial" panose="020B0604020202020204" pitchFamily="34" charset="0"/>
              </a:rPr>
              <a:t>Communicate</a:t>
            </a:r>
            <a:r>
              <a:rPr lang="en-AU" sz="4400" b="0" i="0" kern="1200">
                <a:solidFill>
                  <a:schemeClr val="tx1"/>
                </a:solidFill>
                <a:effectLst/>
                <a:latin typeface="Arial" panose="020B0604020202020204" pitchFamily="34" charset="0"/>
                <a:ea typeface="+mn-ea"/>
                <a:cs typeface="Arial" panose="020B0604020202020204" pitchFamily="34" charset="0"/>
              </a:rPr>
              <a:t> your </a:t>
            </a:r>
            <a:r>
              <a:rPr lang="en-AU" sz="4400" b="1" i="0" kern="1200">
                <a:solidFill>
                  <a:schemeClr val="tx1"/>
                </a:solidFill>
                <a:effectLst/>
                <a:latin typeface="Arial" panose="020B0604020202020204" pitchFamily="34" charset="0"/>
                <a:ea typeface="+mn-ea"/>
                <a:cs typeface="Arial" panose="020B0604020202020204" pitchFamily="34" charset="0"/>
              </a:rPr>
              <a:t>reasoning</a:t>
            </a:r>
            <a:r>
              <a:rPr lang="en-AU" sz="4400" b="0" i="0" kern="120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D32A2687-F077-FD71-3AA0-0AA40C66FD2B}"/>
              </a:ext>
            </a:extLst>
          </p:cNvPr>
          <p:cNvSpPr txBox="1"/>
          <p:nvPr/>
        </p:nvSpPr>
        <p:spPr>
          <a:xfrm>
            <a:off x="246024" y="1184223"/>
            <a:ext cx="4470942" cy="5206180"/>
          </a:xfrm>
          <a:prstGeom prst="rect">
            <a:avLst/>
          </a:prstGeom>
          <a:noFill/>
        </p:spPr>
        <p:txBody>
          <a:bodyPr wrap="square" lIns="0" tIns="0" rIns="0" bIns="0" rtlCol="0">
            <a:noAutofit/>
          </a:bodyPr>
          <a:lstStyle/>
          <a:p>
            <a:pPr lvl="0" algn="ctr">
              <a:lnSpc>
                <a:spcPct val="150000"/>
              </a:lnSpc>
            </a:pPr>
            <a:r>
              <a:rPr lang="en-US" sz="3600"/>
              <a:t>In what way does this </a:t>
            </a:r>
            <a:r>
              <a:rPr lang="en-US" sz="3600" b="1"/>
              <a:t>data representation </a:t>
            </a:r>
            <a:r>
              <a:rPr lang="en-AU" sz="3600"/>
              <a:t>mislead the audience? </a:t>
            </a:r>
          </a:p>
          <a:p>
            <a:pPr algn="ctr">
              <a:lnSpc>
                <a:spcPct val="150000"/>
              </a:lnSpc>
            </a:pPr>
            <a:endParaRPr lang="en-US" sz="3200"/>
          </a:p>
          <a:p>
            <a:pPr algn="ctr">
              <a:lnSpc>
                <a:spcPct val="150000"/>
              </a:lnSpc>
            </a:pPr>
            <a:endParaRPr lang="en-US" sz="3200"/>
          </a:p>
        </p:txBody>
      </p:sp>
      <p:pic>
        <p:nvPicPr>
          <p:cNvPr id="4" name="Picture 3" descr="A line graph titled 'Global average annual temperature per decade' (in degrees Celsius). &#10;1880s – 13.73&#10;1890s – 13.75&#10;1900s – 13.74&#10;1910s – 13.72&#10;1920s – 13.83&#10;1930s – 13.96&#10;1940s – 14.04&#10;1950s – 13.98&#10;1960s – 13.99&#10;1970s – 14&#10;1980s – 14.18&#10;1990s – 14.31&#10;2000s – 14.51.">
            <a:extLst>
              <a:ext uri="{FF2B5EF4-FFF2-40B4-BE49-F238E27FC236}">
                <a16:creationId xmlns:a16="http://schemas.microsoft.com/office/drawing/2014/main" id="{4F620494-6F6C-82A7-F0A1-CBB5EA1925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7327" y="1275024"/>
            <a:ext cx="7217859" cy="460081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7" name="TextBox 6">
            <a:extLst>
              <a:ext uri="{FF2B5EF4-FFF2-40B4-BE49-F238E27FC236}">
                <a16:creationId xmlns:a16="http://schemas.microsoft.com/office/drawing/2014/main" id="{576DF174-CBF5-0C41-50F1-22888123E408}"/>
              </a:ext>
            </a:extLst>
          </p:cNvPr>
          <p:cNvSpPr txBox="1"/>
          <p:nvPr/>
        </p:nvSpPr>
        <p:spPr>
          <a:xfrm>
            <a:off x="145663" y="4954329"/>
            <a:ext cx="4543424" cy="1651671"/>
          </a:xfrm>
          <a:prstGeom prst="rect">
            <a:avLst/>
          </a:prstGeom>
          <a:noFill/>
        </p:spPr>
        <p:txBody>
          <a:bodyPr wrap="square">
            <a:spAutoFit/>
          </a:bodyPr>
          <a:lstStyle/>
          <a:p>
            <a:pPr algn="ctr">
              <a:lnSpc>
                <a:spcPct val="150000"/>
              </a:lnSpc>
            </a:pPr>
            <a:r>
              <a:rPr lang="en-US" sz="3600" b="1"/>
              <a:t>Communicate </a:t>
            </a:r>
            <a:r>
              <a:rPr lang="en-US" sz="3600"/>
              <a:t>your</a:t>
            </a:r>
            <a:r>
              <a:rPr lang="en-US" sz="3600" b="1"/>
              <a:t> reasoning.</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93EAE15-DF97-A4AA-EB97-4C1343B526CA}"/>
              </a:ext>
            </a:extLst>
          </p:cNvPr>
          <p:cNvSpPr txBox="1"/>
          <p:nvPr/>
        </p:nvSpPr>
        <p:spPr>
          <a:xfrm>
            <a:off x="1391155" y="1020584"/>
            <a:ext cx="9365621" cy="1905843"/>
          </a:xfrm>
          <a:prstGeom prst="rect">
            <a:avLst/>
          </a:prstGeom>
          <a:noFill/>
        </p:spPr>
        <p:txBody>
          <a:bodyPr wrap="square" lIns="0" tIns="0" rIns="0" bIns="0" rtlCol="0">
            <a:spAutoFit/>
          </a:bodyPr>
          <a:lstStyle/>
          <a:p>
            <a:pPr algn="ctr">
              <a:lnSpc>
                <a:spcPct val="150000"/>
              </a:lnSpc>
            </a:pPr>
            <a:r>
              <a:rPr lang="en-AU" sz="4400" b="1"/>
              <a:t>Record</a:t>
            </a:r>
            <a:r>
              <a:rPr lang="en-AU" sz="4400"/>
              <a:t> these times using </a:t>
            </a:r>
            <a:r>
              <a:rPr lang="en-AU" sz="4400" b="1"/>
              <a:t>12-hour</a:t>
            </a:r>
            <a:r>
              <a:rPr lang="en-AU" sz="4400"/>
              <a:t> and </a:t>
            </a:r>
            <a:r>
              <a:rPr lang="en-AU" sz="4400" b="1"/>
              <a:t>24-hour time</a:t>
            </a:r>
            <a:r>
              <a:rPr lang="en-AU" sz="4400"/>
              <a:t>.</a:t>
            </a:r>
          </a:p>
        </p:txBody>
      </p:sp>
      <p:pic>
        <p:nvPicPr>
          <p:cNvPr id="10" name="Picture 9" descr="Clock face with the minute hand pointing to the 3 and the hour hand between the 11 and 12.">
            <a:extLst>
              <a:ext uri="{FF2B5EF4-FFF2-40B4-BE49-F238E27FC236}">
                <a16:creationId xmlns:a16="http://schemas.microsoft.com/office/drawing/2014/main" id="{76760E9D-9BB6-35C0-145C-5FC5D4953A46}"/>
              </a:ext>
            </a:extLst>
          </p:cNvPr>
          <p:cNvPicPr>
            <a:picLocks noChangeAspect="1"/>
          </p:cNvPicPr>
          <p:nvPr/>
        </p:nvPicPr>
        <p:blipFill>
          <a:blip r:embed="rId4"/>
          <a:stretch>
            <a:fillRect/>
          </a:stretch>
        </p:blipFill>
        <p:spPr>
          <a:xfrm>
            <a:off x="734938" y="2753174"/>
            <a:ext cx="2690474" cy="2699472"/>
          </a:xfrm>
          <a:prstGeom prst="rect">
            <a:avLst/>
          </a:prstGeom>
        </p:spPr>
      </p:pic>
      <p:pic>
        <p:nvPicPr>
          <p:cNvPr id="12" name="Picture 11" descr="Clock face with the minute hand pointing to the 3 and the hour hand between the 7 and 8.">
            <a:extLst>
              <a:ext uri="{FF2B5EF4-FFF2-40B4-BE49-F238E27FC236}">
                <a16:creationId xmlns:a16="http://schemas.microsoft.com/office/drawing/2014/main" id="{F764E738-DD2E-080C-34FC-D888D6636EF9}"/>
              </a:ext>
            </a:extLst>
          </p:cNvPr>
          <p:cNvPicPr>
            <a:picLocks noChangeAspect="1"/>
          </p:cNvPicPr>
          <p:nvPr/>
        </p:nvPicPr>
        <p:blipFill>
          <a:blip r:embed="rId5"/>
          <a:stretch>
            <a:fillRect/>
          </a:stretch>
        </p:blipFill>
        <p:spPr>
          <a:xfrm>
            <a:off x="4716982" y="3814913"/>
            <a:ext cx="2713966" cy="2700000"/>
          </a:xfrm>
          <a:prstGeom prst="rect">
            <a:avLst/>
          </a:prstGeom>
        </p:spPr>
      </p:pic>
      <p:pic>
        <p:nvPicPr>
          <p:cNvPr id="14" name="Picture 13" descr="Clock face with the minute hand pointing to the 9 and the hour hand nearly pointing to the 10.">
            <a:extLst>
              <a:ext uri="{FF2B5EF4-FFF2-40B4-BE49-F238E27FC236}">
                <a16:creationId xmlns:a16="http://schemas.microsoft.com/office/drawing/2014/main" id="{C6412EFB-D12C-FF57-9123-535E6B2AD7A5}"/>
              </a:ext>
            </a:extLst>
          </p:cNvPr>
          <p:cNvPicPr>
            <a:picLocks noChangeAspect="1"/>
          </p:cNvPicPr>
          <p:nvPr/>
        </p:nvPicPr>
        <p:blipFill>
          <a:blip r:embed="rId6"/>
          <a:stretch>
            <a:fillRect/>
          </a:stretch>
        </p:blipFill>
        <p:spPr>
          <a:xfrm>
            <a:off x="8722518" y="2753174"/>
            <a:ext cx="2739448" cy="27000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decimal operations 2</a:t>
            </a:r>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pic>
        <p:nvPicPr>
          <p:cNvPr id="5" name="Picture 4" descr="A grid with 12 rows of 10 columns. The cells show the decimal numbers increasing from 0 to 12, to one decimal place. Each cell also has the value represented in words, for example, 3 point 5, then 3 and 5 tenths. ">
            <a:extLst>
              <a:ext uri="{FF2B5EF4-FFF2-40B4-BE49-F238E27FC236}">
                <a16:creationId xmlns:a16="http://schemas.microsoft.com/office/drawing/2014/main" id="{5258B6E6-48E9-19EC-8A71-53F7A03E3718}"/>
              </a:ext>
            </a:extLst>
          </p:cNvPr>
          <p:cNvPicPr>
            <a:picLocks noChangeAspect="1"/>
          </p:cNvPicPr>
          <p:nvPr/>
        </p:nvPicPr>
        <p:blipFill>
          <a:blip r:embed="rId4">
            <a:extLst>
              <a:ext uri="{28A0092B-C50C-407E-A947-70E740481C1C}">
                <a14:useLocalDpi xmlns:a14="http://schemas.microsoft.com/office/drawing/2010/main" val="0"/>
              </a:ext>
            </a:extLst>
          </a:blip>
          <a:srcRect l="7878" t="12350" r="6374" b="13306"/>
          <a:stretch>
            <a:fillRect/>
          </a:stretch>
        </p:blipFill>
        <p:spPr>
          <a:xfrm>
            <a:off x="6266046" y="766180"/>
            <a:ext cx="4868463" cy="5970015"/>
          </a:xfrm>
          <a:prstGeom prst="rect">
            <a:avLst/>
          </a:prstGeom>
        </p:spPr>
      </p:pic>
      <p:sp>
        <p:nvSpPr>
          <p:cNvPr id="45" name="Oval 44" descr="Yellow counter">
            <a:extLst>
              <a:ext uri="{FF2B5EF4-FFF2-40B4-BE49-F238E27FC236}">
                <a16:creationId xmlns:a16="http://schemas.microsoft.com/office/drawing/2014/main" id="{4FF075EA-2A40-BDBB-DCBC-862F21578CE8}"/>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descr="Yellow counter">
            <a:extLst>
              <a:ext uri="{FF2B5EF4-FFF2-40B4-BE49-F238E27FC236}">
                <a16:creationId xmlns:a16="http://schemas.microsoft.com/office/drawing/2014/main" id="{1CCC55BE-6A8B-6430-BCD9-BD6A68EF55FA}"/>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descr="Yellow counter">
            <a:extLst>
              <a:ext uri="{FF2B5EF4-FFF2-40B4-BE49-F238E27FC236}">
                <a16:creationId xmlns:a16="http://schemas.microsoft.com/office/drawing/2014/main" id="{D1964165-2498-E8A0-3A16-5DB2A8F89A02}"/>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descr="Yellow counter">
            <a:extLst>
              <a:ext uri="{FF2B5EF4-FFF2-40B4-BE49-F238E27FC236}">
                <a16:creationId xmlns:a16="http://schemas.microsoft.com/office/drawing/2014/main" id="{074F73AB-A1E0-5C2D-E33D-E4218B5EA87E}"/>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descr="Yellow counter">
            <a:extLst>
              <a:ext uri="{FF2B5EF4-FFF2-40B4-BE49-F238E27FC236}">
                <a16:creationId xmlns:a16="http://schemas.microsoft.com/office/drawing/2014/main" id="{B8618423-C8C2-E39D-EF80-31868DC111E5}"/>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descr="Yellow counter">
            <a:extLst>
              <a:ext uri="{FF2B5EF4-FFF2-40B4-BE49-F238E27FC236}">
                <a16:creationId xmlns:a16="http://schemas.microsoft.com/office/drawing/2014/main" id="{7439E0B0-4D64-77D0-AC2C-58D31E5B7E86}"/>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descr="Yellow counter">
            <a:extLst>
              <a:ext uri="{FF2B5EF4-FFF2-40B4-BE49-F238E27FC236}">
                <a16:creationId xmlns:a16="http://schemas.microsoft.com/office/drawing/2014/main" id="{4EBB4B6E-F913-4962-BDBC-145B8574671D}"/>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descr="Yellow counter">
            <a:extLst>
              <a:ext uri="{FF2B5EF4-FFF2-40B4-BE49-F238E27FC236}">
                <a16:creationId xmlns:a16="http://schemas.microsoft.com/office/drawing/2014/main" id="{796EDD71-F7F5-940B-31BC-1241F7DF8B31}"/>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descr="Yellow counter">
            <a:extLst>
              <a:ext uri="{FF2B5EF4-FFF2-40B4-BE49-F238E27FC236}">
                <a16:creationId xmlns:a16="http://schemas.microsoft.com/office/drawing/2014/main" id="{3B0FA4FA-F0EA-C245-6A53-FAF9C872E17E}"/>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descr="Yellow counter">
            <a:extLst>
              <a:ext uri="{FF2B5EF4-FFF2-40B4-BE49-F238E27FC236}">
                <a16:creationId xmlns:a16="http://schemas.microsoft.com/office/drawing/2014/main" id="{45D3F965-1476-D183-D3D5-8E0D03BA484D}"/>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descr="Yellow counter">
            <a:extLst>
              <a:ext uri="{FF2B5EF4-FFF2-40B4-BE49-F238E27FC236}">
                <a16:creationId xmlns:a16="http://schemas.microsoft.com/office/drawing/2014/main" id="{BDC7B0B5-1109-3FD8-FAFC-69BBFA9A38F9}"/>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descr="Yellow counter">
            <a:extLst>
              <a:ext uri="{FF2B5EF4-FFF2-40B4-BE49-F238E27FC236}">
                <a16:creationId xmlns:a16="http://schemas.microsoft.com/office/drawing/2014/main" id="{09B4789F-68AC-3093-38EA-FDE8D1AFC616}"/>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descr="Yellow counter">
            <a:extLst>
              <a:ext uri="{FF2B5EF4-FFF2-40B4-BE49-F238E27FC236}">
                <a16:creationId xmlns:a16="http://schemas.microsoft.com/office/drawing/2014/main" id="{9CC28A08-9915-9ECB-68C3-3A16E9210FB3}"/>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descr="Yellow counter">
            <a:extLst>
              <a:ext uri="{FF2B5EF4-FFF2-40B4-BE49-F238E27FC236}">
                <a16:creationId xmlns:a16="http://schemas.microsoft.com/office/drawing/2014/main" id="{FA80FC7A-3EB1-8BDB-C28C-9AD7C6726838}"/>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descr="Yellow counter">
            <a:extLst>
              <a:ext uri="{FF2B5EF4-FFF2-40B4-BE49-F238E27FC236}">
                <a16:creationId xmlns:a16="http://schemas.microsoft.com/office/drawing/2014/main" id="{B9E09AEC-B978-F8FE-B736-F5423977624B}"/>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descr="Yellow counter">
            <a:extLst>
              <a:ext uri="{FF2B5EF4-FFF2-40B4-BE49-F238E27FC236}">
                <a16:creationId xmlns:a16="http://schemas.microsoft.com/office/drawing/2014/main" id="{F6AD99E2-58BA-6E83-BC8F-868499839CBB}"/>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descr="Yellow counter">
            <a:extLst>
              <a:ext uri="{FF2B5EF4-FFF2-40B4-BE49-F238E27FC236}">
                <a16:creationId xmlns:a16="http://schemas.microsoft.com/office/drawing/2014/main" id="{A7AD8C04-7B2A-B0F2-371A-687512D6C419}"/>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descr="Yellow counter">
            <a:extLst>
              <a:ext uri="{FF2B5EF4-FFF2-40B4-BE49-F238E27FC236}">
                <a16:creationId xmlns:a16="http://schemas.microsoft.com/office/drawing/2014/main" id="{CE0A5A7E-2031-1B66-85C9-2F0B547F7310}"/>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descr="Yellow counter">
            <a:extLst>
              <a:ext uri="{FF2B5EF4-FFF2-40B4-BE49-F238E27FC236}">
                <a16:creationId xmlns:a16="http://schemas.microsoft.com/office/drawing/2014/main" id="{1023235D-5DA9-1FB0-9EC3-64106011046F}"/>
              </a:ext>
            </a:extLst>
          </p:cNvPr>
          <p:cNvSpPr/>
          <p:nvPr/>
        </p:nvSpPr>
        <p:spPr>
          <a:xfrm>
            <a:off x="525942" y="1933130"/>
            <a:ext cx="660770" cy="650743"/>
          </a:xfrm>
          <a:prstGeom prst="ellipse">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descr="Blue counter">
            <a:extLst>
              <a:ext uri="{FF2B5EF4-FFF2-40B4-BE49-F238E27FC236}">
                <a16:creationId xmlns:a16="http://schemas.microsoft.com/office/drawing/2014/main" id="{13F89530-6E22-CC5C-0273-E16341D202A4}"/>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descr="Blue counter">
            <a:extLst>
              <a:ext uri="{FF2B5EF4-FFF2-40B4-BE49-F238E27FC236}">
                <a16:creationId xmlns:a16="http://schemas.microsoft.com/office/drawing/2014/main" id="{680BE862-5FE3-4FEE-BAF5-A2A29777E3B0}"/>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descr="Blue counter">
            <a:extLst>
              <a:ext uri="{FF2B5EF4-FFF2-40B4-BE49-F238E27FC236}">
                <a16:creationId xmlns:a16="http://schemas.microsoft.com/office/drawing/2014/main" id="{51502242-34B4-9676-ED06-81966F3AA85C}"/>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descr="Blue counter">
            <a:extLst>
              <a:ext uri="{FF2B5EF4-FFF2-40B4-BE49-F238E27FC236}">
                <a16:creationId xmlns:a16="http://schemas.microsoft.com/office/drawing/2014/main" id="{ED08B66B-9553-88E9-2E29-46366D539599}"/>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descr="Blue counter">
            <a:extLst>
              <a:ext uri="{FF2B5EF4-FFF2-40B4-BE49-F238E27FC236}">
                <a16:creationId xmlns:a16="http://schemas.microsoft.com/office/drawing/2014/main" id="{275C42DF-7190-E946-7E42-37E59DEBED2A}"/>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descr="Blue counter">
            <a:extLst>
              <a:ext uri="{FF2B5EF4-FFF2-40B4-BE49-F238E27FC236}">
                <a16:creationId xmlns:a16="http://schemas.microsoft.com/office/drawing/2014/main" id="{E4AD42EF-2A18-B7AA-A719-CF4A884EEECD}"/>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descr="Blue counter">
            <a:extLst>
              <a:ext uri="{FF2B5EF4-FFF2-40B4-BE49-F238E27FC236}">
                <a16:creationId xmlns:a16="http://schemas.microsoft.com/office/drawing/2014/main" id="{79B07B27-B866-F59A-6911-15AC4D5B0F72}"/>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descr="Blue counter">
            <a:extLst>
              <a:ext uri="{FF2B5EF4-FFF2-40B4-BE49-F238E27FC236}">
                <a16:creationId xmlns:a16="http://schemas.microsoft.com/office/drawing/2014/main" id="{C587653B-2216-E9E8-B9A0-2619AC23CDFF}"/>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descr="Blue counter">
            <a:extLst>
              <a:ext uri="{FF2B5EF4-FFF2-40B4-BE49-F238E27FC236}">
                <a16:creationId xmlns:a16="http://schemas.microsoft.com/office/drawing/2014/main" id="{B5DD5F11-4827-29DB-1047-317B1261CC42}"/>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descr="Blue counter">
            <a:extLst>
              <a:ext uri="{FF2B5EF4-FFF2-40B4-BE49-F238E27FC236}">
                <a16:creationId xmlns:a16="http://schemas.microsoft.com/office/drawing/2014/main" id="{7535B5F4-0D74-1817-1BE4-D8C3882DBA6B}"/>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descr="Blue counter">
            <a:extLst>
              <a:ext uri="{FF2B5EF4-FFF2-40B4-BE49-F238E27FC236}">
                <a16:creationId xmlns:a16="http://schemas.microsoft.com/office/drawing/2014/main" id="{EF610DB5-90C9-7080-C929-196FD1086824}"/>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descr="Blue counter">
            <a:extLst>
              <a:ext uri="{FF2B5EF4-FFF2-40B4-BE49-F238E27FC236}">
                <a16:creationId xmlns:a16="http://schemas.microsoft.com/office/drawing/2014/main" id="{280C1952-DFCC-4782-9D79-0F9022956FC0}"/>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descr="Blue counter">
            <a:extLst>
              <a:ext uri="{FF2B5EF4-FFF2-40B4-BE49-F238E27FC236}">
                <a16:creationId xmlns:a16="http://schemas.microsoft.com/office/drawing/2014/main" id="{8CA49399-E941-E923-2D7D-C363B3387858}"/>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descr="Blue counter">
            <a:extLst>
              <a:ext uri="{FF2B5EF4-FFF2-40B4-BE49-F238E27FC236}">
                <a16:creationId xmlns:a16="http://schemas.microsoft.com/office/drawing/2014/main" id="{65D67A22-6058-B8F0-A23A-ACEB7A147D5A}"/>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descr="Blue counter">
            <a:extLst>
              <a:ext uri="{FF2B5EF4-FFF2-40B4-BE49-F238E27FC236}">
                <a16:creationId xmlns:a16="http://schemas.microsoft.com/office/drawing/2014/main" id="{454EC536-6C0F-9D93-0FF7-5C0099D5A17D}"/>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descr="Blue counter">
            <a:extLst>
              <a:ext uri="{FF2B5EF4-FFF2-40B4-BE49-F238E27FC236}">
                <a16:creationId xmlns:a16="http://schemas.microsoft.com/office/drawing/2014/main" id="{16279276-F1AA-C889-7846-8CACC1DFB3B2}"/>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descr="Blue counter">
            <a:extLst>
              <a:ext uri="{FF2B5EF4-FFF2-40B4-BE49-F238E27FC236}">
                <a16:creationId xmlns:a16="http://schemas.microsoft.com/office/drawing/2014/main" id="{7993467A-E572-BF5E-1028-3FB2FF375DA6}"/>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descr="Blue counter">
            <a:extLst>
              <a:ext uri="{FF2B5EF4-FFF2-40B4-BE49-F238E27FC236}">
                <a16:creationId xmlns:a16="http://schemas.microsoft.com/office/drawing/2014/main" id="{FB785F34-062D-20E3-D13D-65002BA9994E}"/>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descr="Blue counter">
            <a:extLst>
              <a:ext uri="{FF2B5EF4-FFF2-40B4-BE49-F238E27FC236}">
                <a16:creationId xmlns:a16="http://schemas.microsoft.com/office/drawing/2014/main" id="{8F7765DD-D85A-1576-30D7-971CD9FBDA57}"/>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descr="Blue counter">
            <a:extLst>
              <a:ext uri="{FF2B5EF4-FFF2-40B4-BE49-F238E27FC236}">
                <a16:creationId xmlns:a16="http://schemas.microsoft.com/office/drawing/2014/main" id="{11E608AA-1C9F-DC6D-2AE3-854BB2CCFC93}"/>
              </a:ext>
            </a:extLst>
          </p:cNvPr>
          <p:cNvSpPr/>
          <p:nvPr/>
        </p:nvSpPr>
        <p:spPr>
          <a:xfrm>
            <a:off x="525942" y="3754760"/>
            <a:ext cx="660770" cy="650743"/>
          </a:xfrm>
          <a:prstGeom prst="ellipse">
            <a:avLst/>
          </a:prstGeom>
          <a:solidFill>
            <a:srgbClr val="146CFD">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20 September 2023) and was not modified.</a:t>
            </a:r>
          </a:p>
          <a:p>
            <a:r>
              <a:rPr lang="en-AU"/>
              <a:t>NCTM (National Council of Teachers of Mathematics) (n.d.) </a:t>
            </a:r>
            <a:r>
              <a:rPr lang="en-AU" i="1" u="sng">
                <a:hlinkClick r:id="rId9"/>
              </a:rPr>
              <a:t>Product Game</a:t>
            </a:r>
            <a:r>
              <a:rPr lang="en-AU"/>
              <a:t>, NCTM website, accessed 18 February 2026.</a:t>
            </a:r>
          </a:p>
          <a:p>
            <a:r>
              <a:rPr lang="en-AU"/>
              <a:t>State of New South Wales (Department of Education) (2023) ‘</a:t>
            </a:r>
            <a:r>
              <a:rPr lang="en-AU" u="sng">
                <a:hlinkClick r:id="rId10"/>
              </a:rPr>
              <a:t>Flexible additive strategies – Decimals – Task 4 – I’ll race you to zero: decimal place value</a:t>
            </a:r>
            <a:r>
              <a:rPr lang="en-AU"/>
              <a:t> ’, </a:t>
            </a:r>
            <a:r>
              <a:rPr lang="en-AU" i="1"/>
              <a:t>Numeracy</a:t>
            </a:r>
            <a:r>
              <a:rPr lang="en-AU"/>
              <a:t>, NSW Department of Education website, accessed on 11 July 2023.</a:t>
            </a:r>
          </a:p>
          <a:p>
            <a:r>
              <a:rPr lang="en-AU"/>
              <a:t>Osborn L (2023) ‘</a:t>
            </a:r>
            <a:r>
              <a:rPr lang="en-AU" u="sng">
                <a:hlinkClick r:id="rId11"/>
              </a:rPr>
              <a:t>History of Changes in the Earth's Temperature</a:t>
            </a:r>
            <a:r>
              <a:rPr lang="en-AU"/>
              <a:t>’, </a:t>
            </a:r>
            <a:r>
              <a:rPr lang="en-AU" i="1"/>
              <a:t>Environmental Science Articles</a:t>
            </a:r>
            <a:r>
              <a:rPr lang="en-AU"/>
              <a:t>, Current Results website, accessed 3 July 2023.</a:t>
            </a:r>
          </a:p>
          <a:p>
            <a:endParaRPr lang="en-AU"/>
          </a:p>
          <a:p>
            <a:endParaRPr lang="en-AU"/>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5114039-D1C5-41BA-BC20-AB1D05BBA15C}"/>
</file>

<file path=docProps/app.xml><?xml version="1.0" encoding="utf-8"?>
<Properties xmlns="http://schemas.openxmlformats.org/officeDocument/2006/extended-properties" xmlns:vt="http://schemas.openxmlformats.org/officeDocument/2006/docPropsVTypes">
  <Template>Review of learning template (1)</Template>
  <TotalTime>0</TotalTime>
  <Words>6750</Words>
  <Application>Microsoft Office PowerPoint</Application>
  <PresentationFormat>Widescreen</PresentationFormat>
  <Paragraphs>900</Paragraphs>
  <Slides>70</Slides>
  <Notes>70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Montserrat</vt:lpstr>
      <vt:lpstr>Public Sans Light</vt:lpstr>
      <vt:lpstr>Public Sans</vt:lpstr>
      <vt:lpstr>Calibri</vt:lpstr>
      <vt:lpstr>Arial</vt:lpstr>
      <vt:lpstr>Wingdings</vt:lpstr>
      <vt:lpstr>Times New Roman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prime, composite, neither (1)</vt:lpstr>
      <vt:lpstr>Activity 1 – prime, composite, neither (2)</vt:lpstr>
      <vt:lpstr>Activity 1 – prime, composite, neither (3)</vt:lpstr>
      <vt:lpstr>Review of learning 2</vt:lpstr>
      <vt:lpstr>True or false (1)</vt:lpstr>
      <vt:lpstr>Short response (5)</vt:lpstr>
      <vt:lpstr>Short response (6)</vt:lpstr>
      <vt:lpstr>Short response (7)</vt:lpstr>
      <vt:lpstr>Short response (8)</vt:lpstr>
      <vt:lpstr>Activity 2 – product 100 target</vt:lpstr>
      <vt:lpstr>Review of learning 3</vt:lpstr>
      <vt:lpstr>Multiple choice (2)</vt:lpstr>
      <vt:lpstr>Short response (9)</vt:lpstr>
      <vt:lpstr>Short response (10)</vt:lpstr>
      <vt:lpstr>Short response (11)</vt:lpstr>
      <vt:lpstr>Short response (12)</vt:lpstr>
      <vt:lpstr>Activity 3 – product game</vt:lpstr>
      <vt:lpstr>Review of learning 4</vt:lpstr>
      <vt:lpstr>True or false (2)</vt:lpstr>
      <vt:lpstr>Short response (13)</vt:lpstr>
      <vt:lpstr>Short response (14)</vt:lpstr>
      <vt:lpstr>Short response (15)</vt:lpstr>
      <vt:lpstr>Short response (16)</vt:lpstr>
      <vt:lpstr>Activity 4 – rearrange arrays</vt:lpstr>
      <vt:lpstr>Review of learning 5</vt:lpstr>
      <vt:lpstr>Multiple choice (3)</vt:lpstr>
      <vt:lpstr>Short response (17)</vt:lpstr>
      <vt:lpstr>Short response (18)</vt:lpstr>
      <vt:lpstr>Short response (19)</vt:lpstr>
      <vt:lpstr>Short response (20)</vt:lpstr>
      <vt:lpstr>Activity 5 – decimal addition</vt:lpstr>
      <vt:lpstr>Review of learning 6</vt:lpstr>
      <vt:lpstr>True or false (3)</vt:lpstr>
      <vt:lpstr>Short response (21)</vt:lpstr>
      <vt:lpstr>Short response (22)</vt:lpstr>
      <vt:lpstr>Short response (23)</vt:lpstr>
      <vt:lpstr>Short response (24)</vt:lpstr>
      <vt:lpstr>Activity 6 – decimal subtraction</vt:lpstr>
      <vt:lpstr>Review of learning 7</vt:lpstr>
      <vt:lpstr>Multiple choice (4)</vt:lpstr>
      <vt:lpstr>Short response (25)</vt:lpstr>
      <vt:lpstr>Short response (26)</vt:lpstr>
      <vt:lpstr>Short response (27)</vt:lpstr>
      <vt:lpstr>Short response (28)</vt:lpstr>
      <vt:lpstr>Activity 7 – decimal operations</vt:lpstr>
      <vt:lpstr>Review of learning 8</vt:lpstr>
      <vt:lpstr>True or false (4)</vt:lpstr>
      <vt:lpstr>Short response (29)</vt:lpstr>
      <vt:lpstr>Short response (30)</vt:lpstr>
      <vt:lpstr>Short response (31)</vt:lpstr>
      <vt:lpstr>Short response (32)</vt:lpstr>
      <vt:lpstr>Activity 8 – decimal operations 2</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2026-02-20T04:39:24Z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