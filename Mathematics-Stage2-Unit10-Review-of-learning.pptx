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6"/>
  </p:notesMasterIdLst>
  <p:handoutMasterIdLst>
    <p:handoutMasterId r:id="rId77"/>
  </p:handoutMasterIdLst>
  <p:sldIdLst>
    <p:sldId id="365" r:id="rId5"/>
    <p:sldId id="26505" r:id="rId6"/>
    <p:sldId id="26359" r:id="rId7"/>
    <p:sldId id="271" r:id="rId8"/>
    <p:sldId id="26646" r:id="rId9"/>
    <p:sldId id="26580" r:id="rId10"/>
    <p:sldId id="358" r:id="rId11"/>
    <p:sldId id="26582" r:id="rId12"/>
    <p:sldId id="26581" r:id="rId13"/>
    <p:sldId id="26514" r:id="rId14"/>
    <p:sldId id="26583" r:id="rId15"/>
    <p:sldId id="26586" r:id="rId16"/>
    <p:sldId id="26587" r:id="rId17"/>
    <p:sldId id="26588" r:id="rId18"/>
    <p:sldId id="26589" r:id="rId19"/>
    <p:sldId id="26590" r:id="rId20"/>
    <p:sldId id="26515" r:id="rId21"/>
    <p:sldId id="26519" r:id="rId22"/>
    <p:sldId id="26592" r:id="rId23"/>
    <p:sldId id="26594" r:id="rId24"/>
    <p:sldId id="26596" r:id="rId25"/>
    <p:sldId id="26597" r:id="rId26"/>
    <p:sldId id="26598" r:id="rId27"/>
    <p:sldId id="26599" r:id="rId28"/>
    <p:sldId id="26410" r:id="rId29"/>
    <p:sldId id="26601" r:id="rId30"/>
    <p:sldId id="26604" r:id="rId31"/>
    <p:sldId id="26605" r:id="rId32"/>
    <p:sldId id="26606" r:id="rId33"/>
    <p:sldId id="26607" r:id="rId34"/>
    <p:sldId id="26608" r:id="rId35"/>
    <p:sldId id="26609" r:id="rId36"/>
    <p:sldId id="26610" r:id="rId37"/>
    <p:sldId id="26647" r:id="rId38"/>
    <p:sldId id="26614" r:id="rId39"/>
    <p:sldId id="26615" r:id="rId40"/>
    <p:sldId id="26616" r:id="rId41"/>
    <p:sldId id="26617" r:id="rId42"/>
    <p:sldId id="26618" r:id="rId43"/>
    <p:sldId id="26619" r:id="rId44"/>
    <p:sldId id="26622" r:id="rId45"/>
    <p:sldId id="26623" r:id="rId46"/>
    <p:sldId id="26624" r:id="rId47"/>
    <p:sldId id="26625" r:id="rId48"/>
    <p:sldId id="26626" r:id="rId49"/>
    <p:sldId id="26627" r:id="rId50"/>
    <p:sldId id="26628" r:id="rId51"/>
    <p:sldId id="26648" r:id="rId52"/>
    <p:sldId id="26632" r:id="rId53"/>
    <p:sldId id="26633" r:id="rId54"/>
    <p:sldId id="26634" r:id="rId55"/>
    <p:sldId id="26635" r:id="rId56"/>
    <p:sldId id="26636" r:id="rId57"/>
    <p:sldId id="26637" r:id="rId58"/>
    <p:sldId id="26640" r:id="rId59"/>
    <p:sldId id="26641" r:id="rId60"/>
    <p:sldId id="26642" r:id="rId61"/>
    <p:sldId id="26643" r:id="rId62"/>
    <p:sldId id="26644" r:id="rId63"/>
    <p:sldId id="26651" r:id="rId64"/>
    <p:sldId id="26393" r:id="rId65"/>
    <p:sldId id="26387" r:id="rId66"/>
    <p:sldId id="26395" r:id="rId67"/>
    <p:sldId id="26391" r:id="rId68"/>
    <p:sldId id="26402" r:id="rId69"/>
    <p:sldId id="26507" r:id="rId70"/>
    <p:sldId id="26652" r:id="rId71"/>
    <p:sldId id="360" r:id="rId72"/>
    <p:sldId id="26649" r:id="rId73"/>
    <p:sldId id="26650" r:id="rId74"/>
    <p:sldId id="361" r:id="rId75"/>
  </p:sldIdLst>
  <p:sldSz cx="12192000" cy="6858000"/>
  <p:notesSz cx="6858000" cy="9144000"/>
  <p:embeddedFontLst>
    <p:embeddedFont>
      <p:font typeface="Cambria Math" panose="02040503050406030204" pitchFamily="18" charset="0"/>
      <p:regular r:id="rId78"/>
    </p:embeddedFont>
    <p:embeddedFont>
      <p:font typeface="Edu NSW ACT Foundation" panose="020B0604020202020204" charset="0"/>
      <p:regular r:id="rId79"/>
      <p:bold r:id="rId80"/>
    </p:embeddedFont>
    <p:embeddedFont>
      <p:font typeface="Montserrat" panose="00000500000000000000" pitchFamily="2" charset="0"/>
      <p:regular r:id="rId81"/>
      <p:bold r:id="rId82"/>
      <p:italic r:id="rId83"/>
      <p:boldItalic r:id="rId84"/>
    </p:embeddedFont>
    <p:embeddedFont>
      <p:font typeface="Public Sans" pitchFamily="2" charset="0"/>
      <p:regular r:id="rId85"/>
      <p:bold r:id="rId86"/>
      <p:italic r:id="rId87"/>
      <p:boldItalic r:id="rId88"/>
    </p:embeddedFont>
    <p:embeddedFont>
      <p:font typeface="Public Sans Light" pitchFamily="2" charset="0"/>
      <p:regular r:id="rId89"/>
      <p:italic r:id="rId90"/>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646"/>
            <p14:sldId id="26580"/>
            <p14:sldId id="358"/>
            <p14:sldId id="26582"/>
            <p14:sldId id="26581"/>
            <p14:sldId id="26514"/>
          </p14:sldIdLst>
        </p14:section>
        <p14:section name="Review of learning 2" id="{0AC6BBCB-7E49-46CE-B777-EFCDD4B60F91}">
          <p14:sldIdLst>
            <p14:sldId id="26583"/>
            <p14:sldId id="26586"/>
            <p14:sldId id="26587"/>
            <p14:sldId id="26588"/>
            <p14:sldId id="26589"/>
            <p14:sldId id="26590"/>
            <p14:sldId id="26515"/>
            <p14:sldId id="26519"/>
          </p14:sldIdLst>
        </p14:section>
        <p14:section name="Review of learning 3" id="{6F5E1C19-5255-4FF7-A3CD-4549F7EF69B2}">
          <p14:sldIdLst>
            <p14:sldId id="26592"/>
            <p14:sldId id="26594"/>
            <p14:sldId id="26596"/>
            <p14:sldId id="26597"/>
            <p14:sldId id="26598"/>
            <p14:sldId id="26599"/>
            <p14:sldId id="2641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47"/>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8"/>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51"/>
          </p14:sldIdLst>
        </p14:section>
        <p14:section name="Assets" id="{400596ED-E905-4F01-9490-7747507F1996}">
          <p14:sldIdLst>
            <p14:sldId id="26393"/>
            <p14:sldId id="26387"/>
            <p14:sldId id="26395"/>
            <p14:sldId id="26391"/>
            <p14:sldId id="26402"/>
            <p14:sldId id="26507"/>
            <p14:sldId id="26652"/>
          </p14:sldIdLst>
        </p14:section>
        <p14:section name="References &amp; copyright" id="{DBC31484-F5F8-4CB1-8DB4-A562A9780899}">
          <p14:sldIdLst>
            <p14:sldId id="360"/>
            <p14:sldId id="26649"/>
            <p14:sldId id="2665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3990FD7D-A604-C51E-94A2-DF747800638D}" name="Daniella Brunetta" initials="DB" userId="S::daniella.brunetta@det.nsw.edu.au::4e084810-29e2-4b0b-806a-947d4f6d8f39" providerId="AD"/>
  <p188:author id="{6620E8C6-7E4F-1318-D9B4-C749088EC486}" name="Daniella Brunetta" initials="DB" userId="S::Daniella.Brunetta@det.nsw.edu.au::4e084810-29e2-4b0b-806a-947d4f6d8f39"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EA9B0C"/>
    <a:srgbClr val="007A8A"/>
    <a:srgbClr val="9B6808"/>
    <a:srgbClr val="427B2D"/>
    <a:srgbClr val="B51458"/>
    <a:srgbClr val="00ACC2"/>
    <a:srgbClr val="64BB47"/>
    <a:srgbClr val="EDF9E0"/>
    <a:srgbClr val="87D8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88D1DC-0E30-4927-AF52-6445F1818790}" v="1313" dt="2026-04-01T01:12:12.187"/>
    <p1510:client id="{1C70EC6B-C28A-426E-96DF-387B15B7E4D3}" v="180" dt="2026-04-01T01:03:40.339"/>
    <p1510:client id="{2EA5109B-C8EE-A3D2-3F9E-E8646F5333BF}" v="46" dt="2026-04-01T01:13:56.871"/>
    <p1510:client id="{DACF8187-34CF-495F-A055-2ADB09E7C2D4}" v="19" dt="2026-03-31T02:50:38.480"/>
    <p1510:client id="{E21D582E-2039-CA8E-FC3E-8350F3B12814}" v="65" dt="2026-03-31T20:21:53.371"/>
    <p1510:client id="{E58AC16D-666A-4C43-9404-07942D63E6EC}" v="115" dt="2026-04-01T00:39:58.049"/>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3" d="100"/>
          <a:sy n="23" d="100"/>
        </p:scale>
        <p:origin x="642" y="24"/>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7.fntdata"/><Relationship Id="rId89" Type="http://schemas.openxmlformats.org/officeDocument/2006/relationships/font" Target="fonts/font12.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2.fntdata"/><Relationship Id="rId5" Type="http://schemas.openxmlformats.org/officeDocument/2006/relationships/slide" Target="slides/slide1.xml"/><Relationship Id="rId90" Type="http://schemas.openxmlformats.org/officeDocument/2006/relationships/font" Target="fonts/font13.fntdata"/><Relationship Id="rId95" Type="http://schemas.microsoft.com/office/2015/10/relationships/revisionInfo" Target="revisionInfo.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3.fntdata"/><Relationship Id="rId85" Type="http://schemas.openxmlformats.org/officeDocument/2006/relationships/font" Target="fonts/font8.fntdata"/><Relationship Id="rId9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6.fntdata"/><Relationship Id="rId88" Type="http://schemas.openxmlformats.org/officeDocument/2006/relationships/font" Target="fonts/font11.fntdata"/><Relationship Id="rId91" Type="http://schemas.openxmlformats.org/officeDocument/2006/relationships/presProps" Target="presProps.xml"/><Relationship Id="rId9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9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0.fntdata"/><Relationship Id="rId61" Type="http://schemas.openxmlformats.org/officeDocument/2006/relationships/slide" Target="slides/slide57.xml"/><Relationship Id="rId82"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2/04/2026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2/04/2026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A Unit 10</a:t>
            </a:r>
          </a:p>
          <a:p>
            <a:pPr marL="285750" indent="-285750">
              <a:buFont typeface="Arial" panose="020B0604020202020204" pitchFamily="34" charset="0"/>
              <a:buChar char="•"/>
            </a:pPr>
            <a:r>
              <a:rPr lang="en-AU"/>
              <a:t>Stage 2 Year A Unit 9</a:t>
            </a:r>
          </a:p>
          <a:p>
            <a:pPr marL="285750" indent="-285750">
              <a:buFont typeface="Arial" panose="020B0604020202020204" pitchFamily="34" charset="0"/>
              <a:buChar char="•"/>
            </a:pPr>
            <a:r>
              <a:rPr lang="en-AU"/>
              <a:t>Stage 2 Year A Unit 8</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 </a:t>
            </a: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B</a:t>
            </a:r>
          </a:p>
          <a:p>
            <a:br>
              <a:rPr lang="en-AU"/>
            </a:br>
            <a:endParaRPr lang="en-AU" b="1"/>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 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Geometric measure B</a:t>
            </a: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a:t>This is a developing number sense activity. </a:t>
            </a:r>
          </a:p>
          <a:p>
            <a:endParaRPr lang="en-AU" sz="1800"/>
          </a:p>
          <a:p>
            <a:r>
              <a:rPr lang="en-AU" sz="180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a:p>
          <a:p>
            <a:r>
              <a:rPr lang="en-AU" sz="1800" b="1"/>
              <a:t>Syllabus focus area:</a:t>
            </a:r>
          </a:p>
          <a:p>
            <a:r>
              <a:rPr lang="en-AU" sz="1800"/>
              <a:t>Partitioned fractions A</a:t>
            </a:r>
          </a:p>
          <a:p>
            <a:endParaRPr lang="en-AU" sz="1800"/>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b="1">
                <a:effectLst/>
                <a:latin typeface="Arial" panose="020B0604020202020204" pitchFamily="34" charset="0"/>
                <a:ea typeface="Calibri" panose="020F0502020204030204" pitchFamily="34" charset="0"/>
              </a:rPr>
              <a:t>The ‘thirding’ strategy</a:t>
            </a:r>
          </a:p>
          <a:p>
            <a:endParaRPr lang="en-AU"/>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‘Thirding strategy’ from </a:t>
            </a:r>
            <a:r>
              <a:rPr lang="en-AU" sz="1600" i="1" kern="1200">
                <a:solidFill>
                  <a:schemeClr val="tx1"/>
                </a:solidFill>
                <a:effectLst/>
                <a:latin typeface="Arial" panose="020B0604020202020204" pitchFamily="34" charset="0"/>
                <a:ea typeface="+mn-ea"/>
                <a:cs typeface="Arial" panose="020B0604020202020204" pitchFamily="34" charset="0"/>
              </a:rPr>
              <a:t>Teaching Mathematics: Foundations to Middle Years</a:t>
            </a:r>
            <a:r>
              <a:rPr lang="en-AU" sz="1600" kern="1200">
                <a:solidFill>
                  <a:schemeClr val="tx1"/>
                </a:solidFill>
                <a:effectLst/>
                <a:latin typeface="Arial" panose="020B0604020202020204" pitchFamily="34" charset="0"/>
                <a:ea typeface="+mn-ea"/>
                <a:cs typeface="Arial" panose="020B0604020202020204" pitchFamily="34" charset="0"/>
              </a:rPr>
              <a:t> by Siemon et al.</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with a paper strip and writing materials. Ask students to fold the paper in half.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Revise: what a half is and that 2 halves make a whole.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discuss strategies to make thirds and where one</a:t>
            </a:r>
            <a:r>
              <a:rPr lang="en-AU" sz="1600" kern="1200" baseline="0">
                <a:solidFill>
                  <a:schemeClr val="tx1"/>
                </a:solidFill>
                <a:effectLst/>
                <a:latin typeface="Arial" panose="020B0604020202020204" pitchFamily="34" charset="0"/>
                <a:ea typeface="+mn-ea"/>
                <a:cs typeface="Arial" panose="020B0604020202020204" pitchFamily="34" charset="0"/>
              </a:rPr>
              <a:t> third </a:t>
            </a:r>
            <a:r>
              <a:rPr lang="en-AU" sz="1600" kern="1200">
                <a:solidFill>
                  <a:schemeClr val="tx1"/>
                </a:solidFill>
                <a:effectLst/>
                <a:latin typeface="Arial" panose="020B0604020202020204" pitchFamily="34" charset="0"/>
                <a:ea typeface="+mn-ea"/>
                <a:cs typeface="Arial" panose="020B0604020202020204" pitchFamily="34" charset="0"/>
              </a:rPr>
              <a:t>would be placed on the paper strip. Ask: Do you think one</a:t>
            </a:r>
            <a:r>
              <a:rPr lang="en-AU" sz="1600" kern="1200" baseline="0">
                <a:solidFill>
                  <a:schemeClr val="tx1"/>
                </a:solidFill>
                <a:effectLst/>
                <a:latin typeface="Arial" panose="020B0604020202020204" pitchFamily="34" charset="0"/>
                <a:ea typeface="+mn-ea"/>
                <a:cs typeface="Arial" panose="020B0604020202020204" pitchFamily="34" charset="0"/>
              </a:rPr>
              <a:t> third </a:t>
            </a:r>
            <a:r>
              <a:rPr lang="en-AU" sz="1600" kern="1200">
                <a:solidFill>
                  <a:schemeClr val="tx1"/>
                </a:solidFill>
                <a:effectLst/>
                <a:latin typeface="Arial" panose="020B0604020202020204" pitchFamily="34" charset="0"/>
                <a:ea typeface="+mn-ea"/>
                <a:cs typeface="Arial" panose="020B0604020202020204" pitchFamily="34" charset="0"/>
              </a:rPr>
              <a:t>is more or less than</a:t>
            </a:r>
            <a:r>
              <a:rPr lang="en-AU" sz="1600" kern="1200" baseline="0">
                <a:solidFill>
                  <a:schemeClr val="tx1"/>
                </a:solidFill>
                <a:effectLst/>
                <a:latin typeface="Arial" panose="020B0604020202020204" pitchFamily="34" charset="0"/>
                <a:ea typeface="+mn-ea"/>
                <a:cs typeface="Arial" panose="020B0604020202020204" pitchFamily="34" charset="0"/>
              </a:rPr>
              <a:t> one half</a:t>
            </a:r>
            <a:r>
              <a:rPr lang="en-AU" sz="1600" kern="1200">
                <a:solidFill>
                  <a:schemeClr val="tx1"/>
                </a:solidFill>
                <a:effectLst/>
                <a:latin typeface="Arial" panose="020B0604020202020204" pitchFamily="34" charset="0"/>
                <a:ea typeface="+mn-ea"/>
                <a:cs typeface="Arial" panose="020B0604020202020204" pitchFamily="34" charset="0"/>
              </a:rPr>
              <a:t>? How do you know?’</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Use the paper strip to make folds and explain the thirding strategy to students: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Estimate half on the paper strip.</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Estimate one third as something less than half, leaving room for 2 more equal parts.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Halve the remaining part, making 3 equal parts in total.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label the partitioned strip with thirds.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37686619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 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a:t>This is a developing number sense activity. </a:t>
            </a:r>
          </a:p>
          <a:p>
            <a:endParaRPr lang="en-AU" sz="1800"/>
          </a:p>
          <a:p>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a:p>
          <a:p>
            <a:r>
              <a:rPr lang="en-AU" sz="1800" b="1"/>
              <a:t>Syllabus focus area:</a:t>
            </a:r>
          </a:p>
          <a:p>
            <a:r>
              <a:rPr lang="en-AU" sz="1800"/>
              <a:t>Partitioned fractions A</a:t>
            </a:r>
          </a:p>
          <a:p>
            <a:endParaRPr lang="en-AU" sz="1800"/>
          </a:p>
          <a:p>
            <a:r>
              <a:rPr lang="en-AU" sz="1800" b="1"/>
              <a:t>The ‘</a:t>
            </a:r>
            <a:r>
              <a:rPr lang="en-AU" sz="1800" b="1" err="1"/>
              <a:t>fifthing</a:t>
            </a:r>
            <a:r>
              <a:rPr lang="en-AU" sz="1800" b="1"/>
              <a:t>’ strategy</a:t>
            </a:r>
          </a:p>
          <a:p>
            <a:endParaRPr lang="en-AU" sz="1800" b="1">
              <a:effectLst/>
              <a:latin typeface="Arial" panose="020B0604020202020204" pitchFamily="34" charset="0"/>
              <a:ea typeface="Calibri" panose="020F0502020204030204" pitchFamily="34" charset="0"/>
            </a:endParaRP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the ‘</a:t>
            </a:r>
            <a:r>
              <a:rPr lang="en-AU" sz="1600" kern="1200" err="1">
                <a:solidFill>
                  <a:schemeClr val="tx1"/>
                </a:solidFill>
                <a:effectLst/>
                <a:latin typeface="Arial" panose="020B0604020202020204" pitchFamily="34" charset="0"/>
                <a:ea typeface="+mn-ea"/>
                <a:cs typeface="Arial" panose="020B0604020202020204" pitchFamily="34" charset="0"/>
              </a:rPr>
              <a:t>Fifthing</a:t>
            </a:r>
            <a:r>
              <a:rPr lang="en-AU" sz="1600" kern="1200">
                <a:solidFill>
                  <a:schemeClr val="tx1"/>
                </a:solidFill>
                <a:effectLst/>
                <a:latin typeface="Arial" panose="020B0604020202020204" pitchFamily="34" charset="0"/>
                <a:ea typeface="+mn-ea"/>
                <a:cs typeface="Arial" panose="020B0604020202020204" pitchFamily="34" charset="0"/>
              </a:rPr>
              <a:t> strategy’</a:t>
            </a:r>
            <a:r>
              <a:rPr lang="en-AU" sz="1600" i="1" kern="1200">
                <a:solidFill>
                  <a:schemeClr val="tx1"/>
                </a:solidFill>
                <a:effectLst/>
                <a:latin typeface="Arial" panose="020B0604020202020204" pitchFamily="34" charset="0"/>
                <a:ea typeface="+mn-ea"/>
                <a:cs typeface="Arial" panose="020B0604020202020204" pitchFamily="34" charset="0"/>
              </a:rPr>
              <a:t> </a:t>
            </a:r>
            <a:r>
              <a:rPr lang="en-AU" sz="1600" kern="1200">
                <a:solidFill>
                  <a:schemeClr val="tx1"/>
                </a:solidFill>
                <a:effectLst/>
                <a:latin typeface="Arial" panose="020B0604020202020204" pitchFamily="34" charset="0"/>
                <a:ea typeface="+mn-ea"/>
                <a:cs typeface="Arial" panose="020B0604020202020204" pitchFamily="34" charset="0"/>
              </a:rPr>
              <a:t>from </a:t>
            </a:r>
            <a:r>
              <a:rPr lang="en-AU" sz="1600" i="1" kern="1200">
                <a:solidFill>
                  <a:schemeClr val="tx1"/>
                </a:solidFill>
                <a:effectLst/>
                <a:latin typeface="Arial" panose="020B0604020202020204" pitchFamily="34" charset="0"/>
                <a:ea typeface="+mn-ea"/>
                <a:cs typeface="Arial" panose="020B0604020202020204" pitchFamily="34" charset="0"/>
              </a:rPr>
              <a:t>Teaching Mathematics: Foundations to Middle Years</a:t>
            </a:r>
            <a:r>
              <a:rPr lang="en-AU" sz="1600" kern="1200">
                <a:solidFill>
                  <a:schemeClr val="tx1"/>
                </a:solidFill>
                <a:effectLst/>
                <a:latin typeface="Arial" panose="020B0604020202020204" pitchFamily="34" charset="0"/>
                <a:ea typeface="+mn-ea"/>
                <a:cs typeface="Arial" panose="020B0604020202020204" pitchFamily="34" charset="0"/>
              </a:rPr>
              <a:t> by Siemon et al.</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a:buChar char="•"/>
            </a:pPr>
            <a:r>
              <a:rPr lang="en-AU" sz="1600" kern="1200">
                <a:solidFill>
                  <a:schemeClr val="tx1"/>
                </a:solidFill>
                <a:effectLst/>
                <a:latin typeface="Arial"/>
                <a:cs typeface="Arial"/>
              </a:rPr>
              <a:t>Provide students with a paper strip and writing materials. Revise the strategies for identifying thirds in Lesson 1.</a:t>
            </a: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Students fold the paper strip to show thirds, using the halfway point as a reference.</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consider how they could show fifths on their paper strip. Ask:</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Would a fifth be larger or smaller than a third? How do you know?</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Would a fifth be larger or smaller than a quarter? How do you know?</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How can you use quarters on your fraction strip to find fifths?</a:t>
            </a:r>
            <a:endParaRPr lang="en-AU" sz="1600" kern="1200">
              <a:solidFill>
                <a:schemeClr val="tx1"/>
              </a:solidFill>
              <a:effectLst/>
            </a:endParaRPr>
          </a:p>
          <a:p>
            <a:r>
              <a:rPr lang="en-AU" b="1">
                <a:latin typeface="Arial"/>
                <a:cs typeface="Arial"/>
              </a:rPr>
              <a:t>Move to the next slide.</a:t>
            </a: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Explain the ‘</a:t>
            </a:r>
            <a:r>
              <a:rPr lang="en-AU" sz="1600" kern="1200" err="1">
                <a:solidFill>
                  <a:schemeClr val="tx1"/>
                </a:solidFill>
                <a:effectLst/>
                <a:latin typeface="Arial" panose="020B0604020202020204" pitchFamily="34" charset="0"/>
                <a:ea typeface="+mn-ea"/>
                <a:cs typeface="Arial" panose="020B0604020202020204" pitchFamily="34" charset="0"/>
              </a:rPr>
              <a:t>fifthing</a:t>
            </a:r>
            <a:r>
              <a:rPr lang="en-AU" sz="1600" kern="1200">
                <a:solidFill>
                  <a:schemeClr val="tx1"/>
                </a:solidFill>
                <a:effectLst/>
                <a:latin typeface="Arial" panose="020B0604020202020204" pitchFamily="34" charset="0"/>
                <a:ea typeface="+mn-ea"/>
                <a:cs typeface="Arial" panose="020B0604020202020204" pitchFamily="34" charset="0"/>
              </a:rPr>
              <a:t> strategy’ to students:</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Estimate half, then estimate one-quarter.</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Estimate one-fifth as something slightly less than one-quarter.</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As 4 more equal parts are needed, halve and halve again the remaining part.</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Fold to create 5 equal parts in total.</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a:cs typeface="Arial"/>
              </a:rPr>
              <a:t>After folding and checking for 5 equal fifths, students draw a bar diagram that represents their folded fraction strip. They label the parts of the bar diagram to show each fifth.</a:t>
            </a:r>
          </a:p>
          <a:p>
            <a:endParaRPr lang="en-AU" sz="1800">
              <a:effectLst/>
              <a:latin typeface="Arial" panose="020B0604020202020204" pitchFamily="34" charset="0"/>
              <a:ea typeface="Calibri" panose="020F0502020204030204" pitchFamily="34" charset="0"/>
            </a:endParaRP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23259989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a:t>This is a developing number sense activity. </a:t>
            </a:r>
          </a:p>
          <a:p>
            <a:endParaRPr lang="en-AU" sz="1800"/>
          </a:p>
          <a:p>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a:p>
          <a:p>
            <a:r>
              <a:rPr lang="en-AU" sz="1800" b="1"/>
              <a:t>Syllabus focus area:</a:t>
            </a:r>
          </a:p>
          <a:p>
            <a:r>
              <a:rPr lang="en-AU" sz="1800"/>
              <a:t>Partitioned fractions A</a:t>
            </a:r>
          </a:p>
          <a:p>
            <a:endParaRPr lang="en-AU" sz="1800"/>
          </a:p>
          <a:p>
            <a:r>
              <a:rPr lang="en-AU" sz="1800" b="1"/>
              <a:t>The ‘</a:t>
            </a:r>
            <a:r>
              <a:rPr lang="en-AU" sz="1800" b="1" err="1"/>
              <a:t>fifthing</a:t>
            </a:r>
            <a:r>
              <a:rPr lang="en-AU" sz="1800" b="1"/>
              <a:t>’ strategy</a:t>
            </a:r>
          </a:p>
          <a:p>
            <a:pPr marL="285750" indent="-285750">
              <a:buFont typeface="Arial" panose="05050102010706020507" pitchFamily="18" charset="2"/>
              <a:buChar char="•"/>
            </a:pPr>
            <a:r>
              <a:rPr lang="en-AU">
                <a:latin typeface="Arial"/>
                <a:cs typeface="Arial"/>
              </a:rPr>
              <a:t>Explain the ‘</a:t>
            </a:r>
            <a:r>
              <a:rPr lang="en-AU" err="1">
                <a:latin typeface="Arial"/>
                <a:cs typeface="Arial"/>
              </a:rPr>
              <a:t>fifthing</a:t>
            </a:r>
            <a:r>
              <a:rPr lang="en-AU">
                <a:latin typeface="Arial"/>
                <a:cs typeface="Arial"/>
              </a:rPr>
              <a:t> strategy’ to students:</a:t>
            </a:r>
            <a:endParaRPr lang="en-US">
              <a:solidFill>
                <a:srgbClr val="444444"/>
              </a:solidFill>
              <a:latin typeface="Arial"/>
              <a:cs typeface="Arial"/>
            </a:endParaRPr>
          </a:p>
          <a:p>
            <a:pPr marL="285750" indent="-285750">
              <a:buFont typeface="Arial" panose="05050102010706020507" pitchFamily="18" charset="2"/>
              <a:buChar char="•"/>
            </a:pPr>
            <a:r>
              <a:rPr lang="en-AU"/>
              <a:t>Estimate half, then estimate one-quarter.</a:t>
            </a:r>
            <a:endParaRPr lang="en-US">
              <a:solidFill>
                <a:srgbClr val="444444"/>
              </a:solidFill>
            </a:endParaRPr>
          </a:p>
          <a:p>
            <a:pPr marL="285750" indent="-285750">
              <a:buFont typeface="Arial" panose="05050102010706020507" pitchFamily="18" charset="2"/>
              <a:buChar char="•"/>
            </a:pPr>
            <a:r>
              <a:rPr lang="en-AU"/>
              <a:t>Estimate one-fifth as something slightly less than one-quarter.</a:t>
            </a:r>
            <a:endParaRPr lang="en-US">
              <a:solidFill>
                <a:srgbClr val="444444"/>
              </a:solidFill>
            </a:endParaRPr>
          </a:p>
          <a:p>
            <a:pPr marL="285750" indent="-285750">
              <a:buFont typeface="Arial" panose="05050102010706020507" pitchFamily="18" charset="2"/>
              <a:buChar char="•"/>
            </a:pPr>
            <a:r>
              <a:rPr lang="en-AU"/>
              <a:t>As 4 more equal parts are needed, halve and halve again the remaining part.</a:t>
            </a:r>
            <a:endParaRPr lang="en-US">
              <a:solidFill>
                <a:srgbClr val="444444"/>
              </a:solidFill>
            </a:endParaRPr>
          </a:p>
          <a:p>
            <a:pPr marL="285750" indent="-285750">
              <a:buFont typeface="Arial" panose="05050102010706020507" pitchFamily="18" charset="2"/>
              <a:buChar char="•"/>
            </a:pPr>
            <a:r>
              <a:rPr lang="en-AU"/>
              <a:t>Fold to create 5 equal parts in total.</a:t>
            </a:r>
            <a:endParaRPr lang="en-US">
              <a:solidFill>
                <a:srgbClr val="444444"/>
              </a:solidFill>
            </a:endParaRPr>
          </a:p>
          <a:p>
            <a:pPr marL="285750" indent="-285750">
              <a:buFont typeface="Arial" panose="05050102010706020507" pitchFamily="18" charset="2"/>
              <a:buChar char="•"/>
            </a:pPr>
            <a:r>
              <a:rPr lang="en-AU">
                <a:latin typeface="Arial"/>
                <a:cs typeface="Arial"/>
              </a:rPr>
              <a:t>After folding and checking for 5 equal fifths, students draw a bar diagram that represents their folded fraction strip. They label the parts of the bar diagram to show each fifth.</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4027328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a:t>This is a developing number sense activity. </a:t>
            </a:r>
          </a:p>
          <a:p>
            <a:endParaRPr lang="en-AU" sz="1800"/>
          </a:p>
          <a:p>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a:p>
          <a:p>
            <a:r>
              <a:rPr lang="en-AU" sz="1800" b="1"/>
              <a:t>Syllabus focus area:</a:t>
            </a:r>
          </a:p>
          <a:p>
            <a:r>
              <a:rPr lang="en-AU" sz="1800"/>
              <a:t>Partitioned fractions A</a:t>
            </a:r>
          </a:p>
          <a:p>
            <a:endParaRPr lang="en-AU" sz="1800"/>
          </a:p>
          <a:p>
            <a:r>
              <a:rPr lang="en-AU" sz="1800" b="1"/>
              <a:t>Labelling thirds and fifths</a:t>
            </a:r>
          </a:p>
          <a:p>
            <a:pPr marL="342900" lvl="0" indent="-342900">
              <a:lnSpc>
                <a:spcPct val="150000"/>
              </a:lnSpc>
              <a:spcBef>
                <a:spcPts val="1200"/>
              </a:spcBef>
              <a:spcAft>
                <a:spcPts val="600"/>
              </a:spcAft>
              <a:buFont typeface="Arial" panose="05050102010706020507" pitchFamily="18" charset="2"/>
              <a:buChar char="•"/>
            </a:pPr>
            <a:endParaRPr lang="en-AU" sz="1800">
              <a:effectLst/>
              <a:ea typeface="Calibri" panose="020F0502020204030204" pitchFamily="34" charset="0"/>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with two strips of paper of equal length.</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Pose the question: Which is larger: two</a:t>
            </a:r>
            <a:r>
              <a:rPr lang="en-AU" sz="1600" kern="1200" baseline="0">
                <a:solidFill>
                  <a:schemeClr val="tx1"/>
                </a:solidFill>
                <a:effectLst/>
                <a:latin typeface="Arial" panose="020B0604020202020204" pitchFamily="34" charset="0"/>
                <a:ea typeface="+mn-ea"/>
                <a:cs typeface="Arial" panose="020B0604020202020204" pitchFamily="34" charset="0"/>
              </a:rPr>
              <a:t> thirds or four fifths? </a:t>
            </a:r>
            <a:endParaRPr lang="en-AU" sz="1600" kern="1200" baseline="0">
              <a:solidFill>
                <a:schemeClr val="tx1"/>
              </a:solidFill>
              <a:effectLst/>
            </a:endParaRPr>
          </a:p>
          <a:p>
            <a:pPr marL="285750" lvl="0" indent="-285750">
              <a:buFont typeface="Arial"/>
              <a:buChar char="•"/>
            </a:pPr>
            <a:r>
              <a:rPr lang="en-AU" sz="1600" kern="1200">
                <a:solidFill>
                  <a:schemeClr val="tx1"/>
                </a:solidFill>
                <a:effectLst/>
                <a:latin typeface="Arial"/>
                <a:cs typeface="Arial"/>
              </a:rPr>
              <a:t>Students fold one strip of paper to create to create thirds. They label the fractions and identify the correct position of </a:t>
            </a:r>
            <a:r>
              <a:rPr lang="en-AU" sz="1600" kern="1200" baseline="0">
                <a:solidFill>
                  <a:schemeClr val="tx1"/>
                </a:solidFill>
                <a:effectLst/>
                <a:latin typeface="Arial"/>
                <a:cs typeface="Arial"/>
              </a:rPr>
              <a:t> two thirds.</a:t>
            </a:r>
          </a:p>
          <a:p>
            <a:pPr marL="285750" lvl="0" indent="-285750">
              <a:buFont typeface="Arial"/>
              <a:buChar char="•"/>
            </a:pPr>
            <a:r>
              <a:rPr lang="en-AU" sz="1600" kern="1200">
                <a:solidFill>
                  <a:schemeClr val="tx1"/>
                </a:solidFill>
                <a:effectLst/>
                <a:latin typeface="Arial"/>
                <a:cs typeface="Arial"/>
              </a:rPr>
              <a:t>Students fold the other strip of paper to create to create fifths. They label the fractions and identify the correct position of four fifths.</a:t>
            </a: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Ask: Which one is larger? How do you know?</a:t>
            </a:r>
            <a:endParaRPr lang="en-AU" sz="1600" kern="1200">
              <a:solidFill>
                <a:schemeClr val="tx1"/>
              </a:solidFill>
              <a:effectLst/>
            </a:endParaRPr>
          </a:p>
          <a:p>
            <a:pPr marL="0" indent="0">
              <a:lnSpc>
                <a:spcPct val="150000"/>
              </a:lnSpc>
              <a:spcBef>
                <a:spcPts val="1200"/>
              </a:spcBef>
              <a:spcAft>
                <a:spcPts val="600"/>
              </a:spcAft>
              <a:buFont typeface="+mj-lt"/>
              <a:buNone/>
            </a:pPr>
            <a:endParaRPr lang="en-AU" sz="1800">
              <a:latin typeface="Arial"/>
              <a:cs typeface="Arial"/>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8385731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A</a:t>
            </a:r>
          </a:p>
          <a:p>
            <a:endParaRPr lang="en-AU"/>
          </a:p>
          <a:p>
            <a:r>
              <a:rPr lang="en-AU" b="1"/>
              <a:t>Activity title</a:t>
            </a:r>
          </a:p>
          <a:p>
            <a:r>
              <a:rPr lang="en-AU" b="0"/>
              <a:t>This resource corresponds to Resource15 – Who is winning? in Stage A Year A Unit 10.</a:t>
            </a:r>
          </a:p>
          <a:p>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‘Who is winning?’ from </a:t>
            </a:r>
            <a:r>
              <a:rPr lang="en-AU" sz="1600" i="1" kern="1200">
                <a:solidFill>
                  <a:schemeClr val="tx1"/>
                </a:solidFill>
                <a:effectLst/>
                <a:latin typeface="Arial" panose="020B0604020202020204" pitchFamily="34" charset="0"/>
                <a:ea typeface="+mn-ea"/>
                <a:cs typeface="Arial" panose="020B0604020202020204" pitchFamily="34" charset="0"/>
              </a:rPr>
              <a:t>Primary and Middle Years Mathematics: Teaching Developmentally</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i="1" kern="1200">
                <a:solidFill>
                  <a:schemeClr val="tx1"/>
                </a:solidFill>
                <a:effectLst/>
                <a:latin typeface="Arial" panose="020B0604020202020204" pitchFamily="34" charset="0"/>
                <a:ea typeface="+mn-ea"/>
                <a:cs typeface="Arial" panose="020B0604020202020204" pitchFamily="34" charset="0"/>
              </a:rPr>
              <a:t>1st Australian </a:t>
            </a:r>
            <a:r>
              <a:rPr lang="en-AU" sz="1600" i="1" kern="1200" err="1">
                <a:solidFill>
                  <a:schemeClr val="tx1"/>
                </a:solidFill>
                <a:effectLst/>
                <a:latin typeface="Arial" panose="020B0604020202020204" pitchFamily="34" charset="0"/>
                <a:ea typeface="+mn-ea"/>
                <a:cs typeface="Arial" panose="020B0604020202020204" pitchFamily="34" charset="0"/>
              </a:rPr>
              <a:t>edn</a:t>
            </a:r>
            <a:r>
              <a:rPr lang="en-AU" sz="1600" kern="1200">
                <a:solidFill>
                  <a:schemeClr val="tx1"/>
                </a:solidFill>
                <a:effectLst/>
                <a:latin typeface="Arial" panose="020B0604020202020204" pitchFamily="34" charset="0"/>
                <a:ea typeface="+mn-ea"/>
                <a:cs typeface="Arial" panose="020B0604020202020204" pitchFamily="34" charset="0"/>
              </a:rPr>
              <a:t> by Van De Walle et al.</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a:buChar char="•"/>
            </a:pPr>
            <a:r>
              <a:rPr lang="en-AU" sz="1600" kern="1200">
                <a:solidFill>
                  <a:schemeClr val="tx1"/>
                </a:solidFill>
                <a:effectLst/>
                <a:latin typeface="Arial"/>
                <a:cs typeface="Arial"/>
              </a:rPr>
              <a:t>Provide pairs of students with multiple paper strips of the same length and writing materials. Revise how to identify thirds and fifths of a length from Activity 1 and 2. </a:t>
            </a: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the 6 students are in a race. The fractions show the distance they have already run.</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a paper strip for each runner.</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a:cs typeface="Arial"/>
              </a:rPr>
              <a:t>With their partner, students use a paper strip to mark and represent the fraction distance for each runner. Students then compare the fractional representations for each runner to determine who is winning the race.</a:t>
            </a:r>
          </a:p>
          <a:p>
            <a:pPr marL="285750" lvl="0" indent="-285750">
              <a:buFont typeface="Arial"/>
              <a:buChar char="•"/>
            </a:pPr>
            <a:r>
              <a:rPr lang="en-AU" sz="1600" kern="1200">
                <a:solidFill>
                  <a:schemeClr val="tx1"/>
                </a:solidFill>
                <a:effectLst/>
                <a:latin typeface="Arial"/>
                <a:cs typeface="Arial"/>
              </a:rPr>
              <a:t>Discuss students' strategies used to identify and represent the position of each fraction.</a:t>
            </a:r>
          </a:p>
          <a:p>
            <a:pPr marL="342900" indent="-342900">
              <a:buFont typeface="Arial" panose="020F0302020204030204"/>
              <a:buChar char="•"/>
            </a:pPr>
            <a:endParaRPr lang="en-AU" b="0"/>
          </a:p>
          <a:p>
            <a:endParaRPr lang="en-AU" b="1"/>
          </a:p>
          <a:p>
            <a:pPr marL="342900" indent="-342900">
              <a:buFont typeface="Arial" panose="020F0302020204030204"/>
              <a:buChar char="•"/>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62720-0BC8-FA7F-BC47-1C78ADEAB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48631-F898-32A6-78A2-76AA2975D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E66D4-BAB0-850A-44DB-0959EA3E6EA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25E3C821-F7BD-A5FD-0747-F0B52FC6EDC5}"/>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8533541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A</a:t>
            </a:r>
          </a:p>
          <a:p>
            <a:br>
              <a:rPr lang="en-AU"/>
            </a:br>
            <a:endParaRPr lang="en-AU" b="1"/>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Two- dimensional structure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Balancing number sentences</a:t>
            </a:r>
          </a:p>
          <a:p>
            <a:endParaRPr lang="en-AU" b="1"/>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with two 6-sided dice and an individual whiteboard.</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Students roll the dice to form a 2-digit number, for example, 26. Students roll again to form another 2-digit number, for example, 32.</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the number sentence 26 + 32 =.</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then calculate two other 2-digit numbers that could be written on the other side of the equal sign that would balance the number sentence. For example, 26 + 32 = 43 + 15.</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Students roll the 2 dice several times and repeat the process, recording a variety of balanced number sentences.</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Ask the class:</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a:cs typeface="Arial"/>
              </a:rPr>
              <a:t>What strategies were most useful when selecting the two additional numbers?</a:t>
            </a: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How did you check that each side was the same as the other?</a:t>
            </a:r>
            <a:endParaRPr lang="en-AU" sz="1600" kern="1200">
              <a:solidFill>
                <a:schemeClr val="tx1"/>
              </a:solidFill>
              <a:effectLst/>
            </a:endParaRPr>
          </a:p>
          <a:p>
            <a:pPr marL="285750" lvl="0" indent="-285750">
              <a:buFont typeface="Arial"/>
              <a:buChar char="•"/>
            </a:pPr>
            <a:r>
              <a:rPr lang="en-AU" sz="1600" kern="1200">
                <a:solidFill>
                  <a:schemeClr val="tx1"/>
                </a:solidFill>
                <a:effectLst/>
                <a:latin typeface="Arial" panose="020B0604020202020204" pitchFamily="34" charset="0"/>
                <a:ea typeface="+mn-ea"/>
                <a:cs typeface="Arial" panose="020B0604020202020204" pitchFamily="34" charset="0"/>
              </a:rPr>
              <a:t>How could you convince someone that your number sentence shows equality?</a:t>
            </a:r>
            <a:endParaRPr lang="en-AU" sz="1600" kern="1200">
              <a:solidFill>
                <a:schemeClr val="tx1"/>
              </a:solidFill>
              <a:effectLst/>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the activity can be adapted by using 3 dice to create 3-digit numbers.</a:t>
            </a:r>
            <a:endParaRPr lang="en-AU" sz="1600" kern="1200">
              <a:solidFill>
                <a:schemeClr val="tx1"/>
              </a:solidFill>
              <a:effectLst/>
            </a:endParaRPr>
          </a:p>
          <a:p>
            <a:pPr marL="0" indent="0">
              <a:buFont typeface="+mj-lt"/>
              <a:buNone/>
            </a:pPr>
            <a:endParaRPr lang="en-AU" b="0"/>
          </a:p>
          <a:p>
            <a:endParaRPr lang="en-AU" b="1"/>
          </a:p>
          <a:p>
            <a:pPr marL="342900" indent="-342900">
              <a:buFont typeface="Arial" panose="020F0302020204030204"/>
              <a:buChar char="•"/>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 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Two- dimensional structure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The same as</a:t>
            </a:r>
          </a:p>
          <a:p>
            <a:r>
              <a:rPr lang="en-AU" b="0"/>
              <a:t>This resource corresponds to Resource 16 – number sentence board in Stage 2 Year A Unit 10. </a:t>
            </a:r>
          </a:p>
          <a:p>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a:t>
            </a:r>
            <a:r>
              <a:rPr lang="en-AU" sz="1600" i="1" kern="1200">
                <a:solidFill>
                  <a:schemeClr val="tx1"/>
                </a:solidFill>
                <a:effectLst/>
                <a:latin typeface="Arial" panose="020B0604020202020204" pitchFamily="34" charset="0"/>
                <a:ea typeface="+mn-ea"/>
                <a:cs typeface="Arial" panose="020B0604020202020204" pitchFamily="34" charset="0"/>
              </a:rPr>
              <a:t>Let’s Play: Number Sentences</a:t>
            </a:r>
            <a:r>
              <a:rPr lang="en-AU" sz="1600" kern="1200">
                <a:solidFill>
                  <a:schemeClr val="tx1"/>
                </a:solidFill>
                <a:effectLst/>
                <a:latin typeface="Arial" panose="020B0604020202020204" pitchFamily="34" charset="0"/>
                <a:ea typeface="+mn-ea"/>
                <a:cs typeface="Arial" panose="020B0604020202020204" pitchFamily="34" charset="0"/>
              </a:rPr>
              <a:t> by Russo.</a:t>
            </a: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prior to the lesson, remove all the picture cards. It is optional to use the picture cards if appropriate to increase the level of challenge.</a:t>
            </a:r>
          </a:p>
          <a:p>
            <a:pPr marL="342900" indent="-342900">
              <a:buFont typeface="+mj-lt"/>
              <a:buAutoNum type="arabicPeriod"/>
            </a:pPr>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Demonstrate how to play the game by playing against a student or the whole class.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Deal 4 cards face up on </a:t>
            </a:r>
            <a:r>
              <a:rPr lang="en-AU" sz="1600" u="sng" kern="1200">
                <a:solidFill>
                  <a:schemeClr val="tx1"/>
                </a:solidFill>
                <a:effectLst/>
                <a:latin typeface="Arial" panose="020B0604020202020204" pitchFamily="34" charset="0"/>
                <a:ea typeface="+mn-ea"/>
                <a:cs typeface="Arial" panose="020B0604020202020204" pitchFamily="34" charset="0"/>
              </a:rPr>
              <a:t>Resource 16 – number sentence board</a:t>
            </a:r>
            <a:r>
              <a:rPr lang="en-AU" sz="1600" kern="1200">
                <a:solidFill>
                  <a:schemeClr val="tx1"/>
                </a:solidFill>
                <a:effectLst/>
                <a:latin typeface="Arial" panose="020B0604020202020204" pitchFamily="34" charset="0"/>
                <a:ea typeface="+mn-ea"/>
                <a:cs typeface="Arial" panose="020B0604020202020204" pitchFamily="34" charset="0"/>
              </a:rPr>
              <a:t> and place the remainder of the cards in a centre pile (see Figure 4)</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Player 1 picks a card from the centre pile and decides which of the 4 slots to place the card. For example, Player 1 picks a 7 and places it in one of the slots, then reads out the number sentence stating whether it is true or not. For example, 10 plus 4 is not the same as 7 plus 6 (see Figure 5).</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Player 2 then picks a card and places it in one of the slots. For example, player 2 picks a 7 and reads out the number sentence stating if it is true or not (see Figure 6).</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Play continues until a player selects a card that makes a true statement. For example, Player 1 picks a 3, places it in a slot and reads 10 plus 3 is the same as 7 plus 6 (see Figure 7).</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Players record the number sentences on their whiteboard and that is the end of a round. The cards on the game board are placed at the bottom of the pile, 4 new cards are dealt and play starts again.</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 – 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True or false number sentences</a:t>
            </a:r>
          </a:p>
          <a:p>
            <a:endParaRPr lang="en-AU" b="1"/>
          </a:p>
          <a:p>
            <a:r>
              <a:rPr lang="en-AU" b="0"/>
              <a:t>This resource corresponds to Resource 17 – number sentences in Stage 2 Year A Unit 10.</a:t>
            </a:r>
          </a:p>
          <a:p>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True or false from NRICH by University of Cambridge.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the number sentence 27 + 13 = 11 + 29. Ask students to turn and talk about if the number sentence is true or false.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students to explain how they know that the number sentence is true or false.</a:t>
            </a:r>
          </a:p>
          <a:p>
            <a:pPr marL="285750" lvl="0" indent="-285750">
              <a:buFont typeface="Arial" panose="020B0604020202020204" pitchFamily="34" charset="0"/>
              <a:buChar char="•"/>
            </a:pPr>
            <a:r>
              <a:rPr lang="en-AU" sz="1600" kern="1200">
                <a:solidFill>
                  <a:schemeClr val="tx1"/>
                </a:solidFill>
                <a:effectLst/>
                <a:latin typeface="Arial"/>
                <a:cs typeface="Arial"/>
              </a:rPr>
              <a:t>Emphasise to students that the equals sign means ‘the same as’ or ‘balance’ and not just the ‘total’ or the ‘answer’.</a:t>
            </a:r>
          </a:p>
          <a:p>
            <a:pPr marL="285750" lvl="0" indent="-285750">
              <a:buFont typeface="Arial" panose="020B0604020202020204" pitchFamily="34" charset="0"/>
              <a:buChar char="•"/>
            </a:pPr>
            <a:r>
              <a:rPr lang="en-AU">
                <a:latin typeface="Arial"/>
                <a:cs typeface="Arial"/>
              </a:rPr>
              <a:t>Ask</a:t>
            </a:r>
            <a:r>
              <a:rPr lang="en-AU" sz="1600" kern="1200">
                <a:solidFill>
                  <a:schemeClr val="tx1"/>
                </a:solidFill>
                <a:effectLst/>
                <a:latin typeface="Arial"/>
                <a:cs typeface="Arial"/>
              </a:rPr>
              <a:t> students the following questions for each number sentence in the first row.</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the number sentence true or false?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do you know you are correct?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Could you decide without doing any calculating?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strategy did you use?</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 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79AF4-D85C-09F4-D1C8-720C0D8C9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F7BF7A-A535-8FB2-DBD4-DFB61F20DD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FC6B4E-27B6-0A4C-9467-1121B9F2BE25}"/>
              </a:ext>
            </a:extLst>
          </p:cNvPr>
          <p:cNvSpPr>
            <a:spLocks noGrp="1"/>
          </p:cNvSpPr>
          <p:nvPr>
            <p:ph type="body" idx="1"/>
          </p:nvPr>
        </p:nvSpPr>
        <p:spPr/>
        <p:txBody>
          <a:bodyPr/>
          <a:lstStyle/>
          <a:p>
            <a:r>
              <a:rPr lang="en-AU"/>
              <a:t>This is a developing number sense activity. </a:t>
            </a:r>
          </a:p>
          <a:p>
            <a:endParaRPr lang="en-AU"/>
          </a:p>
          <a:p>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True or false number sentences</a:t>
            </a:r>
          </a:p>
          <a:p>
            <a:endParaRPr lang="en-AU" b="1"/>
          </a:p>
          <a:p>
            <a:r>
              <a:rPr lang="en-AU" b="0"/>
              <a:t>This resource corresponds to Resource 17 – number sentences in Stage 2 Year A Unit 10.</a:t>
            </a:r>
          </a:p>
          <a:p>
            <a:endParaRPr lang="en-AU" b="1"/>
          </a:p>
          <a:p>
            <a:r>
              <a:rPr lang="en-AU"/>
              <a:t>This activity is an adaptation of True or false from NRICH by University of Cambridge.</a:t>
            </a:r>
          </a:p>
          <a:p>
            <a:pPr marL="285750" indent="-285750">
              <a:buFont typeface="Arial"/>
              <a:buChar char="•"/>
            </a:pPr>
            <a:r>
              <a:rPr lang="en-AU">
                <a:latin typeface="Arial"/>
                <a:cs typeface="Arial"/>
              </a:rPr>
              <a:t>Revisit that the equals sign means ‘the same as’ or ‘balance’ and not just the ‘total’ or the ‘answer’.</a:t>
            </a:r>
          </a:p>
          <a:p>
            <a:pPr marL="285750" indent="-285750">
              <a:buFont typeface="Arial"/>
              <a:buChar char="•"/>
            </a:pPr>
            <a:r>
              <a:rPr lang="en-AU">
                <a:latin typeface="Arial"/>
                <a:cs typeface="Arial"/>
              </a:rPr>
              <a:t>Display Resource 17 – number sentences and ask students the following questions for each number sentence in the second and third rows:</a:t>
            </a:r>
          </a:p>
          <a:p>
            <a:pPr marL="285750" indent="-285750">
              <a:buFont typeface="Arial"/>
              <a:buChar char="•"/>
            </a:pPr>
            <a:r>
              <a:rPr lang="en-AU"/>
              <a:t>Is the number sentence true or false?</a:t>
            </a:r>
          </a:p>
          <a:p>
            <a:pPr marL="285750" indent="-285750">
              <a:buFont typeface="Arial"/>
              <a:buChar char="•"/>
            </a:pPr>
            <a:r>
              <a:rPr lang="en-AU"/>
              <a:t>How do you know you are correct?</a:t>
            </a:r>
          </a:p>
          <a:p>
            <a:pPr marL="285750" indent="-285750">
              <a:buFont typeface="Arial"/>
              <a:buChar char="•"/>
            </a:pPr>
            <a:r>
              <a:rPr lang="en-AU"/>
              <a:t>Could you decide without doing any calculating? </a:t>
            </a:r>
          </a:p>
          <a:p>
            <a:pPr marL="285750" indent="-285750">
              <a:buFont typeface="Arial"/>
              <a:buChar char="•"/>
            </a:pPr>
            <a:r>
              <a:rPr lang="en-AU"/>
              <a:t>What strategy did you use?</a:t>
            </a:r>
          </a:p>
          <a:p>
            <a:endParaRPr lang="en-AU"/>
          </a:p>
          <a:p>
            <a:pPr>
              <a:buFont typeface="+mj-lt"/>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4ED9FB3-2328-DC84-38E6-CED76E271F56}"/>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21024014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B1E2B-0C90-4BCF-3373-18DA7A9F5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0479B2-0EA0-5776-5302-81656CA09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CF8A4E-65C2-5894-633D-AD5CB733DFFE}"/>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C68782B-43C1-A446-0296-EAB7FB38045E}"/>
              </a:ext>
            </a:extLst>
          </p:cNvPr>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82011669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72751-ADD1-B235-F5C5-2DEDE7A165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C3AB5-8539-9F2C-CEF6-7C3B6096D7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9B99AD-BA70-5E68-770B-785615FBA8B3}"/>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21016AD-F0F3-0CF1-594D-21CA3F67134E}"/>
              </a:ext>
            </a:extLst>
          </p:cNvPr>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382176426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4.xml"/><Relationship Id="rId7" Type="http://schemas.openxmlformats.org/officeDocument/2006/relationships/slide" Target="slide33.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6.xml"/><Relationship Id="rId5" Type="http://schemas.openxmlformats.org/officeDocument/2006/relationships/slide" Target="slide19.xml"/><Relationship Id="rId10" Type="http://schemas.openxmlformats.org/officeDocument/2006/relationships/slide" Target="slide54.xml"/><Relationship Id="rId4" Type="http://schemas.openxmlformats.org/officeDocument/2006/relationships/slide" Target="slide11.xml"/><Relationship Id="rId9" Type="http://schemas.openxmlformats.org/officeDocument/2006/relationships/slide" Target="slide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5.xml"/><Relationship Id="rId1" Type="http://schemas.openxmlformats.org/officeDocument/2006/relationships/slideLayout" Target="../slideLayouts/slideLayout11.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slide" Target="slide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13" Type="http://schemas.openxmlformats.org/officeDocument/2006/relationships/hyperlink" Target="https://meaningfulmaths.nt.edu.au/mmws/nz/resource/hinea-s-watch-s-hands.html"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12" Type="http://schemas.openxmlformats.org/officeDocument/2006/relationships/hyperlink" Target="https://meaningfulmaths.nt.edu.au/mmws/nz/resource/clock-wise-time.html"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newzealandcurriculum.tahurangi.education.govt.nz/just-a-minute/5637206078.p" TargetMode="External"/><Relationship Id="rId5" Type="http://schemas.openxmlformats.org/officeDocument/2006/relationships/hyperlink" Target="https://curriculum.nsw.edu.au/" TargetMode="External"/><Relationship Id="rId10" Type="http://schemas.openxmlformats.org/officeDocument/2006/relationships/hyperlink" Target="https://islesofwhatif.com/2022/11/15/time-to-win/"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australianstogether.org.au/assets/Curriculum-Resources/5-Maths-ACMMG110-Measuring-Time-Teacher-Guide.pdf" TargetMode="External"/></Relationships>
</file>

<file path=ppt/slides/_rels/slide69.xml.rels><?xml version="1.0" encoding="UTF-8" standalone="yes"?>
<Relationships xmlns="http://schemas.openxmlformats.org/package/2006/relationships"><Relationship Id="rId8" Type="http://schemas.openxmlformats.org/officeDocument/2006/relationships/hyperlink" Target="https://education.nsw.gov.au/content/dam/main-education/teaching-and-learning/curriculum/key-learning-areas/mathematics/media/documents/mathematics-s2-teaching-about-angles.pdf"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www.researchgate.net/publication/350965251_Let%27s_Play_Number_Sentences" TargetMode="External"/><Relationship Id="rId2" Type="http://schemas.openxmlformats.org/officeDocument/2006/relationships/notesSlide" Target="../notesSlides/notesSlide69.xml"/><Relationship Id="rId1" Type="http://schemas.openxmlformats.org/officeDocument/2006/relationships/slideLayout" Target="../slideLayouts/slideLayout13.xml"/><Relationship Id="rId6" Type="http://schemas.openxmlformats.org/officeDocument/2006/relationships/hyperlink" Target="https://research.qut.edu.au/ydc/resources/ydm-general-pedagogy-resources/"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70.xml.rels><?xml version="1.0" encoding="UTF-8" standalone="yes"?>
<Relationships xmlns="http://schemas.openxmlformats.org/package/2006/relationships"><Relationship Id="rId8" Type="http://schemas.openxmlformats.org/officeDocument/2006/relationships/hyperlink" Target="https://nrich.maths.org/1812"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toytheater.com/classroom-timer/" TargetMode="External"/><Relationship Id="rId12" Type="http://schemas.openxmlformats.org/officeDocument/2006/relationships/hyperlink" Target="https://nrich.maths.org/1002/note" TargetMode="External"/><Relationship Id="rId2" Type="http://schemas.openxmlformats.org/officeDocument/2006/relationships/notesSlide" Target="../notesSlides/notesSlide70.xml"/><Relationship Id="rId1" Type="http://schemas.openxmlformats.org/officeDocument/2006/relationships/slideLayout" Target="../slideLayouts/slideLayout13.xml"/><Relationship Id="rId6" Type="http://schemas.openxmlformats.org/officeDocument/2006/relationships/hyperlink" Target="https://toytheater.com/clock/" TargetMode="External"/><Relationship Id="rId11" Type="http://schemas.openxmlformats.org/officeDocument/2006/relationships/hyperlink" Target="https://nrich.maths.org/7377" TargetMode="External"/><Relationship Id="rId5" Type="http://schemas.openxmlformats.org/officeDocument/2006/relationships/hyperlink" Target="https://curriculum.nsw.edu.au/" TargetMode="External"/><Relationship Id="rId10" Type="http://schemas.openxmlformats.org/officeDocument/2006/relationships/hyperlink" Target="https://nrich.maths.org/14797"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nrich.maths.org/6071/note"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2 Year A Unit 10.</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10</a:t>
            </a: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sp>
        <p:nvSpPr>
          <p:cNvPr id="15" name="Text Placeholder">
            <a:extLst>
              <a:ext uri="{FF2B5EF4-FFF2-40B4-BE49-F238E27FC236}">
                <a16:creationId xmlns:a16="http://schemas.microsoft.com/office/drawing/2014/main" id="{8326B5E5-C4FA-60BB-FBD1-105717701AB5}"/>
              </a:ext>
            </a:extLst>
          </p:cNvPr>
          <p:cNvSpPr>
            <a:spLocks noGrp="1"/>
          </p:cNvSpPr>
          <p:nvPr>
            <p:ph type="body" sz="quarter" idx="28"/>
          </p:nvPr>
        </p:nvSpPr>
        <p:spPr>
          <a:xfrm>
            <a:off x="3335442" y="1159927"/>
            <a:ext cx="6196075" cy="754243"/>
          </a:xfrm>
        </p:spPr>
        <p:txBody>
          <a:bodyPr/>
          <a:lstStyle/>
          <a:p>
            <a:pPr algn="ctr"/>
            <a:r>
              <a:rPr lang="en-US" sz="5400"/>
              <a:t>98 - 68 =</a:t>
            </a:r>
          </a:p>
        </p:txBody>
      </p:sp>
      <p:sp>
        <p:nvSpPr>
          <p:cNvPr id="9" name="B">
            <a:extLst>
              <a:ext uri="{FF2B5EF4-FFF2-40B4-BE49-F238E27FC236}">
                <a16:creationId xmlns:a16="http://schemas.microsoft.com/office/drawing/2014/main" id="{2579E796-78E6-099B-1516-BE205CC4FACD}"/>
              </a:ext>
            </a:extLst>
          </p:cNvPr>
          <p:cNvSpPr txBox="1"/>
          <p:nvPr/>
        </p:nvSpPr>
        <p:spPr>
          <a:xfrm>
            <a:off x="670556" y="2690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308080" y="2717048"/>
            <a:ext cx="10175920" cy="641396"/>
          </a:xfrm>
        </p:spPr>
        <p:txBody>
          <a:bodyPr anchor="ctr"/>
          <a:lstStyle/>
          <a:p>
            <a:r>
              <a:rPr lang="en-US" sz="3600"/>
              <a:t>100 - 66</a:t>
            </a:r>
          </a:p>
        </p:txBody>
      </p:sp>
      <p:sp>
        <p:nvSpPr>
          <p:cNvPr id="10" name="B">
            <a:extLst>
              <a:ext uri="{FF2B5EF4-FFF2-40B4-BE49-F238E27FC236}">
                <a16:creationId xmlns:a16="http://schemas.microsoft.com/office/drawing/2014/main" id="{04CBC687-138E-8135-BF08-A76285D998BD}"/>
              </a:ext>
            </a:extLst>
          </p:cNvPr>
          <p:cNvSpPr txBox="1"/>
          <p:nvPr/>
        </p:nvSpPr>
        <p:spPr>
          <a:xfrm>
            <a:off x="670559" y="366858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345520" y="3668581"/>
            <a:ext cx="10175920" cy="641396"/>
          </a:xfrm>
        </p:spPr>
        <p:txBody>
          <a:bodyPr anchor="ctr"/>
          <a:lstStyle/>
          <a:p>
            <a:r>
              <a:rPr lang="en-US" sz="3600"/>
              <a:t>97 - 65</a:t>
            </a:r>
          </a:p>
        </p:txBody>
      </p:sp>
      <p:sp>
        <p:nvSpPr>
          <p:cNvPr id="12" name="C">
            <a:extLst>
              <a:ext uri="{FF2B5EF4-FFF2-40B4-BE49-F238E27FC236}">
                <a16:creationId xmlns:a16="http://schemas.microsoft.com/office/drawing/2014/main" id="{C605E3A9-768F-B21E-1E87-27B06AEB3AF5}"/>
              </a:ext>
            </a:extLst>
          </p:cNvPr>
          <p:cNvSpPr txBox="1"/>
          <p:nvPr/>
        </p:nvSpPr>
        <p:spPr>
          <a:xfrm>
            <a:off x="670558" y="464682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345520" y="4644653"/>
            <a:ext cx="10175920" cy="641396"/>
          </a:xfrm>
        </p:spPr>
        <p:txBody>
          <a:bodyPr anchor="ctr"/>
          <a:lstStyle/>
          <a:p>
            <a:r>
              <a:rPr lang="en-US" sz="3600"/>
              <a:t>101 - 69</a:t>
            </a:r>
          </a:p>
        </p:txBody>
      </p:sp>
      <p:sp>
        <p:nvSpPr>
          <p:cNvPr id="11" name="D">
            <a:extLst>
              <a:ext uri="{FF2B5EF4-FFF2-40B4-BE49-F238E27FC236}">
                <a16:creationId xmlns:a16="http://schemas.microsoft.com/office/drawing/2014/main" id="{8EADE37E-99CA-3A50-524F-30E28DF3B7C4}"/>
              </a:ext>
            </a:extLst>
          </p:cNvPr>
          <p:cNvSpPr txBox="1"/>
          <p:nvPr/>
        </p:nvSpPr>
        <p:spPr>
          <a:xfrm>
            <a:off x="670555" y="562507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308080" y="5596186"/>
            <a:ext cx="10175920" cy="641396"/>
          </a:xfrm>
        </p:spPr>
        <p:txBody>
          <a:bodyPr anchor="ctr"/>
          <a:lstStyle/>
          <a:p>
            <a:r>
              <a:rPr lang="en-US" sz="3600"/>
              <a:t>102 - 62</a:t>
            </a:r>
          </a:p>
        </p:txBody>
      </p:sp>
      <p:pic>
        <p:nvPicPr>
          <p:cNvPr id="4" name="Picture 3">
            <a:extLst>
              <a:ext uri="{FF2B5EF4-FFF2-40B4-BE49-F238E27FC236}">
                <a16:creationId xmlns:a16="http://schemas.microsoft.com/office/drawing/2014/main" id="{9BDCD778-E71A-A4F2-9CEF-2A78DFB28F6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7" name="TextBox 6">
            <a:extLst>
              <a:ext uri="{FF2B5EF4-FFF2-40B4-BE49-F238E27FC236}">
                <a16:creationId xmlns:a16="http://schemas.microsoft.com/office/drawing/2014/main" id="{74A44DC5-2877-4E5D-128F-E41176006F29}"/>
              </a:ext>
            </a:extLst>
          </p:cNvPr>
          <p:cNvSpPr txBox="1"/>
          <p:nvPr/>
        </p:nvSpPr>
        <p:spPr>
          <a:xfrm>
            <a:off x="586792" y="1001343"/>
            <a:ext cx="10292080" cy="365760"/>
          </a:xfrm>
          <a:prstGeom prst="rect">
            <a:avLst/>
          </a:prstGeom>
          <a:noFill/>
        </p:spPr>
        <p:txBody>
          <a:bodyPr wrap="square" lIns="0" tIns="0" rIns="0" bIns="0" rtlCol="0">
            <a:noAutofit/>
          </a:bodyPr>
          <a:lstStyle/>
          <a:p>
            <a:pPr algn="ctr">
              <a:lnSpc>
                <a:spcPct val="150000"/>
              </a:lnSpc>
            </a:pPr>
            <a:r>
              <a:rPr lang="en-AU" sz="4400" b="1"/>
              <a:t>Record</a:t>
            </a:r>
            <a:r>
              <a:rPr lang="en-AU" sz="4400"/>
              <a:t> the </a:t>
            </a:r>
            <a:r>
              <a:rPr lang="en-AU" sz="4400" b="1"/>
              <a:t>direction</a:t>
            </a:r>
            <a:r>
              <a:rPr lang="en-AU" sz="4400"/>
              <a:t> of the </a:t>
            </a:r>
            <a:r>
              <a:rPr lang="en-AU" sz="4400" b="1"/>
              <a:t>turn</a:t>
            </a:r>
            <a:r>
              <a:rPr lang="en-AU" sz="4400"/>
              <a:t> of this two-dimensional object</a:t>
            </a:r>
            <a:r>
              <a:rPr lang="en-AU" sz="1800"/>
              <a:t>.</a:t>
            </a:r>
          </a:p>
        </p:txBody>
      </p:sp>
      <p:grpSp>
        <p:nvGrpSpPr>
          <p:cNvPr id="4" name="Group 3" descr="Two trapeziums with an arrow showing a half turn">
            <a:extLst>
              <a:ext uri="{FF2B5EF4-FFF2-40B4-BE49-F238E27FC236}">
                <a16:creationId xmlns:a16="http://schemas.microsoft.com/office/drawing/2014/main" id="{02096B2A-DA9F-94F0-C839-01E902211080}"/>
              </a:ext>
            </a:extLst>
          </p:cNvPr>
          <p:cNvGrpSpPr/>
          <p:nvPr/>
        </p:nvGrpSpPr>
        <p:grpSpPr>
          <a:xfrm>
            <a:off x="3235178" y="3295819"/>
            <a:ext cx="5721644" cy="3562181"/>
            <a:chOff x="3026898" y="3295819"/>
            <a:chExt cx="5721644" cy="3562181"/>
          </a:xfrm>
        </p:grpSpPr>
        <p:pic>
          <p:nvPicPr>
            <p:cNvPr id="5" name="Picture 4" descr="Two trapeziums with an arrow showing a half turn">
              <a:extLst>
                <a:ext uri="{FF2B5EF4-FFF2-40B4-BE49-F238E27FC236}">
                  <a16:creationId xmlns:a16="http://schemas.microsoft.com/office/drawing/2014/main" id="{43208EB5-D56F-DE77-333E-FE2B3FF2493E}"/>
                </a:ext>
              </a:extLst>
            </p:cNvPr>
            <p:cNvPicPr>
              <a:picLocks noChangeAspect="1"/>
            </p:cNvPicPr>
            <p:nvPr/>
          </p:nvPicPr>
          <p:blipFill>
            <a:blip r:embed="rId4"/>
            <a:stretch>
              <a:fillRect/>
            </a:stretch>
          </p:blipFill>
          <p:spPr>
            <a:xfrm>
              <a:off x="3026898" y="3562181"/>
              <a:ext cx="5721644" cy="3295819"/>
            </a:xfrm>
            <a:prstGeom prst="rect">
              <a:avLst/>
            </a:prstGeom>
          </p:spPr>
        </p:pic>
        <p:sp>
          <p:nvSpPr>
            <p:cNvPr id="8" name="Arrow: U-Turn 7">
              <a:extLst>
                <a:ext uri="{FF2B5EF4-FFF2-40B4-BE49-F238E27FC236}">
                  <a16:creationId xmlns:a16="http://schemas.microsoft.com/office/drawing/2014/main" id="{2F2EB2AE-A97C-ADF3-A085-9D90CC738A72}"/>
                </a:ext>
                <a:ext uri="{C183D7F6-B498-43B3-948B-1728B52AA6E4}">
                  <adec:decorative xmlns:adec="http://schemas.microsoft.com/office/drawing/2017/decorative" val="1"/>
                </a:ext>
              </a:extLst>
            </p:cNvPr>
            <p:cNvSpPr/>
            <p:nvPr/>
          </p:nvSpPr>
          <p:spPr>
            <a:xfrm>
              <a:off x="5283200" y="3295819"/>
              <a:ext cx="1209040" cy="746760"/>
            </a:xfrm>
            <a:prstGeom prst="utur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gr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9" name="TextBox 8">
            <a:extLst>
              <a:ext uri="{FF2B5EF4-FFF2-40B4-BE49-F238E27FC236}">
                <a16:creationId xmlns:a16="http://schemas.microsoft.com/office/drawing/2014/main" id="{1EE273FF-8581-81C1-565D-2FFACCDE4CD1}"/>
              </a:ext>
            </a:extLst>
          </p:cNvPr>
          <p:cNvSpPr txBox="1"/>
          <p:nvPr/>
        </p:nvSpPr>
        <p:spPr>
          <a:xfrm>
            <a:off x="866800" y="1393571"/>
            <a:ext cx="10617200" cy="819893"/>
          </a:xfrm>
          <a:prstGeom prst="rect">
            <a:avLst/>
          </a:prstGeom>
          <a:noFill/>
        </p:spPr>
        <p:txBody>
          <a:bodyPr wrap="square" lIns="0" tIns="0" rIns="0" bIns="0" rtlCol="0">
            <a:noAutofit/>
          </a:bodyPr>
          <a:lstStyle/>
          <a:p>
            <a:pPr algn="ctr">
              <a:lnSpc>
                <a:spcPct val="150000"/>
              </a:lnSpc>
            </a:pPr>
            <a:r>
              <a:rPr lang="en-AU" sz="4400"/>
              <a:t>Record the number of:</a:t>
            </a:r>
          </a:p>
          <a:p>
            <a:pPr marL="571500" indent="-571500">
              <a:lnSpc>
                <a:spcPct val="150000"/>
              </a:lnSpc>
              <a:buFont typeface="Arial" panose="020B0604020202020204" pitchFamily="34" charset="0"/>
              <a:buChar char="•"/>
            </a:pPr>
            <a:r>
              <a:rPr lang="en-AU" sz="4400"/>
              <a:t>faces</a:t>
            </a:r>
          </a:p>
          <a:p>
            <a:pPr marL="571500" indent="-571500">
              <a:lnSpc>
                <a:spcPct val="150000"/>
              </a:lnSpc>
              <a:buFont typeface="Arial" panose="020B0604020202020204" pitchFamily="34" charset="0"/>
              <a:buChar char="•"/>
            </a:pPr>
            <a:r>
              <a:rPr lang="en-AU" sz="4400"/>
              <a:t>vertices </a:t>
            </a:r>
          </a:p>
          <a:p>
            <a:pPr marL="571500" indent="-571500">
              <a:lnSpc>
                <a:spcPct val="150000"/>
              </a:lnSpc>
              <a:buFont typeface="Arial" panose="020B0604020202020204" pitchFamily="34" charset="0"/>
              <a:buChar char="•"/>
            </a:pPr>
            <a:r>
              <a:rPr lang="en-AU" sz="4400"/>
              <a:t>edges </a:t>
            </a:r>
          </a:p>
        </p:txBody>
      </p:sp>
      <p:pic>
        <p:nvPicPr>
          <p:cNvPr id="8" name="Picture 7" descr="an image of a square pyramid">
            <a:extLst>
              <a:ext uri="{FF2B5EF4-FFF2-40B4-BE49-F238E27FC236}">
                <a16:creationId xmlns:a16="http://schemas.microsoft.com/office/drawing/2014/main" id="{96A5EBCA-4D98-C5A7-7376-87E3653560C0}"/>
              </a:ext>
            </a:extLst>
          </p:cNvPr>
          <p:cNvPicPr>
            <a:picLocks noChangeAspect="1"/>
          </p:cNvPicPr>
          <p:nvPr/>
        </p:nvPicPr>
        <p:blipFill>
          <a:blip r:embed="rId3"/>
          <a:stretch>
            <a:fillRect/>
          </a:stretch>
        </p:blipFill>
        <p:spPr>
          <a:xfrm>
            <a:off x="6369140" y="2763352"/>
            <a:ext cx="4027287" cy="3202759"/>
          </a:xfrm>
          <a:prstGeom prst="rect">
            <a:avLst/>
          </a:prstGeom>
        </p:spPr>
      </p:pic>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8" name="Picture 7" descr="A simple school map with: library, canteen, office, hall, playground and classroom. A path is marked from the library to the classroom.">
            <a:extLst>
              <a:ext uri="{FF2B5EF4-FFF2-40B4-BE49-F238E27FC236}">
                <a16:creationId xmlns:a16="http://schemas.microsoft.com/office/drawing/2014/main" id="{36945238-1775-AF16-576E-F01B455FFDD8}"/>
              </a:ext>
            </a:extLst>
          </p:cNvPr>
          <p:cNvPicPr>
            <a:picLocks noChangeAspect="1"/>
          </p:cNvPicPr>
          <p:nvPr/>
        </p:nvPicPr>
        <p:blipFill>
          <a:blip r:embed="rId4"/>
          <a:stretch>
            <a:fillRect/>
          </a:stretch>
        </p:blipFill>
        <p:spPr>
          <a:xfrm>
            <a:off x="3588374" y="2870825"/>
            <a:ext cx="5015251" cy="3627175"/>
          </a:xfrm>
          <a:prstGeom prst="rect">
            <a:avLst/>
          </a:prstGeom>
        </p:spPr>
      </p:pic>
      <p:sp>
        <p:nvSpPr>
          <p:cNvPr id="9" name="TextBox 8">
            <a:extLst>
              <a:ext uri="{FF2B5EF4-FFF2-40B4-BE49-F238E27FC236}">
                <a16:creationId xmlns:a16="http://schemas.microsoft.com/office/drawing/2014/main" id="{FC517C4C-4585-C2EE-078D-7BC518812B7A}"/>
              </a:ext>
            </a:extLst>
          </p:cNvPr>
          <p:cNvSpPr txBox="1"/>
          <p:nvPr/>
        </p:nvSpPr>
        <p:spPr>
          <a:xfrm>
            <a:off x="360000" y="1184223"/>
            <a:ext cx="11320396" cy="622275"/>
          </a:xfrm>
          <a:prstGeom prst="rect">
            <a:avLst/>
          </a:prstGeom>
          <a:noFill/>
        </p:spPr>
        <p:txBody>
          <a:bodyPr wrap="square" lIns="0" tIns="0" rIns="0" bIns="0" rtlCol="0">
            <a:noAutofit/>
          </a:bodyPr>
          <a:lstStyle/>
          <a:p>
            <a:pPr algn="ctr">
              <a:lnSpc>
                <a:spcPct val="150000"/>
              </a:lnSpc>
            </a:pPr>
            <a:r>
              <a:rPr lang="en-AU" sz="3600"/>
              <a:t>Use </a:t>
            </a:r>
            <a:r>
              <a:rPr lang="en-AU" sz="3600" b="1"/>
              <a:t>landmarks and directional language to d</a:t>
            </a:r>
            <a:r>
              <a:rPr lang="en-AU" sz="3600"/>
              <a:t>escribe the route from the </a:t>
            </a:r>
            <a:r>
              <a:rPr lang="en-AU" sz="3600" b="1"/>
              <a:t>library </a:t>
            </a:r>
            <a:r>
              <a:rPr lang="en-AU" sz="3600"/>
              <a:t>to the </a:t>
            </a:r>
            <a:r>
              <a:rPr lang="en-AU" sz="3600" b="1"/>
              <a:t>classroom</a:t>
            </a:r>
            <a:r>
              <a:rPr lang="en-AU" sz="3600"/>
              <a:t> .</a:t>
            </a:r>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11" name="Picture 10" descr="A ruler showing millimetres and a pink line. ">
            <a:extLst>
              <a:ext uri="{FF2B5EF4-FFF2-40B4-BE49-F238E27FC236}">
                <a16:creationId xmlns:a16="http://schemas.microsoft.com/office/drawing/2014/main" id="{7DBD2B41-43BD-2AB2-8FA7-849F20AAC19E}"/>
              </a:ext>
            </a:extLst>
          </p:cNvPr>
          <p:cNvPicPr>
            <a:picLocks noChangeAspect="1"/>
          </p:cNvPicPr>
          <p:nvPr/>
        </p:nvPicPr>
        <p:blipFill>
          <a:blip r:embed="rId4"/>
          <a:stretch>
            <a:fillRect/>
          </a:stretch>
        </p:blipFill>
        <p:spPr>
          <a:xfrm>
            <a:off x="1258322" y="3394228"/>
            <a:ext cx="8761978" cy="3463772"/>
          </a:xfrm>
          <a:prstGeom prst="rect">
            <a:avLst/>
          </a:prstGeom>
        </p:spPr>
      </p:pic>
      <p:sp>
        <p:nvSpPr>
          <p:cNvPr id="12" name="Text Placeholder 5">
            <a:extLst>
              <a:ext uri="{FF2B5EF4-FFF2-40B4-BE49-F238E27FC236}">
                <a16:creationId xmlns:a16="http://schemas.microsoft.com/office/drawing/2014/main" id="{EEA76431-9024-89C9-8F15-A6B86509F9E5}"/>
              </a:ext>
            </a:extLst>
          </p:cNvPr>
          <p:cNvSpPr txBox="1">
            <a:spLocks/>
          </p:cNvSpPr>
          <p:nvPr/>
        </p:nvSpPr>
        <p:spPr>
          <a:xfrm>
            <a:off x="608625" y="1256688"/>
            <a:ext cx="1097475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Record the length of the </a:t>
            </a:r>
            <a:r>
              <a:rPr lang="en-AU" sz="4400" b="1">
                <a:solidFill>
                  <a:srgbClr val="FF00FF"/>
                </a:solidFill>
              </a:rPr>
              <a:t>pink line </a:t>
            </a:r>
            <a:r>
              <a:rPr lang="en-AU" sz="4400"/>
              <a:t>using the </a:t>
            </a:r>
            <a:r>
              <a:rPr lang="en-AU" sz="4400" b="1"/>
              <a:t>abbreviation</a:t>
            </a:r>
            <a:r>
              <a:rPr lang="en-AU" sz="4400"/>
              <a:t> for </a:t>
            </a:r>
            <a:r>
              <a:rPr lang="en-AU" sz="4400" b="1"/>
              <a:t>millimetres</a:t>
            </a:r>
            <a:r>
              <a:rPr lang="en-AU" sz="4400"/>
              <a:t>.</a:t>
            </a:r>
          </a:p>
          <a:p>
            <a:endParaRPr lang="en-AU" sz="4400"/>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AAEC53-3303-E739-72F1-B626DA99950A}"/>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itle 2">
            <a:extLst>
              <a:ext uri="{FF2B5EF4-FFF2-40B4-BE49-F238E27FC236}">
                <a16:creationId xmlns:a16="http://schemas.microsoft.com/office/drawing/2014/main" id="{2A4363AB-7862-BE98-5162-B42EF2D4D40A}"/>
              </a:ext>
            </a:extLst>
          </p:cNvPr>
          <p:cNvSpPr>
            <a:spLocks noGrp="1"/>
          </p:cNvSpPr>
          <p:nvPr>
            <p:ph type="title"/>
          </p:nvPr>
        </p:nvSpPr>
        <p:spPr/>
        <p:txBody>
          <a:bodyPr/>
          <a:lstStyle/>
          <a:p>
            <a:r>
              <a:rPr lang="en-AU"/>
              <a:t>Activity 1– the ‘thirding’ strategy</a:t>
            </a:r>
          </a:p>
        </p:txBody>
      </p:sp>
      <p:sp>
        <p:nvSpPr>
          <p:cNvPr id="7" name="TextBox 6">
            <a:extLst>
              <a:ext uri="{FF2B5EF4-FFF2-40B4-BE49-F238E27FC236}">
                <a16:creationId xmlns:a16="http://schemas.microsoft.com/office/drawing/2014/main" id="{D9CDC4F6-731D-F566-8C6B-5ADCDA29C684}"/>
              </a:ext>
            </a:extLst>
          </p:cNvPr>
          <p:cNvSpPr txBox="1"/>
          <p:nvPr/>
        </p:nvSpPr>
        <p:spPr>
          <a:xfrm>
            <a:off x="690466" y="1218841"/>
            <a:ext cx="10986667" cy="830997"/>
          </a:xfrm>
          <a:prstGeom prst="rect">
            <a:avLst/>
          </a:prstGeom>
          <a:noFill/>
        </p:spPr>
        <p:txBody>
          <a:bodyPr wrap="square">
            <a:spAutoFit/>
          </a:bodyPr>
          <a:lstStyle/>
          <a:p>
            <a:r>
              <a:rPr lang="en-AU">
                <a:solidFill>
                  <a:schemeClr val="tx1"/>
                </a:solidFill>
                <a:latin typeface="Arial"/>
                <a:cs typeface="Arial"/>
              </a:rPr>
              <a:t>This paper has been folded in half. There are 2 equal parts and </a:t>
            </a:r>
            <a:r>
              <a:rPr lang="en-AU">
                <a:effectLst/>
                <a:latin typeface="Arial" panose="020B0604020202020204" pitchFamily="34" charset="0"/>
                <a:ea typeface="Calibri" panose="020F0502020204030204" pitchFamily="34" charset="0"/>
              </a:rPr>
              <a:t>2 halves make a whole</a:t>
            </a:r>
            <a:r>
              <a:rPr lang="en-AU" sz="2000">
                <a:effectLst/>
                <a:latin typeface="Arial" panose="020B0604020202020204" pitchFamily="34" charset="0"/>
                <a:ea typeface="Calibri" panose="020F0502020204030204" pitchFamily="34" charset="0"/>
              </a:rPr>
              <a:t>.</a:t>
            </a:r>
            <a:endParaRPr lang="en-AU" sz="200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852182C-52F8-4805-55EA-B3FCDD9BC939}"/>
                  </a:ext>
                </a:extLst>
              </p:cNvPr>
              <p:cNvSpPr txBox="1"/>
              <p:nvPr/>
            </p:nvSpPr>
            <p:spPr>
              <a:xfrm>
                <a:off x="864973" y="3240656"/>
                <a:ext cx="10812162" cy="3459665"/>
              </a:xfrm>
              <a:prstGeom prst="rect">
                <a:avLst/>
              </a:prstGeom>
              <a:noFill/>
            </p:spPr>
            <p:txBody>
              <a:bodyPr wrap="square">
                <a:spAutoFit/>
              </a:bodyPr>
              <a:lstStyle/>
              <a:p>
                <a:pPr lvl="0">
                  <a:lnSpc>
                    <a:spcPct val="150000"/>
                  </a:lnSpc>
                  <a:spcBef>
                    <a:spcPts val="1200"/>
                  </a:spcBef>
                  <a:spcAft>
                    <a:spcPts val="600"/>
                  </a:spcAft>
                </a:pPr>
                <a:r>
                  <a:rPr lang="en-AU" sz="2000">
                    <a:effectLst/>
                    <a:latin typeface="Arial" panose="020B0604020202020204" pitchFamily="34" charset="0"/>
                    <a:ea typeface="Calibri" panose="020F0502020204030204" pitchFamily="34" charset="0"/>
                  </a:rPr>
                  <a:t>Use the paper strip to make folds and explain the thirding strategy:</a:t>
                </a:r>
              </a:p>
              <a:p>
                <a:pPr marL="342900" lvl="0" indent="-342900">
                  <a:lnSpc>
                    <a:spcPct val="150000"/>
                  </a:lnSpc>
                  <a:spcBef>
                    <a:spcPts val="1200"/>
                  </a:spcBef>
                  <a:spcAft>
                    <a:spcPts val="600"/>
                  </a:spcAft>
                  <a:buFont typeface="Arial" panose="020B0604020202020204" pitchFamily="34" charset="0"/>
                  <a:buChar char="•"/>
                </a:pPr>
                <a:r>
                  <a:rPr lang="en-AU" sz="2000">
                    <a:latin typeface="Arial" panose="020B0604020202020204" pitchFamily="34" charset="0"/>
                    <a:ea typeface="Calibri" panose="020F0502020204030204" pitchFamily="34" charset="0"/>
                  </a:rPr>
                  <a:t>e</a:t>
                </a:r>
                <a:r>
                  <a:rPr lang="en-AU" sz="2000">
                    <a:effectLst/>
                    <a:latin typeface="Arial" panose="020B0604020202020204" pitchFamily="34" charset="0"/>
                    <a:ea typeface="Calibri" panose="020F0502020204030204" pitchFamily="34" charset="0"/>
                  </a:rPr>
                  <a:t>stimate half on the paper strip</a:t>
                </a:r>
              </a:p>
              <a:p>
                <a:pPr marL="342900" lvl="0" indent="-342900">
                  <a:lnSpc>
                    <a:spcPct val="150000"/>
                  </a:lnSpc>
                  <a:spcBef>
                    <a:spcPts val="1200"/>
                  </a:spcBef>
                  <a:spcAft>
                    <a:spcPts val="600"/>
                  </a:spcAft>
                  <a:buFont typeface="Arial" panose="020B0604020202020204" pitchFamily="34" charset="0"/>
                  <a:buChar char="•"/>
                </a:pPr>
                <a:r>
                  <a:rPr lang="en-AU" sz="2000">
                    <a:latin typeface="Arial" panose="020B0604020202020204" pitchFamily="34" charset="0"/>
                    <a:ea typeface="Calibri" panose="020F0502020204030204" pitchFamily="34" charset="0"/>
                  </a:rPr>
                  <a:t>e</a:t>
                </a:r>
                <a:r>
                  <a:rPr lang="en-AU" sz="2000">
                    <a:effectLst/>
                    <a:latin typeface="Arial" panose="020B0604020202020204" pitchFamily="34" charset="0"/>
                    <a:ea typeface="Calibri" panose="020F0502020204030204" pitchFamily="34" charset="0"/>
                  </a:rPr>
                  <a:t>stimate a </a:t>
                </a:r>
                <a14:m>
                  <m:oMath xmlns:m="http://schemas.openxmlformats.org/officeDocument/2006/math">
                    <m:f>
                      <m:fPr>
                        <m:ctrlPr>
                          <a:rPr lang="en-AU" sz="2000" i="1">
                            <a:effectLst/>
                            <a:latin typeface="Cambria Math" panose="02040503050406030204" pitchFamily="18" charset="0"/>
                            <a:ea typeface="Calibri" panose="020F0502020204030204" pitchFamily="34" charset="0"/>
                          </a:rPr>
                        </m:ctrlPr>
                      </m:fPr>
                      <m:num>
                        <m:r>
                          <a:rPr lang="en-AU" sz="2000" i="1">
                            <a:effectLst/>
                            <a:latin typeface="Cambria Math" panose="02040503050406030204" pitchFamily="18" charset="0"/>
                            <a:ea typeface="Calibri" panose="020F0502020204030204" pitchFamily="34" charset="0"/>
                          </a:rPr>
                          <m:t>1</m:t>
                        </m:r>
                      </m:num>
                      <m:den>
                        <m:r>
                          <a:rPr lang="en-AU" sz="2000" i="1">
                            <a:effectLst/>
                            <a:latin typeface="Cambria Math" panose="02040503050406030204" pitchFamily="18" charset="0"/>
                            <a:ea typeface="Calibri" panose="020F0502020204030204" pitchFamily="34" charset="0"/>
                          </a:rPr>
                          <m:t>3</m:t>
                        </m:r>
                      </m:den>
                    </m:f>
                  </m:oMath>
                </a14:m>
                <a:r>
                  <a:rPr lang="en-AU" sz="2000">
                    <a:effectLst/>
                    <a:latin typeface="Arial" panose="020B0604020202020204" pitchFamily="34" charset="0"/>
                    <a:ea typeface="Calibri" panose="020F0502020204030204" pitchFamily="34" charset="0"/>
                  </a:rPr>
                  <a:t> as something less than half, leaving room for 2 more equal parts</a:t>
                </a:r>
              </a:p>
              <a:p>
                <a:pPr marL="342900" lvl="0" indent="-342900">
                  <a:lnSpc>
                    <a:spcPct val="150000"/>
                  </a:lnSpc>
                  <a:spcBef>
                    <a:spcPts val="1200"/>
                  </a:spcBef>
                  <a:spcAft>
                    <a:spcPts val="600"/>
                  </a:spcAft>
                  <a:buFont typeface="Arial" panose="020B0604020202020204" pitchFamily="34" charset="0"/>
                  <a:buChar char="•"/>
                </a:pPr>
                <a:r>
                  <a:rPr lang="en-AU" sz="2000">
                    <a:latin typeface="Arial" panose="020B0604020202020204" pitchFamily="34" charset="0"/>
                    <a:ea typeface="Calibri" panose="020F0502020204030204" pitchFamily="34" charset="0"/>
                  </a:rPr>
                  <a:t>h</a:t>
                </a:r>
                <a:r>
                  <a:rPr lang="en-AU" sz="2000">
                    <a:effectLst/>
                    <a:latin typeface="Arial" panose="020B0604020202020204" pitchFamily="34" charset="0"/>
                    <a:ea typeface="Calibri" panose="020F0502020204030204" pitchFamily="34" charset="0"/>
                  </a:rPr>
                  <a:t>alve the remaining part, making 3 equal parts in total</a:t>
                </a:r>
              </a:p>
              <a:p>
                <a:pPr marL="342900" lvl="0" indent="-342900">
                  <a:lnSpc>
                    <a:spcPct val="150000"/>
                  </a:lnSpc>
                  <a:spcBef>
                    <a:spcPts val="1200"/>
                  </a:spcBef>
                  <a:spcAft>
                    <a:spcPts val="600"/>
                  </a:spcAft>
                  <a:buFont typeface="Arial" panose="020B0604020202020204" pitchFamily="34" charset="0"/>
                  <a:buChar char="•"/>
                </a:pPr>
                <a:r>
                  <a:rPr lang="en-AU" sz="2000">
                    <a:effectLst/>
                    <a:latin typeface="Arial" panose="020B0604020202020204" pitchFamily="34" charset="0"/>
                    <a:ea typeface="Calibri" panose="020F0502020204030204" pitchFamily="34" charset="0"/>
                  </a:rPr>
                  <a:t>label the partitioned strip with thirds.</a:t>
                </a:r>
                <a:endParaRPr lang="en-AU">
                  <a:effectLst/>
                  <a:latin typeface="Arial" panose="020B0604020202020204" pitchFamily="34" charset="0"/>
                  <a:ea typeface="Calibri" panose="020F0502020204030204" pitchFamily="34" charset="0"/>
                </a:endParaRPr>
              </a:p>
            </p:txBody>
          </p:sp>
        </mc:Choice>
        <mc:Fallback xmlns="">
          <p:sp>
            <p:nvSpPr>
              <p:cNvPr id="11" name="TextBox 10">
                <a:extLst>
                  <a:ext uri="{FF2B5EF4-FFF2-40B4-BE49-F238E27FC236}">
                    <a16:creationId xmlns:a16="http://schemas.microsoft.com/office/drawing/2014/main" id="{6852182C-52F8-4805-55EA-B3FCDD9BC939}"/>
                  </a:ext>
                </a:extLst>
              </p:cNvPr>
              <p:cNvSpPr txBox="1">
                <a:spLocks noRot="1" noChangeAspect="1" noMove="1" noResize="1" noEditPoints="1" noAdjustHandles="1" noChangeArrowheads="1" noChangeShapeType="1" noTextEdit="1"/>
              </p:cNvSpPr>
              <p:nvPr/>
            </p:nvSpPr>
            <p:spPr>
              <a:xfrm>
                <a:off x="864973" y="3240656"/>
                <a:ext cx="10812162" cy="3459665"/>
              </a:xfrm>
              <a:prstGeom prst="rect">
                <a:avLst/>
              </a:prstGeom>
              <a:blipFill>
                <a:blip r:embed="rId3"/>
                <a:stretch>
                  <a:fillRect l="-620" b="-2469"/>
                </a:stretch>
              </a:blipFill>
            </p:spPr>
            <p:txBody>
              <a:bodyPr/>
              <a:lstStyle/>
              <a:p>
                <a:r>
                  <a:rPr lang="en-US">
                    <a:noFill/>
                  </a:rPr>
                  <a:t> </a:t>
                </a:r>
              </a:p>
            </p:txBody>
          </p:sp>
        </mc:Fallback>
      </mc:AlternateContent>
      <p:grpSp>
        <p:nvGrpSpPr>
          <p:cNvPr id="15" name="Group 14" descr="A bar model with a dotted line down the middle to represent half">
            <a:extLst>
              <a:ext uri="{FF2B5EF4-FFF2-40B4-BE49-F238E27FC236}">
                <a16:creationId xmlns:a16="http://schemas.microsoft.com/office/drawing/2014/main" id="{CA16C3DB-8286-AF65-460B-8778922946E3}"/>
              </a:ext>
            </a:extLst>
          </p:cNvPr>
          <p:cNvGrpSpPr/>
          <p:nvPr/>
        </p:nvGrpSpPr>
        <p:grpSpPr>
          <a:xfrm>
            <a:off x="2279948" y="1906437"/>
            <a:ext cx="7632103" cy="1293734"/>
            <a:chOff x="851512" y="1331945"/>
            <a:chExt cx="8736976" cy="1548879"/>
          </a:xfrm>
        </p:grpSpPr>
        <p:grpSp>
          <p:nvGrpSpPr>
            <p:cNvPr id="16" name="Group 2">
              <a:extLst>
                <a:ext uri="{FF2B5EF4-FFF2-40B4-BE49-F238E27FC236}">
                  <a16:creationId xmlns:a16="http://schemas.microsoft.com/office/drawing/2014/main" id="{2B1EAC72-FADB-3120-6E35-848387412373}"/>
                </a:ext>
              </a:extLst>
            </p:cNvPr>
            <p:cNvGrpSpPr/>
            <p:nvPr/>
          </p:nvGrpSpPr>
          <p:grpSpPr>
            <a:xfrm>
              <a:off x="851512" y="1331945"/>
              <a:ext cx="8736976" cy="1548879"/>
              <a:chOff x="0" y="-38100"/>
              <a:chExt cx="3131135" cy="555083"/>
            </a:xfrm>
          </p:grpSpPr>
          <p:sp>
            <p:nvSpPr>
              <p:cNvPr id="18" name="Freeform 3">
                <a:extLst>
                  <a:ext uri="{FF2B5EF4-FFF2-40B4-BE49-F238E27FC236}">
                    <a16:creationId xmlns:a16="http://schemas.microsoft.com/office/drawing/2014/main" id="{920ACD79-7BBE-7FB0-63ED-8EB72C7B48CC}"/>
                  </a:ext>
                </a:extLst>
              </p:cNvPr>
              <p:cNvSpPr/>
              <p:nvPr/>
            </p:nvSpPr>
            <p:spPr>
              <a:xfrm>
                <a:off x="0" y="0"/>
                <a:ext cx="3131135" cy="516983"/>
              </a:xfrm>
              <a:custGeom>
                <a:avLst/>
                <a:gdLst/>
                <a:ahLst/>
                <a:cxnLst/>
                <a:rect l="l" t="t" r="r" b="b"/>
                <a:pathLst>
                  <a:path w="3131135" h="516983">
                    <a:moveTo>
                      <a:pt x="0" y="0"/>
                    </a:moveTo>
                    <a:lnTo>
                      <a:pt x="3131135" y="0"/>
                    </a:lnTo>
                    <a:lnTo>
                      <a:pt x="3131135" y="516983"/>
                    </a:lnTo>
                    <a:lnTo>
                      <a:pt x="0" y="516983"/>
                    </a:lnTo>
                    <a:close/>
                  </a:path>
                </a:pathLst>
              </a:custGeom>
              <a:solidFill>
                <a:srgbClr val="96D3F6"/>
              </a:solidFill>
              <a:ln w="9525" cap="sq">
                <a:solidFill>
                  <a:srgbClr val="000000"/>
                </a:solidFill>
                <a:prstDash val="solid"/>
                <a:miter/>
              </a:ln>
            </p:spPr>
            <p:txBody>
              <a:bodyPr/>
              <a:lstStyle/>
              <a:p>
                <a:endParaRPr lang="en-AU"/>
              </a:p>
            </p:txBody>
          </p:sp>
          <p:sp>
            <p:nvSpPr>
              <p:cNvPr id="19" name="TextBox 4">
                <a:extLst>
                  <a:ext uri="{FF2B5EF4-FFF2-40B4-BE49-F238E27FC236}">
                    <a16:creationId xmlns:a16="http://schemas.microsoft.com/office/drawing/2014/main" id="{5A19BACB-9577-4CEF-6D76-A91F751B56D0}"/>
                  </a:ext>
                </a:extLst>
              </p:cNvPr>
              <p:cNvSpPr txBox="1"/>
              <p:nvPr/>
            </p:nvSpPr>
            <p:spPr>
              <a:xfrm>
                <a:off x="0" y="-38100"/>
                <a:ext cx="3131135" cy="555083"/>
              </a:xfrm>
              <a:prstGeom prst="rect">
                <a:avLst/>
              </a:prstGeom>
            </p:spPr>
            <p:txBody>
              <a:bodyPr lIns="50800" tIns="50800" rIns="50800" bIns="50800" rtlCol="0" anchor="ctr"/>
              <a:lstStyle/>
              <a:p>
                <a:pPr algn="ctr">
                  <a:lnSpc>
                    <a:spcPts val="2240"/>
                  </a:lnSpc>
                </a:pPr>
                <a:endParaRPr/>
              </a:p>
            </p:txBody>
          </p:sp>
        </p:grpSp>
        <p:sp>
          <p:nvSpPr>
            <p:cNvPr id="17" name="AutoShape 5">
              <a:extLst>
                <a:ext uri="{FF2B5EF4-FFF2-40B4-BE49-F238E27FC236}">
                  <a16:creationId xmlns:a16="http://schemas.microsoft.com/office/drawing/2014/main" id="{8699A7F1-99CB-5E07-9E32-804C904878DE}"/>
                </a:ext>
              </a:extLst>
            </p:cNvPr>
            <p:cNvSpPr/>
            <p:nvPr/>
          </p:nvSpPr>
          <p:spPr>
            <a:xfrm flipV="1">
              <a:off x="5220000" y="1438258"/>
              <a:ext cx="0" cy="1442566"/>
            </a:xfrm>
            <a:prstGeom prst="line">
              <a:avLst/>
            </a:prstGeom>
            <a:ln w="28575" cap="flat">
              <a:solidFill>
                <a:srgbClr val="000000"/>
              </a:solidFill>
              <a:prstDash val="sysDash"/>
              <a:headEnd type="none" w="sm" len="sm"/>
              <a:tailEnd type="none" w="sm" len="sm"/>
            </a:ln>
          </p:spPr>
          <p:txBody>
            <a:bodyPr/>
            <a:lstStyle/>
            <a:p>
              <a:endParaRPr lang="en-AU"/>
            </a:p>
          </p:txBody>
        </p:sp>
      </p:grpSp>
    </p:spTree>
    <p:extLst>
      <p:ext uri="{BB962C8B-B14F-4D97-AF65-F5344CB8AC3E}">
        <p14:creationId xmlns:p14="http://schemas.microsoft.com/office/powerpoint/2010/main" val="3718562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1437214" y="1878716"/>
            <a:ext cx="9370694" cy="893226"/>
          </a:xfrm>
        </p:spPr>
        <p:txBody>
          <a:bodyPr/>
          <a:lstStyle/>
          <a:p>
            <a:pPr algn="ctr"/>
            <a:r>
              <a:rPr lang="en-AU" sz="4400"/>
              <a:t>The </a:t>
            </a:r>
            <a:r>
              <a:rPr lang="en-AU" sz="4400" b="1"/>
              <a:t>equal sign (=) </a:t>
            </a:r>
          </a:p>
          <a:p>
            <a:pPr algn="ctr"/>
            <a:r>
              <a:rPr lang="en-AU" sz="4400"/>
              <a:t>means ‘</a:t>
            </a:r>
            <a:r>
              <a:rPr lang="en-AU" sz="4400" b="1"/>
              <a:t>the same as</a:t>
            </a:r>
            <a:r>
              <a:rPr lang="en-AU" sz="4400"/>
              <a:t>’.</a:t>
            </a:r>
          </a:p>
          <a:p>
            <a:endParaRPr lang="en-AU" sz="4400"/>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7" name="TextBox 6">
            <a:extLst>
              <a:ext uri="{FF2B5EF4-FFF2-40B4-BE49-F238E27FC236}">
                <a16:creationId xmlns:a16="http://schemas.microsoft.com/office/drawing/2014/main" id="{9FC8C436-E9EC-7BA7-4E90-18C00C99EDD3}"/>
              </a:ext>
            </a:extLst>
          </p:cNvPr>
          <p:cNvSpPr txBox="1"/>
          <p:nvPr/>
        </p:nvSpPr>
        <p:spPr>
          <a:xfrm>
            <a:off x="1737360" y="2036318"/>
            <a:ext cx="8717280" cy="802640"/>
          </a:xfrm>
          <a:prstGeom prst="rect">
            <a:avLst/>
          </a:prstGeom>
          <a:noFill/>
        </p:spPr>
        <p:txBody>
          <a:bodyPr wrap="square" lIns="0" tIns="0" rIns="0" bIns="0" rtlCol="0">
            <a:noAutofit/>
          </a:bodyPr>
          <a:lstStyle/>
          <a:p>
            <a:pPr algn="ctr">
              <a:lnSpc>
                <a:spcPct val="150000"/>
              </a:lnSpc>
            </a:pPr>
            <a:r>
              <a:rPr lang="en-AU" sz="4400" b="1"/>
              <a:t>Draw</a:t>
            </a:r>
            <a:r>
              <a:rPr lang="en-AU" sz="4400"/>
              <a:t> an </a:t>
            </a:r>
            <a:r>
              <a:rPr lang="en-AU" sz="4400" b="1"/>
              <a:t>angle</a:t>
            </a:r>
            <a:r>
              <a:rPr lang="en-AU" sz="4400"/>
              <a:t>. </a:t>
            </a:r>
          </a:p>
          <a:p>
            <a:pPr algn="ctr">
              <a:lnSpc>
                <a:spcPct val="150000"/>
              </a:lnSpc>
            </a:pPr>
            <a:r>
              <a:rPr lang="en-AU" sz="4400" b="1"/>
              <a:t>Label </a:t>
            </a:r>
            <a:r>
              <a:rPr lang="en-AU" sz="4400"/>
              <a:t>the </a:t>
            </a:r>
            <a:r>
              <a:rPr lang="en-AU" sz="4400" b="1"/>
              <a:t>arms </a:t>
            </a:r>
            <a:r>
              <a:rPr lang="en-AU" sz="4400"/>
              <a:t>and the </a:t>
            </a:r>
            <a:r>
              <a:rPr lang="en-AU" sz="4400" b="1"/>
              <a:t>vertex</a:t>
            </a:r>
            <a:r>
              <a:rPr lang="en-AU" sz="4400"/>
              <a:t> of the angle.</a:t>
            </a:r>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4" name="TextBox 3">
            <a:extLst>
              <a:ext uri="{FF2B5EF4-FFF2-40B4-BE49-F238E27FC236}">
                <a16:creationId xmlns:a16="http://schemas.microsoft.com/office/drawing/2014/main" id="{0C24B211-1B8B-6615-4A9E-7F7B952B23CC}"/>
              </a:ext>
            </a:extLst>
          </p:cNvPr>
          <p:cNvSpPr txBox="1"/>
          <p:nvPr/>
        </p:nvSpPr>
        <p:spPr>
          <a:xfrm>
            <a:off x="1014761" y="1545526"/>
            <a:ext cx="10162478" cy="2304585"/>
          </a:xfrm>
          <a:prstGeom prst="rect">
            <a:avLst/>
          </a:prstGeom>
          <a:noFill/>
        </p:spPr>
        <p:txBody>
          <a:bodyPr wrap="square" lIns="0" tIns="0" rIns="0" bIns="0" rtlCol="0">
            <a:noAutofit/>
          </a:bodyPr>
          <a:lstStyle/>
          <a:p>
            <a:pPr algn="ctr">
              <a:lnSpc>
                <a:spcPct val="150000"/>
              </a:lnSpc>
            </a:pPr>
            <a:r>
              <a:rPr lang="en-AU" sz="4400"/>
              <a:t>Record the </a:t>
            </a:r>
            <a:r>
              <a:rPr lang="en-AU" sz="4400" b="1"/>
              <a:t>differences</a:t>
            </a:r>
            <a:r>
              <a:rPr lang="en-AU" sz="4400"/>
              <a:t> between this </a:t>
            </a:r>
            <a:r>
              <a:rPr lang="en-AU" sz="4400" b="1"/>
              <a:t>pyramid</a:t>
            </a:r>
            <a:r>
              <a:rPr lang="en-AU" sz="4400"/>
              <a:t> and this </a:t>
            </a:r>
            <a:r>
              <a:rPr lang="en-AU" sz="4400" b="1"/>
              <a:t>prism</a:t>
            </a:r>
            <a:r>
              <a:rPr lang="en-AU" sz="4400"/>
              <a:t>.</a:t>
            </a:r>
          </a:p>
        </p:txBody>
      </p:sp>
      <p:pic>
        <p:nvPicPr>
          <p:cNvPr id="9" name="Picture 8" descr="A square-based pyramid and a rectangular prism">
            <a:extLst>
              <a:ext uri="{FF2B5EF4-FFF2-40B4-BE49-F238E27FC236}">
                <a16:creationId xmlns:a16="http://schemas.microsoft.com/office/drawing/2014/main" id="{CC5F1C8C-A154-939B-C0F7-8345A761F52C}"/>
              </a:ext>
            </a:extLst>
          </p:cNvPr>
          <p:cNvPicPr>
            <a:picLocks noChangeAspect="1"/>
          </p:cNvPicPr>
          <p:nvPr/>
        </p:nvPicPr>
        <p:blipFill>
          <a:blip r:embed="rId4"/>
          <a:stretch>
            <a:fillRect/>
          </a:stretch>
        </p:blipFill>
        <p:spPr>
          <a:xfrm>
            <a:off x="3806707" y="3884414"/>
            <a:ext cx="4578585" cy="2597283"/>
          </a:xfrm>
          <a:prstGeom prst="rect">
            <a:avLst/>
          </a:prstGeom>
        </p:spPr>
      </p:pic>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5" name="Picture 4" descr="A map of a town with roads and a river running through (top left to bottom right).&#10;&#10;Landmarks are at the following grid references:&#10;A8: house&#10;A5-A6: bus stop&#10;C5: pond&#10;C6-E6: park&#10;E1-F1: hospital&#10;E7-F7: bridge&#10;E10: apple tree&#10;F5: house&#10;F9: house&#10;G6: house&#10;H4: house&#10;I8: house&#10;I6-I7 Field">
            <a:extLst>
              <a:ext uri="{FF2B5EF4-FFF2-40B4-BE49-F238E27FC236}">
                <a16:creationId xmlns:a16="http://schemas.microsoft.com/office/drawing/2014/main" id="{B5E0EFC5-9FFE-E697-1EC9-FC7EECEE9788}"/>
              </a:ext>
            </a:extLst>
          </p:cNvPr>
          <p:cNvPicPr>
            <a:picLocks noChangeAspect="1"/>
          </p:cNvPicPr>
          <p:nvPr/>
        </p:nvPicPr>
        <p:blipFill>
          <a:blip r:embed="rId4"/>
          <a:stretch>
            <a:fillRect/>
          </a:stretch>
        </p:blipFill>
        <p:spPr>
          <a:xfrm>
            <a:off x="5850674" y="1184223"/>
            <a:ext cx="5806069" cy="5185944"/>
          </a:xfrm>
          <a:prstGeom prst="rect">
            <a:avLst/>
          </a:prstGeom>
        </p:spPr>
      </p:pic>
      <p:sp>
        <p:nvSpPr>
          <p:cNvPr id="7" name="TextBox 6">
            <a:extLst>
              <a:ext uri="{FF2B5EF4-FFF2-40B4-BE49-F238E27FC236}">
                <a16:creationId xmlns:a16="http://schemas.microsoft.com/office/drawing/2014/main" id="{D3762CB5-210D-7F3B-D2A5-2ACFFA182E44}"/>
              </a:ext>
            </a:extLst>
          </p:cNvPr>
          <p:cNvSpPr txBox="1"/>
          <p:nvPr/>
        </p:nvSpPr>
        <p:spPr>
          <a:xfrm>
            <a:off x="215591" y="1771570"/>
            <a:ext cx="5635083" cy="2873795"/>
          </a:xfrm>
          <a:prstGeom prst="rect">
            <a:avLst/>
          </a:prstGeom>
          <a:noFill/>
        </p:spPr>
        <p:txBody>
          <a:bodyPr wrap="square" lIns="0" tIns="0" rIns="0" bIns="0" rtlCol="0">
            <a:noAutofit/>
          </a:bodyPr>
          <a:lstStyle/>
          <a:p>
            <a:pPr>
              <a:lnSpc>
                <a:spcPct val="150000"/>
              </a:lnSpc>
              <a:spcBef>
                <a:spcPts val="1200"/>
              </a:spcBef>
              <a:spcAft>
                <a:spcPts val="600"/>
              </a:spcAft>
            </a:pPr>
            <a:r>
              <a:rPr lang="en-AU" sz="3600"/>
              <a:t>Record the positions of the:</a:t>
            </a:r>
          </a:p>
          <a:p>
            <a:pPr marL="571500" indent="-571500">
              <a:lnSpc>
                <a:spcPct val="150000"/>
              </a:lnSpc>
              <a:spcBef>
                <a:spcPts val="1200"/>
              </a:spcBef>
              <a:spcAft>
                <a:spcPts val="600"/>
              </a:spcAft>
              <a:buFont typeface="Arial" panose="020B0604020202020204" pitchFamily="34" charset="0"/>
              <a:buChar char="•"/>
            </a:pPr>
            <a:r>
              <a:rPr lang="en-AU" sz="3600"/>
              <a:t>pond </a:t>
            </a:r>
          </a:p>
          <a:p>
            <a:pPr marL="571500" indent="-571500">
              <a:lnSpc>
                <a:spcPct val="150000"/>
              </a:lnSpc>
              <a:spcBef>
                <a:spcPts val="1200"/>
              </a:spcBef>
              <a:spcAft>
                <a:spcPts val="600"/>
              </a:spcAft>
              <a:buFont typeface="Arial" panose="020B0604020202020204" pitchFamily="34" charset="0"/>
              <a:buChar char="•"/>
            </a:pPr>
            <a:r>
              <a:rPr lang="en-AU" sz="3600"/>
              <a:t>blue house</a:t>
            </a:r>
          </a:p>
          <a:p>
            <a:pPr marL="571500" indent="-571500">
              <a:lnSpc>
                <a:spcPct val="150000"/>
              </a:lnSpc>
              <a:spcBef>
                <a:spcPts val="1200"/>
              </a:spcBef>
              <a:spcAft>
                <a:spcPts val="600"/>
              </a:spcAft>
              <a:buFont typeface="Arial" panose="020B0604020202020204" pitchFamily="34" charset="0"/>
              <a:buChar char="•"/>
            </a:pPr>
            <a:r>
              <a:rPr lang="en-AU" sz="3600"/>
              <a:t> tree </a:t>
            </a:r>
          </a:p>
        </p:txBody>
      </p:sp>
      <p:pic>
        <p:nvPicPr>
          <p:cNvPr id="10" name="Picture 9" descr="blue house">
            <a:extLst>
              <a:ext uri="{FF2B5EF4-FFF2-40B4-BE49-F238E27FC236}">
                <a16:creationId xmlns:a16="http://schemas.microsoft.com/office/drawing/2014/main" id="{2B8D66E3-024E-3E14-BD87-E320CE1D6E14}"/>
              </a:ext>
            </a:extLst>
          </p:cNvPr>
          <p:cNvPicPr>
            <a:picLocks noChangeAspect="1"/>
          </p:cNvPicPr>
          <p:nvPr/>
        </p:nvPicPr>
        <p:blipFill>
          <a:blip r:embed="rId5"/>
          <a:stretch>
            <a:fillRect/>
          </a:stretch>
        </p:blipFill>
        <p:spPr>
          <a:xfrm>
            <a:off x="3118863" y="3792158"/>
            <a:ext cx="1454225" cy="838243"/>
          </a:xfrm>
          <a:prstGeom prst="rect">
            <a:avLst/>
          </a:prstGeom>
        </p:spPr>
      </p:pic>
      <p:pic>
        <p:nvPicPr>
          <p:cNvPr id="12" name="Picture 11" descr="pond">
            <a:extLst>
              <a:ext uri="{FF2B5EF4-FFF2-40B4-BE49-F238E27FC236}">
                <a16:creationId xmlns:a16="http://schemas.microsoft.com/office/drawing/2014/main" id="{6B861E97-CA88-EE86-3B3A-FA118C2345B3}"/>
              </a:ext>
            </a:extLst>
          </p:cNvPr>
          <p:cNvPicPr>
            <a:picLocks noChangeAspect="1"/>
          </p:cNvPicPr>
          <p:nvPr/>
        </p:nvPicPr>
        <p:blipFill>
          <a:blip r:embed="rId6"/>
          <a:stretch>
            <a:fillRect/>
          </a:stretch>
        </p:blipFill>
        <p:spPr>
          <a:xfrm>
            <a:off x="1880549" y="2951653"/>
            <a:ext cx="1238314" cy="825542"/>
          </a:xfrm>
          <a:prstGeom prst="rect">
            <a:avLst/>
          </a:prstGeom>
        </p:spPr>
      </p:pic>
      <p:pic>
        <p:nvPicPr>
          <p:cNvPr id="14" name="Picture 13" descr="tree">
            <a:extLst>
              <a:ext uri="{FF2B5EF4-FFF2-40B4-BE49-F238E27FC236}">
                <a16:creationId xmlns:a16="http://schemas.microsoft.com/office/drawing/2014/main" id="{02620EDB-0517-63F8-F191-885F38BDC2EB}"/>
              </a:ext>
            </a:extLst>
          </p:cNvPr>
          <p:cNvPicPr>
            <a:picLocks noChangeAspect="1"/>
          </p:cNvPicPr>
          <p:nvPr/>
        </p:nvPicPr>
        <p:blipFill>
          <a:blip r:embed="rId7"/>
          <a:stretch>
            <a:fillRect/>
          </a:stretch>
        </p:blipFill>
        <p:spPr>
          <a:xfrm>
            <a:off x="1880549" y="4957278"/>
            <a:ext cx="768389" cy="723937"/>
          </a:xfrm>
          <a:prstGeom prst="rect">
            <a:avLst/>
          </a:prstGeom>
        </p:spPr>
      </p:pic>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441280" y="453672"/>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4" name="TextBox 3">
            <a:extLst>
              <a:ext uri="{FF2B5EF4-FFF2-40B4-BE49-F238E27FC236}">
                <a16:creationId xmlns:a16="http://schemas.microsoft.com/office/drawing/2014/main" id="{E6F63EC0-FB41-86A4-1008-55705934A2A1}"/>
              </a:ext>
            </a:extLst>
          </p:cNvPr>
          <p:cNvSpPr txBox="1"/>
          <p:nvPr/>
        </p:nvSpPr>
        <p:spPr>
          <a:xfrm>
            <a:off x="1082866" y="2141419"/>
            <a:ext cx="10285738" cy="2059259"/>
          </a:xfrm>
          <a:prstGeom prst="rect">
            <a:avLst/>
          </a:prstGeom>
          <a:noFill/>
        </p:spPr>
        <p:txBody>
          <a:bodyPr wrap="square" lIns="0" tIns="0" rIns="0" bIns="0" rtlCol="0">
            <a:noAutofit/>
          </a:bodyPr>
          <a:lstStyle/>
          <a:p>
            <a:pPr algn="ctr">
              <a:lnSpc>
                <a:spcPct val="150000"/>
              </a:lnSpc>
            </a:pPr>
            <a:r>
              <a:rPr lang="en-AU" sz="4400" b="1"/>
              <a:t>Estimate</a:t>
            </a:r>
            <a:r>
              <a:rPr lang="en-AU" sz="4400"/>
              <a:t> the length of your </a:t>
            </a:r>
            <a:r>
              <a:rPr lang="en-AU" sz="4400" b="1"/>
              <a:t>classroom </a:t>
            </a:r>
            <a:r>
              <a:rPr lang="en-AU" sz="4400"/>
              <a:t>using </a:t>
            </a:r>
            <a:r>
              <a:rPr lang="en-AU" sz="4400" b="1"/>
              <a:t>metres</a:t>
            </a:r>
            <a:r>
              <a:rPr lang="en-AU" sz="4400"/>
              <a:t> and </a:t>
            </a:r>
            <a:r>
              <a:rPr lang="en-AU" sz="4400" b="1"/>
              <a:t>centimetres</a:t>
            </a:r>
            <a:r>
              <a:rPr lang="en-AU" sz="4400"/>
              <a:t>.</a:t>
            </a:r>
          </a:p>
          <a:p>
            <a:pPr algn="ctr">
              <a:lnSpc>
                <a:spcPct val="150000"/>
              </a:lnSpc>
            </a:pPr>
            <a:endParaRPr lang="en-AU" sz="4400"/>
          </a:p>
          <a:p>
            <a:pPr algn="ctr">
              <a:lnSpc>
                <a:spcPct val="150000"/>
              </a:lnSpc>
            </a:pPr>
            <a:endParaRPr lang="en-AU" sz="4400"/>
          </a:p>
        </p:txBody>
      </p:sp>
      <p:sp>
        <p:nvSpPr>
          <p:cNvPr id="5" name="TextBox 4">
            <a:extLst>
              <a:ext uri="{FF2B5EF4-FFF2-40B4-BE49-F238E27FC236}">
                <a16:creationId xmlns:a16="http://schemas.microsoft.com/office/drawing/2014/main" id="{9393907A-F13F-5A38-20A6-6DEA5F106547}"/>
              </a:ext>
            </a:extLst>
          </p:cNvPr>
          <p:cNvSpPr txBox="1"/>
          <p:nvPr/>
        </p:nvSpPr>
        <p:spPr>
          <a:xfrm>
            <a:off x="1425284" y="5567679"/>
            <a:ext cx="9112469" cy="769441"/>
          </a:xfrm>
          <a:prstGeom prst="rect">
            <a:avLst/>
          </a:prstGeom>
          <a:noFill/>
        </p:spPr>
        <p:txBody>
          <a:bodyPr wrap="square">
            <a:spAutoFit/>
          </a:body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AAEC53-3303-E739-72F1-B626DA99950A}"/>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2A4363AB-7862-BE98-5162-B42EF2D4D40A}"/>
              </a:ext>
            </a:extLst>
          </p:cNvPr>
          <p:cNvSpPr>
            <a:spLocks noGrp="1"/>
          </p:cNvSpPr>
          <p:nvPr>
            <p:ph type="title"/>
          </p:nvPr>
        </p:nvSpPr>
        <p:spPr/>
        <p:txBody>
          <a:bodyPr/>
          <a:lstStyle/>
          <a:p>
            <a:r>
              <a:rPr lang="en-AU"/>
              <a:t>Activity 2</a:t>
            </a:r>
            <a:r>
              <a:rPr lang="en-AU">
                <a:solidFill>
                  <a:schemeClr val="bg1"/>
                </a:solidFill>
              </a:rPr>
              <a:t> </a:t>
            </a:r>
            <a:r>
              <a:rPr lang="en-AU"/>
              <a:t>– the ‘</a:t>
            </a:r>
            <a:r>
              <a:rPr lang="en-AU" err="1"/>
              <a:t>fifthing</a:t>
            </a:r>
            <a:r>
              <a:rPr lang="en-AU"/>
              <a:t> strategy’ </a:t>
            </a:r>
            <a:r>
              <a:rPr lang="en-AU">
                <a:solidFill>
                  <a:schemeClr val="bg1"/>
                </a:solidFill>
              </a:rPr>
              <a:t>(1)</a:t>
            </a:r>
          </a:p>
        </p:txBody>
      </p:sp>
      <p:sp>
        <p:nvSpPr>
          <p:cNvPr id="6" name="TextBox 5">
            <a:extLst>
              <a:ext uri="{FF2B5EF4-FFF2-40B4-BE49-F238E27FC236}">
                <a16:creationId xmlns:a16="http://schemas.microsoft.com/office/drawing/2014/main" id="{1209F9FC-D13D-5C59-91D1-5C0061FC8887}"/>
              </a:ext>
            </a:extLst>
          </p:cNvPr>
          <p:cNvSpPr txBox="1"/>
          <p:nvPr/>
        </p:nvSpPr>
        <p:spPr>
          <a:xfrm>
            <a:off x="866627" y="1085848"/>
            <a:ext cx="10617373" cy="400110"/>
          </a:xfrm>
          <a:prstGeom prst="rect">
            <a:avLst/>
          </a:prstGeom>
          <a:noFill/>
        </p:spPr>
        <p:txBody>
          <a:bodyPr wrap="square">
            <a:spAutoFit/>
          </a:bodyPr>
          <a:lstStyle/>
          <a:p>
            <a:r>
              <a:rPr lang="en-AU" sz="2000">
                <a:latin typeface="Arial" panose="020B0604020202020204" pitchFamily="34" charset="0"/>
                <a:ea typeface="Calibri" panose="020F0502020204030204" pitchFamily="34" charset="0"/>
              </a:rPr>
              <a:t>Review thirds by </a:t>
            </a:r>
            <a:r>
              <a:rPr lang="en-AU" sz="2000">
                <a:effectLst/>
                <a:latin typeface="Arial" panose="020B0604020202020204" pitchFamily="34" charset="0"/>
                <a:ea typeface="Calibri" panose="020F0502020204030204" pitchFamily="34" charset="0"/>
              </a:rPr>
              <a:t>fold the paper strip to show thirds, using the halfway point as a reference.</a:t>
            </a:r>
            <a:endParaRPr lang="en-AU" sz="2000"/>
          </a:p>
        </p:txBody>
      </p:sp>
      <p:grpSp>
        <p:nvGrpSpPr>
          <p:cNvPr id="9" name="Group 8" descr="A rectangle broken into thirds">
            <a:extLst>
              <a:ext uri="{FF2B5EF4-FFF2-40B4-BE49-F238E27FC236}">
                <a16:creationId xmlns:a16="http://schemas.microsoft.com/office/drawing/2014/main" id="{F954F9A5-72BC-38BA-FA8C-15808B45D785}"/>
              </a:ext>
            </a:extLst>
          </p:cNvPr>
          <p:cNvGrpSpPr/>
          <p:nvPr/>
        </p:nvGrpSpPr>
        <p:grpSpPr>
          <a:xfrm>
            <a:off x="2037168" y="1733491"/>
            <a:ext cx="8276289" cy="1249990"/>
            <a:chOff x="851512" y="4032083"/>
            <a:chExt cx="8736976" cy="1442566"/>
          </a:xfrm>
        </p:grpSpPr>
        <p:grpSp>
          <p:nvGrpSpPr>
            <p:cNvPr id="10" name="Group 6">
              <a:extLst>
                <a:ext uri="{FF2B5EF4-FFF2-40B4-BE49-F238E27FC236}">
                  <a16:creationId xmlns:a16="http://schemas.microsoft.com/office/drawing/2014/main" id="{5FC959D5-31C8-AABA-2995-445EAA967A2F}"/>
                </a:ext>
              </a:extLst>
            </p:cNvPr>
            <p:cNvGrpSpPr/>
            <p:nvPr/>
          </p:nvGrpSpPr>
          <p:grpSpPr>
            <a:xfrm>
              <a:off x="851512" y="4032083"/>
              <a:ext cx="8736976" cy="1442566"/>
              <a:chOff x="0" y="0"/>
              <a:chExt cx="3131135" cy="516983"/>
            </a:xfrm>
          </p:grpSpPr>
          <p:sp>
            <p:nvSpPr>
              <p:cNvPr id="13" name="Freeform 7">
                <a:extLst>
                  <a:ext uri="{FF2B5EF4-FFF2-40B4-BE49-F238E27FC236}">
                    <a16:creationId xmlns:a16="http://schemas.microsoft.com/office/drawing/2014/main" id="{980C3603-2A8D-8CF3-70A3-56574DC95A29}"/>
                  </a:ext>
                </a:extLst>
              </p:cNvPr>
              <p:cNvSpPr/>
              <p:nvPr/>
            </p:nvSpPr>
            <p:spPr>
              <a:xfrm>
                <a:off x="0" y="0"/>
                <a:ext cx="3131135" cy="516983"/>
              </a:xfrm>
              <a:custGeom>
                <a:avLst/>
                <a:gdLst/>
                <a:ahLst/>
                <a:cxnLst/>
                <a:rect l="l" t="t" r="r" b="b"/>
                <a:pathLst>
                  <a:path w="3131135" h="516983">
                    <a:moveTo>
                      <a:pt x="0" y="0"/>
                    </a:moveTo>
                    <a:lnTo>
                      <a:pt x="3131135" y="0"/>
                    </a:lnTo>
                    <a:lnTo>
                      <a:pt x="3131135" y="516983"/>
                    </a:lnTo>
                    <a:lnTo>
                      <a:pt x="0" y="516983"/>
                    </a:lnTo>
                    <a:close/>
                  </a:path>
                </a:pathLst>
              </a:custGeom>
              <a:solidFill>
                <a:srgbClr val="96D3F6"/>
              </a:solidFill>
              <a:ln w="9525" cap="sq">
                <a:solidFill>
                  <a:srgbClr val="000000"/>
                </a:solidFill>
                <a:prstDash val="solid"/>
                <a:miter/>
              </a:ln>
            </p:spPr>
            <p:txBody>
              <a:bodyPr/>
              <a:lstStyle/>
              <a:p>
                <a:endParaRPr lang="en-AU"/>
              </a:p>
            </p:txBody>
          </p:sp>
          <p:sp>
            <p:nvSpPr>
              <p:cNvPr id="14" name="TextBox 8">
                <a:extLst>
                  <a:ext uri="{FF2B5EF4-FFF2-40B4-BE49-F238E27FC236}">
                    <a16:creationId xmlns:a16="http://schemas.microsoft.com/office/drawing/2014/main" id="{7C3ABA33-F3E4-B77C-4D3D-4330EFD30EC8}"/>
                  </a:ext>
                </a:extLst>
              </p:cNvPr>
              <p:cNvSpPr txBox="1"/>
              <p:nvPr/>
            </p:nvSpPr>
            <p:spPr>
              <a:xfrm>
                <a:off x="0" y="-38100"/>
                <a:ext cx="3131135" cy="555083"/>
              </a:xfrm>
              <a:prstGeom prst="rect">
                <a:avLst/>
              </a:prstGeom>
            </p:spPr>
            <p:txBody>
              <a:bodyPr lIns="50800" tIns="50800" rIns="50800" bIns="50800" rtlCol="0" anchor="ctr"/>
              <a:lstStyle/>
              <a:p>
                <a:pPr algn="ctr">
                  <a:lnSpc>
                    <a:spcPts val="2240"/>
                  </a:lnSpc>
                </a:pPr>
                <a:endParaRPr/>
              </a:p>
            </p:txBody>
          </p:sp>
        </p:grpSp>
        <p:sp>
          <p:nvSpPr>
            <p:cNvPr id="11" name="AutoShape 9">
              <a:extLst>
                <a:ext uri="{FF2B5EF4-FFF2-40B4-BE49-F238E27FC236}">
                  <a16:creationId xmlns:a16="http://schemas.microsoft.com/office/drawing/2014/main" id="{5FA16FB7-1243-2150-6225-7AAEE66C23AF}"/>
                </a:ext>
              </a:extLst>
            </p:cNvPr>
            <p:cNvSpPr/>
            <p:nvPr/>
          </p:nvSpPr>
          <p:spPr>
            <a:xfrm flipV="1">
              <a:off x="6668886" y="4032083"/>
              <a:ext cx="0" cy="1442566"/>
            </a:xfrm>
            <a:prstGeom prst="line">
              <a:avLst/>
            </a:prstGeom>
            <a:ln w="28575" cap="flat">
              <a:solidFill>
                <a:srgbClr val="000000"/>
              </a:solidFill>
              <a:prstDash val="sysDash"/>
              <a:headEnd type="none" w="sm" len="sm"/>
              <a:tailEnd type="none" w="sm" len="sm"/>
            </a:ln>
          </p:spPr>
          <p:txBody>
            <a:bodyPr/>
            <a:lstStyle/>
            <a:p>
              <a:endParaRPr lang="en-AU"/>
            </a:p>
          </p:txBody>
        </p:sp>
        <p:sp>
          <p:nvSpPr>
            <p:cNvPr id="12" name="AutoShape 10">
              <a:extLst>
                <a:ext uri="{FF2B5EF4-FFF2-40B4-BE49-F238E27FC236}">
                  <a16:creationId xmlns:a16="http://schemas.microsoft.com/office/drawing/2014/main" id="{56947D15-7666-219D-8A83-260974AD9A96}"/>
                </a:ext>
              </a:extLst>
            </p:cNvPr>
            <p:cNvSpPr/>
            <p:nvPr/>
          </p:nvSpPr>
          <p:spPr>
            <a:xfrm flipV="1">
              <a:off x="3763571" y="4032083"/>
              <a:ext cx="0" cy="1442566"/>
            </a:xfrm>
            <a:prstGeom prst="line">
              <a:avLst/>
            </a:prstGeom>
            <a:ln w="28575" cap="flat">
              <a:solidFill>
                <a:srgbClr val="000000"/>
              </a:solidFill>
              <a:prstDash val="sysDash"/>
              <a:headEnd type="none" w="sm" len="sm"/>
              <a:tailEnd type="none" w="sm" len="sm"/>
            </a:ln>
          </p:spPr>
          <p:txBody>
            <a:bodyPr/>
            <a:lstStyle/>
            <a:p>
              <a:endParaRPr lang="en-AU"/>
            </a:p>
          </p:txBody>
        </p:sp>
      </p:grpSp>
      <p:sp>
        <p:nvSpPr>
          <p:cNvPr id="16" name="TextBox 15">
            <a:extLst>
              <a:ext uri="{FF2B5EF4-FFF2-40B4-BE49-F238E27FC236}">
                <a16:creationId xmlns:a16="http://schemas.microsoft.com/office/drawing/2014/main" id="{38B4EC39-ACA0-A516-E25B-6B71DEF9EF43}"/>
              </a:ext>
            </a:extLst>
          </p:cNvPr>
          <p:cNvSpPr txBox="1"/>
          <p:nvPr/>
        </p:nvSpPr>
        <p:spPr>
          <a:xfrm>
            <a:off x="866627" y="3601995"/>
            <a:ext cx="10312119" cy="2574487"/>
          </a:xfrm>
          <a:prstGeom prst="rect">
            <a:avLst/>
          </a:prstGeom>
          <a:noFill/>
        </p:spPr>
        <p:txBody>
          <a:bodyPr wrap="square">
            <a:spAutoFit/>
          </a:bodyPr>
          <a:lstStyle/>
          <a:p>
            <a:pPr lvl="0">
              <a:lnSpc>
                <a:spcPct val="150000"/>
              </a:lnSpc>
              <a:spcBef>
                <a:spcPts val="1200"/>
              </a:spcBef>
              <a:spcAft>
                <a:spcPts val="600"/>
              </a:spcAft>
            </a:pPr>
            <a:r>
              <a:rPr lang="en-AU" sz="2000">
                <a:effectLst/>
                <a:latin typeface="Arial" panose="020B0604020202020204" pitchFamily="34" charset="0"/>
                <a:ea typeface="Calibri" panose="020F0502020204030204" pitchFamily="34" charset="0"/>
              </a:rPr>
              <a:t>How could you show fifths on their paper strip.</a:t>
            </a:r>
          </a:p>
          <a:p>
            <a:pPr marL="342900" lvl="0" indent="-342900">
              <a:lnSpc>
                <a:spcPct val="150000"/>
              </a:lnSpc>
              <a:spcBef>
                <a:spcPts val="1200"/>
              </a:spcBef>
              <a:spcAft>
                <a:spcPts val="600"/>
              </a:spcAft>
              <a:buFont typeface="Arial" panose="020B0604020202020204" pitchFamily="34" charset="0"/>
              <a:buChar char="•"/>
            </a:pPr>
            <a:r>
              <a:rPr lang="en-AU" sz="2000">
                <a:effectLst/>
                <a:latin typeface="Arial" panose="020B0604020202020204" pitchFamily="34" charset="0"/>
                <a:ea typeface="Calibri" panose="020F0502020204030204" pitchFamily="34" charset="0"/>
              </a:rPr>
              <a:t>Would a fifth be larger or smaller than a third? How do you know?</a:t>
            </a:r>
          </a:p>
          <a:p>
            <a:pPr marL="342900" lvl="0" indent="-342900">
              <a:lnSpc>
                <a:spcPct val="150000"/>
              </a:lnSpc>
              <a:spcBef>
                <a:spcPts val="1200"/>
              </a:spcBef>
              <a:spcAft>
                <a:spcPts val="600"/>
              </a:spcAft>
              <a:buFont typeface="Arial" panose="020B0604020202020204" pitchFamily="34" charset="0"/>
              <a:buChar char="•"/>
            </a:pPr>
            <a:r>
              <a:rPr lang="en-AU" sz="2000">
                <a:effectLst/>
                <a:latin typeface="Arial" panose="020B0604020202020204" pitchFamily="34" charset="0"/>
                <a:ea typeface="Calibri" panose="020F0502020204030204" pitchFamily="34" charset="0"/>
              </a:rPr>
              <a:t>Would a fifth be larger or smaller than a quarter? How do you know?</a:t>
            </a:r>
          </a:p>
          <a:p>
            <a:pPr marL="342900" lvl="0" indent="-342900">
              <a:lnSpc>
                <a:spcPct val="150000"/>
              </a:lnSpc>
              <a:spcBef>
                <a:spcPts val="1200"/>
              </a:spcBef>
              <a:spcAft>
                <a:spcPts val="600"/>
              </a:spcAft>
              <a:buFont typeface="Arial" panose="020B0604020202020204" pitchFamily="34" charset="0"/>
              <a:buChar char="•"/>
            </a:pPr>
            <a:r>
              <a:rPr lang="en-AU" sz="2000">
                <a:effectLst/>
                <a:latin typeface="Arial" panose="020B0604020202020204" pitchFamily="34" charset="0"/>
                <a:ea typeface="Calibri" panose="020F0502020204030204" pitchFamily="34" charset="0"/>
              </a:rPr>
              <a:t>How can you use quarters on your fraction strip to find fifths?</a:t>
            </a:r>
          </a:p>
        </p:txBody>
      </p:sp>
    </p:spTree>
    <p:extLst>
      <p:ext uri="{BB962C8B-B14F-4D97-AF65-F5344CB8AC3E}">
        <p14:creationId xmlns:p14="http://schemas.microsoft.com/office/powerpoint/2010/main" val="3139341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AAEC53-3303-E739-72F1-B626DA99950A}"/>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2A4363AB-7862-BE98-5162-B42EF2D4D40A}"/>
              </a:ext>
            </a:extLst>
          </p:cNvPr>
          <p:cNvSpPr>
            <a:spLocks noGrp="1"/>
          </p:cNvSpPr>
          <p:nvPr>
            <p:ph type="title"/>
          </p:nvPr>
        </p:nvSpPr>
        <p:spPr/>
        <p:txBody>
          <a:bodyPr/>
          <a:lstStyle/>
          <a:p>
            <a:r>
              <a:rPr lang="en-AU"/>
              <a:t>Activity 2 </a:t>
            </a:r>
            <a:r>
              <a:rPr lang="en-AU">
                <a:solidFill>
                  <a:schemeClr val="bg1"/>
                </a:solidFill>
              </a:rPr>
              <a:t>(</a:t>
            </a:r>
            <a:r>
              <a:rPr lang="en-AU"/>
              <a:t>– the ‘</a:t>
            </a:r>
            <a:r>
              <a:rPr lang="en-AU" err="1"/>
              <a:t>fifthing</a:t>
            </a:r>
            <a:r>
              <a:rPr lang="en-AU"/>
              <a:t> strategy’ </a:t>
            </a:r>
            <a:r>
              <a:rPr lang="en-AU">
                <a:solidFill>
                  <a:schemeClr val="bg1"/>
                </a:solidFill>
              </a:rPr>
              <a:t>(2)</a:t>
            </a:r>
          </a:p>
        </p:txBody>
      </p:sp>
      <p:sp>
        <p:nvSpPr>
          <p:cNvPr id="8" name="TextBox 7">
            <a:extLst>
              <a:ext uri="{FF2B5EF4-FFF2-40B4-BE49-F238E27FC236}">
                <a16:creationId xmlns:a16="http://schemas.microsoft.com/office/drawing/2014/main" id="{9DBFA549-A99E-8627-6827-168A93238F68}"/>
              </a:ext>
            </a:extLst>
          </p:cNvPr>
          <p:cNvSpPr txBox="1"/>
          <p:nvPr/>
        </p:nvSpPr>
        <p:spPr>
          <a:xfrm>
            <a:off x="990196" y="1133913"/>
            <a:ext cx="10133804" cy="3347840"/>
          </a:xfrm>
          <a:prstGeom prst="rect">
            <a:avLst/>
          </a:prstGeom>
          <a:noFill/>
        </p:spPr>
        <p:txBody>
          <a:bodyPr wrap="square">
            <a:spAutoFit/>
          </a:bodyPr>
          <a:lstStyle/>
          <a:p>
            <a:pPr lvl="0">
              <a:lnSpc>
                <a:spcPct val="150000"/>
              </a:lnSpc>
              <a:spcBef>
                <a:spcPts val="1200"/>
              </a:spcBef>
              <a:spcAft>
                <a:spcPts val="600"/>
              </a:spcAft>
            </a:pPr>
            <a:r>
              <a:rPr lang="en-AU" sz="2000">
                <a:effectLst/>
                <a:latin typeface="Arial" panose="020B0604020202020204" pitchFamily="34" charset="0"/>
                <a:ea typeface="Calibri" panose="020F0502020204030204" pitchFamily="34" charset="0"/>
              </a:rPr>
              <a:t>Explain the </a:t>
            </a:r>
            <a:r>
              <a:rPr lang="en-AU" sz="2000" err="1">
                <a:effectLst/>
                <a:latin typeface="Arial" panose="020B0604020202020204" pitchFamily="34" charset="0"/>
                <a:ea typeface="Calibri" panose="020F0502020204030204" pitchFamily="34" charset="0"/>
              </a:rPr>
              <a:t>fifthing</a:t>
            </a:r>
            <a:r>
              <a:rPr lang="en-AU" sz="2000">
                <a:effectLst/>
                <a:latin typeface="Arial" panose="020B0604020202020204" pitchFamily="34" charset="0"/>
                <a:ea typeface="Calibri" panose="020F0502020204030204" pitchFamily="34" charset="0"/>
              </a:rPr>
              <a:t> strategy:</a:t>
            </a:r>
          </a:p>
          <a:p>
            <a:pPr marL="342900" lvl="0" indent="-342900">
              <a:lnSpc>
                <a:spcPct val="150000"/>
              </a:lnSpc>
              <a:spcBef>
                <a:spcPts val="1200"/>
              </a:spcBef>
              <a:spcAft>
                <a:spcPts val="600"/>
              </a:spcAft>
              <a:buFont typeface="Arial" panose="020B0604020202020204" pitchFamily="34" charset="0"/>
              <a:buChar char="•"/>
            </a:pPr>
            <a:r>
              <a:rPr lang="en-AU" sz="2000">
                <a:latin typeface="Arial" panose="020B0604020202020204" pitchFamily="34" charset="0"/>
                <a:ea typeface="Calibri" panose="020F0502020204030204" pitchFamily="34" charset="0"/>
              </a:rPr>
              <a:t>e</a:t>
            </a:r>
            <a:r>
              <a:rPr lang="en-AU" sz="2000">
                <a:effectLst/>
                <a:latin typeface="Arial" panose="020B0604020202020204" pitchFamily="34" charset="0"/>
                <a:ea typeface="Calibri" panose="020F0502020204030204" pitchFamily="34" charset="0"/>
              </a:rPr>
              <a:t>stimate half, then estimate one-quarter</a:t>
            </a:r>
          </a:p>
          <a:p>
            <a:pPr marL="342900" lvl="0" indent="-342900">
              <a:lnSpc>
                <a:spcPct val="150000"/>
              </a:lnSpc>
              <a:spcBef>
                <a:spcPts val="1200"/>
              </a:spcBef>
              <a:spcAft>
                <a:spcPts val="600"/>
              </a:spcAft>
              <a:buFont typeface="Arial" panose="020B0604020202020204" pitchFamily="34" charset="0"/>
              <a:buChar char="•"/>
            </a:pPr>
            <a:r>
              <a:rPr lang="en-AU" sz="2000">
                <a:latin typeface="Arial" panose="020B0604020202020204" pitchFamily="34" charset="0"/>
                <a:ea typeface="Calibri" panose="020F0502020204030204" pitchFamily="34" charset="0"/>
              </a:rPr>
              <a:t>e</a:t>
            </a:r>
            <a:r>
              <a:rPr lang="en-AU" sz="2000">
                <a:effectLst/>
                <a:latin typeface="Arial" panose="020B0604020202020204" pitchFamily="34" charset="0"/>
                <a:ea typeface="Calibri" panose="020F0502020204030204" pitchFamily="34" charset="0"/>
              </a:rPr>
              <a:t>stimate one-fifth as something slightly less than one-quarter</a:t>
            </a:r>
          </a:p>
          <a:p>
            <a:pPr marL="342900" lvl="0" indent="-342900">
              <a:lnSpc>
                <a:spcPct val="150000"/>
              </a:lnSpc>
              <a:spcBef>
                <a:spcPts val="1200"/>
              </a:spcBef>
              <a:spcAft>
                <a:spcPts val="600"/>
              </a:spcAft>
              <a:buFont typeface="Arial" panose="020B0604020202020204" pitchFamily="34" charset="0"/>
              <a:buChar char="•"/>
            </a:pPr>
            <a:r>
              <a:rPr lang="en-AU" sz="2000">
                <a:latin typeface="Arial" panose="020B0604020202020204" pitchFamily="34" charset="0"/>
                <a:ea typeface="Calibri" panose="020F0502020204030204" pitchFamily="34" charset="0"/>
              </a:rPr>
              <a:t>a</a:t>
            </a:r>
            <a:r>
              <a:rPr lang="en-AU" sz="2000">
                <a:effectLst/>
                <a:latin typeface="Arial" panose="020B0604020202020204" pitchFamily="34" charset="0"/>
                <a:ea typeface="Calibri" panose="020F0502020204030204" pitchFamily="34" charset="0"/>
              </a:rPr>
              <a:t>s 4 more equal parts are needed, halve and halve again the remaining part</a:t>
            </a:r>
          </a:p>
          <a:p>
            <a:pPr marL="342900" lvl="0" indent="-342900">
              <a:lnSpc>
                <a:spcPct val="150000"/>
              </a:lnSpc>
              <a:spcBef>
                <a:spcPts val="1200"/>
              </a:spcBef>
              <a:spcAft>
                <a:spcPts val="600"/>
              </a:spcAft>
              <a:buFont typeface="Arial" panose="020B0604020202020204" pitchFamily="34" charset="0"/>
              <a:buChar char="•"/>
            </a:pPr>
            <a:r>
              <a:rPr lang="en-AU" sz="2000">
                <a:latin typeface="Arial" panose="020B0604020202020204" pitchFamily="34" charset="0"/>
                <a:ea typeface="Calibri" panose="020F0502020204030204" pitchFamily="34" charset="0"/>
              </a:rPr>
              <a:t>f</a:t>
            </a:r>
            <a:r>
              <a:rPr lang="en-AU" sz="2000">
                <a:effectLst/>
                <a:latin typeface="Arial" panose="020B0604020202020204" pitchFamily="34" charset="0"/>
                <a:ea typeface="Calibri" panose="020F0502020204030204" pitchFamily="34" charset="0"/>
              </a:rPr>
              <a:t>old to create 5 equal parts in total.</a:t>
            </a:r>
          </a:p>
        </p:txBody>
      </p:sp>
      <p:grpSp>
        <p:nvGrpSpPr>
          <p:cNvPr id="4" name="Group 3" descr="A rectangle broken into fifths">
            <a:extLst>
              <a:ext uri="{FF2B5EF4-FFF2-40B4-BE49-F238E27FC236}">
                <a16:creationId xmlns:a16="http://schemas.microsoft.com/office/drawing/2014/main" id="{CB084425-326C-CCF1-D65E-B70794FDD7EB}"/>
              </a:ext>
            </a:extLst>
          </p:cNvPr>
          <p:cNvGrpSpPr/>
          <p:nvPr/>
        </p:nvGrpSpPr>
        <p:grpSpPr>
          <a:xfrm>
            <a:off x="1727512" y="4873612"/>
            <a:ext cx="8736976" cy="1442566"/>
            <a:chOff x="947024" y="4919634"/>
            <a:chExt cx="8736976" cy="1442566"/>
          </a:xfrm>
        </p:grpSpPr>
        <p:grpSp>
          <p:nvGrpSpPr>
            <p:cNvPr id="5" name="Group 11">
              <a:extLst>
                <a:ext uri="{FF2B5EF4-FFF2-40B4-BE49-F238E27FC236}">
                  <a16:creationId xmlns:a16="http://schemas.microsoft.com/office/drawing/2014/main" id="{8F0A3B0F-F30A-6B6B-1F5D-113304958B7E}"/>
                </a:ext>
              </a:extLst>
            </p:cNvPr>
            <p:cNvGrpSpPr/>
            <p:nvPr/>
          </p:nvGrpSpPr>
          <p:grpSpPr>
            <a:xfrm>
              <a:off x="947024" y="4919634"/>
              <a:ext cx="8736976" cy="1442566"/>
              <a:chOff x="0" y="0"/>
              <a:chExt cx="3131135" cy="516983"/>
            </a:xfrm>
          </p:grpSpPr>
          <p:sp>
            <p:nvSpPr>
              <p:cNvPr id="18" name="Freeform 12">
                <a:extLst>
                  <a:ext uri="{FF2B5EF4-FFF2-40B4-BE49-F238E27FC236}">
                    <a16:creationId xmlns:a16="http://schemas.microsoft.com/office/drawing/2014/main" id="{3D1379EE-575B-ECDE-DF83-AE7F096F5486}"/>
                  </a:ext>
                </a:extLst>
              </p:cNvPr>
              <p:cNvSpPr/>
              <p:nvPr/>
            </p:nvSpPr>
            <p:spPr>
              <a:xfrm>
                <a:off x="0" y="0"/>
                <a:ext cx="3131135" cy="516983"/>
              </a:xfrm>
              <a:custGeom>
                <a:avLst/>
                <a:gdLst/>
                <a:ahLst/>
                <a:cxnLst/>
                <a:rect l="l" t="t" r="r" b="b"/>
                <a:pathLst>
                  <a:path w="3131135" h="516983">
                    <a:moveTo>
                      <a:pt x="0" y="0"/>
                    </a:moveTo>
                    <a:lnTo>
                      <a:pt x="3131135" y="0"/>
                    </a:lnTo>
                    <a:lnTo>
                      <a:pt x="3131135" y="516983"/>
                    </a:lnTo>
                    <a:lnTo>
                      <a:pt x="0" y="516983"/>
                    </a:lnTo>
                    <a:close/>
                  </a:path>
                </a:pathLst>
              </a:custGeom>
              <a:solidFill>
                <a:srgbClr val="96D3F6"/>
              </a:solidFill>
              <a:ln w="9525" cap="sq">
                <a:solidFill>
                  <a:srgbClr val="000000"/>
                </a:solidFill>
                <a:prstDash val="solid"/>
                <a:miter/>
              </a:ln>
            </p:spPr>
            <p:txBody>
              <a:bodyPr/>
              <a:lstStyle/>
              <a:p>
                <a:endParaRPr lang="en-AU"/>
              </a:p>
            </p:txBody>
          </p:sp>
          <p:sp>
            <p:nvSpPr>
              <p:cNvPr id="19" name="TextBox 13">
                <a:extLst>
                  <a:ext uri="{FF2B5EF4-FFF2-40B4-BE49-F238E27FC236}">
                    <a16:creationId xmlns:a16="http://schemas.microsoft.com/office/drawing/2014/main" id="{D8DF3E75-1CC8-AF61-CB89-E18804BBCF1C}"/>
                  </a:ext>
                </a:extLst>
              </p:cNvPr>
              <p:cNvSpPr txBox="1"/>
              <p:nvPr/>
            </p:nvSpPr>
            <p:spPr>
              <a:xfrm>
                <a:off x="0" y="-38100"/>
                <a:ext cx="3131135" cy="555083"/>
              </a:xfrm>
              <a:prstGeom prst="rect">
                <a:avLst/>
              </a:prstGeom>
            </p:spPr>
            <p:txBody>
              <a:bodyPr lIns="50800" tIns="50800" rIns="50800" bIns="50800" rtlCol="0" anchor="ctr"/>
              <a:lstStyle/>
              <a:p>
                <a:pPr algn="ctr">
                  <a:lnSpc>
                    <a:spcPts val="2240"/>
                  </a:lnSpc>
                </a:pPr>
                <a:endParaRPr/>
              </a:p>
            </p:txBody>
          </p:sp>
        </p:grpSp>
        <p:sp>
          <p:nvSpPr>
            <p:cNvPr id="7" name="AutoShape 14">
              <a:extLst>
                <a:ext uri="{FF2B5EF4-FFF2-40B4-BE49-F238E27FC236}">
                  <a16:creationId xmlns:a16="http://schemas.microsoft.com/office/drawing/2014/main" id="{DD003F92-1D80-AD70-FF5F-5318B22D5F32}"/>
                </a:ext>
              </a:extLst>
            </p:cNvPr>
            <p:cNvSpPr/>
            <p:nvPr/>
          </p:nvSpPr>
          <p:spPr>
            <a:xfrm flipV="1">
              <a:off x="7959960" y="4919634"/>
              <a:ext cx="0" cy="1442566"/>
            </a:xfrm>
            <a:prstGeom prst="line">
              <a:avLst/>
            </a:prstGeom>
            <a:ln w="28575" cap="flat">
              <a:solidFill>
                <a:srgbClr val="000000"/>
              </a:solidFill>
              <a:prstDash val="sysDash"/>
              <a:headEnd type="none" w="sm" len="sm"/>
              <a:tailEnd type="none" w="sm" len="sm"/>
            </a:ln>
          </p:spPr>
          <p:txBody>
            <a:bodyPr/>
            <a:lstStyle/>
            <a:p>
              <a:endParaRPr lang="en-AU"/>
            </a:p>
          </p:txBody>
        </p:sp>
        <p:sp>
          <p:nvSpPr>
            <p:cNvPr id="15" name="AutoShape 15">
              <a:extLst>
                <a:ext uri="{FF2B5EF4-FFF2-40B4-BE49-F238E27FC236}">
                  <a16:creationId xmlns:a16="http://schemas.microsoft.com/office/drawing/2014/main" id="{44E5DF40-6387-1412-0ACC-82D4F9A4F246}"/>
                </a:ext>
              </a:extLst>
            </p:cNvPr>
            <p:cNvSpPr/>
            <p:nvPr/>
          </p:nvSpPr>
          <p:spPr>
            <a:xfrm flipV="1">
              <a:off x="4496777" y="4919634"/>
              <a:ext cx="0" cy="1442566"/>
            </a:xfrm>
            <a:prstGeom prst="line">
              <a:avLst/>
            </a:prstGeom>
            <a:ln w="28575" cap="flat">
              <a:solidFill>
                <a:srgbClr val="000000"/>
              </a:solidFill>
              <a:prstDash val="sysDash"/>
              <a:headEnd type="none" w="sm" len="sm"/>
              <a:tailEnd type="none" w="sm" len="sm"/>
            </a:ln>
          </p:spPr>
          <p:txBody>
            <a:bodyPr/>
            <a:lstStyle/>
            <a:p>
              <a:endParaRPr lang="en-AU"/>
            </a:p>
          </p:txBody>
        </p:sp>
        <p:sp>
          <p:nvSpPr>
            <p:cNvPr id="16" name="AutoShape 16">
              <a:extLst>
                <a:ext uri="{FF2B5EF4-FFF2-40B4-BE49-F238E27FC236}">
                  <a16:creationId xmlns:a16="http://schemas.microsoft.com/office/drawing/2014/main" id="{67B11024-D331-9B74-32EA-50B69C8E0F02}"/>
                </a:ext>
              </a:extLst>
            </p:cNvPr>
            <p:cNvSpPr/>
            <p:nvPr/>
          </p:nvSpPr>
          <p:spPr>
            <a:xfrm flipV="1">
              <a:off x="2763227" y="4919634"/>
              <a:ext cx="0" cy="1442566"/>
            </a:xfrm>
            <a:prstGeom prst="line">
              <a:avLst/>
            </a:prstGeom>
            <a:ln w="28575" cap="flat">
              <a:solidFill>
                <a:srgbClr val="000000"/>
              </a:solidFill>
              <a:prstDash val="sysDash"/>
              <a:headEnd type="none" w="sm" len="sm"/>
              <a:tailEnd type="none" w="sm" len="sm"/>
            </a:ln>
          </p:spPr>
          <p:txBody>
            <a:bodyPr/>
            <a:lstStyle/>
            <a:p>
              <a:endParaRPr lang="en-AU"/>
            </a:p>
          </p:txBody>
        </p:sp>
        <p:sp>
          <p:nvSpPr>
            <p:cNvPr id="17" name="AutoShape 17">
              <a:extLst>
                <a:ext uri="{FF2B5EF4-FFF2-40B4-BE49-F238E27FC236}">
                  <a16:creationId xmlns:a16="http://schemas.microsoft.com/office/drawing/2014/main" id="{4398A480-C4DA-E6B2-38E6-4FB779AFA7BE}"/>
                </a:ext>
              </a:extLst>
            </p:cNvPr>
            <p:cNvSpPr/>
            <p:nvPr/>
          </p:nvSpPr>
          <p:spPr>
            <a:xfrm flipV="1">
              <a:off x="6230327" y="4919634"/>
              <a:ext cx="0" cy="1442566"/>
            </a:xfrm>
            <a:prstGeom prst="line">
              <a:avLst/>
            </a:prstGeom>
            <a:ln w="28575" cap="flat">
              <a:solidFill>
                <a:srgbClr val="000000"/>
              </a:solidFill>
              <a:prstDash val="sysDash"/>
              <a:headEnd type="none" w="sm" len="sm"/>
              <a:tailEnd type="none" w="sm" len="sm"/>
            </a:ln>
          </p:spPr>
          <p:txBody>
            <a:bodyPr/>
            <a:lstStyle/>
            <a:p>
              <a:endParaRPr lang="en-AU"/>
            </a:p>
          </p:txBody>
        </p:sp>
      </p:grpSp>
    </p:spTree>
    <p:extLst>
      <p:ext uri="{BB962C8B-B14F-4D97-AF65-F5344CB8AC3E}">
        <p14:creationId xmlns:p14="http://schemas.microsoft.com/office/powerpoint/2010/main" val="1411409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sp>
        <p:nvSpPr>
          <p:cNvPr id="15" name="Text Placeholder">
            <a:extLst>
              <a:ext uri="{FF2B5EF4-FFF2-40B4-BE49-F238E27FC236}">
                <a16:creationId xmlns:a16="http://schemas.microsoft.com/office/drawing/2014/main" id="{9C7C84D9-7468-F57D-99F1-C58A56040A58}"/>
              </a:ext>
            </a:extLst>
          </p:cNvPr>
          <p:cNvSpPr>
            <a:spLocks noGrp="1"/>
          </p:cNvSpPr>
          <p:nvPr>
            <p:ph type="body" sz="quarter" idx="28"/>
          </p:nvPr>
        </p:nvSpPr>
        <p:spPr>
          <a:xfrm>
            <a:off x="4483910" y="1263812"/>
            <a:ext cx="3899140" cy="754243"/>
          </a:xfrm>
        </p:spPr>
        <p:txBody>
          <a:bodyPr/>
          <a:lstStyle/>
          <a:p>
            <a:r>
              <a:rPr lang="en-US" sz="5400"/>
              <a:t>287 - 176 =</a:t>
            </a:r>
          </a:p>
        </p:txBody>
      </p:sp>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1345520" y="2339600"/>
            <a:ext cx="10175920" cy="641396"/>
          </a:xfrm>
        </p:spPr>
        <p:txBody>
          <a:bodyPr anchor="ctr"/>
          <a:lstStyle/>
          <a:p>
            <a:r>
              <a:rPr lang="en-US" sz="3600"/>
              <a:t>290 - 173</a:t>
            </a:r>
          </a:p>
        </p:txBody>
      </p:sp>
      <p:sp>
        <p:nvSpPr>
          <p:cNvPr id="17" name="B text">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3523627"/>
            <a:ext cx="10175920" cy="641396"/>
          </a:xfrm>
        </p:spPr>
        <p:txBody>
          <a:bodyPr anchor="ctr"/>
          <a:lstStyle/>
          <a:p>
            <a:r>
              <a:rPr lang="en-US" sz="3600"/>
              <a:t>280 - 179</a:t>
            </a:r>
          </a:p>
        </p:txBody>
      </p:sp>
      <p:sp>
        <p:nvSpPr>
          <p:cNvPr id="16" name="C text">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4575512"/>
            <a:ext cx="10175920" cy="641396"/>
          </a:xfrm>
        </p:spPr>
        <p:txBody>
          <a:bodyPr anchor="ctr"/>
          <a:lstStyle/>
          <a:p>
            <a:r>
              <a:rPr lang="en-US" sz="3600"/>
              <a:t>300 - 190</a:t>
            </a:r>
          </a:p>
        </p:txBody>
      </p:sp>
      <p:sp>
        <p:nvSpPr>
          <p:cNvPr id="14" name="D text">
            <a:extLst>
              <a:ext uri="{FF2B5EF4-FFF2-40B4-BE49-F238E27FC236}">
                <a16:creationId xmlns:a16="http://schemas.microsoft.com/office/drawing/2014/main" id="{D3F4C1E5-AFB7-4898-29F3-EB98C6384093}"/>
              </a:ext>
            </a:extLst>
          </p:cNvPr>
          <p:cNvSpPr>
            <a:spLocks noGrp="1"/>
          </p:cNvSpPr>
          <p:nvPr>
            <p:ph type="body" sz="quarter" idx="27"/>
          </p:nvPr>
        </p:nvSpPr>
        <p:spPr>
          <a:xfrm>
            <a:off x="1345520" y="5611827"/>
            <a:ext cx="10175920" cy="641396"/>
          </a:xfrm>
        </p:spPr>
        <p:txBody>
          <a:bodyPr anchor="ctr"/>
          <a:lstStyle/>
          <a:p>
            <a:r>
              <a:rPr lang="en-US" sz="3600"/>
              <a:t>288 - 170</a:t>
            </a:r>
          </a:p>
        </p:txBody>
      </p:sp>
      <p:pic>
        <p:nvPicPr>
          <p:cNvPr id="4" name="Picture 3">
            <a:extLst>
              <a:ext uri="{FF2B5EF4-FFF2-40B4-BE49-F238E27FC236}">
                <a16:creationId xmlns:a16="http://schemas.microsoft.com/office/drawing/2014/main" id="{112D24DC-0614-F76C-9A4C-36E299EAFF5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5" name="B">
            <a:extLst>
              <a:ext uri="{FF2B5EF4-FFF2-40B4-BE49-F238E27FC236}">
                <a16:creationId xmlns:a16="http://schemas.microsoft.com/office/drawing/2014/main" id="{4567613E-3CCF-F833-421E-DC7F08B19E9E}"/>
              </a:ext>
            </a:extLst>
          </p:cNvPr>
          <p:cNvSpPr txBox="1"/>
          <p:nvPr/>
        </p:nvSpPr>
        <p:spPr>
          <a:xfrm>
            <a:off x="670557" y="233096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6" name="B">
            <a:extLst>
              <a:ext uri="{FF2B5EF4-FFF2-40B4-BE49-F238E27FC236}">
                <a16:creationId xmlns:a16="http://schemas.microsoft.com/office/drawing/2014/main" id="{74EAA705-1C86-E7CB-C07C-93AB95F5808D}"/>
              </a:ext>
            </a:extLst>
          </p:cNvPr>
          <p:cNvSpPr txBox="1"/>
          <p:nvPr/>
        </p:nvSpPr>
        <p:spPr>
          <a:xfrm>
            <a:off x="670559" y="345323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7" name="C">
            <a:extLst>
              <a:ext uri="{FF2B5EF4-FFF2-40B4-BE49-F238E27FC236}">
                <a16:creationId xmlns:a16="http://schemas.microsoft.com/office/drawing/2014/main" id="{D3215E6D-18DF-C467-159E-89115BB6D002}"/>
              </a:ext>
            </a:extLst>
          </p:cNvPr>
          <p:cNvSpPr txBox="1"/>
          <p:nvPr/>
        </p:nvSpPr>
        <p:spPr>
          <a:xfrm>
            <a:off x="670558" y="457551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8" name="D">
            <a:extLst>
              <a:ext uri="{FF2B5EF4-FFF2-40B4-BE49-F238E27FC236}">
                <a16:creationId xmlns:a16="http://schemas.microsoft.com/office/drawing/2014/main" id="{3BAA93D9-BB0B-16C6-0F20-368E3EA702A1}"/>
              </a:ext>
            </a:extLst>
          </p:cNvPr>
          <p:cNvSpPr txBox="1"/>
          <p:nvPr/>
        </p:nvSpPr>
        <p:spPr>
          <a:xfrm>
            <a:off x="670557" y="569778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8" name="Picture 7" descr="2 angles.">
            <a:extLst>
              <a:ext uri="{FF2B5EF4-FFF2-40B4-BE49-F238E27FC236}">
                <a16:creationId xmlns:a16="http://schemas.microsoft.com/office/drawing/2014/main" id="{A8426DD5-9AA4-9294-9582-18D5502BBE70}"/>
              </a:ext>
            </a:extLst>
          </p:cNvPr>
          <p:cNvPicPr>
            <a:picLocks noChangeAspect="1"/>
          </p:cNvPicPr>
          <p:nvPr/>
        </p:nvPicPr>
        <p:blipFill>
          <a:blip r:embed="rId4"/>
          <a:stretch>
            <a:fillRect/>
          </a:stretch>
        </p:blipFill>
        <p:spPr>
          <a:xfrm>
            <a:off x="7892803" y="1081084"/>
            <a:ext cx="2986069" cy="5239923"/>
          </a:xfrm>
          <a:prstGeom prst="rect">
            <a:avLst/>
          </a:prstGeom>
        </p:spPr>
      </p:pic>
      <p:sp>
        <p:nvSpPr>
          <p:cNvPr id="10" name="TextBox 9">
            <a:extLst>
              <a:ext uri="{FF2B5EF4-FFF2-40B4-BE49-F238E27FC236}">
                <a16:creationId xmlns:a16="http://schemas.microsoft.com/office/drawing/2014/main" id="{469F57C7-F7C3-A7A1-A7DA-3CFB798C28CE}"/>
              </a:ext>
            </a:extLst>
          </p:cNvPr>
          <p:cNvSpPr txBox="1"/>
          <p:nvPr/>
        </p:nvSpPr>
        <p:spPr>
          <a:xfrm>
            <a:off x="830600" y="1391920"/>
            <a:ext cx="6910600" cy="4618252"/>
          </a:xfrm>
          <a:prstGeom prst="rect">
            <a:avLst/>
          </a:prstGeom>
          <a:noFill/>
        </p:spPr>
        <p:txBody>
          <a:bodyPr wrap="square">
            <a:spAutoFit/>
          </a:bodyPr>
          <a:lstStyle/>
          <a:p>
            <a:pPr marL="342900" lvl="0" indent="-342900" algn="ctr">
              <a:lnSpc>
                <a:spcPct val="150000"/>
              </a:lnSpc>
              <a:spcBef>
                <a:spcPts val="1200"/>
              </a:spcBef>
              <a:spcAft>
                <a:spcPts val="600"/>
              </a:spcAft>
              <a:buFont typeface="Arial" panose="020B0604020202020204" pitchFamily="34" charset="0"/>
              <a:buChar char="•"/>
            </a:pPr>
            <a:r>
              <a:rPr lang="en-AU" sz="4800">
                <a:effectLst/>
                <a:latin typeface="Arial" panose="020B0604020202020204" pitchFamily="34" charset="0"/>
                <a:ea typeface="Calibri" panose="020F0502020204030204" pitchFamily="34" charset="0"/>
                <a:cs typeface="Times New Roman" panose="02020603050405020304" pitchFamily="18" charset="0"/>
              </a:rPr>
              <a:t>How are these angles </a:t>
            </a:r>
            <a:r>
              <a:rPr lang="en-AU" sz="4800" b="1">
                <a:effectLst/>
                <a:latin typeface="Arial" panose="020B0604020202020204" pitchFamily="34" charset="0"/>
                <a:ea typeface="Calibri" panose="020F0502020204030204" pitchFamily="34" charset="0"/>
                <a:cs typeface="Times New Roman" panose="02020603050405020304" pitchFamily="18" charset="0"/>
              </a:rPr>
              <a:t>the same</a:t>
            </a:r>
            <a:r>
              <a:rPr lang="en-AU" sz="4800">
                <a:effectLst/>
                <a:latin typeface="Arial" panose="020B0604020202020204" pitchFamily="34" charset="0"/>
                <a:ea typeface="Calibri" panose="020F0502020204030204" pitchFamily="34" charset="0"/>
                <a:cs typeface="Times New Roman" panose="02020603050405020304" pitchFamily="18" charset="0"/>
              </a:rPr>
              <a:t>?</a:t>
            </a:r>
          </a:p>
          <a:p>
            <a:pPr marL="342900" lvl="0" indent="-342900" algn="ctr">
              <a:lnSpc>
                <a:spcPct val="150000"/>
              </a:lnSpc>
              <a:spcBef>
                <a:spcPts val="1200"/>
              </a:spcBef>
              <a:spcAft>
                <a:spcPts val="600"/>
              </a:spcAft>
              <a:buFont typeface="Arial" panose="020B0604020202020204" pitchFamily="34" charset="0"/>
              <a:buChar char="•"/>
            </a:pPr>
            <a:r>
              <a:rPr lang="en-AU" sz="4800">
                <a:effectLst/>
                <a:latin typeface="Arial" panose="020B0604020202020204" pitchFamily="34" charset="0"/>
                <a:ea typeface="Calibri" panose="020F0502020204030204" pitchFamily="34" charset="0"/>
                <a:cs typeface="Times New Roman" panose="02020603050405020304" pitchFamily="18" charset="0"/>
              </a:rPr>
              <a:t>How are they </a:t>
            </a:r>
            <a:r>
              <a:rPr lang="en-AU" sz="4800" b="1">
                <a:effectLst/>
                <a:latin typeface="Arial" panose="020B0604020202020204" pitchFamily="34" charset="0"/>
                <a:ea typeface="Calibri" panose="020F0502020204030204" pitchFamily="34" charset="0"/>
                <a:cs typeface="Times New Roman" panose="02020603050405020304" pitchFamily="18" charset="0"/>
              </a:rPr>
              <a:t>different</a:t>
            </a:r>
            <a:r>
              <a:rPr lang="en-AU" sz="4800">
                <a:effectLst/>
                <a:latin typeface="Arial" panose="020B060402020202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7" name="TextBox 6">
            <a:extLst>
              <a:ext uri="{FF2B5EF4-FFF2-40B4-BE49-F238E27FC236}">
                <a16:creationId xmlns:a16="http://schemas.microsoft.com/office/drawing/2014/main" id="{0D0E2164-1BB8-4794-5DEB-00223A703467}"/>
              </a:ext>
            </a:extLst>
          </p:cNvPr>
          <p:cNvSpPr txBox="1"/>
          <p:nvPr/>
        </p:nvSpPr>
        <p:spPr>
          <a:xfrm>
            <a:off x="775970" y="1236513"/>
            <a:ext cx="9001760" cy="1010337"/>
          </a:xfrm>
          <a:prstGeom prst="rect">
            <a:avLst/>
          </a:prstGeom>
          <a:noFill/>
        </p:spPr>
        <p:txBody>
          <a:bodyPr wrap="square" lIns="0" tIns="0" rIns="0" bIns="0" rtlCol="0">
            <a:noAutofit/>
          </a:bodyPr>
          <a:lstStyle/>
          <a:p>
            <a:pPr algn="l"/>
            <a:r>
              <a:rPr lang="en-AU" sz="4400" b="1"/>
              <a:t>Match</a:t>
            </a:r>
            <a:r>
              <a:rPr lang="en-AU" sz="4400"/>
              <a:t> the </a:t>
            </a:r>
            <a:r>
              <a:rPr lang="en-AU" sz="4400" b="1"/>
              <a:t>features</a:t>
            </a:r>
            <a:r>
              <a:rPr lang="en-AU" sz="4400"/>
              <a:t> to the </a:t>
            </a:r>
            <a:r>
              <a:rPr lang="en-AU" sz="4400" b="1"/>
              <a:t>labels. </a:t>
            </a:r>
          </a:p>
        </p:txBody>
      </p:sp>
      <p:sp>
        <p:nvSpPr>
          <p:cNvPr id="10" name="TextBox 9">
            <a:extLst>
              <a:ext uri="{FF2B5EF4-FFF2-40B4-BE49-F238E27FC236}">
                <a16:creationId xmlns:a16="http://schemas.microsoft.com/office/drawing/2014/main" id="{BA3DDD04-BFB2-C9A4-3EC2-00772569AEB8}"/>
              </a:ext>
            </a:extLst>
          </p:cNvPr>
          <p:cNvSpPr txBox="1"/>
          <p:nvPr/>
        </p:nvSpPr>
        <p:spPr>
          <a:xfrm>
            <a:off x="1095016" y="2565576"/>
            <a:ext cx="3248384" cy="1408649"/>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4000">
                <a:latin typeface="Edu NSW ACT Foundation" pitchFamily="2" charset="0"/>
              </a:rPr>
              <a:t>flat surface</a:t>
            </a:r>
            <a:endParaRPr lang="en-AU" sz="1800">
              <a:latin typeface="Edu NSW ACT Foundation" pitchFamily="2" charset="0"/>
            </a:endParaRPr>
          </a:p>
        </p:txBody>
      </p:sp>
      <p:sp>
        <p:nvSpPr>
          <p:cNvPr id="11" name="TextBox 10">
            <a:extLst>
              <a:ext uri="{FF2B5EF4-FFF2-40B4-BE49-F238E27FC236}">
                <a16:creationId xmlns:a16="http://schemas.microsoft.com/office/drawing/2014/main" id="{EE0166D2-1833-7BCF-EBF4-14A0008130C4}"/>
              </a:ext>
            </a:extLst>
          </p:cNvPr>
          <p:cNvSpPr txBox="1"/>
          <p:nvPr/>
        </p:nvSpPr>
        <p:spPr>
          <a:xfrm>
            <a:off x="1095016" y="4611150"/>
            <a:ext cx="3248384" cy="1408649"/>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4000">
                <a:latin typeface="Edu NSW ACT Foundation" pitchFamily="2" charset="0"/>
              </a:rPr>
              <a:t>curved surface</a:t>
            </a:r>
            <a:endParaRPr lang="en-AU" sz="1800">
              <a:latin typeface="Edu NSW ACT Foundation" pitchFamily="2" charset="0"/>
            </a:endParaRPr>
          </a:p>
        </p:txBody>
      </p:sp>
      <p:pic>
        <p:nvPicPr>
          <p:cNvPr id="14" name="Picture 13" descr="A cylinder with the surfaces labelled as A and B. ">
            <a:extLst>
              <a:ext uri="{FF2B5EF4-FFF2-40B4-BE49-F238E27FC236}">
                <a16:creationId xmlns:a16="http://schemas.microsoft.com/office/drawing/2014/main" id="{89BCB880-4E00-1A18-B54D-62CDFB16DD79}"/>
              </a:ext>
            </a:extLst>
          </p:cNvPr>
          <p:cNvPicPr>
            <a:picLocks noChangeAspect="1"/>
          </p:cNvPicPr>
          <p:nvPr/>
        </p:nvPicPr>
        <p:blipFill>
          <a:blip r:embed="rId4"/>
          <a:srcRect t="10144" b="9724"/>
          <a:stretch>
            <a:fillRect/>
          </a:stretch>
        </p:blipFill>
        <p:spPr>
          <a:xfrm>
            <a:off x="5559561" y="2246850"/>
            <a:ext cx="5505209" cy="4251150"/>
          </a:xfrm>
          <a:prstGeom prst="rect">
            <a:avLst/>
          </a:prstGeom>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5" name="Picture 4" descr="A map of a town with roads and a river running through (top left to bottom right).&#10;&#10;Landmarks are at the following grid references:&#10;A8: house&#10;A5-A6: bus stop&#10;C5: pond&#10;C6-E6: park&#10;E1-F1: hospital&#10;E7-F7: bridge&#10;E10: apple tree&#10;F5: house&#10;F9: house&#10;G6: house&#10;H4: house&#10;I8: house&#10;I6-I7 Field">
            <a:extLst>
              <a:ext uri="{FF2B5EF4-FFF2-40B4-BE49-F238E27FC236}">
                <a16:creationId xmlns:a16="http://schemas.microsoft.com/office/drawing/2014/main" id="{23E828AF-F951-1058-509E-421BB2A4101F}"/>
              </a:ext>
            </a:extLst>
          </p:cNvPr>
          <p:cNvPicPr>
            <a:picLocks noChangeAspect="1"/>
          </p:cNvPicPr>
          <p:nvPr/>
        </p:nvPicPr>
        <p:blipFill>
          <a:blip r:embed="rId4"/>
          <a:stretch>
            <a:fillRect/>
          </a:stretch>
        </p:blipFill>
        <p:spPr>
          <a:xfrm>
            <a:off x="5704721" y="1324893"/>
            <a:ext cx="6013374" cy="5371107"/>
          </a:xfrm>
          <a:prstGeom prst="rect">
            <a:avLst/>
          </a:prstGeom>
        </p:spPr>
      </p:pic>
      <p:sp>
        <p:nvSpPr>
          <p:cNvPr id="7" name="TextBox 6">
            <a:extLst>
              <a:ext uri="{FF2B5EF4-FFF2-40B4-BE49-F238E27FC236}">
                <a16:creationId xmlns:a16="http://schemas.microsoft.com/office/drawing/2014/main" id="{5F9F9260-E81C-09AB-26F2-A5857AFF03DD}"/>
              </a:ext>
            </a:extLst>
          </p:cNvPr>
          <p:cNvSpPr txBox="1"/>
          <p:nvPr/>
        </p:nvSpPr>
        <p:spPr>
          <a:xfrm>
            <a:off x="246023" y="1087893"/>
            <a:ext cx="5458697" cy="4067786"/>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4000"/>
              <a:t>Use the </a:t>
            </a:r>
            <a:r>
              <a:rPr lang="en-AU" sz="4000" b="1"/>
              <a:t>grid map </a:t>
            </a:r>
            <a:r>
              <a:rPr lang="en-AU" sz="4000"/>
              <a:t>and </a:t>
            </a:r>
            <a:r>
              <a:rPr lang="en-AU" sz="4000" b="1"/>
              <a:t>compass directions </a:t>
            </a:r>
            <a:r>
              <a:rPr lang="en-AU" sz="4000"/>
              <a:t>to record a route from the </a:t>
            </a:r>
            <a:r>
              <a:rPr lang="en-AU" sz="4000" b="1"/>
              <a:t>pond</a:t>
            </a:r>
            <a:r>
              <a:rPr lang="en-AU" sz="4000"/>
              <a:t> to the </a:t>
            </a:r>
            <a:r>
              <a:rPr lang="en-AU" sz="4000" b="1"/>
              <a:t>tree</a:t>
            </a:r>
            <a:r>
              <a:rPr lang="en-AU" sz="4000"/>
              <a:t>.</a:t>
            </a:r>
          </a:p>
        </p:txBody>
      </p:sp>
      <p:sp>
        <p:nvSpPr>
          <p:cNvPr id="11" name="Arrow: Right 10">
            <a:extLst>
              <a:ext uri="{FF2B5EF4-FFF2-40B4-BE49-F238E27FC236}">
                <a16:creationId xmlns:a16="http://schemas.microsoft.com/office/drawing/2014/main" id="{E888AB59-59CB-6EE6-C21A-33DA66C62969}"/>
              </a:ext>
              <a:ext uri="{C183D7F6-B498-43B3-948B-1728B52AA6E4}">
                <adec:decorative xmlns:adec="http://schemas.microsoft.com/office/drawing/2017/decorative" val="1"/>
              </a:ext>
            </a:extLst>
          </p:cNvPr>
          <p:cNvSpPr/>
          <p:nvPr/>
        </p:nvSpPr>
        <p:spPr>
          <a:xfrm>
            <a:off x="2132020" y="5641572"/>
            <a:ext cx="768389" cy="2237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3" name="Picture 12" descr="Tree">
            <a:extLst>
              <a:ext uri="{FF2B5EF4-FFF2-40B4-BE49-F238E27FC236}">
                <a16:creationId xmlns:a16="http://schemas.microsoft.com/office/drawing/2014/main" id="{56CD5461-B9A1-9AF7-3378-68E24B63AD31}"/>
              </a:ext>
            </a:extLst>
          </p:cNvPr>
          <p:cNvPicPr>
            <a:picLocks noChangeAspect="1"/>
          </p:cNvPicPr>
          <p:nvPr/>
        </p:nvPicPr>
        <p:blipFill>
          <a:blip r:embed="rId5"/>
          <a:stretch>
            <a:fillRect/>
          </a:stretch>
        </p:blipFill>
        <p:spPr>
          <a:xfrm>
            <a:off x="3050336" y="5155679"/>
            <a:ext cx="981222" cy="969255"/>
          </a:xfrm>
          <a:prstGeom prst="rect">
            <a:avLst/>
          </a:prstGeom>
        </p:spPr>
      </p:pic>
      <p:pic>
        <p:nvPicPr>
          <p:cNvPr id="15" name="Picture 14" descr="pond">
            <a:extLst>
              <a:ext uri="{FF2B5EF4-FFF2-40B4-BE49-F238E27FC236}">
                <a16:creationId xmlns:a16="http://schemas.microsoft.com/office/drawing/2014/main" id="{59881B50-7829-A622-F81D-0119CF038534}"/>
              </a:ext>
            </a:extLst>
          </p:cNvPr>
          <p:cNvPicPr>
            <a:picLocks noChangeAspect="1"/>
          </p:cNvPicPr>
          <p:nvPr/>
        </p:nvPicPr>
        <p:blipFill>
          <a:blip r:embed="rId6"/>
          <a:stretch>
            <a:fillRect/>
          </a:stretch>
        </p:blipFill>
        <p:spPr>
          <a:xfrm>
            <a:off x="1052952" y="5477225"/>
            <a:ext cx="838243" cy="552478"/>
          </a:xfrm>
          <a:prstGeom prst="rect">
            <a:avLst/>
          </a:prstGeom>
        </p:spPr>
      </p:pic>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4" name="TextBox 3">
            <a:extLst>
              <a:ext uri="{FF2B5EF4-FFF2-40B4-BE49-F238E27FC236}">
                <a16:creationId xmlns:a16="http://schemas.microsoft.com/office/drawing/2014/main" id="{BE83F85B-7CD7-957D-911F-334A3941CEFD}"/>
              </a:ext>
            </a:extLst>
          </p:cNvPr>
          <p:cNvSpPr txBox="1"/>
          <p:nvPr/>
        </p:nvSpPr>
        <p:spPr>
          <a:xfrm>
            <a:off x="1271239" y="2259981"/>
            <a:ext cx="9233210" cy="2475571"/>
          </a:xfrm>
          <a:prstGeom prst="rect">
            <a:avLst/>
          </a:prstGeom>
          <a:noFill/>
        </p:spPr>
        <p:txBody>
          <a:bodyPr wrap="square" lIns="0" tIns="0" rIns="0" bIns="0" rtlCol="0">
            <a:noAutofit/>
          </a:bodyPr>
          <a:lstStyle/>
          <a:p>
            <a:pPr algn="ctr">
              <a:lnSpc>
                <a:spcPct val="150000"/>
              </a:lnSpc>
            </a:pPr>
            <a:r>
              <a:rPr lang="en-AU" sz="4400"/>
              <a:t>How many </a:t>
            </a:r>
            <a:r>
              <a:rPr lang="en-AU" sz="4400" b="1"/>
              <a:t>millimetres</a:t>
            </a:r>
            <a:r>
              <a:rPr lang="en-AU" sz="4400"/>
              <a:t> are there in </a:t>
            </a:r>
            <a:r>
              <a:rPr lang="en-AU" sz="4400" b="1"/>
              <a:t>one centimetre</a:t>
            </a:r>
            <a:r>
              <a:rPr lang="en-AU" sz="4400"/>
              <a:t>?</a:t>
            </a:r>
          </a:p>
          <a:p>
            <a:pPr algn="l"/>
            <a:endParaRPr lang="en-AU" sz="1800"/>
          </a:p>
          <a:p>
            <a:pPr algn="l"/>
            <a:endParaRPr lang="en-AU" sz="1800"/>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25</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3 – labelling thirds and fifths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D8076EF-9A04-8C93-431E-969D3CF07353}"/>
                  </a:ext>
                </a:extLst>
              </p:cNvPr>
              <p:cNvSpPr txBox="1"/>
              <p:nvPr/>
            </p:nvSpPr>
            <p:spPr>
              <a:xfrm>
                <a:off x="946331" y="1290433"/>
                <a:ext cx="10177669" cy="5196038"/>
              </a:xfrm>
              <a:prstGeom prst="rect">
                <a:avLst/>
              </a:prstGeom>
              <a:noFill/>
            </p:spPr>
            <p:txBody>
              <a:bodyPr wrap="square">
                <a:spAutoFit/>
              </a:bodyPr>
              <a:lstStyle/>
              <a:p>
                <a:pPr lvl="0"/>
                <a:endParaRPr lang="en-AU"/>
              </a:p>
              <a:p>
                <a:pPr lvl="0"/>
                <a:r>
                  <a:rPr lang="en-AU" sz="3000"/>
                  <a:t>Which is </a:t>
                </a:r>
                <a:r>
                  <a:rPr lang="en-AU" sz="3000" b="1"/>
                  <a:t>larger</a:t>
                </a:r>
                <a:r>
                  <a:rPr lang="en-AU" sz="3000"/>
                  <a:t>: </a:t>
                </a:r>
                <a14:m>
                  <m:oMath xmlns:m="http://schemas.openxmlformats.org/officeDocument/2006/math">
                    <m:f>
                      <m:fPr>
                        <m:ctrlPr>
                          <a:rPr lang="en-AU" sz="3000" i="1">
                            <a:latin typeface="Cambria Math" panose="02040503050406030204" pitchFamily="18" charset="0"/>
                          </a:rPr>
                        </m:ctrlPr>
                      </m:fPr>
                      <m:num>
                        <m:r>
                          <a:rPr lang="en-AU" sz="3000">
                            <a:latin typeface="Cambria Math" panose="02040503050406030204" pitchFamily="18" charset="0"/>
                          </a:rPr>
                          <m:t>2</m:t>
                        </m:r>
                      </m:num>
                      <m:den>
                        <m:r>
                          <a:rPr lang="en-AU" sz="3000">
                            <a:latin typeface="Cambria Math" panose="02040503050406030204" pitchFamily="18" charset="0"/>
                          </a:rPr>
                          <m:t>3</m:t>
                        </m:r>
                      </m:den>
                    </m:f>
                  </m:oMath>
                </a14:m>
                <a:r>
                  <a:rPr lang="en-AU" sz="3000"/>
                  <a:t> or </a:t>
                </a:r>
                <a14:m>
                  <m:oMath xmlns:m="http://schemas.openxmlformats.org/officeDocument/2006/math">
                    <m:f>
                      <m:fPr>
                        <m:ctrlPr>
                          <a:rPr lang="en-AU" sz="3000" i="1">
                            <a:latin typeface="Cambria Math" panose="02040503050406030204" pitchFamily="18" charset="0"/>
                          </a:rPr>
                        </m:ctrlPr>
                      </m:fPr>
                      <m:num>
                        <m:r>
                          <a:rPr lang="en-AU" sz="3000">
                            <a:latin typeface="Cambria Math" panose="02040503050406030204" pitchFamily="18" charset="0"/>
                          </a:rPr>
                          <m:t>4</m:t>
                        </m:r>
                      </m:num>
                      <m:den>
                        <m:r>
                          <a:rPr lang="en-AU" sz="3000">
                            <a:latin typeface="Cambria Math" panose="02040503050406030204" pitchFamily="18" charset="0"/>
                          </a:rPr>
                          <m:t>5</m:t>
                        </m:r>
                      </m:den>
                    </m:f>
                  </m:oMath>
                </a14:m>
                <a:r>
                  <a:rPr lang="en-AU" sz="3000"/>
                  <a:t>?</a:t>
                </a:r>
              </a:p>
              <a:p>
                <a:pPr lvl="0"/>
                <a:endParaRPr lang="en-AU" sz="3000"/>
              </a:p>
              <a:p>
                <a:pPr lvl="0"/>
                <a:r>
                  <a:rPr lang="en-AU" sz="3000"/>
                  <a:t>Fold one strip of paper to create to create thirds.</a:t>
                </a:r>
                <a:r>
                  <a:rPr lang="en-AU" sz="3000" b="1"/>
                  <a:t> Label the fractions </a:t>
                </a:r>
                <a:r>
                  <a:rPr lang="en-AU" sz="3000"/>
                  <a:t>and identify the </a:t>
                </a:r>
                <a:r>
                  <a:rPr lang="en-AU" sz="3000" b="1"/>
                  <a:t>correct position </a:t>
                </a:r>
                <a:r>
                  <a:rPr lang="en-AU" sz="3000"/>
                  <a:t>of  </a:t>
                </a:r>
                <a14:m>
                  <m:oMath xmlns:m="http://schemas.openxmlformats.org/officeDocument/2006/math">
                    <m:f>
                      <m:fPr>
                        <m:ctrlPr>
                          <a:rPr lang="en-AU" sz="3000" i="1">
                            <a:latin typeface="Cambria Math" panose="02040503050406030204" pitchFamily="18" charset="0"/>
                          </a:rPr>
                        </m:ctrlPr>
                      </m:fPr>
                      <m:num>
                        <m:r>
                          <a:rPr lang="en-AU" sz="3000">
                            <a:latin typeface="Cambria Math" panose="02040503050406030204" pitchFamily="18" charset="0"/>
                          </a:rPr>
                          <m:t>2</m:t>
                        </m:r>
                      </m:num>
                      <m:den>
                        <m:r>
                          <a:rPr lang="en-AU" sz="3000">
                            <a:latin typeface="Cambria Math" panose="02040503050406030204" pitchFamily="18" charset="0"/>
                          </a:rPr>
                          <m:t>3</m:t>
                        </m:r>
                      </m:den>
                    </m:f>
                  </m:oMath>
                </a14:m>
                <a:r>
                  <a:rPr lang="en-AU" sz="3000"/>
                  <a:t>.</a:t>
                </a:r>
              </a:p>
              <a:p>
                <a:pPr lvl="0"/>
                <a:endParaRPr lang="en-AU" sz="3000"/>
              </a:p>
              <a:p>
                <a:pPr lvl="0"/>
                <a:r>
                  <a:rPr lang="en-AU" sz="3000"/>
                  <a:t>Fold the other strip of paper to </a:t>
                </a:r>
                <a:r>
                  <a:rPr lang="en-AU" sz="3000" b="1"/>
                  <a:t>create fifths</a:t>
                </a:r>
                <a:r>
                  <a:rPr lang="en-AU" sz="3000"/>
                  <a:t>. </a:t>
                </a:r>
                <a:r>
                  <a:rPr lang="en-AU" sz="3000" b="1"/>
                  <a:t>Label the fractions </a:t>
                </a:r>
                <a:r>
                  <a:rPr lang="en-AU" sz="3000"/>
                  <a:t>and identify the </a:t>
                </a:r>
                <a:r>
                  <a:rPr lang="en-AU" sz="3000" b="1"/>
                  <a:t>correct position </a:t>
                </a:r>
                <a:r>
                  <a:rPr lang="en-AU" sz="3000"/>
                  <a:t>of </a:t>
                </a:r>
                <a14:m>
                  <m:oMath xmlns:m="http://schemas.openxmlformats.org/officeDocument/2006/math">
                    <m:f>
                      <m:fPr>
                        <m:ctrlPr>
                          <a:rPr lang="en-AU" sz="3000" i="1">
                            <a:latin typeface="Cambria Math" panose="02040503050406030204" pitchFamily="18" charset="0"/>
                          </a:rPr>
                        </m:ctrlPr>
                      </m:fPr>
                      <m:num>
                        <m:r>
                          <a:rPr lang="en-AU" sz="3000">
                            <a:latin typeface="Cambria Math" panose="02040503050406030204" pitchFamily="18" charset="0"/>
                          </a:rPr>
                          <m:t>4</m:t>
                        </m:r>
                      </m:num>
                      <m:den>
                        <m:r>
                          <a:rPr lang="en-AU" sz="3000">
                            <a:latin typeface="Cambria Math" panose="02040503050406030204" pitchFamily="18" charset="0"/>
                          </a:rPr>
                          <m:t>5</m:t>
                        </m:r>
                      </m:den>
                    </m:f>
                    <m:r>
                      <a:rPr lang="en-AU" sz="3000" b="0" i="0" smtClean="0">
                        <a:latin typeface="Cambria Math" panose="02040503050406030204" pitchFamily="18" charset="0"/>
                      </a:rPr>
                      <m:t>.</m:t>
                    </m:r>
                  </m:oMath>
                </a14:m>
                <a:endParaRPr lang="en-AU" sz="3000"/>
              </a:p>
              <a:p>
                <a:pPr lvl="0"/>
                <a:endParaRPr lang="en-AU" sz="3000"/>
              </a:p>
              <a:p>
                <a:pPr lvl="0"/>
                <a:r>
                  <a:rPr lang="en-AU" sz="3000"/>
                  <a:t>Which one is </a:t>
                </a:r>
                <a:r>
                  <a:rPr lang="en-AU" sz="3000" b="1"/>
                  <a:t>larger</a:t>
                </a:r>
                <a:r>
                  <a:rPr lang="en-AU" sz="3000"/>
                  <a:t>? How do you know?</a:t>
                </a:r>
              </a:p>
            </p:txBody>
          </p:sp>
        </mc:Choice>
        <mc:Fallback xmlns="">
          <p:sp>
            <p:nvSpPr>
              <p:cNvPr id="11" name="TextBox 10">
                <a:extLst>
                  <a:ext uri="{FF2B5EF4-FFF2-40B4-BE49-F238E27FC236}">
                    <a16:creationId xmlns:a16="http://schemas.microsoft.com/office/drawing/2014/main" id="{8D8076EF-9A04-8C93-431E-969D3CF07353}"/>
                  </a:ext>
                </a:extLst>
              </p:cNvPr>
              <p:cNvSpPr txBox="1">
                <a:spLocks noRot="1" noChangeAspect="1" noMove="1" noResize="1" noEditPoints="1" noAdjustHandles="1" noChangeArrowheads="1" noChangeShapeType="1" noTextEdit="1"/>
              </p:cNvSpPr>
              <p:nvPr/>
            </p:nvSpPr>
            <p:spPr>
              <a:xfrm>
                <a:off x="946331" y="1290433"/>
                <a:ext cx="10177669" cy="5196038"/>
              </a:xfrm>
              <a:prstGeom prst="rect">
                <a:avLst/>
              </a:prstGeom>
              <a:blipFill>
                <a:blip r:embed="rId3"/>
                <a:stretch>
                  <a:fillRect l="-1377" r="-1557" b="-2700"/>
                </a:stretch>
              </a:blipFill>
            </p:spPr>
            <p:txBody>
              <a:bodyPr/>
              <a:lstStyle/>
              <a:p>
                <a:r>
                  <a:rPr lang="en-US">
                    <a:noFill/>
                  </a:rPr>
                  <a:t> </a:t>
                </a:r>
              </a:p>
            </p:txBody>
          </p:sp>
        </mc:Fallback>
      </mc:AlternateContent>
    </p:spTree>
    <p:extLst>
      <p:ext uri="{BB962C8B-B14F-4D97-AF65-F5344CB8AC3E}">
        <p14:creationId xmlns:p14="http://schemas.microsoft.com/office/powerpoint/2010/main" val="397274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2557462" y="2046911"/>
            <a:ext cx="7077076" cy="893226"/>
          </a:xfrm>
        </p:spPr>
        <p:txBody>
          <a:bodyPr/>
          <a:lstStyle/>
          <a:p>
            <a:r>
              <a:rPr lang="en-AU" sz="5400"/>
              <a:t>908 + 667 = 990 + 602</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1663556142"/>
              </p:ext>
            </p:extLst>
          </p:nvPr>
        </p:nvGraphicFramePr>
        <p:xfrm>
          <a:off x="2557462" y="391786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5" name="TextBox 4">
            <a:extLst>
              <a:ext uri="{FF2B5EF4-FFF2-40B4-BE49-F238E27FC236}">
                <a16:creationId xmlns:a16="http://schemas.microsoft.com/office/drawing/2014/main" id="{EC94CB45-ED7E-2758-91E3-C4832D5D7267}"/>
              </a:ext>
            </a:extLst>
          </p:cNvPr>
          <p:cNvSpPr txBox="1"/>
          <p:nvPr/>
        </p:nvSpPr>
        <p:spPr>
          <a:xfrm>
            <a:off x="1425284" y="5567679"/>
            <a:ext cx="9112469" cy="769441"/>
          </a:xfrm>
          <a:prstGeom prst="rect">
            <a:avLst/>
          </a:prstGeom>
          <a:noFill/>
        </p:spPr>
        <p:txBody>
          <a:bodyPr wrap="square">
            <a:spAutoFit/>
          </a:body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4" name="TextBox 3">
            <a:extLst>
              <a:ext uri="{FF2B5EF4-FFF2-40B4-BE49-F238E27FC236}">
                <a16:creationId xmlns:a16="http://schemas.microsoft.com/office/drawing/2014/main" id="{032F6C73-E815-C02C-32DD-697045269955}"/>
              </a:ext>
            </a:extLst>
          </p:cNvPr>
          <p:cNvSpPr txBox="1"/>
          <p:nvPr/>
        </p:nvSpPr>
        <p:spPr>
          <a:xfrm>
            <a:off x="995680" y="2042990"/>
            <a:ext cx="10034796" cy="1016000"/>
          </a:xfrm>
          <a:prstGeom prst="rect">
            <a:avLst/>
          </a:prstGeom>
          <a:noFill/>
        </p:spPr>
        <p:txBody>
          <a:bodyPr wrap="square" lIns="0" tIns="0" rIns="0" bIns="0" rtlCol="0">
            <a:noAutofit/>
          </a:bodyPr>
          <a:lstStyle/>
          <a:p>
            <a:pPr algn="ctr">
              <a:lnSpc>
                <a:spcPct val="150000"/>
              </a:lnSpc>
            </a:pPr>
            <a:r>
              <a:rPr lang="en-AU" sz="4400"/>
              <a:t>Is a </a:t>
            </a:r>
            <a:r>
              <a:rPr lang="en-AU" sz="4400" b="1"/>
              <a:t>right angle </a:t>
            </a:r>
            <a:r>
              <a:rPr lang="en-AU" sz="4400"/>
              <a:t>a </a:t>
            </a:r>
            <a:r>
              <a:rPr lang="en-AU" sz="4400" b="1"/>
              <a:t>quarter-turn</a:t>
            </a:r>
            <a:r>
              <a:rPr lang="en-AU" sz="4400"/>
              <a:t>? </a:t>
            </a:r>
          </a:p>
          <a:p>
            <a:pPr algn="ctr">
              <a:lnSpc>
                <a:spcPct val="150000"/>
              </a:lnSpc>
            </a:pPr>
            <a:endParaRPr lang="en-AU" sz="4400" b="1"/>
          </a:p>
          <a:p>
            <a:pPr algn="ctr">
              <a:lnSpc>
                <a:spcPct val="150000"/>
              </a:lnSpc>
            </a:pPr>
            <a:r>
              <a:rPr lang="en-AU" sz="4400" b="1"/>
              <a:t>Communicate </a:t>
            </a:r>
            <a:r>
              <a:rPr lang="en-AU" sz="4400"/>
              <a:t>your </a:t>
            </a:r>
            <a:r>
              <a:rPr lang="en-AU" sz="4400" b="1"/>
              <a:t>reasoning</a:t>
            </a:r>
            <a:r>
              <a:rPr lang="en-AU" sz="4400"/>
              <a:t>.</a:t>
            </a:r>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7" name="TextBox 6">
            <a:extLst>
              <a:ext uri="{FF2B5EF4-FFF2-40B4-BE49-F238E27FC236}">
                <a16:creationId xmlns:a16="http://schemas.microsoft.com/office/drawing/2014/main" id="{E7F4B9AA-7C50-2AB4-36EF-22BEBB10BDFF}"/>
              </a:ext>
            </a:extLst>
          </p:cNvPr>
          <p:cNvSpPr txBox="1"/>
          <p:nvPr/>
        </p:nvSpPr>
        <p:spPr>
          <a:xfrm>
            <a:off x="360000" y="1343942"/>
            <a:ext cx="11003280" cy="975360"/>
          </a:xfrm>
          <a:prstGeom prst="rect">
            <a:avLst/>
          </a:prstGeom>
          <a:noFill/>
        </p:spPr>
        <p:txBody>
          <a:bodyPr wrap="square" lIns="0" tIns="0" rIns="0" bIns="0" rtlCol="0">
            <a:noAutofit/>
          </a:bodyPr>
          <a:lstStyle/>
          <a:p>
            <a:pPr algn="ctr">
              <a:lnSpc>
                <a:spcPct val="150000"/>
              </a:lnSpc>
            </a:pPr>
            <a:r>
              <a:rPr lang="en-AU" sz="4400"/>
              <a:t>How are these shapes </a:t>
            </a:r>
            <a:r>
              <a:rPr lang="en-AU" sz="4400" b="1"/>
              <a:t>the same</a:t>
            </a:r>
            <a:r>
              <a:rPr lang="en-AU" sz="4400"/>
              <a:t>?</a:t>
            </a:r>
          </a:p>
          <a:p>
            <a:pPr algn="ctr">
              <a:lnSpc>
                <a:spcPct val="150000"/>
              </a:lnSpc>
            </a:pPr>
            <a:r>
              <a:rPr lang="en-AU" sz="4400"/>
              <a:t>How are they </a:t>
            </a:r>
            <a:r>
              <a:rPr lang="en-AU" sz="4400" b="1"/>
              <a:t>different</a:t>
            </a:r>
            <a:r>
              <a:rPr lang="en-AU" sz="4400"/>
              <a:t>?</a:t>
            </a:r>
          </a:p>
        </p:txBody>
      </p:sp>
      <p:pic>
        <p:nvPicPr>
          <p:cNvPr id="9" name="Picture 8" descr="A trapezium and a parallelogram.">
            <a:extLst>
              <a:ext uri="{FF2B5EF4-FFF2-40B4-BE49-F238E27FC236}">
                <a16:creationId xmlns:a16="http://schemas.microsoft.com/office/drawing/2014/main" id="{5BC2A6D3-5238-0C4E-EB24-19B25229E2E4}"/>
              </a:ext>
            </a:extLst>
          </p:cNvPr>
          <p:cNvPicPr>
            <a:picLocks noChangeAspect="1"/>
          </p:cNvPicPr>
          <p:nvPr/>
        </p:nvPicPr>
        <p:blipFill>
          <a:blip r:embed="rId4"/>
          <a:stretch>
            <a:fillRect/>
          </a:stretch>
        </p:blipFill>
        <p:spPr>
          <a:xfrm>
            <a:off x="2386597" y="3733004"/>
            <a:ext cx="7418806" cy="2764996"/>
          </a:xfrm>
          <a:prstGeom prst="rect">
            <a:avLst/>
          </a:prstGeom>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4" name="Picture 3" descr="A map of a town with roads and a river running through (top left to bottom right).&#10;&#10;Landmarks are at the following grid references:&#10;A8: house&#10;A5-A6: bus stop&#10;C5: pond&#10;C6-E6: park&#10;E1-F1: hospital&#10;E7-F7: bridge&#10;E10: apple tree&#10;F5: house&#10;F9: house&#10;G6: house&#10;H4: house&#10;I8: house&#10;I6-I7 Field">
            <a:extLst>
              <a:ext uri="{FF2B5EF4-FFF2-40B4-BE49-F238E27FC236}">
                <a16:creationId xmlns:a16="http://schemas.microsoft.com/office/drawing/2014/main" id="{E78EC31C-DB61-B178-B05E-7211B0456091}"/>
              </a:ext>
            </a:extLst>
          </p:cNvPr>
          <p:cNvPicPr>
            <a:picLocks noChangeAspect="1"/>
          </p:cNvPicPr>
          <p:nvPr/>
        </p:nvPicPr>
        <p:blipFill>
          <a:blip r:embed="rId4"/>
          <a:stretch>
            <a:fillRect/>
          </a:stretch>
        </p:blipFill>
        <p:spPr>
          <a:xfrm>
            <a:off x="5704720" y="1324893"/>
            <a:ext cx="6013374" cy="5371107"/>
          </a:xfrm>
          <a:prstGeom prst="rect">
            <a:avLst/>
          </a:prstGeom>
        </p:spPr>
      </p:pic>
      <p:sp>
        <p:nvSpPr>
          <p:cNvPr id="5" name="TextBox 4">
            <a:extLst>
              <a:ext uri="{FF2B5EF4-FFF2-40B4-BE49-F238E27FC236}">
                <a16:creationId xmlns:a16="http://schemas.microsoft.com/office/drawing/2014/main" id="{7FC1E87A-6387-50BF-1FD8-7AB4E6A39E0A}"/>
              </a:ext>
            </a:extLst>
          </p:cNvPr>
          <p:cNvSpPr txBox="1"/>
          <p:nvPr/>
        </p:nvSpPr>
        <p:spPr>
          <a:xfrm>
            <a:off x="246023" y="1087893"/>
            <a:ext cx="5458697" cy="4067786"/>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4000"/>
              <a:t>Use the </a:t>
            </a:r>
            <a:r>
              <a:rPr lang="en-AU" sz="4000" b="1"/>
              <a:t>grid map </a:t>
            </a:r>
            <a:r>
              <a:rPr lang="en-AU" sz="4000"/>
              <a:t>and </a:t>
            </a:r>
            <a:r>
              <a:rPr lang="en-AU" sz="4000" b="1"/>
              <a:t>compass directions </a:t>
            </a:r>
            <a:r>
              <a:rPr lang="en-AU" sz="4000"/>
              <a:t>to record a route from the </a:t>
            </a:r>
            <a:r>
              <a:rPr lang="en-AU" sz="4000" b="1"/>
              <a:t>green house </a:t>
            </a:r>
            <a:r>
              <a:rPr lang="en-AU" sz="4000"/>
              <a:t>to the </a:t>
            </a:r>
            <a:r>
              <a:rPr lang="en-AU" sz="4000" b="1"/>
              <a:t>hospital</a:t>
            </a:r>
            <a:r>
              <a:rPr lang="en-AU" sz="4000"/>
              <a:t>.</a:t>
            </a:r>
          </a:p>
        </p:txBody>
      </p:sp>
      <p:sp>
        <p:nvSpPr>
          <p:cNvPr id="8" name="Arrow: Right 7">
            <a:extLst>
              <a:ext uri="{FF2B5EF4-FFF2-40B4-BE49-F238E27FC236}">
                <a16:creationId xmlns:a16="http://schemas.microsoft.com/office/drawing/2014/main" id="{575141A2-6A5A-55A0-D0FA-0D501EAB6E8E}"/>
              </a:ext>
              <a:ext uri="{C183D7F6-B498-43B3-948B-1728B52AA6E4}">
                <adec:decorative xmlns:adec="http://schemas.microsoft.com/office/drawing/2017/decorative" val="1"/>
              </a:ext>
            </a:extLst>
          </p:cNvPr>
          <p:cNvSpPr/>
          <p:nvPr/>
        </p:nvSpPr>
        <p:spPr>
          <a:xfrm>
            <a:off x="2206982" y="6099921"/>
            <a:ext cx="768389" cy="2237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0" name="Picture 9" descr="Green house">
            <a:extLst>
              <a:ext uri="{FF2B5EF4-FFF2-40B4-BE49-F238E27FC236}">
                <a16:creationId xmlns:a16="http://schemas.microsoft.com/office/drawing/2014/main" id="{284F4BED-94C1-EBAF-8740-5B0EE55EF353}"/>
              </a:ext>
            </a:extLst>
          </p:cNvPr>
          <p:cNvPicPr>
            <a:picLocks noChangeAspect="1"/>
          </p:cNvPicPr>
          <p:nvPr/>
        </p:nvPicPr>
        <p:blipFill>
          <a:blip r:embed="rId5"/>
          <a:stretch>
            <a:fillRect/>
          </a:stretch>
        </p:blipFill>
        <p:spPr>
          <a:xfrm>
            <a:off x="835002" y="5753464"/>
            <a:ext cx="882695" cy="692186"/>
          </a:xfrm>
          <a:prstGeom prst="rect">
            <a:avLst/>
          </a:prstGeom>
        </p:spPr>
      </p:pic>
      <p:pic>
        <p:nvPicPr>
          <p:cNvPr id="12" name="Picture 11" descr="hospital">
            <a:extLst>
              <a:ext uri="{FF2B5EF4-FFF2-40B4-BE49-F238E27FC236}">
                <a16:creationId xmlns:a16="http://schemas.microsoft.com/office/drawing/2014/main" id="{3AF0874B-980E-4BBC-7805-8E1E33133CBF}"/>
              </a:ext>
            </a:extLst>
          </p:cNvPr>
          <p:cNvPicPr>
            <a:picLocks noChangeAspect="1"/>
          </p:cNvPicPr>
          <p:nvPr/>
        </p:nvPicPr>
        <p:blipFill>
          <a:blip r:embed="rId6"/>
          <a:stretch>
            <a:fillRect/>
          </a:stretch>
        </p:blipFill>
        <p:spPr>
          <a:xfrm>
            <a:off x="3464656" y="5753464"/>
            <a:ext cx="1492327" cy="895396"/>
          </a:xfrm>
          <a:prstGeom prst="rect">
            <a:avLst/>
          </a:prstGeom>
        </p:spPr>
      </p:pic>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8" name="TextBox 7">
            <a:extLst>
              <a:ext uri="{FF2B5EF4-FFF2-40B4-BE49-F238E27FC236}">
                <a16:creationId xmlns:a16="http://schemas.microsoft.com/office/drawing/2014/main" id="{A56FD4B3-1D74-7CE8-B4A8-EC6BAD177B17}"/>
              </a:ext>
            </a:extLst>
          </p:cNvPr>
          <p:cNvSpPr txBox="1"/>
          <p:nvPr/>
        </p:nvSpPr>
        <p:spPr>
          <a:xfrm>
            <a:off x="1177538" y="1047774"/>
            <a:ext cx="9500840" cy="1962615"/>
          </a:xfrm>
          <a:prstGeom prst="rect">
            <a:avLst/>
          </a:prstGeom>
          <a:noFill/>
        </p:spPr>
        <p:txBody>
          <a:bodyPr wrap="square" lIns="0" tIns="0" rIns="0" bIns="0" rtlCol="0">
            <a:noAutofit/>
          </a:bodyPr>
          <a:lstStyle/>
          <a:p>
            <a:pPr algn="ctr">
              <a:lnSpc>
                <a:spcPct val="150000"/>
              </a:lnSpc>
            </a:pPr>
            <a:r>
              <a:rPr lang="en-AU" sz="4000"/>
              <a:t>What word is used to describe the </a:t>
            </a:r>
            <a:r>
              <a:rPr lang="en-AU" sz="4000" b="1"/>
              <a:t>distance</a:t>
            </a:r>
            <a:r>
              <a:rPr lang="en-AU" sz="4000"/>
              <a:t> around a </a:t>
            </a:r>
            <a:r>
              <a:rPr lang="en-AU" sz="4000" b="1"/>
              <a:t>boundary</a:t>
            </a:r>
            <a:r>
              <a:rPr lang="en-AU" sz="4000"/>
              <a:t>?</a:t>
            </a:r>
          </a:p>
        </p:txBody>
      </p:sp>
      <p:pic>
        <p:nvPicPr>
          <p:cNvPr id="7" name="Picture 6" descr="An image of a basketball court">
            <a:extLst>
              <a:ext uri="{FF2B5EF4-FFF2-40B4-BE49-F238E27FC236}">
                <a16:creationId xmlns:a16="http://schemas.microsoft.com/office/drawing/2014/main" id="{DC23B726-0E64-0BCC-DAAE-452B8605A7F4}"/>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2720913" y="2931066"/>
            <a:ext cx="6414091" cy="3492036"/>
          </a:xfrm>
          <a:prstGeom prst="rect">
            <a:avLst/>
          </a:prstGeom>
        </p:spPr>
      </p:pic>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ordering thirds and fifths</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sp>
        <p:nvSpPr>
          <p:cNvPr id="7" name="TextBox 6">
            <a:extLst>
              <a:ext uri="{FF2B5EF4-FFF2-40B4-BE49-F238E27FC236}">
                <a16:creationId xmlns:a16="http://schemas.microsoft.com/office/drawing/2014/main" id="{5D11545C-3EDA-8A71-2CF4-6F49F94B9CBD}"/>
              </a:ext>
            </a:extLst>
          </p:cNvPr>
          <p:cNvSpPr txBox="1"/>
          <p:nvPr/>
        </p:nvSpPr>
        <p:spPr>
          <a:xfrm>
            <a:off x="508959" y="1259545"/>
            <a:ext cx="5762444" cy="672861"/>
          </a:xfrm>
          <a:prstGeom prst="rect">
            <a:avLst/>
          </a:prstGeom>
          <a:noFill/>
        </p:spPr>
        <p:txBody>
          <a:bodyPr wrap="square" lIns="0" tIns="0" rIns="0" bIns="0" rtlCol="0">
            <a:noAutofit/>
          </a:bodyPr>
          <a:lstStyle/>
          <a:p>
            <a:pPr>
              <a:lnSpc>
                <a:spcPct val="150000"/>
              </a:lnSpc>
            </a:pPr>
            <a:r>
              <a:rPr lang="en-AU" sz="3000"/>
              <a:t>There are 6 students in the race. use a paper strip to mark and represent the fraction distance for each runner. compare the fractional representations for each runner to determine who is winning the race.</a:t>
            </a:r>
          </a:p>
        </p:txBody>
      </p:sp>
      <p:pic>
        <p:nvPicPr>
          <p:cNvPr id="3" name="Picture 2" descr="6 children running. Each student is labelled with their name and a fraction representing the distance of the race they have run.&#10;Aria 2/5&#10;Harry 1/2&#10;Luca 3/5&#10;Hannah 1/3&#10;Ahmed 4/5&#10;Angela 2/3.">
            <a:extLst>
              <a:ext uri="{FF2B5EF4-FFF2-40B4-BE49-F238E27FC236}">
                <a16:creationId xmlns:a16="http://schemas.microsoft.com/office/drawing/2014/main" id="{4CA53DB3-D963-CBB4-552C-62123F08F38E}"/>
              </a:ext>
            </a:extLst>
          </p:cNvPr>
          <p:cNvPicPr>
            <a:picLocks noChangeAspect="1"/>
          </p:cNvPicPr>
          <p:nvPr/>
        </p:nvPicPr>
        <p:blipFill>
          <a:blip r:embed="rId4"/>
          <a:stretch>
            <a:fillRect/>
          </a:stretch>
        </p:blipFill>
        <p:spPr>
          <a:xfrm>
            <a:off x="6095999" y="1451202"/>
            <a:ext cx="6120130" cy="4308475"/>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39682-B13B-E2E6-A499-AE7CFEE8DF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D856DE-9E15-F340-6484-81955C31DCF4}"/>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(3)</a:t>
            </a:r>
          </a:p>
        </p:txBody>
      </p:sp>
      <p:sp>
        <p:nvSpPr>
          <p:cNvPr id="15" name="Text Placeholder">
            <a:extLst>
              <a:ext uri="{FF2B5EF4-FFF2-40B4-BE49-F238E27FC236}">
                <a16:creationId xmlns:a16="http://schemas.microsoft.com/office/drawing/2014/main" id="{C96A552F-AC6B-6B29-144E-B61A631E97CE}"/>
              </a:ext>
            </a:extLst>
          </p:cNvPr>
          <p:cNvSpPr>
            <a:spLocks noGrp="1"/>
          </p:cNvSpPr>
          <p:nvPr>
            <p:ph type="body" sz="quarter" idx="28"/>
          </p:nvPr>
        </p:nvSpPr>
        <p:spPr>
          <a:xfrm>
            <a:off x="4483426" y="1137409"/>
            <a:ext cx="3521887" cy="754243"/>
          </a:xfrm>
        </p:spPr>
        <p:txBody>
          <a:bodyPr/>
          <a:lstStyle/>
          <a:p>
            <a:r>
              <a:rPr lang="en-US" sz="5400"/>
              <a:t>32 - 13 =</a:t>
            </a:r>
          </a:p>
        </p:txBody>
      </p:sp>
      <p:sp>
        <p:nvSpPr>
          <p:cNvPr id="9" name="B">
            <a:extLst>
              <a:ext uri="{FF2B5EF4-FFF2-40B4-BE49-F238E27FC236}">
                <a16:creationId xmlns:a16="http://schemas.microsoft.com/office/drawing/2014/main" id="{8B0BBB3C-FC71-5899-8378-058EBBB23E5C}"/>
              </a:ext>
            </a:extLst>
          </p:cNvPr>
          <p:cNvSpPr txBox="1"/>
          <p:nvPr/>
        </p:nvSpPr>
        <p:spPr>
          <a:xfrm>
            <a:off x="670557" y="233096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617CAF57-D7E5-901C-098A-364EC0461F45}"/>
              </a:ext>
            </a:extLst>
          </p:cNvPr>
          <p:cNvSpPr>
            <a:spLocks noGrp="1"/>
          </p:cNvSpPr>
          <p:nvPr>
            <p:ph type="body" sz="quarter" idx="31"/>
          </p:nvPr>
        </p:nvSpPr>
        <p:spPr>
          <a:xfrm>
            <a:off x="1345520" y="2330426"/>
            <a:ext cx="10175920" cy="641396"/>
          </a:xfrm>
        </p:spPr>
        <p:txBody>
          <a:bodyPr anchor="ctr"/>
          <a:lstStyle/>
          <a:p>
            <a:r>
              <a:rPr lang="en-US" sz="3600"/>
              <a:t>31 - 10</a:t>
            </a:r>
          </a:p>
        </p:txBody>
      </p:sp>
      <p:sp>
        <p:nvSpPr>
          <p:cNvPr id="10" name="B">
            <a:extLst>
              <a:ext uri="{FF2B5EF4-FFF2-40B4-BE49-F238E27FC236}">
                <a16:creationId xmlns:a16="http://schemas.microsoft.com/office/drawing/2014/main" id="{1BD38033-43C3-A0A1-88CB-3ABF45A80763}"/>
              </a:ext>
            </a:extLst>
          </p:cNvPr>
          <p:cNvSpPr txBox="1"/>
          <p:nvPr/>
        </p:nvSpPr>
        <p:spPr>
          <a:xfrm>
            <a:off x="670559" y="345323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70250DA3-3DC6-9EA8-7604-90B40861762F}"/>
              </a:ext>
            </a:extLst>
          </p:cNvPr>
          <p:cNvSpPr>
            <a:spLocks noGrp="1"/>
          </p:cNvSpPr>
          <p:nvPr>
            <p:ph type="body" sz="quarter" idx="30"/>
          </p:nvPr>
        </p:nvSpPr>
        <p:spPr>
          <a:xfrm>
            <a:off x="1345520" y="3389136"/>
            <a:ext cx="10175920" cy="641396"/>
          </a:xfrm>
        </p:spPr>
        <p:txBody>
          <a:bodyPr anchor="ctr"/>
          <a:lstStyle/>
          <a:p>
            <a:r>
              <a:rPr lang="en-US" sz="3600"/>
              <a:t>30 - 11</a:t>
            </a:r>
          </a:p>
        </p:txBody>
      </p:sp>
      <p:sp>
        <p:nvSpPr>
          <p:cNvPr id="12" name="C">
            <a:extLst>
              <a:ext uri="{FF2B5EF4-FFF2-40B4-BE49-F238E27FC236}">
                <a16:creationId xmlns:a16="http://schemas.microsoft.com/office/drawing/2014/main" id="{8CBBF2BA-64EE-4290-7852-A8F6CCA03E54}"/>
              </a:ext>
            </a:extLst>
          </p:cNvPr>
          <p:cNvSpPr txBox="1"/>
          <p:nvPr/>
        </p:nvSpPr>
        <p:spPr>
          <a:xfrm>
            <a:off x="670558" y="457551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6A85EAC1-9E3A-72A5-46CB-2C4D277F778E}"/>
              </a:ext>
            </a:extLst>
          </p:cNvPr>
          <p:cNvSpPr>
            <a:spLocks noGrp="1"/>
          </p:cNvSpPr>
          <p:nvPr>
            <p:ph type="body" sz="quarter" idx="29"/>
          </p:nvPr>
        </p:nvSpPr>
        <p:spPr>
          <a:xfrm>
            <a:off x="1345520" y="4468611"/>
            <a:ext cx="10175920" cy="641396"/>
          </a:xfrm>
        </p:spPr>
        <p:txBody>
          <a:bodyPr anchor="ctr"/>
          <a:lstStyle/>
          <a:p>
            <a:r>
              <a:rPr lang="en-US" sz="3600"/>
              <a:t>30 - 16</a:t>
            </a:r>
          </a:p>
        </p:txBody>
      </p:sp>
      <p:sp>
        <p:nvSpPr>
          <p:cNvPr id="11" name="D">
            <a:extLst>
              <a:ext uri="{FF2B5EF4-FFF2-40B4-BE49-F238E27FC236}">
                <a16:creationId xmlns:a16="http://schemas.microsoft.com/office/drawing/2014/main" id="{388F2FE9-EF5E-B818-71B7-04503183ED79}"/>
              </a:ext>
            </a:extLst>
          </p:cNvPr>
          <p:cNvSpPr txBox="1"/>
          <p:nvPr/>
        </p:nvSpPr>
        <p:spPr>
          <a:xfrm>
            <a:off x="670557" y="569778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ECE21105-74CC-BDAC-6C3E-529F6564C0C4}"/>
              </a:ext>
            </a:extLst>
          </p:cNvPr>
          <p:cNvSpPr>
            <a:spLocks noGrp="1"/>
          </p:cNvSpPr>
          <p:nvPr>
            <p:ph type="body" sz="quarter" idx="27"/>
          </p:nvPr>
        </p:nvSpPr>
        <p:spPr>
          <a:xfrm>
            <a:off x="1345520" y="5691842"/>
            <a:ext cx="10175920" cy="641396"/>
          </a:xfrm>
        </p:spPr>
        <p:txBody>
          <a:bodyPr anchor="ctr"/>
          <a:lstStyle/>
          <a:p>
            <a:r>
              <a:rPr lang="en-US" sz="3600"/>
              <a:t>35 - 10</a:t>
            </a:r>
          </a:p>
        </p:txBody>
      </p:sp>
      <p:pic>
        <p:nvPicPr>
          <p:cNvPr id="4" name="Picture 3">
            <a:extLst>
              <a:ext uri="{FF2B5EF4-FFF2-40B4-BE49-F238E27FC236}">
                <a16:creationId xmlns:a16="http://schemas.microsoft.com/office/drawing/2014/main" id="{66E99097-B223-76CB-98A1-2D5773AF8E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8DFF93A7-A994-839D-06D7-96E09B120AB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7231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4" name="TextBox 3">
            <a:extLst>
              <a:ext uri="{FF2B5EF4-FFF2-40B4-BE49-F238E27FC236}">
                <a16:creationId xmlns:a16="http://schemas.microsoft.com/office/drawing/2014/main" id="{0D03A5C2-6F94-8404-B7E7-A8249CFAA12A}"/>
              </a:ext>
            </a:extLst>
          </p:cNvPr>
          <p:cNvSpPr txBox="1"/>
          <p:nvPr/>
        </p:nvSpPr>
        <p:spPr>
          <a:xfrm>
            <a:off x="505915" y="1184223"/>
            <a:ext cx="10863699" cy="1026160"/>
          </a:xfrm>
          <a:prstGeom prst="rect">
            <a:avLst/>
          </a:prstGeom>
          <a:noFill/>
        </p:spPr>
        <p:txBody>
          <a:bodyPr wrap="square" lIns="0" tIns="0" rIns="0" bIns="0" rtlCol="0">
            <a:noAutofit/>
          </a:bodyPr>
          <a:lstStyle/>
          <a:p>
            <a:pPr algn="ctr">
              <a:lnSpc>
                <a:spcPct val="150000"/>
              </a:lnSpc>
            </a:pPr>
            <a:r>
              <a:rPr lang="en-AU" sz="3600"/>
              <a:t>Which of these activities have a duration of </a:t>
            </a:r>
            <a:r>
              <a:rPr lang="en-AU" sz="3600" b="1"/>
              <a:t>longer than 1 minute? </a:t>
            </a:r>
          </a:p>
          <a:p>
            <a:pPr algn="ctr">
              <a:lnSpc>
                <a:spcPct val="150000"/>
              </a:lnSpc>
            </a:pPr>
            <a:r>
              <a:rPr lang="en-AU" sz="3600"/>
              <a:t>You may select </a:t>
            </a:r>
            <a:r>
              <a:rPr lang="en-AU" sz="3600" b="1"/>
              <a:t>more than one answer.</a:t>
            </a:r>
          </a:p>
          <a:p>
            <a:pPr marL="571500" indent="-571500" algn="ctr">
              <a:lnSpc>
                <a:spcPct val="150000"/>
              </a:lnSpc>
              <a:buFont typeface="Arial" panose="020B0604020202020204" pitchFamily="34" charset="0"/>
              <a:buChar char="•"/>
            </a:pPr>
            <a:r>
              <a:rPr lang="en-AU" sz="4000"/>
              <a:t>writing your name once</a:t>
            </a:r>
          </a:p>
          <a:p>
            <a:pPr marL="571500" indent="-571500" algn="ctr">
              <a:lnSpc>
                <a:spcPct val="150000"/>
              </a:lnSpc>
              <a:buFont typeface="Arial" panose="020B0604020202020204" pitchFamily="34" charset="0"/>
              <a:buChar char="•"/>
            </a:pPr>
            <a:r>
              <a:rPr lang="en-AU" sz="4000"/>
              <a:t>eating your lunch</a:t>
            </a:r>
          </a:p>
          <a:p>
            <a:pPr marL="571500" indent="-571500" algn="ctr">
              <a:lnSpc>
                <a:spcPct val="150000"/>
              </a:lnSpc>
              <a:buFont typeface="Arial" panose="020B0604020202020204" pitchFamily="34" charset="0"/>
              <a:buChar char="•"/>
            </a:pPr>
            <a:r>
              <a:rPr lang="en-AU" sz="4000"/>
              <a:t>reading a book</a:t>
            </a:r>
          </a:p>
          <a:p>
            <a:pPr marL="571500" indent="-571500" algn="ctr">
              <a:lnSpc>
                <a:spcPct val="150000"/>
              </a:lnSpc>
              <a:buFont typeface="Arial" panose="020B0604020202020204" pitchFamily="34" charset="0"/>
              <a:buChar char="•"/>
            </a:pPr>
            <a:endParaRPr lang="en-AU" sz="4400" b="1"/>
          </a:p>
          <a:p>
            <a:pPr marL="571500" indent="-571500" algn="ctr">
              <a:lnSpc>
                <a:spcPct val="150000"/>
              </a:lnSpc>
              <a:buFont typeface="Arial" panose="020B0604020202020204" pitchFamily="34" charset="0"/>
              <a:buChar char="•"/>
            </a:pPr>
            <a:endParaRPr lang="en-AU" sz="4400"/>
          </a:p>
          <a:p>
            <a:pPr algn="ctr">
              <a:lnSpc>
                <a:spcPct val="150000"/>
              </a:lnSpc>
            </a:pPr>
            <a:endParaRPr lang="en-AU" sz="4400"/>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8" name="TextBox 7">
            <a:extLst>
              <a:ext uri="{FF2B5EF4-FFF2-40B4-BE49-F238E27FC236}">
                <a16:creationId xmlns:a16="http://schemas.microsoft.com/office/drawing/2014/main" id="{F198049D-4576-A89F-8202-6A27C1C2C8CE}"/>
              </a:ext>
            </a:extLst>
          </p:cNvPr>
          <p:cNvSpPr txBox="1"/>
          <p:nvPr/>
        </p:nvSpPr>
        <p:spPr>
          <a:xfrm>
            <a:off x="246024" y="854023"/>
            <a:ext cx="11839296" cy="660400"/>
          </a:xfrm>
          <a:prstGeom prst="rect">
            <a:avLst/>
          </a:prstGeom>
          <a:noFill/>
        </p:spPr>
        <p:txBody>
          <a:bodyPr wrap="square" lIns="0" tIns="0" rIns="0" bIns="0" rtlCol="0">
            <a:noAutofit/>
          </a:bodyPr>
          <a:lstStyle/>
          <a:p>
            <a:pPr algn="ctr">
              <a:lnSpc>
                <a:spcPct val="150000"/>
              </a:lnSpc>
            </a:pPr>
            <a:r>
              <a:rPr lang="en-AU" sz="4400"/>
              <a:t>Do you think this milk container holds</a:t>
            </a:r>
          </a:p>
          <a:p>
            <a:pPr algn="ctr">
              <a:lnSpc>
                <a:spcPct val="150000"/>
              </a:lnSpc>
            </a:pPr>
            <a:r>
              <a:rPr lang="en-AU" sz="4400" b="1"/>
              <a:t>a litre</a:t>
            </a:r>
            <a:r>
              <a:rPr lang="en-AU" sz="4400"/>
              <a:t>? </a:t>
            </a:r>
          </a:p>
        </p:txBody>
      </p:sp>
      <p:pic>
        <p:nvPicPr>
          <p:cNvPr id="11" name="Picture 10" descr="An image of a milk carton">
            <a:extLst>
              <a:ext uri="{FF2B5EF4-FFF2-40B4-BE49-F238E27FC236}">
                <a16:creationId xmlns:a16="http://schemas.microsoft.com/office/drawing/2014/main" id="{4DBC3BCB-6E6B-CCBD-C74B-319A3A218FB7}"/>
              </a:ext>
            </a:extLst>
          </p:cNvPr>
          <p:cNvPicPr>
            <a:picLocks noChangeAspect="1"/>
          </p:cNvPicPr>
          <p:nvPr/>
        </p:nvPicPr>
        <p:blipFill>
          <a:blip r:embed="rId4"/>
          <a:stretch>
            <a:fillRect/>
          </a:stretch>
        </p:blipFill>
        <p:spPr>
          <a:xfrm>
            <a:off x="5254582" y="2752099"/>
            <a:ext cx="1682836" cy="2959252"/>
          </a:xfrm>
          <a:prstGeom prst="rect">
            <a:avLst/>
          </a:prstGeom>
        </p:spPr>
      </p:pic>
      <p:sp>
        <p:nvSpPr>
          <p:cNvPr id="5" name="TextBox 4">
            <a:extLst>
              <a:ext uri="{FF2B5EF4-FFF2-40B4-BE49-F238E27FC236}">
                <a16:creationId xmlns:a16="http://schemas.microsoft.com/office/drawing/2014/main" id="{185EEE16-A021-565A-F369-C4863FD0731A}"/>
              </a:ext>
            </a:extLst>
          </p:cNvPr>
          <p:cNvSpPr txBox="1"/>
          <p:nvPr/>
        </p:nvSpPr>
        <p:spPr>
          <a:xfrm>
            <a:off x="360000" y="5540738"/>
            <a:ext cx="11214804" cy="660400"/>
          </a:xfrm>
          <a:prstGeom prst="rect">
            <a:avLst/>
          </a:prstGeom>
          <a:noFill/>
        </p:spPr>
        <p:txBody>
          <a:bodyPr wrap="square" lIns="0" tIns="0" rIns="0" bIns="0" rtlCol="0">
            <a:noAutofit/>
          </a:bodyPr>
          <a:lstStyle/>
          <a:p>
            <a:pPr algn="ctr">
              <a:lnSpc>
                <a:spcPct val="150000"/>
              </a:lnSpc>
            </a:pPr>
            <a:r>
              <a:rPr lang="en-AU" sz="4400" b="1"/>
              <a:t>Communicate</a:t>
            </a:r>
            <a:r>
              <a:rPr lang="en-AU" sz="4400"/>
              <a:t> your</a:t>
            </a:r>
            <a:r>
              <a:rPr lang="en-AU" sz="4400" b="1"/>
              <a:t> reasoning</a:t>
            </a:r>
            <a:r>
              <a:rPr lang="en-AU" sz="4400"/>
              <a:t>.</a:t>
            </a: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7" name="TextBox 6">
            <a:extLst>
              <a:ext uri="{FF2B5EF4-FFF2-40B4-BE49-F238E27FC236}">
                <a16:creationId xmlns:a16="http://schemas.microsoft.com/office/drawing/2014/main" id="{D551CA66-B002-32AF-53C5-BE88176627A9}"/>
              </a:ext>
            </a:extLst>
          </p:cNvPr>
          <p:cNvSpPr txBox="1"/>
          <p:nvPr/>
        </p:nvSpPr>
        <p:spPr>
          <a:xfrm>
            <a:off x="683941" y="953952"/>
            <a:ext cx="10824118" cy="1256371"/>
          </a:xfrm>
          <a:prstGeom prst="rect">
            <a:avLst/>
          </a:prstGeom>
          <a:noFill/>
        </p:spPr>
        <p:txBody>
          <a:bodyPr wrap="square" lIns="0" tIns="0" rIns="0" bIns="0" rtlCol="0">
            <a:noAutofit/>
          </a:bodyPr>
          <a:lstStyle/>
          <a:p>
            <a:pPr algn="ctr">
              <a:lnSpc>
                <a:spcPct val="150000"/>
              </a:lnSpc>
            </a:pPr>
            <a:r>
              <a:rPr lang="en-AU" sz="4000"/>
              <a:t>Record if these chance events are </a:t>
            </a:r>
          </a:p>
          <a:p>
            <a:pPr algn="ctr">
              <a:lnSpc>
                <a:spcPct val="150000"/>
              </a:lnSpc>
            </a:pPr>
            <a:r>
              <a:rPr lang="en-AU" sz="4000" b="1"/>
              <a:t>equally</a:t>
            </a:r>
            <a:r>
              <a:rPr lang="en-AU" sz="4000"/>
              <a:t> </a:t>
            </a:r>
            <a:r>
              <a:rPr lang="en-AU" sz="4000" b="1"/>
              <a:t>likely</a:t>
            </a:r>
            <a:r>
              <a:rPr lang="en-AU" sz="4000"/>
              <a:t>, </a:t>
            </a:r>
            <a:r>
              <a:rPr lang="en-AU" sz="4000" b="1"/>
              <a:t>likely </a:t>
            </a:r>
            <a:r>
              <a:rPr lang="en-AU" sz="4000"/>
              <a:t>or </a:t>
            </a:r>
            <a:r>
              <a:rPr lang="en-AU" sz="4000" b="1"/>
              <a:t>unlikely</a:t>
            </a:r>
            <a:r>
              <a:rPr lang="en-AU" sz="4000"/>
              <a:t> to occur.</a:t>
            </a:r>
          </a:p>
          <a:p>
            <a:pPr marL="742950" indent="-742950" algn="l">
              <a:lnSpc>
                <a:spcPct val="150000"/>
              </a:lnSpc>
              <a:buAutoNum type="alphaLcPeriod"/>
            </a:pPr>
            <a:r>
              <a:rPr lang="en-AU" sz="4000"/>
              <a:t>You will </a:t>
            </a:r>
            <a:r>
              <a:rPr lang="en-AU" sz="4000" b="1"/>
              <a:t>eat lunch </a:t>
            </a:r>
            <a:r>
              <a:rPr lang="en-AU" sz="4000"/>
              <a:t>today</a:t>
            </a:r>
          </a:p>
          <a:p>
            <a:pPr marL="742950" indent="-742950" algn="l">
              <a:lnSpc>
                <a:spcPct val="150000"/>
              </a:lnSpc>
              <a:buAutoNum type="alphaLcPeriod"/>
            </a:pPr>
            <a:r>
              <a:rPr lang="en-AU" sz="4000"/>
              <a:t>You roll a </a:t>
            </a:r>
            <a:r>
              <a:rPr lang="en-AU" sz="4000" b="1"/>
              <a:t>1</a:t>
            </a:r>
            <a:r>
              <a:rPr lang="en-AU" sz="4000"/>
              <a:t> on a </a:t>
            </a:r>
            <a:r>
              <a:rPr lang="en-AU" sz="4000" b="1"/>
              <a:t>standard dice</a:t>
            </a:r>
          </a:p>
          <a:p>
            <a:pPr marL="742950" indent="-742950" algn="l">
              <a:lnSpc>
                <a:spcPct val="150000"/>
              </a:lnSpc>
              <a:buAutoNum type="alphaLcPeriod"/>
            </a:pPr>
            <a:r>
              <a:rPr lang="en-AU" sz="4000"/>
              <a:t>You choose a </a:t>
            </a:r>
            <a:r>
              <a:rPr lang="en-AU" sz="4000" b="1"/>
              <a:t>black card </a:t>
            </a:r>
            <a:r>
              <a:rPr lang="en-AU" sz="4000"/>
              <a:t>from a </a:t>
            </a:r>
            <a:r>
              <a:rPr lang="en-AU" sz="4000" b="1"/>
              <a:t>deck of cards.</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7" name="TextBox 6">
            <a:extLst>
              <a:ext uri="{FF2B5EF4-FFF2-40B4-BE49-F238E27FC236}">
                <a16:creationId xmlns:a16="http://schemas.microsoft.com/office/drawing/2014/main" id="{9997DC24-3F8A-E3BA-7139-33118FECC670}"/>
              </a:ext>
            </a:extLst>
          </p:cNvPr>
          <p:cNvSpPr txBox="1"/>
          <p:nvPr/>
        </p:nvSpPr>
        <p:spPr>
          <a:xfrm>
            <a:off x="1242161" y="1393653"/>
            <a:ext cx="9881839" cy="1241503"/>
          </a:xfrm>
          <a:prstGeom prst="rect">
            <a:avLst/>
          </a:prstGeom>
          <a:noFill/>
        </p:spPr>
        <p:txBody>
          <a:bodyPr wrap="square" lIns="0" tIns="0" rIns="0" bIns="0" rtlCol="0">
            <a:noAutofit/>
          </a:bodyPr>
          <a:lstStyle/>
          <a:p>
            <a:pPr algn="l">
              <a:lnSpc>
                <a:spcPct val="150000"/>
              </a:lnSpc>
            </a:pPr>
            <a:r>
              <a:rPr lang="en-AU" sz="4400" b="1"/>
              <a:t>Describe</a:t>
            </a:r>
            <a:r>
              <a:rPr lang="en-AU" sz="4400"/>
              <a:t> this </a:t>
            </a:r>
            <a:r>
              <a:rPr lang="en-AU" sz="4400" b="1"/>
              <a:t>two-dimensional</a:t>
            </a:r>
            <a:r>
              <a:rPr lang="en-AU" sz="4400"/>
              <a:t> shape.</a:t>
            </a:r>
            <a:endParaRPr lang="en-AU" sz="1800"/>
          </a:p>
          <a:p>
            <a:pPr algn="l"/>
            <a:endParaRPr lang="en-AU" sz="1800"/>
          </a:p>
        </p:txBody>
      </p:sp>
      <p:pic>
        <p:nvPicPr>
          <p:cNvPr id="10" name="Picture 9" descr="a kite shape">
            <a:extLst>
              <a:ext uri="{FF2B5EF4-FFF2-40B4-BE49-F238E27FC236}">
                <a16:creationId xmlns:a16="http://schemas.microsoft.com/office/drawing/2014/main" id="{F1F3BFFC-9E0C-F365-9590-8F2CE8898ED4}"/>
              </a:ext>
            </a:extLst>
          </p:cNvPr>
          <p:cNvPicPr>
            <a:picLocks noChangeAspect="1"/>
          </p:cNvPicPr>
          <p:nvPr/>
        </p:nvPicPr>
        <p:blipFill>
          <a:blip r:embed="rId4"/>
          <a:stretch>
            <a:fillRect/>
          </a:stretch>
        </p:blipFill>
        <p:spPr>
          <a:xfrm>
            <a:off x="4768782" y="2635156"/>
            <a:ext cx="2654436" cy="3645087"/>
          </a:xfrm>
          <a:prstGeom prst="rect">
            <a:avLst/>
          </a:prstGeom>
        </p:spPr>
      </p:pic>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balancing number sentences</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sp>
        <p:nvSpPr>
          <p:cNvPr id="5" name="TextBox 4">
            <a:extLst>
              <a:ext uri="{FF2B5EF4-FFF2-40B4-BE49-F238E27FC236}">
                <a16:creationId xmlns:a16="http://schemas.microsoft.com/office/drawing/2014/main" id="{F1D1CB5D-2026-B661-1843-9713D0DE566E}"/>
              </a:ext>
            </a:extLst>
          </p:cNvPr>
          <p:cNvSpPr txBox="1"/>
          <p:nvPr/>
        </p:nvSpPr>
        <p:spPr>
          <a:xfrm>
            <a:off x="553373" y="1182121"/>
            <a:ext cx="10662165" cy="5315879"/>
          </a:xfrm>
          <a:prstGeom prst="rect">
            <a:avLst/>
          </a:prstGeom>
          <a:noFill/>
        </p:spPr>
        <p:txBody>
          <a:bodyPr wrap="square" lIns="91440" tIns="45720" rIns="91440" bIns="45720" anchor="t">
            <a:spAutoFit/>
          </a:bodyPr>
          <a:lstStyle/>
          <a:p>
            <a:pPr marL="342900" lvl="0" indent="-342900">
              <a:lnSpc>
                <a:spcPct val="150000"/>
              </a:lnSpc>
              <a:spcBef>
                <a:spcPts val="1200"/>
              </a:spcBef>
              <a:spcAft>
                <a:spcPts val="600"/>
              </a:spcAft>
              <a:buFont typeface="Arial" panose="020B0604020202020204" pitchFamily="34" charset="0"/>
              <a:buChar char="•"/>
            </a:pPr>
            <a:r>
              <a:rPr lang="en-AU" sz="3000">
                <a:ea typeface="Calibri"/>
              </a:rPr>
              <a:t>R</a:t>
            </a:r>
            <a:r>
              <a:rPr lang="en-AU" sz="3000">
                <a:effectLst/>
                <a:latin typeface="Arial"/>
                <a:ea typeface="Calibri"/>
                <a:cs typeface="Arial"/>
              </a:rPr>
              <a:t>oll the dice </a:t>
            </a:r>
            <a:r>
              <a:rPr lang="en-AU" sz="3000">
                <a:ea typeface="Calibri"/>
              </a:rPr>
              <a:t>2 times</a:t>
            </a:r>
            <a:r>
              <a:rPr lang="en-AU" sz="3000">
                <a:effectLst/>
                <a:latin typeface="Arial"/>
                <a:ea typeface="Calibri"/>
                <a:cs typeface="Arial"/>
              </a:rPr>
              <a:t> to form </a:t>
            </a:r>
            <a:r>
              <a:rPr lang="en-AU" sz="3000" b="1">
                <a:effectLst/>
                <a:latin typeface="Arial"/>
                <a:ea typeface="Calibri"/>
                <a:cs typeface="Arial"/>
              </a:rPr>
              <a:t>two 2-digit numbers,</a:t>
            </a:r>
            <a:r>
              <a:rPr lang="en-AU" sz="3000">
                <a:effectLst/>
                <a:latin typeface="Arial"/>
                <a:ea typeface="Calibri"/>
                <a:cs typeface="Arial"/>
              </a:rPr>
              <a:t> for example, 26 and 32 and record a </a:t>
            </a:r>
            <a:r>
              <a:rPr lang="en-AU" sz="3000" b="1">
                <a:effectLst/>
                <a:latin typeface="Arial"/>
                <a:ea typeface="Calibri"/>
                <a:cs typeface="Arial"/>
              </a:rPr>
              <a:t>number sentence.</a:t>
            </a:r>
            <a:endParaRPr lang="en-US" b="1">
              <a:cs typeface="Arial" panose="020B0604020202020204"/>
            </a:endParaRPr>
          </a:p>
          <a:p>
            <a:pPr>
              <a:lnSpc>
                <a:spcPct val="150000"/>
              </a:lnSpc>
              <a:spcBef>
                <a:spcPts val="1200"/>
              </a:spcBef>
              <a:spcAft>
                <a:spcPts val="600"/>
              </a:spcAft>
            </a:pPr>
            <a:r>
              <a:rPr lang="en-AU" sz="3000">
                <a:latin typeface="Arial"/>
                <a:ea typeface="Calibri"/>
                <a:cs typeface="Arial"/>
              </a:rPr>
              <a:t>     </a:t>
            </a:r>
            <a:r>
              <a:rPr lang="en-AU" sz="3000">
                <a:effectLst/>
                <a:latin typeface="Arial"/>
                <a:ea typeface="Calibri"/>
                <a:cs typeface="Arial"/>
              </a:rPr>
              <a:t>26 + 32 =</a:t>
            </a:r>
          </a:p>
          <a:p>
            <a:pPr marL="342900" lvl="0" indent="-342900">
              <a:lnSpc>
                <a:spcPct val="150000"/>
              </a:lnSpc>
              <a:spcBef>
                <a:spcPts val="1200"/>
              </a:spcBef>
              <a:spcAft>
                <a:spcPts val="600"/>
              </a:spcAft>
              <a:buFont typeface="Arial" panose="020B0604020202020204" pitchFamily="34" charset="0"/>
              <a:buChar char="•"/>
            </a:pPr>
            <a:r>
              <a:rPr lang="en-AU" sz="3000">
                <a:effectLst/>
                <a:latin typeface="Arial"/>
                <a:ea typeface="Calibri"/>
                <a:cs typeface="Arial"/>
              </a:rPr>
              <a:t>In pairs, </a:t>
            </a:r>
            <a:r>
              <a:rPr lang="en-AU" sz="3000" b="1">
                <a:effectLst/>
                <a:latin typeface="Arial"/>
                <a:ea typeface="Calibri"/>
                <a:cs typeface="Arial"/>
              </a:rPr>
              <a:t>calculate</a:t>
            </a:r>
            <a:r>
              <a:rPr lang="en-AU" sz="3000">
                <a:effectLst/>
                <a:latin typeface="Arial"/>
                <a:ea typeface="Calibri"/>
                <a:cs typeface="Arial"/>
              </a:rPr>
              <a:t> two other </a:t>
            </a:r>
            <a:r>
              <a:rPr lang="en-AU" sz="3000" b="1">
                <a:effectLst/>
                <a:latin typeface="Arial"/>
                <a:ea typeface="Calibri"/>
                <a:cs typeface="Arial"/>
              </a:rPr>
              <a:t>2-digit numbers</a:t>
            </a:r>
            <a:r>
              <a:rPr lang="en-AU" sz="3000">
                <a:effectLst/>
                <a:latin typeface="Arial"/>
                <a:ea typeface="Calibri"/>
                <a:cs typeface="Arial"/>
              </a:rPr>
              <a:t> that could be written on the other side of the </a:t>
            </a:r>
            <a:r>
              <a:rPr lang="en-AU" sz="3000" b="1">
                <a:effectLst/>
                <a:latin typeface="Arial"/>
                <a:ea typeface="Calibri"/>
                <a:cs typeface="Arial"/>
              </a:rPr>
              <a:t>equal sign</a:t>
            </a:r>
            <a:r>
              <a:rPr lang="en-AU" sz="3000">
                <a:effectLst/>
                <a:latin typeface="Arial"/>
                <a:ea typeface="Calibri"/>
                <a:cs typeface="Arial"/>
              </a:rPr>
              <a:t> that would </a:t>
            </a:r>
            <a:r>
              <a:rPr lang="en-AU" sz="3000" b="1">
                <a:effectLst/>
                <a:latin typeface="Arial"/>
                <a:ea typeface="Calibri"/>
                <a:cs typeface="Arial"/>
              </a:rPr>
              <a:t>balance the number sentence</a:t>
            </a:r>
            <a:r>
              <a:rPr lang="en-AU" sz="3000">
                <a:effectLst/>
                <a:latin typeface="Arial"/>
                <a:ea typeface="Calibri"/>
                <a:cs typeface="Arial"/>
              </a:rPr>
              <a:t>. For example, 26 + 32 = 43 + 15.</a:t>
            </a:r>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10970" y="1883327"/>
            <a:ext cx="7779831" cy="893226"/>
          </a:xfrm>
        </p:spPr>
        <p:txBody>
          <a:bodyPr/>
          <a:lstStyle/>
          <a:p>
            <a:r>
              <a:rPr lang="en-AU" sz="5400"/>
              <a:t>82 </a:t>
            </a:r>
            <a:r>
              <a:rPr lang="en-US" sz="5400"/>
              <a:t>- </a:t>
            </a:r>
            <a:r>
              <a:rPr lang="en-AU" sz="5400"/>
              <a:t>13 = 85 - 10</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1758361804"/>
              </p:ext>
            </p:extLst>
          </p:nvPr>
        </p:nvGraphicFramePr>
        <p:xfrm>
          <a:off x="2442981" y="4081448"/>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5" name="TextBox 4">
            <a:extLst>
              <a:ext uri="{FF2B5EF4-FFF2-40B4-BE49-F238E27FC236}">
                <a16:creationId xmlns:a16="http://schemas.microsoft.com/office/drawing/2014/main" id="{B3AC7458-42D6-0DBE-2EAF-3D6C5CAB1C54}"/>
              </a:ext>
            </a:extLst>
          </p:cNvPr>
          <p:cNvSpPr txBox="1"/>
          <p:nvPr/>
        </p:nvSpPr>
        <p:spPr>
          <a:xfrm>
            <a:off x="1425284" y="5567679"/>
            <a:ext cx="9112469" cy="769441"/>
          </a:xfrm>
          <a:prstGeom prst="rect">
            <a:avLst/>
          </a:prstGeom>
          <a:noFill/>
        </p:spPr>
        <p:txBody>
          <a:bodyPr wrap="square">
            <a:spAutoFit/>
          </a:body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7" name="TextBox 6">
            <a:extLst>
              <a:ext uri="{FF2B5EF4-FFF2-40B4-BE49-F238E27FC236}">
                <a16:creationId xmlns:a16="http://schemas.microsoft.com/office/drawing/2014/main" id="{C831D7C1-73D6-97F2-0D1F-981A50459E77}"/>
              </a:ext>
            </a:extLst>
          </p:cNvPr>
          <p:cNvSpPr txBox="1"/>
          <p:nvPr/>
        </p:nvSpPr>
        <p:spPr>
          <a:xfrm>
            <a:off x="684922" y="1211812"/>
            <a:ext cx="9717423" cy="1132257"/>
          </a:xfrm>
          <a:prstGeom prst="rect">
            <a:avLst/>
          </a:prstGeom>
          <a:noFill/>
        </p:spPr>
        <p:txBody>
          <a:bodyPr wrap="square" lIns="0" tIns="0" rIns="0" bIns="0" rtlCol="0">
            <a:noAutofit/>
          </a:bodyPr>
          <a:lstStyle/>
          <a:p>
            <a:pPr algn="l">
              <a:lnSpc>
                <a:spcPct val="150000"/>
              </a:lnSpc>
              <a:spcBef>
                <a:spcPts val="1200"/>
              </a:spcBef>
              <a:spcAft>
                <a:spcPts val="600"/>
              </a:spcAft>
            </a:pPr>
            <a:r>
              <a:rPr lang="en-AU" sz="4400"/>
              <a:t>What does the </a:t>
            </a:r>
            <a:r>
              <a:rPr lang="en-AU" sz="4400" b="1"/>
              <a:t>3</a:t>
            </a:r>
            <a:r>
              <a:rPr lang="en-AU" sz="4400"/>
              <a:t> represent on the </a:t>
            </a:r>
            <a:r>
              <a:rPr lang="en-AU" sz="4400" err="1"/>
              <a:t>analog</a:t>
            </a:r>
            <a:r>
              <a:rPr lang="en-AU" sz="4400"/>
              <a:t> clock when:</a:t>
            </a:r>
          </a:p>
          <a:p>
            <a:pPr marL="571500" indent="-571500" algn="l">
              <a:lnSpc>
                <a:spcPct val="150000"/>
              </a:lnSpc>
              <a:spcBef>
                <a:spcPts val="1200"/>
              </a:spcBef>
              <a:spcAft>
                <a:spcPts val="600"/>
              </a:spcAft>
              <a:buFont typeface="Arial" panose="020B0604020202020204" pitchFamily="34" charset="0"/>
              <a:buChar char="•"/>
            </a:pPr>
            <a:r>
              <a:rPr lang="en-AU" sz="4000"/>
              <a:t>the </a:t>
            </a:r>
            <a:r>
              <a:rPr lang="en-AU" sz="4000" b="1"/>
              <a:t>hour hand </a:t>
            </a:r>
            <a:r>
              <a:rPr lang="en-AU" sz="4000"/>
              <a:t>points to it? </a:t>
            </a:r>
          </a:p>
          <a:p>
            <a:pPr marL="571500" indent="-571500" algn="l">
              <a:lnSpc>
                <a:spcPct val="150000"/>
              </a:lnSpc>
              <a:spcBef>
                <a:spcPts val="1200"/>
              </a:spcBef>
              <a:spcAft>
                <a:spcPts val="600"/>
              </a:spcAft>
              <a:buFont typeface="Arial" panose="020B0604020202020204" pitchFamily="34" charset="0"/>
              <a:buChar char="•"/>
            </a:pPr>
            <a:r>
              <a:rPr lang="en-AU" sz="4000"/>
              <a:t>the </a:t>
            </a:r>
            <a:r>
              <a:rPr lang="en-AU" sz="4000" b="1"/>
              <a:t>minute hand </a:t>
            </a:r>
            <a:r>
              <a:rPr lang="en-AU" sz="4000"/>
              <a:t>points to it? </a:t>
            </a:r>
          </a:p>
        </p:txBody>
      </p:sp>
      <p:pic>
        <p:nvPicPr>
          <p:cNvPr id="8" name="Picture 7" descr="An image of an analog clock without any hands">
            <a:extLst>
              <a:ext uri="{FF2B5EF4-FFF2-40B4-BE49-F238E27FC236}">
                <a16:creationId xmlns:a16="http://schemas.microsoft.com/office/drawing/2014/main" id="{3CD04388-2766-4D76-C4FE-DD942ADC0898}"/>
              </a:ext>
            </a:extLst>
          </p:cNvPr>
          <p:cNvPicPr>
            <a:picLocks noChangeAspect="1"/>
          </p:cNvPicPr>
          <p:nvPr/>
        </p:nvPicPr>
        <p:blipFill>
          <a:blip r:embed="rId4">
            <a:duotone>
              <a:schemeClr val="accent2">
                <a:shade val="45000"/>
                <a:satMod val="135000"/>
              </a:schemeClr>
              <a:prstClr val="white"/>
            </a:duotone>
          </a:blip>
          <a:stretch>
            <a:fillRect/>
          </a:stretch>
        </p:blipFill>
        <p:spPr>
          <a:xfrm>
            <a:off x="8285629" y="2344069"/>
            <a:ext cx="3558371" cy="3592153"/>
          </a:xfrm>
          <a:prstGeom prst="rect">
            <a:avLst/>
          </a:prstGeom>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10" name="TextBox 9">
            <a:extLst>
              <a:ext uri="{FF2B5EF4-FFF2-40B4-BE49-F238E27FC236}">
                <a16:creationId xmlns:a16="http://schemas.microsoft.com/office/drawing/2014/main" id="{5308EED4-202D-4C74-EE27-0BB84E7BC52D}"/>
              </a:ext>
            </a:extLst>
          </p:cNvPr>
          <p:cNvSpPr txBox="1"/>
          <p:nvPr/>
        </p:nvSpPr>
        <p:spPr>
          <a:xfrm>
            <a:off x="1303020" y="905601"/>
            <a:ext cx="9154160" cy="812800"/>
          </a:xfrm>
          <a:prstGeom prst="rect">
            <a:avLst/>
          </a:prstGeom>
          <a:noFill/>
        </p:spPr>
        <p:txBody>
          <a:bodyPr wrap="square" lIns="0" tIns="0" rIns="0" bIns="0" rtlCol="0">
            <a:noAutofit/>
          </a:bodyPr>
          <a:lstStyle/>
          <a:p>
            <a:pPr algn="ctr">
              <a:lnSpc>
                <a:spcPct val="150000"/>
              </a:lnSpc>
            </a:pPr>
            <a:r>
              <a:rPr lang="en-AU" sz="4400"/>
              <a:t>Are these containers </a:t>
            </a:r>
            <a:r>
              <a:rPr lang="en-AU" sz="4400" b="1"/>
              <a:t>more, less </a:t>
            </a:r>
            <a:r>
              <a:rPr lang="en-AU" sz="4400"/>
              <a:t>or </a:t>
            </a:r>
            <a:r>
              <a:rPr lang="en-AU" sz="4400" b="1"/>
              <a:t>about one </a:t>
            </a:r>
            <a:r>
              <a:rPr lang="en-AU" sz="4400"/>
              <a:t>litre?</a:t>
            </a:r>
          </a:p>
        </p:txBody>
      </p:sp>
      <p:sp>
        <p:nvSpPr>
          <p:cNvPr id="4" name="TextBox 3">
            <a:extLst>
              <a:ext uri="{FF2B5EF4-FFF2-40B4-BE49-F238E27FC236}">
                <a16:creationId xmlns:a16="http://schemas.microsoft.com/office/drawing/2014/main" id="{D669BA05-448D-F5A7-9682-0B202B990BDF}"/>
              </a:ext>
            </a:extLst>
          </p:cNvPr>
          <p:cNvSpPr txBox="1"/>
          <p:nvPr/>
        </p:nvSpPr>
        <p:spPr>
          <a:xfrm>
            <a:off x="2784639" y="5806095"/>
            <a:ext cx="8949297" cy="627227"/>
          </a:xfrm>
          <a:prstGeom prst="rect">
            <a:avLst/>
          </a:prstGeom>
          <a:noFill/>
        </p:spPr>
        <p:txBody>
          <a:bodyPr wrap="square" lIns="0" tIns="0" rIns="0" bIns="0" rtlCol="0" anchor="t">
            <a:noAutofit/>
          </a:bodyPr>
          <a:lstStyle/>
          <a:p>
            <a:r>
              <a:rPr lang="en-AU" sz="4400" b="1"/>
              <a:t>A               B              C</a:t>
            </a:r>
          </a:p>
        </p:txBody>
      </p:sp>
      <p:pic>
        <p:nvPicPr>
          <p:cNvPr id="5" name="Picture 4" descr="A- a jug about one litre&#10;B- a yoghurt container to represent less than one litre&#10;C- A bucket to represent more than one litre">
            <a:extLst>
              <a:ext uri="{FF2B5EF4-FFF2-40B4-BE49-F238E27FC236}">
                <a16:creationId xmlns:a16="http://schemas.microsoft.com/office/drawing/2014/main" id="{3224A07B-84ED-85F0-DE99-3D0A1E8CB8C4}"/>
              </a:ext>
            </a:extLst>
          </p:cNvPr>
          <p:cNvPicPr>
            <a:picLocks noChangeAspect="1"/>
          </p:cNvPicPr>
          <p:nvPr/>
        </p:nvPicPr>
        <p:blipFill>
          <a:blip r:embed="rId4"/>
          <a:stretch>
            <a:fillRect/>
          </a:stretch>
        </p:blipFill>
        <p:spPr>
          <a:xfrm>
            <a:off x="1973036" y="2955925"/>
            <a:ext cx="7810500" cy="2724150"/>
          </a:xfrm>
          <a:prstGeom prst="rect">
            <a:avLst/>
          </a:prstGeom>
        </p:spPr>
      </p:pic>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5" name="TextBox 4">
            <a:extLst>
              <a:ext uri="{FF2B5EF4-FFF2-40B4-BE49-F238E27FC236}">
                <a16:creationId xmlns:a16="http://schemas.microsoft.com/office/drawing/2014/main" id="{4B4B71F7-2ADF-DD0B-79B5-C1BF27D28145}"/>
              </a:ext>
            </a:extLst>
          </p:cNvPr>
          <p:cNvSpPr txBox="1"/>
          <p:nvPr/>
        </p:nvSpPr>
        <p:spPr>
          <a:xfrm>
            <a:off x="317436" y="1144375"/>
            <a:ext cx="5327480" cy="2564780"/>
          </a:xfrm>
          <a:prstGeom prst="rect">
            <a:avLst/>
          </a:prstGeom>
          <a:noFill/>
        </p:spPr>
        <p:txBody>
          <a:bodyPr wrap="square" lIns="0" tIns="0" rIns="0" bIns="0" rtlCol="0">
            <a:noAutofit/>
          </a:bodyPr>
          <a:lstStyle/>
          <a:p>
            <a:pPr lvl="0" algn="ctr">
              <a:lnSpc>
                <a:spcPct val="150000"/>
              </a:lnSpc>
              <a:spcBef>
                <a:spcPts val="1200"/>
              </a:spcBef>
              <a:spcAft>
                <a:spcPts val="600"/>
              </a:spcAft>
            </a:pPr>
            <a:r>
              <a:rPr lang="en-AU" sz="4800"/>
              <a:t>What are the </a:t>
            </a:r>
            <a:r>
              <a:rPr lang="en-AU" sz="4800" b="1"/>
              <a:t>possible outcomes </a:t>
            </a:r>
            <a:r>
              <a:rPr lang="en-AU" sz="4800"/>
              <a:t>of spinning this spinner?</a:t>
            </a:r>
          </a:p>
        </p:txBody>
      </p:sp>
      <p:sp>
        <p:nvSpPr>
          <p:cNvPr id="7" name="Rectangle 1">
            <a:extLst>
              <a:ext uri="{FF2B5EF4-FFF2-40B4-BE49-F238E27FC236}">
                <a16:creationId xmlns:a16="http://schemas.microsoft.com/office/drawing/2014/main" id="{A5766AE7-E3DF-DD8D-B4D2-EBA36B2906D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pic>
        <p:nvPicPr>
          <p:cNvPr id="9" name="Picture 8" descr="A spinner with 5 equal parts. One pink, green, purple, blue, and yellow.">
            <a:extLst>
              <a:ext uri="{FF2B5EF4-FFF2-40B4-BE49-F238E27FC236}">
                <a16:creationId xmlns:a16="http://schemas.microsoft.com/office/drawing/2014/main" id="{70A4A9B1-251C-2A18-FA6E-F6C39B97D74E}"/>
              </a:ext>
            </a:extLst>
          </p:cNvPr>
          <p:cNvPicPr>
            <a:picLocks noChangeAspect="1"/>
          </p:cNvPicPr>
          <p:nvPr/>
        </p:nvPicPr>
        <p:blipFill>
          <a:blip r:embed="rId4"/>
          <a:stretch>
            <a:fillRect/>
          </a:stretch>
        </p:blipFill>
        <p:spPr>
          <a:xfrm>
            <a:off x="6171224" y="1382119"/>
            <a:ext cx="5182567" cy="4488328"/>
          </a:xfrm>
          <a:prstGeom prst="rect">
            <a:avLst/>
          </a:prstGeom>
        </p:spPr>
      </p:pic>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5" name="TextBox 4">
            <a:extLst>
              <a:ext uri="{FF2B5EF4-FFF2-40B4-BE49-F238E27FC236}">
                <a16:creationId xmlns:a16="http://schemas.microsoft.com/office/drawing/2014/main" id="{1B082788-2834-9E76-7BB6-B968BFFB76B7}"/>
              </a:ext>
            </a:extLst>
          </p:cNvPr>
          <p:cNvSpPr txBox="1"/>
          <p:nvPr/>
        </p:nvSpPr>
        <p:spPr>
          <a:xfrm>
            <a:off x="844673" y="1300597"/>
            <a:ext cx="10502653" cy="1998176"/>
          </a:xfrm>
          <a:prstGeom prst="rect">
            <a:avLst/>
          </a:prstGeom>
          <a:noFill/>
        </p:spPr>
        <p:txBody>
          <a:bodyPr wrap="square">
            <a:spAutoFit/>
          </a:bodyPr>
          <a:lstStyle/>
          <a:p>
            <a:pPr algn="ctr">
              <a:lnSpc>
                <a:spcPct val="150000"/>
              </a:lnSpc>
            </a:pPr>
            <a:r>
              <a:rPr lang="en-AU" sz="4400" b="1"/>
              <a:t>Describe </a:t>
            </a:r>
            <a:r>
              <a:rPr lang="en-AU" sz="4400"/>
              <a:t>and </a:t>
            </a:r>
            <a:r>
              <a:rPr lang="en-AU" sz="4400" b="1"/>
              <a:t>compare</a:t>
            </a:r>
            <a:r>
              <a:rPr lang="en-AU" sz="4400"/>
              <a:t> these two-dimensional shapes.</a:t>
            </a:r>
          </a:p>
        </p:txBody>
      </p:sp>
      <p:sp>
        <p:nvSpPr>
          <p:cNvPr id="4" name="Trapezoid 3" descr="A trapezium">
            <a:extLst>
              <a:ext uri="{FF2B5EF4-FFF2-40B4-BE49-F238E27FC236}">
                <a16:creationId xmlns:a16="http://schemas.microsoft.com/office/drawing/2014/main" id="{DE78FE3A-55B1-A579-793A-90AC7A194A39}"/>
              </a:ext>
            </a:extLst>
          </p:cNvPr>
          <p:cNvSpPr/>
          <p:nvPr/>
        </p:nvSpPr>
        <p:spPr>
          <a:xfrm>
            <a:off x="2266950" y="4343400"/>
            <a:ext cx="3657600" cy="1866900"/>
          </a:xfrm>
          <a:prstGeom prst="trapezoi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Isosceles Triangle 6" descr="a triangle">
            <a:extLst>
              <a:ext uri="{FF2B5EF4-FFF2-40B4-BE49-F238E27FC236}">
                <a16:creationId xmlns:a16="http://schemas.microsoft.com/office/drawing/2014/main" id="{606119DD-185E-76E9-799E-3F2543BCA18E}"/>
              </a:ext>
            </a:extLst>
          </p:cNvPr>
          <p:cNvSpPr/>
          <p:nvPr/>
        </p:nvSpPr>
        <p:spPr>
          <a:xfrm>
            <a:off x="6724650" y="4343400"/>
            <a:ext cx="3352800" cy="18669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the same as</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sp>
        <p:nvSpPr>
          <p:cNvPr id="5" name="TextBox 4">
            <a:extLst>
              <a:ext uri="{FF2B5EF4-FFF2-40B4-BE49-F238E27FC236}">
                <a16:creationId xmlns:a16="http://schemas.microsoft.com/office/drawing/2014/main" id="{9F0BC5E2-5844-B8BA-AF22-9D8AB7C2B02E}"/>
              </a:ext>
            </a:extLst>
          </p:cNvPr>
          <p:cNvSpPr txBox="1"/>
          <p:nvPr/>
        </p:nvSpPr>
        <p:spPr>
          <a:xfrm>
            <a:off x="178846" y="905601"/>
            <a:ext cx="10945154" cy="5625386"/>
          </a:xfrm>
          <a:prstGeom prst="rect">
            <a:avLst/>
          </a:prstGeom>
          <a:noFill/>
        </p:spPr>
        <p:txBody>
          <a:bodyPr wrap="square">
            <a:spAutoFit/>
          </a:bodyPr>
          <a:lstStyle/>
          <a:p>
            <a:pPr marL="285750" indent="-285750">
              <a:lnSpc>
                <a:spcPct val="150000"/>
              </a:lnSpc>
              <a:spcBef>
                <a:spcPts val="600"/>
              </a:spcBef>
              <a:spcAft>
                <a:spcPts val="600"/>
              </a:spcAft>
              <a:buFont typeface="Arial" panose="020B0604020202020204" pitchFamily="34" charset="0"/>
              <a:buChar char="•"/>
            </a:pPr>
            <a:r>
              <a:rPr lang="en-AU" sz="2400">
                <a:effectLst/>
                <a:latin typeface="Arial" panose="020B0604020202020204" pitchFamily="34" charset="0"/>
                <a:ea typeface="Calibri" panose="020F0502020204030204" pitchFamily="34" charset="0"/>
              </a:rPr>
              <a:t>Deal 4 cards face up and place the remainder of the cards in a centre pile</a:t>
            </a:r>
          </a:p>
          <a:p>
            <a:pPr marL="285750" indent="-285750">
              <a:lnSpc>
                <a:spcPct val="150000"/>
              </a:lnSpc>
              <a:spcBef>
                <a:spcPts val="600"/>
              </a:spcBef>
              <a:spcAft>
                <a:spcPts val="600"/>
              </a:spcAft>
              <a:buFont typeface="Arial" panose="020B0604020202020204" pitchFamily="34" charset="0"/>
              <a:buChar char="•"/>
            </a:pPr>
            <a:r>
              <a:rPr lang="en-AU" sz="2400">
                <a:effectLst/>
                <a:latin typeface="Arial" panose="020B0604020202020204" pitchFamily="34" charset="0"/>
                <a:ea typeface="Calibri" panose="020F0502020204030204" pitchFamily="34" charset="0"/>
              </a:rPr>
              <a:t>Player 1 picks a card from the centre pile and decides which of the 4 slots to place the card. Places it in one of the slots, then reads out the number sentence stating whether it is true or not</a:t>
            </a:r>
          </a:p>
          <a:p>
            <a:pPr marL="285750" indent="-285750">
              <a:lnSpc>
                <a:spcPct val="150000"/>
              </a:lnSpc>
              <a:spcBef>
                <a:spcPts val="600"/>
              </a:spcBef>
              <a:spcAft>
                <a:spcPts val="600"/>
              </a:spcAft>
              <a:buFont typeface="Arial" panose="020B0604020202020204" pitchFamily="34" charset="0"/>
              <a:buChar char="•"/>
            </a:pPr>
            <a:r>
              <a:rPr lang="en-AU" sz="2400">
                <a:effectLst/>
                <a:latin typeface="Arial" panose="020B0604020202020204" pitchFamily="34" charset="0"/>
                <a:ea typeface="Calibri" panose="020F0502020204030204" pitchFamily="34" charset="0"/>
              </a:rPr>
              <a:t>Player 2 then picks a card and places it in one of the slots</a:t>
            </a:r>
          </a:p>
          <a:p>
            <a:pPr marL="285750" indent="-285750">
              <a:lnSpc>
                <a:spcPct val="150000"/>
              </a:lnSpc>
              <a:spcBef>
                <a:spcPts val="600"/>
              </a:spcBef>
              <a:spcAft>
                <a:spcPts val="600"/>
              </a:spcAft>
              <a:buFont typeface="Arial" panose="020B0604020202020204" pitchFamily="34" charset="0"/>
              <a:buChar char="•"/>
            </a:pPr>
            <a:r>
              <a:rPr lang="en-AU" sz="2400">
                <a:effectLst/>
                <a:latin typeface="Arial" panose="020B0604020202020204" pitchFamily="34" charset="0"/>
                <a:ea typeface="Calibri" panose="020F0502020204030204" pitchFamily="34" charset="0"/>
              </a:rPr>
              <a:t>Play continues until a player selects a card that makes a true statement</a:t>
            </a:r>
            <a:r>
              <a:rPr lang="en-AU" sz="2400">
                <a:ea typeface="Calibri" panose="020F0502020204030204" pitchFamily="34" charset="0"/>
              </a:rPr>
              <a:t>. </a:t>
            </a:r>
            <a:r>
              <a:rPr lang="en-AU" sz="2400">
                <a:effectLst/>
                <a:latin typeface="Arial" panose="020B0604020202020204" pitchFamily="34" charset="0"/>
                <a:ea typeface="Calibri" panose="020F0502020204030204" pitchFamily="34" charset="0"/>
              </a:rPr>
              <a:t>Players record the number sentences on a whiteboard</a:t>
            </a:r>
          </a:p>
          <a:p>
            <a:pPr marL="285750" indent="-285750">
              <a:lnSpc>
                <a:spcPct val="150000"/>
              </a:lnSpc>
              <a:spcBef>
                <a:spcPts val="600"/>
              </a:spcBef>
              <a:spcAft>
                <a:spcPts val="600"/>
              </a:spcAft>
              <a:buFont typeface="Arial" panose="020B0604020202020204" pitchFamily="34" charset="0"/>
              <a:buChar char="•"/>
            </a:pPr>
            <a:r>
              <a:rPr lang="en-AU" sz="2400">
                <a:effectLst/>
                <a:latin typeface="Arial" panose="020B0604020202020204" pitchFamily="34" charset="0"/>
                <a:ea typeface="Calibri" panose="020F0502020204030204" pitchFamily="34" charset="0"/>
              </a:rPr>
              <a:t>The cards on the game board are placed at the bottom of the pile, 4 new cards are dealt and play starts again</a:t>
            </a:r>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4360960" y="871631"/>
            <a:ext cx="3470079" cy="754243"/>
          </a:xfrm>
        </p:spPr>
        <p:txBody>
          <a:bodyPr/>
          <a:lstStyle/>
          <a:p>
            <a:r>
              <a:rPr lang="en-US" sz="5400"/>
              <a:t>78 + 90 =</a:t>
            </a:r>
          </a:p>
        </p:txBody>
      </p:sp>
      <p:sp>
        <p:nvSpPr>
          <p:cNvPr id="9" name="B">
            <a:extLst>
              <a:ext uri="{FF2B5EF4-FFF2-40B4-BE49-F238E27FC236}">
                <a16:creationId xmlns:a16="http://schemas.microsoft.com/office/drawing/2014/main" id="{C9B406B5-1B1B-BC84-2596-01F05852F38E}"/>
              </a:ext>
            </a:extLst>
          </p:cNvPr>
          <p:cNvSpPr txBox="1"/>
          <p:nvPr/>
        </p:nvSpPr>
        <p:spPr>
          <a:xfrm>
            <a:off x="670557" y="19462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345520" y="1946277"/>
            <a:ext cx="10175920" cy="641396"/>
          </a:xfrm>
        </p:spPr>
        <p:txBody>
          <a:bodyPr anchor="ctr"/>
          <a:lstStyle/>
          <a:p>
            <a:r>
              <a:rPr lang="en-US" sz="3600"/>
              <a:t>105 + 60</a:t>
            </a:r>
          </a:p>
        </p:txBody>
      </p:sp>
      <p:sp>
        <p:nvSpPr>
          <p:cNvPr id="10" name="B">
            <a:extLst>
              <a:ext uri="{FF2B5EF4-FFF2-40B4-BE49-F238E27FC236}">
                <a16:creationId xmlns:a16="http://schemas.microsoft.com/office/drawing/2014/main" id="{E50622FB-E2C3-695B-EB8A-A6DCC20CB21A}"/>
              </a:ext>
            </a:extLst>
          </p:cNvPr>
          <p:cNvSpPr txBox="1"/>
          <p:nvPr/>
        </p:nvSpPr>
        <p:spPr>
          <a:xfrm>
            <a:off x="670559" y="308988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345520" y="3039804"/>
            <a:ext cx="10175920" cy="641396"/>
          </a:xfrm>
        </p:spPr>
        <p:txBody>
          <a:bodyPr anchor="ctr"/>
          <a:lstStyle/>
          <a:p>
            <a:r>
              <a:rPr lang="en-US" sz="3600"/>
              <a:t>99 + 67</a:t>
            </a:r>
          </a:p>
        </p:txBody>
      </p:sp>
      <p:sp>
        <p:nvSpPr>
          <p:cNvPr id="12" name="C">
            <a:extLst>
              <a:ext uri="{FF2B5EF4-FFF2-40B4-BE49-F238E27FC236}">
                <a16:creationId xmlns:a16="http://schemas.microsoft.com/office/drawing/2014/main" id="{0C258EAC-2959-18FA-F510-CFBA4E15CEE5}"/>
              </a:ext>
            </a:extLst>
          </p:cNvPr>
          <p:cNvSpPr txBox="1"/>
          <p:nvPr/>
        </p:nvSpPr>
        <p:spPr>
          <a:xfrm>
            <a:off x="670558" y="423348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345520" y="4173946"/>
            <a:ext cx="10175920" cy="641396"/>
          </a:xfrm>
        </p:spPr>
        <p:txBody>
          <a:bodyPr anchor="ctr"/>
          <a:lstStyle/>
          <a:p>
            <a:r>
              <a:rPr lang="en-US" sz="3600"/>
              <a:t>80 + 81</a:t>
            </a:r>
          </a:p>
        </p:txBody>
      </p:sp>
      <p:sp>
        <p:nvSpPr>
          <p:cNvPr id="11" name="D">
            <a:extLst>
              <a:ext uri="{FF2B5EF4-FFF2-40B4-BE49-F238E27FC236}">
                <a16:creationId xmlns:a16="http://schemas.microsoft.com/office/drawing/2014/main" id="{14776889-F079-73F7-28AB-FA54A997A57B}"/>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308080" y="5344973"/>
            <a:ext cx="10175920" cy="641396"/>
          </a:xfrm>
        </p:spPr>
        <p:txBody>
          <a:bodyPr anchor="ctr"/>
          <a:lstStyle/>
          <a:p>
            <a:r>
              <a:rPr lang="en-US" sz="3600"/>
              <a:t>110 + 55</a:t>
            </a:r>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9" name="TextBox 8">
            <a:extLst>
              <a:ext uri="{FF2B5EF4-FFF2-40B4-BE49-F238E27FC236}">
                <a16:creationId xmlns:a16="http://schemas.microsoft.com/office/drawing/2014/main" id="{3B9F34AC-BEC7-0CC7-82DD-236007DB8396}"/>
              </a:ext>
            </a:extLst>
          </p:cNvPr>
          <p:cNvSpPr txBox="1"/>
          <p:nvPr/>
        </p:nvSpPr>
        <p:spPr>
          <a:xfrm>
            <a:off x="756732" y="1113200"/>
            <a:ext cx="10367268" cy="915500"/>
          </a:xfrm>
          <a:prstGeom prst="rect">
            <a:avLst/>
          </a:prstGeom>
          <a:noFill/>
        </p:spPr>
        <p:txBody>
          <a:bodyPr wrap="square" lIns="0" tIns="0" rIns="0" bIns="0" rtlCol="0">
            <a:noAutofit/>
          </a:bodyPr>
          <a:lstStyle/>
          <a:p>
            <a:pPr algn="ctr">
              <a:lnSpc>
                <a:spcPct val="150000"/>
              </a:lnSpc>
            </a:pPr>
            <a:r>
              <a:rPr lang="en-AU" sz="4400"/>
              <a:t>What </a:t>
            </a:r>
            <a:r>
              <a:rPr lang="en-AU" sz="4400" b="1"/>
              <a:t>time </a:t>
            </a:r>
            <a:r>
              <a:rPr lang="en-AU" sz="4400"/>
              <a:t>is shown on each of these </a:t>
            </a:r>
            <a:r>
              <a:rPr lang="en-AU" sz="4400" err="1"/>
              <a:t>analog</a:t>
            </a:r>
            <a:r>
              <a:rPr lang="en-AU" sz="4400"/>
              <a:t> clocks?</a:t>
            </a:r>
          </a:p>
        </p:txBody>
      </p:sp>
      <p:sp>
        <p:nvSpPr>
          <p:cNvPr id="10" name="TextBox 9">
            <a:extLst>
              <a:ext uri="{FF2B5EF4-FFF2-40B4-BE49-F238E27FC236}">
                <a16:creationId xmlns:a16="http://schemas.microsoft.com/office/drawing/2014/main" id="{0D31E1A3-969E-BEFF-8D93-C638B6D200BF}"/>
              </a:ext>
            </a:extLst>
          </p:cNvPr>
          <p:cNvSpPr txBox="1"/>
          <p:nvPr/>
        </p:nvSpPr>
        <p:spPr>
          <a:xfrm>
            <a:off x="2910749" y="5794348"/>
            <a:ext cx="2212737" cy="545601"/>
          </a:xfrm>
          <a:prstGeom prst="rect">
            <a:avLst/>
          </a:prstGeom>
          <a:noFill/>
        </p:spPr>
        <p:txBody>
          <a:bodyPr wrap="square" lIns="0" tIns="0" rIns="0" bIns="0" rtlCol="0">
            <a:noAutofit/>
          </a:bodyPr>
          <a:lstStyle/>
          <a:p>
            <a:pPr algn="ctr">
              <a:lnSpc>
                <a:spcPct val="150000"/>
              </a:lnSpc>
            </a:pPr>
            <a:r>
              <a:rPr lang="en-AU" sz="4000"/>
              <a:t>clock A</a:t>
            </a:r>
          </a:p>
        </p:txBody>
      </p:sp>
      <p:pic>
        <p:nvPicPr>
          <p:cNvPr id="8" name="Picture 7" descr="An analog clock with the hour hand pointing past the 4 and the minute hand pointing to the 3.">
            <a:extLst>
              <a:ext uri="{FF2B5EF4-FFF2-40B4-BE49-F238E27FC236}">
                <a16:creationId xmlns:a16="http://schemas.microsoft.com/office/drawing/2014/main" id="{4E4749A9-E4C5-8944-6C7D-F7A4C081F1AE}"/>
              </a:ext>
            </a:extLst>
          </p:cNvPr>
          <p:cNvPicPr>
            <a:picLocks noChangeAspect="1"/>
          </p:cNvPicPr>
          <p:nvPr/>
        </p:nvPicPr>
        <p:blipFill>
          <a:blip r:embed="rId4"/>
          <a:srcRect r="53697"/>
          <a:stretch>
            <a:fillRect/>
          </a:stretch>
        </p:blipFill>
        <p:spPr>
          <a:xfrm>
            <a:off x="2700674" y="3182341"/>
            <a:ext cx="2632885" cy="2835259"/>
          </a:xfrm>
          <a:prstGeom prst="rect">
            <a:avLst/>
          </a:prstGeom>
        </p:spPr>
      </p:pic>
      <p:pic>
        <p:nvPicPr>
          <p:cNvPr id="7" name="Picture 6" descr="An analog clock with the hour hand pointing past the 3 and the minute hand pointing to the 4.">
            <a:extLst>
              <a:ext uri="{FF2B5EF4-FFF2-40B4-BE49-F238E27FC236}">
                <a16:creationId xmlns:a16="http://schemas.microsoft.com/office/drawing/2014/main" id="{27A37337-AB6A-40F2-81F7-138B828639D7}"/>
              </a:ext>
            </a:extLst>
          </p:cNvPr>
          <p:cNvPicPr>
            <a:picLocks noChangeAspect="1"/>
          </p:cNvPicPr>
          <p:nvPr/>
        </p:nvPicPr>
        <p:blipFill>
          <a:blip r:embed="rId4"/>
          <a:srcRect l="46880"/>
          <a:stretch>
            <a:fillRect/>
          </a:stretch>
        </p:blipFill>
        <p:spPr>
          <a:xfrm>
            <a:off x="6956284" y="3007939"/>
            <a:ext cx="3020524" cy="2835259"/>
          </a:xfrm>
          <a:prstGeom prst="rect">
            <a:avLst/>
          </a:prstGeom>
        </p:spPr>
      </p:pic>
      <p:sp>
        <p:nvSpPr>
          <p:cNvPr id="11" name="TextBox 10">
            <a:extLst>
              <a:ext uri="{FF2B5EF4-FFF2-40B4-BE49-F238E27FC236}">
                <a16:creationId xmlns:a16="http://schemas.microsoft.com/office/drawing/2014/main" id="{279C0E22-5ECE-6378-8A51-40AA3B30C646}"/>
              </a:ext>
            </a:extLst>
          </p:cNvPr>
          <p:cNvSpPr txBox="1"/>
          <p:nvPr/>
        </p:nvSpPr>
        <p:spPr>
          <a:xfrm>
            <a:off x="7315800" y="5744800"/>
            <a:ext cx="2212737" cy="545601"/>
          </a:xfrm>
          <a:prstGeom prst="rect">
            <a:avLst/>
          </a:prstGeom>
          <a:noFill/>
        </p:spPr>
        <p:txBody>
          <a:bodyPr wrap="square" lIns="0" tIns="0" rIns="0" bIns="0" rtlCol="0">
            <a:noAutofit/>
          </a:bodyPr>
          <a:lstStyle/>
          <a:p>
            <a:pPr algn="ctr">
              <a:lnSpc>
                <a:spcPct val="150000"/>
              </a:lnSpc>
            </a:pPr>
            <a:r>
              <a:rPr lang="en-AU" sz="4000"/>
              <a:t>clock B</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5" name="Picture 4">
            <a:extLst>
              <a:ext uri="{FF2B5EF4-FFF2-40B4-BE49-F238E27FC236}">
                <a16:creationId xmlns:a16="http://schemas.microsoft.com/office/drawing/2014/main" id="{DCC19309-B606-B0F7-6459-C6D505C83D60}"/>
              </a:ext>
              <a:ext uri="{C183D7F6-B498-43B3-948B-1728B52AA6E4}">
                <adec:decorative xmlns:adec="http://schemas.microsoft.com/office/drawing/2017/decorative" val="1"/>
              </a:ext>
            </a:extLst>
          </p:cNvPr>
          <p:cNvPicPr>
            <a:picLocks noChangeAspect="1"/>
          </p:cNvPicPr>
          <p:nvPr/>
        </p:nvPicPr>
        <p:blipFill>
          <a:blip r:embed="rId4"/>
          <a:srcRect l="5948" r="9338"/>
          <a:stretch>
            <a:fillRect/>
          </a:stretch>
        </p:blipFill>
        <p:spPr>
          <a:xfrm>
            <a:off x="7620000" y="1806024"/>
            <a:ext cx="4118084" cy="3483027"/>
          </a:xfrm>
          <a:prstGeom prst="rect">
            <a:avLst/>
          </a:prstGeom>
        </p:spPr>
      </p:pic>
      <p:sp>
        <p:nvSpPr>
          <p:cNvPr id="7" name="TextBox 6">
            <a:extLst>
              <a:ext uri="{FF2B5EF4-FFF2-40B4-BE49-F238E27FC236}">
                <a16:creationId xmlns:a16="http://schemas.microsoft.com/office/drawing/2014/main" id="{FD8D0722-76F1-2234-547E-7FDC2CFABE92}"/>
              </a:ext>
            </a:extLst>
          </p:cNvPr>
          <p:cNvSpPr txBox="1"/>
          <p:nvPr/>
        </p:nvSpPr>
        <p:spPr>
          <a:xfrm>
            <a:off x="371167" y="2411102"/>
            <a:ext cx="6518384" cy="690880"/>
          </a:xfrm>
          <a:prstGeom prst="rect">
            <a:avLst/>
          </a:prstGeom>
          <a:noFill/>
        </p:spPr>
        <p:txBody>
          <a:bodyPr wrap="square" lIns="0" tIns="0" rIns="0" bIns="0" rtlCol="0">
            <a:noAutofit/>
          </a:bodyPr>
          <a:lstStyle/>
          <a:p>
            <a:pPr algn="ctr">
              <a:lnSpc>
                <a:spcPct val="150000"/>
              </a:lnSpc>
            </a:pPr>
            <a:r>
              <a:rPr lang="en-AU" sz="4400" b="1"/>
              <a:t>Record </a:t>
            </a:r>
            <a:r>
              <a:rPr lang="en-AU" sz="4400"/>
              <a:t>how many of litres there are </a:t>
            </a:r>
            <a:r>
              <a:rPr lang="en-AU" sz="4400" b="1"/>
              <a:t>in total </a:t>
            </a:r>
            <a:r>
              <a:rPr lang="en-AU" sz="4400"/>
              <a:t>using the </a:t>
            </a:r>
            <a:r>
              <a:rPr lang="en-AU" sz="4400" b="1"/>
              <a:t>abbreviation for litres</a:t>
            </a:r>
            <a:r>
              <a:rPr lang="en-AU" sz="4400"/>
              <a:t>.</a:t>
            </a:r>
          </a:p>
        </p:txBody>
      </p:sp>
      <p:sp>
        <p:nvSpPr>
          <p:cNvPr id="8" name="TextBox 7">
            <a:extLst>
              <a:ext uri="{FF2B5EF4-FFF2-40B4-BE49-F238E27FC236}">
                <a16:creationId xmlns:a16="http://schemas.microsoft.com/office/drawing/2014/main" id="{7C457543-1923-AC4F-B97B-13FB4014ED0B}"/>
              </a:ext>
            </a:extLst>
          </p:cNvPr>
          <p:cNvSpPr txBox="1"/>
          <p:nvPr/>
        </p:nvSpPr>
        <p:spPr>
          <a:xfrm>
            <a:off x="763322" y="978377"/>
            <a:ext cx="10115550" cy="982513"/>
          </a:xfrm>
          <a:prstGeom prst="rect">
            <a:avLst/>
          </a:prstGeom>
          <a:noFill/>
        </p:spPr>
        <p:txBody>
          <a:bodyPr wrap="square">
            <a:spAutoFit/>
          </a:bodyPr>
          <a:lstStyle/>
          <a:p>
            <a:pPr algn="ctr">
              <a:lnSpc>
                <a:spcPct val="150000"/>
              </a:lnSpc>
            </a:pPr>
            <a:r>
              <a:rPr lang="en-AU" sz="4400"/>
              <a:t>Three water bottles each hold </a:t>
            </a:r>
            <a:r>
              <a:rPr lang="en-AU" sz="4400" b="1"/>
              <a:t>2 litres</a:t>
            </a:r>
            <a:r>
              <a:rPr lang="en-AU" sz="2400"/>
              <a:t>. </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4" name="TextBox 3">
            <a:extLst>
              <a:ext uri="{FF2B5EF4-FFF2-40B4-BE49-F238E27FC236}">
                <a16:creationId xmlns:a16="http://schemas.microsoft.com/office/drawing/2014/main" id="{41F9D39D-6F0E-DA4F-7BCF-9EB21AE89A17}"/>
              </a:ext>
            </a:extLst>
          </p:cNvPr>
          <p:cNvSpPr txBox="1"/>
          <p:nvPr/>
        </p:nvSpPr>
        <p:spPr>
          <a:xfrm>
            <a:off x="912366" y="2113280"/>
            <a:ext cx="10367268" cy="1412240"/>
          </a:xfrm>
          <a:prstGeom prst="rect">
            <a:avLst/>
          </a:prstGeom>
          <a:noFill/>
        </p:spPr>
        <p:txBody>
          <a:bodyPr wrap="square" lIns="0" tIns="0" rIns="0" bIns="0" rtlCol="0">
            <a:noAutofit/>
          </a:bodyPr>
          <a:lstStyle/>
          <a:p>
            <a:pPr algn="ctr">
              <a:lnSpc>
                <a:spcPct val="150000"/>
              </a:lnSpc>
            </a:pPr>
            <a:r>
              <a:rPr lang="en-AU" sz="4400"/>
              <a:t>What is the </a:t>
            </a:r>
            <a:r>
              <a:rPr lang="en-AU" sz="4400" b="1"/>
              <a:t>term</a:t>
            </a:r>
            <a:r>
              <a:rPr lang="en-AU" sz="4400"/>
              <a:t> used to </a:t>
            </a:r>
            <a:r>
              <a:rPr lang="en-AU" sz="4400" b="1"/>
              <a:t>describe</a:t>
            </a:r>
            <a:r>
              <a:rPr lang="en-AU" sz="4400"/>
              <a:t> any </a:t>
            </a:r>
            <a:r>
              <a:rPr lang="en-AU" sz="4400" b="1"/>
              <a:t>possible result </a:t>
            </a:r>
            <a:r>
              <a:rPr lang="en-AU" sz="4400"/>
              <a:t>of a </a:t>
            </a:r>
            <a:r>
              <a:rPr lang="en-AU" sz="4400" b="1"/>
              <a:t>chance experiment</a:t>
            </a:r>
            <a:r>
              <a:rPr lang="en-AU" sz="4400"/>
              <a:t>?</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4" name="TextBox 3">
            <a:extLst>
              <a:ext uri="{FF2B5EF4-FFF2-40B4-BE49-F238E27FC236}">
                <a16:creationId xmlns:a16="http://schemas.microsoft.com/office/drawing/2014/main" id="{208F6B2F-0229-9B92-2EB0-ED0828061FD5}"/>
              </a:ext>
            </a:extLst>
          </p:cNvPr>
          <p:cNvSpPr txBox="1"/>
          <p:nvPr/>
        </p:nvSpPr>
        <p:spPr>
          <a:xfrm>
            <a:off x="1046458" y="2118732"/>
            <a:ext cx="10437542" cy="2155902"/>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4400"/>
              <a:t>How many </a:t>
            </a:r>
            <a:r>
              <a:rPr lang="en-AU" sz="4400" b="1"/>
              <a:t>minutes </a:t>
            </a:r>
            <a:r>
              <a:rPr lang="en-AU" sz="4400"/>
              <a:t>are in </a:t>
            </a:r>
            <a:r>
              <a:rPr lang="en-AU" sz="4400" b="1"/>
              <a:t>an hour</a:t>
            </a:r>
            <a:r>
              <a:rPr lang="en-AU" sz="4400"/>
              <a:t>?</a:t>
            </a:r>
          </a:p>
          <a:p>
            <a:pPr algn="ctr">
              <a:lnSpc>
                <a:spcPct val="150000"/>
              </a:lnSpc>
              <a:spcBef>
                <a:spcPts val="1200"/>
              </a:spcBef>
              <a:spcAft>
                <a:spcPts val="600"/>
              </a:spcAft>
            </a:pPr>
            <a:r>
              <a:rPr lang="en-AU" sz="4400"/>
              <a:t>How many </a:t>
            </a:r>
            <a:r>
              <a:rPr lang="en-AU" sz="4400" b="1"/>
              <a:t>minutes</a:t>
            </a:r>
            <a:r>
              <a:rPr lang="en-AU" sz="4400"/>
              <a:t> are in </a:t>
            </a:r>
            <a:r>
              <a:rPr lang="en-AU" sz="4400" b="1"/>
              <a:t>half an hour</a:t>
            </a:r>
            <a:r>
              <a:rPr lang="en-AU" sz="4400"/>
              <a:t>?</a:t>
            </a:r>
          </a:p>
          <a:p>
            <a:pPr algn="l"/>
            <a:endParaRPr lang="en-AU" sz="4400"/>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true or false number sentences</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graphicFrame>
        <p:nvGraphicFramePr>
          <p:cNvPr id="3" name="Table 2">
            <a:extLst>
              <a:ext uri="{FF2B5EF4-FFF2-40B4-BE49-F238E27FC236}">
                <a16:creationId xmlns:a16="http://schemas.microsoft.com/office/drawing/2014/main" id="{6A047871-45E0-127E-BBB8-EFFB8A40DE33}"/>
              </a:ext>
            </a:extLst>
          </p:cNvPr>
          <p:cNvGraphicFramePr>
            <a:graphicFrameLocks noGrp="1"/>
          </p:cNvGraphicFramePr>
          <p:nvPr>
            <p:extLst>
              <p:ext uri="{D42A27DB-BD31-4B8C-83A1-F6EECF244321}">
                <p14:modId xmlns:p14="http://schemas.microsoft.com/office/powerpoint/2010/main" val="3177506388"/>
              </p:ext>
            </p:extLst>
          </p:nvPr>
        </p:nvGraphicFramePr>
        <p:xfrm>
          <a:off x="465012" y="2982469"/>
          <a:ext cx="11001991" cy="3515531"/>
        </p:xfrm>
        <a:graphic>
          <a:graphicData uri="http://schemas.openxmlformats.org/drawingml/2006/table">
            <a:tbl>
              <a:tblPr/>
              <a:tblGrid>
                <a:gridCol w="2723619">
                  <a:extLst>
                    <a:ext uri="{9D8B030D-6E8A-4147-A177-3AD203B41FA5}">
                      <a16:colId xmlns:a16="http://schemas.microsoft.com/office/drawing/2014/main" val="20000"/>
                    </a:ext>
                  </a:extLst>
                </a:gridCol>
                <a:gridCol w="2723619">
                  <a:extLst>
                    <a:ext uri="{9D8B030D-6E8A-4147-A177-3AD203B41FA5}">
                      <a16:colId xmlns:a16="http://schemas.microsoft.com/office/drawing/2014/main" val="20001"/>
                    </a:ext>
                  </a:extLst>
                </a:gridCol>
                <a:gridCol w="2723619">
                  <a:extLst>
                    <a:ext uri="{9D8B030D-6E8A-4147-A177-3AD203B41FA5}">
                      <a16:colId xmlns:a16="http://schemas.microsoft.com/office/drawing/2014/main" val="20002"/>
                    </a:ext>
                  </a:extLst>
                </a:gridCol>
                <a:gridCol w="2831134">
                  <a:extLst>
                    <a:ext uri="{9D8B030D-6E8A-4147-A177-3AD203B41FA5}">
                      <a16:colId xmlns:a16="http://schemas.microsoft.com/office/drawing/2014/main" val="20003"/>
                    </a:ext>
                  </a:extLst>
                </a:gridCol>
              </a:tblGrid>
              <a:tr h="1192121">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21 + 12 = 34</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36 = 19 + 17</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26 + 13 = 13 + 26</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42 + 19 = 26 + 17</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92121">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169 + 672 = 2041</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182 = 182</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19 + 15 = 20 + 16</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87 - 62 = 92 - 75</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31289">
                <a:tc>
                  <a:txBody>
                    <a:bodyPr/>
                    <a:lstStyle/>
                    <a:p>
                      <a:pPr algn="ctr">
                        <a:lnSpc>
                          <a:spcPts val="2940"/>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346 + 289 = 349 + 286</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080"/>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831 - 344 = 941 - 234</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220"/>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727 + 581 - 581 = 727</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220"/>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861 - 344 + 344 = 861</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TextBox 6">
            <a:extLst>
              <a:ext uri="{FF2B5EF4-FFF2-40B4-BE49-F238E27FC236}">
                <a16:creationId xmlns:a16="http://schemas.microsoft.com/office/drawing/2014/main" id="{6F17304E-FBE5-D16A-BC60-ED5BF1DE9FF0}"/>
              </a:ext>
            </a:extLst>
          </p:cNvPr>
          <p:cNvSpPr txBox="1"/>
          <p:nvPr/>
        </p:nvSpPr>
        <p:spPr>
          <a:xfrm>
            <a:off x="2918726" y="991144"/>
            <a:ext cx="6094562" cy="1131848"/>
          </a:xfrm>
          <a:prstGeom prst="rect">
            <a:avLst/>
          </a:prstGeom>
          <a:noFill/>
        </p:spPr>
        <p:txBody>
          <a:bodyPr wrap="square">
            <a:spAutoFit/>
          </a:bodyPr>
          <a:lstStyle/>
          <a:p>
            <a:pPr algn="ctr">
              <a:lnSpc>
                <a:spcPct val="150000"/>
              </a:lnSpc>
            </a:pPr>
            <a:r>
              <a:rPr lang="en-AU" sz="2400">
                <a:latin typeface="Arial" panose="020B0604020202020204" pitchFamily="34" charset="0"/>
                <a:cs typeface="Arial" panose="020B0604020202020204" pitchFamily="34" charset="0"/>
              </a:rPr>
              <a:t>Is this true or false?</a:t>
            </a:r>
          </a:p>
          <a:p>
            <a:pPr algn="ctr">
              <a:lnSpc>
                <a:spcPct val="150000"/>
              </a:lnSpc>
            </a:pPr>
            <a:r>
              <a:rPr lang="en-AU" sz="2400">
                <a:solidFill>
                  <a:srgbClr val="00A278"/>
                </a:solidFill>
                <a:latin typeface="Arial" panose="020B0604020202020204" pitchFamily="34" charset="0"/>
                <a:cs typeface="Arial" panose="020B0604020202020204" pitchFamily="34" charset="0"/>
              </a:rPr>
              <a:t>27 + 13 = 11 + 29</a:t>
            </a:r>
          </a:p>
        </p:txBody>
      </p:sp>
      <p:sp>
        <p:nvSpPr>
          <p:cNvPr id="9" name="TextBox 8">
            <a:extLst>
              <a:ext uri="{FF2B5EF4-FFF2-40B4-BE49-F238E27FC236}">
                <a16:creationId xmlns:a16="http://schemas.microsoft.com/office/drawing/2014/main" id="{D55D838F-EA94-FAF2-7DD4-C27A630F49D8}"/>
              </a:ext>
            </a:extLst>
          </p:cNvPr>
          <p:cNvSpPr txBox="1"/>
          <p:nvPr/>
        </p:nvSpPr>
        <p:spPr>
          <a:xfrm>
            <a:off x="2918726" y="2122992"/>
            <a:ext cx="6094562" cy="716350"/>
          </a:xfrm>
          <a:prstGeom prst="rect">
            <a:avLst/>
          </a:prstGeom>
          <a:noFill/>
        </p:spPr>
        <p:txBody>
          <a:bodyPr wrap="square">
            <a:spAutoFit/>
          </a:bodyPr>
          <a:lstStyle/>
          <a:p>
            <a:pPr algn="ctr">
              <a:lnSpc>
                <a:spcPct val="200000"/>
              </a:lnSpc>
            </a:pPr>
            <a:r>
              <a:rPr lang="en-AU">
                <a:latin typeface="Arial" panose="020B0604020202020204" pitchFamily="34" charset="0"/>
                <a:cs typeface="Arial" panose="020B0604020202020204" pitchFamily="34" charset="0"/>
              </a:rPr>
              <a:t>What about these?</a:t>
            </a:r>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2057400" y="1883327"/>
            <a:ext cx="7851570" cy="893226"/>
          </a:xfrm>
        </p:spPr>
        <p:txBody>
          <a:bodyPr/>
          <a:lstStyle/>
          <a:p>
            <a:pPr algn="ctr"/>
            <a:r>
              <a:rPr lang="en-AU" sz="5400"/>
              <a:t>899 + 676 = 1099 + 500</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2080958644"/>
              </p:ext>
            </p:extLst>
          </p:nvPr>
        </p:nvGraphicFramePr>
        <p:xfrm>
          <a:off x="2442981" y="4081448"/>
          <a:ext cx="7077076" cy="82296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8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8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7" name="TextBox 6">
            <a:extLst>
              <a:ext uri="{FF2B5EF4-FFF2-40B4-BE49-F238E27FC236}">
                <a16:creationId xmlns:a16="http://schemas.microsoft.com/office/drawing/2014/main" id="{44171717-EF88-34F7-2A81-B33B5C7752D8}"/>
              </a:ext>
            </a:extLst>
          </p:cNvPr>
          <p:cNvSpPr txBox="1"/>
          <p:nvPr/>
        </p:nvSpPr>
        <p:spPr>
          <a:xfrm>
            <a:off x="1425284" y="5567679"/>
            <a:ext cx="9112469" cy="769441"/>
          </a:xfrm>
          <a:prstGeom prst="rect">
            <a:avLst/>
          </a:prstGeom>
          <a:noFill/>
        </p:spPr>
        <p:txBody>
          <a:bodyPr wrap="square">
            <a:spAutoFit/>
          </a:body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8" name="TextBox 7">
            <a:extLst>
              <a:ext uri="{FF2B5EF4-FFF2-40B4-BE49-F238E27FC236}">
                <a16:creationId xmlns:a16="http://schemas.microsoft.com/office/drawing/2014/main" id="{11F3C7D2-B95A-F969-7FE1-14F32977150A}"/>
              </a:ext>
            </a:extLst>
          </p:cNvPr>
          <p:cNvSpPr txBox="1"/>
          <p:nvPr/>
        </p:nvSpPr>
        <p:spPr>
          <a:xfrm>
            <a:off x="833802" y="1153948"/>
            <a:ext cx="10524395" cy="545601"/>
          </a:xfrm>
          <a:prstGeom prst="rect">
            <a:avLst/>
          </a:prstGeom>
          <a:noFill/>
        </p:spPr>
        <p:txBody>
          <a:bodyPr wrap="square" lIns="0" tIns="0" rIns="0" bIns="0" rtlCol="0">
            <a:noAutofit/>
          </a:bodyPr>
          <a:lstStyle/>
          <a:p>
            <a:pPr algn="ctr">
              <a:lnSpc>
                <a:spcPct val="150000"/>
              </a:lnSpc>
            </a:pPr>
            <a:r>
              <a:rPr lang="en-AU" sz="3600"/>
              <a:t>Read the time on these </a:t>
            </a:r>
            <a:r>
              <a:rPr lang="en-AU" sz="3600" err="1"/>
              <a:t>analog</a:t>
            </a:r>
            <a:r>
              <a:rPr lang="en-AU" sz="3600"/>
              <a:t> clocks using the terms ‘</a:t>
            </a:r>
            <a:r>
              <a:rPr lang="en-AU" sz="3600" b="1"/>
              <a:t>past</a:t>
            </a:r>
            <a:r>
              <a:rPr lang="en-AU" sz="3600"/>
              <a:t>’</a:t>
            </a:r>
            <a:r>
              <a:rPr lang="en-AU" sz="3600" b="1"/>
              <a:t> </a:t>
            </a:r>
            <a:r>
              <a:rPr lang="en-AU" sz="3600"/>
              <a:t>or ‘</a:t>
            </a:r>
            <a:r>
              <a:rPr lang="en-AU" sz="3600" b="1"/>
              <a:t>to</a:t>
            </a:r>
            <a:r>
              <a:rPr lang="en-AU" sz="3600"/>
              <a:t>’.</a:t>
            </a:r>
          </a:p>
        </p:txBody>
      </p:sp>
      <p:sp>
        <p:nvSpPr>
          <p:cNvPr id="5" name="TextBox 4">
            <a:extLst>
              <a:ext uri="{FF2B5EF4-FFF2-40B4-BE49-F238E27FC236}">
                <a16:creationId xmlns:a16="http://schemas.microsoft.com/office/drawing/2014/main" id="{ED69DB99-0435-E110-4530-11F31EF513B6}"/>
              </a:ext>
            </a:extLst>
          </p:cNvPr>
          <p:cNvSpPr txBox="1"/>
          <p:nvPr/>
        </p:nvSpPr>
        <p:spPr>
          <a:xfrm>
            <a:off x="2787106" y="5836902"/>
            <a:ext cx="2212737" cy="545601"/>
          </a:xfrm>
          <a:prstGeom prst="rect">
            <a:avLst/>
          </a:prstGeom>
          <a:noFill/>
        </p:spPr>
        <p:txBody>
          <a:bodyPr wrap="square" lIns="0" tIns="0" rIns="0" bIns="0" rtlCol="0">
            <a:noAutofit/>
          </a:bodyPr>
          <a:lstStyle/>
          <a:p>
            <a:pPr algn="ctr">
              <a:lnSpc>
                <a:spcPct val="150000"/>
              </a:lnSpc>
            </a:pPr>
            <a:r>
              <a:rPr lang="en-AU" sz="4000"/>
              <a:t>clock A</a:t>
            </a:r>
          </a:p>
        </p:txBody>
      </p:sp>
      <p:pic>
        <p:nvPicPr>
          <p:cNvPr id="14" name="Picture 13" descr="an analog clock with the time quarter to eight represented">
            <a:extLst>
              <a:ext uri="{FF2B5EF4-FFF2-40B4-BE49-F238E27FC236}">
                <a16:creationId xmlns:a16="http://schemas.microsoft.com/office/drawing/2014/main" id="{26121153-CF1B-C7C1-2934-182EBF8A1136}"/>
              </a:ext>
            </a:extLst>
          </p:cNvPr>
          <p:cNvPicPr>
            <a:picLocks noChangeAspect="1"/>
          </p:cNvPicPr>
          <p:nvPr/>
        </p:nvPicPr>
        <p:blipFill>
          <a:blip r:embed="rId4"/>
          <a:srcRect l="10783" t="7664"/>
          <a:stretch>
            <a:fillRect/>
          </a:stretch>
        </p:blipFill>
        <p:spPr>
          <a:xfrm>
            <a:off x="2297600" y="2787349"/>
            <a:ext cx="3301568" cy="3240000"/>
          </a:xfrm>
          <a:prstGeom prst="rect">
            <a:avLst/>
          </a:prstGeom>
        </p:spPr>
      </p:pic>
      <p:sp>
        <p:nvSpPr>
          <p:cNvPr id="9" name="TextBox 8">
            <a:extLst>
              <a:ext uri="{FF2B5EF4-FFF2-40B4-BE49-F238E27FC236}">
                <a16:creationId xmlns:a16="http://schemas.microsoft.com/office/drawing/2014/main" id="{468C02DD-5239-7B21-9458-8D265ADCA505}"/>
              </a:ext>
            </a:extLst>
          </p:cNvPr>
          <p:cNvSpPr txBox="1"/>
          <p:nvPr/>
        </p:nvSpPr>
        <p:spPr>
          <a:xfrm>
            <a:off x="7192157" y="5787354"/>
            <a:ext cx="2212737" cy="545601"/>
          </a:xfrm>
          <a:prstGeom prst="rect">
            <a:avLst/>
          </a:prstGeom>
          <a:noFill/>
        </p:spPr>
        <p:txBody>
          <a:bodyPr wrap="square" lIns="0" tIns="0" rIns="0" bIns="0" rtlCol="0">
            <a:noAutofit/>
          </a:bodyPr>
          <a:lstStyle/>
          <a:p>
            <a:pPr algn="ctr">
              <a:lnSpc>
                <a:spcPct val="150000"/>
              </a:lnSpc>
            </a:pPr>
            <a:r>
              <a:rPr lang="en-AU" sz="4000"/>
              <a:t>clock B</a:t>
            </a:r>
          </a:p>
        </p:txBody>
      </p:sp>
      <p:pic>
        <p:nvPicPr>
          <p:cNvPr id="7" name="Picture 6" descr="An analog clock representing seven sixteen">
            <a:extLst>
              <a:ext uri="{FF2B5EF4-FFF2-40B4-BE49-F238E27FC236}">
                <a16:creationId xmlns:a16="http://schemas.microsoft.com/office/drawing/2014/main" id="{ECE6C8DD-4D9E-3E0F-6FEF-7E4D78918FB9}"/>
              </a:ext>
            </a:extLst>
          </p:cNvPr>
          <p:cNvPicPr>
            <a:picLocks noChangeAspect="1"/>
          </p:cNvPicPr>
          <p:nvPr/>
        </p:nvPicPr>
        <p:blipFill>
          <a:blip r:embed="rId5"/>
          <a:stretch>
            <a:fillRect/>
          </a:stretch>
        </p:blipFill>
        <p:spPr>
          <a:xfrm>
            <a:off x="6483012" y="2703100"/>
            <a:ext cx="3521205" cy="3240000"/>
          </a:xfrm>
          <a:prstGeom prst="rect">
            <a:avLst/>
          </a:prstGeom>
        </p:spPr>
      </p:pic>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5" name="TextBox 4">
            <a:extLst>
              <a:ext uri="{FF2B5EF4-FFF2-40B4-BE49-F238E27FC236}">
                <a16:creationId xmlns:a16="http://schemas.microsoft.com/office/drawing/2014/main" id="{AF5F159A-F51E-AF22-C7FD-23CA83CDCF00}"/>
              </a:ext>
            </a:extLst>
          </p:cNvPr>
          <p:cNvSpPr txBox="1"/>
          <p:nvPr/>
        </p:nvSpPr>
        <p:spPr>
          <a:xfrm>
            <a:off x="360000" y="2169295"/>
            <a:ext cx="6752720" cy="2171428"/>
          </a:xfrm>
          <a:prstGeom prst="rect">
            <a:avLst/>
          </a:prstGeom>
          <a:noFill/>
        </p:spPr>
        <p:txBody>
          <a:bodyPr wrap="square">
            <a:spAutoFit/>
          </a:bodyPr>
          <a:lstStyle/>
          <a:p>
            <a:pPr algn="ctr">
              <a:lnSpc>
                <a:spcPct val="150000"/>
              </a:lnSpc>
              <a:spcBef>
                <a:spcPts val="1200"/>
              </a:spcBef>
              <a:spcAft>
                <a:spcPts val="600"/>
              </a:spcAft>
            </a:pPr>
            <a:r>
              <a:rPr lang="en-AU" sz="4800" b="0" i="0">
                <a:solidFill>
                  <a:srgbClr val="000000"/>
                </a:solidFill>
                <a:effectLst/>
                <a:latin typeface="Arial" panose="020B0604020202020204" pitchFamily="34" charset="0"/>
              </a:rPr>
              <a:t>Record the </a:t>
            </a:r>
            <a:r>
              <a:rPr lang="en-AU" sz="4800" b="1" i="0">
                <a:solidFill>
                  <a:srgbClr val="000000"/>
                </a:solidFill>
                <a:effectLst/>
                <a:latin typeface="Arial" panose="020B0604020202020204" pitchFamily="34" charset="0"/>
              </a:rPr>
              <a:t>volume</a:t>
            </a:r>
            <a:r>
              <a:rPr lang="en-AU" sz="4800" b="0" i="0">
                <a:solidFill>
                  <a:srgbClr val="000000"/>
                </a:solidFill>
                <a:effectLst/>
                <a:latin typeface="Arial" panose="020B0604020202020204" pitchFamily="34" charset="0"/>
              </a:rPr>
              <a:t> of water in </a:t>
            </a:r>
            <a:r>
              <a:rPr lang="en-AU" sz="4800" b="1" i="0">
                <a:solidFill>
                  <a:srgbClr val="000000"/>
                </a:solidFill>
                <a:effectLst/>
                <a:latin typeface="Arial" panose="020B0604020202020204" pitchFamily="34" charset="0"/>
              </a:rPr>
              <a:t>litres</a:t>
            </a:r>
            <a:r>
              <a:rPr lang="en-AU" sz="4400" b="0" i="0">
                <a:solidFill>
                  <a:srgbClr val="000000"/>
                </a:solidFill>
                <a:effectLst/>
                <a:latin typeface="Arial" panose="020B0604020202020204" pitchFamily="34" charset="0"/>
              </a:rPr>
              <a:t>.</a:t>
            </a:r>
            <a:endParaRPr lang="en-AU" sz="4400"/>
          </a:p>
        </p:txBody>
      </p:sp>
      <p:sp>
        <p:nvSpPr>
          <p:cNvPr id="4" name="TextBox 3">
            <a:extLst>
              <a:ext uri="{FF2B5EF4-FFF2-40B4-BE49-F238E27FC236}">
                <a16:creationId xmlns:a16="http://schemas.microsoft.com/office/drawing/2014/main" id="{133704D1-AA3F-B488-5A5E-80C23A048351}"/>
              </a:ext>
            </a:extLst>
          </p:cNvPr>
          <p:cNvSpPr txBox="1"/>
          <p:nvPr/>
        </p:nvSpPr>
        <p:spPr>
          <a:xfrm>
            <a:off x="1425284" y="5567679"/>
            <a:ext cx="9112469" cy="769441"/>
          </a:xfrm>
          <a:prstGeom prst="rect">
            <a:avLst/>
          </a:prstGeom>
          <a:noFill/>
        </p:spPr>
        <p:txBody>
          <a:bodyPr wrap="square">
            <a:spAutoFit/>
          </a:bodyPr>
          <a:lstStyle/>
          <a:p>
            <a:pPr algn="ctr"/>
            <a:r>
              <a:rPr lang="en-AU" sz="4400" b="1"/>
              <a:t>Communicate</a:t>
            </a:r>
            <a:r>
              <a:rPr lang="en-AU" sz="4400"/>
              <a:t> your </a:t>
            </a:r>
            <a:r>
              <a:rPr lang="en-AU" sz="4400" b="1"/>
              <a:t>reasoning</a:t>
            </a:r>
            <a:r>
              <a:rPr lang="en-AU" sz="4400"/>
              <a:t>.</a:t>
            </a:r>
          </a:p>
        </p:txBody>
      </p:sp>
      <p:pic>
        <p:nvPicPr>
          <p:cNvPr id="8" name="Picture 7" descr="A water jug holding 1000 mL of water">
            <a:extLst>
              <a:ext uri="{FF2B5EF4-FFF2-40B4-BE49-F238E27FC236}">
                <a16:creationId xmlns:a16="http://schemas.microsoft.com/office/drawing/2014/main" id="{C222550D-4A45-66D7-168B-BA6587E60541}"/>
              </a:ext>
            </a:extLst>
          </p:cNvPr>
          <p:cNvPicPr>
            <a:picLocks noChangeAspect="1"/>
          </p:cNvPicPr>
          <p:nvPr/>
        </p:nvPicPr>
        <p:blipFill>
          <a:blip r:embed="rId4"/>
          <a:stretch>
            <a:fillRect/>
          </a:stretch>
        </p:blipFill>
        <p:spPr>
          <a:xfrm>
            <a:off x="7645865" y="1290320"/>
            <a:ext cx="4198135" cy="3929379"/>
          </a:xfrm>
          <a:prstGeom prst="rect">
            <a:avLst/>
          </a:prstGeom>
        </p:spPr>
      </p:pic>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10" name="Picture 9">
            <a:extLst>
              <a:ext uri="{FF2B5EF4-FFF2-40B4-BE49-F238E27FC236}">
                <a16:creationId xmlns:a16="http://schemas.microsoft.com/office/drawing/2014/main" id="{2087D94A-C83D-55EC-4C07-5AA8BDACD6FB}"/>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469300" y="2516151"/>
            <a:ext cx="2476676" cy="2285619"/>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49831E0-11EB-4662-9A5B-3AB1707FA282}"/>
                  </a:ext>
                </a:extLst>
              </p:cNvPr>
              <p:cNvSpPr txBox="1"/>
              <p:nvPr/>
            </p:nvSpPr>
            <p:spPr>
              <a:xfrm>
                <a:off x="360000" y="905601"/>
                <a:ext cx="9565050" cy="2753360"/>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3200"/>
                  <a:t>Mia stated she had a </a:t>
                </a:r>
                <a14:m>
                  <m:oMath xmlns:m="http://schemas.openxmlformats.org/officeDocument/2006/math">
                    <m:f>
                      <m:fPr>
                        <m:ctrlPr>
                          <a:rPr lang="en-AU" sz="3200" b="1" i="1" dirty="0" smtClean="0">
                            <a:latin typeface="Cambria Math" panose="02040503050406030204" pitchFamily="18" charset="0"/>
                          </a:rPr>
                        </m:ctrlPr>
                      </m:fPr>
                      <m:num>
                        <m:r>
                          <a:rPr lang="en-AU" sz="3200" b="1" i="1" dirty="0" smtClean="0">
                            <a:latin typeface="Cambria Math" panose="02040503050406030204" pitchFamily="18" charset="0"/>
                          </a:rPr>
                          <m:t>𝟏</m:t>
                        </m:r>
                      </m:num>
                      <m:den>
                        <m:r>
                          <a:rPr lang="en-AU" sz="3200" b="1" i="1" dirty="0" smtClean="0">
                            <a:latin typeface="Cambria Math" panose="02040503050406030204" pitchFamily="18" charset="0"/>
                          </a:rPr>
                          <m:t>𝟔</m:t>
                        </m:r>
                      </m:den>
                    </m:f>
                  </m:oMath>
                </a14:m>
                <a:r>
                  <a:rPr lang="en-AU" sz="3200"/>
                  <a:t>  chance to roll a 3 on a standard dice. She planned to roll it 6 times and predicted that she would roll a 3 twice.</a:t>
                </a:r>
              </a:p>
              <a:p>
                <a:pPr algn="ctr">
                  <a:lnSpc>
                    <a:spcPct val="150000"/>
                  </a:lnSpc>
                  <a:spcBef>
                    <a:spcPts val="1200"/>
                  </a:spcBef>
                  <a:spcAft>
                    <a:spcPts val="600"/>
                  </a:spcAft>
                </a:pPr>
                <a:r>
                  <a:rPr lang="en-AU" sz="3200"/>
                  <a:t>Mia then rolled </a:t>
                </a:r>
                <a:r>
                  <a:rPr lang="en-AU" sz="3200" b="1"/>
                  <a:t>6, 3, 2, 1, 1, 5.</a:t>
                </a:r>
              </a:p>
              <a:p>
                <a:pPr algn="ctr">
                  <a:lnSpc>
                    <a:spcPct val="150000"/>
                  </a:lnSpc>
                  <a:spcBef>
                    <a:spcPts val="1200"/>
                  </a:spcBef>
                  <a:spcAft>
                    <a:spcPts val="600"/>
                  </a:spcAft>
                </a:pPr>
                <a:r>
                  <a:rPr lang="en-AU" sz="3200"/>
                  <a:t>How does her </a:t>
                </a:r>
                <a:r>
                  <a:rPr lang="en-AU" sz="3200" b="1"/>
                  <a:t>prediction compare </a:t>
                </a:r>
                <a:r>
                  <a:rPr lang="en-AU" sz="3200"/>
                  <a:t>to the results?</a:t>
                </a:r>
              </a:p>
              <a:p>
                <a:pPr algn="ctr">
                  <a:lnSpc>
                    <a:spcPct val="150000"/>
                  </a:lnSpc>
                  <a:spcBef>
                    <a:spcPts val="1200"/>
                  </a:spcBef>
                  <a:spcAft>
                    <a:spcPts val="600"/>
                  </a:spcAft>
                </a:pPr>
                <a:r>
                  <a:rPr lang="en-AU" sz="3200" b="1"/>
                  <a:t>Communicate</a:t>
                </a:r>
                <a:r>
                  <a:rPr lang="en-AU" sz="3200"/>
                  <a:t> your </a:t>
                </a:r>
                <a:r>
                  <a:rPr lang="en-AU" sz="3200" b="1"/>
                  <a:t>reasoning</a:t>
                </a:r>
                <a:r>
                  <a:rPr lang="en-AU" sz="3200"/>
                  <a:t>.</a:t>
                </a:r>
              </a:p>
            </p:txBody>
          </p:sp>
        </mc:Choice>
        <mc:Fallback xmlns="">
          <p:sp>
            <p:nvSpPr>
              <p:cNvPr id="11" name="TextBox 10">
                <a:extLst>
                  <a:ext uri="{FF2B5EF4-FFF2-40B4-BE49-F238E27FC236}">
                    <a16:creationId xmlns:a16="http://schemas.microsoft.com/office/drawing/2014/main" id="{D49831E0-11EB-4662-9A5B-3AB1707FA282}"/>
                  </a:ext>
                </a:extLst>
              </p:cNvPr>
              <p:cNvSpPr txBox="1">
                <a:spLocks noRot="1" noChangeAspect="1" noMove="1" noResize="1" noEditPoints="1" noAdjustHandles="1" noChangeArrowheads="1" noChangeShapeType="1" noTextEdit="1"/>
              </p:cNvSpPr>
              <p:nvPr/>
            </p:nvSpPr>
            <p:spPr>
              <a:xfrm>
                <a:off x="360000" y="905601"/>
                <a:ext cx="9565050" cy="2753360"/>
              </a:xfrm>
              <a:prstGeom prst="rect">
                <a:avLst/>
              </a:prstGeom>
              <a:blipFill>
                <a:blip r:embed="rId5"/>
                <a:stretch>
                  <a:fillRect b="-101996"/>
                </a:stretch>
              </a:blipFill>
            </p:spPr>
            <p:txBody>
              <a:bodyPr/>
              <a:lstStyle/>
              <a:p>
                <a:r>
                  <a:rPr lang="en-US">
                    <a:noFill/>
                  </a:rPr>
                  <a:t> </a:t>
                </a:r>
              </a:p>
            </p:txBody>
          </p:sp>
        </mc:Fallback>
      </mc:AlternateContent>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4" name="TextBox 3">
            <a:extLst>
              <a:ext uri="{FF2B5EF4-FFF2-40B4-BE49-F238E27FC236}">
                <a16:creationId xmlns:a16="http://schemas.microsoft.com/office/drawing/2014/main" id="{37F6880E-583D-201D-FDDB-61215272DE0C}"/>
              </a:ext>
            </a:extLst>
          </p:cNvPr>
          <p:cNvSpPr txBox="1"/>
          <p:nvPr/>
        </p:nvSpPr>
        <p:spPr>
          <a:xfrm>
            <a:off x="912366" y="1925596"/>
            <a:ext cx="10367268" cy="1689410"/>
          </a:xfrm>
          <a:prstGeom prst="rect">
            <a:avLst/>
          </a:prstGeom>
          <a:noFill/>
        </p:spPr>
        <p:txBody>
          <a:bodyPr wrap="square" lIns="0" tIns="0" rIns="0" bIns="0" rtlCol="0">
            <a:noAutofit/>
          </a:bodyPr>
          <a:lstStyle/>
          <a:p>
            <a:pPr algn="ctr">
              <a:lnSpc>
                <a:spcPct val="150000"/>
              </a:lnSpc>
            </a:pPr>
            <a:r>
              <a:rPr lang="en-AU" sz="4400"/>
              <a:t>Create a </a:t>
            </a:r>
            <a:r>
              <a:rPr lang="en-AU" sz="4400" b="1"/>
              <a:t>question</a:t>
            </a:r>
            <a:r>
              <a:rPr lang="en-AU" sz="4400"/>
              <a:t> to </a:t>
            </a:r>
            <a:r>
              <a:rPr lang="en-AU" sz="4400" b="1"/>
              <a:t>gather </a:t>
            </a:r>
            <a:r>
              <a:rPr lang="en-AU" sz="4400"/>
              <a:t>data about the</a:t>
            </a:r>
            <a:r>
              <a:rPr lang="en-AU" sz="4400" b="1"/>
              <a:t> most common forms of transport </a:t>
            </a:r>
            <a:r>
              <a:rPr lang="en-AU" sz="4400"/>
              <a:t>your classmates use to </a:t>
            </a:r>
            <a:r>
              <a:rPr lang="en-AU" sz="4400" b="1"/>
              <a:t>get to school</a:t>
            </a:r>
            <a:r>
              <a:rPr lang="en-AU" sz="4400"/>
              <a:t>. </a:t>
            </a:r>
          </a:p>
          <a:p>
            <a:pPr algn="ctr">
              <a:lnSpc>
                <a:spcPct val="150000"/>
              </a:lnSpc>
            </a:pPr>
            <a:endParaRPr lang="en-AU" sz="4400" b="1"/>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0F479-6206-1D39-CF8E-36DF85F6AD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E993858-827E-472C-30EF-6DBEFD6BD8C3}"/>
              </a:ext>
            </a:extLst>
          </p:cNvPr>
          <p:cNvSpPr>
            <a:spLocks noGrp="1"/>
          </p:cNvSpPr>
          <p:nvPr>
            <p:ph type="title"/>
          </p:nvPr>
        </p:nvSpPr>
        <p:spPr>
          <a:xfrm>
            <a:off x="360000" y="360000"/>
            <a:ext cx="10367268" cy="545601"/>
          </a:xfrm>
        </p:spPr>
        <p:txBody>
          <a:bodyPr/>
          <a:lstStyle/>
          <a:p>
            <a:r>
              <a:rPr lang="en-AU">
                <a:latin typeface="Arial"/>
                <a:cs typeface="Arial"/>
              </a:rPr>
              <a:t>Activity 8 – true or false number sentences 2</a:t>
            </a:r>
          </a:p>
        </p:txBody>
      </p:sp>
      <p:pic>
        <p:nvPicPr>
          <p:cNvPr id="4" name="Picture 3">
            <a:extLst>
              <a:ext uri="{FF2B5EF4-FFF2-40B4-BE49-F238E27FC236}">
                <a16:creationId xmlns:a16="http://schemas.microsoft.com/office/drawing/2014/main" id="{D7EA50E5-21B7-B108-0A21-ACD45A075C8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744938CE-7960-A1B2-DD0A-689F367DF33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graphicFrame>
        <p:nvGraphicFramePr>
          <p:cNvPr id="3" name="Table 2">
            <a:extLst>
              <a:ext uri="{FF2B5EF4-FFF2-40B4-BE49-F238E27FC236}">
                <a16:creationId xmlns:a16="http://schemas.microsoft.com/office/drawing/2014/main" id="{07F38992-EBCA-E835-C4BA-59D3B7CE0D90}"/>
              </a:ext>
            </a:extLst>
          </p:cNvPr>
          <p:cNvGraphicFramePr>
            <a:graphicFrameLocks noGrp="1"/>
          </p:cNvGraphicFramePr>
          <p:nvPr>
            <p:extLst>
              <p:ext uri="{D42A27DB-BD31-4B8C-83A1-F6EECF244321}">
                <p14:modId xmlns:p14="http://schemas.microsoft.com/office/powerpoint/2010/main" val="1556908718"/>
              </p:ext>
            </p:extLst>
          </p:nvPr>
        </p:nvGraphicFramePr>
        <p:xfrm>
          <a:off x="483155" y="1712469"/>
          <a:ext cx="11001991" cy="3515531"/>
        </p:xfrm>
        <a:graphic>
          <a:graphicData uri="http://schemas.openxmlformats.org/drawingml/2006/table">
            <a:tbl>
              <a:tblPr/>
              <a:tblGrid>
                <a:gridCol w="2723619">
                  <a:extLst>
                    <a:ext uri="{9D8B030D-6E8A-4147-A177-3AD203B41FA5}">
                      <a16:colId xmlns:a16="http://schemas.microsoft.com/office/drawing/2014/main" val="20000"/>
                    </a:ext>
                  </a:extLst>
                </a:gridCol>
                <a:gridCol w="2723619">
                  <a:extLst>
                    <a:ext uri="{9D8B030D-6E8A-4147-A177-3AD203B41FA5}">
                      <a16:colId xmlns:a16="http://schemas.microsoft.com/office/drawing/2014/main" val="20001"/>
                    </a:ext>
                  </a:extLst>
                </a:gridCol>
                <a:gridCol w="2723619">
                  <a:extLst>
                    <a:ext uri="{9D8B030D-6E8A-4147-A177-3AD203B41FA5}">
                      <a16:colId xmlns:a16="http://schemas.microsoft.com/office/drawing/2014/main" val="20002"/>
                    </a:ext>
                  </a:extLst>
                </a:gridCol>
                <a:gridCol w="2831134">
                  <a:extLst>
                    <a:ext uri="{9D8B030D-6E8A-4147-A177-3AD203B41FA5}">
                      <a16:colId xmlns:a16="http://schemas.microsoft.com/office/drawing/2014/main" val="20003"/>
                    </a:ext>
                  </a:extLst>
                </a:gridCol>
              </a:tblGrid>
              <a:tr h="1192121">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21 + 12 = 34</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36 = 19 + 17</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26 + 13 = 13 + 26</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42 + 19 = 26 + 17</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92121">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169 + 672 = 2041</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182 = 182</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19 + 15 = 20 + 16</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919"/>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87 - 62 = 92 - 75</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31289">
                <a:tc>
                  <a:txBody>
                    <a:bodyPr/>
                    <a:lstStyle/>
                    <a:p>
                      <a:pPr algn="ctr">
                        <a:lnSpc>
                          <a:spcPts val="2940"/>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346 + 289 = 349 + 286</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080"/>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831 - 344 = 941 - 234</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220"/>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727 + 581 - 581 = 727</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220"/>
                        </a:lnSpc>
                        <a:defRPr/>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861 - 344 + 344 = 861</a:t>
                      </a:r>
                      <a:endParaRPr lang="en-US" sz="1800">
                        <a:latin typeface="Arial" panose="020B0604020202020204" pitchFamily="34" charset="0"/>
                        <a:cs typeface="Arial" panose="020B0604020202020204" pitchFamily="34" charset="0"/>
                      </a:endParaRPr>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45236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4 November 2025) and was not modified.</a:t>
            </a:r>
          </a:p>
          <a:p>
            <a:r>
              <a:rPr lang="en-AU"/>
              <a:t>Australians Together (2023) </a:t>
            </a:r>
            <a:r>
              <a:rPr lang="en-AU" i="1" u="sng">
                <a:hlinkClick r:id="rId9"/>
              </a:rPr>
              <a:t>Teacher guide Y5 maths: Comparing 12- and 24-hour time systems and Indigenous concepts of time</a:t>
            </a:r>
            <a:r>
              <a:rPr lang="en-AU" u="sng">
                <a:hlinkClick r:id="rId9"/>
              </a:rPr>
              <a:t> [PDF 2.32 MB]</a:t>
            </a:r>
            <a:r>
              <a:rPr lang="en-AU"/>
              <a:t>, Australians Together, accessed 19 July 2023.</a:t>
            </a:r>
          </a:p>
          <a:p>
            <a:r>
              <a:rPr lang="en-AU"/>
              <a:t>Merrill J (2022) </a:t>
            </a:r>
            <a:r>
              <a:rPr lang="en-AU" i="1" u="sng">
                <a:hlinkClick r:id="rId10"/>
              </a:rPr>
              <a:t>Time to Win</a:t>
            </a:r>
            <a:r>
              <a:rPr lang="en-AU" i="1"/>
              <a:t>,</a:t>
            </a:r>
            <a:r>
              <a:rPr lang="en-AU"/>
              <a:t> The Mathematical Isles of What If...? website, accessed 19 July 2023.</a:t>
            </a:r>
          </a:p>
          <a:p>
            <a:r>
              <a:rPr lang="en-AU"/>
              <a:t>New Zealand Ministry of Education (2026) ‘</a:t>
            </a:r>
            <a:r>
              <a:rPr lang="en-AU" u="sng">
                <a:hlinkClick r:id="rId11"/>
              </a:rPr>
              <a:t>Just a minute</a:t>
            </a:r>
            <a:r>
              <a:rPr lang="en-AU"/>
              <a:t>’, </a:t>
            </a:r>
            <a:r>
              <a:rPr lang="en-AU" i="1"/>
              <a:t>Measurement</a:t>
            </a:r>
            <a:r>
              <a:rPr lang="en-AU"/>
              <a:t>, </a:t>
            </a:r>
            <a:r>
              <a:rPr lang="en-AU" err="1"/>
              <a:t>Tāhūrangi</a:t>
            </a:r>
            <a:r>
              <a:rPr lang="en-AU"/>
              <a:t> - New Zealand Curriculum website, accessed 19 July 2023.</a:t>
            </a:r>
          </a:p>
          <a:p>
            <a:r>
              <a:rPr lang="en-AU"/>
              <a:t>NZ Maths (n.d.) </a:t>
            </a:r>
            <a:r>
              <a:rPr lang="en-AU" i="1" u="sng">
                <a:hlinkClick r:id="rId12"/>
              </a:rPr>
              <a:t>Clock wise (time)</a:t>
            </a:r>
            <a:r>
              <a:rPr lang="en-AU"/>
              <a:t>, Meaningful Maths website, accessed 19 July 2023.</a:t>
            </a:r>
          </a:p>
          <a:p>
            <a:r>
              <a:rPr lang="en-AU"/>
              <a:t>NZ Maths (n.d.) </a:t>
            </a:r>
            <a:r>
              <a:rPr lang="en-AU" i="1" u="sng" err="1">
                <a:hlinkClick r:id="rId13"/>
              </a:rPr>
              <a:t>Hinea's</a:t>
            </a:r>
            <a:r>
              <a:rPr lang="en-AU" i="1" u="sng">
                <a:hlinkClick r:id="rId13"/>
              </a:rPr>
              <a:t> watch's hands</a:t>
            </a:r>
            <a:r>
              <a:rPr lang="en-AU"/>
              <a:t>, Meaningful Maths website, accessed 19 July 2023.</a:t>
            </a:r>
          </a:p>
          <a:p>
            <a:endParaRPr lang="en-AU"/>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E7376-83A9-9D50-C9EE-B198543C6F1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3C6B925-96CA-BA6B-957A-9C73076A8F1D}"/>
              </a:ext>
            </a:extLst>
          </p:cNvPr>
          <p:cNvSpPr>
            <a:spLocks noGrp="1"/>
          </p:cNvSpPr>
          <p:nvPr>
            <p:ph type="title"/>
          </p:nvPr>
        </p:nvSpPr>
        <p:spPr/>
        <p:txBody>
          <a:bodyPr/>
          <a:lstStyle/>
          <a:p>
            <a:r>
              <a:rPr lang="en-AU">
                <a:latin typeface="+mj-lt"/>
              </a:rPr>
              <a:t>References (2)</a:t>
            </a:r>
          </a:p>
        </p:txBody>
      </p:sp>
      <p:sp>
        <p:nvSpPr>
          <p:cNvPr id="6" name="TextBox 5">
            <a:extLst>
              <a:ext uri="{FF2B5EF4-FFF2-40B4-BE49-F238E27FC236}">
                <a16:creationId xmlns:a16="http://schemas.microsoft.com/office/drawing/2014/main" id="{A1498DBE-DC27-8CB0-CF65-6AC8FBD4BBED}"/>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FEA94BAF-5092-DEE5-7FA7-2DD2F054B640}"/>
              </a:ext>
            </a:extLst>
          </p:cNvPr>
          <p:cNvSpPr>
            <a:spLocks noGrp="1"/>
          </p:cNvSpPr>
          <p:nvPr>
            <p:ph idx="1"/>
          </p:nvPr>
        </p:nvSpPr>
        <p:spPr/>
        <p:txBody>
          <a:bodyPr vert="horz" lIns="0" tIns="0" rIns="0" bIns="0" rtlCol="0" anchor="t">
            <a:noAutofit/>
          </a:bodyPr>
          <a:lstStyle/>
          <a:p>
            <a:r>
              <a:rPr lang="en-AU"/>
              <a:t>Queensland University of Technology (2014) </a:t>
            </a:r>
            <a:r>
              <a:rPr lang="en-AU" i="1" u="sng">
                <a:hlinkClick r:id="rId6"/>
              </a:rPr>
              <a:t>Yumi Deadly Maths: Measurement Prep to Year 9</a:t>
            </a:r>
            <a:r>
              <a:rPr lang="en-AU"/>
              <a:t>, prepared by the Yumi Deadly Centre, Queensland, accessed 4 November 2025.</a:t>
            </a:r>
          </a:p>
          <a:p>
            <a:r>
              <a:rPr lang="en-AU"/>
              <a:t>Russo J (2021) ‘</a:t>
            </a:r>
            <a:r>
              <a:rPr lang="en-AU" u="sng">
                <a:hlinkClick r:id="rId7"/>
              </a:rPr>
              <a:t>Let's Play: Number Sentences</a:t>
            </a:r>
            <a:r>
              <a:rPr lang="en-AU"/>
              <a:t>’, </a:t>
            </a:r>
            <a:r>
              <a:rPr lang="en-AU" i="1"/>
              <a:t>Prime Number</a:t>
            </a:r>
            <a:r>
              <a:rPr lang="en-AU"/>
              <a:t>, 36(2):4–5, </a:t>
            </a:r>
            <a:r>
              <a:rPr lang="en-AU" u="sng"/>
              <a:t>accessed 4 November 2025.</a:t>
            </a:r>
            <a:endParaRPr lang="en-AU"/>
          </a:p>
          <a:p>
            <a:r>
              <a:rPr lang="en-AU"/>
              <a:t>Siemon D, Warren E, Beswick K, Faragher R, Miller J, Horne M, </a:t>
            </a:r>
            <a:r>
              <a:rPr lang="en-AU" err="1"/>
              <a:t>Jazby</a:t>
            </a:r>
            <a:r>
              <a:rPr lang="en-AU"/>
              <a:t> D, Breed M, Clark J and Brady K (2021) </a:t>
            </a:r>
            <a:r>
              <a:rPr lang="en-AU" i="1"/>
              <a:t>Teaching Mathematics: Foundations to Middle Years</a:t>
            </a:r>
            <a:r>
              <a:rPr lang="en-AU"/>
              <a:t>, 3rd </a:t>
            </a:r>
            <a:r>
              <a:rPr lang="en-AU" err="1"/>
              <a:t>edn</a:t>
            </a:r>
            <a:r>
              <a:rPr lang="en-AU"/>
              <a:t>, Oxford University Press Australia and New Zealand.</a:t>
            </a:r>
          </a:p>
          <a:p>
            <a:r>
              <a:rPr lang="en-AU"/>
              <a:t>State of NSW, Department of Education and Training, Professional Support and Curriculum Directorate (2003) </a:t>
            </a:r>
            <a:r>
              <a:rPr lang="en-AU" i="1" u="sng">
                <a:hlinkClick r:id="rId8"/>
              </a:rPr>
              <a:t>Teaching about angles: Stage 2</a:t>
            </a:r>
            <a:r>
              <a:rPr lang="en-AU" u="sng"/>
              <a:t> [PDF 3.36 MB]</a:t>
            </a:r>
            <a:r>
              <a:rPr lang="en-AU"/>
              <a:t>, Department of Education and Training website, accessed 4 November 2025.</a:t>
            </a:r>
          </a:p>
          <a:p>
            <a:r>
              <a:rPr lang="en-AU"/>
              <a:t>Sullivan P (2018) </a:t>
            </a:r>
            <a:r>
              <a:rPr lang="en-AU" i="1"/>
              <a:t>Challenging Mathematical tasks: Unlocking the Potential of all Students</a:t>
            </a:r>
            <a:r>
              <a:rPr lang="en-AU"/>
              <a:t>, Oxford University Press, Australia.</a:t>
            </a:r>
          </a:p>
          <a:p>
            <a:endParaRPr lang="en-AU"/>
          </a:p>
        </p:txBody>
      </p:sp>
      <p:sp>
        <p:nvSpPr>
          <p:cNvPr id="2" name="Slide Number Placeholder 1">
            <a:extLst>
              <a:ext uri="{FF2B5EF4-FFF2-40B4-BE49-F238E27FC236}">
                <a16:creationId xmlns:a16="http://schemas.microsoft.com/office/drawing/2014/main" id="{92454A8A-075F-EC37-D4B7-AA7133BDB9B6}"/>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69</a:t>
            </a:fld>
            <a:endParaRPr lang="en-AU"/>
          </a:p>
        </p:txBody>
      </p:sp>
    </p:spTree>
    <p:extLst>
      <p:ext uri="{BB962C8B-B14F-4D97-AF65-F5344CB8AC3E}">
        <p14:creationId xmlns:p14="http://schemas.microsoft.com/office/powerpoint/2010/main" val="39355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A2435-FEDA-6AF3-A29C-4D88FA11378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5A0E0CE-0517-C4D8-4569-6D7767EB6A04}"/>
              </a:ext>
            </a:extLst>
          </p:cNvPr>
          <p:cNvSpPr>
            <a:spLocks noGrp="1"/>
          </p:cNvSpPr>
          <p:nvPr>
            <p:ph type="title"/>
          </p:nvPr>
        </p:nvSpPr>
        <p:spPr/>
        <p:txBody>
          <a:bodyPr/>
          <a:lstStyle/>
          <a:p>
            <a:r>
              <a:rPr lang="en-AU">
                <a:latin typeface="+mj-lt"/>
              </a:rPr>
              <a:t>References (3)</a:t>
            </a:r>
          </a:p>
        </p:txBody>
      </p:sp>
      <p:sp>
        <p:nvSpPr>
          <p:cNvPr id="6" name="TextBox 5">
            <a:extLst>
              <a:ext uri="{FF2B5EF4-FFF2-40B4-BE49-F238E27FC236}">
                <a16:creationId xmlns:a16="http://schemas.microsoft.com/office/drawing/2014/main" id="{476FB65A-7EF5-C623-FF83-B8CF8BD55392}"/>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AFE7EFA2-8326-71F5-EFF4-707694EC6182}"/>
              </a:ext>
            </a:extLst>
          </p:cNvPr>
          <p:cNvSpPr>
            <a:spLocks noGrp="1"/>
          </p:cNvSpPr>
          <p:nvPr>
            <p:ph idx="1"/>
          </p:nvPr>
        </p:nvSpPr>
        <p:spPr>
          <a:xfrm>
            <a:off x="323825" y="3159524"/>
            <a:ext cx="11484000" cy="2927351"/>
          </a:xfrm>
        </p:spPr>
        <p:txBody>
          <a:bodyPr vert="horz" lIns="0" tIns="0" rIns="0" bIns="0" rtlCol="0" anchor="t">
            <a:noAutofit/>
          </a:bodyPr>
          <a:lstStyle/>
          <a:p>
            <a:r>
              <a:rPr lang="en-AU"/>
              <a:t>Toy </a:t>
            </a:r>
            <a:r>
              <a:rPr lang="en-AU" err="1"/>
              <a:t>Theater</a:t>
            </a:r>
            <a:r>
              <a:rPr lang="en-AU"/>
              <a:t> (2024) ‘</a:t>
            </a:r>
            <a:r>
              <a:rPr lang="en-AU" u="sng">
                <a:hlinkClick r:id="rId6"/>
              </a:rPr>
              <a:t>Interactive clock | Telling Time</a:t>
            </a:r>
            <a:r>
              <a:rPr lang="en-AU"/>
              <a:t>’, </a:t>
            </a:r>
            <a:r>
              <a:rPr lang="en-AU" i="1"/>
              <a:t>Time Manipulatives</a:t>
            </a:r>
            <a:r>
              <a:rPr lang="en-AU"/>
              <a:t>, Toy </a:t>
            </a:r>
            <a:r>
              <a:rPr lang="en-AU" err="1"/>
              <a:t>Theater</a:t>
            </a:r>
            <a:r>
              <a:rPr lang="en-AU"/>
              <a:t> website, accessed 3 June 2025.</a:t>
            </a:r>
          </a:p>
          <a:p>
            <a:r>
              <a:rPr lang="en-AU"/>
              <a:t>——(2024) ‘</a:t>
            </a:r>
            <a:r>
              <a:rPr lang="en-AU" u="sng">
                <a:hlinkClick r:id="rId7"/>
              </a:rPr>
              <a:t>Interactive classroom timer | Telling Time</a:t>
            </a:r>
            <a:r>
              <a:rPr lang="en-AU"/>
              <a:t>’, </a:t>
            </a:r>
            <a:r>
              <a:rPr lang="en-AU" i="1"/>
              <a:t>Time Manipulatives</a:t>
            </a:r>
            <a:r>
              <a:rPr lang="en-AU"/>
              <a:t>, Toy </a:t>
            </a:r>
            <a:r>
              <a:rPr lang="en-AU" err="1"/>
              <a:t>Theater</a:t>
            </a:r>
            <a:r>
              <a:rPr lang="en-AU"/>
              <a:t> website, accessed 3 June 2025.</a:t>
            </a:r>
          </a:p>
          <a:p>
            <a:r>
              <a:rPr lang="en-AU"/>
              <a:t>University of Cambridge (n.d.) </a:t>
            </a:r>
            <a:r>
              <a:rPr lang="en-AU" i="1" u="sng">
                <a:hlinkClick r:id="rId8"/>
              </a:rPr>
              <a:t>Clocks</a:t>
            </a:r>
            <a:r>
              <a:rPr lang="en-AU"/>
              <a:t>, NRICH website, accessed 4 November 2025.</a:t>
            </a:r>
          </a:p>
          <a:p>
            <a:r>
              <a:rPr lang="en-AU"/>
              <a:t>——(n.d.) </a:t>
            </a:r>
            <a:r>
              <a:rPr lang="en-AU" i="1" u="sng">
                <a:hlinkClick r:id="rId9"/>
              </a:rPr>
              <a:t>Stop the Clock</a:t>
            </a:r>
            <a:r>
              <a:rPr lang="en-AU"/>
              <a:t>, NRICH website, accessed 4 November 2025. </a:t>
            </a:r>
          </a:p>
          <a:p>
            <a:r>
              <a:rPr lang="en-AU"/>
              <a:t>——(n.d.) </a:t>
            </a:r>
            <a:r>
              <a:rPr lang="en-AU" i="1" u="sng">
                <a:hlinkClick r:id="rId10"/>
              </a:rPr>
              <a:t>True or False?</a:t>
            </a:r>
            <a:r>
              <a:rPr lang="en-AU"/>
              <a:t>, NRICH website, accessed 4 November 2025.</a:t>
            </a:r>
          </a:p>
          <a:p>
            <a:r>
              <a:rPr lang="en-AU"/>
              <a:t>——(n.d.) </a:t>
            </a:r>
            <a:r>
              <a:rPr lang="en-AU" i="1" u="sng">
                <a:hlinkClick r:id="rId11"/>
              </a:rPr>
              <a:t>What Is the Time?</a:t>
            </a:r>
            <a:r>
              <a:rPr lang="en-AU"/>
              <a:t>,</a:t>
            </a:r>
            <a:r>
              <a:rPr lang="en-AU" i="1"/>
              <a:t> </a:t>
            </a:r>
            <a:r>
              <a:rPr lang="en-AU"/>
              <a:t>NRICH website, accessed 4 November 2025. </a:t>
            </a:r>
          </a:p>
          <a:p>
            <a:r>
              <a:rPr lang="en-AU"/>
              <a:t>——(n.d.) </a:t>
            </a:r>
            <a:r>
              <a:rPr lang="en-AU" i="1" u="sng">
                <a:hlinkClick r:id="rId12"/>
              </a:rPr>
              <a:t>Wonky Watches</a:t>
            </a:r>
            <a:r>
              <a:rPr lang="en-AU"/>
              <a:t>, NRICH website, accessed 4 November 2025.</a:t>
            </a:r>
          </a:p>
          <a:p>
            <a:r>
              <a:rPr lang="en-AU"/>
              <a:t>Van de Walle J, Karp K, Bay-Williams JM, Brass A, Bentley B, Ferguson S, Goff W, Livy S, Marshman M, Martin D, Pearn C, </a:t>
            </a:r>
            <a:r>
              <a:rPr lang="en-AU" err="1"/>
              <a:t>Prodromou</a:t>
            </a:r>
            <a:r>
              <a:rPr lang="en-AU"/>
              <a:t> T, Symons D and Wilkie K (2019) </a:t>
            </a:r>
            <a:r>
              <a:rPr lang="en-AU" i="1"/>
              <a:t>Primary and Middle Years Mathematics: Teaching Developmentally</a:t>
            </a:r>
            <a:r>
              <a:rPr lang="en-AU"/>
              <a:t>, 1st Australian </a:t>
            </a:r>
            <a:r>
              <a:rPr lang="en-AU" err="1"/>
              <a:t>edn</a:t>
            </a:r>
            <a:r>
              <a:rPr lang="en-AU" i="1"/>
              <a:t>,</a:t>
            </a:r>
            <a:r>
              <a:rPr lang="en-AU"/>
              <a:t> Pearson Education Australia, Melbourne.</a:t>
            </a:r>
          </a:p>
          <a:p>
            <a:endParaRPr lang="en-AU"/>
          </a:p>
        </p:txBody>
      </p:sp>
      <p:sp>
        <p:nvSpPr>
          <p:cNvPr id="2" name="Slide Number Placeholder 1">
            <a:extLst>
              <a:ext uri="{FF2B5EF4-FFF2-40B4-BE49-F238E27FC236}">
                <a16:creationId xmlns:a16="http://schemas.microsoft.com/office/drawing/2014/main" id="{44EC17BE-155D-C288-97A6-2F827D8FC3AF}"/>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70</a:t>
            </a:fld>
            <a:endParaRPr lang="en-AU"/>
          </a:p>
        </p:txBody>
      </p:sp>
    </p:spTree>
    <p:extLst>
      <p:ext uri="{BB962C8B-B14F-4D97-AF65-F5344CB8AC3E}">
        <p14:creationId xmlns:p14="http://schemas.microsoft.com/office/powerpoint/2010/main" val="1793596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555570-2BD4-426B-AA32-0A79CB6508A8}">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3.xml><?xml version="1.0" encoding="utf-8"?>
<ds:datastoreItem xmlns:ds="http://schemas.openxmlformats.org/officeDocument/2006/customXml" ds:itemID="{42E3094C-0D03-49DA-AC21-032FC56628B1}"/>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0</TotalTime>
  <Words>7213</Words>
  <Application>Microsoft Office PowerPoint</Application>
  <PresentationFormat>Widescreen</PresentationFormat>
  <Paragraphs>857</Paragraphs>
  <Slides>71</Slides>
  <Notes>71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71</vt:i4>
      </vt:variant>
    </vt:vector>
  </HeadingPairs>
  <TitlesOfParts>
    <vt:vector size="81" baseType="lpstr">
      <vt:lpstr>Montserrat</vt:lpstr>
      <vt:lpstr>Public Sans</vt:lpstr>
      <vt:lpstr>Arial</vt:lpstr>
      <vt:lpstr>Times New Roman</vt:lpstr>
      <vt:lpstr>Calibri</vt:lpstr>
      <vt:lpstr>Cambria Math</vt:lpstr>
      <vt:lpstr>Public Sans Light</vt:lpstr>
      <vt:lpstr>Wingdings</vt:lpstr>
      <vt:lpstr>Edu NSW ACT Foundation</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the ‘thirding’ strategy</vt:lpstr>
      <vt:lpstr>Review of learning 2</vt:lpstr>
      <vt:lpstr>True or false (1)</vt:lpstr>
      <vt:lpstr>Short response (5)</vt:lpstr>
      <vt:lpstr>Short response (6)</vt:lpstr>
      <vt:lpstr>Short response (7)</vt:lpstr>
      <vt:lpstr>Short response (8)</vt:lpstr>
      <vt:lpstr>Activity 2 – the ‘fifthing strategy’ (1)</vt:lpstr>
      <vt:lpstr>Activity 2 (– the ‘fifthing strategy’ (2)</vt:lpstr>
      <vt:lpstr>Review of learning 3</vt:lpstr>
      <vt:lpstr>Multiple choice (2)</vt:lpstr>
      <vt:lpstr>Short response (9)</vt:lpstr>
      <vt:lpstr>Short response (10)</vt:lpstr>
      <vt:lpstr>Short response (11)</vt:lpstr>
      <vt:lpstr>Short response (12)</vt:lpstr>
      <vt:lpstr>Activity 3 – labelling thirds and fifths</vt:lpstr>
      <vt:lpstr>Review of learning 4</vt:lpstr>
      <vt:lpstr>True or false (2)</vt:lpstr>
      <vt:lpstr>Short response (13)</vt:lpstr>
      <vt:lpstr>Short response (14)</vt:lpstr>
      <vt:lpstr>Short response (15)</vt:lpstr>
      <vt:lpstr>Short response (16)</vt:lpstr>
      <vt:lpstr>Activity 4 – ordering thirds and fifths</vt:lpstr>
      <vt:lpstr>Review of learning 5</vt:lpstr>
      <vt:lpstr>Multiple choice (3)</vt:lpstr>
      <vt:lpstr>Short response (17)</vt:lpstr>
      <vt:lpstr>Short response (18)</vt:lpstr>
      <vt:lpstr>Short response (19)</vt:lpstr>
      <vt:lpstr>Short response (20)</vt:lpstr>
      <vt:lpstr>Activity 5 – balancing number sentences</vt:lpstr>
      <vt:lpstr>Review of learning 6</vt:lpstr>
      <vt:lpstr>True or false (3)</vt:lpstr>
      <vt:lpstr>Short response (21)</vt:lpstr>
      <vt:lpstr>Short response (22)</vt:lpstr>
      <vt:lpstr>Short response (23)</vt:lpstr>
      <vt:lpstr>Short response (24)</vt:lpstr>
      <vt:lpstr>Activity 6 – the same as</vt:lpstr>
      <vt:lpstr>Review of learning 7</vt:lpstr>
      <vt:lpstr>Multiple choice (4)</vt:lpstr>
      <vt:lpstr>Short response (25)</vt:lpstr>
      <vt:lpstr>Short response (26)</vt:lpstr>
      <vt:lpstr>Short response (27)</vt:lpstr>
      <vt:lpstr>Short response (28)</vt:lpstr>
      <vt:lpstr>Activity 7 – true or false number sentences</vt:lpstr>
      <vt:lpstr>Review of learning 8</vt:lpstr>
      <vt:lpstr>True or false (4)</vt:lpstr>
      <vt:lpstr>Short response (29)</vt:lpstr>
      <vt:lpstr>Short response (30)</vt:lpstr>
      <vt:lpstr>Short response (31)</vt:lpstr>
      <vt:lpstr>Short response (32)</vt:lpstr>
      <vt:lpstr>Activity 8 – true or false number sentences 2</vt:lpstr>
      <vt:lpstr>Double Venn diagram</vt:lpstr>
      <vt:lpstr>Frayer</vt:lpstr>
      <vt:lpstr>Spider map</vt:lpstr>
      <vt:lpstr>Cline</vt:lpstr>
      <vt:lpstr>Compare and contrast</vt:lpstr>
      <vt:lpstr>Multiple choice (5)</vt:lpstr>
      <vt:lpstr>Multiple choice</vt:lpstr>
      <vt:lpstr>References (1)</vt:lpstr>
      <vt:lpstr>References (2)</vt:lpstr>
      <vt:lpstr>References (3)</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2026-04-01T22:05:43Z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