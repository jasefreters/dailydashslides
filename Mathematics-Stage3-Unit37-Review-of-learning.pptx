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3"/>
  </p:notesMasterIdLst>
  <p:handoutMasterIdLst>
    <p:handoutMasterId r:id="rId74"/>
  </p:handoutMasterIdLst>
  <p:sldIdLst>
    <p:sldId id="26511" r:id="rId5"/>
    <p:sldId id="26505" r:id="rId6"/>
    <p:sldId id="26359" r:id="rId7"/>
    <p:sldId id="271" r:id="rId8"/>
    <p:sldId id="26572" r:id="rId9"/>
    <p:sldId id="26508" r:id="rId10"/>
    <p:sldId id="26524" r:id="rId11"/>
    <p:sldId id="26525" r:id="rId12"/>
    <p:sldId id="26519" r:id="rId13"/>
    <p:sldId id="26522" r:id="rId14"/>
    <p:sldId id="26512" r:id="rId15"/>
    <p:sldId id="26509" r:id="rId16"/>
    <p:sldId id="26523" r:id="rId17"/>
    <p:sldId id="26529" r:id="rId18"/>
    <p:sldId id="26530" r:id="rId19"/>
    <p:sldId id="26531" r:id="rId20"/>
    <p:sldId id="26532" r:id="rId21"/>
    <p:sldId id="26513" r:id="rId22"/>
    <p:sldId id="26534" r:id="rId23"/>
    <p:sldId id="26535" r:id="rId24"/>
    <p:sldId id="26528" r:id="rId25"/>
    <p:sldId id="26537" r:id="rId26"/>
    <p:sldId id="26536" r:id="rId27"/>
    <p:sldId id="26533" r:id="rId28"/>
    <p:sldId id="26514" r:id="rId29"/>
    <p:sldId id="26539" r:id="rId30"/>
    <p:sldId id="26540" r:id="rId31"/>
    <p:sldId id="26541" r:id="rId32"/>
    <p:sldId id="26542" r:id="rId33"/>
    <p:sldId id="26543" r:id="rId34"/>
    <p:sldId id="26538" r:id="rId35"/>
    <p:sldId id="26515" r:id="rId36"/>
    <p:sldId id="26507" r:id="rId37"/>
    <p:sldId id="26546" r:id="rId38"/>
    <p:sldId id="26547" r:id="rId39"/>
    <p:sldId id="26548" r:id="rId40"/>
    <p:sldId id="26549" r:id="rId41"/>
    <p:sldId id="26544" r:id="rId42"/>
    <p:sldId id="26516" r:id="rId43"/>
    <p:sldId id="26550" r:id="rId44"/>
    <p:sldId id="26553" r:id="rId45"/>
    <p:sldId id="26554" r:id="rId46"/>
    <p:sldId id="26555" r:id="rId47"/>
    <p:sldId id="26556" r:id="rId48"/>
    <p:sldId id="26551" r:id="rId49"/>
    <p:sldId id="26517" r:id="rId50"/>
    <p:sldId id="26559" r:id="rId51"/>
    <p:sldId id="26560" r:id="rId52"/>
    <p:sldId id="26561" r:id="rId53"/>
    <p:sldId id="26562" r:id="rId54"/>
    <p:sldId id="26563" r:id="rId55"/>
    <p:sldId id="26558" r:id="rId56"/>
    <p:sldId id="26518" r:id="rId57"/>
    <p:sldId id="26564" r:id="rId58"/>
    <p:sldId id="26565" r:id="rId59"/>
    <p:sldId id="26567" r:id="rId60"/>
    <p:sldId id="26566" r:id="rId61"/>
    <p:sldId id="26568" r:id="rId62"/>
    <p:sldId id="26557" r:id="rId63"/>
    <p:sldId id="26393" r:id="rId64"/>
    <p:sldId id="26387" r:id="rId65"/>
    <p:sldId id="26395" r:id="rId66"/>
    <p:sldId id="26391" r:id="rId67"/>
    <p:sldId id="26402" r:id="rId68"/>
    <p:sldId id="26527" r:id="rId69"/>
    <p:sldId id="26545" r:id="rId70"/>
    <p:sldId id="26569" r:id="rId71"/>
    <p:sldId id="361" r:id="rId72"/>
  </p:sldIdLst>
  <p:sldSz cx="12192000" cy="6858000"/>
  <p:notesSz cx="6797675" cy="9926638"/>
  <p:embeddedFontLst>
    <p:embeddedFont>
      <p:font typeface="Cambria Math" panose="02040503050406030204" pitchFamily="18" charset="0"/>
      <p:regular r:id="rId75"/>
    </p:embeddedFont>
    <p:embeddedFont>
      <p:font typeface="Canva Student Font" panose="020B0604020202020204" charset="0"/>
      <p:regular r:id="rId76"/>
    </p:embeddedFont>
    <p:embeddedFont>
      <p:font typeface="Edu NSW ACT Foundation" panose="020B0604020202020204" charset="0"/>
      <p:regular r:id="rId77"/>
      <p:bold r:id="rId78"/>
    </p:embeddedFont>
    <p:embeddedFont>
      <p:font typeface="Montserrat" panose="00000500000000000000" pitchFamily="2" charset="0"/>
      <p:regular r:id="rId79"/>
      <p:bold r:id="rId80"/>
      <p:italic r:id="rId81"/>
      <p:boldItalic r:id="rId82"/>
    </p:embeddedFont>
    <p:embeddedFont>
      <p:font typeface="Public Sans" pitchFamily="2" charset="0"/>
      <p:regular r:id="rId83"/>
      <p:bold r:id="rId84"/>
      <p:italic r:id="rId85"/>
      <p:boldItalic r:id="rId86"/>
    </p:embeddedFont>
    <p:embeddedFont>
      <p:font typeface="Public Sans Light" pitchFamily="2" charset="0"/>
      <p:regular r:id="rId87"/>
      <p:italic r:id="rId88"/>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72"/>
            <p14:sldId id="26508"/>
            <p14:sldId id="26524"/>
            <p14:sldId id="26525"/>
            <p14:sldId id="26519"/>
            <p14:sldId id="26522"/>
            <p14:sldId id="26512"/>
            <p14:sldId id="26509"/>
            <p14:sldId id="26523"/>
            <p14:sldId id="26529"/>
            <p14:sldId id="26530"/>
            <p14:sldId id="26531"/>
            <p14:sldId id="26532"/>
            <p14:sldId id="26513"/>
            <p14:sldId id="26534"/>
            <p14:sldId id="26535"/>
            <p14:sldId id="26528"/>
            <p14:sldId id="26537"/>
            <p14:sldId id="26536"/>
            <p14:sldId id="26533"/>
            <p14:sldId id="26514"/>
            <p14:sldId id="26539"/>
            <p14:sldId id="26540"/>
            <p14:sldId id="26541"/>
            <p14:sldId id="26542"/>
            <p14:sldId id="26543"/>
            <p14:sldId id="26538"/>
            <p14:sldId id="26515"/>
            <p14:sldId id="26507"/>
            <p14:sldId id="26546"/>
            <p14:sldId id="26547"/>
            <p14:sldId id="26548"/>
            <p14:sldId id="26549"/>
            <p14:sldId id="26544"/>
            <p14:sldId id="26516"/>
            <p14:sldId id="26550"/>
            <p14:sldId id="26553"/>
            <p14:sldId id="26554"/>
            <p14:sldId id="26555"/>
            <p14:sldId id="26556"/>
            <p14:sldId id="26551"/>
            <p14:sldId id="26517"/>
            <p14:sldId id="26559"/>
            <p14:sldId id="26560"/>
            <p14:sldId id="26561"/>
            <p14:sldId id="26562"/>
            <p14:sldId id="26563"/>
            <p14:sldId id="26558"/>
            <p14:sldId id="26518"/>
            <p14:sldId id="26564"/>
            <p14:sldId id="26565"/>
            <p14:sldId id="26567"/>
            <p14:sldId id="26566"/>
            <p14:sldId id="26568"/>
            <p14:sldId id="26557"/>
          </p14:sldIdLst>
        </p14:section>
        <p14:section name="Assets for teachers to create own reviews" id="{ACCADEBA-79DB-4F18-8F19-E4DF86159DFB}">
          <p14:sldIdLst>
            <p14:sldId id="26393"/>
            <p14:sldId id="26387"/>
            <p14:sldId id="26395"/>
            <p14:sldId id="26391"/>
            <p14:sldId id="26402"/>
            <p14:sldId id="26527"/>
            <p14:sldId id="26545"/>
          </p14:sldIdLst>
        </p14:section>
        <p14:section name="References &amp; copyright" id="{DBC31484-F5F8-4CB1-8DB4-A562A9780899}">
          <p14:sldIdLst>
            <p14:sldId id="26569"/>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76652228-BA2A-8E0F-B69D-752F252CA8C9}" name="Carolyn Matthews" initials="CM" userId="S::Carolyn.Matthews2@det.nsw.edu.au::7f53049a-bf0f-477a-aa49-60e3a8d71d98"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3FDA68B6-B52B-FE76-39D1-E268A1C28951}" name="Phil HOLLINS (Phil Hollins)" initials="PH" userId="S::philip.hollins@det.nsw.edu.au::2b9063ba-35fe-4c7f-aa4d-5bf1098ac266" providerId="AD"/>
  <p188:author id="{EB0CFDCC-08A1-9074-770E-495A3601BA1E}" name="Erin Grassedonio" initials="EG" userId="S::Erin.Grassedonio@det.nsw.edu.au::f14128a2-caca-48df-bd38-2aa49a1abe0e"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664"/>
    <a:srgbClr val="146CFD"/>
    <a:srgbClr val="000000"/>
    <a:srgbClr val="FFFFFF"/>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8537" autoAdjust="0"/>
  </p:normalViewPr>
  <p:slideViewPr>
    <p:cSldViewPr snapToGrid="0">
      <p:cViewPr varScale="1">
        <p:scale>
          <a:sx n="57" d="100"/>
          <a:sy n="57" d="100"/>
        </p:scale>
        <p:origin x="1560" y="36"/>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10.fntdata"/><Relationship Id="rId89" Type="http://schemas.openxmlformats.org/officeDocument/2006/relationships/presProps" Target="pres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handoutMaster" Target="handoutMasters/handoutMaster1.xml"/><Relationship Id="rId79" Type="http://schemas.openxmlformats.org/officeDocument/2006/relationships/font" Target="fonts/font5.fntdata"/><Relationship Id="rId5" Type="http://schemas.openxmlformats.org/officeDocument/2006/relationships/slide" Target="slides/slide1.xml"/><Relationship Id="rId90" Type="http://schemas.openxmlformats.org/officeDocument/2006/relationships/viewProps" Target="view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6.fntdata"/><Relationship Id="rId85" Type="http://schemas.openxmlformats.org/officeDocument/2006/relationships/font" Target="fonts/font11.fntdata"/><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font" Target="fonts/font14.fntdata"/><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font" Target="fonts/font12.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2.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3.fntdata"/><Relationship Id="rId61" Type="http://schemas.openxmlformats.org/officeDocument/2006/relationships/slide" Target="slides/slide57.xml"/><Relationship Id="rId82" Type="http://schemas.openxmlformats.org/officeDocument/2006/relationships/font" Target="fonts/font8.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50443" y="1"/>
            <a:ext cx="2945659" cy="498056"/>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4/08/2025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4/08/2025</a:t>
            </a:fld>
            <a:endParaRPr lang="en-AU"/>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_Resource_20_&#8211;"/><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canva.com/en_au/help/give-credit-canva-element-creators/"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_Resource_21_&#8211;"/><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dirty="0">
              <a:solidFill>
                <a:srgbClr val="444444"/>
              </a:solidFill>
              <a:latin typeface="Arial"/>
              <a:cs typeface="Arial"/>
            </a:endParaRPr>
          </a:p>
          <a:p>
            <a:endParaRPr lang="en-AU" dirty="0">
              <a:solidFill>
                <a:srgbClr val="000000"/>
              </a:solidFill>
            </a:endParaRPr>
          </a:p>
          <a:p>
            <a:r>
              <a:rPr lang="en-AU" dirty="0">
                <a:solidFill>
                  <a:srgbClr val="000000"/>
                </a:solidFill>
                <a:latin typeface="Arial"/>
                <a:cs typeface="Arial"/>
              </a:rPr>
              <a:t>This Review of Learning slide deck revisits key concepts from the following units:</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3 Year B Unit 37</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3 Year B Unit 36</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3 Year B Unit 35</a:t>
            </a:r>
            <a:endParaRPr lang="en-US" dirty="0">
              <a:solidFill>
                <a:srgbClr val="444444"/>
              </a:solidFill>
              <a:latin typeface="Arial"/>
              <a:cs typeface="Arial"/>
            </a:endParaRPr>
          </a:p>
          <a:p>
            <a:r>
              <a:rPr lang="en-AU" dirty="0">
                <a:solidFill>
                  <a:srgbClr val="000000"/>
                </a:solidFill>
                <a:latin typeface="Arial"/>
                <a:cs typeface="Arial"/>
              </a:rPr>
              <a:t>It also includes opportunities to review prior learning in non-number content, supporting consolidation across focus areas.</a:t>
            </a:r>
            <a:endParaRPr lang="en-US" dirty="0">
              <a:solidFill>
                <a:srgbClr val="444444"/>
              </a:solidFill>
              <a:latin typeface="Arial"/>
              <a:cs typeface="Arial"/>
            </a:endParaRPr>
          </a:p>
          <a:p>
            <a:endParaRPr lang="en-AU" dirty="0">
              <a:solidFill>
                <a:srgbClr val="444444"/>
              </a:solidFill>
            </a:endParaRPr>
          </a:p>
          <a:p>
            <a:r>
              <a:rPr lang="en-AU" dirty="0">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dirty="0">
              <a:solidFill>
                <a:srgbClr val="444444"/>
              </a:solidFill>
              <a:latin typeface="Arial"/>
              <a:cs typeface="Arial"/>
            </a:endParaRPr>
          </a:p>
          <a:p>
            <a:endParaRPr lang="en-AU" dirty="0">
              <a:solidFill>
                <a:srgbClr val="444444"/>
              </a:solidFill>
            </a:endParaRPr>
          </a:p>
          <a:p>
            <a:pPr>
              <a:defRPr/>
            </a:pPr>
            <a:r>
              <a:rPr lang="en-AU" dirty="0">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dirty="0">
                <a:latin typeface="Arial"/>
                <a:cs typeface="Arial"/>
              </a:rPr>
              <a:t>Multiple-choice questions/True or false:</a:t>
            </a:r>
            <a:r>
              <a:rPr lang="en-AU" dirty="0">
                <a:latin typeface="Arial"/>
                <a:cs typeface="Arial"/>
              </a:rPr>
              <a:t> Designed to promote active retrieval of key concepts and identify common misconceptions in number, supporting consolidation, understanding and fluency.</a:t>
            </a:r>
            <a:br>
              <a:rPr lang="en-AU" dirty="0">
                <a:latin typeface="Arial"/>
                <a:cs typeface="Arial"/>
              </a:rPr>
            </a:br>
            <a:r>
              <a:rPr lang="en-AU" sz="1600" b="0" i="0" dirty="0">
                <a:solidFill>
                  <a:schemeClr val="tx1"/>
                </a:solidFill>
                <a:latin typeface="Arial"/>
                <a:cs typeface="Arial"/>
              </a:rPr>
              <a:t>These questions:</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dirty="0">
                <a:solidFill>
                  <a:schemeClr val="tx1"/>
                </a:solidFill>
                <a:latin typeface="Arial"/>
                <a:cs typeface="Arial"/>
              </a:rPr>
              <a:t>support spaced and interleaved practice</a:t>
            </a:r>
          </a:p>
          <a:p>
            <a:pPr marL="285750" indent="-285750" algn="l">
              <a:buFont typeface="Wingdings"/>
              <a:buChar char="ü"/>
            </a:pPr>
            <a:r>
              <a:rPr lang="en-AU" sz="1600" b="0" i="0" dirty="0">
                <a:solidFill>
                  <a:schemeClr val="tx1"/>
                </a:solidFill>
                <a:latin typeface="Arial"/>
                <a:cs typeface="Arial"/>
              </a:rPr>
              <a:t>help identify and address common misconceptions </a:t>
            </a:r>
          </a:p>
          <a:p>
            <a:pPr marL="285750" indent="-285750" algn="l">
              <a:buFont typeface="Wingdings"/>
              <a:buChar char="ü"/>
            </a:pPr>
            <a:r>
              <a:rPr lang="en-AU" sz="1600" b="0" i="0" dirty="0">
                <a:solidFill>
                  <a:schemeClr val="tx1"/>
                </a:solidFill>
                <a:latin typeface="Arial"/>
                <a:cs typeface="Arial"/>
              </a:rPr>
              <a:t>support active recall and immediate feedback</a:t>
            </a:r>
          </a:p>
          <a:p>
            <a:pPr marL="285750" indent="-285750" algn="l">
              <a:buFont typeface="Wingdings"/>
              <a:buChar char="ü"/>
            </a:pPr>
            <a:r>
              <a:rPr lang="en-AU" sz="1600" b="0" i="0" dirty="0">
                <a:solidFill>
                  <a:schemeClr val="tx1"/>
                </a:solidFill>
                <a:latin typeface="Arial"/>
                <a:cs typeface="Arial"/>
              </a:rPr>
              <a:t>support whole class participation</a:t>
            </a:r>
          </a:p>
          <a:p>
            <a:pPr marL="285750" indent="-285750">
              <a:buFont typeface="Wingdings"/>
              <a:buChar char="ü"/>
            </a:pPr>
            <a:r>
              <a:rPr lang="en-AU" sz="1600" b="0" i="0" dirty="0">
                <a:solidFill>
                  <a:schemeClr val="tx1"/>
                </a:solidFill>
                <a:latin typeface="Arial"/>
                <a:cs typeface="Arial"/>
              </a:rPr>
              <a:t>identify areas requiring reteach</a:t>
            </a:r>
            <a:endParaRPr lang="en-US" dirty="0">
              <a:solidFill>
                <a:srgbClr val="444444"/>
              </a:solidFill>
              <a:latin typeface="Arial"/>
              <a:cs typeface="Arial"/>
            </a:endParaRPr>
          </a:p>
          <a:p>
            <a:endParaRPr lang="en-AU" dirty="0">
              <a:latin typeface="Arial"/>
              <a:cs typeface="Arial"/>
            </a:endParaRPr>
          </a:p>
          <a:p>
            <a:pPr algn="l"/>
            <a:r>
              <a:rPr lang="en-AU" dirty="0">
                <a:latin typeface="Arial"/>
                <a:cs typeface="Arial"/>
              </a:rPr>
              <a:t>2.</a:t>
            </a:r>
            <a:br>
              <a:rPr lang="en-AU" dirty="0">
                <a:latin typeface="Arial"/>
                <a:cs typeface="Arial"/>
              </a:rPr>
            </a:br>
            <a:r>
              <a:rPr lang="en-AU" b="1" dirty="0">
                <a:latin typeface="Arial"/>
                <a:cs typeface="Arial"/>
              </a:rPr>
              <a:t>Short-response question sets:</a:t>
            </a:r>
            <a:r>
              <a:rPr lang="en-AU" dirty="0">
                <a:latin typeface="Arial"/>
                <a:cs typeface="Arial"/>
              </a:rPr>
              <a:t> Carefully grouped questions that encourage spaced and interleaved practice across multiple focus areas, helping students revisit and apply knowledge from different points in time.</a:t>
            </a:r>
            <a:br>
              <a:rPr lang="en-AU" dirty="0">
                <a:latin typeface="Arial"/>
                <a:cs typeface="Arial"/>
              </a:rPr>
            </a:br>
            <a:r>
              <a:rPr lang="en-AU" sz="1600" b="0" i="0" dirty="0">
                <a:solidFill>
                  <a:schemeClr val="tx1"/>
                </a:solidFill>
                <a:latin typeface="Arial"/>
                <a:cs typeface="Arial"/>
              </a:rPr>
              <a:t>These questions:</a:t>
            </a:r>
            <a:endParaRPr lang="en-US" sz="1600" b="0" i="0" dirty="0">
              <a:solidFill>
                <a:srgbClr val="444444"/>
              </a:solidFill>
              <a:latin typeface="Arial"/>
              <a:cs typeface="Arial"/>
            </a:endParaRPr>
          </a:p>
          <a:p>
            <a:pPr marL="0" indent="0" algn="l">
              <a:buFont typeface="Wingdings" panose="05000000000000000000" pitchFamily="2" charset="2"/>
              <a:buNone/>
            </a:pPr>
            <a:endParaRPr lang="en-AU" sz="1600" i="0" dirty="0"/>
          </a:p>
          <a:p>
            <a:pPr marL="285750" indent="-285750" algn="l">
              <a:buFont typeface="Wingdings"/>
              <a:buChar char="ü"/>
            </a:pPr>
            <a:r>
              <a:rPr lang="en-AU" sz="1600" i="0" dirty="0">
                <a:latin typeface="Arial"/>
                <a:cs typeface="Arial"/>
              </a:rPr>
              <a:t>have a combination of question types </a:t>
            </a:r>
          </a:p>
          <a:p>
            <a:pPr marL="285750" indent="-285750" algn="l">
              <a:buFont typeface="Wingdings"/>
              <a:buChar char="ü"/>
            </a:pPr>
            <a:r>
              <a:rPr lang="en-AU" sz="1600" i="0" dirty="0">
                <a:latin typeface="Arial"/>
                <a:cs typeface="Arial"/>
              </a:rPr>
              <a:t>address a range of focus areas</a:t>
            </a:r>
          </a:p>
          <a:p>
            <a:pPr marL="285750" indent="-285750">
              <a:buFont typeface="Wingdings"/>
              <a:buChar char="ü"/>
            </a:pPr>
            <a:r>
              <a:rPr lang="en-AU" sz="1600" i="0" dirty="0">
                <a:latin typeface="Arial"/>
                <a:cs typeface="Arial"/>
              </a:rPr>
              <a:t>build automaticity and fluency</a:t>
            </a:r>
          </a:p>
          <a:p>
            <a:pPr marL="285750" indent="-285750">
              <a:buFont typeface="Wingdings"/>
              <a:buChar char="ü"/>
            </a:pPr>
            <a:r>
              <a:rPr lang="en-AU" sz="1600" i="0" dirty="0">
                <a:latin typeface="Arial"/>
                <a:cs typeface="Arial"/>
              </a:rPr>
              <a:t>support active recall </a:t>
            </a:r>
          </a:p>
          <a:p>
            <a:pPr marL="285750" indent="-285750">
              <a:buFont typeface="Wingdings"/>
              <a:buChar char="ü"/>
            </a:pPr>
            <a:r>
              <a:rPr lang="en-AU" sz="1600" i="0" dirty="0">
                <a:latin typeface="Arial"/>
                <a:cs typeface="Arial"/>
              </a:rPr>
              <a:t>allow for immediate feedback</a:t>
            </a:r>
          </a:p>
          <a:p>
            <a:pPr marL="285750" indent="-285750" algn="l">
              <a:buFont typeface="Wingdings"/>
              <a:buChar char="ü"/>
            </a:pPr>
            <a:r>
              <a:rPr lang="en-AU" sz="1600" i="0" dirty="0">
                <a:latin typeface="Arial"/>
                <a:cs typeface="Arial"/>
              </a:rPr>
              <a:t>identify content requiring reteach</a:t>
            </a:r>
            <a:endParaRPr lang="en-AU" dirty="0">
              <a:latin typeface="Arial"/>
              <a:cs typeface="Arial"/>
            </a:endParaRPr>
          </a:p>
          <a:p>
            <a:pPr marL="285750" indent="-285750">
              <a:buFont typeface="Wingdings"/>
              <a:buChar char="ü"/>
            </a:pPr>
            <a:endParaRPr lang="en-AU" dirty="0">
              <a:latin typeface="Arial"/>
              <a:cs typeface="Arial"/>
            </a:endParaRPr>
          </a:p>
          <a:p>
            <a:r>
              <a:rPr lang="en-AU" dirty="0">
                <a:latin typeface="Arial"/>
                <a:cs typeface="Arial"/>
              </a:rPr>
              <a:t>3.</a:t>
            </a:r>
          </a:p>
          <a:p>
            <a:r>
              <a:rPr lang="en-AU" b="1" dirty="0">
                <a:latin typeface="Arial"/>
                <a:cs typeface="Arial"/>
              </a:rPr>
              <a:t>Developing number sense activities</a:t>
            </a:r>
            <a:r>
              <a:rPr lang="en-AU" dirty="0">
                <a:latin typeface="Arial"/>
                <a:cs typeface="Arial"/>
              </a:rPr>
              <a:t>: A variety of practical, purposeful tasks that reinforce current learning and build on prior knowledge. These activities promote reasoning, problem-solving and conceptual understanding.</a:t>
            </a:r>
            <a:br>
              <a:rPr lang="en-AU" dirty="0">
                <a:latin typeface="Arial"/>
                <a:cs typeface="Arial"/>
              </a:rPr>
            </a:br>
            <a:br>
              <a:rPr lang="en-AU" dirty="0">
                <a:latin typeface="Arial"/>
                <a:cs typeface="Arial"/>
              </a:rPr>
            </a:br>
            <a:endParaRPr lang="en-US" dirty="0">
              <a:solidFill>
                <a:srgbClr val="444444"/>
              </a:solidFill>
              <a:latin typeface="Arial"/>
              <a:cs typeface="Arial"/>
            </a:endParaRPr>
          </a:p>
          <a:p>
            <a:r>
              <a:rPr lang="en-AU" dirty="0">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dirty="0">
                <a:latin typeface="Arial"/>
                <a:cs typeface="Arial"/>
              </a:rPr>
            </a:br>
            <a:br>
              <a:rPr lang="en-AU" dirty="0"/>
            </a:br>
            <a:endParaRPr lang="en-AU" dirty="0">
              <a:highlight>
                <a:srgbClr val="FFFF00"/>
              </a:highlight>
            </a:endParaRP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30E26-24DB-A578-349B-0CADBC869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16146-D8A5-F106-BA89-263563ACD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C4DB53-CCB4-C492-8BE0-67C52ABDDC3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Multiplication relations B</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1CFA876A-48CB-7CDC-6EF5-4DAF9B286276}"/>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548581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buFont typeface="Wingdings" panose="05000000000000000000" pitchFamily="2" charset="2"/>
            </a:pPr>
            <a:r>
              <a:rPr lang="en-AU">
                <a:latin typeface="Arial"/>
                <a:cs typeface="Arial"/>
              </a:rPr>
              <a:t>Representing quantity fractions A</a:t>
            </a:r>
          </a:p>
          <a:p>
            <a:endParaRPr lang="en-AU" sz="1600">
              <a:highlight>
                <a:srgbClr val="FFFF00"/>
              </a:highlight>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a:latin typeface="Public Sans"/>
              </a:rPr>
              <a:t>Data B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dirty="0">
                <a:latin typeface="Arial"/>
                <a:cs typeface="Arial"/>
              </a:rPr>
              <a:t>This is a developing number sense activity. </a:t>
            </a:r>
            <a:endParaRPr lang="en-US" dirty="0">
              <a:solidFill>
                <a:srgbClr val="444444"/>
              </a:solidFill>
              <a:latin typeface="Arial"/>
              <a:cs typeface="Arial"/>
            </a:endParaRPr>
          </a:p>
          <a:p>
            <a:pPr>
              <a:lnSpc>
                <a:spcPct val="150000"/>
              </a:lnSpc>
              <a:spcBef>
                <a:spcPts val="1200"/>
              </a:spcBef>
              <a:spcAft>
                <a:spcPts val="600"/>
              </a:spcAft>
            </a:pPr>
            <a:endParaRPr lang="en-AU" dirty="0">
              <a:solidFill>
                <a:srgbClr val="444444"/>
              </a:solidFill>
            </a:endParaRPr>
          </a:p>
          <a:p>
            <a:pPr>
              <a:lnSpc>
                <a:spcPct val="150000"/>
              </a:lnSpc>
              <a:spcBef>
                <a:spcPts val="1200"/>
              </a:spcBef>
              <a:spcAft>
                <a:spcPts val="600"/>
              </a:spcAft>
            </a:pPr>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latin typeface="Arial"/>
              <a:cs typeface="Arial"/>
            </a:endParaRPr>
          </a:p>
          <a:p>
            <a:pPr>
              <a:lnSpc>
                <a:spcPts val="1913"/>
              </a:lnSpc>
            </a:pPr>
            <a:endParaRPr lang="en-AU" dirty="0">
              <a:solidFill>
                <a:srgbClr val="444444"/>
              </a:solidFill>
            </a:endParaRPr>
          </a:p>
          <a:p>
            <a:r>
              <a:rPr lang="en-AU" b="1" dirty="0">
                <a:latin typeface="Arial"/>
                <a:cs typeface="Arial"/>
              </a:rPr>
              <a:t>Syllabus focus area:</a:t>
            </a:r>
            <a:endParaRPr lang="en-US" dirty="0">
              <a:solidFill>
                <a:srgbClr val="444444"/>
              </a:solidFill>
              <a:latin typeface="Arial"/>
              <a:cs typeface="Arial"/>
            </a:endParaRPr>
          </a:p>
          <a:p>
            <a:r>
              <a:rPr lang="en-AU" dirty="0">
                <a:solidFill>
                  <a:srgbClr val="000000"/>
                </a:solidFill>
                <a:latin typeface="Arial"/>
                <a:cs typeface="Arial"/>
              </a:rPr>
              <a:t>Multiplicative relations B</a:t>
            </a:r>
            <a:endParaRPr lang="en-AU" b="1" dirty="0">
              <a:latin typeface="Arial"/>
              <a:cs typeface="Arial"/>
            </a:endParaRPr>
          </a:p>
          <a:p>
            <a:pPr>
              <a:lnSpc>
                <a:spcPts val="1913"/>
              </a:lnSpc>
            </a:pPr>
            <a:br>
              <a:rPr lang="en-US" b="1" dirty="0">
                <a:latin typeface="Arial"/>
                <a:ea typeface="Arial" panose="020B0604020202020204" pitchFamily="34" charset="0"/>
                <a:cs typeface="Arial"/>
              </a:rPr>
            </a:br>
            <a:r>
              <a:rPr lang="en-US" b="1" dirty="0">
                <a:latin typeface="Arial"/>
                <a:ea typeface="Arial" panose="020B0604020202020204" pitchFamily="34" charset="0"/>
                <a:cs typeface="Arial"/>
              </a:rPr>
              <a:t>Mental or written?</a:t>
            </a:r>
            <a:br>
              <a:rPr lang="en-US" b="1" dirty="0">
                <a:latin typeface="Arial"/>
                <a:ea typeface="Arial" panose="020B0604020202020204" pitchFamily="34" charset="0"/>
                <a:cs typeface="Arial"/>
              </a:rPr>
            </a:br>
            <a:endParaRPr lang="en-US" b="1" dirty="0">
              <a:latin typeface="Arial"/>
              <a:ea typeface="Arial" panose="020B0604020202020204" pitchFamily="34" charset="0"/>
              <a:cs typeface="Arial"/>
            </a:endParaRPr>
          </a:p>
          <a:p>
            <a:r>
              <a:rPr lang="en-AU" dirty="0">
                <a:latin typeface="Public Sans"/>
              </a:rPr>
              <a:t>Students work in pairs with whiteboards to solve problems. One student solves the problem using mental strategies, the other will only use written strategies. Display problems one at a time. After each question ask:</a:t>
            </a:r>
          </a:p>
          <a:p>
            <a:pPr marL="285750" indent="-285750">
              <a:buFont typeface="Arial" panose="020B0604020202020204" pitchFamily="34" charset="0"/>
              <a:buChar char="•"/>
            </a:pPr>
            <a:r>
              <a:rPr lang="en-AU" dirty="0"/>
              <a:t>Which strategy was more efficient, the mental strategy or the written strategy? Why?</a:t>
            </a:r>
          </a:p>
          <a:p>
            <a:pPr marL="285750" indent="-285750">
              <a:buFont typeface="Arial" panose="020B0604020202020204" pitchFamily="34" charset="0"/>
              <a:buChar char="•"/>
            </a:pPr>
            <a:r>
              <a:rPr lang="en-AU" dirty="0"/>
              <a:t>How did you solve the multiplication problem? Explain your thinking and reasoning.</a:t>
            </a:r>
          </a:p>
          <a:p>
            <a:pPr>
              <a:lnSpc>
                <a:spcPts val="1913"/>
              </a:lnSpc>
            </a:pPr>
            <a:endParaRPr lang="en-AU" sz="1600" kern="1200" dirty="0">
              <a:solidFill>
                <a:schemeClr val="tx1"/>
              </a:solidFill>
              <a:effectLst/>
              <a:latin typeface="Arial"/>
              <a:ea typeface="Calibri" panose="020F0502020204030204" pitchFamily="34" charset="0"/>
              <a:cs typeface="Arial"/>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1919126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Multiplication relations B</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quantity fractions A </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endParaRPr lang="en-AU"/>
          </a:p>
          <a:p>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Geometric measure B: Position</a:t>
            </a:r>
            <a:endParaRPr lang="en-AU" dirty="0"/>
          </a:p>
          <a:p>
            <a:endParaRPr lang="en-AU" dirty="0">
              <a:latin typeface="Public Sans"/>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defRPr/>
            </a:pPr>
            <a:endParaRPr lang="en-AU">
              <a:solidFill>
                <a:srgbClr val="444444"/>
              </a:solidFil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a:t>
            </a:r>
          </a:p>
          <a:p>
            <a:pPr>
              <a:defRPr/>
            </a:pPr>
            <a:endParaRPr lang="en-AU" sz="1800">
              <a:latin typeface="Arial"/>
              <a:ea typeface="Calibri"/>
              <a:cs typeface="Arial"/>
            </a:endParaRPr>
          </a:p>
          <a:p>
            <a:r>
              <a:rPr lang="en-AU" sz="1800" b="1">
                <a:latin typeface="Arial"/>
                <a:ea typeface="Calibri"/>
                <a:cs typeface="Arial"/>
              </a:rPr>
              <a:t>Determining factors</a:t>
            </a:r>
            <a:br>
              <a:rPr lang="en-AU" sz="1800">
                <a:latin typeface="Arial"/>
                <a:ea typeface="Calibri"/>
                <a:cs typeface="Arial"/>
              </a:rPr>
            </a:br>
            <a:br>
              <a:rPr lang="en-AU" sz="1800">
                <a:latin typeface="Arial"/>
                <a:ea typeface="Calibri"/>
                <a:cs typeface="Arial"/>
              </a:rPr>
            </a:b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this activity is an adaptation of ‘Best Value’ from </a:t>
            </a:r>
            <a:r>
              <a:rPr lang="en-AU" sz="1600" i="1" kern="1200">
                <a:solidFill>
                  <a:schemeClr val="tx1"/>
                </a:solidFill>
                <a:effectLst/>
                <a:latin typeface="Arial" panose="020B0604020202020204" pitchFamily="34" charset="0"/>
                <a:ea typeface="+mn-ea"/>
                <a:cs typeface="Arial" panose="020B0604020202020204" pitchFamily="34" charset="0"/>
              </a:rPr>
              <a:t>Open-Ended Maths Activities</a:t>
            </a:r>
            <a:r>
              <a:rPr lang="en-AU" sz="1600" kern="1200">
                <a:solidFill>
                  <a:schemeClr val="tx1"/>
                </a:solidFill>
                <a:effectLst/>
                <a:latin typeface="Arial" panose="020B0604020202020204" pitchFamily="34" charset="0"/>
                <a:ea typeface="+mn-ea"/>
                <a:cs typeface="Arial" panose="020B0604020202020204" pitchFamily="34" charset="0"/>
              </a:rPr>
              <a:t> by Sullivan and Lilburn.</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a:t>
            </a:r>
            <a:r>
              <a:rPr lang="en-AU" sz="1600" b="1" kern="1200">
                <a:solidFill>
                  <a:schemeClr val="tx1"/>
                </a:solidFill>
                <a:effectLst/>
                <a:latin typeface="Arial" panose="020B0604020202020204" pitchFamily="34" charset="0"/>
                <a:ea typeface="+mn-ea"/>
                <a:cs typeface="Arial" panose="020B0604020202020204" pitchFamily="34" charset="0"/>
              </a:rPr>
              <a:t> </a:t>
            </a:r>
            <a:r>
              <a:rPr lang="en-AU" sz="1600" u="sng" kern="1200">
                <a:solidFill>
                  <a:schemeClr val="tx1"/>
                </a:solidFill>
                <a:effectLst/>
                <a:latin typeface="Arial" panose="020B0604020202020204" pitchFamily="34" charset="0"/>
                <a:ea typeface="+mn-ea"/>
                <a:cs typeface="Arial" panose="020B0604020202020204" pitchFamily="34" charset="0"/>
                <a:hlinkClick r:id="rId3"/>
              </a:rPr>
              <a:t>Resource 20 – better deal</a:t>
            </a:r>
            <a:r>
              <a:rPr lang="en-AU" sz="1600" kern="1200">
                <a:solidFill>
                  <a:schemeClr val="tx1"/>
                </a:solidFill>
                <a:effectLst/>
                <a:latin typeface="Arial" panose="020B0604020202020204" pitchFamily="34" charset="0"/>
                <a:ea typeface="+mn-ea"/>
                <a:cs typeface="Arial" panose="020B0604020202020204" pitchFamily="34" charset="0"/>
              </a:rPr>
              <a:t>. </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12 bottles of water costs $8.00 and single bottles cost $0.75. </a:t>
            </a:r>
          </a:p>
          <a:p>
            <a:pPr marL="342900" lvl="0"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If I need 12 bottles of water, which is the better deal?</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How can this problem be presented visually and numerically?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a range of student strategies and representations to share with the class. Include a variety of equations and visual representations.  </a:t>
            </a:r>
          </a:p>
          <a:p>
            <a:pPr>
              <a:defRPr/>
            </a:pPr>
            <a:endParaRPr lang="en-AU" sz="180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537156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3</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a:latin typeface="Arial"/>
                <a:cs typeface="Arial"/>
              </a:rPr>
              <a:t>Multiplicative relations B</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Area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Represents numbers B</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2D shapes</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C4833-1F85-A8D5-9DE7-AC27C1569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9529B-4C8D-A457-504B-4C8892750C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2F85EF-0FE7-E950-CE62-B1B65D09EDFC}"/>
              </a:ext>
            </a:extLst>
          </p:cNvPr>
          <p:cNvSpPr>
            <a:spLocks noGrp="1"/>
          </p:cNvSpPr>
          <p:nvPr>
            <p:ph type="body" idx="1"/>
          </p:nvPr>
        </p:nvSpPr>
        <p:spPr/>
        <p:txBody>
          <a:bodyPr/>
          <a:lstStyle/>
          <a:p>
            <a:pPr>
              <a:lnSpc>
                <a:spcPct val="150000"/>
              </a:lnSpc>
              <a:spcBef>
                <a:spcPts val="1200"/>
              </a:spcBef>
              <a:spcAft>
                <a:spcPts val="600"/>
              </a:spcAft>
              <a:defRPr/>
            </a:pPr>
            <a:r>
              <a:rPr lang="en-AU"/>
              <a:t>This is a developing number sense activity. </a:t>
            </a:r>
            <a:endParaRPr lang="en-US">
              <a:solidFill>
                <a:srgbClr val="444444"/>
              </a:solidFil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endParaRPr>
          </a:p>
          <a:p>
            <a:pPr>
              <a:lnSpc>
                <a:spcPts val="1913"/>
              </a:lnSpc>
              <a:defRPr/>
            </a:pPr>
            <a:endParaRPr lang="en-AU">
              <a:solidFill>
                <a:srgbClr val="444444"/>
              </a:solidFill>
            </a:endParaRPr>
          </a:p>
          <a:p>
            <a:pPr>
              <a:defRPr/>
            </a:pPr>
            <a:r>
              <a:rPr lang="en-AU" b="1"/>
              <a:t>Syllabus focus area:</a:t>
            </a:r>
            <a:endParaRPr lang="en-US">
              <a:solidFill>
                <a:srgbClr val="444444"/>
              </a:solidFill>
            </a:endParaRPr>
          </a:p>
          <a:p>
            <a:pPr>
              <a:defRPr/>
            </a:pPr>
            <a:r>
              <a:rPr lang="en-AU"/>
              <a:t>Multiplicative relations B</a:t>
            </a:r>
          </a:p>
          <a:p>
            <a:pPr>
              <a:defRPr/>
            </a:pPr>
            <a:endParaRPr lang="en-AU" sz="1800" b="1">
              <a:latin typeface="Arial"/>
              <a:ea typeface="Calibri"/>
              <a:cs typeface="Arial"/>
            </a:endParaRPr>
          </a:p>
          <a:p>
            <a:pPr>
              <a:defRPr/>
            </a:pPr>
            <a:r>
              <a:rPr lang="en-AU" sz="1800" b="1">
                <a:latin typeface="Arial"/>
                <a:cs typeface="Arial"/>
              </a:rPr>
              <a:t>Solving problems using a calculator</a:t>
            </a:r>
            <a:endParaRPr lang="en-AU" sz="1800" b="1">
              <a:latin typeface="Arial"/>
              <a:ea typeface="Calibri"/>
              <a:cs typeface="Arial"/>
            </a:endParaRPr>
          </a:p>
          <a:p>
            <a:pPr>
              <a:defRPr/>
            </a:pPr>
            <a:endParaRPr lang="en-AU" sz="1800">
              <a:latin typeface="Arial"/>
              <a:ea typeface="Calibri"/>
              <a:cs typeface="Arial"/>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this lesson is an adaptation of a task from </a:t>
            </a:r>
            <a:r>
              <a:rPr lang="en-AU" sz="1600" i="1" kern="1200">
                <a:solidFill>
                  <a:schemeClr val="tx1"/>
                </a:solidFill>
                <a:effectLst/>
                <a:latin typeface="Arial" panose="020B0604020202020204" pitchFamily="34" charset="0"/>
                <a:ea typeface="+mn-ea"/>
                <a:cs typeface="Arial" panose="020B0604020202020204" pitchFamily="34" charset="0"/>
              </a:rPr>
              <a:t>Open-Ended Maths Activities</a:t>
            </a:r>
            <a:r>
              <a:rPr lang="en-AU" sz="1600" kern="1200">
                <a:solidFill>
                  <a:schemeClr val="tx1"/>
                </a:solidFill>
                <a:effectLst/>
                <a:latin typeface="Arial" panose="020B0604020202020204" pitchFamily="34" charset="0"/>
                <a:ea typeface="+mn-ea"/>
                <a:cs typeface="Arial" panose="020B0604020202020204" pitchFamily="34" charset="0"/>
              </a:rPr>
              <a:t> by Sullivan and Lilburn.</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400" b="1">
                <a:effectLst/>
                <a:latin typeface="Arial" panose="020B0604020202020204" pitchFamily="34" charset="0"/>
                <a:ea typeface="Calibri" panose="020F0502020204030204" pitchFamily="34" charset="0"/>
              </a:rPr>
              <a:t>Image source: </a:t>
            </a:r>
            <a:r>
              <a:rPr lang="en-AU" sz="1400">
                <a:effectLst/>
                <a:latin typeface="Arial" panose="020B0604020202020204" pitchFamily="34" charset="0"/>
                <a:ea typeface="Calibri" panose="020F0502020204030204" pitchFamily="34" charset="0"/>
              </a:rPr>
              <a:t>CANVA</a:t>
            </a:r>
            <a:r>
              <a:rPr lang="en-AU" sz="1600" b="0" i="0">
                <a:solidFill>
                  <a:srgbClr val="0B57D0"/>
                </a:solidFill>
                <a:effectLst/>
                <a:latin typeface="Arial" panose="020B0604020202020204" pitchFamily="34" charset="0"/>
                <a:hlinkClick r:id="rId3"/>
              </a:rPr>
              <a:t>’© Media Element via Canva.com</a:t>
            </a:r>
            <a:endParaRPr lang="en-AU" sz="1400">
              <a:effectLst/>
              <a:latin typeface="Arial" panose="020B0604020202020204" pitchFamily="34" charset="0"/>
              <a:ea typeface="Calibri" panose="020F0502020204030204" pitchFamily="34" charset="0"/>
            </a:endParaRP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Pose the problem: How could you calculate 17 × 26 if the number 7 button on your calculator is broken?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How would you approach this task?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to students they don’t need to find the answer at this stage. Their task is to plan a strategy.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a variety of students’ strategies to share with the class. For example: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17 partitioned in ways other than 10 and 7, for example 8 and 9 or 5 and 12</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multiply 26 by another number and then add or subtract 26. For example, 18 × 26 − 26.</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Pose this problem: How could you calculate 16 × 35 if the number 6 button on your calculator is broken?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their strategy to solve this problem.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and ask:</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strategies did you use with the new multiplication?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Did factorising the numbers help you solve this problem mentally?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it more efficient to use a calculator, or to use a mental or written strategy to solve this problem?</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calculators for students to test their strategies and compare their solutions.</a:t>
            </a:r>
            <a:endParaRPr lang="en-AU" sz="1800">
              <a:latin typeface="Arial"/>
              <a:ea typeface="Calibri"/>
              <a:cs typeface="Arial"/>
            </a:endParaRPr>
          </a:p>
        </p:txBody>
      </p:sp>
      <p:sp>
        <p:nvSpPr>
          <p:cNvPr id="4" name="Slide Number Placeholder 3">
            <a:extLst>
              <a:ext uri="{FF2B5EF4-FFF2-40B4-BE49-F238E27FC236}">
                <a16:creationId xmlns:a16="http://schemas.microsoft.com/office/drawing/2014/main" id="{0B370F8B-88BE-7ED7-009B-24265E51C367}"/>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1099544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B</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Area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1B36-47E4-7D54-B38D-6E3A12D5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441C-B175-9310-62E4-2BDB8434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07E7-BCD7-BF66-1FD5-F66F83E9A55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Represents numbers B</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727C7-CC8D-698F-7170-D71A46934120}"/>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644537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B: 3D objects</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a:solidFill>
                  <a:srgbClr val="000000"/>
                </a:solidFill>
              </a:rPr>
              <a:t>This is a developing number sense activity. </a:t>
            </a:r>
            <a:endParaRPr lang="en-US">
              <a:solidFill>
                <a:srgbClr val="444444"/>
              </a:solidFil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solidFill>
                  <a:srgbClr val="000000"/>
                </a:solidFil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endParaRPr>
          </a:p>
          <a:p>
            <a:pPr>
              <a:lnSpc>
                <a:spcPts val="1913"/>
              </a:lnSpc>
              <a:defRPr/>
            </a:pPr>
            <a:endParaRPr lang="en-AU">
              <a:solidFill>
                <a:srgbClr val="444444"/>
              </a:solidFill>
            </a:endParaRPr>
          </a:p>
          <a:p>
            <a:pPr>
              <a:defRPr/>
            </a:pPr>
            <a:r>
              <a:rPr lang="en-AU" b="1">
                <a:solidFill>
                  <a:srgbClr val="000000"/>
                </a:solidFill>
              </a:rPr>
              <a:t>Syllabus focus area:</a:t>
            </a:r>
            <a:endParaRPr lang="en-US">
              <a:solidFill>
                <a:srgbClr val="444444"/>
              </a:solidFill>
            </a:endParaRPr>
          </a:p>
          <a:p>
            <a:pPr>
              <a:defRPr/>
            </a:pPr>
            <a:r>
              <a:rPr lang="en-AU">
                <a:solidFill>
                  <a:srgbClr val="000000"/>
                </a:solidFill>
              </a:rPr>
              <a:t>Multiplicative relations B</a:t>
            </a:r>
            <a:endParaRPr lang="en-AU"/>
          </a:p>
          <a:p>
            <a:pPr>
              <a:tabLst>
                <a:tab pos="228600" algn="l"/>
                <a:tab pos="859155" algn="l"/>
                <a:tab pos="859155" algn="l"/>
              </a:tabLst>
            </a:pPr>
            <a:endParaRPr lang="en-AU">
              <a:latin typeface="Arial"/>
              <a:ea typeface="Calibri" panose="020F0502020204030204" pitchFamily="34" charset="0"/>
              <a:cs typeface="Arial"/>
            </a:endParaRPr>
          </a:p>
          <a:p>
            <a:pPr>
              <a:tabLst>
                <a:tab pos="228600" algn="l"/>
                <a:tab pos="859155" algn="l"/>
                <a:tab pos="859155" algn="l"/>
              </a:tabLst>
            </a:pPr>
            <a:r>
              <a:rPr lang="en-AU" b="1">
                <a:latin typeface="Arial"/>
                <a:ea typeface="Calibri"/>
                <a:cs typeface="Arial"/>
              </a:rPr>
              <a:t>Factors of 4-digit products</a:t>
            </a:r>
          </a:p>
          <a:p>
            <a:pPr>
              <a:tabLst>
                <a:tab pos="228600" algn="l"/>
                <a:tab pos="859155" algn="l"/>
                <a:tab pos="859155" algn="l"/>
              </a:tabLst>
            </a:pPr>
            <a:endParaRPr lang="en-AU">
              <a:latin typeface="Arial"/>
              <a:ea typeface="Calibri" panose="020F0502020204030204" pitchFamily="34" charset="0"/>
              <a:cs typeface="Arial"/>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Write the number 8640 on the board.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identify pairs of factors that make a product of 8640. For example,</a:t>
            </a:r>
          </a:p>
          <a:p>
            <a:pPr lvl="0"/>
            <a:r>
              <a:rPr lang="en-AU" sz="1600" kern="1200">
                <a:solidFill>
                  <a:schemeClr val="tx1"/>
                </a:solidFill>
                <a:effectLst/>
                <a:latin typeface="Arial" panose="020B0604020202020204" pitchFamily="34" charset="0"/>
                <a:ea typeface="+mn-ea"/>
                <a:cs typeface="Arial" panose="020B0604020202020204" pitchFamily="34" charset="0"/>
              </a:rPr>
              <a:t>864 x 10 = 8640</a:t>
            </a:r>
          </a:p>
          <a:p>
            <a:pPr lvl="0"/>
            <a:r>
              <a:rPr lang="en-AU" sz="1600" kern="1200">
                <a:solidFill>
                  <a:schemeClr val="tx1"/>
                </a:solidFill>
                <a:effectLst/>
                <a:latin typeface="Arial" panose="020B0604020202020204" pitchFamily="34" charset="0"/>
                <a:ea typeface="+mn-ea"/>
                <a:cs typeface="Arial" panose="020B0604020202020204" pitchFamily="34" charset="0"/>
              </a:rPr>
              <a:t>432 x 20 = 8640</a:t>
            </a:r>
          </a:p>
          <a:p>
            <a:pPr lvl="0"/>
            <a:r>
              <a:rPr lang="en-AU" sz="1600" kern="1200">
                <a:solidFill>
                  <a:schemeClr val="tx1"/>
                </a:solidFill>
                <a:effectLst/>
                <a:latin typeface="Arial" panose="020B0604020202020204" pitchFamily="34" charset="0"/>
                <a:ea typeface="+mn-ea"/>
                <a:cs typeface="Arial" panose="020B0604020202020204" pitchFamily="34" charset="0"/>
              </a:rPr>
              <a:t>108 x 80 = 8640</a:t>
            </a:r>
          </a:p>
          <a:p>
            <a:pPr lvl="0"/>
            <a:r>
              <a:rPr lang="en-AU" sz="1600" kern="1200">
                <a:solidFill>
                  <a:schemeClr val="tx1"/>
                </a:solidFill>
                <a:effectLst/>
                <a:latin typeface="Arial" panose="020B0604020202020204" pitchFamily="34" charset="0"/>
                <a:ea typeface="+mn-ea"/>
                <a:cs typeface="Arial" panose="020B0604020202020204" pitchFamily="34" charset="0"/>
              </a:rPr>
              <a:t>144 x 60 = 8640</a:t>
            </a:r>
          </a:p>
          <a:p>
            <a:r>
              <a:rPr lang="en-AU" sz="1600" kern="1200">
                <a:solidFill>
                  <a:schemeClr val="tx1"/>
                </a:solidFill>
                <a:effectLst/>
                <a:latin typeface="Arial" panose="020B0604020202020204" pitchFamily="34" charset="0"/>
                <a:ea typeface="+mn-ea"/>
                <a:cs typeface="Arial" panose="020B0604020202020204" pitchFamily="34" charset="0"/>
              </a:rPr>
              <a:t>90 x 96 = 8640</a:t>
            </a:r>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600477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a:latin typeface="Arial"/>
                <a:cs typeface="Arial"/>
              </a:rPr>
              <a:t>Represents numbers B: Make connections between benchmark fractions, decimals and percentages</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Area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quantity fractions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593475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 Time</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400">
              <a:lnSpc>
                <a:spcPct val="150000"/>
              </a:lnSpc>
              <a:spcBef>
                <a:spcPts val="1200"/>
              </a:spcBef>
              <a:spcAft>
                <a:spcPts val="600"/>
              </a:spcAft>
            </a:pPr>
            <a:r>
              <a:rPr lang="en-AU" dirty="0">
                <a:latin typeface="Arial"/>
                <a:cs typeface="Arial"/>
              </a:rPr>
              <a:t>This is a developing number sense activity. </a:t>
            </a:r>
            <a:endParaRPr lang="en-US" dirty="0">
              <a:solidFill>
                <a:srgbClr val="444444"/>
              </a:solidFill>
              <a:latin typeface="Arial"/>
              <a:cs typeface="Arial"/>
            </a:endParaRPr>
          </a:p>
          <a:p>
            <a:pPr defTabSz="914400">
              <a:lnSpc>
                <a:spcPct val="150000"/>
              </a:lnSpc>
              <a:spcBef>
                <a:spcPts val="1200"/>
              </a:spcBef>
              <a:spcAft>
                <a:spcPts val="600"/>
              </a:spcAft>
            </a:pPr>
            <a:endParaRPr lang="en-AU" dirty="0">
              <a:solidFill>
                <a:srgbClr val="444444"/>
              </a:solidFill>
            </a:endParaRPr>
          </a:p>
          <a:p>
            <a:pPr defTabSz="914400">
              <a:lnSpc>
                <a:spcPct val="150000"/>
              </a:lnSpc>
              <a:spcBef>
                <a:spcPts val="1200"/>
              </a:spcBef>
              <a:spcAft>
                <a:spcPts val="600"/>
              </a:spcAft>
            </a:pPr>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dirty="0">
              <a:solidFill>
                <a:srgbClr val="444444"/>
              </a:solidFill>
              <a:latin typeface="Arial"/>
              <a:cs typeface="Arial"/>
            </a:endParaRPr>
          </a:p>
          <a:p>
            <a:pPr defTabSz="914400">
              <a:lnSpc>
                <a:spcPts val="1913"/>
              </a:lnSpc>
            </a:pPr>
            <a:endParaRPr lang="en-AU" dirty="0">
              <a:solidFill>
                <a:srgbClr val="444444"/>
              </a:solidFill>
            </a:endParaRPr>
          </a:p>
          <a:p>
            <a:pPr defTabSz="914400"/>
            <a:r>
              <a:rPr lang="en-AU" b="1" dirty="0">
                <a:latin typeface="Arial"/>
                <a:cs typeface="Arial"/>
              </a:rPr>
              <a:t>Syllabus focus area:</a:t>
            </a:r>
            <a:endParaRPr lang="en-US" dirty="0">
              <a:solidFill>
                <a:srgbClr val="444444"/>
              </a:solidFill>
              <a:latin typeface="Arial"/>
              <a:cs typeface="Arial"/>
            </a:endParaRPr>
          </a:p>
          <a:p>
            <a:pPr defTabSz="914400"/>
            <a:r>
              <a:rPr lang="en-AU" dirty="0">
                <a:solidFill>
                  <a:srgbClr val="000000"/>
                </a:solidFill>
                <a:latin typeface="Arial"/>
                <a:cs typeface="Arial"/>
              </a:rPr>
              <a:t>Represent numbers B: Decimals and percentages</a:t>
            </a:r>
          </a:p>
          <a:p>
            <a:pPr defTabSz="914400"/>
            <a:endParaRPr lang="en-AU" dirty="0">
              <a:latin typeface="Arial"/>
              <a:ea typeface="Calibri"/>
              <a:cs typeface="Arial"/>
            </a:endParaRPr>
          </a:p>
          <a:p>
            <a:pPr defTabSz="914400"/>
            <a:r>
              <a:rPr lang="en-AU" b="1" dirty="0">
                <a:latin typeface="Arial"/>
                <a:ea typeface="Calibri"/>
                <a:cs typeface="Arial"/>
              </a:rPr>
              <a:t>Solving problems involving percentages</a:t>
            </a:r>
          </a:p>
          <a:p>
            <a:pPr marL="285750" indent="-285750" defTabSz="9144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Pose the problem: Sophie was given a 10% discount on the price of a tennis racquet. If the original price was $20, how much would Sophie save with a 10% discount? </a:t>
            </a:r>
          </a:p>
          <a:p>
            <a:pPr marL="285750" indent="-285750" defTabSz="91440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Select a range of student responses to share with the class. Ask</a:t>
            </a:r>
            <a:r>
              <a:rPr lang="en-AU" sz="1600" b="1" kern="1200" dirty="0">
                <a:solidFill>
                  <a:schemeClr val="tx1"/>
                </a:solidFill>
                <a:effectLst/>
                <a:latin typeface="Arial" panose="020B0604020202020204" pitchFamily="34" charset="0"/>
                <a:ea typeface="+mn-ea"/>
                <a:cs typeface="Arial" panose="020B0604020202020204" pitchFamily="34" charset="0"/>
              </a:rPr>
              <a:t>:</a:t>
            </a: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What strategy did you use to calculate 10% of the price?</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If Sophie was given a 20% discount, how might your strategy for calculating the discount change? 50% discount? 25% discount?</a:t>
            </a:r>
            <a:endParaRPr kumimoji="0" lang="en-AU" altLang="en-US" sz="1200" b="0" i="0" u="none" strike="noStrike" cap="none" normalizeH="0" baseline="0" dirty="0">
              <a:ln>
                <a:noFill/>
              </a:ln>
              <a:solidFill>
                <a:schemeClr val="tx1"/>
              </a:solidFill>
              <a:effectLst/>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5403536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6</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B: Volume</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quantity fractions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Length</a:t>
            </a:r>
            <a:endParaRPr lang="en-AU" sz="1600">
              <a:latin typeface="Public Sans"/>
            </a:endParaRPr>
          </a:p>
          <a:p>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lang="en-AU" b="1"/>
          </a:p>
          <a:p>
            <a:pPr>
              <a:lnSpc>
                <a:spcPct val="150000"/>
              </a:lnSpc>
              <a:spcBef>
                <a:spcPts val="1200"/>
              </a:spcBef>
              <a:spcAft>
                <a:spcPts val="600"/>
              </a:spcAft>
            </a:pPr>
            <a:r>
              <a:rPr lang="en-AU">
                <a:solidFill>
                  <a:srgbClr val="000000"/>
                </a:solidFill>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solidFill>
                  <a:srgbClr val="000000"/>
                </a:solidFill>
                <a:latin typeface="Arial"/>
                <a:cs typeface="Arial"/>
              </a:rPr>
              <a:t>Syllabus focus area:</a:t>
            </a:r>
            <a:endParaRPr lang="en-US">
              <a:solidFill>
                <a:srgbClr val="444444"/>
              </a:solidFill>
              <a:latin typeface="Arial"/>
              <a:cs typeface="Arial"/>
            </a:endParaRPr>
          </a:p>
          <a:p>
            <a:r>
              <a:rPr lang="en-AU">
                <a:solidFill>
                  <a:srgbClr val="000000"/>
                </a:solidFill>
                <a:latin typeface="Arial"/>
                <a:cs typeface="Arial"/>
              </a:rPr>
              <a:t>Represent numbers B: Decimals and percentages</a:t>
            </a:r>
            <a:endParaRPr lang="en-AU">
              <a:solidFill>
                <a:srgbClr val="444444"/>
              </a:solidFill>
            </a:endParaRPr>
          </a:p>
          <a:p>
            <a:endParaRPr lang="en-AU">
              <a:solidFill>
                <a:srgbClr val="000000"/>
              </a:solidFill>
              <a:latin typeface="Arial"/>
              <a:cs typeface="Arial"/>
            </a:endParaRPr>
          </a:p>
          <a:p>
            <a:r>
              <a:rPr lang="en-AU" b="1">
                <a:solidFill>
                  <a:srgbClr val="000000"/>
                </a:solidFill>
                <a:latin typeface="Arial"/>
                <a:cs typeface="Arial"/>
              </a:rPr>
              <a:t>Finding percentages of a quantity</a:t>
            </a:r>
            <a:br>
              <a:rPr lang="en-AU" b="1">
                <a:solidFill>
                  <a:srgbClr val="000000"/>
                </a:solidFill>
                <a:latin typeface="Arial"/>
                <a:cs typeface="Arial"/>
              </a:rPr>
            </a:br>
            <a:endParaRPr lang="en-AU" b="1">
              <a:solidFill>
                <a:srgbClr val="000000"/>
              </a:solidFill>
              <a:latin typeface="Arial"/>
              <a:cs typeface="Arial"/>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a:t>
            </a:r>
            <a:r>
              <a:rPr lang="en-AU" sz="1600" u="sng" kern="1200">
                <a:solidFill>
                  <a:schemeClr val="tx1"/>
                </a:solidFill>
                <a:effectLst/>
                <a:latin typeface="Arial" panose="020B0604020202020204" pitchFamily="34" charset="0"/>
                <a:ea typeface="+mn-ea"/>
                <a:cs typeface="Arial" panose="020B0604020202020204" pitchFamily="34" charset="0"/>
                <a:hlinkClick r:id="rId3"/>
              </a:rPr>
              <a:t>Resource 21 – valuable percentages</a:t>
            </a:r>
            <a:r>
              <a:rPr lang="en-AU" sz="1600" kern="1200">
                <a:solidFill>
                  <a:schemeClr val="tx1"/>
                </a:solidFill>
                <a:effectLst/>
                <a:latin typeface="Arial" panose="020B0604020202020204" pitchFamily="34" charset="0"/>
                <a:ea typeface="+mn-ea"/>
                <a:cs typeface="Arial" panose="020B0604020202020204" pitchFamily="34" charset="0"/>
              </a:rPr>
              <a: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their solutions on individual whiteboards.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students’ findings.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the following questions:</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How can calculating 10% help calculate other percentages?</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What strategies did you use to calculate the different percentages?</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What connections do you notice?</a:t>
            </a:r>
          </a:p>
          <a:p>
            <a:pPr marL="285750" indent="-285750">
              <a:buFont typeface="Arial" panose="020B0604020202020204" pitchFamily="34" charset="0"/>
              <a:buChar char="•"/>
            </a:pP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students may notice the commutative property of percentages from this activity. For example, 50% of 10 is the same as 10% of 50. This property may be something to explore further with students if time permits.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36342665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4E1AA-AE86-2419-E2D4-2F289D4B1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B1A52-D738-FB15-6A68-894885BF7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58CA6-89FC-61BC-201C-3E8BC638A2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a:t>
            </a:r>
            <a:r>
              <a:rPr lang="en-AU">
                <a:latin typeface="Arial"/>
                <a:cs typeface="Arial"/>
              </a:rPr>
              <a:t>7</a:t>
            </a:r>
            <a:r>
              <a:rPr lang="en-AU" sz="1600" b="0" i="0">
                <a:solidFill>
                  <a:schemeClr val="tx1"/>
                </a:solidFill>
                <a:latin typeface="Arial"/>
                <a:cs typeface="Arial"/>
              </a:rPr>
              <a:t>).</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2E524-5D71-6633-0348-9CDDC581B714}"/>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7992859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B: Volume</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quantity fractions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B</a:t>
            </a:r>
            <a:endParaRPr lang="en-AU" sz="1600">
              <a:latin typeface="Public Sans"/>
            </a:endParaRPr>
          </a:p>
          <a:p>
            <a:endParaRPr lang="en-AU" sz="1600" b="0" i="0">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800">
              <a:latin typeface="Arial"/>
              <a:ea typeface="Calibri"/>
              <a:cs typeface="Arial"/>
            </a:endParaRPr>
          </a:p>
          <a:p>
            <a:pPr>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latin typeface="Arial"/>
                <a:cs typeface="Arial"/>
              </a:rPr>
              <a:t>Syllabus focus area:</a:t>
            </a:r>
            <a:endParaRPr lang="en-US">
              <a:solidFill>
                <a:srgbClr val="444444"/>
              </a:solidFill>
              <a:latin typeface="Arial"/>
              <a:cs typeface="Arial"/>
            </a:endParaRPr>
          </a:p>
          <a:p>
            <a:r>
              <a:rPr lang="en-AU">
                <a:latin typeface="Arial"/>
                <a:cs typeface="Arial"/>
              </a:rPr>
              <a:t>Represent numbers B: Decimals and percentages</a:t>
            </a:r>
            <a:endParaRPr lang="en-AU">
              <a:solidFill>
                <a:srgbClr val="444444"/>
              </a:solidFill>
              <a:latin typeface="Arial"/>
              <a:cs typeface="Arial"/>
            </a:endParaRPr>
          </a:p>
          <a:p>
            <a:pPr marL="0" indent="0">
              <a:buFont typeface="Arial" panose="020F0302020204030204"/>
              <a:buNone/>
            </a:pPr>
            <a:endParaRPr lang="en-AU">
              <a:solidFill>
                <a:srgbClr val="444444"/>
              </a:solidFill>
            </a:endParaRPr>
          </a:p>
          <a:p>
            <a:r>
              <a:rPr lang="en-AU" b="1">
                <a:latin typeface="Arial"/>
                <a:ea typeface="Calibri"/>
                <a:cs typeface="Arial"/>
              </a:rPr>
              <a:t>10% off the price</a:t>
            </a:r>
            <a:br>
              <a:rPr lang="en-AU" b="1">
                <a:latin typeface="Arial"/>
                <a:ea typeface="Calibri"/>
                <a:cs typeface="Arial"/>
              </a:rPr>
            </a:br>
            <a:r>
              <a:rPr lang="en-AU" sz="1600" kern="1200">
                <a:solidFill>
                  <a:schemeClr val="tx1"/>
                </a:solidFill>
                <a:effectLst/>
                <a:latin typeface="Arial" panose="020B0604020202020204" pitchFamily="34" charset="0"/>
                <a:ea typeface="+mn-ea"/>
                <a:cs typeface="Arial" panose="020B0604020202020204" pitchFamily="34" charset="0"/>
              </a:rPr>
              <a:t>This lesson is an adaptation of ‘Percentage Challenge 2’ from Enrich-e-</a:t>
            </a:r>
            <a:r>
              <a:rPr lang="en-AU" sz="1600" kern="1200" err="1">
                <a:solidFill>
                  <a:schemeClr val="tx1"/>
                </a:solidFill>
                <a:effectLst/>
                <a:latin typeface="Arial" panose="020B0604020202020204" pitchFamily="34" charset="0"/>
                <a:ea typeface="+mn-ea"/>
                <a:cs typeface="Arial" panose="020B0604020202020204" pitchFamily="34" charset="0"/>
              </a:rPr>
              <a:t>matics</a:t>
            </a:r>
            <a:r>
              <a:rPr lang="en-AU" sz="1600" kern="1200">
                <a:solidFill>
                  <a:schemeClr val="tx1"/>
                </a:solidFill>
                <a:effectLst/>
                <a:latin typeface="Arial" panose="020B0604020202020204" pitchFamily="34" charset="0"/>
                <a:ea typeface="+mn-ea"/>
                <a:cs typeface="Arial" panose="020B0604020202020204" pitchFamily="34" charset="0"/>
              </a:rPr>
              <a:t>! A graded maths enrichment programme – Book F by Joshua.</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Read the problem as a class and discuss student strategies.</a:t>
            </a:r>
          </a:p>
          <a:p>
            <a:pPr marL="285750" lvl="0" indent="-285750">
              <a:buFont typeface="Arial" panose="020B0604020202020204" pitchFamily="34" charset="0"/>
              <a:buChar char="•"/>
            </a:pPr>
            <a:r>
              <a:rPr lang="en-AU" sz="1600" b="1" kern="1200">
                <a:solidFill>
                  <a:schemeClr val="tx1"/>
                </a:solidFill>
                <a:effectLst/>
                <a:latin typeface="Arial" panose="020B0604020202020204" pitchFamily="34" charset="0"/>
                <a:ea typeface="+mn-ea"/>
                <a:cs typeface="Arial" panose="020B0604020202020204" pitchFamily="34" charset="0"/>
              </a:rPr>
              <a:t>Ask:</a:t>
            </a: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What did you discover?</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Why might the employee think they were entitled to a 20% discount?</a:t>
            </a:r>
          </a:p>
          <a:p>
            <a:pPr marL="28575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What is the difference between 20% of the original cost and 10% of the reduced cost?</a:t>
            </a:r>
            <a:endParaRPr lang="en-AU" sz="180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52</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8834748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8</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br>
              <a:rPr lang="en-AU" sz="1600" b="0" i="0">
                <a:latin typeface="Arial" panose="020B0604020202020204" pitchFamily="34" charset="0"/>
                <a:cs typeface="Arial" panose="020B0604020202020204" pitchFamily="34" charset="0"/>
              </a:rPr>
            </a:br>
            <a:endParaRPr lang="en-AU" sz="1600" b="0" i="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B: Volume</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Representing quantity fractions B </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B</a:t>
            </a:r>
            <a:endParaRPr lang="en-AU"/>
          </a:p>
          <a:p>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E264-FD26-1A93-B2BD-52E567F5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E50FF-7BD6-9625-55D4-41B34C43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7923A-C2D1-8735-1567-89B089B0E5F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B: 2D Shapes</a:t>
            </a:r>
            <a:endParaRPr lang="en-AU"/>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B998A2-AF59-C506-C149-1C00BC7EDBA9}"/>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2374680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EB2DA-D00A-CEC7-928F-02C5CBFF5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E87F3-3012-0A7D-4C81-B6EEE31A0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70ABAC-F7EB-444D-ED88-8E17415C9E29}"/>
              </a:ext>
            </a:extLst>
          </p:cNvPr>
          <p:cNvSpPr>
            <a:spLocks noGrp="1"/>
          </p:cNvSpPr>
          <p:nvPr>
            <p:ph type="body" idx="1"/>
          </p:nvPr>
        </p:nvSpPr>
        <p:spPr/>
        <p:txBody>
          <a:bodyPr/>
          <a:lstStyle/>
          <a:p>
            <a:endParaRPr lang="en-AU" sz="1800">
              <a:latin typeface="Arial"/>
              <a:ea typeface="Calibri"/>
              <a:cs typeface="Arial"/>
            </a:endParaRPr>
          </a:p>
          <a:p>
            <a:pPr>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latin typeface="Arial"/>
                <a:cs typeface="Arial"/>
              </a:rPr>
              <a:t>Syllabus focus area:</a:t>
            </a:r>
            <a:endParaRPr lang="en-US">
              <a:solidFill>
                <a:srgbClr val="444444"/>
              </a:solidFill>
              <a:latin typeface="Arial"/>
              <a:cs typeface="Arial"/>
            </a:endParaRPr>
          </a:p>
          <a:p>
            <a:pPr marL="285750" indent="-285750">
              <a:buFont typeface="Arial" panose="020B0604020202020204" pitchFamily="34" charset="0"/>
              <a:buChar char="•"/>
            </a:pPr>
            <a:r>
              <a:rPr lang="en-AU">
                <a:latin typeface="Arial"/>
                <a:cs typeface="Arial"/>
              </a:rPr>
              <a:t>Represent numbers B: Decimals and percentages</a:t>
            </a:r>
            <a:br>
              <a:rPr lang="en-AU" b="0">
                <a:solidFill>
                  <a:srgbClr val="444444"/>
                </a:solidFill>
                <a:latin typeface="Arial" panose="020B0604020202020204" pitchFamily="34" charset="0"/>
                <a:cs typeface="Arial" panose="020B0604020202020204" pitchFamily="34" charset="0"/>
              </a:rPr>
            </a:br>
            <a:br>
              <a:rPr lang="en-AU" b="0">
                <a:solidFill>
                  <a:srgbClr val="444444"/>
                </a:solidFill>
                <a:latin typeface="Arial" panose="020B0604020202020204" pitchFamily="34" charset="0"/>
                <a:cs typeface="Arial" panose="020B0604020202020204" pitchFamily="34" charset="0"/>
              </a:rPr>
            </a:br>
            <a:r>
              <a:rPr lang="en-AU" b="1">
                <a:latin typeface="Arial"/>
                <a:cs typeface="Arial"/>
              </a:rPr>
              <a:t>10% sales tax</a:t>
            </a:r>
            <a:br>
              <a:rPr lang="en-AU" sz="1600" u="sng" kern="1200">
                <a:solidFill>
                  <a:schemeClr val="tx1"/>
                </a:solidFill>
                <a:effectLst/>
                <a:latin typeface="Arial" panose="020B0604020202020204" pitchFamily="34" charset="0"/>
                <a:ea typeface="+mn-ea"/>
                <a:cs typeface="Arial" panose="020B0604020202020204" pitchFamily="34" charset="0"/>
              </a:rPr>
            </a:br>
            <a:r>
              <a:rPr lang="en-AU" sz="1600" kern="1200">
                <a:solidFill>
                  <a:schemeClr val="tx1"/>
                </a:solidFill>
                <a:effectLst/>
                <a:latin typeface="Arial" panose="020B0604020202020204" pitchFamily="34" charset="0"/>
                <a:ea typeface="+mn-ea"/>
                <a:cs typeface="Arial" panose="020B0604020202020204" pitchFamily="34" charset="0"/>
              </a:rPr>
              <a:t>Give students time to solve the problem and record their solutions.</a:t>
            </a:r>
            <a:br>
              <a:rPr lang="en-AU" sz="1600" kern="1200">
                <a:solidFill>
                  <a:schemeClr val="tx1"/>
                </a:solidFill>
                <a:effectLst/>
                <a:latin typeface="Arial" panose="020B0604020202020204" pitchFamily="34" charset="0"/>
                <a:ea typeface="+mn-ea"/>
                <a:cs typeface="Arial" panose="020B0604020202020204" pitchFamily="34" charset="0"/>
              </a:rPr>
            </a:br>
            <a:r>
              <a:rPr lang="en-AU" sz="1600"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Is it better to calculate the discount or tax first?</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What strategies did you use to solve the problem?</a:t>
            </a:r>
          </a:p>
          <a:p>
            <a:pPr marL="28575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Select students to communicate their reasoning and justification.</a:t>
            </a:r>
            <a:endParaRPr lang="en-AU" sz="280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68EDC15E-18C1-4960-876B-ABB3A042E462}"/>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59</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72413539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20887922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ontent and pictur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3" name="Content Placeholder 2">
            <a:extLst>
              <a:ext uri="{FF2B5EF4-FFF2-40B4-BE49-F238E27FC236}">
                <a16:creationId xmlns:a16="http://schemas.microsoft.com/office/drawing/2014/main" id="{EAC13D79-FA01-577F-AC79-E39D6DCCC806}"/>
              </a:ext>
            </a:extLst>
          </p:cNvPr>
          <p:cNvSpPr>
            <a:spLocks noGrp="1"/>
          </p:cNvSpPr>
          <p:nvPr>
            <p:ph sz="quarter" idx="19" hasCustomPrompt="1"/>
          </p:nvPr>
        </p:nvSpPr>
        <p:spPr>
          <a:xfrm>
            <a:off x="360363" y="1580225"/>
            <a:ext cx="5507037" cy="4796763"/>
          </a:xfrm>
        </p:spPr>
        <p:txBody>
          <a:body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6096000" y="1580225"/>
            <a:ext cx="5507038" cy="4796763"/>
          </a:xfrm>
        </p:spPr>
        <p:txBody>
          <a:bodyPr/>
          <a:lstStyle/>
          <a:p>
            <a:r>
              <a:rPr lang="en-US"/>
              <a:t>Click icon to add picture</a:t>
            </a:r>
            <a:endParaRPr lang="en-AU"/>
          </a:p>
        </p:txBody>
      </p:sp>
    </p:spTree>
    <p:extLst>
      <p:ext uri="{BB962C8B-B14F-4D97-AF65-F5344CB8AC3E}">
        <p14:creationId xmlns:p14="http://schemas.microsoft.com/office/powerpoint/2010/main" val="967598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48" r:id="rId5"/>
    <p:sldLayoutId id="2147483751" r:id="rId6"/>
    <p:sldLayoutId id="2147483754" r:id="rId7"/>
    <p:sldLayoutId id="2147483752" r:id="rId8"/>
    <p:sldLayoutId id="2147483753" r:id="rId9"/>
    <p:sldLayoutId id="2147483723" r:id="rId10"/>
    <p:sldLayoutId id="2147483749" r:id="rId11"/>
    <p:sldLayoutId id="2147483746" r:id="rId12"/>
    <p:sldLayoutId id="2147483725" r:id="rId13"/>
    <p:sldLayoutId id="2147483743" r:id="rId14"/>
    <p:sldLayoutId id="2147483750" r:id="rId15"/>
    <p:sldLayoutId id="2147483744"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19.sv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21.sv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7.png"/><Relationship Id="rId7"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8.xml"/><Relationship Id="rId6" Type="http://schemas.openxmlformats.org/officeDocument/2006/relationships/image" Target="../media/image24.png"/><Relationship Id="rId10" Type="http://schemas.openxmlformats.org/officeDocument/2006/relationships/image" Target="../media/image28.png"/><Relationship Id="rId4" Type="http://schemas.openxmlformats.org/officeDocument/2006/relationships/image" Target="../media/image23.png"/><Relationship Id="rId9"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3.sv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7.png"/><Relationship Id="rId7" Type="http://schemas.openxmlformats.org/officeDocument/2006/relationships/image" Target="../media/image38.svg"/><Relationship Id="rId2" Type="http://schemas.openxmlformats.org/officeDocument/2006/relationships/notesSlide" Target="../notesSlides/notesSlide43.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 Id="rId9" Type="http://schemas.openxmlformats.org/officeDocument/2006/relationships/image" Target="../media/image40.sv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49.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49.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6.xml"/><Relationship Id="rId1" Type="http://schemas.openxmlformats.org/officeDocument/2006/relationships/slideLayout" Target="../slideLayouts/slideLayout8.xml"/><Relationship Id="rId5" Type="http://schemas.openxmlformats.org/officeDocument/2006/relationships/image" Target="../media/image43.png"/><Relationship Id="rId4" Type="http://schemas.openxmlformats.org/officeDocument/2006/relationships/image" Target="../media/image7.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9.xml"/><Relationship Id="rId1" Type="http://schemas.openxmlformats.org/officeDocument/2006/relationships/slideLayout" Target="../slideLayouts/slideLayout4.xml"/><Relationship Id="rId6" Type="http://schemas.openxmlformats.org/officeDocument/2006/relationships/image" Target="../media/image45.svg"/><Relationship Id="rId5" Type="http://schemas.openxmlformats.org/officeDocument/2006/relationships/image" Target="../media/image30.png"/><Relationship Id="rId4" Type="http://schemas.openxmlformats.org/officeDocument/2006/relationships/image" Target="../media/image44.jpe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2.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slide" Target="slide5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polypad.amplify.com/p#polygons" TargetMode="External"/><Relationship Id="rId2" Type="http://schemas.openxmlformats.org/officeDocument/2006/relationships/notesSlide" Target="../notesSlides/notesSlide67.xml"/><Relationship Id="rId1" Type="http://schemas.openxmlformats.org/officeDocument/2006/relationships/slideLayout" Target="../slideLayouts/slideLayout14.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3 Year B Unit 37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3 </a:t>
            </a:r>
            <a:r>
              <a:rPr lang="en-AU" sz="2400">
                <a:solidFill>
                  <a:srgbClr val="FFFFFF"/>
                </a:solidFill>
                <a:latin typeface="+mj-lt"/>
                <a:cs typeface="Arial"/>
              </a:rPr>
              <a:t>–</a:t>
            </a:r>
            <a:r>
              <a:rPr lang="en-AU" sz="2400">
                <a:latin typeface="+mj-lt"/>
                <a:cs typeface="Arial"/>
              </a:rPr>
              <a:t> Unit 37</a:t>
            </a:r>
          </a:p>
        </p:txBody>
      </p:sp>
      <p:pic>
        <p:nvPicPr>
          <p:cNvPr id="4" name="Picture Placeholder 3" descr="A row of dice on a blue background">
            <a:extLst>
              <a:ext uri="{FF2B5EF4-FFF2-40B4-BE49-F238E27FC236}">
                <a16:creationId xmlns:a16="http://schemas.microsoft.com/office/drawing/2014/main" id="{27D6D49C-580D-CED2-3F28-318B6A237077}"/>
              </a:ext>
            </a:extLst>
          </p:cNvPr>
          <p:cNvPicPr>
            <a:picLocks noGrp="1" noChangeAspect="1"/>
          </p:cNvPicPr>
          <p:nvPr>
            <p:ph type="pic" sz="quarter" idx="13"/>
          </p:nvPr>
        </p:nvPicPr>
        <p:blipFill>
          <a:blip r:embed="rId3"/>
          <a:srcRect l="435" r="435"/>
          <a:stretch/>
        </p:blipFill>
        <p:spPr>
          <a:xfrm>
            <a:off x="7128000" y="2233"/>
            <a:ext cx="5064000" cy="6853534"/>
          </a:xfrm>
          <a:prstGeom prst="rect">
            <a:avLst/>
          </a:prstGeom>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0BB4-7853-844D-3332-6F91A0BED71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006F8F-DBF1-C8DC-9DED-38B6B4E7CB8D}"/>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039E04F1-1D85-FA84-5449-E32FFF2F7755}"/>
              </a:ext>
            </a:extLst>
          </p:cNvPr>
          <p:cNvSpPr>
            <a:spLocks noGrp="1"/>
          </p:cNvSpPr>
          <p:nvPr>
            <p:ph type="title"/>
          </p:nvPr>
        </p:nvSpPr>
        <p:spPr/>
        <p:txBody>
          <a:bodyPr/>
          <a:lstStyle/>
          <a:p>
            <a:r>
              <a:rPr lang="en-US"/>
              <a:t>Multiple choice </a:t>
            </a:r>
            <a:r>
              <a:rPr lang="en-US">
                <a:solidFill>
                  <a:schemeClr val="bg1"/>
                </a:solidFill>
              </a:rPr>
              <a:t>(1)</a:t>
            </a:r>
          </a:p>
        </p:txBody>
      </p:sp>
      <p:sp>
        <p:nvSpPr>
          <p:cNvPr id="18" name="Text Placeholder 17">
            <a:extLst>
              <a:ext uri="{FF2B5EF4-FFF2-40B4-BE49-F238E27FC236}">
                <a16:creationId xmlns:a16="http://schemas.microsoft.com/office/drawing/2014/main" id="{FC34DB07-31C6-3F33-6A7E-944B95A7D1B7}"/>
              </a:ext>
            </a:extLst>
          </p:cNvPr>
          <p:cNvSpPr>
            <a:spLocks noGrp="1"/>
          </p:cNvSpPr>
          <p:nvPr>
            <p:ph type="body" sz="quarter" idx="24"/>
          </p:nvPr>
        </p:nvSpPr>
        <p:spPr>
          <a:xfrm>
            <a:off x="886857" y="1061011"/>
            <a:ext cx="10418286" cy="1399194"/>
          </a:xfrm>
        </p:spPr>
        <p:txBody>
          <a:bodyPr vert="horz" lIns="0" tIns="0" rIns="0" bIns="0" rtlCol="0" anchor="t">
            <a:noAutofit/>
          </a:bodyPr>
          <a:lstStyle/>
          <a:p>
            <a:pPr algn="ctr"/>
            <a:r>
              <a:rPr lang="en-US" sz="4000">
                <a:latin typeface="Arial"/>
                <a:cs typeface="Arial"/>
              </a:rPr>
              <a:t>Nathan needs to </a:t>
            </a:r>
            <a:r>
              <a:rPr lang="en-US" sz="4000" b="1">
                <a:latin typeface="Arial"/>
                <a:cs typeface="Arial"/>
              </a:rPr>
              <a:t>multiply</a:t>
            </a:r>
            <a:r>
              <a:rPr lang="en-US" sz="4000">
                <a:latin typeface="Arial"/>
                <a:cs typeface="Arial"/>
              </a:rPr>
              <a:t> 497 x 87. He estimates by </a:t>
            </a:r>
            <a:r>
              <a:rPr lang="en-US" sz="4000" b="1">
                <a:latin typeface="Arial"/>
                <a:cs typeface="Arial"/>
              </a:rPr>
              <a:t>multiplying</a:t>
            </a:r>
            <a:r>
              <a:rPr lang="en-US" sz="4000">
                <a:latin typeface="Arial"/>
                <a:cs typeface="Arial"/>
              </a:rPr>
              <a:t> 500 x 90. </a:t>
            </a:r>
          </a:p>
          <a:p>
            <a:pPr algn="ctr"/>
            <a:r>
              <a:rPr lang="en-US" sz="4000">
                <a:latin typeface="Arial"/>
                <a:cs typeface="Arial"/>
              </a:rPr>
              <a:t>Which answer is an accurate </a:t>
            </a:r>
            <a:r>
              <a:rPr lang="en-US" sz="4000" b="1">
                <a:latin typeface="Arial"/>
                <a:cs typeface="Arial"/>
              </a:rPr>
              <a:t>estimate</a:t>
            </a:r>
            <a:r>
              <a:rPr lang="en-US" sz="4000">
                <a:latin typeface="Arial"/>
                <a:cs typeface="Arial"/>
              </a:rPr>
              <a:t>?</a:t>
            </a:r>
            <a:endParaRPr lang="en-US"/>
          </a:p>
        </p:txBody>
      </p:sp>
      <p:graphicFrame>
        <p:nvGraphicFramePr>
          <p:cNvPr id="7" name="Table 6">
            <a:extLst>
              <a:ext uri="{FF2B5EF4-FFF2-40B4-BE49-F238E27FC236}">
                <a16:creationId xmlns:a16="http://schemas.microsoft.com/office/drawing/2014/main" id="{45A0F7FB-E613-A9D5-4ACD-9E7F051075DB}"/>
              </a:ext>
            </a:extLst>
          </p:cNvPr>
          <p:cNvGraphicFramePr>
            <a:graphicFrameLocks noGrp="1"/>
          </p:cNvGraphicFramePr>
          <p:nvPr>
            <p:extLst>
              <p:ext uri="{D42A27DB-BD31-4B8C-83A1-F6EECF244321}">
                <p14:modId xmlns:p14="http://schemas.microsoft.com/office/powerpoint/2010/main" val="2326862378"/>
              </p:ext>
            </p:extLst>
          </p:nvPr>
        </p:nvGraphicFramePr>
        <p:xfrm>
          <a:off x="572708" y="4426598"/>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14000</a:t>
                      </a:r>
                      <a:endParaRPr lang="en-AU" sz="400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4500</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1400</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45000</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21EA2CEE-5482-7E96-80F7-EDA4B9A1A9D8}"/>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1666901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a:latin typeface="Arial"/>
                <a:cs typeface="Arial"/>
              </a:rPr>
              <a:t>Short response</a:t>
            </a:r>
            <a:r>
              <a:rPr lang="en-US">
                <a:solidFill>
                  <a:schemeClr val="tx1"/>
                </a:solidFill>
                <a:latin typeface="Arial"/>
                <a:cs typeface="Arial"/>
              </a:rPr>
              <a:t> </a:t>
            </a:r>
            <a:r>
              <a:rPr lang="en-US">
                <a:solidFill>
                  <a:schemeClr val="bg1"/>
                </a:solidFill>
                <a:latin typeface="Arial"/>
                <a:cs typeface="Arial"/>
              </a:rPr>
              <a:t>(1)</a:t>
            </a:r>
          </a:p>
        </p:txBody>
      </p:sp>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288112" y="2494605"/>
            <a:ext cx="11200365" cy="1875448"/>
          </a:xfrm>
        </p:spPr>
        <p:txBody>
          <a:bodyPr/>
          <a:lstStyle/>
          <a:p>
            <a:pPr algn="ctr"/>
            <a:r>
              <a:rPr lang="en-US" sz="4800">
                <a:latin typeface="Arial"/>
                <a:cs typeface="Arial"/>
              </a:rPr>
              <a:t>List the </a:t>
            </a:r>
            <a:r>
              <a:rPr lang="en-US" sz="4800" b="1">
                <a:latin typeface="Arial"/>
                <a:cs typeface="Arial"/>
              </a:rPr>
              <a:t>factors</a:t>
            </a:r>
            <a:r>
              <a:rPr lang="en-US" sz="4800">
                <a:latin typeface="Arial"/>
                <a:cs typeface="Arial"/>
              </a:rPr>
              <a:t> of 36.</a:t>
            </a:r>
            <a:endParaRPr lang="en-US" sz="2400">
              <a:latin typeface="Arial"/>
              <a:cs typeface="Arial"/>
            </a:endParaRPr>
          </a:p>
        </p:txBody>
      </p:sp>
      <p:pic>
        <p:nvPicPr>
          <p:cNvPr id="5" name="Picture 4" descr="image of a clipboard with a pencil recording short answer responses">
            <a:extLst>
              <a:ext uri="{FF2B5EF4-FFF2-40B4-BE49-F238E27FC236}">
                <a16:creationId xmlns:a16="http://schemas.microsoft.com/office/drawing/2014/main" id="{60B5CDFF-4A15-89C2-D24B-9A50E271EEC2}"/>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(2)</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474481" y="1275500"/>
                <a:ext cx="11243037" cy="2979910"/>
              </a:xfrm>
            </p:spPr>
            <p:txBody>
              <a:bodyPr/>
              <a:lstStyle/>
              <a:p>
                <a:pPr algn="ctr"/>
                <a:r>
                  <a:rPr lang="en-US" sz="4400" dirty="0">
                    <a:latin typeface="Arial"/>
                    <a:cs typeface="Arial"/>
                  </a:rPr>
                  <a:t>Jake ate </a:t>
                </a:r>
                <a14:m>
                  <m:oMath xmlns:m="http://schemas.openxmlformats.org/officeDocument/2006/math">
                    <m:f>
                      <m:fPr>
                        <m:ctrlPr>
                          <a:rPr lang="en-US" sz="4400" i="1" smtClean="0">
                            <a:latin typeface="Cambria Math" panose="02040503050406030204" pitchFamily="18" charset="0"/>
                            <a:cs typeface="Arial"/>
                          </a:rPr>
                        </m:ctrlPr>
                      </m:fPr>
                      <m:num>
                        <m:r>
                          <a:rPr lang="en-AU" sz="4400" b="0" i="1" smtClean="0">
                            <a:latin typeface="Cambria Math" panose="02040503050406030204" pitchFamily="18" charset="0"/>
                            <a:cs typeface="Arial"/>
                          </a:rPr>
                          <m:t>3</m:t>
                        </m:r>
                      </m:num>
                      <m:den>
                        <m:r>
                          <a:rPr lang="en-AU" sz="4400" b="0" i="1" smtClean="0">
                            <a:latin typeface="Cambria Math" panose="02040503050406030204" pitchFamily="18" charset="0"/>
                            <a:cs typeface="Arial"/>
                          </a:rPr>
                          <m:t>4</m:t>
                        </m:r>
                      </m:den>
                    </m:f>
                  </m:oMath>
                </a14:m>
                <a:r>
                  <a:rPr lang="en-US" sz="4400" dirty="0">
                    <a:latin typeface="Arial"/>
                    <a:cs typeface="Arial"/>
                  </a:rPr>
                  <a:t> of a cake and Kate ate </a:t>
                </a:r>
                <a14:m>
                  <m:oMath xmlns:m="http://schemas.openxmlformats.org/officeDocument/2006/math">
                    <m:f>
                      <m:fPr>
                        <m:ctrlPr>
                          <a:rPr lang="en-US" sz="4400" i="1" smtClean="0">
                            <a:latin typeface="Cambria Math" panose="02040503050406030204" pitchFamily="18" charset="0"/>
                            <a:cs typeface="Arial"/>
                          </a:rPr>
                        </m:ctrlPr>
                      </m:fPr>
                      <m:num>
                        <m:r>
                          <a:rPr lang="en-AU" sz="4400" b="0" i="1" smtClean="0">
                            <a:latin typeface="Cambria Math" panose="02040503050406030204" pitchFamily="18" charset="0"/>
                            <a:cs typeface="Arial"/>
                          </a:rPr>
                          <m:t>2</m:t>
                        </m:r>
                      </m:num>
                      <m:den>
                        <m:r>
                          <a:rPr lang="en-AU" sz="4400" b="0" i="1" smtClean="0">
                            <a:latin typeface="Cambria Math" panose="02040503050406030204" pitchFamily="18" charset="0"/>
                            <a:cs typeface="Arial"/>
                          </a:rPr>
                          <m:t>3</m:t>
                        </m:r>
                      </m:den>
                    </m:f>
                  </m:oMath>
                </a14:m>
                <a:r>
                  <a:rPr lang="en-US" sz="4400" dirty="0">
                    <a:latin typeface="Arial"/>
                    <a:cs typeface="Arial"/>
                  </a:rPr>
                  <a:t> of a different cake. Jake said he ate more than Kate. How could he be correct? </a:t>
                </a:r>
              </a:p>
              <a:p>
                <a:pPr algn="ctr"/>
                <a:r>
                  <a:rPr lang="en-US" sz="4400" dirty="0">
                    <a:latin typeface="Arial"/>
                    <a:cs typeface="Arial"/>
                  </a:rPr>
                  <a:t>Draw a diagram to show your thinking. </a:t>
                </a:r>
                <a:endParaRPr lang="en-US" sz="4400" dirty="0">
                  <a:latin typeface="Arial"/>
                </a:endParaRPr>
              </a:p>
              <a:p>
                <a:pPr algn="ctr"/>
                <a:r>
                  <a:rPr lang="en-US" sz="4400" dirty="0">
                    <a:latin typeface="Arial"/>
                    <a:cs typeface="Arial"/>
                  </a:rPr>
                  <a:t>    </a:t>
                </a:r>
                <a:br>
                  <a:rPr lang="en-US" sz="4400" dirty="0">
                    <a:latin typeface="Arial"/>
                    <a:cs typeface="Arial"/>
                  </a:rPr>
                </a:br>
                <a:endParaRPr lang="en-US" sz="4400" dirty="0">
                  <a:solidFill>
                    <a:srgbClr val="22272B"/>
                  </a:solidFill>
                </a:endParaRPr>
              </a:p>
              <a:p>
                <a:endParaRPr lang="en-US" dirty="0">
                  <a:latin typeface="Arial"/>
                  <a:cs typeface="Arial"/>
                </a:endParaRPr>
              </a:p>
            </p:txBody>
          </p:sp>
        </mc:Choice>
        <mc:Fallback xmlns="">
          <p:sp>
            <p:nvSpPr>
              <p:cNvPr id="11" name="Picture Placeholder 10">
                <a:extLst>
                  <a:ext uri="{FF2B5EF4-FFF2-40B4-BE49-F238E27FC236}">
                    <a16:creationId xmlns:a16="http://schemas.microsoft.com/office/drawing/2014/main" id="{7157F9C0-C1ED-7744-16B0-EF203AF569DC}"/>
                  </a:ext>
                </a:extLst>
              </p:cNvPr>
              <p:cNvSpPr>
                <a:spLocks noGrp="1" noRot="1" noChangeAspect="1" noMove="1" noResize="1" noEditPoints="1" noAdjustHandles="1" noChangeArrowheads="1" noChangeShapeType="1" noTextEdit="1"/>
              </p:cNvSpPr>
              <p:nvPr>
                <p:ph type="pic" sz="quarter" idx="21"/>
              </p:nvPr>
            </p:nvSpPr>
            <p:spPr>
              <a:xfrm>
                <a:off x="474481" y="1275500"/>
                <a:ext cx="11243037" cy="2979910"/>
              </a:xfrm>
              <a:blipFill>
                <a:blip r:embed="rId3"/>
                <a:stretch>
                  <a:fillRect r="-597" b="-61350"/>
                </a:stretch>
              </a:blipFill>
            </p:spPr>
            <p:txBody>
              <a:bodyPr/>
              <a:lstStyle/>
              <a:p>
                <a:r>
                  <a:rPr lang="en-AU">
                    <a:noFill/>
                  </a:rPr>
                  <a:t> </a:t>
                </a:r>
              </a:p>
            </p:txBody>
          </p:sp>
        </mc:Fallback>
      </mc:AlternateContent>
      <p:pic>
        <p:nvPicPr>
          <p:cNvPr id="13" name="Picture 12" descr="image of a clipboard with a pencil recording short answer responses">
            <a:extLst>
              <a:ext uri="{FF2B5EF4-FFF2-40B4-BE49-F238E27FC236}">
                <a16:creationId xmlns:a16="http://schemas.microsoft.com/office/drawing/2014/main" id="{6517B42C-EFE7-24FE-E119-33EDE74648D4}"/>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(4)</a:t>
            </a:r>
          </a:p>
        </p:txBody>
      </p:sp>
      <p:sp>
        <p:nvSpPr>
          <p:cNvPr id="11" name="Picture Placeholder 10">
            <a:extLst>
              <a:ext uri="{FF2B5EF4-FFF2-40B4-BE49-F238E27FC236}">
                <a16:creationId xmlns:a16="http://schemas.microsoft.com/office/drawing/2014/main" id="{8B598472-9720-A705-623A-487E3FF7A7C8}"/>
              </a:ext>
            </a:extLst>
          </p:cNvPr>
          <p:cNvSpPr>
            <a:spLocks noGrp="1"/>
          </p:cNvSpPr>
          <p:nvPr>
            <p:ph type="pic" sz="quarter" idx="21"/>
          </p:nvPr>
        </p:nvSpPr>
        <p:spPr>
          <a:xfrm>
            <a:off x="596063" y="1471012"/>
            <a:ext cx="11243037" cy="1959118"/>
          </a:xfrm>
        </p:spPr>
        <p:txBody>
          <a:bodyPr/>
          <a:lstStyle/>
          <a:p>
            <a:pPr algn="ctr"/>
            <a:br>
              <a:rPr lang="en-US" sz="4400">
                <a:latin typeface="Arial"/>
                <a:cs typeface="Arial"/>
              </a:rPr>
            </a:br>
            <a:endParaRPr lang="en-US" sz="4400">
              <a:solidFill>
                <a:srgbClr val="22272B"/>
              </a:solidFill>
            </a:endParaRPr>
          </a:p>
          <a:p>
            <a:endParaRPr lang="en-US">
              <a:latin typeface="Arial"/>
              <a:cs typeface="Arial"/>
            </a:endParaRPr>
          </a:p>
        </p:txBody>
      </p:sp>
      <p:sp>
        <p:nvSpPr>
          <p:cNvPr id="6" name="Picture Placeholder 10">
            <a:extLst>
              <a:ext uri="{FF2B5EF4-FFF2-40B4-BE49-F238E27FC236}">
                <a16:creationId xmlns:a16="http://schemas.microsoft.com/office/drawing/2014/main" id="{84B27F89-4220-CBB0-A2BD-DF8B45274182}"/>
              </a:ext>
            </a:extLst>
          </p:cNvPr>
          <p:cNvSpPr txBox="1">
            <a:spLocks/>
          </p:cNvSpPr>
          <p:nvPr/>
        </p:nvSpPr>
        <p:spPr>
          <a:xfrm>
            <a:off x="358319" y="1934308"/>
            <a:ext cx="11243037" cy="195911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r>
              <a:rPr lang="en-US" sz="4400">
                <a:latin typeface="Arial"/>
                <a:cs typeface="Arial"/>
              </a:rPr>
            </a:br>
            <a:endParaRPr lang="en-US" sz="4400">
              <a:solidFill>
                <a:srgbClr val="22272B"/>
              </a:solidFill>
            </a:endParaRPr>
          </a:p>
          <a:p>
            <a:endParaRPr lang="en-US">
              <a:latin typeface="Arial"/>
              <a:cs typeface="Arial"/>
            </a:endParaRPr>
          </a:p>
        </p:txBody>
      </p:sp>
      <p:sp>
        <p:nvSpPr>
          <p:cNvPr id="8" name="Picture Placeholder 10">
            <a:extLst>
              <a:ext uri="{FF2B5EF4-FFF2-40B4-BE49-F238E27FC236}">
                <a16:creationId xmlns:a16="http://schemas.microsoft.com/office/drawing/2014/main" id="{C71FA276-C5C1-DB90-3082-41EDC65E643E}"/>
              </a:ext>
            </a:extLst>
          </p:cNvPr>
          <p:cNvSpPr txBox="1">
            <a:spLocks/>
          </p:cNvSpPr>
          <p:nvPr/>
        </p:nvSpPr>
        <p:spPr>
          <a:xfrm>
            <a:off x="360000" y="1184223"/>
            <a:ext cx="10764000" cy="1934734"/>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latin typeface="Arial"/>
                <a:cs typeface="Arial"/>
              </a:rPr>
              <a:t>18 cards are shared between 2 people. One person gets 4 more than the other. How many cards does each person get?</a:t>
            </a:r>
            <a:br>
              <a:rPr lang="en-AU" sz="4400" dirty="0">
                <a:latin typeface="Arial"/>
                <a:cs typeface="Arial"/>
              </a:rPr>
            </a:br>
            <a:r>
              <a:rPr lang="en-AU" sz="4400" dirty="0">
                <a:latin typeface="Arial"/>
                <a:cs typeface="Arial"/>
              </a:rPr>
              <a:t>Communicate your reasoning on a </a:t>
            </a:r>
            <a:r>
              <a:rPr lang="en-AU" sz="4400" b="1" dirty="0">
                <a:latin typeface="Arial"/>
                <a:cs typeface="Arial"/>
              </a:rPr>
              <a:t>number line</a:t>
            </a:r>
            <a:r>
              <a:rPr lang="en-AU" sz="4400" dirty="0">
                <a:latin typeface="Arial"/>
                <a:cs typeface="Arial"/>
              </a:rPr>
              <a:t>, </a:t>
            </a:r>
            <a:r>
              <a:rPr lang="en-AU" sz="4400" b="1" dirty="0">
                <a:latin typeface="Arial"/>
                <a:cs typeface="Arial"/>
              </a:rPr>
              <a:t>tape diagram </a:t>
            </a:r>
            <a:r>
              <a:rPr lang="en-AU" sz="4400" dirty="0">
                <a:latin typeface="Arial"/>
                <a:cs typeface="Arial"/>
              </a:rPr>
              <a:t>or </a:t>
            </a:r>
            <a:r>
              <a:rPr lang="en-AU" sz="4400" b="1" dirty="0">
                <a:latin typeface="Arial"/>
                <a:cs typeface="Arial"/>
              </a:rPr>
              <a:t>bar model</a:t>
            </a:r>
            <a:r>
              <a:rPr lang="en-AU" sz="4400" dirty="0">
                <a:latin typeface="Arial"/>
                <a:cs typeface="Arial"/>
              </a:rPr>
              <a:t>.</a:t>
            </a:r>
            <a:endParaRPr lang="en-US" sz="5400" dirty="0">
              <a:solidFill>
                <a:srgbClr val="22272B"/>
              </a:solidFill>
            </a:endParaRP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F142F24-A346-63B3-9C1B-1E3C7790562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pic>
        <p:nvPicPr>
          <p:cNvPr id="5" name="Picture 4" descr="Lunchtime activities column graph for boys and girls.&#10;Boys:&#10;Playground - 22 students.&#10;Sports practice - 16 students.&#10;Drama rehearsal - 17 students.&#10;Library - 6 students. &#10;Play with sports equipment - 12 students.&#10;Play with friends - 13 students. &#10;Chat - 6 students. &#10;Girls:&#10;Playground - 15 students.&#10;Sports practice - 7 students.&#10;Drama rehearsal - 35 students.&#10;Library - 8 students.&#10;Play with sports equipment - 6 students.&#10;Play with friends - 12 students.&#10;Chat - 9 students.">
            <a:extLst>
              <a:ext uri="{FF2B5EF4-FFF2-40B4-BE49-F238E27FC236}">
                <a16:creationId xmlns:a16="http://schemas.microsoft.com/office/drawing/2014/main" id="{D8FA0F09-44B5-9463-9CE6-67776330490C}"/>
              </a:ext>
            </a:extLst>
          </p:cNvPr>
          <p:cNvPicPr>
            <a:picLocks noChangeAspect="1"/>
          </p:cNvPicPr>
          <p:nvPr/>
        </p:nvPicPr>
        <p:blipFill>
          <a:blip r:embed="rId3">
            <a:extLst>
              <a:ext uri="{28A0092B-C50C-407E-A947-70E740481C1C}">
                <a14:useLocalDpi xmlns:a14="http://schemas.microsoft.com/office/drawing/2010/main" val="0"/>
              </a:ext>
            </a:extLst>
          </a:blip>
          <a:srcRect t="3640" b="6742"/>
          <a:stretch>
            <a:fillRect/>
          </a:stretch>
        </p:blipFill>
        <p:spPr>
          <a:xfrm>
            <a:off x="1895742" y="996878"/>
            <a:ext cx="7690710" cy="4020575"/>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12" name="Text Placeholder 11">
            <a:extLst>
              <a:ext uri="{FF2B5EF4-FFF2-40B4-BE49-F238E27FC236}">
                <a16:creationId xmlns:a16="http://schemas.microsoft.com/office/drawing/2014/main" id="{65C867D5-8CB8-739D-AB4F-83858803E2F0}"/>
              </a:ext>
            </a:extLst>
          </p:cNvPr>
          <p:cNvSpPr>
            <a:spLocks noGrp="1"/>
          </p:cNvSpPr>
          <p:nvPr>
            <p:ph type="body" sz="quarter" idx="22"/>
          </p:nvPr>
        </p:nvSpPr>
        <p:spPr>
          <a:xfrm>
            <a:off x="176982" y="5293989"/>
            <a:ext cx="11667018" cy="1463774"/>
          </a:xfrm>
        </p:spPr>
        <p:txBody>
          <a:bodyPr vert="horz" lIns="0" tIns="0" rIns="0" bIns="0" rtlCol="0" anchor="t">
            <a:noAutofit/>
          </a:bodyPr>
          <a:lstStyle/>
          <a:p>
            <a:pPr marL="342900" indent="-342900">
              <a:buAutoNum type="arabicPeriod"/>
            </a:pPr>
            <a:r>
              <a:rPr lang="en-US" sz="2400" dirty="0">
                <a:latin typeface="Arial"/>
                <a:cs typeface="Arial"/>
              </a:rPr>
              <a:t>Which activity had the </a:t>
            </a:r>
            <a:r>
              <a:rPr lang="en-US" sz="2400" b="1" dirty="0">
                <a:latin typeface="Arial"/>
                <a:cs typeface="Arial"/>
              </a:rPr>
              <a:t>least difference</a:t>
            </a:r>
            <a:r>
              <a:rPr lang="en-US" sz="2400" dirty="0">
                <a:latin typeface="Arial"/>
                <a:cs typeface="Arial"/>
              </a:rPr>
              <a:t> between the number of girls and boys in it?</a:t>
            </a:r>
          </a:p>
          <a:p>
            <a:pPr marL="342900" indent="-342900">
              <a:buAutoNum type="arabicPeriod"/>
            </a:pPr>
            <a:r>
              <a:rPr lang="en-US" sz="2400" dirty="0">
                <a:latin typeface="Arial"/>
                <a:cs typeface="Arial"/>
              </a:rPr>
              <a:t>How </a:t>
            </a:r>
            <a:r>
              <a:rPr lang="en-US" sz="2400" b="1" dirty="0">
                <a:latin typeface="Arial"/>
                <a:cs typeface="Arial"/>
              </a:rPr>
              <a:t>many more</a:t>
            </a:r>
            <a:r>
              <a:rPr lang="en-US" sz="2400" dirty="0">
                <a:latin typeface="Arial"/>
                <a:cs typeface="Arial"/>
              </a:rPr>
              <a:t> girls chose drama rehearsal than boys? </a:t>
            </a:r>
            <a:endParaRPr lang="en-US" sz="2400" dirty="0"/>
          </a:p>
        </p:txBody>
      </p:sp>
      <p:pic>
        <p:nvPicPr>
          <p:cNvPr id="4" name="Picture 3" descr="image of a clipboard with a pencil recording short answer responses">
            <a:extLst>
              <a:ext uri="{FF2B5EF4-FFF2-40B4-BE49-F238E27FC236}">
                <a16:creationId xmlns:a16="http://schemas.microsoft.com/office/drawing/2014/main" id="{9AFF81D9-B035-9967-8700-C5F2EB26519C}"/>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p:txBody>
          <a:bodyPr/>
          <a:lstStyle/>
          <a:p>
            <a:r>
              <a:rPr lang="en-AU">
                <a:latin typeface="Arial"/>
                <a:cs typeface="Arial"/>
              </a:rPr>
              <a:t>Activity 1 – mental or written?</a:t>
            </a:r>
          </a:p>
        </p:txBody>
      </p:sp>
      <p:sp>
        <p:nvSpPr>
          <p:cNvPr id="4" name="Text Placeholder 3">
            <a:extLst>
              <a:ext uri="{FF2B5EF4-FFF2-40B4-BE49-F238E27FC236}">
                <a16:creationId xmlns:a16="http://schemas.microsoft.com/office/drawing/2014/main" id="{94B4BDBC-C49C-8A36-A049-486FB0690A62}"/>
              </a:ext>
            </a:extLst>
          </p:cNvPr>
          <p:cNvSpPr>
            <a:spLocks noGrp="1" noRot="1" noMove="1" noResize="1" noEditPoints="1" noAdjustHandles="1" noChangeArrowheads="1" noChangeShapeType="1"/>
          </p:cNvSpPr>
          <p:nvPr>
            <p:ph type="body" sz="quarter" idx="18"/>
          </p:nvPr>
        </p:nvSpPr>
        <p:spPr>
          <a:xfrm>
            <a:off x="390513" y="1525409"/>
            <a:ext cx="11484000" cy="310015"/>
          </a:xfrm>
        </p:spPr>
        <p:txBody>
          <a:bodyPr/>
          <a:lstStyle/>
          <a:p>
            <a:r>
              <a:rPr lang="en-AU" sz="2000" dirty="0">
                <a:solidFill>
                  <a:schemeClr val="tx1"/>
                </a:solidFill>
                <a:effectLst/>
                <a:latin typeface="Arial"/>
                <a:ea typeface="Calibri"/>
                <a:cs typeface="Arial"/>
              </a:rPr>
              <a:t>Record your ideas on individual whiteboards</a:t>
            </a:r>
            <a:r>
              <a:rPr lang="en-AU" sz="2000" dirty="0">
                <a:solidFill>
                  <a:srgbClr val="002664"/>
                </a:solidFill>
                <a:effectLst/>
                <a:latin typeface="Arial"/>
                <a:ea typeface="Calibri"/>
                <a:cs typeface="Arial"/>
              </a:rPr>
              <a:t>.</a:t>
            </a:r>
          </a:p>
          <a:p>
            <a:endParaRPr lang="en-AU" dirty="0"/>
          </a:p>
        </p:txBody>
      </p:sp>
      <p:pic>
        <p:nvPicPr>
          <p:cNvPr id="6" name="Picture 5" descr="image of a head with cogs turning inside">
            <a:extLst>
              <a:ext uri="{FF2B5EF4-FFF2-40B4-BE49-F238E27FC236}">
                <a16:creationId xmlns:a16="http://schemas.microsoft.com/office/drawing/2014/main" id="{FD9CB2FA-5D2D-5F87-87BC-91BD9E44467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D33B2377-4F6C-3FD4-CD47-A69E213EBF4B}"/>
              </a:ext>
            </a:extLst>
          </p:cNvPr>
          <p:cNvSpPr txBox="1"/>
          <p:nvPr/>
        </p:nvSpPr>
        <p:spPr>
          <a:xfrm>
            <a:off x="1951402" y="1680416"/>
            <a:ext cx="6637865" cy="4401205"/>
          </a:xfrm>
          <a:prstGeom prst="rect">
            <a:avLst/>
          </a:prstGeom>
          <a:noFill/>
        </p:spPr>
        <p:txBody>
          <a:bodyPr wrap="square">
            <a:spAutoFit/>
          </a:bodyPr>
          <a:lstStyle/>
          <a:p>
            <a:r>
              <a:rPr lang="en-AU" sz="4000">
                <a:solidFill>
                  <a:schemeClr val="accent2"/>
                </a:solidFill>
                <a:latin typeface="Arial" panose="020B0604020202020204" pitchFamily="34" charset="0"/>
                <a:cs typeface="Arial" panose="020B0604020202020204" pitchFamily="34" charset="0"/>
              </a:rPr>
              <a:t>5 × 10 001 =</a:t>
            </a:r>
          </a:p>
          <a:p>
            <a:endParaRPr lang="en-AU" sz="4000">
              <a:solidFill>
                <a:schemeClr val="accent2"/>
              </a:solidFill>
              <a:latin typeface="Arial" panose="020B0604020202020204" pitchFamily="34" charset="0"/>
              <a:cs typeface="Arial" panose="020B0604020202020204" pitchFamily="34" charset="0"/>
            </a:endParaRPr>
          </a:p>
          <a:p>
            <a:r>
              <a:rPr lang="en-AU" sz="4000">
                <a:solidFill>
                  <a:schemeClr val="accent2"/>
                </a:solidFill>
                <a:latin typeface="Arial" panose="020B0604020202020204" pitchFamily="34" charset="0"/>
                <a:cs typeface="Arial" panose="020B0604020202020204" pitchFamily="34" charset="0"/>
              </a:rPr>
              <a:t>237 × 4 =</a:t>
            </a:r>
          </a:p>
          <a:p>
            <a:endParaRPr lang="en-AU" sz="4000">
              <a:solidFill>
                <a:schemeClr val="accent2"/>
              </a:solidFill>
              <a:latin typeface="Arial" panose="020B0604020202020204" pitchFamily="34" charset="0"/>
              <a:cs typeface="Arial" panose="020B0604020202020204" pitchFamily="34" charset="0"/>
            </a:endParaRPr>
          </a:p>
          <a:p>
            <a:r>
              <a:rPr lang="en-AU" sz="4000">
                <a:solidFill>
                  <a:schemeClr val="accent2"/>
                </a:solidFill>
                <a:latin typeface="Arial" panose="020B0604020202020204" pitchFamily="34" charset="0"/>
                <a:cs typeface="Arial" panose="020B0604020202020204" pitchFamily="34" charset="0"/>
              </a:rPr>
              <a:t>326 × 11=</a:t>
            </a:r>
          </a:p>
          <a:p>
            <a:endParaRPr lang="en-AU" sz="4000">
              <a:solidFill>
                <a:schemeClr val="accent2"/>
              </a:solidFill>
              <a:latin typeface="Arial" panose="020B0604020202020204" pitchFamily="34" charset="0"/>
              <a:cs typeface="Arial" panose="020B0604020202020204" pitchFamily="34" charset="0"/>
            </a:endParaRPr>
          </a:p>
          <a:p>
            <a:r>
              <a:rPr lang="en-AU" sz="4000">
                <a:solidFill>
                  <a:schemeClr val="accent2"/>
                </a:solidFill>
                <a:latin typeface="Arial" panose="020B0604020202020204" pitchFamily="34" charset="0"/>
                <a:cs typeface="Arial" panose="020B0604020202020204" pitchFamily="34" charset="0"/>
              </a:rPr>
              <a:t>95 x 20 =</a:t>
            </a:r>
          </a:p>
        </p:txBody>
      </p:sp>
    </p:spTree>
    <p:extLst>
      <p:ext uri="{BB962C8B-B14F-4D97-AF65-F5344CB8AC3E}">
        <p14:creationId xmlns:p14="http://schemas.microsoft.com/office/powerpoint/2010/main" val="1612166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a:t>True or false </a:t>
            </a:r>
            <a:r>
              <a:rPr lang="en-US">
                <a:solidFill>
                  <a:schemeClr val="bg1"/>
                </a:solidFill>
              </a:rPr>
              <a:t>(1)</a:t>
            </a:r>
          </a:p>
        </p:txBody>
      </p:sp>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360000" y="1717386"/>
            <a:ext cx="11379716" cy="2703738"/>
          </a:xfrm>
        </p:spPr>
        <p:txBody>
          <a:bodyPr vert="horz" lIns="0" tIns="0" rIns="0" bIns="0" rtlCol="0" anchor="t">
            <a:noAutofit/>
          </a:bodyPr>
          <a:lstStyle/>
          <a:p>
            <a:pPr algn="ctr"/>
            <a:r>
              <a:rPr lang="en-AU" sz="4000" dirty="0">
                <a:latin typeface="Arial"/>
                <a:cs typeface="Arial"/>
              </a:rPr>
              <a:t>The numbers 6, 5, 4 and 0 in a number sentence _ _ _ × _  can make an answer of zero.</a:t>
            </a:r>
            <a:endParaRPr lang="en-AU" sz="4000" dirty="0"/>
          </a:p>
        </p:txBody>
      </p:sp>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1110315819"/>
              </p:ext>
            </p:extLst>
          </p:nvPr>
        </p:nvGraphicFramePr>
        <p:xfrm>
          <a:off x="2448393" y="5009213"/>
          <a:ext cx="7077076" cy="70104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694119">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87EDFC9E-A618-53A7-C204-54881B9AC2B6}"/>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1362075" y="2030849"/>
            <a:ext cx="9761925" cy="3056398"/>
          </a:xfrm>
        </p:spPr>
        <p:txBody>
          <a:bodyPr/>
          <a:lstStyle/>
          <a:p>
            <a:pPr algn="ctr"/>
            <a:r>
              <a:rPr lang="en-US" sz="4400" dirty="0">
                <a:latin typeface="Arial"/>
                <a:cs typeface="Arial"/>
              </a:rPr>
              <a:t>What is the </a:t>
            </a:r>
            <a:r>
              <a:rPr lang="en-US" sz="4400" b="1" dirty="0">
                <a:latin typeface="Arial"/>
                <a:cs typeface="Arial"/>
              </a:rPr>
              <a:t>product</a:t>
            </a:r>
            <a:r>
              <a:rPr lang="en-US" sz="4400" dirty="0">
                <a:latin typeface="Arial"/>
                <a:cs typeface="Arial"/>
              </a:rPr>
              <a:t> of 12 x 18?</a:t>
            </a:r>
          </a:p>
          <a:p>
            <a:pPr algn="ct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D6AA7882-9128-F96D-36AE-AAE3C6433E5E}"/>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sp>
        <p:nvSpPr>
          <p:cNvPr id="11" name="Picture Placeholder 10">
            <a:extLst>
              <a:ext uri="{FF2B5EF4-FFF2-40B4-BE49-F238E27FC236}">
                <a16:creationId xmlns:a16="http://schemas.microsoft.com/office/drawing/2014/main" id="{1FAEB63C-05D7-629C-93E0-6E9FD7090D30}"/>
              </a:ext>
            </a:extLst>
          </p:cNvPr>
          <p:cNvSpPr>
            <a:spLocks noGrp="1"/>
          </p:cNvSpPr>
          <p:nvPr>
            <p:ph type="pic" sz="quarter" idx="21"/>
          </p:nvPr>
        </p:nvSpPr>
        <p:spPr>
          <a:xfrm>
            <a:off x="474482" y="2032024"/>
            <a:ext cx="11243036" cy="2052364"/>
          </a:xfrm>
        </p:spPr>
        <p:txBody>
          <a:bodyPr/>
          <a:lstStyle/>
          <a:p>
            <a:r>
              <a:rPr lang="en-US" sz="4000" dirty="0">
                <a:latin typeface="Arial"/>
                <a:cs typeface="Arial"/>
              </a:rPr>
              <a:t>What </a:t>
            </a:r>
            <a:r>
              <a:rPr lang="en-US" sz="4000" b="1" dirty="0">
                <a:latin typeface="Arial"/>
                <a:cs typeface="Arial"/>
              </a:rPr>
              <a:t>fraction</a:t>
            </a:r>
            <a:r>
              <a:rPr lang="en-US" sz="4000" dirty="0">
                <a:latin typeface="Arial"/>
                <a:cs typeface="Arial"/>
              </a:rPr>
              <a:t> is needed to complete the whole?</a:t>
            </a:r>
          </a:p>
        </p:txBody>
      </p:sp>
      <p:pic>
        <p:nvPicPr>
          <p:cNvPr id="12" name="Picture 11" descr="image of a clipboard with a pencil recording short answer responses">
            <a:extLst>
              <a:ext uri="{FF2B5EF4-FFF2-40B4-BE49-F238E27FC236}">
                <a16:creationId xmlns:a16="http://schemas.microsoft.com/office/drawing/2014/main" id="{9AA4C562-DA8B-AB67-B4B6-E448C50E15A7}"/>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13" name="Table 12">
            <a:extLst>
              <a:ext uri="{FF2B5EF4-FFF2-40B4-BE49-F238E27FC236}">
                <a16:creationId xmlns:a16="http://schemas.microsoft.com/office/drawing/2014/main" id="{C34CD416-2488-9A8E-026F-34808BEC35DF}"/>
              </a:ext>
            </a:extLst>
          </p:cNvPr>
          <p:cNvGraphicFramePr>
            <a:graphicFrameLocks noGrp="1"/>
          </p:cNvGraphicFramePr>
          <p:nvPr>
            <p:extLst>
              <p:ext uri="{D42A27DB-BD31-4B8C-83A1-F6EECF244321}">
                <p14:modId xmlns:p14="http://schemas.microsoft.com/office/powerpoint/2010/main" val="4136544485"/>
              </p:ext>
            </p:extLst>
          </p:nvPr>
        </p:nvGraphicFramePr>
        <p:xfrm>
          <a:off x="1011851" y="3805766"/>
          <a:ext cx="9939336" cy="914400"/>
        </p:xfrm>
        <a:graphic>
          <a:graphicData uri="http://schemas.openxmlformats.org/drawingml/2006/table">
            <a:tbl>
              <a:tblPr firstRow="1" bandRow="1">
                <a:tableStyleId>{5940675A-B579-460E-94D1-54222C63F5DA}</a:tableStyleId>
              </a:tblPr>
              <a:tblGrid>
                <a:gridCol w="828278">
                  <a:extLst>
                    <a:ext uri="{9D8B030D-6E8A-4147-A177-3AD203B41FA5}">
                      <a16:colId xmlns:a16="http://schemas.microsoft.com/office/drawing/2014/main" val="3313325224"/>
                    </a:ext>
                  </a:extLst>
                </a:gridCol>
                <a:gridCol w="828278">
                  <a:extLst>
                    <a:ext uri="{9D8B030D-6E8A-4147-A177-3AD203B41FA5}">
                      <a16:colId xmlns:a16="http://schemas.microsoft.com/office/drawing/2014/main" val="687170669"/>
                    </a:ext>
                  </a:extLst>
                </a:gridCol>
                <a:gridCol w="828278">
                  <a:extLst>
                    <a:ext uri="{9D8B030D-6E8A-4147-A177-3AD203B41FA5}">
                      <a16:colId xmlns:a16="http://schemas.microsoft.com/office/drawing/2014/main" val="1917878202"/>
                    </a:ext>
                  </a:extLst>
                </a:gridCol>
                <a:gridCol w="828278">
                  <a:extLst>
                    <a:ext uri="{9D8B030D-6E8A-4147-A177-3AD203B41FA5}">
                      <a16:colId xmlns:a16="http://schemas.microsoft.com/office/drawing/2014/main" val="2624045159"/>
                    </a:ext>
                  </a:extLst>
                </a:gridCol>
                <a:gridCol w="828278">
                  <a:extLst>
                    <a:ext uri="{9D8B030D-6E8A-4147-A177-3AD203B41FA5}">
                      <a16:colId xmlns:a16="http://schemas.microsoft.com/office/drawing/2014/main" val="1963758246"/>
                    </a:ext>
                  </a:extLst>
                </a:gridCol>
                <a:gridCol w="828278">
                  <a:extLst>
                    <a:ext uri="{9D8B030D-6E8A-4147-A177-3AD203B41FA5}">
                      <a16:colId xmlns:a16="http://schemas.microsoft.com/office/drawing/2014/main" val="4276029596"/>
                    </a:ext>
                  </a:extLst>
                </a:gridCol>
                <a:gridCol w="828278">
                  <a:extLst>
                    <a:ext uri="{9D8B030D-6E8A-4147-A177-3AD203B41FA5}">
                      <a16:colId xmlns:a16="http://schemas.microsoft.com/office/drawing/2014/main" val="3868853283"/>
                    </a:ext>
                  </a:extLst>
                </a:gridCol>
                <a:gridCol w="828278">
                  <a:extLst>
                    <a:ext uri="{9D8B030D-6E8A-4147-A177-3AD203B41FA5}">
                      <a16:colId xmlns:a16="http://schemas.microsoft.com/office/drawing/2014/main" val="2442023297"/>
                    </a:ext>
                  </a:extLst>
                </a:gridCol>
                <a:gridCol w="828278">
                  <a:extLst>
                    <a:ext uri="{9D8B030D-6E8A-4147-A177-3AD203B41FA5}">
                      <a16:colId xmlns:a16="http://schemas.microsoft.com/office/drawing/2014/main" val="3480973720"/>
                    </a:ext>
                  </a:extLst>
                </a:gridCol>
                <a:gridCol w="828278">
                  <a:extLst>
                    <a:ext uri="{9D8B030D-6E8A-4147-A177-3AD203B41FA5}">
                      <a16:colId xmlns:a16="http://schemas.microsoft.com/office/drawing/2014/main" val="3453300328"/>
                    </a:ext>
                  </a:extLst>
                </a:gridCol>
                <a:gridCol w="828278">
                  <a:extLst>
                    <a:ext uri="{9D8B030D-6E8A-4147-A177-3AD203B41FA5}">
                      <a16:colId xmlns:a16="http://schemas.microsoft.com/office/drawing/2014/main" val="2789456253"/>
                    </a:ext>
                  </a:extLst>
                </a:gridCol>
                <a:gridCol w="828278">
                  <a:extLst>
                    <a:ext uri="{9D8B030D-6E8A-4147-A177-3AD203B41FA5}">
                      <a16:colId xmlns:a16="http://schemas.microsoft.com/office/drawing/2014/main" val="4244436057"/>
                    </a:ext>
                  </a:extLst>
                </a:gridCol>
              </a:tblGrid>
              <a:tr h="370840">
                <a:tc>
                  <a:txBody>
                    <a:bodyPr/>
                    <a:lstStyle/>
                    <a:p>
                      <a:endParaRPr lang="en-AU"/>
                    </a:p>
                    <a:p>
                      <a:endParaRPr lang="en-AU"/>
                    </a:p>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3"/>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3"/>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3"/>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3"/>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accent3"/>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endParaRPr lang="en-AU"/>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3241332"/>
                  </a:ext>
                </a:extLst>
              </a:tr>
            </a:tbl>
          </a:graphicData>
        </a:graphic>
      </p:graphicFrame>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E83C9D2F-076B-25AC-741C-C56ACEF8B118}"/>
              </a:ext>
            </a:extLst>
          </p:cNvPr>
          <p:cNvSpPr>
            <a:spLocks noGrp="1"/>
          </p:cNvSpPr>
          <p:nvPr>
            <p:ph type="pic" sz="quarter" idx="21"/>
          </p:nvPr>
        </p:nvSpPr>
        <p:spPr>
          <a:xfrm>
            <a:off x="360000" y="1406424"/>
            <a:ext cx="10763999" cy="3056398"/>
          </a:xfrm>
        </p:spPr>
        <p:txBody>
          <a:bodyPr/>
          <a:lstStyle/>
          <a:p>
            <a:pPr algn="ctr"/>
            <a:r>
              <a:rPr lang="en-AU" sz="3600" dirty="0">
                <a:latin typeface="Arial"/>
                <a:cs typeface="Arial"/>
              </a:rPr>
              <a:t>The camp bus </a:t>
            </a:r>
            <a:r>
              <a:rPr lang="en-AU" sz="3600" b="1" dirty="0">
                <a:latin typeface="Arial"/>
                <a:cs typeface="Arial"/>
              </a:rPr>
              <a:t>costs $200</a:t>
            </a:r>
            <a:r>
              <a:rPr lang="en-AU" sz="3600" dirty="0">
                <a:latin typeface="Arial"/>
                <a:cs typeface="Arial"/>
              </a:rPr>
              <a:t> to hire plus </a:t>
            </a:r>
            <a:r>
              <a:rPr lang="en-AU" sz="3600" b="1" dirty="0">
                <a:latin typeface="Arial"/>
                <a:cs typeface="Arial"/>
              </a:rPr>
              <a:t>$750 for each trip it takes.</a:t>
            </a:r>
            <a:r>
              <a:rPr lang="en-AU" sz="3600" dirty="0">
                <a:latin typeface="Arial"/>
                <a:cs typeface="Arial"/>
              </a:rPr>
              <a:t> The school hires the bus for 2 trips. The school also gets a $50 </a:t>
            </a:r>
            <a:r>
              <a:rPr lang="en-AU" sz="3600" b="1" dirty="0">
                <a:latin typeface="Arial"/>
                <a:cs typeface="Arial"/>
              </a:rPr>
              <a:t>discount off the total price</a:t>
            </a:r>
            <a:r>
              <a:rPr lang="en-AU" sz="3600" dirty="0">
                <a:latin typeface="Arial"/>
                <a:cs typeface="Arial"/>
              </a:rPr>
              <a:t>. What is the total cost?</a:t>
            </a:r>
          </a:p>
          <a:p>
            <a:pPr algn="ctr"/>
            <a:r>
              <a:rPr lang="en-AU" sz="3600" b="1" dirty="0">
                <a:latin typeface="Arial"/>
                <a:cs typeface="Arial"/>
              </a:rPr>
              <a:t>Communicate</a:t>
            </a:r>
            <a:r>
              <a:rPr lang="en-AU" sz="3600" dirty="0">
                <a:latin typeface="Arial"/>
                <a:cs typeface="Arial"/>
              </a:rPr>
              <a:t> your </a:t>
            </a:r>
            <a:r>
              <a:rPr lang="en-AU" sz="3600" b="1" dirty="0">
                <a:latin typeface="Arial"/>
                <a:cs typeface="Arial"/>
              </a:rPr>
              <a:t>reasoning</a:t>
            </a:r>
            <a:r>
              <a:rPr lang="en-AU" sz="3600" dirty="0">
                <a:latin typeface="Arial"/>
                <a:cs typeface="Arial"/>
              </a:rPr>
              <a:t> on a </a:t>
            </a:r>
            <a:r>
              <a:rPr lang="en-AU" sz="3600" b="1" dirty="0">
                <a:latin typeface="Arial"/>
                <a:cs typeface="Arial"/>
              </a:rPr>
              <a:t>number line.</a:t>
            </a: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878A31AB-6C94-1BFB-9B08-E66847EEC2BB}"/>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pic>
        <p:nvPicPr>
          <p:cNvPr id="4" name="Picture 3" descr="image of a clipboard with a pencil recording short answer responses">
            <a:extLst>
              <a:ext uri="{FF2B5EF4-FFF2-40B4-BE49-F238E27FC236}">
                <a16:creationId xmlns:a16="http://schemas.microsoft.com/office/drawing/2014/main" id="{9008FCB9-73D4-8BB4-C873-11DABD7754D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 Placeholder 11">
            <a:extLst>
              <a:ext uri="{FF2B5EF4-FFF2-40B4-BE49-F238E27FC236}">
                <a16:creationId xmlns:a16="http://schemas.microsoft.com/office/drawing/2014/main" id="{687CD353-7D7D-5BBD-15E6-C76887DE462A}"/>
              </a:ext>
            </a:extLst>
          </p:cNvPr>
          <p:cNvSpPr txBox="1">
            <a:spLocks/>
          </p:cNvSpPr>
          <p:nvPr/>
        </p:nvSpPr>
        <p:spPr>
          <a:xfrm>
            <a:off x="703662" y="1184223"/>
            <a:ext cx="10899376" cy="2110605"/>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800" dirty="0">
                <a:latin typeface="Arial"/>
                <a:cs typeface="Arial"/>
              </a:rPr>
              <a:t>Record the </a:t>
            </a:r>
            <a:r>
              <a:rPr lang="en-AU" sz="2800" b="1" dirty="0">
                <a:latin typeface="Arial"/>
                <a:cs typeface="Arial"/>
              </a:rPr>
              <a:t>coordinates</a:t>
            </a:r>
            <a:r>
              <a:rPr lang="en-AU" sz="2800" dirty="0">
                <a:latin typeface="Arial"/>
                <a:cs typeface="Arial"/>
              </a:rPr>
              <a:t> for these </a:t>
            </a:r>
            <a:r>
              <a:rPr lang="en-AU" sz="2800" b="1" dirty="0">
                <a:latin typeface="Arial"/>
                <a:cs typeface="Arial"/>
              </a:rPr>
              <a:t>points</a:t>
            </a:r>
            <a:r>
              <a:rPr lang="en-AU" sz="2800" dirty="0">
                <a:latin typeface="Arial"/>
                <a:cs typeface="Arial"/>
              </a:rPr>
              <a:t> on the </a:t>
            </a:r>
            <a:r>
              <a:rPr lang="en-AU" sz="2800" b="1" dirty="0">
                <a:latin typeface="Arial"/>
                <a:cs typeface="Arial"/>
              </a:rPr>
              <a:t>Cartesian plane</a:t>
            </a:r>
            <a:r>
              <a:rPr lang="en-AU" sz="2800" dirty="0">
                <a:latin typeface="Arial"/>
                <a:cs typeface="Arial"/>
              </a:rPr>
              <a:t>?</a:t>
            </a:r>
          </a:p>
          <a:p>
            <a:r>
              <a:rPr lang="en-AU" sz="2800" dirty="0"/>
              <a:t>A = </a:t>
            </a:r>
          </a:p>
          <a:p>
            <a:r>
              <a:rPr lang="en-AU" sz="2800" dirty="0"/>
              <a:t>B = </a:t>
            </a:r>
          </a:p>
          <a:p>
            <a:r>
              <a:rPr lang="en-AU" sz="2800" dirty="0"/>
              <a:t>C = </a:t>
            </a:r>
          </a:p>
        </p:txBody>
      </p:sp>
      <p:pic>
        <p:nvPicPr>
          <p:cNvPr id="6" name="Picture 5" descr="A Cartesian plane with four quadrants, each marked with grids extending from number points on the axes. Axes are marked from –6 to 6, meeting at zero in the middle. 3 points are marked, A (4, 3), B (–2, 5) and C (–4, –1).">
            <a:extLst>
              <a:ext uri="{FF2B5EF4-FFF2-40B4-BE49-F238E27FC236}">
                <a16:creationId xmlns:a16="http://schemas.microsoft.com/office/drawing/2014/main" id="{FD768132-549B-F7CA-5571-969A7126116F}"/>
              </a:ext>
            </a:extLst>
          </p:cNvPr>
          <p:cNvPicPr>
            <a:picLocks noChangeAspect="1"/>
          </p:cNvPicPr>
          <p:nvPr/>
        </p:nvPicPr>
        <p:blipFill>
          <a:blip r:embed="rId4"/>
          <a:stretch>
            <a:fillRect/>
          </a:stretch>
        </p:blipFill>
        <p:spPr>
          <a:xfrm>
            <a:off x="4891933" y="1847488"/>
            <a:ext cx="4748721" cy="4758512"/>
          </a:xfrm>
          <a:prstGeom prst="rect">
            <a:avLst/>
          </a:prstGeom>
        </p:spPr>
      </p:pic>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2 – better deal </a:t>
            </a:r>
          </a:p>
        </p:txBody>
      </p:sp>
      <p:pic>
        <p:nvPicPr>
          <p:cNvPr id="4" name="Picture 3" descr="image of a head with cogs turning inside">
            <a:extLst>
              <a:ext uri="{FF2B5EF4-FFF2-40B4-BE49-F238E27FC236}">
                <a16:creationId xmlns:a16="http://schemas.microsoft.com/office/drawing/2014/main" id="{7A1306BB-7902-319C-CF8F-A2DB61C77D2C}"/>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5D44A00B-AE2C-774F-4112-E773C3FA8A55}"/>
              </a:ext>
            </a:extLst>
          </p:cNvPr>
          <p:cNvSpPr txBox="1"/>
          <p:nvPr/>
        </p:nvSpPr>
        <p:spPr>
          <a:xfrm>
            <a:off x="231914" y="1154535"/>
            <a:ext cx="10268938" cy="1384995"/>
          </a:xfrm>
          <a:prstGeom prst="rect">
            <a:avLst/>
          </a:prstGeom>
          <a:noFill/>
        </p:spPr>
        <p:txBody>
          <a:bodyPr wrap="square">
            <a:spAutoFit/>
          </a:bodyPr>
          <a:lstStyle/>
          <a:p>
            <a:r>
              <a:rPr lang="en-AU" sz="2800" dirty="0">
                <a:effectLst/>
                <a:latin typeface="Arial" panose="020B0604020202020204" pitchFamily="34" charset="0"/>
                <a:ea typeface="Calibri" panose="020F0502020204030204" pitchFamily="34" charset="0"/>
              </a:rPr>
              <a:t>12 bottles of water costs $8.00 and single bottles cost $0.75. </a:t>
            </a:r>
          </a:p>
          <a:p>
            <a:endParaRPr lang="en-AU" sz="2800" b="0" i="0" dirty="0">
              <a:solidFill>
                <a:srgbClr val="000000"/>
              </a:solidFill>
              <a:latin typeface="Arial" panose="020B0604020202020204" pitchFamily="34" charset="0"/>
              <a:ea typeface="Calibri" panose="020F0502020204030204" pitchFamily="34" charset="0"/>
            </a:endParaRPr>
          </a:p>
          <a:p>
            <a:r>
              <a:rPr lang="en-AU" sz="2800" b="0" i="0" dirty="0">
                <a:solidFill>
                  <a:srgbClr val="000000"/>
                </a:solidFill>
                <a:effectLst/>
              </a:rPr>
              <a:t>If I want to buy 12 bottles of water, which is the better deal?</a:t>
            </a:r>
            <a:endParaRPr lang="en-AU" sz="2800" dirty="0">
              <a:effectLst/>
            </a:endParaRPr>
          </a:p>
        </p:txBody>
      </p:sp>
      <p:pic>
        <p:nvPicPr>
          <p:cNvPr id="8" name="Picture 7" descr="One water bottle to the left, with a price tag underneath labelled 75c each.&#10;12 water bottles to the right, with a price tag underneath labelled 12 bottles for $8.00.">
            <a:extLst>
              <a:ext uri="{FF2B5EF4-FFF2-40B4-BE49-F238E27FC236}">
                <a16:creationId xmlns:a16="http://schemas.microsoft.com/office/drawing/2014/main" id="{E8C049D2-09A7-A475-8FB8-86631AD23F5E}"/>
              </a:ext>
            </a:extLst>
          </p:cNvPr>
          <p:cNvPicPr>
            <a:picLocks noChangeAspect="1"/>
          </p:cNvPicPr>
          <p:nvPr/>
        </p:nvPicPr>
        <p:blipFill>
          <a:blip r:embed="rId4"/>
          <a:stretch>
            <a:fillRect/>
          </a:stretch>
        </p:blipFill>
        <p:spPr>
          <a:xfrm>
            <a:off x="1298707" y="2628438"/>
            <a:ext cx="9594585" cy="3977562"/>
          </a:xfrm>
          <a:prstGeom prst="rect">
            <a:avLst/>
          </a:prstGeom>
        </p:spPr>
      </p:pic>
    </p:spTree>
    <p:extLst>
      <p:ext uri="{BB962C8B-B14F-4D97-AF65-F5344CB8AC3E}">
        <p14:creationId xmlns:p14="http://schemas.microsoft.com/office/powerpoint/2010/main" val="124967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p:txBody>
          <a:bodyPr/>
          <a:lstStyle/>
          <a:p>
            <a:r>
              <a:rPr lang="en-US"/>
              <a:t>Multiple choice </a:t>
            </a:r>
            <a:r>
              <a:rPr lang="en-US">
                <a:solidFill>
                  <a:schemeClr val="bg1"/>
                </a:solidFill>
              </a:rPr>
              <a:t>(1)</a:t>
            </a:r>
          </a:p>
        </p:txBody>
      </p:sp>
      <p:sp>
        <p:nvSpPr>
          <p:cNvPr id="18" name="Text Placeholder 17">
            <a:extLst>
              <a:ext uri="{FF2B5EF4-FFF2-40B4-BE49-F238E27FC236}">
                <a16:creationId xmlns:a16="http://schemas.microsoft.com/office/drawing/2014/main" id="{56364F73-E229-E283-75C8-9CCFC763AB34}"/>
              </a:ext>
            </a:extLst>
          </p:cNvPr>
          <p:cNvSpPr>
            <a:spLocks noGrp="1"/>
          </p:cNvSpPr>
          <p:nvPr>
            <p:ph type="body" sz="quarter" idx="24"/>
          </p:nvPr>
        </p:nvSpPr>
        <p:spPr>
          <a:xfrm>
            <a:off x="360000" y="2105711"/>
            <a:ext cx="11249133" cy="1399194"/>
          </a:xfrm>
        </p:spPr>
        <p:txBody>
          <a:bodyPr vert="horz" lIns="0" tIns="0" rIns="0" bIns="0" rtlCol="0" anchor="t">
            <a:noAutofit/>
          </a:bodyPr>
          <a:lstStyle/>
          <a:p>
            <a:pPr algn="ctr"/>
            <a:r>
              <a:rPr lang="en-US" sz="6000" dirty="0">
                <a:latin typeface="Arial"/>
                <a:cs typeface="Arial"/>
              </a:rPr>
              <a:t>32 x 12 = __</a:t>
            </a:r>
          </a:p>
        </p:txBody>
      </p:sp>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3649098813"/>
              </p:ext>
            </p:extLst>
          </p:nvPr>
        </p:nvGraphicFramePr>
        <p:xfrm>
          <a:off x="572708" y="4426598"/>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362</a:t>
                      </a:r>
                      <a:endParaRPr lang="en-AU" sz="400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384</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303</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329</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35EA0110-8963-8FFF-008C-5572AAB946D2}"/>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615793BF-4D97-0D6A-FB17-D26939AF18A8}"/>
                  </a:ext>
                </a:extLst>
              </p:cNvPr>
              <p:cNvSpPr>
                <a:spLocks noGrp="1"/>
              </p:cNvSpPr>
              <p:nvPr>
                <p:ph type="pic" sz="quarter" idx="21"/>
              </p:nvPr>
            </p:nvSpPr>
            <p:spPr>
              <a:xfrm>
                <a:off x="603839" y="2030849"/>
                <a:ext cx="11243037" cy="3056398"/>
              </a:xfrm>
            </p:spPr>
            <p:txBody>
              <a:bodyPr/>
              <a:lstStyle/>
              <a:p>
                <a:pPr algn="ctr"/>
                <a:r>
                  <a:rPr lang="en-US" sz="4400" dirty="0">
                    <a:latin typeface="Arial"/>
                    <a:cs typeface="Arial"/>
                  </a:rPr>
                  <a:t>If a garden bed has an </a:t>
                </a:r>
                <a:r>
                  <a:rPr lang="en-US" sz="4400" b="1" dirty="0">
                    <a:latin typeface="Arial"/>
                    <a:cs typeface="Arial"/>
                  </a:rPr>
                  <a:t>area</a:t>
                </a:r>
                <a:r>
                  <a:rPr lang="en-US" sz="4400" dirty="0">
                    <a:latin typeface="Arial"/>
                    <a:cs typeface="Arial"/>
                  </a:rPr>
                  <a:t> of 84 m</a:t>
                </a:r>
                <a14:m>
                  <m:oMath xmlns:m="http://schemas.openxmlformats.org/officeDocument/2006/math">
                    <m:r>
                      <a:rPr lang="en-US" sz="4400" i="1" baseline="30000" dirty="0" smtClean="0">
                        <a:latin typeface="Cambria Math" panose="02040503050406030204" pitchFamily="18" charset="0"/>
                        <a:cs typeface="Arial"/>
                      </a:rPr>
                      <m:t>2</m:t>
                    </m:r>
                  </m:oMath>
                </a14:m>
                <a:r>
                  <a:rPr lang="en-US" sz="4400" dirty="0">
                    <a:latin typeface="Arial"/>
                    <a:cs typeface="Arial"/>
                  </a:rPr>
                  <a:t>, </a:t>
                </a:r>
              </a:p>
              <a:p>
                <a:pPr algn="ctr"/>
                <a:r>
                  <a:rPr lang="en-US" sz="4400" dirty="0">
                    <a:latin typeface="Arial"/>
                    <a:cs typeface="Arial"/>
                  </a:rPr>
                  <a:t>what could the </a:t>
                </a:r>
                <a:r>
                  <a:rPr lang="en-US" sz="4400" b="1" dirty="0">
                    <a:latin typeface="Arial"/>
                    <a:cs typeface="Arial"/>
                  </a:rPr>
                  <a:t>dimensions</a:t>
                </a:r>
                <a:r>
                  <a:rPr lang="en-US" sz="4400" dirty="0">
                    <a:latin typeface="Arial"/>
                    <a:cs typeface="Arial"/>
                  </a:rPr>
                  <a:t> be?</a:t>
                </a:r>
                <a:endParaRPr lang="en-US" sz="3600" dirty="0"/>
              </a:p>
              <a:p>
                <a:endParaRPr lang="en-US" dirty="0">
                  <a:latin typeface="Arial"/>
                  <a:cs typeface="Arial"/>
                </a:endParaRPr>
              </a:p>
            </p:txBody>
          </p:sp>
        </mc:Choice>
        <mc:Fallback xmlns="">
          <p:sp>
            <p:nvSpPr>
              <p:cNvPr id="11" name="Picture Placeholder 10">
                <a:extLst>
                  <a:ext uri="{FF2B5EF4-FFF2-40B4-BE49-F238E27FC236}">
                    <a16:creationId xmlns:a16="http://schemas.microsoft.com/office/drawing/2014/main" id="{615793BF-4D97-0D6A-FB17-D26939AF18A8}"/>
                  </a:ext>
                </a:extLst>
              </p:cNvPr>
              <p:cNvSpPr>
                <a:spLocks noGrp="1" noRot="1" noChangeAspect="1" noMove="1" noResize="1" noEditPoints="1" noAdjustHandles="1" noChangeArrowheads="1" noChangeShapeType="1" noTextEdit="1"/>
              </p:cNvSpPr>
              <p:nvPr>
                <p:ph type="pic" sz="quarter" idx="21"/>
              </p:nvPr>
            </p:nvSpPr>
            <p:spPr>
              <a:xfrm>
                <a:off x="603839" y="2030849"/>
                <a:ext cx="11243037" cy="3056398"/>
              </a:xfrm>
              <a:blipFill>
                <a:blip r:embed="rId3"/>
                <a:stretch>
                  <a:fillRect/>
                </a:stretch>
              </a:blipFill>
            </p:spPr>
            <p:txBody>
              <a:bodyPr/>
              <a:lstStyle/>
              <a:p>
                <a:r>
                  <a:rPr lang="en-US">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0BADCB8F-5A5A-827C-24CB-6A28E30A5102}"/>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(2)</a:t>
            </a:r>
          </a:p>
        </p:txBody>
      </p:sp>
      <p:sp>
        <p:nvSpPr>
          <p:cNvPr id="11" name="Picture Placeholder 10">
            <a:extLst>
              <a:ext uri="{FF2B5EF4-FFF2-40B4-BE49-F238E27FC236}">
                <a16:creationId xmlns:a16="http://schemas.microsoft.com/office/drawing/2014/main" id="{D0E0EC4F-A97F-1AC0-49C2-238243DB79CE}"/>
              </a:ext>
            </a:extLst>
          </p:cNvPr>
          <p:cNvSpPr>
            <a:spLocks noGrp="1"/>
          </p:cNvSpPr>
          <p:nvPr>
            <p:ph type="pic" sz="quarter" idx="21"/>
          </p:nvPr>
        </p:nvSpPr>
        <p:spPr>
          <a:xfrm>
            <a:off x="474481" y="1038101"/>
            <a:ext cx="11243037" cy="2160151"/>
          </a:xfrm>
        </p:spPr>
        <p:txBody>
          <a:bodyPr/>
          <a:lstStyle/>
          <a:p>
            <a:pPr algn="ctr"/>
            <a:r>
              <a:rPr lang="en-US" sz="3200" dirty="0">
                <a:latin typeface="Arial"/>
                <a:cs typeface="Arial"/>
              </a:rPr>
              <a:t>Record the missing </a:t>
            </a:r>
            <a:r>
              <a:rPr lang="en-US" sz="3200" b="1" dirty="0">
                <a:latin typeface="Arial"/>
                <a:cs typeface="Arial"/>
              </a:rPr>
              <a:t>equivalent</a:t>
            </a:r>
            <a:r>
              <a:rPr lang="en-US" sz="3200" dirty="0">
                <a:latin typeface="Arial"/>
                <a:cs typeface="Arial"/>
              </a:rPr>
              <a:t> </a:t>
            </a:r>
            <a:r>
              <a:rPr lang="en-US" sz="3200" b="1" dirty="0">
                <a:latin typeface="Arial"/>
                <a:cs typeface="Arial"/>
              </a:rPr>
              <a:t>benchmark</a:t>
            </a:r>
            <a:r>
              <a:rPr lang="en-US" sz="3200" dirty="0">
                <a:latin typeface="Arial"/>
                <a:cs typeface="Arial"/>
              </a:rPr>
              <a:t> fractions, decimals and percentages.</a:t>
            </a:r>
            <a:endParaRPr lang="en-US" sz="3200" dirty="0"/>
          </a:p>
        </p:txBody>
      </p:sp>
      <p:pic>
        <p:nvPicPr>
          <p:cNvPr id="4" name="Picture 3" descr="image of a clipboard with a pencil recording short answer responses">
            <a:extLst>
              <a:ext uri="{FF2B5EF4-FFF2-40B4-BE49-F238E27FC236}">
                <a16:creationId xmlns:a16="http://schemas.microsoft.com/office/drawing/2014/main" id="{CE7CF1E4-4432-483B-E4F0-A7EDC0414FD9}"/>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5" name="Table 4">
            <a:extLst>
              <a:ext uri="{FF2B5EF4-FFF2-40B4-BE49-F238E27FC236}">
                <a16:creationId xmlns:a16="http://schemas.microsoft.com/office/drawing/2014/main" id="{62BCB460-C8EB-0F0A-FAFC-8A80F40C073C}"/>
              </a:ext>
            </a:extLst>
          </p:cNvPr>
          <p:cNvGraphicFramePr>
            <a:graphicFrameLocks noGrp="1"/>
          </p:cNvGraphicFramePr>
          <p:nvPr>
            <p:extLst>
              <p:ext uri="{D42A27DB-BD31-4B8C-83A1-F6EECF244321}">
                <p14:modId xmlns:p14="http://schemas.microsoft.com/office/powerpoint/2010/main" val="4244152086"/>
              </p:ext>
            </p:extLst>
          </p:nvPr>
        </p:nvGraphicFramePr>
        <p:xfrm>
          <a:off x="1792587" y="2870880"/>
          <a:ext cx="8127999" cy="362712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3339568935"/>
                    </a:ext>
                  </a:extLst>
                </a:gridCol>
                <a:gridCol w="2709333">
                  <a:extLst>
                    <a:ext uri="{9D8B030D-6E8A-4147-A177-3AD203B41FA5}">
                      <a16:colId xmlns:a16="http://schemas.microsoft.com/office/drawing/2014/main" val="2649454615"/>
                    </a:ext>
                  </a:extLst>
                </a:gridCol>
                <a:gridCol w="2709333">
                  <a:extLst>
                    <a:ext uri="{9D8B030D-6E8A-4147-A177-3AD203B41FA5}">
                      <a16:colId xmlns:a16="http://schemas.microsoft.com/office/drawing/2014/main" val="3635045762"/>
                    </a:ext>
                  </a:extLst>
                </a:gridCol>
              </a:tblGrid>
              <a:tr h="3708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2800"/>
                        <a:t>Fraction</a:t>
                      </a:r>
                      <a:br>
                        <a:rPr lang="en-AU" sz="1200"/>
                      </a:br>
                      <a:endParaRPr lang="en-AU" sz="12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AU" sz="2800"/>
                        <a:t>Decimal</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AU" sz="2800"/>
                        <a:t>Percentage</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3256790"/>
                  </a:ext>
                </a:extLst>
              </a:tr>
              <a:tr h="370840">
                <a:tc>
                  <a:txBody>
                    <a:bodyPr/>
                    <a:lstStyle/>
                    <a:p>
                      <a:pPr algn="ctr"/>
                      <a:br>
                        <a:rPr lang="en-AU" sz="1400"/>
                      </a:br>
                      <a:br>
                        <a:rPr lang="en-AU" sz="1400"/>
                      </a:br>
                      <a:endParaRPr lang="en-AU" sz="14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AU" sz="3200"/>
                        <a:t>0.25</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AU" sz="32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2424071"/>
                  </a:ext>
                </a:extLst>
              </a:tr>
              <a:tr h="370840">
                <a:tc>
                  <a:txBody>
                    <a:bodyPr/>
                    <a:lstStyle/>
                    <a:p>
                      <a:pPr algn="ctr"/>
                      <a:br>
                        <a:rPr lang="en-AU" sz="1400"/>
                      </a:br>
                      <a:br>
                        <a:rPr lang="en-AU" sz="1400"/>
                      </a:br>
                      <a:endParaRPr lang="en-AU" sz="14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AU" sz="32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AU" sz="3200"/>
                        <a:t>50%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5765149"/>
                  </a:ext>
                </a:extLst>
              </a:tr>
              <a:tr h="370840">
                <a:tc>
                  <a:txBody>
                    <a:bodyPr/>
                    <a:lstStyle/>
                    <a:p>
                      <a:pPr algn="ctr"/>
                      <a:br>
                        <a:rPr lang="en-AU" sz="1400"/>
                      </a:br>
                      <a:br>
                        <a:rPr lang="en-AU" sz="1400"/>
                      </a:br>
                      <a:endParaRPr lang="en-AU" sz="14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AU" sz="3200"/>
                        <a:t>0.75</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AU" sz="32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7240912"/>
                  </a:ext>
                </a:extLst>
              </a:tr>
              <a:tr h="370840">
                <a:tc>
                  <a:txBody>
                    <a:bodyPr/>
                    <a:lstStyle/>
                    <a:p>
                      <a:pPr algn="ctr"/>
                      <a:br>
                        <a:rPr lang="en-AU" sz="1400"/>
                      </a:br>
                      <a:br>
                        <a:rPr lang="en-AU" sz="1400"/>
                      </a:br>
                      <a:endParaRPr lang="en-AU" sz="14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endParaRPr lang="en-AU" sz="320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AU" sz="3200"/>
                        <a:t>100%</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08251313"/>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9147AA2-D454-B3FB-0C5D-F660A33BB4A4}"/>
                  </a:ext>
                </a:extLst>
              </p:cNvPr>
              <p:cNvSpPr txBox="1"/>
              <p:nvPr/>
            </p:nvSpPr>
            <p:spPr>
              <a:xfrm>
                <a:off x="2924158" y="3626914"/>
                <a:ext cx="419098" cy="502626"/>
              </a:xfrm>
              <a:prstGeom prst="rect">
                <a:avLst/>
              </a:prstGeom>
              <a:noFill/>
            </p:spPr>
            <p:txBody>
              <a:bodyPr wrap="square" lIns="0" tIns="0" rIns="0" bIns="0" rtlCol="0">
                <a:noAutofit/>
              </a:bodyPr>
              <a:lstStyle/>
              <a:p>
                <a:pPr algn="ctr"/>
                <a14:m>
                  <m:oMath xmlns:m="http://schemas.openxmlformats.org/officeDocument/2006/math">
                    <m:f>
                      <m:fPr>
                        <m:ctrlPr>
                          <a:rPr lang="en-AU" b="1" i="1" smtClean="0">
                            <a:effectLst/>
                            <a:latin typeface="Cambria Math" panose="02040503050406030204" pitchFamily="18" charset="0"/>
                          </a:rPr>
                        </m:ctrlPr>
                      </m:fPr>
                      <m:num>
                        <m:r>
                          <a:rPr lang="en-AU" b="1" i="1" smtClean="0">
                            <a:effectLst/>
                            <a:latin typeface="Cambria Math" panose="02040503050406030204" pitchFamily="18" charset="0"/>
                          </a:rPr>
                          <m:t>𝟏</m:t>
                        </m:r>
                      </m:num>
                      <m:den>
                        <m:r>
                          <a:rPr lang="en-AU" b="1" i="1" smtClean="0">
                            <a:effectLst/>
                            <a:latin typeface="Cambria Math" panose="02040503050406030204" pitchFamily="18" charset="0"/>
                            <a:ea typeface="Calibri" panose="020F0502020204030204" pitchFamily="34" charset="0"/>
                            <a:cs typeface="Arial" panose="020B0604020202020204" pitchFamily="34" charset="0"/>
                          </a:rPr>
                          <m:t>𝟒</m:t>
                        </m:r>
                      </m:den>
                    </m:f>
                  </m:oMath>
                </a14:m>
                <a:r>
                  <a:rPr lang="en-AU" sz="3200" b="1"/>
                  <a:t> </a:t>
                </a:r>
              </a:p>
            </p:txBody>
          </p:sp>
        </mc:Choice>
        <mc:Fallback xmlns="">
          <p:sp>
            <p:nvSpPr>
              <p:cNvPr id="8" name="TextBox 7">
                <a:extLst>
                  <a:ext uri="{FF2B5EF4-FFF2-40B4-BE49-F238E27FC236}">
                    <a16:creationId xmlns:a16="http://schemas.microsoft.com/office/drawing/2014/main" id="{49147AA2-D454-B3FB-0C5D-F660A33BB4A4}"/>
                  </a:ext>
                </a:extLst>
              </p:cNvPr>
              <p:cNvSpPr txBox="1">
                <a:spLocks noRot="1" noChangeAspect="1" noMove="1" noResize="1" noEditPoints="1" noAdjustHandles="1" noChangeArrowheads="1" noChangeShapeType="1" noTextEdit="1"/>
              </p:cNvSpPr>
              <p:nvPr/>
            </p:nvSpPr>
            <p:spPr>
              <a:xfrm>
                <a:off x="2924158" y="3626914"/>
                <a:ext cx="419098" cy="502626"/>
              </a:xfrm>
              <a:prstGeom prst="rect">
                <a:avLst/>
              </a:prstGeom>
              <a:blipFill>
                <a:blip r:embed="rId4"/>
                <a:stretch>
                  <a:fillRect b="-60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BAEBD8-5A3F-D89D-E7C3-9A457C36E940}"/>
                  </a:ext>
                </a:extLst>
              </p:cNvPr>
              <p:cNvSpPr txBox="1"/>
              <p:nvPr/>
            </p:nvSpPr>
            <p:spPr>
              <a:xfrm>
                <a:off x="2924158" y="5163930"/>
                <a:ext cx="419098" cy="502626"/>
              </a:xfrm>
              <a:prstGeom prst="rect">
                <a:avLst/>
              </a:prstGeom>
              <a:noFill/>
            </p:spPr>
            <p:txBody>
              <a:bodyPr wrap="square" lIns="0" tIns="0" rIns="0" bIns="0" rtlCol="0">
                <a:noAutofit/>
              </a:bodyPr>
              <a:lstStyle/>
              <a:p>
                <a:pPr algn="ctr"/>
                <a14:m>
                  <m:oMath xmlns:m="http://schemas.openxmlformats.org/officeDocument/2006/math">
                    <m:f>
                      <m:fPr>
                        <m:ctrlPr>
                          <a:rPr lang="en-AU" b="1" i="1" smtClean="0">
                            <a:effectLst/>
                            <a:latin typeface="Cambria Math" panose="02040503050406030204" pitchFamily="18" charset="0"/>
                          </a:rPr>
                        </m:ctrlPr>
                      </m:fPr>
                      <m:num>
                        <m:r>
                          <a:rPr lang="en-AU" b="1" i="1" smtClean="0">
                            <a:effectLst/>
                            <a:latin typeface="Cambria Math" panose="02040503050406030204" pitchFamily="18" charset="0"/>
                          </a:rPr>
                          <m:t>𝟑</m:t>
                        </m:r>
                      </m:num>
                      <m:den>
                        <m:r>
                          <a:rPr lang="en-AU" b="1" i="1" smtClean="0">
                            <a:effectLst/>
                            <a:latin typeface="Cambria Math" panose="02040503050406030204" pitchFamily="18" charset="0"/>
                            <a:ea typeface="Calibri" panose="020F0502020204030204" pitchFamily="34" charset="0"/>
                            <a:cs typeface="Arial" panose="020B0604020202020204" pitchFamily="34" charset="0"/>
                          </a:rPr>
                          <m:t>𝟒</m:t>
                        </m:r>
                      </m:den>
                    </m:f>
                  </m:oMath>
                </a14:m>
                <a:r>
                  <a:rPr lang="en-AU" sz="3200" b="1"/>
                  <a:t> </a:t>
                </a:r>
              </a:p>
            </p:txBody>
          </p:sp>
        </mc:Choice>
        <mc:Fallback xmlns="">
          <p:sp>
            <p:nvSpPr>
              <p:cNvPr id="13" name="TextBox 12">
                <a:extLst>
                  <a:ext uri="{FF2B5EF4-FFF2-40B4-BE49-F238E27FC236}">
                    <a16:creationId xmlns:a16="http://schemas.microsoft.com/office/drawing/2014/main" id="{02BAEBD8-5A3F-D89D-E7C3-9A457C36E940}"/>
                  </a:ext>
                </a:extLst>
              </p:cNvPr>
              <p:cNvSpPr txBox="1">
                <a:spLocks noRot="1" noChangeAspect="1" noMove="1" noResize="1" noEditPoints="1" noAdjustHandles="1" noChangeArrowheads="1" noChangeShapeType="1" noTextEdit="1"/>
              </p:cNvSpPr>
              <p:nvPr/>
            </p:nvSpPr>
            <p:spPr>
              <a:xfrm>
                <a:off x="2924158" y="5163930"/>
                <a:ext cx="419098" cy="502626"/>
              </a:xfrm>
              <a:prstGeom prst="rect">
                <a:avLst/>
              </a:prstGeom>
              <a:blipFill>
                <a:blip r:embed="rId5"/>
                <a:stretch>
                  <a:fillRect b="-6024"/>
                </a:stretch>
              </a:blipFill>
            </p:spPr>
            <p:txBody>
              <a:bodyPr/>
              <a:lstStyle/>
              <a:p>
                <a:r>
                  <a:rPr lang="en-US">
                    <a:noFill/>
                  </a:rPr>
                  <a:t> </a:t>
                </a:r>
              </a:p>
            </p:txBody>
          </p:sp>
        </mc:Fallback>
      </mc:AlternateContent>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BA99C24B-2D22-028D-AEA8-8D8B48CB4938}"/>
              </a:ext>
            </a:extLst>
          </p:cNvPr>
          <p:cNvSpPr>
            <a:spLocks noGrp="1"/>
          </p:cNvSpPr>
          <p:nvPr>
            <p:ph type="pic" sz="quarter" idx="21"/>
          </p:nvPr>
        </p:nvSpPr>
        <p:spPr>
          <a:xfrm>
            <a:off x="360000" y="1290185"/>
            <a:ext cx="11038102" cy="4598686"/>
          </a:xfrm>
        </p:spPr>
        <p:txBody>
          <a:bodyPr/>
          <a:lstStyle/>
          <a:p>
            <a:pPr algn="ctr"/>
            <a:r>
              <a:rPr lang="en-US" sz="4000" dirty="0">
                <a:latin typeface="Arial"/>
                <a:cs typeface="Arial"/>
              </a:rPr>
              <a:t>Kobi bought secondhand games for $20, $37 and $19. He also bought 2 controllers at $39 each. </a:t>
            </a:r>
            <a:r>
              <a:rPr lang="en-US" sz="4000" b="1" dirty="0">
                <a:latin typeface="Arial"/>
                <a:cs typeface="Arial"/>
              </a:rPr>
              <a:t>How much </a:t>
            </a:r>
            <a:r>
              <a:rPr lang="en-US" sz="4000" dirty="0">
                <a:latin typeface="Arial"/>
                <a:cs typeface="Arial"/>
              </a:rPr>
              <a:t>did he spend?</a:t>
            </a:r>
            <a:br>
              <a:rPr lang="en-US" sz="4000" dirty="0">
                <a:latin typeface="Arial"/>
                <a:cs typeface="Arial"/>
              </a:rPr>
            </a:br>
            <a:r>
              <a:rPr lang="en-US" sz="4000" dirty="0">
                <a:latin typeface="Arial"/>
                <a:cs typeface="Arial"/>
              </a:rPr>
              <a:t>Use a </a:t>
            </a:r>
            <a:r>
              <a:rPr lang="en-US" sz="4000" b="1" dirty="0">
                <a:latin typeface="Arial"/>
                <a:cs typeface="Arial"/>
              </a:rPr>
              <a:t>number line</a:t>
            </a:r>
            <a:r>
              <a:rPr lang="en-US" sz="4000" dirty="0">
                <a:latin typeface="Arial"/>
                <a:cs typeface="Arial"/>
              </a:rPr>
              <a:t> to </a:t>
            </a:r>
            <a:r>
              <a:rPr lang="en-US" sz="4000" b="1" dirty="0">
                <a:latin typeface="Arial"/>
                <a:cs typeface="Arial"/>
              </a:rPr>
              <a:t>communicate</a:t>
            </a:r>
            <a:r>
              <a:rPr lang="en-US" sz="4000" dirty="0">
                <a:latin typeface="Arial"/>
                <a:cs typeface="Arial"/>
              </a:rPr>
              <a:t> your </a:t>
            </a:r>
            <a:r>
              <a:rPr lang="en-US" sz="4000" b="1" dirty="0">
                <a:latin typeface="Arial"/>
                <a:cs typeface="Arial"/>
              </a:rPr>
              <a:t>reasoning</a:t>
            </a:r>
            <a:r>
              <a:rPr lang="en-US" sz="4000" dirty="0">
                <a:latin typeface="Arial"/>
                <a:cs typeface="Arial"/>
              </a:rPr>
              <a:t>.</a:t>
            </a:r>
            <a:endParaRPr lang="en-US" sz="48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B8D0C62D-183A-CACC-790E-F241DFF5E1EF}"/>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(4)</a:t>
            </a:r>
          </a:p>
        </p:txBody>
      </p:sp>
      <p:sp>
        <p:nvSpPr>
          <p:cNvPr id="11" name="Picture Placeholder 10">
            <a:extLst>
              <a:ext uri="{FF2B5EF4-FFF2-40B4-BE49-F238E27FC236}">
                <a16:creationId xmlns:a16="http://schemas.microsoft.com/office/drawing/2014/main" id="{0BBCDB05-A139-44A3-EA5D-6556ADCA3BC0}"/>
              </a:ext>
            </a:extLst>
          </p:cNvPr>
          <p:cNvSpPr>
            <a:spLocks noGrp="1"/>
          </p:cNvSpPr>
          <p:nvPr>
            <p:ph type="pic" sz="quarter" idx="21"/>
          </p:nvPr>
        </p:nvSpPr>
        <p:spPr>
          <a:xfrm>
            <a:off x="474481" y="1068352"/>
            <a:ext cx="11243037" cy="2206476"/>
          </a:xfrm>
        </p:spPr>
        <p:txBody>
          <a:bodyPr/>
          <a:lstStyle/>
          <a:p>
            <a:pPr algn="ctr"/>
            <a:r>
              <a:rPr lang="en-US" sz="4400" dirty="0">
                <a:latin typeface="Arial"/>
                <a:cs typeface="Arial"/>
              </a:rPr>
              <a:t>Has this </a:t>
            </a:r>
            <a:r>
              <a:rPr lang="en-US" sz="4400" b="1" dirty="0">
                <a:latin typeface="Arial"/>
                <a:cs typeface="Arial"/>
              </a:rPr>
              <a:t>irregular hexagon</a:t>
            </a:r>
            <a:r>
              <a:rPr lang="en-US" sz="4400" dirty="0">
                <a:latin typeface="Arial"/>
                <a:cs typeface="Arial"/>
              </a:rPr>
              <a:t> been</a:t>
            </a:r>
          </a:p>
          <a:p>
            <a:pPr algn="ctr"/>
            <a:r>
              <a:rPr lang="en-US" sz="4400" dirty="0">
                <a:latin typeface="Arial"/>
                <a:cs typeface="Arial"/>
              </a:rPr>
              <a:t> </a:t>
            </a:r>
            <a:r>
              <a:rPr lang="en-US" sz="4400" b="1" dirty="0">
                <a:latin typeface="Arial"/>
                <a:cs typeface="Arial"/>
              </a:rPr>
              <a:t>translated</a:t>
            </a:r>
            <a:r>
              <a:rPr lang="en-US" sz="4400" dirty="0">
                <a:latin typeface="Arial"/>
                <a:cs typeface="Arial"/>
              </a:rPr>
              <a:t>, </a:t>
            </a:r>
            <a:r>
              <a:rPr lang="en-US" sz="4400" b="1" dirty="0">
                <a:latin typeface="Arial"/>
                <a:cs typeface="Arial"/>
              </a:rPr>
              <a:t>reflected</a:t>
            </a:r>
            <a:r>
              <a:rPr lang="en-US" sz="4400" dirty="0">
                <a:latin typeface="Arial"/>
                <a:cs typeface="Arial"/>
              </a:rPr>
              <a:t> or </a:t>
            </a:r>
            <a:r>
              <a:rPr lang="en-US" sz="4400" b="1" dirty="0">
                <a:latin typeface="Arial"/>
                <a:cs typeface="Arial"/>
              </a:rPr>
              <a:t>rotated</a:t>
            </a:r>
            <a:r>
              <a:rPr lang="en-US" sz="4400" dirty="0">
                <a:latin typeface="Arial"/>
                <a:cs typeface="Arial"/>
              </a:rPr>
              <a:t>? </a:t>
            </a:r>
            <a:br>
              <a:rPr lang="en-US" sz="4400" dirty="0">
                <a:latin typeface="Arial"/>
                <a:cs typeface="Arial"/>
              </a:rPr>
            </a:br>
            <a:r>
              <a:rPr lang="en-US" sz="4400" b="1" dirty="0">
                <a:latin typeface="Arial"/>
                <a:cs typeface="Arial"/>
              </a:rPr>
              <a:t>Communicate</a:t>
            </a:r>
            <a:r>
              <a:rPr lang="en-US" sz="4400" dirty="0">
                <a:latin typeface="Arial"/>
                <a:cs typeface="Arial"/>
              </a:rPr>
              <a:t> your </a:t>
            </a:r>
            <a:r>
              <a:rPr lang="en-US" sz="4400" b="1" dirty="0">
                <a:latin typeface="Arial"/>
                <a:cs typeface="Arial"/>
              </a:rPr>
              <a:t>reasoning</a:t>
            </a:r>
            <a:r>
              <a:rPr lang="en-US" sz="4400" dirty="0">
                <a:latin typeface="Arial"/>
                <a:cs typeface="Arial"/>
              </a:rPr>
              <a:t>.</a:t>
            </a:r>
            <a:endParaRPr lang="en-US" sz="2000"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84B5940-5140-3FDA-A2C8-AEE3D94BCCEF}"/>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25" name="Group 5" descr="An irregular hexagon.">
            <a:extLst>
              <a:ext uri="{FF2B5EF4-FFF2-40B4-BE49-F238E27FC236}">
                <a16:creationId xmlns:a16="http://schemas.microsoft.com/office/drawing/2014/main" id="{A4D88BBA-91C9-F508-C1CB-FDF684CBBE55}"/>
              </a:ext>
            </a:extLst>
          </p:cNvPr>
          <p:cNvGrpSpPr/>
          <p:nvPr/>
        </p:nvGrpSpPr>
        <p:grpSpPr>
          <a:xfrm>
            <a:off x="1921149" y="4428418"/>
            <a:ext cx="3687374" cy="1881962"/>
            <a:chOff x="0" y="0"/>
            <a:chExt cx="5565128" cy="1905823"/>
          </a:xfrm>
        </p:grpSpPr>
        <p:sp>
          <p:nvSpPr>
            <p:cNvPr id="26" name="AutoShape 6">
              <a:extLst>
                <a:ext uri="{FF2B5EF4-FFF2-40B4-BE49-F238E27FC236}">
                  <a16:creationId xmlns:a16="http://schemas.microsoft.com/office/drawing/2014/main" id="{C5F81711-36AF-B2F1-018B-BDB03A06C0BC}"/>
                </a:ext>
              </a:extLst>
            </p:cNvPr>
            <p:cNvSpPr/>
            <p:nvPr/>
          </p:nvSpPr>
          <p:spPr>
            <a:xfrm>
              <a:off x="921287" y="1466834"/>
              <a:ext cx="2913560" cy="413841"/>
            </a:xfrm>
            <a:prstGeom prst="line">
              <a:avLst/>
            </a:prstGeom>
            <a:ln w="50800" cap="flat">
              <a:solidFill>
                <a:srgbClr val="000000"/>
              </a:solidFill>
              <a:prstDash val="solid"/>
              <a:headEnd type="none" w="sm" len="sm"/>
              <a:tailEnd type="none" w="sm" len="sm"/>
            </a:ln>
          </p:spPr>
          <p:txBody>
            <a:bodyPr/>
            <a:lstStyle/>
            <a:p>
              <a:endParaRPr lang="en-AU"/>
            </a:p>
          </p:txBody>
        </p:sp>
        <p:sp>
          <p:nvSpPr>
            <p:cNvPr id="27" name="AutoShape 7">
              <a:extLst>
                <a:ext uri="{FF2B5EF4-FFF2-40B4-BE49-F238E27FC236}">
                  <a16:creationId xmlns:a16="http://schemas.microsoft.com/office/drawing/2014/main" id="{E474BF8B-866D-9B7C-FE33-CC46159D370C}"/>
                </a:ext>
              </a:extLst>
            </p:cNvPr>
            <p:cNvSpPr/>
            <p:nvPr/>
          </p:nvSpPr>
          <p:spPr>
            <a:xfrm>
              <a:off x="21547" y="25400"/>
              <a:ext cx="3774128" cy="0"/>
            </a:xfrm>
            <a:prstGeom prst="line">
              <a:avLst/>
            </a:prstGeom>
            <a:ln w="50800" cap="flat">
              <a:solidFill>
                <a:srgbClr val="000000"/>
              </a:solidFill>
              <a:prstDash val="solid"/>
              <a:headEnd type="none" w="sm" len="sm"/>
              <a:tailEnd type="none" w="sm" len="sm"/>
            </a:ln>
          </p:spPr>
          <p:txBody>
            <a:bodyPr/>
            <a:lstStyle/>
            <a:p>
              <a:endParaRPr lang="en-AU"/>
            </a:p>
          </p:txBody>
        </p:sp>
        <p:sp>
          <p:nvSpPr>
            <p:cNvPr id="28" name="AutoShape 8">
              <a:extLst>
                <a:ext uri="{FF2B5EF4-FFF2-40B4-BE49-F238E27FC236}">
                  <a16:creationId xmlns:a16="http://schemas.microsoft.com/office/drawing/2014/main" id="{018AA915-49EA-6E7D-C764-FB69C9A7C729}"/>
                </a:ext>
              </a:extLst>
            </p:cNvPr>
            <p:cNvSpPr/>
            <p:nvPr/>
          </p:nvSpPr>
          <p:spPr>
            <a:xfrm>
              <a:off x="3795675" y="25400"/>
              <a:ext cx="1756708" cy="1019053"/>
            </a:xfrm>
            <a:prstGeom prst="line">
              <a:avLst/>
            </a:prstGeom>
            <a:ln w="50800" cap="flat">
              <a:solidFill>
                <a:srgbClr val="000000"/>
              </a:solidFill>
              <a:prstDash val="solid"/>
              <a:headEnd type="none" w="sm" len="sm"/>
              <a:tailEnd type="none" w="sm" len="sm"/>
            </a:ln>
          </p:spPr>
          <p:txBody>
            <a:bodyPr/>
            <a:lstStyle/>
            <a:p>
              <a:endParaRPr lang="en-AU"/>
            </a:p>
          </p:txBody>
        </p:sp>
        <p:sp>
          <p:nvSpPr>
            <p:cNvPr id="29" name="AutoShape 9">
              <a:extLst>
                <a:ext uri="{FF2B5EF4-FFF2-40B4-BE49-F238E27FC236}">
                  <a16:creationId xmlns:a16="http://schemas.microsoft.com/office/drawing/2014/main" id="{C2D26259-C241-156A-5E0F-77148476DBA3}"/>
                </a:ext>
              </a:extLst>
            </p:cNvPr>
            <p:cNvSpPr/>
            <p:nvPr/>
          </p:nvSpPr>
          <p:spPr>
            <a:xfrm>
              <a:off x="21547" y="25400"/>
              <a:ext cx="899740" cy="1441434"/>
            </a:xfrm>
            <a:prstGeom prst="line">
              <a:avLst/>
            </a:prstGeom>
            <a:ln w="50800" cap="flat">
              <a:solidFill>
                <a:srgbClr val="000000"/>
              </a:solidFill>
              <a:prstDash val="solid"/>
              <a:headEnd type="none" w="sm" len="sm"/>
              <a:tailEnd type="none" w="sm" len="sm"/>
            </a:ln>
          </p:spPr>
          <p:txBody>
            <a:bodyPr/>
            <a:lstStyle/>
            <a:p>
              <a:endParaRPr lang="en-AU"/>
            </a:p>
          </p:txBody>
        </p:sp>
        <p:sp>
          <p:nvSpPr>
            <p:cNvPr id="30" name="AutoShape 10">
              <a:extLst>
                <a:ext uri="{FF2B5EF4-FFF2-40B4-BE49-F238E27FC236}">
                  <a16:creationId xmlns:a16="http://schemas.microsoft.com/office/drawing/2014/main" id="{964F09A1-4D2C-59D9-86E9-092EAAD68038}"/>
                </a:ext>
              </a:extLst>
            </p:cNvPr>
            <p:cNvSpPr/>
            <p:nvPr/>
          </p:nvSpPr>
          <p:spPr>
            <a:xfrm flipV="1">
              <a:off x="3834847" y="1044453"/>
              <a:ext cx="1717535" cy="836223"/>
            </a:xfrm>
            <a:prstGeom prst="line">
              <a:avLst/>
            </a:prstGeom>
            <a:ln w="50800" cap="flat">
              <a:solidFill>
                <a:srgbClr val="000000"/>
              </a:solidFill>
              <a:prstDash val="solid"/>
              <a:headEnd type="none" w="sm" len="sm"/>
              <a:tailEnd type="none" w="sm" len="sm"/>
            </a:ln>
          </p:spPr>
          <p:txBody>
            <a:bodyPr/>
            <a:lstStyle/>
            <a:p>
              <a:endParaRPr lang="en-AU"/>
            </a:p>
          </p:txBody>
        </p:sp>
      </p:grpSp>
      <p:grpSp>
        <p:nvGrpSpPr>
          <p:cNvPr id="43" name="Group 5" descr="An irregular hexagon that is a reflected image of the first irregular hexagon.">
            <a:extLst>
              <a:ext uri="{FF2B5EF4-FFF2-40B4-BE49-F238E27FC236}">
                <a16:creationId xmlns:a16="http://schemas.microsoft.com/office/drawing/2014/main" id="{ABC6CAF8-5958-D1FB-FF2E-51BB79AA4221}"/>
              </a:ext>
            </a:extLst>
          </p:cNvPr>
          <p:cNvGrpSpPr/>
          <p:nvPr/>
        </p:nvGrpSpPr>
        <p:grpSpPr>
          <a:xfrm flipH="1">
            <a:off x="6715741" y="4378413"/>
            <a:ext cx="3687374" cy="1881962"/>
            <a:chOff x="0" y="0"/>
            <a:chExt cx="5565128" cy="1905823"/>
          </a:xfrm>
        </p:grpSpPr>
        <p:sp>
          <p:nvSpPr>
            <p:cNvPr id="44" name="AutoShape 6">
              <a:extLst>
                <a:ext uri="{FF2B5EF4-FFF2-40B4-BE49-F238E27FC236}">
                  <a16:creationId xmlns:a16="http://schemas.microsoft.com/office/drawing/2014/main" id="{33108B87-22E7-0778-D3A5-3BFFF8FEFF74}"/>
                </a:ext>
              </a:extLst>
            </p:cNvPr>
            <p:cNvSpPr/>
            <p:nvPr/>
          </p:nvSpPr>
          <p:spPr>
            <a:xfrm>
              <a:off x="921287" y="1466834"/>
              <a:ext cx="2913560" cy="413841"/>
            </a:xfrm>
            <a:prstGeom prst="line">
              <a:avLst/>
            </a:prstGeom>
            <a:ln w="50800" cap="flat">
              <a:solidFill>
                <a:srgbClr val="000000"/>
              </a:solidFill>
              <a:prstDash val="solid"/>
              <a:headEnd type="none" w="sm" len="sm"/>
              <a:tailEnd type="none" w="sm" len="sm"/>
            </a:ln>
          </p:spPr>
          <p:txBody>
            <a:bodyPr/>
            <a:lstStyle/>
            <a:p>
              <a:endParaRPr lang="en-AU"/>
            </a:p>
          </p:txBody>
        </p:sp>
        <p:sp>
          <p:nvSpPr>
            <p:cNvPr id="45" name="AutoShape 7">
              <a:extLst>
                <a:ext uri="{FF2B5EF4-FFF2-40B4-BE49-F238E27FC236}">
                  <a16:creationId xmlns:a16="http://schemas.microsoft.com/office/drawing/2014/main" id="{47D8C832-5D3C-75C2-8087-7F1E2CE8F44A}"/>
                </a:ext>
              </a:extLst>
            </p:cNvPr>
            <p:cNvSpPr/>
            <p:nvPr/>
          </p:nvSpPr>
          <p:spPr>
            <a:xfrm>
              <a:off x="21547" y="25400"/>
              <a:ext cx="3774128" cy="0"/>
            </a:xfrm>
            <a:prstGeom prst="line">
              <a:avLst/>
            </a:prstGeom>
            <a:ln w="50800" cap="flat">
              <a:solidFill>
                <a:srgbClr val="000000"/>
              </a:solidFill>
              <a:prstDash val="solid"/>
              <a:headEnd type="none" w="sm" len="sm"/>
              <a:tailEnd type="none" w="sm" len="sm"/>
            </a:ln>
          </p:spPr>
          <p:txBody>
            <a:bodyPr/>
            <a:lstStyle/>
            <a:p>
              <a:endParaRPr lang="en-AU"/>
            </a:p>
          </p:txBody>
        </p:sp>
        <p:sp>
          <p:nvSpPr>
            <p:cNvPr id="46" name="AutoShape 8">
              <a:extLst>
                <a:ext uri="{FF2B5EF4-FFF2-40B4-BE49-F238E27FC236}">
                  <a16:creationId xmlns:a16="http://schemas.microsoft.com/office/drawing/2014/main" id="{EA828B4A-DF8E-CA4A-A2B4-A00B3F0A61CB}"/>
                </a:ext>
              </a:extLst>
            </p:cNvPr>
            <p:cNvSpPr/>
            <p:nvPr/>
          </p:nvSpPr>
          <p:spPr>
            <a:xfrm>
              <a:off x="3795675" y="25400"/>
              <a:ext cx="1756708" cy="1019053"/>
            </a:xfrm>
            <a:prstGeom prst="line">
              <a:avLst/>
            </a:prstGeom>
            <a:ln w="50800" cap="flat">
              <a:solidFill>
                <a:srgbClr val="000000"/>
              </a:solidFill>
              <a:prstDash val="solid"/>
              <a:headEnd type="none" w="sm" len="sm"/>
              <a:tailEnd type="none" w="sm" len="sm"/>
            </a:ln>
          </p:spPr>
          <p:txBody>
            <a:bodyPr/>
            <a:lstStyle/>
            <a:p>
              <a:endParaRPr lang="en-AU"/>
            </a:p>
          </p:txBody>
        </p:sp>
        <p:sp>
          <p:nvSpPr>
            <p:cNvPr id="47" name="AutoShape 9">
              <a:extLst>
                <a:ext uri="{FF2B5EF4-FFF2-40B4-BE49-F238E27FC236}">
                  <a16:creationId xmlns:a16="http://schemas.microsoft.com/office/drawing/2014/main" id="{F601AA78-FBC1-39B3-8E65-1893F05C3C47}"/>
                </a:ext>
              </a:extLst>
            </p:cNvPr>
            <p:cNvSpPr/>
            <p:nvPr/>
          </p:nvSpPr>
          <p:spPr>
            <a:xfrm>
              <a:off x="21547" y="25400"/>
              <a:ext cx="899740" cy="1441434"/>
            </a:xfrm>
            <a:prstGeom prst="line">
              <a:avLst/>
            </a:prstGeom>
            <a:ln w="50800" cap="flat">
              <a:solidFill>
                <a:srgbClr val="000000"/>
              </a:solidFill>
              <a:prstDash val="solid"/>
              <a:headEnd type="none" w="sm" len="sm"/>
              <a:tailEnd type="none" w="sm" len="sm"/>
            </a:ln>
          </p:spPr>
          <p:txBody>
            <a:bodyPr/>
            <a:lstStyle/>
            <a:p>
              <a:endParaRPr lang="en-AU"/>
            </a:p>
          </p:txBody>
        </p:sp>
        <p:sp>
          <p:nvSpPr>
            <p:cNvPr id="48" name="AutoShape 10">
              <a:extLst>
                <a:ext uri="{FF2B5EF4-FFF2-40B4-BE49-F238E27FC236}">
                  <a16:creationId xmlns:a16="http://schemas.microsoft.com/office/drawing/2014/main" id="{B8887AC4-9CE4-EB22-3FB7-9C67DD9A8631}"/>
                </a:ext>
              </a:extLst>
            </p:cNvPr>
            <p:cNvSpPr/>
            <p:nvPr/>
          </p:nvSpPr>
          <p:spPr>
            <a:xfrm flipV="1">
              <a:off x="3834847" y="1044453"/>
              <a:ext cx="1717535" cy="836223"/>
            </a:xfrm>
            <a:prstGeom prst="line">
              <a:avLst/>
            </a:prstGeom>
            <a:ln w="50800" cap="flat">
              <a:solidFill>
                <a:srgbClr val="000000"/>
              </a:solidFill>
              <a:prstDash val="solid"/>
              <a:headEnd type="none" w="sm" len="sm"/>
              <a:tailEnd type="none" w="sm" len="sm"/>
            </a:ln>
          </p:spPr>
          <p:txBody>
            <a:bodyPr/>
            <a:lstStyle/>
            <a:p>
              <a:endParaRPr lang="en-AU"/>
            </a:p>
          </p:txBody>
        </p:sp>
      </p:grpSp>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CE83E-162B-B6C8-57BA-E14ADBD2B75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70124D-E74D-F87F-BBEC-902E70862F1C}"/>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24</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695B5D1B-7C0C-37AE-B03B-351DC5EF1723}"/>
              </a:ext>
            </a:extLst>
          </p:cNvPr>
          <p:cNvSpPr>
            <a:spLocks noGrp="1"/>
          </p:cNvSpPr>
          <p:nvPr>
            <p:ph type="title"/>
          </p:nvPr>
        </p:nvSpPr>
        <p:spPr>
          <a:xfrm>
            <a:off x="354000" y="445988"/>
            <a:ext cx="11484000" cy="545601"/>
          </a:xfrm>
        </p:spPr>
        <p:txBody>
          <a:bodyPr/>
          <a:lstStyle/>
          <a:p>
            <a:r>
              <a:rPr lang="en-AU">
                <a:latin typeface="Arial"/>
                <a:cs typeface="Arial"/>
              </a:rPr>
              <a:t>Activity 3 – solving problems using a calculator</a:t>
            </a:r>
          </a:p>
        </p:txBody>
      </p:sp>
      <p:pic>
        <p:nvPicPr>
          <p:cNvPr id="4" name="Picture 3" descr="image of a head with cogs turning inside">
            <a:extLst>
              <a:ext uri="{FF2B5EF4-FFF2-40B4-BE49-F238E27FC236}">
                <a16:creationId xmlns:a16="http://schemas.microsoft.com/office/drawing/2014/main" id="{04FBAE01-76F7-7386-4896-0917BE2654A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1A7483AF-4FFD-3C07-6D73-D4CD834C9EFA}"/>
              </a:ext>
            </a:extLst>
          </p:cNvPr>
          <p:cNvSpPr txBox="1"/>
          <p:nvPr/>
        </p:nvSpPr>
        <p:spPr>
          <a:xfrm>
            <a:off x="354000" y="1196683"/>
            <a:ext cx="8374395" cy="3013838"/>
          </a:xfrm>
          <a:prstGeom prst="rect">
            <a:avLst/>
          </a:prstGeom>
          <a:noFill/>
        </p:spPr>
        <p:txBody>
          <a:bodyPr wrap="square" lIns="91440" tIns="45720" rIns="91440" bIns="45720" anchor="t">
            <a:spAutoFit/>
          </a:bodyPr>
          <a:lstStyle/>
          <a:p>
            <a:pPr>
              <a:lnSpc>
                <a:spcPct val="150000"/>
              </a:lnSpc>
              <a:spcBef>
                <a:spcPts val="1200"/>
              </a:spcBef>
            </a:pPr>
            <a:r>
              <a:rPr lang="en-AU" sz="4400" dirty="0">
                <a:effectLst/>
                <a:latin typeface="Arial" panose="020B0604020202020204" pitchFamily="34" charset="0"/>
                <a:ea typeface="Calibri" panose="020F0502020204030204" pitchFamily="34" charset="0"/>
              </a:rPr>
              <a:t>How could you calculate </a:t>
            </a:r>
            <a:r>
              <a:rPr lang="en-AU" sz="4400" b="1" dirty="0">
                <a:effectLst/>
                <a:latin typeface="Arial" panose="020B0604020202020204" pitchFamily="34" charset="0"/>
                <a:ea typeface="Calibri" panose="020F0502020204030204" pitchFamily="34" charset="0"/>
              </a:rPr>
              <a:t>17 × 26 </a:t>
            </a:r>
            <a:r>
              <a:rPr lang="en-AU" sz="4400" dirty="0">
                <a:effectLst/>
                <a:latin typeface="Arial" panose="020B0604020202020204" pitchFamily="34" charset="0"/>
                <a:ea typeface="Calibri" panose="020F0502020204030204" pitchFamily="34" charset="0"/>
              </a:rPr>
              <a:t>if the number 7 button on your calculator is broken?</a:t>
            </a:r>
          </a:p>
        </p:txBody>
      </p:sp>
      <p:pic>
        <p:nvPicPr>
          <p:cNvPr id="8" name="Picture 7" descr="Standard calculator with image of a red cross over the number seven.">
            <a:extLst>
              <a:ext uri="{FF2B5EF4-FFF2-40B4-BE49-F238E27FC236}">
                <a16:creationId xmlns:a16="http://schemas.microsoft.com/office/drawing/2014/main" id="{F5D48B42-A83D-6605-58C1-1A4D53012870}"/>
              </a:ext>
            </a:extLst>
          </p:cNvPr>
          <p:cNvPicPr>
            <a:picLocks noChangeAspect="1"/>
          </p:cNvPicPr>
          <p:nvPr/>
        </p:nvPicPr>
        <p:blipFill>
          <a:blip r:embed="rId4"/>
          <a:stretch>
            <a:fillRect/>
          </a:stretch>
        </p:blipFill>
        <p:spPr>
          <a:xfrm>
            <a:off x="8807282" y="2007750"/>
            <a:ext cx="2951831" cy="3703427"/>
          </a:xfrm>
          <a:prstGeom prst="rect">
            <a:avLst/>
          </a:prstGeom>
        </p:spPr>
      </p:pic>
    </p:spTree>
    <p:extLst>
      <p:ext uri="{BB962C8B-B14F-4D97-AF65-F5344CB8AC3E}">
        <p14:creationId xmlns:p14="http://schemas.microsoft.com/office/powerpoint/2010/main" val="425877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a:t>True or false </a:t>
            </a:r>
            <a:r>
              <a:rPr lang="en-US">
                <a:solidFill>
                  <a:schemeClr val="bg1"/>
                </a:solidFill>
              </a:rPr>
              <a:t>(1)</a:t>
            </a:r>
          </a:p>
        </p:txBody>
      </p:sp>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474481" y="2005422"/>
            <a:ext cx="11243037" cy="2335479"/>
          </a:xfrm>
        </p:spPr>
        <p:txBody>
          <a:bodyPr vert="horz" lIns="0" tIns="0" rIns="0" bIns="0" rtlCol="0" anchor="t">
            <a:noAutofit/>
          </a:bodyPr>
          <a:lstStyle/>
          <a:p>
            <a:pPr algn="ctr"/>
            <a:r>
              <a:rPr lang="en-US" sz="4400" dirty="0">
                <a:latin typeface="Arial"/>
                <a:cs typeface="Arial"/>
              </a:rPr>
              <a:t>Mark </a:t>
            </a:r>
            <a:r>
              <a:rPr lang="en-US" sz="4400" b="1" dirty="0">
                <a:latin typeface="Arial"/>
                <a:cs typeface="Arial"/>
              </a:rPr>
              <a:t>multiplied</a:t>
            </a:r>
            <a:r>
              <a:rPr lang="en-US" sz="4400" dirty="0">
                <a:latin typeface="Arial"/>
                <a:cs typeface="Arial"/>
              </a:rPr>
              <a:t> 245 x 20 and got an answer of 4900. Mark's answer is incorrect.</a:t>
            </a:r>
            <a:endParaRPr lang="en-US" sz="4400" dirty="0"/>
          </a:p>
        </p:txBody>
      </p:sp>
      <p:sp>
        <p:nvSpPr>
          <p:cNvPr id="4" name="Text Placeholder 11">
            <a:extLst>
              <a:ext uri="{FF2B5EF4-FFF2-40B4-BE49-F238E27FC236}">
                <a16:creationId xmlns:a16="http://schemas.microsoft.com/office/drawing/2014/main" id="{0349BF09-6F55-E125-B475-18E20F88B83B}"/>
              </a:ext>
            </a:extLst>
          </p:cNvPr>
          <p:cNvSpPr txBox="1">
            <a:spLocks/>
          </p:cNvSpPr>
          <p:nvPr/>
        </p:nvSpPr>
        <p:spPr>
          <a:xfrm>
            <a:off x="322422" y="6076973"/>
            <a:ext cx="4625359" cy="54560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2541497064"/>
              </p:ext>
            </p:extLst>
          </p:nvPr>
        </p:nvGraphicFramePr>
        <p:xfrm>
          <a:off x="2442981" y="47841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6" name="Picture 5" descr="image of a finger selecting an option for a multiple choice or true and false">
            <a:extLst>
              <a:ext uri="{FF2B5EF4-FFF2-40B4-BE49-F238E27FC236}">
                <a16:creationId xmlns:a16="http://schemas.microsoft.com/office/drawing/2014/main" id="{4348276A-08AB-CAAE-2AF9-8F7FE9DCE3A5}"/>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sp>
        <p:nvSpPr>
          <p:cNvPr id="11" name="Picture Placeholder 10">
            <a:extLst>
              <a:ext uri="{FF2B5EF4-FFF2-40B4-BE49-F238E27FC236}">
                <a16:creationId xmlns:a16="http://schemas.microsoft.com/office/drawing/2014/main" id="{14C19D03-CFFF-C433-C478-7D603E7E945A}"/>
              </a:ext>
            </a:extLst>
          </p:cNvPr>
          <p:cNvSpPr>
            <a:spLocks noGrp="1"/>
          </p:cNvSpPr>
          <p:nvPr>
            <p:ph type="pic" sz="quarter" idx="21"/>
          </p:nvPr>
        </p:nvSpPr>
        <p:spPr>
          <a:xfrm>
            <a:off x="359999" y="1287137"/>
            <a:ext cx="11243037" cy="1850677"/>
          </a:xfrm>
        </p:spPr>
        <p:txBody>
          <a:bodyPr/>
          <a:lstStyle/>
          <a:p>
            <a:pPr algn="ctr"/>
            <a:r>
              <a:rPr lang="en-US" sz="4400" dirty="0">
                <a:latin typeface="Arial"/>
                <a:cs typeface="Arial"/>
              </a:rPr>
              <a:t>Transform the shape to </a:t>
            </a:r>
            <a:r>
              <a:rPr lang="en-US" sz="4400" b="1" dirty="0">
                <a:latin typeface="Arial"/>
                <a:cs typeface="Arial"/>
              </a:rPr>
              <a:t>calculate</a:t>
            </a:r>
            <a:r>
              <a:rPr lang="en-US" sz="4400" dirty="0">
                <a:latin typeface="Arial"/>
                <a:cs typeface="Arial"/>
              </a:rPr>
              <a:t> the </a:t>
            </a:r>
            <a:r>
              <a:rPr lang="en-US" sz="4400" b="1" dirty="0">
                <a:latin typeface="Arial"/>
                <a:cs typeface="Arial"/>
              </a:rPr>
              <a:t>area</a:t>
            </a:r>
            <a:r>
              <a:rPr lang="en-US" sz="4400" dirty="0">
                <a:latin typeface="Arial"/>
                <a:cs typeface="Arial"/>
              </a:rPr>
              <a:t>.</a:t>
            </a:r>
            <a:endParaRPr lang="en-US" sz="4400" dirty="0"/>
          </a:p>
        </p:txBody>
      </p:sp>
      <p:pic>
        <p:nvPicPr>
          <p:cNvPr id="4" name="Picture 3" descr="image of a clipboard with a pencil recording short answer responses">
            <a:extLst>
              <a:ext uri="{FF2B5EF4-FFF2-40B4-BE49-F238E27FC236}">
                <a16:creationId xmlns:a16="http://schemas.microsoft.com/office/drawing/2014/main" id="{8630EBD8-CFDA-21D1-0781-2E0CE818F684}"/>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rhombus on grid squares. It has are area of 36 grid squares.">
            <a:extLst>
              <a:ext uri="{FF2B5EF4-FFF2-40B4-BE49-F238E27FC236}">
                <a16:creationId xmlns:a16="http://schemas.microsoft.com/office/drawing/2014/main" id="{00E4F0BE-6E37-5C4D-EE94-F311546D181B}"/>
              </a:ext>
            </a:extLst>
          </p:cNvPr>
          <p:cNvPicPr>
            <a:picLocks noChangeAspect="1"/>
          </p:cNvPicPr>
          <p:nvPr/>
        </p:nvPicPr>
        <p:blipFill>
          <a:blip r:embed="rId4"/>
          <a:srcRect l="22637" t="10926" r="26826" b="31482"/>
          <a:stretch>
            <a:fillRect/>
          </a:stretch>
        </p:blipFill>
        <p:spPr>
          <a:xfrm>
            <a:off x="3530417" y="2400300"/>
            <a:ext cx="4902200" cy="39497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932C-EC37-B3ED-6E76-5D6F2C7FF6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0D75EE-77E1-4439-0A95-55A48CB513CA}"/>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3" name="Title 2">
            <a:extLst>
              <a:ext uri="{FF2B5EF4-FFF2-40B4-BE49-F238E27FC236}">
                <a16:creationId xmlns:a16="http://schemas.microsoft.com/office/drawing/2014/main" id="{CBB4B7CA-693A-3F18-2EDC-EE94CBCA2F6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sp>
        <p:nvSpPr>
          <p:cNvPr id="11" name="Picture Placeholder 10">
            <a:extLst>
              <a:ext uri="{FF2B5EF4-FFF2-40B4-BE49-F238E27FC236}">
                <a16:creationId xmlns:a16="http://schemas.microsoft.com/office/drawing/2014/main" id="{2F913B4D-1682-BC3D-FA94-9742B9EAB2B6}"/>
              </a:ext>
            </a:extLst>
          </p:cNvPr>
          <p:cNvSpPr>
            <a:spLocks noGrp="1"/>
          </p:cNvSpPr>
          <p:nvPr>
            <p:ph type="pic" sz="quarter" idx="21"/>
          </p:nvPr>
        </p:nvSpPr>
        <p:spPr>
          <a:xfrm>
            <a:off x="360001" y="1777098"/>
            <a:ext cx="11243037" cy="3303803"/>
          </a:xfrm>
        </p:spPr>
        <p:txBody>
          <a:bodyPr/>
          <a:lstStyle/>
          <a:p>
            <a:pPr algn="ctr"/>
            <a:r>
              <a:rPr lang="en-US" sz="4400" dirty="0">
                <a:latin typeface="Arial"/>
                <a:cs typeface="Arial"/>
              </a:rPr>
              <a:t>The school gets a </a:t>
            </a:r>
            <a:r>
              <a:rPr lang="en-US" sz="4400" b="1" dirty="0">
                <a:latin typeface="Arial"/>
                <a:cs typeface="Arial"/>
              </a:rPr>
              <a:t>discount</a:t>
            </a:r>
            <a:r>
              <a:rPr lang="en-US" sz="4400" dirty="0">
                <a:latin typeface="Arial"/>
                <a:cs typeface="Arial"/>
              </a:rPr>
              <a:t> for hiring the local swimming pool. They only pay 40 % of $550. How much will it </a:t>
            </a:r>
            <a:r>
              <a:rPr lang="en-US" sz="4400" b="1" dirty="0">
                <a:latin typeface="Arial"/>
                <a:cs typeface="Arial"/>
              </a:rPr>
              <a:t>cost </a:t>
            </a:r>
            <a:r>
              <a:rPr lang="en-US" sz="4400" dirty="0">
                <a:latin typeface="Arial"/>
                <a:cs typeface="Arial"/>
              </a:rPr>
              <a:t>now?</a:t>
            </a: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21214CBC-B671-BA4C-E583-4EAEC31F1FE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12658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352E0507-6E6B-EB8A-88E2-35DDFC075B74}"/>
              </a:ext>
            </a:extLst>
          </p:cNvPr>
          <p:cNvSpPr>
            <a:spLocks noGrp="1"/>
          </p:cNvSpPr>
          <p:nvPr>
            <p:ph type="pic" sz="quarter" idx="21"/>
          </p:nvPr>
        </p:nvSpPr>
        <p:spPr>
          <a:xfrm>
            <a:off x="359999" y="1500497"/>
            <a:ext cx="11243037" cy="3336814"/>
          </a:xfrm>
        </p:spPr>
        <p:txBody>
          <a:bodyPr/>
          <a:lstStyle/>
          <a:p>
            <a:pPr algn="ctr"/>
            <a:r>
              <a:rPr lang="en-US" sz="4400" dirty="0">
                <a:latin typeface="Arial"/>
                <a:cs typeface="Arial"/>
              </a:rPr>
              <a:t>Frankie is solving 1504 – 896.</a:t>
            </a:r>
            <a:br>
              <a:rPr lang="en-US" sz="4400" dirty="0">
                <a:latin typeface="Arial"/>
                <a:cs typeface="Arial"/>
              </a:rPr>
            </a:br>
            <a:r>
              <a:rPr lang="en-US" sz="4400" dirty="0">
                <a:latin typeface="Arial"/>
                <a:cs typeface="Arial"/>
              </a:rPr>
              <a:t> What </a:t>
            </a:r>
            <a:r>
              <a:rPr lang="en-US" sz="4400" b="1" dirty="0">
                <a:latin typeface="Arial"/>
                <a:cs typeface="Arial"/>
              </a:rPr>
              <a:t>mental strategy </a:t>
            </a:r>
            <a:r>
              <a:rPr lang="en-US" sz="4400" dirty="0">
                <a:latin typeface="Arial"/>
                <a:cs typeface="Arial"/>
              </a:rPr>
              <a:t>could she use to solve it </a:t>
            </a:r>
            <a:r>
              <a:rPr lang="en-US" sz="4400" b="1" dirty="0">
                <a:latin typeface="Arial"/>
                <a:cs typeface="Arial"/>
              </a:rPr>
              <a:t>efficiently</a:t>
            </a:r>
            <a:r>
              <a:rPr lang="en-US" sz="4400" dirty="0">
                <a:latin typeface="Arial"/>
                <a:cs typeface="Arial"/>
              </a:rPr>
              <a:t>?</a:t>
            </a:r>
            <a:endParaRPr lang="en-US"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5AE60A7A-7377-46D6-1913-99B349DCED2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11" name="Picture Placeholder 10">
            <a:extLst>
              <a:ext uri="{FF2B5EF4-FFF2-40B4-BE49-F238E27FC236}">
                <a16:creationId xmlns:a16="http://schemas.microsoft.com/office/drawing/2014/main" id="{62E43AA6-EE50-7B61-E74B-D734C2893183}"/>
              </a:ext>
            </a:extLst>
          </p:cNvPr>
          <p:cNvSpPr>
            <a:spLocks noGrp="1"/>
          </p:cNvSpPr>
          <p:nvPr>
            <p:ph type="pic" sz="quarter" idx="21"/>
          </p:nvPr>
        </p:nvSpPr>
        <p:spPr>
          <a:xfrm>
            <a:off x="474480" y="1116943"/>
            <a:ext cx="11243037" cy="3336814"/>
          </a:xfrm>
        </p:spPr>
        <p:txBody>
          <a:bodyPr/>
          <a:lstStyle/>
          <a:p>
            <a:pPr algn="ctr"/>
            <a:r>
              <a:rPr lang="en-US" sz="4000" dirty="0">
                <a:latin typeface="Arial"/>
                <a:cs typeface="Arial"/>
              </a:rPr>
              <a:t>The rectangular prism has a </a:t>
            </a:r>
            <a:r>
              <a:rPr lang="en-US" sz="4000" b="1" dirty="0">
                <a:latin typeface="Arial"/>
                <a:cs typeface="Arial"/>
              </a:rPr>
              <a:t>volume</a:t>
            </a:r>
            <a:r>
              <a:rPr lang="en-US" sz="4000" dirty="0">
                <a:latin typeface="Arial"/>
                <a:cs typeface="Arial"/>
              </a:rPr>
              <a:t> of 32 cubic-</a:t>
            </a:r>
            <a:r>
              <a:rPr lang="en-US" sz="4000" dirty="0" err="1">
                <a:latin typeface="Arial"/>
                <a:cs typeface="Arial"/>
              </a:rPr>
              <a:t>centimetre</a:t>
            </a:r>
            <a:r>
              <a:rPr lang="en-US" sz="4000" dirty="0">
                <a:latin typeface="Arial"/>
                <a:cs typeface="Arial"/>
              </a:rPr>
              <a:t> blocks. The base layer has 4 rows of 2 blocks. </a:t>
            </a:r>
            <a:r>
              <a:rPr lang="en-US" sz="4000" b="1" dirty="0">
                <a:latin typeface="Arial"/>
                <a:cs typeface="Arial"/>
              </a:rPr>
              <a:t>How many </a:t>
            </a:r>
            <a:r>
              <a:rPr lang="en-US" sz="4000" dirty="0">
                <a:latin typeface="Arial"/>
                <a:cs typeface="Arial"/>
              </a:rPr>
              <a:t>layers of blocks are there?</a:t>
            </a:r>
            <a:endParaRPr lang="en-US" sz="40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7930802-0D15-204B-8B8B-C39671389CD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Freeform 3" descr="A rectangular prism.">
            <a:extLst>
              <a:ext uri="{FF2B5EF4-FFF2-40B4-BE49-F238E27FC236}">
                <a16:creationId xmlns:a16="http://schemas.microsoft.com/office/drawing/2014/main" id="{BE1D93F4-A97F-CB38-6671-F0D0F31A359D}"/>
              </a:ext>
            </a:extLst>
          </p:cNvPr>
          <p:cNvSpPr/>
          <p:nvPr/>
        </p:nvSpPr>
        <p:spPr>
          <a:xfrm>
            <a:off x="4159584" y="4113332"/>
            <a:ext cx="4038118" cy="2169986"/>
          </a:xfrm>
          <a:custGeom>
            <a:avLst/>
            <a:gdLst/>
            <a:ahLst/>
            <a:cxnLst/>
            <a:rect l="l" t="t" r="r" b="b"/>
            <a:pathLst>
              <a:path w="1048206" h="563411">
                <a:moveTo>
                  <a:pt x="0" y="0"/>
                </a:moveTo>
                <a:lnTo>
                  <a:pt x="1048206" y="0"/>
                </a:lnTo>
                <a:lnTo>
                  <a:pt x="1048206" y="563411"/>
                </a:lnTo>
                <a:lnTo>
                  <a:pt x="0" y="56341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4 – factors of 4-digit products</a:t>
            </a:r>
          </a:p>
        </p:txBody>
      </p:sp>
      <p:pic>
        <p:nvPicPr>
          <p:cNvPr id="37" name="Picture 36" descr="image of a head with cogs turning inside">
            <a:extLst>
              <a:ext uri="{FF2B5EF4-FFF2-40B4-BE49-F238E27FC236}">
                <a16:creationId xmlns:a16="http://schemas.microsoft.com/office/drawing/2014/main" id="{A8A9B36F-AE3F-071C-A58E-9514E08F1D5A}"/>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8" name="TextBox 37">
            <a:extLst>
              <a:ext uri="{FF2B5EF4-FFF2-40B4-BE49-F238E27FC236}">
                <a16:creationId xmlns:a16="http://schemas.microsoft.com/office/drawing/2014/main" id="{B30C1950-C3DB-D87C-4C7C-530D766F5500}"/>
              </a:ext>
            </a:extLst>
          </p:cNvPr>
          <p:cNvSpPr txBox="1"/>
          <p:nvPr/>
        </p:nvSpPr>
        <p:spPr>
          <a:xfrm>
            <a:off x="360001" y="1307655"/>
            <a:ext cx="10747002" cy="1200329"/>
          </a:xfrm>
          <a:prstGeom prst="rect">
            <a:avLst/>
          </a:prstGeom>
          <a:noFill/>
        </p:spPr>
        <p:txBody>
          <a:bodyPr wrap="square">
            <a:spAutoFit/>
          </a:bodyPr>
          <a:lstStyle/>
          <a:p>
            <a:r>
              <a:rPr lang="en-AU" sz="3600" dirty="0">
                <a:effectLst/>
                <a:latin typeface="Arial" panose="020B0604020202020204" pitchFamily="34" charset="0"/>
                <a:ea typeface="Calibri" panose="020F0502020204030204" pitchFamily="34" charset="0"/>
              </a:rPr>
              <a:t>Can you </a:t>
            </a:r>
            <a:r>
              <a:rPr lang="en-AU" sz="3600" dirty="0">
                <a:latin typeface="Arial" panose="020B0604020202020204" pitchFamily="34" charset="0"/>
                <a:ea typeface="Calibri" panose="020F0502020204030204" pitchFamily="34" charset="0"/>
              </a:rPr>
              <a:t>identify </a:t>
            </a:r>
            <a:r>
              <a:rPr lang="en-AU" sz="3600" dirty="0">
                <a:effectLst/>
                <a:latin typeface="Arial" panose="020B0604020202020204" pitchFamily="34" charset="0"/>
                <a:ea typeface="Calibri" panose="020F0502020204030204" pitchFamily="34" charset="0"/>
              </a:rPr>
              <a:t>number sentences using 2 or more </a:t>
            </a:r>
            <a:r>
              <a:rPr lang="en-AU" sz="3600" b="1" dirty="0">
                <a:effectLst/>
                <a:latin typeface="Arial" panose="020B0604020202020204" pitchFamily="34" charset="0"/>
                <a:ea typeface="Calibri" panose="020F0502020204030204" pitchFamily="34" charset="0"/>
              </a:rPr>
              <a:t>factors</a:t>
            </a:r>
            <a:r>
              <a:rPr lang="en-AU" sz="3600" dirty="0">
                <a:effectLst/>
                <a:latin typeface="Arial" panose="020B0604020202020204" pitchFamily="34" charset="0"/>
                <a:ea typeface="Calibri" panose="020F0502020204030204" pitchFamily="34" charset="0"/>
              </a:rPr>
              <a:t> that make a </a:t>
            </a:r>
            <a:r>
              <a:rPr lang="en-AU" sz="3600" b="1" dirty="0">
                <a:effectLst/>
                <a:latin typeface="Arial" panose="020B0604020202020204" pitchFamily="34" charset="0"/>
                <a:ea typeface="Calibri" panose="020F0502020204030204" pitchFamily="34" charset="0"/>
              </a:rPr>
              <a:t>product</a:t>
            </a:r>
            <a:r>
              <a:rPr lang="en-AU" sz="3600" dirty="0">
                <a:effectLst/>
                <a:latin typeface="Arial" panose="020B0604020202020204" pitchFamily="34" charset="0"/>
                <a:ea typeface="Calibri" panose="020F0502020204030204" pitchFamily="34" charset="0"/>
              </a:rPr>
              <a:t> of 8640?</a:t>
            </a:r>
            <a:endParaRPr lang="en-AU" sz="3600" dirty="0"/>
          </a:p>
        </p:txBody>
      </p:sp>
      <p:sp>
        <p:nvSpPr>
          <p:cNvPr id="4" name="Freeform 2" descr="A whiteboard displaying the number 8640.">
            <a:extLst>
              <a:ext uri="{FF2B5EF4-FFF2-40B4-BE49-F238E27FC236}">
                <a16:creationId xmlns:a16="http://schemas.microsoft.com/office/drawing/2014/main" id="{EFA4906B-302D-B316-1668-04C43744F206}"/>
              </a:ext>
            </a:extLst>
          </p:cNvPr>
          <p:cNvSpPr/>
          <p:nvPr/>
        </p:nvSpPr>
        <p:spPr>
          <a:xfrm>
            <a:off x="3871576" y="2669797"/>
            <a:ext cx="3746782" cy="3198278"/>
          </a:xfrm>
          <a:custGeom>
            <a:avLst/>
            <a:gdLst/>
            <a:ahLst/>
            <a:cxnLst/>
            <a:rect l="l" t="t" r="r" b="b"/>
            <a:pathLst>
              <a:path w="1131570" h="777954">
                <a:moveTo>
                  <a:pt x="0" y="0"/>
                </a:moveTo>
                <a:lnTo>
                  <a:pt x="1131571" y="0"/>
                </a:lnTo>
                <a:lnTo>
                  <a:pt x="1131571" y="777954"/>
                </a:lnTo>
                <a:lnTo>
                  <a:pt x="0" y="7779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 name="TextBox 3">
            <a:extLst>
              <a:ext uri="{FF2B5EF4-FFF2-40B4-BE49-F238E27FC236}">
                <a16:creationId xmlns:a16="http://schemas.microsoft.com/office/drawing/2014/main" id="{5F49AC7F-147F-2489-D050-EBD03FD0F432}"/>
              </a:ext>
            </a:extLst>
          </p:cNvPr>
          <p:cNvSpPr txBox="1"/>
          <p:nvPr/>
        </p:nvSpPr>
        <p:spPr>
          <a:xfrm>
            <a:off x="4511199" y="4137332"/>
            <a:ext cx="2467535" cy="589520"/>
          </a:xfrm>
          <a:prstGeom prst="rect">
            <a:avLst/>
          </a:prstGeom>
        </p:spPr>
        <p:txBody>
          <a:bodyPr wrap="square" lIns="0" tIns="0" rIns="0" bIns="0" rtlCol="0" anchor="t">
            <a:spAutoFit/>
          </a:bodyPr>
          <a:lstStyle/>
          <a:p>
            <a:pPr algn="ctr">
              <a:lnSpc>
                <a:spcPts val="3724"/>
              </a:lnSpc>
              <a:spcBef>
                <a:spcPct val="0"/>
              </a:spcBef>
            </a:pPr>
            <a:r>
              <a:rPr lang="en-US" sz="8000">
                <a:solidFill>
                  <a:srgbClr val="000000"/>
                </a:solidFill>
                <a:latin typeface="Canva Student Font"/>
                <a:ea typeface="Canva Student Font"/>
                <a:cs typeface="Canva Student Font"/>
                <a:sym typeface="Canva Student Font"/>
              </a:rPr>
              <a:t>8640</a:t>
            </a:r>
          </a:p>
        </p:txBody>
      </p:sp>
    </p:spTree>
    <p:extLst>
      <p:ext uri="{BB962C8B-B14F-4D97-AF65-F5344CB8AC3E}">
        <p14:creationId xmlns:p14="http://schemas.microsoft.com/office/powerpoint/2010/main" val="4261653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(1)</a:t>
            </a:r>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a:xfrm>
            <a:off x="9371920" y="3987103"/>
            <a:ext cx="2226583" cy="1312255"/>
          </a:xfrm>
        </p:spPr>
        <p:txBody>
          <a:bodyPr/>
          <a:lstStyle/>
          <a:p>
            <a:pPr algn="ctr"/>
            <a:r>
              <a:rPr lang="en-AU" sz="3600">
                <a:latin typeface="Arial"/>
                <a:cs typeface="Arial"/>
              </a:rPr>
              <a:t> </a:t>
            </a:r>
            <a:endParaRPr lang="en-AU" sz="3600"/>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360000" y="1571992"/>
            <a:ext cx="11243037" cy="893226"/>
          </a:xfrm>
        </p:spPr>
        <p:txBody>
          <a:bodyPr vert="horz" lIns="0" tIns="0" rIns="0" bIns="0" rtlCol="0" anchor="t">
            <a:noAutofit/>
          </a:bodyPr>
          <a:lstStyle/>
          <a:p>
            <a:pPr algn="ctr"/>
            <a:r>
              <a:rPr lang="en-US" sz="4000" dirty="0">
                <a:latin typeface="Arial"/>
                <a:cs typeface="Arial"/>
              </a:rPr>
              <a:t>Which gives you the </a:t>
            </a:r>
            <a:r>
              <a:rPr lang="en-US" sz="4000" b="1" dirty="0">
                <a:latin typeface="Arial"/>
                <a:cs typeface="Arial"/>
              </a:rPr>
              <a:t>most</a:t>
            </a:r>
            <a:r>
              <a:rPr lang="en-US" sz="4000" dirty="0">
                <a:latin typeface="Arial"/>
                <a:cs typeface="Arial"/>
              </a:rPr>
              <a:t> money?</a:t>
            </a:r>
            <a:endParaRPr lang="en-US" sz="4000" dirty="0"/>
          </a:p>
        </p:txBody>
      </p:sp>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2062098187"/>
              </p:ext>
            </p:extLst>
          </p:nvPr>
        </p:nvGraphicFramePr>
        <p:xfrm>
          <a:off x="360000" y="3429000"/>
          <a:ext cx="11484000" cy="1504507"/>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3200">
                          <a:latin typeface="+mn-lt"/>
                          <a:cs typeface="Arial"/>
                        </a:rPr>
                        <a:t>50% of $30</a:t>
                      </a:r>
                      <a:endParaRPr lang="en-AU"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25% of $100</a:t>
                      </a:r>
                      <a:endParaRPr lang="en-AU"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50% of $10</a:t>
                      </a:r>
                      <a:endParaRPr lang="en-AU"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dirty="0">
                          <a:latin typeface="+mn-lt"/>
                          <a:cs typeface="Arial"/>
                        </a:rPr>
                        <a:t>10% of $50</a:t>
                      </a:r>
                      <a:endParaRPr lang="en-AU" sz="32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F31D1F19-3C77-CBD3-78E2-B3C67CA06991}"/>
              </a:ext>
            </a:extLst>
          </p:cNvPr>
          <p:cNvPicPr>
            <a:picLocks noChangeAspect="1"/>
          </p:cNvPicPr>
          <p:nvPr/>
        </p:nvPicPr>
        <p:blipFill>
          <a:blip r:embed="rId3"/>
          <a:stretch>
            <a:fillRect/>
          </a:stretch>
        </p:blipFill>
        <p:spPr>
          <a:xfrm>
            <a:off x="10639184" y="43303"/>
            <a:ext cx="1334510" cy="1305812"/>
          </a:xfrm>
          <a:prstGeom prst="rect">
            <a:avLst/>
          </a:prstGeom>
        </p:spPr>
      </p:pic>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sp>
        <p:nvSpPr>
          <p:cNvPr id="11" name="Picture Placeholder 10">
            <a:extLst>
              <a:ext uri="{FF2B5EF4-FFF2-40B4-BE49-F238E27FC236}">
                <a16:creationId xmlns:a16="http://schemas.microsoft.com/office/drawing/2014/main" id="{E3076825-3639-8154-0BA8-58E1ADFFDA47}"/>
              </a:ext>
            </a:extLst>
          </p:cNvPr>
          <p:cNvSpPr>
            <a:spLocks noGrp="1"/>
          </p:cNvSpPr>
          <p:nvPr>
            <p:ph type="pic" sz="quarter" idx="21"/>
          </p:nvPr>
        </p:nvSpPr>
        <p:spPr>
          <a:xfrm>
            <a:off x="1543048" y="1056001"/>
            <a:ext cx="9105901" cy="3778256"/>
          </a:xfrm>
        </p:spPr>
        <p:txBody>
          <a:bodyPr/>
          <a:lstStyle/>
          <a:p>
            <a:pPr algn="ctr"/>
            <a:r>
              <a:rPr lang="en-AU" sz="4400" b="1" dirty="0"/>
              <a:t>Calculate</a:t>
            </a:r>
            <a:r>
              <a:rPr lang="en-AU" sz="4400" dirty="0"/>
              <a:t> the </a:t>
            </a:r>
            <a:r>
              <a:rPr lang="en-AU" sz="4400" b="1" dirty="0"/>
              <a:t>area</a:t>
            </a:r>
            <a:r>
              <a:rPr lang="en-AU" sz="4400" dirty="0"/>
              <a:t> of the triangle.</a:t>
            </a: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BB099BAB-328B-59D1-278A-FFBF494FA8C0}"/>
              </a:ext>
            </a:extLst>
          </p:cNvPr>
          <p:cNvPicPr>
            <a:picLocks noChangeAspect="1"/>
          </p:cNvPicPr>
          <p:nvPr/>
        </p:nvPicPr>
        <p:blipFill>
          <a:blip r:embed="rId3"/>
          <a:stretch>
            <a:fillRect/>
          </a:stretch>
        </p:blipFill>
        <p:spPr>
          <a:xfrm>
            <a:off x="11124000" y="162000"/>
            <a:ext cx="915500" cy="915500"/>
          </a:xfrm>
          <a:prstGeom prst="rect">
            <a:avLst/>
          </a:prstGeom>
        </p:spPr>
      </p:pic>
      <p:pic>
        <p:nvPicPr>
          <p:cNvPr id="6" name="Picture 5" descr="A black triangle on a grid&#10;.">
            <a:extLst>
              <a:ext uri="{FF2B5EF4-FFF2-40B4-BE49-F238E27FC236}">
                <a16:creationId xmlns:a16="http://schemas.microsoft.com/office/drawing/2014/main" id="{BFCC10FD-CF8B-2631-F5CC-87A46BC79998}"/>
              </a:ext>
            </a:extLst>
          </p:cNvPr>
          <p:cNvPicPr>
            <a:picLocks noChangeAspect="1"/>
          </p:cNvPicPr>
          <p:nvPr/>
        </p:nvPicPr>
        <p:blipFill>
          <a:blip r:embed="rId4">
            <a:extLst>
              <a:ext uri="{28A0092B-C50C-407E-A947-70E740481C1C}">
                <a14:useLocalDpi xmlns:a14="http://schemas.microsoft.com/office/drawing/2010/main" val="0"/>
              </a:ext>
            </a:extLst>
          </a:blip>
          <a:srcRect l="32063" t="9445" r="37300" b="32036"/>
          <a:stretch>
            <a:fillRect/>
          </a:stretch>
        </p:blipFill>
        <p:spPr>
          <a:xfrm>
            <a:off x="4610098" y="2366100"/>
            <a:ext cx="2971800" cy="40132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sp>
        <p:nvSpPr>
          <p:cNvPr id="11" name="Picture Placeholder 10">
            <a:extLst>
              <a:ext uri="{FF2B5EF4-FFF2-40B4-BE49-F238E27FC236}">
                <a16:creationId xmlns:a16="http://schemas.microsoft.com/office/drawing/2014/main" id="{50CE3FA9-E73E-0225-40D3-D27739FD5AAA}"/>
              </a:ext>
            </a:extLst>
          </p:cNvPr>
          <p:cNvSpPr>
            <a:spLocks noGrp="1"/>
          </p:cNvSpPr>
          <p:nvPr>
            <p:ph type="pic" sz="quarter" idx="21"/>
          </p:nvPr>
        </p:nvSpPr>
        <p:spPr>
          <a:xfrm>
            <a:off x="360000" y="1002541"/>
            <a:ext cx="10934894" cy="915501"/>
          </a:xfrm>
        </p:spPr>
        <p:txBody>
          <a:bodyPr/>
          <a:lstStyle/>
          <a:p>
            <a:r>
              <a:rPr lang="en-AU" sz="3600" dirty="0">
                <a:latin typeface="Arial"/>
                <a:cs typeface="Arial"/>
              </a:rPr>
              <a:t>Write </a:t>
            </a:r>
            <a:r>
              <a:rPr lang="en-AU" sz="3600" b="1" dirty="0">
                <a:latin typeface="Arial"/>
                <a:cs typeface="Arial"/>
              </a:rPr>
              <a:t>equivalent fractions </a:t>
            </a:r>
            <a:r>
              <a:rPr lang="en-AU" sz="3600" dirty="0">
                <a:latin typeface="Arial"/>
                <a:cs typeface="Arial"/>
              </a:rPr>
              <a:t>from the </a:t>
            </a:r>
            <a:r>
              <a:rPr lang="en-AU" sz="3600" b="1" dirty="0">
                <a:latin typeface="Arial"/>
                <a:cs typeface="Arial"/>
              </a:rPr>
              <a:t>number line </a:t>
            </a:r>
            <a:r>
              <a:rPr lang="en-AU" sz="3600" dirty="0">
                <a:latin typeface="Arial"/>
                <a:cs typeface="Arial"/>
              </a:rPr>
              <a:t>for: </a:t>
            </a:r>
          </a:p>
          <a:p>
            <a:br>
              <a:rPr lang="en-AU" sz="2800" dirty="0">
                <a:latin typeface="Arial"/>
                <a:cs typeface="Arial"/>
              </a:rPr>
            </a:br>
            <a:r>
              <a:rPr lang="en-AU" sz="2800" dirty="0">
                <a:latin typeface="Arial"/>
                <a:cs typeface="Arial"/>
              </a:rPr>
              <a:t>	 =		 =	         	 =		=	 	   =</a:t>
            </a:r>
          </a:p>
          <a:p>
            <a:br>
              <a:rPr lang="en-US" sz="4400" dirty="0">
                <a:latin typeface="Arial"/>
                <a:cs typeface="Arial"/>
              </a:rPr>
            </a:br>
            <a:endParaRPr lang="en-US" sz="4400" dirty="0"/>
          </a:p>
        </p:txBody>
      </p:sp>
      <p:pic>
        <p:nvPicPr>
          <p:cNvPr id="5" name="Picture 4" descr="image of a clipboard with a pencil recording short answer responses">
            <a:extLst>
              <a:ext uri="{FF2B5EF4-FFF2-40B4-BE49-F238E27FC236}">
                <a16:creationId xmlns:a16="http://schemas.microsoft.com/office/drawing/2014/main" id="{FE345378-20FF-A172-6D0E-53FEDBC94114}"/>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4" name="Picture 13" descr="A number line between 0 and 1. The tenths are marked and labelled on the number line in fractional notation.">
            <a:extLst>
              <a:ext uri="{FF2B5EF4-FFF2-40B4-BE49-F238E27FC236}">
                <a16:creationId xmlns:a16="http://schemas.microsoft.com/office/drawing/2014/main" id="{F8A49141-4860-700B-2157-621552550CE6}"/>
              </a:ext>
            </a:extLst>
          </p:cNvPr>
          <p:cNvPicPr>
            <a:picLocks noChangeAspect="1"/>
          </p:cNvPicPr>
          <p:nvPr/>
        </p:nvPicPr>
        <p:blipFill>
          <a:blip r:embed="rId4"/>
          <a:stretch>
            <a:fillRect/>
          </a:stretch>
        </p:blipFill>
        <p:spPr>
          <a:xfrm>
            <a:off x="825788" y="4575843"/>
            <a:ext cx="10698068" cy="1810003"/>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C4E87E0-6FBD-3A91-9CB6-7E94CDA1974D}"/>
                  </a:ext>
                </a:extLst>
              </p:cNvPr>
              <p:cNvSpPr txBox="1"/>
              <p:nvPr/>
            </p:nvSpPr>
            <p:spPr>
              <a:xfrm>
                <a:off x="926716" y="2282157"/>
                <a:ext cx="476782" cy="728218"/>
              </a:xfrm>
              <a:prstGeom prst="rect">
                <a:avLst/>
              </a:prstGeom>
              <a:noFill/>
            </p:spPr>
            <p:txBody>
              <a:bodyPr wrap="square" lIns="0" tIns="0" rIns="0" bIns="0" rtlCol="0">
                <a:noAutofit/>
              </a:bodyPr>
              <a:lstStyle/>
              <a:p>
                <a:pPr algn="ctr"/>
                <a14:m>
                  <m:oMath xmlns:m="http://schemas.openxmlformats.org/officeDocument/2006/math">
                    <m:f>
                      <m:fPr>
                        <m:ctrlPr>
                          <a:rPr lang="en-AU" sz="4400" b="1" i="1" smtClean="0">
                            <a:effectLst/>
                            <a:latin typeface="Cambria Math" panose="02040503050406030204" pitchFamily="18" charset="0"/>
                          </a:rPr>
                        </m:ctrlPr>
                      </m:fPr>
                      <m:num>
                        <m:r>
                          <a:rPr lang="en-AU" sz="4400" b="1" i="1" smtClean="0">
                            <a:effectLst/>
                            <a:latin typeface="Cambria Math" panose="02040503050406030204" pitchFamily="18" charset="0"/>
                          </a:rPr>
                          <m:t>𝟏</m:t>
                        </m:r>
                      </m:num>
                      <m:den>
                        <m:r>
                          <a:rPr lang="en-AU" sz="4400" b="1" i="1" smtClean="0">
                            <a:effectLst/>
                            <a:latin typeface="Cambria Math" panose="02040503050406030204" pitchFamily="18" charset="0"/>
                            <a:ea typeface="Calibri" panose="020F0502020204030204" pitchFamily="34" charset="0"/>
                            <a:cs typeface="Arial" panose="020B0604020202020204" pitchFamily="34" charset="0"/>
                          </a:rPr>
                          <m:t>𝟓</m:t>
                        </m:r>
                      </m:den>
                    </m:f>
                  </m:oMath>
                </a14:m>
                <a:r>
                  <a:rPr lang="en-AU" sz="3200" b="1"/>
                  <a:t> </a:t>
                </a:r>
              </a:p>
            </p:txBody>
          </p:sp>
        </mc:Choice>
        <mc:Fallback xmlns="">
          <p:sp>
            <p:nvSpPr>
              <p:cNvPr id="15" name="TextBox 14">
                <a:extLst>
                  <a:ext uri="{FF2B5EF4-FFF2-40B4-BE49-F238E27FC236}">
                    <a16:creationId xmlns:a16="http://schemas.microsoft.com/office/drawing/2014/main" id="{0C4E87E0-6FBD-3A91-9CB6-7E94CDA1974D}"/>
                  </a:ext>
                </a:extLst>
              </p:cNvPr>
              <p:cNvSpPr txBox="1">
                <a:spLocks noRot="1" noChangeAspect="1" noMove="1" noResize="1" noEditPoints="1" noAdjustHandles="1" noChangeArrowheads="1" noChangeShapeType="1" noTextEdit="1"/>
              </p:cNvSpPr>
              <p:nvPr/>
            </p:nvSpPr>
            <p:spPr>
              <a:xfrm>
                <a:off x="926716" y="2282157"/>
                <a:ext cx="476782" cy="728218"/>
              </a:xfrm>
              <a:prstGeom prst="rect">
                <a:avLst/>
              </a:prstGeom>
              <a:blipFill>
                <a:blip r:embed="rId6"/>
                <a:stretch>
                  <a:fillRect b="-3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DE990B9-29A5-3087-3157-BBD1252A82B5}"/>
                  </a:ext>
                </a:extLst>
              </p:cNvPr>
              <p:cNvSpPr txBox="1"/>
              <p:nvPr/>
            </p:nvSpPr>
            <p:spPr>
              <a:xfrm>
                <a:off x="2571934" y="2282157"/>
                <a:ext cx="476782" cy="728218"/>
              </a:xfrm>
              <a:prstGeom prst="rect">
                <a:avLst/>
              </a:prstGeom>
              <a:noFill/>
            </p:spPr>
            <p:txBody>
              <a:bodyPr wrap="square" lIns="0" tIns="0" rIns="0" bIns="0" rtlCol="0">
                <a:noAutofit/>
              </a:bodyPr>
              <a:lstStyle/>
              <a:p>
                <a:pPr algn="ctr"/>
                <a14:m>
                  <m:oMath xmlns:m="http://schemas.openxmlformats.org/officeDocument/2006/math">
                    <m:f>
                      <m:fPr>
                        <m:ctrlPr>
                          <a:rPr lang="en-AU" sz="4400" b="1" i="1" smtClean="0">
                            <a:effectLst/>
                            <a:latin typeface="Cambria Math" panose="02040503050406030204" pitchFamily="18" charset="0"/>
                          </a:rPr>
                        </m:ctrlPr>
                      </m:fPr>
                      <m:num>
                        <m:r>
                          <a:rPr lang="en-AU" sz="4400" b="1" i="1" smtClean="0">
                            <a:effectLst/>
                            <a:latin typeface="Cambria Math" panose="02040503050406030204" pitchFamily="18" charset="0"/>
                          </a:rPr>
                          <m:t>𝟐</m:t>
                        </m:r>
                      </m:num>
                      <m:den>
                        <m:r>
                          <a:rPr lang="en-AU" sz="4400" b="1" i="1" smtClean="0">
                            <a:effectLst/>
                            <a:latin typeface="Cambria Math" panose="02040503050406030204" pitchFamily="18" charset="0"/>
                            <a:ea typeface="Calibri" panose="020F0502020204030204" pitchFamily="34" charset="0"/>
                            <a:cs typeface="Arial" panose="020B0604020202020204" pitchFamily="34" charset="0"/>
                          </a:rPr>
                          <m:t>𝟓</m:t>
                        </m:r>
                      </m:den>
                    </m:f>
                  </m:oMath>
                </a14:m>
                <a:r>
                  <a:rPr lang="en-AU" sz="3200" b="1"/>
                  <a:t> </a:t>
                </a:r>
              </a:p>
            </p:txBody>
          </p:sp>
        </mc:Choice>
        <mc:Fallback xmlns="">
          <p:sp>
            <p:nvSpPr>
              <p:cNvPr id="16" name="TextBox 15">
                <a:extLst>
                  <a:ext uri="{FF2B5EF4-FFF2-40B4-BE49-F238E27FC236}">
                    <a16:creationId xmlns:a16="http://schemas.microsoft.com/office/drawing/2014/main" id="{3DE990B9-29A5-3087-3157-BBD1252A82B5}"/>
                  </a:ext>
                </a:extLst>
              </p:cNvPr>
              <p:cNvSpPr txBox="1">
                <a:spLocks noRot="1" noChangeAspect="1" noMove="1" noResize="1" noEditPoints="1" noAdjustHandles="1" noChangeArrowheads="1" noChangeShapeType="1" noTextEdit="1"/>
              </p:cNvSpPr>
              <p:nvPr/>
            </p:nvSpPr>
            <p:spPr>
              <a:xfrm>
                <a:off x="2571934" y="2282157"/>
                <a:ext cx="476782" cy="728218"/>
              </a:xfrm>
              <a:prstGeom prst="rect">
                <a:avLst/>
              </a:prstGeom>
              <a:blipFill>
                <a:blip r:embed="rId7"/>
                <a:stretch>
                  <a:fillRect b="-3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DCD5EB3-600E-6F04-1301-42A65E5A4F86}"/>
                  </a:ext>
                </a:extLst>
              </p:cNvPr>
              <p:cNvSpPr txBox="1"/>
              <p:nvPr/>
            </p:nvSpPr>
            <p:spPr>
              <a:xfrm>
                <a:off x="4549857" y="2282157"/>
                <a:ext cx="476782" cy="728218"/>
              </a:xfrm>
              <a:prstGeom prst="rect">
                <a:avLst/>
              </a:prstGeom>
              <a:noFill/>
            </p:spPr>
            <p:txBody>
              <a:bodyPr wrap="square" lIns="0" tIns="0" rIns="0" bIns="0" rtlCol="0">
                <a:noAutofit/>
              </a:bodyPr>
              <a:lstStyle/>
              <a:p>
                <a:pPr algn="ctr"/>
                <a14:m>
                  <m:oMath xmlns:m="http://schemas.openxmlformats.org/officeDocument/2006/math">
                    <m:f>
                      <m:fPr>
                        <m:ctrlPr>
                          <a:rPr lang="en-AU" sz="4400" b="1" i="1" smtClean="0">
                            <a:effectLst/>
                            <a:latin typeface="Cambria Math" panose="02040503050406030204" pitchFamily="18" charset="0"/>
                          </a:rPr>
                        </m:ctrlPr>
                      </m:fPr>
                      <m:num>
                        <m:r>
                          <a:rPr lang="en-AU" sz="4400" b="1" i="1" smtClean="0">
                            <a:effectLst/>
                            <a:latin typeface="Cambria Math" panose="02040503050406030204" pitchFamily="18" charset="0"/>
                          </a:rPr>
                          <m:t>𝟑</m:t>
                        </m:r>
                      </m:num>
                      <m:den>
                        <m:r>
                          <a:rPr lang="en-AU" sz="4400" b="1" i="1" smtClean="0">
                            <a:effectLst/>
                            <a:latin typeface="Cambria Math" panose="02040503050406030204" pitchFamily="18" charset="0"/>
                            <a:ea typeface="Calibri" panose="020F0502020204030204" pitchFamily="34" charset="0"/>
                            <a:cs typeface="Arial" panose="020B0604020202020204" pitchFamily="34" charset="0"/>
                          </a:rPr>
                          <m:t>𝟓</m:t>
                        </m:r>
                      </m:den>
                    </m:f>
                  </m:oMath>
                </a14:m>
                <a:r>
                  <a:rPr lang="en-AU" sz="3200" b="1"/>
                  <a:t> </a:t>
                </a:r>
              </a:p>
            </p:txBody>
          </p:sp>
        </mc:Choice>
        <mc:Fallback xmlns="">
          <p:sp>
            <p:nvSpPr>
              <p:cNvPr id="17" name="TextBox 16">
                <a:extLst>
                  <a:ext uri="{FF2B5EF4-FFF2-40B4-BE49-F238E27FC236}">
                    <a16:creationId xmlns:a16="http://schemas.microsoft.com/office/drawing/2014/main" id="{6DCD5EB3-600E-6F04-1301-42A65E5A4F86}"/>
                  </a:ext>
                </a:extLst>
              </p:cNvPr>
              <p:cNvSpPr txBox="1">
                <a:spLocks noRot="1" noChangeAspect="1" noMove="1" noResize="1" noEditPoints="1" noAdjustHandles="1" noChangeArrowheads="1" noChangeShapeType="1" noTextEdit="1"/>
              </p:cNvSpPr>
              <p:nvPr/>
            </p:nvSpPr>
            <p:spPr>
              <a:xfrm>
                <a:off x="4549857" y="2282157"/>
                <a:ext cx="476782" cy="728218"/>
              </a:xfrm>
              <a:prstGeom prst="rect">
                <a:avLst/>
              </a:prstGeom>
              <a:blipFill>
                <a:blip r:embed="rId8"/>
                <a:stretch>
                  <a:fillRect b="-3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95E89F5-4377-0F3E-1209-BB3BDDA365CD}"/>
                  </a:ext>
                </a:extLst>
              </p:cNvPr>
              <p:cNvSpPr txBox="1"/>
              <p:nvPr/>
            </p:nvSpPr>
            <p:spPr>
              <a:xfrm>
                <a:off x="8232646" y="2400213"/>
                <a:ext cx="476782" cy="728218"/>
              </a:xfrm>
              <a:prstGeom prst="rect">
                <a:avLst/>
              </a:prstGeom>
              <a:noFill/>
            </p:spPr>
            <p:txBody>
              <a:bodyPr wrap="square" lIns="0" tIns="0" rIns="0" bIns="0" rtlCol="0">
                <a:noAutofit/>
              </a:bodyPr>
              <a:lstStyle/>
              <a:p>
                <a:pPr algn="ctr"/>
                <a14:m>
                  <m:oMath xmlns:m="http://schemas.openxmlformats.org/officeDocument/2006/math">
                    <m:f>
                      <m:fPr>
                        <m:ctrlPr>
                          <a:rPr lang="en-AU" sz="4400" b="1" i="1" smtClean="0">
                            <a:effectLst/>
                            <a:latin typeface="Cambria Math" panose="02040503050406030204" pitchFamily="18" charset="0"/>
                          </a:rPr>
                        </m:ctrlPr>
                      </m:fPr>
                      <m:num>
                        <m:r>
                          <a:rPr lang="en-AU" sz="4400" b="1" i="1" smtClean="0">
                            <a:effectLst/>
                            <a:latin typeface="Cambria Math" panose="02040503050406030204" pitchFamily="18" charset="0"/>
                          </a:rPr>
                          <m:t>𝟓</m:t>
                        </m:r>
                      </m:num>
                      <m:den>
                        <m:r>
                          <a:rPr lang="en-AU" sz="4400" b="1" i="1" smtClean="0">
                            <a:effectLst/>
                            <a:latin typeface="Cambria Math" panose="02040503050406030204" pitchFamily="18" charset="0"/>
                            <a:ea typeface="Calibri" panose="020F0502020204030204" pitchFamily="34" charset="0"/>
                            <a:cs typeface="Arial" panose="020B0604020202020204" pitchFamily="34" charset="0"/>
                          </a:rPr>
                          <m:t>𝟓</m:t>
                        </m:r>
                      </m:den>
                    </m:f>
                  </m:oMath>
                </a14:m>
                <a:r>
                  <a:rPr lang="en-AU" sz="3200" b="1"/>
                  <a:t> </a:t>
                </a:r>
              </a:p>
            </p:txBody>
          </p:sp>
        </mc:Choice>
        <mc:Fallback xmlns="">
          <p:sp>
            <p:nvSpPr>
              <p:cNvPr id="18" name="TextBox 17">
                <a:extLst>
                  <a:ext uri="{FF2B5EF4-FFF2-40B4-BE49-F238E27FC236}">
                    <a16:creationId xmlns:a16="http://schemas.microsoft.com/office/drawing/2014/main" id="{195E89F5-4377-0F3E-1209-BB3BDDA365CD}"/>
                  </a:ext>
                </a:extLst>
              </p:cNvPr>
              <p:cNvSpPr txBox="1">
                <a:spLocks noRot="1" noChangeAspect="1" noMove="1" noResize="1" noEditPoints="1" noAdjustHandles="1" noChangeArrowheads="1" noChangeShapeType="1" noTextEdit="1"/>
              </p:cNvSpPr>
              <p:nvPr/>
            </p:nvSpPr>
            <p:spPr>
              <a:xfrm>
                <a:off x="8232646" y="2400213"/>
                <a:ext cx="476782" cy="728218"/>
              </a:xfrm>
              <a:prstGeom prst="rect">
                <a:avLst/>
              </a:prstGeom>
              <a:blipFill>
                <a:blip r:embed="rId9"/>
                <a:stretch>
                  <a:fillRect b="-352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F63B2DE-C298-9E01-C15B-A34242B154B3}"/>
                  </a:ext>
                </a:extLst>
              </p:cNvPr>
              <p:cNvSpPr txBox="1"/>
              <p:nvPr/>
            </p:nvSpPr>
            <p:spPr>
              <a:xfrm>
                <a:off x="6181026" y="2282157"/>
                <a:ext cx="476782" cy="728218"/>
              </a:xfrm>
              <a:prstGeom prst="rect">
                <a:avLst/>
              </a:prstGeom>
              <a:noFill/>
            </p:spPr>
            <p:txBody>
              <a:bodyPr wrap="square" lIns="0" tIns="0" rIns="0" bIns="0" rtlCol="0">
                <a:noAutofit/>
              </a:bodyPr>
              <a:lstStyle/>
              <a:p>
                <a:pPr algn="ctr"/>
                <a14:m>
                  <m:oMath xmlns:m="http://schemas.openxmlformats.org/officeDocument/2006/math">
                    <m:f>
                      <m:fPr>
                        <m:ctrlPr>
                          <a:rPr lang="en-AU" sz="4400" b="1" i="1" smtClean="0">
                            <a:effectLst/>
                            <a:latin typeface="Cambria Math" panose="02040503050406030204" pitchFamily="18" charset="0"/>
                          </a:rPr>
                        </m:ctrlPr>
                      </m:fPr>
                      <m:num>
                        <m:r>
                          <a:rPr lang="en-AU" sz="4400" b="1" i="1" smtClean="0">
                            <a:effectLst/>
                            <a:latin typeface="Cambria Math" panose="02040503050406030204" pitchFamily="18" charset="0"/>
                          </a:rPr>
                          <m:t>𝟒</m:t>
                        </m:r>
                      </m:num>
                      <m:den>
                        <m:r>
                          <a:rPr lang="en-AU" sz="4400" b="1" i="1" smtClean="0">
                            <a:effectLst/>
                            <a:latin typeface="Cambria Math" panose="02040503050406030204" pitchFamily="18" charset="0"/>
                            <a:ea typeface="Calibri" panose="020F0502020204030204" pitchFamily="34" charset="0"/>
                            <a:cs typeface="Arial" panose="020B0604020202020204" pitchFamily="34" charset="0"/>
                          </a:rPr>
                          <m:t>𝟓</m:t>
                        </m:r>
                      </m:den>
                    </m:f>
                  </m:oMath>
                </a14:m>
                <a:r>
                  <a:rPr lang="en-AU" sz="3200" b="1"/>
                  <a:t> </a:t>
                </a:r>
              </a:p>
            </p:txBody>
          </p:sp>
        </mc:Choice>
        <mc:Fallback xmlns="">
          <p:sp>
            <p:nvSpPr>
              <p:cNvPr id="19" name="TextBox 18">
                <a:extLst>
                  <a:ext uri="{FF2B5EF4-FFF2-40B4-BE49-F238E27FC236}">
                    <a16:creationId xmlns:a16="http://schemas.microsoft.com/office/drawing/2014/main" id="{4F63B2DE-C298-9E01-C15B-A34242B154B3}"/>
                  </a:ext>
                </a:extLst>
              </p:cNvPr>
              <p:cNvSpPr txBox="1">
                <a:spLocks noRot="1" noChangeAspect="1" noMove="1" noResize="1" noEditPoints="1" noAdjustHandles="1" noChangeArrowheads="1" noChangeShapeType="1" noTextEdit="1"/>
              </p:cNvSpPr>
              <p:nvPr/>
            </p:nvSpPr>
            <p:spPr>
              <a:xfrm>
                <a:off x="6181026" y="2282157"/>
                <a:ext cx="476782" cy="728218"/>
              </a:xfrm>
              <a:prstGeom prst="rect">
                <a:avLst/>
              </a:prstGeom>
              <a:blipFill>
                <a:blip r:embed="rId10"/>
                <a:stretch>
                  <a:fillRect b="-32500"/>
                </a:stretch>
              </a:blipFill>
            </p:spPr>
            <p:txBody>
              <a:bodyPr/>
              <a:lstStyle/>
              <a:p>
                <a:r>
                  <a:rPr lang="en-US">
                    <a:noFill/>
                  </a:rPr>
                  <a:t> </a:t>
                </a:r>
              </a:p>
            </p:txBody>
          </p:sp>
        </mc:Fallback>
      </mc:AlternateContent>
    </p:spTree>
    <p:extLst>
      <p:ext uri="{BB962C8B-B14F-4D97-AF65-F5344CB8AC3E}">
        <p14:creationId xmlns:p14="http://schemas.microsoft.com/office/powerpoint/2010/main" val="25603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9746C590-5EAE-E428-0D12-C870AC29AF8E}"/>
              </a:ext>
            </a:extLst>
          </p:cNvPr>
          <p:cNvSpPr>
            <a:spLocks noGrp="1"/>
          </p:cNvSpPr>
          <p:nvPr>
            <p:ph type="pic" sz="quarter" idx="21"/>
          </p:nvPr>
        </p:nvSpPr>
        <p:spPr>
          <a:xfrm>
            <a:off x="548907" y="1275500"/>
            <a:ext cx="10865223" cy="3632255"/>
          </a:xfrm>
        </p:spPr>
        <p:txBody>
          <a:bodyPr/>
          <a:lstStyle/>
          <a:p>
            <a:pPr algn="ctr"/>
            <a:r>
              <a:rPr lang="en-US" sz="4400" dirty="0">
                <a:latin typeface="Arial"/>
                <a:cs typeface="Arial"/>
              </a:rPr>
              <a:t>Taylor is a carpenter and needs to calculate </a:t>
            </a:r>
            <a:r>
              <a:rPr lang="en-US" sz="4400" b="1" dirty="0">
                <a:latin typeface="Arial"/>
                <a:cs typeface="Arial"/>
              </a:rPr>
              <a:t>5009 − 3997</a:t>
            </a:r>
            <a:r>
              <a:rPr lang="en-US" sz="4400" dirty="0">
                <a:latin typeface="Arial"/>
                <a:cs typeface="Arial"/>
              </a:rPr>
              <a:t> while working on a house.</a:t>
            </a:r>
          </a:p>
          <a:p>
            <a:pPr algn="ctr"/>
            <a:r>
              <a:rPr lang="en-US" sz="4400" dirty="0">
                <a:latin typeface="Arial"/>
                <a:cs typeface="Arial"/>
              </a:rPr>
              <a:t>How can she </a:t>
            </a:r>
            <a:r>
              <a:rPr lang="en-US" sz="4400" b="1" dirty="0">
                <a:latin typeface="Arial"/>
                <a:cs typeface="Arial"/>
              </a:rPr>
              <a:t>use addition </a:t>
            </a:r>
            <a:r>
              <a:rPr lang="en-US" sz="4400" dirty="0">
                <a:latin typeface="Arial"/>
                <a:cs typeface="Arial"/>
              </a:rPr>
              <a:t>to </a:t>
            </a:r>
            <a:r>
              <a:rPr lang="en-US" sz="4400" b="1" dirty="0">
                <a:latin typeface="Arial"/>
                <a:cs typeface="Arial"/>
              </a:rPr>
              <a:t>solve</a:t>
            </a:r>
            <a:r>
              <a:rPr lang="en-US" sz="4400" dirty="0">
                <a:latin typeface="Arial"/>
                <a:cs typeface="Arial"/>
              </a:rPr>
              <a:t> this?</a:t>
            </a:r>
          </a:p>
          <a:p>
            <a:pPr algn="ctr"/>
            <a:r>
              <a:rPr lang="en-US" sz="4400" dirty="0">
                <a:latin typeface="Arial"/>
                <a:cs typeface="Arial"/>
              </a:rPr>
              <a:t>What is the solution?</a:t>
            </a:r>
            <a:endParaRPr lang="en-US" dirty="0"/>
          </a:p>
        </p:txBody>
      </p:sp>
      <p:pic>
        <p:nvPicPr>
          <p:cNvPr id="4" name="Picture 3" descr="image of a clipboard with a pencil recording short answer responses">
            <a:extLst>
              <a:ext uri="{FF2B5EF4-FFF2-40B4-BE49-F238E27FC236}">
                <a16:creationId xmlns:a16="http://schemas.microsoft.com/office/drawing/2014/main" id="{7DFD27BE-68F7-D289-2C28-ACC03945378F}"/>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(4)</a:t>
            </a:r>
          </a:p>
        </p:txBody>
      </p:sp>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360000" y="1921759"/>
            <a:ext cx="11243038" cy="1507241"/>
          </a:xfrm>
        </p:spPr>
        <p:txBody>
          <a:bodyPr/>
          <a:lstStyle/>
          <a:p>
            <a:pPr algn="ctr"/>
            <a:r>
              <a:rPr lang="en-US" sz="3600" dirty="0">
                <a:latin typeface="Arial"/>
                <a:cs typeface="Arial"/>
              </a:rPr>
              <a:t>How many minutes have </a:t>
            </a:r>
            <a:r>
              <a:rPr lang="en-US" sz="3600" b="1" dirty="0">
                <a:latin typeface="Arial"/>
                <a:cs typeface="Arial"/>
              </a:rPr>
              <a:t>elapsed</a:t>
            </a:r>
            <a:r>
              <a:rPr lang="en-US" sz="3600" dirty="0">
                <a:latin typeface="Arial"/>
                <a:cs typeface="Arial"/>
              </a:rPr>
              <a:t> on the number line?</a:t>
            </a:r>
            <a:endParaRPr lang="en-US" sz="2000"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89697BB4-4FB9-C885-399C-CADFAFEEE3D9}"/>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n example of a blank number line used to calculate elapsed time.&#10;The jumps at the top show +15 minutes and +1 hour. The times at the bottom show 5:45 pm, 6:00 pm, 7:00 pm.">
            <a:extLst>
              <a:ext uri="{FF2B5EF4-FFF2-40B4-BE49-F238E27FC236}">
                <a16:creationId xmlns:a16="http://schemas.microsoft.com/office/drawing/2014/main" id="{E33174DB-4988-E478-F3B3-9F73624F04AC}"/>
              </a:ext>
            </a:extLst>
          </p:cNvPr>
          <p:cNvPicPr>
            <a:picLocks noChangeAspect="1"/>
          </p:cNvPicPr>
          <p:nvPr/>
        </p:nvPicPr>
        <p:blipFill>
          <a:blip r:embed="rId4" cstate="print">
            <a:extLst>
              <a:ext uri="{28A0092B-C50C-407E-A947-70E740481C1C}">
                <a14:useLocalDpi xmlns:a14="http://schemas.microsoft.com/office/drawing/2010/main" val="0"/>
              </a:ext>
            </a:extLst>
          </a:blip>
          <a:srcRect t="23855"/>
          <a:stretch>
            <a:fillRect/>
          </a:stretch>
        </p:blipFill>
        <p:spPr>
          <a:xfrm>
            <a:off x="1213236" y="3429000"/>
            <a:ext cx="9817240" cy="235088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5 – solving problems involving percentages</a:t>
            </a:r>
          </a:p>
        </p:txBody>
      </p:sp>
      <p:sp>
        <p:nvSpPr>
          <p:cNvPr id="7" name="Rectangle 5">
            <a:extLst>
              <a:ext uri="{FF2B5EF4-FFF2-40B4-BE49-F238E27FC236}">
                <a16:creationId xmlns:a16="http://schemas.microsoft.com/office/drawing/2014/main" id="{86B5D8ED-E5D3-3A31-D9A3-E607AB879A3A}"/>
              </a:ext>
            </a:extLst>
          </p:cNvPr>
          <p:cNvSpPr>
            <a:spLocks noChangeArrowheads="1"/>
          </p:cNvSpPr>
          <p:nvPr/>
        </p:nvSpPr>
        <p:spPr bwMode="auto">
          <a:xfrm>
            <a:off x="615462" y="1389579"/>
            <a:ext cx="10961076" cy="1951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ts val="600"/>
              </a:spcAft>
            </a:pPr>
            <a:r>
              <a:rPr kumimoji="0" lang="en-AU" altLang="en-US" sz="2800" b="0" i="0" u="none" strike="noStrike" cap="none" normalizeH="0" baseline="0" dirty="0">
                <a:ln>
                  <a:noFill/>
                </a:ln>
                <a:effectLst/>
                <a:latin typeface="Arial"/>
                <a:ea typeface="Calibri"/>
                <a:cs typeface="Arial"/>
              </a:rPr>
              <a:t>Sophie was given a </a:t>
            </a:r>
            <a:r>
              <a:rPr kumimoji="0" lang="en-AU" altLang="en-US" sz="2800" b="1" i="0" u="none" strike="noStrike" cap="none" normalizeH="0" baseline="0" dirty="0">
                <a:ln>
                  <a:noFill/>
                </a:ln>
                <a:effectLst/>
                <a:latin typeface="Arial"/>
                <a:ea typeface="Calibri"/>
                <a:cs typeface="Arial"/>
              </a:rPr>
              <a:t>10% discount </a:t>
            </a:r>
            <a:r>
              <a:rPr kumimoji="0" lang="en-AU" altLang="en-US" sz="2800" b="0" i="0" u="none" strike="noStrike" cap="none" normalizeH="0" baseline="0" dirty="0">
                <a:ln>
                  <a:noFill/>
                </a:ln>
                <a:effectLst/>
                <a:latin typeface="Arial"/>
                <a:ea typeface="Calibri"/>
                <a:cs typeface="Arial"/>
              </a:rPr>
              <a:t>on the price of a tennis racquet. If the </a:t>
            </a:r>
            <a:r>
              <a:rPr kumimoji="0" lang="en-AU" altLang="en-US" sz="2800" b="1" i="0" u="none" strike="noStrike" cap="none" normalizeH="0" baseline="0" dirty="0">
                <a:ln>
                  <a:noFill/>
                </a:ln>
                <a:effectLst/>
                <a:latin typeface="Arial"/>
                <a:ea typeface="Calibri"/>
                <a:cs typeface="Arial"/>
              </a:rPr>
              <a:t>original price</a:t>
            </a:r>
            <a:r>
              <a:rPr kumimoji="0" lang="en-AU" altLang="en-US" sz="2800" b="0" i="0" u="none" strike="noStrike" cap="none" normalizeH="0" baseline="0" dirty="0">
                <a:ln>
                  <a:noFill/>
                </a:ln>
                <a:effectLst/>
                <a:latin typeface="Arial"/>
                <a:ea typeface="Calibri"/>
                <a:cs typeface="Arial"/>
              </a:rPr>
              <a:t> was $20, how much would Sophie save with a 10% discount?</a:t>
            </a:r>
            <a:endParaRPr lang="en-AU" altLang="en-US" sz="2000" b="0" i="0" u="none" strike="noStrike" cap="none" normalizeH="0" baseline="0" dirty="0">
              <a:ln>
                <a:noFill/>
              </a:ln>
              <a:effectLst/>
              <a:ea typeface="Calibri"/>
              <a:cs typeface="Arial"/>
            </a:endParaRPr>
          </a:p>
        </p:txBody>
      </p:sp>
      <p:pic>
        <p:nvPicPr>
          <p:cNvPr id="5" name="Picture 4" descr="image of a head with cogs turning inside">
            <a:extLst>
              <a:ext uri="{FF2B5EF4-FFF2-40B4-BE49-F238E27FC236}">
                <a16:creationId xmlns:a16="http://schemas.microsoft.com/office/drawing/2014/main" id="{BCAF02A7-5A84-CB69-0FAE-1E0108277AAA}"/>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4" name="Group 3" descr="Tennis racquet with a label attached with $20">
            <a:extLst>
              <a:ext uri="{FF2B5EF4-FFF2-40B4-BE49-F238E27FC236}">
                <a16:creationId xmlns:a16="http://schemas.microsoft.com/office/drawing/2014/main" id="{F52E9EC1-839B-3045-E17E-DA85ACCADEDB}"/>
              </a:ext>
            </a:extLst>
          </p:cNvPr>
          <p:cNvGrpSpPr/>
          <p:nvPr/>
        </p:nvGrpSpPr>
        <p:grpSpPr>
          <a:xfrm>
            <a:off x="6415490" y="3720373"/>
            <a:ext cx="3192885" cy="2574180"/>
            <a:chOff x="6415490" y="3720373"/>
            <a:chExt cx="3192885" cy="2574180"/>
          </a:xfrm>
        </p:grpSpPr>
        <p:grpSp>
          <p:nvGrpSpPr>
            <p:cNvPr id="8" name="Group 7">
              <a:extLst>
                <a:ext uri="{FF2B5EF4-FFF2-40B4-BE49-F238E27FC236}">
                  <a16:creationId xmlns:a16="http://schemas.microsoft.com/office/drawing/2014/main" id="{A4E8272C-BAB9-1FFF-21C5-4E3D232ED446}"/>
                </a:ext>
              </a:extLst>
            </p:cNvPr>
            <p:cNvGrpSpPr/>
            <p:nvPr/>
          </p:nvGrpSpPr>
          <p:grpSpPr>
            <a:xfrm>
              <a:off x="8262312" y="4440146"/>
              <a:ext cx="1346063" cy="1423557"/>
              <a:chOff x="8732458" y="3832036"/>
              <a:chExt cx="1346063" cy="1423557"/>
            </a:xfrm>
          </p:grpSpPr>
          <p:sp>
            <p:nvSpPr>
              <p:cNvPr id="10" name="Freeform 7">
                <a:extLst>
                  <a:ext uri="{FF2B5EF4-FFF2-40B4-BE49-F238E27FC236}">
                    <a16:creationId xmlns:a16="http://schemas.microsoft.com/office/drawing/2014/main" id="{80EC9D9A-E666-CF01-97BA-84EEC3F54E77}"/>
                  </a:ext>
                </a:extLst>
              </p:cNvPr>
              <p:cNvSpPr/>
              <p:nvPr/>
            </p:nvSpPr>
            <p:spPr>
              <a:xfrm rot="13221576">
                <a:off x="8732458" y="3832036"/>
                <a:ext cx="1271033" cy="1423557"/>
              </a:xfrm>
              <a:custGeom>
                <a:avLst/>
                <a:gdLst/>
                <a:ahLst/>
                <a:cxnLst/>
                <a:rect l="l" t="t" r="r" b="b"/>
                <a:pathLst>
                  <a:path w="1694711" h="1898076">
                    <a:moveTo>
                      <a:pt x="0" y="0"/>
                    </a:moveTo>
                    <a:lnTo>
                      <a:pt x="1694711" y="0"/>
                    </a:lnTo>
                    <a:lnTo>
                      <a:pt x="1694711" y="1898076"/>
                    </a:lnTo>
                    <a:lnTo>
                      <a:pt x="0" y="1898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1" name="TextBox 8">
                <a:extLst>
                  <a:ext uri="{FF2B5EF4-FFF2-40B4-BE49-F238E27FC236}">
                    <a16:creationId xmlns:a16="http://schemas.microsoft.com/office/drawing/2014/main" id="{540B752F-A739-6171-CC29-27CBBE37A022}"/>
                  </a:ext>
                </a:extLst>
              </p:cNvPr>
              <p:cNvSpPr txBox="1"/>
              <p:nvPr/>
            </p:nvSpPr>
            <p:spPr>
              <a:xfrm>
                <a:off x="9365843" y="4240854"/>
                <a:ext cx="712678" cy="385427"/>
              </a:xfrm>
              <a:prstGeom prst="rect">
                <a:avLst/>
              </a:prstGeom>
            </p:spPr>
            <p:txBody>
              <a:bodyPr wrap="square" lIns="0" tIns="0" rIns="0" bIns="0" rtlCol="0" anchor="t">
                <a:spAutoFit/>
              </a:bodyPr>
              <a:lstStyle/>
              <a:p>
                <a:pPr algn="ctr">
                  <a:lnSpc>
                    <a:spcPts val="3359"/>
                  </a:lnSpc>
                </a:pPr>
                <a:r>
                  <a:rPr lang="en-US" sz="2000">
                    <a:solidFill>
                      <a:srgbClr val="000000"/>
                    </a:solidFill>
                    <a:latin typeface="Arial" panose="020B0604020202020204" pitchFamily="34" charset="0"/>
                    <a:ea typeface="Schoolbell"/>
                    <a:cs typeface="Arial" panose="020B0604020202020204" pitchFamily="34" charset="0"/>
                    <a:sym typeface="Schoolbell"/>
                  </a:rPr>
                  <a:t>$20</a:t>
                </a:r>
              </a:p>
            </p:txBody>
          </p:sp>
        </p:grpSp>
        <p:sp>
          <p:nvSpPr>
            <p:cNvPr id="9" name="Freeform 2" descr="Tennis racquet with a label attached with $20">
              <a:extLst>
                <a:ext uri="{FF2B5EF4-FFF2-40B4-BE49-F238E27FC236}">
                  <a16:creationId xmlns:a16="http://schemas.microsoft.com/office/drawing/2014/main" id="{2FD41CE2-B820-0F10-251A-F62301926932}"/>
                </a:ext>
              </a:extLst>
            </p:cNvPr>
            <p:cNvSpPr/>
            <p:nvPr/>
          </p:nvSpPr>
          <p:spPr>
            <a:xfrm rot="16694492">
              <a:off x="6640400" y="3495463"/>
              <a:ext cx="2574180" cy="3024000"/>
            </a:xfrm>
            <a:custGeom>
              <a:avLst/>
              <a:gdLst/>
              <a:ahLst/>
              <a:cxnLst/>
              <a:rect l="l" t="t" r="r" b="b"/>
              <a:pathLst>
                <a:path w="2574180" h="3024000">
                  <a:moveTo>
                    <a:pt x="0" y="0"/>
                  </a:moveTo>
                  <a:lnTo>
                    <a:pt x="2574180" y="0"/>
                  </a:lnTo>
                  <a:lnTo>
                    <a:pt x="2574180" y="3024000"/>
                  </a:lnTo>
                  <a:lnTo>
                    <a:pt x="0" y="30240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grpSp>
    </p:spTree>
    <p:extLst>
      <p:ext uri="{BB962C8B-B14F-4D97-AF65-F5344CB8AC3E}">
        <p14:creationId xmlns:p14="http://schemas.microsoft.com/office/powerpoint/2010/main" val="3968120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a:t>True or false </a:t>
            </a:r>
            <a:r>
              <a:rPr lang="en-US">
                <a:solidFill>
                  <a:schemeClr val="bg1"/>
                </a:solidFill>
              </a:rPr>
              <a:t>(1)</a:t>
            </a:r>
          </a:p>
        </p:txBody>
      </p:sp>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303295" y="1279509"/>
            <a:ext cx="11185528" cy="2128068"/>
          </a:xfrm>
        </p:spPr>
        <p:txBody>
          <a:bodyPr vert="horz" lIns="0" tIns="0" rIns="0" bIns="0" rtlCol="0" anchor="t">
            <a:noAutofit/>
          </a:bodyPr>
          <a:lstStyle/>
          <a:p>
            <a:pPr algn="ctr"/>
            <a:r>
              <a:rPr lang="en-US" sz="4000" dirty="0">
                <a:latin typeface="Arial"/>
                <a:cs typeface="Arial"/>
              </a:rPr>
              <a:t>75% of $120 is </a:t>
            </a:r>
            <a:r>
              <a:rPr lang="en-US" sz="4000" b="1" dirty="0">
                <a:latin typeface="Arial"/>
                <a:cs typeface="Arial"/>
              </a:rPr>
              <a:t>greater</a:t>
            </a:r>
            <a:r>
              <a:rPr lang="en-US" sz="4000" dirty="0">
                <a:latin typeface="Arial"/>
                <a:cs typeface="Arial"/>
              </a:rPr>
              <a:t> than 50% of $200, because 75% is a larger </a:t>
            </a:r>
            <a:r>
              <a:rPr lang="en-US" sz="4000" b="1" dirty="0">
                <a:latin typeface="Arial"/>
                <a:cs typeface="Arial"/>
              </a:rPr>
              <a:t>percentage</a:t>
            </a:r>
            <a:r>
              <a:rPr lang="en-US" sz="4000" dirty="0">
                <a:latin typeface="Arial"/>
                <a:cs typeface="Arial"/>
              </a:rPr>
              <a:t>.</a:t>
            </a:r>
            <a:endParaRPr lang="en-US" sz="1600" dirty="0"/>
          </a:p>
        </p:txBody>
      </p:sp>
      <p:sp>
        <p:nvSpPr>
          <p:cNvPr id="4" name="Text Placeholder 11">
            <a:extLst>
              <a:ext uri="{FF2B5EF4-FFF2-40B4-BE49-F238E27FC236}">
                <a16:creationId xmlns:a16="http://schemas.microsoft.com/office/drawing/2014/main" id="{D2DDFA34-F5E2-0F60-D99B-A9A9DBAF8E4D}"/>
              </a:ext>
            </a:extLst>
          </p:cNvPr>
          <p:cNvSpPr txBox="1">
            <a:spLocks/>
          </p:cNvSpPr>
          <p:nvPr/>
        </p:nvSpPr>
        <p:spPr>
          <a:xfrm>
            <a:off x="322422" y="6076973"/>
            <a:ext cx="4625359" cy="54560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6" name="Text Placeholder 6">
            <a:extLst>
              <a:ext uri="{FF2B5EF4-FFF2-40B4-BE49-F238E27FC236}">
                <a16:creationId xmlns:a16="http://schemas.microsoft.com/office/drawing/2014/main" id="{0F92E5A7-6B31-AB53-C955-F26938BA825B}"/>
              </a:ext>
            </a:extLst>
          </p:cNvPr>
          <p:cNvSpPr txBox="1">
            <a:spLocks/>
          </p:cNvSpPr>
          <p:nvPr/>
        </p:nvSpPr>
        <p:spPr>
          <a:xfrm>
            <a:off x="470073" y="5098135"/>
            <a:ext cx="11243037" cy="142357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b="1" dirty="0">
                <a:latin typeface="Arial"/>
                <a:cs typeface="Arial"/>
              </a:rPr>
              <a:t>Communicate</a:t>
            </a:r>
            <a:r>
              <a:rPr lang="en-US" sz="3600" dirty="0">
                <a:latin typeface="Arial"/>
                <a:cs typeface="Arial"/>
              </a:rPr>
              <a:t> your </a:t>
            </a:r>
            <a:r>
              <a:rPr lang="en-US" sz="3600" b="1" dirty="0">
                <a:latin typeface="Arial"/>
                <a:cs typeface="Arial"/>
              </a:rPr>
              <a:t>reasoning</a:t>
            </a:r>
            <a:r>
              <a:rPr lang="en-US" sz="3600" dirty="0">
                <a:latin typeface="Arial"/>
                <a:cs typeface="Arial"/>
              </a:rPr>
              <a:t>. </a:t>
            </a:r>
            <a:endParaRPr lang="en-US" sz="3600" dirty="0"/>
          </a:p>
        </p:txBody>
      </p:sp>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2172982458"/>
              </p:ext>
            </p:extLst>
          </p:nvPr>
        </p:nvGraphicFramePr>
        <p:xfrm>
          <a:off x="2442981" y="3882016"/>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55D61279-F839-6A02-5B10-40DD79748FE7}"/>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sp>
        <p:nvSpPr>
          <p:cNvPr id="11" name="Picture Placeholder 10">
            <a:extLst>
              <a:ext uri="{FF2B5EF4-FFF2-40B4-BE49-F238E27FC236}">
                <a16:creationId xmlns:a16="http://schemas.microsoft.com/office/drawing/2014/main" id="{6AEDAC5B-7D79-7FBF-9542-5724B621995A}"/>
              </a:ext>
            </a:extLst>
          </p:cNvPr>
          <p:cNvSpPr>
            <a:spLocks noGrp="1"/>
          </p:cNvSpPr>
          <p:nvPr>
            <p:ph type="pic" sz="quarter" idx="21"/>
          </p:nvPr>
        </p:nvSpPr>
        <p:spPr>
          <a:xfrm>
            <a:off x="360000" y="1556533"/>
            <a:ext cx="11189376" cy="4168875"/>
          </a:xfrm>
        </p:spPr>
        <p:txBody>
          <a:bodyPr/>
          <a:lstStyle/>
          <a:p>
            <a:pPr algn="ctr"/>
            <a:r>
              <a:rPr lang="en-US" sz="4400" dirty="0">
                <a:latin typeface="Arial"/>
                <a:cs typeface="Arial"/>
              </a:rPr>
              <a:t> </a:t>
            </a:r>
            <a:r>
              <a:rPr lang="en-AU" sz="4400" dirty="0">
                <a:latin typeface="Arial"/>
                <a:cs typeface="Arial"/>
              </a:rPr>
              <a:t>Give 3 examples of when you would measure </a:t>
            </a:r>
            <a:r>
              <a:rPr lang="en-AU" sz="4400" b="1" dirty="0">
                <a:latin typeface="Arial"/>
                <a:cs typeface="Arial"/>
              </a:rPr>
              <a:t>volume</a:t>
            </a:r>
            <a:r>
              <a:rPr lang="en-AU" sz="4400" dirty="0">
                <a:latin typeface="Arial"/>
                <a:cs typeface="Arial"/>
              </a:rPr>
              <a:t> in </a:t>
            </a:r>
            <a:r>
              <a:rPr lang="en-AU" sz="4400" b="1" dirty="0">
                <a:latin typeface="Arial"/>
                <a:cs typeface="Arial"/>
              </a:rPr>
              <a:t>cubic metres</a:t>
            </a:r>
            <a:r>
              <a:rPr lang="en-AU" sz="4400" dirty="0">
                <a:latin typeface="Arial"/>
                <a:cs typeface="Arial"/>
              </a:rPr>
              <a:t>.</a:t>
            </a:r>
            <a:endParaRPr lang="en-US" sz="4400" dirty="0"/>
          </a:p>
          <a:p>
            <a:pPr algn="ct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FC89052-219D-2803-0123-F3BA24E9962C}"/>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sp>
        <p:nvSpPr>
          <p:cNvPr id="11" name="Picture Placeholder 10">
            <a:extLst>
              <a:ext uri="{FF2B5EF4-FFF2-40B4-BE49-F238E27FC236}">
                <a16:creationId xmlns:a16="http://schemas.microsoft.com/office/drawing/2014/main" id="{80B7212B-2801-5D27-0B76-52A657270CAF}"/>
              </a:ext>
            </a:extLst>
          </p:cNvPr>
          <p:cNvSpPr>
            <a:spLocks noGrp="1"/>
          </p:cNvSpPr>
          <p:nvPr>
            <p:ph type="pic" sz="quarter" idx="21"/>
          </p:nvPr>
        </p:nvSpPr>
        <p:spPr>
          <a:xfrm>
            <a:off x="360001" y="1597517"/>
            <a:ext cx="11243037" cy="1573682"/>
          </a:xfrm>
        </p:spPr>
        <p:txBody>
          <a:bodyPr/>
          <a:lstStyle/>
          <a:p>
            <a:pPr algn="ctr"/>
            <a:r>
              <a:rPr lang="en-AU" sz="3200" dirty="0">
                <a:latin typeface="Arial"/>
                <a:cs typeface="Arial"/>
              </a:rPr>
              <a:t>Lucas has 8 books, which is </a:t>
            </a:r>
            <a:r>
              <a:rPr lang="en-AU" sz="3200" b="1" dirty="0">
                <a:latin typeface="Arial"/>
                <a:cs typeface="Arial"/>
              </a:rPr>
              <a:t>2-fifths </a:t>
            </a:r>
            <a:r>
              <a:rPr lang="en-AU" sz="3200" dirty="0">
                <a:latin typeface="Arial"/>
                <a:cs typeface="Arial"/>
              </a:rPr>
              <a:t>(  ) the number of books Ayesha has. </a:t>
            </a:r>
            <a:r>
              <a:rPr lang="en-AU" sz="3200" b="1" dirty="0">
                <a:latin typeface="Arial"/>
                <a:cs typeface="Arial"/>
              </a:rPr>
              <a:t>How many </a:t>
            </a:r>
            <a:r>
              <a:rPr lang="en-AU" sz="3200" dirty="0">
                <a:latin typeface="Arial"/>
                <a:cs typeface="Arial"/>
              </a:rPr>
              <a:t>books does Ayesha have?</a:t>
            </a:r>
            <a:endParaRPr lang="en-US" sz="4400" dirty="0"/>
          </a:p>
        </p:txBody>
      </p:sp>
      <p:pic>
        <p:nvPicPr>
          <p:cNvPr id="4" name="Picture 3" descr="image of a clipboard with a pencil recording short answer responses">
            <a:extLst>
              <a:ext uri="{FF2B5EF4-FFF2-40B4-BE49-F238E27FC236}">
                <a16:creationId xmlns:a16="http://schemas.microsoft.com/office/drawing/2014/main" id="{A5C75FC3-3580-0C1D-8090-EC44658DAC9E}"/>
              </a:ext>
            </a:extLst>
          </p:cNvPr>
          <p:cNvPicPr>
            <a:picLocks noChangeAspect="1"/>
          </p:cNvPicPr>
          <p:nvPr/>
        </p:nvPicPr>
        <p:blipFill>
          <a:blip r:embed="rId3"/>
          <a:stretch>
            <a:fillRect/>
          </a:stretch>
        </p:blipFill>
        <p:spPr>
          <a:xfrm>
            <a:off x="11030476" y="268723"/>
            <a:ext cx="915500" cy="9155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6F8F28B-E4F3-28E5-E585-D0BF1CFBBA7A}"/>
                  </a:ext>
                </a:extLst>
              </p:cNvPr>
              <p:cNvSpPr txBox="1"/>
              <p:nvPr/>
            </p:nvSpPr>
            <p:spPr>
              <a:xfrm>
                <a:off x="7205823" y="1670420"/>
                <a:ext cx="419098" cy="1070038"/>
              </a:xfrm>
              <a:prstGeom prst="rect">
                <a:avLst/>
              </a:prstGeom>
              <a:noFill/>
            </p:spPr>
            <p:txBody>
              <a:bodyPr wrap="square" lIns="0" tIns="0" rIns="0" bIns="0" rtlCol="0">
                <a:noAutofit/>
              </a:bodyPr>
              <a:lstStyle/>
              <a:p>
                <a:pPr algn="ctr"/>
                <a14:m>
                  <m:oMath xmlns:m="http://schemas.openxmlformats.org/officeDocument/2006/math">
                    <m:f>
                      <m:fPr>
                        <m:ctrlPr>
                          <a:rPr lang="en-AU" sz="2800" b="1" i="1" smtClean="0">
                            <a:effectLst/>
                            <a:latin typeface="Cambria Math" panose="02040503050406030204" pitchFamily="18" charset="0"/>
                          </a:rPr>
                        </m:ctrlPr>
                      </m:fPr>
                      <m:num>
                        <m:r>
                          <a:rPr lang="en-AU" sz="2800" b="1" i="1" smtClean="0">
                            <a:effectLst/>
                            <a:latin typeface="Cambria Math" panose="02040503050406030204" pitchFamily="18" charset="0"/>
                          </a:rPr>
                          <m:t>𝟐</m:t>
                        </m:r>
                      </m:num>
                      <m:den>
                        <m:r>
                          <a:rPr lang="en-AU" sz="2800" b="1" i="1" smtClean="0">
                            <a:effectLst/>
                            <a:latin typeface="Cambria Math" panose="02040503050406030204" pitchFamily="18" charset="0"/>
                            <a:ea typeface="Calibri" panose="020F0502020204030204" pitchFamily="34" charset="0"/>
                            <a:cs typeface="Arial" panose="020B0604020202020204" pitchFamily="34" charset="0"/>
                          </a:rPr>
                          <m:t>𝟓</m:t>
                        </m:r>
                      </m:den>
                    </m:f>
                  </m:oMath>
                </a14:m>
                <a:r>
                  <a:rPr lang="en-AU" sz="3200" b="1" dirty="0"/>
                  <a:t> </a:t>
                </a:r>
              </a:p>
            </p:txBody>
          </p:sp>
        </mc:Choice>
        <mc:Fallback xmlns="">
          <p:sp>
            <p:nvSpPr>
              <p:cNvPr id="5" name="TextBox 4">
                <a:extLst>
                  <a:ext uri="{FF2B5EF4-FFF2-40B4-BE49-F238E27FC236}">
                    <a16:creationId xmlns:a16="http://schemas.microsoft.com/office/drawing/2014/main" id="{76F8F28B-E4F3-28E5-E585-D0BF1CFBBA7A}"/>
                  </a:ext>
                </a:extLst>
              </p:cNvPr>
              <p:cNvSpPr txBox="1">
                <a:spLocks noRot="1" noChangeAspect="1" noMove="1" noResize="1" noEditPoints="1" noAdjustHandles="1" noChangeArrowheads="1" noChangeShapeType="1" noTextEdit="1"/>
              </p:cNvSpPr>
              <p:nvPr/>
            </p:nvSpPr>
            <p:spPr>
              <a:xfrm>
                <a:off x="7205823" y="1670420"/>
                <a:ext cx="419098" cy="1070038"/>
              </a:xfrm>
              <a:prstGeom prst="rect">
                <a:avLst/>
              </a:prstGeom>
              <a:blipFill>
                <a:blip r:embed="rId4"/>
                <a:stretch>
                  <a:fillRect/>
                </a:stretch>
              </a:blipFill>
            </p:spPr>
            <p:txBody>
              <a:bodyPr/>
              <a:lstStyle/>
              <a:p>
                <a:r>
                  <a:rPr lang="en-AU">
                    <a:noFill/>
                  </a:rPr>
                  <a:t> </a:t>
                </a:r>
              </a:p>
            </p:txBody>
          </p:sp>
        </mc:Fallback>
      </mc:AlternateContent>
      <p:grpSp>
        <p:nvGrpSpPr>
          <p:cNvPr id="9" name="Group 22" descr="2 bar models. The first bar model has 5 equal parts and is light blue. It represents 5 fifths. The second bar model has only 2 of the five parts of the first bar model and is dark blue. It represents 2 fifths.">
            <a:extLst>
              <a:ext uri="{FF2B5EF4-FFF2-40B4-BE49-F238E27FC236}">
                <a16:creationId xmlns:a16="http://schemas.microsoft.com/office/drawing/2014/main" id="{703C4021-99B6-7800-EED7-C47266FB7561}"/>
              </a:ext>
            </a:extLst>
          </p:cNvPr>
          <p:cNvGrpSpPr/>
          <p:nvPr/>
        </p:nvGrpSpPr>
        <p:grpSpPr>
          <a:xfrm>
            <a:off x="2646953" y="3725271"/>
            <a:ext cx="1724523" cy="1228166"/>
            <a:chOff x="0" y="0"/>
            <a:chExt cx="618030" cy="440147"/>
          </a:xfrm>
        </p:grpSpPr>
        <p:sp>
          <p:nvSpPr>
            <p:cNvPr id="10" name="Freeform 23">
              <a:extLst>
                <a:ext uri="{FF2B5EF4-FFF2-40B4-BE49-F238E27FC236}">
                  <a16:creationId xmlns:a16="http://schemas.microsoft.com/office/drawing/2014/main" id="{0D3E690A-FF74-0264-61BA-95B4A078D460}"/>
                </a:ext>
              </a:extLst>
            </p:cNvPr>
            <p:cNvSpPr/>
            <p:nvPr/>
          </p:nvSpPr>
          <p:spPr>
            <a:xfrm>
              <a:off x="0" y="0"/>
              <a:ext cx="618030" cy="440147"/>
            </a:xfrm>
            <a:custGeom>
              <a:avLst/>
              <a:gdLst/>
              <a:ahLst/>
              <a:cxnLst/>
              <a:rect l="l" t="t" r="r" b="b"/>
              <a:pathLst>
                <a:path w="618030" h="440147">
                  <a:moveTo>
                    <a:pt x="0" y="0"/>
                  </a:moveTo>
                  <a:lnTo>
                    <a:pt x="618030" y="0"/>
                  </a:lnTo>
                  <a:lnTo>
                    <a:pt x="618030" y="440147"/>
                  </a:lnTo>
                  <a:lnTo>
                    <a:pt x="0" y="440147"/>
                  </a:lnTo>
                  <a:close/>
                </a:path>
              </a:pathLst>
            </a:custGeom>
            <a:solidFill>
              <a:srgbClr val="9BF6FF"/>
            </a:solidFill>
            <a:ln w="38100" cap="sq">
              <a:solidFill>
                <a:srgbClr val="000000"/>
              </a:solidFill>
              <a:prstDash val="solid"/>
              <a:miter/>
            </a:ln>
          </p:spPr>
          <p:txBody>
            <a:bodyPr/>
            <a:lstStyle/>
            <a:p>
              <a:endParaRPr lang="en-AU"/>
            </a:p>
          </p:txBody>
        </p:sp>
        <p:sp>
          <p:nvSpPr>
            <p:cNvPr id="12" name="TextBox 24">
              <a:extLst>
                <a:ext uri="{FF2B5EF4-FFF2-40B4-BE49-F238E27FC236}">
                  <a16:creationId xmlns:a16="http://schemas.microsoft.com/office/drawing/2014/main" id="{25B711F6-6A66-E3B3-6E59-668944028FE2}"/>
                </a:ext>
              </a:extLst>
            </p:cNvPr>
            <p:cNvSpPr txBox="1"/>
            <p:nvPr/>
          </p:nvSpPr>
          <p:spPr>
            <a:xfrm>
              <a:off x="0" y="-123825"/>
              <a:ext cx="618030" cy="563972"/>
            </a:xfrm>
            <a:prstGeom prst="rect">
              <a:avLst/>
            </a:prstGeom>
          </p:spPr>
          <p:txBody>
            <a:bodyPr lIns="50800" tIns="50800" rIns="50800" bIns="50800" rtlCol="0" anchor="ctr"/>
            <a:lstStyle/>
            <a:p>
              <a:pPr algn="ctr">
                <a:lnSpc>
                  <a:spcPts val="8959"/>
                </a:lnSpc>
              </a:pPr>
              <a:endParaRPr/>
            </a:p>
          </p:txBody>
        </p:sp>
      </p:grpSp>
      <p:grpSp>
        <p:nvGrpSpPr>
          <p:cNvPr id="13" name="Group 25" descr="2 bar models. The first bar model has 5 equal parts and is light blue. It represents 5 fifths. The second bar model has only 2 of the five parts of the first bar model and is dark blue. It represents 2 fifths.">
            <a:extLst>
              <a:ext uri="{FF2B5EF4-FFF2-40B4-BE49-F238E27FC236}">
                <a16:creationId xmlns:a16="http://schemas.microsoft.com/office/drawing/2014/main" id="{8ED5DE3F-61BA-FC57-A97C-55E4B8D2D060}"/>
              </a:ext>
            </a:extLst>
          </p:cNvPr>
          <p:cNvGrpSpPr/>
          <p:nvPr/>
        </p:nvGrpSpPr>
        <p:grpSpPr>
          <a:xfrm>
            <a:off x="4371477" y="3725271"/>
            <a:ext cx="1724523" cy="1228166"/>
            <a:chOff x="0" y="0"/>
            <a:chExt cx="618030" cy="440147"/>
          </a:xfrm>
        </p:grpSpPr>
        <p:sp>
          <p:nvSpPr>
            <p:cNvPr id="14" name="Freeform 26">
              <a:extLst>
                <a:ext uri="{FF2B5EF4-FFF2-40B4-BE49-F238E27FC236}">
                  <a16:creationId xmlns:a16="http://schemas.microsoft.com/office/drawing/2014/main" id="{9A43E198-6FCC-6C7F-DFD2-13BBF5113035}"/>
                </a:ext>
              </a:extLst>
            </p:cNvPr>
            <p:cNvSpPr/>
            <p:nvPr/>
          </p:nvSpPr>
          <p:spPr>
            <a:xfrm>
              <a:off x="0" y="0"/>
              <a:ext cx="618030" cy="440147"/>
            </a:xfrm>
            <a:custGeom>
              <a:avLst/>
              <a:gdLst/>
              <a:ahLst/>
              <a:cxnLst/>
              <a:rect l="l" t="t" r="r" b="b"/>
              <a:pathLst>
                <a:path w="618030" h="440147">
                  <a:moveTo>
                    <a:pt x="0" y="0"/>
                  </a:moveTo>
                  <a:lnTo>
                    <a:pt x="618030" y="0"/>
                  </a:lnTo>
                  <a:lnTo>
                    <a:pt x="618030" y="440147"/>
                  </a:lnTo>
                  <a:lnTo>
                    <a:pt x="0" y="440147"/>
                  </a:lnTo>
                  <a:close/>
                </a:path>
              </a:pathLst>
            </a:custGeom>
            <a:solidFill>
              <a:srgbClr val="9BF6FF"/>
            </a:solidFill>
            <a:ln w="38100" cap="sq">
              <a:solidFill>
                <a:srgbClr val="000000"/>
              </a:solidFill>
              <a:prstDash val="solid"/>
              <a:miter/>
            </a:ln>
          </p:spPr>
          <p:txBody>
            <a:bodyPr/>
            <a:lstStyle/>
            <a:p>
              <a:endParaRPr lang="en-AU"/>
            </a:p>
          </p:txBody>
        </p:sp>
        <p:sp>
          <p:nvSpPr>
            <p:cNvPr id="15" name="TextBox 27">
              <a:extLst>
                <a:ext uri="{FF2B5EF4-FFF2-40B4-BE49-F238E27FC236}">
                  <a16:creationId xmlns:a16="http://schemas.microsoft.com/office/drawing/2014/main" id="{C942E35A-F3BB-0425-C6EA-5AE429F9A120}"/>
                </a:ext>
              </a:extLst>
            </p:cNvPr>
            <p:cNvSpPr txBox="1"/>
            <p:nvPr/>
          </p:nvSpPr>
          <p:spPr>
            <a:xfrm>
              <a:off x="0" y="-123825"/>
              <a:ext cx="618030" cy="563972"/>
            </a:xfrm>
            <a:prstGeom prst="rect">
              <a:avLst/>
            </a:prstGeom>
          </p:spPr>
          <p:txBody>
            <a:bodyPr lIns="50800" tIns="50800" rIns="50800" bIns="50800" rtlCol="0" anchor="ctr"/>
            <a:lstStyle/>
            <a:p>
              <a:pPr algn="ctr">
                <a:lnSpc>
                  <a:spcPts val="8959"/>
                </a:lnSpc>
              </a:pPr>
              <a:endParaRPr/>
            </a:p>
          </p:txBody>
        </p:sp>
      </p:grpSp>
      <p:grpSp>
        <p:nvGrpSpPr>
          <p:cNvPr id="16" name="Group 28" descr="2 bar models. The first bar model has 5 equal parts and is light blue. It represents 5 fifths. The second bar model has only 2 of the five parts of the first bar model and is dark blue. It represents 2 fifths.">
            <a:extLst>
              <a:ext uri="{FF2B5EF4-FFF2-40B4-BE49-F238E27FC236}">
                <a16:creationId xmlns:a16="http://schemas.microsoft.com/office/drawing/2014/main" id="{00260B95-15C4-80B1-8E0A-15B5349C913B}"/>
              </a:ext>
            </a:extLst>
          </p:cNvPr>
          <p:cNvGrpSpPr/>
          <p:nvPr/>
        </p:nvGrpSpPr>
        <p:grpSpPr>
          <a:xfrm>
            <a:off x="6096000" y="3725271"/>
            <a:ext cx="1724523" cy="1228166"/>
            <a:chOff x="0" y="0"/>
            <a:chExt cx="618030" cy="440147"/>
          </a:xfrm>
        </p:grpSpPr>
        <p:sp>
          <p:nvSpPr>
            <p:cNvPr id="17" name="Freeform 29">
              <a:extLst>
                <a:ext uri="{FF2B5EF4-FFF2-40B4-BE49-F238E27FC236}">
                  <a16:creationId xmlns:a16="http://schemas.microsoft.com/office/drawing/2014/main" id="{283B93E5-47C7-6A43-61F3-C9573207B05A}"/>
                </a:ext>
              </a:extLst>
            </p:cNvPr>
            <p:cNvSpPr/>
            <p:nvPr/>
          </p:nvSpPr>
          <p:spPr>
            <a:xfrm>
              <a:off x="0" y="0"/>
              <a:ext cx="618030" cy="440147"/>
            </a:xfrm>
            <a:custGeom>
              <a:avLst/>
              <a:gdLst/>
              <a:ahLst/>
              <a:cxnLst/>
              <a:rect l="l" t="t" r="r" b="b"/>
              <a:pathLst>
                <a:path w="618030" h="440147">
                  <a:moveTo>
                    <a:pt x="0" y="0"/>
                  </a:moveTo>
                  <a:lnTo>
                    <a:pt x="618030" y="0"/>
                  </a:lnTo>
                  <a:lnTo>
                    <a:pt x="618030" y="440147"/>
                  </a:lnTo>
                  <a:lnTo>
                    <a:pt x="0" y="440147"/>
                  </a:lnTo>
                  <a:close/>
                </a:path>
              </a:pathLst>
            </a:custGeom>
            <a:solidFill>
              <a:srgbClr val="9BF6FF"/>
            </a:solidFill>
            <a:ln w="38100" cap="sq">
              <a:solidFill>
                <a:srgbClr val="000000"/>
              </a:solidFill>
              <a:prstDash val="solid"/>
              <a:miter/>
            </a:ln>
          </p:spPr>
          <p:txBody>
            <a:bodyPr/>
            <a:lstStyle/>
            <a:p>
              <a:endParaRPr lang="en-AU"/>
            </a:p>
          </p:txBody>
        </p:sp>
        <p:sp>
          <p:nvSpPr>
            <p:cNvPr id="18" name="TextBox 30">
              <a:extLst>
                <a:ext uri="{FF2B5EF4-FFF2-40B4-BE49-F238E27FC236}">
                  <a16:creationId xmlns:a16="http://schemas.microsoft.com/office/drawing/2014/main" id="{79BB2650-4990-D5ED-C266-2A4B44725D3A}"/>
                </a:ext>
              </a:extLst>
            </p:cNvPr>
            <p:cNvSpPr txBox="1"/>
            <p:nvPr/>
          </p:nvSpPr>
          <p:spPr>
            <a:xfrm>
              <a:off x="0" y="-123825"/>
              <a:ext cx="618030" cy="563972"/>
            </a:xfrm>
            <a:prstGeom prst="rect">
              <a:avLst/>
            </a:prstGeom>
          </p:spPr>
          <p:txBody>
            <a:bodyPr lIns="50800" tIns="50800" rIns="50800" bIns="50800" rtlCol="0" anchor="ctr"/>
            <a:lstStyle/>
            <a:p>
              <a:pPr algn="ctr">
                <a:lnSpc>
                  <a:spcPts val="8959"/>
                </a:lnSpc>
              </a:pPr>
              <a:endParaRPr/>
            </a:p>
          </p:txBody>
        </p:sp>
      </p:grpSp>
      <p:grpSp>
        <p:nvGrpSpPr>
          <p:cNvPr id="19" name="Group 31" descr="2 bar models. The first bar model has 5 equal parts and is light blue. It represents 5 fifths. The second bar model has only 2 of the five parts of the first bar model and is dark blue. It represents 2 fifths.">
            <a:extLst>
              <a:ext uri="{FF2B5EF4-FFF2-40B4-BE49-F238E27FC236}">
                <a16:creationId xmlns:a16="http://schemas.microsoft.com/office/drawing/2014/main" id="{5A3BBCD8-1928-B2D1-951F-A49038FC617D}"/>
              </a:ext>
            </a:extLst>
          </p:cNvPr>
          <p:cNvGrpSpPr/>
          <p:nvPr/>
        </p:nvGrpSpPr>
        <p:grpSpPr>
          <a:xfrm>
            <a:off x="7820523" y="3725271"/>
            <a:ext cx="1724523" cy="1228166"/>
            <a:chOff x="0" y="0"/>
            <a:chExt cx="618030" cy="440147"/>
          </a:xfrm>
        </p:grpSpPr>
        <p:sp>
          <p:nvSpPr>
            <p:cNvPr id="20" name="Freeform 32">
              <a:extLst>
                <a:ext uri="{FF2B5EF4-FFF2-40B4-BE49-F238E27FC236}">
                  <a16:creationId xmlns:a16="http://schemas.microsoft.com/office/drawing/2014/main" id="{B6634E80-B75A-FFD6-4F91-ED172D2BE459}"/>
                </a:ext>
              </a:extLst>
            </p:cNvPr>
            <p:cNvSpPr/>
            <p:nvPr/>
          </p:nvSpPr>
          <p:spPr>
            <a:xfrm>
              <a:off x="0" y="0"/>
              <a:ext cx="618030" cy="440147"/>
            </a:xfrm>
            <a:custGeom>
              <a:avLst/>
              <a:gdLst/>
              <a:ahLst/>
              <a:cxnLst/>
              <a:rect l="l" t="t" r="r" b="b"/>
              <a:pathLst>
                <a:path w="618030" h="440147">
                  <a:moveTo>
                    <a:pt x="0" y="0"/>
                  </a:moveTo>
                  <a:lnTo>
                    <a:pt x="618030" y="0"/>
                  </a:lnTo>
                  <a:lnTo>
                    <a:pt x="618030" y="440147"/>
                  </a:lnTo>
                  <a:lnTo>
                    <a:pt x="0" y="440147"/>
                  </a:lnTo>
                  <a:close/>
                </a:path>
              </a:pathLst>
            </a:custGeom>
            <a:solidFill>
              <a:srgbClr val="9BF6FF"/>
            </a:solidFill>
            <a:ln w="38100" cap="sq">
              <a:solidFill>
                <a:srgbClr val="000000"/>
              </a:solidFill>
              <a:prstDash val="solid"/>
              <a:miter/>
            </a:ln>
          </p:spPr>
          <p:txBody>
            <a:bodyPr/>
            <a:lstStyle/>
            <a:p>
              <a:endParaRPr lang="en-AU"/>
            </a:p>
          </p:txBody>
        </p:sp>
        <p:sp>
          <p:nvSpPr>
            <p:cNvPr id="21" name="TextBox 33">
              <a:extLst>
                <a:ext uri="{FF2B5EF4-FFF2-40B4-BE49-F238E27FC236}">
                  <a16:creationId xmlns:a16="http://schemas.microsoft.com/office/drawing/2014/main" id="{624265E1-6F85-7F33-08CB-F2EB283CC88B}"/>
                </a:ext>
              </a:extLst>
            </p:cNvPr>
            <p:cNvSpPr txBox="1"/>
            <p:nvPr/>
          </p:nvSpPr>
          <p:spPr>
            <a:xfrm>
              <a:off x="0" y="-123825"/>
              <a:ext cx="618030" cy="563972"/>
            </a:xfrm>
            <a:prstGeom prst="rect">
              <a:avLst/>
            </a:prstGeom>
          </p:spPr>
          <p:txBody>
            <a:bodyPr lIns="50800" tIns="50800" rIns="50800" bIns="50800" rtlCol="0" anchor="ctr"/>
            <a:lstStyle/>
            <a:p>
              <a:pPr algn="ctr">
                <a:lnSpc>
                  <a:spcPts val="8959"/>
                </a:lnSpc>
              </a:pPr>
              <a:endParaRPr/>
            </a:p>
          </p:txBody>
        </p:sp>
      </p:grpSp>
      <p:grpSp>
        <p:nvGrpSpPr>
          <p:cNvPr id="22" name="Group 37" descr="2 bar models. The first bar model has 5 equal parts and is light blue. It represents 5 fifths. The second bar model has only 2 of the five parts of the first bar model and is dark blue. It represents 2 fifths.">
            <a:extLst>
              <a:ext uri="{FF2B5EF4-FFF2-40B4-BE49-F238E27FC236}">
                <a16:creationId xmlns:a16="http://schemas.microsoft.com/office/drawing/2014/main" id="{F0464D17-7C40-19D3-F1EC-46514F85FD32}"/>
              </a:ext>
            </a:extLst>
          </p:cNvPr>
          <p:cNvGrpSpPr/>
          <p:nvPr/>
        </p:nvGrpSpPr>
        <p:grpSpPr>
          <a:xfrm>
            <a:off x="2643542" y="5047671"/>
            <a:ext cx="1724523" cy="1228166"/>
            <a:chOff x="0" y="0"/>
            <a:chExt cx="618030" cy="440147"/>
          </a:xfrm>
        </p:grpSpPr>
        <p:sp>
          <p:nvSpPr>
            <p:cNvPr id="23" name="Freeform 38">
              <a:extLst>
                <a:ext uri="{FF2B5EF4-FFF2-40B4-BE49-F238E27FC236}">
                  <a16:creationId xmlns:a16="http://schemas.microsoft.com/office/drawing/2014/main" id="{5E3E9BAB-13EA-C791-5FCF-5243B2B509EC}"/>
                </a:ext>
              </a:extLst>
            </p:cNvPr>
            <p:cNvSpPr/>
            <p:nvPr/>
          </p:nvSpPr>
          <p:spPr>
            <a:xfrm>
              <a:off x="0" y="0"/>
              <a:ext cx="618030" cy="440147"/>
            </a:xfrm>
            <a:custGeom>
              <a:avLst/>
              <a:gdLst/>
              <a:ahLst/>
              <a:cxnLst/>
              <a:rect l="l" t="t" r="r" b="b"/>
              <a:pathLst>
                <a:path w="618030" h="440147">
                  <a:moveTo>
                    <a:pt x="0" y="0"/>
                  </a:moveTo>
                  <a:lnTo>
                    <a:pt x="618030" y="0"/>
                  </a:lnTo>
                  <a:lnTo>
                    <a:pt x="618030" y="440147"/>
                  </a:lnTo>
                  <a:lnTo>
                    <a:pt x="0" y="440147"/>
                  </a:lnTo>
                  <a:close/>
                </a:path>
              </a:pathLst>
            </a:custGeom>
            <a:solidFill>
              <a:srgbClr val="38B6FF"/>
            </a:solidFill>
            <a:ln w="38100" cap="sq">
              <a:solidFill>
                <a:srgbClr val="000000"/>
              </a:solidFill>
              <a:prstDash val="solid"/>
              <a:miter/>
            </a:ln>
          </p:spPr>
          <p:txBody>
            <a:bodyPr/>
            <a:lstStyle/>
            <a:p>
              <a:endParaRPr lang="en-AU"/>
            </a:p>
          </p:txBody>
        </p:sp>
        <p:sp>
          <p:nvSpPr>
            <p:cNvPr id="24" name="TextBox 39">
              <a:extLst>
                <a:ext uri="{FF2B5EF4-FFF2-40B4-BE49-F238E27FC236}">
                  <a16:creationId xmlns:a16="http://schemas.microsoft.com/office/drawing/2014/main" id="{F733092A-E66F-8077-044B-65E9589F7DE9}"/>
                </a:ext>
              </a:extLst>
            </p:cNvPr>
            <p:cNvSpPr txBox="1"/>
            <p:nvPr/>
          </p:nvSpPr>
          <p:spPr>
            <a:xfrm>
              <a:off x="0" y="-123825"/>
              <a:ext cx="618030" cy="563972"/>
            </a:xfrm>
            <a:prstGeom prst="rect">
              <a:avLst/>
            </a:prstGeom>
          </p:spPr>
          <p:txBody>
            <a:bodyPr lIns="50800" tIns="50800" rIns="50800" bIns="50800" rtlCol="0" anchor="ctr"/>
            <a:lstStyle/>
            <a:p>
              <a:pPr algn="ctr">
                <a:lnSpc>
                  <a:spcPts val="8959"/>
                </a:lnSpc>
              </a:pPr>
              <a:endParaRPr/>
            </a:p>
          </p:txBody>
        </p:sp>
      </p:grpSp>
      <p:sp>
        <p:nvSpPr>
          <p:cNvPr id="26" name="TextBox 25">
            <a:extLst>
              <a:ext uri="{FF2B5EF4-FFF2-40B4-BE49-F238E27FC236}">
                <a16:creationId xmlns:a16="http://schemas.microsoft.com/office/drawing/2014/main" id="{AE553576-E501-AFCD-94AE-A5C003A24B1F}"/>
              </a:ext>
            </a:extLst>
          </p:cNvPr>
          <p:cNvSpPr txBox="1"/>
          <p:nvPr/>
        </p:nvSpPr>
        <p:spPr>
          <a:xfrm>
            <a:off x="685334" y="4076274"/>
            <a:ext cx="1882588" cy="1754326"/>
          </a:xfrm>
          <a:prstGeom prst="rect">
            <a:avLst/>
          </a:prstGeom>
          <a:noFill/>
        </p:spPr>
        <p:txBody>
          <a:bodyPr wrap="square">
            <a:spAutoFit/>
          </a:bodyPr>
          <a:lstStyle/>
          <a:p>
            <a:r>
              <a:rPr lang="en-AU" sz="3600">
                <a:latin typeface="Arial"/>
                <a:cs typeface="Arial"/>
              </a:rPr>
              <a:t>Ayesha</a:t>
            </a:r>
          </a:p>
          <a:p>
            <a:endParaRPr lang="en-AU" sz="3600">
              <a:latin typeface="Arial"/>
              <a:cs typeface="Arial"/>
            </a:endParaRPr>
          </a:p>
          <a:p>
            <a:r>
              <a:rPr lang="en-AU" sz="3600">
                <a:latin typeface="Arial"/>
                <a:cs typeface="Arial"/>
              </a:rPr>
              <a:t>Lucas</a:t>
            </a:r>
            <a:endParaRPr lang="en-AU" sz="3600"/>
          </a:p>
        </p:txBody>
      </p:sp>
      <p:grpSp>
        <p:nvGrpSpPr>
          <p:cNvPr id="27" name="Group 31" descr="2 bar models. The first bar model has 5 equal parts and is light blue. It represents 5 fifths. The second bar model has only 2 of the five parts of the first bar model and is dark blue. It represents 2 fifths.">
            <a:extLst>
              <a:ext uri="{FF2B5EF4-FFF2-40B4-BE49-F238E27FC236}">
                <a16:creationId xmlns:a16="http://schemas.microsoft.com/office/drawing/2014/main" id="{5A5EF29F-7633-7773-B32A-54AA6325DFD7}"/>
              </a:ext>
            </a:extLst>
          </p:cNvPr>
          <p:cNvGrpSpPr/>
          <p:nvPr/>
        </p:nvGrpSpPr>
        <p:grpSpPr>
          <a:xfrm>
            <a:off x="9545046" y="3725271"/>
            <a:ext cx="1724523" cy="1228166"/>
            <a:chOff x="0" y="0"/>
            <a:chExt cx="618030" cy="440147"/>
          </a:xfrm>
        </p:grpSpPr>
        <p:sp>
          <p:nvSpPr>
            <p:cNvPr id="28" name="Freeform 32">
              <a:extLst>
                <a:ext uri="{FF2B5EF4-FFF2-40B4-BE49-F238E27FC236}">
                  <a16:creationId xmlns:a16="http://schemas.microsoft.com/office/drawing/2014/main" id="{5B6EA620-6A5C-6371-81D5-0118AEA57E07}"/>
                </a:ext>
              </a:extLst>
            </p:cNvPr>
            <p:cNvSpPr/>
            <p:nvPr/>
          </p:nvSpPr>
          <p:spPr>
            <a:xfrm>
              <a:off x="0" y="0"/>
              <a:ext cx="618030" cy="440147"/>
            </a:xfrm>
            <a:custGeom>
              <a:avLst/>
              <a:gdLst/>
              <a:ahLst/>
              <a:cxnLst/>
              <a:rect l="l" t="t" r="r" b="b"/>
              <a:pathLst>
                <a:path w="618030" h="440147">
                  <a:moveTo>
                    <a:pt x="0" y="0"/>
                  </a:moveTo>
                  <a:lnTo>
                    <a:pt x="618030" y="0"/>
                  </a:lnTo>
                  <a:lnTo>
                    <a:pt x="618030" y="440147"/>
                  </a:lnTo>
                  <a:lnTo>
                    <a:pt x="0" y="440147"/>
                  </a:lnTo>
                  <a:close/>
                </a:path>
              </a:pathLst>
            </a:custGeom>
            <a:solidFill>
              <a:srgbClr val="9BF6FF"/>
            </a:solidFill>
            <a:ln w="38100" cap="sq">
              <a:solidFill>
                <a:srgbClr val="000000"/>
              </a:solidFill>
              <a:prstDash val="solid"/>
              <a:miter/>
            </a:ln>
          </p:spPr>
          <p:txBody>
            <a:bodyPr/>
            <a:lstStyle/>
            <a:p>
              <a:endParaRPr lang="en-AU"/>
            </a:p>
          </p:txBody>
        </p:sp>
        <p:sp>
          <p:nvSpPr>
            <p:cNvPr id="29" name="TextBox 33">
              <a:extLst>
                <a:ext uri="{FF2B5EF4-FFF2-40B4-BE49-F238E27FC236}">
                  <a16:creationId xmlns:a16="http://schemas.microsoft.com/office/drawing/2014/main" id="{A08AF074-C0FC-2D2E-BF90-996F469F3CA3}"/>
                </a:ext>
              </a:extLst>
            </p:cNvPr>
            <p:cNvSpPr txBox="1"/>
            <p:nvPr/>
          </p:nvSpPr>
          <p:spPr>
            <a:xfrm>
              <a:off x="0" y="-123825"/>
              <a:ext cx="618030" cy="563972"/>
            </a:xfrm>
            <a:prstGeom prst="rect">
              <a:avLst/>
            </a:prstGeom>
          </p:spPr>
          <p:txBody>
            <a:bodyPr lIns="50800" tIns="50800" rIns="50800" bIns="50800" rtlCol="0" anchor="ctr"/>
            <a:lstStyle/>
            <a:p>
              <a:pPr algn="ctr">
                <a:lnSpc>
                  <a:spcPts val="8959"/>
                </a:lnSpc>
              </a:pPr>
              <a:endParaRPr/>
            </a:p>
          </p:txBody>
        </p:sp>
      </p:grpSp>
      <p:grpSp>
        <p:nvGrpSpPr>
          <p:cNvPr id="30" name="Group 37" descr="2 bar models. The first bar model has 5 equal parts and is light blue. It represents 5 fifths. The second bar model has only 2 of the five parts of the first bar model and is dark blue. It represents 2 fifths.">
            <a:extLst>
              <a:ext uri="{FF2B5EF4-FFF2-40B4-BE49-F238E27FC236}">
                <a16:creationId xmlns:a16="http://schemas.microsoft.com/office/drawing/2014/main" id="{5E2399E7-CB1B-8F31-4913-834E75586C50}"/>
              </a:ext>
            </a:extLst>
          </p:cNvPr>
          <p:cNvGrpSpPr/>
          <p:nvPr/>
        </p:nvGrpSpPr>
        <p:grpSpPr>
          <a:xfrm>
            <a:off x="4369771" y="5047671"/>
            <a:ext cx="1724523" cy="1228166"/>
            <a:chOff x="0" y="0"/>
            <a:chExt cx="618030" cy="440147"/>
          </a:xfrm>
        </p:grpSpPr>
        <p:sp>
          <p:nvSpPr>
            <p:cNvPr id="31" name="Freeform 38">
              <a:extLst>
                <a:ext uri="{FF2B5EF4-FFF2-40B4-BE49-F238E27FC236}">
                  <a16:creationId xmlns:a16="http://schemas.microsoft.com/office/drawing/2014/main" id="{EB3FE325-FB08-9F97-63E9-C8FC87EE7CB7}"/>
                </a:ext>
              </a:extLst>
            </p:cNvPr>
            <p:cNvSpPr/>
            <p:nvPr/>
          </p:nvSpPr>
          <p:spPr>
            <a:xfrm>
              <a:off x="0" y="0"/>
              <a:ext cx="618030" cy="440147"/>
            </a:xfrm>
            <a:custGeom>
              <a:avLst/>
              <a:gdLst/>
              <a:ahLst/>
              <a:cxnLst/>
              <a:rect l="l" t="t" r="r" b="b"/>
              <a:pathLst>
                <a:path w="618030" h="440147">
                  <a:moveTo>
                    <a:pt x="0" y="0"/>
                  </a:moveTo>
                  <a:lnTo>
                    <a:pt x="618030" y="0"/>
                  </a:lnTo>
                  <a:lnTo>
                    <a:pt x="618030" y="440147"/>
                  </a:lnTo>
                  <a:lnTo>
                    <a:pt x="0" y="440147"/>
                  </a:lnTo>
                  <a:close/>
                </a:path>
              </a:pathLst>
            </a:custGeom>
            <a:solidFill>
              <a:srgbClr val="38B6FF"/>
            </a:solidFill>
            <a:ln w="38100" cap="sq">
              <a:solidFill>
                <a:srgbClr val="000000"/>
              </a:solidFill>
              <a:prstDash val="solid"/>
              <a:miter/>
            </a:ln>
          </p:spPr>
          <p:txBody>
            <a:bodyPr/>
            <a:lstStyle/>
            <a:p>
              <a:endParaRPr lang="en-AU"/>
            </a:p>
          </p:txBody>
        </p:sp>
        <p:sp>
          <p:nvSpPr>
            <p:cNvPr id="32" name="TextBox 39">
              <a:extLst>
                <a:ext uri="{FF2B5EF4-FFF2-40B4-BE49-F238E27FC236}">
                  <a16:creationId xmlns:a16="http://schemas.microsoft.com/office/drawing/2014/main" id="{405B4F1F-ADF5-1BB3-457D-FC251F93BB97}"/>
                </a:ext>
              </a:extLst>
            </p:cNvPr>
            <p:cNvSpPr txBox="1"/>
            <p:nvPr/>
          </p:nvSpPr>
          <p:spPr>
            <a:xfrm>
              <a:off x="0" y="-123825"/>
              <a:ext cx="618030" cy="563972"/>
            </a:xfrm>
            <a:prstGeom prst="rect">
              <a:avLst/>
            </a:prstGeom>
          </p:spPr>
          <p:txBody>
            <a:bodyPr lIns="50800" tIns="50800" rIns="50800" bIns="50800" rtlCol="0" anchor="ctr"/>
            <a:lstStyle/>
            <a:p>
              <a:pPr algn="ctr">
                <a:lnSpc>
                  <a:spcPts val="8959"/>
                </a:lnSpc>
              </a:pPr>
              <a:endParaRPr/>
            </a:p>
          </p:txBody>
        </p:sp>
      </p:grpSp>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8A7FE6AB-F028-BE57-C4D2-218E23CCA7F3}"/>
              </a:ext>
            </a:extLst>
          </p:cNvPr>
          <p:cNvSpPr>
            <a:spLocks noGrp="1"/>
          </p:cNvSpPr>
          <p:nvPr>
            <p:ph type="pic" sz="quarter" idx="21"/>
          </p:nvPr>
        </p:nvSpPr>
        <p:spPr>
          <a:xfrm>
            <a:off x="360000" y="1322701"/>
            <a:ext cx="11243037" cy="5091860"/>
          </a:xfrm>
        </p:spPr>
        <p:txBody>
          <a:bodyPr/>
          <a:lstStyle/>
          <a:p>
            <a:pPr algn="ctr"/>
            <a:r>
              <a:rPr lang="en-US" sz="4400" dirty="0">
                <a:latin typeface="Arial"/>
                <a:cs typeface="Arial"/>
              </a:rPr>
              <a:t>The scales were faulty. Take </a:t>
            </a:r>
            <a:r>
              <a:rPr lang="en-US" sz="4400" b="1" dirty="0">
                <a:latin typeface="Arial"/>
                <a:cs typeface="Arial"/>
              </a:rPr>
              <a:t>2 kg </a:t>
            </a:r>
            <a:r>
              <a:rPr lang="en-US" sz="4400" dirty="0">
                <a:latin typeface="Arial"/>
                <a:cs typeface="Arial"/>
              </a:rPr>
              <a:t>off each parcel and calculate the </a:t>
            </a:r>
            <a:r>
              <a:rPr lang="en-US" sz="4400" b="1" dirty="0">
                <a:latin typeface="Arial"/>
                <a:cs typeface="Arial"/>
              </a:rPr>
              <a:t>total weight</a:t>
            </a:r>
            <a:r>
              <a:rPr lang="en-US" sz="4400" dirty="0">
                <a:latin typeface="Arial"/>
                <a:cs typeface="Arial"/>
              </a:rPr>
              <a:t>.</a:t>
            </a:r>
            <a:endParaRPr lang="en-US" sz="48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0BD3A60-80E3-562B-92FB-07B4A07F11E3}"/>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5" name="Group 4" descr="3 parcels, each with their weight labelled. Their weights are 47.41 kg, 4.003 kg and 32.213 kg. ">
            <a:extLst>
              <a:ext uri="{FF2B5EF4-FFF2-40B4-BE49-F238E27FC236}">
                <a16:creationId xmlns:a16="http://schemas.microsoft.com/office/drawing/2014/main" id="{9FE94C68-EFCB-5D33-2DF0-72404D0D369F}"/>
              </a:ext>
            </a:extLst>
          </p:cNvPr>
          <p:cNvGrpSpPr/>
          <p:nvPr/>
        </p:nvGrpSpPr>
        <p:grpSpPr>
          <a:xfrm>
            <a:off x="2140056" y="3429000"/>
            <a:ext cx="7911887" cy="2318301"/>
            <a:chOff x="0" y="0"/>
            <a:chExt cx="11413770" cy="3750290"/>
          </a:xfrm>
        </p:grpSpPr>
        <p:sp>
          <p:nvSpPr>
            <p:cNvPr id="6" name="Freeform 3">
              <a:extLst>
                <a:ext uri="{FF2B5EF4-FFF2-40B4-BE49-F238E27FC236}">
                  <a16:creationId xmlns:a16="http://schemas.microsoft.com/office/drawing/2014/main" id="{AD4597E8-D796-32C1-59F6-0F46572B9D9B}"/>
                </a:ext>
              </a:extLst>
            </p:cNvPr>
            <p:cNvSpPr/>
            <p:nvPr/>
          </p:nvSpPr>
          <p:spPr>
            <a:xfrm>
              <a:off x="0" y="137071"/>
              <a:ext cx="3973533" cy="2503801"/>
            </a:xfrm>
            <a:custGeom>
              <a:avLst/>
              <a:gdLst/>
              <a:ahLst/>
              <a:cxnLst/>
              <a:rect l="l" t="t" r="r" b="b"/>
              <a:pathLst>
                <a:path w="5242442" h="3768005">
                  <a:moveTo>
                    <a:pt x="0" y="0"/>
                  </a:moveTo>
                  <a:lnTo>
                    <a:pt x="5242442" y="0"/>
                  </a:lnTo>
                  <a:lnTo>
                    <a:pt x="5242442" y="3768005"/>
                  </a:lnTo>
                  <a:lnTo>
                    <a:pt x="0" y="37680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Freeform 4">
              <a:extLst>
                <a:ext uri="{FF2B5EF4-FFF2-40B4-BE49-F238E27FC236}">
                  <a16:creationId xmlns:a16="http://schemas.microsoft.com/office/drawing/2014/main" id="{9E6BAC7D-21ED-E26E-07F8-DB4E591060F7}"/>
                </a:ext>
              </a:extLst>
            </p:cNvPr>
            <p:cNvSpPr/>
            <p:nvPr/>
          </p:nvSpPr>
          <p:spPr>
            <a:xfrm>
              <a:off x="8111656" y="0"/>
              <a:ext cx="2683269" cy="2717527"/>
            </a:xfrm>
            <a:custGeom>
              <a:avLst/>
              <a:gdLst/>
              <a:ahLst/>
              <a:cxnLst/>
              <a:rect l="l" t="t" r="r" b="b"/>
              <a:pathLst>
                <a:path w="3668245" h="4042143">
                  <a:moveTo>
                    <a:pt x="0" y="0"/>
                  </a:moveTo>
                  <a:lnTo>
                    <a:pt x="3668245" y="0"/>
                  </a:lnTo>
                  <a:lnTo>
                    <a:pt x="3668245" y="4042143"/>
                  </a:lnTo>
                  <a:lnTo>
                    <a:pt x="0" y="404214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8" name="Freeform 5">
              <a:extLst>
                <a:ext uri="{FF2B5EF4-FFF2-40B4-BE49-F238E27FC236}">
                  <a16:creationId xmlns:a16="http://schemas.microsoft.com/office/drawing/2014/main" id="{5F9B4BC8-B6AD-5C58-7BD5-7744CE5CE106}"/>
                </a:ext>
              </a:extLst>
            </p:cNvPr>
            <p:cNvSpPr/>
            <p:nvPr/>
          </p:nvSpPr>
          <p:spPr>
            <a:xfrm>
              <a:off x="4958907" y="504916"/>
              <a:ext cx="2391245" cy="2135956"/>
            </a:xfrm>
            <a:custGeom>
              <a:avLst/>
              <a:gdLst/>
              <a:ahLst/>
              <a:cxnLst/>
              <a:rect l="l" t="t" r="r" b="b"/>
              <a:pathLst>
                <a:path w="2265271" h="1965122">
                  <a:moveTo>
                    <a:pt x="0" y="0"/>
                  </a:moveTo>
                  <a:lnTo>
                    <a:pt x="2265271" y="0"/>
                  </a:lnTo>
                  <a:lnTo>
                    <a:pt x="2265271" y="1965122"/>
                  </a:lnTo>
                  <a:lnTo>
                    <a:pt x="0" y="196512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9" name="TextBox 6">
              <a:extLst>
                <a:ext uri="{FF2B5EF4-FFF2-40B4-BE49-F238E27FC236}">
                  <a16:creationId xmlns:a16="http://schemas.microsoft.com/office/drawing/2014/main" id="{F32C22F4-142C-FAA3-BE0E-69B53C4F649F}"/>
                </a:ext>
              </a:extLst>
            </p:cNvPr>
            <p:cNvSpPr txBox="1"/>
            <p:nvPr/>
          </p:nvSpPr>
          <p:spPr>
            <a:xfrm>
              <a:off x="496307" y="2825510"/>
              <a:ext cx="2980918" cy="89751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5564"/>
                </a:lnSpc>
                <a:spcBef>
                  <a:spcPct val="0"/>
                </a:spcBef>
              </a:pPr>
              <a:r>
                <a:rPr lang="en-US" sz="3974" b="1">
                  <a:solidFill>
                    <a:srgbClr val="000000"/>
                  </a:solidFill>
                  <a:latin typeface="Canva Sans Bold"/>
                  <a:ea typeface="Canva Sans Bold"/>
                  <a:cs typeface="Canva Sans Bold"/>
                  <a:sym typeface="Canva Sans Bold"/>
                </a:rPr>
                <a:t>47.41 kg</a:t>
              </a:r>
            </a:p>
          </p:txBody>
        </p:sp>
        <p:sp>
          <p:nvSpPr>
            <p:cNvPr id="10" name="TextBox 7">
              <a:extLst>
                <a:ext uri="{FF2B5EF4-FFF2-40B4-BE49-F238E27FC236}">
                  <a16:creationId xmlns:a16="http://schemas.microsoft.com/office/drawing/2014/main" id="{FD6EA2DE-198C-65D5-CC6B-605547B0C5BB}"/>
                </a:ext>
              </a:extLst>
            </p:cNvPr>
            <p:cNvSpPr txBox="1"/>
            <p:nvPr/>
          </p:nvSpPr>
          <p:spPr>
            <a:xfrm>
              <a:off x="4404219" y="2852779"/>
              <a:ext cx="3122322" cy="863403"/>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5564"/>
                </a:lnSpc>
                <a:spcBef>
                  <a:spcPct val="0"/>
                </a:spcBef>
              </a:pPr>
              <a:r>
                <a:rPr lang="en-US" sz="3974" b="1">
                  <a:solidFill>
                    <a:srgbClr val="000000"/>
                  </a:solidFill>
                  <a:latin typeface="Canva Sans Bold"/>
                  <a:ea typeface="Canva Sans Bold"/>
                  <a:cs typeface="Canva Sans Bold"/>
                  <a:sym typeface="Canva Sans Bold"/>
                </a:rPr>
                <a:t>4.003 kg</a:t>
              </a:r>
            </a:p>
          </p:txBody>
        </p:sp>
        <p:sp>
          <p:nvSpPr>
            <p:cNvPr id="12" name="TextBox 8">
              <a:extLst>
                <a:ext uri="{FF2B5EF4-FFF2-40B4-BE49-F238E27FC236}">
                  <a16:creationId xmlns:a16="http://schemas.microsoft.com/office/drawing/2014/main" id="{2EB9C67F-5CA6-E3F5-9FDE-C8C07C14517B}"/>
                </a:ext>
              </a:extLst>
            </p:cNvPr>
            <p:cNvSpPr txBox="1"/>
            <p:nvPr/>
          </p:nvSpPr>
          <p:spPr>
            <a:xfrm>
              <a:off x="8453536" y="2852779"/>
              <a:ext cx="2960234" cy="89751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5564"/>
                </a:lnSpc>
                <a:spcBef>
                  <a:spcPct val="0"/>
                </a:spcBef>
              </a:pPr>
              <a:r>
                <a:rPr lang="en-US" sz="3974" b="1">
                  <a:solidFill>
                    <a:srgbClr val="000000"/>
                  </a:solidFill>
                  <a:latin typeface="Canva Sans Bold"/>
                  <a:ea typeface="Canva Sans Bold"/>
                  <a:cs typeface="Canva Sans Bold"/>
                  <a:sym typeface="Canva Sans Bold"/>
                </a:rPr>
                <a:t>32.213 kg</a:t>
              </a:r>
            </a:p>
          </p:txBody>
        </p:sp>
      </p:grpSp>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11" name="Picture Placeholder 10">
            <a:extLst>
              <a:ext uri="{FF2B5EF4-FFF2-40B4-BE49-F238E27FC236}">
                <a16:creationId xmlns:a16="http://schemas.microsoft.com/office/drawing/2014/main" id="{292E23AF-C9AF-1BEC-B7EF-97960722B4D3}"/>
              </a:ext>
            </a:extLst>
          </p:cNvPr>
          <p:cNvSpPr>
            <a:spLocks noGrp="1"/>
          </p:cNvSpPr>
          <p:nvPr>
            <p:ph type="pic" sz="quarter" idx="21"/>
          </p:nvPr>
        </p:nvSpPr>
        <p:spPr>
          <a:xfrm>
            <a:off x="360000" y="1164870"/>
            <a:ext cx="11379716" cy="5091860"/>
          </a:xfrm>
        </p:spPr>
        <p:txBody>
          <a:bodyPr/>
          <a:lstStyle/>
          <a:p>
            <a:pPr algn="ctr"/>
            <a:r>
              <a:rPr lang="en-US" sz="3600" dirty="0">
                <a:latin typeface="Arial"/>
                <a:cs typeface="Arial"/>
              </a:rPr>
              <a:t>In 15 minutes Sofia ran 1 758 m and Chanel ran 1.8 km. </a:t>
            </a:r>
            <a:r>
              <a:rPr lang="en-AU" sz="3600" dirty="0">
                <a:latin typeface="Arial"/>
                <a:cs typeface="Arial"/>
              </a:rPr>
              <a:t>Record Sofia’s distance using </a:t>
            </a:r>
            <a:r>
              <a:rPr lang="en-AU" sz="3600" b="1" dirty="0">
                <a:latin typeface="Arial"/>
                <a:cs typeface="Arial"/>
              </a:rPr>
              <a:t>decimal notation</a:t>
            </a:r>
            <a:r>
              <a:rPr lang="en-AU" sz="3600" dirty="0">
                <a:latin typeface="Arial"/>
                <a:cs typeface="Arial"/>
              </a:rPr>
              <a:t>.</a:t>
            </a:r>
            <a:endParaRPr lang="en-US" sz="3600" dirty="0">
              <a:latin typeface="Arial"/>
              <a:cs typeface="Arial"/>
            </a:endParaRPr>
          </a:p>
          <a:p>
            <a:pPr algn="ctr"/>
            <a:endParaRPr lang="en-US" sz="3200" dirty="0">
              <a:latin typeface="Arial"/>
              <a:cs typeface="Arial"/>
            </a:endParaRPr>
          </a:p>
          <a:p>
            <a:pPr algn="ctr"/>
            <a:r>
              <a:rPr lang="en-US" sz="3600" dirty="0">
                <a:latin typeface="Arial"/>
                <a:cs typeface="Arial"/>
              </a:rPr>
              <a:t>Who was the </a:t>
            </a:r>
            <a:r>
              <a:rPr lang="en-US" sz="3600" b="1" dirty="0">
                <a:latin typeface="Arial"/>
                <a:cs typeface="Arial"/>
              </a:rPr>
              <a:t>fastest</a:t>
            </a:r>
            <a:r>
              <a:rPr lang="en-US" sz="3600" dirty="0">
                <a:latin typeface="Arial"/>
                <a:cs typeface="Arial"/>
              </a:rPr>
              <a:t> runner? </a:t>
            </a:r>
          </a:p>
          <a:p>
            <a:pPr algn="ctr"/>
            <a:r>
              <a:rPr lang="en-US" sz="3600" b="1" dirty="0">
                <a:latin typeface="Arial"/>
                <a:cs typeface="Arial"/>
              </a:rPr>
              <a:t>Communicate</a:t>
            </a:r>
            <a:r>
              <a:rPr lang="en-US" sz="3600" dirty="0">
                <a:latin typeface="Arial"/>
                <a:cs typeface="Arial"/>
              </a:rPr>
              <a:t> your </a:t>
            </a:r>
            <a:r>
              <a:rPr lang="en-US" sz="3600" b="1" dirty="0">
                <a:latin typeface="Arial"/>
                <a:cs typeface="Arial"/>
              </a:rPr>
              <a:t>reasoning</a:t>
            </a:r>
            <a:r>
              <a:rPr lang="en-US" sz="3600" dirty="0">
                <a:latin typeface="Arial"/>
                <a:cs typeface="Arial"/>
              </a:rPr>
              <a:t>.</a:t>
            </a:r>
            <a:endParaRPr lang="en-US" sz="2000" dirty="0"/>
          </a:p>
          <a:p>
            <a:pPr algn="ctr"/>
            <a:endParaRPr lang="en-US" sz="3200" dirty="0"/>
          </a:p>
          <a:p>
            <a:pPr algn="ct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9413A593-D677-BE14-4F68-8ED6884EFE14}"/>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6 – finding percentages of a quantity </a:t>
            </a:r>
          </a:p>
        </p:txBody>
      </p:sp>
      <p:pic>
        <p:nvPicPr>
          <p:cNvPr id="5" name="Picture 4" descr="image of a head with cogs turning inside">
            <a:extLst>
              <a:ext uri="{FF2B5EF4-FFF2-40B4-BE49-F238E27FC236}">
                <a16:creationId xmlns:a16="http://schemas.microsoft.com/office/drawing/2014/main" id="{F7AC7457-76E6-8D53-F23B-FA6A7DBB46C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1" name="TextBox 10">
            <a:extLst>
              <a:ext uri="{FF2B5EF4-FFF2-40B4-BE49-F238E27FC236}">
                <a16:creationId xmlns:a16="http://schemas.microsoft.com/office/drawing/2014/main" id="{BCD33915-349E-DFF6-13BA-90F2F9787CA8}"/>
              </a:ext>
            </a:extLst>
          </p:cNvPr>
          <p:cNvSpPr txBox="1"/>
          <p:nvPr/>
        </p:nvSpPr>
        <p:spPr>
          <a:xfrm>
            <a:off x="311323" y="1348800"/>
            <a:ext cx="11155680" cy="5509200"/>
          </a:xfrm>
          <a:prstGeom prst="rect">
            <a:avLst/>
          </a:prstGeom>
          <a:noFill/>
        </p:spPr>
        <p:txBody>
          <a:bodyPr wrap="square">
            <a:spAutoFit/>
          </a:bodyPr>
          <a:lstStyle/>
          <a:p>
            <a:pPr algn="ctr"/>
            <a:r>
              <a:rPr lang="en-US" sz="4400" dirty="0">
                <a:solidFill>
                  <a:srgbClr val="000000"/>
                </a:solidFill>
                <a:ea typeface="Canva Student Font"/>
                <a:cs typeface="Canva Student Font"/>
                <a:sym typeface="Canva Student Font"/>
              </a:rPr>
              <a:t>Which of the following has the </a:t>
            </a:r>
            <a:r>
              <a:rPr lang="en-US" sz="4400" b="1" dirty="0">
                <a:solidFill>
                  <a:srgbClr val="000000"/>
                </a:solidFill>
                <a:ea typeface="Canva Student Font"/>
                <a:cs typeface="Canva Student Font"/>
                <a:sym typeface="Canva Student Font"/>
              </a:rPr>
              <a:t>greatest value</a:t>
            </a:r>
            <a:r>
              <a:rPr lang="en-US" sz="4400" dirty="0">
                <a:solidFill>
                  <a:srgbClr val="000000"/>
                </a:solidFill>
                <a:ea typeface="Canva Student Font"/>
                <a:cs typeface="Canva Student Font"/>
                <a:sym typeface="Canva Student Font"/>
              </a:rPr>
              <a:t>?</a:t>
            </a:r>
          </a:p>
          <a:p>
            <a:pPr algn="ctr"/>
            <a:endParaRPr lang="en-US" sz="4400" dirty="0">
              <a:solidFill>
                <a:srgbClr val="000000"/>
              </a:solidFill>
              <a:ea typeface="Canva Student Font"/>
              <a:cs typeface="Canva Student Font"/>
              <a:sym typeface="Canva Student Font"/>
            </a:endParaRPr>
          </a:p>
          <a:p>
            <a:pPr algn="ctr"/>
            <a:r>
              <a:rPr lang="en-US" sz="4400" dirty="0">
                <a:solidFill>
                  <a:srgbClr val="000000"/>
                </a:solidFill>
                <a:ea typeface="Canva Student Font"/>
                <a:cs typeface="Canva Student Font"/>
                <a:sym typeface="Canva Student Font"/>
              </a:rPr>
              <a:t>50% of 10</a:t>
            </a:r>
          </a:p>
          <a:p>
            <a:pPr algn="ctr"/>
            <a:r>
              <a:rPr lang="en-US" sz="4400" dirty="0">
                <a:solidFill>
                  <a:srgbClr val="000000"/>
                </a:solidFill>
                <a:ea typeface="Canva Student Font"/>
                <a:cs typeface="Canva Student Font"/>
                <a:sym typeface="Canva Student Font"/>
              </a:rPr>
              <a:t>40% of 20</a:t>
            </a:r>
          </a:p>
          <a:p>
            <a:pPr algn="ctr"/>
            <a:r>
              <a:rPr lang="en-US" sz="4400" dirty="0">
                <a:solidFill>
                  <a:srgbClr val="000000"/>
                </a:solidFill>
                <a:ea typeface="Canva Student Font"/>
                <a:cs typeface="Canva Student Font"/>
                <a:sym typeface="Canva Student Font"/>
              </a:rPr>
              <a:t>30 % of 30</a:t>
            </a:r>
          </a:p>
          <a:p>
            <a:pPr algn="ctr"/>
            <a:r>
              <a:rPr lang="en-US" sz="4400" dirty="0">
                <a:solidFill>
                  <a:srgbClr val="000000"/>
                </a:solidFill>
                <a:ea typeface="Canva Student Font"/>
                <a:cs typeface="Canva Student Font"/>
                <a:sym typeface="Canva Student Font"/>
              </a:rPr>
              <a:t>20% of 40</a:t>
            </a:r>
          </a:p>
          <a:p>
            <a:pPr algn="ctr">
              <a:spcBef>
                <a:spcPct val="0"/>
              </a:spcBef>
            </a:pPr>
            <a:r>
              <a:rPr lang="en-US" sz="4400" dirty="0">
                <a:solidFill>
                  <a:srgbClr val="000000"/>
                </a:solidFill>
                <a:ea typeface="Canva Student Font"/>
                <a:cs typeface="Canva Student Font"/>
                <a:sym typeface="Canva Student Font"/>
              </a:rPr>
              <a:t>10% of 50</a:t>
            </a:r>
          </a:p>
        </p:txBody>
      </p:sp>
    </p:spTree>
    <p:extLst>
      <p:ext uri="{BB962C8B-B14F-4D97-AF65-F5344CB8AC3E}">
        <p14:creationId xmlns:p14="http://schemas.microsoft.com/office/powerpoint/2010/main" val="3032192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DEC98-6E64-B27A-62A0-329A669AEC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4353F3-AFA1-F86F-DE0E-4EEDDC077D1C}"/>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E0021225-41F1-0C16-7955-7A20CE3F9226}"/>
              </a:ext>
            </a:extLst>
          </p:cNvPr>
          <p:cNvSpPr>
            <a:spLocks noGrp="1"/>
          </p:cNvSpPr>
          <p:nvPr>
            <p:ph type="title"/>
          </p:nvPr>
        </p:nvSpPr>
        <p:spPr/>
        <p:txBody>
          <a:bodyPr/>
          <a:lstStyle/>
          <a:p>
            <a:r>
              <a:rPr lang="en-US"/>
              <a:t>Multiple choice </a:t>
            </a:r>
            <a:r>
              <a:rPr lang="en-US">
                <a:solidFill>
                  <a:schemeClr val="bg1"/>
                </a:solidFill>
              </a:rPr>
              <a:t>(1)</a:t>
            </a:r>
          </a:p>
        </p:txBody>
      </p:sp>
      <p:sp>
        <p:nvSpPr>
          <p:cNvPr id="14" name="Text Placeholder 13">
            <a:extLst>
              <a:ext uri="{FF2B5EF4-FFF2-40B4-BE49-F238E27FC236}">
                <a16:creationId xmlns:a16="http://schemas.microsoft.com/office/drawing/2014/main" id="{675CACB5-5FB0-E2CF-54E9-1F4523AF622E}"/>
              </a:ext>
            </a:extLst>
          </p:cNvPr>
          <p:cNvSpPr>
            <a:spLocks noGrp="1"/>
          </p:cNvSpPr>
          <p:nvPr>
            <p:ph type="body" sz="quarter" idx="27"/>
          </p:nvPr>
        </p:nvSpPr>
        <p:spPr>
          <a:xfrm>
            <a:off x="1345520" y="5267227"/>
            <a:ext cx="10175920" cy="641396"/>
          </a:xfrm>
        </p:spPr>
        <p:txBody>
          <a:bodyPr vert="horz" lIns="0" tIns="0" rIns="0" bIns="0" rtlCol="0" anchor="t">
            <a:noAutofit/>
          </a:bodyPr>
          <a:lstStyle/>
          <a:p>
            <a:r>
              <a:rPr lang="en-US" sz="4000">
                <a:ea typeface="+mn-lt"/>
                <a:cs typeface="+mn-lt"/>
              </a:rPr>
              <a:t>50% of 100</a:t>
            </a:r>
            <a:endParaRPr lang="en-US" sz="4000"/>
          </a:p>
        </p:txBody>
      </p:sp>
      <p:sp>
        <p:nvSpPr>
          <p:cNvPr id="15" name="Text Placeholder 14">
            <a:extLst>
              <a:ext uri="{FF2B5EF4-FFF2-40B4-BE49-F238E27FC236}">
                <a16:creationId xmlns:a16="http://schemas.microsoft.com/office/drawing/2014/main" id="{CA95A8D3-8910-15F9-8CCD-CC5CE999586C}"/>
              </a:ext>
            </a:extLst>
          </p:cNvPr>
          <p:cNvSpPr>
            <a:spLocks noGrp="1"/>
          </p:cNvSpPr>
          <p:nvPr>
            <p:ph type="body" sz="quarter" idx="28"/>
          </p:nvPr>
        </p:nvSpPr>
        <p:spPr>
          <a:xfrm>
            <a:off x="360000" y="1408922"/>
            <a:ext cx="11639167" cy="1420148"/>
          </a:xfrm>
        </p:spPr>
        <p:txBody>
          <a:bodyPr vert="horz" lIns="0" tIns="0" rIns="0" bIns="0" rtlCol="0" anchor="t">
            <a:noAutofit/>
          </a:bodyPr>
          <a:lstStyle/>
          <a:p>
            <a:r>
              <a:rPr lang="en-US" sz="4000" dirty="0">
                <a:latin typeface="Arial"/>
                <a:cs typeface="Arial"/>
              </a:rPr>
              <a:t>Which </a:t>
            </a:r>
            <a:r>
              <a:rPr lang="en-US" sz="4000" b="1" dirty="0">
                <a:latin typeface="Arial"/>
                <a:cs typeface="Arial"/>
              </a:rPr>
              <a:t>percentage</a:t>
            </a:r>
            <a:r>
              <a:rPr lang="en-US" sz="4000" dirty="0">
                <a:latin typeface="Arial"/>
                <a:cs typeface="Arial"/>
              </a:rPr>
              <a:t> gives you the </a:t>
            </a:r>
            <a:r>
              <a:rPr lang="en-US" sz="4000" b="1" dirty="0">
                <a:latin typeface="Arial"/>
                <a:cs typeface="Arial"/>
              </a:rPr>
              <a:t>least</a:t>
            </a:r>
            <a:r>
              <a:rPr lang="en-US" sz="4000" dirty="0">
                <a:latin typeface="Arial"/>
                <a:cs typeface="Arial"/>
              </a:rPr>
              <a:t> amount?</a:t>
            </a:r>
            <a:endParaRPr lang="en-US" dirty="0"/>
          </a:p>
          <a:p>
            <a:endParaRPr lang="en-US" sz="4000" dirty="0">
              <a:latin typeface="Arial"/>
              <a:cs typeface="Arial"/>
            </a:endParaRPr>
          </a:p>
        </p:txBody>
      </p:sp>
      <p:sp>
        <p:nvSpPr>
          <p:cNvPr id="16" name="Text Placeholder 15">
            <a:extLst>
              <a:ext uri="{FF2B5EF4-FFF2-40B4-BE49-F238E27FC236}">
                <a16:creationId xmlns:a16="http://schemas.microsoft.com/office/drawing/2014/main" id="{E0D6F30C-8CEC-E4E0-1551-B27B081FFF00}"/>
              </a:ext>
            </a:extLst>
          </p:cNvPr>
          <p:cNvSpPr>
            <a:spLocks noGrp="1"/>
          </p:cNvSpPr>
          <p:nvPr>
            <p:ph type="body" sz="quarter" idx="29"/>
          </p:nvPr>
        </p:nvSpPr>
        <p:spPr>
          <a:xfrm>
            <a:off x="1345520" y="4417174"/>
            <a:ext cx="10175920" cy="641396"/>
          </a:xfrm>
        </p:spPr>
        <p:txBody>
          <a:bodyPr vert="horz" lIns="0" tIns="0" rIns="0" bIns="0" rtlCol="0" anchor="t">
            <a:noAutofit/>
          </a:bodyPr>
          <a:lstStyle/>
          <a:p>
            <a:r>
              <a:rPr lang="en-US" sz="4000">
                <a:ea typeface="+mn-lt"/>
                <a:cs typeface="+mn-lt"/>
              </a:rPr>
              <a:t>30% of 200</a:t>
            </a:r>
            <a:endParaRPr lang="en-US" sz="4000"/>
          </a:p>
        </p:txBody>
      </p:sp>
      <p:sp>
        <p:nvSpPr>
          <p:cNvPr id="17" name="Text Placeholder 16">
            <a:extLst>
              <a:ext uri="{FF2B5EF4-FFF2-40B4-BE49-F238E27FC236}">
                <a16:creationId xmlns:a16="http://schemas.microsoft.com/office/drawing/2014/main" id="{44BFA8E5-50BD-0893-BC01-B6B36BC802E1}"/>
              </a:ext>
            </a:extLst>
          </p:cNvPr>
          <p:cNvSpPr>
            <a:spLocks noGrp="1"/>
          </p:cNvSpPr>
          <p:nvPr>
            <p:ph type="body" sz="quarter" idx="30"/>
          </p:nvPr>
        </p:nvSpPr>
        <p:spPr>
          <a:xfrm>
            <a:off x="1345520" y="3567121"/>
            <a:ext cx="10175920" cy="641396"/>
          </a:xfrm>
        </p:spPr>
        <p:txBody>
          <a:bodyPr vert="horz" lIns="0" tIns="0" rIns="0" bIns="0" rtlCol="0" anchor="t">
            <a:noAutofit/>
          </a:bodyPr>
          <a:lstStyle/>
          <a:p>
            <a:r>
              <a:rPr lang="en-US" sz="4000" dirty="0">
                <a:cs typeface="Arial"/>
              </a:rPr>
              <a:t>20% of 300</a:t>
            </a:r>
          </a:p>
        </p:txBody>
      </p:sp>
      <p:sp>
        <p:nvSpPr>
          <p:cNvPr id="18" name="Text Placeholder 17">
            <a:extLst>
              <a:ext uri="{FF2B5EF4-FFF2-40B4-BE49-F238E27FC236}">
                <a16:creationId xmlns:a16="http://schemas.microsoft.com/office/drawing/2014/main" id="{9E79809D-9372-E31A-587E-B87233AE7FEB}"/>
              </a:ext>
            </a:extLst>
          </p:cNvPr>
          <p:cNvSpPr>
            <a:spLocks noGrp="1"/>
          </p:cNvSpPr>
          <p:nvPr>
            <p:ph type="body" sz="quarter" idx="31"/>
          </p:nvPr>
        </p:nvSpPr>
        <p:spPr>
          <a:xfrm>
            <a:off x="1345520" y="2688728"/>
            <a:ext cx="10175920" cy="641396"/>
          </a:xfrm>
        </p:spPr>
        <p:txBody>
          <a:bodyPr vert="horz" lIns="0" tIns="0" rIns="0" bIns="0" rtlCol="0" anchor="t">
            <a:noAutofit/>
          </a:bodyPr>
          <a:lstStyle/>
          <a:p>
            <a:r>
              <a:rPr lang="en-US" sz="4000">
                <a:cs typeface="Arial"/>
              </a:rPr>
              <a:t>10% of 400</a:t>
            </a:r>
          </a:p>
        </p:txBody>
      </p:sp>
      <p:sp>
        <p:nvSpPr>
          <p:cNvPr id="9" name="TextBox 8">
            <a:extLst>
              <a:ext uri="{FF2B5EF4-FFF2-40B4-BE49-F238E27FC236}">
                <a16:creationId xmlns:a16="http://schemas.microsoft.com/office/drawing/2014/main" id="{01959E7F-5339-4140-06DD-3FCB073486C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BEE40492-9435-5860-3C94-30096476C915}"/>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5912478F-CB84-AC6C-FE6E-1FCE453E61F6}"/>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C86D3D05-3E76-5A4E-DF8C-4677FB0BC3BF}"/>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762B9242-51CC-E9FE-F0ED-48F177A9021B}"/>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2587296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sp>
        <p:nvSpPr>
          <p:cNvPr id="11" name="Picture Placeholder 10">
            <a:extLst>
              <a:ext uri="{FF2B5EF4-FFF2-40B4-BE49-F238E27FC236}">
                <a16:creationId xmlns:a16="http://schemas.microsoft.com/office/drawing/2014/main" id="{ACDE4623-0E37-0882-ACB4-C9EF952037E5}"/>
              </a:ext>
            </a:extLst>
          </p:cNvPr>
          <p:cNvSpPr>
            <a:spLocks noGrp="1"/>
          </p:cNvSpPr>
          <p:nvPr>
            <p:ph type="pic" sz="quarter" idx="21"/>
          </p:nvPr>
        </p:nvSpPr>
        <p:spPr>
          <a:xfrm>
            <a:off x="360000" y="1423183"/>
            <a:ext cx="11189376" cy="4168875"/>
          </a:xfrm>
        </p:spPr>
        <p:txBody>
          <a:bodyPr/>
          <a:lstStyle/>
          <a:p>
            <a:pPr algn="ctr"/>
            <a:r>
              <a:rPr lang="en-US" sz="4400" dirty="0">
                <a:latin typeface="Arial"/>
                <a:cs typeface="Arial"/>
              </a:rPr>
              <a:t> A rectangular prism has a </a:t>
            </a:r>
            <a:r>
              <a:rPr lang="en-US" sz="4400" b="1" dirty="0">
                <a:latin typeface="Arial"/>
                <a:cs typeface="Arial"/>
              </a:rPr>
              <a:t>volume</a:t>
            </a:r>
            <a:r>
              <a:rPr lang="en-US" sz="4400" dirty="0">
                <a:latin typeface="Arial"/>
                <a:cs typeface="Arial"/>
              </a:rPr>
              <a:t> of 100 cubic </a:t>
            </a:r>
            <a:r>
              <a:rPr lang="en-US" sz="4400" dirty="0" err="1">
                <a:latin typeface="Arial"/>
                <a:cs typeface="Arial"/>
              </a:rPr>
              <a:t>centimetres</a:t>
            </a:r>
            <a:r>
              <a:rPr lang="en-US" sz="4400" dirty="0">
                <a:latin typeface="Arial"/>
                <a:cs typeface="Arial"/>
              </a:rPr>
              <a:t>. What </a:t>
            </a:r>
            <a:r>
              <a:rPr lang="en-US" sz="4400" b="1" dirty="0">
                <a:latin typeface="Arial"/>
                <a:cs typeface="Arial"/>
              </a:rPr>
              <a:t>dimensions</a:t>
            </a:r>
            <a:r>
              <a:rPr lang="en-US" sz="4400" dirty="0">
                <a:latin typeface="Arial"/>
                <a:cs typeface="Arial"/>
              </a:rPr>
              <a:t> could it have?</a:t>
            </a:r>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0B2658E5-897D-F102-F9BC-10C464CD9E8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026" name="Picture 2" descr="A drawing of a rectangular prism  showing the dimensions length, width and height.">
            <a:extLst>
              <a:ext uri="{FF2B5EF4-FFF2-40B4-BE49-F238E27FC236}">
                <a16:creationId xmlns:a16="http://schemas.microsoft.com/office/drawing/2014/main" id="{4A3F6D14-6648-8D31-8C39-C07F6C9CF9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6203" y="3709216"/>
            <a:ext cx="4765597" cy="2806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21E9C82F-FE72-F379-EE54-EC40C9DE00C1}"/>
                  </a:ext>
                </a:extLst>
              </p:cNvPr>
              <p:cNvSpPr>
                <a:spLocks noGrp="1"/>
              </p:cNvSpPr>
              <p:nvPr>
                <p:ph type="pic" sz="quarter" idx="21"/>
              </p:nvPr>
            </p:nvSpPr>
            <p:spPr>
              <a:xfrm>
                <a:off x="376099" y="1547374"/>
                <a:ext cx="11210840" cy="1023151"/>
              </a:xfrm>
            </p:spPr>
            <p:txBody>
              <a:bodyPr/>
              <a:lstStyle/>
              <a:p>
                <a:pPr algn="ctr"/>
                <a:r>
                  <a:rPr lang="en-US" sz="3200" dirty="0"/>
                  <a:t>Akira is running along a trail that is 8 </a:t>
                </a:r>
                <a:r>
                  <a:rPr lang="en-US" sz="3200" dirty="0" err="1"/>
                  <a:t>kilometres</a:t>
                </a:r>
                <a:r>
                  <a:rPr lang="en-US" sz="3200" dirty="0"/>
                  <a:t> long. He has already run </a:t>
                </a:r>
                <a:r>
                  <a:rPr lang="en-US" sz="3200" b="1" dirty="0"/>
                  <a:t>3 </a:t>
                </a:r>
                <a14:m>
                  <m:oMath xmlns:m="http://schemas.openxmlformats.org/officeDocument/2006/math">
                    <m:f>
                      <m:fPr>
                        <m:ctrlPr>
                          <a:rPr lang="en-US" sz="3200" b="1" i="1" smtClean="0">
                            <a:latin typeface="Cambria Math" panose="02040503050406030204" pitchFamily="18" charset="0"/>
                          </a:rPr>
                        </m:ctrlPr>
                      </m:fPr>
                      <m:num>
                        <m:r>
                          <a:rPr lang="en-AU" sz="3200" b="1" i="1" smtClean="0">
                            <a:latin typeface="Cambria Math" panose="02040503050406030204" pitchFamily="18" charset="0"/>
                          </a:rPr>
                          <m:t>𝟏</m:t>
                        </m:r>
                      </m:num>
                      <m:den>
                        <m:r>
                          <a:rPr lang="en-AU" sz="3200" b="1" i="1" smtClean="0">
                            <a:latin typeface="Cambria Math" panose="02040503050406030204" pitchFamily="18" charset="0"/>
                          </a:rPr>
                          <m:t>𝟒</m:t>
                        </m:r>
                      </m:den>
                    </m:f>
                  </m:oMath>
                </a14:m>
                <a:r>
                  <a:rPr lang="en-US" sz="3200" b="1" dirty="0"/>
                  <a:t> </a:t>
                </a:r>
                <a:r>
                  <a:rPr lang="en-US" sz="3200" b="1" dirty="0" err="1"/>
                  <a:t>kilometres</a:t>
                </a:r>
                <a:r>
                  <a:rPr lang="en-US" sz="3200" b="1" dirty="0"/>
                  <a:t> </a:t>
                </a:r>
                <a:r>
                  <a:rPr lang="en-US" sz="3200" dirty="0"/>
                  <a:t>and will stop for a break in another </a:t>
                </a:r>
                <a:r>
                  <a:rPr lang="en-US" sz="3200" b="1" dirty="0"/>
                  <a:t>2 </a:t>
                </a:r>
                <a14:m>
                  <m:oMath xmlns:m="http://schemas.openxmlformats.org/officeDocument/2006/math">
                    <m:f>
                      <m:fPr>
                        <m:ctrlPr>
                          <a:rPr lang="en-US" sz="3200" b="1" i="1" smtClean="0">
                            <a:latin typeface="Cambria Math" panose="02040503050406030204" pitchFamily="18" charset="0"/>
                          </a:rPr>
                        </m:ctrlPr>
                      </m:fPr>
                      <m:num>
                        <m:r>
                          <a:rPr lang="en-AU" sz="3200" b="1" i="1" smtClean="0">
                            <a:latin typeface="Cambria Math" panose="02040503050406030204" pitchFamily="18" charset="0"/>
                          </a:rPr>
                          <m:t>𝟏</m:t>
                        </m:r>
                      </m:num>
                      <m:den>
                        <m:r>
                          <a:rPr lang="en-AU" sz="3200" b="1" i="1" smtClean="0">
                            <a:latin typeface="Cambria Math" panose="02040503050406030204" pitchFamily="18" charset="0"/>
                          </a:rPr>
                          <m:t>𝟖</m:t>
                        </m:r>
                      </m:den>
                    </m:f>
                  </m:oMath>
                </a14:m>
                <a:r>
                  <a:rPr lang="en-US" sz="3200" b="1" dirty="0"/>
                  <a:t> </a:t>
                </a:r>
                <a:r>
                  <a:rPr lang="en-US" sz="3200" b="1" dirty="0" err="1"/>
                  <a:t>kilometres</a:t>
                </a:r>
                <a:r>
                  <a:rPr lang="en-US" sz="3200" dirty="0"/>
                  <a:t>. </a:t>
                </a:r>
              </a:p>
              <a:p>
                <a:pPr algn="ctr"/>
                <a:r>
                  <a:rPr lang="en-US" sz="3200" b="1" dirty="0"/>
                  <a:t>How far </a:t>
                </a:r>
                <a:r>
                  <a:rPr lang="en-US" sz="3200" dirty="0"/>
                  <a:t>will Akira still have to run?</a:t>
                </a:r>
              </a:p>
              <a:p>
                <a:endParaRPr lang="en-US" dirty="0">
                  <a:latin typeface="Arial"/>
                  <a:cs typeface="Arial"/>
                </a:endParaRPr>
              </a:p>
            </p:txBody>
          </p:sp>
        </mc:Choice>
        <mc:Fallback xmlns="">
          <p:sp>
            <p:nvSpPr>
              <p:cNvPr id="11" name="Picture Placeholder 10">
                <a:extLst>
                  <a:ext uri="{FF2B5EF4-FFF2-40B4-BE49-F238E27FC236}">
                    <a16:creationId xmlns:a16="http://schemas.microsoft.com/office/drawing/2014/main" id="{21E9C82F-FE72-F379-EE54-EC40C9DE00C1}"/>
                  </a:ext>
                </a:extLst>
              </p:cNvPr>
              <p:cNvSpPr>
                <a:spLocks noGrp="1" noRot="1" noChangeAspect="1" noMove="1" noResize="1" noEditPoints="1" noAdjustHandles="1" noChangeArrowheads="1" noChangeShapeType="1" noTextEdit="1"/>
              </p:cNvSpPr>
              <p:nvPr>
                <p:ph type="pic" sz="quarter" idx="21"/>
              </p:nvPr>
            </p:nvSpPr>
            <p:spPr>
              <a:xfrm>
                <a:off x="376099" y="1547374"/>
                <a:ext cx="11210840" cy="1023151"/>
              </a:xfrm>
              <a:blipFill>
                <a:blip r:embed="rId3"/>
                <a:stretch>
                  <a:fillRect l="-1794" r="-2773" b="-278571"/>
                </a:stretch>
              </a:blipFill>
            </p:spPr>
            <p:txBody>
              <a:bodyPr/>
              <a:lstStyle/>
              <a:p>
                <a:r>
                  <a:rPr lang="en-US">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03DE4DA9-4B9A-92DD-CA74-B2C1DDF4FB03}"/>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AA232421-C8EE-55E7-3B48-FB94C1F70903}"/>
              </a:ext>
            </a:extLst>
          </p:cNvPr>
          <p:cNvSpPr>
            <a:spLocks noGrp="1"/>
          </p:cNvSpPr>
          <p:nvPr>
            <p:ph type="pic" sz="quarter" idx="21"/>
          </p:nvPr>
        </p:nvSpPr>
        <p:spPr>
          <a:xfrm>
            <a:off x="353365" y="913443"/>
            <a:ext cx="11235949" cy="5146131"/>
          </a:xfrm>
        </p:spPr>
        <p:txBody>
          <a:bodyPr/>
          <a:lstStyle/>
          <a:p>
            <a:pPr algn="ctr"/>
            <a:endParaRPr lang="en-US" sz="4400" dirty="0"/>
          </a:p>
          <a:p>
            <a:pPr algn="ctr"/>
            <a:r>
              <a:rPr lang="en-US" sz="4400" dirty="0">
                <a:latin typeface="Arial"/>
                <a:cs typeface="Arial"/>
              </a:rPr>
              <a:t>1087 – 645 – 422 </a:t>
            </a:r>
            <a:endParaRPr lang="en-US" sz="4400" dirty="0"/>
          </a:p>
          <a:p>
            <a:pPr algn="ctr"/>
            <a:r>
              <a:rPr lang="en-US" sz="3600" b="1" dirty="0">
                <a:latin typeface="Arial"/>
                <a:cs typeface="Arial"/>
              </a:rPr>
              <a:t>Communicate</a:t>
            </a:r>
            <a:r>
              <a:rPr lang="en-US" sz="3600" dirty="0">
                <a:latin typeface="Arial"/>
                <a:cs typeface="Arial"/>
              </a:rPr>
              <a:t> how you use </a:t>
            </a:r>
            <a:r>
              <a:rPr lang="en-US" sz="3600" b="1" dirty="0">
                <a:latin typeface="Arial"/>
                <a:cs typeface="Arial"/>
              </a:rPr>
              <a:t>place value understanding </a:t>
            </a:r>
            <a:r>
              <a:rPr lang="en-US" sz="3600" dirty="0">
                <a:latin typeface="Arial"/>
                <a:cs typeface="Arial"/>
              </a:rPr>
              <a:t>to solve this problem.</a:t>
            </a:r>
            <a:endParaRPr lang="en-US" sz="3600" b="1" dirty="0"/>
          </a:p>
          <a:p>
            <a:pPr algn="ct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1E63D2BF-38DB-BA0C-BA80-947F471E806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(4)</a:t>
            </a:r>
          </a:p>
        </p:txBody>
      </p:sp>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360000" y="1280902"/>
            <a:ext cx="11585976" cy="2730735"/>
          </a:xfrm>
        </p:spPr>
        <p:txBody>
          <a:bodyPr/>
          <a:lstStyle/>
          <a:p>
            <a:pPr algn="ctr"/>
            <a:r>
              <a:rPr lang="en-US" sz="3200" dirty="0">
                <a:latin typeface="Arial"/>
                <a:cs typeface="Arial"/>
              </a:rPr>
              <a:t>Tanvir closed his eyes and chose a handball from the box. </a:t>
            </a:r>
          </a:p>
          <a:p>
            <a:pPr algn="ctr"/>
            <a:r>
              <a:rPr lang="en-US" sz="3200" dirty="0">
                <a:latin typeface="Arial"/>
                <a:cs typeface="Arial"/>
              </a:rPr>
              <a:t>What is the </a:t>
            </a:r>
            <a:r>
              <a:rPr lang="en-US" sz="3200" b="1" dirty="0">
                <a:latin typeface="Arial"/>
                <a:cs typeface="Arial"/>
              </a:rPr>
              <a:t>probability</a:t>
            </a:r>
            <a:r>
              <a:rPr lang="en-US" sz="3200" dirty="0">
                <a:latin typeface="Arial"/>
                <a:cs typeface="Arial"/>
              </a:rPr>
              <a:t> of </a:t>
            </a:r>
            <a:r>
              <a:rPr lang="en-US" sz="3200" b="1" dirty="0">
                <a:latin typeface="Arial"/>
                <a:cs typeface="Arial"/>
              </a:rPr>
              <a:t>selecting</a:t>
            </a:r>
            <a:r>
              <a:rPr lang="en-US" sz="3200" dirty="0">
                <a:latin typeface="Arial"/>
                <a:cs typeface="Arial"/>
              </a:rPr>
              <a:t> a blue handball?</a:t>
            </a:r>
            <a:endParaRPr lang="en-US" sz="32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4B75951C-A82E-F9E5-67E0-9214B5EB3E9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Rectangle 4" descr="A box with 12 circles. There are 4 red, 4 blue and 4 yellow.">
            <a:extLst>
              <a:ext uri="{FF2B5EF4-FFF2-40B4-BE49-F238E27FC236}">
                <a16:creationId xmlns:a16="http://schemas.microsoft.com/office/drawing/2014/main" id="{823DC612-D6D1-D1B9-BECE-95A97E1D64C9}"/>
              </a:ext>
            </a:extLst>
          </p:cNvPr>
          <p:cNvSpPr/>
          <p:nvPr/>
        </p:nvSpPr>
        <p:spPr>
          <a:xfrm>
            <a:off x="2715607" y="3934165"/>
            <a:ext cx="6841864" cy="2581835"/>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descr="A box with 12 circles. There are 4 red, 4 blue and 4 yellow.">
            <a:extLst>
              <a:ext uri="{FF2B5EF4-FFF2-40B4-BE49-F238E27FC236}">
                <a16:creationId xmlns:a16="http://schemas.microsoft.com/office/drawing/2014/main" id="{8E78B0E0-5F5F-58BD-9974-71C069C7589F}"/>
              </a:ext>
            </a:extLst>
          </p:cNvPr>
          <p:cNvSpPr/>
          <p:nvPr/>
        </p:nvSpPr>
        <p:spPr>
          <a:xfrm>
            <a:off x="3173506" y="4722607"/>
            <a:ext cx="666974" cy="645459"/>
          </a:xfrm>
          <a:prstGeom prst="ellipse">
            <a:avLst/>
          </a:prstGeom>
          <a:solidFill>
            <a:schemeClr val="accent2"/>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descr="A box with 12 circles. There are 4 red, 4 blue and 4 yellow.">
            <a:extLst>
              <a:ext uri="{FF2B5EF4-FFF2-40B4-BE49-F238E27FC236}">
                <a16:creationId xmlns:a16="http://schemas.microsoft.com/office/drawing/2014/main" id="{A32ACAB1-912E-ABD6-D893-5DEDA5FBCAAE}"/>
              </a:ext>
            </a:extLst>
          </p:cNvPr>
          <p:cNvSpPr/>
          <p:nvPr/>
        </p:nvSpPr>
        <p:spPr>
          <a:xfrm>
            <a:off x="4721515" y="4913451"/>
            <a:ext cx="666974" cy="645459"/>
          </a:xfrm>
          <a:prstGeom prst="ellipse">
            <a:avLst/>
          </a:prstGeom>
          <a:solidFill>
            <a:schemeClr val="accent2"/>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val 7" descr="A box with 12 circles. There are 4 red, 4 blue and 4 yellow.">
            <a:extLst>
              <a:ext uri="{FF2B5EF4-FFF2-40B4-BE49-F238E27FC236}">
                <a16:creationId xmlns:a16="http://schemas.microsoft.com/office/drawing/2014/main" id="{8397B2D3-EA4D-9E15-AB5E-C5D88AA80C4C}"/>
              </a:ext>
            </a:extLst>
          </p:cNvPr>
          <p:cNvSpPr/>
          <p:nvPr/>
        </p:nvSpPr>
        <p:spPr>
          <a:xfrm>
            <a:off x="8231394" y="5577098"/>
            <a:ext cx="666974" cy="645459"/>
          </a:xfrm>
          <a:prstGeom prst="ellipse">
            <a:avLst/>
          </a:prstGeom>
          <a:solidFill>
            <a:srgbClr val="FFFF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descr="A box with 12 circles. There are 4 red, 4 blue and 4 yellow.">
            <a:extLst>
              <a:ext uri="{FF2B5EF4-FFF2-40B4-BE49-F238E27FC236}">
                <a16:creationId xmlns:a16="http://schemas.microsoft.com/office/drawing/2014/main" id="{F99EC89F-9013-CF60-61BC-4CE028462B1F}"/>
              </a:ext>
            </a:extLst>
          </p:cNvPr>
          <p:cNvSpPr/>
          <p:nvPr/>
        </p:nvSpPr>
        <p:spPr>
          <a:xfrm>
            <a:off x="6136539" y="5577097"/>
            <a:ext cx="666974" cy="645459"/>
          </a:xfrm>
          <a:prstGeom prst="ellipse">
            <a:avLst/>
          </a:prstGeom>
          <a:solidFill>
            <a:schemeClr val="accent2"/>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descr="A box with 12 circles. There are 4 red, 4 blue and 4 yellow.">
            <a:extLst>
              <a:ext uri="{FF2B5EF4-FFF2-40B4-BE49-F238E27FC236}">
                <a16:creationId xmlns:a16="http://schemas.microsoft.com/office/drawing/2014/main" id="{820B7E81-91D4-F3B8-14EE-8912772E63CA}"/>
              </a:ext>
            </a:extLst>
          </p:cNvPr>
          <p:cNvSpPr/>
          <p:nvPr/>
        </p:nvSpPr>
        <p:spPr>
          <a:xfrm>
            <a:off x="7220174" y="4203019"/>
            <a:ext cx="666974" cy="645459"/>
          </a:xfrm>
          <a:prstGeom prst="ellipse">
            <a:avLst/>
          </a:prstGeom>
          <a:solidFill>
            <a:schemeClr val="accent2"/>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11" descr="A box with 12 circles. There are 4 red, 4 blue and 4 yellow.">
            <a:extLst>
              <a:ext uri="{FF2B5EF4-FFF2-40B4-BE49-F238E27FC236}">
                <a16:creationId xmlns:a16="http://schemas.microsoft.com/office/drawing/2014/main" id="{E6E8314F-1EDD-2A37-F747-62F491A45131}"/>
              </a:ext>
            </a:extLst>
          </p:cNvPr>
          <p:cNvSpPr/>
          <p:nvPr/>
        </p:nvSpPr>
        <p:spPr>
          <a:xfrm>
            <a:off x="4177944" y="4033634"/>
            <a:ext cx="666974" cy="645459"/>
          </a:xfrm>
          <a:prstGeom prst="ellipse">
            <a:avLst/>
          </a:prstGeom>
          <a:solidFill>
            <a:srgbClr val="FFFF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descr="A box with 12 circles. There are 4 red, 4 blue and 4 yellow.">
            <a:extLst>
              <a:ext uri="{FF2B5EF4-FFF2-40B4-BE49-F238E27FC236}">
                <a16:creationId xmlns:a16="http://schemas.microsoft.com/office/drawing/2014/main" id="{29B3F7BE-E6FF-0B88-D162-565E7DC05352}"/>
              </a:ext>
            </a:extLst>
          </p:cNvPr>
          <p:cNvSpPr/>
          <p:nvPr/>
        </p:nvSpPr>
        <p:spPr>
          <a:xfrm>
            <a:off x="6204725" y="4618359"/>
            <a:ext cx="666974" cy="645459"/>
          </a:xfrm>
          <a:prstGeom prst="ellipse">
            <a:avLst/>
          </a:prstGeom>
          <a:solidFill>
            <a:srgbClr val="FFFF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descr="A box with 12 circles. There are 4 red, 4 blue and 4 yellow.">
            <a:extLst>
              <a:ext uri="{FF2B5EF4-FFF2-40B4-BE49-F238E27FC236}">
                <a16:creationId xmlns:a16="http://schemas.microsoft.com/office/drawing/2014/main" id="{14946099-278D-917A-A2A8-50064A5C4AD3}"/>
              </a:ext>
            </a:extLst>
          </p:cNvPr>
          <p:cNvSpPr/>
          <p:nvPr/>
        </p:nvSpPr>
        <p:spPr>
          <a:xfrm>
            <a:off x="7339153" y="5375603"/>
            <a:ext cx="666974" cy="645459"/>
          </a:xfrm>
          <a:prstGeom prst="ellipse">
            <a:avLst/>
          </a:prstGeom>
          <a:solidFill>
            <a:srgbClr val="FF00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val 14" descr="A box with 12 circles. There are 4 red, 4 blue and 4 yellow.">
            <a:extLst>
              <a:ext uri="{FF2B5EF4-FFF2-40B4-BE49-F238E27FC236}">
                <a16:creationId xmlns:a16="http://schemas.microsoft.com/office/drawing/2014/main" id="{6835F398-6D89-8CEF-4A75-670C58C8B0DD}"/>
              </a:ext>
            </a:extLst>
          </p:cNvPr>
          <p:cNvSpPr/>
          <p:nvPr/>
        </p:nvSpPr>
        <p:spPr>
          <a:xfrm>
            <a:off x="5176026" y="4148907"/>
            <a:ext cx="666974" cy="645459"/>
          </a:xfrm>
          <a:prstGeom prst="ellipse">
            <a:avLst/>
          </a:prstGeom>
          <a:solidFill>
            <a:srgbClr val="FF00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Oval 15" descr="A box with 12 circles. There are 4 red, 4 blue and 4 yellow.">
            <a:extLst>
              <a:ext uri="{FF2B5EF4-FFF2-40B4-BE49-F238E27FC236}">
                <a16:creationId xmlns:a16="http://schemas.microsoft.com/office/drawing/2014/main" id="{893111D6-7C41-A707-596E-3A24BACDA7E7}"/>
              </a:ext>
            </a:extLst>
          </p:cNvPr>
          <p:cNvSpPr/>
          <p:nvPr/>
        </p:nvSpPr>
        <p:spPr>
          <a:xfrm>
            <a:off x="3733690" y="5368066"/>
            <a:ext cx="666974" cy="645459"/>
          </a:xfrm>
          <a:prstGeom prst="ellipse">
            <a:avLst/>
          </a:prstGeom>
          <a:solidFill>
            <a:srgbClr val="FFFF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Oval 16" descr="A box with 12 circles. There are 4 red, 4 blue and 4 yellow.">
            <a:extLst>
              <a:ext uri="{FF2B5EF4-FFF2-40B4-BE49-F238E27FC236}">
                <a16:creationId xmlns:a16="http://schemas.microsoft.com/office/drawing/2014/main" id="{1F68D3EA-F960-D16E-C730-C3C6EF4A4B62}"/>
              </a:ext>
            </a:extLst>
          </p:cNvPr>
          <p:cNvSpPr/>
          <p:nvPr/>
        </p:nvSpPr>
        <p:spPr>
          <a:xfrm>
            <a:off x="8176613" y="4471636"/>
            <a:ext cx="666974" cy="645459"/>
          </a:xfrm>
          <a:prstGeom prst="ellipse">
            <a:avLst/>
          </a:prstGeom>
          <a:solidFill>
            <a:srgbClr val="FF00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Oval 17" descr="A box with 12 circles. There are 4 red, 4 blue and 4 yellow.">
            <a:extLst>
              <a:ext uri="{FF2B5EF4-FFF2-40B4-BE49-F238E27FC236}">
                <a16:creationId xmlns:a16="http://schemas.microsoft.com/office/drawing/2014/main" id="{AA58D78C-E83C-82BA-6668-375FA7885917}"/>
              </a:ext>
            </a:extLst>
          </p:cNvPr>
          <p:cNvSpPr/>
          <p:nvPr/>
        </p:nvSpPr>
        <p:spPr>
          <a:xfrm>
            <a:off x="5388489" y="5430374"/>
            <a:ext cx="666974" cy="645459"/>
          </a:xfrm>
          <a:prstGeom prst="ellipse">
            <a:avLst/>
          </a:prstGeom>
          <a:solidFill>
            <a:srgbClr val="FF000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52</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7 – 10% off the price</a:t>
            </a:r>
            <a:r>
              <a:rPr lang="en-AU">
                <a:solidFill>
                  <a:schemeClr val="bg1"/>
                </a:solidFill>
                <a:latin typeface="Arial"/>
                <a:cs typeface="Arial"/>
              </a:rPr>
              <a:t>)</a:t>
            </a:r>
          </a:p>
        </p:txBody>
      </p:sp>
      <p:pic>
        <p:nvPicPr>
          <p:cNvPr id="5" name="Picture 4" descr="image of a head with cogs turning inside">
            <a:extLst>
              <a:ext uri="{FF2B5EF4-FFF2-40B4-BE49-F238E27FC236}">
                <a16:creationId xmlns:a16="http://schemas.microsoft.com/office/drawing/2014/main" id="{C3FEAD58-BAD0-EE9D-1953-A11224A2C72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2" name="TextBox 3">
            <a:extLst>
              <a:ext uri="{FF2B5EF4-FFF2-40B4-BE49-F238E27FC236}">
                <a16:creationId xmlns:a16="http://schemas.microsoft.com/office/drawing/2014/main" id="{84A39016-D82C-089E-5D13-79756D02559A}"/>
              </a:ext>
            </a:extLst>
          </p:cNvPr>
          <p:cNvSpPr txBox="1"/>
          <p:nvPr/>
        </p:nvSpPr>
        <p:spPr>
          <a:xfrm>
            <a:off x="615181" y="1720510"/>
            <a:ext cx="10744345" cy="4103688"/>
          </a:xfrm>
          <a:prstGeom prst="rect">
            <a:avLst/>
          </a:prstGeom>
        </p:spPr>
        <p:txBody>
          <a:bodyPr wrap="square" lIns="0" tIns="0" rIns="0" bIns="0" rtlCol="0" anchor="t">
            <a:spAutoFit/>
          </a:bodyPr>
          <a:lstStyle/>
          <a:p>
            <a:pPr algn="ctr">
              <a:lnSpc>
                <a:spcPts val="3983"/>
              </a:lnSpc>
            </a:pPr>
            <a:r>
              <a:rPr lang="en-US" sz="2350" dirty="0">
                <a:solidFill>
                  <a:srgbClr val="000000"/>
                </a:solidFill>
                <a:latin typeface="Edu NSW ACT Foundation"/>
                <a:ea typeface="Canva Student Font"/>
                <a:cs typeface="Canva Student Font"/>
                <a:sym typeface="Canva Student Font"/>
              </a:rPr>
              <a:t> </a:t>
            </a:r>
            <a:r>
              <a:rPr lang="en-US" sz="4000" dirty="0">
                <a:solidFill>
                  <a:srgbClr val="000000"/>
                </a:solidFill>
                <a:ea typeface="Canva Student Font"/>
                <a:cs typeface="Canva Student Font"/>
                <a:sym typeface="Canva Student Font"/>
              </a:rPr>
              <a:t>At the end of year sale, every item in the store was reduced by 10%.</a:t>
            </a:r>
            <a:r>
              <a:rPr lang="en-AU" sz="4000" dirty="0">
                <a:solidFill>
                  <a:srgbClr val="000000"/>
                </a:solidFill>
                <a:ea typeface="Canva Student Font"/>
                <a:cs typeface="Canva Student Font"/>
                <a:sym typeface="Canva Student Font"/>
              </a:rPr>
              <a:t> Every employee at the store is entitled to a staff discount of 10%.</a:t>
            </a:r>
          </a:p>
          <a:p>
            <a:pPr algn="ctr">
              <a:lnSpc>
                <a:spcPts val="3983"/>
              </a:lnSpc>
            </a:pPr>
            <a:br>
              <a:rPr lang="en-AU" sz="4000" dirty="0">
                <a:solidFill>
                  <a:srgbClr val="000000"/>
                </a:solidFill>
                <a:ea typeface="Canva Student Font"/>
                <a:cs typeface="Canva Student Font"/>
                <a:sym typeface="Canva Student Font"/>
              </a:rPr>
            </a:br>
            <a:endParaRPr lang="en-AU" sz="4000" dirty="0">
              <a:solidFill>
                <a:srgbClr val="000000"/>
              </a:solidFill>
              <a:ea typeface="Canva Student Font"/>
              <a:cs typeface="Canva Student Font"/>
            </a:endParaRPr>
          </a:p>
          <a:p>
            <a:pPr algn="ctr">
              <a:lnSpc>
                <a:spcPts val="3983"/>
              </a:lnSpc>
            </a:pPr>
            <a:r>
              <a:rPr lang="en-AU" sz="4000" dirty="0">
                <a:solidFill>
                  <a:srgbClr val="000000"/>
                </a:solidFill>
                <a:ea typeface="Canva Student Font"/>
                <a:cs typeface="Canva Student Font"/>
                <a:sym typeface="Canva Student Font"/>
              </a:rPr>
              <a:t>Is an employee entitled to a 20% </a:t>
            </a:r>
            <a:r>
              <a:rPr lang="en-AU" sz="4000" b="1" dirty="0">
                <a:solidFill>
                  <a:srgbClr val="000000"/>
                </a:solidFill>
                <a:ea typeface="Canva Student Font"/>
                <a:cs typeface="Canva Student Font"/>
                <a:sym typeface="Canva Student Font"/>
              </a:rPr>
              <a:t>discount</a:t>
            </a:r>
            <a:r>
              <a:rPr lang="en-AU" sz="4000" dirty="0">
                <a:solidFill>
                  <a:srgbClr val="000000"/>
                </a:solidFill>
                <a:ea typeface="Canva Student Font"/>
                <a:cs typeface="Canva Student Font"/>
                <a:sym typeface="Canva Student Font"/>
              </a:rPr>
              <a:t> on a dress that originally cost $150?</a:t>
            </a:r>
            <a:r>
              <a:rPr lang="en-US" sz="4000" dirty="0">
                <a:solidFill>
                  <a:srgbClr val="000000"/>
                </a:solidFill>
                <a:ea typeface="Canva Student Font"/>
                <a:cs typeface="Canva Student Font"/>
                <a:sym typeface="Canva Student Font"/>
              </a:rPr>
              <a:t>  Explain your reasoning.</a:t>
            </a:r>
            <a:endParaRPr lang="en-US" sz="4000" dirty="0">
              <a:solidFill>
                <a:srgbClr val="000000"/>
              </a:solidFill>
              <a:ea typeface="Canva Student Font"/>
              <a:cs typeface="Canva Student Font"/>
            </a:endParaRPr>
          </a:p>
        </p:txBody>
      </p:sp>
    </p:spTree>
    <p:extLst>
      <p:ext uri="{BB962C8B-B14F-4D97-AF65-F5344CB8AC3E}">
        <p14:creationId xmlns:p14="http://schemas.microsoft.com/office/powerpoint/2010/main" val="468503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a:t>True or false </a:t>
            </a:r>
            <a:r>
              <a:rPr lang="en-US">
                <a:solidFill>
                  <a:schemeClr val="bg1"/>
                </a:solidFill>
              </a:rPr>
              <a:t>(1)</a:t>
            </a:r>
          </a:p>
        </p:txBody>
      </p:sp>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360000" y="1279509"/>
            <a:ext cx="11171752" cy="2948246"/>
          </a:xfrm>
        </p:spPr>
        <p:txBody>
          <a:bodyPr vert="horz" lIns="0" tIns="0" rIns="0" bIns="0" rtlCol="0" anchor="t">
            <a:noAutofit/>
          </a:bodyPr>
          <a:lstStyle/>
          <a:p>
            <a:pPr algn="ctr"/>
            <a:r>
              <a:rPr lang="en-US" sz="4000" dirty="0">
                <a:latin typeface="Arial"/>
                <a:cs typeface="Arial"/>
              </a:rPr>
              <a:t>Hamza said that </a:t>
            </a:r>
            <a:r>
              <a:rPr lang="en-US" sz="4000" b="1" dirty="0">
                <a:latin typeface="Arial"/>
                <a:cs typeface="Arial"/>
              </a:rPr>
              <a:t>20% </a:t>
            </a:r>
            <a:r>
              <a:rPr lang="en-US" sz="4000" dirty="0">
                <a:latin typeface="Arial"/>
                <a:cs typeface="Arial"/>
              </a:rPr>
              <a:t>off</a:t>
            </a:r>
            <a:r>
              <a:rPr lang="en-US" sz="4000" b="1" dirty="0">
                <a:latin typeface="Arial"/>
                <a:cs typeface="Arial"/>
              </a:rPr>
              <a:t> </a:t>
            </a:r>
            <a:r>
              <a:rPr lang="en-US" sz="4000" dirty="0">
                <a:latin typeface="Arial"/>
                <a:cs typeface="Arial"/>
              </a:rPr>
              <a:t>the regular price of a $550 mountain bike is </a:t>
            </a:r>
            <a:r>
              <a:rPr lang="en-US" sz="4000" b="1" dirty="0">
                <a:latin typeface="Arial"/>
                <a:cs typeface="Arial"/>
              </a:rPr>
              <a:t>better value </a:t>
            </a:r>
            <a:r>
              <a:rPr lang="en-US" sz="4000" dirty="0">
                <a:latin typeface="Arial"/>
                <a:cs typeface="Arial"/>
              </a:rPr>
              <a:t>than an extra </a:t>
            </a:r>
            <a:r>
              <a:rPr lang="en-US" sz="4000" b="1" dirty="0">
                <a:latin typeface="Arial"/>
                <a:cs typeface="Arial"/>
              </a:rPr>
              <a:t>5%</a:t>
            </a:r>
            <a:r>
              <a:rPr lang="en-US" sz="4000" dirty="0">
                <a:latin typeface="Arial"/>
                <a:cs typeface="Arial"/>
              </a:rPr>
              <a:t> off the sale price of $500.</a:t>
            </a:r>
          </a:p>
        </p:txBody>
      </p:sp>
      <p:sp>
        <p:nvSpPr>
          <p:cNvPr id="4" name="Text Placeholder 11">
            <a:extLst>
              <a:ext uri="{FF2B5EF4-FFF2-40B4-BE49-F238E27FC236}">
                <a16:creationId xmlns:a16="http://schemas.microsoft.com/office/drawing/2014/main" id="{E23787D2-1639-51C7-8B9A-B1BB62CAB6AA}"/>
              </a:ext>
            </a:extLst>
          </p:cNvPr>
          <p:cNvSpPr txBox="1">
            <a:spLocks/>
          </p:cNvSpPr>
          <p:nvPr/>
        </p:nvSpPr>
        <p:spPr>
          <a:xfrm>
            <a:off x="322422" y="6076973"/>
            <a:ext cx="4625359" cy="54560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2348862982"/>
              </p:ext>
            </p:extLst>
          </p:nvPr>
        </p:nvGraphicFramePr>
        <p:xfrm>
          <a:off x="2442981" y="478152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75557DD5-EF65-9FF3-3C88-C4692F9C2F2F}"/>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49BC38-5AE6-D002-8CF1-C81FA6A0F702}"/>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a:t>
            </a:r>
          </a:p>
        </p:txBody>
      </p:sp>
      <p:sp>
        <p:nvSpPr>
          <p:cNvPr id="11" name="Picture Placeholder 10">
            <a:extLst>
              <a:ext uri="{FF2B5EF4-FFF2-40B4-BE49-F238E27FC236}">
                <a16:creationId xmlns:a16="http://schemas.microsoft.com/office/drawing/2014/main" id="{FF54730D-1797-6F6B-C3B2-591C858320E8}"/>
              </a:ext>
            </a:extLst>
          </p:cNvPr>
          <p:cNvSpPr>
            <a:spLocks noGrp="1"/>
          </p:cNvSpPr>
          <p:nvPr>
            <p:ph type="pic" sz="quarter" idx="21"/>
          </p:nvPr>
        </p:nvSpPr>
        <p:spPr>
          <a:xfrm>
            <a:off x="413662" y="1275500"/>
            <a:ext cx="11189376" cy="4168875"/>
          </a:xfrm>
        </p:spPr>
        <p:txBody>
          <a:bodyPr/>
          <a:lstStyle/>
          <a:p>
            <a:pPr algn="ctr"/>
            <a:r>
              <a:rPr lang="en-US" sz="3600" dirty="0">
                <a:latin typeface="Arial"/>
                <a:cs typeface="Arial"/>
              </a:rPr>
              <a:t>A teacher needs to stack chairs in a storage room. </a:t>
            </a:r>
          </a:p>
          <a:p>
            <a:pPr algn="ctr"/>
            <a:r>
              <a:rPr lang="en-US" sz="3600" dirty="0">
                <a:latin typeface="Arial"/>
                <a:cs typeface="Arial"/>
              </a:rPr>
              <a:t>The </a:t>
            </a:r>
            <a:r>
              <a:rPr lang="en-US" sz="3600" b="1" dirty="0">
                <a:latin typeface="Arial"/>
                <a:cs typeface="Arial"/>
              </a:rPr>
              <a:t>volume</a:t>
            </a:r>
            <a:r>
              <a:rPr lang="en-US" sz="3600" dirty="0">
                <a:latin typeface="Arial"/>
                <a:cs typeface="Arial"/>
              </a:rPr>
              <a:t> of the room is 1200 cubic </a:t>
            </a:r>
            <a:r>
              <a:rPr lang="en-US" sz="3600" dirty="0" err="1">
                <a:latin typeface="Arial"/>
                <a:cs typeface="Arial"/>
              </a:rPr>
              <a:t>metres</a:t>
            </a:r>
            <a:r>
              <a:rPr lang="en-US" sz="3600" dirty="0">
                <a:latin typeface="Arial"/>
                <a:cs typeface="Arial"/>
              </a:rPr>
              <a:t>. </a:t>
            </a:r>
          </a:p>
          <a:p>
            <a:pPr algn="ctr"/>
            <a:r>
              <a:rPr lang="en-US" sz="3600" dirty="0">
                <a:latin typeface="Arial"/>
                <a:cs typeface="Arial"/>
              </a:rPr>
              <a:t>What </a:t>
            </a:r>
            <a:r>
              <a:rPr lang="en-US" sz="3600" b="1" dirty="0">
                <a:latin typeface="Arial"/>
                <a:cs typeface="Arial"/>
              </a:rPr>
              <a:t>dimensions</a:t>
            </a:r>
            <a:r>
              <a:rPr lang="en-US" sz="3600" dirty="0">
                <a:latin typeface="Arial"/>
                <a:cs typeface="Arial"/>
              </a:rPr>
              <a:t> could it have? </a:t>
            </a:r>
            <a:endParaRPr lang="en-US" sz="3600" dirty="0"/>
          </a:p>
          <a:p>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2A2578A1-ADBB-72FE-B090-2577A9392D24}"/>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2" descr="A drawing of a rectangular prism  showing the dimensions length, width and height.">
            <a:extLst>
              <a:ext uri="{FF2B5EF4-FFF2-40B4-BE49-F238E27FC236}">
                <a16:creationId xmlns:a16="http://schemas.microsoft.com/office/drawing/2014/main" id="{64216F3A-28B5-8FC6-7DE7-9A0BE701D8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0862" y="4081807"/>
            <a:ext cx="4626969" cy="2725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D23D2566-41DB-141E-5859-22E86591C65C}"/>
                  </a:ext>
                </a:extLst>
              </p:cNvPr>
              <p:cNvSpPr>
                <a:spLocks noGrp="1"/>
              </p:cNvSpPr>
              <p:nvPr>
                <p:ph type="pic" sz="quarter" idx="21"/>
              </p:nvPr>
            </p:nvSpPr>
            <p:spPr>
              <a:xfrm>
                <a:off x="360001" y="1184223"/>
                <a:ext cx="11689432" cy="3056398"/>
              </a:xfrm>
            </p:spPr>
            <p:txBody>
              <a:bodyPr/>
              <a:lstStyle/>
              <a:p>
                <a:r>
                  <a:rPr lang="en-US" sz="4000" dirty="0"/>
                  <a:t>How much greater is 5 sixths (</a:t>
                </a:r>
                <a14:m>
                  <m:oMath xmlns:m="http://schemas.openxmlformats.org/officeDocument/2006/math">
                    <m:f>
                      <m:fPr>
                        <m:ctrlPr>
                          <a:rPr lang="en-US" sz="4000" i="1" smtClean="0">
                            <a:latin typeface="Cambria Math" panose="02040503050406030204" pitchFamily="18" charset="0"/>
                          </a:rPr>
                        </m:ctrlPr>
                      </m:fPr>
                      <m:num>
                        <m:r>
                          <a:rPr lang="en-AU" sz="4000" b="0" i="1" smtClean="0">
                            <a:latin typeface="Cambria Math" panose="02040503050406030204" pitchFamily="18" charset="0"/>
                          </a:rPr>
                          <m:t>5</m:t>
                        </m:r>
                      </m:num>
                      <m:den>
                        <m:r>
                          <a:rPr lang="en-AU" sz="4000" b="0" i="1" smtClean="0">
                            <a:latin typeface="Cambria Math" panose="02040503050406030204" pitchFamily="18" charset="0"/>
                          </a:rPr>
                          <m:t>6</m:t>
                        </m:r>
                      </m:den>
                    </m:f>
                  </m:oMath>
                </a14:m>
                <a:r>
                  <a:rPr lang="en-US" sz="4000" dirty="0"/>
                  <a:t>) than one third (</a:t>
                </a:r>
                <a14:m>
                  <m:oMath xmlns:m="http://schemas.openxmlformats.org/officeDocument/2006/math">
                    <m:f>
                      <m:fPr>
                        <m:ctrlPr>
                          <a:rPr lang="en-US" sz="4000" i="1" smtClean="0">
                            <a:latin typeface="Cambria Math" panose="02040503050406030204" pitchFamily="18" charset="0"/>
                          </a:rPr>
                        </m:ctrlPr>
                      </m:fPr>
                      <m:num>
                        <m:r>
                          <a:rPr lang="en-AU" sz="4000" b="0" i="1" smtClean="0">
                            <a:latin typeface="Cambria Math" panose="02040503050406030204" pitchFamily="18" charset="0"/>
                          </a:rPr>
                          <m:t>1</m:t>
                        </m:r>
                      </m:num>
                      <m:den>
                        <m:r>
                          <a:rPr lang="en-AU" sz="4000" b="0" i="1" smtClean="0">
                            <a:latin typeface="Cambria Math" panose="02040503050406030204" pitchFamily="18" charset="0"/>
                          </a:rPr>
                          <m:t>3</m:t>
                        </m:r>
                      </m:den>
                    </m:f>
                  </m:oMath>
                </a14:m>
                <a:r>
                  <a:rPr lang="en-US" sz="4000" dirty="0"/>
                  <a:t>)?</a:t>
                </a:r>
              </a:p>
              <a:p>
                <a:pPr algn="ctr"/>
                <a:endParaRPr lang="en-US" sz="4400" dirty="0">
                  <a:latin typeface="Arial"/>
                  <a:cs typeface="Arial"/>
                </a:endParaRPr>
              </a:p>
            </p:txBody>
          </p:sp>
        </mc:Choice>
        <mc:Fallback xmlns="">
          <p:sp>
            <p:nvSpPr>
              <p:cNvPr id="11" name="Picture Placeholder 10">
                <a:extLst>
                  <a:ext uri="{FF2B5EF4-FFF2-40B4-BE49-F238E27FC236}">
                    <a16:creationId xmlns:a16="http://schemas.microsoft.com/office/drawing/2014/main" id="{D23D2566-41DB-141E-5859-22E86591C65C}"/>
                  </a:ext>
                </a:extLst>
              </p:cNvPr>
              <p:cNvSpPr>
                <a:spLocks noGrp="1" noRot="1" noChangeAspect="1" noMove="1" noResize="1" noEditPoints="1" noAdjustHandles="1" noChangeArrowheads="1" noChangeShapeType="1" noTextEdit="1"/>
              </p:cNvSpPr>
              <p:nvPr>
                <p:ph type="pic" sz="quarter" idx="21"/>
              </p:nvPr>
            </p:nvSpPr>
            <p:spPr>
              <a:xfrm>
                <a:off x="360001" y="1184223"/>
                <a:ext cx="11689432" cy="3056398"/>
              </a:xfrm>
              <a:blipFill>
                <a:blip r:embed="rId3"/>
                <a:stretch>
                  <a:fillRect l="-2607" r="-521"/>
                </a:stretch>
              </a:blipFill>
            </p:spPr>
            <p:txBody>
              <a:bodyPr/>
              <a:lstStyle/>
              <a:p>
                <a:r>
                  <a:rPr lang="en-AU">
                    <a:noFill/>
                  </a:rPr>
                  <a:t> </a:t>
                </a:r>
              </a:p>
            </p:txBody>
          </p:sp>
        </mc:Fallback>
      </mc:AlternateContent>
      <p:pic>
        <p:nvPicPr>
          <p:cNvPr id="5" name="Picture 4" descr="image of a clipboard with a pencil recording short answer responses">
            <a:extLst>
              <a:ext uri="{FF2B5EF4-FFF2-40B4-BE49-F238E27FC236}">
                <a16:creationId xmlns:a16="http://schemas.microsoft.com/office/drawing/2014/main" id="{96D03F5E-A893-89A8-C765-B38394489A2E}"/>
              </a:ext>
            </a:extLst>
          </p:cNvPr>
          <p:cNvPicPr>
            <a:picLocks noChangeAspect="1"/>
          </p:cNvPicPr>
          <p:nvPr/>
        </p:nvPicPr>
        <p:blipFill>
          <a:blip r:embed="rId4"/>
          <a:stretch>
            <a:fillRect/>
          </a:stretch>
        </p:blipFill>
        <p:spPr>
          <a:xfrm>
            <a:off x="11030476" y="268723"/>
            <a:ext cx="915500" cy="915500"/>
          </a:xfrm>
          <a:prstGeom prst="rect">
            <a:avLst/>
          </a:prstGeom>
        </p:spPr>
      </p:pic>
      <p:pic>
        <p:nvPicPr>
          <p:cNvPr id="101" name="Picture 100" descr="2 number lines from 0 to one. The first has marks for thirds and is shaded to show one third. The second has marks for fifths and is shaded to show four fifths. ">
            <a:extLst>
              <a:ext uri="{FF2B5EF4-FFF2-40B4-BE49-F238E27FC236}">
                <a16:creationId xmlns:a16="http://schemas.microsoft.com/office/drawing/2014/main" id="{BDE9EBB5-9362-2E7C-BE50-E66A63EA040A}"/>
              </a:ext>
            </a:extLst>
          </p:cNvPr>
          <p:cNvPicPr>
            <a:picLocks noChangeAspect="1"/>
          </p:cNvPicPr>
          <p:nvPr/>
        </p:nvPicPr>
        <p:blipFill>
          <a:blip r:embed="rId5"/>
          <a:stretch>
            <a:fillRect/>
          </a:stretch>
        </p:blipFill>
        <p:spPr>
          <a:xfrm>
            <a:off x="2532942" y="3248906"/>
            <a:ext cx="6897154" cy="3093132"/>
          </a:xfrm>
          <a:prstGeom prst="rect">
            <a:avLst/>
          </a:prstGeom>
        </p:spPr>
      </p:pic>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93746974-51C1-ECF2-342C-DE409734E1F1}"/>
              </a:ext>
            </a:extLst>
          </p:cNvPr>
          <p:cNvSpPr>
            <a:spLocks noGrp="1"/>
          </p:cNvSpPr>
          <p:nvPr>
            <p:ph type="pic" sz="quarter" idx="21"/>
          </p:nvPr>
        </p:nvSpPr>
        <p:spPr>
          <a:xfrm>
            <a:off x="424395" y="1988506"/>
            <a:ext cx="11178643" cy="2880988"/>
          </a:xfrm>
        </p:spPr>
        <p:txBody>
          <a:bodyPr/>
          <a:lstStyle/>
          <a:p>
            <a:pPr algn="ctr"/>
            <a:r>
              <a:rPr lang="en-US" sz="4400" dirty="0">
                <a:latin typeface="Arial"/>
                <a:cs typeface="Arial"/>
              </a:rPr>
              <a:t>Solve</a:t>
            </a:r>
            <a:endParaRPr lang="en-US" sz="4400" dirty="0"/>
          </a:p>
          <a:p>
            <a:pPr algn="ctr"/>
            <a:r>
              <a:rPr lang="en-US" sz="4400" dirty="0">
                <a:latin typeface="Arial"/>
                <a:cs typeface="Arial"/>
              </a:rPr>
              <a:t>12 300 – 4 293 + 210 </a:t>
            </a:r>
            <a:endParaRPr lang="en-US" sz="4400" dirty="0"/>
          </a:p>
          <a:p>
            <a:pPr algn="ct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FF091A0-BE16-4A35-B2E1-6ACE56F3AA88}"/>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4D6B-9189-E91A-94F1-0BFF176CCD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AEA27B-161C-5E2A-F2CE-834142161ED0}"/>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3" name="Title 2">
            <a:extLst>
              <a:ext uri="{FF2B5EF4-FFF2-40B4-BE49-F238E27FC236}">
                <a16:creationId xmlns:a16="http://schemas.microsoft.com/office/drawing/2014/main" id="{71EF5B99-01ED-96BA-A959-B34AFEB0EDB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11" name="Picture Placeholder 10">
            <a:extLst>
              <a:ext uri="{FF2B5EF4-FFF2-40B4-BE49-F238E27FC236}">
                <a16:creationId xmlns:a16="http://schemas.microsoft.com/office/drawing/2014/main" id="{57DCC576-F92F-1793-E208-C0A079F57864}"/>
              </a:ext>
            </a:extLst>
          </p:cNvPr>
          <p:cNvSpPr>
            <a:spLocks noGrp="1"/>
          </p:cNvSpPr>
          <p:nvPr>
            <p:ph type="pic" sz="quarter" idx="21"/>
          </p:nvPr>
        </p:nvSpPr>
        <p:spPr>
          <a:xfrm>
            <a:off x="410085" y="1183059"/>
            <a:ext cx="11371829" cy="956721"/>
          </a:xfrm>
        </p:spPr>
        <p:txBody>
          <a:bodyPr/>
          <a:lstStyle/>
          <a:p>
            <a:pPr algn="ctr"/>
            <a:r>
              <a:rPr lang="en-US" sz="4400" b="1" dirty="0">
                <a:latin typeface="Arial"/>
                <a:cs typeface="Arial"/>
              </a:rPr>
              <a:t>Draw</a:t>
            </a:r>
            <a:r>
              <a:rPr lang="en-US" sz="4400" dirty="0">
                <a:latin typeface="Arial"/>
                <a:cs typeface="Arial"/>
              </a:rPr>
              <a:t> how the irregular hexagon would appear if it was </a:t>
            </a:r>
            <a:r>
              <a:rPr lang="en-US" sz="4400" b="1" dirty="0">
                <a:latin typeface="Arial"/>
                <a:cs typeface="Arial"/>
              </a:rPr>
              <a:t>rotated</a:t>
            </a:r>
            <a:r>
              <a:rPr lang="en-US" sz="4400" dirty="0">
                <a:latin typeface="Arial"/>
                <a:cs typeface="Arial"/>
              </a:rPr>
              <a:t> </a:t>
            </a:r>
            <a:r>
              <a:rPr lang="en-AU" sz="4400" dirty="0"/>
              <a:t>90°</a:t>
            </a:r>
            <a:endParaRPr lang="en-US" sz="4400" dirty="0"/>
          </a:p>
          <a:p>
            <a:pPr algn="ctr"/>
            <a:endParaRPr lang="en-US" sz="4400" dirty="0"/>
          </a:p>
          <a:p>
            <a:pPr algn="ctr"/>
            <a:endParaRPr lang="en-US" sz="4400" dirty="0"/>
          </a:p>
          <a:p>
            <a:endParaRPr lang="en-US" dirty="0">
              <a:latin typeface="Arial"/>
              <a:cs typeface="Arial"/>
            </a:endParaRPr>
          </a:p>
        </p:txBody>
      </p:sp>
      <p:sp>
        <p:nvSpPr>
          <p:cNvPr id="8" name="Rectangle 1">
            <a:extLst>
              <a:ext uri="{FF2B5EF4-FFF2-40B4-BE49-F238E27FC236}">
                <a16:creationId xmlns:a16="http://schemas.microsoft.com/office/drawing/2014/main" id="{5AC34F0C-28B1-3022-A067-304B23CEDBC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14" name="TextBox 13">
            <a:extLst>
              <a:ext uri="{FF2B5EF4-FFF2-40B4-BE49-F238E27FC236}">
                <a16:creationId xmlns:a16="http://schemas.microsoft.com/office/drawing/2014/main" id="{51BCFBB5-7824-F17B-5948-CE18B7EDA9D7}"/>
              </a:ext>
            </a:extLst>
          </p:cNvPr>
          <p:cNvSpPr txBox="1"/>
          <p:nvPr/>
        </p:nvSpPr>
        <p:spPr>
          <a:xfrm>
            <a:off x="7598352" y="3069824"/>
            <a:ext cx="1385454" cy="717341"/>
          </a:xfrm>
          <a:prstGeom prst="rect">
            <a:avLst/>
          </a:prstGeom>
          <a:noFill/>
        </p:spPr>
        <p:txBody>
          <a:bodyPr wrap="square" lIns="0" tIns="0" rIns="0" bIns="0" rtlCol="0">
            <a:noAutofit/>
          </a:bodyPr>
          <a:lstStyle/>
          <a:p>
            <a:pPr algn="l"/>
            <a:r>
              <a:rPr lang="en-AU" b="1">
                <a:solidFill>
                  <a:schemeClr val="bg1"/>
                </a:solidFill>
              </a:rPr>
              <a:t>Shape B</a:t>
            </a:r>
          </a:p>
        </p:txBody>
      </p:sp>
      <p:pic>
        <p:nvPicPr>
          <p:cNvPr id="5" name="Picture 4" descr="image of a clipboard with a pencil recording short answer responses">
            <a:extLst>
              <a:ext uri="{FF2B5EF4-FFF2-40B4-BE49-F238E27FC236}">
                <a16:creationId xmlns:a16="http://schemas.microsoft.com/office/drawing/2014/main" id="{41CBD14D-6B43-D6D7-65E4-0BA5584EEAD7}"/>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6" name="Group 2">
            <a:extLst>
              <a:ext uri="{FF2B5EF4-FFF2-40B4-BE49-F238E27FC236}">
                <a16:creationId xmlns:a16="http://schemas.microsoft.com/office/drawing/2014/main" id="{19FD99A3-F5DD-5A9E-677B-C3BF43D32C71}"/>
              </a:ext>
            </a:extLst>
          </p:cNvPr>
          <p:cNvGrpSpPr/>
          <p:nvPr/>
        </p:nvGrpSpPr>
        <p:grpSpPr>
          <a:xfrm>
            <a:off x="3976577" y="3787165"/>
            <a:ext cx="4120821" cy="2065406"/>
            <a:chOff x="0" y="0"/>
            <a:chExt cx="812800" cy="406400"/>
          </a:xfrm>
        </p:grpSpPr>
        <p:sp>
          <p:nvSpPr>
            <p:cNvPr id="7" name="Freeform 3" descr="An irregular hexagon.">
              <a:extLst>
                <a:ext uri="{FF2B5EF4-FFF2-40B4-BE49-F238E27FC236}">
                  <a16:creationId xmlns:a16="http://schemas.microsoft.com/office/drawing/2014/main" id="{77A096FC-0367-19B1-7D0A-FBF772925392}"/>
                </a:ext>
              </a:extLst>
            </p:cNvPr>
            <p:cNvSpPr/>
            <p:nvPr/>
          </p:nvSpPr>
          <p:spPr>
            <a:xfrm>
              <a:off x="0" y="0"/>
              <a:ext cx="812800" cy="406400"/>
            </a:xfrm>
            <a:custGeom>
              <a:avLst/>
              <a:gdLst/>
              <a:ahLst/>
              <a:cxnLst/>
              <a:rect l="l" t="t" r="r" b="b"/>
              <a:pathLst>
                <a:path w="812800" h="406400">
                  <a:moveTo>
                    <a:pt x="812800" y="0"/>
                  </a:moveTo>
                  <a:lnTo>
                    <a:pt x="0" y="0"/>
                  </a:lnTo>
                  <a:lnTo>
                    <a:pt x="101600" y="203200"/>
                  </a:lnTo>
                  <a:lnTo>
                    <a:pt x="0" y="406400"/>
                  </a:lnTo>
                  <a:lnTo>
                    <a:pt x="812800" y="406400"/>
                  </a:lnTo>
                  <a:lnTo>
                    <a:pt x="711200" y="203200"/>
                  </a:lnTo>
                  <a:lnTo>
                    <a:pt x="812800" y="0"/>
                  </a:lnTo>
                  <a:close/>
                </a:path>
              </a:pathLst>
            </a:custGeom>
            <a:solidFill>
              <a:srgbClr val="CBEDFD"/>
            </a:solidFill>
            <a:ln w="38100" cap="sq">
              <a:solidFill>
                <a:srgbClr val="000000"/>
              </a:solidFill>
              <a:prstDash val="solid"/>
              <a:miter/>
            </a:ln>
          </p:spPr>
          <p:txBody>
            <a:bodyPr/>
            <a:lstStyle/>
            <a:p>
              <a:endParaRPr lang="en-AU"/>
            </a:p>
          </p:txBody>
        </p:sp>
        <p:sp>
          <p:nvSpPr>
            <p:cNvPr id="10" name="TextBox 4">
              <a:extLst>
                <a:ext uri="{FF2B5EF4-FFF2-40B4-BE49-F238E27FC236}">
                  <a16:creationId xmlns:a16="http://schemas.microsoft.com/office/drawing/2014/main" id="{C592095E-5BD6-C782-E36A-0892FFF0C78E}"/>
                </a:ext>
              </a:extLst>
            </p:cNvPr>
            <p:cNvSpPr txBox="1"/>
            <p:nvPr/>
          </p:nvSpPr>
          <p:spPr>
            <a:xfrm>
              <a:off x="88900" y="-28575"/>
              <a:ext cx="635000" cy="434975"/>
            </a:xfrm>
            <a:prstGeom prst="rect">
              <a:avLst/>
            </a:prstGeom>
          </p:spPr>
          <p:txBody>
            <a:bodyPr lIns="50800" tIns="50800" rIns="50800" bIns="50800" rtlCol="0" anchor="ctr"/>
            <a:lstStyle/>
            <a:p>
              <a:pPr algn="ctr">
                <a:lnSpc>
                  <a:spcPts val="1960"/>
                </a:lnSpc>
              </a:pPr>
              <a:endParaRPr/>
            </a:p>
          </p:txBody>
        </p:sp>
      </p:grpSp>
    </p:spTree>
    <p:extLst>
      <p:ext uri="{BB962C8B-B14F-4D97-AF65-F5344CB8AC3E}">
        <p14:creationId xmlns:p14="http://schemas.microsoft.com/office/powerpoint/2010/main" val="85362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678F2-4E06-253C-7FA4-41B04B2257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0FD35F-6187-C003-82CF-A82BC3DF3DA5}"/>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59</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44983AAD-3169-9F03-9285-FDCB0BC94F9E}"/>
              </a:ext>
            </a:extLst>
          </p:cNvPr>
          <p:cNvSpPr>
            <a:spLocks noGrp="1"/>
          </p:cNvSpPr>
          <p:nvPr>
            <p:ph type="title"/>
          </p:nvPr>
        </p:nvSpPr>
        <p:spPr>
          <a:xfrm>
            <a:off x="360000" y="360000"/>
            <a:ext cx="11484000" cy="545601"/>
          </a:xfrm>
        </p:spPr>
        <p:txBody>
          <a:bodyPr/>
          <a:lstStyle/>
          <a:p>
            <a:r>
              <a:rPr lang="en-AU">
                <a:latin typeface="Arial"/>
                <a:cs typeface="Arial"/>
              </a:rPr>
              <a:t>Activity 8 – 10% sales tax </a:t>
            </a:r>
            <a:r>
              <a:rPr lang="en-AU">
                <a:solidFill>
                  <a:schemeClr val="bg1"/>
                </a:solidFill>
                <a:latin typeface="Arial"/>
                <a:cs typeface="Arial"/>
              </a:rPr>
              <a:t>(2)</a:t>
            </a:r>
          </a:p>
        </p:txBody>
      </p:sp>
      <p:pic>
        <p:nvPicPr>
          <p:cNvPr id="4" name="Picture 3" descr="image of a head with cogs turning inside">
            <a:extLst>
              <a:ext uri="{FF2B5EF4-FFF2-40B4-BE49-F238E27FC236}">
                <a16:creationId xmlns:a16="http://schemas.microsoft.com/office/drawing/2014/main" id="{87576929-8103-4A0A-E4C9-FC4E6E7607D7}"/>
              </a:ext>
            </a:extLst>
          </p:cNvPr>
          <p:cNvPicPr>
            <a:picLocks noChangeAspect="1"/>
          </p:cNvPicPr>
          <p:nvPr/>
        </p:nvPicPr>
        <p:blipFill>
          <a:blip r:embed="rId3"/>
          <a:stretch>
            <a:fillRect/>
          </a:stretch>
        </p:blipFill>
        <p:spPr>
          <a:xfrm>
            <a:off x="11107003" y="240894"/>
            <a:ext cx="720000" cy="856364"/>
          </a:xfrm>
          <a:prstGeom prst="rect">
            <a:avLst/>
          </a:prstGeom>
        </p:spPr>
      </p:pic>
      <p:sp>
        <p:nvSpPr>
          <p:cNvPr id="11" name="TextBox 4">
            <a:extLst>
              <a:ext uri="{FF2B5EF4-FFF2-40B4-BE49-F238E27FC236}">
                <a16:creationId xmlns:a16="http://schemas.microsoft.com/office/drawing/2014/main" id="{FE286499-6FF0-041E-462F-5C7379F944EA}"/>
              </a:ext>
            </a:extLst>
          </p:cNvPr>
          <p:cNvSpPr txBox="1"/>
          <p:nvPr/>
        </p:nvSpPr>
        <p:spPr>
          <a:xfrm>
            <a:off x="1346200" y="2407184"/>
            <a:ext cx="9002815" cy="669283"/>
          </a:xfrm>
          <a:prstGeom prst="rect">
            <a:avLst/>
          </a:prstGeom>
        </p:spPr>
        <p:txBody>
          <a:bodyPr wrap="square" lIns="0" tIns="0" rIns="0" bIns="0" rtlCol="0" anchor="t">
            <a:spAutoFit/>
          </a:bodyPr>
          <a:lstStyle/>
          <a:p>
            <a:pPr algn="ctr">
              <a:lnSpc>
                <a:spcPts val="3359"/>
              </a:lnSpc>
              <a:spcBef>
                <a:spcPct val="0"/>
              </a:spcBef>
            </a:pPr>
            <a:endParaRPr lang="en-US" sz="2399">
              <a:solidFill>
                <a:srgbClr val="000000"/>
              </a:solidFill>
              <a:latin typeface="Edu NSW ACT Foundation" pitchFamily="2" charset="0"/>
              <a:ea typeface="Canva Student Font"/>
              <a:cs typeface="Canva Student Font"/>
              <a:sym typeface="Canva Student Font"/>
            </a:endParaRPr>
          </a:p>
        </p:txBody>
      </p:sp>
      <p:sp>
        <p:nvSpPr>
          <p:cNvPr id="17" name="TextBox 3">
            <a:extLst>
              <a:ext uri="{FF2B5EF4-FFF2-40B4-BE49-F238E27FC236}">
                <a16:creationId xmlns:a16="http://schemas.microsoft.com/office/drawing/2014/main" id="{4B1DEEF6-5B62-47B1-435E-EA5CB65CEB40}"/>
              </a:ext>
            </a:extLst>
          </p:cNvPr>
          <p:cNvSpPr txBox="1"/>
          <p:nvPr/>
        </p:nvSpPr>
        <p:spPr>
          <a:xfrm>
            <a:off x="360000" y="1247919"/>
            <a:ext cx="11057300" cy="2508059"/>
          </a:xfrm>
          <a:prstGeom prst="rect">
            <a:avLst/>
          </a:prstGeom>
        </p:spPr>
        <p:txBody>
          <a:bodyPr wrap="square" lIns="0" tIns="0" rIns="0" bIns="0" rtlCol="0" anchor="t">
            <a:spAutoFit/>
          </a:bodyPr>
          <a:lstStyle/>
          <a:p>
            <a:pPr algn="ctr">
              <a:lnSpc>
                <a:spcPts val="3983"/>
              </a:lnSpc>
            </a:pPr>
            <a:r>
              <a:rPr lang="en-US" sz="3200" dirty="0">
                <a:solidFill>
                  <a:srgbClr val="000000"/>
                </a:solidFill>
                <a:ea typeface="Canva Student Font"/>
                <a:cs typeface="Canva Student Font"/>
                <a:sym typeface="Canva Student Font"/>
              </a:rPr>
              <a:t>You must pay </a:t>
            </a:r>
            <a:r>
              <a:rPr lang="en-US" sz="3200" b="1" dirty="0">
                <a:solidFill>
                  <a:srgbClr val="000000"/>
                </a:solidFill>
                <a:ea typeface="Canva Student Font"/>
                <a:cs typeface="Canva Student Font"/>
                <a:sym typeface="Canva Student Font"/>
              </a:rPr>
              <a:t>10% sales tax </a:t>
            </a:r>
            <a:r>
              <a:rPr lang="en-US" sz="3200" dirty="0">
                <a:solidFill>
                  <a:srgbClr val="000000"/>
                </a:solidFill>
                <a:ea typeface="Canva Student Font"/>
                <a:cs typeface="Canva Student Font"/>
                <a:sym typeface="Canva Student Font"/>
              </a:rPr>
              <a:t>on every item you purchase. </a:t>
            </a:r>
          </a:p>
          <a:p>
            <a:pPr algn="ctr">
              <a:lnSpc>
                <a:spcPts val="3983"/>
              </a:lnSpc>
            </a:pPr>
            <a:r>
              <a:rPr lang="en-US" sz="3200" dirty="0">
                <a:solidFill>
                  <a:srgbClr val="000000"/>
                </a:solidFill>
                <a:ea typeface="Canva Student Font"/>
                <a:cs typeface="Canva Student Font"/>
                <a:sym typeface="Canva Student Font"/>
              </a:rPr>
              <a:t>In a sale, a </a:t>
            </a:r>
            <a:r>
              <a:rPr lang="en-US" sz="3200" b="1" dirty="0">
                <a:solidFill>
                  <a:srgbClr val="000000"/>
                </a:solidFill>
                <a:ea typeface="Canva Student Font"/>
                <a:cs typeface="Canva Student Font"/>
                <a:sym typeface="Canva Student Font"/>
              </a:rPr>
              <a:t>20% discount </a:t>
            </a:r>
            <a:r>
              <a:rPr lang="en-US" sz="3200" dirty="0">
                <a:solidFill>
                  <a:srgbClr val="000000"/>
                </a:solidFill>
                <a:ea typeface="Canva Student Font"/>
                <a:cs typeface="Canva Student Font"/>
                <a:sym typeface="Canva Student Font"/>
              </a:rPr>
              <a:t>is offered on all items. </a:t>
            </a:r>
          </a:p>
          <a:p>
            <a:pPr algn="ctr">
              <a:lnSpc>
                <a:spcPts val="3983"/>
              </a:lnSpc>
            </a:pPr>
            <a:r>
              <a:rPr lang="en-US" sz="3200" dirty="0">
                <a:solidFill>
                  <a:srgbClr val="000000"/>
                </a:solidFill>
                <a:ea typeface="Canva Student Font"/>
                <a:cs typeface="Canva Student Font"/>
                <a:sym typeface="Canva Student Font"/>
              </a:rPr>
              <a:t>Which would you prefer to have </a:t>
            </a:r>
            <a:r>
              <a:rPr lang="en-US" sz="3200" b="1" dirty="0">
                <a:solidFill>
                  <a:srgbClr val="000000"/>
                </a:solidFill>
                <a:ea typeface="Canva Student Font"/>
                <a:cs typeface="Canva Student Font"/>
                <a:sym typeface="Canva Student Font"/>
              </a:rPr>
              <a:t>calculated first</a:t>
            </a:r>
            <a:r>
              <a:rPr lang="en-US" sz="3200" dirty="0">
                <a:solidFill>
                  <a:srgbClr val="000000"/>
                </a:solidFill>
                <a:ea typeface="Canva Student Font"/>
                <a:cs typeface="Canva Student Font"/>
                <a:sym typeface="Canva Student Font"/>
              </a:rPr>
              <a:t> - the discount or tax?</a:t>
            </a:r>
          </a:p>
          <a:p>
            <a:pPr algn="ctr">
              <a:lnSpc>
                <a:spcPts val="3983"/>
              </a:lnSpc>
            </a:pPr>
            <a:endParaRPr lang="en-US" sz="2399" dirty="0">
              <a:solidFill>
                <a:srgbClr val="000000"/>
              </a:solidFill>
              <a:latin typeface="Edu NSW ACT Foundation" pitchFamily="2" charset="0"/>
              <a:ea typeface="Canva Student Font"/>
              <a:cs typeface="Canva Student Font"/>
              <a:sym typeface="Canva Student Font"/>
            </a:endParaRPr>
          </a:p>
        </p:txBody>
      </p:sp>
      <p:sp>
        <p:nvSpPr>
          <p:cNvPr id="18" name="Freeform 2">
            <a:extLst>
              <a:ext uri="{FF2B5EF4-FFF2-40B4-BE49-F238E27FC236}">
                <a16:creationId xmlns:a16="http://schemas.microsoft.com/office/drawing/2014/main" id="{F94126C0-63BA-F3D5-9CFE-97406AA609C9}"/>
              </a:ext>
              <a:ext uri="{C183D7F6-B498-43B3-948B-1728B52AA6E4}">
                <adec:decorative xmlns:adec="http://schemas.microsoft.com/office/drawing/2017/decorative" val="1"/>
              </a:ext>
            </a:extLst>
          </p:cNvPr>
          <p:cNvSpPr/>
          <p:nvPr/>
        </p:nvSpPr>
        <p:spPr>
          <a:xfrm>
            <a:off x="3054928" y="4676919"/>
            <a:ext cx="3128682" cy="2181081"/>
          </a:xfrm>
          <a:custGeom>
            <a:avLst/>
            <a:gdLst/>
            <a:ahLst/>
            <a:cxnLst/>
            <a:rect l="l" t="t" r="r" b="b"/>
            <a:pathLst>
              <a:path w="2044666" h="1380149">
                <a:moveTo>
                  <a:pt x="0" y="0"/>
                </a:moveTo>
                <a:lnTo>
                  <a:pt x="2044666" y="0"/>
                </a:lnTo>
                <a:lnTo>
                  <a:pt x="2044666" y="1380149"/>
                </a:lnTo>
                <a:lnTo>
                  <a:pt x="0" y="1380149"/>
                </a:lnTo>
                <a:lnTo>
                  <a:pt x="0" y="0"/>
                </a:lnTo>
                <a:close/>
              </a:path>
            </a:pathLst>
          </a:custGeom>
          <a:blipFill>
            <a:blip r:embed="rId4"/>
            <a:stretch>
              <a:fillRect/>
            </a:stretch>
          </a:blipFill>
        </p:spPr>
        <p:txBody>
          <a:bodyPr/>
          <a:lstStyle/>
          <a:p>
            <a:endParaRPr lang="en-AU"/>
          </a:p>
        </p:txBody>
      </p:sp>
      <p:sp>
        <p:nvSpPr>
          <p:cNvPr id="19" name="Freeform 7" descr="A sales tag with the price $100.">
            <a:extLst>
              <a:ext uri="{FF2B5EF4-FFF2-40B4-BE49-F238E27FC236}">
                <a16:creationId xmlns:a16="http://schemas.microsoft.com/office/drawing/2014/main" id="{6064408B-BE2D-F3F8-1E08-6C6101D7F855}"/>
              </a:ext>
            </a:extLst>
          </p:cNvPr>
          <p:cNvSpPr/>
          <p:nvPr/>
        </p:nvSpPr>
        <p:spPr>
          <a:xfrm rot="13221576">
            <a:off x="6831975" y="4272226"/>
            <a:ext cx="1831952" cy="2675707"/>
          </a:xfrm>
          <a:custGeom>
            <a:avLst/>
            <a:gdLst/>
            <a:ahLst/>
            <a:cxnLst/>
            <a:rect l="l" t="t" r="r" b="b"/>
            <a:pathLst>
              <a:path w="1694711" h="1898076">
                <a:moveTo>
                  <a:pt x="0" y="0"/>
                </a:moveTo>
                <a:lnTo>
                  <a:pt x="1694711" y="0"/>
                </a:lnTo>
                <a:lnTo>
                  <a:pt x="1694711" y="1898076"/>
                </a:lnTo>
                <a:lnTo>
                  <a:pt x="0" y="189807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sp>
        <p:nvSpPr>
          <p:cNvPr id="20" name="TextBox 8">
            <a:extLst>
              <a:ext uri="{FF2B5EF4-FFF2-40B4-BE49-F238E27FC236}">
                <a16:creationId xmlns:a16="http://schemas.microsoft.com/office/drawing/2014/main" id="{7CBED91C-1B7B-9BB7-679E-4FCF8FCBB3F7}"/>
              </a:ext>
            </a:extLst>
          </p:cNvPr>
          <p:cNvSpPr txBox="1"/>
          <p:nvPr/>
        </p:nvSpPr>
        <p:spPr>
          <a:xfrm>
            <a:off x="7747951" y="5201313"/>
            <a:ext cx="947933" cy="408766"/>
          </a:xfrm>
          <a:prstGeom prst="rect">
            <a:avLst/>
          </a:prstGeom>
        </p:spPr>
        <p:txBody>
          <a:bodyPr wrap="square" lIns="0" tIns="0" rIns="0" bIns="0" rtlCol="0" anchor="t">
            <a:spAutoFit/>
          </a:bodyPr>
          <a:lstStyle/>
          <a:p>
            <a:pPr algn="ctr">
              <a:lnSpc>
                <a:spcPts val="3359"/>
              </a:lnSpc>
            </a:pPr>
            <a:r>
              <a:rPr lang="en-US" sz="2800" dirty="0">
                <a:solidFill>
                  <a:srgbClr val="000000"/>
                </a:solidFill>
                <a:latin typeface="Arial" panose="020B0604020202020204" pitchFamily="34" charset="0"/>
                <a:ea typeface="Schoolbell"/>
                <a:cs typeface="Arial" panose="020B0604020202020204" pitchFamily="34" charset="0"/>
                <a:sym typeface="Schoolbell"/>
              </a:rPr>
              <a:t>$100</a:t>
            </a:r>
          </a:p>
        </p:txBody>
      </p:sp>
    </p:spTree>
    <p:extLst>
      <p:ext uri="{BB962C8B-B14F-4D97-AF65-F5344CB8AC3E}">
        <p14:creationId xmlns:p14="http://schemas.microsoft.com/office/powerpoint/2010/main" val="3398563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dirty="0"/>
              <a:t>Multiple choice </a:t>
            </a:r>
            <a:r>
              <a:rPr lang="en-US" dirty="0">
                <a:solidFill>
                  <a:schemeClr val="bg1"/>
                </a:solidFill>
              </a:rPr>
              <a:t>(1)</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dirty="0"/>
              <a:t>Multiple choice </a:t>
            </a:r>
            <a:r>
              <a:rPr lang="en-US" dirty="0">
                <a:solidFill>
                  <a:schemeClr val="bg1"/>
                </a:solidFill>
              </a:rPr>
              <a:t>(2)</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8" name="Content Placeholder 3">
            <a:extLst>
              <a:ext uri="{FF2B5EF4-FFF2-40B4-BE49-F238E27FC236}">
                <a16:creationId xmlns:a16="http://schemas.microsoft.com/office/drawing/2014/main" id="{E1D5CEF0-A7DC-2F8B-3A98-B2BB2204FDF0}"/>
              </a:ext>
            </a:extLst>
          </p:cNvPr>
          <p:cNvSpPr>
            <a:spLocks noGrp="1"/>
          </p:cNvSpPr>
          <p:nvPr>
            <p:ph idx="1"/>
          </p:nvPr>
        </p:nvSpPr>
        <p:spPr>
          <a:xfrm>
            <a:off x="360000" y="3428999"/>
            <a:ext cx="11484000" cy="2927351"/>
          </a:xfrm>
        </p:spPr>
        <p:txBody>
          <a:bodyPr/>
          <a:lstStyle/>
          <a:p>
            <a:pPr>
              <a:lnSpc>
                <a:spcPct val="150000"/>
              </a:lnSpc>
              <a:spcBef>
                <a:spcPts val="1200"/>
              </a:spcBef>
              <a:spcAft>
                <a:spcPts val="600"/>
              </a:spcAft>
            </a:pPr>
            <a:r>
              <a:rPr lang="en-AU" sz="1200" u="sng" dirty="0">
                <a:solidFill>
                  <a:srgbClr val="2F5496"/>
                </a:solidFill>
                <a:effectLst/>
                <a:latin typeface="+mj-lt"/>
                <a:ea typeface="Calibri" panose="020F0502020204030204" pitchFamily="34" charset="0"/>
                <a:hlinkClick r:id="rId6"/>
              </a:rPr>
              <a:t>Mathematics K–10 Syllabus</a:t>
            </a:r>
            <a:r>
              <a:rPr lang="en-AU" sz="1200" dirty="0">
                <a:effectLst/>
                <a:latin typeface="+mj-lt"/>
                <a:ea typeface="Calibri" panose="020F0502020204030204" pitchFamily="34" charset="0"/>
              </a:rPr>
              <a:t> © NSW Education Standards Authority (NESA) for and on behalf of the Crown in right of the State of New South Wales, 2022.</a:t>
            </a:r>
          </a:p>
          <a:p>
            <a:pPr>
              <a:lnSpc>
                <a:spcPct val="150000"/>
              </a:lnSpc>
              <a:spcBef>
                <a:spcPts val="1200"/>
              </a:spcBef>
              <a:spcAft>
                <a:spcPts val="600"/>
              </a:spcAft>
            </a:pPr>
            <a:r>
              <a:rPr lang="en-AU" sz="1200" dirty="0">
                <a:effectLst/>
                <a:latin typeface="+mj-lt"/>
                <a:ea typeface="Calibri" panose="020F0502020204030204" pitchFamily="34" charset="0"/>
              </a:rPr>
              <a:t>Amplify Education (2024) </a:t>
            </a:r>
            <a:r>
              <a:rPr lang="en-AU" sz="1200" dirty="0" err="1">
                <a:effectLst/>
                <a:latin typeface="+mj-lt"/>
                <a:ea typeface="Calibri" panose="020F0502020204030204" pitchFamily="34" charset="0"/>
                <a:hlinkClick r:id="rId7"/>
              </a:rPr>
              <a:t>Polypad</a:t>
            </a:r>
            <a:r>
              <a:rPr lang="en-AU" sz="1200" dirty="0">
                <a:effectLst/>
                <a:latin typeface="+mj-lt"/>
                <a:ea typeface="Calibri" panose="020F0502020204030204" pitchFamily="34" charset="0"/>
              </a:rPr>
              <a:t>, </a:t>
            </a:r>
            <a:r>
              <a:rPr lang="en-AU" sz="1200" dirty="0" err="1">
                <a:effectLst/>
                <a:latin typeface="+mj-lt"/>
                <a:ea typeface="Calibri" panose="020F0502020204030204" pitchFamily="34" charset="0"/>
              </a:rPr>
              <a:t>Polypad</a:t>
            </a:r>
            <a:r>
              <a:rPr lang="en-AU" sz="1200" dirty="0">
                <a:effectLst/>
                <a:latin typeface="+mj-lt"/>
                <a:ea typeface="Calibri" panose="020F0502020204030204" pitchFamily="34" charset="0"/>
              </a:rPr>
              <a:t> website, accessed 26 May 2025. </a:t>
            </a:r>
          </a:p>
          <a:p>
            <a:pPr>
              <a:lnSpc>
                <a:spcPct val="150000"/>
              </a:lnSpc>
              <a:spcBef>
                <a:spcPts val="1200"/>
              </a:spcBef>
              <a:spcAft>
                <a:spcPts val="600"/>
              </a:spcAft>
            </a:pPr>
            <a:r>
              <a:rPr lang="en-AU" sz="1200" dirty="0">
                <a:effectLst/>
                <a:latin typeface="+mj-lt"/>
                <a:ea typeface="Calibri" panose="020F0502020204030204" pitchFamily="34" charset="0"/>
              </a:rPr>
              <a:t>Joshua A (1997) </a:t>
            </a:r>
            <a:r>
              <a:rPr lang="en-AU" sz="1200" i="1" dirty="0">
                <a:effectLst/>
                <a:latin typeface="+mj-lt"/>
                <a:ea typeface="Calibri" panose="020F0502020204030204" pitchFamily="34" charset="0"/>
              </a:rPr>
              <a:t>Enrich-e-</a:t>
            </a:r>
            <a:r>
              <a:rPr lang="en-AU" sz="1200" i="1" dirty="0" err="1">
                <a:effectLst/>
                <a:latin typeface="+mj-lt"/>
                <a:ea typeface="Calibri" panose="020F0502020204030204" pitchFamily="34" charset="0"/>
              </a:rPr>
              <a:t>matics</a:t>
            </a:r>
            <a:r>
              <a:rPr lang="en-AU" sz="1200" i="1" dirty="0">
                <a:effectLst/>
                <a:latin typeface="+mj-lt"/>
                <a:ea typeface="Calibri" panose="020F0502020204030204" pitchFamily="34" charset="0"/>
              </a:rPr>
              <a:t>! A graded maths enrichment programme – Book F</a:t>
            </a:r>
            <a:r>
              <a:rPr lang="en-AU" sz="1200" dirty="0">
                <a:effectLst/>
                <a:latin typeface="+mj-lt"/>
                <a:ea typeface="Calibri" panose="020F0502020204030204" pitchFamily="34" charset="0"/>
              </a:rPr>
              <a:t>, Addison Wesley Longman Australia, Melbourne.</a:t>
            </a:r>
          </a:p>
          <a:p>
            <a:pPr>
              <a:spcBef>
                <a:spcPts val="1200"/>
              </a:spcBef>
              <a:spcAft>
                <a:spcPts val="600"/>
              </a:spcAft>
            </a:pPr>
            <a:r>
              <a:rPr kumimoji="0" lang="en-AU" sz="1200" b="0" i="0" u="none" strike="noStrike" kern="1200" cap="none" spc="0" normalizeH="0" baseline="0" noProof="0" dirty="0">
                <a:ln>
                  <a:noFill/>
                </a:ln>
                <a:solidFill>
                  <a:srgbClr val="22272B"/>
                </a:solidFill>
                <a:effectLst/>
                <a:uLnTx/>
                <a:uFillTx/>
                <a:latin typeface="Public Sans"/>
                <a:ea typeface="Calibri" panose="020F0502020204030204" pitchFamily="34" charset="0"/>
                <a:cs typeface="Arial" panose="020B0604020202020204" pitchFamily="34" charset="0"/>
              </a:rPr>
              <a:t>Sullivan P and Lilburn P (2017) </a:t>
            </a:r>
            <a:r>
              <a:rPr kumimoji="0" lang="en-AU" sz="1200" b="0" i="1" u="none" strike="noStrike" kern="1200" cap="none" spc="0" normalizeH="0" baseline="0" noProof="0" dirty="0">
                <a:ln>
                  <a:noFill/>
                </a:ln>
                <a:solidFill>
                  <a:srgbClr val="22272B"/>
                </a:solidFill>
                <a:effectLst/>
                <a:uLnTx/>
                <a:uFillTx/>
                <a:latin typeface="Public Sans"/>
                <a:ea typeface="Calibri" panose="020F0502020204030204" pitchFamily="34" charset="0"/>
                <a:cs typeface="Arial" panose="020B0604020202020204" pitchFamily="34" charset="0"/>
              </a:rPr>
              <a:t>Open-Ended Maths Activities</a:t>
            </a:r>
            <a:r>
              <a:rPr kumimoji="0" lang="en-AU" sz="1200" b="0" i="0" u="none" strike="noStrike" kern="1200" cap="none" spc="0" normalizeH="0" baseline="0" noProof="0" dirty="0">
                <a:ln>
                  <a:noFill/>
                </a:ln>
                <a:solidFill>
                  <a:srgbClr val="22272B"/>
                </a:solidFill>
                <a:effectLst/>
                <a:uLnTx/>
                <a:uFillTx/>
                <a:latin typeface="Public Sans"/>
                <a:ea typeface="Calibri" panose="020F0502020204030204" pitchFamily="34" charset="0"/>
                <a:cs typeface="Arial" panose="020B0604020202020204" pitchFamily="34" charset="0"/>
              </a:rPr>
              <a:t>, Oxford University Press Australia and New Zealand, Great Britain.</a:t>
            </a:r>
          </a:p>
          <a:p>
            <a:pPr>
              <a:lnSpc>
                <a:spcPct val="150000"/>
              </a:lnSpc>
              <a:spcBef>
                <a:spcPts val="1200"/>
              </a:spcBef>
              <a:spcAft>
                <a:spcPts val="600"/>
              </a:spcAft>
            </a:pPr>
            <a:endParaRPr lang="en-AU" sz="1200" dirty="0">
              <a:effectLst/>
              <a:latin typeface="+mj-lt"/>
              <a:ea typeface="Calibri" panose="020F0502020204030204" pitchFamily="34" charset="0"/>
            </a:endParaRPr>
          </a:p>
        </p:txBody>
      </p:sp>
    </p:spTree>
    <p:extLst>
      <p:ext uri="{BB962C8B-B14F-4D97-AF65-F5344CB8AC3E}">
        <p14:creationId xmlns:p14="http://schemas.microsoft.com/office/powerpoint/2010/main" val="409977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1" ma:contentTypeDescription="Create a new document." ma:contentTypeScope="" ma:versionID="9688e37b2af58268cd21140b8063bd69">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bfa7b24e970bd6c4c2e6a1c402160d7"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SharedWithUsers xmlns="60129b06-f64b-40a8-96e2-c5b2f86112b1">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A76A89B-95BC-4518-A6EB-CB5B5FF60538}">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524F4DA-5415-43D4-8474-C9BE68919175}">
  <ds:schemaRefs>
    <ds:schemaRef ds:uri="60129b06-f64b-40a8-96e2-c5b2f86112b1"/>
    <ds:schemaRef ds:uri="http://schemas.microsoft.com/office/infopath/2007/PartnerControls"/>
    <ds:schemaRef ds:uri="http://www.w3.org/XML/1998/namespace"/>
    <ds:schemaRef ds:uri="http://purl.org/dc/dcmitype/"/>
    <ds:schemaRef ds:uri="http://purl.org/dc/elements/1.1/"/>
    <ds:schemaRef ds:uri="http://schemas.microsoft.com/office/2006/documentManagement/types"/>
    <ds:schemaRef ds:uri="http://schemas.microsoft.com/office/2006/metadata/properties"/>
    <ds:schemaRef ds:uri="7e763d47-3c66-4c58-9425-1477fd3ccd1e"/>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B9C68242-C972-4815-B4EF-36DAD899F7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36</TotalTime>
  <Words>5717</Words>
  <Application>Microsoft Office PowerPoint</Application>
  <PresentationFormat>Widescreen</PresentationFormat>
  <Paragraphs>796</Paragraphs>
  <Slides>68</Slides>
  <Notes>68</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68</vt:i4>
      </vt:variant>
    </vt:vector>
  </HeadingPairs>
  <TitlesOfParts>
    <vt:vector size="82" baseType="lpstr">
      <vt:lpstr>Wingdings</vt:lpstr>
      <vt:lpstr>Calibri</vt:lpstr>
      <vt:lpstr>Public Sans</vt:lpstr>
      <vt:lpstr>Public Sans Light</vt:lpstr>
      <vt:lpstr>Canva Sans Bold</vt:lpstr>
      <vt:lpstr>Times New Roman</vt:lpstr>
      <vt:lpstr>Cambria Math</vt:lpstr>
      <vt:lpstr>Edu NSW ACT Foundation</vt:lpstr>
      <vt:lpstr>Montserrat</vt:lpstr>
      <vt:lpstr>Courier New</vt:lpstr>
      <vt:lpstr>Arial</vt:lpstr>
      <vt:lpstr>Canva Student Font</vt:lpstr>
      <vt:lpstr>Arial,Sans-Serif</vt:lpstr>
      <vt:lpstr>NSWG Corporate</vt:lpstr>
      <vt:lpstr>Instructions for use</vt:lpstr>
      <vt:lpstr>Review of Learning </vt:lpstr>
      <vt:lpstr>Lessons</vt:lpstr>
      <vt:lpstr>Review of learning 1</vt:lpstr>
      <vt:lpstr>Multiple choice (1)</vt:lpstr>
      <vt:lpstr>Short response (1)</vt:lpstr>
      <vt:lpstr>Short response (2)</vt:lpstr>
      <vt:lpstr>Short response (4)</vt:lpstr>
      <vt:lpstr>Short response (4)</vt:lpstr>
      <vt:lpstr>Activity 1 – mental or written?</vt:lpstr>
      <vt:lpstr>Review of learning  2</vt:lpstr>
      <vt:lpstr>True or false (1)</vt:lpstr>
      <vt:lpstr>Short response (1)</vt:lpstr>
      <vt:lpstr>Short response (2)</vt:lpstr>
      <vt:lpstr>Short response (3)</vt:lpstr>
      <vt:lpstr>Short response (4)</vt:lpstr>
      <vt:lpstr>Activity 2 – better deal </vt:lpstr>
      <vt:lpstr>Review of learning 3</vt:lpstr>
      <vt:lpstr>Multiple choice (1)</vt:lpstr>
      <vt:lpstr>Short response (1)</vt:lpstr>
      <vt:lpstr>Short response (2)</vt:lpstr>
      <vt:lpstr>Short response (3)</vt:lpstr>
      <vt:lpstr>Short response (4)</vt:lpstr>
      <vt:lpstr>Activity 3 – solving problems using a calculator</vt:lpstr>
      <vt:lpstr>Review of learning 4</vt:lpstr>
      <vt:lpstr>True or false (1)</vt:lpstr>
      <vt:lpstr>Short response (1)</vt:lpstr>
      <vt:lpstr>Short response (2)</vt:lpstr>
      <vt:lpstr>Short response (3)</vt:lpstr>
      <vt:lpstr>Short response (4)</vt:lpstr>
      <vt:lpstr>Activity 4 – factors of 4-digit products</vt:lpstr>
      <vt:lpstr>Review of learning 5</vt:lpstr>
      <vt:lpstr>Multiple choice (1)</vt:lpstr>
      <vt:lpstr>Short response (1)</vt:lpstr>
      <vt:lpstr>Short response (2)</vt:lpstr>
      <vt:lpstr>Short response (3)</vt:lpstr>
      <vt:lpstr>Short response (4)</vt:lpstr>
      <vt:lpstr>Activity 5 – solving problems involving percentages</vt:lpstr>
      <vt:lpstr>Review of learning 6</vt:lpstr>
      <vt:lpstr>True or false (1)</vt:lpstr>
      <vt:lpstr>Short response (1)</vt:lpstr>
      <vt:lpstr>Short response (2)</vt:lpstr>
      <vt:lpstr>Short response (3)</vt:lpstr>
      <vt:lpstr>Short response (4)</vt:lpstr>
      <vt:lpstr>Activity 6 – finding percentages of a quantity </vt:lpstr>
      <vt:lpstr>Review of learning  7</vt:lpstr>
      <vt:lpstr>Multiple choice (1)</vt:lpstr>
      <vt:lpstr>Short response (1)</vt:lpstr>
      <vt:lpstr>Short response (2)</vt:lpstr>
      <vt:lpstr>Short response (3)</vt:lpstr>
      <vt:lpstr>Short response (4)</vt:lpstr>
      <vt:lpstr>Activity 7 – 10% off the price)</vt:lpstr>
      <vt:lpstr>Review of learning 8</vt:lpstr>
      <vt:lpstr>True or false (1)</vt:lpstr>
      <vt:lpstr>Short response (1)</vt:lpstr>
      <vt:lpstr>Short response (2)</vt:lpstr>
      <vt:lpstr>Short response (3)</vt:lpstr>
      <vt:lpstr>Short response (4)</vt:lpstr>
      <vt:lpstr>Activity 8 – 10% sales tax (2)</vt:lpstr>
      <vt:lpstr>Double Venn diagram</vt:lpstr>
      <vt:lpstr>Frayer</vt:lpstr>
      <vt:lpstr>Spider map</vt:lpstr>
      <vt:lpstr>Cline</vt:lpstr>
      <vt:lpstr>Compare and contrast</vt:lpstr>
      <vt:lpstr>Multiple choice (1)</vt:lpstr>
      <vt:lpstr>Multiple choice (2)</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15</cp:revision>
  <cp:lastPrinted>2025-07-23T21:56:34Z</cp:lastPrinted>
  <dcterms:created xsi:type="dcterms:W3CDTF">2025-07-07T07:05:15Z</dcterms:created>
  <dcterms:modified xsi:type="dcterms:W3CDTF">2025-08-04T00:01:04Z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y fmtid="{D5CDD505-2E9C-101B-9397-08002B2CF9AE}" pid="11" name="Order">
    <vt:r8>2192500</vt:r8>
  </property>
  <property fmtid="{D5CDD505-2E9C-101B-9397-08002B2CF9AE}" pid="12" name="xd_Signature">
    <vt:bool>false</vt:bool>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ies>
</file>