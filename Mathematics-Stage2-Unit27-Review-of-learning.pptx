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3"/>
  </p:notesMasterIdLst>
  <p:handoutMasterIdLst>
    <p:handoutMasterId r:id="rId74"/>
  </p:handoutMasterIdLst>
  <p:sldIdLst>
    <p:sldId id="26511" r:id="rId5"/>
    <p:sldId id="26505" r:id="rId6"/>
    <p:sldId id="26359" r:id="rId7"/>
    <p:sldId id="271" r:id="rId8"/>
    <p:sldId id="26577" r:id="rId9"/>
    <p:sldId id="358" r:id="rId10"/>
    <p:sldId id="26580" r:id="rId11"/>
    <p:sldId id="26581" r:id="rId12"/>
    <p:sldId id="26582" r:id="rId13"/>
    <p:sldId id="26652" r:id="rId14"/>
    <p:sldId id="26583" r:id="rId15"/>
    <p:sldId id="26586" r:id="rId16"/>
    <p:sldId id="26587" r:id="rId17"/>
    <p:sldId id="26588" r:id="rId18"/>
    <p:sldId id="26589" r:id="rId19"/>
    <p:sldId id="26590" r:id="rId20"/>
    <p:sldId id="26591" r:id="rId21"/>
    <p:sldId id="26592" r:id="rId22"/>
    <p:sldId id="26594"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53" r:id="rId35"/>
    <p:sldId id="26610" r:id="rId36"/>
    <p:sldId id="26647"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29" r:id="rId51"/>
    <p:sldId id="26654" r:id="rId52"/>
    <p:sldId id="26633" r:id="rId53"/>
    <p:sldId id="26634" r:id="rId54"/>
    <p:sldId id="26635" r:id="rId55"/>
    <p:sldId id="26636" r:id="rId56"/>
    <p:sldId id="26637" r:id="rId57"/>
    <p:sldId id="26640" r:id="rId58"/>
    <p:sldId id="26641" r:id="rId59"/>
    <p:sldId id="26642" r:id="rId60"/>
    <p:sldId id="26651" r:id="rId61"/>
    <p:sldId id="26650" r:id="rId62"/>
    <p:sldId id="26645" r:id="rId63"/>
    <p:sldId id="26393" r:id="rId64"/>
    <p:sldId id="26387" r:id="rId65"/>
    <p:sldId id="26395" r:id="rId66"/>
    <p:sldId id="26391" r:id="rId67"/>
    <p:sldId id="26402" r:id="rId68"/>
    <p:sldId id="26507" r:id="rId69"/>
    <p:sldId id="26649" r:id="rId70"/>
    <p:sldId id="360" r:id="rId71"/>
    <p:sldId id="361" r:id="rId72"/>
  </p:sldIdLst>
  <p:sldSz cx="12192000" cy="6858000"/>
  <p:notesSz cx="6858000" cy="9144000"/>
  <p:embeddedFontLst>
    <p:embeddedFont>
      <p:font typeface="Cambria Math" panose="02040503050406030204" pitchFamily="18" charset="0"/>
      <p:regular r:id="rId75"/>
    </p:embeddedFont>
    <p:embeddedFont>
      <p:font typeface="Edu NSW ACT Foundation" panose="020B0604020202020204" charset="0"/>
      <p:regular r:id="rId76"/>
      <p:bold r:id="rId77"/>
    </p:embeddedFont>
    <p:embeddedFont>
      <p:font typeface="Public Sans" pitchFamily="2" charset="0"/>
      <p:regular r:id="rId78"/>
      <p:bold r:id="rId79"/>
      <p:italic r:id="rId80"/>
      <p:boldItalic r:id="rId81"/>
    </p:embeddedFont>
    <p:embeddedFont>
      <p:font typeface="Public Sans Light" pitchFamily="2" charset="0"/>
      <p:regular r:id="rId82"/>
      <p:italic r:id="rId83"/>
    </p:embeddedFont>
    <p:embeddedFont>
      <p:font typeface="Public Sans Semi-Bold" panose="020B0604020202020204" charset="0"/>
      <p:regular r:id="rId84"/>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652"/>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53"/>
          </p14:sldIdLst>
        </p14:section>
        <p14:section name="Review of learning 5" id="{E365C8CF-14E0-4F5A-BCE8-2E930DEEA864}">
          <p14:sldIdLst>
            <p14:sldId id="26610"/>
            <p14:sldId id="26647"/>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54"/>
            <p14:sldId id="26633"/>
            <p14:sldId id="26634"/>
            <p14:sldId id="26635"/>
            <p14:sldId id="26636"/>
          </p14:sldIdLst>
        </p14:section>
        <p14:section name="Review of learning 8" id="{6FF8F7EC-803E-4F84-BA41-6B3ED673D597}">
          <p14:sldIdLst>
            <p14:sldId id="26637"/>
            <p14:sldId id="26640"/>
            <p14:sldId id="26641"/>
            <p14:sldId id="26642"/>
            <p14:sldId id="26651"/>
            <p14:sldId id="26650"/>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 userId="S::CARRIE-ANN.WEBECK@det.nsw.edu.au::e5c4b697-ca15-4f3a-a906-1289ddc2fc07" providerId="AD"/>
  <p188:author id="{365AC197-B100-6765-5B29-0870BE985137}" name="Lynelle Patterson (Worimi Country)" initials="LP" userId="S::Lynelle.PATTERSON@det.nsw.edu.au::c449517b-552b-4a43-be0f-142819430981"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FF99"/>
    <a:srgbClr val="00CC99"/>
    <a:srgbClr val="007A8A"/>
    <a:srgbClr val="EA9B0C"/>
    <a:srgbClr val="9B6808"/>
    <a:srgbClr val="427B2D"/>
    <a:srgbClr val="B51458"/>
    <a:srgbClr val="00ACC2"/>
    <a:srgbClr val="64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6A7289-DFBB-45F4-92A0-ABD92E2C4944}" vWet="2" dt="2026-02-05T22:34:06.383"/>
    <p1510:client id="{8ED507E0-F959-44BF-8C65-8BA21EEC2387}" v="442" dt="2026-02-05T22:50:29.434"/>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microsoft.com/office/2018/10/relationships/authors" Target="author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s>
</file>

<file path=ppt/charts/_rels/chart1.xml.rels><?xml version="1.0" encoding="UTF-8" standalone="yes"?>
<Relationships xmlns="http://schemas.openxmlformats.org/package/2006/relationships"><Relationship Id="rId3" Type="http://schemas.openxmlformats.org/officeDocument/2006/relationships/oleObject" Target="https://schoolsnsw.sharepoint.com/sites/CurriculumPartnershipSchools-CPS-MathematicsRound1/Shared%20Documents/Mathematics%20&#8211;%20Round%201/Unit%205%20and%2025%20Islington%20PS/Planning%20documents/Stage%202%20Unit%2025%20Resources/S2%20U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'Lesson 5'!$B$1</c:f>
              <c:strCache>
                <c:ptCount val="1"/>
                <c:pt idx="0">
                  <c:v>Pieces of rubbish</c:v>
                </c:pt>
              </c:strCache>
            </c:strRef>
          </c:tx>
          <c:spPr>
            <a:solidFill>
              <a:schemeClr val="accent1"/>
            </a:solidFill>
            <a:ln>
              <a:noFill/>
            </a:ln>
            <a:effectLst/>
          </c:spPr>
          <c:invertIfNegative val="0"/>
          <c:cat>
            <c:strRef>
              <c:f>'Lesson 5'!$A$2:$A$12</c:f>
              <c:strCache>
                <c:ptCount val="11"/>
                <c:pt idx="0">
                  <c:v>KD</c:v>
                </c:pt>
                <c:pt idx="1">
                  <c:v>KJ</c:v>
                </c:pt>
                <c:pt idx="2">
                  <c:v>1H</c:v>
                </c:pt>
                <c:pt idx="3">
                  <c:v>1/2L</c:v>
                </c:pt>
                <c:pt idx="4">
                  <c:v>2B</c:v>
                </c:pt>
                <c:pt idx="5">
                  <c:v>3P</c:v>
                </c:pt>
                <c:pt idx="6">
                  <c:v>3/4F</c:v>
                </c:pt>
                <c:pt idx="7">
                  <c:v>4A</c:v>
                </c:pt>
                <c:pt idx="8">
                  <c:v>5D</c:v>
                </c:pt>
                <c:pt idx="9">
                  <c:v>5/6R</c:v>
                </c:pt>
                <c:pt idx="10">
                  <c:v>6W</c:v>
                </c:pt>
              </c:strCache>
            </c:strRef>
          </c:cat>
          <c:val>
            <c:numRef>
              <c:f>'Lesson 5'!$B$2:$B$12</c:f>
              <c:numCache>
                <c:formatCode>General</c:formatCode>
                <c:ptCount val="11"/>
                <c:pt idx="0">
                  <c:v>15</c:v>
                </c:pt>
                <c:pt idx="1">
                  <c:v>19</c:v>
                </c:pt>
                <c:pt idx="2">
                  <c:v>22</c:v>
                </c:pt>
                <c:pt idx="3">
                  <c:v>25</c:v>
                </c:pt>
                <c:pt idx="4">
                  <c:v>21</c:v>
                </c:pt>
                <c:pt idx="5">
                  <c:v>22</c:v>
                </c:pt>
                <c:pt idx="6">
                  <c:v>27</c:v>
                </c:pt>
                <c:pt idx="7">
                  <c:v>34</c:v>
                </c:pt>
                <c:pt idx="8">
                  <c:v>30</c:v>
                </c:pt>
                <c:pt idx="9">
                  <c:v>26</c:v>
                </c:pt>
                <c:pt idx="10">
                  <c:v>35</c:v>
                </c:pt>
              </c:numCache>
            </c:numRef>
          </c:val>
          <c:extLst>
            <c:ext xmlns:c16="http://schemas.microsoft.com/office/drawing/2014/chart" uri="{C3380CC4-5D6E-409C-BE32-E72D297353CC}">
              <c16:uniqueId val="{00000000-8E0D-4B82-9B21-6C303C3DDF15}"/>
            </c:ext>
          </c:extLst>
        </c:ser>
        <c:dLbls>
          <c:showLegendKey val="0"/>
          <c:showVal val="0"/>
          <c:showCatName val="0"/>
          <c:showSerName val="0"/>
          <c:showPercent val="0"/>
          <c:showBubbleSize val="0"/>
        </c:dLbls>
        <c:gapWidth val="219"/>
        <c:overlap val="-27"/>
        <c:axId val="423847023"/>
        <c:axId val="423839343"/>
      </c:barChart>
      <c:catAx>
        <c:axId val="4238470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AU"/>
                  <a:t>Class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3839343"/>
        <c:crosses val="autoZero"/>
        <c:auto val="1"/>
        <c:lblAlgn val="ctr"/>
        <c:lblOffset val="100"/>
        <c:noMultiLvlLbl val="0"/>
      </c:catAx>
      <c:valAx>
        <c:axId val="423839343"/>
        <c:scaling>
          <c:orientation val="minMax"/>
        </c:scaling>
        <c:delete val="0"/>
        <c:axPos val="l"/>
        <c:majorGridlines>
          <c:spPr>
            <a:ln w="9525" cap="flat" cmpd="sng" algn="ctr">
              <a:solidFill>
                <a:schemeClr val="accent5">
                  <a:lumMod val="20000"/>
                  <a:lumOff val="80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AU"/>
                  <a:t>Pieces of rubbish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38470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580281360933777E-2"/>
          <c:y val="2.1250458048742392E-2"/>
          <c:w val="0.92373511752589366"/>
          <c:h val="0.87673082352658482"/>
        </c:manualLayout>
      </c:layout>
      <c:barChart>
        <c:barDir val="col"/>
        <c:grouping val="stacked"/>
        <c:varyColors val="0"/>
        <c:ser>
          <c:idx val="0"/>
          <c:order val="0"/>
          <c:tx>
            <c:strRef>
              <c:f>Sheet1!$B$1</c:f>
              <c:strCache>
                <c:ptCount val="1"/>
                <c:pt idx="0">
                  <c:v>Column3</c:v>
                </c:pt>
              </c:strCache>
            </c:strRef>
          </c:tx>
          <c:spPr>
            <a:solidFill>
              <a:schemeClr val="accent1">
                <a:lumMod val="50000"/>
                <a:lumOff val="50000"/>
              </a:schemeClr>
            </a:solidFill>
            <a:ln>
              <a:noFill/>
            </a:ln>
            <a:effectLst/>
          </c:spPr>
          <c:invertIfNegative val="0"/>
          <c:cat>
            <c:strRef>
              <c:f>Sheet1!$A$2:$A$6</c:f>
              <c:strCache>
                <c:ptCount val="5"/>
                <c:pt idx="0">
                  <c:v>Koala</c:v>
                </c:pt>
                <c:pt idx="1">
                  <c:v>Echidna</c:v>
                </c:pt>
                <c:pt idx="2">
                  <c:v>Bandicoot</c:v>
                </c:pt>
                <c:pt idx="3">
                  <c:v>Wombat</c:v>
                </c:pt>
                <c:pt idx="4">
                  <c:v>Freshwater Turtle</c:v>
                </c:pt>
              </c:strCache>
            </c:strRef>
          </c:cat>
          <c:val>
            <c:numRef>
              <c:f>Sheet1!$B$2:$B$6</c:f>
              <c:numCache>
                <c:formatCode>General</c:formatCode>
                <c:ptCount val="5"/>
                <c:pt idx="0">
                  <c:v>15</c:v>
                </c:pt>
                <c:pt idx="1">
                  <c:v>13</c:v>
                </c:pt>
                <c:pt idx="2">
                  <c:v>4</c:v>
                </c:pt>
                <c:pt idx="3">
                  <c:v>22</c:v>
                </c:pt>
                <c:pt idx="4">
                  <c:v>50</c:v>
                </c:pt>
              </c:numCache>
            </c:numRef>
          </c:val>
          <c:extLst>
            <c:ext xmlns:c16="http://schemas.microsoft.com/office/drawing/2014/chart" uri="{C3380CC4-5D6E-409C-BE32-E72D297353CC}">
              <c16:uniqueId val="{00000000-6D6F-4363-B695-D049CF817E3A}"/>
            </c:ext>
          </c:extLst>
        </c:ser>
        <c:ser>
          <c:idx val="1"/>
          <c:order val="1"/>
          <c:tx>
            <c:strRef>
              <c:f>Sheet1!$C$1</c:f>
              <c:strCache>
                <c:ptCount val="1"/>
                <c:pt idx="0">
                  <c:v>Column1</c:v>
                </c:pt>
              </c:strCache>
            </c:strRef>
          </c:tx>
          <c:spPr>
            <a:solidFill>
              <a:schemeClr val="accent2"/>
            </a:solidFill>
            <a:ln>
              <a:noFill/>
            </a:ln>
            <a:effectLst/>
          </c:spPr>
          <c:invertIfNegative val="0"/>
          <c:cat>
            <c:strRef>
              <c:f>Sheet1!$A$2:$A$6</c:f>
              <c:strCache>
                <c:ptCount val="5"/>
                <c:pt idx="0">
                  <c:v>Koala</c:v>
                </c:pt>
                <c:pt idx="1">
                  <c:v>Echidna</c:v>
                </c:pt>
                <c:pt idx="2">
                  <c:v>Bandicoot</c:v>
                </c:pt>
                <c:pt idx="3">
                  <c:v>Wombat</c:v>
                </c:pt>
                <c:pt idx="4">
                  <c:v>Freshwater Turtle</c:v>
                </c:pt>
              </c:strCache>
            </c:strRef>
          </c:cat>
          <c:val>
            <c:numRef>
              <c:f>Sheet1!$C$2:$C$6</c:f>
              <c:numCache>
                <c:formatCode>General</c:formatCode>
                <c:ptCount val="5"/>
              </c:numCache>
            </c:numRef>
          </c:val>
          <c:extLst>
            <c:ext xmlns:c16="http://schemas.microsoft.com/office/drawing/2014/chart" uri="{C3380CC4-5D6E-409C-BE32-E72D297353CC}">
              <c16:uniqueId val="{00000001-6D6F-4363-B695-D049CF817E3A}"/>
            </c:ext>
          </c:extLst>
        </c:ser>
        <c:ser>
          <c:idx val="2"/>
          <c:order val="2"/>
          <c:tx>
            <c:strRef>
              <c:f>Sheet1!$D$1</c:f>
              <c:strCache>
                <c:ptCount val="1"/>
                <c:pt idx="0">
                  <c:v>Column2</c:v>
                </c:pt>
              </c:strCache>
            </c:strRef>
          </c:tx>
          <c:spPr>
            <a:solidFill>
              <a:schemeClr val="accent3"/>
            </a:solidFill>
            <a:ln>
              <a:noFill/>
            </a:ln>
            <a:effectLst/>
          </c:spPr>
          <c:invertIfNegative val="0"/>
          <c:cat>
            <c:strRef>
              <c:f>Sheet1!$A$2:$A$6</c:f>
              <c:strCache>
                <c:ptCount val="5"/>
                <c:pt idx="0">
                  <c:v>Koala</c:v>
                </c:pt>
                <c:pt idx="1">
                  <c:v>Echidna</c:v>
                </c:pt>
                <c:pt idx="2">
                  <c:v>Bandicoot</c:v>
                </c:pt>
                <c:pt idx="3">
                  <c:v>Wombat</c:v>
                </c:pt>
                <c:pt idx="4">
                  <c:v>Freshwater Turtle</c:v>
                </c:pt>
              </c:strCache>
            </c:strRef>
          </c:cat>
          <c:val>
            <c:numRef>
              <c:f>Sheet1!$D$2:$D$6</c:f>
              <c:numCache>
                <c:formatCode>General</c:formatCode>
                <c:ptCount val="5"/>
              </c:numCache>
            </c:numRef>
          </c:val>
          <c:extLst>
            <c:ext xmlns:c16="http://schemas.microsoft.com/office/drawing/2014/chart" uri="{C3380CC4-5D6E-409C-BE32-E72D297353CC}">
              <c16:uniqueId val="{00000002-6D6F-4363-B695-D049CF817E3A}"/>
            </c:ext>
          </c:extLst>
        </c:ser>
        <c:dLbls>
          <c:showLegendKey val="0"/>
          <c:showVal val="0"/>
          <c:showCatName val="0"/>
          <c:showSerName val="0"/>
          <c:showPercent val="0"/>
          <c:showBubbleSize val="0"/>
        </c:dLbls>
        <c:gapWidth val="150"/>
        <c:overlap val="100"/>
        <c:axId val="153241296"/>
        <c:axId val="153231696"/>
      </c:barChart>
      <c:catAx>
        <c:axId val="153241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53231696"/>
        <c:crossesAt val="0"/>
        <c:auto val="1"/>
        <c:lblAlgn val="ctr"/>
        <c:lblOffset val="100"/>
        <c:noMultiLvlLbl val="0"/>
      </c:catAx>
      <c:valAx>
        <c:axId val="153231696"/>
        <c:scaling>
          <c:orientation val="minMax"/>
        </c:scaling>
        <c:delete val="0"/>
        <c:axPos val="l"/>
        <c:majorGridlines>
          <c:spPr>
            <a:ln w="9525" cap="flat" cmpd="sng" algn="ctr">
              <a:solidFill>
                <a:schemeClr val="accent5">
                  <a:lumMod val="40000"/>
                  <a:lumOff val="6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2412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9/02/2026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9/02/2026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27</a:t>
            </a:r>
          </a:p>
          <a:p>
            <a:pPr marL="285750" indent="-285750">
              <a:buFont typeface="Arial" panose="020B0604020202020204" pitchFamily="34" charset="0"/>
              <a:buChar char="•"/>
            </a:pPr>
            <a:r>
              <a:rPr lang="en-AU"/>
              <a:t>Stage 2 Year B Unit 26</a:t>
            </a:r>
          </a:p>
          <a:p>
            <a:pPr marL="285750" indent="-285750">
              <a:buFont typeface="Arial" panose="020B0604020202020204" pitchFamily="34" charset="0"/>
              <a:buChar char="•"/>
            </a:pPr>
            <a:r>
              <a:rPr lang="en-AU"/>
              <a:t>Stage 2 Year B Unit 25</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6F897-325C-CBDF-5E4B-6ECFB03E3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E2D38-BC04-88DB-2DF5-6888F791911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00136EB-1C5A-1111-9F80-2DC3D935394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Doubling to connect multiples</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will play a game where they use known number facts and strategies to help multiply numbers. Model how to play the game to the class and choose volunteers to make 2 teams of 3 students in each.</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Introduce the game as being like tennis, where players take turns to serve a number over a pretend tennis net.</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during the demonstration, pause and ask students to explain the strategies they used to find the answer.</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rules of the game are: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 number is the tennis ball. Teams consist of 3 students on either side.</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Each time the number is hit over the net, it increases by an agreed amount. For example, the first volley starts with the number 3 and doubles each time it is hit over the net.</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Students from each team raise their hand if they would like to hit the number back over the net. If yes, and students say the correct answer, the number returns over the net for the other team. Students cannot hit the number again until everyone on their team has had a turn.</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After 10 multiples have been returned correctly, the team that served the number first gets a point.</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 student from one team serves first, by saying the number to be multiplied or doubled.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Remind students to use known number facts and strategies to help them as they play.</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Start the first round of the game, focusing on multiples of 2, 3, 4, 5 and 10.</a:t>
            </a:r>
          </a:p>
          <a:p>
            <a:pPr marL="342900" indent="-342900">
              <a:buFont typeface="+mj-lt"/>
              <a:buAutoNum type="arabicPeriod" startAt="4"/>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08548ABC-C1A7-168E-25B2-07CD1B0A52C4}"/>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182841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Doubling numbers</a:t>
            </a:r>
          </a:p>
          <a:p>
            <a:r>
              <a:rPr lang="en-AU" b="0"/>
              <a:t>This resource corresponds to </a:t>
            </a:r>
            <a:r>
              <a:rPr lang="en-AU" b="1"/>
              <a:t>Resource 27 – Double </a:t>
            </a:r>
            <a:r>
              <a:rPr lang="en-AU" b="1" err="1"/>
              <a:t>Double</a:t>
            </a:r>
            <a:r>
              <a:rPr lang="en-AU" b="1"/>
              <a:t> Up </a:t>
            </a:r>
            <a:r>
              <a:rPr lang="en-AU" b="0"/>
              <a:t>in Stage 2 Year B Unit 27. </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from ‘Double </a:t>
            </a:r>
            <a:r>
              <a:rPr lang="en-AU" sz="1600" kern="1200" err="1">
                <a:solidFill>
                  <a:schemeClr val="tx1"/>
                </a:solidFill>
                <a:effectLst/>
                <a:latin typeface="Arial" panose="020B0604020202020204" pitchFamily="34" charset="0"/>
                <a:ea typeface="+mn-ea"/>
                <a:cs typeface="Arial" panose="020B0604020202020204" pitchFamily="34" charset="0"/>
              </a:rPr>
              <a:t>Double</a:t>
            </a:r>
            <a:r>
              <a:rPr lang="en-AU" sz="1600" kern="1200">
                <a:solidFill>
                  <a:schemeClr val="tx1"/>
                </a:solidFill>
                <a:effectLst/>
                <a:latin typeface="Arial" panose="020B0604020202020204" pitchFamily="34" charset="0"/>
                <a:ea typeface="+mn-ea"/>
                <a:cs typeface="Arial" panose="020B0604020202020204" pitchFamily="34" charset="0"/>
              </a:rPr>
              <a:t> Up’ from Dr Paul Swan Board Game Pack Years 3–4 by Swan.</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provide students a copy of Resource 27 – Double </a:t>
            </a:r>
            <a:r>
              <a:rPr lang="en-AU" sz="1600" kern="1200" err="1">
                <a:solidFill>
                  <a:schemeClr val="tx1"/>
                </a:solidFill>
                <a:effectLst/>
                <a:latin typeface="Arial" panose="020B0604020202020204" pitchFamily="34" charset="0"/>
                <a:ea typeface="+mn-ea"/>
                <a:cs typeface="Arial" panose="020B0604020202020204" pitchFamily="34" charset="0"/>
              </a:rPr>
              <a:t>Double</a:t>
            </a:r>
            <a:r>
              <a:rPr lang="en-AU" sz="1600" kern="1200">
                <a:solidFill>
                  <a:schemeClr val="tx1"/>
                </a:solidFill>
                <a:effectLst/>
                <a:latin typeface="Arial" panose="020B0604020202020204" pitchFamily="34" charset="0"/>
                <a:ea typeface="+mn-ea"/>
                <a:cs typeface="Arial" panose="020B0604020202020204" pitchFamily="34" charset="0"/>
              </a:rPr>
              <a:t> Up and a 6-sided dice.</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aim of the game is to place 4 counters in a row, column or diagonally within the box of numbers in the centre of the board game. To play the game, partners take turns to:</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roll the dice and move along the outside track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double the number they land on, then double the number again. Students use mental strategies and individual whiteboards to work out the answer</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place a counter on the answer in the box of numbers in the centre square.</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first player with 4 counters in a row wins the game.</a:t>
            </a:r>
          </a:p>
          <a:p>
            <a:pPr marL="342900" indent="-342900">
              <a:buFont typeface="+mj-lt"/>
              <a:buAutoNum type="arabicPeriod" startAt="3"/>
            </a:pPr>
            <a:endParaRPr lang="en-AU" b="1"/>
          </a:p>
          <a:p>
            <a:pPr marL="342900" indent="-342900">
              <a:buFont typeface="+mj-lt"/>
              <a:buAutoNum type="arabicPeriod" startAt="3"/>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Multiples to create arrays</a:t>
            </a:r>
          </a:p>
          <a:p>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‘Arrays Games’ from Dr Paul Swan Board Game Pack Years 3–4 by Swan.</a:t>
            </a:r>
          </a:p>
          <a:p>
            <a:pPr marL="342900" lvl="0" indent="-342900">
              <a:buFont typeface="+mj-lt"/>
              <a:buAutoNum type="arabicPeriod"/>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This can be played between students in pairs or by dividing the class into 2 teams.</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a piece of grid paper if they are playing the game in pairs. Explain that the aim of the game is to capture the greatest area of the grid.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To play the game, each player or team takes turns to:</a:t>
            </a:r>
          </a:p>
          <a:p>
            <a:pPr mar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Roll a 6-sided and a 10-sided dice.</a:t>
            </a:r>
          </a:p>
          <a:p>
            <a:pPr mar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Use the 2 numbers rolled to create an array on the grid. The player shades the inside of the rectangle and writes the calculation inside the array. Mental strategies and individual whiteboards can be used to calculate the answer. Encourage students to use known facts and doubling strategies to determine the answer.</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winner is the team or player who captures the greatest area in a set time.</a:t>
            </a:r>
          </a:p>
          <a:p>
            <a:pPr marL="342900" indent="-342900">
              <a:buFont typeface="+mj-lt"/>
              <a:buAutoNum type="arabicPeriod" startAt="4"/>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length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5F41A-E177-F08D-C828-F062CFB97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55CF5-E85C-D5F5-256F-D4721A0A6D1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C0E7097-56AA-3505-944C-41B484204B02}"/>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Double or halve</a:t>
            </a:r>
          </a:p>
          <a:p>
            <a:r>
              <a:rPr lang="en-AU" b="0"/>
              <a:t>This resource corresponds to </a:t>
            </a:r>
            <a:r>
              <a:rPr lang="en-AU" b="1"/>
              <a:t>Activity 4 – double or halve </a:t>
            </a:r>
            <a:r>
              <a:rPr lang="en-AU" b="0"/>
              <a:t>in Stage 2 Year B Unit 27. </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‘Double and Halve?’ from NRICH by the University of Cambridge.</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lnSpc>
                <a:spcPct val="150000"/>
              </a:lnSpc>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the rules of the game, ‘Double or Halve’. This is a game for two players. You will need a 6- or 9-sided dice</a:t>
            </a:r>
          </a:p>
          <a:p>
            <a:pPr marL="342900" lvl="0" indent="-342900">
              <a:lnSpc>
                <a:spcPct val="150000"/>
              </a:lnSpc>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aim of the game is to reach the target number. To play the game, in pairs, each player takes turns to:</a:t>
            </a:r>
          </a:p>
          <a:p>
            <a:pPr marL="0" indent="0">
              <a:lnSpc>
                <a:spcPct val="150000"/>
              </a:lnSpc>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Decide on a target number. This is the total that both players are trying to make.</a:t>
            </a:r>
            <a:r>
              <a:rPr lang="en-AU" sz="1600" strike="sngStrike" kern="1200">
                <a:solidFill>
                  <a:schemeClr val="tx1"/>
                </a:solidFill>
                <a:effectLst/>
                <a:latin typeface="Arial" panose="020B0604020202020204" pitchFamily="34" charset="0"/>
                <a:ea typeface="+mn-ea"/>
                <a:cs typeface="Arial" panose="020B0604020202020204" pitchFamily="34" charset="0"/>
              </a:rPr>
              <a:t> </a:t>
            </a: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lnSpc>
                <a:spcPct val="150000"/>
              </a:lnSpc>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Player 1 throws the dice. They can choose whether to double the number shown or halve the number shown.</a:t>
            </a:r>
            <a:r>
              <a:rPr lang="en-AU" sz="1600" strike="sngStrike" kern="1200">
                <a:solidFill>
                  <a:schemeClr val="tx1"/>
                </a:solidFill>
                <a:effectLst/>
                <a:latin typeface="Arial" panose="020B0604020202020204" pitchFamily="34" charset="0"/>
                <a:ea typeface="+mn-ea"/>
                <a:cs typeface="Arial" panose="020B0604020202020204" pitchFamily="34" charset="0"/>
              </a:rPr>
              <a:t> </a:t>
            </a: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lnSpc>
                <a:spcPct val="150000"/>
              </a:lnSpc>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Player 2 throws the dice. In the same way, they can choose whether to double the number shown or halve the number shown.</a:t>
            </a:r>
            <a:r>
              <a:rPr lang="en-AU" sz="1600" strike="sngStrike" kern="1200">
                <a:solidFill>
                  <a:schemeClr val="tx1"/>
                </a:solidFill>
                <a:effectLst/>
                <a:latin typeface="Arial" panose="020B0604020202020204" pitchFamily="34" charset="0"/>
                <a:ea typeface="+mn-ea"/>
                <a:cs typeface="Arial" panose="020B0604020202020204" pitchFamily="34" charset="0"/>
              </a:rPr>
              <a:t> </a:t>
            </a: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lnSpc>
                <a:spcPct val="150000"/>
              </a:lnSpc>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Player 2 adds their number onto Player 1's number to make a running total.</a:t>
            </a:r>
            <a:r>
              <a:rPr lang="en-AU" sz="1600" strike="sngStrike" kern="1200">
                <a:solidFill>
                  <a:schemeClr val="tx1"/>
                </a:solidFill>
                <a:effectLst/>
                <a:latin typeface="Arial" panose="020B0604020202020204" pitchFamily="34" charset="0"/>
                <a:ea typeface="+mn-ea"/>
                <a:cs typeface="Arial" panose="020B0604020202020204" pitchFamily="34" charset="0"/>
              </a:rPr>
              <a:t> </a:t>
            </a: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lnSpc>
                <a:spcPct val="150000"/>
              </a:lnSpc>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Play continues like this with each player rolling the dice, halving or doubling the number, and adding the result onto the running total.</a:t>
            </a:r>
            <a:r>
              <a:rPr lang="en-AU" sz="1600" strike="sngStrike" kern="1200">
                <a:solidFill>
                  <a:schemeClr val="tx1"/>
                </a:solidFill>
                <a:effectLst/>
                <a:latin typeface="Arial" panose="020B0604020202020204" pitchFamily="34" charset="0"/>
                <a:ea typeface="+mn-ea"/>
                <a:cs typeface="Arial" panose="020B0604020202020204" pitchFamily="34" charset="0"/>
              </a:rPr>
              <a:t> </a:t>
            </a: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indent="-285750">
              <a:lnSpc>
                <a:spcPct val="150000"/>
              </a:lnSpc>
              <a:buFontTx/>
              <a:buChar char="-"/>
            </a:pPr>
            <a:r>
              <a:rPr lang="en-AU" sz="1600" kern="1200">
                <a:solidFill>
                  <a:schemeClr val="tx1"/>
                </a:solidFill>
                <a:effectLst/>
                <a:latin typeface="Arial" panose="020B0604020202020204" pitchFamily="34" charset="0"/>
                <a:ea typeface="+mn-ea"/>
                <a:cs typeface="Arial" panose="020B0604020202020204" pitchFamily="34" charset="0"/>
              </a:rPr>
              <a:t>The winner is the player who reaches the agreed target exactly.</a:t>
            </a:r>
            <a:r>
              <a:rPr lang="en-AU" sz="1600" strike="sngStrike" kern="1200">
                <a:solidFill>
                  <a:schemeClr val="tx1"/>
                </a:solidFill>
                <a:effectLst/>
                <a:latin typeface="Arial" panose="020B0604020202020204" pitchFamily="34" charset="0"/>
                <a:ea typeface="+mn-ea"/>
                <a:cs typeface="Arial" panose="020B0604020202020204" pitchFamily="34" charset="0"/>
              </a:rPr>
              <a:t> </a:t>
            </a:r>
          </a:p>
          <a:p>
            <a:pPr marL="285750" indent="-285750">
              <a:lnSpc>
                <a:spcPct val="150000"/>
              </a:lnSpc>
              <a:buFontTx/>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lnSpc>
                <a:spcPct val="150000"/>
              </a:lnSpc>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After the game has been played, ask:</a:t>
            </a:r>
          </a:p>
          <a:p>
            <a:pPr marL="0" indent="0">
              <a:lnSpc>
                <a:spcPct val="150000"/>
              </a:lnSpc>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Must each player always take a turn? Does it matter if you go first or second?</a:t>
            </a:r>
            <a:r>
              <a:rPr lang="en-AU" sz="1600" strike="sngStrike" kern="1200">
                <a:solidFill>
                  <a:schemeClr val="tx1"/>
                </a:solidFill>
                <a:effectLst/>
                <a:latin typeface="Arial" panose="020B0604020202020204" pitchFamily="34" charset="0"/>
                <a:ea typeface="+mn-ea"/>
                <a:cs typeface="Arial" panose="020B0604020202020204" pitchFamily="34" charset="0"/>
              </a:rPr>
              <a:t> </a:t>
            </a: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lnSpc>
                <a:spcPct val="150000"/>
              </a:lnSpc>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Are there any particularly good numbers to choose as your target? Why or why not?</a:t>
            </a:r>
          </a:p>
          <a:p>
            <a:pPr marL="0" indent="0">
              <a:lnSpc>
                <a:spcPct val="150000"/>
              </a:lnSpc>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are you thinking about in order to try to win the game?</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9E87CAB9-777A-1DF1-DB2C-C627CA6C571F}"/>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8296614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a:t>
            </a:r>
          </a:p>
          <a:p>
            <a:endParaRPr lang="en-AU"/>
          </a:p>
          <a:p>
            <a:r>
              <a:rPr lang="en-AU" b="1"/>
              <a:t>10, 100 or 1000 times as large</a:t>
            </a:r>
          </a:p>
          <a:p>
            <a:r>
              <a:rPr lang="en-AU" b="0"/>
              <a:t>This resource corresponds to </a:t>
            </a:r>
            <a:r>
              <a:rPr lang="en-AU" b="1"/>
              <a:t>Resource 25 – 1s, 10s, 100s and 1000s </a:t>
            </a:r>
            <a:r>
              <a:rPr lang="en-AU" b="0"/>
              <a:t>in Stage 2 Year B Unit 27. </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t>
            </a:r>
            <a:r>
              <a:rPr lang="en-AU" b="0"/>
              <a:t>Resource 28 – 1s, 10s, 100s and 1000s </a:t>
            </a:r>
            <a:r>
              <a:rPr lang="en-AU" sz="1600" kern="1200">
                <a:solidFill>
                  <a:schemeClr val="tx1"/>
                </a:solidFill>
                <a:effectLst/>
                <a:latin typeface="Arial" panose="020B0604020202020204" pitchFamily="34" charset="0"/>
                <a:ea typeface="+mn-ea"/>
                <a:cs typeface="Arial" panose="020B0604020202020204" pitchFamily="34" charset="0"/>
              </a:rPr>
              <a:t>and a 9-sided die.</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roll the dice and record the number rolled. Students then record the numbers that are 10, 100 and 1000 times larger than the number rolled.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repeat 4 more times.</a:t>
            </a:r>
          </a:p>
          <a:p>
            <a:pPr marL="285750" indent="-285750">
              <a:buFont typeface="Arial" panose="020B0604020202020204" pitchFamily="34" charset="0"/>
              <a:buChar char="•"/>
            </a:pPr>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 20-sided die may be used to make the activity more challenging.</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a:t>
            </a:r>
          </a:p>
          <a:p>
            <a:endParaRPr lang="en-AU"/>
          </a:p>
          <a:p>
            <a:r>
              <a:rPr lang="en-AU" b="1"/>
              <a:t>Changing place value</a:t>
            </a:r>
          </a:p>
          <a:p>
            <a:r>
              <a:rPr lang="en-AU" b="0"/>
              <a:t>This resource corresponds to </a:t>
            </a:r>
            <a:r>
              <a:rPr lang="en-AU" b="1"/>
              <a:t>Activity 6 – changing place value </a:t>
            </a:r>
            <a:r>
              <a:rPr lang="en-AU" b="0"/>
              <a:t>in Stage 2 Year B Unit 27. </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Draw a place value house on the whiteboard, large enough for students to stand in front of each column.</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6 students to represent numbers by standing or squatting in front of the place value house. A student stands to represent the number one and squats to represent zero.</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Allocate a student to each write a number on the board.</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represent 101. The student in the hundreds place and the student in the ones place will stand. All others must squat.</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initial numbers must be limited to a maximum of 111 to ensure larger numbers will fit inside the place value house.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startAt="5"/>
            </a:pPr>
            <a:r>
              <a:rPr lang="en-AU" sz="1600" kern="1200">
                <a:solidFill>
                  <a:schemeClr val="tx1"/>
                </a:solidFill>
                <a:effectLst/>
                <a:latin typeface="Arial" panose="020B0604020202020204" pitchFamily="34" charset="0"/>
                <a:ea typeface="+mn-ea"/>
                <a:cs typeface="Arial" panose="020B0604020202020204" pitchFamily="34" charset="0"/>
              </a:rPr>
              <a:t>Ask students to represent the number 100 times larger than 101. To represent the number 10 100, only the ten thousands and hundreds place students remain standing. All others squat.</a:t>
            </a:r>
          </a:p>
          <a:p>
            <a:pPr marL="342900" lvl="0" indent="-342900">
              <a:buFont typeface="+mj-lt"/>
              <a:buAutoNum type="arabicPeriod" startAt="5"/>
            </a:pPr>
            <a:r>
              <a:rPr lang="en-AU" sz="1600" kern="1200">
                <a:solidFill>
                  <a:schemeClr val="tx1"/>
                </a:solidFill>
                <a:effectLst/>
                <a:latin typeface="Arial" panose="020B0604020202020204" pitchFamily="34" charset="0"/>
                <a:ea typeface="+mn-ea"/>
                <a:cs typeface="Arial" panose="020B0604020202020204" pitchFamily="34" charset="0"/>
              </a:rPr>
              <a:t>Continue providing numbers with ones and zeros and numbers that are 10, 100 and 1000 times larger.</a:t>
            </a:r>
          </a:p>
          <a:p>
            <a:pPr marL="342900" lvl="0" indent="-342900">
              <a:buFont typeface="+mj-lt"/>
              <a:buAutoNum type="arabicPeriod" startAt="5"/>
            </a:pPr>
            <a:r>
              <a:rPr lang="en-AU" sz="1600" kern="1200">
                <a:solidFill>
                  <a:schemeClr val="tx1"/>
                </a:solidFill>
                <a:effectLst/>
                <a:latin typeface="Arial" panose="020B0604020202020204" pitchFamily="34" charset="0"/>
                <a:ea typeface="+mn-ea"/>
                <a:cs typeface="Arial" panose="020B0604020202020204" pitchFamily="34" charset="0"/>
              </a:rPr>
              <a:t>Rotate students regularly to ensure all are involved.</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an alternative is to form teams of 6 students. Provide a number and have students allocate themselves to a place value and the teams create their number representations.</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F982-8BE3-ED50-9946-D1ED852C1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62A41-E162-CB5D-5440-987D6807643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FE28E45-4D29-54D9-98FC-4E8BCBE7AA1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BB13546-6D63-49BF-3812-2DFFD1D41180}"/>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848367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a:t>
            </a:r>
          </a:p>
          <a:p>
            <a:endParaRPr lang="en-AU"/>
          </a:p>
          <a:p>
            <a:r>
              <a:rPr lang="en-AU" b="1"/>
              <a:t>Exploring place value and multiplication</a:t>
            </a:r>
          </a:p>
          <a:p>
            <a:r>
              <a:rPr lang="en-AU" b="0"/>
              <a:t>This resource corresponds to </a:t>
            </a:r>
            <a:r>
              <a:rPr lang="en-AU" b="1"/>
              <a:t>Activity 7 – exploring place value and multiplication </a:t>
            </a:r>
            <a:r>
              <a:rPr lang="en-AU" b="0"/>
              <a:t>in Stage 2 Year B Unit 27. </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three 9-sided dice and an individual whiteboard.</a:t>
            </a:r>
          </a:p>
          <a:p>
            <a:pPr marL="34290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draw a place value chart on their whiteboard. </a:t>
            </a:r>
            <a:endParaRPr lang="en-AU" b="0"/>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roll the dice and arrange the dice to form the smallest number possible. For example, rolling a 5, 1 and 9, the dice could be arranged to form the number 159.</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 number that is 10 times larger.</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 the second roll of the dice, students form the largest number possible and record the number that is 100 times larger.</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 the third roll of the dice, students form any number and record the number that is 1000 times larger.</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this 3 times so that students can practice numbers 10, 100 and 1000 times larger.</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Vary the task by asking students to select specific numbers, such as those that have an even hundreds digit, or an odd unit digit, or a number with even thousands and tens digits.</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B</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a:t>
            </a:r>
          </a:p>
          <a:p>
            <a:r>
              <a:rPr lang="en-AU"/>
              <a:t>Data A</a:t>
            </a:r>
          </a:p>
        </p:txBody>
      </p:sp>
      <p:sp>
        <p:nvSpPr>
          <p:cNvPr id="4" name="Slide Number Placeholder 3"/>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6595191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FA451-EABA-744F-9130-F6E2ACAE2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9F3FA-2FE8-BAD6-C613-C6CBD3567F8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75A9663-C531-F9A3-46FC-880ABF10BB9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04FCC0F-AA57-25B8-D47B-EB4F8D3201AA}"/>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1388514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numbers using place value B</a:t>
            </a:r>
          </a:p>
          <a:p>
            <a:endParaRPr lang="en-AU"/>
          </a:p>
          <a:p>
            <a:r>
              <a:rPr lang="en-AU" b="1"/>
              <a:t>Multiplying whole numbers by 10, 100 or 1000</a:t>
            </a:r>
          </a:p>
          <a:p>
            <a:r>
              <a:rPr lang="en-AU" b="0"/>
              <a:t>This resource corresponds to </a:t>
            </a:r>
            <a:r>
              <a:rPr lang="en-AU" b="1"/>
              <a:t>Activity 8 – multiplying whole numbers by 10, 100 or 1000 </a:t>
            </a:r>
            <a:r>
              <a:rPr lang="en-AU" b="0"/>
              <a:t>in Stage 2 Year B Unit 27. </a:t>
            </a:r>
          </a:p>
          <a:p>
            <a:endParaRPr lang="en-AU" b="1"/>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 set of numbers up to 4 digits. For example, 7, 25, 304 and 2066.</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draw a place value chart to show each number.</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Challenge students to show what happens when their number is made 10, 100, and 1000 times as large by multiplying, then placing the new digits on the chart.</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record the new numbers and explain:</a:t>
            </a:r>
          </a:p>
          <a:p>
            <a:pPr mar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many tens/hundreds/thousands are in the new number?</a:t>
            </a:r>
          </a:p>
          <a:p>
            <a:pPr mar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happened to each digit’s place value when multiplied by 10, 100, or 1000?</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any patterns noticed when numbers are multiplied by 10, 100, or 1000.</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create a mystery number for a partner. For example, ‘I have a number with 2 tens. When I multiply it by 10, I get a number with 2 hundreds. What is my number?’</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decide what the mystery number is, explaining their solutions.</a:t>
            </a:r>
          </a:p>
          <a:p>
            <a:br>
              <a:rPr lang="en-AU" sz="1600" kern="1200">
                <a:solidFill>
                  <a:schemeClr val="tx1"/>
                </a:solidFill>
                <a:effectLst/>
                <a:latin typeface="Arial" panose="020B0604020202020204" pitchFamily="34" charset="0"/>
                <a:ea typeface="+mn-ea"/>
                <a:cs typeface="Arial" panose="020B0604020202020204" pitchFamily="34" charset="0"/>
              </a:rPr>
            </a:br>
            <a:endParaRPr lang="en-AU">
              <a:effectLst/>
            </a:endParaRPr>
          </a:p>
          <a:p>
            <a:r>
              <a:rPr lang="en-AU" sz="1600" kern="1200">
                <a:solidFill>
                  <a:schemeClr val="tx1"/>
                </a:solidFill>
                <a:effectLst/>
                <a:latin typeface="Arial" panose="020B0604020202020204" pitchFamily="34" charset="0"/>
                <a:ea typeface="+mn-ea"/>
                <a:cs typeface="Arial" panose="020B0604020202020204" pitchFamily="34" charset="0"/>
              </a:rPr>
              <a:t>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63</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66</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sv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7.png"/><Relationship Id="rId7" Type="http://schemas.openxmlformats.org/officeDocument/2006/relationships/image" Target="../media/image24.sv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7.png"/><Relationship Id="rId7" Type="http://schemas.openxmlformats.org/officeDocument/2006/relationships/image" Target="../media/image39.sv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 Id="rId9" Type="http://schemas.openxmlformats.org/officeDocument/2006/relationships/image" Target="../media/image41.sv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43.sv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45.sv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chart" Target="../charts/chart1.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image" Target="../media/image57.png"/><Relationship Id="rId4" Type="http://schemas.openxmlformats.org/officeDocument/2006/relationships/image" Target="../media/image7.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openxmlformats.org/officeDocument/2006/relationships/image" Target="../media/image59.svg"/><Relationship Id="rId4" Type="http://schemas.openxmlformats.org/officeDocument/2006/relationships/image" Target="../media/image58.png"/></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rich.maths.org/problems/double-or-halve" TargetMode="External"/><Relationship Id="rId5" Type="http://schemas.openxmlformats.org/officeDocument/2006/relationships/hyperlink" Target="https://curriculum.nsw.edu.au/" TargetMode="External"/><Relationship Id="rId10" Type="http://schemas.openxmlformats.org/officeDocument/2006/relationships/hyperlink" Target="https://drpaulswan.com.au/download/dr-paul-swan-board-game-pack-years-3-4/"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curriculum.nsw.edu.au/learning-areas/mathematics/mathematics-k-10-2022/content/stage-2/fad59f2055?show=advic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B Unit 27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27</a:t>
            </a:r>
          </a:p>
        </p:txBody>
      </p:sp>
      <p:pic>
        <p:nvPicPr>
          <p:cNvPr id="5" name="Picture Placeholder 4" descr="A group of dice on an orange surface&#10;&#10;">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Review of learning 1">
            <a:extLst>
              <a:ext uri="{FF2B5EF4-FFF2-40B4-BE49-F238E27FC236}">
                <a16:creationId xmlns:a16="http://schemas.microsoft.com/office/drawing/2014/main" id="{1B4FCA10-C38C-7EB1-6B3D-6210A414C65B}"/>
              </a:ext>
              <a:ext uri="{C183D7F6-B498-43B3-948B-1728B52AA6E4}">
                <adec:decorative xmlns:adec="http://schemas.microsoft.com/office/drawing/2017/decorative" val="0"/>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Review of learning 2">
            <a:extLst>
              <a:ext uri="{FF2B5EF4-FFF2-40B4-BE49-F238E27FC236}">
                <a16:creationId xmlns:a16="http://schemas.microsoft.com/office/drawing/2014/main" id="{AF7A23A4-F1DB-31F7-E62C-F1BFA9349F64}"/>
              </a:ext>
              <a:ext uri="{C183D7F6-B498-43B3-948B-1728B52AA6E4}">
                <adec:decorative xmlns:adec="http://schemas.microsoft.com/office/drawing/2017/decorative" val="0"/>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Review of learning 3">
            <a:extLst>
              <a:ext uri="{FF2B5EF4-FFF2-40B4-BE49-F238E27FC236}">
                <a16:creationId xmlns:a16="http://schemas.microsoft.com/office/drawing/2014/main" id="{DF37B4A1-413C-FC0F-E0B4-307A5BFA5855}"/>
              </a:ext>
              <a:ext uri="{C183D7F6-B498-43B3-948B-1728B52AA6E4}">
                <adec:decorative xmlns:adec="http://schemas.microsoft.com/office/drawing/2017/decorative" val="0"/>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Review of learning 4">
            <a:extLst>
              <a:ext uri="{FF2B5EF4-FFF2-40B4-BE49-F238E27FC236}">
                <a16:creationId xmlns:a16="http://schemas.microsoft.com/office/drawing/2014/main" id="{C989DA6E-4839-1BBD-77AB-6F9CC520B670}"/>
              </a:ext>
              <a:ext uri="{C183D7F6-B498-43B3-948B-1728B52AA6E4}">
                <adec:decorative xmlns:adec="http://schemas.microsoft.com/office/drawing/2017/decorative" val="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Review of learning  5">
            <a:extLst>
              <a:ext uri="{FF2B5EF4-FFF2-40B4-BE49-F238E27FC236}">
                <a16:creationId xmlns:a16="http://schemas.microsoft.com/office/drawing/2014/main" id="{5CA7685F-33D7-262A-AE71-7F572C4FD60A}"/>
              </a:ext>
              <a:ext uri="{C183D7F6-B498-43B3-948B-1728B52AA6E4}">
                <adec:decorative xmlns:adec="http://schemas.microsoft.com/office/drawing/2017/decorative" val="0"/>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Review of learning 6">
            <a:extLst>
              <a:ext uri="{FF2B5EF4-FFF2-40B4-BE49-F238E27FC236}">
                <a16:creationId xmlns:a16="http://schemas.microsoft.com/office/drawing/2014/main" id="{98348D52-CA50-F15C-B472-B152337D805F}"/>
              </a:ext>
              <a:ext uri="{C183D7F6-B498-43B3-948B-1728B52AA6E4}">
                <adec:decorative xmlns:adec="http://schemas.microsoft.com/office/drawing/2017/decorative" val="0"/>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Review of learning 7">
            <a:extLst>
              <a:ext uri="{FF2B5EF4-FFF2-40B4-BE49-F238E27FC236}">
                <a16:creationId xmlns:a16="http://schemas.microsoft.com/office/drawing/2014/main" id="{E73741F1-615E-A4A4-088D-E0A9187F983E}"/>
              </a:ext>
              <a:ext uri="{C183D7F6-B498-43B3-948B-1728B52AA6E4}">
                <adec:decorative xmlns:adec="http://schemas.microsoft.com/office/drawing/2017/decorative" val="0"/>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Review of learning 8">
            <a:extLst>
              <a:ext uri="{FF2B5EF4-FFF2-40B4-BE49-F238E27FC236}">
                <a16:creationId xmlns:a16="http://schemas.microsoft.com/office/drawing/2014/main" id="{8E45D1B3-369A-D013-FFE7-B91D37B811F7}"/>
              </a:ext>
              <a:ext uri="{C183D7F6-B498-43B3-948B-1728B52AA6E4}">
                <adec:decorative xmlns:adec="http://schemas.microsoft.com/office/drawing/2017/decorative" val="0"/>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408877"/>
            <a:ext cx="11243037" cy="893226"/>
          </a:xfrm>
        </p:spPr>
        <p:txBody>
          <a:bodyPr/>
          <a:lstStyle/>
          <a:p>
            <a:pPr algn="ctr"/>
            <a:r>
              <a:rPr lang="en-US" sz="4400"/>
              <a:t>Which number is </a:t>
            </a:r>
            <a:r>
              <a:rPr lang="en-US" sz="4400" i="1" u="sng"/>
              <a:t>not</a:t>
            </a:r>
            <a:r>
              <a:rPr lang="en-US" sz="4400"/>
              <a:t> a </a:t>
            </a:r>
            <a:r>
              <a:rPr lang="en-US" sz="4400" b="1"/>
              <a:t>multiple</a:t>
            </a:r>
            <a:r>
              <a:rPr lang="en-US" sz="4400"/>
              <a:t> of 4?</a:t>
            </a:r>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38486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B4B10A7C-11CF-E28B-3A1C-021B01CE0423}"/>
              </a:ext>
            </a:extLst>
          </p:cNvPr>
          <p:cNvSpPr txBox="1"/>
          <p:nvPr/>
        </p:nvSpPr>
        <p:spPr>
          <a:xfrm>
            <a:off x="1073051" y="5090634"/>
            <a:ext cx="672144" cy="640080"/>
          </a:xfrm>
          <a:prstGeom prst="rect">
            <a:avLst/>
          </a:prstGeom>
          <a:noFill/>
        </p:spPr>
        <p:txBody>
          <a:bodyPr wrap="square" lIns="0" tIns="0" rIns="0" bIns="0" rtlCol="0" anchor="ctr">
            <a:noAutofit/>
          </a:bodyPr>
          <a:lstStyle/>
          <a:p>
            <a:pPr algn="ctr"/>
            <a:r>
              <a:rPr lang="en-AU" sz="4800"/>
              <a:t>4</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38486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DFF506B4-6178-05E0-AE1A-C804F318B1E2}"/>
              </a:ext>
            </a:extLst>
          </p:cNvPr>
          <p:cNvSpPr txBox="1"/>
          <p:nvPr/>
        </p:nvSpPr>
        <p:spPr>
          <a:xfrm>
            <a:off x="3988201" y="5090634"/>
            <a:ext cx="838146" cy="640080"/>
          </a:xfrm>
          <a:prstGeom prst="rect">
            <a:avLst/>
          </a:prstGeom>
          <a:noFill/>
        </p:spPr>
        <p:txBody>
          <a:bodyPr wrap="square" lIns="0" tIns="0" rIns="0" bIns="0" rtlCol="0" anchor="ctr">
            <a:noAutofit/>
          </a:bodyPr>
          <a:lstStyle/>
          <a:p>
            <a:pPr algn="ctr"/>
            <a:r>
              <a:rPr lang="en-AU" sz="4800"/>
              <a:t>10</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38486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71777F2C-049D-5B89-ADD4-56B2E5AA4215}"/>
              </a:ext>
            </a:extLst>
          </p:cNvPr>
          <p:cNvSpPr txBox="1"/>
          <p:nvPr/>
        </p:nvSpPr>
        <p:spPr>
          <a:xfrm>
            <a:off x="6958300" y="5090634"/>
            <a:ext cx="838146" cy="640080"/>
          </a:xfrm>
          <a:prstGeom prst="rect">
            <a:avLst/>
          </a:prstGeom>
          <a:noFill/>
        </p:spPr>
        <p:txBody>
          <a:bodyPr wrap="square" lIns="0" tIns="0" rIns="0" bIns="0" rtlCol="0" anchor="ctr">
            <a:noAutofit/>
          </a:bodyPr>
          <a:lstStyle/>
          <a:p>
            <a:pPr algn="ctr"/>
            <a:r>
              <a:rPr lang="en-AU" sz="4800"/>
              <a:t>12</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38486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DE74BBDC-218E-2464-48BA-5E8C998FBA9F}"/>
              </a:ext>
            </a:extLst>
          </p:cNvPr>
          <p:cNvSpPr txBox="1"/>
          <p:nvPr/>
        </p:nvSpPr>
        <p:spPr>
          <a:xfrm>
            <a:off x="9969762" y="5090634"/>
            <a:ext cx="838146" cy="640080"/>
          </a:xfrm>
          <a:prstGeom prst="rect">
            <a:avLst/>
          </a:prstGeom>
          <a:noFill/>
        </p:spPr>
        <p:txBody>
          <a:bodyPr wrap="square" lIns="0" tIns="0" rIns="0" bIns="0" rtlCol="0" anchor="ctr">
            <a:noAutofit/>
          </a:bodyPr>
          <a:lstStyle/>
          <a:p>
            <a:pPr algn="ctr"/>
            <a:r>
              <a:rPr lang="en-AU" sz="4800"/>
              <a:t>24</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Box 12">
            <a:extLst>
              <a:ext uri="{FF2B5EF4-FFF2-40B4-BE49-F238E27FC236}">
                <a16:creationId xmlns:a16="http://schemas.microsoft.com/office/drawing/2014/main" id="{300E937A-6D82-9293-1C3F-0F06EC56CB4F}"/>
              </a:ext>
            </a:extLst>
          </p:cNvPr>
          <p:cNvSpPr txBox="1"/>
          <p:nvPr/>
        </p:nvSpPr>
        <p:spPr>
          <a:xfrm>
            <a:off x="421554" y="1005767"/>
            <a:ext cx="11062446" cy="1998176"/>
          </a:xfrm>
          <a:prstGeom prst="rect">
            <a:avLst/>
          </a:prstGeom>
          <a:noFill/>
        </p:spPr>
        <p:txBody>
          <a:bodyPr wrap="square">
            <a:spAutoFit/>
          </a:bodyPr>
          <a:lstStyle/>
          <a:p>
            <a:pPr algn="ctr">
              <a:lnSpc>
                <a:spcPct val="150000"/>
              </a:lnSpc>
            </a:pPr>
            <a:r>
              <a:rPr lang="en-AU" sz="4400">
                <a:latin typeface="Arial"/>
                <a:cs typeface="Arial"/>
              </a:rPr>
              <a:t>How can </a:t>
            </a:r>
            <a:r>
              <a:rPr lang="en-AU" sz="4400" b="1">
                <a:latin typeface="Arial"/>
                <a:cs typeface="Arial"/>
              </a:rPr>
              <a:t>doubling</a:t>
            </a:r>
            <a:r>
              <a:rPr lang="en-AU" sz="4400">
                <a:latin typeface="Arial"/>
                <a:cs typeface="Arial"/>
              </a:rPr>
              <a:t> the answer help to generate a </a:t>
            </a:r>
            <a:r>
              <a:rPr lang="en-AU" sz="4400" b="1">
                <a:latin typeface="Arial"/>
                <a:cs typeface="Arial"/>
              </a:rPr>
              <a:t>x8 fact</a:t>
            </a:r>
            <a:r>
              <a:rPr lang="en-AU" sz="4400">
                <a:latin typeface="Arial"/>
                <a:cs typeface="Arial"/>
              </a:rPr>
              <a:t>.</a:t>
            </a:r>
          </a:p>
        </p:txBody>
      </p:sp>
      <p:sp>
        <p:nvSpPr>
          <p:cNvPr id="7" name="Rectangle: Rounded Corners 6">
            <a:extLst>
              <a:ext uri="{FF2B5EF4-FFF2-40B4-BE49-F238E27FC236}">
                <a16:creationId xmlns:a16="http://schemas.microsoft.com/office/drawing/2014/main" id="{673A0186-59BE-78FB-AB79-E44B863315F5}"/>
              </a:ext>
            </a:extLst>
          </p:cNvPr>
          <p:cNvSpPr/>
          <p:nvPr/>
        </p:nvSpPr>
        <p:spPr>
          <a:xfrm>
            <a:off x="1056438" y="3733165"/>
            <a:ext cx="2804256" cy="1473740"/>
          </a:xfrm>
          <a:prstGeom prst="roundRect">
            <a:avLst/>
          </a:prstGeom>
          <a:solidFill>
            <a:schemeClr val="accent4"/>
          </a:solid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a:solidFill>
                  <a:schemeClr val="accent1"/>
                </a:solidFill>
              </a:rPr>
              <a:t>4 x 3 = ?</a:t>
            </a:r>
          </a:p>
        </p:txBody>
      </p:sp>
      <p:sp>
        <p:nvSpPr>
          <p:cNvPr id="8" name="Rectangle: Rounded Corners 7">
            <a:extLst>
              <a:ext uri="{FF2B5EF4-FFF2-40B4-BE49-F238E27FC236}">
                <a16:creationId xmlns:a16="http://schemas.microsoft.com/office/drawing/2014/main" id="{9503381D-A738-9A87-2E3C-B72524C6376A}"/>
              </a:ext>
            </a:extLst>
          </p:cNvPr>
          <p:cNvSpPr/>
          <p:nvPr/>
        </p:nvSpPr>
        <p:spPr>
          <a:xfrm>
            <a:off x="4964343" y="3733165"/>
            <a:ext cx="2804256" cy="1473740"/>
          </a:xfrm>
          <a:prstGeom prst="roundRect">
            <a:avLst/>
          </a:prstGeom>
          <a:solidFill>
            <a:schemeClr val="accent4"/>
          </a:solid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a:solidFill>
                  <a:schemeClr val="accent1"/>
                </a:solidFill>
              </a:rPr>
              <a:t>4 x 5 = ?</a:t>
            </a:r>
          </a:p>
        </p:txBody>
      </p:sp>
      <p:sp>
        <p:nvSpPr>
          <p:cNvPr id="9" name="Rectangle: Rounded Corners 8">
            <a:extLst>
              <a:ext uri="{FF2B5EF4-FFF2-40B4-BE49-F238E27FC236}">
                <a16:creationId xmlns:a16="http://schemas.microsoft.com/office/drawing/2014/main" id="{949BFBC1-B763-02E6-2ED6-CCB15FEF1AC1}"/>
              </a:ext>
            </a:extLst>
          </p:cNvPr>
          <p:cNvSpPr/>
          <p:nvPr/>
        </p:nvSpPr>
        <p:spPr>
          <a:xfrm>
            <a:off x="8679744" y="3709611"/>
            <a:ext cx="2804256" cy="1473740"/>
          </a:xfrm>
          <a:prstGeom prst="roundRect">
            <a:avLst/>
          </a:prstGeom>
          <a:solidFill>
            <a:schemeClr val="accent4"/>
          </a:solid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b="1">
                <a:solidFill>
                  <a:schemeClr val="accent1"/>
                </a:solidFill>
              </a:rPr>
              <a:t>4 x 10 = ?</a:t>
            </a:r>
          </a:p>
        </p:txBody>
      </p:sp>
      <p:sp>
        <p:nvSpPr>
          <p:cNvPr id="11" name="TextBox 10">
            <a:extLst>
              <a:ext uri="{FF2B5EF4-FFF2-40B4-BE49-F238E27FC236}">
                <a16:creationId xmlns:a16="http://schemas.microsoft.com/office/drawing/2014/main" id="{3931518E-6497-E053-24DE-9FA5D2C3D48F}"/>
              </a:ext>
            </a:extLst>
          </p:cNvPr>
          <p:cNvSpPr txBox="1"/>
          <p:nvPr/>
        </p:nvSpPr>
        <p:spPr>
          <a:xfrm>
            <a:off x="1274518" y="5499596"/>
            <a:ext cx="9723221" cy="982513"/>
          </a:xfrm>
          <a:prstGeom prst="rect">
            <a:avLst/>
          </a:prstGeom>
          <a:noFill/>
        </p:spPr>
        <p:txBody>
          <a:bodyPr wrap="square">
            <a:spAutoFit/>
          </a:bodyPr>
          <a:lstStyle/>
          <a:p>
            <a:pPr algn="ctr">
              <a:lnSpc>
                <a:spcPct val="150000"/>
              </a:lnSpc>
            </a:pPr>
            <a:r>
              <a:rPr lang="en-AU" sz="4400" b="1">
                <a:latin typeface="Arial"/>
                <a:cs typeface="Arial"/>
              </a:rPr>
              <a:t>Communicate </a:t>
            </a:r>
            <a:r>
              <a:rPr lang="en-AU" sz="4400">
                <a:latin typeface="Arial"/>
                <a:cs typeface="Arial"/>
              </a:rPr>
              <a:t>your</a:t>
            </a:r>
            <a:r>
              <a:rPr lang="en-AU" sz="4400" b="1">
                <a:latin typeface="Arial"/>
                <a:cs typeface="Arial"/>
              </a:rPr>
              <a:t> reasoning.</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7" name="Picture 16" descr="A place value chart shaped like two connected “houses” . The left house is labelled Thousands and has three columns labelled H, T, O (hundreds of thousands, tens of thousands, ones (thousands) within the thousands period). The right house also has three columns labelled H, T, O indicating hundreds, tens and ones. ">
            <a:extLst>
              <a:ext uri="{FF2B5EF4-FFF2-40B4-BE49-F238E27FC236}">
                <a16:creationId xmlns:a16="http://schemas.microsoft.com/office/drawing/2014/main" id="{4962728A-70C2-4F7E-930A-463897EA4183}"/>
              </a:ext>
            </a:extLst>
          </p:cNvPr>
          <p:cNvPicPr>
            <a:picLocks noChangeAspect="1"/>
          </p:cNvPicPr>
          <p:nvPr/>
        </p:nvPicPr>
        <p:blipFill>
          <a:blip r:embed="rId4"/>
          <a:stretch>
            <a:fillRect/>
          </a:stretch>
        </p:blipFill>
        <p:spPr>
          <a:xfrm>
            <a:off x="3155174" y="883262"/>
            <a:ext cx="6097604" cy="2545738"/>
          </a:xfrm>
          <a:prstGeom prst="rect">
            <a:avLst/>
          </a:prstGeom>
        </p:spPr>
      </p:pic>
      <p:sp>
        <p:nvSpPr>
          <p:cNvPr id="11" name="Text Placeholder 17">
            <a:extLst>
              <a:ext uri="{FF2B5EF4-FFF2-40B4-BE49-F238E27FC236}">
                <a16:creationId xmlns:a16="http://schemas.microsoft.com/office/drawing/2014/main" id="{E6E67E31-C8DB-E7A5-80D6-512585A1CA9C}"/>
              </a:ext>
            </a:extLst>
          </p:cNvPr>
          <p:cNvSpPr txBox="1">
            <a:spLocks/>
          </p:cNvSpPr>
          <p:nvPr/>
        </p:nvSpPr>
        <p:spPr>
          <a:xfrm>
            <a:off x="461976" y="4033862"/>
            <a:ext cx="114840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b="1"/>
              <a:t>Record</a:t>
            </a:r>
            <a:r>
              <a:rPr lang="en-US" sz="3600"/>
              <a:t> the number 459 062 on the place value house. </a:t>
            </a:r>
          </a:p>
          <a:p>
            <a:pPr algn="ctr"/>
            <a:r>
              <a:rPr lang="en-US" sz="3600" b="1"/>
              <a:t>Record</a:t>
            </a:r>
            <a:r>
              <a:rPr lang="en-US" sz="3600"/>
              <a:t> 459 062 using </a:t>
            </a:r>
            <a:r>
              <a:rPr lang="en-US" sz="3600" b="1"/>
              <a:t>expanded</a:t>
            </a:r>
            <a:r>
              <a:rPr lang="en-US" sz="3600"/>
              <a:t> </a:t>
            </a:r>
            <a:r>
              <a:rPr lang="en-US" sz="3600" b="1"/>
              <a:t>notation.</a:t>
            </a:r>
            <a:endParaRPr lang="en-US" sz="360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4">
            <a:extLst>
              <a:ext uri="{FF2B5EF4-FFF2-40B4-BE49-F238E27FC236}">
                <a16:creationId xmlns:a16="http://schemas.microsoft.com/office/drawing/2014/main" id="{958DCFC0-939D-96E0-59A7-4F4464A31A7B}"/>
              </a:ext>
            </a:extLst>
          </p:cNvPr>
          <p:cNvSpPr>
            <a:spLocks noGrp="1"/>
          </p:cNvSpPr>
          <p:nvPr>
            <p:ph type="body" sz="quarter" idx="17"/>
          </p:nvPr>
        </p:nvSpPr>
        <p:spPr>
          <a:xfrm>
            <a:off x="461976" y="1307302"/>
            <a:ext cx="11484000" cy="5190698"/>
          </a:xfrm>
        </p:spPr>
        <p:txBody>
          <a:bodyPr/>
          <a:lstStyle/>
          <a:p>
            <a:pPr algn="ctr"/>
            <a:r>
              <a:rPr lang="en-AU" sz="4400"/>
              <a:t>Write a question to get information about this matter of interest:</a:t>
            </a:r>
          </a:p>
          <a:p>
            <a:endParaRPr lang="en-AU"/>
          </a:p>
        </p:txBody>
      </p:sp>
      <p:sp>
        <p:nvSpPr>
          <p:cNvPr id="8" name="Rectangle: Rounded Corners 7">
            <a:extLst>
              <a:ext uri="{FF2B5EF4-FFF2-40B4-BE49-F238E27FC236}">
                <a16:creationId xmlns:a16="http://schemas.microsoft.com/office/drawing/2014/main" id="{8E3C2D9D-3DD4-BC44-0032-2544B29222B4}"/>
              </a:ext>
            </a:extLst>
          </p:cNvPr>
          <p:cNvSpPr/>
          <p:nvPr/>
        </p:nvSpPr>
        <p:spPr>
          <a:xfrm>
            <a:off x="3723939" y="4088012"/>
            <a:ext cx="4744122" cy="1828800"/>
          </a:xfrm>
          <a:prstGeom prst="roundRect">
            <a:avLst/>
          </a:prstGeom>
          <a:solidFill>
            <a:schemeClr val="accent4"/>
          </a:solidFill>
          <a:ln w="38100">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600" b="1">
                <a:solidFill>
                  <a:schemeClr val="accent1"/>
                </a:solidFill>
              </a:rPr>
              <a:t>school subjects</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31CCE6C4-2005-8B20-CCF7-E90149C8028D}"/>
              </a:ext>
            </a:extLst>
          </p:cNvPr>
          <p:cNvSpPr txBox="1">
            <a:spLocks/>
          </p:cNvSpPr>
          <p:nvPr/>
        </p:nvSpPr>
        <p:spPr>
          <a:xfrm>
            <a:off x="474481" y="1491880"/>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Read</a:t>
            </a:r>
            <a:r>
              <a:rPr lang="en-AU" sz="4400"/>
              <a:t> and record the </a:t>
            </a:r>
            <a:r>
              <a:rPr lang="en-AU" sz="4400" b="1" err="1"/>
              <a:t>analog</a:t>
            </a:r>
            <a:r>
              <a:rPr lang="en-AU" sz="4400"/>
              <a:t> times:</a:t>
            </a:r>
          </a:p>
        </p:txBody>
      </p:sp>
      <p:sp>
        <p:nvSpPr>
          <p:cNvPr id="5" name="TextBox 4">
            <a:extLst>
              <a:ext uri="{FF2B5EF4-FFF2-40B4-BE49-F238E27FC236}">
                <a16:creationId xmlns:a16="http://schemas.microsoft.com/office/drawing/2014/main" id="{23363706-87AF-C21A-61DC-6C46B218AA56}"/>
              </a:ext>
            </a:extLst>
          </p:cNvPr>
          <p:cNvSpPr txBox="1"/>
          <p:nvPr/>
        </p:nvSpPr>
        <p:spPr>
          <a:xfrm>
            <a:off x="1983037" y="3307368"/>
            <a:ext cx="1763677" cy="646331"/>
          </a:xfrm>
          <a:prstGeom prst="rect">
            <a:avLst/>
          </a:prstGeom>
          <a:noFill/>
        </p:spPr>
        <p:txBody>
          <a:bodyPr wrap="square">
            <a:spAutoFit/>
          </a:bodyPr>
          <a:lstStyle/>
          <a:p>
            <a:r>
              <a:rPr lang="en-AU" sz="3600"/>
              <a:t>clock A</a:t>
            </a:r>
          </a:p>
        </p:txBody>
      </p:sp>
      <p:sp>
        <p:nvSpPr>
          <p:cNvPr id="9" name="Freeform 2" descr="An analogue clock, with the long hand pointing to the 9 and the shorter hand pointing to near the 3.">
            <a:extLst>
              <a:ext uri="{FF2B5EF4-FFF2-40B4-BE49-F238E27FC236}">
                <a16:creationId xmlns:a16="http://schemas.microsoft.com/office/drawing/2014/main" id="{BB28D3C4-32D5-1B25-D0B7-2BB0146829E4}"/>
              </a:ext>
            </a:extLst>
          </p:cNvPr>
          <p:cNvSpPr>
            <a:spLocks noChangeAspect="1"/>
          </p:cNvSpPr>
          <p:nvPr/>
        </p:nvSpPr>
        <p:spPr>
          <a:xfrm>
            <a:off x="1604876" y="3978000"/>
            <a:ext cx="2520000" cy="2520000"/>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2" name="TextBox 11">
            <a:extLst>
              <a:ext uri="{FF2B5EF4-FFF2-40B4-BE49-F238E27FC236}">
                <a16:creationId xmlns:a16="http://schemas.microsoft.com/office/drawing/2014/main" id="{A909733E-0892-ACFF-07D9-05F094E322C7}"/>
              </a:ext>
            </a:extLst>
          </p:cNvPr>
          <p:cNvSpPr txBox="1"/>
          <p:nvPr/>
        </p:nvSpPr>
        <p:spPr>
          <a:xfrm>
            <a:off x="5523566" y="3307368"/>
            <a:ext cx="1763677" cy="646331"/>
          </a:xfrm>
          <a:prstGeom prst="rect">
            <a:avLst/>
          </a:prstGeom>
          <a:noFill/>
        </p:spPr>
        <p:txBody>
          <a:bodyPr wrap="square">
            <a:spAutoFit/>
          </a:bodyPr>
          <a:lstStyle/>
          <a:p>
            <a:r>
              <a:rPr lang="en-AU" sz="3600"/>
              <a:t>clock B</a:t>
            </a:r>
          </a:p>
        </p:txBody>
      </p:sp>
      <p:sp>
        <p:nvSpPr>
          <p:cNvPr id="10" name="Freeform 3" descr="An analogue clock, with the long hand pointing to the 4 and the shorter hand pointing to near the 10.">
            <a:extLst>
              <a:ext uri="{FF2B5EF4-FFF2-40B4-BE49-F238E27FC236}">
                <a16:creationId xmlns:a16="http://schemas.microsoft.com/office/drawing/2014/main" id="{579A2C04-98D4-4A52-9383-F7078830C9CC}"/>
              </a:ext>
            </a:extLst>
          </p:cNvPr>
          <p:cNvSpPr>
            <a:spLocks noChangeAspect="1"/>
          </p:cNvSpPr>
          <p:nvPr/>
        </p:nvSpPr>
        <p:spPr>
          <a:xfrm>
            <a:off x="5103750" y="3978000"/>
            <a:ext cx="2520000" cy="2520000"/>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7" name="TextBox 6">
            <a:extLst>
              <a:ext uri="{FF2B5EF4-FFF2-40B4-BE49-F238E27FC236}">
                <a16:creationId xmlns:a16="http://schemas.microsoft.com/office/drawing/2014/main" id="{2963AC99-3CA3-2A46-2C6A-8B3A2B10DBB9}"/>
              </a:ext>
            </a:extLst>
          </p:cNvPr>
          <p:cNvSpPr txBox="1"/>
          <p:nvPr/>
        </p:nvSpPr>
        <p:spPr>
          <a:xfrm>
            <a:off x="9175520" y="3307367"/>
            <a:ext cx="2066885" cy="646331"/>
          </a:xfrm>
          <a:prstGeom prst="rect">
            <a:avLst/>
          </a:prstGeom>
          <a:noFill/>
        </p:spPr>
        <p:txBody>
          <a:bodyPr wrap="square">
            <a:spAutoFit/>
          </a:bodyPr>
          <a:lstStyle/>
          <a:p>
            <a:r>
              <a:rPr lang="en-AU" sz="3600"/>
              <a:t>clock C</a:t>
            </a:r>
          </a:p>
        </p:txBody>
      </p:sp>
      <p:sp>
        <p:nvSpPr>
          <p:cNvPr id="11" name="Freeform 4" descr="An analogue clock, with the long hand pointing to the 1 and the shorter hand pointing to near the 5.">
            <a:extLst>
              <a:ext uri="{FF2B5EF4-FFF2-40B4-BE49-F238E27FC236}">
                <a16:creationId xmlns:a16="http://schemas.microsoft.com/office/drawing/2014/main" id="{8960343F-CCF6-03D9-6149-2BEA91315EBF}"/>
              </a:ext>
            </a:extLst>
          </p:cNvPr>
          <p:cNvSpPr>
            <a:spLocks noChangeAspect="1"/>
          </p:cNvSpPr>
          <p:nvPr/>
        </p:nvSpPr>
        <p:spPr>
          <a:xfrm>
            <a:off x="8604000" y="3978000"/>
            <a:ext cx="2520000" cy="2520000"/>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r:embed="rId8">
              <a:extLst>
                <a:ext uri="{96DAC541-7B7A-43D3-8B79-37D633B846F1}">
                  <asvg:svgBlip xmlns:asvg="http://schemas.microsoft.com/office/drawing/2016/SVG/main" r:embed="rId9"/>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8C31B-D79F-6384-1B77-893DADA89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8C6DBA1-0FFF-4555-87BB-6150235DA3BC}"/>
              </a:ext>
            </a:extLst>
          </p:cNvPr>
          <p:cNvSpPr>
            <a:spLocks noGrp="1"/>
          </p:cNvSpPr>
          <p:nvPr>
            <p:ph type="title"/>
          </p:nvPr>
        </p:nvSpPr>
        <p:spPr/>
        <p:txBody>
          <a:bodyPr/>
          <a:lstStyle/>
          <a:p>
            <a:r>
              <a:rPr lang="en-AU"/>
              <a:t>Activity 1 – doubling to connect multiples </a:t>
            </a:r>
            <a:r>
              <a:rPr lang="en-AU">
                <a:solidFill>
                  <a:schemeClr val="bg1"/>
                </a:solidFill>
              </a:rPr>
              <a:t>(1)</a:t>
            </a:r>
          </a:p>
        </p:txBody>
      </p:sp>
      <p:pic>
        <p:nvPicPr>
          <p:cNvPr id="4" name="Picture 3" descr="image of a head with cogs turning inside">
            <a:extLst>
              <a:ext uri="{FF2B5EF4-FFF2-40B4-BE49-F238E27FC236}">
                <a16:creationId xmlns:a16="http://schemas.microsoft.com/office/drawing/2014/main" id="{1DDD5830-5278-31AC-3454-CB42AA9810B7}"/>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 Placeholder 5">
            <a:extLst>
              <a:ext uri="{FF2B5EF4-FFF2-40B4-BE49-F238E27FC236}">
                <a16:creationId xmlns:a16="http://schemas.microsoft.com/office/drawing/2014/main" id="{9A0F3043-FA8D-2E8A-4162-8BE8D1D6E4F1}"/>
              </a:ext>
            </a:extLst>
          </p:cNvPr>
          <p:cNvSpPr txBox="1">
            <a:spLocks/>
          </p:cNvSpPr>
          <p:nvPr/>
        </p:nvSpPr>
        <p:spPr>
          <a:xfrm>
            <a:off x="359999" y="1292564"/>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What </a:t>
            </a:r>
            <a:r>
              <a:rPr lang="en-AU" sz="3600" b="1"/>
              <a:t>number</a:t>
            </a:r>
            <a:r>
              <a:rPr lang="en-AU" sz="3600"/>
              <a:t> </a:t>
            </a:r>
            <a:r>
              <a:rPr lang="en-AU" sz="3600" b="1"/>
              <a:t>facts</a:t>
            </a:r>
            <a:r>
              <a:rPr lang="en-AU" sz="3600"/>
              <a:t> and </a:t>
            </a:r>
            <a:r>
              <a:rPr lang="en-AU" sz="3600" b="1"/>
              <a:t>strategies</a:t>
            </a:r>
            <a:r>
              <a:rPr lang="en-AU" sz="3600"/>
              <a:t> do you know to help </a:t>
            </a:r>
            <a:r>
              <a:rPr lang="en-AU" sz="3600" b="1"/>
              <a:t>multiply</a:t>
            </a:r>
            <a:r>
              <a:rPr lang="en-AU" sz="3600"/>
              <a:t> numbers?</a:t>
            </a:r>
          </a:p>
        </p:txBody>
      </p:sp>
      <p:pic>
        <p:nvPicPr>
          <p:cNvPr id="7" name="Picture 6">
            <a:extLst>
              <a:ext uri="{FF2B5EF4-FFF2-40B4-BE49-F238E27FC236}">
                <a16:creationId xmlns:a16="http://schemas.microsoft.com/office/drawing/2014/main" id="{7FFA623A-DF07-1B5A-FA62-D28138B72B1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t="27036" b="4988"/>
          <a:stretch>
            <a:fillRect/>
          </a:stretch>
        </p:blipFill>
        <p:spPr>
          <a:xfrm>
            <a:off x="2623214" y="3160022"/>
            <a:ext cx="6945571" cy="3337978"/>
          </a:xfrm>
          <a:prstGeom prst="rect">
            <a:avLst/>
          </a:prstGeom>
        </p:spPr>
      </p:pic>
      <p:sp>
        <p:nvSpPr>
          <p:cNvPr id="2" name="Slide Number Placeholder 1">
            <a:extLst>
              <a:ext uri="{FF2B5EF4-FFF2-40B4-BE49-F238E27FC236}">
                <a16:creationId xmlns:a16="http://schemas.microsoft.com/office/drawing/2014/main" id="{3161C283-5A61-90BC-F0DC-14765EF0BA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886226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p:txBody>
          <a:bodyPr/>
          <a:lstStyle/>
          <a:p>
            <a:pPr algn="ctr"/>
            <a:r>
              <a:rPr lang="en-AU" sz="4800"/>
              <a:t>32 is </a:t>
            </a:r>
            <a:r>
              <a:rPr lang="en-AU" sz="4800" b="1"/>
              <a:t>double</a:t>
            </a:r>
            <a:r>
              <a:rPr lang="en-AU" sz="4800"/>
              <a:t> 8.</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004340867"/>
              </p:ext>
            </p:extLst>
          </p:nvPr>
        </p:nvGraphicFramePr>
        <p:xfrm>
          <a:off x="2557462" y="342900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6">
            <a:extLst>
              <a:ext uri="{FF2B5EF4-FFF2-40B4-BE49-F238E27FC236}">
                <a16:creationId xmlns:a16="http://schemas.microsoft.com/office/drawing/2014/main" id="{CDE2D93B-9828-8628-4313-C7365E2F627B}"/>
              </a:ext>
            </a:extLst>
          </p:cNvPr>
          <p:cNvSpPr txBox="1">
            <a:spLocks/>
          </p:cNvSpPr>
          <p:nvPr/>
        </p:nvSpPr>
        <p:spPr>
          <a:xfrm>
            <a:off x="474481" y="4702765"/>
            <a:ext cx="11243037" cy="1423578"/>
          </a:xfrm>
          <a:prstGeom prst="rect">
            <a:avLst/>
          </a:prstGeom>
        </p:spPr>
        <p:txBody>
          <a:bodyPr vert="horz" lIns="0" tIns="0" rIns="0" bIns="0" rtlCol="0" anchor="t">
            <a:noAutofit/>
          </a:bodyPr>
          <a:lstStyle>
            <a:defPPr>
              <a:defRPr lang="en-US"/>
            </a:defPPr>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a:t>
            </a:r>
            <a:r>
              <a:rPr lang="en-US" sz="4400">
                <a:latin typeface="Arial"/>
                <a:cs typeface="Arial"/>
              </a:rPr>
              <a:t> your </a:t>
            </a:r>
            <a:r>
              <a:rPr lang="en-US" sz="4400" b="1">
                <a:latin typeface="Arial"/>
                <a:cs typeface="Arial"/>
              </a:rPr>
              <a:t>reasoning</a:t>
            </a:r>
            <a:r>
              <a:rPr lang="en-US" sz="4400">
                <a:latin typeface="Arial"/>
                <a:cs typeface="Arial"/>
              </a:rPr>
              <a:t>. </a:t>
            </a:r>
            <a:endParaRPr lang="en-US" sz="4400"/>
          </a:p>
        </p:txBody>
      </p:sp>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6FBE9C13-A461-D9C9-9A56-FDB097A967BD}"/>
              </a:ext>
            </a:extLst>
          </p:cNvPr>
          <p:cNvSpPr txBox="1">
            <a:spLocks/>
          </p:cNvSpPr>
          <p:nvPr/>
        </p:nvSpPr>
        <p:spPr>
          <a:xfrm>
            <a:off x="360000" y="1626676"/>
            <a:ext cx="11484000" cy="444687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200000"/>
              </a:lnSpc>
            </a:pPr>
            <a:r>
              <a:rPr lang="en-AU" sz="4400" b="1">
                <a:latin typeface="Arial"/>
                <a:cs typeface="Arial"/>
              </a:rPr>
              <a:t>Record </a:t>
            </a:r>
            <a:r>
              <a:rPr lang="en-AU" sz="4400">
                <a:latin typeface="Arial"/>
                <a:cs typeface="Arial"/>
              </a:rPr>
              <a:t>the </a:t>
            </a:r>
            <a:r>
              <a:rPr lang="en-AU" sz="4400" b="1">
                <a:latin typeface="Arial"/>
                <a:cs typeface="Arial"/>
              </a:rPr>
              <a:t>multiples </a:t>
            </a:r>
            <a:r>
              <a:rPr lang="en-AU" sz="4400">
                <a:latin typeface="Arial"/>
                <a:cs typeface="Arial"/>
              </a:rPr>
              <a:t>for 3 and 6.</a:t>
            </a:r>
          </a:p>
          <a:p>
            <a:pPr algn="ctr">
              <a:lnSpc>
                <a:spcPct val="200000"/>
              </a:lnSpc>
            </a:pPr>
            <a:r>
              <a:rPr lang="en-AU" sz="4400">
                <a:cs typeface="Arial"/>
              </a:rPr>
              <a:t>How are the multiples of 3 and 6 connected?</a:t>
            </a:r>
          </a:p>
          <a:p>
            <a:pPr algn="ctr">
              <a:lnSpc>
                <a:spcPct val="200000"/>
              </a:lnSpc>
            </a:pPr>
            <a:r>
              <a:rPr lang="en-AU" sz="4400" b="1">
                <a:latin typeface="Arial"/>
                <a:cs typeface="Arial"/>
              </a:rPr>
              <a:t>Communicate </a:t>
            </a:r>
            <a:r>
              <a:rPr lang="en-AU" sz="4400">
                <a:latin typeface="Arial"/>
                <a:cs typeface="Arial"/>
              </a:rPr>
              <a:t>your</a:t>
            </a:r>
            <a:r>
              <a:rPr lang="en-AU" sz="4400" b="1">
                <a:latin typeface="Arial"/>
                <a:cs typeface="Arial"/>
              </a:rPr>
              <a:t> reasoning.</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 place value chart shaped like two connected “houses” . The left house is labelled Thousands and has three columns labelled H, T, O (hundreds of thousands, tens of thousands, ones (thousands) within the thousands period). The right house also has three columns labelled H, T, O indicating hundreds, tens and ones. &#10;&#10;In the number row, the digits are placed. In the left house, 6 is placed in the H column, 0 in the T column and 1 in the O column. In the right house 4 in the H column, 7 in the T column and 8 in the O column, forming the number 601 478.">
            <a:extLst>
              <a:ext uri="{FF2B5EF4-FFF2-40B4-BE49-F238E27FC236}">
                <a16:creationId xmlns:a16="http://schemas.microsoft.com/office/drawing/2014/main" id="{C324DAEF-6069-6BAF-152D-76A6FE5D2446}"/>
              </a:ext>
            </a:extLst>
          </p:cNvPr>
          <p:cNvPicPr>
            <a:picLocks noChangeAspect="1"/>
          </p:cNvPicPr>
          <p:nvPr/>
        </p:nvPicPr>
        <p:blipFill>
          <a:blip r:embed="rId4"/>
          <a:stretch>
            <a:fillRect/>
          </a:stretch>
        </p:blipFill>
        <p:spPr>
          <a:xfrm>
            <a:off x="2641895" y="905601"/>
            <a:ext cx="6908210" cy="2802272"/>
          </a:xfrm>
          <a:prstGeom prst="rect">
            <a:avLst/>
          </a:prstGeom>
        </p:spPr>
      </p:pic>
      <p:sp>
        <p:nvSpPr>
          <p:cNvPr id="11" name="TextBox 10">
            <a:extLst>
              <a:ext uri="{FF2B5EF4-FFF2-40B4-BE49-F238E27FC236}">
                <a16:creationId xmlns:a16="http://schemas.microsoft.com/office/drawing/2014/main" id="{DFC5301D-6268-E7AA-F19C-27ADB1798F5D}"/>
              </a:ext>
            </a:extLst>
          </p:cNvPr>
          <p:cNvSpPr txBox="1"/>
          <p:nvPr/>
        </p:nvSpPr>
        <p:spPr>
          <a:xfrm>
            <a:off x="604306" y="3954223"/>
            <a:ext cx="10983388" cy="1998176"/>
          </a:xfrm>
          <a:prstGeom prst="rect">
            <a:avLst/>
          </a:prstGeom>
          <a:noFill/>
        </p:spPr>
        <p:txBody>
          <a:bodyPr wrap="square">
            <a:spAutoFit/>
          </a:bodyPr>
          <a:lstStyle/>
          <a:p>
            <a:pPr algn="ctr">
              <a:lnSpc>
                <a:spcPct val="150000"/>
              </a:lnSpc>
            </a:pPr>
            <a:r>
              <a:rPr lang="en-AU" sz="4400" b="1">
                <a:latin typeface="Arial"/>
                <a:cs typeface="Arial"/>
              </a:rPr>
              <a:t>Partition</a:t>
            </a:r>
            <a:r>
              <a:rPr lang="en-AU" sz="4400">
                <a:latin typeface="Arial"/>
                <a:cs typeface="Arial"/>
              </a:rPr>
              <a:t> the number 601 478 in </a:t>
            </a:r>
            <a:r>
              <a:rPr lang="en-AU" sz="4400" i="1">
                <a:latin typeface="Arial"/>
                <a:cs typeface="Arial"/>
              </a:rPr>
              <a:t>two different ways </a:t>
            </a:r>
            <a:r>
              <a:rPr lang="en-AU" sz="4400">
                <a:latin typeface="Arial"/>
                <a:cs typeface="Arial"/>
              </a:rPr>
              <a:t>using </a:t>
            </a:r>
            <a:r>
              <a:rPr lang="en-AU" sz="4400" b="1">
                <a:latin typeface="Arial"/>
                <a:cs typeface="Arial"/>
              </a:rPr>
              <a:t>non-standard forms</a:t>
            </a:r>
            <a:r>
              <a:rPr lang="en-AU" sz="4400">
                <a:latin typeface="Arial"/>
                <a:cs typeface="Arial"/>
              </a:rPr>
              <a:t>.</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6">
            <a:extLst>
              <a:ext uri="{FF2B5EF4-FFF2-40B4-BE49-F238E27FC236}">
                <a16:creationId xmlns:a16="http://schemas.microsoft.com/office/drawing/2014/main" id="{0B994174-0294-FE67-5A0B-669908FB7D53}"/>
              </a:ext>
            </a:extLst>
          </p:cNvPr>
          <p:cNvSpPr>
            <a:spLocks noGrp="1"/>
          </p:cNvSpPr>
          <p:nvPr>
            <p:ph type="body" sz="quarter" idx="17"/>
          </p:nvPr>
        </p:nvSpPr>
        <p:spPr>
          <a:xfrm>
            <a:off x="354000" y="1513855"/>
            <a:ext cx="11484000" cy="4223392"/>
          </a:xfrm>
        </p:spPr>
        <p:txBody>
          <a:bodyPr/>
          <a:lstStyle/>
          <a:p>
            <a:pPr algn="ctr"/>
            <a:r>
              <a:rPr lang="en-AU" sz="4000"/>
              <a:t>Write a list of </a:t>
            </a:r>
            <a:r>
              <a:rPr lang="en-AU" sz="4000" b="1"/>
              <a:t>categories</a:t>
            </a:r>
            <a:r>
              <a:rPr lang="en-AU" sz="4000"/>
              <a:t> for the survey question:</a:t>
            </a:r>
          </a:p>
        </p:txBody>
      </p:sp>
      <p:sp>
        <p:nvSpPr>
          <p:cNvPr id="9" name="Rectangle: Rounded Corners 8">
            <a:extLst>
              <a:ext uri="{FF2B5EF4-FFF2-40B4-BE49-F238E27FC236}">
                <a16:creationId xmlns:a16="http://schemas.microsoft.com/office/drawing/2014/main" id="{B75D790A-89C7-897C-C922-CC0A033FA08A}"/>
              </a:ext>
            </a:extLst>
          </p:cNvPr>
          <p:cNvSpPr/>
          <p:nvPr/>
        </p:nvSpPr>
        <p:spPr>
          <a:xfrm>
            <a:off x="2552252" y="2996113"/>
            <a:ext cx="7087496" cy="2126483"/>
          </a:xfrm>
          <a:prstGeom prst="roundRect">
            <a:avLst/>
          </a:prstGeom>
          <a:solidFill>
            <a:schemeClr val="accent4"/>
          </a:solid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AU" sz="3600">
                <a:solidFill>
                  <a:schemeClr val="accent1"/>
                </a:solidFill>
              </a:rPr>
              <a:t>How often should we have school sport?</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B8619A66-1D9E-D105-DA0D-77F036F062CB}"/>
              </a:ext>
            </a:extLst>
          </p:cNvPr>
          <p:cNvSpPr txBox="1">
            <a:spLocks/>
          </p:cNvSpPr>
          <p:nvPr/>
        </p:nvSpPr>
        <p:spPr>
          <a:xfrm>
            <a:off x="1631577" y="1005938"/>
            <a:ext cx="927260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a:t>Draw the </a:t>
            </a:r>
            <a:r>
              <a:rPr lang="en-AU" sz="4400" b="1"/>
              <a:t>top view </a:t>
            </a:r>
            <a:r>
              <a:rPr lang="en-AU" sz="4400"/>
              <a:t>of this 3D object.</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9" name="Picture 8" descr="A square-based pyramid&#10;">
            <a:extLst>
              <a:ext uri="{FF2B5EF4-FFF2-40B4-BE49-F238E27FC236}">
                <a16:creationId xmlns:a16="http://schemas.microsoft.com/office/drawing/2014/main" id="{33B77183-0F84-D9E8-712E-974BFDB8110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332921" y="2223247"/>
            <a:ext cx="3869917" cy="4472753"/>
          </a:xfrm>
          <a:prstGeom prst="rect">
            <a:avLst/>
          </a:prstGeom>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doubling numbers</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n image of a gameboard labelled start. The inner part is a 6 by 6 grid filled with random numbers. A track of numbers surrounds the inner grid on three sides with randome single digit numbers.&#10;&#10;">
            <a:extLst>
              <a:ext uri="{FF2B5EF4-FFF2-40B4-BE49-F238E27FC236}">
                <a16:creationId xmlns:a16="http://schemas.microsoft.com/office/drawing/2014/main" id="{537067C3-C7CA-DF6C-8530-B0281DBE0D3C}"/>
              </a:ext>
            </a:extLst>
          </p:cNvPr>
          <p:cNvPicPr>
            <a:picLocks noChangeAspect="1"/>
          </p:cNvPicPr>
          <p:nvPr/>
        </p:nvPicPr>
        <p:blipFill>
          <a:blip r:embed="rId4">
            <a:extLst>
              <a:ext uri="{28A0092B-C50C-407E-A947-70E740481C1C}">
                <a14:useLocalDpi xmlns:a14="http://schemas.microsoft.com/office/drawing/2010/main" val="0"/>
              </a:ext>
            </a:extLst>
          </a:blip>
          <a:srcRect l="8297" t="5249" r="36624" b="19951"/>
          <a:stretch>
            <a:fillRect/>
          </a:stretch>
        </p:blipFill>
        <p:spPr>
          <a:xfrm>
            <a:off x="3126000" y="992678"/>
            <a:ext cx="5940000" cy="5703322"/>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17">
            <a:extLst>
              <a:ext uri="{FF2B5EF4-FFF2-40B4-BE49-F238E27FC236}">
                <a16:creationId xmlns:a16="http://schemas.microsoft.com/office/drawing/2014/main" id="{88A7B69C-13B4-FDC6-881A-2DFB2A947FBA}"/>
              </a:ext>
            </a:extLst>
          </p:cNvPr>
          <p:cNvSpPr>
            <a:spLocks noGrp="1"/>
          </p:cNvSpPr>
          <p:nvPr>
            <p:ph type="body" sz="quarter" idx="28"/>
          </p:nvPr>
        </p:nvSpPr>
        <p:spPr>
          <a:xfrm>
            <a:off x="360000" y="1042386"/>
            <a:ext cx="11242675" cy="754063"/>
          </a:xfrm>
        </p:spPr>
        <p:txBody>
          <a:bodyPr/>
          <a:lstStyle/>
          <a:p>
            <a:pPr algn="ctr"/>
            <a:r>
              <a:rPr lang="en-US" sz="3600"/>
              <a:t>Which would create the </a:t>
            </a:r>
            <a:r>
              <a:rPr lang="en-US" sz="3600" b="1"/>
              <a:t>largest array</a:t>
            </a:r>
            <a:r>
              <a:rPr lang="en-US" sz="3600"/>
              <a:t>?</a:t>
            </a:r>
          </a:p>
        </p:txBody>
      </p:sp>
      <p:sp>
        <p:nvSpPr>
          <p:cNvPr id="9" name="B">
            <a:extLst>
              <a:ext uri="{FF2B5EF4-FFF2-40B4-BE49-F238E27FC236}">
                <a16:creationId xmlns:a16="http://schemas.microsoft.com/office/drawing/2014/main" id="{F91A42F4-D8C9-20A3-82EB-86FAD4D776A8}"/>
              </a:ext>
            </a:extLst>
          </p:cNvPr>
          <p:cNvSpPr txBox="1"/>
          <p:nvPr/>
        </p:nvSpPr>
        <p:spPr>
          <a:xfrm>
            <a:off x="670556" y="200858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08080" y="1996031"/>
            <a:ext cx="10175920" cy="641396"/>
          </a:xfrm>
        </p:spPr>
        <p:txBody>
          <a:bodyPr anchor="ctr"/>
          <a:lstStyle/>
          <a:p>
            <a:r>
              <a:rPr lang="en-AU" sz="3600"/>
              <a:t>6 x 3</a:t>
            </a:r>
          </a:p>
        </p:txBody>
      </p:sp>
      <p:sp>
        <p:nvSpPr>
          <p:cNvPr id="10" name="B">
            <a:extLst>
              <a:ext uri="{FF2B5EF4-FFF2-40B4-BE49-F238E27FC236}">
                <a16:creationId xmlns:a16="http://schemas.microsoft.com/office/drawing/2014/main" id="{CA9D5B15-A13C-EE8B-176F-3B4E3454A1A2}"/>
              </a:ext>
            </a:extLst>
          </p:cNvPr>
          <p:cNvSpPr txBox="1"/>
          <p:nvPr/>
        </p:nvSpPr>
        <p:spPr>
          <a:xfrm>
            <a:off x="670559" y="31314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132977"/>
            <a:ext cx="10175920" cy="641396"/>
          </a:xfrm>
        </p:spPr>
        <p:txBody>
          <a:bodyPr anchor="ctr"/>
          <a:lstStyle/>
          <a:p>
            <a:r>
              <a:rPr lang="en-AU" sz="3600"/>
              <a:t>4 eights</a:t>
            </a:r>
          </a:p>
        </p:txBody>
      </p:sp>
      <p:sp>
        <p:nvSpPr>
          <p:cNvPr id="12" name="C">
            <a:extLst>
              <a:ext uri="{FF2B5EF4-FFF2-40B4-BE49-F238E27FC236}">
                <a16:creationId xmlns:a16="http://schemas.microsoft.com/office/drawing/2014/main" id="{B4746450-E4E2-359C-DFCA-0532E811BD1E}"/>
              </a:ext>
            </a:extLst>
          </p:cNvPr>
          <p:cNvSpPr txBox="1"/>
          <p:nvPr/>
        </p:nvSpPr>
        <p:spPr>
          <a:xfrm>
            <a:off x="670558" y="42542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199986" y="4269923"/>
            <a:ext cx="10175920" cy="641396"/>
          </a:xfrm>
        </p:spPr>
        <p:txBody>
          <a:bodyPr anchor="ctr"/>
          <a:lstStyle/>
          <a:p>
            <a:r>
              <a:rPr lang="en-AU" sz="3600"/>
              <a:t> 2 tens</a:t>
            </a:r>
          </a:p>
        </p:txBody>
      </p:sp>
      <p:sp>
        <p:nvSpPr>
          <p:cNvPr id="11" name="D">
            <a:extLst>
              <a:ext uri="{FF2B5EF4-FFF2-40B4-BE49-F238E27FC236}">
                <a16:creationId xmlns:a16="http://schemas.microsoft.com/office/drawing/2014/main" id="{9B8955CE-78C1-2F30-7505-4CA44A86BDFF}"/>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199986" y="5406868"/>
            <a:ext cx="10175920" cy="641396"/>
          </a:xfrm>
        </p:spPr>
        <p:txBody>
          <a:bodyPr anchor="ctr"/>
          <a:lstStyle/>
          <a:p>
            <a:r>
              <a:rPr lang="en-AU" sz="3600"/>
              <a:t> 3 x 9</a:t>
            </a:r>
            <a:endParaRPr lang="en-US" sz="3600"/>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Picture Placeholder 10">
            <a:extLst>
              <a:ext uri="{FF2B5EF4-FFF2-40B4-BE49-F238E27FC236}">
                <a16:creationId xmlns:a16="http://schemas.microsoft.com/office/drawing/2014/main" id="{47E0413B-43AE-C938-D2A0-628DDE42E143}"/>
              </a:ext>
            </a:extLst>
          </p:cNvPr>
          <p:cNvSpPr txBox="1">
            <a:spLocks/>
          </p:cNvSpPr>
          <p:nvPr/>
        </p:nvSpPr>
        <p:spPr>
          <a:xfrm>
            <a:off x="148244" y="1141929"/>
            <a:ext cx="11695756" cy="546407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1200"/>
              </a:spcBef>
              <a:spcAft>
                <a:spcPts val="1800"/>
              </a:spcAft>
            </a:pPr>
            <a:r>
              <a:rPr lang="en-AU" sz="3600">
                <a:latin typeface="Arial"/>
                <a:cs typeface="Arial"/>
              </a:rPr>
              <a:t>The number sentence </a:t>
            </a:r>
            <a:r>
              <a:rPr lang="en-AU" sz="3600" b="1">
                <a:latin typeface="Arial"/>
                <a:cs typeface="Arial"/>
              </a:rPr>
              <a:t>2 x 12 </a:t>
            </a:r>
            <a:r>
              <a:rPr lang="en-AU" sz="3600">
                <a:latin typeface="Arial"/>
                <a:cs typeface="Arial"/>
              </a:rPr>
              <a:t>can be rewritten </a:t>
            </a:r>
          </a:p>
          <a:p>
            <a:pPr algn="ctr">
              <a:spcBef>
                <a:spcPts val="1200"/>
              </a:spcBef>
              <a:spcAft>
                <a:spcPts val="1800"/>
              </a:spcAft>
            </a:pPr>
            <a:r>
              <a:rPr lang="en-AU" sz="3600">
                <a:latin typeface="Arial"/>
                <a:cs typeface="Arial"/>
              </a:rPr>
              <a:t>as </a:t>
            </a:r>
            <a:r>
              <a:rPr lang="en-AU" sz="3600" b="1">
                <a:latin typeface="Arial"/>
                <a:cs typeface="Arial"/>
              </a:rPr>
              <a:t>2 x (2 x 6).</a:t>
            </a:r>
          </a:p>
          <a:p>
            <a:pPr algn="ctr">
              <a:spcBef>
                <a:spcPts val="1200"/>
              </a:spcBef>
              <a:spcAft>
                <a:spcPts val="1800"/>
              </a:spcAft>
            </a:pPr>
            <a:r>
              <a:rPr lang="en-AU" sz="3600" b="1">
                <a:latin typeface="Arial"/>
                <a:cs typeface="Arial"/>
              </a:rPr>
              <a:t>Rewrite </a:t>
            </a:r>
            <a:r>
              <a:rPr lang="en-AU" sz="3600">
                <a:latin typeface="Arial"/>
                <a:cs typeface="Arial"/>
              </a:rPr>
              <a:t>the number sentence in as many ways as possible using </a:t>
            </a:r>
            <a:r>
              <a:rPr lang="en-AU" sz="3600" b="1">
                <a:latin typeface="Arial"/>
                <a:cs typeface="Arial"/>
              </a:rPr>
              <a:t>regrouping</a:t>
            </a:r>
            <a:r>
              <a:rPr lang="en-AU" sz="3600">
                <a:latin typeface="Arial"/>
                <a:cs typeface="Arial"/>
              </a:rPr>
              <a:t>.</a:t>
            </a:r>
          </a:p>
          <a:p>
            <a:pPr algn="ctr">
              <a:spcBef>
                <a:spcPts val="1200"/>
              </a:spcBef>
              <a:spcAft>
                <a:spcPts val="1800"/>
              </a:spcAft>
            </a:pPr>
            <a:r>
              <a:rPr lang="en-AU" sz="3600">
                <a:latin typeface="Arial"/>
                <a:cs typeface="Arial"/>
              </a:rPr>
              <a:t>Which grouping is </a:t>
            </a:r>
            <a:r>
              <a:rPr lang="en-AU" sz="3600" b="1">
                <a:latin typeface="Arial"/>
                <a:cs typeface="Arial"/>
              </a:rPr>
              <a:t>easiest to solve </a:t>
            </a:r>
            <a:r>
              <a:rPr lang="en-AU" sz="3600">
                <a:latin typeface="Arial"/>
                <a:cs typeface="Arial"/>
              </a:rPr>
              <a:t>and </a:t>
            </a:r>
            <a:r>
              <a:rPr lang="en-AU" sz="3600" b="1">
                <a:latin typeface="Arial"/>
                <a:cs typeface="Arial"/>
              </a:rPr>
              <a:t>why</a:t>
            </a:r>
            <a:r>
              <a:rPr lang="en-AU" sz="3600">
                <a:latin typeface="Arial"/>
                <a:cs typeface="Arial"/>
              </a:rPr>
              <a:t>?</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4">
            <a:extLst>
              <a:ext uri="{FF2B5EF4-FFF2-40B4-BE49-F238E27FC236}">
                <a16:creationId xmlns:a16="http://schemas.microsoft.com/office/drawing/2014/main" id="{439DF2CE-302A-295C-4A9A-E6FA41A8F336}"/>
              </a:ext>
            </a:extLst>
          </p:cNvPr>
          <p:cNvSpPr txBox="1">
            <a:spLocks/>
          </p:cNvSpPr>
          <p:nvPr/>
        </p:nvSpPr>
        <p:spPr>
          <a:xfrm>
            <a:off x="477392" y="1295252"/>
            <a:ext cx="3658319" cy="61803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b="1"/>
              <a:t>Use partitioning </a:t>
            </a:r>
            <a:r>
              <a:rPr lang="en-AU" sz="3600"/>
              <a:t>to</a:t>
            </a:r>
            <a:r>
              <a:rPr lang="en-AU" sz="3600" b="1"/>
              <a:t> represent</a:t>
            </a:r>
            <a:r>
              <a:rPr lang="en-AU" sz="3600"/>
              <a:t> 3 different </a:t>
            </a:r>
            <a:r>
              <a:rPr lang="en-AU" sz="3600" b="1"/>
              <a:t>number combinations </a:t>
            </a:r>
            <a:r>
              <a:rPr lang="en-AU" sz="3600"/>
              <a:t>for ordering 12 600 glue sticks.</a:t>
            </a:r>
          </a:p>
        </p:txBody>
      </p:sp>
      <p:pic>
        <p:nvPicPr>
          <p:cNvPr id="5" name="Picture 4" descr="A picture of a school stationary order page with different amounts of glue sticks for sale. There are 100 glue sticks in a box for $399.50, 10 glue sticks in a pack for $42.50, single glue sticks for $4.50, a pallet of glue sticks which is 10 000 glue sticks which as $30 000 and a tower of glue sticks which is 100 glue sticks for $390. ">
            <a:extLst>
              <a:ext uri="{FF2B5EF4-FFF2-40B4-BE49-F238E27FC236}">
                <a16:creationId xmlns:a16="http://schemas.microsoft.com/office/drawing/2014/main" id="{9797C1F5-2B48-49BD-5559-AACE1BCE61C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50486" y="1295252"/>
            <a:ext cx="7164122" cy="5064985"/>
          </a:xfrm>
          <a:prstGeom prst="rect">
            <a:avLst/>
          </a:prstGeom>
          <a:noFill/>
          <a:ln>
            <a:noFill/>
          </a:ln>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4">
            <a:extLst>
              <a:ext uri="{FF2B5EF4-FFF2-40B4-BE49-F238E27FC236}">
                <a16:creationId xmlns:a16="http://schemas.microsoft.com/office/drawing/2014/main" id="{F166A3E1-F696-AB97-111A-43941DC9A904}"/>
              </a:ext>
            </a:extLst>
          </p:cNvPr>
          <p:cNvSpPr>
            <a:spLocks noGrp="1"/>
          </p:cNvSpPr>
          <p:nvPr>
            <p:ph type="body" sz="quarter" idx="17"/>
          </p:nvPr>
        </p:nvSpPr>
        <p:spPr>
          <a:xfrm>
            <a:off x="311868" y="1012189"/>
            <a:ext cx="11484000" cy="618039"/>
          </a:xfrm>
        </p:spPr>
        <p:txBody>
          <a:bodyPr/>
          <a:lstStyle/>
          <a:p>
            <a:pPr algn="ctr"/>
            <a:r>
              <a:rPr lang="en-AU" sz="3200"/>
              <a:t>What</a:t>
            </a:r>
            <a:r>
              <a:rPr lang="en-AU" sz="3200" b="1"/>
              <a:t> other ways </a:t>
            </a:r>
            <a:r>
              <a:rPr lang="en-AU" sz="3200"/>
              <a:t>of presenting this data would be </a:t>
            </a:r>
            <a:r>
              <a:rPr lang="en-AU" sz="3200" b="1"/>
              <a:t>effective? </a:t>
            </a:r>
            <a:endParaRPr lang="en-AU" sz="3200"/>
          </a:p>
        </p:txBody>
      </p:sp>
      <p:graphicFrame>
        <p:nvGraphicFramePr>
          <p:cNvPr id="4" name="Table 3">
            <a:extLst>
              <a:ext uri="{FF2B5EF4-FFF2-40B4-BE49-F238E27FC236}">
                <a16:creationId xmlns:a16="http://schemas.microsoft.com/office/drawing/2014/main" id="{B530CA0B-A398-AE9A-E865-0AD201229B32}"/>
              </a:ext>
            </a:extLst>
          </p:cNvPr>
          <p:cNvGraphicFramePr>
            <a:graphicFrameLocks noGrp="1"/>
          </p:cNvGraphicFramePr>
          <p:nvPr>
            <p:extLst>
              <p:ext uri="{D42A27DB-BD31-4B8C-83A1-F6EECF244321}">
                <p14:modId xmlns:p14="http://schemas.microsoft.com/office/powerpoint/2010/main" val="324424881"/>
              </p:ext>
            </p:extLst>
          </p:nvPr>
        </p:nvGraphicFramePr>
        <p:xfrm>
          <a:off x="303011" y="2075366"/>
          <a:ext cx="11585978" cy="3412427"/>
        </p:xfrm>
        <a:graphic>
          <a:graphicData uri="http://schemas.openxmlformats.org/drawingml/2006/table">
            <a:tbl>
              <a:tblPr firstRow="1" firstCol="1" bandRow="1"/>
              <a:tblGrid>
                <a:gridCol w="3254570">
                  <a:extLst>
                    <a:ext uri="{9D8B030D-6E8A-4147-A177-3AD203B41FA5}">
                      <a16:colId xmlns:a16="http://schemas.microsoft.com/office/drawing/2014/main" val="914845919"/>
                    </a:ext>
                  </a:extLst>
                </a:gridCol>
                <a:gridCol w="2082852">
                  <a:extLst>
                    <a:ext uri="{9D8B030D-6E8A-4147-A177-3AD203B41FA5}">
                      <a16:colId xmlns:a16="http://schemas.microsoft.com/office/drawing/2014/main" val="3349099808"/>
                    </a:ext>
                  </a:extLst>
                </a:gridCol>
                <a:gridCol w="2082852">
                  <a:extLst>
                    <a:ext uri="{9D8B030D-6E8A-4147-A177-3AD203B41FA5}">
                      <a16:colId xmlns:a16="http://schemas.microsoft.com/office/drawing/2014/main" val="1978255153"/>
                    </a:ext>
                  </a:extLst>
                </a:gridCol>
                <a:gridCol w="2082852">
                  <a:extLst>
                    <a:ext uri="{9D8B030D-6E8A-4147-A177-3AD203B41FA5}">
                      <a16:colId xmlns:a16="http://schemas.microsoft.com/office/drawing/2014/main" val="2268672284"/>
                    </a:ext>
                  </a:extLst>
                </a:gridCol>
                <a:gridCol w="2082852">
                  <a:extLst>
                    <a:ext uri="{9D8B030D-6E8A-4147-A177-3AD203B41FA5}">
                      <a16:colId xmlns:a16="http://schemas.microsoft.com/office/drawing/2014/main" val="4206005443"/>
                    </a:ext>
                  </a:extLst>
                </a:gridCol>
              </a:tblGrid>
              <a:tr h="427253">
                <a:tc>
                  <a:txBody>
                    <a:bodyPr/>
                    <a:lstStyle/>
                    <a:p>
                      <a:pPr>
                        <a:lnSpc>
                          <a:spcPct val="150000"/>
                        </a:lnSpc>
                        <a:spcBef>
                          <a:spcPts val="600"/>
                        </a:spcBef>
                        <a:spcAft>
                          <a:spcPts val="600"/>
                        </a:spcAft>
                        <a:buNone/>
                      </a:pPr>
                      <a:r>
                        <a:rPr lang="en-AU" sz="2400" b="1">
                          <a:solidFill>
                            <a:srgbClr val="FFFFFF"/>
                          </a:solidFill>
                          <a:effectLst/>
                          <a:latin typeface="Arial" panose="020B0604020202020204" pitchFamily="34" charset="0"/>
                          <a:ea typeface="Calibri" panose="020F0502020204030204" pitchFamily="34" charset="0"/>
                          <a:cs typeface="Arial" panose="020B0604020202020204" pitchFamily="34" charset="0"/>
                        </a:rPr>
                        <a:t>Survey Question</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002664"/>
                    </a:solidFill>
                  </a:tcPr>
                </a:tc>
                <a:tc gridSpan="4">
                  <a:txBody>
                    <a:bodyPr/>
                    <a:lstStyle/>
                    <a:p>
                      <a:pPr>
                        <a:lnSpc>
                          <a:spcPct val="150000"/>
                        </a:lnSpc>
                        <a:spcBef>
                          <a:spcPts val="600"/>
                        </a:spcBef>
                        <a:spcAft>
                          <a:spcPts val="600"/>
                        </a:spcAft>
                        <a:buNone/>
                      </a:pPr>
                      <a:r>
                        <a:rPr lang="en-AU" sz="2400" b="1">
                          <a:solidFill>
                            <a:srgbClr val="FFFFFF"/>
                          </a:solidFill>
                          <a:effectLst/>
                          <a:latin typeface="Arial" panose="020B0604020202020204" pitchFamily="34" charset="0"/>
                          <a:ea typeface="Calibri" panose="020F0502020204030204" pitchFamily="34" charset="0"/>
                          <a:cs typeface="Arial" panose="020B0604020202020204" pitchFamily="34" charset="0"/>
                        </a:rPr>
                        <a:t>Categories and Responses</a:t>
                      </a:r>
                      <a:r>
                        <a:rPr lang="en-AU" sz="2400" b="1">
                          <a:effectLst/>
                          <a:latin typeface="Arial" panose="020B0604020202020204" pitchFamily="34" charset="0"/>
                          <a:ea typeface="Calibri" panose="020F0502020204030204" pitchFamily="34" charset="0"/>
                          <a:cs typeface="Arial" panose="020B0604020202020204" pitchFamily="34" charset="0"/>
                        </a:rPr>
                        <a:t> </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002664"/>
                    </a:solidFill>
                  </a:tcPr>
                </a:tc>
                <a:tc hMerge="1">
                  <a:txBody>
                    <a:bodyPr/>
                    <a:lstStyle/>
                    <a:p>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002664"/>
                    </a:solidFill>
                  </a:tcPr>
                </a:tc>
                <a:tc hMerge="1">
                  <a:txBody>
                    <a:bodyPr/>
                    <a:lstStyle/>
                    <a:p>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002664"/>
                    </a:solidFill>
                  </a:tcPr>
                </a:tc>
                <a:tc hMerge="1">
                  <a:txBody>
                    <a:bodyPr/>
                    <a:lstStyle/>
                    <a:p>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002664"/>
                    </a:solidFill>
                  </a:tcPr>
                </a:tc>
                <a:extLst>
                  <a:ext uri="{0D108BD9-81ED-4DB2-BD59-A6C34878D82A}">
                    <a16:rowId xmlns:a16="http://schemas.microsoft.com/office/drawing/2014/main" val="1681937458"/>
                  </a:ext>
                </a:extLst>
              </a:tr>
              <a:tr h="1466631">
                <a:tc>
                  <a:txBody>
                    <a:bodyPr/>
                    <a:lstStyle/>
                    <a:p>
                      <a:pPr algn="l">
                        <a:lnSpc>
                          <a:spcPct val="150000"/>
                        </a:lnSpc>
                        <a:spcBef>
                          <a:spcPts val="600"/>
                        </a:spcBef>
                        <a:spcAft>
                          <a:spcPts val="600"/>
                        </a:spcAft>
                        <a:buNone/>
                      </a:pPr>
                      <a:r>
                        <a:rPr lang="en-AU" sz="2400" b="1">
                          <a:effectLst/>
                          <a:latin typeface="Arial" panose="020B0604020202020204" pitchFamily="34" charset="0"/>
                          <a:ea typeface="Calibri" panose="020F0502020204030204" pitchFamily="34" charset="0"/>
                          <a:cs typeface="Arial" panose="020B0604020202020204" pitchFamily="34" charset="0"/>
                        </a:rPr>
                        <a:t>What is your favourite type of movie or TV show?</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50000"/>
                        </a:lnSpc>
                        <a:spcBef>
                          <a:spcPts val="600"/>
                        </a:spcBef>
                        <a:spcAft>
                          <a:spcPts val="600"/>
                        </a:spcAft>
                        <a:buNone/>
                      </a:pPr>
                      <a:r>
                        <a:rPr lang="en-AU" sz="2400">
                          <a:effectLst/>
                          <a:latin typeface="Arial" panose="020B0604020202020204" pitchFamily="34" charset="0"/>
                          <a:ea typeface="Calibri" panose="020F0502020204030204" pitchFamily="34" charset="0"/>
                          <a:cs typeface="Arial" panose="020B0604020202020204" pitchFamily="34" charset="0"/>
                        </a:rPr>
                        <a:t>animation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50000"/>
                        </a:lnSpc>
                        <a:spcBef>
                          <a:spcPts val="600"/>
                        </a:spcBef>
                        <a:spcAft>
                          <a:spcPts val="600"/>
                        </a:spcAft>
                        <a:buNone/>
                      </a:pPr>
                      <a:r>
                        <a:rPr lang="en-AU" sz="2400">
                          <a:effectLst/>
                          <a:latin typeface="Arial" panose="020B0604020202020204" pitchFamily="34" charset="0"/>
                          <a:ea typeface="Calibri" panose="020F0502020204030204" pitchFamily="34" charset="0"/>
                          <a:cs typeface="Arial" panose="020B0604020202020204" pitchFamily="34" charset="0"/>
                        </a:rPr>
                        <a:t>comedy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50000"/>
                        </a:lnSpc>
                        <a:spcBef>
                          <a:spcPts val="600"/>
                        </a:spcBef>
                        <a:spcAft>
                          <a:spcPts val="600"/>
                        </a:spcAft>
                        <a:buNone/>
                      </a:pPr>
                      <a:r>
                        <a:rPr lang="en-AU" sz="2400">
                          <a:effectLst/>
                          <a:latin typeface="Arial" panose="020B0604020202020204" pitchFamily="34" charset="0"/>
                          <a:ea typeface="Calibri" panose="020F0502020204030204" pitchFamily="34" charset="0"/>
                          <a:cs typeface="Arial" panose="020B0604020202020204" pitchFamily="34" charset="0"/>
                        </a:rPr>
                        <a:t>action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50000"/>
                        </a:lnSpc>
                        <a:spcBef>
                          <a:spcPts val="600"/>
                        </a:spcBef>
                        <a:spcAft>
                          <a:spcPts val="600"/>
                        </a:spcAft>
                        <a:buNone/>
                      </a:pPr>
                      <a:r>
                        <a:rPr lang="en-AU" sz="2400">
                          <a:effectLst/>
                          <a:latin typeface="Arial" panose="020B0604020202020204" pitchFamily="34" charset="0"/>
                          <a:ea typeface="Calibri" panose="020F0502020204030204" pitchFamily="34" charset="0"/>
                          <a:cs typeface="Arial" panose="020B0604020202020204" pitchFamily="34" charset="0"/>
                        </a:rPr>
                        <a:t>documentary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48643502"/>
                  </a:ext>
                </a:extLst>
              </a:tr>
              <a:tr h="1222394">
                <a:tc>
                  <a:txBody>
                    <a:bodyPr/>
                    <a:lstStyle/>
                    <a:p>
                      <a:pPr>
                        <a:lnSpc>
                          <a:spcPct val="150000"/>
                        </a:lnSpc>
                        <a:spcBef>
                          <a:spcPts val="600"/>
                        </a:spcBef>
                        <a:spcAft>
                          <a:spcPts val="600"/>
                        </a:spcAft>
                        <a:buNone/>
                      </a:pPr>
                      <a:r>
                        <a:rPr lang="en-AU" sz="2800" b="1">
                          <a:effectLst/>
                          <a:latin typeface="Arial" panose="020B0604020202020204" pitchFamily="34" charset="0"/>
                          <a:ea typeface="Calibri" panose="020F0502020204030204" pitchFamily="34" charset="0"/>
                          <a:cs typeface="Arial" panose="020B0604020202020204" pitchFamily="34" charset="0"/>
                        </a:rPr>
                        <a:t> </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BEB"/>
                    </a:solidFill>
                  </a:tcPr>
                </a:tc>
                <a:tc>
                  <a:txBody>
                    <a:bodyPr/>
                    <a:lstStyle/>
                    <a:p>
                      <a:pPr>
                        <a:lnSpc>
                          <a:spcPct val="150000"/>
                        </a:lnSpc>
                        <a:spcBef>
                          <a:spcPts val="600"/>
                        </a:spcBef>
                        <a:spcAft>
                          <a:spcPts val="600"/>
                        </a:spcAft>
                        <a:buNone/>
                      </a:pPr>
                      <a:r>
                        <a:rPr lang="en-AU" sz="28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BEB"/>
                    </a:solidFill>
                  </a:tcPr>
                </a:tc>
                <a:tc>
                  <a:txBody>
                    <a:bodyPr/>
                    <a:lstStyle/>
                    <a:p>
                      <a:pPr>
                        <a:lnSpc>
                          <a:spcPct val="150000"/>
                        </a:lnSpc>
                        <a:spcBef>
                          <a:spcPts val="600"/>
                        </a:spcBef>
                        <a:spcAft>
                          <a:spcPts val="600"/>
                        </a:spcAft>
                        <a:buNone/>
                      </a:pPr>
                      <a:r>
                        <a:rPr lang="en-AU" sz="28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BEB"/>
                    </a:solidFill>
                  </a:tcPr>
                </a:tc>
                <a:tc>
                  <a:txBody>
                    <a:bodyPr/>
                    <a:lstStyle/>
                    <a:p>
                      <a:pPr>
                        <a:lnSpc>
                          <a:spcPct val="150000"/>
                        </a:lnSpc>
                        <a:spcBef>
                          <a:spcPts val="600"/>
                        </a:spcBef>
                        <a:spcAft>
                          <a:spcPts val="600"/>
                        </a:spcAft>
                        <a:buNone/>
                      </a:pPr>
                      <a:r>
                        <a:rPr lang="en-AU" sz="28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BEB"/>
                    </a:solidFill>
                  </a:tcPr>
                </a:tc>
                <a:tc>
                  <a:txBody>
                    <a:bodyPr/>
                    <a:lstStyle/>
                    <a:p>
                      <a:pPr>
                        <a:lnSpc>
                          <a:spcPct val="150000"/>
                        </a:lnSpc>
                        <a:spcBef>
                          <a:spcPts val="600"/>
                        </a:spcBef>
                        <a:spcAft>
                          <a:spcPts val="600"/>
                        </a:spcAft>
                        <a:buNone/>
                      </a:pPr>
                      <a:r>
                        <a:rPr lang="en-AU" sz="2800">
                          <a:effectLst/>
                          <a:latin typeface="Arial" panose="020B0604020202020204" pitchFamily="34" charset="0"/>
                          <a:ea typeface="Calibri" panose="020F0502020204030204" pitchFamily="34" charset="0"/>
                          <a:cs typeface="Arial" panose="020B0604020202020204" pitchFamily="34" charset="0"/>
                        </a:rPr>
                        <a:t> </a:t>
                      </a:r>
                    </a:p>
                    <a:p>
                      <a:pPr>
                        <a:lnSpc>
                          <a:spcPct val="150000"/>
                        </a:lnSpc>
                        <a:spcBef>
                          <a:spcPts val="600"/>
                        </a:spcBef>
                        <a:spcAft>
                          <a:spcPts val="600"/>
                        </a:spcAft>
                        <a:buNone/>
                      </a:pPr>
                      <a:r>
                        <a:rPr lang="en-AU" sz="28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BEBEB"/>
                    </a:solidFill>
                  </a:tcPr>
                </a:tc>
                <a:extLst>
                  <a:ext uri="{0D108BD9-81ED-4DB2-BD59-A6C34878D82A}">
                    <a16:rowId xmlns:a16="http://schemas.microsoft.com/office/drawing/2014/main" val="4038025754"/>
                  </a:ext>
                </a:extLst>
              </a:tr>
            </a:tbl>
          </a:graphicData>
        </a:graphic>
      </p:graphicFrame>
      <p:sp>
        <p:nvSpPr>
          <p:cNvPr id="8" name="Freeform 5" descr="Five tally marks.">
            <a:extLst>
              <a:ext uri="{FF2B5EF4-FFF2-40B4-BE49-F238E27FC236}">
                <a16:creationId xmlns:a16="http://schemas.microsoft.com/office/drawing/2014/main" id="{64B46656-3E04-D74B-0F7D-BA7769AC01FB}"/>
              </a:ext>
            </a:extLst>
          </p:cNvPr>
          <p:cNvSpPr/>
          <p:nvPr/>
        </p:nvSpPr>
        <p:spPr>
          <a:xfrm>
            <a:off x="3646404" y="4536940"/>
            <a:ext cx="904081" cy="601070"/>
          </a:xfrm>
          <a:custGeom>
            <a:avLst/>
            <a:gdLst/>
            <a:ahLst/>
            <a:cxnLst/>
            <a:rect l="l" t="t" r="r" b="b"/>
            <a:pathLst>
              <a:path w="2316631" h="1914117">
                <a:moveTo>
                  <a:pt x="0" y="0"/>
                </a:moveTo>
                <a:lnTo>
                  <a:pt x="2316632" y="0"/>
                </a:lnTo>
                <a:lnTo>
                  <a:pt x="2316632" y="1914116"/>
                </a:lnTo>
                <a:lnTo>
                  <a:pt x="0" y="19141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6" descr="Two tally marks.">
            <a:extLst>
              <a:ext uri="{FF2B5EF4-FFF2-40B4-BE49-F238E27FC236}">
                <a16:creationId xmlns:a16="http://schemas.microsoft.com/office/drawing/2014/main" id="{07D71860-C42B-DB74-B464-054F33AEE6EE}"/>
              </a:ext>
            </a:extLst>
          </p:cNvPr>
          <p:cNvSpPr/>
          <p:nvPr/>
        </p:nvSpPr>
        <p:spPr>
          <a:xfrm>
            <a:off x="4787153" y="4536940"/>
            <a:ext cx="225911" cy="601071"/>
          </a:xfrm>
          <a:custGeom>
            <a:avLst/>
            <a:gdLst/>
            <a:ahLst/>
            <a:cxnLst/>
            <a:rect l="l" t="t" r="r" b="b"/>
            <a:pathLst>
              <a:path w="583806" h="1914117">
                <a:moveTo>
                  <a:pt x="0" y="0"/>
                </a:moveTo>
                <a:lnTo>
                  <a:pt x="583805" y="0"/>
                </a:lnTo>
                <a:lnTo>
                  <a:pt x="583805" y="1914116"/>
                </a:lnTo>
                <a:lnTo>
                  <a:pt x="0" y="19141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0" name="Freeform 7" descr="3 tally marks.">
            <a:extLst>
              <a:ext uri="{FF2B5EF4-FFF2-40B4-BE49-F238E27FC236}">
                <a16:creationId xmlns:a16="http://schemas.microsoft.com/office/drawing/2014/main" id="{4111F838-C293-CB77-B318-8FBB75B40502}"/>
              </a:ext>
            </a:extLst>
          </p:cNvPr>
          <p:cNvSpPr/>
          <p:nvPr/>
        </p:nvSpPr>
        <p:spPr>
          <a:xfrm>
            <a:off x="6277087" y="4550391"/>
            <a:ext cx="354565" cy="601070"/>
          </a:xfrm>
          <a:custGeom>
            <a:avLst/>
            <a:gdLst/>
            <a:ahLst/>
            <a:cxnLst/>
            <a:rect l="l" t="t" r="r" b="b"/>
            <a:pathLst>
              <a:path w="851782" h="1914117">
                <a:moveTo>
                  <a:pt x="0" y="0"/>
                </a:moveTo>
                <a:lnTo>
                  <a:pt x="851782" y="0"/>
                </a:lnTo>
                <a:lnTo>
                  <a:pt x="851782" y="1914116"/>
                </a:lnTo>
                <a:lnTo>
                  <a:pt x="0" y="19141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1" name="Freeform 8" descr="4 tally marks.">
            <a:extLst>
              <a:ext uri="{FF2B5EF4-FFF2-40B4-BE49-F238E27FC236}">
                <a16:creationId xmlns:a16="http://schemas.microsoft.com/office/drawing/2014/main" id="{C52ED220-FA89-A185-6A34-2C4ECF2F80C5}"/>
              </a:ext>
            </a:extLst>
          </p:cNvPr>
          <p:cNvSpPr/>
          <p:nvPr/>
        </p:nvSpPr>
        <p:spPr>
          <a:xfrm>
            <a:off x="8326743" y="4550391"/>
            <a:ext cx="720000" cy="627972"/>
          </a:xfrm>
          <a:custGeom>
            <a:avLst/>
            <a:gdLst/>
            <a:ahLst/>
            <a:cxnLst/>
            <a:rect l="l" t="t" r="r" b="b"/>
            <a:pathLst>
              <a:path w="4276800" h="1871100">
                <a:moveTo>
                  <a:pt x="0" y="0"/>
                </a:moveTo>
                <a:lnTo>
                  <a:pt x="4276800" y="0"/>
                </a:lnTo>
                <a:lnTo>
                  <a:pt x="4276800" y="1871100"/>
                </a:lnTo>
                <a:lnTo>
                  <a:pt x="0" y="1871100"/>
                </a:lnTo>
                <a:lnTo>
                  <a:pt x="0" y="0"/>
                </a:lnTo>
                <a:close/>
              </a:path>
            </a:pathLst>
          </a:custGeom>
          <a:blipFill>
            <a:blip r:embed="rId10">
              <a:extLst>
                <a:ext uri="{96DAC541-7B7A-43D3-8B79-37D633B846F1}">
                  <asvg:svgBlip xmlns:asvg="http://schemas.microsoft.com/office/drawing/2016/SVG/main" r:embed="rId11"/>
                </a:ext>
              </a:extLst>
            </a:blip>
            <a:stretch>
              <a:fillRect l="-152210"/>
            </a:stretch>
          </a:blipFill>
        </p:spPr>
        <p:txBody>
          <a:bodyPr/>
          <a:lstStyle/>
          <a:p>
            <a:endParaRPr lang="en-AU"/>
          </a:p>
        </p:txBody>
      </p:sp>
      <p:sp>
        <p:nvSpPr>
          <p:cNvPr id="13" name="Freeform 8" descr="1 tally mark.">
            <a:extLst>
              <a:ext uri="{FF2B5EF4-FFF2-40B4-BE49-F238E27FC236}">
                <a16:creationId xmlns:a16="http://schemas.microsoft.com/office/drawing/2014/main" id="{429E3704-FBA9-31A9-233C-5ACAD42D5B5F}"/>
              </a:ext>
            </a:extLst>
          </p:cNvPr>
          <p:cNvSpPr/>
          <p:nvPr/>
        </p:nvSpPr>
        <p:spPr>
          <a:xfrm flipH="1">
            <a:off x="10187492" y="4523489"/>
            <a:ext cx="225911" cy="627972"/>
          </a:xfrm>
          <a:custGeom>
            <a:avLst/>
            <a:gdLst/>
            <a:ahLst/>
            <a:cxnLst/>
            <a:rect l="l" t="t" r="r" b="b"/>
            <a:pathLst>
              <a:path w="4276800" h="1871100">
                <a:moveTo>
                  <a:pt x="0" y="0"/>
                </a:moveTo>
                <a:lnTo>
                  <a:pt x="4276800" y="0"/>
                </a:lnTo>
                <a:lnTo>
                  <a:pt x="4276800" y="1871100"/>
                </a:lnTo>
                <a:lnTo>
                  <a:pt x="0" y="1871100"/>
                </a:lnTo>
                <a:lnTo>
                  <a:pt x="0" y="0"/>
                </a:lnTo>
                <a:close/>
              </a:path>
            </a:pathLst>
          </a:custGeom>
          <a:blipFill>
            <a:blip r:embed="rId10">
              <a:extLst>
                <a:ext uri="{96DAC541-7B7A-43D3-8B79-37D633B846F1}">
                  <asvg:svgBlip xmlns:asvg="http://schemas.microsoft.com/office/drawing/2016/SVG/main" r:embed="rId11"/>
                </a:ext>
              </a:extLst>
            </a:blip>
            <a:stretch>
              <a:fillRect l="-1028008"/>
            </a:stretch>
          </a:blipFill>
        </p:spPr>
        <p:txBody>
          <a:bodyPr/>
          <a:lstStyle/>
          <a:p>
            <a:endParaRPr lang="en-AU"/>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7" name="Text Placeholder 4">
            <a:extLst>
              <a:ext uri="{FF2B5EF4-FFF2-40B4-BE49-F238E27FC236}">
                <a16:creationId xmlns:a16="http://schemas.microsoft.com/office/drawing/2014/main" id="{9E451A8D-6AE2-59D5-3816-88879D25C4DD}"/>
              </a:ext>
            </a:extLst>
          </p:cNvPr>
          <p:cNvSpPr txBox="1">
            <a:spLocks/>
          </p:cNvSpPr>
          <p:nvPr/>
        </p:nvSpPr>
        <p:spPr>
          <a:xfrm>
            <a:off x="0" y="5837576"/>
            <a:ext cx="11484000" cy="61803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 </a:t>
            </a:r>
            <a:r>
              <a:rPr lang="en-AU" sz="3600"/>
              <a:t>your</a:t>
            </a:r>
            <a:r>
              <a:rPr lang="en-AU" sz="3600" b="1"/>
              <a:t> reasoning.</a:t>
            </a:r>
            <a:endParaRPr lang="en-AU" sz="3600"/>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70EC9C3C-539E-CC68-6EB9-1638BBC2869B}"/>
              </a:ext>
            </a:extLst>
          </p:cNvPr>
          <p:cNvSpPr txBox="1">
            <a:spLocks/>
          </p:cNvSpPr>
          <p:nvPr/>
        </p:nvSpPr>
        <p:spPr>
          <a:xfrm>
            <a:off x="474481" y="765517"/>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Match</a:t>
            </a:r>
            <a:r>
              <a:rPr lang="en-AU" sz="3600"/>
              <a:t> the container to the correct </a:t>
            </a:r>
            <a:r>
              <a:rPr lang="en-AU" sz="3600" b="1"/>
              <a:t>capacity</a:t>
            </a:r>
            <a:r>
              <a:rPr lang="en-AU" sz="3600"/>
              <a:t>: </a:t>
            </a:r>
          </a:p>
        </p:txBody>
      </p:sp>
      <p:sp>
        <p:nvSpPr>
          <p:cNvPr id="5" name="TextBox 18">
            <a:extLst>
              <a:ext uri="{FF2B5EF4-FFF2-40B4-BE49-F238E27FC236}">
                <a16:creationId xmlns:a16="http://schemas.microsoft.com/office/drawing/2014/main" id="{DA123BD5-C646-03EE-BA9A-C39418F2CFDF}"/>
              </a:ext>
            </a:extLst>
          </p:cNvPr>
          <p:cNvSpPr txBox="1"/>
          <p:nvPr/>
        </p:nvSpPr>
        <p:spPr>
          <a:xfrm>
            <a:off x="696535" y="1876182"/>
            <a:ext cx="10900909"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AU" sz="3600" b="1"/>
              <a:t> A.                            B.                          C.</a:t>
            </a:r>
            <a:br>
              <a:rPr lang="en-AU" sz="3600"/>
            </a:br>
            <a:br>
              <a:rPr lang="en-AU" sz="3600"/>
            </a:br>
            <a:endParaRPr lang="en-AU" sz="3600"/>
          </a:p>
          <a:p>
            <a:pPr algn="l"/>
            <a:endParaRPr lang="en-AU" sz="1800"/>
          </a:p>
        </p:txBody>
      </p:sp>
      <p:grpSp>
        <p:nvGrpSpPr>
          <p:cNvPr id="21" name="Group 20" descr="Three images: a water bottle labelled with 1.25 L, a milk jug labelled with 1500 mL and a yoghurt tub labelled 2L.">
            <a:extLst>
              <a:ext uri="{FF2B5EF4-FFF2-40B4-BE49-F238E27FC236}">
                <a16:creationId xmlns:a16="http://schemas.microsoft.com/office/drawing/2014/main" id="{541010B2-4E98-2216-F554-41B35FCFE28C}"/>
              </a:ext>
            </a:extLst>
          </p:cNvPr>
          <p:cNvGrpSpPr/>
          <p:nvPr/>
        </p:nvGrpSpPr>
        <p:grpSpPr>
          <a:xfrm>
            <a:off x="1617123" y="1987449"/>
            <a:ext cx="9929330" cy="3175954"/>
            <a:chOff x="1622112" y="2362196"/>
            <a:chExt cx="9929330" cy="3175954"/>
          </a:xfrm>
        </p:grpSpPr>
        <p:sp>
          <p:nvSpPr>
            <p:cNvPr id="13" name="Freeform 2">
              <a:extLst>
                <a:ext uri="{FF2B5EF4-FFF2-40B4-BE49-F238E27FC236}">
                  <a16:creationId xmlns:a16="http://schemas.microsoft.com/office/drawing/2014/main" id="{4779A87B-F54A-E2F4-CC98-9967E427DB43}"/>
                </a:ext>
              </a:extLst>
            </p:cNvPr>
            <p:cNvSpPr>
              <a:spLocks noChangeAspect="1"/>
            </p:cNvSpPr>
            <p:nvPr/>
          </p:nvSpPr>
          <p:spPr>
            <a:xfrm>
              <a:off x="1622112" y="2362196"/>
              <a:ext cx="1059975" cy="3175954"/>
            </a:xfrm>
            <a:custGeom>
              <a:avLst/>
              <a:gdLst/>
              <a:ahLst/>
              <a:cxnLst/>
              <a:rect l="l" t="t" r="r" b="b"/>
              <a:pathLst>
                <a:path w="1314947" h="3939916">
                  <a:moveTo>
                    <a:pt x="0" y="0"/>
                  </a:moveTo>
                  <a:lnTo>
                    <a:pt x="1314947" y="0"/>
                  </a:lnTo>
                  <a:lnTo>
                    <a:pt x="1314947" y="3939917"/>
                  </a:lnTo>
                  <a:lnTo>
                    <a:pt x="0" y="3939917"/>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4" name="Freeform 3">
              <a:extLst>
                <a:ext uri="{FF2B5EF4-FFF2-40B4-BE49-F238E27FC236}">
                  <a16:creationId xmlns:a16="http://schemas.microsoft.com/office/drawing/2014/main" id="{FEC7F9A6-BCDF-D6C3-A971-37E3475C1FE2}"/>
                </a:ext>
              </a:extLst>
            </p:cNvPr>
            <p:cNvSpPr>
              <a:spLocks noChangeAspect="1"/>
            </p:cNvSpPr>
            <p:nvPr/>
          </p:nvSpPr>
          <p:spPr>
            <a:xfrm>
              <a:off x="9150814" y="2459130"/>
              <a:ext cx="2400628" cy="2982147"/>
            </a:xfrm>
            <a:custGeom>
              <a:avLst/>
              <a:gdLst/>
              <a:ahLst/>
              <a:cxnLst/>
              <a:rect l="l" t="t" r="r" b="b"/>
              <a:pathLst>
                <a:path w="3063746" h="3805896">
                  <a:moveTo>
                    <a:pt x="0" y="0"/>
                  </a:moveTo>
                  <a:lnTo>
                    <a:pt x="3063746" y="0"/>
                  </a:lnTo>
                  <a:lnTo>
                    <a:pt x="3063746" y="3805896"/>
                  </a:lnTo>
                  <a:lnTo>
                    <a:pt x="0" y="3805896"/>
                  </a:lnTo>
                  <a:lnTo>
                    <a:pt x="0" y="0"/>
                  </a:lnTo>
                  <a:close/>
                </a:path>
              </a:pathLst>
            </a:custGeom>
            <a:blipFill>
              <a:blip r:embed="rId6"/>
              <a:stretch>
                <a:fillRect/>
              </a:stretch>
            </a:blipFill>
            <a:effectLst>
              <a:outerShdw blurRad="63500" sx="102000" sy="102000" algn="ctr" rotWithShape="0">
                <a:prstClr val="black">
                  <a:alpha val="40000"/>
                </a:prstClr>
              </a:outerShdw>
            </a:effectLst>
          </p:spPr>
          <p:txBody>
            <a:bodyPr/>
            <a:lstStyle/>
            <a:p>
              <a:endParaRPr lang="en-AU"/>
            </a:p>
          </p:txBody>
        </p:sp>
        <p:sp>
          <p:nvSpPr>
            <p:cNvPr id="15" name="Freeform 4">
              <a:extLst>
                <a:ext uri="{FF2B5EF4-FFF2-40B4-BE49-F238E27FC236}">
                  <a16:creationId xmlns:a16="http://schemas.microsoft.com/office/drawing/2014/main" id="{6D2DB322-AD49-A427-2B05-42BB08EA47CF}"/>
                </a:ext>
              </a:extLst>
            </p:cNvPr>
            <p:cNvSpPr>
              <a:spLocks noChangeAspect="1"/>
            </p:cNvSpPr>
            <p:nvPr/>
          </p:nvSpPr>
          <p:spPr>
            <a:xfrm>
              <a:off x="5224274" y="2413921"/>
              <a:ext cx="1818019" cy="3114379"/>
            </a:xfrm>
            <a:custGeom>
              <a:avLst/>
              <a:gdLst/>
              <a:ahLst/>
              <a:cxnLst/>
              <a:rect l="l" t="t" r="r" b="b"/>
              <a:pathLst>
                <a:path w="2221692" h="3805896">
                  <a:moveTo>
                    <a:pt x="0" y="0"/>
                  </a:moveTo>
                  <a:lnTo>
                    <a:pt x="2221691" y="0"/>
                  </a:lnTo>
                  <a:lnTo>
                    <a:pt x="2221691" y="3805896"/>
                  </a:lnTo>
                  <a:lnTo>
                    <a:pt x="0" y="3805896"/>
                  </a:lnTo>
                  <a:lnTo>
                    <a:pt x="0" y="0"/>
                  </a:lnTo>
                  <a:close/>
                </a:path>
              </a:pathLst>
            </a:custGeom>
            <a:blipFill>
              <a:blip r:embed="rId7"/>
              <a:stretch>
                <a:fillRect/>
              </a:stretch>
            </a:blipFill>
            <a:effectLst>
              <a:outerShdw blurRad="63500" sx="102000" sy="102000" algn="ctr" rotWithShape="0">
                <a:prstClr val="black">
                  <a:alpha val="40000"/>
                </a:prstClr>
              </a:outerShdw>
            </a:effectLst>
          </p:spPr>
          <p:txBody>
            <a:bodyPr/>
            <a:lstStyle/>
            <a:p>
              <a:endParaRPr lang="en-AU"/>
            </a:p>
          </p:txBody>
        </p:sp>
        <p:sp>
          <p:nvSpPr>
            <p:cNvPr id="16" name="TextBox 5">
              <a:extLst>
                <a:ext uri="{FF2B5EF4-FFF2-40B4-BE49-F238E27FC236}">
                  <a16:creationId xmlns:a16="http://schemas.microsoft.com/office/drawing/2014/main" id="{63223FCD-0629-7014-30F8-9E5B141457D5}"/>
                </a:ext>
              </a:extLst>
            </p:cNvPr>
            <p:cNvSpPr txBox="1">
              <a:spLocks noChangeAspect="1"/>
            </p:cNvSpPr>
            <p:nvPr/>
          </p:nvSpPr>
          <p:spPr>
            <a:xfrm>
              <a:off x="9519891" y="2530284"/>
              <a:ext cx="1798557" cy="397032"/>
            </a:xfrm>
            <a:prstGeom prst="rect">
              <a:avLst/>
            </a:prstGeom>
          </p:spPr>
          <p:txBody>
            <a:bodyPr wrap="square" lIns="0" tIns="0" rIns="0" bIns="0" rtlCol="0" anchor="t">
              <a:spAutoFit/>
            </a:bodyPr>
            <a:lstStyle/>
            <a:p>
              <a:pPr algn="ctr">
                <a:lnSpc>
                  <a:spcPts val="3359"/>
                </a:lnSpc>
              </a:pPr>
              <a:r>
                <a:rPr lang="en-US" sz="2400" b="1">
                  <a:solidFill>
                    <a:srgbClr val="000000"/>
                  </a:solidFill>
                  <a:latin typeface="Public Sans Semi-Bold"/>
                  <a:ea typeface="Public Sans Semi-Bold"/>
                  <a:cs typeface="Public Sans Semi-Bold"/>
                  <a:sym typeface="Public Sans Semi-Bold"/>
                </a:rPr>
                <a:t>1250 mL</a:t>
              </a:r>
            </a:p>
          </p:txBody>
        </p:sp>
        <p:sp>
          <p:nvSpPr>
            <p:cNvPr id="17" name="TextBox 6">
              <a:extLst>
                <a:ext uri="{FF2B5EF4-FFF2-40B4-BE49-F238E27FC236}">
                  <a16:creationId xmlns:a16="http://schemas.microsoft.com/office/drawing/2014/main" id="{6F6BE2E3-5EE9-6125-4F49-17A4C20BC58D}"/>
                </a:ext>
              </a:extLst>
            </p:cNvPr>
            <p:cNvSpPr txBox="1">
              <a:spLocks noChangeAspect="1"/>
            </p:cNvSpPr>
            <p:nvPr/>
          </p:nvSpPr>
          <p:spPr>
            <a:xfrm>
              <a:off x="1851440" y="2893281"/>
              <a:ext cx="665509" cy="392095"/>
            </a:xfrm>
            <a:prstGeom prst="rect">
              <a:avLst/>
            </a:prstGeom>
          </p:spPr>
          <p:txBody>
            <a:bodyPr wrap="square" lIns="0" tIns="0" rIns="0" bIns="0" rtlCol="0" anchor="t">
              <a:spAutoFit/>
            </a:bodyPr>
            <a:lstStyle/>
            <a:p>
              <a:pPr algn="ctr">
                <a:lnSpc>
                  <a:spcPts val="3359"/>
                </a:lnSpc>
              </a:pPr>
              <a:r>
                <a:rPr lang="en-US" sz="2400" b="1">
                  <a:solidFill>
                    <a:srgbClr val="000000"/>
                  </a:solidFill>
                  <a:latin typeface="Public Sans Semi-Bold"/>
                  <a:ea typeface="Public Sans Semi-Bold"/>
                  <a:cs typeface="Public Sans Semi-Bold"/>
                  <a:sym typeface="Public Sans Semi-Bold"/>
                </a:rPr>
                <a:t>2 L</a:t>
              </a:r>
            </a:p>
          </p:txBody>
        </p:sp>
        <p:sp>
          <p:nvSpPr>
            <p:cNvPr id="18" name="TextBox 7">
              <a:extLst>
                <a:ext uri="{FF2B5EF4-FFF2-40B4-BE49-F238E27FC236}">
                  <a16:creationId xmlns:a16="http://schemas.microsoft.com/office/drawing/2014/main" id="{C63FF4CC-8E98-80AC-A3E4-D054008CBFF1}"/>
                </a:ext>
              </a:extLst>
            </p:cNvPr>
            <p:cNvSpPr txBox="1">
              <a:spLocks noChangeAspect="1"/>
            </p:cNvSpPr>
            <p:nvPr/>
          </p:nvSpPr>
          <p:spPr>
            <a:xfrm>
              <a:off x="5386568" y="5100484"/>
              <a:ext cx="1418860" cy="392095"/>
            </a:xfrm>
            <a:prstGeom prst="rect">
              <a:avLst/>
            </a:prstGeom>
          </p:spPr>
          <p:txBody>
            <a:bodyPr wrap="square" lIns="0" tIns="0" rIns="0" bIns="0" rtlCol="0" anchor="t">
              <a:spAutoFit/>
            </a:bodyPr>
            <a:lstStyle/>
            <a:p>
              <a:pPr algn="ctr">
                <a:lnSpc>
                  <a:spcPts val="3359"/>
                </a:lnSpc>
              </a:pPr>
              <a:r>
                <a:rPr lang="en-US" sz="2400" b="1">
                  <a:solidFill>
                    <a:srgbClr val="000000"/>
                  </a:solidFill>
                  <a:latin typeface="Public Sans Semi-Bold"/>
                  <a:ea typeface="Public Sans Semi-Bold"/>
                  <a:cs typeface="Public Sans Semi-Bold"/>
                  <a:sym typeface="Public Sans Semi-Bold"/>
                </a:rPr>
                <a:t>1500 mL</a:t>
              </a:r>
            </a:p>
          </p:txBody>
        </p:sp>
      </p:grpSp>
      <p:sp>
        <p:nvSpPr>
          <p:cNvPr id="19" name="Text Placeholder 5">
            <a:extLst>
              <a:ext uri="{FF2B5EF4-FFF2-40B4-BE49-F238E27FC236}">
                <a16:creationId xmlns:a16="http://schemas.microsoft.com/office/drawing/2014/main" id="{FF4DF55D-8F92-591D-5A78-573318A84221}"/>
              </a:ext>
            </a:extLst>
          </p:cNvPr>
          <p:cNvSpPr txBox="1">
            <a:spLocks/>
          </p:cNvSpPr>
          <p:nvPr/>
        </p:nvSpPr>
        <p:spPr>
          <a:xfrm>
            <a:off x="794326" y="5712774"/>
            <a:ext cx="276976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a:t>1 litre 500 mL</a:t>
            </a:r>
          </a:p>
        </p:txBody>
      </p:sp>
      <p:sp>
        <p:nvSpPr>
          <p:cNvPr id="7" name="Text Placeholder 5">
            <a:extLst>
              <a:ext uri="{FF2B5EF4-FFF2-40B4-BE49-F238E27FC236}">
                <a16:creationId xmlns:a16="http://schemas.microsoft.com/office/drawing/2014/main" id="{45B25412-6CCE-0B6F-06C2-F9C8F8D90141}"/>
              </a:ext>
            </a:extLst>
          </p:cNvPr>
          <p:cNvSpPr txBox="1">
            <a:spLocks/>
          </p:cNvSpPr>
          <p:nvPr/>
        </p:nvSpPr>
        <p:spPr>
          <a:xfrm>
            <a:off x="4748403" y="5712774"/>
            <a:ext cx="276976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a:t>1 litre 250 mL</a:t>
            </a:r>
          </a:p>
        </p:txBody>
      </p:sp>
      <p:sp>
        <p:nvSpPr>
          <p:cNvPr id="20" name="Text Placeholder 5">
            <a:extLst>
              <a:ext uri="{FF2B5EF4-FFF2-40B4-BE49-F238E27FC236}">
                <a16:creationId xmlns:a16="http://schemas.microsoft.com/office/drawing/2014/main" id="{990597F7-DB46-40D9-ED64-C4ACB35F52C7}"/>
              </a:ext>
            </a:extLst>
          </p:cNvPr>
          <p:cNvSpPr txBox="1">
            <a:spLocks/>
          </p:cNvSpPr>
          <p:nvPr/>
        </p:nvSpPr>
        <p:spPr>
          <a:xfrm>
            <a:off x="8947758" y="5712774"/>
            <a:ext cx="276976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a:t>2000 mL</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multiples to create arrays</a:t>
            </a:r>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a:extLst>
              <a:ext uri="{FF2B5EF4-FFF2-40B4-BE49-F238E27FC236}">
                <a16:creationId xmlns:a16="http://schemas.microsoft.com/office/drawing/2014/main" id="{F854A279-3EFB-B42C-A0F0-3B77376C5A3B}"/>
              </a:ext>
            </a:extLst>
          </p:cNvPr>
          <p:cNvGraphicFramePr>
            <a:graphicFrameLocks noGrp="1"/>
          </p:cNvGraphicFramePr>
          <p:nvPr>
            <p:extLst>
              <p:ext uri="{D42A27DB-BD31-4B8C-83A1-F6EECF244321}">
                <p14:modId xmlns:p14="http://schemas.microsoft.com/office/powerpoint/2010/main" val="1985535781"/>
              </p:ext>
            </p:extLst>
          </p:nvPr>
        </p:nvGraphicFramePr>
        <p:xfrm>
          <a:off x="2712624" y="1277850"/>
          <a:ext cx="5662020" cy="5220150"/>
        </p:xfrm>
        <a:graphic>
          <a:graphicData uri="http://schemas.openxmlformats.org/drawingml/2006/table">
            <a:tbl>
              <a:tblPr firstRow="1" bandRow="1">
                <a:effectLst/>
                <a:tableStyleId>{5940675A-B579-460E-94D1-54222C63F5DA}</a:tableStyleId>
              </a:tblPr>
              <a:tblGrid>
                <a:gridCol w="566202">
                  <a:extLst>
                    <a:ext uri="{9D8B030D-6E8A-4147-A177-3AD203B41FA5}">
                      <a16:colId xmlns:a16="http://schemas.microsoft.com/office/drawing/2014/main" val="3725225674"/>
                    </a:ext>
                  </a:extLst>
                </a:gridCol>
                <a:gridCol w="566202">
                  <a:extLst>
                    <a:ext uri="{9D8B030D-6E8A-4147-A177-3AD203B41FA5}">
                      <a16:colId xmlns:a16="http://schemas.microsoft.com/office/drawing/2014/main" val="67066368"/>
                    </a:ext>
                  </a:extLst>
                </a:gridCol>
                <a:gridCol w="566202">
                  <a:extLst>
                    <a:ext uri="{9D8B030D-6E8A-4147-A177-3AD203B41FA5}">
                      <a16:colId xmlns:a16="http://schemas.microsoft.com/office/drawing/2014/main" val="2364984251"/>
                    </a:ext>
                  </a:extLst>
                </a:gridCol>
                <a:gridCol w="566202">
                  <a:extLst>
                    <a:ext uri="{9D8B030D-6E8A-4147-A177-3AD203B41FA5}">
                      <a16:colId xmlns:a16="http://schemas.microsoft.com/office/drawing/2014/main" val="3657183679"/>
                    </a:ext>
                  </a:extLst>
                </a:gridCol>
                <a:gridCol w="566202">
                  <a:extLst>
                    <a:ext uri="{9D8B030D-6E8A-4147-A177-3AD203B41FA5}">
                      <a16:colId xmlns:a16="http://schemas.microsoft.com/office/drawing/2014/main" val="3161668575"/>
                    </a:ext>
                  </a:extLst>
                </a:gridCol>
                <a:gridCol w="566202">
                  <a:extLst>
                    <a:ext uri="{9D8B030D-6E8A-4147-A177-3AD203B41FA5}">
                      <a16:colId xmlns:a16="http://schemas.microsoft.com/office/drawing/2014/main" val="2702501734"/>
                    </a:ext>
                  </a:extLst>
                </a:gridCol>
                <a:gridCol w="566202">
                  <a:extLst>
                    <a:ext uri="{9D8B030D-6E8A-4147-A177-3AD203B41FA5}">
                      <a16:colId xmlns:a16="http://schemas.microsoft.com/office/drawing/2014/main" val="965410814"/>
                    </a:ext>
                  </a:extLst>
                </a:gridCol>
                <a:gridCol w="566202">
                  <a:extLst>
                    <a:ext uri="{9D8B030D-6E8A-4147-A177-3AD203B41FA5}">
                      <a16:colId xmlns:a16="http://schemas.microsoft.com/office/drawing/2014/main" val="2507903296"/>
                    </a:ext>
                  </a:extLst>
                </a:gridCol>
                <a:gridCol w="566202">
                  <a:extLst>
                    <a:ext uri="{9D8B030D-6E8A-4147-A177-3AD203B41FA5}">
                      <a16:colId xmlns:a16="http://schemas.microsoft.com/office/drawing/2014/main" val="3808156295"/>
                    </a:ext>
                  </a:extLst>
                </a:gridCol>
                <a:gridCol w="566202">
                  <a:extLst>
                    <a:ext uri="{9D8B030D-6E8A-4147-A177-3AD203B41FA5}">
                      <a16:colId xmlns:a16="http://schemas.microsoft.com/office/drawing/2014/main" val="2260087756"/>
                    </a:ext>
                  </a:extLst>
                </a:gridCol>
              </a:tblGrid>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7506730"/>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9554949"/>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747021"/>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0356954"/>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5165413"/>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624491"/>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5053508"/>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4067857"/>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898124"/>
                  </a:ext>
                </a:extLst>
              </a:tr>
              <a:tr h="52201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9559214"/>
                  </a:ext>
                </a:extLst>
              </a:tr>
            </a:tbl>
          </a:graphicData>
        </a:graphic>
      </p:graphicFrame>
      <p:pic>
        <p:nvPicPr>
          <p:cNvPr id="9" name="Picture 8">
            <a:extLst>
              <a:ext uri="{FF2B5EF4-FFF2-40B4-BE49-F238E27FC236}">
                <a16:creationId xmlns:a16="http://schemas.microsoft.com/office/drawing/2014/main" id="{9C2E6F71-ABE8-F974-A5DF-55FF6CA46C9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9806" t="11297" r="45679" b="23883"/>
          <a:stretch>
            <a:fillRect/>
          </a:stretch>
        </p:blipFill>
        <p:spPr>
          <a:xfrm>
            <a:off x="9117330" y="2908300"/>
            <a:ext cx="2726670" cy="2807150"/>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graphicFrame>
        <p:nvGraphicFramePr>
          <p:cNvPr id="5" name="Table 4">
            <a:extLst>
              <a:ext uri="{FF2B5EF4-FFF2-40B4-BE49-F238E27FC236}">
                <a16:creationId xmlns:a16="http://schemas.microsoft.com/office/drawing/2014/main" id="{823D5700-DF4E-7225-0ED6-A801CB41733B}"/>
              </a:ext>
            </a:extLst>
          </p:cNvPr>
          <p:cNvGraphicFramePr>
            <a:graphicFrameLocks noGrp="1"/>
          </p:cNvGraphicFramePr>
          <p:nvPr>
            <p:extLst>
              <p:ext uri="{D42A27DB-BD31-4B8C-83A1-F6EECF244321}">
                <p14:modId xmlns:p14="http://schemas.microsoft.com/office/powerpoint/2010/main" val="1898464678"/>
              </p:ext>
            </p:extLst>
          </p:nvPr>
        </p:nvGraphicFramePr>
        <p:xfrm>
          <a:off x="664142" y="1129734"/>
          <a:ext cx="10626060" cy="1066800"/>
        </p:xfrm>
        <a:graphic>
          <a:graphicData uri="http://schemas.openxmlformats.org/drawingml/2006/table">
            <a:tbl>
              <a:tblPr firstRow="1" bandRow="1">
                <a:tableStyleId>{72833802-FEF1-4C79-8D5D-14CF1EAF98D9}</a:tableStyleId>
              </a:tblPr>
              <a:tblGrid>
                <a:gridCol w="2656515">
                  <a:extLst>
                    <a:ext uri="{9D8B030D-6E8A-4147-A177-3AD203B41FA5}">
                      <a16:colId xmlns:a16="http://schemas.microsoft.com/office/drawing/2014/main" val="368077917"/>
                    </a:ext>
                  </a:extLst>
                </a:gridCol>
                <a:gridCol w="2656515">
                  <a:extLst>
                    <a:ext uri="{9D8B030D-6E8A-4147-A177-3AD203B41FA5}">
                      <a16:colId xmlns:a16="http://schemas.microsoft.com/office/drawing/2014/main" val="2779163428"/>
                    </a:ext>
                  </a:extLst>
                </a:gridCol>
                <a:gridCol w="2656515">
                  <a:extLst>
                    <a:ext uri="{9D8B030D-6E8A-4147-A177-3AD203B41FA5}">
                      <a16:colId xmlns:a16="http://schemas.microsoft.com/office/drawing/2014/main" val="2185667212"/>
                    </a:ext>
                  </a:extLst>
                </a:gridCol>
                <a:gridCol w="2656515">
                  <a:extLst>
                    <a:ext uri="{9D8B030D-6E8A-4147-A177-3AD203B41FA5}">
                      <a16:colId xmlns:a16="http://schemas.microsoft.com/office/drawing/2014/main" val="257342359"/>
                    </a:ext>
                  </a:extLst>
                </a:gridCol>
              </a:tblGrid>
              <a:tr h="893226">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solidFill>
                            <a:schemeClr val="accent1"/>
                          </a:solidFill>
                        </a:rPr>
                        <a:t>Starting number</a:t>
                      </a:r>
                    </a:p>
                  </a:txBody>
                  <a:tcPr anchor="ctr">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accent4"/>
                    </a:solidFill>
                  </a:tcPr>
                </a:tc>
                <a:tc>
                  <a:txBody>
                    <a:bodyPr/>
                    <a:lstStyle/>
                    <a:p>
                      <a:pPr algn="ctr"/>
                      <a:r>
                        <a:rPr lang="en-AU" sz="3200">
                          <a:solidFill>
                            <a:schemeClr val="accent1"/>
                          </a:solidFill>
                        </a:rPr>
                        <a:t>55</a:t>
                      </a:r>
                    </a:p>
                  </a:txBody>
                  <a:tcPr anchor="ctr">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solidFill>
                            <a:schemeClr val="accent1"/>
                          </a:solidFill>
                        </a:rPr>
                        <a:t>Target Number</a:t>
                      </a:r>
                    </a:p>
                  </a:txBody>
                  <a:tcPr anchor="ctr">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accent4"/>
                    </a:solidFill>
                  </a:tcPr>
                </a:tc>
                <a:tc>
                  <a:txBody>
                    <a:bodyPr/>
                    <a:lstStyle/>
                    <a:p>
                      <a:pPr algn="ctr"/>
                      <a:r>
                        <a:rPr lang="en-AU" sz="3200">
                          <a:solidFill>
                            <a:schemeClr val="accent1"/>
                          </a:solidFill>
                        </a:rPr>
                        <a:t>63</a:t>
                      </a:r>
                    </a:p>
                  </a:txBody>
                  <a:tcPr anchor="ctr">
                    <a:lnL w="38100" cap="flat" cmpd="sng" algn="ctr">
                      <a:solidFill>
                        <a:schemeClr val="accent1"/>
                      </a:solidFill>
                      <a:prstDash val="solid"/>
                      <a:round/>
                      <a:headEnd type="none" w="med" len="med"/>
                      <a:tailEnd type="none" w="med" len="med"/>
                    </a:lnL>
                    <a:lnR w="38100" cap="flat" cmpd="sng" algn="ctr">
                      <a:solidFill>
                        <a:schemeClr val="accent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767396947"/>
                  </a:ext>
                </a:extLst>
              </a:tr>
            </a:tbl>
          </a:graphicData>
        </a:graphic>
      </p:graphicFrame>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77003" y="2309778"/>
            <a:ext cx="12114998" cy="893226"/>
          </a:xfrm>
        </p:spPr>
        <p:txBody>
          <a:bodyPr/>
          <a:lstStyle/>
          <a:p>
            <a:pPr algn="ctr"/>
            <a:r>
              <a:rPr lang="en-AU" sz="3600"/>
              <a:t>I roll a 9-sided dice. I must either </a:t>
            </a:r>
            <a:r>
              <a:rPr lang="en-AU" sz="3600" b="1"/>
              <a:t>double</a:t>
            </a:r>
            <a:r>
              <a:rPr lang="en-AU" sz="3600"/>
              <a:t> </a:t>
            </a:r>
            <a:r>
              <a:rPr lang="en-AU" sz="3600" b="1"/>
              <a:t>or</a:t>
            </a:r>
            <a:r>
              <a:rPr lang="en-AU" sz="3600"/>
              <a:t> </a:t>
            </a:r>
            <a:r>
              <a:rPr lang="en-AU" sz="3600" b="1"/>
              <a:t>halve</a:t>
            </a:r>
            <a:r>
              <a:rPr lang="en-AU" sz="3600"/>
              <a:t> my roll before </a:t>
            </a:r>
            <a:r>
              <a:rPr lang="en-AU" sz="3600" b="1"/>
              <a:t>adding</a:t>
            </a:r>
            <a:r>
              <a:rPr lang="en-AU" sz="3600"/>
              <a:t> it to the starting number. </a:t>
            </a:r>
          </a:p>
          <a:p>
            <a:pPr algn="ctr"/>
            <a:r>
              <a:rPr lang="en-AU" sz="3600"/>
              <a:t>The only way to reach the target number is by rolling a 9.</a:t>
            </a:r>
            <a:endParaRPr lang="en-AU" sz="3600">
              <a:solidFill>
                <a:schemeClr val="accent1"/>
              </a:solidFill>
            </a:endParaRP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790105626"/>
              </p:ext>
            </p:extLst>
          </p:nvPr>
        </p:nvGraphicFramePr>
        <p:xfrm>
          <a:off x="2557460" y="515643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8" name="TextBox 7">
            <a:extLst>
              <a:ext uri="{FF2B5EF4-FFF2-40B4-BE49-F238E27FC236}">
                <a16:creationId xmlns:a16="http://schemas.microsoft.com/office/drawing/2014/main" id="{487B5AE5-D260-486E-4413-BB7938494CC6}"/>
              </a:ext>
            </a:extLst>
          </p:cNvPr>
          <p:cNvSpPr txBox="1"/>
          <p:nvPr/>
        </p:nvSpPr>
        <p:spPr>
          <a:xfrm>
            <a:off x="1947079" y="5898114"/>
            <a:ext cx="8297838" cy="707886"/>
          </a:xfrm>
          <a:prstGeom prst="rect">
            <a:avLst/>
          </a:prstGeom>
          <a:noFill/>
        </p:spPr>
        <p:txBody>
          <a:bodyPr wrap="square">
            <a:spAutoFit/>
          </a:body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a:t>
            </a:r>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E16768F0-F714-CBBA-6E43-58C828EAF9CC}"/>
              </a:ext>
            </a:extLst>
          </p:cNvPr>
          <p:cNvSpPr txBox="1">
            <a:spLocks/>
          </p:cNvSpPr>
          <p:nvPr/>
        </p:nvSpPr>
        <p:spPr>
          <a:xfrm>
            <a:off x="360000" y="1005904"/>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b="1"/>
              <a:t>Find</a:t>
            </a:r>
            <a:r>
              <a:rPr lang="en-AU" sz="3200"/>
              <a:t> the </a:t>
            </a:r>
            <a:r>
              <a:rPr lang="en-AU" sz="3200" b="1"/>
              <a:t>total</a:t>
            </a:r>
            <a:r>
              <a:rPr lang="en-AU" sz="3200"/>
              <a:t> of the </a:t>
            </a:r>
            <a:r>
              <a:rPr lang="en-AU" sz="3200" b="1"/>
              <a:t>partially </a:t>
            </a:r>
            <a:r>
              <a:rPr lang="en-AU" sz="3200"/>
              <a:t>covered</a:t>
            </a:r>
            <a:r>
              <a:rPr lang="en-AU" sz="3200" b="1"/>
              <a:t> area model.</a:t>
            </a:r>
            <a:endParaRPr lang="en-AU" sz="3200">
              <a:solidFill>
                <a:schemeClr val="accent1"/>
              </a:solidFill>
            </a:endParaRPr>
          </a:p>
        </p:txBody>
      </p:sp>
      <p:graphicFrame>
        <p:nvGraphicFramePr>
          <p:cNvPr id="7" name="Table 6">
            <a:extLst>
              <a:ext uri="{FF2B5EF4-FFF2-40B4-BE49-F238E27FC236}">
                <a16:creationId xmlns:a16="http://schemas.microsoft.com/office/drawing/2014/main" id="{0CFE496F-CA6D-2FD4-75DD-88CA775B06D6}"/>
              </a:ext>
              <a:ext uri="{C183D7F6-B498-43B3-948B-1728B52AA6E4}">
                <adec:decorative xmlns:adec="http://schemas.microsoft.com/office/drawing/2017/decorative" val="1"/>
              </a:ext>
            </a:extLst>
          </p:cNvPr>
          <p:cNvGraphicFramePr>
            <a:graphicFrameLocks noGrp="1" noDrilldown="1" noMove="1" noResize="1"/>
          </p:cNvGraphicFramePr>
          <p:nvPr>
            <p:extLst>
              <p:ext uri="{D42A27DB-BD31-4B8C-83A1-F6EECF244321}">
                <p14:modId xmlns:p14="http://schemas.microsoft.com/office/powerpoint/2010/main" val="2118064308"/>
              </p:ext>
            </p:extLst>
          </p:nvPr>
        </p:nvGraphicFramePr>
        <p:xfrm>
          <a:off x="3060115" y="1978567"/>
          <a:ext cx="6071766" cy="893227"/>
        </p:xfrm>
        <a:graphic>
          <a:graphicData uri="http://schemas.openxmlformats.org/drawingml/2006/table">
            <a:tbl>
              <a:tblPr firstRow="1" bandRow="1">
                <a:tableStyleId>{5A111915-BE36-4E01-A7E5-04B1672EAD32}</a:tableStyleId>
              </a:tblPr>
              <a:tblGrid>
                <a:gridCol w="1011961">
                  <a:extLst>
                    <a:ext uri="{9D8B030D-6E8A-4147-A177-3AD203B41FA5}">
                      <a16:colId xmlns:a16="http://schemas.microsoft.com/office/drawing/2014/main" val="1295565090"/>
                    </a:ext>
                  </a:extLst>
                </a:gridCol>
                <a:gridCol w="1011961">
                  <a:extLst>
                    <a:ext uri="{9D8B030D-6E8A-4147-A177-3AD203B41FA5}">
                      <a16:colId xmlns:a16="http://schemas.microsoft.com/office/drawing/2014/main" val="1336650574"/>
                    </a:ext>
                  </a:extLst>
                </a:gridCol>
                <a:gridCol w="1011961">
                  <a:extLst>
                    <a:ext uri="{9D8B030D-6E8A-4147-A177-3AD203B41FA5}">
                      <a16:colId xmlns:a16="http://schemas.microsoft.com/office/drawing/2014/main" val="3114755018"/>
                    </a:ext>
                  </a:extLst>
                </a:gridCol>
                <a:gridCol w="1011961">
                  <a:extLst>
                    <a:ext uri="{9D8B030D-6E8A-4147-A177-3AD203B41FA5}">
                      <a16:colId xmlns:a16="http://schemas.microsoft.com/office/drawing/2014/main" val="3169390529"/>
                    </a:ext>
                  </a:extLst>
                </a:gridCol>
                <a:gridCol w="1011961">
                  <a:extLst>
                    <a:ext uri="{9D8B030D-6E8A-4147-A177-3AD203B41FA5}">
                      <a16:colId xmlns:a16="http://schemas.microsoft.com/office/drawing/2014/main" val="3754161139"/>
                    </a:ext>
                  </a:extLst>
                </a:gridCol>
                <a:gridCol w="1011961">
                  <a:extLst>
                    <a:ext uri="{9D8B030D-6E8A-4147-A177-3AD203B41FA5}">
                      <a16:colId xmlns:a16="http://schemas.microsoft.com/office/drawing/2014/main" val="2524428435"/>
                    </a:ext>
                  </a:extLst>
                </a:gridCol>
              </a:tblGrid>
              <a:tr h="893227">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8466954"/>
                  </a:ext>
                </a:extLst>
              </a:tr>
            </a:tbl>
          </a:graphicData>
        </a:graphic>
      </p:graphicFrame>
      <p:graphicFrame>
        <p:nvGraphicFramePr>
          <p:cNvPr id="12" name="Table 11">
            <a:extLst>
              <a:ext uri="{FF2B5EF4-FFF2-40B4-BE49-F238E27FC236}">
                <a16:creationId xmlns:a16="http://schemas.microsoft.com/office/drawing/2014/main" id="{EF3534A1-E06F-A4CF-AFF5-CAEA42167B13}"/>
              </a:ext>
            </a:extLst>
          </p:cNvPr>
          <p:cNvGraphicFramePr>
            <a:graphicFrameLocks noGrp="1" noDrilldown="1" noMove="1" noResize="1"/>
          </p:cNvGraphicFramePr>
          <p:nvPr>
            <p:extLst>
              <p:ext uri="{D42A27DB-BD31-4B8C-83A1-F6EECF244321}">
                <p14:modId xmlns:p14="http://schemas.microsoft.com/office/powerpoint/2010/main" val="1296963290"/>
              </p:ext>
            </p:extLst>
          </p:nvPr>
        </p:nvGraphicFramePr>
        <p:xfrm>
          <a:off x="3060115" y="2892660"/>
          <a:ext cx="1008546" cy="3605340"/>
        </p:xfrm>
        <a:graphic>
          <a:graphicData uri="http://schemas.openxmlformats.org/drawingml/2006/table">
            <a:tbl>
              <a:tblPr firstRow="1" bandRow="1">
                <a:tableStyleId>{5A111915-BE36-4E01-A7E5-04B1672EAD32}</a:tableStyleId>
              </a:tblPr>
              <a:tblGrid>
                <a:gridCol w="1008546">
                  <a:extLst>
                    <a:ext uri="{9D8B030D-6E8A-4147-A177-3AD203B41FA5}">
                      <a16:colId xmlns:a16="http://schemas.microsoft.com/office/drawing/2014/main" val="3899004943"/>
                    </a:ext>
                  </a:extLst>
                </a:gridCol>
              </a:tblGrid>
              <a:tr h="90133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3194373"/>
                  </a:ext>
                </a:extLst>
              </a:tr>
              <a:tr h="90133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4094553"/>
                  </a:ext>
                </a:extLst>
              </a:tr>
              <a:tr h="90133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6879916"/>
                  </a:ext>
                </a:extLst>
              </a:tr>
              <a:tr h="901335">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5217469"/>
                  </a:ext>
                </a:extLst>
              </a:tr>
            </a:tbl>
          </a:graphicData>
        </a:graphic>
      </p:graphicFrame>
      <p:sp>
        <p:nvSpPr>
          <p:cNvPr id="13" name="Rectangle 12" descr="A blue rectangle partially covering an area model. The parts that can be seen show 5 rows of 6.">
            <a:extLst>
              <a:ext uri="{FF2B5EF4-FFF2-40B4-BE49-F238E27FC236}">
                <a16:creationId xmlns:a16="http://schemas.microsoft.com/office/drawing/2014/main" id="{55272F2E-A16A-EDE9-E2E4-A31AD5408990}"/>
              </a:ext>
            </a:extLst>
          </p:cNvPr>
          <p:cNvSpPr>
            <a:spLocks noGrp="1" noRot="1" noMove="1" noResize="1" noEditPoints="1" noAdjustHandles="1" noChangeArrowheads="1" noChangeShapeType="1"/>
          </p:cNvSpPr>
          <p:nvPr/>
        </p:nvSpPr>
        <p:spPr>
          <a:xfrm>
            <a:off x="3464653" y="2248250"/>
            <a:ext cx="6071766" cy="4249750"/>
          </a:xfrm>
          <a:prstGeom prst="rect">
            <a:avLst/>
          </a:prstGeom>
          <a:solidFill>
            <a:schemeClr val="accent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C45FFBA0-2F57-F364-783F-E914F70E60CB}"/>
              </a:ext>
            </a:extLst>
          </p:cNvPr>
          <p:cNvSpPr txBox="1">
            <a:spLocks/>
          </p:cNvSpPr>
          <p:nvPr/>
        </p:nvSpPr>
        <p:spPr>
          <a:xfrm>
            <a:off x="603506" y="117718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a:t>On the </a:t>
            </a:r>
            <a:r>
              <a:rPr lang="en-AU" sz="3600" b="1"/>
              <a:t>number line </a:t>
            </a:r>
            <a:r>
              <a:rPr lang="en-AU" sz="3600"/>
              <a:t>and </a:t>
            </a:r>
            <a:r>
              <a:rPr lang="en-AU" sz="3600" b="1"/>
              <a:t>tenths strip, </a:t>
            </a:r>
            <a:r>
              <a:rPr lang="en-AU" sz="3600"/>
              <a:t>which of the following would be </a:t>
            </a:r>
            <a:r>
              <a:rPr lang="en-AU" sz="3600" b="1"/>
              <a:t>closer to 1. </a:t>
            </a:r>
            <a:endParaRPr lang="en-AU" sz="3200"/>
          </a:p>
        </p:txBody>
      </p:sp>
      <p:sp>
        <p:nvSpPr>
          <p:cNvPr id="12" name="Rectangle: Rounded Corners 11">
            <a:extLst>
              <a:ext uri="{FF2B5EF4-FFF2-40B4-BE49-F238E27FC236}">
                <a16:creationId xmlns:a16="http://schemas.microsoft.com/office/drawing/2014/main" id="{9E7ACE77-42DB-B492-869C-930EFF27C537}"/>
              </a:ext>
            </a:extLst>
          </p:cNvPr>
          <p:cNvSpPr/>
          <p:nvPr/>
        </p:nvSpPr>
        <p:spPr>
          <a:xfrm>
            <a:off x="1357165" y="3218141"/>
            <a:ext cx="2094411" cy="1345474"/>
          </a:xfrm>
          <a:prstGeom prst="roundRect">
            <a:avLst/>
          </a:prstGeom>
          <a:solidFill>
            <a:schemeClr val="accent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a:solidFill>
                  <a:schemeClr val="accent1"/>
                </a:solidFill>
                <a:latin typeface="Edu NSW ACT Foundation" pitchFamily="2" charset="0"/>
              </a:rPr>
              <a:t>14 tenths</a:t>
            </a:r>
          </a:p>
        </p:txBody>
      </p:sp>
      <p:sp>
        <p:nvSpPr>
          <p:cNvPr id="13" name="Rectangle: Rounded Corners 12">
            <a:extLst>
              <a:ext uri="{FF2B5EF4-FFF2-40B4-BE49-F238E27FC236}">
                <a16:creationId xmlns:a16="http://schemas.microsoft.com/office/drawing/2014/main" id="{56A9B46C-9420-192E-E675-1B2B4427C85F}"/>
              </a:ext>
            </a:extLst>
          </p:cNvPr>
          <p:cNvSpPr/>
          <p:nvPr/>
        </p:nvSpPr>
        <p:spPr>
          <a:xfrm>
            <a:off x="4995009" y="3218141"/>
            <a:ext cx="2094413" cy="1345474"/>
          </a:xfrm>
          <a:prstGeom prst="roundRect">
            <a:avLst/>
          </a:prstGeom>
          <a:solidFill>
            <a:schemeClr val="accent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a:solidFill>
                  <a:schemeClr val="accent1"/>
                </a:solidFill>
                <a:latin typeface="Edu NSW ACT Foundation" pitchFamily="2" charset="0"/>
              </a:rPr>
              <a:t>6 tenths</a:t>
            </a:r>
            <a:endParaRPr lang="en-AU" sz="1100">
              <a:solidFill>
                <a:schemeClr val="accent1"/>
              </a:solidFill>
              <a:latin typeface="Edu NSW ACT Foundation" pitchFamily="2" charset="0"/>
            </a:endParaRPr>
          </a:p>
        </p:txBody>
      </p:sp>
      <p:sp>
        <p:nvSpPr>
          <p:cNvPr id="14" name="Rectangle: Rounded Corners 13">
            <a:extLst>
              <a:ext uri="{FF2B5EF4-FFF2-40B4-BE49-F238E27FC236}">
                <a16:creationId xmlns:a16="http://schemas.microsoft.com/office/drawing/2014/main" id="{DCA75D55-5E7A-B14D-0E4A-3F1AAFE1218C}"/>
              </a:ext>
            </a:extLst>
          </p:cNvPr>
          <p:cNvSpPr/>
          <p:nvPr/>
        </p:nvSpPr>
        <p:spPr>
          <a:xfrm>
            <a:off x="8632855" y="3189449"/>
            <a:ext cx="2094413" cy="1345474"/>
          </a:xfrm>
          <a:prstGeom prst="roundRect">
            <a:avLst/>
          </a:prstGeom>
          <a:solidFill>
            <a:schemeClr val="accent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000">
                <a:solidFill>
                  <a:schemeClr val="accent1"/>
                </a:solidFill>
                <a:latin typeface="Edu NSW ACT Foundation" pitchFamily="2" charset="0"/>
              </a:rPr>
              <a:t>11 tenths</a:t>
            </a:r>
            <a:endParaRPr lang="en-AU" sz="1100">
              <a:solidFill>
                <a:schemeClr val="accent1"/>
              </a:solidFill>
              <a:latin typeface="Edu NSW ACT Foundation" pitchFamily="2" charset="0"/>
            </a:endParaRP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7" name="Picture 6">
            <a:extLst>
              <a:ext uri="{FF2B5EF4-FFF2-40B4-BE49-F238E27FC236}">
                <a16:creationId xmlns:a16="http://schemas.microsoft.com/office/drawing/2014/main" id="{27AFD60A-84EC-BA09-5674-3CF6B6E2358A}"/>
              </a:ext>
            </a:extLst>
          </p:cNvPr>
          <p:cNvPicPr>
            <a:picLocks noChangeAspect="1"/>
          </p:cNvPicPr>
          <p:nvPr/>
        </p:nvPicPr>
        <p:blipFill>
          <a:blip r:embed="rId4"/>
          <a:stretch>
            <a:fillRect/>
          </a:stretch>
        </p:blipFill>
        <p:spPr>
          <a:xfrm>
            <a:off x="1357165" y="5060201"/>
            <a:ext cx="9912859" cy="1187511"/>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5094FF3-B912-96BC-BC1C-70E9B92ADA90}"/>
              </a:ext>
            </a:extLst>
          </p:cNvPr>
          <p:cNvSpPr txBox="1"/>
          <p:nvPr/>
        </p:nvSpPr>
        <p:spPr>
          <a:xfrm>
            <a:off x="360000" y="828077"/>
            <a:ext cx="11484000" cy="1478418"/>
          </a:xfrm>
          <a:prstGeom prst="rect">
            <a:avLst/>
          </a:prstGeom>
          <a:noFill/>
        </p:spPr>
        <p:txBody>
          <a:bodyPr wrap="square">
            <a:spAutoFit/>
          </a:bodyPr>
          <a:lstStyle/>
          <a:p>
            <a:pPr>
              <a:lnSpc>
                <a:spcPct val="150000"/>
              </a:lnSpc>
              <a:spcAft>
                <a:spcPts val="2400"/>
              </a:spcAft>
            </a:pPr>
            <a:r>
              <a:rPr lang="en-AU" sz="3200"/>
              <a:t>The graphs show mountain bike trail usage. Which season had the busier trails?</a:t>
            </a:r>
          </a:p>
        </p:txBody>
      </p:sp>
      <p:pic>
        <p:nvPicPr>
          <p:cNvPr id="4" name="Picture 3" descr="A column graphs representing mountain bike trail usage for summer.">
            <a:extLst>
              <a:ext uri="{FF2B5EF4-FFF2-40B4-BE49-F238E27FC236}">
                <a16:creationId xmlns:a16="http://schemas.microsoft.com/office/drawing/2014/main" id="{689EF965-8407-2213-2D65-5E1FD87A1BD4}"/>
              </a:ext>
            </a:extLst>
          </p:cNvPr>
          <p:cNvPicPr>
            <a:picLocks noChangeAspect="1"/>
          </p:cNvPicPr>
          <p:nvPr/>
        </p:nvPicPr>
        <p:blipFill>
          <a:blip r:embed="rId4"/>
          <a:srcRect l="7478" r="54897" b="52731"/>
          <a:stretch>
            <a:fillRect/>
          </a:stretch>
        </p:blipFill>
        <p:spPr>
          <a:xfrm>
            <a:off x="1017459" y="2521119"/>
            <a:ext cx="4360267" cy="4067281"/>
          </a:xfrm>
          <a:prstGeom prst="rect">
            <a:avLst/>
          </a:prstGeom>
          <a:ln>
            <a:noFill/>
          </a:ln>
          <a:effectLst>
            <a:outerShdw blurRad="292100" dist="139700" dir="2700000" algn="tl" rotWithShape="0">
              <a:srgbClr val="333333">
                <a:alpha val="65000"/>
              </a:srgbClr>
            </a:outerShdw>
          </a:effectLst>
        </p:spPr>
      </p:pic>
      <p:pic>
        <p:nvPicPr>
          <p:cNvPr id="5" name="Picture 4" descr="A column graphs representing mountain bike trail usage for winter.">
            <a:extLst>
              <a:ext uri="{FF2B5EF4-FFF2-40B4-BE49-F238E27FC236}">
                <a16:creationId xmlns:a16="http://schemas.microsoft.com/office/drawing/2014/main" id="{2132B655-2F00-38B7-BCE3-AC7E996B644A}"/>
              </a:ext>
            </a:extLst>
          </p:cNvPr>
          <p:cNvPicPr>
            <a:picLocks noChangeAspect="1"/>
          </p:cNvPicPr>
          <p:nvPr/>
        </p:nvPicPr>
        <p:blipFill>
          <a:blip r:embed="rId4"/>
          <a:srcRect l="7478" t="50329" r="54897"/>
          <a:stretch>
            <a:fillRect/>
          </a:stretch>
        </p:blipFill>
        <p:spPr>
          <a:xfrm>
            <a:off x="7025071" y="2538718"/>
            <a:ext cx="4149470" cy="4067282"/>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48BAAC21-96FE-35B2-7826-85AE0EF93B85}"/>
              </a:ext>
            </a:extLst>
          </p:cNvPr>
          <p:cNvSpPr txBox="1"/>
          <p:nvPr/>
        </p:nvSpPr>
        <p:spPr>
          <a:xfrm rot="16200000">
            <a:off x="-250442" y="4174112"/>
            <a:ext cx="2097742" cy="251012"/>
          </a:xfrm>
          <a:prstGeom prst="rect">
            <a:avLst/>
          </a:prstGeom>
          <a:noFill/>
        </p:spPr>
        <p:txBody>
          <a:bodyPr wrap="square" lIns="0" tIns="0" rIns="0" bIns="0" rtlCol="0">
            <a:noAutofit/>
          </a:bodyPr>
          <a:lstStyle/>
          <a:p>
            <a:pPr algn="l"/>
            <a:r>
              <a:rPr lang="en-AU" sz="1800"/>
              <a:t>Riders in summer</a:t>
            </a:r>
          </a:p>
        </p:txBody>
      </p:sp>
      <p:sp>
        <p:nvSpPr>
          <p:cNvPr id="10" name="TextBox 9">
            <a:extLst>
              <a:ext uri="{FF2B5EF4-FFF2-40B4-BE49-F238E27FC236}">
                <a16:creationId xmlns:a16="http://schemas.microsoft.com/office/drawing/2014/main" id="{9D2C2980-971F-5B9C-31CA-E695880E37C2}"/>
              </a:ext>
            </a:extLst>
          </p:cNvPr>
          <p:cNvSpPr txBox="1"/>
          <p:nvPr/>
        </p:nvSpPr>
        <p:spPr>
          <a:xfrm rot="16200000">
            <a:off x="5765405" y="3981552"/>
            <a:ext cx="2097742" cy="251012"/>
          </a:xfrm>
          <a:prstGeom prst="rect">
            <a:avLst/>
          </a:prstGeom>
          <a:noFill/>
        </p:spPr>
        <p:txBody>
          <a:bodyPr wrap="square" lIns="0" tIns="0" rIns="0" bIns="0" rtlCol="0">
            <a:noAutofit/>
          </a:bodyPr>
          <a:lstStyle/>
          <a:p>
            <a:pPr algn="l"/>
            <a:r>
              <a:rPr lang="en-AU" sz="1800"/>
              <a:t>Riders in winter</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TextBox 13">
            <a:extLst>
              <a:ext uri="{FF2B5EF4-FFF2-40B4-BE49-F238E27FC236}">
                <a16:creationId xmlns:a16="http://schemas.microsoft.com/office/drawing/2014/main" id="{AF38373F-29B7-2A26-A26A-92EDD18CC6E3}"/>
              </a:ext>
            </a:extLst>
          </p:cNvPr>
          <p:cNvSpPr txBox="1"/>
          <p:nvPr/>
        </p:nvSpPr>
        <p:spPr>
          <a:xfrm>
            <a:off x="474480" y="905601"/>
            <a:ext cx="11060482" cy="1824923"/>
          </a:xfrm>
          <a:prstGeom prst="rect">
            <a:avLst/>
          </a:prstGeom>
          <a:noFill/>
        </p:spPr>
        <p:txBody>
          <a:bodyPr wrap="square">
            <a:spAutoFit/>
          </a:bodyPr>
          <a:lstStyle/>
          <a:p>
            <a:pPr algn="ctr" rtl="0">
              <a:lnSpc>
                <a:spcPct val="150000"/>
              </a:lnSpc>
              <a:buNone/>
            </a:pPr>
            <a:r>
              <a:rPr lang="en-AU" sz="4000" b="0" i="0">
                <a:solidFill>
                  <a:srgbClr val="000000"/>
                </a:solidFill>
                <a:effectLst/>
              </a:rPr>
              <a:t>Which ribbon is the </a:t>
            </a:r>
            <a:r>
              <a:rPr lang="en-AU" sz="4000" b="1" i="0">
                <a:solidFill>
                  <a:srgbClr val="000000"/>
                </a:solidFill>
                <a:effectLst/>
              </a:rPr>
              <a:t>longest</a:t>
            </a:r>
            <a:r>
              <a:rPr lang="en-AU" sz="4000" b="0" i="0">
                <a:solidFill>
                  <a:srgbClr val="000000"/>
                </a:solidFill>
                <a:effectLst/>
              </a:rPr>
              <a:t>? </a:t>
            </a:r>
          </a:p>
          <a:p>
            <a:pPr algn="ctr" rtl="0">
              <a:lnSpc>
                <a:spcPct val="150000"/>
              </a:lnSpc>
              <a:buNone/>
            </a:pPr>
            <a:r>
              <a:rPr lang="en-AU" sz="4000" b="0" i="0">
                <a:solidFill>
                  <a:srgbClr val="000000"/>
                </a:solidFill>
                <a:effectLst/>
              </a:rPr>
              <a:t>Write its </a:t>
            </a:r>
            <a:r>
              <a:rPr lang="en-AU" sz="4000" b="1" i="0">
                <a:solidFill>
                  <a:srgbClr val="000000"/>
                </a:solidFill>
                <a:effectLst/>
              </a:rPr>
              <a:t>length</a:t>
            </a:r>
            <a:r>
              <a:rPr lang="en-AU" sz="4000" b="0" i="0">
                <a:solidFill>
                  <a:srgbClr val="000000"/>
                </a:solidFill>
                <a:effectLst/>
              </a:rPr>
              <a:t> using </a:t>
            </a:r>
            <a:r>
              <a:rPr lang="en-AU" sz="4000" b="1" i="0">
                <a:solidFill>
                  <a:srgbClr val="000000"/>
                </a:solidFill>
                <a:effectLst/>
              </a:rPr>
              <a:t>metres</a:t>
            </a:r>
            <a:r>
              <a:rPr lang="en-AU" sz="4000" b="0" i="0">
                <a:solidFill>
                  <a:srgbClr val="000000"/>
                </a:solidFill>
                <a:effectLst/>
              </a:rPr>
              <a:t> and </a:t>
            </a:r>
            <a:r>
              <a:rPr lang="en-AU" sz="4000" b="1" i="0">
                <a:solidFill>
                  <a:srgbClr val="000000"/>
                </a:solidFill>
                <a:effectLst/>
              </a:rPr>
              <a:t>centimetres</a:t>
            </a:r>
            <a:r>
              <a:rPr lang="en-AU" sz="4000" b="0" i="0">
                <a:solidFill>
                  <a:srgbClr val="000000"/>
                </a:solidFill>
                <a:effectLst/>
              </a:rPr>
              <a:t>.</a:t>
            </a:r>
          </a:p>
        </p:txBody>
      </p:sp>
      <p:sp>
        <p:nvSpPr>
          <p:cNvPr id="5" name="Freeform 2" descr="A blue ribbon labelled Ribbon A: 125 cm.">
            <a:extLst>
              <a:ext uri="{FF2B5EF4-FFF2-40B4-BE49-F238E27FC236}">
                <a16:creationId xmlns:a16="http://schemas.microsoft.com/office/drawing/2014/main" id="{74F85BE2-3C67-3A0E-E70E-FE8DCDCBDC27}"/>
              </a:ext>
            </a:extLst>
          </p:cNvPr>
          <p:cNvSpPr/>
          <p:nvPr/>
        </p:nvSpPr>
        <p:spPr>
          <a:xfrm>
            <a:off x="474481" y="3144255"/>
            <a:ext cx="5783924" cy="893225"/>
          </a:xfrm>
          <a:custGeom>
            <a:avLst/>
            <a:gdLst/>
            <a:ahLst/>
            <a:cxnLst/>
            <a:rect l="l" t="t" r="r" b="b"/>
            <a:pathLst>
              <a:path w="5783924" h="841298">
                <a:moveTo>
                  <a:pt x="0" y="0"/>
                </a:moveTo>
                <a:lnTo>
                  <a:pt x="5783924" y="0"/>
                </a:lnTo>
                <a:lnTo>
                  <a:pt x="5783924" y="841298"/>
                </a:lnTo>
                <a:lnTo>
                  <a:pt x="0" y="841298"/>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0" name="TextBox 9">
            <a:extLst>
              <a:ext uri="{FF2B5EF4-FFF2-40B4-BE49-F238E27FC236}">
                <a16:creationId xmlns:a16="http://schemas.microsoft.com/office/drawing/2014/main" id="{6AADE4CA-16CE-3283-26CC-C767CCA31294}"/>
              </a:ext>
              <a:ext uri="{C183D7F6-B498-43B3-948B-1728B52AA6E4}">
                <adec:decorative xmlns:adec="http://schemas.microsoft.com/office/drawing/2017/decorative" val="1"/>
              </a:ext>
            </a:extLst>
          </p:cNvPr>
          <p:cNvSpPr txBox="1"/>
          <p:nvPr/>
        </p:nvSpPr>
        <p:spPr>
          <a:xfrm>
            <a:off x="1018808" y="3263514"/>
            <a:ext cx="4158641" cy="584775"/>
          </a:xfrm>
          <a:prstGeom prst="rect">
            <a:avLst/>
          </a:prstGeom>
          <a:noFill/>
        </p:spPr>
        <p:txBody>
          <a:bodyPr wrap="square">
            <a:spAutoFit/>
          </a:bodyPr>
          <a:lstStyle/>
          <a:p>
            <a:pPr algn="l" rtl="0"/>
            <a:r>
              <a:rPr lang="it-IT" sz="3200" b="0" i="0">
                <a:solidFill>
                  <a:srgbClr val="000000"/>
                </a:solidFill>
                <a:effectLst/>
                <a:latin typeface="+mj-lt"/>
              </a:rPr>
              <a:t>Ribbon A: 125 cm</a:t>
            </a:r>
          </a:p>
        </p:txBody>
      </p:sp>
      <p:sp>
        <p:nvSpPr>
          <p:cNvPr id="7" name="Freeform 3" descr="An orange ribbon labelled Ribbon B: 1 m 30 cm.">
            <a:extLst>
              <a:ext uri="{FF2B5EF4-FFF2-40B4-BE49-F238E27FC236}">
                <a16:creationId xmlns:a16="http://schemas.microsoft.com/office/drawing/2014/main" id="{842BE354-FADE-2B9F-9A73-DB660E6801AA}"/>
              </a:ext>
            </a:extLst>
          </p:cNvPr>
          <p:cNvSpPr/>
          <p:nvPr/>
        </p:nvSpPr>
        <p:spPr>
          <a:xfrm>
            <a:off x="474480" y="4221124"/>
            <a:ext cx="7101140" cy="893226"/>
          </a:xfrm>
          <a:custGeom>
            <a:avLst/>
            <a:gdLst/>
            <a:ahLst/>
            <a:cxnLst/>
            <a:rect l="l" t="t" r="r" b="b"/>
            <a:pathLst>
              <a:path w="7101140" h="847905">
                <a:moveTo>
                  <a:pt x="0" y="0"/>
                </a:moveTo>
                <a:lnTo>
                  <a:pt x="7101140" y="0"/>
                </a:lnTo>
                <a:lnTo>
                  <a:pt x="7101140" y="847905"/>
                </a:lnTo>
                <a:lnTo>
                  <a:pt x="0" y="847905"/>
                </a:lnTo>
                <a:lnTo>
                  <a:pt x="0" y="0"/>
                </a:lnTo>
                <a:close/>
              </a:path>
            </a:pathLst>
          </a:custGeom>
          <a:blipFill>
            <a:blip r:embed="rId6">
              <a:extLst>
                <a:ext uri="{96DAC541-7B7A-43D3-8B79-37D633B846F1}">
                  <asvg:svgBlip xmlns:asvg="http://schemas.microsoft.com/office/drawing/2016/SVG/main" r:embed="rId7"/>
                </a:ext>
              </a:extLst>
            </a:blip>
            <a:stretch>
              <a:fillRect b="-21817"/>
            </a:stretch>
          </a:blipFill>
          <a:effectLst>
            <a:outerShdw blurRad="63500" sx="102000" sy="102000" algn="ctr" rotWithShape="0">
              <a:prstClr val="black">
                <a:alpha val="40000"/>
              </a:prstClr>
            </a:outerShdw>
          </a:effectLst>
        </p:spPr>
        <p:txBody>
          <a:bodyPr/>
          <a:lstStyle/>
          <a:p>
            <a:endParaRPr lang="en-AU"/>
          </a:p>
        </p:txBody>
      </p:sp>
      <p:sp>
        <p:nvSpPr>
          <p:cNvPr id="11" name="TextBox 10">
            <a:extLst>
              <a:ext uri="{FF2B5EF4-FFF2-40B4-BE49-F238E27FC236}">
                <a16:creationId xmlns:a16="http://schemas.microsoft.com/office/drawing/2014/main" id="{10A60BF9-C4B2-7F87-1711-AFBD629DEB69}"/>
              </a:ext>
              <a:ext uri="{C183D7F6-B498-43B3-948B-1728B52AA6E4}">
                <adec:decorative xmlns:adec="http://schemas.microsoft.com/office/drawing/2017/decorative" val="1"/>
              </a:ext>
            </a:extLst>
          </p:cNvPr>
          <p:cNvSpPr txBox="1"/>
          <p:nvPr/>
        </p:nvSpPr>
        <p:spPr>
          <a:xfrm>
            <a:off x="1019216" y="4378482"/>
            <a:ext cx="4726375" cy="584775"/>
          </a:xfrm>
          <a:prstGeom prst="rect">
            <a:avLst/>
          </a:prstGeom>
          <a:noFill/>
        </p:spPr>
        <p:txBody>
          <a:bodyPr wrap="square">
            <a:spAutoFit/>
          </a:bodyPr>
          <a:lstStyle/>
          <a:p>
            <a:pPr algn="l" rtl="0"/>
            <a:r>
              <a:rPr lang="it-IT" sz="3200" b="0" i="0">
                <a:solidFill>
                  <a:srgbClr val="000000"/>
                </a:solidFill>
                <a:effectLst/>
                <a:latin typeface="+mj-lt"/>
              </a:rPr>
              <a:t>Ribbon B: 1 m 30 cm</a:t>
            </a:r>
          </a:p>
        </p:txBody>
      </p:sp>
      <p:sp>
        <p:nvSpPr>
          <p:cNvPr id="8" name="Freeform 4" descr="A green ribbon labelled Ribbon C: 145 cm">
            <a:extLst>
              <a:ext uri="{FF2B5EF4-FFF2-40B4-BE49-F238E27FC236}">
                <a16:creationId xmlns:a16="http://schemas.microsoft.com/office/drawing/2014/main" id="{708B1DDA-3E0B-DD34-F854-7BAAF524D2CB}"/>
              </a:ext>
            </a:extLst>
          </p:cNvPr>
          <p:cNvSpPr/>
          <p:nvPr/>
        </p:nvSpPr>
        <p:spPr>
          <a:xfrm>
            <a:off x="474480" y="5324130"/>
            <a:ext cx="8231109" cy="893226"/>
          </a:xfrm>
          <a:custGeom>
            <a:avLst/>
            <a:gdLst/>
            <a:ahLst/>
            <a:cxnLst/>
            <a:rect l="l" t="t" r="r" b="b"/>
            <a:pathLst>
              <a:path w="7507316" h="856262">
                <a:moveTo>
                  <a:pt x="0" y="0"/>
                </a:moveTo>
                <a:lnTo>
                  <a:pt x="7507316" y="0"/>
                </a:lnTo>
                <a:lnTo>
                  <a:pt x="7507316" y="856262"/>
                </a:lnTo>
                <a:lnTo>
                  <a:pt x="0" y="856262"/>
                </a:lnTo>
                <a:lnTo>
                  <a:pt x="0" y="0"/>
                </a:lnTo>
                <a:close/>
              </a:path>
            </a:pathLst>
          </a:custGeom>
          <a:blipFill>
            <a:blip r:embed="rId8">
              <a:extLst>
                <a:ext uri="{96DAC541-7B7A-43D3-8B79-37D633B846F1}">
                  <asvg:svgBlip xmlns:asvg="http://schemas.microsoft.com/office/drawing/2016/SVG/main" r:embed="rId9"/>
                </a:ext>
              </a:extLst>
            </a:blip>
            <a:stretch>
              <a:fillRect r="-423" b="-28068"/>
            </a:stretch>
          </a:blipFill>
          <a:effectLst>
            <a:outerShdw blurRad="63500" sx="102000" sy="102000" algn="ctr" rotWithShape="0">
              <a:prstClr val="black">
                <a:alpha val="40000"/>
              </a:prstClr>
            </a:outerShdw>
          </a:effectLst>
        </p:spPr>
        <p:txBody>
          <a:bodyPr/>
          <a:lstStyle/>
          <a:p>
            <a:endParaRPr lang="en-AU"/>
          </a:p>
        </p:txBody>
      </p:sp>
      <p:sp>
        <p:nvSpPr>
          <p:cNvPr id="12" name="TextBox 11">
            <a:extLst>
              <a:ext uri="{FF2B5EF4-FFF2-40B4-BE49-F238E27FC236}">
                <a16:creationId xmlns:a16="http://schemas.microsoft.com/office/drawing/2014/main" id="{9A82DCC1-5E8E-EFD7-2852-1B1FE866B3BD}"/>
              </a:ext>
              <a:ext uri="{C183D7F6-B498-43B3-948B-1728B52AA6E4}">
                <adec:decorative xmlns:adec="http://schemas.microsoft.com/office/drawing/2017/decorative" val="1"/>
              </a:ext>
            </a:extLst>
          </p:cNvPr>
          <p:cNvSpPr txBox="1"/>
          <p:nvPr/>
        </p:nvSpPr>
        <p:spPr>
          <a:xfrm>
            <a:off x="1019217" y="5447577"/>
            <a:ext cx="4078876" cy="584775"/>
          </a:xfrm>
          <a:prstGeom prst="rect">
            <a:avLst/>
          </a:prstGeom>
          <a:noFill/>
        </p:spPr>
        <p:txBody>
          <a:bodyPr wrap="square">
            <a:spAutoFit/>
          </a:bodyPr>
          <a:lstStyle/>
          <a:p>
            <a:pPr algn="l" rtl="0"/>
            <a:r>
              <a:rPr lang="it-IT" sz="3200">
                <a:solidFill>
                  <a:srgbClr val="000000"/>
                </a:solidFill>
                <a:latin typeface="+mj-lt"/>
              </a:rPr>
              <a:t>R</a:t>
            </a:r>
            <a:r>
              <a:rPr lang="it-IT" sz="3200" b="0" i="0">
                <a:solidFill>
                  <a:srgbClr val="000000"/>
                </a:solidFill>
                <a:effectLst/>
                <a:latin typeface="+mj-lt"/>
              </a:rPr>
              <a:t>ibbon C: 140 cm</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19A4F-F0F3-06B9-E6AD-525470887DC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09BD291-1976-07C6-0F14-DBE0D047D3B4}"/>
              </a:ext>
            </a:extLst>
          </p:cNvPr>
          <p:cNvSpPr>
            <a:spLocks noGrp="1"/>
          </p:cNvSpPr>
          <p:nvPr>
            <p:ph type="title"/>
          </p:nvPr>
        </p:nvSpPr>
        <p:spPr>
          <a:xfrm>
            <a:off x="360000" y="360000"/>
            <a:ext cx="10367268" cy="545601"/>
          </a:xfrm>
        </p:spPr>
        <p:txBody>
          <a:bodyPr/>
          <a:lstStyle/>
          <a:p>
            <a:r>
              <a:rPr lang="en-AU"/>
              <a:t>Activity 4 – double or halve </a:t>
            </a:r>
            <a:r>
              <a:rPr lang="en-AU">
                <a:solidFill>
                  <a:schemeClr val="bg1"/>
                </a:solidFill>
              </a:rPr>
              <a:t>(1)</a:t>
            </a:r>
          </a:p>
        </p:txBody>
      </p:sp>
      <p:pic>
        <p:nvPicPr>
          <p:cNvPr id="4" name="Picture 3" descr="image of a head with cogs turning inside">
            <a:extLst>
              <a:ext uri="{FF2B5EF4-FFF2-40B4-BE49-F238E27FC236}">
                <a16:creationId xmlns:a16="http://schemas.microsoft.com/office/drawing/2014/main" id="{95E781B6-4931-AE23-2379-2E9B3D8906EF}"/>
              </a:ext>
            </a:extLst>
          </p:cNvPr>
          <p:cNvPicPr>
            <a:picLocks noChangeAspect="1"/>
          </p:cNvPicPr>
          <p:nvPr/>
        </p:nvPicPr>
        <p:blipFill>
          <a:blip r:embed="rId3"/>
          <a:stretch>
            <a:fillRect/>
          </a:stretch>
        </p:blipFill>
        <p:spPr>
          <a:xfrm>
            <a:off x="11107003" y="240894"/>
            <a:ext cx="720000" cy="856364"/>
          </a:xfrm>
          <a:prstGeom prst="rect">
            <a:avLst/>
          </a:prstGeom>
        </p:spPr>
      </p:pic>
      <p:sp>
        <p:nvSpPr>
          <p:cNvPr id="9" name="Text Placeholder">
            <a:extLst>
              <a:ext uri="{FF2B5EF4-FFF2-40B4-BE49-F238E27FC236}">
                <a16:creationId xmlns:a16="http://schemas.microsoft.com/office/drawing/2014/main" id="{A126D0A0-1D87-227F-5233-5D437B1BB4B7}"/>
              </a:ext>
            </a:extLst>
          </p:cNvPr>
          <p:cNvSpPr txBox="1">
            <a:spLocks/>
          </p:cNvSpPr>
          <p:nvPr/>
        </p:nvSpPr>
        <p:spPr>
          <a:xfrm>
            <a:off x="360000" y="1205768"/>
            <a:ext cx="10600100" cy="7542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a:t>Choose </a:t>
            </a:r>
            <a:r>
              <a:rPr lang="en-US" sz="3600"/>
              <a:t>a</a:t>
            </a:r>
            <a:r>
              <a:rPr lang="en-US" sz="3600" b="1"/>
              <a:t> target number </a:t>
            </a:r>
            <a:r>
              <a:rPr lang="en-US" sz="3600"/>
              <a:t>and</a:t>
            </a:r>
            <a:r>
              <a:rPr lang="en-US" sz="3600" b="1"/>
              <a:t> </a:t>
            </a:r>
            <a:r>
              <a:rPr lang="en-US" sz="3600" b="1" i="1"/>
              <a:t>double</a:t>
            </a:r>
            <a:r>
              <a:rPr lang="en-US" sz="3600" b="1"/>
              <a:t> or </a:t>
            </a:r>
            <a:r>
              <a:rPr lang="en-US" sz="3600" b="1" i="1"/>
              <a:t>halve.</a:t>
            </a:r>
          </a:p>
          <a:p>
            <a:pPr algn="ctr"/>
            <a:endParaRPr lang="en-US" sz="4400"/>
          </a:p>
        </p:txBody>
      </p:sp>
      <p:sp>
        <p:nvSpPr>
          <p:cNvPr id="5" name="Freeform 3" descr="A black target.">
            <a:extLst>
              <a:ext uri="{FF2B5EF4-FFF2-40B4-BE49-F238E27FC236}">
                <a16:creationId xmlns:a16="http://schemas.microsoft.com/office/drawing/2014/main" id="{BF5A175D-1DC3-0E12-5740-C499099132CD}"/>
              </a:ext>
            </a:extLst>
          </p:cNvPr>
          <p:cNvSpPr/>
          <p:nvPr/>
        </p:nvSpPr>
        <p:spPr>
          <a:xfrm>
            <a:off x="4009761" y="2260178"/>
            <a:ext cx="3595192" cy="3582244"/>
          </a:xfrm>
          <a:custGeom>
            <a:avLst/>
            <a:gdLst/>
            <a:ahLst/>
            <a:cxnLst/>
            <a:rect l="l" t="t" r="r" b="b"/>
            <a:pathLst>
              <a:path w="3595192" h="3582244">
                <a:moveTo>
                  <a:pt x="0" y="0"/>
                </a:moveTo>
                <a:lnTo>
                  <a:pt x="3595192" y="0"/>
                </a:lnTo>
                <a:lnTo>
                  <a:pt x="3595192" y="3582244"/>
                </a:lnTo>
                <a:lnTo>
                  <a:pt x="0" y="35822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pic>
        <p:nvPicPr>
          <p:cNvPr id="8" name="Picture 7" descr="A group of dice with numbers&#10;">
            <a:extLst>
              <a:ext uri="{FF2B5EF4-FFF2-40B4-BE49-F238E27FC236}">
                <a16:creationId xmlns:a16="http://schemas.microsoft.com/office/drawing/2014/main" id="{F5B5D322-9283-AB8D-E8EB-26A1769A27DD}"/>
              </a:ext>
            </a:extLst>
          </p:cNvPr>
          <p:cNvPicPr>
            <a:picLocks noChangeAspect="1"/>
          </p:cNvPicPr>
          <p:nvPr/>
        </p:nvPicPr>
        <p:blipFill>
          <a:blip r:embed="rId6">
            <a:extLst>
              <a:ext uri="{28A0092B-C50C-407E-A947-70E740481C1C}">
                <a14:useLocalDpi xmlns:a14="http://schemas.microsoft.com/office/drawing/2010/main" val="0"/>
              </a:ext>
            </a:extLst>
          </a:blip>
          <a:srcRect l="9806" t="11297" r="45679" b="23883"/>
          <a:stretch>
            <a:fillRect/>
          </a:stretch>
        </p:blipFill>
        <p:spPr>
          <a:xfrm>
            <a:off x="9100333" y="3429000"/>
            <a:ext cx="2726670" cy="2807150"/>
          </a:xfrm>
          <a:prstGeom prst="rect">
            <a:avLst/>
          </a:prstGeom>
        </p:spPr>
      </p:pic>
      <p:sp>
        <p:nvSpPr>
          <p:cNvPr id="2" name="Slide Number Placeholder 1">
            <a:extLst>
              <a:ext uri="{FF2B5EF4-FFF2-40B4-BE49-F238E27FC236}">
                <a16:creationId xmlns:a16="http://schemas.microsoft.com/office/drawing/2014/main" id="{017A0E28-B915-B0A9-84E5-AC4FE867B29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59935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66E99097-B223-76CB-98A1-2D5773AF8E9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360000" y="1137261"/>
            <a:ext cx="11484000" cy="754243"/>
          </a:xfrm>
        </p:spPr>
        <p:txBody>
          <a:bodyPr/>
          <a:lstStyle/>
          <a:p>
            <a:r>
              <a:rPr lang="en-US" sz="3600"/>
              <a:t>Find the numbers that are 10, 100 and 1000 </a:t>
            </a:r>
            <a:r>
              <a:rPr lang="en-US" sz="3600" b="1"/>
              <a:t>times</a:t>
            </a:r>
            <a:r>
              <a:rPr lang="en-US" sz="3600"/>
              <a:t> </a:t>
            </a:r>
            <a:r>
              <a:rPr lang="en-US" sz="3600" b="1"/>
              <a:t>larger</a:t>
            </a:r>
            <a:r>
              <a:rPr lang="en-US" sz="3600"/>
              <a:t> than the number rolled ‘9’.</a:t>
            </a:r>
          </a:p>
          <a:p>
            <a:endParaRPr lang="en-US" sz="4400"/>
          </a:p>
        </p:txBody>
      </p:sp>
      <p:sp>
        <p:nvSpPr>
          <p:cNvPr id="9" name="B">
            <a:extLst>
              <a:ext uri="{FF2B5EF4-FFF2-40B4-BE49-F238E27FC236}">
                <a16:creationId xmlns:a16="http://schemas.microsoft.com/office/drawing/2014/main" id="{8B0BBB3C-FC71-5899-8378-058EBBB23E5C}"/>
              </a:ext>
            </a:extLst>
          </p:cNvPr>
          <p:cNvSpPr txBox="1"/>
          <p:nvPr/>
        </p:nvSpPr>
        <p:spPr>
          <a:xfrm>
            <a:off x="670560" y="31797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3228432"/>
            <a:ext cx="10175920" cy="641396"/>
          </a:xfrm>
        </p:spPr>
        <p:txBody>
          <a:bodyPr anchor="ctr"/>
          <a:lstStyle/>
          <a:p>
            <a:r>
              <a:rPr lang="en-US" sz="3600"/>
              <a:t>9, 90, 9000</a:t>
            </a:r>
          </a:p>
        </p:txBody>
      </p:sp>
      <p:sp>
        <p:nvSpPr>
          <p:cNvPr id="10" name="B">
            <a:extLst>
              <a:ext uri="{FF2B5EF4-FFF2-40B4-BE49-F238E27FC236}">
                <a16:creationId xmlns:a16="http://schemas.microsoft.com/office/drawing/2014/main" id="{1BD38033-43C3-A0A1-88CB-3ABF45A80763}"/>
              </a:ext>
            </a:extLst>
          </p:cNvPr>
          <p:cNvSpPr txBox="1"/>
          <p:nvPr/>
        </p:nvSpPr>
        <p:spPr>
          <a:xfrm>
            <a:off x="670559" y="402771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4076345"/>
            <a:ext cx="10175920" cy="641396"/>
          </a:xfrm>
        </p:spPr>
        <p:txBody>
          <a:bodyPr anchor="ctr"/>
          <a:lstStyle/>
          <a:p>
            <a:r>
              <a:rPr lang="en-US" sz="3600"/>
              <a:t>90, 900, 9000</a:t>
            </a:r>
          </a:p>
        </p:txBody>
      </p:sp>
      <p:sp>
        <p:nvSpPr>
          <p:cNvPr id="12" name="C">
            <a:extLst>
              <a:ext uri="{FF2B5EF4-FFF2-40B4-BE49-F238E27FC236}">
                <a16:creationId xmlns:a16="http://schemas.microsoft.com/office/drawing/2014/main" id="{8CBBF2BA-64EE-4290-7852-A8F6CCA03E54}"/>
              </a:ext>
            </a:extLst>
          </p:cNvPr>
          <p:cNvSpPr txBox="1"/>
          <p:nvPr/>
        </p:nvSpPr>
        <p:spPr>
          <a:xfrm>
            <a:off x="670558" y="487776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45520" y="4926398"/>
            <a:ext cx="10175920" cy="641396"/>
          </a:xfrm>
        </p:spPr>
        <p:txBody>
          <a:bodyPr anchor="ctr"/>
          <a:lstStyle/>
          <a:p>
            <a:r>
              <a:rPr lang="en-US" sz="3600"/>
              <a:t>10, 100, 1000</a:t>
            </a:r>
          </a:p>
        </p:txBody>
      </p:sp>
      <p:sp>
        <p:nvSpPr>
          <p:cNvPr id="11" name="D">
            <a:extLst>
              <a:ext uri="{FF2B5EF4-FFF2-40B4-BE49-F238E27FC236}">
                <a16:creationId xmlns:a16="http://schemas.microsoft.com/office/drawing/2014/main" id="{388F2FE9-EF5E-B818-71B7-04503183ED79}"/>
              </a:ext>
            </a:extLst>
          </p:cNvPr>
          <p:cNvSpPr txBox="1"/>
          <p:nvPr/>
        </p:nvSpPr>
        <p:spPr>
          <a:xfrm>
            <a:off x="670557" y="57278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45520" y="5776451"/>
            <a:ext cx="10175920" cy="641396"/>
          </a:xfrm>
        </p:spPr>
        <p:txBody>
          <a:bodyPr anchor="ctr"/>
          <a:lstStyle/>
          <a:p>
            <a:r>
              <a:rPr lang="en-US" sz="3600"/>
              <a:t>99, 990, 9900</a:t>
            </a:r>
          </a:p>
        </p:txBody>
      </p:sp>
      <p:sp>
        <p:nvSpPr>
          <p:cNvPr id="5" name="Freeform 2">
            <a:extLst>
              <a:ext uri="{FF2B5EF4-FFF2-40B4-BE49-F238E27FC236}">
                <a16:creationId xmlns:a16="http://schemas.microsoft.com/office/drawing/2014/main" id="{F1609AB4-E67D-4B93-1751-3A574901C074}"/>
              </a:ext>
              <a:ext uri="{C183D7F6-B498-43B3-948B-1728B52AA6E4}">
                <adec:decorative xmlns:adec="http://schemas.microsoft.com/office/drawing/2017/decorative" val="1"/>
              </a:ext>
            </a:extLst>
          </p:cNvPr>
          <p:cNvSpPr>
            <a:spLocks noChangeAspect="1"/>
          </p:cNvSpPr>
          <p:nvPr/>
        </p:nvSpPr>
        <p:spPr>
          <a:xfrm>
            <a:off x="8003953" y="3429000"/>
            <a:ext cx="2257647" cy="2134512"/>
          </a:xfrm>
          <a:custGeom>
            <a:avLst/>
            <a:gdLst/>
            <a:ahLst/>
            <a:cxnLst/>
            <a:rect l="l" t="t" r="r" b="b"/>
            <a:pathLst>
              <a:path w="3198462" h="3024000">
                <a:moveTo>
                  <a:pt x="0" y="0"/>
                </a:moveTo>
                <a:lnTo>
                  <a:pt x="3198462" y="0"/>
                </a:lnTo>
                <a:lnTo>
                  <a:pt x="3198462"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290F665-56CF-6533-4F32-CB32553BFFB7}"/>
              </a:ext>
            </a:extLst>
          </p:cNvPr>
          <p:cNvSpPr txBox="1"/>
          <p:nvPr/>
        </p:nvSpPr>
        <p:spPr>
          <a:xfrm>
            <a:off x="757646" y="1184223"/>
            <a:ext cx="10272830" cy="1651671"/>
          </a:xfrm>
          <a:prstGeom prst="rect">
            <a:avLst/>
          </a:prstGeom>
          <a:noFill/>
        </p:spPr>
        <p:txBody>
          <a:bodyPr wrap="square">
            <a:spAutoFit/>
          </a:bodyPr>
          <a:lstStyle/>
          <a:p>
            <a:pPr algn="ctr">
              <a:lnSpc>
                <a:spcPct val="150000"/>
              </a:lnSpc>
            </a:pPr>
            <a:r>
              <a:rPr lang="en-AU" sz="3600">
                <a:latin typeface="Arial" panose="020B0604020202020204" pitchFamily="34" charset="0"/>
                <a:ea typeface="Calibri" panose="020F0502020204030204" pitchFamily="34" charset="0"/>
              </a:rPr>
              <a:t>W</a:t>
            </a:r>
            <a:r>
              <a:rPr lang="en-AU" sz="3600">
                <a:effectLst/>
                <a:latin typeface="Arial" panose="020B0604020202020204" pitchFamily="34" charset="0"/>
                <a:ea typeface="Calibri" panose="020F0502020204030204" pitchFamily="34" charset="0"/>
              </a:rPr>
              <a:t>rite the </a:t>
            </a:r>
            <a:r>
              <a:rPr lang="en-AU" sz="3600" b="1">
                <a:effectLst/>
                <a:latin typeface="Arial" panose="020B0604020202020204" pitchFamily="34" charset="0"/>
                <a:ea typeface="Calibri" panose="020F0502020204030204" pitchFamily="34" charset="0"/>
              </a:rPr>
              <a:t>related multiplication and division </a:t>
            </a:r>
            <a:r>
              <a:rPr lang="en-AU" sz="3600">
                <a:effectLst/>
                <a:latin typeface="Arial" panose="020B0604020202020204" pitchFamily="34" charset="0"/>
                <a:ea typeface="Calibri" panose="020F0502020204030204" pitchFamily="34" charset="0"/>
              </a:rPr>
              <a:t>number sentences for:</a:t>
            </a:r>
          </a:p>
        </p:txBody>
      </p:sp>
      <p:sp>
        <p:nvSpPr>
          <p:cNvPr id="7" name="Rectangle: Rounded Corners 6">
            <a:extLst>
              <a:ext uri="{FF2B5EF4-FFF2-40B4-BE49-F238E27FC236}">
                <a16:creationId xmlns:a16="http://schemas.microsoft.com/office/drawing/2014/main" id="{731175F0-92D6-7B03-DE07-2845C1E0BD5C}"/>
              </a:ext>
            </a:extLst>
          </p:cNvPr>
          <p:cNvSpPr/>
          <p:nvPr/>
        </p:nvSpPr>
        <p:spPr>
          <a:xfrm>
            <a:off x="3764256" y="3429000"/>
            <a:ext cx="4259609" cy="1828800"/>
          </a:xfrm>
          <a:prstGeom prst="roundRect">
            <a:avLst/>
          </a:prstGeom>
          <a:solidFill>
            <a:schemeClr val="accent4"/>
          </a:solid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800" b="1">
                <a:solidFill>
                  <a:schemeClr val="accent1"/>
                </a:solidFill>
              </a:rPr>
              <a:t>42, 6 and 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a:extLst>
              <a:ext uri="{FF2B5EF4-FFF2-40B4-BE49-F238E27FC236}">
                <a16:creationId xmlns:a16="http://schemas.microsoft.com/office/drawing/2014/main" id="{D3032B43-F56E-0357-7429-564D5691C822}"/>
              </a:ext>
            </a:extLst>
          </p:cNvPr>
          <p:cNvSpPr txBox="1">
            <a:spLocks/>
          </p:cNvSpPr>
          <p:nvPr/>
        </p:nvSpPr>
        <p:spPr>
          <a:xfrm>
            <a:off x="0" y="1184223"/>
            <a:ext cx="4844955" cy="754243"/>
          </a:xfrm>
          <a:prstGeom prst="rect">
            <a:avLst/>
          </a:prstGeom>
          <a:effectLst>
            <a:outerShdw blurRad="63500" sx="102000" sy="102000" algn="ctr" rotWithShape="0">
              <a:prstClr val="black">
                <a:alpha val="40000"/>
              </a:prstClr>
            </a:outerShdw>
          </a:effectLst>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Aft>
                <a:spcPts val="3000"/>
              </a:spcAft>
            </a:pPr>
            <a:r>
              <a:rPr lang="en-US" sz="3600"/>
              <a:t>Determine the </a:t>
            </a:r>
            <a:r>
              <a:rPr lang="en-US" sz="3600" b="1"/>
              <a:t>decimal number </a:t>
            </a:r>
            <a:r>
              <a:rPr lang="en-US" sz="3600"/>
              <a:t>presented here.</a:t>
            </a:r>
          </a:p>
          <a:p>
            <a:pPr algn="ctr">
              <a:spcAft>
                <a:spcPts val="3000"/>
              </a:spcAft>
            </a:pPr>
            <a:r>
              <a:rPr lang="en-US" sz="3600"/>
              <a:t> Record this number in a </a:t>
            </a:r>
            <a:r>
              <a:rPr lang="en-US" sz="3600" b="1"/>
              <a:t>decimal place value house. </a:t>
            </a:r>
            <a:endParaRPr lang="en-US" sz="4400"/>
          </a:p>
        </p:txBody>
      </p:sp>
      <p:pic>
        <p:nvPicPr>
          <p:cNvPr id="8" name="Picture 7" descr="Three rows of 10 squares. The first row has ten yellow squares coloured, the second row has 5 yellow squares coloured and the third row has part of one square coloured yellow.&#10;&#10;">
            <a:extLst>
              <a:ext uri="{FF2B5EF4-FFF2-40B4-BE49-F238E27FC236}">
                <a16:creationId xmlns:a16="http://schemas.microsoft.com/office/drawing/2014/main" id="{759B9CFC-75EB-7DD2-0E1B-9DC5C8BE959E}"/>
              </a:ext>
            </a:extLst>
          </p:cNvPr>
          <p:cNvPicPr>
            <a:picLocks noChangeAspect="1"/>
          </p:cNvPicPr>
          <p:nvPr/>
        </p:nvPicPr>
        <p:blipFill>
          <a:blip r:embed="rId4">
            <a:extLst>
              <a:ext uri="{28A0092B-C50C-407E-A947-70E740481C1C}">
                <a14:useLocalDpi xmlns:a14="http://schemas.microsoft.com/office/drawing/2010/main" val="0"/>
              </a:ext>
            </a:extLst>
          </a:blip>
          <a:srcRect l="4514" t="3918" r="3915" b="43069"/>
          <a:stretch>
            <a:fillRect/>
          </a:stretch>
        </p:blipFill>
        <p:spPr>
          <a:xfrm>
            <a:off x="5698097" y="1184224"/>
            <a:ext cx="6307470" cy="2581586"/>
          </a:xfrm>
          <a:prstGeom prst="rect">
            <a:avLst/>
          </a:prstGeom>
          <a:effectLst>
            <a:outerShdw blurRad="63500" sx="102000" sy="102000" algn="ctr" rotWithShape="0">
              <a:prstClr val="black">
                <a:alpha val="40000"/>
              </a:prstClr>
            </a:outerShdw>
          </a:effectLst>
        </p:spPr>
      </p:pic>
      <p:sp>
        <p:nvSpPr>
          <p:cNvPr id="5" name="Freeform 6" descr="An image of a place value house: 5 columns labelled hundreds, tens, ones, tenths, hundredths.">
            <a:extLst>
              <a:ext uri="{FF2B5EF4-FFF2-40B4-BE49-F238E27FC236}">
                <a16:creationId xmlns:a16="http://schemas.microsoft.com/office/drawing/2014/main" id="{03034933-81DD-1548-1A1B-6D2E4674857E}"/>
              </a:ext>
            </a:extLst>
          </p:cNvPr>
          <p:cNvSpPr>
            <a:spLocks noChangeAspect="1"/>
          </p:cNvSpPr>
          <p:nvPr/>
        </p:nvSpPr>
        <p:spPr>
          <a:xfrm>
            <a:off x="5957333" y="4020347"/>
            <a:ext cx="5966874" cy="2581586"/>
          </a:xfrm>
          <a:custGeom>
            <a:avLst/>
            <a:gdLst/>
            <a:ahLst/>
            <a:cxnLst/>
            <a:rect l="l" t="t" r="r" b="b"/>
            <a:pathLst>
              <a:path w="6913517" h="2991154">
                <a:moveTo>
                  <a:pt x="0" y="0"/>
                </a:moveTo>
                <a:lnTo>
                  <a:pt x="6913517" y="0"/>
                </a:lnTo>
                <a:lnTo>
                  <a:pt x="6913517" y="2991155"/>
                </a:lnTo>
                <a:lnTo>
                  <a:pt x="0" y="2991155"/>
                </a:lnTo>
                <a:lnTo>
                  <a:pt x="0" y="0"/>
                </a:lnTo>
                <a:close/>
              </a:path>
            </a:pathLst>
          </a:custGeom>
          <a:blipFill>
            <a:blip r:embed="rId5"/>
            <a:stretch>
              <a:fillRect/>
            </a:stretch>
          </a:blipFill>
          <a:effectLst>
            <a:outerShdw blurRad="63500" sx="102000" sy="102000" algn="ctr"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B4FE387-1BC0-4218-70FA-CC85FF06CE2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33651" y="2750551"/>
            <a:ext cx="6420291" cy="3541226"/>
          </a:xfrm>
          <a:prstGeom prst="rect">
            <a:avLst/>
          </a:prstGeom>
        </p:spPr>
      </p:pic>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4"/>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EEAE4F39-D2D0-D16E-519A-2162C0DCF6D3}"/>
              </a:ext>
            </a:extLst>
          </p:cNvPr>
          <p:cNvSpPr txBox="1"/>
          <p:nvPr/>
        </p:nvSpPr>
        <p:spPr>
          <a:xfrm>
            <a:off x="360000" y="934056"/>
            <a:ext cx="11585976" cy="1709250"/>
          </a:xfrm>
          <a:prstGeom prst="rect">
            <a:avLst/>
          </a:prstGeom>
          <a:noFill/>
        </p:spPr>
        <p:txBody>
          <a:bodyPr wrap="square">
            <a:spAutoFit/>
          </a:bodyPr>
          <a:lstStyle/>
          <a:p>
            <a:pPr lvl="0">
              <a:lnSpc>
                <a:spcPct val="150000"/>
              </a:lnSpc>
              <a:spcBef>
                <a:spcPts val="1200"/>
              </a:spcBef>
              <a:spcAft>
                <a:spcPts val="600"/>
              </a:spcAft>
            </a:pPr>
            <a:r>
              <a:rPr lang="en-AU" sz="3200">
                <a:effectLst/>
                <a:latin typeface="Arial" panose="020B0604020202020204" pitchFamily="34" charset="0"/>
                <a:ea typeface="Calibri" panose="020F0502020204030204" pitchFamily="34" charset="0"/>
              </a:rPr>
              <a:t>How are the </a:t>
            </a:r>
            <a:r>
              <a:rPr lang="en-AU" sz="3200" b="1">
                <a:effectLst/>
                <a:latin typeface="Arial" panose="020B0604020202020204" pitchFamily="34" charset="0"/>
                <a:ea typeface="Calibri" panose="020F0502020204030204" pitchFamily="34" charset="0"/>
              </a:rPr>
              <a:t>representations</a:t>
            </a:r>
            <a:r>
              <a:rPr lang="en-AU" sz="3200">
                <a:effectLst/>
                <a:latin typeface="Arial" panose="020B0604020202020204" pitchFamily="34" charset="0"/>
                <a:ea typeface="Calibri" panose="020F0502020204030204" pitchFamily="34" charset="0"/>
              </a:rPr>
              <a:t> of </a:t>
            </a:r>
            <a:r>
              <a:rPr lang="en-AU" sz="3200" b="1">
                <a:effectLst/>
                <a:latin typeface="Arial" panose="020B0604020202020204" pitchFamily="34" charset="0"/>
                <a:ea typeface="Calibri" panose="020F0502020204030204" pitchFamily="34" charset="0"/>
              </a:rPr>
              <a:t>data</a:t>
            </a:r>
            <a:r>
              <a:rPr lang="en-AU" sz="3200">
                <a:effectLst/>
                <a:latin typeface="Arial" panose="020B0604020202020204" pitchFamily="34" charset="0"/>
                <a:ea typeface="Calibri" panose="020F0502020204030204" pitchFamily="34" charset="0"/>
              </a:rPr>
              <a:t> </a:t>
            </a:r>
            <a:r>
              <a:rPr lang="en-AU" sz="3200" b="1">
                <a:effectLst/>
                <a:latin typeface="Arial" panose="020B0604020202020204" pitchFamily="34" charset="0"/>
                <a:ea typeface="Calibri" panose="020F0502020204030204" pitchFamily="34" charset="0"/>
              </a:rPr>
              <a:t>similar</a:t>
            </a:r>
            <a:r>
              <a:rPr lang="en-AU" sz="3200">
                <a:effectLst/>
                <a:latin typeface="Arial" panose="020B0604020202020204" pitchFamily="34" charset="0"/>
                <a:ea typeface="Calibri" panose="020F0502020204030204" pitchFamily="34" charset="0"/>
              </a:rPr>
              <a:t> and </a:t>
            </a:r>
            <a:r>
              <a:rPr lang="en-AU" sz="3200" b="1">
                <a:effectLst/>
                <a:latin typeface="Arial" panose="020B0604020202020204" pitchFamily="34" charset="0"/>
                <a:ea typeface="Calibri" panose="020F0502020204030204" pitchFamily="34" charset="0"/>
              </a:rPr>
              <a:t>different? </a:t>
            </a:r>
            <a:endParaRPr lang="en-AU" sz="3200" b="1">
              <a:latin typeface="Arial" panose="020B0604020202020204" pitchFamily="34" charset="0"/>
              <a:ea typeface="Calibri" panose="020F0502020204030204" pitchFamily="34" charset="0"/>
            </a:endParaRPr>
          </a:p>
          <a:p>
            <a:pPr lvl="0">
              <a:lnSpc>
                <a:spcPct val="150000"/>
              </a:lnSpc>
              <a:spcBef>
                <a:spcPts val="1200"/>
              </a:spcBef>
              <a:spcAft>
                <a:spcPts val="600"/>
              </a:spcAft>
            </a:pPr>
            <a:r>
              <a:rPr lang="en-AU" sz="3200">
                <a:effectLst/>
                <a:latin typeface="Arial" panose="020B0604020202020204" pitchFamily="34" charset="0"/>
                <a:ea typeface="Calibri" panose="020F0502020204030204" pitchFamily="34" charset="0"/>
              </a:rPr>
              <a:t>Which</a:t>
            </a:r>
            <a:r>
              <a:rPr lang="en-AU" sz="3200">
                <a:latin typeface="Arial" panose="020B0604020202020204" pitchFamily="34" charset="0"/>
                <a:ea typeface="Calibri" panose="020F0502020204030204" pitchFamily="34" charset="0"/>
              </a:rPr>
              <a:t> one is </a:t>
            </a:r>
            <a:r>
              <a:rPr lang="en-AU" sz="3200" b="1">
                <a:latin typeface="Arial" panose="020B0604020202020204" pitchFamily="34" charset="0"/>
                <a:ea typeface="Calibri" panose="020F0502020204030204" pitchFamily="34" charset="0"/>
              </a:rPr>
              <a:t>easier </a:t>
            </a:r>
            <a:r>
              <a:rPr lang="en-AU" sz="3200">
                <a:latin typeface="Arial" panose="020B0604020202020204" pitchFamily="34" charset="0"/>
                <a:ea typeface="Calibri" panose="020F0502020204030204" pitchFamily="34" charset="0"/>
              </a:rPr>
              <a:t>to </a:t>
            </a:r>
            <a:r>
              <a:rPr lang="en-AU" sz="3200" b="1">
                <a:effectLst/>
                <a:latin typeface="Arial" panose="020B0604020202020204" pitchFamily="34" charset="0"/>
                <a:ea typeface="Calibri" panose="020F0502020204030204" pitchFamily="34" charset="0"/>
              </a:rPr>
              <a:t>interpret</a:t>
            </a:r>
            <a:r>
              <a:rPr lang="en-AU" sz="3200">
                <a:effectLst/>
                <a:latin typeface="Arial" panose="020B0604020202020204" pitchFamily="34" charset="0"/>
                <a:ea typeface="Calibri" panose="020F0502020204030204" pitchFamily="34" charset="0"/>
              </a:rPr>
              <a:t> and why?</a:t>
            </a:r>
          </a:p>
        </p:txBody>
      </p:sp>
      <p:graphicFrame>
        <p:nvGraphicFramePr>
          <p:cNvPr id="4" name="Chart 3" descr="A coloumn graph labelled pieces of rubbish. The vertical axis is labelled 'pieces of rubbish' with a scale of 0 to 40. The horoizontal axis is labelled 'class' with 11 different classes.">
            <a:extLst>
              <a:ext uri="{FF2B5EF4-FFF2-40B4-BE49-F238E27FC236}">
                <a16:creationId xmlns:a16="http://schemas.microsoft.com/office/drawing/2014/main" id="{AD862AF3-DEA7-DB05-E136-720AEF81BE4F}"/>
              </a:ext>
            </a:extLst>
          </p:cNvPr>
          <p:cNvGraphicFramePr>
            <a:graphicFrameLocks/>
          </p:cNvGraphicFramePr>
          <p:nvPr>
            <p:extLst>
              <p:ext uri="{D42A27DB-BD31-4B8C-83A1-F6EECF244321}">
                <p14:modId xmlns:p14="http://schemas.microsoft.com/office/powerpoint/2010/main" val="3267483294"/>
              </p:ext>
            </p:extLst>
          </p:nvPr>
        </p:nvGraphicFramePr>
        <p:xfrm>
          <a:off x="543298" y="2751874"/>
          <a:ext cx="6510645" cy="3630711"/>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DC9D99AD-4D33-BB28-41A0-0FC09795003F}"/>
              </a:ext>
            </a:extLst>
          </p:cNvPr>
          <p:cNvSpPr txBox="1"/>
          <p:nvPr/>
        </p:nvSpPr>
        <p:spPr>
          <a:xfrm>
            <a:off x="2670374" y="6382585"/>
            <a:ext cx="914400" cy="436098"/>
          </a:xfrm>
          <a:prstGeom prst="rect">
            <a:avLst/>
          </a:prstGeom>
          <a:noFill/>
        </p:spPr>
        <p:txBody>
          <a:bodyPr wrap="none" lIns="0" tIns="0" rIns="0" bIns="0" rtlCol="0">
            <a:noAutofit/>
          </a:bodyPr>
          <a:lstStyle/>
          <a:p>
            <a:pPr algn="l"/>
            <a:r>
              <a:rPr lang="en-AU" b="1"/>
              <a:t>Column Graph</a:t>
            </a:r>
          </a:p>
        </p:txBody>
      </p:sp>
      <p:graphicFrame>
        <p:nvGraphicFramePr>
          <p:cNvPr id="9" name="Table 8">
            <a:extLst>
              <a:ext uri="{FF2B5EF4-FFF2-40B4-BE49-F238E27FC236}">
                <a16:creationId xmlns:a16="http://schemas.microsoft.com/office/drawing/2014/main" id="{0DDBDCEB-E969-FB1F-1D68-3AE6637E95BF}"/>
              </a:ext>
            </a:extLst>
          </p:cNvPr>
          <p:cNvGraphicFramePr>
            <a:graphicFrameLocks noGrp="1"/>
          </p:cNvGraphicFramePr>
          <p:nvPr>
            <p:extLst>
              <p:ext uri="{D42A27DB-BD31-4B8C-83A1-F6EECF244321}">
                <p14:modId xmlns:p14="http://schemas.microsoft.com/office/powerpoint/2010/main" val="499470373"/>
              </p:ext>
            </p:extLst>
          </p:nvPr>
        </p:nvGraphicFramePr>
        <p:xfrm>
          <a:off x="8792960" y="2445201"/>
          <a:ext cx="2855742" cy="3846576"/>
        </p:xfrm>
        <a:graphic>
          <a:graphicData uri="http://schemas.openxmlformats.org/drawingml/2006/table">
            <a:tbl>
              <a:tblPr firstRow="1" firstCol="1" bandRow="1">
                <a:tableStyleId>{69012ECD-51FC-41F1-AA8D-1B2483CD663E}</a:tableStyleId>
              </a:tblPr>
              <a:tblGrid>
                <a:gridCol w="990211">
                  <a:extLst>
                    <a:ext uri="{9D8B030D-6E8A-4147-A177-3AD203B41FA5}">
                      <a16:colId xmlns:a16="http://schemas.microsoft.com/office/drawing/2014/main" val="1962035607"/>
                    </a:ext>
                  </a:extLst>
                </a:gridCol>
                <a:gridCol w="1865531">
                  <a:extLst>
                    <a:ext uri="{9D8B030D-6E8A-4147-A177-3AD203B41FA5}">
                      <a16:colId xmlns:a16="http://schemas.microsoft.com/office/drawing/2014/main" val="284157644"/>
                    </a:ext>
                  </a:extLst>
                </a:gridCol>
              </a:tblGrid>
              <a:tr h="271025">
                <a:tc>
                  <a:txBody>
                    <a:bodyPr/>
                    <a:lstStyle/>
                    <a:p>
                      <a:pPr algn="ctr">
                        <a:lnSpc>
                          <a:spcPct val="150000"/>
                        </a:lnSpc>
                        <a:spcBef>
                          <a:spcPts val="600"/>
                        </a:spcBef>
                        <a:spcAft>
                          <a:spcPts val="600"/>
                        </a:spcAft>
                        <a:buNone/>
                      </a:pPr>
                      <a:r>
                        <a:rPr lang="en-AU" sz="1600">
                          <a:effectLst/>
                          <a:latin typeface="+mn-lt"/>
                        </a:rPr>
                        <a:t>Class</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Pieces of rubbish</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5611432"/>
                  </a:ext>
                </a:extLst>
              </a:tr>
              <a:tr h="271025">
                <a:tc>
                  <a:txBody>
                    <a:bodyPr/>
                    <a:lstStyle/>
                    <a:p>
                      <a:pPr algn="ctr">
                        <a:lnSpc>
                          <a:spcPct val="150000"/>
                        </a:lnSpc>
                        <a:spcBef>
                          <a:spcPts val="600"/>
                        </a:spcBef>
                        <a:spcAft>
                          <a:spcPts val="600"/>
                        </a:spcAft>
                        <a:buNone/>
                      </a:pPr>
                      <a:r>
                        <a:rPr lang="en-AU" sz="1600">
                          <a:effectLst/>
                          <a:latin typeface="+mn-lt"/>
                        </a:rPr>
                        <a:t>KD</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15</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9189722"/>
                  </a:ext>
                </a:extLst>
              </a:tr>
              <a:tr h="271025">
                <a:tc>
                  <a:txBody>
                    <a:bodyPr/>
                    <a:lstStyle/>
                    <a:p>
                      <a:pPr algn="ctr">
                        <a:lnSpc>
                          <a:spcPct val="150000"/>
                        </a:lnSpc>
                        <a:spcBef>
                          <a:spcPts val="600"/>
                        </a:spcBef>
                        <a:spcAft>
                          <a:spcPts val="600"/>
                        </a:spcAft>
                        <a:buNone/>
                      </a:pPr>
                      <a:r>
                        <a:rPr lang="en-AU" sz="1600">
                          <a:effectLst/>
                          <a:latin typeface="+mn-lt"/>
                        </a:rPr>
                        <a:t>KJ</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19</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7875818"/>
                  </a:ext>
                </a:extLst>
              </a:tr>
              <a:tr h="271025">
                <a:tc>
                  <a:txBody>
                    <a:bodyPr/>
                    <a:lstStyle/>
                    <a:p>
                      <a:pPr algn="ctr">
                        <a:lnSpc>
                          <a:spcPct val="150000"/>
                        </a:lnSpc>
                        <a:spcBef>
                          <a:spcPts val="600"/>
                        </a:spcBef>
                        <a:spcAft>
                          <a:spcPts val="600"/>
                        </a:spcAft>
                        <a:buNone/>
                      </a:pPr>
                      <a:r>
                        <a:rPr lang="en-AU" sz="1600">
                          <a:effectLst/>
                          <a:latin typeface="+mn-lt"/>
                        </a:rPr>
                        <a:t>1H</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22</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60577"/>
                  </a:ext>
                </a:extLst>
              </a:tr>
              <a:tr h="271025">
                <a:tc>
                  <a:txBody>
                    <a:bodyPr/>
                    <a:lstStyle/>
                    <a:p>
                      <a:pPr algn="ctr">
                        <a:lnSpc>
                          <a:spcPct val="150000"/>
                        </a:lnSpc>
                        <a:spcBef>
                          <a:spcPts val="600"/>
                        </a:spcBef>
                        <a:spcAft>
                          <a:spcPts val="600"/>
                        </a:spcAft>
                        <a:buNone/>
                      </a:pPr>
                      <a:r>
                        <a:rPr lang="en-AU" sz="1600">
                          <a:effectLst/>
                          <a:latin typeface="+mn-lt"/>
                        </a:rPr>
                        <a:t>1/2L</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25</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6564368"/>
                  </a:ext>
                </a:extLst>
              </a:tr>
              <a:tr h="271025">
                <a:tc>
                  <a:txBody>
                    <a:bodyPr/>
                    <a:lstStyle/>
                    <a:p>
                      <a:pPr algn="ctr">
                        <a:lnSpc>
                          <a:spcPct val="150000"/>
                        </a:lnSpc>
                        <a:spcBef>
                          <a:spcPts val="600"/>
                        </a:spcBef>
                        <a:spcAft>
                          <a:spcPts val="600"/>
                        </a:spcAft>
                        <a:buNone/>
                      </a:pPr>
                      <a:r>
                        <a:rPr lang="en-AU" sz="1600">
                          <a:effectLst/>
                          <a:latin typeface="+mn-lt"/>
                        </a:rPr>
                        <a:t>2B</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21</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849034"/>
                  </a:ext>
                </a:extLst>
              </a:tr>
              <a:tr h="271025">
                <a:tc>
                  <a:txBody>
                    <a:bodyPr/>
                    <a:lstStyle/>
                    <a:p>
                      <a:pPr algn="ctr">
                        <a:lnSpc>
                          <a:spcPct val="150000"/>
                        </a:lnSpc>
                        <a:spcBef>
                          <a:spcPts val="600"/>
                        </a:spcBef>
                        <a:spcAft>
                          <a:spcPts val="600"/>
                        </a:spcAft>
                        <a:buNone/>
                      </a:pPr>
                      <a:r>
                        <a:rPr lang="en-AU" sz="1600">
                          <a:effectLst/>
                          <a:latin typeface="+mn-lt"/>
                        </a:rPr>
                        <a:t>3P</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22</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5499372"/>
                  </a:ext>
                </a:extLst>
              </a:tr>
              <a:tr h="271025">
                <a:tc>
                  <a:txBody>
                    <a:bodyPr/>
                    <a:lstStyle/>
                    <a:p>
                      <a:pPr algn="ctr">
                        <a:lnSpc>
                          <a:spcPct val="150000"/>
                        </a:lnSpc>
                        <a:spcBef>
                          <a:spcPts val="600"/>
                        </a:spcBef>
                        <a:spcAft>
                          <a:spcPts val="600"/>
                        </a:spcAft>
                        <a:buNone/>
                      </a:pPr>
                      <a:r>
                        <a:rPr lang="en-AU" sz="1600">
                          <a:effectLst/>
                          <a:latin typeface="+mn-lt"/>
                        </a:rPr>
                        <a:t>3/4F</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27</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9933989"/>
                  </a:ext>
                </a:extLst>
              </a:tr>
              <a:tr h="271025">
                <a:tc>
                  <a:txBody>
                    <a:bodyPr/>
                    <a:lstStyle/>
                    <a:p>
                      <a:pPr algn="ctr">
                        <a:lnSpc>
                          <a:spcPct val="150000"/>
                        </a:lnSpc>
                        <a:spcBef>
                          <a:spcPts val="600"/>
                        </a:spcBef>
                        <a:spcAft>
                          <a:spcPts val="600"/>
                        </a:spcAft>
                        <a:buNone/>
                      </a:pPr>
                      <a:r>
                        <a:rPr lang="en-AU" sz="1600">
                          <a:effectLst/>
                          <a:latin typeface="+mn-lt"/>
                        </a:rPr>
                        <a:t>4A</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34</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33058"/>
                  </a:ext>
                </a:extLst>
              </a:tr>
              <a:tr h="271025">
                <a:tc>
                  <a:txBody>
                    <a:bodyPr/>
                    <a:lstStyle/>
                    <a:p>
                      <a:pPr algn="ctr">
                        <a:lnSpc>
                          <a:spcPct val="150000"/>
                        </a:lnSpc>
                        <a:spcBef>
                          <a:spcPts val="600"/>
                        </a:spcBef>
                        <a:spcAft>
                          <a:spcPts val="600"/>
                        </a:spcAft>
                        <a:buNone/>
                      </a:pPr>
                      <a:r>
                        <a:rPr lang="en-AU" sz="1600">
                          <a:effectLst/>
                          <a:latin typeface="+mn-lt"/>
                        </a:rPr>
                        <a:t>5D</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30</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7208229"/>
                  </a:ext>
                </a:extLst>
              </a:tr>
              <a:tr h="271025">
                <a:tc>
                  <a:txBody>
                    <a:bodyPr/>
                    <a:lstStyle/>
                    <a:p>
                      <a:pPr algn="ctr">
                        <a:lnSpc>
                          <a:spcPct val="150000"/>
                        </a:lnSpc>
                        <a:spcBef>
                          <a:spcPts val="600"/>
                        </a:spcBef>
                        <a:spcAft>
                          <a:spcPts val="600"/>
                        </a:spcAft>
                        <a:buNone/>
                      </a:pPr>
                      <a:r>
                        <a:rPr lang="en-AU" sz="1600">
                          <a:effectLst/>
                          <a:latin typeface="+mn-lt"/>
                        </a:rPr>
                        <a:t>5/6R</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26</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6970268"/>
                  </a:ext>
                </a:extLst>
              </a:tr>
              <a:tr h="271025">
                <a:tc>
                  <a:txBody>
                    <a:bodyPr/>
                    <a:lstStyle/>
                    <a:p>
                      <a:pPr algn="ctr">
                        <a:lnSpc>
                          <a:spcPct val="150000"/>
                        </a:lnSpc>
                        <a:spcBef>
                          <a:spcPts val="600"/>
                        </a:spcBef>
                        <a:spcAft>
                          <a:spcPts val="600"/>
                        </a:spcAft>
                        <a:buNone/>
                      </a:pPr>
                      <a:r>
                        <a:rPr lang="en-AU" sz="1600">
                          <a:effectLst/>
                          <a:latin typeface="+mn-lt"/>
                        </a:rPr>
                        <a:t>6W</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600"/>
                        </a:spcBef>
                        <a:spcAft>
                          <a:spcPts val="600"/>
                        </a:spcAft>
                        <a:buNone/>
                      </a:pPr>
                      <a:r>
                        <a:rPr lang="en-AU" sz="1600">
                          <a:effectLst/>
                          <a:latin typeface="+mn-lt"/>
                        </a:rPr>
                        <a:t>35</a:t>
                      </a:r>
                      <a:endParaRPr lang="en-AU" sz="1600">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2764742"/>
                  </a:ext>
                </a:extLst>
              </a:tr>
            </a:tbl>
          </a:graphicData>
        </a:graphic>
      </p:graphicFrame>
      <p:sp>
        <p:nvSpPr>
          <p:cNvPr id="12" name="TextBox 11">
            <a:extLst>
              <a:ext uri="{FF2B5EF4-FFF2-40B4-BE49-F238E27FC236}">
                <a16:creationId xmlns:a16="http://schemas.microsoft.com/office/drawing/2014/main" id="{7349309F-93D6-5EA6-DA1D-FC41A04364C7}"/>
              </a:ext>
            </a:extLst>
          </p:cNvPr>
          <p:cNvSpPr txBox="1"/>
          <p:nvPr/>
        </p:nvSpPr>
        <p:spPr>
          <a:xfrm>
            <a:off x="9812868" y="6387951"/>
            <a:ext cx="914400" cy="436098"/>
          </a:xfrm>
          <a:prstGeom prst="rect">
            <a:avLst/>
          </a:prstGeom>
          <a:noFill/>
        </p:spPr>
        <p:txBody>
          <a:bodyPr wrap="none" lIns="0" tIns="0" rIns="0" bIns="0" rtlCol="0">
            <a:noAutofit/>
          </a:bodyPr>
          <a:lstStyle/>
          <a:p>
            <a:pPr algn="l"/>
            <a:r>
              <a:rPr lang="en-AU" b="1"/>
              <a:t>Table</a:t>
            </a:r>
            <a:endParaRPr lang="en-AU" sz="1800" b="1"/>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138062" y="61934"/>
            <a:ext cx="915500" cy="915500"/>
          </a:xfrm>
          <a:prstGeom prst="rect">
            <a:avLst/>
          </a:prstGeom>
        </p:spPr>
      </p:pic>
      <p:sp>
        <p:nvSpPr>
          <p:cNvPr id="10" name="TextBox 9">
            <a:extLst>
              <a:ext uri="{FF2B5EF4-FFF2-40B4-BE49-F238E27FC236}">
                <a16:creationId xmlns:a16="http://schemas.microsoft.com/office/drawing/2014/main" id="{673DE502-1545-E71F-7FA8-7A5896A8B694}"/>
              </a:ext>
            </a:extLst>
          </p:cNvPr>
          <p:cNvSpPr txBox="1"/>
          <p:nvPr/>
        </p:nvSpPr>
        <p:spPr>
          <a:xfrm>
            <a:off x="514820" y="1467095"/>
            <a:ext cx="11329180" cy="820674"/>
          </a:xfrm>
          <a:prstGeom prst="rect">
            <a:avLst/>
          </a:prstGeom>
          <a:noFill/>
        </p:spPr>
        <p:txBody>
          <a:bodyPr wrap="square">
            <a:spAutoFit/>
          </a:bodyPr>
          <a:lstStyle/>
          <a:p>
            <a:pPr algn="ctr">
              <a:lnSpc>
                <a:spcPct val="150000"/>
              </a:lnSpc>
            </a:pPr>
            <a:r>
              <a:rPr lang="en-AU" sz="3600" b="0" i="0">
                <a:solidFill>
                  <a:srgbClr val="000000"/>
                </a:solidFill>
                <a:effectLst/>
              </a:rPr>
              <a:t>Write each </a:t>
            </a:r>
            <a:r>
              <a:rPr lang="en-AU" sz="3600" b="1" i="0">
                <a:solidFill>
                  <a:srgbClr val="000000"/>
                </a:solidFill>
                <a:effectLst/>
              </a:rPr>
              <a:t>mass</a:t>
            </a:r>
            <a:r>
              <a:rPr lang="en-AU" sz="3600" b="0" i="0">
                <a:solidFill>
                  <a:srgbClr val="000000"/>
                </a:solidFill>
                <a:effectLst/>
              </a:rPr>
              <a:t> using the </a:t>
            </a:r>
            <a:r>
              <a:rPr lang="en-AU" sz="3600" b="1" i="0">
                <a:solidFill>
                  <a:srgbClr val="000000"/>
                </a:solidFill>
                <a:effectLst/>
              </a:rPr>
              <a:t>abbreviation</a:t>
            </a:r>
            <a:r>
              <a:rPr lang="en-AU" sz="3600" b="0" i="0">
                <a:solidFill>
                  <a:srgbClr val="000000"/>
                </a:solidFill>
                <a:effectLst/>
              </a:rPr>
              <a:t> for </a:t>
            </a:r>
            <a:r>
              <a:rPr lang="en-AU" sz="3600" b="1" i="0">
                <a:solidFill>
                  <a:srgbClr val="000000"/>
                </a:solidFill>
                <a:effectLst/>
              </a:rPr>
              <a:t>kilogram</a:t>
            </a:r>
            <a:r>
              <a:rPr lang="en-AU" sz="3600" b="0" i="0">
                <a:solidFill>
                  <a:srgbClr val="000000"/>
                </a:solidFill>
                <a:effectLst/>
              </a:rPr>
              <a:t>.</a:t>
            </a:r>
            <a:endParaRPr lang="en-AU" sz="3600"/>
          </a:p>
        </p:txBody>
      </p:sp>
      <p:sp>
        <p:nvSpPr>
          <p:cNvPr id="5" name="TextBox 4">
            <a:extLst>
              <a:ext uri="{FF2B5EF4-FFF2-40B4-BE49-F238E27FC236}">
                <a16:creationId xmlns:a16="http://schemas.microsoft.com/office/drawing/2014/main" id="{60888F31-6589-A35E-047C-E847AF87F7D0}"/>
              </a:ext>
            </a:extLst>
          </p:cNvPr>
          <p:cNvSpPr txBox="1"/>
          <p:nvPr/>
        </p:nvSpPr>
        <p:spPr>
          <a:xfrm>
            <a:off x="348000" y="3078907"/>
            <a:ext cx="4981432" cy="1478418"/>
          </a:xfrm>
          <a:prstGeom prst="rect">
            <a:avLst/>
          </a:prstGeom>
          <a:noFill/>
        </p:spPr>
        <p:txBody>
          <a:bodyPr wrap="square">
            <a:spAutoFit/>
          </a:bodyPr>
          <a:lstStyle/>
          <a:p>
            <a:pPr algn="ctr">
              <a:lnSpc>
                <a:spcPct val="150000"/>
              </a:lnSpc>
            </a:pPr>
            <a:r>
              <a:rPr lang="en-AU" sz="3200" b="0" i="0">
                <a:solidFill>
                  <a:srgbClr val="000000"/>
                </a:solidFill>
                <a:effectLst/>
              </a:rPr>
              <a:t>A pumpkin has a </a:t>
            </a:r>
            <a:r>
              <a:rPr lang="en-AU" sz="3200" b="1" i="0">
                <a:solidFill>
                  <a:srgbClr val="000000"/>
                </a:solidFill>
                <a:effectLst/>
              </a:rPr>
              <a:t>mass</a:t>
            </a:r>
            <a:r>
              <a:rPr lang="en-AU" sz="3200" b="0" i="0">
                <a:solidFill>
                  <a:srgbClr val="000000"/>
                </a:solidFill>
                <a:effectLst/>
              </a:rPr>
              <a:t> of </a:t>
            </a:r>
          </a:p>
          <a:p>
            <a:pPr algn="ctr">
              <a:lnSpc>
                <a:spcPct val="150000"/>
              </a:lnSpc>
            </a:pPr>
            <a:r>
              <a:rPr lang="en-AU" sz="3200" b="1" i="0">
                <a:solidFill>
                  <a:srgbClr val="000000"/>
                </a:solidFill>
                <a:effectLst/>
              </a:rPr>
              <a:t>3 kilograms</a:t>
            </a:r>
            <a:r>
              <a:rPr lang="en-AU" sz="3200" b="0" i="0">
                <a:solidFill>
                  <a:srgbClr val="000000"/>
                </a:solidFill>
                <a:effectLst/>
              </a:rPr>
              <a:t> </a:t>
            </a:r>
          </a:p>
        </p:txBody>
      </p:sp>
      <p:sp>
        <p:nvSpPr>
          <p:cNvPr id="8" name="Freeform 6">
            <a:extLst>
              <a:ext uri="{FF2B5EF4-FFF2-40B4-BE49-F238E27FC236}">
                <a16:creationId xmlns:a16="http://schemas.microsoft.com/office/drawing/2014/main" id="{14A663B5-CD57-FA25-F46C-0D8AAE5D731E}"/>
              </a:ext>
              <a:ext uri="{C183D7F6-B498-43B3-948B-1728B52AA6E4}">
                <adec:decorative xmlns:adec="http://schemas.microsoft.com/office/drawing/2017/decorative" val="1"/>
              </a:ext>
            </a:extLst>
          </p:cNvPr>
          <p:cNvSpPr>
            <a:spLocks noChangeAspect="1"/>
          </p:cNvSpPr>
          <p:nvPr/>
        </p:nvSpPr>
        <p:spPr>
          <a:xfrm>
            <a:off x="806093" y="4246809"/>
            <a:ext cx="2340000" cy="2249325"/>
          </a:xfrm>
          <a:custGeom>
            <a:avLst/>
            <a:gdLst/>
            <a:ahLst/>
            <a:cxnLst/>
            <a:rect l="l" t="t" r="r" b="b"/>
            <a:pathLst>
              <a:path w="2617840" h="2516399">
                <a:moveTo>
                  <a:pt x="0" y="0"/>
                </a:moveTo>
                <a:lnTo>
                  <a:pt x="2617840" y="0"/>
                </a:lnTo>
                <a:lnTo>
                  <a:pt x="2617840" y="2516398"/>
                </a:lnTo>
                <a:lnTo>
                  <a:pt x="0" y="2516398"/>
                </a:lnTo>
                <a:lnTo>
                  <a:pt x="0" y="0"/>
                </a:lnTo>
                <a:close/>
              </a:path>
            </a:pathLst>
          </a:custGeom>
          <a:blipFill>
            <a:blip r:embed="rId4"/>
            <a:stretch>
              <a:fillRect/>
            </a:stretch>
          </a:blipFill>
          <a:effectLst>
            <a:outerShdw blurRad="63500" sx="102000" sy="102000" algn="ctr" rotWithShape="0">
              <a:prstClr val="black">
                <a:alpha val="40000"/>
              </a:prstClr>
            </a:outerShdw>
          </a:effectLst>
        </p:spPr>
        <p:txBody>
          <a:bodyPr/>
          <a:lstStyle/>
          <a:p>
            <a:endParaRPr lang="en-AU"/>
          </a:p>
        </p:txBody>
      </p:sp>
      <p:sp>
        <p:nvSpPr>
          <p:cNvPr id="11" name="TextBox 10">
            <a:extLst>
              <a:ext uri="{FF2B5EF4-FFF2-40B4-BE49-F238E27FC236}">
                <a16:creationId xmlns:a16="http://schemas.microsoft.com/office/drawing/2014/main" id="{9C7495BD-FFE5-7F79-E820-479F72A7F9CC}"/>
              </a:ext>
            </a:extLst>
          </p:cNvPr>
          <p:cNvSpPr txBox="1"/>
          <p:nvPr/>
        </p:nvSpPr>
        <p:spPr>
          <a:xfrm>
            <a:off x="6659487" y="3112642"/>
            <a:ext cx="5394075" cy="1478418"/>
          </a:xfrm>
          <a:prstGeom prst="rect">
            <a:avLst/>
          </a:prstGeom>
          <a:noFill/>
        </p:spPr>
        <p:txBody>
          <a:bodyPr wrap="square">
            <a:spAutoFit/>
          </a:bodyPr>
          <a:lstStyle/>
          <a:p>
            <a:pPr algn="ctr">
              <a:lnSpc>
                <a:spcPct val="150000"/>
              </a:lnSpc>
            </a:pPr>
            <a:r>
              <a:rPr lang="en-AU" sz="3200" b="0" i="0">
                <a:solidFill>
                  <a:srgbClr val="000000"/>
                </a:solidFill>
                <a:effectLst/>
              </a:rPr>
              <a:t>A watermelon has a </a:t>
            </a:r>
            <a:r>
              <a:rPr lang="en-AU" sz="3200" b="1" i="0">
                <a:solidFill>
                  <a:srgbClr val="000000"/>
                </a:solidFill>
                <a:effectLst/>
              </a:rPr>
              <a:t>mass</a:t>
            </a:r>
            <a:r>
              <a:rPr lang="en-AU" sz="3200" b="0" i="0">
                <a:solidFill>
                  <a:srgbClr val="000000"/>
                </a:solidFill>
                <a:effectLst/>
              </a:rPr>
              <a:t> of </a:t>
            </a:r>
            <a:r>
              <a:rPr lang="en-AU" sz="3200" b="1" i="0">
                <a:solidFill>
                  <a:srgbClr val="000000"/>
                </a:solidFill>
                <a:effectLst/>
              </a:rPr>
              <a:t>7 kilograms</a:t>
            </a:r>
            <a:endParaRPr lang="en-AU" sz="3200" b="0" i="0">
              <a:solidFill>
                <a:srgbClr val="000000"/>
              </a:solidFill>
              <a:effectLst/>
            </a:endParaRPr>
          </a:p>
        </p:txBody>
      </p:sp>
      <p:sp>
        <p:nvSpPr>
          <p:cNvPr id="7" name="Freeform 5">
            <a:extLst>
              <a:ext uri="{FF2B5EF4-FFF2-40B4-BE49-F238E27FC236}">
                <a16:creationId xmlns:a16="http://schemas.microsoft.com/office/drawing/2014/main" id="{58B6A185-49C7-98CD-9691-3138CB373D5B}"/>
              </a:ext>
              <a:ext uri="{C183D7F6-B498-43B3-948B-1728B52AA6E4}">
                <adec:decorative xmlns:adec="http://schemas.microsoft.com/office/drawing/2017/decorative" val="1"/>
              </a:ext>
            </a:extLst>
          </p:cNvPr>
          <p:cNvSpPr>
            <a:spLocks noChangeAspect="1"/>
          </p:cNvSpPr>
          <p:nvPr/>
        </p:nvSpPr>
        <p:spPr>
          <a:xfrm>
            <a:off x="5799217" y="4246809"/>
            <a:ext cx="2768022" cy="2517232"/>
          </a:xfrm>
          <a:custGeom>
            <a:avLst/>
            <a:gdLst/>
            <a:ahLst/>
            <a:cxnLst/>
            <a:rect l="l" t="t" r="r" b="b"/>
            <a:pathLst>
              <a:path w="3325284" h="3024000">
                <a:moveTo>
                  <a:pt x="0" y="0"/>
                </a:moveTo>
                <a:lnTo>
                  <a:pt x="3325284" y="0"/>
                </a:lnTo>
                <a:lnTo>
                  <a:pt x="3325284" y="3024000"/>
                </a:lnTo>
                <a:lnTo>
                  <a:pt x="0" y="3024000"/>
                </a:lnTo>
                <a:lnTo>
                  <a:pt x="0" y="0"/>
                </a:lnTo>
                <a:close/>
              </a:path>
            </a:pathLst>
          </a:custGeom>
          <a:blipFill>
            <a:blip r:embed="rId5">
              <a:extLst>
                <a:ext uri="{96DAC541-7B7A-43D3-8B79-37D633B846F1}">
                  <asvg:svgBlip xmlns:asvg="http://schemas.microsoft.com/office/drawing/2016/SVG/main" r:embed="rId6"/>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10, 100 or 1000 times as large</a:t>
            </a:r>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FE07C562-2F43-5CC4-4640-CF4B8A63514A}"/>
              </a:ext>
            </a:extLst>
          </p:cNvPr>
          <p:cNvGraphicFramePr>
            <a:graphicFrameLocks noGrp="1"/>
          </p:cNvGraphicFramePr>
          <p:nvPr>
            <p:extLst>
              <p:ext uri="{D42A27DB-BD31-4B8C-83A1-F6EECF244321}">
                <p14:modId xmlns:p14="http://schemas.microsoft.com/office/powerpoint/2010/main" val="1233757809"/>
              </p:ext>
            </p:extLst>
          </p:nvPr>
        </p:nvGraphicFramePr>
        <p:xfrm>
          <a:off x="360000" y="1097258"/>
          <a:ext cx="10860994" cy="5400745"/>
        </p:xfrm>
        <a:graphic>
          <a:graphicData uri="http://schemas.openxmlformats.org/drawingml/2006/table">
            <a:tbl>
              <a:tblPr firstRow="1" firstCol="1" bandRow="1"/>
              <a:tblGrid>
                <a:gridCol w="2171522">
                  <a:extLst>
                    <a:ext uri="{9D8B030D-6E8A-4147-A177-3AD203B41FA5}">
                      <a16:colId xmlns:a16="http://schemas.microsoft.com/office/drawing/2014/main" val="3044871946"/>
                    </a:ext>
                  </a:extLst>
                </a:gridCol>
                <a:gridCol w="2171522">
                  <a:extLst>
                    <a:ext uri="{9D8B030D-6E8A-4147-A177-3AD203B41FA5}">
                      <a16:colId xmlns:a16="http://schemas.microsoft.com/office/drawing/2014/main" val="4275320385"/>
                    </a:ext>
                  </a:extLst>
                </a:gridCol>
                <a:gridCol w="2172650">
                  <a:extLst>
                    <a:ext uri="{9D8B030D-6E8A-4147-A177-3AD203B41FA5}">
                      <a16:colId xmlns:a16="http://schemas.microsoft.com/office/drawing/2014/main" val="1225475664"/>
                    </a:ext>
                  </a:extLst>
                </a:gridCol>
                <a:gridCol w="2172650">
                  <a:extLst>
                    <a:ext uri="{9D8B030D-6E8A-4147-A177-3AD203B41FA5}">
                      <a16:colId xmlns:a16="http://schemas.microsoft.com/office/drawing/2014/main" val="3848853229"/>
                    </a:ext>
                  </a:extLst>
                </a:gridCol>
                <a:gridCol w="2172650">
                  <a:extLst>
                    <a:ext uri="{9D8B030D-6E8A-4147-A177-3AD203B41FA5}">
                      <a16:colId xmlns:a16="http://schemas.microsoft.com/office/drawing/2014/main" val="1004734288"/>
                    </a:ext>
                  </a:extLst>
                </a:gridCol>
              </a:tblGrid>
              <a:tr h="771535">
                <a:tc>
                  <a:txBody>
                    <a:bodyPr/>
                    <a:lstStyle/>
                    <a:p>
                      <a:pPr algn="ctr">
                        <a:lnSpc>
                          <a:spcPct val="150000"/>
                        </a:lnSpc>
                        <a:spcBef>
                          <a:spcPts val="1200"/>
                        </a:spcBef>
                        <a:spcAft>
                          <a:spcPts val="600"/>
                        </a:spcAft>
                        <a:buNone/>
                      </a:pPr>
                      <a:r>
                        <a:rPr lang="en-AU" sz="2400" b="1">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002664"/>
                    </a:solidFill>
                  </a:tcPr>
                </a:tc>
                <a:tc>
                  <a:txBody>
                    <a:bodyPr/>
                    <a:lstStyle/>
                    <a:p>
                      <a:pPr algn="ctr">
                        <a:lnSpc>
                          <a:spcPct val="150000"/>
                        </a:lnSpc>
                        <a:spcBef>
                          <a:spcPts val="1200"/>
                        </a:spcBef>
                        <a:spcAft>
                          <a:spcPts val="600"/>
                        </a:spcAft>
                        <a:buNone/>
                      </a:pPr>
                      <a:r>
                        <a:rPr lang="en-AU" sz="2400" b="1">
                          <a:solidFill>
                            <a:srgbClr val="FFFFFF"/>
                          </a:solidFill>
                          <a:effectLst/>
                          <a:latin typeface="+mj-lt"/>
                          <a:ea typeface="Calibri" panose="020F0502020204030204" pitchFamily="34" charset="0"/>
                          <a:cs typeface="Arial" panose="020B0604020202020204" pitchFamily="34" charset="0"/>
                        </a:rPr>
                        <a:t>X 1</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002664"/>
                    </a:solidFill>
                  </a:tcPr>
                </a:tc>
                <a:tc>
                  <a:txBody>
                    <a:bodyPr/>
                    <a:lstStyle/>
                    <a:p>
                      <a:pPr algn="ctr">
                        <a:lnSpc>
                          <a:spcPct val="150000"/>
                        </a:lnSpc>
                        <a:spcBef>
                          <a:spcPts val="1200"/>
                        </a:spcBef>
                        <a:spcAft>
                          <a:spcPts val="600"/>
                        </a:spcAft>
                        <a:buNone/>
                      </a:pPr>
                      <a:r>
                        <a:rPr lang="en-AU" sz="2400" b="1">
                          <a:solidFill>
                            <a:srgbClr val="FFFFFF"/>
                          </a:solidFill>
                          <a:effectLst/>
                          <a:latin typeface="+mj-lt"/>
                          <a:ea typeface="Calibri" panose="020F0502020204030204" pitchFamily="34" charset="0"/>
                          <a:cs typeface="Arial" panose="020B0604020202020204" pitchFamily="34" charset="0"/>
                        </a:rPr>
                        <a:t>X 10</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002664"/>
                    </a:solidFill>
                  </a:tcPr>
                </a:tc>
                <a:tc>
                  <a:txBody>
                    <a:bodyPr/>
                    <a:lstStyle/>
                    <a:p>
                      <a:pPr algn="ctr">
                        <a:lnSpc>
                          <a:spcPct val="150000"/>
                        </a:lnSpc>
                        <a:spcBef>
                          <a:spcPts val="1200"/>
                        </a:spcBef>
                        <a:spcAft>
                          <a:spcPts val="600"/>
                        </a:spcAft>
                        <a:buNone/>
                      </a:pPr>
                      <a:r>
                        <a:rPr lang="en-AU" sz="2400" b="1">
                          <a:solidFill>
                            <a:srgbClr val="FFFFFF"/>
                          </a:solidFill>
                          <a:effectLst/>
                          <a:latin typeface="+mj-lt"/>
                          <a:ea typeface="Calibri" panose="020F0502020204030204" pitchFamily="34" charset="0"/>
                          <a:cs typeface="Arial" panose="020B0604020202020204" pitchFamily="34" charset="0"/>
                        </a:rPr>
                        <a:t>X 100</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002664"/>
                    </a:solidFill>
                  </a:tcPr>
                </a:tc>
                <a:tc>
                  <a:txBody>
                    <a:bodyPr/>
                    <a:lstStyle/>
                    <a:p>
                      <a:pPr algn="ctr">
                        <a:lnSpc>
                          <a:spcPct val="150000"/>
                        </a:lnSpc>
                        <a:spcBef>
                          <a:spcPts val="1200"/>
                        </a:spcBef>
                        <a:spcAft>
                          <a:spcPts val="600"/>
                        </a:spcAft>
                        <a:buNone/>
                      </a:pPr>
                      <a:r>
                        <a:rPr lang="en-AU" sz="2400" b="1">
                          <a:solidFill>
                            <a:srgbClr val="FFFFFF"/>
                          </a:solidFill>
                          <a:effectLst/>
                          <a:latin typeface="+mj-lt"/>
                          <a:ea typeface="Calibri" panose="020F0502020204030204" pitchFamily="34" charset="0"/>
                          <a:cs typeface="Arial" panose="020B0604020202020204" pitchFamily="34" charset="0"/>
                        </a:rPr>
                        <a:t>X 1000</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002664"/>
                    </a:solidFill>
                  </a:tcPr>
                </a:tc>
                <a:extLst>
                  <a:ext uri="{0D108BD9-81ED-4DB2-BD59-A6C34878D82A}">
                    <a16:rowId xmlns:a16="http://schemas.microsoft.com/office/drawing/2014/main" val="2349361067"/>
                  </a:ext>
                </a:extLst>
              </a:tr>
              <a:tr h="771535">
                <a:tc>
                  <a:txBody>
                    <a:bodyPr/>
                    <a:lstStyle/>
                    <a:p>
                      <a:pPr algn="ctr">
                        <a:lnSpc>
                          <a:spcPct val="150000"/>
                        </a:lnSpc>
                        <a:spcBef>
                          <a:spcPts val="1200"/>
                        </a:spcBef>
                        <a:spcAft>
                          <a:spcPts val="600"/>
                        </a:spcAft>
                        <a:buNone/>
                      </a:pPr>
                      <a:r>
                        <a:rPr lang="en-AU" sz="2400" b="1">
                          <a:effectLst/>
                          <a:latin typeface="+mj-lt"/>
                          <a:ea typeface="Calibri" panose="020F0502020204030204" pitchFamily="34" charset="0"/>
                          <a:cs typeface="Arial" panose="020B0604020202020204" pitchFamily="34" charset="0"/>
                        </a:rPr>
                        <a:t>Example</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3</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30</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300</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3000</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3385542127"/>
                  </a:ext>
                </a:extLst>
              </a:tr>
              <a:tr h="771535">
                <a:tc>
                  <a:txBody>
                    <a:bodyPr/>
                    <a:lstStyle/>
                    <a:p>
                      <a:pPr algn="ctr">
                        <a:lnSpc>
                          <a:spcPct val="150000"/>
                        </a:lnSpc>
                        <a:spcBef>
                          <a:spcPts val="1200"/>
                        </a:spcBef>
                        <a:spcAft>
                          <a:spcPts val="600"/>
                        </a:spcAft>
                        <a:buNone/>
                      </a:pPr>
                      <a:r>
                        <a:rPr lang="en-AU" sz="2400" b="1">
                          <a:solidFill>
                            <a:srgbClr val="000000"/>
                          </a:solidFill>
                          <a:effectLst/>
                          <a:latin typeface="+mj-lt"/>
                          <a:ea typeface="Calibri" panose="020F0502020204030204" pitchFamily="34" charset="0"/>
                          <a:cs typeface="Arial" panose="020B0604020202020204" pitchFamily="34" charset="0"/>
                        </a:rPr>
                        <a:t>1</a:t>
                      </a:r>
                      <a:r>
                        <a:rPr lang="en-AU" sz="2400" b="1" baseline="30000">
                          <a:solidFill>
                            <a:srgbClr val="000000"/>
                          </a:solidFill>
                          <a:effectLst/>
                          <a:latin typeface="+mj-lt"/>
                          <a:ea typeface="Calibri" panose="020F0502020204030204" pitchFamily="34" charset="0"/>
                          <a:cs typeface="Arial" panose="020B0604020202020204" pitchFamily="34" charset="0"/>
                        </a:rPr>
                        <a:t>st</a:t>
                      </a:r>
                      <a:r>
                        <a:rPr lang="en-AU" sz="2400" b="1">
                          <a:solidFill>
                            <a:srgbClr val="000000"/>
                          </a:solidFill>
                          <a:effectLst/>
                          <a:latin typeface="+mj-lt"/>
                          <a:ea typeface="Calibri" panose="020F0502020204030204" pitchFamily="34" charset="0"/>
                          <a:cs typeface="Arial" panose="020B0604020202020204" pitchFamily="34" charset="0"/>
                        </a:rPr>
                        <a:t> roll</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extLst>
                  <a:ext uri="{0D108BD9-81ED-4DB2-BD59-A6C34878D82A}">
                    <a16:rowId xmlns:a16="http://schemas.microsoft.com/office/drawing/2014/main" val="2564860993"/>
                  </a:ext>
                </a:extLst>
              </a:tr>
              <a:tr h="771535">
                <a:tc>
                  <a:txBody>
                    <a:bodyPr/>
                    <a:lstStyle/>
                    <a:p>
                      <a:pPr algn="ctr">
                        <a:lnSpc>
                          <a:spcPct val="150000"/>
                        </a:lnSpc>
                        <a:spcBef>
                          <a:spcPts val="1200"/>
                        </a:spcBef>
                        <a:spcAft>
                          <a:spcPts val="600"/>
                        </a:spcAft>
                        <a:buNone/>
                      </a:pPr>
                      <a:r>
                        <a:rPr lang="en-AU" sz="2400" b="1">
                          <a:effectLst/>
                          <a:latin typeface="+mj-lt"/>
                          <a:ea typeface="Calibri" panose="020F0502020204030204" pitchFamily="34" charset="0"/>
                          <a:cs typeface="Arial" panose="020B0604020202020204" pitchFamily="34" charset="0"/>
                        </a:rPr>
                        <a:t>2</a:t>
                      </a:r>
                      <a:r>
                        <a:rPr lang="en-AU" sz="2400" b="1" baseline="30000">
                          <a:effectLst/>
                          <a:latin typeface="+mj-lt"/>
                          <a:ea typeface="Calibri" panose="020F0502020204030204" pitchFamily="34" charset="0"/>
                          <a:cs typeface="Arial" panose="020B0604020202020204" pitchFamily="34" charset="0"/>
                        </a:rPr>
                        <a:t>nd</a:t>
                      </a:r>
                      <a:r>
                        <a:rPr lang="en-AU" sz="2400" b="1">
                          <a:effectLst/>
                          <a:latin typeface="+mj-lt"/>
                          <a:ea typeface="Calibri" panose="020F0502020204030204" pitchFamily="34" charset="0"/>
                          <a:cs typeface="Arial" panose="020B0604020202020204" pitchFamily="34" charset="0"/>
                        </a:rPr>
                        <a:t> roll</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484210894"/>
                  </a:ext>
                </a:extLst>
              </a:tr>
              <a:tr h="771535">
                <a:tc>
                  <a:txBody>
                    <a:bodyPr/>
                    <a:lstStyle/>
                    <a:p>
                      <a:pPr algn="ctr">
                        <a:lnSpc>
                          <a:spcPct val="150000"/>
                        </a:lnSpc>
                        <a:spcBef>
                          <a:spcPts val="1200"/>
                        </a:spcBef>
                        <a:spcAft>
                          <a:spcPts val="600"/>
                        </a:spcAft>
                        <a:buNone/>
                      </a:pPr>
                      <a:r>
                        <a:rPr lang="en-AU" sz="2400" b="1">
                          <a:solidFill>
                            <a:srgbClr val="000000"/>
                          </a:solidFill>
                          <a:effectLst/>
                          <a:latin typeface="+mj-lt"/>
                          <a:ea typeface="Calibri" panose="020F0502020204030204" pitchFamily="34" charset="0"/>
                          <a:cs typeface="Arial" panose="020B0604020202020204" pitchFamily="34" charset="0"/>
                        </a:rPr>
                        <a:t>3</a:t>
                      </a:r>
                      <a:r>
                        <a:rPr lang="en-AU" sz="2400" b="1" baseline="30000">
                          <a:solidFill>
                            <a:srgbClr val="000000"/>
                          </a:solidFill>
                          <a:effectLst/>
                          <a:latin typeface="+mj-lt"/>
                          <a:ea typeface="Calibri" panose="020F0502020204030204" pitchFamily="34" charset="0"/>
                          <a:cs typeface="Arial" panose="020B0604020202020204" pitchFamily="34" charset="0"/>
                        </a:rPr>
                        <a:t>rd</a:t>
                      </a:r>
                      <a:r>
                        <a:rPr lang="en-AU" sz="2400" b="1">
                          <a:solidFill>
                            <a:srgbClr val="000000"/>
                          </a:solidFill>
                          <a:effectLst/>
                          <a:latin typeface="+mj-lt"/>
                          <a:ea typeface="Calibri" panose="020F0502020204030204" pitchFamily="34" charset="0"/>
                          <a:cs typeface="Arial" panose="020B0604020202020204" pitchFamily="34" charset="0"/>
                        </a:rPr>
                        <a:t> roll</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extLst>
                  <a:ext uri="{0D108BD9-81ED-4DB2-BD59-A6C34878D82A}">
                    <a16:rowId xmlns:a16="http://schemas.microsoft.com/office/drawing/2014/main" val="2514717737"/>
                  </a:ext>
                </a:extLst>
              </a:tr>
              <a:tr h="771535">
                <a:tc>
                  <a:txBody>
                    <a:bodyPr/>
                    <a:lstStyle/>
                    <a:p>
                      <a:pPr algn="ctr">
                        <a:lnSpc>
                          <a:spcPct val="150000"/>
                        </a:lnSpc>
                        <a:spcBef>
                          <a:spcPts val="1200"/>
                        </a:spcBef>
                        <a:spcAft>
                          <a:spcPts val="600"/>
                        </a:spcAft>
                        <a:buNone/>
                      </a:pPr>
                      <a:r>
                        <a:rPr lang="en-AU" sz="2400" b="1">
                          <a:effectLst/>
                          <a:latin typeface="+mj-lt"/>
                          <a:ea typeface="Calibri" panose="020F0502020204030204" pitchFamily="34" charset="0"/>
                          <a:cs typeface="Arial" panose="020B0604020202020204" pitchFamily="34" charset="0"/>
                        </a:rPr>
                        <a:t>4</a:t>
                      </a:r>
                      <a:r>
                        <a:rPr lang="en-AU" sz="2400" b="1" baseline="30000">
                          <a:effectLst/>
                          <a:latin typeface="+mj-lt"/>
                          <a:ea typeface="Calibri" panose="020F0502020204030204" pitchFamily="34" charset="0"/>
                          <a:cs typeface="Arial" panose="020B0604020202020204" pitchFamily="34" charset="0"/>
                        </a:rPr>
                        <a:t>th</a:t>
                      </a:r>
                      <a:r>
                        <a:rPr lang="en-AU" sz="2400" b="1">
                          <a:effectLst/>
                          <a:latin typeface="+mj-lt"/>
                          <a:ea typeface="Calibri" panose="020F0502020204030204" pitchFamily="34" charset="0"/>
                          <a:cs typeface="Arial" panose="020B0604020202020204" pitchFamily="34" charset="0"/>
                        </a:rPr>
                        <a:t> roll</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noFill/>
                  </a:tcPr>
                </a:tc>
                <a:extLst>
                  <a:ext uri="{0D108BD9-81ED-4DB2-BD59-A6C34878D82A}">
                    <a16:rowId xmlns:a16="http://schemas.microsoft.com/office/drawing/2014/main" val="11737116"/>
                  </a:ext>
                </a:extLst>
              </a:tr>
              <a:tr h="771535">
                <a:tc>
                  <a:txBody>
                    <a:bodyPr/>
                    <a:lstStyle/>
                    <a:p>
                      <a:pPr algn="ctr">
                        <a:lnSpc>
                          <a:spcPct val="150000"/>
                        </a:lnSpc>
                        <a:spcBef>
                          <a:spcPts val="1200"/>
                        </a:spcBef>
                        <a:spcAft>
                          <a:spcPts val="600"/>
                        </a:spcAft>
                        <a:buNone/>
                      </a:pPr>
                      <a:r>
                        <a:rPr lang="en-AU" sz="2400" b="1">
                          <a:solidFill>
                            <a:srgbClr val="000000"/>
                          </a:solidFill>
                          <a:effectLst/>
                          <a:latin typeface="+mj-lt"/>
                          <a:ea typeface="Calibri" panose="020F0502020204030204" pitchFamily="34" charset="0"/>
                          <a:cs typeface="Arial" panose="020B0604020202020204" pitchFamily="34" charset="0"/>
                        </a:rPr>
                        <a:t>5</a:t>
                      </a:r>
                      <a:r>
                        <a:rPr lang="en-AU" sz="2400" b="1" baseline="30000">
                          <a:solidFill>
                            <a:srgbClr val="000000"/>
                          </a:solidFill>
                          <a:effectLst/>
                          <a:latin typeface="+mj-lt"/>
                          <a:ea typeface="Calibri" panose="020F0502020204030204" pitchFamily="34" charset="0"/>
                          <a:cs typeface="Arial" panose="020B0604020202020204" pitchFamily="34" charset="0"/>
                        </a:rPr>
                        <a:t>th</a:t>
                      </a:r>
                      <a:r>
                        <a:rPr lang="en-AU" sz="2400" b="1">
                          <a:solidFill>
                            <a:srgbClr val="000000"/>
                          </a:solidFill>
                          <a:effectLst/>
                          <a:latin typeface="+mj-lt"/>
                          <a:ea typeface="Calibri" panose="020F0502020204030204" pitchFamily="34" charset="0"/>
                          <a:cs typeface="Arial" panose="020B0604020202020204" pitchFamily="34" charset="0"/>
                        </a:rPr>
                        <a:t> roll</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tc>
                  <a:txBody>
                    <a:bodyPr/>
                    <a:lstStyle/>
                    <a:p>
                      <a:pPr algn="ctr">
                        <a:lnSpc>
                          <a:spcPct val="150000"/>
                        </a:lnSpc>
                        <a:spcBef>
                          <a:spcPts val="1200"/>
                        </a:spcBef>
                        <a:spcAft>
                          <a:spcPts val="600"/>
                        </a:spcAft>
                        <a:buNone/>
                      </a:pPr>
                      <a:r>
                        <a:rPr lang="en-AU" sz="2400">
                          <a:effectLst/>
                          <a:latin typeface="+mj-lt"/>
                          <a:ea typeface="Calibri" panose="020F0502020204030204" pitchFamily="34" charset="0"/>
                          <a:cs typeface="Arial" panose="020B0604020202020204" pitchFamily="34" charset="0"/>
                        </a:rPr>
                        <a:t> </a:t>
                      </a:r>
                      <a:endParaRPr lang="en-AU" sz="1600">
                        <a:effectLst/>
                        <a:latin typeface="+mj-lt"/>
                        <a:ea typeface="Calibri" panose="020F0502020204030204" pitchFamily="34" charset="0"/>
                        <a:cs typeface="Arial" panose="020B0604020202020204" pitchFamily="34" charset="0"/>
                      </a:endParaRPr>
                    </a:p>
                  </a:txBody>
                  <a:tcPr marL="68580" marR="68580" marT="0" marB="0" anchor="ctr">
                    <a:lnL w="28575" cap="flat" cmpd="sng" algn="ctr">
                      <a:solidFill>
                        <a:schemeClr val="bg2">
                          <a:lumMod val="75000"/>
                        </a:schemeClr>
                      </a:solidFill>
                      <a:prstDash val="solid"/>
                      <a:round/>
                      <a:headEnd type="none" w="med" len="med"/>
                      <a:tailEnd type="none" w="med" len="med"/>
                    </a:lnL>
                    <a:lnR w="28575" cap="flat" cmpd="sng" algn="ctr">
                      <a:solidFill>
                        <a:schemeClr val="bg2">
                          <a:lumMod val="75000"/>
                        </a:schemeClr>
                      </a:solidFill>
                      <a:prstDash val="solid"/>
                      <a:round/>
                      <a:headEnd type="none" w="med" len="med"/>
                      <a:tailEnd type="none" w="med" len="med"/>
                    </a:lnR>
                    <a:lnT w="28575" cap="flat" cmpd="sng" algn="ctr">
                      <a:solidFill>
                        <a:schemeClr val="bg2">
                          <a:lumMod val="75000"/>
                        </a:schemeClr>
                      </a:solidFill>
                      <a:prstDash val="solid"/>
                      <a:round/>
                      <a:headEnd type="none" w="med" len="med"/>
                      <a:tailEnd type="none" w="med" len="med"/>
                    </a:lnT>
                    <a:lnB w="28575" cap="flat" cmpd="sng" algn="ctr">
                      <a:solidFill>
                        <a:schemeClr val="bg2">
                          <a:lumMod val="75000"/>
                        </a:schemeClr>
                      </a:solidFill>
                      <a:prstDash val="solid"/>
                      <a:round/>
                      <a:headEnd type="none" w="med" len="med"/>
                      <a:tailEnd type="none" w="med" len="med"/>
                    </a:lnB>
                    <a:solidFill>
                      <a:srgbClr val="EBEBEB"/>
                    </a:solidFill>
                  </a:tcPr>
                </a:tc>
                <a:extLst>
                  <a:ext uri="{0D108BD9-81ED-4DB2-BD59-A6C34878D82A}">
                    <a16:rowId xmlns:a16="http://schemas.microsoft.com/office/drawing/2014/main" val="1371133408"/>
                  </a:ext>
                </a:extLst>
              </a:tr>
            </a:tbl>
          </a:graphicData>
        </a:graphic>
      </p:graphicFrame>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438890" y="1070412"/>
            <a:ext cx="11243037" cy="893226"/>
          </a:xfrm>
        </p:spPr>
        <p:txBody>
          <a:bodyPr/>
          <a:lstStyle/>
          <a:p>
            <a:pPr algn="ctr"/>
            <a:r>
              <a:rPr lang="en-AU" sz="3600"/>
              <a:t>The number is 56. The number shown in the place value house is </a:t>
            </a:r>
            <a:r>
              <a:rPr lang="en-AU" sz="3600" b="1"/>
              <a:t>100</a:t>
            </a:r>
            <a:r>
              <a:rPr lang="en-AU" sz="3600"/>
              <a:t> </a:t>
            </a:r>
            <a:r>
              <a:rPr lang="en-AU" sz="3600" b="1"/>
              <a:t>times</a:t>
            </a:r>
            <a:r>
              <a:rPr lang="en-AU" sz="3600"/>
              <a:t> </a:t>
            </a:r>
            <a:r>
              <a:rPr lang="en-AU" sz="3600" b="1"/>
              <a:t>larger</a:t>
            </a:r>
            <a:r>
              <a:rPr lang="en-AU" sz="3600"/>
              <a:t> than 56.</a:t>
            </a:r>
          </a:p>
        </p:txBody>
      </p:sp>
      <p:pic>
        <p:nvPicPr>
          <p:cNvPr id="8" name="Picture 7" descr="A place value chart shaped like two connected “houses” . The left house is labelled Thousands and has three columns labelled H, T, O (hundreds of thousands, tens of thousands, ones (thousands) within the thousands period). The right house also has three columns labelled H, T, O indicating hundreds, tens and ones. &#10;&#10;In the number row, the digits are placed. In the left house, 5 is placed in the O column. In the right house 6 in the H column, 0 in the T column and 0 in the O column, forming the number 5600.">
            <a:extLst>
              <a:ext uri="{FF2B5EF4-FFF2-40B4-BE49-F238E27FC236}">
                <a16:creationId xmlns:a16="http://schemas.microsoft.com/office/drawing/2014/main" id="{AA76F2C2-3895-853F-5A68-830F2B437261}"/>
              </a:ext>
            </a:extLst>
          </p:cNvPr>
          <p:cNvPicPr>
            <a:picLocks noChangeAspect="1"/>
          </p:cNvPicPr>
          <p:nvPr/>
        </p:nvPicPr>
        <p:blipFill>
          <a:blip r:embed="rId4"/>
          <a:stretch>
            <a:fillRect/>
          </a:stretch>
        </p:blipFill>
        <p:spPr>
          <a:xfrm>
            <a:off x="2422072" y="2990747"/>
            <a:ext cx="6826404" cy="2699749"/>
          </a:xfrm>
          <a:prstGeom prst="rect">
            <a:avLst/>
          </a:prstGeom>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19947470"/>
              </p:ext>
            </p:extLst>
          </p:nvPr>
        </p:nvGraphicFramePr>
        <p:xfrm>
          <a:off x="2422072" y="586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4DA01719-D946-F65D-5FDA-52DE076EC1C9}"/>
              </a:ext>
            </a:extLst>
          </p:cNvPr>
          <p:cNvSpPr txBox="1">
            <a:spLocks/>
          </p:cNvSpPr>
          <p:nvPr/>
        </p:nvSpPr>
        <p:spPr>
          <a:xfrm>
            <a:off x="474481" y="1112357"/>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Which equation is </a:t>
            </a:r>
            <a:r>
              <a:rPr lang="en-AU" sz="3600" b="1" i="1" u="sng"/>
              <a:t>not</a:t>
            </a:r>
            <a:r>
              <a:rPr lang="en-AU" sz="3600"/>
              <a:t> in the fact family for: </a:t>
            </a:r>
          </a:p>
        </p:txBody>
      </p:sp>
      <p:sp>
        <p:nvSpPr>
          <p:cNvPr id="7" name="Rectangle: Rounded Corners 6">
            <a:extLst>
              <a:ext uri="{FF2B5EF4-FFF2-40B4-BE49-F238E27FC236}">
                <a16:creationId xmlns:a16="http://schemas.microsoft.com/office/drawing/2014/main" id="{130852DD-9A30-3AA6-4E3F-6B60F3ECBF98}"/>
              </a:ext>
            </a:extLst>
          </p:cNvPr>
          <p:cNvSpPr/>
          <p:nvPr/>
        </p:nvSpPr>
        <p:spPr>
          <a:xfrm>
            <a:off x="5306234" y="2501645"/>
            <a:ext cx="1361416" cy="1143000"/>
          </a:xfrm>
          <a:prstGeom prst="roundRect">
            <a:avLst/>
          </a:prstGeom>
          <a:solidFill>
            <a:schemeClr val="accent4"/>
          </a:solid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800" b="1">
                <a:solidFill>
                  <a:schemeClr val="accent1"/>
                </a:solidFill>
              </a:rPr>
              <a:t>32</a:t>
            </a:r>
          </a:p>
        </p:txBody>
      </p:sp>
      <p:sp>
        <p:nvSpPr>
          <p:cNvPr id="8" name="Rectangle: Rounded Corners 7">
            <a:extLst>
              <a:ext uri="{FF2B5EF4-FFF2-40B4-BE49-F238E27FC236}">
                <a16:creationId xmlns:a16="http://schemas.microsoft.com/office/drawing/2014/main" id="{D1DC771C-67B0-2566-1579-1DBE6FC3B9C6}"/>
              </a:ext>
            </a:extLst>
          </p:cNvPr>
          <p:cNvSpPr/>
          <p:nvPr/>
        </p:nvSpPr>
        <p:spPr>
          <a:xfrm>
            <a:off x="1853966" y="3872323"/>
            <a:ext cx="1661021" cy="1143000"/>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32 </a:t>
            </a:r>
            <a:r>
              <a:rPr lang="en-AU" sz="3200" b="1">
                <a:solidFill>
                  <a:schemeClr val="accent1"/>
                </a:solidFill>
                <a:latin typeface="Cambria Math" panose="02040503050406030204" pitchFamily="18" charset="0"/>
                <a:ea typeface="Cambria Math" panose="02040503050406030204" pitchFamily="18" charset="0"/>
              </a:rPr>
              <a:t>÷ </a:t>
            </a:r>
            <a:r>
              <a:rPr lang="en-AU" sz="3200" b="1">
                <a:solidFill>
                  <a:schemeClr val="accent1"/>
                </a:solidFill>
                <a:latin typeface="+mj-lt"/>
                <a:ea typeface="Cambria Math" panose="02040503050406030204" pitchFamily="18" charset="0"/>
              </a:rPr>
              <a:t>8</a:t>
            </a:r>
            <a:endParaRPr lang="en-AU" sz="4800" b="1">
              <a:solidFill>
                <a:schemeClr val="accent1"/>
              </a:solidFill>
            </a:endParaRPr>
          </a:p>
        </p:txBody>
      </p:sp>
      <p:sp>
        <p:nvSpPr>
          <p:cNvPr id="9" name="Rectangle: Rounded Corners 8">
            <a:extLst>
              <a:ext uri="{FF2B5EF4-FFF2-40B4-BE49-F238E27FC236}">
                <a16:creationId xmlns:a16="http://schemas.microsoft.com/office/drawing/2014/main" id="{D1844539-F4A4-6C69-012F-A7E4122E25D1}"/>
              </a:ext>
            </a:extLst>
          </p:cNvPr>
          <p:cNvSpPr/>
          <p:nvPr/>
        </p:nvSpPr>
        <p:spPr>
          <a:xfrm>
            <a:off x="4179114" y="3872323"/>
            <a:ext cx="1661021" cy="1143000"/>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32 </a:t>
            </a:r>
            <a:r>
              <a:rPr lang="en-AU" sz="3200" b="1">
                <a:solidFill>
                  <a:schemeClr val="accent1"/>
                </a:solidFill>
                <a:latin typeface="Cambria Math" panose="02040503050406030204" pitchFamily="18" charset="0"/>
                <a:ea typeface="Cambria Math" panose="02040503050406030204" pitchFamily="18" charset="0"/>
              </a:rPr>
              <a:t>÷ </a:t>
            </a:r>
            <a:r>
              <a:rPr lang="en-AU" sz="3200" b="1">
                <a:solidFill>
                  <a:schemeClr val="accent1"/>
                </a:solidFill>
                <a:latin typeface="+mj-lt"/>
                <a:ea typeface="Cambria Math" panose="02040503050406030204" pitchFamily="18" charset="0"/>
              </a:rPr>
              <a:t>7</a:t>
            </a:r>
            <a:endParaRPr lang="en-AU" sz="4800" b="1">
              <a:solidFill>
                <a:schemeClr val="accent1"/>
              </a:solidFill>
            </a:endParaRPr>
          </a:p>
        </p:txBody>
      </p:sp>
      <p:sp>
        <p:nvSpPr>
          <p:cNvPr id="10" name="Rectangle: Rounded Corners 9">
            <a:extLst>
              <a:ext uri="{FF2B5EF4-FFF2-40B4-BE49-F238E27FC236}">
                <a16:creationId xmlns:a16="http://schemas.microsoft.com/office/drawing/2014/main" id="{2CB65B03-AC8E-D59B-9039-A70ABFCD62C9}"/>
              </a:ext>
            </a:extLst>
          </p:cNvPr>
          <p:cNvSpPr/>
          <p:nvPr/>
        </p:nvSpPr>
        <p:spPr>
          <a:xfrm>
            <a:off x="6504262" y="3872323"/>
            <a:ext cx="1661021" cy="1143000"/>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32 </a:t>
            </a:r>
            <a:r>
              <a:rPr lang="en-AU" sz="3200" b="1">
                <a:solidFill>
                  <a:schemeClr val="accent1"/>
                </a:solidFill>
                <a:latin typeface="Cambria Math" panose="02040503050406030204" pitchFamily="18" charset="0"/>
                <a:ea typeface="Cambria Math" panose="02040503050406030204" pitchFamily="18" charset="0"/>
              </a:rPr>
              <a:t>÷ </a:t>
            </a:r>
            <a:r>
              <a:rPr lang="en-AU" sz="3200" b="1">
                <a:solidFill>
                  <a:schemeClr val="accent1"/>
                </a:solidFill>
                <a:latin typeface="+mj-lt"/>
                <a:ea typeface="Cambria Math" panose="02040503050406030204" pitchFamily="18" charset="0"/>
              </a:rPr>
              <a:t>4</a:t>
            </a:r>
            <a:endParaRPr lang="en-AU" sz="4800" b="1">
              <a:solidFill>
                <a:schemeClr val="accent1"/>
              </a:solidFill>
            </a:endParaRPr>
          </a:p>
        </p:txBody>
      </p:sp>
      <p:sp>
        <p:nvSpPr>
          <p:cNvPr id="11" name="Rectangle: Rounded Corners 10">
            <a:extLst>
              <a:ext uri="{FF2B5EF4-FFF2-40B4-BE49-F238E27FC236}">
                <a16:creationId xmlns:a16="http://schemas.microsoft.com/office/drawing/2014/main" id="{B5C33986-D249-DA79-45EF-0AA9AF604C9E}"/>
              </a:ext>
            </a:extLst>
          </p:cNvPr>
          <p:cNvSpPr/>
          <p:nvPr/>
        </p:nvSpPr>
        <p:spPr>
          <a:xfrm>
            <a:off x="8829410" y="3872323"/>
            <a:ext cx="1661021" cy="1143000"/>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32 </a:t>
            </a:r>
            <a:r>
              <a:rPr lang="en-AU" sz="3200" b="1">
                <a:solidFill>
                  <a:schemeClr val="accent1"/>
                </a:solidFill>
                <a:latin typeface="Cambria Math" panose="02040503050406030204" pitchFamily="18" charset="0"/>
                <a:ea typeface="Cambria Math" panose="02040503050406030204" pitchFamily="18" charset="0"/>
              </a:rPr>
              <a:t>÷ </a:t>
            </a:r>
            <a:r>
              <a:rPr lang="en-AU" sz="3200" b="1">
                <a:solidFill>
                  <a:schemeClr val="accent1"/>
                </a:solidFill>
                <a:latin typeface="+mj-lt"/>
                <a:ea typeface="Cambria Math" panose="02040503050406030204" pitchFamily="18" charset="0"/>
              </a:rPr>
              <a:t>2</a:t>
            </a:r>
            <a:endParaRPr lang="en-AU" sz="4800" b="1">
              <a:solidFill>
                <a:schemeClr val="accent1"/>
              </a:solidFill>
            </a:endParaRPr>
          </a:p>
        </p:txBody>
      </p:sp>
      <p:sp>
        <p:nvSpPr>
          <p:cNvPr id="5" name="Text Placeholder 5">
            <a:extLst>
              <a:ext uri="{FF2B5EF4-FFF2-40B4-BE49-F238E27FC236}">
                <a16:creationId xmlns:a16="http://schemas.microsoft.com/office/drawing/2014/main" id="{6AED70B7-A131-F42F-3932-8B595F0FEB7B}"/>
              </a:ext>
            </a:extLst>
          </p:cNvPr>
          <p:cNvSpPr txBox="1">
            <a:spLocks/>
          </p:cNvSpPr>
          <p:nvPr/>
        </p:nvSpPr>
        <p:spPr>
          <a:xfrm>
            <a:off x="474481" y="5511386"/>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 </a:t>
            </a:r>
            <a:r>
              <a:rPr lang="en-AU" sz="3600"/>
              <a:t>your</a:t>
            </a:r>
            <a:r>
              <a:rPr lang="en-AU" sz="3600" b="1"/>
              <a:t> reasoning</a:t>
            </a:r>
            <a:endParaRPr lang="en-AU" sz="3600"/>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D603602C-65FA-196D-795C-31B2280A73CB}"/>
              </a:ext>
            </a:extLst>
          </p:cNvPr>
          <p:cNvSpPr txBox="1">
            <a:spLocks/>
          </p:cNvSpPr>
          <p:nvPr/>
        </p:nvSpPr>
        <p:spPr>
          <a:xfrm>
            <a:off x="246024" y="1008674"/>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en-AU" sz="3200"/>
              <a:t>Use the </a:t>
            </a:r>
            <a:r>
              <a:rPr lang="en-AU" sz="3200" b="1"/>
              <a:t>place value </a:t>
            </a:r>
            <a:r>
              <a:rPr lang="en-AU" sz="3200"/>
              <a:t>house to </a:t>
            </a:r>
            <a:r>
              <a:rPr lang="en-AU" sz="3200" b="1"/>
              <a:t>record</a:t>
            </a:r>
            <a:r>
              <a:rPr lang="en-AU" sz="3200"/>
              <a:t>:</a:t>
            </a:r>
          </a:p>
          <a:p>
            <a:pPr marL="571500" indent="-571500">
              <a:lnSpc>
                <a:spcPct val="200000"/>
              </a:lnSpc>
              <a:buFont typeface="Arial" panose="020B0604020202020204" pitchFamily="34" charset="0"/>
              <a:buChar char="•"/>
            </a:pPr>
            <a:r>
              <a:rPr lang="en-AU" sz="3200"/>
              <a:t>6 </a:t>
            </a:r>
            <a:r>
              <a:rPr lang="en-AU" sz="3200" b="1"/>
              <a:t>wholes</a:t>
            </a:r>
            <a:r>
              <a:rPr lang="en-AU" sz="3200"/>
              <a:t> as a decimal</a:t>
            </a:r>
          </a:p>
          <a:p>
            <a:pPr marL="571500" indent="-571500">
              <a:lnSpc>
                <a:spcPct val="200000"/>
              </a:lnSpc>
              <a:buFont typeface="Arial" panose="020B0604020202020204" pitchFamily="34" charset="0"/>
              <a:buChar char="•"/>
            </a:pPr>
            <a:r>
              <a:rPr lang="en-AU" sz="3200"/>
              <a:t>6-</a:t>
            </a:r>
            <a:r>
              <a:rPr lang="en-AU" sz="3200" b="1"/>
              <a:t>tenths</a:t>
            </a:r>
            <a:r>
              <a:rPr lang="en-AU" sz="3200"/>
              <a:t> as a decimal</a:t>
            </a:r>
          </a:p>
          <a:p>
            <a:pPr marL="571500" indent="-571500">
              <a:lnSpc>
                <a:spcPct val="200000"/>
              </a:lnSpc>
              <a:buFont typeface="Arial" panose="020B0604020202020204" pitchFamily="34" charset="0"/>
              <a:buChar char="•"/>
            </a:pPr>
            <a:r>
              <a:rPr lang="en-AU" sz="3200"/>
              <a:t>6-</a:t>
            </a:r>
            <a:r>
              <a:rPr lang="en-AU" sz="3200" b="1"/>
              <a:t>hundredths</a:t>
            </a:r>
            <a:r>
              <a:rPr lang="en-AU" sz="3200"/>
              <a:t> as a decimal</a:t>
            </a:r>
          </a:p>
          <a:p>
            <a:pPr algn="ctr"/>
            <a:r>
              <a:rPr lang="en-AU" sz="3200"/>
              <a:t>Is the </a:t>
            </a:r>
            <a:r>
              <a:rPr lang="en-AU" sz="3200" b="1"/>
              <a:t>decimal point </a:t>
            </a:r>
            <a:r>
              <a:rPr lang="en-AU" sz="3200"/>
              <a:t>and </a:t>
            </a:r>
            <a:r>
              <a:rPr lang="en-AU" sz="3200" b="1"/>
              <a:t>zero</a:t>
            </a:r>
            <a:r>
              <a:rPr lang="en-AU" sz="3200"/>
              <a:t> necessary? Why/why not?</a:t>
            </a:r>
          </a:p>
          <a:p>
            <a:pPr algn="ctr"/>
            <a:endParaRPr lang="en-AU" sz="3600"/>
          </a:p>
          <a:p>
            <a:pPr algn="ctr"/>
            <a:endParaRPr lang="en-AU" sz="3600"/>
          </a:p>
        </p:txBody>
      </p:sp>
      <p:grpSp>
        <p:nvGrpSpPr>
          <p:cNvPr id="5" name="Group 2" descr="An image of a place value house: 5 columns labelled hundreds, tens, ones, tenths, hundredths.">
            <a:extLst>
              <a:ext uri="{FF2B5EF4-FFF2-40B4-BE49-F238E27FC236}">
                <a16:creationId xmlns:a16="http://schemas.microsoft.com/office/drawing/2014/main" id="{C2BE4D1A-4822-8840-313C-5814C367A56D}"/>
              </a:ext>
            </a:extLst>
          </p:cNvPr>
          <p:cNvGrpSpPr>
            <a:grpSpLocks noChangeAspect="1"/>
          </p:cNvGrpSpPr>
          <p:nvPr/>
        </p:nvGrpSpPr>
        <p:grpSpPr>
          <a:xfrm>
            <a:off x="6365976" y="2414014"/>
            <a:ext cx="5580000" cy="2406346"/>
            <a:chOff x="0" y="0"/>
            <a:chExt cx="5014559" cy="2162490"/>
          </a:xfrm>
        </p:grpSpPr>
        <p:sp>
          <p:nvSpPr>
            <p:cNvPr id="7" name="Freeform 3">
              <a:extLst>
                <a:ext uri="{FF2B5EF4-FFF2-40B4-BE49-F238E27FC236}">
                  <a16:creationId xmlns:a16="http://schemas.microsoft.com/office/drawing/2014/main" id="{68CDB7BA-C42A-ADDE-6476-3AAED2B40547}"/>
                </a:ext>
              </a:extLst>
            </p:cNvPr>
            <p:cNvSpPr/>
            <p:nvPr/>
          </p:nvSpPr>
          <p:spPr>
            <a:xfrm>
              <a:off x="0" y="0"/>
              <a:ext cx="5014559" cy="2162490"/>
            </a:xfrm>
            <a:custGeom>
              <a:avLst/>
              <a:gdLst/>
              <a:ahLst/>
              <a:cxnLst/>
              <a:rect l="l" t="t" r="r" b="b"/>
              <a:pathLst>
                <a:path w="5014559" h="2162490">
                  <a:moveTo>
                    <a:pt x="0" y="0"/>
                  </a:moveTo>
                  <a:lnTo>
                    <a:pt x="5014559" y="0"/>
                  </a:lnTo>
                  <a:lnTo>
                    <a:pt x="5014559" y="2162490"/>
                  </a:lnTo>
                  <a:lnTo>
                    <a:pt x="0" y="2162490"/>
                  </a:lnTo>
                  <a:lnTo>
                    <a:pt x="0" y="0"/>
                  </a:lnTo>
                  <a:close/>
                </a:path>
              </a:pathLst>
            </a:custGeom>
            <a:blipFill>
              <a:blip r:embed="rId4"/>
              <a:stretch>
                <a:fillRect/>
              </a:stretch>
            </a:blipFill>
            <a:effectLst>
              <a:outerShdw blurRad="63500" sx="102000" sy="102000" algn="ctr" rotWithShape="0">
                <a:prstClr val="black">
                  <a:alpha val="40000"/>
                </a:prstClr>
              </a:outerShdw>
            </a:effectLst>
          </p:spPr>
          <p:txBody>
            <a:bodyPr/>
            <a:lstStyle/>
            <a:p>
              <a:endParaRPr lang="en-AU"/>
            </a:p>
          </p:txBody>
        </p:sp>
        <p:sp>
          <p:nvSpPr>
            <p:cNvPr id="8" name="TextBox 4">
              <a:extLst>
                <a:ext uri="{FF2B5EF4-FFF2-40B4-BE49-F238E27FC236}">
                  <a16:creationId xmlns:a16="http://schemas.microsoft.com/office/drawing/2014/main" id="{E249156B-FF58-0897-30EE-A8DFACB247A4}"/>
                </a:ext>
              </a:extLst>
            </p:cNvPr>
            <p:cNvSpPr txBox="1"/>
            <p:nvPr/>
          </p:nvSpPr>
          <p:spPr>
            <a:xfrm>
              <a:off x="3170982" y="1679730"/>
              <a:ext cx="199324" cy="423634"/>
            </a:xfrm>
            <a:prstGeom prst="rect">
              <a:avLst/>
            </a:prstGeom>
          </p:spPr>
          <p:txBody>
            <a:bodyPr lIns="0" tIns="0" rIns="0" bIns="0" rtlCol="0" anchor="t">
              <a:spAutoFit/>
            </a:bodyPr>
            <a:lstStyle/>
            <a:p>
              <a:pPr algn="ctr">
                <a:lnSpc>
                  <a:spcPts val="2713"/>
                </a:lnSpc>
                <a:spcBef>
                  <a:spcPct val="0"/>
                </a:spcBef>
              </a:pPr>
              <a:endParaRPr/>
            </a:p>
          </p:txBody>
        </p:sp>
        <p:sp>
          <p:nvSpPr>
            <p:cNvPr id="9" name="TextBox 5">
              <a:extLst>
                <a:ext uri="{FF2B5EF4-FFF2-40B4-BE49-F238E27FC236}">
                  <a16:creationId xmlns:a16="http://schemas.microsoft.com/office/drawing/2014/main" id="{B14FBB21-116D-04F9-FBA1-C7A05A3C0DE4}"/>
                </a:ext>
              </a:extLst>
            </p:cNvPr>
            <p:cNvSpPr txBox="1"/>
            <p:nvPr/>
          </p:nvSpPr>
          <p:spPr>
            <a:xfrm>
              <a:off x="2158394" y="1679730"/>
              <a:ext cx="191793" cy="423634"/>
            </a:xfrm>
            <a:prstGeom prst="rect">
              <a:avLst/>
            </a:prstGeom>
          </p:spPr>
          <p:txBody>
            <a:bodyPr lIns="0" tIns="0" rIns="0" bIns="0" rtlCol="0" anchor="t">
              <a:spAutoFit/>
            </a:bodyPr>
            <a:lstStyle/>
            <a:p>
              <a:pPr algn="ctr">
                <a:lnSpc>
                  <a:spcPts val="2713"/>
                </a:lnSpc>
                <a:spcBef>
                  <a:spcPct val="0"/>
                </a:spcBef>
              </a:pPr>
              <a:endParaRPr/>
            </a:p>
          </p:txBody>
        </p:sp>
        <p:sp>
          <p:nvSpPr>
            <p:cNvPr id="10" name="TextBox 6">
              <a:extLst>
                <a:ext uri="{FF2B5EF4-FFF2-40B4-BE49-F238E27FC236}">
                  <a16:creationId xmlns:a16="http://schemas.microsoft.com/office/drawing/2014/main" id="{66B800FE-CF9D-D56D-92DE-8B4CA47F8BB1}"/>
                </a:ext>
              </a:extLst>
            </p:cNvPr>
            <p:cNvSpPr txBox="1"/>
            <p:nvPr/>
          </p:nvSpPr>
          <p:spPr>
            <a:xfrm>
              <a:off x="4344037" y="1679730"/>
              <a:ext cx="199324" cy="423634"/>
            </a:xfrm>
            <a:prstGeom prst="rect">
              <a:avLst/>
            </a:prstGeom>
          </p:spPr>
          <p:txBody>
            <a:bodyPr lIns="0" tIns="0" rIns="0" bIns="0" rtlCol="0" anchor="t">
              <a:spAutoFit/>
            </a:bodyPr>
            <a:lstStyle/>
            <a:p>
              <a:pPr algn="ctr">
                <a:lnSpc>
                  <a:spcPts val="2713"/>
                </a:lnSpc>
                <a:spcBef>
                  <a:spcPct val="0"/>
                </a:spcBef>
              </a:pPr>
              <a:endParaRPr/>
            </a:p>
          </p:txBody>
        </p:sp>
      </p:gr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0D446B8-ABB7-B7E1-9C0B-8F46AE0FDAB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2456330" y="1940945"/>
            <a:ext cx="7003058" cy="4755055"/>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85DE978-5412-9FB6-6D7F-BC36049C06A1}"/>
              </a:ext>
            </a:extLst>
          </p:cNvPr>
          <p:cNvSpPr txBox="1"/>
          <p:nvPr/>
        </p:nvSpPr>
        <p:spPr>
          <a:xfrm>
            <a:off x="2004026" y="655207"/>
            <a:ext cx="10187974" cy="982513"/>
          </a:xfrm>
          <a:prstGeom prst="rect">
            <a:avLst/>
          </a:prstGeom>
          <a:noFill/>
        </p:spPr>
        <p:txBody>
          <a:bodyPr wrap="square">
            <a:spAutoFit/>
          </a:bodyPr>
          <a:lstStyle/>
          <a:p>
            <a:pPr>
              <a:lnSpc>
                <a:spcPct val="150000"/>
              </a:lnSpc>
              <a:spcAft>
                <a:spcPts val="2400"/>
              </a:spcAft>
            </a:pPr>
            <a:r>
              <a:rPr lang="en-AU" sz="4400"/>
              <a:t>What is missing from this graph? </a:t>
            </a:r>
            <a:endParaRPr lang="en-AU" sz="4400" b="1"/>
          </a:p>
        </p:txBody>
      </p:sp>
      <p:graphicFrame>
        <p:nvGraphicFramePr>
          <p:cNvPr id="8" name="Chart 7" descr="A column graph with the vertical axis scale ranging from 0 to 60 and the horizontal axis labelled with the animals koala, echidna, bandicoot, wombat, freshwater turtle.">
            <a:extLst>
              <a:ext uri="{FF2B5EF4-FFF2-40B4-BE49-F238E27FC236}">
                <a16:creationId xmlns:a16="http://schemas.microsoft.com/office/drawing/2014/main" id="{C3FEB380-0884-1AB0-A643-4AAFB11B39A1}"/>
              </a:ext>
            </a:extLst>
          </p:cNvPr>
          <p:cNvGraphicFramePr>
            <a:graphicFrameLocks noGrp="1" noDrilldown="1" noMove="1" noResize="1"/>
          </p:cNvGraphicFramePr>
          <p:nvPr>
            <p:extLst>
              <p:ext uri="{D42A27DB-BD31-4B8C-83A1-F6EECF244321}">
                <p14:modId xmlns:p14="http://schemas.microsoft.com/office/powerpoint/2010/main" val="4254214498"/>
              </p:ext>
            </p:extLst>
          </p:nvPr>
        </p:nvGraphicFramePr>
        <p:xfrm>
          <a:off x="2671482" y="2439100"/>
          <a:ext cx="6572753" cy="4055004"/>
        </p:xfrm>
        <a:graphic>
          <a:graphicData uri="http://schemas.openxmlformats.org/drawingml/2006/chart">
            <c:chart xmlns:c="http://schemas.openxmlformats.org/drawingml/2006/chart" xmlns:r="http://schemas.openxmlformats.org/officeDocument/2006/relationships" r:id="rId4"/>
          </a:graphicData>
        </a:graphic>
      </p:graphicFrame>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76FADF8-DA21-FC00-2E2E-89B82F94DA2E}"/>
              </a:ext>
            </a:extLst>
          </p:cNvPr>
          <p:cNvSpPr txBox="1"/>
          <p:nvPr/>
        </p:nvSpPr>
        <p:spPr>
          <a:xfrm>
            <a:off x="246024" y="1184223"/>
            <a:ext cx="11484000" cy="3206199"/>
          </a:xfrm>
          <a:prstGeom prst="rect">
            <a:avLst/>
          </a:prstGeom>
          <a:noFill/>
        </p:spPr>
        <p:txBody>
          <a:bodyPr wrap="square">
            <a:spAutoFit/>
          </a:bodyPr>
          <a:lstStyle/>
          <a:p>
            <a:pPr algn="ctr"/>
            <a:endParaRPr lang="en-AU" sz="4000"/>
          </a:p>
          <a:p>
            <a:pPr algn="ctr">
              <a:lnSpc>
                <a:spcPct val="200000"/>
              </a:lnSpc>
            </a:pPr>
            <a:r>
              <a:rPr lang="en-AU" sz="4400" b="1"/>
              <a:t>Explain</a:t>
            </a:r>
            <a:r>
              <a:rPr lang="en-AU" sz="4400"/>
              <a:t> the term</a:t>
            </a:r>
            <a:r>
              <a:rPr lang="en-AU" sz="4400" b="1"/>
              <a:t> </a:t>
            </a:r>
            <a:r>
              <a:rPr lang="en-AU" sz="4400" b="1" i="1"/>
              <a:t>equally likely</a:t>
            </a:r>
            <a:r>
              <a:rPr lang="en-AU" sz="4400" b="1"/>
              <a:t> </a:t>
            </a:r>
          </a:p>
          <a:p>
            <a:pPr algn="ctr">
              <a:lnSpc>
                <a:spcPct val="200000"/>
              </a:lnSpc>
            </a:pPr>
            <a:r>
              <a:rPr lang="en-AU" sz="4400"/>
              <a:t>and give an example?</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changing place value</a:t>
            </a:r>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descr="Place value houses with thousands, hundred, tens and ones">
            <a:extLst>
              <a:ext uri="{FF2B5EF4-FFF2-40B4-BE49-F238E27FC236}">
                <a16:creationId xmlns:a16="http://schemas.microsoft.com/office/drawing/2014/main" id="{3331351E-BC58-8869-BE6B-235B5786C217}"/>
              </a:ext>
            </a:extLst>
          </p:cNvPr>
          <p:cNvGraphicFramePr>
            <a:graphicFrameLocks noGrp="1"/>
          </p:cNvGraphicFramePr>
          <p:nvPr>
            <p:extLst>
              <p:ext uri="{D42A27DB-BD31-4B8C-83A1-F6EECF244321}">
                <p14:modId xmlns:p14="http://schemas.microsoft.com/office/powerpoint/2010/main" val="1558507813"/>
              </p:ext>
            </p:extLst>
          </p:nvPr>
        </p:nvGraphicFramePr>
        <p:xfrm>
          <a:off x="1058779" y="2241705"/>
          <a:ext cx="5037222" cy="3629708"/>
        </p:xfrm>
        <a:graphic>
          <a:graphicData uri="http://schemas.openxmlformats.org/drawingml/2006/table">
            <a:tbl>
              <a:tblPr firstRow="1" bandRow="1">
                <a:tableStyleId>{5C22544A-7EE6-4342-B048-85BDC9FD1C3A}</a:tableStyleId>
              </a:tblPr>
              <a:tblGrid>
                <a:gridCol w="1679074">
                  <a:extLst>
                    <a:ext uri="{9D8B030D-6E8A-4147-A177-3AD203B41FA5}">
                      <a16:colId xmlns:a16="http://schemas.microsoft.com/office/drawing/2014/main" val="52279464"/>
                    </a:ext>
                  </a:extLst>
                </a:gridCol>
                <a:gridCol w="1679074">
                  <a:extLst>
                    <a:ext uri="{9D8B030D-6E8A-4147-A177-3AD203B41FA5}">
                      <a16:colId xmlns:a16="http://schemas.microsoft.com/office/drawing/2014/main" val="1701214700"/>
                    </a:ext>
                  </a:extLst>
                </a:gridCol>
                <a:gridCol w="1679074">
                  <a:extLst>
                    <a:ext uri="{9D8B030D-6E8A-4147-A177-3AD203B41FA5}">
                      <a16:colId xmlns:a16="http://schemas.microsoft.com/office/drawing/2014/main" val="100369785"/>
                    </a:ext>
                  </a:extLst>
                </a:gridCol>
              </a:tblGrid>
              <a:tr h="907427">
                <a:tc gridSpan="3">
                  <a:txBody>
                    <a:bodyPr/>
                    <a:lstStyle/>
                    <a:p>
                      <a:pPr algn="ctr"/>
                      <a:r>
                        <a:rPr lang="en-AU" sz="3200" b="0">
                          <a:solidFill>
                            <a:schemeClr val="tx1"/>
                          </a:solidFill>
                          <a:latin typeface="Edu NSW ACT Foundation" pitchFamily="2" charset="0"/>
                        </a:rPr>
                        <a:t>Thousands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629271"/>
                  </a:ext>
                </a:extLst>
              </a:tr>
              <a:tr h="907427">
                <a:tc>
                  <a:txBody>
                    <a:bodyPr/>
                    <a:lstStyle/>
                    <a:p>
                      <a:pPr algn="ctr"/>
                      <a:r>
                        <a:rPr lang="en-AU" sz="2800">
                          <a:latin typeface="Edu NSW ACT Foundation" pitchFamily="2" charset="0"/>
                        </a:rPr>
                        <a:t>H</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90742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90742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graphicFrame>
        <p:nvGraphicFramePr>
          <p:cNvPr id="3" name="Table 4" descr="Place value houses with thousands, hundred, tens and ones">
            <a:extLst>
              <a:ext uri="{FF2B5EF4-FFF2-40B4-BE49-F238E27FC236}">
                <a16:creationId xmlns:a16="http://schemas.microsoft.com/office/drawing/2014/main" id="{089750A1-C2E4-D835-DA51-C93BCBADB7B9}"/>
              </a:ext>
            </a:extLst>
          </p:cNvPr>
          <p:cNvGraphicFramePr>
            <a:graphicFrameLocks noGrp="1"/>
          </p:cNvGraphicFramePr>
          <p:nvPr>
            <p:extLst>
              <p:ext uri="{D42A27DB-BD31-4B8C-83A1-F6EECF244321}">
                <p14:modId xmlns:p14="http://schemas.microsoft.com/office/powerpoint/2010/main" val="3828789183"/>
              </p:ext>
            </p:extLst>
          </p:nvPr>
        </p:nvGraphicFramePr>
        <p:xfrm>
          <a:off x="6108003" y="2241705"/>
          <a:ext cx="5051586" cy="3629708"/>
        </p:xfrm>
        <a:graphic>
          <a:graphicData uri="http://schemas.openxmlformats.org/drawingml/2006/table">
            <a:tbl>
              <a:tblPr firstRow="1" bandRow="1">
                <a:tableStyleId>{5C22544A-7EE6-4342-B048-85BDC9FD1C3A}</a:tableStyleId>
              </a:tblPr>
              <a:tblGrid>
                <a:gridCol w="1683862">
                  <a:extLst>
                    <a:ext uri="{9D8B030D-6E8A-4147-A177-3AD203B41FA5}">
                      <a16:colId xmlns:a16="http://schemas.microsoft.com/office/drawing/2014/main" val="52279464"/>
                    </a:ext>
                  </a:extLst>
                </a:gridCol>
                <a:gridCol w="1683862">
                  <a:extLst>
                    <a:ext uri="{9D8B030D-6E8A-4147-A177-3AD203B41FA5}">
                      <a16:colId xmlns:a16="http://schemas.microsoft.com/office/drawing/2014/main" val="1701214700"/>
                    </a:ext>
                  </a:extLst>
                </a:gridCol>
                <a:gridCol w="1683862">
                  <a:extLst>
                    <a:ext uri="{9D8B030D-6E8A-4147-A177-3AD203B41FA5}">
                      <a16:colId xmlns:a16="http://schemas.microsoft.com/office/drawing/2014/main" val="100369785"/>
                    </a:ext>
                  </a:extLst>
                </a:gridCol>
              </a:tblGrid>
              <a:tr h="907427">
                <a:tc gridSpan="3">
                  <a:txBody>
                    <a:bodyPr/>
                    <a:lstStyle/>
                    <a:p>
                      <a:pPr algn="ctr"/>
                      <a:endParaRPr lang="en-AU">
                        <a:latin typeface="Edu NSW ACT Foundation"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629271"/>
                  </a:ext>
                </a:extLst>
              </a:tr>
              <a:tr h="907427">
                <a:tc>
                  <a:txBody>
                    <a:bodyPr/>
                    <a:lstStyle/>
                    <a:p>
                      <a:pPr algn="ctr"/>
                      <a:r>
                        <a:rPr lang="en-AU" sz="2800">
                          <a:latin typeface="Edu NSW ACT Foundation" pitchFamily="2" charset="0"/>
                        </a:rPr>
                        <a:t>H</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90742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90742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sp>
        <p:nvSpPr>
          <p:cNvPr id="7" name="Isosceles Triangle 6">
            <a:extLst>
              <a:ext uri="{FF2B5EF4-FFF2-40B4-BE49-F238E27FC236}">
                <a16:creationId xmlns:a16="http://schemas.microsoft.com/office/drawing/2014/main" id="{B75B697D-460A-092E-12ED-36C514E39A58}"/>
              </a:ext>
              <a:ext uri="{C183D7F6-B498-43B3-948B-1728B52AA6E4}">
                <adec:decorative xmlns:adec="http://schemas.microsoft.com/office/drawing/2017/decorative" val="1"/>
              </a:ext>
            </a:extLst>
          </p:cNvPr>
          <p:cNvSpPr/>
          <p:nvPr/>
        </p:nvSpPr>
        <p:spPr>
          <a:xfrm>
            <a:off x="1056409" y="1227221"/>
            <a:ext cx="5039589" cy="1028007"/>
          </a:xfrm>
          <a:prstGeom prst="triangle">
            <a:avLst>
              <a:gd name="adj" fmla="val 49104"/>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Isosceles Triangle 7">
            <a:extLst>
              <a:ext uri="{FF2B5EF4-FFF2-40B4-BE49-F238E27FC236}">
                <a16:creationId xmlns:a16="http://schemas.microsoft.com/office/drawing/2014/main" id="{E17E044B-0B21-62C8-BB82-F4F26A7B2E40}"/>
              </a:ext>
              <a:ext uri="{C183D7F6-B498-43B3-948B-1728B52AA6E4}">
                <adec:decorative xmlns:adec="http://schemas.microsoft.com/office/drawing/2017/decorative" val="1"/>
              </a:ext>
            </a:extLst>
          </p:cNvPr>
          <p:cNvSpPr/>
          <p:nvPr/>
        </p:nvSpPr>
        <p:spPr>
          <a:xfrm>
            <a:off x="6108000" y="1213698"/>
            <a:ext cx="5039589" cy="1028007"/>
          </a:xfrm>
          <a:prstGeom prst="triangle">
            <a:avLst>
              <a:gd name="adj" fmla="val 49104"/>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60000" y="1339705"/>
            <a:ext cx="11243037" cy="893226"/>
          </a:xfrm>
        </p:spPr>
        <p:txBody>
          <a:bodyPr/>
          <a:lstStyle/>
          <a:p>
            <a:pPr algn="ctr"/>
            <a:r>
              <a:rPr lang="en-US" sz="4400"/>
              <a:t>Starting at </a:t>
            </a:r>
            <a:r>
              <a:rPr lang="en-US" sz="4400" b="1"/>
              <a:t>804</a:t>
            </a:r>
            <a:r>
              <a:rPr lang="en-US" sz="4400"/>
              <a:t>, what are the numbers </a:t>
            </a:r>
            <a:r>
              <a:rPr lang="en-US" sz="4400" b="1"/>
              <a:t>10</a:t>
            </a:r>
            <a:r>
              <a:rPr lang="en-US" sz="4400"/>
              <a:t>, </a:t>
            </a:r>
            <a:r>
              <a:rPr lang="en-US" sz="4400" b="1"/>
              <a:t>100</a:t>
            </a:r>
            <a:r>
              <a:rPr lang="en-US" sz="4400"/>
              <a:t> and </a:t>
            </a:r>
            <a:r>
              <a:rPr lang="en-US" sz="4400" b="1"/>
              <a:t>1000</a:t>
            </a:r>
            <a:r>
              <a:rPr lang="en-US" sz="4400"/>
              <a:t> </a:t>
            </a:r>
            <a:r>
              <a:rPr lang="en-US" sz="4400" b="1"/>
              <a:t>times</a:t>
            </a:r>
            <a:r>
              <a:rPr lang="en-US" sz="4400"/>
              <a:t> </a:t>
            </a:r>
            <a:r>
              <a:rPr lang="en-US" sz="4400" b="1"/>
              <a:t>larger</a:t>
            </a:r>
            <a:r>
              <a:rPr lang="en-US" sz="4400"/>
              <a:t>? </a:t>
            </a:r>
          </a:p>
        </p:txBody>
      </p:sp>
      <p:sp>
        <p:nvSpPr>
          <p:cNvPr id="9" name="TextBox 8">
            <a:extLst>
              <a:ext uri="{FF2B5EF4-FFF2-40B4-BE49-F238E27FC236}">
                <a16:creationId xmlns:a16="http://schemas.microsoft.com/office/drawing/2014/main" id="{8B9CE09D-4912-352C-EDD3-2F5B22293E2B}"/>
              </a:ext>
            </a:extLst>
          </p:cNvPr>
          <p:cNvSpPr txBox="1"/>
          <p:nvPr/>
        </p:nvSpPr>
        <p:spPr>
          <a:xfrm>
            <a:off x="1215766" y="40205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3" name="TextBox 12">
            <a:extLst>
              <a:ext uri="{FF2B5EF4-FFF2-40B4-BE49-F238E27FC236}">
                <a16:creationId xmlns:a16="http://schemas.microsoft.com/office/drawing/2014/main" id="{0845F821-FAC5-D4DA-F596-BE9686B36CC9}"/>
              </a:ext>
            </a:extLst>
          </p:cNvPr>
          <p:cNvSpPr txBox="1"/>
          <p:nvPr/>
        </p:nvSpPr>
        <p:spPr>
          <a:xfrm>
            <a:off x="-216203" y="5282911"/>
            <a:ext cx="3393365" cy="640080"/>
          </a:xfrm>
          <a:prstGeom prst="rect">
            <a:avLst/>
          </a:prstGeom>
          <a:noFill/>
        </p:spPr>
        <p:txBody>
          <a:bodyPr wrap="square" lIns="0" tIns="0" rIns="0" bIns="0" rtlCol="0" anchor="ctr">
            <a:noAutofit/>
          </a:bodyPr>
          <a:lstStyle/>
          <a:p>
            <a:pPr algn="ctr"/>
            <a:r>
              <a:rPr lang="en-AU"/>
              <a:t>x 10 = 4 800</a:t>
            </a:r>
          </a:p>
          <a:p>
            <a:pPr algn="ctr"/>
            <a:r>
              <a:rPr lang="en-AU"/>
              <a:t>x 100 = 48 000</a:t>
            </a:r>
          </a:p>
          <a:p>
            <a:pPr algn="ctr"/>
            <a:r>
              <a:rPr lang="en-AU"/>
              <a:t>x 1000 = 480 000</a:t>
            </a:r>
            <a:endParaRPr lang="en-AU" sz="4000"/>
          </a:p>
        </p:txBody>
      </p:sp>
      <p:sp>
        <p:nvSpPr>
          <p:cNvPr id="10" name="TextBox 9">
            <a:extLst>
              <a:ext uri="{FF2B5EF4-FFF2-40B4-BE49-F238E27FC236}">
                <a16:creationId xmlns:a16="http://schemas.microsoft.com/office/drawing/2014/main" id="{6720C9BD-206D-1246-CC58-B94DA2A9FDA7}"/>
              </a:ext>
            </a:extLst>
          </p:cNvPr>
          <p:cNvSpPr txBox="1"/>
          <p:nvPr/>
        </p:nvSpPr>
        <p:spPr>
          <a:xfrm>
            <a:off x="4219739" y="40205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C4D6C7B6-646A-5FD2-0755-450D99710268}"/>
              </a:ext>
            </a:extLst>
          </p:cNvPr>
          <p:cNvSpPr txBox="1"/>
          <p:nvPr/>
        </p:nvSpPr>
        <p:spPr>
          <a:xfrm>
            <a:off x="2702635" y="5273621"/>
            <a:ext cx="3393365" cy="640080"/>
          </a:xfrm>
          <a:prstGeom prst="rect">
            <a:avLst/>
          </a:prstGeom>
          <a:noFill/>
        </p:spPr>
        <p:txBody>
          <a:bodyPr wrap="square" lIns="0" tIns="0" rIns="0" bIns="0" rtlCol="0" anchor="ctr">
            <a:noAutofit/>
          </a:bodyPr>
          <a:lstStyle/>
          <a:p>
            <a:pPr algn="ctr"/>
            <a:r>
              <a:rPr lang="en-AU"/>
              <a:t>x 10 = 840</a:t>
            </a:r>
          </a:p>
          <a:p>
            <a:pPr algn="ctr"/>
            <a:r>
              <a:rPr lang="en-AU"/>
              <a:t>x 100 = 8 400</a:t>
            </a:r>
          </a:p>
          <a:p>
            <a:pPr algn="ctr"/>
            <a:r>
              <a:rPr lang="en-AU"/>
              <a:t>x 1000 = 84 000</a:t>
            </a:r>
            <a:endParaRPr lang="en-AU" sz="4000"/>
          </a:p>
        </p:txBody>
      </p:sp>
      <p:sp>
        <p:nvSpPr>
          <p:cNvPr id="12" name="TextBox 11">
            <a:extLst>
              <a:ext uri="{FF2B5EF4-FFF2-40B4-BE49-F238E27FC236}">
                <a16:creationId xmlns:a16="http://schemas.microsoft.com/office/drawing/2014/main" id="{53D31413-FF78-7189-1A0F-0B12F84CC32D}"/>
              </a:ext>
            </a:extLst>
          </p:cNvPr>
          <p:cNvSpPr txBox="1"/>
          <p:nvPr/>
        </p:nvSpPr>
        <p:spPr>
          <a:xfrm>
            <a:off x="7223712" y="40205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5" name="TextBox 4">
            <a:extLst>
              <a:ext uri="{FF2B5EF4-FFF2-40B4-BE49-F238E27FC236}">
                <a16:creationId xmlns:a16="http://schemas.microsoft.com/office/drawing/2014/main" id="{95253E84-48CD-3E9B-C0CF-9CD384E9CB9E}"/>
              </a:ext>
            </a:extLst>
          </p:cNvPr>
          <p:cNvSpPr txBox="1"/>
          <p:nvPr/>
        </p:nvSpPr>
        <p:spPr>
          <a:xfrm>
            <a:off x="5791743" y="5273621"/>
            <a:ext cx="3393365" cy="640080"/>
          </a:xfrm>
          <a:prstGeom prst="rect">
            <a:avLst/>
          </a:prstGeom>
          <a:noFill/>
        </p:spPr>
        <p:txBody>
          <a:bodyPr wrap="square" lIns="0" tIns="0" rIns="0" bIns="0" rtlCol="0" anchor="ctr">
            <a:noAutofit/>
          </a:bodyPr>
          <a:lstStyle/>
          <a:p>
            <a:pPr algn="ctr"/>
            <a:r>
              <a:rPr lang="en-AU"/>
              <a:t>x 10 = 8 040</a:t>
            </a:r>
          </a:p>
          <a:p>
            <a:pPr algn="ctr"/>
            <a:r>
              <a:rPr lang="en-AU"/>
              <a:t>x 100 = 80 400</a:t>
            </a:r>
          </a:p>
          <a:p>
            <a:pPr algn="ctr"/>
            <a:r>
              <a:rPr lang="en-AU"/>
              <a:t>x 1000 = 804 000 </a:t>
            </a:r>
            <a:endParaRPr lang="en-AU" sz="4000"/>
          </a:p>
        </p:txBody>
      </p:sp>
      <p:sp>
        <p:nvSpPr>
          <p:cNvPr id="11" name="TextBox 10">
            <a:extLst>
              <a:ext uri="{FF2B5EF4-FFF2-40B4-BE49-F238E27FC236}">
                <a16:creationId xmlns:a16="http://schemas.microsoft.com/office/drawing/2014/main" id="{F03294A5-CB62-91E6-0D20-1199ECBFAF01}"/>
              </a:ext>
            </a:extLst>
          </p:cNvPr>
          <p:cNvSpPr txBox="1"/>
          <p:nvPr/>
        </p:nvSpPr>
        <p:spPr>
          <a:xfrm>
            <a:off x="10227686" y="40205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7" name="TextBox 6">
            <a:extLst>
              <a:ext uri="{FF2B5EF4-FFF2-40B4-BE49-F238E27FC236}">
                <a16:creationId xmlns:a16="http://schemas.microsoft.com/office/drawing/2014/main" id="{DF847D84-55BC-5756-E449-227AFE2F98CC}"/>
              </a:ext>
            </a:extLst>
          </p:cNvPr>
          <p:cNvSpPr txBox="1"/>
          <p:nvPr/>
        </p:nvSpPr>
        <p:spPr>
          <a:xfrm>
            <a:off x="8786769" y="5273621"/>
            <a:ext cx="3393365" cy="640080"/>
          </a:xfrm>
          <a:prstGeom prst="rect">
            <a:avLst/>
          </a:prstGeom>
          <a:noFill/>
        </p:spPr>
        <p:txBody>
          <a:bodyPr wrap="square" lIns="0" tIns="0" rIns="0" bIns="0" rtlCol="0" anchor="ctr">
            <a:noAutofit/>
          </a:bodyPr>
          <a:lstStyle/>
          <a:p>
            <a:pPr algn="ctr"/>
            <a:r>
              <a:rPr lang="en-AU"/>
              <a:t>x 10 = 8 400</a:t>
            </a:r>
          </a:p>
          <a:p>
            <a:pPr algn="ctr"/>
            <a:r>
              <a:rPr lang="en-AU"/>
              <a:t>x 100 = 84 000</a:t>
            </a:r>
          </a:p>
          <a:p>
            <a:pPr algn="ctr"/>
            <a:r>
              <a:rPr lang="en-AU"/>
              <a:t>x 1000 = 840 000</a:t>
            </a:r>
            <a:r>
              <a:rPr lang="en-AU" sz="2800"/>
              <a:t> </a:t>
            </a:r>
            <a:endParaRPr lang="en-AU" sz="4000"/>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7C96E-4B1D-73AB-3E1D-28D7CBEB8AF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882AC5A-B5B2-BFC1-1119-39BA88A4013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B7378A20-C749-7F1A-D84B-B8DB49475E4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104639C7-37FF-1565-8E91-3D1D11C95DC8}"/>
              </a:ext>
            </a:extLst>
          </p:cNvPr>
          <p:cNvSpPr txBox="1">
            <a:spLocks/>
          </p:cNvSpPr>
          <p:nvPr/>
        </p:nvSpPr>
        <p:spPr>
          <a:xfrm>
            <a:off x="360000" y="109669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t>Apply</a:t>
            </a:r>
            <a:r>
              <a:rPr lang="en-US" sz="4000"/>
              <a:t> the </a:t>
            </a:r>
            <a:r>
              <a:rPr lang="en-US" sz="4000" b="1"/>
              <a:t>associative</a:t>
            </a:r>
            <a:r>
              <a:rPr lang="en-US" sz="4000"/>
              <a:t> </a:t>
            </a:r>
            <a:r>
              <a:rPr lang="en-US" sz="4000" b="1"/>
              <a:t>property</a:t>
            </a:r>
            <a:r>
              <a:rPr lang="en-US" sz="4000"/>
              <a:t> to find the </a:t>
            </a:r>
            <a:r>
              <a:rPr lang="en-US" sz="4000" b="1"/>
              <a:t>pair</a:t>
            </a:r>
            <a:r>
              <a:rPr lang="en-US" sz="4000"/>
              <a:t> of number sentences that have the same total.</a:t>
            </a:r>
          </a:p>
        </p:txBody>
      </p:sp>
      <p:sp>
        <p:nvSpPr>
          <p:cNvPr id="5" name="Rectangle: Rounded Corners 4">
            <a:extLst>
              <a:ext uri="{FF2B5EF4-FFF2-40B4-BE49-F238E27FC236}">
                <a16:creationId xmlns:a16="http://schemas.microsoft.com/office/drawing/2014/main" id="{96199A35-D240-7E8D-B6F8-37F85D003DEA}"/>
              </a:ext>
            </a:extLst>
          </p:cNvPr>
          <p:cNvSpPr/>
          <p:nvPr/>
        </p:nvSpPr>
        <p:spPr>
          <a:xfrm>
            <a:off x="2181138" y="3217180"/>
            <a:ext cx="1953238" cy="1143000"/>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7 x 2 X 2 </a:t>
            </a:r>
            <a:endParaRPr lang="en-AU" sz="4800" b="1">
              <a:solidFill>
                <a:schemeClr val="accent1"/>
              </a:solidFill>
            </a:endParaRPr>
          </a:p>
        </p:txBody>
      </p:sp>
      <p:sp>
        <p:nvSpPr>
          <p:cNvPr id="7" name="Rectangle: Rounded Corners 6">
            <a:extLst>
              <a:ext uri="{FF2B5EF4-FFF2-40B4-BE49-F238E27FC236}">
                <a16:creationId xmlns:a16="http://schemas.microsoft.com/office/drawing/2014/main" id="{BBEBD8A6-27BE-09C7-75FA-5314FB5414DB}"/>
              </a:ext>
            </a:extLst>
          </p:cNvPr>
          <p:cNvSpPr/>
          <p:nvPr/>
        </p:nvSpPr>
        <p:spPr>
          <a:xfrm>
            <a:off x="4990051" y="3217180"/>
            <a:ext cx="1953238" cy="1143000"/>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7 x 2 x 4 </a:t>
            </a:r>
            <a:endParaRPr lang="en-AU" sz="4800" b="1">
              <a:solidFill>
                <a:schemeClr val="accent1"/>
              </a:solidFill>
            </a:endParaRPr>
          </a:p>
        </p:txBody>
      </p:sp>
      <p:sp>
        <p:nvSpPr>
          <p:cNvPr id="8" name="Rectangle: Rounded Corners 7">
            <a:extLst>
              <a:ext uri="{FF2B5EF4-FFF2-40B4-BE49-F238E27FC236}">
                <a16:creationId xmlns:a16="http://schemas.microsoft.com/office/drawing/2014/main" id="{8B6E044B-6A2B-AD86-6912-8C2E1F52C68D}"/>
              </a:ext>
            </a:extLst>
          </p:cNvPr>
          <p:cNvSpPr/>
          <p:nvPr/>
        </p:nvSpPr>
        <p:spPr>
          <a:xfrm>
            <a:off x="7798966" y="3217180"/>
            <a:ext cx="1953238" cy="1143000"/>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3200" b="1">
                <a:solidFill>
                  <a:schemeClr val="accent1"/>
                </a:solidFill>
              </a:rPr>
              <a:t>4 x 7 x 2 </a:t>
            </a:r>
            <a:endParaRPr lang="en-AU" sz="4800" b="1">
              <a:solidFill>
                <a:schemeClr val="accent1"/>
              </a:solidFill>
            </a:endParaRPr>
          </a:p>
        </p:txBody>
      </p:sp>
      <p:sp>
        <p:nvSpPr>
          <p:cNvPr id="9" name="TextBox 8">
            <a:extLst>
              <a:ext uri="{FF2B5EF4-FFF2-40B4-BE49-F238E27FC236}">
                <a16:creationId xmlns:a16="http://schemas.microsoft.com/office/drawing/2014/main" id="{E4AB538A-BE3D-D5B1-741D-2C79A349732C}"/>
              </a:ext>
            </a:extLst>
          </p:cNvPr>
          <p:cNvSpPr txBox="1"/>
          <p:nvPr/>
        </p:nvSpPr>
        <p:spPr>
          <a:xfrm>
            <a:off x="1696454" y="5481370"/>
            <a:ext cx="8277726" cy="769441"/>
          </a:xfrm>
          <a:prstGeom prst="rect">
            <a:avLst/>
          </a:prstGeom>
          <a:noFill/>
        </p:spPr>
        <p:txBody>
          <a:bodyPr wrap="square">
            <a:spAutoFit/>
          </a:bodyPr>
          <a:lstStyle/>
          <a:p>
            <a:r>
              <a:rPr lang="en-US" sz="4400" b="1"/>
              <a:t>Communicate </a:t>
            </a:r>
            <a:r>
              <a:rPr lang="en-US" sz="4400"/>
              <a:t>your</a:t>
            </a:r>
            <a:r>
              <a:rPr lang="en-US" sz="4400" b="1"/>
              <a:t> reasoning.</a:t>
            </a:r>
            <a:endParaRPr lang="en-AU" sz="4400"/>
          </a:p>
        </p:txBody>
      </p:sp>
      <p:sp>
        <p:nvSpPr>
          <p:cNvPr id="2" name="Slide Number Placeholder 1">
            <a:extLst>
              <a:ext uri="{FF2B5EF4-FFF2-40B4-BE49-F238E27FC236}">
                <a16:creationId xmlns:a16="http://schemas.microsoft.com/office/drawing/2014/main" id="{D2737115-7652-F816-153B-5A3578DA174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1707843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6B00B19-1E18-C241-4FB8-D044F5C8E182}"/>
              </a:ext>
            </a:extLst>
          </p:cNvPr>
          <p:cNvSpPr txBox="1"/>
          <p:nvPr/>
        </p:nvSpPr>
        <p:spPr>
          <a:xfrm>
            <a:off x="246024" y="905601"/>
            <a:ext cx="10933570" cy="6579493"/>
          </a:xfrm>
          <a:prstGeom prst="rect">
            <a:avLst/>
          </a:prstGeom>
          <a:noFill/>
        </p:spPr>
        <p:txBody>
          <a:bodyPr wrap="square">
            <a:spAutoFit/>
          </a:bodyPr>
          <a:lstStyle/>
          <a:p>
            <a:pPr rtl="0">
              <a:lnSpc>
                <a:spcPct val="150000"/>
              </a:lnSpc>
              <a:buNone/>
            </a:pPr>
            <a:r>
              <a:rPr lang="en-AU" sz="4000" b="1">
                <a:solidFill>
                  <a:srgbClr val="000000"/>
                </a:solidFill>
              </a:rPr>
              <a:t>Partition</a:t>
            </a:r>
            <a:r>
              <a:rPr lang="en-AU" sz="4000">
                <a:solidFill>
                  <a:srgbClr val="000000"/>
                </a:solidFill>
              </a:rPr>
              <a:t> using </a:t>
            </a:r>
            <a:r>
              <a:rPr lang="en-AU" sz="4000" b="1">
                <a:solidFill>
                  <a:srgbClr val="000000"/>
                </a:solidFill>
              </a:rPr>
              <a:t>quantity</a:t>
            </a:r>
            <a:r>
              <a:rPr lang="en-AU" sz="4000">
                <a:solidFill>
                  <a:srgbClr val="000000"/>
                </a:solidFill>
              </a:rPr>
              <a:t> </a:t>
            </a:r>
            <a:r>
              <a:rPr lang="en-AU" sz="4000" b="1">
                <a:solidFill>
                  <a:srgbClr val="000000"/>
                </a:solidFill>
              </a:rPr>
              <a:t>values</a:t>
            </a:r>
            <a:r>
              <a:rPr lang="en-AU" sz="4000">
                <a:solidFill>
                  <a:srgbClr val="000000"/>
                </a:solidFill>
              </a:rPr>
              <a:t> and </a:t>
            </a:r>
            <a:r>
              <a:rPr lang="en-AU" sz="4000" b="1">
                <a:solidFill>
                  <a:srgbClr val="000000"/>
                </a:solidFill>
              </a:rPr>
              <a:t>bridge</a:t>
            </a:r>
            <a:r>
              <a:rPr lang="en-AU" sz="4000">
                <a:solidFill>
                  <a:srgbClr val="000000"/>
                </a:solidFill>
              </a:rPr>
              <a:t> to the </a:t>
            </a:r>
            <a:r>
              <a:rPr lang="en-AU" sz="4000" b="1">
                <a:solidFill>
                  <a:srgbClr val="000000"/>
                </a:solidFill>
              </a:rPr>
              <a:t>nearest decade </a:t>
            </a:r>
            <a:r>
              <a:rPr lang="en-AU" sz="4000">
                <a:solidFill>
                  <a:srgbClr val="000000"/>
                </a:solidFill>
              </a:rPr>
              <a:t>to solve:</a:t>
            </a:r>
          </a:p>
          <a:p>
            <a:pPr marL="571500" indent="-571500" rtl="0">
              <a:lnSpc>
                <a:spcPct val="250000"/>
              </a:lnSpc>
              <a:buFont typeface="Arial" panose="020B0604020202020204" pitchFamily="34" charset="0"/>
              <a:buChar char="•"/>
            </a:pPr>
            <a:r>
              <a:rPr lang="en-AU" sz="3600">
                <a:solidFill>
                  <a:srgbClr val="000000"/>
                </a:solidFill>
              </a:rPr>
              <a:t>149 + 63</a:t>
            </a:r>
          </a:p>
          <a:p>
            <a:pPr marL="571500" indent="-571500" rtl="0">
              <a:lnSpc>
                <a:spcPct val="250000"/>
              </a:lnSpc>
              <a:buFont typeface="Arial" panose="020B0604020202020204" pitchFamily="34" charset="0"/>
              <a:buChar char="•"/>
            </a:pPr>
            <a:r>
              <a:rPr lang="en-AU" sz="3600">
                <a:solidFill>
                  <a:srgbClr val="000000"/>
                </a:solidFill>
              </a:rPr>
              <a:t>465 + 156</a:t>
            </a:r>
          </a:p>
          <a:p>
            <a:pPr marL="571500" indent="-571500" rtl="0">
              <a:lnSpc>
                <a:spcPct val="250000"/>
              </a:lnSpc>
              <a:buFont typeface="Arial" panose="020B0604020202020204" pitchFamily="34" charset="0"/>
              <a:buChar char="•"/>
            </a:pPr>
            <a:r>
              <a:rPr lang="en-AU" sz="3600">
                <a:solidFill>
                  <a:srgbClr val="000000"/>
                </a:solidFill>
              </a:rPr>
              <a:t>244 + 87</a:t>
            </a:r>
          </a:p>
          <a:p>
            <a:pPr rtl="0">
              <a:lnSpc>
                <a:spcPct val="150000"/>
              </a:lnSpc>
              <a:buNone/>
            </a:pPr>
            <a:endParaRPr lang="en-AU" sz="2400">
              <a:solidFill>
                <a:srgbClr val="000000"/>
              </a:solidFill>
            </a:endParaRPr>
          </a:p>
        </p:txBody>
      </p:sp>
      <p:pic>
        <p:nvPicPr>
          <p:cNvPr id="8" name="Picture 7" descr="A model of bridging for addition of the numbers 365 and 78. 78 can be partitioned into 70 and 8, and the algorithms 365 + 5 = 370, 370 + 3 = 373  and 373 + 70 = 443 are written below.">
            <a:extLst>
              <a:ext uri="{FF2B5EF4-FFF2-40B4-BE49-F238E27FC236}">
                <a16:creationId xmlns:a16="http://schemas.microsoft.com/office/drawing/2014/main" id="{52CC3A5D-90DA-AFD1-0905-A3EB618B8DC9}"/>
              </a:ext>
            </a:extLst>
          </p:cNvPr>
          <p:cNvPicPr>
            <a:picLocks noChangeAspect="1"/>
          </p:cNvPicPr>
          <p:nvPr/>
        </p:nvPicPr>
        <p:blipFill>
          <a:blip r:embed="rId4">
            <a:extLst>
              <a:ext uri="{28A0092B-C50C-407E-A947-70E740481C1C}">
                <a14:useLocalDpi xmlns:a14="http://schemas.microsoft.com/office/drawing/2010/main" val="0"/>
              </a:ext>
            </a:extLst>
          </a:blip>
          <a:srcRect l="35724" t="3917" r="19398" b="24462"/>
          <a:stretch>
            <a:fillRect/>
          </a:stretch>
        </p:blipFill>
        <p:spPr>
          <a:xfrm>
            <a:off x="7286941" y="1960577"/>
            <a:ext cx="4197060" cy="4735423"/>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E44F99B-141C-3202-C42B-F74521DC5BE0}"/>
              </a:ext>
            </a:extLst>
          </p:cNvPr>
          <p:cNvSpPr txBox="1"/>
          <p:nvPr/>
        </p:nvSpPr>
        <p:spPr>
          <a:xfrm>
            <a:off x="495572" y="807395"/>
            <a:ext cx="11200856" cy="5826018"/>
          </a:xfrm>
          <a:prstGeom prst="rect">
            <a:avLst/>
          </a:prstGeom>
          <a:noFill/>
        </p:spPr>
        <p:txBody>
          <a:bodyPr wrap="square">
            <a:spAutoFit/>
          </a:bodyPr>
          <a:lstStyle/>
          <a:p>
            <a:pPr algn="ctr" rtl="0">
              <a:lnSpc>
                <a:spcPct val="150000"/>
              </a:lnSpc>
              <a:buNone/>
            </a:pPr>
            <a:r>
              <a:rPr lang="en-AU" sz="4000">
                <a:solidFill>
                  <a:srgbClr val="000000"/>
                </a:solidFill>
              </a:rPr>
              <a:t>Class 4P asked the </a:t>
            </a:r>
            <a:r>
              <a:rPr lang="en-AU" sz="4000" b="1">
                <a:solidFill>
                  <a:srgbClr val="000000"/>
                </a:solidFill>
              </a:rPr>
              <a:t>survey</a:t>
            </a:r>
            <a:r>
              <a:rPr lang="en-AU" sz="4000">
                <a:solidFill>
                  <a:srgbClr val="000000"/>
                </a:solidFill>
              </a:rPr>
              <a:t> </a:t>
            </a:r>
            <a:r>
              <a:rPr lang="en-AU" sz="4000" b="1">
                <a:solidFill>
                  <a:srgbClr val="000000"/>
                </a:solidFill>
              </a:rPr>
              <a:t>question</a:t>
            </a:r>
            <a:r>
              <a:rPr lang="en-AU" sz="4000">
                <a:solidFill>
                  <a:srgbClr val="000000"/>
                </a:solidFill>
              </a:rPr>
              <a:t>:  </a:t>
            </a:r>
          </a:p>
          <a:p>
            <a:pPr algn="ctr" rtl="0">
              <a:lnSpc>
                <a:spcPct val="150000"/>
              </a:lnSpc>
              <a:buNone/>
            </a:pPr>
            <a:r>
              <a:rPr lang="en-AU" sz="4000" b="1" i="0">
                <a:solidFill>
                  <a:schemeClr val="accent2"/>
                </a:solidFill>
                <a:effectLst/>
              </a:rPr>
              <a:t>What do you like about lunch?</a:t>
            </a:r>
          </a:p>
          <a:p>
            <a:pPr algn="l" rtl="0">
              <a:lnSpc>
                <a:spcPct val="150000"/>
              </a:lnSpc>
              <a:buNone/>
            </a:pPr>
            <a:r>
              <a:rPr lang="en-AU" sz="4000" b="1">
                <a:solidFill>
                  <a:srgbClr val="000000"/>
                </a:solidFill>
              </a:rPr>
              <a:t>Responses included</a:t>
            </a:r>
            <a:r>
              <a:rPr lang="en-AU" sz="4000">
                <a:solidFill>
                  <a:srgbClr val="000000"/>
                </a:solidFill>
              </a:rPr>
              <a:t>: s</a:t>
            </a:r>
            <a:r>
              <a:rPr lang="en-AU" sz="4000"/>
              <a:t>andwiches, playing outside, juice, talking with friends, ice cream.</a:t>
            </a:r>
          </a:p>
          <a:p>
            <a:pPr algn="l" rtl="0">
              <a:buNone/>
            </a:pPr>
            <a:endParaRPr lang="en-AU" sz="2000" b="0" i="0">
              <a:solidFill>
                <a:srgbClr val="000000"/>
              </a:solidFill>
              <a:effectLst/>
            </a:endParaRPr>
          </a:p>
          <a:p>
            <a:pPr algn="ctr">
              <a:lnSpc>
                <a:spcPct val="150000"/>
              </a:lnSpc>
              <a:buNone/>
            </a:pPr>
            <a:r>
              <a:rPr lang="en-AU" sz="4000" b="1"/>
              <a:t>Refine</a:t>
            </a:r>
            <a:r>
              <a:rPr lang="en-AU" sz="4000"/>
              <a:t> this </a:t>
            </a:r>
            <a:r>
              <a:rPr lang="en-AU" sz="4000" b="1"/>
              <a:t>question</a:t>
            </a:r>
            <a:r>
              <a:rPr lang="en-AU" sz="4000"/>
              <a:t> so students only give answers about food. </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Pentagon 3" descr="An image of a blue pentagon.">
            <a:extLst>
              <a:ext uri="{FF2B5EF4-FFF2-40B4-BE49-F238E27FC236}">
                <a16:creationId xmlns:a16="http://schemas.microsoft.com/office/drawing/2014/main" id="{66BFC65F-1D43-A948-0BF2-4106CB2EDDD0}"/>
              </a:ext>
            </a:extLst>
          </p:cNvPr>
          <p:cNvSpPr/>
          <p:nvPr/>
        </p:nvSpPr>
        <p:spPr>
          <a:xfrm>
            <a:off x="1132986" y="2822523"/>
            <a:ext cx="2756263" cy="2312126"/>
          </a:xfrm>
          <a:prstGeom prst="pentagon">
            <a:avLst/>
          </a:prstGeom>
          <a:ln w="38100">
            <a:solidFill>
              <a:schemeClr val="accent1"/>
            </a:solidFill>
          </a:ln>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AU"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7" name="Rectangle 6" descr="An image of a pink rectangle.">
            <a:extLst>
              <a:ext uri="{FF2B5EF4-FFF2-40B4-BE49-F238E27FC236}">
                <a16:creationId xmlns:a16="http://schemas.microsoft.com/office/drawing/2014/main" id="{0F934357-941F-2207-8C40-861A96AD3EB8}"/>
              </a:ext>
            </a:extLst>
          </p:cNvPr>
          <p:cNvSpPr/>
          <p:nvPr/>
        </p:nvSpPr>
        <p:spPr>
          <a:xfrm>
            <a:off x="5233851" y="2907591"/>
            <a:ext cx="1724297" cy="2312126"/>
          </a:xfrm>
          <a:prstGeom prst="rect">
            <a:avLst/>
          </a:prstGeom>
          <a:solidFill>
            <a:schemeClr val="accent6">
              <a:lumMod val="75000"/>
            </a:schemeClr>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L-Shape 8" descr="A blue 'L' shaped mage.">
            <a:extLst>
              <a:ext uri="{FF2B5EF4-FFF2-40B4-BE49-F238E27FC236}">
                <a16:creationId xmlns:a16="http://schemas.microsoft.com/office/drawing/2014/main" id="{D409725B-2A6F-C9DD-293C-062D04822947}"/>
              </a:ext>
            </a:extLst>
          </p:cNvPr>
          <p:cNvSpPr/>
          <p:nvPr/>
        </p:nvSpPr>
        <p:spPr>
          <a:xfrm>
            <a:off x="8606401" y="2907590"/>
            <a:ext cx="1554480" cy="2312127"/>
          </a:xfrm>
          <a:prstGeom prst="corner">
            <a:avLst/>
          </a:prstGeom>
          <a:solidFill>
            <a:schemeClr val="accent2">
              <a:lumMod val="60000"/>
              <a:lumOff val="40000"/>
            </a:schemeClr>
          </a:solidFill>
          <a:ln w="381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64AFD9C6-BE42-2599-10F5-E3D2EEF05E48}"/>
              </a:ext>
            </a:extLst>
          </p:cNvPr>
          <p:cNvSpPr txBox="1"/>
          <p:nvPr/>
        </p:nvSpPr>
        <p:spPr>
          <a:xfrm>
            <a:off x="1597472" y="5475542"/>
            <a:ext cx="9395205" cy="982513"/>
          </a:xfrm>
          <a:prstGeom prst="rect">
            <a:avLst/>
          </a:prstGeom>
          <a:noFill/>
        </p:spPr>
        <p:txBody>
          <a:bodyPr wrap="square">
            <a:spAutoFit/>
          </a:bodyPr>
          <a:lstStyle/>
          <a:p>
            <a:pPr algn="ctr" rtl="0">
              <a:lnSpc>
                <a:spcPct val="150000"/>
              </a:lnSpc>
            </a:pPr>
            <a:r>
              <a:rPr lang="en-AU" sz="4400" b="1">
                <a:solidFill>
                  <a:srgbClr val="000000"/>
                </a:solidFill>
              </a:rPr>
              <a:t>Communicate </a:t>
            </a:r>
            <a:r>
              <a:rPr lang="en-AU" sz="4400">
                <a:solidFill>
                  <a:srgbClr val="000000"/>
                </a:solidFill>
              </a:rPr>
              <a:t>your </a:t>
            </a:r>
            <a:r>
              <a:rPr lang="en-AU" sz="4400" b="1">
                <a:solidFill>
                  <a:srgbClr val="000000"/>
                </a:solidFill>
              </a:rPr>
              <a:t>reasoning</a:t>
            </a:r>
            <a:r>
              <a:rPr lang="en-AU" sz="4400">
                <a:solidFill>
                  <a:srgbClr val="000000"/>
                </a:solidFill>
              </a:rPr>
              <a:t>. </a:t>
            </a:r>
            <a:endParaRPr lang="en-AU" sz="4400" b="0" i="0">
              <a:solidFill>
                <a:srgbClr val="000000"/>
              </a:solidFill>
              <a:effectLst/>
            </a:endParaRP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11" name="TextBox 10">
            <a:extLst>
              <a:ext uri="{FF2B5EF4-FFF2-40B4-BE49-F238E27FC236}">
                <a16:creationId xmlns:a16="http://schemas.microsoft.com/office/drawing/2014/main" id="{F5258CE5-6CA8-F731-011E-2C5196C44325}"/>
              </a:ext>
            </a:extLst>
          </p:cNvPr>
          <p:cNvSpPr txBox="1"/>
          <p:nvPr/>
        </p:nvSpPr>
        <p:spPr>
          <a:xfrm>
            <a:off x="246025" y="909414"/>
            <a:ext cx="11699952" cy="982513"/>
          </a:xfrm>
          <a:prstGeom prst="rect">
            <a:avLst/>
          </a:prstGeom>
          <a:noFill/>
        </p:spPr>
        <p:txBody>
          <a:bodyPr wrap="square">
            <a:spAutoFit/>
          </a:bodyPr>
          <a:lstStyle/>
          <a:p>
            <a:pPr algn="ctr" rtl="0">
              <a:lnSpc>
                <a:spcPct val="150000"/>
              </a:lnSpc>
            </a:pPr>
            <a:r>
              <a:rPr lang="en-AU" sz="4400" b="0" i="0">
                <a:solidFill>
                  <a:srgbClr val="000000"/>
                </a:solidFill>
                <a:effectLst/>
              </a:rPr>
              <a:t>Which of these polygons have </a:t>
            </a:r>
            <a:r>
              <a:rPr lang="en-AU" sz="4400" b="1" i="0">
                <a:solidFill>
                  <a:srgbClr val="000000"/>
                </a:solidFill>
                <a:effectLst/>
              </a:rPr>
              <a:t>parallel</a:t>
            </a:r>
            <a:r>
              <a:rPr lang="en-AU" sz="4400" b="0" i="0">
                <a:solidFill>
                  <a:srgbClr val="000000"/>
                </a:solidFill>
                <a:effectLst/>
              </a:rPr>
              <a:t> sides?</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exploring place value and multiplication</a:t>
            </a:r>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7" name="Table 6" descr="A place value chart shaped like two connected “houses” . The left house is labelled Thousands and has three columns labelled H, T, O (hundreds of thousands, tens of thousands, ones (thousands) within the thousands period). The right house also has three columns labelled H, T, O indicating hundreds, tens and ones.">
            <a:extLst>
              <a:ext uri="{FF2B5EF4-FFF2-40B4-BE49-F238E27FC236}">
                <a16:creationId xmlns:a16="http://schemas.microsoft.com/office/drawing/2014/main" id="{9708DF2B-2E48-06CD-B033-7F39FD4A6BD4}"/>
              </a:ext>
            </a:extLst>
          </p:cNvPr>
          <p:cNvGraphicFramePr>
            <a:graphicFrameLocks noGrp="1"/>
          </p:cNvGraphicFramePr>
          <p:nvPr>
            <p:extLst>
              <p:ext uri="{D42A27DB-BD31-4B8C-83A1-F6EECF244321}">
                <p14:modId xmlns:p14="http://schemas.microsoft.com/office/powerpoint/2010/main" val="4206939559"/>
              </p:ext>
            </p:extLst>
          </p:nvPr>
        </p:nvGraphicFramePr>
        <p:xfrm>
          <a:off x="914753" y="1260256"/>
          <a:ext cx="5037222" cy="3629708"/>
        </p:xfrm>
        <a:graphic>
          <a:graphicData uri="http://schemas.openxmlformats.org/drawingml/2006/table">
            <a:tbl>
              <a:tblPr firstRow="1" bandRow="1">
                <a:tableStyleId>{5C22544A-7EE6-4342-B048-85BDC9FD1C3A}</a:tableStyleId>
              </a:tblPr>
              <a:tblGrid>
                <a:gridCol w="1679074">
                  <a:extLst>
                    <a:ext uri="{9D8B030D-6E8A-4147-A177-3AD203B41FA5}">
                      <a16:colId xmlns:a16="http://schemas.microsoft.com/office/drawing/2014/main" val="52279464"/>
                    </a:ext>
                  </a:extLst>
                </a:gridCol>
                <a:gridCol w="1679074">
                  <a:extLst>
                    <a:ext uri="{9D8B030D-6E8A-4147-A177-3AD203B41FA5}">
                      <a16:colId xmlns:a16="http://schemas.microsoft.com/office/drawing/2014/main" val="1701214700"/>
                    </a:ext>
                  </a:extLst>
                </a:gridCol>
                <a:gridCol w="1679074">
                  <a:extLst>
                    <a:ext uri="{9D8B030D-6E8A-4147-A177-3AD203B41FA5}">
                      <a16:colId xmlns:a16="http://schemas.microsoft.com/office/drawing/2014/main" val="100369785"/>
                    </a:ext>
                  </a:extLst>
                </a:gridCol>
              </a:tblGrid>
              <a:tr h="907427">
                <a:tc gridSpan="3">
                  <a:txBody>
                    <a:bodyPr/>
                    <a:lstStyle/>
                    <a:p>
                      <a:pPr algn="ctr"/>
                      <a:r>
                        <a:rPr lang="en-AU" sz="3200" b="0">
                          <a:solidFill>
                            <a:schemeClr val="tx1"/>
                          </a:solidFill>
                          <a:latin typeface="Edu NSW ACT Foundation" pitchFamily="2" charset="0"/>
                        </a:rPr>
                        <a:t>Thousands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629271"/>
                  </a:ext>
                </a:extLst>
              </a:tr>
              <a:tr h="907427">
                <a:tc>
                  <a:txBody>
                    <a:bodyPr/>
                    <a:lstStyle/>
                    <a:p>
                      <a:pPr algn="ctr"/>
                      <a:r>
                        <a:rPr lang="en-AU" sz="2800">
                          <a:latin typeface="Edu NSW ACT Foundation" pitchFamily="2" charset="0"/>
                        </a:rPr>
                        <a:t>H</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90742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90742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graphicFrame>
        <p:nvGraphicFramePr>
          <p:cNvPr id="5" name="Table 4">
            <a:extLst>
              <a:ext uri="{FF2B5EF4-FFF2-40B4-BE49-F238E27FC236}">
                <a16:creationId xmlns:a16="http://schemas.microsoft.com/office/drawing/2014/main" id="{A49D9883-45F5-847F-2F74-663CE30E16B5}"/>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636933524"/>
              </p:ext>
            </p:extLst>
          </p:nvPr>
        </p:nvGraphicFramePr>
        <p:xfrm>
          <a:off x="5963977" y="1260256"/>
          <a:ext cx="5051586" cy="3629708"/>
        </p:xfrm>
        <a:graphic>
          <a:graphicData uri="http://schemas.openxmlformats.org/drawingml/2006/table">
            <a:tbl>
              <a:tblPr firstRow="1" bandRow="1">
                <a:tableStyleId>{5C22544A-7EE6-4342-B048-85BDC9FD1C3A}</a:tableStyleId>
              </a:tblPr>
              <a:tblGrid>
                <a:gridCol w="1683862">
                  <a:extLst>
                    <a:ext uri="{9D8B030D-6E8A-4147-A177-3AD203B41FA5}">
                      <a16:colId xmlns:a16="http://schemas.microsoft.com/office/drawing/2014/main" val="52279464"/>
                    </a:ext>
                  </a:extLst>
                </a:gridCol>
                <a:gridCol w="1683862">
                  <a:extLst>
                    <a:ext uri="{9D8B030D-6E8A-4147-A177-3AD203B41FA5}">
                      <a16:colId xmlns:a16="http://schemas.microsoft.com/office/drawing/2014/main" val="1701214700"/>
                    </a:ext>
                  </a:extLst>
                </a:gridCol>
                <a:gridCol w="1683862">
                  <a:extLst>
                    <a:ext uri="{9D8B030D-6E8A-4147-A177-3AD203B41FA5}">
                      <a16:colId xmlns:a16="http://schemas.microsoft.com/office/drawing/2014/main" val="100369785"/>
                    </a:ext>
                  </a:extLst>
                </a:gridCol>
              </a:tblGrid>
              <a:tr h="907427">
                <a:tc gridSpan="3">
                  <a:txBody>
                    <a:bodyPr/>
                    <a:lstStyle/>
                    <a:p>
                      <a:pPr algn="ctr"/>
                      <a:endParaRPr lang="en-AU">
                        <a:latin typeface="Edu NSW ACT Foundation" pitchFamily="2"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629271"/>
                  </a:ext>
                </a:extLst>
              </a:tr>
              <a:tr h="907427">
                <a:tc>
                  <a:txBody>
                    <a:bodyPr/>
                    <a:lstStyle/>
                    <a:p>
                      <a:pPr algn="ctr"/>
                      <a:r>
                        <a:rPr lang="en-AU" sz="2800">
                          <a:latin typeface="Edu NSW ACT Foundation" pitchFamily="2" charset="0"/>
                        </a:rPr>
                        <a:t>H</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90742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907427">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pic>
        <p:nvPicPr>
          <p:cNvPr id="3" name="Picture 2">
            <a:extLst>
              <a:ext uri="{FF2B5EF4-FFF2-40B4-BE49-F238E27FC236}">
                <a16:creationId xmlns:a16="http://schemas.microsoft.com/office/drawing/2014/main" id="{6DA4209E-A0B4-27DA-D37D-218656AF91A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rot="19631199">
            <a:off x="305774" y="4835472"/>
            <a:ext cx="1741326" cy="1685153"/>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0" y="994402"/>
            <a:ext cx="11243037" cy="893226"/>
          </a:xfrm>
        </p:spPr>
        <p:txBody>
          <a:bodyPr/>
          <a:lstStyle/>
          <a:p>
            <a:pPr algn="ctr">
              <a:lnSpc>
                <a:spcPct val="200000"/>
              </a:lnSpc>
            </a:pPr>
            <a:r>
              <a:rPr lang="en-AU" sz="4400"/>
              <a:t>In the number 4 873, there are:</a:t>
            </a:r>
          </a:p>
          <a:p>
            <a:pPr algn="ctr">
              <a:lnSpc>
                <a:spcPct val="200000"/>
              </a:lnSpc>
            </a:pPr>
            <a:r>
              <a:rPr lang="en-AU" sz="4400"/>
              <a:t>4 </a:t>
            </a:r>
            <a:r>
              <a:rPr lang="en-AU" sz="4400" b="1"/>
              <a:t>thousands, </a:t>
            </a:r>
            <a:r>
              <a:rPr lang="en-AU" sz="4400"/>
              <a:t>8 </a:t>
            </a:r>
            <a:r>
              <a:rPr lang="en-AU" sz="4400" b="1"/>
              <a:t>tens and </a:t>
            </a:r>
            <a:r>
              <a:rPr lang="en-AU" sz="4400"/>
              <a:t>3 </a:t>
            </a:r>
            <a:r>
              <a:rPr lang="en-AU" sz="4400" b="1"/>
              <a:t>ones</a:t>
            </a:r>
            <a:r>
              <a:rPr lang="en-AU" sz="4400"/>
              <a:t> </a:t>
            </a:r>
          </a:p>
          <a:p>
            <a:pPr algn="ctr">
              <a:lnSpc>
                <a:spcPct val="200000"/>
              </a:lnSpc>
            </a:pPr>
            <a:endParaRPr lang="en-AU" sz="4400"/>
          </a:p>
          <a:p>
            <a:endParaRPr lang="en-AU" sz="4400"/>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925048355"/>
              </p:ext>
            </p:extLst>
          </p:nvPr>
        </p:nvGraphicFramePr>
        <p:xfrm>
          <a:off x="2557462" y="461560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6">
            <a:extLst>
              <a:ext uri="{FF2B5EF4-FFF2-40B4-BE49-F238E27FC236}">
                <a16:creationId xmlns:a16="http://schemas.microsoft.com/office/drawing/2014/main" id="{23F4ADD0-FCE9-366F-25B4-0C54CA0AB888}"/>
              </a:ext>
            </a:extLst>
          </p:cNvPr>
          <p:cNvSpPr txBox="1">
            <a:spLocks/>
          </p:cNvSpPr>
          <p:nvPr/>
        </p:nvSpPr>
        <p:spPr>
          <a:xfrm>
            <a:off x="730657" y="5635702"/>
            <a:ext cx="11243037" cy="1423578"/>
          </a:xfrm>
          <a:prstGeom prst="rect">
            <a:avLst/>
          </a:prstGeom>
        </p:spPr>
        <p:txBody>
          <a:bodyPr vert="horz" lIns="0" tIns="0" rIns="0" bIns="0" rtlCol="0" anchor="t">
            <a:noAutofit/>
          </a:bodyPr>
          <a:lstStyle>
            <a:defPPr>
              <a:defRPr lang="en-US"/>
            </a:defPPr>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a:t>
            </a:r>
            <a:r>
              <a:rPr lang="en-US" sz="4400">
                <a:latin typeface="Arial"/>
                <a:cs typeface="Arial"/>
              </a:rPr>
              <a:t> your </a:t>
            </a:r>
            <a:r>
              <a:rPr lang="en-US" sz="4400" b="1">
                <a:latin typeface="Arial"/>
                <a:cs typeface="Arial"/>
              </a:rPr>
              <a:t>reasoning</a:t>
            </a:r>
            <a:r>
              <a:rPr lang="en-US" sz="4400">
                <a:latin typeface="Arial"/>
                <a:cs typeface="Arial"/>
              </a:rPr>
              <a:t>. </a:t>
            </a:r>
            <a:endParaRPr lang="en-US" sz="4400"/>
          </a:p>
        </p:txBody>
      </p:sp>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Rectangle: Rounded Corners 4">
            <a:extLst>
              <a:ext uri="{FF2B5EF4-FFF2-40B4-BE49-F238E27FC236}">
                <a16:creationId xmlns:a16="http://schemas.microsoft.com/office/drawing/2014/main" id="{800729D7-15AF-9B54-8141-135C64B72E32}"/>
              </a:ext>
            </a:extLst>
          </p:cNvPr>
          <p:cNvSpPr/>
          <p:nvPr/>
        </p:nvSpPr>
        <p:spPr>
          <a:xfrm>
            <a:off x="3297425" y="2341088"/>
            <a:ext cx="5597149" cy="1275939"/>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a:solidFill>
                  <a:schemeClr val="accent1"/>
                </a:solidFill>
              </a:rPr>
              <a:t>40 x 6</a:t>
            </a:r>
          </a:p>
        </p:txBody>
      </p:sp>
      <p:sp>
        <p:nvSpPr>
          <p:cNvPr id="4" name="TextBox 3">
            <a:extLst>
              <a:ext uri="{FF2B5EF4-FFF2-40B4-BE49-F238E27FC236}">
                <a16:creationId xmlns:a16="http://schemas.microsoft.com/office/drawing/2014/main" id="{0BF635DA-2D96-4627-28CF-F363340D3E20}"/>
              </a:ext>
            </a:extLst>
          </p:cNvPr>
          <p:cNvSpPr txBox="1"/>
          <p:nvPr/>
        </p:nvSpPr>
        <p:spPr>
          <a:xfrm>
            <a:off x="360000" y="1263263"/>
            <a:ext cx="2714172" cy="820674"/>
          </a:xfrm>
          <a:prstGeom prst="rect">
            <a:avLst/>
          </a:prstGeom>
          <a:noFill/>
        </p:spPr>
        <p:txBody>
          <a:bodyPr wrap="square">
            <a:spAutoFit/>
          </a:bodyPr>
          <a:lstStyle/>
          <a:p>
            <a:pPr algn="ctr">
              <a:lnSpc>
                <a:spcPct val="150000"/>
              </a:lnSpc>
            </a:pPr>
            <a:r>
              <a:rPr lang="en-US" sz="3600"/>
              <a:t>Solve: </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9" name="TextBox 8">
            <a:extLst>
              <a:ext uri="{FF2B5EF4-FFF2-40B4-BE49-F238E27FC236}">
                <a16:creationId xmlns:a16="http://schemas.microsoft.com/office/drawing/2014/main" id="{2A0B3F30-EFA3-1378-F4F1-81518BC2D297}"/>
              </a:ext>
            </a:extLst>
          </p:cNvPr>
          <p:cNvSpPr txBox="1"/>
          <p:nvPr/>
        </p:nvSpPr>
        <p:spPr>
          <a:xfrm>
            <a:off x="1384523" y="5408583"/>
            <a:ext cx="9422952" cy="820674"/>
          </a:xfrm>
          <a:prstGeom prst="rect">
            <a:avLst/>
          </a:prstGeom>
          <a:noFill/>
        </p:spPr>
        <p:txBody>
          <a:bodyPr wrap="square">
            <a:spAutoFit/>
          </a:bodyPr>
          <a:lstStyle/>
          <a:p>
            <a:pPr algn="ctr">
              <a:lnSpc>
                <a:spcPct val="150000"/>
              </a:lnSpc>
            </a:pPr>
            <a:r>
              <a:rPr lang="en-US" sz="3600" b="1"/>
              <a:t>Communicate</a:t>
            </a:r>
            <a:r>
              <a:rPr lang="en-US" sz="3600"/>
              <a:t> your </a:t>
            </a:r>
            <a:r>
              <a:rPr lang="en-US" sz="3600" b="1"/>
              <a:t>strategy. </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449FCB4-0827-8160-2D76-73B13B4B8817}"/>
              </a:ext>
            </a:extLst>
          </p:cNvPr>
          <p:cNvSpPr txBox="1"/>
          <p:nvPr/>
        </p:nvSpPr>
        <p:spPr>
          <a:xfrm>
            <a:off x="126127" y="1110003"/>
            <a:ext cx="11407930" cy="739754"/>
          </a:xfrm>
          <a:prstGeom prst="rect">
            <a:avLst/>
          </a:prstGeom>
          <a:noFill/>
        </p:spPr>
        <p:txBody>
          <a:bodyPr wrap="square">
            <a:spAutoFit/>
          </a:bodyPr>
          <a:lstStyle/>
          <a:p>
            <a:pPr rtl="0">
              <a:lnSpc>
                <a:spcPct val="150000"/>
              </a:lnSpc>
              <a:buNone/>
            </a:pPr>
            <a:r>
              <a:rPr lang="en-AU" sz="3200">
                <a:solidFill>
                  <a:srgbClr val="000000"/>
                </a:solidFill>
              </a:rPr>
              <a:t>Use </a:t>
            </a:r>
            <a:r>
              <a:rPr lang="en-AU" sz="3200" b="1">
                <a:solidFill>
                  <a:srgbClr val="000000"/>
                </a:solidFill>
              </a:rPr>
              <a:t>standard</a:t>
            </a:r>
            <a:r>
              <a:rPr lang="en-AU" sz="3200">
                <a:solidFill>
                  <a:srgbClr val="000000"/>
                </a:solidFill>
              </a:rPr>
              <a:t> </a:t>
            </a:r>
            <a:r>
              <a:rPr lang="en-AU" sz="3200" b="1">
                <a:solidFill>
                  <a:srgbClr val="000000"/>
                </a:solidFill>
              </a:rPr>
              <a:t>partitioning</a:t>
            </a:r>
            <a:r>
              <a:rPr lang="en-AU" sz="3200">
                <a:solidFill>
                  <a:srgbClr val="000000"/>
                </a:solidFill>
              </a:rPr>
              <a:t> to solve:</a:t>
            </a:r>
          </a:p>
        </p:txBody>
      </p:sp>
      <p:grpSp>
        <p:nvGrpSpPr>
          <p:cNvPr id="63" name="Group 62" descr="The number sentence 574 - 68 is written above with shapes branching off each digit.">
            <a:extLst>
              <a:ext uri="{FF2B5EF4-FFF2-40B4-BE49-F238E27FC236}">
                <a16:creationId xmlns:a16="http://schemas.microsoft.com/office/drawing/2014/main" id="{E6A42E50-1766-8ECA-9746-84D7BD37D0D4}"/>
              </a:ext>
            </a:extLst>
          </p:cNvPr>
          <p:cNvGrpSpPr/>
          <p:nvPr/>
        </p:nvGrpSpPr>
        <p:grpSpPr>
          <a:xfrm>
            <a:off x="7636045" y="1341388"/>
            <a:ext cx="3820371" cy="1587643"/>
            <a:chOff x="4006574" y="2081618"/>
            <a:chExt cx="3820371" cy="1587643"/>
          </a:xfrm>
          <a:effectLst>
            <a:outerShdw blurRad="63500" sx="102000" sy="102000" algn="ctr" rotWithShape="0">
              <a:prstClr val="black">
                <a:alpha val="40000"/>
              </a:prstClr>
            </a:outerShdw>
          </a:effectLst>
        </p:grpSpPr>
        <p:sp>
          <p:nvSpPr>
            <p:cNvPr id="38" name="TextBox 37">
              <a:extLst>
                <a:ext uri="{FF2B5EF4-FFF2-40B4-BE49-F238E27FC236}">
                  <a16:creationId xmlns:a16="http://schemas.microsoft.com/office/drawing/2014/main" id="{746E063B-3E5C-412C-3D91-35AF0E79CE70}"/>
                </a:ext>
              </a:extLst>
            </p:cNvPr>
            <p:cNvSpPr txBox="1"/>
            <p:nvPr/>
          </p:nvSpPr>
          <p:spPr>
            <a:xfrm>
              <a:off x="4214603" y="2081618"/>
              <a:ext cx="3559596" cy="632943"/>
            </a:xfrm>
            <a:prstGeom prst="rect">
              <a:avLst/>
            </a:prstGeom>
            <a:noFill/>
          </p:spPr>
          <p:txBody>
            <a:bodyPr wrap="none" lIns="0" tIns="0" rIns="0" bIns="0" rtlCol="0">
              <a:noAutofit/>
            </a:bodyPr>
            <a:lstStyle/>
            <a:p>
              <a:pPr algn="ctr"/>
              <a:r>
                <a:rPr lang="en-AU" sz="4000" spc="600"/>
                <a:t>574 - 68</a:t>
              </a:r>
            </a:p>
          </p:txBody>
        </p:sp>
        <p:sp>
          <p:nvSpPr>
            <p:cNvPr id="42" name="Rectangle 41">
              <a:extLst>
                <a:ext uri="{FF2B5EF4-FFF2-40B4-BE49-F238E27FC236}">
                  <a16:creationId xmlns:a16="http://schemas.microsoft.com/office/drawing/2014/main" id="{7A8EBE1B-57C0-11C5-6D56-5471D8B70FCE}"/>
                </a:ext>
              </a:extLst>
            </p:cNvPr>
            <p:cNvSpPr/>
            <p:nvPr/>
          </p:nvSpPr>
          <p:spPr>
            <a:xfrm>
              <a:off x="4006574" y="3036318"/>
              <a:ext cx="609972" cy="623399"/>
            </a:xfrm>
            <a:prstGeom prst="rect">
              <a:avLst/>
            </a:prstGeom>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43" name="Isosceles Triangle 42">
              <a:extLst>
                <a:ext uri="{FF2B5EF4-FFF2-40B4-BE49-F238E27FC236}">
                  <a16:creationId xmlns:a16="http://schemas.microsoft.com/office/drawing/2014/main" id="{849A8772-2626-B2FB-FFD4-08FBE349F370}"/>
                </a:ext>
              </a:extLst>
            </p:cNvPr>
            <p:cNvSpPr/>
            <p:nvPr/>
          </p:nvSpPr>
          <p:spPr>
            <a:xfrm>
              <a:off x="4725746" y="3023263"/>
              <a:ext cx="800100" cy="632943"/>
            </a:xfrm>
            <a:prstGeom prst="triangle">
              <a:avLst/>
            </a:prstGeom>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44" name="Oval 43">
              <a:extLst>
                <a:ext uri="{FF2B5EF4-FFF2-40B4-BE49-F238E27FC236}">
                  <a16:creationId xmlns:a16="http://schemas.microsoft.com/office/drawing/2014/main" id="{6554B15F-397A-2183-4B43-ED78BBB38580}"/>
                </a:ext>
              </a:extLst>
            </p:cNvPr>
            <p:cNvSpPr/>
            <p:nvPr/>
          </p:nvSpPr>
          <p:spPr>
            <a:xfrm>
              <a:off x="5527746" y="3036318"/>
              <a:ext cx="651374" cy="632943"/>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Isosceles Triangle 44">
              <a:extLst>
                <a:ext uri="{FF2B5EF4-FFF2-40B4-BE49-F238E27FC236}">
                  <a16:creationId xmlns:a16="http://schemas.microsoft.com/office/drawing/2014/main" id="{80B5E50A-BD70-7B69-9754-727758338845}"/>
                </a:ext>
              </a:extLst>
            </p:cNvPr>
            <p:cNvSpPr/>
            <p:nvPr/>
          </p:nvSpPr>
          <p:spPr>
            <a:xfrm>
              <a:off x="6290220" y="2994688"/>
              <a:ext cx="800100" cy="632943"/>
            </a:xfrm>
            <a:prstGeom prst="triangle">
              <a:avLst/>
            </a:prstGeom>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46" name="Oval 45">
              <a:extLst>
                <a:ext uri="{FF2B5EF4-FFF2-40B4-BE49-F238E27FC236}">
                  <a16:creationId xmlns:a16="http://schemas.microsoft.com/office/drawing/2014/main" id="{7EC4B51D-18DA-CA84-C7BA-B594DAAAC5F6}"/>
                </a:ext>
              </a:extLst>
            </p:cNvPr>
            <p:cNvSpPr/>
            <p:nvPr/>
          </p:nvSpPr>
          <p:spPr>
            <a:xfrm>
              <a:off x="7175571" y="3036318"/>
              <a:ext cx="651374" cy="632943"/>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8" name="Straight Connector 47">
              <a:extLst>
                <a:ext uri="{FF2B5EF4-FFF2-40B4-BE49-F238E27FC236}">
                  <a16:creationId xmlns:a16="http://schemas.microsoft.com/office/drawing/2014/main" id="{BB51A10F-556C-9EC5-93B6-B7A0CE9C3F5A}"/>
                </a:ext>
              </a:extLst>
            </p:cNvPr>
            <p:cNvCxnSpPr>
              <a:cxnSpLocks/>
              <a:stCxn id="42" idx="0"/>
            </p:cNvCxnSpPr>
            <p:nvPr/>
          </p:nvCxnSpPr>
          <p:spPr>
            <a:xfrm flipV="1">
              <a:off x="4311560" y="2714561"/>
              <a:ext cx="824127" cy="32175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CE4E595-AD77-882D-7F47-DE65586E0976}"/>
                </a:ext>
              </a:extLst>
            </p:cNvPr>
            <p:cNvCxnSpPr>
              <a:stCxn id="43" idx="0"/>
            </p:cNvCxnSpPr>
            <p:nvPr/>
          </p:nvCxnSpPr>
          <p:spPr>
            <a:xfrm flipV="1">
              <a:off x="5125796" y="2714561"/>
              <a:ext cx="9891" cy="308702"/>
            </a:xfrm>
            <a:prstGeom prst="line">
              <a:avLst/>
            </a:prstGeom>
            <a:ln w="38100">
              <a:solidFill>
                <a:schemeClr val="accent1"/>
              </a:solidFill>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F77DF39E-74D9-2B75-F479-2A83071C4B7D}"/>
                </a:ext>
              </a:extLst>
            </p:cNvPr>
            <p:cNvCxnSpPr>
              <a:cxnSpLocks/>
              <a:stCxn id="44" idx="0"/>
            </p:cNvCxnSpPr>
            <p:nvPr/>
          </p:nvCxnSpPr>
          <p:spPr>
            <a:xfrm flipH="1" flipV="1">
              <a:off x="5135687" y="2714561"/>
              <a:ext cx="717746" cy="321757"/>
            </a:xfrm>
            <a:prstGeom prst="line">
              <a:avLst/>
            </a:prstGeom>
            <a:ln w="38100">
              <a:solidFill>
                <a:schemeClr val="accent1"/>
              </a:solidFill>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F5160128-FAD5-3336-0FEA-A38F9FAC2E7B}"/>
                </a:ext>
              </a:extLst>
            </p:cNvPr>
            <p:cNvCxnSpPr>
              <a:cxnSpLocks/>
              <a:stCxn id="45" idx="0"/>
            </p:cNvCxnSpPr>
            <p:nvPr/>
          </p:nvCxnSpPr>
          <p:spPr>
            <a:xfrm flipV="1">
              <a:off x="6690270" y="2690749"/>
              <a:ext cx="167730" cy="30393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719A4A2-EEBE-A8F5-9EC5-8A5D921E2A21}"/>
                </a:ext>
              </a:extLst>
            </p:cNvPr>
            <p:cNvCxnSpPr>
              <a:cxnSpLocks/>
              <a:stCxn id="46" idx="0"/>
            </p:cNvCxnSpPr>
            <p:nvPr/>
          </p:nvCxnSpPr>
          <p:spPr>
            <a:xfrm flipH="1" flipV="1">
              <a:off x="6849884" y="2724703"/>
              <a:ext cx="651374" cy="311615"/>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79" name="TextBox 78">
            <a:extLst>
              <a:ext uri="{FF2B5EF4-FFF2-40B4-BE49-F238E27FC236}">
                <a16:creationId xmlns:a16="http://schemas.microsoft.com/office/drawing/2014/main" id="{28F7D5A0-28B9-AC77-9B1C-7B890EE3710F}"/>
              </a:ext>
            </a:extLst>
          </p:cNvPr>
          <p:cNvSpPr txBox="1"/>
          <p:nvPr/>
        </p:nvSpPr>
        <p:spPr>
          <a:xfrm>
            <a:off x="226813" y="3097882"/>
            <a:ext cx="11407930" cy="820674"/>
          </a:xfrm>
          <a:prstGeom prst="rect">
            <a:avLst/>
          </a:prstGeom>
          <a:noFill/>
        </p:spPr>
        <p:txBody>
          <a:bodyPr wrap="square">
            <a:spAutoFit/>
          </a:bodyPr>
          <a:lstStyle/>
          <a:p>
            <a:pPr rtl="0">
              <a:lnSpc>
                <a:spcPct val="150000"/>
              </a:lnSpc>
              <a:buNone/>
            </a:pPr>
            <a:r>
              <a:rPr lang="en-AU" sz="3600">
                <a:solidFill>
                  <a:srgbClr val="000000"/>
                </a:solidFill>
              </a:rPr>
              <a:t>Use </a:t>
            </a:r>
            <a:r>
              <a:rPr lang="en-AU" sz="3600" b="1">
                <a:solidFill>
                  <a:srgbClr val="000000"/>
                </a:solidFill>
              </a:rPr>
              <a:t>non-standard</a:t>
            </a:r>
            <a:r>
              <a:rPr lang="en-AU" sz="3600">
                <a:solidFill>
                  <a:srgbClr val="000000"/>
                </a:solidFill>
              </a:rPr>
              <a:t> </a:t>
            </a:r>
            <a:r>
              <a:rPr lang="en-AU" sz="3600" b="1">
                <a:solidFill>
                  <a:srgbClr val="000000"/>
                </a:solidFill>
              </a:rPr>
              <a:t>partitioning</a:t>
            </a:r>
            <a:r>
              <a:rPr lang="en-AU" sz="3600">
                <a:solidFill>
                  <a:srgbClr val="000000"/>
                </a:solidFill>
              </a:rPr>
              <a:t> to solve:</a:t>
            </a:r>
          </a:p>
        </p:txBody>
      </p:sp>
      <p:grpSp>
        <p:nvGrpSpPr>
          <p:cNvPr id="78" name="Group 77" descr="The number sentence 473 - 28 is written above with shapes branching off each digit.">
            <a:extLst>
              <a:ext uri="{FF2B5EF4-FFF2-40B4-BE49-F238E27FC236}">
                <a16:creationId xmlns:a16="http://schemas.microsoft.com/office/drawing/2014/main" id="{13933ACC-0AF6-8A8A-5564-6EBC32A5ACCE}"/>
              </a:ext>
            </a:extLst>
          </p:cNvPr>
          <p:cNvGrpSpPr/>
          <p:nvPr/>
        </p:nvGrpSpPr>
        <p:grpSpPr>
          <a:xfrm>
            <a:off x="7713686" y="3950759"/>
            <a:ext cx="3820371" cy="1587643"/>
            <a:chOff x="4020592" y="4488796"/>
            <a:chExt cx="3820371" cy="1587643"/>
          </a:xfrm>
          <a:effectLst>
            <a:outerShdw blurRad="63500" sx="102000" sy="102000" algn="ctr" rotWithShape="0">
              <a:prstClr val="black">
                <a:alpha val="40000"/>
              </a:prstClr>
            </a:outerShdw>
          </a:effectLst>
        </p:grpSpPr>
        <p:sp>
          <p:nvSpPr>
            <p:cNvPr id="65" name="TextBox 64">
              <a:extLst>
                <a:ext uri="{FF2B5EF4-FFF2-40B4-BE49-F238E27FC236}">
                  <a16:creationId xmlns:a16="http://schemas.microsoft.com/office/drawing/2014/main" id="{2357A41B-94AB-6F1E-ACDC-238BCDD25D27}"/>
                </a:ext>
              </a:extLst>
            </p:cNvPr>
            <p:cNvSpPr txBox="1"/>
            <p:nvPr/>
          </p:nvSpPr>
          <p:spPr>
            <a:xfrm>
              <a:off x="4228621" y="4488796"/>
              <a:ext cx="3559596" cy="632943"/>
            </a:xfrm>
            <a:prstGeom prst="rect">
              <a:avLst/>
            </a:prstGeom>
            <a:noFill/>
          </p:spPr>
          <p:txBody>
            <a:bodyPr wrap="none" lIns="0" tIns="0" rIns="0" bIns="0" rtlCol="0">
              <a:noAutofit/>
            </a:bodyPr>
            <a:lstStyle/>
            <a:p>
              <a:pPr algn="ctr"/>
              <a:r>
                <a:rPr lang="en-AU" sz="4000" spc="600"/>
                <a:t>473 - 28</a:t>
              </a:r>
            </a:p>
          </p:txBody>
        </p:sp>
        <p:sp>
          <p:nvSpPr>
            <p:cNvPr id="66" name="Rectangle 65">
              <a:extLst>
                <a:ext uri="{FF2B5EF4-FFF2-40B4-BE49-F238E27FC236}">
                  <a16:creationId xmlns:a16="http://schemas.microsoft.com/office/drawing/2014/main" id="{BCC1F617-DBE6-8242-ADF2-8B6611A5D0FC}"/>
                </a:ext>
              </a:extLst>
            </p:cNvPr>
            <p:cNvSpPr/>
            <p:nvPr/>
          </p:nvSpPr>
          <p:spPr>
            <a:xfrm>
              <a:off x="4020592" y="5443496"/>
              <a:ext cx="609972" cy="623399"/>
            </a:xfrm>
            <a:prstGeom prst="rect">
              <a:avLst/>
            </a:prstGeom>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000"/>
                <a:t>400</a:t>
              </a:r>
            </a:p>
          </p:txBody>
        </p:sp>
        <p:sp>
          <p:nvSpPr>
            <p:cNvPr id="67" name="Isosceles Triangle 66">
              <a:extLst>
                <a:ext uri="{FF2B5EF4-FFF2-40B4-BE49-F238E27FC236}">
                  <a16:creationId xmlns:a16="http://schemas.microsoft.com/office/drawing/2014/main" id="{52C3837E-6DC3-9812-45FF-2EB74A32457E}"/>
                </a:ext>
              </a:extLst>
            </p:cNvPr>
            <p:cNvSpPr/>
            <p:nvPr/>
          </p:nvSpPr>
          <p:spPr>
            <a:xfrm>
              <a:off x="4673088" y="5430441"/>
              <a:ext cx="887251" cy="632943"/>
            </a:xfrm>
            <a:prstGeom prst="triangle">
              <a:avLst/>
            </a:prstGeom>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1800"/>
                <a:t>60</a:t>
              </a:r>
              <a:endParaRPr lang="en-AU"/>
            </a:p>
          </p:txBody>
        </p:sp>
        <p:sp>
          <p:nvSpPr>
            <p:cNvPr id="68" name="Oval 67">
              <a:extLst>
                <a:ext uri="{FF2B5EF4-FFF2-40B4-BE49-F238E27FC236}">
                  <a16:creationId xmlns:a16="http://schemas.microsoft.com/office/drawing/2014/main" id="{05E00157-BFE7-05D4-7071-9BBC5260689B}"/>
                </a:ext>
              </a:extLst>
            </p:cNvPr>
            <p:cNvSpPr/>
            <p:nvPr/>
          </p:nvSpPr>
          <p:spPr>
            <a:xfrm>
              <a:off x="5541764" y="5443496"/>
              <a:ext cx="651374" cy="632943"/>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800">
                  <a:solidFill>
                    <a:schemeClr val="tx1"/>
                  </a:solidFill>
                </a:rPr>
                <a:t>13</a:t>
              </a:r>
              <a:endParaRPr lang="en-AU">
                <a:solidFill>
                  <a:schemeClr val="tx1"/>
                </a:solidFill>
              </a:endParaRPr>
            </a:p>
          </p:txBody>
        </p:sp>
        <p:sp>
          <p:nvSpPr>
            <p:cNvPr id="69" name="Isosceles Triangle 68">
              <a:extLst>
                <a:ext uri="{FF2B5EF4-FFF2-40B4-BE49-F238E27FC236}">
                  <a16:creationId xmlns:a16="http://schemas.microsoft.com/office/drawing/2014/main" id="{64D60381-F0A0-3FC2-F937-2699956FABF6}"/>
                </a:ext>
              </a:extLst>
            </p:cNvPr>
            <p:cNvSpPr/>
            <p:nvPr/>
          </p:nvSpPr>
          <p:spPr>
            <a:xfrm>
              <a:off x="6304237" y="5401866"/>
              <a:ext cx="885351" cy="661518"/>
            </a:xfrm>
            <a:prstGeom prst="triangle">
              <a:avLst/>
            </a:prstGeom>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1800"/>
                <a:t>20</a:t>
              </a:r>
              <a:endParaRPr lang="en-AU"/>
            </a:p>
          </p:txBody>
        </p:sp>
        <p:sp>
          <p:nvSpPr>
            <p:cNvPr id="70" name="Oval 69">
              <a:extLst>
                <a:ext uri="{FF2B5EF4-FFF2-40B4-BE49-F238E27FC236}">
                  <a16:creationId xmlns:a16="http://schemas.microsoft.com/office/drawing/2014/main" id="{7F883AAC-699E-2311-BE6D-551FAF5C17E3}"/>
                </a:ext>
              </a:extLst>
            </p:cNvPr>
            <p:cNvSpPr/>
            <p:nvPr/>
          </p:nvSpPr>
          <p:spPr>
            <a:xfrm>
              <a:off x="7189589" y="5443496"/>
              <a:ext cx="651374" cy="632943"/>
            </a:xfrm>
            <a:prstGeom prst="ellipse">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000">
                  <a:solidFill>
                    <a:schemeClr val="tx1"/>
                  </a:solidFill>
                </a:rPr>
                <a:t>8</a:t>
              </a:r>
            </a:p>
          </p:txBody>
        </p:sp>
        <p:cxnSp>
          <p:nvCxnSpPr>
            <p:cNvPr id="71" name="Straight Connector 70">
              <a:extLst>
                <a:ext uri="{FF2B5EF4-FFF2-40B4-BE49-F238E27FC236}">
                  <a16:creationId xmlns:a16="http://schemas.microsoft.com/office/drawing/2014/main" id="{A5929C69-318B-1B8E-6096-F1BBEE7FADF3}"/>
                </a:ext>
              </a:extLst>
            </p:cNvPr>
            <p:cNvCxnSpPr>
              <a:cxnSpLocks/>
              <a:stCxn id="66" idx="0"/>
            </p:cNvCxnSpPr>
            <p:nvPr/>
          </p:nvCxnSpPr>
          <p:spPr>
            <a:xfrm flipV="1">
              <a:off x="4325578" y="5121739"/>
              <a:ext cx="824127" cy="321757"/>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256E8AD-64A5-D27A-FA02-14519076C914}"/>
                </a:ext>
              </a:extLst>
            </p:cNvPr>
            <p:cNvCxnSpPr>
              <a:cxnSpLocks/>
              <a:stCxn id="67" idx="0"/>
            </p:cNvCxnSpPr>
            <p:nvPr/>
          </p:nvCxnSpPr>
          <p:spPr>
            <a:xfrm flipH="1" flipV="1">
              <a:off x="5083030" y="5121739"/>
              <a:ext cx="33684" cy="308702"/>
            </a:xfrm>
            <a:prstGeom prst="line">
              <a:avLst/>
            </a:prstGeom>
            <a:ln w="38100">
              <a:solidFill>
                <a:schemeClr val="accent1"/>
              </a:solidFill>
            </a:ln>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B221DA9C-D295-C1D6-E8CC-96F1DB79E572}"/>
                </a:ext>
              </a:extLst>
            </p:cNvPr>
            <p:cNvCxnSpPr>
              <a:cxnSpLocks/>
              <a:stCxn id="68" idx="0"/>
            </p:cNvCxnSpPr>
            <p:nvPr/>
          </p:nvCxnSpPr>
          <p:spPr>
            <a:xfrm flipH="1" flipV="1">
              <a:off x="5149705" y="5121739"/>
              <a:ext cx="717746" cy="321757"/>
            </a:xfrm>
            <a:prstGeom prst="line">
              <a:avLst/>
            </a:prstGeom>
            <a:ln w="38100">
              <a:solidFill>
                <a:schemeClr val="accent1"/>
              </a:solidFill>
            </a:ln>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2B1757A7-83DA-53C6-63A9-32633F1E7E90}"/>
                </a:ext>
              </a:extLst>
            </p:cNvPr>
            <p:cNvCxnSpPr>
              <a:cxnSpLocks/>
              <a:stCxn id="69" idx="0"/>
            </p:cNvCxnSpPr>
            <p:nvPr/>
          </p:nvCxnSpPr>
          <p:spPr>
            <a:xfrm flipV="1">
              <a:off x="6746913" y="5097927"/>
              <a:ext cx="125105" cy="30393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2411109-9F39-62BA-C549-509B30BB7222}"/>
                </a:ext>
              </a:extLst>
            </p:cNvPr>
            <p:cNvCxnSpPr>
              <a:cxnSpLocks/>
              <a:stCxn id="70" idx="0"/>
            </p:cNvCxnSpPr>
            <p:nvPr/>
          </p:nvCxnSpPr>
          <p:spPr>
            <a:xfrm flipH="1" flipV="1">
              <a:off x="6863902" y="5131881"/>
              <a:ext cx="651374" cy="311615"/>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81" name="TextBox 80">
            <a:extLst>
              <a:ext uri="{FF2B5EF4-FFF2-40B4-BE49-F238E27FC236}">
                <a16:creationId xmlns:a16="http://schemas.microsoft.com/office/drawing/2014/main" id="{DCA33DE8-3EE8-E199-0FFC-B91DED4EF691}"/>
              </a:ext>
            </a:extLst>
          </p:cNvPr>
          <p:cNvSpPr txBox="1"/>
          <p:nvPr/>
        </p:nvSpPr>
        <p:spPr>
          <a:xfrm>
            <a:off x="226814" y="5948453"/>
            <a:ext cx="11407930" cy="739754"/>
          </a:xfrm>
          <a:prstGeom prst="rect">
            <a:avLst/>
          </a:prstGeom>
          <a:noFill/>
        </p:spPr>
        <p:txBody>
          <a:bodyPr wrap="square">
            <a:spAutoFit/>
          </a:bodyPr>
          <a:lstStyle/>
          <a:p>
            <a:pPr algn="ctr" rtl="0">
              <a:lnSpc>
                <a:spcPct val="150000"/>
              </a:lnSpc>
              <a:buNone/>
            </a:pPr>
            <a:r>
              <a:rPr lang="en-AU" sz="3200" b="1">
                <a:solidFill>
                  <a:srgbClr val="000000"/>
                </a:solidFill>
              </a:rPr>
              <a:t>Why</a:t>
            </a:r>
            <a:r>
              <a:rPr lang="en-AU" sz="3200">
                <a:solidFill>
                  <a:srgbClr val="000000"/>
                </a:solidFill>
              </a:rPr>
              <a:t> do you think </a:t>
            </a:r>
            <a:r>
              <a:rPr lang="en-AU" sz="3200" b="1">
                <a:solidFill>
                  <a:srgbClr val="000000"/>
                </a:solidFill>
              </a:rPr>
              <a:t>non-standard partitioning </a:t>
            </a:r>
            <a:r>
              <a:rPr lang="en-AU" sz="3200">
                <a:solidFill>
                  <a:srgbClr val="000000"/>
                </a:solidFill>
              </a:rPr>
              <a:t>has been used?</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12A67DA-CDE8-A8D4-EC7A-8B6C166E98D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772228" y="2552605"/>
            <a:ext cx="7649029" cy="4274675"/>
          </a:xfrm>
          <a:prstGeom prst="rect">
            <a:avLst/>
          </a:prstGeom>
          <a:ln>
            <a:noFill/>
          </a:ln>
          <a:effectLst>
            <a:outerShdw blurRad="292100" dist="139700" dir="2700000" algn="tl" rotWithShape="0">
              <a:srgbClr val="333333">
                <a:alpha val="65000"/>
              </a:srgbClr>
            </a:outerShdw>
          </a:effectLst>
        </p:spPr>
      </p:pic>
      <p:sp>
        <p:nvSpPr>
          <p:cNvPr id="3" name="Title 2">
            <a:extLst>
              <a:ext uri="{FF2B5EF4-FFF2-40B4-BE49-F238E27FC236}">
                <a16:creationId xmlns:a16="http://schemas.microsoft.com/office/drawing/2014/main" id="{F53763F8-C3C4-B983-329C-D3784AE66DCA}"/>
              </a:ext>
            </a:extLst>
          </p:cNvPr>
          <p:cNvSpPr>
            <a:spLocks noGrp="1"/>
          </p:cNvSpPr>
          <p:nvPr>
            <p:ph type="title"/>
          </p:nvPr>
        </p:nvSpPr>
        <p:spPr/>
        <p:txBody>
          <a:bodyPr/>
          <a:lstStyle/>
          <a:p>
            <a:r>
              <a:rPr lang="en-AU"/>
              <a:t>Short response </a:t>
            </a:r>
            <a:r>
              <a:rPr lang="en-AU">
                <a:solidFill>
                  <a:schemeClr val="bg1"/>
                </a:solidFill>
              </a:rPr>
              <a:t>(31)</a:t>
            </a:r>
          </a:p>
        </p:txBody>
      </p:sp>
      <p:pic>
        <p:nvPicPr>
          <p:cNvPr id="4" name="Picture 3" descr="image of a clipboard with a pencil recording short answer responses">
            <a:extLst>
              <a:ext uri="{FF2B5EF4-FFF2-40B4-BE49-F238E27FC236}">
                <a16:creationId xmlns:a16="http://schemas.microsoft.com/office/drawing/2014/main" id="{3D08B97A-28DA-190E-9104-AF64B35849B9}"/>
              </a:ext>
            </a:extLst>
          </p:cNvPr>
          <p:cNvPicPr>
            <a:picLocks noChangeAspect="1"/>
          </p:cNvPicPr>
          <p:nvPr/>
        </p:nvPicPr>
        <p:blipFill>
          <a:blip r:embed="rId4"/>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5258BC95-A70B-DCBD-7A92-6F658FA0DEC9}"/>
              </a:ext>
            </a:extLst>
          </p:cNvPr>
          <p:cNvSpPr txBox="1"/>
          <p:nvPr/>
        </p:nvSpPr>
        <p:spPr>
          <a:xfrm>
            <a:off x="464457" y="728452"/>
            <a:ext cx="10549485" cy="1824923"/>
          </a:xfrm>
          <a:prstGeom prst="rect">
            <a:avLst/>
          </a:prstGeom>
          <a:noFill/>
        </p:spPr>
        <p:txBody>
          <a:bodyPr wrap="square">
            <a:spAutoFit/>
          </a:bodyPr>
          <a:lstStyle/>
          <a:p>
            <a:pPr algn="ctr" rtl="0">
              <a:lnSpc>
                <a:spcPct val="150000"/>
              </a:lnSpc>
            </a:pPr>
            <a:r>
              <a:rPr lang="en-AU" sz="4000">
                <a:solidFill>
                  <a:srgbClr val="000000"/>
                </a:solidFill>
              </a:rPr>
              <a:t>Would it be </a:t>
            </a:r>
            <a:r>
              <a:rPr lang="en-AU" sz="4000" b="1">
                <a:solidFill>
                  <a:srgbClr val="000000"/>
                </a:solidFill>
              </a:rPr>
              <a:t>efficient </a:t>
            </a:r>
            <a:r>
              <a:rPr lang="en-AU" sz="4000">
                <a:solidFill>
                  <a:srgbClr val="000000"/>
                </a:solidFill>
              </a:rPr>
              <a:t>to r</a:t>
            </a:r>
            <a:r>
              <a:rPr lang="en-AU" sz="4000" i="0">
                <a:solidFill>
                  <a:srgbClr val="000000"/>
                </a:solidFill>
                <a:effectLst/>
              </a:rPr>
              <a:t>epresent this data in a </a:t>
            </a:r>
            <a:r>
              <a:rPr lang="en-AU" sz="4000" b="1" i="0">
                <a:solidFill>
                  <a:srgbClr val="000000"/>
                </a:solidFill>
                <a:effectLst/>
              </a:rPr>
              <a:t>tally table? Why or why not? </a:t>
            </a:r>
            <a:endParaRPr lang="en-AU" sz="4000" b="0" i="0">
              <a:solidFill>
                <a:srgbClr val="000000"/>
              </a:solidFill>
              <a:effectLst/>
            </a:endParaRPr>
          </a:p>
        </p:txBody>
      </p:sp>
      <p:pic>
        <p:nvPicPr>
          <p:cNvPr id="8" name="Picture 3" descr="A column graph showing popularity of Australian fruit but correctly, data is accurate and is clear to read. ">
            <a:extLst>
              <a:ext uri="{FF2B5EF4-FFF2-40B4-BE49-F238E27FC236}">
                <a16:creationId xmlns:a16="http://schemas.microsoft.com/office/drawing/2014/main" id="{C64C8A6F-4ED7-6DD1-D32F-86E64AFB6059}"/>
              </a:ext>
            </a:extLst>
          </p:cNvPr>
          <p:cNvPicPr>
            <a:picLocks noChangeAspect="1"/>
          </p:cNvPicPr>
          <p:nvPr/>
        </p:nvPicPr>
        <p:blipFill>
          <a:blip r:embed="rId5"/>
          <a:srcRect l="1" t="12769" r="-1142" b="13839"/>
          <a:stretch>
            <a:fillRect/>
          </a:stretch>
        </p:blipFill>
        <p:spPr>
          <a:xfrm>
            <a:off x="2306152" y="2921827"/>
            <a:ext cx="8311740" cy="3963395"/>
          </a:xfrm>
          <a:prstGeom prst="rect">
            <a:avLst/>
          </a:prstGeom>
        </p:spPr>
      </p:pic>
      <p:sp>
        <p:nvSpPr>
          <p:cNvPr id="2" name="Slide Number Placeholder 1">
            <a:extLst>
              <a:ext uri="{FF2B5EF4-FFF2-40B4-BE49-F238E27FC236}">
                <a16:creationId xmlns:a16="http://schemas.microsoft.com/office/drawing/2014/main" id="{8EFAF933-C03D-DEBA-7E73-9083C4E5A1A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1897443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E6A2D-CCD3-8A44-B464-FB7E69BBA32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B7C2283-AF1F-F2B0-40DA-005ECB51122F}"/>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descr="image of a clipboard with a pencil recording short answer responses">
            <a:extLst>
              <a:ext uri="{FF2B5EF4-FFF2-40B4-BE49-F238E27FC236}">
                <a16:creationId xmlns:a16="http://schemas.microsoft.com/office/drawing/2014/main" id="{0CDAC15F-774F-54FF-F7AD-D5F6AFFC5B9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F6B1C36-29A8-315E-A74D-7D73D86453D6}"/>
              </a:ext>
            </a:extLst>
          </p:cNvPr>
          <p:cNvSpPr txBox="1"/>
          <p:nvPr/>
        </p:nvSpPr>
        <p:spPr>
          <a:xfrm>
            <a:off x="246024" y="1086484"/>
            <a:ext cx="11471385" cy="769441"/>
          </a:xfrm>
          <a:prstGeom prst="rect">
            <a:avLst/>
          </a:prstGeom>
          <a:noFill/>
        </p:spPr>
        <p:txBody>
          <a:bodyPr wrap="square">
            <a:spAutoFit/>
          </a:bodyPr>
          <a:lstStyle/>
          <a:p>
            <a:pPr algn="ctr" rtl="0"/>
            <a:r>
              <a:rPr lang="en-AU" sz="4400" i="0">
                <a:solidFill>
                  <a:srgbClr val="000000"/>
                </a:solidFill>
                <a:effectLst/>
              </a:rPr>
              <a:t>Draw this shape after a 3-quarter turn. </a:t>
            </a:r>
            <a:endParaRPr lang="en-AU" sz="4400" b="0" i="0">
              <a:solidFill>
                <a:srgbClr val="000000"/>
              </a:solidFill>
              <a:effectLst/>
            </a:endParaRPr>
          </a:p>
        </p:txBody>
      </p:sp>
      <p:sp>
        <p:nvSpPr>
          <p:cNvPr id="11" name="Freeform 3" descr="An image of a burgundy isoceles triangle.">
            <a:extLst>
              <a:ext uri="{FF2B5EF4-FFF2-40B4-BE49-F238E27FC236}">
                <a16:creationId xmlns:a16="http://schemas.microsoft.com/office/drawing/2014/main" id="{0E9A9B43-9035-983A-69BC-1EAB86049DC8}"/>
              </a:ext>
            </a:extLst>
          </p:cNvPr>
          <p:cNvSpPr/>
          <p:nvPr/>
        </p:nvSpPr>
        <p:spPr>
          <a:xfrm>
            <a:off x="4679576" y="1913698"/>
            <a:ext cx="2655276" cy="3583926"/>
          </a:xfrm>
          <a:custGeom>
            <a:avLst/>
            <a:gdLst/>
            <a:ahLst/>
            <a:cxnLst/>
            <a:rect l="l" t="t" r="r" b="b"/>
            <a:pathLst>
              <a:path w="2540160" h="3024000">
                <a:moveTo>
                  <a:pt x="0" y="0"/>
                </a:moveTo>
                <a:lnTo>
                  <a:pt x="2540160" y="0"/>
                </a:lnTo>
                <a:lnTo>
                  <a:pt x="254016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7" name="TextBox 6">
            <a:extLst>
              <a:ext uri="{FF2B5EF4-FFF2-40B4-BE49-F238E27FC236}">
                <a16:creationId xmlns:a16="http://schemas.microsoft.com/office/drawing/2014/main" id="{0FE38FA9-3DCF-1E0F-9DBA-429BA5C16FEB}"/>
              </a:ext>
            </a:extLst>
          </p:cNvPr>
          <p:cNvSpPr txBox="1"/>
          <p:nvPr/>
        </p:nvSpPr>
        <p:spPr>
          <a:xfrm>
            <a:off x="432686" y="5497624"/>
            <a:ext cx="11098059" cy="982513"/>
          </a:xfrm>
          <a:prstGeom prst="rect">
            <a:avLst/>
          </a:prstGeom>
          <a:noFill/>
        </p:spPr>
        <p:txBody>
          <a:bodyPr wrap="square">
            <a:spAutoFit/>
          </a:bodyPr>
          <a:lstStyle/>
          <a:p>
            <a:pPr algn="ctr" rtl="0">
              <a:lnSpc>
                <a:spcPct val="150000"/>
              </a:lnSpc>
            </a:pPr>
            <a:r>
              <a:rPr lang="en-AU" sz="4400" b="1" i="0">
                <a:solidFill>
                  <a:srgbClr val="000000"/>
                </a:solidFill>
                <a:effectLst/>
              </a:rPr>
              <a:t>Communicate </a:t>
            </a:r>
            <a:r>
              <a:rPr lang="en-AU" sz="4400" i="0">
                <a:solidFill>
                  <a:srgbClr val="000000"/>
                </a:solidFill>
                <a:effectLst/>
              </a:rPr>
              <a:t>your </a:t>
            </a:r>
            <a:r>
              <a:rPr lang="en-AU" sz="4400" b="1" i="0">
                <a:solidFill>
                  <a:srgbClr val="000000"/>
                </a:solidFill>
                <a:effectLst/>
              </a:rPr>
              <a:t>thinking</a:t>
            </a:r>
            <a:r>
              <a:rPr lang="en-AU" sz="4400" i="0">
                <a:solidFill>
                  <a:srgbClr val="000000"/>
                </a:solidFill>
                <a:effectLst/>
              </a:rPr>
              <a:t>. </a:t>
            </a:r>
          </a:p>
        </p:txBody>
      </p:sp>
      <p:sp>
        <p:nvSpPr>
          <p:cNvPr id="2" name="Slide Number Placeholder 1">
            <a:extLst>
              <a:ext uri="{FF2B5EF4-FFF2-40B4-BE49-F238E27FC236}">
                <a16:creationId xmlns:a16="http://schemas.microsoft.com/office/drawing/2014/main" id="{F8A204B5-54D1-E98A-7BCD-5DA5AC29A71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1880073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multiplying whole numbers by 10, 100 or 1000</a:t>
            </a:r>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Rectangle: Rounded Corners 2">
            <a:extLst>
              <a:ext uri="{FF2B5EF4-FFF2-40B4-BE49-F238E27FC236}">
                <a16:creationId xmlns:a16="http://schemas.microsoft.com/office/drawing/2014/main" id="{78C4E52B-774E-835E-54F0-D75E6167367B}"/>
              </a:ext>
            </a:extLst>
          </p:cNvPr>
          <p:cNvSpPr/>
          <p:nvPr/>
        </p:nvSpPr>
        <p:spPr>
          <a:xfrm>
            <a:off x="1654635" y="1632858"/>
            <a:ext cx="2094411" cy="1345474"/>
          </a:xfrm>
          <a:prstGeom prst="roundRect">
            <a:avLst/>
          </a:prstGeom>
          <a:solidFill>
            <a:schemeClr val="accent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200">
                <a:solidFill>
                  <a:schemeClr val="accent1"/>
                </a:solidFill>
                <a:latin typeface="Edu NSW ACT Foundation" pitchFamily="2" charset="0"/>
              </a:rPr>
              <a:t>7</a:t>
            </a:r>
            <a:endParaRPr lang="en-AU">
              <a:solidFill>
                <a:schemeClr val="accent1"/>
              </a:solidFill>
              <a:latin typeface="Edu NSW ACT Foundation" pitchFamily="2" charset="0"/>
            </a:endParaRPr>
          </a:p>
        </p:txBody>
      </p:sp>
      <p:sp>
        <p:nvSpPr>
          <p:cNvPr id="5" name="Rectangle: Rounded Corners 4">
            <a:extLst>
              <a:ext uri="{FF2B5EF4-FFF2-40B4-BE49-F238E27FC236}">
                <a16:creationId xmlns:a16="http://schemas.microsoft.com/office/drawing/2014/main" id="{87FD6FE1-3C9F-E860-58B1-C1007CD068BB}"/>
              </a:ext>
            </a:extLst>
          </p:cNvPr>
          <p:cNvSpPr/>
          <p:nvPr/>
        </p:nvSpPr>
        <p:spPr>
          <a:xfrm>
            <a:off x="3958051" y="1632858"/>
            <a:ext cx="2094413" cy="1345474"/>
          </a:xfrm>
          <a:prstGeom prst="roundRect">
            <a:avLst/>
          </a:prstGeom>
          <a:solidFill>
            <a:schemeClr val="accent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200">
                <a:solidFill>
                  <a:schemeClr val="accent1"/>
                </a:solidFill>
                <a:latin typeface="Edu NSW ACT Foundation" pitchFamily="2" charset="0"/>
              </a:rPr>
              <a:t>25</a:t>
            </a:r>
            <a:endParaRPr lang="en-AU">
              <a:solidFill>
                <a:schemeClr val="accent1"/>
              </a:solidFill>
              <a:latin typeface="Edu NSW ACT Foundation" pitchFamily="2" charset="0"/>
            </a:endParaRPr>
          </a:p>
        </p:txBody>
      </p:sp>
      <p:sp>
        <p:nvSpPr>
          <p:cNvPr id="7" name="Rectangle: Rounded Corners 6">
            <a:extLst>
              <a:ext uri="{FF2B5EF4-FFF2-40B4-BE49-F238E27FC236}">
                <a16:creationId xmlns:a16="http://schemas.microsoft.com/office/drawing/2014/main" id="{A762C3AD-7788-00E3-834C-AE8AE2041CAF}"/>
              </a:ext>
            </a:extLst>
          </p:cNvPr>
          <p:cNvSpPr/>
          <p:nvPr/>
        </p:nvSpPr>
        <p:spPr>
          <a:xfrm>
            <a:off x="6261468" y="1632858"/>
            <a:ext cx="2094413" cy="1345474"/>
          </a:xfrm>
          <a:prstGeom prst="roundRect">
            <a:avLst/>
          </a:prstGeom>
          <a:solidFill>
            <a:schemeClr val="accent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200">
                <a:solidFill>
                  <a:schemeClr val="accent1"/>
                </a:solidFill>
                <a:latin typeface="Edu NSW ACT Foundation" pitchFamily="2" charset="0"/>
              </a:rPr>
              <a:t>304</a:t>
            </a:r>
            <a:endParaRPr lang="en-AU">
              <a:solidFill>
                <a:schemeClr val="accent1"/>
              </a:solidFill>
              <a:latin typeface="Edu NSW ACT Foundation" pitchFamily="2" charset="0"/>
            </a:endParaRPr>
          </a:p>
        </p:txBody>
      </p:sp>
      <p:sp>
        <p:nvSpPr>
          <p:cNvPr id="8" name="Rectangle: Rounded Corners 7">
            <a:extLst>
              <a:ext uri="{FF2B5EF4-FFF2-40B4-BE49-F238E27FC236}">
                <a16:creationId xmlns:a16="http://schemas.microsoft.com/office/drawing/2014/main" id="{D39EA212-911A-C888-9709-D1020202023C}"/>
              </a:ext>
            </a:extLst>
          </p:cNvPr>
          <p:cNvSpPr/>
          <p:nvPr/>
        </p:nvSpPr>
        <p:spPr>
          <a:xfrm>
            <a:off x="8564885" y="1632858"/>
            <a:ext cx="2094413" cy="1345474"/>
          </a:xfrm>
          <a:prstGeom prst="roundRect">
            <a:avLst/>
          </a:prstGeom>
          <a:solidFill>
            <a:schemeClr val="accent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200">
                <a:solidFill>
                  <a:schemeClr val="accent1"/>
                </a:solidFill>
                <a:latin typeface="Edu NSW ACT Foundation" pitchFamily="2" charset="0"/>
              </a:rPr>
              <a:t>2066</a:t>
            </a:r>
            <a:endParaRPr lang="en-AU">
              <a:solidFill>
                <a:schemeClr val="accent1"/>
              </a:solidFill>
              <a:latin typeface="Edu NSW ACT Foundation" pitchFamily="2" charset="0"/>
            </a:endParaRPr>
          </a:p>
        </p:txBody>
      </p:sp>
      <p:graphicFrame>
        <p:nvGraphicFramePr>
          <p:cNvPr id="12" name="Table 11" descr="Place value houses with thousands, hundred, tens and ones">
            <a:extLst>
              <a:ext uri="{FF2B5EF4-FFF2-40B4-BE49-F238E27FC236}">
                <a16:creationId xmlns:a16="http://schemas.microsoft.com/office/drawing/2014/main" id="{7A17591C-F09B-D4A4-B473-D33533087CE4}"/>
              </a:ext>
            </a:extLst>
          </p:cNvPr>
          <p:cNvGraphicFramePr>
            <a:graphicFrameLocks noGrp="1"/>
          </p:cNvGraphicFramePr>
          <p:nvPr>
            <p:extLst>
              <p:ext uri="{D42A27DB-BD31-4B8C-83A1-F6EECF244321}">
                <p14:modId xmlns:p14="http://schemas.microsoft.com/office/powerpoint/2010/main" val="3127623971"/>
              </p:ext>
            </p:extLst>
          </p:nvPr>
        </p:nvGraphicFramePr>
        <p:xfrm>
          <a:off x="984148" y="3385560"/>
          <a:ext cx="3504519" cy="3112440"/>
        </p:xfrm>
        <a:graphic>
          <a:graphicData uri="http://schemas.openxmlformats.org/drawingml/2006/table">
            <a:tbl>
              <a:tblPr firstRow="1" bandRow="1">
                <a:tableStyleId>{5C22544A-7EE6-4342-B048-85BDC9FD1C3A}</a:tableStyleId>
              </a:tblPr>
              <a:tblGrid>
                <a:gridCol w="1168173">
                  <a:extLst>
                    <a:ext uri="{9D8B030D-6E8A-4147-A177-3AD203B41FA5}">
                      <a16:colId xmlns:a16="http://schemas.microsoft.com/office/drawing/2014/main" val="52279464"/>
                    </a:ext>
                  </a:extLst>
                </a:gridCol>
                <a:gridCol w="1168173">
                  <a:extLst>
                    <a:ext uri="{9D8B030D-6E8A-4147-A177-3AD203B41FA5}">
                      <a16:colId xmlns:a16="http://schemas.microsoft.com/office/drawing/2014/main" val="1701214700"/>
                    </a:ext>
                  </a:extLst>
                </a:gridCol>
                <a:gridCol w="1168173">
                  <a:extLst>
                    <a:ext uri="{9D8B030D-6E8A-4147-A177-3AD203B41FA5}">
                      <a16:colId xmlns:a16="http://schemas.microsoft.com/office/drawing/2014/main" val="100369785"/>
                    </a:ext>
                  </a:extLst>
                </a:gridCol>
              </a:tblGrid>
              <a:tr h="778110">
                <a:tc gridSpan="3">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b="0">
                          <a:solidFill>
                            <a:schemeClr val="tx1"/>
                          </a:solidFill>
                          <a:latin typeface="Edu NSW ACT Foundation" pitchFamily="2" charset="0"/>
                        </a:rPr>
                        <a:t>Millions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629271"/>
                  </a:ext>
                </a:extLst>
              </a:tr>
              <a:tr h="778110">
                <a:tc>
                  <a:txBody>
                    <a:bodyPr/>
                    <a:lstStyle/>
                    <a:p>
                      <a:pPr algn="ctr"/>
                      <a:r>
                        <a:rPr lang="en-AU" sz="2800">
                          <a:latin typeface="Edu NSW ACT Foundation" pitchFamily="2" charset="0"/>
                        </a:rPr>
                        <a:t>H</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778110">
                <a:tc>
                  <a:txBody>
                    <a:bodyPr/>
                    <a:lstStyle/>
                    <a:p>
                      <a:endParaRPr lang="en-AU" sz="240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sz="240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sz="240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778110">
                <a:tc>
                  <a:txBody>
                    <a:bodyPr/>
                    <a:lstStyle/>
                    <a:p>
                      <a:endParaRPr lang="en-AU" sz="240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sz="240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sz="2400"/>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graphicFrame>
        <p:nvGraphicFramePr>
          <p:cNvPr id="10" name="Table 9" descr="Place value houses with thousands, hundred, tens and ones">
            <a:extLst>
              <a:ext uri="{FF2B5EF4-FFF2-40B4-BE49-F238E27FC236}">
                <a16:creationId xmlns:a16="http://schemas.microsoft.com/office/drawing/2014/main" id="{EC7EAF64-00AD-5ED1-6327-82E76FAEB1CB}"/>
              </a:ext>
            </a:extLst>
          </p:cNvPr>
          <p:cNvGraphicFramePr>
            <a:graphicFrameLocks noGrp="1"/>
          </p:cNvGraphicFramePr>
          <p:nvPr>
            <p:extLst>
              <p:ext uri="{D42A27DB-BD31-4B8C-83A1-F6EECF244321}">
                <p14:modId xmlns:p14="http://schemas.microsoft.com/office/powerpoint/2010/main" val="3108468356"/>
              </p:ext>
            </p:extLst>
          </p:nvPr>
        </p:nvGraphicFramePr>
        <p:xfrm>
          <a:off x="4498660" y="3385560"/>
          <a:ext cx="3504519" cy="3112440"/>
        </p:xfrm>
        <a:graphic>
          <a:graphicData uri="http://schemas.openxmlformats.org/drawingml/2006/table">
            <a:tbl>
              <a:tblPr firstRow="1" bandRow="1">
                <a:tableStyleId>{5C22544A-7EE6-4342-B048-85BDC9FD1C3A}</a:tableStyleId>
              </a:tblPr>
              <a:tblGrid>
                <a:gridCol w="1168173">
                  <a:extLst>
                    <a:ext uri="{9D8B030D-6E8A-4147-A177-3AD203B41FA5}">
                      <a16:colId xmlns:a16="http://schemas.microsoft.com/office/drawing/2014/main" val="52279464"/>
                    </a:ext>
                  </a:extLst>
                </a:gridCol>
                <a:gridCol w="1168173">
                  <a:extLst>
                    <a:ext uri="{9D8B030D-6E8A-4147-A177-3AD203B41FA5}">
                      <a16:colId xmlns:a16="http://schemas.microsoft.com/office/drawing/2014/main" val="1701214700"/>
                    </a:ext>
                  </a:extLst>
                </a:gridCol>
                <a:gridCol w="1168173">
                  <a:extLst>
                    <a:ext uri="{9D8B030D-6E8A-4147-A177-3AD203B41FA5}">
                      <a16:colId xmlns:a16="http://schemas.microsoft.com/office/drawing/2014/main" val="100369785"/>
                    </a:ext>
                  </a:extLst>
                </a:gridCol>
              </a:tblGrid>
              <a:tr h="778110">
                <a:tc gridSpan="3">
                  <a:txBody>
                    <a:bodyPr/>
                    <a:lstStyle/>
                    <a:p>
                      <a:pPr algn="ctr"/>
                      <a:r>
                        <a:rPr lang="en-AU" sz="3200" b="0">
                          <a:solidFill>
                            <a:schemeClr val="tx1"/>
                          </a:solidFill>
                          <a:latin typeface="Edu NSW ACT Foundation" pitchFamily="2" charset="0"/>
                        </a:rPr>
                        <a:t>Thousands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629271"/>
                  </a:ext>
                </a:extLst>
              </a:tr>
              <a:tr h="778110">
                <a:tc>
                  <a:txBody>
                    <a:bodyPr/>
                    <a:lstStyle/>
                    <a:p>
                      <a:pPr algn="ctr"/>
                      <a:r>
                        <a:rPr lang="en-AU" sz="2800">
                          <a:latin typeface="Edu NSW ACT Foundation" pitchFamily="2" charset="0"/>
                        </a:rPr>
                        <a:t>H</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77811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77811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graphicFrame>
        <p:nvGraphicFramePr>
          <p:cNvPr id="9" name="Table 8" descr="Place value houses with thousands, hundred, tens and ones">
            <a:extLst>
              <a:ext uri="{FF2B5EF4-FFF2-40B4-BE49-F238E27FC236}">
                <a16:creationId xmlns:a16="http://schemas.microsoft.com/office/drawing/2014/main" id="{ACD41BD5-E138-048E-1487-D4DE2B4CD965}"/>
              </a:ext>
            </a:extLst>
          </p:cNvPr>
          <p:cNvGraphicFramePr>
            <a:graphicFrameLocks noGrp="1"/>
          </p:cNvGraphicFramePr>
          <p:nvPr>
            <p:extLst>
              <p:ext uri="{D42A27DB-BD31-4B8C-83A1-F6EECF244321}">
                <p14:modId xmlns:p14="http://schemas.microsoft.com/office/powerpoint/2010/main" val="260491244"/>
              </p:ext>
            </p:extLst>
          </p:nvPr>
        </p:nvGraphicFramePr>
        <p:xfrm>
          <a:off x="8003179" y="3385560"/>
          <a:ext cx="3514512" cy="3112440"/>
        </p:xfrm>
        <a:graphic>
          <a:graphicData uri="http://schemas.openxmlformats.org/drawingml/2006/table">
            <a:tbl>
              <a:tblPr firstRow="1" bandRow="1">
                <a:tableStyleId>{5C22544A-7EE6-4342-B048-85BDC9FD1C3A}</a:tableStyleId>
              </a:tblPr>
              <a:tblGrid>
                <a:gridCol w="1171504">
                  <a:extLst>
                    <a:ext uri="{9D8B030D-6E8A-4147-A177-3AD203B41FA5}">
                      <a16:colId xmlns:a16="http://schemas.microsoft.com/office/drawing/2014/main" val="52279464"/>
                    </a:ext>
                  </a:extLst>
                </a:gridCol>
                <a:gridCol w="1171504">
                  <a:extLst>
                    <a:ext uri="{9D8B030D-6E8A-4147-A177-3AD203B41FA5}">
                      <a16:colId xmlns:a16="http://schemas.microsoft.com/office/drawing/2014/main" val="1701214700"/>
                    </a:ext>
                  </a:extLst>
                </a:gridCol>
                <a:gridCol w="1171504">
                  <a:extLst>
                    <a:ext uri="{9D8B030D-6E8A-4147-A177-3AD203B41FA5}">
                      <a16:colId xmlns:a16="http://schemas.microsoft.com/office/drawing/2014/main" val="100369785"/>
                    </a:ext>
                  </a:extLst>
                </a:gridCol>
              </a:tblGrid>
              <a:tr h="778110">
                <a:tc gridSpan="3">
                  <a:txBody>
                    <a:bodyPr/>
                    <a:lstStyle/>
                    <a:p>
                      <a:pPr algn="ctr"/>
                      <a:r>
                        <a:rPr lang="en-AU" sz="3200" b="0">
                          <a:solidFill>
                            <a:schemeClr val="tx1"/>
                          </a:solidFill>
                          <a:latin typeface="Edu NSW ACT Foundation" pitchFamily="2" charset="0"/>
                        </a:rPr>
                        <a:t>Ones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629271"/>
                  </a:ext>
                </a:extLst>
              </a:tr>
              <a:tr h="778110">
                <a:tc>
                  <a:txBody>
                    <a:bodyPr/>
                    <a:lstStyle/>
                    <a:p>
                      <a:pPr algn="ctr"/>
                      <a:r>
                        <a:rPr lang="en-AU" sz="2800">
                          <a:latin typeface="Edu NSW ACT Foundation" pitchFamily="2" charset="0"/>
                        </a:rPr>
                        <a:t>H</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AU" sz="2800">
                          <a:latin typeface="Edu NSW ACT Foundation" pitchFamily="2" charset="0"/>
                        </a:rPr>
                        <a:t>O</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4184703"/>
                  </a:ext>
                </a:extLst>
              </a:tr>
              <a:tr h="77811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650960"/>
                  </a:ext>
                </a:extLst>
              </a:tr>
              <a:tr h="778110">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endParaRPr lang="en-AU"/>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762854"/>
                  </a:ext>
                </a:extLst>
              </a:tr>
            </a:tbl>
          </a:graphicData>
        </a:graphic>
      </p:graphicFrame>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200"/>
                <a:buFontTx/>
                <a:buNone/>
                <a:tabLst/>
                <a:defRPr/>
              </a:pPr>
              <a:endParaRPr kumimoji="0" sz="1600" b="0" i="0" u="none" strike="noStrike" kern="0" cap="none" spc="0" normalizeH="0" baseline="0" noProof="0">
                <a:ln>
                  <a:noFill/>
                </a:ln>
                <a:solidFill>
                  <a:srgbClr val="000000"/>
                </a:solidFill>
                <a:effectLst/>
                <a:uLnTx/>
                <a:uFillTx/>
                <a:latin typeface="Arial" panose="020B0604020202020204" pitchFamily="34" charset="0"/>
                <a:ea typeface="Montserrat"/>
                <a:cs typeface="Arial" panose="020B0604020202020204" pitchFamily="34" charset="0"/>
                <a:sym typeface="Montserrat"/>
              </a:endParaRPr>
            </a:p>
            <a:p>
              <a:pPr marL="0" marR="0" lvl="0" indent="0" algn="ctr" defTabSz="1219170" rtl="0" eaLnBrk="1" fontAlgn="auto" latinLnBrk="0" hangingPunct="1">
                <a:lnSpc>
                  <a:spcPct val="100000"/>
                </a:lnSpc>
                <a:spcBef>
                  <a:spcPts val="0"/>
                </a:spcBef>
                <a:spcAft>
                  <a:spcPts val="0"/>
                </a:spcAft>
                <a:buClr>
                  <a:srgbClr val="000000"/>
                </a:buClr>
                <a:buSzPts val="1200"/>
                <a:buFontTx/>
                <a:buNone/>
                <a:tabLst/>
                <a:defRPr/>
              </a:pPr>
              <a:endParaRPr kumimoji="0" sz="1600" b="0" i="0" u="none" strike="noStrike" kern="0" cap="none" spc="0" normalizeH="0" baseline="0" noProof="0">
                <a:ln>
                  <a:noFill/>
                </a:ln>
                <a:solidFill>
                  <a:srgbClr val="000000"/>
                </a:solidFill>
                <a:effectLst/>
                <a:uLnTx/>
                <a:uFillTx/>
                <a:latin typeface="Arial" panose="020B0604020202020204" pitchFamily="34" charset="0"/>
                <a:ea typeface="Montserrat"/>
                <a:cs typeface="Arial" panose="020B0604020202020204" pitchFamily="34" charset="0"/>
                <a:sym typeface="Montserrat"/>
              </a:endParaRPr>
            </a:p>
            <a:p>
              <a:pPr marL="0" marR="0" lvl="0" indent="0" algn="ctr" defTabSz="1219170" rtl="0" eaLnBrk="1" fontAlgn="auto" latinLnBrk="0" hangingPunct="1">
                <a:lnSpc>
                  <a:spcPct val="100000"/>
                </a:lnSpc>
                <a:spcBef>
                  <a:spcPts val="0"/>
                </a:spcBef>
                <a:spcAft>
                  <a:spcPts val="0"/>
                </a:spcAft>
                <a:buClr>
                  <a:srgbClr val="000000"/>
                </a:buClr>
                <a:buSzPts val="1200"/>
                <a:buFontTx/>
                <a:buNone/>
                <a:tabLst/>
                <a:defRPr/>
              </a:pPr>
              <a:endParaRPr kumimoji="0" sz="1600" b="0" i="0" u="none" strike="noStrike" kern="0" cap="none" spc="0" normalizeH="0" baseline="0" noProof="0">
                <a:ln>
                  <a:noFill/>
                </a:ln>
                <a:solidFill>
                  <a:srgbClr val="000000"/>
                </a:solidFill>
                <a:effectLst/>
                <a:uLnTx/>
                <a:uFillTx/>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r>
                <a:rPr kumimoji="0" lang="en-AU" sz="1800" b="1"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200"/>
                <a:buFontTx/>
                <a:buNone/>
                <a:tabLst/>
                <a:defRPr/>
              </a:pPr>
              <a:endParaRPr kumimoji="0" sz="1600" b="0" i="0" u="none" strike="noStrike" kern="0" cap="none" spc="0" normalizeH="0" baseline="0" noProof="0">
                <a:ln>
                  <a:noFill/>
                </a:ln>
                <a:solidFill>
                  <a:srgbClr val="000000"/>
                </a:solidFill>
                <a:effectLst/>
                <a:uLnTx/>
                <a:uFillTx/>
                <a:latin typeface="Arial" panose="020B0604020202020204" pitchFamily="34" charset="0"/>
                <a:ea typeface="Montserrat"/>
                <a:cs typeface="Arial" panose="020B0604020202020204" pitchFamily="34" charset="0"/>
                <a:sym typeface="Montserrat"/>
              </a:endParaRPr>
            </a:p>
            <a:p>
              <a:pPr marL="0" marR="0" lvl="0" indent="0" algn="ctr" defTabSz="1219170" rtl="0" eaLnBrk="1" fontAlgn="auto" latinLnBrk="0" hangingPunct="1">
                <a:lnSpc>
                  <a:spcPct val="100000"/>
                </a:lnSpc>
                <a:spcBef>
                  <a:spcPts val="0"/>
                </a:spcBef>
                <a:spcAft>
                  <a:spcPts val="0"/>
                </a:spcAft>
                <a:buClr>
                  <a:srgbClr val="000000"/>
                </a:buClr>
                <a:buSzPts val="1200"/>
                <a:buFontTx/>
                <a:buNone/>
                <a:tabLst/>
                <a:defRPr/>
              </a:pPr>
              <a:endParaRPr kumimoji="0" sz="1600" b="0" i="0" u="none" strike="noStrike" kern="0" cap="none" spc="0" normalizeH="0" baseline="0" noProof="0">
                <a:ln>
                  <a:noFill/>
                </a:ln>
                <a:solidFill>
                  <a:srgbClr val="000000"/>
                </a:solidFill>
                <a:effectLst/>
                <a:uLnTx/>
                <a:uFillTx/>
                <a:latin typeface="Arial" panose="020B0604020202020204" pitchFamily="34" charset="0"/>
                <a:ea typeface="Montserrat"/>
                <a:cs typeface="Arial" panose="020B0604020202020204" pitchFamily="34" charset="0"/>
                <a:sym typeface="Montserrat"/>
              </a:endParaRPr>
            </a:p>
            <a:p>
              <a:pPr marL="0" marR="0" lvl="0" indent="0" algn="ctr" defTabSz="1219170" rtl="0" eaLnBrk="1" fontAlgn="auto" latinLnBrk="0" hangingPunct="1">
                <a:lnSpc>
                  <a:spcPct val="100000"/>
                </a:lnSpc>
                <a:spcBef>
                  <a:spcPts val="0"/>
                </a:spcBef>
                <a:spcAft>
                  <a:spcPts val="0"/>
                </a:spcAft>
                <a:buClr>
                  <a:srgbClr val="000000"/>
                </a:buClr>
                <a:buSzPts val="1200"/>
                <a:buFontTx/>
                <a:buNone/>
                <a:tabLst/>
                <a:defRPr/>
              </a:pPr>
              <a:endParaRPr kumimoji="0" sz="1600" b="0" i="0" u="none" strike="noStrike" kern="0" cap="none" spc="0" normalizeH="0" baseline="0" noProof="0">
                <a:ln>
                  <a:noFill/>
                </a:ln>
                <a:solidFill>
                  <a:srgbClr val="000000"/>
                </a:solidFill>
                <a:effectLst/>
                <a:uLnTx/>
                <a:uFillTx/>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r>
                <a:rPr kumimoji="0" lang="en-AU" sz="1800" b="1"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200"/>
              <a:buFontTx/>
              <a:buNone/>
              <a:tabLst/>
              <a:defRPr/>
            </a:pPr>
            <a:r>
              <a:rPr kumimoji="0" lang="en" sz="1600" b="0" i="0" u="none" strike="noStrike" kern="0" cap="none" spc="0" normalizeH="0" baseline="0" noProof="0">
                <a:ln>
                  <a:noFill/>
                </a:ln>
                <a:solidFill>
                  <a:srgbClr val="000000"/>
                </a:solidFill>
                <a:effectLst/>
                <a:uLnTx/>
                <a:uFillTx/>
                <a:latin typeface="Arial" panose="020B0604020202020204"/>
                <a:ea typeface="Montserrat"/>
                <a:cs typeface="Arial" panose="020B0604020202020204" pitchFamily="34" charset="0"/>
                <a:sym typeface="Montserrat"/>
              </a:rPr>
              <a:t>Features of object 1</a:t>
            </a:r>
            <a:endParaRPr kumimoji="0" sz="1600" b="0" i="0" u="none" strike="noStrike" kern="0" cap="none" spc="0" normalizeH="0" baseline="0" noProof="0">
              <a:ln>
                <a:noFill/>
              </a:ln>
              <a:solidFill>
                <a:srgbClr val="000000"/>
              </a:solidFill>
              <a:effectLst/>
              <a:uLnTx/>
              <a:uFillTx/>
              <a:latin typeface="Arial" panose="020B0604020202020204"/>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200"/>
              <a:buFontTx/>
              <a:buNone/>
              <a:tabLst/>
              <a:defRPr/>
            </a:pPr>
            <a:r>
              <a:rPr kumimoji="0" lang="en" sz="1600" b="0" i="0" u="none" strike="noStrike" kern="0" cap="none" spc="0" normalizeH="0" baseline="0" noProof="0">
                <a:ln>
                  <a:noFill/>
                </a:ln>
                <a:solidFill>
                  <a:srgbClr val="000000"/>
                </a:solidFill>
                <a:effectLst/>
                <a:uLnTx/>
                <a:uFillTx/>
                <a:latin typeface="Arial" panose="020B0604020202020204"/>
                <a:ea typeface="Montserrat"/>
                <a:cs typeface="Arial" panose="020B0604020202020204" pitchFamily="34" charset="0"/>
                <a:sym typeface="Montserrat"/>
              </a:rPr>
              <a:t>Features similar to both objects</a:t>
            </a:r>
            <a:endParaRPr kumimoji="0" sz="1600" b="0" i="0" u="none" strike="noStrike" kern="0" cap="none" spc="0" normalizeH="0" baseline="0" noProof="0">
              <a:ln>
                <a:noFill/>
              </a:ln>
              <a:solidFill>
                <a:srgbClr val="000000"/>
              </a:solidFill>
              <a:effectLst/>
              <a:uLnTx/>
              <a:uFillTx/>
              <a:latin typeface="Arial" panose="020B0604020202020204"/>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200"/>
              <a:buFontTx/>
              <a:buNone/>
              <a:tabLst/>
              <a:defRPr/>
            </a:pPr>
            <a:r>
              <a:rPr kumimoji="0" lang="en" sz="1600" b="0" i="0" u="none" strike="noStrike" kern="0" cap="none" spc="0" normalizeH="0" baseline="0" noProof="0">
                <a:ln>
                  <a:noFill/>
                </a:ln>
                <a:solidFill>
                  <a:srgbClr val="000000"/>
                </a:solidFill>
                <a:effectLst/>
                <a:uLnTx/>
                <a:uFillTx/>
                <a:latin typeface="Arial" panose="020B0604020202020204"/>
                <a:ea typeface="Montserrat"/>
                <a:cs typeface="Arial" panose="020B0604020202020204" pitchFamily="34" charset="0"/>
                <a:sym typeface="Montserrat"/>
              </a:rPr>
              <a:t>Features of object 2</a:t>
            </a:r>
            <a:endParaRPr kumimoji="0" sz="1600" b="0" i="0" u="none" strike="noStrike" kern="0" cap="none" spc="0" normalizeH="0" baseline="0" noProof="0">
              <a:ln>
                <a:noFill/>
              </a:ln>
              <a:solidFill>
                <a:srgbClr val="000000"/>
              </a:solidFill>
              <a:effectLst/>
              <a:uLnTx/>
              <a:uFillTx/>
              <a:latin typeface="Arial" panose="020B0604020202020204"/>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pitchFamily="34" charset="0"/>
                <a:ea typeface="+mn-ea"/>
                <a:cs typeface="Arial" panose="020B0604020202020204" pitchFamily="34" charset="0"/>
              </a:rPr>
              <a:pPr marL="0" marR="0" lvl="0" indent="0" algn="r" defTabSz="609585" rtl="0" eaLnBrk="1" fontAlgn="auto" latinLnBrk="0" hangingPunct="1">
                <a:lnSpc>
                  <a:spcPct val="100000"/>
                </a:lnSpc>
                <a:spcBef>
                  <a:spcPts val="0"/>
                </a:spcBef>
                <a:spcAft>
                  <a:spcPts val="0"/>
                </a:spcAft>
                <a:buClrTx/>
                <a:buSzTx/>
                <a:buFontTx/>
                <a:buNone/>
                <a:tabLst/>
                <a:defRPr/>
              </a:pPr>
              <a:t>60</a:t>
            </a:fld>
            <a:endParaRPr kumimoji="0" lang="en-AU" sz="1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marR="0" lvl="0" indent="0" algn="l" defTabSz="609585" rtl="0" eaLnBrk="1" fontAlgn="auto" latinLnBrk="0" hangingPunct="1">
              <a:lnSpc>
                <a:spcPct val="90000"/>
              </a:lnSpc>
              <a:spcBef>
                <a:spcPts val="0"/>
              </a:spcBef>
              <a:spcAft>
                <a:spcPts val="0"/>
              </a:spcAft>
              <a:buClr>
                <a:srgbClr val="1E4E79"/>
              </a:buClr>
              <a:buSzPts val="1600"/>
              <a:buFontTx/>
              <a:buNone/>
              <a:tabLst/>
              <a:defRPr/>
            </a:pPr>
            <a:r>
              <a:rPr kumimoji="0" lang="en" sz="2000" b="1"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Definition </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marR="0" lvl="0" indent="0" algn="l" defTabSz="609585" rtl="0" eaLnBrk="1" fontAlgn="auto" latinLnBrk="0" hangingPunct="1">
              <a:lnSpc>
                <a:spcPct val="90000"/>
              </a:lnSpc>
              <a:spcBef>
                <a:spcPts val="0"/>
              </a:spcBef>
              <a:spcAft>
                <a:spcPts val="0"/>
              </a:spcAft>
              <a:buClr>
                <a:srgbClr val="1E4E79"/>
              </a:buClr>
              <a:buSzPts val="1800"/>
              <a:buFontTx/>
              <a:buNone/>
              <a:tabLst/>
              <a:defRPr/>
            </a:pPr>
            <a:r>
              <a:rPr kumimoji="0" lang="en" sz="2000" b="1"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Facts/Characteristics</a:t>
            </a:r>
            <a:endParaRPr kumimoji="0"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marR="0" lvl="0" indent="0" algn="l" defTabSz="609585" rtl="0" eaLnBrk="1" fontAlgn="auto" latinLnBrk="0" hangingPunct="1">
              <a:lnSpc>
                <a:spcPct val="100000"/>
              </a:lnSpc>
              <a:spcBef>
                <a:spcPts val="0"/>
              </a:spcBef>
              <a:spcAft>
                <a:spcPts val="0"/>
              </a:spcAft>
              <a:buClr>
                <a:srgbClr val="1E4E79"/>
              </a:buClr>
              <a:buSzPts val="1600"/>
              <a:buFontTx/>
              <a:buNone/>
              <a:tabLst/>
              <a:defRPr/>
            </a:pPr>
            <a:r>
              <a:rPr kumimoji="0" lang="en" sz="2000" b="1"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Examples</a:t>
            </a:r>
            <a:br>
              <a:rPr kumimoji="0" lang="en" sz="2000" b="1"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br>
            <a:endParaRPr kumimoji="0"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marR="0" lvl="0" indent="0" algn="l" defTabSz="609585" rtl="0" eaLnBrk="1" fontAlgn="auto" latinLnBrk="0" hangingPunct="1">
              <a:lnSpc>
                <a:spcPct val="90000"/>
              </a:lnSpc>
              <a:spcBef>
                <a:spcPts val="0"/>
              </a:spcBef>
              <a:spcAft>
                <a:spcPts val="0"/>
              </a:spcAft>
              <a:buClr>
                <a:srgbClr val="1E4E79"/>
              </a:buClr>
              <a:buSzPts val="1600"/>
              <a:buFontTx/>
              <a:buNone/>
              <a:tabLst/>
              <a:defRPr/>
            </a:pPr>
            <a:r>
              <a:rPr kumimoji="0" lang="en" sz="2000" b="1"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Non-examples</a:t>
            </a:r>
            <a:br>
              <a:rPr kumimoji="0" lang="en" sz="2000" b="1"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br>
            <a:endParaRPr kumimoji="0"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endParaRPr kumimoji="0" sz="2000" b="1"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marL="0" marR="0" lvl="0" indent="0" algn="ctr" defTabSz="609585" rtl="0" eaLnBrk="1" fontAlgn="auto" latinLnBrk="0" hangingPunct="1">
              <a:lnSpc>
                <a:spcPct val="100000"/>
              </a:lnSpc>
              <a:spcBef>
                <a:spcPts val="0"/>
              </a:spcBef>
              <a:spcAft>
                <a:spcPts val="0"/>
              </a:spcAft>
              <a:buClr>
                <a:srgbClr val="1E4E79"/>
              </a:buClr>
              <a:buSzPts val="2000"/>
              <a:buFontTx/>
              <a:buNone/>
              <a:tabLst/>
              <a:defRPr/>
            </a:pPr>
            <a:r>
              <a:rPr kumimoji="0" lang="en" sz="2400" b="1"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 term, concept</a:t>
            </a:r>
            <a:endParaRPr kumimoji="0" sz="24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pitchFamily="34" charset="0"/>
                <a:ea typeface="+mn-ea"/>
                <a:cs typeface="Arial" panose="020B0604020202020204" pitchFamily="34" charset="0"/>
              </a:rPr>
              <a:pPr marL="0" marR="0" lvl="0" indent="0" algn="r" defTabSz="609585" rtl="0" eaLnBrk="1" fontAlgn="auto" latinLnBrk="0" hangingPunct="1">
                <a:lnSpc>
                  <a:spcPct val="100000"/>
                </a:lnSpc>
                <a:spcBef>
                  <a:spcPts val="0"/>
                </a:spcBef>
                <a:spcAft>
                  <a:spcPts val="0"/>
                </a:spcAft>
                <a:buClrTx/>
                <a:buSzTx/>
                <a:buFontTx/>
                <a:buNone/>
                <a:tabLst/>
                <a:defRPr/>
              </a:pPr>
              <a:t>61</a:t>
            </a:fld>
            <a:endParaRPr kumimoji="0" lang="en-AU" sz="1200" b="0" i="0" u="none" strike="noStrike" kern="1200" cap="none" spc="0" normalizeH="0" baseline="0" noProof="0">
              <a:ln>
                <a:noFill/>
              </a:ln>
              <a:solidFill>
                <a:srgbClr val="22272B"/>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Tx/>
              <a:buNone/>
              <a:tabLst/>
              <a:defRPr/>
            </a:pPr>
            <a:r>
              <a:rPr kumimoji="0" lang="en" sz="2000" b="1"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sym typeface="Montserrat"/>
              </a:rPr>
              <a:t>Subject</a:t>
            </a:r>
            <a:endParaRPr kumimoji="0" sz="2000" b="1"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rPr>
              <a:t>Idea</a:t>
            </a:r>
            <a:endParaRPr kumimoji="0"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62</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Calibri"/>
              </a:rPr>
              <a:t>Concept 1</a:t>
            </a:r>
            <a:endParaRPr kumimoji="0" sz="1800" b="1"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72B"/>
                </a:solidFill>
                <a:effectLst/>
                <a:uLnTx/>
                <a:uFillTx/>
                <a:latin typeface="Arial" panose="020B0604020202020204"/>
                <a:ea typeface="Calibri"/>
                <a:cs typeface="Arial" panose="020B0604020202020204" pitchFamily="34" charset="0"/>
                <a:sym typeface="Calibri"/>
              </a:rPr>
              <a:t>Word</a:t>
            </a:r>
            <a:endParaRPr kumimoji="0" sz="2000" b="0" i="0" u="none" strike="noStrike" kern="1200" cap="none" spc="0" normalizeH="0" baseline="0" noProof="0">
              <a:ln>
                <a:noFill/>
              </a:ln>
              <a:solidFill>
                <a:srgbClr val="22272B"/>
              </a:solidFill>
              <a:effectLst/>
              <a:uLnTx/>
              <a:uFillTx/>
              <a:latin typeface="Arial" panose="020B0604020202020204"/>
              <a:ea typeface="+mn-ea"/>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pPr marL="0" marR="0" lvl="0" indent="0" algn="ctr" defTabSz="609585"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sym typeface="Calibri"/>
              </a:rPr>
              <a:t>Concept 2</a:t>
            </a:r>
            <a:endParaRPr kumimoji="0" sz="1800" b="1"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63</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64</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65</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22272B"/>
                </a:solidFill>
                <a:effectLst/>
                <a:uLnTx/>
                <a:uFillTx/>
                <a:latin typeface="Arial" panose="020B0604020202020204"/>
                <a:ea typeface="+mn-ea"/>
                <a:cs typeface="+mn-cs"/>
              </a:rPr>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66</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23 August 2025) and was not modified.</a:t>
            </a:r>
          </a:p>
          <a:p>
            <a:r>
              <a:rPr lang="en-AU"/>
              <a:t>NESA (NSW Education Standards Authority) (2022b) ‘</a:t>
            </a:r>
            <a:r>
              <a:rPr lang="en-AU" u="sng">
                <a:hlinkClick r:id="rId9"/>
              </a:rPr>
              <a:t>Teaching advice for Multiplicative relations B</a:t>
            </a:r>
            <a:r>
              <a:rPr lang="en-AU"/>
              <a:t>’, </a:t>
            </a:r>
            <a:r>
              <a:rPr lang="en-AU" i="1"/>
              <a:t>Stage 2</a:t>
            </a:r>
            <a:r>
              <a:rPr lang="en-AU"/>
              <a:t>, NSW Curriculum website, accessed 10 December 2025.</a:t>
            </a:r>
          </a:p>
          <a:p>
            <a:r>
              <a:rPr lang="en-AU"/>
              <a:t>Swan P (2021) ‘</a:t>
            </a:r>
            <a:r>
              <a:rPr lang="en-AU" u="sng">
                <a:hlinkClick r:id="rId10"/>
              </a:rPr>
              <a:t>Dr Paul Swan Board Game Pack Years 3–4</a:t>
            </a:r>
            <a:r>
              <a:rPr lang="en-AU"/>
              <a:t>’, </a:t>
            </a:r>
            <a:r>
              <a:rPr lang="en-AU" i="1"/>
              <a:t>Games &amp; Puzzles</a:t>
            </a:r>
            <a:r>
              <a:rPr lang="en-AU"/>
              <a:t>, Dr Paul Swan website, accessed 11 July 2023.</a:t>
            </a:r>
          </a:p>
          <a:p>
            <a:r>
              <a:rPr lang="en-AU"/>
              <a:t>University of Cambridge (n.d.) </a:t>
            </a:r>
            <a:r>
              <a:rPr lang="en-AU" i="1" u="sng">
                <a:hlinkClick r:id="rId11"/>
              </a:rPr>
              <a:t>Double or halve?</a:t>
            </a:r>
            <a:r>
              <a:rPr lang="en-AU"/>
              <a:t>, NRICH website, accessed 10 December 2025.</a:t>
            </a:r>
          </a:p>
          <a:p>
            <a:endParaRPr lang="en-AU"/>
          </a:p>
          <a:p>
            <a:endParaRPr lang="en-AU"/>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(Cth)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(Cth).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27CE97-816A-4995-9799-526B5310C872}"/>
</file>

<file path=customXml/itemProps2.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0</TotalTime>
  <Words>6389</Words>
  <Application>Microsoft Office PowerPoint</Application>
  <PresentationFormat>Widescreen</PresentationFormat>
  <Paragraphs>926</Paragraphs>
  <Slides>68</Slides>
  <Notes>68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68</vt:i4>
      </vt:variant>
    </vt:vector>
  </HeadingPairs>
  <TitlesOfParts>
    <vt:vector size="78" baseType="lpstr">
      <vt:lpstr>Cambria Math</vt:lpstr>
      <vt:lpstr>Public Sans</vt:lpstr>
      <vt:lpstr>Calibri</vt:lpstr>
      <vt:lpstr>Arial</vt:lpstr>
      <vt:lpstr>Public Sans Light</vt:lpstr>
      <vt:lpstr>Wingdings</vt:lpstr>
      <vt:lpstr>Edu NSW ACT Foundation</vt:lpstr>
      <vt:lpstr>Public Sans Semi-Bold</vt:lpstr>
      <vt:lpstr>Times New Roman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doubling to connect multiples (1)</vt:lpstr>
      <vt:lpstr>Review of learning 2</vt:lpstr>
      <vt:lpstr>True or false (1)</vt:lpstr>
      <vt:lpstr>Short response (5)</vt:lpstr>
      <vt:lpstr>Short response (6)</vt:lpstr>
      <vt:lpstr>Short response (7)</vt:lpstr>
      <vt:lpstr>Short response (8)</vt:lpstr>
      <vt:lpstr>Activity 2 – doubling numbers</vt:lpstr>
      <vt:lpstr>Review of learning 3</vt:lpstr>
      <vt:lpstr>Multiple choice (2)</vt:lpstr>
      <vt:lpstr>Short response (9)</vt:lpstr>
      <vt:lpstr>Short response (10)</vt:lpstr>
      <vt:lpstr>Short response (11)</vt:lpstr>
      <vt:lpstr>Short response (12)</vt:lpstr>
      <vt:lpstr>Activity 3 – multiples to create arrays</vt:lpstr>
      <vt:lpstr>Review of learning 4</vt:lpstr>
      <vt:lpstr>True or false (2)</vt:lpstr>
      <vt:lpstr>Short response (13)</vt:lpstr>
      <vt:lpstr>Short response (14)</vt:lpstr>
      <vt:lpstr>Short response (15)</vt:lpstr>
      <vt:lpstr>Short response (16)</vt:lpstr>
      <vt:lpstr>Activity 4 – double or halve (1)</vt:lpstr>
      <vt:lpstr>Review of learning 5</vt:lpstr>
      <vt:lpstr>Multiple choice (3)</vt:lpstr>
      <vt:lpstr>Short response (17)</vt:lpstr>
      <vt:lpstr>Short response (18)</vt:lpstr>
      <vt:lpstr>Short response (19)</vt:lpstr>
      <vt:lpstr>Short response (20)</vt:lpstr>
      <vt:lpstr>Activity 5 – 10, 100 or 1000 times as large</vt:lpstr>
      <vt:lpstr>Review of learning 6</vt:lpstr>
      <vt:lpstr>True or false (3)</vt:lpstr>
      <vt:lpstr>Short response (21)</vt:lpstr>
      <vt:lpstr>Short response (22)</vt:lpstr>
      <vt:lpstr>Short response (23)</vt:lpstr>
      <vt:lpstr>Short response (24)</vt:lpstr>
      <vt:lpstr>Activity 6 – changing place value</vt:lpstr>
      <vt:lpstr>Review of learning 7</vt:lpstr>
      <vt:lpstr>Multiple choice (4)</vt:lpstr>
      <vt:lpstr>Short response (25)</vt:lpstr>
      <vt:lpstr>Short response (26)</vt:lpstr>
      <vt:lpstr>Short response (27)</vt:lpstr>
      <vt:lpstr>Short response (28)</vt:lpstr>
      <vt:lpstr>Activity 7 – exploring place value and multiplication</vt:lpstr>
      <vt:lpstr>Review of learning 8</vt:lpstr>
      <vt:lpstr>True or false (4)</vt:lpstr>
      <vt:lpstr>Short response (29)</vt:lpstr>
      <vt:lpstr>Short response (30)</vt:lpstr>
      <vt:lpstr>Short response (31)</vt:lpstr>
      <vt:lpstr>Short response (32)</vt:lpstr>
      <vt:lpstr>Activity 8 – multiplying whole numbers by 10, 100 or 1000</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2026-02-08T21:07:51Z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