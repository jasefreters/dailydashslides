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omments/modernComment_168_4664DA32.xml" ContentType="application/vnd.ms-powerpoint.comments+xml"/>
  <Override PartName="/ppt/notesSlides/notesSlide6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755" r:id="rId5"/>
  </p:sldMasterIdLst>
  <p:notesMasterIdLst>
    <p:notesMasterId r:id="rId74"/>
  </p:notesMasterIdLst>
  <p:handoutMasterIdLst>
    <p:handoutMasterId r:id="rId75"/>
  </p:handoutMasterIdLst>
  <p:sldIdLst>
    <p:sldId id="365" r:id="rId6"/>
    <p:sldId id="26505" r:id="rId7"/>
    <p:sldId id="26359" r:id="rId8"/>
    <p:sldId id="271" r:id="rId9"/>
    <p:sldId id="26577" r:id="rId10"/>
    <p:sldId id="358" r:id="rId11"/>
    <p:sldId id="26580" r:id="rId12"/>
    <p:sldId id="26581" r:id="rId13"/>
    <p:sldId id="26582" r:id="rId14"/>
    <p:sldId id="26485" r:id="rId15"/>
    <p:sldId id="26583" r:id="rId16"/>
    <p:sldId id="26586" r:id="rId17"/>
    <p:sldId id="26587" r:id="rId18"/>
    <p:sldId id="26588" r:id="rId19"/>
    <p:sldId id="26589" r:id="rId20"/>
    <p:sldId id="26590" r:id="rId21"/>
    <p:sldId id="26405" r:id="rId22"/>
    <p:sldId id="26592" r:id="rId23"/>
    <p:sldId id="26593" r:id="rId24"/>
    <p:sldId id="26596" r:id="rId25"/>
    <p:sldId id="26597" r:id="rId26"/>
    <p:sldId id="26598" r:id="rId27"/>
    <p:sldId id="26599" r:id="rId28"/>
    <p:sldId id="26410" r:id="rId29"/>
    <p:sldId id="26601" r:id="rId30"/>
    <p:sldId id="26604" r:id="rId31"/>
    <p:sldId id="26605" r:id="rId32"/>
    <p:sldId id="26606" r:id="rId33"/>
    <p:sldId id="26607" r:id="rId34"/>
    <p:sldId id="26608" r:id="rId35"/>
    <p:sldId id="26489" r:id="rId36"/>
    <p:sldId id="26610" r:id="rId37"/>
    <p:sldId id="26612" r:id="rId38"/>
    <p:sldId id="26614" r:id="rId39"/>
    <p:sldId id="26615" r:id="rId40"/>
    <p:sldId id="26617" r:id="rId41"/>
    <p:sldId id="26645" r:id="rId42"/>
    <p:sldId id="26422" r:id="rId43"/>
    <p:sldId id="26619" r:id="rId44"/>
    <p:sldId id="26622" r:id="rId45"/>
    <p:sldId id="26623" r:id="rId46"/>
    <p:sldId id="26624" r:id="rId47"/>
    <p:sldId id="26625" r:id="rId48"/>
    <p:sldId id="26626" r:id="rId49"/>
    <p:sldId id="26487" r:id="rId50"/>
    <p:sldId id="26628" r:id="rId51"/>
    <p:sldId id="26629" r:id="rId52"/>
    <p:sldId id="26632" r:id="rId53"/>
    <p:sldId id="26633" r:id="rId54"/>
    <p:sldId id="26634" r:id="rId55"/>
    <p:sldId id="26635" r:id="rId56"/>
    <p:sldId id="26646" r:id="rId57"/>
    <p:sldId id="26637" r:id="rId58"/>
    <p:sldId id="26640" r:id="rId59"/>
    <p:sldId id="26641" r:id="rId60"/>
    <p:sldId id="26642" r:id="rId61"/>
    <p:sldId id="26643" r:id="rId62"/>
    <p:sldId id="26644" r:id="rId63"/>
    <p:sldId id="26490" r:id="rId64"/>
    <p:sldId id="26393" r:id="rId65"/>
    <p:sldId id="26387" r:id="rId66"/>
    <p:sldId id="26395" r:id="rId67"/>
    <p:sldId id="26391" r:id="rId68"/>
    <p:sldId id="26402" r:id="rId69"/>
    <p:sldId id="26507" r:id="rId70"/>
    <p:sldId id="26510" r:id="rId71"/>
    <p:sldId id="360" r:id="rId72"/>
    <p:sldId id="361" r:id="rId73"/>
  </p:sldIdLst>
  <p:sldSz cx="12192000" cy="6858000"/>
  <p:notesSz cx="6858000" cy="9144000"/>
  <p:embeddedFontLst>
    <p:embeddedFont>
      <p:font typeface="Edu NSW ACT Foundation" panose="020B0604020202020204" charset="0"/>
      <p:regular r:id="rId76"/>
      <p:bold r:id="rId77"/>
    </p:embeddedFont>
    <p:embeddedFont>
      <p:font typeface="Montserrat" panose="00000500000000000000" pitchFamily="2" charset="0"/>
      <p:regular r:id="rId78"/>
      <p:bold r:id="rId79"/>
      <p:italic r:id="rId80"/>
      <p:boldItalic r:id="rId81"/>
    </p:embeddedFont>
    <p:embeddedFont>
      <p:font typeface="Public Sans" pitchFamily="2" charset="0"/>
      <p:regular r:id="rId82"/>
      <p:bold r:id="rId83"/>
      <p:italic r:id="rId84"/>
      <p:boldItalic r:id="rId85"/>
    </p:embeddedFont>
    <p:embeddedFont>
      <p:font typeface="Public Sans Light" pitchFamily="2" charset="0"/>
      <p:regular r:id="rId86"/>
      <p:italic r:id="rId87"/>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581"/>
            <p14:sldId id="26582"/>
            <p14:sldId id="26485"/>
          </p14:sldIdLst>
        </p14:section>
        <p14:section name="Review of learning 2" id="{0AC6BBCB-7E49-46CE-B777-EFCDD4B60F91}">
          <p14:sldIdLst>
            <p14:sldId id="26583"/>
            <p14:sldId id="26586"/>
            <p14:sldId id="26587"/>
            <p14:sldId id="26588"/>
            <p14:sldId id="26589"/>
            <p14:sldId id="26590"/>
            <p14:sldId id="26405"/>
          </p14:sldIdLst>
        </p14:section>
        <p14:section name="Review of learning 3" id="{6F5E1C19-5255-4FF7-A3CD-4549F7EF69B2}">
          <p14:sldIdLst>
            <p14:sldId id="26592"/>
            <p14:sldId id="26593"/>
            <p14:sldId id="26596"/>
            <p14:sldId id="26597"/>
            <p14:sldId id="26598"/>
            <p14:sldId id="26599"/>
            <p14:sldId id="26410"/>
          </p14:sldIdLst>
        </p14:section>
        <p14:section name="Review of learning 4" id="{6EB8E1CE-ED7B-4635-88AB-9D1D052BB011}">
          <p14:sldIdLst>
            <p14:sldId id="26601"/>
            <p14:sldId id="26604"/>
            <p14:sldId id="26605"/>
            <p14:sldId id="26606"/>
            <p14:sldId id="26607"/>
            <p14:sldId id="26608"/>
            <p14:sldId id="26489"/>
          </p14:sldIdLst>
        </p14:section>
        <p14:section name="Review of learning 5" id="{E365C8CF-14E0-4F5A-BCE8-2E930DEEA864}">
          <p14:sldIdLst>
            <p14:sldId id="26610"/>
            <p14:sldId id="26612"/>
            <p14:sldId id="26614"/>
            <p14:sldId id="26615"/>
            <p14:sldId id="26617"/>
            <p14:sldId id="26645"/>
            <p14:sldId id="26422"/>
          </p14:sldIdLst>
        </p14:section>
        <p14:section name="Review of learning 6" id="{6721D3DC-F7BB-49CA-9E61-8454C104591D}">
          <p14:sldIdLst>
            <p14:sldId id="26619"/>
            <p14:sldId id="26622"/>
            <p14:sldId id="26623"/>
            <p14:sldId id="26624"/>
            <p14:sldId id="26625"/>
            <p14:sldId id="26626"/>
            <p14:sldId id="26487"/>
          </p14:sldIdLst>
        </p14:section>
        <p14:section name="Review of learning 7" id="{CF63834E-0BE9-495B-9761-037C836F185E}">
          <p14:sldIdLst>
            <p14:sldId id="26628"/>
            <p14:sldId id="26629"/>
            <p14:sldId id="26632"/>
            <p14:sldId id="26633"/>
            <p14:sldId id="26634"/>
            <p14:sldId id="26635"/>
            <p14:sldId id="26646"/>
          </p14:sldIdLst>
        </p14:section>
        <p14:section name="Review of learning 8" id="{6FF8F7EC-803E-4F84-BA41-6B3ED673D597}">
          <p14:sldIdLst>
            <p14:sldId id="26637"/>
            <p14:sldId id="26640"/>
            <p14:sldId id="26641"/>
            <p14:sldId id="26642"/>
            <p14:sldId id="26643"/>
            <p14:sldId id="26644"/>
            <p14:sldId id="26490"/>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1B1BAE1E-6EF3-DBA4-64B9-54D7242E20D4}" name="Stacey Makila" initials="SM" userId="S::Stacey.Wolfenden@det.nsw.edu.au::1f90aada-aa7f-459b-b23b-17275cc27e9e"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EA9B0C"/>
    <a:srgbClr val="007A8A"/>
    <a:srgbClr val="9B6808"/>
    <a:srgbClr val="427B2D"/>
    <a:srgbClr val="B51458"/>
    <a:srgbClr val="00ACC2"/>
    <a:srgbClr val="64BB47"/>
    <a:srgbClr val="EDF9E0"/>
    <a:srgbClr val="87D8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12629C-C6F7-4AB4-88A3-C230EC341B2C}" v="19" dt="2025-10-24T02:36:46.012"/>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833" autoAdjust="0"/>
  </p:normalViewPr>
  <p:slideViewPr>
    <p:cSldViewPr snapToGrid="0">
      <p:cViewPr varScale="1">
        <p:scale>
          <a:sx n="69" d="100"/>
          <a:sy n="69" d="100"/>
        </p:scale>
        <p:origin x="1108" y="48"/>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font" Target="fonts/font9.fntdata"/><Relationship Id="rId89"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Master" Target="slideMasters/slideMaster2.xml"/><Relationship Id="rId90" Type="http://schemas.openxmlformats.org/officeDocument/2006/relationships/theme" Target="theme/theme1.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font" Target="fonts/font5.fntdata"/><Relationship Id="rId85" Type="http://schemas.openxmlformats.org/officeDocument/2006/relationships/font" Target="fonts/font10.fntdata"/><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1.fntdata"/><Relationship Id="rId7" Type="http://schemas.openxmlformats.org/officeDocument/2006/relationships/slide" Target="slides/slide2.xml"/><Relationship Id="rId71" Type="http://schemas.openxmlformats.org/officeDocument/2006/relationships/slide" Target="slides/slide66.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font" Target="fonts/font12.fntdata"/><Relationship Id="rId61" Type="http://schemas.openxmlformats.org/officeDocument/2006/relationships/slide" Target="slides/slide56.xml"/><Relationship Id="rId82" Type="http://schemas.openxmlformats.org/officeDocument/2006/relationships/font" Target="fonts/font7.fntdata"/><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font" Target="fonts/font2.fntdata"/></Relationships>
</file>

<file path=ppt/comments/modernComment_168_4664DA32.xml><?xml version="1.0" encoding="utf-8"?>
<p188:cmLst xmlns:a="http://schemas.openxmlformats.org/drawingml/2006/main" xmlns:r="http://schemas.openxmlformats.org/officeDocument/2006/relationships" xmlns:p188="http://schemas.microsoft.com/office/powerpoint/2018/8/main">
  <p188:cm id="{A33FD336-2F13-4685-8175-51FE1E5DA5A8}" authorId="{FD7747EE-57F8-CAC5-7CAF-C637FBE93789}" created="2025-10-22T09:02:31.465">
    <ac:txMkLst xmlns:ac="http://schemas.microsoft.com/office/drawing/2013/main/command">
      <pc:docMk xmlns:pc="http://schemas.microsoft.com/office/powerpoint/2013/main/command"/>
      <pc:sldMk xmlns:pc="http://schemas.microsoft.com/office/powerpoint/2013/main/command" cId="1181014578" sldId="360"/>
      <ac:spMk id="4" creationId="{B7C07B50-96D9-2E35-E2CE-3139F6377F08}"/>
      <ac:txMk cp="0" len="288">
        <ac:context len="289" hash="3202512577"/>
      </ac:txMk>
    </ac:txMkLst>
    <p188:pos x="10746364" y="249149"/>
    <p188:txBody>
      <a:bodyPr/>
      <a:lstStyle/>
      <a:p>
        <a:r>
          <a:rPr lang="en-AU"/>
          <a:t>This section needs to be actioned.</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24/09/2026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24/09/2026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latin typeface="Arial"/>
                <a:cs typeface="Arial"/>
              </a:rPr>
              <a:t>This Review of Learning slide deck revisits key concepts from the following units:</a:t>
            </a:r>
          </a:p>
          <a:p>
            <a:pPr marL="285750" indent="-285750">
              <a:buFont typeface="Arial" panose="020B0604020202020204" pitchFamily="34" charset="0"/>
              <a:buChar char="•"/>
            </a:pPr>
            <a:r>
              <a:rPr lang="en-AU">
                <a:latin typeface="Arial"/>
                <a:cs typeface="Arial"/>
              </a:rPr>
              <a:t>Stage 1 Year B Unit 40</a:t>
            </a:r>
          </a:p>
          <a:p>
            <a:pPr marL="285750" indent="-285750">
              <a:buFont typeface="Arial" panose="020B0604020202020204" pitchFamily="34" charset="0"/>
              <a:buChar char="•"/>
            </a:pPr>
            <a:r>
              <a:rPr lang="en-AU">
                <a:latin typeface="Arial"/>
                <a:cs typeface="Arial"/>
              </a:rPr>
              <a:t>Stage 2 Year A Unit 1</a:t>
            </a:r>
          </a:p>
          <a:p>
            <a:pPr marL="285750" indent="-285750">
              <a:buFont typeface="Arial" panose="020B0604020202020204" pitchFamily="34" charset="0"/>
              <a:buChar char="•"/>
            </a:pPr>
            <a:r>
              <a:rPr lang="en-AU">
                <a:latin typeface="Arial"/>
                <a:cs typeface="Arial"/>
              </a:rPr>
              <a:t>Stage 2 Year A Unit 2</a:t>
            </a:r>
          </a:p>
          <a:p>
            <a:r>
              <a:rPr lang="en-AU">
                <a:latin typeface="Arial"/>
                <a:cs typeface="Arial"/>
              </a:rPr>
              <a:t>It also includes opportunities to review prior learning in non-number content, supporting consolidation across focus areas.</a:t>
            </a:r>
          </a:p>
          <a:p>
            <a:endParaRPr lang="en-AU"/>
          </a:p>
          <a:p>
            <a:r>
              <a:rPr lang="en-AU">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latin typeface="Arial"/>
                <a:cs typeface="Arial"/>
              </a:rPr>
              <a:t>1.</a:t>
            </a:r>
          </a:p>
          <a:p>
            <a:r>
              <a:rPr lang="en-AU" b="1">
                <a:latin typeface="Arial"/>
                <a:cs typeface="Arial"/>
              </a:rPr>
              <a:t>Multiple-choice questions/True or false: </a:t>
            </a:r>
            <a:r>
              <a:rPr lang="en-AU">
                <a:latin typeface="Arial"/>
                <a:cs typeface="Arial"/>
              </a:rPr>
              <a:t>Designed to promote active retrieval of key concepts and identify common misconceptions in number, supporting consolidation, understanding and fluency.</a:t>
            </a:r>
            <a:br>
              <a:rPr lang="en-AU"/>
            </a:br>
            <a:r>
              <a:rPr lang="en-AU">
                <a:latin typeface="Arial"/>
                <a:cs typeface="Arial"/>
              </a:rPr>
              <a:t>These questions:</a:t>
            </a:r>
          </a:p>
          <a:p>
            <a:endParaRPr lang="en-AU"/>
          </a:p>
          <a:p>
            <a:pPr marL="285750" indent="-285750">
              <a:buFont typeface="Wingdings" panose="05000000000000000000" pitchFamily="2" charset="2"/>
              <a:buChar char="ü"/>
            </a:pPr>
            <a:r>
              <a:rPr lang="en-AU">
                <a:latin typeface="Arial"/>
                <a:cs typeface="Arial"/>
              </a:rPr>
              <a:t>support spaced and interleaved practice</a:t>
            </a:r>
          </a:p>
          <a:p>
            <a:pPr marL="285750" indent="-285750">
              <a:buFont typeface="Wingdings" panose="05000000000000000000" pitchFamily="2" charset="2"/>
              <a:buChar char="ü"/>
            </a:pPr>
            <a:r>
              <a:rPr lang="en-AU">
                <a:latin typeface="Arial"/>
                <a:cs typeface="Arial"/>
              </a:rPr>
              <a:t>help identify and address common misconceptions </a:t>
            </a:r>
          </a:p>
          <a:p>
            <a:pPr marL="285750" indent="-285750">
              <a:buFont typeface="Wingdings" panose="05000000000000000000" pitchFamily="2" charset="2"/>
              <a:buChar char="ü"/>
            </a:pPr>
            <a:r>
              <a:rPr lang="en-AU">
                <a:latin typeface="Arial"/>
                <a:cs typeface="Arial"/>
              </a:rPr>
              <a:t>support active recall and immediate feedback</a:t>
            </a:r>
          </a:p>
          <a:p>
            <a:pPr marL="285750" indent="-285750">
              <a:buFont typeface="Wingdings" panose="05000000000000000000" pitchFamily="2" charset="2"/>
              <a:buChar char="ü"/>
            </a:pPr>
            <a:r>
              <a:rPr lang="en-AU">
                <a:latin typeface="Arial"/>
                <a:cs typeface="Arial"/>
              </a:rPr>
              <a:t>support whole class participation</a:t>
            </a:r>
          </a:p>
          <a:p>
            <a:pPr marL="285750" indent="-285750">
              <a:buFont typeface="Wingdings" panose="05000000000000000000" pitchFamily="2" charset="2"/>
              <a:buChar char="ü"/>
            </a:pPr>
            <a:r>
              <a:rPr lang="en-AU">
                <a:latin typeface="Arial"/>
                <a:cs typeface="Arial"/>
              </a:rPr>
              <a:t>identify areas requiring reteach</a:t>
            </a:r>
          </a:p>
          <a:p>
            <a:endParaRPr lang="en-AU"/>
          </a:p>
          <a:p>
            <a:r>
              <a:rPr lang="en-AU" b="1">
                <a:latin typeface="Arial"/>
                <a:cs typeface="Arial"/>
              </a:rPr>
              <a:t>2.</a:t>
            </a:r>
            <a:br>
              <a:rPr lang="en-AU" b="1"/>
            </a:br>
            <a:r>
              <a:rPr lang="en-AU" b="1">
                <a:latin typeface="Arial"/>
                <a:cs typeface="Arial"/>
              </a:rPr>
              <a:t>Short-response question sets: </a:t>
            </a:r>
            <a:r>
              <a:rPr lang="en-AU">
                <a:latin typeface="Arial"/>
                <a:cs typeface="Arial"/>
              </a:rPr>
              <a:t>Carefully grouped questions that encourage spaced and interleaved practice across multiple focus areas, helping students revisit and apply knowledge from different points in time.</a:t>
            </a:r>
            <a:br>
              <a:rPr lang="en-AU"/>
            </a:br>
            <a:r>
              <a:rPr lang="en-AU">
                <a:latin typeface="Arial"/>
                <a:cs typeface="Arial"/>
              </a:rPr>
              <a:t>These questions:</a:t>
            </a:r>
          </a:p>
          <a:p>
            <a:endParaRPr lang="en-AU"/>
          </a:p>
          <a:p>
            <a:pPr marL="285750" indent="-285750">
              <a:buFont typeface="Wingdings" panose="05000000000000000000" pitchFamily="2" charset="2"/>
              <a:buChar char="ü"/>
            </a:pPr>
            <a:r>
              <a:rPr lang="en-AU">
                <a:latin typeface="Arial"/>
                <a:cs typeface="Arial"/>
              </a:rPr>
              <a:t>have a combination of question types </a:t>
            </a:r>
          </a:p>
          <a:p>
            <a:pPr marL="285750" indent="-285750">
              <a:buFont typeface="Wingdings" panose="05000000000000000000" pitchFamily="2" charset="2"/>
              <a:buChar char="ü"/>
            </a:pPr>
            <a:r>
              <a:rPr lang="en-AU">
                <a:latin typeface="Arial"/>
                <a:cs typeface="Arial"/>
              </a:rPr>
              <a:t>address a range of focus areas</a:t>
            </a:r>
          </a:p>
          <a:p>
            <a:pPr marL="285750" indent="-285750">
              <a:buFont typeface="Wingdings" panose="05000000000000000000" pitchFamily="2" charset="2"/>
              <a:buChar char="ü"/>
            </a:pPr>
            <a:r>
              <a:rPr lang="en-AU">
                <a:latin typeface="Arial"/>
                <a:cs typeface="Arial"/>
              </a:rPr>
              <a:t>build automaticity and fluency</a:t>
            </a:r>
          </a:p>
          <a:p>
            <a:pPr marL="285750" indent="-285750">
              <a:buFont typeface="Wingdings" panose="05000000000000000000" pitchFamily="2" charset="2"/>
              <a:buChar char="ü"/>
            </a:pPr>
            <a:r>
              <a:rPr lang="en-AU">
                <a:latin typeface="Arial"/>
                <a:cs typeface="Arial"/>
              </a:rPr>
              <a:t>support active recall </a:t>
            </a:r>
          </a:p>
          <a:p>
            <a:pPr marL="285750" indent="-285750">
              <a:buFont typeface="Wingdings" panose="05000000000000000000" pitchFamily="2" charset="2"/>
              <a:buChar char="ü"/>
            </a:pPr>
            <a:r>
              <a:rPr lang="en-AU">
                <a:latin typeface="Arial"/>
                <a:cs typeface="Arial"/>
              </a:rPr>
              <a:t>allow for immediate feedback</a:t>
            </a:r>
          </a:p>
          <a:p>
            <a:pPr marL="285750" indent="-285750">
              <a:buFont typeface="Wingdings" panose="05000000000000000000" pitchFamily="2" charset="2"/>
              <a:buChar char="ü"/>
            </a:pPr>
            <a:r>
              <a:rPr lang="en-AU">
                <a:latin typeface="Arial"/>
                <a:cs typeface="Arial"/>
              </a:rPr>
              <a:t>identify content requiring reteach</a:t>
            </a:r>
          </a:p>
          <a:p>
            <a:endParaRPr lang="en-AU"/>
          </a:p>
          <a:p>
            <a:r>
              <a:rPr lang="en-AU" b="1">
                <a:latin typeface="Arial"/>
                <a:cs typeface="Arial"/>
              </a:rPr>
              <a:t>3.</a:t>
            </a:r>
          </a:p>
          <a:p>
            <a:r>
              <a:rPr lang="en-AU" b="1">
                <a:latin typeface="Arial"/>
                <a:cs typeface="Arial"/>
              </a:rPr>
              <a:t>Developing number sense activities: </a:t>
            </a:r>
            <a:r>
              <a:rPr lang="en-AU">
                <a:latin typeface="Arial"/>
                <a:cs typeface="Arial"/>
              </a:rPr>
              <a:t>A variety of practical, purposeful tasks that reinforce current learning and build on prior knowledge. These activities promote reasoning, problem-solving and conceptual understanding.</a:t>
            </a:r>
            <a:br>
              <a:rPr lang="en-AU"/>
            </a:br>
            <a:br>
              <a:rPr lang="en-AU"/>
            </a:br>
            <a:endParaRPr lang="en-AU"/>
          </a:p>
          <a:p>
            <a:r>
              <a:rPr lang="en-AU">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Combining and separating quantities B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b="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 </a:t>
            </a:r>
          </a:p>
          <a:p>
            <a:r>
              <a:rPr lang="en-AU" b="0" dirty="0"/>
              <a:t>Representing whole number</a:t>
            </a: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Geometric measure B: Length </a:t>
            </a:r>
            <a:r>
              <a:rPr lang="en-AU" sz="1600" b="0" kern="1200" dirty="0">
                <a:solidFill>
                  <a:schemeClr val="tx1"/>
                </a:solidFill>
                <a:effectLst/>
                <a:latin typeface="Arial" panose="020B0604020202020204" pitchFamily="34" charset="0"/>
                <a:ea typeface="+mn-ea"/>
                <a:cs typeface="Arial" panose="020B0604020202020204" pitchFamily="34" charset="0"/>
              </a:rPr>
              <a:t>(Note: Stage 1 content reviewed) </a:t>
            </a:r>
            <a:endParaRPr lang="en-AU" sz="1600" b="0" i="0" dirty="0">
              <a:solidFill>
                <a:schemeClr val="tx1"/>
              </a:solidFill>
              <a:latin typeface="Arial" panose="020B0604020202020204" pitchFamily="34" charset="0"/>
              <a:cs typeface="Arial" panose="020B0604020202020204" pitchFamily="34" charset="0"/>
            </a:endParaRPr>
          </a:p>
          <a:p>
            <a:pPr>
              <a:defRPr/>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B: Position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A</a:t>
            </a:r>
          </a:p>
          <a:p>
            <a:endParaRPr lang="en-AU" dirty="0"/>
          </a:p>
          <a:p>
            <a:r>
              <a:rPr lang="en-AU" b="1" dirty="0"/>
              <a:t>Decade dash</a:t>
            </a:r>
          </a:p>
          <a:p>
            <a:pPr marL="342900" indent="-342900">
              <a:buAutoNum type="arabicPeriod"/>
            </a:pPr>
            <a:r>
              <a:rPr lang="en-AU" dirty="0"/>
              <a:t>Provide pairs of students with 2 dice and individual whiteboards.</a:t>
            </a:r>
          </a:p>
          <a:p>
            <a:pPr marL="342900" indent="-342900">
              <a:buAutoNum type="arabicPeriod"/>
            </a:pPr>
            <a:r>
              <a:rPr lang="en-AU" dirty="0"/>
              <a:t>The activity can be repeated several times to make multiple 2-digit numbers.</a:t>
            </a:r>
          </a:p>
          <a:p>
            <a:pPr marL="0" indent="0">
              <a:buNone/>
            </a:pPr>
            <a:endParaRPr lang="en-AU" dirty="0"/>
          </a:p>
          <a:p>
            <a:pPr marL="0" indent="0">
              <a:buNone/>
            </a:pPr>
            <a:r>
              <a:rPr lang="en-AU" b="1" dirty="0"/>
              <a:t>Note</a:t>
            </a:r>
            <a:r>
              <a:rPr lang="en-AU" dirty="0"/>
              <a:t>: the activity can be adapted by using 3 dice and creating 3-digit numbers.</a:t>
            </a: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082552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numbers using place value A: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 Length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B: Time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dirty="0"/>
              <a:t>Additive relations A</a:t>
            </a:r>
          </a:p>
          <a:p>
            <a:endParaRPr lang="en-AU" sz="1800" dirty="0"/>
          </a:p>
          <a:p>
            <a:endParaRPr lang="en-AU" sz="1800" dirty="0">
              <a:latin typeface="Public Sans"/>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1" dirty="0"/>
              <a:t>The same as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dirty="0"/>
              <a:t>This resource corresponds to </a:t>
            </a:r>
            <a:r>
              <a:rPr lang="en-AU" sz="1800" b="1" dirty="0"/>
              <a:t>Resource 17  – number sentence board </a:t>
            </a:r>
            <a:r>
              <a:rPr lang="en-AU" sz="1800" dirty="0"/>
              <a:t>in Stage 2 Year A Unit 2</a:t>
            </a:r>
          </a:p>
          <a:p>
            <a:endParaRPr lang="en-AU" sz="1800" b="1" dirty="0"/>
          </a:p>
          <a:p>
            <a:pPr marL="342900" lvl="0" indent="-342900">
              <a:lnSpc>
                <a:spcPct val="150000"/>
              </a:lnSpc>
              <a:spcBef>
                <a:spcPts val="1200"/>
              </a:spcBef>
              <a:buFont typeface="+mj-lt"/>
              <a:buAutoNum type="arabicPeriod"/>
            </a:pPr>
            <a:r>
              <a:rPr lang="en-AU" sz="1800" dirty="0">
                <a:effectLst/>
                <a:latin typeface="Arial" panose="020B0604020202020204" pitchFamily="34" charset="0"/>
                <a:ea typeface="Calibri" panose="020F0502020204030204" pitchFamily="34" charset="0"/>
              </a:rPr>
              <a:t>In pairs, provide students with a deck of cards (Jack = 11, Queen = 12, King = 13 and Joker = 14).</a:t>
            </a:r>
          </a:p>
          <a:p>
            <a:pPr marL="342900" lvl="0" indent="-342900">
              <a:lnSpc>
                <a:spcPct val="150000"/>
              </a:lnSpc>
              <a:spcBef>
                <a:spcPts val="1200"/>
              </a:spcBef>
              <a:buFont typeface="+mj-lt"/>
              <a:buAutoNum type="arabicPeriod"/>
            </a:pPr>
            <a:r>
              <a:rPr lang="en-AU" sz="1800" dirty="0">
                <a:effectLst/>
                <a:latin typeface="Arial" panose="020B0604020202020204" pitchFamily="34" charset="0"/>
                <a:ea typeface="Calibri" panose="020F0502020204030204" pitchFamily="34" charset="0"/>
              </a:rPr>
              <a:t>Player 1 picks up a card from the centre pile and decides which of the 4 slots to place the card. For example, Player 1 picks up a 12 and places it in one of the slots and reads out the number sentence stating whether it is true or not. For example, ‘ten plus eight is not the same as twelve plus two’.</a:t>
            </a:r>
          </a:p>
          <a:p>
            <a:pPr marL="342900" lvl="0" indent="-342900">
              <a:lnSpc>
                <a:spcPct val="150000"/>
              </a:lnSpc>
              <a:spcBef>
                <a:spcPts val="1200"/>
              </a:spcBef>
              <a:buFont typeface="+mj-lt"/>
              <a:buAutoNum type="arabicPeriod"/>
            </a:pPr>
            <a:r>
              <a:rPr lang="en-AU" sz="1800" dirty="0">
                <a:effectLst/>
                <a:latin typeface="Arial" panose="020B0604020202020204" pitchFamily="34" charset="0"/>
                <a:ea typeface="Calibri" panose="020F0502020204030204" pitchFamily="34" charset="0"/>
              </a:rPr>
              <a:t>Player 2 picks up a card and places it in one of the slots. For example, player 2 picks up a 7 and reads out the number sentence stating if it is true or not.</a:t>
            </a:r>
          </a:p>
          <a:p>
            <a:pPr marL="342900" lvl="0" indent="-342900">
              <a:lnSpc>
                <a:spcPct val="150000"/>
              </a:lnSpc>
              <a:spcBef>
                <a:spcPts val="1200"/>
              </a:spcBef>
              <a:buFont typeface="+mj-lt"/>
              <a:buAutoNum type="arabicPeriod"/>
            </a:pPr>
            <a:r>
              <a:rPr lang="en-AU" sz="1800" dirty="0">
                <a:effectLst/>
                <a:latin typeface="Arial" panose="020B0604020202020204" pitchFamily="34" charset="0"/>
                <a:ea typeface="Calibri" panose="020F0502020204030204" pitchFamily="34" charset="0"/>
              </a:rPr>
              <a:t>Play continues until a player selects a card that makes a true statement. For example, Player 1 picks up a 9 and places it in a slot and reads ‘ten plus nine is the same as twelve plus seven.’</a:t>
            </a:r>
          </a:p>
          <a:p>
            <a:pPr marL="342900" marR="0" lvl="0" indent="-342900" algn="l" defTabSz="1219170" rtl="0" eaLnBrk="1" fontAlgn="auto" latinLnBrk="0" hangingPunct="1">
              <a:lnSpc>
                <a:spcPct val="150000"/>
              </a:lnSpc>
              <a:spcBef>
                <a:spcPts val="1200"/>
              </a:spcBef>
              <a:spcAft>
                <a:spcPts val="0"/>
              </a:spcAft>
              <a:buClrTx/>
              <a:buSzTx/>
              <a:buFont typeface="+mj-lt"/>
              <a:buAutoNum type="arabicPeriod"/>
              <a:tabLst/>
              <a:defRPr/>
            </a:pPr>
            <a:r>
              <a:rPr lang="en-AU" sz="1800" dirty="0">
                <a:effectLst/>
                <a:latin typeface="Arial" panose="020B0604020202020204" pitchFamily="34" charset="0"/>
                <a:ea typeface="Calibri" panose="020F0502020204030204" pitchFamily="34" charset="0"/>
              </a:rPr>
              <a:t>Player 1 records the number sentences on their whiteboard and that is the end of a round. The cards on the game board are placed at the bottom of the pile, 4 new cards are dealt and play starts again. The game ends once a player has 5 accurate number sentences.</a:t>
            </a:r>
          </a:p>
          <a:p>
            <a:pPr marL="0" lvl="0" indent="0">
              <a:lnSpc>
                <a:spcPct val="150000"/>
              </a:lnSpc>
              <a:spcBef>
                <a:spcPts val="1200"/>
              </a:spcBef>
              <a:buFont typeface="+mj-lt"/>
              <a:buNone/>
            </a:pPr>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128822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a:latin typeface="Arial"/>
                <a:cs typeface="Arial"/>
              </a:rPr>
              <a:t>Additive relations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 Length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B: 2D shapes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dirty="0"/>
              <a:t>Additive relations A</a:t>
            </a:r>
          </a:p>
          <a:p>
            <a:endParaRPr lang="en-AU" sz="1800" dirty="0"/>
          </a:p>
          <a:p>
            <a:r>
              <a:rPr lang="en-AU" sz="1800" b="1" dirty="0"/>
              <a:t>True or false?</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True or False? from NRICH by University of Cambridge (Faculty of Mathematics).</a:t>
            </a:r>
          </a:p>
          <a:p>
            <a:endParaRPr lang="en-AU" sz="1800" dirty="0"/>
          </a:p>
          <a:p>
            <a:r>
              <a:rPr lang="en-AU" sz="1800" dirty="0"/>
              <a:t>This resource corresponds to </a:t>
            </a:r>
            <a:r>
              <a:rPr lang="en-AU" sz="1800" b="1" dirty="0"/>
              <a:t>Resource 18 True or false? </a:t>
            </a:r>
            <a:r>
              <a:rPr lang="en-AU" sz="1800" dirty="0"/>
              <a:t>in Stage 2 Year A Unit 2</a:t>
            </a:r>
          </a:p>
          <a:p>
            <a:endParaRPr lang="en-AU" sz="1800" dirty="0">
              <a:latin typeface="Public Sans"/>
            </a:endParaRPr>
          </a:p>
          <a:p>
            <a:pPr marL="342900" indent="-342900">
              <a:lnSpc>
                <a:spcPct val="150000"/>
              </a:lnSpc>
              <a:spcBef>
                <a:spcPts val="1200"/>
              </a:spcBef>
              <a:buFont typeface="+mj-lt"/>
              <a:buAutoNum type="arabicPeriod"/>
            </a:pPr>
            <a:r>
              <a:rPr lang="en-AU" sz="1800" dirty="0">
                <a:effectLst/>
                <a:latin typeface="Arial"/>
                <a:ea typeface="Calibri"/>
                <a:cs typeface="Arial"/>
              </a:rPr>
              <a:t>Students need to decide whether each of the number sentences are true or false. Students </a:t>
            </a:r>
            <a:r>
              <a:rPr lang="en-AU" dirty="0">
                <a:latin typeface="Arial"/>
                <a:cs typeface="Arial"/>
              </a:rPr>
              <a:t>turn and talk </a:t>
            </a:r>
            <a:r>
              <a:rPr lang="en-AU" sz="1800" dirty="0">
                <a:latin typeface="Arial"/>
                <a:ea typeface="Calibri"/>
                <a:cs typeface="Arial"/>
              </a:rPr>
              <a:t>to</a:t>
            </a:r>
            <a:r>
              <a:rPr lang="en-AU" sz="1800" dirty="0">
                <a:effectLst/>
                <a:latin typeface="Arial"/>
                <a:ea typeface="Calibri"/>
                <a:cs typeface="Arial"/>
              </a:rPr>
              <a:t> share their ideas and record their answers on a white board.</a:t>
            </a:r>
          </a:p>
          <a:p>
            <a:pPr marL="342900" lvl="0" indent="-342900">
              <a:lnSpc>
                <a:spcPct val="150000"/>
              </a:lnSpc>
              <a:buFont typeface="+mj-lt"/>
              <a:buAutoNum type="arabicPeriod"/>
            </a:pPr>
            <a:r>
              <a:rPr lang="en-AU" sz="1800" dirty="0">
                <a:effectLst/>
                <a:latin typeface="Arial" panose="020B0604020202020204" pitchFamily="34" charset="0"/>
                <a:ea typeface="Calibri" panose="020F0502020204030204" pitchFamily="34" charset="0"/>
              </a:rPr>
              <a:t>Regroup as a class and ask:</a:t>
            </a:r>
          </a:p>
          <a:p>
            <a:pPr marL="342900" lvl="0" indent="-342900">
              <a:lnSpc>
                <a:spcPct val="150000"/>
              </a:lnSpc>
              <a:spcBef>
                <a:spcPts val="1200"/>
              </a:spcBef>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Which are true? Which are false? How do you know?</a:t>
            </a:r>
          </a:p>
          <a:p>
            <a:pPr marL="342900" lvl="0" indent="-342900">
              <a:lnSpc>
                <a:spcPct val="150000"/>
              </a:lnSpc>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What strategies did you use to find the answer without doing any calculating?</a:t>
            </a:r>
          </a:p>
          <a:p>
            <a:pPr marL="0" lvl="0" indent="0">
              <a:lnSpc>
                <a:spcPct val="150000"/>
              </a:lnSpc>
              <a:buFont typeface="Symbol" panose="05050102010706020507" pitchFamily="18" charset="2"/>
              <a:buNone/>
            </a:pPr>
            <a:endParaRPr lang="en-AU" sz="1800" dirty="0">
              <a:effectLst/>
              <a:latin typeface="Arial" panose="020B0604020202020204" pitchFamily="34" charset="0"/>
              <a:ea typeface="Calibri" panose="020F0502020204030204" pitchFamily="34" charset="0"/>
            </a:endParaRPr>
          </a:p>
          <a:p>
            <a:pPr>
              <a:lnSpc>
                <a:spcPct val="150000"/>
              </a:lnSpc>
              <a:spcBef>
                <a:spcPts val="600"/>
              </a:spcBef>
              <a:spcAft>
                <a:spcPts val="600"/>
              </a:spcAft>
            </a:pPr>
            <a:r>
              <a:rPr lang="en-AU" sz="1800" b="1" dirty="0">
                <a:effectLst/>
                <a:latin typeface="Arial" panose="020B0604020202020204" pitchFamily="34" charset="0"/>
                <a:ea typeface="Calibri" panose="020F0502020204030204" pitchFamily="34" charset="0"/>
              </a:rPr>
              <a:t>Note</a:t>
            </a:r>
            <a:r>
              <a:rPr lang="en-AU" sz="1800" dirty="0">
                <a:effectLst/>
                <a:latin typeface="Arial" panose="020B0604020202020204" pitchFamily="34" charset="0"/>
                <a:ea typeface="Calibri" panose="020F0502020204030204" pitchFamily="34" charset="0"/>
              </a:rPr>
              <a:t>: the activity can be adapted by using 3-digit number sentences.</a:t>
            </a:r>
          </a:p>
          <a:p>
            <a:endParaRPr lang="en-AU" dirty="0"/>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1659724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4)</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numbers using place value A: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 Length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structures A: Area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A</a:t>
            </a:r>
          </a:p>
          <a:p>
            <a:endParaRPr lang="en-AU" dirty="0"/>
          </a:p>
          <a:p>
            <a:r>
              <a:rPr lang="en-AU" b="1" dirty="0"/>
              <a:t>Near ten number match</a:t>
            </a:r>
          </a:p>
          <a:p>
            <a:pPr marL="342900" indent="-342900">
              <a:buAutoNum type="arabicPeriod"/>
            </a:pPr>
            <a:r>
              <a:rPr lang="en-US" dirty="0">
                <a:latin typeface="Public Sans"/>
              </a:rPr>
              <a:t>Place students in pairs and provide each pair with </a:t>
            </a:r>
            <a:r>
              <a:rPr lang="en-US" b="1" dirty="0">
                <a:latin typeface="Public Sans"/>
              </a:rPr>
              <a:t>two dice</a:t>
            </a:r>
            <a:r>
              <a:rPr lang="en-US" dirty="0">
                <a:latin typeface="Public Sans"/>
              </a:rPr>
              <a:t>.</a:t>
            </a:r>
            <a:endParaRPr lang="en-US" dirty="0"/>
          </a:p>
          <a:p>
            <a:pPr marL="285750" indent="-285750">
              <a:buAutoNum type="arabicPeriod"/>
            </a:pPr>
            <a:r>
              <a:rPr lang="en-US" dirty="0"/>
              <a:t>Each student rolls both dice and uses the digits to form a </a:t>
            </a:r>
            <a:r>
              <a:rPr lang="en-US" b="1" dirty="0"/>
              <a:t>2-digit number</a:t>
            </a:r>
            <a:r>
              <a:rPr lang="en-US" dirty="0"/>
              <a:t> by deciding which digit goes in the tens place and which in the ones place.</a:t>
            </a:r>
            <a:endParaRPr lang="en-GB" dirty="0"/>
          </a:p>
          <a:p>
            <a:pPr marL="285750" lvl="1" indent="-285750">
              <a:buFont typeface="Arial"/>
              <a:buChar char="•"/>
            </a:pPr>
            <a:r>
              <a:rPr lang="en-US" i="1" dirty="0"/>
              <a:t>For example: roll a 3 and 7 → form 37 or 73.</a:t>
            </a:r>
            <a:endParaRPr lang="en-GB" dirty="0"/>
          </a:p>
          <a:p>
            <a:pPr marL="285750" indent="-285750">
              <a:buAutoNum type="arabicPeriod"/>
            </a:pPr>
            <a:r>
              <a:rPr lang="en-US" dirty="0"/>
              <a:t>Students then write a </a:t>
            </a:r>
            <a:r>
              <a:rPr lang="en-US" b="1" dirty="0"/>
              <a:t>number sentence</a:t>
            </a:r>
            <a:r>
              <a:rPr lang="en-US" dirty="0"/>
              <a:t> where they adjust their number to the </a:t>
            </a:r>
            <a:r>
              <a:rPr lang="en-US" b="1" dirty="0"/>
              <a:t>nearest multiple of 10</a:t>
            </a:r>
            <a:r>
              <a:rPr lang="en-US" dirty="0"/>
              <a:t> and compensate to maintain equality.</a:t>
            </a:r>
            <a:endParaRPr lang="en-GB" dirty="0"/>
          </a:p>
          <a:p>
            <a:pPr marL="285750" lvl="1" indent="-285750">
              <a:buFont typeface="Arial"/>
              <a:buChar char="•"/>
            </a:pPr>
            <a:r>
              <a:rPr lang="en-US" i="1" dirty="0"/>
              <a:t>E.g. 37 + 6 = 40 + 3 → so 37 + 6 = 43</a:t>
            </a:r>
            <a:endParaRPr lang="en-GB" dirty="0"/>
          </a:p>
          <a:p>
            <a:pPr marL="285750" indent="-285750">
              <a:buAutoNum type="arabicPeriod"/>
            </a:pPr>
            <a:r>
              <a:rPr lang="en-US" dirty="0"/>
              <a:t>Both students solve the problem and then </a:t>
            </a:r>
            <a:r>
              <a:rPr lang="en-US" b="1" dirty="0"/>
              <a:t>turn and talk</a:t>
            </a:r>
            <a:r>
              <a:rPr lang="en-US" dirty="0"/>
              <a:t> to compare thinking.</a:t>
            </a:r>
            <a:endParaRPr lang="en-GB" dirty="0"/>
          </a:p>
          <a:p>
            <a:br>
              <a:rPr lang="en-US" dirty="0"/>
            </a:br>
            <a:endParaRPr lang="en-US" dirty="0"/>
          </a:p>
          <a:p>
            <a:r>
              <a:rPr lang="en-US" b="1" dirty="0"/>
              <a:t>Prompts to support discussion:</a:t>
            </a:r>
            <a:endParaRPr lang="en-GB" dirty="0"/>
          </a:p>
          <a:p>
            <a:pPr marL="285750" indent="-285750">
              <a:buAutoNum type="arabicPeriod"/>
            </a:pPr>
            <a:r>
              <a:rPr lang="en-US" dirty="0"/>
              <a:t>What number did you make? Why?</a:t>
            </a:r>
            <a:endParaRPr lang="en-GB" dirty="0"/>
          </a:p>
          <a:p>
            <a:pPr marL="285750" indent="-285750">
              <a:buAutoNum type="arabicPeriod"/>
            </a:pPr>
            <a:r>
              <a:rPr lang="en-US" dirty="0"/>
              <a:t>Why did you choose to adjust that number?</a:t>
            </a:r>
            <a:endParaRPr lang="en-GB" dirty="0"/>
          </a:p>
          <a:p>
            <a:pPr marL="285750" indent="-285750">
              <a:buAutoNum type="arabicPeriod"/>
            </a:pPr>
            <a:r>
              <a:rPr lang="en-US" dirty="0"/>
              <a:t>What did you add or subtract to make it easier?</a:t>
            </a:r>
            <a:endParaRPr lang="en-GB" dirty="0"/>
          </a:p>
          <a:p>
            <a:pPr marL="285750" indent="-285750">
              <a:buAutoNum type="arabicPeriod"/>
            </a:pPr>
            <a:r>
              <a:rPr lang="en-US" dirty="0"/>
              <a:t>How do you know your equation is still equal?</a:t>
            </a:r>
            <a:endParaRPr lang="en-GB" dirty="0"/>
          </a:p>
          <a:p>
            <a:pPr marL="285750" indent="-285750">
              <a:buAutoNum type="arabicPeriod"/>
            </a:pP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8583757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4F17-CD8E-8D00-54E2-6FEB75C9B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1F71-E848-F722-C2A1-8D30DD114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533E3-1064-AE44-0F73-0B71A2F1CF09}"/>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a:t>
            </a:r>
          </a:p>
        </p:txBody>
      </p:sp>
      <p:sp>
        <p:nvSpPr>
          <p:cNvPr id="4" name="Slide Number Placeholder 3">
            <a:extLst>
              <a:ext uri="{FF2B5EF4-FFF2-40B4-BE49-F238E27FC236}">
                <a16:creationId xmlns:a16="http://schemas.microsoft.com/office/drawing/2014/main" id="{D3C98C79-F24D-D293-5D72-3E1A9BA0B19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356296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 Length</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AD0C5-B3EF-5573-1671-134AD1E55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301417-2B3A-37FE-5AA6-9A4975CAA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3874C-7D79-3C5E-F40F-EC8AEB59EF6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05540D5-3649-922F-3D5E-FF71FD801A74}"/>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28880050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dirty="0"/>
              <a:t>Additive relations A</a:t>
            </a:r>
          </a:p>
          <a:p>
            <a:endParaRPr lang="en-AU" sz="1800" dirty="0"/>
          </a:p>
          <a:p>
            <a:r>
              <a:rPr lang="en-AU" sz="1800" b="1" dirty="0"/>
              <a:t>Strike it out</a:t>
            </a:r>
          </a:p>
          <a:p>
            <a:r>
              <a:rPr lang="en-AU" sz="1800" dirty="0">
                <a:effectLst/>
                <a:latin typeface="Arial" panose="020B0604020202020204" pitchFamily="34" charset="0"/>
                <a:ea typeface="Calibri" panose="020F0502020204030204" pitchFamily="34" charset="0"/>
              </a:rPr>
              <a:t>1. In pairs, provide students with paper and writing materials. Students create a number line from 0–20.</a:t>
            </a:r>
          </a:p>
          <a:p>
            <a:r>
              <a:rPr lang="en-AU" sz="1800" dirty="0">
                <a:effectLst/>
                <a:latin typeface="Arial" panose="020B0604020202020204" pitchFamily="34" charset="0"/>
                <a:ea typeface="Calibri" panose="020F0502020204030204" pitchFamily="34" charset="0"/>
              </a:rPr>
              <a:t>2. Play continues until one player is no longer able to make a valid move. The player who stops their opponent from being able to take a turn is the winner.</a:t>
            </a:r>
          </a:p>
          <a:p>
            <a:r>
              <a:rPr lang="en-AU" sz="1800" dirty="0">
                <a:effectLst/>
                <a:latin typeface="Arial" panose="020B0604020202020204" pitchFamily="34" charset="0"/>
                <a:ea typeface="Calibri" panose="020F0502020204030204" pitchFamily="34" charset="0"/>
              </a:rPr>
              <a:t>3. Play the game again, with the second player starting first.</a:t>
            </a:r>
          </a:p>
          <a:p>
            <a:pPr marL="0" lvl="0" indent="0">
              <a:lnSpc>
                <a:spcPct val="150000"/>
              </a:lnSpc>
              <a:buFont typeface="+mj-lt"/>
              <a:buNone/>
            </a:pPr>
            <a:r>
              <a:rPr lang="en-AU" sz="1800" dirty="0">
                <a:effectLst/>
                <a:latin typeface="Arial" panose="020B0604020202020204" pitchFamily="34" charset="0"/>
                <a:ea typeface="Calibri" panose="020F0502020204030204" pitchFamily="34" charset="0"/>
              </a:rPr>
              <a:t>4. As a class, discuss and reflect on the activity by asking questions such as:</a:t>
            </a:r>
          </a:p>
          <a:p>
            <a:pPr marL="342900" lvl="0" indent="-342900">
              <a:lnSpc>
                <a:spcPct val="150000"/>
              </a:lnSpc>
              <a:spcBef>
                <a:spcPts val="1200"/>
              </a:spcBef>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How did you know when the game was over?</a:t>
            </a:r>
          </a:p>
          <a:p>
            <a:pPr marL="342900" lvl="0" indent="-342900">
              <a:lnSpc>
                <a:spcPct val="150000"/>
              </a:lnSpc>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Share the strategy that you used to try to win the game. Was it successful? Why?</a:t>
            </a:r>
          </a:p>
          <a:p>
            <a:pPr marL="342900" lvl="0" indent="-342900">
              <a:lnSpc>
                <a:spcPct val="150000"/>
              </a:lnSpc>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What addition and subtraction strategies did you find useful?</a:t>
            </a:r>
          </a:p>
          <a:p>
            <a:pPr marL="342900" lvl="0" indent="-342900">
              <a:lnSpc>
                <a:spcPct val="150000"/>
              </a:lnSpc>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When adding, did it matter which way you added the numbers? Why not? (Commutative property).</a:t>
            </a:r>
          </a:p>
          <a:p>
            <a:pPr marL="342900" lvl="0" indent="-342900">
              <a:lnSpc>
                <a:spcPct val="150000"/>
              </a:lnSpc>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Can you think of any ways to make the game easier or harder?</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dirty="0">
              <a:effectLst/>
              <a:latin typeface="Arial" panose="020B0604020202020204" pitchFamily="34" charset="0"/>
              <a:ea typeface="Calibri" panose="020F0502020204030204" pitchFamily="34" charset="0"/>
            </a:endParaRPr>
          </a:p>
          <a:p>
            <a:endParaRPr lang="en-AU" dirty="0"/>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38</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6836994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numbers using place value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 Length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panose="020B0604020202020204" pitchFamily="34" charset="0"/>
                <a:cs typeface="Arial" panose="020B0604020202020204" pitchFamily="34" charset="0"/>
              </a:rPr>
              <a:t>Non-spatial measure: Time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dirty="0"/>
              <a:t>Additive relations A</a:t>
            </a:r>
          </a:p>
          <a:p>
            <a:endParaRPr lang="en-AU" sz="1800" dirty="0"/>
          </a:p>
          <a:p>
            <a:r>
              <a:rPr lang="en-AU" sz="1800" b="1" dirty="0"/>
              <a:t>Closest to 100.</a:t>
            </a:r>
          </a:p>
          <a:p>
            <a:pPr marL="342900" lvl="0" indent="-342900">
              <a:lnSpc>
                <a:spcPct val="150000"/>
              </a:lnSpc>
              <a:spcBef>
                <a:spcPts val="1200"/>
              </a:spcBef>
              <a:buFont typeface="+mj-lt"/>
              <a:buAutoNum type="arabicPeriod"/>
            </a:pPr>
            <a:r>
              <a:rPr lang="en-AU" sz="1800" dirty="0">
                <a:effectLst/>
                <a:latin typeface="Arial" panose="020B0604020202020204" pitchFamily="34" charset="0"/>
                <a:ea typeface="Calibri" panose="020F0502020204030204" pitchFamily="34" charset="0"/>
              </a:rPr>
              <a:t>In pairs, provide students with a whiteboard and a pack of cards from A–10. Player 1 shuffles the cards and puts them in a central pile. Player 2 takes 6 cards and places them face up for everyone to see.</a:t>
            </a:r>
          </a:p>
          <a:p>
            <a:pPr marL="342900" lvl="0" indent="-342900">
              <a:lnSpc>
                <a:spcPct val="150000"/>
              </a:lnSpc>
              <a:buFont typeface="+mj-lt"/>
              <a:buAutoNum type="arabicPeriod"/>
            </a:pPr>
            <a:r>
              <a:rPr lang="en-AU" sz="1800" dirty="0">
                <a:effectLst/>
                <a:latin typeface="Arial" panose="020B0604020202020204" pitchFamily="34" charset="0"/>
                <a:ea typeface="Calibri" panose="020F0502020204030204" pitchFamily="34" charset="0"/>
              </a:rPr>
              <a:t>Students record their number sentence and score on their whiteboard. The pair with the lowest score at the end wins.</a:t>
            </a:r>
          </a:p>
          <a:p>
            <a:endParaRPr lang="en-AU" dirty="0"/>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7436947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a:latin typeface="Arial"/>
                <a:cs typeface="Arial"/>
              </a:rPr>
              <a:t>Additive relations A</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 Length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Three-dimensional spatial structure B: 3D objects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6C9BD-9069-8716-C96A-F15835A9AE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5FC835-17A5-B083-D571-802580531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36488-1BE7-1350-DEC3-815D957AFB9C}"/>
              </a:ext>
            </a:extLst>
          </p:cNvPr>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dirty="0"/>
              <a:t>Additive relations A</a:t>
            </a:r>
          </a:p>
          <a:p>
            <a:endParaRPr lang="en-AU" sz="1800" dirty="0"/>
          </a:p>
          <a:p>
            <a:r>
              <a:rPr lang="en-AU" sz="1800" b="1" dirty="0"/>
              <a:t>Double or halve</a:t>
            </a:r>
          </a:p>
          <a:p>
            <a:r>
              <a:rPr lang="en-AU" sz="1800" b="0" dirty="0"/>
              <a:t>This resource corresponds to </a:t>
            </a:r>
            <a:r>
              <a:rPr lang="en-AU" sz="1800" b="1" dirty="0"/>
              <a:t>Resource 19 </a:t>
            </a:r>
            <a:r>
              <a:rPr lang="en-AU" sz="1800" b="1" dirty="0">
                <a:latin typeface="Arial"/>
                <a:cs typeface="Arial"/>
              </a:rPr>
              <a:t>– grid </a:t>
            </a:r>
            <a:r>
              <a:rPr lang="en-AU" sz="1800" b="0" dirty="0"/>
              <a:t>in Stage 2 Year A Unit 2. </a:t>
            </a:r>
          </a:p>
          <a:p>
            <a:endParaRPr lang="en-AU" sz="1800" b="0" dirty="0"/>
          </a:p>
          <a:p>
            <a:pPr marL="342900" lvl="0" indent="-342900">
              <a:lnSpc>
                <a:spcPct val="150000"/>
              </a:lnSpc>
              <a:spcBef>
                <a:spcPts val="1200"/>
              </a:spcBef>
              <a:buFont typeface="+mj-lt"/>
              <a:buAutoNum type="arabicPeriod"/>
            </a:pPr>
            <a:r>
              <a:rPr lang="en-AU" sz="1800" dirty="0">
                <a:effectLst/>
                <a:latin typeface="Arial" panose="020B0604020202020204" pitchFamily="34" charset="0"/>
                <a:ea typeface="Calibri" panose="020F0502020204030204" pitchFamily="34" charset="0"/>
              </a:rPr>
              <a:t>Provide pairs with </a:t>
            </a:r>
            <a:r>
              <a:rPr lang="en-AU" dirty="0"/>
              <a:t>Resource 19 </a:t>
            </a:r>
            <a:r>
              <a:rPr lang="en-AU" dirty="0">
                <a:latin typeface="Arial"/>
                <a:cs typeface="Arial"/>
              </a:rPr>
              <a:t>–</a:t>
            </a:r>
            <a:r>
              <a:rPr lang="en-AU" dirty="0"/>
              <a:t> grid, </a:t>
            </a:r>
            <a:r>
              <a:rPr lang="en-AU" sz="1800" dirty="0">
                <a:effectLst/>
                <a:latin typeface="Arial" panose="020B0604020202020204" pitchFamily="34" charset="0"/>
                <a:ea typeface="Calibri" panose="020F0502020204030204" pitchFamily="34" charset="0"/>
              </a:rPr>
              <a:t>2 different coloured pencils and a 6-sided die.</a:t>
            </a:r>
          </a:p>
          <a:p>
            <a:pPr marL="342900" lvl="0" indent="-342900">
              <a:lnSpc>
                <a:spcPct val="150000"/>
              </a:lnSpc>
              <a:buFont typeface="+mj-lt"/>
              <a:buAutoNum type="arabicPeriod"/>
            </a:pPr>
            <a:r>
              <a:rPr lang="en-AU" sz="1800" dirty="0">
                <a:effectLst/>
                <a:latin typeface="Arial" panose="020B0604020202020204" pitchFamily="34" charset="0"/>
                <a:ea typeface="Calibri" panose="020F0502020204030204" pitchFamily="34" charset="0"/>
              </a:rPr>
              <a:t>Students choose a target number between 10 and 30, write it on the side of their grid and on the correct grid square.</a:t>
            </a:r>
          </a:p>
          <a:p>
            <a:pPr marL="342900" lvl="0" indent="-342900">
              <a:lnSpc>
                <a:spcPct val="150000"/>
              </a:lnSpc>
              <a:buFont typeface="+mj-lt"/>
              <a:buAutoNum type="arabicPeriod"/>
            </a:pPr>
            <a:r>
              <a:rPr lang="en-AU" sz="1800" dirty="0">
                <a:effectLst/>
                <a:latin typeface="Arial" panose="020B0604020202020204" pitchFamily="34" charset="0"/>
                <a:ea typeface="Calibri" panose="020F0502020204030204" pitchFamily="34" charset="0"/>
              </a:rPr>
              <a:t>The first player rolls the die and chooses to either double or halve the number. The player records their choice on the grid by shading the correct number of squares. Players record a running total on the side of their grid.</a:t>
            </a:r>
          </a:p>
          <a:p>
            <a:pPr marL="342900" lvl="0" indent="-342900">
              <a:lnSpc>
                <a:spcPct val="150000"/>
              </a:lnSpc>
              <a:buFont typeface="+mj-lt"/>
              <a:buAutoNum type="arabicPeriod"/>
            </a:pPr>
            <a:r>
              <a:rPr lang="en-AU" sz="1800" dirty="0">
                <a:effectLst/>
                <a:latin typeface="Arial" panose="020B0604020202020204" pitchFamily="34" charset="0"/>
                <a:ea typeface="Calibri" panose="020F0502020204030204" pitchFamily="34" charset="0"/>
              </a:rPr>
              <a:t>Players take turns to roll the die and record their chosen number. If a player cannot go, they miss a turn. The winner is the player who reaches the target number exactly.</a:t>
            </a:r>
          </a:p>
          <a:p>
            <a:pPr marL="342900" lvl="0" indent="-342900">
              <a:lnSpc>
                <a:spcPct val="150000"/>
              </a:lnSpc>
              <a:spcBef>
                <a:spcPts val="1200"/>
              </a:spcBef>
              <a:buFont typeface="+mj-lt"/>
              <a:buAutoNum type="arabicPeriod"/>
            </a:pPr>
            <a:r>
              <a:rPr lang="en-AU" sz="1800" dirty="0">
                <a:effectLst/>
                <a:latin typeface="Arial" panose="020B0604020202020204" pitchFamily="34" charset="0"/>
                <a:ea typeface="Calibri" panose="020F0502020204030204" pitchFamily="34" charset="0"/>
              </a:rPr>
              <a:t>While students are playing, ask:</a:t>
            </a:r>
          </a:p>
          <a:p>
            <a:pPr marL="342900" lvl="0" indent="-342900">
              <a:lnSpc>
                <a:spcPct val="150000"/>
              </a:lnSpc>
              <a:spcBef>
                <a:spcPts val="1200"/>
              </a:spcBef>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If you play the game again are there any moves you would change?</a:t>
            </a:r>
          </a:p>
          <a:p>
            <a:pPr marL="342900" lvl="0" indent="-342900">
              <a:lnSpc>
                <a:spcPct val="150000"/>
              </a:lnSpc>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Is there a number you should have halved instead of doubled? Why?</a:t>
            </a:r>
          </a:p>
          <a:p>
            <a:pPr marL="342900" lvl="0" indent="-342900">
              <a:lnSpc>
                <a:spcPct val="150000"/>
              </a:lnSpc>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If you play the game again and the rules changed so you can double, halve or keep your roll, do you think this might make it easier to reach the target number?</a:t>
            </a:r>
          </a:p>
        </p:txBody>
      </p:sp>
      <p:sp>
        <p:nvSpPr>
          <p:cNvPr id="4" name="Slide Number Placeholder 3">
            <a:extLst>
              <a:ext uri="{FF2B5EF4-FFF2-40B4-BE49-F238E27FC236}">
                <a16:creationId xmlns:a16="http://schemas.microsoft.com/office/drawing/2014/main" id="{5302FDC3-A818-CAD4-0380-8364A43A3FA4}"/>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5850150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 Length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A: 2D shapes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A</a:t>
            </a:r>
          </a:p>
          <a:p>
            <a:endParaRPr lang="en-AU" dirty="0"/>
          </a:p>
          <a:p>
            <a:r>
              <a:rPr lang="en-AU" b="1" dirty="0"/>
              <a:t>Strategy snap</a:t>
            </a:r>
          </a:p>
          <a:p>
            <a:r>
              <a:rPr lang="en-AU" b="0" dirty="0"/>
              <a:t>This resource corresponds to Resource 20 </a:t>
            </a:r>
            <a:r>
              <a:rPr lang="en-AU" dirty="0">
                <a:latin typeface="Arial"/>
                <a:cs typeface="Arial"/>
              </a:rPr>
              <a:t>– problem cards</a:t>
            </a:r>
            <a:r>
              <a:rPr lang="en-AU" b="0" dirty="0"/>
              <a:t> in Stage 2, Year A Unit 2.</a:t>
            </a:r>
          </a:p>
          <a:p>
            <a:endParaRPr lang="en-AU" b="0" dirty="0"/>
          </a:p>
          <a:p>
            <a:pPr marL="342900" indent="-342900">
              <a:buAutoNum type="arabicPeriod"/>
            </a:pPr>
            <a:r>
              <a:rPr lang="en-US" dirty="0" err="1">
                <a:latin typeface="Public Sans"/>
              </a:rPr>
              <a:t>Organise</a:t>
            </a:r>
            <a:r>
              <a:rPr lang="en-US" dirty="0">
                <a:latin typeface="Public Sans"/>
              </a:rPr>
              <a:t> students into pairs and provide each pair with a set of problem cards (Resource 20).</a:t>
            </a:r>
          </a:p>
          <a:p>
            <a:pPr marL="342900" indent="-342900">
              <a:buAutoNum type="arabicPeriod"/>
            </a:pPr>
            <a:r>
              <a:rPr lang="en-US" dirty="0">
                <a:latin typeface="Public Sans"/>
              </a:rPr>
              <a:t>Shuffle the cards and place them face down in a pile.</a:t>
            </a:r>
            <a:endParaRPr lang="en-GB" dirty="0">
              <a:latin typeface="Public Sans"/>
            </a:endParaRPr>
          </a:p>
          <a:p>
            <a:pPr marL="342900" indent="-342900">
              <a:buAutoNum type="arabicPeriod"/>
            </a:pPr>
            <a:r>
              <a:rPr lang="en-US" dirty="0">
                <a:latin typeface="Public Sans"/>
              </a:rPr>
              <a:t>One student flips over the top card and reads the problem aloud.</a:t>
            </a:r>
            <a:endParaRPr lang="en-GB" dirty="0">
              <a:latin typeface="Public Sans"/>
            </a:endParaRPr>
          </a:p>
          <a:p>
            <a:pPr marL="342900" indent="-342900">
              <a:buAutoNum type="arabicPeriod"/>
            </a:pPr>
            <a:r>
              <a:rPr lang="en-US" dirty="0">
                <a:latin typeface="Public Sans"/>
              </a:rPr>
              <a:t>Both students solve the same problem, but each must choose a different strategy (e.g. partitioning, compensation, constant difference).</a:t>
            </a:r>
            <a:endParaRPr lang="en-GB" dirty="0">
              <a:latin typeface="Public Sans"/>
            </a:endParaRPr>
          </a:p>
          <a:p>
            <a:pPr marL="342900" indent="-342900">
              <a:buAutoNum type="arabicPeriod"/>
            </a:pPr>
            <a:r>
              <a:rPr lang="en-US" dirty="0">
                <a:latin typeface="Public Sans"/>
              </a:rPr>
              <a:t>Students record their thinking on the Strategy Snap Sheet, including:</a:t>
            </a:r>
            <a:endParaRPr lang="en-GB" dirty="0">
              <a:latin typeface="Public Sans"/>
            </a:endParaRPr>
          </a:p>
          <a:p>
            <a:pPr marL="342900" lvl="1" indent="-342900">
              <a:buFont typeface="Arial"/>
              <a:buChar char="•"/>
            </a:pPr>
            <a:r>
              <a:rPr lang="en-US" dirty="0">
                <a:latin typeface="Public Sans"/>
              </a:rPr>
              <a:t>The problem</a:t>
            </a:r>
            <a:endParaRPr lang="en-GB" dirty="0">
              <a:latin typeface="Public Sans"/>
            </a:endParaRPr>
          </a:p>
          <a:p>
            <a:pPr marL="342900" lvl="1" indent="-342900">
              <a:buFont typeface="Arial"/>
              <a:buChar char="•"/>
            </a:pPr>
            <a:r>
              <a:rPr lang="en-US" dirty="0">
                <a:latin typeface="Public Sans"/>
              </a:rPr>
              <a:t>The strategy used</a:t>
            </a:r>
            <a:endParaRPr lang="en-GB" dirty="0">
              <a:latin typeface="Public Sans"/>
            </a:endParaRPr>
          </a:p>
          <a:p>
            <a:pPr marL="342900" lvl="1" indent="-342900">
              <a:buFont typeface="Arial"/>
              <a:buChar char="•"/>
            </a:pPr>
            <a:r>
              <a:rPr lang="en-US" dirty="0">
                <a:latin typeface="Public Sans"/>
              </a:rPr>
              <a:t>The answer</a:t>
            </a:r>
            <a:endParaRPr lang="en-GB" dirty="0">
              <a:latin typeface="Public Sans"/>
            </a:endParaRPr>
          </a:p>
          <a:p>
            <a:pPr marL="342900" lvl="1" indent="-342900">
              <a:buFont typeface="Arial"/>
              <a:buChar char="•"/>
            </a:pPr>
            <a:r>
              <a:rPr lang="en-US" dirty="0">
                <a:latin typeface="Public Sans"/>
              </a:rPr>
              <a:t>A sentence explaining why they chose that strategy or how it helped</a:t>
            </a:r>
            <a:endParaRPr lang="en-GB" dirty="0">
              <a:latin typeface="Public Sans"/>
            </a:endParaRPr>
          </a:p>
          <a:p>
            <a:pPr marL="342900" lvl="1" indent="-342900">
              <a:buFont typeface="Arial"/>
              <a:buChar char="•"/>
            </a:pPr>
            <a:endParaRPr lang="en-US" dirty="0">
              <a:latin typeface="Public Sans"/>
            </a:endParaRPr>
          </a:p>
          <a:p>
            <a:pPr marL="0" lvl="1"/>
            <a:r>
              <a:rPr lang="en-US" dirty="0">
                <a:latin typeface="Public Sans"/>
              </a:rPr>
              <a:t>After several rounds:</a:t>
            </a:r>
            <a:endParaRPr lang="en-GB" dirty="0">
              <a:latin typeface="Public Sans"/>
            </a:endParaRPr>
          </a:p>
          <a:p>
            <a:r>
              <a:rPr lang="en-US" dirty="0">
                <a:latin typeface="Public Sans"/>
              </a:rPr>
              <a:t>Students review all strategies they’ve used.</a:t>
            </a:r>
            <a:endParaRPr lang="en-GB" dirty="0">
              <a:latin typeface="Public Sans"/>
            </a:endParaRPr>
          </a:p>
          <a:p>
            <a:r>
              <a:rPr lang="en-US" dirty="0">
                <a:latin typeface="Public Sans"/>
              </a:rPr>
              <a:t>Each student selects their top two strategies and justifies when and why those strategies are most useful.</a:t>
            </a:r>
            <a:endParaRPr lang="en-GB" dirty="0">
              <a:latin typeface="Public Sans"/>
            </a:endParaRPr>
          </a:p>
          <a:p>
            <a:br>
              <a:rPr lang="en-US" dirty="0"/>
            </a:br>
            <a:endParaRPr lang="en-US" dirty="0"/>
          </a:p>
          <a:p>
            <a:r>
              <a:rPr lang="en-US" b="1" dirty="0">
                <a:latin typeface="Public Sans"/>
              </a:rPr>
              <a:t>Prompts to support discussion:</a:t>
            </a:r>
            <a:endParaRPr lang="en-GB" dirty="0">
              <a:latin typeface="Public Sans"/>
            </a:endParaRPr>
          </a:p>
          <a:p>
            <a:pPr marL="285750" indent="-285750">
              <a:buAutoNum type="arabicPeriod"/>
            </a:pPr>
            <a:r>
              <a:rPr lang="en-US" dirty="0"/>
              <a:t>Which strategy felt easiest for this problem? Why?</a:t>
            </a:r>
            <a:endParaRPr lang="en-GB" dirty="0"/>
          </a:p>
          <a:p>
            <a:pPr marL="285750" indent="-285750">
              <a:buAutoNum type="arabicPeriod"/>
            </a:pPr>
            <a:r>
              <a:rPr lang="en-US" dirty="0"/>
              <a:t>Did both strategies give the same answer?</a:t>
            </a:r>
            <a:endParaRPr lang="en-GB" dirty="0"/>
          </a:p>
          <a:p>
            <a:pPr marL="285750" indent="-285750">
              <a:buAutoNum type="arabicPeriod"/>
            </a:pPr>
            <a:r>
              <a:rPr lang="en-US" dirty="0"/>
              <a:t>How do you know your strategy was efficient?</a:t>
            </a:r>
            <a:endParaRPr lang="en-GB" dirty="0"/>
          </a:p>
          <a:p>
            <a:pPr marL="285750" indent="-285750">
              <a:buAutoNum type="arabicPeriod"/>
            </a:pPr>
            <a:r>
              <a:rPr lang="en-US" dirty="0"/>
              <a:t>In what type of problem would this strategy be best used again?</a:t>
            </a:r>
            <a:endParaRPr lang="en-GB" dirty="0"/>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59</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41831171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798147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153688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8091399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1435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70094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402555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146224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3412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2801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913187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2.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3252941528"/>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0.xml"/><Relationship Id="rId1" Type="http://schemas.openxmlformats.org/officeDocument/2006/relationships/slideLayout" Target="../slideLayouts/slideLayout19.xml"/><Relationship Id="rId5" Type="http://schemas.openxmlformats.org/officeDocument/2006/relationships/image" Target="../media/image10.jpe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svg"/><Relationship Id="rId10" Type="http://schemas.openxmlformats.org/officeDocument/2006/relationships/image" Target="../media/image10.jpeg"/><Relationship Id="rId4" Type="http://schemas.openxmlformats.org/officeDocument/2006/relationships/image" Target="../media/image14.svg"/><Relationship Id="rId9"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5.xml"/><Relationship Id="rId1" Type="http://schemas.openxmlformats.org/officeDocument/2006/relationships/slideLayout" Target="../slideLayouts/slideLayout19.xml"/><Relationship Id="rId4" Type="http://schemas.openxmlformats.org/officeDocument/2006/relationships/image" Target="../media/image10.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2.xml"/><Relationship Id="rId1" Type="http://schemas.openxmlformats.org/officeDocument/2006/relationships/slideLayout" Target="../slideLayouts/slideLayout19.xml"/><Relationship Id="rId4" Type="http://schemas.openxmlformats.org/officeDocument/2006/relationships/image" Target="../media/image10.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9.xml"/><Relationship Id="rId1" Type="http://schemas.openxmlformats.org/officeDocument/2006/relationships/slideLayout" Target="../slideLayouts/slideLayout19.xml"/><Relationship Id="rId4" Type="http://schemas.openxmlformats.org/officeDocument/2006/relationships/image" Target="../media/image10.jpe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5" Type="http://schemas.openxmlformats.org/officeDocument/2006/relationships/image" Target="../media/image27.sv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microsoft.com/office/2018/10/relationships/comments" Target="../comments/modernComment_168_4664DA32.xm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 TargetMode="External"/><Relationship Id="rId5" Type="http://schemas.openxmlformats.org/officeDocument/2006/relationships/hyperlink" Target="https://educationstandards.nsw.edu.au/wps/portal/nesa/home" TargetMode="External"/><Relationship Id="rId4" Type="http://schemas.openxmlformats.org/officeDocument/2006/relationships/hyperlink" Target="https://educationstandards.nsw.edu.au/wps/portal/nesa/mini-footer/copyright"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mn-lt"/>
                <a:ea typeface="+mn-lt"/>
                <a:cs typeface="+mn-lt"/>
              </a:rPr>
              <a:t>This resource is not a teaching and learning program. It should be used in conjunction with Stage 2 Year A Unit 2.</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2</a:t>
            </a:r>
          </a:p>
        </p:txBody>
      </p:sp>
      <p:pic>
        <p:nvPicPr>
          <p:cNvPr id="5" name="Picture Placeholder 4" descr="A group of dice on an orange surface&#10;&#10;AI-generated content may be incorrect.">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2</a:t>
              </a:r>
              <a:endParaRPr lang="en-AU">
                <a:solidFill>
                  <a:schemeClr val="accent1"/>
                </a:solidFill>
                <a:latin typeface="+mj-lt"/>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3</a:t>
              </a:r>
              <a:endParaRPr lang="en-AU">
                <a:solidFill>
                  <a:schemeClr val="accent1"/>
                </a:solidFill>
                <a:latin typeface="+mj-lt"/>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4</a:t>
              </a:r>
              <a:endParaRPr lang="en-AU">
                <a:solidFill>
                  <a:schemeClr val="accent1"/>
                </a:solidFill>
                <a:latin typeface="+mj-lt"/>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6</a:t>
              </a:r>
              <a:endParaRPr lang="en-AU">
                <a:solidFill>
                  <a:schemeClr val="accent1"/>
                </a:solidFill>
                <a:latin typeface="+mj-lt"/>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7</a:t>
              </a:r>
              <a:endParaRPr lang="en-AU">
                <a:solidFill>
                  <a:schemeClr val="accent1"/>
                </a:solidFill>
                <a:latin typeface="+mj-lt"/>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8</a:t>
              </a:r>
              <a:endParaRPr lang="en-AU">
                <a:solidFill>
                  <a:schemeClr val="accent1"/>
                </a:solidFill>
                <a:latin typeface="+mj-lt"/>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5</a:t>
              </a:r>
              <a:endParaRPr lang="en-AU">
                <a:solidFill>
                  <a:schemeClr val="accent1"/>
                </a:solidFill>
                <a:latin typeface="+mj-lt"/>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FCD28-280A-268C-8C92-8A605A7B59EF}"/>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(1)</a:t>
            </a:r>
          </a:p>
        </p:txBody>
      </p:sp>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p:txBody>
          <a:bodyPr/>
          <a:lstStyle/>
          <a:p>
            <a:pPr algn="ctr"/>
            <a:r>
              <a:rPr lang="en-US" sz="4400" dirty="0"/>
              <a:t>Ariah has $20 to </a:t>
            </a:r>
            <a:r>
              <a:rPr lang="en-US" sz="4400" b="1" dirty="0"/>
              <a:t>spend</a:t>
            </a:r>
            <a:r>
              <a:rPr lang="en-US" sz="4400" dirty="0"/>
              <a:t> at the shop. She </a:t>
            </a:r>
            <a:r>
              <a:rPr lang="en-US" sz="4400" b="1" dirty="0"/>
              <a:t>spends</a:t>
            </a:r>
            <a:r>
              <a:rPr lang="en-US" sz="4400" dirty="0"/>
              <a:t> $8. </a:t>
            </a:r>
            <a:r>
              <a:rPr lang="en-US" sz="4400" b="1" dirty="0"/>
              <a:t>How much change </a:t>
            </a:r>
            <a:r>
              <a:rPr lang="en-US" sz="4400" dirty="0"/>
              <a:t>will she get?</a:t>
            </a:r>
          </a:p>
        </p:txBody>
      </p:sp>
      <p:sp>
        <p:nvSpPr>
          <p:cNvPr id="9" name="TextBox 8">
            <a:extLst>
              <a:ext uri="{FF2B5EF4-FFF2-40B4-BE49-F238E27FC236}">
                <a16:creationId xmlns:a16="http://schemas.microsoft.com/office/drawing/2014/main" id="{055D882C-AF43-C390-844D-CF785253532C}"/>
              </a:ext>
            </a:extLst>
          </p:cNvPr>
          <p:cNvSpPr txBox="1"/>
          <p:nvPr/>
        </p:nvSpPr>
        <p:spPr>
          <a:xfrm>
            <a:off x="1215766" y="434376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19739" y="434376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27686" y="434376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23712" y="434376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Box 4">
            <a:extLst>
              <a:ext uri="{FF2B5EF4-FFF2-40B4-BE49-F238E27FC236}">
                <a16:creationId xmlns:a16="http://schemas.microsoft.com/office/drawing/2014/main" id="{FC34BC92-7720-62E6-18CC-2F14A9186860}"/>
              </a:ext>
            </a:extLst>
          </p:cNvPr>
          <p:cNvSpPr txBox="1"/>
          <p:nvPr/>
        </p:nvSpPr>
        <p:spPr>
          <a:xfrm>
            <a:off x="959370" y="6696000"/>
            <a:ext cx="10164629" cy="914400"/>
          </a:xfrm>
          <a:prstGeom prst="rect">
            <a:avLst/>
          </a:prstGeom>
          <a:noFill/>
        </p:spPr>
        <p:txBody>
          <a:bodyPr wrap="none" lIns="0" tIns="0" rIns="0" bIns="0" rtlCol="0">
            <a:noAutofit/>
          </a:bodyPr>
          <a:lstStyle/>
          <a:p>
            <a:pPr algn="l"/>
            <a:endParaRPr lang="en-AU" sz="1800"/>
          </a:p>
        </p:txBody>
      </p:sp>
      <p:sp>
        <p:nvSpPr>
          <p:cNvPr id="6" name="TextBox 5">
            <a:extLst>
              <a:ext uri="{FF2B5EF4-FFF2-40B4-BE49-F238E27FC236}">
                <a16:creationId xmlns:a16="http://schemas.microsoft.com/office/drawing/2014/main" id="{DB208B11-EEC6-67BF-E090-B0CEE87C4F08}"/>
              </a:ext>
            </a:extLst>
          </p:cNvPr>
          <p:cNvSpPr txBox="1"/>
          <p:nvPr/>
        </p:nvSpPr>
        <p:spPr>
          <a:xfrm>
            <a:off x="779489" y="5306518"/>
            <a:ext cx="10344510" cy="1389482"/>
          </a:xfrm>
          <a:prstGeom prst="rect">
            <a:avLst/>
          </a:prstGeom>
          <a:noFill/>
        </p:spPr>
        <p:txBody>
          <a:bodyPr wrap="square" lIns="0" tIns="0" rIns="0" bIns="0" rtlCol="0" anchor="t">
            <a:noAutofit/>
          </a:bodyPr>
          <a:lstStyle/>
          <a:p>
            <a:r>
              <a:rPr lang="en-AU" sz="4400" dirty="0"/>
              <a:t>  $28              $5              $12              $2      </a:t>
            </a:r>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CC792284-DD0A-2D3F-DFE9-EF79E7DBB188}"/>
              </a:ext>
            </a:extLst>
          </p:cNvPr>
          <p:cNvSpPr txBox="1"/>
          <p:nvPr/>
        </p:nvSpPr>
        <p:spPr>
          <a:xfrm>
            <a:off x="914400" y="1820736"/>
            <a:ext cx="10209600" cy="1352917"/>
          </a:xfrm>
          <a:prstGeom prst="rect">
            <a:avLst/>
          </a:prstGeom>
          <a:noFill/>
        </p:spPr>
        <p:txBody>
          <a:bodyPr wrap="square" lIns="0" tIns="0" rIns="0" bIns="0" rtlCol="0">
            <a:noAutofit/>
          </a:bodyPr>
          <a:lstStyle/>
          <a:p>
            <a:pPr algn="ctr">
              <a:lnSpc>
                <a:spcPct val="150000"/>
              </a:lnSpc>
            </a:pPr>
            <a:r>
              <a:rPr lang="en-AU" sz="4400" b="1" dirty="0"/>
              <a:t>Build to a multiple of 10 </a:t>
            </a:r>
            <a:r>
              <a:rPr lang="en-AU" sz="4400" dirty="0"/>
              <a:t>to solve this number sentence.</a:t>
            </a:r>
          </a:p>
        </p:txBody>
      </p:sp>
      <p:sp>
        <p:nvSpPr>
          <p:cNvPr id="9" name="TextBox 8">
            <a:extLst>
              <a:ext uri="{FF2B5EF4-FFF2-40B4-BE49-F238E27FC236}">
                <a16:creationId xmlns:a16="http://schemas.microsoft.com/office/drawing/2014/main" id="{A242EA2F-D5F5-EB8B-5ABD-0ED872E8EEA7}"/>
              </a:ext>
            </a:extLst>
          </p:cNvPr>
          <p:cNvSpPr txBox="1"/>
          <p:nvPr/>
        </p:nvSpPr>
        <p:spPr>
          <a:xfrm>
            <a:off x="3049772" y="4203058"/>
            <a:ext cx="6092456" cy="769441"/>
          </a:xfrm>
          <a:prstGeom prst="rect">
            <a:avLst/>
          </a:prstGeom>
          <a:noFill/>
        </p:spPr>
        <p:txBody>
          <a:bodyPr wrap="square">
            <a:spAutoFit/>
          </a:bodyPr>
          <a:lstStyle/>
          <a:p>
            <a:pPr algn="ctr"/>
            <a:r>
              <a:rPr lang="en-AU" sz="4400" b="0" i="0" dirty="0">
                <a:effectLst/>
                <a:latin typeface="Public Sans" pitchFamily="2" charset="0"/>
              </a:rPr>
              <a:t>38 + 25</a:t>
            </a:r>
            <a:endParaRPr lang="en-AU" sz="4400" dirty="0"/>
          </a:p>
        </p:txBody>
      </p:sp>
      <p:sp>
        <p:nvSpPr>
          <p:cNvPr id="10" name="TextBox 9">
            <a:extLst>
              <a:ext uri="{FF2B5EF4-FFF2-40B4-BE49-F238E27FC236}">
                <a16:creationId xmlns:a16="http://schemas.microsoft.com/office/drawing/2014/main" id="{A0F77059-8038-D0AB-F486-48632904584A}"/>
              </a:ext>
            </a:extLst>
          </p:cNvPr>
          <p:cNvSpPr txBox="1"/>
          <p:nvPr/>
        </p:nvSpPr>
        <p:spPr>
          <a:xfrm>
            <a:off x="2323918" y="5276165"/>
            <a:ext cx="7911548" cy="982513"/>
          </a:xfrm>
          <a:prstGeom prst="rect">
            <a:avLst/>
          </a:prstGeom>
          <a:noFill/>
        </p:spPr>
        <p:txBody>
          <a:bodyPr wrap="square">
            <a:spAutoFit/>
          </a:bodyPr>
          <a:lstStyle/>
          <a:p>
            <a:pPr algn="ctr">
              <a:lnSpc>
                <a:spcPct val="150000"/>
              </a:lnSpc>
            </a:pPr>
            <a:r>
              <a:rPr lang="en-AU" sz="4400" b="1" dirty="0"/>
              <a:t>Communicate</a:t>
            </a:r>
            <a:r>
              <a:rPr lang="en-AU" sz="4400" dirty="0"/>
              <a:t> your </a:t>
            </a:r>
            <a:r>
              <a:rPr lang="en-AU" sz="4400" b="1" dirty="0"/>
              <a:t>thinking</a:t>
            </a:r>
            <a:r>
              <a:rPr lang="en-AU" sz="4400" dirty="0"/>
              <a:t>.</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A678073-5A47-717A-7FA1-3C7B36368A2A}"/>
              </a:ext>
            </a:extLst>
          </p:cNvPr>
          <p:cNvSpPr txBox="1"/>
          <p:nvPr/>
        </p:nvSpPr>
        <p:spPr>
          <a:xfrm>
            <a:off x="1234041" y="949932"/>
            <a:ext cx="9889959" cy="4107305"/>
          </a:xfrm>
          <a:prstGeom prst="rect">
            <a:avLst/>
          </a:prstGeom>
          <a:noFill/>
        </p:spPr>
        <p:txBody>
          <a:bodyPr wrap="square" lIns="0" tIns="0" rIns="0" bIns="0" rtlCol="0">
            <a:noAutofit/>
          </a:bodyPr>
          <a:lstStyle/>
          <a:p>
            <a:pPr algn="ctr">
              <a:lnSpc>
                <a:spcPct val="200000"/>
              </a:lnSpc>
            </a:pPr>
            <a:r>
              <a:rPr lang="en-AU" sz="4400" b="1" dirty="0"/>
              <a:t>Record</a:t>
            </a:r>
            <a:r>
              <a:rPr lang="en-AU" sz="4400" dirty="0"/>
              <a:t> the following number in </a:t>
            </a:r>
            <a:r>
              <a:rPr lang="en-AU" sz="4400" b="1" dirty="0"/>
              <a:t>standard form</a:t>
            </a:r>
            <a:r>
              <a:rPr lang="en-AU" sz="4400" dirty="0"/>
              <a:t>: 500 + 80 + 7</a:t>
            </a:r>
          </a:p>
        </p:txBody>
      </p:sp>
      <p:sp>
        <p:nvSpPr>
          <p:cNvPr id="5" name="Isosceles Triangle 4">
            <a:extLst>
              <a:ext uri="{FF2B5EF4-FFF2-40B4-BE49-F238E27FC236}">
                <a16:creationId xmlns:a16="http://schemas.microsoft.com/office/drawing/2014/main" id="{056BFA6D-9F9D-A9FE-25D8-746D56F2A98F}"/>
              </a:ext>
            </a:extLst>
          </p:cNvPr>
          <p:cNvSpPr/>
          <p:nvPr/>
        </p:nvSpPr>
        <p:spPr>
          <a:xfrm>
            <a:off x="1830464" y="3547467"/>
            <a:ext cx="8034728" cy="1379095"/>
          </a:xfrm>
          <a:prstGeom prst="triangl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7" name="Table 6">
            <a:extLst>
              <a:ext uri="{FF2B5EF4-FFF2-40B4-BE49-F238E27FC236}">
                <a16:creationId xmlns:a16="http://schemas.microsoft.com/office/drawing/2014/main" id="{C58C2C69-5337-2BF2-6F58-8A7677113DB6}"/>
              </a:ext>
            </a:extLst>
          </p:cNvPr>
          <p:cNvGraphicFramePr>
            <a:graphicFrameLocks noGrp="1"/>
          </p:cNvGraphicFramePr>
          <p:nvPr>
            <p:extLst>
              <p:ext uri="{D42A27DB-BD31-4B8C-83A1-F6EECF244321}">
                <p14:modId xmlns:p14="http://schemas.microsoft.com/office/powerpoint/2010/main" val="2469960868"/>
              </p:ext>
            </p:extLst>
          </p:nvPr>
        </p:nvGraphicFramePr>
        <p:xfrm>
          <a:off x="1783828" y="4974000"/>
          <a:ext cx="8127999" cy="1524000"/>
        </p:xfrm>
        <a:graphic>
          <a:graphicData uri="http://schemas.openxmlformats.org/drawingml/2006/table">
            <a:tbl>
              <a:tblPr firstRow="1" bandRow="1"/>
              <a:tblGrid>
                <a:gridCol w="2709333">
                  <a:extLst>
                    <a:ext uri="{9D8B030D-6E8A-4147-A177-3AD203B41FA5}">
                      <a16:colId xmlns:a16="http://schemas.microsoft.com/office/drawing/2014/main" val="1315265403"/>
                    </a:ext>
                  </a:extLst>
                </a:gridCol>
                <a:gridCol w="2709333">
                  <a:extLst>
                    <a:ext uri="{9D8B030D-6E8A-4147-A177-3AD203B41FA5}">
                      <a16:colId xmlns:a16="http://schemas.microsoft.com/office/drawing/2014/main" val="1299498503"/>
                    </a:ext>
                  </a:extLst>
                </a:gridCol>
                <a:gridCol w="2709333">
                  <a:extLst>
                    <a:ext uri="{9D8B030D-6E8A-4147-A177-3AD203B41FA5}">
                      <a16:colId xmlns:a16="http://schemas.microsoft.com/office/drawing/2014/main" val="1147081497"/>
                    </a:ext>
                  </a:extLst>
                </a:gridCol>
              </a:tblGrid>
              <a:tr h="370840">
                <a:tc>
                  <a:txBody>
                    <a:bodyPr/>
                    <a:lstStyle/>
                    <a:p>
                      <a:pPr algn="ctr"/>
                      <a:r>
                        <a:rPr lang="en-AU" sz="4400"/>
                        <a:t>H</a:t>
                      </a:r>
                    </a:p>
                  </a:txBody>
                  <a:tcPr/>
                </a:tc>
                <a:tc>
                  <a:txBody>
                    <a:bodyPr/>
                    <a:lstStyle/>
                    <a:p>
                      <a:pPr algn="ctr"/>
                      <a:r>
                        <a:rPr lang="en-AU" sz="4400" dirty="0"/>
                        <a:t>T</a:t>
                      </a:r>
                    </a:p>
                  </a:txBody>
                  <a:tcPr/>
                </a:tc>
                <a:tc>
                  <a:txBody>
                    <a:bodyPr/>
                    <a:lstStyle/>
                    <a:p>
                      <a:pPr algn="ctr"/>
                      <a:r>
                        <a:rPr lang="en-AU" sz="4400"/>
                        <a:t>O</a:t>
                      </a:r>
                    </a:p>
                  </a:txBody>
                  <a:tcPr/>
                </a:tc>
                <a:extLst>
                  <a:ext uri="{0D108BD9-81ED-4DB2-BD59-A6C34878D82A}">
                    <a16:rowId xmlns:a16="http://schemas.microsoft.com/office/drawing/2014/main" val="2005522247"/>
                  </a:ext>
                </a:extLst>
              </a:tr>
              <a:tr h="370840">
                <a:tc>
                  <a:txBody>
                    <a:bodyPr/>
                    <a:lstStyle/>
                    <a:p>
                      <a:pPr algn="ctr"/>
                      <a:endParaRPr lang="en-AU" sz="4400"/>
                    </a:p>
                  </a:txBody>
                  <a:tcPr/>
                </a:tc>
                <a:tc>
                  <a:txBody>
                    <a:bodyPr/>
                    <a:lstStyle/>
                    <a:p>
                      <a:pPr algn="ctr"/>
                      <a:endParaRPr lang="en-AU" sz="4400"/>
                    </a:p>
                  </a:txBody>
                  <a:tcPr/>
                </a:tc>
                <a:tc>
                  <a:txBody>
                    <a:bodyPr/>
                    <a:lstStyle/>
                    <a:p>
                      <a:pPr algn="ctr"/>
                      <a:endParaRPr lang="en-AU" sz="4400" dirty="0"/>
                    </a:p>
                  </a:txBody>
                  <a:tcPr/>
                </a:tc>
                <a:extLst>
                  <a:ext uri="{0D108BD9-81ED-4DB2-BD59-A6C34878D82A}">
                    <a16:rowId xmlns:a16="http://schemas.microsoft.com/office/drawing/2014/main" val="3169100201"/>
                  </a:ext>
                </a:extLst>
              </a:tr>
            </a:tbl>
          </a:graphicData>
        </a:graphic>
      </p:graphicFrame>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88B67A8-9472-7EC9-5CD2-4729A672DC85}"/>
              </a:ext>
            </a:extLst>
          </p:cNvPr>
          <p:cNvSpPr txBox="1"/>
          <p:nvPr/>
        </p:nvSpPr>
        <p:spPr>
          <a:xfrm>
            <a:off x="1142246" y="2028616"/>
            <a:ext cx="10367268" cy="2800767"/>
          </a:xfrm>
          <a:prstGeom prst="rect">
            <a:avLst/>
          </a:prstGeom>
          <a:noFill/>
        </p:spPr>
        <p:txBody>
          <a:bodyPr wrap="square">
            <a:spAutoFit/>
          </a:bodyPr>
          <a:lstStyle/>
          <a:p>
            <a:pPr algn="ctr"/>
            <a:r>
              <a:rPr lang="en-AU" sz="4400" b="1" dirty="0"/>
              <a:t>How many centimetres </a:t>
            </a:r>
            <a:r>
              <a:rPr lang="en-AU" sz="4400" dirty="0"/>
              <a:t>are in </a:t>
            </a:r>
            <a:r>
              <a:rPr lang="en-AU" sz="4400" b="1" dirty="0"/>
              <a:t>1 metre</a:t>
            </a:r>
            <a:r>
              <a:rPr lang="en-AU" sz="4400" dirty="0"/>
              <a:t>?</a:t>
            </a:r>
          </a:p>
          <a:p>
            <a:pPr algn="ctr"/>
            <a:endParaRPr lang="en-AU" sz="4400" dirty="0"/>
          </a:p>
          <a:p>
            <a:pPr algn="ctr"/>
            <a:r>
              <a:rPr lang="en-AU" sz="4400" dirty="0"/>
              <a:t>Name </a:t>
            </a:r>
            <a:r>
              <a:rPr lang="en-AU" sz="4400" b="1" dirty="0"/>
              <a:t>something</a:t>
            </a:r>
            <a:r>
              <a:rPr lang="en-AU" sz="4400" dirty="0"/>
              <a:t> that is about a </a:t>
            </a:r>
            <a:r>
              <a:rPr lang="en-AU" sz="4400" b="1" dirty="0"/>
              <a:t>metre long</a:t>
            </a:r>
            <a:r>
              <a:rPr lang="en-AU" sz="4400" dirty="0"/>
              <a:t>.</a:t>
            </a: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2A5F648-F447-F46C-F276-A008C9973E2E}"/>
              </a:ext>
            </a:extLst>
          </p:cNvPr>
          <p:cNvSpPr txBox="1"/>
          <p:nvPr/>
        </p:nvSpPr>
        <p:spPr>
          <a:xfrm>
            <a:off x="1244600" y="1427370"/>
            <a:ext cx="9271000" cy="4746508"/>
          </a:xfrm>
          <a:prstGeom prst="rect">
            <a:avLst/>
          </a:prstGeom>
          <a:noFill/>
        </p:spPr>
        <p:txBody>
          <a:bodyPr wrap="square" lIns="0" tIns="0" rIns="0" bIns="0" rtlCol="0">
            <a:noAutofit/>
          </a:bodyPr>
          <a:lstStyle/>
          <a:p>
            <a:pPr algn="ctr">
              <a:lnSpc>
                <a:spcPct val="150000"/>
              </a:lnSpc>
            </a:pPr>
            <a:r>
              <a:rPr lang="en-AU" sz="4400" dirty="0"/>
              <a:t>You are a bird </a:t>
            </a:r>
            <a:r>
              <a:rPr lang="en-AU" sz="4400" b="1" dirty="0"/>
              <a:t>high </a:t>
            </a:r>
            <a:r>
              <a:rPr lang="en-AU" sz="4400" dirty="0"/>
              <a:t>in the </a:t>
            </a:r>
            <a:r>
              <a:rPr lang="en-AU" sz="4400" b="1" dirty="0"/>
              <a:t>sky looking down</a:t>
            </a:r>
            <a:r>
              <a:rPr lang="en-AU" sz="4400" dirty="0"/>
              <a:t>.</a:t>
            </a:r>
          </a:p>
          <a:p>
            <a:pPr algn="ctr">
              <a:lnSpc>
                <a:spcPct val="150000"/>
              </a:lnSpc>
            </a:pPr>
            <a:r>
              <a:rPr lang="en-AU" sz="4400" dirty="0"/>
              <a:t>Draw a simple </a:t>
            </a:r>
            <a:r>
              <a:rPr lang="en-AU" sz="4400" b="1" dirty="0"/>
              <a:t>map</a:t>
            </a:r>
            <a:r>
              <a:rPr lang="en-AU" sz="4400" dirty="0"/>
              <a:t> of your </a:t>
            </a:r>
            <a:r>
              <a:rPr lang="en-AU" sz="4400" b="1" dirty="0"/>
              <a:t>playground</a:t>
            </a:r>
            <a:r>
              <a:rPr lang="en-AU" sz="4400" dirty="0"/>
              <a:t> from your </a:t>
            </a:r>
            <a:r>
              <a:rPr lang="en-AU" sz="4400" b="1" dirty="0"/>
              <a:t>perspective.</a:t>
            </a:r>
            <a:endParaRPr lang="en-AU" sz="4400" dirty="0"/>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 name="Title 5">
            <a:extLst>
              <a:ext uri="{FF2B5EF4-FFF2-40B4-BE49-F238E27FC236}">
                <a16:creationId xmlns:a16="http://schemas.microsoft.com/office/drawing/2014/main" id="{C20D107C-3085-F700-20BA-02B4E221FB89}"/>
              </a:ext>
            </a:extLst>
          </p:cNvPr>
          <p:cNvSpPr>
            <a:spLocks noGrp="1"/>
          </p:cNvSpPr>
          <p:nvPr>
            <p:ph type="title"/>
          </p:nvPr>
        </p:nvSpPr>
        <p:spPr>
          <a:xfrm>
            <a:off x="359999" y="289996"/>
            <a:ext cx="11483999" cy="545601"/>
          </a:xfrm>
        </p:spPr>
        <p:txBody>
          <a:bodyPr/>
          <a:lstStyle/>
          <a:p>
            <a:r>
              <a:rPr lang="en-AU">
                <a:latin typeface="Arial"/>
                <a:cs typeface="Arial"/>
              </a:rPr>
              <a:t>Activity 1 – decade dash </a:t>
            </a:r>
          </a:p>
        </p:txBody>
      </p:sp>
      <p:sp>
        <p:nvSpPr>
          <p:cNvPr id="7" name="TextBox 6">
            <a:extLst>
              <a:ext uri="{FF2B5EF4-FFF2-40B4-BE49-F238E27FC236}">
                <a16:creationId xmlns:a16="http://schemas.microsoft.com/office/drawing/2014/main" id="{4B57A7AA-DD22-DB2C-AAF9-ECED1E9623D0}"/>
              </a:ext>
            </a:extLst>
          </p:cNvPr>
          <p:cNvSpPr txBox="1"/>
          <p:nvPr/>
        </p:nvSpPr>
        <p:spPr>
          <a:xfrm>
            <a:off x="5730822" y="3058328"/>
            <a:ext cx="5256820" cy="2993089"/>
          </a:xfrm>
          <a:prstGeom prst="rect">
            <a:avLst/>
          </a:prstGeom>
          <a:noFill/>
        </p:spPr>
        <p:txBody>
          <a:bodyPr wrap="square" lIns="0" tIns="0" rIns="0" bIns="0" rtlCol="0">
            <a:no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000" b="0" i="0" u="none" strike="noStrike" kern="1200" cap="none" spc="0" normalizeH="0" baseline="0" noProof="0">
                <a:ln>
                  <a:noFill/>
                </a:ln>
                <a:solidFill>
                  <a:srgbClr val="22272B"/>
                </a:solidFill>
                <a:effectLst/>
                <a:uLnTx/>
                <a:uFillTx/>
                <a:latin typeface="Edu NSW ACT Foundation" pitchFamily="2" charset="0"/>
                <a:cs typeface="Arial" panose="020B0604020202020204" pitchFamily="34" charset="0"/>
              </a:rPr>
              <a:t>What number do you need to add to reach the next multiple of 10?</a:t>
            </a:r>
          </a:p>
          <a:p>
            <a:pPr marL="0" marR="0" lvl="0" indent="0" algn="l" defTabSz="609585" rtl="0" eaLnBrk="1" fontAlgn="auto" latinLnBrk="0" hangingPunct="1">
              <a:lnSpc>
                <a:spcPct val="150000"/>
              </a:lnSpc>
              <a:spcBef>
                <a:spcPts val="0"/>
              </a:spcBef>
              <a:spcAft>
                <a:spcPts val="0"/>
              </a:spcAft>
              <a:buClrTx/>
              <a:buSzTx/>
              <a:buFontTx/>
              <a:buNone/>
              <a:tabLst/>
              <a:defRPr/>
            </a:pPr>
            <a:endPar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endParaRPr>
          </a:p>
        </p:txBody>
      </p:sp>
      <p:sp>
        <p:nvSpPr>
          <p:cNvPr id="8" name="Freeform 2" descr="A whiteboard with the numbers 26 and 62 written on it in blue marker. In black marker: 26 + ? = 30 and 62 + ? = 70.">
            <a:extLst>
              <a:ext uri="{FF2B5EF4-FFF2-40B4-BE49-F238E27FC236}">
                <a16:creationId xmlns:a16="http://schemas.microsoft.com/office/drawing/2014/main" id="{A6918723-64B2-00E9-9739-F6C6CD8EAE8B}"/>
              </a:ext>
            </a:extLst>
          </p:cNvPr>
          <p:cNvSpPr>
            <a:spLocks/>
          </p:cNvSpPr>
          <p:nvPr/>
        </p:nvSpPr>
        <p:spPr>
          <a:xfrm rot="5400000">
            <a:off x="286984" y="2114185"/>
            <a:ext cx="4962191" cy="3356229"/>
          </a:xfrm>
          <a:custGeom>
            <a:avLst/>
            <a:gdLst/>
            <a:ahLst/>
            <a:cxnLst/>
            <a:rect l="l" t="t" r="r" b="b"/>
            <a:pathLst>
              <a:path w="7369798" h="4998063">
                <a:moveTo>
                  <a:pt x="0" y="0"/>
                </a:moveTo>
                <a:lnTo>
                  <a:pt x="7369798" y="0"/>
                </a:lnTo>
                <a:lnTo>
                  <a:pt x="7369798" y="4998063"/>
                </a:lnTo>
                <a:lnTo>
                  <a:pt x="0" y="499806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9" name="TextBox 3">
            <a:extLst>
              <a:ext uri="{FF2B5EF4-FFF2-40B4-BE49-F238E27FC236}">
                <a16:creationId xmlns:a16="http://schemas.microsoft.com/office/drawing/2014/main" id="{24A1F3E1-FED7-7C40-C6CA-39C167108EBB}"/>
              </a:ext>
            </a:extLst>
          </p:cNvPr>
          <p:cNvSpPr txBox="1"/>
          <p:nvPr/>
        </p:nvSpPr>
        <p:spPr>
          <a:xfrm>
            <a:off x="2258933" y="1401626"/>
            <a:ext cx="999345" cy="778355"/>
          </a:xfrm>
          <a:prstGeom prst="rect">
            <a:avLst/>
          </a:prstGeom>
        </p:spPr>
        <p:txBody>
          <a:bodyPr wrap="square" lIns="0" tIns="0" rIns="0" bIns="0" rtlCol="0" anchor="t">
            <a:spAutoFit/>
          </a:bodyPr>
          <a:lstStyle/>
          <a:p>
            <a:pPr marL="0" marR="0" lvl="0" indent="0" algn="ctr" defTabSz="609585" rtl="0" eaLnBrk="1" fontAlgn="auto" latinLnBrk="0" hangingPunct="1">
              <a:lnSpc>
                <a:spcPts val="6999"/>
              </a:lnSpc>
              <a:spcBef>
                <a:spcPts val="0"/>
              </a:spcBef>
              <a:spcAft>
                <a:spcPts val="0"/>
              </a:spcAft>
              <a:buClrTx/>
              <a:buSzTx/>
              <a:buFontTx/>
              <a:buNone/>
              <a:tabLst/>
              <a:defRPr/>
            </a:pPr>
            <a:r>
              <a:rPr kumimoji="0" lang="en-US" sz="3200" b="0" i="0" u="none" strike="noStrike" kern="1200" cap="none" spc="0" normalizeH="0" baseline="0" noProof="0">
                <a:ln>
                  <a:noFill/>
                </a:ln>
                <a:solidFill>
                  <a:srgbClr val="146CFD"/>
                </a:solidFill>
                <a:effectLst/>
                <a:uLnTx/>
                <a:uFillTx/>
                <a:latin typeface="Arial" panose="020B0604020202020204" pitchFamily="34" charset="0"/>
                <a:ea typeface="Schoolbell"/>
                <a:cs typeface="Arial" panose="020B0604020202020204" pitchFamily="34" charset="0"/>
                <a:sym typeface="Schoolbell"/>
              </a:rPr>
              <a:t>26</a:t>
            </a:r>
            <a:endParaRPr kumimoji="0" lang="en-US" sz="3600" b="0" i="0" u="none" strike="noStrike" kern="1200" cap="none" spc="0" normalizeH="0" baseline="0" noProof="0">
              <a:ln>
                <a:noFill/>
              </a:ln>
              <a:solidFill>
                <a:srgbClr val="146CFD"/>
              </a:solidFill>
              <a:effectLst/>
              <a:uLnTx/>
              <a:uFillTx/>
              <a:latin typeface="Arial" panose="020B0604020202020204" pitchFamily="34" charset="0"/>
              <a:ea typeface="Schoolbell"/>
              <a:cs typeface="Arial" panose="020B0604020202020204" pitchFamily="34" charset="0"/>
              <a:sym typeface="Schoolbell"/>
            </a:endParaRPr>
          </a:p>
        </p:txBody>
      </p:sp>
      <p:sp>
        <p:nvSpPr>
          <p:cNvPr id="10" name="TextBox 3">
            <a:extLst>
              <a:ext uri="{FF2B5EF4-FFF2-40B4-BE49-F238E27FC236}">
                <a16:creationId xmlns:a16="http://schemas.microsoft.com/office/drawing/2014/main" id="{E216F145-4075-315B-A0CE-A31E8561E2D2}"/>
              </a:ext>
            </a:extLst>
          </p:cNvPr>
          <p:cNvSpPr txBox="1"/>
          <p:nvPr/>
        </p:nvSpPr>
        <p:spPr>
          <a:xfrm>
            <a:off x="1277042" y="2289549"/>
            <a:ext cx="2963128" cy="766685"/>
          </a:xfrm>
          <a:prstGeom prst="rect">
            <a:avLst/>
          </a:prstGeom>
        </p:spPr>
        <p:txBody>
          <a:bodyPr wrap="square" lIns="0" tIns="0" rIns="0" bIns="0" rtlCol="0" anchor="t">
            <a:spAutoFit/>
          </a:bodyPr>
          <a:lstStyle/>
          <a:p>
            <a:pPr marL="0" marR="0" lvl="0" indent="0" algn="ctr" defTabSz="609585" rtl="0" eaLnBrk="1" fontAlgn="auto" latinLnBrk="0" hangingPunct="1">
              <a:lnSpc>
                <a:spcPts val="6999"/>
              </a:lnSpc>
              <a:spcBef>
                <a:spcPts val="0"/>
              </a:spcBef>
              <a:spcAft>
                <a:spcPts val="0"/>
              </a:spcAft>
              <a:buClrTx/>
              <a:buSzTx/>
              <a:buFontTx/>
              <a:buNone/>
              <a:tabLst/>
              <a:defRPr/>
            </a:pPr>
            <a:r>
              <a:rPr kumimoji="0" lang="en-US" sz="3200" b="0" i="0" u="none" strike="noStrike" kern="1200" cap="none" spc="0" normalizeH="0" baseline="0" noProof="0">
                <a:ln>
                  <a:noFill/>
                </a:ln>
                <a:solidFill>
                  <a:srgbClr val="000000"/>
                </a:solidFill>
                <a:effectLst/>
                <a:uLnTx/>
                <a:uFillTx/>
                <a:latin typeface="Arial" panose="020B0604020202020204" pitchFamily="34" charset="0"/>
                <a:ea typeface="Schoolbell"/>
                <a:cs typeface="Arial" panose="020B0604020202020204" pitchFamily="34" charset="0"/>
                <a:sym typeface="Schoolbell"/>
              </a:rPr>
              <a:t>26  +      =  30</a:t>
            </a:r>
          </a:p>
        </p:txBody>
      </p:sp>
      <p:sp>
        <p:nvSpPr>
          <p:cNvPr id="11" name="TextBox 3">
            <a:extLst>
              <a:ext uri="{FF2B5EF4-FFF2-40B4-BE49-F238E27FC236}">
                <a16:creationId xmlns:a16="http://schemas.microsoft.com/office/drawing/2014/main" id="{709EB91E-71F0-31F8-3806-E001BFE61B98}"/>
              </a:ext>
            </a:extLst>
          </p:cNvPr>
          <p:cNvSpPr txBox="1"/>
          <p:nvPr/>
        </p:nvSpPr>
        <p:spPr>
          <a:xfrm>
            <a:off x="2258932" y="3578140"/>
            <a:ext cx="999345" cy="778355"/>
          </a:xfrm>
          <a:prstGeom prst="rect">
            <a:avLst/>
          </a:prstGeom>
        </p:spPr>
        <p:txBody>
          <a:bodyPr wrap="square" lIns="0" tIns="0" rIns="0" bIns="0" rtlCol="0" anchor="t">
            <a:spAutoFit/>
          </a:bodyPr>
          <a:lstStyle/>
          <a:p>
            <a:pPr marL="0" marR="0" lvl="0" indent="0" algn="ctr" defTabSz="609585" rtl="0" eaLnBrk="1" fontAlgn="auto" latinLnBrk="0" hangingPunct="1">
              <a:lnSpc>
                <a:spcPts val="6999"/>
              </a:lnSpc>
              <a:spcBef>
                <a:spcPts val="0"/>
              </a:spcBef>
              <a:spcAft>
                <a:spcPts val="0"/>
              </a:spcAft>
              <a:buClrTx/>
              <a:buSzTx/>
              <a:buFontTx/>
              <a:buNone/>
              <a:tabLst/>
              <a:defRPr/>
            </a:pPr>
            <a:r>
              <a:rPr kumimoji="0" lang="en-US" sz="3200" b="0" i="0" u="none" strike="noStrike" kern="1200" cap="none" spc="0" normalizeH="0" baseline="0" noProof="0">
                <a:ln>
                  <a:noFill/>
                </a:ln>
                <a:solidFill>
                  <a:srgbClr val="146CFD"/>
                </a:solidFill>
                <a:effectLst/>
                <a:uLnTx/>
                <a:uFillTx/>
                <a:latin typeface="Arial" panose="020B0604020202020204" pitchFamily="34" charset="0"/>
                <a:ea typeface="Schoolbell"/>
                <a:cs typeface="Arial" panose="020B0604020202020204" pitchFamily="34" charset="0"/>
                <a:sym typeface="Schoolbell"/>
              </a:rPr>
              <a:t>62</a:t>
            </a:r>
            <a:endParaRPr kumimoji="0" lang="en-US" sz="3600" b="0" i="0" u="none" strike="noStrike" kern="1200" cap="none" spc="0" normalizeH="0" baseline="0" noProof="0">
              <a:ln>
                <a:noFill/>
              </a:ln>
              <a:solidFill>
                <a:srgbClr val="146CFD"/>
              </a:solidFill>
              <a:effectLst/>
              <a:uLnTx/>
              <a:uFillTx/>
              <a:latin typeface="Arial" panose="020B0604020202020204" pitchFamily="34" charset="0"/>
              <a:ea typeface="Schoolbell"/>
              <a:cs typeface="Arial" panose="020B0604020202020204" pitchFamily="34" charset="0"/>
              <a:sym typeface="Schoolbell"/>
            </a:endParaRPr>
          </a:p>
        </p:txBody>
      </p:sp>
      <p:sp>
        <p:nvSpPr>
          <p:cNvPr id="12" name="TextBox 3">
            <a:extLst>
              <a:ext uri="{FF2B5EF4-FFF2-40B4-BE49-F238E27FC236}">
                <a16:creationId xmlns:a16="http://schemas.microsoft.com/office/drawing/2014/main" id="{C0E02CC1-2662-5E94-96A0-33C29C97A88A}"/>
              </a:ext>
            </a:extLst>
          </p:cNvPr>
          <p:cNvSpPr txBox="1"/>
          <p:nvPr/>
        </p:nvSpPr>
        <p:spPr>
          <a:xfrm>
            <a:off x="1297288" y="4438308"/>
            <a:ext cx="2963128" cy="766685"/>
          </a:xfrm>
          <a:prstGeom prst="rect">
            <a:avLst/>
          </a:prstGeom>
        </p:spPr>
        <p:txBody>
          <a:bodyPr wrap="square" lIns="0" tIns="0" rIns="0" bIns="0" rtlCol="0" anchor="t">
            <a:spAutoFit/>
          </a:bodyPr>
          <a:lstStyle/>
          <a:p>
            <a:pPr marL="0" marR="0" lvl="0" indent="0" algn="ctr" defTabSz="609585" rtl="0" eaLnBrk="1" fontAlgn="auto" latinLnBrk="0" hangingPunct="1">
              <a:lnSpc>
                <a:spcPts val="6999"/>
              </a:lnSpc>
              <a:spcBef>
                <a:spcPts val="0"/>
              </a:spcBef>
              <a:spcAft>
                <a:spcPts val="0"/>
              </a:spcAft>
              <a:buClrTx/>
              <a:buSzTx/>
              <a:buFontTx/>
              <a:buNone/>
              <a:tabLst/>
              <a:defRPr/>
            </a:pPr>
            <a:r>
              <a:rPr kumimoji="0" lang="en-US" sz="3200" b="0" i="0" u="none" strike="noStrike" kern="1200" cap="none" spc="0" normalizeH="0" baseline="0" noProof="0">
                <a:ln>
                  <a:noFill/>
                </a:ln>
                <a:solidFill>
                  <a:srgbClr val="000000"/>
                </a:solidFill>
                <a:effectLst/>
                <a:uLnTx/>
                <a:uFillTx/>
                <a:latin typeface="Arial" panose="020B0604020202020204" pitchFamily="34" charset="0"/>
                <a:ea typeface="Schoolbell"/>
                <a:cs typeface="Arial" panose="020B0604020202020204" pitchFamily="34" charset="0"/>
                <a:sym typeface="Schoolbell"/>
              </a:rPr>
              <a:t>62  +      =  70</a:t>
            </a:r>
          </a:p>
        </p:txBody>
      </p:sp>
      <p:sp>
        <p:nvSpPr>
          <p:cNvPr id="13" name="Rectangle 12">
            <a:extLst>
              <a:ext uri="{FF2B5EF4-FFF2-40B4-BE49-F238E27FC236}">
                <a16:creationId xmlns:a16="http://schemas.microsoft.com/office/drawing/2014/main" id="{7A84C0B7-84FF-6CAD-3822-D5A587A18395}"/>
              </a:ext>
              <a:ext uri="{C183D7F6-B498-43B3-948B-1728B52AA6E4}">
                <adec:decorative xmlns:adec="http://schemas.microsoft.com/office/drawing/2017/decorative" val="1"/>
              </a:ext>
            </a:extLst>
          </p:cNvPr>
          <p:cNvSpPr/>
          <p:nvPr/>
        </p:nvSpPr>
        <p:spPr>
          <a:xfrm>
            <a:off x="2582909" y="2576434"/>
            <a:ext cx="367744" cy="397987"/>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Arial"/>
              <a:ea typeface="+mn-ea"/>
              <a:cs typeface="Arial"/>
            </a:endParaRPr>
          </a:p>
        </p:txBody>
      </p:sp>
      <p:sp>
        <p:nvSpPr>
          <p:cNvPr id="14" name="Rectangle 13">
            <a:extLst>
              <a:ext uri="{FF2B5EF4-FFF2-40B4-BE49-F238E27FC236}">
                <a16:creationId xmlns:a16="http://schemas.microsoft.com/office/drawing/2014/main" id="{57EA5BDE-F012-564A-6C89-776054369EB8}"/>
              </a:ext>
              <a:ext uri="{C183D7F6-B498-43B3-948B-1728B52AA6E4}">
                <adec:decorative xmlns:adec="http://schemas.microsoft.com/office/drawing/2017/decorative" val="1"/>
              </a:ext>
            </a:extLst>
          </p:cNvPr>
          <p:cNvSpPr/>
          <p:nvPr/>
        </p:nvSpPr>
        <p:spPr>
          <a:xfrm>
            <a:off x="2581916" y="4755260"/>
            <a:ext cx="367744" cy="397987"/>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Arial"/>
              <a:ea typeface="+mn-ea"/>
              <a:cs typeface="Arial"/>
            </a:endParaRPr>
          </a:p>
        </p:txBody>
      </p:sp>
      <p:pic>
        <p:nvPicPr>
          <p:cNvPr id="15" name="Picture 14" descr="A pair of blue dice">
            <a:extLst>
              <a:ext uri="{FF2B5EF4-FFF2-40B4-BE49-F238E27FC236}">
                <a16:creationId xmlns:a16="http://schemas.microsoft.com/office/drawing/2014/main" id="{A879A4B5-FD77-4606-349F-9EE39DB6A738}"/>
              </a:ext>
            </a:extLst>
          </p:cNvPr>
          <p:cNvPicPr>
            <a:picLocks noChangeAspect="1"/>
          </p:cNvPicPr>
          <p:nvPr/>
        </p:nvPicPr>
        <p:blipFill>
          <a:blip r:embed="rId4">
            <a:extLst>
              <a:ext uri="{28A0092B-C50C-407E-A947-70E740481C1C}">
                <a14:useLocalDpi xmlns:a14="http://schemas.microsoft.com/office/drawing/2010/main" val="0"/>
              </a:ext>
            </a:extLst>
          </a:blip>
          <a:srcRect l="41687" t="4228" r="10443" b="21350"/>
          <a:stretch>
            <a:fillRect/>
          </a:stretch>
        </p:blipFill>
        <p:spPr>
          <a:xfrm>
            <a:off x="7183408" y="607909"/>
            <a:ext cx="2351648" cy="2584800"/>
          </a:xfrm>
          <a:prstGeom prst="rect">
            <a:avLst/>
          </a:prstGeom>
        </p:spPr>
      </p:pic>
      <p:pic>
        <p:nvPicPr>
          <p:cNvPr id="1026" name="Picture 2" descr="image of a head with cogs turning inside">
            <a:extLst>
              <a:ext uri="{FF2B5EF4-FFF2-40B4-BE49-F238E27FC236}">
                <a16:creationId xmlns:a16="http://schemas.microsoft.com/office/drawing/2014/main" id="{5D5D8DC4-1183-7E41-291C-3C0FD455C8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16677" y="188018"/>
            <a:ext cx="768795"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2147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dirty="0"/>
              <a:t>True or false </a:t>
            </a:r>
            <a:r>
              <a:rPr lang="en-US" dirty="0">
                <a:solidFill>
                  <a:schemeClr val="bg1"/>
                </a:solidFill>
              </a:rPr>
              <a:t>(1)</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74481" y="1415457"/>
            <a:ext cx="11243037" cy="893226"/>
          </a:xfrm>
        </p:spPr>
        <p:txBody>
          <a:bodyPr/>
          <a:lstStyle/>
          <a:p>
            <a:pPr algn="ctr"/>
            <a:r>
              <a:rPr lang="en-AU" sz="4400" dirty="0"/>
              <a:t>27 – 15 = 12 </a:t>
            </a:r>
          </a:p>
          <a:p>
            <a:pPr algn="ctr"/>
            <a:r>
              <a:rPr lang="en-AU" sz="4400" dirty="0"/>
              <a:t>so </a:t>
            </a:r>
          </a:p>
          <a:p>
            <a:pPr algn="ctr"/>
            <a:r>
              <a:rPr lang="en-AU" sz="4400" dirty="0"/>
              <a:t>15 + 12 = 27</a:t>
            </a:r>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D02FDCB-5A66-A72C-AF82-0B583E9DEC97}"/>
              </a:ext>
            </a:extLst>
          </p:cNvPr>
          <p:cNvSpPr txBox="1"/>
          <p:nvPr/>
        </p:nvSpPr>
        <p:spPr>
          <a:xfrm>
            <a:off x="944380" y="1993692"/>
            <a:ext cx="9953469" cy="3732551"/>
          </a:xfrm>
          <a:prstGeom prst="rect">
            <a:avLst/>
          </a:prstGeom>
          <a:noFill/>
        </p:spPr>
        <p:txBody>
          <a:bodyPr wrap="square" lIns="0" tIns="0" rIns="0" bIns="0" rtlCol="0">
            <a:noAutofit/>
          </a:bodyPr>
          <a:lstStyle/>
          <a:p>
            <a:pPr algn="ctr"/>
            <a:r>
              <a:rPr lang="en-AU" sz="4400" dirty="0"/>
              <a:t>27 + 13 = 30 + 10</a:t>
            </a:r>
          </a:p>
          <a:p>
            <a:pPr algn="ctr"/>
            <a:endParaRPr lang="en-AU" sz="4400" dirty="0"/>
          </a:p>
          <a:p>
            <a:pPr algn="ctr"/>
            <a:r>
              <a:rPr lang="en-AU" sz="4400" b="1" dirty="0"/>
              <a:t>Complete</a:t>
            </a:r>
            <a:r>
              <a:rPr lang="en-AU" sz="4400" dirty="0"/>
              <a:t> this </a:t>
            </a:r>
            <a:r>
              <a:rPr lang="en-AU" sz="4400" b="1" dirty="0"/>
              <a:t>number sentence</a:t>
            </a:r>
          </a:p>
          <a:p>
            <a:pPr algn="ctr"/>
            <a:endParaRPr lang="en-AU" sz="4400" dirty="0"/>
          </a:p>
          <a:p>
            <a:pPr algn="ctr"/>
            <a:r>
              <a:rPr lang="en-AU" sz="4400" dirty="0"/>
              <a:t>14 + 22 = 16 + ___</a:t>
            </a: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0D85692-291F-91CE-49C0-6484376CCA87}"/>
              </a:ext>
            </a:extLst>
          </p:cNvPr>
          <p:cNvSpPr txBox="1"/>
          <p:nvPr/>
        </p:nvSpPr>
        <p:spPr>
          <a:xfrm>
            <a:off x="457200" y="1610139"/>
            <a:ext cx="11121887" cy="4373218"/>
          </a:xfrm>
          <a:prstGeom prst="rect">
            <a:avLst/>
          </a:prstGeom>
          <a:noFill/>
        </p:spPr>
        <p:txBody>
          <a:bodyPr wrap="square" lIns="0" tIns="0" rIns="0" bIns="0" rtlCol="0">
            <a:noAutofit/>
          </a:bodyPr>
          <a:lstStyle/>
          <a:p>
            <a:pPr algn="ctr">
              <a:lnSpc>
                <a:spcPct val="150000"/>
              </a:lnSpc>
            </a:pPr>
            <a:r>
              <a:rPr lang="en-AU" sz="4400" b="1"/>
              <a:t>Record</a:t>
            </a:r>
            <a:r>
              <a:rPr lang="en-AU" sz="4400"/>
              <a:t> the following </a:t>
            </a:r>
            <a:r>
              <a:rPr lang="en-AU" sz="4400" b="1"/>
              <a:t>numbers</a:t>
            </a:r>
            <a:r>
              <a:rPr lang="en-AU" sz="4400"/>
              <a:t>:</a:t>
            </a:r>
          </a:p>
          <a:p>
            <a:pPr marL="571500" indent="-571500" algn="ctr">
              <a:lnSpc>
                <a:spcPct val="150000"/>
              </a:lnSpc>
              <a:buFont typeface="Arial" panose="020B0604020202020204" pitchFamily="34" charset="0"/>
              <a:buChar char="•"/>
            </a:pPr>
            <a:r>
              <a:rPr lang="en-AU" sz="4400"/>
              <a:t>one hundred and one</a:t>
            </a:r>
          </a:p>
          <a:p>
            <a:pPr marL="571500" indent="-571500" algn="ctr">
              <a:lnSpc>
                <a:spcPct val="150000"/>
              </a:lnSpc>
              <a:buFont typeface="Arial" panose="020B0604020202020204" pitchFamily="34" charset="0"/>
              <a:buChar char="•"/>
            </a:pPr>
            <a:r>
              <a:rPr lang="en-AU" sz="4400"/>
              <a:t>one hundred and eleven</a:t>
            </a:r>
          </a:p>
          <a:p>
            <a:pPr marL="571500" indent="-571500" algn="ctr">
              <a:lnSpc>
                <a:spcPct val="150000"/>
              </a:lnSpc>
              <a:buFont typeface="Arial" panose="020B0604020202020204" pitchFamily="34" charset="0"/>
              <a:buChar char="•"/>
            </a:pPr>
            <a:r>
              <a:rPr lang="en-AU" sz="4400"/>
              <a:t>one hundred and twenty-one</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EBDF364-41D3-FE3C-9AD2-DFD146FB0BB8}"/>
              </a:ext>
            </a:extLst>
          </p:cNvPr>
          <p:cNvSpPr txBox="1"/>
          <p:nvPr/>
        </p:nvSpPr>
        <p:spPr>
          <a:xfrm>
            <a:off x="360000" y="1967949"/>
            <a:ext cx="11290852" cy="3985591"/>
          </a:xfrm>
          <a:prstGeom prst="rect">
            <a:avLst/>
          </a:prstGeom>
          <a:noFill/>
        </p:spPr>
        <p:txBody>
          <a:bodyPr wrap="square" lIns="0" tIns="0" rIns="0" bIns="0" rtlCol="0">
            <a:noAutofit/>
          </a:bodyPr>
          <a:lstStyle/>
          <a:p>
            <a:pPr algn="ctr">
              <a:lnSpc>
                <a:spcPct val="150000"/>
              </a:lnSpc>
            </a:pPr>
            <a:r>
              <a:rPr lang="en-AU" sz="4400" dirty="0"/>
              <a:t>A rope measures </a:t>
            </a:r>
            <a:r>
              <a:rPr lang="en-AU" sz="4400" b="1" dirty="0"/>
              <a:t>three metres</a:t>
            </a:r>
            <a:r>
              <a:rPr lang="en-AU" sz="4400" dirty="0"/>
              <a:t>. </a:t>
            </a:r>
          </a:p>
          <a:p>
            <a:pPr algn="ctr">
              <a:lnSpc>
                <a:spcPct val="150000"/>
              </a:lnSpc>
            </a:pPr>
            <a:r>
              <a:rPr lang="en-AU" sz="4400" dirty="0"/>
              <a:t>Record this measurement using the </a:t>
            </a:r>
          </a:p>
          <a:p>
            <a:pPr algn="ctr">
              <a:lnSpc>
                <a:spcPct val="150000"/>
              </a:lnSpc>
            </a:pPr>
            <a:r>
              <a:rPr lang="en-AU" sz="4400" b="1" dirty="0"/>
              <a:t>correct abbreviation</a:t>
            </a:r>
            <a:r>
              <a:rPr lang="en-AU" sz="4400" dirty="0"/>
              <a:t>.</a:t>
            </a:r>
            <a:endParaRPr lang="en-AU" sz="4400" b="1" dirty="0"/>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00AAC1F0-DA30-BBE4-399A-F23C7572A282}"/>
              </a:ext>
            </a:extLst>
          </p:cNvPr>
          <p:cNvSpPr txBox="1"/>
          <p:nvPr/>
        </p:nvSpPr>
        <p:spPr>
          <a:xfrm>
            <a:off x="501497" y="1341365"/>
            <a:ext cx="10487154" cy="1699591"/>
          </a:xfrm>
          <a:prstGeom prst="rect">
            <a:avLst/>
          </a:prstGeom>
          <a:noFill/>
        </p:spPr>
        <p:txBody>
          <a:bodyPr wrap="square" lIns="0" tIns="0" rIns="0" bIns="0" rtlCol="0">
            <a:noAutofit/>
          </a:bodyPr>
          <a:lstStyle/>
          <a:p>
            <a:pPr algn="ctr">
              <a:lnSpc>
                <a:spcPct val="150000"/>
              </a:lnSpc>
            </a:pPr>
            <a:r>
              <a:rPr lang="en-AU" sz="4400" dirty="0"/>
              <a:t>Write the time shown </a:t>
            </a:r>
            <a:r>
              <a:rPr lang="en-AU" sz="4400" b="1" dirty="0"/>
              <a:t>in words</a:t>
            </a:r>
            <a:r>
              <a:rPr lang="en-AU" sz="4400" dirty="0"/>
              <a:t>.</a:t>
            </a:r>
          </a:p>
        </p:txBody>
      </p:sp>
      <p:pic>
        <p:nvPicPr>
          <p:cNvPr id="9" name="Picture 8">
            <a:extLst>
              <a:ext uri="{FF2B5EF4-FFF2-40B4-BE49-F238E27FC236}">
                <a16:creationId xmlns:a16="http://schemas.microsoft.com/office/drawing/2014/main" id="{004BE96F-82D8-8238-19AE-04E44ED27F21}"/>
              </a:ext>
            </a:extLst>
          </p:cNvPr>
          <p:cNvPicPr>
            <a:picLocks noChangeAspect="1"/>
          </p:cNvPicPr>
          <p:nvPr/>
        </p:nvPicPr>
        <p:blipFill>
          <a:blip r:embed="rId4"/>
          <a:srcRect b="5127"/>
          <a:stretch>
            <a:fillRect/>
          </a:stretch>
        </p:blipFill>
        <p:spPr>
          <a:xfrm>
            <a:off x="1613535" y="2509520"/>
            <a:ext cx="4131539" cy="3780000"/>
          </a:xfrm>
          <a:prstGeom prst="rect">
            <a:avLst/>
          </a:prstGeom>
        </p:spPr>
      </p:pic>
      <p:pic>
        <p:nvPicPr>
          <p:cNvPr id="15" name="Picture 14">
            <a:extLst>
              <a:ext uri="{FF2B5EF4-FFF2-40B4-BE49-F238E27FC236}">
                <a16:creationId xmlns:a16="http://schemas.microsoft.com/office/drawing/2014/main" id="{A466FD18-0132-295D-D4CD-BE86210E48B3}"/>
              </a:ext>
            </a:extLst>
          </p:cNvPr>
          <p:cNvPicPr>
            <a:picLocks noChangeAspect="1"/>
          </p:cNvPicPr>
          <p:nvPr/>
        </p:nvPicPr>
        <p:blipFill>
          <a:blip r:embed="rId5"/>
          <a:srcRect t="2030"/>
          <a:stretch>
            <a:fillRect/>
          </a:stretch>
        </p:blipFill>
        <p:spPr>
          <a:xfrm>
            <a:off x="6363715" y="2491520"/>
            <a:ext cx="4019635" cy="3816000"/>
          </a:xfrm>
          <a:prstGeom prst="rect">
            <a:avLst/>
          </a:prstGeom>
        </p:spPr>
      </p:pic>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2 – the same as</a:t>
            </a:r>
            <a:endParaRPr lang="en-US">
              <a:latin typeface="Arial"/>
              <a:cs typeface="Arial"/>
            </a:endParaRPr>
          </a:p>
        </p:txBody>
      </p:sp>
      <p:grpSp>
        <p:nvGrpSpPr>
          <p:cNvPr id="57" name="Group 56" descr=" A visual equation made with playing cards: 10 of hearts + 9 of hearts = queen of diamonds + 7 of diamonds.">
            <a:extLst>
              <a:ext uri="{FF2B5EF4-FFF2-40B4-BE49-F238E27FC236}">
                <a16:creationId xmlns:a16="http://schemas.microsoft.com/office/drawing/2014/main" id="{9E92534C-5A11-8CE2-7A0D-2BA625578426}"/>
              </a:ext>
            </a:extLst>
          </p:cNvPr>
          <p:cNvGrpSpPr/>
          <p:nvPr/>
        </p:nvGrpSpPr>
        <p:grpSpPr>
          <a:xfrm>
            <a:off x="4266678" y="1272956"/>
            <a:ext cx="3658644" cy="1079599"/>
            <a:chOff x="7667898" y="5418401"/>
            <a:chExt cx="3658644" cy="1079599"/>
          </a:xfrm>
        </p:grpSpPr>
        <p:sp>
          <p:nvSpPr>
            <p:cNvPr id="44" name="Freeform 35">
              <a:extLst>
                <a:ext uri="{FF2B5EF4-FFF2-40B4-BE49-F238E27FC236}">
                  <a16:creationId xmlns:a16="http://schemas.microsoft.com/office/drawing/2014/main" id="{C476EB0A-CF45-1CA1-4475-14876CC77A76}"/>
                </a:ext>
              </a:extLst>
            </p:cNvPr>
            <p:cNvSpPr/>
            <p:nvPr/>
          </p:nvSpPr>
          <p:spPr>
            <a:xfrm>
              <a:off x="7667898" y="5418401"/>
              <a:ext cx="727634" cy="1079599"/>
            </a:xfrm>
            <a:custGeom>
              <a:avLst/>
              <a:gdLst/>
              <a:ahLst/>
              <a:cxnLst/>
              <a:rect l="l" t="t" r="r" b="b"/>
              <a:pathLst>
                <a:path w="892536" h="1332143">
                  <a:moveTo>
                    <a:pt x="0" y="0"/>
                  </a:moveTo>
                  <a:lnTo>
                    <a:pt x="892535" y="0"/>
                  </a:lnTo>
                  <a:lnTo>
                    <a:pt x="892535" y="1332143"/>
                  </a:lnTo>
                  <a:lnTo>
                    <a:pt x="0" y="13321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a:p>
          </p:txBody>
        </p:sp>
        <p:sp>
          <p:nvSpPr>
            <p:cNvPr id="45" name="Freeform 36">
              <a:extLst>
                <a:ext uri="{FF2B5EF4-FFF2-40B4-BE49-F238E27FC236}">
                  <a16:creationId xmlns:a16="http://schemas.microsoft.com/office/drawing/2014/main" id="{10532266-CA23-C58F-DBAA-F4B8CB41AF68}"/>
                </a:ext>
              </a:extLst>
            </p:cNvPr>
            <p:cNvSpPr/>
            <p:nvPr/>
          </p:nvSpPr>
          <p:spPr>
            <a:xfrm>
              <a:off x="8644901" y="5418401"/>
              <a:ext cx="727634" cy="1079599"/>
            </a:xfrm>
            <a:custGeom>
              <a:avLst/>
              <a:gdLst/>
              <a:ahLst/>
              <a:cxnLst/>
              <a:rect l="l" t="t" r="r" b="b"/>
              <a:pathLst>
                <a:path w="892536" h="1332143">
                  <a:moveTo>
                    <a:pt x="0" y="0"/>
                  </a:moveTo>
                  <a:lnTo>
                    <a:pt x="892536" y="0"/>
                  </a:lnTo>
                  <a:lnTo>
                    <a:pt x="892536" y="1332143"/>
                  </a:lnTo>
                  <a:lnTo>
                    <a:pt x="0" y="13321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46" name="Freeform 37">
              <a:extLst>
                <a:ext uri="{FF2B5EF4-FFF2-40B4-BE49-F238E27FC236}">
                  <a16:creationId xmlns:a16="http://schemas.microsoft.com/office/drawing/2014/main" id="{74B0438F-1355-3B11-5895-13078666026D}"/>
                </a:ext>
              </a:extLst>
            </p:cNvPr>
            <p:cNvSpPr/>
            <p:nvPr/>
          </p:nvSpPr>
          <p:spPr>
            <a:xfrm>
              <a:off x="9621905" y="5418401"/>
              <a:ext cx="727634" cy="1079599"/>
            </a:xfrm>
            <a:custGeom>
              <a:avLst/>
              <a:gdLst/>
              <a:ahLst/>
              <a:cxnLst/>
              <a:rect l="l" t="t" r="r" b="b"/>
              <a:pathLst>
                <a:path w="892536" h="1332143">
                  <a:moveTo>
                    <a:pt x="0" y="0"/>
                  </a:moveTo>
                  <a:lnTo>
                    <a:pt x="892536" y="0"/>
                  </a:lnTo>
                  <a:lnTo>
                    <a:pt x="892536" y="1332143"/>
                  </a:lnTo>
                  <a:lnTo>
                    <a:pt x="0" y="13321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47" name="Freeform 38">
              <a:extLst>
                <a:ext uri="{FF2B5EF4-FFF2-40B4-BE49-F238E27FC236}">
                  <a16:creationId xmlns:a16="http://schemas.microsoft.com/office/drawing/2014/main" id="{A7B0ACC4-DA7B-8805-1765-708AEA529D6C}"/>
                </a:ext>
              </a:extLst>
            </p:cNvPr>
            <p:cNvSpPr/>
            <p:nvPr/>
          </p:nvSpPr>
          <p:spPr>
            <a:xfrm>
              <a:off x="10598908" y="5418401"/>
              <a:ext cx="727634" cy="1079599"/>
            </a:xfrm>
            <a:custGeom>
              <a:avLst/>
              <a:gdLst/>
              <a:ahLst/>
              <a:cxnLst/>
              <a:rect l="l" t="t" r="r" b="b"/>
              <a:pathLst>
                <a:path w="892536" h="1332143">
                  <a:moveTo>
                    <a:pt x="0" y="0"/>
                  </a:moveTo>
                  <a:lnTo>
                    <a:pt x="892536" y="0"/>
                  </a:lnTo>
                  <a:lnTo>
                    <a:pt x="892536" y="1332143"/>
                  </a:lnTo>
                  <a:lnTo>
                    <a:pt x="0" y="13321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48" name="Freeform 39">
              <a:extLst>
                <a:ext uri="{FF2B5EF4-FFF2-40B4-BE49-F238E27FC236}">
                  <a16:creationId xmlns:a16="http://schemas.microsoft.com/office/drawing/2014/main" id="{B0AC75EC-7D32-7FAC-4C51-17D21F48B38F}"/>
                </a:ext>
              </a:extLst>
            </p:cNvPr>
            <p:cNvSpPr/>
            <p:nvPr/>
          </p:nvSpPr>
          <p:spPr>
            <a:xfrm>
              <a:off x="7688671" y="5527581"/>
              <a:ext cx="691736" cy="926974"/>
            </a:xfrm>
            <a:custGeom>
              <a:avLst/>
              <a:gdLst/>
              <a:ahLst/>
              <a:cxnLst/>
              <a:rect l="l" t="t" r="r" b="b"/>
              <a:pathLst>
                <a:path w="848503" h="1143815">
                  <a:moveTo>
                    <a:pt x="0" y="0"/>
                  </a:moveTo>
                  <a:lnTo>
                    <a:pt x="848503" y="0"/>
                  </a:lnTo>
                  <a:lnTo>
                    <a:pt x="848503" y="1143815"/>
                  </a:lnTo>
                  <a:lnTo>
                    <a:pt x="0" y="114381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9" name="Freeform 40">
              <a:extLst>
                <a:ext uri="{FF2B5EF4-FFF2-40B4-BE49-F238E27FC236}">
                  <a16:creationId xmlns:a16="http://schemas.microsoft.com/office/drawing/2014/main" id="{9A26211B-391E-8443-1755-5DB3D92EE8F7}"/>
                </a:ext>
              </a:extLst>
            </p:cNvPr>
            <p:cNvSpPr/>
            <p:nvPr/>
          </p:nvSpPr>
          <p:spPr>
            <a:xfrm>
              <a:off x="9661770" y="5495798"/>
              <a:ext cx="643557" cy="958756"/>
            </a:xfrm>
            <a:custGeom>
              <a:avLst/>
              <a:gdLst/>
              <a:ahLst/>
              <a:cxnLst/>
              <a:rect l="l" t="t" r="r" b="b"/>
              <a:pathLst>
                <a:path w="789405" h="1183032">
                  <a:moveTo>
                    <a:pt x="0" y="0"/>
                  </a:moveTo>
                  <a:lnTo>
                    <a:pt x="789405" y="0"/>
                  </a:lnTo>
                  <a:lnTo>
                    <a:pt x="789405" y="1183032"/>
                  </a:lnTo>
                  <a:lnTo>
                    <a:pt x="0" y="118303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50" name="Freeform 41">
              <a:extLst>
                <a:ext uri="{FF2B5EF4-FFF2-40B4-BE49-F238E27FC236}">
                  <a16:creationId xmlns:a16="http://schemas.microsoft.com/office/drawing/2014/main" id="{AE2ED1EA-3804-7531-2CFF-D4E4F249E819}"/>
                </a:ext>
              </a:extLst>
            </p:cNvPr>
            <p:cNvSpPr/>
            <p:nvPr/>
          </p:nvSpPr>
          <p:spPr>
            <a:xfrm>
              <a:off x="10622770" y="5500008"/>
              <a:ext cx="679909" cy="917875"/>
            </a:xfrm>
            <a:custGeom>
              <a:avLst/>
              <a:gdLst/>
              <a:ahLst/>
              <a:cxnLst/>
              <a:rect l="l" t="t" r="r" b="b"/>
              <a:pathLst>
                <a:path w="833996" h="1132587">
                  <a:moveTo>
                    <a:pt x="0" y="0"/>
                  </a:moveTo>
                  <a:lnTo>
                    <a:pt x="833996" y="0"/>
                  </a:lnTo>
                  <a:lnTo>
                    <a:pt x="833996" y="1132587"/>
                  </a:lnTo>
                  <a:lnTo>
                    <a:pt x="0" y="113258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51" name="Freeform 42">
              <a:extLst>
                <a:ext uri="{FF2B5EF4-FFF2-40B4-BE49-F238E27FC236}">
                  <a16:creationId xmlns:a16="http://schemas.microsoft.com/office/drawing/2014/main" id="{4656383A-2AFC-4E96-13EB-3B09CA99D461}"/>
                </a:ext>
              </a:extLst>
            </p:cNvPr>
            <p:cNvSpPr/>
            <p:nvPr/>
          </p:nvSpPr>
          <p:spPr>
            <a:xfrm>
              <a:off x="8689489" y="5495798"/>
              <a:ext cx="638458" cy="951161"/>
            </a:xfrm>
            <a:custGeom>
              <a:avLst/>
              <a:gdLst/>
              <a:ahLst/>
              <a:cxnLst/>
              <a:rect l="l" t="t" r="r" b="b"/>
              <a:pathLst>
                <a:path w="783151" h="1173660">
                  <a:moveTo>
                    <a:pt x="0" y="0"/>
                  </a:moveTo>
                  <a:lnTo>
                    <a:pt x="783151" y="0"/>
                  </a:lnTo>
                  <a:lnTo>
                    <a:pt x="783151" y="1173659"/>
                  </a:lnTo>
                  <a:lnTo>
                    <a:pt x="0" y="117365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52" name="TextBox 43">
              <a:extLst>
                <a:ext uri="{FF2B5EF4-FFF2-40B4-BE49-F238E27FC236}">
                  <a16:creationId xmlns:a16="http://schemas.microsoft.com/office/drawing/2014/main" id="{681C5277-C5BD-5100-F4DD-8A501935B0BF}"/>
                </a:ext>
              </a:extLst>
            </p:cNvPr>
            <p:cNvSpPr txBox="1"/>
            <p:nvPr/>
          </p:nvSpPr>
          <p:spPr>
            <a:xfrm>
              <a:off x="8441981" y="5724835"/>
              <a:ext cx="118865" cy="296155"/>
            </a:xfrm>
            <a:prstGeom prst="rect">
              <a:avLst/>
            </a:prstGeom>
          </p:spPr>
          <p:txBody>
            <a:bodyPr wrap="square" lIns="0" tIns="0" rIns="0" bIns="0" rtlCol="0" anchor="t">
              <a:spAutoFit/>
            </a:bodyPr>
            <a:lstStyle/>
            <a:p>
              <a:pPr algn="ctr">
                <a:lnSpc>
                  <a:spcPts val="3050"/>
                </a:lnSpc>
              </a:pPr>
              <a:r>
                <a:rPr lang="en-US" sz="2179" b="1">
                  <a:solidFill>
                    <a:srgbClr val="000000"/>
                  </a:solidFill>
                  <a:latin typeface="Canva Sans Bold"/>
                  <a:ea typeface="Canva Sans Bold"/>
                  <a:cs typeface="Canva Sans Bold"/>
                  <a:sym typeface="Canva Sans Bold"/>
                </a:rPr>
                <a:t>+</a:t>
              </a:r>
            </a:p>
          </p:txBody>
        </p:sp>
        <p:sp>
          <p:nvSpPr>
            <p:cNvPr id="53" name="TextBox 44">
              <a:extLst>
                <a:ext uri="{FF2B5EF4-FFF2-40B4-BE49-F238E27FC236}">
                  <a16:creationId xmlns:a16="http://schemas.microsoft.com/office/drawing/2014/main" id="{1272957A-6C0C-5861-80D6-83B64FFE8910}"/>
                </a:ext>
              </a:extLst>
            </p:cNvPr>
            <p:cNvSpPr txBox="1"/>
            <p:nvPr/>
          </p:nvSpPr>
          <p:spPr>
            <a:xfrm>
              <a:off x="10414791" y="5724835"/>
              <a:ext cx="118865" cy="296155"/>
            </a:xfrm>
            <a:prstGeom prst="rect">
              <a:avLst/>
            </a:prstGeom>
          </p:spPr>
          <p:txBody>
            <a:bodyPr wrap="square" lIns="0" tIns="0" rIns="0" bIns="0" rtlCol="0" anchor="t">
              <a:spAutoFit/>
            </a:bodyPr>
            <a:lstStyle/>
            <a:p>
              <a:pPr algn="ctr">
                <a:lnSpc>
                  <a:spcPts val="3050"/>
                </a:lnSpc>
              </a:pPr>
              <a:r>
                <a:rPr lang="en-US" sz="2179" b="1">
                  <a:solidFill>
                    <a:srgbClr val="000000"/>
                  </a:solidFill>
                  <a:latin typeface="Canva Sans Bold"/>
                  <a:ea typeface="Canva Sans Bold"/>
                  <a:cs typeface="Canva Sans Bold"/>
                  <a:sym typeface="Canva Sans Bold"/>
                </a:rPr>
                <a:t>+</a:t>
              </a:r>
            </a:p>
          </p:txBody>
        </p:sp>
        <p:sp>
          <p:nvSpPr>
            <p:cNvPr id="54" name="TextBox 45">
              <a:extLst>
                <a:ext uri="{FF2B5EF4-FFF2-40B4-BE49-F238E27FC236}">
                  <a16:creationId xmlns:a16="http://schemas.microsoft.com/office/drawing/2014/main" id="{BF5122F6-4C80-ADFD-BEE1-8F053E8E2ED6}"/>
                </a:ext>
              </a:extLst>
            </p:cNvPr>
            <p:cNvSpPr txBox="1"/>
            <p:nvPr/>
          </p:nvSpPr>
          <p:spPr>
            <a:xfrm>
              <a:off x="9455299" y="5724835"/>
              <a:ext cx="124373" cy="296155"/>
            </a:xfrm>
            <a:prstGeom prst="rect">
              <a:avLst/>
            </a:prstGeom>
          </p:spPr>
          <p:txBody>
            <a:bodyPr wrap="square" lIns="0" tIns="0" rIns="0" bIns="0" rtlCol="0" anchor="t">
              <a:spAutoFit/>
            </a:bodyPr>
            <a:lstStyle/>
            <a:p>
              <a:pPr algn="ctr">
                <a:lnSpc>
                  <a:spcPts val="3050"/>
                </a:lnSpc>
              </a:pPr>
              <a:r>
                <a:rPr lang="en-US" sz="2179" b="1">
                  <a:solidFill>
                    <a:srgbClr val="000000"/>
                  </a:solidFill>
                  <a:latin typeface="Canva Sans Bold"/>
                  <a:ea typeface="Canva Sans Bold"/>
                  <a:cs typeface="Canva Sans Bold"/>
                  <a:sym typeface="Canva Sans Bold"/>
                </a:rPr>
                <a:t>=</a:t>
              </a:r>
            </a:p>
          </p:txBody>
        </p:sp>
      </p:grpSp>
      <p:pic>
        <p:nvPicPr>
          <p:cNvPr id="5" name="Picture 4" descr="Pink rectangles with black lines showing students how to arrange the cards to make a number sentence. Th image shows card plus card equals card plus card">
            <a:extLst>
              <a:ext uri="{FF2B5EF4-FFF2-40B4-BE49-F238E27FC236}">
                <a16:creationId xmlns:a16="http://schemas.microsoft.com/office/drawing/2014/main" id="{2935D619-0427-E0B5-3EBE-0ECB1E49D474}"/>
              </a:ext>
            </a:extLst>
          </p:cNvPr>
          <p:cNvPicPr>
            <a:picLocks noChangeAspect="1"/>
          </p:cNvPicPr>
          <p:nvPr/>
        </p:nvPicPr>
        <p:blipFill>
          <a:blip r:embed="rId9">
            <a:extLst>
              <a:ext uri="{28A0092B-C50C-407E-A947-70E740481C1C}">
                <a14:useLocalDpi xmlns:a14="http://schemas.microsoft.com/office/drawing/2010/main" val="0"/>
              </a:ext>
            </a:extLst>
          </a:blip>
          <a:srcRect t="19410" r="1992" b="30970"/>
          <a:stretch>
            <a:fillRect/>
          </a:stretch>
        </p:blipFill>
        <p:spPr>
          <a:xfrm>
            <a:off x="1173251" y="2719910"/>
            <a:ext cx="9506952" cy="3402957"/>
          </a:xfrm>
          <a:prstGeom prst="rect">
            <a:avLst/>
          </a:prstGeom>
        </p:spPr>
      </p:pic>
      <p:pic>
        <p:nvPicPr>
          <p:cNvPr id="4" name="Picture 2" descr="image of a head with cogs turning inside">
            <a:extLst>
              <a:ext uri="{FF2B5EF4-FFF2-40B4-BE49-F238E27FC236}">
                <a16:creationId xmlns:a16="http://schemas.microsoft.com/office/drawing/2014/main" id="{B485C8C0-4A7F-AAEC-CCA0-1FB6A9F9723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16677" y="188018"/>
            <a:ext cx="768795"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489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293A7A-9C27-9EEF-CD29-DBB1D9D84022}"/>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(2)</a:t>
            </a:r>
          </a:p>
        </p:txBody>
      </p:sp>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360000" y="2430217"/>
            <a:ext cx="11243037" cy="893226"/>
          </a:xfrm>
        </p:spPr>
        <p:txBody>
          <a:bodyPr/>
          <a:lstStyle/>
          <a:p>
            <a:pPr algn="ctr"/>
            <a:r>
              <a:rPr lang="en-US" sz="4400" dirty="0"/>
              <a:t>18 + 4 = 20 + __</a:t>
            </a:r>
          </a:p>
        </p:txBody>
      </p:sp>
      <p:sp>
        <p:nvSpPr>
          <p:cNvPr id="9" name="TextBox 8">
            <a:extLst>
              <a:ext uri="{FF2B5EF4-FFF2-40B4-BE49-F238E27FC236}">
                <a16:creationId xmlns:a16="http://schemas.microsoft.com/office/drawing/2014/main" id="{AF13415D-5ABE-8CE1-9EF6-D83C6FF3BAC9}"/>
              </a:ext>
            </a:extLst>
          </p:cNvPr>
          <p:cNvSpPr txBox="1"/>
          <p:nvPr/>
        </p:nvSpPr>
        <p:spPr>
          <a:xfrm>
            <a:off x="1215766" y="467312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6BFC4FD-CDBD-E74C-2B4B-957276E8D806}"/>
              </a:ext>
            </a:extLst>
          </p:cNvPr>
          <p:cNvSpPr txBox="1"/>
          <p:nvPr/>
        </p:nvSpPr>
        <p:spPr>
          <a:xfrm>
            <a:off x="4219739" y="467312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227686" y="467312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223712" y="467312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Box 4">
            <a:extLst>
              <a:ext uri="{FF2B5EF4-FFF2-40B4-BE49-F238E27FC236}">
                <a16:creationId xmlns:a16="http://schemas.microsoft.com/office/drawing/2014/main" id="{DA0B31B0-3054-0FE0-E7BF-539028FAE6E6}"/>
              </a:ext>
            </a:extLst>
          </p:cNvPr>
          <p:cNvSpPr txBox="1"/>
          <p:nvPr/>
        </p:nvSpPr>
        <p:spPr>
          <a:xfrm>
            <a:off x="348000" y="5462867"/>
            <a:ext cx="10912603" cy="1314531"/>
          </a:xfrm>
          <a:prstGeom prst="rect">
            <a:avLst/>
          </a:prstGeom>
          <a:noFill/>
        </p:spPr>
        <p:txBody>
          <a:bodyPr wrap="square" lIns="0" tIns="0" rIns="0" bIns="0" rtlCol="0">
            <a:noAutofit/>
          </a:bodyPr>
          <a:lstStyle/>
          <a:p>
            <a:pPr algn="l"/>
            <a:r>
              <a:rPr lang="en-AU" sz="4400" dirty="0"/>
              <a:t>      4                24                42                2     </a:t>
            </a:r>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665581D-DB1F-DA79-5DA7-7AE711C44B62}"/>
              </a:ext>
            </a:extLst>
          </p:cNvPr>
          <p:cNvSpPr txBox="1"/>
          <p:nvPr/>
        </p:nvSpPr>
        <p:spPr>
          <a:xfrm>
            <a:off x="616131" y="1444845"/>
            <a:ext cx="10867869" cy="5053155"/>
          </a:xfrm>
          <a:prstGeom prst="rect">
            <a:avLst/>
          </a:prstGeom>
          <a:noFill/>
        </p:spPr>
        <p:txBody>
          <a:bodyPr wrap="square" lIns="0" tIns="0" rIns="0" bIns="0" rtlCol="0">
            <a:noAutofit/>
          </a:bodyPr>
          <a:lstStyle/>
          <a:p>
            <a:pPr algn="ctr">
              <a:lnSpc>
                <a:spcPct val="150000"/>
              </a:lnSpc>
            </a:pPr>
            <a:r>
              <a:rPr lang="en-AU" sz="4400"/>
              <a:t>16 + 24 = 40</a:t>
            </a:r>
          </a:p>
          <a:p>
            <a:pPr algn="ctr">
              <a:lnSpc>
                <a:spcPct val="150000"/>
              </a:lnSpc>
            </a:pPr>
            <a:r>
              <a:rPr lang="en-AU" sz="4400"/>
              <a:t>24 + 16 = 40</a:t>
            </a:r>
          </a:p>
          <a:p>
            <a:pPr algn="ctr">
              <a:lnSpc>
                <a:spcPct val="150000"/>
              </a:lnSpc>
            </a:pPr>
            <a:r>
              <a:rPr lang="en-AU" sz="4400"/>
              <a:t>40 – 24 = 16</a:t>
            </a:r>
          </a:p>
          <a:p>
            <a:pPr algn="ctr">
              <a:lnSpc>
                <a:spcPct val="150000"/>
              </a:lnSpc>
            </a:pPr>
            <a:r>
              <a:rPr lang="en-AU" sz="4400"/>
              <a:t>40 – 16 = __</a:t>
            </a:r>
          </a:p>
          <a:p>
            <a:pPr algn="ctr">
              <a:lnSpc>
                <a:spcPct val="150000"/>
              </a:lnSpc>
            </a:pPr>
            <a:endParaRPr lang="en-AU" sz="4400"/>
          </a:p>
          <a:p>
            <a:pPr algn="ctr">
              <a:lnSpc>
                <a:spcPct val="150000"/>
              </a:lnSpc>
            </a:pPr>
            <a:r>
              <a:rPr lang="en-AU" sz="4400"/>
              <a:t>                                                            </a:t>
            </a:r>
          </a:p>
        </p:txBody>
      </p:sp>
      <p:sp>
        <p:nvSpPr>
          <p:cNvPr id="12" name="TextBox 11">
            <a:extLst>
              <a:ext uri="{FF2B5EF4-FFF2-40B4-BE49-F238E27FC236}">
                <a16:creationId xmlns:a16="http://schemas.microsoft.com/office/drawing/2014/main" id="{2E855369-9541-B26F-5783-27B6C16E8C99}"/>
              </a:ext>
            </a:extLst>
          </p:cNvPr>
          <p:cNvSpPr txBox="1"/>
          <p:nvPr/>
        </p:nvSpPr>
        <p:spPr>
          <a:xfrm>
            <a:off x="1124262" y="6132447"/>
            <a:ext cx="1034322" cy="563553"/>
          </a:xfrm>
          <a:prstGeom prst="rect">
            <a:avLst/>
          </a:prstGeom>
          <a:noFill/>
        </p:spPr>
        <p:txBody>
          <a:bodyPr wrap="square" lIns="0" tIns="0" rIns="0" bIns="0" rtlCol="0">
            <a:noAutofit/>
          </a:bodyPr>
          <a:lstStyle/>
          <a:p>
            <a:pPr algn="l"/>
            <a:endParaRPr lang="en-AU" sz="4400"/>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459E7E7-101A-AE70-3756-3F8F67B1D7BC}"/>
              </a:ext>
            </a:extLst>
          </p:cNvPr>
          <p:cNvSpPr txBox="1"/>
          <p:nvPr/>
        </p:nvSpPr>
        <p:spPr>
          <a:xfrm>
            <a:off x="892330" y="1232452"/>
            <a:ext cx="10591670" cy="4393096"/>
          </a:xfrm>
          <a:prstGeom prst="rect">
            <a:avLst/>
          </a:prstGeom>
          <a:noFill/>
        </p:spPr>
        <p:txBody>
          <a:bodyPr wrap="square" lIns="0" tIns="0" rIns="0" bIns="0" rtlCol="0">
            <a:noAutofit/>
          </a:bodyPr>
          <a:lstStyle/>
          <a:p>
            <a:pPr algn="ctr">
              <a:lnSpc>
                <a:spcPct val="150000"/>
              </a:lnSpc>
            </a:pPr>
            <a:r>
              <a:rPr lang="en-AU" sz="4400" dirty="0"/>
              <a:t>Order these numbers </a:t>
            </a:r>
          </a:p>
          <a:p>
            <a:pPr algn="ctr">
              <a:lnSpc>
                <a:spcPct val="150000"/>
              </a:lnSpc>
            </a:pPr>
            <a:r>
              <a:rPr lang="en-AU" sz="4400" dirty="0"/>
              <a:t>from </a:t>
            </a:r>
            <a:r>
              <a:rPr lang="en-AU" sz="4400" b="1" dirty="0"/>
              <a:t>smallest to largest.</a:t>
            </a:r>
          </a:p>
          <a:p>
            <a:pPr algn="ctr">
              <a:lnSpc>
                <a:spcPct val="150000"/>
              </a:lnSpc>
            </a:pPr>
            <a:r>
              <a:rPr lang="en-AU" sz="4400" dirty="0"/>
              <a:t>1023</a:t>
            </a:r>
          </a:p>
          <a:p>
            <a:pPr algn="ctr">
              <a:lnSpc>
                <a:spcPct val="150000"/>
              </a:lnSpc>
            </a:pPr>
            <a:r>
              <a:rPr lang="en-AU" sz="4400" dirty="0"/>
              <a:t>1332</a:t>
            </a:r>
          </a:p>
          <a:p>
            <a:pPr algn="ctr">
              <a:lnSpc>
                <a:spcPct val="150000"/>
              </a:lnSpc>
            </a:pPr>
            <a:r>
              <a:rPr lang="en-AU" sz="4400" dirty="0"/>
              <a:t>1203</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CBDC883-30F2-4860-78C5-34DAA7F794B0}"/>
              </a:ext>
            </a:extLst>
          </p:cNvPr>
          <p:cNvSpPr txBox="1"/>
          <p:nvPr/>
        </p:nvSpPr>
        <p:spPr>
          <a:xfrm>
            <a:off x="1252330" y="1659835"/>
            <a:ext cx="9778146" cy="4577543"/>
          </a:xfrm>
          <a:prstGeom prst="rect">
            <a:avLst/>
          </a:prstGeom>
          <a:noFill/>
        </p:spPr>
        <p:txBody>
          <a:bodyPr wrap="square" lIns="0" tIns="0" rIns="0" bIns="0" rtlCol="0">
            <a:noAutofit/>
          </a:bodyPr>
          <a:lstStyle/>
          <a:p>
            <a:pPr algn="ctr">
              <a:lnSpc>
                <a:spcPct val="150000"/>
              </a:lnSpc>
            </a:pPr>
            <a:r>
              <a:rPr lang="en-AU" sz="4400" dirty="0"/>
              <a:t>A pencil measures </a:t>
            </a:r>
            <a:r>
              <a:rPr lang="en-AU" sz="4400" b="1" dirty="0"/>
              <a:t>eight centimetres</a:t>
            </a:r>
            <a:r>
              <a:rPr lang="en-AU" sz="4400" dirty="0"/>
              <a:t>. </a:t>
            </a:r>
          </a:p>
          <a:p>
            <a:pPr algn="ctr">
              <a:lnSpc>
                <a:spcPct val="150000"/>
              </a:lnSpc>
            </a:pPr>
            <a:r>
              <a:rPr lang="en-AU" sz="4400" dirty="0"/>
              <a:t>Record this measurement using the </a:t>
            </a:r>
          </a:p>
          <a:p>
            <a:pPr algn="ctr">
              <a:lnSpc>
                <a:spcPct val="150000"/>
              </a:lnSpc>
            </a:pPr>
            <a:r>
              <a:rPr lang="en-AU" sz="4400" b="1" dirty="0"/>
              <a:t>correct abbreviation</a:t>
            </a:r>
            <a:r>
              <a:rPr lang="en-AU" sz="4400" dirty="0"/>
              <a:t>.</a:t>
            </a:r>
            <a:endParaRPr lang="en-AU" sz="4400" b="1" dirty="0"/>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D33B2AC-3F12-6B68-F171-886F0995409A}"/>
              </a:ext>
            </a:extLst>
          </p:cNvPr>
          <p:cNvSpPr txBox="1"/>
          <p:nvPr/>
        </p:nvSpPr>
        <p:spPr>
          <a:xfrm>
            <a:off x="956413" y="1987826"/>
            <a:ext cx="10279174" cy="1441174"/>
          </a:xfrm>
          <a:prstGeom prst="rect">
            <a:avLst/>
          </a:prstGeom>
          <a:noFill/>
        </p:spPr>
        <p:txBody>
          <a:bodyPr wrap="square" lIns="0" tIns="0" rIns="0" bIns="0" rtlCol="0">
            <a:noAutofit/>
          </a:bodyPr>
          <a:lstStyle/>
          <a:p>
            <a:pPr algn="ctr">
              <a:lnSpc>
                <a:spcPct val="150000"/>
              </a:lnSpc>
            </a:pPr>
            <a:r>
              <a:rPr lang="en-AU" sz="4400" dirty="0"/>
              <a:t>Draw a </a:t>
            </a:r>
            <a:r>
              <a:rPr lang="en-AU" sz="4400" b="1" dirty="0"/>
              <a:t>rectangle</a:t>
            </a:r>
            <a:r>
              <a:rPr lang="en-AU" sz="4400" dirty="0"/>
              <a:t>. </a:t>
            </a:r>
          </a:p>
          <a:p>
            <a:pPr algn="ctr">
              <a:lnSpc>
                <a:spcPct val="150000"/>
              </a:lnSpc>
            </a:pPr>
            <a:r>
              <a:rPr lang="en-AU" sz="4400" dirty="0"/>
              <a:t>Now, draw </a:t>
            </a:r>
            <a:r>
              <a:rPr lang="en-AU" sz="4400" b="1" dirty="0"/>
              <a:t>straight lines </a:t>
            </a:r>
            <a:r>
              <a:rPr lang="en-AU" sz="4400" dirty="0"/>
              <a:t>to split</a:t>
            </a:r>
            <a:r>
              <a:rPr lang="en-AU" sz="4400" b="1" dirty="0"/>
              <a:t> </a:t>
            </a:r>
            <a:r>
              <a:rPr lang="en-AU" sz="4400" dirty="0"/>
              <a:t>it</a:t>
            </a:r>
          </a:p>
          <a:p>
            <a:pPr algn="ctr">
              <a:lnSpc>
                <a:spcPct val="150000"/>
              </a:lnSpc>
            </a:pPr>
            <a:r>
              <a:rPr lang="en-AU" sz="4400" dirty="0"/>
              <a:t> into </a:t>
            </a:r>
            <a:r>
              <a:rPr lang="en-AU" sz="4400" b="1" dirty="0"/>
              <a:t>3 triangles</a:t>
            </a:r>
            <a:r>
              <a:rPr lang="en-AU" sz="4400" dirty="0"/>
              <a:t>.</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dirty="0">
                <a:latin typeface="Arial"/>
                <a:cs typeface="Arial"/>
              </a:rPr>
              <a:t>Activity 3 – True or false?</a:t>
            </a:r>
            <a:endParaRPr lang="en-US" dirty="0">
              <a:latin typeface="Arial"/>
              <a:cs typeface="Arial"/>
            </a:endParaRPr>
          </a:p>
        </p:txBody>
      </p:sp>
      <p:sp>
        <p:nvSpPr>
          <p:cNvPr id="6" name="TextBox 5" descr="Six different number sentences showing 5 plus 8 equals 13.">
            <a:extLst>
              <a:ext uri="{FF2B5EF4-FFF2-40B4-BE49-F238E27FC236}">
                <a16:creationId xmlns:a16="http://schemas.microsoft.com/office/drawing/2014/main" id="{BF6DA3E1-CCCA-5867-77B1-F888E1923233}"/>
              </a:ext>
            </a:extLst>
          </p:cNvPr>
          <p:cNvSpPr txBox="1"/>
          <p:nvPr/>
        </p:nvSpPr>
        <p:spPr>
          <a:xfrm>
            <a:off x="713678" y="1644233"/>
            <a:ext cx="4850781" cy="4093428"/>
          </a:xfrm>
          <a:prstGeom prst="rect">
            <a:avLst/>
          </a:prstGeom>
          <a:noFill/>
        </p:spPr>
        <p:txBody>
          <a:bodyPr wrap="square" lIns="91440" tIns="45720" rIns="91440" bIns="45720" anchor="t">
            <a:spAutoFit/>
          </a:bodyPr>
          <a:lstStyle/>
          <a:p>
            <a:pPr marL="0" marR="0" lvl="0" indent="0" algn="l" defTabSz="609585" rtl="0" eaLnBrk="1" fontAlgn="auto" latinLnBrk="0" hangingPunct="1">
              <a:spcBef>
                <a:spcPts val="120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a:ea typeface="Calibri"/>
                <a:cs typeface="Arial"/>
              </a:rPr>
              <a:t>5 +  8  =  13</a:t>
            </a:r>
            <a:endParaRPr kumimoji="0" lang="en-US" sz="4400" b="0" i="0" u="none" strike="noStrike" kern="1200" cap="none" spc="0" normalizeH="0" baseline="0" noProof="0">
              <a:ln>
                <a:noFill/>
              </a:ln>
              <a:solidFill>
                <a:srgbClr val="22272B"/>
              </a:solidFill>
              <a:effectLst/>
              <a:uLnTx/>
              <a:uFillTx/>
              <a:latin typeface="Arial"/>
              <a:ea typeface="Calibri"/>
              <a:cs typeface="Arial"/>
            </a:endParaRPr>
          </a:p>
          <a:p>
            <a:pPr marL="514350" marR="0" lvl="0" indent="-514350" algn="l" defTabSz="609585" rtl="0" eaLnBrk="1" fontAlgn="auto" latinLnBrk="0" hangingPunct="1">
              <a:spcBef>
                <a:spcPts val="1200"/>
              </a:spcBef>
              <a:spcAft>
                <a:spcPts val="0"/>
              </a:spcAft>
              <a:buClrTx/>
              <a:buSzTx/>
              <a:buFontTx/>
              <a:buAutoNum type="arabicPlain" startAt="5"/>
              <a:tabLst/>
              <a:defRPr/>
            </a:pPr>
            <a:endParaRPr kumimoji="0" lang="en-AU" sz="44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endParaRPr>
          </a:p>
          <a:p>
            <a:pPr marL="0" marR="0" lvl="0" indent="0" algn="l" defTabSz="609585" rtl="0" eaLnBrk="1" fontAlgn="auto" latinLnBrk="0" hangingPunct="1">
              <a:spcBef>
                <a:spcPts val="120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a:ea typeface="Calibri"/>
                <a:cs typeface="Arial"/>
              </a:rPr>
              <a:t>13 =  5  +  8</a:t>
            </a:r>
          </a:p>
          <a:p>
            <a:pPr marL="514350" marR="0" lvl="0" indent="-514350" algn="l" defTabSz="609585" rtl="0" eaLnBrk="1" fontAlgn="auto" latinLnBrk="0" hangingPunct="1">
              <a:spcBef>
                <a:spcPts val="1200"/>
              </a:spcBef>
              <a:spcAft>
                <a:spcPts val="0"/>
              </a:spcAft>
              <a:buClrTx/>
              <a:buSzTx/>
              <a:buFontTx/>
              <a:buAutoNum type="arabicPlain" startAt="13"/>
              <a:tabLst/>
              <a:defRPr/>
            </a:pPr>
            <a:endParaRPr kumimoji="0" lang="en-AU" sz="44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endParaRPr>
          </a:p>
          <a:p>
            <a:pPr marL="0" marR="0" lvl="0" indent="0" algn="l" defTabSz="609585" rtl="0" eaLnBrk="1" fontAlgn="auto" latinLnBrk="0" hangingPunct="1">
              <a:spcBef>
                <a:spcPts val="120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mn-cs"/>
              </a:rPr>
              <a:t>13  =  13</a:t>
            </a:r>
          </a:p>
        </p:txBody>
      </p:sp>
      <p:sp>
        <p:nvSpPr>
          <p:cNvPr id="7" name="TextBox 6">
            <a:extLst>
              <a:ext uri="{FF2B5EF4-FFF2-40B4-BE49-F238E27FC236}">
                <a16:creationId xmlns:a16="http://schemas.microsoft.com/office/drawing/2014/main" id="{74F2D0E6-310D-AB5B-2246-38E7DFF059C2}"/>
              </a:ext>
            </a:extLst>
          </p:cNvPr>
          <p:cNvSpPr txBox="1"/>
          <p:nvPr/>
        </p:nvSpPr>
        <p:spPr>
          <a:xfrm>
            <a:off x="6627544" y="1644233"/>
            <a:ext cx="4181274" cy="3237875"/>
          </a:xfrm>
          <a:prstGeom prst="rect">
            <a:avLst/>
          </a:prstGeom>
          <a:noFill/>
        </p:spPr>
        <p:txBody>
          <a:bodyPr wrap="square" lIns="0" tIns="0" rIns="0" bIns="0" rtlCol="0" anchor="t">
            <a:noAutofit/>
          </a:bodyPr>
          <a:lstStyle/>
          <a:p>
            <a:pPr marL="0" marR="0" lvl="0" indent="0" algn="l" defTabSz="609585" rtl="0" eaLnBrk="1" fontAlgn="auto" latinLnBrk="0" hangingPunct="1">
              <a:spcBef>
                <a:spcPts val="120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a:ea typeface="Calibri"/>
                <a:cs typeface="Arial"/>
              </a:rPr>
              <a:t>5 +  8  =  5  +  8</a:t>
            </a:r>
            <a:endParaRPr kumimoji="0" lang="en-US" sz="4400" b="0" i="0" u="none" strike="noStrike" kern="1200" cap="none" spc="0" normalizeH="0" baseline="0" noProof="0">
              <a:ln>
                <a:noFill/>
              </a:ln>
              <a:solidFill>
                <a:srgbClr val="22272B"/>
              </a:solidFill>
              <a:effectLst/>
              <a:uLnTx/>
              <a:uFillTx/>
              <a:latin typeface="Arial"/>
              <a:ea typeface="Calibri"/>
              <a:cs typeface="Arial"/>
            </a:endParaRPr>
          </a:p>
          <a:p>
            <a:pPr marL="514350" marR="0" lvl="0" indent="-514350" algn="l" defTabSz="609585" rtl="0" eaLnBrk="1" fontAlgn="auto" latinLnBrk="0" hangingPunct="1">
              <a:spcBef>
                <a:spcPts val="1200"/>
              </a:spcBef>
              <a:spcAft>
                <a:spcPts val="0"/>
              </a:spcAft>
              <a:buClrTx/>
              <a:buSzTx/>
              <a:buFontTx/>
              <a:buAutoNum type="arabicPlain" startAt="5"/>
              <a:tabLst/>
              <a:defRPr/>
            </a:pPr>
            <a:endParaRPr kumimoji="0" lang="en-AU" sz="44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l" defTabSz="609585" rtl="0" eaLnBrk="1" fontAlgn="auto" latinLnBrk="0" hangingPunct="1">
              <a:spcBef>
                <a:spcPts val="120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a:ea typeface="Calibri"/>
                <a:cs typeface="Arial"/>
              </a:rPr>
              <a:t>5 +  8  =  8  +  5</a:t>
            </a:r>
          </a:p>
          <a:p>
            <a:pPr marL="514350" marR="0" lvl="0" indent="-514350" algn="l" defTabSz="609585" rtl="0" eaLnBrk="1" fontAlgn="auto" latinLnBrk="0" hangingPunct="1">
              <a:spcBef>
                <a:spcPts val="1200"/>
              </a:spcBef>
              <a:spcAft>
                <a:spcPts val="0"/>
              </a:spcAft>
              <a:buClrTx/>
              <a:buSzTx/>
              <a:buFontTx/>
              <a:buAutoNum type="arabicPlain" startAt="5"/>
              <a:tabLst/>
              <a:defRPr/>
            </a:pPr>
            <a:endParaRPr kumimoji="0" lang="en-AU" sz="32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l" defTabSz="609585" rtl="0" eaLnBrk="1" fontAlgn="auto" latinLnBrk="0" hangingPunct="1">
              <a:spcBef>
                <a:spcPts val="120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Arial" panose="020B0604020202020204" pitchFamily="34" charset="0"/>
              </a:rPr>
              <a:t>5  +  8  =  6  +  7</a:t>
            </a:r>
            <a:endParaRPr kumimoji="0" lang="en-AU" sz="44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p:txBody>
      </p:sp>
      <p:pic>
        <p:nvPicPr>
          <p:cNvPr id="5" name="Picture 2" descr="image of a head with cogs turning inside">
            <a:extLst>
              <a:ext uri="{FF2B5EF4-FFF2-40B4-BE49-F238E27FC236}">
                <a16:creationId xmlns:a16="http://schemas.microsoft.com/office/drawing/2014/main" id="{E64E760A-20AC-B9DB-8C43-BB2C57D24F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16677" y="188018"/>
            <a:ext cx="768795"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7495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dirty="0"/>
              <a:t>True or false </a:t>
            </a:r>
            <a:r>
              <a:rPr lang="en-US" dirty="0">
                <a:solidFill>
                  <a:schemeClr val="bg1"/>
                </a:solidFill>
              </a:rPr>
              <a:t>(2)</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Box 6">
            <a:extLst>
              <a:ext uri="{FF2B5EF4-FFF2-40B4-BE49-F238E27FC236}">
                <a16:creationId xmlns:a16="http://schemas.microsoft.com/office/drawing/2014/main" id="{64E1C8B0-163D-04A5-00C3-9B3F13C3AC1F}"/>
              </a:ext>
            </a:extLst>
          </p:cNvPr>
          <p:cNvSpPr txBox="1"/>
          <p:nvPr/>
        </p:nvSpPr>
        <p:spPr>
          <a:xfrm>
            <a:off x="1524000" y="1611221"/>
            <a:ext cx="9600000" cy="1998176"/>
          </a:xfrm>
          <a:prstGeom prst="rect">
            <a:avLst/>
          </a:prstGeom>
          <a:noFill/>
        </p:spPr>
        <p:txBody>
          <a:bodyPr wrap="square">
            <a:spAutoFit/>
          </a:bodyPr>
          <a:lstStyle/>
          <a:p>
            <a:pPr>
              <a:lnSpc>
                <a:spcPct val="150000"/>
              </a:lnSpc>
            </a:pPr>
            <a:r>
              <a:rPr lang="en-AU" sz="4400" dirty="0"/>
              <a:t>To correctly solve </a:t>
            </a:r>
            <a:r>
              <a:rPr lang="en-AU" sz="4400" b="1" dirty="0"/>
              <a:t>38 + 7 = 45 </a:t>
            </a:r>
            <a:r>
              <a:rPr lang="en-AU" sz="4400" dirty="0"/>
              <a:t>I can add 2 to 38, then add 5 to get 45. </a:t>
            </a:r>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562D9C7-EC05-206B-1E7C-D2769D1AB53D}"/>
              </a:ext>
            </a:extLst>
          </p:cNvPr>
          <p:cNvSpPr txBox="1"/>
          <p:nvPr/>
        </p:nvSpPr>
        <p:spPr>
          <a:xfrm>
            <a:off x="737016" y="1660812"/>
            <a:ext cx="10717967" cy="4378598"/>
          </a:xfrm>
          <a:prstGeom prst="rect">
            <a:avLst/>
          </a:prstGeom>
          <a:noFill/>
        </p:spPr>
        <p:txBody>
          <a:bodyPr wrap="square" lIns="0" tIns="0" rIns="0" bIns="0" rtlCol="0">
            <a:noAutofit/>
          </a:bodyPr>
          <a:lstStyle/>
          <a:p>
            <a:pPr algn="ctr">
              <a:lnSpc>
                <a:spcPct val="150000"/>
              </a:lnSpc>
            </a:pPr>
            <a:r>
              <a:rPr lang="en-AU" sz="4400" dirty="0"/>
              <a:t>Use the </a:t>
            </a:r>
            <a:r>
              <a:rPr lang="en-AU" sz="4400" b="1" dirty="0"/>
              <a:t>compensation strategy </a:t>
            </a:r>
            <a:r>
              <a:rPr lang="en-AU" sz="4400" dirty="0"/>
              <a:t>to </a:t>
            </a:r>
            <a:r>
              <a:rPr lang="en-AU" sz="4400" b="1" dirty="0"/>
              <a:t>add</a:t>
            </a:r>
            <a:r>
              <a:rPr lang="en-AU" sz="4400" dirty="0"/>
              <a:t> these </a:t>
            </a:r>
            <a:r>
              <a:rPr lang="en-AU" sz="4400" b="1" dirty="0"/>
              <a:t>numbers</a:t>
            </a:r>
          </a:p>
          <a:p>
            <a:pPr algn="ctr"/>
            <a:endParaRPr lang="en-AU" sz="4400" dirty="0"/>
          </a:p>
          <a:p>
            <a:pPr algn="ctr"/>
            <a:r>
              <a:rPr lang="en-AU" sz="4400" dirty="0"/>
              <a:t>23 + 29 =</a:t>
            </a:r>
          </a:p>
          <a:p>
            <a:pPr algn="ctr"/>
            <a:endParaRPr lang="en-AU" sz="4400" dirty="0"/>
          </a:p>
          <a:p>
            <a:pPr algn="ctr"/>
            <a:r>
              <a:rPr lang="en-AU" sz="4400" b="1" dirty="0"/>
              <a:t>Communicate</a:t>
            </a:r>
            <a:r>
              <a:rPr lang="en-AU" sz="4400" dirty="0"/>
              <a:t> your </a:t>
            </a:r>
            <a:r>
              <a:rPr lang="en-AU" sz="4400" b="1" dirty="0"/>
              <a:t>thinking</a:t>
            </a:r>
            <a:r>
              <a:rPr lang="en-AU" sz="4400" dirty="0"/>
              <a:t>.</a:t>
            </a:r>
          </a:p>
          <a:p>
            <a:pPr algn="ctr"/>
            <a:endParaRPr lang="en-AU" sz="4400" dirty="0"/>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51EC864-9D0B-190B-D960-94D91143ABAB}"/>
              </a:ext>
            </a:extLst>
          </p:cNvPr>
          <p:cNvSpPr txBox="1"/>
          <p:nvPr/>
        </p:nvSpPr>
        <p:spPr>
          <a:xfrm>
            <a:off x="594691" y="1184223"/>
            <a:ext cx="11002617" cy="4696813"/>
          </a:xfrm>
          <a:prstGeom prst="rect">
            <a:avLst/>
          </a:prstGeom>
          <a:noFill/>
        </p:spPr>
        <p:txBody>
          <a:bodyPr wrap="square" lIns="0" tIns="0" rIns="0" bIns="0" rtlCol="0">
            <a:noAutofit/>
          </a:bodyPr>
          <a:lstStyle/>
          <a:p>
            <a:pPr algn="ctr">
              <a:lnSpc>
                <a:spcPct val="150000"/>
              </a:lnSpc>
            </a:pPr>
            <a:r>
              <a:rPr lang="en-AU" sz="4400" dirty="0"/>
              <a:t>Order these numbers </a:t>
            </a:r>
          </a:p>
          <a:p>
            <a:pPr algn="ctr">
              <a:lnSpc>
                <a:spcPct val="150000"/>
              </a:lnSpc>
            </a:pPr>
            <a:r>
              <a:rPr lang="en-AU" sz="4400" dirty="0"/>
              <a:t>from</a:t>
            </a:r>
            <a:r>
              <a:rPr lang="en-AU" sz="4400" b="1" dirty="0"/>
              <a:t> largest </a:t>
            </a:r>
            <a:r>
              <a:rPr lang="en-AU" sz="4400" dirty="0"/>
              <a:t>to</a:t>
            </a:r>
            <a:r>
              <a:rPr lang="en-AU" sz="4400" b="1" dirty="0"/>
              <a:t> smallest</a:t>
            </a:r>
            <a:r>
              <a:rPr lang="en-AU" sz="4400" dirty="0"/>
              <a:t>:</a:t>
            </a:r>
          </a:p>
          <a:p>
            <a:pPr algn="ctr">
              <a:lnSpc>
                <a:spcPct val="150000"/>
              </a:lnSpc>
            </a:pPr>
            <a:r>
              <a:rPr lang="en-AU" sz="4400" dirty="0"/>
              <a:t>1089</a:t>
            </a:r>
          </a:p>
          <a:p>
            <a:pPr algn="ctr">
              <a:lnSpc>
                <a:spcPct val="150000"/>
              </a:lnSpc>
            </a:pPr>
            <a:r>
              <a:rPr lang="en-AU" sz="4400" dirty="0"/>
              <a:t>1200</a:t>
            </a:r>
          </a:p>
          <a:p>
            <a:pPr algn="ctr">
              <a:lnSpc>
                <a:spcPct val="150000"/>
              </a:lnSpc>
            </a:pPr>
            <a:r>
              <a:rPr lang="en-AU" sz="4400" dirty="0"/>
              <a:t>1099</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94AAEC3-47E2-8E82-BE6A-0220F22D80FB}"/>
              </a:ext>
            </a:extLst>
          </p:cNvPr>
          <p:cNvSpPr txBox="1"/>
          <p:nvPr/>
        </p:nvSpPr>
        <p:spPr>
          <a:xfrm>
            <a:off x="570835" y="936885"/>
            <a:ext cx="11273165" cy="4154557"/>
          </a:xfrm>
          <a:prstGeom prst="rect">
            <a:avLst/>
          </a:prstGeom>
          <a:noFill/>
        </p:spPr>
        <p:txBody>
          <a:bodyPr wrap="square" lIns="0" tIns="0" rIns="0" bIns="0" rtlCol="0">
            <a:noAutofit/>
          </a:bodyPr>
          <a:lstStyle/>
          <a:p>
            <a:pPr>
              <a:spcAft>
                <a:spcPts val="1800"/>
              </a:spcAft>
            </a:pPr>
            <a:r>
              <a:rPr lang="en-AU" sz="4400" dirty="0"/>
              <a:t>Write the </a:t>
            </a:r>
            <a:r>
              <a:rPr lang="en-AU" sz="4400" b="1" dirty="0"/>
              <a:t>most appropriate </a:t>
            </a:r>
            <a:r>
              <a:rPr lang="en-AU" sz="4400" dirty="0"/>
              <a:t>formal unit, </a:t>
            </a:r>
            <a:r>
              <a:rPr lang="en-AU" sz="4400" b="1" dirty="0"/>
              <a:t>metres or centimetres,</a:t>
            </a:r>
            <a:r>
              <a:rPr lang="en-AU" sz="4400" dirty="0"/>
              <a:t> to measure the length of each object</a:t>
            </a:r>
            <a:r>
              <a:rPr lang="en-AU" sz="4400" b="1" dirty="0"/>
              <a:t>:</a:t>
            </a:r>
            <a:endParaRPr lang="en-AU" sz="4400" dirty="0"/>
          </a:p>
          <a:p>
            <a:pPr marL="742950" indent="-742950">
              <a:spcAft>
                <a:spcPts val="1800"/>
              </a:spcAft>
              <a:buFont typeface="+mj-lt"/>
              <a:buAutoNum type="arabicPeriod"/>
            </a:pPr>
            <a:r>
              <a:rPr lang="en-AU" sz="4400" dirty="0"/>
              <a:t>a train</a:t>
            </a:r>
          </a:p>
          <a:p>
            <a:pPr marL="742950" indent="-742950">
              <a:spcAft>
                <a:spcPts val="1800"/>
              </a:spcAft>
              <a:buFont typeface="+mj-lt"/>
              <a:buAutoNum type="arabicPeriod"/>
            </a:pPr>
            <a:r>
              <a:rPr lang="en-AU" sz="4400" dirty="0"/>
              <a:t>a fork</a:t>
            </a:r>
          </a:p>
          <a:p>
            <a:pPr marL="742950" indent="-742950">
              <a:spcAft>
                <a:spcPts val="1800"/>
              </a:spcAft>
              <a:buFont typeface="+mj-lt"/>
              <a:buAutoNum type="arabicPeriod"/>
            </a:pPr>
            <a:r>
              <a:rPr lang="en-AU" sz="4400" dirty="0"/>
              <a:t>a pen</a:t>
            </a:r>
          </a:p>
          <a:p>
            <a:pPr marL="742950" indent="-742950">
              <a:spcAft>
                <a:spcPts val="1800"/>
              </a:spcAft>
              <a:buFont typeface="+mj-lt"/>
              <a:buAutoNum type="arabicPeriod"/>
            </a:pPr>
            <a:r>
              <a:rPr lang="en-AU" sz="4400" dirty="0"/>
              <a:t>an eraser</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0CBA0EF-A2B8-B508-AE04-26986A8E3483}"/>
              </a:ext>
            </a:extLst>
          </p:cNvPr>
          <p:cNvSpPr txBox="1"/>
          <p:nvPr/>
        </p:nvSpPr>
        <p:spPr>
          <a:xfrm>
            <a:off x="463826" y="1797517"/>
            <a:ext cx="11251096" cy="4746508"/>
          </a:xfrm>
          <a:prstGeom prst="rect">
            <a:avLst/>
          </a:prstGeom>
          <a:noFill/>
        </p:spPr>
        <p:txBody>
          <a:bodyPr wrap="square" lIns="0" tIns="0" rIns="0" bIns="0" rtlCol="0">
            <a:noAutofit/>
          </a:bodyPr>
          <a:lstStyle/>
          <a:p>
            <a:pPr algn="ctr">
              <a:lnSpc>
                <a:spcPct val="150000"/>
              </a:lnSpc>
            </a:pPr>
            <a:r>
              <a:rPr lang="en-AU" sz="4400"/>
              <a:t>What is something you </a:t>
            </a:r>
            <a:r>
              <a:rPr lang="en-AU" sz="4400" b="1"/>
              <a:t>could use </a:t>
            </a:r>
            <a:r>
              <a:rPr lang="en-AU" sz="4400"/>
              <a:t>to </a:t>
            </a:r>
            <a:r>
              <a:rPr lang="en-AU" sz="4400" b="1"/>
              <a:t>measure</a:t>
            </a:r>
            <a:r>
              <a:rPr lang="en-AU" sz="4400"/>
              <a:t> the </a:t>
            </a:r>
            <a:r>
              <a:rPr lang="en-AU" sz="4400" b="1"/>
              <a:t>area</a:t>
            </a:r>
            <a:r>
              <a:rPr lang="en-AU" sz="4400"/>
              <a:t> of your </a:t>
            </a:r>
            <a:r>
              <a:rPr lang="en-AU" sz="4400" b="1"/>
              <a:t>desk?</a:t>
            </a:r>
          </a:p>
          <a:p>
            <a:pPr algn="ctr">
              <a:lnSpc>
                <a:spcPct val="150000"/>
              </a:lnSpc>
            </a:pPr>
            <a:endParaRPr lang="en-AU" sz="4400" b="1"/>
          </a:p>
          <a:p>
            <a:pPr algn="ctr">
              <a:lnSpc>
                <a:spcPct val="150000"/>
              </a:lnSpc>
            </a:pPr>
            <a:endParaRPr lang="en-AU" sz="4400"/>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6931BA-DF5B-C158-BFE6-8C3E7A6DB7CA}"/>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AFA78D9-FB5F-AC03-B052-D54C836D2165}"/>
              </a:ext>
            </a:extLst>
          </p:cNvPr>
          <p:cNvSpPr>
            <a:spLocks noGrp="1"/>
          </p:cNvSpPr>
          <p:nvPr>
            <p:ph type="title"/>
          </p:nvPr>
        </p:nvSpPr>
        <p:spPr/>
        <p:txBody>
          <a:bodyPr/>
          <a:lstStyle/>
          <a:p>
            <a:r>
              <a:rPr lang="en-AU">
                <a:latin typeface="Arial"/>
                <a:cs typeface="Arial"/>
              </a:rPr>
              <a:t>Activity 4 – near ten number match</a:t>
            </a:r>
            <a:endParaRPr lang="en-US"/>
          </a:p>
        </p:txBody>
      </p:sp>
      <p:sp>
        <p:nvSpPr>
          <p:cNvPr id="5" name="Text Placeholder 4">
            <a:extLst>
              <a:ext uri="{FF2B5EF4-FFF2-40B4-BE49-F238E27FC236}">
                <a16:creationId xmlns:a16="http://schemas.microsoft.com/office/drawing/2014/main" id="{14BDF2C7-585A-A094-654E-4503E6C4ED7D}"/>
              </a:ext>
            </a:extLst>
          </p:cNvPr>
          <p:cNvSpPr>
            <a:spLocks noGrp="1"/>
          </p:cNvSpPr>
          <p:nvPr>
            <p:ph type="body" sz="quarter" idx="17"/>
          </p:nvPr>
        </p:nvSpPr>
        <p:spPr>
          <a:xfrm>
            <a:off x="360000" y="898871"/>
            <a:ext cx="11484000" cy="5335373"/>
          </a:xfrm>
        </p:spPr>
        <p:txBody>
          <a:bodyPr vert="horz" lIns="0" tIns="0" rIns="0" bIns="0" rtlCol="0" anchor="t">
            <a:noAutofit/>
          </a:bodyPr>
          <a:lstStyle/>
          <a:p>
            <a:r>
              <a:rPr lang="en-GB" sz="1800" b="1">
                <a:latin typeface="Arial"/>
                <a:cs typeface="Arial"/>
              </a:rPr>
              <a:t>In pairs:</a:t>
            </a:r>
            <a:endParaRPr lang="en-US" sz="1800">
              <a:latin typeface="Arial"/>
              <a:cs typeface="Arial"/>
            </a:endParaRPr>
          </a:p>
          <a:p>
            <a:pPr marL="285750" indent="-285750">
              <a:buFont typeface="Arial"/>
              <a:buChar char="•"/>
            </a:pPr>
            <a:r>
              <a:rPr lang="en-GB" sz="1800">
                <a:latin typeface="Arial"/>
                <a:cs typeface="Arial"/>
              </a:rPr>
              <a:t>Roll two dice.</a:t>
            </a:r>
          </a:p>
          <a:p>
            <a:pPr marL="285750" indent="-285750">
              <a:buFont typeface="Arial"/>
              <a:buChar char="•"/>
            </a:pPr>
            <a:r>
              <a:rPr lang="en-GB" sz="1800">
                <a:latin typeface="Arial"/>
                <a:cs typeface="Arial"/>
              </a:rPr>
              <a:t>Use the digits to make a 2-digit number (e.g. roll 3 and 7 → choose 37 or 73).</a:t>
            </a:r>
          </a:p>
          <a:p>
            <a:pPr marL="285750" indent="-285750">
              <a:buFont typeface="Arial"/>
              <a:buChar char="•"/>
            </a:pPr>
            <a:r>
              <a:rPr lang="en-GB" sz="1800">
                <a:latin typeface="Arial"/>
                <a:cs typeface="Arial"/>
              </a:rPr>
              <a:t>Adjust your number to the nearest 10, then compensate to keep the total the same.</a:t>
            </a:r>
          </a:p>
          <a:p>
            <a:r>
              <a:rPr lang="en-GB" sz="1800">
                <a:latin typeface="Arial"/>
                <a:cs typeface="Arial"/>
              </a:rPr>
              <a:t>🧠 Example:    37 + 6 = 40 + 3 → so </a:t>
            </a:r>
            <a:r>
              <a:rPr lang="en-GB" sz="1800" b="1">
                <a:latin typeface="Arial"/>
                <a:cs typeface="Arial"/>
              </a:rPr>
              <a:t>37 + 6 = 43</a:t>
            </a:r>
            <a:endParaRPr lang="en-GB" sz="1800">
              <a:latin typeface="Arial"/>
              <a:cs typeface="Arial"/>
            </a:endParaRPr>
          </a:p>
          <a:p>
            <a:r>
              <a:rPr lang="en-GB" sz="1800" b="1">
                <a:latin typeface="Arial"/>
                <a:cs typeface="Arial"/>
              </a:rPr>
              <a:t>Talk with your partner:</a:t>
            </a:r>
            <a:endParaRPr lang="en-GB" sz="1800">
              <a:latin typeface="Arial"/>
              <a:cs typeface="Arial"/>
            </a:endParaRPr>
          </a:p>
          <a:p>
            <a:pPr marL="285750" indent="-285750">
              <a:buFont typeface="Arial"/>
              <a:buChar char="•"/>
            </a:pPr>
            <a:r>
              <a:rPr lang="en-GB" sz="1800">
                <a:latin typeface="Arial"/>
                <a:cs typeface="Arial"/>
              </a:rPr>
              <a:t>What number did you make?</a:t>
            </a:r>
          </a:p>
          <a:p>
            <a:pPr marL="285750" indent="-285750">
              <a:buFont typeface="Arial"/>
              <a:buChar char="•"/>
            </a:pPr>
            <a:r>
              <a:rPr lang="en-GB" sz="1800">
                <a:latin typeface="Arial"/>
                <a:cs typeface="Arial"/>
              </a:rPr>
              <a:t>Why did you adjust it?</a:t>
            </a:r>
          </a:p>
          <a:p>
            <a:pPr marL="285750" indent="-285750">
              <a:buFont typeface="Arial"/>
              <a:buChar char="•"/>
            </a:pPr>
            <a:r>
              <a:rPr lang="en-GB" sz="1800">
                <a:latin typeface="Arial"/>
                <a:cs typeface="Arial"/>
              </a:rPr>
              <a:t>What did you add or subtract to make it easier?</a:t>
            </a:r>
          </a:p>
          <a:p>
            <a:endParaRPr lang="en-GB" b="1"/>
          </a:p>
          <a:p>
            <a:endParaRPr lang="en-GB"/>
          </a:p>
        </p:txBody>
      </p:sp>
      <p:pic>
        <p:nvPicPr>
          <p:cNvPr id="4" name="Picture 2" descr="image of a head with cogs turning inside">
            <a:extLst>
              <a:ext uri="{FF2B5EF4-FFF2-40B4-BE49-F238E27FC236}">
                <a16:creationId xmlns:a16="http://schemas.microsoft.com/office/drawing/2014/main" id="{DD37AB82-4B35-977C-CEB6-EC9EF94477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16677" y="188018"/>
            <a:ext cx="768795"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1372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6DE5-9054-EDB9-6AA0-DC7E8299AE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C5526B-34A8-E53A-E009-C45A1F7CD573}"/>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(3)</a:t>
            </a:r>
          </a:p>
        </p:txBody>
      </p:sp>
      <p:sp>
        <p:nvSpPr>
          <p:cNvPr id="15" name="Text Placeholder 14">
            <a:extLst>
              <a:ext uri="{FF2B5EF4-FFF2-40B4-BE49-F238E27FC236}">
                <a16:creationId xmlns:a16="http://schemas.microsoft.com/office/drawing/2014/main" id="{0443E027-E11B-A12B-53A8-A4F27E680A18}"/>
              </a:ext>
            </a:extLst>
          </p:cNvPr>
          <p:cNvSpPr>
            <a:spLocks noGrp="1"/>
          </p:cNvSpPr>
          <p:nvPr>
            <p:ph type="body" sz="quarter" idx="28"/>
          </p:nvPr>
        </p:nvSpPr>
        <p:spPr>
          <a:xfrm>
            <a:off x="670557" y="1293615"/>
            <a:ext cx="10850883" cy="754243"/>
          </a:xfrm>
        </p:spPr>
        <p:txBody>
          <a:bodyPr/>
          <a:lstStyle/>
          <a:p>
            <a:pPr algn="ctr">
              <a:lnSpc>
                <a:spcPct val="100000"/>
              </a:lnSpc>
              <a:spcAft>
                <a:spcPts val="1800"/>
              </a:spcAft>
            </a:pPr>
            <a:r>
              <a:rPr lang="en-US" sz="4400" dirty="0"/>
              <a:t>If 52 + 23 = 75,  which of these </a:t>
            </a:r>
          </a:p>
          <a:p>
            <a:pPr algn="ctr">
              <a:lnSpc>
                <a:spcPct val="100000"/>
              </a:lnSpc>
              <a:spcAft>
                <a:spcPts val="1800"/>
              </a:spcAft>
            </a:pPr>
            <a:r>
              <a:rPr lang="en-US" sz="4400" dirty="0"/>
              <a:t>are </a:t>
            </a:r>
            <a:r>
              <a:rPr lang="en-US" sz="4400" b="1" dirty="0"/>
              <a:t>true</a:t>
            </a:r>
            <a:r>
              <a:rPr lang="en-US" sz="4400" dirty="0"/>
              <a:t>? You may choose </a:t>
            </a:r>
            <a:r>
              <a:rPr lang="en-US" sz="4400" b="1" dirty="0"/>
              <a:t>more than one. </a:t>
            </a:r>
          </a:p>
        </p:txBody>
      </p:sp>
      <p:pic>
        <p:nvPicPr>
          <p:cNvPr id="4" name="Picture 3" descr="image of a finger selecting an option for a multiple choice or true and false">
            <a:extLst>
              <a:ext uri="{FF2B5EF4-FFF2-40B4-BE49-F238E27FC236}">
                <a16:creationId xmlns:a16="http://schemas.microsoft.com/office/drawing/2014/main" id="{A4D93B1C-8640-0057-E118-4A82C116762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2728CAFD-81DA-8687-62CB-EDE8C4CA79FE}"/>
              </a:ext>
            </a:extLst>
          </p:cNvPr>
          <p:cNvSpPr>
            <a:spLocks noGrp="1"/>
          </p:cNvSpPr>
          <p:nvPr>
            <p:ph type="body" sz="quarter" idx="27"/>
          </p:nvPr>
        </p:nvSpPr>
        <p:spPr>
          <a:xfrm>
            <a:off x="1345520" y="5856604"/>
            <a:ext cx="10175920" cy="641396"/>
          </a:xfrm>
        </p:spPr>
        <p:txBody>
          <a:bodyPr/>
          <a:lstStyle/>
          <a:p>
            <a:r>
              <a:rPr lang="en-AU" sz="4400" dirty="0"/>
              <a:t>23 + 75 = 52</a:t>
            </a:r>
          </a:p>
        </p:txBody>
      </p:sp>
      <p:sp>
        <p:nvSpPr>
          <p:cNvPr id="13" name="Text Placeholder 12">
            <a:extLst>
              <a:ext uri="{FF2B5EF4-FFF2-40B4-BE49-F238E27FC236}">
                <a16:creationId xmlns:a16="http://schemas.microsoft.com/office/drawing/2014/main" id="{A45DCF84-833C-0D94-0480-40A6B6E750FF}"/>
              </a:ext>
            </a:extLst>
          </p:cNvPr>
          <p:cNvSpPr>
            <a:spLocks noGrp="1"/>
          </p:cNvSpPr>
          <p:nvPr>
            <p:ph type="body" sz="quarter" idx="29"/>
          </p:nvPr>
        </p:nvSpPr>
        <p:spPr>
          <a:xfrm>
            <a:off x="1345520" y="5065471"/>
            <a:ext cx="10175920" cy="641396"/>
          </a:xfrm>
        </p:spPr>
        <p:txBody>
          <a:bodyPr/>
          <a:lstStyle/>
          <a:p>
            <a:r>
              <a:rPr lang="en-AU" sz="4400" dirty="0"/>
              <a:t>52 – 75 = 23</a:t>
            </a:r>
          </a:p>
        </p:txBody>
      </p:sp>
      <p:sp>
        <p:nvSpPr>
          <p:cNvPr id="20" name="Text Placeholder 19">
            <a:extLst>
              <a:ext uri="{FF2B5EF4-FFF2-40B4-BE49-F238E27FC236}">
                <a16:creationId xmlns:a16="http://schemas.microsoft.com/office/drawing/2014/main" id="{4273EBCB-730B-EB3F-5A87-83EB24BD9D0C}"/>
              </a:ext>
            </a:extLst>
          </p:cNvPr>
          <p:cNvSpPr>
            <a:spLocks noGrp="1"/>
          </p:cNvSpPr>
          <p:nvPr>
            <p:ph type="body" sz="quarter" idx="30"/>
          </p:nvPr>
        </p:nvSpPr>
        <p:spPr>
          <a:xfrm>
            <a:off x="1345520" y="4215418"/>
            <a:ext cx="10175920" cy="641396"/>
          </a:xfrm>
        </p:spPr>
        <p:txBody>
          <a:bodyPr/>
          <a:lstStyle/>
          <a:p>
            <a:r>
              <a:rPr lang="en-AU" sz="4400" dirty="0"/>
              <a:t>75 – 23 = 52</a:t>
            </a:r>
          </a:p>
        </p:txBody>
      </p:sp>
      <p:sp>
        <p:nvSpPr>
          <p:cNvPr id="22" name="Text Placeholder 21">
            <a:extLst>
              <a:ext uri="{FF2B5EF4-FFF2-40B4-BE49-F238E27FC236}">
                <a16:creationId xmlns:a16="http://schemas.microsoft.com/office/drawing/2014/main" id="{623D92D6-96A2-1C26-E727-19EE99C9BDB8}"/>
              </a:ext>
            </a:extLst>
          </p:cNvPr>
          <p:cNvSpPr>
            <a:spLocks noGrp="1"/>
          </p:cNvSpPr>
          <p:nvPr>
            <p:ph type="body" sz="quarter" idx="31"/>
          </p:nvPr>
        </p:nvSpPr>
        <p:spPr>
          <a:xfrm>
            <a:off x="1345520" y="3365365"/>
            <a:ext cx="10175920" cy="641396"/>
          </a:xfrm>
        </p:spPr>
        <p:txBody>
          <a:bodyPr/>
          <a:lstStyle/>
          <a:p>
            <a:r>
              <a:rPr lang="en-AU" sz="4400" dirty="0"/>
              <a:t>75 – 52 = 23</a:t>
            </a:r>
          </a:p>
        </p:txBody>
      </p:sp>
      <p:sp>
        <p:nvSpPr>
          <p:cNvPr id="23" name="TextBox 22">
            <a:extLst>
              <a:ext uri="{FF2B5EF4-FFF2-40B4-BE49-F238E27FC236}">
                <a16:creationId xmlns:a16="http://schemas.microsoft.com/office/drawing/2014/main" id="{B5B6CDB0-CC30-8E05-C6AA-1F644F3F5CCB}"/>
              </a:ext>
            </a:extLst>
          </p:cNvPr>
          <p:cNvSpPr txBox="1"/>
          <p:nvPr/>
        </p:nvSpPr>
        <p:spPr>
          <a:xfrm>
            <a:off x="670560" y="348660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24" name="TextBox 23">
            <a:extLst>
              <a:ext uri="{FF2B5EF4-FFF2-40B4-BE49-F238E27FC236}">
                <a16:creationId xmlns:a16="http://schemas.microsoft.com/office/drawing/2014/main" id="{5B886997-55E1-097E-915C-99935E0FF599}"/>
              </a:ext>
            </a:extLst>
          </p:cNvPr>
          <p:cNvSpPr txBox="1"/>
          <p:nvPr/>
        </p:nvSpPr>
        <p:spPr>
          <a:xfrm>
            <a:off x="670559" y="433452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25" name="TextBox 24">
            <a:extLst>
              <a:ext uri="{FF2B5EF4-FFF2-40B4-BE49-F238E27FC236}">
                <a16:creationId xmlns:a16="http://schemas.microsoft.com/office/drawing/2014/main" id="{F16998B5-F4B9-B1D6-4234-328592711780}"/>
              </a:ext>
            </a:extLst>
          </p:cNvPr>
          <p:cNvSpPr txBox="1"/>
          <p:nvPr/>
        </p:nvSpPr>
        <p:spPr>
          <a:xfrm>
            <a:off x="670557" y="603462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6" name="TextBox 25">
            <a:extLst>
              <a:ext uri="{FF2B5EF4-FFF2-40B4-BE49-F238E27FC236}">
                <a16:creationId xmlns:a16="http://schemas.microsoft.com/office/drawing/2014/main" id="{3DAEA0C8-B012-582E-E938-7CEF2F8FBE0C}"/>
              </a:ext>
            </a:extLst>
          </p:cNvPr>
          <p:cNvSpPr txBox="1"/>
          <p:nvPr/>
        </p:nvSpPr>
        <p:spPr>
          <a:xfrm>
            <a:off x="670558" y="518457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217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BD92CD9-876B-E508-9BF7-24B33F868A43}"/>
              </a:ext>
            </a:extLst>
          </p:cNvPr>
          <p:cNvSpPr txBox="1"/>
          <p:nvPr/>
        </p:nvSpPr>
        <p:spPr>
          <a:xfrm>
            <a:off x="344774" y="1439056"/>
            <a:ext cx="11017770" cy="4856813"/>
          </a:xfrm>
          <a:prstGeom prst="rect">
            <a:avLst/>
          </a:prstGeom>
          <a:noFill/>
        </p:spPr>
        <p:txBody>
          <a:bodyPr wrap="square" lIns="0" tIns="0" rIns="0" bIns="0" rtlCol="0">
            <a:noAutofit/>
          </a:bodyPr>
          <a:lstStyle/>
          <a:p>
            <a:pPr algn="ctr">
              <a:lnSpc>
                <a:spcPct val="200000"/>
              </a:lnSpc>
            </a:pPr>
            <a:r>
              <a:rPr lang="en-AU" sz="4400" b="1" dirty="0"/>
              <a:t>Draw</a:t>
            </a:r>
            <a:r>
              <a:rPr lang="en-AU" sz="4400" dirty="0"/>
              <a:t> a </a:t>
            </a:r>
            <a:r>
              <a:rPr lang="en-AU" sz="4400" b="1" dirty="0"/>
              <a:t>number line </a:t>
            </a:r>
            <a:r>
              <a:rPr lang="en-AU" sz="4400" dirty="0"/>
              <a:t>to show </a:t>
            </a:r>
            <a:r>
              <a:rPr lang="en-AU" sz="4400" b="1" dirty="0"/>
              <a:t>a way </a:t>
            </a:r>
            <a:r>
              <a:rPr lang="en-AU" sz="4400" dirty="0"/>
              <a:t>to</a:t>
            </a:r>
            <a:r>
              <a:rPr lang="en-AU" sz="4400" b="1" dirty="0"/>
              <a:t> complete</a:t>
            </a:r>
            <a:r>
              <a:rPr lang="en-AU" sz="4400" dirty="0"/>
              <a:t> this </a:t>
            </a:r>
            <a:r>
              <a:rPr lang="en-AU" sz="4400" b="1" dirty="0"/>
              <a:t>number sentence</a:t>
            </a:r>
          </a:p>
          <a:p>
            <a:pPr algn="ctr">
              <a:lnSpc>
                <a:spcPct val="200000"/>
              </a:lnSpc>
            </a:pPr>
            <a:r>
              <a:rPr lang="en-AU" sz="4400" dirty="0"/>
              <a:t> 147 + 152 =</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CF98C11-FCD6-27A5-424A-114175078023}"/>
              </a:ext>
            </a:extLst>
          </p:cNvPr>
          <p:cNvSpPr txBox="1"/>
          <p:nvPr/>
        </p:nvSpPr>
        <p:spPr>
          <a:xfrm>
            <a:off x="599660" y="1428306"/>
            <a:ext cx="10992679" cy="4412974"/>
          </a:xfrm>
          <a:prstGeom prst="rect">
            <a:avLst/>
          </a:prstGeom>
          <a:noFill/>
        </p:spPr>
        <p:txBody>
          <a:bodyPr wrap="square" lIns="0" tIns="0" rIns="0" bIns="0" rtlCol="0">
            <a:noAutofit/>
          </a:bodyPr>
          <a:lstStyle/>
          <a:p>
            <a:pPr algn="ctr">
              <a:lnSpc>
                <a:spcPct val="150000"/>
              </a:lnSpc>
            </a:pPr>
            <a:r>
              <a:rPr lang="en-AU" sz="4400" b="1"/>
              <a:t>Record</a:t>
            </a:r>
            <a:r>
              <a:rPr lang="en-AU" sz="4400"/>
              <a:t> the numbers </a:t>
            </a:r>
            <a:r>
              <a:rPr lang="en-AU" sz="4400" b="1"/>
              <a:t>before</a:t>
            </a:r>
            <a:r>
              <a:rPr lang="en-AU" sz="4400"/>
              <a:t> </a:t>
            </a:r>
            <a:r>
              <a:rPr lang="en-AU" sz="4400" b="1"/>
              <a:t>and after</a:t>
            </a:r>
          </a:p>
          <a:p>
            <a:pPr algn="ctr">
              <a:lnSpc>
                <a:spcPct val="150000"/>
              </a:lnSpc>
            </a:pPr>
            <a:r>
              <a:rPr lang="en-AU" sz="4400"/>
              <a:t>___, 1111, ___</a:t>
            </a:r>
          </a:p>
          <a:p>
            <a:pPr algn="ctr">
              <a:lnSpc>
                <a:spcPct val="150000"/>
              </a:lnSpc>
            </a:pPr>
            <a:r>
              <a:rPr lang="en-AU" sz="4400"/>
              <a:t>___, 1009, ___</a:t>
            </a:r>
          </a:p>
          <a:p>
            <a:pPr algn="ctr">
              <a:lnSpc>
                <a:spcPct val="150000"/>
              </a:lnSpc>
            </a:pPr>
            <a:r>
              <a:rPr lang="en-AU" sz="4400"/>
              <a:t>___, 1001, ____</a:t>
            </a:r>
          </a:p>
          <a:p>
            <a:pPr algn="l"/>
            <a:endParaRPr lang="en-AU" sz="1800"/>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D126EFBE-8873-AB76-E7B4-9454BDEB35FC}"/>
              </a:ext>
            </a:extLst>
          </p:cNvPr>
          <p:cNvSpPr txBox="1"/>
          <p:nvPr/>
        </p:nvSpPr>
        <p:spPr>
          <a:xfrm>
            <a:off x="692046" y="1184223"/>
            <a:ext cx="10807907" cy="4303644"/>
          </a:xfrm>
          <a:prstGeom prst="rect">
            <a:avLst/>
          </a:prstGeom>
          <a:noFill/>
        </p:spPr>
        <p:txBody>
          <a:bodyPr wrap="square" lIns="0" tIns="0" rIns="0" bIns="0" rtlCol="0">
            <a:noAutofit/>
          </a:bodyPr>
          <a:lstStyle/>
          <a:p>
            <a:pPr algn="ctr">
              <a:lnSpc>
                <a:spcPct val="150000"/>
              </a:lnSpc>
            </a:pPr>
            <a:r>
              <a:rPr lang="en-AU" sz="4400" b="1" dirty="0"/>
              <a:t>Estimate</a:t>
            </a:r>
            <a:r>
              <a:rPr lang="en-AU" sz="4400" dirty="0"/>
              <a:t> the length of your teacher’s desk Record using in metres and centimetres.</a:t>
            </a:r>
          </a:p>
          <a:p>
            <a:pPr algn="ctr">
              <a:lnSpc>
                <a:spcPct val="150000"/>
              </a:lnSpc>
            </a:pPr>
            <a:r>
              <a:rPr lang="en-AU" sz="4400" b="1" dirty="0"/>
              <a:t>Communicate</a:t>
            </a:r>
            <a:r>
              <a:rPr lang="en-AU" sz="4400" dirty="0"/>
              <a:t> your </a:t>
            </a:r>
            <a:r>
              <a:rPr lang="en-AU" sz="4400" b="1" dirty="0"/>
              <a:t>thinking</a:t>
            </a:r>
            <a:r>
              <a:rPr lang="en-AU" sz="4400" dirty="0"/>
              <a:t>.</a:t>
            </a:r>
          </a:p>
          <a:p>
            <a:pPr algn="ctr">
              <a:lnSpc>
                <a:spcPct val="150000"/>
              </a:lnSpc>
            </a:pPr>
            <a:r>
              <a:rPr lang="en-AU" sz="4400" dirty="0"/>
              <a:t>Now </a:t>
            </a:r>
            <a:r>
              <a:rPr lang="en-AU" sz="4400" b="1" dirty="0"/>
              <a:t>check</a:t>
            </a:r>
            <a:r>
              <a:rPr lang="en-AU" sz="4400" dirty="0"/>
              <a:t> by having someone measure it.</a:t>
            </a:r>
          </a:p>
          <a:p>
            <a:pPr algn="ctr">
              <a:lnSpc>
                <a:spcPct val="150000"/>
              </a:lnSpc>
            </a:pPr>
            <a:r>
              <a:rPr lang="en-AU" sz="4400" b="1" dirty="0"/>
              <a:t>Reflect </a:t>
            </a:r>
            <a:r>
              <a:rPr lang="en-AU" sz="4400" dirty="0"/>
              <a:t>on your estimation.</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45FD8-A833-21BD-A371-111F2F626AA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743FC91-0E5D-2570-C84C-C4DBE61CB39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32E0483F-7773-EF33-4F6C-2CF5B31326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EA03E6DF-D139-3341-CFD7-6DB9BE9B4EC1}"/>
              </a:ext>
            </a:extLst>
          </p:cNvPr>
          <p:cNvPicPr>
            <a:picLocks noChangeAspect="1"/>
          </p:cNvPicPr>
          <p:nvPr/>
        </p:nvPicPr>
        <p:blipFill>
          <a:blip r:embed="rId3"/>
          <a:stretch>
            <a:fillRect/>
          </a:stretch>
        </p:blipFill>
        <p:spPr>
          <a:xfrm>
            <a:off x="11030476" y="268723"/>
            <a:ext cx="915500" cy="915500"/>
          </a:xfrm>
          <a:prstGeom prst="rect">
            <a:avLst/>
          </a:prstGeom>
          <a:ln>
            <a:noFill/>
          </a:ln>
        </p:spPr>
      </p:pic>
      <p:graphicFrame>
        <p:nvGraphicFramePr>
          <p:cNvPr id="5" name="Table 4">
            <a:extLst>
              <a:ext uri="{FF2B5EF4-FFF2-40B4-BE49-F238E27FC236}">
                <a16:creationId xmlns:a16="http://schemas.microsoft.com/office/drawing/2014/main" id="{7D82785C-0320-802B-9E97-983D04432D6F}"/>
              </a:ext>
            </a:extLst>
          </p:cNvPr>
          <p:cNvGraphicFramePr>
            <a:graphicFrameLocks noGrp="1"/>
          </p:cNvGraphicFramePr>
          <p:nvPr>
            <p:extLst>
              <p:ext uri="{D42A27DB-BD31-4B8C-83A1-F6EECF244321}">
                <p14:modId xmlns:p14="http://schemas.microsoft.com/office/powerpoint/2010/main" val="3637383755"/>
              </p:ext>
            </p:extLst>
          </p:nvPr>
        </p:nvGraphicFramePr>
        <p:xfrm>
          <a:off x="826544" y="1421251"/>
          <a:ext cx="10535476" cy="2595880"/>
        </p:xfrm>
        <a:graphic>
          <a:graphicData uri="http://schemas.openxmlformats.org/drawingml/2006/table">
            <a:tbl>
              <a:tblPr firstRow="1" bandRow="1">
                <a:tableStyleId>{775DCB02-9BB8-47FD-8907-85C794F793BA}</a:tableStyleId>
              </a:tblPr>
              <a:tblGrid>
                <a:gridCol w="1505068">
                  <a:extLst>
                    <a:ext uri="{9D8B030D-6E8A-4147-A177-3AD203B41FA5}">
                      <a16:colId xmlns:a16="http://schemas.microsoft.com/office/drawing/2014/main" val="3284981617"/>
                    </a:ext>
                  </a:extLst>
                </a:gridCol>
                <a:gridCol w="1505068">
                  <a:extLst>
                    <a:ext uri="{9D8B030D-6E8A-4147-A177-3AD203B41FA5}">
                      <a16:colId xmlns:a16="http://schemas.microsoft.com/office/drawing/2014/main" val="3596043985"/>
                    </a:ext>
                  </a:extLst>
                </a:gridCol>
                <a:gridCol w="1505068">
                  <a:extLst>
                    <a:ext uri="{9D8B030D-6E8A-4147-A177-3AD203B41FA5}">
                      <a16:colId xmlns:a16="http://schemas.microsoft.com/office/drawing/2014/main" val="2082078307"/>
                    </a:ext>
                  </a:extLst>
                </a:gridCol>
                <a:gridCol w="1505068">
                  <a:extLst>
                    <a:ext uri="{9D8B030D-6E8A-4147-A177-3AD203B41FA5}">
                      <a16:colId xmlns:a16="http://schemas.microsoft.com/office/drawing/2014/main" val="3069776358"/>
                    </a:ext>
                  </a:extLst>
                </a:gridCol>
                <a:gridCol w="1505068">
                  <a:extLst>
                    <a:ext uri="{9D8B030D-6E8A-4147-A177-3AD203B41FA5}">
                      <a16:colId xmlns:a16="http://schemas.microsoft.com/office/drawing/2014/main" val="3067416548"/>
                    </a:ext>
                  </a:extLst>
                </a:gridCol>
                <a:gridCol w="1505068">
                  <a:extLst>
                    <a:ext uri="{9D8B030D-6E8A-4147-A177-3AD203B41FA5}">
                      <a16:colId xmlns:a16="http://schemas.microsoft.com/office/drawing/2014/main" val="4191068543"/>
                    </a:ext>
                  </a:extLst>
                </a:gridCol>
                <a:gridCol w="1505068">
                  <a:extLst>
                    <a:ext uri="{9D8B030D-6E8A-4147-A177-3AD203B41FA5}">
                      <a16:colId xmlns:a16="http://schemas.microsoft.com/office/drawing/2014/main" val="1960345123"/>
                    </a:ext>
                  </a:extLst>
                </a:gridCol>
              </a:tblGrid>
              <a:tr h="370840">
                <a:tc gridSpan="7">
                  <a:txBody>
                    <a:bodyPr/>
                    <a:lstStyle/>
                    <a:p>
                      <a:pPr algn="ctr"/>
                      <a:r>
                        <a:rPr lang="en-AU" sz="1800" b="1" dirty="0">
                          <a:solidFill>
                            <a:schemeClr val="tx1"/>
                          </a:solidFill>
                        </a:rPr>
                        <a:t>September</a:t>
                      </a:r>
                    </a:p>
                  </a:txBody>
                  <a:tcPr/>
                </a:tc>
                <a:tc hMerge="1">
                  <a:txBody>
                    <a:bodyPr/>
                    <a:lstStyle/>
                    <a:p>
                      <a:pPr algn="ctr"/>
                      <a:endParaRPr lang="en-AU" sz="1800" b="1"/>
                    </a:p>
                  </a:txBody>
                  <a:tcPr/>
                </a:tc>
                <a:tc hMerge="1">
                  <a:txBody>
                    <a:bodyPr/>
                    <a:lstStyle/>
                    <a:p>
                      <a:pPr algn="ctr"/>
                      <a:endParaRPr lang="en-AU" sz="1800" b="1"/>
                    </a:p>
                  </a:txBody>
                  <a:tcPr/>
                </a:tc>
                <a:tc hMerge="1">
                  <a:txBody>
                    <a:bodyPr/>
                    <a:lstStyle/>
                    <a:p>
                      <a:pPr algn="ctr"/>
                      <a:endParaRPr lang="en-AU" sz="1800" b="1"/>
                    </a:p>
                  </a:txBody>
                  <a:tcPr/>
                </a:tc>
                <a:tc hMerge="1">
                  <a:txBody>
                    <a:bodyPr/>
                    <a:lstStyle/>
                    <a:p>
                      <a:pPr algn="ctr"/>
                      <a:endParaRPr lang="en-AU" sz="1800" b="1"/>
                    </a:p>
                  </a:txBody>
                  <a:tcPr/>
                </a:tc>
                <a:tc hMerge="1">
                  <a:txBody>
                    <a:bodyPr/>
                    <a:lstStyle/>
                    <a:p>
                      <a:pPr algn="ctr"/>
                      <a:endParaRPr lang="en-AU" sz="1800" b="1"/>
                    </a:p>
                  </a:txBody>
                  <a:tcPr/>
                </a:tc>
                <a:tc hMerge="1">
                  <a:txBody>
                    <a:bodyPr/>
                    <a:lstStyle/>
                    <a:p>
                      <a:pPr algn="ctr"/>
                      <a:endParaRPr lang="en-AU" sz="1800" b="1"/>
                    </a:p>
                  </a:txBody>
                  <a:tcPr/>
                </a:tc>
                <a:extLst>
                  <a:ext uri="{0D108BD9-81ED-4DB2-BD59-A6C34878D82A}">
                    <a16:rowId xmlns:a16="http://schemas.microsoft.com/office/drawing/2014/main" val="518352963"/>
                  </a:ext>
                </a:extLst>
              </a:tr>
              <a:tr h="370840">
                <a:tc>
                  <a:txBody>
                    <a:bodyPr/>
                    <a:lstStyle/>
                    <a:p>
                      <a:pPr algn="ctr"/>
                      <a:r>
                        <a:rPr lang="en-AU" sz="1800" b="1"/>
                        <a:t>Monday</a:t>
                      </a:r>
                    </a:p>
                  </a:txBody>
                  <a:tcPr/>
                </a:tc>
                <a:tc>
                  <a:txBody>
                    <a:bodyPr/>
                    <a:lstStyle/>
                    <a:p>
                      <a:pPr algn="ctr"/>
                      <a:r>
                        <a:rPr lang="en-AU" sz="1800" b="1"/>
                        <a:t>Tuesday</a:t>
                      </a:r>
                    </a:p>
                  </a:txBody>
                  <a:tcPr/>
                </a:tc>
                <a:tc>
                  <a:txBody>
                    <a:bodyPr/>
                    <a:lstStyle/>
                    <a:p>
                      <a:pPr algn="ctr"/>
                      <a:r>
                        <a:rPr lang="en-AU" sz="1800" b="1"/>
                        <a:t>Wednesday</a:t>
                      </a:r>
                    </a:p>
                  </a:txBody>
                  <a:tcPr/>
                </a:tc>
                <a:tc>
                  <a:txBody>
                    <a:bodyPr/>
                    <a:lstStyle/>
                    <a:p>
                      <a:pPr algn="ctr"/>
                      <a:r>
                        <a:rPr lang="en-AU" sz="1800" b="1">
                          <a:solidFill>
                            <a:schemeClr val="tx1"/>
                          </a:solidFill>
                        </a:rPr>
                        <a:t>Thursday</a:t>
                      </a:r>
                    </a:p>
                  </a:txBody>
                  <a:tcPr/>
                </a:tc>
                <a:tc>
                  <a:txBody>
                    <a:bodyPr/>
                    <a:lstStyle/>
                    <a:p>
                      <a:pPr algn="ctr"/>
                      <a:r>
                        <a:rPr lang="en-AU" sz="1800" b="1">
                          <a:solidFill>
                            <a:schemeClr val="tx1"/>
                          </a:solidFill>
                        </a:rPr>
                        <a:t>Friday</a:t>
                      </a:r>
                    </a:p>
                  </a:txBody>
                  <a:tcPr/>
                </a:tc>
                <a:tc>
                  <a:txBody>
                    <a:bodyPr/>
                    <a:lstStyle/>
                    <a:p>
                      <a:pPr algn="ctr"/>
                      <a:r>
                        <a:rPr lang="en-AU" sz="1800" b="1"/>
                        <a:t>Saturday</a:t>
                      </a:r>
                    </a:p>
                  </a:txBody>
                  <a:tcPr/>
                </a:tc>
                <a:tc>
                  <a:txBody>
                    <a:bodyPr/>
                    <a:lstStyle/>
                    <a:p>
                      <a:pPr algn="ctr"/>
                      <a:r>
                        <a:rPr lang="en-AU" sz="1800" b="1"/>
                        <a:t>Sunday</a:t>
                      </a:r>
                    </a:p>
                  </a:txBody>
                  <a:tcPr/>
                </a:tc>
                <a:extLst>
                  <a:ext uri="{0D108BD9-81ED-4DB2-BD59-A6C34878D82A}">
                    <a16:rowId xmlns:a16="http://schemas.microsoft.com/office/drawing/2014/main" val="2893934911"/>
                  </a:ext>
                </a:extLst>
              </a:tr>
              <a:tr h="370840">
                <a:tc>
                  <a:txBody>
                    <a:bodyPr/>
                    <a:lstStyle/>
                    <a:p>
                      <a:pPr algn="ctr"/>
                      <a:endParaRPr lang="en-AU" b="1"/>
                    </a:p>
                  </a:txBody>
                  <a:tcPr/>
                </a:tc>
                <a:tc>
                  <a:txBody>
                    <a:bodyPr/>
                    <a:lstStyle/>
                    <a:p>
                      <a:pPr algn="ctr"/>
                      <a:endParaRPr lang="en-AU" b="1"/>
                    </a:p>
                  </a:txBody>
                  <a:tcPr/>
                </a:tc>
                <a:tc>
                  <a:txBody>
                    <a:bodyPr/>
                    <a:lstStyle/>
                    <a:p>
                      <a:pPr algn="ctr"/>
                      <a:r>
                        <a:rPr lang="en-AU" b="1"/>
                        <a:t>1</a:t>
                      </a:r>
                    </a:p>
                  </a:txBody>
                  <a:tcPr/>
                </a:tc>
                <a:tc>
                  <a:txBody>
                    <a:bodyPr/>
                    <a:lstStyle/>
                    <a:p>
                      <a:pPr algn="ctr"/>
                      <a:r>
                        <a:rPr lang="en-AU" b="1"/>
                        <a:t>2</a:t>
                      </a:r>
                    </a:p>
                  </a:txBody>
                  <a:tcPr/>
                </a:tc>
                <a:tc>
                  <a:txBody>
                    <a:bodyPr/>
                    <a:lstStyle/>
                    <a:p>
                      <a:pPr algn="ctr"/>
                      <a:r>
                        <a:rPr lang="en-AU" b="1"/>
                        <a:t>3</a:t>
                      </a:r>
                    </a:p>
                  </a:txBody>
                  <a:tcPr/>
                </a:tc>
                <a:tc>
                  <a:txBody>
                    <a:bodyPr/>
                    <a:lstStyle/>
                    <a:p>
                      <a:pPr algn="ctr"/>
                      <a:r>
                        <a:rPr lang="en-AU" b="1"/>
                        <a:t>4</a:t>
                      </a:r>
                    </a:p>
                  </a:txBody>
                  <a:tcPr/>
                </a:tc>
                <a:tc>
                  <a:txBody>
                    <a:bodyPr/>
                    <a:lstStyle/>
                    <a:p>
                      <a:pPr algn="ctr"/>
                      <a:r>
                        <a:rPr lang="en-AU" b="1"/>
                        <a:t>5</a:t>
                      </a:r>
                    </a:p>
                  </a:txBody>
                  <a:tcPr/>
                </a:tc>
                <a:extLst>
                  <a:ext uri="{0D108BD9-81ED-4DB2-BD59-A6C34878D82A}">
                    <a16:rowId xmlns:a16="http://schemas.microsoft.com/office/drawing/2014/main" val="3160436123"/>
                  </a:ext>
                </a:extLst>
              </a:tr>
              <a:tr h="370840">
                <a:tc>
                  <a:txBody>
                    <a:bodyPr/>
                    <a:lstStyle/>
                    <a:p>
                      <a:pPr algn="ctr"/>
                      <a:r>
                        <a:rPr lang="en-AU" b="1" dirty="0"/>
                        <a:t>6</a:t>
                      </a:r>
                    </a:p>
                  </a:txBody>
                  <a:tcPr/>
                </a:tc>
                <a:tc>
                  <a:txBody>
                    <a:bodyPr/>
                    <a:lstStyle/>
                    <a:p>
                      <a:pPr algn="ctr"/>
                      <a:r>
                        <a:rPr lang="en-AU" b="1"/>
                        <a:t>7</a:t>
                      </a:r>
                    </a:p>
                  </a:txBody>
                  <a:tcPr/>
                </a:tc>
                <a:tc>
                  <a:txBody>
                    <a:bodyPr/>
                    <a:lstStyle/>
                    <a:p>
                      <a:pPr algn="ctr"/>
                      <a:r>
                        <a:rPr lang="en-AU" b="1"/>
                        <a:t>8</a:t>
                      </a:r>
                    </a:p>
                  </a:txBody>
                  <a:tcPr/>
                </a:tc>
                <a:tc>
                  <a:txBody>
                    <a:bodyPr/>
                    <a:lstStyle/>
                    <a:p>
                      <a:pPr algn="ctr"/>
                      <a:r>
                        <a:rPr lang="en-AU" b="1"/>
                        <a:t>9</a:t>
                      </a:r>
                    </a:p>
                  </a:txBody>
                  <a:tcPr/>
                </a:tc>
                <a:tc>
                  <a:txBody>
                    <a:bodyPr/>
                    <a:lstStyle/>
                    <a:p>
                      <a:pPr algn="ctr"/>
                      <a:r>
                        <a:rPr lang="en-AU" b="1"/>
                        <a:t>10</a:t>
                      </a:r>
                    </a:p>
                  </a:txBody>
                  <a:tcPr/>
                </a:tc>
                <a:tc>
                  <a:txBody>
                    <a:bodyPr/>
                    <a:lstStyle/>
                    <a:p>
                      <a:pPr algn="ctr"/>
                      <a:r>
                        <a:rPr lang="en-AU" b="1"/>
                        <a:t>11</a:t>
                      </a:r>
                    </a:p>
                  </a:txBody>
                  <a:tcPr/>
                </a:tc>
                <a:tc>
                  <a:txBody>
                    <a:bodyPr/>
                    <a:lstStyle/>
                    <a:p>
                      <a:pPr algn="ctr"/>
                      <a:r>
                        <a:rPr lang="en-AU" b="1"/>
                        <a:t>12</a:t>
                      </a:r>
                    </a:p>
                  </a:txBody>
                  <a:tcPr/>
                </a:tc>
                <a:extLst>
                  <a:ext uri="{0D108BD9-81ED-4DB2-BD59-A6C34878D82A}">
                    <a16:rowId xmlns:a16="http://schemas.microsoft.com/office/drawing/2014/main" val="3798766154"/>
                  </a:ext>
                </a:extLst>
              </a:tr>
              <a:tr h="370840">
                <a:tc>
                  <a:txBody>
                    <a:bodyPr/>
                    <a:lstStyle/>
                    <a:p>
                      <a:pPr algn="ctr"/>
                      <a:r>
                        <a:rPr lang="en-AU" b="1"/>
                        <a:t>13</a:t>
                      </a:r>
                    </a:p>
                  </a:txBody>
                  <a:tcPr/>
                </a:tc>
                <a:tc>
                  <a:txBody>
                    <a:bodyPr/>
                    <a:lstStyle/>
                    <a:p>
                      <a:pPr algn="ctr"/>
                      <a:r>
                        <a:rPr lang="en-AU" b="1"/>
                        <a:t>14</a:t>
                      </a:r>
                    </a:p>
                  </a:txBody>
                  <a:tcPr/>
                </a:tc>
                <a:tc>
                  <a:txBody>
                    <a:bodyPr/>
                    <a:lstStyle/>
                    <a:p>
                      <a:pPr algn="ctr"/>
                      <a:r>
                        <a:rPr lang="en-AU" b="1" dirty="0"/>
                        <a:t>15</a:t>
                      </a:r>
                    </a:p>
                  </a:txBody>
                  <a:tcPr/>
                </a:tc>
                <a:tc>
                  <a:txBody>
                    <a:bodyPr/>
                    <a:lstStyle/>
                    <a:p>
                      <a:pPr algn="ctr"/>
                      <a:r>
                        <a:rPr lang="en-AU" b="1"/>
                        <a:t>16</a:t>
                      </a:r>
                    </a:p>
                  </a:txBody>
                  <a:tcPr/>
                </a:tc>
                <a:tc>
                  <a:txBody>
                    <a:bodyPr/>
                    <a:lstStyle/>
                    <a:p>
                      <a:pPr algn="ctr"/>
                      <a:r>
                        <a:rPr lang="en-AU" b="1"/>
                        <a:t>17</a:t>
                      </a:r>
                    </a:p>
                  </a:txBody>
                  <a:tcPr/>
                </a:tc>
                <a:tc>
                  <a:txBody>
                    <a:bodyPr/>
                    <a:lstStyle/>
                    <a:p>
                      <a:pPr algn="ctr"/>
                      <a:r>
                        <a:rPr lang="en-AU" b="1"/>
                        <a:t>18</a:t>
                      </a:r>
                    </a:p>
                  </a:txBody>
                  <a:tcPr/>
                </a:tc>
                <a:tc>
                  <a:txBody>
                    <a:bodyPr/>
                    <a:lstStyle/>
                    <a:p>
                      <a:pPr algn="ctr"/>
                      <a:r>
                        <a:rPr lang="en-AU" b="1"/>
                        <a:t>19</a:t>
                      </a:r>
                    </a:p>
                  </a:txBody>
                  <a:tcPr/>
                </a:tc>
                <a:extLst>
                  <a:ext uri="{0D108BD9-81ED-4DB2-BD59-A6C34878D82A}">
                    <a16:rowId xmlns:a16="http://schemas.microsoft.com/office/drawing/2014/main" val="1110845830"/>
                  </a:ext>
                </a:extLst>
              </a:tr>
              <a:tr h="370840">
                <a:tc>
                  <a:txBody>
                    <a:bodyPr/>
                    <a:lstStyle/>
                    <a:p>
                      <a:pPr algn="ctr"/>
                      <a:r>
                        <a:rPr lang="en-AU" b="1"/>
                        <a:t>20</a:t>
                      </a:r>
                    </a:p>
                  </a:txBody>
                  <a:tcPr/>
                </a:tc>
                <a:tc>
                  <a:txBody>
                    <a:bodyPr/>
                    <a:lstStyle/>
                    <a:p>
                      <a:pPr algn="ctr"/>
                      <a:r>
                        <a:rPr lang="en-AU" b="1"/>
                        <a:t>21</a:t>
                      </a:r>
                    </a:p>
                  </a:txBody>
                  <a:tcPr/>
                </a:tc>
                <a:tc>
                  <a:txBody>
                    <a:bodyPr/>
                    <a:lstStyle/>
                    <a:p>
                      <a:pPr algn="ctr"/>
                      <a:r>
                        <a:rPr lang="en-AU" b="1"/>
                        <a:t>22</a:t>
                      </a:r>
                    </a:p>
                  </a:txBody>
                  <a:tcPr/>
                </a:tc>
                <a:tc>
                  <a:txBody>
                    <a:bodyPr/>
                    <a:lstStyle/>
                    <a:p>
                      <a:pPr algn="ctr"/>
                      <a:r>
                        <a:rPr lang="en-AU" b="1"/>
                        <a:t>23</a:t>
                      </a:r>
                    </a:p>
                  </a:txBody>
                  <a:tcPr/>
                </a:tc>
                <a:tc>
                  <a:txBody>
                    <a:bodyPr/>
                    <a:lstStyle/>
                    <a:p>
                      <a:pPr algn="ctr"/>
                      <a:r>
                        <a:rPr lang="en-AU" b="1"/>
                        <a:t>24</a:t>
                      </a:r>
                    </a:p>
                  </a:txBody>
                  <a:tcPr/>
                </a:tc>
                <a:tc>
                  <a:txBody>
                    <a:bodyPr/>
                    <a:lstStyle/>
                    <a:p>
                      <a:pPr algn="ctr"/>
                      <a:r>
                        <a:rPr lang="en-AU" b="1"/>
                        <a:t>25</a:t>
                      </a:r>
                    </a:p>
                  </a:txBody>
                  <a:tcPr/>
                </a:tc>
                <a:tc>
                  <a:txBody>
                    <a:bodyPr/>
                    <a:lstStyle/>
                    <a:p>
                      <a:pPr algn="ctr"/>
                      <a:r>
                        <a:rPr lang="en-AU" b="1"/>
                        <a:t>26</a:t>
                      </a:r>
                    </a:p>
                  </a:txBody>
                  <a:tcPr/>
                </a:tc>
                <a:extLst>
                  <a:ext uri="{0D108BD9-81ED-4DB2-BD59-A6C34878D82A}">
                    <a16:rowId xmlns:a16="http://schemas.microsoft.com/office/drawing/2014/main" val="2543866529"/>
                  </a:ext>
                </a:extLst>
              </a:tr>
              <a:tr h="370840">
                <a:tc>
                  <a:txBody>
                    <a:bodyPr/>
                    <a:lstStyle/>
                    <a:p>
                      <a:pPr algn="ctr"/>
                      <a:r>
                        <a:rPr lang="en-AU" b="1"/>
                        <a:t>27</a:t>
                      </a:r>
                    </a:p>
                  </a:txBody>
                  <a:tcPr/>
                </a:tc>
                <a:tc>
                  <a:txBody>
                    <a:bodyPr/>
                    <a:lstStyle/>
                    <a:p>
                      <a:pPr algn="ctr"/>
                      <a:r>
                        <a:rPr lang="en-AU" b="1"/>
                        <a:t>28</a:t>
                      </a:r>
                    </a:p>
                  </a:txBody>
                  <a:tcPr/>
                </a:tc>
                <a:tc>
                  <a:txBody>
                    <a:bodyPr/>
                    <a:lstStyle/>
                    <a:p>
                      <a:pPr algn="ctr"/>
                      <a:r>
                        <a:rPr lang="en-AU" b="1"/>
                        <a:t>29</a:t>
                      </a:r>
                    </a:p>
                  </a:txBody>
                  <a:tcPr/>
                </a:tc>
                <a:tc>
                  <a:txBody>
                    <a:bodyPr/>
                    <a:lstStyle/>
                    <a:p>
                      <a:pPr algn="ctr"/>
                      <a:r>
                        <a:rPr lang="en-AU" b="1"/>
                        <a:t>30</a:t>
                      </a:r>
                    </a:p>
                  </a:txBody>
                  <a:tcPr/>
                </a:tc>
                <a:tc>
                  <a:txBody>
                    <a:bodyPr/>
                    <a:lstStyle/>
                    <a:p>
                      <a:pPr algn="ctr"/>
                      <a:endParaRPr lang="en-AU" b="1"/>
                    </a:p>
                  </a:txBody>
                  <a:tcPr/>
                </a:tc>
                <a:tc>
                  <a:txBody>
                    <a:bodyPr/>
                    <a:lstStyle/>
                    <a:p>
                      <a:pPr algn="ctr"/>
                      <a:endParaRPr lang="en-AU" b="1"/>
                    </a:p>
                  </a:txBody>
                  <a:tcPr/>
                </a:tc>
                <a:tc>
                  <a:txBody>
                    <a:bodyPr/>
                    <a:lstStyle/>
                    <a:p>
                      <a:pPr algn="ctr"/>
                      <a:endParaRPr lang="en-AU" b="1" dirty="0"/>
                    </a:p>
                  </a:txBody>
                  <a:tcPr/>
                </a:tc>
                <a:extLst>
                  <a:ext uri="{0D108BD9-81ED-4DB2-BD59-A6C34878D82A}">
                    <a16:rowId xmlns:a16="http://schemas.microsoft.com/office/drawing/2014/main" val="369517797"/>
                  </a:ext>
                </a:extLst>
              </a:tr>
            </a:tbl>
          </a:graphicData>
        </a:graphic>
      </p:graphicFrame>
      <p:sp>
        <p:nvSpPr>
          <p:cNvPr id="7" name="TextBox 6">
            <a:extLst>
              <a:ext uri="{FF2B5EF4-FFF2-40B4-BE49-F238E27FC236}">
                <a16:creationId xmlns:a16="http://schemas.microsoft.com/office/drawing/2014/main" id="{37ED58E2-0147-6C98-9CC4-436182CB8F6F}"/>
              </a:ext>
            </a:extLst>
          </p:cNvPr>
          <p:cNvSpPr txBox="1"/>
          <p:nvPr/>
        </p:nvSpPr>
        <p:spPr>
          <a:xfrm>
            <a:off x="854766" y="4403035"/>
            <a:ext cx="10535476" cy="1172817"/>
          </a:xfrm>
          <a:prstGeom prst="rect">
            <a:avLst/>
          </a:prstGeom>
          <a:noFill/>
        </p:spPr>
        <p:txBody>
          <a:bodyPr wrap="square" lIns="0" tIns="0" rIns="0" bIns="0" rtlCol="0">
            <a:noAutofit/>
          </a:bodyPr>
          <a:lstStyle/>
          <a:p>
            <a:pPr algn="ctr">
              <a:lnSpc>
                <a:spcPct val="150000"/>
              </a:lnSpc>
            </a:pPr>
            <a:r>
              <a:rPr lang="en-AU" sz="4400"/>
              <a:t>It is </a:t>
            </a:r>
            <a:r>
              <a:rPr lang="en-AU" sz="4400" b="1"/>
              <a:t>Friday 10 </a:t>
            </a:r>
            <a:r>
              <a:rPr lang="en-AU" sz="4400"/>
              <a:t>September. </a:t>
            </a:r>
            <a:r>
              <a:rPr lang="en-AU" sz="4400" b="1"/>
              <a:t>How many</a:t>
            </a:r>
            <a:r>
              <a:rPr lang="en-AU" sz="4400"/>
              <a:t> days until it will be </a:t>
            </a:r>
            <a:r>
              <a:rPr lang="en-AU" sz="4400" b="1"/>
              <a:t>October</a:t>
            </a:r>
            <a:r>
              <a:rPr lang="en-AU" sz="4400"/>
              <a:t>?</a:t>
            </a:r>
          </a:p>
        </p:txBody>
      </p:sp>
    </p:spTree>
    <p:extLst>
      <p:ext uri="{BB962C8B-B14F-4D97-AF65-F5344CB8AC3E}">
        <p14:creationId xmlns:p14="http://schemas.microsoft.com/office/powerpoint/2010/main" val="1056990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38</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5 – strike it out</a:t>
            </a:r>
            <a:endParaRPr lang="en-US">
              <a:latin typeface="Arial"/>
              <a:cs typeface="Arial"/>
            </a:endParaRPr>
          </a:p>
        </p:txBody>
      </p:sp>
      <p:sp>
        <p:nvSpPr>
          <p:cNvPr id="30" name="TextBox 29">
            <a:extLst>
              <a:ext uri="{FF2B5EF4-FFF2-40B4-BE49-F238E27FC236}">
                <a16:creationId xmlns:a16="http://schemas.microsoft.com/office/drawing/2014/main" id="{86EF8F77-B869-6F13-9B11-6AADEB224891}"/>
              </a:ext>
            </a:extLst>
          </p:cNvPr>
          <p:cNvSpPr txBox="1"/>
          <p:nvPr/>
        </p:nvSpPr>
        <p:spPr>
          <a:xfrm>
            <a:off x="398809" y="3018245"/>
            <a:ext cx="5356013" cy="3497755"/>
          </a:xfrm>
          <a:prstGeom prst="rect">
            <a:avLst/>
          </a:prstGeom>
          <a:noFill/>
        </p:spPr>
        <p:txBody>
          <a:bodyPr wrap="square" lIns="0" tIns="0" rIns="0" bIns="0" rtlCol="0">
            <a:noAutofit/>
          </a:bodyPr>
          <a:lstStyle/>
          <a:p>
            <a:pPr marL="0" marR="0" lvl="0" indent="0" defTabSz="609585" rtl="0" eaLnBrk="1" fontAlgn="auto" latinLnBrk="0" hangingPunct="1">
              <a:lnSpc>
                <a:spcPct val="150000"/>
              </a:lnSpc>
              <a:spcBef>
                <a:spcPts val="0"/>
              </a:spcBef>
              <a:spcAft>
                <a:spcPts val="0"/>
              </a:spcAft>
              <a:buClrTx/>
              <a:buSzTx/>
              <a:buFontTx/>
              <a:buNone/>
              <a:tabLst/>
              <a:defRPr/>
            </a:pPr>
            <a:r>
              <a:rPr kumimoji="0" lang="en-AU" sz="3200" i="0" u="none" strike="noStrike" kern="1200" cap="none" spc="0" normalizeH="0" baseline="0" noProof="0">
                <a:ln>
                  <a:noFill/>
                </a:ln>
                <a:solidFill>
                  <a:schemeClr val="accent2"/>
                </a:solidFill>
                <a:effectLst/>
                <a:uLnTx/>
                <a:uFillTx/>
                <a:latin typeface="Edu NSW ACT Foundation" pitchFamily="2" charset="0"/>
                <a:cs typeface="Arial" panose="020B0604020202020204" pitchFamily="34" charset="0"/>
              </a:rPr>
              <a:t>Player 1 </a:t>
            </a:r>
          </a:p>
          <a:p>
            <a:pPr marL="571500" marR="0" lvl="0" indent="-571500"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2800" i="0" u="none" strike="noStrike" kern="1200" cap="none" spc="0" normalizeH="0" baseline="0" noProof="0">
                <a:ln>
                  <a:noFill/>
                </a:ln>
                <a:solidFill>
                  <a:srgbClr val="22272B"/>
                </a:solidFill>
                <a:effectLst/>
                <a:uLnTx/>
                <a:uFillTx/>
                <a:latin typeface="Edu NSW ACT Foundation" pitchFamily="2" charset="0"/>
                <a:cs typeface="Arial" panose="020B0604020202020204" pitchFamily="34" charset="0"/>
              </a:rPr>
              <a:t>choose 2 numbers and cross them out</a:t>
            </a:r>
          </a:p>
          <a:p>
            <a:pPr marL="571500" marR="0" lvl="0" indent="-571500"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AU" sz="2800">
                <a:solidFill>
                  <a:srgbClr val="22272B"/>
                </a:solidFill>
                <a:latin typeface="Edu NSW ACT Foundation" pitchFamily="2" charset="0"/>
                <a:cs typeface="Arial" panose="020B0604020202020204" pitchFamily="34" charset="0"/>
              </a:rPr>
              <a:t>c</a:t>
            </a:r>
            <a:r>
              <a:rPr kumimoji="0" lang="en-AU" sz="2800" i="0" u="none" strike="noStrike" kern="1200" cap="none" spc="0" normalizeH="0" baseline="0" noProof="0" err="1">
                <a:ln>
                  <a:noFill/>
                </a:ln>
                <a:solidFill>
                  <a:srgbClr val="22272B"/>
                </a:solidFill>
                <a:effectLst/>
                <a:uLnTx/>
                <a:uFillTx/>
                <a:latin typeface="Edu NSW ACT Foundation" pitchFamily="2" charset="0"/>
                <a:cs typeface="Arial" panose="020B0604020202020204" pitchFamily="34" charset="0"/>
              </a:rPr>
              <a:t>ircle</a:t>
            </a:r>
            <a:r>
              <a:rPr kumimoji="0" lang="en-AU" sz="2800" i="0" u="none" strike="noStrike" kern="1200" cap="none" spc="0" normalizeH="0" baseline="0" noProof="0">
                <a:ln>
                  <a:noFill/>
                </a:ln>
                <a:solidFill>
                  <a:srgbClr val="22272B"/>
                </a:solidFill>
                <a:effectLst/>
                <a:uLnTx/>
                <a:uFillTx/>
                <a:latin typeface="Edu NSW ACT Foundation" pitchFamily="2" charset="0"/>
                <a:cs typeface="Arial" panose="020B0604020202020204" pitchFamily="34" charset="0"/>
              </a:rPr>
              <a:t> the sum or difference</a:t>
            </a:r>
          </a:p>
          <a:p>
            <a:pPr marL="571500" marR="0" lvl="0" indent="-571500"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2800" i="0" u="none" strike="noStrike" kern="1200" cap="none" spc="0" normalizeH="0" baseline="0" noProof="0">
                <a:ln>
                  <a:noFill/>
                </a:ln>
                <a:solidFill>
                  <a:srgbClr val="22272B"/>
                </a:solidFill>
                <a:effectLst/>
                <a:uLnTx/>
                <a:uFillTx/>
                <a:latin typeface="Edu NSW ACT Foundation" pitchFamily="2" charset="0"/>
                <a:cs typeface="Arial" panose="020B0604020202020204" pitchFamily="34" charset="0"/>
              </a:rPr>
              <a:t>record a number sentence</a:t>
            </a:r>
          </a:p>
          <a:p>
            <a:pPr marL="0" marR="0" lvl="0" indent="0" defTabSz="609585" rtl="0" eaLnBrk="1" fontAlgn="auto" latinLnBrk="0" hangingPunct="1">
              <a:lnSpc>
                <a:spcPct val="150000"/>
              </a:lnSpc>
              <a:spcBef>
                <a:spcPts val="0"/>
              </a:spcBef>
              <a:spcAft>
                <a:spcPts val="0"/>
              </a:spcAft>
              <a:buClrTx/>
              <a:buSzTx/>
              <a:buFontTx/>
              <a:buNone/>
              <a:tabLst/>
              <a:defRPr/>
            </a:pPr>
            <a:endParaRPr kumimoji="0" lang="en-AU" sz="3600" i="0" u="none" strike="noStrike" kern="1200" cap="none" spc="0" normalizeH="0" baseline="0" noProof="0">
              <a:ln>
                <a:noFill/>
              </a:ln>
              <a:solidFill>
                <a:srgbClr val="22272B"/>
              </a:solidFill>
              <a:effectLst/>
              <a:uLnTx/>
              <a:uFillTx/>
              <a:latin typeface="Edu NSW ACT Foundation" pitchFamily="2" charset="0"/>
              <a:cs typeface="Arial" panose="020B0604020202020204" pitchFamily="34" charset="0"/>
            </a:endParaRPr>
          </a:p>
          <a:p>
            <a:pPr marL="0" marR="0" lvl="0" indent="0" algn="ctr" defTabSz="609585" rtl="0" eaLnBrk="1" fontAlgn="auto" latinLnBrk="0" hangingPunct="1">
              <a:lnSpc>
                <a:spcPct val="150000"/>
              </a:lnSpc>
              <a:spcBef>
                <a:spcPts val="0"/>
              </a:spcBef>
              <a:spcAft>
                <a:spcPts val="0"/>
              </a:spcAft>
              <a:buClrTx/>
              <a:buSzTx/>
              <a:buFontTx/>
              <a:buNone/>
              <a:tabLst/>
              <a:defRPr/>
            </a:pPr>
            <a:endParaRPr kumimoji="0" lang="en-AU" sz="44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a:p>
            <a:pPr marL="0" marR="0" lvl="0" indent="0" algn="ctr" defTabSz="609585" rtl="0" eaLnBrk="1" fontAlgn="auto" latinLnBrk="0" hangingPunct="1">
              <a:lnSpc>
                <a:spcPct val="150000"/>
              </a:lnSpc>
              <a:spcBef>
                <a:spcPts val="0"/>
              </a:spcBef>
              <a:spcAft>
                <a:spcPts val="0"/>
              </a:spcAft>
              <a:buClrTx/>
              <a:buSzTx/>
              <a:buFontTx/>
              <a:buNone/>
              <a:tabLst/>
              <a:defRPr/>
            </a:pPr>
            <a:endParaRPr kumimoji="0" lang="en-AU" sz="4400" b="1"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p:txBody>
      </p:sp>
      <p:grpSp>
        <p:nvGrpSpPr>
          <p:cNvPr id="50" name="Group 49" descr="A horizontal number line ranging from 0 to 20, marked at each whole number with vertical ticks and an arrow pointing to the right.">
            <a:extLst>
              <a:ext uri="{FF2B5EF4-FFF2-40B4-BE49-F238E27FC236}">
                <a16:creationId xmlns:a16="http://schemas.microsoft.com/office/drawing/2014/main" id="{0B582C26-C312-B065-3BC8-8E3505476C88}"/>
              </a:ext>
            </a:extLst>
          </p:cNvPr>
          <p:cNvGrpSpPr/>
          <p:nvPr/>
        </p:nvGrpSpPr>
        <p:grpSpPr>
          <a:xfrm>
            <a:off x="1257304" y="1578758"/>
            <a:ext cx="10128978" cy="766329"/>
            <a:chOff x="1023314" y="4780905"/>
            <a:chExt cx="10128978" cy="766329"/>
          </a:xfrm>
        </p:grpSpPr>
        <p:grpSp>
          <p:nvGrpSpPr>
            <p:cNvPr id="29" name="Group 28">
              <a:extLst>
                <a:ext uri="{FF2B5EF4-FFF2-40B4-BE49-F238E27FC236}">
                  <a16:creationId xmlns:a16="http://schemas.microsoft.com/office/drawing/2014/main" id="{3C76D660-60E0-EA64-52ED-5E0A2A589D0E}"/>
                </a:ext>
              </a:extLst>
            </p:cNvPr>
            <p:cNvGrpSpPr/>
            <p:nvPr/>
          </p:nvGrpSpPr>
          <p:grpSpPr>
            <a:xfrm>
              <a:off x="1023314" y="4780905"/>
              <a:ext cx="10128978" cy="761339"/>
              <a:chOff x="426026" y="1910622"/>
              <a:chExt cx="10128978" cy="761339"/>
            </a:xfrm>
          </p:grpSpPr>
          <p:sp>
            <p:nvSpPr>
              <p:cNvPr id="5" name="AutoShape 2">
                <a:extLst>
                  <a:ext uri="{FF2B5EF4-FFF2-40B4-BE49-F238E27FC236}">
                    <a16:creationId xmlns:a16="http://schemas.microsoft.com/office/drawing/2014/main" id="{A38E83EC-6044-D986-6BCC-0FF3D801B0FB}"/>
                  </a:ext>
                </a:extLst>
              </p:cNvPr>
              <p:cNvSpPr/>
              <p:nvPr/>
            </p:nvSpPr>
            <p:spPr>
              <a:xfrm flipV="1">
                <a:off x="524848" y="2077725"/>
                <a:ext cx="9847333" cy="0"/>
              </a:xfrm>
              <a:prstGeom prst="line">
                <a:avLst/>
              </a:prstGeom>
              <a:ln w="38100" cap="flat">
                <a:solidFill>
                  <a:srgbClr val="000000"/>
                </a:solidFill>
                <a:prstDash val="solid"/>
                <a:headEnd type="none" w="sm" len="sm"/>
                <a:tailEnd type="arrow" w="med"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6" name="AutoShape 3">
                <a:extLst>
                  <a:ext uri="{FF2B5EF4-FFF2-40B4-BE49-F238E27FC236}">
                    <a16:creationId xmlns:a16="http://schemas.microsoft.com/office/drawing/2014/main" id="{19CAFCB4-12DC-6EEE-73B3-F5BD8BB6B8FD}"/>
                  </a:ext>
                </a:extLst>
              </p:cNvPr>
              <p:cNvSpPr/>
              <p:nvPr/>
            </p:nvSpPr>
            <p:spPr>
              <a:xfrm flipV="1">
                <a:off x="543898"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 name="AutoShape 4">
                <a:extLst>
                  <a:ext uri="{FF2B5EF4-FFF2-40B4-BE49-F238E27FC236}">
                    <a16:creationId xmlns:a16="http://schemas.microsoft.com/office/drawing/2014/main" id="{3C7A4DEF-19B3-DFBD-9002-A3E6BC6A0A93}"/>
                  </a:ext>
                </a:extLst>
              </p:cNvPr>
              <p:cNvSpPr/>
              <p:nvPr/>
            </p:nvSpPr>
            <p:spPr>
              <a:xfrm flipV="1">
                <a:off x="10181063"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8" name="AutoShape 5">
                <a:extLst>
                  <a:ext uri="{FF2B5EF4-FFF2-40B4-BE49-F238E27FC236}">
                    <a16:creationId xmlns:a16="http://schemas.microsoft.com/office/drawing/2014/main" id="{5B8CF116-0447-2329-BA11-3836D9B3D2AA}"/>
                  </a:ext>
                </a:extLst>
              </p:cNvPr>
              <p:cNvSpPr/>
              <p:nvPr/>
            </p:nvSpPr>
            <p:spPr>
              <a:xfrm flipV="1">
                <a:off x="5362480"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9" name="AutoShape 6">
                <a:extLst>
                  <a:ext uri="{FF2B5EF4-FFF2-40B4-BE49-F238E27FC236}">
                    <a16:creationId xmlns:a16="http://schemas.microsoft.com/office/drawing/2014/main" id="{CD71434E-07E7-72CD-6D11-1DDBF0BFEA59}"/>
                  </a:ext>
                </a:extLst>
              </p:cNvPr>
              <p:cNvSpPr/>
              <p:nvPr/>
            </p:nvSpPr>
            <p:spPr>
              <a:xfrm flipV="1">
                <a:off x="1507614"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0" name="AutoShape 7">
                <a:extLst>
                  <a:ext uri="{FF2B5EF4-FFF2-40B4-BE49-F238E27FC236}">
                    <a16:creationId xmlns:a16="http://schemas.microsoft.com/office/drawing/2014/main" id="{79E351BA-C085-554A-1EB8-87FF56AE5C25}"/>
                  </a:ext>
                </a:extLst>
              </p:cNvPr>
              <p:cNvSpPr/>
              <p:nvPr/>
            </p:nvSpPr>
            <p:spPr>
              <a:xfrm flipV="1">
                <a:off x="1989473"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1" name="AutoShape 8">
                <a:extLst>
                  <a:ext uri="{FF2B5EF4-FFF2-40B4-BE49-F238E27FC236}">
                    <a16:creationId xmlns:a16="http://schemas.microsoft.com/office/drawing/2014/main" id="{B5A72EEC-C272-CFF9-F477-9DFE88295E3B}"/>
                  </a:ext>
                </a:extLst>
              </p:cNvPr>
              <p:cNvSpPr/>
              <p:nvPr/>
            </p:nvSpPr>
            <p:spPr>
              <a:xfrm flipV="1">
                <a:off x="2471331"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2" name="AutoShape 9">
                <a:extLst>
                  <a:ext uri="{FF2B5EF4-FFF2-40B4-BE49-F238E27FC236}">
                    <a16:creationId xmlns:a16="http://schemas.microsoft.com/office/drawing/2014/main" id="{C607B2C9-2967-0C43-AB6E-4BECBE751D31}"/>
                  </a:ext>
                </a:extLst>
              </p:cNvPr>
              <p:cNvSpPr/>
              <p:nvPr/>
            </p:nvSpPr>
            <p:spPr>
              <a:xfrm flipV="1">
                <a:off x="2953189"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3" name="AutoShape 10">
                <a:extLst>
                  <a:ext uri="{FF2B5EF4-FFF2-40B4-BE49-F238E27FC236}">
                    <a16:creationId xmlns:a16="http://schemas.microsoft.com/office/drawing/2014/main" id="{EA572F16-AEA1-8E38-C01D-556CCE0164D5}"/>
                  </a:ext>
                </a:extLst>
              </p:cNvPr>
              <p:cNvSpPr/>
              <p:nvPr/>
            </p:nvSpPr>
            <p:spPr>
              <a:xfrm flipV="1">
                <a:off x="3435047"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4" name="AutoShape 11">
                <a:extLst>
                  <a:ext uri="{FF2B5EF4-FFF2-40B4-BE49-F238E27FC236}">
                    <a16:creationId xmlns:a16="http://schemas.microsoft.com/office/drawing/2014/main" id="{76503998-8E6F-194E-C535-04192CDA28EC}"/>
                  </a:ext>
                </a:extLst>
              </p:cNvPr>
              <p:cNvSpPr/>
              <p:nvPr/>
            </p:nvSpPr>
            <p:spPr>
              <a:xfrm flipV="1">
                <a:off x="3916906"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5" name="AutoShape 12">
                <a:extLst>
                  <a:ext uri="{FF2B5EF4-FFF2-40B4-BE49-F238E27FC236}">
                    <a16:creationId xmlns:a16="http://schemas.microsoft.com/office/drawing/2014/main" id="{70D939A1-D880-D8D7-DCD3-3184A4D6ECBB}"/>
                  </a:ext>
                </a:extLst>
              </p:cNvPr>
              <p:cNvSpPr/>
              <p:nvPr/>
            </p:nvSpPr>
            <p:spPr>
              <a:xfrm flipV="1">
                <a:off x="4398764"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6" name="AutoShape 13">
                <a:extLst>
                  <a:ext uri="{FF2B5EF4-FFF2-40B4-BE49-F238E27FC236}">
                    <a16:creationId xmlns:a16="http://schemas.microsoft.com/office/drawing/2014/main" id="{DA842703-4971-89DC-4FFF-97BE23244FC6}"/>
                  </a:ext>
                </a:extLst>
              </p:cNvPr>
              <p:cNvSpPr/>
              <p:nvPr/>
            </p:nvSpPr>
            <p:spPr>
              <a:xfrm flipV="1">
                <a:off x="4880622"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7" name="AutoShape 14">
                <a:extLst>
                  <a:ext uri="{FF2B5EF4-FFF2-40B4-BE49-F238E27FC236}">
                    <a16:creationId xmlns:a16="http://schemas.microsoft.com/office/drawing/2014/main" id="{4CED69F5-F4D5-0958-7428-0D52DCF4F089}"/>
                  </a:ext>
                </a:extLst>
              </p:cNvPr>
              <p:cNvSpPr/>
              <p:nvPr/>
            </p:nvSpPr>
            <p:spPr>
              <a:xfrm flipV="1">
                <a:off x="5844339"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8" name="AutoShape 15">
                <a:extLst>
                  <a:ext uri="{FF2B5EF4-FFF2-40B4-BE49-F238E27FC236}">
                    <a16:creationId xmlns:a16="http://schemas.microsoft.com/office/drawing/2014/main" id="{6BD5C548-0723-CC61-F22A-095A94625541}"/>
                  </a:ext>
                </a:extLst>
              </p:cNvPr>
              <p:cNvSpPr/>
              <p:nvPr/>
            </p:nvSpPr>
            <p:spPr>
              <a:xfrm flipV="1">
                <a:off x="6326197"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19" name="AutoShape 16">
                <a:extLst>
                  <a:ext uri="{FF2B5EF4-FFF2-40B4-BE49-F238E27FC236}">
                    <a16:creationId xmlns:a16="http://schemas.microsoft.com/office/drawing/2014/main" id="{260F93E0-FBF5-D7E9-ED6B-2ACF1376970A}"/>
                  </a:ext>
                </a:extLst>
              </p:cNvPr>
              <p:cNvSpPr/>
              <p:nvPr/>
            </p:nvSpPr>
            <p:spPr>
              <a:xfrm flipV="1">
                <a:off x="6808055"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0" name="AutoShape 17">
                <a:extLst>
                  <a:ext uri="{FF2B5EF4-FFF2-40B4-BE49-F238E27FC236}">
                    <a16:creationId xmlns:a16="http://schemas.microsoft.com/office/drawing/2014/main" id="{43B7E254-9F22-30F5-6EBF-41F11C098EBE}"/>
                  </a:ext>
                </a:extLst>
              </p:cNvPr>
              <p:cNvSpPr/>
              <p:nvPr/>
            </p:nvSpPr>
            <p:spPr>
              <a:xfrm flipV="1">
                <a:off x="7289913"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1" name="AutoShape 18">
                <a:extLst>
                  <a:ext uri="{FF2B5EF4-FFF2-40B4-BE49-F238E27FC236}">
                    <a16:creationId xmlns:a16="http://schemas.microsoft.com/office/drawing/2014/main" id="{DF238015-BEA3-BD9B-829F-DF826454124A}"/>
                  </a:ext>
                </a:extLst>
              </p:cNvPr>
              <p:cNvSpPr/>
              <p:nvPr/>
            </p:nvSpPr>
            <p:spPr>
              <a:xfrm flipV="1">
                <a:off x="7771772"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2" name="AutoShape 19">
                <a:extLst>
                  <a:ext uri="{FF2B5EF4-FFF2-40B4-BE49-F238E27FC236}">
                    <a16:creationId xmlns:a16="http://schemas.microsoft.com/office/drawing/2014/main" id="{6F49D781-A75F-158F-D8C8-44A9AA26DB37}"/>
                  </a:ext>
                </a:extLst>
              </p:cNvPr>
              <p:cNvSpPr/>
              <p:nvPr/>
            </p:nvSpPr>
            <p:spPr>
              <a:xfrm flipV="1">
                <a:off x="8253630"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3" name="AutoShape 20">
                <a:extLst>
                  <a:ext uri="{FF2B5EF4-FFF2-40B4-BE49-F238E27FC236}">
                    <a16:creationId xmlns:a16="http://schemas.microsoft.com/office/drawing/2014/main" id="{D0B8BE62-0FF9-F944-9BD5-60AB763FCD99}"/>
                  </a:ext>
                </a:extLst>
              </p:cNvPr>
              <p:cNvSpPr/>
              <p:nvPr/>
            </p:nvSpPr>
            <p:spPr>
              <a:xfrm flipV="1">
                <a:off x="8735488"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4" name="AutoShape 21">
                <a:extLst>
                  <a:ext uri="{FF2B5EF4-FFF2-40B4-BE49-F238E27FC236}">
                    <a16:creationId xmlns:a16="http://schemas.microsoft.com/office/drawing/2014/main" id="{98D04D05-E531-5934-BD45-B989F1D81556}"/>
                  </a:ext>
                </a:extLst>
              </p:cNvPr>
              <p:cNvSpPr/>
              <p:nvPr/>
            </p:nvSpPr>
            <p:spPr>
              <a:xfrm flipV="1">
                <a:off x="9217346"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5" name="AutoShape 22">
                <a:extLst>
                  <a:ext uri="{FF2B5EF4-FFF2-40B4-BE49-F238E27FC236}">
                    <a16:creationId xmlns:a16="http://schemas.microsoft.com/office/drawing/2014/main" id="{066BC07C-9F28-2491-4FA9-03A9344EC844}"/>
                  </a:ext>
                </a:extLst>
              </p:cNvPr>
              <p:cNvSpPr/>
              <p:nvPr/>
            </p:nvSpPr>
            <p:spPr>
              <a:xfrm flipV="1">
                <a:off x="9699205"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6" name="AutoShape 23">
                <a:extLst>
                  <a:ext uri="{FF2B5EF4-FFF2-40B4-BE49-F238E27FC236}">
                    <a16:creationId xmlns:a16="http://schemas.microsoft.com/office/drawing/2014/main" id="{6BBC59D6-336C-1470-0E74-AE703044E767}"/>
                  </a:ext>
                </a:extLst>
              </p:cNvPr>
              <p:cNvSpPr/>
              <p:nvPr/>
            </p:nvSpPr>
            <p:spPr>
              <a:xfrm flipV="1">
                <a:off x="1025756" y="1910622"/>
                <a:ext cx="0" cy="334205"/>
              </a:xfrm>
              <a:prstGeom prst="line">
                <a:avLst/>
              </a:prstGeom>
              <a:ln w="38100" cap="flat">
                <a:solidFill>
                  <a:srgbClr val="000000"/>
                </a:solidFill>
                <a:prstDash val="solid"/>
                <a:headEnd type="none" w="sm" len="sm"/>
                <a:tailEnd type="none" w="sm" len="sm"/>
              </a:ln>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7" name="TextBox 24">
                <a:extLst>
                  <a:ext uri="{FF2B5EF4-FFF2-40B4-BE49-F238E27FC236}">
                    <a16:creationId xmlns:a16="http://schemas.microsoft.com/office/drawing/2014/main" id="{BE2222E2-BD21-4A69-3C72-0B0A5E9EAC29}"/>
                  </a:ext>
                </a:extLst>
              </p:cNvPr>
              <p:cNvSpPr txBox="1"/>
              <p:nvPr/>
            </p:nvSpPr>
            <p:spPr>
              <a:xfrm>
                <a:off x="426026" y="2051598"/>
                <a:ext cx="235744" cy="620363"/>
              </a:xfrm>
              <a:prstGeom prst="rect">
                <a:avLst/>
              </a:prstGeom>
            </p:spPr>
            <p:txBody>
              <a:bodyPr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0</a:t>
                </a:r>
              </a:p>
            </p:txBody>
          </p:sp>
          <p:sp>
            <p:nvSpPr>
              <p:cNvPr id="28" name="TextBox 25">
                <a:extLst>
                  <a:ext uri="{FF2B5EF4-FFF2-40B4-BE49-F238E27FC236}">
                    <a16:creationId xmlns:a16="http://schemas.microsoft.com/office/drawing/2014/main" id="{51D97794-CD1C-B72D-A90E-E6401B5C51A2}"/>
                  </a:ext>
                </a:extLst>
              </p:cNvPr>
              <p:cNvSpPr txBox="1"/>
              <p:nvPr/>
            </p:nvSpPr>
            <p:spPr>
              <a:xfrm>
                <a:off x="9859547" y="2038797"/>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20</a:t>
                </a:r>
              </a:p>
            </p:txBody>
          </p:sp>
        </p:grpSp>
        <p:sp>
          <p:nvSpPr>
            <p:cNvPr id="31" name="TextBox 24">
              <a:extLst>
                <a:ext uri="{FF2B5EF4-FFF2-40B4-BE49-F238E27FC236}">
                  <a16:creationId xmlns:a16="http://schemas.microsoft.com/office/drawing/2014/main" id="{53C1FFD9-0563-2E18-5CB0-2D2331818535}"/>
                </a:ext>
              </a:extLst>
            </p:cNvPr>
            <p:cNvSpPr txBox="1"/>
            <p:nvPr/>
          </p:nvSpPr>
          <p:spPr>
            <a:xfrm>
              <a:off x="1509133" y="4921881"/>
              <a:ext cx="235744" cy="620363"/>
            </a:xfrm>
            <a:prstGeom prst="rect">
              <a:avLst/>
            </a:prstGeom>
          </p:spPr>
          <p:txBody>
            <a:bodyPr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1</a:t>
              </a:r>
            </a:p>
          </p:txBody>
        </p:sp>
        <p:sp>
          <p:nvSpPr>
            <p:cNvPr id="32" name="TextBox 25">
              <a:extLst>
                <a:ext uri="{FF2B5EF4-FFF2-40B4-BE49-F238E27FC236}">
                  <a16:creationId xmlns:a16="http://schemas.microsoft.com/office/drawing/2014/main" id="{AD6B3980-678C-FE72-DC1E-59540C0A55A3}"/>
                </a:ext>
              </a:extLst>
            </p:cNvPr>
            <p:cNvSpPr txBox="1"/>
            <p:nvPr/>
          </p:nvSpPr>
          <p:spPr>
            <a:xfrm>
              <a:off x="9948763" y="4909080"/>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19</a:t>
              </a:r>
            </a:p>
          </p:txBody>
        </p:sp>
        <p:sp>
          <p:nvSpPr>
            <p:cNvPr id="33" name="TextBox 25">
              <a:extLst>
                <a:ext uri="{FF2B5EF4-FFF2-40B4-BE49-F238E27FC236}">
                  <a16:creationId xmlns:a16="http://schemas.microsoft.com/office/drawing/2014/main" id="{306A5CEC-5D5D-529C-21B9-2B7C165CB95E}"/>
                </a:ext>
              </a:extLst>
            </p:cNvPr>
            <p:cNvSpPr txBox="1"/>
            <p:nvPr/>
          </p:nvSpPr>
          <p:spPr>
            <a:xfrm>
              <a:off x="9460806" y="4909080"/>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18</a:t>
              </a:r>
            </a:p>
          </p:txBody>
        </p:sp>
        <p:sp>
          <p:nvSpPr>
            <p:cNvPr id="34" name="TextBox 25">
              <a:extLst>
                <a:ext uri="{FF2B5EF4-FFF2-40B4-BE49-F238E27FC236}">
                  <a16:creationId xmlns:a16="http://schemas.microsoft.com/office/drawing/2014/main" id="{DABD78D3-859F-2A64-6E6D-EE0950AAE634}"/>
                </a:ext>
              </a:extLst>
            </p:cNvPr>
            <p:cNvSpPr txBox="1"/>
            <p:nvPr/>
          </p:nvSpPr>
          <p:spPr>
            <a:xfrm>
              <a:off x="8974987" y="4919420"/>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17</a:t>
              </a:r>
            </a:p>
          </p:txBody>
        </p:sp>
        <p:sp>
          <p:nvSpPr>
            <p:cNvPr id="35" name="TextBox 25">
              <a:extLst>
                <a:ext uri="{FF2B5EF4-FFF2-40B4-BE49-F238E27FC236}">
                  <a16:creationId xmlns:a16="http://schemas.microsoft.com/office/drawing/2014/main" id="{5D6B1324-BDC1-150F-4539-1F8AE3C0632F}"/>
                </a:ext>
              </a:extLst>
            </p:cNvPr>
            <p:cNvSpPr txBox="1"/>
            <p:nvPr/>
          </p:nvSpPr>
          <p:spPr>
            <a:xfrm>
              <a:off x="8522439" y="4919419"/>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16</a:t>
              </a:r>
            </a:p>
          </p:txBody>
        </p:sp>
        <p:sp>
          <p:nvSpPr>
            <p:cNvPr id="36" name="TextBox 25">
              <a:extLst>
                <a:ext uri="{FF2B5EF4-FFF2-40B4-BE49-F238E27FC236}">
                  <a16:creationId xmlns:a16="http://schemas.microsoft.com/office/drawing/2014/main" id="{9DA4A390-24D0-6765-9D16-5D3FB33A8C39}"/>
                </a:ext>
              </a:extLst>
            </p:cNvPr>
            <p:cNvSpPr txBox="1"/>
            <p:nvPr/>
          </p:nvSpPr>
          <p:spPr>
            <a:xfrm>
              <a:off x="8021330" y="4917413"/>
              <a:ext cx="695457" cy="59702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15</a:t>
              </a:r>
            </a:p>
          </p:txBody>
        </p:sp>
        <p:sp>
          <p:nvSpPr>
            <p:cNvPr id="37" name="TextBox 25">
              <a:extLst>
                <a:ext uri="{FF2B5EF4-FFF2-40B4-BE49-F238E27FC236}">
                  <a16:creationId xmlns:a16="http://schemas.microsoft.com/office/drawing/2014/main" id="{E4C5386C-FA1A-A701-3D1F-5B29BA8BC05B}"/>
                </a:ext>
              </a:extLst>
            </p:cNvPr>
            <p:cNvSpPr txBox="1"/>
            <p:nvPr/>
          </p:nvSpPr>
          <p:spPr>
            <a:xfrm>
              <a:off x="7565685" y="4917413"/>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14</a:t>
              </a:r>
            </a:p>
          </p:txBody>
        </p:sp>
        <p:sp>
          <p:nvSpPr>
            <p:cNvPr id="38" name="TextBox 25">
              <a:extLst>
                <a:ext uri="{FF2B5EF4-FFF2-40B4-BE49-F238E27FC236}">
                  <a16:creationId xmlns:a16="http://schemas.microsoft.com/office/drawing/2014/main" id="{D4A311A7-580C-D1A8-5D2E-51859A6728AA}"/>
                </a:ext>
              </a:extLst>
            </p:cNvPr>
            <p:cNvSpPr txBox="1"/>
            <p:nvPr/>
          </p:nvSpPr>
          <p:spPr>
            <a:xfrm>
              <a:off x="7070289" y="4919411"/>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13</a:t>
              </a:r>
            </a:p>
          </p:txBody>
        </p:sp>
        <p:sp>
          <p:nvSpPr>
            <p:cNvPr id="39" name="TextBox 25">
              <a:extLst>
                <a:ext uri="{FF2B5EF4-FFF2-40B4-BE49-F238E27FC236}">
                  <a16:creationId xmlns:a16="http://schemas.microsoft.com/office/drawing/2014/main" id="{5FFD5CE2-1BAC-A1C9-169B-BD54A96A8FF8}"/>
                </a:ext>
              </a:extLst>
            </p:cNvPr>
            <p:cNvSpPr txBox="1"/>
            <p:nvPr/>
          </p:nvSpPr>
          <p:spPr>
            <a:xfrm>
              <a:off x="6556638" y="4917412"/>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12</a:t>
              </a:r>
            </a:p>
          </p:txBody>
        </p:sp>
        <p:sp>
          <p:nvSpPr>
            <p:cNvPr id="40" name="TextBox 25">
              <a:extLst>
                <a:ext uri="{FF2B5EF4-FFF2-40B4-BE49-F238E27FC236}">
                  <a16:creationId xmlns:a16="http://schemas.microsoft.com/office/drawing/2014/main" id="{4C6CD7A1-E8EF-C0EC-2D58-DD5F48803B52}"/>
                </a:ext>
              </a:extLst>
            </p:cNvPr>
            <p:cNvSpPr txBox="1"/>
            <p:nvPr/>
          </p:nvSpPr>
          <p:spPr>
            <a:xfrm>
              <a:off x="6103508" y="4926871"/>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11</a:t>
              </a:r>
            </a:p>
          </p:txBody>
        </p:sp>
        <p:sp>
          <p:nvSpPr>
            <p:cNvPr id="41" name="TextBox 25">
              <a:extLst>
                <a:ext uri="{FF2B5EF4-FFF2-40B4-BE49-F238E27FC236}">
                  <a16:creationId xmlns:a16="http://schemas.microsoft.com/office/drawing/2014/main" id="{1758FD0B-6C49-CF6D-1A5B-9A4D7AD2A6A5}"/>
                </a:ext>
              </a:extLst>
            </p:cNvPr>
            <p:cNvSpPr txBox="1"/>
            <p:nvPr/>
          </p:nvSpPr>
          <p:spPr>
            <a:xfrm>
              <a:off x="5618139" y="4914646"/>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10</a:t>
              </a:r>
            </a:p>
          </p:txBody>
        </p:sp>
        <p:sp>
          <p:nvSpPr>
            <p:cNvPr id="42" name="TextBox 25">
              <a:extLst>
                <a:ext uri="{FF2B5EF4-FFF2-40B4-BE49-F238E27FC236}">
                  <a16:creationId xmlns:a16="http://schemas.microsoft.com/office/drawing/2014/main" id="{B64594B8-4083-DDB2-F50C-7EE6921DD331}"/>
                </a:ext>
              </a:extLst>
            </p:cNvPr>
            <p:cNvSpPr txBox="1"/>
            <p:nvPr/>
          </p:nvSpPr>
          <p:spPr>
            <a:xfrm>
              <a:off x="5135106" y="4923679"/>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9</a:t>
              </a:r>
            </a:p>
          </p:txBody>
        </p:sp>
        <p:sp>
          <p:nvSpPr>
            <p:cNvPr id="43" name="TextBox 25">
              <a:extLst>
                <a:ext uri="{FF2B5EF4-FFF2-40B4-BE49-F238E27FC236}">
                  <a16:creationId xmlns:a16="http://schemas.microsoft.com/office/drawing/2014/main" id="{4F84ED5C-CA76-3592-515E-65A038F82194}"/>
                </a:ext>
              </a:extLst>
            </p:cNvPr>
            <p:cNvSpPr txBox="1"/>
            <p:nvPr/>
          </p:nvSpPr>
          <p:spPr>
            <a:xfrm>
              <a:off x="4652379" y="4923679"/>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8</a:t>
              </a:r>
            </a:p>
          </p:txBody>
        </p:sp>
        <p:sp>
          <p:nvSpPr>
            <p:cNvPr id="44" name="TextBox 25">
              <a:extLst>
                <a:ext uri="{FF2B5EF4-FFF2-40B4-BE49-F238E27FC236}">
                  <a16:creationId xmlns:a16="http://schemas.microsoft.com/office/drawing/2014/main" id="{2D2E9E3A-4D43-BD22-4CA5-B6C85B5C9889}"/>
                </a:ext>
              </a:extLst>
            </p:cNvPr>
            <p:cNvSpPr txBox="1"/>
            <p:nvPr/>
          </p:nvSpPr>
          <p:spPr>
            <a:xfrm>
              <a:off x="4182400" y="4920946"/>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7</a:t>
              </a:r>
            </a:p>
          </p:txBody>
        </p:sp>
        <p:sp>
          <p:nvSpPr>
            <p:cNvPr id="45" name="TextBox 25">
              <a:extLst>
                <a:ext uri="{FF2B5EF4-FFF2-40B4-BE49-F238E27FC236}">
                  <a16:creationId xmlns:a16="http://schemas.microsoft.com/office/drawing/2014/main" id="{3C0B0390-B582-8D47-CCDB-C16AAC801EE6}"/>
                </a:ext>
              </a:extLst>
            </p:cNvPr>
            <p:cNvSpPr txBox="1"/>
            <p:nvPr/>
          </p:nvSpPr>
          <p:spPr>
            <a:xfrm>
              <a:off x="3701281" y="4923679"/>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6</a:t>
              </a:r>
            </a:p>
          </p:txBody>
        </p:sp>
        <p:sp>
          <p:nvSpPr>
            <p:cNvPr id="46" name="TextBox 25">
              <a:extLst>
                <a:ext uri="{FF2B5EF4-FFF2-40B4-BE49-F238E27FC236}">
                  <a16:creationId xmlns:a16="http://schemas.microsoft.com/office/drawing/2014/main" id="{494A6F88-61E1-AFD0-3DD1-91C2A725FD38}"/>
                </a:ext>
              </a:extLst>
            </p:cNvPr>
            <p:cNvSpPr txBox="1"/>
            <p:nvPr/>
          </p:nvSpPr>
          <p:spPr>
            <a:xfrm>
              <a:off x="3203267" y="4921753"/>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5</a:t>
              </a:r>
            </a:p>
          </p:txBody>
        </p:sp>
        <p:sp>
          <p:nvSpPr>
            <p:cNvPr id="47" name="TextBox 25">
              <a:extLst>
                <a:ext uri="{FF2B5EF4-FFF2-40B4-BE49-F238E27FC236}">
                  <a16:creationId xmlns:a16="http://schemas.microsoft.com/office/drawing/2014/main" id="{BB655A4A-1569-F05E-0B35-55F887262F46}"/>
                </a:ext>
              </a:extLst>
            </p:cNvPr>
            <p:cNvSpPr txBox="1"/>
            <p:nvPr/>
          </p:nvSpPr>
          <p:spPr>
            <a:xfrm>
              <a:off x="2721408" y="4921752"/>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4</a:t>
              </a:r>
            </a:p>
          </p:txBody>
        </p:sp>
        <p:sp>
          <p:nvSpPr>
            <p:cNvPr id="48" name="TextBox 25">
              <a:extLst>
                <a:ext uri="{FF2B5EF4-FFF2-40B4-BE49-F238E27FC236}">
                  <a16:creationId xmlns:a16="http://schemas.microsoft.com/office/drawing/2014/main" id="{07E0872B-157A-694B-EC12-1D14FC687E72}"/>
                </a:ext>
              </a:extLst>
            </p:cNvPr>
            <p:cNvSpPr txBox="1"/>
            <p:nvPr/>
          </p:nvSpPr>
          <p:spPr>
            <a:xfrm>
              <a:off x="2249224" y="4920947"/>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3</a:t>
              </a:r>
            </a:p>
          </p:txBody>
        </p:sp>
        <p:sp>
          <p:nvSpPr>
            <p:cNvPr id="49" name="TextBox 25">
              <a:extLst>
                <a:ext uri="{FF2B5EF4-FFF2-40B4-BE49-F238E27FC236}">
                  <a16:creationId xmlns:a16="http://schemas.microsoft.com/office/drawing/2014/main" id="{59E0D77E-82E9-A82A-C4EF-51172190541F}"/>
                </a:ext>
              </a:extLst>
            </p:cNvPr>
            <p:cNvSpPr txBox="1"/>
            <p:nvPr/>
          </p:nvSpPr>
          <p:spPr>
            <a:xfrm>
              <a:off x="1751074" y="4920771"/>
              <a:ext cx="695457" cy="620363"/>
            </a:xfrm>
            <a:prstGeom prst="rect">
              <a:avLst/>
            </a:prstGeom>
          </p:spPr>
          <p:txBody>
            <a:bodyPr wrap="square" lIns="0" tIns="0" rIns="0" bIns="0" rtlCol="0" anchor="t">
              <a:spAutoFit/>
            </a:bodyPr>
            <a:lstStyle/>
            <a:p>
              <a:pPr marL="0" marR="0" lvl="0" indent="0" algn="ctr" defTabSz="609585" rtl="0" eaLnBrk="1" fontAlgn="auto" latinLnBrk="0" hangingPunct="1">
                <a:lnSpc>
                  <a:spcPts val="5599"/>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2</a:t>
              </a:r>
            </a:p>
          </p:txBody>
        </p:sp>
      </p:grpSp>
      <p:sp>
        <p:nvSpPr>
          <p:cNvPr id="4" name="TextBox 3">
            <a:extLst>
              <a:ext uri="{FF2B5EF4-FFF2-40B4-BE49-F238E27FC236}">
                <a16:creationId xmlns:a16="http://schemas.microsoft.com/office/drawing/2014/main" id="{1CB82A81-5B8D-BA8D-909A-982F90D3060F}"/>
              </a:ext>
            </a:extLst>
          </p:cNvPr>
          <p:cNvSpPr txBox="1"/>
          <p:nvPr/>
        </p:nvSpPr>
        <p:spPr>
          <a:xfrm>
            <a:off x="6367985" y="3000245"/>
            <a:ext cx="5196200" cy="3497755"/>
          </a:xfrm>
          <a:prstGeom prst="rect">
            <a:avLst/>
          </a:prstGeom>
          <a:noFill/>
        </p:spPr>
        <p:txBody>
          <a:bodyPr wrap="square" lIns="0" tIns="0" rIns="0" bIns="0" rtlCol="0">
            <a:noAutofit/>
          </a:bodyPr>
          <a:lstStyle/>
          <a:p>
            <a:pPr marL="0" marR="0" lvl="0" indent="0" defTabSz="609585" rtl="0" eaLnBrk="1" fontAlgn="auto" latinLnBrk="0" hangingPunct="1">
              <a:lnSpc>
                <a:spcPct val="150000"/>
              </a:lnSpc>
              <a:spcBef>
                <a:spcPts val="0"/>
              </a:spcBef>
              <a:spcAft>
                <a:spcPts val="0"/>
              </a:spcAft>
              <a:buClrTx/>
              <a:buSzTx/>
              <a:buFontTx/>
              <a:buNone/>
              <a:tabLst/>
              <a:defRPr/>
            </a:pPr>
            <a:r>
              <a:rPr lang="en-AU" sz="3200">
                <a:solidFill>
                  <a:schemeClr val="accent2"/>
                </a:solidFill>
                <a:latin typeface="Edu NSW ACT Foundation" pitchFamily="2" charset="0"/>
                <a:cs typeface="Arial" panose="020B0604020202020204" pitchFamily="34" charset="0"/>
              </a:rPr>
              <a:t>Player 2 </a:t>
            </a:r>
            <a:endParaRPr lang="en-AU" sz="3200">
              <a:solidFill>
                <a:srgbClr val="22272B"/>
              </a:solidFill>
              <a:latin typeface="Edu NSW ACT Foundation" pitchFamily="2" charset="0"/>
              <a:cs typeface="Arial" panose="020B0604020202020204" pitchFamily="34" charset="0"/>
            </a:endParaRPr>
          </a:p>
          <a:p>
            <a:pPr marL="571500" marR="0" lvl="0" indent="-571500"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2800" i="0" u="none" strike="noStrike" kern="1200" cap="none" spc="0" normalizeH="0" baseline="0" noProof="0">
                <a:ln>
                  <a:noFill/>
                </a:ln>
                <a:solidFill>
                  <a:srgbClr val="22272B"/>
                </a:solidFill>
                <a:effectLst/>
                <a:uLnTx/>
                <a:uFillTx/>
                <a:latin typeface="Edu NSW ACT Foundation" pitchFamily="2" charset="0"/>
                <a:cs typeface="Arial" panose="020B0604020202020204" pitchFamily="34" charset="0"/>
              </a:rPr>
              <a:t>start with the circled number and cross out a second number</a:t>
            </a:r>
          </a:p>
          <a:p>
            <a:pPr marL="571500" lvl="0" indent="-571500">
              <a:lnSpc>
                <a:spcPct val="150000"/>
              </a:lnSpc>
              <a:buFont typeface="Arial" panose="020B0604020202020204" pitchFamily="34" charset="0"/>
              <a:buChar char="•"/>
              <a:defRPr/>
            </a:pPr>
            <a:r>
              <a:rPr lang="en-AU" sz="2800">
                <a:solidFill>
                  <a:srgbClr val="22272B"/>
                </a:solidFill>
                <a:latin typeface="Edu NSW ACT Foundation" pitchFamily="2" charset="0"/>
                <a:cs typeface="Arial" panose="020B0604020202020204" pitchFamily="34" charset="0"/>
              </a:rPr>
              <a:t>circle the sum or difference</a:t>
            </a:r>
          </a:p>
          <a:p>
            <a:pPr marL="571500" lvl="0" indent="-571500">
              <a:lnSpc>
                <a:spcPct val="150000"/>
              </a:lnSpc>
              <a:buFont typeface="Arial" panose="020B0604020202020204" pitchFamily="34" charset="0"/>
              <a:buChar char="•"/>
              <a:defRPr/>
            </a:pPr>
            <a:r>
              <a:rPr lang="en-AU" sz="2800">
                <a:solidFill>
                  <a:srgbClr val="22272B"/>
                </a:solidFill>
                <a:latin typeface="Edu NSW ACT Foundation" pitchFamily="2" charset="0"/>
                <a:cs typeface="Arial" panose="020B0604020202020204" pitchFamily="34" charset="0"/>
              </a:rPr>
              <a:t>record a number sentence</a:t>
            </a:r>
            <a:endParaRPr kumimoji="0" lang="en-AU" sz="40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a:p>
            <a:pPr marL="0" marR="0" lvl="0" indent="0" algn="ctr" defTabSz="609585" rtl="0" eaLnBrk="1" fontAlgn="auto" latinLnBrk="0" hangingPunct="1">
              <a:lnSpc>
                <a:spcPct val="150000"/>
              </a:lnSpc>
              <a:spcBef>
                <a:spcPts val="0"/>
              </a:spcBef>
              <a:spcAft>
                <a:spcPts val="0"/>
              </a:spcAft>
              <a:buClrTx/>
              <a:buSzTx/>
              <a:buFontTx/>
              <a:buNone/>
              <a:tabLst/>
              <a:defRPr/>
            </a:pPr>
            <a:endParaRPr kumimoji="0" lang="en-AU" sz="4400" b="1"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p:txBody>
      </p:sp>
      <p:pic>
        <p:nvPicPr>
          <p:cNvPr id="51" name="Picture 2" descr="image of a head with cogs turning inside">
            <a:extLst>
              <a:ext uri="{FF2B5EF4-FFF2-40B4-BE49-F238E27FC236}">
                <a16:creationId xmlns:a16="http://schemas.microsoft.com/office/drawing/2014/main" id="{CEBD6507-83E4-B98C-A8D8-99BFB1BEE5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16677" y="188018"/>
            <a:ext cx="768795"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923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dirty="0"/>
              <a:t>True or false </a:t>
            </a:r>
            <a:r>
              <a:rPr lang="en-US" dirty="0">
                <a:solidFill>
                  <a:schemeClr val="bg1"/>
                </a:solidFill>
              </a:rPr>
              <a:t>(3)</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5" name="Text Placeholder 5">
            <a:extLst>
              <a:ext uri="{FF2B5EF4-FFF2-40B4-BE49-F238E27FC236}">
                <a16:creationId xmlns:a16="http://schemas.microsoft.com/office/drawing/2014/main" id="{1F74B9A4-EFE2-0CD1-0E45-27C87BBC65EB}"/>
              </a:ext>
            </a:extLst>
          </p:cNvPr>
          <p:cNvSpPr txBox="1">
            <a:spLocks/>
          </p:cNvSpPr>
          <p:nvPr/>
        </p:nvSpPr>
        <p:spPr>
          <a:xfrm>
            <a:off x="1965616" y="1342630"/>
            <a:ext cx="9158384"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To solve 52 + 23, using partitioning to add the tens then the ones is an efficient strategy. </a:t>
            </a:r>
          </a:p>
        </p:txBody>
      </p:sp>
      <p:sp>
        <p:nvSpPr>
          <p:cNvPr id="9" name="Slide Number Placeholder 1">
            <a:extLst>
              <a:ext uri="{FF2B5EF4-FFF2-40B4-BE49-F238E27FC236}">
                <a16:creationId xmlns:a16="http://schemas.microsoft.com/office/drawing/2014/main" id="{A6C2BFFC-84AB-C30B-C108-1205554FD32A}"/>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DAA2DC96-AA9B-5923-BF45-DC92D54804E1}"/>
              </a:ext>
            </a:extLst>
          </p:cNvPr>
          <p:cNvSpPr txBox="1"/>
          <p:nvPr/>
        </p:nvSpPr>
        <p:spPr>
          <a:xfrm>
            <a:off x="872834" y="905601"/>
            <a:ext cx="10157642" cy="4646951"/>
          </a:xfrm>
          <a:prstGeom prst="rect">
            <a:avLst/>
          </a:prstGeom>
          <a:noFill/>
        </p:spPr>
        <p:txBody>
          <a:bodyPr wrap="square" lIns="0" tIns="0" rIns="0" bIns="0" rtlCol="0">
            <a:noAutofit/>
          </a:bodyPr>
          <a:lstStyle/>
          <a:p>
            <a:pPr algn="ctr">
              <a:lnSpc>
                <a:spcPct val="200000"/>
              </a:lnSpc>
            </a:pPr>
            <a:r>
              <a:rPr lang="en-AU" sz="4400" dirty="0"/>
              <a:t>There are </a:t>
            </a:r>
            <a:r>
              <a:rPr lang="en-AU" sz="4400" b="1" dirty="0"/>
              <a:t>71 students </a:t>
            </a:r>
            <a:r>
              <a:rPr lang="en-AU" sz="4400" dirty="0"/>
              <a:t>and </a:t>
            </a:r>
            <a:r>
              <a:rPr lang="en-AU" sz="4400" b="1" dirty="0"/>
              <a:t>55 chairs</a:t>
            </a:r>
            <a:r>
              <a:rPr lang="en-AU" sz="4400" dirty="0"/>
              <a:t>. </a:t>
            </a:r>
            <a:r>
              <a:rPr lang="en-AU" sz="4400" b="1" dirty="0"/>
              <a:t>How many </a:t>
            </a:r>
            <a:r>
              <a:rPr lang="en-AU" sz="4400" dirty="0"/>
              <a:t>students</a:t>
            </a:r>
            <a:r>
              <a:rPr lang="en-AU" sz="4400" b="1" dirty="0"/>
              <a:t> </a:t>
            </a:r>
            <a:r>
              <a:rPr lang="en-AU" sz="4400" dirty="0"/>
              <a:t>must sit </a:t>
            </a:r>
          </a:p>
          <a:p>
            <a:pPr algn="ctr">
              <a:lnSpc>
                <a:spcPct val="200000"/>
              </a:lnSpc>
            </a:pPr>
            <a:r>
              <a:rPr lang="en-AU" sz="4400" dirty="0"/>
              <a:t>on the </a:t>
            </a:r>
            <a:r>
              <a:rPr lang="en-AU" sz="4400" b="1" dirty="0"/>
              <a:t>floor</a:t>
            </a:r>
            <a:r>
              <a:rPr lang="en-AU" sz="4400" dirty="0"/>
              <a:t>?</a:t>
            </a:r>
          </a:p>
          <a:p>
            <a:pPr algn="ctr">
              <a:lnSpc>
                <a:spcPct val="200000"/>
              </a:lnSpc>
            </a:pPr>
            <a:r>
              <a:rPr lang="en-AU" sz="4400" b="1" dirty="0"/>
              <a:t>Communicate</a:t>
            </a:r>
            <a:r>
              <a:rPr lang="en-AU" sz="4400" dirty="0"/>
              <a:t> your </a:t>
            </a:r>
            <a:r>
              <a:rPr lang="en-AU" sz="4400" b="1" dirty="0"/>
              <a:t>strategy</a:t>
            </a:r>
            <a:r>
              <a:rPr lang="en-AU" sz="4400" dirty="0"/>
              <a:t>.</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06C1C6EC-431D-569F-EF46-D9CA77025560}"/>
              </a:ext>
            </a:extLst>
          </p:cNvPr>
          <p:cNvSpPr txBox="1"/>
          <p:nvPr/>
        </p:nvSpPr>
        <p:spPr>
          <a:xfrm>
            <a:off x="679174" y="1572026"/>
            <a:ext cx="10833652" cy="3713948"/>
          </a:xfrm>
          <a:prstGeom prst="rect">
            <a:avLst/>
          </a:prstGeom>
          <a:noFill/>
        </p:spPr>
        <p:txBody>
          <a:bodyPr wrap="square" lIns="0" tIns="0" rIns="0" bIns="0" rtlCol="0" anchor="t">
            <a:noAutofit/>
          </a:bodyPr>
          <a:lstStyle/>
          <a:p>
            <a:pPr algn="ctr">
              <a:lnSpc>
                <a:spcPct val="150000"/>
              </a:lnSpc>
            </a:pPr>
            <a:r>
              <a:rPr lang="en-AU" sz="4400" b="1" dirty="0"/>
              <a:t>Partition</a:t>
            </a:r>
            <a:r>
              <a:rPr lang="en-AU" sz="4400" dirty="0"/>
              <a:t> 1221</a:t>
            </a:r>
          </a:p>
          <a:p>
            <a:pPr algn="ctr">
              <a:lnSpc>
                <a:spcPct val="150000"/>
              </a:lnSpc>
            </a:pPr>
            <a:r>
              <a:rPr lang="en-AU" sz="4400" dirty="0"/>
              <a:t>into thousands, hundreds, </a:t>
            </a:r>
          </a:p>
          <a:p>
            <a:pPr algn="ctr">
              <a:lnSpc>
                <a:spcPct val="150000"/>
              </a:lnSpc>
            </a:pPr>
            <a:r>
              <a:rPr lang="en-AU" sz="4400" dirty="0"/>
              <a:t>tens and ones.</a:t>
            </a:r>
            <a:endParaRPr lang="en-US" dirty="0"/>
          </a:p>
          <a:p>
            <a:pPr algn="ctr"/>
            <a:endParaRPr lang="en-AU" sz="4400" dirty="0"/>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FB63CDD8-022C-C6CC-AC70-A59168CE2CD7}"/>
              </a:ext>
            </a:extLst>
          </p:cNvPr>
          <p:cNvSpPr txBox="1"/>
          <p:nvPr/>
        </p:nvSpPr>
        <p:spPr>
          <a:xfrm>
            <a:off x="714000" y="1034000"/>
            <a:ext cx="10764000" cy="4393096"/>
          </a:xfrm>
          <a:prstGeom prst="rect">
            <a:avLst/>
          </a:prstGeom>
          <a:noFill/>
        </p:spPr>
        <p:txBody>
          <a:bodyPr wrap="square" lIns="0" tIns="0" rIns="0" bIns="0" rtlCol="0">
            <a:noAutofit/>
          </a:bodyPr>
          <a:lstStyle/>
          <a:p>
            <a:pPr algn="ctr">
              <a:lnSpc>
                <a:spcPct val="150000"/>
              </a:lnSpc>
            </a:pPr>
            <a:r>
              <a:rPr lang="en-AU" sz="4400" dirty="0"/>
              <a:t>This paper strip has been divided into </a:t>
            </a:r>
            <a:r>
              <a:rPr lang="en-AU" sz="4400" b="1" dirty="0"/>
              <a:t>equal parts</a:t>
            </a:r>
            <a:r>
              <a:rPr lang="en-AU" sz="4400" dirty="0"/>
              <a:t>.</a:t>
            </a:r>
          </a:p>
        </p:txBody>
      </p:sp>
      <p:sp>
        <p:nvSpPr>
          <p:cNvPr id="7" name="TextBox 6">
            <a:extLst>
              <a:ext uri="{FF2B5EF4-FFF2-40B4-BE49-F238E27FC236}">
                <a16:creationId xmlns:a16="http://schemas.microsoft.com/office/drawing/2014/main" id="{90D3A693-9F10-DBF3-DCC8-9E80E2F866DC}"/>
              </a:ext>
            </a:extLst>
          </p:cNvPr>
          <p:cNvSpPr txBox="1"/>
          <p:nvPr/>
        </p:nvSpPr>
        <p:spPr>
          <a:xfrm>
            <a:off x="626280" y="5004926"/>
            <a:ext cx="10634869" cy="1232452"/>
          </a:xfrm>
          <a:prstGeom prst="rect">
            <a:avLst/>
          </a:prstGeom>
          <a:noFill/>
        </p:spPr>
        <p:txBody>
          <a:bodyPr wrap="square" lIns="0" tIns="0" rIns="0" bIns="0" rtlCol="0">
            <a:noAutofit/>
          </a:bodyPr>
          <a:lstStyle/>
          <a:p>
            <a:pPr algn="ctr">
              <a:lnSpc>
                <a:spcPct val="150000"/>
              </a:lnSpc>
            </a:pPr>
            <a:r>
              <a:rPr lang="en-AU" sz="4400" dirty="0"/>
              <a:t>What</a:t>
            </a:r>
            <a:r>
              <a:rPr lang="en-AU" sz="4400" b="1" dirty="0"/>
              <a:t> fraction </a:t>
            </a:r>
            <a:r>
              <a:rPr lang="en-AU" sz="4400" dirty="0"/>
              <a:t>is the arrow pointing to?</a:t>
            </a:r>
          </a:p>
        </p:txBody>
      </p:sp>
      <p:pic>
        <p:nvPicPr>
          <p:cNvPr id="9" name="Picture 8" descr="A strip divided into 8 equal parts.">
            <a:extLst>
              <a:ext uri="{FF2B5EF4-FFF2-40B4-BE49-F238E27FC236}">
                <a16:creationId xmlns:a16="http://schemas.microsoft.com/office/drawing/2014/main" id="{C3DC3979-7E1D-C734-7479-37A0D294924F}"/>
              </a:ext>
            </a:extLst>
          </p:cNvPr>
          <p:cNvPicPr>
            <a:picLocks noChangeAspect="1"/>
          </p:cNvPicPr>
          <p:nvPr/>
        </p:nvPicPr>
        <p:blipFill>
          <a:blip r:embed="rId4"/>
          <a:stretch>
            <a:fillRect/>
          </a:stretch>
        </p:blipFill>
        <p:spPr>
          <a:xfrm>
            <a:off x="1828799" y="3198903"/>
            <a:ext cx="8229830" cy="1741824"/>
          </a:xfrm>
          <a:prstGeom prst="rect">
            <a:avLst/>
          </a:prstGeom>
        </p:spPr>
      </p:pic>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a:ln>
            <a:noFill/>
          </a:ln>
        </p:spPr>
      </p:pic>
      <p:grpSp>
        <p:nvGrpSpPr>
          <p:cNvPr id="4" name="Group 3" descr="An analog clock with a digital clock beneath it showing time to the quarter-hour.">
            <a:extLst>
              <a:ext uri="{FF2B5EF4-FFF2-40B4-BE49-F238E27FC236}">
                <a16:creationId xmlns:a16="http://schemas.microsoft.com/office/drawing/2014/main" id="{CFB3AC1D-CC82-236C-D6AE-E967505EABF4}"/>
              </a:ext>
            </a:extLst>
          </p:cNvPr>
          <p:cNvGrpSpPr/>
          <p:nvPr/>
        </p:nvGrpSpPr>
        <p:grpSpPr>
          <a:xfrm>
            <a:off x="1748665" y="1039045"/>
            <a:ext cx="2421891" cy="3469906"/>
            <a:chOff x="1770968" y="1102103"/>
            <a:chExt cx="2795649" cy="3951276"/>
          </a:xfrm>
        </p:grpSpPr>
        <p:pic>
          <p:nvPicPr>
            <p:cNvPr id="5" name="Picture 4">
              <a:extLst>
                <a:ext uri="{FF2B5EF4-FFF2-40B4-BE49-F238E27FC236}">
                  <a16:creationId xmlns:a16="http://schemas.microsoft.com/office/drawing/2014/main" id="{18F5A4DA-48D1-E484-C858-4FF01FBC58D4}"/>
                </a:ext>
              </a:extLst>
            </p:cNvPr>
            <p:cNvPicPr>
              <a:picLocks noChangeAspect="1"/>
            </p:cNvPicPr>
            <p:nvPr/>
          </p:nvPicPr>
          <p:blipFill>
            <a:blip r:embed="rId4"/>
            <a:stretch>
              <a:fillRect/>
            </a:stretch>
          </p:blipFill>
          <p:spPr>
            <a:xfrm>
              <a:off x="1770968" y="1102103"/>
              <a:ext cx="2795649" cy="3951276"/>
            </a:xfrm>
            <a:prstGeom prst="rect">
              <a:avLst/>
            </a:prstGeom>
          </p:spPr>
        </p:pic>
        <p:sp>
          <p:nvSpPr>
            <p:cNvPr id="7" name="TextBox 6">
              <a:extLst>
                <a:ext uri="{FF2B5EF4-FFF2-40B4-BE49-F238E27FC236}">
                  <a16:creationId xmlns:a16="http://schemas.microsoft.com/office/drawing/2014/main" id="{6C935141-C815-C4A6-EB1D-9BFE99AACF9B}"/>
                </a:ext>
              </a:extLst>
            </p:cNvPr>
            <p:cNvSpPr txBox="1"/>
            <p:nvPr/>
          </p:nvSpPr>
          <p:spPr>
            <a:xfrm>
              <a:off x="1907449" y="4210300"/>
              <a:ext cx="2404228" cy="545601"/>
            </a:xfrm>
            <a:prstGeom prst="rect">
              <a:avLst/>
            </a:prstGeom>
            <a:noFill/>
          </p:spPr>
          <p:txBody>
            <a:bodyPr wrap="square" lIns="0" tIns="0" rIns="0" bIns="0" rtlCol="0">
              <a:noAutofit/>
            </a:bodyPr>
            <a:lstStyle/>
            <a:p>
              <a:pPr algn="l"/>
              <a:r>
                <a:rPr lang="en-AU" sz="4400" dirty="0"/>
                <a:t>    3  15</a:t>
              </a:r>
            </a:p>
          </p:txBody>
        </p:sp>
      </p:grpSp>
      <p:grpSp>
        <p:nvGrpSpPr>
          <p:cNvPr id="8" name="Group 7" descr="An analog clock with a digital clock beneath it showing time to the quarter-hour.">
            <a:extLst>
              <a:ext uri="{FF2B5EF4-FFF2-40B4-BE49-F238E27FC236}">
                <a16:creationId xmlns:a16="http://schemas.microsoft.com/office/drawing/2014/main" id="{E383B913-6C65-6D00-24C7-29F6958A07EF}"/>
              </a:ext>
            </a:extLst>
          </p:cNvPr>
          <p:cNvGrpSpPr/>
          <p:nvPr/>
        </p:nvGrpSpPr>
        <p:grpSpPr>
          <a:xfrm>
            <a:off x="7468407" y="1039046"/>
            <a:ext cx="2421892" cy="3469906"/>
            <a:chOff x="1770968" y="1102103"/>
            <a:chExt cx="2795649" cy="3951276"/>
          </a:xfrm>
        </p:grpSpPr>
        <p:pic>
          <p:nvPicPr>
            <p:cNvPr id="9" name="Picture 8">
              <a:extLst>
                <a:ext uri="{FF2B5EF4-FFF2-40B4-BE49-F238E27FC236}">
                  <a16:creationId xmlns:a16="http://schemas.microsoft.com/office/drawing/2014/main" id="{FF7B99A7-D42D-CB4A-8C5E-EC76864EF035}"/>
                </a:ext>
              </a:extLst>
            </p:cNvPr>
            <p:cNvPicPr>
              <a:picLocks noChangeAspect="1"/>
            </p:cNvPicPr>
            <p:nvPr/>
          </p:nvPicPr>
          <p:blipFill>
            <a:blip r:embed="rId4"/>
            <a:stretch>
              <a:fillRect/>
            </a:stretch>
          </p:blipFill>
          <p:spPr>
            <a:xfrm>
              <a:off x="1770968" y="1102103"/>
              <a:ext cx="2795649" cy="3951276"/>
            </a:xfrm>
            <a:prstGeom prst="rect">
              <a:avLst/>
            </a:prstGeom>
          </p:spPr>
        </p:pic>
        <p:sp>
          <p:nvSpPr>
            <p:cNvPr id="10" name="TextBox 9">
              <a:extLst>
                <a:ext uri="{FF2B5EF4-FFF2-40B4-BE49-F238E27FC236}">
                  <a16:creationId xmlns:a16="http://schemas.microsoft.com/office/drawing/2014/main" id="{BAB06575-4194-A283-55D0-7A33D67A0C07}"/>
                </a:ext>
              </a:extLst>
            </p:cNvPr>
            <p:cNvSpPr txBox="1"/>
            <p:nvPr/>
          </p:nvSpPr>
          <p:spPr>
            <a:xfrm>
              <a:off x="1770968" y="4175813"/>
              <a:ext cx="2405270" cy="545601"/>
            </a:xfrm>
            <a:prstGeom prst="rect">
              <a:avLst/>
            </a:prstGeom>
            <a:noFill/>
          </p:spPr>
          <p:txBody>
            <a:bodyPr wrap="square" lIns="0" tIns="0" rIns="0" bIns="0" rtlCol="0">
              <a:noAutofit/>
            </a:bodyPr>
            <a:lstStyle/>
            <a:p>
              <a:pPr algn="l"/>
              <a:r>
                <a:rPr lang="en-AU" sz="4400" dirty="0"/>
                <a:t>   11  45</a:t>
              </a:r>
            </a:p>
          </p:txBody>
        </p:sp>
      </p:grpSp>
      <p:sp>
        <p:nvSpPr>
          <p:cNvPr id="11" name="TextBox 10">
            <a:extLst>
              <a:ext uri="{FF2B5EF4-FFF2-40B4-BE49-F238E27FC236}">
                <a16:creationId xmlns:a16="http://schemas.microsoft.com/office/drawing/2014/main" id="{0BF8381B-5FC6-232F-87BF-B7E27E8E8205}"/>
              </a:ext>
            </a:extLst>
          </p:cNvPr>
          <p:cNvSpPr txBox="1"/>
          <p:nvPr/>
        </p:nvSpPr>
        <p:spPr>
          <a:xfrm>
            <a:off x="912366" y="4525794"/>
            <a:ext cx="10367268" cy="1275597"/>
          </a:xfrm>
          <a:prstGeom prst="rect">
            <a:avLst/>
          </a:prstGeom>
          <a:noFill/>
        </p:spPr>
        <p:txBody>
          <a:bodyPr wrap="square" lIns="0" tIns="0" rIns="0" bIns="0" rtlCol="0">
            <a:noAutofit/>
          </a:bodyPr>
          <a:lstStyle/>
          <a:p>
            <a:pPr algn="ctr">
              <a:lnSpc>
                <a:spcPct val="150000"/>
              </a:lnSpc>
            </a:pPr>
            <a:r>
              <a:rPr lang="en-AU" sz="4400" b="1" dirty="0"/>
              <a:t>Record</a:t>
            </a:r>
            <a:r>
              <a:rPr lang="en-AU" sz="4400" dirty="0"/>
              <a:t> the </a:t>
            </a:r>
            <a:r>
              <a:rPr lang="en-AU" sz="4400" b="1" dirty="0"/>
              <a:t>times</a:t>
            </a:r>
            <a:r>
              <a:rPr lang="en-AU" sz="4400" dirty="0"/>
              <a:t> in writing, as </a:t>
            </a:r>
            <a:r>
              <a:rPr lang="en-AU" sz="4400" b="1" dirty="0"/>
              <a:t>quarter past </a:t>
            </a:r>
            <a:r>
              <a:rPr lang="en-AU" sz="4400" dirty="0"/>
              <a:t>or</a:t>
            </a:r>
            <a:r>
              <a:rPr lang="en-AU" sz="4400" b="1" dirty="0"/>
              <a:t> quarter to.</a:t>
            </a:r>
          </a:p>
        </p:txBody>
      </p:sp>
      <p:cxnSp>
        <p:nvCxnSpPr>
          <p:cNvPr id="13" name="Straight Arrow Connector 12">
            <a:extLst>
              <a:ext uri="{FF2B5EF4-FFF2-40B4-BE49-F238E27FC236}">
                <a16:creationId xmlns:a16="http://schemas.microsoft.com/office/drawing/2014/main" id="{54A7F299-F6DF-3F14-B21D-4F681F49DAB6}"/>
              </a:ext>
            </a:extLst>
          </p:cNvPr>
          <p:cNvCxnSpPr>
            <a:cxnSpLocks/>
          </p:cNvCxnSpPr>
          <p:nvPr/>
        </p:nvCxnSpPr>
        <p:spPr>
          <a:xfrm>
            <a:off x="2959610" y="2647611"/>
            <a:ext cx="751840" cy="24720"/>
          </a:xfrm>
          <a:prstGeom prst="straightConnector1">
            <a:avLst/>
          </a:prstGeom>
          <a:ln w="3810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9098799-34C2-3FCE-6710-EC4DB7853A4A}"/>
              </a:ext>
            </a:extLst>
          </p:cNvPr>
          <p:cNvCxnSpPr>
            <a:cxnSpLocks/>
          </p:cNvCxnSpPr>
          <p:nvPr/>
        </p:nvCxnSpPr>
        <p:spPr>
          <a:xfrm>
            <a:off x="2959610" y="2664454"/>
            <a:ext cx="580149" cy="107360"/>
          </a:xfrm>
          <a:prstGeom prst="straightConnector1">
            <a:avLst/>
          </a:prstGeom>
          <a:ln w="3810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7A8AEDA-1CAD-948F-1163-84DB1E28FB7A}"/>
              </a:ext>
            </a:extLst>
          </p:cNvPr>
          <p:cNvCxnSpPr>
            <a:cxnSpLocks/>
          </p:cNvCxnSpPr>
          <p:nvPr/>
        </p:nvCxnSpPr>
        <p:spPr>
          <a:xfrm flipH="1" flipV="1">
            <a:off x="7965724" y="2659971"/>
            <a:ext cx="713629" cy="12360"/>
          </a:xfrm>
          <a:prstGeom prst="straightConnector1">
            <a:avLst/>
          </a:prstGeom>
          <a:ln w="3810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E20F748-9920-33AF-7581-01CE84F626AB}"/>
              </a:ext>
            </a:extLst>
          </p:cNvPr>
          <p:cNvCxnSpPr>
            <a:cxnSpLocks/>
          </p:cNvCxnSpPr>
          <p:nvPr/>
        </p:nvCxnSpPr>
        <p:spPr>
          <a:xfrm flipH="1" flipV="1">
            <a:off x="8583474" y="2111408"/>
            <a:ext cx="57094" cy="527817"/>
          </a:xfrm>
          <a:prstGeom prst="straightConnector1">
            <a:avLst/>
          </a:prstGeom>
          <a:ln w="3810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45</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6 – closest to 100</a:t>
            </a:r>
            <a:endParaRPr lang="en-US">
              <a:latin typeface="Arial"/>
              <a:cs typeface="Arial"/>
            </a:endParaRPr>
          </a:p>
        </p:txBody>
      </p:sp>
      <p:sp>
        <p:nvSpPr>
          <p:cNvPr id="6" name="Text Placeholder 4">
            <a:extLst>
              <a:ext uri="{FF2B5EF4-FFF2-40B4-BE49-F238E27FC236}">
                <a16:creationId xmlns:a16="http://schemas.microsoft.com/office/drawing/2014/main" id="{A5A1B2EA-892A-CD43-136F-725A696FB7CC}"/>
              </a:ext>
            </a:extLst>
          </p:cNvPr>
          <p:cNvSpPr txBox="1">
            <a:spLocks/>
          </p:cNvSpPr>
          <p:nvPr/>
        </p:nvSpPr>
        <p:spPr>
          <a:xfrm>
            <a:off x="360000" y="898871"/>
            <a:ext cx="4813884" cy="2828177"/>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b="1">
                <a:latin typeface="Arial"/>
                <a:cs typeface="Arial"/>
              </a:rPr>
              <a:t>Pairs vs Pairs:</a:t>
            </a:r>
            <a:endParaRPr lang="en-US" sz="1800">
              <a:latin typeface="Arial"/>
              <a:cs typeface="Arial"/>
            </a:endParaRPr>
          </a:p>
          <a:p>
            <a:pPr marL="285750" indent="-285750">
              <a:buFont typeface="Arial"/>
              <a:buChar char="•"/>
            </a:pPr>
            <a:r>
              <a:rPr lang="en-GB" sz="1800">
                <a:latin typeface="Arial"/>
                <a:cs typeface="Arial"/>
              </a:rPr>
              <a:t>Shuffle a pack of cards from A-10.</a:t>
            </a:r>
          </a:p>
          <a:p>
            <a:pPr marL="285750" indent="-285750">
              <a:buFont typeface="Arial"/>
              <a:buChar char="•"/>
            </a:pPr>
            <a:r>
              <a:rPr lang="en-GB" sz="1800">
                <a:latin typeface="Arial"/>
                <a:cs typeface="Arial"/>
              </a:rPr>
              <a:t>Place 6 cards face up.</a:t>
            </a:r>
          </a:p>
          <a:p>
            <a:pPr marL="285750" indent="-285750">
              <a:buFont typeface="Arial"/>
              <a:buChar char="•"/>
            </a:pPr>
            <a:r>
              <a:rPr lang="en-GB" sz="1800">
                <a:latin typeface="Arial"/>
                <a:cs typeface="Arial"/>
              </a:rPr>
              <a:t>Take turns making a one- or 2-digit number. </a:t>
            </a:r>
          </a:p>
          <a:p>
            <a:r>
              <a:rPr lang="en-GB" sz="1800">
                <a:latin typeface="Arial"/>
                <a:cs typeface="Arial"/>
              </a:rPr>
              <a:t>🧠 Example: 87 + 7 = 94 </a:t>
            </a:r>
          </a:p>
          <a:p>
            <a:endParaRPr lang="en-GB" sz="1800" b="1">
              <a:latin typeface="Arial"/>
              <a:cs typeface="Arial"/>
            </a:endParaRPr>
          </a:p>
          <a:p>
            <a:endParaRPr lang="en-GB" b="1"/>
          </a:p>
          <a:p>
            <a:br>
              <a:rPr lang="en-GB"/>
            </a:br>
            <a:endParaRPr lang="en-GB"/>
          </a:p>
          <a:p>
            <a:endParaRPr lang="en-GB"/>
          </a:p>
        </p:txBody>
      </p:sp>
      <p:pic>
        <p:nvPicPr>
          <p:cNvPr id="12" name="Picture 11" descr="A set of 6 playing cards: 7 of hearts, 3 of spades, 5 of hearts, 8 of spades, 2 of diamonds and 7 of clubs.">
            <a:extLst>
              <a:ext uri="{FF2B5EF4-FFF2-40B4-BE49-F238E27FC236}">
                <a16:creationId xmlns:a16="http://schemas.microsoft.com/office/drawing/2014/main" id="{3245F499-7350-2BDE-3627-3F48991B4531}"/>
              </a:ext>
            </a:extLst>
          </p:cNvPr>
          <p:cNvPicPr>
            <a:picLocks noChangeAspect="1"/>
          </p:cNvPicPr>
          <p:nvPr/>
        </p:nvPicPr>
        <p:blipFill>
          <a:blip r:embed="rId3">
            <a:extLst>
              <a:ext uri="{28A0092B-C50C-407E-A947-70E740481C1C}">
                <a14:useLocalDpi xmlns:a14="http://schemas.microsoft.com/office/drawing/2010/main" val="0"/>
              </a:ext>
            </a:extLst>
          </a:blip>
          <a:srcRect l="-1" t="23629" r="918" b="38397"/>
          <a:stretch>
            <a:fillRect/>
          </a:stretch>
        </p:blipFill>
        <p:spPr>
          <a:xfrm>
            <a:off x="1290438" y="3893697"/>
            <a:ext cx="9611124" cy="2604303"/>
          </a:xfrm>
          <a:prstGeom prst="rect">
            <a:avLst/>
          </a:prstGeom>
        </p:spPr>
      </p:pic>
      <p:sp>
        <p:nvSpPr>
          <p:cNvPr id="13" name="Text Placeholder 4">
            <a:extLst>
              <a:ext uri="{FF2B5EF4-FFF2-40B4-BE49-F238E27FC236}">
                <a16:creationId xmlns:a16="http://schemas.microsoft.com/office/drawing/2014/main" id="{AADEA16B-AB84-BE93-A9B2-03B1F1655B9D}"/>
              </a:ext>
            </a:extLst>
          </p:cNvPr>
          <p:cNvSpPr txBox="1">
            <a:spLocks/>
          </p:cNvSpPr>
          <p:nvPr/>
        </p:nvSpPr>
        <p:spPr>
          <a:xfrm>
            <a:off x="5952501" y="905601"/>
            <a:ext cx="4813884" cy="2828177"/>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b="1">
                <a:latin typeface="Arial"/>
                <a:cs typeface="Arial"/>
              </a:rPr>
              <a:t>Consider:</a:t>
            </a:r>
            <a:endParaRPr lang="en-US" sz="1800">
              <a:latin typeface="Arial"/>
              <a:cs typeface="Arial"/>
            </a:endParaRPr>
          </a:p>
          <a:p>
            <a:pPr marL="285750" indent="-285750">
              <a:buFont typeface="Arial"/>
              <a:buChar char="•"/>
            </a:pPr>
            <a:r>
              <a:rPr lang="en-GB" sz="1800">
                <a:latin typeface="Arial"/>
                <a:cs typeface="Arial"/>
              </a:rPr>
              <a:t>How can I use addition or subtraction to keep my total as low as possible?</a:t>
            </a:r>
            <a:endParaRPr lang="en-GB" sz="1800" b="1">
              <a:latin typeface="Arial"/>
              <a:cs typeface="Arial"/>
            </a:endParaRPr>
          </a:p>
          <a:p>
            <a:endParaRPr lang="en-GB" b="1"/>
          </a:p>
          <a:p>
            <a:br>
              <a:rPr lang="en-GB"/>
            </a:br>
            <a:endParaRPr lang="en-GB"/>
          </a:p>
          <a:p>
            <a:endParaRPr lang="en-GB"/>
          </a:p>
        </p:txBody>
      </p:sp>
      <p:pic>
        <p:nvPicPr>
          <p:cNvPr id="4" name="Picture 2" descr="image of a head with cogs turning inside">
            <a:extLst>
              <a:ext uri="{FF2B5EF4-FFF2-40B4-BE49-F238E27FC236}">
                <a16:creationId xmlns:a16="http://schemas.microsoft.com/office/drawing/2014/main" id="{1D9F2C15-6D4A-0F79-8BBF-B1093F2207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16677" y="188018"/>
            <a:ext cx="768795"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3744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35F4CD-8487-40BA-C995-9F75C9273AD3}"/>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(4)</a:t>
            </a:r>
          </a:p>
        </p:txBody>
      </p:sp>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1285239" y="1626667"/>
            <a:ext cx="6851810" cy="893226"/>
          </a:xfrm>
        </p:spPr>
        <p:txBody>
          <a:bodyPr/>
          <a:lstStyle/>
          <a:p>
            <a:pPr algn="ctr"/>
            <a:r>
              <a:rPr lang="en-US" sz="4400" dirty="0"/>
              <a:t>88 – 46 =</a:t>
            </a:r>
          </a:p>
        </p:txBody>
      </p:sp>
      <p:sp>
        <p:nvSpPr>
          <p:cNvPr id="9" name="TextBox 8">
            <a:extLst>
              <a:ext uri="{FF2B5EF4-FFF2-40B4-BE49-F238E27FC236}">
                <a16:creationId xmlns:a16="http://schemas.microsoft.com/office/drawing/2014/main" id="{8B9CE09D-4912-352C-EDD3-2F5B22293E2B}"/>
              </a:ext>
            </a:extLst>
          </p:cNvPr>
          <p:cNvSpPr txBox="1"/>
          <p:nvPr/>
        </p:nvSpPr>
        <p:spPr>
          <a:xfrm>
            <a:off x="1266559" y="503482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720C9BD-206D-1246-CC58-B94DA2A9FDA7}"/>
              </a:ext>
            </a:extLst>
          </p:cNvPr>
          <p:cNvSpPr txBox="1"/>
          <p:nvPr/>
        </p:nvSpPr>
        <p:spPr>
          <a:xfrm>
            <a:off x="4270532" y="503482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278479" y="503482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274505" y="503482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7" name="TextBox 16">
            <a:extLst>
              <a:ext uri="{FF2B5EF4-FFF2-40B4-BE49-F238E27FC236}">
                <a16:creationId xmlns:a16="http://schemas.microsoft.com/office/drawing/2014/main" id="{2A3E1DF9-1F64-62B5-8BAB-FA958D494248}"/>
              </a:ext>
            </a:extLst>
          </p:cNvPr>
          <p:cNvSpPr txBox="1"/>
          <p:nvPr/>
        </p:nvSpPr>
        <p:spPr>
          <a:xfrm>
            <a:off x="779489" y="5718089"/>
            <a:ext cx="10344511" cy="1599344"/>
          </a:xfrm>
          <a:prstGeom prst="rect">
            <a:avLst/>
          </a:prstGeom>
          <a:noFill/>
        </p:spPr>
        <p:txBody>
          <a:bodyPr wrap="square" lIns="0" tIns="0" rIns="0" bIns="0" rtlCol="0">
            <a:noAutofit/>
          </a:bodyPr>
          <a:lstStyle/>
          <a:p>
            <a:pPr algn="l"/>
            <a:r>
              <a:rPr lang="en-AU" sz="4400" dirty="0"/>
              <a:t>  44                26                32               42</a:t>
            </a:r>
          </a:p>
        </p:txBody>
      </p:sp>
      <p:pic>
        <p:nvPicPr>
          <p:cNvPr id="13" name="Picture 12" descr="A number line showing 88 on the right. 40, then 5 and then 1 have been subtracted to find the answer.">
            <a:extLst>
              <a:ext uri="{FF2B5EF4-FFF2-40B4-BE49-F238E27FC236}">
                <a16:creationId xmlns:a16="http://schemas.microsoft.com/office/drawing/2014/main" id="{35F133A6-6B95-D863-AB68-8DB22495DC78}"/>
              </a:ext>
            </a:extLst>
          </p:cNvPr>
          <p:cNvPicPr>
            <a:picLocks noChangeAspect="1"/>
          </p:cNvPicPr>
          <p:nvPr/>
        </p:nvPicPr>
        <p:blipFill>
          <a:blip r:embed="rId4"/>
          <a:stretch>
            <a:fillRect/>
          </a:stretch>
        </p:blipFill>
        <p:spPr>
          <a:xfrm>
            <a:off x="3480047" y="1123208"/>
            <a:ext cx="7800683" cy="3633195"/>
          </a:xfrm>
          <a:prstGeom prst="rect">
            <a:avLst/>
          </a:prstGeom>
        </p:spPr>
      </p:pic>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82B3460-14FB-6F83-755E-51107B1C183A}"/>
              </a:ext>
            </a:extLst>
          </p:cNvPr>
          <p:cNvSpPr txBox="1"/>
          <p:nvPr/>
        </p:nvSpPr>
        <p:spPr>
          <a:xfrm>
            <a:off x="934279" y="1184223"/>
            <a:ext cx="10535478" cy="4557010"/>
          </a:xfrm>
          <a:prstGeom prst="rect">
            <a:avLst/>
          </a:prstGeom>
          <a:noFill/>
        </p:spPr>
        <p:txBody>
          <a:bodyPr wrap="square" lIns="0" tIns="0" rIns="0" bIns="0" rtlCol="0">
            <a:noAutofit/>
          </a:bodyPr>
          <a:lstStyle/>
          <a:p>
            <a:pPr algn="ctr">
              <a:lnSpc>
                <a:spcPct val="150000"/>
              </a:lnSpc>
            </a:pPr>
            <a:r>
              <a:rPr lang="en-AU" sz="4400" dirty="0"/>
              <a:t>Albie </a:t>
            </a:r>
            <a:r>
              <a:rPr lang="en-AU" sz="4400" b="1" dirty="0"/>
              <a:t>has</a:t>
            </a:r>
            <a:r>
              <a:rPr lang="en-AU" sz="4400" dirty="0"/>
              <a:t> 245 marbles. </a:t>
            </a:r>
          </a:p>
          <a:p>
            <a:pPr algn="ctr">
              <a:lnSpc>
                <a:spcPct val="150000"/>
              </a:lnSpc>
            </a:pPr>
            <a:r>
              <a:rPr lang="en-AU" sz="4400" dirty="0"/>
              <a:t>He </a:t>
            </a:r>
            <a:r>
              <a:rPr lang="en-AU" sz="4400" b="1" dirty="0"/>
              <a:t>gives </a:t>
            </a:r>
            <a:r>
              <a:rPr lang="en-AU" sz="4400" dirty="0"/>
              <a:t>78 to Blair. </a:t>
            </a:r>
          </a:p>
          <a:p>
            <a:pPr algn="ctr">
              <a:lnSpc>
                <a:spcPct val="150000"/>
              </a:lnSpc>
            </a:pPr>
            <a:r>
              <a:rPr lang="en-AU" sz="4400" b="1" dirty="0"/>
              <a:t>How many </a:t>
            </a:r>
            <a:r>
              <a:rPr lang="en-AU" sz="4400" dirty="0"/>
              <a:t>marbles does Albie </a:t>
            </a:r>
            <a:r>
              <a:rPr lang="en-AU" sz="4400" b="1" dirty="0"/>
              <a:t>have</a:t>
            </a:r>
            <a:r>
              <a:rPr lang="en-AU" sz="4400" dirty="0"/>
              <a:t> </a:t>
            </a:r>
            <a:r>
              <a:rPr lang="en-AU" sz="4400" b="1" dirty="0"/>
              <a:t>left?</a:t>
            </a:r>
          </a:p>
          <a:p>
            <a:pPr algn="ctr">
              <a:lnSpc>
                <a:spcPct val="150000"/>
              </a:lnSpc>
            </a:pPr>
            <a:endParaRPr lang="en-AU" sz="4400" dirty="0"/>
          </a:p>
          <a:p>
            <a:pPr algn="ctr">
              <a:lnSpc>
                <a:spcPct val="150000"/>
              </a:lnSpc>
            </a:pPr>
            <a:r>
              <a:rPr lang="en-AU" sz="4400" b="1" dirty="0"/>
              <a:t>Communicate</a:t>
            </a:r>
            <a:r>
              <a:rPr lang="en-AU" sz="4400" dirty="0"/>
              <a:t> your </a:t>
            </a:r>
            <a:r>
              <a:rPr lang="en-AU" sz="4400" b="1" dirty="0"/>
              <a:t>strategy</a:t>
            </a:r>
            <a:r>
              <a:rPr lang="en-AU" sz="4400" dirty="0"/>
              <a:t>.</a:t>
            </a:r>
          </a:p>
          <a:p>
            <a:pPr algn="ctr">
              <a:lnSpc>
                <a:spcPct val="150000"/>
              </a:lnSpc>
            </a:pPr>
            <a:endParaRPr lang="en-AU" sz="4400" b="1" dirty="0"/>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2339BA2-BE98-5081-BAAE-B19A0317648F}"/>
              </a:ext>
            </a:extLst>
          </p:cNvPr>
          <p:cNvSpPr txBox="1"/>
          <p:nvPr/>
        </p:nvSpPr>
        <p:spPr>
          <a:xfrm>
            <a:off x="455543" y="1608837"/>
            <a:ext cx="11280913" cy="4482548"/>
          </a:xfrm>
          <a:prstGeom prst="rect">
            <a:avLst/>
          </a:prstGeom>
          <a:noFill/>
        </p:spPr>
        <p:txBody>
          <a:bodyPr wrap="square" lIns="0" tIns="0" rIns="0" bIns="0" rtlCol="0">
            <a:noAutofit/>
          </a:bodyPr>
          <a:lstStyle/>
          <a:p>
            <a:pPr algn="ctr">
              <a:lnSpc>
                <a:spcPct val="150000"/>
              </a:lnSpc>
            </a:pPr>
            <a:r>
              <a:rPr lang="en-AU" sz="4400" dirty="0"/>
              <a:t>Complete the patterns:</a:t>
            </a:r>
          </a:p>
          <a:p>
            <a:pPr algn="ctr">
              <a:lnSpc>
                <a:spcPct val="200000"/>
              </a:lnSpc>
            </a:pPr>
            <a:r>
              <a:rPr lang="en-AU" sz="4400" dirty="0"/>
              <a:t>16, 18, 20, __, 24, __.</a:t>
            </a:r>
          </a:p>
          <a:p>
            <a:pPr algn="ctr">
              <a:lnSpc>
                <a:spcPct val="200000"/>
              </a:lnSpc>
            </a:pPr>
            <a:r>
              <a:rPr lang="en-AU" sz="4400" dirty="0"/>
              <a:t>15, 20, 25, ___, 35, ___, ___.</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91D42E6-F63B-2701-1914-92CD67E8FCBD}"/>
              </a:ext>
            </a:extLst>
          </p:cNvPr>
          <p:cNvSpPr txBox="1"/>
          <p:nvPr/>
        </p:nvSpPr>
        <p:spPr>
          <a:xfrm>
            <a:off x="298174" y="1033670"/>
            <a:ext cx="11449878" cy="4790660"/>
          </a:xfrm>
          <a:prstGeom prst="rect">
            <a:avLst/>
          </a:prstGeom>
          <a:noFill/>
        </p:spPr>
        <p:txBody>
          <a:bodyPr wrap="square" lIns="0" tIns="0" rIns="0" bIns="0" rtlCol="0">
            <a:noAutofit/>
          </a:bodyPr>
          <a:lstStyle/>
          <a:p>
            <a:pPr algn="ctr">
              <a:lnSpc>
                <a:spcPct val="200000"/>
              </a:lnSpc>
            </a:pPr>
            <a:r>
              <a:rPr lang="en-AU" sz="4400" dirty="0"/>
              <a:t>Tom folded a strip of paper </a:t>
            </a:r>
            <a:r>
              <a:rPr lang="en-AU" sz="4400" b="1" dirty="0"/>
              <a:t>in half</a:t>
            </a:r>
            <a:r>
              <a:rPr lang="en-AU" sz="4400" dirty="0"/>
              <a:t>, </a:t>
            </a:r>
          </a:p>
          <a:p>
            <a:pPr algn="ctr">
              <a:lnSpc>
                <a:spcPct val="200000"/>
              </a:lnSpc>
            </a:pPr>
            <a:r>
              <a:rPr lang="en-AU" sz="4400" dirty="0"/>
              <a:t>then </a:t>
            </a:r>
            <a:r>
              <a:rPr lang="en-AU" sz="4400" b="1" dirty="0"/>
              <a:t>in half again </a:t>
            </a:r>
            <a:r>
              <a:rPr lang="en-AU" sz="4400" dirty="0"/>
              <a:t>and </a:t>
            </a:r>
            <a:r>
              <a:rPr lang="en-AU" sz="4400" b="1" dirty="0"/>
              <a:t>in half again</a:t>
            </a:r>
            <a:r>
              <a:rPr lang="en-AU" sz="4400" dirty="0"/>
              <a:t>.</a:t>
            </a:r>
          </a:p>
          <a:p>
            <a:pPr algn="ctr">
              <a:lnSpc>
                <a:spcPct val="200000"/>
              </a:lnSpc>
            </a:pPr>
            <a:r>
              <a:rPr lang="en-AU" sz="4400" dirty="0"/>
              <a:t>When Tom opened his paper, </a:t>
            </a:r>
          </a:p>
          <a:p>
            <a:pPr algn="ctr">
              <a:lnSpc>
                <a:spcPct val="200000"/>
              </a:lnSpc>
            </a:pPr>
            <a:r>
              <a:rPr lang="en-AU" sz="4400" dirty="0"/>
              <a:t>how many equal parts did he have?</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E6A6DB19-EE1E-2B46-716D-408B225196C7}"/>
              </a:ext>
            </a:extLst>
          </p:cNvPr>
          <p:cNvSpPr txBox="1"/>
          <p:nvPr/>
        </p:nvSpPr>
        <p:spPr>
          <a:xfrm>
            <a:off x="337503" y="4497902"/>
            <a:ext cx="11506497" cy="1020336"/>
          </a:xfrm>
          <a:prstGeom prst="rect">
            <a:avLst/>
          </a:prstGeom>
          <a:noFill/>
        </p:spPr>
        <p:txBody>
          <a:bodyPr wrap="square" lIns="0" tIns="0" rIns="0" bIns="0" rtlCol="0">
            <a:noAutofit/>
          </a:bodyPr>
          <a:lstStyle/>
          <a:p>
            <a:pPr algn="ctr">
              <a:lnSpc>
                <a:spcPct val="150000"/>
              </a:lnSpc>
            </a:pPr>
            <a:r>
              <a:rPr lang="en-AU" sz="4400" b="1" dirty="0"/>
              <a:t>Record</a:t>
            </a:r>
            <a:r>
              <a:rPr lang="en-AU" sz="4400" dirty="0"/>
              <a:t> the </a:t>
            </a:r>
            <a:r>
              <a:rPr lang="en-AU" sz="4400" b="1" dirty="0"/>
              <a:t>name</a:t>
            </a:r>
            <a:r>
              <a:rPr lang="en-AU" sz="4400" dirty="0"/>
              <a:t> and the </a:t>
            </a:r>
            <a:r>
              <a:rPr lang="en-AU" sz="4400" b="1" dirty="0"/>
              <a:t>number of faces </a:t>
            </a:r>
          </a:p>
          <a:p>
            <a:pPr algn="ctr">
              <a:lnSpc>
                <a:spcPct val="150000"/>
              </a:lnSpc>
            </a:pPr>
            <a:r>
              <a:rPr lang="en-AU" sz="4400" dirty="0"/>
              <a:t>this 3D object has</a:t>
            </a:r>
            <a:r>
              <a:rPr lang="en-AU" sz="1800" dirty="0"/>
              <a:t>.</a:t>
            </a:r>
          </a:p>
        </p:txBody>
      </p:sp>
      <p:pic>
        <p:nvPicPr>
          <p:cNvPr id="8" name="Picture 7" descr="A rectangular prism.">
            <a:extLst>
              <a:ext uri="{FF2B5EF4-FFF2-40B4-BE49-F238E27FC236}">
                <a16:creationId xmlns:a16="http://schemas.microsoft.com/office/drawing/2014/main" id="{6669DB2F-8F6C-2822-1A2C-2D03B4B3B0FC}"/>
              </a:ext>
            </a:extLst>
          </p:cNvPr>
          <p:cNvPicPr>
            <a:picLocks noChangeAspect="1"/>
          </p:cNvPicPr>
          <p:nvPr/>
        </p:nvPicPr>
        <p:blipFill>
          <a:blip r:embed="rId4"/>
          <a:stretch>
            <a:fillRect/>
          </a:stretch>
        </p:blipFill>
        <p:spPr>
          <a:xfrm rot="6716638">
            <a:off x="4563498" y="326910"/>
            <a:ext cx="3054507" cy="4629388"/>
          </a:xfrm>
          <a:prstGeom prst="rect">
            <a:avLst/>
          </a:prstGeom>
        </p:spPr>
      </p:pic>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9C853-4B7A-7034-F619-8C61F7792A0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1C92CD-35EE-0683-3FA3-539F2DDBEA94}"/>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73811FA8-FF04-4864-D4D2-8D97A9D21A60}"/>
              </a:ext>
            </a:extLst>
          </p:cNvPr>
          <p:cNvSpPr>
            <a:spLocks noGrp="1"/>
          </p:cNvSpPr>
          <p:nvPr>
            <p:ph type="title"/>
          </p:nvPr>
        </p:nvSpPr>
        <p:spPr>
          <a:xfrm>
            <a:off x="360000" y="360000"/>
            <a:ext cx="11484000" cy="545601"/>
          </a:xfrm>
        </p:spPr>
        <p:txBody>
          <a:bodyPr/>
          <a:lstStyle/>
          <a:p>
            <a:r>
              <a:rPr lang="en-AU" dirty="0">
                <a:latin typeface="Arial"/>
                <a:cs typeface="Arial"/>
              </a:rPr>
              <a:t>Activity 7– double or halve</a:t>
            </a:r>
            <a:endParaRPr lang="en-US" dirty="0">
              <a:latin typeface="Arial"/>
              <a:cs typeface="Arial"/>
            </a:endParaRPr>
          </a:p>
        </p:txBody>
      </p:sp>
      <p:sp>
        <p:nvSpPr>
          <p:cNvPr id="19" name="TextBox 18">
            <a:extLst>
              <a:ext uri="{FF2B5EF4-FFF2-40B4-BE49-F238E27FC236}">
                <a16:creationId xmlns:a16="http://schemas.microsoft.com/office/drawing/2014/main" id="{3991FB75-CEEC-2A99-A339-10EA40060DF5}"/>
              </a:ext>
            </a:extLst>
          </p:cNvPr>
          <p:cNvSpPr txBox="1"/>
          <p:nvPr/>
        </p:nvSpPr>
        <p:spPr>
          <a:xfrm>
            <a:off x="360000" y="1154982"/>
            <a:ext cx="4960198" cy="5132187"/>
          </a:xfrm>
          <a:prstGeom prst="rect">
            <a:avLst/>
          </a:prstGeom>
          <a:noFill/>
        </p:spPr>
        <p:txBody>
          <a:bodyPr wrap="square" lIns="0" tIns="0" rIns="0" bIns="0" rtlCol="0">
            <a:noAutofit/>
          </a:bodyPr>
          <a:lstStyle/>
          <a:p>
            <a:pPr algn="l">
              <a:lnSpc>
                <a:spcPct val="150000"/>
              </a:lnSpc>
            </a:pPr>
            <a:r>
              <a:rPr lang="en-AU">
                <a:solidFill>
                  <a:schemeClr val="accent2"/>
                </a:solidFill>
                <a:latin typeface="Edu NSW ACT Foundation" pitchFamily="2" charset="0"/>
              </a:rPr>
              <a:t>In pairs:</a:t>
            </a:r>
          </a:p>
          <a:p>
            <a:pPr marL="285750" indent="-285750" algn="l">
              <a:lnSpc>
                <a:spcPct val="150000"/>
              </a:lnSpc>
              <a:buFont typeface="Arial" panose="020B0604020202020204" pitchFamily="34" charset="0"/>
              <a:buChar char="•"/>
            </a:pPr>
            <a:r>
              <a:rPr lang="en-AU">
                <a:latin typeface="Edu NSW ACT Foundation" pitchFamily="2" charset="0"/>
              </a:rPr>
              <a:t>Choose a target number.</a:t>
            </a:r>
          </a:p>
          <a:p>
            <a:pPr marL="285750" indent="-285750" algn="l">
              <a:lnSpc>
                <a:spcPct val="150000"/>
              </a:lnSpc>
              <a:buFont typeface="Arial" panose="020B0604020202020204" pitchFamily="34" charset="0"/>
              <a:buChar char="•"/>
            </a:pPr>
            <a:r>
              <a:rPr lang="en-AU">
                <a:latin typeface="Edu NSW ACT Foundation" pitchFamily="2" charset="0"/>
              </a:rPr>
              <a:t>Players take turns to roll the dice and choose to double or halve the number.</a:t>
            </a:r>
          </a:p>
          <a:p>
            <a:pPr marL="285750" indent="-285750" algn="l">
              <a:lnSpc>
                <a:spcPct val="150000"/>
              </a:lnSpc>
              <a:buFont typeface="Arial" panose="020B0604020202020204" pitchFamily="34" charset="0"/>
              <a:buChar char="•"/>
            </a:pPr>
            <a:r>
              <a:rPr lang="en-AU">
                <a:latin typeface="Edu NSW ACT Foundation" pitchFamily="2" charset="0"/>
              </a:rPr>
              <a:t>Players shade the number of squares rolled.</a:t>
            </a:r>
          </a:p>
          <a:p>
            <a:pPr marL="285750" indent="-285750" algn="l">
              <a:lnSpc>
                <a:spcPct val="150000"/>
              </a:lnSpc>
              <a:buFont typeface="Arial" panose="020B0604020202020204" pitchFamily="34" charset="0"/>
              <a:buChar char="•"/>
            </a:pPr>
            <a:r>
              <a:rPr lang="en-AU">
                <a:latin typeface="Edu NSW ACT Foundation" pitchFamily="2" charset="0"/>
              </a:rPr>
              <a:t>Players record a running total on the side of the grid.</a:t>
            </a:r>
          </a:p>
          <a:p>
            <a:pPr algn="l">
              <a:lnSpc>
                <a:spcPct val="150000"/>
              </a:lnSpc>
            </a:pPr>
            <a:endParaRPr lang="en-AU">
              <a:latin typeface="Edu NSW ACT Foundation" pitchFamily="2" charset="0"/>
            </a:endParaRPr>
          </a:p>
        </p:txBody>
      </p:sp>
      <p:pic>
        <p:nvPicPr>
          <p:cNvPr id="5" name="Picture 4" descr="A hundred chart with coloured groups of squares in purple and blue representing addition combinations. On the right, the target number 27 is written. Numbers 4, 12, 24, 29, and 5 are listed, with 29 circled and 27 highlighted in blue.">
            <a:extLst>
              <a:ext uri="{FF2B5EF4-FFF2-40B4-BE49-F238E27FC236}">
                <a16:creationId xmlns:a16="http://schemas.microsoft.com/office/drawing/2014/main" id="{C40C8825-89E0-EF71-BC67-160D96889E48}"/>
              </a:ext>
            </a:extLst>
          </p:cNvPr>
          <p:cNvPicPr>
            <a:picLocks noChangeAspect="1"/>
          </p:cNvPicPr>
          <p:nvPr/>
        </p:nvPicPr>
        <p:blipFill>
          <a:blip r:embed="rId3"/>
          <a:stretch>
            <a:fillRect/>
          </a:stretch>
        </p:blipFill>
        <p:spPr>
          <a:xfrm>
            <a:off x="5687800" y="1154981"/>
            <a:ext cx="6110684" cy="4762739"/>
          </a:xfrm>
          <a:prstGeom prst="rect">
            <a:avLst/>
          </a:prstGeom>
          <a:ln>
            <a:noFill/>
          </a:ln>
          <a:effectLst>
            <a:outerShdw blurRad="292100" dist="139700" dir="2700000" algn="tl" rotWithShape="0">
              <a:srgbClr val="333333">
                <a:alpha val="65000"/>
              </a:srgbClr>
            </a:outerShdw>
          </a:effectLst>
        </p:spPr>
      </p:pic>
      <p:pic>
        <p:nvPicPr>
          <p:cNvPr id="4" name="Picture 2" descr="image of a head with cogs turning inside">
            <a:extLst>
              <a:ext uri="{FF2B5EF4-FFF2-40B4-BE49-F238E27FC236}">
                <a16:creationId xmlns:a16="http://schemas.microsoft.com/office/drawing/2014/main" id="{CD97329C-5148-CA9E-4F86-720078F0E4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16677" y="188018"/>
            <a:ext cx="768795"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863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dirty="0"/>
              <a:t>True or false </a:t>
            </a:r>
            <a:r>
              <a:rPr lang="en-US" dirty="0">
                <a:solidFill>
                  <a:schemeClr val="bg1"/>
                </a:solidFill>
              </a:rPr>
              <a:t>(4)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999684679"/>
              </p:ext>
            </p:extLst>
          </p:nvPr>
        </p:nvGraphicFramePr>
        <p:xfrm>
          <a:off x="2701398" y="433882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p:txBody>
          <a:bodyPr/>
          <a:lstStyle/>
          <a:p>
            <a:pPr algn="ctr"/>
            <a:r>
              <a:rPr lang="en-AU" sz="4400" dirty="0"/>
              <a:t>To solve 62 – 5, you can think 62 – 2 = 60, then subtract 3 more to make 57.</a:t>
            </a:r>
          </a:p>
        </p:txBody>
      </p:sp>
      <p:sp>
        <p:nvSpPr>
          <p:cNvPr id="7" name="TextBox 6">
            <a:extLst>
              <a:ext uri="{FF2B5EF4-FFF2-40B4-BE49-F238E27FC236}">
                <a16:creationId xmlns:a16="http://schemas.microsoft.com/office/drawing/2014/main" id="{56B8F0F4-3205-9CDA-E7E1-EB936C3ED477}"/>
              </a:ext>
            </a:extLst>
          </p:cNvPr>
          <p:cNvSpPr txBox="1"/>
          <p:nvPr/>
        </p:nvSpPr>
        <p:spPr>
          <a:xfrm>
            <a:off x="2140226" y="5232054"/>
            <a:ext cx="7911548" cy="982513"/>
          </a:xfrm>
          <a:prstGeom prst="rect">
            <a:avLst/>
          </a:prstGeom>
          <a:noFill/>
        </p:spPr>
        <p:txBody>
          <a:bodyPr wrap="square">
            <a:spAutoFit/>
          </a:bodyPr>
          <a:lstStyle/>
          <a:p>
            <a:pPr algn="ctr">
              <a:lnSpc>
                <a:spcPct val="150000"/>
              </a:lnSpc>
            </a:pPr>
            <a:r>
              <a:rPr lang="en-AU" sz="4400" b="1" dirty="0"/>
              <a:t>Communicate</a:t>
            </a:r>
            <a:r>
              <a:rPr lang="en-AU" sz="4400" dirty="0"/>
              <a:t> your </a:t>
            </a:r>
            <a:r>
              <a:rPr lang="en-AU" sz="4400" b="1" dirty="0"/>
              <a:t>thinking</a:t>
            </a:r>
            <a:r>
              <a:rPr lang="en-AU" sz="4400" dirty="0"/>
              <a:t>.</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476D2782-0C8F-684B-5C70-8DD144D0C1D5}"/>
              </a:ext>
            </a:extLst>
          </p:cNvPr>
          <p:cNvSpPr txBox="1"/>
          <p:nvPr/>
        </p:nvSpPr>
        <p:spPr>
          <a:xfrm>
            <a:off x="839449" y="1184223"/>
            <a:ext cx="9887819" cy="4287187"/>
          </a:xfrm>
          <a:prstGeom prst="rect">
            <a:avLst/>
          </a:prstGeom>
          <a:noFill/>
        </p:spPr>
        <p:txBody>
          <a:bodyPr wrap="square" lIns="0" tIns="0" rIns="0" bIns="0" rtlCol="0">
            <a:noAutofit/>
          </a:bodyPr>
          <a:lstStyle/>
          <a:p>
            <a:pPr algn="ctr">
              <a:lnSpc>
                <a:spcPct val="150000"/>
              </a:lnSpc>
            </a:pPr>
            <a:r>
              <a:rPr lang="en-AU" sz="4400" dirty="0"/>
              <a:t>Elsa </a:t>
            </a:r>
            <a:r>
              <a:rPr lang="en-AU" sz="4400" b="1" dirty="0"/>
              <a:t>had</a:t>
            </a:r>
            <a:r>
              <a:rPr lang="en-AU" sz="4400" dirty="0"/>
              <a:t> 186 stickers. Anna </a:t>
            </a:r>
            <a:r>
              <a:rPr lang="en-AU" sz="4400" b="1" dirty="0"/>
              <a:t>gave</a:t>
            </a:r>
            <a:r>
              <a:rPr lang="en-AU" sz="4400" dirty="0"/>
              <a:t> her 129 more. </a:t>
            </a:r>
            <a:r>
              <a:rPr lang="en-AU" sz="4400" b="1" dirty="0"/>
              <a:t>How many </a:t>
            </a:r>
            <a:r>
              <a:rPr lang="en-AU" sz="4400" dirty="0"/>
              <a:t>stickers does Elsa have </a:t>
            </a:r>
            <a:r>
              <a:rPr lang="en-AU" sz="4400" b="1" dirty="0"/>
              <a:t>altogether</a:t>
            </a:r>
            <a:r>
              <a:rPr lang="en-AU" sz="4400" dirty="0"/>
              <a:t>?</a:t>
            </a:r>
          </a:p>
          <a:p>
            <a:pPr algn="ctr">
              <a:lnSpc>
                <a:spcPct val="150000"/>
              </a:lnSpc>
            </a:pPr>
            <a:endParaRPr lang="en-AU" sz="4400" dirty="0"/>
          </a:p>
          <a:p>
            <a:pPr algn="ctr">
              <a:lnSpc>
                <a:spcPct val="150000"/>
              </a:lnSpc>
            </a:pPr>
            <a:r>
              <a:rPr lang="en-AU" sz="4400" b="1" dirty="0"/>
              <a:t>Communicate</a:t>
            </a:r>
            <a:r>
              <a:rPr lang="en-AU" sz="4400" dirty="0"/>
              <a:t> your </a:t>
            </a:r>
            <a:r>
              <a:rPr lang="en-AU" sz="4400" b="1" dirty="0"/>
              <a:t>strategy</a:t>
            </a:r>
            <a:r>
              <a:rPr lang="en-AU" sz="4400" dirty="0"/>
              <a:t>.</a:t>
            </a:r>
          </a:p>
          <a:p>
            <a:pPr algn="ctr">
              <a:lnSpc>
                <a:spcPct val="150000"/>
              </a:lnSpc>
            </a:pPr>
            <a:endParaRPr lang="en-AU" sz="4400" dirty="0"/>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AD9C4C65-30C2-0C5A-374A-B4D0F42A6746}"/>
              </a:ext>
            </a:extLst>
          </p:cNvPr>
          <p:cNvSpPr txBox="1"/>
          <p:nvPr/>
        </p:nvSpPr>
        <p:spPr>
          <a:xfrm>
            <a:off x="2040834" y="2294452"/>
            <a:ext cx="8110331" cy="2269095"/>
          </a:xfrm>
          <a:prstGeom prst="rect">
            <a:avLst/>
          </a:prstGeom>
          <a:noFill/>
        </p:spPr>
        <p:txBody>
          <a:bodyPr wrap="square" lIns="0" tIns="0" rIns="0" bIns="0" rtlCol="0">
            <a:noAutofit/>
          </a:bodyPr>
          <a:lstStyle/>
          <a:p>
            <a:pPr algn="ctr">
              <a:lnSpc>
                <a:spcPct val="150000"/>
              </a:lnSpc>
            </a:pPr>
            <a:r>
              <a:rPr lang="en-AU" sz="4400" b="1" dirty="0"/>
              <a:t>Draw</a:t>
            </a:r>
            <a:r>
              <a:rPr lang="en-AU" sz="4400" dirty="0"/>
              <a:t> an </a:t>
            </a:r>
            <a:r>
              <a:rPr lang="en-AU" sz="4400" b="1" dirty="0"/>
              <a:t>array</a:t>
            </a:r>
            <a:r>
              <a:rPr lang="en-AU" sz="4400" dirty="0"/>
              <a:t> structure to show </a:t>
            </a:r>
            <a:r>
              <a:rPr lang="en-AU" sz="4400" b="1" dirty="0"/>
              <a:t>4</a:t>
            </a:r>
            <a:r>
              <a:rPr lang="en-AU" sz="4400" dirty="0"/>
              <a:t> multiples of </a:t>
            </a:r>
            <a:r>
              <a:rPr lang="en-AU" sz="4400" b="1" dirty="0"/>
              <a:t>5</a:t>
            </a:r>
            <a:r>
              <a:rPr lang="en-AU" sz="4400" dirty="0"/>
              <a:t>.</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0001EDE-264E-EBFB-AFDC-BEC55C87BFCE}"/>
              </a:ext>
            </a:extLst>
          </p:cNvPr>
          <p:cNvSpPr txBox="1"/>
          <p:nvPr/>
        </p:nvSpPr>
        <p:spPr>
          <a:xfrm>
            <a:off x="3061252" y="1627043"/>
            <a:ext cx="7176052" cy="4611757"/>
          </a:xfrm>
          <a:prstGeom prst="rect">
            <a:avLst/>
          </a:prstGeom>
          <a:noFill/>
        </p:spPr>
        <p:txBody>
          <a:bodyPr wrap="square" lIns="0" tIns="0" rIns="0" bIns="0" rtlCol="0">
            <a:noAutofit/>
          </a:bodyPr>
          <a:lstStyle/>
          <a:p>
            <a:pPr algn="ctr">
              <a:lnSpc>
                <a:spcPct val="150000"/>
              </a:lnSpc>
            </a:pPr>
            <a:r>
              <a:rPr lang="en-AU" sz="4400" dirty="0"/>
              <a:t>How many times do you need to </a:t>
            </a:r>
            <a:r>
              <a:rPr lang="en-AU" sz="4400" b="1" dirty="0"/>
              <a:t>fold a strip </a:t>
            </a:r>
            <a:r>
              <a:rPr lang="en-AU" sz="4400" dirty="0"/>
              <a:t>of paper in </a:t>
            </a:r>
            <a:r>
              <a:rPr lang="en-AU" sz="4400" b="1" dirty="0"/>
              <a:t>half</a:t>
            </a:r>
            <a:r>
              <a:rPr lang="en-AU" sz="4400" dirty="0"/>
              <a:t> to get </a:t>
            </a:r>
            <a:r>
              <a:rPr lang="en-AU" sz="4400" b="1" dirty="0"/>
              <a:t>8 equal parts</a:t>
            </a:r>
            <a:r>
              <a:rPr lang="en-AU" sz="4400" dirty="0"/>
              <a:t>?</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a:ln>
            <a:solidFill>
              <a:schemeClr val="bg1"/>
            </a:solidFill>
          </a:ln>
        </p:spPr>
      </p:pic>
      <p:sp>
        <p:nvSpPr>
          <p:cNvPr id="4" name="TextBox 3">
            <a:extLst>
              <a:ext uri="{FF2B5EF4-FFF2-40B4-BE49-F238E27FC236}">
                <a16:creationId xmlns:a16="http://schemas.microsoft.com/office/drawing/2014/main" id="{45F1D67D-C421-8F3D-EABF-08E16554FA4B}"/>
              </a:ext>
            </a:extLst>
          </p:cNvPr>
          <p:cNvSpPr txBox="1"/>
          <p:nvPr/>
        </p:nvSpPr>
        <p:spPr>
          <a:xfrm>
            <a:off x="529167" y="2755206"/>
            <a:ext cx="11133666" cy="89018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b="1" dirty="0">
                <a:cs typeface="Arial"/>
              </a:rPr>
              <a:t>Describe</a:t>
            </a:r>
            <a:r>
              <a:rPr lang="en-US" sz="4400" dirty="0">
                <a:cs typeface="Arial"/>
              </a:rPr>
              <a:t> a </a:t>
            </a:r>
            <a:r>
              <a:rPr lang="en-US" sz="4400" b="1" dirty="0">
                <a:cs typeface="Arial"/>
              </a:rPr>
              <a:t>pentagon</a:t>
            </a:r>
            <a:r>
              <a:rPr lang="en-US" sz="4400" dirty="0">
                <a:cs typeface="Arial"/>
              </a:rPr>
              <a:t>.</a:t>
            </a:r>
            <a:endParaRPr lang="en-US" dirty="0"/>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DB6609-8BD5-A4EF-6E3A-F7962D6EC26B}"/>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59</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23CB0EB7-101D-90BC-E20D-17505A893CF7}"/>
              </a:ext>
            </a:extLst>
          </p:cNvPr>
          <p:cNvSpPr>
            <a:spLocks noGrp="1"/>
          </p:cNvSpPr>
          <p:nvPr>
            <p:ph type="title"/>
          </p:nvPr>
        </p:nvSpPr>
        <p:spPr/>
        <p:txBody>
          <a:bodyPr/>
          <a:lstStyle/>
          <a:p>
            <a:r>
              <a:rPr lang="en-AU">
                <a:latin typeface="Arial"/>
                <a:cs typeface="Arial"/>
              </a:rPr>
              <a:t>Activity 8 – strategy snap</a:t>
            </a:r>
            <a:endParaRPr lang="en-US">
              <a:latin typeface="Arial"/>
              <a:cs typeface="Arial"/>
            </a:endParaRPr>
          </a:p>
        </p:txBody>
      </p:sp>
      <p:sp>
        <p:nvSpPr>
          <p:cNvPr id="4" name="Text Placeholder 3">
            <a:extLst>
              <a:ext uri="{FF2B5EF4-FFF2-40B4-BE49-F238E27FC236}">
                <a16:creationId xmlns:a16="http://schemas.microsoft.com/office/drawing/2014/main" id="{86715772-CBAE-6DD7-F7DC-49C23E95337E}"/>
              </a:ext>
            </a:extLst>
          </p:cNvPr>
          <p:cNvSpPr>
            <a:spLocks noGrp="1"/>
          </p:cNvSpPr>
          <p:nvPr>
            <p:ph type="body" sz="quarter" idx="18"/>
          </p:nvPr>
        </p:nvSpPr>
        <p:spPr/>
        <p:txBody>
          <a:bodyPr/>
          <a:lstStyle/>
          <a:p>
            <a:r>
              <a:rPr lang="en-GB"/>
              <a:t> </a:t>
            </a:r>
          </a:p>
        </p:txBody>
      </p:sp>
      <p:graphicFrame>
        <p:nvGraphicFramePr>
          <p:cNvPr id="7" name="Table 6" descr="A four-column table with the headings: &quot;Problem,&quot; &quot;Strategy used,&quot; &quot;Answer,&quot; and &quot;Why I Chose This Strategy / How It Helped.&quot;&#10;The row shows the example:&#10;&#10;Problem: 57 + 28&#10;&#10;Strategy used: Partitioning (50 + 20 + 7 + 8)&#10;&#10;Answer: 85&#10;&#10;Why I Chose This Strategy: It helped me break the numbers into tens and ones to add easily.">
            <a:extLst>
              <a:ext uri="{FF2B5EF4-FFF2-40B4-BE49-F238E27FC236}">
                <a16:creationId xmlns:a16="http://schemas.microsoft.com/office/drawing/2014/main" id="{AD3FFA8B-BB26-98E5-CD47-E407825F2C2A}"/>
              </a:ext>
            </a:extLst>
          </p:cNvPr>
          <p:cNvGraphicFramePr>
            <a:graphicFrameLocks noGrp="1"/>
          </p:cNvGraphicFramePr>
          <p:nvPr/>
        </p:nvGraphicFramePr>
        <p:xfrm>
          <a:off x="570035" y="4313432"/>
          <a:ext cx="10950954" cy="1744393"/>
        </p:xfrm>
        <a:graphic>
          <a:graphicData uri="http://schemas.openxmlformats.org/drawingml/2006/table">
            <a:tbl>
              <a:tblPr bandRow="1">
                <a:tableStyleId>{5A111915-BE36-4E01-A7E5-04B1672EAD32}</a:tableStyleId>
              </a:tblPr>
              <a:tblGrid>
                <a:gridCol w="2175686">
                  <a:extLst>
                    <a:ext uri="{9D8B030D-6E8A-4147-A177-3AD203B41FA5}">
                      <a16:colId xmlns:a16="http://schemas.microsoft.com/office/drawing/2014/main" val="1904456261"/>
                    </a:ext>
                  </a:extLst>
                </a:gridCol>
                <a:gridCol w="2320732">
                  <a:extLst>
                    <a:ext uri="{9D8B030D-6E8A-4147-A177-3AD203B41FA5}">
                      <a16:colId xmlns:a16="http://schemas.microsoft.com/office/drawing/2014/main" val="1400484660"/>
                    </a:ext>
                  </a:extLst>
                </a:gridCol>
                <a:gridCol w="1776810">
                  <a:extLst>
                    <a:ext uri="{9D8B030D-6E8A-4147-A177-3AD203B41FA5}">
                      <a16:colId xmlns:a16="http://schemas.microsoft.com/office/drawing/2014/main" val="1542189344"/>
                    </a:ext>
                  </a:extLst>
                </a:gridCol>
                <a:gridCol w="4677726">
                  <a:extLst>
                    <a:ext uri="{9D8B030D-6E8A-4147-A177-3AD203B41FA5}">
                      <a16:colId xmlns:a16="http://schemas.microsoft.com/office/drawing/2014/main" val="4088680453"/>
                    </a:ext>
                  </a:extLst>
                </a:gridCol>
              </a:tblGrid>
              <a:tr h="644769">
                <a:tc>
                  <a:txBody>
                    <a:bodyPr/>
                    <a:lstStyle/>
                    <a:p>
                      <a:pPr algn="ctr" rtl="0" fontAlgn="base">
                        <a:lnSpc>
                          <a:spcPts val="1913"/>
                        </a:lnSpc>
                        <a:spcBef>
                          <a:spcPts val="1200"/>
                        </a:spcBef>
                        <a:spcAft>
                          <a:spcPts val="600"/>
                        </a:spcAft>
                        <a:buNone/>
                      </a:pPr>
                      <a:r>
                        <a:rPr lang="en-AU" sz="1800">
                          <a:solidFill>
                            <a:srgbClr val="FFFFFF"/>
                          </a:solidFill>
                          <a:effectLst/>
                          <a:latin typeface="Arial"/>
                        </a:rPr>
                        <a:t>Problem </a:t>
                      </a:r>
                      <a:endParaRPr lang="en-AU" sz="1800">
                        <a:effectLst/>
                        <a:latin typeface="Arial"/>
                      </a:endParaRPr>
                    </a:p>
                  </a:txBody>
                  <a:tcPr marL="66675" marR="66675"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002664"/>
                    </a:solidFill>
                  </a:tcPr>
                </a:tc>
                <a:tc>
                  <a:txBody>
                    <a:bodyPr/>
                    <a:lstStyle/>
                    <a:p>
                      <a:pPr algn="ctr" rtl="0" fontAlgn="base">
                        <a:lnSpc>
                          <a:spcPts val="1913"/>
                        </a:lnSpc>
                        <a:spcBef>
                          <a:spcPts val="1200"/>
                        </a:spcBef>
                        <a:spcAft>
                          <a:spcPts val="600"/>
                        </a:spcAft>
                        <a:buNone/>
                      </a:pPr>
                      <a:r>
                        <a:rPr lang="en-AU" sz="1800">
                          <a:solidFill>
                            <a:srgbClr val="FFFFFF"/>
                          </a:solidFill>
                          <a:effectLst/>
                          <a:latin typeface="Arial"/>
                        </a:rPr>
                        <a:t>Strategy used </a:t>
                      </a:r>
                      <a:endParaRPr lang="en-AU" sz="1800">
                        <a:effectLst/>
                        <a:latin typeface="Arial"/>
                      </a:endParaRPr>
                    </a:p>
                  </a:txBody>
                  <a:tcPr marL="66675" marR="66675"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002664"/>
                    </a:solidFill>
                  </a:tcPr>
                </a:tc>
                <a:tc>
                  <a:txBody>
                    <a:bodyPr/>
                    <a:lstStyle/>
                    <a:p>
                      <a:pPr algn="ctr" rtl="0" fontAlgn="base">
                        <a:lnSpc>
                          <a:spcPts val="1913"/>
                        </a:lnSpc>
                        <a:spcBef>
                          <a:spcPts val="1200"/>
                        </a:spcBef>
                        <a:spcAft>
                          <a:spcPts val="600"/>
                        </a:spcAft>
                        <a:buNone/>
                      </a:pPr>
                      <a:r>
                        <a:rPr lang="en-AU" sz="1800" dirty="0">
                          <a:solidFill>
                            <a:srgbClr val="FFFFFF"/>
                          </a:solidFill>
                          <a:effectLst/>
                          <a:latin typeface="Arial"/>
                        </a:rPr>
                        <a:t>Answer </a:t>
                      </a:r>
                      <a:endParaRPr lang="en-AU" sz="1800" dirty="0">
                        <a:effectLst/>
                        <a:latin typeface="Arial"/>
                      </a:endParaRPr>
                    </a:p>
                  </a:txBody>
                  <a:tcPr marL="66675" marR="66675"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002664"/>
                    </a:solidFill>
                  </a:tcPr>
                </a:tc>
                <a:tc>
                  <a:txBody>
                    <a:bodyPr/>
                    <a:lstStyle/>
                    <a:p>
                      <a:pPr algn="ctr" rtl="0" fontAlgn="base">
                        <a:lnSpc>
                          <a:spcPts val="1913"/>
                        </a:lnSpc>
                        <a:spcBef>
                          <a:spcPts val="1200"/>
                        </a:spcBef>
                        <a:spcAft>
                          <a:spcPts val="600"/>
                        </a:spcAft>
                        <a:buNone/>
                      </a:pPr>
                      <a:r>
                        <a:rPr lang="en-AU" sz="1800">
                          <a:solidFill>
                            <a:srgbClr val="FFFFFF"/>
                          </a:solidFill>
                          <a:effectLst/>
                          <a:latin typeface="Arial"/>
                        </a:rPr>
                        <a:t>Why I Chose This Strategy / How It Helped </a:t>
                      </a:r>
                      <a:endParaRPr lang="en-AU" sz="1800">
                        <a:effectLst/>
                        <a:latin typeface="Arial"/>
                      </a:endParaRPr>
                    </a:p>
                  </a:txBody>
                  <a:tcPr marL="66675" marR="66675"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002664"/>
                    </a:solidFill>
                  </a:tcPr>
                </a:tc>
                <a:extLst>
                  <a:ext uri="{0D108BD9-81ED-4DB2-BD59-A6C34878D82A}">
                    <a16:rowId xmlns:a16="http://schemas.microsoft.com/office/drawing/2014/main" val="3683636588"/>
                  </a:ext>
                </a:extLst>
              </a:tr>
              <a:tr h="1099624">
                <a:tc>
                  <a:txBody>
                    <a:bodyPr/>
                    <a:lstStyle/>
                    <a:p>
                      <a:pPr algn="ctr" rtl="0" fontAlgn="base">
                        <a:lnSpc>
                          <a:spcPts val="1913"/>
                        </a:lnSpc>
                        <a:spcBef>
                          <a:spcPts val="1200"/>
                        </a:spcBef>
                        <a:spcAft>
                          <a:spcPts val="600"/>
                        </a:spcAft>
                        <a:buNone/>
                      </a:pPr>
                      <a:r>
                        <a:rPr lang="en-AU" sz="1800">
                          <a:effectLst/>
                          <a:latin typeface="Arial"/>
                        </a:rPr>
                        <a:t>57 + 28  </a:t>
                      </a:r>
                    </a:p>
                  </a:txBody>
                  <a:tcPr marL="66675" marR="666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lnSpc>
                          <a:spcPts val="1913"/>
                        </a:lnSpc>
                        <a:spcBef>
                          <a:spcPts val="1200"/>
                        </a:spcBef>
                        <a:spcAft>
                          <a:spcPts val="600"/>
                        </a:spcAft>
                        <a:buNone/>
                      </a:pPr>
                      <a:r>
                        <a:rPr lang="en-AU" sz="1800">
                          <a:effectLst/>
                          <a:latin typeface="Arial"/>
                        </a:rPr>
                        <a:t>Partitioning (50 + 20 + 7 + 8) </a:t>
                      </a:r>
                    </a:p>
                  </a:txBody>
                  <a:tcPr marL="66675" marR="666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lnSpc>
                          <a:spcPts val="1913"/>
                        </a:lnSpc>
                        <a:spcBef>
                          <a:spcPts val="1200"/>
                        </a:spcBef>
                        <a:spcAft>
                          <a:spcPts val="600"/>
                        </a:spcAft>
                        <a:buNone/>
                      </a:pPr>
                      <a:r>
                        <a:rPr lang="en-AU" sz="1800">
                          <a:effectLst/>
                          <a:latin typeface="Arial"/>
                        </a:rPr>
                        <a:t>85 </a:t>
                      </a:r>
                    </a:p>
                  </a:txBody>
                  <a:tcPr marL="66675" marR="666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lnSpc>
                          <a:spcPts val="1913"/>
                        </a:lnSpc>
                        <a:spcBef>
                          <a:spcPts val="1200"/>
                        </a:spcBef>
                        <a:spcAft>
                          <a:spcPts val="600"/>
                        </a:spcAft>
                        <a:buNone/>
                      </a:pPr>
                      <a:r>
                        <a:rPr lang="en-AU" sz="1800" dirty="0">
                          <a:effectLst/>
                          <a:latin typeface="Arial"/>
                        </a:rPr>
                        <a:t>It helped me break the numbers into tens and ones to add easily.  </a:t>
                      </a:r>
                    </a:p>
                  </a:txBody>
                  <a:tcPr marL="66675" marR="666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203178"/>
                  </a:ext>
                </a:extLst>
              </a:tr>
            </a:tbl>
          </a:graphicData>
        </a:graphic>
      </p:graphicFrame>
      <p:pic>
        <p:nvPicPr>
          <p:cNvPr id="1026" name="Picture 2" descr="A set of problem cards in a 3 x 4 grid. The problems are:&#10;979 + 153&#10;23 - 15&#10;842 + 157&#10;99 - 47&#10;492 + 348&#10;70 + 69&#10;43 - 1&#10;99 + 47&#10;99 - 47&#10;523 - 213&#10;399 + 173&#10;80 + 48">
            <a:extLst>
              <a:ext uri="{FF2B5EF4-FFF2-40B4-BE49-F238E27FC236}">
                <a16:creationId xmlns:a16="http://schemas.microsoft.com/office/drawing/2014/main" id="{53773A56-7640-4783-580D-8E1BE4F8D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9999" y="360000"/>
            <a:ext cx="4576127" cy="37420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of a head with cogs turning inside">
            <a:extLst>
              <a:ext uri="{FF2B5EF4-FFF2-40B4-BE49-F238E27FC236}">
                <a16:creationId xmlns:a16="http://schemas.microsoft.com/office/drawing/2014/main" id="{07B1A325-597D-AC4F-FF43-EB87B3654A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16677" y="188018"/>
            <a:ext cx="768795"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276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6">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a:t>[Subject] [Year–Year] © Syllabus NSW Education Standards Authority (NESA) for and on behalf of the Crown in right of the State of New South Wales, [Year of publication].</a:t>
            </a:r>
          </a:p>
          <a:p>
            <a:r>
              <a:rPr lang="en-AU"/>
              <a:t>[Insert references consulted to produce the presentation being developed.]</a:t>
            </a:r>
          </a:p>
          <a:p>
            <a:r>
              <a:rPr lang="en-AU"/>
              <a:t>[Include any other full attributions here.]</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40EDD703-71B5-4294-919E-34563A64235E}" vid="{64077C9F-2B72-4F25-81A2-2C123044CA02}"/>
    </a:ext>
  </a:extLst>
</a:theme>
</file>

<file path=ppt/theme/theme2.xml><?xml version="1.0" encoding="utf-8"?>
<a:theme xmlns:a="http://schemas.openxmlformats.org/drawingml/2006/main" name="1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NSW Gov PPT">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 PowerPoint original" id="{BB815C5A-BDFD-473B-89A7-9BDBE1DBD22D}" vid="{E7745D48-857C-47F5-82C5-99A150A7AF4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0721BF5E-42A8-4A9F-A855-4B5BAF4FF8BE}"/>
</file>

<file path=customXml/itemProps3.xml><?xml version="1.0" encoding="utf-8"?>
<ds:datastoreItem xmlns:ds="http://schemas.openxmlformats.org/officeDocument/2006/customXml" ds:itemID="{CE555570-2BD4-426B-AA32-0A79CB6508A8}">
  <ds:schemaRefs>
    <ds:schemaRef ds:uri="http://purl.org/dc/terms/"/>
    <ds:schemaRef ds:uri="http://www.w3.org/XML/1998/namespace"/>
    <ds:schemaRef ds:uri="7e763d47-3c66-4c58-9425-1477fd3ccd1e"/>
    <ds:schemaRef ds:uri="http://purl.org/dc/dcmitype/"/>
    <ds:schemaRef ds:uri="http://schemas.microsoft.com/office/2006/documentManagement/types"/>
    <ds:schemaRef ds:uri="http://schemas.microsoft.com/office/2006/metadata/properties"/>
    <ds:schemaRef ds:uri="60129b06-f64b-40a8-96e2-c5b2f86112b1"/>
    <ds:schemaRef ds:uri="http://purl.org/dc/elements/1.1/"/>
    <ds:schemaRef ds:uri="http://schemas.microsoft.com/office/infopath/2007/PartnerControls"/>
    <ds:schemaRef ds:uri="http://schemas.openxmlformats.org/package/2006/metadata/core-propertie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6389</TotalTime>
  <Words>6006</Words>
  <Application>Microsoft Office PowerPoint</Application>
  <PresentationFormat>Widescreen</PresentationFormat>
  <Paragraphs>869</Paragraphs>
  <Slides>68</Slides>
  <Notes>68</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68</vt:i4>
      </vt:variant>
    </vt:vector>
  </HeadingPairs>
  <TitlesOfParts>
    <vt:vector size="80" baseType="lpstr">
      <vt:lpstr>Public Sans</vt:lpstr>
      <vt:lpstr>Wingdings</vt:lpstr>
      <vt:lpstr>Calibri</vt:lpstr>
      <vt:lpstr>Canva Sans Bold</vt:lpstr>
      <vt:lpstr>Symbol</vt:lpstr>
      <vt:lpstr>Public Sans Light</vt:lpstr>
      <vt:lpstr>Montserrat</vt:lpstr>
      <vt:lpstr>Edu NSW ACT Foundation</vt:lpstr>
      <vt:lpstr>Arial</vt:lpstr>
      <vt:lpstr>Times New Roman</vt:lpstr>
      <vt:lpstr>NSWG Corporate</vt:lpstr>
      <vt:lpstr>1_NSWG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decade dash </vt:lpstr>
      <vt:lpstr>Review of learning 2</vt:lpstr>
      <vt:lpstr>True or false (1)</vt:lpstr>
      <vt:lpstr>Short response (5)</vt:lpstr>
      <vt:lpstr>Short response (6)</vt:lpstr>
      <vt:lpstr>Short response (7)</vt:lpstr>
      <vt:lpstr>Short response (8)</vt:lpstr>
      <vt:lpstr>Activity 2 – the same as</vt:lpstr>
      <vt:lpstr>Review of learning 3</vt:lpstr>
      <vt:lpstr>Multiple choice (2)</vt:lpstr>
      <vt:lpstr>Short response (9)</vt:lpstr>
      <vt:lpstr>Short response (10)</vt:lpstr>
      <vt:lpstr>Short response (11)</vt:lpstr>
      <vt:lpstr>Short response (12)</vt:lpstr>
      <vt:lpstr>Activity 3 – True or false?</vt:lpstr>
      <vt:lpstr>Review of learning 4</vt:lpstr>
      <vt:lpstr>True or false (2)</vt:lpstr>
      <vt:lpstr>Short response (13)</vt:lpstr>
      <vt:lpstr>Short response (14)</vt:lpstr>
      <vt:lpstr>Short response (15)</vt:lpstr>
      <vt:lpstr>Short response (16)</vt:lpstr>
      <vt:lpstr>Activity 4 – near ten number match</vt:lpstr>
      <vt:lpstr>Review of learning 5</vt:lpstr>
      <vt:lpstr>Multiple choice (3)</vt:lpstr>
      <vt:lpstr>Short response (17)</vt:lpstr>
      <vt:lpstr>Short response (18)</vt:lpstr>
      <vt:lpstr>Short response (20)</vt:lpstr>
      <vt:lpstr>Short response (18)</vt:lpstr>
      <vt:lpstr>Activity 5 – strike it out</vt:lpstr>
      <vt:lpstr>Review of learning 6</vt:lpstr>
      <vt:lpstr>True or false (3)</vt:lpstr>
      <vt:lpstr>Short response (21)</vt:lpstr>
      <vt:lpstr>Short response (22)</vt:lpstr>
      <vt:lpstr>Short response (23)</vt:lpstr>
      <vt:lpstr>Short response (24)</vt:lpstr>
      <vt:lpstr>Activity 6 – closest to 100</vt:lpstr>
      <vt:lpstr>Review of learning 7</vt:lpstr>
      <vt:lpstr>Multiple choice (4)</vt:lpstr>
      <vt:lpstr>Short response (25)</vt:lpstr>
      <vt:lpstr>Short response (26)</vt:lpstr>
      <vt:lpstr>Short response (27)</vt:lpstr>
      <vt:lpstr>Short response (28)</vt:lpstr>
      <vt:lpstr>Activity 7– double or halve</vt:lpstr>
      <vt:lpstr>Review of learning 8</vt:lpstr>
      <vt:lpstr>True or false (4)</vt:lpstr>
      <vt:lpstr>Short response (29)</vt:lpstr>
      <vt:lpstr>Short response (30)</vt:lpstr>
      <vt:lpstr>Short response</vt:lpstr>
      <vt:lpstr>Short response (32)</vt:lpstr>
      <vt:lpstr>Activity 8 – strategy snap</vt:lpstr>
      <vt:lpstr>Double Venn diagram</vt:lpstr>
      <vt:lpstr>Frayer</vt:lpstr>
      <vt:lpstr>Spider map</vt:lpstr>
      <vt:lpstr>Cline</vt:lpstr>
      <vt:lpstr>Compare and contrast</vt:lpstr>
      <vt:lpstr>Multiple choice (5)</vt:lpstr>
      <vt:lpstr>Multiple choice (6)</vt:lpstr>
      <vt:lpstr>References</vt:lpstr>
      <vt:lpstr>Copyright</vt:lpstr>
    </vt:vector>
  </TitlesOfParts>
  <Manager/>
  <Company>NSW Department of Education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Christie Williams</dc:creator>
  <cp:keywords/>
  <dc:description/>
  <cp:lastModifiedBy>Daniel Archer</cp:lastModifiedBy>
  <cp:revision>3</cp:revision>
  <dcterms:created xsi:type="dcterms:W3CDTF">2025-08-10T23:10:22Z</dcterms:created>
  <dcterms:modified xsi:type="dcterms:W3CDTF">2026-09-24T04:36:30Z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y fmtid="{D5CDD505-2E9C-101B-9397-08002B2CF9AE}" pid="11" name="Order">
    <vt:r8>4144000</vt:r8>
  </property>
  <property fmtid="{D5CDD505-2E9C-101B-9397-08002B2CF9AE}" pid="12" name="_SourceUrl">
    <vt:lpwstr/>
  </property>
  <property fmtid="{D5CDD505-2E9C-101B-9397-08002B2CF9AE}" pid="13" name="_SharedFileIndex">
    <vt:lpwstr/>
  </property>
  <property fmtid="{D5CDD505-2E9C-101B-9397-08002B2CF9AE}" pid="14" name="ComplianceAssetId">
    <vt:lpwstr/>
  </property>
  <property fmtid="{D5CDD505-2E9C-101B-9397-08002B2CF9AE}" pid="15" name="_ExtendedDescription">
    <vt:lpwstr/>
  </property>
  <property fmtid="{D5CDD505-2E9C-101B-9397-08002B2CF9AE}" pid="16" name="TriggerFlowInfo">
    <vt:lpwstr/>
  </property>
</Properties>
</file>