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79"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625"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23" r:id="rId38"/>
    <p:sldId id="26615" r:id="rId39"/>
    <p:sldId id="26616" r:id="rId40"/>
    <p:sldId id="26617" r:id="rId41"/>
    <p:sldId id="26618" r:id="rId42"/>
    <p:sldId id="26619" r:id="rId43"/>
    <p:sldId id="26622" r:id="rId44"/>
    <p:sldId id="26648" r:id="rId45"/>
    <p:sldId id="26624" r:id="rId46"/>
    <p:sldId id="26649" r:id="rId47"/>
    <p:sldId id="26626" r:id="rId48"/>
    <p:sldId id="26627" r:id="rId49"/>
    <p:sldId id="26646" r:id="rId50"/>
    <p:sldId id="26628" r:id="rId51"/>
    <p:sldId id="26629" r:id="rId52"/>
    <p:sldId id="26632" r:id="rId53"/>
    <p:sldId id="26635" r:id="rId54"/>
    <p:sldId id="26634" r:id="rId55"/>
    <p:sldId id="26644" r:id="rId56"/>
    <p:sldId id="26636" r:id="rId57"/>
    <p:sldId id="26637" r:id="rId58"/>
    <p:sldId id="26640" r:id="rId59"/>
    <p:sldId id="26641" r:id="rId60"/>
    <p:sldId id="26642" r:id="rId61"/>
    <p:sldId id="26643" r:id="rId62"/>
    <p:sldId id="26633" r:id="rId63"/>
    <p:sldId id="26645" r:id="rId64"/>
    <p:sldId id="26647" r:id="rId65"/>
    <p:sldId id="26393" r:id="rId66"/>
    <p:sldId id="26387" r:id="rId67"/>
    <p:sldId id="26395" r:id="rId68"/>
    <p:sldId id="26391" r:id="rId69"/>
    <p:sldId id="26402" r:id="rId70"/>
    <p:sldId id="26507" r:id="rId71"/>
    <p:sldId id="26510" r:id="rId72"/>
    <p:sldId id="26650" r:id="rId73"/>
    <p:sldId id="361" r:id="rId74"/>
  </p:sldIdLst>
  <p:sldSz cx="12192000" cy="6858000"/>
  <p:notesSz cx="6858000" cy="9144000"/>
  <p:embeddedFontLst>
    <p:embeddedFont>
      <p:font typeface="Cambria Math" panose="02040503050406030204" pitchFamily="18" charset="0"/>
      <p:regular r:id="rId77"/>
    </p:embeddedFont>
    <p:embeddedFont>
      <p:font typeface="Canva Student Font" panose="020B0604020202020204"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625"/>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23"/>
            <p14:sldId id="26615"/>
            <p14:sldId id="26616"/>
            <p14:sldId id="26617"/>
            <p14:sldId id="26618"/>
          </p14:sldIdLst>
        </p14:section>
        <p14:section name="Review of learning 6" id="{6721D3DC-F7BB-49CA-9E61-8454C104591D}">
          <p14:sldIdLst>
            <p14:sldId id="26619"/>
            <p14:sldId id="26622"/>
            <p14:sldId id="26648"/>
            <p14:sldId id="26624"/>
            <p14:sldId id="26649"/>
            <p14:sldId id="26626"/>
            <p14:sldId id="26627"/>
            <p14:sldId id="26646"/>
          </p14:sldIdLst>
        </p14:section>
        <p14:section name="Review of learning 7" id="{CF63834E-0BE9-495B-9761-037C836F185E}">
          <p14:sldIdLst>
            <p14:sldId id="26628"/>
            <p14:sldId id="26629"/>
            <p14:sldId id="26632"/>
            <p14:sldId id="26635"/>
            <p14:sldId id="26634"/>
            <p14:sldId id="26644"/>
            <p14:sldId id="26636"/>
          </p14:sldIdLst>
        </p14:section>
        <p14:section name="Review of learning 8" id="{6FF8F7EC-803E-4F84-BA41-6B3ED673D597}">
          <p14:sldIdLst>
            <p14:sldId id="26637"/>
            <p14:sldId id="26640"/>
            <p14:sldId id="26641"/>
            <p14:sldId id="26642"/>
            <p14:sldId id="26643"/>
            <p14:sldId id="26633"/>
            <p14:sldId id="26645"/>
            <p14:sldId id="26647"/>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6652228-BA2A-8E0F-B69D-752F252CA8C9}" name="Carolyn Matthews" initials="CM" userId="S::Carolyn.Matthews2@det.nsw.edu.au::7f53049a-bf0f-477a-aa49-60e3a8d71d98" providerId="AD"/>
  <p188:author id="{5C30132E-288C-53FD-93C9-9EB835F45213}" name="Nichole Wood" initials="NW" userId="S::NICHOLE.DEMPSEY@det.nsw.edu.au::f4dd199f-85d5-4f2b-8bc1-8ba23649a9c2" providerId="AD"/>
  <p188:author id="{1ED6684A-C670-1F56-1E53-1B296B435328}" name="Evelyn Plunkett" initials="EP" userId="S::EVELYN.LORENZ@det.nsw.edu.au::563cb6cc-61b5-4fff-a76a-5068b5b827dd" providerId="AD"/>
  <p188:author id="{117A025F-CECB-7403-D4EE-15F295013070}" name="Carolyn Matthews" initials="" userId="S::carolyn.matthews2@det.nsw.edu.au::7f53049a-bf0f-477a-aa49-60e3a8d71d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D1FE7-1434-E9BB-639B-3259A18A98B8}" v="5" dt="2025-09-07T07:03:56.735"/>
    <p1510:client id="{2802D58C-070B-49E2-92AE-B0BADAE6C775}" v="35" dt="2025-09-08T02:16:19.91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200" autoAdjust="0"/>
  </p:normalViewPr>
  <p:slideViewPr>
    <p:cSldViewPr snapToGrid="0">
      <p:cViewPr varScale="1">
        <p:scale>
          <a:sx n="69" d="100"/>
          <a:sy n="69" d="100"/>
        </p:scale>
        <p:origin x="1108" y="5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s>
</file>

<file path=ppt/charts/_rels/chart1.xml.rels><?xml version="1.0" encoding="UTF-8" standalone="yes"?>
<Relationships xmlns="http://schemas.openxmlformats.org/package/2006/relationships"><Relationship Id="rId3" Type="http://schemas.openxmlformats.org/officeDocument/2006/relationships/oleObject" Target="https://schoolsnsw.sharepoint.com/sites/CurriculumReview655/Shared%20Documents/Work%20Stream%20-%20Primary%20PL%20and%20Resources/4.%20Project%20-%20Mathematics%203-6/4.%20Deliverables/PowerPoints/Stage%203/Mathematics-stage%203-unit%2020-all%20ppt/Mathematics-stage%203-unit%2020-review%20of%20learning_ColumnCluster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6 N</c:v>
                </c:pt>
              </c:strCache>
            </c:strRef>
          </c:tx>
          <c:spPr>
            <a:solidFill>
              <a:schemeClr val="accent1"/>
            </a:solidFill>
            <a:ln>
              <a:noFill/>
            </a:ln>
            <a:effectLst/>
          </c:spPr>
          <c:invertIfNegative val="0"/>
          <c:cat>
            <c:strRef>
              <c:f>Sheet1!$A$2:$A$5</c:f>
              <c:strCache>
                <c:ptCount val="4"/>
                <c:pt idx="0">
                  <c:v>Oztag</c:v>
                </c:pt>
                <c:pt idx="1">
                  <c:v>Soccer</c:v>
                </c:pt>
                <c:pt idx="2">
                  <c:v>Hockey</c:v>
                </c:pt>
                <c:pt idx="3">
                  <c:v>Cricket</c:v>
                </c:pt>
              </c:strCache>
            </c:strRef>
          </c:cat>
          <c:val>
            <c:numRef>
              <c:f>Sheet1!$B$2:$B$5</c:f>
              <c:numCache>
                <c:formatCode>General</c:formatCode>
                <c:ptCount val="4"/>
                <c:pt idx="0">
                  <c:v>15</c:v>
                </c:pt>
                <c:pt idx="1">
                  <c:v>6</c:v>
                </c:pt>
                <c:pt idx="2">
                  <c:v>4</c:v>
                </c:pt>
                <c:pt idx="3">
                  <c:v>7</c:v>
                </c:pt>
              </c:numCache>
            </c:numRef>
          </c:val>
          <c:extLst>
            <c:ext xmlns:c16="http://schemas.microsoft.com/office/drawing/2014/chart" uri="{C3380CC4-5D6E-409C-BE32-E72D297353CC}">
              <c16:uniqueId val="{00000000-333D-4754-B3BE-3F21C93FF93E}"/>
            </c:ext>
          </c:extLst>
        </c:ser>
        <c:ser>
          <c:idx val="1"/>
          <c:order val="1"/>
          <c:tx>
            <c:strRef>
              <c:f>Sheet1!$C$1</c:f>
              <c:strCache>
                <c:ptCount val="1"/>
                <c:pt idx="0">
                  <c:v>6 H</c:v>
                </c:pt>
              </c:strCache>
            </c:strRef>
          </c:tx>
          <c:spPr>
            <a:solidFill>
              <a:schemeClr val="accent2"/>
            </a:solidFill>
            <a:ln>
              <a:noFill/>
            </a:ln>
            <a:effectLst/>
          </c:spPr>
          <c:invertIfNegative val="0"/>
          <c:cat>
            <c:strRef>
              <c:f>Sheet1!$A$2:$A$5</c:f>
              <c:strCache>
                <c:ptCount val="4"/>
                <c:pt idx="0">
                  <c:v>Oztag</c:v>
                </c:pt>
                <c:pt idx="1">
                  <c:v>Soccer</c:v>
                </c:pt>
                <c:pt idx="2">
                  <c:v>Hockey</c:v>
                </c:pt>
                <c:pt idx="3">
                  <c:v>Cricket</c:v>
                </c:pt>
              </c:strCache>
            </c:strRef>
          </c:cat>
          <c:val>
            <c:numRef>
              <c:f>Sheet1!$C$2:$C$5</c:f>
              <c:numCache>
                <c:formatCode>General</c:formatCode>
                <c:ptCount val="4"/>
                <c:pt idx="0">
                  <c:v>12</c:v>
                </c:pt>
                <c:pt idx="1">
                  <c:v>11</c:v>
                </c:pt>
                <c:pt idx="2">
                  <c:v>1</c:v>
                </c:pt>
                <c:pt idx="3">
                  <c:v>8</c:v>
                </c:pt>
              </c:numCache>
            </c:numRef>
          </c:val>
          <c:extLst>
            <c:ext xmlns:c16="http://schemas.microsoft.com/office/drawing/2014/chart" uri="{C3380CC4-5D6E-409C-BE32-E72D297353CC}">
              <c16:uniqueId val="{00000001-333D-4754-B3BE-3F21C93FF93E}"/>
            </c:ext>
          </c:extLst>
        </c:ser>
        <c:ser>
          <c:idx val="2"/>
          <c:order val="2"/>
          <c:tx>
            <c:strRef>
              <c:f>Sheet1!$D$1</c:f>
              <c:strCache>
                <c:ptCount val="1"/>
                <c:pt idx="0">
                  <c:v>6 B</c:v>
                </c:pt>
              </c:strCache>
            </c:strRef>
          </c:tx>
          <c:spPr>
            <a:solidFill>
              <a:schemeClr val="accent3"/>
            </a:solidFill>
            <a:ln>
              <a:noFill/>
            </a:ln>
            <a:effectLst/>
          </c:spPr>
          <c:invertIfNegative val="0"/>
          <c:cat>
            <c:strRef>
              <c:f>Sheet1!$A$2:$A$5</c:f>
              <c:strCache>
                <c:ptCount val="4"/>
                <c:pt idx="0">
                  <c:v>Oztag</c:v>
                </c:pt>
                <c:pt idx="1">
                  <c:v>Soccer</c:v>
                </c:pt>
                <c:pt idx="2">
                  <c:v>Hockey</c:v>
                </c:pt>
                <c:pt idx="3">
                  <c:v>Cricket</c:v>
                </c:pt>
              </c:strCache>
            </c:strRef>
          </c:cat>
          <c:val>
            <c:numRef>
              <c:f>Sheet1!$D$2:$D$5</c:f>
              <c:numCache>
                <c:formatCode>General</c:formatCode>
                <c:ptCount val="4"/>
                <c:pt idx="0">
                  <c:v>6</c:v>
                </c:pt>
                <c:pt idx="1">
                  <c:v>14</c:v>
                </c:pt>
                <c:pt idx="2">
                  <c:v>2</c:v>
                </c:pt>
                <c:pt idx="3">
                  <c:v>10</c:v>
                </c:pt>
              </c:numCache>
            </c:numRef>
          </c:val>
          <c:extLst>
            <c:ext xmlns:c16="http://schemas.microsoft.com/office/drawing/2014/chart" uri="{C3380CC4-5D6E-409C-BE32-E72D297353CC}">
              <c16:uniqueId val="{00000002-333D-4754-B3BE-3F21C93FF93E}"/>
            </c:ext>
          </c:extLst>
        </c:ser>
        <c:dLbls>
          <c:showLegendKey val="0"/>
          <c:showVal val="0"/>
          <c:showCatName val="0"/>
          <c:showSerName val="0"/>
          <c:showPercent val="0"/>
          <c:showBubbleSize val="0"/>
        </c:dLbls>
        <c:gapWidth val="219"/>
        <c:overlap val="-27"/>
        <c:axId val="584154879"/>
        <c:axId val="584152959"/>
      </c:barChart>
      <c:catAx>
        <c:axId val="5841548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84152959"/>
        <c:crosses val="autoZero"/>
        <c:auto val="1"/>
        <c:lblAlgn val="ctr"/>
        <c:lblOffset val="100"/>
        <c:noMultiLvlLbl val="0"/>
      </c:catAx>
      <c:valAx>
        <c:axId val="5841529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84154879"/>
        <c:crosses val="autoZero"/>
        <c:crossBetween val="between"/>
      </c:valAx>
      <c:spPr>
        <a:noFill/>
        <a:ln>
          <a:solidFill>
            <a:schemeClr val="accent1"/>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accent2"/>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20</a:t>
            </a:r>
          </a:p>
          <a:p>
            <a:pPr marL="285750" indent="-285750">
              <a:buFont typeface="Arial" panose="020B0604020202020204" pitchFamily="34" charset="0"/>
              <a:buChar char="•"/>
            </a:pPr>
            <a:r>
              <a:rPr lang="en-AU"/>
              <a:t>Stage 3 Year A Unit 19</a:t>
            </a:r>
          </a:p>
          <a:p>
            <a:pPr marL="285750" indent="-285750">
              <a:buFont typeface="Arial" panose="020B0604020202020204" pitchFamily="34" charset="0"/>
              <a:buChar char="•"/>
            </a:pPr>
            <a:r>
              <a:rPr lang="en-AU"/>
              <a:t>Stage 3 Year A Unit 18</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a:t>
            </a:r>
          </a:p>
          <a:p>
            <a:endParaRPr lang="en-AU" dirty="0"/>
          </a:p>
          <a:p>
            <a:r>
              <a:rPr lang="en-AU" b="1" dirty="0"/>
              <a:t>Compare and order decimals</a:t>
            </a:r>
          </a:p>
          <a:p>
            <a:r>
              <a:rPr lang="en-AU" b="0" dirty="0"/>
              <a:t>This resource corresponds to Resource 33 – decimal mix-up in Stage 3 Year A Unit 20. </a:t>
            </a:r>
          </a:p>
          <a:p>
            <a:endParaRPr lang="en-AU" b="1" dirty="0"/>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Display </a:t>
            </a:r>
            <a:r>
              <a:rPr lang="en-AU" sz="1600" u="none" dirty="0">
                <a:solidFill>
                  <a:srgbClr val="2F5496"/>
                </a:solidFill>
                <a:effectLst/>
                <a:latin typeface="Arial" panose="020B0604020202020204" pitchFamily="34" charset="0"/>
                <a:ea typeface="Calibri" panose="020F0502020204030204" pitchFamily="34" charset="0"/>
              </a:rPr>
              <a:t>Resource 33 – decimal mix-up (this resource corresponds to Resource 33 – decimal mix-up in </a:t>
            </a:r>
            <a:r>
              <a:rPr lang="en-AU" b="0" dirty="0"/>
              <a:t>Stage 3 Year A Unit 20).</a:t>
            </a: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Explain that the decimals have been all mixed up on the number line. </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Students discuss the correct placement of each decimal.</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Ask the following questions:</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Harriet says that 0.204 is larger than 0.21 because it has 3 digits after the decimal point. Is this correct? </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Why do you think that some students might place 0.01 before the zero on the number line?</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Students draw the number line on individual whiteboards and record each decimal at the correct point on the number line. Encourage students to provide justification to explain their placement of the decimals.</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Discuss as a class:</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Which decimal did you place on the number line first? Why?</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How did you know where to place 0.899?</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Which decimal is the smallest? How close is it to 0?</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Draw the 0–1 number line on the board and model recording the decimals at the correct point on the number line. Allow students to check that their placement of the decimals is correct.</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rPr>
              <a:t>Students share their work with a partner for peer assessment using the success criteria to guide their feedback.</a:t>
            </a:r>
          </a:p>
          <a:p>
            <a:pPr>
              <a:buFontTx/>
              <a:buNone/>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2D Shape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a:t>
            </a:r>
          </a:p>
          <a:p>
            <a:endParaRPr lang="en-AU"/>
          </a:p>
          <a:p>
            <a:r>
              <a:rPr lang="en-AU" b="1"/>
              <a:t>Decimals in descending order</a:t>
            </a:r>
          </a:p>
          <a:p>
            <a:r>
              <a:rPr lang="en-AU" b="0"/>
              <a:t>This resource corresponds to Figure 10 – gameplay example in Stage 3 Year A Unit 20. </a:t>
            </a:r>
          </a:p>
          <a:p>
            <a:endParaRPr lang="en-AU" b="1"/>
          </a:p>
          <a:p>
            <a:r>
              <a:rPr lang="en-AU">
                <a:latin typeface="Public Sans"/>
              </a:rPr>
              <a:t>This task is an adaptation of ‘Greater Than’ from Love Maths by Minas.</a:t>
            </a:r>
            <a:endParaRPr lang="en-US">
              <a:latin typeface="Public Sans"/>
            </a:endParaRPr>
          </a:p>
          <a:p>
            <a:pPr marL="342900" indent="-342900">
              <a:buFont typeface="+mj-lt"/>
              <a:buAutoNum type="arabicPeriod"/>
            </a:pPr>
            <a:r>
              <a:rPr lang="en-AU">
                <a:latin typeface="Public Sans"/>
              </a:rPr>
              <a:t>Provide pairs with four 10-sided (0–9) dice and writing materials.</a:t>
            </a:r>
          </a:p>
          <a:p>
            <a:pPr marL="342900" indent="-342900">
              <a:buFont typeface="+mj-lt"/>
              <a:buAutoNum type="arabicPeriod"/>
            </a:pPr>
            <a:r>
              <a:rPr lang="en-AU">
                <a:latin typeface="Public Sans"/>
              </a:rPr>
              <a:t>Students draw up one shared gameboard grid with 4 columns and 7 rows. Label each column: ones, tenths, hundredths and thousandths. A decimal point should be placed at the right-hand side of each cell in the ones column (see Figure 3).</a:t>
            </a:r>
          </a:p>
          <a:p>
            <a:pPr marL="342900" indent="-342900">
              <a:buFont typeface="+mj-lt"/>
              <a:buAutoNum type="arabicPeriod"/>
            </a:pPr>
            <a:r>
              <a:rPr lang="en-AU"/>
              <a:t>Explain the rules of the game:</a:t>
            </a:r>
          </a:p>
          <a:p>
            <a:pPr marL="342900" indent="-342900">
              <a:buFont typeface="+mj-lt"/>
              <a:buAutoNum type="arabicPeriod"/>
            </a:pPr>
            <a:r>
              <a:rPr lang="en-AU">
                <a:latin typeface="Public Sans"/>
              </a:rPr>
              <a:t>Students take turns to complete the table by arranging numbers with 3 decimal places in descending order from the top of the table to the bottom.</a:t>
            </a:r>
          </a:p>
          <a:p>
            <a:pPr marL="342900" indent="-342900">
              <a:buFont typeface="+mj-lt"/>
              <a:buAutoNum type="arabicPeriod"/>
            </a:pPr>
            <a:r>
              <a:rPr lang="en-AU">
                <a:latin typeface="Public Sans"/>
              </a:rPr>
              <a:t>Student A rolls four 10 sided-dice (0–9) and arranges the digits in any order. For example, if 3, 5, 2 and 0 are rolled, the numbers 3.520, 0.235 or 5.023 could all be created.</a:t>
            </a:r>
          </a:p>
          <a:p>
            <a:pPr marL="342900" indent="-342900">
              <a:buFont typeface="+mj-lt"/>
              <a:buAutoNum type="arabicPeriod"/>
            </a:pPr>
            <a:r>
              <a:rPr lang="en-AU">
                <a:latin typeface="Public Sans"/>
              </a:rPr>
              <a:t>Student A records a number in a row of their choice and reads the decimal aloud. For example, 5.023 would be read as 5 and 23 thousandths.</a:t>
            </a:r>
          </a:p>
          <a:p>
            <a:pPr marL="342900" indent="-342900">
              <a:buFont typeface="+mj-lt"/>
              <a:buAutoNum type="arabicPeriod"/>
            </a:pPr>
            <a:r>
              <a:rPr lang="en-AU">
                <a:latin typeface="Public Sans"/>
              </a:rPr>
              <a:t>Student B rolls the dice and records a new decimal number in the table in a row above or below their partner’s number, ensuring the decimals are in descending order (see Figure 4).</a:t>
            </a:r>
          </a:p>
          <a:p>
            <a:pPr marL="342900" indent="-342900">
              <a:buFont typeface="+mj-lt"/>
              <a:buAutoNum type="arabicPeriod"/>
            </a:pPr>
            <a:r>
              <a:rPr lang="en-AU">
                <a:latin typeface="Public Sans"/>
              </a:rPr>
              <a:t>During each turn, students communicate their reasoning about the number they made and the placement of the number within the table.</a:t>
            </a:r>
          </a:p>
          <a:p>
            <a:pPr marL="342900" indent="-342900">
              <a:buFont typeface="+mj-lt"/>
              <a:buAutoNum type="arabicPeriod"/>
            </a:pPr>
            <a:r>
              <a:rPr lang="en-AU">
                <a:latin typeface="Public Sans"/>
              </a:rPr>
              <a:t>Students continue to take turns to fill the table and read their decimal aloud. If a student cannot place their number in the table in descending order, they miss their turn.</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3DS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a:t>
            </a:r>
          </a:p>
          <a:p>
            <a:endParaRPr lang="en-AU" dirty="0"/>
          </a:p>
          <a:p>
            <a:r>
              <a:rPr lang="en-AU" b="1" dirty="0"/>
              <a:t>Decimals in ascending order</a:t>
            </a:r>
          </a:p>
          <a:p>
            <a:r>
              <a:rPr lang="en-AU" b="0" dirty="0"/>
              <a:t>This resource corresponds to Figure 12 – gameplay example with 3 players in Stage 3 Year A Unit 20. </a:t>
            </a:r>
          </a:p>
          <a:p>
            <a:endParaRPr lang="en-AU" b="1" dirty="0"/>
          </a:p>
          <a:p>
            <a:r>
              <a:rPr lang="en-AU" dirty="0">
                <a:latin typeface="Public Sans"/>
              </a:rPr>
              <a:t>This task is an adaptation of Place Value Pickle: Decimals from </a:t>
            </a:r>
            <a:r>
              <a:rPr lang="en-AU" dirty="0" err="1">
                <a:latin typeface="Public Sans"/>
              </a:rPr>
              <a:t>MMMathMania</a:t>
            </a:r>
            <a:r>
              <a:rPr lang="en-AU" dirty="0">
                <a:latin typeface="Public Sans"/>
              </a:rPr>
              <a:t>.</a:t>
            </a:r>
            <a:endParaRPr lang="en-US" dirty="0">
              <a:latin typeface="Public Sans"/>
            </a:endParaRPr>
          </a:p>
          <a:p>
            <a:r>
              <a:rPr lang="en-AU" b="1" dirty="0"/>
              <a:t>Note</a:t>
            </a:r>
            <a:r>
              <a:rPr lang="en-AU" dirty="0"/>
              <a:t>: if playing cards are not available, students may like to use interactive playing cards for this game.</a:t>
            </a:r>
          </a:p>
          <a:p>
            <a:pPr marL="0" indent="0">
              <a:buFontTx/>
              <a:buNone/>
            </a:pPr>
            <a:r>
              <a:rPr lang="en-AU" dirty="0"/>
              <a:t>Provide groups of 2 or 3 students with writing materials and playing cards with the tens, Kings and Jacks removed. Aces are assigned the value of one and Queens are zero.</a:t>
            </a:r>
          </a:p>
          <a:p>
            <a:pPr marL="0" indent="0">
              <a:buFontTx/>
              <a:buNone/>
            </a:pPr>
            <a:endParaRPr lang="en-AU" dirty="0"/>
          </a:p>
          <a:p>
            <a:pPr marL="0" indent="0">
              <a:buFontTx/>
              <a:buNone/>
            </a:pPr>
            <a:r>
              <a:rPr lang="en-AU" dirty="0"/>
              <a:t>Model a demonstration game against 2 students to explain the rules. To set up the gameboard:</a:t>
            </a:r>
          </a:p>
          <a:p>
            <a:pPr marL="0" indent="0">
              <a:buFontTx/>
              <a:buNone/>
            </a:pPr>
            <a:r>
              <a:rPr lang="en-AU" dirty="0">
                <a:latin typeface="Public Sans"/>
              </a:rPr>
              <a:t>- Each player draws a ladder with 10 rungs on their whiteboard.</a:t>
            </a:r>
          </a:p>
          <a:p>
            <a:pPr marL="0" indent="0">
              <a:buFontTx/>
              <a:buNone/>
            </a:pPr>
            <a:r>
              <a:rPr lang="en-AU" dirty="0">
                <a:latin typeface="Public Sans"/>
              </a:rPr>
              <a:t>- On each rung, record a zero and decimal point on the left-hand side (see Figure 11 – ladder example </a:t>
            </a:r>
            <a:r>
              <a:rPr lang="en-AU" b="0" dirty="0"/>
              <a:t>in Stage 3 Year A Unit 20</a:t>
            </a:r>
            <a:r>
              <a:rPr lang="en-AU" dirty="0">
                <a:latin typeface="Public Sans"/>
              </a:rPr>
              <a:t>).</a:t>
            </a:r>
          </a:p>
          <a:p>
            <a:pPr marL="0" indent="0">
              <a:buFontTx/>
              <a:buNone/>
            </a:pPr>
            <a:endParaRPr lang="en-AU" dirty="0">
              <a:latin typeface="Public Sans"/>
            </a:endParaRPr>
          </a:p>
          <a:p>
            <a:pPr marL="0" indent="0">
              <a:buFontTx/>
              <a:buNone/>
            </a:pPr>
            <a:r>
              <a:rPr lang="en-AU" dirty="0">
                <a:latin typeface="Public Sans"/>
              </a:rPr>
              <a:t>State that the aim of the game is to record decimal numbers on each ladder rung, in order, from smallest (bottom rung) to largest (top rung).</a:t>
            </a:r>
          </a:p>
          <a:p>
            <a:pPr marL="0" indent="0">
              <a:buFontTx/>
              <a:buNone/>
            </a:pPr>
            <a:endParaRPr lang="en-AU" dirty="0">
              <a:latin typeface="Public Sans"/>
            </a:endParaRPr>
          </a:p>
          <a:p>
            <a:pPr marL="0" indent="0">
              <a:buFontTx/>
              <a:buNone/>
            </a:pPr>
            <a:r>
              <a:rPr lang="en-AU" dirty="0">
                <a:latin typeface="Public Sans"/>
              </a:rPr>
              <a:t>Explain that during each round, players may turn over a maximum of 3 cards to make a decimal number between zero and one. If a red card is drawn; however, the player does not draw any further cards for that turn. For example, if a black 3 of spades was drawn, followed by a red 6 of hearts, the player does not draw any further cards. The player then decides whether to make and record the decimal 0.36 or 0.63. If 3 black cards were drawn, all 3 numbers would be used to create a number with 3 decimal places.</a:t>
            </a:r>
          </a:p>
          <a:p>
            <a:pPr marL="0" indent="0">
              <a:buFontTx/>
              <a:buNone/>
            </a:pPr>
            <a:endParaRPr lang="en-AU" dirty="0">
              <a:latin typeface="Public Sans"/>
            </a:endParaRPr>
          </a:p>
          <a:p>
            <a:pPr marL="0" indent="0">
              <a:buFontTx/>
              <a:buNone/>
            </a:pPr>
            <a:r>
              <a:rPr lang="en-AU" dirty="0">
                <a:latin typeface="Public Sans"/>
              </a:rPr>
              <a:t>Demonstrate turning over the cards, deciding how to order the numerals and strategically place the decimal number on the ladder. When the decimal number is placed on the ladder, the decimal number is read aloud. For example, 0.53 is read as 53 hundredths.</a:t>
            </a:r>
          </a:p>
          <a:p>
            <a:pPr marL="0" indent="0">
              <a:buFontTx/>
              <a:buNone/>
            </a:pPr>
            <a:endParaRPr lang="en-AU" dirty="0">
              <a:latin typeface="Public Sans"/>
            </a:endParaRPr>
          </a:p>
          <a:p>
            <a:pPr marL="0" indent="0">
              <a:buFontTx/>
              <a:buNone/>
            </a:pPr>
            <a:r>
              <a:rPr lang="en-AU" dirty="0">
                <a:latin typeface="Public Sans"/>
              </a:rPr>
              <a:t>Students take turns to draw cards, create and read the decimal number and decide where to record it on their ladders.</a:t>
            </a:r>
          </a:p>
          <a:p>
            <a:pPr marL="0" indent="0">
              <a:buFontTx/>
              <a:buNone/>
            </a:pPr>
            <a:endParaRPr lang="en-AU" dirty="0">
              <a:latin typeface="Public Sans"/>
            </a:endParaRPr>
          </a:p>
          <a:p>
            <a:pPr marL="0" indent="0">
              <a:buFontTx/>
              <a:buNone/>
            </a:pPr>
            <a:r>
              <a:rPr lang="en-AU" dirty="0">
                <a:latin typeface="Public Sans"/>
              </a:rPr>
              <a:t>If a student cannot place their decimal number on an appropriate rung, they miss their turn and play passes to the next player.</a:t>
            </a:r>
          </a:p>
          <a:p>
            <a:pPr marL="0" indent="0">
              <a:buFontTx/>
              <a:buNone/>
            </a:pPr>
            <a:endParaRPr lang="en-AU" dirty="0">
              <a:latin typeface="Public Sans"/>
            </a:endParaRPr>
          </a:p>
          <a:p>
            <a:pPr marL="0" indent="0">
              <a:buFontTx/>
              <a:buNone/>
            </a:pPr>
            <a:r>
              <a:rPr lang="en-AU" dirty="0">
                <a:latin typeface="Public Sans"/>
              </a:rPr>
              <a:t>The first player to order and record a decimal number on all 10 ladder rungs is the winner </a:t>
            </a:r>
          </a:p>
          <a:p>
            <a:pPr marL="0" indent="0">
              <a:buFontTx/>
              <a:buNone/>
            </a:pPr>
            <a:endParaRPr lang="en-AU" dirty="0"/>
          </a:p>
          <a:p>
            <a:pPr marL="0" indent="0">
              <a:buFontTx/>
              <a:buNone/>
            </a:pPr>
            <a:r>
              <a:rPr lang="en-AU" dirty="0"/>
              <a:t>Groups of 2 or 3 students play the game and take turns recording decimal numbers on their ladders.</a:t>
            </a:r>
          </a:p>
          <a:p>
            <a:pPr marL="342900" indent="-342900">
              <a:buFont typeface="+mj-lt"/>
              <a:buAutoNum type="arabicPeriod"/>
            </a:pPr>
            <a:endParaRPr lang="en-AU" b="0" dirty="0"/>
          </a:p>
          <a:p>
            <a:pPr marL="342900" indent="-342900">
              <a:buFont typeface="+mj-lt"/>
              <a:buAutoNum type="arabicPeriod"/>
            </a:pPr>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a:t>
            </a:r>
          </a:p>
          <a:p>
            <a:endParaRPr lang="en-AU" dirty="0"/>
          </a:p>
          <a:p>
            <a:r>
              <a:rPr lang="en-AU" b="1" dirty="0"/>
              <a:t>The smallest number</a:t>
            </a:r>
          </a:p>
          <a:p>
            <a:r>
              <a:rPr lang="en-AU" b="0" dirty="0"/>
              <a:t>This resource corresponds to Resource 34 – place value chart in Stage 3 Year A Unit 20. </a:t>
            </a:r>
          </a:p>
          <a:p>
            <a:endParaRPr lang="en-AU" b="1" dirty="0"/>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Display </a:t>
            </a:r>
            <a:r>
              <a:rPr lang="en-AU" b="0" dirty="0"/>
              <a:t>Resource 34 – place value chart (</a:t>
            </a:r>
            <a:r>
              <a:rPr lang="en-AU" sz="1600" dirty="0">
                <a:effectLst/>
                <a:latin typeface="Arial" panose="020B0604020202020204" pitchFamily="34" charset="0"/>
                <a:ea typeface="Calibri" panose="020F0502020204030204" pitchFamily="34" charset="0"/>
              </a:rPr>
              <a:t>this resource</a:t>
            </a:r>
            <a:r>
              <a:rPr lang="en-AU" sz="1600" b="0" dirty="0">
                <a:effectLst/>
                <a:latin typeface="Arial"/>
                <a:ea typeface="Calibri"/>
                <a:cs typeface="Arial"/>
              </a:rPr>
              <a:t> corresponds to </a:t>
            </a:r>
            <a:r>
              <a:rPr lang="en-AU" b="0" dirty="0"/>
              <a:t>Resource 34 – place value chart </a:t>
            </a:r>
            <a:r>
              <a:rPr lang="en-AU" sz="1600" b="0" dirty="0">
                <a:effectLst/>
                <a:latin typeface="Arial"/>
                <a:ea typeface="Calibri"/>
                <a:cs typeface="Arial"/>
              </a:rPr>
              <a:t>in </a:t>
            </a:r>
            <a:r>
              <a:rPr lang="en-AU" b="0" dirty="0"/>
              <a:t>Stage 3 Year A Unit 20</a:t>
            </a:r>
            <a:r>
              <a:rPr lang="en-AU" sz="1600" b="0" dirty="0">
                <a:effectLst/>
                <a:latin typeface="Arial"/>
                <a:ea typeface="Calibri"/>
                <a:cs typeface="Arial"/>
              </a:rPr>
              <a:t>).</a:t>
            </a:r>
            <a:r>
              <a:rPr lang="en-AU" b="0" dirty="0"/>
              <a:t> S</a:t>
            </a:r>
            <a:r>
              <a:rPr lang="en-AU" sz="1600" dirty="0">
                <a:effectLst/>
                <a:latin typeface="Arial" panose="020B0604020202020204" pitchFamily="34" charset="0"/>
                <a:ea typeface="Calibri" panose="020F0502020204030204" pitchFamily="34" charset="0"/>
              </a:rPr>
              <a:t>tudents draw this grid in their own workbooks.</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Using one interactive 10-sided dice. </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Aim: to make the smallest number</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Each time the dice is rolled each student decides which place value position they will write the number.</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Repeat until each of the places is filled. </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Ask: Who thinks they have the smallest number? Students decide if they think they have the smallest number and put their hand up. The class discusses whether there might be a smaller number possible.</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Repeat the game for 4-5 rounds. A variation is to change the aim to make the largest number.</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Myster factors</a:t>
            </a:r>
          </a:p>
          <a:p>
            <a:r>
              <a:rPr lang="en-AU" b="0" dirty="0"/>
              <a:t>This resource corresponds to Resource 35 – multiplication box in Stage 3 Year A Unit 20. </a:t>
            </a:r>
          </a:p>
          <a:p>
            <a:endParaRPr lang="en-AU" b="1" dirty="0"/>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Display </a:t>
            </a:r>
            <a:r>
              <a:rPr lang="en-AU" b="0" dirty="0"/>
              <a:t>to Resource 35 – multiplication box (</a:t>
            </a:r>
            <a:r>
              <a:rPr lang="en-AU" sz="1600" dirty="0">
                <a:effectLst/>
                <a:latin typeface="Arial" panose="020B0604020202020204" pitchFamily="34" charset="0"/>
                <a:ea typeface="Calibri" panose="020F0502020204030204" pitchFamily="34" charset="0"/>
              </a:rPr>
              <a:t>this resource</a:t>
            </a:r>
            <a:r>
              <a:rPr lang="en-AU" sz="1600" b="0" dirty="0">
                <a:effectLst/>
                <a:latin typeface="Arial"/>
                <a:ea typeface="Calibri"/>
                <a:cs typeface="Arial"/>
              </a:rPr>
              <a:t> corresponds to </a:t>
            </a:r>
            <a:r>
              <a:rPr lang="en-AU" b="0" dirty="0"/>
              <a:t>Resource 35 – multiplication box </a:t>
            </a:r>
            <a:r>
              <a:rPr lang="en-AU" sz="1600" b="0" dirty="0">
                <a:effectLst/>
                <a:latin typeface="Arial"/>
                <a:ea typeface="Calibri"/>
                <a:cs typeface="Arial"/>
              </a:rPr>
              <a:t>in </a:t>
            </a:r>
            <a:r>
              <a:rPr lang="en-AU" b="0" dirty="0"/>
              <a:t>Stage 3 Year A Unit 20</a:t>
            </a:r>
            <a:r>
              <a:rPr lang="en-AU" sz="1600" b="0" dirty="0">
                <a:effectLst/>
                <a:latin typeface="Arial"/>
                <a:ea typeface="Calibri"/>
                <a:cs typeface="Arial"/>
              </a:rPr>
              <a:t>).</a:t>
            </a:r>
            <a:r>
              <a:rPr lang="en-AU" b="0" dirty="0"/>
              <a:t> </a:t>
            </a:r>
            <a:r>
              <a:rPr lang="en-AU" sz="1600" dirty="0">
                <a:effectLst/>
                <a:latin typeface="Arial" panose="020B0604020202020204" pitchFamily="34" charset="0"/>
                <a:ea typeface="Calibri" panose="020F0502020204030204" pitchFamily="34" charset="0"/>
              </a:rPr>
              <a:t>Pose the scenario: I placed 4 numbers into a box. The mystery number inside the box multiplied my numbers and 4 new numbers came out. The new numbers that came out were 96, 36, 60 and 48.</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Ask: What were my 4 numbers?</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Students turn and talk to a partner to explain what they understand about the problem and strategies they would use to solve it.</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Students record the 4 numbers on individual whiteboards.</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Discuss as a class:</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What was the mystery number?</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Are there any other possibilities? How do you know?</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Could you check your answer using division?</a:t>
            </a:r>
          </a:p>
          <a:p>
            <a:pPr marL="342900" lvl="0" indent="-342900">
              <a:lnSpc>
                <a:spcPct val="150000"/>
              </a:lnSpc>
              <a:spcBef>
                <a:spcPts val="1200"/>
              </a:spcBef>
              <a:spcAft>
                <a:spcPts val="600"/>
              </a:spcAft>
              <a:buFont typeface="Courier New" panose="02070309020205020404" pitchFamily="49" charset="0"/>
              <a:buChar char="o"/>
            </a:pPr>
            <a:r>
              <a:rPr lang="en-AU" sz="1600" dirty="0">
                <a:effectLst/>
                <a:latin typeface="Arial" panose="020B0604020202020204" pitchFamily="34" charset="0"/>
                <a:ea typeface="Calibri" panose="020F0502020204030204" pitchFamily="34" charset="0"/>
                <a:cs typeface="Times New Roman" panose="02020603050405020304" pitchFamily="18" charset="0"/>
              </a:rPr>
              <a:t>Can you generate a multiplicative fact family triangle for each of the numbers?</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In pairs, students create a similar problem. Students choose a set of 4 numbers that will be placed in a box and a new mystery number as the multiplier.</a:t>
            </a:r>
          </a:p>
          <a:p>
            <a:pPr marL="0" lvl="0" indent="0">
              <a:lnSpc>
                <a:spcPct val="150000"/>
              </a:lnSpc>
              <a:spcBef>
                <a:spcPts val="1200"/>
              </a:spcBef>
              <a:spcAft>
                <a:spcPts val="600"/>
              </a:spcAft>
              <a:buFont typeface="+mj-l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Swap with another pair to solve the problem.</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FB4A-07BE-FAB1-8B97-189BDBA59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46316-DDB7-C3D5-385B-2C821CB8E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F8145-4E0C-0F45-D68F-1F1E57FD349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D06DB50-68D1-5D0F-680C-3FEE6FDB602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2030591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BE2F-1ED8-4E7E-66C4-D6288F401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1E2B0-2143-5532-26BB-206D3D736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BDC14-BBFE-9E03-72A6-19B71BCD60D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DF78C40-74F6-51D3-24AB-CE7907AA71D1}"/>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148943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r>
              <a:rPr lang="en-AU"/>
              <a:t>Two-dimensional spatial structure A</a:t>
            </a:r>
          </a:p>
          <a:p>
            <a:endParaRPr lang="en-AU"/>
          </a:p>
          <a:p>
            <a:r>
              <a:rPr lang="en-AU" b="1"/>
              <a:t>Determining factors</a:t>
            </a:r>
            <a:r>
              <a:rPr lang="en-AU" b="0"/>
              <a:t>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Review the terms factor and product.</a:t>
            </a:r>
          </a:p>
          <a:p>
            <a:r>
              <a:rPr lang="en-AU" sz="1600" b="1" kern="1200">
                <a:solidFill>
                  <a:schemeClr val="tx1"/>
                </a:solidFill>
                <a:effectLst/>
                <a:latin typeface="Arial" panose="020B0604020202020204" pitchFamily="34" charset="0"/>
                <a:ea typeface="+mn-ea"/>
                <a:cs typeface="Arial" panose="020B0604020202020204" pitchFamily="34" charset="0"/>
              </a:rPr>
              <a:t>	Factor</a:t>
            </a:r>
            <a:r>
              <a:rPr lang="en-AU" sz="1600" kern="120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r>
              <a:rPr lang="en-AU" sz="1600" b="1" kern="1200">
                <a:solidFill>
                  <a:schemeClr val="tx1"/>
                </a:solidFill>
                <a:effectLst/>
                <a:latin typeface="Arial" panose="020B0604020202020204" pitchFamily="34" charset="0"/>
                <a:ea typeface="+mn-ea"/>
                <a:cs typeface="Arial" panose="020B0604020202020204" pitchFamily="34" charset="0"/>
              </a:rPr>
              <a:t>	Product</a:t>
            </a:r>
            <a:r>
              <a:rPr lang="en-AU" sz="1600" kern="1200">
                <a:solidFill>
                  <a:schemeClr val="tx1"/>
                </a:solidFill>
                <a:effectLst/>
                <a:latin typeface="Arial" panose="020B0604020202020204" pitchFamily="34" charset="0"/>
                <a:ea typeface="+mn-ea"/>
                <a:cs typeface="Arial" panose="020B0604020202020204" pitchFamily="34" charset="0"/>
              </a:rPr>
              <a:t>: the result of multiplying 2 or more numbers together, for example, 12 is the product of 4 × 3.</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Pose the question: A rectangular space has an area of 48 m</a:t>
            </a:r>
            <a:r>
              <a:rPr lang="en-AU" sz="1600" kern="1200" baseline="30000">
                <a:solidFill>
                  <a:schemeClr val="tx1"/>
                </a:solidFill>
                <a:effectLst/>
                <a:latin typeface="Arial" panose="020B0604020202020204" pitchFamily="34" charset="0"/>
                <a:ea typeface="+mn-ea"/>
                <a:cs typeface="Arial" panose="020B0604020202020204" pitchFamily="34" charset="0"/>
              </a:rPr>
              <a:t>2</a:t>
            </a:r>
            <a:r>
              <a:rPr lang="en-AU" sz="1600" kern="1200">
                <a:solidFill>
                  <a:schemeClr val="tx1"/>
                </a:solidFill>
                <a:effectLst/>
                <a:latin typeface="Arial" panose="020B0604020202020204" pitchFamily="34" charset="0"/>
                <a:ea typeface="+mn-ea"/>
                <a:cs typeface="Arial" panose="020B0604020202020204" pitchFamily="34" charset="0"/>
              </a:rPr>
              <a:t>. Ask: What might be all the possible lengths and widths of this space?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turn and talk and record possible solutions on an individual whiteboard. For example, 48 m</a:t>
            </a:r>
            <a:r>
              <a:rPr lang="en-AU" sz="1600" kern="1200" baseline="30000">
                <a:solidFill>
                  <a:schemeClr val="tx1"/>
                </a:solidFill>
                <a:effectLst/>
                <a:latin typeface="Arial" panose="020B0604020202020204" pitchFamily="34" charset="0"/>
                <a:ea typeface="+mn-ea"/>
                <a:cs typeface="Arial" panose="020B0604020202020204" pitchFamily="34" charset="0"/>
              </a:rPr>
              <a:t>2</a:t>
            </a:r>
            <a:r>
              <a:rPr lang="en-AU" sz="1600" kern="1200">
                <a:solidFill>
                  <a:schemeClr val="tx1"/>
                </a:solidFill>
                <a:effectLst/>
                <a:latin typeface="Arial" panose="020B0604020202020204" pitchFamily="34" charset="0"/>
                <a:ea typeface="+mn-ea"/>
                <a:cs typeface="Arial" panose="020B0604020202020204" pitchFamily="34" charset="0"/>
              </a:rPr>
              <a:t> as 6 m by 8 m, 12 m by 4 m or 2 m by 24 m.</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 with the class.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Discuss:</a:t>
            </a:r>
          </a:p>
          <a:p>
            <a:pPr lvl="0"/>
            <a:r>
              <a:rPr lang="en-AU" sz="1600" kern="1200">
                <a:solidFill>
                  <a:schemeClr val="tx1"/>
                </a:solidFill>
                <a:effectLst/>
                <a:latin typeface="Arial" panose="020B0604020202020204" pitchFamily="34" charset="0"/>
                <a:ea typeface="+mn-ea"/>
                <a:cs typeface="Arial" panose="020B0604020202020204" pitchFamily="34" charset="0"/>
              </a:rPr>
              <a:t>- How many possibilities are there?</a:t>
            </a:r>
          </a:p>
          <a:p>
            <a:pPr lvl="0"/>
            <a:r>
              <a:rPr lang="en-AU" sz="1600" kern="1200">
                <a:solidFill>
                  <a:schemeClr val="tx1"/>
                </a:solidFill>
                <a:effectLst/>
                <a:latin typeface="Arial" panose="020B0604020202020204" pitchFamily="34" charset="0"/>
                <a:ea typeface="+mn-ea"/>
                <a:cs typeface="Arial" panose="020B0604020202020204" pitchFamily="34" charset="0"/>
              </a:rPr>
              <a:t>- How did multiplication or division help you with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 How could the words ‘product’ and ‘factor’ describe the numbers you have used and their relationship with each other?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Explain that the factors of 48 are 1, 2, 3, 4, 6, 8, 12, 16, 24 and 48. For example, 48 is a product of 6 × 8 and 12 × 4.</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Pose the question: A farmer has enough sheep to fit inside a paddock of 24 m</a:t>
            </a:r>
            <a:r>
              <a:rPr lang="en-AU" sz="1600" kern="1200" baseline="30000">
                <a:solidFill>
                  <a:schemeClr val="tx1"/>
                </a:solidFill>
                <a:effectLst/>
                <a:latin typeface="Arial" panose="020B0604020202020204" pitchFamily="34" charset="0"/>
                <a:ea typeface="+mn-ea"/>
                <a:cs typeface="Arial" panose="020B0604020202020204" pitchFamily="34" charset="0"/>
              </a:rPr>
              <a:t>2</a:t>
            </a:r>
            <a:r>
              <a:rPr lang="en-AU" sz="1600" kern="1200">
                <a:solidFill>
                  <a:schemeClr val="tx1"/>
                </a:solidFill>
                <a:effectLst/>
                <a:latin typeface="Arial" panose="020B0604020202020204" pitchFamily="34" charset="0"/>
                <a:ea typeface="+mn-ea"/>
                <a:cs typeface="Arial" panose="020B0604020202020204" pitchFamily="34" charset="0"/>
              </a:rPr>
              <a:t>. What might be all the possible lengths and widths of this space?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list all the possibilities on their individual whiteboards, listing all factors of 24.</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show their answers. Scan student work to check for understanding of using factors of numbers to aid mental multiplication. Revisit this learning if required.</a:t>
            </a:r>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13894-A301-BA22-1464-66F3EE0A2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830C9-0DE5-3E34-EB55-48ACA9DD3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893DC-1A99-0A0E-A421-20E40722AC7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r>
              <a:rPr lang="en-AU" dirty="0"/>
              <a:t>Two-dimensional spatial structure A</a:t>
            </a:r>
          </a:p>
          <a:p>
            <a:endParaRPr lang="en-AU" dirty="0"/>
          </a:p>
          <a:p>
            <a:r>
              <a:rPr lang="en-AU" b="1" dirty="0"/>
              <a:t>Determining factors</a:t>
            </a:r>
          </a:p>
          <a:p>
            <a:endParaRPr lang="en-AU" b="1" dirty="0"/>
          </a:p>
          <a:p>
            <a:pPr lvl="0"/>
            <a:r>
              <a:rPr lang="en-AU" sz="1600" kern="1200" dirty="0">
                <a:solidFill>
                  <a:schemeClr val="tx1"/>
                </a:solidFill>
                <a:effectLst/>
                <a:latin typeface="Arial" panose="020B0604020202020204" pitchFamily="34" charset="0"/>
                <a:ea typeface="+mn-ea"/>
                <a:cs typeface="Arial" panose="020B0604020202020204" pitchFamily="34" charset="0"/>
              </a:rPr>
              <a:t>Review the terms factor and product.</a:t>
            </a:r>
          </a:p>
          <a:p>
            <a:r>
              <a:rPr lang="en-AU" sz="1600" b="1" kern="1200" dirty="0">
                <a:solidFill>
                  <a:schemeClr val="tx1"/>
                </a:solidFill>
                <a:effectLst/>
                <a:latin typeface="Arial" panose="020B0604020202020204" pitchFamily="34" charset="0"/>
                <a:ea typeface="+mn-ea"/>
                <a:cs typeface="Arial" panose="020B0604020202020204" pitchFamily="34" charset="0"/>
              </a:rPr>
              <a:t>Factor</a:t>
            </a:r>
            <a:r>
              <a:rPr lang="en-AU" sz="1600" kern="1200" dirty="0">
                <a:solidFill>
                  <a:schemeClr val="tx1"/>
                </a:solidFill>
                <a:effectLst/>
                <a:latin typeface="Arial" panose="020B0604020202020204" pitchFamily="34" charset="0"/>
                <a:ea typeface="+mn-ea"/>
                <a:cs typeface="Arial" panose="020B0604020202020204" pitchFamily="34" charset="0"/>
              </a:rPr>
              <a:t>: a number which divides another number without a remainder. For example, 1, 2, 3 and 6 are factors of 6 but 4 and 5 are not.</a:t>
            </a:r>
          </a:p>
          <a:p>
            <a:r>
              <a:rPr lang="en-AU" sz="1600" b="1" kern="1200" dirty="0">
                <a:solidFill>
                  <a:schemeClr val="tx1"/>
                </a:solidFill>
                <a:effectLst/>
                <a:latin typeface="Arial" panose="020B0604020202020204" pitchFamily="34" charset="0"/>
                <a:ea typeface="+mn-ea"/>
                <a:cs typeface="Arial" panose="020B0604020202020204" pitchFamily="34" charset="0"/>
              </a:rPr>
              <a:t>Product</a:t>
            </a:r>
            <a:r>
              <a:rPr lang="en-AU" sz="1600" kern="1200" dirty="0">
                <a:solidFill>
                  <a:schemeClr val="tx1"/>
                </a:solidFill>
                <a:effectLst/>
                <a:latin typeface="Arial" panose="020B0604020202020204" pitchFamily="34" charset="0"/>
                <a:ea typeface="+mn-ea"/>
                <a:cs typeface="Arial" panose="020B0604020202020204" pitchFamily="34" charset="0"/>
              </a:rPr>
              <a:t>: the result of multiplying 2 or more numbers together, for example, 12 is the product of 4 × 3.</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Pose the question: A rectangular space has an area of 48 m</a:t>
            </a:r>
            <a:r>
              <a:rPr lang="en-AU" sz="1600" kern="1200" baseline="30000" dirty="0">
                <a:solidFill>
                  <a:schemeClr val="tx1"/>
                </a:solidFill>
                <a:effectLst/>
                <a:latin typeface="Arial" panose="020B0604020202020204" pitchFamily="34" charset="0"/>
                <a:ea typeface="+mn-ea"/>
                <a:cs typeface="Arial" panose="020B0604020202020204" pitchFamily="34" charset="0"/>
              </a:rPr>
              <a:t>2</a:t>
            </a:r>
            <a:r>
              <a:rPr lang="en-AU" sz="1600" kern="1200" dirty="0">
                <a:solidFill>
                  <a:schemeClr val="tx1"/>
                </a:solidFill>
                <a:effectLst/>
                <a:latin typeface="Arial" panose="020B0604020202020204" pitchFamily="34" charset="0"/>
                <a:ea typeface="+mn-ea"/>
                <a:cs typeface="Arial" panose="020B0604020202020204" pitchFamily="34" charset="0"/>
              </a:rPr>
              <a:t>. Ask: What might be all the possible lengths and widths of this space?</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Students turn and talk and record possible solutions on an individual whiteboard. For example, 48 m</a:t>
            </a:r>
            <a:r>
              <a:rPr lang="en-AU" sz="1600" kern="1200" baseline="30000" dirty="0">
                <a:solidFill>
                  <a:schemeClr val="tx1"/>
                </a:solidFill>
                <a:effectLst/>
                <a:latin typeface="Arial" panose="020B0604020202020204" pitchFamily="34" charset="0"/>
                <a:ea typeface="+mn-ea"/>
                <a:cs typeface="Arial" panose="020B0604020202020204" pitchFamily="34" charset="0"/>
              </a:rPr>
              <a:t>2</a:t>
            </a:r>
            <a:r>
              <a:rPr lang="en-AU" sz="1600" kern="1200" dirty="0">
                <a:solidFill>
                  <a:schemeClr val="tx1"/>
                </a:solidFill>
                <a:effectLst/>
                <a:latin typeface="Arial" panose="020B0604020202020204" pitchFamily="34" charset="0"/>
                <a:ea typeface="+mn-ea"/>
                <a:cs typeface="Arial" panose="020B0604020202020204" pitchFamily="34" charset="0"/>
              </a:rPr>
              <a:t> as 6 m by 8 m, 12 m by 4 m or 2 m by 24 m.</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thinking with the class.</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Discuss:</a:t>
            </a:r>
          </a:p>
          <a:p>
            <a:pPr lvl="0"/>
            <a:r>
              <a:rPr lang="en-AU" sz="1600" kern="1200" dirty="0">
                <a:solidFill>
                  <a:schemeClr val="tx1"/>
                </a:solidFill>
                <a:effectLst/>
                <a:latin typeface="Arial" panose="020B0604020202020204" pitchFamily="34" charset="0"/>
                <a:ea typeface="+mn-ea"/>
                <a:cs typeface="Arial" panose="020B0604020202020204" pitchFamily="34" charset="0"/>
              </a:rPr>
              <a:t>- How many possibilities are there?</a:t>
            </a:r>
          </a:p>
          <a:p>
            <a:pPr lvl="0"/>
            <a:r>
              <a:rPr lang="en-AU" sz="1600" kern="1200" dirty="0">
                <a:solidFill>
                  <a:schemeClr val="tx1"/>
                </a:solidFill>
                <a:effectLst/>
                <a:latin typeface="Arial" panose="020B0604020202020204" pitchFamily="34" charset="0"/>
                <a:ea typeface="+mn-ea"/>
                <a:cs typeface="Arial" panose="020B0604020202020204" pitchFamily="34" charset="0"/>
              </a:rPr>
              <a:t>- How did multiplication or division help you with this problem?</a:t>
            </a:r>
          </a:p>
          <a:p>
            <a:pPr lvl="0"/>
            <a:r>
              <a:rPr lang="en-AU" sz="1600" kern="1200" dirty="0">
                <a:solidFill>
                  <a:schemeClr val="tx1"/>
                </a:solidFill>
                <a:effectLst/>
                <a:latin typeface="Arial" panose="020B0604020202020204" pitchFamily="34" charset="0"/>
                <a:ea typeface="+mn-ea"/>
                <a:cs typeface="Arial" panose="020B0604020202020204" pitchFamily="34" charset="0"/>
              </a:rPr>
              <a:t>- How could the words ‘product’ and ‘factor’ describe the numbers you have used and their relationship with each other?</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Explain that the factors of 48 are 1, 2, 3, 4, 6, 8, 12, 16, 24 and 48. For example, 48 is a product of 6 × 8 and 12 × 4.</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Pose the question: A farmer has enough sheep to fit inside a paddock of 24 m</a:t>
            </a:r>
            <a:r>
              <a:rPr lang="en-AU" sz="1600" kern="1200" baseline="30000" dirty="0">
                <a:solidFill>
                  <a:schemeClr val="tx1"/>
                </a:solidFill>
                <a:effectLst/>
                <a:latin typeface="Arial" panose="020B0604020202020204" pitchFamily="34" charset="0"/>
                <a:ea typeface="+mn-ea"/>
                <a:cs typeface="Arial" panose="020B0604020202020204" pitchFamily="34" charset="0"/>
              </a:rPr>
              <a:t>2</a:t>
            </a:r>
            <a:r>
              <a:rPr lang="en-AU" sz="1600" kern="1200" dirty="0">
                <a:solidFill>
                  <a:schemeClr val="tx1"/>
                </a:solidFill>
                <a:effectLst/>
                <a:latin typeface="Arial" panose="020B0604020202020204" pitchFamily="34" charset="0"/>
                <a:ea typeface="+mn-ea"/>
                <a:cs typeface="Arial" panose="020B0604020202020204" pitchFamily="34" charset="0"/>
              </a:rPr>
              <a:t>. What might be all the possible lengths and widths of this space?</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Students list all the possibilities on their individual whiteboards, listing all factors of 24.</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Students show their answers. Scan student work to check for understanding of using factors of numbers to aid mental multiplication. Revisit this learning if required.</a:t>
            </a:r>
          </a:p>
          <a:p>
            <a:endParaRPr lang="en-AU" dirty="0"/>
          </a:p>
        </p:txBody>
      </p:sp>
      <p:sp>
        <p:nvSpPr>
          <p:cNvPr id="4" name="Slide Number Placeholder 3">
            <a:extLst>
              <a:ext uri="{FF2B5EF4-FFF2-40B4-BE49-F238E27FC236}">
                <a16:creationId xmlns:a16="http://schemas.microsoft.com/office/drawing/2014/main" id="{BCCC4DFC-8F00-D30E-7E1C-46B8EF2B0083}"/>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785697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Time                          transportnsw.info/routes/details/hunter-buses-network/48/73048</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Determine products and factor</a:t>
            </a:r>
          </a:p>
          <a:p>
            <a:r>
              <a:rPr lang="en-AU" b="0" dirty="0"/>
              <a:t>This resource corresponds to Resource 36 – 100 grid in Stage 3 Year A Unit 20. </a:t>
            </a:r>
          </a:p>
          <a:p>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‘Factors and multiples game’ from NRICH by the University of Cambridge.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this game can be played on the Factors and Multiples Game interactive gameboard if digital devices are available.</a:t>
            </a:r>
          </a:p>
          <a:p>
            <a:endParaRPr lang="en-AU" b="0" dirty="0"/>
          </a:p>
          <a:p>
            <a:pPr marL="342900" lvl="0" indent="-342900">
              <a:lnSpc>
                <a:spcPct val="150000"/>
              </a:lnSpc>
              <a:spcBef>
                <a:spcPts val="1200"/>
              </a:spcBef>
              <a:spcAft>
                <a:spcPts val="600"/>
              </a:spcAft>
              <a:buFont typeface="+mj-lt"/>
              <a:buAutoNum type="arabicPeriod"/>
            </a:pPr>
            <a:r>
              <a:rPr lang="en-AU" sz="1600" u="none" dirty="0">
                <a:effectLst/>
                <a:latin typeface="Arial" panose="020B0604020202020204" pitchFamily="34" charset="0"/>
                <a:ea typeface="Calibri" panose="020F0502020204030204" pitchFamily="34" charset="0"/>
              </a:rPr>
              <a:t>Provide pairs of students with Resource 36 – 100 grid </a:t>
            </a:r>
            <a:r>
              <a:rPr lang="en-AU" sz="1600" dirty="0">
                <a:effectLst/>
                <a:latin typeface="Arial" panose="020B0604020202020204" pitchFamily="34" charset="0"/>
                <a:ea typeface="Calibri" panose="020F0502020204030204" pitchFamily="34" charset="0"/>
              </a:rPr>
              <a:t>(this resource</a:t>
            </a:r>
            <a:r>
              <a:rPr lang="en-AU" sz="1600" b="0" dirty="0">
                <a:effectLst/>
                <a:latin typeface="Arial"/>
                <a:ea typeface="Calibri"/>
                <a:cs typeface="Arial"/>
              </a:rPr>
              <a:t> corresponds to </a:t>
            </a:r>
            <a:r>
              <a:rPr lang="en-AU" sz="1600" u="none" dirty="0">
                <a:effectLst/>
                <a:latin typeface="Arial" panose="020B0604020202020204" pitchFamily="34" charset="0"/>
                <a:ea typeface="Calibri" panose="020F0502020204030204" pitchFamily="34" charset="0"/>
              </a:rPr>
              <a:t>Resource 36 – 100 grid </a:t>
            </a:r>
            <a:r>
              <a:rPr lang="en-AU" sz="1600" b="0" dirty="0">
                <a:effectLst/>
                <a:latin typeface="Arial"/>
                <a:ea typeface="Calibri"/>
                <a:cs typeface="Arial"/>
              </a:rPr>
              <a:t>in </a:t>
            </a:r>
            <a:r>
              <a:rPr lang="en-AU" b="0" dirty="0"/>
              <a:t>Stage 3 Year A Unit 20</a:t>
            </a:r>
            <a:r>
              <a:rPr lang="en-AU" sz="1600" b="0" dirty="0">
                <a:effectLst/>
                <a:latin typeface="Arial"/>
                <a:ea typeface="Calibri"/>
                <a:cs typeface="Arial"/>
              </a:rPr>
              <a:t>).</a:t>
            </a:r>
            <a:r>
              <a:rPr lang="en-AU" sz="1600" dirty="0">
                <a:effectLst/>
                <a:latin typeface="Arial" panose="020B0604020202020204" pitchFamily="34" charset="0"/>
                <a:ea typeface="Calibri" panose="020F0502020204030204" pitchFamily="34" charset="0"/>
              </a:rPr>
              <a:t> </a:t>
            </a:r>
            <a:endParaRPr lang="en-AU" sz="1600" u="sng"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that the aim of the game is to try and make it a challenge for the other player to pick a number that is a factor or multiple of the number given.</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Player A chooses an even number that is less than 50 and crosses it out on the grid. </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Player B chooses a number that is a factor or multiple of their partner’s number.</a:t>
            </a:r>
          </a:p>
          <a:p>
            <a:pPr marL="342900" indent="-342900">
              <a:buFont typeface="+mj-lt"/>
              <a:buAutoNum type="arabicPeriod"/>
            </a:pPr>
            <a:r>
              <a:rPr lang="en-AU" sz="1600" dirty="0">
                <a:effectLst/>
                <a:latin typeface="Arial" panose="020B0604020202020204" pitchFamily="34" charset="0"/>
                <a:ea typeface="Calibri" panose="020F0502020204030204" pitchFamily="34" charset="0"/>
              </a:rPr>
              <a:t>Players continue to take turns to cross out numbers, at each stage choosing a number that is a factor or multiple of the number just crossed out by the other player. </a:t>
            </a:r>
          </a:p>
          <a:p>
            <a:pPr marL="342900" indent="-342900">
              <a:buFont typeface="+mj-lt"/>
              <a:buAutoNum type="arabicPeriod"/>
            </a:pPr>
            <a:r>
              <a:rPr lang="en-AU" sz="1600" dirty="0">
                <a:effectLst/>
                <a:latin typeface="Arial" panose="020B0604020202020204" pitchFamily="34" charset="0"/>
                <a:ea typeface="Calibri" panose="020F0502020204030204" pitchFamily="34" charset="0"/>
              </a:rPr>
              <a:t>The first player who is unable to cross out a number ends the game.</a:t>
            </a:r>
          </a:p>
          <a:p>
            <a:pPr marL="342900" indent="-342900">
              <a:buFont typeface="+mj-lt"/>
              <a:buAutoNum type="arabicPeriod"/>
            </a:pPr>
            <a:r>
              <a:rPr lang="en-AU" sz="1600" dirty="0">
                <a:effectLst/>
                <a:latin typeface="Arial" panose="020B0604020202020204" pitchFamily="34" charset="0"/>
                <a:ea typeface="Calibri" panose="020F0502020204030204" pitchFamily="34" charset="0"/>
              </a:rPr>
              <a:t>Discuss as a class any elements of this game that made it difficult or any strategies that were used to attempt to defeat their opponent.</a:t>
            </a:r>
            <a:endParaRPr lang="en-AU" dirty="0"/>
          </a:p>
          <a:p>
            <a:pPr marL="342900" indent="-342900">
              <a:buFont typeface="+mj-lt"/>
              <a:buAutoNum type="arabicPeriod"/>
            </a:pPr>
            <a:endParaRPr lang="en-AU" b="0" dirty="0"/>
          </a:p>
          <a:p>
            <a:pPr marL="342900" indent="-342900">
              <a:buFont typeface="+mj-lt"/>
              <a:buAutoNum type="arabicPeriod"/>
            </a:pPr>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Finding factors</a:t>
            </a:r>
          </a:p>
          <a:p>
            <a:endParaRPr lang="en-AU" b="1" dirty="0"/>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Write the number 36 on the board.</a:t>
            </a:r>
          </a:p>
          <a:p>
            <a:pPr marL="0" lvl="0" indent="0">
              <a:lnSpc>
                <a:spcPct val="150000"/>
              </a:lnSpc>
              <a:spcBef>
                <a:spcPts val="1200"/>
              </a:spcBef>
              <a:spcAft>
                <a:spcPts val="600"/>
              </a:spcAft>
              <a:buFontTx/>
              <a:buNone/>
              <a:tabLst>
                <a:tab pos="228600" algn="l"/>
                <a:tab pos="318770" algn="l"/>
                <a:tab pos="318770" algn="l"/>
              </a:tabLst>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Ask students to list all the numbers that multiply together to make 36.</a:t>
            </a:r>
          </a:p>
          <a:p>
            <a:pPr marL="0" lvl="0" indent="0">
              <a:lnSpc>
                <a:spcPct val="150000"/>
              </a:lnSpc>
              <a:spcBef>
                <a:spcPts val="1200"/>
              </a:spcBef>
              <a:spcAft>
                <a:spcPts val="600"/>
              </a:spcAft>
              <a:buFontTx/>
              <a:buNone/>
              <a:tabLst>
                <a:tab pos="228600" algn="l"/>
                <a:tab pos="318770" algn="l"/>
                <a:tab pos="318770" algn="l"/>
              </a:tabLst>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Explain that each of these pairs of numbers is a factor of 36. List the factors of 36 on the board as the students share them.</a:t>
            </a:r>
          </a:p>
          <a:p>
            <a:pPr marL="0" lvl="0" indent="0">
              <a:lnSpc>
                <a:spcPct val="150000"/>
              </a:lnSpc>
              <a:spcBef>
                <a:spcPts val="1200"/>
              </a:spcBef>
              <a:spcAft>
                <a:spcPts val="600"/>
              </a:spcAft>
              <a:buFontTx/>
              <a:buNone/>
              <a:tabLst>
                <a:tab pos="228600" algn="l"/>
                <a:tab pos="318770" algn="l"/>
                <a:tab pos="318770" algn="l"/>
              </a:tabLst>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Write the number 56 on the board.</a:t>
            </a:r>
          </a:p>
          <a:p>
            <a:pPr marL="0" lvl="0" indent="0">
              <a:lnSpc>
                <a:spcPct val="150000"/>
              </a:lnSpc>
              <a:spcBef>
                <a:spcPts val="1200"/>
              </a:spcBef>
              <a:spcAft>
                <a:spcPts val="600"/>
              </a:spcAft>
              <a:buFontTx/>
              <a:buNone/>
              <a:tabLst>
                <a:tab pos="228600" algn="l"/>
                <a:tab pos="318770" algn="l"/>
                <a:tab pos="318770" algn="l"/>
              </a:tabLst>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Students work with a partner to find all the factors of 56 using factor pairs as in the previous example.</a:t>
            </a: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Ask:</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How do you know if you have missed a factor?</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Did you have a system to work out all the factors?</a:t>
            </a: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Is there a number that is always a factor?</a:t>
            </a:r>
          </a:p>
          <a:p>
            <a:pPr marL="0" lvl="0" indent="0">
              <a:lnSpc>
                <a:spcPct val="150000"/>
              </a:lnSpc>
              <a:spcBef>
                <a:spcPts val="1200"/>
              </a:spcBef>
              <a:spcAft>
                <a:spcPts val="600"/>
              </a:spcAft>
              <a:buFontTx/>
              <a:buNone/>
            </a:pPr>
            <a:endParaRPr lang="en-AU" sz="1600" dirty="0">
              <a:effectLst/>
              <a:latin typeface="Arial" panose="020B0604020202020204" pitchFamily="34" charset="0"/>
              <a:ea typeface="Calibri" panose="020F0502020204030204" pitchFamily="34" charset="0"/>
              <a:cs typeface="Times New Roman" panose="02020603050405020304" pitchFamily="18" charset="0"/>
            </a:endParaRPr>
          </a:p>
          <a:p>
            <a:pPr marL="0" lvl="0" indent="0">
              <a:lnSpc>
                <a:spcPct val="150000"/>
              </a:lnSpc>
              <a:spcBef>
                <a:spcPts val="1200"/>
              </a:spcBef>
              <a:spcAft>
                <a:spcPts val="600"/>
              </a:spcAft>
              <a:buFontTx/>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What kind of number has only itself and 1 as factors? (prime number)</a:t>
            </a:r>
          </a:p>
          <a:p>
            <a:pPr marL="0" lvl="0" indent="0">
              <a:lnSpc>
                <a:spcPct val="150000"/>
              </a:lnSpc>
              <a:spcBef>
                <a:spcPts val="1200"/>
              </a:spcBef>
              <a:spcAft>
                <a:spcPts val="600"/>
              </a:spcAft>
              <a:buFontTx/>
              <a:buNone/>
              <a:tabLst>
                <a:tab pos="228600" algn="l"/>
                <a:tab pos="318770" algn="l"/>
                <a:tab pos="318770" algn="l"/>
              </a:tabLst>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Tx/>
              <a:buNone/>
              <a:tabLst>
                <a:tab pos="228600" algn="l"/>
                <a:tab pos="318770" algn="l"/>
                <a:tab pos="318770" algn="l"/>
              </a:tabLst>
            </a:pPr>
            <a:r>
              <a:rPr lang="en-AU" sz="1600" dirty="0">
                <a:effectLst/>
                <a:latin typeface="Arial" panose="020B0604020202020204" pitchFamily="34" charset="0"/>
                <a:ea typeface="Calibri" panose="020F0502020204030204" pitchFamily="34" charset="0"/>
              </a:rPr>
              <a:t>Discuss as a class using examples to support student understanding of factors.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A4930-B937-B85A-CCE6-2DF61CE83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815DA-BA9E-0C5A-CD23-2B55266C9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11A7D-C175-CEB2-413D-44CEDD0E946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0" dirty="0"/>
              <a:t>See slide 60 for instructions.</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5C6D667-9A40-7C40-A2AA-044364D922AE}"/>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2692224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7048421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slide" Target="slide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s://nrich.maths.org/problems/whats-box" TargetMode="External"/><Relationship Id="rId3" Type="http://schemas.openxmlformats.org/officeDocument/2006/relationships/hyperlink" Target="https://curriculum.nsw.edu.au/learning-areas/mathematics/mathematics-k-10-2022/overview" TargetMode="External"/><Relationship Id="rId7" Type="http://schemas.openxmlformats.org/officeDocument/2006/relationships/hyperlink" Target="https://nrich.maths.org/content/id/5468/Factors%20and%20Multiples%20Game_worksheet.docx.pdf" TargetMode="External"/><Relationship Id="rId12" Type="http://schemas.openxmlformats.org/officeDocument/2006/relationships/hyperlink" Target="https://curriculum.nsw.edu.au/"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www.lovemaths.me/number-36" TargetMode="External"/><Relationship Id="rId11" Type="http://schemas.openxmlformats.org/officeDocument/2006/relationships/hyperlink" Target="https://educationstandards.nsw.edu.au/wps/portal/nesa/home" TargetMode="External"/><Relationship Id="rId5" Type="http://schemas.openxmlformats.org/officeDocument/2006/relationships/hyperlink" Target="https://www.mmmathmania.com/copy-of-fractions-final" TargetMode="External"/><Relationship Id="rId10" Type="http://schemas.openxmlformats.org/officeDocument/2006/relationships/hyperlink" Target="https://educationstandards.nsw.edu.au/wps/portal/nesa/mini-footer/copyright" TargetMode="External"/><Relationship Id="rId4" Type="http://schemas.openxmlformats.org/officeDocument/2006/relationships/hyperlink" Target="https://www.math-salamanders.com/image-files/4th-grade-math-games-salamander-shoot-out-minus-10-to-10ins.gif" TargetMode="External"/><Relationship Id="rId9" Type="http://schemas.openxmlformats.org/officeDocument/2006/relationships/hyperlink" Target="https://nrich.maths.org/factorsandmultiples"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20.</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20</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Blue circle 1 with light blue rectangle with title Review of lear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descr="Blue circle 1 with light blue rectangle with title Review of learning 1.">
              <a:extLst>
                <a:ext uri="{FF2B5EF4-FFF2-40B4-BE49-F238E27FC236}">
                  <a16:creationId xmlns:a16="http://schemas.microsoft.com/office/drawing/2014/main" id="{935D5059-5790-C707-5987-84856AF04ADB}"/>
                </a:ext>
                <a:ext uri="{C183D7F6-B498-43B3-948B-1728B52AA6E4}">
                  <adec:decorative xmlns:adec="http://schemas.microsoft.com/office/drawing/2017/decorative" val="0"/>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Blue circle 2 with light blue rectangle with title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Blue circle 3 with light blue rectangle with title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0"/>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Blue circle 4 with light blue rectangle with title Review of lear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descr="Blue circle 4 with light blue rectangle with title Review of learning 4.">
              <a:extLst>
                <a:ext uri="{FF2B5EF4-FFF2-40B4-BE49-F238E27FC236}">
                  <a16:creationId xmlns:a16="http://schemas.microsoft.com/office/drawing/2014/main" id="{B1BC8FAB-0C07-84FE-204A-47391BBEAF64}"/>
                </a:ext>
                <a:ext uri="{C183D7F6-B498-43B3-948B-1728B52AA6E4}">
                  <adec:decorative xmlns:adec="http://schemas.microsoft.com/office/drawing/2017/decorative" val="0"/>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Blue circle 5 with light blue rectangle with title Review of lear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descr="Blue circle 5 with light blue rectangle with title Review of learning 5.">
              <a:extLst>
                <a:ext uri="{FF2B5EF4-FFF2-40B4-BE49-F238E27FC236}">
                  <a16:creationId xmlns:a16="http://schemas.microsoft.com/office/drawing/2014/main" id="{3DAA1A61-85C8-F828-1EC5-45BA7CAB872F}"/>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Blue circle 6 with light blue rectangle with title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descr="Blue circle 6 with light blue rectangle with title Review of learning 6.">
              <a:extLst>
                <a:ext uri="{FF2B5EF4-FFF2-40B4-BE49-F238E27FC236}">
                  <a16:creationId xmlns:a16="http://schemas.microsoft.com/office/drawing/2014/main" id="{872B6A74-D5FE-A9C3-5036-DA39A3F3AAA9}"/>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Blue circle 7 with light blue rectangle with title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descr="Blue circle 7 with light blue rectangle with title Review of learning 7.">
              <a:extLst>
                <a:ext uri="{FF2B5EF4-FFF2-40B4-BE49-F238E27FC236}">
                  <a16:creationId xmlns:a16="http://schemas.microsoft.com/office/drawing/2014/main" id="{D868B1C9-B182-2727-4865-6D5AC1780BED}"/>
                </a:ext>
                <a:ext uri="{C183D7F6-B498-43B3-948B-1728B52AA6E4}">
                  <adec:decorative xmlns:adec="http://schemas.microsoft.com/office/drawing/2017/decorative" val="0"/>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Blue circle 8 with light blue rectangle with title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descr="Blue circle 8 with light blue rectangle with title Review of learning 8.">
              <a:extLst>
                <a:ext uri="{FF2B5EF4-FFF2-40B4-BE49-F238E27FC236}">
                  <a16:creationId xmlns:a16="http://schemas.microsoft.com/office/drawing/2014/main" id="{22AE8CE5-94FD-CF39-4100-9EA79119BE34}"/>
                </a:ext>
                <a:ext uri="{C183D7F6-B498-43B3-948B-1728B52AA6E4}">
                  <adec:decorative xmlns:adec="http://schemas.microsoft.com/office/drawing/2017/decorative" val="0"/>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1064149"/>
            <a:ext cx="11243037" cy="754243"/>
          </a:xfrm>
        </p:spPr>
        <p:txBody>
          <a:bodyPr/>
          <a:lstStyle/>
          <a:p>
            <a:r>
              <a:rPr lang="en-US" sz="4400" dirty="0"/>
              <a:t>Which </a:t>
            </a:r>
            <a:r>
              <a:rPr lang="en-US" sz="4400" b="1" dirty="0"/>
              <a:t>decimal</a:t>
            </a:r>
            <a:r>
              <a:rPr lang="en-US" sz="4400" dirty="0"/>
              <a:t> is the </a:t>
            </a:r>
            <a:r>
              <a:rPr lang="en-US" sz="4400" b="1" dirty="0"/>
              <a:t>largest</a:t>
            </a:r>
            <a:r>
              <a:rPr lang="en-US" sz="4400" dirty="0"/>
              <a:t>?</a:t>
            </a:r>
          </a:p>
        </p:txBody>
      </p:sp>
      <p:sp>
        <p:nvSpPr>
          <p:cNvPr id="9" name="TextBox 8">
            <a:extLst>
              <a:ext uri="{FF2B5EF4-FFF2-40B4-BE49-F238E27FC236}">
                <a16:creationId xmlns:a16="http://schemas.microsoft.com/office/drawing/2014/main" id="{EF8DF706-D80F-92B1-7253-8E6E8E474570}"/>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345520" y="2779834"/>
            <a:ext cx="10175920" cy="641396"/>
          </a:xfrm>
        </p:spPr>
        <p:txBody>
          <a:bodyPr anchor="ctr"/>
          <a:lstStyle/>
          <a:p>
            <a:r>
              <a:rPr lang="en-US" sz="4400"/>
              <a:t>0.12</a:t>
            </a:r>
          </a:p>
        </p:txBody>
      </p:sp>
      <p:sp>
        <p:nvSpPr>
          <p:cNvPr id="10" name="TextBox 9">
            <a:extLst>
              <a:ext uri="{FF2B5EF4-FFF2-40B4-BE49-F238E27FC236}">
                <a16:creationId xmlns:a16="http://schemas.microsoft.com/office/drawing/2014/main" id="{E8E3048F-F2CC-3A16-FD64-BA70C679B369}"/>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345520" y="3627355"/>
            <a:ext cx="10175920" cy="641396"/>
          </a:xfrm>
        </p:spPr>
        <p:txBody>
          <a:bodyPr anchor="ctr"/>
          <a:lstStyle/>
          <a:p>
            <a:r>
              <a:rPr lang="en-US" sz="4400"/>
              <a:t>0.03</a:t>
            </a:r>
          </a:p>
        </p:txBody>
      </p:sp>
      <p:sp>
        <p:nvSpPr>
          <p:cNvPr id="12" name="TextBox 11">
            <a:extLst>
              <a:ext uri="{FF2B5EF4-FFF2-40B4-BE49-F238E27FC236}">
                <a16:creationId xmlns:a16="http://schemas.microsoft.com/office/drawing/2014/main" id="{653CFB63-79BB-2581-B3F1-80CDC52E39F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345520" y="4474876"/>
            <a:ext cx="10175920" cy="641396"/>
          </a:xfrm>
        </p:spPr>
        <p:txBody>
          <a:bodyPr anchor="ctr"/>
          <a:lstStyle/>
          <a:p>
            <a:r>
              <a:rPr lang="en-US" sz="4400"/>
              <a:t>0.126</a:t>
            </a:r>
          </a:p>
        </p:txBody>
      </p:sp>
      <p:sp>
        <p:nvSpPr>
          <p:cNvPr id="11" name="TextBox 10">
            <a:extLst>
              <a:ext uri="{FF2B5EF4-FFF2-40B4-BE49-F238E27FC236}">
                <a16:creationId xmlns:a16="http://schemas.microsoft.com/office/drawing/2014/main" id="{A7CF7502-CF88-ED76-425C-93F1166598D5}"/>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1345520" y="5347781"/>
            <a:ext cx="10175920" cy="641396"/>
          </a:xfrm>
        </p:spPr>
        <p:txBody>
          <a:bodyPr anchor="ctr"/>
          <a:lstStyle/>
          <a:p>
            <a:r>
              <a:rPr lang="en-US" sz="4400"/>
              <a:t>0.036</a:t>
            </a:r>
          </a:p>
        </p:txBody>
      </p:sp>
      <p:sp>
        <p:nvSpPr>
          <p:cNvPr id="2" name="Slide Number Placeholder 1">
            <a:extLst>
              <a:ext uri="{FF2B5EF4-FFF2-40B4-BE49-F238E27FC236}">
                <a16:creationId xmlns:a16="http://schemas.microsoft.com/office/drawing/2014/main" id="{9B65148B-F5B2-7EDD-CE57-A079E0DD806D}"/>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A43EA11-2B0E-AA11-2677-3E8851033C63}"/>
              </a:ext>
            </a:extLst>
          </p:cNvPr>
          <p:cNvSpPr txBox="1"/>
          <p:nvPr/>
        </p:nvSpPr>
        <p:spPr>
          <a:xfrm>
            <a:off x="674914" y="1371600"/>
            <a:ext cx="10449086" cy="4071257"/>
          </a:xfrm>
          <a:prstGeom prst="rect">
            <a:avLst/>
          </a:prstGeom>
          <a:noFill/>
        </p:spPr>
        <p:txBody>
          <a:bodyPr wrap="square" lIns="0" tIns="0" rIns="0" bIns="0" rtlCol="0">
            <a:noAutofit/>
          </a:bodyPr>
          <a:lstStyle/>
          <a:p>
            <a:pPr algn="ctr"/>
            <a:r>
              <a:rPr lang="en-AU" sz="4400" b="1" dirty="0"/>
              <a:t>Make</a:t>
            </a:r>
            <a:r>
              <a:rPr lang="en-AU" sz="4400" dirty="0"/>
              <a:t> the </a:t>
            </a:r>
            <a:r>
              <a:rPr lang="en-AU" sz="4400" b="1" dirty="0"/>
              <a:t>largest</a:t>
            </a:r>
            <a:r>
              <a:rPr lang="en-AU" sz="4400" dirty="0"/>
              <a:t> and </a:t>
            </a:r>
            <a:r>
              <a:rPr lang="en-AU" sz="4400" b="1" dirty="0"/>
              <a:t>smallest </a:t>
            </a:r>
            <a:r>
              <a:rPr lang="en-AU" sz="4400" dirty="0"/>
              <a:t>number using all of the following </a:t>
            </a:r>
            <a:r>
              <a:rPr lang="en-AU" sz="4400" b="1" dirty="0"/>
              <a:t>digits</a:t>
            </a:r>
            <a:r>
              <a:rPr lang="en-AU" sz="4400" dirty="0"/>
              <a:t>:</a:t>
            </a:r>
          </a:p>
          <a:p>
            <a:pPr algn="ctr"/>
            <a:endParaRPr lang="en-AU" sz="4400" dirty="0"/>
          </a:p>
          <a:p>
            <a:pPr algn="ctr"/>
            <a:r>
              <a:rPr lang="en-AU" sz="4400" b="1" dirty="0"/>
              <a:t>7, 2, 3, 0, 4</a:t>
            </a:r>
          </a:p>
          <a:p>
            <a:pPr algn="ctr"/>
            <a:endParaRPr lang="en-AU" sz="4400" dirty="0"/>
          </a:p>
          <a:p>
            <a:pPr algn="ctr"/>
            <a:r>
              <a:rPr lang="en-AU" sz="4400" dirty="0"/>
              <a:t>Identify the </a:t>
            </a:r>
            <a:r>
              <a:rPr lang="en-AU" sz="4400" b="1" dirty="0"/>
              <a:t>nearest 10 thousand </a:t>
            </a:r>
            <a:r>
              <a:rPr lang="en-AU" sz="4400" dirty="0"/>
              <a:t>to the </a:t>
            </a:r>
            <a:r>
              <a:rPr lang="en-AU" sz="4400" b="1" dirty="0"/>
              <a:t>largest number</a:t>
            </a:r>
            <a:r>
              <a:rPr lang="en-AU" sz="4400" dirty="0"/>
              <a:t>. </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4">
            <a:extLst>
              <a:ext uri="{FF2B5EF4-FFF2-40B4-BE49-F238E27FC236}">
                <a16:creationId xmlns:a16="http://schemas.microsoft.com/office/drawing/2014/main" id="{B6418CA3-52D9-7D89-74FA-BBABF4C42825}"/>
              </a:ext>
            </a:extLst>
          </p:cNvPr>
          <p:cNvSpPr txBox="1">
            <a:spLocks/>
          </p:cNvSpPr>
          <p:nvPr/>
        </p:nvSpPr>
        <p:spPr>
          <a:xfrm>
            <a:off x="857606" y="1184223"/>
            <a:ext cx="10476786" cy="91550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Name</a:t>
            </a:r>
            <a:r>
              <a:rPr lang="en-US" sz="4400"/>
              <a:t> and </a:t>
            </a:r>
            <a:r>
              <a:rPr lang="en-US" sz="4400" b="1"/>
              <a:t>describe</a:t>
            </a:r>
            <a:r>
              <a:rPr lang="en-US" sz="4400"/>
              <a:t> the </a:t>
            </a:r>
            <a:r>
              <a:rPr lang="en-US" sz="4400" b="1"/>
              <a:t>triangles</a:t>
            </a:r>
            <a:r>
              <a:rPr lang="en-US" sz="4400"/>
              <a:t> below:</a:t>
            </a:r>
          </a:p>
        </p:txBody>
      </p:sp>
      <p:pic>
        <p:nvPicPr>
          <p:cNvPr id="8" name="Picture 7" descr="Three triangles in different colours and orientations arranged in a row from left to right:&#10;&#10;A dark blue scalene triangle&#10;&#10;A purple equilateral triangle&#10;&#10;A light blue isosceles triangle">
            <a:extLst>
              <a:ext uri="{FF2B5EF4-FFF2-40B4-BE49-F238E27FC236}">
                <a16:creationId xmlns:a16="http://schemas.microsoft.com/office/drawing/2014/main" id="{AE567E86-BBD9-2D79-84FE-30BE5B0227F8}"/>
              </a:ext>
            </a:extLst>
          </p:cNvPr>
          <p:cNvPicPr>
            <a:picLocks noChangeAspect="1"/>
          </p:cNvPicPr>
          <p:nvPr/>
        </p:nvPicPr>
        <p:blipFill>
          <a:blip r:embed="rId4"/>
          <a:stretch>
            <a:fillRect/>
          </a:stretch>
        </p:blipFill>
        <p:spPr>
          <a:xfrm>
            <a:off x="1377995" y="2599693"/>
            <a:ext cx="9436007" cy="3416336"/>
          </a:xfrm>
          <a:prstGeom prst="rect">
            <a:avLst/>
          </a:prstGeom>
          <a:effectLst/>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0" name="TextBox 9">
            <a:extLst>
              <a:ext uri="{FF2B5EF4-FFF2-40B4-BE49-F238E27FC236}">
                <a16:creationId xmlns:a16="http://schemas.microsoft.com/office/drawing/2014/main" id="{4407176B-A114-193B-4F8C-7552496F06CF}"/>
              </a:ext>
            </a:extLst>
          </p:cNvPr>
          <p:cNvSpPr txBox="1"/>
          <p:nvPr/>
        </p:nvSpPr>
        <p:spPr>
          <a:xfrm>
            <a:off x="1346709" y="1140376"/>
            <a:ext cx="9907920" cy="5045164"/>
          </a:xfrm>
          <a:prstGeom prst="rect">
            <a:avLst/>
          </a:prstGeom>
          <a:noFill/>
        </p:spPr>
        <p:txBody>
          <a:bodyPr wrap="square">
            <a:spAutoFit/>
          </a:bodyPr>
          <a:lstStyle/>
          <a:p>
            <a:pPr algn="ctr">
              <a:lnSpc>
                <a:spcPct val="150000"/>
              </a:lnSpc>
            </a:pPr>
            <a:r>
              <a:rPr lang="en-AU" sz="4400"/>
              <a:t>A six-sided die is rolled once. What is the </a:t>
            </a:r>
            <a:r>
              <a:rPr lang="en-AU" sz="4400" b="1"/>
              <a:t>probability</a:t>
            </a:r>
            <a:r>
              <a:rPr lang="en-AU" sz="4400"/>
              <a:t> of rolling a 4? Use the term probability in your answer to describe the </a:t>
            </a:r>
            <a:r>
              <a:rPr lang="en-AU" sz="4400" b="1"/>
              <a:t>likelihood</a:t>
            </a:r>
            <a:r>
              <a:rPr lang="en-AU" sz="4400"/>
              <a:t> of this outcome.</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1D059FB3-A245-4512-C481-05A6294862F4}"/>
              </a:ext>
            </a:extLst>
          </p:cNvPr>
          <p:cNvSpPr txBox="1">
            <a:spLocks/>
          </p:cNvSpPr>
          <p:nvPr/>
        </p:nvSpPr>
        <p:spPr>
          <a:xfrm>
            <a:off x="600963" y="924473"/>
            <a:ext cx="11243037" cy="577152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000" dirty="0"/>
              <a:t>Identify the following times as either </a:t>
            </a:r>
          </a:p>
          <a:p>
            <a:pPr algn="ctr">
              <a:lnSpc>
                <a:spcPct val="100000"/>
              </a:lnSpc>
            </a:pPr>
            <a:r>
              <a:rPr lang="en-US" sz="4000" b="1" dirty="0"/>
              <a:t>12-hour</a:t>
            </a:r>
            <a:r>
              <a:rPr lang="en-US" sz="4000" dirty="0"/>
              <a:t> or </a:t>
            </a:r>
            <a:r>
              <a:rPr lang="en-US" sz="4000" b="1" dirty="0"/>
              <a:t>24-hour time</a:t>
            </a:r>
            <a:r>
              <a:rPr lang="en-US" sz="4000" dirty="0"/>
              <a:t>:</a:t>
            </a:r>
          </a:p>
          <a:p>
            <a:pPr marL="571500" lvl="1" indent="-571500" algn="ctr">
              <a:buFont typeface="Arial" panose="020B0604020202020204" pitchFamily="34" charset="0"/>
              <a:buChar char="•"/>
            </a:pPr>
            <a:r>
              <a:rPr lang="en-US" sz="3800" dirty="0"/>
              <a:t>3:30 pm</a:t>
            </a:r>
          </a:p>
          <a:p>
            <a:pPr marL="571500" lvl="1" indent="-571500" algn="ctr">
              <a:buFont typeface="Arial" panose="020B0604020202020204" pitchFamily="34" charset="0"/>
              <a:buChar char="•"/>
            </a:pPr>
            <a:r>
              <a:rPr lang="en-US" sz="3800" dirty="0"/>
              <a:t>9:47 am </a:t>
            </a:r>
          </a:p>
          <a:p>
            <a:pPr marL="571500" lvl="1" indent="-571500" algn="ctr">
              <a:buFont typeface="Arial" panose="020B0604020202020204" pitchFamily="34" charset="0"/>
              <a:buChar char="•"/>
            </a:pPr>
            <a:r>
              <a:rPr lang="en-US" sz="3800" dirty="0"/>
              <a:t>1338 </a:t>
            </a:r>
          </a:p>
          <a:p>
            <a:pPr marL="571500" lvl="1" indent="-571500" algn="ctr">
              <a:buFont typeface="Arial" panose="020B0604020202020204" pitchFamily="34" charset="0"/>
              <a:buChar char="•"/>
            </a:pPr>
            <a:r>
              <a:rPr lang="en-US" sz="3800" dirty="0"/>
              <a:t>0642</a:t>
            </a:r>
            <a:endParaRPr lang="en-US" sz="4200" dirty="0"/>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t>
            </a:r>
            <a:r>
              <a:rPr lang="en-AU">
                <a:latin typeface="Arial"/>
                <a:cs typeface="Arial"/>
              </a:rPr>
              <a:t>compare and order decimals</a:t>
            </a:r>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This image is called decimal mix up. It shows a 0-1 numberline with six sticky notes pegged onto it.  0.01 is pegged to the left of the zero at the beginning of the number line. The following decimals follow in this order, 0.899, 0.21, 0.36, 0.5, 0.204 and 0.56. ">
            <a:extLst>
              <a:ext uri="{FF2B5EF4-FFF2-40B4-BE49-F238E27FC236}">
                <a16:creationId xmlns:a16="http://schemas.microsoft.com/office/drawing/2014/main" id="{C67165C5-20D0-71A1-2A30-3561A3CCFBC8}"/>
              </a:ext>
            </a:extLst>
          </p:cNvPr>
          <p:cNvGrpSpPr/>
          <p:nvPr/>
        </p:nvGrpSpPr>
        <p:grpSpPr>
          <a:xfrm>
            <a:off x="584535" y="2118067"/>
            <a:ext cx="10370397" cy="1423614"/>
            <a:chOff x="633173" y="2439080"/>
            <a:chExt cx="10370397" cy="1423614"/>
          </a:xfrm>
        </p:grpSpPr>
        <p:sp>
          <p:nvSpPr>
            <p:cNvPr id="5" name="AutoShape 2">
              <a:extLst>
                <a:ext uri="{FF2B5EF4-FFF2-40B4-BE49-F238E27FC236}">
                  <a16:creationId xmlns:a16="http://schemas.microsoft.com/office/drawing/2014/main" id="{DE9ACA07-6A70-664A-80A7-149E6EECC43D}"/>
                </a:ext>
              </a:extLst>
            </p:cNvPr>
            <p:cNvSpPr/>
            <p:nvPr/>
          </p:nvSpPr>
          <p:spPr>
            <a:xfrm flipV="1">
              <a:off x="1320204" y="3052130"/>
              <a:ext cx="9651410" cy="0"/>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7" name="TextBox 3">
              <a:extLst>
                <a:ext uri="{FF2B5EF4-FFF2-40B4-BE49-F238E27FC236}">
                  <a16:creationId xmlns:a16="http://schemas.microsoft.com/office/drawing/2014/main" id="{485A056F-8E31-A519-BA27-1B0D9A028F5E}"/>
                </a:ext>
              </a:extLst>
            </p:cNvPr>
            <p:cNvSpPr txBox="1"/>
            <p:nvPr/>
          </p:nvSpPr>
          <p:spPr>
            <a:xfrm>
              <a:off x="1320204" y="3140170"/>
              <a:ext cx="218480" cy="605230"/>
            </a:xfrm>
            <a:prstGeom prst="rect">
              <a:avLst/>
            </a:prstGeom>
          </p:spPr>
          <p:txBody>
            <a:bodyPr lIns="0" tIns="0" rIns="0" bIns="0" rtlCol="0" anchor="t">
              <a:spAutoFit/>
            </a:bodyPr>
            <a:lstStyle/>
            <a:p>
              <a:pPr algn="ctr">
                <a:lnSpc>
                  <a:spcPts val="5190"/>
                </a:lnSpc>
                <a:spcBef>
                  <a:spcPct val="0"/>
                </a:spcBef>
              </a:pPr>
              <a:r>
                <a:rPr lang="en-US" sz="3600">
                  <a:solidFill>
                    <a:srgbClr val="000000"/>
                  </a:solidFill>
                  <a:latin typeface="Canva Student Font"/>
                  <a:ea typeface="Canva Student Font"/>
                  <a:cs typeface="Canva Student Font"/>
                  <a:sym typeface="Canva Student Font"/>
                </a:rPr>
                <a:t>0</a:t>
              </a:r>
            </a:p>
          </p:txBody>
        </p:sp>
        <p:sp>
          <p:nvSpPr>
            <p:cNvPr id="8" name="AutoShape 4">
              <a:extLst>
                <a:ext uri="{FF2B5EF4-FFF2-40B4-BE49-F238E27FC236}">
                  <a16:creationId xmlns:a16="http://schemas.microsoft.com/office/drawing/2014/main" id="{5902724B-71FC-F478-A335-7327721B833F}"/>
                </a:ext>
              </a:extLst>
            </p:cNvPr>
            <p:cNvSpPr/>
            <p:nvPr/>
          </p:nvSpPr>
          <p:spPr>
            <a:xfrm flipH="1">
              <a:off x="887427" y="3052130"/>
              <a:ext cx="432777" cy="0"/>
            </a:xfrm>
            <a:prstGeom prst="line">
              <a:avLst/>
            </a:prstGeom>
            <a:ln w="38100" cap="flat">
              <a:solidFill>
                <a:srgbClr val="000000"/>
              </a:solidFill>
              <a:prstDash val="solid"/>
              <a:headEnd type="none" w="sm" len="sm"/>
              <a:tailEnd type="arrow" w="med" len="sm"/>
            </a:ln>
          </p:spPr>
          <p:txBody>
            <a:bodyPr/>
            <a:lstStyle/>
            <a:p>
              <a:endParaRPr lang="en-AU" sz="2000"/>
            </a:p>
          </p:txBody>
        </p:sp>
        <p:sp>
          <p:nvSpPr>
            <p:cNvPr id="9" name="AutoShape 5">
              <a:extLst>
                <a:ext uri="{FF2B5EF4-FFF2-40B4-BE49-F238E27FC236}">
                  <a16:creationId xmlns:a16="http://schemas.microsoft.com/office/drawing/2014/main" id="{2027DF68-6930-50C8-8BBE-8B1E3175416B}"/>
                </a:ext>
              </a:extLst>
            </p:cNvPr>
            <p:cNvSpPr/>
            <p:nvPr/>
          </p:nvSpPr>
          <p:spPr>
            <a:xfrm>
              <a:off x="1429444" y="2861962"/>
              <a:ext cx="0" cy="354408"/>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10" name="AutoShape 6">
              <a:extLst>
                <a:ext uri="{FF2B5EF4-FFF2-40B4-BE49-F238E27FC236}">
                  <a16:creationId xmlns:a16="http://schemas.microsoft.com/office/drawing/2014/main" id="{CDA43FB1-E4AA-6C17-F3F7-9C8650B26390}"/>
                </a:ext>
              </a:extLst>
            </p:cNvPr>
            <p:cNvSpPr/>
            <p:nvPr/>
          </p:nvSpPr>
          <p:spPr>
            <a:xfrm>
              <a:off x="10632104" y="2861962"/>
              <a:ext cx="0" cy="354408"/>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11" name="AutoShape 7">
              <a:extLst>
                <a:ext uri="{FF2B5EF4-FFF2-40B4-BE49-F238E27FC236}">
                  <a16:creationId xmlns:a16="http://schemas.microsoft.com/office/drawing/2014/main" id="{EF8F4AF2-1B5A-8888-AFA1-BC970F3D2A36}"/>
                </a:ext>
              </a:extLst>
            </p:cNvPr>
            <p:cNvSpPr/>
            <p:nvPr/>
          </p:nvSpPr>
          <p:spPr>
            <a:xfrm>
              <a:off x="10694165" y="3052130"/>
              <a:ext cx="309405" cy="0"/>
            </a:xfrm>
            <a:prstGeom prst="line">
              <a:avLst/>
            </a:prstGeom>
            <a:ln w="38100" cap="flat">
              <a:solidFill>
                <a:srgbClr val="000000"/>
              </a:solidFill>
              <a:prstDash val="solid"/>
              <a:headEnd type="none" w="sm" len="sm"/>
              <a:tailEnd type="arrow" w="med" len="sm"/>
            </a:ln>
          </p:spPr>
          <p:txBody>
            <a:bodyPr/>
            <a:lstStyle/>
            <a:p>
              <a:endParaRPr lang="en-AU" sz="2000"/>
            </a:p>
          </p:txBody>
        </p:sp>
        <p:sp>
          <p:nvSpPr>
            <p:cNvPr id="12" name="Freeform 8">
              <a:extLst>
                <a:ext uri="{FF2B5EF4-FFF2-40B4-BE49-F238E27FC236}">
                  <a16:creationId xmlns:a16="http://schemas.microsoft.com/office/drawing/2014/main" id="{0C41CAE0-9DE0-8C41-941B-82D5A70090C9}"/>
                </a:ext>
              </a:extLst>
            </p:cNvPr>
            <p:cNvSpPr/>
            <p:nvPr/>
          </p:nvSpPr>
          <p:spPr>
            <a:xfrm>
              <a:off x="6168871" y="3133100"/>
              <a:ext cx="644708" cy="646324"/>
            </a:xfrm>
            <a:custGeom>
              <a:avLst/>
              <a:gdLst/>
              <a:ahLst/>
              <a:cxnLst/>
              <a:rect l="l" t="t" r="r" b="b"/>
              <a:pathLst>
                <a:path w="644708" h="646324">
                  <a:moveTo>
                    <a:pt x="0" y="0"/>
                  </a:moveTo>
                  <a:lnTo>
                    <a:pt x="644709" y="0"/>
                  </a:lnTo>
                  <a:lnTo>
                    <a:pt x="644709" y="646324"/>
                  </a:lnTo>
                  <a:lnTo>
                    <a:pt x="0" y="646324"/>
                  </a:lnTo>
                  <a:lnTo>
                    <a:pt x="0" y="0"/>
                  </a:lnTo>
                  <a:close/>
                </a:path>
              </a:pathLst>
            </a:custGeom>
            <a:blipFill>
              <a:blip r:embed="rId4"/>
              <a:stretch>
                <a:fillRect/>
              </a:stretch>
            </a:blipFill>
          </p:spPr>
          <p:txBody>
            <a:bodyPr/>
            <a:lstStyle/>
            <a:p>
              <a:endParaRPr lang="en-AU" sz="2000"/>
            </a:p>
          </p:txBody>
        </p:sp>
        <p:sp>
          <p:nvSpPr>
            <p:cNvPr id="13" name="TextBox 9">
              <a:extLst>
                <a:ext uri="{FF2B5EF4-FFF2-40B4-BE49-F238E27FC236}">
                  <a16:creationId xmlns:a16="http://schemas.microsoft.com/office/drawing/2014/main" id="{94CE53B4-A832-1A87-5603-0733D65C70F6}"/>
                </a:ext>
              </a:extLst>
            </p:cNvPr>
            <p:cNvSpPr txBox="1"/>
            <p:nvPr/>
          </p:nvSpPr>
          <p:spPr>
            <a:xfrm>
              <a:off x="10591548" y="3221140"/>
              <a:ext cx="81111" cy="605230"/>
            </a:xfrm>
            <a:prstGeom prst="rect">
              <a:avLst/>
            </a:prstGeom>
          </p:spPr>
          <p:txBody>
            <a:bodyPr lIns="0" tIns="0" rIns="0" bIns="0" rtlCol="0" anchor="t">
              <a:spAutoFit/>
            </a:bodyPr>
            <a:lstStyle/>
            <a:p>
              <a:pPr algn="ctr">
                <a:lnSpc>
                  <a:spcPts val="5190"/>
                </a:lnSpc>
                <a:spcBef>
                  <a:spcPct val="0"/>
                </a:spcBef>
              </a:pPr>
              <a:r>
                <a:rPr lang="en-US" sz="3600">
                  <a:solidFill>
                    <a:srgbClr val="000000"/>
                  </a:solidFill>
                  <a:latin typeface="Canva Student Font"/>
                  <a:ea typeface="Canva Student Font"/>
                  <a:cs typeface="Canva Student Font"/>
                  <a:sym typeface="Canva Student Font"/>
                </a:rPr>
                <a:t>1</a:t>
              </a:r>
            </a:p>
          </p:txBody>
        </p:sp>
        <p:sp>
          <p:nvSpPr>
            <p:cNvPr id="14" name="TextBox 10">
              <a:extLst>
                <a:ext uri="{FF2B5EF4-FFF2-40B4-BE49-F238E27FC236}">
                  <a16:creationId xmlns:a16="http://schemas.microsoft.com/office/drawing/2014/main" id="{0A04A8A7-3E43-83AB-663E-412CA8D3EACA}"/>
                </a:ext>
              </a:extLst>
            </p:cNvPr>
            <p:cNvSpPr txBox="1"/>
            <p:nvPr/>
          </p:nvSpPr>
          <p:spPr>
            <a:xfrm>
              <a:off x="6278922" y="3305182"/>
              <a:ext cx="424607"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0.36</a:t>
              </a:r>
            </a:p>
          </p:txBody>
        </p:sp>
        <p:sp>
          <p:nvSpPr>
            <p:cNvPr id="15" name="Freeform 11">
              <a:extLst>
                <a:ext uri="{FF2B5EF4-FFF2-40B4-BE49-F238E27FC236}">
                  <a16:creationId xmlns:a16="http://schemas.microsoft.com/office/drawing/2014/main" id="{550D5655-61E3-8229-915F-8B33CF5C960F}"/>
                </a:ext>
              </a:extLst>
            </p:cNvPr>
            <p:cNvSpPr/>
            <p:nvPr/>
          </p:nvSpPr>
          <p:spPr>
            <a:xfrm>
              <a:off x="9190299" y="3091970"/>
              <a:ext cx="644708" cy="646324"/>
            </a:xfrm>
            <a:custGeom>
              <a:avLst/>
              <a:gdLst/>
              <a:ahLst/>
              <a:cxnLst/>
              <a:rect l="l" t="t" r="r" b="b"/>
              <a:pathLst>
                <a:path w="644708" h="646324">
                  <a:moveTo>
                    <a:pt x="0" y="0"/>
                  </a:moveTo>
                  <a:lnTo>
                    <a:pt x="644708" y="0"/>
                  </a:lnTo>
                  <a:lnTo>
                    <a:pt x="644708" y="646324"/>
                  </a:lnTo>
                  <a:lnTo>
                    <a:pt x="0" y="646324"/>
                  </a:lnTo>
                  <a:lnTo>
                    <a:pt x="0" y="0"/>
                  </a:lnTo>
                  <a:close/>
                </a:path>
              </a:pathLst>
            </a:custGeom>
            <a:blipFill>
              <a:blip r:embed="rId4"/>
              <a:stretch>
                <a:fillRect/>
              </a:stretch>
            </a:blipFill>
          </p:spPr>
          <p:txBody>
            <a:bodyPr/>
            <a:lstStyle/>
            <a:p>
              <a:endParaRPr lang="en-AU" sz="2000"/>
            </a:p>
          </p:txBody>
        </p:sp>
        <p:sp>
          <p:nvSpPr>
            <p:cNvPr id="16" name="Freeform 12">
              <a:extLst>
                <a:ext uri="{FF2B5EF4-FFF2-40B4-BE49-F238E27FC236}">
                  <a16:creationId xmlns:a16="http://schemas.microsoft.com/office/drawing/2014/main" id="{FA0068E8-D977-4FEA-E3B8-DB0840234964}"/>
                </a:ext>
              </a:extLst>
            </p:cNvPr>
            <p:cNvSpPr/>
            <p:nvPr/>
          </p:nvSpPr>
          <p:spPr>
            <a:xfrm>
              <a:off x="2450799" y="3052130"/>
              <a:ext cx="644708" cy="646324"/>
            </a:xfrm>
            <a:custGeom>
              <a:avLst/>
              <a:gdLst/>
              <a:ahLst/>
              <a:cxnLst/>
              <a:rect l="l" t="t" r="r" b="b"/>
              <a:pathLst>
                <a:path w="644708" h="646324">
                  <a:moveTo>
                    <a:pt x="0" y="0"/>
                  </a:moveTo>
                  <a:lnTo>
                    <a:pt x="644709" y="0"/>
                  </a:lnTo>
                  <a:lnTo>
                    <a:pt x="644709" y="646324"/>
                  </a:lnTo>
                  <a:lnTo>
                    <a:pt x="0" y="646324"/>
                  </a:lnTo>
                  <a:lnTo>
                    <a:pt x="0" y="0"/>
                  </a:lnTo>
                  <a:close/>
                </a:path>
              </a:pathLst>
            </a:custGeom>
            <a:blipFill>
              <a:blip r:embed="rId4"/>
              <a:stretch>
                <a:fillRect/>
              </a:stretch>
            </a:blipFill>
          </p:spPr>
          <p:txBody>
            <a:bodyPr/>
            <a:lstStyle/>
            <a:p>
              <a:endParaRPr lang="en-AU" sz="2000"/>
            </a:p>
          </p:txBody>
        </p:sp>
        <p:sp>
          <p:nvSpPr>
            <p:cNvPr id="17" name="Freeform 13">
              <a:extLst>
                <a:ext uri="{FF2B5EF4-FFF2-40B4-BE49-F238E27FC236}">
                  <a16:creationId xmlns:a16="http://schemas.microsoft.com/office/drawing/2014/main" id="{6C5BEBF8-A631-97B5-78AB-563DBDE3E546}"/>
                </a:ext>
              </a:extLst>
            </p:cNvPr>
            <p:cNvSpPr/>
            <p:nvPr/>
          </p:nvSpPr>
          <p:spPr>
            <a:xfrm>
              <a:off x="633173" y="3133100"/>
              <a:ext cx="644708" cy="646324"/>
            </a:xfrm>
            <a:custGeom>
              <a:avLst/>
              <a:gdLst/>
              <a:ahLst/>
              <a:cxnLst/>
              <a:rect l="l" t="t" r="r" b="b"/>
              <a:pathLst>
                <a:path w="644708" h="646324">
                  <a:moveTo>
                    <a:pt x="0" y="0"/>
                  </a:moveTo>
                  <a:lnTo>
                    <a:pt x="644708" y="0"/>
                  </a:lnTo>
                  <a:lnTo>
                    <a:pt x="644708" y="646324"/>
                  </a:lnTo>
                  <a:lnTo>
                    <a:pt x="0" y="646324"/>
                  </a:lnTo>
                  <a:lnTo>
                    <a:pt x="0" y="0"/>
                  </a:lnTo>
                  <a:close/>
                </a:path>
              </a:pathLst>
            </a:custGeom>
            <a:blipFill>
              <a:blip r:embed="rId4"/>
              <a:stretch>
                <a:fillRect/>
              </a:stretch>
            </a:blipFill>
          </p:spPr>
          <p:txBody>
            <a:bodyPr/>
            <a:lstStyle/>
            <a:p>
              <a:endParaRPr lang="en-AU" sz="2000"/>
            </a:p>
          </p:txBody>
        </p:sp>
        <p:sp>
          <p:nvSpPr>
            <p:cNvPr id="18" name="Freeform 14">
              <a:extLst>
                <a:ext uri="{FF2B5EF4-FFF2-40B4-BE49-F238E27FC236}">
                  <a16:creationId xmlns:a16="http://schemas.microsoft.com/office/drawing/2014/main" id="{68048A69-5E32-342E-5937-065361A47C79}"/>
                </a:ext>
              </a:extLst>
            </p:cNvPr>
            <p:cNvSpPr/>
            <p:nvPr/>
          </p:nvSpPr>
          <p:spPr>
            <a:xfrm>
              <a:off x="5318328" y="3209763"/>
              <a:ext cx="644708" cy="646324"/>
            </a:xfrm>
            <a:custGeom>
              <a:avLst/>
              <a:gdLst/>
              <a:ahLst/>
              <a:cxnLst/>
              <a:rect l="l" t="t" r="r" b="b"/>
              <a:pathLst>
                <a:path w="644708" h="646324">
                  <a:moveTo>
                    <a:pt x="0" y="0"/>
                  </a:moveTo>
                  <a:lnTo>
                    <a:pt x="644709" y="0"/>
                  </a:lnTo>
                  <a:lnTo>
                    <a:pt x="644709" y="646324"/>
                  </a:lnTo>
                  <a:lnTo>
                    <a:pt x="0" y="646324"/>
                  </a:lnTo>
                  <a:lnTo>
                    <a:pt x="0" y="0"/>
                  </a:lnTo>
                  <a:close/>
                </a:path>
              </a:pathLst>
            </a:custGeom>
            <a:blipFill>
              <a:blip r:embed="rId4"/>
              <a:stretch>
                <a:fillRect/>
              </a:stretch>
            </a:blipFill>
          </p:spPr>
          <p:txBody>
            <a:bodyPr/>
            <a:lstStyle/>
            <a:p>
              <a:endParaRPr lang="en-AU" sz="2000"/>
            </a:p>
          </p:txBody>
        </p:sp>
        <p:sp>
          <p:nvSpPr>
            <p:cNvPr id="19" name="TextBox 15">
              <a:extLst>
                <a:ext uri="{FF2B5EF4-FFF2-40B4-BE49-F238E27FC236}">
                  <a16:creationId xmlns:a16="http://schemas.microsoft.com/office/drawing/2014/main" id="{83CA2B7C-CB32-490D-16D7-D678035B70DB}"/>
                </a:ext>
              </a:extLst>
            </p:cNvPr>
            <p:cNvSpPr txBox="1"/>
            <p:nvPr/>
          </p:nvSpPr>
          <p:spPr>
            <a:xfrm>
              <a:off x="9299308" y="3224212"/>
              <a:ext cx="426690"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0.56</a:t>
              </a:r>
            </a:p>
          </p:txBody>
        </p:sp>
        <p:sp>
          <p:nvSpPr>
            <p:cNvPr id="20" name="TextBox 16">
              <a:extLst>
                <a:ext uri="{FF2B5EF4-FFF2-40B4-BE49-F238E27FC236}">
                  <a16:creationId xmlns:a16="http://schemas.microsoft.com/office/drawing/2014/main" id="{1AE736DC-FC1B-5AA4-BB66-4C4F23B7CE56}"/>
                </a:ext>
              </a:extLst>
            </p:cNvPr>
            <p:cNvSpPr txBox="1"/>
            <p:nvPr/>
          </p:nvSpPr>
          <p:spPr>
            <a:xfrm>
              <a:off x="2495440" y="3259240"/>
              <a:ext cx="555427"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0.899</a:t>
              </a:r>
            </a:p>
          </p:txBody>
        </p:sp>
        <p:sp>
          <p:nvSpPr>
            <p:cNvPr id="21" name="TextBox 17">
              <a:extLst>
                <a:ext uri="{FF2B5EF4-FFF2-40B4-BE49-F238E27FC236}">
                  <a16:creationId xmlns:a16="http://schemas.microsoft.com/office/drawing/2014/main" id="{7720E1F6-CF2B-1280-C4EA-B12284168DDE}"/>
                </a:ext>
              </a:extLst>
            </p:cNvPr>
            <p:cNvSpPr txBox="1"/>
            <p:nvPr/>
          </p:nvSpPr>
          <p:spPr>
            <a:xfrm>
              <a:off x="766962" y="3259240"/>
              <a:ext cx="377130"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0.01</a:t>
              </a:r>
            </a:p>
          </p:txBody>
        </p:sp>
        <p:sp>
          <p:nvSpPr>
            <p:cNvPr id="22" name="TextBox 18">
              <a:extLst>
                <a:ext uri="{FF2B5EF4-FFF2-40B4-BE49-F238E27FC236}">
                  <a16:creationId xmlns:a16="http://schemas.microsoft.com/office/drawing/2014/main" id="{10BF1BD9-036A-EFD9-80CD-7B5CDCFE0763}"/>
                </a:ext>
              </a:extLst>
            </p:cNvPr>
            <p:cNvSpPr txBox="1"/>
            <p:nvPr/>
          </p:nvSpPr>
          <p:spPr>
            <a:xfrm>
              <a:off x="5453754" y="3377032"/>
              <a:ext cx="373856"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0.21</a:t>
              </a:r>
            </a:p>
          </p:txBody>
        </p:sp>
        <p:sp>
          <p:nvSpPr>
            <p:cNvPr id="23" name="Freeform 19">
              <a:extLst>
                <a:ext uri="{FF2B5EF4-FFF2-40B4-BE49-F238E27FC236}">
                  <a16:creationId xmlns:a16="http://schemas.microsoft.com/office/drawing/2014/main" id="{7FFC3F8D-98A7-7272-3C98-1358A75277EB}"/>
                </a:ext>
              </a:extLst>
            </p:cNvPr>
            <p:cNvSpPr/>
            <p:nvPr/>
          </p:nvSpPr>
          <p:spPr>
            <a:xfrm>
              <a:off x="1046188" y="2603319"/>
              <a:ext cx="136201" cy="694020"/>
            </a:xfrm>
            <a:custGeom>
              <a:avLst/>
              <a:gdLst/>
              <a:ahLst/>
              <a:cxnLst/>
              <a:rect l="l" t="t" r="r" b="b"/>
              <a:pathLst>
                <a:path w="136201" h="694020">
                  <a:moveTo>
                    <a:pt x="0" y="0"/>
                  </a:moveTo>
                  <a:lnTo>
                    <a:pt x="136201" y="0"/>
                  </a:lnTo>
                  <a:lnTo>
                    <a:pt x="136201" y="694021"/>
                  </a:lnTo>
                  <a:lnTo>
                    <a:pt x="0" y="6940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sp>
          <p:nvSpPr>
            <p:cNvPr id="24" name="Freeform 20">
              <a:extLst>
                <a:ext uri="{FF2B5EF4-FFF2-40B4-BE49-F238E27FC236}">
                  <a16:creationId xmlns:a16="http://schemas.microsoft.com/office/drawing/2014/main" id="{9BE2FFBE-DD53-042A-551D-D3B7572A25B9}"/>
                </a:ext>
              </a:extLst>
            </p:cNvPr>
            <p:cNvSpPr/>
            <p:nvPr/>
          </p:nvSpPr>
          <p:spPr>
            <a:xfrm>
              <a:off x="2749694" y="2439080"/>
              <a:ext cx="136201" cy="694020"/>
            </a:xfrm>
            <a:custGeom>
              <a:avLst/>
              <a:gdLst/>
              <a:ahLst/>
              <a:cxnLst/>
              <a:rect l="l" t="t" r="r" b="b"/>
              <a:pathLst>
                <a:path w="136201" h="694020">
                  <a:moveTo>
                    <a:pt x="0" y="0"/>
                  </a:moveTo>
                  <a:lnTo>
                    <a:pt x="136201" y="0"/>
                  </a:lnTo>
                  <a:lnTo>
                    <a:pt x="136201" y="694020"/>
                  </a:lnTo>
                  <a:lnTo>
                    <a:pt x="0" y="6940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sp>
          <p:nvSpPr>
            <p:cNvPr id="25" name="Freeform 21">
              <a:extLst>
                <a:ext uri="{FF2B5EF4-FFF2-40B4-BE49-F238E27FC236}">
                  <a16:creationId xmlns:a16="http://schemas.microsoft.com/office/drawing/2014/main" id="{09C37698-85A1-A779-8BDA-4F7D9907C3B1}"/>
                </a:ext>
              </a:extLst>
            </p:cNvPr>
            <p:cNvSpPr/>
            <p:nvPr/>
          </p:nvSpPr>
          <p:spPr>
            <a:xfrm>
              <a:off x="7278766" y="3216370"/>
              <a:ext cx="644708" cy="646324"/>
            </a:xfrm>
            <a:custGeom>
              <a:avLst/>
              <a:gdLst/>
              <a:ahLst/>
              <a:cxnLst/>
              <a:rect l="l" t="t" r="r" b="b"/>
              <a:pathLst>
                <a:path w="644708" h="646324">
                  <a:moveTo>
                    <a:pt x="0" y="0"/>
                  </a:moveTo>
                  <a:lnTo>
                    <a:pt x="644708" y="0"/>
                  </a:lnTo>
                  <a:lnTo>
                    <a:pt x="644708" y="646324"/>
                  </a:lnTo>
                  <a:lnTo>
                    <a:pt x="0" y="646324"/>
                  </a:lnTo>
                  <a:lnTo>
                    <a:pt x="0" y="0"/>
                  </a:lnTo>
                  <a:close/>
                </a:path>
              </a:pathLst>
            </a:custGeom>
            <a:blipFill>
              <a:blip r:embed="rId4"/>
              <a:stretch>
                <a:fillRect/>
              </a:stretch>
            </a:blipFill>
          </p:spPr>
          <p:txBody>
            <a:bodyPr/>
            <a:lstStyle/>
            <a:p>
              <a:endParaRPr lang="en-AU" sz="2000"/>
            </a:p>
          </p:txBody>
        </p:sp>
        <p:sp>
          <p:nvSpPr>
            <p:cNvPr id="26" name="Freeform 22">
              <a:extLst>
                <a:ext uri="{FF2B5EF4-FFF2-40B4-BE49-F238E27FC236}">
                  <a16:creationId xmlns:a16="http://schemas.microsoft.com/office/drawing/2014/main" id="{C9150ED1-C2CD-5B9E-C91D-E693E68FB8EE}"/>
                </a:ext>
              </a:extLst>
            </p:cNvPr>
            <p:cNvSpPr/>
            <p:nvPr/>
          </p:nvSpPr>
          <p:spPr>
            <a:xfrm>
              <a:off x="7508567" y="2603319"/>
              <a:ext cx="136201" cy="694020"/>
            </a:xfrm>
            <a:custGeom>
              <a:avLst/>
              <a:gdLst/>
              <a:ahLst/>
              <a:cxnLst/>
              <a:rect l="l" t="t" r="r" b="b"/>
              <a:pathLst>
                <a:path w="136201" h="694020">
                  <a:moveTo>
                    <a:pt x="0" y="0"/>
                  </a:moveTo>
                  <a:lnTo>
                    <a:pt x="136202" y="0"/>
                  </a:lnTo>
                  <a:lnTo>
                    <a:pt x="136202" y="694021"/>
                  </a:lnTo>
                  <a:lnTo>
                    <a:pt x="0" y="6940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sp>
          <p:nvSpPr>
            <p:cNvPr id="27" name="TextBox 23">
              <a:extLst>
                <a:ext uri="{FF2B5EF4-FFF2-40B4-BE49-F238E27FC236}">
                  <a16:creationId xmlns:a16="http://schemas.microsoft.com/office/drawing/2014/main" id="{208E8B8D-D3EE-9CED-9E63-21406117DB3B}"/>
                </a:ext>
              </a:extLst>
            </p:cNvPr>
            <p:cNvSpPr txBox="1"/>
            <p:nvPr/>
          </p:nvSpPr>
          <p:spPr>
            <a:xfrm>
              <a:off x="7451027" y="3383639"/>
              <a:ext cx="300186" cy="252826"/>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0.5</a:t>
              </a:r>
            </a:p>
          </p:txBody>
        </p:sp>
        <p:sp>
          <p:nvSpPr>
            <p:cNvPr id="28" name="Freeform 24">
              <a:extLst>
                <a:ext uri="{FF2B5EF4-FFF2-40B4-BE49-F238E27FC236}">
                  <a16:creationId xmlns:a16="http://schemas.microsoft.com/office/drawing/2014/main" id="{AD57BD4C-1E79-04E7-E498-8804A8A54B60}"/>
                </a:ext>
              </a:extLst>
            </p:cNvPr>
            <p:cNvSpPr/>
            <p:nvPr/>
          </p:nvSpPr>
          <p:spPr>
            <a:xfrm>
              <a:off x="5572582" y="2603319"/>
              <a:ext cx="136201" cy="694020"/>
            </a:xfrm>
            <a:custGeom>
              <a:avLst/>
              <a:gdLst/>
              <a:ahLst/>
              <a:cxnLst/>
              <a:rect l="l" t="t" r="r" b="b"/>
              <a:pathLst>
                <a:path w="136201" h="694020">
                  <a:moveTo>
                    <a:pt x="0" y="0"/>
                  </a:moveTo>
                  <a:lnTo>
                    <a:pt x="136201" y="0"/>
                  </a:lnTo>
                  <a:lnTo>
                    <a:pt x="136201" y="694021"/>
                  </a:lnTo>
                  <a:lnTo>
                    <a:pt x="0" y="6940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sp>
          <p:nvSpPr>
            <p:cNvPr id="29" name="Freeform 25">
              <a:extLst>
                <a:ext uri="{FF2B5EF4-FFF2-40B4-BE49-F238E27FC236}">
                  <a16:creationId xmlns:a16="http://schemas.microsoft.com/office/drawing/2014/main" id="{D37EFAB5-0045-6704-9F99-14A351A8E59B}"/>
                </a:ext>
              </a:extLst>
            </p:cNvPr>
            <p:cNvSpPr/>
            <p:nvPr/>
          </p:nvSpPr>
          <p:spPr>
            <a:xfrm>
              <a:off x="6355024" y="2514952"/>
              <a:ext cx="136201" cy="694020"/>
            </a:xfrm>
            <a:custGeom>
              <a:avLst/>
              <a:gdLst/>
              <a:ahLst/>
              <a:cxnLst/>
              <a:rect l="l" t="t" r="r" b="b"/>
              <a:pathLst>
                <a:path w="136201" h="694020">
                  <a:moveTo>
                    <a:pt x="0" y="0"/>
                  </a:moveTo>
                  <a:lnTo>
                    <a:pt x="136202" y="0"/>
                  </a:lnTo>
                  <a:lnTo>
                    <a:pt x="136202" y="694020"/>
                  </a:lnTo>
                  <a:lnTo>
                    <a:pt x="0" y="6940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sp>
          <p:nvSpPr>
            <p:cNvPr id="30" name="Freeform 26">
              <a:extLst>
                <a:ext uri="{FF2B5EF4-FFF2-40B4-BE49-F238E27FC236}">
                  <a16:creationId xmlns:a16="http://schemas.microsoft.com/office/drawing/2014/main" id="{0AAFBBDC-1394-9984-EE81-58F8656DC3C1}"/>
                </a:ext>
              </a:extLst>
            </p:cNvPr>
            <p:cNvSpPr/>
            <p:nvPr/>
          </p:nvSpPr>
          <p:spPr>
            <a:xfrm>
              <a:off x="9502771" y="2514952"/>
              <a:ext cx="136201" cy="694020"/>
            </a:xfrm>
            <a:custGeom>
              <a:avLst/>
              <a:gdLst/>
              <a:ahLst/>
              <a:cxnLst/>
              <a:rect l="l" t="t" r="r" b="b"/>
              <a:pathLst>
                <a:path w="136201" h="694020">
                  <a:moveTo>
                    <a:pt x="0" y="0"/>
                  </a:moveTo>
                  <a:lnTo>
                    <a:pt x="136201" y="0"/>
                  </a:lnTo>
                  <a:lnTo>
                    <a:pt x="136201" y="694020"/>
                  </a:lnTo>
                  <a:lnTo>
                    <a:pt x="0" y="6940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grpSp>
          <p:nvGrpSpPr>
            <p:cNvPr id="31" name="Group 27">
              <a:extLst>
                <a:ext uri="{FF2B5EF4-FFF2-40B4-BE49-F238E27FC236}">
                  <a16:creationId xmlns:a16="http://schemas.microsoft.com/office/drawing/2014/main" id="{DE25ECAD-2C5D-7FCA-7906-24B40D08CE3D}"/>
                </a:ext>
              </a:extLst>
            </p:cNvPr>
            <p:cNvGrpSpPr/>
            <p:nvPr/>
          </p:nvGrpSpPr>
          <p:grpSpPr>
            <a:xfrm>
              <a:off x="8237799" y="3174735"/>
              <a:ext cx="644708" cy="646324"/>
              <a:chOff x="0" y="0"/>
              <a:chExt cx="859611" cy="861766"/>
            </a:xfrm>
          </p:grpSpPr>
          <p:sp>
            <p:nvSpPr>
              <p:cNvPr id="33" name="Freeform 28">
                <a:extLst>
                  <a:ext uri="{FF2B5EF4-FFF2-40B4-BE49-F238E27FC236}">
                    <a16:creationId xmlns:a16="http://schemas.microsoft.com/office/drawing/2014/main" id="{382EF8B0-55B3-0776-A131-A9F5C6044354}"/>
                  </a:ext>
                </a:extLst>
              </p:cNvPr>
              <p:cNvSpPr/>
              <p:nvPr/>
            </p:nvSpPr>
            <p:spPr>
              <a:xfrm>
                <a:off x="0" y="0"/>
                <a:ext cx="859611" cy="861766"/>
              </a:xfrm>
              <a:custGeom>
                <a:avLst/>
                <a:gdLst/>
                <a:ahLst/>
                <a:cxnLst/>
                <a:rect l="l" t="t" r="r" b="b"/>
                <a:pathLst>
                  <a:path w="859611" h="861766">
                    <a:moveTo>
                      <a:pt x="0" y="0"/>
                    </a:moveTo>
                    <a:lnTo>
                      <a:pt x="859611" y="0"/>
                    </a:lnTo>
                    <a:lnTo>
                      <a:pt x="859611" y="861766"/>
                    </a:lnTo>
                    <a:lnTo>
                      <a:pt x="0" y="861766"/>
                    </a:lnTo>
                    <a:lnTo>
                      <a:pt x="0" y="0"/>
                    </a:lnTo>
                    <a:close/>
                  </a:path>
                </a:pathLst>
              </a:custGeom>
              <a:blipFill>
                <a:blip r:embed="rId4"/>
                <a:stretch>
                  <a:fillRect/>
                </a:stretch>
              </a:blipFill>
            </p:spPr>
            <p:txBody>
              <a:bodyPr/>
              <a:lstStyle/>
              <a:p>
                <a:endParaRPr lang="en-AU" sz="2000"/>
              </a:p>
            </p:txBody>
          </p:sp>
          <p:sp>
            <p:nvSpPr>
              <p:cNvPr id="34" name="TextBox 29">
                <a:extLst>
                  <a:ext uri="{FF2B5EF4-FFF2-40B4-BE49-F238E27FC236}">
                    <a16:creationId xmlns:a16="http://schemas.microsoft.com/office/drawing/2014/main" id="{029424EB-11D9-C972-C21F-0440ED5198DF}"/>
                  </a:ext>
                </a:extLst>
              </p:cNvPr>
              <p:cNvSpPr txBox="1"/>
              <p:nvPr/>
            </p:nvSpPr>
            <p:spPr>
              <a:xfrm>
                <a:off x="67723" y="235726"/>
                <a:ext cx="724166" cy="337102"/>
              </a:xfrm>
              <a:prstGeom prst="rect">
                <a:avLst/>
              </a:prstGeom>
            </p:spPr>
            <p:txBody>
              <a:bodyPr lIns="0" tIns="0" rIns="0" bIns="0" rtlCol="0" anchor="t">
                <a:spAutoFit/>
              </a:bodyPr>
              <a:lstStyle/>
              <a:p>
                <a:pPr algn="ctr">
                  <a:lnSpc>
                    <a:spcPts val="2239"/>
                  </a:lnSpc>
                </a:pPr>
                <a:r>
                  <a:rPr lang="en-US" sz="1400">
                    <a:solidFill>
                      <a:srgbClr val="000000"/>
                    </a:solidFill>
                    <a:latin typeface="Public Sans"/>
                    <a:ea typeface="Public Sans"/>
                    <a:cs typeface="Public Sans"/>
                    <a:sym typeface="Public Sans"/>
                  </a:rPr>
                  <a:t>0.204</a:t>
                </a:r>
              </a:p>
            </p:txBody>
          </p:sp>
        </p:grpSp>
        <p:sp>
          <p:nvSpPr>
            <p:cNvPr id="32" name="Freeform 30">
              <a:extLst>
                <a:ext uri="{FF2B5EF4-FFF2-40B4-BE49-F238E27FC236}">
                  <a16:creationId xmlns:a16="http://schemas.microsoft.com/office/drawing/2014/main" id="{06CDB680-C236-7992-A845-3EC21FD79CE2}"/>
                </a:ext>
              </a:extLst>
            </p:cNvPr>
            <p:cNvSpPr/>
            <p:nvPr/>
          </p:nvSpPr>
          <p:spPr>
            <a:xfrm>
              <a:off x="8492052" y="2603319"/>
              <a:ext cx="136201" cy="694020"/>
            </a:xfrm>
            <a:custGeom>
              <a:avLst/>
              <a:gdLst/>
              <a:ahLst/>
              <a:cxnLst/>
              <a:rect l="l" t="t" r="r" b="b"/>
              <a:pathLst>
                <a:path w="136201" h="694020">
                  <a:moveTo>
                    <a:pt x="0" y="0"/>
                  </a:moveTo>
                  <a:lnTo>
                    <a:pt x="136202" y="0"/>
                  </a:lnTo>
                  <a:lnTo>
                    <a:pt x="136202" y="694021"/>
                  </a:lnTo>
                  <a:lnTo>
                    <a:pt x="0" y="69402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p>
          </p:txBody>
        </p:sp>
      </p:grpSp>
      <p:grpSp>
        <p:nvGrpSpPr>
          <p:cNvPr id="35" name="Group 34" descr="0-1 Number line">
            <a:extLst>
              <a:ext uri="{FF2B5EF4-FFF2-40B4-BE49-F238E27FC236}">
                <a16:creationId xmlns:a16="http://schemas.microsoft.com/office/drawing/2014/main" id="{45E941DC-4076-9E09-5D71-79E084931DFE}"/>
              </a:ext>
            </a:extLst>
          </p:cNvPr>
          <p:cNvGrpSpPr/>
          <p:nvPr/>
        </p:nvGrpSpPr>
        <p:grpSpPr>
          <a:xfrm>
            <a:off x="838789" y="4720873"/>
            <a:ext cx="10116143" cy="964408"/>
            <a:chOff x="879065" y="4421506"/>
            <a:chExt cx="10116143" cy="964408"/>
          </a:xfrm>
        </p:grpSpPr>
        <p:sp>
          <p:nvSpPr>
            <p:cNvPr id="36" name="AutoShape 2">
              <a:extLst>
                <a:ext uri="{FF2B5EF4-FFF2-40B4-BE49-F238E27FC236}">
                  <a16:creationId xmlns:a16="http://schemas.microsoft.com/office/drawing/2014/main" id="{80E48B6A-ACE7-B7E4-8ADB-8D3A7D8CCEA4}"/>
                </a:ext>
              </a:extLst>
            </p:cNvPr>
            <p:cNvSpPr/>
            <p:nvPr/>
          </p:nvSpPr>
          <p:spPr>
            <a:xfrm flipV="1">
              <a:off x="1231011" y="4611674"/>
              <a:ext cx="9651410" cy="0"/>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37" name="TextBox 3">
              <a:extLst>
                <a:ext uri="{FF2B5EF4-FFF2-40B4-BE49-F238E27FC236}">
                  <a16:creationId xmlns:a16="http://schemas.microsoft.com/office/drawing/2014/main" id="{FE199A6C-BD8A-3887-B351-F9FF6D76B018}"/>
                </a:ext>
              </a:extLst>
            </p:cNvPr>
            <p:cNvSpPr txBox="1"/>
            <p:nvPr/>
          </p:nvSpPr>
          <p:spPr>
            <a:xfrm>
              <a:off x="1231011" y="4699714"/>
              <a:ext cx="218480" cy="605230"/>
            </a:xfrm>
            <a:prstGeom prst="rect">
              <a:avLst/>
            </a:prstGeom>
          </p:spPr>
          <p:txBody>
            <a:bodyPr lIns="0" tIns="0" rIns="0" bIns="0" rtlCol="0" anchor="t">
              <a:spAutoFit/>
            </a:bodyPr>
            <a:lstStyle/>
            <a:p>
              <a:pPr algn="ctr">
                <a:lnSpc>
                  <a:spcPts val="5190"/>
                </a:lnSpc>
                <a:spcBef>
                  <a:spcPct val="0"/>
                </a:spcBef>
              </a:pPr>
              <a:r>
                <a:rPr lang="en-US" sz="3600">
                  <a:solidFill>
                    <a:srgbClr val="000000"/>
                  </a:solidFill>
                  <a:latin typeface="Canva Student Font"/>
                  <a:ea typeface="Canva Student Font"/>
                  <a:cs typeface="Canva Student Font"/>
                  <a:sym typeface="Canva Student Font"/>
                </a:rPr>
                <a:t>0</a:t>
              </a:r>
            </a:p>
          </p:txBody>
        </p:sp>
        <p:sp>
          <p:nvSpPr>
            <p:cNvPr id="38" name="AutoShape 5">
              <a:extLst>
                <a:ext uri="{FF2B5EF4-FFF2-40B4-BE49-F238E27FC236}">
                  <a16:creationId xmlns:a16="http://schemas.microsoft.com/office/drawing/2014/main" id="{2B219F67-3EC9-38D6-D578-9C1CB26C98BA}"/>
                </a:ext>
              </a:extLst>
            </p:cNvPr>
            <p:cNvSpPr/>
            <p:nvPr/>
          </p:nvSpPr>
          <p:spPr>
            <a:xfrm>
              <a:off x="1340251" y="4421506"/>
              <a:ext cx="0" cy="354408"/>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39" name="AutoShape 6">
              <a:extLst>
                <a:ext uri="{FF2B5EF4-FFF2-40B4-BE49-F238E27FC236}">
                  <a16:creationId xmlns:a16="http://schemas.microsoft.com/office/drawing/2014/main" id="{279918A9-5FC3-35C8-2CE0-938C0F8EAFE8}"/>
                </a:ext>
              </a:extLst>
            </p:cNvPr>
            <p:cNvSpPr/>
            <p:nvPr/>
          </p:nvSpPr>
          <p:spPr>
            <a:xfrm>
              <a:off x="10542911" y="4421506"/>
              <a:ext cx="0" cy="354408"/>
            </a:xfrm>
            <a:prstGeom prst="line">
              <a:avLst/>
            </a:prstGeom>
            <a:ln w="38100" cap="flat">
              <a:solidFill>
                <a:srgbClr val="000000"/>
              </a:solidFill>
              <a:prstDash val="solid"/>
              <a:headEnd type="none" w="sm" len="sm"/>
              <a:tailEnd type="none" w="sm" len="sm"/>
            </a:ln>
          </p:spPr>
          <p:txBody>
            <a:bodyPr/>
            <a:lstStyle/>
            <a:p>
              <a:endParaRPr lang="en-AU" sz="2000"/>
            </a:p>
          </p:txBody>
        </p:sp>
        <p:sp>
          <p:nvSpPr>
            <p:cNvPr id="40" name="TextBox 9">
              <a:extLst>
                <a:ext uri="{FF2B5EF4-FFF2-40B4-BE49-F238E27FC236}">
                  <a16:creationId xmlns:a16="http://schemas.microsoft.com/office/drawing/2014/main" id="{30A1498E-32A5-F735-31D7-2CBDDC1A986E}"/>
                </a:ext>
              </a:extLst>
            </p:cNvPr>
            <p:cNvSpPr txBox="1"/>
            <p:nvPr/>
          </p:nvSpPr>
          <p:spPr>
            <a:xfrm>
              <a:off x="10502355" y="4780684"/>
              <a:ext cx="81111" cy="605230"/>
            </a:xfrm>
            <a:prstGeom prst="rect">
              <a:avLst/>
            </a:prstGeom>
          </p:spPr>
          <p:txBody>
            <a:bodyPr lIns="0" tIns="0" rIns="0" bIns="0" rtlCol="0" anchor="t">
              <a:spAutoFit/>
            </a:bodyPr>
            <a:lstStyle/>
            <a:p>
              <a:pPr algn="ctr">
                <a:lnSpc>
                  <a:spcPts val="5190"/>
                </a:lnSpc>
                <a:spcBef>
                  <a:spcPct val="0"/>
                </a:spcBef>
              </a:pPr>
              <a:r>
                <a:rPr lang="en-US" sz="3600">
                  <a:solidFill>
                    <a:srgbClr val="000000"/>
                  </a:solidFill>
                  <a:latin typeface="Canva Student Font"/>
                  <a:ea typeface="Canva Student Font"/>
                  <a:cs typeface="Canva Student Font"/>
                  <a:sym typeface="Canva Student Font"/>
                </a:rPr>
                <a:t>1</a:t>
              </a:r>
            </a:p>
          </p:txBody>
        </p:sp>
        <p:sp>
          <p:nvSpPr>
            <p:cNvPr id="41" name="AutoShape 4">
              <a:extLst>
                <a:ext uri="{FF2B5EF4-FFF2-40B4-BE49-F238E27FC236}">
                  <a16:creationId xmlns:a16="http://schemas.microsoft.com/office/drawing/2014/main" id="{A9C979BF-53FC-FAC4-5060-8ED7CA615C4E}"/>
                </a:ext>
              </a:extLst>
            </p:cNvPr>
            <p:cNvSpPr/>
            <p:nvPr/>
          </p:nvSpPr>
          <p:spPr>
            <a:xfrm flipH="1">
              <a:off x="879065" y="4611674"/>
              <a:ext cx="432777" cy="0"/>
            </a:xfrm>
            <a:prstGeom prst="line">
              <a:avLst/>
            </a:prstGeom>
            <a:ln w="38100" cap="flat">
              <a:solidFill>
                <a:srgbClr val="000000"/>
              </a:solidFill>
              <a:prstDash val="solid"/>
              <a:headEnd type="none" w="sm" len="sm"/>
              <a:tailEnd type="arrow" w="med" len="sm"/>
            </a:ln>
          </p:spPr>
          <p:txBody>
            <a:bodyPr/>
            <a:lstStyle/>
            <a:p>
              <a:endParaRPr lang="en-AU" sz="2000"/>
            </a:p>
          </p:txBody>
        </p:sp>
        <p:sp>
          <p:nvSpPr>
            <p:cNvPr id="42" name="AutoShape 7">
              <a:extLst>
                <a:ext uri="{FF2B5EF4-FFF2-40B4-BE49-F238E27FC236}">
                  <a16:creationId xmlns:a16="http://schemas.microsoft.com/office/drawing/2014/main" id="{7BFCD0B5-D95B-F31C-E58A-E4D622CE7ACF}"/>
                </a:ext>
              </a:extLst>
            </p:cNvPr>
            <p:cNvSpPr/>
            <p:nvPr/>
          </p:nvSpPr>
          <p:spPr>
            <a:xfrm>
              <a:off x="10685803" y="4611674"/>
              <a:ext cx="309405" cy="0"/>
            </a:xfrm>
            <a:prstGeom prst="line">
              <a:avLst/>
            </a:prstGeom>
            <a:ln w="38100" cap="flat">
              <a:solidFill>
                <a:srgbClr val="000000"/>
              </a:solidFill>
              <a:prstDash val="solid"/>
              <a:headEnd type="none" w="sm" len="sm"/>
              <a:tailEnd type="arrow" w="med" len="sm"/>
            </a:ln>
          </p:spPr>
          <p:txBody>
            <a:bodyPr/>
            <a:lstStyle/>
            <a:p>
              <a:endParaRPr lang="en-AU" sz="2000"/>
            </a:p>
          </p:txBody>
        </p:sp>
      </p:gr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184019"/>
            <a:ext cx="11243037" cy="3232706"/>
          </a:xfrm>
        </p:spPr>
        <p:txBody>
          <a:bodyPr/>
          <a:lstStyle/>
          <a:p>
            <a:pPr algn="ctr"/>
            <a:r>
              <a:rPr lang="en-AU" sz="4400"/>
              <a:t>The following </a:t>
            </a:r>
            <a:r>
              <a:rPr lang="en-AU" sz="4400" b="1"/>
              <a:t>decimals</a:t>
            </a:r>
            <a:r>
              <a:rPr lang="en-AU" sz="4400"/>
              <a:t> are in </a:t>
            </a:r>
            <a:r>
              <a:rPr lang="en-AU" sz="4400" b="1"/>
              <a:t>descending order</a:t>
            </a:r>
            <a:r>
              <a:rPr lang="en-AU" sz="4400"/>
              <a:t>:</a:t>
            </a:r>
          </a:p>
          <a:p>
            <a:pPr algn="ctr"/>
            <a:r>
              <a:rPr lang="en-AU" sz="4400"/>
              <a:t>0.12, 0.03, 0.126, 0.036</a:t>
            </a:r>
          </a:p>
          <a:p>
            <a:pPr algn="ctr"/>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AA414CC-920E-A7A7-8383-46740A429445}"/>
              </a:ext>
            </a:extLst>
          </p:cNvPr>
          <p:cNvSpPr txBox="1"/>
          <p:nvPr/>
        </p:nvSpPr>
        <p:spPr>
          <a:xfrm>
            <a:off x="790353" y="1313121"/>
            <a:ext cx="10611293" cy="4832498"/>
          </a:xfrm>
          <a:prstGeom prst="rect">
            <a:avLst/>
          </a:prstGeom>
          <a:noFill/>
        </p:spPr>
        <p:txBody>
          <a:bodyPr wrap="none" lIns="0" tIns="0" rIns="0" bIns="0" rtlCol="0">
            <a:noAutofit/>
          </a:bodyPr>
          <a:lstStyle/>
          <a:p>
            <a:pPr algn="ctr">
              <a:lnSpc>
                <a:spcPct val="150000"/>
              </a:lnSpc>
            </a:pPr>
            <a:r>
              <a:rPr lang="en-AU" sz="4400" dirty="0"/>
              <a:t>Record the following </a:t>
            </a:r>
            <a:r>
              <a:rPr lang="en-AU" sz="4400" b="1" dirty="0"/>
              <a:t>integers</a:t>
            </a:r>
            <a:r>
              <a:rPr lang="en-AU" sz="4400" dirty="0"/>
              <a:t> on </a:t>
            </a:r>
          </a:p>
          <a:p>
            <a:pPr algn="ctr">
              <a:lnSpc>
                <a:spcPct val="150000"/>
              </a:lnSpc>
            </a:pPr>
            <a:r>
              <a:rPr lang="en-AU" sz="4400" dirty="0"/>
              <a:t>a </a:t>
            </a:r>
            <a:r>
              <a:rPr lang="en-AU" sz="4400" b="1" dirty="0"/>
              <a:t>number line</a:t>
            </a:r>
            <a:r>
              <a:rPr lang="en-AU" sz="4400" dirty="0"/>
              <a:t>:</a:t>
            </a:r>
          </a:p>
          <a:p>
            <a:pPr algn="ctr"/>
            <a:endParaRPr lang="en-AU" sz="4400" dirty="0"/>
          </a:p>
          <a:p>
            <a:pPr algn="ctr"/>
            <a:r>
              <a:rPr lang="en-AU" sz="4400" b="1" dirty="0"/>
              <a:t>1.5    -5      0     5.5     12      4     -2</a:t>
            </a:r>
          </a:p>
          <a:p>
            <a:pPr algn="ctr"/>
            <a:endParaRPr lang="en-AU" sz="4400" dirty="0"/>
          </a:p>
          <a:p>
            <a:pPr algn="ctr"/>
            <a:r>
              <a:rPr lang="en-AU" sz="4400" b="1" dirty="0"/>
              <a:t>Explain </a:t>
            </a:r>
            <a:r>
              <a:rPr lang="en-AU" sz="4400" dirty="0"/>
              <a:t>your</a:t>
            </a:r>
            <a:r>
              <a:rPr lang="en-AU" sz="4400" b="1" dirty="0"/>
              <a:t> reasoning. </a:t>
            </a:r>
            <a:endParaRPr lang="en-AU" sz="4400" dirty="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7895B8FF-8725-0178-0963-56CDB5B70F11}"/>
              </a:ext>
            </a:extLst>
          </p:cNvPr>
          <p:cNvSpPr txBox="1">
            <a:spLocks/>
          </p:cNvSpPr>
          <p:nvPr/>
        </p:nvSpPr>
        <p:spPr>
          <a:xfrm>
            <a:off x="360000" y="911655"/>
            <a:ext cx="11243037" cy="32327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Draw the lines of symmetry for the </a:t>
            </a:r>
            <a:r>
              <a:rPr lang="en-AU" sz="4400" b="1" dirty="0"/>
              <a:t>rhombus, equilateral triangle, trapezium and square</a:t>
            </a:r>
            <a:r>
              <a:rPr lang="en-AU" sz="4400" dirty="0"/>
              <a:t>.</a:t>
            </a:r>
          </a:p>
          <a:p>
            <a:pPr algn="ctr"/>
            <a:endParaRPr lang="en-AU" sz="4400" dirty="0"/>
          </a:p>
        </p:txBody>
      </p:sp>
      <p:pic>
        <p:nvPicPr>
          <p:cNvPr id="5" name="Picture 4" descr="Four 2D shapes in different colours arranged in a row from left to right:&#10;&#10;A green diamond (rhombus)&#10;&#10;A purple triangle&#10;&#10;A yellow trapezium&#10;&#10;A blue square">
            <a:extLst>
              <a:ext uri="{FF2B5EF4-FFF2-40B4-BE49-F238E27FC236}">
                <a16:creationId xmlns:a16="http://schemas.microsoft.com/office/drawing/2014/main" id="{5296CEAF-3D93-B42F-A66D-1C85D9C7DCCB}"/>
              </a:ext>
            </a:extLst>
          </p:cNvPr>
          <p:cNvPicPr>
            <a:picLocks noChangeAspect="1"/>
          </p:cNvPicPr>
          <p:nvPr/>
        </p:nvPicPr>
        <p:blipFill>
          <a:blip r:embed="rId4"/>
          <a:stretch>
            <a:fillRect/>
          </a:stretch>
        </p:blipFill>
        <p:spPr>
          <a:xfrm>
            <a:off x="589619" y="2995438"/>
            <a:ext cx="10440857" cy="3124636"/>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4DD371F9-EEC6-2380-03A6-856840CC495E}"/>
              </a:ext>
            </a:extLst>
          </p:cNvPr>
          <p:cNvSpPr txBox="1"/>
          <p:nvPr/>
        </p:nvSpPr>
        <p:spPr>
          <a:xfrm>
            <a:off x="1124882" y="906418"/>
            <a:ext cx="10116076" cy="5045164"/>
          </a:xfrm>
          <a:prstGeom prst="rect">
            <a:avLst/>
          </a:prstGeom>
          <a:noFill/>
        </p:spPr>
        <p:txBody>
          <a:bodyPr wrap="square">
            <a:spAutoFit/>
          </a:bodyPr>
          <a:lstStyle/>
          <a:p>
            <a:pPr algn="ctr">
              <a:lnSpc>
                <a:spcPct val="150000"/>
              </a:lnSpc>
            </a:pPr>
            <a:r>
              <a:rPr lang="en-AU" sz="4400"/>
              <a:t>A bag contains </a:t>
            </a:r>
            <a:r>
              <a:rPr lang="en-AU" sz="4400" b="1"/>
              <a:t>5 red </a:t>
            </a:r>
            <a:r>
              <a:rPr lang="en-AU" sz="4400"/>
              <a:t>counters, </a:t>
            </a:r>
            <a:r>
              <a:rPr lang="en-AU" sz="4400" b="1"/>
              <a:t>3 blue </a:t>
            </a:r>
            <a:r>
              <a:rPr lang="en-AU" sz="4400"/>
              <a:t>counters, </a:t>
            </a:r>
            <a:r>
              <a:rPr lang="en-AU" sz="4400" b="1"/>
              <a:t>and 2 green </a:t>
            </a:r>
            <a:r>
              <a:rPr lang="en-AU" sz="4400"/>
              <a:t>counters. One counter is picked at random. What is the </a:t>
            </a:r>
            <a:r>
              <a:rPr lang="en-AU" sz="4400" b="1"/>
              <a:t>probability</a:t>
            </a:r>
            <a:r>
              <a:rPr lang="en-AU" sz="4400"/>
              <a:t> of selecting a </a:t>
            </a:r>
            <a:r>
              <a:rPr lang="en-AU" sz="4400" b="1"/>
              <a:t>blue</a:t>
            </a:r>
            <a:r>
              <a:rPr lang="en-AU" sz="4400"/>
              <a:t> counter?</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6EC3C396-F2C5-0210-2A57-C5D8ACBC6496}"/>
              </a:ext>
            </a:extLst>
          </p:cNvPr>
          <p:cNvSpPr txBox="1">
            <a:spLocks/>
          </p:cNvSpPr>
          <p:nvPr/>
        </p:nvSpPr>
        <p:spPr>
          <a:xfrm>
            <a:off x="600963" y="1551160"/>
            <a:ext cx="11243037" cy="237344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Draw an </a:t>
            </a:r>
            <a:r>
              <a:rPr lang="en-US" sz="4400" b="1" dirty="0"/>
              <a:t>irregular octagon</a:t>
            </a:r>
            <a:r>
              <a:rPr lang="en-US" sz="4400" dirty="0"/>
              <a:t>.</a:t>
            </a:r>
          </a:p>
          <a:p>
            <a:pPr algn="ctr"/>
            <a:r>
              <a:rPr lang="en-US" sz="4400" b="1" dirty="0"/>
              <a:t>Explain</a:t>
            </a:r>
            <a:r>
              <a:rPr lang="en-US" sz="4400" dirty="0"/>
              <a:t> why it is an octagon.</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t>
            </a:r>
            <a:r>
              <a:rPr lang="en-AU">
                <a:latin typeface="Arial"/>
                <a:cs typeface="Arial"/>
              </a:rPr>
              <a:t>decimals in descending order</a:t>
            </a: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n example of the game board. A place value chart with numbers entered in order of size with two colours.">
            <a:extLst>
              <a:ext uri="{FF2B5EF4-FFF2-40B4-BE49-F238E27FC236}">
                <a16:creationId xmlns:a16="http://schemas.microsoft.com/office/drawing/2014/main" id="{9D21857E-E659-99B6-36B0-1A204843EEBA}"/>
              </a:ext>
            </a:extLst>
          </p:cNvPr>
          <p:cNvPicPr>
            <a:picLocks noChangeAspect="1"/>
          </p:cNvPicPr>
          <p:nvPr/>
        </p:nvPicPr>
        <p:blipFill>
          <a:blip r:embed="rId4"/>
          <a:stretch>
            <a:fillRect/>
          </a:stretch>
        </p:blipFill>
        <p:spPr>
          <a:xfrm>
            <a:off x="1003020" y="889560"/>
            <a:ext cx="9914116" cy="5608440"/>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895992"/>
            <a:ext cx="11243037" cy="1717169"/>
          </a:xfrm>
        </p:spPr>
        <p:txBody>
          <a:bodyPr/>
          <a:lstStyle/>
          <a:p>
            <a:pPr algn="ctr"/>
            <a:r>
              <a:rPr lang="en-US" sz="4000"/>
              <a:t>Which sequence shows </a:t>
            </a:r>
            <a:r>
              <a:rPr lang="en-US" sz="4000" b="1"/>
              <a:t>decimals</a:t>
            </a:r>
            <a:r>
              <a:rPr lang="en-US" sz="4000"/>
              <a:t> in </a:t>
            </a:r>
            <a:r>
              <a:rPr lang="en-US" sz="4000" b="1"/>
              <a:t>ascending order</a:t>
            </a:r>
            <a:r>
              <a:rPr lang="en-US" sz="4000"/>
              <a:t>?</a:t>
            </a:r>
          </a:p>
        </p:txBody>
      </p:sp>
      <p:sp>
        <p:nvSpPr>
          <p:cNvPr id="9" name="TextBox 8">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77704"/>
            <a:ext cx="10175920" cy="641396"/>
          </a:xfrm>
        </p:spPr>
        <p:txBody>
          <a:bodyPr anchor="ctr"/>
          <a:lstStyle/>
          <a:p>
            <a:r>
              <a:rPr lang="en-US" sz="3600" dirty="0"/>
              <a:t>0.12,   0.03,   0.126,   0.036  </a:t>
            </a:r>
          </a:p>
        </p:txBody>
      </p:sp>
      <p:sp>
        <p:nvSpPr>
          <p:cNvPr id="10" name="TextBox 9">
            <a:extLst>
              <a:ext uri="{FF2B5EF4-FFF2-40B4-BE49-F238E27FC236}">
                <a16:creationId xmlns:a16="http://schemas.microsoft.com/office/drawing/2014/main" id="{CA9D5B15-A13C-EE8B-176F-3B4E3454A1A2}"/>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725617"/>
            <a:ext cx="10175920" cy="641396"/>
          </a:xfrm>
        </p:spPr>
        <p:txBody>
          <a:bodyPr anchor="ctr"/>
          <a:lstStyle/>
          <a:p>
            <a:r>
              <a:rPr lang="en-US" sz="3600" dirty="0"/>
              <a:t>0.03,   0.126,   0.12,   0.36</a:t>
            </a:r>
          </a:p>
        </p:txBody>
      </p:sp>
      <p:sp>
        <p:nvSpPr>
          <p:cNvPr id="12" name="TextBox 11">
            <a:extLst>
              <a:ext uri="{FF2B5EF4-FFF2-40B4-BE49-F238E27FC236}">
                <a16:creationId xmlns:a16="http://schemas.microsoft.com/office/drawing/2014/main" id="{B4746450-E4E2-359C-DFCA-0532E811BD1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575670"/>
            <a:ext cx="10175920" cy="641396"/>
          </a:xfrm>
        </p:spPr>
        <p:txBody>
          <a:bodyPr anchor="ctr"/>
          <a:lstStyle/>
          <a:p>
            <a:r>
              <a:rPr lang="en-US" sz="3600"/>
              <a:t>0.03,   0.036,   0.12,   0.126</a:t>
            </a:r>
          </a:p>
        </p:txBody>
      </p:sp>
      <p:sp>
        <p:nvSpPr>
          <p:cNvPr id="11" name="TextBox 10">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425723"/>
            <a:ext cx="10175920" cy="641396"/>
          </a:xfrm>
        </p:spPr>
        <p:txBody>
          <a:bodyPr anchor="ctr"/>
          <a:lstStyle/>
          <a:p>
            <a:r>
              <a:rPr lang="en-US" sz="3600" dirty="0"/>
              <a:t>0.036,   0.03,   0.12,   0.126</a:t>
            </a:r>
          </a:p>
        </p:txBody>
      </p:sp>
      <p:sp>
        <p:nvSpPr>
          <p:cNvPr id="2" name="Slide Number Placeholder 1">
            <a:extLst>
              <a:ext uri="{FF2B5EF4-FFF2-40B4-BE49-F238E27FC236}">
                <a16:creationId xmlns:a16="http://schemas.microsoft.com/office/drawing/2014/main" id="{9A31263B-00F9-3026-CDD4-F14B3320EE4E}"/>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65E7393-6CCB-221E-EE24-F1FFD29C5F91}"/>
              </a:ext>
            </a:extLst>
          </p:cNvPr>
          <p:cNvSpPr txBox="1"/>
          <p:nvPr/>
        </p:nvSpPr>
        <p:spPr>
          <a:xfrm>
            <a:off x="360000" y="1026241"/>
            <a:ext cx="11692757" cy="5563035"/>
          </a:xfrm>
          <a:prstGeom prst="rect">
            <a:avLst/>
          </a:prstGeom>
          <a:noFill/>
        </p:spPr>
        <p:txBody>
          <a:bodyPr wrap="none" lIns="0" tIns="0" rIns="0" bIns="0" rtlCol="0">
            <a:noAutofit/>
          </a:bodyPr>
          <a:lstStyle/>
          <a:p>
            <a:pPr algn="ctr">
              <a:lnSpc>
                <a:spcPct val="150000"/>
              </a:lnSpc>
            </a:pPr>
            <a:r>
              <a:rPr lang="en-AU" sz="4400" dirty="0"/>
              <a:t>Use </a:t>
            </a:r>
            <a:r>
              <a:rPr lang="en-AU" sz="4400" b="1" dirty="0"/>
              <a:t>rounding</a:t>
            </a:r>
            <a:r>
              <a:rPr lang="en-AU" sz="4400" dirty="0"/>
              <a:t> and </a:t>
            </a:r>
            <a:r>
              <a:rPr lang="en-AU" sz="4400" b="1" dirty="0"/>
              <a:t>estimation</a:t>
            </a:r>
            <a:r>
              <a:rPr lang="en-AU" sz="4400" dirty="0"/>
              <a:t> to solve</a:t>
            </a:r>
          </a:p>
          <a:p>
            <a:pPr algn="ctr">
              <a:lnSpc>
                <a:spcPct val="150000"/>
              </a:lnSpc>
            </a:pPr>
            <a:endParaRPr lang="en-AU" sz="4400" dirty="0"/>
          </a:p>
          <a:p>
            <a:pPr algn="ctr">
              <a:lnSpc>
                <a:spcPct val="150000"/>
              </a:lnSpc>
            </a:pPr>
            <a:r>
              <a:rPr lang="en-AU" sz="4400" dirty="0"/>
              <a:t>4437 + 2988 =</a:t>
            </a:r>
          </a:p>
          <a:p>
            <a:pPr algn="ctr">
              <a:lnSpc>
                <a:spcPct val="150000"/>
              </a:lnSpc>
            </a:pPr>
            <a:r>
              <a:rPr lang="en-AU" sz="4400" dirty="0"/>
              <a:t>272 + 149 =</a:t>
            </a:r>
          </a:p>
          <a:p>
            <a:pPr algn="ctr">
              <a:lnSpc>
                <a:spcPct val="150000"/>
              </a:lnSpc>
            </a:pPr>
            <a:r>
              <a:rPr lang="en-AU" sz="4400" dirty="0"/>
              <a:t>39 + 43 = </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26250" y="162000"/>
            <a:ext cx="915500" cy="915500"/>
          </a:xfrm>
          <a:prstGeom prst="rect">
            <a:avLst/>
          </a:prstGeom>
        </p:spPr>
      </p:pic>
      <p:sp>
        <p:nvSpPr>
          <p:cNvPr id="7" name="Text Placeholder 14">
            <a:extLst>
              <a:ext uri="{FF2B5EF4-FFF2-40B4-BE49-F238E27FC236}">
                <a16:creationId xmlns:a16="http://schemas.microsoft.com/office/drawing/2014/main" id="{02CCB75D-1C56-8AAC-CDDB-B4D33DDA1554}"/>
              </a:ext>
            </a:extLst>
          </p:cNvPr>
          <p:cNvSpPr txBox="1">
            <a:spLocks/>
          </p:cNvSpPr>
          <p:nvPr/>
        </p:nvSpPr>
        <p:spPr>
          <a:xfrm>
            <a:off x="360000" y="1182570"/>
            <a:ext cx="11243037" cy="208651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4400" dirty="0"/>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4DCDAB3E-9F10-B5D6-526D-F28EE88A39C3}"/>
              </a:ext>
            </a:extLst>
          </p:cNvPr>
          <p:cNvSpPr txBox="1"/>
          <p:nvPr/>
        </p:nvSpPr>
        <p:spPr>
          <a:xfrm>
            <a:off x="252277" y="1686869"/>
            <a:ext cx="11146200" cy="4657232"/>
          </a:xfrm>
          <a:prstGeom prst="rect">
            <a:avLst/>
          </a:prstGeom>
          <a:noFill/>
        </p:spPr>
        <p:txBody>
          <a:bodyPr wrap="square" lIns="0" tIns="0" rIns="0" bIns="0" rtlCol="0">
            <a:noAutofit/>
          </a:bodyPr>
          <a:lstStyle/>
          <a:p>
            <a:pPr algn="l"/>
            <a:r>
              <a:rPr lang="en-AU" sz="4400" b="1" dirty="0"/>
              <a:t>Complete</a:t>
            </a:r>
            <a:r>
              <a:rPr lang="en-AU" sz="4400" dirty="0"/>
              <a:t> the following missing words. </a:t>
            </a:r>
          </a:p>
          <a:p>
            <a:pPr algn="l"/>
            <a:endParaRPr lang="en-AU" sz="4400" dirty="0"/>
          </a:p>
          <a:p>
            <a:pPr algn="l"/>
            <a:r>
              <a:rPr lang="en-AU" sz="4400" b="1" dirty="0"/>
              <a:t>Angles </a:t>
            </a:r>
            <a:r>
              <a:rPr lang="en-AU" sz="4400" dirty="0"/>
              <a:t>are measured in _______.</a:t>
            </a:r>
          </a:p>
          <a:p>
            <a:pPr algn="l"/>
            <a:endParaRPr lang="en-AU" sz="4400" dirty="0"/>
          </a:p>
          <a:p>
            <a:pPr algn="l"/>
            <a:r>
              <a:rPr lang="en-AU" sz="4400" dirty="0"/>
              <a:t>There are ____ degrees in a revolution.</a:t>
            </a:r>
          </a:p>
          <a:p>
            <a:pPr algn="l"/>
            <a:endParaRPr lang="en-AU" sz="4400" dirty="0"/>
          </a:p>
          <a:p>
            <a:pPr algn="l"/>
            <a:r>
              <a:rPr lang="en-AU" sz="4400" dirty="0"/>
              <a:t>There are ____ degrees in a straight line.</a:t>
            </a:r>
          </a:p>
          <a:p>
            <a:pPr algn="l"/>
            <a:endParaRPr lang="en-AU" sz="4400" dirty="0"/>
          </a:p>
          <a:p>
            <a:pPr algn="l"/>
            <a:r>
              <a:rPr lang="en-AU" sz="4400" dirty="0"/>
              <a:t> </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n illustration of a drawstring bag containing 5 balls. Four of the balls are red, and one ball is yellow.">
            <a:extLst>
              <a:ext uri="{FF2B5EF4-FFF2-40B4-BE49-F238E27FC236}">
                <a16:creationId xmlns:a16="http://schemas.microsoft.com/office/drawing/2014/main" id="{677C8D84-4F3F-765A-4865-3A28D4BE395F}"/>
              </a:ext>
            </a:extLst>
          </p:cNvPr>
          <p:cNvPicPr>
            <a:picLocks noChangeAspect="1"/>
          </p:cNvPicPr>
          <p:nvPr/>
        </p:nvPicPr>
        <p:blipFill>
          <a:blip r:embed="rId4"/>
          <a:stretch>
            <a:fillRect/>
          </a:stretch>
        </p:blipFill>
        <p:spPr>
          <a:xfrm>
            <a:off x="484147" y="1814287"/>
            <a:ext cx="2676899" cy="3229426"/>
          </a:xfrm>
          <a:prstGeom prst="rect">
            <a:avLst/>
          </a:prstGeom>
        </p:spPr>
      </p:pic>
      <p:sp>
        <p:nvSpPr>
          <p:cNvPr id="5" name="TextBox 4">
            <a:extLst>
              <a:ext uri="{FF2B5EF4-FFF2-40B4-BE49-F238E27FC236}">
                <a16:creationId xmlns:a16="http://schemas.microsoft.com/office/drawing/2014/main" id="{BEEA4BD8-C1F8-D678-FD64-8BA14526D4D5}"/>
              </a:ext>
            </a:extLst>
          </p:cNvPr>
          <p:cNvSpPr txBox="1"/>
          <p:nvPr/>
        </p:nvSpPr>
        <p:spPr>
          <a:xfrm>
            <a:off x="4033508" y="1414249"/>
            <a:ext cx="7674345" cy="4029501"/>
          </a:xfrm>
          <a:prstGeom prst="rect">
            <a:avLst/>
          </a:prstGeom>
          <a:noFill/>
        </p:spPr>
        <p:txBody>
          <a:bodyPr wrap="square">
            <a:spAutoFit/>
          </a:bodyPr>
          <a:lstStyle/>
          <a:p>
            <a:pPr algn="ctr">
              <a:lnSpc>
                <a:spcPct val="150000"/>
              </a:lnSpc>
            </a:pPr>
            <a:r>
              <a:rPr lang="en-AU" sz="4400" dirty="0"/>
              <a:t>Ali has a three out of four chance of picking a red counter from the bag. </a:t>
            </a:r>
            <a:r>
              <a:rPr lang="en-AU" sz="4400" b="1" dirty="0"/>
              <a:t>Record</a:t>
            </a:r>
            <a:r>
              <a:rPr lang="en-AU" sz="4400" dirty="0"/>
              <a:t> this </a:t>
            </a:r>
            <a:r>
              <a:rPr lang="en-AU" sz="4400" b="1" dirty="0"/>
              <a:t>probability</a:t>
            </a:r>
            <a:r>
              <a:rPr lang="en-AU" sz="4400" dirty="0"/>
              <a:t> as a </a:t>
            </a:r>
            <a:r>
              <a:rPr lang="en-AU" sz="4400" b="1" dirty="0"/>
              <a:t>fraction</a:t>
            </a:r>
            <a:r>
              <a:rPr lang="en-AU" sz="4400" dirty="0"/>
              <a:t>.</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B543CB9B-DD60-264B-3F0B-B97AB950DC8E}"/>
              </a:ext>
            </a:extLst>
          </p:cNvPr>
          <p:cNvSpPr txBox="1">
            <a:spLocks/>
          </p:cNvSpPr>
          <p:nvPr/>
        </p:nvSpPr>
        <p:spPr>
          <a:xfrm>
            <a:off x="360000" y="1184223"/>
            <a:ext cx="11243037" cy="489606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Christian </a:t>
            </a:r>
            <a:r>
              <a:rPr lang="en-US" sz="4400" dirty="0" err="1"/>
              <a:t>visualises</a:t>
            </a:r>
            <a:r>
              <a:rPr lang="en-US" sz="4400" dirty="0"/>
              <a:t> and sketches the net for a 3-dimensional object. It has </a:t>
            </a:r>
            <a:r>
              <a:rPr lang="en-US" sz="4400" b="1" dirty="0"/>
              <a:t>4 triangles</a:t>
            </a:r>
            <a:r>
              <a:rPr lang="en-US" sz="4400" dirty="0"/>
              <a:t>. Draw the </a:t>
            </a:r>
            <a:r>
              <a:rPr lang="en-US" sz="4400" b="1" dirty="0"/>
              <a:t>3D object </a:t>
            </a:r>
            <a:r>
              <a:rPr lang="en-US" sz="4400" dirty="0"/>
              <a:t>Christian was </a:t>
            </a:r>
            <a:r>
              <a:rPr lang="en-US" sz="4400" dirty="0" err="1"/>
              <a:t>visualising</a:t>
            </a:r>
            <a:r>
              <a:rPr lang="en-US" sz="4400" dirty="0"/>
              <a: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a:t>
            </a:r>
            <a:r>
              <a:rPr lang="en-AU">
                <a:latin typeface="Arial"/>
                <a:cs typeface="Arial"/>
              </a:rPr>
              <a:t>decimals in ascending order</a:t>
            </a:r>
            <a:endParaRPr lang="en-AU"/>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Three ladders with 10 evenly spaced rungs, containing decimals on each rung. Each ladder represents a different students’ game. ">
            <a:extLst>
              <a:ext uri="{FF2B5EF4-FFF2-40B4-BE49-F238E27FC236}">
                <a16:creationId xmlns:a16="http://schemas.microsoft.com/office/drawing/2014/main" id="{B3096BBE-C719-C68D-D416-3ECB9BB97CB5}"/>
              </a:ext>
            </a:extLst>
          </p:cNvPr>
          <p:cNvPicPr>
            <a:picLocks noChangeAspect="1"/>
          </p:cNvPicPr>
          <p:nvPr/>
        </p:nvPicPr>
        <p:blipFill>
          <a:blip r:embed="rId4"/>
          <a:stretch>
            <a:fillRect/>
          </a:stretch>
        </p:blipFill>
        <p:spPr>
          <a:xfrm>
            <a:off x="2570746" y="928930"/>
            <a:ext cx="7050507" cy="5569070"/>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1863791"/>
            <a:ext cx="11243037" cy="893226"/>
          </a:xfrm>
        </p:spPr>
        <p:txBody>
          <a:bodyPr/>
          <a:lstStyle/>
          <a:p>
            <a:pPr algn="ctr"/>
            <a:r>
              <a:rPr lang="en-AU" sz="4400"/>
              <a:t>Ava believes </a:t>
            </a:r>
            <a:r>
              <a:rPr lang="en-AU" sz="4400" b="1"/>
              <a:t>0.6</a:t>
            </a:r>
            <a:r>
              <a:rPr lang="en-AU" sz="4400"/>
              <a:t> is </a:t>
            </a:r>
            <a:r>
              <a:rPr lang="en-AU" sz="4400" b="1"/>
              <a:t>smaller</a:t>
            </a:r>
            <a:r>
              <a:rPr lang="en-AU" sz="4400"/>
              <a:t> than </a:t>
            </a:r>
            <a:r>
              <a:rPr lang="en-AU" sz="4400" b="1"/>
              <a:t>0.68</a:t>
            </a:r>
            <a:r>
              <a:rPr lang="en-AU" sz="4400"/>
              <a:t>. </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417808039"/>
              </p:ext>
            </p:extLst>
          </p:nvPr>
        </p:nvGraphicFramePr>
        <p:xfrm>
          <a:off x="2557462" y="371520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B4E7C25D-9614-BB14-08E0-E8FC76C31322}"/>
              </a:ext>
            </a:extLst>
          </p:cNvPr>
          <p:cNvSpPr txBox="1">
            <a:spLocks/>
          </p:cNvSpPr>
          <p:nvPr/>
        </p:nvSpPr>
        <p:spPr>
          <a:xfrm>
            <a:off x="730657" y="5137882"/>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Communicate your thinking.</a:t>
            </a:r>
          </a:p>
        </p:txBody>
      </p:sp>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19F4A93A-C851-4596-309C-9DFDCB76DE2F}"/>
              </a:ext>
            </a:extLst>
          </p:cNvPr>
          <p:cNvSpPr txBox="1">
            <a:spLocks/>
          </p:cNvSpPr>
          <p:nvPr/>
        </p:nvSpPr>
        <p:spPr>
          <a:xfrm>
            <a:off x="468086" y="1184223"/>
            <a:ext cx="10655914" cy="494013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Using a subtraction strategy solve: </a:t>
            </a:r>
          </a:p>
          <a:p>
            <a:pPr algn="ctr">
              <a:lnSpc>
                <a:spcPct val="100000"/>
              </a:lnSpc>
            </a:pPr>
            <a:endParaRPr lang="en-AU" sz="4400" b="1" dirty="0"/>
          </a:p>
          <a:p>
            <a:pPr algn="ctr">
              <a:lnSpc>
                <a:spcPct val="100000"/>
              </a:lnSpc>
            </a:pPr>
            <a:r>
              <a:rPr lang="en-AU" sz="4400" b="1" dirty="0"/>
              <a:t>5309 – 2006 =  </a:t>
            </a:r>
          </a:p>
          <a:p>
            <a:pPr algn="ctr">
              <a:lnSpc>
                <a:spcPct val="100000"/>
              </a:lnSpc>
            </a:pPr>
            <a:endParaRPr lang="en-AU" sz="4400" b="1" dirty="0"/>
          </a:p>
          <a:p>
            <a:pPr algn="ctr"/>
            <a:r>
              <a:rPr lang="en-AU" sz="4400" b="1" dirty="0"/>
              <a:t>Explain</a:t>
            </a:r>
            <a:r>
              <a:rPr lang="en-AU" sz="4400" dirty="0"/>
              <a:t> why you chose that strategy. </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A969050D-C2D1-6BA1-2CB1-B3BA9A830D8D}"/>
              </a:ext>
            </a:extLst>
          </p:cNvPr>
          <p:cNvSpPr txBox="1">
            <a:spLocks/>
          </p:cNvSpPr>
          <p:nvPr/>
        </p:nvSpPr>
        <p:spPr>
          <a:xfrm>
            <a:off x="360000" y="764947"/>
            <a:ext cx="11243037" cy="595239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 the </a:t>
            </a:r>
            <a:r>
              <a:rPr lang="en-AU" sz="4400"/>
              <a:t>following </a:t>
            </a:r>
            <a:r>
              <a:rPr lang="en-AU" sz="4400" b="1"/>
              <a:t>degrees.</a:t>
            </a:r>
            <a:endParaRPr lang="en-AU" sz="4400" b="1" dirty="0"/>
          </a:p>
          <a:p>
            <a:pPr algn="ctr"/>
            <a:endParaRPr lang="en-AU" sz="4400" b="1" dirty="0"/>
          </a:p>
          <a:p>
            <a:pPr algn="ctr"/>
            <a:endParaRPr lang="en-AU" sz="1600" dirty="0"/>
          </a:p>
        </p:txBody>
      </p:sp>
      <p:pic>
        <p:nvPicPr>
          <p:cNvPr id="7" name="Picture 6">
            <a:extLst>
              <a:ext uri="{FF2B5EF4-FFF2-40B4-BE49-F238E27FC236}">
                <a16:creationId xmlns:a16="http://schemas.microsoft.com/office/drawing/2014/main" id="{E41D736D-92CD-E339-A26A-F457E7CE05A2}"/>
              </a:ext>
            </a:extLst>
          </p:cNvPr>
          <p:cNvPicPr>
            <a:picLocks noChangeAspect="1"/>
          </p:cNvPicPr>
          <p:nvPr/>
        </p:nvPicPr>
        <p:blipFill>
          <a:blip r:embed="rId4"/>
          <a:stretch>
            <a:fillRect/>
          </a:stretch>
        </p:blipFill>
        <p:spPr>
          <a:xfrm>
            <a:off x="2133600" y="2201603"/>
            <a:ext cx="7598644" cy="4133883"/>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92414F4-054E-EF83-C236-10F22C8332AA}"/>
              </a:ext>
            </a:extLst>
          </p:cNvPr>
          <p:cNvSpPr txBox="1"/>
          <p:nvPr/>
        </p:nvSpPr>
        <p:spPr>
          <a:xfrm>
            <a:off x="1278673" y="1298604"/>
            <a:ext cx="9634654" cy="5045164"/>
          </a:xfrm>
          <a:prstGeom prst="rect">
            <a:avLst/>
          </a:prstGeom>
          <a:noFill/>
        </p:spPr>
        <p:txBody>
          <a:bodyPr wrap="square">
            <a:spAutoFit/>
          </a:bodyPr>
          <a:lstStyle/>
          <a:p>
            <a:pPr algn="ctr">
              <a:lnSpc>
                <a:spcPct val="150000"/>
              </a:lnSpc>
            </a:pPr>
            <a:r>
              <a:rPr lang="en-AU" sz="4400" dirty="0"/>
              <a:t>A coin is tossed once. Are the </a:t>
            </a:r>
            <a:r>
              <a:rPr lang="en-AU" sz="4400" b="1" dirty="0"/>
              <a:t>outcomes</a:t>
            </a:r>
            <a:r>
              <a:rPr lang="en-AU" sz="4400" dirty="0"/>
              <a:t> “heads” and “tails” </a:t>
            </a:r>
            <a:r>
              <a:rPr lang="en-AU" sz="4400" b="1" dirty="0"/>
              <a:t>equally likely</a:t>
            </a:r>
            <a:r>
              <a:rPr lang="en-AU" sz="4400" dirty="0"/>
              <a:t>? </a:t>
            </a:r>
          </a:p>
          <a:p>
            <a:pPr algn="ctr">
              <a:lnSpc>
                <a:spcPct val="150000"/>
              </a:lnSpc>
            </a:pPr>
            <a:r>
              <a:rPr lang="en-AU" sz="4400" dirty="0"/>
              <a:t>What if it was tossed twice? </a:t>
            </a:r>
          </a:p>
          <a:p>
            <a:pPr algn="ctr">
              <a:lnSpc>
                <a:spcPct val="150000"/>
              </a:lnSpc>
            </a:pPr>
            <a:r>
              <a:rPr lang="en-AU" sz="4400" b="1" dirty="0"/>
              <a:t>Communicate</a:t>
            </a:r>
            <a:r>
              <a:rPr lang="en-AU" sz="4400" dirty="0"/>
              <a:t> your </a:t>
            </a:r>
            <a:r>
              <a:rPr lang="en-AU" sz="4400" b="1" dirty="0"/>
              <a:t>reasoning.</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2920521-6BB2-12D5-D8FB-6483ECA495B8}"/>
              </a:ext>
            </a:extLst>
          </p:cNvPr>
          <p:cNvSpPr txBox="1"/>
          <p:nvPr/>
        </p:nvSpPr>
        <p:spPr>
          <a:xfrm>
            <a:off x="737755" y="1184223"/>
            <a:ext cx="10904896" cy="5045164"/>
          </a:xfrm>
          <a:prstGeom prst="rect">
            <a:avLst/>
          </a:prstGeom>
          <a:noFill/>
        </p:spPr>
        <p:txBody>
          <a:bodyPr wrap="square">
            <a:spAutoFit/>
          </a:bodyPr>
          <a:lstStyle/>
          <a:p>
            <a:pPr algn="ctr">
              <a:lnSpc>
                <a:spcPct val="150000"/>
              </a:lnSpc>
            </a:pPr>
            <a:r>
              <a:rPr lang="en-AU" sz="4400" dirty="0"/>
              <a:t>Nonna’s rose garden has an area of </a:t>
            </a:r>
            <a:r>
              <a:rPr lang="en-AU" sz="4400" b="1" dirty="0"/>
              <a:t>20 m²</a:t>
            </a:r>
            <a:r>
              <a:rPr lang="en-AU" sz="4400" dirty="0"/>
              <a:t>. Is it possible for </a:t>
            </a:r>
            <a:r>
              <a:rPr lang="en-AU" sz="4400" b="1" dirty="0"/>
              <a:t>the length to be and 4 metres </a:t>
            </a:r>
            <a:r>
              <a:rPr lang="en-AU" sz="4400" dirty="0"/>
              <a:t>and the </a:t>
            </a:r>
            <a:r>
              <a:rPr lang="en-AU" sz="4400" b="1" dirty="0"/>
              <a:t>width to be 6 metres</a:t>
            </a:r>
            <a:r>
              <a:rPr lang="en-AU" sz="4400" dirty="0"/>
              <a:t>.</a:t>
            </a:r>
          </a:p>
          <a:p>
            <a:pPr algn="ctr">
              <a:lnSpc>
                <a:spcPct val="150000"/>
              </a:lnSpc>
            </a:pPr>
            <a:r>
              <a:rPr lang="en-AU" sz="4400" b="1" dirty="0"/>
              <a:t>Why </a:t>
            </a:r>
            <a:r>
              <a:rPr lang="en-AU" sz="4400" dirty="0"/>
              <a:t>or</a:t>
            </a:r>
            <a:r>
              <a:rPr lang="en-AU" sz="4400" b="1" dirty="0"/>
              <a:t> why not?</a:t>
            </a:r>
            <a:br>
              <a:rPr lang="en-AU" sz="4400" dirty="0"/>
            </a:br>
            <a:endParaRPr lang="en-AU" sz="4400" dirty="0"/>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t>
            </a:r>
            <a:r>
              <a:rPr lang="en-AU">
                <a:latin typeface="Arial"/>
                <a:cs typeface="Arial"/>
              </a:rPr>
              <a:t>the smallest number</a:t>
            </a:r>
            <a:endParaRPr lang="en-AU"/>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place value chart with ones, tenths, hundredths and thousandths. ">
            <a:extLst>
              <a:ext uri="{FF2B5EF4-FFF2-40B4-BE49-F238E27FC236}">
                <a16:creationId xmlns:a16="http://schemas.microsoft.com/office/drawing/2014/main" id="{513BF85B-4E31-D5B4-BB9D-45BBB7893BAC}"/>
              </a:ext>
            </a:extLst>
          </p:cNvPr>
          <p:cNvPicPr>
            <a:picLocks noChangeAspect="1"/>
          </p:cNvPicPr>
          <p:nvPr/>
        </p:nvPicPr>
        <p:blipFill>
          <a:blip r:embed="rId4"/>
          <a:stretch>
            <a:fillRect/>
          </a:stretch>
        </p:blipFill>
        <p:spPr>
          <a:xfrm>
            <a:off x="2817640" y="1236406"/>
            <a:ext cx="6224555" cy="5279594"/>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423927"/>
            <a:ext cx="11243037" cy="893226"/>
          </a:xfrm>
        </p:spPr>
        <p:txBody>
          <a:bodyPr/>
          <a:lstStyle/>
          <a:p>
            <a:pPr algn="ctr"/>
            <a:r>
              <a:rPr lang="en-US" sz="4400"/>
              <a:t>Which number is </a:t>
            </a:r>
            <a:r>
              <a:rPr lang="en-US" sz="4400" b="1"/>
              <a:t>not</a:t>
            </a:r>
            <a:r>
              <a:rPr lang="en-US" sz="4400"/>
              <a:t> a </a:t>
            </a:r>
            <a:r>
              <a:rPr lang="en-US" sz="4400" b="1"/>
              <a:t>factor</a:t>
            </a:r>
            <a:r>
              <a:rPr lang="en-US" sz="4400"/>
              <a:t> of 56?</a:t>
            </a:r>
          </a:p>
        </p:txBody>
      </p:sp>
      <p:sp>
        <p:nvSpPr>
          <p:cNvPr id="9" name="TextBox 8">
            <a:extLst>
              <a:ext uri="{FF2B5EF4-FFF2-40B4-BE49-F238E27FC236}">
                <a16:creationId xmlns:a16="http://schemas.microsoft.com/office/drawing/2014/main" id="{4E6EA9CC-6235-8807-420B-A4371AC418C0}"/>
              </a:ext>
            </a:extLst>
          </p:cNvPr>
          <p:cNvSpPr txBox="1"/>
          <p:nvPr/>
        </p:nvSpPr>
        <p:spPr>
          <a:xfrm>
            <a:off x="141639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46C6011D-0E3C-4E80-8C6F-991BEFC5D1BD}"/>
              </a:ext>
            </a:extLst>
          </p:cNvPr>
          <p:cNvSpPr txBox="1"/>
          <p:nvPr/>
        </p:nvSpPr>
        <p:spPr>
          <a:xfrm>
            <a:off x="1416396" y="47161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8</a:t>
            </a:r>
          </a:p>
        </p:txBody>
      </p:sp>
      <p:sp>
        <p:nvSpPr>
          <p:cNvPr id="10" name="TextBox 9">
            <a:extLst>
              <a:ext uri="{FF2B5EF4-FFF2-40B4-BE49-F238E27FC236}">
                <a16:creationId xmlns:a16="http://schemas.microsoft.com/office/drawing/2014/main" id="{4AB24A3E-5574-D79C-6A0F-06D3F8A29BB1}"/>
              </a:ext>
            </a:extLst>
          </p:cNvPr>
          <p:cNvSpPr txBox="1"/>
          <p:nvPr/>
        </p:nvSpPr>
        <p:spPr>
          <a:xfrm>
            <a:off x="4420369"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2602636-12CE-8523-A33E-AF34D9BFB477}"/>
              </a:ext>
            </a:extLst>
          </p:cNvPr>
          <p:cNvSpPr txBox="1"/>
          <p:nvPr/>
        </p:nvSpPr>
        <p:spPr>
          <a:xfrm>
            <a:off x="4420369" y="47161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7</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424342"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7EBAF263-7EA9-19EE-32A2-748232C4090A}"/>
              </a:ext>
            </a:extLst>
          </p:cNvPr>
          <p:cNvSpPr txBox="1"/>
          <p:nvPr/>
        </p:nvSpPr>
        <p:spPr>
          <a:xfrm>
            <a:off x="7424342" y="47161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6</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42831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Box 6">
            <a:extLst>
              <a:ext uri="{FF2B5EF4-FFF2-40B4-BE49-F238E27FC236}">
                <a16:creationId xmlns:a16="http://schemas.microsoft.com/office/drawing/2014/main" id="{D7C56ADF-CC3F-F096-EC73-9ACD9F040BD5}"/>
              </a:ext>
            </a:extLst>
          </p:cNvPr>
          <p:cNvSpPr txBox="1"/>
          <p:nvPr/>
        </p:nvSpPr>
        <p:spPr>
          <a:xfrm>
            <a:off x="10428316" y="47161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a:t>
            </a:r>
          </a:p>
        </p:txBody>
      </p:sp>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72B68B9B-FCEA-8943-0BAA-384827EFEC03}"/>
              </a:ext>
            </a:extLst>
          </p:cNvPr>
          <p:cNvSpPr txBox="1">
            <a:spLocks/>
          </p:cNvSpPr>
          <p:nvPr/>
        </p:nvSpPr>
        <p:spPr>
          <a:xfrm>
            <a:off x="360000" y="726473"/>
            <a:ext cx="11243037" cy="91550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Complete the missing values:</a:t>
            </a:r>
          </a:p>
          <a:p>
            <a:pPr algn="ctr"/>
            <a:endParaRPr lang="en-US" sz="4400"/>
          </a:p>
        </p:txBody>
      </p:sp>
      <p:graphicFrame>
        <p:nvGraphicFramePr>
          <p:cNvPr id="5" name="Table 4">
            <a:extLst>
              <a:ext uri="{FF2B5EF4-FFF2-40B4-BE49-F238E27FC236}">
                <a16:creationId xmlns:a16="http://schemas.microsoft.com/office/drawing/2014/main" id="{2EAF5211-0F1B-120B-900E-1FF2392785A5}"/>
              </a:ext>
            </a:extLst>
          </p:cNvPr>
          <p:cNvGraphicFramePr>
            <a:graphicFrameLocks noGrp="1"/>
          </p:cNvGraphicFramePr>
          <p:nvPr>
            <p:extLst>
              <p:ext uri="{D42A27DB-BD31-4B8C-83A1-F6EECF244321}">
                <p14:modId xmlns:p14="http://schemas.microsoft.com/office/powerpoint/2010/main" val="448044168"/>
              </p:ext>
            </p:extLst>
          </p:nvPr>
        </p:nvGraphicFramePr>
        <p:xfrm>
          <a:off x="1784006" y="1699594"/>
          <a:ext cx="8943262" cy="4363720"/>
        </p:xfrm>
        <a:graphic>
          <a:graphicData uri="http://schemas.openxmlformats.org/drawingml/2006/table">
            <a:tbl>
              <a:tblPr firstRow="1" bandRow="1" bandCol="1">
                <a:tableStyleId>{5A111915-BE36-4E01-A7E5-04B1672EAD32}</a:tableStyleId>
              </a:tblPr>
              <a:tblGrid>
                <a:gridCol w="2866272">
                  <a:extLst>
                    <a:ext uri="{9D8B030D-6E8A-4147-A177-3AD203B41FA5}">
                      <a16:colId xmlns:a16="http://schemas.microsoft.com/office/drawing/2014/main" val="3530928146"/>
                    </a:ext>
                  </a:extLst>
                </a:gridCol>
                <a:gridCol w="2899140">
                  <a:extLst>
                    <a:ext uri="{9D8B030D-6E8A-4147-A177-3AD203B41FA5}">
                      <a16:colId xmlns:a16="http://schemas.microsoft.com/office/drawing/2014/main" val="4168709938"/>
                    </a:ext>
                  </a:extLst>
                </a:gridCol>
                <a:gridCol w="3177850">
                  <a:extLst>
                    <a:ext uri="{9D8B030D-6E8A-4147-A177-3AD203B41FA5}">
                      <a16:colId xmlns:a16="http://schemas.microsoft.com/office/drawing/2014/main" val="1001442822"/>
                    </a:ext>
                  </a:extLst>
                </a:gridCol>
              </a:tblGrid>
              <a:tr h="370840">
                <a:tc>
                  <a:txBody>
                    <a:bodyPr/>
                    <a:lstStyle/>
                    <a:p>
                      <a:endParaRPr lang="en-AU"/>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AU"/>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7071840"/>
                  </a:ext>
                </a:extLst>
              </a:tr>
              <a:tr h="370840">
                <a:tc>
                  <a:txBody>
                    <a:bodyPr/>
                    <a:lstStyle/>
                    <a:p>
                      <a:pPr algn="ctr"/>
                      <a:r>
                        <a:rPr lang="en-AU" sz="4000" b="1"/>
                        <a:t>Fraction</a:t>
                      </a:r>
                    </a:p>
                  </a:txBody>
                  <a:tcPr>
                    <a:lnT w="12700" cap="flat" cmpd="sng" algn="ctr">
                      <a:solidFill>
                        <a:schemeClr val="tx1"/>
                      </a:solidFill>
                      <a:prstDash val="solid"/>
                      <a:round/>
                      <a:headEnd type="none" w="med" len="med"/>
                      <a:tailEnd type="none" w="med" len="med"/>
                    </a:lnT>
                  </a:tcPr>
                </a:tc>
                <a:tc>
                  <a:txBody>
                    <a:bodyPr/>
                    <a:lstStyle/>
                    <a:p>
                      <a:pPr algn="ctr"/>
                      <a:r>
                        <a:rPr lang="en-AU" sz="4000" b="1"/>
                        <a:t>Decimal</a:t>
                      </a:r>
                    </a:p>
                  </a:txBody>
                  <a:tcPr>
                    <a:lnT w="12700" cap="flat" cmpd="sng" algn="ctr">
                      <a:solidFill>
                        <a:schemeClr val="tx1"/>
                      </a:solidFill>
                      <a:prstDash val="solid"/>
                      <a:round/>
                      <a:headEnd type="none" w="med" len="med"/>
                      <a:tailEnd type="none" w="med" len="med"/>
                    </a:lnT>
                  </a:tcPr>
                </a:tc>
                <a:tc>
                  <a:txBody>
                    <a:bodyPr/>
                    <a:lstStyle/>
                    <a:p>
                      <a:pPr algn="ctr"/>
                      <a:r>
                        <a:rPr lang="en-AU" sz="4000" b="1"/>
                        <a:t>Percentage</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07801970"/>
                  </a:ext>
                </a:extLst>
              </a:tr>
              <a:tr h="370840">
                <a:tc>
                  <a:txBody>
                    <a:bodyPr/>
                    <a:lstStyle/>
                    <a:p>
                      <a:pPr algn="ctr"/>
                      <a:endParaRPr lang="en-AU" sz="6600"/>
                    </a:p>
                  </a:txBody>
                  <a:tcPr/>
                </a:tc>
                <a:tc>
                  <a:txBody>
                    <a:bodyPr/>
                    <a:lstStyle/>
                    <a:p>
                      <a:pPr algn="ctr"/>
                      <a:r>
                        <a:rPr lang="en-AU" sz="4400"/>
                        <a:t>0.5</a:t>
                      </a:r>
                    </a:p>
                  </a:txBody>
                  <a:tcPr/>
                </a:tc>
                <a:tc>
                  <a:txBody>
                    <a:bodyPr/>
                    <a:lstStyle/>
                    <a:p>
                      <a:pPr algn="ctr"/>
                      <a:endParaRPr lang="en-AU" sz="4400"/>
                    </a:p>
                  </a:txBody>
                  <a:tcPr/>
                </a:tc>
                <a:extLst>
                  <a:ext uri="{0D108BD9-81ED-4DB2-BD59-A6C34878D82A}">
                    <a16:rowId xmlns:a16="http://schemas.microsoft.com/office/drawing/2014/main" val="2404562161"/>
                  </a:ext>
                </a:extLst>
              </a:tr>
              <a:tr h="370840">
                <a:tc>
                  <a:txBody>
                    <a:bodyPr/>
                    <a:lstStyle/>
                    <a:p>
                      <a:pPr algn="ctr"/>
                      <a:endParaRPr lang="en-AU" sz="6600"/>
                    </a:p>
                  </a:txBody>
                  <a:tcPr/>
                </a:tc>
                <a:tc>
                  <a:txBody>
                    <a:bodyPr/>
                    <a:lstStyle/>
                    <a:p>
                      <a:pPr algn="ctr"/>
                      <a:endParaRPr lang="en-AU" sz="4400"/>
                    </a:p>
                  </a:txBody>
                  <a:tcPr/>
                </a:tc>
                <a:tc>
                  <a:txBody>
                    <a:bodyPr/>
                    <a:lstStyle/>
                    <a:p>
                      <a:pPr algn="ctr"/>
                      <a:r>
                        <a:rPr lang="en-AU" sz="4400"/>
                        <a:t>75%</a:t>
                      </a:r>
                    </a:p>
                  </a:txBody>
                  <a:tcPr/>
                </a:tc>
                <a:extLst>
                  <a:ext uri="{0D108BD9-81ED-4DB2-BD59-A6C34878D82A}">
                    <a16:rowId xmlns:a16="http://schemas.microsoft.com/office/drawing/2014/main" val="2186242386"/>
                  </a:ext>
                </a:extLst>
              </a:tr>
              <a:tr h="370840">
                <a:tc>
                  <a:txBody>
                    <a:bodyPr/>
                    <a:lstStyle/>
                    <a:p>
                      <a:pPr algn="ctr"/>
                      <a:endParaRPr lang="en-AU" sz="6600"/>
                    </a:p>
                  </a:txBody>
                  <a:tcPr/>
                </a:tc>
                <a:tc>
                  <a:txBody>
                    <a:bodyPr/>
                    <a:lstStyle/>
                    <a:p>
                      <a:pPr algn="ctr"/>
                      <a:endParaRPr lang="en-AU" sz="4400" dirty="0"/>
                    </a:p>
                  </a:txBody>
                  <a:tcPr/>
                </a:tc>
                <a:tc>
                  <a:txBody>
                    <a:bodyPr/>
                    <a:lstStyle/>
                    <a:p>
                      <a:pPr algn="ctr"/>
                      <a:endParaRPr lang="en-AU" sz="4400" dirty="0"/>
                    </a:p>
                  </a:txBody>
                  <a:tcPr/>
                </a:tc>
                <a:extLst>
                  <a:ext uri="{0D108BD9-81ED-4DB2-BD59-A6C34878D82A}">
                    <a16:rowId xmlns:a16="http://schemas.microsoft.com/office/drawing/2014/main" val="330249745"/>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394BCD-1A83-6137-1B2A-7A93F0294FA7}"/>
                  </a:ext>
                </a:extLst>
              </p:cNvPr>
              <p:cNvSpPr txBox="1"/>
              <p:nvPr/>
            </p:nvSpPr>
            <p:spPr>
              <a:xfrm>
                <a:off x="3078515" y="4999237"/>
                <a:ext cx="398331" cy="745521"/>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𝟏</m:t>
                        </m:r>
                      </m:num>
                      <m:den>
                        <m:r>
                          <a:rPr lang="en-AU" sz="4400" b="1" i="1" smtClean="0">
                            <a:effectLst/>
                            <a:latin typeface="Cambria Math" panose="02040503050406030204" pitchFamily="18" charset="0"/>
                          </a:rPr>
                          <m:t>𝟏𝟎</m:t>
                        </m:r>
                      </m:den>
                    </m:f>
                  </m:oMath>
                </a14:m>
                <a:r>
                  <a:rPr lang="en-AU" sz="3200" b="1" dirty="0"/>
                  <a:t> </a:t>
                </a:r>
              </a:p>
            </p:txBody>
          </p:sp>
        </mc:Choice>
        <mc:Fallback xmlns="">
          <p:sp>
            <p:nvSpPr>
              <p:cNvPr id="7" name="TextBox 6">
                <a:extLst>
                  <a:ext uri="{FF2B5EF4-FFF2-40B4-BE49-F238E27FC236}">
                    <a16:creationId xmlns:a16="http://schemas.microsoft.com/office/drawing/2014/main" id="{6B394BCD-1A83-6137-1B2A-7A93F0294FA7}"/>
                  </a:ext>
                </a:extLst>
              </p:cNvPr>
              <p:cNvSpPr txBox="1">
                <a:spLocks noRot="1" noChangeAspect="1" noMove="1" noResize="1" noEditPoints="1" noAdjustHandles="1" noChangeArrowheads="1" noChangeShapeType="1" noTextEdit="1"/>
              </p:cNvSpPr>
              <p:nvPr/>
            </p:nvSpPr>
            <p:spPr>
              <a:xfrm>
                <a:off x="3078515" y="4999237"/>
                <a:ext cx="398331" cy="745521"/>
              </a:xfrm>
              <a:prstGeom prst="rect">
                <a:avLst/>
              </a:prstGeom>
              <a:blipFill>
                <a:blip r:embed="rId4"/>
                <a:stretch>
                  <a:fillRect l="-12308" r="-12308" b="-30328"/>
                </a:stretch>
              </a:blipFill>
            </p:spPr>
            <p:txBody>
              <a:bodyPr/>
              <a:lstStyle/>
              <a:p>
                <a:r>
                  <a:rPr lang="en-AU">
                    <a:noFill/>
                  </a:rPr>
                  <a:t> </a:t>
                </a:r>
              </a:p>
            </p:txBody>
          </p:sp>
        </mc:Fallback>
      </mc:AlternateContent>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E145C712-C922-CE0D-C014-7B16196AF385}"/>
              </a:ext>
            </a:extLst>
          </p:cNvPr>
          <p:cNvSpPr txBox="1">
            <a:spLocks/>
          </p:cNvSpPr>
          <p:nvPr/>
        </p:nvSpPr>
        <p:spPr>
          <a:xfrm>
            <a:off x="360000" y="1021993"/>
            <a:ext cx="11243037" cy="556728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Record the name of the </a:t>
            </a:r>
            <a:r>
              <a:rPr lang="en-US" sz="4400" b="1"/>
              <a:t>angle</a:t>
            </a:r>
            <a:r>
              <a:rPr lang="en-US" sz="4400"/>
              <a:t> that is:</a:t>
            </a:r>
          </a:p>
          <a:p>
            <a:pPr algn="ctr"/>
            <a:r>
              <a:rPr lang="en-US" sz="4400"/>
              <a:t>90°</a:t>
            </a:r>
          </a:p>
          <a:p>
            <a:pPr algn="ctr"/>
            <a:r>
              <a:rPr lang="en-US" sz="4400"/>
              <a:t>180°</a:t>
            </a:r>
          </a:p>
          <a:p>
            <a:pPr algn="ctr"/>
            <a:r>
              <a:rPr lang="en-US" sz="4400"/>
              <a:t>270°</a:t>
            </a:r>
          </a:p>
          <a:p>
            <a:pPr algn="ctr"/>
            <a:r>
              <a:rPr lang="en-US" sz="4400"/>
              <a:t>360°</a:t>
            </a:r>
          </a:p>
          <a:p>
            <a:pPr algn="ctr"/>
            <a:endParaRPr lang="en-US" sz="44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F06885B-0745-410D-BF29-975AB6EF472B}"/>
              </a:ext>
            </a:extLst>
          </p:cNvPr>
          <p:cNvSpPr txBox="1"/>
          <p:nvPr/>
        </p:nvSpPr>
        <p:spPr>
          <a:xfrm>
            <a:off x="877661" y="1060697"/>
            <a:ext cx="9865178" cy="203132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Is there another </a:t>
            </a:r>
            <a:r>
              <a:rPr lang="en-US" sz="4400" b="1">
                <a:cs typeface="Arial"/>
              </a:rPr>
              <a:t>type</a:t>
            </a:r>
            <a:r>
              <a:rPr lang="en-US" sz="4400">
                <a:cs typeface="Arial"/>
              </a:rPr>
              <a:t> of </a:t>
            </a:r>
            <a:r>
              <a:rPr lang="en-US" sz="4400" b="1">
                <a:cs typeface="Arial"/>
              </a:rPr>
              <a:t>graph</a:t>
            </a:r>
            <a:r>
              <a:rPr lang="en-US" sz="4400">
                <a:cs typeface="Arial"/>
              </a:rPr>
              <a:t> that would best </a:t>
            </a:r>
            <a:r>
              <a:rPr lang="en-US" sz="4400" b="1">
                <a:cs typeface="Arial"/>
              </a:rPr>
              <a:t>display</a:t>
            </a:r>
            <a:r>
              <a:rPr lang="en-US" sz="4400">
                <a:cs typeface="Arial"/>
              </a:rPr>
              <a:t> this </a:t>
            </a:r>
            <a:r>
              <a:rPr lang="en-US" sz="4400" b="1">
                <a:cs typeface="Arial"/>
              </a:rPr>
              <a:t>information</a:t>
            </a:r>
            <a:r>
              <a:rPr lang="en-US" sz="4400">
                <a:cs typeface="Arial"/>
              </a:rPr>
              <a:t>?</a:t>
            </a:r>
            <a:endParaRPr lang="en-US"/>
          </a:p>
          <a:p>
            <a:pPr algn="ctr"/>
            <a:r>
              <a:rPr lang="en-US" sz="4400">
                <a:cs typeface="Arial"/>
              </a:rPr>
              <a:t>What could the </a:t>
            </a:r>
            <a:r>
              <a:rPr lang="en-US" sz="4400" b="1">
                <a:cs typeface="Arial"/>
              </a:rPr>
              <a:t>title</a:t>
            </a:r>
            <a:r>
              <a:rPr lang="en-US" sz="4400">
                <a:cs typeface="Arial"/>
              </a:rPr>
              <a:t> be?</a:t>
            </a:r>
          </a:p>
        </p:txBody>
      </p:sp>
      <p:graphicFrame>
        <p:nvGraphicFramePr>
          <p:cNvPr id="4" name="Chart 3" descr="A column graph comparing the number of students in classes 6N, 6H, and 6B who play different sports.&#10;&#10;Oztag: 6N – 15 students, 6H – 12 students, 6B – 6 students&#10;&#10;Soccer: 6N – 6 students, 6H – 11 students, 6B – 14 students&#10;&#10;Hockey: 6N – 4 students, 6H – 1 student, 6B – 2 students&#10;&#10;Cricket: 6N – 7 students, 6H – 8 students, 6B – 10 students">
            <a:extLst>
              <a:ext uri="{FF2B5EF4-FFF2-40B4-BE49-F238E27FC236}">
                <a16:creationId xmlns:a16="http://schemas.microsoft.com/office/drawing/2014/main" id="{077ED462-B851-0940-81C4-0AC5764B013E}"/>
              </a:ext>
            </a:extLst>
          </p:cNvPr>
          <p:cNvGraphicFramePr/>
          <p:nvPr>
            <p:extLst>
              <p:ext uri="{D42A27DB-BD31-4B8C-83A1-F6EECF244321}">
                <p14:modId xmlns:p14="http://schemas.microsoft.com/office/powerpoint/2010/main" val="2989215250"/>
              </p:ext>
            </p:extLst>
          </p:nvPr>
        </p:nvGraphicFramePr>
        <p:xfrm>
          <a:off x="3048000" y="3247118"/>
          <a:ext cx="5524500" cy="3112407"/>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93326408-60E4-0302-F077-C1ABDF9215CF}"/>
              </a:ext>
            </a:extLst>
          </p:cNvPr>
          <p:cNvSpPr txBox="1">
            <a:spLocks/>
          </p:cNvSpPr>
          <p:nvPr/>
        </p:nvSpPr>
        <p:spPr>
          <a:xfrm>
            <a:off x="246025" y="905601"/>
            <a:ext cx="11699952" cy="551177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Which spinner gives you an </a:t>
            </a:r>
            <a:r>
              <a:rPr lang="en-US" sz="4000" b="1"/>
              <a:t>equally likely chance </a:t>
            </a:r>
            <a:r>
              <a:rPr lang="en-US" sz="4000"/>
              <a:t>of landing on a red or green section?</a:t>
            </a:r>
          </a:p>
          <a:p>
            <a:r>
              <a:rPr lang="en-US" sz="4000" b="1"/>
              <a:t>A</a:t>
            </a:r>
            <a:r>
              <a:rPr lang="en-US" sz="4000"/>
              <a:t> 4 red sections, 2 blue sections, 2 green sections </a:t>
            </a:r>
          </a:p>
          <a:p>
            <a:r>
              <a:rPr lang="en-US" sz="4000" b="1"/>
              <a:t>B</a:t>
            </a:r>
            <a:r>
              <a:rPr lang="en-US" sz="4000"/>
              <a:t> 3 red sections, 3 blue sections, 2 green sections</a:t>
            </a:r>
          </a:p>
          <a:p>
            <a:r>
              <a:rPr lang="en-US" sz="4000" b="1"/>
              <a:t>C</a:t>
            </a:r>
            <a:r>
              <a:rPr lang="en-US" sz="4000"/>
              <a:t> 2 red sections, 5 blue sections, 2 green sections</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a:t>
            </a:r>
            <a:r>
              <a:rPr lang="en-AU">
                <a:latin typeface="Arial"/>
                <a:cs typeface="Arial"/>
              </a:rPr>
              <a:t>mystery factors</a:t>
            </a:r>
            <a:endParaRPr lang="en-AU"/>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8652C690-C2DB-79DE-2F90-2A4E34C31546}"/>
              </a:ext>
            </a:extLst>
          </p:cNvPr>
          <p:cNvSpPr txBox="1"/>
          <p:nvPr/>
        </p:nvSpPr>
        <p:spPr>
          <a:xfrm>
            <a:off x="463028" y="1203771"/>
            <a:ext cx="11265943" cy="5312229"/>
          </a:xfrm>
          <a:prstGeom prst="rect">
            <a:avLst/>
          </a:prstGeom>
          <a:noFill/>
        </p:spPr>
        <p:txBody>
          <a:bodyPr wrap="square" lIns="0" tIns="0" rIns="0" bIns="0" rtlCol="0">
            <a:noAutofit/>
          </a:bodyPr>
          <a:lstStyle/>
          <a:p>
            <a:pPr lvl="0">
              <a:lnSpc>
                <a:spcPct val="150000"/>
              </a:lnSpc>
              <a:spcBef>
                <a:spcPts val="1200"/>
              </a:spcBef>
              <a:spcAft>
                <a:spcPts val="600"/>
              </a:spcAft>
            </a:pPr>
            <a:r>
              <a:rPr lang="en-AU" sz="2800" dirty="0">
                <a:latin typeface="Arial" panose="020B0604020202020204" pitchFamily="34" charset="0"/>
                <a:ea typeface="Calibri" panose="020F0502020204030204" pitchFamily="34" charset="0"/>
              </a:rPr>
              <a:t>I placed </a:t>
            </a:r>
            <a:r>
              <a:rPr lang="en-AU" sz="2800" b="1" dirty="0">
                <a:latin typeface="Arial" panose="020B0604020202020204" pitchFamily="34" charset="0"/>
                <a:ea typeface="Calibri" panose="020F0502020204030204" pitchFamily="34" charset="0"/>
              </a:rPr>
              <a:t>4 numbers </a:t>
            </a:r>
            <a:r>
              <a:rPr lang="en-AU" sz="2800" dirty="0">
                <a:latin typeface="Arial" panose="020B0604020202020204" pitchFamily="34" charset="0"/>
                <a:ea typeface="Calibri" panose="020F0502020204030204" pitchFamily="34" charset="0"/>
              </a:rPr>
              <a:t>into a box. The mystery number inside the box </a:t>
            </a:r>
            <a:r>
              <a:rPr lang="en-AU" sz="2800" b="1" dirty="0">
                <a:latin typeface="Arial" panose="020B0604020202020204" pitchFamily="34" charset="0"/>
                <a:ea typeface="Calibri" panose="020F0502020204030204" pitchFamily="34" charset="0"/>
              </a:rPr>
              <a:t>multiplied </a:t>
            </a:r>
            <a:r>
              <a:rPr lang="en-AU" sz="2800" dirty="0">
                <a:latin typeface="Arial" panose="020B0604020202020204" pitchFamily="34" charset="0"/>
                <a:ea typeface="Calibri" panose="020F0502020204030204" pitchFamily="34" charset="0"/>
              </a:rPr>
              <a:t>my numbers and </a:t>
            </a:r>
            <a:r>
              <a:rPr lang="en-AU" sz="2800" b="1" dirty="0">
                <a:latin typeface="Arial" panose="020B0604020202020204" pitchFamily="34" charset="0"/>
                <a:ea typeface="Calibri" panose="020F0502020204030204" pitchFamily="34" charset="0"/>
              </a:rPr>
              <a:t>4 new numbers </a:t>
            </a:r>
            <a:r>
              <a:rPr lang="en-AU" sz="2800" dirty="0">
                <a:latin typeface="Arial" panose="020B0604020202020204" pitchFamily="34" charset="0"/>
                <a:ea typeface="Calibri" panose="020F0502020204030204" pitchFamily="34" charset="0"/>
              </a:rPr>
              <a:t>came out. The </a:t>
            </a:r>
            <a:r>
              <a:rPr lang="en-AU" sz="2800" b="1" dirty="0">
                <a:latin typeface="Arial" panose="020B0604020202020204" pitchFamily="34" charset="0"/>
                <a:ea typeface="Calibri" panose="020F0502020204030204" pitchFamily="34" charset="0"/>
              </a:rPr>
              <a:t>new numbers </a:t>
            </a:r>
            <a:r>
              <a:rPr lang="en-AU" sz="2800" dirty="0">
                <a:latin typeface="Arial" panose="020B0604020202020204" pitchFamily="34" charset="0"/>
                <a:ea typeface="Calibri" panose="020F0502020204030204" pitchFamily="34" charset="0"/>
              </a:rPr>
              <a:t>that came out were :</a:t>
            </a:r>
          </a:p>
          <a:p>
            <a:pPr lvl="0">
              <a:lnSpc>
                <a:spcPct val="150000"/>
              </a:lnSpc>
              <a:spcBef>
                <a:spcPts val="1200"/>
              </a:spcBef>
              <a:spcAft>
                <a:spcPts val="600"/>
              </a:spcAft>
            </a:pPr>
            <a:r>
              <a:rPr lang="en-AU" sz="2800" b="1" dirty="0">
                <a:latin typeface="Arial" panose="020B0604020202020204" pitchFamily="34" charset="0"/>
                <a:ea typeface="Calibri" panose="020F0502020204030204" pitchFamily="34" charset="0"/>
              </a:rPr>
              <a:t>96, 36, 60 and 48</a:t>
            </a:r>
          </a:p>
          <a:p>
            <a:pPr lvl="0">
              <a:lnSpc>
                <a:spcPct val="150000"/>
              </a:lnSpc>
              <a:spcBef>
                <a:spcPts val="1200"/>
              </a:spcBef>
              <a:spcAft>
                <a:spcPts val="600"/>
              </a:spcAft>
            </a:pPr>
            <a:r>
              <a:rPr lang="en-AU" sz="2800" b="1" dirty="0">
                <a:latin typeface="Arial" panose="020B0604020202020204" pitchFamily="34" charset="0"/>
                <a:ea typeface="Calibri" panose="020F0502020204030204" pitchFamily="34" charset="0"/>
              </a:rPr>
              <a:t>What four numbers</a:t>
            </a:r>
            <a:r>
              <a:rPr lang="en-AU" sz="2800" dirty="0">
                <a:latin typeface="Arial" panose="020B0604020202020204" pitchFamily="34" charset="0"/>
                <a:ea typeface="Calibri" panose="020F0502020204030204" pitchFamily="34" charset="0"/>
              </a:rPr>
              <a:t> were placed in the box to begin with?</a:t>
            </a:r>
          </a:p>
          <a:p>
            <a:pPr lvl="0">
              <a:lnSpc>
                <a:spcPct val="150000"/>
              </a:lnSpc>
              <a:spcBef>
                <a:spcPts val="1200"/>
              </a:spcBef>
              <a:spcAft>
                <a:spcPts val="600"/>
              </a:spcAft>
            </a:pPr>
            <a:r>
              <a:rPr lang="en-AU" sz="2800" b="1" dirty="0">
                <a:latin typeface="Arial" panose="020B0604020202020204" pitchFamily="34" charset="0"/>
                <a:ea typeface="Calibri" panose="020F0502020204030204" pitchFamily="34" charset="0"/>
              </a:rPr>
              <a:t>What is the mystery number </a:t>
            </a:r>
            <a:r>
              <a:rPr lang="en-AU" sz="2800" dirty="0">
                <a:latin typeface="Arial" panose="020B0604020202020204" pitchFamily="34" charset="0"/>
                <a:ea typeface="Calibri" panose="020F0502020204030204" pitchFamily="34" charset="0"/>
              </a:rPr>
              <a:t>in the box that </a:t>
            </a:r>
            <a:r>
              <a:rPr lang="en-AU" sz="2800" b="1" dirty="0">
                <a:latin typeface="Arial" panose="020B0604020202020204" pitchFamily="34" charset="0"/>
                <a:ea typeface="Calibri" panose="020F0502020204030204" pitchFamily="34" charset="0"/>
              </a:rPr>
              <a:t>is multiplying </a:t>
            </a:r>
            <a:r>
              <a:rPr lang="en-AU" sz="2800" dirty="0">
                <a:latin typeface="Arial" panose="020B0604020202020204" pitchFamily="34" charset="0"/>
                <a:ea typeface="Calibri" panose="020F0502020204030204" pitchFamily="34" charset="0"/>
              </a:rPr>
              <a:t>all the numbers?</a:t>
            </a:r>
          </a:p>
        </p:txBody>
      </p:sp>
      <p:pic>
        <p:nvPicPr>
          <p:cNvPr id="5" name="Picture 4" descr="A blue open box with a circle on the side showing “x ?” inside it. Four grey circles with question marks are shown above the box with an arrow pointing into the box. Four grey circles with the numbers 96, 36, 60, and 48 are shown below the box with an arrow pointing from the box to the numbers, suggesting multiplication to find the results.">
            <a:extLst>
              <a:ext uri="{FF2B5EF4-FFF2-40B4-BE49-F238E27FC236}">
                <a16:creationId xmlns:a16="http://schemas.microsoft.com/office/drawing/2014/main" id="{A1C88615-156E-FB7E-1367-5E93214410E3}"/>
              </a:ext>
            </a:extLst>
          </p:cNvPr>
          <p:cNvPicPr>
            <a:picLocks noChangeAspect="1"/>
          </p:cNvPicPr>
          <p:nvPr/>
        </p:nvPicPr>
        <p:blipFill>
          <a:blip r:embed="rId4"/>
          <a:stretch>
            <a:fillRect/>
          </a:stretch>
        </p:blipFill>
        <p:spPr>
          <a:xfrm>
            <a:off x="9955800" y="2626371"/>
            <a:ext cx="1773171" cy="2008488"/>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500716"/>
            <a:ext cx="11243037" cy="3116175"/>
          </a:xfrm>
        </p:spPr>
        <p:txBody>
          <a:bodyPr/>
          <a:lstStyle/>
          <a:p>
            <a:pPr algn="ctr"/>
            <a:r>
              <a:rPr lang="en-AU" sz="4400"/>
              <a:t>The </a:t>
            </a:r>
            <a:r>
              <a:rPr lang="en-AU" sz="4400" b="1"/>
              <a:t>factors</a:t>
            </a:r>
            <a:r>
              <a:rPr lang="en-AU" sz="4400"/>
              <a:t> of 35 are:</a:t>
            </a:r>
          </a:p>
          <a:p>
            <a:pPr algn="ctr"/>
            <a:r>
              <a:rPr lang="en-AU" sz="4400"/>
              <a:t>1, 2, 3, 5, 7, 35</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744842867"/>
              </p:ext>
            </p:extLst>
          </p:nvPr>
        </p:nvGraphicFramePr>
        <p:xfrm>
          <a:off x="2442980" y="47407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37E6-E669-46F1-2353-5CAD5B9DB2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E94122-537D-C135-545B-F1790A0DD96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EE8F68C9-9CD0-3CC1-6ADB-E4AC2EE1EE2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1AD68E74-BCBC-C453-3EAF-D75EDB90BA2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861BF2C6-54F5-6792-18CC-635F32AB54BF}"/>
              </a:ext>
            </a:extLst>
          </p:cNvPr>
          <p:cNvSpPr txBox="1">
            <a:spLocks/>
          </p:cNvSpPr>
          <p:nvPr/>
        </p:nvSpPr>
        <p:spPr>
          <a:xfrm>
            <a:off x="360000" y="1083684"/>
            <a:ext cx="11243037" cy="543231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Tara went shopping for a new laptop. There was a </a:t>
            </a:r>
            <a:r>
              <a:rPr lang="en-US" sz="4400" b="1" dirty="0"/>
              <a:t>25%</a:t>
            </a:r>
            <a:r>
              <a:rPr lang="en-US" sz="4400" dirty="0"/>
              <a:t> sale on. The ticket price was marked </a:t>
            </a:r>
            <a:r>
              <a:rPr lang="en-US" sz="4400" b="1" dirty="0"/>
              <a:t>$300</a:t>
            </a:r>
            <a:r>
              <a:rPr lang="en-US" sz="4400" dirty="0"/>
              <a:t>. What is the </a:t>
            </a:r>
            <a:r>
              <a:rPr lang="en-US" sz="4400" b="1" dirty="0"/>
              <a:t>amount </a:t>
            </a:r>
            <a:r>
              <a:rPr lang="en-US" sz="4400" dirty="0"/>
              <a:t>Tara will pay?</a:t>
            </a:r>
          </a:p>
          <a:p>
            <a:pPr algn="ctr"/>
            <a:r>
              <a:rPr lang="en-US" sz="4400" b="1" dirty="0"/>
              <a:t>Communicate</a:t>
            </a:r>
            <a:r>
              <a:rPr lang="en-US" sz="4400" dirty="0"/>
              <a:t> your </a:t>
            </a:r>
            <a:r>
              <a:rPr lang="en-US" sz="4400" b="1" dirty="0"/>
              <a:t>reasoning.</a:t>
            </a:r>
          </a:p>
        </p:txBody>
      </p:sp>
    </p:spTree>
    <p:extLst>
      <p:ext uri="{BB962C8B-B14F-4D97-AF65-F5344CB8AC3E}">
        <p14:creationId xmlns:p14="http://schemas.microsoft.com/office/powerpoint/2010/main" val="3251748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circular protractor measuring an obtuse angle. One ray is aligned with the 0° mark, and the other ray points to the 240° mark on the outer scale, indicating the measured angle is 240 degrees.">
            <a:extLst>
              <a:ext uri="{FF2B5EF4-FFF2-40B4-BE49-F238E27FC236}">
                <a16:creationId xmlns:a16="http://schemas.microsoft.com/office/drawing/2014/main" id="{0049F6A7-133C-0D7A-25DD-24FC545C3968}"/>
              </a:ext>
            </a:extLst>
          </p:cNvPr>
          <p:cNvPicPr>
            <a:picLocks noChangeAspect="1"/>
          </p:cNvPicPr>
          <p:nvPr/>
        </p:nvPicPr>
        <p:blipFill>
          <a:blip r:embed="rId4"/>
          <a:stretch>
            <a:fillRect/>
          </a:stretch>
        </p:blipFill>
        <p:spPr>
          <a:xfrm>
            <a:off x="166877" y="1527458"/>
            <a:ext cx="5376757" cy="4632182"/>
          </a:xfrm>
          <a:prstGeom prst="rect">
            <a:avLst/>
          </a:prstGeom>
        </p:spPr>
      </p:pic>
      <p:sp>
        <p:nvSpPr>
          <p:cNvPr id="7" name="Text Placeholder 5">
            <a:extLst>
              <a:ext uri="{FF2B5EF4-FFF2-40B4-BE49-F238E27FC236}">
                <a16:creationId xmlns:a16="http://schemas.microsoft.com/office/drawing/2014/main" id="{14971178-0E67-19CA-4C6E-E5A22E66C377}"/>
              </a:ext>
            </a:extLst>
          </p:cNvPr>
          <p:cNvSpPr txBox="1">
            <a:spLocks/>
          </p:cNvSpPr>
          <p:nvPr/>
        </p:nvSpPr>
        <p:spPr>
          <a:xfrm>
            <a:off x="5414322" y="1587857"/>
            <a:ext cx="5930268" cy="41698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Using the </a:t>
            </a:r>
            <a:r>
              <a:rPr lang="en-AU" sz="4400" b="1"/>
              <a:t>protractor</a:t>
            </a:r>
            <a:r>
              <a:rPr lang="en-AU" sz="4400"/>
              <a:t>, measure how many </a:t>
            </a:r>
            <a:r>
              <a:rPr lang="en-AU" sz="4400" b="1"/>
              <a:t>degrees</a:t>
            </a:r>
            <a:r>
              <a:rPr lang="en-AU" sz="4400"/>
              <a:t> are in this </a:t>
            </a:r>
            <a:r>
              <a:rPr lang="en-AU" sz="4400" b="1"/>
              <a:t>angle</a:t>
            </a:r>
            <a:r>
              <a:rPr lang="en-AU" sz="4400"/>
              <a:t>.</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2471-2ADD-C1BA-2023-54F5BBC15A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DB32FC-9CEA-7182-4320-8C71A9572D7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BB84C3CD-F71A-C2FD-F275-DF60F0FE096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CDC4167E-8411-410C-8CF3-2D0CBC0B91F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33AAD29-D616-F1F3-6E50-901BFFF4F391}"/>
              </a:ext>
            </a:extLst>
          </p:cNvPr>
          <p:cNvSpPr txBox="1"/>
          <p:nvPr/>
        </p:nvSpPr>
        <p:spPr>
          <a:xfrm>
            <a:off x="1913861" y="1318556"/>
            <a:ext cx="8676168" cy="4029501"/>
          </a:xfrm>
          <a:prstGeom prst="rect">
            <a:avLst/>
          </a:prstGeom>
          <a:noFill/>
        </p:spPr>
        <p:txBody>
          <a:bodyPr wrap="square">
            <a:spAutoFit/>
          </a:bodyPr>
          <a:lstStyle/>
          <a:p>
            <a:pPr algn="ctr">
              <a:lnSpc>
                <a:spcPct val="150000"/>
              </a:lnSpc>
            </a:pPr>
            <a:r>
              <a:rPr lang="en-AU" sz="4400" dirty="0"/>
              <a:t>6S were surveying 6W about their interests outside school. </a:t>
            </a:r>
            <a:r>
              <a:rPr lang="en-AU" sz="4400" b="1" dirty="0"/>
              <a:t>Design a question</a:t>
            </a:r>
            <a:r>
              <a:rPr lang="en-AU" sz="4400" dirty="0"/>
              <a:t> to ask that will identify data on 6W’s interests.</a:t>
            </a:r>
          </a:p>
        </p:txBody>
      </p:sp>
    </p:spTree>
    <p:extLst>
      <p:ext uri="{BB962C8B-B14F-4D97-AF65-F5344CB8AC3E}">
        <p14:creationId xmlns:p14="http://schemas.microsoft.com/office/powerpoint/2010/main" val="365898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C58BCEA9-5EED-BA24-F561-CF08653C6ED9}"/>
              </a:ext>
            </a:extLst>
          </p:cNvPr>
          <p:cNvSpPr txBox="1">
            <a:spLocks/>
          </p:cNvSpPr>
          <p:nvPr/>
        </p:nvSpPr>
        <p:spPr>
          <a:xfrm>
            <a:off x="588963" y="906473"/>
            <a:ext cx="11243037" cy="578952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 the </a:t>
            </a:r>
            <a:r>
              <a:rPr lang="en-AU" sz="4400" b="1" dirty="0"/>
              <a:t>equivalent capacity </a:t>
            </a:r>
            <a:r>
              <a:rPr lang="en-AU" sz="4400" dirty="0"/>
              <a:t>using </a:t>
            </a:r>
            <a:r>
              <a:rPr lang="en-AU" sz="4400" b="1" dirty="0"/>
              <a:t>decimal representations</a:t>
            </a:r>
            <a:r>
              <a:rPr lang="en-AU" sz="4400" dirty="0"/>
              <a:t>:</a:t>
            </a:r>
          </a:p>
          <a:p>
            <a:pPr marL="571500" indent="-571500" algn="ctr">
              <a:lnSpc>
                <a:spcPct val="100000"/>
              </a:lnSpc>
              <a:buFont typeface="Arial" panose="020B0604020202020204" pitchFamily="34" charset="0"/>
              <a:buChar char="•"/>
            </a:pPr>
            <a:r>
              <a:rPr lang="en-AU" sz="4400" dirty="0"/>
              <a:t>	half a litre</a:t>
            </a:r>
          </a:p>
          <a:p>
            <a:pPr marL="571500" indent="-571500" algn="ctr">
              <a:lnSpc>
                <a:spcPct val="100000"/>
              </a:lnSpc>
              <a:buFont typeface="Arial" panose="020B0604020202020204" pitchFamily="34" charset="0"/>
              <a:buChar char="•"/>
            </a:pPr>
            <a:r>
              <a:rPr lang="en-AU" sz="4400" dirty="0"/>
              <a:t>	500 ml </a:t>
            </a:r>
          </a:p>
          <a:p>
            <a:pPr marL="571500" indent="-571500" algn="ctr">
              <a:lnSpc>
                <a:spcPct val="100000"/>
              </a:lnSpc>
              <a:buFont typeface="Arial" panose="020B0604020202020204" pitchFamily="34" charset="0"/>
              <a:buChar char="•"/>
            </a:pPr>
            <a:r>
              <a:rPr lang="en-AU" sz="4400" dirty="0"/>
              <a:t>	750 ml</a:t>
            </a:r>
          </a:p>
          <a:p>
            <a:pPr marL="571500" indent="-571500" algn="ctr">
              <a:lnSpc>
                <a:spcPct val="100000"/>
              </a:lnSpc>
              <a:buFont typeface="Arial" panose="020B0604020202020204" pitchFamily="34" charset="0"/>
              <a:buChar char="•"/>
            </a:pPr>
            <a:r>
              <a:rPr lang="en-AU" sz="4400" dirty="0"/>
              <a:t>	250 ml </a:t>
            </a:r>
          </a:p>
          <a:p>
            <a:pPr>
              <a:lnSpc>
                <a:spcPct val="100000"/>
              </a:lnSpc>
            </a:pPr>
            <a:r>
              <a:rPr lang="en-AU" sz="4400" dirty="0"/>
              <a:t>		</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determining factors </a:t>
            </a:r>
            <a:r>
              <a:rPr lang="en-AU">
                <a:solidFill>
                  <a:schemeClr val="bg1"/>
                </a:solidFill>
                <a:latin typeface="Arial"/>
                <a:cs typeface="Arial"/>
              </a:rPr>
              <a:t>(1)</a:t>
            </a:r>
            <a:endParaRPr lang="en-AU">
              <a:solidFill>
                <a:schemeClr val="bg1"/>
              </a:solidFill>
            </a:endParaRP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C683A8A3-8030-2A2F-3F25-35311D5250A1}"/>
              </a:ext>
            </a:extLst>
          </p:cNvPr>
          <p:cNvSpPr txBox="1"/>
          <p:nvPr/>
        </p:nvSpPr>
        <p:spPr>
          <a:xfrm>
            <a:off x="948906" y="1548441"/>
            <a:ext cx="10707878" cy="3761117"/>
          </a:xfrm>
          <a:prstGeom prst="rect">
            <a:avLst/>
          </a:prstGeom>
          <a:noFill/>
        </p:spPr>
        <p:txBody>
          <a:bodyPr wrap="none" lIns="0" tIns="0" rIns="0" bIns="0" rtlCol="0">
            <a:noAutofit/>
          </a:bodyPr>
          <a:lstStyle/>
          <a:p>
            <a:pPr algn="ctr">
              <a:lnSpc>
                <a:spcPct val="150000"/>
              </a:lnSpc>
            </a:pPr>
            <a:r>
              <a:rPr lang="en-AU" sz="4400" dirty="0"/>
              <a:t>A </a:t>
            </a:r>
            <a:r>
              <a:rPr lang="en-AU" sz="4400" b="1" dirty="0"/>
              <a:t>rectangular</a:t>
            </a:r>
            <a:r>
              <a:rPr lang="en-AU" sz="4400" dirty="0"/>
              <a:t> space has an </a:t>
            </a:r>
            <a:r>
              <a:rPr lang="en-AU" sz="4400" b="1" dirty="0"/>
              <a:t>area of 48 m²</a:t>
            </a:r>
            <a:r>
              <a:rPr lang="en-AU" sz="4400" dirty="0"/>
              <a:t>. </a:t>
            </a:r>
          </a:p>
          <a:p>
            <a:pPr algn="ctr">
              <a:lnSpc>
                <a:spcPct val="150000"/>
              </a:lnSpc>
            </a:pPr>
            <a:r>
              <a:rPr lang="en-AU" sz="4400" dirty="0"/>
              <a:t>What are all the possible </a:t>
            </a:r>
            <a:r>
              <a:rPr lang="en-AU" sz="4400" b="1" dirty="0"/>
              <a:t>lengths</a:t>
            </a:r>
            <a:r>
              <a:rPr lang="en-AU" sz="4400" dirty="0"/>
              <a:t> and </a:t>
            </a:r>
          </a:p>
          <a:p>
            <a:pPr algn="ctr">
              <a:lnSpc>
                <a:spcPct val="150000"/>
              </a:lnSpc>
            </a:pPr>
            <a:r>
              <a:rPr lang="en-AU" sz="4400" b="1" dirty="0"/>
              <a:t>widths </a:t>
            </a:r>
            <a:r>
              <a:rPr lang="en-AU" sz="4400" dirty="0"/>
              <a:t>of this space?</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315C-B961-9374-C03A-E52A08886A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252DBA7-AA64-5B6B-A16D-F4BCF1B4060E}"/>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determining factors </a:t>
            </a:r>
            <a:r>
              <a:rPr lang="en-AU">
                <a:solidFill>
                  <a:schemeClr val="bg1"/>
                </a:solidFill>
                <a:latin typeface="Arial"/>
                <a:cs typeface="Arial"/>
              </a:rPr>
              <a:t>(2)</a:t>
            </a:r>
            <a:endParaRPr lang="en-AU">
              <a:solidFill>
                <a:schemeClr val="bg1"/>
              </a:solidFill>
            </a:endParaRPr>
          </a:p>
        </p:txBody>
      </p:sp>
      <p:sp>
        <p:nvSpPr>
          <p:cNvPr id="2" name="Slide Number Placeholder 1">
            <a:extLst>
              <a:ext uri="{FF2B5EF4-FFF2-40B4-BE49-F238E27FC236}">
                <a16:creationId xmlns:a16="http://schemas.microsoft.com/office/drawing/2014/main" id="{A93C11FB-79E2-5A02-C465-206F6103069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831B1F94-3198-72F2-F036-F1EE3ABE102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7AD85DB4-2C16-0F14-2D34-D4EC62050E30}"/>
              </a:ext>
            </a:extLst>
          </p:cNvPr>
          <p:cNvSpPr txBox="1"/>
          <p:nvPr/>
        </p:nvSpPr>
        <p:spPr>
          <a:xfrm>
            <a:off x="776122" y="1548441"/>
            <a:ext cx="10707878" cy="3761117"/>
          </a:xfrm>
          <a:prstGeom prst="rect">
            <a:avLst/>
          </a:prstGeom>
          <a:noFill/>
        </p:spPr>
        <p:txBody>
          <a:bodyPr wrap="none" lIns="0" tIns="0" rIns="0" bIns="0" rtlCol="0">
            <a:noAutofit/>
          </a:bodyPr>
          <a:lstStyle/>
          <a:p>
            <a:pPr algn="ctr">
              <a:lnSpc>
                <a:spcPct val="150000"/>
              </a:lnSpc>
            </a:pPr>
            <a:r>
              <a:rPr lang="en-AU" sz="4400"/>
              <a:t>A farmer has enough sheep to fit inside a </a:t>
            </a:r>
          </a:p>
          <a:p>
            <a:pPr algn="ctr">
              <a:lnSpc>
                <a:spcPct val="150000"/>
              </a:lnSpc>
            </a:pPr>
            <a:r>
              <a:rPr lang="en-AU" sz="4400"/>
              <a:t>paddock of 24 m². </a:t>
            </a:r>
          </a:p>
          <a:p>
            <a:pPr algn="ctr">
              <a:lnSpc>
                <a:spcPct val="150000"/>
              </a:lnSpc>
            </a:pPr>
            <a:r>
              <a:rPr lang="en-AU" sz="4400"/>
              <a:t>What might be all the possible lengths and </a:t>
            </a:r>
          </a:p>
          <a:p>
            <a:pPr algn="ctr">
              <a:lnSpc>
                <a:spcPct val="150000"/>
              </a:lnSpc>
            </a:pPr>
            <a:r>
              <a:rPr lang="en-AU" sz="4400"/>
              <a:t>widths of this space?</a:t>
            </a:r>
          </a:p>
        </p:txBody>
      </p:sp>
    </p:spTree>
    <p:extLst>
      <p:ext uri="{BB962C8B-B14F-4D97-AF65-F5344CB8AC3E}">
        <p14:creationId xmlns:p14="http://schemas.microsoft.com/office/powerpoint/2010/main" val="239934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p:txBody>
          <a:bodyPr/>
          <a:lstStyle/>
          <a:p>
            <a:pPr algn="ctr"/>
            <a:r>
              <a:rPr lang="en-US" sz="4400"/>
              <a:t>Which number is </a:t>
            </a:r>
            <a:r>
              <a:rPr lang="en-US" sz="4400" b="1"/>
              <a:t>not</a:t>
            </a:r>
            <a:r>
              <a:rPr lang="en-US" sz="4400"/>
              <a:t> a </a:t>
            </a:r>
            <a:r>
              <a:rPr lang="en-US" sz="4400" b="1"/>
              <a:t>factor</a:t>
            </a:r>
            <a:r>
              <a:rPr lang="en-US" sz="4400"/>
              <a:t> of 80?</a:t>
            </a:r>
          </a:p>
        </p:txBody>
      </p:sp>
      <p:sp>
        <p:nvSpPr>
          <p:cNvPr id="9" name="TextBox 8">
            <a:extLst>
              <a:ext uri="{FF2B5EF4-FFF2-40B4-BE49-F238E27FC236}">
                <a16:creationId xmlns:a16="http://schemas.microsoft.com/office/drawing/2014/main" id="{8B9CE09D-4912-352C-EDD3-2F5B22293E2B}"/>
              </a:ext>
            </a:extLst>
          </p:cNvPr>
          <p:cNvSpPr txBox="1"/>
          <p:nvPr/>
        </p:nvSpPr>
        <p:spPr>
          <a:xfrm>
            <a:off x="139651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65F72C36-D6AF-3994-6938-15B5DAEF888D}"/>
              </a:ext>
            </a:extLst>
          </p:cNvPr>
          <p:cNvSpPr txBox="1"/>
          <p:nvPr/>
        </p:nvSpPr>
        <p:spPr>
          <a:xfrm>
            <a:off x="1264339" y="4685700"/>
            <a:ext cx="79378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40</a:t>
            </a:r>
          </a:p>
        </p:txBody>
      </p:sp>
      <p:sp>
        <p:nvSpPr>
          <p:cNvPr id="10" name="TextBox 9">
            <a:extLst>
              <a:ext uri="{FF2B5EF4-FFF2-40B4-BE49-F238E27FC236}">
                <a16:creationId xmlns:a16="http://schemas.microsoft.com/office/drawing/2014/main" id="{6720C9BD-206D-1246-CC58-B94DA2A9FDA7}"/>
              </a:ext>
            </a:extLst>
          </p:cNvPr>
          <p:cNvSpPr txBox="1"/>
          <p:nvPr/>
        </p:nvSpPr>
        <p:spPr>
          <a:xfrm>
            <a:off x="4400492"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7409F798-96B9-B58D-C2B1-96D10FB5F8C3}"/>
              </a:ext>
            </a:extLst>
          </p:cNvPr>
          <p:cNvSpPr txBox="1"/>
          <p:nvPr/>
        </p:nvSpPr>
        <p:spPr>
          <a:xfrm>
            <a:off x="4471684" y="4685700"/>
            <a:ext cx="38704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8</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404465"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FC3F685F-1E2C-90C4-0957-490B18F3D3B6}"/>
              </a:ext>
            </a:extLst>
          </p:cNvPr>
          <p:cNvSpPr txBox="1"/>
          <p:nvPr/>
        </p:nvSpPr>
        <p:spPr>
          <a:xfrm>
            <a:off x="7475656" y="4685700"/>
            <a:ext cx="38704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6</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40843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Box 6">
            <a:extLst>
              <a:ext uri="{FF2B5EF4-FFF2-40B4-BE49-F238E27FC236}">
                <a16:creationId xmlns:a16="http://schemas.microsoft.com/office/drawing/2014/main" id="{D8DAF364-48D0-5165-C00E-6A52A81D6D8F}"/>
              </a:ext>
            </a:extLst>
          </p:cNvPr>
          <p:cNvSpPr txBox="1"/>
          <p:nvPr/>
        </p:nvSpPr>
        <p:spPr>
          <a:xfrm>
            <a:off x="10330212" y="4685700"/>
            <a:ext cx="79378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16</a:t>
            </a:r>
          </a:p>
        </p:txBody>
      </p:sp>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4E7822F4-23E3-86B4-DB75-32222A1FD7FD}"/>
              </a:ext>
            </a:extLst>
          </p:cNvPr>
          <p:cNvSpPr txBox="1">
            <a:spLocks/>
          </p:cNvSpPr>
          <p:nvPr/>
        </p:nvSpPr>
        <p:spPr>
          <a:xfrm>
            <a:off x="246024" y="1078787"/>
            <a:ext cx="11699952" cy="589366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Class 6W are going to an aquarium. The cost is </a:t>
            </a:r>
            <a:r>
              <a:rPr lang="en-US" sz="4000" b="1" dirty="0"/>
              <a:t>$35</a:t>
            </a:r>
            <a:r>
              <a:rPr lang="en-US" sz="4000" dirty="0"/>
              <a:t> per student for entry plus </a:t>
            </a:r>
            <a:r>
              <a:rPr lang="en-US" sz="4000" b="1" dirty="0"/>
              <a:t>$10 each</a:t>
            </a:r>
            <a:r>
              <a:rPr lang="en-US" sz="4000" dirty="0"/>
              <a:t> for a photograph with a seal. There are </a:t>
            </a:r>
            <a:r>
              <a:rPr lang="en-US" sz="4000" b="1" dirty="0"/>
              <a:t>30</a:t>
            </a:r>
            <a:r>
              <a:rPr lang="en-US" sz="4000" dirty="0"/>
              <a:t> students in 6W. </a:t>
            </a:r>
          </a:p>
          <a:p>
            <a:pPr algn="ctr"/>
            <a:r>
              <a:rPr lang="en-US" sz="4000" dirty="0"/>
              <a:t>What is the </a:t>
            </a:r>
            <a:r>
              <a:rPr lang="en-US" sz="4000" b="1" dirty="0"/>
              <a:t>total cost of the excursion </a:t>
            </a:r>
            <a:r>
              <a:rPr lang="en-US" sz="4000" dirty="0"/>
              <a:t>?</a:t>
            </a:r>
          </a:p>
          <a:p>
            <a:pPr algn="ctr"/>
            <a:r>
              <a:rPr lang="en-US" sz="4000" dirty="0"/>
              <a:t>Explain the </a:t>
            </a:r>
            <a:r>
              <a:rPr lang="en-US" sz="4000" b="1" dirty="0"/>
              <a:t>strategy</a:t>
            </a:r>
            <a:r>
              <a:rPr lang="en-US" sz="4000" dirty="0"/>
              <a:t> used to find a solution.</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236C80E6-7033-4E48-A0D0-DE2775E722A8}"/>
              </a:ext>
            </a:extLst>
          </p:cNvPr>
          <p:cNvSpPr txBox="1">
            <a:spLocks/>
          </p:cNvSpPr>
          <p:nvPr/>
        </p:nvSpPr>
        <p:spPr>
          <a:xfrm>
            <a:off x="474481" y="82207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Measure</a:t>
            </a:r>
            <a:r>
              <a:rPr lang="en-US" sz="4400"/>
              <a:t>, record and name the </a:t>
            </a:r>
            <a:r>
              <a:rPr lang="en-US" sz="4400" b="1"/>
              <a:t>angle</a:t>
            </a:r>
            <a:r>
              <a:rPr lang="en-US" sz="4400"/>
              <a:t>:</a:t>
            </a:r>
          </a:p>
        </p:txBody>
      </p:sp>
      <p:pic>
        <p:nvPicPr>
          <p:cNvPr id="5" name="Picture 4" descr="A semicircular protractor measuring an acute angle. One ray is aligned with the 0° mark, and the other ray points to the 70° mark on the inner scale, indicating the angle measures 70 degrees.">
            <a:extLst>
              <a:ext uri="{FF2B5EF4-FFF2-40B4-BE49-F238E27FC236}">
                <a16:creationId xmlns:a16="http://schemas.microsoft.com/office/drawing/2014/main" id="{F3676CF9-C2F7-03F3-062D-AC4D4D712BAC}"/>
              </a:ext>
            </a:extLst>
          </p:cNvPr>
          <p:cNvPicPr>
            <a:picLocks noChangeAspect="1"/>
          </p:cNvPicPr>
          <p:nvPr/>
        </p:nvPicPr>
        <p:blipFill>
          <a:blip r:embed="rId4"/>
          <a:stretch>
            <a:fillRect/>
          </a:stretch>
        </p:blipFill>
        <p:spPr>
          <a:xfrm>
            <a:off x="2404744" y="2127767"/>
            <a:ext cx="7161287" cy="4270492"/>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216464" y="0"/>
            <a:ext cx="915500" cy="915500"/>
          </a:xfrm>
          <a:prstGeom prst="rect">
            <a:avLst/>
          </a:prstGeom>
        </p:spPr>
      </p:pic>
      <p:pic>
        <p:nvPicPr>
          <p:cNvPr id="5" name="Picture 4" descr="A colourful column graph titled &quot;6W’s favourite hobbies&quot; showing the number of students for each hobby.&#10;&#10;Bike riding: 4 students (yellow)&#10;&#10;Soccer: 10 students (green)&#10;&#10;Crafting: 7 students (red)&#10;&#10;Bird watching: 4 students (orange)&#10;&#10;Bush walking: 5 students (purple)">
            <a:extLst>
              <a:ext uri="{FF2B5EF4-FFF2-40B4-BE49-F238E27FC236}">
                <a16:creationId xmlns:a16="http://schemas.microsoft.com/office/drawing/2014/main" id="{CD2B8A28-6281-E46D-886A-60A017686BFF}"/>
              </a:ext>
            </a:extLst>
          </p:cNvPr>
          <p:cNvPicPr>
            <a:picLocks noChangeAspect="1"/>
          </p:cNvPicPr>
          <p:nvPr/>
        </p:nvPicPr>
        <p:blipFill>
          <a:blip r:embed="rId4"/>
          <a:stretch>
            <a:fillRect/>
          </a:stretch>
        </p:blipFill>
        <p:spPr>
          <a:xfrm>
            <a:off x="360000" y="1314791"/>
            <a:ext cx="4382573" cy="5032847"/>
          </a:xfrm>
          <a:prstGeom prst="rect">
            <a:avLst/>
          </a:prstGeom>
          <a:effectLst>
            <a:outerShdw blurRad="63500" sx="102000" sy="102000" algn="ctr" rotWithShape="0">
              <a:prstClr val="black">
                <a:alpha val="40000"/>
              </a:prstClr>
            </a:outerShdw>
          </a:effectLst>
        </p:spPr>
      </p:pic>
      <p:sp>
        <p:nvSpPr>
          <p:cNvPr id="7" name="Text Placeholder 17">
            <a:extLst>
              <a:ext uri="{FF2B5EF4-FFF2-40B4-BE49-F238E27FC236}">
                <a16:creationId xmlns:a16="http://schemas.microsoft.com/office/drawing/2014/main" id="{1BD5632A-B3D7-4BC3-F3B1-8D9E83578080}"/>
              </a:ext>
            </a:extLst>
          </p:cNvPr>
          <p:cNvSpPr txBox="1">
            <a:spLocks/>
          </p:cNvSpPr>
          <p:nvPr/>
        </p:nvSpPr>
        <p:spPr>
          <a:xfrm>
            <a:off x="4690549" y="632800"/>
            <a:ext cx="7153451" cy="591766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dirty="0"/>
              <a:t>What is an appropriate vertical scale to represent the 6W’s data about their </a:t>
            </a:r>
            <a:r>
              <a:rPr lang="en-US" sz="3600" dirty="0" err="1"/>
              <a:t>favourite</a:t>
            </a:r>
            <a:r>
              <a:rPr lang="en-US" sz="3600" dirty="0"/>
              <a:t> hobby?</a:t>
            </a:r>
          </a:p>
          <a:p>
            <a:pPr marL="457200" lvl="1" indent="-457200" algn="ctr">
              <a:lnSpc>
                <a:spcPct val="100000"/>
              </a:lnSpc>
              <a:buFont typeface="Arial" panose="020B0604020202020204" pitchFamily="34" charset="0"/>
              <a:buChar char="•"/>
            </a:pPr>
            <a:r>
              <a:rPr lang="en-US" sz="2800" dirty="0"/>
              <a:t>bike riding - 5</a:t>
            </a:r>
          </a:p>
          <a:p>
            <a:pPr marL="457200" lvl="1" indent="-457200" algn="ctr">
              <a:lnSpc>
                <a:spcPct val="100000"/>
              </a:lnSpc>
              <a:buFont typeface="Arial" panose="020B0604020202020204" pitchFamily="34" charset="0"/>
              <a:buChar char="•"/>
            </a:pPr>
            <a:r>
              <a:rPr lang="en-US" sz="2800" dirty="0"/>
              <a:t>soccer - 12</a:t>
            </a:r>
          </a:p>
          <a:p>
            <a:pPr marL="457200" lvl="1" indent="-457200" algn="ctr">
              <a:lnSpc>
                <a:spcPct val="100000"/>
              </a:lnSpc>
              <a:buFont typeface="Arial" panose="020B0604020202020204" pitchFamily="34" charset="0"/>
              <a:buChar char="•"/>
            </a:pPr>
            <a:r>
              <a:rPr lang="en-US" sz="2800" dirty="0"/>
              <a:t>crafting - 9</a:t>
            </a:r>
          </a:p>
          <a:p>
            <a:pPr marL="457200" lvl="1" indent="-457200" algn="ctr">
              <a:lnSpc>
                <a:spcPct val="100000"/>
              </a:lnSpc>
              <a:buFont typeface="Arial" panose="020B0604020202020204" pitchFamily="34" charset="0"/>
              <a:buChar char="•"/>
            </a:pPr>
            <a:r>
              <a:rPr lang="en-US" sz="2800" dirty="0"/>
              <a:t>bird watching - 5</a:t>
            </a:r>
          </a:p>
          <a:p>
            <a:pPr marL="457200" lvl="1" indent="-457200" algn="ctr">
              <a:lnSpc>
                <a:spcPct val="100000"/>
              </a:lnSpc>
              <a:buFont typeface="Arial" panose="020B0604020202020204" pitchFamily="34" charset="0"/>
              <a:buChar char="•"/>
            </a:pPr>
            <a:r>
              <a:rPr lang="en-US" sz="2800" dirty="0"/>
              <a:t>bush walking - 6</a:t>
            </a:r>
          </a:p>
          <a:p>
            <a:pPr algn="ctr"/>
            <a:endParaRPr lang="en-US" sz="4400" dirty="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C7EFC79E-BBE7-FF87-F8DB-6A38A48DDD05}"/>
              </a:ext>
            </a:extLst>
          </p:cNvPr>
          <p:cNvSpPr txBox="1">
            <a:spLocks/>
          </p:cNvSpPr>
          <p:nvPr/>
        </p:nvSpPr>
        <p:spPr>
          <a:xfrm>
            <a:off x="360000" y="726473"/>
            <a:ext cx="11243037" cy="189418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Rosie catches the </a:t>
            </a:r>
            <a:r>
              <a:rPr lang="en-AU" sz="4000" b="1"/>
              <a:t>14:48 </a:t>
            </a:r>
            <a:r>
              <a:rPr lang="en-AU" sz="4000"/>
              <a:t>bus and gets off at </a:t>
            </a:r>
            <a:r>
              <a:rPr lang="en-AU" sz="4000" b="1"/>
              <a:t>15:30</a:t>
            </a:r>
            <a:r>
              <a:rPr lang="en-AU" sz="4000"/>
              <a:t>. Where is her start and end </a:t>
            </a:r>
            <a:r>
              <a:rPr lang="en-AU" sz="4000" b="1"/>
              <a:t>location</a:t>
            </a:r>
            <a:r>
              <a:rPr lang="en-AU" sz="4000"/>
              <a:t>?</a:t>
            </a:r>
          </a:p>
        </p:txBody>
      </p:sp>
      <p:pic>
        <p:nvPicPr>
          <p:cNvPr id="5" name="Picture 4" descr="A bus timetable displaying locations and departure times for Monday to Friday. ">
            <a:extLst>
              <a:ext uri="{FF2B5EF4-FFF2-40B4-BE49-F238E27FC236}">
                <a16:creationId xmlns:a16="http://schemas.microsoft.com/office/drawing/2014/main" id="{F226398B-626C-B1BA-C963-847A974D69B1}"/>
              </a:ext>
            </a:extLst>
          </p:cNvPr>
          <p:cNvPicPr>
            <a:picLocks noChangeAspect="1"/>
          </p:cNvPicPr>
          <p:nvPr/>
        </p:nvPicPr>
        <p:blipFill>
          <a:blip r:embed="rId4"/>
          <a:stretch>
            <a:fillRect/>
          </a:stretch>
        </p:blipFill>
        <p:spPr>
          <a:xfrm>
            <a:off x="50572" y="2836395"/>
            <a:ext cx="12045866" cy="3661605"/>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t>
            </a:r>
            <a:r>
              <a:rPr lang="en-AU">
                <a:latin typeface="Arial"/>
                <a:cs typeface="Arial"/>
              </a:rPr>
              <a:t>determine products and factors</a:t>
            </a:r>
            <a:endParaRPr lang="en-AU"/>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hundreds chart with 8 numbers crossed, 4 numbers for Student A, and 4 numbers for Student B.&#10;There is a 3 column table to the left indicating the numbers that Student A and Student B have crossed out, and students have noted whether that number is a factor or multiple.">
            <a:extLst>
              <a:ext uri="{FF2B5EF4-FFF2-40B4-BE49-F238E27FC236}">
                <a16:creationId xmlns:a16="http://schemas.microsoft.com/office/drawing/2014/main" id="{65D11B2E-88F6-A73F-BF90-C857515922DC}"/>
              </a:ext>
            </a:extLst>
          </p:cNvPr>
          <p:cNvPicPr>
            <a:picLocks noChangeAspect="1"/>
          </p:cNvPicPr>
          <p:nvPr/>
        </p:nvPicPr>
        <p:blipFill>
          <a:blip r:embed="rId4"/>
          <a:stretch>
            <a:fillRect/>
          </a:stretch>
        </p:blipFill>
        <p:spPr>
          <a:xfrm>
            <a:off x="1226833" y="1097258"/>
            <a:ext cx="10240170" cy="5711505"/>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5400" b="1"/>
              <a:t>48</a:t>
            </a:r>
            <a:r>
              <a:rPr lang="en-AU" sz="5400"/>
              <a:t> has 10 </a:t>
            </a:r>
            <a:r>
              <a:rPr lang="en-AU" sz="5400" b="1"/>
              <a:t>factors</a:t>
            </a:r>
            <a:r>
              <a:rPr lang="en-AU" sz="540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807222271"/>
              </p:ext>
            </p:extLst>
          </p:nvPr>
        </p:nvGraphicFramePr>
        <p:xfrm>
          <a:off x="2442980" y="414674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FA8F9507-2080-3B50-7400-403BD487A34B}"/>
                  </a:ext>
                </a:extLst>
              </p:cNvPr>
              <p:cNvSpPr txBox="1">
                <a:spLocks/>
              </p:cNvSpPr>
              <p:nvPr/>
            </p:nvSpPr>
            <p:spPr>
              <a:xfrm>
                <a:off x="474481" y="1184222"/>
                <a:ext cx="11243037" cy="533177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Write the equivalent fraction for the following divisions:</a:t>
                </a:r>
                <a:br>
                  <a:rPr lang="en-AU" sz="4400" dirty="0"/>
                </a:br>
                <a:r>
                  <a:rPr lang="en-AU" sz="4400" dirty="0"/>
                  <a:t>6 </a:t>
                </a:r>
                <a14:m>
                  <m:oMath xmlns:m="http://schemas.openxmlformats.org/officeDocument/2006/math">
                    <m:r>
                      <a:rPr lang="en-AU" sz="4400">
                        <a:latin typeface="Cambria Math" panose="02040503050406030204" pitchFamily="18" charset="0"/>
                      </a:rPr>
                      <m:t>÷</m:t>
                    </m:r>
                  </m:oMath>
                </a14:m>
                <a:r>
                  <a:rPr lang="en-AU" sz="4400" dirty="0"/>
                  <a:t> 8</a:t>
                </a:r>
              </a:p>
              <a:p>
                <a:pPr algn="ctr"/>
                <a:r>
                  <a:rPr lang="en-AU" sz="4400" dirty="0"/>
                  <a:t>4 </a:t>
                </a:r>
                <a14:m>
                  <m:oMath xmlns:m="http://schemas.openxmlformats.org/officeDocument/2006/math">
                    <m:r>
                      <a:rPr lang="en-AU" sz="4400">
                        <a:latin typeface="Cambria Math" panose="02040503050406030204" pitchFamily="18" charset="0"/>
                      </a:rPr>
                      <m:t>÷ </m:t>
                    </m:r>
                  </m:oMath>
                </a14:m>
                <a:r>
                  <a:rPr lang="en-AU" sz="4400" dirty="0"/>
                  <a:t>5</a:t>
                </a:r>
              </a:p>
              <a:p>
                <a:pPr algn="ctr"/>
                <a:r>
                  <a:rPr lang="en-AU" sz="4400" dirty="0"/>
                  <a:t>2 </a:t>
                </a:r>
                <a14:m>
                  <m:oMath xmlns:m="http://schemas.openxmlformats.org/officeDocument/2006/math">
                    <m:r>
                      <a:rPr lang="en-AU" sz="4400">
                        <a:latin typeface="Cambria Math" panose="02040503050406030204" pitchFamily="18" charset="0"/>
                      </a:rPr>
                      <m:t>÷ </m:t>
                    </m:r>
                  </m:oMath>
                </a14:m>
                <a:r>
                  <a:rPr lang="en-AU" sz="4400" dirty="0"/>
                  <a:t>7</a:t>
                </a:r>
              </a:p>
              <a:p>
                <a:pPr algn="ctr"/>
                <a:endParaRPr lang="en-AU" sz="4400" dirty="0"/>
              </a:p>
            </p:txBody>
          </p:sp>
        </mc:Choice>
        <mc:Fallback xmlns="">
          <p:sp>
            <p:nvSpPr>
              <p:cNvPr id="4" name="Text Placeholder 5">
                <a:extLst>
                  <a:ext uri="{FF2B5EF4-FFF2-40B4-BE49-F238E27FC236}">
                    <a16:creationId xmlns:a16="http://schemas.microsoft.com/office/drawing/2014/main" id="{FA8F9507-2080-3B50-7400-403BD487A34B}"/>
                  </a:ext>
                </a:extLst>
              </p:cNvPr>
              <p:cNvSpPr txBox="1">
                <a:spLocks noRot="1" noChangeAspect="1" noMove="1" noResize="1" noEditPoints="1" noAdjustHandles="1" noChangeArrowheads="1" noChangeShapeType="1" noTextEdit="1"/>
              </p:cNvSpPr>
              <p:nvPr/>
            </p:nvSpPr>
            <p:spPr>
              <a:xfrm>
                <a:off x="474481" y="1184222"/>
                <a:ext cx="11243037" cy="5331777"/>
              </a:xfrm>
              <a:prstGeom prst="rect">
                <a:avLst/>
              </a:prstGeom>
              <a:blipFill>
                <a:blip r:embed="rId4"/>
                <a:stretch>
                  <a:fillRect l="-1952" r="-3254" b="-4800"/>
                </a:stretch>
              </a:blipFill>
            </p:spPr>
            <p:txBody>
              <a:bodyPr/>
              <a:lstStyle/>
              <a:p>
                <a:r>
                  <a:rPr lang="en-AU">
                    <a:noFill/>
                  </a:rPr>
                  <a:t> </a:t>
                </a:r>
              </a:p>
            </p:txBody>
          </p:sp>
        </mc:Fallback>
      </mc:AlternateContent>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4" name="Table 3" descr="A timetable showing destinations and departure times.&#10;Sydney – 07:00&#10;Gosford – 08:30&#10;Newcastle – 10:00&#10;Gloucester – 12:00&#10;Wauchope – 14:30&#10;Kempsey – 15:30&#10;Coffs Harbour – 17:00&#10;Grafton – 18:15&#10;Casino – 19:45">
            <a:extLst>
              <a:ext uri="{FF2B5EF4-FFF2-40B4-BE49-F238E27FC236}">
                <a16:creationId xmlns:a16="http://schemas.microsoft.com/office/drawing/2014/main" id="{B75C8530-1C8D-AB54-43BB-C9760F108BEF}"/>
              </a:ext>
            </a:extLst>
          </p:cNvPr>
          <p:cNvGraphicFramePr>
            <a:graphicFrameLocks noGrp="1"/>
          </p:cNvGraphicFramePr>
          <p:nvPr>
            <p:extLst>
              <p:ext uri="{D42A27DB-BD31-4B8C-83A1-F6EECF244321}">
                <p14:modId xmlns:p14="http://schemas.microsoft.com/office/powerpoint/2010/main" val="1185329322"/>
              </p:ext>
            </p:extLst>
          </p:nvPr>
        </p:nvGraphicFramePr>
        <p:xfrm>
          <a:off x="182384" y="995770"/>
          <a:ext cx="5963857" cy="5610230"/>
        </p:xfrm>
        <a:graphic>
          <a:graphicData uri="http://schemas.openxmlformats.org/drawingml/2006/table">
            <a:tbl>
              <a:tblPr firstRow="1" firstCol="1" bandRow="1" bandCol="1">
                <a:tableStyleId>{72833802-FEF1-4C79-8D5D-14CF1EAF98D9}</a:tableStyleId>
              </a:tblPr>
              <a:tblGrid>
                <a:gridCol w="3188011">
                  <a:extLst>
                    <a:ext uri="{9D8B030D-6E8A-4147-A177-3AD203B41FA5}">
                      <a16:colId xmlns:a16="http://schemas.microsoft.com/office/drawing/2014/main" val="2586047668"/>
                    </a:ext>
                  </a:extLst>
                </a:gridCol>
                <a:gridCol w="2775846">
                  <a:extLst>
                    <a:ext uri="{9D8B030D-6E8A-4147-A177-3AD203B41FA5}">
                      <a16:colId xmlns:a16="http://schemas.microsoft.com/office/drawing/2014/main" val="3315753054"/>
                    </a:ext>
                  </a:extLst>
                </a:gridCol>
              </a:tblGrid>
              <a:tr h="415290">
                <a:tc>
                  <a:txBody>
                    <a:bodyPr/>
                    <a:lstStyle/>
                    <a:p>
                      <a:pPr algn="ctr">
                        <a:lnSpc>
                          <a:spcPct val="150000"/>
                        </a:lnSpc>
                        <a:spcBef>
                          <a:spcPts val="1200"/>
                        </a:spcBef>
                        <a:spcAft>
                          <a:spcPts val="600"/>
                        </a:spcAft>
                        <a:buNone/>
                      </a:pPr>
                      <a:r>
                        <a:rPr lang="en-AU" sz="2800">
                          <a:effectLst/>
                        </a:rPr>
                        <a:t>Destination</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Departure time</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38737633"/>
                  </a:ext>
                </a:extLst>
              </a:tr>
              <a:tr h="335915">
                <a:tc>
                  <a:txBody>
                    <a:bodyPr/>
                    <a:lstStyle/>
                    <a:p>
                      <a:pPr algn="ctr">
                        <a:lnSpc>
                          <a:spcPct val="150000"/>
                        </a:lnSpc>
                        <a:spcBef>
                          <a:spcPts val="1200"/>
                        </a:spcBef>
                        <a:spcAft>
                          <a:spcPts val="600"/>
                        </a:spcAft>
                        <a:buNone/>
                      </a:pPr>
                      <a:r>
                        <a:rPr lang="en-AU" sz="2800">
                          <a:effectLst/>
                        </a:rPr>
                        <a:t>Sydney</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07:00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77461187"/>
                  </a:ext>
                </a:extLst>
              </a:tr>
              <a:tr h="335915">
                <a:tc>
                  <a:txBody>
                    <a:bodyPr/>
                    <a:lstStyle/>
                    <a:p>
                      <a:pPr algn="ctr">
                        <a:lnSpc>
                          <a:spcPct val="150000"/>
                        </a:lnSpc>
                        <a:spcBef>
                          <a:spcPts val="1200"/>
                        </a:spcBef>
                        <a:spcAft>
                          <a:spcPts val="600"/>
                        </a:spcAft>
                        <a:buNone/>
                      </a:pPr>
                      <a:r>
                        <a:rPr lang="en-AU" sz="2800">
                          <a:effectLst/>
                        </a:rPr>
                        <a:t>Gosford</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08:30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36517630"/>
                  </a:ext>
                </a:extLst>
              </a:tr>
              <a:tr h="335915">
                <a:tc>
                  <a:txBody>
                    <a:bodyPr/>
                    <a:lstStyle/>
                    <a:p>
                      <a:pPr algn="ctr">
                        <a:lnSpc>
                          <a:spcPct val="150000"/>
                        </a:lnSpc>
                        <a:spcBef>
                          <a:spcPts val="1200"/>
                        </a:spcBef>
                        <a:spcAft>
                          <a:spcPts val="600"/>
                        </a:spcAft>
                        <a:buNone/>
                      </a:pPr>
                      <a:r>
                        <a:rPr lang="en-AU" sz="2800">
                          <a:effectLst/>
                        </a:rPr>
                        <a:t>Newcastle</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10:00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97946831"/>
                  </a:ext>
                </a:extLst>
              </a:tr>
              <a:tr h="346103">
                <a:tc>
                  <a:txBody>
                    <a:bodyPr/>
                    <a:lstStyle/>
                    <a:p>
                      <a:pPr algn="ctr">
                        <a:lnSpc>
                          <a:spcPct val="150000"/>
                        </a:lnSpc>
                        <a:spcBef>
                          <a:spcPts val="1200"/>
                        </a:spcBef>
                        <a:spcAft>
                          <a:spcPts val="600"/>
                        </a:spcAft>
                        <a:buNone/>
                      </a:pPr>
                      <a:r>
                        <a:rPr lang="en-AU" sz="2800">
                          <a:effectLst/>
                        </a:rPr>
                        <a:t>Gloucester</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12:00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40247332"/>
                  </a:ext>
                </a:extLst>
              </a:tr>
              <a:tr h="335915">
                <a:tc>
                  <a:txBody>
                    <a:bodyPr/>
                    <a:lstStyle/>
                    <a:p>
                      <a:pPr algn="ctr">
                        <a:lnSpc>
                          <a:spcPct val="150000"/>
                        </a:lnSpc>
                        <a:spcBef>
                          <a:spcPts val="1200"/>
                        </a:spcBef>
                        <a:spcAft>
                          <a:spcPts val="600"/>
                        </a:spcAft>
                        <a:buNone/>
                      </a:pPr>
                      <a:r>
                        <a:rPr lang="en-AU" sz="2800">
                          <a:effectLst/>
                        </a:rPr>
                        <a:t>Wauchope</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14:30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63946241"/>
                  </a:ext>
                </a:extLst>
              </a:tr>
              <a:tr h="335915">
                <a:tc>
                  <a:txBody>
                    <a:bodyPr/>
                    <a:lstStyle/>
                    <a:p>
                      <a:pPr algn="ctr">
                        <a:lnSpc>
                          <a:spcPct val="150000"/>
                        </a:lnSpc>
                        <a:spcBef>
                          <a:spcPts val="1200"/>
                        </a:spcBef>
                        <a:spcAft>
                          <a:spcPts val="600"/>
                        </a:spcAft>
                        <a:buNone/>
                      </a:pPr>
                      <a:r>
                        <a:rPr lang="en-AU" sz="2800">
                          <a:effectLst/>
                        </a:rPr>
                        <a:t>Kempsey</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15:30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45132253"/>
                  </a:ext>
                </a:extLst>
              </a:tr>
              <a:tr h="335915">
                <a:tc>
                  <a:txBody>
                    <a:bodyPr/>
                    <a:lstStyle/>
                    <a:p>
                      <a:pPr algn="ctr">
                        <a:lnSpc>
                          <a:spcPct val="150000"/>
                        </a:lnSpc>
                        <a:spcBef>
                          <a:spcPts val="1200"/>
                        </a:spcBef>
                        <a:spcAft>
                          <a:spcPts val="600"/>
                        </a:spcAft>
                        <a:buNone/>
                      </a:pPr>
                      <a:r>
                        <a:rPr lang="en-AU" sz="2800">
                          <a:effectLst/>
                        </a:rPr>
                        <a:t>Coffs Harbour</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17:00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8416385"/>
                  </a:ext>
                </a:extLst>
              </a:tr>
              <a:tr h="335915">
                <a:tc>
                  <a:txBody>
                    <a:bodyPr/>
                    <a:lstStyle/>
                    <a:p>
                      <a:pPr algn="ctr">
                        <a:lnSpc>
                          <a:spcPct val="150000"/>
                        </a:lnSpc>
                        <a:spcBef>
                          <a:spcPts val="1200"/>
                        </a:spcBef>
                        <a:spcAft>
                          <a:spcPts val="600"/>
                        </a:spcAft>
                        <a:buNone/>
                      </a:pPr>
                      <a:r>
                        <a:rPr lang="en-AU" sz="2800">
                          <a:effectLst/>
                        </a:rPr>
                        <a:t>Grafton</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18:15</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32618358"/>
                  </a:ext>
                </a:extLst>
              </a:tr>
              <a:tr h="335915">
                <a:tc>
                  <a:txBody>
                    <a:bodyPr/>
                    <a:lstStyle/>
                    <a:p>
                      <a:pPr algn="ctr">
                        <a:lnSpc>
                          <a:spcPct val="150000"/>
                        </a:lnSpc>
                        <a:spcBef>
                          <a:spcPts val="1200"/>
                        </a:spcBef>
                        <a:spcAft>
                          <a:spcPts val="600"/>
                        </a:spcAft>
                        <a:buNone/>
                      </a:pPr>
                      <a:r>
                        <a:rPr lang="en-AU" sz="2800">
                          <a:effectLst/>
                        </a:rPr>
                        <a:t>Casino</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600"/>
                        </a:spcAft>
                        <a:buNone/>
                      </a:pPr>
                      <a:r>
                        <a:rPr lang="en-AU" sz="2800">
                          <a:effectLst/>
                        </a:rPr>
                        <a:t>19:45</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90328389"/>
                  </a:ext>
                </a:extLst>
              </a:tr>
            </a:tbl>
          </a:graphicData>
        </a:graphic>
      </p:graphicFrame>
      <p:sp>
        <p:nvSpPr>
          <p:cNvPr id="5" name="Text Placeholder 5">
            <a:extLst>
              <a:ext uri="{FF2B5EF4-FFF2-40B4-BE49-F238E27FC236}">
                <a16:creationId xmlns:a16="http://schemas.microsoft.com/office/drawing/2014/main" id="{357485BB-3108-9106-7CC2-48F767DA22F3}"/>
              </a:ext>
            </a:extLst>
          </p:cNvPr>
          <p:cNvSpPr txBox="1">
            <a:spLocks/>
          </p:cNvSpPr>
          <p:nvPr/>
        </p:nvSpPr>
        <p:spPr>
          <a:xfrm>
            <a:off x="6449449" y="1031677"/>
            <a:ext cx="5008826" cy="505315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Nichole caught the train from </a:t>
            </a:r>
            <a:r>
              <a:rPr lang="en-AU" sz="4400" b="1"/>
              <a:t>Gosford</a:t>
            </a:r>
            <a:r>
              <a:rPr lang="en-AU" sz="4400"/>
              <a:t> to </a:t>
            </a:r>
            <a:r>
              <a:rPr lang="en-AU" sz="4400" b="1"/>
              <a:t>Grafton</a:t>
            </a:r>
            <a:r>
              <a:rPr lang="en-AU" sz="4400"/>
              <a:t>. How </a:t>
            </a:r>
            <a:r>
              <a:rPr lang="en-AU" sz="4400" b="1"/>
              <a:t>long</a:t>
            </a:r>
            <a:r>
              <a:rPr lang="en-AU" sz="4400"/>
              <a:t> was she on the train?</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387468A-65B4-9F38-B728-D1774C73AB18}"/>
              </a:ext>
            </a:extLst>
          </p:cNvPr>
          <p:cNvSpPr txBox="1"/>
          <p:nvPr/>
        </p:nvSpPr>
        <p:spPr>
          <a:xfrm>
            <a:off x="654075" y="1929099"/>
            <a:ext cx="10883850" cy="3313664"/>
          </a:xfrm>
          <a:prstGeom prst="rect">
            <a:avLst/>
          </a:prstGeom>
          <a:noFill/>
        </p:spPr>
        <p:txBody>
          <a:bodyPr wrap="square">
            <a:spAutoFit/>
          </a:bodyPr>
          <a:lstStyle/>
          <a:p>
            <a:pPr algn="ctr">
              <a:lnSpc>
                <a:spcPct val="150000"/>
              </a:lnSpc>
            </a:pPr>
            <a:r>
              <a:rPr lang="en-AU" sz="3600" dirty="0"/>
              <a:t>A class survey shows the number of books students read in a month: 4, 6, 5, 8, 7, 5, 6, 4. Identify a suitable </a:t>
            </a:r>
            <a:r>
              <a:rPr lang="en-AU" sz="3600" b="1" dirty="0"/>
              <a:t>scale</a:t>
            </a:r>
            <a:r>
              <a:rPr lang="en-AU" sz="3600" dirty="0"/>
              <a:t> for the </a:t>
            </a:r>
            <a:r>
              <a:rPr lang="en-AU" sz="3600" b="1" dirty="0"/>
              <a:t>vertical axis</a:t>
            </a:r>
            <a:r>
              <a:rPr lang="en-AU" sz="3600" dirty="0"/>
              <a:t>. </a:t>
            </a:r>
          </a:p>
          <a:p>
            <a:pPr algn="ctr">
              <a:lnSpc>
                <a:spcPct val="150000"/>
              </a:lnSpc>
            </a:pPr>
            <a:r>
              <a:rPr lang="en-AU" sz="3600" b="1" dirty="0"/>
              <a:t>Explain</a:t>
            </a:r>
            <a:r>
              <a:rPr lang="en-AU" sz="3600" dirty="0"/>
              <a:t> why your </a:t>
            </a:r>
            <a:r>
              <a:rPr lang="en-AU" sz="3600" b="1" dirty="0"/>
              <a:t>chosen scale </a:t>
            </a:r>
            <a:r>
              <a:rPr lang="en-AU" sz="3600" dirty="0"/>
              <a:t>is appropriate.</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set of four diagrams showing angles being measured with protractors.&#10;&#10;Top left: A semicircular protractor measuring an acute angle of 40°.&#10;&#10;Top right: A circular protractor measuring an acute angle of 40°.&#10;&#10;Bottom left: A semicircular protractor measuring a right angle of 90°.&#10;&#10;Bottom right: A circular protractor measuring a right angle of 90°.">
            <a:extLst>
              <a:ext uri="{FF2B5EF4-FFF2-40B4-BE49-F238E27FC236}">
                <a16:creationId xmlns:a16="http://schemas.microsoft.com/office/drawing/2014/main" id="{6D2750DE-5166-B438-C467-081C908A5E68}"/>
              </a:ext>
            </a:extLst>
          </p:cNvPr>
          <p:cNvPicPr>
            <a:picLocks noChangeAspect="1"/>
          </p:cNvPicPr>
          <p:nvPr/>
        </p:nvPicPr>
        <p:blipFill>
          <a:blip r:embed="rId4"/>
          <a:stretch>
            <a:fillRect/>
          </a:stretch>
        </p:blipFill>
        <p:spPr>
          <a:xfrm>
            <a:off x="120817" y="1395438"/>
            <a:ext cx="6072655" cy="4834541"/>
          </a:xfrm>
          <a:prstGeom prst="rect">
            <a:avLst/>
          </a:prstGeom>
          <a:effectLst/>
        </p:spPr>
      </p:pic>
      <p:sp>
        <p:nvSpPr>
          <p:cNvPr id="7" name="Text Placeholder 17">
            <a:extLst>
              <a:ext uri="{FF2B5EF4-FFF2-40B4-BE49-F238E27FC236}">
                <a16:creationId xmlns:a16="http://schemas.microsoft.com/office/drawing/2014/main" id="{CD07CA95-2AE1-F6AE-9F20-23C93C521AEB}"/>
              </a:ext>
            </a:extLst>
          </p:cNvPr>
          <p:cNvSpPr txBox="1">
            <a:spLocks/>
          </p:cNvSpPr>
          <p:nvPr/>
        </p:nvSpPr>
        <p:spPr>
          <a:xfrm>
            <a:off x="6361505" y="1685158"/>
            <a:ext cx="5337889" cy="385148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Use the </a:t>
            </a:r>
            <a:r>
              <a:rPr lang="en-US" sz="4400" b="1"/>
              <a:t>protractors</a:t>
            </a:r>
            <a:r>
              <a:rPr lang="en-US" sz="4400"/>
              <a:t> to </a:t>
            </a:r>
            <a:r>
              <a:rPr lang="en-US" sz="4400" b="1"/>
              <a:t>measure</a:t>
            </a:r>
            <a:r>
              <a:rPr lang="en-US" sz="4400"/>
              <a:t> and </a:t>
            </a:r>
            <a:r>
              <a:rPr lang="en-US" sz="4400" b="1"/>
              <a:t>identify</a:t>
            </a:r>
            <a:r>
              <a:rPr lang="en-US" sz="4400"/>
              <a:t> the </a:t>
            </a:r>
            <a:r>
              <a:rPr lang="en-US" sz="4400" b="1"/>
              <a:t>angles</a:t>
            </a:r>
            <a:r>
              <a:rPr lang="en-US" sz="4400"/>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finding factors </a:t>
            </a:r>
            <a:r>
              <a:rPr lang="en-AU">
                <a:solidFill>
                  <a:schemeClr val="bg1"/>
                </a:solidFill>
              </a:rPr>
              <a:t>(1)</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534F9B90-2FC2-B7AD-0735-E9D1BCF1A951}"/>
              </a:ext>
            </a:extLst>
          </p:cNvPr>
          <p:cNvSpPr txBox="1"/>
          <p:nvPr/>
        </p:nvSpPr>
        <p:spPr>
          <a:xfrm>
            <a:off x="5315310" y="2644170"/>
            <a:ext cx="1982637" cy="1569660"/>
          </a:xfrm>
          <a:prstGeom prst="rect">
            <a:avLst/>
          </a:prstGeom>
          <a:noFill/>
        </p:spPr>
        <p:txBody>
          <a:bodyPr wrap="square">
            <a:spAutoFit/>
          </a:bodyPr>
          <a:lstStyle/>
          <a:p>
            <a:r>
              <a:rPr lang="en-AU" sz="9600" b="0" i="0" u="none" strike="noStrike">
                <a:solidFill>
                  <a:srgbClr val="22272B"/>
                </a:solidFill>
                <a:effectLst/>
              </a:rPr>
              <a:t>36</a:t>
            </a:r>
            <a:endParaRPr lang="en-AU" sz="960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B914-4BEF-5895-49A3-B9BE7C148B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784C7A7-2D91-98E0-D168-205C6D20B823}"/>
              </a:ext>
            </a:extLst>
          </p:cNvPr>
          <p:cNvSpPr>
            <a:spLocks noGrp="1"/>
          </p:cNvSpPr>
          <p:nvPr>
            <p:ph type="title"/>
          </p:nvPr>
        </p:nvSpPr>
        <p:spPr>
          <a:xfrm>
            <a:off x="360000" y="360000"/>
            <a:ext cx="10367268" cy="545601"/>
          </a:xfrm>
        </p:spPr>
        <p:txBody>
          <a:bodyPr/>
          <a:lstStyle/>
          <a:p>
            <a:r>
              <a:rPr lang="en-AU"/>
              <a:t>Activity 8 – finding factors </a:t>
            </a:r>
            <a:r>
              <a:rPr lang="en-AU">
                <a:solidFill>
                  <a:schemeClr val="bg1"/>
                </a:solidFill>
              </a:rPr>
              <a:t>(2)</a:t>
            </a:r>
          </a:p>
        </p:txBody>
      </p:sp>
      <p:sp>
        <p:nvSpPr>
          <p:cNvPr id="2" name="Slide Number Placeholder 1">
            <a:extLst>
              <a:ext uri="{FF2B5EF4-FFF2-40B4-BE49-F238E27FC236}">
                <a16:creationId xmlns:a16="http://schemas.microsoft.com/office/drawing/2014/main" id="{D9AD1C03-F897-95F9-CE23-856A77CE135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4" name="Picture 3" descr="image of a head with cogs turning inside">
            <a:extLst>
              <a:ext uri="{FF2B5EF4-FFF2-40B4-BE49-F238E27FC236}">
                <a16:creationId xmlns:a16="http://schemas.microsoft.com/office/drawing/2014/main" id="{E8EBF46D-3788-2476-C27A-1F4574C3F4C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9E30CA1C-97CD-E012-408E-473A4ED030B5}"/>
              </a:ext>
            </a:extLst>
          </p:cNvPr>
          <p:cNvSpPr txBox="1"/>
          <p:nvPr/>
        </p:nvSpPr>
        <p:spPr>
          <a:xfrm>
            <a:off x="5315310" y="2644170"/>
            <a:ext cx="1982637" cy="1569660"/>
          </a:xfrm>
          <a:prstGeom prst="rect">
            <a:avLst/>
          </a:prstGeom>
          <a:noFill/>
        </p:spPr>
        <p:txBody>
          <a:bodyPr wrap="square">
            <a:spAutoFit/>
          </a:bodyPr>
          <a:lstStyle/>
          <a:p>
            <a:r>
              <a:rPr lang="en-AU" sz="9600">
                <a:solidFill>
                  <a:srgbClr val="22272B"/>
                </a:solidFill>
              </a:rPr>
              <a:t>5</a:t>
            </a:r>
            <a:r>
              <a:rPr lang="en-AU" sz="9600" b="0" i="0" u="none" strike="noStrike">
                <a:solidFill>
                  <a:srgbClr val="22272B"/>
                </a:solidFill>
                <a:effectLst/>
              </a:rPr>
              <a:t>6</a:t>
            </a:r>
            <a:endParaRPr lang="en-AU" sz="9600"/>
          </a:p>
        </p:txBody>
      </p:sp>
    </p:spTree>
    <p:extLst>
      <p:ext uri="{BB962C8B-B14F-4D97-AF65-F5344CB8AC3E}">
        <p14:creationId xmlns:p14="http://schemas.microsoft.com/office/powerpoint/2010/main" val="151363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68</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a:hlinkClick r:id="rId3"/>
              </a:rPr>
              <a:t>Mathematics K-10 </a:t>
            </a:r>
            <a:r>
              <a:rPr lang="en-AU">
                <a:latin typeface="Public Sans Light" pitchFamily="2" charset="0"/>
              </a:rPr>
              <a:t>© </a:t>
            </a:r>
            <a:r>
              <a:rPr lang="en-AU"/>
              <a:t>Syllabus NSW Education Standards Authority (NESA) for and on behalf of the Crown in right of the State of New South Wales, 2022.</a:t>
            </a:r>
          </a:p>
          <a:p>
            <a:r>
              <a:rPr lang="en-AU"/>
              <a:t>Math Salamanders Limited (2010-2024) </a:t>
            </a:r>
            <a:r>
              <a:rPr lang="en-AU">
                <a:hlinkClick r:id="rId4"/>
              </a:rPr>
              <a:t>Salamander Shoot Out </a:t>
            </a:r>
            <a:r>
              <a:rPr lang="en-AU"/>
              <a:t>from Math Salamanders, accessed 13 June 2024. </a:t>
            </a:r>
          </a:p>
          <a:p>
            <a:r>
              <a:rPr lang="en-AU" err="1"/>
              <a:t>MMMathMania</a:t>
            </a:r>
            <a:r>
              <a:rPr lang="en-AU"/>
              <a:t> (2021) </a:t>
            </a:r>
            <a:r>
              <a:rPr lang="en-AU">
                <a:hlinkClick r:id="rId5"/>
              </a:rPr>
              <a:t>Place Value Pickle: Decimals </a:t>
            </a:r>
            <a:r>
              <a:rPr lang="en-AU"/>
              <a:t>from </a:t>
            </a:r>
            <a:r>
              <a:rPr lang="en-AU" err="1"/>
              <a:t>MMMathMania</a:t>
            </a:r>
            <a:r>
              <a:rPr lang="en-AU"/>
              <a:t> website, accessed 13 June 2024. </a:t>
            </a:r>
          </a:p>
          <a:p>
            <a:r>
              <a:rPr lang="en-AU"/>
              <a:t>Michael Minas (2024) </a:t>
            </a:r>
            <a:r>
              <a:rPr lang="en-AU">
                <a:hlinkClick r:id="rId6"/>
              </a:rPr>
              <a:t>Greater than </a:t>
            </a:r>
            <a:r>
              <a:rPr lang="en-AU"/>
              <a:t>from Love maths website, accessed 13 June 2024.</a:t>
            </a:r>
          </a:p>
          <a:p>
            <a:r>
              <a:rPr lang="en-AU"/>
              <a:t>Toy Theatre (2001-2024) interactive dice, Toy Theatre website, accessed 13 June 2024.</a:t>
            </a:r>
          </a:p>
          <a:p>
            <a:r>
              <a:rPr lang="en-AU"/>
              <a:t>University of Cambridge (Faculty of Mathematics) (1997–2023) </a:t>
            </a:r>
            <a:r>
              <a:rPr lang="en-AU">
                <a:hlinkClick r:id="rId7"/>
              </a:rPr>
              <a:t>Factors and Multiples </a:t>
            </a:r>
            <a:r>
              <a:rPr lang="en-AU"/>
              <a:t>NRICH website, accessed 13 June 2024. </a:t>
            </a:r>
          </a:p>
          <a:p>
            <a:r>
              <a:rPr lang="en-AU"/>
              <a:t>University of Cambridge (Faculty of Mathematics) (1997–2023) </a:t>
            </a:r>
            <a:r>
              <a:rPr lang="en-AU">
                <a:hlinkClick r:id="rId8"/>
              </a:rPr>
              <a:t>What’s in the box? </a:t>
            </a:r>
            <a:r>
              <a:rPr lang="en-AU"/>
              <a:t>NRICH maths website, accessed 13 June 2024.</a:t>
            </a:r>
          </a:p>
          <a:p>
            <a:r>
              <a:rPr lang="en-AU"/>
              <a:t>University of Cambridge (Faculty of Mathematics) (2023) ‘</a:t>
            </a:r>
            <a:r>
              <a:rPr lang="en-AU">
                <a:hlinkClick r:id="rId9"/>
              </a:rPr>
              <a:t>Factors and Multiples Game</a:t>
            </a:r>
            <a:r>
              <a:rPr lang="en-AU"/>
              <a:t>’, NRICH website, accessed 30 May 2025.</a:t>
            </a:r>
          </a:p>
          <a:p>
            <a:endParaRPr lang="en-AU"/>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2">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89589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12456F-82DE-4D96-9D96-58E29535C0BD}">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555570-2BD4-426B-AA32-0A79CB6508A8}">
  <ds:schemaRefs>
    <ds:schemaRef ds:uri="http://schemas.openxmlformats.org/package/2006/metadata/core-properties"/>
    <ds:schemaRef ds:uri="7e763d47-3c66-4c58-9425-1477fd3ccd1e"/>
    <ds:schemaRef ds:uri="http://www.w3.org/XML/1998/namespace"/>
    <ds:schemaRef ds:uri="http://purl.org/dc/dcmitype/"/>
    <ds:schemaRef ds:uri="http://schemas.microsoft.com/office/2006/documentManagement/types"/>
    <ds:schemaRef ds:uri="http://schemas.microsoft.com/office/infopath/2007/PartnerControls"/>
    <ds:schemaRef ds:uri="http://purl.org/dc/terms/"/>
    <ds:schemaRef ds:uri="http://purl.org/dc/elements/1.1/"/>
    <ds:schemaRef ds:uri="60129b06-f64b-40a8-96e2-c5b2f86112b1"/>
    <ds:schemaRef ds:uri="http://schemas.microsoft.com/office/2006/metadata/properties"/>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Template>
  <TotalTime>72</TotalTime>
  <Words>7276</Words>
  <Application>Microsoft Office PowerPoint</Application>
  <PresentationFormat>Widescreen</PresentationFormat>
  <Paragraphs>929</Paragraphs>
  <Slides>70</Slides>
  <Notes>70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70</vt:i4>
      </vt:variant>
    </vt:vector>
  </HeadingPairs>
  <TitlesOfParts>
    <vt:vector size="81" baseType="lpstr">
      <vt:lpstr>Calibri</vt:lpstr>
      <vt:lpstr>Courier New</vt:lpstr>
      <vt:lpstr>Arial</vt:lpstr>
      <vt:lpstr>Cambria Math</vt:lpstr>
      <vt:lpstr>Times New Roman</vt:lpstr>
      <vt:lpstr>Wingdings</vt:lpstr>
      <vt:lpstr>Public Sans</vt:lpstr>
      <vt:lpstr>Public Sans Light</vt:lpstr>
      <vt:lpstr>Montserrat</vt:lpstr>
      <vt:lpstr>Canva Student Font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compare and order decimals</vt:lpstr>
      <vt:lpstr>Review of learning 2</vt:lpstr>
      <vt:lpstr>True or false (1)</vt:lpstr>
      <vt:lpstr>Short response (5)</vt:lpstr>
      <vt:lpstr>Short response (6)</vt:lpstr>
      <vt:lpstr>Short response (7)</vt:lpstr>
      <vt:lpstr>Short response (8)</vt:lpstr>
      <vt:lpstr>Activity 2 – decimals in descending order</vt:lpstr>
      <vt:lpstr>Review of learning 3</vt:lpstr>
      <vt:lpstr>Multiple choice (2)</vt:lpstr>
      <vt:lpstr>Short response (9)</vt:lpstr>
      <vt:lpstr>Short response (10)</vt:lpstr>
      <vt:lpstr>Short response (11)</vt:lpstr>
      <vt:lpstr>Short response (12)</vt:lpstr>
      <vt:lpstr>Activity 3 – decimals in ascending order</vt:lpstr>
      <vt:lpstr>Review of learning 4</vt:lpstr>
      <vt:lpstr>True or false (2)</vt:lpstr>
      <vt:lpstr>Short response (13)</vt:lpstr>
      <vt:lpstr>Short response (14)</vt:lpstr>
      <vt:lpstr>Short response (15)</vt:lpstr>
      <vt:lpstr>Short response (16)</vt:lpstr>
      <vt:lpstr>Activity 4 – the smallest number</vt:lpstr>
      <vt:lpstr>Review of learning 5</vt:lpstr>
      <vt:lpstr>Multiple choice (3)</vt:lpstr>
      <vt:lpstr>Short response (17)</vt:lpstr>
      <vt:lpstr>Short response (18)</vt:lpstr>
      <vt:lpstr>Short response (19)</vt:lpstr>
      <vt:lpstr>Short response (20)</vt:lpstr>
      <vt:lpstr>Activity 5 – mystery factors</vt:lpstr>
      <vt:lpstr>Review of learning 6</vt:lpstr>
      <vt:lpstr>True or false (3)</vt:lpstr>
      <vt:lpstr>Short response (21)</vt:lpstr>
      <vt:lpstr>Short response (22)</vt:lpstr>
      <vt:lpstr>Short response (23)</vt:lpstr>
      <vt:lpstr>Short response (24)</vt:lpstr>
      <vt:lpstr>Activity 6 – determining factors (1)</vt:lpstr>
      <vt:lpstr>Activity 6 – determining factors (2)</vt:lpstr>
      <vt:lpstr>Review of learning 7</vt:lpstr>
      <vt:lpstr>Multiple choice (4)</vt:lpstr>
      <vt:lpstr>Short response (25)</vt:lpstr>
      <vt:lpstr>Short response (26)</vt:lpstr>
      <vt:lpstr>Short response (27)</vt:lpstr>
      <vt:lpstr>Short response (28)</vt:lpstr>
      <vt:lpstr>Activity 7 – determine products and factors</vt:lpstr>
      <vt:lpstr>Review of learning 8</vt:lpstr>
      <vt:lpstr>True or false (4)</vt:lpstr>
      <vt:lpstr>Short response (29)</vt:lpstr>
      <vt:lpstr>Short response (30)</vt:lpstr>
      <vt:lpstr>Short response (31)</vt:lpstr>
      <vt:lpstr>Short response (32)</vt:lpstr>
      <vt:lpstr>Activity 8 – finding factors (1)</vt:lpstr>
      <vt:lpstr>Activity 8 – finding factors (2)</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Evelyn Plunkett</dc:creator>
  <cp:keywords/>
  <dc:description/>
  <cp:lastModifiedBy>Daniel Archer</cp:lastModifiedBy>
  <cp:revision>5</cp:revision>
  <dcterms:created xsi:type="dcterms:W3CDTF">2025-08-07T07:38:50Z</dcterms:created>
  <dcterms:modified xsi:type="dcterms:W3CDTF">2025-09-14T23:48:22Z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