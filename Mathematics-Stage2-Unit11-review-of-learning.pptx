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9"/>
  </p:notesMasterIdLst>
  <p:handoutMasterIdLst>
    <p:handoutMasterId r:id="rId80"/>
  </p:handoutMasterIdLst>
  <p:sldIdLst>
    <p:sldId id="365" r:id="rId5"/>
    <p:sldId id="26505" r:id="rId6"/>
    <p:sldId id="26359" r:id="rId7"/>
    <p:sldId id="271" r:id="rId8"/>
    <p:sldId id="26577" r:id="rId9"/>
    <p:sldId id="358" r:id="rId10"/>
    <p:sldId id="26580" r:id="rId11"/>
    <p:sldId id="26581" r:id="rId12"/>
    <p:sldId id="26582" r:id="rId13"/>
    <p:sldId id="26576" r:id="rId14"/>
    <p:sldId id="26448" r:id="rId15"/>
    <p:sldId id="26583" r:id="rId16"/>
    <p:sldId id="26586" r:id="rId17"/>
    <p:sldId id="26587" r:id="rId18"/>
    <p:sldId id="26588" r:id="rId19"/>
    <p:sldId id="26589" r:id="rId20"/>
    <p:sldId id="26590" r:id="rId21"/>
    <p:sldId id="26591" r:id="rId22"/>
    <p:sldId id="26592" r:id="rId23"/>
    <p:sldId id="26593" r:id="rId24"/>
    <p:sldId id="26596" r:id="rId25"/>
    <p:sldId id="26597" r:id="rId26"/>
    <p:sldId id="26598" r:id="rId27"/>
    <p:sldId id="26599" r:id="rId28"/>
    <p:sldId id="26600" r:id="rId29"/>
    <p:sldId id="26601" r:id="rId30"/>
    <p:sldId id="26604" r:id="rId31"/>
    <p:sldId id="26605" r:id="rId32"/>
    <p:sldId id="26606" r:id="rId33"/>
    <p:sldId id="26607" r:id="rId34"/>
    <p:sldId id="26608" r:id="rId35"/>
    <p:sldId id="26609" r:id="rId36"/>
    <p:sldId id="26610" r:id="rId37"/>
    <p:sldId id="26611"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54" r:id="rId52"/>
    <p:sldId id="26632" r:id="rId53"/>
    <p:sldId id="26633" r:id="rId54"/>
    <p:sldId id="26634" r:id="rId55"/>
    <p:sldId id="26635" r:id="rId56"/>
    <p:sldId id="26636" r:id="rId57"/>
    <p:sldId id="26650" r:id="rId58"/>
    <p:sldId id="26651" r:id="rId59"/>
    <p:sldId id="26637" r:id="rId60"/>
    <p:sldId id="26640" r:id="rId61"/>
    <p:sldId id="26641" r:id="rId62"/>
    <p:sldId id="26642" r:id="rId63"/>
    <p:sldId id="26643" r:id="rId64"/>
    <p:sldId id="26644" r:id="rId65"/>
    <p:sldId id="26645" r:id="rId66"/>
    <p:sldId id="26652" r:id="rId67"/>
    <p:sldId id="26653" r:id="rId68"/>
    <p:sldId id="26393" r:id="rId69"/>
    <p:sldId id="26387" r:id="rId70"/>
    <p:sldId id="26395" r:id="rId71"/>
    <p:sldId id="26391" r:id="rId72"/>
    <p:sldId id="26402" r:id="rId73"/>
    <p:sldId id="26507" r:id="rId74"/>
    <p:sldId id="26649" r:id="rId75"/>
    <p:sldId id="360" r:id="rId76"/>
    <p:sldId id="26655" r:id="rId77"/>
    <p:sldId id="361" r:id="rId78"/>
  </p:sldIdLst>
  <p:sldSz cx="12192000" cy="6858000"/>
  <p:notesSz cx="6858000" cy="9144000"/>
  <p:embeddedFontLst>
    <p:embeddedFont>
      <p:font typeface="Edu NSW ACT Foundation" panose="020B0604020202020204" charset="0"/>
      <p:regular r:id="rId81"/>
      <p:bold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
      <p:font typeface="Segoe Fluent Icons" panose="050A0102010101010101" pitchFamily="18" charset="0"/>
      <p:regular r:id="rId93"/>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 id="26448"/>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54"/>
            <p14:sldId id="26632"/>
            <p14:sldId id="26633"/>
            <p14:sldId id="26634"/>
            <p14:sldId id="26635"/>
            <p14:sldId id="26636"/>
            <p14:sldId id="26650"/>
            <p14:sldId id="26651"/>
          </p14:sldIdLst>
        </p14:section>
        <p14:section name="Review of learning 8" id="{6FF8F7EC-803E-4F84-BA41-6B3ED673D597}">
          <p14:sldIdLst>
            <p14:sldId id="26637"/>
            <p14:sldId id="26640"/>
            <p14:sldId id="26641"/>
            <p14:sldId id="26642"/>
            <p14:sldId id="26643"/>
            <p14:sldId id="26644"/>
            <p14:sldId id="26645"/>
            <p14:sldId id="26652"/>
            <p14:sldId id="26653"/>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5"/>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8C6D2936-6756-1476-1E4B-4B33D1F539E1}" name="Carrie Webeck" initials="CW" userId="S::carrie-ann.webeck@det.nsw.edu.au::e5c4b697-ca15-4f3a-a906-1289ddc2fc07"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153A"/>
    <a:srgbClr val="EB6A00"/>
    <a:srgbClr val="009AA4"/>
    <a:srgbClr val="FFB400"/>
    <a:srgbClr val="EE6314"/>
    <a:srgbClr val="EBEBEB"/>
    <a:srgbClr val="B533DD"/>
    <a:srgbClr val="E3B1F2"/>
    <a:srgbClr val="D9589A"/>
    <a:srgbClr val="EA9B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5243" autoAdjust="0"/>
  </p:normalViewPr>
  <p:slideViewPr>
    <p:cSldViewPr snapToGrid="0">
      <p:cViewPr varScale="1">
        <p:scale>
          <a:sx n="22" d="100"/>
          <a:sy n="22" d="100"/>
        </p:scale>
        <p:origin x="1056" y="36"/>
      </p:cViewPr>
      <p:guideLst>
        <p:guide orient="horz" pos="2160"/>
        <p:guide pos="3863"/>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font" Target="fonts/font10.fntdata"/><Relationship Id="rId95"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handoutMaster" Target="handoutMasters/handoutMaster1.xml"/><Relationship Id="rId85"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2.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7.fntdata"/><Relationship Id="rId61" Type="http://schemas.openxmlformats.org/officeDocument/2006/relationships/slide" Target="slides/slide57.xml"/><Relationship Id="rId82" Type="http://schemas.openxmlformats.org/officeDocument/2006/relationships/font" Target="fonts/font2.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3.fntdata"/><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11</a:t>
            </a:r>
          </a:p>
          <a:p>
            <a:pPr marL="285750" indent="-285750">
              <a:buFont typeface="Arial" panose="020B0604020202020204" pitchFamily="34" charset="0"/>
              <a:buChar char="•"/>
            </a:pPr>
            <a:r>
              <a:rPr lang="en-AU"/>
              <a:t>Stage 2 Year A Unit 10</a:t>
            </a:r>
          </a:p>
          <a:p>
            <a:pPr marL="285750" indent="-285750">
              <a:buFont typeface="Arial" panose="020B0604020202020204" pitchFamily="34" charset="0"/>
              <a:buChar char="•"/>
            </a:pPr>
            <a:r>
              <a:rPr lang="en-AU"/>
              <a:t>Stage 2 Year A Unit 9</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titles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Multiplicative relations A</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b="1"/>
          </a:p>
          <a:p>
            <a:r>
              <a:rPr lang="en-AU" b="1"/>
              <a:t>5 times as many</a:t>
            </a:r>
          </a:p>
          <a:p>
            <a:r>
              <a:rPr lang="en-AU" b="0"/>
              <a:t>This resource corresponds to Resource 20 – prove it! in Stage 2 Year A Unit 11.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to students.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Independently or in pairs, students work on individual whiteboards to determine how many seeds the farmer planted. They use this to decide which student’s statement is 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use diagrams, words or symbols to record their answer.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if the answer was 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record your thinking?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there another way of working it out?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(Next slide) Repeat these steps for the following scenarios: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teacher gives out 4 stickers before lunch. She gives out 5 times as many stickers after lunch. How many stickers does she hand out?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 baker bakes 10 cupcakes in the morning. He bakes 5 times as many cupcakes in the afternoon. How many cupcakes does he bake that day? </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a:t>This is a developing number sense activity. </a:t>
            </a:r>
          </a:p>
          <a:p>
            <a:endParaRPr lang="en-AU" sz="1800"/>
          </a:p>
          <a:p>
            <a:r>
              <a:rPr lang="en-AU" sz="180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a:p>
          <a:p>
            <a:r>
              <a:rPr lang="en-AU" sz="1800" b="1"/>
              <a:t>Syllabus focus area:</a:t>
            </a:r>
          </a:p>
          <a:p>
            <a:r>
              <a:rPr lang="en-AU" sz="1800"/>
              <a:t>Multiplicative relations A</a:t>
            </a:r>
          </a:p>
          <a:p>
            <a:endParaRPr lang="en-AU" sz="1800" b="1"/>
          </a:p>
          <a:p>
            <a:r>
              <a:rPr lang="en-AU" sz="1800" b="1"/>
              <a:t>5 times as many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to students. </a:t>
            </a:r>
          </a:p>
          <a:p>
            <a:pPr marL="285750" lvl="0" indent="-285750">
              <a:buFont typeface="Arial" panose="020B0604020202020204" pitchFamily="34" charset="0"/>
              <a:buChar char="•"/>
            </a:pPr>
            <a:r>
              <a:rPr lang="en-AU" sz="1600" b="0"/>
              <a:t>The teacher gives out 4 stickers before lunch. After lunch, she gives out 5 times as many stickers. How many stickers does she hand out? </a:t>
            </a:r>
          </a:p>
          <a:p>
            <a:pPr marL="285750" lvl="0" indent="-285750">
              <a:buFont typeface="Arial" panose="020B0604020202020204" pitchFamily="34" charset="0"/>
              <a:buChar char="•"/>
            </a:pPr>
            <a:r>
              <a:rPr lang="en-AU" sz="1600" b="0"/>
              <a:t>A baker bakes 10 cupcakes in the morning. In the afternoon, he bakes 5 times as many cupcakes. How many cupcakes does he bake? How many cupcakes did he bake that day?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Independently or in pairs, students work on individual whiteboards to determine how many seeds the farmer planted. They use this to decide which student’s statement is 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use diagrams, words or symbols to record their answer.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if the answer was correct?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record your thinking?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there another way of working it out? </a:t>
            </a:r>
          </a:p>
          <a:p>
            <a:pPr marL="285750" lvl="0" indent="-285750">
              <a:buFont typeface="Arial" panose="020B0604020202020204" pitchFamily="34" charset="0"/>
              <a:buChar char="•"/>
            </a:pPr>
            <a:endParaRPr lang="en-AU" sz="1600" b="0"/>
          </a:p>
          <a:p>
            <a:endParaRPr lang="en-AU" sz="1800" b="1"/>
          </a:p>
          <a:p>
            <a:pPr marL="342900" indent="-342900">
              <a:buFont typeface="+mj-lt"/>
              <a:buAutoNum type="arabicPeriod"/>
            </a:pPr>
            <a:endParaRPr lang="en-AU" sz="1800" b="0"/>
          </a:p>
          <a:p>
            <a:endParaRPr lang="en-AU" sz="1800" b="1"/>
          </a:p>
          <a:p>
            <a:pPr marL="342900" indent="-342900">
              <a:buFont typeface="+mj-lt"/>
              <a:buAutoNum type="arabicPeriod"/>
            </a:pPr>
            <a:endParaRPr lang="en-AU" sz="1800"/>
          </a:p>
        </p:txBody>
      </p:sp>
      <p:sp>
        <p:nvSpPr>
          <p:cNvPr id="4" name="Slide Number Placeholder 3"/>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639911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Multiplicative relations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br>
              <a:rPr lang="en-AU"/>
            </a:br>
            <a:endParaRPr lang="en-AU"/>
          </a:p>
          <a:p>
            <a:r>
              <a:rPr lang="en-AU" b="1"/>
              <a:t>Partially covered array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each pair of students with 30 counters, two 6-sided dice and a piece of cardboard.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To set up the task, Student A rolls two 6-sided dice. The numbers rolled are used to make an array using counters, for example, 4 and 6.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They partially cover the array with the cardboard so that only part of one row and one column can be seen. Student A does this without being observed by Student B.</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A shows the partially covered array to Student B.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B uses the information they can see to record the total number of counters on their whiteboard as a sentence or number sentence, for example, 4 rows of 6 is 24 or 4 × 6 = 24.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A uncovers the array and checks the accuracy of Student B’s answer.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activity with students swapping roles.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Multiplicative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kern="1200">
                <a:solidFill>
                  <a:schemeClr val="tx1"/>
                </a:solidFill>
                <a:effectLst/>
                <a:latin typeface="Arial" panose="020B0604020202020204" pitchFamily="34" charset="0"/>
                <a:ea typeface="+mn-ea"/>
                <a:cs typeface="Arial" panose="020B0604020202020204" pitchFamily="34" charset="0"/>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Inverse relationship</a:t>
            </a:r>
          </a:p>
          <a:p>
            <a:r>
              <a:rPr lang="en-AU" b="0"/>
              <a:t>This resource corresponds to Resource 21 – missing number cards in Stage 2 Year A Unit 11.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Resource 21 – missing number cards.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these cards contain a variety of multiplication and division number sentences. The cards will form 6 different fact families with 2 multiplication facts and 2 related division facts for each family.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some of the cards have one number that is missing. Students are to fill in the missing spaces on the cards supported by the inverse relationship on the other multiplication and division cards.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When all the missing numbers have been filled in, students group the fact family number sentences together. Each fact family consists of 2 multiplication and 2 division cards.</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Keep Resource 21 – missing number cards to be used in Activity 4.</a:t>
            </a:r>
          </a:p>
          <a:p>
            <a:pPr marL="28575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Multiplicative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Memory – inverse relationship</a:t>
            </a:r>
          </a:p>
          <a:p>
            <a:r>
              <a:rPr lang="en-AU" b="0"/>
              <a:t>This resource corresponds to Resource 21 – missing number cards in Stage 2 Year A Unit 11.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with Resource 21 – missing number cards.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or small groups, students play memory.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game instructions: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Shuffle the cards and lay out all the cards face down in an array formation.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turns flipping over 2 cards at a time, aiming to match a multiplication number sentence with an inverse division number sentence.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they match, keep the cards and take another turn.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they do not match, flip the cards back over and the next player has a turn.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game continues until all number sentences have been matched.</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Multiplicative relations A</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Continuing a pattern</a:t>
            </a:r>
          </a:p>
          <a:p>
            <a:r>
              <a:rPr lang="en-AU" b="0"/>
              <a:t>This resource corresponds to Resource 22 – Pattern or not? in Stage 2 Year A Unit 11.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Resource 22 – Pattern or not?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look for a pattern. They turn and talk to a partner to describe what they can see.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If this is a pattern, can you describe it?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Based on what you can see, can you predict what comes next?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their ideas on individual whiteboards using diagrams, numbers and symbols.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ideas, providing reasoning to support their response.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Challenge students: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If we know that the first picture is step one, how many steps will it take to make a number over 50?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many steps will it take to make a number over 100?</a:t>
            </a:r>
          </a:p>
          <a:p>
            <a:pPr marL="285750" indent="-285750">
              <a:buFont typeface="Arial" panose="020B0604020202020204" pitchFamily="34" charset="0"/>
              <a:buChar char="•"/>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Multiplicative relations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Activity title</a:t>
            </a:r>
          </a:p>
          <a:p>
            <a:r>
              <a:rPr lang="en-AU" b="0"/>
              <a:t>This resource corresponds to Resource 23 – odd one out in Stage 2 Year A Unit 11.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Resource 23 – odd one out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must decide which picture doesn’t belong to a pattern and why. For example, there are 15 lemon pieces. 15 is the only number that is a multiple of 5.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ideas with the class, describe the pattern they discovered and explain which picture they decided didn’t belong.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 number pattern they described on an individual whiteboard, completing any missing numbers.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60386-A1D4-F958-5CA5-385100A03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C5374-A26E-DA1A-7FFD-93FB80006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BA7-4028-5DCB-B993-B252492E91E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highlight>
                  <a:srgbClr val="FFFF00"/>
                </a:highlight>
              </a:rPr>
              <a:t>Multiplicative relations A</a:t>
            </a:r>
          </a:p>
        </p:txBody>
      </p:sp>
      <p:sp>
        <p:nvSpPr>
          <p:cNvPr id="4" name="Slide Number Placeholder 3">
            <a:extLst>
              <a:ext uri="{FF2B5EF4-FFF2-40B4-BE49-F238E27FC236}">
                <a16:creationId xmlns:a16="http://schemas.microsoft.com/office/drawing/2014/main" id="{9E513441-9CD9-7569-9CBC-B44176079A2E}"/>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0593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increasing number patterns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pattern 5, 10, 15, 20, 25…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numbers come next in the pattern?</a:t>
            </a:r>
          </a:p>
          <a:p>
            <a:pPr marL="0" indent="0">
              <a:buFont typeface="+mj-lt"/>
              <a:buNone/>
            </a:pPr>
            <a:endParaRPr lang="en-AU" b="0" dirty="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C432-57B8-3371-611C-DF70D81AA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686B1-5F05-E212-AAA6-ABB34CFB3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95BC9-0926-4497-9288-29BD16496782}"/>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increasing number patterns</a:t>
            </a:r>
          </a:p>
          <a:p>
            <a:endParaRPr lang="en-AU" b="1"/>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a:t>
            </a:r>
            <a:r>
              <a:rPr lang="en-AU" sz="1600" kern="1200">
                <a:solidFill>
                  <a:schemeClr val="tx1"/>
                </a:solidFill>
                <a:effectLst/>
                <a:latin typeface="Arial" panose="020B0604020202020204" pitchFamily="34" charset="0"/>
                <a:ea typeface="+mn-ea"/>
                <a:cs typeface="Arial" panose="020B0604020202020204" pitchFamily="34" charset="0"/>
              </a:rPr>
              <a:t>Display the number pattern </a:t>
            </a:r>
            <a:r>
              <a:rPr lang="en-AU" sz="1600" kern="1200" dirty="0">
                <a:solidFill>
                  <a:schemeClr val="tx1"/>
                </a:solidFill>
                <a:effectLst/>
                <a:latin typeface="Arial" panose="020B0604020202020204" pitchFamily="34" charset="0"/>
                <a:ea typeface="+mn-ea"/>
                <a:cs typeface="Arial" panose="020B0604020202020204" pitchFamily="34" charset="0"/>
              </a:rPr>
              <a:t>8</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13</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18</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23</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28</a:t>
            </a:r>
            <a:r>
              <a:rPr lang="en-AU" sz="1600" kern="1200">
                <a:solidFill>
                  <a:schemeClr val="tx1"/>
                </a:solidFill>
                <a:effectLst/>
                <a:latin typeface="Arial" panose="020B0604020202020204" pitchFamily="34" charset="0"/>
                <a:ea typeface="+mn-ea"/>
                <a:cs typeface="Arial" panose="020B0604020202020204" pitchFamily="34" charset="0"/>
              </a:rPr>
              <a:t>… </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numbers come next in the pattern?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pattern is the same (numbers are going up by 5) but the starting number is different.</a:t>
            </a:r>
          </a:p>
          <a:p>
            <a:pPr marL="0" indent="0">
              <a:buFont typeface="Arial" panose="020B0604020202020204" pitchFamily="34" charset="0"/>
              <a:buNone/>
            </a:pPr>
            <a:endParaRPr lang="en-AU" b="1" dirty="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A7D8E2BA-3E64-45DF-3D54-16A208CEEDE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433565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2DB1E-B34B-7617-4BDA-1CE043786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048DE-7834-B012-E7F0-9FA7D3AC3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72021-C7DF-8DA0-D40A-8D18A62A7BF6}"/>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increasing number patterns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patterns: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- 5, 9, 13, 17, 21…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- 111, 116, 121, 126, 131…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- 76, 86, 96, 106, 116…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- 17, 21, 25, 29, 33…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discuss each pattern. Students determine the amount by which  each pattern is increasing.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continue the number patterns and record the next 5 values on individual whiteboards.</a:t>
            </a:r>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8CF2555-6E7D-741A-B612-5F9DBB4E294E}"/>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8169083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a:t>Multiplicative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decreasing number patterns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pattern 85, 80, 75, 70, 65…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numbers come next in the pattern?</a:t>
            </a:r>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4936-CDBD-659E-0879-47949C106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4664A-22A4-198F-94AB-818321A75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20EB4-9013-BC73-09C6-0B200AAAECE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decreasing number patterns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pattern </a:t>
            </a:r>
            <a:r>
              <a:rPr lang="en-AU" sz="1600" kern="1200" dirty="0">
                <a:solidFill>
                  <a:schemeClr val="tx1"/>
                </a:solidFill>
                <a:effectLst/>
                <a:latin typeface="Arial" panose="020B0604020202020204" pitchFamily="34" charset="0"/>
                <a:ea typeface="+mn-ea"/>
                <a:cs typeface="Arial" panose="020B0604020202020204" pitchFamily="34" charset="0"/>
              </a:rPr>
              <a:t>87</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82</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77</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72</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67</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kern="1200" dirty="0">
                <a:solidFill>
                  <a:schemeClr val="tx1"/>
                </a:solidFill>
                <a:effectLst/>
                <a:latin typeface="Arial" panose="020B0604020202020204" pitchFamily="34" charset="0"/>
                <a:ea typeface="+mn-ea"/>
                <a:cs typeface="Arial" panose="020B0604020202020204" pitchFamily="34" charset="0"/>
              </a:rPr>
              <a:t> </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describe this pattern?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Which numbers come next in the pattern?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the pattern is the same (numbers are going down by 5) but the starting number is different.</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35B914D-E2F3-D061-04CB-A027AC0073D6}"/>
              </a:ext>
            </a:extLst>
          </p:cNvPr>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479422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FA1C4-F35A-F1FC-C827-B67C5379E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3F256-D2F5-C44D-1BDA-9F19458B8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6D27D-4D65-8654-B7B0-4A10C0D9429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Describing decreasing number patterns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number patterns: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- 38, 34, 30, 26, 22…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- 111, 106, 101, 96, 91…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- 176, 166, 156, 146, 136…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- 31, 27, 23, 19, 15…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discuss each pattern. Students determine the amount by which each pattern is decreasing.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continue the number patterns and record the next 5 values on individual whiteboards.</a:t>
            </a:r>
            <a:br>
              <a:rPr lang="en-AU" sz="1600" kern="1200">
                <a:solidFill>
                  <a:schemeClr val="tx1"/>
                </a:solidFill>
                <a:effectLst/>
                <a:latin typeface="Arial" panose="020B0604020202020204" pitchFamily="34" charset="0"/>
                <a:ea typeface="+mn-ea"/>
                <a:cs typeface="Arial" panose="020B0604020202020204" pitchFamily="34" charset="0"/>
              </a:rPr>
            </a:b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F3CE662C-92F4-4B7C-669E-2CB2E58A3709}"/>
              </a:ext>
            </a:extLst>
          </p:cNvPr>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8953010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83E4-2899-9CC3-38E2-11CD6EDFD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0103D-2B0C-52A2-56E0-0BC0632A7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498F9-A976-0383-DCA1-5E3D4E31223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1BD346B-C5F9-763F-DD0F-ADDA90412A58}"/>
              </a:ext>
            </a:extLst>
          </p:cNvPr>
          <p:cNvSpPr>
            <a:spLocks noGrp="1"/>
          </p:cNvSpPr>
          <p:nvPr>
            <p:ph type="sldNum" sz="quarter" idx="5"/>
          </p:nvPr>
        </p:nvSpPr>
        <p:spPr/>
        <p:txBody>
          <a:bodyPr/>
          <a:lstStyle/>
          <a:p>
            <a:fld id="{B07158C4-A119-4B78-9DE8-A50001BC31DC}" type="slidenum">
              <a:rPr lang="en-AU" smtClean="0"/>
              <a:pPr/>
              <a:t>73</a:t>
            </a:fld>
            <a:endParaRPr lang="en-AU"/>
          </a:p>
        </p:txBody>
      </p:sp>
    </p:spTree>
    <p:extLst>
      <p:ext uri="{BB962C8B-B14F-4D97-AF65-F5344CB8AC3E}">
        <p14:creationId xmlns:p14="http://schemas.microsoft.com/office/powerpoint/2010/main" val="10538667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74</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6.xml"/><Relationship Id="rId4" Type="http://schemas.openxmlformats.org/officeDocument/2006/relationships/slide" Target="slide12.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30.png"/><Relationship Id="rId5" Type="http://schemas.microsoft.com/office/2007/relationships/hdphoto" Target="../media/hdphoto1.wdp"/><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microsoft.com/office/2007/relationships/hdphoto" Target="../media/hdphoto2.wdp"/><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9.xml"/><Relationship Id="rId1" Type="http://schemas.openxmlformats.org/officeDocument/2006/relationships/slideLayout" Target="../slideLayouts/slideLayout11.xml"/><Relationship Id="rId5" Type="http://schemas.openxmlformats.org/officeDocument/2006/relationships/image" Target="../media/image51.svg"/><Relationship Id="rId4" Type="http://schemas.openxmlformats.org/officeDocument/2006/relationships/slide" Target="slide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72.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3.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dirty="0"/>
              <a:t>This resource aligns to the learning in Stage 2 Year A Unit 11 and revisits content from earlier sample units.</a:t>
            </a:r>
          </a:p>
          <a:p>
            <a:pPr marL="342900" indent="-342900">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11</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dirty="0">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6797" y="1517947"/>
            <a:ext cx="11117203" cy="893226"/>
          </a:xfrm>
        </p:spPr>
        <p:txBody>
          <a:bodyPr/>
          <a:lstStyle/>
          <a:p>
            <a:pPr algn="ctr">
              <a:spcBef>
                <a:spcPts val="1200"/>
              </a:spcBef>
            </a:pPr>
            <a:r>
              <a:rPr lang="en-AU" sz="3600" dirty="0"/>
              <a:t>A runner completes </a:t>
            </a:r>
            <a:r>
              <a:rPr lang="en-AU" sz="3600" b="1" dirty="0"/>
              <a:t>5 laps </a:t>
            </a:r>
            <a:r>
              <a:rPr lang="en-AU" sz="3600" dirty="0"/>
              <a:t>of the oval in the morning. In the afternoon, he runs </a:t>
            </a:r>
            <a:r>
              <a:rPr lang="en-AU" sz="3600" b="1" dirty="0"/>
              <a:t>6 times as many</a:t>
            </a:r>
            <a:r>
              <a:rPr lang="en-AU" sz="3600" dirty="0"/>
              <a:t> laps. </a:t>
            </a:r>
            <a:r>
              <a:rPr lang="en-AU" sz="3600" b="1" dirty="0"/>
              <a:t>How many</a:t>
            </a:r>
            <a:r>
              <a:rPr lang="en-AU" sz="3600" dirty="0"/>
              <a:t> laps does he run in the </a:t>
            </a:r>
            <a:r>
              <a:rPr lang="en-AU" sz="3600" b="1" dirty="0"/>
              <a:t>afternoon</a:t>
            </a:r>
            <a:r>
              <a:rPr lang="en-AU" sz="3600" dirty="0"/>
              <a:t>?</a:t>
            </a:r>
            <a:endParaRPr lang="en-US" sz="3600" dirty="0"/>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46305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1B91108E-BD40-0043-47CD-C5014F0E1D2F}"/>
              </a:ext>
            </a:extLst>
          </p:cNvPr>
          <p:cNvSpPr txBox="1"/>
          <p:nvPr/>
        </p:nvSpPr>
        <p:spPr>
          <a:xfrm>
            <a:off x="1096893" y="5433222"/>
            <a:ext cx="9330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dirty="0"/>
              <a:t>11</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46305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1D1F938F-59EA-B97E-F802-2F6078ABF805}"/>
              </a:ext>
            </a:extLst>
          </p:cNvPr>
          <p:cNvSpPr txBox="1"/>
          <p:nvPr/>
        </p:nvSpPr>
        <p:spPr>
          <a:xfrm>
            <a:off x="4120509" y="5369214"/>
            <a:ext cx="9330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dirty="0"/>
              <a:t>30</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46305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2CFD7DA4-A040-C610-534F-47874282D724}"/>
              </a:ext>
            </a:extLst>
          </p:cNvPr>
          <p:cNvSpPr txBox="1"/>
          <p:nvPr/>
        </p:nvSpPr>
        <p:spPr>
          <a:xfrm>
            <a:off x="7138418" y="5369214"/>
            <a:ext cx="9330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dirty="0"/>
              <a:t>24</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463055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8C4D38A0-EEAB-B0F3-CD8C-8AE6C5390B24}"/>
              </a:ext>
            </a:extLst>
          </p:cNvPr>
          <p:cNvSpPr txBox="1"/>
          <p:nvPr/>
        </p:nvSpPr>
        <p:spPr>
          <a:xfrm>
            <a:off x="10086220" y="5369214"/>
            <a:ext cx="933075"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dirty="0"/>
              <a:t>35</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18" name="Text Placeholder 17">
            <a:extLst>
              <a:ext uri="{FF2B5EF4-FFF2-40B4-BE49-F238E27FC236}">
                <a16:creationId xmlns:a16="http://schemas.microsoft.com/office/drawing/2014/main" id="{8CC6182B-05A0-DCFF-C12E-FB8272E0C6A8}"/>
              </a:ext>
            </a:extLst>
          </p:cNvPr>
          <p:cNvSpPr txBox="1">
            <a:spLocks/>
          </p:cNvSpPr>
          <p:nvPr/>
        </p:nvSpPr>
        <p:spPr>
          <a:xfrm>
            <a:off x="360000" y="1537522"/>
            <a:ext cx="11585976"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dirty="0"/>
              <a:t>Order</a:t>
            </a:r>
            <a:r>
              <a:rPr lang="en-AU" sz="4000" dirty="0"/>
              <a:t> these numbers from </a:t>
            </a:r>
            <a:r>
              <a:rPr lang="en-AU" sz="4000" b="1" dirty="0"/>
              <a:t>smallest</a:t>
            </a:r>
            <a:r>
              <a:rPr lang="en-AU" sz="4000" dirty="0"/>
              <a:t> to </a:t>
            </a:r>
            <a:r>
              <a:rPr lang="en-AU" sz="4000" b="1" dirty="0"/>
              <a:t>largest.</a:t>
            </a:r>
            <a:endParaRPr lang="en-US" sz="4000" b="1" dirty="0"/>
          </a:p>
        </p:txBody>
      </p:sp>
      <p:sp>
        <p:nvSpPr>
          <p:cNvPr id="4" name="TextBox 3">
            <a:extLst>
              <a:ext uri="{FF2B5EF4-FFF2-40B4-BE49-F238E27FC236}">
                <a16:creationId xmlns:a16="http://schemas.microsoft.com/office/drawing/2014/main" id="{FDC98989-2B00-6F3F-F960-07643D458415}"/>
              </a:ext>
            </a:extLst>
          </p:cNvPr>
          <p:cNvSpPr txBox="1"/>
          <p:nvPr/>
        </p:nvSpPr>
        <p:spPr>
          <a:xfrm>
            <a:off x="204552" y="3266366"/>
            <a:ext cx="2752344" cy="804672"/>
          </a:xfrm>
          <a:prstGeom prst="rect">
            <a:avLst/>
          </a:prstGeom>
          <a:noFill/>
          <a:ln w="19050">
            <a:solidFill>
              <a:schemeClr val="accent2"/>
            </a:solidFill>
          </a:ln>
        </p:spPr>
        <p:txBody>
          <a:bodyPr wrap="square" lIns="0" tIns="0" rIns="0" bIns="0" rtlCol="0">
            <a:noAutofit/>
          </a:bodyPr>
          <a:lstStyle/>
          <a:p>
            <a:pPr algn="ctr"/>
            <a:r>
              <a:rPr lang="en-AU" sz="4800"/>
              <a:t>4567</a:t>
            </a:r>
          </a:p>
        </p:txBody>
      </p:sp>
      <p:sp>
        <p:nvSpPr>
          <p:cNvPr id="5" name="TextBox 4">
            <a:extLst>
              <a:ext uri="{FF2B5EF4-FFF2-40B4-BE49-F238E27FC236}">
                <a16:creationId xmlns:a16="http://schemas.microsoft.com/office/drawing/2014/main" id="{1386F43C-3E63-5884-AAEA-4C5F0D22EC21}"/>
              </a:ext>
            </a:extLst>
          </p:cNvPr>
          <p:cNvSpPr txBox="1"/>
          <p:nvPr/>
        </p:nvSpPr>
        <p:spPr>
          <a:xfrm>
            <a:off x="3253400" y="3266366"/>
            <a:ext cx="2752344" cy="804672"/>
          </a:xfrm>
          <a:prstGeom prst="rect">
            <a:avLst/>
          </a:prstGeom>
          <a:noFill/>
          <a:ln w="19050">
            <a:solidFill>
              <a:schemeClr val="accent2"/>
            </a:solidFill>
          </a:ln>
        </p:spPr>
        <p:txBody>
          <a:bodyPr wrap="square" lIns="0" tIns="0" rIns="0" bIns="0" rtlCol="0">
            <a:noAutofit/>
          </a:bodyPr>
          <a:lstStyle/>
          <a:p>
            <a:pPr algn="ctr"/>
            <a:r>
              <a:rPr lang="en-AU" sz="4800"/>
              <a:t>4467</a:t>
            </a:r>
          </a:p>
        </p:txBody>
      </p:sp>
      <p:sp>
        <p:nvSpPr>
          <p:cNvPr id="7" name="TextBox 6">
            <a:extLst>
              <a:ext uri="{FF2B5EF4-FFF2-40B4-BE49-F238E27FC236}">
                <a16:creationId xmlns:a16="http://schemas.microsoft.com/office/drawing/2014/main" id="{0CFFF112-8A42-C39C-A42D-5581832EE72D}"/>
              </a:ext>
            </a:extLst>
          </p:cNvPr>
          <p:cNvSpPr txBox="1"/>
          <p:nvPr/>
        </p:nvSpPr>
        <p:spPr>
          <a:xfrm>
            <a:off x="6302248" y="3266366"/>
            <a:ext cx="2752344" cy="804672"/>
          </a:xfrm>
          <a:prstGeom prst="rect">
            <a:avLst/>
          </a:prstGeom>
          <a:noFill/>
          <a:ln w="19050">
            <a:solidFill>
              <a:schemeClr val="accent2"/>
            </a:solidFill>
          </a:ln>
        </p:spPr>
        <p:txBody>
          <a:bodyPr wrap="square" lIns="0" tIns="0" rIns="0" bIns="0" rtlCol="0">
            <a:noAutofit/>
          </a:bodyPr>
          <a:lstStyle/>
          <a:p>
            <a:pPr algn="ctr"/>
            <a:r>
              <a:rPr lang="en-AU" sz="4800" dirty="0"/>
              <a:t>4577</a:t>
            </a:r>
          </a:p>
        </p:txBody>
      </p:sp>
      <p:sp>
        <p:nvSpPr>
          <p:cNvPr id="8" name="TextBox 7">
            <a:extLst>
              <a:ext uri="{FF2B5EF4-FFF2-40B4-BE49-F238E27FC236}">
                <a16:creationId xmlns:a16="http://schemas.microsoft.com/office/drawing/2014/main" id="{FA4BCA75-3BBA-9F9C-6092-C90937AD4418}"/>
              </a:ext>
            </a:extLst>
          </p:cNvPr>
          <p:cNvSpPr txBox="1"/>
          <p:nvPr/>
        </p:nvSpPr>
        <p:spPr>
          <a:xfrm>
            <a:off x="9351096" y="3266366"/>
            <a:ext cx="2752344" cy="804672"/>
          </a:xfrm>
          <a:prstGeom prst="rect">
            <a:avLst/>
          </a:prstGeom>
          <a:noFill/>
          <a:ln w="19050">
            <a:solidFill>
              <a:schemeClr val="accent2"/>
            </a:solidFill>
          </a:ln>
        </p:spPr>
        <p:txBody>
          <a:bodyPr wrap="square" lIns="0" tIns="0" rIns="0" bIns="0" rtlCol="0">
            <a:noAutofit/>
          </a:bodyPr>
          <a:lstStyle/>
          <a:p>
            <a:pPr algn="ctr"/>
            <a:r>
              <a:rPr lang="en-AU" sz="4800"/>
              <a:t>5467</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10" name="TextBox 9">
            <a:extLst>
              <a:ext uri="{FF2B5EF4-FFF2-40B4-BE49-F238E27FC236}">
                <a16:creationId xmlns:a16="http://schemas.microsoft.com/office/drawing/2014/main" id="{FCD02B9D-9E50-6999-1027-B3C55CCDC337}"/>
              </a:ext>
            </a:extLst>
          </p:cNvPr>
          <p:cNvSpPr txBox="1"/>
          <p:nvPr/>
        </p:nvSpPr>
        <p:spPr>
          <a:xfrm>
            <a:off x="707366" y="1810912"/>
            <a:ext cx="5272024" cy="4029501"/>
          </a:xfrm>
          <a:prstGeom prst="rect">
            <a:avLst/>
          </a:prstGeom>
          <a:noFill/>
        </p:spPr>
        <p:txBody>
          <a:bodyPr wrap="square">
            <a:spAutoFit/>
          </a:bodyPr>
          <a:lstStyle/>
          <a:p>
            <a:pPr lvl="0" algn="ctr">
              <a:lnSpc>
                <a:spcPct val="150000"/>
              </a:lnSpc>
            </a:pPr>
            <a:r>
              <a:rPr lang="en-AU" sz="4400" b="1"/>
              <a:t>Record</a:t>
            </a:r>
            <a:r>
              <a:rPr lang="en-AU" sz="4400"/>
              <a:t> the </a:t>
            </a:r>
            <a:r>
              <a:rPr lang="en-AU" sz="4400" b="1"/>
              <a:t>name</a:t>
            </a:r>
            <a:r>
              <a:rPr lang="en-AU" sz="4400"/>
              <a:t> of the </a:t>
            </a:r>
            <a:r>
              <a:rPr lang="en-AU" sz="4400" b="1"/>
              <a:t>parts of the angle</a:t>
            </a:r>
            <a:r>
              <a:rPr lang="en-AU" sz="4400"/>
              <a:t> labelled  </a:t>
            </a:r>
            <a:r>
              <a:rPr lang="en-AU" sz="4400" b="1">
                <a:solidFill>
                  <a:schemeClr val="accent2"/>
                </a:solidFill>
              </a:rPr>
              <a:t>A </a:t>
            </a:r>
            <a:r>
              <a:rPr lang="en-AU" sz="4400"/>
              <a:t>and </a:t>
            </a:r>
            <a:r>
              <a:rPr lang="en-AU" sz="4400" b="1">
                <a:solidFill>
                  <a:schemeClr val="accent2"/>
                </a:solidFill>
              </a:rPr>
              <a:t>B</a:t>
            </a:r>
            <a:r>
              <a:rPr lang="en-AU" sz="4400" b="1"/>
              <a:t>.</a:t>
            </a:r>
            <a:endParaRPr lang="en-AU" sz="4400"/>
          </a:p>
        </p:txBody>
      </p:sp>
      <p:pic>
        <p:nvPicPr>
          <p:cNvPr id="12" name="Picture 11" descr="An angle. The letter A and B are pointing to different parts of the angle.">
            <a:extLst>
              <a:ext uri="{FF2B5EF4-FFF2-40B4-BE49-F238E27FC236}">
                <a16:creationId xmlns:a16="http://schemas.microsoft.com/office/drawing/2014/main" id="{374F3EB2-FAF0-0FD9-A9A8-1F024FBB4C8F}"/>
              </a:ext>
            </a:extLst>
          </p:cNvPr>
          <p:cNvPicPr>
            <a:picLocks noChangeAspect="1"/>
          </p:cNvPicPr>
          <p:nvPr/>
        </p:nvPicPr>
        <p:blipFill>
          <a:blip r:embed="rId4"/>
          <a:stretch>
            <a:fillRect/>
          </a:stretch>
        </p:blipFill>
        <p:spPr>
          <a:xfrm>
            <a:off x="6233396" y="1230212"/>
            <a:ext cx="5272024" cy="50783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9" name="TextBox 8">
            <a:extLst>
              <a:ext uri="{FF2B5EF4-FFF2-40B4-BE49-F238E27FC236}">
                <a16:creationId xmlns:a16="http://schemas.microsoft.com/office/drawing/2014/main" id="{BF8DB058-540D-E8BA-B1BF-2D9B41B34B55}"/>
              </a:ext>
            </a:extLst>
          </p:cNvPr>
          <p:cNvSpPr txBox="1"/>
          <p:nvPr/>
        </p:nvSpPr>
        <p:spPr>
          <a:xfrm>
            <a:off x="554188" y="1328345"/>
            <a:ext cx="10668465" cy="5170646"/>
          </a:xfrm>
          <a:prstGeom prst="rect">
            <a:avLst/>
          </a:prstGeom>
          <a:noFill/>
        </p:spPr>
        <p:txBody>
          <a:bodyPr wrap="square">
            <a:spAutoFit/>
          </a:bodyPr>
          <a:lstStyle/>
          <a:p>
            <a:pPr>
              <a:spcBef>
                <a:spcPts val="1200"/>
              </a:spcBef>
              <a:spcAft>
                <a:spcPts val="600"/>
              </a:spcAft>
            </a:pPr>
            <a:r>
              <a:rPr lang="en-AU" sz="4000" b="1" i="0" dirty="0">
                <a:effectLst/>
              </a:rPr>
              <a:t>Record</a:t>
            </a:r>
            <a:r>
              <a:rPr lang="en-AU" sz="4000" b="0" i="0" dirty="0">
                <a:effectLst/>
              </a:rPr>
              <a:t> the number of: </a:t>
            </a:r>
          </a:p>
          <a:p>
            <a:pPr marL="742950" indent="-742950">
              <a:spcBef>
                <a:spcPts val="1200"/>
              </a:spcBef>
              <a:spcAft>
                <a:spcPts val="600"/>
              </a:spcAft>
              <a:buAutoNum type="alphaLcParenR"/>
            </a:pPr>
            <a:r>
              <a:rPr lang="en-AU" sz="4000" b="1" dirty="0"/>
              <a:t>f</a:t>
            </a:r>
            <a:r>
              <a:rPr lang="en-AU" sz="4000" b="1" i="0" dirty="0">
                <a:effectLst/>
              </a:rPr>
              <a:t>aces</a:t>
            </a:r>
          </a:p>
          <a:p>
            <a:pPr marL="742950" indent="-742950">
              <a:spcBef>
                <a:spcPts val="1200"/>
              </a:spcBef>
              <a:spcAft>
                <a:spcPts val="600"/>
              </a:spcAft>
              <a:buAutoNum type="alphaLcParenR"/>
            </a:pPr>
            <a:r>
              <a:rPr lang="en-AU" sz="4000" b="1" dirty="0"/>
              <a:t>e</a:t>
            </a:r>
            <a:r>
              <a:rPr lang="en-AU" sz="4000" b="1" i="0" dirty="0">
                <a:effectLst/>
              </a:rPr>
              <a:t>dges</a:t>
            </a:r>
          </a:p>
          <a:p>
            <a:pPr marL="742950" indent="-742950">
              <a:spcBef>
                <a:spcPts val="1200"/>
              </a:spcBef>
              <a:spcAft>
                <a:spcPts val="600"/>
              </a:spcAft>
              <a:buAutoNum type="alphaLcParenR"/>
            </a:pPr>
            <a:r>
              <a:rPr lang="en-AU" sz="4000" b="1" i="0" dirty="0">
                <a:effectLst/>
              </a:rPr>
              <a:t>vertices</a:t>
            </a:r>
            <a:r>
              <a:rPr lang="en-AU" sz="4000" b="0" i="0" dirty="0">
                <a:solidFill>
                  <a:srgbClr val="00B050"/>
                </a:solidFill>
                <a:effectLst/>
              </a:rPr>
              <a:t> </a:t>
            </a:r>
          </a:p>
          <a:p>
            <a:pPr>
              <a:spcBef>
                <a:spcPts val="1200"/>
              </a:spcBef>
              <a:spcAft>
                <a:spcPts val="600"/>
              </a:spcAft>
            </a:pPr>
            <a:endParaRPr lang="en-AU" sz="2000" b="1" dirty="0"/>
          </a:p>
          <a:p>
            <a:pPr>
              <a:spcBef>
                <a:spcPts val="1200"/>
              </a:spcBef>
              <a:spcAft>
                <a:spcPts val="600"/>
              </a:spcAft>
            </a:pPr>
            <a:endParaRPr lang="en-AU" sz="2000" b="1" dirty="0"/>
          </a:p>
          <a:p>
            <a:pPr>
              <a:spcBef>
                <a:spcPts val="1200"/>
              </a:spcBef>
              <a:spcAft>
                <a:spcPts val="600"/>
              </a:spcAft>
            </a:pPr>
            <a:r>
              <a:rPr lang="en-AU" sz="4000" b="1" dirty="0"/>
              <a:t>Record</a:t>
            </a:r>
            <a:r>
              <a:rPr lang="en-AU" sz="4000" dirty="0"/>
              <a:t> whether it is a </a:t>
            </a:r>
            <a:r>
              <a:rPr lang="en-AU" sz="4000" b="1" dirty="0"/>
              <a:t>prism</a:t>
            </a:r>
            <a:r>
              <a:rPr lang="en-AU" sz="4000" dirty="0"/>
              <a:t> or a </a:t>
            </a:r>
            <a:r>
              <a:rPr lang="en-AU" sz="4000" b="1" dirty="0"/>
              <a:t>pyramid</a:t>
            </a:r>
            <a:r>
              <a:rPr lang="en-AU" sz="4000" dirty="0"/>
              <a:t>.</a:t>
            </a:r>
            <a:endParaRPr lang="en-AU" sz="3600" b="1" i="0" dirty="0">
              <a:effectLst/>
            </a:endParaRPr>
          </a:p>
        </p:txBody>
      </p:sp>
      <p:pic>
        <p:nvPicPr>
          <p:cNvPr id="5" name="Picture 4" descr="An image of a 3D object.">
            <a:extLst>
              <a:ext uri="{FF2B5EF4-FFF2-40B4-BE49-F238E27FC236}">
                <a16:creationId xmlns:a16="http://schemas.microsoft.com/office/drawing/2014/main" id="{E88834A5-AB71-121B-98B2-4E0D0F7CED57}"/>
              </a:ext>
            </a:extLst>
          </p:cNvPr>
          <p:cNvPicPr>
            <a:picLocks noChangeAspect="1"/>
          </p:cNvPicPr>
          <p:nvPr/>
        </p:nvPicPr>
        <p:blipFill>
          <a:blip r:embed="rId4"/>
          <a:srcRect l="34096" b="41100"/>
          <a:stretch>
            <a:fillRect/>
          </a:stretch>
        </p:blipFill>
        <p:spPr>
          <a:xfrm>
            <a:off x="7413812" y="1484443"/>
            <a:ext cx="3076000" cy="3889113"/>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11" name="TextBox 10">
            <a:extLst>
              <a:ext uri="{FF2B5EF4-FFF2-40B4-BE49-F238E27FC236}">
                <a16:creationId xmlns:a16="http://schemas.microsoft.com/office/drawing/2014/main" id="{117EF363-41FE-D093-232C-48CEF1565A46}"/>
              </a:ext>
            </a:extLst>
          </p:cNvPr>
          <p:cNvSpPr txBox="1"/>
          <p:nvPr/>
        </p:nvSpPr>
        <p:spPr>
          <a:xfrm>
            <a:off x="503217" y="1141597"/>
            <a:ext cx="6935322" cy="5356403"/>
          </a:xfrm>
          <a:prstGeom prst="rect">
            <a:avLst/>
          </a:prstGeom>
          <a:noFill/>
        </p:spPr>
        <p:txBody>
          <a:bodyPr wrap="square">
            <a:spAutoFit/>
          </a:bodyPr>
          <a:lstStyle/>
          <a:p>
            <a:pPr>
              <a:lnSpc>
                <a:spcPct val="150000"/>
              </a:lnSpc>
            </a:pPr>
            <a:r>
              <a:rPr lang="en-AU" sz="4000" b="1" i="0">
                <a:effectLst/>
              </a:rPr>
              <a:t>Record</a:t>
            </a:r>
            <a:r>
              <a:rPr lang="en-AU" sz="4000" b="0" i="0">
                <a:effectLst/>
              </a:rPr>
              <a:t> the </a:t>
            </a:r>
            <a:r>
              <a:rPr lang="en-AU" sz="4000" b="1" i="0">
                <a:effectLst/>
              </a:rPr>
              <a:t>grid reference </a:t>
            </a:r>
            <a:r>
              <a:rPr lang="en-AU" sz="4000"/>
              <a:t>for</a:t>
            </a:r>
            <a:r>
              <a:rPr lang="en-AU" sz="4000" b="0" i="0">
                <a:effectLst/>
              </a:rPr>
              <a:t> the:</a:t>
            </a:r>
          </a:p>
          <a:p>
            <a:pPr marL="457200" indent="-457200">
              <a:lnSpc>
                <a:spcPct val="150000"/>
              </a:lnSpc>
              <a:buFont typeface="Arial" panose="020B0604020202020204" pitchFamily="34" charset="0"/>
              <a:buChar char="•"/>
            </a:pPr>
            <a:r>
              <a:rPr lang="en-AU" sz="4000" b="1"/>
              <a:t>cookies</a:t>
            </a:r>
          </a:p>
          <a:p>
            <a:pPr marL="457200" indent="-457200">
              <a:lnSpc>
                <a:spcPct val="150000"/>
              </a:lnSpc>
              <a:buFont typeface="Arial" panose="020B0604020202020204" pitchFamily="34" charset="0"/>
              <a:buChar char="•"/>
            </a:pPr>
            <a:r>
              <a:rPr lang="en-AU" sz="4000" b="1"/>
              <a:t>donuts</a:t>
            </a:r>
          </a:p>
          <a:p>
            <a:pPr marL="457200" indent="-457200">
              <a:lnSpc>
                <a:spcPct val="150000"/>
              </a:lnSpc>
              <a:buFont typeface="Arial" panose="020B0604020202020204" pitchFamily="34" charset="0"/>
              <a:buChar char="•"/>
            </a:pPr>
            <a:r>
              <a:rPr lang="en-AU" sz="4000" b="1"/>
              <a:t>sugar</a:t>
            </a:r>
          </a:p>
          <a:p>
            <a:pPr marL="457200" indent="-457200">
              <a:lnSpc>
                <a:spcPct val="150000"/>
              </a:lnSpc>
              <a:buFont typeface="Arial" panose="020B0604020202020204" pitchFamily="34" charset="0"/>
              <a:buChar char="•"/>
            </a:pPr>
            <a:endParaRPr lang="en-AU" sz="3200"/>
          </a:p>
        </p:txBody>
      </p:sp>
      <p:pic>
        <p:nvPicPr>
          <p:cNvPr id="13" name="Picture 12" descr="A 4x4 grid with the following objects in the grid:&#10;column 1 - row 4 - cookies&#10;column 2 - row 3 - sugar&#10;Column 3 - row 2 - coffee&#10;column 4 - row 1 - donuts&#10;Column 4 - row 4 - baguette">
            <a:extLst>
              <a:ext uri="{FF2B5EF4-FFF2-40B4-BE49-F238E27FC236}">
                <a16:creationId xmlns:a16="http://schemas.microsoft.com/office/drawing/2014/main" id="{FC96CBD0-5E2F-662A-7E29-6B1AD31FF641}"/>
              </a:ext>
            </a:extLst>
          </p:cNvPr>
          <p:cNvPicPr>
            <a:picLocks noChangeAspect="1"/>
          </p:cNvPicPr>
          <p:nvPr/>
        </p:nvPicPr>
        <p:blipFill>
          <a:blip r:embed="rId4"/>
          <a:stretch>
            <a:fillRect/>
          </a:stretch>
        </p:blipFill>
        <p:spPr>
          <a:xfrm>
            <a:off x="7223092" y="1420218"/>
            <a:ext cx="4465692" cy="4817159"/>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9E9893B7-45AB-B224-B712-0FD59F4C8C1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939749" y="3142197"/>
            <a:ext cx="1362285" cy="811392"/>
          </a:xfrm>
          <a:prstGeom prst="rect">
            <a:avLst/>
          </a:prstGeom>
        </p:spPr>
      </p:pic>
      <p:pic>
        <p:nvPicPr>
          <p:cNvPr id="8" name="Picture 7">
            <a:extLst>
              <a:ext uri="{FF2B5EF4-FFF2-40B4-BE49-F238E27FC236}">
                <a16:creationId xmlns:a16="http://schemas.microsoft.com/office/drawing/2014/main" id="{C3B58F2C-0069-7BC6-8E3E-3FB1878CEAD3}"/>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939749" y="3947356"/>
            <a:ext cx="1266491" cy="852292"/>
          </a:xfrm>
          <a:prstGeom prst="rect">
            <a:avLst/>
          </a:prstGeom>
        </p:spPr>
      </p:pic>
      <p:pic>
        <p:nvPicPr>
          <p:cNvPr id="10" name="Picture 9">
            <a:extLst>
              <a:ext uri="{FF2B5EF4-FFF2-40B4-BE49-F238E27FC236}">
                <a16:creationId xmlns:a16="http://schemas.microsoft.com/office/drawing/2014/main" id="{24B33CD6-6EDD-8F56-85B4-262E58BB6884}"/>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2939749" y="4967597"/>
            <a:ext cx="726560" cy="986592"/>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5 times as many </a:t>
            </a:r>
            <a:r>
              <a:rPr lang="en-AU" dirty="0">
                <a:solidFill>
                  <a:schemeClr val="bg1"/>
                </a:solidFill>
              </a:rPr>
              <a:t>(1)</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5" name="Picture 4" descr="Two farmers holding a row of plants. A word problem states: The farmer planted 3 packets of carrot seeds on Monday. On Tuesday, he planted 5 times as many carrot seeds as he did on Monday. How many carrot seeds did he plant? Taj thinks the farmer planted 8 packets of carrots seeds. Abby thinks the farmer planted 15 packets of seeds. Who is correct? How do you know?">
            <a:extLst>
              <a:ext uri="{FF2B5EF4-FFF2-40B4-BE49-F238E27FC236}">
                <a16:creationId xmlns:a16="http://schemas.microsoft.com/office/drawing/2014/main" id="{5B39E419-0613-896D-E45A-51E81CCA6849}"/>
              </a:ext>
            </a:extLst>
          </p:cNvPr>
          <p:cNvPicPr>
            <a:picLocks noChangeAspect="1"/>
          </p:cNvPicPr>
          <p:nvPr/>
        </p:nvPicPr>
        <p:blipFill>
          <a:blip r:embed="rId4"/>
          <a:stretch>
            <a:fillRect/>
          </a:stretch>
        </p:blipFill>
        <p:spPr>
          <a:xfrm>
            <a:off x="3245866" y="984267"/>
            <a:ext cx="5851000" cy="5734336"/>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1 – 5 times as many</a:t>
            </a:r>
            <a:r>
              <a:rPr lang="en-AU">
                <a:latin typeface="Arial"/>
                <a:cs typeface="Arial"/>
              </a:rPr>
              <a:t> </a:t>
            </a:r>
            <a:r>
              <a:rPr lang="en-AU" dirty="0">
                <a:solidFill>
                  <a:schemeClr val="bg1"/>
                </a:solidFill>
                <a:latin typeface="Arial"/>
                <a:cs typeface="Arial"/>
              </a:rPr>
              <a:t>(2)</a:t>
            </a:r>
            <a:endParaRPr lang="en-US" dirty="0">
              <a:solidFill>
                <a:schemeClr val="bg1"/>
              </a:solidFill>
            </a:endParaRPr>
          </a:p>
        </p:txBody>
      </p:sp>
      <p:sp>
        <p:nvSpPr>
          <p:cNvPr id="5" name="TextBox 4">
            <a:extLst>
              <a:ext uri="{FF2B5EF4-FFF2-40B4-BE49-F238E27FC236}">
                <a16:creationId xmlns:a16="http://schemas.microsoft.com/office/drawing/2014/main" id="{7CD9A520-DBBA-E02A-1682-111756E3B6BE}"/>
              </a:ext>
            </a:extLst>
          </p:cNvPr>
          <p:cNvSpPr txBox="1"/>
          <p:nvPr/>
        </p:nvSpPr>
        <p:spPr>
          <a:xfrm>
            <a:off x="449580" y="1085666"/>
            <a:ext cx="11178540" cy="5402569"/>
          </a:xfrm>
          <a:prstGeom prst="rect">
            <a:avLst/>
          </a:prstGeom>
          <a:noFill/>
        </p:spPr>
        <p:txBody>
          <a:bodyPr wrap="square">
            <a:spAutoFit/>
          </a:bodyPr>
          <a:lstStyle/>
          <a:p>
            <a:pPr marL="457200" lvl="0" indent="-457200">
              <a:lnSpc>
                <a:spcPct val="150000"/>
              </a:lnSpc>
              <a:spcBef>
                <a:spcPts val="1200"/>
              </a:spcBef>
              <a:spcAft>
                <a:spcPts val="600"/>
              </a:spcAft>
              <a:buFont typeface="Arial" panose="020B0604020202020204" pitchFamily="34" charset="0"/>
              <a:buChar char="•"/>
            </a:pPr>
            <a:r>
              <a:rPr lang="en-AU" sz="3200"/>
              <a:t>The teacher gives out </a:t>
            </a:r>
            <a:r>
              <a:rPr lang="en-AU" sz="3200" b="1"/>
              <a:t>4 stickers </a:t>
            </a:r>
            <a:r>
              <a:rPr lang="en-AU" sz="3200"/>
              <a:t>before lunch. After lunch, she gives out </a:t>
            </a:r>
            <a:r>
              <a:rPr lang="en-AU" sz="3200" b="1"/>
              <a:t>5 times as many </a:t>
            </a:r>
            <a:r>
              <a:rPr lang="en-AU" sz="3200"/>
              <a:t>stickers. </a:t>
            </a:r>
            <a:r>
              <a:rPr lang="en-AU" sz="3200" b="1"/>
              <a:t>How many </a:t>
            </a:r>
            <a:r>
              <a:rPr lang="en-AU" sz="3200"/>
              <a:t>stickers does she hand out? </a:t>
            </a:r>
          </a:p>
          <a:p>
            <a:pPr marL="457200" lvl="0" indent="-457200">
              <a:lnSpc>
                <a:spcPct val="150000"/>
              </a:lnSpc>
              <a:spcBef>
                <a:spcPts val="1200"/>
              </a:spcBef>
              <a:spcAft>
                <a:spcPts val="600"/>
              </a:spcAft>
              <a:buFont typeface="Arial" panose="020B0604020202020204" pitchFamily="34" charset="0"/>
              <a:buChar char="•"/>
            </a:pPr>
            <a:r>
              <a:rPr lang="en-AU" sz="3200"/>
              <a:t>A baker bakes </a:t>
            </a:r>
            <a:r>
              <a:rPr lang="en-AU" sz="3200" b="1"/>
              <a:t>10 cupcakes </a:t>
            </a:r>
            <a:r>
              <a:rPr lang="en-AU" sz="3200"/>
              <a:t>in the morning. In the afternoon, he bakes </a:t>
            </a:r>
            <a:r>
              <a:rPr lang="en-AU" sz="3200" b="1"/>
              <a:t>5 times as many</a:t>
            </a:r>
            <a:r>
              <a:rPr lang="en-AU" sz="3200"/>
              <a:t> cupcakes. </a:t>
            </a:r>
            <a:r>
              <a:rPr lang="en-AU" sz="3200" b="1"/>
              <a:t>How many </a:t>
            </a:r>
            <a:r>
              <a:rPr lang="en-AU" sz="3200"/>
              <a:t>cupcakes does he bake? </a:t>
            </a:r>
            <a:r>
              <a:rPr lang="en-AU" sz="3200" b="1"/>
              <a:t>How many </a:t>
            </a:r>
            <a:r>
              <a:rPr lang="en-AU" sz="3200"/>
              <a:t>cupcakes did he bake </a:t>
            </a:r>
            <a:r>
              <a:rPr lang="en-AU" sz="3200" b="1"/>
              <a:t>that day</a:t>
            </a:r>
            <a:r>
              <a:rPr lang="en-AU" sz="3200"/>
              <a:t>? </a:t>
            </a:r>
          </a:p>
        </p:txBody>
      </p:sp>
    </p:spTree>
    <p:extLst>
      <p:ext uri="{BB962C8B-B14F-4D97-AF65-F5344CB8AC3E}">
        <p14:creationId xmlns:p14="http://schemas.microsoft.com/office/powerpoint/2010/main" val="1410586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dirty="0">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905601"/>
            <a:ext cx="11243037" cy="893226"/>
          </a:xfrm>
        </p:spPr>
        <p:txBody>
          <a:bodyPr/>
          <a:lstStyle/>
          <a:p>
            <a:pPr algn="ctr"/>
            <a:r>
              <a:rPr lang="en-AU" sz="4400"/>
              <a:t>The </a:t>
            </a:r>
            <a:r>
              <a:rPr lang="en-AU" sz="4400" b="1"/>
              <a:t>total</a:t>
            </a:r>
            <a:r>
              <a:rPr lang="en-AU" sz="4400"/>
              <a:t> number of counters in this </a:t>
            </a:r>
            <a:r>
              <a:rPr lang="en-AU" sz="4400" b="1"/>
              <a:t>partially covered array</a:t>
            </a:r>
            <a:r>
              <a:rPr lang="en-AU" sz="4400"/>
              <a:t> is </a:t>
            </a:r>
            <a:r>
              <a:rPr lang="en-AU" sz="4400" b="1"/>
              <a:t>24</a:t>
            </a:r>
            <a:r>
              <a:rPr lang="en-AU" sz="4400"/>
              <a:t>?</a:t>
            </a:r>
          </a:p>
        </p:txBody>
      </p:sp>
      <p:pic>
        <p:nvPicPr>
          <p:cNvPr id="7" name="Picture 6" descr="A 5x5 partially covered array">
            <a:extLst>
              <a:ext uri="{FF2B5EF4-FFF2-40B4-BE49-F238E27FC236}">
                <a16:creationId xmlns:a16="http://schemas.microsoft.com/office/drawing/2014/main" id="{E4E797DD-695A-AD33-A770-5A607D5BB8F4}"/>
              </a:ext>
            </a:extLst>
          </p:cNvPr>
          <p:cNvPicPr>
            <a:picLocks noChangeAspect="1"/>
          </p:cNvPicPr>
          <p:nvPr/>
        </p:nvPicPr>
        <p:blipFill>
          <a:blip r:embed="rId3"/>
          <a:stretch>
            <a:fillRect/>
          </a:stretch>
        </p:blipFill>
        <p:spPr>
          <a:xfrm>
            <a:off x="4614790" y="2971800"/>
            <a:ext cx="2962420" cy="2784520"/>
          </a:xfrm>
          <a:prstGeom prst="rect">
            <a:avLst/>
          </a:prstGeom>
        </p:spPr>
      </p:pic>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449111001"/>
              </p:ext>
            </p:extLst>
          </p:nvPr>
        </p:nvGraphicFramePr>
        <p:xfrm>
          <a:off x="2442980" y="575632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17C2AED4-97A0-EE33-6653-6CBA6BD0B3EE}"/>
              </a:ext>
            </a:extLst>
          </p:cNvPr>
          <p:cNvSpPr txBox="1"/>
          <p:nvPr/>
        </p:nvSpPr>
        <p:spPr>
          <a:xfrm>
            <a:off x="246024" y="1184223"/>
            <a:ext cx="4747134" cy="5045164"/>
          </a:xfrm>
          <a:prstGeom prst="rect">
            <a:avLst/>
          </a:prstGeom>
          <a:noFill/>
        </p:spPr>
        <p:txBody>
          <a:bodyPr wrap="square">
            <a:spAutoFit/>
          </a:bodyPr>
          <a:lstStyle/>
          <a:p>
            <a:pPr lvl="0" algn="ctr">
              <a:lnSpc>
                <a:spcPct val="150000"/>
              </a:lnSpc>
            </a:pPr>
            <a:r>
              <a:rPr lang="en-AU" sz="4400" b="1"/>
              <a:t>Record </a:t>
            </a:r>
            <a:r>
              <a:rPr lang="en-AU" sz="4400"/>
              <a:t>the </a:t>
            </a:r>
            <a:r>
              <a:rPr lang="en-AU" sz="4400" b="1"/>
              <a:t>number </a:t>
            </a:r>
            <a:r>
              <a:rPr lang="en-AU" sz="4400"/>
              <a:t>represented by base-10 materials.</a:t>
            </a:r>
          </a:p>
        </p:txBody>
      </p:sp>
      <p:pic>
        <p:nvPicPr>
          <p:cNvPr id="7" name="Picture 6" descr="Base 10 materials representing a 5-digit number.">
            <a:extLst>
              <a:ext uri="{FF2B5EF4-FFF2-40B4-BE49-F238E27FC236}">
                <a16:creationId xmlns:a16="http://schemas.microsoft.com/office/drawing/2014/main" id="{FDE45A4D-7093-28C0-C582-DD8C2FF95905}"/>
              </a:ext>
            </a:extLst>
          </p:cNvPr>
          <p:cNvPicPr>
            <a:picLocks noChangeAspect="1"/>
          </p:cNvPicPr>
          <p:nvPr/>
        </p:nvPicPr>
        <p:blipFill>
          <a:blip r:embed="rId4"/>
          <a:stretch>
            <a:fillRect/>
          </a:stretch>
        </p:blipFill>
        <p:spPr>
          <a:xfrm>
            <a:off x="5255321" y="1184223"/>
            <a:ext cx="6542468" cy="4769985"/>
          </a:xfrm>
          <a:prstGeom prst="rect">
            <a:avLst/>
          </a:prstGeom>
          <a:ln>
            <a:noFill/>
          </a:ln>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9" name="TextBox 8">
            <a:extLst>
              <a:ext uri="{FF2B5EF4-FFF2-40B4-BE49-F238E27FC236}">
                <a16:creationId xmlns:a16="http://schemas.microsoft.com/office/drawing/2014/main" id="{0E862F06-2E9A-BC7D-28EB-5172DAA5750A}"/>
              </a:ext>
            </a:extLst>
          </p:cNvPr>
          <p:cNvSpPr txBox="1"/>
          <p:nvPr/>
        </p:nvSpPr>
        <p:spPr>
          <a:xfrm>
            <a:off x="359999" y="1984124"/>
            <a:ext cx="7366017" cy="4063741"/>
          </a:xfrm>
          <a:prstGeom prst="rect">
            <a:avLst/>
          </a:prstGeom>
          <a:noFill/>
        </p:spPr>
        <p:txBody>
          <a:bodyPr wrap="square">
            <a:spAutoFit/>
          </a:bodyPr>
          <a:lstStyle/>
          <a:p>
            <a:pPr lvl="0">
              <a:lnSpc>
                <a:spcPct val="150000"/>
              </a:lnSpc>
            </a:pPr>
            <a:r>
              <a:rPr lang="en-AU" sz="3600" dirty="0"/>
              <a:t>Which statement is </a:t>
            </a:r>
            <a:r>
              <a:rPr lang="en-AU" sz="3600" b="1" dirty="0"/>
              <a:t>correct?</a:t>
            </a:r>
            <a:endParaRPr lang="en-AU" sz="3600" dirty="0"/>
          </a:p>
          <a:p>
            <a:pPr marL="514350" lvl="0" indent="-514350">
              <a:lnSpc>
                <a:spcPct val="150000"/>
              </a:lnSpc>
              <a:buAutoNum type="alphaLcParenR"/>
            </a:pPr>
            <a:r>
              <a:rPr lang="en-AU" sz="3600" dirty="0"/>
              <a:t>The </a:t>
            </a:r>
            <a:r>
              <a:rPr lang="en-AU" sz="3600" b="1" dirty="0">
                <a:solidFill>
                  <a:srgbClr val="EE6314"/>
                </a:solidFill>
              </a:rPr>
              <a:t>orange</a:t>
            </a:r>
            <a:r>
              <a:rPr lang="en-AU" sz="3600" dirty="0"/>
              <a:t> angle is </a:t>
            </a:r>
            <a:r>
              <a:rPr lang="en-AU" sz="3600" b="1" dirty="0"/>
              <a:t>larger</a:t>
            </a:r>
            <a:r>
              <a:rPr lang="en-AU" sz="3600" dirty="0"/>
              <a:t>.</a:t>
            </a:r>
          </a:p>
          <a:p>
            <a:pPr marL="514350" lvl="0" indent="-514350">
              <a:lnSpc>
                <a:spcPct val="150000"/>
              </a:lnSpc>
              <a:buAutoNum type="alphaLcParenR"/>
            </a:pPr>
            <a:r>
              <a:rPr lang="en-AU" sz="3600" dirty="0"/>
              <a:t>The </a:t>
            </a:r>
            <a:r>
              <a:rPr lang="en-AU" sz="3600" b="1" dirty="0">
                <a:solidFill>
                  <a:srgbClr val="D9589A"/>
                </a:solidFill>
              </a:rPr>
              <a:t>pink</a:t>
            </a:r>
            <a:r>
              <a:rPr lang="en-AU" sz="3600" dirty="0"/>
              <a:t> angle is </a:t>
            </a:r>
            <a:r>
              <a:rPr lang="en-AU" sz="3600" b="1" dirty="0"/>
              <a:t>larger</a:t>
            </a:r>
            <a:r>
              <a:rPr lang="en-AU" sz="3600" dirty="0"/>
              <a:t>.</a:t>
            </a:r>
          </a:p>
          <a:p>
            <a:pPr marL="514350" lvl="0" indent="-514350">
              <a:lnSpc>
                <a:spcPct val="150000"/>
              </a:lnSpc>
              <a:buAutoNum type="alphaLcParenR"/>
            </a:pPr>
            <a:r>
              <a:rPr lang="en-AU" sz="3600" dirty="0"/>
              <a:t>Both angles </a:t>
            </a:r>
            <a:r>
              <a:rPr lang="en-AU" sz="3600" b="1" dirty="0"/>
              <a:t>measure</a:t>
            </a:r>
            <a:r>
              <a:rPr lang="en-AU" sz="3600" dirty="0"/>
              <a:t> the </a:t>
            </a:r>
            <a:r>
              <a:rPr lang="en-AU" sz="3600" b="1" dirty="0"/>
              <a:t>same</a:t>
            </a:r>
            <a:r>
              <a:rPr lang="en-AU" sz="3600" dirty="0"/>
              <a:t>.</a:t>
            </a:r>
          </a:p>
          <a:p>
            <a:pPr marL="514350" lvl="0" indent="-514350">
              <a:lnSpc>
                <a:spcPct val="150000"/>
              </a:lnSpc>
              <a:buAutoNum type="alphaLcParenR"/>
            </a:pPr>
            <a:endParaRPr lang="en-AU" sz="3200" dirty="0"/>
          </a:p>
        </p:txBody>
      </p:sp>
      <p:pic>
        <p:nvPicPr>
          <p:cNvPr id="7" name="Picture 6" descr="2 angles (both measured with 3 angle wedges). The first has longer arms than the second.">
            <a:extLst>
              <a:ext uri="{FF2B5EF4-FFF2-40B4-BE49-F238E27FC236}">
                <a16:creationId xmlns:a16="http://schemas.microsoft.com/office/drawing/2014/main" id="{BD034ECB-E4EC-8B42-80E8-063612A98590}"/>
              </a:ext>
            </a:extLst>
          </p:cNvPr>
          <p:cNvPicPr>
            <a:picLocks noChangeAspect="1"/>
          </p:cNvPicPr>
          <p:nvPr/>
        </p:nvPicPr>
        <p:blipFill>
          <a:blip r:embed="rId4"/>
          <a:stretch>
            <a:fillRect/>
          </a:stretch>
        </p:blipFill>
        <p:spPr>
          <a:xfrm>
            <a:off x="7351291" y="1306691"/>
            <a:ext cx="4594685" cy="3265549"/>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E21ECBEE-9E36-2594-55AD-FFE011F92610}"/>
              </a:ext>
            </a:extLst>
          </p:cNvPr>
          <p:cNvSpPr txBox="1"/>
          <p:nvPr/>
        </p:nvSpPr>
        <p:spPr>
          <a:xfrm>
            <a:off x="359999" y="5637528"/>
            <a:ext cx="6705599" cy="820674"/>
          </a:xfrm>
          <a:prstGeom prst="rect">
            <a:avLst/>
          </a:prstGeom>
          <a:noFill/>
        </p:spPr>
        <p:txBody>
          <a:bodyPr wrap="square">
            <a:spAutoFit/>
          </a:bodyPr>
          <a:lstStyle/>
          <a:p>
            <a:pPr lvl="0">
              <a:lnSpc>
                <a:spcPct val="150000"/>
              </a:lnSpc>
            </a:pPr>
            <a:r>
              <a:rPr lang="en-AU" sz="3600" b="1" dirty="0"/>
              <a:t>Communicate</a:t>
            </a:r>
            <a:r>
              <a:rPr lang="en-AU" sz="3600" dirty="0"/>
              <a:t> your </a:t>
            </a:r>
            <a:r>
              <a:rPr lang="en-AU" sz="3600" b="1" dirty="0"/>
              <a:t>reasoning</a:t>
            </a:r>
            <a:r>
              <a:rPr lang="en-AU" sz="3200"/>
              <a:t>. </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7" name="TextBox 6">
            <a:extLst>
              <a:ext uri="{FF2B5EF4-FFF2-40B4-BE49-F238E27FC236}">
                <a16:creationId xmlns:a16="http://schemas.microsoft.com/office/drawing/2014/main" id="{64B9FA36-6ED5-A696-4A04-1812068BA73C}"/>
              </a:ext>
            </a:extLst>
          </p:cNvPr>
          <p:cNvSpPr txBox="1"/>
          <p:nvPr/>
        </p:nvSpPr>
        <p:spPr>
          <a:xfrm>
            <a:off x="1683927" y="1699296"/>
            <a:ext cx="8824145" cy="3013838"/>
          </a:xfrm>
          <a:prstGeom prst="rect">
            <a:avLst/>
          </a:prstGeom>
          <a:noFill/>
        </p:spPr>
        <p:txBody>
          <a:bodyPr wrap="square">
            <a:spAutoFit/>
          </a:bodyPr>
          <a:lstStyle/>
          <a:p>
            <a:pPr lvl="0" algn="ctr">
              <a:lnSpc>
                <a:spcPct val="150000"/>
              </a:lnSpc>
              <a:spcBef>
                <a:spcPts val="1200"/>
              </a:spcBef>
              <a:spcAft>
                <a:spcPts val="600"/>
              </a:spcAft>
            </a:pPr>
            <a:r>
              <a:rPr lang="en-AU" sz="4400">
                <a:latin typeface="Arial" panose="020B0604020202020204" pitchFamily="34" charset="0"/>
                <a:ea typeface="Calibri" panose="020F0502020204030204" pitchFamily="34" charset="0"/>
              </a:rPr>
              <a:t>W</a:t>
            </a:r>
            <a:r>
              <a:rPr lang="en-AU" sz="4400">
                <a:effectLst/>
                <a:latin typeface="Arial" panose="020B0604020202020204" pitchFamily="34" charset="0"/>
                <a:ea typeface="Calibri" panose="020F0502020204030204" pitchFamily="34" charset="0"/>
              </a:rPr>
              <a:t>hat are </a:t>
            </a:r>
            <a:r>
              <a:rPr lang="en-AU" sz="4400">
                <a:latin typeface="Arial" panose="020B0604020202020204" pitchFamily="34" charset="0"/>
                <a:ea typeface="Calibri" panose="020F0502020204030204" pitchFamily="34" charset="0"/>
              </a:rPr>
              <a:t>some</a:t>
            </a:r>
            <a:r>
              <a:rPr lang="en-AU" sz="4400">
                <a:effectLst/>
                <a:latin typeface="Arial" panose="020B0604020202020204" pitchFamily="34" charset="0"/>
                <a:ea typeface="Calibri" panose="020F0502020204030204" pitchFamily="34" charset="0"/>
              </a:rPr>
              <a:t> </a:t>
            </a:r>
            <a:r>
              <a:rPr lang="en-AU" sz="4400" b="1">
                <a:effectLst/>
                <a:latin typeface="Arial" panose="020B0604020202020204" pitchFamily="34" charset="0"/>
                <a:ea typeface="Calibri" panose="020F0502020204030204" pitchFamily="34" charset="0"/>
              </a:rPr>
              <a:t>differences</a:t>
            </a:r>
            <a:r>
              <a:rPr lang="en-AU" sz="4400">
                <a:effectLst/>
                <a:latin typeface="Arial" panose="020B0604020202020204" pitchFamily="34" charset="0"/>
                <a:ea typeface="Calibri" panose="020F0502020204030204" pitchFamily="34" charset="0"/>
              </a:rPr>
              <a:t> between a </a:t>
            </a:r>
            <a:r>
              <a:rPr lang="en-AU" sz="4400" b="1">
                <a:effectLst/>
                <a:latin typeface="Arial" panose="020B0604020202020204" pitchFamily="34" charset="0"/>
                <a:ea typeface="Calibri" panose="020F0502020204030204" pitchFamily="34" charset="0"/>
              </a:rPr>
              <a:t>pyramid, prism and cylinder</a:t>
            </a:r>
            <a:r>
              <a:rPr lang="en-AU" sz="44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5" name="TextBox 4">
            <a:extLst>
              <a:ext uri="{FF2B5EF4-FFF2-40B4-BE49-F238E27FC236}">
                <a16:creationId xmlns:a16="http://schemas.microsoft.com/office/drawing/2014/main" id="{E3560E3A-600D-428B-EA92-FDBA2D6A75BE}"/>
              </a:ext>
            </a:extLst>
          </p:cNvPr>
          <p:cNvSpPr txBox="1"/>
          <p:nvPr/>
        </p:nvSpPr>
        <p:spPr>
          <a:xfrm>
            <a:off x="360000" y="1037266"/>
            <a:ext cx="11483999" cy="2067169"/>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Record</a:t>
            </a:r>
            <a:r>
              <a:rPr lang="en-AU" sz="4400">
                <a:latin typeface="Arial" panose="020B0604020202020204" pitchFamily="34" charset="0"/>
                <a:ea typeface="Calibri" panose="020F0502020204030204" pitchFamily="34" charset="0"/>
              </a:rPr>
              <a:t> the following lengths in </a:t>
            </a:r>
            <a:r>
              <a:rPr lang="en-AU" sz="4400" b="1">
                <a:latin typeface="Arial" panose="020B0604020202020204" pitchFamily="34" charset="0"/>
                <a:ea typeface="Calibri" panose="020F0502020204030204" pitchFamily="34" charset="0"/>
              </a:rPr>
              <a:t>millimetres</a:t>
            </a:r>
            <a:r>
              <a:rPr lang="en-AU" sz="3600">
                <a:latin typeface="Arial" panose="020B0604020202020204" pitchFamily="34" charset="0"/>
                <a:ea typeface="Calibri" panose="020F0502020204030204" pitchFamily="34" charset="0"/>
              </a:rPr>
              <a:t>:</a:t>
            </a:r>
          </a:p>
          <a:p>
            <a:pPr lvl="0" algn="ctr">
              <a:lnSpc>
                <a:spcPct val="150000"/>
              </a:lnSpc>
              <a:spcBef>
                <a:spcPts val="1200"/>
              </a:spcBef>
              <a:spcAft>
                <a:spcPts val="600"/>
              </a:spcAft>
            </a:pPr>
            <a:endParaRPr lang="en-AU" sz="3600">
              <a:effectLst/>
              <a:latin typeface="Arial" panose="020B0604020202020204" pitchFamily="34" charset="0"/>
              <a:ea typeface="Calibri" panose="020F0502020204030204" pitchFamily="34" charset="0"/>
            </a:endParaRPr>
          </a:p>
        </p:txBody>
      </p:sp>
      <p:pic>
        <p:nvPicPr>
          <p:cNvPr id="10" name="Picture 9" descr="3 lines and 3 x 15cm rulers. Millimetres are marked out along the ruler. The length of the lines are:&#10;A. At the eighth marking&#10;B. 3 marks after the 7 on the ruler&#10;C. 5 marks after the 14 on the ruler">
            <a:extLst>
              <a:ext uri="{FF2B5EF4-FFF2-40B4-BE49-F238E27FC236}">
                <a16:creationId xmlns:a16="http://schemas.microsoft.com/office/drawing/2014/main" id="{AF1335CD-B361-3E85-77AC-282C943476AD}"/>
              </a:ext>
            </a:extLst>
          </p:cNvPr>
          <p:cNvPicPr>
            <a:picLocks noChangeAspect="1"/>
          </p:cNvPicPr>
          <p:nvPr/>
        </p:nvPicPr>
        <p:blipFill>
          <a:blip r:embed="rId4"/>
          <a:stretch>
            <a:fillRect/>
          </a:stretch>
        </p:blipFill>
        <p:spPr>
          <a:xfrm>
            <a:off x="2593127" y="2354094"/>
            <a:ext cx="7306427" cy="4341906"/>
          </a:xfrm>
          <a:prstGeom prst="rect">
            <a:avLst/>
          </a:prstGeom>
          <a:ln>
            <a:noFill/>
          </a:ln>
          <a:effectLst/>
        </p:spPr>
      </p:pic>
      <p:sp>
        <p:nvSpPr>
          <p:cNvPr id="4" name="TextBox 3">
            <a:extLst>
              <a:ext uri="{FF2B5EF4-FFF2-40B4-BE49-F238E27FC236}">
                <a16:creationId xmlns:a16="http://schemas.microsoft.com/office/drawing/2014/main" id="{0A168455-5A03-D4DA-B56B-FF0F75B2C3AE}"/>
              </a:ext>
              <a:ext uri="{C183D7F6-B498-43B3-948B-1728B52AA6E4}">
                <adec:decorative xmlns:adec="http://schemas.microsoft.com/office/drawing/2017/decorative" val="1"/>
              </a:ext>
            </a:extLst>
          </p:cNvPr>
          <p:cNvSpPr txBox="1"/>
          <p:nvPr/>
        </p:nvSpPr>
        <p:spPr>
          <a:xfrm>
            <a:off x="1718752" y="2509432"/>
            <a:ext cx="1073945" cy="820674"/>
          </a:xfrm>
          <a:prstGeom prst="rect">
            <a:avLst/>
          </a:prstGeom>
          <a:noFill/>
        </p:spPr>
        <p:txBody>
          <a:bodyPr wrap="square">
            <a:spAutoFit/>
          </a:bodyPr>
          <a:lstStyle/>
          <a:p>
            <a:pPr lvl="0" algn="ctr">
              <a:lnSpc>
                <a:spcPct val="150000"/>
              </a:lnSpc>
              <a:spcBef>
                <a:spcPts val="1200"/>
              </a:spcBef>
              <a:spcAft>
                <a:spcPts val="600"/>
              </a:spcAft>
            </a:pPr>
            <a:r>
              <a:rPr lang="en-AU" sz="3600" b="1">
                <a:latin typeface="Arial" panose="020B0604020202020204" pitchFamily="34" charset="0"/>
                <a:ea typeface="Calibri" panose="020F0502020204030204" pitchFamily="34" charset="0"/>
              </a:rPr>
              <a:t>A</a:t>
            </a:r>
            <a:endParaRPr lang="en-AU" sz="3600">
              <a:effectLst/>
              <a:latin typeface="Arial" panose="020B060402020202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CB1E9A4F-82E0-447B-02B3-D8845521C5F0}"/>
              </a:ext>
              <a:ext uri="{C183D7F6-B498-43B3-948B-1728B52AA6E4}">
                <adec:decorative xmlns:adec="http://schemas.microsoft.com/office/drawing/2017/decorative" val="1"/>
              </a:ext>
            </a:extLst>
          </p:cNvPr>
          <p:cNvSpPr txBox="1"/>
          <p:nvPr/>
        </p:nvSpPr>
        <p:spPr>
          <a:xfrm>
            <a:off x="1718752" y="4023932"/>
            <a:ext cx="1073945" cy="820674"/>
          </a:xfrm>
          <a:prstGeom prst="rect">
            <a:avLst/>
          </a:prstGeom>
          <a:noFill/>
        </p:spPr>
        <p:txBody>
          <a:bodyPr wrap="square">
            <a:spAutoFit/>
          </a:bodyPr>
          <a:lstStyle/>
          <a:p>
            <a:pPr lvl="0" algn="ctr">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rPr>
              <a:t>B</a:t>
            </a:r>
            <a:endParaRPr lang="en-AU" sz="3600">
              <a:effectLst/>
              <a:latin typeface="Arial" panose="020B0604020202020204" pitchFamily="34" charset="0"/>
              <a:ea typeface="Calibri" panose="020F0502020204030204" pitchFamily="34" charset="0"/>
            </a:endParaRPr>
          </a:p>
        </p:txBody>
      </p:sp>
      <p:sp>
        <p:nvSpPr>
          <p:cNvPr id="8" name="TextBox 7">
            <a:extLst>
              <a:ext uri="{FF2B5EF4-FFF2-40B4-BE49-F238E27FC236}">
                <a16:creationId xmlns:a16="http://schemas.microsoft.com/office/drawing/2014/main" id="{E5F7E6D9-14A6-9CC8-0E84-FC418BD06A3B}"/>
              </a:ext>
              <a:ext uri="{C183D7F6-B498-43B3-948B-1728B52AA6E4}">
                <adec:decorative xmlns:adec="http://schemas.microsoft.com/office/drawing/2017/decorative" val="1"/>
              </a:ext>
            </a:extLst>
          </p:cNvPr>
          <p:cNvSpPr txBox="1"/>
          <p:nvPr/>
        </p:nvSpPr>
        <p:spPr>
          <a:xfrm>
            <a:off x="1718752" y="5538432"/>
            <a:ext cx="1073945" cy="820674"/>
          </a:xfrm>
          <a:prstGeom prst="rect">
            <a:avLst/>
          </a:prstGeom>
          <a:noFill/>
        </p:spPr>
        <p:txBody>
          <a:bodyPr wrap="square">
            <a:spAutoFit/>
          </a:bodyPr>
          <a:lstStyle/>
          <a:p>
            <a:pPr lvl="0" algn="ctr">
              <a:lnSpc>
                <a:spcPct val="150000"/>
              </a:lnSpc>
              <a:spcBef>
                <a:spcPts val="1200"/>
              </a:spcBef>
              <a:spcAft>
                <a:spcPts val="600"/>
              </a:spcAft>
            </a:pPr>
            <a:r>
              <a:rPr lang="en-AU" sz="3600" b="1">
                <a:latin typeface="Arial" panose="020B0604020202020204" pitchFamily="34" charset="0"/>
                <a:ea typeface="Calibri" panose="020F0502020204030204" pitchFamily="34" charset="0"/>
              </a:rPr>
              <a:t>C</a:t>
            </a:r>
            <a:endParaRPr lang="en-AU" sz="36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partially covered array</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
        <p:nvSpPr>
          <p:cNvPr id="5" name="TextBox 4">
            <a:extLst>
              <a:ext uri="{FF2B5EF4-FFF2-40B4-BE49-F238E27FC236}">
                <a16:creationId xmlns:a16="http://schemas.microsoft.com/office/drawing/2014/main" id="{B8073496-19C2-4535-DC4E-241C757EAE47}"/>
              </a:ext>
            </a:extLst>
          </p:cNvPr>
          <p:cNvSpPr txBox="1"/>
          <p:nvPr/>
        </p:nvSpPr>
        <p:spPr>
          <a:xfrm>
            <a:off x="360000" y="1247996"/>
            <a:ext cx="8844751" cy="48753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AU" sz="2000">
                <a:latin typeface="Arial"/>
                <a:cs typeface="Arial"/>
              </a:rPr>
              <a:t>​</a:t>
            </a:r>
            <a:r>
              <a:rPr lang="en-AU" sz="2800" dirty="0">
                <a:latin typeface="Arial"/>
                <a:cs typeface="Arial"/>
              </a:rPr>
              <a:t>Play in pairs.</a:t>
            </a:r>
          </a:p>
          <a:p>
            <a:pPr marL="285750" indent="-285750">
              <a:lnSpc>
                <a:spcPct val="150000"/>
              </a:lnSpc>
              <a:buFont typeface="Arial,Sans-Serif"/>
              <a:buChar char="•"/>
            </a:pPr>
            <a:r>
              <a:rPr lang="en-AU" sz="2800" dirty="0">
                <a:latin typeface="Arial"/>
                <a:cs typeface="Arial"/>
              </a:rPr>
              <a:t>Take turns to roll two dice and use the numbers to make an array.</a:t>
            </a:r>
          </a:p>
          <a:p>
            <a:pPr marL="285750" indent="-285750">
              <a:lnSpc>
                <a:spcPct val="150000"/>
              </a:lnSpc>
              <a:buFont typeface="Arial,Sans-Serif"/>
              <a:buChar char="•"/>
            </a:pPr>
            <a:r>
              <a:rPr lang="en-AU" sz="2800" dirty="0">
                <a:latin typeface="Arial"/>
                <a:cs typeface="Arial"/>
              </a:rPr>
              <a:t>Partially cover the array with the cardboard so that only the top of one row and one column can be seen.</a:t>
            </a:r>
          </a:p>
          <a:p>
            <a:pPr marL="285750" indent="-285750">
              <a:lnSpc>
                <a:spcPct val="150000"/>
              </a:lnSpc>
              <a:buFont typeface="Arial,Sans-Serif"/>
              <a:buChar char="•"/>
            </a:pPr>
            <a:r>
              <a:rPr lang="en-AU" sz="2800" dirty="0">
                <a:latin typeface="Arial"/>
                <a:cs typeface="Arial"/>
              </a:rPr>
              <a:t>Show your partner the partially covered array.</a:t>
            </a:r>
          </a:p>
          <a:p>
            <a:pPr marL="285750" indent="-285750">
              <a:lnSpc>
                <a:spcPct val="150000"/>
              </a:lnSpc>
              <a:buFont typeface="Arial,Sans-Serif"/>
              <a:buChar char="•"/>
            </a:pPr>
            <a:r>
              <a:rPr lang="en-AU" sz="2800" dirty="0">
                <a:latin typeface="Arial"/>
                <a:cs typeface="Arial"/>
              </a:rPr>
              <a:t>Your partner records a number sentence that represents the array. For example, 4 rows of 6 is 24.</a:t>
            </a:r>
          </a:p>
        </p:txBody>
      </p:sp>
      <p:pic>
        <p:nvPicPr>
          <p:cNvPr id="3" name="Picture 2" descr="An array of 4 rows of 6. Covered by a blue rectangle so that only part of the top row and first column can be seen.">
            <a:extLst>
              <a:ext uri="{FF2B5EF4-FFF2-40B4-BE49-F238E27FC236}">
                <a16:creationId xmlns:a16="http://schemas.microsoft.com/office/drawing/2014/main" id="{AB7712F7-614B-5714-AE5D-E268ACEA9A50}"/>
              </a:ext>
            </a:extLst>
          </p:cNvPr>
          <p:cNvPicPr>
            <a:picLocks noChangeAspect="1"/>
          </p:cNvPicPr>
          <p:nvPr/>
        </p:nvPicPr>
        <p:blipFill>
          <a:blip r:embed="rId4"/>
          <a:stretch>
            <a:fillRect/>
          </a:stretch>
        </p:blipFill>
        <p:spPr>
          <a:xfrm>
            <a:off x="8767505" y="1439653"/>
            <a:ext cx="3424495" cy="2228414"/>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dirty="0">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p:txBody>
          <a:bodyPr/>
          <a:lstStyle/>
          <a:p>
            <a:pPr algn="ctr"/>
            <a:r>
              <a:rPr lang="en-US" sz="5400"/>
              <a:t>4 x 3 = 12, so</a:t>
            </a:r>
          </a:p>
          <a:p>
            <a:pPr algn="ctr"/>
            <a:r>
              <a:rPr lang="en-US" sz="5400" b="1"/>
              <a:t>12 ÷ 3 =</a:t>
            </a:r>
          </a:p>
          <a:p>
            <a:endParaRPr lang="en-US" sz="4400"/>
          </a:p>
        </p:txBody>
      </p:sp>
      <p:sp>
        <p:nvSpPr>
          <p:cNvPr id="9" name="TextBox 8">
            <a:extLst>
              <a:ext uri="{FF2B5EF4-FFF2-40B4-BE49-F238E27FC236}">
                <a16:creationId xmlns:a16="http://schemas.microsoft.com/office/drawing/2014/main" id="{AF13415D-5ABE-8CE1-9EF6-D83C6FF3BAC9}"/>
              </a:ext>
            </a:extLst>
          </p:cNvPr>
          <p:cNvSpPr txBox="1"/>
          <p:nvPr/>
        </p:nvSpPr>
        <p:spPr>
          <a:xfrm>
            <a:off x="1316350" y="44748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4" name="Text Placeholder 17">
            <a:extLst>
              <a:ext uri="{FF2B5EF4-FFF2-40B4-BE49-F238E27FC236}">
                <a16:creationId xmlns:a16="http://schemas.microsoft.com/office/drawing/2014/main" id="{9C6A1523-88D6-F135-522E-66A53E43311E}"/>
              </a:ext>
            </a:extLst>
          </p:cNvPr>
          <p:cNvSpPr txBox="1">
            <a:spLocks/>
          </p:cNvSpPr>
          <p:nvPr/>
        </p:nvSpPr>
        <p:spPr>
          <a:xfrm>
            <a:off x="84851" y="5065938"/>
            <a:ext cx="284177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12</a:t>
            </a:r>
            <a:endParaRPr lang="en-US" sz="4400" dirty="0"/>
          </a:p>
        </p:txBody>
      </p:sp>
      <p:sp>
        <p:nvSpPr>
          <p:cNvPr id="10" name="TextBox 9">
            <a:extLst>
              <a:ext uri="{FF2B5EF4-FFF2-40B4-BE49-F238E27FC236}">
                <a16:creationId xmlns:a16="http://schemas.microsoft.com/office/drawing/2014/main" id="{06BFC4FD-CDBD-E74C-2B4B-957276E8D806}"/>
              </a:ext>
            </a:extLst>
          </p:cNvPr>
          <p:cNvSpPr txBox="1"/>
          <p:nvPr/>
        </p:nvSpPr>
        <p:spPr>
          <a:xfrm>
            <a:off x="4286795" y="44748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 Placeholder 17">
            <a:extLst>
              <a:ext uri="{FF2B5EF4-FFF2-40B4-BE49-F238E27FC236}">
                <a16:creationId xmlns:a16="http://schemas.microsoft.com/office/drawing/2014/main" id="{9585FC64-687E-6323-CEB1-C0ED0650824B}"/>
              </a:ext>
            </a:extLst>
          </p:cNvPr>
          <p:cNvSpPr txBox="1">
            <a:spLocks/>
          </p:cNvSpPr>
          <p:nvPr/>
        </p:nvSpPr>
        <p:spPr>
          <a:xfrm>
            <a:off x="3096333" y="5065938"/>
            <a:ext cx="284177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a:t>
            </a:r>
            <a:endParaRPr lang="en-US" sz="4400" dirty="0"/>
          </a:p>
        </p:txBody>
      </p:sp>
      <p:sp>
        <p:nvSpPr>
          <p:cNvPr id="12" name="TextBox 11">
            <a:extLst>
              <a:ext uri="{FF2B5EF4-FFF2-40B4-BE49-F238E27FC236}">
                <a16:creationId xmlns:a16="http://schemas.microsoft.com/office/drawing/2014/main" id="{0CCBA3B1-EB4D-D918-A8D0-B78C7621C52A}"/>
              </a:ext>
            </a:extLst>
          </p:cNvPr>
          <p:cNvSpPr txBox="1"/>
          <p:nvPr/>
        </p:nvSpPr>
        <p:spPr>
          <a:xfrm>
            <a:off x="7257240" y="44748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 Placeholder 17">
            <a:extLst>
              <a:ext uri="{FF2B5EF4-FFF2-40B4-BE49-F238E27FC236}">
                <a16:creationId xmlns:a16="http://schemas.microsoft.com/office/drawing/2014/main" id="{4CD64E65-DF8E-7DA5-417E-5DC5873E5F65}"/>
              </a:ext>
            </a:extLst>
          </p:cNvPr>
          <p:cNvSpPr txBox="1">
            <a:spLocks/>
          </p:cNvSpPr>
          <p:nvPr/>
        </p:nvSpPr>
        <p:spPr>
          <a:xfrm>
            <a:off x="6022962" y="5065938"/>
            <a:ext cx="284177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4</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447483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 Placeholder 17">
            <a:extLst>
              <a:ext uri="{FF2B5EF4-FFF2-40B4-BE49-F238E27FC236}">
                <a16:creationId xmlns:a16="http://schemas.microsoft.com/office/drawing/2014/main" id="{61CE7475-446B-B4FC-BD4E-33F5A6203A93}"/>
              </a:ext>
            </a:extLst>
          </p:cNvPr>
          <p:cNvSpPr txBox="1">
            <a:spLocks/>
          </p:cNvSpPr>
          <p:nvPr/>
        </p:nvSpPr>
        <p:spPr>
          <a:xfrm>
            <a:off x="9034444" y="5065938"/>
            <a:ext cx="284177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dirty="0"/>
              <a:t>6</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7" name="TextBox 6">
            <a:extLst>
              <a:ext uri="{FF2B5EF4-FFF2-40B4-BE49-F238E27FC236}">
                <a16:creationId xmlns:a16="http://schemas.microsoft.com/office/drawing/2014/main" id="{FBC6CCA1-962B-46E5-77A6-15907DFCA102}"/>
              </a:ext>
            </a:extLst>
          </p:cNvPr>
          <p:cNvSpPr txBox="1"/>
          <p:nvPr/>
        </p:nvSpPr>
        <p:spPr>
          <a:xfrm>
            <a:off x="360000" y="905601"/>
            <a:ext cx="11472000" cy="5287409"/>
          </a:xfrm>
          <a:prstGeom prst="rect">
            <a:avLst/>
          </a:prstGeom>
          <a:noFill/>
        </p:spPr>
        <p:txBody>
          <a:bodyPr wrap="square">
            <a:spAutoFit/>
          </a:bodyPr>
          <a:lstStyle/>
          <a:p>
            <a:pPr>
              <a:lnSpc>
                <a:spcPct val="150000"/>
              </a:lnSpc>
              <a:spcBef>
                <a:spcPts val="1200"/>
              </a:spcBef>
              <a:spcAft>
                <a:spcPts val="600"/>
              </a:spcAft>
            </a:pPr>
            <a:r>
              <a:rPr lang="en-AU" sz="4000">
                <a:latin typeface="Arial" panose="020B0604020202020204" pitchFamily="34" charset="0"/>
                <a:ea typeface="Calibri" panose="020F0502020204030204" pitchFamily="34" charset="0"/>
              </a:rPr>
              <a:t>For the </a:t>
            </a:r>
            <a:r>
              <a:rPr lang="en-AU" sz="4000" b="1">
                <a:latin typeface="Arial" panose="020B0604020202020204" pitchFamily="34" charset="0"/>
                <a:ea typeface="Calibri" panose="020F0502020204030204" pitchFamily="34" charset="0"/>
              </a:rPr>
              <a:t>number marked </a:t>
            </a:r>
            <a:r>
              <a:rPr lang="en-AU" sz="4000">
                <a:latin typeface="Arial" panose="020B0604020202020204" pitchFamily="34" charset="0"/>
                <a:ea typeface="Calibri" panose="020F0502020204030204" pitchFamily="34" charset="0"/>
              </a:rPr>
              <a:t>on the number line, </a:t>
            </a:r>
            <a:r>
              <a:rPr lang="en-AU" sz="4000" b="1">
                <a:latin typeface="Arial" panose="020B0604020202020204" pitchFamily="34" charset="0"/>
                <a:ea typeface="Calibri" panose="020F0502020204030204" pitchFamily="34" charset="0"/>
              </a:rPr>
              <a:t>record</a:t>
            </a:r>
            <a:r>
              <a:rPr lang="en-AU" sz="4000">
                <a:latin typeface="Arial" panose="020B0604020202020204" pitchFamily="34" charset="0"/>
                <a:ea typeface="Calibri" panose="020F0502020204030204" pitchFamily="34" charset="0"/>
              </a:rPr>
              <a:t> the </a:t>
            </a:r>
            <a:r>
              <a:rPr lang="en-AU" sz="4000" b="1">
                <a:latin typeface="Arial" panose="020B0604020202020204" pitchFamily="34" charset="0"/>
                <a:ea typeface="Calibri" panose="020F0502020204030204" pitchFamily="34" charset="0"/>
              </a:rPr>
              <a:t>nearest</a:t>
            </a:r>
            <a:r>
              <a:rPr lang="en-AU" sz="4000">
                <a:latin typeface="Arial" panose="020B0604020202020204" pitchFamily="34" charset="0"/>
                <a:ea typeface="Calibri" panose="020F0502020204030204" pitchFamily="34" charset="0"/>
              </a:rPr>
              <a:t>:</a:t>
            </a:r>
          </a:p>
          <a:p>
            <a:pPr lvl="0">
              <a:lnSpc>
                <a:spcPct val="150000"/>
              </a:lnSpc>
              <a:spcBef>
                <a:spcPts val="1200"/>
              </a:spcBef>
              <a:spcAft>
                <a:spcPts val="600"/>
              </a:spcAft>
            </a:pPr>
            <a:r>
              <a:rPr lang="en-AU" sz="4000" b="1">
                <a:solidFill>
                  <a:schemeClr val="accent2"/>
                </a:solidFill>
                <a:effectLst/>
                <a:latin typeface="Arial" panose="020B0604020202020204" pitchFamily="34" charset="0"/>
                <a:ea typeface="Calibri" panose="020F0502020204030204" pitchFamily="34" charset="0"/>
              </a:rPr>
              <a:t>a) thousand</a:t>
            </a:r>
          </a:p>
          <a:p>
            <a:pPr lvl="0">
              <a:lnSpc>
                <a:spcPct val="150000"/>
              </a:lnSpc>
              <a:spcBef>
                <a:spcPts val="1200"/>
              </a:spcBef>
              <a:spcAft>
                <a:spcPts val="600"/>
              </a:spcAft>
            </a:pPr>
            <a:r>
              <a:rPr lang="en-AU" sz="4000" b="1">
                <a:solidFill>
                  <a:srgbClr val="00B050"/>
                </a:solidFill>
                <a:latin typeface="Arial" panose="020B0604020202020204" pitchFamily="34" charset="0"/>
                <a:ea typeface="Calibri" panose="020F0502020204030204" pitchFamily="34" charset="0"/>
              </a:rPr>
              <a:t>b) ten thousand</a:t>
            </a:r>
          </a:p>
          <a:p>
            <a:pPr lvl="0">
              <a:lnSpc>
                <a:spcPct val="150000"/>
              </a:lnSpc>
              <a:spcBef>
                <a:spcPts val="1200"/>
              </a:spcBef>
              <a:spcAft>
                <a:spcPts val="600"/>
              </a:spcAft>
            </a:pPr>
            <a:r>
              <a:rPr lang="en-AU" sz="4000" b="1">
                <a:solidFill>
                  <a:srgbClr val="EE6314"/>
                </a:solidFill>
                <a:effectLst/>
                <a:latin typeface="Arial" panose="020B0604020202020204" pitchFamily="34" charset="0"/>
                <a:ea typeface="Calibri" panose="020F0502020204030204" pitchFamily="34" charset="0"/>
              </a:rPr>
              <a:t>c) hundred thousand</a:t>
            </a:r>
          </a:p>
        </p:txBody>
      </p:sp>
      <p:pic>
        <p:nvPicPr>
          <p:cNvPr id="5" name="Picture 4" descr="3 number lines with the following numbers marked:&#10;a) 2463&#10;b) 25 553&#10;c) 465 699">
            <a:extLst>
              <a:ext uri="{FF2B5EF4-FFF2-40B4-BE49-F238E27FC236}">
                <a16:creationId xmlns:a16="http://schemas.microsoft.com/office/drawing/2014/main" id="{55936E92-BC0C-82CE-57DD-289536C7D43A}"/>
              </a:ext>
            </a:extLst>
          </p:cNvPr>
          <p:cNvPicPr>
            <a:picLocks noChangeAspect="1"/>
          </p:cNvPicPr>
          <p:nvPr/>
        </p:nvPicPr>
        <p:blipFill>
          <a:blip r:embed="rId4"/>
          <a:stretch>
            <a:fillRect/>
          </a:stretch>
        </p:blipFill>
        <p:spPr>
          <a:xfrm>
            <a:off x="6434936" y="2094740"/>
            <a:ext cx="4857325" cy="40254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7" name="TextBox 6">
            <a:extLst>
              <a:ext uri="{FF2B5EF4-FFF2-40B4-BE49-F238E27FC236}">
                <a16:creationId xmlns:a16="http://schemas.microsoft.com/office/drawing/2014/main" id="{7B14E716-0245-FFF5-3AF1-E9FC77C81A9F}"/>
              </a:ext>
            </a:extLst>
          </p:cNvPr>
          <p:cNvSpPr txBox="1"/>
          <p:nvPr/>
        </p:nvSpPr>
        <p:spPr>
          <a:xfrm>
            <a:off x="1277007" y="1627857"/>
            <a:ext cx="9596292" cy="982513"/>
          </a:xfrm>
          <a:prstGeom prst="rect">
            <a:avLst/>
          </a:prstGeom>
          <a:noFill/>
        </p:spPr>
        <p:txBody>
          <a:bodyPr wrap="square">
            <a:spAutoFit/>
          </a:bodyPr>
          <a:lstStyle/>
          <a:p>
            <a:pPr lvl="0">
              <a:lnSpc>
                <a:spcPct val="150000"/>
              </a:lnSpc>
            </a:pPr>
            <a:r>
              <a:rPr lang="en-AU" sz="4400"/>
              <a:t>The letter </a:t>
            </a:r>
            <a:r>
              <a:rPr lang="en-AU" sz="4400" b="1"/>
              <a:t>L </a:t>
            </a:r>
            <a:r>
              <a:rPr lang="en-AU" sz="4400"/>
              <a:t>is a</a:t>
            </a:r>
            <a:r>
              <a:rPr lang="en-AU" sz="4400" b="1"/>
              <a:t> ___________ </a:t>
            </a:r>
            <a:r>
              <a:rPr lang="en-AU" sz="4400"/>
              <a:t>angle. </a:t>
            </a:r>
          </a:p>
        </p:txBody>
      </p:sp>
      <p:pic>
        <p:nvPicPr>
          <p:cNvPr id="5" name="Picture 4" descr="Letter L - with the internal angle indicated">
            <a:extLst>
              <a:ext uri="{FF2B5EF4-FFF2-40B4-BE49-F238E27FC236}">
                <a16:creationId xmlns:a16="http://schemas.microsoft.com/office/drawing/2014/main" id="{4FE8F0C9-AD55-B484-0792-F141B8EAA095}"/>
              </a:ext>
            </a:extLst>
          </p:cNvPr>
          <p:cNvPicPr>
            <a:picLocks noChangeAspect="1"/>
          </p:cNvPicPr>
          <p:nvPr/>
        </p:nvPicPr>
        <p:blipFill>
          <a:blip r:embed="rId4"/>
          <a:stretch>
            <a:fillRect/>
          </a:stretch>
        </p:blipFill>
        <p:spPr>
          <a:xfrm>
            <a:off x="4833672" y="3063447"/>
            <a:ext cx="2524656" cy="3102192"/>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7" name="TextBox 6">
            <a:extLst>
              <a:ext uri="{FF2B5EF4-FFF2-40B4-BE49-F238E27FC236}">
                <a16:creationId xmlns:a16="http://schemas.microsoft.com/office/drawing/2014/main" id="{2E2BF6EC-D7D3-9463-A9EF-669C8F4EE829}"/>
              </a:ext>
            </a:extLst>
          </p:cNvPr>
          <p:cNvSpPr txBox="1"/>
          <p:nvPr/>
        </p:nvSpPr>
        <p:spPr>
          <a:xfrm>
            <a:off x="633258" y="792350"/>
            <a:ext cx="10763999" cy="820674"/>
          </a:xfrm>
          <a:prstGeom prst="rect">
            <a:avLst/>
          </a:prstGeom>
          <a:noFill/>
        </p:spPr>
        <p:txBody>
          <a:bodyPr wrap="square">
            <a:spAutoFit/>
          </a:bodyPr>
          <a:lstStyle/>
          <a:p>
            <a:pPr lvl="0" algn="ctr">
              <a:lnSpc>
                <a:spcPct val="150000"/>
              </a:lnSpc>
              <a:spcBef>
                <a:spcPts val="1200"/>
              </a:spcBef>
              <a:spcAft>
                <a:spcPts val="600"/>
              </a:spcAft>
            </a:pPr>
            <a:r>
              <a:rPr lang="en-AU" sz="3600" dirty="0">
                <a:latin typeface="Arial" panose="020B0604020202020204" pitchFamily="34" charset="0"/>
                <a:ea typeface="Calibri" panose="020F0502020204030204" pitchFamily="34" charset="0"/>
              </a:rPr>
              <a:t>The </a:t>
            </a:r>
            <a:r>
              <a:rPr lang="en-AU" sz="3600" b="1" dirty="0">
                <a:latin typeface="Arial" panose="020B0604020202020204" pitchFamily="34" charset="0"/>
                <a:ea typeface="Calibri" panose="020F0502020204030204" pitchFamily="34" charset="0"/>
              </a:rPr>
              <a:t>net</a:t>
            </a:r>
            <a:r>
              <a:rPr lang="en-AU" sz="3600" dirty="0">
                <a:latin typeface="Arial" panose="020B0604020202020204" pitchFamily="34" charset="0"/>
                <a:ea typeface="Calibri" panose="020F0502020204030204" pitchFamily="34" charset="0"/>
              </a:rPr>
              <a:t> for this </a:t>
            </a:r>
            <a:r>
              <a:rPr lang="en-AU" sz="3600" b="1" dirty="0">
                <a:latin typeface="Arial" panose="020B0604020202020204" pitchFamily="34" charset="0"/>
                <a:ea typeface="Calibri" panose="020F0502020204030204" pitchFamily="34" charset="0"/>
              </a:rPr>
              <a:t>deconstructed box </a:t>
            </a:r>
            <a:r>
              <a:rPr lang="en-AU" sz="3600" dirty="0">
                <a:latin typeface="Arial" panose="020B0604020202020204" pitchFamily="34" charset="0"/>
                <a:ea typeface="Calibri" panose="020F0502020204030204" pitchFamily="34" charset="0"/>
              </a:rPr>
              <a:t>would look like:</a:t>
            </a:r>
            <a:endParaRPr lang="en-AU" sz="3600" dirty="0">
              <a:effectLst/>
              <a:latin typeface="Arial" panose="020B0604020202020204" pitchFamily="34" charset="0"/>
              <a:ea typeface="Calibri" panose="020F0502020204030204" pitchFamily="34" charset="0"/>
            </a:endParaRPr>
          </a:p>
        </p:txBody>
      </p:sp>
      <p:pic>
        <p:nvPicPr>
          <p:cNvPr id="5" name="Picture 4" descr="2 steps to show how to deconstruct a package with scissors. Step 1 shows the biscuit box. Step 2 shows it is after being cut along the edges. ">
            <a:extLst>
              <a:ext uri="{FF2B5EF4-FFF2-40B4-BE49-F238E27FC236}">
                <a16:creationId xmlns:a16="http://schemas.microsoft.com/office/drawing/2014/main" id="{4E496D82-1FE4-A598-BEE4-4593952CE4A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 t="3164" r="33838" b="63074"/>
          <a:stretch>
            <a:fillRect/>
          </a:stretch>
        </p:blipFill>
        <p:spPr bwMode="auto">
          <a:xfrm>
            <a:off x="3342891" y="1788899"/>
            <a:ext cx="5488960" cy="1980135"/>
          </a:xfrm>
          <a:prstGeom prst="rect">
            <a:avLst/>
          </a:prstGeom>
          <a:noFill/>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A45E1A23-C4E4-9630-403E-1D426B728794}"/>
              </a:ext>
            </a:extLst>
          </p:cNvPr>
          <p:cNvSpPr txBox="1"/>
          <p:nvPr/>
        </p:nvSpPr>
        <p:spPr>
          <a:xfrm>
            <a:off x="910967" y="4313230"/>
            <a:ext cx="22887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pic>
        <p:nvPicPr>
          <p:cNvPr id="9" name="Picture 8" descr="An unfolded net of a rectangular prism.">
            <a:extLst>
              <a:ext uri="{FF2B5EF4-FFF2-40B4-BE49-F238E27FC236}">
                <a16:creationId xmlns:a16="http://schemas.microsoft.com/office/drawing/2014/main" id="{AA242814-EF12-5748-272B-06148961F3C2}"/>
              </a:ext>
            </a:extLst>
          </p:cNvPr>
          <p:cNvPicPr>
            <a:picLocks noChangeAspect="1"/>
          </p:cNvPicPr>
          <p:nvPr/>
        </p:nvPicPr>
        <p:blipFill rotWithShape="1">
          <a:blip r:embed="rId5">
            <a:extLst>
              <a:ext uri="{28A0092B-C50C-407E-A947-70E740481C1C}">
                <a14:useLocalDpi xmlns:a14="http://schemas.microsoft.com/office/drawing/2010/main" val="0"/>
              </a:ext>
            </a:extLst>
          </a:blip>
          <a:srcRect l="43785" t="11007" b="5489"/>
          <a:stretch>
            <a:fillRect/>
          </a:stretch>
        </p:blipFill>
        <p:spPr bwMode="auto">
          <a:xfrm rot="5400000">
            <a:off x="1579689" y="3944108"/>
            <a:ext cx="1719933" cy="1806471"/>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7A3B533B-05D1-1106-51F7-BEFE2D5CE5C6}"/>
              </a:ext>
            </a:extLst>
          </p:cNvPr>
          <p:cNvSpPr txBox="1"/>
          <p:nvPr/>
        </p:nvSpPr>
        <p:spPr>
          <a:xfrm>
            <a:off x="5014205" y="438811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pic>
        <p:nvPicPr>
          <p:cNvPr id="14" name="Picture 13" descr="An unfolded net of a cube with folding lines.">
            <a:extLst>
              <a:ext uri="{FF2B5EF4-FFF2-40B4-BE49-F238E27FC236}">
                <a16:creationId xmlns:a16="http://schemas.microsoft.com/office/drawing/2014/main" id="{424A6784-52D4-5D1F-0B00-9BB2DDBFFDB0}"/>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9223" r="13325" b="1995"/>
          <a:stretch>
            <a:fillRect/>
          </a:stretch>
        </p:blipFill>
        <p:spPr bwMode="auto">
          <a:xfrm rot="5400000">
            <a:off x="5443148" y="4121378"/>
            <a:ext cx="1736121" cy="1553056"/>
          </a:xfrm>
          <a:prstGeom prst="rect">
            <a:avLst/>
          </a:prstGeom>
          <a:noFill/>
          <a:ln>
            <a:noFill/>
          </a:ln>
          <a:extLst>
            <a:ext uri="{53640926-AAD7-44D8-BBD7-CCE9431645EC}">
              <a14:shadowObscured xmlns:a14="http://schemas.microsoft.com/office/drawing/2010/main"/>
            </a:ext>
          </a:extLst>
        </p:spPr>
      </p:pic>
      <p:sp>
        <p:nvSpPr>
          <p:cNvPr id="12" name="TextBox 11">
            <a:extLst>
              <a:ext uri="{FF2B5EF4-FFF2-40B4-BE49-F238E27FC236}">
                <a16:creationId xmlns:a16="http://schemas.microsoft.com/office/drawing/2014/main" id="{423D9CD7-D1BB-B04C-AA1C-3D1FF12A3979}"/>
              </a:ext>
            </a:extLst>
          </p:cNvPr>
          <p:cNvSpPr txBox="1"/>
          <p:nvPr/>
        </p:nvSpPr>
        <p:spPr>
          <a:xfrm>
            <a:off x="8750097" y="432640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pic>
        <p:nvPicPr>
          <p:cNvPr id="17" name="Picture 16" descr="A net of a pentagonal prism">
            <a:extLst>
              <a:ext uri="{FF2B5EF4-FFF2-40B4-BE49-F238E27FC236}">
                <a16:creationId xmlns:a16="http://schemas.microsoft.com/office/drawing/2014/main" id="{E4CE07B8-C020-318C-DEAD-D5B8F97FF958}"/>
              </a:ext>
            </a:extLst>
          </p:cNvPr>
          <p:cNvPicPr>
            <a:picLocks noChangeAspect="1"/>
          </p:cNvPicPr>
          <p:nvPr/>
        </p:nvPicPr>
        <p:blipFill>
          <a:blip r:embed="rId7"/>
          <a:stretch>
            <a:fillRect/>
          </a:stretch>
        </p:blipFill>
        <p:spPr>
          <a:xfrm>
            <a:off x="9290783" y="3727175"/>
            <a:ext cx="1944521" cy="1980135"/>
          </a:xfrm>
          <a:prstGeom prst="rect">
            <a:avLst/>
          </a:prstGeom>
        </p:spPr>
      </p:pic>
      <p:sp>
        <p:nvSpPr>
          <p:cNvPr id="13" name="TextBox 12">
            <a:extLst>
              <a:ext uri="{FF2B5EF4-FFF2-40B4-BE49-F238E27FC236}">
                <a16:creationId xmlns:a16="http://schemas.microsoft.com/office/drawing/2014/main" id="{3FCF24B3-6D55-69F4-746D-C4E28D7C15B0}"/>
              </a:ext>
            </a:extLst>
          </p:cNvPr>
          <p:cNvSpPr txBox="1"/>
          <p:nvPr/>
        </p:nvSpPr>
        <p:spPr>
          <a:xfrm>
            <a:off x="380323" y="5917607"/>
            <a:ext cx="10763999" cy="820674"/>
          </a:xfrm>
          <a:prstGeom prst="rect">
            <a:avLst/>
          </a:prstGeom>
          <a:noFill/>
        </p:spPr>
        <p:txBody>
          <a:bodyPr wrap="square">
            <a:spAutoFit/>
          </a:bodyPr>
          <a:lstStyle/>
          <a:p>
            <a:pPr lvl="0" algn="ctr">
              <a:lnSpc>
                <a:spcPct val="150000"/>
              </a:lnSpc>
              <a:spcBef>
                <a:spcPts val="1200"/>
              </a:spcBef>
              <a:spcAft>
                <a:spcPts val="600"/>
              </a:spcAft>
            </a:pPr>
            <a:r>
              <a:rPr lang="en-AU" sz="3600" b="1" dirty="0">
                <a:latin typeface="Arial" panose="020B0604020202020204" pitchFamily="34" charset="0"/>
                <a:ea typeface="Calibri" panose="020F0502020204030204" pitchFamily="34" charset="0"/>
              </a:rPr>
              <a:t>Communicate</a:t>
            </a:r>
            <a:r>
              <a:rPr lang="en-AU" sz="3600" dirty="0">
                <a:latin typeface="Arial" panose="020B0604020202020204" pitchFamily="34" charset="0"/>
                <a:ea typeface="Calibri" panose="020F0502020204030204" pitchFamily="34" charset="0"/>
              </a:rPr>
              <a:t> your </a:t>
            </a:r>
            <a:r>
              <a:rPr lang="en-AU" sz="3600" b="1" dirty="0">
                <a:latin typeface="Arial" panose="020B0604020202020204" pitchFamily="34" charset="0"/>
                <a:ea typeface="Calibri" panose="020F0502020204030204" pitchFamily="34" charset="0"/>
              </a:rPr>
              <a:t>reasoning</a:t>
            </a:r>
            <a:r>
              <a:rPr lang="en-AU" sz="3600" dirty="0">
                <a:latin typeface="Arial" panose="020B0604020202020204" pitchFamily="34" charset="0"/>
                <a:ea typeface="Calibri" panose="020F0502020204030204" pitchFamily="34" charset="0"/>
              </a:rPr>
              <a:t>.</a:t>
            </a:r>
            <a:endParaRPr lang="en-AU" sz="36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5" name="TextBox 4">
            <a:extLst>
              <a:ext uri="{FF2B5EF4-FFF2-40B4-BE49-F238E27FC236}">
                <a16:creationId xmlns:a16="http://schemas.microsoft.com/office/drawing/2014/main" id="{8C5387B2-EF48-784C-CE7A-22B94E9F217E}"/>
              </a:ext>
            </a:extLst>
          </p:cNvPr>
          <p:cNvSpPr txBox="1"/>
          <p:nvPr/>
        </p:nvSpPr>
        <p:spPr>
          <a:xfrm>
            <a:off x="513032" y="1026299"/>
            <a:ext cx="10517443" cy="1570751"/>
          </a:xfrm>
          <a:prstGeom prst="rect">
            <a:avLst/>
          </a:prstGeom>
          <a:noFill/>
        </p:spPr>
        <p:txBody>
          <a:bodyPr wrap="square">
            <a:spAutoFit/>
          </a:bodyPr>
          <a:lstStyle/>
          <a:p>
            <a:pPr lvl="0" algn="ctr">
              <a:lnSpc>
                <a:spcPct val="150000"/>
              </a:lnSpc>
            </a:pPr>
            <a:r>
              <a:rPr lang="en-AU" sz="3600" b="1" dirty="0"/>
              <a:t>Fill</a:t>
            </a:r>
            <a:r>
              <a:rPr lang="en-AU" sz="3600" dirty="0"/>
              <a:t> in the </a:t>
            </a:r>
            <a:r>
              <a:rPr lang="en-AU" sz="3600" b="1" dirty="0"/>
              <a:t>blanks</a:t>
            </a:r>
            <a:r>
              <a:rPr lang="en-AU" sz="3600" dirty="0"/>
              <a:t> with these words</a:t>
            </a:r>
            <a:r>
              <a:rPr lang="en-AU" sz="3600" b="1" dirty="0"/>
              <a:t>: </a:t>
            </a:r>
            <a:br>
              <a:rPr lang="en-AU" sz="3600" b="1" dirty="0"/>
            </a:br>
            <a:endParaRPr lang="en-AU" sz="3200" b="1" dirty="0"/>
          </a:p>
        </p:txBody>
      </p:sp>
      <p:sp>
        <p:nvSpPr>
          <p:cNvPr id="7" name="TextBox 6">
            <a:extLst>
              <a:ext uri="{FF2B5EF4-FFF2-40B4-BE49-F238E27FC236}">
                <a16:creationId xmlns:a16="http://schemas.microsoft.com/office/drawing/2014/main" id="{9C5165BE-7BF7-1295-A9E9-DC1A51C865CB}"/>
              </a:ext>
            </a:extLst>
          </p:cNvPr>
          <p:cNvSpPr txBox="1"/>
          <p:nvPr/>
        </p:nvSpPr>
        <p:spPr>
          <a:xfrm>
            <a:off x="2226122" y="2081347"/>
            <a:ext cx="1523011" cy="461665"/>
          </a:xfrm>
          <a:prstGeom prst="rect">
            <a:avLst/>
          </a:prstGeom>
          <a:noFill/>
          <a:ln w="28575">
            <a:solidFill>
              <a:schemeClr val="accent2"/>
            </a:solidFill>
          </a:ln>
        </p:spPr>
        <p:txBody>
          <a:bodyPr wrap="square">
            <a:spAutoFit/>
          </a:bodyPr>
          <a:lstStyle/>
          <a:p>
            <a:pPr algn="ctr">
              <a:spcBef>
                <a:spcPts val="600"/>
              </a:spcBef>
              <a:spcAft>
                <a:spcPts val="1200"/>
              </a:spcAft>
            </a:pPr>
            <a:r>
              <a:rPr lang="en-AU" sz="2400" b="1" dirty="0"/>
              <a:t>likely</a:t>
            </a:r>
            <a:endParaRPr lang="en-AU" dirty="0"/>
          </a:p>
        </p:txBody>
      </p:sp>
      <p:sp>
        <p:nvSpPr>
          <p:cNvPr id="11" name="TextBox 10">
            <a:extLst>
              <a:ext uri="{FF2B5EF4-FFF2-40B4-BE49-F238E27FC236}">
                <a16:creationId xmlns:a16="http://schemas.microsoft.com/office/drawing/2014/main" id="{9812CDF3-E8F8-F6E5-2E40-D86FC9DB69E0}"/>
              </a:ext>
            </a:extLst>
          </p:cNvPr>
          <p:cNvSpPr txBox="1"/>
          <p:nvPr/>
        </p:nvSpPr>
        <p:spPr>
          <a:xfrm>
            <a:off x="4559937" y="2084514"/>
            <a:ext cx="2423632" cy="461665"/>
          </a:xfrm>
          <a:prstGeom prst="rect">
            <a:avLst/>
          </a:prstGeom>
          <a:noFill/>
          <a:ln w="28575">
            <a:solidFill>
              <a:schemeClr val="accent2"/>
            </a:solidFill>
          </a:ln>
        </p:spPr>
        <p:txBody>
          <a:bodyPr wrap="square">
            <a:spAutoFit/>
          </a:bodyPr>
          <a:lstStyle>
            <a:defPPr>
              <a:defRPr lang="en-US"/>
            </a:defPPr>
            <a:lvl1pPr algn="ctr">
              <a:spcBef>
                <a:spcPts val="600"/>
              </a:spcBef>
              <a:spcAft>
                <a:spcPts val="1200"/>
              </a:spcAft>
              <a:defRPr b="1"/>
            </a:lvl1pPr>
          </a:lstStyle>
          <a:p>
            <a:r>
              <a:rPr lang="en-AU" dirty="0"/>
              <a:t>equally likely</a:t>
            </a:r>
          </a:p>
        </p:txBody>
      </p:sp>
      <p:sp>
        <p:nvSpPr>
          <p:cNvPr id="13" name="TextBox 12">
            <a:extLst>
              <a:ext uri="{FF2B5EF4-FFF2-40B4-BE49-F238E27FC236}">
                <a16:creationId xmlns:a16="http://schemas.microsoft.com/office/drawing/2014/main" id="{A896D32B-942F-75F1-BD48-5DD281C82B55}"/>
              </a:ext>
            </a:extLst>
          </p:cNvPr>
          <p:cNvSpPr txBox="1"/>
          <p:nvPr/>
        </p:nvSpPr>
        <p:spPr>
          <a:xfrm>
            <a:off x="7885273" y="2081347"/>
            <a:ext cx="2154809" cy="461665"/>
          </a:xfrm>
          <a:prstGeom prst="rect">
            <a:avLst/>
          </a:prstGeom>
          <a:noFill/>
          <a:ln w="28575">
            <a:solidFill>
              <a:schemeClr val="accent2"/>
            </a:solidFill>
          </a:ln>
        </p:spPr>
        <p:txBody>
          <a:bodyPr wrap="square">
            <a:spAutoFit/>
          </a:bodyPr>
          <a:lstStyle>
            <a:defPPr>
              <a:defRPr lang="en-US"/>
            </a:defPPr>
            <a:lvl1pPr algn="ctr">
              <a:spcBef>
                <a:spcPts val="600"/>
              </a:spcBef>
              <a:spcAft>
                <a:spcPts val="1200"/>
              </a:spcAft>
              <a:defRPr b="1"/>
            </a:lvl1pPr>
          </a:lstStyle>
          <a:p>
            <a:r>
              <a:rPr lang="en-AU" dirty="0"/>
              <a:t>unlikely</a:t>
            </a:r>
          </a:p>
        </p:txBody>
      </p:sp>
      <p:sp>
        <p:nvSpPr>
          <p:cNvPr id="10" name="TextBox 9">
            <a:extLst>
              <a:ext uri="{FF2B5EF4-FFF2-40B4-BE49-F238E27FC236}">
                <a16:creationId xmlns:a16="http://schemas.microsoft.com/office/drawing/2014/main" id="{C2A4587B-E029-90F0-AF34-B080E1754F1B}"/>
              </a:ext>
            </a:extLst>
          </p:cNvPr>
          <p:cNvSpPr txBox="1"/>
          <p:nvPr/>
        </p:nvSpPr>
        <p:spPr>
          <a:xfrm>
            <a:off x="181745" y="3305030"/>
            <a:ext cx="9247262" cy="3417410"/>
          </a:xfrm>
          <a:prstGeom prst="rect">
            <a:avLst/>
          </a:prstGeom>
          <a:noFill/>
        </p:spPr>
        <p:txBody>
          <a:bodyPr wrap="square">
            <a:spAutoFit/>
          </a:bodyPr>
          <a:lstStyle/>
          <a:p>
            <a:pPr marL="457200" lvl="0" indent="-457200">
              <a:lnSpc>
                <a:spcPct val="150000"/>
              </a:lnSpc>
              <a:spcBef>
                <a:spcPts val="1200"/>
              </a:spcBef>
              <a:spcAft>
                <a:spcPts val="600"/>
              </a:spcAft>
              <a:buFont typeface="Arial" panose="020B0604020202020204" pitchFamily="34" charset="0"/>
              <a:buChar char="•"/>
            </a:pPr>
            <a:r>
              <a:rPr lang="en-AU" sz="3200" dirty="0"/>
              <a:t>It is _____________ I will toss </a:t>
            </a:r>
            <a:r>
              <a:rPr lang="en-AU" sz="3200" b="1" dirty="0"/>
              <a:t>tails.</a:t>
            </a:r>
          </a:p>
          <a:p>
            <a:pPr marL="457200" lvl="0" indent="-457200">
              <a:lnSpc>
                <a:spcPct val="150000"/>
              </a:lnSpc>
              <a:spcBef>
                <a:spcPts val="1200"/>
              </a:spcBef>
              <a:spcAft>
                <a:spcPts val="600"/>
              </a:spcAft>
              <a:buFont typeface="Arial" panose="020B0604020202020204" pitchFamily="34" charset="0"/>
              <a:buChar char="•"/>
            </a:pPr>
            <a:r>
              <a:rPr lang="en-AU" sz="3200" dirty="0"/>
              <a:t>It is _____________ I will draw a </a:t>
            </a:r>
            <a:r>
              <a:rPr lang="en-AU" sz="3200" b="1" dirty="0">
                <a:solidFill>
                  <a:srgbClr val="009AA4"/>
                </a:solidFill>
              </a:rPr>
              <a:t>blue</a:t>
            </a:r>
            <a:r>
              <a:rPr lang="en-AU" sz="3200" dirty="0"/>
              <a:t> marble.</a:t>
            </a:r>
          </a:p>
          <a:p>
            <a:pPr marL="457200" lvl="0" indent="-457200">
              <a:lnSpc>
                <a:spcPct val="150000"/>
              </a:lnSpc>
              <a:spcBef>
                <a:spcPts val="1200"/>
              </a:spcBef>
              <a:spcAft>
                <a:spcPts val="600"/>
              </a:spcAft>
              <a:buFont typeface="Arial" panose="020B0604020202020204" pitchFamily="34" charset="0"/>
              <a:buChar char="•"/>
            </a:pPr>
            <a:r>
              <a:rPr lang="en-AU" sz="3200" dirty="0"/>
              <a:t>It is _____________ I will draw an </a:t>
            </a:r>
            <a:r>
              <a:rPr lang="en-AU" sz="3200" b="1" dirty="0">
                <a:solidFill>
                  <a:srgbClr val="EB6A00"/>
                </a:solidFill>
              </a:rPr>
              <a:t>orange</a:t>
            </a:r>
            <a:r>
              <a:rPr lang="en-AU" sz="3200" dirty="0"/>
              <a:t> marble.</a:t>
            </a:r>
          </a:p>
        </p:txBody>
      </p:sp>
      <p:pic>
        <p:nvPicPr>
          <p:cNvPr id="9" name="Picture 8">
            <a:extLst>
              <a:ext uri="{FF2B5EF4-FFF2-40B4-BE49-F238E27FC236}">
                <a16:creationId xmlns:a16="http://schemas.microsoft.com/office/drawing/2014/main" id="{ABE5F90B-3332-C303-2F44-EF49FD56B75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313914" y="2770739"/>
            <a:ext cx="1925179" cy="3745261"/>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inverse relationship</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
        <p:nvSpPr>
          <p:cNvPr id="7" name="TextBox 6">
            <a:extLst>
              <a:ext uri="{FF2B5EF4-FFF2-40B4-BE49-F238E27FC236}">
                <a16:creationId xmlns:a16="http://schemas.microsoft.com/office/drawing/2014/main" id="{081A0B1E-4CB6-F44A-395B-13CB62B49207}"/>
              </a:ext>
            </a:extLst>
          </p:cNvPr>
          <p:cNvSpPr txBox="1"/>
          <p:nvPr/>
        </p:nvSpPr>
        <p:spPr>
          <a:xfrm>
            <a:off x="823363" y="1412885"/>
            <a:ext cx="7068034" cy="4732834"/>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sz="4000" b="1" dirty="0">
                <a:effectLst/>
                <a:latin typeface="Arial" panose="020B0604020202020204" pitchFamily="34" charset="0"/>
                <a:ea typeface="Calibri" panose="020F0502020204030204" pitchFamily="34" charset="0"/>
              </a:rPr>
              <a:t>Fill</a:t>
            </a:r>
            <a:r>
              <a:rPr lang="en-AU" sz="4000" dirty="0">
                <a:effectLst/>
                <a:latin typeface="Arial" panose="020B0604020202020204" pitchFamily="34" charset="0"/>
                <a:ea typeface="Calibri" panose="020F0502020204030204" pitchFamily="34" charset="0"/>
              </a:rPr>
              <a:t> in the </a:t>
            </a:r>
            <a:r>
              <a:rPr lang="en-AU" sz="4000" b="1" dirty="0">
                <a:effectLst/>
                <a:latin typeface="Arial" panose="020B0604020202020204" pitchFamily="34" charset="0"/>
                <a:ea typeface="Calibri" panose="020F0502020204030204" pitchFamily="34" charset="0"/>
              </a:rPr>
              <a:t>missing</a:t>
            </a:r>
            <a:r>
              <a:rPr lang="en-AU" sz="4000" dirty="0">
                <a:effectLst/>
                <a:latin typeface="Arial" panose="020B0604020202020204" pitchFamily="34" charset="0"/>
                <a:ea typeface="Calibri" panose="020F0502020204030204" pitchFamily="34" charset="0"/>
              </a:rPr>
              <a:t> numbers on the cards</a:t>
            </a:r>
            <a:r>
              <a:rPr lang="en-AU" sz="4000" dirty="0">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Arial" panose="020B0604020202020204" pitchFamily="34" charset="0"/>
              <a:buChar char="•"/>
            </a:pPr>
            <a:r>
              <a:rPr lang="en-AU" sz="4000" b="1" dirty="0">
                <a:effectLst/>
                <a:latin typeface="Arial" panose="020B0604020202020204" pitchFamily="34" charset="0"/>
                <a:ea typeface="Calibri" panose="020F0502020204030204" pitchFamily="34" charset="0"/>
              </a:rPr>
              <a:t>Group</a:t>
            </a:r>
            <a:r>
              <a:rPr lang="en-AU" sz="4000" dirty="0">
                <a:effectLst/>
                <a:latin typeface="Arial" panose="020B0604020202020204" pitchFamily="34" charset="0"/>
                <a:ea typeface="Calibri" panose="020F0502020204030204" pitchFamily="34" charset="0"/>
              </a:rPr>
              <a:t> the </a:t>
            </a:r>
            <a:r>
              <a:rPr lang="en-AU" sz="4000" b="1" dirty="0">
                <a:effectLst/>
                <a:latin typeface="Arial" panose="020B0604020202020204" pitchFamily="34" charset="0"/>
                <a:ea typeface="Calibri" panose="020F0502020204030204" pitchFamily="34" charset="0"/>
              </a:rPr>
              <a:t>fact family</a:t>
            </a:r>
            <a:r>
              <a:rPr lang="en-AU" sz="4000" dirty="0">
                <a:effectLst/>
                <a:latin typeface="Arial" panose="020B0604020202020204" pitchFamily="34" charset="0"/>
                <a:ea typeface="Calibri" panose="020F0502020204030204" pitchFamily="34" charset="0"/>
              </a:rPr>
              <a:t> number sentences tog</a:t>
            </a:r>
            <a:r>
              <a:rPr lang="en-AU" sz="4000" dirty="0">
                <a:latin typeface="Arial" panose="020B0604020202020204" pitchFamily="34" charset="0"/>
                <a:ea typeface="Calibri" panose="020F0502020204030204" pitchFamily="34" charset="0"/>
              </a:rPr>
              <a:t>ether.</a:t>
            </a:r>
            <a:endParaRPr lang="en-AU" sz="4000" dirty="0">
              <a:effectLst/>
              <a:latin typeface="Arial" panose="020B0604020202020204" pitchFamily="34" charset="0"/>
              <a:ea typeface="Calibri" panose="020F0502020204030204" pitchFamily="34" charset="0"/>
            </a:endParaRPr>
          </a:p>
          <a:p>
            <a:pPr lvl="0">
              <a:lnSpc>
                <a:spcPct val="150000"/>
              </a:lnSpc>
              <a:spcBef>
                <a:spcPts val="1200"/>
              </a:spcBef>
              <a:spcAft>
                <a:spcPts val="600"/>
              </a:spcAft>
            </a:pPr>
            <a:endParaRPr lang="en-AU" sz="2400" dirty="0">
              <a:effectLst/>
              <a:latin typeface="Arial" panose="020B0604020202020204" pitchFamily="34" charset="0"/>
              <a:ea typeface="Calibri" panose="020F0502020204030204" pitchFamily="34" charset="0"/>
            </a:endParaRPr>
          </a:p>
        </p:txBody>
      </p:sp>
      <p:pic>
        <p:nvPicPr>
          <p:cNvPr id="3" name="Picture 2" descr="Example of fact family equations to be matched. Fact cards 10 × 4 = 40; 4 × ? =40;  40 ÷4 = 10 and 40 ÷ ? = 4 are shown.">
            <a:extLst>
              <a:ext uri="{FF2B5EF4-FFF2-40B4-BE49-F238E27FC236}">
                <a16:creationId xmlns:a16="http://schemas.microsoft.com/office/drawing/2014/main" id="{1E8AA9C8-2698-169D-C482-BEA9D48AE5F2}"/>
              </a:ext>
            </a:extLst>
          </p:cNvPr>
          <p:cNvPicPr>
            <a:picLocks noChangeAspect="1"/>
          </p:cNvPicPr>
          <p:nvPr/>
        </p:nvPicPr>
        <p:blipFill>
          <a:blip r:embed="rId4"/>
          <a:stretch>
            <a:fillRect/>
          </a:stretch>
        </p:blipFill>
        <p:spPr>
          <a:xfrm>
            <a:off x="8473342" y="1097258"/>
            <a:ext cx="2443794" cy="5259470"/>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dirty="0">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p:txBody>
          <a:bodyPr/>
          <a:lstStyle/>
          <a:p>
            <a:pPr algn="ctr"/>
            <a:r>
              <a:rPr lang="en-AU" sz="4400"/>
              <a:t>The </a:t>
            </a:r>
            <a:r>
              <a:rPr lang="en-AU" sz="4400" b="1"/>
              <a:t>inverse operation </a:t>
            </a:r>
            <a:r>
              <a:rPr lang="en-AU" sz="4400"/>
              <a:t>of </a:t>
            </a:r>
            <a:r>
              <a:rPr lang="en-AU" sz="4400" b="1"/>
              <a:t>4 × 5 = 20 </a:t>
            </a:r>
          </a:p>
          <a:p>
            <a:pPr algn="ctr"/>
            <a:r>
              <a:rPr lang="en-AU" sz="4400"/>
              <a:t>is </a:t>
            </a:r>
            <a:r>
              <a:rPr lang="en-AU" sz="4400" b="1"/>
              <a:t>5 × 4 = 20.</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904099783"/>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5" name="Text Placeholder 5">
            <a:extLst>
              <a:ext uri="{FF2B5EF4-FFF2-40B4-BE49-F238E27FC236}">
                <a16:creationId xmlns:a16="http://schemas.microsoft.com/office/drawing/2014/main" id="{68BB1D0F-3E87-9530-6E1C-CC227D6569C6}"/>
              </a:ext>
            </a:extLst>
          </p:cNvPr>
          <p:cNvSpPr txBox="1">
            <a:spLocks/>
          </p:cNvSpPr>
          <p:nvPr/>
        </p:nvSpPr>
        <p:spPr>
          <a:xfrm>
            <a:off x="2456856" y="1617136"/>
            <a:ext cx="727828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Partition </a:t>
            </a:r>
            <a:r>
              <a:rPr lang="en-AU" sz="4400" b="1" dirty="0"/>
              <a:t> </a:t>
            </a:r>
            <a:r>
              <a:rPr lang="en-AU" sz="4400" dirty="0"/>
              <a:t> </a:t>
            </a:r>
          </a:p>
          <a:p>
            <a:pPr algn="ctr"/>
            <a:r>
              <a:rPr lang="en-AU" sz="5400" b="1"/>
              <a:t>974 541</a:t>
            </a:r>
          </a:p>
          <a:p>
            <a:pPr algn="ctr"/>
            <a:r>
              <a:rPr lang="en-AU" sz="4400" b="1" dirty="0">
                <a:solidFill>
                  <a:schemeClr val="accent2"/>
                </a:solidFill>
              </a:rPr>
              <a:t> </a:t>
            </a:r>
            <a:r>
              <a:rPr lang="en-AU" sz="4400" dirty="0"/>
              <a:t>in </a:t>
            </a:r>
            <a:r>
              <a:rPr lang="en-AU" sz="4400" b="1" dirty="0"/>
              <a:t>non-standard </a:t>
            </a:r>
            <a:r>
              <a:rPr lang="en-AU" sz="4400" dirty="0"/>
              <a:t>form.</a:t>
            </a: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5" name="TextBox 4">
            <a:extLst>
              <a:ext uri="{FF2B5EF4-FFF2-40B4-BE49-F238E27FC236}">
                <a16:creationId xmlns:a16="http://schemas.microsoft.com/office/drawing/2014/main" id="{77F98DB7-4B64-7F52-174A-0933B7D8B45F}"/>
              </a:ext>
            </a:extLst>
          </p:cNvPr>
          <p:cNvSpPr txBox="1"/>
          <p:nvPr/>
        </p:nvSpPr>
        <p:spPr>
          <a:xfrm>
            <a:off x="2036190" y="905601"/>
            <a:ext cx="8540684" cy="901593"/>
          </a:xfrm>
          <a:prstGeom prst="rect">
            <a:avLst/>
          </a:prstGeom>
          <a:noFill/>
        </p:spPr>
        <p:txBody>
          <a:bodyPr wrap="square">
            <a:spAutoFit/>
          </a:bodyPr>
          <a:lstStyle/>
          <a:p>
            <a:pPr lvl="0">
              <a:lnSpc>
                <a:spcPct val="150000"/>
              </a:lnSpc>
            </a:pPr>
            <a:r>
              <a:rPr lang="en-AU" sz="4000" b="1"/>
              <a:t>Match</a:t>
            </a:r>
            <a:r>
              <a:rPr lang="en-AU" sz="4000"/>
              <a:t> the </a:t>
            </a:r>
            <a:r>
              <a:rPr lang="en-AU" sz="4000" b="1"/>
              <a:t>event</a:t>
            </a:r>
            <a:r>
              <a:rPr lang="en-AU" sz="4000"/>
              <a:t> to its </a:t>
            </a:r>
            <a:r>
              <a:rPr lang="en-AU" sz="4000" b="1"/>
              <a:t>duration</a:t>
            </a:r>
            <a:r>
              <a:rPr lang="en-AU" sz="4000"/>
              <a:t>. </a:t>
            </a:r>
          </a:p>
        </p:txBody>
      </p:sp>
      <p:sp>
        <p:nvSpPr>
          <p:cNvPr id="9" name="TextBox 8">
            <a:extLst>
              <a:ext uri="{FF2B5EF4-FFF2-40B4-BE49-F238E27FC236}">
                <a16:creationId xmlns:a16="http://schemas.microsoft.com/office/drawing/2014/main" id="{8F062F07-095B-08D4-5367-F6A62F8457CA}"/>
              </a:ext>
            </a:extLst>
          </p:cNvPr>
          <p:cNvSpPr txBox="1"/>
          <p:nvPr/>
        </p:nvSpPr>
        <p:spPr>
          <a:xfrm>
            <a:off x="360000" y="2081864"/>
            <a:ext cx="7618574" cy="3954862"/>
          </a:xfrm>
          <a:prstGeom prst="rect">
            <a:avLst/>
          </a:prstGeom>
          <a:noFill/>
        </p:spPr>
        <p:txBody>
          <a:bodyPr wrap="square" lIns="0" tIns="0" rIns="0" bIns="0" rtlCol="0">
            <a:noAutofit/>
          </a:bodyPr>
          <a:lstStyle/>
          <a:p>
            <a:pPr algn="l">
              <a:lnSpc>
                <a:spcPct val="250000"/>
              </a:lnSpc>
              <a:spcBef>
                <a:spcPts val="1200"/>
              </a:spcBef>
              <a:spcAft>
                <a:spcPts val="600"/>
              </a:spcAft>
            </a:pPr>
            <a:r>
              <a:rPr lang="en-AU" sz="3200"/>
              <a:t>1. One half of a soccer game</a:t>
            </a:r>
          </a:p>
          <a:p>
            <a:pPr algn="l">
              <a:lnSpc>
                <a:spcPct val="250000"/>
              </a:lnSpc>
              <a:spcBef>
                <a:spcPts val="1200"/>
              </a:spcBef>
              <a:spcAft>
                <a:spcPts val="600"/>
              </a:spcAft>
            </a:pPr>
            <a:r>
              <a:rPr lang="en-AU" sz="3200"/>
              <a:t>2. </a:t>
            </a:r>
            <a:r>
              <a:rPr lang="en-AU" sz="3200" dirty="0"/>
              <a:t>Recess</a:t>
            </a:r>
            <a:endParaRPr lang="en-AU" sz="3200"/>
          </a:p>
          <a:p>
            <a:pPr algn="l">
              <a:lnSpc>
                <a:spcPct val="250000"/>
              </a:lnSpc>
              <a:spcBef>
                <a:spcPts val="1200"/>
              </a:spcBef>
              <a:spcAft>
                <a:spcPts val="600"/>
              </a:spcAft>
            </a:pPr>
            <a:r>
              <a:rPr lang="en-AU" sz="3200"/>
              <a:t>3. </a:t>
            </a:r>
            <a:r>
              <a:rPr lang="en-AU" sz="3200" dirty="0"/>
              <a:t>60 star jumps</a:t>
            </a:r>
            <a:endParaRPr lang="en-AU" sz="3200"/>
          </a:p>
        </p:txBody>
      </p:sp>
      <p:pic>
        <p:nvPicPr>
          <p:cNvPr id="12" name="Picture 11">
            <a:extLst>
              <a:ext uri="{FF2B5EF4-FFF2-40B4-BE49-F238E27FC236}">
                <a16:creationId xmlns:a16="http://schemas.microsoft.com/office/drawing/2014/main" id="{4FAC7F38-3E3B-9F80-6A98-E97C9A69133D}"/>
              </a:ext>
              <a:ext uri="{C183D7F6-B498-43B3-948B-1728B52AA6E4}">
                <adec:decorative xmlns:adec="http://schemas.microsoft.com/office/drawing/2017/decorative" val="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85285" y1="56055" x2="85285" y2="56055"/>
                      </a14:backgroundRemoval>
                    </a14:imgEffect>
                  </a14:imgLayer>
                </a14:imgProps>
              </a:ext>
            </a:extLst>
          </a:blip>
          <a:stretch>
            <a:fillRect/>
          </a:stretch>
        </p:blipFill>
        <p:spPr>
          <a:xfrm>
            <a:off x="5696034" y="2081864"/>
            <a:ext cx="1710963" cy="1484889"/>
          </a:xfrm>
          <a:prstGeom prst="rect">
            <a:avLst/>
          </a:prstGeom>
        </p:spPr>
      </p:pic>
      <p:pic>
        <p:nvPicPr>
          <p:cNvPr id="14" name="Picture 13">
            <a:extLst>
              <a:ext uri="{FF2B5EF4-FFF2-40B4-BE49-F238E27FC236}">
                <a16:creationId xmlns:a16="http://schemas.microsoft.com/office/drawing/2014/main" id="{33C95FBF-4C07-7944-E7D2-0D47026D7773}"/>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341094" y="3563480"/>
            <a:ext cx="1816193" cy="1454225"/>
          </a:xfrm>
          <a:prstGeom prst="rect">
            <a:avLst/>
          </a:prstGeom>
        </p:spPr>
      </p:pic>
      <p:pic>
        <p:nvPicPr>
          <p:cNvPr id="16" name="Picture 15">
            <a:extLst>
              <a:ext uri="{FF2B5EF4-FFF2-40B4-BE49-F238E27FC236}">
                <a16:creationId xmlns:a16="http://schemas.microsoft.com/office/drawing/2014/main" id="{C6EB69D2-6BCA-3623-AA06-49460DC93182}"/>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397450" y="5014431"/>
            <a:ext cx="1374741" cy="1415043"/>
          </a:xfrm>
          <a:prstGeom prst="rect">
            <a:avLst/>
          </a:prstGeom>
        </p:spPr>
      </p:pic>
      <p:sp>
        <p:nvSpPr>
          <p:cNvPr id="10" name="TextBox 9">
            <a:extLst>
              <a:ext uri="{FF2B5EF4-FFF2-40B4-BE49-F238E27FC236}">
                <a16:creationId xmlns:a16="http://schemas.microsoft.com/office/drawing/2014/main" id="{C03C2034-8BE0-FFB1-204E-D639D39F5685}"/>
              </a:ext>
            </a:extLst>
          </p:cNvPr>
          <p:cNvSpPr txBox="1"/>
          <p:nvPr/>
        </p:nvSpPr>
        <p:spPr>
          <a:xfrm>
            <a:off x="8433412" y="2081864"/>
            <a:ext cx="3410588" cy="4416136"/>
          </a:xfrm>
          <a:prstGeom prst="rect">
            <a:avLst/>
          </a:prstGeom>
          <a:noFill/>
        </p:spPr>
        <p:txBody>
          <a:bodyPr wrap="square" lIns="0" tIns="0" rIns="0" bIns="0" rtlCol="0">
            <a:noAutofit/>
          </a:bodyPr>
          <a:lstStyle/>
          <a:p>
            <a:pPr marL="742950" indent="-742950">
              <a:lnSpc>
                <a:spcPct val="250000"/>
              </a:lnSpc>
              <a:spcBef>
                <a:spcPts val="1200"/>
              </a:spcBef>
              <a:spcAft>
                <a:spcPts val="600"/>
              </a:spcAft>
              <a:buFont typeface="+mj-lt"/>
              <a:buAutoNum type="alphaUcPeriod"/>
            </a:pPr>
            <a:r>
              <a:rPr lang="en-AU" sz="3200"/>
              <a:t>One minute</a:t>
            </a:r>
          </a:p>
          <a:p>
            <a:pPr marL="742950" indent="-742950">
              <a:lnSpc>
                <a:spcPct val="250000"/>
              </a:lnSpc>
              <a:spcBef>
                <a:spcPts val="1200"/>
              </a:spcBef>
              <a:spcAft>
                <a:spcPts val="600"/>
              </a:spcAft>
              <a:buFont typeface="+mj-lt"/>
              <a:buAutoNum type="alphaUcPeriod"/>
            </a:pPr>
            <a:r>
              <a:rPr lang="en-AU" sz="3200"/>
              <a:t>45 minutes</a:t>
            </a:r>
          </a:p>
          <a:p>
            <a:pPr marL="742950" indent="-742950">
              <a:lnSpc>
                <a:spcPct val="250000"/>
              </a:lnSpc>
              <a:spcBef>
                <a:spcPts val="1200"/>
              </a:spcBef>
              <a:spcAft>
                <a:spcPts val="600"/>
              </a:spcAft>
              <a:buFont typeface="+mj-lt"/>
              <a:buAutoNum type="alphaUcPeriod"/>
            </a:pPr>
            <a:r>
              <a:rPr lang="en-AU" sz="3200"/>
              <a:t>20 minutes</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7" name="TextBox 6">
            <a:extLst>
              <a:ext uri="{FF2B5EF4-FFF2-40B4-BE49-F238E27FC236}">
                <a16:creationId xmlns:a16="http://schemas.microsoft.com/office/drawing/2014/main" id="{013C444F-54FA-2062-7B7F-DD42D9BD8D0F}"/>
              </a:ext>
            </a:extLst>
          </p:cNvPr>
          <p:cNvSpPr txBox="1"/>
          <p:nvPr/>
        </p:nvSpPr>
        <p:spPr>
          <a:xfrm>
            <a:off x="464481" y="1729764"/>
            <a:ext cx="7599393" cy="3902415"/>
          </a:xfrm>
          <a:prstGeom prst="rect">
            <a:avLst/>
          </a:prstGeom>
          <a:noFill/>
        </p:spPr>
        <p:txBody>
          <a:bodyPr wrap="square">
            <a:spAutoFit/>
          </a:bodyPr>
          <a:lstStyle/>
          <a:p>
            <a:pPr marL="342900" indent="-342900">
              <a:lnSpc>
                <a:spcPct val="150000"/>
              </a:lnSpc>
              <a:spcBef>
                <a:spcPts val="1200"/>
              </a:spcBef>
              <a:spcAft>
                <a:spcPts val="600"/>
              </a:spcAft>
              <a:buFont typeface="Arial" panose="020B0604020202020204" pitchFamily="34" charset="0"/>
              <a:buChar char="•"/>
            </a:pPr>
            <a:r>
              <a:rPr lang="en-AU" sz="4000" b="1" dirty="0">
                <a:latin typeface="Arial" panose="020B0604020202020204" pitchFamily="34" charset="0"/>
                <a:ea typeface="Calibri" panose="020F0502020204030204" pitchFamily="34" charset="0"/>
              </a:rPr>
              <a:t>Describe</a:t>
            </a:r>
            <a:r>
              <a:rPr lang="en-AU" sz="4000" dirty="0">
                <a:latin typeface="Arial" panose="020B0604020202020204" pitchFamily="34" charset="0"/>
                <a:ea typeface="Calibri" panose="020F0502020204030204" pitchFamily="34" charset="0"/>
              </a:rPr>
              <a:t> the </a:t>
            </a:r>
            <a:r>
              <a:rPr lang="en-AU" sz="4000" b="1" dirty="0">
                <a:latin typeface="Arial" panose="020B0604020202020204" pitchFamily="34" charset="0"/>
                <a:ea typeface="Calibri" panose="020F0502020204030204" pitchFamily="34" charset="0"/>
              </a:rPr>
              <a:t>2D shapes </a:t>
            </a:r>
            <a:r>
              <a:rPr lang="en-AU" sz="4000" dirty="0">
                <a:latin typeface="Arial" panose="020B0604020202020204" pitchFamily="34" charset="0"/>
                <a:ea typeface="Calibri" panose="020F0502020204030204" pitchFamily="34" charset="0"/>
              </a:rPr>
              <a:t>that form this net</a:t>
            </a:r>
            <a:r>
              <a:rPr lang="en-AU" sz="4000" dirty="0"/>
              <a:t>.</a:t>
            </a:r>
          </a:p>
          <a:p>
            <a:pPr marL="342900" indent="-342900">
              <a:lnSpc>
                <a:spcPct val="150000"/>
              </a:lnSpc>
              <a:spcBef>
                <a:spcPts val="1200"/>
              </a:spcBef>
              <a:spcAft>
                <a:spcPts val="600"/>
              </a:spcAft>
              <a:buFont typeface="Arial" panose="020B0604020202020204" pitchFamily="34" charset="0"/>
              <a:buChar char="•"/>
            </a:pPr>
            <a:r>
              <a:rPr lang="en-AU" sz="4000" dirty="0"/>
              <a:t>What </a:t>
            </a:r>
            <a:r>
              <a:rPr lang="en-AU" sz="4000" b="1" dirty="0"/>
              <a:t>2D shape always </a:t>
            </a:r>
            <a:r>
              <a:rPr lang="en-AU" sz="4000" dirty="0"/>
              <a:t>appears</a:t>
            </a:r>
            <a:r>
              <a:rPr lang="en-AU" sz="4000" b="1" dirty="0"/>
              <a:t> </a:t>
            </a:r>
            <a:r>
              <a:rPr lang="en-AU" sz="4000" dirty="0"/>
              <a:t>on the net of a prism?</a:t>
            </a:r>
          </a:p>
        </p:txBody>
      </p:sp>
      <p:pic>
        <p:nvPicPr>
          <p:cNvPr id="5" name="Picture 4" descr="A net of a 3D object.">
            <a:extLst>
              <a:ext uri="{FF2B5EF4-FFF2-40B4-BE49-F238E27FC236}">
                <a16:creationId xmlns:a16="http://schemas.microsoft.com/office/drawing/2014/main" id="{67B15609-A106-E144-7AB6-07E969804DF0}"/>
              </a:ext>
            </a:extLst>
          </p:cNvPr>
          <p:cNvPicPr>
            <a:picLocks noChangeAspect="1"/>
          </p:cNvPicPr>
          <p:nvPr/>
        </p:nvPicPr>
        <p:blipFill rotWithShape="1">
          <a:blip r:embed="rId4">
            <a:extLst>
              <a:ext uri="{28A0092B-C50C-407E-A947-70E740481C1C}">
                <a14:useLocalDpi xmlns:a14="http://schemas.microsoft.com/office/drawing/2010/main" val="0"/>
              </a:ext>
            </a:extLst>
          </a:blip>
          <a:srcRect l="12436" t="-258" r="28201" b="38239"/>
          <a:stretch>
            <a:fillRect/>
          </a:stretch>
        </p:blipFill>
        <p:spPr bwMode="auto">
          <a:xfrm rot="5400000">
            <a:off x="7444427" y="2047815"/>
            <a:ext cx="4630193" cy="360459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8" name="TextBox 7">
            <a:extLst>
              <a:ext uri="{FF2B5EF4-FFF2-40B4-BE49-F238E27FC236}">
                <a16:creationId xmlns:a16="http://schemas.microsoft.com/office/drawing/2014/main" id="{357D57E6-043E-95F9-E161-EA902E7C8CE2}"/>
              </a:ext>
            </a:extLst>
          </p:cNvPr>
          <p:cNvSpPr txBox="1"/>
          <p:nvPr/>
        </p:nvSpPr>
        <p:spPr>
          <a:xfrm>
            <a:off x="897438" y="1114554"/>
            <a:ext cx="10681004" cy="9395649"/>
          </a:xfrm>
          <a:prstGeom prst="rect">
            <a:avLst/>
          </a:prstGeom>
          <a:noFill/>
        </p:spPr>
        <p:txBody>
          <a:bodyPr wrap="square">
            <a:spAutoFit/>
          </a:bodyPr>
          <a:lstStyle/>
          <a:p>
            <a:pPr>
              <a:spcBef>
                <a:spcPts val="1200"/>
              </a:spcBef>
              <a:spcAft>
                <a:spcPts val="600"/>
              </a:spcAft>
            </a:pPr>
            <a:r>
              <a:rPr lang="en-AU" sz="3600" b="1" dirty="0">
                <a:latin typeface="Arial" panose="020B0604020202020204" pitchFamily="34" charset="0"/>
                <a:ea typeface="Calibri" panose="020F0502020204030204" pitchFamily="34" charset="0"/>
              </a:rPr>
              <a:t>Copy </a:t>
            </a:r>
            <a:r>
              <a:rPr lang="en-AU" sz="3600" dirty="0">
                <a:latin typeface="Arial" panose="020B0604020202020204" pitchFamily="34" charset="0"/>
                <a:ea typeface="Calibri" panose="020F0502020204030204" pitchFamily="34" charset="0"/>
              </a:rPr>
              <a:t>this 2 x 2 </a:t>
            </a:r>
            <a:r>
              <a:rPr lang="en-AU" sz="3600" b="1" dirty="0">
                <a:latin typeface="Arial" panose="020B0604020202020204" pitchFamily="34" charset="0"/>
                <a:ea typeface="Calibri" panose="020F0502020204030204" pitchFamily="34" charset="0"/>
              </a:rPr>
              <a:t>grid </a:t>
            </a:r>
            <a:r>
              <a:rPr lang="en-AU" sz="3600" dirty="0">
                <a:latin typeface="Arial" panose="020B0604020202020204" pitchFamily="34" charset="0"/>
                <a:ea typeface="Calibri" panose="020F0502020204030204" pitchFamily="34" charset="0"/>
              </a:rPr>
              <a:t>and</a:t>
            </a:r>
            <a:r>
              <a:rPr lang="en-AU" sz="3600" b="1" dirty="0">
                <a:latin typeface="Arial" panose="020B0604020202020204" pitchFamily="34" charset="0"/>
                <a:ea typeface="Calibri" panose="020F0502020204030204" pitchFamily="34" charset="0"/>
              </a:rPr>
              <a:t> label </a:t>
            </a:r>
            <a:r>
              <a:rPr lang="en-AU" sz="3600" dirty="0">
                <a:latin typeface="Arial" panose="020B0604020202020204" pitchFamily="34" charset="0"/>
                <a:ea typeface="Calibri" panose="020F0502020204030204" pitchFamily="34" charset="0"/>
              </a:rPr>
              <a:t>the grid references.</a:t>
            </a:r>
            <a:endParaRPr lang="en-AU" sz="3600" dirty="0"/>
          </a:p>
          <a:p>
            <a:pPr>
              <a:spcBef>
                <a:spcPts val="1200"/>
              </a:spcBef>
              <a:spcAft>
                <a:spcPts val="600"/>
              </a:spcAft>
            </a:pPr>
            <a:r>
              <a:rPr lang="en-AU" sz="3600" b="1" dirty="0"/>
              <a:t>Mark</a:t>
            </a:r>
            <a:r>
              <a:rPr lang="en-AU" sz="3600" dirty="0"/>
              <a:t>:</a:t>
            </a:r>
          </a:p>
          <a:p>
            <a:pPr marL="342900" indent="-342900">
              <a:lnSpc>
                <a:spcPct val="150000"/>
              </a:lnSpc>
              <a:spcBef>
                <a:spcPts val="1200"/>
              </a:spcBef>
              <a:spcAft>
                <a:spcPts val="600"/>
              </a:spcAft>
              <a:buFont typeface="Arial" panose="020B0604020202020204" pitchFamily="34" charset="0"/>
              <a:buChar char="•"/>
            </a:pPr>
            <a:r>
              <a:rPr lang="en-AU" sz="3600" dirty="0">
                <a:latin typeface="Segoe Fluent Icons" panose="050A0102010101010101" pitchFamily="18" charset="0"/>
              </a:rPr>
              <a:t></a:t>
            </a:r>
            <a:r>
              <a:rPr lang="en-AU" sz="3600" dirty="0"/>
              <a:t> in </a:t>
            </a:r>
            <a:r>
              <a:rPr lang="en-AU" sz="3600" b="1" dirty="0"/>
              <a:t>B2</a:t>
            </a:r>
          </a:p>
          <a:p>
            <a:pPr marL="342900" indent="-342900">
              <a:lnSpc>
                <a:spcPct val="150000"/>
              </a:lnSpc>
              <a:spcBef>
                <a:spcPts val="1200"/>
              </a:spcBef>
              <a:spcAft>
                <a:spcPts val="600"/>
              </a:spcAft>
              <a:buFont typeface="Arial" panose="020B0604020202020204" pitchFamily="34" charset="0"/>
              <a:buChar char="•"/>
            </a:pPr>
            <a:r>
              <a:rPr lang="en-AU" sz="3600" dirty="0">
                <a:latin typeface="Segoe Fluent Icons" panose="050A0102010101010101" pitchFamily="18" charset="0"/>
              </a:rPr>
              <a:t> </a:t>
            </a:r>
            <a:r>
              <a:rPr lang="en-AU" sz="3600" dirty="0"/>
              <a:t>in </a:t>
            </a:r>
            <a:r>
              <a:rPr lang="en-AU" sz="3600" b="1" dirty="0"/>
              <a:t>A1</a:t>
            </a:r>
          </a:p>
          <a:p>
            <a:pPr marL="342900" indent="-342900">
              <a:lnSpc>
                <a:spcPct val="150000"/>
              </a:lnSpc>
              <a:spcBef>
                <a:spcPts val="1200"/>
              </a:spcBef>
              <a:spcAft>
                <a:spcPts val="600"/>
              </a:spcAft>
              <a:buFont typeface="Arial" panose="020B0604020202020204" pitchFamily="34" charset="0"/>
              <a:buChar char="•"/>
            </a:pPr>
            <a:r>
              <a:rPr lang="en-AU" sz="3600" dirty="0">
                <a:latin typeface="Segoe Fluent Icons" panose="050A0102010101010101" pitchFamily="18" charset="0"/>
              </a:rPr>
              <a:t> </a:t>
            </a:r>
            <a:r>
              <a:rPr lang="en-AU" sz="3600" dirty="0"/>
              <a:t>in </a:t>
            </a:r>
            <a:r>
              <a:rPr lang="en-AU" sz="3600" b="1" dirty="0"/>
              <a:t>A2</a:t>
            </a:r>
          </a:p>
          <a:p>
            <a:pPr marL="342900" indent="-342900">
              <a:lnSpc>
                <a:spcPct val="150000"/>
              </a:lnSpc>
              <a:spcBef>
                <a:spcPts val="1200"/>
              </a:spcBef>
              <a:spcAft>
                <a:spcPts val="600"/>
              </a:spcAft>
              <a:buFont typeface="Arial" panose="020B0604020202020204" pitchFamily="34" charset="0"/>
              <a:buChar char="•"/>
            </a:pPr>
            <a:r>
              <a:rPr lang="en-AU" sz="3600" dirty="0">
                <a:latin typeface="Segoe Fluent Icons" panose="050A0102010101010101" pitchFamily="18" charset="0"/>
                <a:sym typeface="Wingdings" panose="05000000000000000000" pitchFamily="2" charset="2"/>
              </a:rPr>
              <a:t></a:t>
            </a:r>
            <a:r>
              <a:rPr lang="en-AU" sz="3600" dirty="0"/>
              <a:t> in </a:t>
            </a:r>
            <a:r>
              <a:rPr lang="en-AU" sz="3600" b="1" dirty="0"/>
              <a:t>B1.</a:t>
            </a:r>
            <a:endParaRPr lang="en-AU" sz="3600" dirty="0"/>
          </a:p>
          <a:p>
            <a:pPr marL="342900" indent="-342900">
              <a:lnSpc>
                <a:spcPct val="150000"/>
              </a:lnSpc>
              <a:spcBef>
                <a:spcPts val="1200"/>
              </a:spcBef>
              <a:spcAft>
                <a:spcPts val="600"/>
              </a:spcAft>
              <a:buFont typeface="Arial" panose="020B0604020202020204" pitchFamily="34" charset="0"/>
              <a:buChar char="•"/>
            </a:pPr>
            <a:endParaRPr lang="en-AU" sz="3200" dirty="0"/>
          </a:p>
          <a:p>
            <a:pPr marL="342900" indent="-342900">
              <a:lnSpc>
                <a:spcPct val="150000"/>
              </a:lnSpc>
              <a:spcBef>
                <a:spcPts val="1200"/>
              </a:spcBef>
              <a:spcAft>
                <a:spcPts val="600"/>
              </a:spcAft>
              <a:buFont typeface="Arial" panose="020B0604020202020204" pitchFamily="34" charset="0"/>
              <a:buChar char="•"/>
            </a:pPr>
            <a:endParaRPr lang="en-AU" dirty="0"/>
          </a:p>
          <a:p>
            <a:pPr marL="342900" lvl="0" indent="-342900">
              <a:lnSpc>
                <a:spcPct val="150000"/>
              </a:lnSpc>
              <a:spcBef>
                <a:spcPts val="1200"/>
              </a:spcBef>
              <a:spcAft>
                <a:spcPts val="600"/>
              </a:spcAft>
              <a:buFont typeface="Arial" panose="020B0604020202020204" pitchFamily="34" charset="0"/>
              <a:buChar char="•"/>
            </a:pPr>
            <a:endParaRPr lang="en-AU" sz="32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Arial" panose="020B0604020202020204" pitchFamily="34" charset="0"/>
              <a:buChar char="•"/>
            </a:pPr>
            <a:endParaRPr lang="en-AU" sz="2400" dirty="0">
              <a:effectLst/>
              <a:latin typeface="Arial" panose="020B0604020202020204" pitchFamily="34" charset="0"/>
              <a:ea typeface="Calibri" panose="020F0502020204030204" pitchFamily="34" charset="0"/>
            </a:endParaRPr>
          </a:p>
        </p:txBody>
      </p:sp>
      <p:pic>
        <p:nvPicPr>
          <p:cNvPr id="5" name="Picture 4" descr="2 x 2 grid">
            <a:extLst>
              <a:ext uri="{FF2B5EF4-FFF2-40B4-BE49-F238E27FC236}">
                <a16:creationId xmlns:a16="http://schemas.microsoft.com/office/drawing/2014/main" id="{26ED1407-F893-80AE-FCCF-B02CB67EBDE5}"/>
              </a:ext>
            </a:extLst>
          </p:cNvPr>
          <p:cNvPicPr>
            <a:picLocks noChangeAspect="1"/>
          </p:cNvPicPr>
          <p:nvPr/>
        </p:nvPicPr>
        <p:blipFill>
          <a:blip r:embed="rId4"/>
          <a:stretch>
            <a:fillRect/>
          </a:stretch>
        </p:blipFill>
        <p:spPr>
          <a:xfrm>
            <a:off x="6778293" y="2188951"/>
            <a:ext cx="3892750" cy="4007056"/>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memory – inverse relationship</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5" name="TextBox 4">
            <a:extLst>
              <a:ext uri="{FF2B5EF4-FFF2-40B4-BE49-F238E27FC236}">
                <a16:creationId xmlns:a16="http://schemas.microsoft.com/office/drawing/2014/main" id="{B1898698-0F11-25E7-D944-C2EB3A7D714A}"/>
              </a:ext>
            </a:extLst>
          </p:cNvPr>
          <p:cNvSpPr txBox="1"/>
          <p:nvPr/>
        </p:nvSpPr>
        <p:spPr>
          <a:xfrm>
            <a:off x="360000" y="1097258"/>
            <a:ext cx="11484000" cy="5125570"/>
          </a:xfrm>
          <a:prstGeom prst="rect">
            <a:avLst/>
          </a:prstGeom>
          <a:noFill/>
        </p:spPr>
        <p:txBody>
          <a:bodyPr wrap="square">
            <a:spAutoFit/>
          </a:bodyPr>
          <a:lstStyle/>
          <a:p>
            <a:pPr marL="457200" lvl="0" indent="-457200">
              <a:lnSpc>
                <a:spcPct val="150000"/>
              </a:lnSpc>
              <a:spcBef>
                <a:spcPts val="1200"/>
              </a:spcBef>
              <a:spcAft>
                <a:spcPts val="600"/>
              </a:spcAft>
              <a:buFont typeface="Arial" panose="020B0604020202020204" pitchFamily="34" charset="0"/>
              <a:buChar char="•"/>
            </a:pPr>
            <a:r>
              <a:rPr lang="en-AU" sz="3200" dirty="0">
                <a:effectLst/>
                <a:latin typeface="Arial" panose="020B0604020202020204" pitchFamily="34" charset="0"/>
                <a:ea typeface="Calibri" panose="020F0502020204030204" pitchFamily="34" charset="0"/>
                <a:cs typeface="Times New Roman" panose="02020603050405020304" pitchFamily="18" charset="0"/>
              </a:rPr>
              <a:t>Shuffle the cards and lay them all face down.</a:t>
            </a:r>
          </a:p>
          <a:p>
            <a:pPr marL="457200" lvl="0" indent="-457200">
              <a:lnSpc>
                <a:spcPct val="150000"/>
              </a:lnSpc>
              <a:spcBef>
                <a:spcPts val="1200"/>
              </a:spcBef>
              <a:spcAft>
                <a:spcPts val="600"/>
              </a:spcAft>
              <a:buFont typeface="Arial" panose="020B0604020202020204" pitchFamily="34" charset="0"/>
              <a:buChar char="•"/>
            </a:pPr>
            <a:r>
              <a:rPr lang="en-AU" sz="3200" dirty="0">
                <a:effectLst/>
                <a:latin typeface="Arial" panose="020B0604020202020204" pitchFamily="34" charset="0"/>
                <a:ea typeface="Calibri" panose="020F0502020204030204" pitchFamily="34" charset="0"/>
                <a:cs typeface="Times New Roman" panose="02020603050405020304" pitchFamily="18" charset="0"/>
              </a:rPr>
              <a:t>Take turns to flip over 2 cards. Try to match a multiplication number sentence with an inverse division number sentence.</a:t>
            </a:r>
          </a:p>
          <a:p>
            <a:pPr marL="457200" lvl="0" indent="-457200">
              <a:lnSpc>
                <a:spcPct val="150000"/>
              </a:lnSpc>
              <a:spcBef>
                <a:spcPts val="1200"/>
              </a:spcBef>
              <a:spcAft>
                <a:spcPts val="600"/>
              </a:spcAft>
              <a:buFont typeface="Arial" panose="020B0604020202020204" pitchFamily="34" charset="0"/>
              <a:buChar char="•"/>
            </a:pPr>
            <a:r>
              <a:rPr lang="en-AU" sz="3200" dirty="0">
                <a:effectLst/>
                <a:latin typeface="Arial" panose="020B0604020202020204" pitchFamily="34" charset="0"/>
                <a:ea typeface="Calibri" panose="020F0502020204030204" pitchFamily="34" charset="0"/>
                <a:cs typeface="Times New Roman" panose="02020603050405020304" pitchFamily="18" charset="0"/>
              </a:rPr>
              <a:t>If they match, keep the cards and have another turn.</a:t>
            </a:r>
          </a:p>
          <a:p>
            <a:pPr marL="457200" lvl="0" indent="-457200">
              <a:lnSpc>
                <a:spcPct val="150000"/>
              </a:lnSpc>
              <a:spcBef>
                <a:spcPts val="1200"/>
              </a:spcBef>
              <a:spcAft>
                <a:spcPts val="600"/>
              </a:spcAft>
              <a:buFont typeface="Arial" panose="020B0604020202020204" pitchFamily="34" charset="0"/>
              <a:buChar char="•"/>
            </a:pPr>
            <a:r>
              <a:rPr lang="en-AU" sz="3200" dirty="0">
                <a:effectLst/>
                <a:latin typeface="Arial" panose="020B0604020202020204" pitchFamily="34" charset="0"/>
                <a:ea typeface="Calibri" panose="020F0502020204030204" pitchFamily="34" charset="0"/>
                <a:cs typeface="Times New Roman" panose="02020603050405020304" pitchFamily="18" charset="0"/>
              </a:rPr>
              <a:t>If they do not match, flip the cards back over and                the next player has a turn.</a:t>
            </a:r>
          </a:p>
        </p:txBody>
      </p:sp>
      <p:grpSp>
        <p:nvGrpSpPr>
          <p:cNvPr id="9" name="Group 8" descr="Example of match. Fact cards  40 ÷4 = 10 and 40 ÷10 = 4 are shown.">
            <a:extLst>
              <a:ext uri="{FF2B5EF4-FFF2-40B4-BE49-F238E27FC236}">
                <a16:creationId xmlns:a16="http://schemas.microsoft.com/office/drawing/2014/main" id="{39011390-E247-147E-AE35-60650F2901BC}"/>
              </a:ext>
            </a:extLst>
          </p:cNvPr>
          <p:cNvGrpSpPr/>
          <p:nvPr/>
        </p:nvGrpSpPr>
        <p:grpSpPr>
          <a:xfrm>
            <a:off x="9800974" y="4604035"/>
            <a:ext cx="1683026" cy="1911965"/>
            <a:chOff x="8932310" y="2467155"/>
            <a:chExt cx="2443794" cy="2493034"/>
          </a:xfrm>
        </p:grpSpPr>
        <p:pic>
          <p:nvPicPr>
            <p:cNvPr id="7" name="Picture 6" descr="Example of fact family equations to be matched. Fact cards 10 × 4 = 40, 40 ÷= 10 and 40 ÷10 = 4, 40 ÷ ? = 4 are shown.">
              <a:extLst>
                <a:ext uri="{FF2B5EF4-FFF2-40B4-BE49-F238E27FC236}">
                  <a16:creationId xmlns:a16="http://schemas.microsoft.com/office/drawing/2014/main" id="{2E0FB2C9-E851-BCBF-94B8-09C56DD6F574}"/>
                </a:ext>
              </a:extLst>
            </p:cNvPr>
            <p:cNvPicPr>
              <a:picLocks noChangeAspect="1"/>
            </p:cNvPicPr>
            <p:nvPr/>
          </p:nvPicPr>
          <p:blipFill>
            <a:blip r:embed="rId4"/>
            <a:srcRect t="51265" b="25937"/>
            <a:stretch>
              <a:fillRect/>
            </a:stretch>
          </p:blipFill>
          <p:spPr>
            <a:xfrm>
              <a:off x="8932310" y="3761117"/>
              <a:ext cx="2443794" cy="1199072"/>
            </a:xfrm>
            <a:prstGeom prst="rect">
              <a:avLst/>
            </a:prstGeom>
          </p:spPr>
        </p:pic>
        <p:pic>
          <p:nvPicPr>
            <p:cNvPr id="8" name="Picture 7" descr="Example of fact family equations to be matched. Fact cards 10 × 4 = 40, 40 ÷= 10 and 40 ÷10 = 4, 40 ÷ ? = 4 are shown.">
              <a:extLst>
                <a:ext uri="{FF2B5EF4-FFF2-40B4-BE49-F238E27FC236}">
                  <a16:creationId xmlns:a16="http://schemas.microsoft.com/office/drawing/2014/main" id="{0268089B-5F5D-7E1D-B3E5-9B171B9442A8}"/>
                </a:ext>
              </a:extLst>
            </p:cNvPr>
            <p:cNvPicPr>
              <a:picLocks noChangeAspect="1"/>
            </p:cNvPicPr>
            <p:nvPr/>
          </p:nvPicPr>
          <p:blipFill>
            <a:blip r:embed="rId4"/>
            <a:srcRect t="26662" b="48736"/>
            <a:stretch>
              <a:fillRect/>
            </a:stretch>
          </p:blipFill>
          <p:spPr>
            <a:xfrm>
              <a:off x="8932310" y="2467155"/>
              <a:ext cx="2443794" cy="1293962"/>
            </a:xfrm>
            <a:prstGeom prst="rect">
              <a:avLst/>
            </a:prstGeom>
          </p:spPr>
        </p:pic>
      </p:gr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72357"/>
            <a:ext cx="10397115" cy="545601"/>
          </a:xfrm>
        </p:spPr>
        <p:txBody>
          <a:bodyPr/>
          <a:lstStyle/>
          <a:p>
            <a:r>
              <a:rPr lang="en-US"/>
              <a:t>Multiple choice </a:t>
            </a:r>
            <a:r>
              <a:rPr lang="en-US" dirty="0">
                <a:solidFill>
                  <a:schemeClr val="bg1"/>
                </a:solidFill>
              </a:rPr>
              <a:t>(3)</a:t>
            </a:r>
          </a:p>
        </p:txBody>
      </p:sp>
      <p:sp>
        <p:nvSpPr>
          <p:cNvPr id="6" name="Rectangle 5">
            <a:extLst>
              <a:ext uri="{FF2B5EF4-FFF2-40B4-BE49-F238E27FC236}">
                <a16:creationId xmlns:a16="http://schemas.microsoft.com/office/drawing/2014/main" id="{BB2E973C-A28D-8E83-4EE1-4A05F7011723}"/>
              </a:ext>
            </a:extLst>
          </p:cNvPr>
          <p:cNvSpPr/>
          <p:nvPr/>
        </p:nvSpPr>
        <p:spPr>
          <a:xfrm>
            <a:off x="1818347" y="886936"/>
            <a:ext cx="8712200" cy="13631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b="1" dirty="0">
                <a:solidFill>
                  <a:schemeClr val="tx1"/>
                </a:solidFill>
                <a:latin typeface="Edu NSW ACT Foundation" panose="020B0604020202020204" charset="0"/>
                <a:ea typeface="Calibri" panose="020F0502020204030204" pitchFamily="34" charset="0"/>
              </a:rPr>
              <a:t>3</a:t>
            </a:r>
            <a:r>
              <a:rPr lang="en-AU" sz="6000" b="1" dirty="0">
                <a:solidFill>
                  <a:schemeClr val="tx1"/>
                </a:solidFill>
                <a:effectLst/>
                <a:latin typeface="Edu NSW ACT Foundation" panose="020B0604020202020204" charset="0"/>
                <a:ea typeface="Calibri" panose="020F0502020204030204" pitchFamily="34" charset="0"/>
              </a:rPr>
              <a:t>, 6, 9, 12, 15…</a:t>
            </a:r>
            <a:endParaRPr lang="en-AU" sz="7200" b="1" dirty="0">
              <a:solidFill>
                <a:schemeClr val="tx1"/>
              </a:solidFill>
              <a:latin typeface="Edu NSW ACT Foundation" panose="020B0604020202020204" charset="0"/>
            </a:endParaRPr>
          </a:p>
        </p:txBody>
      </p:sp>
      <p:sp>
        <p:nvSpPr>
          <p:cNvPr id="5" name="Text Placeholder 5">
            <a:extLst>
              <a:ext uri="{FF2B5EF4-FFF2-40B4-BE49-F238E27FC236}">
                <a16:creationId xmlns:a16="http://schemas.microsoft.com/office/drawing/2014/main" id="{9E48B519-E1FB-2024-69D6-8A481EDFD705}"/>
              </a:ext>
            </a:extLst>
          </p:cNvPr>
          <p:cNvSpPr>
            <a:spLocks noGrp="1"/>
          </p:cNvSpPr>
          <p:nvPr>
            <p:ph type="body" sz="quarter" idx="24"/>
          </p:nvPr>
        </p:nvSpPr>
        <p:spPr>
          <a:xfrm>
            <a:off x="553109" y="2250069"/>
            <a:ext cx="11242675" cy="893763"/>
          </a:xfrm>
        </p:spPr>
        <p:txBody>
          <a:bodyPr/>
          <a:lstStyle/>
          <a:p>
            <a:pPr algn="ctr"/>
            <a:r>
              <a:rPr lang="en-AU" sz="4400" dirty="0"/>
              <a:t>The next number in this </a:t>
            </a:r>
            <a:r>
              <a:rPr lang="en-AU" sz="4400" b="1" dirty="0"/>
              <a:t>number pattern </a:t>
            </a:r>
            <a:r>
              <a:rPr lang="en-AU" sz="4400"/>
              <a:t>is</a:t>
            </a:r>
            <a:r>
              <a:rPr lang="en-AU" sz="4400" b="1" dirty="0"/>
              <a:t>:</a:t>
            </a:r>
          </a:p>
        </p:txBody>
      </p:sp>
      <p:sp>
        <p:nvSpPr>
          <p:cNvPr id="9" name="TextBox 8">
            <a:extLst>
              <a:ext uri="{FF2B5EF4-FFF2-40B4-BE49-F238E27FC236}">
                <a16:creationId xmlns:a16="http://schemas.microsoft.com/office/drawing/2014/main" id="{4E6EA9CC-6235-8807-420B-A4371AC418C0}"/>
              </a:ext>
            </a:extLst>
          </p:cNvPr>
          <p:cNvSpPr txBox="1"/>
          <p:nvPr/>
        </p:nvSpPr>
        <p:spPr>
          <a:xfrm>
            <a:off x="1288918"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A8159D97-C603-F2C4-3389-7ACEFBFD5670}"/>
              </a:ext>
            </a:extLst>
          </p:cNvPr>
          <p:cNvSpPr txBox="1"/>
          <p:nvPr/>
        </p:nvSpPr>
        <p:spPr>
          <a:xfrm>
            <a:off x="1098348"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dirty="0"/>
              <a:t>17</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19739"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70FB6F48-4393-DCAF-7E27-E08996AAED78}"/>
              </a:ext>
            </a:extLst>
          </p:cNvPr>
          <p:cNvSpPr txBox="1"/>
          <p:nvPr/>
        </p:nvSpPr>
        <p:spPr>
          <a:xfrm>
            <a:off x="4124453"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18</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23712"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85E9E49F-8E28-13C1-7002-8D51818CCB9B}"/>
              </a:ext>
            </a:extLst>
          </p:cNvPr>
          <p:cNvSpPr txBox="1"/>
          <p:nvPr/>
        </p:nvSpPr>
        <p:spPr>
          <a:xfrm>
            <a:off x="7049562"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19</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27686"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Box 13">
            <a:extLst>
              <a:ext uri="{FF2B5EF4-FFF2-40B4-BE49-F238E27FC236}">
                <a16:creationId xmlns:a16="http://schemas.microsoft.com/office/drawing/2014/main" id="{D1DC5028-8118-2E07-3B0C-09882FB0849B}"/>
              </a:ext>
            </a:extLst>
          </p:cNvPr>
          <p:cNvSpPr txBox="1"/>
          <p:nvPr/>
        </p:nvSpPr>
        <p:spPr>
          <a:xfrm>
            <a:off x="10087908" y="52050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16</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8" name="TextBox 7">
            <a:extLst>
              <a:ext uri="{FF2B5EF4-FFF2-40B4-BE49-F238E27FC236}">
                <a16:creationId xmlns:a16="http://schemas.microsoft.com/office/drawing/2014/main" id="{8A581F81-35AB-A668-2E4A-C50D5BFF0A5E}"/>
              </a:ext>
            </a:extLst>
          </p:cNvPr>
          <p:cNvSpPr txBox="1"/>
          <p:nvPr/>
        </p:nvSpPr>
        <p:spPr>
          <a:xfrm>
            <a:off x="472966" y="4022495"/>
            <a:ext cx="10793319" cy="199817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Record </a:t>
            </a:r>
            <a:r>
              <a:rPr lang="en-AU" sz="4400">
                <a:latin typeface="Arial" panose="020B0604020202020204" pitchFamily="34" charset="0"/>
                <a:ea typeface="Calibri" panose="020F0502020204030204" pitchFamily="34" charset="0"/>
                <a:cs typeface="Times New Roman" panose="02020603050405020304" pitchFamily="18" charset="0"/>
              </a:rPr>
              <a:t>the number </a:t>
            </a:r>
            <a:r>
              <a:rPr lang="en-AU" sz="4400" b="1">
                <a:latin typeface="Arial" panose="020B0604020202020204" pitchFamily="34" charset="0"/>
                <a:ea typeface="Calibri" panose="020F0502020204030204" pitchFamily="34" charset="0"/>
                <a:cs typeface="Times New Roman" panose="02020603050405020304" pitchFamily="18" charset="0"/>
              </a:rPr>
              <a:t>10, 100 </a:t>
            </a:r>
            <a:r>
              <a:rPr lang="en-AU" sz="4400">
                <a:latin typeface="Arial" panose="020B0604020202020204" pitchFamily="34" charset="0"/>
                <a:ea typeface="Calibri" panose="020F0502020204030204" pitchFamily="34" charset="0"/>
                <a:cs typeface="Times New Roman" panose="02020603050405020304" pitchFamily="18" charset="0"/>
              </a:rPr>
              <a:t>and </a:t>
            </a:r>
            <a:r>
              <a:rPr lang="en-AU" sz="4400" b="1">
                <a:latin typeface="Arial" panose="020B0604020202020204" pitchFamily="34" charset="0"/>
                <a:ea typeface="Calibri" panose="020F0502020204030204" pitchFamily="34" charset="0"/>
                <a:cs typeface="Times New Roman" panose="02020603050405020304" pitchFamily="18" charset="0"/>
              </a:rPr>
              <a:t>1000 times larger.</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5" name="Picture 4" descr="6 digit place value houses. The number 457 is recorded.">
            <a:extLst>
              <a:ext uri="{FF2B5EF4-FFF2-40B4-BE49-F238E27FC236}">
                <a16:creationId xmlns:a16="http://schemas.microsoft.com/office/drawing/2014/main" id="{563A6F04-EF95-0C6A-30BA-6A3BFED3ABC9}"/>
              </a:ext>
            </a:extLst>
          </p:cNvPr>
          <p:cNvPicPr>
            <a:picLocks noChangeAspect="1"/>
          </p:cNvPicPr>
          <p:nvPr/>
        </p:nvPicPr>
        <p:blipFill>
          <a:blip r:embed="rId4"/>
          <a:srcRect b="42184"/>
          <a:stretch>
            <a:fillRect/>
          </a:stretch>
        </p:blipFill>
        <p:spPr>
          <a:xfrm>
            <a:off x="2898556" y="1184223"/>
            <a:ext cx="6394888" cy="2559650"/>
          </a:xfrm>
          <a:prstGeom prst="rect">
            <a:avLst/>
          </a:prstGeom>
          <a:ln>
            <a:noFill/>
          </a:ln>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5122" name="Picture 2" descr="Diagram of a clock face with numbers 1 through 12 arranged clockwise. ">
            <a:extLst>
              <a:ext uri="{FF2B5EF4-FFF2-40B4-BE49-F238E27FC236}">
                <a16:creationId xmlns:a16="http://schemas.microsoft.com/office/drawing/2014/main" id="{AB3FCA97-0C49-F6A8-7B12-A6FA0BACC35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80" r="6061"/>
          <a:stretch>
            <a:fillRect/>
          </a:stretch>
        </p:blipFill>
        <p:spPr bwMode="auto">
          <a:xfrm>
            <a:off x="9262533" y="1655306"/>
            <a:ext cx="2820811" cy="27727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7E3F096-0378-9BB8-9EB0-CA3FA3CCA64F}"/>
              </a:ext>
            </a:extLst>
          </p:cNvPr>
          <p:cNvSpPr txBox="1"/>
          <p:nvPr/>
        </p:nvSpPr>
        <p:spPr>
          <a:xfrm>
            <a:off x="487000" y="1049810"/>
            <a:ext cx="8775533" cy="5356403"/>
          </a:xfrm>
          <a:prstGeom prst="rect">
            <a:avLst/>
          </a:prstGeom>
          <a:noFill/>
        </p:spPr>
        <p:txBody>
          <a:bodyPr wrap="square">
            <a:spAutoFit/>
          </a:bodyPr>
          <a:lstStyle/>
          <a:p>
            <a:pPr lvl="0">
              <a:lnSpc>
                <a:spcPct val="150000"/>
              </a:lnSpc>
              <a:spcBef>
                <a:spcPts val="1200"/>
              </a:spcBef>
              <a:spcAft>
                <a:spcPts val="600"/>
              </a:spcAft>
            </a:pPr>
            <a:r>
              <a:rPr lang="en-AU" sz="3000"/>
              <a:t>Harry was wondering how long it was until the end of the school day. He asked Koa to check the time. Koa said the </a:t>
            </a:r>
            <a:r>
              <a:rPr lang="en-AU" sz="3000" b="1"/>
              <a:t>hands</a:t>
            </a:r>
            <a:r>
              <a:rPr lang="en-AU" sz="3000"/>
              <a:t> are on the </a:t>
            </a:r>
            <a:r>
              <a:rPr lang="en-AU" sz="3000" b="1"/>
              <a:t>10</a:t>
            </a:r>
            <a:r>
              <a:rPr lang="en-AU" sz="3000"/>
              <a:t> and the </a:t>
            </a:r>
            <a:r>
              <a:rPr lang="en-AU" sz="3000" b="1"/>
              <a:t>2</a:t>
            </a:r>
            <a:r>
              <a:rPr lang="en-AU" sz="3000"/>
              <a:t>. </a:t>
            </a:r>
          </a:p>
          <a:p>
            <a:pPr lvl="0">
              <a:lnSpc>
                <a:spcPct val="150000"/>
              </a:lnSpc>
              <a:spcBef>
                <a:spcPts val="1200"/>
              </a:spcBef>
              <a:spcAft>
                <a:spcPts val="600"/>
              </a:spcAft>
            </a:pPr>
            <a:r>
              <a:rPr lang="en-AU" sz="3000"/>
              <a:t>Harry knows that the </a:t>
            </a:r>
            <a:r>
              <a:rPr lang="en-AU" sz="3000" b="1"/>
              <a:t>numerals</a:t>
            </a:r>
            <a:r>
              <a:rPr lang="en-AU" sz="3000"/>
              <a:t> on an </a:t>
            </a:r>
            <a:r>
              <a:rPr lang="en-AU" sz="3000" err="1"/>
              <a:t>analog</a:t>
            </a:r>
            <a:r>
              <a:rPr lang="en-AU" sz="3000"/>
              <a:t> clock can represent </a:t>
            </a:r>
            <a:r>
              <a:rPr lang="en-AU" sz="3000" b="1"/>
              <a:t>2 different values</a:t>
            </a:r>
            <a:r>
              <a:rPr lang="en-AU" sz="3000"/>
              <a:t>, depending on </a:t>
            </a:r>
            <a:r>
              <a:rPr lang="en-AU" sz="3000" b="1"/>
              <a:t>which hand is pointing to them</a:t>
            </a:r>
            <a:r>
              <a:rPr lang="en-AU" sz="3000"/>
              <a:t>. </a:t>
            </a:r>
          </a:p>
          <a:p>
            <a:pPr lvl="0">
              <a:lnSpc>
                <a:spcPct val="150000"/>
              </a:lnSpc>
              <a:spcBef>
                <a:spcPts val="1200"/>
              </a:spcBef>
              <a:spcAft>
                <a:spcPts val="600"/>
              </a:spcAft>
            </a:pPr>
            <a:r>
              <a:rPr lang="en-AU" sz="3000">
                <a:latin typeface="Arial" panose="020B0604020202020204" pitchFamily="34" charset="0"/>
                <a:ea typeface="Calibri" panose="020F0502020204030204" pitchFamily="34" charset="0"/>
                <a:cs typeface="Times New Roman" panose="02020603050405020304" pitchFamily="18" charset="0"/>
              </a:rPr>
              <a:t>Record the </a:t>
            </a:r>
            <a:r>
              <a:rPr lang="en-AU" sz="3000" b="1">
                <a:latin typeface="Arial" panose="020B0604020202020204" pitchFamily="34" charset="0"/>
                <a:ea typeface="Calibri" panose="020F0502020204030204" pitchFamily="34" charset="0"/>
                <a:cs typeface="Times New Roman" panose="02020603050405020304" pitchFamily="18" charset="0"/>
              </a:rPr>
              <a:t>2</a:t>
            </a:r>
            <a:r>
              <a:rPr lang="en-AU" sz="3000">
                <a:latin typeface="Arial" panose="020B0604020202020204" pitchFamily="34" charset="0"/>
                <a:ea typeface="Calibri" panose="020F0502020204030204" pitchFamily="34" charset="0"/>
                <a:cs typeface="Times New Roman" panose="02020603050405020304" pitchFamily="18" charset="0"/>
              </a:rPr>
              <a:t> possible </a:t>
            </a:r>
            <a:r>
              <a:rPr lang="en-AU" sz="3000" b="1">
                <a:latin typeface="Arial" panose="020B0604020202020204" pitchFamily="34" charset="0"/>
                <a:ea typeface="Calibri" panose="020F0502020204030204" pitchFamily="34" charset="0"/>
                <a:cs typeface="Times New Roman" panose="02020603050405020304" pitchFamily="18" charset="0"/>
              </a:rPr>
              <a:t>times </a:t>
            </a:r>
            <a:r>
              <a:rPr lang="en-AU" sz="3000">
                <a:latin typeface="Arial" panose="020B0604020202020204" pitchFamily="34" charset="0"/>
                <a:ea typeface="Calibri" panose="020F0502020204030204" pitchFamily="34" charset="0"/>
                <a:cs typeface="Times New Roman" panose="02020603050405020304" pitchFamily="18" charset="0"/>
              </a:rPr>
              <a:t>it</a:t>
            </a:r>
            <a:r>
              <a:rPr lang="en-AU" sz="3000" b="1">
                <a:latin typeface="Arial" panose="020B0604020202020204" pitchFamily="34" charset="0"/>
                <a:ea typeface="Calibri" panose="020F0502020204030204" pitchFamily="34" charset="0"/>
                <a:cs typeface="Times New Roman" panose="02020603050405020304" pitchFamily="18" charset="0"/>
              </a:rPr>
              <a:t> could </a:t>
            </a:r>
            <a:r>
              <a:rPr lang="en-AU" sz="3000">
                <a:latin typeface="Arial" panose="020B0604020202020204" pitchFamily="34" charset="0"/>
                <a:ea typeface="Calibri" panose="020F0502020204030204" pitchFamily="34" charset="0"/>
                <a:cs typeface="Times New Roman" panose="02020603050405020304" pitchFamily="18" charset="0"/>
              </a:rPr>
              <a:t>be</a:t>
            </a:r>
            <a:r>
              <a:rPr lang="en-AU" sz="3200">
                <a:latin typeface="Arial" panose="020B0604020202020204" pitchFamily="34" charset="0"/>
                <a:ea typeface="Calibri" panose="020F0502020204030204" pitchFamily="34" charset="0"/>
                <a:cs typeface="Times New Roman" panose="02020603050405020304" pitchFamily="18" charset="0"/>
              </a:rPr>
              <a:t>. </a:t>
            </a:r>
            <a:endParaRPr lang="en-AU" sz="320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5" name="TextBox 4">
            <a:extLst>
              <a:ext uri="{FF2B5EF4-FFF2-40B4-BE49-F238E27FC236}">
                <a16:creationId xmlns:a16="http://schemas.microsoft.com/office/drawing/2014/main" id="{6347A817-7A63-FFA7-EA25-D0F781E3FE9E}"/>
              </a:ext>
            </a:extLst>
          </p:cNvPr>
          <p:cNvSpPr txBox="1"/>
          <p:nvPr/>
        </p:nvSpPr>
        <p:spPr>
          <a:xfrm>
            <a:off x="1235940" y="1358441"/>
            <a:ext cx="11301565" cy="901593"/>
          </a:xfrm>
          <a:prstGeom prst="rect">
            <a:avLst/>
          </a:prstGeom>
          <a:noFill/>
        </p:spPr>
        <p:txBody>
          <a:bodyPr wrap="square">
            <a:spAutoFit/>
          </a:bodyPr>
          <a:lstStyle/>
          <a:p>
            <a:pPr lvl="0">
              <a:lnSpc>
                <a:spcPct val="150000"/>
              </a:lnSpc>
              <a:spcBef>
                <a:spcPts val="1200"/>
              </a:spcBef>
              <a:spcAft>
                <a:spcPts val="600"/>
              </a:spcAft>
            </a:pPr>
            <a:r>
              <a:rPr lang="en-AU" sz="4000" dirty="0">
                <a:latin typeface="Arial" panose="020B0604020202020204" pitchFamily="34" charset="0"/>
                <a:ea typeface="Calibri" panose="020F0502020204030204" pitchFamily="34" charset="0"/>
                <a:cs typeface="Times New Roman" panose="02020603050405020304" pitchFamily="18" charset="0"/>
              </a:rPr>
              <a:t>Which </a:t>
            </a:r>
            <a:r>
              <a:rPr lang="en-AU" sz="4000" b="1" dirty="0">
                <a:latin typeface="Arial" panose="020B0604020202020204" pitchFamily="34" charset="0"/>
                <a:ea typeface="Calibri" panose="020F0502020204030204" pitchFamily="34" charset="0"/>
                <a:cs typeface="Times New Roman" panose="02020603050405020304" pitchFamily="18" charset="0"/>
              </a:rPr>
              <a:t>container </a:t>
            </a:r>
            <a:r>
              <a:rPr lang="en-AU" sz="4000" dirty="0">
                <a:latin typeface="Arial" panose="020B0604020202020204" pitchFamily="34" charset="0"/>
                <a:ea typeface="Calibri" panose="020F0502020204030204" pitchFamily="34" charset="0"/>
                <a:cs typeface="Times New Roman" panose="02020603050405020304" pitchFamily="18" charset="0"/>
              </a:rPr>
              <a:t>has a capacity of </a:t>
            </a:r>
            <a:r>
              <a:rPr lang="en-AU" sz="4000" b="1" dirty="0">
                <a:latin typeface="Arial" panose="020B0604020202020204" pitchFamily="34" charset="0"/>
                <a:ea typeface="Calibri" panose="020F0502020204030204" pitchFamily="34" charset="0"/>
                <a:cs typeface="Times New Roman" panose="02020603050405020304" pitchFamily="18" charset="0"/>
              </a:rPr>
              <a:t>1L</a:t>
            </a:r>
            <a:r>
              <a:rPr lang="en-AU" sz="4000" dirty="0">
                <a:latin typeface="Arial" panose="020B0604020202020204" pitchFamily="34" charset="0"/>
                <a:ea typeface="Calibri" panose="020F0502020204030204" pitchFamily="34" charset="0"/>
                <a:cs typeface="Times New Roman" panose="02020603050405020304" pitchFamily="18" charset="0"/>
              </a:rPr>
              <a:t>?</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 name="Picture 7" descr="An image of a milk carton and tea cup.">
            <a:extLst>
              <a:ext uri="{FF2B5EF4-FFF2-40B4-BE49-F238E27FC236}">
                <a16:creationId xmlns:a16="http://schemas.microsoft.com/office/drawing/2014/main" id="{E1AF4ABB-9166-DF0B-1B29-4DBE7D6245E8}"/>
              </a:ext>
            </a:extLst>
          </p:cNvPr>
          <p:cNvPicPr>
            <a:picLocks noChangeAspect="1"/>
          </p:cNvPicPr>
          <p:nvPr/>
        </p:nvPicPr>
        <p:blipFill>
          <a:blip r:embed="rId4"/>
          <a:stretch>
            <a:fillRect/>
          </a:stretch>
        </p:blipFill>
        <p:spPr>
          <a:xfrm>
            <a:off x="4279036" y="2547718"/>
            <a:ext cx="3149623" cy="2982973"/>
          </a:xfrm>
          <a:prstGeom prst="rect">
            <a:avLst/>
          </a:prstGeom>
        </p:spPr>
      </p:pic>
      <p:sp>
        <p:nvSpPr>
          <p:cNvPr id="7" name="TextBox 6">
            <a:extLst>
              <a:ext uri="{FF2B5EF4-FFF2-40B4-BE49-F238E27FC236}">
                <a16:creationId xmlns:a16="http://schemas.microsoft.com/office/drawing/2014/main" id="{85DDB7EF-0164-22B9-47B7-BB642069EDDE}"/>
              </a:ext>
            </a:extLst>
          </p:cNvPr>
          <p:cNvSpPr txBox="1"/>
          <p:nvPr/>
        </p:nvSpPr>
        <p:spPr>
          <a:xfrm>
            <a:off x="297599" y="5530691"/>
            <a:ext cx="11301565" cy="901593"/>
          </a:xfrm>
          <a:prstGeom prst="rect">
            <a:avLst/>
          </a:prstGeom>
          <a:noFill/>
        </p:spPr>
        <p:txBody>
          <a:bodyPr wrap="square">
            <a:spAutoFit/>
          </a:bodyPr>
          <a:lstStyle/>
          <a:p>
            <a:pPr lvl="0" algn="ctr">
              <a:lnSpc>
                <a:spcPct val="150000"/>
              </a:lnSpc>
              <a:spcBef>
                <a:spcPts val="1200"/>
              </a:spcBef>
              <a:spcAft>
                <a:spcPts val="600"/>
              </a:spcAft>
            </a:pPr>
            <a:r>
              <a:rPr lang="en-AU" sz="4000" b="1" dirty="0">
                <a:latin typeface="Arial" panose="020B0604020202020204" pitchFamily="34" charset="0"/>
                <a:ea typeface="Calibri" panose="020F0502020204030204" pitchFamily="34" charset="0"/>
                <a:cs typeface="Times New Roman" panose="02020603050405020304" pitchFamily="18" charset="0"/>
              </a:rPr>
              <a:t>Communicate</a:t>
            </a:r>
            <a:r>
              <a:rPr lang="en-AU" sz="4000" dirty="0">
                <a:latin typeface="Arial" panose="020B0604020202020204" pitchFamily="34" charset="0"/>
                <a:ea typeface="Calibri" panose="020F0502020204030204" pitchFamily="34" charset="0"/>
                <a:cs typeface="Times New Roman" panose="02020603050405020304" pitchFamily="18" charset="0"/>
              </a:rPr>
              <a:t> your </a:t>
            </a:r>
            <a:r>
              <a:rPr lang="en-AU" sz="4000" b="1" dirty="0">
                <a:latin typeface="Arial" panose="020B0604020202020204" pitchFamily="34" charset="0"/>
                <a:ea typeface="Calibri" panose="020F0502020204030204" pitchFamily="34" charset="0"/>
                <a:cs typeface="Times New Roman" panose="02020603050405020304" pitchFamily="18" charset="0"/>
              </a:rPr>
              <a:t>reasoning.</a:t>
            </a:r>
            <a:endParaRPr lang="en-AU" sz="4000" b="1"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10" name="TextBox 9">
            <a:extLst>
              <a:ext uri="{FF2B5EF4-FFF2-40B4-BE49-F238E27FC236}">
                <a16:creationId xmlns:a16="http://schemas.microsoft.com/office/drawing/2014/main" id="{44127649-669F-F246-15F7-C2A67CF1EF32}"/>
              </a:ext>
            </a:extLst>
          </p:cNvPr>
          <p:cNvSpPr txBox="1"/>
          <p:nvPr/>
        </p:nvSpPr>
        <p:spPr>
          <a:xfrm>
            <a:off x="1285956" y="935693"/>
            <a:ext cx="11301565" cy="901593"/>
          </a:xfrm>
          <a:prstGeom prst="rect">
            <a:avLst/>
          </a:prstGeom>
          <a:noFill/>
        </p:spPr>
        <p:txBody>
          <a:bodyPr wrap="square">
            <a:spAutoFit/>
          </a:bodyPr>
          <a:lstStyle/>
          <a:p>
            <a:pPr lvl="0">
              <a:lnSpc>
                <a:spcPct val="150000"/>
              </a:lnSpc>
              <a:spcBef>
                <a:spcPts val="1200"/>
              </a:spcBef>
              <a:spcAft>
                <a:spcPts val="600"/>
              </a:spcAft>
            </a:pPr>
            <a:r>
              <a:rPr lang="en-AU" sz="4000" b="1" dirty="0">
                <a:latin typeface="Arial" panose="020B0604020202020204" pitchFamily="34" charset="0"/>
                <a:ea typeface="Calibri" panose="020F0502020204030204" pitchFamily="34" charset="0"/>
                <a:cs typeface="Times New Roman" panose="02020603050405020304" pitchFamily="18" charset="0"/>
              </a:rPr>
              <a:t>Match</a:t>
            </a:r>
            <a:r>
              <a:rPr lang="en-AU" sz="4000" dirty="0">
                <a:latin typeface="Arial" panose="020B0604020202020204" pitchFamily="34" charset="0"/>
                <a:ea typeface="Calibri" panose="020F0502020204030204" pitchFamily="34" charset="0"/>
                <a:cs typeface="Times New Roman" panose="02020603050405020304" pitchFamily="18" charset="0"/>
              </a:rPr>
              <a:t> the </a:t>
            </a:r>
            <a:r>
              <a:rPr lang="en-AU" sz="4000" b="1" dirty="0">
                <a:latin typeface="Arial" panose="020B0604020202020204" pitchFamily="34" charset="0"/>
                <a:ea typeface="Calibri" panose="020F0502020204030204" pitchFamily="34" charset="0"/>
                <a:cs typeface="Times New Roman" panose="02020603050405020304" pitchFamily="18" charset="0"/>
              </a:rPr>
              <a:t>description </a:t>
            </a:r>
            <a:r>
              <a:rPr lang="en-AU" sz="4000" dirty="0">
                <a:latin typeface="Arial" panose="020B0604020202020204" pitchFamily="34" charset="0"/>
                <a:ea typeface="Calibri" panose="020F0502020204030204" pitchFamily="34" charset="0"/>
                <a:cs typeface="Times New Roman" panose="02020603050405020304" pitchFamily="18" charset="0"/>
              </a:rPr>
              <a:t>to the </a:t>
            </a:r>
            <a:r>
              <a:rPr lang="en-AU" sz="3600" b="1" dirty="0">
                <a:latin typeface="Arial" panose="020B0604020202020204" pitchFamily="34" charset="0"/>
                <a:ea typeface="Calibri" panose="020F0502020204030204" pitchFamily="34" charset="0"/>
                <a:cs typeface="Times New Roman" panose="02020603050405020304" pitchFamily="18" charset="0"/>
              </a:rPr>
              <a:t>2D shape </a:t>
            </a:r>
            <a:r>
              <a:rPr lang="en-AU" sz="3600" dirty="0">
                <a:latin typeface="Arial" panose="020B0604020202020204" pitchFamily="34" charset="0"/>
                <a:ea typeface="Calibri" panose="020F0502020204030204" pitchFamily="34" charset="0"/>
                <a:cs typeface="Times New Roman" panose="02020603050405020304" pitchFamily="18" charset="0"/>
              </a:rPr>
              <a:t>.</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937CBC72-A148-4750-989A-FBC408925FF9}"/>
              </a:ext>
              <a:ext uri="{C183D7F6-B498-43B3-948B-1728B52AA6E4}">
                <adec:decorative xmlns:adec="http://schemas.microsoft.com/office/drawing/2017/decorative" val="1"/>
              </a:ext>
            </a:extLst>
          </p:cNvPr>
          <p:cNvSpPr/>
          <p:nvPr/>
        </p:nvSpPr>
        <p:spPr>
          <a:xfrm>
            <a:off x="471031" y="4716943"/>
            <a:ext cx="5196685" cy="197905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TextBox 10">
            <a:extLst>
              <a:ext uri="{FF2B5EF4-FFF2-40B4-BE49-F238E27FC236}">
                <a16:creationId xmlns:a16="http://schemas.microsoft.com/office/drawing/2014/main" id="{36A3D021-7CCF-B232-6947-19C46713EC75}"/>
              </a:ext>
            </a:extLst>
          </p:cNvPr>
          <p:cNvSpPr txBox="1"/>
          <p:nvPr/>
        </p:nvSpPr>
        <p:spPr>
          <a:xfrm>
            <a:off x="610432" y="2128345"/>
            <a:ext cx="5125593" cy="678071"/>
          </a:xfrm>
          <a:prstGeom prst="rect">
            <a:avLst/>
          </a:prstGeom>
        </p:spPr>
        <p:txBody>
          <a:bodyPr lIns="0" tIns="0" rIns="0" bIns="0" rtlCol="0" anchor="t">
            <a:spAutoFit/>
          </a:bodyPr>
          <a:lstStyle/>
          <a:p>
            <a:pPr marL="481791" lvl="1" defTabSz="914400">
              <a:lnSpc>
                <a:spcPts val="6248"/>
              </a:lnSpc>
            </a:pPr>
            <a:r>
              <a:rPr lang="en-US" sz="2800">
                <a:solidFill>
                  <a:srgbClr val="000000"/>
                </a:solidFill>
                <a:latin typeface="Edu NSW ACT Foundation" panose="020B0604020202020204" charset="0"/>
                <a:ea typeface="Canva Student Font"/>
                <a:cs typeface="Edu NSW ACT Foundation" panose="020B0604020202020204" charset="0"/>
                <a:sym typeface="Canva Student Font"/>
              </a:rPr>
              <a:t>1. </a:t>
            </a:r>
            <a:r>
              <a:rPr lang="en-US" sz="2800" dirty="0">
                <a:solidFill>
                  <a:srgbClr val="000000"/>
                </a:solidFill>
                <a:latin typeface="Edu NSW ACT Foundation" panose="020B0604020202020204" charset="0"/>
                <a:ea typeface="Canva Student Font"/>
                <a:cs typeface="Edu NSW ACT Foundation" panose="020B0604020202020204" charset="0"/>
                <a:sym typeface="Canva Student Font"/>
              </a:rPr>
              <a:t>adjacent sides equal</a:t>
            </a:r>
            <a:endParaRPr lang="en-US" sz="2800">
              <a:solidFill>
                <a:srgbClr val="000000"/>
              </a:solidFill>
              <a:latin typeface="Edu NSW ACT Foundation" panose="020B0604020202020204" charset="0"/>
              <a:ea typeface="Canva Student Font"/>
              <a:cs typeface="Edu NSW ACT Foundation" panose="020B0604020202020204" charset="0"/>
              <a:sym typeface="Canva Student Font"/>
            </a:endParaRPr>
          </a:p>
        </p:txBody>
      </p:sp>
      <p:sp>
        <p:nvSpPr>
          <p:cNvPr id="40" name="TextBox 6">
            <a:extLst>
              <a:ext uri="{FF2B5EF4-FFF2-40B4-BE49-F238E27FC236}">
                <a16:creationId xmlns:a16="http://schemas.microsoft.com/office/drawing/2014/main" id="{4C402F86-2212-4D41-B706-9C4D8ED650F9}"/>
              </a:ext>
            </a:extLst>
          </p:cNvPr>
          <p:cNvSpPr txBox="1"/>
          <p:nvPr/>
        </p:nvSpPr>
        <p:spPr>
          <a:xfrm>
            <a:off x="610432" y="3476779"/>
            <a:ext cx="5740749" cy="678071"/>
          </a:xfrm>
          <a:prstGeom prst="rect">
            <a:avLst/>
          </a:prstGeom>
        </p:spPr>
        <p:txBody>
          <a:bodyPr lIns="0" tIns="0" rIns="0" bIns="0" rtlCol="0" anchor="t">
            <a:spAutoFit/>
          </a:bodyPr>
          <a:lstStyle/>
          <a:p>
            <a:pPr marL="481791" lvl="1" algn="l">
              <a:lnSpc>
                <a:spcPts val="6248"/>
              </a:lnSpc>
            </a:pPr>
            <a:r>
              <a:rPr lang="en-US" sz="2800">
                <a:latin typeface="Edu NSW ACT Foundation" panose="020B0604020202020204" charset="0"/>
                <a:ea typeface="Canva Student Font"/>
                <a:cs typeface="Edu NSW ACT Foundation" panose="020B0604020202020204" charset="0"/>
                <a:sym typeface="Canva Student Font"/>
              </a:rPr>
              <a:t>2</a:t>
            </a:r>
            <a:r>
              <a:rPr lang="en-US" sz="2800">
                <a:solidFill>
                  <a:srgbClr val="000000"/>
                </a:solidFill>
                <a:latin typeface="Edu NSW ACT Foundation" panose="020B0604020202020204" charset="0"/>
                <a:ea typeface="Canva Student Font"/>
                <a:cs typeface="Edu NSW ACT Foundation" panose="020B0604020202020204" charset="0"/>
                <a:sym typeface="Canva Student Font"/>
              </a:rPr>
              <a:t>. </a:t>
            </a:r>
            <a:r>
              <a:rPr lang="en-US" sz="2800" dirty="0">
                <a:solidFill>
                  <a:srgbClr val="000000"/>
                </a:solidFill>
                <a:latin typeface="Edu NSW ACT Foundation" panose="020B0604020202020204" charset="0"/>
                <a:ea typeface="Canva Student Font"/>
                <a:cs typeface="Edu NSW ACT Foundation" panose="020B0604020202020204" charset="0"/>
                <a:sym typeface="Canva Student Font"/>
              </a:rPr>
              <a:t>one pair of parallel sides</a:t>
            </a:r>
            <a:endParaRPr lang="en-US" sz="2800">
              <a:solidFill>
                <a:srgbClr val="000000"/>
              </a:solidFill>
              <a:latin typeface="Edu NSW ACT Foundation" panose="020B0604020202020204" charset="0"/>
              <a:ea typeface="Canva Student Font"/>
              <a:cs typeface="Edu NSW ACT Foundation" panose="020B0604020202020204" charset="0"/>
              <a:sym typeface="Canva Student Font"/>
            </a:endParaRPr>
          </a:p>
        </p:txBody>
      </p:sp>
      <p:sp>
        <p:nvSpPr>
          <p:cNvPr id="20" name="TextBox 6">
            <a:extLst>
              <a:ext uri="{FF2B5EF4-FFF2-40B4-BE49-F238E27FC236}">
                <a16:creationId xmlns:a16="http://schemas.microsoft.com/office/drawing/2014/main" id="{58F8F05E-35D4-18AC-28D0-3F941BDD1BC2}"/>
              </a:ext>
            </a:extLst>
          </p:cNvPr>
          <p:cNvSpPr txBox="1"/>
          <p:nvPr/>
        </p:nvSpPr>
        <p:spPr>
          <a:xfrm>
            <a:off x="610432" y="4746837"/>
            <a:ext cx="6202116" cy="1859163"/>
          </a:xfrm>
          <a:prstGeom prst="rect">
            <a:avLst/>
          </a:prstGeom>
        </p:spPr>
        <p:txBody>
          <a:bodyPr lIns="0" tIns="0" rIns="0" bIns="0" rtlCol="0" anchor="t">
            <a:spAutoFit/>
          </a:bodyPr>
          <a:lstStyle/>
          <a:p>
            <a:pPr marL="481791" lvl="1" defTabSz="914400">
              <a:lnSpc>
                <a:spcPct val="150000"/>
              </a:lnSpc>
            </a:pPr>
            <a:r>
              <a:rPr lang="en-US" sz="2800">
                <a:latin typeface="Edu NSW ACT Foundation" panose="020B0604020202020204" charset="0"/>
                <a:ea typeface="Canva Student Font"/>
                <a:cs typeface="Edu NSW ACT Foundation" panose="020B0604020202020204" charset="0"/>
                <a:sym typeface="Canva Student Font"/>
              </a:rPr>
              <a:t>3</a:t>
            </a:r>
            <a:r>
              <a:rPr lang="en-US" sz="2800">
                <a:solidFill>
                  <a:srgbClr val="000000"/>
                </a:solidFill>
                <a:latin typeface="Edu NSW ACT Foundation" panose="020B0604020202020204" charset="0"/>
                <a:ea typeface="Canva Student Font"/>
                <a:cs typeface="Edu NSW ACT Foundation" panose="020B0604020202020204" charset="0"/>
                <a:sym typeface="Canva Student Font"/>
              </a:rPr>
              <a:t>. 2</a:t>
            </a:r>
            <a:r>
              <a:rPr lang="en-US" sz="2800" dirty="0">
                <a:solidFill>
                  <a:srgbClr val="000000"/>
                </a:solidFill>
                <a:latin typeface="Edu NSW ACT Foundation" panose="020B0604020202020204" charset="0"/>
                <a:ea typeface="Canva Student Font"/>
                <a:cs typeface="Edu NSW ACT Foundation" panose="020B0604020202020204" charset="0"/>
                <a:sym typeface="Canva Student Font"/>
              </a:rPr>
              <a:t> pairs of parallel sides</a:t>
            </a:r>
            <a:endParaRPr lang="en-US" sz="2800">
              <a:solidFill>
                <a:srgbClr val="000000"/>
              </a:solidFill>
              <a:latin typeface="Edu NSW ACT Foundation" panose="020B0604020202020204" charset="0"/>
              <a:ea typeface="Canva Student Font"/>
              <a:cs typeface="Edu NSW ACT Foundation" panose="020B0604020202020204" charset="0"/>
              <a:sym typeface="Canva Student Font"/>
            </a:endParaRPr>
          </a:p>
          <a:p>
            <a:pPr marL="481791" lvl="1" defTabSz="914400">
              <a:lnSpc>
                <a:spcPct val="150000"/>
              </a:lnSpc>
            </a:pPr>
            <a:r>
              <a:rPr lang="en-US" sz="2800" dirty="0">
                <a:solidFill>
                  <a:srgbClr val="000000"/>
                </a:solidFill>
                <a:latin typeface="Edu NSW ACT Foundation" panose="020B0604020202020204" charset="0"/>
                <a:ea typeface="Canva Student Font"/>
                <a:cs typeface="Edu NSW ACT Foundation" panose="020B0604020202020204" charset="0"/>
                <a:sym typeface="Canva Student Font"/>
              </a:rPr>
              <a:t>opposite sides equal</a:t>
            </a:r>
            <a:endParaRPr lang="en-US" sz="2800">
              <a:solidFill>
                <a:srgbClr val="000000"/>
              </a:solidFill>
              <a:latin typeface="Edu NSW ACT Foundation" panose="020B0604020202020204" charset="0"/>
              <a:ea typeface="Canva Student Font"/>
              <a:cs typeface="Edu NSW ACT Foundation" panose="020B0604020202020204" charset="0"/>
              <a:sym typeface="Canva Student Font"/>
            </a:endParaRPr>
          </a:p>
          <a:p>
            <a:pPr marL="481791" lvl="1" defTabSz="914400">
              <a:lnSpc>
                <a:spcPct val="150000"/>
              </a:lnSpc>
            </a:pPr>
            <a:r>
              <a:rPr lang="en-US" sz="2800" dirty="0">
                <a:solidFill>
                  <a:srgbClr val="000000"/>
                </a:solidFill>
                <a:latin typeface="Edu NSW ACT Foundation" panose="020B0604020202020204" charset="0"/>
                <a:ea typeface="Canva Student Font"/>
                <a:cs typeface="Edu NSW ACT Foundation" panose="020B0604020202020204" charset="0"/>
                <a:sym typeface="Canva Student Font"/>
              </a:rPr>
              <a:t>opposite angles equal</a:t>
            </a:r>
            <a:endParaRPr lang="en-US">
              <a:solidFill>
                <a:srgbClr val="000000"/>
              </a:solidFill>
              <a:latin typeface="Edu NSW ACT Foundation" panose="020B0604020202020204" charset="0"/>
              <a:ea typeface="Canva Student Font"/>
              <a:cs typeface="Edu NSW ACT Foundation" panose="020B0604020202020204" charset="0"/>
              <a:sym typeface="Canva Student Font"/>
            </a:endParaRPr>
          </a:p>
        </p:txBody>
      </p:sp>
      <p:sp>
        <p:nvSpPr>
          <p:cNvPr id="4" name="TextBox 3">
            <a:extLst>
              <a:ext uri="{FF2B5EF4-FFF2-40B4-BE49-F238E27FC236}">
                <a16:creationId xmlns:a16="http://schemas.microsoft.com/office/drawing/2014/main" id="{5B47B270-4901-FF47-C8B4-F65FCED8DAB8}"/>
              </a:ext>
            </a:extLst>
          </p:cNvPr>
          <p:cNvSpPr txBox="1"/>
          <p:nvPr/>
        </p:nvSpPr>
        <p:spPr>
          <a:xfrm>
            <a:off x="6732976" y="2308339"/>
            <a:ext cx="3258291"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200"/>
              <a:t>A. parallelogram </a:t>
            </a:r>
          </a:p>
        </p:txBody>
      </p:sp>
      <p:grpSp>
        <p:nvGrpSpPr>
          <p:cNvPr id="16" name="Group 2" descr="parallelogram">
            <a:extLst>
              <a:ext uri="{FF2B5EF4-FFF2-40B4-BE49-F238E27FC236}">
                <a16:creationId xmlns:a16="http://schemas.microsoft.com/office/drawing/2014/main" id="{6B42DCE3-E2AE-5D6F-7FA0-E02CB486CC87}"/>
              </a:ext>
            </a:extLst>
          </p:cNvPr>
          <p:cNvGrpSpPr/>
          <p:nvPr/>
        </p:nvGrpSpPr>
        <p:grpSpPr>
          <a:xfrm>
            <a:off x="9818502" y="1885990"/>
            <a:ext cx="1968634" cy="1175239"/>
            <a:chOff x="101600" y="-38100"/>
            <a:chExt cx="1221874" cy="775328"/>
          </a:xfrm>
        </p:grpSpPr>
        <p:sp>
          <p:nvSpPr>
            <p:cNvPr id="18" name="Freeform 3">
              <a:extLst>
                <a:ext uri="{FF2B5EF4-FFF2-40B4-BE49-F238E27FC236}">
                  <a16:creationId xmlns:a16="http://schemas.microsoft.com/office/drawing/2014/main" id="{3E44195E-4648-A555-3760-1C856A76DC9D}"/>
                </a:ext>
              </a:extLst>
            </p:cNvPr>
            <p:cNvSpPr/>
            <p:nvPr/>
          </p:nvSpPr>
          <p:spPr>
            <a:xfrm>
              <a:off x="101600" y="127628"/>
              <a:ext cx="1221874" cy="609600"/>
            </a:xfrm>
            <a:custGeom>
              <a:avLst/>
              <a:gdLst/>
              <a:ahLst/>
              <a:cxnLst/>
              <a:rect l="l" t="t" r="r" b="b"/>
              <a:pathLst>
                <a:path w="1221874" h="609600">
                  <a:moveTo>
                    <a:pt x="203200" y="0"/>
                  </a:moveTo>
                  <a:lnTo>
                    <a:pt x="1221874" y="0"/>
                  </a:lnTo>
                  <a:lnTo>
                    <a:pt x="1018674" y="609600"/>
                  </a:lnTo>
                  <a:lnTo>
                    <a:pt x="0" y="609600"/>
                  </a:lnTo>
                  <a:lnTo>
                    <a:pt x="203200" y="0"/>
                  </a:lnTo>
                  <a:close/>
                </a:path>
              </a:pathLst>
            </a:custGeom>
            <a:solidFill>
              <a:srgbClr val="00B0F0"/>
            </a:solidFill>
          </p:spPr>
          <p:txBody>
            <a:bodyPr/>
            <a:lstStyle/>
            <a:p>
              <a:pPr defTabSz="914400"/>
              <a:endParaRPr lang="en-AU" sz="1800">
                <a:solidFill>
                  <a:prstClr val="black"/>
                </a:solidFill>
                <a:latin typeface="Calibri"/>
              </a:endParaRPr>
            </a:p>
          </p:txBody>
        </p:sp>
        <p:sp>
          <p:nvSpPr>
            <p:cNvPr id="19" name="TextBox 4">
              <a:extLst>
                <a:ext uri="{FF2B5EF4-FFF2-40B4-BE49-F238E27FC236}">
                  <a16:creationId xmlns:a16="http://schemas.microsoft.com/office/drawing/2014/main" id="{2034BB55-D83D-8B7A-700D-9DD84FBEF973}"/>
                </a:ext>
              </a:extLst>
            </p:cNvPr>
            <p:cNvSpPr txBox="1"/>
            <p:nvPr/>
          </p:nvSpPr>
          <p:spPr>
            <a:xfrm>
              <a:off x="101600" y="-38100"/>
              <a:ext cx="1018674" cy="647700"/>
            </a:xfrm>
            <a:prstGeom prst="rect">
              <a:avLst/>
            </a:prstGeom>
          </p:spPr>
          <p:txBody>
            <a:bodyPr lIns="50800" tIns="50800" rIns="50800" bIns="50800" rtlCol="0" anchor="ctr"/>
            <a:lstStyle/>
            <a:p>
              <a:pPr algn="ctr" defTabSz="914400">
                <a:lnSpc>
                  <a:spcPts val="2748"/>
                </a:lnSpc>
              </a:pPr>
              <a:endParaRPr sz="1800">
                <a:solidFill>
                  <a:prstClr val="black"/>
                </a:solidFill>
                <a:latin typeface="Calibri"/>
              </a:endParaRPr>
            </a:p>
          </p:txBody>
        </p:sp>
      </p:grpSp>
      <p:sp>
        <p:nvSpPr>
          <p:cNvPr id="5" name="TextBox 4">
            <a:extLst>
              <a:ext uri="{FF2B5EF4-FFF2-40B4-BE49-F238E27FC236}">
                <a16:creationId xmlns:a16="http://schemas.microsoft.com/office/drawing/2014/main" id="{BFB3FD50-EC74-A078-F44D-2DCD5C109CA0}"/>
              </a:ext>
            </a:extLst>
          </p:cNvPr>
          <p:cNvSpPr txBox="1"/>
          <p:nvPr/>
        </p:nvSpPr>
        <p:spPr>
          <a:xfrm>
            <a:off x="6762542" y="3682898"/>
            <a:ext cx="1328490"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200"/>
              <a:t>B. kite</a:t>
            </a:r>
          </a:p>
        </p:txBody>
      </p:sp>
      <p:grpSp>
        <p:nvGrpSpPr>
          <p:cNvPr id="25" name="Group 2" descr="kite">
            <a:extLst>
              <a:ext uri="{FF2B5EF4-FFF2-40B4-BE49-F238E27FC236}">
                <a16:creationId xmlns:a16="http://schemas.microsoft.com/office/drawing/2014/main" id="{7D8A940E-6010-EC06-E0CB-C2AB40B62334}"/>
              </a:ext>
            </a:extLst>
          </p:cNvPr>
          <p:cNvGrpSpPr/>
          <p:nvPr/>
        </p:nvGrpSpPr>
        <p:grpSpPr>
          <a:xfrm>
            <a:off x="9782295" y="3604494"/>
            <a:ext cx="1020524" cy="959197"/>
            <a:chOff x="623544" y="516765"/>
            <a:chExt cx="2743586" cy="2617701"/>
          </a:xfrm>
        </p:grpSpPr>
        <p:sp>
          <p:nvSpPr>
            <p:cNvPr id="31" name="TextBox 5">
              <a:extLst>
                <a:ext uri="{FF2B5EF4-FFF2-40B4-BE49-F238E27FC236}">
                  <a16:creationId xmlns:a16="http://schemas.microsoft.com/office/drawing/2014/main" id="{FBD79874-D8F2-C20A-DBC3-1ADCA1B3BD07}"/>
                </a:ext>
              </a:extLst>
            </p:cNvPr>
            <p:cNvSpPr txBox="1"/>
            <p:nvPr/>
          </p:nvSpPr>
          <p:spPr>
            <a:xfrm>
              <a:off x="623544" y="516765"/>
              <a:ext cx="2743586" cy="800265"/>
            </a:xfrm>
            <a:prstGeom prst="rect">
              <a:avLst/>
            </a:prstGeom>
          </p:spPr>
          <p:txBody>
            <a:bodyPr lIns="50800" tIns="50800" rIns="50800" bIns="50800" rtlCol="0" anchor="ctr"/>
            <a:lstStyle/>
            <a:p>
              <a:pPr algn="ctr" defTabSz="914400">
                <a:lnSpc>
                  <a:spcPts val="2748"/>
                </a:lnSpc>
              </a:pPr>
              <a:endParaRPr sz="1800">
                <a:solidFill>
                  <a:prstClr val="black"/>
                </a:solidFill>
                <a:latin typeface="Calibri"/>
              </a:endParaRPr>
            </a:p>
          </p:txBody>
        </p:sp>
        <p:sp>
          <p:nvSpPr>
            <p:cNvPr id="29" name="TextBox 8">
              <a:extLst>
                <a:ext uri="{FF2B5EF4-FFF2-40B4-BE49-F238E27FC236}">
                  <a16:creationId xmlns:a16="http://schemas.microsoft.com/office/drawing/2014/main" id="{B1166696-97BA-4D3E-201C-2641B85B0CAD}"/>
                </a:ext>
              </a:extLst>
            </p:cNvPr>
            <p:cNvSpPr txBox="1"/>
            <p:nvPr/>
          </p:nvSpPr>
          <p:spPr>
            <a:xfrm rot="10800000">
              <a:off x="623544" y="1628263"/>
              <a:ext cx="2743586" cy="1506203"/>
            </a:xfrm>
            <a:prstGeom prst="rect">
              <a:avLst/>
            </a:prstGeom>
          </p:spPr>
          <p:txBody>
            <a:bodyPr lIns="50800" tIns="50800" rIns="50800" bIns="50800" rtlCol="0" anchor="ctr"/>
            <a:lstStyle/>
            <a:p>
              <a:pPr algn="ctr" defTabSz="914400">
                <a:lnSpc>
                  <a:spcPts val="2748"/>
                </a:lnSpc>
              </a:pPr>
              <a:endParaRPr sz="1800">
                <a:solidFill>
                  <a:prstClr val="black"/>
                </a:solidFill>
                <a:latin typeface="Calibri"/>
              </a:endParaRPr>
            </a:p>
          </p:txBody>
        </p:sp>
      </p:grpSp>
      <p:sp>
        <p:nvSpPr>
          <p:cNvPr id="7" name="TextBox 6">
            <a:extLst>
              <a:ext uri="{FF2B5EF4-FFF2-40B4-BE49-F238E27FC236}">
                <a16:creationId xmlns:a16="http://schemas.microsoft.com/office/drawing/2014/main" id="{EC6F13CA-D6CB-ED65-1356-0B6FF32B3F37}"/>
              </a:ext>
            </a:extLst>
          </p:cNvPr>
          <p:cNvSpPr txBox="1"/>
          <p:nvPr/>
        </p:nvSpPr>
        <p:spPr>
          <a:xfrm>
            <a:off x="6732976" y="5091708"/>
            <a:ext cx="2955083"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3200"/>
              <a:t>C. trapezium</a:t>
            </a:r>
          </a:p>
        </p:txBody>
      </p:sp>
      <p:grpSp>
        <p:nvGrpSpPr>
          <p:cNvPr id="36" name="Group 2" descr="trapezium">
            <a:extLst>
              <a:ext uri="{FF2B5EF4-FFF2-40B4-BE49-F238E27FC236}">
                <a16:creationId xmlns:a16="http://schemas.microsoft.com/office/drawing/2014/main" id="{2DC42E2D-DD53-E1C5-7B05-E4FE18B7CD34}"/>
              </a:ext>
            </a:extLst>
          </p:cNvPr>
          <p:cNvGrpSpPr/>
          <p:nvPr/>
        </p:nvGrpSpPr>
        <p:grpSpPr>
          <a:xfrm>
            <a:off x="9255807" y="5056328"/>
            <a:ext cx="2259852" cy="1240176"/>
            <a:chOff x="0" y="-38100"/>
            <a:chExt cx="1035411" cy="647700"/>
          </a:xfrm>
        </p:grpSpPr>
        <p:sp>
          <p:nvSpPr>
            <p:cNvPr id="37" name="Freeform 3">
              <a:extLst>
                <a:ext uri="{FF2B5EF4-FFF2-40B4-BE49-F238E27FC236}">
                  <a16:creationId xmlns:a16="http://schemas.microsoft.com/office/drawing/2014/main" id="{138F6A23-CD37-766D-73C9-B4BC4E87058D}"/>
                </a:ext>
              </a:extLst>
            </p:cNvPr>
            <p:cNvSpPr/>
            <p:nvPr/>
          </p:nvSpPr>
          <p:spPr>
            <a:xfrm>
              <a:off x="0" y="0"/>
              <a:ext cx="1035411" cy="609600"/>
            </a:xfrm>
            <a:custGeom>
              <a:avLst/>
              <a:gdLst/>
              <a:ahLst/>
              <a:cxnLst/>
              <a:rect l="l" t="t" r="r" b="b"/>
              <a:pathLst>
                <a:path w="1035411" h="609600">
                  <a:moveTo>
                    <a:pt x="203200" y="0"/>
                  </a:moveTo>
                  <a:lnTo>
                    <a:pt x="832211" y="0"/>
                  </a:lnTo>
                  <a:lnTo>
                    <a:pt x="1035411" y="609600"/>
                  </a:lnTo>
                  <a:lnTo>
                    <a:pt x="0" y="609600"/>
                  </a:lnTo>
                  <a:lnTo>
                    <a:pt x="203200" y="0"/>
                  </a:lnTo>
                  <a:close/>
                </a:path>
              </a:pathLst>
            </a:custGeom>
            <a:solidFill>
              <a:srgbClr val="EB6A00"/>
            </a:solidFill>
          </p:spPr>
          <p:txBody>
            <a:bodyPr/>
            <a:lstStyle/>
            <a:p>
              <a:endParaRPr lang="en-AU"/>
            </a:p>
          </p:txBody>
        </p:sp>
        <p:sp>
          <p:nvSpPr>
            <p:cNvPr id="38" name="TextBox 4">
              <a:extLst>
                <a:ext uri="{FF2B5EF4-FFF2-40B4-BE49-F238E27FC236}">
                  <a16:creationId xmlns:a16="http://schemas.microsoft.com/office/drawing/2014/main" id="{8662C3C4-B8CE-2117-FDB0-6164B179F698}"/>
                </a:ext>
              </a:extLst>
            </p:cNvPr>
            <p:cNvSpPr txBox="1"/>
            <p:nvPr/>
          </p:nvSpPr>
          <p:spPr>
            <a:xfrm>
              <a:off x="127000" y="-38100"/>
              <a:ext cx="781411" cy="647700"/>
            </a:xfrm>
            <a:prstGeom prst="rect">
              <a:avLst/>
            </a:prstGeom>
          </p:spPr>
          <p:txBody>
            <a:bodyPr lIns="50800" tIns="50800" rIns="50800" bIns="50800" rtlCol="0" anchor="ctr"/>
            <a:lstStyle/>
            <a:p>
              <a:pPr algn="ctr">
                <a:lnSpc>
                  <a:spcPts val="2748"/>
                </a:lnSpc>
              </a:pPr>
              <a:endParaRPr/>
            </a:p>
          </p:txBody>
        </p:sp>
      </p:grpSp>
      <p:sp>
        <p:nvSpPr>
          <p:cNvPr id="35" name="Rectangle 34">
            <a:extLst>
              <a:ext uri="{FF2B5EF4-FFF2-40B4-BE49-F238E27FC236}">
                <a16:creationId xmlns:a16="http://schemas.microsoft.com/office/drawing/2014/main" id="{F452F97B-219D-4E0C-F5B9-EEECC6513585}"/>
              </a:ext>
              <a:ext uri="{C183D7F6-B498-43B3-948B-1728B52AA6E4}">
                <adec:decorative xmlns:adec="http://schemas.microsoft.com/office/drawing/2017/decorative" val="1"/>
              </a:ext>
            </a:extLst>
          </p:cNvPr>
          <p:cNvSpPr/>
          <p:nvPr/>
        </p:nvSpPr>
        <p:spPr>
          <a:xfrm>
            <a:off x="471031" y="2178421"/>
            <a:ext cx="5196685" cy="90130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Rectangle 41">
            <a:extLst>
              <a:ext uri="{FF2B5EF4-FFF2-40B4-BE49-F238E27FC236}">
                <a16:creationId xmlns:a16="http://schemas.microsoft.com/office/drawing/2014/main" id="{EC039373-D7AB-59EE-AF27-A1615C7F91DF}"/>
              </a:ext>
              <a:ext uri="{C183D7F6-B498-43B3-948B-1728B52AA6E4}">
                <adec:decorative xmlns:adec="http://schemas.microsoft.com/office/drawing/2017/decorative" val="1"/>
              </a:ext>
            </a:extLst>
          </p:cNvPr>
          <p:cNvSpPr/>
          <p:nvPr/>
        </p:nvSpPr>
        <p:spPr>
          <a:xfrm>
            <a:off x="471031" y="3447682"/>
            <a:ext cx="5196685" cy="901305"/>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B2EF36A5-BFE2-5E23-796C-0DD94446B399}"/>
              </a:ext>
              <a:ext uri="{C183D7F6-B498-43B3-948B-1728B52AA6E4}">
                <adec:decorative xmlns:adec="http://schemas.microsoft.com/office/drawing/2017/decorative" val="1"/>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357" b="96124" l="7731" r="94514">
                        <a14:foregroundMark x1="50374" y1="6357" x2="50374" y2="6357"/>
                        <a14:foregroundMark x1="94763" y1="41085" x2="94763" y2="41085"/>
                        <a14:foregroundMark x1="51122" y1="92558" x2="51122" y2="92558"/>
                        <a14:foregroundMark x1="7980" y1="42171" x2="7980" y2="42171"/>
                        <a14:foregroundMark x1="51122" y1="96124" x2="51122" y2="96124"/>
                      </a14:backgroundRemoval>
                    </a14:imgEffect>
                  </a14:imgLayer>
                </a14:imgProps>
              </a:ext>
            </a:extLst>
          </a:blip>
          <a:stretch>
            <a:fillRect/>
          </a:stretch>
        </p:blipFill>
        <p:spPr>
          <a:xfrm>
            <a:off x="9844340" y="3166973"/>
            <a:ext cx="1082787" cy="1741640"/>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continuing a pattern</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3" name="Picture 2" descr="A pattern with a base of 5 green squares joined at the corner of the centre square. This is repeated and increases by 5 green squares each time (4 steps shown). The questions asked are: What would come next? How many more steps would you need to make a number more than 50? How many more steps would you need to make the number 105?">
            <a:extLst>
              <a:ext uri="{FF2B5EF4-FFF2-40B4-BE49-F238E27FC236}">
                <a16:creationId xmlns:a16="http://schemas.microsoft.com/office/drawing/2014/main" id="{7791BDDB-F92A-ED7C-5D08-62D70A1D69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4862" y="1168872"/>
            <a:ext cx="9592406" cy="4867862"/>
          </a:xfrm>
          <a:prstGeom prst="rect">
            <a:avLst/>
          </a:prstGeom>
          <a:noFill/>
          <a:ln>
            <a:noFill/>
          </a:ln>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dirty="0">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600963" y="1312161"/>
            <a:ext cx="11243037" cy="893226"/>
          </a:xfrm>
        </p:spPr>
        <p:txBody>
          <a:bodyPr/>
          <a:lstStyle/>
          <a:p>
            <a:pPr algn="ctr"/>
            <a:r>
              <a:rPr lang="en-AU" sz="4400"/>
              <a:t>The number chart shows the </a:t>
            </a:r>
            <a:r>
              <a:rPr lang="en-AU" sz="4400" b="1">
                <a:solidFill>
                  <a:srgbClr val="B533DD"/>
                </a:solidFill>
              </a:rPr>
              <a:t>multiples of 4.</a:t>
            </a:r>
            <a:r>
              <a:rPr lang="en-AU" sz="4400" b="1">
                <a:solidFill>
                  <a:srgbClr val="E3B1F2"/>
                </a:solidFill>
              </a:rPr>
              <a:t> </a:t>
            </a:r>
            <a:r>
              <a:rPr lang="en-AU" sz="4000" dirty="0"/>
              <a:t>pattern.</a:t>
            </a:r>
          </a:p>
        </p:txBody>
      </p:sp>
      <p:pic>
        <p:nvPicPr>
          <p:cNvPr id="7" name="Picture 6" descr="Number chart 1-50 with every 4th number coloured.">
            <a:extLst>
              <a:ext uri="{FF2B5EF4-FFF2-40B4-BE49-F238E27FC236}">
                <a16:creationId xmlns:a16="http://schemas.microsoft.com/office/drawing/2014/main" id="{F581C099-36EC-A064-C452-76C1FE947580}"/>
              </a:ext>
            </a:extLst>
          </p:cNvPr>
          <p:cNvPicPr>
            <a:picLocks noChangeAspect="1"/>
          </p:cNvPicPr>
          <p:nvPr/>
        </p:nvPicPr>
        <p:blipFill>
          <a:blip r:embed="rId3"/>
          <a:stretch>
            <a:fillRect/>
          </a:stretch>
        </p:blipFill>
        <p:spPr>
          <a:xfrm>
            <a:off x="2887248" y="2205387"/>
            <a:ext cx="6389404" cy="3340452"/>
          </a:xfrm>
          <a:prstGeom prst="rect">
            <a:avLst/>
          </a:prstGeom>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1098456423"/>
              </p:ext>
            </p:extLst>
          </p:nvPr>
        </p:nvGraphicFramePr>
        <p:xfrm>
          <a:off x="2557462" y="5774320"/>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05C93C34-EE54-BD26-2404-BF4061F9A55C}"/>
              </a:ext>
            </a:extLst>
          </p:cNvPr>
          <p:cNvSpPr txBox="1"/>
          <p:nvPr/>
        </p:nvSpPr>
        <p:spPr>
          <a:xfrm>
            <a:off x="233370" y="1155766"/>
            <a:ext cx="11725259" cy="449116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Record</a:t>
            </a:r>
            <a:r>
              <a:rPr lang="en-AU" sz="4400">
                <a:latin typeface="Arial" panose="020B0604020202020204" pitchFamily="34" charset="0"/>
                <a:ea typeface="Calibri" panose="020F0502020204030204" pitchFamily="34" charset="0"/>
                <a:cs typeface="Times New Roman" panose="02020603050405020304" pitchFamily="18" charset="0"/>
              </a:rPr>
              <a:t> the </a:t>
            </a:r>
            <a:r>
              <a:rPr lang="en-AU" sz="4400" b="1">
                <a:latin typeface="Arial" panose="020B0604020202020204" pitchFamily="34" charset="0"/>
                <a:ea typeface="Calibri" panose="020F0502020204030204" pitchFamily="34" charset="0"/>
                <a:cs typeface="Times New Roman" panose="02020603050405020304" pitchFamily="18" charset="0"/>
              </a:rPr>
              <a:t>multiples</a:t>
            </a:r>
            <a:r>
              <a:rPr lang="en-AU" sz="4400">
                <a:latin typeface="Arial" panose="020B0604020202020204" pitchFamily="34" charset="0"/>
                <a:ea typeface="Calibri" panose="020F0502020204030204" pitchFamily="34" charset="0"/>
                <a:cs typeface="Times New Roman" panose="02020603050405020304" pitchFamily="18" charset="0"/>
              </a:rPr>
              <a:t> for this </a:t>
            </a:r>
            <a:r>
              <a:rPr lang="en-AU" sz="4400" b="1">
                <a:latin typeface="Arial" panose="020B0604020202020204" pitchFamily="34" charset="0"/>
                <a:ea typeface="Calibri" panose="020F0502020204030204" pitchFamily="34" charset="0"/>
                <a:cs typeface="Times New Roman" panose="02020603050405020304" pitchFamily="18" charset="0"/>
              </a:rPr>
              <a:t>pattern </a:t>
            </a:r>
            <a:r>
              <a:rPr lang="en-AU" sz="4400">
                <a:latin typeface="Arial" panose="020B0604020202020204" pitchFamily="34" charset="0"/>
                <a:ea typeface="Calibri" panose="020F0502020204030204" pitchFamily="34" charset="0"/>
                <a:cs typeface="Times New Roman" panose="02020603050405020304" pitchFamily="18" charset="0"/>
              </a:rPr>
              <a:t>of </a:t>
            </a:r>
            <a:r>
              <a:rPr lang="en-AU" sz="4400" b="1">
                <a:latin typeface="Arial" panose="020B0604020202020204" pitchFamily="34" charset="0"/>
                <a:ea typeface="Calibri" panose="020F0502020204030204" pitchFamily="34" charset="0"/>
                <a:cs typeface="Times New Roman" panose="02020603050405020304" pitchFamily="18" charset="0"/>
              </a:rPr>
              <a:t>feet</a:t>
            </a:r>
            <a:r>
              <a:rPr lang="en-AU" sz="4400">
                <a:latin typeface="Arial" panose="020B0604020202020204" pitchFamily="34" charset="0"/>
                <a:ea typeface="Calibri" panose="020F0502020204030204" pitchFamily="34" charset="0"/>
                <a:cs typeface="Times New Roman" panose="02020603050405020304" pitchFamily="18" charset="0"/>
              </a:rPr>
              <a:t>.</a:t>
            </a:r>
          </a:p>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Record</a:t>
            </a:r>
            <a:r>
              <a:rPr lang="en-AU" sz="4400">
                <a:latin typeface="Arial" panose="020B0604020202020204" pitchFamily="34" charset="0"/>
                <a:ea typeface="Calibri" panose="020F0502020204030204" pitchFamily="34" charset="0"/>
                <a:cs typeface="Times New Roman" panose="02020603050405020304" pitchFamily="18" charset="0"/>
              </a:rPr>
              <a:t> the next </a:t>
            </a:r>
            <a:r>
              <a:rPr lang="en-AU" sz="4400" b="1">
                <a:latin typeface="Arial" panose="020B0604020202020204" pitchFamily="34" charset="0"/>
                <a:ea typeface="Calibri" panose="020F0502020204030204" pitchFamily="34" charset="0"/>
                <a:cs typeface="Times New Roman" panose="02020603050405020304" pitchFamily="18" charset="0"/>
              </a:rPr>
              <a:t>3 multiples </a:t>
            </a:r>
            <a:r>
              <a:rPr lang="en-AU" sz="4400">
                <a:latin typeface="Arial" panose="020B0604020202020204" pitchFamily="34" charset="0"/>
                <a:ea typeface="Calibri" panose="020F0502020204030204" pitchFamily="34" charset="0"/>
                <a:cs typeface="Times New Roman" panose="02020603050405020304" pitchFamily="18" charset="0"/>
              </a:rPr>
              <a:t>that </a:t>
            </a:r>
            <a:r>
              <a:rPr lang="en-AU" sz="4400" b="1">
                <a:latin typeface="Arial" panose="020B0604020202020204" pitchFamily="34" charset="0"/>
                <a:ea typeface="Calibri" panose="020F0502020204030204" pitchFamily="34" charset="0"/>
                <a:cs typeface="Times New Roman" panose="02020603050405020304" pitchFamily="18" charset="0"/>
              </a:rPr>
              <a:t>follow</a:t>
            </a:r>
            <a:r>
              <a:rPr lang="en-AU" sz="4400">
                <a:latin typeface="Arial" panose="020B0604020202020204" pitchFamily="34" charset="0"/>
                <a:ea typeface="Calibri" panose="020F0502020204030204" pitchFamily="34" charset="0"/>
                <a:cs typeface="Times New Roman" panose="02020603050405020304" pitchFamily="18" charset="0"/>
              </a:rPr>
              <a:t> in  the pattern</a:t>
            </a:r>
            <a:r>
              <a:rPr lang="en-AU" sz="4400" b="1">
                <a:latin typeface="Arial" panose="020B0604020202020204" pitchFamily="34" charset="0"/>
                <a:ea typeface="Calibri" panose="020F0502020204030204" pitchFamily="34" charset="0"/>
                <a:cs typeface="Times New Roman" panose="02020603050405020304" pitchFamily="18" charset="0"/>
              </a:rPr>
              <a:t>.</a:t>
            </a:r>
          </a:p>
          <a:p>
            <a:pPr lvl="0" algn="ctr">
              <a:lnSpc>
                <a:spcPct val="150000"/>
              </a:lnSpc>
              <a:spcBef>
                <a:spcPts val="1200"/>
              </a:spcBef>
              <a:spcAft>
                <a:spcPts val="600"/>
              </a:spcAft>
            </a:pP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A snail and a person repeated in a pattern 4 times. 3 feet is in the first image to indicate the multiple.">
            <a:extLst>
              <a:ext uri="{FF2B5EF4-FFF2-40B4-BE49-F238E27FC236}">
                <a16:creationId xmlns:a16="http://schemas.microsoft.com/office/drawing/2014/main" id="{DD19DE7D-2EFC-0166-11B2-9593ECE5AEB5}"/>
              </a:ext>
            </a:extLst>
          </p:cNvPr>
          <p:cNvPicPr>
            <a:picLocks noChangeAspect="1"/>
          </p:cNvPicPr>
          <p:nvPr/>
        </p:nvPicPr>
        <p:blipFill>
          <a:blip r:embed="rId4"/>
          <a:stretch>
            <a:fillRect/>
          </a:stretch>
        </p:blipFill>
        <p:spPr>
          <a:xfrm>
            <a:off x="2226125" y="4687865"/>
            <a:ext cx="7714442" cy="1918135"/>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Box 4">
            <a:extLst>
              <a:ext uri="{FF2B5EF4-FFF2-40B4-BE49-F238E27FC236}">
                <a16:creationId xmlns:a16="http://schemas.microsoft.com/office/drawing/2014/main" id="{36CEF294-C416-36EB-9ACC-434452124886}"/>
              </a:ext>
            </a:extLst>
          </p:cNvPr>
          <p:cNvSpPr txBox="1"/>
          <p:nvPr/>
        </p:nvSpPr>
        <p:spPr>
          <a:xfrm>
            <a:off x="568307" y="1535304"/>
            <a:ext cx="11831999" cy="1998176"/>
          </a:xfrm>
          <a:prstGeom prst="rect">
            <a:avLst/>
          </a:prstGeom>
          <a:noFill/>
        </p:spPr>
        <p:txBody>
          <a:bodyPr wrap="square">
            <a:spAutoFit/>
          </a:bodyPr>
          <a:lstStyle/>
          <a:p>
            <a:pPr lvl="0" algn="ctr">
              <a:lnSpc>
                <a:spcPct val="150000"/>
              </a:lnSpc>
              <a:spcBef>
                <a:spcPts val="1200"/>
              </a:spcBef>
              <a:spcAft>
                <a:spcPts val="600"/>
              </a:spcAft>
            </a:pPr>
            <a:r>
              <a:rPr lang="en-AU" sz="4400">
                <a:latin typeface="Arial" panose="020B0604020202020204" pitchFamily="34" charset="0"/>
                <a:ea typeface="Calibri" panose="020F0502020204030204" pitchFamily="34" charset="0"/>
                <a:cs typeface="Times New Roman" panose="02020603050405020304" pitchFamily="18" charset="0"/>
              </a:rPr>
              <a:t>What is the </a:t>
            </a:r>
            <a:r>
              <a:rPr lang="en-AU" sz="4400" b="1">
                <a:latin typeface="Arial" panose="020B0604020202020204" pitchFamily="34" charset="0"/>
                <a:ea typeface="Calibri" panose="020F0502020204030204" pitchFamily="34" charset="0"/>
                <a:cs typeface="Times New Roman" panose="02020603050405020304" pitchFamily="18" charset="0"/>
              </a:rPr>
              <a:t>5-minute</a:t>
            </a:r>
            <a:r>
              <a:rPr lang="en-AU" sz="4400">
                <a:latin typeface="Arial" panose="020B0604020202020204" pitchFamily="34" charset="0"/>
                <a:ea typeface="Calibri" panose="020F0502020204030204" pitchFamily="34" charset="0"/>
                <a:cs typeface="Times New Roman" panose="02020603050405020304" pitchFamily="18" charset="0"/>
              </a:rPr>
              <a:t> </a:t>
            </a:r>
            <a:r>
              <a:rPr lang="en-AU" sz="4400" b="1">
                <a:latin typeface="Arial" panose="020B0604020202020204" pitchFamily="34" charset="0"/>
                <a:ea typeface="Calibri" panose="020F0502020204030204" pitchFamily="34" charset="0"/>
                <a:cs typeface="Times New Roman" panose="02020603050405020304" pitchFamily="18" charset="0"/>
              </a:rPr>
              <a:t>benchmark time </a:t>
            </a:r>
            <a:r>
              <a:rPr lang="en-AU" sz="4400">
                <a:latin typeface="Arial" panose="020B0604020202020204" pitchFamily="34" charset="0"/>
                <a:ea typeface="Calibri" panose="020F0502020204030204" pitchFamily="34" charset="0"/>
                <a:cs typeface="Times New Roman" panose="02020603050405020304" pitchFamily="18" charset="0"/>
              </a:rPr>
              <a:t>on these 4 </a:t>
            </a:r>
            <a:r>
              <a:rPr lang="en-AU" sz="4400" err="1">
                <a:latin typeface="Arial" panose="020B0604020202020204" pitchFamily="34" charset="0"/>
                <a:ea typeface="Calibri" panose="020F0502020204030204" pitchFamily="34" charset="0"/>
                <a:cs typeface="Times New Roman" panose="02020603050405020304" pitchFamily="18" charset="0"/>
              </a:rPr>
              <a:t>analog</a:t>
            </a:r>
            <a:r>
              <a:rPr lang="en-AU" sz="4400">
                <a:latin typeface="Arial" panose="020B0604020202020204" pitchFamily="34" charset="0"/>
                <a:ea typeface="Calibri" panose="020F0502020204030204" pitchFamily="34" charset="0"/>
                <a:cs typeface="Times New Roman" panose="02020603050405020304" pitchFamily="18" charset="0"/>
              </a:rPr>
              <a:t> clocks?</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DBBBB2D-95F8-C88D-2566-E3334B6FE004}"/>
              </a:ext>
              <a:ext uri="{C183D7F6-B498-43B3-948B-1728B52AA6E4}">
                <adec:decorative xmlns:adec="http://schemas.microsoft.com/office/drawing/2017/decorative" val="1"/>
              </a:ext>
            </a:extLst>
          </p:cNvPr>
          <p:cNvSpPr txBox="1"/>
          <p:nvPr/>
        </p:nvSpPr>
        <p:spPr>
          <a:xfrm>
            <a:off x="2427775" y="3707009"/>
            <a:ext cx="595222" cy="612476"/>
          </a:xfrm>
          <a:prstGeom prst="rect">
            <a:avLst/>
          </a:prstGeom>
          <a:noFill/>
        </p:spPr>
        <p:txBody>
          <a:bodyPr wrap="square" lIns="0" tIns="0" rIns="0" bIns="0" rtlCol="0">
            <a:noAutofit/>
          </a:bodyPr>
          <a:lstStyle/>
          <a:p>
            <a:pPr algn="l"/>
            <a:r>
              <a:rPr lang="en-AU" sz="3200" b="1" dirty="0">
                <a:solidFill>
                  <a:schemeClr val="accent2"/>
                </a:solidFill>
              </a:rPr>
              <a:t>A</a:t>
            </a:r>
          </a:p>
        </p:txBody>
      </p:sp>
      <p:sp>
        <p:nvSpPr>
          <p:cNvPr id="20" name="TextBox 19">
            <a:extLst>
              <a:ext uri="{FF2B5EF4-FFF2-40B4-BE49-F238E27FC236}">
                <a16:creationId xmlns:a16="http://schemas.microsoft.com/office/drawing/2014/main" id="{B9C29506-E3D1-4999-1C21-397732942704}"/>
              </a:ext>
              <a:ext uri="{C183D7F6-B498-43B3-948B-1728B52AA6E4}">
                <adec:decorative xmlns:adec="http://schemas.microsoft.com/office/drawing/2017/decorative" val="1"/>
              </a:ext>
            </a:extLst>
          </p:cNvPr>
          <p:cNvSpPr txBox="1"/>
          <p:nvPr/>
        </p:nvSpPr>
        <p:spPr>
          <a:xfrm>
            <a:off x="4840172" y="3707009"/>
            <a:ext cx="595222" cy="612476"/>
          </a:xfrm>
          <a:prstGeom prst="rect">
            <a:avLst/>
          </a:prstGeom>
          <a:noFill/>
        </p:spPr>
        <p:txBody>
          <a:bodyPr wrap="square" lIns="0" tIns="0" rIns="0" bIns="0" rtlCol="0">
            <a:noAutofit/>
          </a:bodyPr>
          <a:lstStyle/>
          <a:p>
            <a:pPr algn="l"/>
            <a:r>
              <a:rPr lang="en-AU" sz="3200" b="1" dirty="0">
                <a:solidFill>
                  <a:schemeClr val="accent2"/>
                </a:solidFill>
              </a:rPr>
              <a:t>B</a:t>
            </a:r>
          </a:p>
        </p:txBody>
      </p:sp>
      <p:sp>
        <p:nvSpPr>
          <p:cNvPr id="21" name="TextBox 20">
            <a:extLst>
              <a:ext uri="{FF2B5EF4-FFF2-40B4-BE49-F238E27FC236}">
                <a16:creationId xmlns:a16="http://schemas.microsoft.com/office/drawing/2014/main" id="{C879810F-E648-1DF0-72DC-3C3388C53610}"/>
              </a:ext>
              <a:ext uri="{C183D7F6-B498-43B3-948B-1728B52AA6E4}">
                <adec:decorative xmlns:adec="http://schemas.microsoft.com/office/drawing/2017/decorative" val="1"/>
              </a:ext>
            </a:extLst>
          </p:cNvPr>
          <p:cNvSpPr txBox="1"/>
          <p:nvPr/>
        </p:nvSpPr>
        <p:spPr>
          <a:xfrm>
            <a:off x="7252569" y="3707009"/>
            <a:ext cx="595222" cy="612476"/>
          </a:xfrm>
          <a:prstGeom prst="rect">
            <a:avLst/>
          </a:prstGeom>
          <a:noFill/>
        </p:spPr>
        <p:txBody>
          <a:bodyPr wrap="square" lIns="0" tIns="0" rIns="0" bIns="0" rtlCol="0">
            <a:noAutofit/>
          </a:bodyPr>
          <a:lstStyle/>
          <a:p>
            <a:pPr algn="l"/>
            <a:r>
              <a:rPr lang="en-AU" sz="3200" b="1" dirty="0">
                <a:solidFill>
                  <a:schemeClr val="accent2"/>
                </a:solidFill>
              </a:rPr>
              <a:t>C</a:t>
            </a:r>
          </a:p>
        </p:txBody>
      </p:sp>
      <p:sp>
        <p:nvSpPr>
          <p:cNvPr id="22" name="TextBox 21">
            <a:extLst>
              <a:ext uri="{FF2B5EF4-FFF2-40B4-BE49-F238E27FC236}">
                <a16:creationId xmlns:a16="http://schemas.microsoft.com/office/drawing/2014/main" id="{B438BA58-1971-94AD-9F66-8646CFA6DFF9}"/>
              </a:ext>
              <a:ext uri="{C183D7F6-B498-43B3-948B-1728B52AA6E4}">
                <adec:decorative xmlns:adec="http://schemas.microsoft.com/office/drawing/2017/decorative" val="1"/>
              </a:ext>
            </a:extLst>
          </p:cNvPr>
          <p:cNvSpPr txBox="1"/>
          <p:nvPr/>
        </p:nvSpPr>
        <p:spPr>
          <a:xfrm>
            <a:off x="9664967" y="3707009"/>
            <a:ext cx="595222" cy="612476"/>
          </a:xfrm>
          <a:prstGeom prst="rect">
            <a:avLst/>
          </a:prstGeom>
          <a:noFill/>
        </p:spPr>
        <p:txBody>
          <a:bodyPr wrap="square" lIns="0" tIns="0" rIns="0" bIns="0" rtlCol="0">
            <a:noAutofit/>
          </a:bodyPr>
          <a:lstStyle/>
          <a:p>
            <a:pPr algn="l"/>
            <a:r>
              <a:rPr lang="en-AU" sz="3200" b="1" dirty="0">
                <a:solidFill>
                  <a:schemeClr val="accent2"/>
                </a:solidFill>
              </a:rPr>
              <a:t>D</a:t>
            </a:r>
          </a:p>
        </p:txBody>
      </p:sp>
      <p:pic>
        <p:nvPicPr>
          <p:cNvPr id="24" name="Picture 23" descr="4 analog clocks with the following times:&#10;A: long hand pointed to the minute marking after the 5, short hand to the 9&#10;B: long hand pointed to the 3rd minute marking after the 10, short hand just before the 3&#10;C: long hand pointed to the 3rd minute marking after the 11, short hand just before the 4&#10;D:long hand pointed to the 4th minute marking after the 6, short hand between the 9 and 10.">
            <a:extLst>
              <a:ext uri="{FF2B5EF4-FFF2-40B4-BE49-F238E27FC236}">
                <a16:creationId xmlns:a16="http://schemas.microsoft.com/office/drawing/2014/main" id="{614B9E12-D93E-0A0E-60E0-F411335AC1E1}"/>
              </a:ext>
            </a:extLst>
          </p:cNvPr>
          <p:cNvPicPr>
            <a:picLocks noChangeAspect="1"/>
          </p:cNvPicPr>
          <p:nvPr/>
        </p:nvPicPr>
        <p:blipFill>
          <a:blip r:embed="rId4"/>
          <a:stretch>
            <a:fillRect/>
          </a:stretch>
        </p:blipFill>
        <p:spPr>
          <a:xfrm>
            <a:off x="1583375" y="4200616"/>
            <a:ext cx="9284614" cy="2315384"/>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5" name="TextBox 4">
            <a:extLst>
              <a:ext uri="{FF2B5EF4-FFF2-40B4-BE49-F238E27FC236}">
                <a16:creationId xmlns:a16="http://schemas.microsoft.com/office/drawing/2014/main" id="{148E54F9-AD37-07CA-AF78-2EAA7B4E6342}"/>
              </a:ext>
            </a:extLst>
          </p:cNvPr>
          <p:cNvSpPr txBox="1"/>
          <p:nvPr/>
        </p:nvSpPr>
        <p:spPr>
          <a:xfrm>
            <a:off x="360000" y="965579"/>
            <a:ext cx="11585976" cy="2748253"/>
          </a:xfrm>
          <a:prstGeom prst="rect">
            <a:avLst/>
          </a:prstGeom>
          <a:noFill/>
        </p:spPr>
        <p:txBody>
          <a:bodyPr wrap="square">
            <a:spAutoFit/>
          </a:bodyPr>
          <a:lstStyle/>
          <a:p>
            <a:pPr lvl="0" algn="ctr">
              <a:lnSpc>
                <a:spcPct val="150000"/>
              </a:lnSpc>
              <a:spcBef>
                <a:spcPts val="1200"/>
              </a:spcBef>
              <a:spcAft>
                <a:spcPts val="600"/>
              </a:spcAft>
            </a:pPr>
            <a:r>
              <a:rPr lang="en-AU" sz="4000" dirty="0">
                <a:latin typeface="Arial" panose="020B0604020202020204" pitchFamily="34" charset="0"/>
                <a:ea typeface="Calibri" panose="020F0502020204030204" pitchFamily="34" charset="0"/>
                <a:cs typeface="Times New Roman" panose="02020603050405020304" pitchFamily="18" charset="0"/>
              </a:rPr>
              <a:t>If the milk carton has a </a:t>
            </a:r>
            <a:r>
              <a:rPr lang="en-AU" sz="4000" b="1" dirty="0">
                <a:latin typeface="Arial" panose="020B0604020202020204" pitchFamily="34" charset="0"/>
                <a:ea typeface="Calibri" panose="020F0502020204030204" pitchFamily="34" charset="0"/>
                <a:cs typeface="Times New Roman" panose="02020603050405020304" pitchFamily="18" charset="0"/>
              </a:rPr>
              <a:t>capacity</a:t>
            </a:r>
            <a:r>
              <a:rPr lang="en-AU" sz="4000" dirty="0">
                <a:latin typeface="Arial" panose="020B0604020202020204" pitchFamily="34" charset="0"/>
                <a:ea typeface="Calibri" panose="020F0502020204030204" pitchFamily="34" charset="0"/>
                <a:cs typeface="Times New Roman" panose="02020603050405020304" pitchFamily="18" charset="0"/>
              </a:rPr>
              <a:t> of </a:t>
            </a:r>
            <a:r>
              <a:rPr lang="en-AU" sz="4000" b="1" dirty="0">
                <a:latin typeface="Arial" panose="020B0604020202020204" pitchFamily="34" charset="0"/>
                <a:ea typeface="Calibri" panose="020F0502020204030204" pitchFamily="34" charset="0"/>
                <a:cs typeface="Times New Roman" panose="02020603050405020304" pitchFamily="18" charset="0"/>
              </a:rPr>
              <a:t>1L, </a:t>
            </a:r>
            <a:r>
              <a:rPr lang="en-AU" sz="4000">
                <a:latin typeface="Arial" panose="020B0604020202020204" pitchFamily="34" charset="0"/>
                <a:ea typeface="Calibri" panose="020F0502020204030204" pitchFamily="34" charset="0"/>
                <a:cs typeface="Times New Roman" panose="02020603050405020304" pitchFamily="18" charset="0"/>
              </a:rPr>
              <a:t>do the      </a:t>
            </a:r>
            <a:r>
              <a:rPr lang="en-AU" sz="4000" b="1">
                <a:solidFill>
                  <a:schemeClr val="accent2"/>
                </a:solidFill>
                <a:latin typeface="Arial" panose="020B0604020202020204" pitchFamily="34" charset="0"/>
                <a:ea typeface="Calibri" panose="020F0502020204030204" pitchFamily="34" charset="0"/>
                <a:cs typeface="Times New Roman" panose="02020603050405020304" pitchFamily="18" charset="0"/>
              </a:rPr>
              <a:t>A</a:t>
            </a:r>
            <a:r>
              <a:rPr lang="en-AU" sz="4000">
                <a:latin typeface="Arial" panose="020B0604020202020204" pitchFamily="34" charset="0"/>
                <a:ea typeface="Calibri" panose="020F0502020204030204" pitchFamily="34" charset="0"/>
                <a:cs typeface="Times New Roman" panose="02020603050405020304" pitchFamily="18" charset="0"/>
              </a:rPr>
              <a:t> and </a:t>
            </a:r>
            <a:r>
              <a:rPr lang="en-AU" sz="4000" b="1">
                <a:solidFill>
                  <a:schemeClr val="accent2"/>
                </a:solidFill>
                <a:latin typeface="Arial" panose="020B0604020202020204" pitchFamily="34" charset="0"/>
                <a:ea typeface="Calibri" panose="020F0502020204030204" pitchFamily="34" charset="0"/>
                <a:cs typeface="Times New Roman" panose="02020603050405020304" pitchFamily="18" charset="0"/>
              </a:rPr>
              <a:t>B</a:t>
            </a:r>
            <a:r>
              <a:rPr lang="en-AU" sz="4000" dirty="0">
                <a:latin typeface="Arial" panose="020B0604020202020204" pitchFamily="34" charset="0"/>
                <a:ea typeface="Calibri" panose="020F0502020204030204" pitchFamily="34" charset="0"/>
                <a:cs typeface="Times New Roman" panose="02020603050405020304" pitchFamily="18" charset="0"/>
              </a:rPr>
              <a:t> containers </a:t>
            </a:r>
            <a:r>
              <a:rPr lang="en-AU" sz="4000" b="1" dirty="0">
                <a:latin typeface="Arial" panose="020B0604020202020204" pitchFamily="34" charset="0"/>
                <a:ea typeface="Calibri" panose="020F0502020204030204" pitchFamily="34" charset="0"/>
                <a:cs typeface="Times New Roman" panose="02020603050405020304" pitchFamily="18" charset="0"/>
              </a:rPr>
              <a:t>measure</a:t>
            </a:r>
            <a:r>
              <a:rPr lang="en-AU" sz="4000" dirty="0">
                <a:latin typeface="Arial" panose="020B0604020202020204" pitchFamily="34" charset="0"/>
                <a:ea typeface="Calibri" panose="020F0502020204030204" pitchFamily="34" charset="0"/>
                <a:cs typeface="Times New Roman" panose="02020603050405020304" pitchFamily="18" charset="0"/>
              </a:rPr>
              <a:t> </a:t>
            </a:r>
            <a:r>
              <a:rPr lang="en-AU" sz="4000" b="1" dirty="0">
                <a:latin typeface="Arial" panose="020B0604020202020204" pitchFamily="34" charset="0"/>
                <a:ea typeface="Calibri" panose="020F0502020204030204" pitchFamily="34" charset="0"/>
                <a:cs typeface="Times New Roman" panose="02020603050405020304" pitchFamily="18" charset="0"/>
              </a:rPr>
              <a:t>more than</a:t>
            </a:r>
            <a:r>
              <a:rPr lang="en-AU" sz="4000" dirty="0">
                <a:latin typeface="Arial" panose="020B0604020202020204" pitchFamily="34" charset="0"/>
                <a:ea typeface="Calibri" panose="020F0502020204030204" pitchFamily="34" charset="0"/>
                <a:cs typeface="Times New Roman" panose="02020603050405020304" pitchFamily="18" charset="0"/>
              </a:rPr>
              <a:t> or </a:t>
            </a:r>
            <a:r>
              <a:rPr lang="en-AU" sz="4000" b="1" dirty="0">
                <a:latin typeface="Arial" panose="020B0604020202020204" pitchFamily="34" charset="0"/>
                <a:ea typeface="Calibri" panose="020F0502020204030204" pitchFamily="34" charset="0"/>
                <a:cs typeface="Times New Roman" panose="02020603050405020304" pitchFamily="18" charset="0"/>
              </a:rPr>
              <a:t>less than</a:t>
            </a:r>
            <a:r>
              <a:rPr lang="en-AU" sz="4000" dirty="0">
                <a:latin typeface="Arial" panose="020B0604020202020204" pitchFamily="34" charset="0"/>
                <a:ea typeface="Calibri" panose="020F0502020204030204" pitchFamily="34" charset="0"/>
                <a:cs typeface="Times New Roman" panose="02020603050405020304" pitchFamily="18" charset="0"/>
              </a:rPr>
              <a:t> a </a:t>
            </a:r>
            <a:r>
              <a:rPr lang="en-AU" sz="4000" b="1" dirty="0">
                <a:latin typeface="Arial" panose="020B0604020202020204" pitchFamily="34" charset="0"/>
                <a:ea typeface="Calibri" panose="020F0502020204030204" pitchFamily="34" charset="0"/>
                <a:cs typeface="Times New Roman" panose="02020603050405020304" pitchFamily="18" charset="0"/>
              </a:rPr>
              <a:t>litre</a:t>
            </a:r>
            <a:r>
              <a:rPr lang="en-AU" sz="4000" dirty="0">
                <a:latin typeface="Arial" panose="020B0604020202020204" pitchFamily="34" charset="0"/>
                <a:ea typeface="Calibri" panose="020F0502020204030204" pitchFamily="34" charset="0"/>
                <a:cs typeface="Times New Roman" panose="02020603050405020304" pitchFamily="18" charset="0"/>
              </a:rPr>
              <a:t>?</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11" name="Picture 10" descr="Image of:&#10;A) a bucket,&#10;a milk carton and &#10;B) a yoghurt tub.">
            <a:extLst>
              <a:ext uri="{FF2B5EF4-FFF2-40B4-BE49-F238E27FC236}">
                <a16:creationId xmlns:a16="http://schemas.microsoft.com/office/drawing/2014/main" id="{CFB9FC5C-7EEB-71F2-03FD-26A17750C390}"/>
              </a:ext>
            </a:extLst>
          </p:cNvPr>
          <p:cNvPicPr>
            <a:picLocks noChangeAspect="1"/>
          </p:cNvPicPr>
          <p:nvPr/>
        </p:nvPicPr>
        <p:blipFill>
          <a:blip r:embed="rId4"/>
          <a:srcRect b="19476"/>
          <a:stretch>
            <a:fillRect/>
          </a:stretch>
        </p:blipFill>
        <p:spPr>
          <a:xfrm>
            <a:off x="3773977" y="4662596"/>
            <a:ext cx="5165897" cy="1943404"/>
          </a:xfrm>
          <a:prstGeom prst="rect">
            <a:avLst/>
          </a:prstGeom>
        </p:spPr>
      </p:pic>
      <p:sp>
        <p:nvSpPr>
          <p:cNvPr id="4" name="TextBox 3">
            <a:extLst>
              <a:ext uri="{FF2B5EF4-FFF2-40B4-BE49-F238E27FC236}">
                <a16:creationId xmlns:a16="http://schemas.microsoft.com/office/drawing/2014/main" id="{D6322831-E952-0F87-4D0D-4FA134523F97}"/>
              </a:ext>
              <a:ext uri="{C183D7F6-B498-43B3-948B-1728B52AA6E4}">
                <adec:decorative xmlns:adec="http://schemas.microsoft.com/office/drawing/2017/decorative" val="1"/>
              </a:ext>
            </a:extLst>
          </p:cNvPr>
          <p:cNvSpPr txBox="1"/>
          <p:nvPr/>
        </p:nvSpPr>
        <p:spPr>
          <a:xfrm>
            <a:off x="4700768" y="4196202"/>
            <a:ext cx="595222" cy="612476"/>
          </a:xfrm>
          <a:prstGeom prst="rect">
            <a:avLst/>
          </a:prstGeom>
          <a:noFill/>
        </p:spPr>
        <p:txBody>
          <a:bodyPr wrap="square" lIns="0" tIns="0" rIns="0" bIns="0" rtlCol="0">
            <a:noAutofit/>
          </a:bodyPr>
          <a:lstStyle/>
          <a:p>
            <a:pPr algn="l"/>
            <a:r>
              <a:rPr lang="en-AU" sz="3200" b="1">
                <a:solidFill>
                  <a:schemeClr val="accent2"/>
                </a:solidFill>
              </a:rPr>
              <a:t>A</a:t>
            </a:r>
          </a:p>
        </p:txBody>
      </p:sp>
      <p:sp>
        <p:nvSpPr>
          <p:cNvPr id="8" name="TextBox 7">
            <a:extLst>
              <a:ext uri="{FF2B5EF4-FFF2-40B4-BE49-F238E27FC236}">
                <a16:creationId xmlns:a16="http://schemas.microsoft.com/office/drawing/2014/main" id="{BE601A51-D0EF-A1D2-692E-0A7809E6F4FF}"/>
              </a:ext>
              <a:ext uri="{C183D7F6-B498-43B3-948B-1728B52AA6E4}">
                <adec:decorative xmlns:adec="http://schemas.microsoft.com/office/drawing/2017/decorative" val="1"/>
              </a:ext>
            </a:extLst>
          </p:cNvPr>
          <p:cNvSpPr txBox="1"/>
          <p:nvPr/>
        </p:nvSpPr>
        <p:spPr>
          <a:xfrm>
            <a:off x="8257481" y="4196202"/>
            <a:ext cx="595222" cy="612476"/>
          </a:xfrm>
          <a:prstGeom prst="rect">
            <a:avLst/>
          </a:prstGeom>
          <a:noFill/>
        </p:spPr>
        <p:txBody>
          <a:bodyPr wrap="square" lIns="0" tIns="0" rIns="0" bIns="0" rtlCol="0">
            <a:noAutofit/>
          </a:bodyPr>
          <a:lstStyle/>
          <a:p>
            <a:pPr algn="l"/>
            <a:r>
              <a:rPr lang="en-AU" sz="3200" b="1" dirty="0">
                <a:solidFill>
                  <a:schemeClr val="accent2"/>
                </a:solidFill>
              </a:rPr>
              <a:t>B</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8" name="TextBox 7">
            <a:extLst>
              <a:ext uri="{FF2B5EF4-FFF2-40B4-BE49-F238E27FC236}">
                <a16:creationId xmlns:a16="http://schemas.microsoft.com/office/drawing/2014/main" id="{D5A6F21B-3C3D-BD42-BE93-70A157DF9AC6}"/>
              </a:ext>
            </a:extLst>
          </p:cNvPr>
          <p:cNvSpPr txBox="1"/>
          <p:nvPr/>
        </p:nvSpPr>
        <p:spPr>
          <a:xfrm>
            <a:off x="360000" y="1184223"/>
            <a:ext cx="11831999" cy="1998176"/>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Explain</a:t>
            </a:r>
            <a:r>
              <a:rPr lang="en-AU" sz="4400">
                <a:latin typeface="Arial" panose="020B0604020202020204" pitchFamily="34" charset="0"/>
                <a:ea typeface="Calibri" panose="020F0502020204030204" pitchFamily="34" charset="0"/>
                <a:cs typeface="Times New Roman" panose="02020603050405020304" pitchFamily="18" charset="0"/>
              </a:rPr>
              <a:t> how a triangular </a:t>
            </a:r>
            <a:r>
              <a:rPr lang="en-AU" sz="4400" b="1">
                <a:latin typeface="Arial" panose="020B0604020202020204" pitchFamily="34" charset="0"/>
                <a:ea typeface="Calibri" panose="020F0502020204030204" pitchFamily="34" charset="0"/>
                <a:cs typeface="Times New Roman" panose="02020603050405020304" pitchFamily="18" charset="0"/>
              </a:rPr>
              <a:t>prism</a:t>
            </a:r>
            <a:r>
              <a:rPr lang="en-AU" sz="4400">
                <a:latin typeface="Arial" panose="020B0604020202020204" pitchFamily="34" charset="0"/>
                <a:ea typeface="Calibri" panose="020F0502020204030204" pitchFamily="34" charset="0"/>
                <a:cs typeface="Times New Roman" panose="02020603050405020304" pitchFamily="18" charset="0"/>
              </a:rPr>
              <a:t> and triangular </a:t>
            </a:r>
            <a:r>
              <a:rPr lang="en-AU" sz="4400" b="1">
                <a:latin typeface="Arial" panose="020B0604020202020204" pitchFamily="34" charset="0"/>
                <a:ea typeface="Calibri" panose="020F0502020204030204" pitchFamily="34" charset="0"/>
                <a:cs typeface="Times New Roman" panose="02020603050405020304" pitchFamily="18" charset="0"/>
              </a:rPr>
              <a:t>pyramid</a:t>
            </a:r>
            <a:r>
              <a:rPr lang="en-AU" sz="4400">
                <a:latin typeface="Arial" panose="020B0604020202020204" pitchFamily="34" charset="0"/>
                <a:ea typeface="Calibri" panose="020F0502020204030204" pitchFamily="34" charset="0"/>
                <a:cs typeface="Times New Roman" panose="02020603050405020304" pitchFamily="18" charset="0"/>
              </a:rPr>
              <a:t> are </a:t>
            </a:r>
            <a:r>
              <a:rPr lang="en-AU" sz="4400" b="1">
                <a:latin typeface="Arial" panose="020B0604020202020204" pitchFamily="34" charset="0"/>
                <a:ea typeface="Calibri" panose="020F0502020204030204" pitchFamily="34" charset="0"/>
                <a:cs typeface="Times New Roman" panose="02020603050405020304" pitchFamily="18" charset="0"/>
              </a:rPr>
              <a:t>different</a:t>
            </a:r>
            <a:r>
              <a:rPr lang="en-AU" sz="4400">
                <a:latin typeface="Arial" panose="020B0604020202020204" pitchFamily="34" charset="0"/>
                <a:ea typeface="Calibri" panose="020F0502020204030204" pitchFamily="34" charset="0"/>
                <a:cs typeface="Times New Roman" panose="02020603050405020304" pitchFamily="18" charset="0"/>
              </a:rPr>
              <a:t>.</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An image of a triangular prism and a triangular pyramid.">
            <a:extLst>
              <a:ext uri="{FF2B5EF4-FFF2-40B4-BE49-F238E27FC236}">
                <a16:creationId xmlns:a16="http://schemas.microsoft.com/office/drawing/2014/main" id="{5C08098F-2273-6117-CF14-FCAC5E859E56}"/>
              </a:ext>
            </a:extLst>
          </p:cNvPr>
          <p:cNvPicPr>
            <a:picLocks noChangeAspect="1"/>
          </p:cNvPicPr>
          <p:nvPr/>
        </p:nvPicPr>
        <p:blipFill>
          <a:blip r:embed="rId4"/>
          <a:stretch>
            <a:fillRect/>
          </a:stretch>
        </p:blipFill>
        <p:spPr>
          <a:xfrm>
            <a:off x="3697355" y="3548303"/>
            <a:ext cx="5320015" cy="2472619"/>
          </a:xfrm>
          <a:prstGeom prst="rect">
            <a:avLst/>
          </a:prstGeom>
          <a:ln>
            <a:noFill/>
          </a:ln>
          <a:effectLst/>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odd one out of the pattern</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5" name="Picture 4" descr="4 sections with arrays&#10;&#10;1: 2 rows of 4 kiwi fruits&#10;2: 4 rows of 3 gummy bears&#10;3: 4 rows of 4 donuts&#10;4: 3 rows of 5 lemons">
            <a:extLst>
              <a:ext uri="{FF2B5EF4-FFF2-40B4-BE49-F238E27FC236}">
                <a16:creationId xmlns:a16="http://schemas.microsoft.com/office/drawing/2014/main" id="{BB3B6A97-DCE0-E42D-6799-5985B6A2D10C}"/>
              </a:ext>
            </a:extLst>
          </p:cNvPr>
          <p:cNvPicPr>
            <a:picLocks noChangeAspect="1"/>
          </p:cNvPicPr>
          <p:nvPr/>
        </p:nvPicPr>
        <p:blipFill>
          <a:blip r:embed="rId4"/>
          <a:stretch>
            <a:fillRect/>
          </a:stretch>
        </p:blipFill>
        <p:spPr>
          <a:xfrm>
            <a:off x="2142565" y="1362075"/>
            <a:ext cx="7628964" cy="5177706"/>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7FECD-D90D-BDD8-C6CF-9E7DE6E9E0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379E8C8-9FE8-2009-361E-A0118227A33E}"/>
              </a:ext>
            </a:extLst>
          </p:cNvPr>
          <p:cNvSpPr>
            <a:spLocks noGrp="1"/>
          </p:cNvSpPr>
          <p:nvPr>
            <p:ph type="title"/>
          </p:nvPr>
        </p:nvSpPr>
        <p:spPr>
          <a:xfrm>
            <a:off x="360000" y="360000"/>
            <a:ext cx="10397115" cy="545601"/>
          </a:xfrm>
        </p:spPr>
        <p:txBody>
          <a:bodyPr/>
          <a:lstStyle/>
          <a:p>
            <a:r>
              <a:rPr lang="en-US"/>
              <a:t>Multiple choice </a:t>
            </a:r>
            <a:r>
              <a:rPr lang="en-US" dirty="0">
                <a:solidFill>
                  <a:schemeClr val="bg1"/>
                </a:solidFill>
              </a:rPr>
              <a:t>(4)</a:t>
            </a:r>
          </a:p>
        </p:txBody>
      </p:sp>
      <p:sp>
        <p:nvSpPr>
          <p:cNvPr id="6" name="Rectangle 5">
            <a:extLst>
              <a:ext uri="{FF2B5EF4-FFF2-40B4-BE49-F238E27FC236}">
                <a16:creationId xmlns:a16="http://schemas.microsoft.com/office/drawing/2014/main" id="{657CF209-531C-FA6D-164A-D4C3277B3CC0}"/>
              </a:ext>
            </a:extLst>
          </p:cNvPr>
          <p:cNvSpPr/>
          <p:nvPr/>
        </p:nvSpPr>
        <p:spPr>
          <a:xfrm>
            <a:off x="1818347" y="964801"/>
            <a:ext cx="8712200" cy="13631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b="1" dirty="0">
                <a:solidFill>
                  <a:schemeClr val="tx1"/>
                </a:solidFill>
                <a:latin typeface="Edu NSW ACT Foundation" panose="020B0604020202020204" charset="0"/>
                <a:ea typeface="Calibri" panose="020F0502020204030204" pitchFamily="34" charset="0"/>
              </a:rPr>
              <a:t>4</a:t>
            </a:r>
            <a:r>
              <a:rPr lang="en-AU" sz="6000" b="1" dirty="0">
                <a:solidFill>
                  <a:schemeClr val="tx1"/>
                </a:solidFill>
                <a:effectLst/>
                <a:latin typeface="Edu NSW ACT Foundation" panose="020B0604020202020204" charset="0"/>
                <a:ea typeface="Calibri" panose="020F0502020204030204" pitchFamily="34" charset="0"/>
              </a:rPr>
              <a:t>, </a:t>
            </a:r>
            <a:r>
              <a:rPr lang="en-AU" sz="6000" b="1" dirty="0">
                <a:solidFill>
                  <a:schemeClr val="tx1"/>
                </a:solidFill>
                <a:latin typeface="Edu NSW ACT Foundation" panose="020B0604020202020204" charset="0"/>
                <a:ea typeface="Calibri" panose="020F0502020204030204" pitchFamily="34" charset="0"/>
              </a:rPr>
              <a:t>8</a:t>
            </a:r>
            <a:r>
              <a:rPr lang="en-AU" sz="6000" b="1" dirty="0">
                <a:solidFill>
                  <a:schemeClr val="tx1"/>
                </a:solidFill>
                <a:effectLst/>
                <a:latin typeface="Edu NSW ACT Foundation" panose="020B0604020202020204" charset="0"/>
                <a:ea typeface="Calibri" panose="020F0502020204030204" pitchFamily="34" charset="0"/>
              </a:rPr>
              <a:t>, </a:t>
            </a:r>
            <a:r>
              <a:rPr lang="en-AU" sz="6000" b="1" dirty="0">
                <a:solidFill>
                  <a:schemeClr val="tx1"/>
                </a:solidFill>
                <a:latin typeface="Edu NSW ACT Foundation" panose="020B0604020202020204" charset="0"/>
                <a:ea typeface="Calibri" panose="020F0502020204030204" pitchFamily="34" charset="0"/>
              </a:rPr>
              <a:t>12</a:t>
            </a:r>
            <a:r>
              <a:rPr lang="en-AU" sz="6000" b="1" dirty="0">
                <a:solidFill>
                  <a:schemeClr val="tx1"/>
                </a:solidFill>
                <a:effectLst/>
                <a:latin typeface="Edu NSW ACT Foundation" panose="020B0604020202020204" charset="0"/>
                <a:ea typeface="Calibri" panose="020F0502020204030204" pitchFamily="34" charset="0"/>
              </a:rPr>
              <a:t>, 16, 20…</a:t>
            </a:r>
            <a:endParaRPr lang="en-AU" sz="7200" b="1" dirty="0">
              <a:solidFill>
                <a:schemeClr val="tx1"/>
              </a:solidFill>
              <a:latin typeface="Edu NSW ACT Foundation" panose="020B0604020202020204" charset="0"/>
            </a:endParaRPr>
          </a:p>
        </p:txBody>
      </p:sp>
      <p:sp>
        <p:nvSpPr>
          <p:cNvPr id="5" name="Text Placeholder 5">
            <a:extLst>
              <a:ext uri="{FF2B5EF4-FFF2-40B4-BE49-F238E27FC236}">
                <a16:creationId xmlns:a16="http://schemas.microsoft.com/office/drawing/2014/main" id="{D55A21E5-9C63-F814-CE2C-9989820F0DF1}"/>
              </a:ext>
            </a:extLst>
          </p:cNvPr>
          <p:cNvSpPr>
            <a:spLocks noGrp="1"/>
          </p:cNvSpPr>
          <p:nvPr>
            <p:ph type="body" sz="quarter" idx="24"/>
          </p:nvPr>
        </p:nvSpPr>
        <p:spPr>
          <a:xfrm>
            <a:off x="553109" y="2346103"/>
            <a:ext cx="11242675" cy="893763"/>
          </a:xfrm>
        </p:spPr>
        <p:txBody>
          <a:bodyPr/>
          <a:lstStyle/>
          <a:p>
            <a:pPr algn="ctr"/>
            <a:r>
              <a:rPr lang="en-AU" sz="4400" dirty="0"/>
              <a:t>The next number in this </a:t>
            </a:r>
            <a:r>
              <a:rPr lang="en-AU" sz="4400" b="1" dirty="0"/>
              <a:t>number pattern</a:t>
            </a:r>
            <a:r>
              <a:rPr lang="en-AU" sz="4400"/>
              <a:t> is</a:t>
            </a:r>
            <a:r>
              <a:rPr lang="en-AU" sz="4400" b="1" dirty="0"/>
              <a:t>:</a:t>
            </a:r>
          </a:p>
        </p:txBody>
      </p:sp>
      <p:sp>
        <p:nvSpPr>
          <p:cNvPr id="9" name="TextBox 8">
            <a:extLst>
              <a:ext uri="{FF2B5EF4-FFF2-40B4-BE49-F238E27FC236}">
                <a16:creationId xmlns:a16="http://schemas.microsoft.com/office/drawing/2014/main" id="{F8AE5A03-9F26-6CF3-D9DA-7DDF0AB5CA25}"/>
              </a:ext>
            </a:extLst>
          </p:cNvPr>
          <p:cNvSpPr txBox="1"/>
          <p:nvPr/>
        </p:nvSpPr>
        <p:spPr>
          <a:xfrm>
            <a:off x="1288918"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0200FBB9-3867-343B-7E48-EF658739E406}"/>
              </a:ext>
            </a:extLst>
          </p:cNvPr>
          <p:cNvSpPr txBox="1"/>
          <p:nvPr/>
        </p:nvSpPr>
        <p:spPr>
          <a:xfrm>
            <a:off x="1098348"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21</a:t>
            </a:r>
          </a:p>
        </p:txBody>
      </p:sp>
      <p:sp>
        <p:nvSpPr>
          <p:cNvPr id="10" name="TextBox 9">
            <a:extLst>
              <a:ext uri="{FF2B5EF4-FFF2-40B4-BE49-F238E27FC236}">
                <a16:creationId xmlns:a16="http://schemas.microsoft.com/office/drawing/2014/main" id="{D82CD419-A892-ACB2-61BA-1EDD5FDFCBD8}"/>
              </a:ext>
            </a:extLst>
          </p:cNvPr>
          <p:cNvSpPr txBox="1"/>
          <p:nvPr/>
        </p:nvSpPr>
        <p:spPr>
          <a:xfrm>
            <a:off x="4219739"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4A690EBD-0855-A46D-5207-2DCEA1437777}"/>
              </a:ext>
            </a:extLst>
          </p:cNvPr>
          <p:cNvSpPr txBox="1"/>
          <p:nvPr/>
        </p:nvSpPr>
        <p:spPr>
          <a:xfrm>
            <a:off x="4124453"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22</a:t>
            </a:r>
          </a:p>
        </p:txBody>
      </p:sp>
      <p:sp>
        <p:nvSpPr>
          <p:cNvPr id="12" name="TextBox 11">
            <a:extLst>
              <a:ext uri="{FF2B5EF4-FFF2-40B4-BE49-F238E27FC236}">
                <a16:creationId xmlns:a16="http://schemas.microsoft.com/office/drawing/2014/main" id="{B9C45570-28DD-1918-9343-137FBCDF5E57}"/>
              </a:ext>
            </a:extLst>
          </p:cNvPr>
          <p:cNvSpPr txBox="1"/>
          <p:nvPr/>
        </p:nvSpPr>
        <p:spPr>
          <a:xfrm>
            <a:off x="7223712"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832EBAE9-783A-0AF9-8D16-47EB3AAFA353}"/>
              </a:ext>
            </a:extLst>
          </p:cNvPr>
          <p:cNvSpPr txBox="1"/>
          <p:nvPr/>
        </p:nvSpPr>
        <p:spPr>
          <a:xfrm>
            <a:off x="7049562" y="52324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23</a:t>
            </a:r>
          </a:p>
        </p:txBody>
      </p:sp>
      <p:sp>
        <p:nvSpPr>
          <p:cNvPr id="11" name="TextBox 10">
            <a:extLst>
              <a:ext uri="{FF2B5EF4-FFF2-40B4-BE49-F238E27FC236}">
                <a16:creationId xmlns:a16="http://schemas.microsoft.com/office/drawing/2014/main" id="{C865E31D-B187-9DBF-8AEF-0C95FB68AFD2}"/>
              </a:ext>
            </a:extLst>
          </p:cNvPr>
          <p:cNvSpPr txBox="1"/>
          <p:nvPr/>
        </p:nvSpPr>
        <p:spPr>
          <a:xfrm>
            <a:off x="10227686" y="44071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Box 13">
            <a:extLst>
              <a:ext uri="{FF2B5EF4-FFF2-40B4-BE49-F238E27FC236}">
                <a16:creationId xmlns:a16="http://schemas.microsoft.com/office/drawing/2014/main" id="{65AE4C4F-9892-A27C-E6B8-9EED7D64C3D3}"/>
              </a:ext>
            </a:extLst>
          </p:cNvPr>
          <p:cNvSpPr txBox="1"/>
          <p:nvPr/>
        </p:nvSpPr>
        <p:spPr>
          <a:xfrm>
            <a:off x="10087908" y="5205000"/>
            <a:ext cx="720000"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24</a:t>
            </a:r>
          </a:p>
        </p:txBody>
      </p:sp>
      <p:pic>
        <p:nvPicPr>
          <p:cNvPr id="4" name="Picture 3">
            <a:extLst>
              <a:ext uri="{FF2B5EF4-FFF2-40B4-BE49-F238E27FC236}">
                <a16:creationId xmlns:a16="http://schemas.microsoft.com/office/drawing/2014/main" id="{7035ECDB-6BCA-9393-9B08-722968739BC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1E209A1D-29A5-9BDA-94BF-D66A60E5894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398255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A8B3935F-F276-62AB-3D40-8704A4A92541}"/>
              </a:ext>
              <a:ext uri="{C183D7F6-B498-43B3-948B-1728B52AA6E4}">
                <adec:decorative xmlns:adec="http://schemas.microsoft.com/office/drawing/2017/decorative" val="1"/>
              </a:ext>
            </a:extLst>
          </p:cNvPr>
          <p:cNvSpPr/>
          <p:nvPr/>
        </p:nvSpPr>
        <p:spPr>
          <a:xfrm>
            <a:off x="5028336" y="2435748"/>
            <a:ext cx="6455664" cy="4065533"/>
          </a:xfrm>
          <a:prstGeom prst="rect">
            <a:avLst/>
          </a:prstGeom>
          <a:solidFill>
            <a:srgbClr val="EBEBEB">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(25)</a:t>
            </a:r>
          </a:p>
        </p:txBody>
      </p:sp>
      <p:sp>
        <p:nvSpPr>
          <p:cNvPr id="25" name="TextBox 24">
            <a:extLst>
              <a:ext uri="{FF2B5EF4-FFF2-40B4-BE49-F238E27FC236}">
                <a16:creationId xmlns:a16="http://schemas.microsoft.com/office/drawing/2014/main" id="{A598AF6E-219B-FEB7-C17C-AEDC0BA0127A}"/>
              </a:ext>
            </a:extLst>
          </p:cNvPr>
          <p:cNvSpPr txBox="1"/>
          <p:nvPr/>
        </p:nvSpPr>
        <p:spPr>
          <a:xfrm>
            <a:off x="731936" y="1155680"/>
            <a:ext cx="6590355" cy="889462"/>
          </a:xfrm>
          <a:prstGeom prst="rect">
            <a:avLst/>
          </a:prstGeom>
          <a:noFill/>
        </p:spPr>
        <p:txBody>
          <a:bodyPr wrap="square" lIns="0" tIns="0" rIns="0" bIns="0" rtlCol="0">
            <a:noAutofit/>
          </a:bodyPr>
          <a:lstStyle/>
          <a:p>
            <a:pPr algn="l"/>
            <a:r>
              <a:rPr lang="en-AU" sz="4000" b="1" dirty="0">
                <a:latin typeface="Arial" panose="020B0604020202020204" pitchFamily="34" charset="0"/>
                <a:cs typeface="Arial" panose="020B0604020202020204" pitchFamily="34" charset="0"/>
              </a:rPr>
              <a:t>Fill </a:t>
            </a:r>
            <a:r>
              <a:rPr lang="en-AU" sz="4000" dirty="0">
                <a:latin typeface="Arial" panose="020B0604020202020204" pitchFamily="34" charset="0"/>
                <a:cs typeface="Arial" panose="020B0604020202020204" pitchFamily="34" charset="0"/>
              </a:rPr>
              <a:t>in the </a:t>
            </a:r>
            <a:r>
              <a:rPr lang="en-AU" sz="4000" b="1" dirty="0">
                <a:latin typeface="Arial" panose="020B0604020202020204" pitchFamily="34" charset="0"/>
                <a:cs typeface="Arial" panose="020B0604020202020204" pitchFamily="34" charset="0"/>
              </a:rPr>
              <a:t>facts </a:t>
            </a:r>
            <a:r>
              <a:rPr lang="en-AU" sz="4000" dirty="0">
                <a:latin typeface="Arial" panose="020B0604020202020204" pitchFamily="34" charset="0"/>
                <a:cs typeface="Arial" panose="020B0604020202020204" pitchFamily="34" charset="0"/>
              </a:rPr>
              <a:t>for the </a:t>
            </a:r>
            <a:r>
              <a:rPr lang="en-AU" sz="4000" b="1" dirty="0">
                <a:latin typeface="Arial" panose="020B0604020202020204" pitchFamily="34" charset="0"/>
                <a:cs typeface="Arial" panose="020B0604020202020204" pitchFamily="34" charset="0"/>
              </a:rPr>
              <a:t>array.</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27" name="Picture 26" descr="An array - 3 rows, 6 columns">
            <a:extLst>
              <a:ext uri="{FF2B5EF4-FFF2-40B4-BE49-F238E27FC236}">
                <a16:creationId xmlns:a16="http://schemas.microsoft.com/office/drawing/2014/main" id="{80119334-C904-E790-A9FC-CD5F3A427519}"/>
              </a:ext>
            </a:extLst>
          </p:cNvPr>
          <p:cNvPicPr>
            <a:picLocks noChangeAspect="1"/>
          </p:cNvPicPr>
          <p:nvPr/>
        </p:nvPicPr>
        <p:blipFill>
          <a:blip r:embed="rId4"/>
          <a:stretch>
            <a:fillRect/>
          </a:stretch>
        </p:blipFill>
        <p:spPr>
          <a:xfrm>
            <a:off x="360000" y="3206560"/>
            <a:ext cx="4278800" cy="2379924"/>
          </a:xfrm>
          <a:prstGeom prst="rect">
            <a:avLst/>
          </a:prstGeom>
          <a:ln>
            <a:noFill/>
          </a:ln>
          <a:effectLst>
            <a:outerShdw blurRad="292100" dist="139700" dir="2700000" algn="tl" rotWithShape="0">
              <a:srgbClr val="333333">
                <a:alpha val="65000"/>
              </a:srgbClr>
            </a:outerShdw>
          </a:effectLst>
        </p:spPr>
      </p:pic>
      <p:sp>
        <p:nvSpPr>
          <p:cNvPr id="21" name="TextBox 20">
            <a:extLst>
              <a:ext uri="{FF2B5EF4-FFF2-40B4-BE49-F238E27FC236}">
                <a16:creationId xmlns:a16="http://schemas.microsoft.com/office/drawing/2014/main" id="{9DB77139-E4AE-037D-07BD-485D30CCF512}"/>
              </a:ext>
            </a:extLst>
          </p:cNvPr>
          <p:cNvSpPr txBox="1"/>
          <p:nvPr/>
        </p:nvSpPr>
        <p:spPr>
          <a:xfrm>
            <a:off x="5543634" y="2906060"/>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 rows of ___ is ___ in total</a:t>
            </a:r>
          </a:p>
        </p:txBody>
      </p:sp>
      <p:sp>
        <p:nvSpPr>
          <p:cNvPr id="22" name="TextBox 21">
            <a:extLst>
              <a:ext uri="{FF2B5EF4-FFF2-40B4-BE49-F238E27FC236}">
                <a16:creationId xmlns:a16="http://schemas.microsoft.com/office/drawing/2014/main" id="{FADB9994-5DA9-1377-712D-5F5D9D07B04A}"/>
              </a:ext>
            </a:extLst>
          </p:cNvPr>
          <p:cNvSpPr txBox="1"/>
          <p:nvPr/>
        </p:nvSpPr>
        <p:spPr>
          <a:xfrm>
            <a:off x="6882082" y="3883516"/>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 x ___ =____</a:t>
            </a:r>
          </a:p>
        </p:txBody>
      </p:sp>
      <p:sp>
        <p:nvSpPr>
          <p:cNvPr id="23" name="TextBox 22">
            <a:extLst>
              <a:ext uri="{FF2B5EF4-FFF2-40B4-BE49-F238E27FC236}">
                <a16:creationId xmlns:a16="http://schemas.microsoft.com/office/drawing/2014/main" id="{0E4788F1-7C67-DC0C-09BB-0C882E6587DD}"/>
              </a:ext>
            </a:extLst>
          </p:cNvPr>
          <p:cNvSpPr txBox="1"/>
          <p:nvPr/>
        </p:nvSpPr>
        <p:spPr>
          <a:xfrm>
            <a:off x="5355621" y="4860974"/>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 shared into ___ rows is ___</a:t>
            </a:r>
          </a:p>
        </p:txBody>
      </p:sp>
      <p:sp>
        <p:nvSpPr>
          <p:cNvPr id="24" name="TextBox 23">
            <a:extLst>
              <a:ext uri="{FF2B5EF4-FFF2-40B4-BE49-F238E27FC236}">
                <a16:creationId xmlns:a16="http://schemas.microsoft.com/office/drawing/2014/main" id="{CEEB1170-1902-E014-37CD-DDDDD57EE208}"/>
              </a:ext>
            </a:extLst>
          </p:cNvPr>
          <p:cNvSpPr txBox="1"/>
          <p:nvPr/>
        </p:nvSpPr>
        <p:spPr>
          <a:xfrm>
            <a:off x="6744921" y="5838432"/>
            <a:ext cx="6590355" cy="889462"/>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___ ÷ ___ =____</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7" name="TextBox 6">
            <a:extLst>
              <a:ext uri="{FF2B5EF4-FFF2-40B4-BE49-F238E27FC236}">
                <a16:creationId xmlns:a16="http://schemas.microsoft.com/office/drawing/2014/main" id="{024BA978-BF87-C3BA-9A4F-71E3D70C437F}"/>
              </a:ext>
            </a:extLst>
          </p:cNvPr>
          <p:cNvSpPr txBox="1"/>
          <p:nvPr/>
        </p:nvSpPr>
        <p:spPr>
          <a:xfrm>
            <a:off x="435553" y="1146107"/>
            <a:ext cx="11078432" cy="1651671"/>
          </a:xfrm>
          <a:prstGeom prst="rect">
            <a:avLst/>
          </a:prstGeom>
          <a:noFill/>
        </p:spPr>
        <p:txBody>
          <a:bodyPr wrap="square">
            <a:spAutoFit/>
          </a:bodyPr>
          <a:lstStyle/>
          <a:p>
            <a:pPr lvl="0" algn="ctr">
              <a:lnSpc>
                <a:spcPct val="150000"/>
              </a:lnSpc>
              <a:spcBef>
                <a:spcPts val="1200"/>
              </a:spcBef>
              <a:spcAft>
                <a:spcPts val="600"/>
              </a:spcAft>
            </a:pPr>
            <a:r>
              <a:rPr lang="en-AU" sz="3600" dirty="0">
                <a:latin typeface="Arial" panose="020B0604020202020204" pitchFamily="34" charset="0"/>
                <a:ea typeface="Calibri" panose="020F0502020204030204" pitchFamily="34" charset="0"/>
                <a:cs typeface="Times New Roman" panose="02020603050405020304" pitchFamily="18" charset="0"/>
              </a:rPr>
              <a:t>Record the </a:t>
            </a:r>
            <a:r>
              <a:rPr lang="en-AU" sz="3600" b="1" dirty="0">
                <a:latin typeface="Arial" panose="020B0604020202020204" pitchFamily="34" charset="0"/>
                <a:ea typeface="Calibri" panose="020F0502020204030204" pitchFamily="34" charset="0"/>
                <a:cs typeface="Times New Roman" panose="02020603050405020304" pitchFamily="18" charset="0"/>
              </a:rPr>
              <a:t>time shown </a:t>
            </a:r>
            <a:r>
              <a:rPr lang="en-AU" sz="3600" dirty="0">
                <a:latin typeface="Arial" panose="020B0604020202020204" pitchFamily="34" charset="0"/>
                <a:ea typeface="Calibri" panose="020F0502020204030204" pitchFamily="34" charset="0"/>
                <a:cs typeface="Times New Roman" panose="02020603050405020304" pitchFamily="18" charset="0"/>
              </a:rPr>
              <a:t>on these </a:t>
            </a:r>
            <a:r>
              <a:rPr lang="en-AU" sz="3600" err="1">
                <a:latin typeface="Arial" panose="020B0604020202020204" pitchFamily="34" charset="0"/>
                <a:ea typeface="Calibri" panose="020F0502020204030204" pitchFamily="34" charset="0"/>
                <a:cs typeface="Times New Roman" panose="02020603050405020304" pitchFamily="18" charset="0"/>
              </a:rPr>
              <a:t>analog</a:t>
            </a:r>
            <a:r>
              <a:rPr lang="en-AU" sz="3600" dirty="0">
                <a:latin typeface="Arial" panose="020B0604020202020204" pitchFamily="34" charset="0"/>
                <a:ea typeface="Calibri" panose="020F0502020204030204" pitchFamily="34" charset="0"/>
                <a:cs typeface="Times New Roman" panose="02020603050405020304" pitchFamily="18" charset="0"/>
              </a:rPr>
              <a:t> clocks using </a:t>
            </a:r>
            <a:r>
              <a:rPr lang="en-AU" sz="3600" b="1" dirty="0">
                <a:latin typeface="Arial" panose="020B0604020202020204" pitchFamily="34" charset="0"/>
                <a:ea typeface="Calibri" panose="020F0502020204030204" pitchFamily="34" charset="0"/>
                <a:cs typeface="Times New Roman" panose="02020603050405020304" pitchFamily="18" charset="0"/>
              </a:rPr>
              <a:t>‘to’ </a:t>
            </a:r>
            <a:r>
              <a:rPr lang="en-AU" sz="3600" dirty="0">
                <a:latin typeface="Arial" panose="020B0604020202020204" pitchFamily="34" charset="0"/>
                <a:ea typeface="Calibri" panose="020F0502020204030204" pitchFamily="34" charset="0"/>
                <a:cs typeface="Times New Roman" panose="02020603050405020304" pitchFamily="18" charset="0"/>
              </a:rPr>
              <a:t>or</a:t>
            </a:r>
            <a:r>
              <a:rPr lang="en-AU" sz="3600" b="1" dirty="0">
                <a:latin typeface="Arial" panose="020B0604020202020204" pitchFamily="34" charset="0"/>
                <a:ea typeface="Calibri" panose="020F0502020204030204" pitchFamily="34" charset="0"/>
                <a:cs typeface="Times New Roman" panose="02020603050405020304" pitchFamily="18" charset="0"/>
              </a:rPr>
              <a:t> ‘past’.</a:t>
            </a:r>
            <a:endParaRPr lang="en-AU" sz="3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C3E1A58A-4106-8FD0-753D-B79BEA4E00C7}"/>
              </a:ext>
              <a:ext uri="{C183D7F6-B498-43B3-948B-1728B52AA6E4}">
                <adec:decorative xmlns:adec="http://schemas.microsoft.com/office/drawing/2017/decorative" val="1"/>
              </a:ext>
            </a:extLst>
          </p:cNvPr>
          <p:cNvSpPr txBox="1"/>
          <p:nvPr/>
        </p:nvSpPr>
        <p:spPr>
          <a:xfrm>
            <a:off x="4269398" y="3242346"/>
            <a:ext cx="595222" cy="612476"/>
          </a:xfrm>
          <a:prstGeom prst="rect">
            <a:avLst/>
          </a:prstGeom>
          <a:noFill/>
        </p:spPr>
        <p:txBody>
          <a:bodyPr wrap="square" lIns="0" tIns="0" rIns="0" bIns="0" rtlCol="0">
            <a:noAutofit/>
          </a:bodyPr>
          <a:lstStyle/>
          <a:p>
            <a:pPr algn="l"/>
            <a:r>
              <a:rPr lang="en-AU" sz="3200" b="1">
                <a:solidFill>
                  <a:schemeClr val="accent2"/>
                </a:solidFill>
              </a:rPr>
              <a:t>A</a:t>
            </a:r>
          </a:p>
        </p:txBody>
      </p:sp>
      <p:sp>
        <p:nvSpPr>
          <p:cNvPr id="16" name="TextBox 15">
            <a:extLst>
              <a:ext uri="{FF2B5EF4-FFF2-40B4-BE49-F238E27FC236}">
                <a16:creationId xmlns:a16="http://schemas.microsoft.com/office/drawing/2014/main" id="{1321794A-5D5E-8D40-4112-E1D329F70655}"/>
              </a:ext>
              <a:ext uri="{C183D7F6-B498-43B3-948B-1728B52AA6E4}">
                <adec:decorative xmlns:adec="http://schemas.microsoft.com/office/drawing/2017/decorative" val="1"/>
              </a:ext>
            </a:extLst>
          </p:cNvPr>
          <p:cNvSpPr txBox="1"/>
          <p:nvPr/>
        </p:nvSpPr>
        <p:spPr>
          <a:xfrm>
            <a:off x="7621362" y="3242346"/>
            <a:ext cx="595222" cy="612476"/>
          </a:xfrm>
          <a:prstGeom prst="rect">
            <a:avLst/>
          </a:prstGeom>
          <a:noFill/>
        </p:spPr>
        <p:txBody>
          <a:bodyPr wrap="square" lIns="0" tIns="0" rIns="0" bIns="0" rtlCol="0">
            <a:noAutofit/>
          </a:bodyPr>
          <a:lstStyle/>
          <a:p>
            <a:pPr algn="l"/>
            <a:r>
              <a:rPr lang="en-AU" sz="3200" b="1">
                <a:solidFill>
                  <a:schemeClr val="accent2"/>
                </a:solidFill>
              </a:rPr>
              <a:t>B</a:t>
            </a:r>
          </a:p>
        </p:txBody>
      </p:sp>
      <p:pic>
        <p:nvPicPr>
          <p:cNvPr id="18" name="Picture 17" descr="2 analog clocks with the following times:&#10;&#10;A) long hand pointed to the 11 and short hand just before the 1.&#10;B) long hand pointed to the 2 and short hand just after the 7.">
            <a:extLst>
              <a:ext uri="{FF2B5EF4-FFF2-40B4-BE49-F238E27FC236}">
                <a16:creationId xmlns:a16="http://schemas.microsoft.com/office/drawing/2014/main" id="{B3D50525-43A4-3442-20F4-90F12B5CC743}"/>
              </a:ext>
            </a:extLst>
          </p:cNvPr>
          <p:cNvPicPr>
            <a:picLocks noChangeAspect="1"/>
          </p:cNvPicPr>
          <p:nvPr/>
        </p:nvPicPr>
        <p:blipFill>
          <a:blip r:embed="rId4"/>
          <a:stretch>
            <a:fillRect/>
          </a:stretch>
        </p:blipFill>
        <p:spPr>
          <a:xfrm>
            <a:off x="3065721" y="3710889"/>
            <a:ext cx="6060558" cy="2805111"/>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5" name="TextBox 4">
            <a:extLst>
              <a:ext uri="{FF2B5EF4-FFF2-40B4-BE49-F238E27FC236}">
                <a16:creationId xmlns:a16="http://schemas.microsoft.com/office/drawing/2014/main" id="{279AA9E1-AA04-56B4-7EBA-E52FD761D724}"/>
              </a:ext>
            </a:extLst>
          </p:cNvPr>
          <p:cNvSpPr txBox="1"/>
          <p:nvPr/>
        </p:nvSpPr>
        <p:spPr>
          <a:xfrm>
            <a:off x="445217" y="1079289"/>
            <a:ext cx="10856737" cy="3244671"/>
          </a:xfrm>
          <a:prstGeom prst="rect">
            <a:avLst/>
          </a:prstGeom>
          <a:noFill/>
        </p:spPr>
        <p:txBody>
          <a:bodyPr wrap="square">
            <a:spAutoFit/>
          </a:bodyPr>
          <a:lstStyle/>
          <a:p>
            <a:pPr lvl="0" algn="ctr">
              <a:lnSpc>
                <a:spcPct val="150000"/>
              </a:lnSpc>
              <a:spcBef>
                <a:spcPts val="1200"/>
              </a:spcBef>
              <a:spcAft>
                <a:spcPts val="600"/>
              </a:spcAft>
            </a:pPr>
            <a:r>
              <a:rPr lang="en-AU" sz="4400">
                <a:latin typeface="Arial" panose="020B0604020202020204" pitchFamily="34" charset="0"/>
                <a:ea typeface="Calibri" panose="020F0502020204030204" pitchFamily="34" charset="0"/>
                <a:cs typeface="Times New Roman" panose="02020603050405020304" pitchFamily="18" charset="0"/>
              </a:rPr>
              <a:t>A </a:t>
            </a:r>
            <a:r>
              <a:rPr lang="en-AU" sz="4400" b="1">
                <a:latin typeface="Arial" panose="020B0604020202020204" pitchFamily="34" charset="0"/>
                <a:ea typeface="Calibri" panose="020F0502020204030204" pitchFamily="34" charset="0"/>
                <a:cs typeface="Times New Roman" panose="02020603050405020304" pitchFamily="18" charset="0"/>
              </a:rPr>
              <a:t>milk carton </a:t>
            </a:r>
            <a:r>
              <a:rPr lang="en-AU" sz="4400">
                <a:latin typeface="Arial" panose="020B0604020202020204" pitchFamily="34" charset="0"/>
                <a:ea typeface="Calibri" panose="020F0502020204030204" pitchFamily="34" charset="0"/>
                <a:cs typeface="Times New Roman" panose="02020603050405020304" pitchFamily="18" charset="0"/>
              </a:rPr>
              <a:t>has the </a:t>
            </a:r>
            <a:r>
              <a:rPr lang="en-AU" sz="4400" b="1">
                <a:latin typeface="Arial" panose="020B0604020202020204" pitchFamily="34" charset="0"/>
                <a:ea typeface="Calibri" panose="020F0502020204030204" pitchFamily="34" charset="0"/>
                <a:cs typeface="Times New Roman" panose="02020603050405020304" pitchFamily="18" charset="0"/>
              </a:rPr>
              <a:t>capacity</a:t>
            </a:r>
            <a:r>
              <a:rPr lang="en-AU" sz="4400">
                <a:latin typeface="Arial" panose="020B0604020202020204" pitchFamily="34" charset="0"/>
                <a:ea typeface="Calibri" panose="020F0502020204030204" pitchFamily="34" charset="0"/>
                <a:cs typeface="Times New Roman" panose="02020603050405020304" pitchFamily="18" charset="0"/>
              </a:rPr>
              <a:t> of </a:t>
            </a:r>
            <a:r>
              <a:rPr lang="en-AU" sz="4400" b="1">
                <a:solidFill>
                  <a:schemeClr val="accent2"/>
                </a:solidFill>
                <a:latin typeface="Arial" panose="020B0604020202020204" pitchFamily="34" charset="0"/>
                <a:ea typeface="Calibri" panose="020F0502020204030204" pitchFamily="34" charset="0"/>
                <a:cs typeface="Times New Roman" panose="02020603050405020304" pitchFamily="18" charset="0"/>
              </a:rPr>
              <a:t>1L.</a:t>
            </a:r>
          </a:p>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Record</a:t>
            </a:r>
            <a:r>
              <a:rPr lang="en-AU" sz="4400">
                <a:latin typeface="Arial" panose="020B0604020202020204" pitchFamily="34" charset="0"/>
                <a:ea typeface="Calibri" panose="020F0502020204030204" pitchFamily="34" charset="0"/>
                <a:cs typeface="Times New Roman" panose="02020603050405020304" pitchFamily="18" charset="0"/>
              </a:rPr>
              <a:t> the </a:t>
            </a:r>
            <a:r>
              <a:rPr lang="en-AU" sz="4400" b="1">
                <a:latin typeface="Arial" panose="020B0604020202020204" pitchFamily="34" charset="0"/>
                <a:ea typeface="Calibri" panose="020F0502020204030204" pitchFamily="34" charset="0"/>
                <a:cs typeface="Times New Roman" panose="02020603050405020304" pitchFamily="18" charset="0"/>
              </a:rPr>
              <a:t>capacity</a:t>
            </a:r>
            <a:r>
              <a:rPr lang="en-AU" sz="4400">
                <a:latin typeface="Arial" panose="020B0604020202020204" pitchFamily="34" charset="0"/>
                <a:ea typeface="Calibri" panose="020F0502020204030204" pitchFamily="34" charset="0"/>
                <a:cs typeface="Times New Roman" panose="02020603050405020304" pitchFamily="18" charset="0"/>
              </a:rPr>
              <a:t> of the </a:t>
            </a:r>
            <a:r>
              <a:rPr lang="en-AU" sz="4400" b="1">
                <a:solidFill>
                  <a:schemeClr val="accent2"/>
                </a:solidFill>
                <a:latin typeface="Arial" panose="020B0604020202020204" pitchFamily="34" charset="0"/>
                <a:ea typeface="Calibri" panose="020F0502020204030204" pitchFamily="34" charset="0"/>
                <a:cs typeface="Times New Roman" panose="02020603050405020304" pitchFamily="18" charset="0"/>
              </a:rPr>
              <a:t>bucket</a:t>
            </a:r>
            <a:r>
              <a:rPr lang="en-AU" sz="4400">
                <a:latin typeface="Arial" panose="020B0604020202020204" pitchFamily="34" charset="0"/>
                <a:ea typeface="Calibri" panose="020F0502020204030204" pitchFamily="34" charset="0"/>
                <a:cs typeface="Times New Roman" panose="02020603050405020304" pitchFamily="18" charset="0"/>
              </a:rPr>
              <a:t>, if it took </a:t>
            </a:r>
            <a:r>
              <a:rPr lang="en-AU" sz="4400" b="1">
                <a:latin typeface="Arial" panose="020B0604020202020204" pitchFamily="34" charset="0"/>
                <a:ea typeface="Calibri" panose="020F0502020204030204" pitchFamily="34" charset="0"/>
                <a:cs typeface="Times New Roman" panose="02020603050405020304" pitchFamily="18" charset="0"/>
              </a:rPr>
              <a:t>4 milk cartons </a:t>
            </a:r>
            <a:r>
              <a:rPr lang="en-AU" sz="4400">
                <a:latin typeface="Arial" panose="020B0604020202020204" pitchFamily="34" charset="0"/>
                <a:ea typeface="Calibri" panose="020F0502020204030204" pitchFamily="34" charset="0"/>
                <a:cs typeface="Times New Roman" panose="02020603050405020304" pitchFamily="18" charset="0"/>
              </a:rPr>
              <a:t>to fill it. </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30EF615A-D806-AF2D-B010-484A98B4FA6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3881" y="3429000"/>
            <a:ext cx="2406774" cy="2419474"/>
          </a:xfrm>
          <a:prstGeom prst="rect">
            <a:avLst/>
          </a:prstGeom>
        </p:spPr>
      </p:pic>
      <p:sp>
        <p:nvSpPr>
          <p:cNvPr id="9" name="TextBox 8">
            <a:extLst>
              <a:ext uri="{FF2B5EF4-FFF2-40B4-BE49-F238E27FC236}">
                <a16:creationId xmlns:a16="http://schemas.microsoft.com/office/drawing/2014/main" id="{C9FB885D-91EF-FD26-9FFC-39AB79DD59C1}"/>
              </a:ext>
            </a:extLst>
          </p:cNvPr>
          <p:cNvSpPr txBox="1"/>
          <p:nvPr/>
        </p:nvSpPr>
        <p:spPr>
          <a:xfrm>
            <a:off x="445217" y="5291218"/>
            <a:ext cx="11301565" cy="982513"/>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Communicate</a:t>
            </a:r>
            <a:r>
              <a:rPr lang="en-AU" sz="4400">
                <a:latin typeface="Arial" panose="020B0604020202020204" pitchFamily="34" charset="0"/>
                <a:ea typeface="Calibri" panose="020F0502020204030204" pitchFamily="34" charset="0"/>
                <a:cs typeface="Times New Roman" panose="02020603050405020304" pitchFamily="18" charset="0"/>
              </a:rPr>
              <a:t> your </a:t>
            </a:r>
            <a:r>
              <a:rPr lang="en-AU" sz="4400" b="1">
                <a:latin typeface="Arial" panose="020B0604020202020204" pitchFamily="34" charset="0"/>
                <a:ea typeface="Calibri" panose="020F0502020204030204" pitchFamily="34" charset="0"/>
                <a:cs typeface="Times New Roman" panose="02020603050405020304" pitchFamily="18" charset="0"/>
              </a:rPr>
              <a:t>reasoning.</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9" name="TextBox 8">
            <a:extLst>
              <a:ext uri="{FF2B5EF4-FFF2-40B4-BE49-F238E27FC236}">
                <a16:creationId xmlns:a16="http://schemas.microsoft.com/office/drawing/2014/main" id="{1191F5FA-B2A1-7AC5-F3A7-B9BD281B2E8A}"/>
              </a:ext>
            </a:extLst>
          </p:cNvPr>
          <p:cNvSpPr txBox="1"/>
          <p:nvPr/>
        </p:nvSpPr>
        <p:spPr>
          <a:xfrm>
            <a:off x="254253" y="1454690"/>
            <a:ext cx="11589747" cy="6129820"/>
          </a:xfrm>
          <a:prstGeom prst="rect">
            <a:avLst/>
          </a:prstGeom>
          <a:noFill/>
        </p:spPr>
        <p:txBody>
          <a:bodyPr wrap="square">
            <a:spAutoFit/>
          </a:bodyPr>
          <a:lstStyle/>
          <a:p>
            <a:pPr lvl="0" algn="ctr">
              <a:lnSpc>
                <a:spcPct val="150000"/>
              </a:lnSpc>
              <a:spcBef>
                <a:spcPts val="1200"/>
              </a:spcBef>
              <a:spcAft>
                <a:spcPts val="600"/>
              </a:spcAft>
            </a:pPr>
            <a:r>
              <a:rPr lang="en-AU" sz="3600" b="1">
                <a:latin typeface="Arial" panose="020B0604020202020204" pitchFamily="34" charset="0"/>
                <a:ea typeface="Calibri" panose="020F0502020204030204" pitchFamily="34" charset="0"/>
                <a:cs typeface="Times New Roman" panose="02020603050405020304" pitchFamily="18" charset="0"/>
              </a:rPr>
              <a:t>Record</a:t>
            </a:r>
            <a:r>
              <a:rPr lang="en-AU" sz="3600" dirty="0">
                <a:latin typeface="Arial" panose="020B0604020202020204" pitchFamily="34" charset="0"/>
                <a:ea typeface="Calibri" panose="020F0502020204030204" pitchFamily="34" charset="0"/>
                <a:cs typeface="Times New Roman" panose="02020603050405020304" pitchFamily="18" charset="0"/>
              </a:rPr>
              <a:t> the </a:t>
            </a:r>
            <a:r>
              <a:rPr lang="en-AU" sz="3600">
                <a:latin typeface="Arial" panose="020B0604020202020204" pitchFamily="34" charset="0"/>
                <a:ea typeface="Calibri" panose="020F0502020204030204" pitchFamily="34" charset="0"/>
                <a:cs typeface="Times New Roman" panose="02020603050405020304" pitchFamily="18" charset="0"/>
              </a:rPr>
              <a:t>following </a:t>
            </a:r>
            <a:r>
              <a:rPr lang="en-AU" sz="3600" b="1">
                <a:latin typeface="Arial" panose="020B0604020202020204" pitchFamily="34" charset="0"/>
                <a:ea typeface="Calibri" panose="020F0502020204030204" pitchFamily="34" charset="0"/>
                <a:cs typeface="Times New Roman" panose="02020603050405020304" pitchFamily="18" charset="0"/>
              </a:rPr>
              <a:t>lengths </a:t>
            </a:r>
            <a:r>
              <a:rPr lang="en-AU" sz="3600">
                <a:latin typeface="Arial" panose="020B0604020202020204" pitchFamily="34" charset="0"/>
                <a:ea typeface="Calibri" panose="020F0502020204030204" pitchFamily="34" charset="0"/>
                <a:cs typeface="Times New Roman" panose="02020603050405020304" pitchFamily="18" charset="0"/>
              </a:rPr>
              <a:t>using the</a:t>
            </a:r>
            <a:r>
              <a:rPr lang="en-AU" sz="3600" b="1">
                <a:latin typeface="Arial" panose="020B0604020202020204" pitchFamily="34" charset="0"/>
                <a:ea typeface="Calibri" panose="020F0502020204030204" pitchFamily="34" charset="0"/>
                <a:cs typeface="Times New Roman" panose="02020603050405020304" pitchFamily="18" charset="0"/>
              </a:rPr>
              <a:t> abbreviations:</a:t>
            </a:r>
          </a:p>
          <a:p>
            <a:pPr marL="742950" lvl="0" indent="-742950" algn="ctr">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f</a:t>
            </a:r>
            <a:r>
              <a:rPr lang="en-AU" sz="3600">
                <a:effectLst/>
                <a:latin typeface="Arial" panose="020B0604020202020204" pitchFamily="34" charset="0"/>
                <a:ea typeface="Calibri" panose="020F0502020204030204" pitchFamily="34" charset="0"/>
                <a:cs typeface="Times New Roman" panose="02020603050405020304" pitchFamily="18" charset="0"/>
              </a:rPr>
              <a:t>ifty-three </a:t>
            </a:r>
            <a:r>
              <a:rPr lang="en-AU" sz="3600">
                <a:latin typeface="Arial" panose="020B0604020202020204" pitchFamily="34" charset="0"/>
                <a:ea typeface="Calibri" panose="020F0502020204030204" pitchFamily="34" charset="0"/>
                <a:cs typeface="Times New Roman" panose="02020603050405020304" pitchFamily="18" charset="0"/>
              </a:rPr>
              <a:t>millimetres</a:t>
            </a:r>
          </a:p>
          <a:p>
            <a:pPr marL="742950" lvl="0" indent="-742950" algn="ctr">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twenty-two millimetres</a:t>
            </a:r>
          </a:p>
          <a:p>
            <a:pPr marL="742950" lvl="0" indent="-742950" algn="ctr">
              <a:lnSpc>
                <a:spcPct val="150000"/>
              </a:lnSpc>
              <a:spcBef>
                <a:spcPts val="1200"/>
              </a:spcBef>
              <a:spcAft>
                <a:spcPts val="600"/>
              </a:spcAft>
              <a:buFont typeface="+mj-lt"/>
              <a:buAutoNum type="alphaLcParenR"/>
            </a:pPr>
            <a:r>
              <a:rPr lang="en-AU" sz="3600">
                <a:latin typeface="Arial" panose="020B0604020202020204" pitchFamily="34" charset="0"/>
                <a:ea typeface="Calibri" panose="020F0502020204030204" pitchFamily="34" charset="0"/>
                <a:cs typeface="Times New Roman" panose="02020603050405020304" pitchFamily="18" charset="0"/>
              </a:rPr>
              <a:t>six centimetres and two millimetres</a:t>
            </a:r>
          </a:p>
          <a:p>
            <a:pPr marL="571500" lvl="0" indent="-571500" algn="ctr">
              <a:lnSpc>
                <a:spcPct val="150000"/>
              </a:lnSpc>
              <a:spcBef>
                <a:spcPts val="1200"/>
              </a:spcBef>
              <a:spcAft>
                <a:spcPts val="600"/>
              </a:spcAft>
              <a:buFont typeface="Arial" panose="020B0604020202020204" pitchFamily="34" charset="0"/>
              <a:buChar char="•"/>
            </a:pPr>
            <a:endParaRPr lang="en-AU" sz="3600">
              <a:latin typeface="Arial" panose="020B0604020202020204" pitchFamily="34" charset="0"/>
              <a:ea typeface="Calibri" panose="020F0502020204030204" pitchFamily="34" charset="0"/>
              <a:cs typeface="Times New Roman" panose="02020603050405020304" pitchFamily="18" charset="0"/>
            </a:endParaRPr>
          </a:p>
          <a:p>
            <a:pPr marL="571500" lvl="0" indent="-571500" algn="ctr">
              <a:lnSpc>
                <a:spcPct val="150000"/>
              </a:lnSpc>
              <a:spcBef>
                <a:spcPts val="1200"/>
              </a:spcBef>
              <a:spcAft>
                <a:spcPts val="600"/>
              </a:spcAft>
              <a:buFont typeface="Arial" panose="020B0604020202020204" pitchFamily="34" charset="0"/>
              <a:buChar char="•"/>
            </a:pPr>
            <a:endParaRPr lang="en-AU" sz="360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describing increasing number patterns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3" name="Rectangle 2">
            <a:extLst>
              <a:ext uri="{FF2B5EF4-FFF2-40B4-BE49-F238E27FC236}">
                <a16:creationId xmlns:a16="http://schemas.microsoft.com/office/drawing/2014/main" id="{C2B94009-2CCC-DA2E-F775-D6A3778937E8}"/>
              </a:ext>
            </a:extLst>
          </p:cNvPr>
          <p:cNvSpPr/>
          <p:nvPr/>
        </p:nvSpPr>
        <p:spPr>
          <a:xfrm>
            <a:off x="1817844" y="1986680"/>
            <a:ext cx="8712200" cy="13631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tx1"/>
                </a:solidFill>
                <a:effectLst/>
                <a:latin typeface="Edu NSW ACT Foundation" panose="020B0604020202020204" charset="0"/>
                <a:ea typeface="Calibri" panose="020F0502020204030204" pitchFamily="34" charset="0"/>
              </a:rPr>
              <a:t>5, 10, 15, 20, 25…</a:t>
            </a:r>
            <a:endParaRPr lang="en-AU" sz="7200">
              <a:solidFill>
                <a:schemeClr val="tx1"/>
              </a:solidFill>
              <a:latin typeface="Edu NSW ACT Foundation" panose="020B0604020202020204" charset="0"/>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54EF-914E-0B29-DF5C-C8F0BAE9D23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C63EB9-996A-FABA-588A-FDD60D362D0A}"/>
              </a:ext>
            </a:extLst>
          </p:cNvPr>
          <p:cNvSpPr>
            <a:spLocks noGrp="1"/>
          </p:cNvSpPr>
          <p:nvPr>
            <p:ph type="title"/>
          </p:nvPr>
        </p:nvSpPr>
        <p:spPr>
          <a:xfrm>
            <a:off x="360000" y="360000"/>
            <a:ext cx="10367268" cy="545601"/>
          </a:xfrm>
        </p:spPr>
        <p:txBody>
          <a:bodyPr/>
          <a:lstStyle/>
          <a:p>
            <a:r>
              <a:rPr lang="en-AU"/>
              <a:t>Activity 7 – describing increasing number patterns </a:t>
            </a:r>
            <a:r>
              <a:rPr lang="en-AU" dirty="0">
                <a:solidFill>
                  <a:schemeClr val="bg1"/>
                </a:solidFill>
              </a:rPr>
              <a:t>(2)</a:t>
            </a:r>
          </a:p>
        </p:txBody>
      </p:sp>
      <p:pic>
        <p:nvPicPr>
          <p:cNvPr id="4" name="Picture 3">
            <a:extLst>
              <a:ext uri="{FF2B5EF4-FFF2-40B4-BE49-F238E27FC236}">
                <a16:creationId xmlns:a16="http://schemas.microsoft.com/office/drawing/2014/main" id="{C0E9FBB0-F0E1-906F-4E82-090200CC2BB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D5B3FBA5-BD57-D8F2-5131-B1944905CFF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5" name="Rectangle 4">
            <a:extLst>
              <a:ext uri="{FF2B5EF4-FFF2-40B4-BE49-F238E27FC236}">
                <a16:creationId xmlns:a16="http://schemas.microsoft.com/office/drawing/2014/main" id="{C2B94009-2CCC-DA2E-F775-D6A3778937E8}"/>
              </a:ext>
            </a:extLst>
          </p:cNvPr>
          <p:cNvSpPr/>
          <p:nvPr/>
        </p:nvSpPr>
        <p:spPr>
          <a:xfrm>
            <a:off x="2015068" y="2533525"/>
            <a:ext cx="8712200" cy="13631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tx1"/>
                </a:solidFill>
                <a:effectLst/>
                <a:latin typeface="Edu NSW ACT Foundation" panose="020B0604020202020204" charset="0"/>
                <a:ea typeface="Calibri" panose="020F0502020204030204" pitchFamily="34" charset="0"/>
              </a:rPr>
              <a:t>8, 13, 18, 23, 28…</a:t>
            </a:r>
            <a:endParaRPr lang="en-AU" sz="7200">
              <a:solidFill>
                <a:schemeClr val="tx1"/>
              </a:solidFill>
              <a:latin typeface="Edu NSW ACT Foundation" panose="020B0604020202020204" charset="0"/>
            </a:endParaRPr>
          </a:p>
        </p:txBody>
      </p:sp>
    </p:spTree>
    <p:extLst>
      <p:ext uri="{BB962C8B-B14F-4D97-AF65-F5344CB8AC3E}">
        <p14:creationId xmlns:p14="http://schemas.microsoft.com/office/powerpoint/2010/main" val="334159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FF44C-9D70-9C6F-EF5C-8130DA7F35F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F4E1495-F647-1B3B-7FDD-00AC59776EDA}"/>
              </a:ext>
            </a:extLst>
          </p:cNvPr>
          <p:cNvSpPr>
            <a:spLocks noGrp="1"/>
          </p:cNvSpPr>
          <p:nvPr>
            <p:ph type="title"/>
          </p:nvPr>
        </p:nvSpPr>
        <p:spPr>
          <a:xfrm>
            <a:off x="360000" y="360000"/>
            <a:ext cx="10367268" cy="545601"/>
          </a:xfrm>
        </p:spPr>
        <p:txBody>
          <a:bodyPr/>
          <a:lstStyle/>
          <a:p>
            <a:r>
              <a:rPr lang="en-AU"/>
              <a:t>Activity 7 – describing increasing number patterns </a:t>
            </a:r>
            <a:r>
              <a:rPr lang="en-AU" dirty="0">
                <a:solidFill>
                  <a:schemeClr val="bg1"/>
                </a:solidFill>
              </a:rPr>
              <a:t>(3)</a:t>
            </a:r>
          </a:p>
        </p:txBody>
      </p:sp>
      <p:pic>
        <p:nvPicPr>
          <p:cNvPr id="4" name="Picture 3">
            <a:extLst>
              <a:ext uri="{FF2B5EF4-FFF2-40B4-BE49-F238E27FC236}">
                <a16:creationId xmlns:a16="http://schemas.microsoft.com/office/drawing/2014/main" id="{5134B09D-D45E-E5BD-9DDB-FF97D1EDBE4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D3D88CC-2AD9-9809-9312-6B818406175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extBox 2">
            <a:extLst>
              <a:ext uri="{FF2B5EF4-FFF2-40B4-BE49-F238E27FC236}">
                <a16:creationId xmlns:a16="http://schemas.microsoft.com/office/drawing/2014/main" id="{EE91AFCE-623D-3788-C3DB-B78BE3275595}"/>
              </a:ext>
            </a:extLst>
          </p:cNvPr>
          <p:cNvSpPr txBox="1"/>
          <p:nvPr/>
        </p:nvSpPr>
        <p:spPr>
          <a:xfrm>
            <a:off x="1826439" y="1281014"/>
            <a:ext cx="10017561" cy="4724691"/>
          </a:xfrm>
          <a:prstGeom prst="rect">
            <a:avLst/>
          </a:prstGeom>
          <a:noFill/>
        </p:spPr>
        <p:txBody>
          <a:bodyPr wrap="square" lIns="91440" tIns="45720" rIns="91440" bIns="45720" anchor="t">
            <a:spAutoFit/>
          </a:bodyPr>
          <a:lstStyle/>
          <a:p>
            <a:pPr marL="342900" lvl="0" indent="-342900">
              <a:lnSpc>
                <a:spcPct val="150000"/>
              </a:lnSpc>
              <a:spcBef>
                <a:spcPts val="1200"/>
              </a:spcBef>
              <a:spcAft>
                <a:spcPts val="600"/>
              </a:spcAft>
              <a:buFont typeface="Symbol" panose="05050102010706020507" pitchFamily="18" charset="2"/>
              <a:buChar char=""/>
            </a:pPr>
            <a:r>
              <a:rPr lang="en-AU" sz="4400">
                <a:effectLst/>
                <a:latin typeface="+mj-lt"/>
                <a:ea typeface="Calibri"/>
              </a:rPr>
              <a:t>5, 9, 13, 17, 21…</a:t>
            </a:r>
          </a:p>
          <a:p>
            <a:pPr marL="342900" lvl="0" indent="-342900">
              <a:lnSpc>
                <a:spcPct val="150000"/>
              </a:lnSpc>
              <a:spcBef>
                <a:spcPts val="1200"/>
              </a:spcBef>
              <a:spcAft>
                <a:spcPts val="600"/>
              </a:spcAft>
              <a:buFont typeface="Symbol" panose="05050102010706020507" pitchFamily="18" charset="2"/>
              <a:buChar char=""/>
            </a:pPr>
            <a:r>
              <a:rPr lang="en-AU" sz="4400">
                <a:effectLst/>
                <a:latin typeface="+mj-lt"/>
                <a:ea typeface="Calibri"/>
              </a:rPr>
              <a:t>111, 116, 121, 126, 131…</a:t>
            </a:r>
          </a:p>
          <a:p>
            <a:pPr marL="342900" lvl="0" indent="-342900">
              <a:lnSpc>
                <a:spcPct val="150000"/>
              </a:lnSpc>
              <a:spcBef>
                <a:spcPts val="1200"/>
              </a:spcBef>
              <a:spcAft>
                <a:spcPts val="600"/>
              </a:spcAft>
              <a:buFont typeface="Symbol" panose="05050102010706020507" pitchFamily="18" charset="2"/>
              <a:buChar char=""/>
            </a:pPr>
            <a:r>
              <a:rPr lang="en-AU" sz="4400">
                <a:effectLst/>
                <a:latin typeface="+mj-lt"/>
                <a:ea typeface="Calibri"/>
              </a:rPr>
              <a:t>76, 86, 96, 106, 116…</a:t>
            </a:r>
          </a:p>
          <a:p>
            <a:pPr marL="342900" lvl="0" indent="-342900">
              <a:lnSpc>
                <a:spcPct val="150000"/>
              </a:lnSpc>
              <a:spcBef>
                <a:spcPts val="1200"/>
              </a:spcBef>
              <a:spcAft>
                <a:spcPts val="600"/>
              </a:spcAft>
              <a:buFont typeface="Symbol" panose="05050102010706020507" pitchFamily="18" charset="2"/>
              <a:buChar char=""/>
            </a:pPr>
            <a:r>
              <a:rPr lang="en-AU" sz="4400">
                <a:effectLst/>
                <a:latin typeface="+mj-lt"/>
                <a:ea typeface="Calibri"/>
              </a:rPr>
              <a:t>17, 21, 25, 29, 33…</a:t>
            </a:r>
          </a:p>
        </p:txBody>
      </p:sp>
    </p:spTree>
    <p:extLst>
      <p:ext uri="{BB962C8B-B14F-4D97-AF65-F5344CB8AC3E}">
        <p14:creationId xmlns:p14="http://schemas.microsoft.com/office/powerpoint/2010/main" val="369554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dirty="0">
                <a:solidFill>
                  <a:schemeClr val="bg1"/>
                </a:solidFill>
              </a:rPr>
              <a:t>(4)</a:t>
            </a:r>
          </a:p>
        </p:txBody>
      </p:sp>
      <p:sp>
        <p:nvSpPr>
          <p:cNvPr id="5" name="Rectangle 4">
            <a:extLst>
              <a:ext uri="{FF2B5EF4-FFF2-40B4-BE49-F238E27FC236}">
                <a16:creationId xmlns:a16="http://schemas.microsoft.com/office/drawing/2014/main" id="{903F9BDE-9D83-2D2B-424C-6885D39E565A}"/>
              </a:ext>
            </a:extLst>
          </p:cNvPr>
          <p:cNvSpPr/>
          <p:nvPr/>
        </p:nvSpPr>
        <p:spPr>
          <a:xfrm>
            <a:off x="1739900" y="1340836"/>
            <a:ext cx="8712200" cy="13631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tx1"/>
                </a:solidFill>
                <a:latin typeface="Edu NSW ACT Foundation" panose="020B0604020202020204" charset="0"/>
                <a:ea typeface="Calibri" panose="020F0502020204030204" pitchFamily="34" charset="0"/>
              </a:rPr>
              <a:t>4</a:t>
            </a:r>
            <a:r>
              <a:rPr lang="en-AU" sz="6000">
                <a:solidFill>
                  <a:schemeClr val="tx1"/>
                </a:solidFill>
                <a:effectLst/>
                <a:latin typeface="Edu NSW ACT Foundation" panose="020B0604020202020204" charset="0"/>
                <a:ea typeface="Calibri" panose="020F0502020204030204" pitchFamily="34" charset="0"/>
              </a:rPr>
              <a:t>5, </a:t>
            </a:r>
            <a:r>
              <a:rPr lang="en-AU" sz="6000">
                <a:solidFill>
                  <a:schemeClr val="tx1"/>
                </a:solidFill>
                <a:latin typeface="Edu NSW ACT Foundation" panose="020B0604020202020204" charset="0"/>
                <a:ea typeface="Calibri" panose="020F0502020204030204" pitchFamily="34" charset="0"/>
              </a:rPr>
              <a:t>4</a:t>
            </a:r>
            <a:r>
              <a:rPr lang="en-AU" sz="6000">
                <a:solidFill>
                  <a:schemeClr val="tx1"/>
                </a:solidFill>
                <a:effectLst/>
                <a:latin typeface="Edu NSW ACT Foundation" panose="020B0604020202020204" charset="0"/>
                <a:ea typeface="Calibri" panose="020F0502020204030204" pitchFamily="34" charset="0"/>
              </a:rPr>
              <a:t>0, </a:t>
            </a:r>
            <a:r>
              <a:rPr lang="en-AU" sz="6000">
                <a:solidFill>
                  <a:schemeClr val="tx1"/>
                </a:solidFill>
                <a:latin typeface="Edu NSW ACT Foundation" panose="020B0604020202020204" charset="0"/>
                <a:ea typeface="Calibri" panose="020F0502020204030204" pitchFamily="34" charset="0"/>
              </a:rPr>
              <a:t>3</a:t>
            </a:r>
            <a:r>
              <a:rPr lang="en-AU" sz="6000">
                <a:solidFill>
                  <a:schemeClr val="tx1"/>
                </a:solidFill>
                <a:effectLst/>
                <a:latin typeface="Edu NSW ACT Foundation" panose="020B0604020202020204" charset="0"/>
                <a:ea typeface="Calibri" panose="020F0502020204030204" pitchFamily="34" charset="0"/>
              </a:rPr>
              <a:t>5, </a:t>
            </a:r>
            <a:r>
              <a:rPr lang="en-AU" sz="6000">
                <a:solidFill>
                  <a:schemeClr val="tx1"/>
                </a:solidFill>
                <a:latin typeface="Edu NSW ACT Foundation" panose="020B0604020202020204" charset="0"/>
                <a:ea typeface="Calibri" panose="020F0502020204030204" pitchFamily="34" charset="0"/>
              </a:rPr>
              <a:t>3</a:t>
            </a:r>
            <a:r>
              <a:rPr lang="en-AU" sz="6000">
                <a:solidFill>
                  <a:schemeClr val="tx1"/>
                </a:solidFill>
                <a:effectLst/>
                <a:latin typeface="Edu NSW ACT Foundation" panose="020B0604020202020204" charset="0"/>
                <a:ea typeface="Calibri" panose="020F0502020204030204" pitchFamily="34" charset="0"/>
              </a:rPr>
              <a:t>0, </a:t>
            </a:r>
            <a:r>
              <a:rPr lang="en-AU" sz="6000">
                <a:solidFill>
                  <a:schemeClr val="tx1"/>
                </a:solidFill>
                <a:latin typeface="Edu NSW ACT Foundation" panose="020B0604020202020204" charset="0"/>
                <a:ea typeface="Calibri" panose="020F0502020204030204" pitchFamily="34" charset="0"/>
              </a:rPr>
              <a:t>2</a:t>
            </a:r>
            <a:r>
              <a:rPr lang="en-AU" sz="6000">
                <a:solidFill>
                  <a:schemeClr val="tx1"/>
                </a:solidFill>
                <a:effectLst/>
                <a:latin typeface="Edu NSW ACT Foundation" panose="020B0604020202020204" charset="0"/>
                <a:ea typeface="Calibri" panose="020F0502020204030204" pitchFamily="34" charset="0"/>
              </a:rPr>
              <a:t>5…</a:t>
            </a:r>
            <a:endParaRPr lang="en-AU" sz="7200">
              <a:solidFill>
                <a:schemeClr val="tx1"/>
              </a:solidFill>
              <a:latin typeface="Edu NSW ACT Foundation" panose="020B0604020202020204" charset="0"/>
            </a:endParaRPr>
          </a:p>
        </p:txBody>
      </p:sp>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360001" y="2982387"/>
            <a:ext cx="11243037" cy="893226"/>
          </a:xfrm>
        </p:spPr>
        <p:txBody>
          <a:bodyPr/>
          <a:lstStyle/>
          <a:p>
            <a:r>
              <a:rPr lang="en-AU" sz="4000" dirty="0"/>
              <a:t>The numbers in this pattern are </a:t>
            </a:r>
            <a:r>
              <a:rPr lang="en-AU" sz="4000" b="1" dirty="0"/>
              <a:t>decreasing by 5</a:t>
            </a:r>
            <a:r>
              <a:rPr lang="en-AU" sz="4000" dirty="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603965992"/>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19" name="TextBox 18">
            <a:extLst>
              <a:ext uri="{FF2B5EF4-FFF2-40B4-BE49-F238E27FC236}">
                <a16:creationId xmlns:a16="http://schemas.microsoft.com/office/drawing/2014/main" id="{61E843D0-7B92-93BB-F98A-979FAC4B7310}"/>
              </a:ext>
            </a:extLst>
          </p:cNvPr>
          <p:cNvSpPr txBox="1"/>
          <p:nvPr/>
        </p:nvSpPr>
        <p:spPr>
          <a:xfrm>
            <a:off x="360000" y="1065690"/>
            <a:ext cx="4929177" cy="5056577"/>
          </a:xfrm>
          <a:prstGeom prst="rect">
            <a:avLst/>
          </a:prstGeom>
          <a:noFill/>
        </p:spPr>
        <p:txBody>
          <a:bodyPr wrap="square">
            <a:spAutoFit/>
          </a:bodyPr>
          <a:lstStyle/>
          <a:p>
            <a:pPr lvl="0" algn="ctr">
              <a:lnSpc>
                <a:spcPct val="150000"/>
              </a:lnSpc>
              <a:spcBef>
                <a:spcPts val="1200"/>
              </a:spcBef>
              <a:spcAft>
                <a:spcPts val="600"/>
              </a:spcAft>
            </a:pPr>
            <a:r>
              <a:rPr lang="en-AU" sz="4000" dirty="0">
                <a:latin typeface="Arial" panose="020B0604020202020204" pitchFamily="34" charset="0"/>
                <a:ea typeface="Calibri" panose="020F0502020204030204" pitchFamily="34" charset="0"/>
                <a:cs typeface="Times New Roman" panose="02020603050405020304" pitchFamily="18" charset="0"/>
              </a:rPr>
              <a:t>Record the </a:t>
            </a:r>
            <a:r>
              <a:rPr lang="en-AU" sz="4000" b="1" dirty="0">
                <a:latin typeface="Arial" panose="020B0604020202020204" pitchFamily="34" charset="0"/>
                <a:ea typeface="Calibri" panose="020F0502020204030204" pitchFamily="34" charset="0"/>
                <a:cs typeface="Times New Roman" panose="02020603050405020304" pitchFamily="18" charset="0"/>
              </a:rPr>
              <a:t>missing </a:t>
            </a:r>
            <a:r>
              <a:rPr lang="en-AU" sz="4000" b="1">
                <a:latin typeface="Arial" panose="020B0604020202020204" pitchFamily="34" charset="0"/>
                <a:ea typeface="Calibri" panose="020F0502020204030204" pitchFamily="34" charset="0"/>
                <a:cs typeface="Times New Roman" panose="02020603050405020304" pitchFamily="18" charset="0"/>
              </a:rPr>
              <a:t>number </a:t>
            </a:r>
            <a:r>
              <a:rPr lang="en-AU" sz="4000">
                <a:latin typeface="Arial" panose="020B0604020202020204" pitchFamily="34" charset="0"/>
                <a:ea typeface="Calibri" panose="020F0502020204030204" pitchFamily="34" charset="0"/>
                <a:cs typeface="Times New Roman" panose="02020603050405020304" pitchFamily="18" charset="0"/>
              </a:rPr>
              <a:t>at</a:t>
            </a:r>
          </a:p>
          <a:p>
            <a:pPr lvl="0" algn="ctr">
              <a:lnSpc>
                <a:spcPct val="150000"/>
              </a:lnSpc>
              <a:spcBef>
                <a:spcPts val="1200"/>
              </a:spcBef>
              <a:spcAft>
                <a:spcPts val="600"/>
              </a:spcAft>
            </a:pPr>
            <a:r>
              <a:rPr lang="en-AU" sz="4000">
                <a:latin typeface="Arial" panose="020B0604020202020204" pitchFamily="34" charset="0"/>
                <a:ea typeface="Calibri" panose="020F0502020204030204" pitchFamily="34" charset="0"/>
                <a:cs typeface="Times New Roman" panose="02020603050405020304" pitchFamily="18" charset="0"/>
              </a:rPr>
              <a:t> </a:t>
            </a:r>
            <a:r>
              <a:rPr lang="en-AU" sz="4000" b="1">
                <a:solidFill>
                  <a:srgbClr val="D7153A"/>
                </a:solidFill>
                <a:latin typeface="Arial" panose="020B0604020202020204" pitchFamily="34" charset="0"/>
                <a:ea typeface="Calibri" panose="020F0502020204030204" pitchFamily="34" charset="0"/>
                <a:cs typeface="Times New Roman" panose="02020603050405020304" pitchFamily="18" charset="0"/>
              </a:rPr>
              <a:t>A, B, C, D </a:t>
            </a:r>
          </a:p>
          <a:p>
            <a:pPr lvl="0" algn="ctr">
              <a:lnSpc>
                <a:spcPct val="150000"/>
              </a:lnSpc>
              <a:spcBef>
                <a:spcPts val="1200"/>
              </a:spcBef>
              <a:spcAft>
                <a:spcPts val="600"/>
              </a:spcAft>
            </a:pPr>
            <a:r>
              <a:rPr lang="en-AU" sz="4000">
                <a:latin typeface="Arial" panose="020B0604020202020204" pitchFamily="34" charset="0"/>
                <a:ea typeface="Calibri" panose="020F0502020204030204" pitchFamily="34" charset="0"/>
                <a:cs typeface="Times New Roman" panose="02020603050405020304" pitchFamily="18" charset="0"/>
              </a:rPr>
              <a:t>to</a:t>
            </a:r>
            <a:r>
              <a:rPr lang="en-AU" sz="4000" b="1">
                <a:solidFill>
                  <a:srgbClr val="FF0000"/>
                </a:solidFill>
                <a:latin typeface="Arial" panose="020B0604020202020204" pitchFamily="34" charset="0"/>
                <a:ea typeface="Calibri" panose="020F0502020204030204" pitchFamily="34" charset="0"/>
                <a:cs typeface="Times New Roman" panose="02020603050405020304" pitchFamily="18" charset="0"/>
              </a:rPr>
              <a:t> </a:t>
            </a:r>
            <a:r>
              <a:rPr lang="en-AU" sz="4000" b="1">
                <a:latin typeface="Arial" panose="020B0604020202020204" pitchFamily="34" charset="0"/>
                <a:ea typeface="Calibri" panose="020F0502020204030204" pitchFamily="34" charset="0"/>
                <a:cs typeface="Times New Roman" panose="02020603050405020304" pitchFamily="18" charset="0"/>
              </a:rPr>
              <a:t>complete</a:t>
            </a:r>
            <a:r>
              <a:rPr lang="en-AU" sz="4000" dirty="0">
                <a:latin typeface="Arial" panose="020B0604020202020204" pitchFamily="34" charset="0"/>
                <a:ea typeface="Calibri" panose="020F0502020204030204" pitchFamily="34" charset="0"/>
                <a:cs typeface="Times New Roman" panose="02020603050405020304" pitchFamily="18" charset="0"/>
              </a:rPr>
              <a:t> the fact family triangles.</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4 fact family triangles&#10;&#10;25, A, 5&#10;28, 4, B&#10;16, C, 2&#10;40, 5, D">
            <a:extLst>
              <a:ext uri="{FF2B5EF4-FFF2-40B4-BE49-F238E27FC236}">
                <a16:creationId xmlns:a16="http://schemas.microsoft.com/office/drawing/2014/main" id="{9A8869B8-8702-A385-5CB8-C09E86A2F25A}"/>
              </a:ext>
            </a:extLst>
          </p:cNvPr>
          <p:cNvPicPr>
            <a:picLocks noChangeAspect="1"/>
          </p:cNvPicPr>
          <p:nvPr/>
        </p:nvPicPr>
        <p:blipFill>
          <a:blip r:embed="rId4"/>
          <a:stretch>
            <a:fillRect/>
          </a:stretch>
        </p:blipFill>
        <p:spPr>
          <a:xfrm>
            <a:off x="5824927" y="1307640"/>
            <a:ext cx="5435879" cy="4896102"/>
          </a:xfrm>
          <a:prstGeom prst="rect">
            <a:avLst/>
          </a:prstGeom>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EC87AD6F-F47E-8D4C-288E-72D9ACF23F70}"/>
              </a:ext>
            </a:extLst>
          </p:cNvPr>
          <p:cNvSpPr txBox="1"/>
          <p:nvPr/>
        </p:nvSpPr>
        <p:spPr>
          <a:xfrm>
            <a:off x="685568" y="1158770"/>
            <a:ext cx="11405649" cy="1824923"/>
          </a:xfrm>
          <a:prstGeom prst="rect">
            <a:avLst/>
          </a:prstGeom>
          <a:noFill/>
        </p:spPr>
        <p:txBody>
          <a:bodyPr wrap="square">
            <a:spAutoFit/>
          </a:bodyPr>
          <a:lstStyle/>
          <a:p>
            <a:pPr lvl="0" algn="ctr">
              <a:lnSpc>
                <a:spcPct val="150000"/>
              </a:lnSpc>
              <a:spcBef>
                <a:spcPts val="1200"/>
              </a:spcBef>
              <a:spcAft>
                <a:spcPts val="600"/>
              </a:spcAft>
            </a:pPr>
            <a:r>
              <a:rPr lang="en-AU" sz="4000" dirty="0">
                <a:latin typeface="Arial" panose="020B0604020202020204" pitchFamily="34" charset="0"/>
                <a:ea typeface="Calibri" panose="020F0502020204030204" pitchFamily="34" charset="0"/>
                <a:cs typeface="Times New Roman" panose="02020603050405020304" pitchFamily="18" charset="0"/>
              </a:rPr>
              <a:t>Record the </a:t>
            </a:r>
            <a:r>
              <a:rPr lang="en-AU" sz="4000" b="1" dirty="0">
                <a:latin typeface="Arial" panose="020B0604020202020204" pitchFamily="34" charset="0"/>
                <a:ea typeface="Calibri" panose="020F0502020204030204" pitchFamily="34" charset="0"/>
                <a:cs typeface="Times New Roman" panose="02020603050405020304" pitchFamily="18" charset="0"/>
              </a:rPr>
              <a:t>time shown </a:t>
            </a:r>
            <a:r>
              <a:rPr lang="en-AU" sz="4000" dirty="0">
                <a:latin typeface="Arial" panose="020B0604020202020204" pitchFamily="34" charset="0"/>
                <a:ea typeface="Calibri" panose="020F0502020204030204" pitchFamily="34" charset="0"/>
                <a:cs typeface="Times New Roman" panose="02020603050405020304" pitchFamily="18" charset="0"/>
              </a:rPr>
              <a:t>on these </a:t>
            </a:r>
            <a:r>
              <a:rPr lang="en-AU" sz="4000" dirty="0" err="1">
                <a:latin typeface="Arial" panose="020B0604020202020204" pitchFamily="34" charset="0"/>
                <a:ea typeface="Calibri" panose="020F0502020204030204" pitchFamily="34" charset="0"/>
                <a:cs typeface="Times New Roman" panose="02020603050405020304" pitchFamily="18" charset="0"/>
              </a:rPr>
              <a:t>analog</a:t>
            </a:r>
            <a:r>
              <a:rPr lang="en-AU" sz="4000" dirty="0">
                <a:latin typeface="Arial" panose="020B0604020202020204" pitchFamily="34" charset="0"/>
                <a:ea typeface="Calibri" panose="020F0502020204030204" pitchFamily="34" charset="0"/>
                <a:cs typeface="Times New Roman" panose="02020603050405020304" pitchFamily="18" charset="0"/>
              </a:rPr>
              <a:t> clocks to the </a:t>
            </a:r>
            <a:r>
              <a:rPr lang="en-AU" sz="4000" b="1" dirty="0">
                <a:latin typeface="Arial" panose="020B0604020202020204" pitchFamily="34" charset="0"/>
                <a:ea typeface="Calibri" panose="020F0502020204030204" pitchFamily="34" charset="0"/>
                <a:cs typeface="Times New Roman" panose="02020603050405020304" pitchFamily="18" charset="0"/>
              </a:rPr>
              <a:t>minute</a:t>
            </a:r>
            <a:r>
              <a:rPr lang="en-AU" sz="4000" dirty="0">
                <a:latin typeface="Arial" panose="020B0604020202020204" pitchFamily="34" charset="0"/>
                <a:ea typeface="Calibri" panose="020F0502020204030204" pitchFamily="34" charset="0"/>
                <a:cs typeface="Times New Roman" panose="02020603050405020304" pitchFamily="18" charset="0"/>
              </a:rPr>
              <a:t>.</a:t>
            </a:r>
            <a:endParaRPr lang="en-AU" sz="40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descr="3 analog clocks with the following times:&#10;A: long hand pointed to the minute mark after the 5 and short hand between the 9 and 10.&#10;B: long hand pointed to the 3rd minute mark after the 10 and short hand just before the 3.&#10;C long hand pointed to the 4th minute mark after the 6 and short hand between the 11 and 12.">
            <a:extLst>
              <a:ext uri="{FF2B5EF4-FFF2-40B4-BE49-F238E27FC236}">
                <a16:creationId xmlns:a16="http://schemas.microsoft.com/office/drawing/2014/main" id="{B7A4DA94-92BE-65B9-0FFD-CC47387498B6}"/>
              </a:ext>
            </a:extLst>
          </p:cNvPr>
          <p:cNvPicPr>
            <a:picLocks noChangeAspect="1"/>
          </p:cNvPicPr>
          <p:nvPr/>
        </p:nvPicPr>
        <p:blipFill>
          <a:blip r:embed="rId4"/>
          <a:stretch>
            <a:fillRect/>
          </a:stretch>
        </p:blipFill>
        <p:spPr>
          <a:xfrm>
            <a:off x="1874603" y="3873740"/>
            <a:ext cx="8560240" cy="2540131"/>
          </a:xfrm>
          <a:prstGeom prst="rect">
            <a:avLst/>
          </a:prstGeom>
        </p:spPr>
      </p:pic>
      <p:sp>
        <p:nvSpPr>
          <p:cNvPr id="19" name="TextBox 18">
            <a:extLst>
              <a:ext uri="{FF2B5EF4-FFF2-40B4-BE49-F238E27FC236}">
                <a16:creationId xmlns:a16="http://schemas.microsoft.com/office/drawing/2014/main" id="{AF94D703-95CC-8D6A-AC7F-E63A65207A81}"/>
              </a:ext>
              <a:ext uri="{C183D7F6-B498-43B3-948B-1728B52AA6E4}">
                <adec:decorative xmlns:adec="http://schemas.microsoft.com/office/drawing/2017/decorative" val="1"/>
              </a:ext>
            </a:extLst>
          </p:cNvPr>
          <p:cNvSpPr txBox="1"/>
          <p:nvPr/>
        </p:nvSpPr>
        <p:spPr>
          <a:xfrm>
            <a:off x="2995670" y="3385081"/>
            <a:ext cx="595222" cy="612476"/>
          </a:xfrm>
          <a:prstGeom prst="rect">
            <a:avLst/>
          </a:prstGeom>
          <a:noFill/>
        </p:spPr>
        <p:txBody>
          <a:bodyPr wrap="square" lIns="0" tIns="0" rIns="0" bIns="0" rtlCol="0">
            <a:noAutofit/>
          </a:bodyPr>
          <a:lstStyle/>
          <a:p>
            <a:pPr algn="l"/>
            <a:r>
              <a:rPr lang="en-AU" sz="3200" b="1">
                <a:solidFill>
                  <a:schemeClr val="accent2"/>
                </a:solidFill>
              </a:rPr>
              <a:t>A</a:t>
            </a:r>
          </a:p>
        </p:txBody>
      </p:sp>
      <p:sp>
        <p:nvSpPr>
          <p:cNvPr id="20" name="TextBox 19">
            <a:extLst>
              <a:ext uri="{FF2B5EF4-FFF2-40B4-BE49-F238E27FC236}">
                <a16:creationId xmlns:a16="http://schemas.microsoft.com/office/drawing/2014/main" id="{420700AC-CE3B-6E51-4FBA-16FF71035AD9}"/>
              </a:ext>
              <a:ext uri="{C183D7F6-B498-43B3-948B-1728B52AA6E4}">
                <adec:decorative xmlns:adec="http://schemas.microsoft.com/office/drawing/2017/decorative" val="1"/>
              </a:ext>
            </a:extLst>
          </p:cNvPr>
          <p:cNvSpPr txBox="1"/>
          <p:nvPr/>
        </p:nvSpPr>
        <p:spPr>
          <a:xfrm>
            <a:off x="6018849" y="3369515"/>
            <a:ext cx="595222" cy="612476"/>
          </a:xfrm>
          <a:prstGeom prst="rect">
            <a:avLst/>
          </a:prstGeom>
          <a:noFill/>
        </p:spPr>
        <p:txBody>
          <a:bodyPr wrap="square" lIns="0" tIns="0" rIns="0" bIns="0" rtlCol="0">
            <a:noAutofit/>
          </a:bodyPr>
          <a:lstStyle/>
          <a:p>
            <a:pPr algn="l"/>
            <a:r>
              <a:rPr lang="en-AU" sz="3200" b="1">
                <a:solidFill>
                  <a:schemeClr val="accent2"/>
                </a:solidFill>
              </a:rPr>
              <a:t>B</a:t>
            </a:r>
          </a:p>
        </p:txBody>
      </p:sp>
      <p:sp>
        <p:nvSpPr>
          <p:cNvPr id="8" name="TextBox 7">
            <a:extLst>
              <a:ext uri="{FF2B5EF4-FFF2-40B4-BE49-F238E27FC236}">
                <a16:creationId xmlns:a16="http://schemas.microsoft.com/office/drawing/2014/main" id="{BBA80927-A535-DE6A-B27E-1E2D908547D3}"/>
              </a:ext>
              <a:ext uri="{C183D7F6-B498-43B3-948B-1728B52AA6E4}">
                <adec:decorative xmlns:adec="http://schemas.microsoft.com/office/drawing/2017/decorative" val="1"/>
              </a:ext>
            </a:extLst>
          </p:cNvPr>
          <p:cNvSpPr txBox="1"/>
          <p:nvPr/>
        </p:nvSpPr>
        <p:spPr>
          <a:xfrm>
            <a:off x="9042027" y="3382301"/>
            <a:ext cx="595222" cy="612476"/>
          </a:xfrm>
          <a:prstGeom prst="rect">
            <a:avLst/>
          </a:prstGeom>
          <a:noFill/>
        </p:spPr>
        <p:txBody>
          <a:bodyPr wrap="square" lIns="0" tIns="0" rIns="0" bIns="0" rtlCol="0">
            <a:noAutofit/>
          </a:bodyPr>
          <a:lstStyle/>
          <a:p>
            <a:pPr algn="l"/>
            <a:r>
              <a:rPr lang="en-AU" sz="3200" b="1">
                <a:solidFill>
                  <a:schemeClr val="accent2"/>
                </a:solidFill>
              </a:rPr>
              <a:t>C</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7" name="TextBox 6">
            <a:extLst>
              <a:ext uri="{FF2B5EF4-FFF2-40B4-BE49-F238E27FC236}">
                <a16:creationId xmlns:a16="http://schemas.microsoft.com/office/drawing/2014/main" id="{28A2C62F-5DEC-B8DC-5583-00960AD40F47}"/>
              </a:ext>
            </a:extLst>
          </p:cNvPr>
          <p:cNvSpPr txBox="1"/>
          <p:nvPr/>
        </p:nvSpPr>
        <p:spPr>
          <a:xfrm>
            <a:off x="1524000" y="1766582"/>
            <a:ext cx="9203268" cy="1998176"/>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How many </a:t>
            </a:r>
            <a:r>
              <a:rPr lang="en-AU" sz="4400" b="1">
                <a:effectLst/>
                <a:latin typeface="Arial" panose="020B0604020202020204" pitchFamily="34" charset="0"/>
                <a:ea typeface="Calibri" panose="020F0502020204030204" pitchFamily="34" charset="0"/>
              </a:rPr>
              <a:t>250 millilitre cups </a:t>
            </a:r>
            <a:r>
              <a:rPr lang="en-AU" sz="4400">
                <a:effectLst/>
                <a:latin typeface="Arial" panose="020B0604020202020204" pitchFamily="34" charset="0"/>
                <a:ea typeface="Calibri" panose="020F0502020204030204" pitchFamily="34" charset="0"/>
              </a:rPr>
              <a:t>would it take to fill a </a:t>
            </a:r>
            <a:r>
              <a:rPr lang="en-AU" sz="4400" b="1">
                <a:effectLst/>
                <a:latin typeface="Arial" panose="020B0604020202020204" pitchFamily="34" charset="0"/>
                <a:ea typeface="Calibri" panose="020F0502020204030204" pitchFamily="34" charset="0"/>
              </a:rPr>
              <a:t>one-litre jug</a:t>
            </a:r>
            <a:r>
              <a:rPr lang="en-AU" sz="4400">
                <a:effectLst/>
                <a:latin typeface="Arial" panose="020B0604020202020204" pitchFamily="34" charset="0"/>
                <a:ea typeface="Calibri" panose="020F0502020204030204" pitchFamily="34" charset="0"/>
              </a:rPr>
              <a:t>?</a:t>
            </a:r>
            <a:endParaRPr lang="en-AU" sz="4400"/>
          </a:p>
        </p:txBody>
      </p:sp>
      <p:sp>
        <p:nvSpPr>
          <p:cNvPr id="8" name="TextBox 7">
            <a:extLst>
              <a:ext uri="{FF2B5EF4-FFF2-40B4-BE49-F238E27FC236}">
                <a16:creationId xmlns:a16="http://schemas.microsoft.com/office/drawing/2014/main" id="{12FE3B2E-94E1-6BBE-08BD-80D2024CEDA5}"/>
              </a:ext>
            </a:extLst>
          </p:cNvPr>
          <p:cNvSpPr txBox="1"/>
          <p:nvPr/>
        </p:nvSpPr>
        <p:spPr>
          <a:xfrm>
            <a:off x="182435" y="4720170"/>
            <a:ext cx="11301565" cy="982513"/>
          </a:xfrm>
          <a:prstGeom prst="rect">
            <a:avLst/>
          </a:prstGeom>
          <a:noFill/>
        </p:spPr>
        <p:txBody>
          <a:bodyPr wrap="square">
            <a:spAutoFit/>
          </a:bodyPr>
          <a:lstStyle/>
          <a:p>
            <a:pPr lvl="0" algn="ctr">
              <a:lnSpc>
                <a:spcPct val="150000"/>
              </a:lnSpc>
              <a:spcBef>
                <a:spcPts val="1200"/>
              </a:spcBef>
              <a:spcAft>
                <a:spcPts val="600"/>
              </a:spcAft>
            </a:pPr>
            <a:r>
              <a:rPr lang="en-AU" sz="4400" b="1">
                <a:latin typeface="Arial" panose="020B0604020202020204" pitchFamily="34" charset="0"/>
                <a:ea typeface="Calibri" panose="020F0502020204030204" pitchFamily="34" charset="0"/>
                <a:cs typeface="Times New Roman" panose="02020603050405020304" pitchFamily="18" charset="0"/>
              </a:rPr>
              <a:t>Communicate</a:t>
            </a:r>
            <a:r>
              <a:rPr lang="en-AU" sz="4400">
                <a:latin typeface="Arial" panose="020B0604020202020204" pitchFamily="34" charset="0"/>
                <a:ea typeface="Calibri" panose="020F0502020204030204" pitchFamily="34" charset="0"/>
                <a:cs typeface="Times New Roman" panose="02020603050405020304" pitchFamily="18" charset="0"/>
              </a:rPr>
              <a:t> your </a:t>
            </a:r>
            <a:r>
              <a:rPr lang="en-AU" sz="4400" b="1">
                <a:latin typeface="Arial" panose="020B0604020202020204" pitchFamily="34" charset="0"/>
                <a:ea typeface="Calibri" panose="020F0502020204030204" pitchFamily="34" charset="0"/>
                <a:cs typeface="Times New Roman" panose="02020603050405020304" pitchFamily="18" charset="0"/>
              </a:rPr>
              <a:t>reasoning.</a:t>
            </a:r>
            <a:endParaRPr lang="en-AU" sz="4400" b="1">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dirty="0">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
        <p:nvSpPr>
          <p:cNvPr id="7" name="TextBox 6">
            <a:extLst>
              <a:ext uri="{FF2B5EF4-FFF2-40B4-BE49-F238E27FC236}">
                <a16:creationId xmlns:a16="http://schemas.microsoft.com/office/drawing/2014/main" id="{4B884EF2-F013-8CC0-565A-62E323C506D8}"/>
              </a:ext>
            </a:extLst>
          </p:cNvPr>
          <p:cNvSpPr txBox="1"/>
          <p:nvPr/>
        </p:nvSpPr>
        <p:spPr>
          <a:xfrm>
            <a:off x="154752" y="1403642"/>
            <a:ext cx="5777342" cy="5045164"/>
          </a:xfrm>
          <a:prstGeom prst="rect">
            <a:avLst/>
          </a:prstGeom>
          <a:noFill/>
        </p:spPr>
        <p:txBody>
          <a:bodyPr wrap="square">
            <a:spAutoFit/>
          </a:bodyPr>
          <a:lstStyle/>
          <a:p>
            <a:pPr algn="ctr">
              <a:lnSpc>
                <a:spcPct val="150000"/>
              </a:lnSpc>
            </a:pPr>
            <a:r>
              <a:rPr lang="en-AU" sz="4400">
                <a:latin typeface="Arial" panose="020B0604020202020204" pitchFamily="34" charset="0"/>
                <a:ea typeface="Calibri" panose="020F0502020204030204" pitchFamily="34" charset="0"/>
              </a:rPr>
              <a:t>Record a </a:t>
            </a:r>
            <a:r>
              <a:rPr lang="en-AU" sz="4400" b="1">
                <a:latin typeface="Arial" panose="020B0604020202020204" pitchFamily="34" charset="0"/>
                <a:ea typeface="Calibri" panose="020F0502020204030204" pitchFamily="34" charset="0"/>
              </a:rPr>
              <a:t>sentence</a:t>
            </a:r>
            <a:r>
              <a:rPr lang="en-AU" sz="4400">
                <a:latin typeface="Arial" panose="020B0604020202020204" pitchFamily="34" charset="0"/>
                <a:ea typeface="Calibri" panose="020F0502020204030204" pitchFamily="34" charset="0"/>
              </a:rPr>
              <a:t> to </a:t>
            </a:r>
            <a:r>
              <a:rPr lang="en-AU" sz="4400" b="1">
                <a:latin typeface="Arial" panose="020B0604020202020204" pitchFamily="34" charset="0"/>
                <a:ea typeface="Calibri" panose="020F0502020204030204" pitchFamily="34" charset="0"/>
              </a:rPr>
              <a:t>answer</a:t>
            </a:r>
            <a:r>
              <a:rPr lang="en-AU" sz="4400">
                <a:latin typeface="Arial" panose="020B0604020202020204" pitchFamily="34" charset="0"/>
                <a:ea typeface="Calibri" panose="020F0502020204030204" pitchFamily="34" charset="0"/>
              </a:rPr>
              <a:t> the question: </a:t>
            </a:r>
          </a:p>
          <a:p>
            <a:pPr algn="ctr">
              <a:lnSpc>
                <a:spcPct val="150000"/>
              </a:lnSpc>
            </a:pPr>
            <a:r>
              <a:rPr lang="en-AU" sz="4400">
                <a:latin typeface="Arial" panose="020B0604020202020204" pitchFamily="34" charset="0"/>
                <a:ea typeface="Calibri" panose="020F0502020204030204" pitchFamily="34" charset="0"/>
              </a:rPr>
              <a:t>How do most students travel to school most days?  </a:t>
            </a:r>
          </a:p>
        </p:txBody>
      </p:sp>
      <p:pic>
        <p:nvPicPr>
          <p:cNvPr id="14" name="Picture 13" descr="A tally table with the title: 'How do students travel to school most days?' The table shows the mode of transport and tally marks.&#10;A. Car is 4 lines and a diagonal across them, 4 lines and a diagonal across them, 2 more lines.&#10;B. bike is 3 lines&#10;C. walk is 4 lines&#10;D. public transport is 4 lines and a diagonal across them and 3 more lines.">
            <a:extLst>
              <a:ext uri="{FF2B5EF4-FFF2-40B4-BE49-F238E27FC236}">
                <a16:creationId xmlns:a16="http://schemas.microsoft.com/office/drawing/2014/main" id="{64B69569-DB30-6AB4-C749-5408071BC338}"/>
              </a:ext>
            </a:extLst>
          </p:cNvPr>
          <p:cNvPicPr>
            <a:picLocks noChangeAspect="1"/>
          </p:cNvPicPr>
          <p:nvPr/>
        </p:nvPicPr>
        <p:blipFill>
          <a:blip r:embed="rId4"/>
          <a:stretch>
            <a:fillRect/>
          </a:stretch>
        </p:blipFill>
        <p:spPr>
          <a:xfrm>
            <a:off x="6259908" y="1868749"/>
            <a:ext cx="5584093" cy="34673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describing decreasing number patterns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
        <p:nvSpPr>
          <p:cNvPr id="3" name="Rectangle 2">
            <a:extLst>
              <a:ext uri="{FF2B5EF4-FFF2-40B4-BE49-F238E27FC236}">
                <a16:creationId xmlns:a16="http://schemas.microsoft.com/office/drawing/2014/main" id="{C25AFF40-6163-6CC6-E6D2-35A1CDA8003D}"/>
              </a:ext>
            </a:extLst>
          </p:cNvPr>
          <p:cNvSpPr/>
          <p:nvPr/>
        </p:nvSpPr>
        <p:spPr>
          <a:xfrm>
            <a:off x="1845276" y="1968392"/>
            <a:ext cx="8712200" cy="13631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tx1"/>
                </a:solidFill>
                <a:effectLst/>
                <a:latin typeface="Edu NSW ACT Foundation" panose="020B0604020202020204" charset="0"/>
                <a:ea typeface="Calibri" panose="020F0502020204030204" pitchFamily="34" charset="0"/>
              </a:rPr>
              <a:t>85, 80, 75, 70, 65…</a:t>
            </a:r>
            <a:endParaRPr lang="en-AU" sz="7200">
              <a:solidFill>
                <a:schemeClr val="tx1"/>
              </a:solidFill>
              <a:latin typeface="Edu NSW ACT Foundation" panose="020B0604020202020204" charset="0"/>
            </a:endParaRP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F8BFB-3632-CFED-1149-E130CEF3B7B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677920E-E7AC-4A90-0CA8-F30E8C6B5D21}"/>
              </a:ext>
            </a:extLst>
          </p:cNvPr>
          <p:cNvSpPr>
            <a:spLocks noGrp="1"/>
          </p:cNvSpPr>
          <p:nvPr>
            <p:ph type="title"/>
          </p:nvPr>
        </p:nvSpPr>
        <p:spPr>
          <a:xfrm>
            <a:off x="360000" y="360000"/>
            <a:ext cx="10367268" cy="545601"/>
          </a:xfrm>
        </p:spPr>
        <p:txBody>
          <a:bodyPr/>
          <a:lstStyle/>
          <a:p>
            <a:r>
              <a:rPr lang="en-AU"/>
              <a:t>Activity 8 – describing decreasing number patterns </a:t>
            </a:r>
            <a:r>
              <a:rPr lang="en-AU" dirty="0">
                <a:solidFill>
                  <a:schemeClr val="bg1"/>
                </a:solidFill>
              </a:rPr>
              <a:t>(2)</a:t>
            </a:r>
          </a:p>
        </p:txBody>
      </p:sp>
      <p:pic>
        <p:nvPicPr>
          <p:cNvPr id="4" name="Picture 3">
            <a:extLst>
              <a:ext uri="{FF2B5EF4-FFF2-40B4-BE49-F238E27FC236}">
                <a16:creationId xmlns:a16="http://schemas.microsoft.com/office/drawing/2014/main" id="{77A4656D-3D45-ACA1-F3E0-2272ACC7152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4B150806-F980-CADA-5199-E249B2AED8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
        <p:nvSpPr>
          <p:cNvPr id="3" name="Rectangle 2">
            <a:extLst>
              <a:ext uri="{FF2B5EF4-FFF2-40B4-BE49-F238E27FC236}">
                <a16:creationId xmlns:a16="http://schemas.microsoft.com/office/drawing/2014/main" id="{6CB090E0-8400-86B4-9E27-C3DB19F6F9F8}"/>
              </a:ext>
            </a:extLst>
          </p:cNvPr>
          <p:cNvSpPr/>
          <p:nvPr/>
        </p:nvSpPr>
        <p:spPr>
          <a:xfrm>
            <a:off x="1817844" y="1986680"/>
            <a:ext cx="8712200" cy="13631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6000">
                <a:solidFill>
                  <a:schemeClr val="tx1"/>
                </a:solidFill>
                <a:effectLst/>
                <a:latin typeface="Edu NSW ACT Foundation" panose="020B0604020202020204" charset="0"/>
                <a:ea typeface="Calibri" panose="020F0502020204030204" pitchFamily="34" charset="0"/>
              </a:rPr>
              <a:t>87, 82, 77, 72, 67…</a:t>
            </a:r>
            <a:endParaRPr lang="en-AU" sz="7200">
              <a:solidFill>
                <a:schemeClr val="tx1"/>
              </a:solidFill>
              <a:latin typeface="Edu NSW ACT Foundation" panose="020B0604020202020204" charset="0"/>
            </a:endParaRPr>
          </a:p>
        </p:txBody>
      </p:sp>
    </p:spTree>
    <p:extLst>
      <p:ext uri="{BB962C8B-B14F-4D97-AF65-F5344CB8AC3E}">
        <p14:creationId xmlns:p14="http://schemas.microsoft.com/office/powerpoint/2010/main" val="264788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322A-00FC-5EA3-4A3D-09CA518B1E1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B52C63-6F29-C896-E523-6C7946F27046}"/>
              </a:ext>
            </a:extLst>
          </p:cNvPr>
          <p:cNvSpPr>
            <a:spLocks noGrp="1"/>
          </p:cNvSpPr>
          <p:nvPr>
            <p:ph type="title"/>
          </p:nvPr>
        </p:nvSpPr>
        <p:spPr>
          <a:xfrm>
            <a:off x="360000" y="360000"/>
            <a:ext cx="10367268" cy="545601"/>
          </a:xfrm>
        </p:spPr>
        <p:txBody>
          <a:bodyPr/>
          <a:lstStyle/>
          <a:p>
            <a:r>
              <a:rPr lang="en-AU"/>
              <a:t>Activity 8 – describing decreasing number patterns </a:t>
            </a:r>
            <a:r>
              <a:rPr lang="en-AU" dirty="0">
                <a:solidFill>
                  <a:schemeClr val="bg1"/>
                </a:solidFill>
              </a:rPr>
              <a:t>(3)</a:t>
            </a:r>
          </a:p>
        </p:txBody>
      </p:sp>
      <p:pic>
        <p:nvPicPr>
          <p:cNvPr id="4" name="Picture 3">
            <a:extLst>
              <a:ext uri="{FF2B5EF4-FFF2-40B4-BE49-F238E27FC236}">
                <a16:creationId xmlns:a16="http://schemas.microsoft.com/office/drawing/2014/main" id="{B7EFF8CF-1844-6B4C-C82B-E3F3082613B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D162D134-AB60-F65F-FE63-BE8A14D252D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
        <p:nvSpPr>
          <p:cNvPr id="7" name="TextBox 6">
            <a:extLst>
              <a:ext uri="{FF2B5EF4-FFF2-40B4-BE49-F238E27FC236}">
                <a16:creationId xmlns:a16="http://schemas.microsoft.com/office/drawing/2014/main" id="{20FB7FB0-05DB-8BD6-6F38-FE3F8FEE2120}"/>
              </a:ext>
            </a:extLst>
          </p:cNvPr>
          <p:cNvSpPr txBox="1"/>
          <p:nvPr/>
        </p:nvSpPr>
        <p:spPr>
          <a:xfrm>
            <a:off x="2373286" y="1505131"/>
            <a:ext cx="10017561" cy="4029501"/>
          </a:xfrm>
          <a:prstGeom prst="rect">
            <a:avLst/>
          </a:prstGeom>
          <a:noFill/>
        </p:spPr>
        <p:txBody>
          <a:bodyPr wrap="square" lIns="91440" tIns="45720" rIns="91440" bIns="45720" anchor="t">
            <a:spAutoFit/>
          </a:bodyPr>
          <a:lstStyle/>
          <a:p>
            <a:pPr marL="571500" lvl="0" indent="-571500">
              <a:lnSpc>
                <a:spcPct val="150000"/>
              </a:lnSpc>
              <a:buFont typeface="Arial" panose="020B0604020202020204" pitchFamily="34" charset="0"/>
              <a:buChar char="•"/>
            </a:pPr>
            <a:r>
              <a:rPr lang="en-AU" sz="4400"/>
              <a:t>38, 34, 30, 26, 22… </a:t>
            </a:r>
          </a:p>
          <a:p>
            <a:pPr marL="571500" lvl="0" indent="-571500">
              <a:lnSpc>
                <a:spcPct val="150000"/>
              </a:lnSpc>
              <a:buFont typeface="Arial" panose="020B0604020202020204" pitchFamily="34" charset="0"/>
              <a:buChar char="•"/>
            </a:pPr>
            <a:r>
              <a:rPr lang="en-AU" sz="4400"/>
              <a:t>111, 106, 101, 96, 91… </a:t>
            </a:r>
          </a:p>
          <a:p>
            <a:pPr marL="571500" lvl="0" indent="-571500">
              <a:lnSpc>
                <a:spcPct val="150000"/>
              </a:lnSpc>
              <a:buFont typeface="Arial" panose="020B0604020202020204" pitchFamily="34" charset="0"/>
              <a:buChar char="•"/>
            </a:pPr>
            <a:r>
              <a:rPr lang="en-AU" sz="4400"/>
              <a:t>176, 166, 156, 146, 136… </a:t>
            </a:r>
          </a:p>
          <a:p>
            <a:pPr marL="571500" indent="-571500">
              <a:lnSpc>
                <a:spcPct val="150000"/>
              </a:lnSpc>
              <a:buFont typeface="Arial" panose="020B0604020202020204" pitchFamily="34" charset="0"/>
              <a:buChar char="•"/>
            </a:pPr>
            <a:r>
              <a:rPr lang="en-AU" sz="4400"/>
              <a:t>31, 27, 23, 19, 15…</a:t>
            </a:r>
            <a:endParaRPr lang="en-AU" sz="4400">
              <a:effectLst/>
              <a:latin typeface="Edu NSW ACT Foundation"/>
              <a:ea typeface="Calibri"/>
            </a:endParaRPr>
          </a:p>
        </p:txBody>
      </p:sp>
    </p:spTree>
    <p:extLst>
      <p:ext uri="{BB962C8B-B14F-4D97-AF65-F5344CB8AC3E}">
        <p14:creationId xmlns:p14="http://schemas.microsoft.com/office/powerpoint/2010/main" val="64075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a:xfrm>
            <a:off x="360000" y="407135"/>
            <a:ext cx="11484000" cy="545601"/>
          </a:xfrm>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65</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66</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70</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71</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dirty="0">
                <a:cs typeface="Arial"/>
                <a:hlinkClick r:id="rId6"/>
              </a:rPr>
              <a:t>Mathematics K–10 Syllabus </a:t>
            </a:r>
            <a:r>
              <a:rPr lang="en-AU" dirty="0">
                <a:cs typeface="Arial"/>
              </a:rPr>
              <a:t>© NSW Education Standards Authority (NESA) for and on behalf of the Crown in right of the State of New South Wales, 2022.</a:t>
            </a:r>
          </a:p>
          <a:p>
            <a:r>
              <a:rPr lang="en-AU" dirty="0">
                <a:cs typeface="Arial"/>
                <a:hlinkClick r:id="rId7"/>
              </a:rPr>
              <a:t>National Numeracy Learning Progression </a:t>
            </a:r>
            <a:r>
              <a:rPr lang="en-AU" dirty="0">
                <a:cs typeface="Arial"/>
              </a:rPr>
              <a:t>© Australian Curriculum, Assessment and Reporting Authority (ACARA) 2010 to present, unless otherwise indicated. This material was downloaded from the </a:t>
            </a:r>
            <a:r>
              <a:rPr lang="en-AU" dirty="0">
                <a:cs typeface="Arial"/>
                <a:hlinkClick r:id="rId8"/>
              </a:rPr>
              <a:t>Australian Curriculum </a:t>
            </a:r>
            <a:r>
              <a:rPr lang="en-AU" dirty="0">
                <a:cs typeface="Arial"/>
              </a:rPr>
              <a:t>website (National Numeracy Learning Progression) (accessed 8 December 2025) and was not modified.</a:t>
            </a:r>
          </a:p>
          <a:p>
            <a:r>
              <a:rPr lang="en-AU" dirty="0">
                <a:cs typeface="Arial"/>
              </a:rPr>
              <a:t>Amplify Education Inc, (2024) ‘</a:t>
            </a:r>
            <a:r>
              <a:rPr lang="en-AU" dirty="0" err="1">
                <a:cs typeface="Arial"/>
              </a:rPr>
              <a:t>Polypad</a:t>
            </a:r>
            <a:r>
              <a:rPr lang="en-AU" dirty="0">
                <a:cs typeface="Arial"/>
              </a:rPr>
              <a:t> – number tiles’, Amplify </a:t>
            </a:r>
            <a:r>
              <a:rPr lang="en-AU" dirty="0" err="1">
                <a:cs typeface="Arial"/>
              </a:rPr>
              <a:t>Polypad</a:t>
            </a:r>
            <a:r>
              <a:rPr lang="en-AU" dirty="0">
                <a:cs typeface="Arial"/>
              </a:rPr>
              <a:t> website, accessed 8 December 2025.</a:t>
            </a:r>
          </a:p>
          <a:p>
            <a:r>
              <a:rPr lang="en-AU" dirty="0">
                <a:cs typeface="Arial"/>
              </a:rPr>
              <a:t>Sayre AP and Sayre J (2010) One Is a Snail, Ten Is a Crab: A Counting by Feet Book (Cecil R </a:t>
            </a:r>
            <a:r>
              <a:rPr lang="en-AU" dirty="0" err="1">
                <a:cs typeface="Arial"/>
              </a:rPr>
              <a:t>illus</a:t>
            </a:r>
            <a:r>
              <a:rPr lang="en-AU" dirty="0">
                <a:cs typeface="Arial"/>
              </a:rPr>
              <a:t>), Candlewick Press, United States.</a:t>
            </a:r>
          </a:p>
          <a:p>
            <a:r>
              <a:rPr lang="en-AU" dirty="0">
                <a:cs typeface="Arial"/>
              </a:rPr>
              <a:t>Siemon D, Warren E, Beswick K, Faragher R, Miller J, Horne M, </a:t>
            </a:r>
            <a:r>
              <a:rPr lang="en-AU" dirty="0" err="1">
                <a:cs typeface="Arial"/>
              </a:rPr>
              <a:t>Jazby</a:t>
            </a:r>
            <a:r>
              <a:rPr lang="en-AU" dirty="0">
                <a:cs typeface="Arial"/>
              </a:rPr>
              <a:t> D, Breed M, Clark J and Brady K (2020) Teaching Mathematics: Foundations to Middle Years, 3rd </a:t>
            </a:r>
            <a:r>
              <a:rPr lang="en-AU" dirty="0" err="1">
                <a:cs typeface="Arial"/>
              </a:rPr>
              <a:t>edn</a:t>
            </a:r>
            <a:r>
              <a:rPr lang="en-AU" dirty="0">
                <a:cs typeface="Arial"/>
              </a:rPr>
              <a:t>, Oxford University Press Australia and New Zealand. </a:t>
            </a:r>
            <a:endParaRPr lang="en-US"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72</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A3222-2546-C342-579C-C86FF9252D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CF7326-1154-D6C1-9718-A22B5E15199F}"/>
              </a:ext>
            </a:extLst>
          </p:cNvPr>
          <p:cNvSpPr>
            <a:spLocks noGrp="1"/>
          </p:cNvSpPr>
          <p:nvPr>
            <p:ph type="title"/>
          </p:nvPr>
        </p:nvSpPr>
        <p:spPr/>
        <p:txBody>
          <a:bodyPr/>
          <a:lstStyle/>
          <a:p>
            <a:r>
              <a:rPr lang="en-AU" dirty="0">
                <a:latin typeface="+mj-lt"/>
              </a:rPr>
              <a:t>References </a:t>
            </a:r>
            <a:r>
              <a:rPr lang="en-AU" dirty="0">
                <a:solidFill>
                  <a:schemeClr val="accent4"/>
                </a:solidFill>
                <a:latin typeface="+mj-lt"/>
              </a:rPr>
              <a:t>(2)</a:t>
            </a:r>
          </a:p>
        </p:txBody>
      </p:sp>
      <p:sp>
        <p:nvSpPr>
          <p:cNvPr id="6" name="TextBox 5">
            <a:extLst>
              <a:ext uri="{FF2B5EF4-FFF2-40B4-BE49-F238E27FC236}">
                <a16:creationId xmlns:a16="http://schemas.microsoft.com/office/drawing/2014/main" id="{E99A89F5-03CD-7ED7-2252-AB08F52B4389}"/>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A5A2BE42-C71B-8680-8ECE-FC820A4B1F5F}"/>
              </a:ext>
            </a:extLst>
          </p:cNvPr>
          <p:cNvSpPr>
            <a:spLocks noGrp="1"/>
          </p:cNvSpPr>
          <p:nvPr>
            <p:ph idx="1"/>
          </p:nvPr>
        </p:nvSpPr>
        <p:spPr/>
        <p:txBody>
          <a:bodyPr vert="horz" lIns="0" tIns="0" rIns="0" bIns="0" rtlCol="0" anchor="t">
            <a:noAutofit/>
          </a:bodyPr>
          <a:lstStyle/>
          <a:p>
            <a:r>
              <a:rPr lang="en-AU" dirty="0">
                <a:cs typeface="Arial"/>
              </a:rPr>
              <a:t>Toy Theatre (2022) ‘120 chart’, Virtual Manipulatives, Toy Theatre website, accessed 8 December 2025.</a:t>
            </a:r>
          </a:p>
          <a:p>
            <a:r>
              <a:rPr lang="en-AU" dirty="0">
                <a:cs typeface="Arial"/>
              </a:rPr>
              <a:t>University of Cambridge (</a:t>
            </a:r>
            <a:r>
              <a:rPr lang="en-AU" dirty="0" err="1">
                <a:cs typeface="Arial"/>
              </a:rPr>
              <a:t>n.d</a:t>
            </a:r>
            <a:r>
              <a:rPr lang="en-AU" dirty="0">
                <a:cs typeface="Arial"/>
              </a:rPr>
              <a:t>) ‘Round the four dice’ NRICH website, accessed 8 December 2025.</a:t>
            </a:r>
          </a:p>
          <a:p>
            <a:r>
              <a:rPr lang="en-AU" dirty="0">
                <a:cs typeface="Arial"/>
              </a:rPr>
              <a:t>University of Cambridge (</a:t>
            </a:r>
            <a:r>
              <a:rPr lang="en-AU" dirty="0" err="1">
                <a:cs typeface="Arial"/>
              </a:rPr>
              <a:t>n.d</a:t>
            </a:r>
            <a:r>
              <a:rPr lang="en-AU" dirty="0">
                <a:cs typeface="Arial"/>
              </a:rPr>
              <a:t>) ‘The </a:t>
            </a:r>
            <a:r>
              <a:rPr lang="en-AU" dirty="0" err="1">
                <a:cs typeface="Arial"/>
              </a:rPr>
              <a:t>deca</a:t>
            </a:r>
            <a:r>
              <a:rPr lang="en-AU" dirty="0">
                <a:cs typeface="Arial"/>
              </a:rPr>
              <a:t> tree’, NRICH website, accessed 8 December 2025. </a:t>
            </a:r>
          </a:p>
        </p:txBody>
      </p:sp>
      <p:sp>
        <p:nvSpPr>
          <p:cNvPr id="2" name="Slide Number Placeholder 1">
            <a:extLst>
              <a:ext uri="{FF2B5EF4-FFF2-40B4-BE49-F238E27FC236}">
                <a16:creationId xmlns:a16="http://schemas.microsoft.com/office/drawing/2014/main" id="{F01CD03A-11F1-9017-BA06-CC1EB4E9DE0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73</a:t>
            </a:fld>
            <a:endParaRPr lang="en-AU"/>
          </a:p>
        </p:txBody>
      </p:sp>
    </p:spTree>
    <p:extLst>
      <p:ext uri="{BB962C8B-B14F-4D97-AF65-F5344CB8AC3E}">
        <p14:creationId xmlns:p14="http://schemas.microsoft.com/office/powerpoint/2010/main" val="1500284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AF9AC006-9F5A-45D5-BEC9-49ED0E57E382}"/>
</file>

<file path=customXml/itemProps3.xml><?xml version="1.0" encoding="utf-8"?>
<ds:datastoreItem xmlns:ds="http://schemas.openxmlformats.org/officeDocument/2006/customXml" ds:itemID="{CE555570-2BD4-426B-AA32-0A79CB6508A8}">
  <ds:schemaRefs>
    <ds:schemaRef ds:uri="http://purl.org/dc/terms/"/>
    <ds:schemaRef ds:uri="http://www.w3.org/XML/1998/namespace"/>
    <ds:schemaRef ds:uri="http://schemas.microsoft.com/office/2006/metadata/properties"/>
    <ds:schemaRef ds:uri="http://schemas.openxmlformats.org/package/2006/metadata/core-properties"/>
    <ds:schemaRef ds:uri="http://purl.org/dc/elements/1.1/"/>
    <ds:schemaRef ds:uri="60129b06-f64b-40a8-96e2-c5b2f86112b1"/>
    <ds:schemaRef ds:uri="http://schemas.microsoft.com/office/2006/documentManagement/types"/>
    <ds:schemaRef ds:uri="http://schemas.microsoft.com/office/infopath/2007/PartnerControls"/>
    <ds:schemaRef ds:uri="7e763d47-3c66-4c58-9425-1477fd3ccd1e"/>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2662</TotalTime>
  <Words>6957</Words>
  <Application>Microsoft Office PowerPoint</Application>
  <PresentationFormat>Widescreen</PresentationFormat>
  <Paragraphs>928</Paragraphs>
  <Slides>74</Slides>
  <Notes>74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74</vt:i4>
      </vt:variant>
    </vt:vector>
  </HeadingPairs>
  <TitlesOfParts>
    <vt:vector size="86" baseType="lpstr">
      <vt:lpstr>Wingdings</vt:lpstr>
      <vt:lpstr>Calibri</vt:lpstr>
      <vt:lpstr>Edu NSW ACT Foundation</vt:lpstr>
      <vt:lpstr>Arial</vt:lpstr>
      <vt:lpstr>Public Sans</vt:lpstr>
      <vt:lpstr>Public Sans Light</vt:lpstr>
      <vt:lpstr>Montserrat</vt:lpstr>
      <vt:lpstr>Segoe Fluent Icons</vt:lpstr>
      <vt:lpstr>Arial,Sans-Serif</vt:lpstr>
      <vt:lpstr>Times New Roman</vt:lpstr>
      <vt:lpstr>Symbol</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5 times as many (1)</vt:lpstr>
      <vt:lpstr>Activity 1 – 5 times as many (2)</vt:lpstr>
      <vt:lpstr>Review of learning 2</vt:lpstr>
      <vt:lpstr>True or false (1)</vt:lpstr>
      <vt:lpstr>Short response (5)</vt:lpstr>
      <vt:lpstr>Short response (6)</vt:lpstr>
      <vt:lpstr>Short response (7)</vt:lpstr>
      <vt:lpstr>Short response (8)</vt:lpstr>
      <vt:lpstr>Activity 2 – partially covered array</vt:lpstr>
      <vt:lpstr>Review of learning 3</vt:lpstr>
      <vt:lpstr>Multiple choice (2)</vt:lpstr>
      <vt:lpstr>Short response (9)</vt:lpstr>
      <vt:lpstr>Short response (10)</vt:lpstr>
      <vt:lpstr>Short response (11)</vt:lpstr>
      <vt:lpstr>Short response (12)</vt:lpstr>
      <vt:lpstr>Activity 3 – inverse relationship</vt:lpstr>
      <vt:lpstr>Review of learning 4</vt:lpstr>
      <vt:lpstr>True or false (2)</vt:lpstr>
      <vt:lpstr>Short response (13)</vt:lpstr>
      <vt:lpstr>Short response (14)</vt:lpstr>
      <vt:lpstr>Short response (15)</vt:lpstr>
      <vt:lpstr>Short response (16)</vt:lpstr>
      <vt:lpstr>Activity 4 – memory – inverse relationship</vt:lpstr>
      <vt:lpstr>Review of learning 5</vt:lpstr>
      <vt:lpstr>Multiple choice (3)</vt:lpstr>
      <vt:lpstr>Short response (17)</vt:lpstr>
      <vt:lpstr>Short response (18)</vt:lpstr>
      <vt:lpstr>Short response (19)</vt:lpstr>
      <vt:lpstr>Short response (20)</vt:lpstr>
      <vt:lpstr>Activity 5 – continuing a pattern</vt:lpstr>
      <vt:lpstr>Review of learning 6</vt:lpstr>
      <vt:lpstr>True or false (3)</vt:lpstr>
      <vt:lpstr>Short response (21)</vt:lpstr>
      <vt:lpstr>Short response (22)</vt:lpstr>
      <vt:lpstr>Short response (23)</vt:lpstr>
      <vt:lpstr>Short response (24)</vt:lpstr>
      <vt:lpstr>Activity 6 – odd one out of the pattern</vt:lpstr>
      <vt:lpstr>Review of learning 7</vt:lpstr>
      <vt:lpstr>Multiple choice (4)</vt:lpstr>
      <vt:lpstr>Short response (25)</vt:lpstr>
      <vt:lpstr>Short response (26)</vt:lpstr>
      <vt:lpstr>Short response (27)</vt:lpstr>
      <vt:lpstr>Short response (28)</vt:lpstr>
      <vt:lpstr>Activity 7 – describing increasing number patterns</vt:lpstr>
      <vt:lpstr>Activity 7 – describing increasing number patterns (2)</vt:lpstr>
      <vt:lpstr>Activity 7 – describing increasing number patterns (3)</vt:lpstr>
      <vt:lpstr>Review of learning 8</vt:lpstr>
      <vt:lpstr>True or false (4)</vt:lpstr>
      <vt:lpstr>Short response (29)</vt:lpstr>
      <vt:lpstr>Short response (30)</vt:lpstr>
      <vt:lpstr>Short response (31)</vt:lpstr>
      <vt:lpstr>Short response (32)</vt:lpstr>
      <vt:lpstr>Activity 8 – describing decreasing number patterns</vt:lpstr>
      <vt:lpstr>Activity 8 – describing decreasing number patterns (2)</vt:lpstr>
      <vt:lpstr>Activity 8 – describing decreasing number patterns (3)</vt:lpstr>
      <vt:lpstr>Double Venn diagram</vt:lpstr>
      <vt:lpstr>Frayer</vt:lpstr>
      <vt:lpstr>Spider map</vt:lpstr>
      <vt:lpstr>Cline</vt:lpstr>
      <vt:lpstr>Compare and contrast</vt:lpstr>
      <vt:lpstr>Multiple choice (5)</vt:lpstr>
      <vt:lpstr>Multiple choice</vt:lpstr>
      <vt:lpstr>References</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2026-05-03T21:35:10Z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