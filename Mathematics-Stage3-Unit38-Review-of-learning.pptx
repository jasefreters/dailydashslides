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7"/>
  </p:notesMasterIdLst>
  <p:handoutMasterIdLst>
    <p:handoutMasterId r:id="rId78"/>
  </p:handoutMasterIdLst>
  <p:sldIdLst>
    <p:sldId id="365" r:id="rId5"/>
    <p:sldId id="26579" r:id="rId6"/>
    <p:sldId id="26359" r:id="rId7"/>
    <p:sldId id="271" r:id="rId8"/>
    <p:sldId id="26578" r:id="rId9"/>
    <p:sldId id="358" r:id="rId10"/>
    <p:sldId id="26580" r:id="rId11"/>
    <p:sldId id="26581" r:id="rId12"/>
    <p:sldId id="26582" r:id="rId13"/>
    <p:sldId id="26576" r:id="rId14"/>
    <p:sldId id="26583" r:id="rId15"/>
    <p:sldId id="26586" r:id="rId16"/>
    <p:sldId id="26587" r:id="rId17"/>
    <p:sldId id="26588" r:id="rId18"/>
    <p:sldId id="26589" r:id="rId19"/>
    <p:sldId id="26590" r:id="rId20"/>
    <p:sldId id="26591" r:id="rId21"/>
    <p:sldId id="26592" r:id="rId22"/>
    <p:sldId id="26594" r:id="rId23"/>
    <p:sldId id="26596" r:id="rId24"/>
    <p:sldId id="26597" r:id="rId25"/>
    <p:sldId id="26625" r:id="rId26"/>
    <p:sldId id="26599" r:id="rId27"/>
    <p:sldId id="26600" r:id="rId28"/>
    <p:sldId id="26652" r:id="rId29"/>
    <p:sldId id="26601" r:id="rId30"/>
    <p:sldId id="26604" r:id="rId31"/>
    <p:sldId id="26605" r:id="rId32"/>
    <p:sldId id="26606" r:id="rId33"/>
    <p:sldId id="26607" r:id="rId34"/>
    <p:sldId id="26608" r:id="rId35"/>
    <p:sldId id="26609" r:id="rId36"/>
    <p:sldId id="26651" r:id="rId37"/>
    <p:sldId id="26610" r:id="rId38"/>
    <p:sldId id="26611" r:id="rId39"/>
    <p:sldId id="26623" r:id="rId40"/>
    <p:sldId id="26615" r:id="rId41"/>
    <p:sldId id="26616" r:id="rId42"/>
    <p:sldId id="26617" r:id="rId43"/>
    <p:sldId id="26618" r:id="rId44"/>
    <p:sldId id="26619" r:id="rId45"/>
    <p:sldId id="26622" r:id="rId46"/>
    <p:sldId id="26648" r:id="rId47"/>
    <p:sldId id="26624" r:id="rId48"/>
    <p:sldId id="26649" r:id="rId49"/>
    <p:sldId id="26626" r:id="rId50"/>
    <p:sldId id="26627" r:id="rId51"/>
    <p:sldId id="26628" r:id="rId52"/>
    <p:sldId id="26629" r:id="rId53"/>
    <p:sldId id="26632" r:id="rId54"/>
    <p:sldId id="26635" r:id="rId55"/>
    <p:sldId id="26634" r:id="rId56"/>
    <p:sldId id="26644" r:id="rId57"/>
    <p:sldId id="26636" r:id="rId58"/>
    <p:sldId id="26637" r:id="rId59"/>
    <p:sldId id="26640" r:id="rId60"/>
    <p:sldId id="26641" r:id="rId61"/>
    <p:sldId id="26642" r:id="rId62"/>
    <p:sldId id="26643" r:id="rId63"/>
    <p:sldId id="26633" r:id="rId64"/>
    <p:sldId id="26645" r:id="rId65"/>
    <p:sldId id="26393" r:id="rId66"/>
    <p:sldId id="26387" r:id="rId67"/>
    <p:sldId id="26395" r:id="rId68"/>
    <p:sldId id="26391" r:id="rId69"/>
    <p:sldId id="26402" r:id="rId70"/>
    <p:sldId id="26507" r:id="rId71"/>
    <p:sldId id="26510" r:id="rId72"/>
    <p:sldId id="26466" r:id="rId73"/>
    <p:sldId id="360" r:id="rId74"/>
    <p:sldId id="26467" r:id="rId75"/>
    <p:sldId id="361" r:id="rId76"/>
  </p:sldIdLst>
  <p:sldSz cx="12192000" cy="6858000"/>
  <p:notesSz cx="6858000" cy="9144000"/>
  <p:embeddedFontLst>
    <p:embeddedFont>
      <p:font typeface="Cambria Math" panose="02040503050406030204" pitchFamily="18" charset="0"/>
      <p:regular r:id="rId79"/>
    </p:embeddedFont>
    <p:embeddedFont>
      <p:font typeface="Canva Student Font" panose="020B0604020202020204" charset="0"/>
      <p:regular r:id="rId80"/>
    </p:embeddedFont>
    <p:embeddedFont>
      <p:font typeface="Montserrat" panose="00000500000000000000" pitchFamily="2" charset="0"/>
      <p:regular r:id="rId81"/>
      <p:bold r:id="rId82"/>
      <p:italic r:id="rId83"/>
      <p:boldItalic r:id="rId84"/>
    </p:embeddedFont>
    <p:embeddedFont>
      <p:font typeface="Public Sans" pitchFamily="2" charset="0"/>
      <p:regular r:id="rId85"/>
      <p:bold r:id="rId86"/>
      <p:italic r:id="rId87"/>
      <p:boldItalic r:id="rId88"/>
    </p:embeddedFont>
    <p:embeddedFont>
      <p:font typeface="Public Sans Light" pitchFamily="2" charset="0"/>
      <p:regular r:id="rId89"/>
      <p:italic r:id="rId90"/>
    </p:embeddedFont>
    <p:embeddedFont>
      <p:font typeface="Segoe UI" panose="020B0502040204020203" pitchFamily="34" charset="0"/>
      <p:regular r:id="rId91"/>
      <p:bold r:id="rId92"/>
      <p:italic r:id="rId93"/>
      <p:boldItalic r:id="rId94"/>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578"/>
            <p14:sldId id="358"/>
            <p14:sldId id="26580"/>
            <p14:sldId id="26581"/>
            <p14:sldId id="26582"/>
            <p14:sldId id="2657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4"/>
            <p14:sldId id="26596"/>
            <p14:sldId id="26597"/>
            <p14:sldId id="26625"/>
            <p14:sldId id="26599"/>
            <p14:sldId id="26600"/>
            <p14:sldId id="26652"/>
          </p14:sldIdLst>
        </p14:section>
        <p14:section name="Review of learning 4" id="{6EB8E1CE-ED7B-4635-88AB-9D1D052BB011}">
          <p14:sldIdLst>
            <p14:sldId id="26601"/>
            <p14:sldId id="26604"/>
            <p14:sldId id="26605"/>
            <p14:sldId id="26606"/>
            <p14:sldId id="26607"/>
            <p14:sldId id="26608"/>
            <p14:sldId id="26609"/>
            <p14:sldId id="26651"/>
          </p14:sldIdLst>
        </p14:section>
        <p14:section name="Review of learning 5" id="{E365C8CF-14E0-4F5A-BCE8-2E930DEEA864}">
          <p14:sldIdLst>
            <p14:sldId id="26610"/>
            <p14:sldId id="26611"/>
            <p14:sldId id="26623"/>
            <p14:sldId id="26615"/>
            <p14:sldId id="26616"/>
            <p14:sldId id="26617"/>
            <p14:sldId id="26618"/>
          </p14:sldIdLst>
        </p14:section>
        <p14:section name="Review of learning 6" id="{6721D3DC-F7BB-49CA-9E61-8454C104591D}">
          <p14:sldIdLst>
            <p14:sldId id="26619"/>
            <p14:sldId id="26622"/>
            <p14:sldId id="26648"/>
            <p14:sldId id="26624"/>
            <p14:sldId id="26649"/>
            <p14:sldId id="26626"/>
            <p14:sldId id="26627"/>
          </p14:sldIdLst>
        </p14:section>
        <p14:section name="Review of learning 7" id="{CF63834E-0BE9-495B-9761-037C836F185E}">
          <p14:sldIdLst>
            <p14:sldId id="26628"/>
            <p14:sldId id="26629"/>
            <p14:sldId id="26632"/>
            <p14:sldId id="26635"/>
            <p14:sldId id="26634"/>
            <p14:sldId id="26644"/>
            <p14:sldId id="26636"/>
          </p14:sldIdLst>
        </p14:section>
        <p14:section name="Review of learning 8" id="{6FF8F7EC-803E-4F84-BA41-6B3ED673D597}">
          <p14:sldIdLst>
            <p14:sldId id="26637"/>
            <p14:sldId id="26640"/>
            <p14:sldId id="26641"/>
            <p14:sldId id="26642"/>
            <p14:sldId id="26643"/>
            <p14:sldId id="26633"/>
            <p14:sldId id="26645"/>
          </p14:sldIdLst>
        </p14:section>
        <p14:section name="Assets" id="{ACCADEBA-79DB-4F18-8F19-E4DF86159DFB}">
          <p14:sldIdLst>
            <p14:sldId id="26393"/>
            <p14:sldId id="26387"/>
            <p14:sldId id="26395"/>
            <p14:sldId id="26391"/>
            <p14:sldId id="26402"/>
            <p14:sldId id="26507"/>
            <p14:sldId id="26510"/>
          </p14:sldIdLst>
        </p14:section>
        <p14:section name="References &amp; copyright" id="{DBC31484-F5F8-4CB1-8DB4-A562A9780899}">
          <p14:sldIdLst>
            <p14:sldId id="26466"/>
            <p14:sldId id="360"/>
            <p14:sldId id="26467"/>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5C30132E-288C-53FD-93C9-9EB835F45213}" name="Nichole Wood" initials="NW" userId="S::NICHOLE.DEMPSEY@det.nsw.edu.au::f4dd199f-85d5-4f2b-8bc1-8ba23649a9c2" providerId="AD"/>
  <p188:author id="{1ED6684A-C670-1F56-1E53-1B296B435328}" name="Evelyn Plunkett" initials="EP" userId="S::EVELYN.LORENZ@det.nsw.edu.au::563cb6cc-61b5-4fff-a76a-5068b5b827dd" providerId="AD"/>
  <p188:author id="{117A025F-CECB-7403-D4EE-15F295013070}" name="Carolyn Matthews" initials="" userId="S::carolyn.matthews2@det.nsw.edu.au::7f53049a-bf0f-477a-aa49-60e3a8d71d9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B0C"/>
    <a:srgbClr val="007A8A"/>
    <a:srgbClr val="9B6808"/>
    <a:srgbClr val="427B2D"/>
    <a:srgbClr val="B51458"/>
    <a:srgbClr val="00ACC2"/>
    <a:srgbClr val="64BB47"/>
    <a:srgbClr val="EDF9E0"/>
    <a:srgbClr val="87D830"/>
    <a:srgbClr val="447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65F1C0-E27E-4EE7-82DB-258EA6585A9A}" v="91" dt="2025-09-01T00:55:01.701"/>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228" y="68"/>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6.fntdata"/><Relationship Id="rId89" Type="http://schemas.openxmlformats.org/officeDocument/2006/relationships/font" Target="fonts/font11.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1.fntdata"/><Relationship Id="rId5" Type="http://schemas.openxmlformats.org/officeDocument/2006/relationships/slide" Target="slides/slide1.xml"/><Relationship Id="rId90" Type="http://schemas.openxmlformats.org/officeDocument/2006/relationships/font" Target="fonts/font12.fntdata"/><Relationship Id="rId95" Type="http://schemas.openxmlformats.org/officeDocument/2006/relationships/presProps" Target="pres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font" Target="fonts/font2.fntdata"/><Relationship Id="rId85" Type="http://schemas.openxmlformats.org/officeDocument/2006/relationships/font" Target="fonts/font7.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5.fntdata"/><Relationship Id="rId88" Type="http://schemas.openxmlformats.org/officeDocument/2006/relationships/font" Target="fonts/font10.fntdata"/><Relationship Id="rId91" Type="http://schemas.openxmlformats.org/officeDocument/2006/relationships/font" Target="fonts/font13.fntdata"/><Relationship Id="rId9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handoutMaster" Target="handoutMasters/handoutMaster1.xml"/><Relationship Id="rId81" Type="http://schemas.openxmlformats.org/officeDocument/2006/relationships/font" Target="fonts/font3.fntdata"/><Relationship Id="rId86" Type="http://schemas.openxmlformats.org/officeDocument/2006/relationships/font" Target="fonts/font8.fntdata"/><Relationship Id="rId94" Type="http://schemas.openxmlformats.org/officeDocument/2006/relationships/font" Target="fonts/font16.fntdata"/><Relationship Id="rId9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14.fntdata"/><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9.fntdata"/><Relationship Id="rId61" Type="http://schemas.openxmlformats.org/officeDocument/2006/relationships/slide" Target="slides/slide57.xml"/><Relationship Id="rId82" Type="http://schemas.openxmlformats.org/officeDocument/2006/relationships/font" Target="fonts/font4.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notesMaster" Target="notesMasters/notesMaster1.xml"/><Relationship Id="rId100" Type="http://schemas.microsoft.com/office/2018/10/relationships/authors" Target="author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font" Target="fonts/font15.fntdata"/><Relationship Id="rId9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AU"/>
              <a:t>6W's Favourite sport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4.635569591091248E-2"/>
          <c:y val="0.11258503401360546"/>
          <c:w val="0.91511505210076383"/>
          <c:h val="0.72779072258824795"/>
        </c:manualLayout>
      </c:layout>
      <c:barChart>
        <c:barDir val="col"/>
        <c:grouping val="clustered"/>
        <c:varyColors val="0"/>
        <c:ser>
          <c:idx val="0"/>
          <c:order val="0"/>
          <c:tx>
            <c:strRef>
              <c:f>Sheet1!$B$1</c:f>
              <c:strCache>
                <c:ptCount val="1"/>
                <c:pt idx="0">
                  <c:v>Boys</c:v>
                </c:pt>
              </c:strCache>
            </c:strRef>
          </c:tx>
          <c:spPr>
            <a:solidFill>
              <a:schemeClr val="accent1"/>
            </a:solidFill>
            <a:ln>
              <a:noFill/>
            </a:ln>
            <a:effectLst/>
          </c:spPr>
          <c:invertIfNegative val="0"/>
          <c:cat>
            <c:strRef>
              <c:f>Sheet1!$A$2:$A$6</c:f>
              <c:strCache>
                <c:ptCount val="5"/>
                <c:pt idx="0">
                  <c:v>Gymnastics</c:v>
                </c:pt>
                <c:pt idx="1">
                  <c:v>Soccer</c:v>
                </c:pt>
                <c:pt idx="2">
                  <c:v>Swimming</c:v>
                </c:pt>
                <c:pt idx="3">
                  <c:v>Dancing</c:v>
                </c:pt>
                <c:pt idx="4">
                  <c:v>Rugby League</c:v>
                </c:pt>
              </c:strCache>
            </c:strRef>
          </c:cat>
          <c:val>
            <c:numRef>
              <c:f>Sheet1!$B$2:$B$6</c:f>
              <c:numCache>
                <c:formatCode>General</c:formatCode>
                <c:ptCount val="5"/>
                <c:pt idx="0">
                  <c:v>15</c:v>
                </c:pt>
                <c:pt idx="1">
                  <c:v>8</c:v>
                </c:pt>
                <c:pt idx="2">
                  <c:v>9</c:v>
                </c:pt>
                <c:pt idx="3">
                  <c:v>11</c:v>
                </c:pt>
                <c:pt idx="4">
                  <c:v>12</c:v>
                </c:pt>
              </c:numCache>
            </c:numRef>
          </c:val>
          <c:extLst>
            <c:ext xmlns:c16="http://schemas.microsoft.com/office/drawing/2014/chart" uri="{C3380CC4-5D6E-409C-BE32-E72D297353CC}">
              <c16:uniqueId val="{00000000-7554-4541-B7F1-AAF881202577}"/>
            </c:ext>
          </c:extLst>
        </c:ser>
        <c:ser>
          <c:idx val="1"/>
          <c:order val="1"/>
          <c:tx>
            <c:strRef>
              <c:f>Sheet1!$C$1</c:f>
              <c:strCache>
                <c:ptCount val="1"/>
                <c:pt idx="0">
                  <c:v>Girls</c:v>
                </c:pt>
              </c:strCache>
            </c:strRef>
          </c:tx>
          <c:spPr>
            <a:solidFill>
              <a:schemeClr val="accent2"/>
            </a:solidFill>
            <a:ln>
              <a:noFill/>
            </a:ln>
            <a:effectLst/>
          </c:spPr>
          <c:invertIfNegative val="0"/>
          <c:cat>
            <c:strRef>
              <c:f>Sheet1!$A$2:$A$6</c:f>
              <c:strCache>
                <c:ptCount val="5"/>
                <c:pt idx="0">
                  <c:v>Gymnastics</c:v>
                </c:pt>
                <c:pt idx="1">
                  <c:v>Soccer</c:v>
                </c:pt>
                <c:pt idx="2">
                  <c:v>Swimming</c:v>
                </c:pt>
                <c:pt idx="3">
                  <c:v>Dancing</c:v>
                </c:pt>
                <c:pt idx="4">
                  <c:v>Rugby League</c:v>
                </c:pt>
              </c:strCache>
            </c:strRef>
          </c:cat>
          <c:val>
            <c:numRef>
              <c:f>Sheet1!$C$2:$C$6</c:f>
              <c:numCache>
                <c:formatCode>General</c:formatCode>
                <c:ptCount val="5"/>
                <c:pt idx="0">
                  <c:v>5</c:v>
                </c:pt>
                <c:pt idx="1">
                  <c:v>12</c:v>
                </c:pt>
                <c:pt idx="2">
                  <c:v>11</c:v>
                </c:pt>
                <c:pt idx="3">
                  <c:v>9</c:v>
                </c:pt>
                <c:pt idx="4">
                  <c:v>8</c:v>
                </c:pt>
              </c:numCache>
            </c:numRef>
          </c:val>
          <c:extLst>
            <c:ext xmlns:c16="http://schemas.microsoft.com/office/drawing/2014/chart" uri="{C3380CC4-5D6E-409C-BE32-E72D297353CC}">
              <c16:uniqueId val="{00000001-7554-4541-B7F1-AAF881202577}"/>
            </c:ext>
          </c:extLst>
        </c:ser>
        <c:dLbls>
          <c:showLegendKey val="0"/>
          <c:showVal val="0"/>
          <c:showCatName val="0"/>
          <c:showSerName val="0"/>
          <c:showPercent val="0"/>
          <c:showBubbleSize val="0"/>
        </c:dLbls>
        <c:gapWidth val="219"/>
        <c:overlap val="-27"/>
        <c:axId val="1794878688"/>
        <c:axId val="1794881568"/>
      </c:barChart>
      <c:catAx>
        <c:axId val="17948786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94881568"/>
        <c:crosses val="autoZero"/>
        <c:auto val="1"/>
        <c:lblAlgn val="ctr"/>
        <c:lblOffset val="100"/>
        <c:noMultiLvlLbl val="0"/>
      </c:catAx>
      <c:valAx>
        <c:axId val="17948815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9487868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5/12/2025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5/12/2025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3 Year B Unit 38</a:t>
            </a:r>
          </a:p>
          <a:p>
            <a:pPr marL="285750" indent="-285750">
              <a:buFont typeface="Arial" panose="020B0604020202020204" pitchFamily="34" charset="0"/>
              <a:buChar char="•"/>
            </a:pPr>
            <a:r>
              <a:rPr lang="en-AU"/>
              <a:t>Stage 3 Year B Unit 37</a:t>
            </a:r>
          </a:p>
          <a:p>
            <a:pPr marL="285750" indent="-285750">
              <a:buFont typeface="Arial" panose="020B0604020202020204" pitchFamily="34" charset="0"/>
              <a:buChar char="•"/>
            </a:pPr>
            <a:r>
              <a:rPr lang="en-AU"/>
              <a:t>Stage 3 Year B Unit 36</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AD8F1-B663-3F40-07A2-C014D8EB5B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045E08-15DA-0856-A514-FAF9EC64CB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0C8C4-7957-6426-57E3-FED49065047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Representing quantity fractions B</a:t>
            </a:r>
            <a:endParaRPr lang="en-AU"/>
          </a:p>
        </p:txBody>
      </p:sp>
      <p:sp>
        <p:nvSpPr>
          <p:cNvPr id="4" name="Slide Number Placeholder 3">
            <a:extLst>
              <a:ext uri="{FF2B5EF4-FFF2-40B4-BE49-F238E27FC236}">
                <a16:creationId xmlns:a16="http://schemas.microsoft.com/office/drawing/2014/main" id="{C4FD5696-9180-2B5B-47E9-EC0CAC013312}"/>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3891581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Chance B</a:t>
            </a:r>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Multiplicative relations A</a:t>
            </a:r>
            <a:endParaRPr lang="en-AU"/>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Representing quantity fractions A</a:t>
            </a:r>
            <a:endParaRPr lang="en-AU"/>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Geometric measure B: Angles</a:t>
            </a:r>
            <a:endParaRPr lang="en-AU"/>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B</a:t>
                </a:r>
              </a:p>
              <a:p>
                <a:endParaRPr lang="en-AU"/>
              </a:p>
              <a:p>
                <a:r>
                  <a:rPr lang="en-AU" b="1"/>
                  <a:t>Farmer’s market</a:t>
                </a:r>
              </a:p>
              <a:p>
                <a:r>
                  <a:rPr lang="en-AU" b="0"/>
                  <a:t>This resource corresponds to Resource 25 – farmer’s market cards in Stage 3 Year B Unit 38. </a:t>
                </a:r>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Provide students with Resource 25 – farmer’s market cards</a:t>
                </a:r>
                <a:r>
                  <a:rPr lang="en-AU" b="0"/>
                  <a:t> (</a:t>
                </a:r>
                <a:r>
                  <a:rPr lang="en-AU" sz="1600">
                    <a:effectLst/>
                    <a:latin typeface="Arial" panose="020B0604020202020204" pitchFamily="34" charset="0"/>
                    <a:ea typeface="Calibri" panose="020F0502020204030204" pitchFamily="34" charset="0"/>
                  </a:rPr>
                  <a:t>this resource</a:t>
                </a:r>
                <a:r>
                  <a:rPr lang="en-AU" sz="1600" b="0">
                    <a:effectLst/>
                    <a:latin typeface="Arial"/>
                    <a:ea typeface="Calibri"/>
                    <a:cs typeface="Arial"/>
                  </a:rPr>
                  <a:t> corresponds to </a:t>
                </a:r>
                <a:r>
                  <a:rPr lang="en-AU" sz="1600" kern="1200">
                    <a:solidFill>
                      <a:schemeClr val="tx1"/>
                    </a:solidFill>
                    <a:effectLst/>
                    <a:latin typeface="Arial" panose="020B0604020202020204" pitchFamily="34" charset="0"/>
                    <a:ea typeface="+mn-ea"/>
                    <a:cs typeface="Arial" panose="020B0604020202020204" pitchFamily="34" charset="0"/>
                  </a:rPr>
                  <a:t>Resource 25 – farmer’s market cards</a:t>
                </a:r>
                <a:r>
                  <a:rPr lang="en-AU" b="0"/>
                  <a:t> </a:t>
                </a:r>
                <a:r>
                  <a:rPr lang="en-AU" sz="1600" b="0">
                    <a:effectLst/>
                    <a:latin typeface="Arial"/>
                    <a:ea typeface="Calibri"/>
                    <a:cs typeface="Arial"/>
                  </a:rPr>
                  <a:t>in </a:t>
                </a:r>
                <a:r>
                  <a:rPr lang="en-AU" b="0"/>
                  <a:t>Stage 3 Year B Unit 38</a:t>
                </a:r>
                <a:r>
                  <a:rPr lang="en-AU" sz="1600" b="0">
                    <a:effectLst/>
                    <a:latin typeface="Arial"/>
                    <a:ea typeface="Calibri"/>
                    <a:cs typeface="Arial"/>
                  </a:rPr>
                  <a:t>)</a:t>
                </a:r>
                <a:r>
                  <a:rPr lang="en-AU" sz="1600" kern="1200">
                    <a:solidFill>
                      <a:schemeClr val="tx1"/>
                    </a:solidFill>
                    <a:effectLst/>
                    <a:latin typeface="Arial" panose="020B0604020202020204" pitchFamily="34" charset="0"/>
                    <a:ea typeface="+mn-ea"/>
                    <a:cs typeface="Arial" panose="020B0604020202020204" pitchFamily="34" charset="0"/>
                  </a:rPr>
                  <a:t>, a 6-sided die and an individual whiteboard. Remind students how to play Farmer’s Market as introduced in Stage 3 Unit 24.</a:t>
                </a:r>
              </a:p>
              <a:p>
                <a:pPr lvl="0"/>
                <a:r>
                  <a:rPr lang="en-AU" sz="1600" kern="1200">
                    <a:solidFill>
                      <a:schemeClr val="tx1"/>
                    </a:solidFill>
                    <a:effectLst/>
                    <a:latin typeface="Arial" panose="020B0604020202020204" pitchFamily="34" charset="0"/>
                    <a:ea typeface="+mn-ea"/>
                    <a:cs typeface="Arial" panose="020B0604020202020204" pitchFamily="34" charset="0"/>
                  </a:rPr>
                  <a:t>- Have all the cards face up.</a:t>
                </a:r>
              </a:p>
              <a:p>
                <a:pPr lvl="0"/>
                <a:r>
                  <a:rPr lang="en-AU" sz="1600" kern="1200">
                    <a:solidFill>
                      <a:schemeClr val="tx1"/>
                    </a:solidFill>
                    <a:effectLst/>
                    <a:latin typeface="Arial" panose="020B0604020202020204" pitchFamily="34" charset="0"/>
                    <a:ea typeface="+mn-ea"/>
                    <a:cs typeface="Arial" panose="020B0604020202020204" pitchFamily="34" charset="0"/>
                  </a:rPr>
                  <a:t>- Player 1 rolls the die. This will be the denominator for the unit fraction. For example, if a 5 is rolled, the fraction would be </a:t>
                </a:r>
                <a14:m>
                  <m:oMath xmlns:m="http://schemas.openxmlformats.org/officeDocument/2006/math">
                    <m:f>
                      <m:fPr>
                        <m:ctrlPr>
                          <a:rPr lang="en-AU" sz="1600" i="1" kern="1200">
                            <a:solidFill>
                              <a:schemeClr val="tx1"/>
                            </a:solidFill>
                            <a:effectLst/>
                            <a:latin typeface="Cambria Math" panose="02040503050406030204" pitchFamily="18" charset="0"/>
                            <a:ea typeface="+mn-ea"/>
                            <a:cs typeface="Arial" panose="020B0604020202020204" pitchFamily="34" charset="0"/>
                          </a:rPr>
                        </m:ctrlPr>
                      </m:fPr>
                      <m:num>
                        <m:r>
                          <a:rPr lang="en-AU" sz="1600" i="1" kern="1200">
                            <a:solidFill>
                              <a:schemeClr val="tx1"/>
                            </a:solidFill>
                            <a:effectLst/>
                            <a:latin typeface="Cambria Math" panose="02040503050406030204" pitchFamily="18" charset="0"/>
                            <a:ea typeface="+mn-ea"/>
                            <a:cs typeface="Arial" panose="020B0604020202020204" pitchFamily="34" charset="0"/>
                          </a:rPr>
                          <m:t>1</m:t>
                        </m:r>
                      </m:num>
                      <m:den>
                        <m:r>
                          <a:rPr lang="en-AU" sz="1600" i="1" kern="1200">
                            <a:solidFill>
                              <a:schemeClr val="tx1"/>
                            </a:solidFill>
                            <a:effectLst/>
                            <a:latin typeface="Cambria Math" panose="02040503050406030204" pitchFamily="18" charset="0"/>
                            <a:ea typeface="+mn-ea"/>
                            <a:cs typeface="Arial" panose="020B0604020202020204" pitchFamily="34" charset="0"/>
                          </a:rPr>
                          <m:t>5</m:t>
                        </m:r>
                      </m:den>
                    </m:f>
                  </m:oMath>
                </a14:m>
                <a:r>
                  <a:rPr lang="en-AU" sz="1600" kern="1200">
                    <a:solidFill>
                      <a:schemeClr val="tx1"/>
                    </a:solidFill>
                    <a:effectLst/>
                    <a:latin typeface="Arial" panose="020B0604020202020204" pitchFamily="34" charset="0"/>
                    <a:ea typeface="+mn-ea"/>
                    <a:cs typeface="Arial" panose="020B0604020202020204" pitchFamily="34" charset="0"/>
                  </a:rPr>
                  <a:t>. If a 1 is rolled, roll again.</a:t>
                </a:r>
              </a:p>
              <a:p>
                <a:pPr lvl="0"/>
                <a:r>
                  <a:rPr lang="en-AU" sz="1600" kern="1200">
                    <a:solidFill>
                      <a:schemeClr val="tx1"/>
                    </a:solidFill>
                    <a:effectLst/>
                    <a:latin typeface="Arial" panose="020B0604020202020204" pitchFamily="34" charset="0"/>
                    <a:ea typeface="+mn-ea"/>
                    <a:cs typeface="Arial" panose="020B0604020202020204" pitchFamily="34" charset="0"/>
                  </a:rPr>
                  <a:t>- Choose a produce card.</a:t>
                </a:r>
              </a:p>
              <a:p>
                <a:pPr lvl="0"/>
                <a:r>
                  <a:rPr lang="en-AU" sz="1600" kern="1200">
                    <a:solidFill>
                      <a:schemeClr val="tx1"/>
                    </a:solidFill>
                    <a:effectLst/>
                    <a:latin typeface="Arial" panose="020B0604020202020204" pitchFamily="34" charset="0"/>
                    <a:ea typeface="+mn-ea"/>
                    <a:cs typeface="Arial" panose="020B0604020202020204" pitchFamily="34" charset="0"/>
                  </a:rPr>
                  <a:t>- Calculate the fraction of the produce you have picked. For example, if the card is 20 lemons, calculate </a:t>
                </a:r>
                <a14:m>
                  <m:oMath xmlns:m="http://schemas.openxmlformats.org/officeDocument/2006/math">
                    <m:f>
                      <m:fPr>
                        <m:ctrlPr>
                          <a:rPr lang="en-AU" sz="1600" i="1" kern="1200">
                            <a:solidFill>
                              <a:schemeClr val="tx1"/>
                            </a:solidFill>
                            <a:effectLst/>
                            <a:latin typeface="Cambria Math" panose="02040503050406030204" pitchFamily="18" charset="0"/>
                            <a:ea typeface="+mn-ea"/>
                            <a:cs typeface="Arial" panose="020B0604020202020204" pitchFamily="34" charset="0"/>
                          </a:rPr>
                        </m:ctrlPr>
                      </m:fPr>
                      <m:num>
                        <m:r>
                          <a:rPr lang="en-AU" sz="1600" i="1" kern="1200">
                            <a:solidFill>
                              <a:schemeClr val="tx1"/>
                            </a:solidFill>
                            <a:effectLst/>
                            <a:latin typeface="Cambria Math" panose="02040503050406030204" pitchFamily="18" charset="0"/>
                            <a:ea typeface="+mn-ea"/>
                            <a:cs typeface="Arial" panose="020B0604020202020204" pitchFamily="34" charset="0"/>
                          </a:rPr>
                          <m:t>1</m:t>
                        </m:r>
                      </m:num>
                      <m:den>
                        <m:r>
                          <a:rPr lang="en-AU" sz="1600" i="1" kern="1200">
                            <a:solidFill>
                              <a:schemeClr val="tx1"/>
                            </a:solidFill>
                            <a:effectLst/>
                            <a:latin typeface="Cambria Math" panose="02040503050406030204" pitchFamily="18" charset="0"/>
                            <a:ea typeface="+mn-ea"/>
                            <a:cs typeface="Arial" panose="020B0604020202020204" pitchFamily="34" charset="0"/>
                          </a:rPr>
                          <m:t>5</m:t>
                        </m:r>
                      </m:den>
                    </m:f>
                  </m:oMath>
                </a14:m>
                <a:r>
                  <a:rPr lang="en-AU" sz="1600" kern="1200">
                    <a:solidFill>
                      <a:schemeClr val="tx1"/>
                    </a:solidFill>
                    <a:effectLst/>
                    <a:latin typeface="Arial" panose="020B0604020202020204" pitchFamily="34" charset="0"/>
                    <a:ea typeface="+mn-ea"/>
                    <a:cs typeface="Arial" panose="020B0604020202020204" pitchFamily="34" charset="0"/>
                  </a:rPr>
                  <a:t> of 20 = 4.</a:t>
                </a:r>
              </a:p>
              <a:p>
                <a:pPr lvl="0"/>
                <a:r>
                  <a:rPr lang="en-AU" sz="1600" kern="1200">
                    <a:solidFill>
                      <a:schemeClr val="tx1"/>
                    </a:solidFill>
                    <a:effectLst/>
                    <a:latin typeface="Arial" panose="020B0604020202020204" pitchFamily="34" charset="0"/>
                    <a:ea typeface="+mn-ea"/>
                    <a:cs typeface="Arial" panose="020B0604020202020204" pitchFamily="34" charset="0"/>
                  </a:rPr>
                  <a:t>- Draw a tape diagram to record the fractional thinking.</a:t>
                </a:r>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a tape diagram is a type of bar model used in previous units.</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 Once a produce card has been used, flip it over. It can no longer be used in this round.</a:t>
                </a:r>
              </a:p>
              <a:p>
                <a:pPr lvl="0"/>
                <a:r>
                  <a:rPr lang="en-AU" sz="1600" kern="1200">
                    <a:solidFill>
                      <a:schemeClr val="tx1"/>
                    </a:solidFill>
                    <a:effectLst/>
                    <a:latin typeface="Arial" panose="020B0604020202020204" pitchFamily="34" charset="0"/>
                    <a:ea typeface="+mn-ea"/>
                    <a:cs typeface="Arial" panose="020B0604020202020204" pitchFamily="34" charset="0"/>
                  </a:rPr>
                  <a:t>- Player 2 repeats the same steps.</a:t>
                </a:r>
              </a:p>
              <a:p>
                <a:pPr lvl="0"/>
                <a:r>
                  <a:rPr lang="en-AU" sz="1600" kern="1200">
                    <a:solidFill>
                      <a:schemeClr val="tx1"/>
                    </a:solidFill>
                    <a:effectLst/>
                    <a:latin typeface="Arial" panose="020B0604020202020204" pitchFamily="34" charset="0"/>
                    <a:ea typeface="+mn-ea"/>
                    <a:cs typeface="Arial" panose="020B0604020202020204" pitchFamily="34" charset="0"/>
                  </a:rPr>
                  <a:t>- If a player rolls a denominator that cannot be used on the cards without a remainder, they miss their turn.</a:t>
                </a:r>
              </a:p>
              <a:p>
                <a:pPr lvl="0"/>
                <a:r>
                  <a:rPr lang="en-AU" sz="1600" kern="1200">
                    <a:solidFill>
                      <a:schemeClr val="tx1"/>
                    </a:solidFill>
                    <a:effectLst/>
                    <a:latin typeface="Arial" panose="020B0604020202020204" pitchFamily="34" charset="0"/>
                    <a:ea typeface="+mn-ea"/>
                    <a:cs typeface="Arial" panose="020B0604020202020204" pitchFamily="34" charset="0"/>
                  </a:rPr>
                  <a:t>- Continue until all the cards have been used.</a:t>
                </a:r>
              </a:p>
              <a:p>
                <a:pPr lvl="0"/>
                <a:r>
                  <a:rPr lang="en-AU" sz="1600" kern="1200">
                    <a:solidFill>
                      <a:schemeClr val="tx1"/>
                    </a:solidFill>
                    <a:effectLst/>
                    <a:latin typeface="Arial" panose="020B0604020202020204" pitchFamily="34" charset="0"/>
                    <a:ea typeface="+mn-ea"/>
                    <a:cs typeface="Arial" panose="020B0604020202020204" pitchFamily="34" charset="0"/>
                  </a:rPr>
                  <a:t>- The winner is the player with the largest collection of produce items.</a:t>
                </a:r>
              </a:p>
              <a:p>
                <a:pPr>
                  <a:buFontTx/>
                  <a:buNone/>
                </a:pPr>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mc:Choice>
        <mc:Fallback xmlns="">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B</a:t>
                </a:r>
              </a:p>
              <a:p>
                <a:endParaRPr lang="en-AU"/>
              </a:p>
              <a:p>
                <a:r>
                  <a:rPr lang="en-AU" b="1"/>
                  <a:t>Farmer’s market</a:t>
                </a:r>
              </a:p>
              <a:p>
                <a:r>
                  <a:rPr lang="en-AU" b="0"/>
                  <a:t>This resource corresponds to Resource 25 – farmer’s market cards in Stage 3 Year B Unit 38. </a:t>
                </a:r>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Provide students with Resource 25 – farmer’s market cards</a:t>
                </a:r>
                <a:r>
                  <a:rPr lang="en-AU" b="0"/>
                  <a:t> (</a:t>
                </a:r>
                <a:r>
                  <a:rPr lang="en-AU" sz="1600">
                    <a:effectLst/>
                    <a:latin typeface="Arial" panose="020B0604020202020204" pitchFamily="34" charset="0"/>
                    <a:ea typeface="Calibri" panose="020F0502020204030204" pitchFamily="34" charset="0"/>
                  </a:rPr>
                  <a:t>this resource</a:t>
                </a:r>
                <a:r>
                  <a:rPr lang="en-AU" sz="1600" b="0">
                    <a:effectLst/>
                    <a:latin typeface="Arial"/>
                    <a:ea typeface="Calibri"/>
                    <a:cs typeface="Arial"/>
                  </a:rPr>
                  <a:t> corresponds to </a:t>
                </a:r>
                <a:r>
                  <a:rPr lang="en-AU" sz="1600" kern="1200">
                    <a:solidFill>
                      <a:schemeClr val="tx1"/>
                    </a:solidFill>
                    <a:effectLst/>
                    <a:latin typeface="Arial" panose="020B0604020202020204" pitchFamily="34" charset="0"/>
                    <a:ea typeface="+mn-ea"/>
                    <a:cs typeface="Arial" panose="020B0604020202020204" pitchFamily="34" charset="0"/>
                  </a:rPr>
                  <a:t>Resource 25 – farmer’s market cards</a:t>
                </a:r>
                <a:r>
                  <a:rPr lang="en-AU" b="0"/>
                  <a:t> </a:t>
                </a:r>
                <a:r>
                  <a:rPr lang="en-AU" sz="1600" b="0">
                    <a:effectLst/>
                    <a:latin typeface="Arial"/>
                    <a:ea typeface="Calibri"/>
                    <a:cs typeface="Arial"/>
                  </a:rPr>
                  <a:t>in </a:t>
                </a:r>
                <a:r>
                  <a:rPr lang="en-AU" b="0"/>
                  <a:t>Stage 3 Year B Unit 38</a:t>
                </a:r>
                <a:r>
                  <a:rPr lang="en-AU" sz="1600" b="0">
                    <a:effectLst/>
                    <a:latin typeface="Arial"/>
                    <a:ea typeface="Calibri"/>
                    <a:cs typeface="Arial"/>
                  </a:rPr>
                  <a:t>)</a:t>
                </a:r>
                <a:r>
                  <a:rPr lang="en-AU" sz="1600" kern="1200">
                    <a:solidFill>
                      <a:schemeClr val="tx1"/>
                    </a:solidFill>
                    <a:effectLst/>
                    <a:latin typeface="Arial" panose="020B0604020202020204" pitchFamily="34" charset="0"/>
                    <a:ea typeface="+mn-ea"/>
                    <a:cs typeface="Arial" panose="020B0604020202020204" pitchFamily="34" charset="0"/>
                  </a:rPr>
                  <a:t>, a 6-sided die and an individual whiteboard. Remind students how to play Farmer’s Market as introduced in Stage 3 Unit 24.</a:t>
                </a:r>
              </a:p>
              <a:p>
                <a:pPr lvl="0"/>
                <a:r>
                  <a:rPr lang="en-AU" sz="1600" kern="1200">
                    <a:solidFill>
                      <a:schemeClr val="tx1"/>
                    </a:solidFill>
                    <a:effectLst/>
                    <a:latin typeface="Arial" panose="020B0604020202020204" pitchFamily="34" charset="0"/>
                    <a:ea typeface="+mn-ea"/>
                    <a:cs typeface="Arial" panose="020B0604020202020204" pitchFamily="34" charset="0"/>
                  </a:rPr>
                  <a:t>- Have all the cards face up.</a:t>
                </a:r>
              </a:p>
              <a:p>
                <a:pPr lvl="0"/>
                <a:r>
                  <a:rPr lang="en-AU" sz="1600" kern="1200">
                    <a:solidFill>
                      <a:schemeClr val="tx1"/>
                    </a:solidFill>
                    <a:effectLst/>
                    <a:latin typeface="Arial" panose="020B0604020202020204" pitchFamily="34" charset="0"/>
                    <a:ea typeface="+mn-ea"/>
                    <a:cs typeface="Arial" panose="020B0604020202020204" pitchFamily="34" charset="0"/>
                  </a:rPr>
                  <a:t>- Player 1 rolls the die. This will be the denominator for the unit fraction. For example, if a 5 is rolled, the fraction would be </a:t>
                </a:r>
                <a:r>
                  <a:rPr lang="en-AU" sz="1600" i="0" kern="1200">
                    <a:solidFill>
                      <a:schemeClr val="tx1"/>
                    </a:solidFill>
                    <a:effectLst/>
                    <a:latin typeface="Cambria Math" panose="02040503050406030204" pitchFamily="18" charset="0"/>
                    <a:ea typeface="+mn-ea"/>
                    <a:cs typeface="Arial" panose="020B0604020202020204" pitchFamily="34" charset="0"/>
                  </a:rPr>
                  <a:t>1/5</a:t>
                </a:r>
                <a:r>
                  <a:rPr lang="en-AU" sz="1600" kern="1200">
                    <a:solidFill>
                      <a:schemeClr val="tx1"/>
                    </a:solidFill>
                    <a:effectLst/>
                    <a:latin typeface="Arial" panose="020B0604020202020204" pitchFamily="34" charset="0"/>
                    <a:ea typeface="+mn-ea"/>
                    <a:cs typeface="Arial" panose="020B0604020202020204" pitchFamily="34" charset="0"/>
                  </a:rPr>
                  <a:t>. If a 1 is rolled, roll again.</a:t>
                </a:r>
              </a:p>
              <a:p>
                <a:pPr lvl="0"/>
                <a:r>
                  <a:rPr lang="en-AU" sz="1600" kern="1200">
                    <a:solidFill>
                      <a:schemeClr val="tx1"/>
                    </a:solidFill>
                    <a:effectLst/>
                    <a:latin typeface="Arial" panose="020B0604020202020204" pitchFamily="34" charset="0"/>
                    <a:ea typeface="+mn-ea"/>
                    <a:cs typeface="Arial" panose="020B0604020202020204" pitchFamily="34" charset="0"/>
                  </a:rPr>
                  <a:t>- Choose a produce card.</a:t>
                </a:r>
              </a:p>
              <a:p>
                <a:pPr lvl="0"/>
                <a:r>
                  <a:rPr lang="en-AU" sz="1600" kern="1200">
                    <a:solidFill>
                      <a:schemeClr val="tx1"/>
                    </a:solidFill>
                    <a:effectLst/>
                    <a:latin typeface="Arial" panose="020B0604020202020204" pitchFamily="34" charset="0"/>
                    <a:ea typeface="+mn-ea"/>
                    <a:cs typeface="Arial" panose="020B0604020202020204" pitchFamily="34" charset="0"/>
                  </a:rPr>
                  <a:t>- Calculate the fraction of the produce you have picked. For example, if the card is 20 lemons, calculate </a:t>
                </a:r>
                <a:r>
                  <a:rPr lang="en-AU" sz="1600" i="0" kern="1200">
                    <a:solidFill>
                      <a:schemeClr val="tx1"/>
                    </a:solidFill>
                    <a:effectLst/>
                    <a:latin typeface="Cambria Math" panose="02040503050406030204" pitchFamily="18" charset="0"/>
                    <a:ea typeface="+mn-ea"/>
                    <a:cs typeface="Arial" panose="020B0604020202020204" pitchFamily="34" charset="0"/>
                  </a:rPr>
                  <a:t>1/5</a:t>
                </a:r>
                <a:r>
                  <a:rPr lang="en-AU" sz="1600" kern="1200">
                    <a:solidFill>
                      <a:schemeClr val="tx1"/>
                    </a:solidFill>
                    <a:effectLst/>
                    <a:latin typeface="Arial" panose="020B0604020202020204" pitchFamily="34" charset="0"/>
                    <a:ea typeface="+mn-ea"/>
                    <a:cs typeface="Arial" panose="020B0604020202020204" pitchFamily="34" charset="0"/>
                  </a:rPr>
                  <a:t> of 20 = 4.</a:t>
                </a:r>
              </a:p>
              <a:p>
                <a:pPr lvl="0"/>
                <a:r>
                  <a:rPr lang="en-AU" sz="1600" kern="1200">
                    <a:solidFill>
                      <a:schemeClr val="tx1"/>
                    </a:solidFill>
                    <a:effectLst/>
                    <a:latin typeface="Arial" panose="020B0604020202020204" pitchFamily="34" charset="0"/>
                    <a:ea typeface="+mn-ea"/>
                    <a:cs typeface="Arial" panose="020B0604020202020204" pitchFamily="34" charset="0"/>
                  </a:rPr>
                  <a:t>- Draw a tape diagram to record the fractional thinking.</a:t>
                </a:r>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a tape diagram is a type of bar model used in previous units.</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 Once a produce card has been used, flip it over. It can no longer be used in this round.</a:t>
                </a:r>
              </a:p>
              <a:p>
                <a:pPr lvl="0"/>
                <a:r>
                  <a:rPr lang="en-AU" sz="1600" kern="1200">
                    <a:solidFill>
                      <a:schemeClr val="tx1"/>
                    </a:solidFill>
                    <a:effectLst/>
                    <a:latin typeface="Arial" panose="020B0604020202020204" pitchFamily="34" charset="0"/>
                    <a:ea typeface="+mn-ea"/>
                    <a:cs typeface="Arial" panose="020B0604020202020204" pitchFamily="34" charset="0"/>
                  </a:rPr>
                  <a:t>- Player 2 repeats the same steps.</a:t>
                </a:r>
              </a:p>
              <a:p>
                <a:pPr lvl="0"/>
                <a:r>
                  <a:rPr lang="en-AU" sz="1600" kern="1200">
                    <a:solidFill>
                      <a:schemeClr val="tx1"/>
                    </a:solidFill>
                    <a:effectLst/>
                    <a:latin typeface="Arial" panose="020B0604020202020204" pitchFamily="34" charset="0"/>
                    <a:ea typeface="+mn-ea"/>
                    <a:cs typeface="Arial" panose="020B0604020202020204" pitchFamily="34" charset="0"/>
                  </a:rPr>
                  <a:t>- If a player rolls a denominator that cannot be used on the cards without a remainder, they miss their turn.</a:t>
                </a:r>
              </a:p>
              <a:p>
                <a:pPr lvl="0"/>
                <a:r>
                  <a:rPr lang="en-AU" sz="1600" kern="1200">
                    <a:solidFill>
                      <a:schemeClr val="tx1"/>
                    </a:solidFill>
                    <a:effectLst/>
                    <a:latin typeface="Arial" panose="020B0604020202020204" pitchFamily="34" charset="0"/>
                    <a:ea typeface="+mn-ea"/>
                    <a:cs typeface="Arial" panose="020B0604020202020204" pitchFamily="34" charset="0"/>
                  </a:rPr>
                  <a:t>- Continue until all the cards have been used.</a:t>
                </a:r>
              </a:p>
              <a:p>
                <a:pPr lvl="0"/>
                <a:r>
                  <a:rPr lang="en-AU" sz="1600" kern="1200">
                    <a:solidFill>
                      <a:schemeClr val="tx1"/>
                    </a:solidFill>
                    <a:effectLst/>
                    <a:latin typeface="Arial" panose="020B0604020202020204" pitchFamily="34" charset="0"/>
                    <a:ea typeface="+mn-ea"/>
                    <a:cs typeface="Arial" panose="020B0604020202020204" pitchFamily="34" charset="0"/>
                  </a:rPr>
                  <a:t>- The winner is the player with the largest collection of produce items.</a:t>
                </a:r>
              </a:p>
              <a:p>
                <a:pPr>
                  <a:buFontTx/>
                  <a:buNone/>
                </a:pPr>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mc:Fallback>
      </mc:AlternateContent>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Representing quantity fractions B</a:t>
            </a:r>
            <a:endParaRPr lang="en-AU"/>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Chance B</a:t>
            </a:r>
            <a:endParaRPr lang="en-AU"/>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Multiplicative relations A</a:t>
            </a:r>
            <a:endParaRPr lang="en-AU"/>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Representing quantity fractions A</a:t>
            </a:r>
            <a:endParaRPr lang="en-AU"/>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Geometric measure B: Length</a:t>
            </a:r>
            <a:endParaRPr lang="en-AU"/>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B</a:t>
                </a:r>
              </a:p>
              <a:p>
                <a:endParaRPr lang="en-AU"/>
              </a:p>
              <a:p>
                <a:endParaRPr lang="en-AU"/>
              </a:p>
              <a:p>
                <a:r>
                  <a:rPr lang="en-AU" b="1"/>
                  <a:t>Lolly shop</a:t>
                </a:r>
              </a:p>
              <a:p>
                <a:endParaRPr lang="en-AU" b="1"/>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this activity is similar to the farmer’s market in Lesson 1, building on quarters and fifths.</a:t>
                </a:r>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1. Provide students with Resource 26 – lolly shop cards (this resource corresponds </a:t>
                </a:r>
                <a:r>
                  <a:rPr lang="en-AU" sz="1600" b="0">
                    <a:effectLst/>
                    <a:latin typeface="Arial"/>
                    <a:ea typeface="Calibri"/>
                    <a:cs typeface="Arial"/>
                  </a:rPr>
                  <a:t>to </a:t>
                </a:r>
                <a:r>
                  <a:rPr lang="en-AU" sz="1600" kern="1200">
                    <a:solidFill>
                      <a:schemeClr val="tx1"/>
                    </a:solidFill>
                    <a:effectLst/>
                    <a:latin typeface="Arial" panose="020B0604020202020204" pitchFamily="34" charset="0"/>
                    <a:ea typeface="+mn-ea"/>
                    <a:cs typeface="Arial" panose="020B0604020202020204" pitchFamily="34" charset="0"/>
                  </a:rPr>
                  <a:t>Resource 26 – lolly shop cards </a:t>
                </a:r>
                <a:r>
                  <a:rPr lang="en-AU" sz="1600" b="0">
                    <a:effectLst/>
                    <a:latin typeface="Arial"/>
                    <a:ea typeface="Calibri"/>
                    <a:cs typeface="Arial"/>
                  </a:rPr>
                  <a:t>in </a:t>
                </a:r>
                <a:r>
                  <a:rPr lang="en-AU" b="0"/>
                  <a:t>Stage 3 Year B Unit 38</a:t>
                </a:r>
                <a:r>
                  <a:rPr lang="en-AU" sz="1600" b="0">
                    <a:effectLst/>
                    <a:latin typeface="Arial"/>
                    <a:ea typeface="Calibri"/>
                    <a:cs typeface="Arial"/>
                  </a:rPr>
                  <a:t>)</a:t>
                </a:r>
                <a:r>
                  <a:rPr lang="en-AU" sz="1600" kern="1200">
                    <a:solidFill>
                      <a:schemeClr val="tx1"/>
                    </a:solidFill>
                    <a:effectLst/>
                    <a:latin typeface="Arial" panose="020B0604020202020204" pitchFamily="34" charset="0"/>
                    <a:ea typeface="+mn-ea"/>
                    <a:cs typeface="Arial" panose="020B0604020202020204" pitchFamily="34" charset="0"/>
                  </a:rPr>
                  <a:t>, and a deck of cards with 3, 6, 7, 8, 9 and picture cards removed.</a:t>
                </a:r>
              </a:p>
              <a:p>
                <a:pPr marL="342900" lvl="0" indent="-342900">
                  <a:buFont typeface="+mj-lt"/>
                  <a:buAutoNum type="alphaLcParenR"/>
                </a:pPr>
                <a:r>
                  <a:rPr lang="en-AU" sz="1600" kern="1200">
                    <a:solidFill>
                      <a:schemeClr val="tx1"/>
                    </a:solidFill>
                    <a:effectLst/>
                    <a:latin typeface="Arial" panose="020B0604020202020204" pitchFamily="34" charset="0"/>
                    <a:ea typeface="+mn-ea"/>
                    <a:cs typeface="Arial" panose="020B0604020202020204" pitchFamily="34" charset="0"/>
                  </a:rPr>
                  <a:t>Place lolly shop cards in one pile and place playing cards into a separate pile.</a:t>
                </a:r>
              </a:p>
              <a:p>
                <a:pPr marL="342900" lvl="0" indent="-342900">
                  <a:buFont typeface="+mj-lt"/>
                  <a:buAutoNum type="alphaLcParenR"/>
                </a:pPr>
                <a:r>
                  <a:rPr lang="en-AU" sz="1600" kern="1200">
                    <a:solidFill>
                      <a:schemeClr val="tx1"/>
                    </a:solidFill>
                    <a:effectLst/>
                    <a:latin typeface="Arial" panose="020B0604020202020204" pitchFamily="34" charset="0"/>
                    <a:ea typeface="+mn-ea"/>
                    <a:cs typeface="Arial" panose="020B0604020202020204" pitchFamily="34" charset="0"/>
                  </a:rPr>
                  <a:t>Player 1 flips over a card. This will be the denominator for the unit fraction. For example, a 10 is flipped, so the fraction would be </a:t>
                </a:r>
                <a14:m>
                  <m:oMath xmlns:m="http://schemas.openxmlformats.org/officeDocument/2006/math">
                    <m:f>
                      <m:fPr>
                        <m:ctrlPr>
                          <a:rPr lang="en-AU" sz="1600" i="1" kern="1200">
                            <a:solidFill>
                              <a:schemeClr val="tx1"/>
                            </a:solidFill>
                            <a:effectLst/>
                            <a:latin typeface="Cambria Math" panose="02040503050406030204" pitchFamily="18" charset="0"/>
                            <a:ea typeface="+mn-ea"/>
                            <a:cs typeface="Arial" panose="020B0604020202020204" pitchFamily="34" charset="0"/>
                          </a:rPr>
                        </m:ctrlPr>
                      </m:fPr>
                      <m:num>
                        <m:r>
                          <a:rPr lang="en-AU" sz="1600" i="1" kern="1200">
                            <a:solidFill>
                              <a:schemeClr val="tx1"/>
                            </a:solidFill>
                            <a:effectLst/>
                            <a:latin typeface="Cambria Math" panose="02040503050406030204" pitchFamily="18" charset="0"/>
                            <a:ea typeface="+mn-ea"/>
                            <a:cs typeface="Arial" panose="020B0604020202020204" pitchFamily="34" charset="0"/>
                          </a:rPr>
                          <m:t>1</m:t>
                        </m:r>
                      </m:num>
                      <m:den>
                        <m:r>
                          <a:rPr lang="en-AU" sz="1600" i="1" kern="1200">
                            <a:solidFill>
                              <a:schemeClr val="tx1"/>
                            </a:solidFill>
                            <a:effectLst/>
                            <a:latin typeface="Cambria Math" panose="02040503050406030204" pitchFamily="18" charset="0"/>
                            <a:ea typeface="+mn-ea"/>
                            <a:cs typeface="Arial" panose="020B0604020202020204" pitchFamily="34" charset="0"/>
                          </a:rPr>
                          <m:t>10</m:t>
                        </m:r>
                      </m:den>
                    </m:f>
                  </m:oMath>
                </a14:m>
                <a:r>
                  <a:rPr lang="en-AU" sz="1600" kern="1200">
                    <a:solidFill>
                      <a:schemeClr val="tx1"/>
                    </a:solidFill>
                    <a:effectLst/>
                    <a:latin typeface="Arial" panose="020B0604020202020204" pitchFamily="34" charset="0"/>
                    <a:ea typeface="+mn-ea"/>
                    <a:cs typeface="Arial" panose="020B0604020202020204" pitchFamily="34" charset="0"/>
                  </a:rPr>
                  <a:t>.</a:t>
                </a:r>
              </a:p>
              <a:p>
                <a:pPr marL="342900" lvl="0" indent="-342900">
                  <a:buFont typeface="+mj-lt"/>
                  <a:buAutoNum type="alphaLcParenR"/>
                </a:pPr>
                <a:r>
                  <a:rPr lang="en-AU" sz="1600" kern="1200">
                    <a:solidFill>
                      <a:schemeClr val="tx1"/>
                    </a:solidFill>
                    <a:effectLst/>
                    <a:latin typeface="Arial" panose="020B0604020202020204" pitchFamily="34" charset="0"/>
                    <a:ea typeface="+mn-ea"/>
                    <a:cs typeface="Arial" panose="020B0604020202020204" pitchFamily="34" charset="0"/>
                  </a:rPr>
                  <a:t>Player 1 then flips over a lolly shop card and calculates the fraction by drawing a bar model or a tape diagram to record the fractional thinking.</a:t>
                </a:r>
              </a:p>
              <a:p>
                <a:pPr marL="342900" lvl="0" indent="-342900">
                  <a:buFont typeface="+mj-lt"/>
                  <a:buAutoNum type="alphaLcParenR"/>
                </a:pPr>
                <a:r>
                  <a:rPr lang="en-AU" sz="1600" kern="1200">
                    <a:solidFill>
                      <a:schemeClr val="tx1"/>
                    </a:solidFill>
                    <a:effectLst/>
                    <a:latin typeface="Arial" panose="020B0604020202020204" pitchFamily="34" charset="0"/>
                    <a:ea typeface="+mn-ea"/>
                    <a:cs typeface="Arial" panose="020B0604020202020204" pitchFamily="34" charset="0"/>
                  </a:rPr>
                  <a:t>Player 2 repeats the same steps.</a:t>
                </a:r>
              </a:p>
              <a:p>
                <a:pPr marL="342900" lvl="0" indent="-342900">
                  <a:buFont typeface="+mj-lt"/>
                  <a:buAutoNum type="alphaLcParenR"/>
                </a:pPr>
                <a:r>
                  <a:rPr lang="en-AU" sz="1600" kern="1200">
                    <a:solidFill>
                      <a:schemeClr val="tx1"/>
                    </a:solidFill>
                    <a:effectLst/>
                    <a:latin typeface="Arial" panose="020B0604020202020204" pitchFamily="34" charset="0"/>
                    <a:ea typeface="+mn-ea"/>
                    <a:cs typeface="Arial" panose="020B0604020202020204" pitchFamily="34" charset="0"/>
                  </a:rPr>
                  <a:t>If a player picks a denominator that cannot be used on the lolly shop cards without a remainder, they miss their turn.</a:t>
                </a:r>
              </a:p>
              <a:p>
                <a:pPr lvl="0"/>
                <a:r>
                  <a:rPr lang="en-AU" sz="1600" kern="1200">
                    <a:solidFill>
                      <a:schemeClr val="tx1"/>
                    </a:solidFill>
                    <a:effectLst/>
                    <a:latin typeface="Arial" panose="020B0604020202020204" pitchFamily="34" charset="0"/>
                    <a:ea typeface="+mn-ea"/>
                    <a:cs typeface="Arial" panose="020B0604020202020204" pitchFamily="34" charset="0"/>
                  </a:rPr>
                  <a:t>2. Play continues until all the cards have been used. The winner is the player with the most lollies after all the cards have been played. </a:t>
                </a:r>
              </a:p>
              <a:p>
                <a:pPr marL="0" indent="0">
                  <a:buFont typeface="+mj-lt"/>
                  <a:buNone/>
                </a:pPr>
                <a:endParaRPr lang="en-AU" b="0"/>
              </a:p>
              <a:p>
                <a:endParaRPr lang="en-AU" b="1"/>
              </a:p>
              <a:p>
                <a:pPr marL="342900" indent="-342900">
                  <a:buFont typeface="+mj-lt"/>
                  <a:buAutoNum type="arabicPeriod"/>
                </a:pPr>
                <a:endParaRPr lang="en-AU"/>
              </a:p>
              <a:p>
                <a:endParaRPr lang="en-AU"/>
              </a:p>
            </p:txBody>
          </p:sp>
        </mc:Choice>
        <mc:Fallback xmlns="">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B</a:t>
                </a:r>
              </a:p>
              <a:p>
                <a:endParaRPr lang="en-AU"/>
              </a:p>
              <a:p>
                <a:endParaRPr lang="en-AU"/>
              </a:p>
              <a:p>
                <a:r>
                  <a:rPr lang="en-AU" b="1"/>
                  <a:t>Lolly shop</a:t>
                </a:r>
              </a:p>
              <a:p>
                <a:endParaRPr lang="en-AU" b="1"/>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this activity is similar to the farmer’s market in Lesson 1, building on quarters and fifths.</a:t>
                </a:r>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1. Provide students with Resource 26 – lolly shop cards (this resource corresponds </a:t>
                </a:r>
                <a:r>
                  <a:rPr lang="en-AU" sz="1600" b="0">
                    <a:effectLst/>
                    <a:latin typeface="Arial"/>
                    <a:ea typeface="Calibri"/>
                    <a:cs typeface="Arial"/>
                  </a:rPr>
                  <a:t>to </a:t>
                </a:r>
                <a:r>
                  <a:rPr lang="en-AU" sz="1600" kern="1200">
                    <a:solidFill>
                      <a:schemeClr val="tx1"/>
                    </a:solidFill>
                    <a:effectLst/>
                    <a:latin typeface="Arial" panose="020B0604020202020204" pitchFamily="34" charset="0"/>
                    <a:ea typeface="+mn-ea"/>
                    <a:cs typeface="Arial" panose="020B0604020202020204" pitchFamily="34" charset="0"/>
                  </a:rPr>
                  <a:t>Resource 26 – lolly shop cards </a:t>
                </a:r>
                <a:r>
                  <a:rPr lang="en-AU" sz="1600" b="0">
                    <a:effectLst/>
                    <a:latin typeface="Arial"/>
                    <a:ea typeface="Calibri"/>
                    <a:cs typeface="Arial"/>
                  </a:rPr>
                  <a:t>in </a:t>
                </a:r>
                <a:r>
                  <a:rPr lang="en-AU" b="0"/>
                  <a:t>Stage 3 Year B Unit 38</a:t>
                </a:r>
                <a:r>
                  <a:rPr lang="en-AU" sz="1600" b="0">
                    <a:effectLst/>
                    <a:latin typeface="Arial"/>
                    <a:ea typeface="Calibri"/>
                    <a:cs typeface="Arial"/>
                  </a:rPr>
                  <a:t>)</a:t>
                </a:r>
                <a:r>
                  <a:rPr lang="en-AU" sz="1600" kern="1200">
                    <a:solidFill>
                      <a:schemeClr val="tx1"/>
                    </a:solidFill>
                    <a:effectLst/>
                    <a:latin typeface="Arial" panose="020B0604020202020204" pitchFamily="34" charset="0"/>
                    <a:ea typeface="+mn-ea"/>
                    <a:cs typeface="Arial" panose="020B0604020202020204" pitchFamily="34" charset="0"/>
                  </a:rPr>
                  <a:t>, and a deck of cards with 3, 6, 7, 8, 9 and picture cards removed.</a:t>
                </a:r>
              </a:p>
              <a:p>
                <a:pPr marL="342900" lvl="0" indent="-342900">
                  <a:buFont typeface="+mj-lt"/>
                  <a:buAutoNum type="alphaLcParenR"/>
                </a:pPr>
                <a:r>
                  <a:rPr lang="en-AU" sz="1600" kern="1200">
                    <a:solidFill>
                      <a:schemeClr val="tx1"/>
                    </a:solidFill>
                    <a:effectLst/>
                    <a:latin typeface="Arial" panose="020B0604020202020204" pitchFamily="34" charset="0"/>
                    <a:ea typeface="+mn-ea"/>
                    <a:cs typeface="Arial" panose="020B0604020202020204" pitchFamily="34" charset="0"/>
                  </a:rPr>
                  <a:t>Place lolly shop cards in one pile and place playing cards into a separate pile.</a:t>
                </a:r>
              </a:p>
              <a:p>
                <a:pPr marL="342900" lvl="0" indent="-342900">
                  <a:buFont typeface="+mj-lt"/>
                  <a:buAutoNum type="alphaLcParenR"/>
                </a:pPr>
                <a:r>
                  <a:rPr lang="en-AU" sz="1600" kern="1200">
                    <a:solidFill>
                      <a:schemeClr val="tx1"/>
                    </a:solidFill>
                    <a:effectLst/>
                    <a:latin typeface="Arial" panose="020B0604020202020204" pitchFamily="34" charset="0"/>
                    <a:ea typeface="+mn-ea"/>
                    <a:cs typeface="Arial" panose="020B0604020202020204" pitchFamily="34" charset="0"/>
                  </a:rPr>
                  <a:t>Player 1 flips over a card. This will be the denominator for the unit fraction. For example, a 10 is flipped, so the fraction would be </a:t>
                </a:r>
                <a:r>
                  <a:rPr lang="en-AU" sz="1600" i="0" kern="1200">
                    <a:solidFill>
                      <a:schemeClr val="tx1"/>
                    </a:solidFill>
                    <a:effectLst/>
                    <a:latin typeface="Cambria Math" panose="02040503050406030204" pitchFamily="18" charset="0"/>
                    <a:ea typeface="+mn-ea"/>
                    <a:cs typeface="Arial" panose="020B0604020202020204" pitchFamily="34" charset="0"/>
                  </a:rPr>
                  <a:t>1/10</a:t>
                </a:r>
                <a:r>
                  <a:rPr lang="en-AU" sz="1600" kern="1200">
                    <a:solidFill>
                      <a:schemeClr val="tx1"/>
                    </a:solidFill>
                    <a:effectLst/>
                    <a:latin typeface="Arial" panose="020B0604020202020204" pitchFamily="34" charset="0"/>
                    <a:ea typeface="+mn-ea"/>
                    <a:cs typeface="Arial" panose="020B0604020202020204" pitchFamily="34" charset="0"/>
                  </a:rPr>
                  <a:t>.</a:t>
                </a:r>
              </a:p>
              <a:p>
                <a:pPr marL="342900" lvl="0" indent="-342900">
                  <a:buFont typeface="+mj-lt"/>
                  <a:buAutoNum type="alphaLcParenR"/>
                </a:pPr>
                <a:r>
                  <a:rPr lang="en-AU" sz="1600" kern="1200">
                    <a:solidFill>
                      <a:schemeClr val="tx1"/>
                    </a:solidFill>
                    <a:effectLst/>
                    <a:latin typeface="Arial" panose="020B0604020202020204" pitchFamily="34" charset="0"/>
                    <a:ea typeface="+mn-ea"/>
                    <a:cs typeface="Arial" panose="020B0604020202020204" pitchFamily="34" charset="0"/>
                  </a:rPr>
                  <a:t>Player 1 then flips over a lolly shop card and calculates the fraction by drawing a bar model or a tape diagram to record the fractional thinking.</a:t>
                </a:r>
              </a:p>
              <a:p>
                <a:pPr marL="342900" lvl="0" indent="-342900">
                  <a:buFont typeface="+mj-lt"/>
                  <a:buAutoNum type="alphaLcParenR"/>
                </a:pPr>
                <a:r>
                  <a:rPr lang="en-AU" sz="1600" kern="1200">
                    <a:solidFill>
                      <a:schemeClr val="tx1"/>
                    </a:solidFill>
                    <a:effectLst/>
                    <a:latin typeface="Arial" panose="020B0604020202020204" pitchFamily="34" charset="0"/>
                    <a:ea typeface="+mn-ea"/>
                    <a:cs typeface="Arial" panose="020B0604020202020204" pitchFamily="34" charset="0"/>
                  </a:rPr>
                  <a:t>Player 2 repeats the same steps.</a:t>
                </a:r>
              </a:p>
              <a:p>
                <a:pPr marL="342900" lvl="0" indent="-342900">
                  <a:buFont typeface="+mj-lt"/>
                  <a:buAutoNum type="alphaLcParenR"/>
                </a:pPr>
                <a:r>
                  <a:rPr lang="en-AU" sz="1600" kern="1200">
                    <a:solidFill>
                      <a:schemeClr val="tx1"/>
                    </a:solidFill>
                    <a:effectLst/>
                    <a:latin typeface="Arial" panose="020B0604020202020204" pitchFamily="34" charset="0"/>
                    <a:ea typeface="+mn-ea"/>
                    <a:cs typeface="Arial" panose="020B0604020202020204" pitchFamily="34" charset="0"/>
                  </a:rPr>
                  <a:t>If a player picks a denominator that cannot be used on the lolly shop cards without a remainder, they miss their turn.</a:t>
                </a:r>
              </a:p>
              <a:p>
                <a:pPr lvl="0"/>
                <a:r>
                  <a:rPr lang="en-AU" sz="1600" kern="1200">
                    <a:solidFill>
                      <a:schemeClr val="tx1"/>
                    </a:solidFill>
                    <a:effectLst/>
                    <a:latin typeface="Arial" panose="020B0604020202020204" pitchFamily="34" charset="0"/>
                    <a:ea typeface="+mn-ea"/>
                    <a:cs typeface="Arial" panose="020B0604020202020204" pitchFamily="34" charset="0"/>
                  </a:rPr>
                  <a:t>2. Play continues until all the cards have been used. The winner is the player with the most lollies after all the cards have been played. </a:t>
                </a:r>
              </a:p>
              <a:p>
                <a:pPr marL="0" indent="0">
                  <a:buFont typeface="+mj-lt"/>
                  <a:buNone/>
                </a:pPr>
                <a:endParaRPr lang="en-AU" b="0"/>
              </a:p>
              <a:p>
                <a:endParaRPr lang="en-AU" b="1"/>
              </a:p>
              <a:p>
                <a:pPr marL="342900" indent="-342900">
                  <a:buFont typeface="+mj-lt"/>
                  <a:buAutoNum type="arabicPeriod"/>
                </a:pPr>
                <a:endParaRPr lang="en-AU"/>
              </a:p>
              <a:p>
                <a:endParaRPr lang="en-AU"/>
              </a:p>
            </p:txBody>
          </p:sp>
        </mc:Fallback>
      </mc:AlternateContent>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Representing quantity fractions B</a:t>
            </a:r>
            <a:endParaRPr lang="en-AU"/>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443633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Chance B</a:t>
            </a:r>
            <a:endParaRPr lang="en-AU"/>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Two-dimensional spatial structure A: Area</a:t>
            </a:r>
            <a:endParaRPr lang="en-AU"/>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Represents numbers B: Decimals and percentages</a:t>
            </a:r>
            <a:endParaRPr lang="en-AU"/>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Two-dimensional spatial structure B: 2D Shapes</a:t>
            </a:r>
            <a:endParaRPr lang="en-AU"/>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B</a:t>
            </a:r>
          </a:p>
          <a:p>
            <a:endParaRPr lang="en-AU"/>
          </a:p>
          <a:p>
            <a:r>
              <a:rPr lang="en-AU" b="1"/>
              <a:t>Fractions of chocolates</a:t>
            </a:r>
          </a:p>
          <a:p>
            <a:endParaRPr lang="en-AU" b="1"/>
          </a:p>
          <a:p>
            <a:pPr marL="0" lvl="0" indent="0">
              <a:lnSpc>
                <a:spcPct val="150000"/>
              </a:lnSpc>
              <a:spcBef>
                <a:spcPts val="1200"/>
              </a:spcBef>
              <a:spcAft>
                <a:spcPts val="600"/>
              </a:spcAft>
              <a:buFont typeface="+mj-lt"/>
              <a:buNone/>
              <a:tabLst>
                <a:tab pos="228600" algn="l"/>
                <a:tab pos="457200" algn="l"/>
              </a:tabLst>
            </a:pPr>
            <a:r>
              <a:rPr lang="en-AU" sz="1600">
                <a:effectLst/>
                <a:latin typeface="Arial" panose="020B0604020202020204" pitchFamily="34" charset="0"/>
                <a:ea typeface="Calibri" panose="020F0502020204030204" pitchFamily="34" charset="0"/>
              </a:rPr>
              <a:t>Display Resource 27 – box of chocolates (this resource corresponds to Resource 27 – box of chocolates in Stage 3 Year B Unit 38). Students work on a solution, recording their ideas on an individual whiteboard. </a:t>
            </a:r>
          </a:p>
          <a:p>
            <a:pPr marL="342900" lvl="0" indent="-342900">
              <a:lnSpc>
                <a:spcPct val="150000"/>
              </a:lnSpc>
              <a:spcBef>
                <a:spcPts val="1200"/>
              </a:spcBef>
              <a:spcAft>
                <a:spcPts val="600"/>
              </a:spcAft>
              <a:buFont typeface="+mj-lt"/>
              <a:buAutoNum type="arabicPeriod"/>
              <a:tabLst>
                <a:tab pos="228600" algn="l"/>
                <a:tab pos="457200" algn="l"/>
              </a:tabLst>
            </a:pPr>
            <a:endParaRPr lang="en-AU" sz="160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tabLst>
                <a:tab pos="228600" algn="l"/>
                <a:tab pos="457200" algn="l"/>
              </a:tabLst>
            </a:pPr>
            <a:r>
              <a:rPr lang="en-AU" sz="1600">
                <a:effectLst/>
                <a:latin typeface="Arial" panose="020B0604020202020204" pitchFamily="34" charset="0"/>
                <a:ea typeface="Calibri" panose="020F0502020204030204" pitchFamily="34" charset="0"/>
              </a:rPr>
              <a:t>Discuss the task. Ask the following questions: </a:t>
            </a:r>
          </a:p>
          <a:p>
            <a:pPr marL="0" lvl="0" indent="0">
              <a:lnSpc>
                <a:spcPct val="150000"/>
              </a:lnSpc>
              <a:spcBef>
                <a:spcPts val="1200"/>
              </a:spcBef>
              <a:spcAft>
                <a:spcPts val="600"/>
              </a:spcAft>
              <a:buFont typeface="+mj-lt"/>
              <a:buNone/>
            </a:pPr>
            <a:r>
              <a:rPr lang="en-AU" sz="1600">
                <a:effectLst/>
                <a:latin typeface="Arial" panose="020B0604020202020204" pitchFamily="34" charset="0"/>
                <a:ea typeface="Calibri" panose="020F0502020204030204" pitchFamily="34" charset="0"/>
                <a:cs typeface="Times New Roman" panose="02020603050405020304" pitchFamily="18" charset="0"/>
              </a:rPr>
              <a:t>- How many caramel chocolates are there? </a:t>
            </a:r>
          </a:p>
          <a:p>
            <a:pPr marL="0" lvl="0" indent="0">
              <a:lnSpc>
                <a:spcPct val="150000"/>
              </a:lnSpc>
              <a:spcBef>
                <a:spcPts val="1200"/>
              </a:spcBef>
              <a:spcAft>
                <a:spcPts val="600"/>
              </a:spcAft>
              <a:buFont typeface="+mj-lt"/>
              <a:buNone/>
            </a:pPr>
            <a:r>
              <a:rPr lang="en-AU" sz="1600">
                <a:effectLst/>
                <a:latin typeface="Arial" panose="020B0604020202020204" pitchFamily="34" charset="0"/>
                <a:ea typeface="Calibri" panose="020F0502020204030204" pitchFamily="34" charset="0"/>
                <a:cs typeface="Times New Roman" panose="02020603050405020304" pitchFamily="18" charset="0"/>
              </a:rPr>
              <a:t>- How many Turkish delight chocolates are there? </a:t>
            </a:r>
          </a:p>
          <a:p>
            <a:pPr marL="342900" lvl="0" indent="-342900">
              <a:lnSpc>
                <a:spcPct val="150000"/>
              </a:lnSpc>
              <a:spcBef>
                <a:spcPts val="1200"/>
              </a:spcBef>
              <a:spcAft>
                <a:spcPts val="600"/>
              </a:spcAft>
              <a:buFont typeface="+mj-lt"/>
              <a:buAutoNum type="arabicPeriod"/>
              <a:tabLst>
                <a:tab pos="228600" algn="l"/>
                <a:tab pos="457200" algn="l"/>
              </a:tabLst>
            </a:pPr>
            <a:endParaRPr lang="en-AU" sz="160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tabLst>
                <a:tab pos="228600" algn="l"/>
                <a:tab pos="457200" algn="l"/>
              </a:tabLst>
            </a:pPr>
            <a:r>
              <a:rPr lang="en-AU" sz="1600">
                <a:effectLst/>
                <a:latin typeface="Arial" panose="020B0604020202020204" pitchFamily="34" charset="0"/>
                <a:ea typeface="Calibri" panose="020F0502020204030204" pitchFamily="34" charset="0"/>
              </a:rPr>
              <a:t>State that a bar model or tape diagram may help with this task. </a:t>
            </a:r>
          </a:p>
          <a:p>
            <a:pPr marL="0" lvl="0" indent="0">
              <a:lnSpc>
                <a:spcPct val="150000"/>
              </a:lnSpc>
              <a:spcBef>
                <a:spcPts val="1200"/>
              </a:spcBef>
              <a:spcAft>
                <a:spcPts val="600"/>
              </a:spcAft>
              <a:buFont typeface="+mj-lt"/>
              <a:buNone/>
              <a:tabLst>
                <a:tab pos="228600" algn="l"/>
                <a:tab pos="457200" algn="l"/>
              </a:tabLst>
            </a:pPr>
            <a:endParaRPr lang="en-AU" sz="160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tabLst>
                <a:tab pos="228600" algn="l"/>
                <a:tab pos="457200" algn="l"/>
              </a:tabLst>
            </a:pPr>
            <a:r>
              <a:rPr lang="en-AU" sz="1600">
                <a:effectLst/>
                <a:latin typeface="Arial" panose="020B0604020202020204" pitchFamily="34" charset="0"/>
                <a:ea typeface="Calibri" panose="020F0502020204030204" pitchFamily="34" charset="0"/>
              </a:rPr>
              <a:t>Regroup and ask:</a:t>
            </a:r>
          </a:p>
          <a:p>
            <a:pPr marL="0" lvl="0" indent="0">
              <a:lnSpc>
                <a:spcPct val="150000"/>
              </a:lnSpc>
              <a:spcBef>
                <a:spcPts val="1200"/>
              </a:spcBef>
              <a:spcAft>
                <a:spcPts val="600"/>
              </a:spcAft>
              <a:buFont typeface="+mj-lt"/>
              <a:buNone/>
            </a:pPr>
            <a:r>
              <a:rPr lang="en-AU" sz="1600">
                <a:effectLst/>
                <a:latin typeface="Arial" panose="020B0604020202020204" pitchFamily="34" charset="0"/>
                <a:ea typeface="Calibri" panose="020F0502020204030204" pitchFamily="34" charset="0"/>
                <a:cs typeface="Times New Roman" panose="02020603050405020304" pitchFamily="18" charset="0"/>
              </a:rPr>
              <a:t>- What was the most effective you used to determine the answer? Why was it the most effective?</a:t>
            </a:r>
          </a:p>
          <a:p>
            <a:pPr marL="342900" indent="-342900" algn="l" rtl="0" fontAlgn="base">
              <a:buFont typeface="+mj-lt"/>
              <a:buAutoNum type="arabicPeriod"/>
            </a:pPr>
            <a:endParaRPr lang="en-AU" sz="1600" b="0" i="0">
              <a:solidFill>
                <a:srgbClr val="000000"/>
              </a:solidFill>
              <a:effectLst/>
              <a:highlight>
                <a:srgbClr val="FFFFFF"/>
              </a:highlight>
              <a:latin typeface="Arial" panose="020B0604020202020204" pitchFamily="34" charset="0"/>
            </a:endParaRPr>
          </a:p>
          <a:p>
            <a:pPr marL="342900" indent="-342900">
              <a:buFont typeface="+mj-lt"/>
              <a:buAutoNum type="arabicPeriod"/>
            </a:pPr>
            <a:endParaRPr lang="en-AU" b="0"/>
          </a:p>
          <a:p>
            <a:pPr marL="342900" indent="-342900">
              <a:buFont typeface="+mj-lt"/>
              <a:buAutoNum type="arabicPeriod"/>
            </a:pPr>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2E96B-5DA3-CD53-4D78-11FD56CBF1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6EB7C2-99C7-234D-BE30-A043C667A5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10D4D7-888A-5BC2-3350-E60FD0BB05CA}"/>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B</a:t>
            </a:r>
          </a:p>
          <a:p>
            <a:endParaRPr lang="en-AU"/>
          </a:p>
          <a:p>
            <a:r>
              <a:rPr lang="en-AU" b="1"/>
              <a:t>Fractions of chocolates</a:t>
            </a:r>
          </a:p>
          <a:p>
            <a:endParaRPr lang="en-AU" b="1"/>
          </a:p>
          <a:p>
            <a:pPr marL="0" lvl="0" indent="0">
              <a:lnSpc>
                <a:spcPct val="150000"/>
              </a:lnSpc>
              <a:spcBef>
                <a:spcPts val="1200"/>
              </a:spcBef>
              <a:spcAft>
                <a:spcPts val="600"/>
              </a:spcAft>
              <a:buFont typeface="+mj-lt"/>
              <a:buNone/>
              <a:tabLst>
                <a:tab pos="228600" algn="l"/>
                <a:tab pos="457200" algn="l"/>
              </a:tabLst>
            </a:pPr>
            <a:r>
              <a:rPr lang="en-AU" sz="1600">
                <a:effectLst/>
                <a:latin typeface="Arial" panose="020B0604020202020204" pitchFamily="34" charset="0"/>
                <a:ea typeface="Calibri" panose="020F0502020204030204" pitchFamily="34" charset="0"/>
              </a:rPr>
              <a:t>Display Resource 27 – box of chocolates (this resource corresponds to Resource 27 – box of chocolates in Stage 3 Year B Unit 38). Students work on a solution, recording their ideas on an individual whiteboard. </a:t>
            </a:r>
          </a:p>
          <a:p>
            <a:pPr marL="342900" lvl="0" indent="-342900">
              <a:lnSpc>
                <a:spcPct val="150000"/>
              </a:lnSpc>
              <a:spcBef>
                <a:spcPts val="1200"/>
              </a:spcBef>
              <a:spcAft>
                <a:spcPts val="600"/>
              </a:spcAft>
              <a:buFont typeface="+mj-lt"/>
              <a:buAutoNum type="arabicPeriod"/>
              <a:tabLst>
                <a:tab pos="228600" algn="l"/>
                <a:tab pos="457200" algn="l"/>
              </a:tabLst>
            </a:pPr>
            <a:endParaRPr lang="en-AU" sz="160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tabLst>
                <a:tab pos="228600" algn="l"/>
                <a:tab pos="457200" algn="l"/>
              </a:tabLst>
            </a:pPr>
            <a:r>
              <a:rPr lang="en-AU" sz="1600">
                <a:effectLst/>
                <a:latin typeface="Arial" panose="020B0604020202020204" pitchFamily="34" charset="0"/>
                <a:ea typeface="Calibri" panose="020F0502020204030204" pitchFamily="34" charset="0"/>
              </a:rPr>
              <a:t>Discuss the task. Ask the following questions: </a:t>
            </a:r>
          </a:p>
          <a:p>
            <a:pPr marL="0" lvl="0" indent="0">
              <a:lnSpc>
                <a:spcPct val="150000"/>
              </a:lnSpc>
              <a:spcBef>
                <a:spcPts val="1200"/>
              </a:spcBef>
              <a:spcAft>
                <a:spcPts val="600"/>
              </a:spcAft>
              <a:buFont typeface="+mj-lt"/>
              <a:buNone/>
            </a:pPr>
            <a:r>
              <a:rPr lang="en-AU" sz="1600">
                <a:effectLst/>
                <a:latin typeface="Arial" panose="020B0604020202020204" pitchFamily="34" charset="0"/>
                <a:ea typeface="Calibri" panose="020F0502020204030204" pitchFamily="34" charset="0"/>
                <a:cs typeface="Times New Roman" panose="02020603050405020304" pitchFamily="18" charset="0"/>
              </a:rPr>
              <a:t>- How many caramel chocolates are there? </a:t>
            </a:r>
          </a:p>
          <a:p>
            <a:pPr marL="0" lvl="0" indent="0">
              <a:lnSpc>
                <a:spcPct val="150000"/>
              </a:lnSpc>
              <a:spcBef>
                <a:spcPts val="1200"/>
              </a:spcBef>
              <a:spcAft>
                <a:spcPts val="600"/>
              </a:spcAft>
              <a:buFont typeface="+mj-lt"/>
              <a:buNone/>
            </a:pPr>
            <a:r>
              <a:rPr lang="en-AU" sz="1600">
                <a:effectLst/>
                <a:latin typeface="Arial" panose="020B0604020202020204" pitchFamily="34" charset="0"/>
                <a:ea typeface="Calibri" panose="020F0502020204030204" pitchFamily="34" charset="0"/>
                <a:cs typeface="Times New Roman" panose="02020603050405020304" pitchFamily="18" charset="0"/>
              </a:rPr>
              <a:t>- How many Turkish delight chocolates are there? </a:t>
            </a:r>
          </a:p>
          <a:p>
            <a:pPr marL="342900" lvl="0" indent="-342900">
              <a:lnSpc>
                <a:spcPct val="150000"/>
              </a:lnSpc>
              <a:spcBef>
                <a:spcPts val="1200"/>
              </a:spcBef>
              <a:spcAft>
                <a:spcPts val="600"/>
              </a:spcAft>
              <a:buFont typeface="+mj-lt"/>
              <a:buAutoNum type="arabicPeriod"/>
              <a:tabLst>
                <a:tab pos="228600" algn="l"/>
                <a:tab pos="457200" algn="l"/>
              </a:tabLst>
            </a:pPr>
            <a:endParaRPr lang="en-AU" sz="160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tabLst>
                <a:tab pos="228600" algn="l"/>
                <a:tab pos="457200" algn="l"/>
              </a:tabLst>
            </a:pPr>
            <a:r>
              <a:rPr lang="en-AU" sz="1600">
                <a:effectLst/>
                <a:latin typeface="Arial" panose="020B0604020202020204" pitchFamily="34" charset="0"/>
                <a:ea typeface="Calibri" panose="020F0502020204030204" pitchFamily="34" charset="0"/>
              </a:rPr>
              <a:t>State that a bar model or tape diagram may help with this task. </a:t>
            </a:r>
          </a:p>
          <a:p>
            <a:pPr marL="0" lvl="0" indent="0">
              <a:lnSpc>
                <a:spcPct val="150000"/>
              </a:lnSpc>
              <a:spcBef>
                <a:spcPts val="1200"/>
              </a:spcBef>
              <a:spcAft>
                <a:spcPts val="600"/>
              </a:spcAft>
              <a:buFont typeface="+mj-lt"/>
              <a:buNone/>
              <a:tabLst>
                <a:tab pos="228600" algn="l"/>
                <a:tab pos="457200" algn="l"/>
              </a:tabLst>
            </a:pPr>
            <a:endParaRPr lang="en-AU" sz="160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tabLst>
                <a:tab pos="228600" algn="l"/>
                <a:tab pos="457200" algn="l"/>
              </a:tabLst>
            </a:pPr>
            <a:r>
              <a:rPr lang="en-AU" sz="1600">
                <a:effectLst/>
                <a:latin typeface="Arial" panose="020B0604020202020204" pitchFamily="34" charset="0"/>
                <a:ea typeface="Calibri" panose="020F0502020204030204" pitchFamily="34" charset="0"/>
              </a:rPr>
              <a:t>Regroup and ask:</a:t>
            </a:r>
          </a:p>
          <a:p>
            <a:pPr marL="0" lvl="0" indent="0">
              <a:lnSpc>
                <a:spcPct val="150000"/>
              </a:lnSpc>
              <a:spcBef>
                <a:spcPts val="1200"/>
              </a:spcBef>
              <a:spcAft>
                <a:spcPts val="600"/>
              </a:spcAft>
              <a:buFont typeface="+mj-lt"/>
              <a:buNone/>
            </a:pPr>
            <a:r>
              <a:rPr lang="en-AU" sz="1600">
                <a:effectLst/>
                <a:latin typeface="Arial" panose="020B0604020202020204" pitchFamily="34" charset="0"/>
                <a:ea typeface="Calibri" panose="020F0502020204030204" pitchFamily="34" charset="0"/>
                <a:cs typeface="Times New Roman" panose="02020603050405020304" pitchFamily="18" charset="0"/>
              </a:rPr>
              <a:t>- What was the most effective you used to determine the answer? Why was it the most effective?</a:t>
            </a:r>
          </a:p>
          <a:p>
            <a:pPr marL="342900" indent="-342900" algn="l" rtl="0" fontAlgn="base">
              <a:buFont typeface="+mj-lt"/>
              <a:buAutoNum type="arabicPeriod"/>
            </a:pPr>
            <a:endParaRPr lang="en-AU" sz="1600" b="0" i="0">
              <a:solidFill>
                <a:srgbClr val="000000"/>
              </a:solidFill>
              <a:effectLst/>
              <a:highlight>
                <a:srgbClr val="FFFFFF"/>
              </a:highlight>
              <a:latin typeface="Arial" panose="020B0604020202020204" pitchFamily="34" charset="0"/>
            </a:endParaRPr>
          </a:p>
          <a:p>
            <a:pPr marL="342900" indent="-342900">
              <a:buFont typeface="+mj-lt"/>
              <a:buAutoNum type="arabicPeriod"/>
            </a:pPr>
            <a:endParaRPr lang="en-AU" b="0"/>
          </a:p>
          <a:p>
            <a:pPr marL="342900" indent="-342900">
              <a:buFont typeface="+mj-lt"/>
              <a:buAutoNum type="arabicPeriod"/>
            </a:pPr>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6DD81AF-749A-14B9-594F-693C71FEF5E6}"/>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8828991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Representing quantity fractions B</a:t>
            </a:r>
            <a:endParaRPr lang="en-AU"/>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Chance B</a:t>
            </a:r>
            <a:endParaRPr lang="en-AU"/>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Two-dimensional spatial structure B: Area</a:t>
            </a:r>
            <a:endParaRPr lang="en-AU"/>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Represents numbers B: Decimals and percentages</a:t>
            </a:r>
            <a:endParaRPr lang="en-AU"/>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Non-spatial measure B: Time</a:t>
            </a:r>
            <a:endParaRPr lang="en-AU"/>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B</a:t>
            </a:r>
          </a:p>
          <a:p>
            <a:endParaRPr lang="en-AU"/>
          </a:p>
          <a:p>
            <a:r>
              <a:rPr lang="en-AU" b="1"/>
              <a:t>Fraction chocolate box</a:t>
            </a:r>
          </a:p>
          <a:p>
            <a:endParaRPr lang="en-AU" b="1"/>
          </a:p>
          <a:p>
            <a:pPr lvl="0"/>
            <a:r>
              <a:rPr lang="en-AU" sz="1600">
                <a:effectLst/>
                <a:latin typeface="Arial" panose="020B0604020202020204" pitchFamily="34" charset="0"/>
                <a:ea typeface="Calibri" panose="020F0502020204030204" pitchFamily="34" charset="0"/>
              </a:rPr>
              <a:t>Display </a:t>
            </a:r>
            <a:r>
              <a:rPr lang="en-AU" b="0"/>
              <a:t>Resource 28 – box of chocolates 2 (</a:t>
            </a:r>
            <a:r>
              <a:rPr lang="en-AU" sz="1600">
                <a:effectLst/>
                <a:highlight>
                  <a:srgbClr val="FFFF00"/>
                </a:highlight>
                <a:latin typeface="Arial" panose="020B0604020202020204" pitchFamily="34" charset="0"/>
                <a:ea typeface="Calibri" panose="020F0502020204030204" pitchFamily="34" charset="0"/>
              </a:rPr>
              <a:t>this resource</a:t>
            </a:r>
            <a:r>
              <a:rPr lang="en-AU" sz="1600" b="0">
                <a:effectLst/>
                <a:highlight>
                  <a:srgbClr val="FFFF00"/>
                </a:highlight>
                <a:latin typeface="Arial"/>
                <a:ea typeface="Calibri"/>
                <a:cs typeface="Arial"/>
              </a:rPr>
              <a:t> corresponds to </a:t>
            </a:r>
            <a:r>
              <a:rPr lang="en-AU" b="0">
                <a:highlight>
                  <a:srgbClr val="FFFF00"/>
                </a:highlight>
              </a:rPr>
              <a:t>Resource 28 – box of chocolates 2 </a:t>
            </a:r>
            <a:r>
              <a:rPr lang="en-AU" sz="1600" b="0">
                <a:effectLst/>
                <a:highlight>
                  <a:srgbClr val="FFFF00"/>
                </a:highlight>
                <a:latin typeface="Arial"/>
                <a:ea typeface="Calibri"/>
                <a:cs typeface="Arial"/>
              </a:rPr>
              <a:t>in </a:t>
            </a:r>
            <a:r>
              <a:rPr lang="en-AU" b="0">
                <a:highlight>
                  <a:srgbClr val="FFFF00"/>
                </a:highlight>
              </a:rPr>
              <a:t>Stage 3 Year B Unit 38</a:t>
            </a:r>
            <a:r>
              <a:rPr lang="en-AU" sz="1600" b="0">
                <a:effectLst/>
                <a:highlight>
                  <a:srgbClr val="FFFF00"/>
                </a:highlight>
                <a:latin typeface="Arial"/>
                <a:ea typeface="Calibri"/>
                <a:cs typeface="Arial"/>
              </a:rPr>
              <a:t>).</a:t>
            </a:r>
            <a:r>
              <a:rPr lang="en-AU" b="0"/>
              <a:t> </a:t>
            </a:r>
            <a:r>
              <a:rPr lang="en-AU" sz="1600" kern="1200">
                <a:solidFill>
                  <a:schemeClr val="tx1"/>
                </a:solidFill>
                <a:effectLst/>
                <a:latin typeface="Arial" panose="020B0604020202020204" pitchFamily="34" charset="0"/>
                <a:ea typeface="+mn-ea"/>
                <a:cs typeface="Arial" panose="020B0604020202020204" pitchFamily="34" charset="0"/>
              </a:rPr>
              <a:t>Students work on a solution, recording their ideas on an individual whiteboard.</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Discuss the task. Ask the following questions:</a:t>
            </a:r>
          </a:p>
          <a:p>
            <a:pPr lvl="0"/>
            <a:r>
              <a:rPr lang="en-AU" sz="1600" kern="1200">
                <a:solidFill>
                  <a:schemeClr val="tx1"/>
                </a:solidFill>
                <a:effectLst/>
                <a:latin typeface="Arial" panose="020B0604020202020204" pitchFamily="34" charset="0"/>
                <a:ea typeface="+mn-ea"/>
                <a:cs typeface="Arial" panose="020B0604020202020204" pitchFamily="34" charset="0"/>
              </a:rPr>
              <a:t>- Two of my chocolates are peppermint. What fraction of the box would contain peppermint chocolates? </a:t>
            </a:r>
          </a:p>
          <a:p>
            <a:pPr lvl="0"/>
            <a:r>
              <a:rPr lang="en-AU" sz="1600" kern="1200">
                <a:solidFill>
                  <a:schemeClr val="tx1"/>
                </a:solidFill>
                <a:effectLst/>
                <a:latin typeface="Arial" panose="020B0604020202020204" pitchFamily="34" charset="0"/>
                <a:ea typeface="+mn-ea"/>
                <a:cs typeface="Arial" panose="020B0604020202020204" pitchFamily="34" charset="0"/>
              </a:rPr>
              <a:t>- How many white raspberry chocolates make up the box?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State that a bar model or tape diagram may help with this task.</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Students work in pairs to complete the task.</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Regroup and ask students to share:</a:t>
            </a:r>
          </a:p>
          <a:p>
            <a:r>
              <a:rPr lang="en-AU" sz="1600" kern="1200">
                <a:solidFill>
                  <a:schemeClr val="tx1"/>
                </a:solidFill>
                <a:effectLst/>
                <a:latin typeface="Arial" panose="020B0604020202020204" pitchFamily="34" charset="0"/>
                <a:ea typeface="+mn-ea"/>
                <a:cs typeface="Arial" panose="020B0604020202020204" pitchFamily="34" charset="0"/>
              </a:rPr>
              <a:t>- How did you calculate the fraction of peppermint chocolates?</a:t>
            </a: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39F1B-72DD-9BC5-2FFD-4CB4ABF7FF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97433A-8D4F-8A4A-CE7E-94FE2C701E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478D54-6064-D1DB-3AE2-39DADE2B4887}"/>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Representing quantity fractions B</a:t>
            </a:r>
          </a:p>
          <a:p>
            <a:endParaRPr lang="en-AU"/>
          </a:p>
          <a:p>
            <a:r>
              <a:rPr lang="en-AU" b="1"/>
              <a:t>Fraction chocolate box</a:t>
            </a:r>
          </a:p>
          <a:p>
            <a:endParaRPr lang="en-AU" b="1"/>
          </a:p>
          <a:p>
            <a:pPr lvl="0"/>
            <a:r>
              <a:rPr lang="en-AU" sz="1600">
                <a:effectLst/>
                <a:latin typeface="Arial" panose="020B0604020202020204" pitchFamily="34" charset="0"/>
                <a:ea typeface="Calibri" panose="020F0502020204030204" pitchFamily="34" charset="0"/>
              </a:rPr>
              <a:t>Display </a:t>
            </a:r>
            <a:r>
              <a:rPr lang="en-AU" b="0"/>
              <a:t>Resource 28 – box of chocolates 2 (</a:t>
            </a:r>
            <a:r>
              <a:rPr lang="en-AU" sz="1600">
                <a:effectLst/>
                <a:highlight>
                  <a:srgbClr val="FFFF00"/>
                </a:highlight>
                <a:latin typeface="Arial" panose="020B0604020202020204" pitchFamily="34" charset="0"/>
                <a:ea typeface="Calibri" panose="020F0502020204030204" pitchFamily="34" charset="0"/>
              </a:rPr>
              <a:t>this resource</a:t>
            </a:r>
            <a:r>
              <a:rPr lang="en-AU" sz="1600" b="0">
                <a:effectLst/>
                <a:highlight>
                  <a:srgbClr val="FFFF00"/>
                </a:highlight>
                <a:latin typeface="Arial"/>
                <a:ea typeface="Calibri"/>
                <a:cs typeface="Arial"/>
              </a:rPr>
              <a:t> corresponds to </a:t>
            </a:r>
            <a:r>
              <a:rPr lang="en-AU" b="0">
                <a:highlight>
                  <a:srgbClr val="FFFF00"/>
                </a:highlight>
              </a:rPr>
              <a:t>Resource 28 – box of chocolates 2 </a:t>
            </a:r>
            <a:r>
              <a:rPr lang="en-AU" sz="1600" b="0">
                <a:effectLst/>
                <a:highlight>
                  <a:srgbClr val="FFFF00"/>
                </a:highlight>
                <a:latin typeface="Arial"/>
                <a:ea typeface="Calibri"/>
                <a:cs typeface="Arial"/>
              </a:rPr>
              <a:t>in </a:t>
            </a:r>
            <a:r>
              <a:rPr lang="en-AU" b="0">
                <a:highlight>
                  <a:srgbClr val="FFFF00"/>
                </a:highlight>
              </a:rPr>
              <a:t>Stage 3 Year B Unit 38</a:t>
            </a:r>
            <a:r>
              <a:rPr lang="en-AU" sz="1600" b="0">
                <a:effectLst/>
                <a:highlight>
                  <a:srgbClr val="FFFF00"/>
                </a:highlight>
                <a:latin typeface="Arial"/>
                <a:ea typeface="Calibri"/>
                <a:cs typeface="Arial"/>
              </a:rPr>
              <a:t>).</a:t>
            </a:r>
            <a:r>
              <a:rPr lang="en-AU" b="0"/>
              <a:t> </a:t>
            </a:r>
            <a:r>
              <a:rPr lang="en-AU" sz="1600" kern="1200">
                <a:solidFill>
                  <a:schemeClr val="tx1"/>
                </a:solidFill>
                <a:effectLst/>
                <a:latin typeface="Arial" panose="020B0604020202020204" pitchFamily="34" charset="0"/>
                <a:ea typeface="+mn-ea"/>
                <a:cs typeface="Arial" panose="020B0604020202020204" pitchFamily="34" charset="0"/>
              </a:rPr>
              <a:t>Students work on a solution, recording their ideas on an individual whiteboard.</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Discuss the task. Ask the following questions:</a:t>
            </a:r>
          </a:p>
          <a:p>
            <a:pPr lvl="0"/>
            <a:r>
              <a:rPr lang="en-AU" sz="1600" kern="1200">
                <a:solidFill>
                  <a:schemeClr val="tx1"/>
                </a:solidFill>
                <a:effectLst/>
                <a:latin typeface="Arial" panose="020B0604020202020204" pitchFamily="34" charset="0"/>
                <a:ea typeface="+mn-ea"/>
                <a:cs typeface="Arial" panose="020B0604020202020204" pitchFamily="34" charset="0"/>
              </a:rPr>
              <a:t>- Two of my chocolates are peppermint. What fraction of the box would contain peppermint chocolates? </a:t>
            </a:r>
          </a:p>
          <a:p>
            <a:pPr lvl="0"/>
            <a:r>
              <a:rPr lang="en-AU" sz="1600" kern="1200">
                <a:solidFill>
                  <a:schemeClr val="tx1"/>
                </a:solidFill>
                <a:effectLst/>
                <a:latin typeface="Arial" panose="020B0604020202020204" pitchFamily="34" charset="0"/>
                <a:ea typeface="+mn-ea"/>
                <a:cs typeface="Arial" panose="020B0604020202020204" pitchFamily="34" charset="0"/>
              </a:rPr>
              <a:t>- How many white raspberry chocolates make up the box?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State that a bar model or tape diagram may help with this task.</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Students work in pairs to complete the task.</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Regroup and ask students to share:</a:t>
            </a:r>
          </a:p>
          <a:p>
            <a:r>
              <a:rPr lang="en-AU" sz="1600" kern="1200">
                <a:solidFill>
                  <a:schemeClr val="tx1"/>
                </a:solidFill>
                <a:effectLst/>
                <a:latin typeface="Arial" panose="020B0604020202020204" pitchFamily="34" charset="0"/>
                <a:ea typeface="+mn-ea"/>
                <a:cs typeface="Arial" panose="020B0604020202020204" pitchFamily="34" charset="0"/>
              </a:rPr>
              <a:t>- How did you calculate the fraction of peppermint chocolates?</a:t>
            </a: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07808A97-5405-E577-1117-79D78DEB9748}"/>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10117744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Representing numbers B: Decimals and percentages</a:t>
            </a:r>
            <a:endParaRPr lang="en-AU"/>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Chance B</a:t>
            </a:r>
            <a:endParaRPr lang="en-AU"/>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Two-dimensional spatial structure B: Area</a:t>
            </a:r>
            <a:endParaRPr lang="en-AU"/>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Representing quantity fractions B</a:t>
            </a:r>
            <a:endParaRPr lang="en-AU"/>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Non-spatial measure B: Mass</a:t>
            </a:r>
            <a:endParaRPr lang="en-AU"/>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B</a:t>
                </a:r>
              </a:p>
              <a:p>
                <a:endParaRPr lang="en-AU"/>
              </a:p>
              <a:p>
                <a:r>
                  <a:rPr lang="en-AU" b="1"/>
                  <a:t>Determining percentages</a:t>
                </a:r>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Provide small groups with sticky notes, pegs and one metre of string.</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Groups construct a number line from zero to one, showing known decimals and percentages. See Figure 7 (this resource corresponds to Figure 7 – number line in Stage 3 Year B Unit 38).</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Remind students that percentage relies on an understanding of fractions and decimals.</a:t>
                </a:r>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a percentage is a fraction out of 100 and can be expressed as a decimal with hundredths. Students can make connections easily when both fractions and decimals are illustrated as hundredths, for example </a:t>
                </a:r>
                <a14:m>
                  <m:oMath xmlns:m="http://schemas.openxmlformats.org/officeDocument/2006/math">
                    <m:f>
                      <m:fPr>
                        <m:ctrlPr>
                          <a:rPr lang="en-AU" sz="1600" i="1" kern="1200">
                            <a:solidFill>
                              <a:schemeClr val="tx1"/>
                            </a:solidFill>
                            <a:effectLst/>
                            <a:latin typeface="Cambria Math" panose="02040503050406030204" pitchFamily="18" charset="0"/>
                            <a:ea typeface="+mn-ea"/>
                            <a:cs typeface="Arial" panose="020B0604020202020204" pitchFamily="34" charset="0"/>
                          </a:rPr>
                        </m:ctrlPr>
                      </m:fPr>
                      <m:num>
                        <m:r>
                          <a:rPr lang="en-AU" sz="1600" i="1" kern="1200">
                            <a:solidFill>
                              <a:schemeClr val="tx1"/>
                            </a:solidFill>
                            <a:effectLst/>
                            <a:latin typeface="Cambria Math" panose="02040503050406030204" pitchFamily="18" charset="0"/>
                            <a:ea typeface="+mn-ea"/>
                            <a:cs typeface="Arial" panose="020B0604020202020204" pitchFamily="34" charset="0"/>
                          </a:rPr>
                          <m:t>75</m:t>
                        </m:r>
                      </m:num>
                      <m:den>
                        <m:r>
                          <a:rPr lang="en-AU" sz="1600" i="1" kern="1200">
                            <a:solidFill>
                              <a:schemeClr val="tx1"/>
                            </a:solidFill>
                            <a:effectLst/>
                            <a:latin typeface="Cambria Math" panose="02040503050406030204" pitchFamily="18" charset="0"/>
                            <a:ea typeface="+mn-ea"/>
                            <a:cs typeface="Arial" panose="020B0604020202020204" pitchFamily="34" charset="0"/>
                          </a:rPr>
                          <m:t>100</m:t>
                        </m:r>
                      </m:den>
                    </m:f>
                  </m:oMath>
                </a14:m>
                <a:r>
                  <a:rPr lang="en-AU" sz="1600" kern="1200">
                    <a:solidFill>
                      <a:schemeClr val="tx1"/>
                    </a:solidFill>
                    <a:effectLst/>
                    <a:latin typeface="Arial" panose="020B0604020202020204" pitchFamily="34" charset="0"/>
                    <a:ea typeface="+mn-ea"/>
                    <a:cs typeface="Arial" panose="020B0604020202020204" pitchFamily="34" charset="0"/>
                  </a:rPr>
                  <a:t>, equals 0.75, which is equivalent to 75%. When 0.75 is read as 75 hundredths, students can more easily connect it with </a:t>
                </a:r>
                <a14:m>
                  <m:oMath xmlns:m="http://schemas.openxmlformats.org/officeDocument/2006/math">
                    <m:f>
                      <m:fPr>
                        <m:ctrlPr>
                          <a:rPr lang="en-AU" sz="1600" i="1" kern="1200">
                            <a:solidFill>
                              <a:schemeClr val="tx1"/>
                            </a:solidFill>
                            <a:effectLst/>
                            <a:latin typeface="Cambria Math" panose="02040503050406030204" pitchFamily="18" charset="0"/>
                            <a:ea typeface="+mn-ea"/>
                            <a:cs typeface="Arial" panose="020B0604020202020204" pitchFamily="34" charset="0"/>
                          </a:rPr>
                        </m:ctrlPr>
                      </m:fPr>
                      <m:num>
                        <m:r>
                          <a:rPr lang="en-AU" sz="1600" i="1" kern="1200">
                            <a:solidFill>
                              <a:schemeClr val="tx1"/>
                            </a:solidFill>
                            <a:effectLst/>
                            <a:latin typeface="Cambria Math" panose="02040503050406030204" pitchFamily="18" charset="0"/>
                            <a:ea typeface="+mn-ea"/>
                            <a:cs typeface="Arial" panose="020B0604020202020204" pitchFamily="34" charset="0"/>
                          </a:rPr>
                          <m:t>75</m:t>
                        </m:r>
                      </m:num>
                      <m:den>
                        <m:r>
                          <a:rPr lang="en-AU" sz="1600" i="1" kern="1200">
                            <a:solidFill>
                              <a:schemeClr val="tx1"/>
                            </a:solidFill>
                            <a:effectLst/>
                            <a:latin typeface="Cambria Math" panose="02040503050406030204" pitchFamily="18" charset="0"/>
                            <a:ea typeface="+mn-ea"/>
                            <a:cs typeface="Arial" panose="020B0604020202020204" pitchFamily="34" charset="0"/>
                          </a:rPr>
                          <m:t>100</m:t>
                        </m:r>
                      </m:den>
                    </m:f>
                  </m:oMath>
                </a14:m>
                <a:r>
                  <a:rPr lang="en-AU" sz="1600" kern="1200">
                    <a:solidFill>
                      <a:schemeClr val="tx1"/>
                    </a:solidFill>
                    <a:effectLst/>
                    <a:latin typeface="Arial" panose="020B0604020202020204" pitchFamily="34" charset="0"/>
                    <a:ea typeface="+mn-ea"/>
                    <a:cs typeface="Arial" panose="020B0604020202020204" pitchFamily="34" charset="0"/>
                  </a:rPr>
                  <a:t>, it is appropriate to focus on known benchmarks such as 50%, 25% and 10%. The link between hundredths and percent can be made using a hundredths diagram (Siemon et al. 2022).</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Write 10%, 25% and 50% on the board. Highlight the connection to known decimals and fractions, for example 10% = </a:t>
                </a:r>
                <a14:m>
                  <m:oMath xmlns:m="http://schemas.openxmlformats.org/officeDocument/2006/math">
                    <m:f>
                      <m:fPr>
                        <m:ctrlPr>
                          <a:rPr lang="en-AU" sz="1600" i="1" kern="1200">
                            <a:solidFill>
                              <a:schemeClr val="tx1"/>
                            </a:solidFill>
                            <a:effectLst/>
                            <a:latin typeface="Cambria Math" panose="02040503050406030204" pitchFamily="18" charset="0"/>
                            <a:ea typeface="+mn-ea"/>
                            <a:cs typeface="Arial" panose="020B0604020202020204" pitchFamily="34" charset="0"/>
                          </a:rPr>
                        </m:ctrlPr>
                      </m:fPr>
                      <m:num>
                        <m:r>
                          <a:rPr lang="en-AU" sz="1600" i="1" kern="1200">
                            <a:solidFill>
                              <a:schemeClr val="tx1"/>
                            </a:solidFill>
                            <a:effectLst/>
                            <a:latin typeface="Cambria Math" panose="02040503050406030204" pitchFamily="18" charset="0"/>
                            <a:ea typeface="+mn-ea"/>
                            <a:cs typeface="Arial" panose="020B0604020202020204" pitchFamily="34" charset="0"/>
                          </a:rPr>
                          <m:t>1</m:t>
                        </m:r>
                      </m:num>
                      <m:den>
                        <m:r>
                          <a:rPr lang="en-AU" sz="1600" i="1" kern="1200">
                            <a:solidFill>
                              <a:schemeClr val="tx1"/>
                            </a:solidFill>
                            <a:effectLst/>
                            <a:latin typeface="Cambria Math" panose="02040503050406030204" pitchFamily="18" charset="0"/>
                            <a:ea typeface="+mn-ea"/>
                            <a:cs typeface="Arial" panose="020B0604020202020204" pitchFamily="34" charset="0"/>
                          </a:rPr>
                          <m:t>10</m:t>
                        </m:r>
                      </m:den>
                    </m:f>
                  </m:oMath>
                </a14:m>
                <a:r>
                  <a:rPr lang="en-AU" sz="1600" kern="1200">
                    <a:solidFill>
                      <a:schemeClr val="tx1"/>
                    </a:solidFill>
                    <a:effectLst/>
                    <a:latin typeface="Arial" panose="020B0604020202020204" pitchFamily="34" charset="0"/>
                    <a:ea typeface="+mn-ea"/>
                    <a:cs typeface="Arial" panose="020B0604020202020204" pitchFamily="34" charset="0"/>
                  </a:rPr>
                  <a:t> or 0.1.</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Revisit how our base-10 number system makes it easy to find 10% of a quantity. For example, 10% of 150 is 15, because 150 is 10 lots of 15. Therefore, 20% of 150 is 2 lots of 15, 30% is 3 lots of 15 and so on.</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b="1" kern="1200">
                    <a:solidFill>
                      <a:schemeClr val="tx1"/>
                    </a:solidFill>
                    <a:effectLst/>
                    <a:latin typeface="Arial" panose="020B0604020202020204" pitchFamily="34" charset="0"/>
                    <a:ea typeface="+mn-ea"/>
                    <a:cs typeface="Arial" panose="020B0604020202020204" pitchFamily="34" charset="0"/>
                  </a:rPr>
                  <a:t>Explain</a:t>
                </a:r>
                <a:r>
                  <a:rPr lang="en-AU" sz="1600" kern="1200">
                    <a:solidFill>
                      <a:schemeClr val="tx1"/>
                    </a:solidFill>
                    <a:effectLst/>
                    <a:latin typeface="Arial" panose="020B0604020202020204" pitchFamily="34" charset="0"/>
                    <a:ea typeface="+mn-ea"/>
                    <a:cs typeface="Arial" panose="020B0604020202020204" pitchFamily="34" charset="0"/>
                  </a:rPr>
                  <a:t> that 10% is equivalent to dividing the total amount by 10, 25% is dividing by 4, 50% is dividing by 2 and 75% is dividing by 4 to determine 25% and then multiplying by 3.</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Students represent these percentages on their number line using a different coloured sticky note , see Figure 8 (this resource corresponds to Figure 8 – number line with percentages in Stage 3 Year B Unit 38).</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Groups share and discuss their number lines.</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endParaRPr lang="en-AU"/>
              </a:p>
            </p:txBody>
          </p:sp>
        </mc:Choice>
        <mc:Fallback xmlns="">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B</a:t>
                </a:r>
              </a:p>
              <a:p>
                <a:endParaRPr lang="en-AU"/>
              </a:p>
              <a:p>
                <a:r>
                  <a:rPr lang="en-AU" b="1"/>
                  <a:t>Determining percentages</a:t>
                </a:r>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Provide small groups with sticky notes, pegs and one metre of string.</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Groups construct a number line from zero to one, showing known decimals and percentages. See Figure 7 (this resource corresponds to Figure 7 – number line in Stage 3 Year B Unit 38).</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Remind students that percentage relies on an understanding of fractions and decimals.</a:t>
                </a:r>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a percentage is a fraction out of 100 and can be expressed as a decimal with hundredths. Students can make connections easily when both fractions and decimals are illustrated as hundredths, for example </a:t>
                </a:r>
                <a:r>
                  <a:rPr lang="en-AU" sz="1600" i="0" kern="1200">
                    <a:solidFill>
                      <a:schemeClr val="tx1"/>
                    </a:solidFill>
                    <a:effectLst/>
                    <a:latin typeface="Cambria Math" panose="02040503050406030204" pitchFamily="18" charset="0"/>
                    <a:ea typeface="+mn-ea"/>
                    <a:cs typeface="Arial" panose="020B0604020202020204" pitchFamily="34" charset="0"/>
                  </a:rPr>
                  <a:t>75/100</a:t>
                </a:r>
                <a:r>
                  <a:rPr lang="en-AU" sz="1600" kern="1200">
                    <a:solidFill>
                      <a:schemeClr val="tx1"/>
                    </a:solidFill>
                    <a:effectLst/>
                    <a:latin typeface="Arial" panose="020B0604020202020204" pitchFamily="34" charset="0"/>
                    <a:ea typeface="+mn-ea"/>
                    <a:cs typeface="Arial" panose="020B0604020202020204" pitchFamily="34" charset="0"/>
                  </a:rPr>
                  <a:t>, equals 0.75, which is equivalent to 75%. When 0.75 is read as 75 hundredths, students can more easily connect it with </a:t>
                </a:r>
                <a:r>
                  <a:rPr lang="en-AU" sz="1600" i="0" kern="1200">
                    <a:solidFill>
                      <a:schemeClr val="tx1"/>
                    </a:solidFill>
                    <a:effectLst/>
                    <a:latin typeface="Cambria Math" panose="02040503050406030204" pitchFamily="18" charset="0"/>
                    <a:ea typeface="+mn-ea"/>
                    <a:cs typeface="Arial" panose="020B0604020202020204" pitchFamily="34" charset="0"/>
                  </a:rPr>
                  <a:t>75/100</a:t>
                </a:r>
                <a:r>
                  <a:rPr lang="en-AU" sz="1600" kern="1200">
                    <a:solidFill>
                      <a:schemeClr val="tx1"/>
                    </a:solidFill>
                    <a:effectLst/>
                    <a:latin typeface="Arial" panose="020B0604020202020204" pitchFamily="34" charset="0"/>
                    <a:ea typeface="+mn-ea"/>
                    <a:cs typeface="Arial" panose="020B0604020202020204" pitchFamily="34" charset="0"/>
                  </a:rPr>
                  <a:t>, it is appropriate to focus on known benchmarks such as 50%, 25% and 10%. The link between hundredths and percent can be made using a hundredths diagram (Siemon et al. 2022).</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Write 10%, 25% and 50% on the board. Highlight the connection to known decimals and fractions, for example 10% = </a:t>
                </a:r>
                <a:r>
                  <a:rPr lang="en-AU" sz="1600" i="0" kern="1200">
                    <a:solidFill>
                      <a:schemeClr val="tx1"/>
                    </a:solidFill>
                    <a:effectLst/>
                    <a:latin typeface="Cambria Math" panose="02040503050406030204" pitchFamily="18" charset="0"/>
                    <a:ea typeface="+mn-ea"/>
                    <a:cs typeface="Arial" panose="020B0604020202020204" pitchFamily="34" charset="0"/>
                  </a:rPr>
                  <a:t>1/10</a:t>
                </a:r>
                <a:r>
                  <a:rPr lang="en-AU" sz="1600" kern="1200">
                    <a:solidFill>
                      <a:schemeClr val="tx1"/>
                    </a:solidFill>
                    <a:effectLst/>
                    <a:latin typeface="Arial" panose="020B0604020202020204" pitchFamily="34" charset="0"/>
                    <a:ea typeface="+mn-ea"/>
                    <a:cs typeface="Arial" panose="020B0604020202020204" pitchFamily="34" charset="0"/>
                  </a:rPr>
                  <a:t> or 0.1.</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Revisit how our base-10 number system makes it easy to find 10% of a quantity. For example, 10% of 150 is 15, because 150 is 10 lots of 15. Therefore, 20% of 150 is 2 lots of 15, 30% is 3 lots of 15 and so on.</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b="1" kern="1200">
                    <a:solidFill>
                      <a:schemeClr val="tx1"/>
                    </a:solidFill>
                    <a:effectLst/>
                    <a:latin typeface="Arial" panose="020B0604020202020204" pitchFamily="34" charset="0"/>
                    <a:ea typeface="+mn-ea"/>
                    <a:cs typeface="Arial" panose="020B0604020202020204" pitchFamily="34" charset="0"/>
                  </a:rPr>
                  <a:t>Explain</a:t>
                </a:r>
                <a:r>
                  <a:rPr lang="en-AU" sz="1600" kern="1200">
                    <a:solidFill>
                      <a:schemeClr val="tx1"/>
                    </a:solidFill>
                    <a:effectLst/>
                    <a:latin typeface="Arial" panose="020B0604020202020204" pitchFamily="34" charset="0"/>
                    <a:ea typeface="+mn-ea"/>
                    <a:cs typeface="Arial" panose="020B0604020202020204" pitchFamily="34" charset="0"/>
                  </a:rPr>
                  <a:t> that 10% is equivalent to dividing the total amount by 10, 25% is dividing by 4, 50% is dividing by 2 and 75% is dividing by 4 to determine 25% and then multiplying by 3.</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Students represent these percentages on their number line using a different coloured sticky note , see Figure 8 (this resource corresponds to Figure 8 – number line with percentages in Stage 3 Year B Unit 38).</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Groups share and discuss their number lines.</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endParaRPr lang="en-AU"/>
              </a:p>
            </p:txBody>
          </p:sp>
        </mc:Fallback>
      </mc:AlternateContent>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Representing numbers B: Decimals and percentages</a:t>
            </a:r>
            <a:endParaRPr lang="en-AU"/>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7FB4A-07BE-FAB1-8B97-189BDBA599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246316-DDB7-C3D5-385B-2C821CB8EB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AF8145-4E0C-0F45-D68F-1F1E57FD349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Data A</a:t>
            </a:r>
            <a:endParaRPr lang="en-AU"/>
          </a:p>
        </p:txBody>
      </p:sp>
      <p:sp>
        <p:nvSpPr>
          <p:cNvPr id="4" name="Slide Number Placeholder 3">
            <a:extLst>
              <a:ext uri="{FF2B5EF4-FFF2-40B4-BE49-F238E27FC236}">
                <a16:creationId xmlns:a16="http://schemas.microsoft.com/office/drawing/2014/main" id="{3D06DB50-68D1-5D0F-680C-3FEE6FDB6027}"/>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20305914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Three-dimensional spatial structure B: Volume</a:t>
            </a:r>
            <a:endParaRPr lang="en-AU"/>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3BE2F-1ED8-4E7E-66C4-D6288F4011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E1E2B0-2143-5532-26BB-206D3D7369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DBDC14-BBFE-9E03-72A6-19B71BCD60D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Representing quantity fractions B</a:t>
            </a:r>
            <a:endParaRPr lang="en-AU"/>
          </a:p>
        </p:txBody>
      </p:sp>
      <p:sp>
        <p:nvSpPr>
          <p:cNvPr id="4" name="Slide Number Placeholder 3">
            <a:extLst>
              <a:ext uri="{FF2B5EF4-FFF2-40B4-BE49-F238E27FC236}">
                <a16:creationId xmlns:a16="http://schemas.microsoft.com/office/drawing/2014/main" id="{6DF78C40-74F6-51D3-24AB-CE7907AA71D1}"/>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361489438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Three-dimensional spatial structure B: 3D Objects</a:t>
            </a:r>
            <a:endParaRPr lang="en-AU"/>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 </a:t>
            </a:r>
            <a:r>
              <a:rPr lang="en-AU" b="0"/>
              <a:t>Represents numbers B</a:t>
            </a:r>
          </a:p>
          <a:p>
            <a:endParaRPr lang="en-AU"/>
          </a:p>
          <a:p>
            <a:r>
              <a:rPr lang="en-AU" b="1"/>
              <a:t>Estimating discounts</a:t>
            </a:r>
            <a:endParaRPr lang="en-AU" b="0"/>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Display Resource 29 – clothes shop (this resource corresponds to Resource 29 – clothes shop in Stage 3 Year B Unit 38). Explain that students will use mental strategies to calculate the discount for each piece of clothing.</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Students choose an item and calculate a percentage discount amount of either 10%, 25% or 50%. All items must have a discount applied to them. All 3 discount percentages should be calculated at least once during the task.</a:t>
            </a:r>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in this task, students are only required to calculate the discount amount, not the price of the item after the discount has been applied.</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Students turn and talk, discussing their strategies and solutions.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Select students to share and explain their strategies and answers, recording their responses on the board. When all items of clothing are discussed, reveal the discounts. For example, 10% of the jumper is $8, 25% is $20 and 50% is $40.</a:t>
            </a:r>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i="0" u="none" strike="noStrike" kern="1200">
                <a:solidFill>
                  <a:schemeClr val="tx1"/>
                </a:solidFill>
                <a:effectLst/>
                <a:highlight>
                  <a:srgbClr val="FFFF00"/>
                </a:highlight>
                <a:latin typeface="Arial" panose="020B0604020202020204" pitchFamily="34" charset="0"/>
                <a:ea typeface="+mn-ea"/>
                <a:cs typeface="Arial" panose="020B0604020202020204" pitchFamily="34" charset="0"/>
              </a:rPr>
              <a:t>Representing numbers B</a:t>
            </a:r>
            <a:endParaRPr lang="en-AU">
              <a:highlight>
                <a:srgbClr val="FFFF00"/>
              </a:highlight>
            </a:endParaRP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Data B</a:t>
            </a:r>
            <a:endParaRPr lang="en-AU"/>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Three-dimensional spatial structure B: Volume</a:t>
            </a:r>
            <a:endParaRPr lang="en-AU"/>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Representing quantity fractions B</a:t>
            </a:r>
            <a:endParaRPr lang="en-AU"/>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i="0" u="none" strike="noStrike" kern="1200">
                <a:solidFill>
                  <a:schemeClr val="tx1"/>
                </a:solidFill>
                <a:effectLst/>
                <a:latin typeface="Arial" panose="020B0604020202020204" pitchFamily="34" charset="0"/>
                <a:ea typeface="+mn-ea"/>
                <a:cs typeface="Arial" panose="020B0604020202020204" pitchFamily="34" charset="0"/>
              </a:rPr>
              <a:t>Geometric measure B: Length</a:t>
            </a:r>
            <a:endParaRPr lang="en-AU"/>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B</a:t>
            </a:r>
          </a:p>
          <a:p>
            <a:endParaRPr lang="en-AU"/>
          </a:p>
          <a:p>
            <a:r>
              <a:rPr lang="en-AU" b="1"/>
              <a:t>Sales price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Revise student understanding of calculating discounts. For example, that 10% is dividing by 10, 25% is dividing by 4 and 50% is dividing by 2.</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Display Resource 30 – sale items (this resource corresponds to Resource 30 – sale items in Stage 3 Year B Unit 38). Explain that students will calculate the sale price after the discount that is in the red sale sticker has been applied. For example, the headphones are $90 and have a discount of 50%, so the sale price would be $45.</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record the sale price after the discount for each item in their workbook.</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Once students have completed recording the sale price, select students to share and explain their working.</a:t>
            </a:r>
          </a:p>
          <a:p>
            <a:pPr marL="342900" indent="-342900">
              <a:buFont typeface="+mj-lt"/>
              <a:buAutoNum type="arabicPeriod"/>
            </a:pPr>
            <a:endParaRPr lang="en-AU" b="0"/>
          </a:p>
          <a:p>
            <a:pPr marL="342900" indent="-342900">
              <a:buFont typeface="+mj-lt"/>
              <a:buAutoNum type="arabicPeriod"/>
            </a:pPr>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Representing numbers B</a:t>
            </a:r>
            <a:endParaRPr lang="en-AU"/>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Data B</a:t>
            </a:r>
            <a:endParaRPr lang="en-AU"/>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Three-dimensional spatial structure B: Volume</a:t>
            </a:r>
            <a:endParaRPr lang="en-AU"/>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Representing quantity fractions B</a:t>
            </a:r>
            <a:endParaRPr lang="en-AU"/>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sz="1600" b="0" i="0" u="none" strike="noStrike" kern="1200">
                <a:solidFill>
                  <a:schemeClr val="tx1"/>
                </a:solidFill>
                <a:effectLst/>
                <a:latin typeface="Arial" panose="020B0604020202020204" pitchFamily="34" charset="0"/>
                <a:ea typeface="+mn-ea"/>
                <a:cs typeface="Arial" panose="020B0604020202020204" pitchFamily="34" charset="0"/>
              </a:rPr>
              <a:t>Non-spatial measure B: Time</a:t>
            </a:r>
            <a:endParaRPr lang="en-AU"/>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B</a:t>
            </a:r>
          </a:p>
          <a:p>
            <a:endParaRPr lang="en-AU"/>
          </a:p>
          <a:p>
            <a:r>
              <a:rPr lang="en-AU" b="1"/>
              <a:t>The best deal</a:t>
            </a:r>
          </a:p>
          <a:p>
            <a:endParaRPr lang="en-AU" b="1"/>
          </a:p>
          <a:p>
            <a:pPr marL="342900" lvl="0" indent="-342900">
              <a:lnSpc>
                <a:spcPct val="150000"/>
              </a:lnSpc>
              <a:spcBef>
                <a:spcPts val="1200"/>
              </a:spcBef>
              <a:spcAft>
                <a:spcPts val="600"/>
              </a:spcAft>
              <a:buFont typeface="+mj-lt"/>
              <a:buAutoNum type="arabicPeriod"/>
              <a:tabLst>
                <a:tab pos="228600" algn="l"/>
                <a:tab pos="457200" algn="l"/>
              </a:tabLst>
            </a:pPr>
            <a:r>
              <a:rPr lang="en-AU" sz="1600">
                <a:effectLst/>
                <a:latin typeface="Arial" panose="020B0604020202020204" pitchFamily="34" charset="0"/>
                <a:ea typeface="Calibri" panose="020F0502020204030204" pitchFamily="34" charset="0"/>
              </a:rPr>
              <a:t>Display Resource 33 – Gabby’s problem (this resource corresponds to Resource 33 – Gabby’s problem in Stage 3 Year B Unit 38). </a:t>
            </a:r>
          </a:p>
          <a:p>
            <a:pPr marL="342900" lvl="0" indent="-342900">
              <a:lnSpc>
                <a:spcPct val="150000"/>
              </a:lnSpc>
              <a:spcBef>
                <a:spcPts val="1200"/>
              </a:spcBef>
              <a:spcAft>
                <a:spcPts val="600"/>
              </a:spcAft>
              <a:buFont typeface="+mj-lt"/>
              <a:buAutoNum type="arabicPeriod"/>
              <a:tabLst>
                <a:tab pos="228600" algn="l"/>
                <a:tab pos="457200" algn="l"/>
              </a:tabLst>
            </a:pPr>
            <a:r>
              <a:rPr lang="en-AU" sz="1600">
                <a:effectLst/>
                <a:latin typeface="Arial" panose="020B0604020202020204" pitchFamily="34" charset="0"/>
                <a:ea typeface="Calibri" panose="020F0502020204030204" pitchFamily="34" charset="0"/>
              </a:rPr>
              <a:t>Explain that Gabby was shopping online and wanted to buy herself a new set of headphones. The ones she had been looking at were on sale at different shops. </a:t>
            </a:r>
          </a:p>
          <a:p>
            <a:pPr marL="342900" lvl="0" indent="-342900">
              <a:lnSpc>
                <a:spcPct val="150000"/>
              </a:lnSpc>
              <a:spcBef>
                <a:spcPts val="1200"/>
              </a:spcBef>
              <a:spcAft>
                <a:spcPts val="600"/>
              </a:spcAft>
              <a:buFont typeface="+mj-lt"/>
              <a:buAutoNum type="arabicPeriod"/>
              <a:tabLst>
                <a:tab pos="228600" algn="l"/>
                <a:tab pos="457200" algn="l"/>
              </a:tabLst>
            </a:pPr>
            <a:r>
              <a:rPr lang="en-AU" sz="1600">
                <a:effectLst/>
                <a:latin typeface="Arial" panose="020B0604020202020204" pitchFamily="34" charset="0"/>
                <a:ea typeface="Calibri" panose="020F0502020204030204" pitchFamily="34" charset="0"/>
              </a:rPr>
              <a:t>Using Resource 33 – Gabby’s problem, students determine which deal provides the best discount on the headphones.</a:t>
            </a:r>
          </a:p>
          <a:p>
            <a:pPr marL="342900" lvl="0" indent="-342900">
              <a:lnSpc>
                <a:spcPct val="150000"/>
              </a:lnSpc>
              <a:spcBef>
                <a:spcPts val="1200"/>
              </a:spcBef>
              <a:spcAft>
                <a:spcPts val="600"/>
              </a:spcAft>
              <a:buFont typeface="+mj-lt"/>
              <a:buAutoNum type="arabicPeriod"/>
              <a:tabLst>
                <a:tab pos="228600" algn="l"/>
                <a:tab pos="457200" algn="l"/>
              </a:tabLst>
            </a:pPr>
            <a:r>
              <a:rPr lang="en-AU" sz="1600">
                <a:effectLst/>
                <a:latin typeface="Arial" panose="020B0604020202020204" pitchFamily="34" charset="0"/>
                <a:ea typeface="Calibri" panose="020F0502020204030204" pitchFamily="34" charset="0"/>
              </a:rPr>
              <a:t>Students record their thinking on a whiteboard.</a:t>
            </a:r>
          </a:p>
          <a:p>
            <a:pPr marL="342900" lvl="0" indent="-342900">
              <a:lnSpc>
                <a:spcPct val="150000"/>
              </a:lnSpc>
              <a:spcBef>
                <a:spcPts val="1200"/>
              </a:spcBef>
              <a:spcAft>
                <a:spcPts val="600"/>
              </a:spcAft>
              <a:buFont typeface="+mj-lt"/>
              <a:buAutoNum type="arabicPeriod"/>
              <a:tabLst>
                <a:tab pos="228600" algn="l"/>
                <a:tab pos="457200" algn="l"/>
              </a:tabLst>
            </a:pPr>
            <a:r>
              <a:rPr lang="en-AU" sz="1600">
                <a:effectLst/>
                <a:latin typeface="Arial" panose="020B0604020202020204" pitchFamily="34" charset="0"/>
                <a:ea typeface="Calibri" panose="020F0502020204030204" pitchFamily="34" charset="0"/>
              </a:rPr>
              <a:t>Regroup and discuss which store would give Gabby the best discount. (Answer: Bargain Electronics – saving $50. Total price of the headphones is $150)</a:t>
            </a:r>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72</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1.xml"/><Relationship Id="rId3" Type="http://schemas.openxmlformats.org/officeDocument/2006/relationships/slide" Target="slide4.xml"/><Relationship Id="rId7" Type="http://schemas.openxmlformats.org/officeDocument/2006/relationships/slide" Target="slide34.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6.xml"/><Relationship Id="rId5" Type="http://schemas.openxmlformats.org/officeDocument/2006/relationships/slide" Target="slide18.xml"/><Relationship Id="rId10" Type="http://schemas.openxmlformats.org/officeDocument/2006/relationships/slide" Target="slide55.xml"/><Relationship Id="rId4" Type="http://schemas.openxmlformats.org/officeDocument/2006/relationships/slide" Target="slide11.xml"/><Relationship Id="rId9" Type="http://schemas.openxmlformats.org/officeDocument/2006/relationships/slide" Target="slide4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svg"/><Relationship Id="rId18" Type="http://schemas.openxmlformats.org/officeDocument/2006/relationships/image" Target="../media/image32.svg"/><Relationship Id="rId3" Type="http://schemas.openxmlformats.org/officeDocument/2006/relationships/image" Target="../media/image12.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 Type="http://schemas.openxmlformats.org/officeDocument/2006/relationships/notesSlide" Target="../notesSlides/notesSlide17.xml"/><Relationship Id="rId16" Type="http://schemas.openxmlformats.org/officeDocument/2006/relationships/image" Target="../media/image30.svg"/><Relationship Id="rId1" Type="http://schemas.openxmlformats.org/officeDocument/2006/relationships/slideLayout" Target="../slideLayouts/slideLayout4.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9.svg"/><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4.xml"/><Relationship Id="rId5" Type="http://schemas.openxmlformats.org/officeDocument/2006/relationships/image" Target="../media/image40.png"/><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4.xml"/><Relationship Id="rId5" Type="http://schemas.openxmlformats.org/officeDocument/2006/relationships/image" Target="../media/image42.png"/><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44.png"/></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5.xml"/><Relationship Id="rId1" Type="http://schemas.openxmlformats.org/officeDocument/2006/relationships/slideLayout" Target="../slideLayouts/slideLayout4.xml"/><Relationship Id="rId5" Type="http://schemas.openxmlformats.org/officeDocument/2006/relationships/image" Target="../media/image46.png"/><Relationship Id="rId4" Type="http://schemas.openxmlformats.org/officeDocument/2006/relationships/image" Target="../media/image45.png"/></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7.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0.xml"/><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5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4.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6.xm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openxmlformats.org/officeDocument/2006/relationships/chart" Target="../charts/chart1.xml"/></Relationships>
</file>

<file path=ppt/slides/_rels/slide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51.png"/></Relationships>
</file>

<file path=ppt/slides/_rels/slide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8" Type="http://schemas.openxmlformats.org/officeDocument/2006/relationships/image" Target="../media/image56.svg"/><Relationship Id="rId3" Type="http://schemas.openxmlformats.org/officeDocument/2006/relationships/image" Target="../media/image12.png"/><Relationship Id="rId7" Type="http://schemas.openxmlformats.org/officeDocument/2006/relationships/image" Target="../media/image55.png"/><Relationship Id="rId2" Type="http://schemas.openxmlformats.org/officeDocument/2006/relationships/notesSlide" Target="../notesSlides/notesSlide61.xml"/><Relationship Id="rId1" Type="http://schemas.openxmlformats.org/officeDocument/2006/relationships/slideLayout" Target="../slideLayouts/slideLayout4.xml"/><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52.png"/><Relationship Id="rId9" Type="http://schemas.openxmlformats.org/officeDocument/2006/relationships/image" Target="../media/image57.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6.xml"/><Relationship Id="rId1" Type="http://schemas.openxmlformats.org/officeDocument/2006/relationships/slideLayout" Target="../slideLayouts/slideLayout11.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slide" Target="slide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8" Type="http://schemas.openxmlformats.org/officeDocument/2006/relationships/hyperlink" Target="https://www.abc.net.au/education/catalyst-how-to-win-at-rock-paper-scissors/13720728" TargetMode="External"/><Relationship Id="rId3" Type="http://schemas.openxmlformats.org/officeDocument/2006/relationships/hyperlink" Target="https://educationstandards.nsw.edu.au/wps/portal/nesa/home" TargetMode="External"/><Relationship Id="rId7" Type="http://schemas.openxmlformats.org/officeDocument/2006/relationships/hyperlink" Target="http://www.australiancurriculum.edu.au/" TargetMode="External"/><Relationship Id="rId2" Type="http://schemas.openxmlformats.org/officeDocument/2006/relationships/hyperlink" Target="https://educationstandards.nsw.edu.au/wps/portal/nesa/mini-footer/copyright" TargetMode="External"/><Relationship Id="rId1" Type="http://schemas.openxmlformats.org/officeDocument/2006/relationships/slideLayout" Target="../slideLayouts/slideLayout13.xml"/><Relationship Id="rId6" Type="http://schemas.openxmlformats.org/officeDocument/2006/relationships/hyperlink" Target="https://education.nsw.gov.au/teaching-and-learning/curriculum/literacy-and-numeracy/resources-for-schools/learning-progressions" TargetMode="External"/><Relationship Id="rId5" Type="http://schemas.openxmlformats.org/officeDocument/2006/relationships/hyperlink" Target="https://curriculum.nsw.edu.au/learning-areas/mathematics/mathematics-k-10-2022/overview" TargetMode="External"/><Relationship Id="rId4" Type="http://schemas.openxmlformats.org/officeDocument/2006/relationships/hyperlink" Target="https://curriculum.nsw.edu.au/" TargetMode="External"/><Relationship Id="rId9" Type="http://schemas.openxmlformats.org/officeDocument/2006/relationships/hyperlink" Target="https://www.aims.gov.au/research-topics/monitoring-and-discovery/monitoring-great-barrier-reef/reef-monitoring-sampling-methods" TargetMode="External"/></Relationships>
</file>

<file path=ppt/slides/_rels/slide70.xml.rels><?xml version="1.0" encoding="UTF-8" standalone="yes"?>
<Relationships xmlns="http://schemas.openxmlformats.org/package/2006/relationships"><Relationship Id="rId8" Type="http://schemas.openxmlformats.org/officeDocument/2006/relationships/hyperlink" Target="https://www.youtube.com/watch?v=8hknaJQRh8s" TargetMode="External"/><Relationship Id="rId3" Type="http://schemas.openxmlformats.org/officeDocument/2006/relationships/hyperlink" Target="https://educationstandards.nsw.edu.au/wps/portal/nesa/home" TargetMode="External"/><Relationship Id="rId7" Type="http://schemas.openxmlformats.org/officeDocument/2006/relationships/hyperlink" Target="https://curriculum.nsw.edu.au/learning-areas/mathematics/mathematics-k-10-2022/content/stage-3/fa0c228e92?show=advice&amp;ta_scroll=no#:~:text=Teaching%20advice%20for%20Data%20B" TargetMode="External"/><Relationship Id="rId2" Type="http://schemas.openxmlformats.org/officeDocument/2006/relationships/hyperlink" Target="https://educationstandards.nsw.edu.au/wps/portal/nesa/mini-footer/copyright" TargetMode="Externa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content/stage-3/fa6dbbaafc?show=advice" TargetMode="External"/><Relationship Id="rId5" Type="http://schemas.openxmlformats.org/officeDocument/2006/relationships/hyperlink" Target="https://www.barrierreef.org/news/explainers/what-is-coral-bleaching" TargetMode="External"/><Relationship Id="rId4" Type="http://schemas.openxmlformats.org/officeDocument/2006/relationships/hyperlink" Target="https://curriculum.nsw.edu.au/" TargetMode="External"/></Relationships>
</file>

<file path=ppt/slides/_rels/slide71.xml.rels><?xml version="1.0" encoding="UTF-8" standalone="yes"?>
<Relationships xmlns="http://schemas.openxmlformats.org/package/2006/relationships"><Relationship Id="rId3" Type="http://schemas.openxmlformats.org/officeDocument/2006/relationships/hyperlink" Target="https://educationstandards.nsw.edu.au/wps/portal/nesa/home" TargetMode="External"/><Relationship Id="rId2" Type="http://schemas.openxmlformats.org/officeDocument/2006/relationships/hyperlink" Target="https://educationstandards.nsw.edu.au/wps/portal/nesa/mini-footer/copyright" TargetMode="External"/><Relationship Id="rId1" Type="http://schemas.openxmlformats.org/officeDocument/2006/relationships/slideLayout" Target="../slideLayouts/slideLayout13.xml"/><Relationship Id="rId4" Type="http://schemas.openxmlformats.org/officeDocument/2006/relationships/hyperlink" Target="https://curriculum.nsw.edu.au/" TargetMode="External"/></Relationships>
</file>

<file path=ppt/slides/_rels/slide72.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is not a teaching and learning program. It should be used in conjunction with Stage 3 Year A Unit 38.</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rPr>
              <a:t>Mathematics Stage 3 – Unit 38</a:t>
            </a:r>
          </a:p>
        </p:txBody>
      </p:sp>
      <p:pic>
        <p:nvPicPr>
          <p:cNvPr id="5" name="Picture Placeholder 4" descr="A row of dice on a blue background">
            <a:extLst>
              <a:ext uri="{FF2B5EF4-FFF2-40B4-BE49-F238E27FC236}">
                <a16:creationId xmlns:a16="http://schemas.microsoft.com/office/drawing/2014/main" id="{3492ED26-EFFD-ABC0-5FC2-50C21A88E5D9}"/>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descr="Blue circle 1 with light blue rectangle with title Review of learing 1.">
            <a:extLst>
              <a:ext uri="{FF2B5EF4-FFF2-40B4-BE49-F238E27FC236}">
                <a16:creationId xmlns:a16="http://schemas.microsoft.com/office/drawing/2014/main" id="{1B4FCA10-C38C-7EB1-6B3D-6210A414C65B}"/>
              </a:ext>
            </a:extLst>
          </p:cNvPr>
          <p:cNvGrpSpPr/>
          <p:nvPr/>
        </p:nvGrpSpPr>
        <p:grpSpPr>
          <a:xfrm>
            <a:off x="360000" y="1266959"/>
            <a:ext cx="4775638" cy="1045440"/>
            <a:chOff x="360000" y="1266959"/>
            <a:chExt cx="4775638" cy="1045440"/>
          </a:xfrm>
        </p:grpSpPr>
        <p:sp>
          <p:nvSpPr>
            <p:cNvPr id="2" name="Rectangle: Rounded Corners 1" descr="Blue circle 1 with light blue rectangle with title Review of learning 1.">
              <a:extLst>
                <a:ext uri="{FF2B5EF4-FFF2-40B4-BE49-F238E27FC236}">
                  <a16:creationId xmlns:a16="http://schemas.microsoft.com/office/drawing/2014/main" id="{935D5059-5790-C707-5987-84856AF04ADB}"/>
                </a:ext>
                <a:ext uri="{C183D7F6-B498-43B3-948B-1728B52AA6E4}">
                  <adec:decorative xmlns:adec="http://schemas.microsoft.com/office/drawing/2017/decorative" val="0"/>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latin typeface="+mj-lt"/>
                </a:rPr>
                <a:t>Review of learning 1</a:t>
              </a:r>
              <a:endParaRPr lang="en-AU">
                <a:solidFill>
                  <a:schemeClr val="accent1"/>
                </a:solidFill>
                <a:latin typeface="+mj-lt"/>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descr="Blue circle 2 with light blue rectangle with title Review of learning 2.">
            <a:extLst>
              <a:ext uri="{FF2B5EF4-FFF2-40B4-BE49-F238E27FC236}">
                <a16:creationId xmlns:a16="http://schemas.microsoft.com/office/drawing/2014/main" id="{AF7A23A4-F1DB-31F7-E62C-F1BFA9349F64}"/>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descr="Blue circle 3 with light blue rectangle with title Review of learning 3.">
            <a:extLst>
              <a:ext uri="{FF2B5EF4-FFF2-40B4-BE49-F238E27FC236}">
                <a16:creationId xmlns:a16="http://schemas.microsoft.com/office/drawing/2014/main" id="{DF37B4A1-413C-FC0F-E0B4-307A5BFA5855}"/>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0"/>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descr="Blue circle 4 with light blue rectangle with title Review of learing 4.">
            <a:extLst>
              <a:ext uri="{FF2B5EF4-FFF2-40B4-BE49-F238E27FC236}">
                <a16:creationId xmlns:a16="http://schemas.microsoft.com/office/drawing/2014/main" id="{C989DA6E-4839-1BBD-77AB-6F9CC520B670}"/>
              </a:ext>
            </a:extLst>
          </p:cNvPr>
          <p:cNvGrpSpPr/>
          <p:nvPr/>
        </p:nvGrpSpPr>
        <p:grpSpPr>
          <a:xfrm>
            <a:off x="360000" y="4554659"/>
            <a:ext cx="4775638" cy="1045440"/>
            <a:chOff x="360000" y="4554659"/>
            <a:chExt cx="4775638" cy="1045440"/>
          </a:xfrm>
        </p:grpSpPr>
        <p:sp>
          <p:nvSpPr>
            <p:cNvPr id="26" name="Rectangle: Rounded Corners 25" descr="Blue circle 4 with light blue rectangle with title Review of learning 4.">
              <a:extLst>
                <a:ext uri="{FF2B5EF4-FFF2-40B4-BE49-F238E27FC236}">
                  <a16:creationId xmlns:a16="http://schemas.microsoft.com/office/drawing/2014/main" id="{B1BC8FAB-0C07-84FE-204A-47391BBEAF64}"/>
                </a:ext>
                <a:ext uri="{C183D7F6-B498-43B3-948B-1728B52AA6E4}">
                  <adec:decorative xmlns:adec="http://schemas.microsoft.com/office/drawing/2017/decorative" val="0"/>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Group 16" descr="Blue circle 5 with light blue rectangle with title Review of learing 5.">
            <a:extLst>
              <a:ext uri="{FF2B5EF4-FFF2-40B4-BE49-F238E27FC236}">
                <a16:creationId xmlns:a16="http://schemas.microsoft.com/office/drawing/2014/main" id="{5CA7685F-33D7-262A-AE71-7F572C4FD60A}"/>
              </a:ext>
            </a:extLst>
          </p:cNvPr>
          <p:cNvGrpSpPr/>
          <p:nvPr/>
        </p:nvGrpSpPr>
        <p:grpSpPr>
          <a:xfrm>
            <a:off x="6096000" y="1200486"/>
            <a:ext cx="4775638" cy="1045440"/>
            <a:chOff x="6096000" y="1266959"/>
            <a:chExt cx="4775638" cy="1045440"/>
          </a:xfrm>
        </p:grpSpPr>
        <p:sp>
          <p:nvSpPr>
            <p:cNvPr id="18" name="Rectangle: Rounded Corners 43" descr="Blue circle 5 with light blue rectangle with title Review of learning 5.">
              <a:extLst>
                <a:ext uri="{FF2B5EF4-FFF2-40B4-BE49-F238E27FC236}">
                  <a16:creationId xmlns:a16="http://schemas.microsoft.com/office/drawing/2014/main" id="{3DAA1A61-85C8-F828-1EC5-45BA7CAB872F}"/>
                </a:ext>
                <a:ext uri="{C183D7F6-B498-43B3-948B-1728B52AA6E4}">
                  <adec:decorative xmlns:adec="http://schemas.microsoft.com/office/drawing/2017/decorative" val="0"/>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Group 10" descr="Blue circle 6 with light blue rectangle with title Review of learning 6.">
            <a:extLst>
              <a:ext uri="{FF2B5EF4-FFF2-40B4-BE49-F238E27FC236}">
                <a16:creationId xmlns:a16="http://schemas.microsoft.com/office/drawing/2014/main" id="{98348D52-CA50-F15C-B472-B152337D805F}"/>
              </a:ext>
            </a:extLst>
          </p:cNvPr>
          <p:cNvGrpSpPr/>
          <p:nvPr/>
        </p:nvGrpSpPr>
        <p:grpSpPr>
          <a:xfrm>
            <a:off x="6096000" y="2362859"/>
            <a:ext cx="4775638" cy="1045440"/>
            <a:chOff x="6096000" y="1266959"/>
            <a:chExt cx="4775638" cy="1045440"/>
          </a:xfrm>
        </p:grpSpPr>
        <p:sp>
          <p:nvSpPr>
            <p:cNvPr id="44" name="Rectangle: Rounded Corners 43" descr="Blue circle 6 with light blue rectangle with title Review of learning 6.">
              <a:extLst>
                <a:ext uri="{FF2B5EF4-FFF2-40B4-BE49-F238E27FC236}">
                  <a16:creationId xmlns:a16="http://schemas.microsoft.com/office/drawing/2014/main" id="{872B6A74-D5FE-A9C3-5036-DA39A3F3AAA9}"/>
                </a:ext>
                <a:ext uri="{C183D7F6-B498-43B3-948B-1728B52AA6E4}">
                  <adec:decorative xmlns:adec="http://schemas.microsoft.com/office/drawing/2017/decorative" val="0"/>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descr="Blue circle 7 with light blue rectangle with title Review of learning 7.">
            <a:extLst>
              <a:ext uri="{FF2B5EF4-FFF2-40B4-BE49-F238E27FC236}">
                <a16:creationId xmlns:a16="http://schemas.microsoft.com/office/drawing/2014/main" id="{E73741F1-615E-A4A4-088D-E0A9187F983E}"/>
              </a:ext>
            </a:extLst>
          </p:cNvPr>
          <p:cNvGrpSpPr/>
          <p:nvPr/>
        </p:nvGrpSpPr>
        <p:grpSpPr>
          <a:xfrm>
            <a:off x="6096000" y="3458759"/>
            <a:ext cx="4775638" cy="1045440"/>
            <a:chOff x="6096000" y="2362859"/>
            <a:chExt cx="4775638" cy="1045440"/>
          </a:xfrm>
        </p:grpSpPr>
        <p:sp>
          <p:nvSpPr>
            <p:cNvPr id="41" name="Rectangle: Rounded Corners 40" descr="Blue circle 7 with light blue rectangle with title Review of learning 7.">
              <a:extLst>
                <a:ext uri="{FF2B5EF4-FFF2-40B4-BE49-F238E27FC236}">
                  <a16:creationId xmlns:a16="http://schemas.microsoft.com/office/drawing/2014/main" id="{D868B1C9-B182-2727-4865-6D5AC1780BED}"/>
                </a:ext>
                <a:ext uri="{C183D7F6-B498-43B3-948B-1728B52AA6E4}">
                  <adec:decorative xmlns:adec="http://schemas.microsoft.com/office/drawing/2017/decorative" val="0"/>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descr="Blue circle 8 with light blue rectangle with title Review of learning 8.">
            <a:extLst>
              <a:ext uri="{FF2B5EF4-FFF2-40B4-BE49-F238E27FC236}">
                <a16:creationId xmlns:a16="http://schemas.microsoft.com/office/drawing/2014/main" id="{8E45D1B3-369A-D013-FFE7-B91D37B811F7}"/>
              </a:ext>
            </a:extLst>
          </p:cNvPr>
          <p:cNvGrpSpPr/>
          <p:nvPr/>
        </p:nvGrpSpPr>
        <p:grpSpPr>
          <a:xfrm>
            <a:off x="6096000" y="4554659"/>
            <a:ext cx="4775638" cy="1045440"/>
            <a:chOff x="6096000" y="3458759"/>
            <a:chExt cx="4775638" cy="1045440"/>
          </a:xfrm>
        </p:grpSpPr>
        <p:sp>
          <p:nvSpPr>
            <p:cNvPr id="38" name="Rectangle: Rounded Corners 37" descr="Blue circle 8 with light blue rectangle with title Review of learning 8.">
              <a:extLst>
                <a:ext uri="{FF2B5EF4-FFF2-40B4-BE49-F238E27FC236}">
                  <a16:creationId xmlns:a16="http://schemas.microsoft.com/office/drawing/2014/main" id="{22AE8CE5-94FD-CF39-4100-9EA79119BE34}"/>
                </a:ext>
                <a:ext uri="{C183D7F6-B498-43B3-948B-1728B52AA6E4}">
                  <adec:decorative xmlns:adec="http://schemas.microsoft.com/office/drawing/2017/decorative" val="0"/>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0"/>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D7755-CE98-1625-63C2-6E57BB6FA23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BC1774B-AA04-FE2E-2D30-B11CDA0F2C2B}"/>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4CB8848C-93F2-E2F9-DB5A-FC58F0111C10}"/>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15" name="Text Placeholder 14">
                <a:extLst>
                  <a:ext uri="{FF2B5EF4-FFF2-40B4-BE49-F238E27FC236}">
                    <a16:creationId xmlns:a16="http://schemas.microsoft.com/office/drawing/2014/main" id="{AB0D8C4B-A26D-492E-C691-C64EF884A7AF}"/>
                  </a:ext>
                </a:extLst>
              </p:cNvPr>
              <p:cNvSpPr>
                <a:spLocks noGrp="1"/>
              </p:cNvSpPr>
              <p:nvPr>
                <p:ph type="body" sz="quarter" idx="28"/>
              </p:nvPr>
            </p:nvSpPr>
            <p:spPr>
              <a:xfrm>
                <a:off x="360000" y="712735"/>
                <a:ext cx="11243037" cy="1563431"/>
              </a:xfrm>
            </p:spPr>
            <p:txBody>
              <a:bodyPr/>
              <a:lstStyle/>
              <a:p>
                <a:pPr algn="ctr"/>
                <a14:m>
                  <m:oMath xmlns:m="http://schemas.openxmlformats.org/officeDocument/2006/math">
                    <m:f>
                      <m:fPr>
                        <m:ctrlPr>
                          <a:rPr lang="en-AU" sz="6600" b="1" i="1">
                            <a:latin typeface="Cambria Math" panose="02040503050406030204" pitchFamily="18" charset="0"/>
                          </a:rPr>
                        </m:ctrlPr>
                      </m:fPr>
                      <m:num>
                        <m:r>
                          <a:rPr lang="en-AU" sz="6600" b="1" i="1">
                            <a:latin typeface="Cambria Math" panose="02040503050406030204" pitchFamily="18" charset="0"/>
                          </a:rPr>
                          <m:t>𝟏</m:t>
                        </m:r>
                      </m:num>
                      <m:den>
                        <m:r>
                          <a:rPr lang="en-AU" sz="6600" b="1" i="1">
                            <a:latin typeface="Cambria Math" panose="02040503050406030204" pitchFamily="18" charset="0"/>
                          </a:rPr>
                          <m:t>𝟓</m:t>
                        </m:r>
                      </m:den>
                    </m:f>
                  </m:oMath>
                </a14:m>
                <a:r>
                  <a:rPr lang="en-AU" sz="6600" b="1"/>
                  <a:t> </a:t>
                </a:r>
                <a:r>
                  <a:rPr lang="en-AU" sz="4800"/>
                  <a:t>of 40 is: </a:t>
                </a:r>
                <a:endParaRPr lang="en-US" sz="4800"/>
              </a:p>
            </p:txBody>
          </p:sp>
        </mc:Choice>
        <mc:Fallback xmlns="">
          <p:sp>
            <p:nvSpPr>
              <p:cNvPr id="15" name="Text Placeholder 14">
                <a:extLst>
                  <a:ext uri="{FF2B5EF4-FFF2-40B4-BE49-F238E27FC236}">
                    <a16:creationId xmlns:a16="http://schemas.microsoft.com/office/drawing/2014/main" id="{AB0D8C4B-A26D-492E-C691-C64EF884A7AF}"/>
                  </a:ext>
                </a:extLst>
              </p:cNvPr>
              <p:cNvSpPr>
                <a:spLocks noGrp="1" noRot="1" noChangeAspect="1" noMove="1" noResize="1" noEditPoints="1" noAdjustHandles="1" noChangeArrowheads="1" noChangeShapeType="1" noTextEdit="1"/>
              </p:cNvSpPr>
              <p:nvPr>
                <p:ph type="body" sz="quarter" idx="28"/>
              </p:nvPr>
            </p:nvSpPr>
            <p:spPr>
              <a:xfrm>
                <a:off x="360000" y="712735"/>
                <a:ext cx="11243037" cy="1563431"/>
              </a:xfrm>
              <a:blipFill>
                <a:blip r:embed="rId4"/>
                <a:stretch>
                  <a:fillRect b="-32813"/>
                </a:stretch>
              </a:blipFill>
            </p:spPr>
            <p:txBody>
              <a:bodyPr/>
              <a:lstStyle/>
              <a:p>
                <a:r>
                  <a:rPr lang="en-AU">
                    <a:noFill/>
                  </a:rPr>
                  <a:t> </a:t>
                </a:r>
              </a:p>
            </p:txBody>
          </p:sp>
        </mc:Fallback>
      </mc:AlternateContent>
      <p:sp>
        <p:nvSpPr>
          <p:cNvPr id="9" name="TextBox 8">
            <a:extLst>
              <a:ext uri="{FF2B5EF4-FFF2-40B4-BE49-F238E27FC236}">
                <a16:creationId xmlns:a16="http://schemas.microsoft.com/office/drawing/2014/main" id="{EF8DF706-D80F-92B1-7253-8E6E8E474570}"/>
              </a:ext>
            </a:extLst>
          </p:cNvPr>
          <p:cNvSpPr txBox="1"/>
          <p:nvPr/>
        </p:nvSpPr>
        <p:spPr>
          <a:xfrm>
            <a:off x="1643954" y="283684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Text Placeholder 17">
            <a:extLst>
              <a:ext uri="{FF2B5EF4-FFF2-40B4-BE49-F238E27FC236}">
                <a16:creationId xmlns:a16="http://schemas.microsoft.com/office/drawing/2014/main" id="{249CF990-9203-0FC6-FA8E-0E52BA054215}"/>
              </a:ext>
            </a:extLst>
          </p:cNvPr>
          <p:cNvSpPr>
            <a:spLocks noGrp="1"/>
          </p:cNvSpPr>
          <p:nvPr>
            <p:ph type="body" sz="quarter" idx="31"/>
          </p:nvPr>
        </p:nvSpPr>
        <p:spPr>
          <a:xfrm>
            <a:off x="2318914" y="2787604"/>
            <a:ext cx="1353435" cy="641396"/>
          </a:xfrm>
        </p:spPr>
        <p:txBody>
          <a:bodyPr anchor="ctr"/>
          <a:lstStyle/>
          <a:p>
            <a:r>
              <a:rPr lang="en-US" sz="4400"/>
              <a:t>  6</a:t>
            </a:r>
          </a:p>
        </p:txBody>
      </p:sp>
      <p:sp>
        <p:nvSpPr>
          <p:cNvPr id="10" name="TextBox 9">
            <a:extLst>
              <a:ext uri="{FF2B5EF4-FFF2-40B4-BE49-F238E27FC236}">
                <a16:creationId xmlns:a16="http://schemas.microsoft.com/office/drawing/2014/main" id="{E8E3048F-F2CC-3A16-FD64-BA70C679B369}"/>
              </a:ext>
            </a:extLst>
          </p:cNvPr>
          <p:cNvSpPr txBox="1"/>
          <p:nvPr/>
        </p:nvSpPr>
        <p:spPr>
          <a:xfrm>
            <a:off x="1643953" y="368475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C6C948D4-2A38-1E27-BC1F-1141CAAF7C2A}"/>
              </a:ext>
            </a:extLst>
          </p:cNvPr>
          <p:cNvSpPr>
            <a:spLocks noGrp="1"/>
          </p:cNvSpPr>
          <p:nvPr>
            <p:ph type="body" sz="quarter" idx="30"/>
          </p:nvPr>
        </p:nvSpPr>
        <p:spPr>
          <a:xfrm>
            <a:off x="2318914" y="3635125"/>
            <a:ext cx="1353435" cy="641396"/>
          </a:xfrm>
        </p:spPr>
        <p:txBody>
          <a:bodyPr anchor="ctr"/>
          <a:lstStyle/>
          <a:p>
            <a:r>
              <a:rPr lang="en-US" sz="4400"/>
              <a:t>  7</a:t>
            </a:r>
          </a:p>
        </p:txBody>
      </p:sp>
      <p:sp>
        <p:nvSpPr>
          <p:cNvPr id="12" name="TextBox 11">
            <a:extLst>
              <a:ext uri="{FF2B5EF4-FFF2-40B4-BE49-F238E27FC236}">
                <a16:creationId xmlns:a16="http://schemas.microsoft.com/office/drawing/2014/main" id="{653CFB63-79BB-2581-B3F1-80CDC52E39F6}"/>
              </a:ext>
            </a:extLst>
          </p:cNvPr>
          <p:cNvSpPr txBox="1"/>
          <p:nvPr/>
        </p:nvSpPr>
        <p:spPr>
          <a:xfrm>
            <a:off x="1643952" y="453480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5">
            <a:extLst>
              <a:ext uri="{FF2B5EF4-FFF2-40B4-BE49-F238E27FC236}">
                <a16:creationId xmlns:a16="http://schemas.microsoft.com/office/drawing/2014/main" id="{4DADA01A-C328-7361-07E5-3C59D9534D7B}"/>
              </a:ext>
            </a:extLst>
          </p:cNvPr>
          <p:cNvSpPr>
            <a:spLocks noGrp="1"/>
          </p:cNvSpPr>
          <p:nvPr>
            <p:ph type="body" sz="quarter" idx="29"/>
          </p:nvPr>
        </p:nvSpPr>
        <p:spPr>
          <a:xfrm>
            <a:off x="2318914" y="4482646"/>
            <a:ext cx="1353435" cy="641396"/>
          </a:xfrm>
        </p:spPr>
        <p:txBody>
          <a:bodyPr anchor="ctr"/>
          <a:lstStyle/>
          <a:p>
            <a:r>
              <a:rPr lang="en-US" sz="4400"/>
              <a:t>  8</a:t>
            </a:r>
          </a:p>
        </p:txBody>
      </p:sp>
      <p:sp>
        <p:nvSpPr>
          <p:cNvPr id="11" name="TextBox 10">
            <a:extLst>
              <a:ext uri="{FF2B5EF4-FFF2-40B4-BE49-F238E27FC236}">
                <a16:creationId xmlns:a16="http://schemas.microsoft.com/office/drawing/2014/main" id="{A7CF7502-CF88-ED76-425C-93F1166598D5}"/>
              </a:ext>
            </a:extLst>
          </p:cNvPr>
          <p:cNvSpPr txBox="1"/>
          <p:nvPr/>
        </p:nvSpPr>
        <p:spPr>
          <a:xfrm>
            <a:off x="1643951" y="538485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3">
            <a:extLst>
              <a:ext uri="{FF2B5EF4-FFF2-40B4-BE49-F238E27FC236}">
                <a16:creationId xmlns:a16="http://schemas.microsoft.com/office/drawing/2014/main" id="{7DB50E8A-7E96-50A9-15AA-962C16AA899C}"/>
              </a:ext>
            </a:extLst>
          </p:cNvPr>
          <p:cNvSpPr>
            <a:spLocks noGrp="1"/>
          </p:cNvSpPr>
          <p:nvPr>
            <p:ph type="body" sz="quarter" idx="27"/>
          </p:nvPr>
        </p:nvSpPr>
        <p:spPr>
          <a:xfrm>
            <a:off x="2318914" y="5355551"/>
            <a:ext cx="1353435" cy="641396"/>
          </a:xfrm>
        </p:spPr>
        <p:txBody>
          <a:bodyPr anchor="ctr"/>
          <a:lstStyle/>
          <a:p>
            <a:r>
              <a:rPr lang="en-US" sz="4400"/>
              <a:t>  9</a:t>
            </a:r>
          </a:p>
        </p:txBody>
      </p:sp>
      <p:sp>
        <p:nvSpPr>
          <p:cNvPr id="2" name="Slide Number Placeholder 1">
            <a:extLst>
              <a:ext uri="{FF2B5EF4-FFF2-40B4-BE49-F238E27FC236}">
                <a16:creationId xmlns:a16="http://schemas.microsoft.com/office/drawing/2014/main" id="{9B65148B-F5B2-7EDD-CE57-A079E0DD806D}"/>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2409251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pic>
        <p:nvPicPr>
          <p:cNvPr id="3" name="Picture 2" descr="image of a clipboard with a pencil recording short answer responses">
            <a:extLst>
              <a:ext uri="{FF2B5EF4-FFF2-40B4-BE49-F238E27FC236}">
                <a16:creationId xmlns:a16="http://schemas.microsoft.com/office/drawing/2014/main" id="{69E4B2B2-713D-5998-87AB-5FC222AE389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14">
            <a:extLst>
              <a:ext uri="{FF2B5EF4-FFF2-40B4-BE49-F238E27FC236}">
                <a16:creationId xmlns:a16="http://schemas.microsoft.com/office/drawing/2014/main" id="{E08952F0-0DB2-B31A-9699-E488E5094105}"/>
              </a:ext>
            </a:extLst>
          </p:cNvPr>
          <p:cNvSpPr txBox="1">
            <a:spLocks/>
          </p:cNvSpPr>
          <p:nvPr/>
        </p:nvSpPr>
        <p:spPr>
          <a:xfrm>
            <a:off x="360000" y="905601"/>
            <a:ext cx="11243037" cy="2256699"/>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800"/>
              <a:t>Record the </a:t>
            </a:r>
            <a:r>
              <a:rPr lang="en-AU" sz="4800" b="1"/>
              <a:t>chance</a:t>
            </a:r>
            <a:r>
              <a:rPr lang="en-AU" sz="4800"/>
              <a:t> of landing on a purple segment as a </a:t>
            </a:r>
            <a:r>
              <a:rPr lang="en-AU" sz="4400" b="1"/>
              <a:t>fraction</a:t>
            </a:r>
            <a:r>
              <a:rPr lang="en-AU" sz="4800"/>
              <a:t>.</a:t>
            </a:r>
            <a:endParaRPr lang="en-US" sz="4800"/>
          </a:p>
        </p:txBody>
      </p:sp>
      <p:pic>
        <p:nvPicPr>
          <p:cNvPr id="8" name="Picture 7" descr="A colorful circle with different colors">
            <a:extLst>
              <a:ext uri="{FF2B5EF4-FFF2-40B4-BE49-F238E27FC236}">
                <a16:creationId xmlns:a16="http://schemas.microsoft.com/office/drawing/2014/main" id="{88BFB241-7777-A25F-0563-FD76B8230FED}"/>
              </a:ext>
            </a:extLst>
          </p:cNvPr>
          <p:cNvPicPr>
            <a:picLocks noChangeAspect="1"/>
          </p:cNvPicPr>
          <p:nvPr/>
        </p:nvPicPr>
        <p:blipFill>
          <a:blip r:embed="rId4"/>
          <a:stretch>
            <a:fillRect/>
          </a:stretch>
        </p:blipFill>
        <p:spPr>
          <a:xfrm>
            <a:off x="4502898" y="3381568"/>
            <a:ext cx="3186203" cy="3116432"/>
          </a:xfrm>
          <a:prstGeom prst="rect">
            <a:avLst/>
          </a:prstGeom>
        </p:spPr>
      </p:pic>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descr="image of a clipboard with a pencil recording short answer responses">
            <a:extLst>
              <a:ext uri="{FF2B5EF4-FFF2-40B4-BE49-F238E27FC236}">
                <a16:creationId xmlns:a16="http://schemas.microsoft.com/office/drawing/2014/main" id="{AB837201-1557-1DB2-05E9-E523FE1B17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 Placeholder 14">
            <a:extLst>
              <a:ext uri="{FF2B5EF4-FFF2-40B4-BE49-F238E27FC236}">
                <a16:creationId xmlns:a16="http://schemas.microsoft.com/office/drawing/2014/main" id="{B6418CA3-52D9-7D89-74FA-BBABF4C42825}"/>
              </a:ext>
            </a:extLst>
          </p:cNvPr>
          <p:cNvSpPr txBox="1">
            <a:spLocks/>
          </p:cNvSpPr>
          <p:nvPr/>
        </p:nvSpPr>
        <p:spPr>
          <a:xfrm>
            <a:off x="857607" y="1967994"/>
            <a:ext cx="10476786" cy="260400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Explain why a number is </a:t>
            </a:r>
            <a:r>
              <a:rPr lang="en-US" sz="4400" b="1"/>
              <a:t>prime, composite </a:t>
            </a:r>
            <a:r>
              <a:rPr lang="en-US" sz="4400"/>
              <a:t>or</a:t>
            </a:r>
            <a:r>
              <a:rPr lang="en-US" sz="4400" b="1"/>
              <a:t> neither.</a:t>
            </a:r>
            <a:endParaRPr lang="en-US" sz="4400"/>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latin typeface="Arial"/>
                <a:cs typeface="Arial"/>
              </a:rPr>
              <a:t>Short response </a:t>
            </a:r>
            <a:r>
              <a:rPr lang="en-AU">
                <a:solidFill>
                  <a:schemeClr val="bg1"/>
                </a:solidFill>
                <a:latin typeface="Arial"/>
                <a:cs typeface="Arial"/>
              </a:rPr>
              <a:t>(3)</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10" name="TextBox 9">
            <a:extLst>
              <a:ext uri="{FF2B5EF4-FFF2-40B4-BE49-F238E27FC236}">
                <a16:creationId xmlns:a16="http://schemas.microsoft.com/office/drawing/2014/main" id="{4407176B-A114-193B-4F8C-7552496F06CF}"/>
              </a:ext>
            </a:extLst>
          </p:cNvPr>
          <p:cNvSpPr txBox="1"/>
          <p:nvPr/>
        </p:nvSpPr>
        <p:spPr>
          <a:xfrm>
            <a:off x="1216080" y="1184223"/>
            <a:ext cx="9907920" cy="1998176"/>
          </a:xfrm>
          <a:prstGeom prst="rect">
            <a:avLst/>
          </a:prstGeom>
          <a:noFill/>
        </p:spPr>
        <p:txBody>
          <a:bodyPr wrap="square">
            <a:spAutoFit/>
          </a:bodyPr>
          <a:lstStyle/>
          <a:p>
            <a:pPr algn="ctr">
              <a:lnSpc>
                <a:spcPct val="150000"/>
              </a:lnSpc>
            </a:pPr>
            <a:r>
              <a:rPr lang="en-AU" sz="4400"/>
              <a:t>Record where </a:t>
            </a:r>
            <a:r>
              <a:rPr lang="en-AU" sz="4400" b="1"/>
              <a:t>one</a:t>
            </a:r>
            <a:r>
              <a:rPr lang="en-AU" sz="4400"/>
              <a:t> would be on the number line to represent the </a:t>
            </a:r>
            <a:r>
              <a:rPr lang="en-AU" sz="4400" b="1"/>
              <a:t>whole</a:t>
            </a:r>
            <a:r>
              <a:rPr lang="en-AU" sz="4400"/>
              <a:t>:</a:t>
            </a:r>
          </a:p>
        </p:txBody>
      </p:sp>
      <p:pic>
        <p:nvPicPr>
          <p:cNvPr id="5" name="Picture 4" descr="A number line starting at 0 with no end point. Four tenths is marked on the number line.">
            <a:extLst>
              <a:ext uri="{FF2B5EF4-FFF2-40B4-BE49-F238E27FC236}">
                <a16:creationId xmlns:a16="http://schemas.microsoft.com/office/drawing/2014/main" id="{2FB09D72-22C2-1CD2-8F5D-A7CFB3F98825}"/>
              </a:ext>
            </a:extLst>
          </p:cNvPr>
          <p:cNvPicPr>
            <a:picLocks noChangeAspect="1"/>
          </p:cNvPicPr>
          <p:nvPr/>
        </p:nvPicPr>
        <p:blipFill>
          <a:blip r:embed="rId4"/>
          <a:stretch>
            <a:fillRect/>
          </a:stretch>
        </p:blipFill>
        <p:spPr>
          <a:xfrm>
            <a:off x="797865" y="4069060"/>
            <a:ext cx="10744349" cy="1560278"/>
          </a:xfrm>
          <a:prstGeom prst="rect">
            <a:avLst/>
          </a:prstGeom>
        </p:spPr>
      </p:pic>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14">
            <a:extLst>
              <a:ext uri="{FF2B5EF4-FFF2-40B4-BE49-F238E27FC236}">
                <a16:creationId xmlns:a16="http://schemas.microsoft.com/office/drawing/2014/main" id="{1D059FB3-A245-4512-C481-05A6294862F4}"/>
              </a:ext>
            </a:extLst>
          </p:cNvPr>
          <p:cNvSpPr txBox="1">
            <a:spLocks/>
          </p:cNvSpPr>
          <p:nvPr/>
        </p:nvSpPr>
        <p:spPr>
          <a:xfrm>
            <a:off x="474481" y="1184223"/>
            <a:ext cx="11243037" cy="112253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4000" b="1"/>
              <a:t>Identify 2 angle types </a:t>
            </a:r>
            <a:r>
              <a:rPr lang="en-US" sz="4000"/>
              <a:t>displayed below:</a:t>
            </a:r>
            <a:endParaRPr lang="en-US" sz="4400"/>
          </a:p>
        </p:txBody>
      </p:sp>
      <p:pic>
        <p:nvPicPr>
          <p:cNvPr id="7" name="Picture 6" descr="Five lines meeting at a central point.">
            <a:extLst>
              <a:ext uri="{FF2B5EF4-FFF2-40B4-BE49-F238E27FC236}">
                <a16:creationId xmlns:a16="http://schemas.microsoft.com/office/drawing/2014/main" id="{E82573BB-7558-1544-8285-4A3A96D93A67}"/>
              </a:ext>
            </a:extLst>
          </p:cNvPr>
          <p:cNvPicPr>
            <a:picLocks noChangeAspect="1"/>
          </p:cNvPicPr>
          <p:nvPr/>
        </p:nvPicPr>
        <p:blipFill>
          <a:blip r:embed="rId4"/>
          <a:stretch>
            <a:fillRect/>
          </a:stretch>
        </p:blipFill>
        <p:spPr>
          <a:xfrm>
            <a:off x="3737681" y="2306756"/>
            <a:ext cx="5436293" cy="3829936"/>
          </a:xfrm>
          <a:prstGeom prst="rect">
            <a:avLst/>
          </a:prstGeom>
        </p:spPr>
      </p:pic>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a:t>
            </a:r>
            <a:r>
              <a:rPr lang="en-AU">
                <a:latin typeface="Arial"/>
                <a:cs typeface="Arial"/>
              </a:rPr>
              <a:t>farmer’s market</a:t>
            </a:r>
            <a:endParaRPr lang="en-AU"/>
          </a:p>
        </p:txBody>
      </p:sp>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pic>
        <p:nvPicPr>
          <p:cNvPr id="4" name="Picture 3" descr="image of a head with cogs turning inside">
            <a:extLst>
              <a:ext uri="{FF2B5EF4-FFF2-40B4-BE49-F238E27FC236}">
                <a16:creationId xmlns:a16="http://schemas.microsoft.com/office/drawing/2014/main" id="{8C7CF980-54BA-5CDE-FA07-65080BB2C43B}"/>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75" name="Picture 74" descr="A group of numbers and fruits">
            <a:extLst>
              <a:ext uri="{FF2B5EF4-FFF2-40B4-BE49-F238E27FC236}">
                <a16:creationId xmlns:a16="http://schemas.microsoft.com/office/drawing/2014/main" id="{B53AFE29-3C8A-3B89-0CDF-9FB309893711}"/>
              </a:ext>
            </a:extLst>
          </p:cNvPr>
          <p:cNvPicPr>
            <a:picLocks noChangeAspect="1"/>
          </p:cNvPicPr>
          <p:nvPr/>
        </p:nvPicPr>
        <p:blipFill>
          <a:blip r:embed="rId4"/>
          <a:stretch>
            <a:fillRect/>
          </a:stretch>
        </p:blipFill>
        <p:spPr>
          <a:xfrm>
            <a:off x="1464732" y="974554"/>
            <a:ext cx="8649108" cy="5631446"/>
          </a:xfrm>
          <a:prstGeom prst="rect">
            <a:avLst/>
          </a:prstGeom>
        </p:spPr>
      </p:pic>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360000" y="1184019"/>
                <a:ext cx="11243037" cy="3232706"/>
              </a:xfrm>
            </p:spPr>
            <p:txBody>
              <a:bodyPr/>
              <a:lstStyle/>
              <a:p>
                <a:pPr algn="ctr"/>
                <a14:m>
                  <m:oMath xmlns:m="http://schemas.openxmlformats.org/officeDocument/2006/math">
                    <m:f>
                      <m:fPr>
                        <m:ctrlPr>
                          <a:rPr lang="en-AU" sz="6600" b="1" i="1" smtClean="0">
                            <a:latin typeface="Cambria Math" panose="02040503050406030204" pitchFamily="18" charset="0"/>
                          </a:rPr>
                        </m:ctrlPr>
                      </m:fPr>
                      <m:num>
                        <m:r>
                          <a:rPr lang="en-AU" sz="6600" b="1" i="1">
                            <a:latin typeface="Cambria Math" panose="02040503050406030204" pitchFamily="18" charset="0"/>
                          </a:rPr>
                          <m:t>𝟏</m:t>
                        </m:r>
                      </m:num>
                      <m:den>
                        <m:r>
                          <a:rPr lang="en-AU" sz="6600" b="1" i="1" smtClean="0">
                            <a:latin typeface="Cambria Math" panose="02040503050406030204" pitchFamily="18" charset="0"/>
                          </a:rPr>
                          <m:t>𝟏𝟎</m:t>
                        </m:r>
                      </m:den>
                    </m:f>
                    <m:r>
                      <a:rPr lang="en-AU" sz="6600" b="1" i="0" smtClean="0">
                        <a:latin typeface="Cambria Math" panose="02040503050406030204" pitchFamily="18" charset="0"/>
                      </a:rPr>
                      <m:t>  </m:t>
                    </m:r>
                  </m:oMath>
                </a14:m>
                <a:r>
                  <a:rPr lang="en-AU" sz="5400"/>
                  <a:t>of 72 is</a:t>
                </a:r>
              </a:p>
              <a:p>
                <a:pPr algn="ctr"/>
                <a:r>
                  <a:rPr lang="en-AU" sz="5400"/>
                  <a:t> 7.2</a:t>
                </a:r>
              </a:p>
              <a:p>
                <a:pPr algn="ctr"/>
                <a:endParaRPr lang="en-AU" sz="4400"/>
              </a:p>
            </p:txBody>
          </p:sp>
        </mc:Choice>
        <mc:Fallback xmlns="">
          <p:sp>
            <p:nvSpPr>
              <p:cNvPr id="6" name="Text Placeholder 5">
                <a:extLst>
                  <a:ext uri="{FF2B5EF4-FFF2-40B4-BE49-F238E27FC236}">
                    <a16:creationId xmlns:a16="http://schemas.microsoft.com/office/drawing/2014/main" id="{8CC0313E-620B-44F6-1CF2-E78C8F63E324}"/>
                  </a:ext>
                </a:extLst>
              </p:cNvPr>
              <p:cNvSpPr>
                <a:spLocks noGrp="1" noRot="1" noChangeAspect="1" noMove="1" noResize="1" noEditPoints="1" noAdjustHandles="1" noChangeArrowheads="1" noChangeShapeType="1" noTextEdit="1"/>
              </p:cNvSpPr>
              <p:nvPr>
                <p:ph type="body" sz="quarter" idx="22"/>
              </p:nvPr>
            </p:nvSpPr>
            <p:spPr>
              <a:xfrm>
                <a:off x="360000" y="1184019"/>
                <a:ext cx="11243037" cy="3232706"/>
              </a:xfrm>
              <a:blipFill>
                <a:blip r:embed="rId4"/>
                <a:stretch>
                  <a:fillRect b="-16196"/>
                </a:stretch>
              </a:blipFill>
            </p:spPr>
            <p:txBody>
              <a:bodyPr/>
              <a:lstStyle/>
              <a:p>
                <a:r>
                  <a:rPr lang="en-AU">
                    <a:noFill/>
                  </a:rPr>
                  <a:t> </a:t>
                </a:r>
              </a:p>
            </p:txBody>
          </p:sp>
        </mc:Fallback>
      </mc:AlternateContent>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3223959524"/>
              </p:ext>
            </p:extLst>
          </p:nvPr>
        </p:nvGraphicFramePr>
        <p:xfrm>
          <a:off x="2442981" y="4974673"/>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endParaRPr lang="en-US" sz="4000" b="1" kern="1200">
                        <a:solidFill>
                          <a:srgbClr val="146CFD"/>
                        </a:solidFill>
                        <a:latin typeface="+mn-lt"/>
                        <a:ea typeface="+mn-ea"/>
                        <a:cs typeface="Arial"/>
                      </a:endParaRP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FE886CB-34FF-0292-C29C-0B025043076C}"/>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1B279B93-1791-B13C-6F9A-3B7DF42CA1E7}"/>
              </a:ext>
            </a:extLst>
          </p:cNvPr>
          <p:cNvSpPr txBox="1">
            <a:spLocks/>
          </p:cNvSpPr>
          <p:nvPr/>
        </p:nvSpPr>
        <p:spPr>
          <a:xfrm>
            <a:off x="360000" y="1812647"/>
            <a:ext cx="11243037" cy="323270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Design a random generator that displays the </a:t>
            </a:r>
            <a:r>
              <a:rPr lang="en-AU" sz="4400" b="1"/>
              <a:t>chance</a:t>
            </a:r>
            <a:r>
              <a:rPr lang="en-AU" sz="4400"/>
              <a:t> of an </a:t>
            </a:r>
            <a:r>
              <a:rPr lang="en-AU" sz="4400" b="1"/>
              <a:t>outcome</a:t>
            </a:r>
            <a:r>
              <a:rPr lang="en-AU" sz="4400"/>
              <a:t> using a </a:t>
            </a:r>
            <a:r>
              <a:rPr lang="en-AU" sz="4400" b="1"/>
              <a:t>fraction</a:t>
            </a:r>
            <a:r>
              <a:rPr lang="en-AU" sz="4400"/>
              <a:t> with a </a:t>
            </a:r>
            <a:r>
              <a:rPr lang="en-AU" sz="4400" b="1"/>
              <a:t>denominator of 5</a:t>
            </a:r>
            <a:r>
              <a:rPr lang="en-AU" sz="4400"/>
              <a:t>.</a:t>
            </a:r>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 Placeholder 5">
            <a:extLst>
              <a:ext uri="{FF2B5EF4-FFF2-40B4-BE49-F238E27FC236}">
                <a16:creationId xmlns:a16="http://schemas.microsoft.com/office/drawing/2014/main" id="{7895B8FF-8725-0178-0963-56CDB5B70F11}"/>
              </a:ext>
            </a:extLst>
          </p:cNvPr>
          <p:cNvSpPr txBox="1">
            <a:spLocks/>
          </p:cNvSpPr>
          <p:nvPr/>
        </p:nvSpPr>
        <p:spPr>
          <a:xfrm>
            <a:off x="474481" y="920561"/>
            <a:ext cx="11243037" cy="5577439"/>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Record the factors for the following numbers:</a:t>
            </a:r>
            <a:br>
              <a:rPr lang="en-AU" sz="5400"/>
            </a:br>
            <a:r>
              <a:rPr lang="en-AU" sz="4400"/>
              <a:t>32</a:t>
            </a:r>
          </a:p>
          <a:p>
            <a:pPr algn="ctr"/>
            <a:r>
              <a:rPr lang="en-AU" sz="4400"/>
              <a:t>65</a:t>
            </a:r>
          </a:p>
          <a:p>
            <a:pPr algn="ctr"/>
            <a:r>
              <a:rPr lang="en-AU" sz="4400"/>
              <a:t>48 </a:t>
            </a:r>
          </a:p>
          <a:p>
            <a:pPr algn="ctr"/>
            <a:endParaRPr lang="en-AU" sz="5400"/>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14</a:t>
            </a:fld>
            <a:endParaRPr lang="en-AU"/>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4400" y="162000"/>
            <a:ext cx="915500" cy="915500"/>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DD371F9-EEC6-2380-03A6-856840CC495E}"/>
                  </a:ext>
                </a:extLst>
              </p:cNvPr>
              <p:cNvSpPr txBox="1"/>
              <p:nvPr/>
            </p:nvSpPr>
            <p:spPr>
              <a:xfrm>
                <a:off x="1124882" y="632800"/>
                <a:ext cx="10116076" cy="2640275"/>
              </a:xfrm>
              <a:prstGeom prst="rect">
                <a:avLst/>
              </a:prstGeom>
              <a:noFill/>
            </p:spPr>
            <p:txBody>
              <a:bodyPr wrap="square">
                <a:spAutoFit/>
              </a:bodyPr>
              <a:lstStyle/>
              <a:p>
                <a:pPr algn="ctr">
                  <a:lnSpc>
                    <a:spcPct val="150000"/>
                  </a:lnSpc>
                </a:pPr>
                <a:r>
                  <a:rPr lang="en-AU" sz="4000"/>
                  <a:t>Explain why  </a:t>
                </a:r>
                <a14:m>
                  <m:oMath xmlns:m="http://schemas.openxmlformats.org/officeDocument/2006/math">
                    <m:f>
                      <m:fPr>
                        <m:ctrlPr>
                          <a:rPr lang="en-AU" sz="4000" b="1" i="1">
                            <a:latin typeface="Cambria Math" panose="02040503050406030204" pitchFamily="18" charset="0"/>
                          </a:rPr>
                        </m:ctrlPr>
                      </m:fPr>
                      <m:num>
                        <m:r>
                          <a:rPr lang="en-AU" sz="4000" b="1" i="1">
                            <a:latin typeface="Cambria Math" panose="02040503050406030204" pitchFamily="18" charset="0"/>
                          </a:rPr>
                          <m:t>𝟏</m:t>
                        </m:r>
                      </m:num>
                      <m:den>
                        <m:r>
                          <a:rPr lang="en-AU" sz="4000" b="1" i="1" smtClean="0">
                            <a:latin typeface="Cambria Math" panose="02040503050406030204" pitchFamily="18" charset="0"/>
                          </a:rPr>
                          <m:t>𝟒</m:t>
                        </m:r>
                      </m:den>
                    </m:f>
                  </m:oMath>
                </a14:m>
                <a:r>
                  <a:rPr lang="en-AU" sz="4000"/>
                  <a:t>  on number line B is larger than  </a:t>
                </a:r>
                <a14:m>
                  <m:oMath xmlns:m="http://schemas.openxmlformats.org/officeDocument/2006/math">
                    <m:f>
                      <m:fPr>
                        <m:ctrlPr>
                          <a:rPr lang="en-AU" sz="4000" b="1" i="1">
                            <a:latin typeface="Cambria Math" panose="02040503050406030204" pitchFamily="18" charset="0"/>
                          </a:rPr>
                        </m:ctrlPr>
                      </m:fPr>
                      <m:num>
                        <m:r>
                          <a:rPr lang="en-AU" sz="4000" b="1" i="1">
                            <a:latin typeface="Cambria Math" panose="02040503050406030204" pitchFamily="18" charset="0"/>
                          </a:rPr>
                          <m:t>𝟏</m:t>
                        </m:r>
                      </m:num>
                      <m:den>
                        <m:r>
                          <a:rPr lang="en-AU" sz="4000" b="1" i="1">
                            <a:latin typeface="Cambria Math" panose="02040503050406030204" pitchFamily="18" charset="0"/>
                          </a:rPr>
                          <m:t>𝟒</m:t>
                        </m:r>
                      </m:den>
                    </m:f>
                  </m:oMath>
                </a14:m>
                <a:r>
                  <a:rPr lang="en-AU" sz="4000"/>
                  <a:t>  on number line A.</a:t>
                </a:r>
              </a:p>
            </p:txBody>
          </p:sp>
        </mc:Choice>
        <mc:Fallback xmlns="">
          <p:sp>
            <p:nvSpPr>
              <p:cNvPr id="9" name="TextBox 8">
                <a:extLst>
                  <a:ext uri="{FF2B5EF4-FFF2-40B4-BE49-F238E27FC236}">
                    <a16:creationId xmlns:a16="http://schemas.microsoft.com/office/drawing/2014/main" id="{4DD371F9-EEC6-2380-03A6-856840CC495E}"/>
                  </a:ext>
                </a:extLst>
              </p:cNvPr>
              <p:cNvSpPr txBox="1">
                <a:spLocks noRot="1" noChangeAspect="1" noMove="1" noResize="1" noEditPoints="1" noAdjustHandles="1" noChangeArrowheads="1" noChangeShapeType="1" noTextEdit="1"/>
              </p:cNvSpPr>
              <p:nvPr/>
            </p:nvSpPr>
            <p:spPr>
              <a:xfrm>
                <a:off x="1124882" y="632800"/>
                <a:ext cx="10116076" cy="2640275"/>
              </a:xfrm>
              <a:prstGeom prst="rect">
                <a:avLst/>
              </a:prstGeom>
              <a:blipFill>
                <a:blip r:embed="rId4"/>
                <a:stretch>
                  <a:fillRect r="-301" b="-3695"/>
                </a:stretch>
              </a:blipFill>
            </p:spPr>
            <p:txBody>
              <a:bodyPr/>
              <a:lstStyle/>
              <a:p>
                <a:r>
                  <a:rPr lang="en-AU">
                    <a:noFill/>
                  </a:rPr>
                  <a:t> </a:t>
                </a:r>
              </a:p>
            </p:txBody>
          </p:sp>
        </mc:Fallback>
      </mc:AlternateContent>
      <p:sp>
        <p:nvSpPr>
          <p:cNvPr id="11" name="TextBox 10">
            <a:extLst>
              <a:ext uri="{FF2B5EF4-FFF2-40B4-BE49-F238E27FC236}">
                <a16:creationId xmlns:a16="http://schemas.microsoft.com/office/drawing/2014/main" id="{454F7194-F45B-0BF0-4833-B837440B33F5}"/>
              </a:ext>
            </a:extLst>
          </p:cNvPr>
          <p:cNvSpPr txBox="1"/>
          <p:nvPr/>
        </p:nvSpPr>
        <p:spPr>
          <a:xfrm>
            <a:off x="2039006" y="3743875"/>
            <a:ext cx="536027" cy="646331"/>
          </a:xfrm>
          <a:prstGeom prst="rect">
            <a:avLst/>
          </a:prstGeom>
          <a:noFill/>
        </p:spPr>
        <p:txBody>
          <a:bodyPr wrap="square">
            <a:spAutoFit/>
          </a:bodyPr>
          <a:lstStyle/>
          <a:p>
            <a:r>
              <a:rPr lang="en-AU" sz="3600"/>
              <a:t>A</a:t>
            </a:r>
          </a:p>
        </p:txBody>
      </p:sp>
      <p:sp>
        <p:nvSpPr>
          <p:cNvPr id="12" name="TextBox 11">
            <a:extLst>
              <a:ext uri="{FF2B5EF4-FFF2-40B4-BE49-F238E27FC236}">
                <a16:creationId xmlns:a16="http://schemas.microsoft.com/office/drawing/2014/main" id="{F7DBD5AC-6368-0AD4-B26B-FF72BA057832}"/>
              </a:ext>
            </a:extLst>
          </p:cNvPr>
          <p:cNvSpPr txBox="1"/>
          <p:nvPr/>
        </p:nvSpPr>
        <p:spPr>
          <a:xfrm>
            <a:off x="2039005" y="5136495"/>
            <a:ext cx="536027" cy="646331"/>
          </a:xfrm>
          <a:prstGeom prst="rect">
            <a:avLst/>
          </a:prstGeom>
          <a:noFill/>
        </p:spPr>
        <p:txBody>
          <a:bodyPr wrap="square">
            <a:spAutoFit/>
          </a:bodyPr>
          <a:lstStyle/>
          <a:p>
            <a:r>
              <a:rPr lang="en-AU" sz="3600"/>
              <a:t>B</a:t>
            </a:r>
          </a:p>
        </p:txBody>
      </p:sp>
      <p:pic>
        <p:nvPicPr>
          <p:cNvPr id="8" name="Picture 7" descr="A is a number line from 0 to 1 with one quarter and one half marked. &#10;B is the same number line with the same markings but is longer.">
            <a:extLst>
              <a:ext uri="{FF2B5EF4-FFF2-40B4-BE49-F238E27FC236}">
                <a16:creationId xmlns:a16="http://schemas.microsoft.com/office/drawing/2014/main" id="{350F8A04-C65E-E7C4-1574-7348AD0B2F04}"/>
              </a:ext>
            </a:extLst>
          </p:cNvPr>
          <p:cNvPicPr>
            <a:picLocks noChangeAspect="1"/>
          </p:cNvPicPr>
          <p:nvPr/>
        </p:nvPicPr>
        <p:blipFill>
          <a:blip r:embed="rId5"/>
          <a:stretch>
            <a:fillRect/>
          </a:stretch>
        </p:blipFill>
        <p:spPr>
          <a:xfrm>
            <a:off x="2660438" y="3823643"/>
            <a:ext cx="6871123" cy="2401557"/>
          </a:xfrm>
          <a:prstGeom prst="rect">
            <a:avLst/>
          </a:prstGeom>
        </p:spPr>
      </p:pic>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descr="image of a clipboard with a pencil recording short answer responses">
            <a:extLst>
              <a:ext uri="{FF2B5EF4-FFF2-40B4-BE49-F238E27FC236}">
                <a16:creationId xmlns:a16="http://schemas.microsoft.com/office/drawing/2014/main" id="{5D2DD89E-AAB3-5EBB-F36F-72D71287FEEC}"/>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7" name="Picture 6" descr="A grid with an irregular polygon and a rectangle.">
            <a:extLst>
              <a:ext uri="{FF2B5EF4-FFF2-40B4-BE49-F238E27FC236}">
                <a16:creationId xmlns:a16="http://schemas.microsoft.com/office/drawing/2014/main" id="{E15F47DE-7A12-276C-1068-7068090C7AEE}"/>
              </a:ext>
            </a:extLst>
          </p:cNvPr>
          <p:cNvPicPr>
            <a:picLocks noChangeAspect="1"/>
          </p:cNvPicPr>
          <p:nvPr/>
        </p:nvPicPr>
        <p:blipFill>
          <a:blip r:embed="rId4"/>
          <a:stretch>
            <a:fillRect/>
          </a:stretch>
        </p:blipFill>
        <p:spPr>
          <a:xfrm>
            <a:off x="565962" y="1059476"/>
            <a:ext cx="4127211" cy="5546524"/>
          </a:xfrm>
          <a:prstGeom prst="rect">
            <a:avLst/>
          </a:prstGeom>
          <a:effectLst>
            <a:outerShdw blurRad="63500" sx="102000" sy="102000" algn="ctr" rotWithShape="0">
              <a:prstClr val="black">
                <a:alpha val="40000"/>
              </a:prstClr>
            </a:outerShdw>
          </a:effectLst>
        </p:spPr>
      </p:pic>
      <p:sp>
        <p:nvSpPr>
          <p:cNvPr id="4" name="Text Placeholder 14">
            <a:extLst>
              <a:ext uri="{FF2B5EF4-FFF2-40B4-BE49-F238E27FC236}">
                <a16:creationId xmlns:a16="http://schemas.microsoft.com/office/drawing/2014/main" id="{6EC3C396-F2C5-0210-2A57-C5D8ACBC6496}"/>
              </a:ext>
            </a:extLst>
          </p:cNvPr>
          <p:cNvSpPr txBox="1">
            <a:spLocks/>
          </p:cNvSpPr>
          <p:nvPr/>
        </p:nvSpPr>
        <p:spPr>
          <a:xfrm>
            <a:off x="4899135" y="905600"/>
            <a:ext cx="7046841" cy="5592399"/>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a:t>These polygons have the same area. </a:t>
            </a:r>
          </a:p>
          <a:p>
            <a:pPr algn="ctr"/>
            <a:r>
              <a:rPr lang="en-US" sz="4000"/>
              <a:t>Are the </a:t>
            </a:r>
            <a:r>
              <a:rPr lang="en-US" sz="4000" b="1"/>
              <a:t>perimeters</a:t>
            </a:r>
            <a:r>
              <a:rPr lang="en-US" sz="4000"/>
              <a:t> the same? </a:t>
            </a:r>
          </a:p>
          <a:p>
            <a:pPr algn="ctr"/>
            <a:r>
              <a:rPr lang="en-US" sz="4000"/>
              <a:t>What strategies did you use to find out?</a:t>
            </a:r>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16</a:t>
            </a:fld>
            <a:endParaRPr lang="en-AU"/>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a:t>
            </a:r>
            <a:r>
              <a:rPr lang="en-AU">
                <a:latin typeface="Arial"/>
                <a:cs typeface="Arial"/>
              </a:rPr>
              <a:t>lolly shop</a:t>
            </a:r>
            <a:endParaRPr lang="en-AU"/>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pic>
        <p:nvPicPr>
          <p:cNvPr id="4" name="Picture 3" descr="image of a head with cogs turning inside">
            <a:extLst>
              <a:ext uri="{FF2B5EF4-FFF2-40B4-BE49-F238E27FC236}">
                <a16:creationId xmlns:a16="http://schemas.microsoft.com/office/drawing/2014/main" id="{D6502462-26FB-38CD-06DC-5F98705966BE}"/>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31" name="Group 30" descr="Lollies and number of lollies: 72 jelly beans, 35 gummy bears, 30 worms, 60 fairy floss, 42 sour straps, 80 chocolate bars, 120 marshmallows, 64 gum boxes">
            <a:extLst>
              <a:ext uri="{FF2B5EF4-FFF2-40B4-BE49-F238E27FC236}">
                <a16:creationId xmlns:a16="http://schemas.microsoft.com/office/drawing/2014/main" id="{13034B96-AABB-DC4D-1DAA-8D25B8C29FF2}"/>
              </a:ext>
            </a:extLst>
          </p:cNvPr>
          <p:cNvGrpSpPr/>
          <p:nvPr/>
        </p:nvGrpSpPr>
        <p:grpSpPr>
          <a:xfrm>
            <a:off x="1494749" y="1034155"/>
            <a:ext cx="8817492" cy="5571845"/>
            <a:chOff x="1494749" y="1034155"/>
            <a:chExt cx="8817492" cy="5571845"/>
          </a:xfrm>
        </p:grpSpPr>
        <p:sp>
          <p:nvSpPr>
            <p:cNvPr id="7" name="Freeform 2">
              <a:extLst>
                <a:ext uri="{FF2B5EF4-FFF2-40B4-BE49-F238E27FC236}">
                  <a16:creationId xmlns:a16="http://schemas.microsoft.com/office/drawing/2014/main" id="{B750AC47-CA2B-1BBE-07FA-8DDA492F1EFB}"/>
                </a:ext>
              </a:extLst>
            </p:cNvPr>
            <p:cNvSpPr/>
            <p:nvPr/>
          </p:nvSpPr>
          <p:spPr>
            <a:xfrm>
              <a:off x="1699238" y="1035491"/>
              <a:ext cx="2005178" cy="2722826"/>
            </a:xfrm>
            <a:custGeom>
              <a:avLst/>
              <a:gdLst/>
              <a:ahLst/>
              <a:cxnLst/>
              <a:rect l="l" t="t" r="r" b="b"/>
              <a:pathLst>
                <a:path w="2349343" h="3368233">
                  <a:moveTo>
                    <a:pt x="0" y="0"/>
                  </a:moveTo>
                  <a:lnTo>
                    <a:pt x="2349343" y="0"/>
                  </a:lnTo>
                  <a:lnTo>
                    <a:pt x="2349343" y="3368234"/>
                  </a:lnTo>
                  <a:lnTo>
                    <a:pt x="0" y="3368234"/>
                  </a:lnTo>
                  <a:lnTo>
                    <a:pt x="0" y="0"/>
                  </a:lnTo>
                  <a:close/>
                </a:path>
              </a:pathLst>
            </a:custGeom>
            <a:blipFill>
              <a:blip r:embed="rId4">
                <a:extLst>
                  <a:ext uri="{96DAC541-7B7A-43D3-8B79-37D633B846F1}">
                    <asvg:svgBlip xmlns:asvg="http://schemas.microsoft.com/office/drawing/2016/SVG/main" r:embed="rId5"/>
                  </a:ext>
                </a:extLst>
              </a:blip>
              <a:stretch>
                <a:fillRect/>
              </a:stretch>
            </a:blipFill>
            <a:ln w="47625" cap="sq">
              <a:solidFill>
                <a:srgbClr val="000000"/>
              </a:solidFill>
              <a:prstDash val="solid"/>
              <a:miter/>
            </a:ln>
          </p:spPr>
          <p:txBody>
            <a:bodyPr/>
            <a:lstStyle/>
            <a:p>
              <a:endParaRPr lang="en-AU"/>
            </a:p>
          </p:txBody>
        </p:sp>
        <p:sp>
          <p:nvSpPr>
            <p:cNvPr id="8" name="Freeform 3">
              <a:extLst>
                <a:ext uri="{FF2B5EF4-FFF2-40B4-BE49-F238E27FC236}">
                  <a16:creationId xmlns:a16="http://schemas.microsoft.com/office/drawing/2014/main" id="{399405A6-2B55-0EAC-5A86-81B8C34D8DBB}"/>
                </a:ext>
              </a:extLst>
            </p:cNvPr>
            <p:cNvSpPr/>
            <p:nvPr/>
          </p:nvSpPr>
          <p:spPr>
            <a:xfrm>
              <a:off x="3828936" y="1034155"/>
              <a:ext cx="2005178" cy="2722826"/>
            </a:xfrm>
            <a:custGeom>
              <a:avLst/>
              <a:gdLst/>
              <a:ahLst/>
              <a:cxnLst/>
              <a:rect l="l" t="t" r="r" b="b"/>
              <a:pathLst>
                <a:path w="2349343" h="3368233">
                  <a:moveTo>
                    <a:pt x="0" y="0"/>
                  </a:moveTo>
                  <a:lnTo>
                    <a:pt x="2349342" y="0"/>
                  </a:lnTo>
                  <a:lnTo>
                    <a:pt x="2349342" y="3368234"/>
                  </a:lnTo>
                  <a:lnTo>
                    <a:pt x="0" y="3368234"/>
                  </a:lnTo>
                  <a:lnTo>
                    <a:pt x="0" y="0"/>
                  </a:lnTo>
                  <a:close/>
                </a:path>
              </a:pathLst>
            </a:custGeom>
            <a:blipFill>
              <a:blip r:embed="rId4">
                <a:extLst>
                  <a:ext uri="{96DAC541-7B7A-43D3-8B79-37D633B846F1}">
                    <asvg:svgBlip xmlns:asvg="http://schemas.microsoft.com/office/drawing/2016/SVG/main" r:embed="rId5"/>
                  </a:ext>
                </a:extLst>
              </a:blip>
              <a:stretch>
                <a:fillRect/>
              </a:stretch>
            </a:blipFill>
            <a:ln w="38100" cap="sq">
              <a:solidFill>
                <a:srgbClr val="000000"/>
              </a:solidFill>
              <a:prstDash val="solid"/>
              <a:miter/>
            </a:ln>
          </p:spPr>
          <p:txBody>
            <a:bodyPr/>
            <a:lstStyle/>
            <a:p>
              <a:endParaRPr lang="en-AU"/>
            </a:p>
          </p:txBody>
        </p:sp>
        <p:sp>
          <p:nvSpPr>
            <p:cNvPr id="9" name="Freeform 4">
              <a:extLst>
                <a:ext uri="{FF2B5EF4-FFF2-40B4-BE49-F238E27FC236}">
                  <a16:creationId xmlns:a16="http://schemas.microsoft.com/office/drawing/2014/main" id="{B66A80F7-903A-81BF-9E2C-1B82100D1FAC}"/>
                </a:ext>
              </a:extLst>
            </p:cNvPr>
            <p:cNvSpPr/>
            <p:nvPr/>
          </p:nvSpPr>
          <p:spPr>
            <a:xfrm>
              <a:off x="8198275" y="1034155"/>
              <a:ext cx="2005178" cy="2722826"/>
            </a:xfrm>
            <a:custGeom>
              <a:avLst/>
              <a:gdLst/>
              <a:ahLst/>
              <a:cxnLst/>
              <a:rect l="l" t="t" r="r" b="b"/>
              <a:pathLst>
                <a:path w="2349343" h="3368233">
                  <a:moveTo>
                    <a:pt x="0" y="0"/>
                  </a:moveTo>
                  <a:lnTo>
                    <a:pt x="2349343" y="0"/>
                  </a:lnTo>
                  <a:lnTo>
                    <a:pt x="2349343" y="3368234"/>
                  </a:lnTo>
                  <a:lnTo>
                    <a:pt x="0" y="3368234"/>
                  </a:lnTo>
                  <a:lnTo>
                    <a:pt x="0" y="0"/>
                  </a:lnTo>
                  <a:close/>
                </a:path>
              </a:pathLst>
            </a:custGeom>
            <a:blipFill>
              <a:blip r:embed="rId4">
                <a:extLst>
                  <a:ext uri="{96DAC541-7B7A-43D3-8B79-37D633B846F1}">
                    <asvg:svgBlip xmlns:asvg="http://schemas.microsoft.com/office/drawing/2016/SVG/main" r:embed="rId5"/>
                  </a:ext>
                </a:extLst>
              </a:blip>
              <a:stretch>
                <a:fillRect/>
              </a:stretch>
            </a:blipFill>
            <a:ln w="38100" cap="sq">
              <a:solidFill>
                <a:srgbClr val="000000"/>
              </a:solidFill>
              <a:prstDash val="solid"/>
              <a:miter/>
            </a:ln>
          </p:spPr>
          <p:txBody>
            <a:bodyPr/>
            <a:lstStyle/>
            <a:p>
              <a:endParaRPr lang="en-AU"/>
            </a:p>
          </p:txBody>
        </p:sp>
        <p:sp>
          <p:nvSpPr>
            <p:cNvPr id="10" name="Freeform 5">
              <a:extLst>
                <a:ext uri="{FF2B5EF4-FFF2-40B4-BE49-F238E27FC236}">
                  <a16:creationId xmlns:a16="http://schemas.microsoft.com/office/drawing/2014/main" id="{5B867B05-F571-E02D-3B5A-287228CF9DE5}"/>
                </a:ext>
              </a:extLst>
            </p:cNvPr>
            <p:cNvSpPr/>
            <p:nvPr/>
          </p:nvSpPr>
          <p:spPr>
            <a:xfrm>
              <a:off x="6013968" y="1034155"/>
              <a:ext cx="2005178" cy="2722826"/>
            </a:xfrm>
            <a:custGeom>
              <a:avLst/>
              <a:gdLst/>
              <a:ahLst/>
              <a:cxnLst/>
              <a:rect l="l" t="t" r="r" b="b"/>
              <a:pathLst>
                <a:path w="2349343" h="3368233">
                  <a:moveTo>
                    <a:pt x="0" y="0"/>
                  </a:moveTo>
                  <a:lnTo>
                    <a:pt x="2349343" y="0"/>
                  </a:lnTo>
                  <a:lnTo>
                    <a:pt x="2349343" y="3368234"/>
                  </a:lnTo>
                  <a:lnTo>
                    <a:pt x="0" y="3368234"/>
                  </a:lnTo>
                  <a:lnTo>
                    <a:pt x="0" y="0"/>
                  </a:lnTo>
                  <a:close/>
                </a:path>
              </a:pathLst>
            </a:custGeom>
            <a:blipFill>
              <a:blip r:embed="rId4">
                <a:extLst>
                  <a:ext uri="{96DAC541-7B7A-43D3-8B79-37D633B846F1}">
                    <asvg:svgBlip xmlns:asvg="http://schemas.microsoft.com/office/drawing/2016/SVG/main" r:embed="rId5"/>
                  </a:ext>
                </a:extLst>
              </a:blip>
              <a:stretch>
                <a:fillRect/>
              </a:stretch>
            </a:blipFill>
            <a:ln w="38100" cap="sq">
              <a:solidFill>
                <a:srgbClr val="000000"/>
              </a:solidFill>
              <a:prstDash val="solid"/>
              <a:miter/>
            </a:ln>
          </p:spPr>
          <p:txBody>
            <a:bodyPr/>
            <a:lstStyle/>
            <a:p>
              <a:endParaRPr lang="en-AU"/>
            </a:p>
          </p:txBody>
        </p:sp>
        <p:sp>
          <p:nvSpPr>
            <p:cNvPr id="11" name="Freeform 6">
              <a:extLst>
                <a:ext uri="{FF2B5EF4-FFF2-40B4-BE49-F238E27FC236}">
                  <a16:creationId xmlns:a16="http://schemas.microsoft.com/office/drawing/2014/main" id="{22BA31D1-70C0-C630-CA33-BB5B55E6EA45}"/>
                </a:ext>
              </a:extLst>
            </p:cNvPr>
            <p:cNvSpPr/>
            <p:nvPr/>
          </p:nvSpPr>
          <p:spPr>
            <a:xfrm>
              <a:off x="1675533" y="3883174"/>
              <a:ext cx="2005178" cy="2722826"/>
            </a:xfrm>
            <a:custGeom>
              <a:avLst/>
              <a:gdLst/>
              <a:ahLst/>
              <a:cxnLst/>
              <a:rect l="l" t="t" r="r" b="b"/>
              <a:pathLst>
                <a:path w="2349343" h="3368233">
                  <a:moveTo>
                    <a:pt x="0" y="0"/>
                  </a:moveTo>
                  <a:lnTo>
                    <a:pt x="2349343" y="0"/>
                  </a:lnTo>
                  <a:lnTo>
                    <a:pt x="2349343" y="3368233"/>
                  </a:lnTo>
                  <a:lnTo>
                    <a:pt x="0" y="3368233"/>
                  </a:lnTo>
                  <a:lnTo>
                    <a:pt x="0" y="0"/>
                  </a:lnTo>
                  <a:close/>
                </a:path>
              </a:pathLst>
            </a:custGeom>
            <a:blipFill>
              <a:blip r:embed="rId4">
                <a:extLst>
                  <a:ext uri="{96DAC541-7B7A-43D3-8B79-37D633B846F1}">
                    <asvg:svgBlip xmlns:asvg="http://schemas.microsoft.com/office/drawing/2016/SVG/main" r:embed="rId5"/>
                  </a:ext>
                </a:extLst>
              </a:blip>
              <a:stretch>
                <a:fillRect/>
              </a:stretch>
            </a:blipFill>
            <a:ln w="38100" cap="sq">
              <a:solidFill>
                <a:srgbClr val="000000"/>
              </a:solidFill>
              <a:prstDash val="solid"/>
              <a:miter/>
            </a:ln>
          </p:spPr>
          <p:txBody>
            <a:bodyPr/>
            <a:lstStyle/>
            <a:p>
              <a:endParaRPr lang="en-AU"/>
            </a:p>
          </p:txBody>
        </p:sp>
        <p:sp>
          <p:nvSpPr>
            <p:cNvPr id="12" name="Freeform 7">
              <a:extLst>
                <a:ext uri="{FF2B5EF4-FFF2-40B4-BE49-F238E27FC236}">
                  <a16:creationId xmlns:a16="http://schemas.microsoft.com/office/drawing/2014/main" id="{AD02D8F8-0084-9DF1-7488-BBC90B84641E}"/>
                </a:ext>
              </a:extLst>
            </p:cNvPr>
            <p:cNvSpPr/>
            <p:nvPr/>
          </p:nvSpPr>
          <p:spPr>
            <a:xfrm>
              <a:off x="3828936" y="3883174"/>
              <a:ext cx="2005178" cy="2722826"/>
            </a:xfrm>
            <a:custGeom>
              <a:avLst/>
              <a:gdLst/>
              <a:ahLst/>
              <a:cxnLst/>
              <a:rect l="l" t="t" r="r" b="b"/>
              <a:pathLst>
                <a:path w="2349343" h="3368233">
                  <a:moveTo>
                    <a:pt x="0" y="0"/>
                  </a:moveTo>
                  <a:lnTo>
                    <a:pt x="2349342" y="0"/>
                  </a:lnTo>
                  <a:lnTo>
                    <a:pt x="2349342" y="3368233"/>
                  </a:lnTo>
                  <a:lnTo>
                    <a:pt x="0" y="3368233"/>
                  </a:lnTo>
                  <a:lnTo>
                    <a:pt x="0" y="0"/>
                  </a:lnTo>
                  <a:close/>
                </a:path>
              </a:pathLst>
            </a:custGeom>
            <a:blipFill>
              <a:blip r:embed="rId4">
                <a:extLst>
                  <a:ext uri="{96DAC541-7B7A-43D3-8B79-37D633B846F1}">
                    <asvg:svgBlip xmlns:asvg="http://schemas.microsoft.com/office/drawing/2016/SVG/main" r:embed="rId5"/>
                  </a:ext>
                </a:extLst>
              </a:blip>
              <a:stretch>
                <a:fillRect/>
              </a:stretch>
            </a:blipFill>
            <a:ln w="38100" cap="sq">
              <a:solidFill>
                <a:srgbClr val="000000"/>
              </a:solidFill>
              <a:prstDash val="solid"/>
              <a:miter/>
            </a:ln>
          </p:spPr>
          <p:txBody>
            <a:bodyPr/>
            <a:lstStyle/>
            <a:p>
              <a:endParaRPr lang="en-AU"/>
            </a:p>
          </p:txBody>
        </p:sp>
        <p:sp>
          <p:nvSpPr>
            <p:cNvPr id="13" name="Freeform 8">
              <a:extLst>
                <a:ext uri="{FF2B5EF4-FFF2-40B4-BE49-F238E27FC236}">
                  <a16:creationId xmlns:a16="http://schemas.microsoft.com/office/drawing/2014/main" id="{968AEEC6-A7B7-134B-E795-B22DC05E2274}"/>
                </a:ext>
              </a:extLst>
            </p:cNvPr>
            <p:cNvSpPr/>
            <p:nvPr/>
          </p:nvSpPr>
          <p:spPr>
            <a:xfrm>
              <a:off x="6013968" y="3883174"/>
              <a:ext cx="2005178" cy="2722826"/>
            </a:xfrm>
            <a:custGeom>
              <a:avLst/>
              <a:gdLst/>
              <a:ahLst/>
              <a:cxnLst/>
              <a:rect l="l" t="t" r="r" b="b"/>
              <a:pathLst>
                <a:path w="2349343" h="3368233">
                  <a:moveTo>
                    <a:pt x="0" y="0"/>
                  </a:moveTo>
                  <a:lnTo>
                    <a:pt x="2349343" y="0"/>
                  </a:lnTo>
                  <a:lnTo>
                    <a:pt x="2349343" y="3368233"/>
                  </a:lnTo>
                  <a:lnTo>
                    <a:pt x="0" y="3368233"/>
                  </a:lnTo>
                  <a:lnTo>
                    <a:pt x="0" y="0"/>
                  </a:lnTo>
                  <a:close/>
                </a:path>
              </a:pathLst>
            </a:custGeom>
            <a:blipFill>
              <a:blip r:embed="rId4">
                <a:extLst>
                  <a:ext uri="{96DAC541-7B7A-43D3-8B79-37D633B846F1}">
                    <asvg:svgBlip xmlns:asvg="http://schemas.microsoft.com/office/drawing/2016/SVG/main" r:embed="rId5"/>
                  </a:ext>
                </a:extLst>
              </a:blip>
              <a:stretch>
                <a:fillRect/>
              </a:stretch>
            </a:blipFill>
            <a:ln w="38100" cap="sq">
              <a:solidFill>
                <a:srgbClr val="000000"/>
              </a:solidFill>
              <a:prstDash val="solid"/>
              <a:miter/>
            </a:ln>
          </p:spPr>
          <p:txBody>
            <a:bodyPr/>
            <a:lstStyle/>
            <a:p>
              <a:endParaRPr lang="en-AU"/>
            </a:p>
          </p:txBody>
        </p:sp>
        <p:sp>
          <p:nvSpPr>
            <p:cNvPr id="14" name="Freeform 9">
              <a:extLst>
                <a:ext uri="{FF2B5EF4-FFF2-40B4-BE49-F238E27FC236}">
                  <a16:creationId xmlns:a16="http://schemas.microsoft.com/office/drawing/2014/main" id="{54D785BC-63E4-64FC-8BA2-597B3AA3F2BF}"/>
                </a:ext>
              </a:extLst>
            </p:cNvPr>
            <p:cNvSpPr/>
            <p:nvPr/>
          </p:nvSpPr>
          <p:spPr>
            <a:xfrm>
              <a:off x="8198275" y="3883174"/>
              <a:ext cx="2005178" cy="2722826"/>
            </a:xfrm>
            <a:custGeom>
              <a:avLst/>
              <a:gdLst/>
              <a:ahLst/>
              <a:cxnLst/>
              <a:rect l="l" t="t" r="r" b="b"/>
              <a:pathLst>
                <a:path w="2349343" h="3368233">
                  <a:moveTo>
                    <a:pt x="0" y="0"/>
                  </a:moveTo>
                  <a:lnTo>
                    <a:pt x="2349343" y="0"/>
                  </a:lnTo>
                  <a:lnTo>
                    <a:pt x="2349343" y="3368233"/>
                  </a:lnTo>
                  <a:lnTo>
                    <a:pt x="0" y="3368233"/>
                  </a:lnTo>
                  <a:lnTo>
                    <a:pt x="0" y="0"/>
                  </a:lnTo>
                  <a:close/>
                </a:path>
              </a:pathLst>
            </a:custGeom>
            <a:blipFill>
              <a:blip r:embed="rId4">
                <a:extLst>
                  <a:ext uri="{96DAC541-7B7A-43D3-8B79-37D633B846F1}">
                    <asvg:svgBlip xmlns:asvg="http://schemas.microsoft.com/office/drawing/2016/SVG/main" r:embed="rId5"/>
                  </a:ext>
                </a:extLst>
              </a:blip>
              <a:stretch>
                <a:fillRect/>
              </a:stretch>
            </a:blipFill>
            <a:ln w="38100" cap="sq">
              <a:solidFill>
                <a:srgbClr val="000000"/>
              </a:solidFill>
              <a:prstDash val="solid"/>
              <a:miter/>
            </a:ln>
          </p:spPr>
          <p:txBody>
            <a:bodyPr/>
            <a:lstStyle/>
            <a:p>
              <a:endParaRPr lang="en-AU"/>
            </a:p>
          </p:txBody>
        </p:sp>
        <p:sp>
          <p:nvSpPr>
            <p:cNvPr id="15" name="Freeform 10">
              <a:extLst>
                <a:ext uri="{FF2B5EF4-FFF2-40B4-BE49-F238E27FC236}">
                  <a16:creationId xmlns:a16="http://schemas.microsoft.com/office/drawing/2014/main" id="{47750ED9-6C0C-0AE3-2A7B-6CD3C87BCEC1}"/>
                </a:ext>
              </a:extLst>
            </p:cNvPr>
            <p:cNvSpPr/>
            <p:nvPr/>
          </p:nvSpPr>
          <p:spPr>
            <a:xfrm>
              <a:off x="1891370" y="1347354"/>
              <a:ext cx="1464716" cy="1087282"/>
            </a:xfrm>
            <a:custGeom>
              <a:avLst/>
              <a:gdLst/>
              <a:ahLst/>
              <a:cxnLst/>
              <a:rect l="l" t="t" r="r" b="b"/>
              <a:pathLst>
                <a:path w="1716117" h="1345007">
                  <a:moveTo>
                    <a:pt x="0" y="0"/>
                  </a:moveTo>
                  <a:lnTo>
                    <a:pt x="1716117" y="0"/>
                  </a:lnTo>
                  <a:lnTo>
                    <a:pt x="1716117" y="1345006"/>
                  </a:lnTo>
                  <a:lnTo>
                    <a:pt x="0" y="1345006"/>
                  </a:lnTo>
                  <a:lnTo>
                    <a:pt x="0" y="0"/>
                  </a:lnTo>
                  <a:close/>
                </a:path>
              </a:pathLst>
            </a:custGeom>
            <a:blipFill>
              <a:blip r:embed="rId6"/>
              <a:stretch>
                <a:fillRect/>
              </a:stretch>
            </a:blipFill>
          </p:spPr>
          <p:txBody>
            <a:bodyPr/>
            <a:lstStyle/>
            <a:p>
              <a:endParaRPr lang="en-AU"/>
            </a:p>
          </p:txBody>
        </p:sp>
        <p:sp>
          <p:nvSpPr>
            <p:cNvPr id="16" name="Freeform 11">
              <a:extLst>
                <a:ext uri="{FF2B5EF4-FFF2-40B4-BE49-F238E27FC236}">
                  <a16:creationId xmlns:a16="http://schemas.microsoft.com/office/drawing/2014/main" id="{2B47C5C3-35F1-6851-42B0-D1F604B8D175}"/>
                </a:ext>
              </a:extLst>
            </p:cNvPr>
            <p:cNvSpPr/>
            <p:nvPr/>
          </p:nvSpPr>
          <p:spPr>
            <a:xfrm>
              <a:off x="4171082" y="4046030"/>
              <a:ext cx="1352513" cy="1281011"/>
            </a:xfrm>
            <a:custGeom>
              <a:avLst/>
              <a:gdLst/>
              <a:ahLst/>
              <a:cxnLst/>
              <a:rect l="l" t="t" r="r" b="b"/>
              <a:pathLst>
                <a:path w="1584656" h="1584656">
                  <a:moveTo>
                    <a:pt x="0" y="0"/>
                  </a:moveTo>
                  <a:lnTo>
                    <a:pt x="1584657" y="0"/>
                  </a:lnTo>
                  <a:lnTo>
                    <a:pt x="1584657" y="1584656"/>
                  </a:lnTo>
                  <a:lnTo>
                    <a:pt x="0" y="158465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AU"/>
            </a:p>
          </p:txBody>
        </p:sp>
        <p:sp>
          <p:nvSpPr>
            <p:cNvPr id="17" name="Freeform 12">
              <a:extLst>
                <a:ext uri="{FF2B5EF4-FFF2-40B4-BE49-F238E27FC236}">
                  <a16:creationId xmlns:a16="http://schemas.microsoft.com/office/drawing/2014/main" id="{DEBF5D0B-82E3-7725-279E-58EDEA0FC393}"/>
                </a:ext>
              </a:extLst>
            </p:cNvPr>
            <p:cNvSpPr/>
            <p:nvPr/>
          </p:nvSpPr>
          <p:spPr>
            <a:xfrm>
              <a:off x="8391315" y="4511240"/>
              <a:ext cx="1619099" cy="586565"/>
            </a:xfrm>
            <a:custGeom>
              <a:avLst/>
              <a:gdLst/>
              <a:ahLst/>
              <a:cxnLst/>
              <a:rect l="l" t="t" r="r" b="b"/>
              <a:pathLst>
                <a:path w="1896998" h="725602">
                  <a:moveTo>
                    <a:pt x="0" y="0"/>
                  </a:moveTo>
                  <a:lnTo>
                    <a:pt x="1896998" y="0"/>
                  </a:lnTo>
                  <a:lnTo>
                    <a:pt x="1896998" y="725601"/>
                  </a:lnTo>
                  <a:lnTo>
                    <a:pt x="0" y="725601"/>
                  </a:lnTo>
                  <a:lnTo>
                    <a:pt x="0" y="0"/>
                  </a:lnTo>
                  <a:close/>
                </a:path>
              </a:pathLst>
            </a:custGeom>
            <a:blipFill>
              <a:blip r:embed="rId9"/>
              <a:stretch>
                <a:fillRect/>
              </a:stretch>
            </a:blipFill>
          </p:spPr>
          <p:txBody>
            <a:bodyPr/>
            <a:lstStyle/>
            <a:p>
              <a:endParaRPr lang="en-AU"/>
            </a:p>
          </p:txBody>
        </p:sp>
        <p:sp>
          <p:nvSpPr>
            <p:cNvPr id="18" name="Freeform 13">
              <a:extLst>
                <a:ext uri="{FF2B5EF4-FFF2-40B4-BE49-F238E27FC236}">
                  <a16:creationId xmlns:a16="http://schemas.microsoft.com/office/drawing/2014/main" id="{3DCBD239-1DFB-3D9D-1DC7-DB8CA2B8DD09}"/>
                </a:ext>
              </a:extLst>
            </p:cNvPr>
            <p:cNvSpPr/>
            <p:nvPr/>
          </p:nvSpPr>
          <p:spPr>
            <a:xfrm>
              <a:off x="1868573" y="4393521"/>
              <a:ext cx="1619099" cy="933520"/>
            </a:xfrm>
            <a:custGeom>
              <a:avLst/>
              <a:gdLst/>
              <a:ahLst/>
              <a:cxnLst/>
              <a:rect l="l" t="t" r="r" b="b"/>
              <a:pathLst>
                <a:path w="1896998" h="1154797">
                  <a:moveTo>
                    <a:pt x="0" y="0"/>
                  </a:moveTo>
                  <a:lnTo>
                    <a:pt x="1896998" y="0"/>
                  </a:lnTo>
                  <a:lnTo>
                    <a:pt x="1896998" y="1154797"/>
                  </a:lnTo>
                  <a:lnTo>
                    <a:pt x="0" y="115479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19" name="Freeform 14">
              <a:extLst>
                <a:ext uri="{FF2B5EF4-FFF2-40B4-BE49-F238E27FC236}">
                  <a16:creationId xmlns:a16="http://schemas.microsoft.com/office/drawing/2014/main" id="{31FAE61C-866B-1623-CD97-2809CDB40D8C}"/>
                </a:ext>
              </a:extLst>
            </p:cNvPr>
            <p:cNvSpPr/>
            <p:nvPr/>
          </p:nvSpPr>
          <p:spPr>
            <a:xfrm>
              <a:off x="4266865" y="1226006"/>
              <a:ext cx="974394" cy="1459101"/>
            </a:xfrm>
            <a:custGeom>
              <a:avLst/>
              <a:gdLst/>
              <a:ahLst/>
              <a:cxnLst/>
              <a:rect l="l" t="t" r="r" b="b"/>
              <a:pathLst>
                <a:path w="1141637" h="1804960">
                  <a:moveTo>
                    <a:pt x="0" y="0"/>
                  </a:moveTo>
                  <a:lnTo>
                    <a:pt x="1141638" y="0"/>
                  </a:lnTo>
                  <a:lnTo>
                    <a:pt x="1141638" y="1804960"/>
                  </a:lnTo>
                  <a:lnTo>
                    <a:pt x="0" y="180496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AU"/>
            </a:p>
          </p:txBody>
        </p:sp>
        <p:sp>
          <p:nvSpPr>
            <p:cNvPr id="20" name="Freeform 15">
              <a:extLst>
                <a:ext uri="{FF2B5EF4-FFF2-40B4-BE49-F238E27FC236}">
                  <a16:creationId xmlns:a16="http://schemas.microsoft.com/office/drawing/2014/main" id="{5B55BF61-2FA6-8FE1-7622-D5276E12A6CD}"/>
                </a:ext>
              </a:extLst>
            </p:cNvPr>
            <p:cNvSpPr/>
            <p:nvPr/>
          </p:nvSpPr>
          <p:spPr>
            <a:xfrm>
              <a:off x="8427019" y="1320850"/>
              <a:ext cx="1656480" cy="1482619"/>
            </a:xfrm>
            <a:custGeom>
              <a:avLst/>
              <a:gdLst/>
              <a:ahLst/>
              <a:cxnLst/>
              <a:rect l="l" t="t" r="r" b="b"/>
              <a:pathLst>
                <a:path w="1940796" h="1834052">
                  <a:moveTo>
                    <a:pt x="0" y="0"/>
                  </a:moveTo>
                  <a:lnTo>
                    <a:pt x="1940795" y="0"/>
                  </a:lnTo>
                  <a:lnTo>
                    <a:pt x="1940795" y="1834052"/>
                  </a:lnTo>
                  <a:lnTo>
                    <a:pt x="0" y="1834052"/>
                  </a:lnTo>
                  <a:lnTo>
                    <a:pt x="0" y="0"/>
                  </a:lnTo>
                  <a:close/>
                </a:path>
              </a:pathLst>
            </a:custGeom>
            <a:blipFill>
              <a:blip r:embed="rId14"/>
              <a:stretch>
                <a:fillRect/>
              </a:stretch>
            </a:blipFill>
          </p:spPr>
          <p:txBody>
            <a:bodyPr/>
            <a:lstStyle/>
            <a:p>
              <a:endParaRPr lang="en-AU"/>
            </a:p>
          </p:txBody>
        </p:sp>
        <p:sp>
          <p:nvSpPr>
            <p:cNvPr id="21" name="Freeform 16">
              <a:extLst>
                <a:ext uri="{FF2B5EF4-FFF2-40B4-BE49-F238E27FC236}">
                  <a16:creationId xmlns:a16="http://schemas.microsoft.com/office/drawing/2014/main" id="{40713830-B186-1192-5AE2-61545AF0BBD9}"/>
                </a:ext>
              </a:extLst>
            </p:cNvPr>
            <p:cNvSpPr/>
            <p:nvPr/>
          </p:nvSpPr>
          <p:spPr>
            <a:xfrm>
              <a:off x="6201956" y="1320850"/>
              <a:ext cx="1628477" cy="1482619"/>
            </a:xfrm>
            <a:custGeom>
              <a:avLst/>
              <a:gdLst/>
              <a:ahLst/>
              <a:cxnLst/>
              <a:rect l="l" t="t" r="r" b="b"/>
              <a:pathLst>
                <a:path w="1907986" h="1834052">
                  <a:moveTo>
                    <a:pt x="0" y="0"/>
                  </a:moveTo>
                  <a:lnTo>
                    <a:pt x="1907986" y="0"/>
                  </a:lnTo>
                  <a:lnTo>
                    <a:pt x="1907986" y="1834052"/>
                  </a:lnTo>
                  <a:lnTo>
                    <a:pt x="0" y="1834052"/>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AU"/>
            </a:p>
          </p:txBody>
        </p:sp>
        <p:sp>
          <p:nvSpPr>
            <p:cNvPr id="22" name="Freeform 17">
              <a:extLst>
                <a:ext uri="{FF2B5EF4-FFF2-40B4-BE49-F238E27FC236}">
                  <a16:creationId xmlns:a16="http://schemas.microsoft.com/office/drawing/2014/main" id="{54FF77B8-915A-69B8-82C6-2D7C79EFBCDB}"/>
                </a:ext>
              </a:extLst>
            </p:cNvPr>
            <p:cNvSpPr/>
            <p:nvPr/>
          </p:nvSpPr>
          <p:spPr>
            <a:xfrm>
              <a:off x="6419520" y="4094835"/>
              <a:ext cx="1194072" cy="1530891"/>
            </a:xfrm>
            <a:custGeom>
              <a:avLst/>
              <a:gdLst/>
              <a:ahLst/>
              <a:cxnLst/>
              <a:rect l="l" t="t" r="r" b="b"/>
              <a:pathLst>
                <a:path w="1399020" h="1893767">
                  <a:moveTo>
                    <a:pt x="0" y="0"/>
                  </a:moveTo>
                  <a:lnTo>
                    <a:pt x="1399020" y="0"/>
                  </a:lnTo>
                  <a:lnTo>
                    <a:pt x="1399020" y="1893767"/>
                  </a:lnTo>
                  <a:lnTo>
                    <a:pt x="0" y="1893767"/>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AU"/>
            </a:p>
          </p:txBody>
        </p:sp>
        <p:sp>
          <p:nvSpPr>
            <p:cNvPr id="23" name="TextBox 18">
              <a:extLst>
                <a:ext uri="{FF2B5EF4-FFF2-40B4-BE49-F238E27FC236}">
                  <a16:creationId xmlns:a16="http://schemas.microsoft.com/office/drawing/2014/main" id="{9C1E3493-9F63-18D5-3225-5FE6F1B3A0A9}"/>
                </a:ext>
              </a:extLst>
            </p:cNvPr>
            <p:cNvSpPr txBox="1"/>
            <p:nvPr/>
          </p:nvSpPr>
          <p:spPr>
            <a:xfrm>
              <a:off x="1494749" y="2904327"/>
              <a:ext cx="2113966" cy="616680"/>
            </a:xfrm>
            <a:prstGeom prst="rect">
              <a:avLst/>
            </a:prstGeom>
          </p:spPr>
          <p:txBody>
            <a:bodyPr lIns="0" tIns="0" rIns="0" bIns="0" rtlCol="0" anchor="t">
              <a:spAutoFit/>
            </a:bodyPr>
            <a:lstStyle/>
            <a:p>
              <a:pPr marL="0" lvl="0" indent="0" algn="ctr">
                <a:lnSpc>
                  <a:spcPts val="6169"/>
                </a:lnSpc>
                <a:spcBef>
                  <a:spcPct val="0"/>
                </a:spcBef>
              </a:pPr>
              <a:r>
                <a:rPr lang="en-US" sz="4406">
                  <a:solidFill>
                    <a:srgbClr val="000000"/>
                  </a:solidFill>
                  <a:latin typeface="Canva Student Font"/>
                  <a:ea typeface="Canva Student Font"/>
                  <a:cs typeface="Canva Student Font"/>
                  <a:sym typeface="Canva Student Font"/>
                </a:rPr>
                <a:t>72</a:t>
              </a:r>
            </a:p>
          </p:txBody>
        </p:sp>
        <p:sp>
          <p:nvSpPr>
            <p:cNvPr id="24" name="TextBox 19">
              <a:extLst>
                <a:ext uri="{FF2B5EF4-FFF2-40B4-BE49-F238E27FC236}">
                  <a16:creationId xmlns:a16="http://schemas.microsoft.com/office/drawing/2014/main" id="{2BC10AF0-F278-07BD-2D0D-AC39694A604B}"/>
                </a:ext>
              </a:extLst>
            </p:cNvPr>
            <p:cNvSpPr txBox="1"/>
            <p:nvPr/>
          </p:nvSpPr>
          <p:spPr>
            <a:xfrm>
              <a:off x="3790356" y="2953915"/>
              <a:ext cx="2113966" cy="616680"/>
            </a:xfrm>
            <a:prstGeom prst="rect">
              <a:avLst/>
            </a:prstGeom>
          </p:spPr>
          <p:txBody>
            <a:bodyPr lIns="0" tIns="0" rIns="0" bIns="0" rtlCol="0" anchor="t">
              <a:spAutoFit/>
            </a:bodyPr>
            <a:lstStyle/>
            <a:p>
              <a:pPr marL="0" lvl="0" indent="0" algn="ctr">
                <a:lnSpc>
                  <a:spcPts val="6169"/>
                </a:lnSpc>
                <a:spcBef>
                  <a:spcPct val="0"/>
                </a:spcBef>
              </a:pPr>
              <a:r>
                <a:rPr lang="en-US" sz="4406">
                  <a:solidFill>
                    <a:srgbClr val="000000"/>
                  </a:solidFill>
                  <a:latin typeface="Canva Student Font"/>
                  <a:ea typeface="Canva Student Font"/>
                  <a:cs typeface="Canva Student Font"/>
                  <a:sym typeface="Canva Student Font"/>
                </a:rPr>
                <a:t>35</a:t>
              </a:r>
            </a:p>
          </p:txBody>
        </p:sp>
        <p:sp>
          <p:nvSpPr>
            <p:cNvPr id="25" name="TextBox 20">
              <a:extLst>
                <a:ext uri="{FF2B5EF4-FFF2-40B4-BE49-F238E27FC236}">
                  <a16:creationId xmlns:a16="http://schemas.microsoft.com/office/drawing/2014/main" id="{3B72FC30-8988-0DB3-0FCF-3EDBBB41DD31}"/>
                </a:ext>
              </a:extLst>
            </p:cNvPr>
            <p:cNvSpPr txBox="1"/>
            <p:nvPr/>
          </p:nvSpPr>
          <p:spPr>
            <a:xfrm>
              <a:off x="5973808" y="2953915"/>
              <a:ext cx="2113966" cy="616680"/>
            </a:xfrm>
            <a:prstGeom prst="rect">
              <a:avLst/>
            </a:prstGeom>
          </p:spPr>
          <p:txBody>
            <a:bodyPr lIns="0" tIns="0" rIns="0" bIns="0" rtlCol="0" anchor="t">
              <a:spAutoFit/>
            </a:bodyPr>
            <a:lstStyle/>
            <a:p>
              <a:pPr marL="0" lvl="0" indent="0" algn="ctr">
                <a:lnSpc>
                  <a:spcPts val="6169"/>
                </a:lnSpc>
                <a:spcBef>
                  <a:spcPct val="0"/>
                </a:spcBef>
              </a:pPr>
              <a:r>
                <a:rPr lang="en-US" sz="4406">
                  <a:solidFill>
                    <a:srgbClr val="000000"/>
                  </a:solidFill>
                  <a:latin typeface="Canva Student Font"/>
                  <a:ea typeface="Canva Student Font"/>
                  <a:cs typeface="Canva Student Font"/>
                  <a:sym typeface="Canva Student Font"/>
                </a:rPr>
                <a:t>30</a:t>
              </a:r>
            </a:p>
          </p:txBody>
        </p:sp>
        <p:sp>
          <p:nvSpPr>
            <p:cNvPr id="26" name="TextBox 21">
              <a:extLst>
                <a:ext uri="{FF2B5EF4-FFF2-40B4-BE49-F238E27FC236}">
                  <a16:creationId xmlns:a16="http://schemas.microsoft.com/office/drawing/2014/main" id="{D89FAF8E-CFBF-F41E-5179-2DCB6E0526E8}"/>
                </a:ext>
              </a:extLst>
            </p:cNvPr>
            <p:cNvSpPr txBox="1"/>
            <p:nvPr/>
          </p:nvSpPr>
          <p:spPr>
            <a:xfrm>
              <a:off x="8198275" y="2955376"/>
              <a:ext cx="2113966" cy="616680"/>
            </a:xfrm>
            <a:prstGeom prst="rect">
              <a:avLst/>
            </a:prstGeom>
          </p:spPr>
          <p:txBody>
            <a:bodyPr lIns="0" tIns="0" rIns="0" bIns="0" rtlCol="0" anchor="t">
              <a:spAutoFit/>
            </a:bodyPr>
            <a:lstStyle/>
            <a:p>
              <a:pPr marL="0" lvl="0" indent="0" algn="ctr">
                <a:lnSpc>
                  <a:spcPts val="6169"/>
                </a:lnSpc>
                <a:spcBef>
                  <a:spcPct val="0"/>
                </a:spcBef>
              </a:pPr>
              <a:r>
                <a:rPr lang="en-US" sz="4406">
                  <a:solidFill>
                    <a:srgbClr val="000000"/>
                  </a:solidFill>
                  <a:latin typeface="Canva Student Font"/>
                  <a:ea typeface="Canva Student Font"/>
                  <a:cs typeface="Canva Student Font"/>
                  <a:sym typeface="Canva Student Font"/>
                </a:rPr>
                <a:t>60</a:t>
              </a:r>
            </a:p>
          </p:txBody>
        </p:sp>
        <p:sp>
          <p:nvSpPr>
            <p:cNvPr id="27" name="TextBox 22">
              <a:extLst>
                <a:ext uri="{FF2B5EF4-FFF2-40B4-BE49-F238E27FC236}">
                  <a16:creationId xmlns:a16="http://schemas.microsoft.com/office/drawing/2014/main" id="{8B25F86B-CD02-155D-8097-9040AA59C5AC}"/>
                </a:ext>
              </a:extLst>
            </p:cNvPr>
            <p:cNvSpPr txBox="1"/>
            <p:nvPr/>
          </p:nvSpPr>
          <p:spPr>
            <a:xfrm>
              <a:off x="1609394" y="5775065"/>
              <a:ext cx="2113966" cy="616680"/>
            </a:xfrm>
            <a:prstGeom prst="rect">
              <a:avLst/>
            </a:prstGeom>
          </p:spPr>
          <p:txBody>
            <a:bodyPr lIns="0" tIns="0" rIns="0" bIns="0" rtlCol="0" anchor="t">
              <a:spAutoFit/>
            </a:bodyPr>
            <a:lstStyle/>
            <a:p>
              <a:pPr marL="0" lvl="0" indent="0" algn="ctr">
                <a:lnSpc>
                  <a:spcPts val="6169"/>
                </a:lnSpc>
                <a:spcBef>
                  <a:spcPct val="0"/>
                </a:spcBef>
              </a:pPr>
              <a:r>
                <a:rPr lang="en-US" sz="4406">
                  <a:solidFill>
                    <a:srgbClr val="000000"/>
                  </a:solidFill>
                  <a:latin typeface="Canva Student Font"/>
                  <a:ea typeface="Canva Student Font"/>
                  <a:cs typeface="Canva Student Font"/>
                  <a:sym typeface="Canva Student Font"/>
                </a:rPr>
                <a:t>42</a:t>
              </a:r>
            </a:p>
          </p:txBody>
        </p:sp>
        <p:sp>
          <p:nvSpPr>
            <p:cNvPr id="28" name="TextBox 23">
              <a:extLst>
                <a:ext uri="{FF2B5EF4-FFF2-40B4-BE49-F238E27FC236}">
                  <a16:creationId xmlns:a16="http://schemas.microsoft.com/office/drawing/2014/main" id="{98A0DE5F-56A2-E03D-F187-AD3CAF4076FB}"/>
                </a:ext>
              </a:extLst>
            </p:cNvPr>
            <p:cNvSpPr txBox="1"/>
            <p:nvPr/>
          </p:nvSpPr>
          <p:spPr>
            <a:xfrm>
              <a:off x="3774541" y="5775065"/>
              <a:ext cx="2113966" cy="616680"/>
            </a:xfrm>
            <a:prstGeom prst="rect">
              <a:avLst/>
            </a:prstGeom>
          </p:spPr>
          <p:txBody>
            <a:bodyPr lIns="0" tIns="0" rIns="0" bIns="0" rtlCol="0" anchor="t">
              <a:spAutoFit/>
            </a:bodyPr>
            <a:lstStyle/>
            <a:p>
              <a:pPr marL="0" lvl="0" indent="0" algn="ctr">
                <a:lnSpc>
                  <a:spcPts val="6169"/>
                </a:lnSpc>
                <a:spcBef>
                  <a:spcPct val="0"/>
                </a:spcBef>
              </a:pPr>
              <a:r>
                <a:rPr lang="en-US" sz="4406">
                  <a:solidFill>
                    <a:srgbClr val="000000"/>
                  </a:solidFill>
                  <a:latin typeface="Canva Student Font"/>
                  <a:ea typeface="Canva Student Font"/>
                  <a:cs typeface="Canva Student Font"/>
                  <a:sym typeface="Canva Student Font"/>
                </a:rPr>
                <a:t>80</a:t>
              </a:r>
            </a:p>
          </p:txBody>
        </p:sp>
        <p:sp>
          <p:nvSpPr>
            <p:cNvPr id="29" name="TextBox 24">
              <a:extLst>
                <a:ext uri="{FF2B5EF4-FFF2-40B4-BE49-F238E27FC236}">
                  <a16:creationId xmlns:a16="http://schemas.microsoft.com/office/drawing/2014/main" id="{F6BB2863-935C-F89A-2550-07A60A428033}"/>
                </a:ext>
              </a:extLst>
            </p:cNvPr>
            <p:cNvSpPr txBox="1"/>
            <p:nvPr/>
          </p:nvSpPr>
          <p:spPr>
            <a:xfrm>
              <a:off x="6033518" y="5775065"/>
              <a:ext cx="2113966" cy="616680"/>
            </a:xfrm>
            <a:prstGeom prst="rect">
              <a:avLst/>
            </a:prstGeom>
          </p:spPr>
          <p:txBody>
            <a:bodyPr lIns="0" tIns="0" rIns="0" bIns="0" rtlCol="0" anchor="t">
              <a:spAutoFit/>
            </a:bodyPr>
            <a:lstStyle/>
            <a:p>
              <a:pPr marL="0" lvl="0" indent="0" algn="ctr">
                <a:lnSpc>
                  <a:spcPts val="6169"/>
                </a:lnSpc>
                <a:spcBef>
                  <a:spcPct val="0"/>
                </a:spcBef>
              </a:pPr>
              <a:r>
                <a:rPr lang="en-US" sz="4406">
                  <a:solidFill>
                    <a:srgbClr val="000000"/>
                  </a:solidFill>
                  <a:latin typeface="Canva Student Font"/>
                  <a:ea typeface="Canva Student Font"/>
                  <a:cs typeface="Canva Student Font"/>
                  <a:sym typeface="Canva Student Font"/>
                </a:rPr>
                <a:t>120</a:t>
              </a:r>
            </a:p>
          </p:txBody>
        </p:sp>
        <p:sp>
          <p:nvSpPr>
            <p:cNvPr id="30" name="TextBox 25">
              <a:extLst>
                <a:ext uri="{FF2B5EF4-FFF2-40B4-BE49-F238E27FC236}">
                  <a16:creationId xmlns:a16="http://schemas.microsoft.com/office/drawing/2014/main" id="{C4AF9106-E19E-D72B-A4E4-3D45AD2B33AF}"/>
                </a:ext>
              </a:extLst>
            </p:cNvPr>
            <p:cNvSpPr txBox="1"/>
            <p:nvPr/>
          </p:nvSpPr>
          <p:spPr>
            <a:xfrm>
              <a:off x="8147484" y="5705189"/>
              <a:ext cx="2113966" cy="616680"/>
            </a:xfrm>
            <a:prstGeom prst="rect">
              <a:avLst/>
            </a:prstGeom>
          </p:spPr>
          <p:txBody>
            <a:bodyPr lIns="0" tIns="0" rIns="0" bIns="0" rtlCol="0" anchor="t">
              <a:spAutoFit/>
            </a:bodyPr>
            <a:lstStyle/>
            <a:p>
              <a:pPr marL="0" lvl="0" indent="0" algn="ctr">
                <a:lnSpc>
                  <a:spcPts val="6169"/>
                </a:lnSpc>
                <a:spcBef>
                  <a:spcPct val="0"/>
                </a:spcBef>
              </a:pPr>
              <a:r>
                <a:rPr lang="en-US" sz="4406">
                  <a:solidFill>
                    <a:srgbClr val="000000"/>
                  </a:solidFill>
                  <a:latin typeface="Canva Student Font"/>
                  <a:ea typeface="Canva Student Font"/>
                  <a:cs typeface="Canva Student Font"/>
                  <a:sym typeface="Canva Student Font"/>
                </a:rPr>
                <a:t>64</a:t>
              </a:r>
            </a:p>
          </p:txBody>
        </p:sp>
      </p:gr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112D24DC-0614-F76C-9A4C-36E299EAFF53}"/>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15" name="Text Placeholder 14">
                <a:extLst>
                  <a:ext uri="{FF2B5EF4-FFF2-40B4-BE49-F238E27FC236}">
                    <a16:creationId xmlns:a16="http://schemas.microsoft.com/office/drawing/2014/main" id="{9C7C84D9-7468-F57D-99F1-C58A56040A58}"/>
                  </a:ext>
                </a:extLst>
              </p:cNvPr>
              <p:cNvSpPr>
                <a:spLocks noGrp="1"/>
              </p:cNvSpPr>
              <p:nvPr>
                <p:ph type="body" sz="quarter" idx="28"/>
              </p:nvPr>
            </p:nvSpPr>
            <p:spPr>
              <a:xfrm>
                <a:off x="360000" y="895992"/>
                <a:ext cx="11243037" cy="1717169"/>
              </a:xfrm>
            </p:spPr>
            <p:txBody>
              <a:bodyPr/>
              <a:lstStyle/>
              <a:p>
                <a:pPr algn="ctr"/>
                <a14:m>
                  <m:oMath xmlns:m="http://schemas.openxmlformats.org/officeDocument/2006/math">
                    <m:f>
                      <m:fPr>
                        <m:ctrlPr>
                          <a:rPr lang="en-AU" sz="6000" b="1" i="1" smtClean="0">
                            <a:latin typeface="Cambria Math" panose="02040503050406030204" pitchFamily="18" charset="0"/>
                          </a:rPr>
                        </m:ctrlPr>
                      </m:fPr>
                      <m:num>
                        <m:r>
                          <a:rPr lang="en-AU" sz="6000" b="1" i="1">
                            <a:latin typeface="Cambria Math" panose="02040503050406030204" pitchFamily="18" charset="0"/>
                          </a:rPr>
                          <m:t>𝟏</m:t>
                        </m:r>
                      </m:num>
                      <m:den>
                        <m:r>
                          <a:rPr lang="en-AU" sz="6000" b="1" i="1" smtClean="0">
                            <a:latin typeface="Cambria Math" panose="02040503050406030204" pitchFamily="18" charset="0"/>
                          </a:rPr>
                          <m:t>𝟒</m:t>
                        </m:r>
                      </m:den>
                    </m:f>
                  </m:oMath>
                </a14:m>
                <a:r>
                  <a:rPr lang="en-US" sz="6000" b="1"/>
                  <a:t> </a:t>
                </a:r>
                <a:r>
                  <a:rPr lang="en-US" sz="4400"/>
                  <a:t>of a </a:t>
                </a:r>
                <a:r>
                  <a:rPr lang="en-US" sz="4400" b="1"/>
                  <a:t>dozen</a:t>
                </a:r>
                <a:r>
                  <a:rPr lang="en-US" sz="4400"/>
                  <a:t> eggs is:</a:t>
                </a:r>
              </a:p>
            </p:txBody>
          </p:sp>
        </mc:Choice>
        <mc:Fallback xmlns="">
          <p:sp>
            <p:nvSpPr>
              <p:cNvPr id="15" name="Text Placeholder 14">
                <a:extLst>
                  <a:ext uri="{FF2B5EF4-FFF2-40B4-BE49-F238E27FC236}">
                    <a16:creationId xmlns:a16="http://schemas.microsoft.com/office/drawing/2014/main" id="{9C7C84D9-7468-F57D-99F1-C58A56040A58}"/>
                  </a:ext>
                </a:extLst>
              </p:cNvPr>
              <p:cNvSpPr>
                <a:spLocks noGrp="1" noRot="1" noChangeAspect="1" noMove="1" noResize="1" noEditPoints="1" noAdjustHandles="1" noChangeArrowheads="1" noChangeShapeType="1" noTextEdit="1"/>
              </p:cNvSpPr>
              <p:nvPr>
                <p:ph type="body" sz="quarter" idx="28"/>
              </p:nvPr>
            </p:nvSpPr>
            <p:spPr>
              <a:xfrm>
                <a:off x="360000" y="895992"/>
                <a:ext cx="11243037" cy="1717169"/>
              </a:xfrm>
              <a:blipFill>
                <a:blip r:embed="rId4"/>
                <a:stretch>
                  <a:fillRect b="-9574"/>
                </a:stretch>
              </a:blipFill>
            </p:spPr>
            <p:txBody>
              <a:bodyPr/>
              <a:lstStyle/>
              <a:p>
                <a:r>
                  <a:rPr lang="en-AU">
                    <a:noFill/>
                  </a:rPr>
                  <a:t> </a:t>
                </a:r>
              </a:p>
            </p:txBody>
          </p:sp>
        </mc:Fallback>
      </mc:AlternateContent>
      <p:sp>
        <p:nvSpPr>
          <p:cNvPr id="9" name="TextBox 8">
            <a:extLst>
              <a:ext uri="{FF2B5EF4-FFF2-40B4-BE49-F238E27FC236}">
                <a16:creationId xmlns:a16="http://schemas.microsoft.com/office/drawing/2014/main" id="{F91A42F4-D8C9-20A3-82EB-86FAD4D776A8}"/>
              </a:ext>
            </a:extLst>
          </p:cNvPr>
          <p:cNvSpPr txBox="1"/>
          <p:nvPr/>
        </p:nvSpPr>
        <p:spPr>
          <a:xfrm>
            <a:off x="1289992" y="288672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Text Placeholder 17">
            <a:extLst>
              <a:ext uri="{FF2B5EF4-FFF2-40B4-BE49-F238E27FC236}">
                <a16:creationId xmlns:a16="http://schemas.microsoft.com/office/drawing/2014/main" id="{D2386B91-F85A-17DD-80EB-F20033E4EC06}"/>
              </a:ext>
            </a:extLst>
          </p:cNvPr>
          <p:cNvSpPr>
            <a:spLocks noGrp="1"/>
          </p:cNvSpPr>
          <p:nvPr>
            <p:ph type="body" sz="quarter" idx="31"/>
          </p:nvPr>
        </p:nvSpPr>
        <p:spPr>
          <a:xfrm>
            <a:off x="1927512" y="2839638"/>
            <a:ext cx="1420372" cy="641396"/>
          </a:xfrm>
        </p:spPr>
        <p:txBody>
          <a:bodyPr anchor="ctr"/>
          <a:lstStyle/>
          <a:p>
            <a:r>
              <a:rPr lang="en-US" sz="4400"/>
              <a:t>  3</a:t>
            </a:r>
          </a:p>
        </p:txBody>
      </p:sp>
      <p:sp>
        <p:nvSpPr>
          <p:cNvPr id="10" name="TextBox 9">
            <a:extLst>
              <a:ext uri="{FF2B5EF4-FFF2-40B4-BE49-F238E27FC236}">
                <a16:creationId xmlns:a16="http://schemas.microsoft.com/office/drawing/2014/main" id="{CA9D5B15-A13C-EE8B-176F-3B4E3454A1A2}"/>
              </a:ext>
            </a:extLst>
          </p:cNvPr>
          <p:cNvSpPr txBox="1"/>
          <p:nvPr/>
        </p:nvSpPr>
        <p:spPr>
          <a:xfrm>
            <a:off x="1289989" y="384129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2D36800D-CC3E-E3B5-7DCD-70D138BF62F0}"/>
              </a:ext>
            </a:extLst>
          </p:cNvPr>
          <p:cNvSpPr>
            <a:spLocks noGrp="1"/>
          </p:cNvSpPr>
          <p:nvPr>
            <p:ph type="body" sz="quarter" idx="30"/>
          </p:nvPr>
        </p:nvSpPr>
        <p:spPr>
          <a:xfrm>
            <a:off x="1964952" y="3783268"/>
            <a:ext cx="1382932" cy="641396"/>
          </a:xfrm>
        </p:spPr>
        <p:txBody>
          <a:bodyPr anchor="ctr"/>
          <a:lstStyle/>
          <a:p>
            <a:r>
              <a:rPr lang="en-US" sz="3600"/>
              <a:t> </a:t>
            </a:r>
            <a:r>
              <a:rPr lang="en-US" sz="4400"/>
              <a:t> 4</a:t>
            </a:r>
          </a:p>
        </p:txBody>
      </p:sp>
      <p:sp>
        <p:nvSpPr>
          <p:cNvPr id="12" name="TextBox 11">
            <a:extLst>
              <a:ext uri="{FF2B5EF4-FFF2-40B4-BE49-F238E27FC236}">
                <a16:creationId xmlns:a16="http://schemas.microsoft.com/office/drawing/2014/main" id="{B4746450-E4E2-359C-DFCA-0532E811BD1E}"/>
              </a:ext>
            </a:extLst>
          </p:cNvPr>
          <p:cNvSpPr txBox="1"/>
          <p:nvPr/>
        </p:nvSpPr>
        <p:spPr>
          <a:xfrm>
            <a:off x="1289988" y="469607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5">
            <a:extLst>
              <a:ext uri="{FF2B5EF4-FFF2-40B4-BE49-F238E27FC236}">
                <a16:creationId xmlns:a16="http://schemas.microsoft.com/office/drawing/2014/main" id="{8E51689C-1248-B7EC-3B77-B066AB5C6C0D}"/>
              </a:ext>
            </a:extLst>
          </p:cNvPr>
          <p:cNvSpPr>
            <a:spLocks noGrp="1"/>
          </p:cNvSpPr>
          <p:nvPr>
            <p:ph type="body" sz="quarter" idx="29"/>
          </p:nvPr>
        </p:nvSpPr>
        <p:spPr>
          <a:xfrm>
            <a:off x="1964952" y="4633321"/>
            <a:ext cx="1382932" cy="641396"/>
          </a:xfrm>
        </p:spPr>
        <p:txBody>
          <a:bodyPr anchor="ctr"/>
          <a:lstStyle/>
          <a:p>
            <a:r>
              <a:rPr lang="en-US" sz="3600"/>
              <a:t>  </a:t>
            </a:r>
            <a:r>
              <a:rPr lang="en-US" sz="4400"/>
              <a:t>6</a:t>
            </a:r>
          </a:p>
        </p:txBody>
      </p:sp>
      <p:sp>
        <p:nvSpPr>
          <p:cNvPr id="11" name="TextBox 10">
            <a:extLst>
              <a:ext uri="{FF2B5EF4-FFF2-40B4-BE49-F238E27FC236}">
                <a16:creationId xmlns:a16="http://schemas.microsoft.com/office/drawing/2014/main" id="{9B8955CE-78C1-2F30-7505-4CA44A86BDFF}"/>
              </a:ext>
            </a:extLst>
          </p:cNvPr>
          <p:cNvSpPr txBox="1"/>
          <p:nvPr/>
        </p:nvSpPr>
        <p:spPr>
          <a:xfrm>
            <a:off x="1289988" y="555085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3">
            <a:extLst>
              <a:ext uri="{FF2B5EF4-FFF2-40B4-BE49-F238E27FC236}">
                <a16:creationId xmlns:a16="http://schemas.microsoft.com/office/drawing/2014/main" id="{D3F4C1E5-AFB7-4898-29F3-EB98C6384093}"/>
              </a:ext>
            </a:extLst>
          </p:cNvPr>
          <p:cNvSpPr>
            <a:spLocks noGrp="1"/>
          </p:cNvSpPr>
          <p:nvPr>
            <p:ph type="body" sz="quarter" idx="27"/>
          </p:nvPr>
        </p:nvSpPr>
        <p:spPr>
          <a:xfrm>
            <a:off x="1964952" y="5483374"/>
            <a:ext cx="1382932" cy="641396"/>
          </a:xfrm>
        </p:spPr>
        <p:txBody>
          <a:bodyPr anchor="ctr"/>
          <a:lstStyle/>
          <a:p>
            <a:r>
              <a:rPr lang="en-US" sz="3600"/>
              <a:t>  </a:t>
            </a:r>
            <a:r>
              <a:rPr lang="en-US" sz="4400"/>
              <a:t>8</a:t>
            </a:r>
          </a:p>
        </p:txBody>
      </p:sp>
      <p:sp>
        <p:nvSpPr>
          <p:cNvPr id="2" name="Slide Number Placeholder 1">
            <a:extLst>
              <a:ext uri="{FF2B5EF4-FFF2-40B4-BE49-F238E27FC236}">
                <a16:creationId xmlns:a16="http://schemas.microsoft.com/office/drawing/2014/main" id="{9A31263B-00F9-3026-CDD4-F14B3320EE4E}"/>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8336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14">
            <a:extLst>
              <a:ext uri="{FF2B5EF4-FFF2-40B4-BE49-F238E27FC236}">
                <a16:creationId xmlns:a16="http://schemas.microsoft.com/office/drawing/2014/main" id="{B091CA8F-E31B-0269-8729-00452048D62F}"/>
              </a:ext>
            </a:extLst>
          </p:cNvPr>
          <p:cNvSpPr txBox="1">
            <a:spLocks/>
          </p:cNvSpPr>
          <p:nvPr/>
        </p:nvSpPr>
        <p:spPr>
          <a:xfrm>
            <a:off x="303012" y="1145927"/>
            <a:ext cx="11585975" cy="5041788"/>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Out of 10 spins, </a:t>
            </a:r>
            <a:r>
              <a:rPr lang="en-US" sz="4400" b="1"/>
              <a:t>40%</a:t>
            </a:r>
            <a:r>
              <a:rPr lang="en-US" sz="4400"/>
              <a:t> landed on green, </a:t>
            </a:r>
            <a:r>
              <a:rPr lang="en-US" sz="4400" b="1"/>
              <a:t>10%</a:t>
            </a:r>
            <a:r>
              <a:rPr lang="en-US" sz="4400"/>
              <a:t> landed on black, </a:t>
            </a:r>
            <a:r>
              <a:rPr lang="en-US" sz="4400" b="1"/>
              <a:t>30%</a:t>
            </a:r>
            <a:r>
              <a:rPr lang="en-US" sz="4400"/>
              <a:t> landed on blue and </a:t>
            </a:r>
            <a:r>
              <a:rPr lang="en-US" sz="4400" b="1"/>
              <a:t>20%</a:t>
            </a:r>
            <a:r>
              <a:rPr lang="en-US" sz="4400"/>
              <a:t> landed on purple. If there were </a:t>
            </a:r>
            <a:r>
              <a:rPr lang="en-US" sz="4400" b="1"/>
              <a:t>10 more spins</a:t>
            </a:r>
            <a:r>
              <a:rPr lang="en-US" sz="4400"/>
              <a:t>, would the results be the </a:t>
            </a:r>
            <a:r>
              <a:rPr lang="en-US" sz="4400" b="1"/>
              <a:t>same</a:t>
            </a:r>
            <a:r>
              <a:rPr lang="en-US" sz="4400"/>
              <a:t>?</a:t>
            </a:r>
          </a:p>
          <a:p>
            <a:pPr algn="ctr"/>
            <a:r>
              <a:rPr lang="en-US" sz="4400" b="1"/>
              <a:t>Communicate </a:t>
            </a:r>
            <a:r>
              <a:rPr lang="en-US" sz="4400"/>
              <a:t>your </a:t>
            </a:r>
            <a:r>
              <a:rPr lang="en-US" sz="4400" b="1"/>
              <a:t>thinking.</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26250" y="162000"/>
            <a:ext cx="915500" cy="915500"/>
          </a:xfrm>
          <a:prstGeom prst="rect">
            <a:avLst/>
          </a:prstGeom>
        </p:spPr>
      </p:pic>
      <p:sp>
        <p:nvSpPr>
          <p:cNvPr id="7" name="Text Placeholder 14">
            <a:extLst>
              <a:ext uri="{FF2B5EF4-FFF2-40B4-BE49-F238E27FC236}">
                <a16:creationId xmlns:a16="http://schemas.microsoft.com/office/drawing/2014/main" id="{02CCB75D-1C56-8AAC-CDDB-B4D33DDA1554}"/>
              </a:ext>
            </a:extLst>
          </p:cNvPr>
          <p:cNvSpPr txBox="1">
            <a:spLocks/>
          </p:cNvSpPr>
          <p:nvPr/>
        </p:nvSpPr>
        <p:spPr>
          <a:xfrm>
            <a:off x="1239540" y="1077500"/>
            <a:ext cx="10101969" cy="5266601"/>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Yaya needs to fence her vegetable garden. The </a:t>
            </a:r>
            <a:r>
              <a:rPr lang="en-US" sz="4400" b="1"/>
              <a:t>area</a:t>
            </a:r>
            <a:r>
              <a:rPr lang="en-US" sz="4400"/>
              <a:t> to be fenced is 48 m². What could the </a:t>
            </a:r>
            <a:r>
              <a:rPr lang="en-US" sz="4400" b="1"/>
              <a:t>length</a:t>
            </a:r>
            <a:r>
              <a:rPr lang="en-US" sz="4400"/>
              <a:t> and </a:t>
            </a:r>
            <a:r>
              <a:rPr lang="en-US" sz="4400" b="1"/>
              <a:t>width</a:t>
            </a:r>
            <a:r>
              <a:rPr lang="en-US" sz="4400"/>
              <a:t> measure?</a:t>
            </a:r>
            <a:br>
              <a:rPr lang="en-US" sz="4400"/>
            </a:br>
            <a:r>
              <a:rPr lang="en-US" sz="4400"/>
              <a:t>What would be the </a:t>
            </a:r>
            <a:r>
              <a:rPr lang="en-US" sz="4400" b="1"/>
              <a:t>perimeter</a:t>
            </a:r>
            <a:r>
              <a:rPr lang="en-US" sz="4400"/>
              <a:t>? </a:t>
            </a:r>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21</a:t>
            </a:fld>
            <a:endParaRPr lang="en-AU"/>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descr="image of a clipboard with a pencil recording short answer responses">
            <a:extLst>
              <a:ext uri="{FF2B5EF4-FFF2-40B4-BE49-F238E27FC236}">
                <a16:creationId xmlns:a16="http://schemas.microsoft.com/office/drawing/2014/main" id="{414B841E-8840-471A-4D5D-BE5947D1F0D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BEEA4BD8-C1F8-D678-FD64-8BA14526D4D5}"/>
              </a:ext>
            </a:extLst>
          </p:cNvPr>
          <p:cNvSpPr txBox="1"/>
          <p:nvPr/>
        </p:nvSpPr>
        <p:spPr>
          <a:xfrm>
            <a:off x="843716" y="1414249"/>
            <a:ext cx="10504568" cy="4029501"/>
          </a:xfrm>
          <a:prstGeom prst="rect">
            <a:avLst/>
          </a:prstGeom>
          <a:noFill/>
        </p:spPr>
        <p:txBody>
          <a:bodyPr wrap="square">
            <a:spAutoFit/>
          </a:bodyPr>
          <a:lstStyle/>
          <a:p>
            <a:pPr algn="ctr">
              <a:lnSpc>
                <a:spcPct val="150000"/>
              </a:lnSpc>
            </a:pPr>
            <a:r>
              <a:rPr lang="en-AU" sz="4400"/>
              <a:t>Draw different bar models to show </a:t>
            </a:r>
            <a:r>
              <a:rPr lang="en-AU" sz="4400" b="1"/>
              <a:t>25%, 50%, 75% </a:t>
            </a:r>
            <a:r>
              <a:rPr lang="en-AU" sz="4400"/>
              <a:t>and</a:t>
            </a:r>
            <a:r>
              <a:rPr lang="en-AU" sz="4400" b="1"/>
              <a:t> 100%</a:t>
            </a:r>
            <a:r>
              <a:rPr lang="en-AU" sz="4400"/>
              <a:t>. </a:t>
            </a:r>
          </a:p>
          <a:p>
            <a:pPr algn="ctr">
              <a:lnSpc>
                <a:spcPct val="150000"/>
              </a:lnSpc>
            </a:pPr>
            <a:r>
              <a:rPr lang="en-AU" sz="4400"/>
              <a:t>Above the percentages, record the </a:t>
            </a:r>
            <a:r>
              <a:rPr lang="en-AU" sz="4400" b="1"/>
              <a:t>equivalent fraction</a:t>
            </a:r>
            <a:r>
              <a:rPr lang="en-AU" sz="4400"/>
              <a:t>.</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7" name="Picture 6" descr="A parallelgram.">
            <a:extLst>
              <a:ext uri="{FF2B5EF4-FFF2-40B4-BE49-F238E27FC236}">
                <a16:creationId xmlns:a16="http://schemas.microsoft.com/office/drawing/2014/main" id="{F0EAF101-1B85-30A2-F225-2830F53AB689}"/>
              </a:ext>
            </a:extLst>
          </p:cNvPr>
          <p:cNvPicPr>
            <a:picLocks noChangeAspect="1"/>
          </p:cNvPicPr>
          <p:nvPr/>
        </p:nvPicPr>
        <p:blipFill>
          <a:blip r:embed="rId4"/>
          <a:stretch>
            <a:fillRect/>
          </a:stretch>
        </p:blipFill>
        <p:spPr>
          <a:xfrm>
            <a:off x="195861" y="2231855"/>
            <a:ext cx="4920927" cy="2394290"/>
          </a:xfrm>
          <a:prstGeom prst="rect">
            <a:avLst/>
          </a:prstGeom>
        </p:spPr>
      </p:pic>
      <p:sp>
        <p:nvSpPr>
          <p:cNvPr id="8" name="Heart 7" descr="A small red heart in the bottom left corner of a parallelogram.">
            <a:extLst>
              <a:ext uri="{FF2B5EF4-FFF2-40B4-BE49-F238E27FC236}">
                <a16:creationId xmlns:a16="http://schemas.microsoft.com/office/drawing/2014/main" id="{0AD51A43-F5E4-956A-0B0A-735CB8E5108B}"/>
              </a:ext>
              <a:ext uri="{C183D7F6-B498-43B3-948B-1728B52AA6E4}">
                <adec:decorative xmlns:adec="http://schemas.microsoft.com/office/drawing/2017/decorative" val="0"/>
              </a:ext>
            </a:extLst>
          </p:cNvPr>
          <p:cNvSpPr/>
          <p:nvPr/>
        </p:nvSpPr>
        <p:spPr>
          <a:xfrm>
            <a:off x="1120877" y="3893574"/>
            <a:ext cx="442452" cy="353961"/>
          </a:xfrm>
          <a:prstGeom prst="hear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 Placeholder 14">
            <a:extLst>
              <a:ext uri="{FF2B5EF4-FFF2-40B4-BE49-F238E27FC236}">
                <a16:creationId xmlns:a16="http://schemas.microsoft.com/office/drawing/2014/main" id="{B543CB9B-DD60-264B-3F0B-B97AB950DC8E}"/>
              </a:ext>
            </a:extLst>
          </p:cNvPr>
          <p:cNvSpPr txBox="1">
            <a:spLocks/>
          </p:cNvSpPr>
          <p:nvPr/>
        </p:nvSpPr>
        <p:spPr>
          <a:xfrm>
            <a:off x="5543900" y="1445541"/>
            <a:ext cx="5334972" cy="489606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a:t>Translate</a:t>
            </a:r>
            <a:r>
              <a:rPr lang="en-US" sz="4400"/>
              <a:t>, </a:t>
            </a:r>
            <a:r>
              <a:rPr lang="en-US" sz="4400" b="1"/>
              <a:t>rotate</a:t>
            </a:r>
            <a:r>
              <a:rPr lang="en-US" sz="4400"/>
              <a:t> a quarter turn and </a:t>
            </a:r>
            <a:r>
              <a:rPr lang="en-US" sz="4400" b="1"/>
              <a:t>reflect</a:t>
            </a:r>
            <a:r>
              <a:rPr lang="en-US" sz="4400"/>
              <a:t> a parallelogram.</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23</a:t>
            </a:fld>
            <a:endParaRPr lang="en-AU"/>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fractions of chocolates</a:t>
            </a:r>
          </a:p>
        </p:txBody>
      </p:sp>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pic>
        <p:nvPicPr>
          <p:cNvPr id="4" name="Picture 3" descr="image of a head with cogs turning inside">
            <a:extLst>
              <a:ext uri="{FF2B5EF4-FFF2-40B4-BE49-F238E27FC236}">
                <a16:creationId xmlns:a16="http://schemas.microsoft.com/office/drawing/2014/main" id="{296D4226-C1D0-BEBB-1948-F7CDF78884C4}"/>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902BAAD2-1A45-D255-3437-134E45F898A7}"/>
              </a:ext>
            </a:extLst>
          </p:cNvPr>
          <p:cNvSpPr txBox="1"/>
          <p:nvPr/>
        </p:nvSpPr>
        <p:spPr>
          <a:xfrm>
            <a:off x="489456" y="1103135"/>
            <a:ext cx="11213088" cy="5016758"/>
          </a:xfrm>
          <a:prstGeom prst="rect">
            <a:avLst/>
          </a:prstGeom>
          <a:noFill/>
        </p:spPr>
        <p:txBody>
          <a:bodyPr wrap="square" lIns="91440" tIns="45720" rIns="91440" bIns="45720" anchor="t">
            <a:spAutoFit/>
          </a:bodyPr>
          <a:lstStyle/>
          <a:p>
            <a:pPr algn="ctr" rtl="0" fontAlgn="base">
              <a:lnSpc>
                <a:spcPct val="150000"/>
              </a:lnSpc>
            </a:pPr>
            <a:r>
              <a:rPr lang="en-AU" sz="4000" b="0" i="0">
                <a:solidFill>
                  <a:srgbClr val="000000"/>
                </a:solidFill>
                <a:effectLst/>
                <a:highlight>
                  <a:srgbClr val="FFFFFF"/>
                </a:highlight>
                <a:latin typeface="Arial" panose="020B0604020202020204" pitchFamily="34" charset="0"/>
                <a:cs typeface="Arial" panose="020B0604020202020204" pitchFamily="34" charset="0"/>
              </a:rPr>
              <a:t>I have a box of chocolates with </a:t>
            </a:r>
            <a:r>
              <a:rPr lang="en-AU" sz="4000" b="1" i="0">
                <a:solidFill>
                  <a:srgbClr val="000000"/>
                </a:solidFill>
                <a:effectLst/>
                <a:highlight>
                  <a:srgbClr val="FFFFFF"/>
                </a:highlight>
                <a:latin typeface="Arial" panose="020B0604020202020204" pitchFamily="34" charset="0"/>
                <a:cs typeface="Arial" panose="020B0604020202020204" pitchFamily="34" charset="0"/>
              </a:rPr>
              <a:t>4</a:t>
            </a:r>
            <a:r>
              <a:rPr lang="en-AU" sz="4000" b="0" i="0">
                <a:solidFill>
                  <a:srgbClr val="000000"/>
                </a:solidFill>
                <a:effectLst/>
                <a:highlight>
                  <a:srgbClr val="FFFFFF"/>
                </a:highlight>
                <a:latin typeface="Arial" panose="020B0604020202020204" pitchFamily="34" charset="0"/>
                <a:cs typeface="Arial" panose="020B0604020202020204" pitchFamily="34" charset="0"/>
              </a:rPr>
              <a:t> flavours. </a:t>
            </a:r>
          </a:p>
          <a:p>
            <a:pPr algn="ctr" rtl="0" fontAlgn="base">
              <a:lnSpc>
                <a:spcPct val="150000"/>
              </a:lnSpc>
            </a:pPr>
            <a:r>
              <a:rPr lang="en-AU" sz="4000" b="1" i="0">
                <a:solidFill>
                  <a:srgbClr val="000000"/>
                </a:solidFill>
                <a:effectLst/>
                <a:highlight>
                  <a:srgbClr val="FFFFFF"/>
                </a:highlight>
                <a:latin typeface="Arial" panose="020B0604020202020204" pitchFamily="34" charset="0"/>
                <a:cs typeface="Arial" panose="020B0604020202020204" pitchFamily="34" charset="0"/>
              </a:rPr>
              <a:t>A quarter </a:t>
            </a:r>
            <a:r>
              <a:rPr lang="en-AU" sz="4000" b="0" i="0">
                <a:solidFill>
                  <a:srgbClr val="000000"/>
                </a:solidFill>
                <a:effectLst/>
                <a:highlight>
                  <a:srgbClr val="FFFFFF"/>
                </a:highlight>
                <a:latin typeface="Arial" panose="020B0604020202020204" pitchFamily="34" charset="0"/>
                <a:cs typeface="Arial" panose="020B0604020202020204" pitchFamily="34" charset="0"/>
              </a:rPr>
              <a:t>of my chocolates are caramel, and </a:t>
            </a:r>
            <a:r>
              <a:rPr lang="en-AU" sz="4000" b="1" i="0">
                <a:solidFill>
                  <a:srgbClr val="000000"/>
                </a:solidFill>
                <a:effectLst/>
                <a:highlight>
                  <a:srgbClr val="FFFFFF"/>
                </a:highlight>
                <a:latin typeface="Arial" panose="020B0604020202020204" pitchFamily="34" charset="0"/>
                <a:cs typeface="Arial" panose="020B0604020202020204" pitchFamily="34" charset="0"/>
              </a:rPr>
              <a:t>one-fifth</a:t>
            </a:r>
            <a:r>
              <a:rPr lang="en-AU" sz="4000" b="0" i="0">
                <a:solidFill>
                  <a:srgbClr val="000000"/>
                </a:solidFill>
                <a:effectLst/>
                <a:highlight>
                  <a:srgbClr val="FFFFFF"/>
                </a:highlight>
                <a:latin typeface="Arial" panose="020B0604020202020204" pitchFamily="34" charset="0"/>
                <a:cs typeface="Arial" panose="020B0604020202020204" pitchFamily="34" charset="0"/>
              </a:rPr>
              <a:t> of my chocolates are Turkish delight. </a:t>
            </a:r>
          </a:p>
          <a:p>
            <a:pPr algn="ctr" rtl="0" fontAlgn="base"/>
            <a:endParaRPr lang="en-AU" sz="2000">
              <a:solidFill>
                <a:srgbClr val="000000"/>
              </a:solidFill>
              <a:highlight>
                <a:srgbClr val="FFFFFF"/>
              </a:highlight>
              <a:latin typeface="Arial" panose="020B0604020202020204" pitchFamily="34" charset="0"/>
              <a:cs typeface="Arial" panose="020B0604020202020204" pitchFamily="34" charset="0"/>
            </a:endParaRPr>
          </a:p>
          <a:p>
            <a:pPr marL="952485" lvl="1" indent="-342900" fontAlgn="base">
              <a:buFont typeface="Arial" panose="020B0604020202020204" pitchFamily="34" charset="0"/>
              <a:buChar char="•"/>
            </a:pPr>
            <a:r>
              <a:rPr lang="en-AU" sz="4000" b="0" i="0">
                <a:solidFill>
                  <a:srgbClr val="000000"/>
                </a:solidFill>
                <a:effectLst/>
                <a:highlight>
                  <a:srgbClr val="FFFFFF"/>
                </a:highlight>
                <a:latin typeface="Arial" panose="020B0604020202020204" pitchFamily="34" charset="0"/>
                <a:cs typeface="Arial" panose="020B0604020202020204" pitchFamily="34" charset="0"/>
              </a:rPr>
              <a:t>How many </a:t>
            </a:r>
            <a:r>
              <a:rPr lang="en-AU" sz="4000" b="1" i="0">
                <a:solidFill>
                  <a:srgbClr val="000000"/>
                </a:solidFill>
                <a:effectLst/>
                <a:highlight>
                  <a:srgbClr val="FFFFFF"/>
                </a:highlight>
                <a:latin typeface="Arial" panose="020B0604020202020204" pitchFamily="34" charset="0"/>
                <a:cs typeface="Arial" panose="020B0604020202020204" pitchFamily="34" charset="0"/>
              </a:rPr>
              <a:t>caramel chocolates </a:t>
            </a:r>
            <a:r>
              <a:rPr lang="en-AU" sz="4000" b="0" i="0">
                <a:solidFill>
                  <a:srgbClr val="000000"/>
                </a:solidFill>
                <a:effectLst/>
                <a:highlight>
                  <a:srgbClr val="FFFFFF"/>
                </a:highlight>
                <a:latin typeface="Arial" panose="020B0604020202020204" pitchFamily="34" charset="0"/>
                <a:cs typeface="Arial" panose="020B0604020202020204" pitchFamily="34" charset="0"/>
              </a:rPr>
              <a:t>are there? </a:t>
            </a:r>
          </a:p>
          <a:p>
            <a:pPr marL="342900" indent="-342900" algn="ctr" rtl="0" fontAlgn="base">
              <a:buFont typeface="Arial" panose="020B0604020202020204" pitchFamily="34" charset="0"/>
              <a:buChar char="•"/>
            </a:pPr>
            <a:endParaRPr lang="en-AU" sz="4000" b="0" i="0">
              <a:solidFill>
                <a:srgbClr val="000000"/>
              </a:solidFill>
              <a:effectLst/>
              <a:highlight>
                <a:srgbClr val="FFFFFF"/>
              </a:highlight>
              <a:latin typeface="Arial" panose="020B0604020202020204" pitchFamily="34" charset="0"/>
              <a:cs typeface="Arial" panose="020B0604020202020204" pitchFamily="34" charset="0"/>
            </a:endParaRPr>
          </a:p>
          <a:p>
            <a:pPr marL="952485" lvl="1" indent="-342900" fontAlgn="base">
              <a:buFont typeface="Arial" panose="020B0604020202020204" pitchFamily="34" charset="0"/>
              <a:buChar char="•"/>
            </a:pPr>
            <a:r>
              <a:rPr lang="en-AU" sz="4000" b="0" i="0">
                <a:solidFill>
                  <a:srgbClr val="000000"/>
                </a:solidFill>
                <a:effectLst/>
                <a:highlight>
                  <a:srgbClr val="FFFFFF"/>
                </a:highlight>
                <a:latin typeface="Arial" panose="020B0604020202020204" pitchFamily="34" charset="0"/>
                <a:cs typeface="Arial" panose="020B0604020202020204" pitchFamily="34" charset="0"/>
              </a:rPr>
              <a:t>How many </a:t>
            </a:r>
            <a:r>
              <a:rPr lang="en-AU" sz="4000" b="1" i="0">
                <a:solidFill>
                  <a:srgbClr val="000000"/>
                </a:solidFill>
                <a:effectLst/>
                <a:highlight>
                  <a:srgbClr val="FFFFFF"/>
                </a:highlight>
                <a:latin typeface="Arial" panose="020B0604020202020204" pitchFamily="34" charset="0"/>
                <a:cs typeface="Arial" panose="020B0604020202020204" pitchFamily="34" charset="0"/>
              </a:rPr>
              <a:t>Turkish delights </a:t>
            </a:r>
            <a:r>
              <a:rPr lang="en-AU" sz="4000" b="0" i="0">
                <a:solidFill>
                  <a:srgbClr val="000000"/>
                </a:solidFill>
                <a:effectLst/>
                <a:highlight>
                  <a:srgbClr val="FFFFFF"/>
                </a:highlight>
                <a:latin typeface="Arial" panose="020B0604020202020204" pitchFamily="34" charset="0"/>
                <a:cs typeface="Arial" panose="020B0604020202020204" pitchFamily="34" charset="0"/>
              </a:rPr>
              <a:t>are there? </a:t>
            </a:r>
            <a:endParaRPr lang="en-AU" sz="4000" b="0" i="0">
              <a:solidFill>
                <a:srgbClr val="000000"/>
              </a:solidFill>
              <a:effectLst/>
              <a:highlight>
                <a:srgbClr val="FFFFFF"/>
              </a:highlight>
              <a:latin typeface="Arial"/>
              <a:cs typeface="Arial"/>
            </a:endParaRPr>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2F45C-4095-A532-1337-5672A6720ED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8635671-601A-18B6-A277-98E75121367A}"/>
              </a:ext>
            </a:extLst>
          </p:cNvPr>
          <p:cNvSpPr>
            <a:spLocks noGrp="1"/>
          </p:cNvSpPr>
          <p:nvPr>
            <p:ph type="title"/>
          </p:nvPr>
        </p:nvSpPr>
        <p:spPr>
          <a:xfrm>
            <a:off x="360000" y="360000"/>
            <a:ext cx="10367268" cy="545601"/>
          </a:xfrm>
        </p:spPr>
        <p:txBody>
          <a:bodyPr/>
          <a:lstStyle/>
          <a:p>
            <a:r>
              <a:rPr lang="en-AU"/>
              <a:t>Activity 3 – fractions of chocolates </a:t>
            </a:r>
            <a:r>
              <a:rPr lang="en-AU">
                <a:solidFill>
                  <a:schemeClr val="bg1"/>
                </a:solidFill>
              </a:rPr>
              <a:t>(1)</a:t>
            </a:r>
          </a:p>
        </p:txBody>
      </p:sp>
      <p:sp>
        <p:nvSpPr>
          <p:cNvPr id="2" name="Slide Number Placeholder 1">
            <a:extLst>
              <a:ext uri="{FF2B5EF4-FFF2-40B4-BE49-F238E27FC236}">
                <a16:creationId xmlns:a16="http://schemas.microsoft.com/office/drawing/2014/main" id="{1FF2C9B4-C70F-B93D-27E6-CE6B5F05545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25</a:t>
            </a:fld>
            <a:endParaRPr lang="en-AU"/>
          </a:p>
        </p:txBody>
      </p:sp>
      <p:pic>
        <p:nvPicPr>
          <p:cNvPr id="4" name="Picture 3" descr="image of a head with cogs turning inside">
            <a:extLst>
              <a:ext uri="{FF2B5EF4-FFF2-40B4-BE49-F238E27FC236}">
                <a16:creationId xmlns:a16="http://schemas.microsoft.com/office/drawing/2014/main" id="{FDBFDF5B-E515-A752-2064-C76FE7DD3835}"/>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7" name="Table 2" descr="A 4 by 5 blank table and some chocolates.">
            <a:extLst>
              <a:ext uri="{FF2B5EF4-FFF2-40B4-BE49-F238E27FC236}">
                <a16:creationId xmlns:a16="http://schemas.microsoft.com/office/drawing/2014/main" id="{F548C981-FA8A-F8F4-1522-E3CDDFE68769}"/>
              </a:ext>
            </a:extLst>
          </p:cNvPr>
          <p:cNvGraphicFramePr>
            <a:graphicFrameLocks noGrp="1"/>
          </p:cNvGraphicFramePr>
          <p:nvPr>
            <p:extLst>
              <p:ext uri="{D42A27DB-BD31-4B8C-83A1-F6EECF244321}">
                <p14:modId xmlns:p14="http://schemas.microsoft.com/office/powerpoint/2010/main" val="1516010136"/>
              </p:ext>
            </p:extLst>
          </p:nvPr>
        </p:nvGraphicFramePr>
        <p:xfrm>
          <a:off x="2885269" y="1097258"/>
          <a:ext cx="5081284" cy="5400740"/>
        </p:xfrm>
        <a:graphic>
          <a:graphicData uri="http://schemas.openxmlformats.org/drawingml/2006/table">
            <a:tbl>
              <a:tblPr firstRow="1"/>
              <a:tblGrid>
                <a:gridCol w="1270321">
                  <a:extLst>
                    <a:ext uri="{9D8B030D-6E8A-4147-A177-3AD203B41FA5}">
                      <a16:colId xmlns:a16="http://schemas.microsoft.com/office/drawing/2014/main" val="20000"/>
                    </a:ext>
                  </a:extLst>
                </a:gridCol>
                <a:gridCol w="1270321">
                  <a:extLst>
                    <a:ext uri="{9D8B030D-6E8A-4147-A177-3AD203B41FA5}">
                      <a16:colId xmlns:a16="http://schemas.microsoft.com/office/drawing/2014/main" val="20001"/>
                    </a:ext>
                  </a:extLst>
                </a:gridCol>
                <a:gridCol w="1270321">
                  <a:extLst>
                    <a:ext uri="{9D8B030D-6E8A-4147-A177-3AD203B41FA5}">
                      <a16:colId xmlns:a16="http://schemas.microsoft.com/office/drawing/2014/main" val="20002"/>
                    </a:ext>
                  </a:extLst>
                </a:gridCol>
                <a:gridCol w="1270321">
                  <a:extLst>
                    <a:ext uri="{9D8B030D-6E8A-4147-A177-3AD203B41FA5}">
                      <a16:colId xmlns:a16="http://schemas.microsoft.com/office/drawing/2014/main" val="20003"/>
                    </a:ext>
                  </a:extLst>
                </a:gridCol>
              </a:tblGrid>
              <a:tr h="1080148">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80148">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80148">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80148">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080148">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Freeform 3" descr="A 4 by 5 blank table and some chocolates.">
            <a:extLst>
              <a:ext uri="{FF2B5EF4-FFF2-40B4-BE49-F238E27FC236}">
                <a16:creationId xmlns:a16="http://schemas.microsoft.com/office/drawing/2014/main" id="{5226FDC3-B111-368F-F08E-6FCF3507306E}"/>
              </a:ext>
            </a:extLst>
          </p:cNvPr>
          <p:cNvSpPr/>
          <p:nvPr/>
        </p:nvSpPr>
        <p:spPr>
          <a:xfrm>
            <a:off x="8348701" y="4397641"/>
            <a:ext cx="1736139" cy="1409011"/>
          </a:xfrm>
          <a:custGeom>
            <a:avLst/>
            <a:gdLst/>
            <a:ahLst/>
            <a:cxnLst/>
            <a:rect l="l" t="t" r="r" b="b"/>
            <a:pathLst>
              <a:path w="2004729" h="1591254">
                <a:moveTo>
                  <a:pt x="0" y="0"/>
                </a:moveTo>
                <a:lnTo>
                  <a:pt x="2004729" y="0"/>
                </a:lnTo>
                <a:lnTo>
                  <a:pt x="2004729" y="1591254"/>
                </a:lnTo>
                <a:lnTo>
                  <a:pt x="0" y="1591254"/>
                </a:lnTo>
                <a:lnTo>
                  <a:pt x="0" y="0"/>
                </a:lnTo>
                <a:close/>
              </a:path>
            </a:pathLst>
          </a:custGeom>
          <a:blipFill>
            <a:blip r:embed="rId4"/>
            <a:stretch>
              <a:fillRect/>
            </a:stretch>
          </a:blipFill>
        </p:spPr>
        <p:txBody>
          <a:bodyPr/>
          <a:lstStyle/>
          <a:p>
            <a:endParaRPr lang="en-AU"/>
          </a:p>
        </p:txBody>
      </p:sp>
    </p:spTree>
    <p:extLst>
      <p:ext uri="{BB962C8B-B14F-4D97-AF65-F5344CB8AC3E}">
        <p14:creationId xmlns:p14="http://schemas.microsoft.com/office/powerpoint/2010/main" val="1756537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1442884" y="905600"/>
                <a:ext cx="9306232" cy="3400657"/>
              </a:xfrm>
            </p:spPr>
            <p:txBody>
              <a:bodyPr/>
              <a:lstStyle/>
              <a:p>
                <a:pPr algn="ctr"/>
                <a:r>
                  <a:rPr lang="en-AU" sz="4400"/>
                  <a:t>Daniel believes that  </a:t>
                </a:r>
                <a14:m>
                  <m:oMath xmlns:m="http://schemas.openxmlformats.org/officeDocument/2006/math">
                    <m:f>
                      <m:fPr>
                        <m:ctrlPr>
                          <a:rPr lang="en-AU" sz="5400" b="1" i="1">
                            <a:latin typeface="Cambria Math" panose="02040503050406030204" pitchFamily="18" charset="0"/>
                          </a:rPr>
                        </m:ctrlPr>
                      </m:fPr>
                      <m:num>
                        <m:r>
                          <a:rPr lang="en-AU" sz="5400" b="1" i="1">
                            <a:latin typeface="Cambria Math" panose="02040503050406030204" pitchFamily="18" charset="0"/>
                          </a:rPr>
                          <m:t>𝟏</m:t>
                        </m:r>
                      </m:num>
                      <m:den>
                        <m:r>
                          <a:rPr lang="en-AU" sz="5400" b="1" i="1" smtClean="0">
                            <a:latin typeface="Cambria Math" panose="02040503050406030204" pitchFamily="18" charset="0"/>
                          </a:rPr>
                          <m:t>𝟒</m:t>
                        </m:r>
                      </m:den>
                    </m:f>
                  </m:oMath>
                </a14:m>
                <a:r>
                  <a:rPr lang="en-AU" sz="4400" b="1"/>
                  <a:t>  </a:t>
                </a:r>
                <a:r>
                  <a:rPr lang="en-AU" sz="4400"/>
                  <a:t>of </a:t>
                </a:r>
                <a:r>
                  <a:rPr lang="en-AU" sz="4400" b="1"/>
                  <a:t>48</a:t>
                </a:r>
                <a:r>
                  <a:rPr lang="en-AU" sz="4400"/>
                  <a:t> is </a:t>
                </a:r>
                <a:r>
                  <a:rPr lang="en-AU" sz="4400" b="1"/>
                  <a:t>equal</a:t>
                </a:r>
                <a:r>
                  <a:rPr lang="en-AU" sz="4400"/>
                  <a:t> to  </a:t>
                </a:r>
                <a14:m>
                  <m:oMath xmlns:m="http://schemas.openxmlformats.org/officeDocument/2006/math">
                    <m:f>
                      <m:fPr>
                        <m:ctrlPr>
                          <a:rPr lang="en-AU" sz="5400" b="1" i="1">
                            <a:latin typeface="Cambria Math" panose="02040503050406030204" pitchFamily="18" charset="0"/>
                          </a:rPr>
                        </m:ctrlPr>
                      </m:fPr>
                      <m:num>
                        <m:r>
                          <a:rPr lang="en-AU" sz="5400" b="1" i="1">
                            <a:latin typeface="Cambria Math" panose="02040503050406030204" pitchFamily="18" charset="0"/>
                          </a:rPr>
                          <m:t>𝟏</m:t>
                        </m:r>
                      </m:num>
                      <m:den>
                        <m:r>
                          <a:rPr lang="en-AU" sz="5400" b="1" i="1" smtClean="0">
                            <a:latin typeface="Cambria Math" panose="02040503050406030204" pitchFamily="18" charset="0"/>
                          </a:rPr>
                          <m:t>𝟐</m:t>
                        </m:r>
                      </m:den>
                    </m:f>
                  </m:oMath>
                </a14:m>
                <a:r>
                  <a:rPr lang="en-AU" sz="5400" b="1"/>
                  <a:t>  </a:t>
                </a:r>
                <a:r>
                  <a:rPr lang="en-AU" sz="4400"/>
                  <a:t>of </a:t>
                </a:r>
                <a:r>
                  <a:rPr lang="en-AU" sz="4400" b="1"/>
                  <a:t>24</a:t>
                </a:r>
                <a:r>
                  <a:rPr lang="en-AU" sz="4400"/>
                  <a:t>.</a:t>
                </a:r>
              </a:p>
            </p:txBody>
          </p:sp>
        </mc:Choice>
        <mc:Fallback xmlns="">
          <p:sp>
            <p:nvSpPr>
              <p:cNvPr id="6" name="Text Placeholder 5">
                <a:extLst>
                  <a:ext uri="{FF2B5EF4-FFF2-40B4-BE49-F238E27FC236}">
                    <a16:creationId xmlns:a16="http://schemas.microsoft.com/office/drawing/2014/main" id="{1F74B9A4-EFE2-0CD1-0E45-27C87BBC65EB}"/>
                  </a:ext>
                </a:extLst>
              </p:cNvPr>
              <p:cNvSpPr>
                <a:spLocks noGrp="1" noRot="1" noChangeAspect="1" noMove="1" noResize="1" noEditPoints="1" noAdjustHandles="1" noChangeArrowheads="1" noChangeShapeType="1" noTextEdit="1"/>
              </p:cNvSpPr>
              <p:nvPr>
                <p:ph type="body" sz="quarter" idx="22"/>
              </p:nvPr>
            </p:nvSpPr>
            <p:spPr>
              <a:xfrm>
                <a:off x="1442884" y="905600"/>
                <a:ext cx="9306232" cy="3400657"/>
              </a:xfrm>
              <a:blipFill>
                <a:blip r:embed="rId4"/>
                <a:stretch>
                  <a:fillRect l="-3211" r="-3211" b="-3591"/>
                </a:stretch>
              </a:blipFill>
            </p:spPr>
            <p:txBody>
              <a:bodyPr/>
              <a:lstStyle/>
              <a:p>
                <a:r>
                  <a:rPr lang="en-AU">
                    <a:noFill/>
                  </a:rPr>
                  <a:t> </a:t>
                </a:r>
              </a:p>
            </p:txBody>
          </p:sp>
        </mc:Fallback>
      </mc:AlternateContent>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1506253032"/>
              </p:ext>
            </p:extLst>
          </p:nvPr>
        </p:nvGraphicFramePr>
        <p:xfrm>
          <a:off x="2660701" y="458467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5" name="Text Placeholder 5">
            <a:extLst>
              <a:ext uri="{FF2B5EF4-FFF2-40B4-BE49-F238E27FC236}">
                <a16:creationId xmlns:a16="http://schemas.microsoft.com/office/drawing/2014/main" id="{B4E7C25D-9614-BB14-08E0-E8FC76C31322}"/>
              </a:ext>
            </a:extLst>
          </p:cNvPr>
          <p:cNvSpPr txBox="1">
            <a:spLocks/>
          </p:cNvSpPr>
          <p:nvPr/>
        </p:nvSpPr>
        <p:spPr>
          <a:xfrm>
            <a:off x="730657" y="5604774"/>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Communicate your thinking.</a:t>
            </a:r>
          </a:p>
        </p:txBody>
      </p:sp>
      <p:sp>
        <p:nvSpPr>
          <p:cNvPr id="2" name="Slide Number Placeholder 1">
            <a:extLst>
              <a:ext uri="{FF2B5EF4-FFF2-40B4-BE49-F238E27FC236}">
                <a16:creationId xmlns:a16="http://schemas.microsoft.com/office/drawing/2014/main" id="{5543D758-EFDD-EFF7-9F6F-60499B8070EF}"/>
              </a:ext>
            </a:extLst>
          </p:cNvPr>
          <p:cNvSpPr>
            <a:spLocks noGrp="1"/>
          </p:cNvSpPr>
          <p:nvPr>
            <p:ph type="sldNum" sz="quarter" idx="12"/>
          </p:nvPr>
        </p:nvSpPr>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70A80804-AFC6-8DCD-1C1A-875BC2653D79}"/>
              </a:ext>
            </a:extLst>
          </p:cNvPr>
          <p:cNvSpPr txBox="1">
            <a:spLocks/>
          </p:cNvSpPr>
          <p:nvPr/>
        </p:nvSpPr>
        <p:spPr>
          <a:xfrm>
            <a:off x="246024" y="984908"/>
            <a:ext cx="11699621" cy="174259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AU" sz="3600"/>
              <a:t>The expected results of rolling a six-sided dice 60 times should be that each number appears approximately 10 times. 6W conducted the experiment, the results were:</a:t>
            </a:r>
          </a:p>
          <a:p>
            <a:endParaRPr lang="en-AU" sz="3600"/>
          </a:p>
          <a:p>
            <a:pPr algn="ctr"/>
            <a:endParaRPr lang="en-AU" sz="3600"/>
          </a:p>
        </p:txBody>
      </p:sp>
      <p:graphicFrame>
        <p:nvGraphicFramePr>
          <p:cNvPr id="7" name="Table 6">
            <a:extLst>
              <a:ext uri="{FF2B5EF4-FFF2-40B4-BE49-F238E27FC236}">
                <a16:creationId xmlns:a16="http://schemas.microsoft.com/office/drawing/2014/main" id="{41E91060-6F8A-02A9-600D-74B6368B4521}"/>
              </a:ext>
            </a:extLst>
          </p:cNvPr>
          <p:cNvGraphicFramePr>
            <a:graphicFrameLocks noGrp="1"/>
          </p:cNvGraphicFramePr>
          <p:nvPr>
            <p:extLst>
              <p:ext uri="{D42A27DB-BD31-4B8C-83A1-F6EECF244321}">
                <p14:modId xmlns:p14="http://schemas.microsoft.com/office/powerpoint/2010/main" val="3716719327"/>
              </p:ext>
            </p:extLst>
          </p:nvPr>
        </p:nvGraphicFramePr>
        <p:xfrm>
          <a:off x="360000" y="2793064"/>
          <a:ext cx="3621976" cy="3859764"/>
        </p:xfrm>
        <a:graphic>
          <a:graphicData uri="http://schemas.openxmlformats.org/drawingml/2006/table">
            <a:tbl>
              <a:tblPr firstRow="1" bandRow="1" bandCol="1">
                <a:tableStyleId>{72833802-FEF1-4C79-8D5D-14CF1EAF98D9}</a:tableStyleId>
              </a:tblPr>
              <a:tblGrid>
                <a:gridCol w="1755691">
                  <a:extLst>
                    <a:ext uri="{9D8B030D-6E8A-4147-A177-3AD203B41FA5}">
                      <a16:colId xmlns:a16="http://schemas.microsoft.com/office/drawing/2014/main" val="1074845844"/>
                    </a:ext>
                  </a:extLst>
                </a:gridCol>
                <a:gridCol w="1866285">
                  <a:extLst>
                    <a:ext uri="{9D8B030D-6E8A-4147-A177-3AD203B41FA5}">
                      <a16:colId xmlns:a16="http://schemas.microsoft.com/office/drawing/2014/main" val="3750847075"/>
                    </a:ext>
                  </a:extLst>
                </a:gridCol>
              </a:tblGrid>
              <a:tr h="506134">
                <a:tc>
                  <a:txBody>
                    <a:bodyPr/>
                    <a:lstStyle/>
                    <a:p>
                      <a:pPr algn="ctr"/>
                      <a:r>
                        <a:rPr lang="en-AU" sz="2400"/>
                        <a:t>Die number</a:t>
                      </a:r>
                    </a:p>
                  </a:txBody>
                  <a:tcPr/>
                </a:tc>
                <a:tc>
                  <a:txBody>
                    <a:bodyPr/>
                    <a:lstStyle/>
                    <a:p>
                      <a:pPr algn="ctr"/>
                      <a:r>
                        <a:rPr lang="en-AU" sz="2400"/>
                        <a:t>Times rolled</a:t>
                      </a:r>
                    </a:p>
                  </a:txBody>
                  <a:tcPr/>
                </a:tc>
                <a:extLst>
                  <a:ext uri="{0D108BD9-81ED-4DB2-BD59-A6C34878D82A}">
                    <a16:rowId xmlns:a16="http://schemas.microsoft.com/office/drawing/2014/main" val="3319358655"/>
                  </a:ext>
                </a:extLst>
              </a:tr>
              <a:tr h="506134">
                <a:tc>
                  <a:txBody>
                    <a:bodyPr/>
                    <a:lstStyle/>
                    <a:p>
                      <a:pPr algn="ctr"/>
                      <a:r>
                        <a:rPr lang="en-AU" sz="2400"/>
                        <a:t>1</a:t>
                      </a:r>
                    </a:p>
                  </a:txBody>
                  <a:tcPr/>
                </a:tc>
                <a:tc>
                  <a:txBody>
                    <a:bodyPr/>
                    <a:lstStyle/>
                    <a:p>
                      <a:pPr algn="ctr"/>
                      <a:r>
                        <a:rPr lang="en-AU" sz="2400"/>
                        <a:t>10</a:t>
                      </a:r>
                    </a:p>
                  </a:txBody>
                  <a:tcPr/>
                </a:tc>
                <a:extLst>
                  <a:ext uri="{0D108BD9-81ED-4DB2-BD59-A6C34878D82A}">
                    <a16:rowId xmlns:a16="http://schemas.microsoft.com/office/drawing/2014/main" val="1269760433"/>
                  </a:ext>
                </a:extLst>
              </a:tr>
              <a:tr h="506134">
                <a:tc>
                  <a:txBody>
                    <a:bodyPr/>
                    <a:lstStyle/>
                    <a:p>
                      <a:pPr algn="ctr"/>
                      <a:r>
                        <a:rPr lang="en-AU" sz="2400"/>
                        <a:t>2</a:t>
                      </a:r>
                    </a:p>
                  </a:txBody>
                  <a:tcPr/>
                </a:tc>
                <a:tc>
                  <a:txBody>
                    <a:bodyPr/>
                    <a:lstStyle/>
                    <a:p>
                      <a:pPr algn="ctr"/>
                      <a:r>
                        <a:rPr lang="en-AU" sz="2400"/>
                        <a:t>8</a:t>
                      </a:r>
                    </a:p>
                  </a:txBody>
                  <a:tcPr/>
                </a:tc>
                <a:extLst>
                  <a:ext uri="{0D108BD9-81ED-4DB2-BD59-A6C34878D82A}">
                    <a16:rowId xmlns:a16="http://schemas.microsoft.com/office/drawing/2014/main" val="63617852"/>
                  </a:ext>
                </a:extLst>
              </a:tr>
              <a:tr h="506134">
                <a:tc>
                  <a:txBody>
                    <a:bodyPr/>
                    <a:lstStyle/>
                    <a:p>
                      <a:pPr algn="ctr"/>
                      <a:r>
                        <a:rPr lang="en-AU" sz="2400"/>
                        <a:t>3</a:t>
                      </a:r>
                    </a:p>
                  </a:txBody>
                  <a:tcPr/>
                </a:tc>
                <a:tc>
                  <a:txBody>
                    <a:bodyPr/>
                    <a:lstStyle/>
                    <a:p>
                      <a:pPr algn="ctr"/>
                      <a:r>
                        <a:rPr lang="en-AU" sz="2400"/>
                        <a:t>12</a:t>
                      </a:r>
                    </a:p>
                  </a:txBody>
                  <a:tcPr/>
                </a:tc>
                <a:extLst>
                  <a:ext uri="{0D108BD9-81ED-4DB2-BD59-A6C34878D82A}">
                    <a16:rowId xmlns:a16="http://schemas.microsoft.com/office/drawing/2014/main" val="417378573"/>
                  </a:ext>
                </a:extLst>
              </a:tr>
              <a:tr h="506134">
                <a:tc>
                  <a:txBody>
                    <a:bodyPr/>
                    <a:lstStyle/>
                    <a:p>
                      <a:pPr algn="ctr"/>
                      <a:r>
                        <a:rPr lang="en-AU" sz="2400"/>
                        <a:t>4</a:t>
                      </a:r>
                    </a:p>
                  </a:txBody>
                  <a:tcPr/>
                </a:tc>
                <a:tc>
                  <a:txBody>
                    <a:bodyPr/>
                    <a:lstStyle/>
                    <a:p>
                      <a:pPr algn="ctr"/>
                      <a:r>
                        <a:rPr lang="en-AU" sz="2400"/>
                        <a:t>15</a:t>
                      </a:r>
                    </a:p>
                  </a:txBody>
                  <a:tcPr/>
                </a:tc>
                <a:extLst>
                  <a:ext uri="{0D108BD9-81ED-4DB2-BD59-A6C34878D82A}">
                    <a16:rowId xmlns:a16="http://schemas.microsoft.com/office/drawing/2014/main" val="2697395587"/>
                  </a:ext>
                </a:extLst>
              </a:tr>
              <a:tr h="506134">
                <a:tc>
                  <a:txBody>
                    <a:bodyPr/>
                    <a:lstStyle/>
                    <a:p>
                      <a:pPr algn="ctr"/>
                      <a:r>
                        <a:rPr lang="en-AU" sz="2400"/>
                        <a:t>5</a:t>
                      </a:r>
                    </a:p>
                  </a:txBody>
                  <a:tcPr/>
                </a:tc>
                <a:tc>
                  <a:txBody>
                    <a:bodyPr/>
                    <a:lstStyle/>
                    <a:p>
                      <a:pPr algn="ctr"/>
                      <a:r>
                        <a:rPr lang="en-AU" sz="2400"/>
                        <a:t>7</a:t>
                      </a:r>
                    </a:p>
                  </a:txBody>
                  <a:tcPr/>
                </a:tc>
                <a:extLst>
                  <a:ext uri="{0D108BD9-81ED-4DB2-BD59-A6C34878D82A}">
                    <a16:rowId xmlns:a16="http://schemas.microsoft.com/office/drawing/2014/main" val="1300717857"/>
                  </a:ext>
                </a:extLst>
              </a:tr>
              <a:tr h="506134">
                <a:tc>
                  <a:txBody>
                    <a:bodyPr/>
                    <a:lstStyle/>
                    <a:p>
                      <a:pPr algn="ctr"/>
                      <a:r>
                        <a:rPr lang="en-AU" sz="2400"/>
                        <a:t>6</a:t>
                      </a:r>
                    </a:p>
                  </a:txBody>
                  <a:tcPr/>
                </a:tc>
                <a:tc>
                  <a:txBody>
                    <a:bodyPr/>
                    <a:lstStyle/>
                    <a:p>
                      <a:pPr algn="ctr"/>
                      <a:r>
                        <a:rPr lang="en-AU" sz="2400"/>
                        <a:t>8</a:t>
                      </a:r>
                    </a:p>
                  </a:txBody>
                  <a:tcPr/>
                </a:tc>
                <a:extLst>
                  <a:ext uri="{0D108BD9-81ED-4DB2-BD59-A6C34878D82A}">
                    <a16:rowId xmlns:a16="http://schemas.microsoft.com/office/drawing/2014/main" val="831684412"/>
                  </a:ext>
                </a:extLst>
              </a:tr>
            </a:tbl>
          </a:graphicData>
        </a:graphic>
      </p:graphicFrame>
      <p:sp>
        <p:nvSpPr>
          <p:cNvPr id="8" name="Text Placeholder 5">
            <a:extLst>
              <a:ext uri="{FF2B5EF4-FFF2-40B4-BE49-F238E27FC236}">
                <a16:creationId xmlns:a16="http://schemas.microsoft.com/office/drawing/2014/main" id="{53EA7E00-CDBB-CDED-C799-BF59E471F17E}"/>
              </a:ext>
            </a:extLst>
          </p:cNvPr>
          <p:cNvSpPr txBox="1">
            <a:spLocks/>
          </p:cNvSpPr>
          <p:nvPr/>
        </p:nvSpPr>
        <p:spPr>
          <a:xfrm>
            <a:off x="4806212" y="2980350"/>
            <a:ext cx="6317788" cy="3517650"/>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AU" sz="3600" b="1"/>
              <a:t>Compare</a:t>
            </a:r>
            <a:r>
              <a:rPr lang="en-AU" sz="3600"/>
              <a:t> the </a:t>
            </a:r>
            <a:r>
              <a:rPr lang="en-AU" sz="3600" b="1"/>
              <a:t>observed frequencies</a:t>
            </a:r>
            <a:r>
              <a:rPr lang="en-AU" sz="3600"/>
              <a:t> with the </a:t>
            </a:r>
            <a:r>
              <a:rPr lang="en-AU" sz="3600" b="1"/>
              <a:t>expected frequencies. </a:t>
            </a:r>
            <a:r>
              <a:rPr lang="en-AU" sz="3600"/>
              <a:t>Explain why only one number rolled the </a:t>
            </a:r>
            <a:r>
              <a:rPr lang="en-AU" sz="3600" b="1"/>
              <a:t>expected frequency.</a:t>
            </a:r>
          </a:p>
          <a:p>
            <a:endParaRPr lang="en-AU" sz="3600"/>
          </a:p>
          <a:p>
            <a:pPr algn="ctr"/>
            <a:endParaRPr lang="en-AU" sz="3600"/>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A969050D-C2D1-6BA1-2CB1-B3BA9A830D8D}"/>
              </a:ext>
            </a:extLst>
          </p:cNvPr>
          <p:cNvSpPr txBox="1">
            <a:spLocks/>
          </p:cNvSpPr>
          <p:nvPr/>
        </p:nvSpPr>
        <p:spPr>
          <a:xfrm>
            <a:off x="474480" y="1010773"/>
            <a:ext cx="11243037" cy="2192009"/>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Model how you would find the </a:t>
            </a:r>
            <a:r>
              <a:rPr lang="en-AU" sz="4400" b="1"/>
              <a:t>area</a:t>
            </a:r>
            <a:r>
              <a:rPr lang="en-AU" sz="4400"/>
              <a:t> of a </a:t>
            </a:r>
            <a:r>
              <a:rPr lang="en-AU" sz="4400" b="1"/>
              <a:t>parallelogram.</a:t>
            </a:r>
          </a:p>
        </p:txBody>
      </p:sp>
      <p:pic>
        <p:nvPicPr>
          <p:cNvPr id="9" name="Picture 8" descr="A black parallelogram on a grid">
            <a:extLst>
              <a:ext uri="{FF2B5EF4-FFF2-40B4-BE49-F238E27FC236}">
                <a16:creationId xmlns:a16="http://schemas.microsoft.com/office/drawing/2014/main" id="{74E53469-C1BF-0E3F-7627-2BFFF6952569}"/>
              </a:ext>
            </a:extLst>
          </p:cNvPr>
          <p:cNvPicPr>
            <a:picLocks noChangeAspect="1"/>
          </p:cNvPicPr>
          <p:nvPr/>
        </p:nvPicPr>
        <p:blipFill>
          <a:blip r:embed="rId4"/>
          <a:stretch>
            <a:fillRect/>
          </a:stretch>
        </p:blipFill>
        <p:spPr>
          <a:xfrm>
            <a:off x="4129834" y="3325954"/>
            <a:ext cx="3932327" cy="3190046"/>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F92414F4-054E-EF83-C236-10F22C8332AA}"/>
              </a:ext>
            </a:extLst>
          </p:cNvPr>
          <p:cNvSpPr txBox="1"/>
          <p:nvPr/>
        </p:nvSpPr>
        <p:spPr>
          <a:xfrm>
            <a:off x="869901" y="3844162"/>
            <a:ext cx="10254099" cy="1998176"/>
          </a:xfrm>
          <a:prstGeom prst="rect">
            <a:avLst/>
          </a:prstGeom>
          <a:noFill/>
        </p:spPr>
        <p:txBody>
          <a:bodyPr wrap="square">
            <a:spAutoFit/>
          </a:bodyPr>
          <a:lstStyle/>
          <a:p>
            <a:pPr algn="ctr">
              <a:lnSpc>
                <a:spcPct val="150000"/>
              </a:lnSpc>
            </a:pPr>
            <a:r>
              <a:rPr lang="en-AU" sz="4400"/>
              <a:t>Record the </a:t>
            </a:r>
            <a:r>
              <a:rPr lang="en-AU" sz="4400" b="1"/>
              <a:t>percentage</a:t>
            </a:r>
            <a:r>
              <a:rPr lang="en-AU" sz="4400"/>
              <a:t>,</a:t>
            </a:r>
            <a:r>
              <a:rPr lang="en-AU" sz="4400" b="1"/>
              <a:t> fraction </a:t>
            </a:r>
            <a:r>
              <a:rPr lang="en-AU" sz="4400"/>
              <a:t>and </a:t>
            </a:r>
            <a:r>
              <a:rPr lang="en-AU" sz="4400" b="1"/>
              <a:t>decimal </a:t>
            </a:r>
            <a:r>
              <a:rPr lang="en-AU" sz="4400"/>
              <a:t>for each grid.</a:t>
            </a:r>
          </a:p>
        </p:txBody>
      </p:sp>
      <p:pic>
        <p:nvPicPr>
          <p:cNvPr id="9" name="Picture 8" descr="one hundred square shaded 50 per cent and the other hundred square shaded 10 per cent">
            <a:extLst>
              <a:ext uri="{FF2B5EF4-FFF2-40B4-BE49-F238E27FC236}">
                <a16:creationId xmlns:a16="http://schemas.microsoft.com/office/drawing/2014/main" id="{B0F9F8DC-7096-1D69-1B63-FE8F1A59EB81}"/>
              </a:ext>
            </a:extLst>
          </p:cNvPr>
          <p:cNvPicPr>
            <a:picLocks noChangeAspect="1"/>
          </p:cNvPicPr>
          <p:nvPr/>
        </p:nvPicPr>
        <p:blipFill>
          <a:blip r:embed="rId4"/>
          <a:stretch>
            <a:fillRect/>
          </a:stretch>
        </p:blipFill>
        <p:spPr>
          <a:xfrm>
            <a:off x="3333135" y="847928"/>
            <a:ext cx="5887851" cy="3096631"/>
          </a:xfrm>
          <a:prstGeom prst="rect">
            <a:avLst/>
          </a:prstGeom>
        </p:spPr>
      </p:pic>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32920521-6BB2-12D5-D8FB-6483ECA495B8}"/>
              </a:ext>
            </a:extLst>
          </p:cNvPr>
          <p:cNvSpPr txBox="1"/>
          <p:nvPr/>
        </p:nvSpPr>
        <p:spPr>
          <a:xfrm>
            <a:off x="1013500" y="1807690"/>
            <a:ext cx="10165000" cy="3013838"/>
          </a:xfrm>
          <a:prstGeom prst="rect">
            <a:avLst/>
          </a:prstGeom>
          <a:noFill/>
        </p:spPr>
        <p:txBody>
          <a:bodyPr wrap="square">
            <a:spAutoFit/>
          </a:bodyPr>
          <a:lstStyle/>
          <a:p>
            <a:pPr algn="ctr">
              <a:lnSpc>
                <a:spcPct val="150000"/>
              </a:lnSpc>
            </a:pPr>
            <a:r>
              <a:rPr lang="en-AU" sz="4400"/>
              <a:t>Daisy slept from </a:t>
            </a:r>
            <a:r>
              <a:rPr lang="en-AU" sz="4400" b="1"/>
              <a:t>20:30</a:t>
            </a:r>
            <a:r>
              <a:rPr lang="en-AU" sz="4400"/>
              <a:t> last night until </a:t>
            </a:r>
            <a:r>
              <a:rPr lang="en-AU" sz="4400" b="1"/>
              <a:t>6:45 am</a:t>
            </a:r>
            <a:r>
              <a:rPr lang="en-AU" sz="4400"/>
              <a:t>. </a:t>
            </a:r>
          </a:p>
          <a:p>
            <a:pPr algn="ctr">
              <a:lnSpc>
                <a:spcPct val="150000"/>
              </a:lnSpc>
            </a:pPr>
            <a:r>
              <a:rPr lang="en-AU" sz="4400" b="1"/>
              <a:t>How long </a:t>
            </a:r>
            <a:r>
              <a:rPr lang="en-AU" sz="4400"/>
              <a:t>did Daisy sleep for?</a:t>
            </a:r>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a:t>
            </a:r>
            <a:r>
              <a:rPr lang="en-AU">
                <a:latin typeface="Arial"/>
                <a:cs typeface="Arial"/>
              </a:rPr>
              <a:t>fraction chocolate box</a:t>
            </a:r>
            <a:endParaRPr lang="en-AU"/>
          </a:p>
        </p:txBody>
      </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32</a:t>
            </a:fld>
            <a:endParaRPr lang="en-AU"/>
          </a:p>
        </p:txBody>
      </p:sp>
      <p:pic>
        <p:nvPicPr>
          <p:cNvPr id="4" name="Picture 3" descr="image of a head with cogs turning inside">
            <a:extLst>
              <a:ext uri="{FF2B5EF4-FFF2-40B4-BE49-F238E27FC236}">
                <a16:creationId xmlns:a16="http://schemas.microsoft.com/office/drawing/2014/main" id="{A43A6869-C067-0F7B-A324-667A71E83728}"/>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5425386A-39EC-614D-13CF-8D0F6EA00D47}"/>
              </a:ext>
            </a:extLst>
          </p:cNvPr>
          <p:cNvSpPr txBox="1"/>
          <p:nvPr/>
        </p:nvSpPr>
        <p:spPr>
          <a:xfrm>
            <a:off x="176981" y="755681"/>
            <a:ext cx="11870640" cy="7478970"/>
          </a:xfrm>
          <a:prstGeom prst="rect">
            <a:avLst/>
          </a:prstGeom>
          <a:noFill/>
        </p:spPr>
        <p:txBody>
          <a:bodyPr wrap="square" lIns="91440" tIns="45720" rIns="91440" bIns="45720" anchor="t">
            <a:spAutoFit/>
          </a:bodyPr>
          <a:lstStyle/>
          <a:p>
            <a:pPr algn="ctr" rtl="0" fontAlgn="base">
              <a:lnSpc>
                <a:spcPct val="150000"/>
              </a:lnSpc>
            </a:pPr>
            <a:r>
              <a:rPr lang="en-AU" sz="3600" b="0" i="0">
                <a:solidFill>
                  <a:srgbClr val="000000"/>
                </a:solidFill>
                <a:effectLst/>
                <a:highlight>
                  <a:srgbClr val="FFFFFF"/>
                </a:highlight>
                <a:latin typeface="Arial" panose="020B0604020202020204" pitchFamily="34" charset="0"/>
                <a:cs typeface="Arial" panose="020B0604020202020204" pitchFamily="34" charset="0"/>
              </a:rPr>
              <a:t>I have a box of chocolates with </a:t>
            </a:r>
            <a:r>
              <a:rPr lang="en-AU" sz="3600" b="1" i="0">
                <a:solidFill>
                  <a:srgbClr val="000000"/>
                </a:solidFill>
                <a:effectLst/>
                <a:highlight>
                  <a:srgbClr val="FFFFFF"/>
                </a:highlight>
                <a:latin typeface="Arial" panose="020B0604020202020204" pitchFamily="34" charset="0"/>
                <a:cs typeface="Arial" panose="020B0604020202020204" pitchFamily="34" charset="0"/>
              </a:rPr>
              <a:t>4</a:t>
            </a:r>
            <a:r>
              <a:rPr lang="en-AU" sz="3600" b="0" i="0">
                <a:solidFill>
                  <a:srgbClr val="000000"/>
                </a:solidFill>
                <a:effectLst/>
                <a:highlight>
                  <a:srgbClr val="FFFFFF"/>
                </a:highlight>
                <a:latin typeface="Arial" panose="020B0604020202020204" pitchFamily="34" charset="0"/>
                <a:cs typeface="Arial" panose="020B0604020202020204" pitchFamily="34" charset="0"/>
              </a:rPr>
              <a:t> flavours. </a:t>
            </a:r>
          </a:p>
          <a:p>
            <a:pPr algn="ctr" rtl="0" fontAlgn="base">
              <a:lnSpc>
                <a:spcPct val="150000"/>
              </a:lnSpc>
            </a:pPr>
            <a:r>
              <a:rPr lang="en-AU" sz="3600" b="1" i="0">
                <a:solidFill>
                  <a:srgbClr val="000000"/>
                </a:solidFill>
                <a:effectLst/>
                <a:highlight>
                  <a:srgbClr val="FFFFFF"/>
                </a:highlight>
                <a:latin typeface="Arial" panose="020B0604020202020204" pitchFamily="34" charset="0"/>
                <a:cs typeface="Arial" panose="020B0604020202020204" pitchFamily="34" charset="0"/>
              </a:rPr>
              <a:t>A quarter </a:t>
            </a:r>
            <a:r>
              <a:rPr lang="en-AU" sz="3600" b="0" i="0">
                <a:solidFill>
                  <a:srgbClr val="000000"/>
                </a:solidFill>
                <a:effectLst/>
                <a:highlight>
                  <a:srgbClr val="FFFFFF"/>
                </a:highlight>
                <a:latin typeface="Arial" panose="020B0604020202020204" pitchFamily="34" charset="0"/>
                <a:cs typeface="Arial" panose="020B0604020202020204" pitchFamily="34" charset="0"/>
              </a:rPr>
              <a:t>of my chocolates are caramel, and </a:t>
            </a:r>
            <a:r>
              <a:rPr lang="en-AU" sz="3600" b="1" i="0">
                <a:solidFill>
                  <a:srgbClr val="000000"/>
                </a:solidFill>
                <a:effectLst/>
                <a:highlight>
                  <a:srgbClr val="FFFFFF"/>
                </a:highlight>
                <a:latin typeface="Arial" panose="020B0604020202020204" pitchFamily="34" charset="0"/>
                <a:cs typeface="Arial" panose="020B0604020202020204" pitchFamily="34" charset="0"/>
              </a:rPr>
              <a:t>one-fifth</a:t>
            </a:r>
            <a:r>
              <a:rPr lang="en-AU" sz="3600" b="0" i="0">
                <a:solidFill>
                  <a:srgbClr val="000000"/>
                </a:solidFill>
                <a:effectLst/>
                <a:highlight>
                  <a:srgbClr val="FFFFFF"/>
                </a:highlight>
                <a:latin typeface="Arial" panose="020B0604020202020204" pitchFamily="34" charset="0"/>
                <a:cs typeface="Arial" panose="020B0604020202020204" pitchFamily="34" charset="0"/>
              </a:rPr>
              <a:t> of my chocolates are Turkish delight. </a:t>
            </a:r>
            <a:endParaRPr lang="en-AU" sz="3600">
              <a:solidFill>
                <a:srgbClr val="000000"/>
              </a:solidFill>
              <a:highlight>
                <a:srgbClr val="FFFFFF"/>
              </a:highlight>
              <a:latin typeface="Arial" panose="020B0604020202020204" pitchFamily="34" charset="0"/>
              <a:cs typeface="Arial" panose="020B0604020202020204" pitchFamily="34" charset="0"/>
            </a:endParaRPr>
          </a:p>
          <a:p>
            <a:pPr marL="952485" lvl="1" indent="-342900">
              <a:lnSpc>
                <a:spcPct val="150000"/>
              </a:lnSpc>
              <a:spcBef>
                <a:spcPts val="1200"/>
              </a:spcBef>
              <a:spcAft>
                <a:spcPts val="600"/>
              </a:spcAft>
              <a:buFont typeface="Symbol" panose="05050102010706020507" pitchFamily="18" charset="2"/>
              <a:buChar char=""/>
              <a:tabLst>
                <a:tab pos="408305" algn="l"/>
              </a:tabLst>
            </a:pPr>
            <a:r>
              <a:rPr lang="en-AU" sz="3600">
                <a:effectLst/>
                <a:latin typeface="Arial" panose="020B0604020202020204" pitchFamily="34" charset="0"/>
                <a:ea typeface="Calibri" panose="020F0502020204030204" pitchFamily="34" charset="0"/>
              </a:rPr>
              <a:t>Two of my chocolates are peppermint. What </a:t>
            </a:r>
            <a:r>
              <a:rPr lang="en-AU" sz="3600" b="1">
                <a:effectLst/>
                <a:latin typeface="Arial" panose="020B0604020202020204" pitchFamily="34" charset="0"/>
                <a:ea typeface="Calibri" panose="020F0502020204030204" pitchFamily="34" charset="0"/>
              </a:rPr>
              <a:t>fraction</a:t>
            </a:r>
            <a:r>
              <a:rPr lang="en-AU" sz="3600">
                <a:effectLst/>
                <a:latin typeface="Arial" panose="020B0604020202020204" pitchFamily="34" charset="0"/>
                <a:ea typeface="Calibri" panose="020F0502020204030204" pitchFamily="34" charset="0"/>
              </a:rPr>
              <a:t> of the box would contain peppermint chocolates? </a:t>
            </a:r>
          </a:p>
          <a:p>
            <a:pPr marL="952485" lvl="1" indent="-342900">
              <a:lnSpc>
                <a:spcPct val="150000"/>
              </a:lnSpc>
              <a:spcBef>
                <a:spcPts val="1200"/>
              </a:spcBef>
              <a:spcAft>
                <a:spcPts val="600"/>
              </a:spcAft>
              <a:buFont typeface="Symbol" panose="05050102010706020507" pitchFamily="18" charset="2"/>
              <a:buChar char=""/>
              <a:tabLst>
                <a:tab pos="408305" algn="l"/>
              </a:tabLst>
            </a:pPr>
            <a:r>
              <a:rPr lang="en-AU" sz="3600" b="1">
                <a:effectLst/>
                <a:latin typeface="Arial" panose="020B0604020202020204" pitchFamily="34" charset="0"/>
                <a:ea typeface="Calibri" panose="020F0502020204030204" pitchFamily="34" charset="0"/>
              </a:rPr>
              <a:t>How many </a:t>
            </a:r>
            <a:r>
              <a:rPr lang="en-AU" sz="3600">
                <a:effectLst/>
                <a:latin typeface="Arial" panose="020B0604020202020204" pitchFamily="34" charset="0"/>
                <a:ea typeface="Calibri" panose="020F0502020204030204" pitchFamily="34" charset="0"/>
              </a:rPr>
              <a:t>white raspberry chocolates make up the box? </a:t>
            </a:r>
          </a:p>
          <a:p>
            <a:pPr marL="342900" indent="-342900" algn="ctr" rtl="0" fontAlgn="base">
              <a:buFont typeface="Arial" panose="020B0604020202020204" pitchFamily="34" charset="0"/>
              <a:buChar char="•"/>
            </a:pPr>
            <a:endParaRPr lang="en-AU" sz="3600" b="0" i="0">
              <a:solidFill>
                <a:srgbClr val="000000"/>
              </a:solidFill>
              <a:effectLst/>
              <a:highlight>
                <a:srgbClr val="FFFFFF"/>
              </a:highlight>
              <a:latin typeface="Segoe UI" panose="020B0502040204020203" pitchFamily="34" charset="0"/>
            </a:endParaRPr>
          </a:p>
          <a:p>
            <a:pPr marL="342900" indent="-342900" algn="ctr" rtl="0" fontAlgn="base">
              <a:buFont typeface="Arial" panose="020B0604020202020204" pitchFamily="34" charset="0"/>
              <a:buChar char="•"/>
            </a:pPr>
            <a:endParaRPr lang="en-AU" sz="3600" b="0" i="0">
              <a:solidFill>
                <a:srgbClr val="000000"/>
              </a:solidFill>
              <a:effectLst/>
              <a:highlight>
                <a:srgbClr val="FFFFFF"/>
              </a:highlight>
              <a:latin typeface="Arial"/>
              <a:cs typeface="Arial"/>
            </a:endParaRPr>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23581-4899-7018-B845-A84AEF9D238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4D7924B-4C87-4BC0-2FE5-A34517D6B786}"/>
              </a:ext>
            </a:extLst>
          </p:cNvPr>
          <p:cNvSpPr>
            <a:spLocks noGrp="1"/>
          </p:cNvSpPr>
          <p:nvPr>
            <p:ph type="title"/>
          </p:nvPr>
        </p:nvSpPr>
        <p:spPr>
          <a:xfrm>
            <a:off x="360000" y="360000"/>
            <a:ext cx="10367268" cy="545601"/>
          </a:xfrm>
        </p:spPr>
        <p:txBody>
          <a:bodyPr/>
          <a:lstStyle/>
          <a:p>
            <a:r>
              <a:rPr lang="en-AU"/>
              <a:t>Activity 4 – </a:t>
            </a:r>
            <a:r>
              <a:rPr lang="en-AU">
                <a:latin typeface="Arial"/>
                <a:cs typeface="Arial"/>
              </a:rPr>
              <a:t>fraction chocolate box </a:t>
            </a:r>
            <a:r>
              <a:rPr lang="en-AU">
                <a:solidFill>
                  <a:schemeClr val="bg1"/>
                </a:solidFill>
                <a:latin typeface="Arial"/>
                <a:cs typeface="Arial"/>
              </a:rPr>
              <a:t>(1)</a:t>
            </a:r>
            <a:endParaRPr lang="en-AU">
              <a:solidFill>
                <a:schemeClr val="bg1"/>
              </a:solidFill>
            </a:endParaRPr>
          </a:p>
        </p:txBody>
      </p:sp>
      <p:sp>
        <p:nvSpPr>
          <p:cNvPr id="2" name="Slide Number Placeholder 1">
            <a:extLst>
              <a:ext uri="{FF2B5EF4-FFF2-40B4-BE49-F238E27FC236}">
                <a16:creationId xmlns:a16="http://schemas.microsoft.com/office/drawing/2014/main" id="{4C628212-A4A8-03BE-E83B-39D6CB90A7F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pic>
        <p:nvPicPr>
          <p:cNvPr id="4" name="Picture 3" descr="image of a head with cogs turning inside">
            <a:extLst>
              <a:ext uri="{FF2B5EF4-FFF2-40B4-BE49-F238E27FC236}">
                <a16:creationId xmlns:a16="http://schemas.microsoft.com/office/drawing/2014/main" id="{6FBC440A-0773-FBE5-3601-CB64AD5076B3}"/>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3" name="Table 2" descr="A 4 by 5 blank table and some chocolates.">
            <a:extLst>
              <a:ext uri="{FF2B5EF4-FFF2-40B4-BE49-F238E27FC236}">
                <a16:creationId xmlns:a16="http://schemas.microsoft.com/office/drawing/2014/main" id="{4B673621-946A-074D-2A43-7FA739903813}"/>
              </a:ext>
            </a:extLst>
          </p:cNvPr>
          <p:cNvGraphicFramePr>
            <a:graphicFrameLocks noGrp="1"/>
          </p:cNvGraphicFramePr>
          <p:nvPr>
            <p:extLst>
              <p:ext uri="{D42A27DB-BD31-4B8C-83A1-F6EECF244321}">
                <p14:modId xmlns:p14="http://schemas.microsoft.com/office/powerpoint/2010/main" val="1593899320"/>
              </p:ext>
            </p:extLst>
          </p:nvPr>
        </p:nvGraphicFramePr>
        <p:xfrm>
          <a:off x="3349779" y="1007510"/>
          <a:ext cx="4481192" cy="5508490"/>
        </p:xfrm>
        <a:graphic>
          <a:graphicData uri="http://schemas.openxmlformats.org/drawingml/2006/table">
            <a:tbl>
              <a:tblPr firstRow="1"/>
              <a:tblGrid>
                <a:gridCol w="1120298">
                  <a:extLst>
                    <a:ext uri="{9D8B030D-6E8A-4147-A177-3AD203B41FA5}">
                      <a16:colId xmlns:a16="http://schemas.microsoft.com/office/drawing/2014/main" val="20000"/>
                    </a:ext>
                  </a:extLst>
                </a:gridCol>
                <a:gridCol w="1120298">
                  <a:extLst>
                    <a:ext uri="{9D8B030D-6E8A-4147-A177-3AD203B41FA5}">
                      <a16:colId xmlns:a16="http://schemas.microsoft.com/office/drawing/2014/main" val="20001"/>
                    </a:ext>
                  </a:extLst>
                </a:gridCol>
                <a:gridCol w="1120298">
                  <a:extLst>
                    <a:ext uri="{9D8B030D-6E8A-4147-A177-3AD203B41FA5}">
                      <a16:colId xmlns:a16="http://schemas.microsoft.com/office/drawing/2014/main" val="20002"/>
                    </a:ext>
                  </a:extLst>
                </a:gridCol>
                <a:gridCol w="1120298">
                  <a:extLst>
                    <a:ext uri="{9D8B030D-6E8A-4147-A177-3AD203B41FA5}">
                      <a16:colId xmlns:a16="http://schemas.microsoft.com/office/drawing/2014/main" val="20003"/>
                    </a:ext>
                  </a:extLst>
                </a:gridCol>
              </a:tblGrid>
              <a:tr h="1101698">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101698">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01698">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101698">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101698">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1960"/>
                        </a:lnSpc>
                        <a:defRPr/>
                      </a:pPr>
                      <a:endParaRPr lang="en-US" sz="1100"/>
                    </a:p>
                  </a:txBody>
                  <a:tcPr marL="161925" marR="161925" marT="161925" marB="161925"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Freeform 3" descr="A 4 by 5 blank table and some chocolates.">
            <a:extLst>
              <a:ext uri="{FF2B5EF4-FFF2-40B4-BE49-F238E27FC236}">
                <a16:creationId xmlns:a16="http://schemas.microsoft.com/office/drawing/2014/main" id="{146C919A-6EE6-D98B-0FAC-B1012F16DAFA}"/>
              </a:ext>
            </a:extLst>
          </p:cNvPr>
          <p:cNvSpPr/>
          <p:nvPr/>
        </p:nvSpPr>
        <p:spPr>
          <a:xfrm>
            <a:off x="8220540" y="4304883"/>
            <a:ext cx="1936377" cy="1589011"/>
          </a:xfrm>
          <a:custGeom>
            <a:avLst/>
            <a:gdLst/>
            <a:ahLst/>
            <a:cxnLst/>
            <a:rect l="l" t="t" r="r" b="b"/>
            <a:pathLst>
              <a:path w="2004729" h="1591254">
                <a:moveTo>
                  <a:pt x="0" y="0"/>
                </a:moveTo>
                <a:lnTo>
                  <a:pt x="2004729" y="0"/>
                </a:lnTo>
                <a:lnTo>
                  <a:pt x="2004729" y="1591254"/>
                </a:lnTo>
                <a:lnTo>
                  <a:pt x="0" y="1591254"/>
                </a:lnTo>
                <a:lnTo>
                  <a:pt x="0" y="0"/>
                </a:lnTo>
                <a:close/>
              </a:path>
            </a:pathLst>
          </a:custGeom>
          <a:blipFill>
            <a:blip r:embed="rId4"/>
            <a:stretch>
              <a:fillRect/>
            </a:stretch>
          </a:blipFill>
        </p:spPr>
        <p:txBody>
          <a:bodyPr/>
          <a:lstStyle/>
          <a:p>
            <a:endParaRPr lang="en-AU"/>
          </a:p>
        </p:txBody>
      </p:sp>
    </p:spTree>
    <p:extLst>
      <p:ext uri="{BB962C8B-B14F-4D97-AF65-F5344CB8AC3E}">
        <p14:creationId xmlns:p14="http://schemas.microsoft.com/office/powerpoint/2010/main" val="4193348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052C7F21-CF1B-B8E5-D48F-252B3A5306C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a:xfrm>
            <a:off x="474481" y="1136662"/>
            <a:ext cx="11243037" cy="893226"/>
          </a:xfrm>
        </p:spPr>
        <p:txBody>
          <a:bodyPr/>
          <a:lstStyle/>
          <a:p>
            <a:pPr algn="ctr"/>
            <a:r>
              <a:rPr lang="en-US" sz="6000" b="1"/>
              <a:t>25% </a:t>
            </a:r>
            <a:r>
              <a:rPr lang="en-US" sz="6000"/>
              <a:t>of </a:t>
            </a:r>
            <a:r>
              <a:rPr lang="en-US" sz="6000" b="1"/>
              <a:t>60</a:t>
            </a:r>
            <a:r>
              <a:rPr lang="en-US" sz="6000"/>
              <a:t> is:</a:t>
            </a:r>
          </a:p>
        </p:txBody>
      </p:sp>
      <p:sp>
        <p:nvSpPr>
          <p:cNvPr id="9" name="TextBox 8">
            <a:extLst>
              <a:ext uri="{FF2B5EF4-FFF2-40B4-BE49-F238E27FC236}">
                <a16:creationId xmlns:a16="http://schemas.microsoft.com/office/drawing/2014/main" id="{4E6EA9CC-6235-8807-420B-A4371AC418C0}"/>
              </a:ext>
            </a:extLst>
          </p:cNvPr>
          <p:cNvSpPr txBox="1"/>
          <p:nvPr/>
        </p:nvSpPr>
        <p:spPr>
          <a:xfrm>
            <a:off x="1416396" y="350145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Box 4">
            <a:extLst>
              <a:ext uri="{FF2B5EF4-FFF2-40B4-BE49-F238E27FC236}">
                <a16:creationId xmlns:a16="http://schemas.microsoft.com/office/drawing/2014/main" id="{46C6011D-0E3C-4E80-8C6F-991BEFC5D1BD}"/>
              </a:ext>
            </a:extLst>
          </p:cNvPr>
          <p:cNvSpPr txBox="1"/>
          <p:nvPr/>
        </p:nvSpPr>
        <p:spPr>
          <a:xfrm>
            <a:off x="1416396" y="4716191"/>
            <a:ext cx="957836"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12</a:t>
            </a:r>
          </a:p>
        </p:txBody>
      </p:sp>
      <p:sp>
        <p:nvSpPr>
          <p:cNvPr id="10" name="TextBox 9">
            <a:extLst>
              <a:ext uri="{FF2B5EF4-FFF2-40B4-BE49-F238E27FC236}">
                <a16:creationId xmlns:a16="http://schemas.microsoft.com/office/drawing/2014/main" id="{4AB24A3E-5574-D79C-6A0F-06D3F8A29BB1}"/>
              </a:ext>
            </a:extLst>
          </p:cNvPr>
          <p:cNvSpPr txBox="1"/>
          <p:nvPr/>
        </p:nvSpPr>
        <p:spPr>
          <a:xfrm>
            <a:off x="4420369" y="350145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6" name="TextBox 5">
            <a:extLst>
              <a:ext uri="{FF2B5EF4-FFF2-40B4-BE49-F238E27FC236}">
                <a16:creationId xmlns:a16="http://schemas.microsoft.com/office/drawing/2014/main" id="{C2602636-12CE-8523-A33E-AF34D9BFB477}"/>
              </a:ext>
            </a:extLst>
          </p:cNvPr>
          <p:cNvSpPr txBox="1"/>
          <p:nvPr/>
        </p:nvSpPr>
        <p:spPr>
          <a:xfrm>
            <a:off x="4420369" y="4716191"/>
            <a:ext cx="957836"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18</a:t>
            </a:r>
          </a:p>
        </p:txBody>
      </p:sp>
      <p:sp>
        <p:nvSpPr>
          <p:cNvPr id="12" name="TextBox 11">
            <a:extLst>
              <a:ext uri="{FF2B5EF4-FFF2-40B4-BE49-F238E27FC236}">
                <a16:creationId xmlns:a16="http://schemas.microsoft.com/office/drawing/2014/main" id="{D92289C6-858E-E449-16B6-10640E9A4385}"/>
              </a:ext>
            </a:extLst>
          </p:cNvPr>
          <p:cNvSpPr txBox="1"/>
          <p:nvPr/>
        </p:nvSpPr>
        <p:spPr>
          <a:xfrm>
            <a:off x="7424342" y="350145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8" name="TextBox 7">
            <a:extLst>
              <a:ext uri="{FF2B5EF4-FFF2-40B4-BE49-F238E27FC236}">
                <a16:creationId xmlns:a16="http://schemas.microsoft.com/office/drawing/2014/main" id="{7EBAF263-7EA9-19EE-32A2-748232C4090A}"/>
              </a:ext>
            </a:extLst>
          </p:cNvPr>
          <p:cNvSpPr txBox="1"/>
          <p:nvPr/>
        </p:nvSpPr>
        <p:spPr>
          <a:xfrm>
            <a:off x="7424342" y="4716191"/>
            <a:ext cx="957836"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15</a:t>
            </a:r>
          </a:p>
        </p:txBody>
      </p:sp>
      <p:sp>
        <p:nvSpPr>
          <p:cNvPr id="11" name="TextBox 10">
            <a:extLst>
              <a:ext uri="{FF2B5EF4-FFF2-40B4-BE49-F238E27FC236}">
                <a16:creationId xmlns:a16="http://schemas.microsoft.com/office/drawing/2014/main" id="{C22AC239-77AC-A298-F7CD-0F89091EC017}"/>
              </a:ext>
            </a:extLst>
          </p:cNvPr>
          <p:cNvSpPr txBox="1"/>
          <p:nvPr/>
        </p:nvSpPr>
        <p:spPr>
          <a:xfrm>
            <a:off x="10428316" y="350145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7" name="TextBox 6">
            <a:extLst>
              <a:ext uri="{FF2B5EF4-FFF2-40B4-BE49-F238E27FC236}">
                <a16:creationId xmlns:a16="http://schemas.microsoft.com/office/drawing/2014/main" id="{D7C56ADF-CC3F-F096-EC73-9ACD9F040BD5}"/>
              </a:ext>
            </a:extLst>
          </p:cNvPr>
          <p:cNvSpPr txBox="1"/>
          <p:nvPr/>
        </p:nvSpPr>
        <p:spPr>
          <a:xfrm>
            <a:off x="10428316" y="4716191"/>
            <a:ext cx="695684"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16</a:t>
            </a:r>
          </a:p>
        </p:txBody>
      </p:sp>
      <p:sp>
        <p:nvSpPr>
          <p:cNvPr id="2" name="Slide Number Placeholder 1">
            <a:extLst>
              <a:ext uri="{FF2B5EF4-FFF2-40B4-BE49-F238E27FC236}">
                <a16:creationId xmlns:a16="http://schemas.microsoft.com/office/drawing/2014/main" id="{29BCC904-C834-E490-B334-2E65478E2C62}"/>
              </a:ext>
            </a:extLst>
          </p:cNvPr>
          <p:cNvSpPr>
            <a:spLocks noGrp="1"/>
          </p:cNvSpPr>
          <p:nvPr>
            <p:ph type="sldNum" sz="quarter" idx="12"/>
          </p:nvPr>
        </p:nvSpPr>
        <p:spPr/>
        <p:txBody>
          <a:bodyPr/>
          <a:lstStyle/>
          <a:p>
            <a:fld id="{10A01DC5-1685-4615-8240-15192985C6A2}" type="slidenum">
              <a:rPr lang="en-AU" smtClean="0"/>
              <a:t>35</a:t>
            </a:fld>
            <a:endParaRPr lang="en-AU"/>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 Placeholder 5">
            <a:extLst>
              <a:ext uri="{FF2B5EF4-FFF2-40B4-BE49-F238E27FC236}">
                <a16:creationId xmlns:a16="http://schemas.microsoft.com/office/drawing/2014/main" id="{ACAF7A56-339E-CFBE-CB6E-DFA33A046AFC}"/>
              </a:ext>
            </a:extLst>
          </p:cNvPr>
          <p:cNvSpPr txBox="1">
            <a:spLocks/>
          </p:cNvSpPr>
          <p:nvPr/>
        </p:nvSpPr>
        <p:spPr>
          <a:xfrm>
            <a:off x="144379" y="1099268"/>
            <a:ext cx="11699621" cy="174259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AU" sz="3600"/>
              <a:t>A bag contains 30 marbles: 10 red, 10 blue and 10 green. Pria randomly selects a marble from the bag 30 times and records the results.</a:t>
            </a:r>
          </a:p>
          <a:p>
            <a:endParaRPr lang="en-AU" sz="3600"/>
          </a:p>
          <a:p>
            <a:pPr algn="ctr"/>
            <a:endParaRPr lang="en-AU" sz="3600"/>
          </a:p>
        </p:txBody>
      </p:sp>
      <p:graphicFrame>
        <p:nvGraphicFramePr>
          <p:cNvPr id="9" name="Table 8">
            <a:extLst>
              <a:ext uri="{FF2B5EF4-FFF2-40B4-BE49-F238E27FC236}">
                <a16:creationId xmlns:a16="http://schemas.microsoft.com/office/drawing/2014/main" id="{82416EAC-36D7-359E-801B-32B1C45D2F88}"/>
              </a:ext>
            </a:extLst>
          </p:cNvPr>
          <p:cNvGraphicFramePr>
            <a:graphicFrameLocks noGrp="1"/>
          </p:cNvGraphicFramePr>
          <p:nvPr>
            <p:extLst>
              <p:ext uri="{D42A27DB-BD31-4B8C-83A1-F6EECF244321}">
                <p14:modId xmlns:p14="http://schemas.microsoft.com/office/powerpoint/2010/main" val="1889658247"/>
              </p:ext>
            </p:extLst>
          </p:nvPr>
        </p:nvGraphicFramePr>
        <p:xfrm>
          <a:off x="360000" y="3206272"/>
          <a:ext cx="3214473" cy="2945319"/>
        </p:xfrm>
        <a:graphic>
          <a:graphicData uri="http://schemas.openxmlformats.org/drawingml/2006/table">
            <a:tbl>
              <a:tblPr firstRow="1" bandRow="1" bandCol="1">
                <a:tableStyleId>{72833802-FEF1-4C79-8D5D-14CF1EAF98D9}</a:tableStyleId>
              </a:tblPr>
              <a:tblGrid>
                <a:gridCol w="1337018">
                  <a:extLst>
                    <a:ext uri="{9D8B030D-6E8A-4147-A177-3AD203B41FA5}">
                      <a16:colId xmlns:a16="http://schemas.microsoft.com/office/drawing/2014/main" val="2890274787"/>
                    </a:ext>
                  </a:extLst>
                </a:gridCol>
                <a:gridCol w="1877455">
                  <a:extLst>
                    <a:ext uri="{9D8B030D-6E8A-4147-A177-3AD203B41FA5}">
                      <a16:colId xmlns:a16="http://schemas.microsoft.com/office/drawing/2014/main" val="176809357"/>
                    </a:ext>
                  </a:extLst>
                </a:gridCol>
              </a:tblGrid>
              <a:tr h="964870">
                <a:tc>
                  <a:txBody>
                    <a:bodyPr/>
                    <a:lstStyle/>
                    <a:p>
                      <a:pPr algn="ctr"/>
                      <a:r>
                        <a:rPr lang="en-AU" sz="2400"/>
                        <a:t>Colour of the marble</a:t>
                      </a:r>
                    </a:p>
                  </a:txBody>
                  <a:tcPr/>
                </a:tc>
                <a:tc>
                  <a:txBody>
                    <a:bodyPr/>
                    <a:lstStyle/>
                    <a:p>
                      <a:pPr algn="ctr"/>
                      <a:r>
                        <a:rPr lang="en-AU" sz="2400"/>
                        <a:t>Number of times randomly selected</a:t>
                      </a:r>
                    </a:p>
                  </a:txBody>
                  <a:tcPr/>
                </a:tc>
                <a:extLst>
                  <a:ext uri="{0D108BD9-81ED-4DB2-BD59-A6C34878D82A}">
                    <a16:rowId xmlns:a16="http://schemas.microsoft.com/office/drawing/2014/main" val="4142431059"/>
                  </a:ext>
                </a:extLst>
              </a:tr>
              <a:tr h="463613">
                <a:tc>
                  <a:txBody>
                    <a:bodyPr/>
                    <a:lstStyle/>
                    <a:p>
                      <a:pPr algn="ctr"/>
                      <a:r>
                        <a:rPr lang="en-AU" sz="2400"/>
                        <a:t>Red</a:t>
                      </a:r>
                    </a:p>
                  </a:txBody>
                  <a:tcPr/>
                </a:tc>
                <a:tc>
                  <a:txBody>
                    <a:bodyPr/>
                    <a:lstStyle/>
                    <a:p>
                      <a:pPr algn="ctr"/>
                      <a:r>
                        <a:rPr lang="en-AU" sz="2400"/>
                        <a:t>12</a:t>
                      </a:r>
                    </a:p>
                  </a:txBody>
                  <a:tcPr/>
                </a:tc>
                <a:extLst>
                  <a:ext uri="{0D108BD9-81ED-4DB2-BD59-A6C34878D82A}">
                    <a16:rowId xmlns:a16="http://schemas.microsoft.com/office/drawing/2014/main" val="962620204"/>
                  </a:ext>
                </a:extLst>
              </a:tr>
              <a:tr h="463613">
                <a:tc>
                  <a:txBody>
                    <a:bodyPr/>
                    <a:lstStyle/>
                    <a:p>
                      <a:pPr algn="ctr"/>
                      <a:r>
                        <a:rPr lang="en-AU" sz="2400"/>
                        <a:t>Blue</a:t>
                      </a:r>
                    </a:p>
                  </a:txBody>
                  <a:tcPr/>
                </a:tc>
                <a:tc>
                  <a:txBody>
                    <a:bodyPr/>
                    <a:lstStyle/>
                    <a:p>
                      <a:pPr algn="ctr"/>
                      <a:r>
                        <a:rPr lang="en-AU" sz="2400"/>
                        <a:t>8</a:t>
                      </a:r>
                    </a:p>
                  </a:txBody>
                  <a:tcPr/>
                </a:tc>
                <a:extLst>
                  <a:ext uri="{0D108BD9-81ED-4DB2-BD59-A6C34878D82A}">
                    <a16:rowId xmlns:a16="http://schemas.microsoft.com/office/drawing/2014/main" val="230788543"/>
                  </a:ext>
                </a:extLst>
              </a:tr>
              <a:tr h="463613">
                <a:tc>
                  <a:txBody>
                    <a:bodyPr/>
                    <a:lstStyle/>
                    <a:p>
                      <a:pPr algn="ctr"/>
                      <a:r>
                        <a:rPr lang="en-AU" sz="2400"/>
                        <a:t>Green</a:t>
                      </a:r>
                    </a:p>
                  </a:txBody>
                  <a:tcPr/>
                </a:tc>
                <a:tc>
                  <a:txBody>
                    <a:bodyPr/>
                    <a:lstStyle/>
                    <a:p>
                      <a:pPr algn="ctr"/>
                      <a:r>
                        <a:rPr lang="en-AU" sz="2400"/>
                        <a:t>10</a:t>
                      </a:r>
                    </a:p>
                  </a:txBody>
                  <a:tcPr/>
                </a:tc>
                <a:extLst>
                  <a:ext uri="{0D108BD9-81ED-4DB2-BD59-A6C34878D82A}">
                    <a16:rowId xmlns:a16="http://schemas.microsoft.com/office/drawing/2014/main" val="4108252901"/>
                  </a:ext>
                </a:extLst>
              </a:tr>
            </a:tbl>
          </a:graphicData>
        </a:graphic>
      </p:graphicFrame>
      <p:sp>
        <p:nvSpPr>
          <p:cNvPr id="10" name="Text Placeholder 5">
            <a:extLst>
              <a:ext uri="{FF2B5EF4-FFF2-40B4-BE49-F238E27FC236}">
                <a16:creationId xmlns:a16="http://schemas.microsoft.com/office/drawing/2014/main" id="{EC34A9B2-3B3A-79B6-D43D-61EE1F11BAC4}"/>
              </a:ext>
            </a:extLst>
          </p:cNvPr>
          <p:cNvSpPr txBox="1">
            <a:spLocks/>
          </p:cNvSpPr>
          <p:nvPr/>
        </p:nvSpPr>
        <p:spPr>
          <a:xfrm>
            <a:off x="4770586" y="3672409"/>
            <a:ext cx="6475346" cy="2470424"/>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AU" sz="3600"/>
              <a:t>What is the </a:t>
            </a:r>
            <a:r>
              <a:rPr lang="en-AU" sz="3600" b="1"/>
              <a:t>expected frequency </a:t>
            </a:r>
            <a:r>
              <a:rPr lang="en-AU" sz="3600"/>
              <a:t>for each colour of marble if the selection is</a:t>
            </a:r>
            <a:r>
              <a:rPr lang="en-AU" sz="3600" b="1"/>
              <a:t> fair?</a:t>
            </a:r>
          </a:p>
          <a:p>
            <a:endParaRPr lang="en-AU" sz="3600"/>
          </a:p>
          <a:p>
            <a:pPr algn="ctr"/>
            <a:endParaRPr lang="en-AU" sz="3600"/>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26250" y="46189"/>
            <a:ext cx="915500" cy="915500"/>
          </a:xfrm>
          <a:prstGeom prst="rect">
            <a:avLst/>
          </a:prstGeom>
        </p:spPr>
      </p:pic>
      <p:sp>
        <p:nvSpPr>
          <p:cNvPr id="4" name="Text Placeholder 17">
            <a:extLst>
              <a:ext uri="{FF2B5EF4-FFF2-40B4-BE49-F238E27FC236}">
                <a16:creationId xmlns:a16="http://schemas.microsoft.com/office/drawing/2014/main" id="{E145C712-C922-CE0D-C014-7B16196AF385}"/>
              </a:ext>
            </a:extLst>
          </p:cNvPr>
          <p:cNvSpPr txBox="1">
            <a:spLocks/>
          </p:cNvSpPr>
          <p:nvPr/>
        </p:nvSpPr>
        <p:spPr>
          <a:xfrm>
            <a:off x="359999" y="838583"/>
            <a:ext cx="10850305" cy="128518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a:t>Find the </a:t>
            </a:r>
            <a:r>
              <a:rPr lang="en-US" sz="4000" b="1"/>
              <a:t>areas</a:t>
            </a:r>
            <a:r>
              <a:rPr lang="en-US" sz="4000"/>
              <a:t> of these </a:t>
            </a:r>
            <a:r>
              <a:rPr lang="en-US" sz="4000" b="1"/>
              <a:t>triangles</a:t>
            </a:r>
            <a:r>
              <a:rPr lang="en-US" sz="4000"/>
              <a:t>:</a:t>
            </a:r>
          </a:p>
          <a:p>
            <a:pPr algn="ctr"/>
            <a:endParaRPr lang="en-US" sz="4000"/>
          </a:p>
        </p:txBody>
      </p:sp>
      <p:sp>
        <p:nvSpPr>
          <p:cNvPr id="8" name="TextBox 7">
            <a:extLst>
              <a:ext uri="{FF2B5EF4-FFF2-40B4-BE49-F238E27FC236}">
                <a16:creationId xmlns:a16="http://schemas.microsoft.com/office/drawing/2014/main" id="{176633B8-8767-A180-973F-EA62C4F62642}"/>
              </a:ext>
            </a:extLst>
          </p:cNvPr>
          <p:cNvSpPr txBox="1"/>
          <p:nvPr/>
        </p:nvSpPr>
        <p:spPr>
          <a:xfrm>
            <a:off x="1332924" y="6141740"/>
            <a:ext cx="2288197" cy="356260"/>
          </a:xfrm>
          <a:prstGeom prst="rect">
            <a:avLst/>
          </a:prstGeom>
          <a:noFill/>
        </p:spPr>
        <p:txBody>
          <a:bodyPr wrap="square" lIns="0" tIns="0" rIns="0" bIns="0" rtlCol="0">
            <a:noAutofit/>
          </a:bodyPr>
          <a:lstStyle/>
          <a:p>
            <a:pPr algn="l"/>
            <a:r>
              <a:rPr lang="en-AU" sz="2800"/>
              <a:t>Height – 4 cm</a:t>
            </a:r>
          </a:p>
        </p:txBody>
      </p:sp>
      <p:sp>
        <p:nvSpPr>
          <p:cNvPr id="10" name="TextBox 9">
            <a:extLst>
              <a:ext uri="{FF2B5EF4-FFF2-40B4-BE49-F238E27FC236}">
                <a16:creationId xmlns:a16="http://schemas.microsoft.com/office/drawing/2014/main" id="{B3B35F11-4FDD-838C-E152-75FB0337EBD5}"/>
              </a:ext>
            </a:extLst>
          </p:cNvPr>
          <p:cNvSpPr txBox="1"/>
          <p:nvPr/>
        </p:nvSpPr>
        <p:spPr>
          <a:xfrm>
            <a:off x="1389493" y="5530741"/>
            <a:ext cx="2252572" cy="356260"/>
          </a:xfrm>
          <a:prstGeom prst="rect">
            <a:avLst/>
          </a:prstGeom>
          <a:noFill/>
        </p:spPr>
        <p:txBody>
          <a:bodyPr wrap="square" lIns="0" tIns="0" rIns="0" bIns="0" rtlCol="0">
            <a:noAutofit/>
          </a:bodyPr>
          <a:lstStyle/>
          <a:p>
            <a:pPr algn="l"/>
            <a:r>
              <a:rPr lang="en-AU" sz="2800"/>
              <a:t>Base – 6 cm</a:t>
            </a:r>
          </a:p>
        </p:txBody>
      </p:sp>
      <p:sp>
        <p:nvSpPr>
          <p:cNvPr id="9" name="TextBox 8">
            <a:extLst>
              <a:ext uri="{FF2B5EF4-FFF2-40B4-BE49-F238E27FC236}">
                <a16:creationId xmlns:a16="http://schemas.microsoft.com/office/drawing/2014/main" id="{28C4643E-6533-832D-29B2-CA88075D6E9C}"/>
              </a:ext>
            </a:extLst>
          </p:cNvPr>
          <p:cNvSpPr txBox="1"/>
          <p:nvPr/>
        </p:nvSpPr>
        <p:spPr>
          <a:xfrm>
            <a:off x="7637814" y="5708871"/>
            <a:ext cx="2288197" cy="356260"/>
          </a:xfrm>
          <a:prstGeom prst="rect">
            <a:avLst/>
          </a:prstGeom>
          <a:noFill/>
        </p:spPr>
        <p:txBody>
          <a:bodyPr wrap="square" lIns="0" tIns="0" rIns="0" bIns="0" rtlCol="0">
            <a:noAutofit/>
          </a:bodyPr>
          <a:lstStyle/>
          <a:p>
            <a:pPr algn="l"/>
            <a:r>
              <a:rPr lang="en-AU" sz="2800"/>
              <a:t>Height – 6 cm</a:t>
            </a:r>
          </a:p>
        </p:txBody>
      </p:sp>
      <p:sp>
        <p:nvSpPr>
          <p:cNvPr id="11" name="TextBox 10">
            <a:extLst>
              <a:ext uri="{FF2B5EF4-FFF2-40B4-BE49-F238E27FC236}">
                <a16:creationId xmlns:a16="http://schemas.microsoft.com/office/drawing/2014/main" id="{BF070E13-923B-1086-3769-7754FA34D07D}"/>
              </a:ext>
            </a:extLst>
          </p:cNvPr>
          <p:cNvSpPr txBox="1"/>
          <p:nvPr/>
        </p:nvSpPr>
        <p:spPr>
          <a:xfrm>
            <a:off x="7673439" y="6161610"/>
            <a:ext cx="2252572" cy="356260"/>
          </a:xfrm>
          <a:prstGeom prst="rect">
            <a:avLst/>
          </a:prstGeom>
          <a:noFill/>
        </p:spPr>
        <p:txBody>
          <a:bodyPr wrap="square" lIns="0" tIns="0" rIns="0" bIns="0" rtlCol="0">
            <a:noAutofit/>
          </a:bodyPr>
          <a:lstStyle/>
          <a:p>
            <a:pPr algn="l"/>
            <a:r>
              <a:rPr lang="en-AU" sz="2800"/>
              <a:t>Base – 8 cm</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37</a:t>
            </a:fld>
            <a:endParaRPr lang="en-AU"/>
          </a:p>
        </p:txBody>
      </p:sp>
      <p:pic>
        <p:nvPicPr>
          <p:cNvPr id="13" name="Picture 12" descr="triangle with a base of 6cm and a height of 4 cm">
            <a:extLst>
              <a:ext uri="{FF2B5EF4-FFF2-40B4-BE49-F238E27FC236}">
                <a16:creationId xmlns:a16="http://schemas.microsoft.com/office/drawing/2014/main" id="{69B54F0A-6297-D4BD-4A68-3C9BCDA80AB8}"/>
              </a:ext>
            </a:extLst>
          </p:cNvPr>
          <p:cNvPicPr>
            <a:picLocks noChangeAspect="1"/>
          </p:cNvPicPr>
          <p:nvPr/>
        </p:nvPicPr>
        <p:blipFill>
          <a:blip r:embed="rId4"/>
          <a:stretch>
            <a:fillRect/>
          </a:stretch>
        </p:blipFill>
        <p:spPr>
          <a:xfrm>
            <a:off x="495185" y="2450648"/>
            <a:ext cx="4041189" cy="2996054"/>
          </a:xfrm>
          <a:prstGeom prst="rect">
            <a:avLst/>
          </a:prstGeom>
        </p:spPr>
      </p:pic>
      <p:pic>
        <p:nvPicPr>
          <p:cNvPr id="15" name="Picture 14" descr="triangle with a base of 8 cm and a height of 6 cm">
            <a:extLst>
              <a:ext uri="{FF2B5EF4-FFF2-40B4-BE49-F238E27FC236}">
                <a16:creationId xmlns:a16="http://schemas.microsoft.com/office/drawing/2014/main" id="{39CBE6D0-EE3B-A62E-77D3-07161EF8388D}"/>
              </a:ext>
            </a:extLst>
          </p:cNvPr>
          <p:cNvPicPr>
            <a:picLocks noChangeAspect="1"/>
          </p:cNvPicPr>
          <p:nvPr/>
        </p:nvPicPr>
        <p:blipFill>
          <a:blip r:embed="rId5"/>
          <a:stretch>
            <a:fillRect/>
          </a:stretch>
        </p:blipFill>
        <p:spPr>
          <a:xfrm>
            <a:off x="7186477" y="2333882"/>
            <a:ext cx="3540791" cy="2996054"/>
          </a:xfrm>
          <a:prstGeom prst="rect">
            <a:avLst/>
          </a:prstGeom>
        </p:spPr>
      </p:pic>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descr="image of a clipboard with a pencil recording short answer responses">
            <a:extLst>
              <a:ext uri="{FF2B5EF4-FFF2-40B4-BE49-F238E27FC236}">
                <a16:creationId xmlns:a16="http://schemas.microsoft.com/office/drawing/2014/main" id="{B38D0ADF-3DD6-732F-15F0-9E23C650943F}"/>
              </a:ext>
            </a:extLst>
          </p:cNvPr>
          <p:cNvPicPr>
            <a:picLocks noChangeAspect="1"/>
          </p:cNvPicPr>
          <p:nvPr/>
        </p:nvPicPr>
        <p:blipFill>
          <a:blip r:embed="rId3"/>
          <a:stretch>
            <a:fillRect/>
          </a:stretch>
        </p:blipFill>
        <p:spPr>
          <a:xfrm>
            <a:off x="11026250" y="105714"/>
            <a:ext cx="915500" cy="91550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F06885B-0745-410D-BF29-975AB6EF472B}"/>
                  </a:ext>
                </a:extLst>
              </p:cNvPr>
              <p:cNvSpPr txBox="1"/>
              <p:nvPr/>
            </p:nvSpPr>
            <p:spPr>
              <a:xfrm>
                <a:off x="898303" y="1021214"/>
                <a:ext cx="9865178" cy="15434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14:m>
                  <m:oMath xmlns:m="http://schemas.openxmlformats.org/officeDocument/2006/math">
                    <m:f>
                      <m:fPr>
                        <m:ctrlPr>
                          <a:rPr lang="en-AU" sz="4000" b="1" i="1" smtClean="0">
                            <a:latin typeface="Cambria Math" panose="02040503050406030204" pitchFamily="18" charset="0"/>
                          </a:rPr>
                        </m:ctrlPr>
                      </m:fPr>
                      <m:num>
                        <m:r>
                          <a:rPr lang="en-AU" sz="4000" b="1" i="1" smtClean="0">
                            <a:latin typeface="Cambria Math" panose="02040503050406030204" pitchFamily="18" charset="0"/>
                          </a:rPr>
                          <m:t>𝟓</m:t>
                        </m:r>
                      </m:num>
                      <m:den>
                        <m:r>
                          <a:rPr lang="en-AU" sz="4000" b="1" i="1" smtClean="0">
                            <a:latin typeface="Cambria Math" panose="02040503050406030204" pitchFamily="18" charset="0"/>
                          </a:rPr>
                          <m:t>𝟖</m:t>
                        </m:r>
                      </m:den>
                    </m:f>
                  </m:oMath>
                </a14:m>
                <a:r>
                  <a:rPr lang="en-US" sz="4000" b="1">
                    <a:cs typeface="Arial"/>
                  </a:rPr>
                  <a:t>  </a:t>
                </a:r>
                <a:r>
                  <a:rPr lang="en-US" sz="4000">
                    <a:cs typeface="Arial"/>
                  </a:rPr>
                  <a:t>of the triangle is green and  </a:t>
                </a:r>
                <a14:m>
                  <m:oMath xmlns:m="http://schemas.openxmlformats.org/officeDocument/2006/math">
                    <m:f>
                      <m:fPr>
                        <m:ctrlPr>
                          <a:rPr lang="en-AU" sz="4000" b="1" i="1">
                            <a:latin typeface="Cambria Math" panose="02040503050406030204" pitchFamily="18" charset="0"/>
                          </a:rPr>
                        </m:ctrlPr>
                      </m:fPr>
                      <m:num>
                        <m:r>
                          <a:rPr lang="en-AU" sz="4000" b="1" i="1" smtClean="0">
                            <a:latin typeface="Cambria Math" panose="02040503050406030204" pitchFamily="18" charset="0"/>
                          </a:rPr>
                          <m:t>𝟑</m:t>
                        </m:r>
                      </m:num>
                      <m:den>
                        <m:r>
                          <a:rPr lang="en-AU" sz="4000" b="1" i="1" smtClean="0">
                            <a:latin typeface="Cambria Math" panose="02040503050406030204" pitchFamily="18" charset="0"/>
                          </a:rPr>
                          <m:t>𝟖</m:t>
                        </m:r>
                      </m:den>
                    </m:f>
                  </m:oMath>
                </a14:m>
                <a:r>
                  <a:rPr lang="en-US" sz="4000" b="1">
                    <a:cs typeface="Arial"/>
                  </a:rPr>
                  <a:t>  </a:t>
                </a:r>
                <a:r>
                  <a:rPr lang="en-US" sz="4000">
                    <a:cs typeface="Arial"/>
                  </a:rPr>
                  <a:t>is purple. Do you agree? </a:t>
                </a:r>
                <a:endParaRPr lang="en-US" sz="4400">
                  <a:cs typeface="Arial"/>
                </a:endParaRPr>
              </a:p>
            </p:txBody>
          </p:sp>
        </mc:Choice>
        <mc:Fallback xmlns="">
          <p:sp>
            <p:nvSpPr>
              <p:cNvPr id="5" name="TextBox 4">
                <a:extLst>
                  <a:ext uri="{FF2B5EF4-FFF2-40B4-BE49-F238E27FC236}">
                    <a16:creationId xmlns:a16="http://schemas.microsoft.com/office/drawing/2014/main" id="{BF06885B-0745-410D-BF29-975AB6EF472B}"/>
                  </a:ext>
                </a:extLst>
              </p:cNvPr>
              <p:cNvSpPr txBox="1">
                <a:spLocks noRot="1" noChangeAspect="1" noMove="1" noResize="1" noEditPoints="1" noAdjustHandles="1" noChangeArrowheads="1" noChangeShapeType="1" noTextEdit="1"/>
              </p:cNvSpPr>
              <p:nvPr/>
            </p:nvSpPr>
            <p:spPr>
              <a:xfrm>
                <a:off x="898303" y="1021214"/>
                <a:ext cx="9865178" cy="1543499"/>
              </a:xfrm>
              <a:prstGeom prst="rect">
                <a:avLst/>
              </a:prstGeom>
              <a:blipFill>
                <a:blip r:embed="rId4"/>
                <a:stretch>
                  <a:fillRect t="-1186" r="-2038" b="-16996"/>
                </a:stretch>
              </a:blipFill>
            </p:spPr>
            <p:txBody>
              <a:bodyPr/>
              <a:lstStyle/>
              <a:p>
                <a:r>
                  <a:rPr lang="en-AU">
                    <a:noFill/>
                  </a:rPr>
                  <a:t> </a:t>
                </a:r>
              </a:p>
            </p:txBody>
          </p:sp>
        </mc:Fallback>
      </mc:AlternateContent>
      <p:pic>
        <p:nvPicPr>
          <p:cNvPr id="20" name="Picture 19" descr="A triangle made of 10 smaller green triangles and 6 smaller purple triangles in the shape of a hexagon.">
            <a:extLst>
              <a:ext uri="{FF2B5EF4-FFF2-40B4-BE49-F238E27FC236}">
                <a16:creationId xmlns:a16="http://schemas.microsoft.com/office/drawing/2014/main" id="{E2A581E6-A685-AC73-B096-4B46E903B59E}"/>
              </a:ext>
            </a:extLst>
          </p:cNvPr>
          <p:cNvPicPr>
            <a:picLocks noChangeAspect="1"/>
          </p:cNvPicPr>
          <p:nvPr/>
        </p:nvPicPr>
        <p:blipFill>
          <a:blip r:embed="rId5"/>
          <a:stretch>
            <a:fillRect/>
          </a:stretch>
        </p:blipFill>
        <p:spPr>
          <a:xfrm>
            <a:off x="4001281" y="2526050"/>
            <a:ext cx="4014817" cy="3476032"/>
          </a:xfrm>
          <a:prstGeom prst="rect">
            <a:avLst/>
          </a:prstGeom>
        </p:spPr>
      </p:pic>
      <p:sp>
        <p:nvSpPr>
          <p:cNvPr id="22" name="TextBox 21">
            <a:extLst>
              <a:ext uri="{FF2B5EF4-FFF2-40B4-BE49-F238E27FC236}">
                <a16:creationId xmlns:a16="http://schemas.microsoft.com/office/drawing/2014/main" id="{4F780125-06E2-69F9-ED98-77447B4C9EF8}"/>
              </a:ext>
            </a:extLst>
          </p:cNvPr>
          <p:cNvSpPr txBox="1"/>
          <p:nvPr/>
        </p:nvSpPr>
        <p:spPr>
          <a:xfrm>
            <a:off x="3372611" y="5990447"/>
            <a:ext cx="5446778"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4000">
                <a:cs typeface="Arial"/>
              </a:rPr>
              <a:t>Explain your thinking.</a:t>
            </a:r>
            <a:endParaRPr lang="en-US" sz="4400">
              <a:cs typeface="Arial"/>
            </a:endParaRP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38</a:t>
            </a:fld>
            <a:endParaRPr lang="en-AU"/>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39</a:t>
            </a:fld>
            <a:endParaRPr lang="en-AU"/>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17">
            <a:extLst>
              <a:ext uri="{FF2B5EF4-FFF2-40B4-BE49-F238E27FC236}">
                <a16:creationId xmlns:a16="http://schemas.microsoft.com/office/drawing/2014/main" id="{93326408-60E4-0302-F077-C1ABDF9215CF}"/>
              </a:ext>
            </a:extLst>
          </p:cNvPr>
          <p:cNvSpPr txBox="1">
            <a:spLocks/>
          </p:cNvSpPr>
          <p:nvPr/>
        </p:nvSpPr>
        <p:spPr>
          <a:xfrm>
            <a:off x="418287" y="1128286"/>
            <a:ext cx="11355425" cy="5511777"/>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Riccardo made a pizza base using </a:t>
            </a:r>
            <a:r>
              <a:rPr lang="en-US" sz="4400" b="1"/>
              <a:t>512 g</a:t>
            </a:r>
            <a:r>
              <a:rPr lang="en-US" sz="4400"/>
              <a:t> of flour, </a:t>
            </a:r>
            <a:r>
              <a:rPr lang="en-US" sz="4400" b="1"/>
              <a:t>15 g</a:t>
            </a:r>
            <a:r>
              <a:rPr lang="en-US" sz="4400"/>
              <a:t> of salt, </a:t>
            </a:r>
            <a:r>
              <a:rPr lang="en-US" sz="4400" b="1"/>
              <a:t>4 g</a:t>
            </a:r>
            <a:r>
              <a:rPr lang="en-US" sz="4400"/>
              <a:t> of instant yeast and </a:t>
            </a:r>
            <a:r>
              <a:rPr lang="en-US" sz="4400" b="1"/>
              <a:t>480 g</a:t>
            </a:r>
            <a:r>
              <a:rPr lang="en-US" sz="4400"/>
              <a:t> of lukewarm water. What is the </a:t>
            </a:r>
            <a:r>
              <a:rPr lang="en-US" sz="4400" b="1"/>
              <a:t>total mass</a:t>
            </a:r>
            <a:r>
              <a:rPr lang="en-US" sz="4400"/>
              <a:t> of Riccardo’s ingredients. Answer in </a:t>
            </a:r>
            <a:r>
              <a:rPr lang="en-US" sz="4400" b="1"/>
              <a:t>grams</a:t>
            </a:r>
            <a:r>
              <a:rPr lang="en-US" sz="4400"/>
              <a:t> and </a:t>
            </a:r>
            <a:r>
              <a:rPr lang="en-US" sz="4400" b="1"/>
              <a:t>kilograms</a:t>
            </a:r>
            <a:r>
              <a:rPr lang="en-US" sz="4400"/>
              <a:t>.</a:t>
            </a:r>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a:t>
            </a:r>
            <a:r>
              <a:rPr lang="en-AU">
                <a:latin typeface="Arial"/>
                <a:cs typeface="Arial"/>
              </a:rPr>
              <a:t>determining percentages</a:t>
            </a:r>
            <a:endParaRPr lang="en-AU"/>
          </a:p>
        </p:txBody>
      </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pic>
        <p:nvPicPr>
          <p:cNvPr id="4" name="Picture 3" descr="image of a head with cogs turning inside">
            <a:extLst>
              <a:ext uri="{FF2B5EF4-FFF2-40B4-BE49-F238E27FC236}">
                <a16:creationId xmlns:a16="http://schemas.microsoft.com/office/drawing/2014/main" id="{310F3533-70A3-049C-FD4D-BE7CFB970246}"/>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7" name="Picture 6" descr="A number line from 0 to 1 marked in tenths using decimal number and one quarter and three quarters marked.">
            <a:extLst>
              <a:ext uri="{FF2B5EF4-FFF2-40B4-BE49-F238E27FC236}">
                <a16:creationId xmlns:a16="http://schemas.microsoft.com/office/drawing/2014/main" id="{0CF7C81F-7A9F-9B29-0738-F3DB17509571}"/>
              </a:ext>
            </a:extLst>
          </p:cNvPr>
          <p:cNvPicPr>
            <a:picLocks noChangeAspect="1"/>
          </p:cNvPicPr>
          <p:nvPr/>
        </p:nvPicPr>
        <p:blipFill>
          <a:blip r:embed="rId4"/>
          <a:stretch>
            <a:fillRect/>
          </a:stretch>
        </p:blipFill>
        <p:spPr>
          <a:xfrm>
            <a:off x="271635" y="1613872"/>
            <a:ext cx="11648729" cy="3630255"/>
          </a:xfrm>
          <a:prstGeom prst="rect">
            <a:avLst/>
          </a:prstGeom>
        </p:spPr>
      </p:pic>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360001" y="1265091"/>
            <a:ext cx="11243037" cy="3116175"/>
          </a:xfrm>
        </p:spPr>
        <p:txBody>
          <a:bodyPr/>
          <a:lstStyle/>
          <a:p>
            <a:pPr algn="ctr"/>
            <a:r>
              <a:rPr lang="en-AU" sz="4400"/>
              <a:t>In the half-yearly sales, Tim will get a </a:t>
            </a:r>
            <a:r>
              <a:rPr lang="en-AU" sz="4400" b="1"/>
              <a:t>25% discount</a:t>
            </a:r>
            <a:r>
              <a:rPr lang="en-AU" sz="4400"/>
              <a:t> on the drum kit he wants. The </a:t>
            </a:r>
            <a:r>
              <a:rPr lang="en-AU" sz="4400" b="1"/>
              <a:t>original price is $400</a:t>
            </a:r>
            <a:r>
              <a:rPr lang="en-AU" sz="4400"/>
              <a:t>. The </a:t>
            </a:r>
            <a:r>
              <a:rPr lang="en-AU" sz="4400" b="1"/>
              <a:t>discount is $25</a:t>
            </a:r>
            <a:r>
              <a:rPr lang="en-AU" sz="4400"/>
              <a:t>.</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2744842867"/>
              </p:ext>
            </p:extLst>
          </p:nvPr>
        </p:nvGraphicFramePr>
        <p:xfrm>
          <a:off x="2442980" y="474075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DD7F305F-4DA6-37EC-D1B7-85EBA549092D}"/>
              </a:ext>
            </a:extLst>
          </p:cNvPr>
          <p:cNvSpPr>
            <a:spLocks noGrp="1"/>
          </p:cNvSpPr>
          <p:nvPr>
            <p:ph type="sldNum" sz="quarter" idx="12"/>
          </p:nvPr>
        </p:nvSpPr>
        <p:spPr/>
        <p:txBody>
          <a:bodyPr/>
          <a:lstStyle/>
          <a:p>
            <a:fld id="{10A01DC5-1685-4615-8240-15192985C6A2}" type="slidenum">
              <a:rPr lang="en-AU" smtClean="0"/>
              <a:t>42</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737E6-E669-46F1-2353-5CAD5B9DB2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4E94122-537D-C135-545B-F1790A0DD96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descr="image of a clipboard with a pencil recording short answer responses">
            <a:extLst>
              <a:ext uri="{FF2B5EF4-FFF2-40B4-BE49-F238E27FC236}">
                <a16:creationId xmlns:a16="http://schemas.microsoft.com/office/drawing/2014/main" id="{1AD68E74-BCBC-C453-3EAF-D75EDB90BA28}"/>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Data showing 9 clownfish, 7 parrotfish, 5 surgeonfish, 4 pufferfish and 5 lionfish.">
            <a:extLst>
              <a:ext uri="{FF2B5EF4-FFF2-40B4-BE49-F238E27FC236}">
                <a16:creationId xmlns:a16="http://schemas.microsoft.com/office/drawing/2014/main" id="{D92EC537-7E30-D1D3-6F71-ED5DE4AE82AE}"/>
              </a:ext>
            </a:extLst>
          </p:cNvPr>
          <p:cNvPicPr>
            <a:picLocks noChangeAspect="1"/>
          </p:cNvPicPr>
          <p:nvPr/>
        </p:nvPicPr>
        <p:blipFill>
          <a:blip r:embed="rId4"/>
          <a:stretch>
            <a:fillRect/>
          </a:stretch>
        </p:blipFill>
        <p:spPr>
          <a:xfrm>
            <a:off x="103521" y="1184223"/>
            <a:ext cx="4527857" cy="4495592"/>
          </a:xfrm>
          <a:prstGeom prst="rect">
            <a:avLst/>
          </a:prstGeom>
        </p:spPr>
      </p:pic>
      <p:sp>
        <p:nvSpPr>
          <p:cNvPr id="7" name="Text Placeholder 17">
            <a:extLst>
              <a:ext uri="{FF2B5EF4-FFF2-40B4-BE49-F238E27FC236}">
                <a16:creationId xmlns:a16="http://schemas.microsoft.com/office/drawing/2014/main" id="{861BF2C6-54F5-6792-18CC-635F32AB54BF}"/>
              </a:ext>
            </a:extLst>
          </p:cNvPr>
          <p:cNvSpPr txBox="1">
            <a:spLocks/>
          </p:cNvSpPr>
          <p:nvPr/>
        </p:nvSpPr>
        <p:spPr>
          <a:xfrm>
            <a:off x="4631378" y="1053912"/>
            <a:ext cx="7005142" cy="5592399"/>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a:t>6W saw an abundance of fish on their aquarium excursion. Choose and create an appropriate </a:t>
            </a:r>
            <a:r>
              <a:rPr lang="en-US" sz="4000" b="1"/>
              <a:t>table</a:t>
            </a:r>
            <a:r>
              <a:rPr lang="en-US" sz="4000"/>
              <a:t> to display the </a:t>
            </a:r>
            <a:r>
              <a:rPr lang="en-US" sz="4000" b="1"/>
              <a:t>data</a:t>
            </a:r>
            <a:r>
              <a:rPr lang="en-US" sz="4000"/>
              <a:t> about the fish they saw.</a:t>
            </a:r>
          </a:p>
        </p:txBody>
      </p:sp>
      <p:sp>
        <p:nvSpPr>
          <p:cNvPr id="2" name="Slide Number Placeholder 1">
            <a:extLst>
              <a:ext uri="{FF2B5EF4-FFF2-40B4-BE49-F238E27FC236}">
                <a16:creationId xmlns:a16="http://schemas.microsoft.com/office/drawing/2014/main" id="{EE8F68C9-9CD0-3CC1-6ADB-E4AC2EE1EE23}"/>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43</a:t>
            </a:fld>
            <a:endParaRPr lang="en-AU"/>
          </a:p>
        </p:txBody>
      </p:sp>
    </p:spTree>
    <p:extLst>
      <p:ext uri="{BB962C8B-B14F-4D97-AF65-F5344CB8AC3E}">
        <p14:creationId xmlns:p14="http://schemas.microsoft.com/office/powerpoint/2010/main" val="3251748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 Placeholder 5">
            <a:extLst>
              <a:ext uri="{FF2B5EF4-FFF2-40B4-BE49-F238E27FC236}">
                <a16:creationId xmlns:a16="http://schemas.microsoft.com/office/drawing/2014/main" id="{14971178-0E67-19CA-4C6E-E5A22E66C377}"/>
              </a:ext>
            </a:extLst>
          </p:cNvPr>
          <p:cNvSpPr txBox="1">
            <a:spLocks/>
          </p:cNvSpPr>
          <p:nvPr/>
        </p:nvSpPr>
        <p:spPr>
          <a:xfrm>
            <a:off x="498764" y="1587857"/>
            <a:ext cx="10845826" cy="4169848"/>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A </a:t>
            </a:r>
            <a:r>
              <a:rPr lang="en-AU" sz="4400" b="1"/>
              <a:t>rectangular prism</a:t>
            </a:r>
            <a:r>
              <a:rPr lang="en-AU" sz="4400"/>
              <a:t> has 6 layers of 5 cubes. Record the volume using the abbreviation for </a:t>
            </a:r>
            <a:r>
              <a:rPr lang="en-AU" sz="4400" b="1"/>
              <a:t>cubic centimetres.</a:t>
            </a:r>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A2471-2ADD-C1BA-2023-54F5BBC15AB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7DB32FC-9CEA-7182-4320-8C71A9572D7F}"/>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sp>
        <p:nvSpPr>
          <p:cNvPr id="2" name="Slide Number Placeholder 1">
            <a:extLst>
              <a:ext uri="{FF2B5EF4-FFF2-40B4-BE49-F238E27FC236}">
                <a16:creationId xmlns:a16="http://schemas.microsoft.com/office/drawing/2014/main" id="{BB84C3CD-F71A-C2FD-F275-DF60F0FE096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pic>
        <p:nvPicPr>
          <p:cNvPr id="3" name="Picture 2" descr="image of a clipboard with a pencil recording short answer responses">
            <a:extLst>
              <a:ext uri="{FF2B5EF4-FFF2-40B4-BE49-F238E27FC236}">
                <a16:creationId xmlns:a16="http://schemas.microsoft.com/office/drawing/2014/main" id="{CDC4167E-8411-410C-8CF3-2D0CBC0B91F5}"/>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33AAD29-D616-F1F3-6E50-901BFFF4F391}"/>
                  </a:ext>
                </a:extLst>
              </p:cNvPr>
              <p:cNvSpPr txBox="1"/>
              <p:nvPr/>
            </p:nvSpPr>
            <p:spPr>
              <a:xfrm>
                <a:off x="845692" y="905601"/>
                <a:ext cx="10278308" cy="2449581"/>
              </a:xfrm>
              <a:prstGeom prst="rect">
                <a:avLst/>
              </a:prstGeom>
              <a:noFill/>
            </p:spPr>
            <p:txBody>
              <a:bodyPr wrap="square">
                <a:spAutoFit/>
              </a:bodyPr>
              <a:lstStyle/>
              <a:p>
                <a:pPr algn="ctr">
                  <a:lnSpc>
                    <a:spcPct val="150000"/>
                  </a:lnSpc>
                </a:pPr>
                <a:r>
                  <a:rPr lang="en-AU" sz="4400"/>
                  <a:t>Use a tape diagram to show how much  </a:t>
                </a:r>
                <a14:m>
                  <m:oMath xmlns:m="http://schemas.openxmlformats.org/officeDocument/2006/math">
                    <m:f>
                      <m:fPr>
                        <m:ctrlPr>
                          <a:rPr lang="en-AU" sz="4400" b="1" i="1">
                            <a:latin typeface="Cambria Math" panose="02040503050406030204" pitchFamily="18" charset="0"/>
                          </a:rPr>
                        </m:ctrlPr>
                      </m:fPr>
                      <m:num>
                        <m:r>
                          <a:rPr lang="en-AU" sz="4400" b="1" i="1" smtClean="0">
                            <a:latin typeface="Cambria Math" panose="02040503050406030204" pitchFamily="18" charset="0"/>
                          </a:rPr>
                          <m:t>𝟐</m:t>
                        </m:r>
                      </m:num>
                      <m:den>
                        <m:r>
                          <a:rPr lang="en-AU" sz="4400" b="1" i="1" smtClean="0">
                            <a:latin typeface="Cambria Math" panose="02040503050406030204" pitchFamily="18" charset="0"/>
                          </a:rPr>
                          <m:t>𝟓</m:t>
                        </m:r>
                      </m:den>
                    </m:f>
                  </m:oMath>
                </a14:m>
                <a:r>
                  <a:rPr lang="en-AU" sz="4400" b="1"/>
                  <a:t>  </a:t>
                </a:r>
                <a:r>
                  <a:rPr lang="en-AU" sz="4400"/>
                  <a:t>of </a:t>
                </a:r>
                <a:r>
                  <a:rPr lang="en-AU" sz="4400" b="1"/>
                  <a:t>30 </a:t>
                </a:r>
                <a:r>
                  <a:rPr lang="en-AU" sz="4400"/>
                  <a:t>is. </a:t>
                </a:r>
              </a:p>
            </p:txBody>
          </p:sp>
        </mc:Choice>
        <mc:Fallback xmlns="">
          <p:sp>
            <p:nvSpPr>
              <p:cNvPr id="5" name="TextBox 4">
                <a:extLst>
                  <a:ext uri="{FF2B5EF4-FFF2-40B4-BE49-F238E27FC236}">
                    <a16:creationId xmlns:a16="http://schemas.microsoft.com/office/drawing/2014/main" id="{533AAD29-D616-F1F3-6E50-901BFFF4F391}"/>
                  </a:ext>
                </a:extLst>
              </p:cNvPr>
              <p:cNvSpPr txBox="1">
                <a:spLocks noRot="1" noChangeAspect="1" noMove="1" noResize="1" noEditPoints="1" noAdjustHandles="1" noChangeArrowheads="1" noChangeShapeType="1" noTextEdit="1"/>
              </p:cNvSpPr>
              <p:nvPr/>
            </p:nvSpPr>
            <p:spPr>
              <a:xfrm>
                <a:off x="845692" y="905601"/>
                <a:ext cx="10278308" cy="2449581"/>
              </a:xfrm>
              <a:prstGeom prst="rect">
                <a:avLst/>
              </a:prstGeom>
              <a:blipFill>
                <a:blip r:embed="rId4"/>
                <a:stretch>
                  <a:fillRect l="-356" r="-3321" b="-4738"/>
                </a:stretch>
              </a:blipFill>
            </p:spPr>
            <p:txBody>
              <a:bodyPr/>
              <a:lstStyle/>
              <a:p>
                <a:r>
                  <a:rPr lang="en-AU">
                    <a:noFill/>
                  </a:rPr>
                  <a:t> </a:t>
                </a:r>
              </a:p>
            </p:txBody>
          </p:sp>
        </mc:Fallback>
      </mc:AlternateContent>
      <p:pic>
        <p:nvPicPr>
          <p:cNvPr id="7" name="Picture 6" descr="A rectangular white rectangular object with black lines">
            <a:extLst>
              <a:ext uri="{FF2B5EF4-FFF2-40B4-BE49-F238E27FC236}">
                <a16:creationId xmlns:a16="http://schemas.microsoft.com/office/drawing/2014/main" id="{BA8A574B-BC97-C960-CB92-9B05B252F9FE}"/>
              </a:ext>
            </a:extLst>
          </p:cNvPr>
          <p:cNvPicPr>
            <a:picLocks noChangeAspect="1"/>
          </p:cNvPicPr>
          <p:nvPr/>
        </p:nvPicPr>
        <p:blipFill>
          <a:blip r:embed="rId5"/>
          <a:stretch>
            <a:fillRect/>
          </a:stretch>
        </p:blipFill>
        <p:spPr>
          <a:xfrm>
            <a:off x="1896651" y="3429000"/>
            <a:ext cx="7899936" cy="3279541"/>
          </a:xfrm>
          <a:prstGeom prst="rect">
            <a:avLst/>
          </a:prstGeom>
        </p:spPr>
      </p:pic>
    </p:spTree>
    <p:extLst>
      <p:ext uri="{BB962C8B-B14F-4D97-AF65-F5344CB8AC3E}">
        <p14:creationId xmlns:p14="http://schemas.microsoft.com/office/powerpoint/2010/main" val="3658984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46</a:t>
            </a:fld>
            <a:endParaRPr lang="en-AU"/>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C58BCEA9-5EED-BA24-F561-CF08653C6ED9}"/>
              </a:ext>
            </a:extLst>
          </p:cNvPr>
          <p:cNvSpPr txBox="1">
            <a:spLocks/>
          </p:cNvSpPr>
          <p:nvPr/>
        </p:nvSpPr>
        <p:spPr>
          <a:xfrm>
            <a:off x="1624456" y="1796261"/>
            <a:ext cx="9219757" cy="3432964"/>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Draw a </a:t>
            </a:r>
            <a:r>
              <a:rPr lang="en-AU" sz="4400" b="1"/>
              <a:t>model </a:t>
            </a:r>
            <a:r>
              <a:rPr lang="en-AU" sz="4400"/>
              <a:t>of a building using a </a:t>
            </a:r>
            <a:r>
              <a:rPr lang="en-AU" sz="4400" b="1"/>
              <a:t>rectangular prism </a:t>
            </a:r>
            <a:r>
              <a:rPr lang="en-AU" sz="4400"/>
              <a:t>and a </a:t>
            </a:r>
            <a:r>
              <a:rPr lang="en-AU" sz="4400" b="1"/>
              <a:t>triangular prism</a:t>
            </a:r>
            <a:r>
              <a:rPr lang="en-AU" sz="4400"/>
              <a:t>.</a:t>
            </a:r>
          </a:p>
          <a:p>
            <a:pPr>
              <a:lnSpc>
                <a:spcPct val="100000"/>
              </a:lnSpc>
            </a:pPr>
            <a:r>
              <a:rPr lang="en-AU" sz="4400"/>
              <a:t>		</a:t>
            </a:r>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a:t>
            </a:r>
            <a:r>
              <a:rPr lang="en-AU">
                <a:latin typeface="Arial"/>
                <a:cs typeface="Arial"/>
              </a:rPr>
              <a:t>estimating discounts</a:t>
            </a:r>
            <a:endParaRPr lang="en-AU">
              <a:solidFill>
                <a:schemeClr val="bg1"/>
              </a:solidFill>
            </a:endParaRPr>
          </a:p>
        </p:txBody>
      </p:sp>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pic>
        <p:nvPicPr>
          <p:cNvPr id="4" name="Picture 3" descr="image of a head with cogs turning inside">
            <a:extLst>
              <a:ext uri="{FF2B5EF4-FFF2-40B4-BE49-F238E27FC236}">
                <a16:creationId xmlns:a16="http://schemas.microsoft.com/office/drawing/2014/main" id="{98F6F9F3-5640-0D69-7B77-0C79E603F675}"/>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A jacket with the price tag of $80.&#10;A pair of shoes with a price tag of $120.&#10;Sunglasses with a price tag of $70.&#10;Jeans with a price tag of $65.&#10;Shirts with a price tag of $40.">
            <a:extLst>
              <a:ext uri="{FF2B5EF4-FFF2-40B4-BE49-F238E27FC236}">
                <a16:creationId xmlns:a16="http://schemas.microsoft.com/office/drawing/2014/main" id="{1D07E088-8021-3070-464C-65F789BE87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1008" y="917258"/>
            <a:ext cx="7749983" cy="5598742"/>
          </a:xfrm>
          <a:prstGeom prst="rect">
            <a:avLst/>
          </a:prstGeom>
        </p:spPr>
      </p:pic>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C493834B-1122-BF06-4664-175E7A7DB28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9E5118E7-BD4E-1C6F-9677-4C0228A02948}"/>
              </a:ext>
            </a:extLst>
          </p:cNvPr>
          <p:cNvSpPr>
            <a:spLocks noGrp="1"/>
          </p:cNvSpPr>
          <p:nvPr>
            <p:ph type="body" sz="quarter" idx="24"/>
          </p:nvPr>
        </p:nvSpPr>
        <p:spPr>
          <a:xfrm>
            <a:off x="360000" y="1052578"/>
            <a:ext cx="11243037" cy="1961740"/>
          </a:xfrm>
        </p:spPr>
        <p:txBody>
          <a:bodyPr/>
          <a:lstStyle/>
          <a:p>
            <a:pPr algn="ctr"/>
            <a:r>
              <a:rPr lang="en-US" sz="4400"/>
              <a:t>A smart watch is </a:t>
            </a:r>
            <a:r>
              <a:rPr lang="en-US" sz="4400" b="1"/>
              <a:t>$360 </a:t>
            </a:r>
            <a:r>
              <a:rPr lang="en-US" sz="4400"/>
              <a:t>with a </a:t>
            </a:r>
            <a:r>
              <a:rPr lang="en-US" sz="4400" b="1"/>
              <a:t>discount of 25%. </a:t>
            </a:r>
            <a:r>
              <a:rPr lang="en-US" sz="4400"/>
              <a:t>The </a:t>
            </a:r>
            <a:r>
              <a:rPr lang="en-US" sz="4400" b="1"/>
              <a:t>sale price </a:t>
            </a:r>
            <a:r>
              <a:rPr lang="en-US" sz="4400"/>
              <a:t>is:</a:t>
            </a:r>
          </a:p>
        </p:txBody>
      </p:sp>
      <p:sp>
        <p:nvSpPr>
          <p:cNvPr id="9" name="TextBox 8">
            <a:extLst>
              <a:ext uri="{FF2B5EF4-FFF2-40B4-BE49-F238E27FC236}">
                <a16:creationId xmlns:a16="http://schemas.microsoft.com/office/drawing/2014/main" id="{8B9CE09D-4912-352C-EDD3-2F5B22293E2B}"/>
              </a:ext>
            </a:extLst>
          </p:cNvPr>
          <p:cNvSpPr txBox="1"/>
          <p:nvPr/>
        </p:nvSpPr>
        <p:spPr>
          <a:xfrm>
            <a:off x="1396519" y="348067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4" name="TextBox 13">
            <a:extLst>
              <a:ext uri="{FF2B5EF4-FFF2-40B4-BE49-F238E27FC236}">
                <a16:creationId xmlns:a16="http://schemas.microsoft.com/office/drawing/2014/main" id="{8C657CD2-43EB-F8E6-5C32-6F47BE951E59}"/>
              </a:ext>
            </a:extLst>
          </p:cNvPr>
          <p:cNvSpPr txBox="1"/>
          <p:nvPr/>
        </p:nvSpPr>
        <p:spPr>
          <a:xfrm>
            <a:off x="803983" y="4647000"/>
            <a:ext cx="171449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$460</a:t>
            </a:r>
          </a:p>
        </p:txBody>
      </p:sp>
      <p:sp>
        <p:nvSpPr>
          <p:cNvPr id="10" name="TextBox 9">
            <a:extLst>
              <a:ext uri="{FF2B5EF4-FFF2-40B4-BE49-F238E27FC236}">
                <a16:creationId xmlns:a16="http://schemas.microsoft.com/office/drawing/2014/main" id="{6720C9BD-206D-1246-CC58-B94DA2A9FDA7}"/>
              </a:ext>
            </a:extLst>
          </p:cNvPr>
          <p:cNvSpPr txBox="1"/>
          <p:nvPr/>
        </p:nvSpPr>
        <p:spPr>
          <a:xfrm>
            <a:off x="4400492" y="348067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3" name="TextBox 12">
            <a:extLst>
              <a:ext uri="{FF2B5EF4-FFF2-40B4-BE49-F238E27FC236}">
                <a16:creationId xmlns:a16="http://schemas.microsoft.com/office/drawing/2014/main" id="{30524A2D-0803-8B7B-8379-535FE2E1C82F}"/>
              </a:ext>
            </a:extLst>
          </p:cNvPr>
          <p:cNvSpPr txBox="1"/>
          <p:nvPr/>
        </p:nvSpPr>
        <p:spPr>
          <a:xfrm>
            <a:off x="3859095" y="4685700"/>
            <a:ext cx="171449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$320</a:t>
            </a:r>
          </a:p>
        </p:txBody>
      </p:sp>
      <p:sp>
        <p:nvSpPr>
          <p:cNvPr id="12" name="TextBox 11">
            <a:extLst>
              <a:ext uri="{FF2B5EF4-FFF2-40B4-BE49-F238E27FC236}">
                <a16:creationId xmlns:a16="http://schemas.microsoft.com/office/drawing/2014/main" id="{53D31413-FF78-7189-1A0F-0B12F84CC32D}"/>
              </a:ext>
            </a:extLst>
          </p:cNvPr>
          <p:cNvSpPr txBox="1"/>
          <p:nvPr/>
        </p:nvSpPr>
        <p:spPr>
          <a:xfrm>
            <a:off x="7404465" y="348067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5" name="TextBox 4">
            <a:extLst>
              <a:ext uri="{FF2B5EF4-FFF2-40B4-BE49-F238E27FC236}">
                <a16:creationId xmlns:a16="http://schemas.microsoft.com/office/drawing/2014/main" id="{65F72C36-D6AF-3994-6938-15B5DAEF888D}"/>
              </a:ext>
            </a:extLst>
          </p:cNvPr>
          <p:cNvSpPr txBox="1"/>
          <p:nvPr/>
        </p:nvSpPr>
        <p:spPr>
          <a:xfrm>
            <a:off x="6811929" y="4647000"/>
            <a:ext cx="171449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$260</a:t>
            </a:r>
          </a:p>
        </p:txBody>
      </p:sp>
      <p:sp>
        <p:nvSpPr>
          <p:cNvPr id="11" name="TextBox 10">
            <a:extLst>
              <a:ext uri="{FF2B5EF4-FFF2-40B4-BE49-F238E27FC236}">
                <a16:creationId xmlns:a16="http://schemas.microsoft.com/office/drawing/2014/main" id="{F03294A5-CB62-91E6-0D20-1199ECBFAF01}"/>
              </a:ext>
            </a:extLst>
          </p:cNvPr>
          <p:cNvSpPr txBox="1"/>
          <p:nvPr/>
        </p:nvSpPr>
        <p:spPr>
          <a:xfrm>
            <a:off x="10408439" y="348067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5" name="TextBox 14">
            <a:extLst>
              <a:ext uri="{FF2B5EF4-FFF2-40B4-BE49-F238E27FC236}">
                <a16:creationId xmlns:a16="http://schemas.microsoft.com/office/drawing/2014/main" id="{3115DA70-A564-C6D8-F269-107703B3FA6E}"/>
              </a:ext>
            </a:extLst>
          </p:cNvPr>
          <p:cNvSpPr txBox="1"/>
          <p:nvPr/>
        </p:nvSpPr>
        <p:spPr>
          <a:xfrm>
            <a:off x="9815903" y="4647000"/>
            <a:ext cx="171449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a:t>$270</a:t>
            </a:r>
          </a:p>
        </p:txBody>
      </p:sp>
      <p:sp>
        <p:nvSpPr>
          <p:cNvPr id="2" name="Slide Number Placeholder 1">
            <a:extLst>
              <a:ext uri="{FF2B5EF4-FFF2-40B4-BE49-F238E27FC236}">
                <a16:creationId xmlns:a16="http://schemas.microsoft.com/office/drawing/2014/main" id="{FF35F4CD-8487-40BA-C995-9F75C9273AD3}"/>
              </a:ext>
            </a:extLst>
          </p:cNvPr>
          <p:cNvSpPr>
            <a:spLocks noGrp="1"/>
          </p:cNvSpPr>
          <p:nvPr>
            <p:ph type="sldNum" sz="quarter" idx="12"/>
          </p:nvPr>
        </p:nvSpPr>
        <p:spPr/>
        <p:txBody>
          <a:bodyPr/>
          <a:lstStyle/>
          <a:p>
            <a:fld id="{10A01DC5-1685-4615-8240-15192985C6A2}" type="slidenum">
              <a:rPr lang="en-AU" smtClean="0"/>
              <a:t>49</a:t>
            </a:fld>
            <a:endParaRPr lang="en-AU"/>
          </a:p>
        </p:txBody>
      </p:sp>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9" name="Picture 8" descr="A column graph displaying data from February to June and from 80% to 84%.">
            <a:extLst>
              <a:ext uri="{FF2B5EF4-FFF2-40B4-BE49-F238E27FC236}">
                <a16:creationId xmlns:a16="http://schemas.microsoft.com/office/drawing/2014/main" id="{5005266C-F1B4-5CD7-209E-FC594DBC84F9}"/>
              </a:ext>
            </a:extLst>
          </p:cNvPr>
          <p:cNvPicPr>
            <a:picLocks noChangeAspect="1"/>
          </p:cNvPicPr>
          <p:nvPr/>
        </p:nvPicPr>
        <p:blipFill>
          <a:blip r:embed="rId4"/>
          <a:stretch>
            <a:fillRect/>
          </a:stretch>
        </p:blipFill>
        <p:spPr>
          <a:xfrm>
            <a:off x="193745" y="905602"/>
            <a:ext cx="5647891" cy="5610398"/>
          </a:xfrm>
          <a:prstGeom prst="rect">
            <a:avLst/>
          </a:prstGeom>
        </p:spPr>
      </p:pic>
      <p:sp>
        <p:nvSpPr>
          <p:cNvPr id="4" name="Text Placeholder 17">
            <a:extLst>
              <a:ext uri="{FF2B5EF4-FFF2-40B4-BE49-F238E27FC236}">
                <a16:creationId xmlns:a16="http://schemas.microsoft.com/office/drawing/2014/main" id="{4E7822F4-23E3-86B4-DB75-32222A1FD7FD}"/>
              </a:ext>
            </a:extLst>
          </p:cNvPr>
          <p:cNvSpPr txBox="1">
            <a:spLocks/>
          </p:cNvSpPr>
          <p:nvPr/>
        </p:nvSpPr>
        <p:spPr>
          <a:xfrm>
            <a:off x="6350366" y="905600"/>
            <a:ext cx="5841634" cy="5790399"/>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600"/>
              <a:t>The River Gazette, published a story on student </a:t>
            </a:r>
            <a:r>
              <a:rPr lang="en-US" sz="3600" err="1"/>
              <a:t>maths</a:t>
            </a:r>
            <a:r>
              <a:rPr lang="en-US" sz="3600"/>
              <a:t> scores improving since the start of the year. Identify the </a:t>
            </a:r>
            <a:r>
              <a:rPr lang="en-US" sz="3600" b="1"/>
              <a:t>misleading data </a:t>
            </a:r>
            <a:r>
              <a:rPr lang="en-US" sz="3600"/>
              <a:t>in this graph. </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50</a:t>
            </a:fld>
            <a:endParaRPr lang="en-AU"/>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 Placeholder 17">
            <a:extLst>
              <a:ext uri="{FF2B5EF4-FFF2-40B4-BE49-F238E27FC236}">
                <a16:creationId xmlns:a16="http://schemas.microsoft.com/office/drawing/2014/main" id="{236C80E6-7033-4E48-A0D0-DE2775E722A8}"/>
              </a:ext>
            </a:extLst>
          </p:cNvPr>
          <p:cNvSpPr txBox="1">
            <a:spLocks/>
          </p:cNvSpPr>
          <p:nvPr/>
        </p:nvSpPr>
        <p:spPr>
          <a:xfrm>
            <a:off x="474481" y="1357195"/>
            <a:ext cx="11243037" cy="4794223"/>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a:t>Yaya needs to put fresh soil on her vegetable garden. The layer of soil will be </a:t>
            </a:r>
            <a:r>
              <a:rPr lang="en-US" sz="4000" b="1"/>
              <a:t>10 cm</a:t>
            </a:r>
            <a:r>
              <a:rPr lang="en-US" sz="4000"/>
              <a:t> thick. The width of her garden is </a:t>
            </a:r>
            <a:r>
              <a:rPr lang="en-US" sz="4000" b="1"/>
              <a:t>6 </a:t>
            </a:r>
            <a:r>
              <a:rPr lang="en-US" sz="4000" b="1" err="1"/>
              <a:t>metres</a:t>
            </a:r>
            <a:r>
              <a:rPr lang="en-US" sz="4000"/>
              <a:t> and the length is </a:t>
            </a:r>
            <a:r>
              <a:rPr lang="en-US" sz="4000" b="1"/>
              <a:t>8 </a:t>
            </a:r>
            <a:r>
              <a:rPr lang="en-US" sz="4000" b="1" err="1"/>
              <a:t>metres</a:t>
            </a:r>
            <a:r>
              <a:rPr lang="en-US" sz="4000"/>
              <a:t>. In </a:t>
            </a:r>
            <a:r>
              <a:rPr lang="en-US" sz="4000" b="1"/>
              <a:t>cubic </a:t>
            </a:r>
            <a:r>
              <a:rPr lang="en-US" sz="4000" b="1" err="1"/>
              <a:t>metres</a:t>
            </a:r>
            <a:r>
              <a:rPr lang="en-US" sz="4000"/>
              <a:t>, what is the </a:t>
            </a:r>
            <a:r>
              <a:rPr lang="en-US" sz="4000" b="1"/>
              <a:t>volume</a:t>
            </a:r>
            <a:r>
              <a:rPr lang="en-US" sz="4000"/>
              <a:t> of soil needed for Yaya’s vegetable garden?</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51</a:t>
            </a:fld>
            <a:endParaRPr lang="en-AU"/>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3"/>
          <a:stretch>
            <a:fillRect/>
          </a:stretch>
        </p:blipFill>
        <p:spPr>
          <a:xfrm>
            <a:off x="11216464" y="0"/>
            <a:ext cx="915500" cy="915500"/>
          </a:xfrm>
          <a:prstGeom prst="rect">
            <a:avLst/>
          </a:prstGeom>
        </p:spPr>
      </p:pic>
      <mc:AlternateContent xmlns:mc="http://schemas.openxmlformats.org/markup-compatibility/2006" xmlns:a14="http://schemas.microsoft.com/office/drawing/2010/main">
        <mc:Choice Requires="a14">
          <p:sp>
            <p:nvSpPr>
              <p:cNvPr id="7" name="Text Placeholder 17">
                <a:extLst>
                  <a:ext uri="{FF2B5EF4-FFF2-40B4-BE49-F238E27FC236}">
                    <a16:creationId xmlns:a16="http://schemas.microsoft.com/office/drawing/2014/main" id="{1BD5632A-B3D7-4BC3-F3B1-8D9E83578080}"/>
                  </a:ext>
                </a:extLst>
              </p:cNvPr>
              <p:cNvSpPr txBox="1">
                <a:spLocks/>
              </p:cNvSpPr>
              <p:nvPr/>
            </p:nvSpPr>
            <p:spPr>
              <a:xfrm>
                <a:off x="881845" y="764952"/>
                <a:ext cx="10602155" cy="5931048"/>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600"/>
                  <a:t>Jake and Tom need timber for their mini-skate ramp. Jake needs </a:t>
                </a:r>
                <a:r>
                  <a:rPr lang="en-US" sz="3600" b="1"/>
                  <a:t>30 </a:t>
                </a:r>
                <a14:m>
                  <m:oMath xmlns:m="http://schemas.openxmlformats.org/officeDocument/2006/math">
                    <m:f>
                      <m:fPr>
                        <m:ctrlPr>
                          <a:rPr lang="en-AU" sz="3600" b="1" i="1">
                            <a:latin typeface="Cambria Math" panose="02040503050406030204" pitchFamily="18" charset="0"/>
                          </a:rPr>
                        </m:ctrlPr>
                      </m:fPr>
                      <m:num>
                        <m:r>
                          <a:rPr lang="en-AU" sz="3600" b="1" i="1" smtClean="0">
                            <a:latin typeface="Cambria Math" panose="02040503050406030204" pitchFamily="18" charset="0"/>
                          </a:rPr>
                          <m:t>𝟑</m:t>
                        </m:r>
                      </m:num>
                      <m:den>
                        <m:r>
                          <a:rPr lang="en-AU" sz="3600" b="1" i="1" smtClean="0">
                            <a:latin typeface="Cambria Math" panose="02040503050406030204" pitchFamily="18" charset="0"/>
                          </a:rPr>
                          <m:t>𝟒</m:t>
                        </m:r>
                      </m:den>
                    </m:f>
                  </m:oMath>
                </a14:m>
                <a:r>
                  <a:rPr lang="en-US" sz="3600" b="1"/>
                  <a:t>  </a:t>
                </a:r>
                <a:r>
                  <a:rPr lang="en-US" sz="3600" b="1" err="1"/>
                  <a:t>centimetres</a:t>
                </a:r>
                <a:r>
                  <a:rPr lang="en-US" sz="3600" b="1"/>
                  <a:t> </a:t>
                </a:r>
                <a:r>
                  <a:rPr lang="en-US" sz="3600"/>
                  <a:t>of craft wood and Tom needs </a:t>
                </a:r>
                <a:r>
                  <a:rPr lang="en-US" sz="3600" b="1"/>
                  <a:t>27 </a:t>
                </a:r>
                <a14:m>
                  <m:oMath xmlns:m="http://schemas.openxmlformats.org/officeDocument/2006/math">
                    <m:f>
                      <m:fPr>
                        <m:ctrlPr>
                          <a:rPr lang="en-AU" sz="3600" b="1" i="1">
                            <a:latin typeface="Cambria Math" panose="02040503050406030204" pitchFamily="18" charset="0"/>
                          </a:rPr>
                        </m:ctrlPr>
                      </m:fPr>
                      <m:num>
                        <m:r>
                          <a:rPr lang="en-AU" sz="3600" b="1" i="1" smtClean="0">
                            <a:latin typeface="Cambria Math" panose="02040503050406030204" pitchFamily="18" charset="0"/>
                          </a:rPr>
                          <m:t>𝟏</m:t>
                        </m:r>
                      </m:num>
                      <m:den>
                        <m:r>
                          <a:rPr lang="en-AU" sz="3600" b="1" i="1" smtClean="0">
                            <a:latin typeface="Cambria Math" panose="02040503050406030204" pitchFamily="18" charset="0"/>
                          </a:rPr>
                          <m:t>𝟐</m:t>
                        </m:r>
                      </m:den>
                    </m:f>
                  </m:oMath>
                </a14:m>
                <a:r>
                  <a:rPr lang="en-US" sz="3600" b="1"/>
                  <a:t>  </a:t>
                </a:r>
                <a:r>
                  <a:rPr lang="en-US" sz="3600" b="1" err="1"/>
                  <a:t>centimetres</a:t>
                </a:r>
                <a:r>
                  <a:rPr lang="en-US" sz="3600"/>
                  <a:t>. </a:t>
                </a:r>
              </a:p>
              <a:p>
                <a:pPr algn="ctr"/>
                <a:r>
                  <a:rPr lang="en-US" sz="3600"/>
                  <a:t>How much do they need </a:t>
                </a:r>
                <a:r>
                  <a:rPr lang="en-US" sz="3600" b="1"/>
                  <a:t>altogether</a:t>
                </a:r>
                <a:r>
                  <a:rPr lang="en-US" sz="3600"/>
                  <a:t>? </a:t>
                </a:r>
              </a:p>
              <a:p>
                <a:pPr algn="ctr"/>
                <a:r>
                  <a:rPr lang="en-US" sz="3600"/>
                  <a:t>If the craft wood comes in one </a:t>
                </a:r>
                <a:r>
                  <a:rPr lang="en-US" sz="3600" err="1"/>
                  <a:t>metre</a:t>
                </a:r>
                <a:r>
                  <a:rPr lang="en-US" sz="3600"/>
                  <a:t> lengths, how much timber will be </a:t>
                </a:r>
                <a:r>
                  <a:rPr lang="en-US" sz="3600" b="1"/>
                  <a:t>left over</a:t>
                </a:r>
                <a:r>
                  <a:rPr lang="en-US" sz="3600"/>
                  <a:t>?</a:t>
                </a:r>
                <a:endParaRPr lang="en-US" sz="4400"/>
              </a:p>
            </p:txBody>
          </p:sp>
        </mc:Choice>
        <mc:Fallback xmlns="">
          <p:sp>
            <p:nvSpPr>
              <p:cNvPr id="7" name="Text Placeholder 17">
                <a:extLst>
                  <a:ext uri="{FF2B5EF4-FFF2-40B4-BE49-F238E27FC236}">
                    <a16:creationId xmlns:a16="http://schemas.microsoft.com/office/drawing/2014/main" id="{1BD5632A-B3D7-4BC3-F3B1-8D9E83578080}"/>
                  </a:ext>
                </a:extLst>
              </p:cNvPr>
              <p:cNvSpPr txBox="1">
                <a:spLocks noRot="1" noChangeAspect="1" noMove="1" noResize="1" noEditPoints="1" noAdjustHandles="1" noChangeArrowheads="1" noChangeShapeType="1" noTextEdit="1"/>
              </p:cNvSpPr>
              <p:nvPr/>
            </p:nvSpPr>
            <p:spPr>
              <a:xfrm>
                <a:off x="881845" y="764952"/>
                <a:ext cx="10602155" cy="5931048"/>
              </a:xfrm>
              <a:prstGeom prst="rect">
                <a:avLst/>
              </a:prstGeom>
              <a:blipFill>
                <a:blip r:embed="rId4"/>
                <a:stretch>
                  <a:fillRect l="-575" r="-1668" b="-4317"/>
                </a:stretch>
              </a:blipFill>
            </p:spPr>
            <p:txBody>
              <a:bodyPr/>
              <a:lstStyle/>
              <a:p>
                <a:r>
                  <a:rPr lang="en-AU">
                    <a:noFill/>
                  </a:rPr>
                  <a:t> </a:t>
                </a:r>
              </a:p>
            </p:txBody>
          </p:sp>
        </mc:Fallback>
      </mc:AlternateContent>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 Placeholder 5">
            <a:extLst>
              <a:ext uri="{FF2B5EF4-FFF2-40B4-BE49-F238E27FC236}">
                <a16:creationId xmlns:a16="http://schemas.microsoft.com/office/drawing/2014/main" id="{C7EFC79E-BBE7-FF87-F8DB-6A38A48DDD05}"/>
              </a:ext>
            </a:extLst>
          </p:cNvPr>
          <p:cNvSpPr txBox="1">
            <a:spLocks/>
          </p:cNvSpPr>
          <p:nvPr/>
        </p:nvSpPr>
        <p:spPr>
          <a:xfrm>
            <a:off x="360000" y="939450"/>
            <a:ext cx="10981510" cy="5558550"/>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What is the equivalent length for the following:</a:t>
            </a:r>
          </a:p>
          <a:p>
            <a:pPr algn="ctr"/>
            <a:r>
              <a:rPr lang="en-AU" sz="4400"/>
              <a:t>245 cm</a:t>
            </a:r>
          </a:p>
          <a:p>
            <a:pPr algn="ctr"/>
            <a:r>
              <a:rPr lang="en-AU" sz="4400"/>
              <a:t>3.25 m</a:t>
            </a:r>
          </a:p>
          <a:p>
            <a:pPr algn="ctr"/>
            <a:r>
              <a:rPr lang="en-AU" sz="4400"/>
              <a:t>8.7 km </a:t>
            </a:r>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53</a:t>
            </a:fld>
            <a:endParaRPr lang="en-AU"/>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a:t>
            </a:r>
            <a:r>
              <a:rPr lang="en-AU">
                <a:latin typeface="Arial"/>
                <a:cs typeface="Arial"/>
              </a:rPr>
              <a:t>sales price</a:t>
            </a:r>
            <a:endParaRPr lang="en-AU"/>
          </a:p>
        </p:txBody>
      </p:sp>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pic>
        <p:nvPicPr>
          <p:cNvPr id="4" name="Picture 3" descr="image of a head with cogs turning inside">
            <a:extLst>
              <a:ext uri="{FF2B5EF4-FFF2-40B4-BE49-F238E27FC236}">
                <a16:creationId xmlns:a16="http://schemas.microsoft.com/office/drawing/2014/main" id="{862A61D7-0DAF-1BF8-46D6-A2E9DEA92CB9}"/>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Different items with price tags and sale tags.&#10;Video game controller with a price tag of $65 and a discount tag of 25%. Headphones with a price tag of $90 and a sales tag of 50% off. A phone watch with a price tag of $250 and a 10% off tag. A tablet with a price tag of $320 and a sales tag of 10%. A wireless speaker with a price tag of $120 and a sales tag of 50%.">
            <a:extLst>
              <a:ext uri="{FF2B5EF4-FFF2-40B4-BE49-F238E27FC236}">
                <a16:creationId xmlns:a16="http://schemas.microsoft.com/office/drawing/2014/main" id="{F9B7E158-DA07-2CF7-D00B-86CD83FBFE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21836" y="1097258"/>
            <a:ext cx="7548328" cy="5399999"/>
          </a:xfrm>
          <a:prstGeom prst="rect">
            <a:avLst/>
          </a:prstGeom>
        </p:spPr>
      </p:pic>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240963" y="1184019"/>
            <a:ext cx="11243037" cy="4070004"/>
          </a:xfrm>
        </p:spPr>
        <p:txBody>
          <a:bodyPr/>
          <a:lstStyle/>
          <a:p>
            <a:pPr algn="ctr"/>
            <a:r>
              <a:rPr lang="en-AU" sz="4400"/>
              <a:t>Joley is looking for the best deal on a smart watch. She finds one for </a:t>
            </a:r>
            <a:r>
              <a:rPr lang="en-AU" sz="4400" b="1"/>
              <a:t>10% off $180 </a:t>
            </a:r>
            <a:r>
              <a:rPr lang="en-AU" sz="4400"/>
              <a:t>and another for </a:t>
            </a:r>
            <a:r>
              <a:rPr lang="en-AU" sz="4400" b="1"/>
              <a:t>50% off $360</a:t>
            </a:r>
            <a:r>
              <a:rPr lang="en-AU" sz="4400"/>
              <a:t>. The </a:t>
            </a:r>
            <a:r>
              <a:rPr lang="en-AU" sz="4400" b="1"/>
              <a:t>10%</a:t>
            </a:r>
            <a:r>
              <a:rPr lang="en-AU" sz="4400"/>
              <a:t> off is the </a:t>
            </a:r>
            <a:r>
              <a:rPr lang="en-AU" sz="4400" b="1"/>
              <a:t>better deal</a:t>
            </a:r>
            <a:r>
              <a:rPr lang="en-AU" sz="4400"/>
              <a:t>.</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2473828431"/>
              </p:ext>
            </p:extLst>
          </p:nvPr>
        </p:nvGraphicFramePr>
        <p:xfrm>
          <a:off x="2420301" y="538100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D3A219B-EA44-A8FA-5624-110943E229E9}"/>
              </a:ext>
            </a:extLst>
          </p:cNvPr>
          <p:cNvSpPr>
            <a:spLocks noGrp="1"/>
          </p:cNvSpPr>
          <p:nvPr>
            <p:ph type="sldNum" sz="quarter" idx="12"/>
          </p:nvPr>
        </p:nvSpPr>
        <p:spPr/>
        <p:txBody>
          <a:bodyPr/>
          <a:lstStyle/>
          <a:p>
            <a:fld id="{10A01DC5-1685-4615-8240-15192985C6A2}" type="slidenum">
              <a:rPr lang="en-AU" smtClean="0"/>
              <a:t>56</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 Placeholder 5">
            <a:extLst>
              <a:ext uri="{FF2B5EF4-FFF2-40B4-BE49-F238E27FC236}">
                <a16:creationId xmlns:a16="http://schemas.microsoft.com/office/drawing/2014/main" id="{FA8F9507-2080-3B50-7400-403BD487A34B}"/>
              </a:ext>
            </a:extLst>
          </p:cNvPr>
          <p:cNvSpPr txBox="1">
            <a:spLocks/>
          </p:cNvSpPr>
          <p:nvPr/>
        </p:nvSpPr>
        <p:spPr>
          <a:xfrm>
            <a:off x="5998030" y="1184222"/>
            <a:ext cx="6050922" cy="5313777"/>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en-AU" sz="2800"/>
              <a:t>What is the difference between the number of girls and boys who like swimming?</a:t>
            </a:r>
          </a:p>
          <a:p>
            <a:pPr marL="457200" indent="-457200">
              <a:buFont typeface="Arial" panose="020B0604020202020204" pitchFamily="34" charset="0"/>
              <a:buChar char="•"/>
            </a:pPr>
            <a:r>
              <a:rPr lang="en-AU" sz="2800"/>
              <a:t>Are there any similarities and difference between the answers?</a:t>
            </a:r>
          </a:p>
          <a:p>
            <a:pPr marL="457200" indent="-457200">
              <a:buFont typeface="Arial" panose="020B0604020202020204" pitchFamily="34" charset="0"/>
              <a:buChar char="•"/>
            </a:pPr>
            <a:r>
              <a:rPr lang="en-AU" sz="2800"/>
              <a:t>Record one other thing you notice in the data.</a:t>
            </a:r>
          </a:p>
          <a:p>
            <a:pPr algn="ctr"/>
            <a:endParaRPr lang="en-AU" sz="3600"/>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57</a:t>
            </a:fld>
            <a:endParaRPr lang="en-AU"/>
          </a:p>
        </p:txBody>
      </p:sp>
      <p:graphicFrame>
        <p:nvGraphicFramePr>
          <p:cNvPr id="5" name="Chart 4">
            <a:extLst>
              <a:ext uri="{FF2B5EF4-FFF2-40B4-BE49-F238E27FC236}">
                <a16:creationId xmlns:a16="http://schemas.microsoft.com/office/drawing/2014/main" id="{8557D615-BF88-98B5-C8A2-26F18462FBED}"/>
              </a:ext>
            </a:extLst>
          </p:cNvPr>
          <p:cNvGraphicFramePr>
            <a:graphicFrameLocks/>
          </p:cNvGraphicFramePr>
          <p:nvPr>
            <p:extLst>
              <p:ext uri="{D42A27DB-BD31-4B8C-83A1-F6EECF244321}">
                <p14:modId xmlns:p14="http://schemas.microsoft.com/office/powerpoint/2010/main" val="1798942088"/>
              </p:ext>
            </p:extLst>
          </p:nvPr>
        </p:nvGraphicFramePr>
        <p:xfrm>
          <a:off x="269720" y="1687286"/>
          <a:ext cx="5488824" cy="421277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357485BB-3108-9106-7CC2-48F767DA22F3}"/>
              </a:ext>
            </a:extLst>
          </p:cNvPr>
          <p:cNvSpPr txBox="1">
            <a:spLocks/>
          </p:cNvSpPr>
          <p:nvPr/>
        </p:nvSpPr>
        <p:spPr>
          <a:xfrm>
            <a:off x="653143" y="1031677"/>
            <a:ext cx="10805132" cy="5053155"/>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The post office has a parcel bag with a </a:t>
            </a:r>
            <a:r>
              <a:rPr lang="en-AU" sz="4400" b="1"/>
              <a:t>volume</a:t>
            </a:r>
            <a:r>
              <a:rPr lang="en-AU" sz="4400"/>
              <a:t> of </a:t>
            </a:r>
            <a:r>
              <a:rPr lang="en-AU" sz="4400" b="1"/>
              <a:t>40 cm</a:t>
            </a:r>
            <a:r>
              <a:rPr lang="az-Cyrl-AZ" sz="4400" b="1"/>
              <a:t>³</a:t>
            </a:r>
            <a:r>
              <a:rPr lang="en-AU" sz="4400"/>
              <a:t>. The dimensions of Liza’s parcel is </a:t>
            </a:r>
            <a:r>
              <a:rPr lang="en-AU" sz="4400" b="1"/>
              <a:t>10 cm x 2 cm x 6 cm</a:t>
            </a:r>
            <a:r>
              <a:rPr lang="en-AU" sz="4400"/>
              <a:t>. Is the </a:t>
            </a:r>
            <a:r>
              <a:rPr lang="en-AU" sz="4400" b="1"/>
              <a:t>volume</a:t>
            </a:r>
            <a:r>
              <a:rPr lang="en-AU" sz="4400"/>
              <a:t> of the parcel bag enough? </a:t>
            </a:r>
          </a:p>
          <a:p>
            <a:pPr algn="ctr"/>
            <a:r>
              <a:rPr lang="en-AU" sz="4400" b="1"/>
              <a:t>Explain </a:t>
            </a:r>
            <a:r>
              <a:rPr lang="en-AU" sz="4400"/>
              <a:t>your</a:t>
            </a:r>
            <a:r>
              <a:rPr lang="en-AU" sz="4400" b="1"/>
              <a:t> thinking.</a:t>
            </a:r>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pic>
        <p:nvPicPr>
          <p:cNvPr id="3" name="Picture 2" descr="image of a clipboard with a pencil recording short answer responses">
            <a:extLst>
              <a:ext uri="{FF2B5EF4-FFF2-40B4-BE49-F238E27FC236}">
                <a16:creationId xmlns:a16="http://schemas.microsoft.com/office/drawing/2014/main" id="{77944112-784D-22C3-1462-ED0056915B97}"/>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387468A-65B4-9F38-B728-D1774C73AB18}"/>
                  </a:ext>
                </a:extLst>
              </p:cNvPr>
              <p:cNvSpPr txBox="1"/>
              <p:nvPr/>
            </p:nvSpPr>
            <p:spPr>
              <a:xfrm>
                <a:off x="654075" y="1085336"/>
                <a:ext cx="10883850" cy="4927759"/>
              </a:xfrm>
              <a:prstGeom prst="rect">
                <a:avLst/>
              </a:prstGeom>
              <a:noFill/>
            </p:spPr>
            <p:txBody>
              <a:bodyPr wrap="square">
                <a:spAutoFit/>
              </a:bodyPr>
              <a:lstStyle/>
              <a:p>
                <a:pPr algn="ctr">
                  <a:lnSpc>
                    <a:spcPct val="150000"/>
                  </a:lnSpc>
                </a:pPr>
                <a:r>
                  <a:rPr lang="en-AU" sz="4400"/>
                  <a:t>Ella and Lachlan hiked </a:t>
                </a:r>
                <a14:m>
                  <m:oMath xmlns:m="http://schemas.openxmlformats.org/officeDocument/2006/math">
                    <m:r>
                      <a:rPr lang="en-AU" sz="4400" dirty="0">
                        <a:latin typeface="Cambria Math" panose="02040503050406030204" pitchFamily="18" charset="0"/>
                      </a:rPr>
                      <m:t> </m:t>
                    </m:r>
                    <m:f>
                      <m:fPr>
                        <m:ctrlPr>
                          <a:rPr lang="en-AU" sz="4400" b="1" i="1">
                            <a:latin typeface="Cambria Math" panose="02040503050406030204" pitchFamily="18" charset="0"/>
                          </a:rPr>
                        </m:ctrlPr>
                      </m:fPr>
                      <m:num>
                        <m:r>
                          <a:rPr lang="en-AU" sz="4400" b="1" i="1" smtClean="0">
                            <a:latin typeface="Cambria Math" panose="02040503050406030204" pitchFamily="18" charset="0"/>
                          </a:rPr>
                          <m:t>𝟑</m:t>
                        </m:r>
                      </m:num>
                      <m:den>
                        <m:r>
                          <a:rPr lang="en-AU" sz="4400" b="1" i="1" smtClean="0">
                            <a:latin typeface="Cambria Math" panose="02040503050406030204" pitchFamily="18" charset="0"/>
                          </a:rPr>
                          <m:t>𝟖</m:t>
                        </m:r>
                      </m:den>
                    </m:f>
                  </m:oMath>
                </a14:m>
                <a:r>
                  <a:rPr lang="en-US" sz="4400" b="1"/>
                  <a:t>  </a:t>
                </a:r>
                <a:r>
                  <a:rPr lang="en-US" sz="4400"/>
                  <a:t>of the way to the top of Mt Warning. They had a little break and walked another  </a:t>
                </a:r>
                <a14:m>
                  <m:oMath xmlns:m="http://schemas.openxmlformats.org/officeDocument/2006/math">
                    <m:f>
                      <m:fPr>
                        <m:ctrlPr>
                          <a:rPr lang="en-AU" sz="4400" b="1" i="1">
                            <a:latin typeface="Cambria Math" panose="02040503050406030204" pitchFamily="18" charset="0"/>
                          </a:rPr>
                        </m:ctrlPr>
                      </m:fPr>
                      <m:num>
                        <m:r>
                          <a:rPr lang="en-AU" sz="4400" b="1" i="1" smtClean="0">
                            <a:latin typeface="Cambria Math" panose="02040503050406030204" pitchFamily="18" charset="0"/>
                          </a:rPr>
                          <m:t>𝟐</m:t>
                        </m:r>
                      </m:num>
                      <m:den>
                        <m:r>
                          <a:rPr lang="en-AU" sz="4400" b="1" i="1" smtClean="0">
                            <a:latin typeface="Cambria Math" panose="02040503050406030204" pitchFamily="18" charset="0"/>
                          </a:rPr>
                          <m:t>𝟒</m:t>
                        </m:r>
                      </m:den>
                    </m:f>
                  </m:oMath>
                </a14:m>
                <a:r>
                  <a:rPr lang="en-US" sz="4400"/>
                  <a:t>  of the way. It was </a:t>
                </a:r>
                <a:r>
                  <a:rPr lang="en-US" sz="4400" b="1"/>
                  <a:t>32 km </a:t>
                </a:r>
                <a:r>
                  <a:rPr lang="en-US" sz="4400"/>
                  <a:t>to the top. </a:t>
                </a:r>
                <a:r>
                  <a:rPr lang="en-US" sz="4400" b="1"/>
                  <a:t>How far did they walk</a:t>
                </a:r>
                <a:r>
                  <a:rPr lang="en-US" sz="4400"/>
                  <a:t>?</a:t>
                </a:r>
                <a:endParaRPr lang="en-AU" sz="4400"/>
              </a:p>
            </p:txBody>
          </p:sp>
        </mc:Choice>
        <mc:Fallback xmlns="">
          <p:sp>
            <p:nvSpPr>
              <p:cNvPr id="5" name="TextBox 4">
                <a:extLst>
                  <a:ext uri="{FF2B5EF4-FFF2-40B4-BE49-F238E27FC236}">
                    <a16:creationId xmlns:a16="http://schemas.microsoft.com/office/drawing/2014/main" id="{5387468A-65B4-9F38-B728-D1774C73AB18}"/>
                  </a:ext>
                </a:extLst>
              </p:cNvPr>
              <p:cNvSpPr txBox="1">
                <a:spLocks noRot="1" noChangeAspect="1" noMove="1" noResize="1" noEditPoints="1" noAdjustHandles="1" noChangeArrowheads="1" noChangeShapeType="1" noTextEdit="1"/>
              </p:cNvSpPr>
              <p:nvPr/>
            </p:nvSpPr>
            <p:spPr>
              <a:xfrm>
                <a:off x="654075" y="1085336"/>
                <a:ext cx="10883850" cy="4927759"/>
              </a:xfrm>
              <a:prstGeom prst="rect">
                <a:avLst/>
              </a:prstGeom>
              <a:blipFill>
                <a:blip r:embed="rId4"/>
                <a:stretch>
                  <a:fillRect l="-1680" r="-3024" b="-4950"/>
                </a:stretch>
              </a:blipFill>
            </p:spPr>
            <p:txBody>
              <a:bodyPr/>
              <a:lstStyle/>
              <a:p>
                <a:r>
                  <a:rPr lang="en-AU">
                    <a:noFill/>
                  </a:rPr>
                  <a:t> </a:t>
                </a:r>
              </a:p>
            </p:txBody>
          </p:sp>
        </mc:Fallback>
      </mc:AlternateContent>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 Placeholder 17">
            <a:extLst>
              <a:ext uri="{FF2B5EF4-FFF2-40B4-BE49-F238E27FC236}">
                <a16:creationId xmlns:a16="http://schemas.microsoft.com/office/drawing/2014/main" id="{CD07CA95-2AE1-F6AE-9F20-23C93C521AEB}"/>
              </a:ext>
            </a:extLst>
          </p:cNvPr>
          <p:cNvSpPr txBox="1">
            <a:spLocks/>
          </p:cNvSpPr>
          <p:nvPr/>
        </p:nvSpPr>
        <p:spPr>
          <a:xfrm>
            <a:off x="503478" y="1184223"/>
            <a:ext cx="11185044" cy="5010842"/>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Logan and her friends want to go to the movies. The movie starts at </a:t>
            </a:r>
            <a:r>
              <a:rPr lang="en-US" sz="4400" b="1"/>
              <a:t>3:30 pm </a:t>
            </a:r>
            <a:r>
              <a:rPr lang="en-US" sz="4400"/>
              <a:t>and goes for </a:t>
            </a:r>
            <a:r>
              <a:rPr lang="en-US" sz="4400" b="1"/>
              <a:t>1 hour and 45 minutes</a:t>
            </a:r>
            <a:r>
              <a:rPr lang="en-US" sz="4400"/>
              <a:t>. If they are getting picked up at </a:t>
            </a:r>
            <a:r>
              <a:rPr lang="en-US" sz="4400" b="1"/>
              <a:t>18:30</a:t>
            </a:r>
            <a:r>
              <a:rPr lang="en-US" sz="4400"/>
              <a:t>, do they have </a:t>
            </a:r>
            <a:r>
              <a:rPr lang="en-US" sz="4400" b="1"/>
              <a:t>enough time </a:t>
            </a:r>
            <a:r>
              <a:rPr lang="en-US" sz="4400"/>
              <a:t>for some shopping?</a:t>
            </a:r>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the best deal</a:t>
            </a:r>
            <a:r>
              <a:rPr lang="en-AU">
                <a:solidFill>
                  <a:schemeClr val="bg1"/>
                </a:solidFill>
              </a:rPr>
              <a:t>(1)</a:t>
            </a:r>
          </a:p>
        </p:txBody>
      </p:sp>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61</a:t>
            </a:fld>
            <a:endParaRPr lang="en-AU"/>
          </a:p>
        </p:txBody>
      </p:sp>
      <p:pic>
        <p:nvPicPr>
          <p:cNvPr id="4" name="Picture 3" descr="image of a head with cogs turning inside">
            <a:extLst>
              <a:ext uri="{FF2B5EF4-FFF2-40B4-BE49-F238E27FC236}">
                <a16:creationId xmlns:a16="http://schemas.microsoft.com/office/drawing/2014/main" id="{2307795C-5521-91B9-C866-EC547ED62852}"/>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3" name="Group 2" descr="An image showing three headphone deals from different electronics stores with original prices and discount percentages:&#10;&#10;Electric Deal Electronics: $190 with a 10% discount.&#10;&#10;Bargain Electronics: $200 with a 25% discount.&#10;&#10;Number One Deals: $350 with a 50% discount.&#10;Each deal is displayed in a black-bordered square with the price on a tag, the discount in a red burst, and an image of black headphones.">
            <a:extLst>
              <a:ext uri="{FF2B5EF4-FFF2-40B4-BE49-F238E27FC236}">
                <a16:creationId xmlns:a16="http://schemas.microsoft.com/office/drawing/2014/main" id="{58ED7867-8DEF-94D4-A60B-5550FD9F7E9F}"/>
              </a:ext>
            </a:extLst>
          </p:cNvPr>
          <p:cNvGrpSpPr/>
          <p:nvPr/>
        </p:nvGrpSpPr>
        <p:grpSpPr>
          <a:xfrm>
            <a:off x="2279945" y="1003513"/>
            <a:ext cx="7043308" cy="5512489"/>
            <a:chOff x="822608" y="351232"/>
            <a:chExt cx="8061747" cy="7208768"/>
          </a:xfrm>
        </p:grpSpPr>
        <p:grpSp>
          <p:nvGrpSpPr>
            <p:cNvPr id="7" name="Group 2">
              <a:extLst>
                <a:ext uri="{FF2B5EF4-FFF2-40B4-BE49-F238E27FC236}">
                  <a16:creationId xmlns:a16="http://schemas.microsoft.com/office/drawing/2014/main" id="{B4C98E14-BBF1-2E73-5ACF-FD7C0F1F89BE}"/>
                </a:ext>
              </a:extLst>
            </p:cNvPr>
            <p:cNvGrpSpPr/>
            <p:nvPr/>
          </p:nvGrpSpPr>
          <p:grpSpPr>
            <a:xfrm>
              <a:off x="822608" y="351232"/>
              <a:ext cx="3674406" cy="3604384"/>
              <a:chOff x="88811" y="0"/>
              <a:chExt cx="4899208" cy="4805845"/>
            </a:xfrm>
          </p:grpSpPr>
          <p:sp>
            <p:nvSpPr>
              <p:cNvPr id="23" name="Freeform 3">
                <a:extLst>
                  <a:ext uri="{FF2B5EF4-FFF2-40B4-BE49-F238E27FC236}">
                    <a16:creationId xmlns:a16="http://schemas.microsoft.com/office/drawing/2014/main" id="{EE3DB48C-AB3A-2444-8C92-78D4E093EB48}"/>
                  </a:ext>
                </a:extLst>
              </p:cNvPr>
              <p:cNvSpPr/>
              <p:nvPr/>
            </p:nvSpPr>
            <p:spPr>
              <a:xfrm>
                <a:off x="1240580" y="1678274"/>
                <a:ext cx="1706597" cy="1839997"/>
              </a:xfrm>
              <a:custGeom>
                <a:avLst/>
                <a:gdLst/>
                <a:ahLst/>
                <a:cxnLst/>
                <a:rect l="l" t="t" r="r" b="b"/>
                <a:pathLst>
                  <a:path w="1706597" h="1839997">
                    <a:moveTo>
                      <a:pt x="0" y="0"/>
                    </a:moveTo>
                    <a:lnTo>
                      <a:pt x="1706597" y="0"/>
                    </a:lnTo>
                    <a:lnTo>
                      <a:pt x="1706597" y="1839997"/>
                    </a:lnTo>
                    <a:lnTo>
                      <a:pt x="0" y="1839997"/>
                    </a:lnTo>
                    <a:lnTo>
                      <a:pt x="0" y="0"/>
                    </a:lnTo>
                    <a:close/>
                  </a:path>
                </a:pathLst>
              </a:custGeom>
              <a:blipFill>
                <a:blip r:embed="rId4"/>
                <a:stretch>
                  <a:fillRect/>
                </a:stretch>
              </a:blipFill>
            </p:spPr>
            <p:txBody>
              <a:bodyPr/>
              <a:lstStyle/>
              <a:p>
                <a:endParaRPr lang="en-AU"/>
              </a:p>
            </p:txBody>
          </p:sp>
          <p:sp>
            <p:nvSpPr>
              <p:cNvPr id="24" name="Freeform 4">
                <a:extLst>
                  <a:ext uri="{FF2B5EF4-FFF2-40B4-BE49-F238E27FC236}">
                    <a16:creationId xmlns:a16="http://schemas.microsoft.com/office/drawing/2014/main" id="{29BBF2DB-7A8E-2EF6-9F06-5D4FEB1156F6}"/>
                  </a:ext>
                </a:extLst>
              </p:cNvPr>
              <p:cNvSpPr/>
              <p:nvPr/>
            </p:nvSpPr>
            <p:spPr>
              <a:xfrm>
                <a:off x="88811" y="0"/>
                <a:ext cx="4841053" cy="4805845"/>
              </a:xfrm>
              <a:custGeom>
                <a:avLst/>
                <a:gdLst/>
                <a:ahLst/>
                <a:cxnLst/>
                <a:rect l="l" t="t" r="r" b="b"/>
                <a:pathLst>
                  <a:path w="4841053" h="4805845">
                    <a:moveTo>
                      <a:pt x="0" y="0"/>
                    </a:moveTo>
                    <a:lnTo>
                      <a:pt x="4841053" y="0"/>
                    </a:lnTo>
                    <a:lnTo>
                      <a:pt x="4841053" y="4805845"/>
                    </a:lnTo>
                    <a:lnTo>
                      <a:pt x="0" y="480584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a:p>
            </p:txBody>
          </p:sp>
          <p:sp>
            <p:nvSpPr>
              <p:cNvPr id="25" name="Freeform 5">
                <a:extLst>
                  <a:ext uri="{FF2B5EF4-FFF2-40B4-BE49-F238E27FC236}">
                    <a16:creationId xmlns:a16="http://schemas.microsoft.com/office/drawing/2014/main" id="{EA34F4EE-BFAF-7948-F547-8902ED64C99B}"/>
                  </a:ext>
                </a:extLst>
              </p:cNvPr>
              <p:cNvSpPr/>
              <p:nvPr/>
            </p:nvSpPr>
            <p:spPr>
              <a:xfrm>
                <a:off x="2772077" y="468693"/>
                <a:ext cx="1535847" cy="1535848"/>
              </a:xfrm>
              <a:custGeom>
                <a:avLst/>
                <a:gdLst/>
                <a:ahLst/>
                <a:cxnLst/>
                <a:rect l="l" t="t" r="r" b="b"/>
                <a:pathLst>
                  <a:path w="1535848" h="1535848">
                    <a:moveTo>
                      <a:pt x="0" y="0"/>
                    </a:moveTo>
                    <a:lnTo>
                      <a:pt x="1535848" y="0"/>
                    </a:lnTo>
                    <a:lnTo>
                      <a:pt x="1535848" y="1535848"/>
                    </a:lnTo>
                    <a:lnTo>
                      <a:pt x="0" y="153584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AU"/>
              </a:p>
            </p:txBody>
          </p:sp>
          <p:sp>
            <p:nvSpPr>
              <p:cNvPr id="26" name="Freeform 6">
                <a:extLst>
                  <a:ext uri="{FF2B5EF4-FFF2-40B4-BE49-F238E27FC236}">
                    <a16:creationId xmlns:a16="http://schemas.microsoft.com/office/drawing/2014/main" id="{6955F553-7F96-8E1D-183D-19F8751F859F}"/>
                  </a:ext>
                </a:extLst>
              </p:cNvPr>
              <p:cNvSpPr/>
              <p:nvPr/>
            </p:nvSpPr>
            <p:spPr>
              <a:xfrm rot="-5480951" flipV="1">
                <a:off x="858140" y="300564"/>
                <a:ext cx="1038449" cy="1499630"/>
              </a:xfrm>
              <a:custGeom>
                <a:avLst/>
                <a:gdLst/>
                <a:ahLst/>
                <a:cxnLst/>
                <a:rect l="l" t="t" r="r" b="b"/>
                <a:pathLst>
                  <a:path w="1038449" h="1499630">
                    <a:moveTo>
                      <a:pt x="0" y="1499629"/>
                    </a:moveTo>
                    <a:lnTo>
                      <a:pt x="1038449" y="1499629"/>
                    </a:lnTo>
                    <a:lnTo>
                      <a:pt x="1038449" y="0"/>
                    </a:lnTo>
                    <a:lnTo>
                      <a:pt x="0" y="0"/>
                    </a:lnTo>
                    <a:lnTo>
                      <a:pt x="0" y="1499629"/>
                    </a:lnTo>
                    <a:close/>
                  </a:path>
                </a:pathLst>
              </a:custGeom>
              <a:blipFill>
                <a:blip r:embed="rId9"/>
                <a:stretch>
                  <a:fillRect t="-46943"/>
                </a:stretch>
              </a:blipFill>
            </p:spPr>
            <p:txBody>
              <a:bodyPr/>
              <a:lstStyle/>
              <a:p>
                <a:endParaRPr lang="en-AU"/>
              </a:p>
            </p:txBody>
          </p:sp>
          <p:sp>
            <p:nvSpPr>
              <p:cNvPr id="27" name="TextBox 7">
                <a:extLst>
                  <a:ext uri="{FF2B5EF4-FFF2-40B4-BE49-F238E27FC236}">
                    <a16:creationId xmlns:a16="http://schemas.microsoft.com/office/drawing/2014/main" id="{BBA753CC-1657-2B25-78C7-06ED51BEEAD8}"/>
                  </a:ext>
                </a:extLst>
              </p:cNvPr>
              <p:cNvSpPr txBox="1"/>
              <p:nvPr/>
            </p:nvSpPr>
            <p:spPr>
              <a:xfrm>
                <a:off x="2644898" y="586760"/>
                <a:ext cx="1962863" cy="1059756"/>
              </a:xfrm>
              <a:prstGeom prst="rect">
                <a:avLst/>
              </a:prstGeom>
            </p:spPr>
            <p:txBody>
              <a:bodyPr wrap="square" lIns="0" tIns="0" rIns="0" bIns="0" rtlCol="0" anchor="t">
                <a:spAutoFit/>
              </a:bodyPr>
              <a:lstStyle/>
              <a:p>
                <a:pPr algn="ctr">
                  <a:lnSpc>
                    <a:spcPts val="5771"/>
                  </a:lnSpc>
                  <a:spcBef>
                    <a:spcPct val="0"/>
                  </a:spcBef>
                </a:pPr>
                <a:r>
                  <a:rPr lang="en-US" sz="3000">
                    <a:solidFill>
                      <a:srgbClr val="FFFFFF"/>
                    </a:solidFill>
                    <a:latin typeface="Canva Student Font"/>
                    <a:ea typeface="Canva Student Font"/>
                    <a:cs typeface="Canva Student Font"/>
                    <a:sym typeface="Canva Student Font"/>
                  </a:rPr>
                  <a:t>10%</a:t>
                </a:r>
              </a:p>
            </p:txBody>
          </p:sp>
          <p:sp>
            <p:nvSpPr>
              <p:cNvPr id="28" name="TextBox 8">
                <a:extLst>
                  <a:ext uri="{FF2B5EF4-FFF2-40B4-BE49-F238E27FC236}">
                    <a16:creationId xmlns:a16="http://schemas.microsoft.com/office/drawing/2014/main" id="{15D48F4E-D94A-6D88-96B9-D7B7711AD751}"/>
                  </a:ext>
                </a:extLst>
              </p:cNvPr>
              <p:cNvSpPr txBox="1"/>
              <p:nvPr/>
            </p:nvSpPr>
            <p:spPr>
              <a:xfrm rot="20674145">
                <a:off x="454620" y="500490"/>
                <a:ext cx="1832443" cy="965013"/>
              </a:xfrm>
              <a:prstGeom prst="rect">
                <a:avLst/>
              </a:prstGeom>
            </p:spPr>
            <p:txBody>
              <a:bodyPr wrap="square" lIns="0" tIns="0" rIns="0" bIns="0" rtlCol="0" anchor="t">
                <a:spAutoFit/>
              </a:bodyPr>
              <a:lstStyle/>
              <a:p>
                <a:pPr algn="ctr">
                  <a:lnSpc>
                    <a:spcPts val="5171"/>
                  </a:lnSpc>
                  <a:spcBef>
                    <a:spcPct val="0"/>
                  </a:spcBef>
                </a:pPr>
                <a:r>
                  <a:rPr lang="en-US" sz="3000">
                    <a:solidFill>
                      <a:srgbClr val="000000"/>
                    </a:solidFill>
                    <a:latin typeface="Canva Student Font"/>
                    <a:ea typeface="Canva Student Font"/>
                    <a:cs typeface="Canva Student Font"/>
                    <a:sym typeface="Canva Student Font"/>
                  </a:rPr>
                  <a:t>$190</a:t>
                </a:r>
              </a:p>
            </p:txBody>
          </p:sp>
          <p:sp>
            <p:nvSpPr>
              <p:cNvPr id="29" name="TextBox 9">
                <a:extLst>
                  <a:ext uri="{FF2B5EF4-FFF2-40B4-BE49-F238E27FC236}">
                    <a16:creationId xmlns:a16="http://schemas.microsoft.com/office/drawing/2014/main" id="{5AC24A2B-AA1C-865C-6EE4-7BE36166ECEA}"/>
                  </a:ext>
                </a:extLst>
              </p:cNvPr>
              <p:cNvSpPr txBox="1"/>
              <p:nvPr/>
            </p:nvSpPr>
            <p:spPr>
              <a:xfrm>
                <a:off x="281963" y="3715356"/>
                <a:ext cx="4706056" cy="585407"/>
              </a:xfrm>
              <a:prstGeom prst="rect">
                <a:avLst/>
              </a:prstGeom>
            </p:spPr>
            <p:txBody>
              <a:bodyPr lIns="0" tIns="0" rIns="0" bIns="0" rtlCol="0" anchor="t">
                <a:spAutoFit/>
              </a:bodyPr>
              <a:lstStyle/>
              <a:p>
                <a:pPr algn="ctr">
                  <a:lnSpc>
                    <a:spcPts val="3096"/>
                  </a:lnSpc>
                  <a:spcBef>
                    <a:spcPct val="0"/>
                  </a:spcBef>
                </a:pPr>
                <a:r>
                  <a:rPr lang="en-US" sz="2000">
                    <a:solidFill>
                      <a:srgbClr val="000000"/>
                    </a:solidFill>
                    <a:latin typeface="Canva Student Font"/>
                    <a:ea typeface="Canva Student Font"/>
                    <a:cs typeface="Canva Student Font"/>
                    <a:sym typeface="Canva Student Font"/>
                  </a:rPr>
                  <a:t>Electric deal Electronics</a:t>
                </a:r>
              </a:p>
            </p:txBody>
          </p:sp>
        </p:grpSp>
        <p:sp>
          <p:nvSpPr>
            <p:cNvPr id="8" name="Freeform 10">
              <a:extLst>
                <a:ext uri="{FF2B5EF4-FFF2-40B4-BE49-F238E27FC236}">
                  <a16:creationId xmlns:a16="http://schemas.microsoft.com/office/drawing/2014/main" id="{7E373747-EA92-049A-B2AF-64AD2B32DCE1}"/>
                </a:ext>
              </a:extLst>
            </p:cNvPr>
            <p:cNvSpPr/>
            <p:nvPr/>
          </p:nvSpPr>
          <p:spPr>
            <a:xfrm>
              <a:off x="6184000" y="1609937"/>
              <a:ext cx="1279948" cy="1379998"/>
            </a:xfrm>
            <a:custGeom>
              <a:avLst/>
              <a:gdLst/>
              <a:ahLst/>
              <a:cxnLst/>
              <a:rect l="l" t="t" r="r" b="b"/>
              <a:pathLst>
                <a:path w="1279948" h="1379998">
                  <a:moveTo>
                    <a:pt x="0" y="0"/>
                  </a:moveTo>
                  <a:lnTo>
                    <a:pt x="1279948" y="0"/>
                  </a:lnTo>
                  <a:lnTo>
                    <a:pt x="1279948" y="1379998"/>
                  </a:lnTo>
                  <a:lnTo>
                    <a:pt x="0" y="1379998"/>
                  </a:lnTo>
                  <a:lnTo>
                    <a:pt x="0" y="0"/>
                  </a:lnTo>
                  <a:close/>
                </a:path>
              </a:pathLst>
            </a:custGeom>
            <a:blipFill>
              <a:blip r:embed="rId4"/>
              <a:stretch>
                <a:fillRect/>
              </a:stretch>
            </a:blipFill>
          </p:spPr>
          <p:txBody>
            <a:bodyPr/>
            <a:lstStyle/>
            <a:p>
              <a:endParaRPr lang="en-AU"/>
            </a:p>
          </p:txBody>
        </p:sp>
        <p:sp>
          <p:nvSpPr>
            <p:cNvPr id="9" name="Freeform 11">
              <a:extLst>
                <a:ext uri="{FF2B5EF4-FFF2-40B4-BE49-F238E27FC236}">
                  <a16:creationId xmlns:a16="http://schemas.microsoft.com/office/drawing/2014/main" id="{83A984EC-F382-A900-9BF5-36E1CC94754D}"/>
                </a:ext>
              </a:extLst>
            </p:cNvPr>
            <p:cNvSpPr/>
            <p:nvPr/>
          </p:nvSpPr>
          <p:spPr>
            <a:xfrm>
              <a:off x="5253565" y="351232"/>
              <a:ext cx="3630790" cy="3604384"/>
            </a:xfrm>
            <a:custGeom>
              <a:avLst/>
              <a:gdLst/>
              <a:ahLst/>
              <a:cxnLst/>
              <a:rect l="l" t="t" r="r" b="b"/>
              <a:pathLst>
                <a:path w="3630790" h="3604384">
                  <a:moveTo>
                    <a:pt x="0" y="0"/>
                  </a:moveTo>
                  <a:lnTo>
                    <a:pt x="3630789" y="0"/>
                  </a:lnTo>
                  <a:lnTo>
                    <a:pt x="3630789" y="3604384"/>
                  </a:lnTo>
                  <a:lnTo>
                    <a:pt x="0" y="360438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a:p>
          </p:txBody>
        </p:sp>
        <p:sp>
          <p:nvSpPr>
            <p:cNvPr id="10" name="Freeform 12">
              <a:extLst>
                <a:ext uri="{FF2B5EF4-FFF2-40B4-BE49-F238E27FC236}">
                  <a16:creationId xmlns:a16="http://schemas.microsoft.com/office/drawing/2014/main" id="{B656C21A-9123-CCEE-99BF-CC768BBAFF9F}"/>
                </a:ext>
              </a:extLst>
            </p:cNvPr>
            <p:cNvSpPr/>
            <p:nvPr/>
          </p:nvSpPr>
          <p:spPr>
            <a:xfrm>
              <a:off x="7364035" y="965624"/>
              <a:ext cx="1151886" cy="1151886"/>
            </a:xfrm>
            <a:custGeom>
              <a:avLst/>
              <a:gdLst/>
              <a:ahLst/>
              <a:cxnLst/>
              <a:rect l="l" t="t" r="r" b="b"/>
              <a:pathLst>
                <a:path w="1151886" h="1151886">
                  <a:moveTo>
                    <a:pt x="0" y="0"/>
                  </a:moveTo>
                  <a:lnTo>
                    <a:pt x="1151887" y="0"/>
                  </a:lnTo>
                  <a:lnTo>
                    <a:pt x="1151887" y="1151886"/>
                  </a:lnTo>
                  <a:lnTo>
                    <a:pt x="0" y="115188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AU"/>
            </a:p>
          </p:txBody>
        </p:sp>
        <p:sp>
          <p:nvSpPr>
            <p:cNvPr id="11" name="Freeform 13">
              <a:extLst>
                <a:ext uri="{FF2B5EF4-FFF2-40B4-BE49-F238E27FC236}">
                  <a16:creationId xmlns:a16="http://schemas.microsoft.com/office/drawing/2014/main" id="{ADF545F5-FF9C-7589-49D4-48EA7CDB35DD}"/>
                </a:ext>
              </a:extLst>
            </p:cNvPr>
            <p:cNvSpPr/>
            <p:nvPr/>
          </p:nvSpPr>
          <p:spPr>
            <a:xfrm rot="-5480951" flipV="1">
              <a:off x="5897170" y="576655"/>
              <a:ext cx="778837" cy="1124722"/>
            </a:xfrm>
            <a:custGeom>
              <a:avLst/>
              <a:gdLst/>
              <a:ahLst/>
              <a:cxnLst/>
              <a:rect l="l" t="t" r="r" b="b"/>
              <a:pathLst>
                <a:path w="778837" h="1124722">
                  <a:moveTo>
                    <a:pt x="0" y="1124722"/>
                  </a:moveTo>
                  <a:lnTo>
                    <a:pt x="778836" y="1124722"/>
                  </a:lnTo>
                  <a:lnTo>
                    <a:pt x="778836" y="0"/>
                  </a:lnTo>
                  <a:lnTo>
                    <a:pt x="0" y="0"/>
                  </a:lnTo>
                  <a:lnTo>
                    <a:pt x="0" y="1124722"/>
                  </a:lnTo>
                  <a:close/>
                </a:path>
              </a:pathLst>
            </a:custGeom>
            <a:blipFill>
              <a:blip r:embed="rId9"/>
              <a:stretch>
                <a:fillRect t="-46943"/>
              </a:stretch>
            </a:blipFill>
          </p:spPr>
          <p:txBody>
            <a:bodyPr/>
            <a:lstStyle/>
            <a:p>
              <a:endParaRPr lang="en-AU"/>
            </a:p>
          </p:txBody>
        </p:sp>
        <p:sp>
          <p:nvSpPr>
            <p:cNvPr id="12" name="TextBox 14">
              <a:extLst>
                <a:ext uri="{FF2B5EF4-FFF2-40B4-BE49-F238E27FC236}">
                  <a16:creationId xmlns:a16="http://schemas.microsoft.com/office/drawing/2014/main" id="{26695CB5-53E1-1ED2-5B8F-3863A21C2539}"/>
                </a:ext>
              </a:extLst>
            </p:cNvPr>
            <p:cNvSpPr txBox="1"/>
            <p:nvPr/>
          </p:nvSpPr>
          <p:spPr>
            <a:xfrm>
              <a:off x="7413992" y="1002949"/>
              <a:ext cx="1151886" cy="794817"/>
            </a:xfrm>
            <a:prstGeom prst="rect">
              <a:avLst/>
            </a:prstGeom>
          </p:spPr>
          <p:txBody>
            <a:bodyPr wrap="square" lIns="0" tIns="0" rIns="0" bIns="0" rtlCol="0" anchor="t">
              <a:spAutoFit/>
            </a:bodyPr>
            <a:lstStyle/>
            <a:p>
              <a:pPr algn="ctr">
                <a:lnSpc>
                  <a:spcPts val="5771"/>
                </a:lnSpc>
                <a:spcBef>
                  <a:spcPct val="0"/>
                </a:spcBef>
              </a:pPr>
              <a:r>
                <a:rPr lang="en-US" sz="3000">
                  <a:solidFill>
                    <a:srgbClr val="FFFFFF"/>
                  </a:solidFill>
                  <a:latin typeface="Canva Student Font"/>
                  <a:ea typeface="Canva Student Font"/>
                  <a:cs typeface="Canva Student Font"/>
                  <a:sym typeface="Canva Student Font"/>
                </a:rPr>
                <a:t>25%</a:t>
              </a:r>
            </a:p>
          </p:txBody>
        </p:sp>
        <p:sp>
          <p:nvSpPr>
            <p:cNvPr id="13" name="TextBox 15">
              <a:extLst>
                <a:ext uri="{FF2B5EF4-FFF2-40B4-BE49-F238E27FC236}">
                  <a16:creationId xmlns:a16="http://schemas.microsoft.com/office/drawing/2014/main" id="{C22866EF-BCAD-060A-79E7-02094EA28433}"/>
                </a:ext>
              </a:extLst>
            </p:cNvPr>
            <p:cNvSpPr txBox="1"/>
            <p:nvPr/>
          </p:nvSpPr>
          <p:spPr>
            <a:xfrm rot="20674145">
              <a:off x="5585160" y="706723"/>
              <a:ext cx="1297496" cy="723760"/>
            </a:xfrm>
            <a:prstGeom prst="rect">
              <a:avLst/>
            </a:prstGeom>
          </p:spPr>
          <p:txBody>
            <a:bodyPr lIns="0" tIns="0" rIns="0" bIns="0" rtlCol="0" anchor="t">
              <a:spAutoFit/>
            </a:bodyPr>
            <a:lstStyle/>
            <a:p>
              <a:pPr algn="ctr">
                <a:lnSpc>
                  <a:spcPts val="5171"/>
                </a:lnSpc>
                <a:spcBef>
                  <a:spcPct val="0"/>
                </a:spcBef>
              </a:pPr>
              <a:r>
                <a:rPr lang="en-US" sz="3000">
                  <a:solidFill>
                    <a:srgbClr val="000000"/>
                  </a:solidFill>
                  <a:latin typeface="Canva Student Font"/>
                  <a:ea typeface="Canva Student Font"/>
                  <a:cs typeface="Canva Student Font"/>
                  <a:sym typeface="Canva Student Font"/>
                </a:rPr>
                <a:t>$200</a:t>
              </a:r>
            </a:p>
          </p:txBody>
        </p:sp>
        <p:sp>
          <p:nvSpPr>
            <p:cNvPr id="14" name="TextBox 16">
              <a:extLst>
                <a:ext uri="{FF2B5EF4-FFF2-40B4-BE49-F238E27FC236}">
                  <a16:creationId xmlns:a16="http://schemas.microsoft.com/office/drawing/2014/main" id="{1B54B31F-254B-FCFC-B8B1-BF5C4CE08B95}"/>
                </a:ext>
              </a:extLst>
            </p:cNvPr>
            <p:cNvSpPr txBox="1"/>
            <p:nvPr/>
          </p:nvSpPr>
          <p:spPr>
            <a:xfrm>
              <a:off x="5253564" y="3125842"/>
              <a:ext cx="3529542" cy="431871"/>
            </a:xfrm>
            <a:prstGeom prst="rect">
              <a:avLst/>
            </a:prstGeom>
          </p:spPr>
          <p:txBody>
            <a:bodyPr lIns="0" tIns="0" rIns="0" bIns="0" rtlCol="0" anchor="t">
              <a:spAutoFit/>
            </a:bodyPr>
            <a:lstStyle/>
            <a:p>
              <a:pPr algn="ctr">
                <a:lnSpc>
                  <a:spcPts val="3096"/>
                </a:lnSpc>
                <a:spcBef>
                  <a:spcPct val="0"/>
                </a:spcBef>
              </a:pPr>
              <a:r>
                <a:rPr lang="en-US">
                  <a:solidFill>
                    <a:srgbClr val="000000"/>
                  </a:solidFill>
                  <a:latin typeface="Canva Student Font"/>
                  <a:ea typeface="Canva Student Font"/>
                  <a:cs typeface="Canva Student Font"/>
                  <a:sym typeface="Canva Student Font"/>
                </a:rPr>
                <a:t>Bargain Electronics</a:t>
              </a:r>
            </a:p>
          </p:txBody>
        </p:sp>
        <p:grpSp>
          <p:nvGrpSpPr>
            <p:cNvPr id="15" name="Group 17">
              <a:extLst>
                <a:ext uri="{FF2B5EF4-FFF2-40B4-BE49-F238E27FC236}">
                  <a16:creationId xmlns:a16="http://schemas.microsoft.com/office/drawing/2014/main" id="{10E75B71-E444-62FC-30EA-7BB59655437D}"/>
                </a:ext>
              </a:extLst>
            </p:cNvPr>
            <p:cNvGrpSpPr/>
            <p:nvPr/>
          </p:nvGrpSpPr>
          <p:grpSpPr>
            <a:xfrm>
              <a:off x="3219517" y="3955616"/>
              <a:ext cx="3664094" cy="3604384"/>
              <a:chOff x="0" y="0"/>
              <a:chExt cx="4885458" cy="4805845"/>
            </a:xfrm>
          </p:grpSpPr>
          <p:sp>
            <p:nvSpPr>
              <p:cNvPr id="16" name="Freeform 18">
                <a:extLst>
                  <a:ext uri="{FF2B5EF4-FFF2-40B4-BE49-F238E27FC236}">
                    <a16:creationId xmlns:a16="http://schemas.microsoft.com/office/drawing/2014/main" id="{938397C3-A459-FFAA-02B5-497E8689EA30}"/>
                  </a:ext>
                </a:extLst>
              </p:cNvPr>
              <p:cNvSpPr/>
              <p:nvPr/>
            </p:nvSpPr>
            <p:spPr>
              <a:xfrm>
                <a:off x="1240580" y="1726158"/>
                <a:ext cx="1706597" cy="1839997"/>
              </a:xfrm>
              <a:custGeom>
                <a:avLst/>
                <a:gdLst/>
                <a:ahLst/>
                <a:cxnLst/>
                <a:rect l="l" t="t" r="r" b="b"/>
                <a:pathLst>
                  <a:path w="1706597" h="1839997">
                    <a:moveTo>
                      <a:pt x="0" y="0"/>
                    </a:moveTo>
                    <a:lnTo>
                      <a:pt x="1706597" y="0"/>
                    </a:lnTo>
                    <a:lnTo>
                      <a:pt x="1706597" y="1839997"/>
                    </a:lnTo>
                    <a:lnTo>
                      <a:pt x="0" y="1839997"/>
                    </a:lnTo>
                    <a:lnTo>
                      <a:pt x="0" y="0"/>
                    </a:lnTo>
                    <a:close/>
                  </a:path>
                </a:pathLst>
              </a:custGeom>
              <a:blipFill>
                <a:blip r:embed="rId4"/>
                <a:stretch>
                  <a:fillRect/>
                </a:stretch>
              </a:blipFill>
            </p:spPr>
            <p:txBody>
              <a:bodyPr/>
              <a:lstStyle/>
              <a:p>
                <a:endParaRPr lang="en-AU"/>
              </a:p>
            </p:txBody>
          </p:sp>
          <p:sp>
            <p:nvSpPr>
              <p:cNvPr id="17" name="Freeform 19">
                <a:extLst>
                  <a:ext uri="{FF2B5EF4-FFF2-40B4-BE49-F238E27FC236}">
                    <a16:creationId xmlns:a16="http://schemas.microsoft.com/office/drawing/2014/main" id="{DAE7FD46-9542-C6FF-A620-3B82C0E16529}"/>
                  </a:ext>
                </a:extLst>
              </p:cNvPr>
              <p:cNvSpPr/>
              <p:nvPr/>
            </p:nvSpPr>
            <p:spPr>
              <a:xfrm>
                <a:off x="44405" y="0"/>
                <a:ext cx="4841053" cy="4805845"/>
              </a:xfrm>
              <a:custGeom>
                <a:avLst/>
                <a:gdLst/>
                <a:ahLst/>
                <a:cxnLst/>
                <a:rect l="l" t="t" r="r" b="b"/>
                <a:pathLst>
                  <a:path w="4841053" h="4805845">
                    <a:moveTo>
                      <a:pt x="0" y="0"/>
                    </a:moveTo>
                    <a:lnTo>
                      <a:pt x="4841053" y="0"/>
                    </a:lnTo>
                    <a:lnTo>
                      <a:pt x="4841053" y="4805845"/>
                    </a:lnTo>
                    <a:lnTo>
                      <a:pt x="0" y="480584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a:p>
            </p:txBody>
          </p:sp>
          <p:sp>
            <p:nvSpPr>
              <p:cNvPr id="18" name="Freeform 20">
                <a:extLst>
                  <a:ext uri="{FF2B5EF4-FFF2-40B4-BE49-F238E27FC236}">
                    <a16:creationId xmlns:a16="http://schemas.microsoft.com/office/drawing/2014/main" id="{0B58411B-FADC-07A1-3A0E-050A8EF96A80}"/>
                  </a:ext>
                </a:extLst>
              </p:cNvPr>
              <p:cNvSpPr/>
              <p:nvPr/>
            </p:nvSpPr>
            <p:spPr>
              <a:xfrm>
                <a:off x="2813961" y="867075"/>
                <a:ext cx="1535848" cy="1535848"/>
              </a:xfrm>
              <a:custGeom>
                <a:avLst/>
                <a:gdLst/>
                <a:ahLst/>
                <a:cxnLst/>
                <a:rect l="l" t="t" r="r" b="b"/>
                <a:pathLst>
                  <a:path w="1535848" h="1535848">
                    <a:moveTo>
                      <a:pt x="0" y="0"/>
                    </a:moveTo>
                    <a:lnTo>
                      <a:pt x="1535848" y="0"/>
                    </a:lnTo>
                    <a:lnTo>
                      <a:pt x="1535848" y="1535848"/>
                    </a:lnTo>
                    <a:lnTo>
                      <a:pt x="0" y="153584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AU"/>
              </a:p>
            </p:txBody>
          </p:sp>
          <p:sp>
            <p:nvSpPr>
              <p:cNvPr id="19" name="Freeform 21">
                <a:extLst>
                  <a:ext uri="{FF2B5EF4-FFF2-40B4-BE49-F238E27FC236}">
                    <a16:creationId xmlns:a16="http://schemas.microsoft.com/office/drawing/2014/main" id="{7E6E587A-AFD0-4B9C-1D3E-BEC3028D8AE6}"/>
                  </a:ext>
                </a:extLst>
              </p:cNvPr>
              <p:cNvSpPr/>
              <p:nvPr/>
            </p:nvSpPr>
            <p:spPr>
              <a:xfrm rot="-5480951" flipV="1">
                <a:off x="858140" y="348448"/>
                <a:ext cx="1038449" cy="1499630"/>
              </a:xfrm>
              <a:custGeom>
                <a:avLst/>
                <a:gdLst/>
                <a:ahLst/>
                <a:cxnLst/>
                <a:rect l="l" t="t" r="r" b="b"/>
                <a:pathLst>
                  <a:path w="1038449" h="1499630">
                    <a:moveTo>
                      <a:pt x="0" y="1499630"/>
                    </a:moveTo>
                    <a:lnTo>
                      <a:pt x="1038449" y="1499630"/>
                    </a:lnTo>
                    <a:lnTo>
                      <a:pt x="1038449" y="0"/>
                    </a:lnTo>
                    <a:lnTo>
                      <a:pt x="0" y="0"/>
                    </a:lnTo>
                    <a:lnTo>
                      <a:pt x="0" y="1499630"/>
                    </a:lnTo>
                    <a:close/>
                  </a:path>
                </a:pathLst>
              </a:custGeom>
              <a:blipFill>
                <a:blip r:embed="rId9"/>
                <a:stretch>
                  <a:fillRect t="-46943"/>
                </a:stretch>
              </a:blipFill>
            </p:spPr>
            <p:txBody>
              <a:bodyPr/>
              <a:lstStyle/>
              <a:p>
                <a:endParaRPr lang="en-AU"/>
              </a:p>
            </p:txBody>
          </p:sp>
          <p:sp>
            <p:nvSpPr>
              <p:cNvPr id="20" name="TextBox 22">
                <a:extLst>
                  <a:ext uri="{FF2B5EF4-FFF2-40B4-BE49-F238E27FC236}">
                    <a16:creationId xmlns:a16="http://schemas.microsoft.com/office/drawing/2014/main" id="{D42CE6E2-16D7-7BF0-34B7-FB821BB8B7C0}"/>
                  </a:ext>
                </a:extLst>
              </p:cNvPr>
              <p:cNvSpPr txBox="1"/>
              <p:nvPr/>
            </p:nvSpPr>
            <p:spPr>
              <a:xfrm>
                <a:off x="2934181" y="1046677"/>
                <a:ext cx="1428623" cy="1059756"/>
              </a:xfrm>
              <a:prstGeom prst="rect">
                <a:avLst/>
              </a:prstGeom>
            </p:spPr>
            <p:txBody>
              <a:bodyPr wrap="square" lIns="0" tIns="0" rIns="0" bIns="0" rtlCol="0" anchor="t">
                <a:spAutoFit/>
              </a:bodyPr>
              <a:lstStyle/>
              <a:p>
                <a:pPr algn="ctr">
                  <a:lnSpc>
                    <a:spcPts val="5771"/>
                  </a:lnSpc>
                  <a:spcBef>
                    <a:spcPct val="0"/>
                  </a:spcBef>
                </a:pPr>
                <a:r>
                  <a:rPr lang="en-US" sz="3000">
                    <a:solidFill>
                      <a:srgbClr val="FFFFFF"/>
                    </a:solidFill>
                    <a:latin typeface="Canva Student Font"/>
                    <a:ea typeface="Canva Student Font"/>
                    <a:cs typeface="Canva Student Font"/>
                    <a:sym typeface="Canva Student Font"/>
                  </a:rPr>
                  <a:t>50%</a:t>
                </a:r>
              </a:p>
            </p:txBody>
          </p:sp>
          <p:sp>
            <p:nvSpPr>
              <p:cNvPr id="21" name="TextBox 23">
                <a:extLst>
                  <a:ext uri="{FF2B5EF4-FFF2-40B4-BE49-F238E27FC236}">
                    <a16:creationId xmlns:a16="http://schemas.microsoft.com/office/drawing/2014/main" id="{18781D25-E5E9-D993-EEA9-C274E6B824FD}"/>
                  </a:ext>
                </a:extLst>
              </p:cNvPr>
              <p:cNvSpPr txBox="1"/>
              <p:nvPr/>
            </p:nvSpPr>
            <p:spPr>
              <a:xfrm rot="20674145">
                <a:off x="369683" y="504444"/>
                <a:ext cx="1915148" cy="965013"/>
              </a:xfrm>
              <a:prstGeom prst="rect">
                <a:avLst/>
              </a:prstGeom>
            </p:spPr>
            <p:txBody>
              <a:bodyPr lIns="0" tIns="0" rIns="0" bIns="0" rtlCol="0" anchor="t">
                <a:spAutoFit/>
              </a:bodyPr>
              <a:lstStyle/>
              <a:p>
                <a:pPr algn="ctr">
                  <a:lnSpc>
                    <a:spcPts val="5171"/>
                  </a:lnSpc>
                  <a:spcBef>
                    <a:spcPct val="0"/>
                  </a:spcBef>
                </a:pPr>
                <a:r>
                  <a:rPr lang="en-US" sz="3000">
                    <a:solidFill>
                      <a:srgbClr val="000000"/>
                    </a:solidFill>
                    <a:latin typeface="Canva Student Font"/>
                    <a:ea typeface="Canva Student Font"/>
                    <a:cs typeface="Canva Student Font"/>
                    <a:sym typeface="Canva Student Font"/>
                  </a:rPr>
                  <a:t>$350</a:t>
                </a:r>
              </a:p>
            </p:txBody>
          </p:sp>
          <p:sp>
            <p:nvSpPr>
              <p:cNvPr id="22" name="TextBox 24">
                <a:extLst>
                  <a:ext uri="{FF2B5EF4-FFF2-40B4-BE49-F238E27FC236}">
                    <a16:creationId xmlns:a16="http://schemas.microsoft.com/office/drawing/2014/main" id="{C520A149-B1BD-859F-DE5D-5ECF9B1354B1}"/>
                  </a:ext>
                </a:extLst>
              </p:cNvPr>
              <p:cNvSpPr txBox="1"/>
              <p:nvPr/>
            </p:nvSpPr>
            <p:spPr>
              <a:xfrm>
                <a:off x="0" y="3763241"/>
                <a:ext cx="4706055" cy="575828"/>
              </a:xfrm>
              <a:prstGeom prst="rect">
                <a:avLst/>
              </a:prstGeom>
            </p:spPr>
            <p:txBody>
              <a:bodyPr lIns="0" tIns="0" rIns="0" bIns="0" rtlCol="0" anchor="t">
                <a:spAutoFit/>
              </a:bodyPr>
              <a:lstStyle/>
              <a:p>
                <a:pPr algn="ctr">
                  <a:lnSpc>
                    <a:spcPts val="3096"/>
                  </a:lnSpc>
                  <a:spcBef>
                    <a:spcPct val="0"/>
                  </a:spcBef>
                </a:pPr>
                <a:r>
                  <a:rPr lang="en-US">
                    <a:solidFill>
                      <a:srgbClr val="000000"/>
                    </a:solidFill>
                    <a:latin typeface="Canva Student Font"/>
                    <a:ea typeface="Canva Student Font"/>
                    <a:cs typeface="Canva Student Font"/>
                    <a:sym typeface="Canva Student Font"/>
                  </a:rPr>
                  <a:t>Number one deals</a:t>
                </a:r>
              </a:p>
            </p:txBody>
          </p:sp>
        </p:grpSp>
      </p:gr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62</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63</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67</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a:t>Multiple choice </a:t>
            </a:r>
            <a:r>
              <a:rPr lang="en-US">
                <a:solidFill>
                  <a:schemeClr val="bg1"/>
                </a:solidFill>
              </a:rPr>
              <a:t>(6)</a:t>
            </a:r>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1625945"/>
            <a:ext cx="11243037" cy="754243"/>
          </a:xfrm>
        </p:spPr>
        <p:txBody>
          <a:bodyPr/>
          <a:lstStyle/>
          <a:p>
            <a:endParaRPr lang="en-US"/>
          </a:p>
        </p:txBody>
      </p:sp>
      <p:sp>
        <p:nvSpPr>
          <p:cNvPr id="9" name="TextBox 8">
            <a:extLst>
              <a:ext uri="{FF2B5EF4-FFF2-40B4-BE49-F238E27FC236}">
                <a16:creationId xmlns:a16="http://schemas.microsoft.com/office/drawing/2014/main" id="{17539DAC-4E92-AFE5-86E8-50C88518EFA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Text Placeholder 17">
            <a:extLst>
              <a:ext uri="{FF2B5EF4-FFF2-40B4-BE49-F238E27FC236}">
                <a16:creationId xmlns:a16="http://schemas.microsoft.com/office/drawing/2014/main" id="{DD9E4C8E-C942-2FA4-6AAC-B2B3D321FC2F}"/>
              </a:ext>
            </a:extLst>
          </p:cNvPr>
          <p:cNvSpPr>
            <a:spLocks noGrp="1"/>
          </p:cNvSpPr>
          <p:nvPr>
            <p:ph type="body" sz="quarter" idx="31"/>
          </p:nvPr>
        </p:nvSpPr>
        <p:spPr>
          <a:xfrm>
            <a:off x="1345520" y="2877704"/>
            <a:ext cx="10175920" cy="641396"/>
          </a:xfrm>
        </p:spPr>
        <p:txBody>
          <a:bodyPr/>
          <a:lstStyle/>
          <a:p>
            <a:endParaRPr lang="en-US"/>
          </a:p>
        </p:txBody>
      </p:sp>
      <p:sp>
        <p:nvSpPr>
          <p:cNvPr id="10" name="TextBox 9">
            <a:extLst>
              <a:ext uri="{FF2B5EF4-FFF2-40B4-BE49-F238E27FC236}">
                <a16:creationId xmlns:a16="http://schemas.microsoft.com/office/drawing/2014/main" id="{0E33B1A6-4106-9E75-7645-88335BABE19D}"/>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5E4A5EB3-F414-A07E-B091-A6903C289403}"/>
              </a:ext>
            </a:extLst>
          </p:cNvPr>
          <p:cNvSpPr>
            <a:spLocks noGrp="1"/>
          </p:cNvSpPr>
          <p:nvPr>
            <p:ph type="body" sz="quarter" idx="30"/>
          </p:nvPr>
        </p:nvSpPr>
        <p:spPr>
          <a:xfrm>
            <a:off x="1345520" y="3725617"/>
            <a:ext cx="10175920" cy="641396"/>
          </a:xfrm>
        </p:spPr>
        <p:txBody>
          <a:bodyPr/>
          <a:lstStyle/>
          <a:p>
            <a:endParaRPr lang="en-US"/>
          </a:p>
        </p:txBody>
      </p:sp>
      <p:sp>
        <p:nvSpPr>
          <p:cNvPr id="12" name="TextBox 11">
            <a:extLst>
              <a:ext uri="{FF2B5EF4-FFF2-40B4-BE49-F238E27FC236}">
                <a16:creationId xmlns:a16="http://schemas.microsoft.com/office/drawing/2014/main" id="{7E4BDDCB-88AF-EC45-6F07-05B50A0060D2}"/>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5">
            <a:extLst>
              <a:ext uri="{FF2B5EF4-FFF2-40B4-BE49-F238E27FC236}">
                <a16:creationId xmlns:a16="http://schemas.microsoft.com/office/drawing/2014/main" id="{E2AEB52E-AFAA-8A1C-4AC0-681B940D0160}"/>
              </a:ext>
            </a:extLst>
          </p:cNvPr>
          <p:cNvSpPr>
            <a:spLocks noGrp="1"/>
          </p:cNvSpPr>
          <p:nvPr>
            <p:ph type="body" sz="quarter" idx="29"/>
          </p:nvPr>
        </p:nvSpPr>
        <p:spPr>
          <a:xfrm>
            <a:off x="1345520" y="4575670"/>
            <a:ext cx="10175920" cy="641396"/>
          </a:xfrm>
        </p:spPr>
        <p:txBody>
          <a:bodyPr/>
          <a:lstStyle/>
          <a:p>
            <a:endParaRPr lang="en-US"/>
          </a:p>
        </p:txBody>
      </p:sp>
      <p:sp>
        <p:nvSpPr>
          <p:cNvPr id="11" name="TextBox 10">
            <a:extLst>
              <a:ext uri="{FF2B5EF4-FFF2-40B4-BE49-F238E27FC236}">
                <a16:creationId xmlns:a16="http://schemas.microsoft.com/office/drawing/2014/main" id="{28ADB1A3-D5FD-9EC3-BED8-5982F1544E0E}"/>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3">
            <a:extLst>
              <a:ext uri="{FF2B5EF4-FFF2-40B4-BE49-F238E27FC236}">
                <a16:creationId xmlns:a16="http://schemas.microsoft.com/office/drawing/2014/main" id="{AB4F46E8-39CC-516C-AA47-44AFBB8D4DF4}"/>
              </a:ext>
            </a:extLst>
          </p:cNvPr>
          <p:cNvSpPr>
            <a:spLocks noGrp="1"/>
          </p:cNvSpPr>
          <p:nvPr>
            <p:ph type="body" sz="quarter" idx="27"/>
          </p:nvPr>
        </p:nvSpPr>
        <p:spPr>
          <a:xfrm>
            <a:off x="1345520" y="5425723"/>
            <a:ext cx="10175920" cy="641396"/>
          </a:xfrm>
        </p:spPr>
        <p:txBody>
          <a:bodyPr/>
          <a:lstStyle/>
          <a:p>
            <a:endParaRPr lang="en-US"/>
          </a:p>
        </p:txBody>
      </p:sp>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68</a:t>
            </a:fld>
            <a:endParaRPr lang="en-AU"/>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 </a:t>
            </a:r>
            <a:r>
              <a:rPr lang="en-AU">
                <a:solidFill>
                  <a:schemeClr val="accent4"/>
                </a:solidFill>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2">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pPr>
              <a:lnSpc>
                <a:spcPct val="150000"/>
              </a:lnSpc>
              <a:spcBef>
                <a:spcPts val="1200"/>
              </a:spcBef>
              <a:spcAft>
                <a:spcPts val="600"/>
              </a:spcAft>
            </a:pPr>
            <a:r>
              <a:rPr lang="en-AU">
                <a:solidFill>
                  <a:schemeClr val="accent2"/>
                </a:solidFill>
                <a:latin typeface="Public Sans Light"/>
                <a:cs typeface="+mn-cs"/>
                <a:hlinkClick r:id="rId5">
                  <a:extLst>
                    <a:ext uri="{A12FA001-AC4F-418D-AE19-62706E023703}">
                      <ahyp:hlinkClr xmlns:ahyp="http://schemas.microsoft.com/office/drawing/2018/hyperlinkcolor" val="tx"/>
                    </a:ext>
                  </a:extLst>
                </a:hlinkClick>
              </a:rPr>
              <a:t>Mathematics K–10 Syllabus</a:t>
            </a:r>
            <a:r>
              <a:rPr lang="en-AU">
                <a:solidFill>
                  <a:schemeClr val="accent2"/>
                </a:solidFill>
                <a:latin typeface="Public Sans Light"/>
                <a:cs typeface="+mn-cs"/>
              </a:rPr>
              <a:t> </a:t>
            </a:r>
            <a:r>
              <a:rPr lang="en-AU">
                <a:latin typeface="Public Sans Light"/>
                <a:cs typeface="+mn-cs"/>
              </a:rPr>
              <a:t>© NSW Education Standards Authority (NESA) for and on behalf of the Crown in right of the State of New South Wales, 2022.</a:t>
            </a:r>
          </a:p>
          <a:p>
            <a:pPr>
              <a:lnSpc>
                <a:spcPct val="150000"/>
              </a:lnSpc>
              <a:spcBef>
                <a:spcPts val="1200"/>
              </a:spcBef>
              <a:spcAft>
                <a:spcPts val="600"/>
              </a:spcAft>
            </a:pPr>
            <a:r>
              <a:rPr lang="en-AU">
                <a:solidFill>
                  <a:schemeClr val="accent2"/>
                </a:solidFill>
                <a:latin typeface="Public Sans Light"/>
                <a:cs typeface="+mn-cs"/>
                <a:hlinkClick r:id="rId6">
                  <a:extLst>
                    <a:ext uri="{A12FA001-AC4F-418D-AE19-62706E023703}">
                      <ahyp:hlinkClr xmlns:ahyp="http://schemas.microsoft.com/office/drawing/2018/hyperlinkcolor" val="tx"/>
                    </a:ext>
                  </a:extLst>
                </a:hlinkClick>
              </a:rPr>
              <a:t>National Numeracy Learning Progression</a:t>
            </a:r>
            <a:r>
              <a:rPr lang="en-AU">
                <a:solidFill>
                  <a:schemeClr val="accent2"/>
                </a:solidFill>
                <a:latin typeface="Public Sans Light"/>
                <a:cs typeface="+mn-cs"/>
              </a:rPr>
              <a:t> </a:t>
            </a:r>
            <a:r>
              <a:rPr lang="en-AU">
                <a:latin typeface="Public Sans Light"/>
                <a:cs typeface="+mn-cs"/>
              </a:rPr>
              <a:t>© Australian Curriculum, Assessment and Reporting Authority (ACARA) 2010 to present, unless otherwise indicated. This material was downloaded from the </a:t>
            </a:r>
            <a:r>
              <a:rPr lang="en-AU">
                <a:solidFill>
                  <a:schemeClr val="accent2"/>
                </a:solidFill>
                <a:latin typeface="Public Sans Light"/>
                <a:cs typeface="+mn-cs"/>
                <a:hlinkClick r:id="rId7">
                  <a:extLst>
                    <a:ext uri="{A12FA001-AC4F-418D-AE19-62706E023703}">
                      <ahyp:hlinkClr xmlns:ahyp="http://schemas.microsoft.com/office/drawing/2018/hyperlinkcolor" val="tx"/>
                    </a:ext>
                  </a:extLst>
                </a:hlinkClick>
              </a:rPr>
              <a:t>Australian Curriculum</a:t>
            </a:r>
            <a:r>
              <a:rPr lang="en-AU">
                <a:solidFill>
                  <a:schemeClr val="accent2"/>
                </a:solidFill>
                <a:latin typeface="Public Sans Light"/>
                <a:cs typeface="+mn-cs"/>
              </a:rPr>
              <a:t> </a:t>
            </a:r>
            <a:r>
              <a:rPr lang="en-AU">
                <a:latin typeface="Public Sans Light"/>
                <a:cs typeface="+mn-cs"/>
              </a:rPr>
              <a:t>website (National Numeracy Learning Progression) (accessed 4 April 2024 and was not modified.)</a:t>
            </a:r>
          </a:p>
          <a:p>
            <a:pPr>
              <a:lnSpc>
                <a:spcPct val="150000"/>
              </a:lnSpc>
              <a:spcBef>
                <a:spcPts val="1200"/>
              </a:spcBef>
              <a:spcAft>
                <a:spcPts val="600"/>
              </a:spcAft>
            </a:pPr>
            <a:r>
              <a:rPr lang="en-AU">
                <a:latin typeface="Public Sans Light"/>
                <a:cs typeface="+mn-cs"/>
              </a:rPr>
              <a:t>ABC (Australian Broadcasting Corporation) (19 January 2022) </a:t>
            </a:r>
            <a:r>
              <a:rPr lang="en-AU">
                <a:solidFill>
                  <a:schemeClr val="accent2"/>
                </a:solidFill>
                <a:latin typeface="Public Sans Light"/>
                <a:cs typeface="+mn-cs"/>
                <a:hlinkClick r:id="rId8">
                  <a:extLst>
                    <a:ext uri="{A12FA001-AC4F-418D-AE19-62706E023703}">
                      <ahyp:hlinkClr xmlns:ahyp="http://schemas.microsoft.com/office/drawing/2018/hyperlinkcolor" val="tx"/>
                    </a:ext>
                  </a:extLst>
                </a:hlinkClick>
              </a:rPr>
              <a:t>'Catalyst: How to win at rock-paper-scissors' [video]</a:t>
            </a:r>
            <a:r>
              <a:rPr lang="en-AU">
                <a:solidFill>
                  <a:schemeClr val="accent2"/>
                </a:solidFill>
                <a:latin typeface="Public Sans Light"/>
                <a:cs typeface="+mn-cs"/>
              </a:rPr>
              <a:t>, </a:t>
            </a:r>
            <a:r>
              <a:rPr lang="en-AU">
                <a:latin typeface="Public Sans Light"/>
                <a:cs typeface="+mn-cs"/>
              </a:rPr>
              <a:t>Catalyst, ABC Education website, accessed 9 April 2024.</a:t>
            </a:r>
          </a:p>
          <a:p>
            <a:pPr>
              <a:lnSpc>
                <a:spcPct val="150000"/>
              </a:lnSpc>
              <a:spcBef>
                <a:spcPts val="1200"/>
              </a:spcBef>
              <a:spcAft>
                <a:spcPts val="600"/>
              </a:spcAft>
            </a:pPr>
            <a:r>
              <a:rPr lang="en-AU">
                <a:latin typeface="Public Sans Light"/>
                <a:cs typeface="+mn-cs"/>
              </a:rPr>
              <a:t>AIMS (Australian Institute of Marine Science) (n.d.) ‘</a:t>
            </a:r>
            <a:r>
              <a:rPr lang="en-AU">
                <a:solidFill>
                  <a:schemeClr val="accent2"/>
                </a:solidFill>
                <a:latin typeface="Public Sans Light"/>
                <a:cs typeface="+mn-cs"/>
                <a:hlinkClick r:id="rId9">
                  <a:extLst>
                    <a:ext uri="{A12FA001-AC4F-418D-AE19-62706E023703}">
                      <ahyp:hlinkClr xmlns:ahyp="http://schemas.microsoft.com/office/drawing/2018/hyperlinkcolor" val="tx"/>
                    </a:ext>
                  </a:extLst>
                </a:hlinkClick>
              </a:rPr>
              <a:t>Reef monitoring sampling methods</a:t>
            </a:r>
            <a:r>
              <a:rPr lang="en-AU">
                <a:latin typeface="Public Sans Light"/>
                <a:cs typeface="+mn-cs"/>
              </a:rPr>
              <a:t>’, Monitoring the Great Barrier Reef, AIMS website, accessed 9 April 2024.</a:t>
            </a:r>
          </a:p>
          <a:p>
            <a:pPr>
              <a:lnSpc>
                <a:spcPct val="150000"/>
              </a:lnSpc>
              <a:spcBef>
                <a:spcPts val="1200"/>
              </a:spcBef>
              <a:spcAft>
                <a:spcPts val="600"/>
              </a:spcAft>
            </a:pPr>
            <a:r>
              <a:rPr lang="en-AU">
                <a:latin typeface="Public Sans Light"/>
                <a:cs typeface="+mn-cs"/>
              </a:rPr>
              <a:t>Downton A, Knight R, Clarke D and Lewis G (2015) Mathematics Assessment for Learning: Rich Tasks &amp; Work Samples, 3rd edn, Australian Catholic University and Catholic Education Office, Melbourne.</a:t>
            </a:r>
          </a:p>
        </p:txBody>
      </p:sp>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69</a:t>
            </a:fld>
            <a:endParaRPr lang="en-AU"/>
          </a:p>
        </p:txBody>
      </p:sp>
    </p:spTree>
    <p:extLst>
      <p:ext uri="{BB962C8B-B14F-4D97-AF65-F5344CB8AC3E}">
        <p14:creationId xmlns:p14="http://schemas.microsoft.com/office/powerpoint/2010/main" val="2170171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 </a:t>
            </a:r>
            <a:r>
              <a:rPr lang="en-AU">
                <a:solidFill>
                  <a:schemeClr val="accent4"/>
                </a:solidFill>
              </a:rPr>
              <a:t>(2)</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2">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pPr>
              <a:lnSpc>
                <a:spcPct val="150000"/>
              </a:lnSpc>
              <a:spcBef>
                <a:spcPts val="1200"/>
              </a:spcBef>
              <a:spcAft>
                <a:spcPts val="600"/>
              </a:spcAft>
            </a:pPr>
            <a:r>
              <a:rPr lang="en-AU">
                <a:latin typeface="Public Sans Light"/>
                <a:cs typeface="+mn-cs"/>
              </a:rPr>
              <a:t>Great Barrier Reef Foundation (7 March 2024) </a:t>
            </a:r>
            <a:r>
              <a:rPr lang="en-AU">
                <a:solidFill>
                  <a:schemeClr val="accent2"/>
                </a:solidFill>
                <a:latin typeface="Public Sans Light"/>
                <a:cs typeface="+mn-cs"/>
                <a:hlinkClick r:id="rId5">
                  <a:extLst>
                    <a:ext uri="{A12FA001-AC4F-418D-AE19-62706E023703}">
                      <ahyp:hlinkClr xmlns:ahyp="http://schemas.microsoft.com/office/drawing/2018/hyperlinkcolor" val="tx"/>
                    </a:ext>
                  </a:extLst>
                </a:hlinkClick>
              </a:rPr>
              <a:t>‘What is coral bleaching?’</a:t>
            </a:r>
            <a:r>
              <a:rPr lang="en-AU">
                <a:solidFill>
                  <a:schemeClr val="accent2"/>
                </a:solidFill>
                <a:latin typeface="Public Sans Light"/>
                <a:cs typeface="+mn-cs"/>
              </a:rPr>
              <a:t>, </a:t>
            </a:r>
            <a:r>
              <a:rPr lang="en-AU">
                <a:latin typeface="Public Sans Light"/>
                <a:cs typeface="+mn-cs"/>
              </a:rPr>
              <a:t>News, Great Barrier Reef Foundation website, accessed 19 July 2024.</a:t>
            </a:r>
          </a:p>
          <a:p>
            <a:pPr>
              <a:lnSpc>
                <a:spcPct val="150000"/>
              </a:lnSpc>
              <a:spcBef>
                <a:spcPts val="1200"/>
              </a:spcBef>
              <a:spcAft>
                <a:spcPts val="600"/>
              </a:spcAft>
            </a:pPr>
            <a:r>
              <a:rPr lang="en-AU">
                <a:latin typeface="Public Sans Light"/>
                <a:cs typeface="+mn-cs"/>
              </a:rPr>
              <a:t>NESA (NSW Education Standards Authority) (2022) </a:t>
            </a:r>
            <a:r>
              <a:rPr lang="en-AU">
                <a:solidFill>
                  <a:schemeClr val="accent2"/>
                </a:solidFill>
                <a:latin typeface="Public Sans Light"/>
                <a:cs typeface="+mn-cs"/>
              </a:rPr>
              <a:t>‘</a:t>
            </a:r>
            <a:r>
              <a:rPr lang="en-AU">
                <a:solidFill>
                  <a:schemeClr val="accent2"/>
                </a:solidFill>
                <a:latin typeface="Public Sans Light"/>
                <a:cs typeface="+mn-cs"/>
                <a:hlinkClick r:id="rId6">
                  <a:extLst>
                    <a:ext uri="{A12FA001-AC4F-418D-AE19-62706E023703}">
                      <ahyp:hlinkClr xmlns:ahyp="http://schemas.microsoft.com/office/drawing/2018/hyperlinkcolor" val="tx"/>
                    </a:ext>
                  </a:extLst>
                </a:hlinkClick>
              </a:rPr>
              <a:t>Stage 3: Teaching advice for Chance B</a:t>
            </a:r>
            <a:r>
              <a:rPr lang="en-AU">
                <a:latin typeface="Public Sans Light"/>
                <a:cs typeface="+mn-cs"/>
              </a:rPr>
              <a:t>’, Mathematics K–10 Syllabus, NESA website, accessed 10 July 2024.</a:t>
            </a:r>
          </a:p>
          <a:p>
            <a:pPr>
              <a:lnSpc>
                <a:spcPct val="150000"/>
              </a:lnSpc>
              <a:spcBef>
                <a:spcPts val="1200"/>
              </a:spcBef>
              <a:spcAft>
                <a:spcPts val="600"/>
              </a:spcAft>
            </a:pPr>
            <a:r>
              <a:rPr lang="en-AU">
                <a:latin typeface="Public Sans Light"/>
                <a:cs typeface="+mn-cs"/>
              </a:rPr>
              <a:t>NESA (2022) ‘</a:t>
            </a:r>
            <a:r>
              <a:rPr lang="en-AU">
                <a:solidFill>
                  <a:schemeClr val="accent2"/>
                </a:solidFill>
                <a:latin typeface="Public Sans Light"/>
                <a:cs typeface="+mn-cs"/>
                <a:hlinkClick r:id="rId7">
                  <a:extLst>
                    <a:ext uri="{A12FA001-AC4F-418D-AE19-62706E023703}">
                      <ahyp:hlinkClr xmlns:ahyp="http://schemas.microsoft.com/office/drawing/2018/hyperlinkcolor" val="tx"/>
                    </a:ext>
                  </a:extLst>
                </a:hlinkClick>
              </a:rPr>
              <a:t>Stage 3: Teaching advice for Data B</a:t>
            </a:r>
            <a:r>
              <a:rPr lang="en-AU">
                <a:latin typeface="Public Sans Light"/>
                <a:cs typeface="+mn-cs"/>
              </a:rPr>
              <a:t>’, Mathematics K–10 Syllabus, NESA website, accessed 10 July 2024.</a:t>
            </a:r>
          </a:p>
          <a:p>
            <a:pPr>
              <a:lnSpc>
                <a:spcPct val="150000"/>
              </a:lnSpc>
              <a:spcBef>
                <a:spcPts val="1200"/>
              </a:spcBef>
              <a:spcAft>
                <a:spcPts val="600"/>
              </a:spcAft>
            </a:pPr>
            <a:r>
              <a:rPr lang="en-AU">
                <a:latin typeface="Public Sans Light"/>
                <a:cs typeface="+mn-cs"/>
              </a:rPr>
              <a:t>Siemon D, Warren E, Beswick K, Faragher R, Miller J, Horne M, Jazby D, Breed M, Clark J and Brady K (2020) Teaching Mathematics: Foundation to Middle Years, 3rd edn, Oxford University Press Australia and New Zealand</a:t>
            </a:r>
          </a:p>
          <a:p>
            <a:pPr>
              <a:lnSpc>
                <a:spcPct val="150000"/>
              </a:lnSpc>
              <a:spcBef>
                <a:spcPts val="1200"/>
              </a:spcBef>
              <a:spcAft>
                <a:spcPts val="600"/>
              </a:spcAft>
            </a:pPr>
            <a:r>
              <a:rPr lang="en-AU">
                <a:latin typeface="Public Sans Light"/>
                <a:cs typeface="+mn-cs"/>
              </a:rPr>
              <a:t>Travel + Leisure (6 December 2019) </a:t>
            </a:r>
            <a:r>
              <a:rPr lang="en-AU">
                <a:solidFill>
                  <a:schemeClr val="accent2"/>
                </a:solidFill>
                <a:latin typeface="Public Sans Light"/>
                <a:cs typeface="+mn-cs"/>
                <a:hlinkClick r:id="rId8">
                  <a:extLst>
                    <a:ext uri="{A12FA001-AC4F-418D-AE19-62706E023703}">
                      <ahyp:hlinkClr xmlns:ahyp="http://schemas.microsoft.com/office/drawing/2018/hyperlinkcolor" val="tx"/>
                    </a:ext>
                  </a:extLst>
                </a:hlinkClick>
              </a:rPr>
              <a:t>'How Scientists Are Restoring The Great Barrier Reef | Travel + Leisure' [video]</a:t>
            </a:r>
            <a:r>
              <a:rPr lang="en-AU">
                <a:solidFill>
                  <a:schemeClr val="accent2"/>
                </a:solidFill>
                <a:latin typeface="Public Sans Light"/>
                <a:cs typeface="+mn-cs"/>
              </a:rPr>
              <a:t>, </a:t>
            </a:r>
            <a:r>
              <a:rPr lang="en-AU">
                <a:latin typeface="Public Sans Light"/>
                <a:cs typeface="+mn-cs"/>
              </a:rPr>
              <a:t>Travel + Leisure, YouTube, accessed 9 April 2024.</a:t>
            </a:r>
          </a:p>
        </p:txBody>
      </p:sp>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70</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 </a:t>
            </a:r>
            <a:r>
              <a:rPr lang="en-AU">
                <a:solidFill>
                  <a:schemeClr val="accent4"/>
                </a:solidFill>
              </a:rPr>
              <a:t>(3)</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2">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pPr>
              <a:lnSpc>
                <a:spcPct val="150000"/>
              </a:lnSpc>
              <a:spcBef>
                <a:spcPts val="1200"/>
              </a:spcBef>
              <a:spcAft>
                <a:spcPts val="600"/>
              </a:spcAft>
            </a:pPr>
            <a:r>
              <a:rPr lang="en-AU">
                <a:latin typeface="Public Sans Light"/>
                <a:cs typeface="+mn-cs"/>
              </a:rPr>
              <a:t>Van de Walle J, Karp K, Bay-Williams JM, Brass A, Bentley B, Ferguson S, Goff W, Livy S, Marshman M, Martin D, Pearn C, Prodromou T, Symons D and Wilkie K (2019) Primary and Middle Years Mathematics: Teaching Developmentally, 1st Australian edn, Pearson Education Australia, Melbourne.</a:t>
            </a:r>
          </a:p>
        </p:txBody>
      </p:sp>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71</a:t>
            </a:fld>
            <a:endParaRPr lang="en-AU"/>
          </a:p>
        </p:txBody>
      </p:sp>
    </p:spTree>
    <p:extLst>
      <p:ext uri="{BB962C8B-B14F-4D97-AF65-F5344CB8AC3E}">
        <p14:creationId xmlns:p14="http://schemas.microsoft.com/office/powerpoint/2010/main" val="63640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40EDD703-71B5-4294-919E-34563A64235E}" vid="{64077C9F-2B72-4F25-81A2-2C123044CA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c91fdd3e284047c3db16c369a1d39c66">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412f8ac8e43c8402a44260f543b0aa7c"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E555570-2BD4-426B-AA32-0A79CB6508A8}">
  <ds:schemaRefs>
    <ds:schemaRef ds:uri="http://schemas.microsoft.com/office/infopath/2007/PartnerControls"/>
    <ds:schemaRef ds:uri="http://schemas.microsoft.com/office/2006/documentManagement/types"/>
    <ds:schemaRef ds:uri="7e763d47-3c66-4c58-9425-1477fd3ccd1e"/>
    <ds:schemaRef ds:uri="http://purl.org/dc/dcmitype/"/>
    <ds:schemaRef ds:uri="http://purl.org/dc/elements/1.1/"/>
    <ds:schemaRef ds:uri="60129b06-f64b-40a8-96e2-c5b2f86112b1"/>
    <ds:schemaRef ds:uri="http://schemas.openxmlformats.org/package/2006/metadata/core-properties"/>
    <ds:schemaRef ds:uri="http://schemas.microsoft.com/office/2006/metadata/properties"/>
    <ds:schemaRef ds:uri="http://www.w3.org/XML/1998/namespace"/>
    <ds:schemaRef ds:uri="http://purl.org/dc/terms/"/>
  </ds:schemaRefs>
</ds:datastoreItem>
</file>

<file path=customXml/itemProps2.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3.xml><?xml version="1.0" encoding="utf-8"?>
<ds:datastoreItem xmlns:ds="http://schemas.openxmlformats.org/officeDocument/2006/customXml" ds:itemID="{15E68650-BE25-479F-9196-C90322521431}"/>
</file>

<file path=docProps/app.xml><?xml version="1.0" encoding="utf-8"?>
<Properties xmlns="http://schemas.openxmlformats.org/officeDocument/2006/extended-properties" xmlns:vt="http://schemas.openxmlformats.org/officeDocument/2006/docPropsVTypes">
  <Template>Review of learning template</Template>
  <TotalTime>0</TotalTime>
  <Words>7279</Words>
  <Application>Microsoft Office PowerPoint</Application>
  <PresentationFormat>Widescreen</PresentationFormat>
  <Paragraphs>852</Paragraphs>
  <Slides>72</Slides>
  <Notes>69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72</vt:i4>
      </vt:variant>
    </vt:vector>
  </HeadingPairs>
  <TitlesOfParts>
    <vt:vector size="84" baseType="lpstr">
      <vt:lpstr>Cambria Math</vt:lpstr>
      <vt:lpstr>Calibri</vt:lpstr>
      <vt:lpstr>Wingdings</vt:lpstr>
      <vt:lpstr>Times New Roman</vt:lpstr>
      <vt:lpstr>Segoe UI</vt:lpstr>
      <vt:lpstr>Symbol</vt:lpstr>
      <vt:lpstr>Canva Student Font</vt:lpstr>
      <vt:lpstr>Public Sans</vt:lpstr>
      <vt:lpstr>Arial</vt:lpstr>
      <vt:lpstr>Montserrat</vt:lpstr>
      <vt:lpstr>Public Sans Light</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farmer’s market</vt:lpstr>
      <vt:lpstr>Review of learning 2</vt:lpstr>
      <vt:lpstr>True or false (1)</vt:lpstr>
      <vt:lpstr>Short response (5)</vt:lpstr>
      <vt:lpstr>Short response (6)</vt:lpstr>
      <vt:lpstr>Short response (7)</vt:lpstr>
      <vt:lpstr>Short response (8)</vt:lpstr>
      <vt:lpstr>Activity 2 – lolly shop</vt:lpstr>
      <vt:lpstr>Review of learning 3</vt:lpstr>
      <vt:lpstr>Multiple choice (2)</vt:lpstr>
      <vt:lpstr>Short response (9)</vt:lpstr>
      <vt:lpstr>Short response (10)</vt:lpstr>
      <vt:lpstr>Short response (11)</vt:lpstr>
      <vt:lpstr>Short response (12)</vt:lpstr>
      <vt:lpstr>Activity 3 – fractions of chocolates</vt:lpstr>
      <vt:lpstr>Activity 3 – fractions of chocolates (1)</vt:lpstr>
      <vt:lpstr>Review of learning 4</vt:lpstr>
      <vt:lpstr>True or false (2)</vt:lpstr>
      <vt:lpstr>Short response (13)</vt:lpstr>
      <vt:lpstr>Short response (14)</vt:lpstr>
      <vt:lpstr>Short response (15)</vt:lpstr>
      <vt:lpstr>Short response (16)</vt:lpstr>
      <vt:lpstr>Activity 4 – fraction chocolate box</vt:lpstr>
      <vt:lpstr>Activity 4 – fraction chocolate box (1)</vt:lpstr>
      <vt:lpstr>Review of learning 5</vt:lpstr>
      <vt:lpstr>Multiple choice (3)</vt:lpstr>
      <vt:lpstr>Short response (17)</vt:lpstr>
      <vt:lpstr>Short response (18)</vt:lpstr>
      <vt:lpstr>Short response (19)</vt:lpstr>
      <vt:lpstr>Short response (20)</vt:lpstr>
      <vt:lpstr>Activity 5 – determining percentages</vt:lpstr>
      <vt:lpstr>Review of learning 6</vt:lpstr>
      <vt:lpstr>True or false (3)</vt:lpstr>
      <vt:lpstr>Short response (21)</vt:lpstr>
      <vt:lpstr>Short response (22)</vt:lpstr>
      <vt:lpstr>Short response (23)</vt:lpstr>
      <vt:lpstr>Short response (24)</vt:lpstr>
      <vt:lpstr>Activity 6 – estimating discounts</vt:lpstr>
      <vt:lpstr>Review of learning 7</vt:lpstr>
      <vt:lpstr>Multiple choice (4)</vt:lpstr>
      <vt:lpstr>Short response (25)</vt:lpstr>
      <vt:lpstr>Short response (26)</vt:lpstr>
      <vt:lpstr>Short response (27)</vt:lpstr>
      <vt:lpstr>Short response (28)</vt:lpstr>
      <vt:lpstr>Activity 7 – sales price</vt:lpstr>
      <vt:lpstr>Review of learning 8</vt:lpstr>
      <vt:lpstr>True or false (4)</vt:lpstr>
      <vt:lpstr>Short response (29)</vt:lpstr>
      <vt:lpstr>Short response (30)</vt:lpstr>
      <vt:lpstr>Short response (31)</vt:lpstr>
      <vt:lpstr>Short response (32)</vt:lpstr>
      <vt:lpstr>Activity 8 – the best deal(1)</vt:lpstr>
      <vt:lpstr>Double Venn diagram</vt:lpstr>
      <vt:lpstr>Frayer</vt:lpstr>
      <vt:lpstr>Spider map</vt:lpstr>
      <vt:lpstr>Cline</vt:lpstr>
      <vt:lpstr>Compare and contrast</vt:lpstr>
      <vt:lpstr>Multiple choice (5)</vt:lpstr>
      <vt:lpstr>Multiple choice (6)</vt:lpstr>
      <vt:lpstr>References (1)</vt:lpstr>
      <vt:lpstr>References (2)</vt:lpstr>
      <vt:lpstr>References (3)</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Evelyn Plunkett</dc:creator>
  <cp:keywords/>
  <dc:description/>
  <cp:lastModifiedBy>Daniel Archer</cp:lastModifiedBy>
  <cp:revision>2</cp:revision>
  <dcterms:created xsi:type="dcterms:W3CDTF">2025-08-07T07:38:50Z</dcterms:created>
  <dcterms:modified xsi:type="dcterms:W3CDTF">2025-12-04T22:16:19Z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