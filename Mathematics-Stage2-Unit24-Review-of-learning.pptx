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577" r:id="rId9"/>
    <p:sldId id="2664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2"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30" r:id="rId51"/>
    <p:sldId id="26632" r:id="rId52"/>
    <p:sldId id="26633" r:id="rId53"/>
    <p:sldId id="26634" r:id="rId54"/>
    <p:sldId id="26635" r:id="rId55"/>
    <p:sldId id="26636" r:id="rId56"/>
    <p:sldId id="26646"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510" r:id="rId71"/>
    <p:sldId id="36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2664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30"/>
            <p14:sldId id="26632"/>
            <p14:sldId id="26633"/>
            <p14:sldId id="26634"/>
            <p14:sldId id="26635"/>
            <p14:sldId id="26636"/>
            <p14:sldId id="2664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2D2198-794A-48F0-9DFF-2761A0F5C545}" v="1064" dt="2025-11-28T02:35:52.504"/>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59" autoAdjust="0"/>
    <p:restoredTop sz="51050" autoAdjust="0"/>
  </p:normalViewPr>
  <p:slideViewPr>
    <p:cSldViewPr snapToGrid="0">
      <p:cViewPr varScale="1">
        <p:scale>
          <a:sx n="50" d="100"/>
          <a:sy n="50" d="100"/>
        </p:scale>
        <p:origin x="1488" y="24"/>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_Resource_1_&#8211;"/></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_Lesson_3"/><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a:t>
            </a:r>
            <a:r>
              <a:rPr lang="en-AU"/>
              <a:t>2</a:t>
            </a:r>
            <a:r>
              <a:rPr lang="en-AU" dirty="0"/>
              <a:t> Year </a:t>
            </a:r>
            <a:r>
              <a:rPr lang="en-AU"/>
              <a:t>B </a:t>
            </a:r>
            <a:r>
              <a:rPr lang="en-AU" dirty="0"/>
              <a:t>Unit </a:t>
            </a:r>
            <a:r>
              <a:rPr lang="en-AU"/>
              <a:t>24</a:t>
            </a:r>
            <a:endParaRPr lang="en-AU" dirty="0"/>
          </a:p>
          <a:p>
            <a:pPr marL="285750" indent="-285750">
              <a:buFont typeface="Arial" panose="020B0604020202020204" pitchFamily="34" charset="0"/>
              <a:buChar char="•"/>
            </a:pPr>
            <a:r>
              <a:rPr lang="en-AU" dirty="0"/>
              <a:t>Stage </a:t>
            </a:r>
            <a:r>
              <a:rPr lang="en-AU"/>
              <a:t>2</a:t>
            </a:r>
            <a:r>
              <a:rPr lang="en-AU" dirty="0"/>
              <a:t> Year </a:t>
            </a:r>
            <a:r>
              <a:rPr lang="en-AU"/>
              <a:t>B </a:t>
            </a:r>
            <a:r>
              <a:rPr lang="en-AU" dirty="0"/>
              <a:t>Unit </a:t>
            </a:r>
            <a:r>
              <a:rPr lang="en-AU"/>
              <a:t>23</a:t>
            </a:r>
            <a:endParaRPr lang="en-AU" dirty="0"/>
          </a:p>
          <a:p>
            <a:pPr marL="285750" indent="-285750">
              <a:buFont typeface="Arial" panose="020B0604020202020204" pitchFamily="34" charset="0"/>
              <a:buChar char="•"/>
            </a:pPr>
            <a:r>
              <a:rPr lang="en-AU" dirty="0"/>
              <a:t>Stage </a:t>
            </a:r>
            <a:r>
              <a:rPr lang="en-AU"/>
              <a:t>2 </a:t>
            </a:r>
            <a:r>
              <a:rPr lang="en-AU" dirty="0"/>
              <a:t>Year </a:t>
            </a:r>
            <a:r>
              <a:rPr lang="en-AU"/>
              <a:t>B</a:t>
            </a:r>
            <a:r>
              <a:rPr lang="en-AU" dirty="0"/>
              <a:t> Unit </a:t>
            </a:r>
            <a:r>
              <a:rPr lang="en-AU"/>
              <a:t>22</a:t>
            </a:r>
            <a:endParaRPr lang="en-AU" dirty="0"/>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D3926-04AC-1581-6BD6-45D9194C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37C84-ABB2-E3B4-092E-87DBC91F5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DD82-DF6C-B3D3-DB16-80A741D1E89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686A9E9-4BA8-DC57-6987-9DFCDE32335D}"/>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465894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Additive relations </a:t>
            </a:r>
            <a:r>
              <a:rPr lang="en-AU" dirty="0">
                <a:latin typeface="Arial"/>
                <a:cs typeface="Arial"/>
              </a:rPr>
              <a:t>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Three-dimensional spatial structure </a:t>
            </a:r>
            <a:r>
              <a:rPr lang="en-AU" dirty="0">
                <a:latin typeface="Arial"/>
                <a:cs typeface="Arial"/>
              </a:rPr>
              <a:t>A</a:t>
            </a:r>
            <a:r>
              <a:rPr lang="en-AU">
                <a:latin typeface="Arial"/>
                <a:cs typeface="Arial"/>
              </a:rPr>
              <a:t>: 3D objects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B</a:t>
                </a:r>
              </a:p>
              <a:p>
                <a:endParaRPr lang="en-AU" dirty="0"/>
              </a:p>
              <a:p>
                <a:r>
                  <a:rPr lang="en-AU" b="1" dirty="0"/>
                  <a:t>Activity title</a:t>
                </a:r>
              </a:p>
              <a:p>
                <a:r>
                  <a:rPr lang="en-AU" b="0" dirty="0"/>
                  <a:t>This resource corresponds to Resource 1 – fraction wall in Stage 2 Year AB Unit 24. </a:t>
                </a:r>
              </a:p>
              <a:p>
                <a:endParaRPr lang="en-AU" b="1" dirty="0"/>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Revise that when a whole length is divided into 2 equal parts, each of those parts is named one-half.</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to recall the name of the parts when a whole length is partitioned into 3, 4 and 8 equal parts.</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Revise that when writing one half with fraction notation, the 2 shows how much the whole is (2 parts) and the 1 shows how many equal parts of the whole are selected (1 part) (see Figure 15).</a:t>
                </a:r>
              </a:p>
              <a:p>
                <a:endParaRPr lang="en-AU" sz="1600" b="1" kern="1200" dirty="0">
                  <a:solidFill>
                    <a:schemeClr val="tx1"/>
                  </a:solidFill>
                  <a:effectLst/>
                  <a:latin typeface="Public Sans" pitchFamily="2" charset="0"/>
                  <a:ea typeface="+mn-ea"/>
                  <a:cs typeface="Arial" panose="020B0604020202020204" pitchFamily="34" charset="0"/>
                </a:endParaRPr>
              </a:p>
              <a:p>
                <a:r>
                  <a:rPr lang="en-AU" sz="1600" b="1" kern="1200" dirty="0">
                    <a:solidFill>
                      <a:schemeClr val="tx1"/>
                    </a:solidFill>
                    <a:effectLst/>
                    <a:latin typeface="Public Sans" pitchFamily="2" charset="0"/>
                    <a:ea typeface="+mn-ea"/>
                    <a:cs typeface="Arial" panose="020B0604020202020204" pitchFamily="34" charset="0"/>
                  </a:rPr>
                  <a:t>Note:</a:t>
                </a:r>
                <a:r>
                  <a:rPr lang="en-AU" sz="1600" kern="1200" dirty="0">
                    <a:solidFill>
                      <a:schemeClr val="tx1"/>
                    </a:solidFill>
                    <a:effectLst/>
                    <a:latin typeface="Public Sans" pitchFamily="2" charset="0"/>
                    <a:ea typeface="+mn-ea"/>
                    <a:cs typeface="Arial" panose="020B0604020202020204" pitchFamily="34" charset="0"/>
                  </a:rPr>
                  <a:t> use language that will assist students to develop early fraction ideas. For example, rather than saying ‘1 over 2’, ‘1 of 2’ or ‘1 on 2’ (describing the symbol only) say ‘one half of the whole strip’. The teaching advice states that the terms numerator and denominator are used in Stage 3.</a:t>
                </a:r>
              </a:p>
              <a:p>
                <a:pPr lvl="0"/>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mj-lt"/>
                  <a:buAutoNum type="arabicPeriod" startAt="4"/>
                </a:pPr>
                <a:r>
                  <a:rPr lang="en-AU" sz="1600" kern="1200" dirty="0">
                    <a:solidFill>
                      <a:schemeClr val="tx1"/>
                    </a:solidFill>
                    <a:effectLst/>
                    <a:latin typeface="Public Sans" pitchFamily="2" charset="0"/>
                    <a:ea typeface="+mn-ea"/>
                    <a:cs typeface="Arial" panose="020B0604020202020204" pitchFamily="34" charset="0"/>
                  </a:rPr>
                  <a:t>Discuss the relationship between the numerals in the fraction representing one-half. Guide students to understand that, if the fraction is equal to half, the number of parts we have (numerator) is always half the number representing how much is needed for the whole (denominator).</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Explain that this set of fractions which represent the same value, such as all fractions equal to one-half, are called equivalent fractions.</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Provide students with individual whiteboards. </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Ask students to find fractions equivalent to one-half and record the fractional notation on their whiteboards.</a:t>
                </a:r>
              </a:p>
              <a:p>
                <a:pPr marL="342900" lvl="0" indent="-342900">
                  <a:buFont typeface="+mj-lt"/>
                  <a:buAutoNum type="arabicPeriod" startAt="8"/>
                </a:pPr>
                <a:r>
                  <a:rPr lang="en-AU" sz="1600" kern="1200" dirty="0">
                    <a:solidFill>
                      <a:schemeClr val="tx1"/>
                    </a:solidFill>
                    <a:effectLst/>
                    <a:latin typeface="Public Sans" pitchFamily="2" charset="0"/>
                    <a:ea typeface="+mn-ea"/>
                    <a:cs typeface="Arial" panose="020B0604020202020204" pitchFamily="34" charset="0"/>
                  </a:rPr>
                  <a:t>Ask students to think of examples which are equivalent to one-half that are not shown on the fraction wall. Students record their ideas using fraction notation, concrete materials, diagrams or number lines.</a:t>
                </a:r>
              </a:p>
              <a:p>
                <a:pPr marL="342900" lvl="0" indent="-342900">
                  <a:buFont typeface="+mj-lt"/>
                  <a:buAutoNum type="arabicPeriod" startAt="9"/>
                </a:pPr>
                <a:r>
                  <a:rPr lang="en-AU" sz="1600" kern="1200" dirty="0">
                    <a:solidFill>
                      <a:schemeClr val="tx1"/>
                    </a:solidFill>
                    <a:effectLst/>
                    <a:latin typeface="Public Sans" pitchFamily="2" charset="0"/>
                    <a:ea typeface="+mn-ea"/>
                    <a:cs typeface="Arial" panose="020B0604020202020204" pitchFamily="34" charset="0"/>
                  </a:rPr>
                  <a:t>Students share and explain their reasoning.</a:t>
                </a:r>
              </a:p>
              <a:p>
                <a:pPr marL="342900" lvl="0" indent="-342900">
                  <a:buFont typeface="+mj-lt"/>
                  <a:buAutoNum type="arabicPeriod" startAt="9"/>
                </a:pPr>
                <a:r>
                  <a:rPr lang="en-AU" sz="1600" kern="1200" dirty="0">
                    <a:solidFill>
                      <a:schemeClr val="tx1"/>
                    </a:solidFill>
                    <a:effectLst/>
                    <a:latin typeface="Public Sans" pitchFamily="2" charset="0"/>
                    <a:ea typeface="+mn-ea"/>
                    <a:cs typeface="Arial" panose="020B0604020202020204" pitchFamily="34" charset="0"/>
                  </a:rPr>
                  <a:t>Explain that these fractions have a multiplicative relationship to each other as the number of parts we have is always exactly half of the number of parts that make the whole. For example, a student may reason that ten twentieths is equivalent to one-half because if 20 parts are divided into 2 equal groups, each group will have 10 parts.</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Choice>
        <mc:Fallback xmlns="">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B</a:t>
                </a:r>
              </a:p>
              <a:p>
                <a:endParaRPr lang="en-AU" dirty="0"/>
              </a:p>
              <a:p>
                <a:r>
                  <a:rPr lang="en-AU" b="1" dirty="0"/>
                  <a:t>Activity title</a:t>
                </a:r>
              </a:p>
              <a:p>
                <a:r>
                  <a:rPr lang="en-AU" b="0" dirty="0"/>
                  <a:t>This resource corresponds to Resource 1 – fraction wall in Stage 2 Year AB Unit 24. </a:t>
                </a:r>
              </a:p>
              <a:p>
                <a:endParaRPr lang="en-AU" b="1" dirty="0"/>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Revise that when a whole length is divided into 2 equal parts, each of those parts is named one-half.</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to recall the name of the parts when a whole length is partitioned into 3, 4 and 8 equal parts.</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Write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dirty="0">
                    <a:solidFill>
                      <a:schemeClr val="tx1"/>
                    </a:solidFill>
                    <a:effectLst/>
                    <a:latin typeface="Public Sans" pitchFamily="2" charset="0"/>
                    <a:ea typeface="+mn-ea"/>
                    <a:cs typeface="Arial" panose="020B0604020202020204" pitchFamily="34" charset="0"/>
                  </a:rPr>
                  <a:t> on the board. Revise that when writing half with fraction notation, the 2 shows how much the whole is (2 parts) and the 1 shows how many equal parts of the whole are selected (1 part) (see Figure 15).</a:t>
                </a:r>
              </a:p>
              <a:p>
                <a:endParaRPr lang="en-AU" sz="1600" b="1" kern="1200" dirty="0">
                  <a:solidFill>
                    <a:schemeClr val="tx1"/>
                  </a:solidFill>
                  <a:effectLst/>
                  <a:latin typeface="Public Sans" pitchFamily="2" charset="0"/>
                  <a:ea typeface="+mn-ea"/>
                  <a:cs typeface="Arial" panose="020B0604020202020204" pitchFamily="34" charset="0"/>
                </a:endParaRPr>
              </a:p>
              <a:p>
                <a:r>
                  <a:rPr lang="en-AU" sz="1600" b="1" kern="1200" dirty="0">
                    <a:solidFill>
                      <a:schemeClr val="tx1"/>
                    </a:solidFill>
                    <a:effectLst/>
                    <a:latin typeface="Public Sans" pitchFamily="2" charset="0"/>
                    <a:ea typeface="+mn-ea"/>
                    <a:cs typeface="Arial" panose="020B0604020202020204" pitchFamily="34" charset="0"/>
                  </a:rPr>
                  <a:t>Note:</a:t>
                </a:r>
                <a:r>
                  <a:rPr lang="en-AU" sz="1600" kern="1200" dirty="0">
                    <a:solidFill>
                      <a:schemeClr val="tx1"/>
                    </a:solidFill>
                    <a:effectLst/>
                    <a:latin typeface="Public Sans" pitchFamily="2" charset="0"/>
                    <a:ea typeface="+mn-ea"/>
                    <a:cs typeface="Arial" panose="020B0604020202020204" pitchFamily="34" charset="0"/>
                  </a:rPr>
                  <a:t> use language that will assist students to develop early fraction ideas. For example, rather than saying ‘1 over 2’, ‘1 of 2’ or ‘1 on 2’ (describing the symbol only) say ‘one half of the whole strip’. The teaching advice states that the terms numerator and denominator are used in Stage 3.</a:t>
                </a:r>
              </a:p>
              <a:p>
                <a:pPr lvl="0"/>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mj-lt"/>
                  <a:buAutoNum type="arabicPeriod" startAt="4"/>
                </a:pPr>
                <a:r>
                  <a:rPr lang="en-AU" sz="1600" kern="1200" dirty="0">
                    <a:solidFill>
                      <a:schemeClr val="tx1"/>
                    </a:solidFill>
                    <a:effectLst/>
                    <a:latin typeface="Public Sans" pitchFamily="2" charset="0"/>
                    <a:ea typeface="+mn-ea"/>
                    <a:cs typeface="Arial" panose="020B0604020202020204" pitchFamily="34" charset="0"/>
                  </a:rPr>
                  <a:t>Discuss the relationship between the numerals in the fraction representing one-half. Guide students to understand that, if the fraction is equal to half, the number of parts we have (numerator) is always half the number representing how much is needed for the whole (denominator).</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Explain that this set of fractions which represent the same value, such as all fractions equal to one-half, are called equivalent fractions.</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Provide students with individual whiteboards. Display </a:t>
                </a:r>
                <a:r>
                  <a:rPr lang="en-AU" sz="1600" u="sng" kern="1200" dirty="0">
                    <a:solidFill>
                      <a:schemeClr val="tx1"/>
                    </a:solidFill>
                    <a:effectLst/>
                    <a:latin typeface="Public Sans" pitchFamily="2" charset="0"/>
                    <a:ea typeface="+mn-ea"/>
                    <a:cs typeface="Arial" panose="020B0604020202020204" pitchFamily="34" charset="0"/>
                    <a:hlinkClick r:id="rId4"/>
                  </a:rPr>
                  <a:t>Resource 1 – fraction wall</a:t>
                </a:r>
                <a:r>
                  <a:rPr lang="en-AU" sz="1600" u="sng" kern="1200" dirty="0">
                    <a:solidFill>
                      <a:schemeClr val="tx1"/>
                    </a:solidFill>
                    <a:effectLst/>
                    <a:latin typeface="Public Sans" pitchFamily="2" charset="0"/>
                    <a:ea typeface="+mn-ea"/>
                    <a:cs typeface="Arial" panose="020B0604020202020204" pitchFamily="34" charset="0"/>
                  </a:rPr>
                  <a:t>.</a:t>
                </a: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Ask students to find fractions equivalent to one-half and record the fractional notation on their whiteboards.</a:t>
                </a:r>
              </a:p>
              <a:p>
                <a:pPr marL="342900" lvl="0" indent="-342900">
                  <a:buFont typeface="+mj-lt"/>
                  <a:buAutoNum type="arabicPeriod" startAt="8"/>
                </a:pPr>
                <a:r>
                  <a:rPr lang="en-AU" sz="1600" kern="1200" dirty="0">
                    <a:solidFill>
                      <a:schemeClr val="tx1"/>
                    </a:solidFill>
                    <a:effectLst/>
                    <a:latin typeface="Public Sans" pitchFamily="2" charset="0"/>
                    <a:ea typeface="+mn-ea"/>
                    <a:cs typeface="Arial" panose="020B0604020202020204" pitchFamily="34" charset="0"/>
                  </a:rPr>
                  <a:t>Ask students to think of examples which are equivalent to one-half that are not shown on the fraction wall. Students record their ideas using fraction notation, concrete materials, diagrams or number lines.</a:t>
                </a:r>
              </a:p>
              <a:p>
                <a:pPr marL="342900" lvl="0" indent="-342900">
                  <a:buFont typeface="+mj-lt"/>
                  <a:buAutoNum type="arabicPeriod" startAt="9"/>
                </a:pPr>
                <a:r>
                  <a:rPr lang="en-AU" sz="1600" kern="1200" dirty="0">
                    <a:solidFill>
                      <a:schemeClr val="tx1"/>
                    </a:solidFill>
                    <a:effectLst/>
                    <a:latin typeface="Public Sans" pitchFamily="2" charset="0"/>
                    <a:ea typeface="+mn-ea"/>
                    <a:cs typeface="Arial" panose="020B0604020202020204" pitchFamily="34" charset="0"/>
                  </a:rPr>
                  <a:t>Students share and explain their reasoning.</a:t>
                </a:r>
              </a:p>
              <a:p>
                <a:pPr marL="342900" lvl="0" indent="-342900">
                  <a:buFont typeface="+mj-lt"/>
                  <a:buAutoNum type="arabicPeriod" startAt="9"/>
                </a:pPr>
                <a:r>
                  <a:rPr lang="en-AU" sz="1600" kern="1200" dirty="0">
                    <a:solidFill>
                      <a:schemeClr val="tx1"/>
                    </a:solidFill>
                    <a:effectLst/>
                    <a:latin typeface="Public Sans" pitchFamily="2" charset="0"/>
                    <a:ea typeface="+mn-ea"/>
                    <a:cs typeface="Arial" panose="020B0604020202020204" pitchFamily="34" charset="0"/>
                  </a:rPr>
                  <a:t>Explain that these fractions have a multiplicative relationship to each other as the number of parts we have is always exactly half of the number of parts that make the whole. For example, a student may reason that </a:t>
                </a:r>
                <a:r>
                  <a:rPr lang="en-AU" sz="1600" i="0" kern="1200">
                    <a:solidFill>
                      <a:schemeClr val="tx1"/>
                    </a:solidFill>
                    <a:effectLst/>
                    <a:latin typeface="Cambria Math" panose="02040503050406030204" pitchFamily="18" charset="0"/>
                    <a:ea typeface="+mn-ea"/>
                    <a:cs typeface="Arial" panose="020B0604020202020204" pitchFamily="34" charset="0"/>
                  </a:rPr>
                  <a:t>10/20</a:t>
                </a:r>
                <a:r>
                  <a:rPr lang="en-AU" sz="1600" kern="1200" dirty="0">
                    <a:solidFill>
                      <a:schemeClr val="tx1"/>
                    </a:solidFill>
                    <a:effectLst/>
                    <a:latin typeface="Public Sans" pitchFamily="2" charset="0"/>
                    <a:ea typeface="+mn-ea"/>
                    <a:cs typeface="Arial" panose="020B0604020202020204" pitchFamily="34" charset="0"/>
                  </a:rPr>
                  <a:t> is equivalent to one-half because if 20 parts are divided into 2 equal groups, each group will have 10 parts.</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b="0">
                <a:latin typeface="Arial"/>
                <a:cs typeface="Arial"/>
              </a:rPr>
              <a:t>Additive relations B</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Area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B</a:t>
                </a:r>
              </a:p>
              <a:p>
                <a:endParaRPr lang="en-AU" dirty="0"/>
              </a:p>
              <a:p>
                <a:r>
                  <a:rPr lang="en-AU" b="1" dirty="0"/>
                  <a:t>Equivalent fractions</a:t>
                </a:r>
              </a:p>
              <a:p>
                <a:r>
                  <a:rPr lang="en-AU" b="0" dirty="0"/>
                  <a:t>This resource corresponds to </a:t>
                </a:r>
                <a:r>
                  <a:rPr lang="en-AU" dirty="0"/>
                  <a:t>Resource 1 – fraction wall </a:t>
                </a:r>
                <a:r>
                  <a:rPr lang="en-AU" b="0" dirty="0"/>
                  <a:t>in Stage 2 Year B Unit 24. </a:t>
                </a:r>
              </a:p>
              <a:p>
                <a:endParaRPr lang="en-AU" b="0" dirty="0"/>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Provide students with individual whiteboards. </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to identify and record any fractions equivalent to one half, one third,</a:t>
                </a:r>
                <a:r>
                  <a:rPr lang="en-AU" sz="1600" kern="1200" baseline="0" dirty="0">
                    <a:solidFill>
                      <a:schemeClr val="tx1"/>
                    </a:solidFill>
                    <a:effectLst/>
                    <a:latin typeface="Public Sans" pitchFamily="2" charset="0"/>
                    <a:ea typeface="+mn-ea"/>
                    <a:cs typeface="Arial" panose="020B0604020202020204" pitchFamily="34" charset="0"/>
                  </a:rPr>
                  <a:t> one quarter and one fifth </a:t>
                </a:r>
                <a:r>
                  <a:rPr lang="en-AU" sz="1600" kern="1200" dirty="0">
                    <a:solidFill>
                      <a:schemeClr val="tx1"/>
                    </a:solidFill>
                    <a:effectLst/>
                    <a:latin typeface="Public Sans" pitchFamily="2" charset="0"/>
                    <a:ea typeface="+mn-ea"/>
                    <a:cs typeface="Arial" panose="020B0604020202020204" pitchFamily="34" charset="0"/>
                  </a:rPr>
                  <a:t>on an individual whiteboard.</a:t>
                </a:r>
                <a:r>
                  <a:rPr lang="en-AU" sz="1600" kern="1200" baseline="0" dirty="0">
                    <a:solidFill>
                      <a:schemeClr val="tx1"/>
                    </a:solidFill>
                    <a:effectLst/>
                    <a:latin typeface="Public Sans" pitchFamily="2" charset="0"/>
                    <a:ea typeface="+mn-ea"/>
                    <a:cs typeface="Arial" panose="020B0604020202020204" pitchFamily="34" charset="0"/>
                  </a:rPr>
                  <a:t> </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what they notice about these groups of fractions. Highlight the multiplicative relationship between the equivalent fractions. For example, a student may reason that one fifth is equivalent to two</a:t>
                </a:r>
                <a:r>
                  <a:rPr lang="en-AU" sz="1600" kern="1200" baseline="0" dirty="0">
                    <a:solidFill>
                      <a:schemeClr val="tx1"/>
                    </a:solidFill>
                    <a:effectLst/>
                    <a:latin typeface="Public Sans" pitchFamily="2" charset="0"/>
                    <a:ea typeface="+mn-ea"/>
                    <a:cs typeface="Arial" panose="020B0604020202020204" pitchFamily="34" charset="0"/>
                  </a:rPr>
                  <a:t> tenths</a:t>
                </a:r>
                <a:r>
                  <a:rPr lang="en-AU" sz="1600" kern="1200" dirty="0">
                    <a:solidFill>
                      <a:schemeClr val="tx1"/>
                    </a:solidFill>
                    <a:effectLst/>
                    <a:latin typeface="Public Sans" pitchFamily="2" charset="0"/>
                    <a:ea typeface="+mn-ea"/>
                    <a:cs typeface="Arial" panose="020B0604020202020204" pitchFamily="34" charset="0"/>
                  </a:rPr>
                  <a:t> because if 10 parts are divided into 5 equal groups, each group will have 2 parts.</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Provide students with strips of paper to fold, model and label the fractions they identify as equivalent.</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Have students use the fraction wall to identify any other equivalent fractions and record these.</a:t>
                </a:r>
              </a:p>
              <a:p>
                <a:endParaRPr lang="en-AU" b="0" dirty="0"/>
              </a:p>
              <a:p>
                <a:endParaRPr lang="en-AU" dirty="0"/>
              </a:p>
            </p:txBody>
          </p:sp>
        </mc:Choice>
        <mc:Fallback xmlns="">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B</a:t>
                </a:r>
              </a:p>
              <a:p>
                <a:endParaRPr lang="en-AU" dirty="0"/>
              </a:p>
              <a:p>
                <a:r>
                  <a:rPr lang="en-AU" b="1" dirty="0"/>
                  <a:t>Activity title</a:t>
                </a:r>
              </a:p>
              <a:p>
                <a:r>
                  <a:rPr lang="en-AU" b="0" dirty="0"/>
                  <a:t>This resource corresponds to </a:t>
                </a:r>
                <a:r>
                  <a:rPr lang="en-AU" dirty="0"/>
                  <a:t>Resource 1 – fraction wall </a:t>
                </a:r>
                <a:r>
                  <a:rPr lang="en-AU" b="0" dirty="0"/>
                  <a:t>in Stage 2 Year B Unit 24. </a:t>
                </a:r>
              </a:p>
              <a:p>
                <a:endParaRPr lang="en-AU" b="0" dirty="0"/>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Provide students with individual whiteboards. Display </a:t>
                </a:r>
                <a:r>
                  <a:rPr lang="en-AU" sz="1600" u="sng" kern="1200" dirty="0">
                    <a:solidFill>
                      <a:schemeClr val="tx1"/>
                    </a:solidFill>
                    <a:effectLst/>
                    <a:latin typeface="Public Sans" pitchFamily="2" charset="0"/>
                    <a:ea typeface="+mn-ea"/>
                    <a:cs typeface="Arial" panose="020B0604020202020204" pitchFamily="34" charset="0"/>
                    <a:hlinkClick r:id="rId3"/>
                  </a:rPr>
                  <a:t>Resource 1 – fraction wall</a:t>
                </a:r>
                <a:r>
                  <a:rPr lang="en-AU" sz="1600" kern="1200" dirty="0">
                    <a:solidFill>
                      <a:schemeClr val="tx1"/>
                    </a:solidFill>
                    <a:effectLst/>
                    <a:latin typeface="Public Sans" pitchFamily="2" charset="0"/>
                    <a:ea typeface="+mn-ea"/>
                    <a:cs typeface="Arial" panose="020B0604020202020204" pitchFamily="34" charset="0"/>
                  </a:rPr>
                  <a:t>.</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to identify and record any fractions equivalent to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dirty="0">
                    <a:solidFill>
                      <a:schemeClr val="tx1"/>
                    </a:solidFill>
                    <a:effectLst/>
                    <a:latin typeface="Public Sans" pitchFamily="2"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1/3</a:t>
                </a:r>
                <a:r>
                  <a:rPr lang="en-AU" sz="1600" kern="1200" dirty="0">
                    <a:solidFill>
                      <a:schemeClr val="tx1"/>
                    </a:solidFill>
                    <a:effectLst/>
                    <a:latin typeface="Public Sans" pitchFamily="2"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dirty="0">
                    <a:solidFill>
                      <a:schemeClr val="tx1"/>
                    </a:solidFill>
                    <a:effectLst/>
                    <a:latin typeface="Public Sans" pitchFamily="2" charset="0"/>
                    <a:ea typeface="+mn-ea"/>
                    <a:cs typeface="Arial" panose="020B0604020202020204" pitchFamily="34" charset="0"/>
                  </a:rPr>
                  <a:t>, and </a:t>
                </a:r>
                <a:r>
                  <a:rPr lang="en-AU" sz="1600" i="0" kern="1200">
                    <a:solidFill>
                      <a:schemeClr val="tx1"/>
                    </a:solidFill>
                    <a:effectLst/>
                    <a:latin typeface="Cambria Math" panose="02040503050406030204" pitchFamily="18" charset="0"/>
                    <a:ea typeface="+mn-ea"/>
                    <a:cs typeface="Arial" panose="020B0604020202020204" pitchFamily="34" charset="0"/>
                  </a:rPr>
                  <a:t>1/5  </a:t>
                </a:r>
                <a:r>
                  <a:rPr lang="en-AU" sz="1600" kern="1200" dirty="0">
                    <a:solidFill>
                      <a:schemeClr val="tx1"/>
                    </a:solidFill>
                    <a:effectLst/>
                    <a:latin typeface="Public Sans" pitchFamily="2" charset="0"/>
                    <a:ea typeface="+mn-ea"/>
                    <a:cs typeface="Arial" panose="020B0604020202020204" pitchFamily="34" charset="0"/>
                  </a:rPr>
                  <a:t>on an individual whiteboard (see Figure 16)</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what they notice about these groups of fractions. Highlight the multiplicative relationship between the equivalent fractions. For example, a student may reason that </a:t>
                </a:r>
                <a:r>
                  <a:rPr lang="en-AU" sz="1600" i="0" kern="1200">
                    <a:solidFill>
                      <a:schemeClr val="tx1"/>
                    </a:solidFill>
                    <a:effectLst/>
                    <a:latin typeface="Cambria Math" panose="02040503050406030204" pitchFamily="18" charset="0"/>
                    <a:ea typeface="+mn-ea"/>
                    <a:cs typeface="Arial" panose="020B0604020202020204" pitchFamily="34" charset="0"/>
                  </a:rPr>
                  <a:t>1/5</a:t>
                </a:r>
                <a:r>
                  <a:rPr lang="en-AU" sz="1600" kern="1200" dirty="0">
                    <a:solidFill>
                      <a:schemeClr val="tx1"/>
                    </a:solidFill>
                    <a:effectLst/>
                    <a:latin typeface="Public Sans" pitchFamily="2" charset="0"/>
                    <a:ea typeface="+mn-ea"/>
                    <a:cs typeface="Arial" panose="020B0604020202020204" pitchFamily="34" charset="0"/>
                  </a:rPr>
                  <a:t> is equivalent to </a:t>
                </a:r>
                <a:r>
                  <a:rPr lang="en-AU" sz="1600" i="0" kern="1200">
                    <a:solidFill>
                      <a:schemeClr val="tx1"/>
                    </a:solidFill>
                    <a:effectLst/>
                    <a:latin typeface="Cambria Math" panose="02040503050406030204" pitchFamily="18" charset="0"/>
                    <a:ea typeface="+mn-ea"/>
                    <a:cs typeface="Arial" panose="020B0604020202020204" pitchFamily="34" charset="0"/>
                  </a:rPr>
                  <a:t>2/10</a:t>
                </a:r>
                <a:r>
                  <a:rPr lang="en-AU" sz="1600" kern="1200" dirty="0">
                    <a:solidFill>
                      <a:schemeClr val="tx1"/>
                    </a:solidFill>
                    <a:effectLst/>
                    <a:latin typeface="Public Sans" pitchFamily="2" charset="0"/>
                    <a:ea typeface="+mn-ea"/>
                    <a:cs typeface="Arial" panose="020B0604020202020204" pitchFamily="34" charset="0"/>
                  </a:rPr>
                  <a:t> because if 10 parts are divided into 5 equal groups, each group will have 2 parts.</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Provide students with strips of paper to fold, model and label the fractions they identify as equivalent.</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Have students use the fraction wall to identify any other equivalent fractions and record these.</a:t>
                </a:r>
              </a:p>
              <a:p>
                <a:endParaRPr lang="en-AU" b="0" dirty="0"/>
              </a:p>
              <a:p>
                <a:endParaRPr lang="en-AU" dirty="0"/>
              </a:p>
            </p:txBody>
          </p:sp>
        </mc:Fallback>
      </mc:AlternateContent>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Additive relations </a:t>
            </a:r>
            <a:r>
              <a:rPr lang="en-AU" dirty="0">
                <a:latin typeface="Arial"/>
                <a:cs typeface="Arial"/>
              </a:rPr>
              <a:t>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Three-dimensional spatial structure </a:t>
            </a:r>
            <a:r>
              <a:rPr lang="en-AU" dirty="0">
                <a:latin typeface="Arial"/>
                <a:cs typeface="Arial"/>
              </a:rPr>
              <a:t>A</a:t>
            </a:r>
            <a:r>
              <a:rPr lang="en-AU">
                <a:latin typeface="Arial"/>
                <a:cs typeface="Arial"/>
              </a:rPr>
              <a:t>: 3D objects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A</a:t>
                </a:r>
              </a:p>
              <a:p>
                <a:endParaRPr lang="en-AU" dirty="0"/>
              </a:p>
              <a:p>
                <a:r>
                  <a:rPr lang="en-AU" b="1" dirty="0"/>
                  <a:t>Complementary fractions</a:t>
                </a:r>
              </a:p>
              <a:p>
                <a:r>
                  <a:rPr lang="en-AU" dirty="0"/>
                  <a:t>This resource corresponds to Resource 21- tower fractions in Stage 2 Year B Unit 24. </a:t>
                </a:r>
              </a:p>
              <a:p>
                <a:pPr marL="0" lvl="0" indent="0">
                  <a:buFont typeface="+mj-lt"/>
                  <a:buNone/>
                </a:pP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Ask students to record the fractions they can see in each tower.</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Explain that there are no complementary fractions in Tower A, however there are complementary fractions in Towers B–E. Ask students to consider why this is the case.</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Select a student to record the fraction notation for Tower B as one sixth and 5 sixths. State that these fractions are complementary as they represent 2 fractional parts needed to complete one whole.</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For Tower D, present the following statements:</a:t>
                </a: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one student represented the fractions as one sixth, one sixth, one sixth, one sixth, one sixth and one sixth.</a:t>
                </a: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a second student represented the fractions as 3</a:t>
                </a:r>
                <a:r>
                  <a:rPr lang="en-AU" sz="1600" kern="1200" baseline="0" dirty="0">
                    <a:solidFill>
                      <a:schemeClr val="tx1"/>
                    </a:solidFill>
                    <a:effectLst/>
                    <a:latin typeface="Public Sans" pitchFamily="2" charset="0"/>
                    <a:ea typeface="+mn-ea"/>
                    <a:cs typeface="Arial" panose="020B0604020202020204" pitchFamily="34" charset="0"/>
                  </a:rPr>
                  <a:t> sixths </a:t>
                </a:r>
                <a:r>
                  <a:rPr lang="en-AU" sz="1600" kern="1200" dirty="0">
                    <a:solidFill>
                      <a:schemeClr val="tx1"/>
                    </a:solidFill>
                    <a:effectLst/>
                    <a:latin typeface="Public Sans" pitchFamily="2" charset="0"/>
                    <a:ea typeface="+mn-ea"/>
                    <a:cs typeface="Arial" panose="020B0604020202020204" pitchFamily="34" charset="0"/>
                  </a:rPr>
                  <a:t>and 3</a:t>
                </a:r>
                <a:r>
                  <a:rPr lang="en-AU" sz="1600" kern="1200" baseline="0" dirty="0">
                    <a:solidFill>
                      <a:schemeClr val="tx1"/>
                    </a:solidFill>
                    <a:effectLst/>
                    <a:latin typeface="Public Sans" pitchFamily="2" charset="0"/>
                    <a:ea typeface="+mn-ea"/>
                    <a:cs typeface="Arial" panose="020B0604020202020204" pitchFamily="34" charset="0"/>
                  </a:rPr>
                  <a:t> sixths. </a:t>
                </a: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a third student represented the fractions as one half and one half.</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Ask students to provide reasoning as to which statement is correct and why.</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Students share the fraction notation they used to record the remaining towers and discuss complementary fractions and equivalence.</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Choice>
        <mc:Fallback xmlns="">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[Focus area A/B]</a:t>
                </a:r>
              </a:p>
              <a:p>
                <a:endParaRPr lang="en-AU" dirty="0"/>
              </a:p>
              <a:p>
                <a:r>
                  <a:rPr lang="en-AU" b="1" dirty="0"/>
                  <a:t>Activity title</a:t>
                </a:r>
              </a:p>
              <a:p>
                <a:r>
                  <a:rPr lang="en-AU" dirty="0"/>
                  <a:t>This resource corresponds to Resource 21- tower fractions in Stage 2 Year B Unit 24. </a:t>
                </a:r>
              </a:p>
              <a:p>
                <a:pPr marL="0" lvl="0" indent="0">
                  <a:buFont typeface="+mj-lt"/>
                  <a:buNone/>
                </a:pP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Display </a:t>
                </a:r>
                <a:r>
                  <a:rPr lang="en-AU" dirty="0"/>
                  <a:t>Resource 21- tower fractions </a:t>
                </a:r>
                <a:r>
                  <a:rPr lang="en-AU" sz="1600" kern="1200" dirty="0">
                    <a:solidFill>
                      <a:schemeClr val="tx1"/>
                    </a:solidFill>
                    <a:effectLst/>
                    <a:latin typeface="Public Sans" pitchFamily="2" charset="0"/>
                    <a:ea typeface="+mn-ea"/>
                    <a:cs typeface="Arial" panose="020B0604020202020204" pitchFamily="34" charset="0"/>
                  </a:rPr>
                  <a:t>and ask students to record the fractions they can see in each tower.</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Explain that there are no complementary fractions in Tower A, however there are complementary fractions in Towers B–E. Ask students to consider why this is the case.</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Select a student to record the fraction notation for Tower B as </a:t>
                </a:r>
                <a:r>
                  <a:rPr lang="en-AU" sz="1600" i="0" kern="1200">
                    <a:solidFill>
                      <a:schemeClr val="tx1"/>
                    </a:solidFill>
                    <a:effectLst/>
                    <a:latin typeface="Cambria Math" panose="02040503050406030204" pitchFamily="18" charset="0"/>
                    <a:ea typeface="+mn-ea"/>
                    <a:cs typeface="Arial" panose="020B0604020202020204" pitchFamily="34" charset="0"/>
                  </a:rPr>
                  <a:t>1/6</a:t>
                </a:r>
                <a:r>
                  <a:rPr lang="en-AU" sz="1600" kern="1200" dirty="0">
                    <a:solidFill>
                      <a:schemeClr val="tx1"/>
                    </a:solidFill>
                    <a:effectLst/>
                    <a:latin typeface="Public Sans" pitchFamily="2" charset="0"/>
                    <a:ea typeface="+mn-ea"/>
                    <a:cs typeface="Arial" panose="020B0604020202020204" pitchFamily="34" charset="0"/>
                  </a:rPr>
                  <a:t> and </a:t>
                </a:r>
                <a:r>
                  <a:rPr lang="en-AU" sz="1600" i="0" kern="1200">
                    <a:solidFill>
                      <a:schemeClr val="tx1"/>
                    </a:solidFill>
                    <a:effectLst/>
                    <a:latin typeface="Cambria Math" panose="02040503050406030204" pitchFamily="18" charset="0"/>
                    <a:ea typeface="+mn-ea"/>
                    <a:cs typeface="Arial" panose="020B0604020202020204" pitchFamily="34" charset="0"/>
                  </a:rPr>
                  <a:t>5/6</a:t>
                </a:r>
                <a:r>
                  <a:rPr lang="en-AU" sz="1600" kern="1200" dirty="0">
                    <a:solidFill>
                      <a:schemeClr val="tx1"/>
                    </a:solidFill>
                    <a:effectLst/>
                    <a:latin typeface="Public Sans" pitchFamily="2" charset="0"/>
                    <a:ea typeface="+mn-ea"/>
                    <a:cs typeface="Arial" panose="020B0604020202020204" pitchFamily="34" charset="0"/>
                  </a:rPr>
                  <a:t>. State that these fractions are complementary as they represent 2 fractional parts needed to complete one whole.</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For Tower D, present the following statements:</a:t>
                </a: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one student represented the fractions as </a:t>
                </a:r>
                <a:r>
                  <a:rPr lang="en-AU" sz="1600" i="0" kern="1200">
                    <a:solidFill>
                      <a:schemeClr val="tx1"/>
                    </a:solidFill>
                    <a:effectLst/>
                    <a:latin typeface="Cambria Math" panose="02040503050406030204" pitchFamily="18" charset="0"/>
                    <a:ea typeface="+mn-ea"/>
                    <a:cs typeface="Arial" panose="020B0604020202020204" pitchFamily="34" charset="0"/>
                  </a:rPr>
                  <a:t>1/6,  1/6, 1/6, 1/6,  1/6</a:t>
                </a:r>
                <a:r>
                  <a:rPr lang="en-AU" sz="1600" kern="1200" dirty="0">
                    <a:solidFill>
                      <a:schemeClr val="tx1"/>
                    </a:solidFill>
                    <a:effectLst/>
                    <a:latin typeface="Public Sans" pitchFamily="2" charset="0"/>
                    <a:ea typeface="+mn-ea"/>
                    <a:cs typeface="Arial" panose="020B0604020202020204" pitchFamily="34" charset="0"/>
                  </a:rPr>
                  <a:t> and </a:t>
                </a:r>
                <a:r>
                  <a:rPr lang="en-AU" sz="1600" i="0" kern="1200">
                    <a:solidFill>
                      <a:schemeClr val="tx1"/>
                    </a:solidFill>
                    <a:effectLst/>
                    <a:latin typeface="Cambria Math" panose="02040503050406030204" pitchFamily="18" charset="0"/>
                    <a:ea typeface="+mn-ea"/>
                    <a:cs typeface="Arial" panose="020B0604020202020204" pitchFamily="34" charset="0"/>
                  </a:rPr>
                  <a:t>1/6</a:t>
                </a: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a second student represented the fractions as </a:t>
                </a:r>
                <a:r>
                  <a:rPr lang="en-AU" sz="1600" i="0" kern="1200">
                    <a:solidFill>
                      <a:schemeClr val="tx1"/>
                    </a:solidFill>
                    <a:effectLst/>
                    <a:latin typeface="Cambria Math" panose="02040503050406030204" pitchFamily="18" charset="0"/>
                    <a:ea typeface="+mn-ea"/>
                    <a:cs typeface="Arial" panose="020B0604020202020204" pitchFamily="34" charset="0"/>
                  </a:rPr>
                  <a:t>3/6</a:t>
                </a:r>
                <a:r>
                  <a:rPr lang="en-AU" sz="1600" kern="1200" dirty="0">
                    <a:solidFill>
                      <a:schemeClr val="tx1"/>
                    </a:solidFill>
                    <a:effectLst/>
                    <a:latin typeface="Public Sans" pitchFamily="2" charset="0"/>
                    <a:ea typeface="+mn-ea"/>
                    <a:cs typeface="Arial" panose="020B0604020202020204" pitchFamily="34" charset="0"/>
                  </a:rPr>
                  <a:t> and </a:t>
                </a:r>
                <a:r>
                  <a:rPr lang="en-AU" sz="1600" i="0" kern="1200">
                    <a:solidFill>
                      <a:schemeClr val="tx1"/>
                    </a:solidFill>
                    <a:effectLst/>
                    <a:latin typeface="Cambria Math" panose="02040503050406030204" pitchFamily="18" charset="0"/>
                    <a:ea typeface="+mn-ea"/>
                    <a:cs typeface="Arial" panose="020B0604020202020204" pitchFamily="34" charset="0"/>
                  </a:rPr>
                  <a:t>3/6</a:t>
                </a:r>
                <a:endParaRPr lang="en-AU" sz="1600" kern="1200" dirty="0">
                  <a:solidFill>
                    <a:schemeClr val="tx1"/>
                  </a:solidFill>
                  <a:effectLst/>
                  <a:latin typeface="Public Sans" pitchFamily="2" charset="0"/>
                  <a:ea typeface="+mn-ea"/>
                  <a:cs typeface="Arial" panose="020B0604020202020204" pitchFamily="34" charset="0"/>
                </a:endParaRPr>
              </a:p>
              <a:p>
                <a:pPr marL="342900" lvl="0" indent="-34290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a third student represented the fractions as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dirty="0">
                    <a:solidFill>
                      <a:schemeClr val="tx1"/>
                    </a:solidFill>
                    <a:effectLst/>
                    <a:latin typeface="Public Sans" pitchFamily="2" charset="0"/>
                    <a:ea typeface="+mn-ea"/>
                    <a:cs typeface="Arial" panose="020B0604020202020204" pitchFamily="34" charset="0"/>
                  </a:rPr>
                  <a:t> and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dirty="0">
                    <a:solidFill>
                      <a:schemeClr val="tx1"/>
                    </a:solidFill>
                    <a:effectLst/>
                    <a:latin typeface="Public Sans" pitchFamily="2" charset="0"/>
                    <a:ea typeface="+mn-ea"/>
                    <a:cs typeface="Arial" panose="020B0604020202020204" pitchFamily="34" charset="0"/>
                  </a:rPr>
                  <a:t>.</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Ask students to provide reasoning as to which statement is correct and why.</a:t>
                </a:r>
              </a:p>
              <a:p>
                <a:pPr marL="342900" lvl="0" indent="-342900">
                  <a:buFont typeface="+mj-lt"/>
                  <a:buAutoNum type="arabicPeriod" startAt="5"/>
                </a:pPr>
                <a:r>
                  <a:rPr lang="en-AU" sz="1600" kern="1200" dirty="0">
                    <a:solidFill>
                      <a:schemeClr val="tx1"/>
                    </a:solidFill>
                    <a:effectLst/>
                    <a:latin typeface="Public Sans" pitchFamily="2" charset="0"/>
                    <a:ea typeface="+mn-ea"/>
                    <a:cs typeface="Arial" panose="020B0604020202020204" pitchFamily="34" charset="0"/>
                  </a:rPr>
                  <a:t>Students share the fraction notation they used to record the remaining towers and discuss complementary fractions and equivalence.</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Additive relations </a:t>
            </a:r>
            <a:r>
              <a:rPr lang="en-AU" dirty="0">
                <a:latin typeface="Arial"/>
                <a:cs typeface="Arial"/>
              </a:rPr>
              <a:t>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Area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A </a:t>
                </a:r>
              </a:p>
              <a:p>
                <a:endParaRPr lang="en-AU" dirty="0"/>
              </a:p>
              <a:p>
                <a:r>
                  <a:rPr lang="en-AU" b="1" dirty="0"/>
                  <a:t>Additional complementary fractions</a:t>
                </a:r>
              </a:p>
              <a:p>
                <a:r>
                  <a:rPr lang="en-AU" b="0" dirty="0"/>
                  <a:t>This resource corresponds to Resource 21 – tower fractions in Stage 2 Year B Unit 24.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Discuss the complementary fractions evident and not evident.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build 3 towers of 6 interconnecting cubes using different colours. Students record the complementary fraction notation for each of their towers. For example, one sixth</a:t>
                </a:r>
                <a:r>
                  <a:rPr lang="en-AU" sz="1600" kern="1200" baseline="0" dirty="0">
                    <a:solidFill>
                      <a:schemeClr val="tx1"/>
                    </a:solidFill>
                    <a:effectLst/>
                    <a:latin typeface="Arial" panose="020B0604020202020204" pitchFamily="34" charset="0"/>
                    <a:ea typeface="+mn-ea"/>
                    <a:cs typeface="Arial" panose="020B0604020202020204" pitchFamily="34" charset="0"/>
                  </a:rPr>
                  <a:t> and 5 sixths.</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compare their sets of towers and the labelling of complementary fractions.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provide reasoning as to why they labelled the fractional components as they did show complementary fractions. For example, these fractions are complementary as they represent 2 fractional parts needed to complete one whole.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compare any similarities or differences in the towers they made.</a:t>
                </a:r>
              </a:p>
              <a:p>
                <a:endParaRPr lang="en-AU" b="1" dirty="0"/>
              </a:p>
              <a:p>
                <a:pPr marL="342900" indent="-342900">
                  <a:buFont typeface="+mj-lt"/>
                  <a:buAutoNum type="arabicPeriod"/>
                </a:pPr>
                <a:endParaRPr lang="en-AU" dirty="0"/>
              </a:p>
              <a:p>
                <a:endParaRPr lang="en-AU" dirty="0"/>
              </a:p>
            </p:txBody>
          </p:sp>
        </mc:Choice>
        <mc:Fallback xmlns="">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A </a:t>
                </a:r>
              </a:p>
              <a:p>
                <a:endParaRPr lang="en-AU" dirty="0"/>
              </a:p>
              <a:p>
                <a:r>
                  <a:rPr lang="en-AU" b="1" dirty="0"/>
                  <a:t>Activity title</a:t>
                </a:r>
              </a:p>
              <a:p>
                <a:r>
                  <a:rPr lang="en-AU" b="0" dirty="0"/>
                  <a:t>This resource corresponds to Resource 21 – tower fractions in Stage 2 Year B Unit 24. </a:t>
                </a:r>
              </a:p>
              <a:p>
                <a:endParaRPr lang="en-AU" b="1" dirty="0"/>
              </a:p>
              <a:p>
                <a:pPr marL="342900" indent="-342900">
                  <a:buFont typeface="+mj-lt"/>
                  <a:buAutoNum type="arabicPeriod"/>
                </a:pPr>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a:t>
                </a:r>
                <a:r>
                  <a:rPr lang="en-AU" b="0" dirty="0"/>
                  <a:t>Resource 21 – tower fractions. </a:t>
                </a:r>
                <a:r>
                  <a:rPr lang="en-AU" sz="1600" kern="1200" dirty="0">
                    <a:solidFill>
                      <a:schemeClr val="tx1"/>
                    </a:solidFill>
                    <a:effectLst/>
                    <a:latin typeface="Arial" panose="020B0604020202020204" pitchFamily="34" charset="0"/>
                    <a:ea typeface="+mn-ea"/>
                    <a:cs typeface="Arial" panose="020B0604020202020204" pitchFamily="34" charset="0"/>
                  </a:rPr>
                  <a:t>Discuss the complementary fractions evident and not evident.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build 3 towers of 6 interconnecting cubes using different colours. Students record the complementary fraction notation for each of their towers. For example, </a:t>
                </a:r>
                <a:r>
                  <a:rPr lang="en-AU" sz="1600" i="0" kern="1200">
                    <a:solidFill>
                      <a:schemeClr val="tx1"/>
                    </a:solidFill>
                    <a:effectLst/>
                    <a:latin typeface="Arial" panose="020B0604020202020204" pitchFamily="34" charset="0"/>
                    <a:ea typeface="+mn-ea"/>
                    <a:cs typeface="Arial" panose="020B0604020202020204" pitchFamily="34" charset="0"/>
                  </a:rPr>
                  <a:t>1/6</a:t>
                </a:r>
                <a:r>
                  <a:rPr lang="en-AU" sz="1600" kern="1200" dirty="0">
                    <a:solidFill>
                      <a:schemeClr val="tx1"/>
                    </a:solidFill>
                    <a:effectLst/>
                    <a:latin typeface="Arial" panose="020B0604020202020204" pitchFamily="34" charset="0"/>
                    <a:ea typeface="+mn-ea"/>
                    <a:cs typeface="Arial" panose="020B0604020202020204" pitchFamily="34" charset="0"/>
                  </a:rPr>
                  <a:t> and </a:t>
                </a:r>
                <a:r>
                  <a:rPr lang="en-AU" sz="1600" i="0" kern="1200">
                    <a:solidFill>
                      <a:schemeClr val="tx1"/>
                    </a:solidFill>
                    <a:effectLst/>
                    <a:latin typeface="Arial" panose="020B0604020202020204" pitchFamily="34" charset="0"/>
                    <a:ea typeface="+mn-ea"/>
                    <a:cs typeface="Arial" panose="020B0604020202020204" pitchFamily="34" charset="0"/>
                  </a:rPr>
                  <a:t>5/6</a:t>
                </a:r>
                <a:r>
                  <a:rPr lang="en-AU" sz="1600" kern="1200" dirty="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compare their sets of towers and the labelling of complementary fractions.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provide reasoning as to why they labelled the fractional components as they did show complementary fractions. For example, these fractions are complementary as they represent 2 fractional parts needed to complete one whole.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compare any similarities or differences in the towers they made.</a:t>
                </a:r>
              </a:p>
              <a:p>
                <a:endParaRPr lang="en-AU" b="1" dirty="0"/>
              </a:p>
              <a:p>
                <a:pPr marL="342900" indent="-342900">
                  <a:buFont typeface="+mj-lt"/>
                  <a:buAutoNum type="arabicPeriod"/>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Additive relations </a:t>
            </a:r>
            <a:r>
              <a:rPr lang="en-AU" dirty="0">
                <a:latin typeface="Arial"/>
                <a:cs typeface="Arial"/>
              </a:rPr>
              <a:t>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 – tally tables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dirty="0"/>
          </a:p>
          <a:p>
            <a:r>
              <a:rPr lang="en-AU" b="1" dirty="0"/>
              <a:t>Place value grouping</a:t>
            </a:r>
          </a:p>
          <a:p>
            <a:r>
              <a:rPr lang="en-AU" b="0" dirty="0"/>
              <a:t>This resource corresponds to Resource 22 – place value houses in Stage 2 Year B Unit 24.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students will get 6 dice rolls with a 9-sided die to make the closest possible number to 500 000, without going over.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Provide each student with </a:t>
            </a:r>
            <a:r>
              <a:rPr lang="en-AU" b="0" dirty="0"/>
              <a:t>Resource 22 – place value houses </a:t>
            </a:r>
            <a:r>
              <a:rPr lang="en-AU" sz="1600" kern="1200" dirty="0">
                <a:solidFill>
                  <a:schemeClr val="tx1"/>
                </a:solidFill>
                <a:effectLst/>
                <a:latin typeface="Arial" panose="020B0604020202020204" pitchFamily="34" charset="0"/>
                <a:ea typeface="+mn-ea"/>
                <a:cs typeface="Arial" panose="020B0604020202020204" pitchFamily="34" charset="0"/>
              </a:rPr>
              <a:t>and a 9-sided die. After each roll, students need to decide where to place that digit. Once a digit is placed, it cannot be moved.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After 5 throws, students decide which number they would most like to be the last dice roll.</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After 6 throws, each student reads out their number to the person next to them. For example, four hundred and ninety-two thousand, five hundred and eighty-one. Students then use expanded notation to record their number, emphasising the thousands, tens and ones. For example, 400 000 + 90 000 + 2000 + 500 + 80 + 1.</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 a class, determine who has made the number closest to 500 000.</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Repeat the process in small groups.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to consider whether changing the rules of the game to allow going over 500 000 could help them to get closer to the target number. For example, 512 367 is closer than 481 975.</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dirty="0"/>
          </a:p>
          <a:p>
            <a:r>
              <a:rPr lang="en-AU" b="1" dirty="0">
                <a:latin typeface="Arial"/>
                <a:cs typeface="Arial"/>
              </a:rPr>
              <a:t>Place value comparisons</a:t>
            </a:r>
          </a:p>
          <a:p>
            <a:r>
              <a:rPr lang="en-AU" sz="1800" dirty="0"/>
              <a:t>This resource corresponds to Resource 22 – place value houses in Stage 2 Year B Unit 24. </a:t>
            </a: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Repeat the game ‘Make 500 000’ from Activity 5 using </a:t>
            </a:r>
            <a:r>
              <a:rPr lang="en-AU" sz="1600" dirty="0"/>
              <a:t>Resource 22 </a:t>
            </a:r>
            <a:r>
              <a:rPr lang="en-AU" dirty="0"/>
              <a:t>– </a:t>
            </a:r>
            <a:r>
              <a:rPr lang="en-AU" sz="1600" dirty="0"/>
              <a:t>place value houses. </a:t>
            </a:r>
            <a:r>
              <a:rPr lang="en-AU" sz="1600" kern="1200" dirty="0">
                <a:solidFill>
                  <a:schemeClr val="tx1"/>
                </a:solidFill>
                <a:effectLst/>
                <a:latin typeface="Public Sans" pitchFamily="2" charset="0"/>
                <a:ea typeface="+mn-ea"/>
                <a:cs typeface="Arial" panose="020B0604020202020204" pitchFamily="34" charset="0"/>
              </a:rPr>
              <a:t>This time, after the last dice roll, students can swap 2 of their digits with each other. For example, if students have recorded 549 662, they could swap the 5 and the 4 to make 459 662 as this would be closer to 500 000.</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Repeat the game, but this time the digit swap must be after the fifth dice roll, and no change can be made again after the last dice roll.</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a:latin typeface="Arial"/>
                <a:cs typeface="Arial"/>
              </a:rPr>
              <a:t>Additive relations </a:t>
            </a:r>
            <a:r>
              <a:rPr lang="en-AU" dirty="0">
                <a:latin typeface="Arial"/>
                <a:cs typeface="Arial"/>
              </a:rPr>
              <a:t>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dirty="0"/>
          </a:p>
          <a:p>
            <a:r>
              <a:rPr lang="en-AU" b="1" dirty="0"/>
              <a:t>Expanding number notation </a:t>
            </a:r>
          </a:p>
          <a:p>
            <a:r>
              <a:rPr lang="en-AU" b="0" dirty="0"/>
              <a:t>This resource corresponds to Resource 23 in Stage 2 Year B Unit 24.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Students use all words from the list to make one number. They can add one hyphen to join 2 numbers together, for example, ninety-three. Students write their solution using words and expanded notation. If they find one solution, ask if that is the only solution possible. </a:t>
            </a:r>
          </a:p>
          <a:p>
            <a:pPr marL="285750" lvl="0" indent="-28575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Example solutions are:</a:t>
            </a:r>
          </a:p>
          <a:p>
            <a:pPr marL="0" lvl="0" indent="0">
              <a:buFont typeface="Arial" panose="020B0604020202020204" pitchFamily="34" charset="0"/>
              <a:buNone/>
            </a:pPr>
            <a:r>
              <a:rPr lang="en-AU" sz="1600" kern="1200" dirty="0">
                <a:solidFill>
                  <a:schemeClr val="tx1"/>
                </a:solidFill>
                <a:effectLst/>
                <a:latin typeface="Public Sans" pitchFamily="2" charset="0"/>
                <a:ea typeface="+mn-ea"/>
                <a:cs typeface="Arial" panose="020B0604020202020204" pitchFamily="34" charset="0"/>
              </a:rPr>
              <a:t>- six hundred and ninety-three thousand, four hundred and one = 600 000 + 90 000 + 3000 + 400 + 1</a:t>
            </a:r>
          </a:p>
          <a:p>
            <a:pPr marL="0" lvl="0" indent="0">
              <a:buFont typeface="Arial" panose="020B0604020202020204" pitchFamily="34" charset="0"/>
              <a:buNone/>
            </a:pPr>
            <a:r>
              <a:rPr lang="en-AU" sz="1600" kern="1200" dirty="0">
                <a:solidFill>
                  <a:schemeClr val="tx1"/>
                </a:solidFill>
                <a:effectLst/>
                <a:latin typeface="Public Sans" pitchFamily="2" charset="0"/>
                <a:ea typeface="+mn-ea"/>
                <a:cs typeface="Arial" panose="020B0604020202020204" pitchFamily="34" charset="0"/>
              </a:rPr>
              <a:t>- four hundred and ninety-six thousand, one hundred and four = 400 000 + 90 000 + 6000 + 100 + 4</a:t>
            </a:r>
          </a:p>
          <a:p>
            <a:pPr marL="285750" lvl="0" indent="-285750">
              <a:buFontTx/>
              <a:buChar char="-"/>
            </a:pPr>
            <a:r>
              <a:rPr lang="en-AU" sz="1600" kern="1200" dirty="0">
                <a:solidFill>
                  <a:schemeClr val="tx1"/>
                </a:solidFill>
                <a:effectLst/>
                <a:latin typeface="Public Sans" pitchFamily="2" charset="0"/>
                <a:ea typeface="+mn-ea"/>
                <a:cs typeface="Arial" panose="020B0604020202020204" pitchFamily="34" charset="0"/>
              </a:rPr>
              <a:t>one hundred and four thousand, six hundred and ninety-three = 100 000 + 4000 + 600 + 90 + 3</a:t>
            </a:r>
          </a:p>
          <a:p>
            <a:pPr marL="285750" lvl="0" indent="-285750">
              <a:buFontTx/>
              <a:buChar char="-"/>
            </a:pPr>
            <a:endParaRPr lang="en-AU" sz="1600" kern="1200" dirty="0">
              <a:solidFill>
                <a:schemeClr val="tx1"/>
              </a:solidFill>
              <a:effectLst/>
              <a:latin typeface="Public Sans" pitchFamily="2" charset="0"/>
              <a:ea typeface="+mn-ea"/>
              <a:cs typeface="Arial" panose="020B0604020202020204" pitchFamily="34" charset="0"/>
            </a:endParaRPr>
          </a:p>
          <a:p>
            <a:pPr marL="0" lvl="0" indent="0">
              <a:buFontTx/>
              <a:buNone/>
            </a:pPr>
            <a:r>
              <a:rPr lang="en-AU" sz="1600" kern="1200" dirty="0">
                <a:solidFill>
                  <a:schemeClr val="tx1"/>
                </a:solidFill>
                <a:effectLst/>
                <a:latin typeface="Public Sans" pitchFamily="2" charset="0"/>
                <a:ea typeface="+mn-ea"/>
                <a:cs typeface="Arial" panose="020B0604020202020204" pitchFamily="34" charset="0"/>
              </a:rPr>
              <a:t>Students repeat the process, choosing one option from Resource 23 – What’s the number? (following slide)</a:t>
            </a:r>
          </a:p>
          <a:p>
            <a:pPr marL="0" lvl="0" indent="0">
              <a:buFontTx/>
              <a:buNone/>
            </a:pPr>
            <a:r>
              <a:rPr lang="en-AU" sz="1600" kern="1200" dirty="0">
                <a:solidFill>
                  <a:schemeClr val="tx1"/>
                </a:solidFill>
                <a:effectLst/>
                <a:latin typeface="Public Sans" pitchFamily="2" charset="0"/>
                <a:ea typeface="+mn-ea"/>
                <a:cs typeface="Arial" panose="020B0604020202020204" pitchFamily="34" charset="0"/>
              </a:rPr>
              <a:t>Note: Some of these include zero as a challenge.</a:t>
            </a:r>
          </a:p>
          <a:p>
            <a:pPr marL="285750" lvl="0" indent="-285750">
              <a:buFontTx/>
              <a:buChar char="-"/>
            </a:pPr>
            <a:endParaRPr lang="en-AU" sz="1600" kern="1200" dirty="0">
              <a:solidFill>
                <a:schemeClr val="tx1"/>
              </a:solidFill>
              <a:effectLst/>
              <a:latin typeface="Public Sans" pitchFamily="2" charset="0"/>
              <a:ea typeface="+mn-ea"/>
              <a:cs typeface="Arial" panose="020B0604020202020204" pitchFamily="34" charset="0"/>
            </a:endParaRPr>
          </a:p>
          <a:p>
            <a:pPr marL="0" lvl="0" indent="0">
              <a:buFont typeface="+mj-lt"/>
              <a:buNone/>
            </a:pPr>
            <a:r>
              <a:rPr lang="en-AU" sz="1600" kern="1200" dirty="0">
                <a:solidFill>
                  <a:schemeClr val="tx1"/>
                </a:solidFill>
                <a:effectLst/>
                <a:latin typeface="Public Sans" pitchFamily="2" charset="0"/>
                <a:ea typeface="+mn-ea"/>
                <a:cs typeface="Arial" panose="020B0604020202020204" pitchFamily="34" charset="0"/>
              </a:rPr>
              <a:t> </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9EF94-2577-B4C2-C0AA-AD835970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6AC85-CFC9-84C8-4774-85C7C66B7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63043-1EEF-E3B4-7F31-A572715E73E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b="1" dirty="0"/>
          </a:p>
          <a:p>
            <a:r>
              <a:rPr lang="en-AU" b="1" dirty="0"/>
              <a:t>Expanding number notation </a:t>
            </a:r>
          </a:p>
          <a:p>
            <a:pPr marL="285750" lvl="0" indent="-28575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Students repeat the process, choosing one option from Resource 23 – What’s the number? </a:t>
            </a:r>
          </a:p>
          <a:p>
            <a:pPr marL="285750" lvl="0" indent="-285750">
              <a:buFont typeface="Arial" panose="020B0604020202020204" pitchFamily="34" charset="0"/>
              <a:buChar char="•"/>
            </a:pPr>
            <a:r>
              <a:rPr lang="en-AU" sz="1600" kern="1200" dirty="0">
                <a:solidFill>
                  <a:schemeClr val="tx1"/>
                </a:solidFill>
                <a:effectLst/>
                <a:latin typeface="Public Sans" pitchFamily="2" charset="0"/>
                <a:ea typeface="+mn-ea"/>
                <a:cs typeface="Arial" panose="020B0604020202020204" pitchFamily="34" charset="0"/>
              </a:rPr>
              <a:t>Note: Some of these include zero as a challenge.</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C9823FD5-0B6E-C22C-2000-17B0263D520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0749228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Position</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 </a:t>
            </a:r>
            <a:endParaRPr lang="en-AU" b="0" dirty="0"/>
          </a:p>
          <a:p>
            <a:endParaRPr lang="en-AU" b="1" dirty="0"/>
          </a:p>
          <a:p>
            <a:r>
              <a:rPr lang="en-AU" b="1" dirty="0"/>
              <a:t>Place value expanded number notation</a:t>
            </a:r>
          </a:p>
          <a:p>
            <a:r>
              <a:rPr lang="en-AU" sz="1600" kern="1200" dirty="0">
                <a:solidFill>
                  <a:schemeClr val="tx1"/>
                </a:solidFill>
                <a:effectLst/>
                <a:latin typeface="Public Sans" pitchFamily="2" charset="0"/>
                <a:ea typeface="+mn-ea"/>
                <a:cs typeface="Arial" panose="020B0604020202020204" pitchFamily="34" charset="0"/>
              </a:rPr>
              <a:t>Discuss how these can be rewritten with words and expanded numbers. Students write each of the numbers using words and expanded notation.  </a:t>
            </a:r>
          </a:p>
          <a:p>
            <a:pPr marL="342900" lvl="0" indent="-342900">
              <a:buFont typeface="+mj-lt"/>
              <a:buAutoNum type="arabicPeriod"/>
            </a:pPr>
            <a:r>
              <a:rPr lang="en-AU" sz="1600" kern="1200" dirty="0">
                <a:solidFill>
                  <a:schemeClr val="tx1"/>
                </a:solidFill>
                <a:effectLst/>
                <a:latin typeface="Public Sans" pitchFamily="2" charset="0"/>
                <a:ea typeface="+mn-ea"/>
                <a:cs typeface="Arial" panose="020B0604020202020204" pitchFamily="34" charset="0"/>
              </a:rPr>
              <a:t>In pairs students write a 6-digit number and their partner records the number using words and expanded notation. Students take turns repeating the process.</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6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2/fabf1cf43b?show=advic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mn-lt"/>
                <a:ea typeface="+mn-lt"/>
                <a:cs typeface="+mn-lt"/>
              </a:rPr>
              <a:t>This resource is not a teaching and learning program. It should be used in conjunction with Stage </a:t>
            </a:r>
            <a:r>
              <a:rPr lang="en-AU" sz="1800">
                <a:latin typeface="+mn-lt"/>
                <a:ea typeface="+mn-lt"/>
                <a:cs typeface="+mn-lt"/>
              </a:rPr>
              <a:t>2</a:t>
            </a:r>
            <a:r>
              <a:rPr lang="en-AU" sz="1800" dirty="0">
                <a:latin typeface="+mn-lt"/>
                <a:ea typeface="+mn-lt"/>
                <a:cs typeface="+mn-lt"/>
              </a:rPr>
              <a:t> Year B Unit </a:t>
            </a:r>
            <a:r>
              <a:rPr lang="en-AU" sz="1800">
                <a:latin typeface="+mn-lt"/>
                <a:ea typeface="+mn-lt"/>
                <a:cs typeface="+mn-lt"/>
              </a:rPr>
              <a:t>24.</a:t>
            </a:r>
            <a:endParaRPr lang="en-AU" sz="180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24</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4</a:t>
              </a: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5</a:t>
              </a: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6</a:t>
              </a: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7</a:t>
              </a: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txBox="1">
            <a:spLocks/>
          </p:cNvSpPr>
          <p:nvPr/>
        </p:nvSpPr>
        <p:spPr>
          <a:xfrm>
            <a:off x="360000" y="1237405"/>
            <a:ext cx="5465613"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Which of these is </a:t>
            </a:r>
            <a:r>
              <a:rPr lang="en-US" sz="4400" b="1" dirty="0"/>
              <a:t>equivalent</a:t>
            </a:r>
            <a:r>
              <a:rPr lang="en-US" sz="4400" dirty="0"/>
              <a:t> to one </a:t>
            </a:r>
            <a:r>
              <a:rPr lang="en-US" sz="4400" b="1" dirty="0"/>
              <a:t>half</a:t>
            </a:r>
            <a:r>
              <a:rPr lang="en-US" sz="4400" dirty="0"/>
              <a:t>?</a:t>
            </a:r>
          </a:p>
        </p:txBody>
      </p:sp>
      <p:pic>
        <p:nvPicPr>
          <p:cNvPr id="8" name="Picture 7" descr="Coloured fractional wall representing a whole, halves, thirds, quarters, sixths, eighths and tenths as separate coloured bars.  &#10;">
            <a:extLst>
              <a:ext uri="{FF2B5EF4-FFF2-40B4-BE49-F238E27FC236}">
                <a16:creationId xmlns:a16="http://schemas.microsoft.com/office/drawing/2014/main" id="{4887CD03-F863-4184-B153-5D7B154877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6389" y="245281"/>
            <a:ext cx="4006866" cy="4351485"/>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55D882C-AF43-C390-844D-CF785253532C}"/>
              </a:ext>
            </a:extLst>
          </p:cNvPr>
          <p:cNvSpPr txBox="1"/>
          <p:nvPr/>
        </p:nvSpPr>
        <p:spPr>
          <a:xfrm>
            <a:off x="1225784" y="48663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mc:AlternateContent xmlns:mc="http://schemas.openxmlformats.org/markup-compatibility/2006" xmlns:a14="http://schemas.microsoft.com/office/drawing/2010/main">
        <mc:Choice Requires="a14">
          <p:sp>
            <p:nvSpPr>
              <p:cNvPr id="13" name="Text Placeholder 17">
                <a:extLst>
                  <a:ext uri="{FF2B5EF4-FFF2-40B4-BE49-F238E27FC236}">
                    <a16:creationId xmlns:a16="http://schemas.microsoft.com/office/drawing/2014/main" id="{249CF990-9203-0FC6-FA8E-0E52BA054215}"/>
                  </a:ext>
                </a:extLst>
              </p:cNvPr>
              <p:cNvSpPr txBox="1">
                <a:spLocks/>
              </p:cNvSpPr>
              <p:nvPr/>
            </p:nvSpPr>
            <p:spPr>
              <a:xfrm>
                <a:off x="931358" y="5874604"/>
                <a:ext cx="11182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AU" sz="2800" i="1" smtClean="0">
                              <a:latin typeface="Cambria Math" panose="02040503050406030204" pitchFamily="18" charset="0"/>
                            </a:rPr>
                            <m:t>3</m:t>
                          </m:r>
                        </m:num>
                        <m:den>
                          <m:r>
                            <a:rPr lang="en-AU" sz="2800" i="1" smtClean="0">
                              <a:latin typeface="Cambria Math" panose="02040503050406030204" pitchFamily="18" charset="0"/>
                            </a:rPr>
                            <m:t>8</m:t>
                          </m:r>
                        </m:den>
                      </m:f>
                    </m:oMath>
                  </m:oMathPara>
                </a14:m>
                <a:endParaRPr lang="en-US" sz="3600" dirty="0"/>
              </a:p>
            </p:txBody>
          </p:sp>
        </mc:Choice>
        <mc:Fallback xmlns="">
          <p:sp>
            <p:nvSpPr>
              <p:cNvPr id="13" name="Text Placeholder 17">
                <a:extLst>
                  <a:ext uri="{FF2B5EF4-FFF2-40B4-BE49-F238E27FC236}">
                    <a16:creationId xmlns:a16="http://schemas.microsoft.com/office/drawing/2014/main" id="{249CF990-9203-0FC6-FA8E-0E52BA054215}"/>
                  </a:ext>
                </a:extLst>
              </p:cNvPr>
              <p:cNvSpPr txBox="1">
                <a:spLocks noRot="1" noChangeAspect="1" noMove="1" noResize="1" noEditPoints="1" noAdjustHandles="1" noChangeArrowheads="1" noChangeShapeType="1" noTextEdit="1"/>
              </p:cNvSpPr>
              <p:nvPr/>
            </p:nvSpPr>
            <p:spPr>
              <a:xfrm>
                <a:off x="931358" y="5874604"/>
                <a:ext cx="1118280" cy="641396"/>
              </a:xfrm>
              <a:prstGeom prst="rect">
                <a:avLst/>
              </a:prstGeom>
              <a:blipFill>
                <a:blip r:embed="rId5"/>
                <a:stretch>
                  <a:fillRect t="-952" b="-1619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A7CB9AE-0F31-FA92-BCB3-C4AD3EF18B05}"/>
              </a:ext>
            </a:extLst>
          </p:cNvPr>
          <p:cNvSpPr txBox="1"/>
          <p:nvPr/>
        </p:nvSpPr>
        <p:spPr>
          <a:xfrm>
            <a:off x="4229757" y="48663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mc:AlternateContent xmlns:mc="http://schemas.openxmlformats.org/markup-compatibility/2006" xmlns:a14="http://schemas.microsoft.com/office/drawing/2010/main">
        <mc:Choice Requires="a14">
          <p:sp>
            <p:nvSpPr>
              <p:cNvPr id="17" name="Text Placeholder 16">
                <a:extLst>
                  <a:ext uri="{FF2B5EF4-FFF2-40B4-BE49-F238E27FC236}">
                    <a16:creationId xmlns:a16="http://schemas.microsoft.com/office/drawing/2014/main" id="{C6C948D4-2A38-1E27-BC1F-1141CAAF7C2A}"/>
                  </a:ext>
                </a:extLst>
              </p:cNvPr>
              <p:cNvSpPr txBox="1">
                <a:spLocks/>
              </p:cNvSpPr>
              <p:nvPr/>
            </p:nvSpPr>
            <p:spPr>
              <a:xfrm>
                <a:off x="4085406" y="5874604"/>
                <a:ext cx="6737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2800" i="1" dirty="0" smtClean="0">
                              <a:latin typeface="Cambria Math" panose="02040503050406030204" pitchFamily="18" charset="0"/>
                            </a:rPr>
                          </m:ctrlPr>
                        </m:fPr>
                        <m:num>
                          <m:r>
                            <a:rPr lang="en-AU" sz="2800" i="1" dirty="0" smtClean="0">
                              <a:latin typeface="Cambria Math" panose="02040503050406030204" pitchFamily="18" charset="0"/>
                            </a:rPr>
                            <m:t>2</m:t>
                          </m:r>
                        </m:num>
                        <m:den>
                          <m:r>
                            <a:rPr lang="en-AU" sz="2800" i="1" dirty="0" smtClean="0">
                              <a:latin typeface="Cambria Math" panose="02040503050406030204" pitchFamily="18" charset="0"/>
                            </a:rPr>
                            <m:t>8</m:t>
                          </m:r>
                        </m:den>
                      </m:f>
                    </m:oMath>
                  </m:oMathPara>
                </a14:m>
                <a:endParaRPr dirty="0"/>
              </a:p>
            </p:txBody>
          </p:sp>
        </mc:Choice>
        <mc:Fallback xmlns="">
          <p:sp>
            <p:nvSpPr>
              <p:cNvPr id="17" name="Text Placeholder 16">
                <a:extLst>
                  <a:ext uri="{FF2B5EF4-FFF2-40B4-BE49-F238E27FC236}">
                    <a16:creationId xmlns:a16="http://schemas.microsoft.com/office/drawing/2014/main" id="{C6C948D4-2A38-1E27-BC1F-1141CAAF7C2A}"/>
                  </a:ext>
                </a:extLst>
              </p:cNvPr>
              <p:cNvSpPr txBox="1">
                <a:spLocks noRot="1" noChangeAspect="1" noMove="1" noResize="1" noEditPoints="1" noAdjustHandles="1" noChangeArrowheads="1" noChangeShapeType="1" noTextEdit="1"/>
              </p:cNvSpPr>
              <p:nvPr/>
            </p:nvSpPr>
            <p:spPr>
              <a:xfrm>
                <a:off x="4085406" y="5874604"/>
                <a:ext cx="673780" cy="641396"/>
              </a:xfrm>
              <a:prstGeom prst="rect">
                <a:avLst/>
              </a:prstGeom>
              <a:blipFill>
                <a:blip r:embed="rId6"/>
                <a:stretch>
                  <a:fillRect t="-952" b="-1619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DCA88-1230-AEE8-EFD6-D8F0DF7EEE5C}"/>
              </a:ext>
            </a:extLst>
          </p:cNvPr>
          <p:cNvSpPr txBox="1"/>
          <p:nvPr/>
        </p:nvSpPr>
        <p:spPr>
          <a:xfrm>
            <a:off x="7233730" y="48663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mc:AlternateContent xmlns:mc="http://schemas.openxmlformats.org/markup-compatibility/2006" xmlns:a14="http://schemas.microsoft.com/office/drawing/2010/main">
        <mc:Choice Requires="a14">
          <p:sp>
            <p:nvSpPr>
              <p:cNvPr id="16" name="Text Placeholder 16">
                <a:extLst>
                  <a:ext uri="{FF2B5EF4-FFF2-40B4-BE49-F238E27FC236}">
                    <a16:creationId xmlns:a16="http://schemas.microsoft.com/office/drawing/2014/main" id="{6696AA7A-2137-E437-7346-2488FCA5EC24}"/>
                  </a:ext>
                </a:extLst>
              </p:cNvPr>
              <p:cNvSpPr txBox="1">
                <a:spLocks/>
              </p:cNvSpPr>
              <p:nvPr/>
            </p:nvSpPr>
            <p:spPr>
              <a:xfrm>
                <a:off x="7095926" y="5874604"/>
                <a:ext cx="6737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2800" i="1" dirty="0" smtClean="0">
                              <a:latin typeface="Cambria Math" panose="02040503050406030204" pitchFamily="18" charset="0"/>
                            </a:rPr>
                          </m:ctrlPr>
                        </m:fPr>
                        <m:num>
                          <m:r>
                            <a:rPr lang="en-AU" sz="2800" b="0" i="1" dirty="0" smtClean="0">
                              <a:latin typeface="Cambria Math" panose="02040503050406030204" pitchFamily="18" charset="0"/>
                            </a:rPr>
                            <m:t>4</m:t>
                          </m:r>
                        </m:num>
                        <m:den>
                          <m:r>
                            <a:rPr lang="en-AU" sz="2800" i="1" dirty="0" smtClean="0">
                              <a:latin typeface="Cambria Math" panose="02040503050406030204" pitchFamily="18" charset="0"/>
                            </a:rPr>
                            <m:t>8</m:t>
                          </m:r>
                        </m:den>
                      </m:f>
                    </m:oMath>
                  </m:oMathPara>
                </a14:m>
                <a:endParaRPr dirty="0"/>
              </a:p>
            </p:txBody>
          </p:sp>
        </mc:Choice>
        <mc:Fallback xmlns="">
          <p:sp>
            <p:nvSpPr>
              <p:cNvPr id="16" name="Text Placeholder 16">
                <a:extLst>
                  <a:ext uri="{FF2B5EF4-FFF2-40B4-BE49-F238E27FC236}">
                    <a16:creationId xmlns:a16="http://schemas.microsoft.com/office/drawing/2014/main" id="{6696AA7A-2137-E437-7346-2488FCA5EC24}"/>
                  </a:ext>
                </a:extLst>
              </p:cNvPr>
              <p:cNvSpPr txBox="1">
                <a:spLocks noRot="1" noChangeAspect="1" noMove="1" noResize="1" noEditPoints="1" noAdjustHandles="1" noChangeArrowheads="1" noChangeShapeType="1" noTextEdit="1"/>
              </p:cNvSpPr>
              <p:nvPr/>
            </p:nvSpPr>
            <p:spPr>
              <a:xfrm>
                <a:off x="7095926" y="5874604"/>
                <a:ext cx="673780" cy="641396"/>
              </a:xfrm>
              <a:prstGeom prst="rect">
                <a:avLst/>
              </a:prstGeom>
              <a:blipFill>
                <a:blip r:embed="rId8"/>
                <a:stretch>
                  <a:fillRect t="-952" b="-1619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2C63D4C-D53C-5250-A986-AB949B67DEB8}"/>
              </a:ext>
            </a:extLst>
          </p:cNvPr>
          <p:cNvSpPr txBox="1"/>
          <p:nvPr/>
        </p:nvSpPr>
        <p:spPr>
          <a:xfrm>
            <a:off x="10237704" y="48663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mc:AlternateContent xmlns:mc="http://schemas.openxmlformats.org/markup-compatibility/2006" xmlns:a14="http://schemas.microsoft.com/office/drawing/2010/main">
        <mc:Choice Requires="a14">
          <p:sp>
            <p:nvSpPr>
              <p:cNvPr id="14" name="Text Placeholder 16">
                <a:extLst>
                  <a:ext uri="{FF2B5EF4-FFF2-40B4-BE49-F238E27FC236}">
                    <a16:creationId xmlns:a16="http://schemas.microsoft.com/office/drawing/2014/main" id="{5836F0ED-9F5C-4CC9-BA22-B910AD000DC7}"/>
                  </a:ext>
                </a:extLst>
              </p:cNvPr>
              <p:cNvSpPr txBox="1">
                <a:spLocks/>
              </p:cNvSpPr>
              <p:nvPr/>
            </p:nvSpPr>
            <p:spPr>
              <a:xfrm>
                <a:off x="10083335" y="5874604"/>
                <a:ext cx="6737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2800" i="1" dirty="0" smtClean="0">
                              <a:latin typeface="Cambria Math" panose="02040503050406030204" pitchFamily="18" charset="0"/>
                            </a:rPr>
                          </m:ctrlPr>
                        </m:fPr>
                        <m:num>
                          <m:r>
                            <a:rPr lang="en-AU" sz="2800" b="0" i="1" dirty="0" smtClean="0">
                              <a:latin typeface="Cambria Math" panose="02040503050406030204" pitchFamily="18" charset="0"/>
                            </a:rPr>
                            <m:t>5</m:t>
                          </m:r>
                        </m:num>
                        <m:den>
                          <m:r>
                            <a:rPr lang="en-AU" sz="2800" i="1" dirty="0" smtClean="0">
                              <a:latin typeface="Cambria Math" panose="02040503050406030204" pitchFamily="18" charset="0"/>
                            </a:rPr>
                            <m:t>8</m:t>
                          </m:r>
                        </m:den>
                      </m:f>
                    </m:oMath>
                  </m:oMathPara>
                </a14:m>
                <a:endParaRPr dirty="0"/>
              </a:p>
            </p:txBody>
          </p:sp>
        </mc:Choice>
        <mc:Fallback xmlns="">
          <p:sp>
            <p:nvSpPr>
              <p:cNvPr id="14" name="Text Placeholder 16">
                <a:extLst>
                  <a:ext uri="{FF2B5EF4-FFF2-40B4-BE49-F238E27FC236}">
                    <a16:creationId xmlns:a16="http://schemas.microsoft.com/office/drawing/2014/main" id="{5836F0ED-9F5C-4CC9-BA22-B910AD000DC7}"/>
                  </a:ext>
                </a:extLst>
              </p:cNvPr>
              <p:cNvSpPr txBox="1">
                <a:spLocks noRot="1" noChangeAspect="1" noMove="1" noResize="1" noEditPoints="1" noAdjustHandles="1" noChangeArrowheads="1" noChangeShapeType="1" noTextEdit="1"/>
              </p:cNvSpPr>
              <p:nvPr/>
            </p:nvSpPr>
            <p:spPr>
              <a:xfrm>
                <a:off x="10083335" y="5874604"/>
                <a:ext cx="673780" cy="641396"/>
              </a:xfrm>
              <a:prstGeom prst="rect">
                <a:avLst/>
              </a:prstGeom>
              <a:blipFill>
                <a:blip r:embed="rId7"/>
                <a:stretch>
                  <a:fillRect t="-1905" b="-17143"/>
                </a:stretch>
              </a:blipFill>
            </p:spPr>
            <p:txBody>
              <a:bodyPr/>
              <a:lstStyle/>
              <a:p>
                <a:r>
                  <a:rPr lang="en-US">
                    <a:noFill/>
                  </a:rPr>
                  <a:t> </a:t>
                </a:r>
              </a:p>
            </p:txBody>
          </p:sp>
        </mc:Fallback>
      </mc:AlternateContent>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3199-0FC1-B4CC-9B15-35768A590D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013305-0E7A-CD73-59FD-E85698AC288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50943099-A9D7-54BF-5579-60E7D377773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AA476661-4A84-3266-4551-8C796B98201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43942F3D-5B8C-F768-B49B-9287D423780F}"/>
              </a:ext>
            </a:extLst>
          </p:cNvPr>
          <p:cNvSpPr txBox="1"/>
          <p:nvPr/>
        </p:nvSpPr>
        <p:spPr>
          <a:xfrm>
            <a:off x="360000" y="974191"/>
            <a:ext cx="11483999" cy="4086503"/>
          </a:xfrm>
          <a:prstGeom prst="rect">
            <a:avLst/>
          </a:prstGeom>
          <a:noFill/>
        </p:spPr>
        <p:txBody>
          <a:bodyPr wrap="square">
            <a:spAutoFit/>
          </a:bodyPr>
          <a:lstStyle/>
          <a:p>
            <a:pPr algn="ctr">
              <a:lnSpc>
                <a:spcPct val="150000"/>
              </a:lnSpc>
            </a:pPr>
            <a:r>
              <a:rPr lang="en-AU" sz="4000" dirty="0"/>
              <a:t>Pippa folded her paper strip into </a:t>
            </a:r>
          </a:p>
          <a:p>
            <a:pPr algn="ctr">
              <a:lnSpc>
                <a:spcPct val="150000"/>
              </a:lnSpc>
            </a:pPr>
            <a:r>
              <a:rPr lang="en-AU" sz="4000" b="1" dirty="0"/>
              <a:t>equal parts </a:t>
            </a:r>
            <a:r>
              <a:rPr lang="en-AU" sz="4000" dirty="0"/>
              <a:t>like this. </a:t>
            </a:r>
          </a:p>
          <a:p>
            <a:pPr algn="ctr">
              <a:lnSpc>
                <a:spcPct val="150000"/>
              </a:lnSpc>
            </a:pPr>
            <a:endParaRPr lang="en-AU" sz="4400" dirty="0"/>
          </a:p>
          <a:p>
            <a:pPr algn="ctr">
              <a:lnSpc>
                <a:spcPct val="150000"/>
              </a:lnSpc>
            </a:pPr>
            <a:endParaRPr lang="en-AU" sz="2800" dirty="0"/>
          </a:p>
          <a:p>
            <a:pPr algn="ctr">
              <a:lnSpc>
                <a:spcPct val="150000"/>
              </a:lnSpc>
            </a:pPr>
            <a:endParaRPr lang="en-AU" dirty="0"/>
          </a:p>
        </p:txBody>
      </p:sp>
      <p:pic>
        <p:nvPicPr>
          <p:cNvPr id="5" name="Picture 4" descr="A horizontal bar divided into four equal blue sections. A number line runs underneath with arrows at both ends. The left end is labelled 0, and the right end is labelled 1.">
            <a:extLst>
              <a:ext uri="{FF2B5EF4-FFF2-40B4-BE49-F238E27FC236}">
                <a16:creationId xmlns:a16="http://schemas.microsoft.com/office/drawing/2014/main" id="{548F839A-1F65-BB4F-8680-6B87DD278851}"/>
              </a:ext>
            </a:extLst>
          </p:cNvPr>
          <p:cNvPicPr>
            <a:picLocks noChangeAspect="1"/>
          </p:cNvPicPr>
          <p:nvPr/>
        </p:nvPicPr>
        <p:blipFill>
          <a:blip r:embed="rId4"/>
          <a:srcRect t="11045" b="24768"/>
          <a:stretch>
            <a:fillRect/>
          </a:stretch>
        </p:blipFill>
        <p:spPr>
          <a:xfrm>
            <a:off x="1214479" y="3169084"/>
            <a:ext cx="9512789" cy="1919834"/>
          </a:xfrm>
          <a:prstGeom prst="rect">
            <a:avLst/>
          </a:prstGeom>
        </p:spPr>
      </p:pic>
      <p:sp>
        <p:nvSpPr>
          <p:cNvPr id="7" name="TextBox 6">
            <a:extLst>
              <a:ext uri="{FF2B5EF4-FFF2-40B4-BE49-F238E27FC236}">
                <a16:creationId xmlns:a16="http://schemas.microsoft.com/office/drawing/2014/main" id="{D62C0322-F955-90D6-2C9E-3470DD52FEEE}"/>
              </a:ext>
            </a:extLst>
          </p:cNvPr>
          <p:cNvSpPr txBox="1"/>
          <p:nvPr/>
        </p:nvSpPr>
        <p:spPr>
          <a:xfrm>
            <a:off x="282053" y="5060694"/>
            <a:ext cx="11627893" cy="942053"/>
          </a:xfrm>
          <a:prstGeom prst="rect">
            <a:avLst/>
          </a:prstGeom>
          <a:noFill/>
        </p:spPr>
        <p:txBody>
          <a:bodyPr wrap="square">
            <a:spAutoFit/>
          </a:bodyPr>
          <a:lstStyle/>
          <a:p>
            <a:pPr algn="ctr">
              <a:lnSpc>
                <a:spcPct val="150000"/>
              </a:lnSpc>
            </a:pPr>
            <a:r>
              <a:rPr lang="en-AU" sz="4200" b="1" dirty="0"/>
              <a:t>Draw</a:t>
            </a:r>
            <a:r>
              <a:rPr lang="en-AU" sz="4200" dirty="0"/>
              <a:t> Linda’s paper strip and </a:t>
            </a:r>
            <a:r>
              <a:rPr lang="en-AU" sz="4200" b="1" dirty="0"/>
              <a:t>label</a:t>
            </a:r>
            <a:r>
              <a:rPr lang="en-AU" sz="4200" dirty="0"/>
              <a:t> the fractions. </a:t>
            </a:r>
          </a:p>
        </p:txBody>
      </p:sp>
    </p:spTree>
    <p:extLst>
      <p:ext uri="{BB962C8B-B14F-4D97-AF65-F5344CB8AC3E}">
        <p14:creationId xmlns:p14="http://schemas.microsoft.com/office/powerpoint/2010/main" val="3038734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A89DEA7-8824-CD35-0F4E-46A76540FFB0}"/>
              </a:ext>
            </a:extLst>
          </p:cNvPr>
          <p:cNvSpPr txBox="1"/>
          <p:nvPr/>
        </p:nvSpPr>
        <p:spPr>
          <a:xfrm>
            <a:off x="559421" y="905601"/>
            <a:ext cx="10924579" cy="6614824"/>
          </a:xfrm>
          <a:prstGeom prst="rect">
            <a:avLst/>
          </a:prstGeom>
          <a:noFill/>
        </p:spPr>
        <p:txBody>
          <a:bodyPr wrap="square">
            <a:spAutoFit/>
          </a:bodyPr>
          <a:lstStyle/>
          <a:p>
            <a:pPr>
              <a:lnSpc>
                <a:spcPct val="150000"/>
              </a:lnSpc>
            </a:pPr>
            <a:r>
              <a:rPr lang="en-AU" sz="4400" dirty="0"/>
              <a:t>Name something you would measure with:</a:t>
            </a:r>
          </a:p>
          <a:p>
            <a:pPr marL="342900" indent="-342900">
              <a:lnSpc>
                <a:spcPct val="150000"/>
              </a:lnSpc>
              <a:buFont typeface="Arial" panose="020B0604020202020204" pitchFamily="34" charset="0"/>
              <a:buChar char="•"/>
            </a:pPr>
            <a:r>
              <a:rPr lang="en-AU" sz="4400" dirty="0"/>
              <a:t>a 30cm ruler</a:t>
            </a:r>
          </a:p>
          <a:p>
            <a:pPr marL="342900" indent="-342900">
              <a:lnSpc>
                <a:spcPct val="150000"/>
              </a:lnSpc>
              <a:buFont typeface="Arial" panose="020B0604020202020204" pitchFamily="34" charset="0"/>
              <a:buChar char="•"/>
            </a:pPr>
            <a:r>
              <a:rPr lang="en-AU" sz="4400" dirty="0"/>
              <a:t>a metre ruler</a:t>
            </a:r>
          </a:p>
          <a:p>
            <a:pPr marL="342900" indent="-342900">
              <a:lnSpc>
                <a:spcPct val="150000"/>
              </a:lnSpc>
              <a:buFont typeface="Arial" panose="020B0604020202020204" pitchFamily="34" charset="0"/>
              <a:buChar char="•"/>
            </a:pPr>
            <a:r>
              <a:rPr lang="en-AU" sz="4400" dirty="0"/>
              <a:t>trundle wheel </a:t>
            </a:r>
          </a:p>
          <a:p>
            <a:pPr algn="ctr">
              <a:lnSpc>
                <a:spcPct val="150000"/>
              </a:lnSpc>
            </a:pPr>
            <a:endParaRPr lang="en-AU" dirty="0"/>
          </a:p>
          <a:p>
            <a:pPr algn="ctr">
              <a:lnSpc>
                <a:spcPct val="150000"/>
              </a:lnSpc>
            </a:pPr>
            <a:r>
              <a:rPr lang="en-AU" sz="4400" b="1" dirty="0"/>
              <a:t>Communicate</a:t>
            </a:r>
            <a:r>
              <a:rPr lang="en-AU" sz="4400" dirty="0"/>
              <a:t> your </a:t>
            </a:r>
            <a:r>
              <a:rPr lang="en-AU" sz="4400" b="1" dirty="0"/>
              <a:t>reasoning</a:t>
            </a:r>
            <a:r>
              <a:rPr lang="en-AU" sz="4400" dirty="0"/>
              <a:t>. </a:t>
            </a:r>
          </a:p>
          <a:p>
            <a:pPr marL="342900" indent="-342900">
              <a:lnSpc>
                <a:spcPct val="150000"/>
              </a:lnSpc>
              <a:buFont typeface="Arial" panose="020B0604020202020204" pitchFamily="34" charset="0"/>
              <a:buChar char="•"/>
            </a:pPr>
            <a:endParaRPr lang="en-AU" sz="4400" dirty="0"/>
          </a:p>
        </p:txBody>
      </p:sp>
      <p:pic>
        <p:nvPicPr>
          <p:cNvPr id="7" name="Picture 6" descr="A 30cm ruler.">
            <a:extLst>
              <a:ext uri="{FF2B5EF4-FFF2-40B4-BE49-F238E27FC236}">
                <a16:creationId xmlns:a16="http://schemas.microsoft.com/office/drawing/2014/main" id="{69505023-3D8C-2E98-CD46-639576629055}"/>
              </a:ext>
            </a:extLst>
          </p:cNvPr>
          <p:cNvPicPr>
            <a:picLocks noChangeAspect="1"/>
          </p:cNvPicPr>
          <p:nvPr/>
        </p:nvPicPr>
        <p:blipFill>
          <a:blip r:embed="rId4"/>
          <a:stretch>
            <a:fillRect/>
          </a:stretch>
        </p:blipFill>
        <p:spPr>
          <a:xfrm>
            <a:off x="4312120" y="2515875"/>
            <a:ext cx="2463028" cy="241960"/>
          </a:xfrm>
          <a:prstGeom prst="rect">
            <a:avLst/>
          </a:prstGeom>
        </p:spPr>
      </p:pic>
      <p:pic>
        <p:nvPicPr>
          <p:cNvPr id="9" name="Picture 8" descr="A  one metre ruler.">
            <a:extLst>
              <a:ext uri="{FF2B5EF4-FFF2-40B4-BE49-F238E27FC236}">
                <a16:creationId xmlns:a16="http://schemas.microsoft.com/office/drawing/2014/main" id="{CA106485-59C3-F572-B40C-FC1C6B3AAC67}"/>
              </a:ext>
            </a:extLst>
          </p:cNvPr>
          <p:cNvPicPr>
            <a:picLocks noChangeAspect="1"/>
          </p:cNvPicPr>
          <p:nvPr/>
        </p:nvPicPr>
        <p:blipFill>
          <a:blip r:embed="rId5"/>
          <a:stretch>
            <a:fillRect/>
          </a:stretch>
        </p:blipFill>
        <p:spPr>
          <a:xfrm>
            <a:off x="4321200" y="3329532"/>
            <a:ext cx="7799794" cy="460339"/>
          </a:xfrm>
          <a:prstGeom prst="rect">
            <a:avLst/>
          </a:prstGeom>
        </p:spPr>
      </p:pic>
      <p:pic>
        <p:nvPicPr>
          <p:cNvPr id="11" name="Picture 10" descr="A trundle wheel.">
            <a:extLst>
              <a:ext uri="{FF2B5EF4-FFF2-40B4-BE49-F238E27FC236}">
                <a16:creationId xmlns:a16="http://schemas.microsoft.com/office/drawing/2014/main" id="{115BE259-ACE6-A45A-CC13-7AA2ECD34290}"/>
              </a:ext>
            </a:extLst>
          </p:cNvPr>
          <p:cNvPicPr>
            <a:picLocks noChangeAspect="1"/>
          </p:cNvPicPr>
          <p:nvPr/>
        </p:nvPicPr>
        <p:blipFill>
          <a:blip r:embed="rId6"/>
          <a:stretch>
            <a:fillRect/>
          </a:stretch>
        </p:blipFill>
        <p:spPr>
          <a:xfrm>
            <a:off x="4525268" y="3936014"/>
            <a:ext cx="1865594" cy="1434124"/>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31C7BDB-3ADC-78D3-E65F-90E2FC652369}"/>
              </a:ext>
            </a:extLst>
          </p:cNvPr>
          <p:cNvSpPr txBox="1"/>
          <p:nvPr/>
        </p:nvSpPr>
        <p:spPr>
          <a:xfrm>
            <a:off x="1014800" y="1161437"/>
            <a:ext cx="10109200" cy="5075941"/>
          </a:xfrm>
          <a:prstGeom prst="rect">
            <a:avLst/>
          </a:prstGeom>
          <a:noFill/>
        </p:spPr>
        <p:txBody>
          <a:bodyPr wrap="square">
            <a:spAutoFit/>
          </a:bodyPr>
          <a:lstStyle/>
          <a:p>
            <a:pPr algn="ctr">
              <a:lnSpc>
                <a:spcPct val="150000"/>
              </a:lnSpc>
            </a:pPr>
            <a:r>
              <a:rPr lang="en-AU" sz="4400" dirty="0"/>
              <a:t>Use the </a:t>
            </a:r>
            <a:r>
              <a:rPr lang="en-AU" sz="4400" b="1" dirty="0"/>
              <a:t>compensation strategy </a:t>
            </a:r>
            <a:r>
              <a:rPr lang="en-AU" sz="4400" dirty="0"/>
              <a:t> to solve </a:t>
            </a:r>
          </a:p>
          <a:p>
            <a:pPr algn="ctr">
              <a:lnSpc>
                <a:spcPct val="150000"/>
              </a:lnSpc>
            </a:pPr>
            <a:r>
              <a:rPr lang="en-AU" sz="6000" b="1" dirty="0"/>
              <a:t>373 - 47</a:t>
            </a:r>
            <a:endParaRPr lang="en-AU" sz="6000" dirty="0"/>
          </a:p>
          <a:p>
            <a:pPr algn="ctr"/>
            <a:endParaRPr lang="en-AU" sz="4400" dirty="0"/>
          </a:p>
          <a:p>
            <a:pPr algn="ctr">
              <a:lnSpc>
                <a:spcPct val="150000"/>
              </a:lnSpc>
            </a:pPr>
            <a:r>
              <a:rPr lang="en-AU" sz="4400" b="1" dirty="0"/>
              <a:t>Communicate</a:t>
            </a:r>
            <a:r>
              <a:rPr lang="en-AU" sz="4400" dirty="0"/>
              <a:t> your </a:t>
            </a:r>
            <a:r>
              <a:rPr lang="en-AU" sz="4400" b="1" dirty="0"/>
              <a:t>thinking</a:t>
            </a:r>
            <a:r>
              <a:rPr lang="en-AU" sz="4400" dirty="0"/>
              <a:t>. </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DFC6D62-1C8C-9533-5785-52904B7E3F01}"/>
              </a:ext>
            </a:extLst>
          </p:cNvPr>
          <p:cNvSpPr txBox="1"/>
          <p:nvPr/>
        </p:nvSpPr>
        <p:spPr>
          <a:xfrm>
            <a:off x="1014800" y="1161437"/>
            <a:ext cx="10109200" cy="3013838"/>
          </a:xfrm>
          <a:prstGeom prst="rect">
            <a:avLst/>
          </a:prstGeom>
          <a:noFill/>
        </p:spPr>
        <p:txBody>
          <a:bodyPr wrap="square">
            <a:spAutoFit/>
          </a:bodyPr>
          <a:lstStyle/>
          <a:p>
            <a:pPr algn="ctr">
              <a:lnSpc>
                <a:spcPct val="150000"/>
              </a:lnSpc>
            </a:pPr>
            <a:r>
              <a:rPr lang="en-AU" sz="4400" dirty="0"/>
              <a:t>Describe the </a:t>
            </a:r>
            <a:r>
              <a:rPr lang="en-AU" sz="4400" b="1" dirty="0"/>
              <a:t>features</a:t>
            </a:r>
            <a:r>
              <a:rPr lang="en-AU" sz="4400" dirty="0"/>
              <a:t> of this </a:t>
            </a:r>
            <a:r>
              <a:rPr lang="en-AU" sz="4400" b="1" dirty="0"/>
              <a:t>cylinder</a:t>
            </a:r>
            <a:r>
              <a:rPr lang="en-AU" sz="4400" dirty="0"/>
              <a:t>.</a:t>
            </a:r>
          </a:p>
          <a:p>
            <a:pPr algn="ctr">
              <a:lnSpc>
                <a:spcPct val="150000"/>
              </a:lnSpc>
            </a:pPr>
            <a:endParaRPr lang="en-AU" sz="4400" dirty="0"/>
          </a:p>
          <a:p>
            <a:pPr algn="ctr">
              <a:lnSpc>
                <a:spcPct val="150000"/>
              </a:lnSpc>
            </a:pPr>
            <a:endParaRPr lang="en-AU" sz="4400" dirty="0"/>
          </a:p>
        </p:txBody>
      </p:sp>
      <p:pic>
        <p:nvPicPr>
          <p:cNvPr id="7" name="Picture 6" descr="A cylinder">
            <a:extLst>
              <a:ext uri="{FF2B5EF4-FFF2-40B4-BE49-F238E27FC236}">
                <a16:creationId xmlns:a16="http://schemas.microsoft.com/office/drawing/2014/main" id="{A2458528-3706-9D2C-1DE2-C8168303AF05}"/>
              </a:ext>
            </a:extLst>
          </p:cNvPr>
          <p:cNvPicPr>
            <a:picLocks/>
          </p:cNvPicPr>
          <p:nvPr/>
        </p:nvPicPr>
        <p:blipFill>
          <a:blip r:embed="rId4"/>
          <a:stretch>
            <a:fillRect/>
          </a:stretch>
        </p:blipFill>
        <p:spPr>
          <a:xfrm>
            <a:off x="4390983" y="2668355"/>
            <a:ext cx="3921420" cy="3744000"/>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t>Activity 1 – </a:t>
            </a:r>
            <a:r>
              <a:rPr lang="en-AU" dirty="0">
                <a:latin typeface="Arial"/>
                <a:cs typeface="Arial"/>
              </a:rPr>
              <a:t>equivalent to half</a:t>
            </a:r>
            <a:endParaRPr lang="en-AU" dirty="0"/>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0" name="Picture 19" descr="A rectangle with a dotted line splitting it down the middle. 1/2 has been written in each half. There are arrows pointing to each half, and a note that the 1 represents how many parts of the whole, and the 2 represents how much is needed for the whole. There are 2 equal parts called half.">
            <a:extLst>
              <a:ext uri="{FF2B5EF4-FFF2-40B4-BE49-F238E27FC236}">
                <a16:creationId xmlns:a16="http://schemas.microsoft.com/office/drawing/2014/main" id="{A77438DB-3CD0-45FB-37F6-A50A9FD27A79}"/>
              </a:ext>
            </a:extLst>
          </p:cNvPr>
          <p:cNvPicPr>
            <a:picLocks noChangeAspect="1"/>
          </p:cNvPicPr>
          <p:nvPr/>
        </p:nvPicPr>
        <p:blipFill>
          <a:blip r:embed="rId4"/>
          <a:srcRect r="3202"/>
          <a:stretch>
            <a:fillRect/>
          </a:stretch>
        </p:blipFill>
        <p:spPr>
          <a:xfrm>
            <a:off x="458892" y="905601"/>
            <a:ext cx="10665108" cy="5435879"/>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9" name="Text Placeholder 14">
            <a:extLst>
              <a:ext uri="{FF2B5EF4-FFF2-40B4-BE49-F238E27FC236}">
                <a16:creationId xmlns:a16="http://schemas.microsoft.com/office/drawing/2014/main" id="{08D10C52-672B-700B-F015-9D3C47EFE474}"/>
              </a:ext>
            </a:extLst>
          </p:cNvPr>
          <p:cNvSpPr txBox="1">
            <a:spLocks/>
          </p:cNvSpPr>
          <p:nvPr/>
        </p:nvSpPr>
        <p:spPr>
          <a:xfrm>
            <a:off x="1309926" y="1342834"/>
            <a:ext cx="5497274"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t>2-quarters</a:t>
            </a:r>
            <a:r>
              <a:rPr lang="en-US" sz="4400" dirty="0"/>
              <a:t> is equivalent to one </a:t>
            </a:r>
            <a:r>
              <a:rPr lang="en-US" sz="4400" b="1" dirty="0"/>
              <a:t>half</a:t>
            </a:r>
            <a:r>
              <a:rPr lang="en-US" sz="4400" dirty="0"/>
              <a:t>?</a:t>
            </a:r>
          </a:p>
        </p:txBody>
      </p:sp>
      <p:pic>
        <p:nvPicPr>
          <p:cNvPr id="8" name="Picture 7" descr="Coloured fractional wall representing a whole, halves, thirds, quarters,  sixths, eighths and tenths as separate coloured bars.  ">
            <a:extLst>
              <a:ext uri="{FF2B5EF4-FFF2-40B4-BE49-F238E27FC236}">
                <a16:creationId xmlns:a16="http://schemas.microsoft.com/office/drawing/2014/main" id="{98258B7E-8284-FDF0-024B-A32F29497E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5542" y="905601"/>
            <a:ext cx="3199016" cy="3474154"/>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Coloured fractional wall representing a whole, halves, thirds, quarters,  sixths, eighths and tenths as separate coloured bars.  &#10;">
            <a:extLst>
              <a:ext uri="{FF2B5EF4-FFF2-40B4-BE49-F238E27FC236}">
                <a16:creationId xmlns:a16="http://schemas.microsoft.com/office/drawing/2014/main" id="{CE4E6DBE-99FD-36A6-C2AE-0468506EB6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900" y="1545018"/>
            <a:ext cx="4356100" cy="4730755"/>
          </a:xfrm>
          <a:prstGeom prst="rect">
            <a:avLst/>
          </a:prstGeom>
          <a:ln>
            <a:noFill/>
          </a:ln>
          <a:effectLst>
            <a:outerShdw blurRad="292100" dist="139700" dir="2700000" algn="tl" rotWithShape="0">
              <a:srgbClr val="333333">
                <a:alpha val="65000"/>
              </a:srgbClr>
            </a:outerShdw>
          </a:effectLst>
        </p:spPr>
      </p:pic>
      <p:sp>
        <p:nvSpPr>
          <p:cNvPr id="9" name="Text Placeholder 14">
            <a:extLst>
              <a:ext uri="{FF2B5EF4-FFF2-40B4-BE49-F238E27FC236}">
                <a16:creationId xmlns:a16="http://schemas.microsoft.com/office/drawing/2014/main" id="{CAC2E7BF-8BFD-357C-1736-9647926BB322}"/>
              </a:ext>
            </a:extLst>
          </p:cNvPr>
          <p:cNvSpPr txBox="1">
            <a:spLocks/>
          </p:cNvSpPr>
          <p:nvPr/>
        </p:nvSpPr>
        <p:spPr>
          <a:xfrm>
            <a:off x="5897224" y="1451202"/>
            <a:ext cx="5133252"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Write a fraction that is </a:t>
            </a:r>
            <a:r>
              <a:rPr lang="en-US" sz="4400" b="1" dirty="0"/>
              <a:t>smaller </a:t>
            </a:r>
            <a:r>
              <a:rPr lang="en-US" sz="4400" dirty="0"/>
              <a:t>than </a:t>
            </a:r>
            <a:r>
              <a:rPr lang="en-US" sz="4400" b="1" dirty="0"/>
              <a:t>one half </a:t>
            </a:r>
            <a:r>
              <a:rPr lang="en-US" sz="4400" dirty="0"/>
              <a:t>but </a:t>
            </a:r>
            <a:r>
              <a:rPr lang="en-US" sz="4400" b="1" dirty="0"/>
              <a:t>bigger</a:t>
            </a:r>
            <a:r>
              <a:rPr lang="en-US" sz="4400" dirty="0"/>
              <a:t> than </a:t>
            </a:r>
            <a:r>
              <a:rPr lang="en-US" sz="4400" b="1" dirty="0"/>
              <a:t>one quarter.</a:t>
            </a:r>
            <a:endParaRPr lang="en-US" sz="4400" dirty="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9E70C16-DE31-B445-EF47-3C027851FCC5}"/>
              </a:ext>
            </a:extLst>
          </p:cNvPr>
          <p:cNvSpPr txBox="1"/>
          <p:nvPr/>
        </p:nvSpPr>
        <p:spPr>
          <a:xfrm>
            <a:off x="1518286" y="1184223"/>
            <a:ext cx="8050696" cy="5552995"/>
          </a:xfrm>
          <a:prstGeom prst="rect">
            <a:avLst/>
          </a:prstGeom>
          <a:noFill/>
        </p:spPr>
        <p:txBody>
          <a:bodyPr wrap="square">
            <a:spAutoFit/>
          </a:bodyPr>
          <a:lstStyle/>
          <a:p>
            <a:pPr algn="ctr">
              <a:lnSpc>
                <a:spcPct val="150000"/>
              </a:lnSpc>
            </a:pPr>
            <a:r>
              <a:rPr lang="en-AU" sz="4400" dirty="0"/>
              <a:t>If your desk is about 120cm long, </a:t>
            </a:r>
            <a:r>
              <a:rPr lang="en-AU" sz="4400" b="1" dirty="0"/>
              <a:t>estimate</a:t>
            </a:r>
            <a:r>
              <a:rPr lang="en-AU" sz="4400" dirty="0"/>
              <a:t> the height of your classroom door.</a:t>
            </a:r>
          </a:p>
          <a:p>
            <a:pPr algn="ctr">
              <a:lnSpc>
                <a:spcPct val="150000"/>
              </a:lnSpc>
            </a:pPr>
            <a:endParaRPr lang="en-AU" sz="2200" dirty="0"/>
          </a:p>
          <a:p>
            <a:pPr algn="ctr">
              <a:lnSpc>
                <a:spcPct val="150000"/>
              </a:lnSpc>
            </a:pPr>
            <a:r>
              <a:rPr lang="en-AU" sz="4400" b="1" dirty="0"/>
              <a:t>Communicate</a:t>
            </a:r>
            <a:r>
              <a:rPr lang="en-AU" sz="4400" dirty="0"/>
              <a:t> your </a:t>
            </a:r>
            <a:r>
              <a:rPr lang="en-AU" sz="4400" b="1" dirty="0"/>
              <a:t>thinking</a:t>
            </a:r>
            <a:r>
              <a:rPr lang="en-AU" sz="4400" dirty="0"/>
              <a:t>. </a:t>
            </a:r>
          </a:p>
          <a:p>
            <a:pPr algn="ctr">
              <a:lnSpc>
                <a:spcPct val="150000"/>
              </a:lnSpc>
            </a:pPr>
            <a:endParaRPr lang="en-AU" sz="4400" dirty="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9511758-6C87-DC24-5311-40A29433FF10}"/>
              </a:ext>
            </a:extLst>
          </p:cNvPr>
          <p:cNvSpPr txBox="1"/>
          <p:nvPr/>
        </p:nvSpPr>
        <p:spPr>
          <a:xfrm>
            <a:off x="1014800" y="1398860"/>
            <a:ext cx="10109200" cy="4060279"/>
          </a:xfrm>
          <a:prstGeom prst="rect">
            <a:avLst/>
          </a:prstGeom>
          <a:noFill/>
        </p:spPr>
        <p:txBody>
          <a:bodyPr wrap="square">
            <a:spAutoFit/>
          </a:bodyPr>
          <a:lstStyle/>
          <a:p>
            <a:pPr algn="ctr">
              <a:lnSpc>
                <a:spcPct val="150000"/>
              </a:lnSpc>
            </a:pPr>
            <a:r>
              <a:rPr lang="en-AU" sz="4400" dirty="0"/>
              <a:t>Use </a:t>
            </a:r>
            <a:r>
              <a:rPr lang="en-AU" sz="4400" b="1" dirty="0"/>
              <a:t>regrouping</a:t>
            </a:r>
            <a:r>
              <a:rPr lang="en-AU" sz="4400" dirty="0"/>
              <a:t> to solve </a:t>
            </a:r>
          </a:p>
          <a:p>
            <a:pPr algn="ctr">
              <a:lnSpc>
                <a:spcPct val="150000"/>
              </a:lnSpc>
            </a:pPr>
            <a:r>
              <a:rPr lang="en-AU" sz="6000" b="1" dirty="0"/>
              <a:t>373 + 47</a:t>
            </a:r>
            <a:endParaRPr lang="en-AU" sz="6000" dirty="0"/>
          </a:p>
          <a:p>
            <a:pPr algn="ctr"/>
            <a:endParaRPr lang="en-AU" sz="4400" dirty="0"/>
          </a:p>
          <a:p>
            <a:pPr algn="ctr">
              <a:lnSpc>
                <a:spcPct val="150000"/>
              </a:lnSpc>
            </a:pPr>
            <a:r>
              <a:rPr lang="en-AU" sz="4400" b="1" dirty="0"/>
              <a:t>Communicate</a:t>
            </a:r>
            <a:r>
              <a:rPr lang="en-AU" sz="4400" dirty="0"/>
              <a:t> your </a:t>
            </a:r>
            <a:r>
              <a:rPr lang="en-AU" sz="4400" b="1" dirty="0"/>
              <a:t>thinking</a:t>
            </a:r>
            <a:r>
              <a:rPr lang="en-AU" sz="4400" dirty="0"/>
              <a:t>. </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Box 11">
            <a:extLst>
              <a:ext uri="{FF2B5EF4-FFF2-40B4-BE49-F238E27FC236}">
                <a16:creationId xmlns:a16="http://schemas.microsoft.com/office/drawing/2014/main" id="{E87B4C44-BF36-DF7A-3D6A-0BB230FE7AF3}"/>
              </a:ext>
            </a:extLst>
          </p:cNvPr>
          <p:cNvSpPr txBox="1"/>
          <p:nvPr/>
        </p:nvSpPr>
        <p:spPr>
          <a:xfrm>
            <a:off x="347256" y="1093537"/>
            <a:ext cx="11497488" cy="4768165"/>
          </a:xfrm>
          <a:prstGeom prst="rect">
            <a:avLst/>
          </a:prstGeom>
          <a:noFill/>
        </p:spPr>
        <p:txBody>
          <a:bodyPr wrap="square">
            <a:spAutoFit/>
          </a:bodyPr>
          <a:lstStyle/>
          <a:p>
            <a:pPr>
              <a:lnSpc>
                <a:spcPct val="150000"/>
              </a:lnSpc>
            </a:pPr>
            <a:r>
              <a:rPr lang="en-AU" sz="3200" dirty="0"/>
              <a:t>Clara drew around her shoe onto centimetre grid paper. She used an </a:t>
            </a:r>
            <a:r>
              <a:rPr lang="en-AU" sz="3200" b="1" dirty="0"/>
              <a:t>array</a:t>
            </a:r>
            <a:r>
              <a:rPr lang="en-AU" sz="3200" dirty="0"/>
              <a:t> to </a:t>
            </a:r>
            <a:r>
              <a:rPr lang="en-AU" sz="3200" b="1" dirty="0"/>
              <a:t>estimate the area</a:t>
            </a:r>
            <a:r>
              <a:rPr lang="en-AU" sz="3200" dirty="0"/>
              <a:t>. </a:t>
            </a:r>
          </a:p>
          <a:p>
            <a:pPr>
              <a:lnSpc>
                <a:spcPct val="150000"/>
              </a:lnSpc>
            </a:pPr>
            <a:r>
              <a:rPr lang="en-AU" sz="3200" dirty="0"/>
              <a:t>Which numbers complete the sentence?</a:t>
            </a:r>
          </a:p>
          <a:p>
            <a:pPr algn="ctr">
              <a:lnSpc>
                <a:spcPct val="150000"/>
              </a:lnSpc>
            </a:pPr>
            <a:endParaRPr lang="en-AU" sz="1400" dirty="0"/>
          </a:p>
          <a:p>
            <a:pPr algn="ctr">
              <a:lnSpc>
                <a:spcPct val="150000"/>
              </a:lnSpc>
            </a:pPr>
            <a:r>
              <a:rPr lang="en-AU" sz="2200" dirty="0"/>
              <a:t> </a:t>
            </a:r>
          </a:p>
          <a:p>
            <a:pPr algn="ctr">
              <a:lnSpc>
                <a:spcPct val="150000"/>
              </a:lnSpc>
            </a:pPr>
            <a:endParaRPr lang="en-AU" sz="3200" dirty="0"/>
          </a:p>
          <a:p>
            <a:pPr algn="ctr">
              <a:lnSpc>
                <a:spcPct val="150000"/>
              </a:lnSpc>
            </a:pPr>
            <a:endParaRPr lang="en-AU" sz="4400" dirty="0"/>
          </a:p>
        </p:txBody>
      </p:sp>
      <p:pic>
        <p:nvPicPr>
          <p:cNvPr id="14" name="Picture 13" descr="Grid paper with an outline of a foot drawn onto it. An array labelled 2 eights has been added. ">
            <a:extLst>
              <a:ext uri="{FF2B5EF4-FFF2-40B4-BE49-F238E27FC236}">
                <a16:creationId xmlns:a16="http://schemas.microsoft.com/office/drawing/2014/main" id="{90561305-72C8-CBC5-3045-92741B83B11E}"/>
              </a:ext>
            </a:extLst>
          </p:cNvPr>
          <p:cNvPicPr>
            <a:picLocks noChangeAspect="1"/>
          </p:cNvPicPr>
          <p:nvPr/>
        </p:nvPicPr>
        <p:blipFill>
          <a:blip r:embed="rId4"/>
          <a:stretch>
            <a:fillRect/>
          </a:stretch>
        </p:blipFill>
        <p:spPr>
          <a:xfrm>
            <a:off x="7980886" y="2263021"/>
            <a:ext cx="3742542" cy="3788937"/>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B39722B6-3519-A8B0-0A17-0B24829A22F1}"/>
              </a:ext>
            </a:extLst>
          </p:cNvPr>
          <p:cNvSpPr txBox="1"/>
          <p:nvPr/>
        </p:nvSpPr>
        <p:spPr>
          <a:xfrm>
            <a:off x="235362" y="4085477"/>
            <a:ext cx="7414616" cy="3937168"/>
          </a:xfrm>
          <a:prstGeom prst="rect">
            <a:avLst/>
          </a:prstGeom>
          <a:noFill/>
        </p:spPr>
        <p:txBody>
          <a:bodyPr wrap="square">
            <a:spAutoFit/>
          </a:bodyPr>
          <a:lstStyle/>
          <a:p>
            <a:pPr algn="ctr">
              <a:lnSpc>
                <a:spcPct val="150000"/>
              </a:lnSpc>
            </a:pPr>
            <a:r>
              <a:rPr lang="en-AU" sz="3200" dirty="0"/>
              <a:t>The area of Clara’s shoe must be </a:t>
            </a:r>
            <a:r>
              <a:rPr lang="en-AU" sz="3200" b="1" dirty="0"/>
              <a:t>more than </a:t>
            </a:r>
            <a:r>
              <a:rPr lang="en-AU" sz="3200" dirty="0"/>
              <a:t>_______and </a:t>
            </a:r>
            <a:r>
              <a:rPr lang="en-AU" sz="3200" b="1" dirty="0"/>
              <a:t>less than </a:t>
            </a:r>
            <a:r>
              <a:rPr lang="en-AU" sz="3200" dirty="0"/>
              <a:t>______  square centimetres. </a:t>
            </a:r>
          </a:p>
          <a:p>
            <a:pPr algn="ctr">
              <a:lnSpc>
                <a:spcPct val="150000"/>
              </a:lnSpc>
            </a:pPr>
            <a:endParaRPr lang="en-AU" sz="3200" dirty="0"/>
          </a:p>
          <a:p>
            <a:pPr algn="ctr">
              <a:lnSpc>
                <a:spcPct val="150000"/>
              </a:lnSpc>
            </a:pPr>
            <a:endParaRPr lang="en-AU" sz="4400" dirty="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equivalent fractions</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Coloured fractional wall representing a whole, halves, thirds, quarters,  sixths, eighths and tenths as separate coloured bars.  ">
            <a:extLst>
              <a:ext uri="{FF2B5EF4-FFF2-40B4-BE49-F238E27FC236}">
                <a16:creationId xmlns:a16="http://schemas.microsoft.com/office/drawing/2014/main" id="{D02FB078-AEA4-29E9-9D2E-BEE480AAA8B4}"/>
              </a:ext>
            </a:extLst>
          </p:cNvPr>
          <p:cNvPicPr>
            <a:picLocks noChangeAspect="1"/>
          </p:cNvPicPr>
          <p:nvPr/>
        </p:nvPicPr>
        <p:blipFill>
          <a:blip r:embed="rId4"/>
          <a:stretch>
            <a:fillRect/>
          </a:stretch>
        </p:blipFill>
        <p:spPr>
          <a:xfrm>
            <a:off x="3290602" y="1097258"/>
            <a:ext cx="6501098" cy="49719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4" name="TextBox 23">
            <a:extLst>
              <a:ext uri="{FF2B5EF4-FFF2-40B4-BE49-F238E27FC236}">
                <a16:creationId xmlns:a16="http://schemas.microsoft.com/office/drawing/2014/main" id="{D9925375-FCA1-292C-0F42-7653DD96A09F}"/>
              </a:ext>
            </a:extLst>
          </p:cNvPr>
          <p:cNvSpPr txBox="1"/>
          <p:nvPr/>
        </p:nvSpPr>
        <p:spPr>
          <a:xfrm>
            <a:off x="0" y="1301874"/>
            <a:ext cx="12192000" cy="820674"/>
          </a:xfrm>
          <a:prstGeom prst="rect">
            <a:avLst/>
          </a:prstGeom>
          <a:noFill/>
        </p:spPr>
        <p:txBody>
          <a:bodyPr wrap="square">
            <a:spAutoFit/>
          </a:bodyPr>
          <a:lstStyle/>
          <a:p>
            <a:pPr algn="ctr">
              <a:lnSpc>
                <a:spcPct val="150000"/>
              </a:lnSpc>
            </a:pPr>
            <a:r>
              <a:rPr lang="en-AU" sz="3600" dirty="0"/>
              <a:t>What fraction needs to be shaded to complete one </a:t>
            </a:r>
            <a:r>
              <a:rPr lang="en-AU" sz="3600" b="1" dirty="0"/>
              <a:t>whole</a:t>
            </a:r>
            <a:r>
              <a:rPr lang="en-AU" sz="3600" dirty="0"/>
              <a:t>?</a:t>
            </a:r>
          </a:p>
        </p:txBody>
      </p:sp>
      <p:pic>
        <p:nvPicPr>
          <p:cNvPr id="26" name="Picture 25" descr="A horizontal bar divided into four equal parts. Only the first part on the left is shaded yellow. Under the bar are the labels 1/4, 2/4, 3/4 and 4/4, with the words “one whole” written to the right.">
            <a:extLst>
              <a:ext uri="{FF2B5EF4-FFF2-40B4-BE49-F238E27FC236}">
                <a16:creationId xmlns:a16="http://schemas.microsoft.com/office/drawing/2014/main" id="{943F2BAB-5EC2-238B-3BEE-A44322D8E333}"/>
              </a:ext>
            </a:extLst>
          </p:cNvPr>
          <p:cNvPicPr>
            <a:picLocks noChangeAspect="1"/>
          </p:cNvPicPr>
          <p:nvPr/>
        </p:nvPicPr>
        <p:blipFill>
          <a:blip r:embed="rId4"/>
          <a:stretch>
            <a:fillRect/>
          </a:stretch>
        </p:blipFill>
        <p:spPr>
          <a:xfrm>
            <a:off x="1683307" y="2580405"/>
            <a:ext cx="8825386" cy="1697189"/>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AF13415D-5ABE-8CE1-9EF6-D83C6FF3BAC9}"/>
              </a:ext>
            </a:extLst>
          </p:cNvPr>
          <p:cNvSpPr txBox="1"/>
          <p:nvPr/>
        </p:nvSpPr>
        <p:spPr>
          <a:xfrm>
            <a:off x="1024380" y="4695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mc:AlternateContent xmlns:mc="http://schemas.openxmlformats.org/markup-compatibility/2006" xmlns:a14="http://schemas.microsoft.com/office/drawing/2010/main">
        <mc:Choice Requires="a14">
          <p:sp>
            <p:nvSpPr>
              <p:cNvPr id="14" name="Text Placeholder 17">
                <a:extLst>
                  <a:ext uri="{FF2B5EF4-FFF2-40B4-BE49-F238E27FC236}">
                    <a16:creationId xmlns:a16="http://schemas.microsoft.com/office/drawing/2014/main" id="{C26772BF-2852-6AF2-F3D9-4CF9A2F0B6D7}"/>
                  </a:ext>
                </a:extLst>
              </p:cNvPr>
              <p:cNvSpPr txBox="1">
                <a:spLocks/>
              </p:cNvSpPr>
              <p:nvPr/>
            </p:nvSpPr>
            <p:spPr>
              <a:xfrm>
                <a:off x="670518" y="5552369"/>
                <a:ext cx="11182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4</m:t>
                          </m:r>
                        </m:den>
                      </m:f>
                    </m:oMath>
                  </m:oMathPara>
                </a14:m>
                <a:endParaRPr lang="en-US" sz="4000" dirty="0"/>
              </a:p>
            </p:txBody>
          </p:sp>
        </mc:Choice>
        <mc:Fallback xmlns="">
          <p:sp>
            <p:nvSpPr>
              <p:cNvPr id="14" name="Text Placeholder 17">
                <a:extLst>
                  <a:ext uri="{FF2B5EF4-FFF2-40B4-BE49-F238E27FC236}">
                    <a16:creationId xmlns:a16="http://schemas.microsoft.com/office/drawing/2014/main" id="{C26772BF-2852-6AF2-F3D9-4CF9A2F0B6D7}"/>
                  </a:ext>
                </a:extLst>
              </p:cNvPr>
              <p:cNvSpPr txBox="1">
                <a:spLocks noRot="1" noChangeAspect="1" noMove="1" noResize="1" noEditPoints="1" noAdjustHandles="1" noChangeArrowheads="1" noChangeShapeType="1" noTextEdit="1"/>
              </p:cNvSpPr>
              <p:nvPr/>
            </p:nvSpPr>
            <p:spPr>
              <a:xfrm>
                <a:off x="670518" y="5552369"/>
                <a:ext cx="1118280" cy="641396"/>
              </a:xfrm>
              <a:prstGeom prst="rect">
                <a:avLst/>
              </a:prstGeom>
              <a:blipFill>
                <a:blip r:embed="rId5"/>
                <a:stretch>
                  <a:fillRect t="-17143" b="-5047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6BFC4FD-CDBD-E74C-2B4B-957276E8D806}"/>
              </a:ext>
            </a:extLst>
          </p:cNvPr>
          <p:cNvSpPr txBox="1"/>
          <p:nvPr/>
        </p:nvSpPr>
        <p:spPr>
          <a:xfrm>
            <a:off x="4028353" y="4695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mc:AlternateContent xmlns:mc="http://schemas.openxmlformats.org/markup-compatibility/2006" xmlns:a14="http://schemas.microsoft.com/office/drawing/2010/main">
        <mc:Choice Requires="a14">
          <p:sp>
            <p:nvSpPr>
              <p:cNvPr id="19" name="Text Placeholder 17">
                <a:extLst>
                  <a:ext uri="{FF2B5EF4-FFF2-40B4-BE49-F238E27FC236}">
                    <a16:creationId xmlns:a16="http://schemas.microsoft.com/office/drawing/2014/main" id="{9FF0C073-D3D8-5BCB-0DEF-6FFF2007FC8C}"/>
                  </a:ext>
                </a:extLst>
              </p:cNvPr>
              <p:cNvSpPr txBox="1">
                <a:spLocks/>
              </p:cNvSpPr>
              <p:nvPr/>
            </p:nvSpPr>
            <p:spPr>
              <a:xfrm>
                <a:off x="3739046" y="5552369"/>
                <a:ext cx="11182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2</m:t>
                          </m:r>
                        </m:num>
                        <m:den>
                          <m:r>
                            <a:rPr lang="en-AU" sz="4000" b="0" i="1" smtClean="0">
                              <a:latin typeface="Cambria Math" panose="02040503050406030204" pitchFamily="18" charset="0"/>
                            </a:rPr>
                            <m:t>4</m:t>
                          </m:r>
                        </m:den>
                      </m:f>
                    </m:oMath>
                  </m:oMathPara>
                </a14:m>
                <a:endParaRPr lang="en-US" sz="4000" dirty="0"/>
              </a:p>
            </p:txBody>
          </p:sp>
        </mc:Choice>
        <mc:Fallback xmlns="">
          <p:sp>
            <p:nvSpPr>
              <p:cNvPr id="19" name="Text Placeholder 17">
                <a:extLst>
                  <a:ext uri="{FF2B5EF4-FFF2-40B4-BE49-F238E27FC236}">
                    <a16:creationId xmlns:a16="http://schemas.microsoft.com/office/drawing/2014/main" id="{9FF0C073-D3D8-5BCB-0DEF-6FFF2007FC8C}"/>
                  </a:ext>
                </a:extLst>
              </p:cNvPr>
              <p:cNvSpPr txBox="1">
                <a:spLocks noRot="1" noChangeAspect="1" noMove="1" noResize="1" noEditPoints="1" noAdjustHandles="1" noChangeArrowheads="1" noChangeShapeType="1" noTextEdit="1"/>
              </p:cNvSpPr>
              <p:nvPr/>
            </p:nvSpPr>
            <p:spPr>
              <a:xfrm>
                <a:off x="3739046" y="5552369"/>
                <a:ext cx="1118280" cy="641396"/>
              </a:xfrm>
              <a:prstGeom prst="rect">
                <a:avLst/>
              </a:prstGeom>
              <a:blipFill>
                <a:blip r:embed="rId6"/>
                <a:stretch>
                  <a:fillRect t="-17143" b="-50476"/>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CCBA3B1-EB4D-D918-A8D0-B78C7621C52A}"/>
              </a:ext>
            </a:extLst>
          </p:cNvPr>
          <p:cNvSpPr txBox="1"/>
          <p:nvPr/>
        </p:nvSpPr>
        <p:spPr>
          <a:xfrm>
            <a:off x="7205039" y="4695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mc:AlternateContent xmlns:mc="http://schemas.openxmlformats.org/markup-compatibility/2006" xmlns:a14="http://schemas.microsoft.com/office/drawing/2010/main">
        <mc:Choice Requires="a14">
          <p:sp>
            <p:nvSpPr>
              <p:cNvPr id="20" name="Text Placeholder 17">
                <a:extLst>
                  <a:ext uri="{FF2B5EF4-FFF2-40B4-BE49-F238E27FC236}">
                    <a16:creationId xmlns:a16="http://schemas.microsoft.com/office/drawing/2014/main" id="{E2FDEC16-AC7E-8168-E40E-2F125304045A}"/>
                  </a:ext>
                </a:extLst>
              </p:cNvPr>
              <p:cNvSpPr txBox="1">
                <a:spLocks/>
              </p:cNvSpPr>
              <p:nvPr/>
            </p:nvSpPr>
            <p:spPr>
              <a:xfrm>
                <a:off x="6910613" y="5552369"/>
                <a:ext cx="11182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3</m:t>
                          </m:r>
                        </m:num>
                        <m:den>
                          <m:r>
                            <a:rPr lang="en-AU" sz="4000" b="0" i="1" smtClean="0">
                              <a:latin typeface="Cambria Math" panose="02040503050406030204" pitchFamily="18" charset="0"/>
                            </a:rPr>
                            <m:t>4</m:t>
                          </m:r>
                        </m:den>
                      </m:f>
                    </m:oMath>
                  </m:oMathPara>
                </a14:m>
                <a:endParaRPr lang="en-US" sz="4000" dirty="0"/>
              </a:p>
            </p:txBody>
          </p:sp>
        </mc:Choice>
        <mc:Fallback xmlns="">
          <p:sp>
            <p:nvSpPr>
              <p:cNvPr id="20" name="Text Placeholder 17">
                <a:extLst>
                  <a:ext uri="{FF2B5EF4-FFF2-40B4-BE49-F238E27FC236}">
                    <a16:creationId xmlns:a16="http://schemas.microsoft.com/office/drawing/2014/main" id="{E2FDEC16-AC7E-8168-E40E-2F125304045A}"/>
                  </a:ext>
                </a:extLst>
              </p:cNvPr>
              <p:cNvSpPr txBox="1">
                <a:spLocks noRot="1" noChangeAspect="1" noMove="1" noResize="1" noEditPoints="1" noAdjustHandles="1" noChangeArrowheads="1" noChangeShapeType="1" noTextEdit="1"/>
              </p:cNvSpPr>
              <p:nvPr/>
            </p:nvSpPr>
            <p:spPr>
              <a:xfrm>
                <a:off x="6910613" y="5552369"/>
                <a:ext cx="1118280" cy="641396"/>
              </a:xfrm>
              <a:prstGeom prst="rect">
                <a:avLst/>
              </a:prstGeom>
              <a:blipFill>
                <a:blip r:embed="rId7"/>
                <a:stretch>
                  <a:fillRect t="-17143" b="-5047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02A7C63-4C7D-5EB4-47F9-AF81CCED5985}"/>
              </a:ext>
            </a:extLst>
          </p:cNvPr>
          <p:cNvSpPr txBox="1"/>
          <p:nvPr/>
        </p:nvSpPr>
        <p:spPr>
          <a:xfrm>
            <a:off x="9852296" y="464957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mc:AlternateContent xmlns:mc="http://schemas.openxmlformats.org/markup-compatibility/2006" xmlns:a14="http://schemas.microsoft.com/office/drawing/2010/main">
        <mc:Choice Requires="a14">
          <p:sp>
            <p:nvSpPr>
              <p:cNvPr id="21" name="Text Placeholder 17">
                <a:extLst>
                  <a:ext uri="{FF2B5EF4-FFF2-40B4-BE49-F238E27FC236}">
                    <a16:creationId xmlns:a16="http://schemas.microsoft.com/office/drawing/2014/main" id="{A4E6C451-FB85-8858-A799-CEC40ECB94AF}"/>
                  </a:ext>
                </a:extLst>
              </p:cNvPr>
              <p:cNvSpPr txBox="1">
                <a:spLocks/>
              </p:cNvSpPr>
              <p:nvPr/>
            </p:nvSpPr>
            <p:spPr>
              <a:xfrm>
                <a:off x="9523040" y="5552369"/>
                <a:ext cx="1118280"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4</m:t>
                          </m:r>
                        </m:num>
                        <m:den>
                          <m:r>
                            <a:rPr lang="en-AU" sz="4000" b="0" i="1" smtClean="0">
                              <a:latin typeface="Cambria Math" panose="02040503050406030204" pitchFamily="18" charset="0"/>
                            </a:rPr>
                            <m:t>4</m:t>
                          </m:r>
                        </m:den>
                      </m:f>
                    </m:oMath>
                  </m:oMathPara>
                </a14:m>
                <a:endParaRPr lang="en-US" sz="4000" dirty="0"/>
              </a:p>
            </p:txBody>
          </p:sp>
        </mc:Choice>
        <mc:Fallback xmlns="">
          <p:sp>
            <p:nvSpPr>
              <p:cNvPr id="21" name="Text Placeholder 17">
                <a:extLst>
                  <a:ext uri="{FF2B5EF4-FFF2-40B4-BE49-F238E27FC236}">
                    <a16:creationId xmlns:a16="http://schemas.microsoft.com/office/drawing/2014/main" id="{A4E6C451-FB85-8858-A799-CEC40ECB94AF}"/>
                  </a:ext>
                </a:extLst>
              </p:cNvPr>
              <p:cNvSpPr txBox="1">
                <a:spLocks noRot="1" noChangeAspect="1" noMove="1" noResize="1" noEditPoints="1" noAdjustHandles="1" noChangeArrowheads="1" noChangeShapeType="1" noTextEdit="1"/>
              </p:cNvSpPr>
              <p:nvPr/>
            </p:nvSpPr>
            <p:spPr>
              <a:xfrm>
                <a:off x="9523040" y="5552369"/>
                <a:ext cx="1118280" cy="641396"/>
              </a:xfrm>
              <a:prstGeom prst="rect">
                <a:avLst/>
              </a:prstGeom>
              <a:blipFill>
                <a:blip r:embed="rId8"/>
                <a:stretch>
                  <a:fillRect t="-17143" b="-49524"/>
                </a:stretch>
              </a:blipFill>
            </p:spPr>
            <p:txBody>
              <a:bodyPr/>
              <a:lstStyle/>
              <a:p>
                <a:r>
                  <a:rPr lang="en-US">
                    <a:noFill/>
                  </a:rPr>
                  <a:t> </a:t>
                </a:r>
              </a:p>
            </p:txBody>
          </p:sp>
        </mc:Fallback>
      </mc:AlternateContent>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ADEBA5-ACBD-F98A-8CFA-01645197317E}"/>
                  </a:ext>
                </a:extLst>
              </p:cNvPr>
              <p:cNvSpPr txBox="1"/>
              <p:nvPr/>
            </p:nvSpPr>
            <p:spPr>
              <a:xfrm>
                <a:off x="1190982" y="889632"/>
                <a:ext cx="9317255" cy="1437188"/>
              </a:xfrm>
              <a:prstGeom prst="rect">
                <a:avLst/>
              </a:prstGeom>
              <a:noFill/>
            </p:spPr>
            <p:txBody>
              <a:bodyPr wrap="square">
                <a:spAutoFit/>
              </a:bodyPr>
              <a:lstStyle/>
              <a:p>
                <a:pPr lvl="0" algn="ctr">
                  <a:lnSpc>
                    <a:spcPct val="150000"/>
                  </a:lnSpc>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Which is larger   </a:t>
                </a:r>
                <a14:m>
                  <m:oMath xmlns:m="http://schemas.openxmlformats.org/officeDocument/2006/math">
                    <m:f>
                      <m:fPr>
                        <m:ctrlPr>
                          <a:rPr lang="en-AU" sz="4400" i="1">
                            <a:solidFill>
                              <a:srgbClr val="22272B"/>
                            </a:solidFill>
                            <a:latin typeface="Cambria Math" panose="02040503050406030204" pitchFamily="18" charset="0"/>
                          </a:rPr>
                        </m:ctrlPr>
                      </m:fPr>
                      <m:num>
                        <m:r>
                          <a:rPr lang="en-AU" sz="4400">
                            <a:solidFill>
                              <a:srgbClr val="22272B"/>
                            </a:solidFill>
                            <a:latin typeface="Cambria Math" panose="02040503050406030204" pitchFamily="18" charset="0"/>
                          </a:rPr>
                          <m:t>2</m:t>
                        </m:r>
                      </m:num>
                      <m:den>
                        <m:r>
                          <a:rPr lang="en-AU" sz="4400">
                            <a:solidFill>
                              <a:srgbClr val="22272B"/>
                            </a:solidFill>
                            <a:latin typeface="Cambria Math" panose="02040503050406030204" pitchFamily="18" charset="0"/>
                          </a:rPr>
                          <m:t>3</m:t>
                        </m:r>
                      </m:den>
                    </m:f>
                    <m:r>
                      <a:rPr lang="en-AU" sz="4400">
                        <a:solidFill>
                          <a:srgbClr val="22272B"/>
                        </a:solidFill>
                        <a:latin typeface="Cambria Math" panose="02040503050406030204" pitchFamily="18" charset="0"/>
                      </a:rPr>
                      <m:t> </m:t>
                    </m:r>
                    <m:r>
                      <a:rPr lang="en-AU" sz="4400" b="0" i="0" smtClean="0">
                        <a:solidFill>
                          <a:srgbClr val="22272B"/>
                        </a:solidFill>
                        <a:latin typeface="Cambria Math" panose="02040503050406030204" pitchFamily="18" charset="0"/>
                      </a:rPr>
                      <m:t> </m:t>
                    </m:r>
                    <m:r>
                      <m:rPr>
                        <m:sty m:val="p"/>
                      </m:rPr>
                      <a:rPr lang="en-AU" sz="4400">
                        <a:solidFill>
                          <a:srgbClr val="22272B"/>
                        </a:solidFill>
                        <a:latin typeface="Cambria Math" panose="02040503050406030204" pitchFamily="18" charset="0"/>
                      </a:rPr>
                      <m:t>or</m:t>
                    </m:r>
                    <m:r>
                      <a:rPr lang="en-AU" sz="4400" b="0" i="0" smtClean="0">
                        <a:solidFill>
                          <a:srgbClr val="22272B"/>
                        </a:solidFill>
                        <a:latin typeface="Cambria Math" panose="02040503050406030204" pitchFamily="18" charset="0"/>
                      </a:rPr>
                      <m:t>  </m:t>
                    </m:r>
                    <m:f>
                      <m:fPr>
                        <m:ctrlPr>
                          <a:rPr lang="en-AU" sz="4400" i="1">
                            <a:solidFill>
                              <a:srgbClr val="22272B"/>
                            </a:solidFill>
                            <a:latin typeface="Cambria Math" panose="02040503050406030204" pitchFamily="18" charset="0"/>
                          </a:rPr>
                        </m:ctrlPr>
                      </m:fPr>
                      <m:num>
                        <m:r>
                          <a:rPr lang="en-AU" sz="4400">
                            <a:solidFill>
                              <a:srgbClr val="22272B"/>
                            </a:solidFill>
                            <a:latin typeface="Cambria Math" panose="02040503050406030204" pitchFamily="18" charset="0"/>
                          </a:rPr>
                          <m:t>2</m:t>
                        </m:r>
                      </m:num>
                      <m:den>
                        <m:r>
                          <a:rPr lang="en-AU" sz="4400">
                            <a:solidFill>
                              <a:srgbClr val="22272B"/>
                            </a:solidFill>
                            <a:latin typeface="Cambria Math" panose="02040503050406030204" pitchFamily="18" charset="0"/>
                          </a:rPr>
                          <m:t>6</m:t>
                        </m:r>
                      </m:den>
                    </m:f>
                    <m:r>
                      <a:rPr lang="en-AU" sz="4400">
                        <a:solidFill>
                          <a:srgbClr val="22272B"/>
                        </a:solidFill>
                        <a:latin typeface="Cambria Math" panose="02040503050406030204" pitchFamily="18" charset="0"/>
                      </a:rPr>
                      <m:t> ?</m:t>
                    </m:r>
                  </m:oMath>
                </a14:m>
                <a:endParaRPr lang="en-AU" sz="4400" dirty="0">
                  <a:solidFill>
                    <a:srgbClr val="22272B"/>
                  </a:solidFill>
                  <a:latin typeface="Arial" panose="020B0604020202020204"/>
                </a:endParaRPr>
              </a:p>
            </p:txBody>
          </p:sp>
        </mc:Choice>
        <mc:Fallback xmlns="">
          <p:sp>
            <p:nvSpPr>
              <p:cNvPr id="10" name="TextBox 9">
                <a:extLst>
                  <a:ext uri="{FF2B5EF4-FFF2-40B4-BE49-F238E27FC236}">
                    <a16:creationId xmlns:a16="http://schemas.microsoft.com/office/drawing/2014/main" id="{2DADEBA5-ACBD-F98A-8CFA-01645197317E}"/>
                  </a:ext>
                </a:extLst>
              </p:cNvPr>
              <p:cNvSpPr txBox="1">
                <a:spLocks noRot="1" noChangeAspect="1" noMove="1" noResize="1" noEditPoints="1" noAdjustHandles="1" noChangeArrowheads="1" noChangeShapeType="1" noTextEdit="1"/>
              </p:cNvSpPr>
              <p:nvPr/>
            </p:nvSpPr>
            <p:spPr>
              <a:xfrm>
                <a:off x="1190982" y="889632"/>
                <a:ext cx="9317255" cy="1437188"/>
              </a:xfrm>
              <a:prstGeom prst="rect">
                <a:avLst/>
              </a:prstGeom>
              <a:blipFill>
                <a:blip r:embed="rId4"/>
                <a:stretch>
                  <a:fillRect b="-6356"/>
                </a:stretch>
              </a:blipFill>
            </p:spPr>
            <p:txBody>
              <a:bodyPr/>
              <a:lstStyle/>
              <a:p>
                <a:r>
                  <a:rPr lang="en-US">
                    <a:noFill/>
                  </a:rPr>
                  <a:t> </a:t>
                </a:r>
              </a:p>
            </p:txBody>
          </p:sp>
        </mc:Fallback>
      </mc:AlternateContent>
      <p:pic>
        <p:nvPicPr>
          <p:cNvPr id="5" name="Picture 4" descr="Fraction strips placed together for comparison. The top strip shows thirds, the bottom strip shows sixths. ">
            <a:extLst>
              <a:ext uri="{FF2B5EF4-FFF2-40B4-BE49-F238E27FC236}">
                <a16:creationId xmlns:a16="http://schemas.microsoft.com/office/drawing/2014/main" id="{09405A53-ECC9-1BBB-3D5E-249720480E08}"/>
              </a:ext>
            </a:extLst>
          </p:cNvPr>
          <p:cNvPicPr>
            <a:picLocks noChangeAspect="1"/>
          </p:cNvPicPr>
          <p:nvPr/>
        </p:nvPicPr>
        <p:blipFill>
          <a:blip r:embed="rId5"/>
          <a:stretch>
            <a:fillRect/>
          </a:stretch>
        </p:blipFill>
        <p:spPr>
          <a:xfrm>
            <a:off x="1745440" y="2737447"/>
            <a:ext cx="8485773" cy="2203669"/>
          </a:xfrm>
          <a:prstGeom prst="rect">
            <a:avLst/>
          </a:prstGeom>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569513D-286D-7AF8-2097-578D536130F1}"/>
              </a:ext>
            </a:extLst>
          </p:cNvPr>
          <p:cNvSpPr txBox="1"/>
          <p:nvPr/>
        </p:nvSpPr>
        <p:spPr>
          <a:xfrm>
            <a:off x="1172441" y="1411728"/>
            <a:ext cx="10293292" cy="3816429"/>
          </a:xfrm>
          <a:prstGeom prst="rect">
            <a:avLst/>
          </a:prstGeom>
          <a:noFill/>
        </p:spPr>
        <p:txBody>
          <a:bodyPr wrap="square">
            <a:spAutoFit/>
          </a:bodyPr>
          <a:lstStyle/>
          <a:p>
            <a:pPr>
              <a:lnSpc>
                <a:spcPct val="150000"/>
              </a:lnSpc>
            </a:pPr>
            <a:r>
              <a:rPr lang="en-AU" sz="4400" dirty="0"/>
              <a:t>Convert :</a:t>
            </a:r>
          </a:p>
          <a:p>
            <a:pPr marL="571500" indent="-571500">
              <a:lnSpc>
                <a:spcPct val="150000"/>
              </a:lnSpc>
              <a:buFont typeface="Arial" panose="020B0604020202020204" pitchFamily="34" charset="0"/>
              <a:buChar char="•"/>
            </a:pPr>
            <a:r>
              <a:rPr lang="en-AU" sz="4400" dirty="0"/>
              <a:t>175 </a:t>
            </a:r>
            <a:r>
              <a:rPr lang="en-AU" sz="4400" b="1" dirty="0"/>
              <a:t>millimetres</a:t>
            </a:r>
            <a:r>
              <a:rPr lang="en-AU" sz="4400" dirty="0"/>
              <a:t> into </a:t>
            </a:r>
            <a:r>
              <a:rPr lang="en-AU" sz="4400" b="1" dirty="0"/>
              <a:t>centimetres</a:t>
            </a:r>
          </a:p>
          <a:p>
            <a:pPr marL="571500" indent="-571500">
              <a:lnSpc>
                <a:spcPct val="150000"/>
              </a:lnSpc>
              <a:buFont typeface="Arial" panose="020B0604020202020204" pitchFamily="34" charset="0"/>
              <a:buChar char="•"/>
            </a:pPr>
            <a:r>
              <a:rPr lang="en-AU" sz="4400" dirty="0"/>
              <a:t>40 </a:t>
            </a:r>
            <a:r>
              <a:rPr lang="en-AU" sz="4400" b="1" dirty="0"/>
              <a:t>centimetres</a:t>
            </a:r>
            <a:r>
              <a:rPr lang="en-AU" sz="4400" dirty="0"/>
              <a:t> into </a:t>
            </a:r>
            <a:r>
              <a:rPr lang="en-AU" sz="4400" b="1" dirty="0"/>
              <a:t>millimetres</a:t>
            </a:r>
          </a:p>
          <a:p>
            <a:pPr marL="571500" indent="-571500">
              <a:buFont typeface="Arial" panose="020B0604020202020204" pitchFamily="34" charset="0"/>
              <a:buChar char="•"/>
            </a:pPr>
            <a:endParaRPr lang="en-AU" sz="4400" dirty="0"/>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12E1848-058A-2C7A-5F72-A1A663EB5577}"/>
              </a:ext>
            </a:extLst>
          </p:cNvPr>
          <p:cNvSpPr txBox="1"/>
          <p:nvPr/>
        </p:nvSpPr>
        <p:spPr>
          <a:xfrm>
            <a:off x="1437372" y="1329611"/>
            <a:ext cx="9317255" cy="4198778"/>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Use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regrouping</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to solve </a:t>
            </a:r>
          </a:p>
          <a:p>
            <a:pPr marL="0" marR="0" lvl="0" indent="0" algn="ctr" defTabSz="609585" rtl="0" eaLnBrk="1" fontAlgn="auto" latinLnBrk="0" hangingPunct="1">
              <a:lnSpc>
                <a:spcPct val="150000"/>
              </a:lnSpc>
              <a:spcBef>
                <a:spcPts val="0"/>
              </a:spcBef>
              <a:spcAft>
                <a:spcPts val="0"/>
              </a:spcAft>
              <a:buClrTx/>
              <a:buSzTx/>
              <a:buFontTx/>
              <a:buNone/>
              <a:tabLst/>
              <a:defRPr/>
            </a:pPr>
            <a:r>
              <a:rPr lang="en-AU" sz="6600" b="1" dirty="0">
                <a:solidFill>
                  <a:srgbClr val="22272B"/>
                </a:solidFill>
                <a:latin typeface="Arial" panose="020B0604020202020204"/>
              </a:rPr>
              <a:t>284</a:t>
            </a:r>
            <a:r>
              <a:rPr kumimoji="0" lang="en-AU" sz="6600" b="1" i="0" u="none" strike="noStrike" kern="1200" cap="none" spc="0" normalizeH="0" baseline="0" noProof="0" dirty="0">
                <a:ln>
                  <a:noFill/>
                </a:ln>
                <a:solidFill>
                  <a:srgbClr val="22272B"/>
                </a:solidFill>
                <a:effectLst/>
                <a:uLnTx/>
                <a:uFillTx/>
                <a:latin typeface="Arial" panose="020B0604020202020204"/>
                <a:ea typeface="+mn-ea"/>
                <a:cs typeface="+mn-cs"/>
              </a:rPr>
              <a:t> - 76</a:t>
            </a:r>
            <a:endParaRPr kumimoji="0" lang="en-AU" sz="66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0" marR="0" lvl="0" indent="0" algn="ctr" defTabSz="609585" rtl="0" eaLnBrk="1" fontAlgn="auto" latinLnBrk="0" hangingPunct="1">
              <a:spcBef>
                <a:spcPts val="0"/>
              </a:spcBef>
              <a:spcAft>
                <a:spcPts val="0"/>
              </a:spcAft>
              <a:buClrTx/>
              <a:buSzTx/>
              <a:buFontTx/>
              <a:buNone/>
              <a:tabLst/>
              <a:defRPr/>
            </a:pPr>
            <a:endPar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Communicate</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your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thinking</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prism made of cubes. It is made from 2 layers . Each layer has 3 rows of 3 cubes. The front, side, and top faces of the large cube are visible.">
            <a:extLst>
              <a:ext uri="{FF2B5EF4-FFF2-40B4-BE49-F238E27FC236}">
                <a16:creationId xmlns:a16="http://schemas.microsoft.com/office/drawing/2014/main" id="{0FCE7A74-2009-D2D5-9212-8D1E632CD61F}"/>
              </a:ext>
            </a:extLst>
          </p:cNvPr>
          <p:cNvPicPr>
            <a:picLocks noChangeAspect="1"/>
          </p:cNvPicPr>
          <p:nvPr/>
        </p:nvPicPr>
        <p:blipFill>
          <a:blip r:embed="rId4"/>
          <a:stretch>
            <a:fillRect/>
          </a:stretch>
        </p:blipFill>
        <p:spPr>
          <a:xfrm>
            <a:off x="348000" y="1553897"/>
            <a:ext cx="4930685" cy="4365093"/>
          </a:xfrm>
          <a:prstGeom prst="rect">
            <a:avLst/>
          </a:prstGeom>
        </p:spPr>
      </p:pic>
      <p:sp>
        <p:nvSpPr>
          <p:cNvPr id="7" name="TextBox 6">
            <a:extLst>
              <a:ext uri="{FF2B5EF4-FFF2-40B4-BE49-F238E27FC236}">
                <a16:creationId xmlns:a16="http://schemas.microsoft.com/office/drawing/2014/main" id="{A7E5E324-AC9D-760E-7603-D62B1D4BCE54}"/>
              </a:ext>
            </a:extLst>
          </p:cNvPr>
          <p:cNvSpPr txBox="1"/>
          <p:nvPr/>
        </p:nvSpPr>
        <p:spPr>
          <a:xfrm>
            <a:off x="4971133" y="1134985"/>
            <a:ext cx="6512867" cy="4029501"/>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Ryder made this prism using blocks. </a:t>
            </a: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What is the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volume</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of this prism? </a:t>
            </a:r>
          </a:p>
        </p:txBody>
      </p:sp>
      <p:sp>
        <p:nvSpPr>
          <p:cNvPr id="9" name="TextBox 8">
            <a:extLst>
              <a:ext uri="{FF2B5EF4-FFF2-40B4-BE49-F238E27FC236}">
                <a16:creationId xmlns:a16="http://schemas.microsoft.com/office/drawing/2014/main" id="{A58B08D2-45D5-308F-8F72-DF1FEDAF8250}"/>
              </a:ext>
            </a:extLst>
          </p:cNvPr>
          <p:cNvSpPr txBox="1"/>
          <p:nvPr/>
        </p:nvSpPr>
        <p:spPr>
          <a:xfrm>
            <a:off x="3917365" y="5304103"/>
            <a:ext cx="7926635"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Communicate</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your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thinking</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complementary fractions</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55" name="Picture 254" descr="6 towers of interlocking cubes. Each tower is 6 cubes long and represent fractions.&#10;&#10;Tower A: 6 orange cubes&#10;Tower B: 5 blue cubes, 1 pink cube&#10;Tower C: 3 brown cubes, 3 yellow cubes&#10;Tower D: 1 yellow, 1 brown, 1 yellow, 1 brown, 1 yellow, 1 brown&#10;Tower E: 1 blue cube, 4 pink cubes, 1 blue cube&#10;Tower F: 2 brown cubes, 2 pink cubes, 2 green cubes.">
            <a:extLst>
              <a:ext uri="{FF2B5EF4-FFF2-40B4-BE49-F238E27FC236}">
                <a16:creationId xmlns:a16="http://schemas.microsoft.com/office/drawing/2014/main" id="{43D1D489-DBC8-96AB-A543-929CDE432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9023" y="1158239"/>
            <a:ext cx="4953953" cy="5661661"/>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 uri="{C183D7F6-B498-43B3-948B-1728B52AA6E4}">
                <adec:decorative xmlns:adec="http://schemas.microsoft.com/office/drawing/2017/decorative" val="0"/>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0" name="TextBox 9">
            <a:extLst>
              <a:ext uri="{FF2B5EF4-FFF2-40B4-BE49-F238E27FC236}">
                <a16:creationId xmlns:a16="http://schemas.microsoft.com/office/drawing/2014/main" id="{83DF8E36-BE2C-4C5A-A14F-8024F620BD58}"/>
              </a:ext>
            </a:extLst>
          </p:cNvPr>
          <p:cNvSpPr txBox="1"/>
          <p:nvPr/>
        </p:nvSpPr>
        <p:spPr>
          <a:xfrm>
            <a:off x="360000" y="1431627"/>
            <a:ext cx="11832000"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Two thirds are needed to complete one whole.</a:t>
            </a:r>
          </a:p>
        </p:txBody>
      </p:sp>
      <p:pic>
        <p:nvPicPr>
          <p:cNvPr id="9" name="Picture 8" descr="A fraction strip divided into 3 parts. the first part is shaded pink. ">
            <a:extLst>
              <a:ext uri="{FF2B5EF4-FFF2-40B4-BE49-F238E27FC236}">
                <a16:creationId xmlns:a16="http://schemas.microsoft.com/office/drawing/2014/main" id="{3381380B-14B1-3BA0-A957-16A977F26107}"/>
              </a:ext>
            </a:extLst>
          </p:cNvPr>
          <p:cNvPicPr>
            <a:picLocks noChangeAspect="1"/>
          </p:cNvPicPr>
          <p:nvPr/>
        </p:nvPicPr>
        <p:blipFill>
          <a:blip r:embed="rId4"/>
          <a:stretch>
            <a:fillRect/>
          </a:stretch>
        </p:blipFill>
        <p:spPr>
          <a:xfrm>
            <a:off x="1773995" y="2661459"/>
            <a:ext cx="8644010" cy="2644809"/>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281117075"/>
              </p:ext>
            </p:extLst>
          </p:nvPr>
        </p:nvGraphicFramePr>
        <p:xfrm>
          <a:off x="2442981" y="547556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81FAF4-5015-D6BB-37C4-407E9A5FB9F6}"/>
                  </a:ext>
                </a:extLst>
              </p:cNvPr>
              <p:cNvSpPr txBox="1"/>
              <p:nvPr/>
            </p:nvSpPr>
            <p:spPr>
              <a:xfrm>
                <a:off x="1190983" y="968324"/>
                <a:ext cx="9317255" cy="1426673"/>
              </a:xfrm>
              <a:prstGeom prst="rect">
                <a:avLst/>
              </a:prstGeom>
              <a:noFill/>
            </p:spPr>
            <p:txBody>
              <a:bodyPr wrap="square">
                <a:spAutoFit/>
              </a:bodyPr>
              <a:lstStyle/>
              <a:p>
                <a:pPr lvl="0" algn="ctr">
                  <a:lnSpc>
                    <a:spcPct val="150000"/>
                  </a:lnSpc>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Which is larger   </a:t>
                </a:r>
                <a14:m>
                  <m:oMath xmlns:m="http://schemas.openxmlformats.org/officeDocument/2006/math">
                    <m:f>
                      <m:fPr>
                        <m:ctrlPr>
                          <a:rPr lang="en-AU" sz="4400" i="1">
                            <a:solidFill>
                              <a:srgbClr val="22272B"/>
                            </a:solidFill>
                            <a:latin typeface="Cambria Math" panose="02040503050406030204" pitchFamily="18" charset="0"/>
                          </a:rPr>
                        </m:ctrlPr>
                      </m:fPr>
                      <m:num>
                        <m:r>
                          <a:rPr lang="en-AU" sz="4400" b="0" i="0" smtClean="0">
                            <a:solidFill>
                              <a:srgbClr val="22272B"/>
                            </a:solidFill>
                            <a:latin typeface="Cambria Math" panose="02040503050406030204" pitchFamily="18" charset="0"/>
                          </a:rPr>
                          <m:t>3</m:t>
                        </m:r>
                      </m:num>
                      <m:den>
                        <m:r>
                          <a:rPr lang="en-AU" sz="4400" b="0" i="0" smtClean="0">
                            <a:solidFill>
                              <a:srgbClr val="22272B"/>
                            </a:solidFill>
                            <a:latin typeface="Cambria Math" panose="02040503050406030204" pitchFamily="18" charset="0"/>
                          </a:rPr>
                          <m:t>4</m:t>
                        </m:r>
                      </m:den>
                    </m:f>
                    <m:r>
                      <a:rPr lang="en-AU" sz="4400">
                        <a:solidFill>
                          <a:srgbClr val="22272B"/>
                        </a:solidFill>
                        <a:latin typeface="Cambria Math" panose="02040503050406030204" pitchFamily="18" charset="0"/>
                      </a:rPr>
                      <m:t> </m:t>
                    </m:r>
                    <m:r>
                      <a:rPr lang="en-AU" sz="4400" b="0" i="0" smtClean="0">
                        <a:solidFill>
                          <a:srgbClr val="22272B"/>
                        </a:solidFill>
                        <a:latin typeface="Cambria Math" panose="02040503050406030204" pitchFamily="18" charset="0"/>
                      </a:rPr>
                      <m:t> </m:t>
                    </m:r>
                    <m:r>
                      <m:rPr>
                        <m:sty m:val="p"/>
                      </m:rPr>
                      <a:rPr lang="en-AU" sz="4400">
                        <a:solidFill>
                          <a:srgbClr val="22272B"/>
                        </a:solidFill>
                        <a:latin typeface="Cambria Math" panose="02040503050406030204" pitchFamily="18" charset="0"/>
                      </a:rPr>
                      <m:t>or</m:t>
                    </m:r>
                    <m:r>
                      <a:rPr lang="en-AU" sz="4400" b="0" i="0" smtClean="0">
                        <a:solidFill>
                          <a:srgbClr val="22272B"/>
                        </a:solidFill>
                        <a:latin typeface="Cambria Math" panose="02040503050406030204" pitchFamily="18" charset="0"/>
                      </a:rPr>
                      <m:t>  </m:t>
                    </m:r>
                    <m:f>
                      <m:fPr>
                        <m:ctrlPr>
                          <a:rPr lang="en-AU" sz="4400" i="1">
                            <a:solidFill>
                              <a:srgbClr val="22272B"/>
                            </a:solidFill>
                            <a:latin typeface="Cambria Math" panose="02040503050406030204" pitchFamily="18" charset="0"/>
                          </a:rPr>
                        </m:ctrlPr>
                      </m:fPr>
                      <m:num>
                        <m:r>
                          <a:rPr lang="en-AU" sz="4400" b="0" i="0" smtClean="0">
                            <a:solidFill>
                              <a:srgbClr val="22272B"/>
                            </a:solidFill>
                            <a:latin typeface="Cambria Math" panose="02040503050406030204" pitchFamily="18" charset="0"/>
                          </a:rPr>
                          <m:t>5</m:t>
                        </m:r>
                      </m:num>
                      <m:den>
                        <m:r>
                          <a:rPr lang="en-AU" sz="4400" b="0" i="0" smtClean="0">
                            <a:solidFill>
                              <a:srgbClr val="22272B"/>
                            </a:solidFill>
                            <a:latin typeface="Cambria Math" panose="02040503050406030204" pitchFamily="18" charset="0"/>
                          </a:rPr>
                          <m:t>8</m:t>
                        </m:r>
                      </m:den>
                    </m:f>
                    <m:r>
                      <a:rPr lang="en-AU" sz="4400">
                        <a:solidFill>
                          <a:srgbClr val="22272B"/>
                        </a:solidFill>
                        <a:latin typeface="Cambria Math" panose="02040503050406030204" pitchFamily="18" charset="0"/>
                      </a:rPr>
                      <m:t> ?</m:t>
                    </m:r>
                  </m:oMath>
                </a14:m>
                <a:endParaRPr lang="en-AU" sz="4400" dirty="0">
                  <a:solidFill>
                    <a:srgbClr val="22272B"/>
                  </a:solidFill>
                  <a:latin typeface="Arial" panose="020B0604020202020204"/>
                </a:endParaRPr>
              </a:p>
            </p:txBody>
          </p:sp>
        </mc:Choice>
        <mc:Fallback xmlns="">
          <p:sp>
            <p:nvSpPr>
              <p:cNvPr id="8" name="TextBox 7">
                <a:extLst>
                  <a:ext uri="{FF2B5EF4-FFF2-40B4-BE49-F238E27FC236}">
                    <a16:creationId xmlns:a16="http://schemas.microsoft.com/office/drawing/2014/main" id="{FC81FAF4-5015-D6BB-37C4-407E9A5FB9F6}"/>
                  </a:ext>
                </a:extLst>
              </p:cNvPr>
              <p:cNvSpPr txBox="1">
                <a:spLocks noRot="1" noChangeAspect="1" noMove="1" noResize="1" noEditPoints="1" noAdjustHandles="1" noChangeArrowheads="1" noChangeShapeType="1" noTextEdit="1"/>
              </p:cNvSpPr>
              <p:nvPr/>
            </p:nvSpPr>
            <p:spPr>
              <a:xfrm>
                <a:off x="1190983" y="968324"/>
                <a:ext cx="9317255" cy="1426673"/>
              </a:xfrm>
              <a:prstGeom prst="rect">
                <a:avLst/>
              </a:prstGeom>
              <a:blipFill>
                <a:blip r:embed="rId5"/>
                <a:stretch>
                  <a:fillRect b="-8120"/>
                </a:stretch>
              </a:blipFill>
            </p:spPr>
            <p:txBody>
              <a:bodyPr/>
              <a:lstStyle/>
              <a:p>
                <a:r>
                  <a:rPr lang="en-US">
                    <a:noFill/>
                  </a:rPr>
                  <a:t> </a:t>
                </a:r>
              </a:p>
            </p:txBody>
          </p:sp>
        </mc:Fallback>
      </mc:AlternateContent>
      <p:pic>
        <p:nvPicPr>
          <p:cNvPr id="7" name="Picture 6" descr="Coloured fractional wall representing a whole, halves, thirds, quarters, fifths, sixths, eighths and tenths as separate coloured bars.  &#10;">
            <a:extLst>
              <a:ext uri="{FF2B5EF4-FFF2-40B4-BE49-F238E27FC236}">
                <a16:creationId xmlns:a16="http://schemas.microsoft.com/office/drawing/2014/main" id="{C25CD2B6-DC0F-4903-9AD1-71C7E99390F9}"/>
              </a:ext>
            </a:extLst>
          </p:cNvPr>
          <p:cNvPicPr>
            <a:picLocks noChangeAspect="1"/>
          </p:cNvPicPr>
          <p:nvPr/>
        </p:nvPicPr>
        <p:blipFill>
          <a:blip r:embed="rId6">
            <a:extLst>
              <a:ext uri="{28A0092B-C50C-407E-A947-70E740481C1C}">
                <a14:useLocalDpi xmlns:a14="http://schemas.microsoft.com/office/drawing/2010/main" val="0"/>
              </a:ext>
            </a:extLst>
          </a:blip>
          <a:srcRect t="37704" b="50096"/>
          <a:stretch>
            <a:fillRect/>
          </a:stretch>
        </p:blipFill>
        <p:spPr>
          <a:xfrm>
            <a:off x="1385510" y="2838948"/>
            <a:ext cx="8865099" cy="1174754"/>
          </a:xfrm>
          <a:prstGeom prst="rect">
            <a:avLst/>
          </a:prstGeom>
          <a:ln>
            <a:noFill/>
          </a:ln>
          <a:effectLst>
            <a:outerShdw blurRad="292100" dist="139700" dir="2700000" algn="tl" rotWithShape="0">
              <a:srgbClr val="333333">
                <a:alpha val="65000"/>
              </a:srgbClr>
            </a:outerShdw>
          </a:effectLst>
        </p:spPr>
      </p:pic>
      <p:pic>
        <p:nvPicPr>
          <p:cNvPr id="9" name="Picture 8" descr="Coloured fractional wall representing a whole, halves, thirds, quarters, fifths, sixths, eighths and tenths as separate coloured bars.  &#10;">
            <a:extLst>
              <a:ext uri="{FF2B5EF4-FFF2-40B4-BE49-F238E27FC236}">
                <a16:creationId xmlns:a16="http://schemas.microsoft.com/office/drawing/2014/main" id="{15D1F84E-59F8-7B1E-5F39-E1004EDA6839}"/>
              </a:ext>
            </a:extLst>
          </p:cNvPr>
          <p:cNvPicPr>
            <a:picLocks noChangeAspect="1"/>
          </p:cNvPicPr>
          <p:nvPr/>
        </p:nvPicPr>
        <p:blipFill>
          <a:blip r:embed="rId6">
            <a:extLst>
              <a:ext uri="{28A0092B-C50C-407E-A947-70E740481C1C}">
                <a14:useLocalDpi xmlns:a14="http://schemas.microsoft.com/office/drawing/2010/main" val="0"/>
              </a:ext>
            </a:extLst>
          </a:blip>
          <a:srcRect t="75126" b="12673"/>
          <a:stretch>
            <a:fillRect/>
          </a:stretch>
        </p:blipFill>
        <p:spPr>
          <a:xfrm>
            <a:off x="1385509" y="4013702"/>
            <a:ext cx="8865099" cy="11747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8870762-1F6A-FC25-837F-C637622218A5}"/>
              </a:ext>
            </a:extLst>
          </p:cNvPr>
          <p:cNvSpPr txBox="1"/>
          <p:nvPr/>
        </p:nvSpPr>
        <p:spPr>
          <a:xfrm>
            <a:off x="841696" y="1872490"/>
            <a:ext cx="4766633" cy="4029501"/>
          </a:xfrm>
          <a:prstGeom prst="rect">
            <a:avLst/>
          </a:prstGeom>
          <a:noFill/>
        </p:spPr>
        <p:txBody>
          <a:bodyPr wrap="square">
            <a:spAutoFit/>
          </a:bodyPr>
          <a:lstStyle/>
          <a:p>
            <a:pPr>
              <a:lnSpc>
                <a:spcPct val="150000"/>
              </a:lnSpc>
            </a:pPr>
            <a:r>
              <a:rPr lang="en-AU" sz="4400" b="1" dirty="0"/>
              <a:t>Describe</a:t>
            </a:r>
            <a:r>
              <a:rPr lang="en-AU" sz="4400" dirty="0"/>
              <a:t> this box using the words </a:t>
            </a:r>
            <a:r>
              <a:rPr lang="en-AU" sz="4400" b="1" dirty="0"/>
              <a:t>length, width </a:t>
            </a:r>
            <a:r>
              <a:rPr lang="en-AU" sz="4400" dirty="0"/>
              <a:t>and </a:t>
            </a:r>
            <a:r>
              <a:rPr lang="en-AU" sz="4400" b="1" dirty="0"/>
              <a:t>height.</a:t>
            </a:r>
            <a:endParaRPr lang="en-AU" sz="4400" dirty="0"/>
          </a:p>
        </p:txBody>
      </p:sp>
      <p:pic>
        <p:nvPicPr>
          <p:cNvPr id="9" name="Picture 8" descr="A green box with the dimensions labelled. The labels are 20 cm, 12 cm and 30 cm.">
            <a:extLst>
              <a:ext uri="{FF2B5EF4-FFF2-40B4-BE49-F238E27FC236}">
                <a16:creationId xmlns:a16="http://schemas.microsoft.com/office/drawing/2014/main" id="{081782A7-14B7-19FB-338F-3DDFB6757C7F}"/>
              </a:ext>
            </a:extLst>
          </p:cNvPr>
          <p:cNvPicPr>
            <a:picLocks noChangeAspect="1"/>
          </p:cNvPicPr>
          <p:nvPr/>
        </p:nvPicPr>
        <p:blipFill>
          <a:blip r:embed="rId4"/>
          <a:stretch>
            <a:fillRect/>
          </a:stretch>
        </p:blipFill>
        <p:spPr>
          <a:xfrm>
            <a:off x="5879519" y="1747812"/>
            <a:ext cx="6312481" cy="3583728"/>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2F2A6EC-A915-2711-920C-1BF0B23571A2}"/>
              </a:ext>
            </a:extLst>
          </p:cNvPr>
          <p:cNvSpPr txBox="1"/>
          <p:nvPr/>
        </p:nvSpPr>
        <p:spPr>
          <a:xfrm>
            <a:off x="610505" y="1524192"/>
            <a:ext cx="11335471" cy="3013838"/>
          </a:xfrm>
          <a:prstGeom prst="rect">
            <a:avLst/>
          </a:prstGeom>
          <a:noFill/>
        </p:spPr>
        <p:txBody>
          <a:bodyPr wrap="square">
            <a:spAutoFit/>
          </a:bodyPr>
          <a:lstStyle/>
          <a:p>
            <a:pPr algn="ctr">
              <a:lnSpc>
                <a:spcPct val="150000"/>
              </a:lnSpc>
            </a:pPr>
            <a:r>
              <a:rPr lang="en-AU" sz="4400" dirty="0"/>
              <a:t>Use </a:t>
            </a:r>
            <a:r>
              <a:rPr lang="en-AU" sz="4400" b="1" dirty="0"/>
              <a:t>partitioning</a:t>
            </a:r>
            <a:r>
              <a:rPr lang="en-AU" sz="4400" dirty="0"/>
              <a:t> and </a:t>
            </a:r>
            <a:r>
              <a:rPr lang="en-AU" sz="4400" b="1" dirty="0"/>
              <a:t>regrouping</a:t>
            </a:r>
            <a:r>
              <a:rPr lang="en-AU" sz="4400" dirty="0"/>
              <a:t> strategies to determine </a:t>
            </a:r>
            <a:r>
              <a:rPr lang="en-AU" sz="4400" b="1" dirty="0"/>
              <a:t>2</a:t>
            </a:r>
            <a:r>
              <a:rPr lang="en-AU" sz="4400" dirty="0"/>
              <a:t> numbers that </a:t>
            </a:r>
            <a:r>
              <a:rPr lang="en-AU" sz="4400" b="1" dirty="0"/>
              <a:t>combine</a:t>
            </a:r>
            <a:r>
              <a:rPr lang="en-AU" sz="4400" dirty="0"/>
              <a:t> to make 573.</a:t>
            </a:r>
          </a:p>
        </p:txBody>
      </p:sp>
      <p:sp>
        <p:nvSpPr>
          <p:cNvPr id="8" name="TextBox 7">
            <a:extLst>
              <a:ext uri="{FF2B5EF4-FFF2-40B4-BE49-F238E27FC236}">
                <a16:creationId xmlns:a16="http://schemas.microsoft.com/office/drawing/2014/main" id="{7DA09A78-658B-CA86-79DA-976D69D2CE54}"/>
              </a:ext>
            </a:extLst>
          </p:cNvPr>
          <p:cNvSpPr txBox="1"/>
          <p:nvPr/>
        </p:nvSpPr>
        <p:spPr>
          <a:xfrm>
            <a:off x="2669458" y="5156621"/>
            <a:ext cx="7615083"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thinking</a:t>
            </a:r>
            <a:r>
              <a:rPr lang="en-AU" sz="4400" dirty="0"/>
              <a:t>. </a:t>
            </a:r>
            <a:endParaRPr lang="en-AU" sz="1800" dirty="0"/>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1" name="Picture 10" descr="A rectangle dran onto grid paper. The rectangle is 6 rows of 4 squares ">
            <a:extLst>
              <a:ext uri="{FF2B5EF4-FFF2-40B4-BE49-F238E27FC236}">
                <a16:creationId xmlns:a16="http://schemas.microsoft.com/office/drawing/2014/main" id="{7A453EB7-6339-4894-63CC-0C2A471FF7C2}"/>
              </a:ext>
            </a:extLst>
          </p:cNvPr>
          <p:cNvPicPr>
            <a:picLocks noChangeAspect="1"/>
          </p:cNvPicPr>
          <p:nvPr/>
        </p:nvPicPr>
        <p:blipFill>
          <a:blip r:embed="rId4"/>
          <a:stretch>
            <a:fillRect/>
          </a:stretch>
        </p:blipFill>
        <p:spPr>
          <a:xfrm>
            <a:off x="638094" y="1339742"/>
            <a:ext cx="3109892" cy="4133958"/>
          </a:xfrm>
          <a:prstGeom prst="rect">
            <a:avLst/>
          </a:prstGeom>
        </p:spPr>
      </p:pic>
      <p:sp>
        <p:nvSpPr>
          <p:cNvPr id="7" name="TextBox 6">
            <a:extLst>
              <a:ext uri="{FF2B5EF4-FFF2-40B4-BE49-F238E27FC236}">
                <a16:creationId xmlns:a16="http://schemas.microsoft.com/office/drawing/2014/main" id="{9C62DC25-F10A-7EE9-7F79-ED9B85068E86}"/>
              </a:ext>
            </a:extLst>
          </p:cNvPr>
          <p:cNvSpPr txBox="1"/>
          <p:nvPr/>
        </p:nvSpPr>
        <p:spPr>
          <a:xfrm>
            <a:off x="3747986" y="497873"/>
            <a:ext cx="7656614" cy="6297365"/>
          </a:xfrm>
          <a:prstGeom prst="rect">
            <a:avLst/>
          </a:prstGeom>
          <a:noFill/>
        </p:spPr>
        <p:txBody>
          <a:bodyPr wrap="square">
            <a:spAutoFit/>
          </a:bodyPr>
          <a:lstStyle/>
          <a:p>
            <a:pPr algn="ctr">
              <a:lnSpc>
                <a:spcPct val="150000"/>
              </a:lnSpc>
            </a:pPr>
            <a:r>
              <a:rPr lang="en-AU" sz="4200" dirty="0"/>
              <a:t>This shows one array of </a:t>
            </a:r>
            <a:r>
              <a:rPr lang="en-AU" sz="4200" b="1" dirty="0"/>
              <a:t>6 fours</a:t>
            </a:r>
            <a:r>
              <a:rPr lang="en-AU" sz="4200" dirty="0"/>
              <a:t>. What </a:t>
            </a:r>
            <a:r>
              <a:rPr lang="en-AU" sz="4200" b="1" dirty="0"/>
              <a:t>other arrays </a:t>
            </a:r>
            <a:r>
              <a:rPr lang="en-AU" sz="4200" dirty="0"/>
              <a:t>can be made for </a:t>
            </a:r>
            <a:r>
              <a:rPr lang="en-AU" sz="4200" b="1" dirty="0"/>
              <a:t>24</a:t>
            </a:r>
            <a:r>
              <a:rPr lang="en-AU" sz="4200" dirty="0"/>
              <a:t>?</a:t>
            </a:r>
          </a:p>
          <a:p>
            <a:pPr algn="ctr">
              <a:lnSpc>
                <a:spcPct val="150000"/>
              </a:lnSpc>
            </a:pPr>
            <a:endParaRPr lang="en-AU" sz="1600" dirty="0"/>
          </a:p>
          <a:p>
            <a:pPr algn="ctr">
              <a:lnSpc>
                <a:spcPct val="150000"/>
              </a:lnSpc>
            </a:pPr>
            <a:r>
              <a:rPr lang="en-AU" sz="4200" dirty="0"/>
              <a:t>Have you recorded </a:t>
            </a:r>
            <a:r>
              <a:rPr lang="en-AU" sz="4200" b="1" dirty="0"/>
              <a:t>all possible</a:t>
            </a:r>
            <a:r>
              <a:rPr lang="en-AU" sz="4200" dirty="0"/>
              <a:t> arrays?</a:t>
            </a:r>
          </a:p>
          <a:p>
            <a:pPr algn="ctr">
              <a:lnSpc>
                <a:spcPct val="150000"/>
              </a:lnSpc>
            </a:pPr>
            <a:r>
              <a:rPr lang="en-AU" sz="4200" dirty="0"/>
              <a:t>How do you know?</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additional complementary fractions</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07" name="Picture 506" descr="6 towers of interlocking cubes. Each tower is 6 cubes long and represent fractions.&#10;&#10;Tower A: 6 orange cubes&#10;Tower B: 5 blue cubes, 1 pink cube&#10;Tower C: 3 brown cubes, 3 yellow cubes&#10;Tower D: 1 yellow, 1 brown, 1 yellow, 1 brown, 1 yellow, 1 brown&#10;Tower E: 1 blue cube, 4 pink cubes, 1 blue cube&#10;Tower F: 2 brown cubes, 2 pink cubes, 2 green cubes.">
            <a:extLst>
              <a:ext uri="{FF2B5EF4-FFF2-40B4-BE49-F238E27FC236}">
                <a16:creationId xmlns:a16="http://schemas.microsoft.com/office/drawing/2014/main" id="{8C268780-3BD1-2721-D606-402DEFFF25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9023" y="1158239"/>
            <a:ext cx="4953953" cy="5661661"/>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a:xfrm>
            <a:off x="11133525" y="6318000"/>
            <a:ext cx="720000" cy="180000"/>
          </a:xfrm>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14">
            <a:extLst>
              <a:ext uri="{FF2B5EF4-FFF2-40B4-BE49-F238E27FC236}">
                <a16:creationId xmlns:a16="http://schemas.microsoft.com/office/drawing/2014/main" id="{01A37C20-A442-34E6-3674-CBBA48A267AB}"/>
              </a:ext>
            </a:extLst>
          </p:cNvPr>
          <p:cNvSpPr txBox="1">
            <a:spLocks/>
          </p:cNvSpPr>
          <p:nvPr/>
        </p:nvSpPr>
        <p:spPr>
          <a:xfrm>
            <a:off x="535069" y="1112118"/>
            <a:ext cx="11121862"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35 243 in </a:t>
            </a:r>
            <a:r>
              <a:rPr lang="en-AU" sz="4400" b="1" dirty="0"/>
              <a:t>expanded notation </a:t>
            </a:r>
            <a:r>
              <a:rPr lang="en-AU" sz="4400" dirty="0"/>
              <a:t>is</a:t>
            </a:r>
            <a:endParaRPr lang="en-US" sz="4400" dirty="0"/>
          </a:p>
        </p:txBody>
      </p:sp>
      <p:sp>
        <p:nvSpPr>
          <p:cNvPr id="9" name="TextBox 8">
            <a:extLst>
              <a:ext uri="{FF2B5EF4-FFF2-40B4-BE49-F238E27FC236}">
                <a16:creationId xmlns:a16="http://schemas.microsoft.com/office/drawing/2014/main" id="{9DAA2006-ADB4-D15B-B158-97DC39D26683}"/>
              </a:ext>
            </a:extLst>
          </p:cNvPr>
          <p:cNvSpPr txBox="1"/>
          <p:nvPr/>
        </p:nvSpPr>
        <p:spPr>
          <a:xfrm>
            <a:off x="680085" y="2631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55045" y="2679704"/>
            <a:ext cx="10175920" cy="641396"/>
          </a:xfrm>
        </p:spPr>
        <p:txBody>
          <a:bodyPr anchor="ctr"/>
          <a:lstStyle/>
          <a:p>
            <a:r>
              <a:rPr lang="en-US" sz="3600" dirty="0"/>
              <a:t>3 000 + 50 000 + 200 + 40 + 3</a:t>
            </a:r>
          </a:p>
        </p:txBody>
      </p:sp>
      <p:sp>
        <p:nvSpPr>
          <p:cNvPr id="10" name="TextBox 9">
            <a:extLst>
              <a:ext uri="{FF2B5EF4-FFF2-40B4-BE49-F238E27FC236}">
                <a16:creationId xmlns:a16="http://schemas.microsoft.com/office/drawing/2014/main" id="{BF8FF86A-8259-4B6A-DD05-B5338957EDC3}"/>
              </a:ext>
            </a:extLst>
          </p:cNvPr>
          <p:cNvSpPr txBox="1"/>
          <p:nvPr/>
        </p:nvSpPr>
        <p:spPr>
          <a:xfrm>
            <a:off x="680084" y="3478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55045" y="3527617"/>
            <a:ext cx="10175920" cy="641396"/>
          </a:xfrm>
        </p:spPr>
        <p:txBody>
          <a:bodyPr anchor="ctr"/>
          <a:lstStyle/>
          <a:p>
            <a:r>
              <a:rPr lang="en-US" sz="3600" dirty="0"/>
              <a:t>35 000 + 200 + 400 + 3</a:t>
            </a:r>
          </a:p>
        </p:txBody>
      </p:sp>
      <p:sp>
        <p:nvSpPr>
          <p:cNvPr id="12" name="TextBox 11">
            <a:extLst>
              <a:ext uri="{FF2B5EF4-FFF2-40B4-BE49-F238E27FC236}">
                <a16:creationId xmlns:a16="http://schemas.microsoft.com/office/drawing/2014/main" id="{BF4B35E9-90ED-91CF-6E7D-3023EE60AD9E}"/>
              </a:ext>
            </a:extLst>
          </p:cNvPr>
          <p:cNvSpPr txBox="1"/>
          <p:nvPr/>
        </p:nvSpPr>
        <p:spPr>
          <a:xfrm>
            <a:off x="680083" y="4329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55045" y="4344563"/>
            <a:ext cx="10175920" cy="641396"/>
          </a:xfrm>
        </p:spPr>
        <p:txBody>
          <a:bodyPr anchor="ctr"/>
          <a:lstStyle/>
          <a:p>
            <a:r>
              <a:rPr lang="en-US" sz="3600" dirty="0"/>
              <a:t>30 000 + 5000 + 200 + 40 + 3</a:t>
            </a:r>
          </a:p>
        </p:txBody>
      </p:sp>
      <p:sp>
        <p:nvSpPr>
          <p:cNvPr id="11" name="TextBox 10">
            <a:extLst>
              <a:ext uri="{FF2B5EF4-FFF2-40B4-BE49-F238E27FC236}">
                <a16:creationId xmlns:a16="http://schemas.microsoft.com/office/drawing/2014/main" id="{CD2988DB-B474-6203-5DD2-06443FE29ECF}"/>
              </a:ext>
            </a:extLst>
          </p:cNvPr>
          <p:cNvSpPr txBox="1"/>
          <p:nvPr/>
        </p:nvSpPr>
        <p:spPr>
          <a:xfrm>
            <a:off x="680082" y="5179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55045" y="5227723"/>
            <a:ext cx="10175920" cy="641396"/>
          </a:xfrm>
        </p:spPr>
        <p:txBody>
          <a:bodyPr anchor="ctr"/>
          <a:lstStyle/>
          <a:p>
            <a:r>
              <a:rPr lang="en-AU" sz="3600" dirty="0"/>
              <a:t>30 000 + 500 + 2 000 + 40 + 3</a:t>
            </a:r>
            <a:endParaRPr lang="en-US" sz="3600" dirty="0"/>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BAC11ED9-202D-5919-6278-E0416A47604B}"/>
              </a:ext>
            </a:extLst>
          </p:cNvPr>
          <p:cNvSpPr txBox="1"/>
          <p:nvPr/>
        </p:nvSpPr>
        <p:spPr>
          <a:xfrm>
            <a:off x="628650" y="1114828"/>
            <a:ext cx="10934700" cy="1998176"/>
          </a:xfrm>
          <a:prstGeom prst="rect">
            <a:avLst/>
          </a:prstGeom>
          <a:noFill/>
        </p:spPr>
        <p:txBody>
          <a:bodyPr wrap="square">
            <a:spAutoFit/>
          </a:bodyPr>
          <a:lstStyle/>
          <a:p>
            <a:pPr algn="ctr">
              <a:lnSpc>
                <a:spcPct val="150000"/>
              </a:lnSpc>
            </a:pPr>
            <a:r>
              <a:rPr lang="en-AU" sz="4400" dirty="0"/>
              <a:t>Why is a quarter of this length of string more than a quarter of this length of ribbon. </a:t>
            </a:r>
          </a:p>
        </p:txBody>
      </p:sp>
      <p:pic>
        <p:nvPicPr>
          <p:cNvPr id="18" name="Picture 17" descr="a length of red string that is longer than the blue ribbon">
            <a:extLst>
              <a:ext uri="{FF2B5EF4-FFF2-40B4-BE49-F238E27FC236}">
                <a16:creationId xmlns:a16="http://schemas.microsoft.com/office/drawing/2014/main" id="{C8ACC57B-7162-4DB9-1C9B-8A924483C31A}"/>
              </a:ext>
            </a:extLst>
          </p:cNvPr>
          <p:cNvPicPr>
            <a:picLocks noChangeAspect="1"/>
          </p:cNvPicPr>
          <p:nvPr/>
        </p:nvPicPr>
        <p:blipFill>
          <a:blip r:embed="rId4"/>
          <a:stretch>
            <a:fillRect/>
          </a:stretch>
        </p:blipFill>
        <p:spPr>
          <a:xfrm>
            <a:off x="977637" y="3542120"/>
            <a:ext cx="10236726" cy="615982"/>
          </a:xfrm>
          <a:prstGeom prst="rect">
            <a:avLst/>
          </a:prstGeom>
        </p:spPr>
      </p:pic>
      <p:pic>
        <p:nvPicPr>
          <p:cNvPr id="16" name="Picture 15" descr="a length of blue ribbon that is shorter tan the red string">
            <a:extLst>
              <a:ext uri="{FF2B5EF4-FFF2-40B4-BE49-F238E27FC236}">
                <a16:creationId xmlns:a16="http://schemas.microsoft.com/office/drawing/2014/main" id="{93C4D326-7477-0970-EF43-06D32CBB4C22}"/>
              </a:ext>
            </a:extLst>
          </p:cNvPr>
          <p:cNvPicPr>
            <a:picLocks noChangeAspect="1"/>
          </p:cNvPicPr>
          <p:nvPr/>
        </p:nvPicPr>
        <p:blipFill>
          <a:blip r:embed="rId5"/>
          <a:stretch>
            <a:fillRect/>
          </a:stretch>
        </p:blipFill>
        <p:spPr>
          <a:xfrm>
            <a:off x="3368535" y="4489951"/>
            <a:ext cx="5454930" cy="1130358"/>
          </a:xfrm>
          <a:prstGeom prst="rect">
            <a:avLst/>
          </a:prstGeom>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5E530BC-0E30-2E13-ECF6-9711299F7532}"/>
              </a:ext>
            </a:extLst>
          </p:cNvPr>
          <p:cNvSpPr txBox="1"/>
          <p:nvPr/>
        </p:nvSpPr>
        <p:spPr>
          <a:xfrm>
            <a:off x="1939212" y="2236139"/>
            <a:ext cx="8313575" cy="769441"/>
          </a:xfrm>
          <a:prstGeom prst="rect">
            <a:avLst/>
          </a:prstGeom>
          <a:noFill/>
        </p:spPr>
        <p:txBody>
          <a:bodyPr wrap="square">
            <a:spAutoFit/>
          </a:bodyPr>
          <a:lstStyle/>
          <a:p>
            <a:pPr algn="ctr"/>
            <a:r>
              <a:rPr lang="en-AU" sz="4400" dirty="0"/>
              <a:t>What does </a:t>
            </a:r>
            <a:r>
              <a:rPr lang="en-AU" sz="4400" b="1" i="1" dirty="0"/>
              <a:t>perimeter</a:t>
            </a:r>
            <a:r>
              <a:rPr lang="en-AU" sz="4400" dirty="0"/>
              <a:t> mean?</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62F7AB0-1A47-8706-CCDA-A9DE59813F07}"/>
              </a:ext>
            </a:extLst>
          </p:cNvPr>
          <p:cNvSpPr txBox="1"/>
          <p:nvPr/>
        </p:nvSpPr>
        <p:spPr>
          <a:xfrm>
            <a:off x="1352550" y="1524192"/>
            <a:ext cx="9771450" cy="3458896"/>
          </a:xfrm>
          <a:prstGeom prst="rect">
            <a:avLst/>
          </a:prstGeom>
          <a:noFill/>
        </p:spPr>
        <p:txBody>
          <a:bodyPr wrap="square">
            <a:spAutoFit/>
          </a:bodyPr>
          <a:lstStyle/>
          <a:p>
            <a:pPr algn="ctr">
              <a:lnSpc>
                <a:spcPct val="150000"/>
              </a:lnSpc>
            </a:pPr>
            <a:r>
              <a:rPr lang="en-AU" sz="4400" dirty="0"/>
              <a:t>Use </a:t>
            </a:r>
            <a:r>
              <a:rPr lang="en-AU" sz="4400" b="1" dirty="0"/>
              <a:t>partitioning</a:t>
            </a:r>
            <a:r>
              <a:rPr lang="en-AU" sz="4400" dirty="0"/>
              <a:t> and </a:t>
            </a:r>
            <a:r>
              <a:rPr lang="en-AU" sz="4400" b="1" dirty="0"/>
              <a:t>regrouping</a:t>
            </a:r>
            <a:r>
              <a:rPr lang="en-AU" sz="4400" dirty="0"/>
              <a:t> strategies to solve:</a:t>
            </a:r>
          </a:p>
          <a:p>
            <a:pPr algn="ctr">
              <a:lnSpc>
                <a:spcPct val="150000"/>
              </a:lnSpc>
            </a:pPr>
            <a:r>
              <a:rPr lang="en-AU" sz="6600" dirty="0"/>
              <a:t>583 + 67</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9FCC193-2FCA-1B92-39D5-B2D70B338039}"/>
              </a:ext>
            </a:extLst>
          </p:cNvPr>
          <p:cNvSpPr txBox="1"/>
          <p:nvPr/>
        </p:nvSpPr>
        <p:spPr>
          <a:xfrm>
            <a:off x="246024" y="852194"/>
            <a:ext cx="11260176" cy="3660169"/>
          </a:xfrm>
          <a:prstGeom prst="rect">
            <a:avLst/>
          </a:prstGeom>
          <a:noFill/>
        </p:spPr>
        <p:txBody>
          <a:bodyPr wrap="square">
            <a:spAutoFit/>
          </a:bodyPr>
          <a:lstStyle/>
          <a:p>
            <a:pPr algn="ctr">
              <a:lnSpc>
                <a:spcPct val="150000"/>
              </a:lnSpc>
            </a:pPr>
            <a:r>
              <a:rPr lang="en-AU" sz="3600" dirty="0"/>
              <a:t>Mrs Matthews made this </a:t>
            </a:r>
            <a:r>
              <a:rPr lang="en-AU" sz="3600" b="1" dirty="0"/>
              <a:t>tally table </a:t>
            </a:r>
            <a:r>
              <a:rPr lang="en-AU" sz="3600" dirty="0"/>
              <a:t>of the languages spoken by the students in her class</a:t>
            </a:r>
            <a:r>
              <a:rPr lang="en-AU" sz="4000" dirty="0"/>
              <a:t>. </a:t>
            </a:r>
          </a:p>
          <a:p>
            <a:pPr algn="ctr">
              <a:lnSpc>
                <a:spcPct val="150000"/>
              </a:lnSpc>
            </a:pPr>
            <a:endParaRPr lang="en-AU" sz="3600" dirty="0"/>
          </a:p>
          <a:p>
            <a:pPr algn="ctr">
              <a:lnSpc>
                <a:spcPct val="150000"/>
              </a:lnSpc>
            </a:pPr>
            <a:endParaRPr lang="en-AU" sz="4400" dirty="0"/>
          </a:p>
        </p:txBody>
      </p:sp>
      <p:pic>
        <p:nvPicPr>
          <p:cNvPr id="17" name="Picture 16" descr="A tally chart with two columns titled language and tally.&#10;&#10;Arabic has eight tallies.&#10;&#10;Cantonese has three tallies.&#10;&#10;Gamilaraay has seven tallies.&#10;&#10;Vietnamese has two tallies.&#10;&#10;Wiradjuri has sixteen tallies.">
            <a:extLst>
              <a:ext uri="{FF2B5EF4-FFF2-40B4-BE49-F238E27FC236}">
                <a16:creationId xmlns:a16="http://schemas.microsoft.com/office/drawing/2014/main" id="{AA1B3F35-78CA-6945-4AB5-D48A0505945A}"/>
              </a:ext>
            </a:extLst>
          </p:cNvPr>
          <p:cNvPicPr>
            <a:picLocks noChangeAspect="1"/>
          </p:cNvPicPr>
          <p:nvPr/>
        </p:nvPicPr>
        <p:blipFill>
          <a:blip r:embed="rId4"/>
          <a:stretch>
            <a:fillRect/>
          </a:stretch>
        </p:blipFill>
        <p:spPr>
          <a:xfrm>
            <a:off x="360001" y="2764220"/>
            <a:ext cx="6255882" cy="3779700"/>
          </a:xfrm>
          <a:prstGeom prst="rect">
            <a:avLst/>
          </a:prstGeom>
        </p:spPr>
      </p:pic>
      <p:sp>
        <p:nvSpPr>
          <p:cNvPr id="9" name="TextBox 8">
            <a:extLst>
              <a:ext uri="{FF2B5EF4-FFF2-40B4-BE49-F238E27FC236}">
                <a16:creationId xmlns:a16="http://schemas.microsoft.com/office/drawing/2014/main" id="{F558E10E-F90F-8F4F-3ECF-22901F0B160F}"/>
              </a:ext>
            </a:extLst>
          </p:cNvPr>
          <p:cNvSpPr txBox="1"/>
          <p:nvPr/>
        </p:nvSpPr>
        <p:spPr>
          <a:xfrm>
            <a:off x="6615882" y="2855531"/>
            <a:ext cx="5523846" cy="3313664"/>
          </a:xfrm>
          <a:prstGeom prst="rect">
            <a:avLst/>
          </a:prstGeom>
          <a:noFill/>
        </p:spPr>
        <p:txBody>
          <a:bodyPr wrap="square">
            <a:spAutoFit/>
          </a:bodyPr>
          <a:lstStyle/>
          <a:p>
            <a:pPr algn="ctr">
              <a:lnSpc>
                <a:spcPct val="150000"/>
              </a:lnSpc>
            </a:pPr>
            <a:r>
              <a:rPr lang="en-AU" sz="3600" dirty="0"/>
              <a:t>Complete these sentences about the data:</a:t>
            </a:r>
          </a:p>
          <a:p>
            <a:pPr algn="ctr">
              <a:lnSpc>
                <a:spcPct val="150000"/>
              </a:lnSpc>
            </a:pPr>
            <a:r>
              <a:rPr lang="en-AU" sz="3600" b="1" dirty="0"/>
              <a:t>More</a:t>
            </a:r>
            <a:r>
              <a:rPr lang="en-AU" sz="3600" dirty="0"/>
              <a:t> students speak …</a:t>
            </a:r>
          </a:p>
          <a:p>
            <a:pPr algn="ctr">
              <a:lnSpc>
                <a:spcPct val="150000"/>
              </a:lnSpc>
            </a:pPr>
            <a:r>
              <a:rPr lang="en-AU" sz="3600" b="1" dirty="0"/>
              <a:t>Fewer</a:t>
            </a:r>
            <a:r>
              <a:rPr lang="en-AU" sz="3600" dirty="0"/>
              <a:t> students speak …</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place value grouping</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Slide Number Placeholder 1">
            <a:extLst>
              <a:ext uri="{FF2B5EF4-FFF2-40B4-BE49-F238E27FC236}">
                <a16:creationId xmlns:a16="http://schemas.microsoft.com/office/drawing/2014/main" id="{24959B11-5EEA-455C-FF21-9D9921B2340C}"/>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38</a:t>
            </a:fld>
            <a:endParaRPr lang="en-AU" dirty="0"/>
          </a:p>
        </p:txBody>
      </p:sp>
      <p:sp>
        <p:nvSpPr>
          <p:cNvPr id="8" name="Rectangle 7">
            <a:extLst>
              <a:ext uri="{FF2B5EF4-FFF2-40B4-BE49-F238E27FC236}">
                <a16:creationId xmlns:a16="http://schemas.microsoft.com/office/drawing/2014/main" id="{80E59083-5139-A82E-DFFB-B62697038114}"/>
              </a:ext>
            </a:extLst>
          </p:cNvPr>
          <p:cNvSpPr>
            <a:spLocks noChangeArrowheads="1"/>
          </p:cNvSpPr>
          <p:nvPr/>
        </p:nvSpPr>
        <p:spPr bwMode="auto">
          <a:xfrm>
            <a:off x="558341" y="1214246"/>
            <a:ext cx="6143673" cy="5422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defTabSz="914400" eaLnBrk="0" fontAlgn="base" hangingPunct="0">
              <a:lnSpc>
                <a:spcPct val="150000"/>
              </a:lnSpc>
              <a:spcBef>
                <a:spcPct val="0"/>
              </a:spcBef>
              <a:spcAft>
                <a:spcPct val="0"/>
              </a:spcAft>
            </a:pPr>
            <a:r>
              <a:rPr lang="en-AU" altLang="en-US" sz="1800" b="1" dirty="0">
                <a:latin typeface="Arial"/>
                <a:ea typeface="Calibri"/>
                <a:cs typeface="Arial"/>
              </a:rPr>
              <a:t>Aim of the game</a:t>
            </a:r>
            <a:endParaRPr lang="en-AU" altLang="en-US" sz="1800" b="1" i="0" u="none" strike="noStrike" cap="none" normalizeH="0" baseline="0" dirty="0">
              <a:ln>
                <a:noFill/>
              </a:ln>
              <a:effectLst/>
              <a:latin typeface="Arial"/>
              <a:ea typeface="Calibri"/>
              <a:cs typeface="Arial"/>
            </a:endParaRPr>
          </a:p>
          <a:p>
            <a:pPr defTabSz="914400">
              <a:lnSpc>
                <a:spcPct val="150000"/>
              </a:lnSpc>
              <a:spcBef>
                <a:spcPct val="0"/>
              </a:spcBef>
              <a:spcAft>
                <a:spcPct val="0"/>
              </a:spcAft>
            </a:pPr>
            <a:r>
              <a:rPr lang="en-AU" altLang="en-US" sz="1800" dirty="0">
                <a:latin typeface="Arial"/>
                <a:cs typeface="Arial"/>
              </a:rPr>
              <a:t>To make the closest possible number to 500 000, without going over.</a:t>
            </a:r>
            <a:endParaRPr lang="en-AU" altLang="en-US" sz="1800" b="0" i="0" u="none" strike="noStrike" cap="none" normalizeH="0" baseline="0" dirty="0">
              <a:ln>
                <a:noFill/>
              </a:ln>
              <a:effectLst/>
              <a:latin typeface="Arial" panose="020B0604020202020204" pitchFamily="34" charset="0"/>
              <a:cs typeface="Arial" panose="020B0604020202020204" pitchFamily="34" charset="0"/>
            </a:endParaRPr>
          </a:p>
          <a:p>
            <a:pPr defTabSz="914400">
              <a:lnSpc>
                <a:spcPct val="150000"/>
              </a:lnSpc>
              <a:spcBef>
                <a:spcPct val="0"/>
              </a:spcBef>
              <a:spcAft>
                <a:spcPct val="0"/>
              </a:spcAft>
            </a:pPr>
            <a:endParaRPr lang="en-AU" altLang="en-US" sz="1800" dirty="0">
              <a:latin typeface="Arial"/>
              <a:ea typeface="Calibri"/>
              <a:cs typeface="Arial"/>
            </a:endParaRPr>
          </a:p>
          <a:p>
            <a:pPr defTabSz="914400">
              <a:lnSpc>
                <a:spcPct val="150000"/>
              </a:lnSpc>
              <a:spcBef>
                <a:spcPct val="0"/>
              </a:spcBef>
              <a:spcAft>
                <a:spcPct val="0"/>
              </a:spcAft>
            </a:pPr>
            <a:r>
              <a:rPr lang="en-AU" altLang="en-US" sz="1800" b="1" dirty="0">
                <a:latin typeface="Arial"/>
                <a:ea typeface="Calibri"/>
                <a:cs typeface="Arial"/>
              </a:rPr>
              <a:t>Rules:</a:t>
            </a:r>
            <a:endParaRPr lang="en-AU" altLang="en-US" sz="1800" b="1" dirty="0">
              <a:latin typeface="Arial" panose="020B0604020202020204" pitchFamily="34" charset="0"/>
              <a:ea typeface="Calibri"/>
              <a:cs typeface="Arial" panose="020B0604020202020204" pitchFamily="34" charset="0"/>
            </a:endParaRP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each player rolls a 9-sided dice 6 times</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after each roll, choose where to place the digit</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once a digit is placed, it cannot be moved</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after 6 throws, read your number to a partner and record the number using expanded notation</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as a class, determine who has made the number closest to 500 000.</a:t>
            </a:r>
          </a:p>
          <a:p>
            <a:pPr marL="285750" indent="-285750" defTabSz="914400">
              <a:lnSpc>
                <a:spcPct val="150000"/>
              </a:lnSpc>
              <a:spcBef>
                <a:spcPct val="0"/>
              </a:spcBef>
              <a:spcAft>
                <a:spcPct val="0"/>
              </a:spcAft>
              <a:buFont typeface="Arial"/>
              <a:buChar char="•"/>
            </a:pPr>
            <a:endParaRPr lang="en-AU" altLang="en-US" sz="1700" dirty="0">
              <a:latin typeface="Arial" panose="020B0604020202020204" pitchFamily="34" charset="0"/>
              <a:ea typeface="Calibri"/>
              <a:cs typeface="Arial" panose="020B0604020202020204" pitchFamily="34" charset="0"/>
            </a:endParaRPr>
          </a:p>
        </p:txBody>
      </p:sp>
      <p:pic>
        <p:nvPicPr>
          <p:cNvPr id="11" name="Picture 10" descr="Place value house showing billions, millions and thousands.">
            <a:extLst>
              <a:ext uri="{FF2B5EF4-FFF2-40B4-BE49-F238E27FC236}">
                <a16:creationId xmlns:a16="http://schemas.microsoft.com/office/drawing/2014/main" id="{132AEA16-AA36-22C9-695F-215679B8AD44}"/>
              </a:ext>
            </a:extLst>
          </p:cNvPr>
          <p:cNvPicPr>
            <a:picLocks noChangeAspect="1"/>
          </p:cNvPicPr>
          <p:nvPr/>
        </p:nvPicPr>
        <p:blipFill>
          <a:blip r:embed="rId4" cstate="print">
            <a:extLst>
              <a:ext uri="{28A0092B-C50C-407E-A947-70E740481C1C}">
                <a14:useLocalDpi xmlns:a14="http://schemas.microsoft.com/office/drawing/2010/main" val="0"/>
              </a:ext>
            </a:extLst>
          </a:blip>
          <a:srcRect t="7673" b="10791"/>
          <a:stretch>
            <a:fillRect/>
          </a:stretch>
        </p:blipFill>
        <p:spPr>
          <a:xfrm>
            <a:off x="6096000" y="2476319"/>
            <a:ext cx="5938541" cy="3276781"/>
          </a:xfrm>
          <a:prstGeom prst="rect">
            <a:avLst/>
          </a:prstGeom>
          <a:ln>
            <a:noFill/>
          </a:ln>
          <a:effectLst>
            <a:outerShdw blurRad="292100" dist="139700" dir="2700000" algn="tl" rotWithShape="0">
              <a:srgbClr val="333333">
                <a:alpha val="65000"/>
              </a:srgbClr>
            </a:outerShdw>
          </a:effectLst>
        </p:spPr>
      </p:pic>
      <p:pic>
        <p:nvPicPr>
          <p:cNvPr id="12" name="Picture 11" descr="Place value houses with columns for hundred thousand, ten thousand, one thousand, hundred, tens and ones.">
            <a:extLst>
              <a:ext uri="{FF2B5EF4-FFF2-40B4-BE49-F238E27FC236}">
                <a16:creationId xmlns:a16="http://schemas.microsoft.com/office/drawing/2014/main" id="{0D6DBF75-5047-6B5C-9378-7A0C4B821085}"/>
              </a:ext>
            </a:extLst>
          </p:cNvPr>
          <p:cNvPicPr>
            <a:picLocks noChangeAspect="1"/>
          </p:cNvPicPr>
          <p:nvPr/>
        </p:nvPicPr>
        <p:blipFill>
          <a:blip r:embed="rId5"/>
          <a:srcRect l="49701"/>
          <a:stretch/>
        </p:blipFill>
        <p:spPr>
          <a:xfrm>
            <a:off x="6940575" y="3104800"/>
            <a:ext cx="3786693" cy="3501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Box 6">
            <a:extLst>
              <a:ext uri="{FF2B5EF4-FFF2-40B4-BE49-F238E27FC236}">
                <a16:creationId xmlns:a16="http://schemas.microsoft.com/office/drawing/2014/main" id="{F1A0316E-60DD-26E4-184A-DE0502CFF1F3}"/>
              </a:ext>
            </a:extLst>
          </p:cNvPr>
          <p:cNvSpPr txBox="1"/>
          <p:nvPr/>
        </p:nvSpPr>
        <p:spPr>
          <a:xfrm>
            <a:off x="1257119" y="1222298"/>
            <a:ext cx="9448800" cy="3013838"/>
          </a:xfrm>
          <a:prstGeom prst="rect">
            <a:avLst/>
          </a:prstGeom>
          <a:noFill/>
        </p:spPr>
        <p:txBody>
          <a:bodyPr wrap="square">
            <a:spAutoFit/>
          </a:bodyPr>
          <a:lstStyle/>
          <a:p>
            <a:pPr algn="ctr">
              <a:lnSpc>
                <a:spcPct val="150000"/>
              </a:lnSpc>
            </a:pPr>
            <a:r>
              <a:rPr lang="en-AU" sz="4400" dirty="0"/>
              <a:t>The number 507 218 can be read as fifty-seven thousand, two hundred and eighteen.</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468084BB-28A5-6022-EC7D-70A5E8E58A72}"/>
              </a:ext>
            </a:extLst>
          </p:cNvPr>
          <p:cNvSpPr txBox="1"/>
          <p:nvPr/>
        </p:nvSpPr>
        <p:spPr>
          <a:xfrm>
            <a:off x="573207" y="1120339"/>
            <a:ext cx="11270794" cy="4721998"/>
          </a:xfrm>
          <a:prstGeom prst="rect">
            <a:avLst/>
          </a:prstGeom>
          <a:noFill/>
        </p:spPr>
        <p:txBody>
          <a:bodyPr wrap="square">
            <a:spAutoFit/>
          </a:bodyPr>
          <a:lstStyle/>
          <a:p>
            <a:pPr lvl="0">
              <a:lnSpc>
                <a:spcPct val="150000"/>
              </a:lnSpc>
              <a:spcBef>
                <a:spcPts val="1200"/>
              </a:spcBef>
              <a:spcAft>
                <a:spcPts val="600"/>
              </a:spcAft>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Record the answers</a:t>
            </a:r>
            <a:r>
              <a:rPr lang="en-AU" sz="4400" dirty="0">
                <a:latin typeface="Arial" panose="020B0604020202020204" pitchFamily="34" charset="0"/>
                <a:ea typeface="Calibri" panose="020F0502020204030204" pitchFamily="34" charset="0"/>
                <a:cs typeface="Times New Roman" panose="02020603050405020304" pitchFamily="18" charset="0"/>
              </a:rPr>
              <a:t>:</a:t>
            </a:r>
          </a:p>
          <a:p>
            <a:pPr marL="571500" lvl="0" indent="-57150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fifths</a:t>
            </a:r>
            <a:r>
              <a:rPr lang="en-AU" sz="4400" dirty="0">
                <a:effectLst/>
                <a:latin typeface="Arial" panose="020B0604020202020204" pitchFamily="34" charset="0"/>
                <a:ea typeface="Calibri" panose="020F0502020204030204" pitchFamily="34" charset="0"/>
                <a:cs typeface="Times New Roman" panose="02020603050405020304" pitchFamily="18" charset="0"/>
              </a:rPr>
              <a:t> are equal to </a:t>
            </a:r>
            <a:r>
              <a:rPr lang="en-AU" sz="4400" b="1" dirty="0">
                <a:effectLst/>
                <a:latin typeface="Arial" panose="020B0604020202020204" pitchFamily="34" charset="0"/>
                <a:ea typeface="Calibri" panose="020F0502020204030204" pitchFamily="34" charset="0"/>
                <a:cs typeface="Times New Roman" panose="02020603050405020304" pitchFamily="18" charset="0"/>
              </a:rPr>
              <a:t>one whole</a:t>
            </a:r>
            <a:r>
              <a:rPr lang="en-AU" sz="4400" dirty="0">
                <a:effectLst/>
                <a:latin typeface="Arial" panose="020B0604020202020204" pitchFamily="34" charset="0"/>
                <a:ea typeface="Calibri" panose="020F0502020204030204" pitchFamily="34" charset="0"/>
                <a:cs typeface="Times New Roman" panose="02020603050405020304" pitchFamily="18" charset="0"/>
              </a:rPr>
              <a:t>?</a:t>
            </a:r>
          </a:p>
          <a:p>
            <a:pPr marL="571500" lvl="0" indent="-57150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thirds</a:t>
            </a:r>
            <a:r>
              <a:rPr lang="en-AU" sz="4400" dirty="0">
                <a:effectLst/>
                <a:latin typeface="Arial" panose="020B0604020202020204" pitchFamily="34" charset="0"/>
                <a:ea typeface="Calibri" panose="020F0502020204030204" pitchFamily="34" charset="0"/>
                <a:cs typeface="Times New Roman" panose="02020603050405020304" pitchFamily="18" charset="0"/>
              </a:rPr>
              <a:t> make </a:t>
            </a:r>
            <a:r>
              <a:rPr lang="en-AU" sz="4400" b="1" dirty="0">
                <a:effectLst/>
                <a:latin typeface="Arial" panose="020B0604020202020204" pitchFamily="34" charset="0"/>
                <a:ea typeface="Calibri" panose="020F0502020204030204" pitchFamily="34" charset="0"/>
                <a:cs typeface="Times New Roman" panose="02020603050405020304" pitchFamily="18" charset="0"/>
              </a:rPr>
              <a:t>one whole</a:t>
            </a:r>
            <a:r>
              <a:rPr lang="en-AU" sz="4400" dirty="0">
                <a:effectLst/>
                <a:latin typeface="Arial" panose="020B0604020202020204" pitchFamily="34" charset="0"/>
                <a:ea typeface="Calibri" panose="020F0502020204030204" pitchFamily="34" charset="0"/>
                <a:cs typeface="Times New Roman" panose="02020603050405020304" pitchFamily="18" charset="0"/>
              </a:rPr>
              <a:t>?</a:t>
            </a:r>
          </a:p>
          <a:p>
            <a:pPr marL="571500" lvl="0" indent="-57150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wholes</a:t>
            </a:r>
            <a:r>
              <a:rPr lang="en-AU" sz="4400" dirty="0">
                <a:effectLst/>
                <a:latin typeface="Arial" panose="020B0604020202020204" pitchFamily="34" charset="0"/>
                <a:ea typeface="Calibri" panose="020F0502020204030204" pitchFamily="34" charset="0"/>
                <a:cs typeface="Times New Roman" panose="02020603050405020304" pitchFamily="18" charset="0"/>
              </a:rPr>
              <a:t> do </a:t>
            </a:r>
            <a:r>
              <a:rPr lang="en-AU" sz="4400" b="1" dirty="0">
                <a:effectLst/>
                <a:latin typeface="Arial" panose="020B0604020202020204" pitchFamily="34" charset="0"/>
                <a:ea typeface="Calibri" panose="020F0502020204030204" pitchFamily="34" charset="0"/>
                <a:cs typeface="Times New Roman" panose="02020603050405020304" pitchFamily="18" charset="0"/>
              </a:rPr>
              <a:t>6-sixths </a:t>
            </a:r>
            <a:r>
              <a:rPr lang="en-AU" sz="4400" dirty="0">
                <a:effectLst/>
                <a:latin typeface="Arial" panose="020B0604020202020204" pitchFamily="34" charset="0"/>
                <a:ea typeface="Calibri" panose="020F0502020204030204" pitchFamily="34" charset="0"/>
                <a:cs typeface="Times New Roman" panose="02020603050405020304" pitchFamily="18" charset="0"/>
              </a:rPr>
              <a:t>make?</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FEEF4ED8-BB1A-D189-43CB-1918AEEDC2F4}"/>
              </a:ext>
            </a:extLst>
          </p:cNvPr>
          <p:cNvSpPr txBox="1"/>
          <p:nvPr/>
        </p:nvSpPr>
        <p:spPr>
          <a:xfrm>
            <a:off x="780473" y="1091293"/>
            <a:ext cx="10631054" cy="1998176"/>
          </a:xfrm>
          <a:prstGeom prst="rect">
            <a:avLst/>
          </a:prstGeom>
          <a:noFill/>
        </p:spPr>
        <p:txBody>
          <a:bodyPr wrap="square">
            <a:spAutoFit/>
          </a:bodyPr>
          <a:lstStyle/>
          <a:p>
            <a:pPr algn="ctr">
              <a:lnSpc>
                <a:spcPct val="150000"/>
              </a:lnSpc>
            </a:pPr>
            <a:r>
              <a:rPr lang="en-AU" sz="4400" dirty="0"/>
              <a:t>What is the time to the minute? </a:t>
            </a:r>
          </a:p>
          <a:p>
            <a:pPr algn="ctr">
              <a:lnSpc>
                <a:spcPct val="150000"/>
              </a:lnSpc>
            </a:pPr>
            <a:r>
              <a:rPr lang="en-AU" sz="4400" dirty="0"/>
              <a:t>Record your answer in words.</a:t>
            </a:r>
            <a:endParaRPr lang="en-AU" dirty="0"/>
          </a:p>
        </p:txBody>
      </p:sp>
      <p:pic>
        <p:nvPicPr>
          <p:cNvPr id="10" name="Picture 9" descr="A digital clock displaying 2:49 PM">
            <a:extLst>
              <a:ext uri="{FF2B5EF4-FFF2-40B4-BE49-F238E27FC236}">
                <a16:creationId xmlns:a16="http://schemas.microsoft.com/office/drawing/2014/main" id="{F1A1061A-B81F-8EDF-0FF1-BF645A863DA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97" b="92686" l="2922" r="96481">
                        <a14:foregroundMark x1="6640" y1="13646" x2="35458" y2="16048"/>
                        <a14:foregroundMark x1="95551" y1="18013" x2="95684" y2="82424"/>
                        <a14:foregroundMark x1="90571" y1="89410" x2="56906" y2="81004"/>
                        <a14:foregroundMark x1="56906" y1="81004" x2="52125" y2="80895"/>
                        <a14:foregroundMark x1="23440" y1="89410" x2="40239" y2="89956"/>
                        <a14:foregroundMark x1="40239" y1="89956" x2="60159" y2="89192"/>
                        <a14:foregroundMark x1="60159" y1="89192" x2="66932" y2="89629"/>
                        <a14:foregroundMark x1="90106" y1="87991" x2="90106" y2="87991"/>
                        <a14:foregroundMark x1="94555" y1="82860" x2="10890" y2="83624"/>
                        <a14:foregroundMark x1="3851" y1="33079" x2="6175" y2="77293"/>
                        <a14:foregroundMark x1="6175" y1="77293" x2="15671" y2="90939"/>
                        <a14:foregroundMark x1="15671" y1="90939" x2="19788" y2="91812"/>
                        <a14:foregroundMark x1="48606" y1="13865" x2="74900" y2="18013"/>
                        <a14:foregroundMark x1="25100" y1="9716" x2="72576" y2="13537"/>
                        <a14:foregroundMark x1="72576" y1="13537" x2="88048" y2="11681"/>
                        <a14:foregroundMark x1="87915" y1="8515" x2="93227" y2="21616"/>
                        <a14:foregroundMark x1="96149" y1="16594" x2="85060" y2="9498"/>
                        <a14:foregroundMark x1="85060" y1="9498" x2="80810" y2="9279"/>
                        <a14:foregroundMark x1="4980" y1="13428" x2="3054" y2="36463"/>
                        <a14:foregroundMark x1="9562" y1="87445" x2="9562" y2="87445"/>
                        <a14:foregroundMark x1="6175" y1="91157" x2="57703" y2="93668"/>
                        <a14:foregroundMark x1="57703" y1="93668" x2="72576" y2="92686"/>
                        <a14:foregroundMark x1="72576" y1="92686" x2="74900" y2="91157"/>
                        <a14:foregroundMark x1="96016" y1="88210" x2="88181" y2="91376"/>
                        <a14:foregroundMark x1="88181" y1="91376" x2="88181" y2="91376"/>
                        <a14:foregroundMark x1="96481" y1="90393" x2="96481" y2="90393"/>
                        <a14:foregroundMark x1="4847" y1="80240" x2="4847" y2="80240"/>
                        <a14:foregroundMark x1="4847" y1="68013" x2="5179" y2="81878"/>
                        <a14:foregroundMark x1="6042" y1="88974" x2="6042" y2="88974"/>
                        <a14:foregroundMark x1="4382" y1="88646" x2="4382" y2="88646"/>
                        <a14:foregroundMark x1="3851" y1="88210" x2="3851" y2="88210"/>
                        <a14:foregroundMark x1="3054" y1="88974" x2="3054" y2="88974"/>
                      </a14:backgroundRemoval>
                    </a14:imgEffect>
                  </a14:imgLayer>
                </a14:imgProps>
              </a:ext>
            </a:extLst>
          </a:blip>
          <a:stretch>
            <a:fillRect/>
          </a:stretch>
        </p:blipFill>
        <p:spPr>
          <a:xfrm>
            <a:off x="4062977" y="3429000"/>
            <a:ext cx="4685238" cy="2849720"/>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FFCDAA1-52ED-B432-CCE0-A095DC233F83}"/>
              </a:ext>
            </a:extLst>
          </p:cNvPr>
          <p:cNvSpPr txBox="1"/>
          <p:nvPr/>
        </p:nvSpPr>
        <p:spPr>
          <a:xfrm>
            <a:off x="348000" y="1094223"/>
            <a:ext cx="7617318" cy="5511777"/>
          </a:xfrm>
          <a:prstGeom prst="rect">
            <a:avLst/>
          </a:prstGeom>
          <a:noFill/>
        </p:spPr>
        <p:txBody>
          <a:bodyPr wrap="square" lIns="0" tIns="0" rIns="0" bIns="0" rtlCol="0">
            <a:noAutofit/>
          </a:bodyPr>
          <a:lstStyle/>
          <a:p>
            <a:pPr algn="ctr">
              <a:lnSpc>
                <a:spcPct val="150000"/>
              </a:lnSpc>
            </a:pPr>
            <a:r>
              <a:rPr lang="en-AU" sz="4000" dirty="0"/>
              <a:t>Avery used a </a:t>
            </a:r>
            <a:r>
              <a:rPr lang="en-AU" sz="4000" b="1" dirty="0"/>
              <a:t>vertical algorithm </a:t>
            </a:r>
            <a:r>
              <a:rPr lang="en-AU" sz="4000" dirty="0"/>
              <a:t>to solve 347 + 428. Her teacher asked her to </a:t>
            </a:r>
            <a:r>
              <a:rPr lang="en-AU" sz="4000" b="1" dirty="0"/>
              <a:t>explain</a:t>
            </a:r>
            <a:r>
              <a:rPr lang="en-AU" sz="4000" dirty="0"/>
              <a:t> what the </a:t>
            </a:r>
          </a:p>
          <a:p>
            <a:pPr algn="ctr">
              <a:lnSpc>
                <a:spcPct val="150000"/>
              </a:lnSpc>
            </a:pPr>
            <a:r>
              <a:rPr lang="en-AU" sz="4000" b="1" dirty="0">
                <a:solidFill>
                  <a:srgbClr val="0070C0"/>
                </a:solidFill>
              </a:rPr>
              <a:t>1</a:t>
            </a:r>
            <a:r>
              <a:rPr lang="en-AU" sz="4000" dirty="0"/>
              <a:t> meant in her recording. </a:t>
            </a:r>
          </a:p>
          <a:p>
            <a:pPr algn="ctr">
              <a:lnSpc>
                <a:spcPct val="150000"/>
              </a:lnSpc>
            </a:pPr>
            <a:r>
              <a:rPr lang="en-AU" sz="4000" dirty="0"/>
              <a:t>What could Avery say? </a:t>
            </a:r>
          </a:p>
          <a:p>
            <a:pPr algn="ctr">
              <a:lnSpc>
                <a:spcPct val="150000"/>
              </a:lnSpc>
            </a:pPr>
            <a:r>
              <a:rPr lang="en-AU" sz="4000" b="1" dirty="0"/>
              <a:t>Communicate</a:t>
            </a:r>
            <a:r>
              <a:rPr lang="en-AU" sz="4000" dirty="0"/>
              <a:t> your </a:t>
            </a:r>
            <a:r>
              <a:rPr lang="en-AU" sz="4000" b="1" dirty="0"/>
              <a:t>reasoning</a:t>
            </a:r>
            <a:r>
              <a:rPr lang="en-AU" sz="4000" dirty="0"/>
              <a:t>.</a:t>
            </a:r>
          </a:p>
          <a:p>
            <a:pPr algn="ctr"/>
            <a:endParaRPr lang="en-AU" sz="4400" dirty="0"/>
          </a:p>
        </p:txBody>
      </p:sp>
      <p:pic>
        <p:nvPicPr>
          <p:cNvPr id="10" name="Picture 9" descr="A vertical algorithm adding 347 and 428. A small blue 1 is written above the tens column. A line is drawn underneath, and the answer 775 is written in blue below the line.">
            <a:extLst>
              <a:ext uri="{FF2B5EF4-FFF2-40B4-BE49-F238E27FC236}">
                <a16:creationId xmlns:a16="http://schemas.microsoft.com/office/drawing/2014/main" id="{FA65E106-65D8-429D-D788-0C9E8159C7AD}"/>
              </a:ext>
            </a:extLst>
          </p:cNvPr>
          <p:cNvPicPr>
            <a:picLocks noChangeAspect="1"/>
          </p:cNvPicPr>
          <p:nvPr/>
        </p:nvPicPr>
        <p:blipFill>
          <a:blip r:embed="rId4"/>
          <a:srcRect r="18285"/>
          <a:stretch>
            <a:fillRect/>
          </a:stretch>
        </p:blipFill>
        <p:spPr>
          <a:xfrm>
            <a:off x="8186911" y="826543"/>
            <a:ext cx="3500263" cy="5209030"/>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D878BDE-AD34-110F-CB53-BDED2523F276}"/>
              </a:ext>
            </a:extLst>
          </p:cNvPr>
          <p:cNvSpPr txBox="1"/>
          <p:nvPr/>
        </p:nvSpPr>
        <p:spPr>
          <a:xfrm>
            <a:off x="360000" y="1314631"/>
            <a:ext cx="8233004" cy="5045164"/>
          </a:xfrm>
          <a:prstGeom prst="rect">
            <a:avLst/>
          </a:prstGeom>
          <a:noFill/>
        </p:spPr>
        <p:txBody>
          <a:bodyPr wrap="square">
            <a:spAutoFit/>
          </a:bodyPr>
          <a:lstStyle/>
          <a:p>
            <a:pPr>
              <a:lnSpc>
                <a:spcPct val="150000"/>
              </a:lnSpc>
            </a:pPr>
            <a:r>
              <a:rPr lang="en-AU" sz="4400" dirty="0"/>
              <a:t>This jar has </a:t>
            </a:r>
            <a:r>
              <a:rPr lang="en-AU" sz="4400" b="1" dirty="0"/>
              <a:t>equal numbers </a:t>
            </a:r>
            <a:r>
              <a:rPr lang="en-AU" sz="4400" dirty="0"/>
              <a:t>of yellow and blue marbles. </a:t>
            </a:r>
          </a:p>
          <a:p>
            <a:pPr>
              <a:lnSpc>
                <a:spcPct val="150000"/>
              </a:lnSpc>
            </a:pPr>
            <a:r>
              <a:rPr lang="en-AU" sz="4400" dirty="0"/>
              <a:t>List the </a:t>
            </a:r>
            <a:r>
              <a:rPr lang="en-AU" sz="4400" b="1" dirty="0"/>
              <a:t>outcomes</a:t>
            </a:r>
            <a:r>
              <a:rPr lang="en-AU" sz="4400" dirty="0"/>
              <a:t> when </a:t>
            </a:r>
            <a:r>
              <a:rPr lang="en-AU" sz="4400" b="1" dirty="0"/>
              <a:t>3</a:t>
            </a:r>
            <a:r>
              <a:rPr lang="en-AU" sz="4400" dirty="0"/>
              <a:t> marbles are r</a:t>
            </a:r>
            <a:r>
              <a:rPr lang="en-AU" sz="4400" b="1" dirty="0"/>
              <a:t>andomly</a:t>
            </a:r>
            <a:r>
              <a:rPr lang="en-AU" sz="4400" dirty="0"/>
              <a:t> selected from this jar.</a:t>
            </a:r>
          </a:p>
        </p:txBody>
      </p:sp>
      <p:pic>
        <p:nvPicPr>
          <p:cNvPr id="8" name="Picture 7" descr="A jar containing 5 blue marbles and 5 yellow marbles.">
            <a:extLst>
              <a:ext uri="{FF2B5EF4-FFF2-40B4-BE49-F238E27FC236}">
                <a16:creationId xmlns:a16="http://schemas.microsoft.com/office/drawing/2014/main" id="{8B263981-0C3A-84A5-4D83-2DDE92500C38}"/>
              </a:ext>
            </a:extLst>
          </p:cNvPr>
          <p:cNvPicPr>
            <a:picLocks noChangeAspect="1"/>
          </p:cNvPicPr>
          <p:nvPr/>
        </p:nvPicPr>
        <p:blipFill>
          <a:blip r:embed="rId4"/>
          <a:stretch>
            <a:fillRect/>
          </a:stretch>
        </p:blipFill>
        <p:spPr>
          <a:xfrm>
            <a:off x="8593004" y="1176427"/>
            <a:ext cx="3352972" cy="5321573"/>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a:t>
            </a:r>
            <a:r>
              <a:rPr lang="en-AU" dirty="0">
                <a:latin typeface="Arial"/>
                <a:cs typeface="Arial"/>
              </a:rPr>
              <a:t>place value comparisons</a:t>
            </a:r>
            <a:endParaRPr lang="en-AU" dirty="0"/>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Rectangle 6">
            <a:extLst>
              <a:ext uri="{FF2B5EF4-FFF2-40B4-BE49-F238E27FC236}">
                <a16:creationId xmlns:a16="http://schemas.microsoft.com/office/drawing/2014/main" id="{DB5487B2-198B-52FE-477F-B550B6A5E8E8}"/>
              </a:ext>
            </a:extLst>
          </p:cNvPr>
          <p:cNvSpPr>
            <a:spLocks noChangeArrowheads="1"/>
          </p:cNvSpPr>
          <p:nvPr/>
        </p:nvSpPr>
        <p:spPr bwMode="auto">
          <a:xfrm>
            <a:off x="558341" y="798749"/>
            <a:ext cx="6143673" cy="625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defTabSz="914400" eaLnBrk="0" fontAlgn="base" hangingPunct="0">
              <a:lnSpc>
                <a:spcPct val="150000"/>
              </a:lnSpc>
              <a:spcBef>
                <a:spcPct val="0"/>
              </a:spcBef>
              <a:spcAft>
                <a:spcPct val="0"/>
              </a:spcAft>
            </a:pPr>
            <a:r>
              <a:rPr lang="en-AU" altLang="en-US" sz="1800" b="1" dirty="0">
                <a:latin typeface="Arial"/>
                <a:ea typeface="Calibri"/>
                <a:cs typeface="Arial"/>
              </a:rPr>
              <a:t>Aim of the game</a:t>
            </a:r>
            <a:endParaRPr lang="en-AU" altLang="en-US" sz="1800" b="1" i="0" u="none" strike="noStrike" cap="none" normalizeH="0" baseline="0" dirty="0">
              <a:ln>
                <a:noFill/>
              </a:ln>
              <a:effectLst/>
              <a:latin typeface="Arial"/>
              <a:ea typeface="Calibri"/>
              <a:cs typeface="Arial"/>
            </a:endParaRPr>
          </a:p>
          <a:p>
            <a:pPr defTabSz="914400">
              <a:lnSpc>
                <a:spcPct val="150000"/>
              </a:lnSpc>
              <a:spcBef>
                <a:spcPct val="0"/>
              </a:spcBef>
              <a:spcAft>
                <a:spcPct val="0"/>
              </a:spcAft>
            </a:pPr>
            <a:r>
              <a:rPr lang="en-AU" altLang="en-US" sz="1800" dirty="0">
                <a:latin typeface="Arial"/>
                <a:cs typeface="Arial"/>
              </a:rPr>
              <a:t>To make the closest possible number to 500 000, without going over.</a:t>
            </a:r>
            <a:endParaRPr lang="en-AU" altLang="en-US" sz="1800" b="0" i="0" u="none" strike="noStrike" cap="none" normalizeH="0" baseline="0" dirty="0">
              <a:ln>
                <a:noFill/>
              </a:ln>
              <a:effectLst/>
              <a:latin typeface="Arial" panose="020B0604020202020204" pitchFamily="34" charset="0"/>
              <a:cs typeface="Arial" panose="020B0604020202020204" pitchFamily="34" charset="0"/>
            </a:endParaRPr>
          </a:p>
          <a:p>
            <a:pPr defTabSz="914400">
              <a:lnSpc>
                <a:spcPct val="150000"/>
              </a:lnSpc>
              <a:spcBef>
                <a:spcPct val="0"/>
              </a:spcBef>
              <a:spcAft>
                <a:spcPct val="0"/>
              </a:spcAft>
            </a:pPr>
            <a:endParaRPr lang="en-AU" altLang="en-US" sz="1000" dirty="0">
              <a:latin typeface="Arial"/>
              <a:ea typeface="Calibri"/>
              <a:cs typeface="Arial"/>
            </a:endParaRPr>
          </a:p>
          <a:p>
            <a:pPr defTabSz="914400">
              <a:lnSpc>
                <a:spcPct val="150000"/>
              </a:lnSpc>
              <a:spcBef>
                <a:spcPct val="0"/>
              </a:spcBef>
              <a:spcAft>
                <a:spcPct val="0"/>
              </a:spcAft>
            </a:pPr>
            <a:r>
              <a:rPr lang="en-AU" altLang="en-US" sz="1800" b="1" dirty="0">
                <a:latin typeface="Arial"/>
                <a:ea typeface="Calibri"/>
                <a:cs typeface="Arial"/>
              </a:rPr>
              <a:t>Rules:</a:t>
            </a:r>
            <a:endParaRPr lang="en-AU" altLang="en-US" sz="1800" b="1" dirty="0">
              <a:latin typeface="Arial" panose="020B0604020202020204" pitchFamily="34" charset="0"/>
              <a:ea typeface="Calibri"/>
              <a:cs typeface="Arial" panose="020B0604020202020204" pitchFamily="34" charset="0"/>
            </a:endParaRP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each player rolls a 9-sided dice 6 times</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after each roll, choose where to place the digit</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once a digit is placed, it cannot be moved</a:t>
            </a:r>
          </a:p>
          <a:p>
            <a:pPr marL="285750" indent="-285750" defTabSz="914400">
              <a:lnSpc>
                <a:spcPct val="150000"/>
              </a:lnSpc>
              <a:spcBef>
                <a:spcPct val="0"/>
              </a:spcBef>
              <a:spcAft>
                <a:spcPct val="0"/>
              </a:spcAft>
              <a:buFont typeface="Arial"/>
              <a:buChar char="•"/>
            </a:pPr>
            <a:r>
              <a:rPr lang="en-AU" altLang="en-US" sz="1800" b="1" dirty="0">
                <a:latin typeface="Arial"/>
                <a:ea typeface="Calibri"/>
                <a:cs typeface="Arial"/>
              </a:rPr>
              <a:t>after 6 throws, you may swap 2 of your digits with each other</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read your number to a partner and record the number using expanded notation</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as a class, determine who has made the number closest to 500 000.</a:t>
            </a:r>
          </a:p>
          <a:p>
            <a:pPr marL="285750" indent="-285750" defTabSz="914400">
              <a:lnSpc>
                <a:spcPct val="150000"/>
              </a:lnSpc>
              <a:spcBef>
                <a:spcPct val="0"/>
              </a:spcBef>
              <a:spcAft>
                <a:spcPct val="0"/>
              </a:spcAft>
              <a:buFont typeface="Arial"/>
              <a:buChar char="•"/>
            </a:pPr>
            <a:endParaRPr lang="en-AU" altLang="en-US" sz="1700" dirty="0">
              <a:latin typeface="Arial" panose="020B0604020202020204" pitchFamily="34" charset="0"/>
              <a:ea typeface="Calibri"/>
              <a:cs typeface="Arial" panose="020B0604020202020204" pitchFamily="34" charset="0"/>
            </a:endParaRPr>
          </a:p>
        </p:txBody>
      </p:sp>
      <p:pic>
        <p:nvPicPr>
          <p:cNvPr id="8" name="Picture 7" descr="Place value houses with columns for hundred thousand, ten thousand, one thousand, hundred, tens and ones.">
            <a:extLst>
              <a:ext uri="{FF2B5EF4-FFF2-40B4-BE49-F238E27FC236}">
                <a16:creationId xmlns:a16="http://schemas.microsoft.com/office/drawing/2014/main" id="{4E1EC22B-1C96-2D67-E7E7-0DAE62C1C8F2}"/>
              </a:ext>
            </a:extLst>
          </p:cNvPr>
          <p:cNvPicPr>
            <a:picLocks noChangeAspect="1"/>
          </p:cNvPicPr>
          <p:nvPr/>
        </p:nvPicPr>
        <p:blipFill>
          <a:blip r:embed="rId4"/>
          <a:srcRect l="49701"/>
          <a:stretch/>
        </p:blipFill>
        <p:spPr>
          <a:xfrm>
            <a:off x="7697307" y="1855352"/>
            <a:ext cx="3786693" cy="3501200"/>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Lst>
          </p:cNvPr>
          <p:cNvSpPr>
            <a:spLocks noGrp="1"/>
          </p:cNvSpPr>
          <p:nvPr>
            <p:ph type="sldNum" sz="quarter" idx="12"/>
          </p:nvPr>
        </p:nvSpPr>
        <p:spPr>
          <a:xfrm>
            <a:off x="11253694" y="6522153"/>
            <a:ext cx="720000" cy="180000"/>
          </a:xfrm>
        </p:spPr>
        <p:txBody>
          <a:bodyPr/>
          <a:lstStyle/>
          <a:p>
            <a:fld id="{10A01DC5-1685-4615-8240-15192985C6A2}" type="slidenum">
              <a:rPr lang="en-AU" smtClean="0"/>
              <a:t>47</a:t>
            </a:fld>
            <a:endParaRPr lang="en-AU" dirty="0"/>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dirty="0"/>
              <a:t>Multiple choice</a:t>
            </a:r>
            <a:r>
              <a:rPr lang="en-US" dirty="0">
                <a:solidFill>
                  <a:schemeClr val="bg1"/>
                </a:solidFill>
              </a:rPr>
              <a:t> (4)</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320120" y="5832123"/>
            <a:ext cx="10175920" cy="641396"/>
          </a:xfrm>
        </p:spPr>
        <p:txBody>
          <a:bodyPr anchor="ctr"/>
          <a:lstStyle/>
          <a:p>
            <a:r>
              <a:rPr lang="en-AU" sz="3600" dirty="0"/>
              <a:t>694 301</a:t>
            </a:r>
            <a:endParaRPr lang="en-US" sz="3600" dirty="0"/>
          </a:p>
        </p:txBody>
      </p:sp>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550500" y="1127129"/>
            <a:ext cx="10945540" cy="754243"/>
          </a:xfrm>
        </p:spPr>
        <p:txBody>
          <a:bodyPr/>
          <a:lstStyle/>
          <a:p>
            <a:r>
              <a:rPr lang="en-AU" sz="4000" dirty="0"/>
              <a:t>600 000 + 90 000 + 3000 + 400 + 1 is </a:t>
            </a:r>
            <a:r>
              <a:rPr lang="en-AU" sz="4000" b="1" dirty="0"/>
              <a:t>expanded notation </a:t>
            </a:r>
            <a:r>
              <a:rPr lang="en-AU" sz="4000" dirty="0"/>
              <a:t>for</a:t>
            </a:r>
          </a:p>
          <a:p>
            <a:endParaRPr lang="en-US" sz="4400" dirty="0"/>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320120" y="4982070"/>
            <a:ext cx="10175920" cy="641396"/>
          </a:xfrm>
        </p:spPr>
        <p:txBody>
          <a:bodyPr anchor="ctr"/>
          <a:lstStyle/>
          <a:p>
            <a:r>
              <a:rPr lang="en-AU" sz="3600" dirty="0"/>
              <a:t>693 041</a:t>
            </a:r>
            <a:endParaRPr lang="en-US" sz="3600" dirty="0"/>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320120" y="4132017"/>
            <a:ext cx="10175920" cy="641396"/>
          </a:xfrm>
        </p:spPr>
        <p:txBody>
          <a:bodyPr anchor="ctr"/>
          <a:lstStyle/>
          <a:p>
            <a:r>
              <a:rPr lang="en-AU" sz="3600" dirty="0"/>
              <a:t>690 341</a:t>
            </a:r>
            <a:endParaRPr lang="en-US" sz="3600" dirty="0"/>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320120" y="3284104"/>
            <a:ext cx="10175920" cy="641396"/>
          </a:xfrm>
        </p:spPr>
        <p:txBody>
          <a:bodyPr anchor="ctr"/>
          <a:lstStyle/>
          <a:p>
            <a:r>
              <a:rPr lang="en-US" sz="3600" dirty="0"/>
              <a:t>693 401</a:t>
            </a:r>
          </a:p>
        </p:txBody>
      </p:sp>
      <p:sp>
        <p:nvSpPr>
          <p:cNvPr id="9" name="TextBox 8">
            <a:extLst>
              <a:ext uri="{FF2B5EF4-FFF2-40B4-BE49-F238E27FC236}">
                <a16:creationId xmlns:a16="http://schemas.microsoft.com/office/drawing/2014/main" id="{793EDF41-C42C-8273-E2DE-8E4910A00103}"/>
              </a:ext>
            </a:extLst>
          </p:cNvPr>
          <p:cNvSpPr txBox="1"/>
          <p:nvPr/>
        </p:nvSpPr>
        <p:spPr>
          <a:xfrm>
            <a:off x="645160" y="32354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509AD87B-945E-EF0D-EE5D-D963ACE5480B}"/>
              </a:ext>
            </a:extLst>
          </p:cNvPr>
          <p:cNvSpPr txBox="1"/>
          <p:nvPr/>
        </p:nvSpPr>
        <p:spPr>
          <a:xfrm>
            <a:off x="645159" y="40833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19288423-CD91-9472-E346-D2D0ECB4C75C}"/>
              </a:ext>
            </a:extLst>
          </p:cNvPr>
          <p:cNvSpPr txBox="1"/>
          <p:nvPr/>
        </p:nvSpPr>
        <p:spPr>
          <a:xfrm>
            <a:off x="645157" y="57834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A633D74-C65F-E185-EA4B-C6135BC39C93}"/>
              </a:ext>
            </a:extLst>
          </p:cNvPr>
          <p:cNvSpPr txBox="1"/>
          <p:nvPr/>
        </p:nvSpPr>
        <p:spPr>
          <a:xfrm>
            <a:off x="645158" y="49334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43371C3A-5E77-231E-81E2-AB026BD40D7D}"/>
              </a:ext>
            </a:extLst>
          </p:cNvPr>
          <p:cNvSpPr txBox="1"/>
          <p:nvPr/>
        </p:nvSpPr>
        <p:spPr>
          <a:xfrm>
            <a:off x="246024" y="1168212"/>
            <a:ext cx="11510100" cy="1998176"/>
          </a:xfrm>
          <a:prstGeom prst="rect">
            <a:avLst/>
          </a:prstGeom>
          <a:noFill/>
        </p:spPr>
        <p:txBody>
          <a:bodyPr wrap="square">
            <a:spAutoFit/>
          </a:bodyPr>
          <a:lstStyle/>
          <a:p>
            <a:pPr algn="ctr">
              <a:lnSpc>
                <a:spcPct val="150000"/>
              </a:lnSpc>
            </a:pPr>
            <a:r>
              <a:rPr lang="en-AU" sz="4400" dirty="0"/>
              <a:t>This ribbon has been split into 2 parts. </a:t>
            </a:r>
          </a:p>
          <a:p>
            <a:pPr algn="ctr">
              <a:lnSpc>
                <a:spcPct val="150000"/>
              </a:lnSpc>
            </a:pPr>
            <a:r>
              <a:rPr lang="en-AU" sz="4400" b="1" dirty="0"/>
              <a:t>Draw</a:t>
            </a:r>
            <a:r>
              <a:rPr lang="en-AU" sz="4400" dirty="0"/>
              <a:t> this ribbon and </a:t>
            </a:r>
            <a:r>
              <a:rPr lang="en-AU" sz="4400" b="1" dirty="0"/>
              <a:t>label</a:t>
            </a:r>
            <a:r>
              <a:rPr lang="en-AU" sz="4400" dirty="0"/>
              <a:t> the halves.</a:t>
            </a:r>
          </a:p>
        </p:txBody>
      </p:sp>
      <p:pic>
        <p:nvPicPr>
          <p:cNvPr id="8" name="Picture 7" descr="A red ribbon divided into halves.">
            <a:extLst>
              <a:ext uri="{FF2B5EF4-FFF2-40B4-BE49-F238E27FC236}">
                <a16:creationId xmlns:a16="http://schemas.microsoft.com/office/drawing/2014/main" id="{BD07E869-301E-1221-2AA4-332CC1B717B8}"/>
              </a:ext>
            </a:extLst>
          </p:cNvPr>
          <p:cNvPicPr>
            <a:picLocks noChangeAspect="1"/>
          </p:cNvPicPr>
          <p:nvPr/>
        </p:nvPicPr>
        <p:blipFill>
          <a:blip r:embed="rId4"/>
          <a:srcRect b="57610"/>
          <a:stretch>
            <a:fillRect/>
          </a:stretch>
        </p:blipFill>
        <p:spPr>
          <a:xfrm>
            <a:off x="1095735" y="3644977"/>
            <a:ext cx="9631533" cy="1074174"/>
          </a:xfrm>
          <a:prstGeom prst="rect">
            <a:avLst/>
          </a:prstGeom>
        </p:spPr>
      </p:pic>
      <p:sp>
        <p:nvSpPr>
          <p:cNvPr id="9" name="TextBox 8">
            <a:extLst>
              <a:ext uri="{FF2B5EF4-FFF2-40B4-BE49-F238E27FC236}">
                <a16:creationId xmlns:a16="http://schemas.microsoft.com/office/drawing/2014/main" id="{B2F2E120-9DCF-1E41-BC24-2FE5CF974CAD}"/>
              </a:ext>
            </a:extLst>
          </p:cNvPr>
          <p:cNvSpPr txBox="1"/>
          <p:nvPr/>
        </p:nvSpPr>
        <p:spPr>
          <a:xfrm>
            <a:off x="1113774" y="4949434"/>
            <a:ext cx="9774600" cy="1199366"/>
          </a:xfrm>
          <a:prstGeom prst="rect">
            <a:avLst/>
          </a:prstGeom>
          <a:noFill/>
        </p:spPr>
        <p:txBody>
          <a:bodyPr wrap="square" lIns="0" tIns="0" rIns="0" bIns="0" rtlCol="0">
            <a:noAutofit/>
          </a:bodyPr>
          <a:lstStyle/>
          <a:p>
            <a:pPr algn="ctr">
              <a:lnSpc>
                <a:spcPct val="150000"/>
              </a:lnSpc>
            </a:pPr>
            <a:r>
              <a:rPr lang="en-AU" sz="4400" dirty="0"/>
              <a:t>Next draw and label </a:t>
            </a:r>
            <a:r>
              <a:rPr lang="en-AU" sz="4400" b="1" dirty="0"/>
              <a:t>3 halves</a:t>
            </a:r>
            <a:r>
              <a:rPr lang="en-AU" sz="4400" dirty="0"/>
              <a:t>. </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AF2F2C7-9012-26EF-190C-189E107C3847}"/>
              </a:ext>
            </a:extLst>
          </p:cNvPr>
          <p:cNvSpPr txBox="1"/>
          <p:nvPr/>
        </p:nvSpPr>
        <p:spPr>
          <a:xfrm>
            <a:off x="3048000" y="1415833"/>
            <a:ext cx="6096000" cy="769441"/>
          </a:xfrm>
          <a:prstGeom prst="rect">
            <a:avLst/>
          </a:prstGeom>
          <a:noFill/>
        </p:spPr>
        <p:txBody>
          <a:bodyPr wrap="square">
            <a:spAutoFit/>
          </a:bodyPr>
          <a:lstStyle/>
          <a:p>
            <a:r>
              <a:rPr lang="en-AU" sz="4400" dirty="0"/>
              <a:t>How long until 3:00pm?</a:t>
            </a:r>
          </a:p>
        </p:txBody>
      </p:sp>
      <p:pic>
        <p:nvPicPr>
          <p:cNvPr id="7" name="Picture 6" descr="A digtal clock displaying 2:49 pm.">
            <a:extLst>
              <a:ext uri="{FF2B5EF4-FFF2-40B4-BE49-F238E27FC236}">
                <a16:creationId xmlns:a16="http://schemas.microsoft.com/office/drawing/2014/main" id="{7250701C-E721-61CC-9747-535C4409D2B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97" b="92686" l="2922" r="96481">
                        <a14:foregroundMark x1="6640" y1="13646" x2="35458" y2="16048"/>
                        <a14:foregroundMark x1="95551" y1="18013" x2="95684" y2="82424"/>
                        <a14:foregroundMark x1="90571" y1="89410" x2="56906" y2="81004"/>
                        <a14:foregroundMark x1="56906" y1="81004" x2="52125" y2="80895"/>
                        <a14:foregroundMark x1="23440" y1="89410" x2="40239" y2="89956"/>
                        <a14:foregroundMark x1="40239" y1="89956" x2="60159" y2="89192"/>
                        <a14:foregroundMark x1="60159" y1="89192" x2="66932" y2="89629"/>
                        <a14:foregroundMark x1="90106" y1="87991" x2="90106" y2="87991"/>
                        <a14:foregroundMark x1="94555" y1="82860" x2="10890" y2="83624"/>
                        <a14:foregroundMark x1="3851" y1="33079" x2="6175" y2="77293"/>
                        <a14:foregroundMark x1="6175" y1="77293" x2="15671" y2="90939"/>
                        <a14:foregroundMark x1="15671" y1="90939" x2="19788" y2="91812"/>
                        <a14:foregroundMark x1="48606" y1="13865" x2="74900" y2="18013"/>
                        <a14:foregroundMark x1="25100" y1="9716" x2="72576" y2="13537"/>
                        <a14:foregroundMark x1="72576" y1="13537" x2="88048" y2="11681"/>
                        <a14:foregroundMark x1="87915" y1="8515" x2="93227" y2="21616"/>
                        <a14:foregroundMark x1="96149" y1="16594" x2="85060" y2="9498"/>
                        <a14:foregroundMark x1="85060" y1="9498" x2="80810" y2="9279"/>
                        <a14:foregroundMark x1="4980" y1="13428" x2="3054" y2="36463"/>
                        <a14:foregroundMark x1="9562" y1="87445" x2="9562" y2="87445"/>
                        <a14:foregroundMark x1="6175" y1="91157" x2="57703" y2="93668"/>
                        <a14:foregroundMark x1="57703" y1="93668" x2="72576" y2="92686"/>
                        <a14:foregroundMark x1="72576" y1="92686" x2="74900" y2="91157"/>
                        <a14:foregroundMark x1="96016" y1="88210" x2="88181" y2="91376"/>
                        <a14:foregroundMark x1="88181" y1="91376" x2="88181" y2="91376"/>
                        <a14:foregroundMark x1="96481" y1="90393" x2="96481" y2="90393"/>
                        <a14:foregroundMark x1="4847" y1="80240" x2="4847" y2="80240"/>
                        <a14:foregroundMark x1="4847" y1="68013" x2="5179" y2="81878"/>
                        <a14:foregroundMark x1="6042" y1="88974" x2="6042" y2="88974"/>
                        <a14:foregroundMark x1="4382" y1="88646" x2="4382" y2="88646"/>
                        <a14:foregroundMark x1="3851" y1="88210" x2="3851" y2="88210"/>
                        <a14:foregroundMark x1="3054" y1="88974" x2="3054" y2="88974"/>
                      </a14:backgroundRemoval>
                    </a14:imgEffect>
                  </a14:imgLayer>
                </a14:imgProps>
              </a:ext>
            </a:extLst>
          </a:blip>
          <a:stretch>
            <a:fillRect/>
          </a:stretch>
        </p:blipFill>
        <p:spPr>
          <a:xfrm>
            <a:off x="2970151" y="2545380"/>
            <a:ext cx="6251698" cy="3802494"/>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565D110-8AE2-796A-8818-0DCF2912DC4E}"/>
              </a:ext>
            </a:extLst>
          </p:cNvPr>
          <p:cNvSpPr txBox="1"/>
          <p:nvPr/>
        </p:nvSpPr>
        <p:spPr>
          <a:xfrm>
            <a:off x="360000" y="1243982"/>
            <a:ext cx="7337972" cy="5152780"/>
          </a:xfrm>
          <a:prstGeom prst="rect">
            <a:avLst/>
          </a:prstGeom>
          <a:noFill/>
        </p:spPr>
        <p:txBody>
          <a:bodyPr wrap="square" lIns="0" tIns="0" rIns="0" bIns="0" rtlCol="0">
            <a:noAutofit/>
          </a:bodyPr>
          <a:lstStyle/>
          <a:p>
            <a:pPr algn="ctr">
              <a:lnSpc>
                <a:spcPct val="150000"/>
              </a:lnSpc>
            </a:pPr>
            <a:r>
              <a:rPr lang="en-AU" sz="3600" dirty="0"/>
              <a:t>Corey used a </a:t>
            </a:r>
            <a:r>
              <a:rPr lang="en-AU" sz="3600" b="1" dirty="0"/>
              <a:t>vertical algorithm </a:t>
            </a:r>
            <a:r>
              <a:rPr lang="en-AU" sz="3600" dirty="0"/>
              <a:t>to solve 798 – 93. </a:t>
            </a:r>
          </a:p>
          <a:p>
            <a:pPr algn="ctr">
              <a:lnSpc>
                <a:spcPct val="150000"/>
              </a:lnSpc>
            </a:pPr>
            <a:r>
              <a:rPr lang="en-AU" sz="3600" dirty="0"/>
              <a:t>Is this the most </a:t>
            </a:r>
            <a:r>
              <a:rPr lang="en-AU" sz="3600" b="1" dirty="0"/>
              <a:t>efficient</a:t>
            </a:r>
            <a:r>
              <a:rPr lang="en-AU" sz="3600" dirty="0"/>
              <a:t> </a:t>
            </a:r>
            <a:r>
              <a:rPr lang="en-AU" sz="3600" b="1" dirty="0"/>
              <a:t>strategy</a:t>
            </a:r>
            <a:r>
              <a:rPr lang="en-AU" sz="3600" dirty="0"/>
              <a:t> he could have used? </a:t>
            </a:r>
          </a:p>
          <a:p>
            <a:pPr algn="ctr"/>
            <a:endParaRPr lang="en-AU" sz="3600" dirty="0"/>
          </a:p>
          <a:p>
            <a:pPr algn="ctr"/>
            <a:endParaRPr lang="en-AU" sz="3600" dirty="0"/>
          </a:p>
          <a:p>
            <a:pPr algn="ctr"/>
            <a:r>
              <a:rPr lang="en-AU" sz="3600" b="1" dirty="0"/>
              <a:t>Communicate</a:t>
            </a:r>
            <a:r>
              <a:rPr lang="en-AU" sz="3600" dirty="0"/>
              <a:t> your </a:t>
            </a:r>
            <a:r>
              <a:rPr lang="en-AU" sz="3600" b="1" dirty="0"/>
              <a:t>reasoning.</a:t>
            </a:r>
            <a:endParaRPr lang="en-AU" sz="3600" dirty="0"/>
          </a:p>
        </p:txBody>
      </p:sp>
      <p:sp>
        <p:nvSpPr>
          <p:cNvPr id="5" name="TextBox 4" descr="A vertical algorithm, showing 793 minus 93 equalling 705.">
            <a:extLst>
              <a:ext uri="{FF2B5EF4-FFF2-40B4-BE49-F238E27FC236}">
                <a16:creationId xmlns:a16="http://schemas.microsoft.com/office/drawing/2014/main" id="{D9CCAEA4-730F-55DC-FE3F-E25D64F70A49}"/>
              </a:ext>
            </a:extLst>
          </p:cNvPr>
          <p:cNvSpPr txBox="1"/>
          <p:nvPr/>
        </p:nvSpPr>
        <p:spPr>
          <a:xfrm>
            <a:off x="8144222" y="1795041"/>
            <a:ext cx="3108797" cy="4350212"/>
          </a:xfrm>
          <a:prstGeom prst="rect">
            <a:avLst/>
          </a:prstGeom>
          <a:noFill/>
          <a:ln>
            <a:solidFill>
              <a:schemeClr val="bg1">
                <a:lumMod val="85000"/>
              </a:schemeClr>
            </a:solidFill>
          </a:ln>
        </p:spPr>
        <p:txBody>
          <a:bodyPr wrap="square" lIns="0" tIns="0" rIns="0" bIns="0" rtlCol="0">
            <a:noAutofit/>
          </a:bodyPr>
          <a:lstStyle/>
          <a:p>
            <a:pPr>
              <a:lnSpc>
                <a:spcPct val="150000"/>
              </a:lnSpc>
            </a:pPr>
            <a:r>
              <a:rPr lang="en-AU" sz="6000" dirty="0"/>
              <a:t>   7 9 8</a:t>
            </a:r>
          </a:p>
          <a:p>
            <a:pPr>
              <a:lnSpc>
                <a:spcPct val="150000"/>
              </a:lnSpc>
            </a:pPr>
            <a:r>
              <a:rPr lang="en-AU" sz="6000" dirty="0"/>
              <a:t>-     9 3</a:t>
            </a:r>
          </a:p>
          <a:p>
            <a:pPr>
              <a:lnSpc>
                <a:spcPct val="150000"/>
              </a:lnSpc>
            </a:pPr>
            <a:r>
              <a:rPr lang="en-AU" sz="6000" dirty="0">
                <a:solidFill>
                  <a:schemeClr val="tx2"/>
                </a:solidFill>
              </a:rPr>
              <a:t>   </a:t>
            </a:r>
            <a:r>
              <a:rPr lang="en-AU" sz="6000" dirty="0">
                <a:solidFill>
                  <a:srgbClr val="0070C0"/>
                </a:solidFill>
              </a:rPr>
              <a:t>7 0 5</a:t>
            </a:r>
            <a:endParaRPr lang="en-AU" sz="4400" dirty="0">
              <a:solidFill>
                <a:srgbClr val="0070C0"/>
              </a:solidFill>
            </a:endParaRPr>
          </a:p>
        </p:txBody>
      </p:sp>
      <p:cxnSp>
        <p:nvCxnSpPr>
          <p:cNvPr id="7" name="Straight Connector 6">
            <a:extLst>
              <a:ext uri="{FF2B5EF4-FFF2-40B4-BE49-F238E27FC236}">
                <a16:creationId xmlns:a16="http://schemas.microsoft.com/office/drawing/2014/main" id="{430FD97B-C2A5-1E1C-B6F7-32CCC538BD65}"/>
              </a:ext>
              <a:ext uri="{C183D7F6-B498-43B3-948B-1728B52AA6E4}">
                <adec:decorative xmlns:adec="http://schemas.microsoft.com/office/drawing/2017/decorative" val="1"/>
              </a:ext>
            </a:extLst>
          </p:cNvPr>
          <p:cNvCxnSpPr/>
          <p:nvPr/>
        </p:nvCxnSpPr>
        <p:spPr>
          <a:xfrm>
            <a:off x="8144222" y="4444409"/>
            <a:ext cx="27113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divided into 9 equal sections. The sections alternate in three colours: orange, green and purple. ">
            <a:extLst>
              <a:ext uri="{FF2B5EF4-FFF2-40B4-BE49-F238E27FC236}">
                <a16:creationId xmlns:a16="http://schemas.microsoft.com/office/drawing/2014/main" id="{C3182F12-BA3A-1B0E-3B69-E9B1B521A3C9}"/>
              </a:ext>
            </a:extLst>
          </p:cNvPr>
          <p:cNvPicPr>
            <a:picLocks noChangeAspect="1"/>
          </p:cNvPicPr>
          <p:nvPr/>
        </p:nvPicPr>
        <p:blipFill>
          <a:blip r:embed="rId4"/>
          <a:stretch>
            <a:fillRect/>
          </a:stretch>
        </p:blipFill>
        <p:spPr>
          <a:xfrm>
            <a:off x="360000" y="1203670"/>
            <a:ext cx="5540515" cy="5025717"/>
          </a:xfrm>
          <a:prstGeom prst="rect">
            <a:avLst/>
          </a:prstGeom>
        </p:spPr>
      </p:pic>
      <p:sp>
        <p:nvSpPr>
          <p:cNvPr id="5" name="TextBox 4">
            <a:extLst>
              <a:ext uri="{FF2B5EF4-FFF2-40B4-BE49-F238E27FC236}">
                <a16:creationId xmlns:a16="http://schemas.microsoft.com/office/drawing/2014/main" id="{185D791F-55E5-1C55-7971-39B1478A621B}"/>
              </a:ext>
            </a:extLst>
          </p:cNvPr>
          <p:cNvSpPr txBox="1"/>
          <p:nvPr/>
        </p:nvSpPr>
        <p:spPr>
          <a:xfrm>
            <a:off x="6020344" y="1184223"/>
            <a:ext cx="5925632" cy="5045164"/>
          </a:xfrm>
          <a:prstGeom prst="rect">
            <a:avLst/>
          </a:prstGeom>
          <a:noFill/>
        </p:spPr>
        <p:txBody>
          <a:bodyPr wrap="square">
            <a:spAutoFit/>
          </a:bodyPr>
          <a:lstStyle/>
          <a:p>
            <a:pPr>
              <a:lnSpc>
                <a:spcPct val="150000"/>
              </a:lnSpc>
            </a:pPr>
            <a:r>
              <a:rPr lang="en-AU" sz="4400" dirty="0"/>
              <a:t>Ravi is going to spin this spinner </a:t>
            </a:r>
            <a:r>
              <a:rPr lang="en-AU" sz="4400" b="1" dirty="0"/>
              <a:t>12 times</a:t>
            </a:r>
            <a:r>
              <a:rPr lang="en-AU" sz="4400" dirty="0"/>
              <a:t>. </a:t>
            </a:r>
            <a:r>
              <a:rPr lang="en-AU" sz="4400" b="1" dirty="0"/>
              <a:t>Predict</a:t>
            </a:r>
            <a:r>
              <a:rPr lang="en-AU" sz="4400" dirty="0"/>
              <a:t> how many times the spinner </a:t>
            </a:r>
            <a:r>
              <a:rPr lang="en-AU" sz="4400" b="1" dirty="0"/>
              <a:t>will </a:t>
            </a:r>
            <a:r>
              <a:rPr lang="en-AU" sz="4400" dirty="0"/>
              <a:t>land on </a:t>
            </a:r>
            <a:r>
              <a:rPr lang="en-AU" sz="4400" b="1" dirty="0">
                <a:solidFill>
                  <a:srgbClr val="7030A0"/>
                </a:solidFill>
              </a:rPr>
              <a:t>purple</a:t>
            </a:r>
            <a:r>
              <a:rPr lang="en-AU" sz="4400" dirty="0">
                <a:solidFill>
                  <a:srgbClr val="7030A0"/>
                </a:solidFill>
              </a:rPr>
              <a: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expanding number notation (1)</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descr="Six&#10;Ninety&#10;Thousand&#10;Hundred&#10;Three&#10;One&#10;Four">
            <a:extLst>
              <a:ext uri="{FF2B5EF4-FFF2-40B4-BE49-F238E27FC236}">
                <a16:creationId xmlns:a16="http://schemas.microsoft.com/office/drawing/2014/main" id="{CAB9CA23-714F-7EB8-03B4-B2E0AF1696AD}"/>
              </a:ext>
            </a:extLst>
          </p:cNvPr>
          <p:cNvSpPr txBox="1"/>
          <p:nvPr/>
        </p:nvSpPr>
        <p:spPr>
          <a:xfrm>
            <a:off x="2705100" y="1199069"/>
            <a:ext cx="8547100" cy="5045164"/>
          </a:xfrm>
          <a:prstGeom prst="rect">
            <a:avLst/>
          </a:prstGeom>
          <a:noFill/>
        </p:spPr>
        <p:txBody>
          <a:bodyPr wrap="square">
            <a:spAutoFit/>
          </a:bodyPr>
          <a:lstStyle/>
          <a:p>
            <a:pPr>
              <a:lnSpc>
                <a:spcPct val="150000"/>
              </a:lnSpc>
            </a:pPr>
            <a:r>
              <a:rPr lang="en-AU" sz="4400" b="0" i="0" dirty="0">
                <a:solidFill>
                  <a:srgbClr val="000000"/>
                </a:solidFill>
                <a:effectLst/>
                <a:latin typeface="Arial" panose="020B0604020202020204" pitchFamily="34" charset="0"/>
                <a:cs typeface="Arial" panose="020B0604020202020204" pitchFamily="34" charset="0"/>
              </a:rPr>
              <a:t>six									and</a:t>
            </a:r>
          </a:p>
          <a:p>
            <a:pPr>
              <a:lnSpc>
                <a:spcPct val="150000"/>
              </a:lnSpc>
            </a:pPr>
            <a:r>
              <a:rPr lang="en-AU" sz="4400" b="0" i="0" dirty="0">
                <a:solidFill>
                  <a:srgbClr val="000000"/>
                </a:solidFill>
                <a:effectLst/>
                <a:latin typeface="Arial" panose="020B0604020202020204" pitchFamily="34" charset="0"/>
                <a:cs typeface="Arial" panose="020B0604020202020204" pitchFamily="34" charset="0"/>
              </a:rPr>
              <a:t>ninety							</a:t>
            </a:r>
            <a:r>
              <a:rPr lang="en-AU" sz="4400" dirty="0">
                <a:solidFill>
                  <a:srgbClr val="000000"/>
                </a:solidFill>
                <a:latin typeface="Arial" panose="020B0604020202020204" pitchFamily="34" charset="0"/>
                <a:cs typeface="Arial" panose="020B0604020202020204" pitchFamily="34" charset="0"/>
              </a:rPr>
              <a:t>	one</a:t>
            </a:r>
          </a:p>
          <a:p>
            <a:pPr>
              <a:lnSpc>
                <a:spcPct val="150000"/>
              </a:lnSpc>
            </a:pPr>
            <a:r>
              <a:rPr lang="en-AU" sz="4400" b="0" i="0" dirty="0">
                <a:solidFill>
                  <a:srgbClr val="000000"/>
                </a:solidFill>
                <a:effectLst/>
                <a:latin typeface="Arial" panose="020B0604020202020204" pitchFamily="34" charset="0"/>
                <a:cs typeface="Arial" panose="020B0604020202020204" pitchFamily="34" charset="0"/>
              </a:rPr>
              <a:t>thousand							</a:t>
            </a:r>
            <a:r>
              <a:rPr lang="en-AU" sz="4400" dirty="0">
                <a:solidFill>
                  <a:srgbClr val="000000"/>
                </a:solidFill>
                <a:latin typeface="Arial" panose="020B0604020202020204" pitchFamily="34" charset="0"/>
                <a:cs typeface="Arial" panose="020B0604020202020204" pitchFamily="34" charset="0"/>
              </a:rPr>
              <a:t>and</a:t>
            </a:r>
          </a:p>
          <a:p>
            <a:pPr>
              <a:lnSpc>
                <a:spcPct val="150000"/>
              </a:lnSpc>
            </a:pPr>
            <a:r>
              <a:rPr lang="en-AU" sz="4400" b="0" i="0" dirty="0">
                <a:solidFill>
                  <a:srgbClr val="000000"/>
                </a:solidFill>
                <a:effectLst/>
                <a:latin typeface="Arial" panose="020B0604020202020204" pitchFamily="34" charset="0"/>
                <a:cs typeface="Arial" panose="020B0604020202020204" pitchFamily="34" charset="0"/>
              </a:rPr>
              <a:t>hundred 							four</a:t>
            </a:r>
            <a:endParaRPr lang="en-AU" sz="4400" dirty="0">
              <a:solidFill>
                <a:srgbClr val="000000"/>
              </a:solidFill>
              <a:latin typeface="Arial" panose="020B0604020202020204" pitchFamily="34" charset="0"/>
              <a:cs typeface="Arial" panose="020B0604020202020204" pitchFamily="34" charset="0"/>
            </a:endParaRPr>
          </a:p>
          <a:p>
            <a:pPr>
              <a:lnSpc>
                <a:spcPct val="150000"/>
              </a:lnSpc>
            </a:pPr>
            <a:r>
              <a:rPr lang="en-AU" sz="4400" dirty="0">
                <a:solidFill>
                  <a:srgbClr val="000000"/>
                </a:solidFill>
                <a:latin typeface="Arial" panose="020B0604020202020204" pitchFamily="34" charset="0"/>
                <a:cs typeface="Arial" panose="020B0604020202020204" pitchFamily="34" charset="0"/>
              </a:rPr>
              <a:t>t</a:t>
            </a:r>
            <a:r>
              <a:rPr lang="en-AU" sz="4400" b="0" i="0" dirty="0">
                <a:solidFill>
                  <a:srgbClr val="000000"/>
                </a:solidFill>
                <a:effectLst/>
                <a:latin typeface="Arial" panose="020B0604020202020204" pitchFamily="34" charset="0"/>
                <a:cs typeface="Arial" panose="020B0604020202020204" pitchFamily="34" charset="0"/>
              </a:rPr>
              <a:t>hree</a:t>
            </a:r>
            <a:endParaRPr lang="en-AU" sz="4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AE06-4C54-07FE-9376-0A6547718A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E77F34-1F4C-9C50-2653-609100E3E068}"/>
              </a:ext>
            </a:extLst>
          </p:cNvPr>
          <p:cNvSpPr>
            <a:spLocks noGrp="1"/>
          </p:cNvSpPr>
          <p:nvPr>
            <p:ph type="title"/>
          </p:nvPr>
        </p:nvSpPr>
        <p:spPr>
          <a:xfrm>
            <a:off x="360000" y="360000"/>
            <a:ext cx="10367268" cy="545601"/>
          </a:xfrm>
        </p:spPr>
        <p:txBody>
          <a:bodyPr/>
          <a:lstStyle/>
          <a:p>
            <a:r>
              <a:rPr lang="en-AU" dirty="0"/>
              <a:t>Activity 7 – expanding number notation (2)</a:t>
            </a:r>
          </a:p>
        </p:txBody>
      </p:sp>
      <p:sp>
        <p:nvSpPr>
          <p:cNvPr id="2" name="Slide Number Placeholder 1">
            <a:extLst>
              <a:ext uri="{FF2B5EF4-FFF2-40B4-BE49-F238E27FC236}">
                <a16:creationId xmlns:a16="http://schemas.microsoft.com/office/drawing/2014/main" id="{A3E11684-E7E9-C04A-89C2-5964ACBF2B6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449F3DDA-0551-A279-1631-B10411820C7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hree questions from A - C with jumbled number words which need to be arranged to make a 6-digit number.&#10;&#10;A. seven and seven and hundred thousand fifty five nine hundred&#10;&#10;B. hundred three thousand and four three nine and hundred ninety&#10;&#10;C. eight hundred and and nine sixty thousand five forty one hundred">
            <a:extLst>
              <a:ext uri="{FF2B5EF4-FFF2-40B4-BE49-F238E27FC236}">
                <a16:creationId xmlns:a16="http://schemas.microsoft.com/office/drawing/2014/main" id="{7A00E7AA-6797-519E-25C0-A4FA07F1B6BE}"/>
              </a:ext>
            </a:extLst>
          </p:cNvPr>
          <p:cNvPicPr>
            <a:picLocks noChangeAspect="1"/>
          </p:cNvPicPr>
          <p:nvPr/>
        </p:nvPicPr>
        <p:blipFill>
          <a:blip r:embed="rId4">
            <a:extLst>
              <a:ext uri="{28A0092B-C50C-407E-A947-70E740481C1C}">
                <a14:useLocalDpi xmlns:a14="http://schemas.microsoft.com/office/drawing/2010/main" val="0"/>
              </a:ext>
            </a:extLst>
          </a:blip>
          <a:srcRect b="33889"/>
          <a:stretch>
            <a:fillRect/>
          </a:stretch>
        </p:blipFill>
        <p:spPr>
          <a:xfrm>
            <a:off x="704426" y="1162050"/>
            <a:ext cx="10783147" cy="5335950"/>
          </a:xfrm>
          <a:prstGeom prst="rect">
            <a:avLst/>
          </a:prstGeom>
        </p:spPr>
      </p:pic>
    </p:spTree>
    <p:extLst>
      <p:ext uri="{BB962C8B-B14F-4D97-AF65-F5344CB8AC3E}">
        <p14:creationId xmlns:p14="http://schemas.microsoft.com/office/powerpoint/2010/main" val="89174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2535774"/>
            <a:ext cx="11243037" cy="893226"/>
          </a:xfrm>
        </p:spPr>
        <p:txBody>
          <a:bodyPr/>
          <a:lstStyle/>
          <a:p>
            <a:r>
              <a:rPr lang="en-AU" sz="4400" dirty="0"/>
              <a:t>605 124 = 600 000 + 50 000 + 100 + 20 + 4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0B415B3-A976-8393-EF7F-2F965B82293C}"/>
              </a:ext>
            </a:extLst>
          </p:cNvPr>
          <p:cNvSpPr txBox="1"/>
          <p:nvPr/>
        </p:nvSpPr>
        <p:spPr>
          <a:xfrm>
            <a:off x="523875" y="1028856"/>
            <a:ext cx="11422101" cy="6955750"/>
          </a:xfrm>
          <a:prstGeom prst="rect">
            <a:avLst/>
          </a:prstGeom>
          <a:noFill/>
        </p:spPr>
        <p:txBody>
          <a:bodyPr wrap="square">
            <a:spAutoFit/>
          </a:bodyPr>
          <a:lstStyle/>
          <a:p>
            <a:r>
              <a:rPr lang="en-AU" sz="4400" dirty="0"/>
              <a:t>Record your answers:</a:t>
            </a:r>
          </a:p>
          <a:p>
            <a:pPr marL="342900" indent="-342900">
              <a:lnSpc>
                <a:spcPct val="150000"/>
              </a:lnSpc>
              <a:buFont typeface="Arial" panose="020B0604020202020204" pitchFamily="34" charset="0"/>
              <a:buChar char="•"/>
            </a:pPr>
            <a:r>
              <a:rPr lang="en-AU" sz="4400" dirty="0"/>
              <a:t>How many </a:t>
            </a:r>
            <a:r>
              <a:rPr lang="en-AU" sz="4400" b="1" dirty="0"/>
              <a:t>wholes</a:t>
            </a:r>
            <a:r>
              <a:rPr lang="en-AU" sz="4400" dirty="0"/>
              <a:t> can you make with </a:t>
            </a:r>
            <a:r>
              <a:rPr lang="en-AU" sz="4400" b="1" dirty="0"/>
              <a:t>7 halves</a:t>
            </a:r>
            <a:r>
              <a:rPr lang="en-AU" sz="4400" dirty="0"/>
              <a:t>?</a:t>
            </a:r>
          </a:p>
          <a:p>
            <a:pPr marL="342900" indent="-342900">
              <a:lnSpc>
                <a:spcPct val="150000"/>
              </a:lnSpc>
              <a:buFont typeface="Arial" panose="020B0604020202020204" pitchFamily="34" charset="0"/>
              <a:buChar char="•"/>
            </a:pPr>
            <a:r>
              <a:rPr lang="en-AU" sz="4400" dirty="0"/>
              <a:t>How many halves will be </a:t>
            </a:r>
            <a:r>
              <a:rPr lang="en-AU" sz="4400" b="1" dirty="0"/>
              <a:t>left over</a:t>
            </a:r>
            <a:r>
              <a:rPr lang="en-AU" sz="4400" dirty="0"/>
              <a:t>?</a:t>
            </a:r>
          </a:p>
          <a:p>
            <a:pPr marL="342900" indent="-342900">
              <a:lnSpc>
                <a:spcPct val="150000"/>
              </a:lnSpc>
              <a:buFont typeface="Arial" panose="020B0604020202020204" pitchFamily="34" charset="0"/>
              <a:buChar char="•"/>
            </a:pPr>
            <a:r>
              <a:rPr lang="en-AU" sz="4400" dirty="0"/>
              <a:t>How can we represent </a:t>
            </a:r>
            <a:r>
              <a:rPr lang="en-AU" sz="4400" b="1" dirty="0"/>
              <a:t>7 halves </a:t>
            </a:r>
            <a:r>
              <a:rPr lang="en-AU" sz="4400" dirty="0"/>
              <a:t>as </a:t>
            </a:r>
            <a:r>
              <a:rPr lang="en-AU" sz="4400" b="1" dirty="0"/>
              <a:t>wholes and fractions</a:t>
            </a:r>
            <a:r>
              <a:rPr lang="en-AU" sz="4400" dirty="0"/>
              <a:t>?</a:t>
            </a:r>
          </a:p>
          <a:p>
            <a:pPr marL="342900" indent="-342900">
              <a:buFont typeface="Arial" panose="020B0604020202020204" pitchFamily="34" charset="0"/>
              <a:buChar char="•"/>
            </a:pPr>
            <a:endParaRPr lang="en-AU" dirty="0"/>
          </a:p>
          <a:p>
            <a:pPr marL="342900" indent="-342900">
              <a:buFont typeface="Arial" panose="020B0604020202020204" pitchFamily="34" charset="0"/>
              <a:buChar char="•"/>
            </a:pPr>
            <a:endParaRPr lang="en-AU" dirty="0"/>
          </a:p>
          <a:p>
            <a:pPr marL="342900" indent="-342900">
              <a:buFont typeface="Arial" panose="020B0604020202020204" pitchFamily="34" charset="0"/>
              <a:buChar char="•"/>
            </a:pPr>
            <a:endParaRPr lang="en-AU" dirty="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yellow sun with black text&#10;Times from 12 am to 12 am showing one hour increments from am to pm&#10;">
            <a:extLst>
              <a:ext uri="{FF2B5EF4-FFF2-40B4-BE49-F238E27FC236}">
                <a16:creationId xmlns:a16="http://schemas.microsoft.com/office/drawing/2014/main" id="{89FAD8DA-9BAC-0DA1-BC01-6DEB91EC7809}"/>
              </a:ext>
            </a:extLst>
          </p:cNvPr>
          <p:cNvPicPr>
            <a:picLocks noChangeAspect="1"/>
          </p:cNvPicPr>
          <p:nvPr/>
        </p:nvPicPr>
        <p:blipFill rotWithShape="1">
          <a:blip r:embed="rId4"/>
          <a:srcRect r="900" b="5384"/>
          <a:stretch>
            <a:fillRect/>
          </a:stretch>
        </p:blipFill>
        <p:spPr bwMode="auto">
          <a:xfrm>
            <a:off x="2622430" y="887113"/>
            <a:ext cx="7650577" cy="409895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D6915240-857A-AD36-927A-FACCFCA6405F}"/>
              </a:ext>
            </a:extLst>
          </p:cNvPr>
          <p:cNvSpPr txBox="1"/>
          <p:nvPr/>
        </p:nvSpPr>
        <p:spPr>
          <a:xfrm>
            <a:off x="543761" y="4663668"/>
            <a:ext cx="11104476" cy="1998176"/>
          </a:xfrm>
          <a:prstGeom prst="rect">
            <a:avLst/>
          </a:prstGeom>
          <a:noFill/>
        </p:spPr>
        <p:txBody>
          <a:bodyPr wrap="square">
            <a:spAutoFit/>
          </a:bodyPr>
          <a:lstStyle/>
          <a:p>
            <a:pPr algn="ctr">
              <a:lnSpc>
                <a:spcPct val="150000"/>
              </a:lnSpc>
            </a:pPr>
            <a:r>
              <a:rPr lang="en-AU" sz="4400" dirty="0"/>
              <a:t>List 3 things you might do </a:t>
            </a:r>
          </a:p>
          <a:p>
            <a:pPr algn="ctr">
              <a:lnSpc>
                <a:spcPct val="150000"/>
              </a:lnSpc>
            </a:pPr>
            <a:r>
              <a:rPr lang="en-AU" sz="4400" dirty="0"/>
              <a:t>between </a:t>
            </a:r>
            <a:r>
              <a:rPr lang="en-AU" sz="4400" b="1" dirty="0"/>
              <a:t>9:00am</a:t>
            </a:r>
            <a:r>
              <a:rPr lang="en-AU" sz="4400" dirty="0"/>
              <a:t> and </a:t>
            </a:r>
            <a:r>
              <a:rPr lang="en-AU" sz="4400" b="1" dirty="0"/>
              <a:t>3:00 pm</a:t>
            </a:r>
            <a:r>
              <a:rPr lang="en-AU" dirty="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2DC2481-BEC0-5B4B-3DDF-2832026D5CB3}"/>
              </a:ext>
            </a:extLst>
          </p:cNvPr>
          <p:cNvSpPr txBox="1"/>
          <p:nvPr/>
        </p:nvSpPr>
        <p:spPr>
          <a:xfrm>
            <a:off x="435936" y="1348723"/>
            <a:ext cx="10935070" cy="915500"/>
          </a:xfrm>
          <a:prstGeom prst="rect">
            <a:avLst/>
          </a:prstGeom>
          <a:noFill/>
        </p:spPr>
        <p:txBody>
          <a:bodyPr wrap="square" lIns="0" tIns="0" rIns="0" bIns="0" rtlCol="0">
            <a:noAutofit/>
          </a:bodyPr>
          <a:lstStyle/>
          <a:p>
            <a:pPr algn="ctr">
              <a:lnSpc>
                <a:spcPct val="150000"/>
              </a:lnSpc>
            </a:pPr>
            <a:r>
              <a:rPr lang="en-AU" sz="3200" dirty="0"/>
              <a:t>Stevie solved 628 – 53 using a </a:t>
            </a:r>
            <a:r>
              <a:rPr lang="en-AU" sz="3200" b="1" dirty="0"/>
              <a:t>vertical algorithm</a:t>
            </a:r>
            <a:r>
              <a:rPr lang="en-AU" sz="3200" dirty="0"/>
              <a:t>. Use the table below to </a:t>
            </a:r>
            <a:r>
              <a:rPr lang="en-AU" sz="3200" b="1" dirty="0"/>
              <a:t>represent</a:t>
            </a:r>
            <a:r>
              <a:rPr lang="en-AU" sz="3200" dirty="0"/>
              <a:t> her thinking by drawing </a:t>
            </a:r>
            <a:r>
              <a:rPr lang="en-AU" sz="3200" b="1" dirty="0"/>
              <a:t>MAB materials</a:t>
            </a:r>
            <a:r>
              <a:rPr lang="en-AU" sz="3200" dirty="0"/>
              <a:t>. </a:t>
            </a:r>
          </a:p>
        </p:txBody>
      </p:sp>
      <p:sp>
        <p:nvSpPr>
          <p:cNvPr id="7" name="TextBox 6" descr="A vertical algorithm showing 628 – 53 with trading. ">
            <a:extLst>
              <a:ext uri="{FF2B5EF4-FFF2-40B4-BE49-F238E27FC236}">
                <a16:creationId xmlns:a16="http://schemas.microsoft.com/office/drawing/2014/main" id="{F3E54E1A-C1FA-120D-42BC-2D09B235DD6C}"/>
              </a:ext>
            </a:extLst>
          </p:cNvPr>
          <p:cNvSpPr txBox="1"/>
          <p:nvPr/>
        </p:nvSpPr>
        <p:spPr>
          <a:xfrm>
            <a:off x="871871" y="3429000"/>
            <a:ext cx="2445488" cy="2748253"/>
          </a:xfrm>
          <a:prstGeom prst="rect">
            <a:avLst/>
          </a:prstGeom>
          <a:noFill/>
          <a:ln>
            <a:solidFill>
              <a:schemeClr val="bg1">
                <a:lumMod val="85000"/>
              </a:schemeClr>
            </a:solidFill>
          </a:ln>
        </p:spPr>
        <p:txBody>
          <a:bodyPr wrap="square">
            <a:spAutoFit/>
          </a:bodyPr>
          <a:lstStyle/>
          <a:p>
            <a:pPr>
              <a:lnSpc>
                <a:spcPct val="150000"/>
              </a:lnSpc>
            </a:pPr>
            <a:r>
              <a:rPr lang="en-AU" sz="4000" dirty="0"/>
              <a:t>   6 2 8</a:t>
            </a:r>
          </a:p>
          <a:p>
            <a:pPr>
              <a:lnSpc>
                <a:spcPct val="150000"/>
              </a:lnSpc>
            </a:pPr>
            <a:r>
              <a:rPr lang="en-AU" sz="4000" dirty="0"/>
              <a:t>-     5 3</a:t>
            </a:r>
          </a:p>
          <a:p>
            <a:pPr>
              <a:lnSpc>
                <a:spcPct val="150000"/>
              </a:lnSpc>
            </a:pPr>
            <a:r>
              <a:rPr lang="en-AU" sz="4000" dirty="0">
                <a:solidFill>
                  <a:schemeClr val="tx2"/>
                </a:solidFill>
              </a:rPr>
              <a:t>   </a:t>
            </a:r>
            <a:r>
              <a:rPr lang="en-AU" sz="4000" dirty="0">
                <a:solidFill>
                  <a:srgbClr val="0070C0"/>
                </a:solidFill>
              </a:rPr>
              <a:t>7 7 5</a:t>
            </a:r>
            <a:endParaRPr lang="en-AU" sz="2800" dirty="0">
              <a:solidFill>
                <a:srgbClr val="0070C0"/>
              </a:solidFill>
            </a:endParaRPr>
          </a:p>
        </p:txBody>
      </p:sp>
      <p:cxnSp>
        <p:nvCxnSpPr>
          <p:cNvPr id="8" name="Straight Connector 7">
            <a:extLst>
              <a:ext uri="{FF2B5EF4-FFF2-40B4-BE49-F238E27FC236}">
                <a16:creationId xmlns:a16="http://schemas.microsoft.com/office/drawing/2014/main" id="{D84A7F06-4547-4591-A155-CEEFAF5282F9}"/>
              </a:ext>
              <a:ext uri="{C183D7F6-B498-43B3-948B-1728B52AA6E4}">
                <adec:decorative xmlns:adec="http://schemas.microsoft.com/office/drawing/2017/decorative" val="1"/>
              </a:ext>
            </a:extLst>
          </p:cNvPr>
          <p:cNvCxnSpPr>
            <a:cxnSpLocks/>
          </p:cNvCxnSpPr>
          <p:nvPr/>
        </p:nvCxnSpPr>
        <p:spPr>
          <a:xfrm>
            <a:off x="994541" y="5266132"/>
            <a:ext cx="21717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98DA39-5EBD-7983-D0FE-B8EC37CE3968}"/>
              </a:ext>
            </a:extLst>
          </p:cNvPr>
          <p:cNvSpPr txBox="1"/>
          <p:nvPr/>
        </p:nvSpPr>
        <p:spPr>
          <a:xfrm>
            <a:off x="1699437" y="3681900"/>
            <a:ext cx="318977" cy="313659"/>
          </a:xfrm>
          <a:prstGeom prst="rect">
            <a:avLst/>
          </a:prstGeom>
          <a:noFill/>
        </p:spPr>
        <p:txBody>
          <a:bodyPr wrap="square" lIns="0" tIns="0" rIns="0" bIns="0" rtlCol="0">
            <a:noAutofit/>
          </a:bodyPr>
          <a:lstStyle/>
          <a:p>
            <a:pPr algn="l"/>
            <a:r>
              <a:rPr lang="en-AU" sz="2000">
                <a:solidFill>
                  <a:srgbClr val="0070C0"/>
                </a:solidFill>
              </a:rPr>
              <a:t>1</a:t>
            </a:r>
          </a:p>
        </p:txBody>
      </p:sp>
      <p:sp>
        <p:nvSpPr>
          <p:cNvPr id="10" name="TextBox 9">
            <a:extLst>
              <a:ext uri="{FF2B5EF4-FFF2-40B4-BE49-F238E27FC236}">
                <a16:creationId xmlns:a16="http://schemas.microsoft.com/office/drawing/2014/main" id="{E5ECFA87-B75E-A3C8-8165-B1B4B3612CF9}"/>
              </a:ext>
            </a:extLst>
          </p:cNvPr>
          <p:cNvSpPr txBox="1"/>
          <p:nvPr/>
        </p:nvSpPr>
        <p:spPr>
          <a:xfrm>
            <a:off x="1235147" y="3653802"/>
            <a:ext cx="318977" cy="313659"/>
          </a:xfrm>
          <a:prstGeom prst="rect">
            <a:avLst/>
          </a:prstGeom>
          <a:noFill/>
        </p:spPr>
        <p:txBody>
          <a:bodyPr wrap="square" lIns="0" tIns="0" rIns="0" bIns="0" rtlCol="0">
            <a:noAutofit/>
          </a:bodyPr>
          <a:lstStyle/>
          <a:p>
            <a:pPr algn="l"/>
            <a:r>
              <a:rPr lang="en-AU" sz="2000">
                <a:solidFill>
                  <a:srgbClr val="0070C0"/>
                </a:solidFill>
              </a:rPr>
              <a:t>5</a:t>
            </a:r>
          </a:p>
        </p:txBody>
      </p:sp>
      <p:cxnSp>
        <p:nvCxnSpPr>
          <p:cNvPr id="11" name="Straight Connector 10">
            <a:extLst>
              <a:ext uri="{FF2B5EF4-FFF2-40B4-BE49-F238E27FC236}">
                <a16:creationId xmlns:a16="http://schemas.microsoft.com/office/drawing/2014/main" id="{CC9CAD21-0BDE-B148-6E8B-26DB910D23F4}"/>
              </a:ext>
              <a:ext uri="{C183D7F6-B498-43B3-948B-1728B52AA6E4}">
                <adec:decorative xmlns:adec="http://schemas.microsoft.com/office/drawing/2017/decorative" val="1"/>
              </a:ext>
            </a:extLst>
          </p:cNvPr>
          <p:cNvCxnSpPr>
            <a:cxnSpLocks/>
          </p:cNvCxnSpPr>
          <p:nvPr/>
        </p:nvCxnSpPr>
        <p:spPr>
          <a:xfrm flipH="1">
            <a:off x="1412357" y="3681900"/>
            <a:ext cx="287080" cy="571123"/>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B89FD1B4-C34D-A574-46F1-239B49AEE80D}"/>
              </a:ext>
            </a:extLst>
          </p:cNvPr>
          <p:cNvGraphicFramePr>
            <a:graphicFrameLocks noGrp="1"/>
          </p:cNvGraphicFramePr>
          <p:nvPr>
            <p:extLst>
              <p:ext uri="{D42A27DB-BD31-4B8C-83A1-F6EECF244321}">
                <p14:modId xmlns:p14="http://schemas.microsoft.com/office/powerpoint/2010/main" val="364054619"/>
              </p:ext>
            </p:extLst>
          </p:nvPr>
        </p:nvGraphicFramePr>
        <p:xfrm>
          <a:off x="4217845" y="3810631"/>
          <a:ext cx="7266155" cy="2725283"/>
        </p:xfrm>
        <a:graphic>
          <a:graphicData uri="http://schemas.openxmlformats.org/drawingml/2006/table">
            <a:tbl>
              <a:tblPr firstRow="1" bandRow="1">
                <a:tableStyleId>{5A111915-BE36-4E01-A7E5-04B1672EAD32}</a:tableStyleId>
              </a:tblPr>
              <a:tblGrid>
                <a:gridCol w="990840">
                  <a:extLst>
                    <a:ext uri="{9D8B030D-6E8A-4147-A177-3AD203B41FA5}">
                      <a16:colId xmlns:a16="http://schemas.microsoft.com/office/drawing/2014/main" val="1005420287"/>
                    </a:ext>
                  </a:extLst>
                </a:gridCol>
                <a:gridCol w="2642237">
                  <a:extLst>
                    <a:ext uri="{9D8B030D-6E8A-4147-A177-3AD203B41FA5}">
                      <a16:colId xmlns:a16="http://schemas.microsoft.com/office/drawing/2014/main" val="1130613189"/>
                    </a:ext>
                  </a:extLst>
                </a:gridCol>
                <a:gridCol w="1816539">
                  <a:extLst>
                    <a:ext uri="{9D8B030D-6E8A-4147-A177-3AD203B41FA5}">
                      <a16:colId xmlns:a16="http://schemas.microsoft.com/office/drawing/2014/main" val="1604603986"/>
                    </a:ext>
                  </a:extLst>
                </a:gridCol>
                <a:gridCol w="1816539">
                  <a:extLst>
                    <a:ext uri="{9D8B030D-6E8A-4147-A177-3AD203B41FA5}">
                      <a16:colId xmlns:a16="http://schemas.microsoft.com/office/drawing/2014/main" val="2559047639"/>
                    </a:ext>
                  </a:extLst>
                </a:gridCol>
              </a:tblGrid>
              <a:tr h="722039">
                <a:tc>
                  <a:txBody>
                    <a:bodyPr/>
                    <a:lstStyle/>
                    <a:p>
                      <a:pPr algn="ctr"/>
                      <a:endParaRPr lang="en-AU" sz="3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986303205"/>
                  </a:ext>
                </a:extLst>
              </a:tr>
              <a:tr h="667748">
                <a:tc>
                  <a:txBody>
                    <a:bodyPr/>
                    <a:lstStyle/>
                    <a:p>
                      <a:pPr algn="ctr"/>
                      <a:r>
                        <a:rPr lang="en-AU" sz="3200"/>
                        <a:t>628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4567567"/>
                  </a:ext>
                </a:extLst>
              </a:tr>
              <a:tr h="667748">
                <a:tc>
                  <a:txBody>
                    <a:bodyPr/>
                    <a:lstStyle/>
                    <a:p>
                      <a:pPr algn="ctr"/>
                      <a:r>
                        <a:rPr lang="en-AU" sz="3200" dirty="0"/>
                        <a:t>- 53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4943808"/>
                  </a:ext>
                </a:extLst>
              </a:tr>
              <a:tr h="667748">
                <a:tc>
                  <a:txBody>
                    <a:bodyPr/>
                    <a:lstStyle/>
                    <a:p>
                      <a:pPr algn="ctr"/>
                      <a:r>
                        <a:rPr lang="en-AU" sz="32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169191"/>
                  </a:ext>
                </a:extLst>
              </a:tr>
            </a:tbl>
          </a:graphicData>
        </a:graphic>
      </p:graphicFrame>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n image of a bookshelf arranged as a 3×3 grid labelled with grid references.&#10;&#10;3A: Two orange books&#10;&#10;3B: Two pink books&#10;&#10;3C: One blue book&#10;&#10;2A: One black book&#10;&#10;2B: Two stacked purple books&#10;&#10;2C: One yellow book&#10;&#10;1A: Four red books&#10;&#10;1B: Three dark blue books&#10;&#10;1C: Two green books">
            <a:extLst>
              <a:ext uri="{FF2B5EF4-FFF2-40B4-BE49-F238E27FC236}">
                <a16:creationId xmlns:a16="http://schemas.microsoft.com/office/drawing/2014/main" id="{2812E229-00F8-3BBC-A49A-80E1B4AF991F}"/>
              </a:ext>
            </a:extLst>
          </p:cNvPr>
          <p:cNvPicPr>
            <a:picLocks noChangeAspect="1"/>
          </p:cNvPicPr>
          <p:nvPr/>
        </p:nvPicPr>
        <p:blipFill>
          <a:blip r:embed="rId4"/>
          <a:stretch>
            <a:fillRect/>
          </a:stretch>
        </p:blipFill>
        <p:spPr>
          <a:xfrm>
            <a:off x="360000" y="1447800"/>
            <a:ext cx="4352410" cy="4686455"/>
          </a:xfrm>
          <a:prstGeom prst="rect">
            <a:avLst/>
          </a:prstGeom>
        </p:spPr>
      </p:pic>
      <p:sp>
        <p:nvSpPr>
          <p:cNvPr id="7" name="TextBox 6">
            <a:extLst>
              <a:ext uri="{FF2B5EF4-FFF2-40B4-BE49-F238E27FC236}">
                <a16:creationId xmlns:a16="http://schemas.microsoft.com/office/drawing/2014/main" id="{9D2D2070-EFD7-B079-82D6-FDD033DCD146}"/>
              </a:ext>
            </a:extLst>
          </p:cNvPr>
          <p:cNvSpPr txBox="1"/>
          <p:nvPr/>
        </p:nvSpPr>
        <p:spPr>
          <a:xfrm>
            <a:off x="4712410" y="1447800"/>
            <a:ext cx="7736771" cy="5078313"/>
          </a:xfrm>
          <a:prstGeom prst="rect">
            <a:avLst/>
          </a:prstGeom>
          <a:noFill/>
        </p:spPr>
        <p:txBody>
          <a:bodyPr wrap="square">
            <a:spAutoFit/>
          </a:bodyPr>
          <a:lstStyle/>
          <a:p>
            <a:pPr>
              <a:lnSpc>
                <a:spcPct val="150000"/>
              </a:lnSpc>
            </a:pPr>
            <a:r>
              <a:rPr lang="en-AU" sz="3600" b="0" i="0" dirty="0">
                <a:solidFill>
                  <a:srgbClr val="000000"/>
                </a:solidFill>
                <a:effectLst/>
                <a:latin typeface="Arial" panose="020B0604020202020204" pitchFamily="34" charset="0"/>
                <a:cs typeface="Arial" panose="020B0604020202020204" pitchFamily="34" charset="0"/>
              </a:rPr>
              <a:t>Use the </a:t>
            </a:r>
            <a:r>
              <a:rPr lang="en-AU" sz="3600" b="1" i="0" dirty="0">
                <a:solidFill>
                  <a:srgbClr val="000000"/>
                </a:solidFill>
                <a:effectLst/>
                <a:latin typeface="Arial" panose="020B0604020202020204" pitchFamily="34" charset="0"/>
                <a:cs typeface="Arial" panose="020B0604020202020204" pitchFamily="34" charset="0"/>
              </a:rPr>
              <a:t>grid reference </a:t>
            </a:r>
            <a:r>
              <a:rPr lang="en-AU" sz="3600" b="0" i="0" dirty="0">
                <a:solidFill>
                  <a:srgbClr val="000000"/>
                </a:solidFill>
                <a:effectLst/>
                <a:latin typeface="Arial" panose="020B0604020202020204" pitchFamily="34" charset="0"/>
                <a:cs typeface="Arial" panose="020B0604020202020204" pitchFamily="34" charset="0"/>
              </a:rPr>
              <a:t>to write the </a:t>
            </a:r>
            <a:r>
              <a:rPr lang="en-AU" sz="3600" b="1" i="0" dirty="0">
                <a:solidFill>
                  <a:srgbClr val="000000"/>
                </a:solidFill>
                <a:effectLst/>
                <a:latin typeface="Arial" panose="020B0604020202020204" pitchFamily="34" charset="0"/>
                <a:cs typeface="Arial" panose="020B0604020202020204" pitchFamily="34" charset="0"/>
              </a:rPr>
              <a:t>location</a:t>
            </a:r>
            <a:r>
              <a:rPr lang="en-AU" sz="3600" b="0" i="0" dirty="0">
                <a:solidFill>
                  <a:srgbClr val="000000"/>
                </a:solidFill>
                <a:effectLst/>
                <a:latin typeface="Arial" panose="020B0604020202020204" pitchFamily="34" charset="0"/>
                <a:cs typeface="Arial" panose="020B0604020202020204" pitchFamily="34" charset="0"/>
              </a:rPr>
              <a:t> of the following items:</a:t>
            </a:r>
          </a:p>
          <a:p>
            <a:endParaRPr lang="en-AU" sz="3600" dirty="0">
              <a:solidFill>
                <a:srgbClr val="000000"/>
              </a:solidFill>
              <a:latin typeface="Arial" panose="020B0604020202020204" pitchFamily="34" charset="0"/>
              <a:cs typeface="Arial" panose="020B0604020202020204" pitchFamily="34" charset="0"/>
            </a:endParaRPr>
          </a:p>
          <a:p>
            <a:pPr marL="571500" indent="-571500">
              <a:buFont typeface="Arial" panose="020B0604020202020204" pitchFamily="34" charset="0"/>
              <a:buChar char="•"/>
            </a:pPr>
            <a:r>
              <a:rPr lang="en-AU" sz="3600" dirty="0">
                <a:solidFill>
                  <a:srgbClr val="000000"/>
                </a:solidFill>
                <a:latin typeface="Arial" panose="020B0604020202020204" pitchFamily="34" charset="0"/>
                <a:cs typeface="Arial" panose="020B0604020202020204" pitchFamily="34" charset="0"/>
              </a:rPr>
              <a:t>the orange books</a:t>
            </a:r>
          </a:p>
          <a:p>
            <a:pPr marL="571500" indent="-571500">
              <a:buFont typeface="Arial" panose="020B0604020202020204" pitchFamily="34" charset="0"/>
              <a:buChar char="•"/>
            </a:pPr>
            <a:endParaRPr lang="en-AU" sz="3600" dirty="0">
              <a:solidFill>
                <a:srgbClr val="000000"/>
              </a:solidFill>
              <a:latin typeface="Arial" panose="020B0604020202020204" pitchFamily="34" charset="0"/>
              <a:cs typeface="Arial" panose="020B0604020202020204" pitchFamily="34" charset="0"/>
            </a:endParaRPr>
          </a:p>
          <a:p>
            <a:pPr marL="571500" indent="-571500">
              <a:buFont typeface="Arial" panose="020B0604020202020204" pitchFamily="34" charset="0"/>
              <a:buChar char="•"/>
            </a:pPr>
            <a:r>
              <a:rPr lang="en-AU" sz="3600" dirty="0">
                <a:solidFill>
                  <a:srgbClr val="000000"/>
                </a:solidFill>
                <a:latin typeface="Arial" panose="020B0604020202020204" pitchFamily="34" charset="0"/>
                <a:cs typeface="Arial" panose="020B0604020202020204" pitchFamily="34" charset="0"/>
              </a:rPr>
              <a:t>the green books</a:t>
            </a:r>
          </a:p>
          <a:p>
            <a:pPr marL="571500" indent="-571500">
              <a:buFont typeface="Arial" panose="020B0604020202020204" pitchFamily="34" charset="0"/>
              <a:buChar char="•"/>
            </a:pPr>
            <a:endParaRPr lang="en-AU" sz="3600" dirty="0">
              <a:solidFill>
                <a:srgbClr val="000000"/>
              </a:solidFill>
              <a:latin typeface="Arial" panose="020B0604020202020204" pitchFamily="34" charset="0"/>
              <a:cs typeface="Arial" panose="020B0604020202020204" pitchFamily="34" charset="0"/>
            </a:endParaRPr>
          </a:p>
          <a:p>
            <a:pPr marL="571500" indent="-571500">
              <a:buFont typeface="Arial" panose="020B0604020202020204" pitchFamily="34" charset="0"/>
              <a:buChar char="•"/>
            </a:pPr>
            <a:r>
              <a:rPr lang="en-AU" sz="3600" dirty="0">
                <a:solidFill>
                  <a:srgbClr val="000000"/>
                </a:solidFill>
                <a:latin typeface="Arial" panose="020B0604020202020204" pitchFamily="34" charset="0"/>
                <a:cs typeface="Arial" panose="020B0604020202020204" pitchFamily="34" charset="0"/>
              </a:rPr>
              <a:t>the red books.</a:t>
            </a: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place value expanded number notation</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descr="Six&#10;Ninety&#10;Thousand&#10;Hundred&#10;Three&#10;One&#10;Four">
            <a:extLst>
              <a:ext uri="{FF2B5EF4-FFF2-40B4-BE49-F238E27FC236}">
                <a16:creationId xmlns:a16="http://schemas.microsoft.com/office/drawing/2014/main" id="{8A112F44-EE81-7868-E653-FEAF0F9457D4}"/>
              </a:ext>
            </a:extLst>
          </p:cNvPr>
          <p:cNvSpPr txBox="1"/>
          <p:nvPr/>
        </p:nvSpPr>
        <p:spPr>
          <a:xfrm>
            <a:off x="4874329" y="1903087"/>
            <a:ext cx="2276279" cy="3970318"/>
          </a:xfrm>
          <a:prstGeom prst="rect">
            <a:avLst/>
          </a:prstGeom>
          <a:noFill/>
        </p:spPr>
        <p:txBody>
          <a:bodyPr wrap="square">
            <a:spAutoFit/>
          </a:bodyPr>
          <a:lstStyle/>
          <a:p>
            <a:r>
              <a:rPr lang="en-AU" sz="3600" b="0" i="0" dirty="0">
                <a:solidFill>
                  <a:srgbClr val="000000"/>
                </a:solidFill>
                <a:effectLst/>
                <a:latin typeface="Arial" panose="020B0604020202020204" pitchFamily="34" charset="0"/>
                <a:cs typeface="Arial" panose="020B0604020202020204" pitchFamily="34" charset="0"/>
              </a:rPr>
              <a:t>472 691</a:t>
            </a:r>
          </a:p>
          <a:p>
            <a:endParaRPr lang="en-AU" sz="3600" b="0" i="0" dirty="0">
              <a:solidFill>
                <a:srgbClr val="000000"/>
              </a:solidFill>
              <a:effectLst/>
              <a:latin typeface="Arial" panose="020B0604020202020204" pitchFamily="34" charset="0"/>
              <a:cs typeface="Arial" panose="020B0604020202020204" pitchFamily="34" charset="0"/>
            </a:endParaRPr>
          </a:p>
          <a:p>
            <a:endParaRPr lang="en-AU" sz="3600" b="0" i="0" dirty="0">
              <a:solidFill>
                <a:srgbClr val="000000"/>
              </a:solidFill>
              <a:effectLst/>
              <a:latin typeface="Arial" panose="020B0604020202020204" pitchFamily="34" charset="0"/>
              <a:cs typeface="Arial" panose="020B0604020202020204" pitchFamily="34" charset="0"/>
            </a:endParaRPr>
          </a:p>
          <a:p>
            <a:r>
              <a:rPr lang="en-AU" sz="3600" dirty="0">
                <a:solidFill>
                  <a:srgbClr val="000000"/>
                </a:solidFill>
                <a:latin typeface="Arial" panose="020B0604020202020204" pitchFamily="34" charset="0"/>
                <a:cs typeface="Arial" panose="020B0604020202020204" pitchFamily="34" charset="0"/>
              </a:rPr>
              <a:t>693 543</a:t>
            </a:r>
          </a:p>
          <a:p>
            <a:endParaRPr lang="en-AU" sz="3600" dirty="0">
              <a:solidFill>
                <a:srgbClr val="000000"/>
              </a:solidFill>
              <a:latin typeface="Arial" panose="020B0604020202020204" pitchFamily="34" charset="0"/>
              <a:cs typeface="Arial" panose="020B0604020202020204" pitchFamily="34" charset="0"/>
            </a:endParaRPr>
          </a:p>
          <a:p>
            <a:endParaRPr lang="en-AU" sz="3600" dirty="0">
              <a:solidFill>
                <a:srgbClr val="000000"/>
              </a:solidFill>
              <a:latin typeface="Arial" panose="020B0604020202020204" pitchFamily="34" charset="0"/>
              <a:cs typeface="Arial" panose="020B0604020202020204" pitchFamily="34" charset="0"/>
            </a:endParaRPr>
          </a:p>
          <a:p>
            <a:r>
              <a:rPr lang="en-AU" sz="3600" dirty="0">
                <a:solidFill>
                  <a:srgbClr val="000000"/>
                </a:solidFill>
                <a:latin typeface="Arial" panose="020B0604020202020204" pitchFamily="34" charset="0"/>
                <a:cs typeface="Arial" panose="020B0604020202020204" pitchFamily="34" charset="0"/>
              </a:rPr>
              <a:t>184 397</a:t>
            </a: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choice </a:t>
            </a:r>
            <a:r>
              <a:rPr lang="en-US" dirty="0">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fontAlgn="base"/>
            <a:r>
              <a:rPr lang="en-AU" u="sng" dirty="0">
                <a:hlinkClick r:id="rId6"/>
              </a:rPr>
              <a:t>Mathematics K–10 Syllabus </a:t>
            </a:r>
            <a:r>
              <a:rPr lang="en-AU" dirty="0"/>
              <a:t>© NSW Education Standards Authority (NESA) for and on behalf of the Crown in right of the State of New South Wales, 2022.</a:t>
            </a:r>
            <a:r>
              <a:rPr lang="en-US" dirty="0"/>
              <a:t>​</a:t>
            </a:r>
          </a:p>
          <a:p>
            <a:pPr fontAlgn="base"/>
            <a:r>
              <a:rPr lang="en-AU" u="sng" dirty="0">
                <a:hlinkClick r:id="rId7"/>
              </a:rPr>
              <a:t>National Numeracy Learning Progression </a:t>
            </a:r>
            <a:r>
              <a:rPr lang="en-AU" dirty="0"/>
              <a:t>© Australian Curriculum, Assessment and Reporting Authority (ACARA) 2010 to present, unless otherwise indicated. This material was downloaded from the </a:t>
            </a:r>
            <a:r>
              <a:rPr lang="en-AU" u="sng" dirty="0">
                <a:hlinkClick r:id="rId8"/>
              </a:rPr>
              <a:t>Australian Curriculum</a:t>
            </a:r>
            <a:r>
              <a:rPr lang="en-AU" dirty="0"/>
              <a:t> website (National Numeracy Learning Progression) (accessed 14 November 2025) and was not modified.</a:t>
            </a:r>
            <a:endParaRPr lang="en-US" dirty="0"/>
          </a:p>
          <a:p>
            <a:r>
              <a:rPr lang="en-AU" dirty="0"/>
              <a:t>NSW Education Standards Authority (NESA) (2022) ‘</a:t>
            </a:r>
            <a:r>
              <a:rPr lang="en-AU" u="sng" dirty="0">
                <a:hlinkClick r:id="rId9"/>
              </a:rPr>
              <a:t>Teaching advice for Partitioned fractions B</a:t>
            </a:r>
            <a:r>
              <a:rPr lang="en-AU" dirty="0"/>
              <a:t>’, </a:t>
            </a:r>
            <a:r>
              <a:rPr lang="en-AU" i="1" dirty="0"/>
              <a:t>Stage 2</a:t>
            </a:r>
            <a:r>
              <a:rPr lang="en-AU" dirty="0"/>
              <a:t>, NSW Curriculum website, </a:t>
            </a:r>
            <a:r>
              <a:rPr lang="en-AU"/>
              <a:t>accessed 14 November 2025</a:t>
            </a:r>
            <a:r>
              <a:rPr lang="en-AU" dirty="0"/>
              <a:t>.</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2A79ED5-3D27-435D-B83C-BD2537F20B0A}">
  <ds:schemaRefs>
    <ds:schemaRef ds:uri="http://schemas.microsoft.com/office/2006/metadata/properties"/>
    <ds:schemaRef ds:uri="http://purl.org/dc/dcmitype/"/>
    <ds:schemaRef ds:uri="60129b06-f64b-40a8-96e2-c5b2f86112b1"/>
    <ds:schemaRef ds:uri="http://schemas.microsoft.com/office/2006/documentManagement/types"/>
    <ds:schemaRef ds:uri="http://purl.org/dc/elements/1.1/"/>
    <ds:schemaRef ds:uri="http://purl.org/dc/terms/"/>
    <ds:schemaRef ds:uri="http://schemas.microsoft.com/office/infopath/2007/PartnerControls"/>
    <ds:schemaRef ds:uri="http://www.w3.org/XML/1998/namespace"/>
    <ds:schemaRef ds:uri="http://schemas.openxmlformats.org/package/2006/metadata/core-properties"/>
    <ds:schemaRef ds:uri="7e763d47-3c66-4c58-9425-1477fd3ccd1e"/>
  </ds:schemaRefs>
</ds:datastoreItem>
</file>

<file path=customXml/itemProps3.xml><?xml version="1.0" encoding="utf-8"?>
<ds:datastoreItem xmlns:ds="http://schemas.openxmlformats.org/officeDocument/2006/customXml" ds:itemID="{A2375E07-BDD4-4285-9707-645E17F561AC}"/>
</file>

<file path=docProps/app.xml><?xml version="1.0" encoding="utf-8"?>
<Properties xmlns="http://schemas.openxmlformats.org/officeDocument/2006/extended-properties" xmlns:vt="http://schemas.openxmlformats.org/officeDocument/2006/docPropsVTypes">
  <Template>student-facing-primary-template-2025-v1-5</Template>
  <TotalTime>8794</TotalTime>
  <Words>6132</Words>
  <Application>Microsoft Office PowerPoint</Application>
  <PresentationFormat>Widescreen</PresentationFormat>
  <Paragraphs>818</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Wingdings</vt:lpstr>
      <vt:lpstr>Arial</vt:lpstr>
      <vt:lpstr>Public Sans Light</vt:lpstr>
      <vt:lpstr>Times New Roman</vt:lpstr>
      <vt:lpstr>Public Sans</vt:lpstr>
      <vt:lpstr>Calibri</vt:lpstr>
      <vt:lpstr>Cambria Math</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equivalent to half</vt:lpstr>
      <vt:lpstr>Review of learning 2</vt:lpstr>
      <vt:lpstr>True or false (1)</vt:lpstr>
      <vt:lpstr>Short response (5)</vt:lpstr>
      <vt:lpstr>Short response (6)</vt:lpstr>
      <vt:lpstr>Short response (7)</vt:lpstr>
      <vt:lpstr>Short response (8)</vt:lpstr>
      <vt:lpstr>Activity 2 – equivalent fractions</vt:lpstr>
      <vt:lpstr>Review of learning 3</vt:lpstr>
      <vt:lpstr>Multiple choice (2)</vt:lpstr>
      <vt:lpstr>Short response (9)</vt:lpstr>
      <vt:lpstr>Short response (10)</vt:lpstr>
      <vt:lpstr>Short response (11)</vt:lpstr>
      <vt:lpstr>Short response (12)</vt:lpstr>
      <vt:lpstr>Activity 3 – complementary fractions</vt:lpstr>
      <vt:lpstr>Review of learning 4</vt:lpstr>
      <vt:lpstr>True or false (2)</vt:lpstr>
      <vt:lpstr>Short response (13)</vt:lpstr>
      <vt:lpstr>Short response (14)</vt:lpstr>
      <vt:lpstr>Short response (15)</vt:lpstr>
      <vt:lpstr>Short response (16)</vt:lpstr>
      <vt:lpstr>Activity 4 – additional complementary fractions</vt:lpstr>
      <vt:lpstr>Review of learning 5</vt:lpstr>
      <vt:lpstr>Multiple choice (3)</vt:lpstr>
      <vt:lpstr>Short response (17)</vt:lpstr>
      <vt:lpstr>Short response (18)</vt:lpstr>
      <vt:lpstr>Short response (19)</vt:lpstr>
      <vt:lpstr>Short response (20)</vt:lpstr>
      <vt:lpstr>Activity 5 – place value grouping</vt:lpstr>
      <vt:lpstr>Review of learning 6</vt:lpstr>
      <vt:lpstr>True or false (3)</vt:lpstr>
      <vt:lpstr>Short response (21)</vt:lpstr>
      <vt:lpstr>Short response (22)</vt:lpstr>
      <vt:lpstr>Short response (23)</vt:lpstr>
      <vt:lpstr>Short response (24)</vt:lpstr>
      <vt:lpstr>Activity 6 – place value comparisons</vt:lpstr>
      <vt:lpstr>Review of learning 7</vt:lpstr>
      <vt:lpstr>Multiple choice (4)</vt:lpstr>
      <vt:lpstr>Short response (25)</vt:lpstr>
      <vt:lpstr>Short response (26)</vt:lpstr>
      <vt:lpstr>Short response (27)</vt:lpstr>
      <vt:lpstr>Short response (28)</vt:lpstr>
      <vt:lpstr>Activity 7 – expanding number notation (1)</vt:lpstr>
      <vt:lpstr>Activity 7 – expanding number notation (2)</vt:lpstr>
      <vt:lpstr>Review of learning 8</vt:lpstr>
      <vt:lpstr>True or false (4)</vt:lpstr>
      <vt:lpstr>Short response (29)</vt:lpstr>
      <vt:lpstr>Short response (30)</vt:lpstr>
      <vt:lpstr>Short response (31)</vt:lpstr>
      <vt:lpstr>Short response (32)</vt:lpstr>
      <vt:lpstr>Activity 8 – place value expanded number notation</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11</cp:revision>
  <dcterms:created xsi:type="dcterms:W3CDTF">2025-08-01T06:37:50Z</dcterms:created>
  <dcterms:modified xsi:type="dcterms:W3CDTF">2025-12-01T01:35:59Z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