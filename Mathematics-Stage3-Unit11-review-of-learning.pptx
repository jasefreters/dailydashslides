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4"/>
  </p:notesMasterIdLst>
  <p:handoutMasterIdLst>
    <p:handoutMasterId r:id="rId75"/>
  </p:handoutMasterIdLst>
  <p:sldIdLst>
    <p:sldId id="365" r:id="rId5"/>
    <p:sldId id="26579" r:id="rId6"/>
    <p:sldId id="26359" r:id="rId7"/>
    <p:sldId id="271" r:id="rId8"/>
    <p:sldId id="26577" r:id="rId9"/>
    <p:sldId id="358" r:id="rId10"/>
    <p:sldId id="26580" r:id="rId11"/>
    <p:sldId id="26581" r:id="rId12"/>
    <p:sldId id="26582" r:id="rId13"/>
    <p:sldId id="26645" r:id="rId14"/>
    <p:sldId id="26583" r:id="rId15"/>
    <p:sldId id="26586" r:id="rId16"/>
    <p:sldId id="26587" r:id="rId17"/>
    <p:sldId id="26588" r:id="rId18"/>
    <p:sldId id="26589" r:id="rId19"/>
    <p:sldId id="26590" r:id="rId20"/>
    <p:sldId id="26591" r:id="rId21"/>
    <p:sldId id="26592" r:id="rId22"/>
    <p:sldId id="26593" r:id="rId23"/>
    <p:sldId id="26596" r:id="rId24"/>
    <p:sldId id="26597" r:id="rId25"/>
    <p:sldId id="26598" r:id="rId26"/>
    <p:sldId id="26599" r:id="rId27"/>
    <p:sldId id="26600" r:id="rId28"/>
    <p:sldId id="26601" r:id="rId29"/>
    <p:sldId id="26604" r:id="rId30"/>
    <p:sldId id="26605" r:id="rId31"/>
    <p:sldId id="26606" r:id="rId32"/>
    <p:sldId id="26607" r:id="rId33"/>
    <p:sldId id="26608" r:id="rId34"/>
    <p:sldId id="26609" r:id="rId35"/>
    <p:sldId id="26610" r:id="rId36"/>
    <p:sldId id="26611" r:id="rId37"/>
    <p:sldId id="26614" r:id="rId38"/>
    <p:sldId id="26615" r:id="rId39"/>
    <p:sldId id="26616" r:id="rId40"/>
    <p:sldId id="26617" r:id="rId41"/>
    <p:sldId id="26618" r:id="rId42"/>
    <p:sldId id="26619" r:id="rId43"/>
    <p:sldId id="26622" r:id="rId44"/>
    <p:sldId id="26623" r:id="rId45"/>
    <p:sldId id="26624" r:id="rId46"/>
    <p:sldId id="26625" r:id="rId47"/>
    <p:sldId id="26626" r:id="rId48"/>
    <p:sldId id="26627" r:id="rId49"/>
    <p:sldId id="26628" r:id="rId50"/>
    <p:sldId id="26648" r:id="rId51"/>
    <p:sldId id="26632" r:id="rId52"/>
    <p:sldId id="26633" r:id="rId53"/>
    <p:sldId id="26634" r:id="rId54"/>
    <p:sldId id="26635" r:id="rId55"/>
    <p:sldId id="26636" r:id="rId56"/>
    <p:sldId id="26637" r:id="rId57"/>
    <p:sldId id="26640" r:id="rId58"/>
    <p:sldId id="26641" r:id="rId59"/>
    <p:sldId id="26642" r:id="rId60"/>
    <p:sldId id="26643" r:id="rId61"/>
    <p:sldId id="26644" r:id="rId62"/>
    <p:sldId id="26576" r:id="rId63"/>
    <p:sldId id="26393" r:id="rId64"/>
    <p:sldId id="26594" r:id="rId65"/>
    <p:sldId id="26387" r:id="rId66"/>
    <p:sldId id="26395" r:id="rId67"/>
    <p:sldId id="26391" r:id="rId68"/>
    <p:sldId id="26402" r:id="rId69"/>
    <p:sldId id="26507" r:id="rId70"/>
    <p:sldId id="26649" r:id="rId71"/>
    <p:sldId id="360" r:id="rId72"/>
    <p:sldId id="361" r:id="rId73"/>
  </p:sldIdLst>
  <p:sldSz cx="12192000" cy="6858000"/>
  <p:notesSz cx="6858000" cy="9144000"/>
  <p:embeddedFontLst>
    <p:embeddedFont>
      <p:font typeface="Montserrat" panose="00000500000000000000" pitchFamily="2" charset="0"/>
      <p:regular r:id="rId76"/>
      <p:bold r:id="rId77"/>
      <p:italic r:id="rId78"/>
      <p:boldItalic r:id="rId79"/>
    </p:embeddedFont>
    <p:embeddedFont>
      <p:font typeface="Public Sans" pitchFamily="2" charset="0"/>
      <p:regular r:id="rId80"/>
      <p:bold r:id="rId81"/>
      <p:italic r:id="rId82"/>
      <p:boldItalic r:id="rId83"/>
    </p:embeddedFont>
    <p:embeddedFont>
      <p:font typeface="Public Sans Light" pitchFamily="2" charset="0"/>
      <p:regular r:id="rId84"/>
      <p:italic r:id="rId85"/>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577"/>
            <p14:sldId id="358"/>
            <p14:sldId id="26580"/>
            <p14:sldId id="26581"/>
            <p14:sldId id="26582"/>
            <p14:sldId id="26645"/>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3"/>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1"/>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48"/>
            <p14:sldId id="26632"/>
            <p14:sldId id="26633"/>
            <p14:sldId id="26634"/>
            <p14:sldId id="26635"/>
            <p14:sldId id="26636"/>
          </p14:sldIdLst>
        </p14:section>
        <p14:section name="Review of learning 8" id="{6FF8F7EC-803E-4F84-BA41-6B3ED673D597}">
          <p14:sldIdLst>
            <p14:sldId id="26637"/>
            <p14:sldId id="26640"/>
            <p14:sldId id="26641"/>
            <p14:sldId id="26642"/>
            <p14:sldId id="26643"/>
            <p14:sldId id="26644"/>
            <p14:sldId id="26576"/>
          </p14:sldIdLst>
        </p14:section>
        <p14:section name="Assets" id="{ACCADEBA-79DB-4F18-8F19-E4DF86159DFB}">
          <p14:sldIdLst>
            <p14:sldId id="26393"/>
            <p14:sldId id="26594"/>
            <p14:sldId id="26387"/>
            <p14:sldId id="26395"/>
            <p14:sldId id="26391"/>
            <p14:sldId id="26402"/>
            <p14:sldId id="26507"/>
            <p14:sldId id="26649"/>
          </p14:sldIdLst>
        </p14:section>
        <p14:section name="References &amp; copyright" id="{DBC31484-F5F8-4CB1-8DB4-A562A9780899}">
          <p14:sldIdLst>
            <p14:sldId id="36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95D16B7D-CADB-F2BF-AC29-D680545C75EE}" name="Carrie Webeck" initials="CW" userId="S::CARRIE-ANN.WEBECK@det.nsw.edu.au::e5c4b697-ca15-4f3a-a906-1289ddc2fc07" providerId="AD"/>
  <p188:author id="{EB0CFDCC-08A1-9074-770E-495A3601BA1E}" name="Erin Grassedonio" initials="" userId="S::Erin.Grassedonio@det.nsw.edu.au::f14128a2-caca-48df-bd38-2aa49a1abe0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9B0C"/>
    <a:srgbClr val="007A8A"/>
    <a:srgbClr val="9B6808"/>
    <a:srgbClr val="427B2D"/>
    <a:srgbClr val="B51458"/>
    <a:srgbClr val="00ACC2"/>
    <a:srgbClr val="64BB47"/>
    <a:srgbClr val="EDF9E0"/>
    <a:srgbClr val="87D830"/>
    <a:srgbClr val="447F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413FBE-B3E7-4E88-8943-854AB5901A95}" v="337" dt="2026-05-01T02:20:05.694"/>
    <p1510:client id="{9D780759-C5FC-4ADC-86B4-E453ADAEA795}" v="831" dt="2026-05-01T05:05:16.102"/>
    <p1510:client id="{C705F9DE-05D2-452E-9D6C-764EE7AAA737}" v="439" dt="2026-05-01T04:47:25.502"/>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6" d="100"/>
          <a:sy n="36" d="100"/>
        </p:scale>
        <p:origin x="520" y="48"/>
      </p:cViewPr>
      <p:guideLst>
        <p:guide orient="horz" pos="2160"/>
        <p:guide pos="386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9.fntdata"/><Relationship Id="rId89" Type="http://schemas.openxmlformats.org/officeDocument/2006/relationships/tableStyles" Target="tableStyle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 Target="slides/slide1.xml"/><Relationship Id="rId90" Type="http://schemas.microsoft.com/office/2015/10/relationships/revisionInfo" Target="revisionInfo.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font" Target="fonts/font2.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5.fntdata"/><Relationship Id="rId85" Type="http://schemas.openxmlformats.org/officeDocument/2006/relationships/font" Target="fonts/font10.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theme" Target="theme/theme1.xml"/><Relationship Id="rId9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fntdata"/><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viewProps" Target="viewProps.xml"/><Relationship Id="rId61" Type="http://schemas.openxmlformats.org/officeDocument/2006/relationships/slide" Target="slides/slide57.xml"/><Relationship Id="rId82" Type="http://schemas.openxmlformats.org/officeDocument/2006/relationships/font" Target="fonts/font7.fntdata"/><Relationship Id="rId19"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4/05/2026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4/05/2026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3 Year A Unit 11</a:t>
            </a:r>
          </a:p>
          <a:p>
            <a:pPr marL="285750" indent="-285750">
              <a:buFont typeface="Arial" panose="020B0604020202020204" pitchFamily="34" charset="0"/>
              <a:buChar char="•"/>
            </a:pPr>
            <a:r>
              <a:rPr lang="en-AU"/>
              <a:t>Stage 3 Year A Unit 10</a:t>
            </a:r>
          </a:p>
          <a:p>
            <a:pPr marL="285750" indent="-285750">
              <a:buFont typeface="Arial" panose="020B0604020202020204" pitchFamily="34" charset="0"/>
              <a:buChar char="•"/>
            </a:pPr>
            <a:r>
              <a:rPr lang="en-AU"/>
              <a:t>Stage 3 Year A Unit 9</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titles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A</a:t>
            </a: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 Whole numbers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a:latin typeface="Arial"/>
                <a:cs typeface="Arial"/>
              </a:rPr>
              <a:t>Geometric Measure A: Angles </a:t>
            </a:r>
            <a:endParaRPr lang="en-AU" sz="1600" i="0">
              <a:solidFill>
                <a:schemeClr val="tx1"/>
              </a:solidFill>
              <a:latin typeface="Arial" panose="020B0604020202020204" pitchFamily="34" charset="0"/>
              <a:cs typeface="Arial" panose="020B0604020202020204" pitchFamily="34" charset="0"/>
            </a:endParaRPr>
          </a:p>
          <a:p>
            <a:endParaRPr lang="en-AU" b="1"/>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Three-dimensional spatial structure A: 3D objects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pPr>
              <a:defRPr/>
            </a:pPr>
            <a:r>
              <a:rPr lang="en-AU">
                <a:highlight>
                  <a:srgbClr val="FFFF00"/>
                </a:highlight>
                <a:latin typeface="Arial"/>
                <a:cs typeface="Arial"/>
              </a:rPr>
              <a:t>Multiplicative relations A</a:t>
            </a:r>
          </a:p>
          <a:p>
            <a:endParaRPr lang="en-AU"/>
          </a:p>
          <a:p>
            <a:r>
              <a:rPr lang="en-AU" b="1"/>
              <a:t>Find the area</a:t>
            </a:r>
          </a:p>
          <a:p>
            <a:endParaRPr lang="en-AU" b="1"/>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Pose the problem: A section of the school playground is 73 m by 12 m in size.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 students how they could find the area of the playground.</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think-pair-share how they would find the area of the playground and record their answers on their whiteboards.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Highlight the use of the area model to represent students’ thinking (see Figure 24).</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State that 73 × 12 is represented in 2 ways. One area model shows 73 partitioned into its place value. The second example shows 73 and 12 partitioned into their place values.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Pose the problem: A different area of the playground is 54 m by 15 m.</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Prompt students to use the area model to find the area of the playground.</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40059075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i="0">
                <a:solidFill>
                  <a:schemeClr val="tx1"/>
                </a:solidFill>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 Whole numbers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A: Angles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 3D objects.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Factorising numbers </a:t>
            </a:r>
          </a:p>
          <a:p>
            <a:endParaRPr lang="en-AU" b="1"/>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Give students time to determine the answer and record their thinking on a whiteboard.</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Select students to share a variety of strategies with the class.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On the board, write 32 × 25 = 8 × 4 × 25 = 8 × 100 = 800. Model: If I used the factors of 32, 4 and 8, then the associative property can be used.</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Display 24 × 50 and 35 × 12.</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use their whiteboards to record how the numbers can be factorised and the associative property can be used to solve the problems (see Figure 25).</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A</a:t>
            </a: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 Decimals and percentages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A: Angles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 3D objects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Multiplication problems </a:t>
            </a:r>
          </a:p>
          <a:p>
            <a:endParaRPr lang="en-AU" b="1"/>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Pose the following problem: A bus company owns 27 buses. Each bus has 54 seats. If 50% of the seats are filled, how many passengers are there?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record 2 different strategies for solving this problem on a whiteboard.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share their strategies and solutions.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Were there strategies that your partner used that you hadn’t thought of?</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strategy was the most efficient to solve this problem?</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i="0">
                <a:solidFill>
                  <a:schemeClr val="tx1"/>
                </a:solidFill>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Represents numbers A: Whole numbers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A: Angles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Three-dimensional spatial structure A: 3D objects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Multiplication strategies </a:t>
            </a:r>
          </a:p>
          <a:p>
            <a:endParaRPr lang="en-AU" b="1"/>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Pose the following problem: A baker makes 135 trays of cupcakes. Each tray holds 34 cupcakes. He sells the cupcakes in packs of 6. How many packs can he make?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record 2 different strategies for solving the problem on a whiteboard.</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share their strategies and solutions.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 </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Were there strategies that your partner used that you hadn’t thought of?</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strategy was the most efficient for this problem? </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A</a:t>
            </a: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Non-spatial measure A: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Three-dimensional spatial structure A: Volume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B: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Multiplying multiples </a:t>
            </a:r>
          </a:p>
          <a:p>
            <a:endParaRPr lang="en-AU" b="1"/>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‘Multiply Multiples 1’ from NRICH by University of Cambridge.</a:t>
            </a:r>
          </a:p>
          <a:p>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Display an equation where each square represents a missing digit (see Figure 26).</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State that each square represents a missing digit. Students are to find different ways to balance the equation.</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Show that one possible solution is 4 × 40 = 8 × 20.</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work in pairs to record possible solutions. Remind them that the equals sign represents balance or equivalence. Both sides of the equation must be balanced.</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explore strategies such as place value partitioning, factorising and halving.</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Share some examples of strategies used.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strategy is the most efficient? Why?</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Do certain strategies work better for different equations? Why?</a:t>
            </a:r>
          </a:p>
          <a:p>
            <a:endParaRPr lang="en-AU" sz="1600" b="1" kern="1200">
              <a:solidFill>
                <a:schemeClr val="tx1"/>
              </a:solidFill>
              <a:effectLst/>
              <a:latin typeface="Arial" panose="020B0604020202020204" pitchFamily="34" charset="0"/>
              <a:ea typeface="+mn-ea"/>
              <a:cs typeface="Arial" panose="020B0604020202020204" pitchFamily="34" charset="0"/>
            </a:endParaRP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Non-spatial measure A: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Three-dimensional spatial structure A: Volume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B: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Multiplication problems </a:t>
            </a:r>
          </a:p>
          <a:p>
            <a:endParaRPr lang="en-AU" b="1"/>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Pose the following question: Oscar rides his bike 38 km a day for a total of 5 days. How many kilometres did he ride in total?</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On whiteboards, students record 2 different strategies for solving this problem.</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share their strategies and solutions with the class. Possible strategies may include:</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rounding the 38 up to 40 and multiplying that by 5, then subtracting 2 fives, for example, 38 × 5 = (40 × 5) − (2 × 5) = 190</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using their knowledge of multiplying one-digit numbers with multiples of ten to double the 5 and halve the 38 – this would make 10 × 19 = 190.</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 different strategies arise, ask students to explain why they chose to solve the problem in that way.</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0B2C2-56ED-F4C7-04D9-00C4FB5F6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1568A8-C088-49AE-3548-341C78A6B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B8EBC4-5740-59C4-17D3-662AAFE4516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A</a:t>
            </a:r>
          </a:p>
        </p:txBody>
      </p:sp>
      <p:sp>
        <p:nvSpPr>
          <p:cNvPr id="4" name="Slide Number Placeholder 3">
            <a:extLst>
              <a:ext uri="{FF2B5EF4-FFF2-40B4-BE49-F238E27FC236}">
                <a16:creationId xmlns:a16="http://schemas.microsoft.com/office/drawing/2014/main" id="{F1CC597E-188F-1091-E0DB-50B50F81B5D5}"/>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43181859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highlight>
                  <a:srgbClr val="FFFF00"/>
                </a:highlight>
                <a:latin typeface="Arial"/>
                <a:cs typeface="Arial"/>
              </a:rPr>
              <a:t>Multiplicative relations A</a:t>
            </a: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Three-dimensional spatial structure A: Volume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pPr>
              <a:defRPr/>
            </a:pPr>
            <a:r>
              <a:rPr lang="en-AU">
                <a:highlight>
                  <a:srgbClr val="FFFF00"/>
                </a:highlight>
                <a:latin typeface="Arial"/>
                <a:cs typeface="Arial"/>
              </a:rPr>
              <a:t>Multiplicative relations A</a:t>
            </a:r>
          </a:p>
          <a:p>
            <a:endParaRPr lang="en-AU"/>
          </a:p>
          <a:p>
            <a:r>
              <a:rPr lang="en-AU" b="1"/>
              <a:t>Place value partitioning </a:t>
            </a:r>
          </a:p>
          <a:p>
            <a:endParaRPr lang="en-AU" b="1"/>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Pose the following problem: Charlie has saved $235 to buy herself a new scooter, but she needs 6 times this amount to buy it. How much does she need to save altogether?</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Use the following questions to prompt students:</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can you use your knowledge of place value partitioning to solve this problem?</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Why is this strategy useful for this problem?</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In pairs, students solve the problem using their knowledge of place value partitioning in multiplication (see Figure 27).</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 students to share their answer and explain their thinking.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Pose the following problems to students: </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An armchair costs $425. How much would 4 armchairs cost? </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An orchard produces enough apples each season to fill 743 crates. How many crates would be filled in 3 years?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solve the word problems, justifying their thinking.</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A</a:t>
            </a: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highlight>
                  <a:srgbClr val="FFFF00"/>
                </a:highlight>
                <a:latin typeface="Arial"/>
                <a:cs typeface="Arial"/>
              </a:rPr>
              <a:t>Multiplicative relations A</a:t>
            </a: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Non-spatial measure A: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Three-dimensional spatial structure A: Volume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Distributive property of multiplication </a:t>
            </a:r>
          </a:p>
          <a:p>
            <a:endParaRPr lang="en-AU" b="1"/>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Pose the problem: A shop sells </a:t>
            </a:r>
            <a:r>
              <a:rPr lang="en-AU" sz="1600" b="1" kern="1200">
                <a:solidFill>
                  <a:schemeClr val="tx1"/>
                </a:solidFill>
                <a:effectLst/>
                <a:latin typeface="Arial" panose="020B0604020202020204" pitchFamily="34" charset="0"/>
                <a:ea typeface="+mn-ea"/>
                <a:cs typeface="Arial" panose="020B0604020202020204" pitchFamily="34" charset="0"/>
              </a:rPr>
              <a:t>277 boxes</a:t>
            </a:r>
            <a:r>
              <a:rPr lang="en-AU" sz="1600" kern="1200">
                <a:solidFill>
                  <a:schemeClr val="tx1"/>
                </a:solidFill>
                <a:effectLst/>
                <a:latin typeface="Arial" panose="020B0604020202020204" pitchFamily="34" charset="0"/>
                <a:ea typeface="+mn-ea"/>
                <a:cs typeface="Arial" panose="020B0604020202020204" pitchFamily="34" charset="0"/>
              </a:rPr>
              <a:t> of chocolate. Each box has </a:t>
            </a:r>
            <a:r>
              <a:rPr lang="en-AU" sz="1600" b="1" kern="1200">
                <a:solidFill>
                  <a:schemeClr val="tx1"/>
                </a:solidFill>
                <a:effectLst/>
                <a:latin typeface="Arial" panose="020B0604020202020204" pitchFamily="34" charset="0"/>
                <a:ea typeface="+mn-ea"/>
                <a:cs typeface="Arial" panose="020B0604020202020204" pitchFamily="34" charset="0"/>
              </a:rPr>
              <a:t>18 chocolates.</a:t>
            </a: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 students to use the distributive property to find out how many chocolates there are, recording their thinking on whiteboards.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 students to share their answer and explain their thinking to a partner.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 </a:t>
            </a:r>
          </a:p>
          <a:p>
            <a:pPr marL="895335" lvl="1"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Was the distributive property strategy the best strategy to use to obtain the answer? </a:t>
            </a:r>
          </a:p>
          <a:p>
            <a:pPr marL="895335" lvl="1"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could have been a more effective strategy and why?</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391520586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85C9A-F7A1-EDFB-0833-0B47E7074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8E27A-49D0-016C-27E9-F8CDFAEA8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75A8D-C34B-1861-8315-C4CE15124AE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9B2F7CC1-C4B8-8BA8-2D91-7EC995A48CCF}"/>
              </a:ext>
            </a:extLst>
          </p:cNvPr>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337754877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3.xml"/><Relationship Id="rId4" Type="http://schemas.openxmlformats.org/officeDocument/2006/relationships/slide" Target="slide11.xml"/><Relationship Id="rId9" Type="http://schemas.openxmlformats.org/officeDocument/2006/relationships/slide" Target="slide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7.sv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9.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5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1.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5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6.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5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5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5.xml"/><Relationship Id="rId1" Type="http://schemas.openxmlformats.org/officeDocument/2006/relationships/slideLayout" Target="../slideLayouts/slideLayout11.xml"/><Relationship Id="rId5" Type="http://schemas.openxmlformats.org/officeDocument/2006/relationships/image" Target="../media/image26.svg"/><Relationship Id="rId4" Type="http://schemas.openxmlformats.org/officeDocument/2006/relationships/slide" Target="slide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13" Type="http://schemas.openxmlformats.org/officeDocument/2006/relationships/hyperlink" Target="https://phet.colorado.edu/sims/html/area-model-algebra/latest/area-model-algebra_en.html"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12" Type="http://schemas.openxmlformats.org/officeDocument/2006/relationships/hyperlink" Target="https://nrich.maths.org/problems/multiply-multiples-1" TargetMode="External"/><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11" Type="http://schemas.openxmlformats.org/officeDocument/2006/relationships/hyperlink" Target="https://education.nsw.gov.au/teaching-and-learning/curriculum/mathematics/mathematics-curriculum-resources-k-12/thinking-mathematically-resources/mathematics-s1-s3-place-value-game" TargetMode="External"/><Relationship Id="rId5" Type="http://schemas.openxmlformats.org/officeDocument/2006/relationships/hyperlink" Target="https://curriculum.nsw.edu.au/" TargetMode="External"/><Relationship Id="rId10" Type="http://schemas.openxmlformats.org/officeDocument/2006/relationships/hyperlink" Target="https://education.nsw.gov.au/teaching-and-learning/curriculum/mathematics/mathematics-curriculum-resources-k-12/thinking-mathematically-resources/mathematics-es1-s1-number-visuals"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education.nsw.gov.au/teaching-and-learning/curriculum/mathematics/mathematics-curriculum-resources-k-12/thinking-mathematically-resources/mathematics-s1-s2-hit-it"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a:ea typeface="+mn-lt"/>
                <a:cs typeface="+mn-lt"/>
              </a:rPr>
              <a:t>This resource aligns to the learning in Stage 3 Year A Unit 11 and revisits content from earlier sample units.</a:t>
            </a:r>
            <a:endParaRPr lang="en-AU" sz="1800">
              <a:solidFill>
                <a:srgbClr val="22272B"/>
              </a:solidFill>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a:latin typeface="+mj-lt"/>
                <a:cs typeface="Arial"/>
              </a:rPr>
              <a:t>Mathematics Stage 3 – Unit 11</a:t>
            </a:r>
          </a:p>
        </p:txBody>
      </p:sp>
      <p:pic>
        <p:nvPicPr>
          <p:cNvPr id="5" name="Picture Placeholder 4">
            <a:extLst>
              <a:ext uri="{FF2B5EF4-FFF2-40B4-BE49-F238E27FC236}">
                <a16:creationId xmlns:a16="http://schemas.microsoft.com/office/drawing/2014/main" id="{3492ED26-EFFD-ABC0-5FC2-50C21A88E5D9}"/>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3" action="ppaction://hlinksldjump"/>
                </a:rPr>
                <a:t>Review of learning </a:t>
              </a:r>
              <a:r>
                <a:rPr lang="en-AU">
                  <a:solidFill>
                    <a:schemeClr val="accent1"/>
                  </a:solidFill>
                  <a:latin typeface="+mj-lt"/>
                  <a:hlinkClick r:id="rId3" action="ppaction://hlinksldjump"/>
                </a:rPr>
                <a:t>1</a:t>
              </a:r>
              <a:endParaRPr lang="en-AU">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4" action="ppaction://hlinksldjump"/>
                </a:rPr>
                <a:t>Review of learning </a:t>
              </a:r>
              <a:r>
                <a:rPr lang="en-AU">
                  <a:solidFill>
                    <a:schemeClr val="accent1"/>
                  </a:solidFill>
                  <a:latin typeface="+mj-lt"/>
                  <a:hlinkClick r:id="rId4" action="ppaction://hlinksldjump"/>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5" action="ppaction://hlinksldjump"/>
                </a:rPr>
                <a:t>Review of learning </a:t>
              </a:r>
              <a:r>
                <a:rPr lang="en-AU">
                  <a:solidFill>
                    <a:schemeClr val="accent1"/>
                  </a:solidFill>
                  <a:latin typeface="+mj-lt"/>
                  <a:hlinkClick r:id="rId5" action="ppaction://hlinksldjump"/>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6" action="ppaction://hlinksldjump"/>
                </a:rPr>
                <a:t>Review of learning </a:t>
              </a:r>
              <a:r>
                <a:rPr lang="en-AU">
                  <a:solidFill>
                    <a:schemeClr val="accent1"/>
                  </a:solidFill>
                  <a:latin typeface="+mj-lt"/>
                  <a:hlinkClick r:id="rId6" action="ppaction://hlinksldjump"/>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7" action="ppaction://hlinksldjump"/>
                </a:rPr>
                <a:t>Review of learning </a:t>
              </a:r>
              <a:r>
                <a:rPr lang="en-AU">
                  <a:solidFill>
                    <a:schemeClr val="accent1"/>
                  </a:solidFill>
                  <a:latin typeface="+mj-lt"/>
                  <a:hlinkClick r:id="rId7" action="ppaction://hlinksldjump"/>
                </a:rPr>
                <a:t>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8" action="ppaction://hlinksldjump"/>
                </a:rPr>
                <a:t>Review of learning </a:t>
              </a:r>
              <a:r>
                <a:rPr lang="en-AU">
                  <a:solidFill>
                    <a:schemeClr val="accent1"/>
                  </a:solidFill>
                  <a:latin typeface="+mj-lt"/>
                  <a:hlinkClick r:id="rId8" action="ppaction://hlinksldjump"/>
                </a:rPr>
                <a:t>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9" action="ppaction://hlinksldjump"/>
                </a:rPr>
                <a:t>Review of learning </a:t>
              </a:r>
              <a:r>
                <a:rPr lang="en-AU">
                  <a:solidFill>
                    <a:schemeClr val="accent1"/>
                  </a:solidFill>
                  <a:latin typeface="+mj-lt"/>
                  <a:hlinkClick r:id="rId9" action="ppaction://hlinksldjump"/>
                </a:rPr>
                <a:t>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10" action="ppaction://hlinksldjump"/>
                </a:rPr>
                <a:t>Review of learning </a:t>
              </a:r>
              <a:r>
                <a:rPr lang="en-AU">
                  <a:solidFill>
                    <a:schemeClr val="accent1"/>
                  </a:solidFill>
                  <a:latin typeface="+mj-lt"/>
                  <a:hlinkClick r:id="rId10" action="ppaction://hlinksldjump"/>
                </a:rPr>
                <a:t>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(1)</a:t>
            </a:r>
          </a:p>
        </p:txBody>
      </p:sp>
      <p:pic>
        <p:nvPicPr>
          <p:cNvPr id="4" name="Picture 3">
            <a:extLst>
              <a:ext uri="{FF2B5EF4-FFF2-40B4-BE49-F238E27FC236}">
                <a16:creationId xmlns:a16="http://schemas.microsoft.com/office/drawing/2014/main" id="{5D11F5ED-B427-7A06-EE29-1C83BDE7EF0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8CC6182B-05A0-DCFF-C12E-FB8272E0C6A8}"/>
              </a:ext>
            </a:extLst>
          </p:cNvPr>
          <p:cNvSpPr>
            <a:spLocks noGrp="1"/>
          </p:cNvSpPr>
          <p:nvPr>
            <p:ph type="body" sz="quarter" idx="24"/>
          </p:nvPr>
        </p:nvSpPr>
        <p:spPr>
          <a:xfrm>
            <a:off x="360000" y="1261754"/>
            <a:ext cx="5551823" cy="893226"/>
          </a:xfrm>
        </p:spPr>
        <p:txBody>
          <a:bodyPr/>
          <a:lstStyle/>
          <a:p>
            <a:r>
              <a:rPr lang="en-US" sz="3600" b="1"/>
              <a:t>Which rectangle’s perimeter </a:t>
            </a:r>
            <a:r>
              <a:rPr lang="en-US" sz="3600"/>
              <a:t>can be found using this </a:t>
            </a:r>
            <a:r>
              <a:rPr lang="en-US" sz="3600" b="1"/>
              <a:t>area model?</a:t>
            </a:r>
            <a:endParaRPr lang="en-US" sz="3600"/>
          </a:p>
        </p:txBody>
      </p:sp>
      <p:pic>
        <p:nvPicPr>
          <p:cNvPr id="6" name="Picture 5" descr="An image of the area model for multiplication to solve 12 x 73.">
            <a:extLst>
              <a:ext uri="{FF2B5EF4-FFF2-40B4-BE49-F238E27FC236}">
                <a16:creationId xmlns:a16="http://schemas.microsoft.com/office/drawing/2014/main" id="{A5CD0499-0574-9E9E-85D0-5BC95E44DF41}"/>
              </a:ext>
            </a:extLst>
          </p:cNvPr>
          <p:cNvPicPr>
            <a:picLocks noChangeAspect="1"/>
          </p:cNvPicPr>
          <p:nvPr/>
        </p:nvPicPr>
        <p:blipFill>
          <a:blip r:embed="rId4"/>
          <a:stretch>
            <a:fillRect/>
          </a:stretch>
        </p:blipFill>
        <p:spPr>
          <a:xfrm>
            <a:off x="6300196" y="1255930"/>
            <a:ext cx="4750811" cy="2735958"/>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055D882C-AF43-C390-844D-CF785253532C}"/>
              </a:ext>
            </a:extLst>
          </p:cNvPr>
          <p:cNvSpPr txBox="1"/>
          <p:nvPr/>
        </p:nvSpPr>
        <p:spPr>
          <a:xfrm>
            <a:off x="1450102" y="441096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pic>
        <p:nvPicPr>
          <p:cNvPr id="19" name="Picture 18" descr="A rectangle with one short side labelled 22m and one long sode labelled 74m.">
            <a:extLst>
              <a:ext uri="{FF2B5EF4-FFF2-40B4-BE49-F238E27FC236}">
                <a16:creationId xmlns:a16="http://schemas.microsoft.com/office/drawing/2014/main" id="{A2C00D77-BBFE-5323-E070-89A48727C124}"/>
              </a:ext>
            </a:extLst>
          </p:cNvPr>
          <p:cNvPicPr>
            <a:picLocks noChangeAspect="1"/>
          </p:cNvPicPr>
          <p:nvPr/>
        </p:nvPicPr>
        <p:blipFill>
          <a:blip r:embed="rId5"/>
          <a:stretch>
            <a:fillRect/>
          </a:stretch>
        </p:blipFill>
        <p:spPr>
          <a:xfrm>
            <a:off x="79658" y="5177736"/>
            <a:ext cx="2738905" cy="1259897"/>
          </a:xfrm>
          <a:prstGeom prst="rect">
            <a:avLst/>
          </a:prstGeom>
        </p:spPr>
      </p:pic>
      <p:sp>
        <p:nvSpPr>
          <p:cNvPr id="10" name="TextBox 9">
            <a:extLst>
              <a:ext uri="{FF2B5EF4-FFF2-40B4-BE49-F238E27FC236}">
                <a16:creationId xmlns:a16="http://schemas.microsoft.com/office/drawing/2014/main" id="{3A7CB9AE-0F31-FA92-BCB3-C4AD3EF18B05}"/>
              </a:ext>
            </a:extLst>
          </p:cNvPr>
          <p:cNvSpPr txBox="1"/>
          <p:nvPr/>
        </p:nvSpPr>
        <p:spPr>
          <a:xfrm>
            <a:off x="4541485" y="441096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pic>
        <p:nvPicPr>
          <p:cNvPr id="16" name="Picture 15" descr="A rectangle with one short side labelled 12m and one long sode labelled 64m.">
            <a:extLst>
              <a:ext uri="{FF2B5EF4-FFF2-40B4-BE49-F238E27FC236}">
                <a16:creationId xmlns:a16="http://schemas.microsoft.com/office/drawing/2014/main" id="{7F873F21-E342-F9F4-2651-F80BAB7943BA}"/>
              </a:ext>
            </a:extLst>
          </p:cNvPr>
          <p:cNvPicPr>
            <a:picLocks noChangeAspect="1"/>
          </p:cNvPicPr>
          <p:nvPr/>
        </p:nvPicPr>
        <p:blipFill>
          <a:blip r:embed="rId6"/>
          <a:stretch>
            <a:fillRect/>
          </a:stretch>
        </p:blipFill>
        <p:spPr>
          <a:xfrm>
            <a:off x="3080702" y="5149633"/>
            <a:ext cx="2753159" cy="1298850"/>
          </a:xfrm>
          <a:prstGeom prst="rect">
            <a:avLst/>
          </a:prstGeom>
        </p:spPr>
      </p:pic>
      <p:sp>
        <p:nvSpPr>
          <p:cNvPr id="12" name="TextBox 11">
            <a:extLst>
              <a:ext uri="{FF2B5EF4-FFF2-40B4-BE49-F238E27FC236}">
                <a16:creationId xmlns:a16="http://schemas.microsoft.com/office/drawing/2014/main" id="{92ADCA88-1230-AEE8-EFD6-D8F0DF7EEE5C}"/>
              </a:ext>
            </a:extLst>
          </p:cNvPr>
          <p:cNvSpPr txBox="1"/>
          <p:nvPr/>
        </p:nvSpPr>
        <p:spPr>
          <a:xfrm>
            <a:off x="7385801" y="441096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pic>
        <p:nvPicPr>
          <p:cNvPr id="8" name="Picture 7" descr="A rectangle with one short side labelled 12m and one long sode labelled 73m.">
            <a:extLst>
              <a:ext uri="{FF2B5EF4-FFF2-40B4-BE49-F238E27FC236}">
                <a16:creationId xmlns:a16="http://schemas.microsoft.com/office/drawing/2014/main" id="{D41C475D-37EA-435A-863F-1A64688C0F13}"/>
              </a:ext>
            </a:extLst>
          </p:cNvPr>
          <p:cNvPicPr>
            <a:picLocks noChangeAspect="1"/>
          </p:cNvPicPr>
          <p:nvPr/>
        </p:nvPicPr>
        <p:blipFill>
          <a:blip r:embed="rId7"/>
          <a:stretch>
            <a:fillRect/>
          </a:stretch>
        </p:blipFill>
        <p:spPr>
          <a:xfrm>
            <a:off x="6096000" y="5027368"/>
            <a:ext cx="2579602" cy="1390913"/>
          </a:xfrm>
          <a:prstGeom prst="rect">
            <a:avLst/>
          </a:prstGeom>
        </p:spPr>
      </p:pic>
      <p:sp>
        <p:nvSpPr>
          <p:cNvPr id="11" name="TextBox 10">
            <a:extLst>
              <a:ext uri="{FF2B5EF4-FFF2-40B4-BE49-F238E27FC236}">
                <a16:creationId xmlns:a16="http://schemas.microsoft.com/office/drawing/2014/main" id="{F2C63D4C-D53C-5250-A986-AB949B67DEB8}"/>
              </a:ext>
            </a:extLst>
          </p:cNvPr>
          <p:cNvSpPr txBox="1"/>
          <p:nvPr/>
        </p:nvSpPr>
        <p:spPr>
          <a:xfrm>
            <a:off x="10348516" y="441096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pic>
        <p:nvPicPr>
          <p:cNvPr id="14" name="Picture 13" descr="A rectangle with one short side labelled 12m and one long sode labelled 74m.">
            <a:extLst>
              <a:ext uri="{FF2B5EF4-FFF2-40B4-BE49-F238E27FC236}">
                <a16:creationId xmlns:a16="http://schemas.microsoft.com/office/drawing/2014/main" id="{C3C9F8BF-78A3-B956-C12C-4CA0370C4ECF}"/>
              </a:ext>
            </a:extLst>
          </p:cNvPr>
          <p:cNvPicPr>
            <a:picLocks noChangeAspect="1"/>
          </p:cNvPicPr>
          <p:nvPr/>
        </p:nvPicPr>
        <p:blipFill>
          <a:blip r:embed="rId8"/>
          <a:stretch>
            <a:fillRect/>
          </a:stretch>
        </p:blipFill>
        <p:spPr>
          <a:xfrm>
            <a:off x="8937741" y="5180847"/>
            <a:ext cx="2821550" cy="1329580"/>
          </a:xfrm>
          <a:prstGeom prst="rect">
            <a:avLst/>
          </a:prstGeom>
        </p:spPr>
      </p:pic>
      <p:sp>
        <p:nvSpPr>
          <p:cNvPr id="2" name="Slide Number Placeholder 1">
            <a:extLst>
              <a:ext uri="{FF2B5EF4-FFF2-40B4-BE49-F238E27FC236}">
                <a16:creationId xmlns:a16="http://schemas.microsoft.com/office/drawing/2014/main" id="{BCDFCD28-280A-268C-8C92-8A605A7B59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pic>
        <p:nvPicPr>
          <p:cNvPr id="3" name="Picture 2">
            <a:extLst>
              <a:ext uri="{FF2B5EF4-FFF2-40B4-BE49-F238E27FC236}">
                <a16:creationId xmlns:a16="http://schemas.microsoft.com/office/drawing/2014/main" id="{69E4B2B2-713D-5998-87AB-5FC222AE38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
        <p:nvSpPr>
          <p:cNvPr id="4" name="TextBox 3">
            <a:extLst>
              <a:ext uri="{FF2B5EF4-FFF2-40B4-BE49-F238E27FC236}">
                <a16:creationId xmlns:a16="http://schemas.microsoft.com/office/drawing/2014/main" id="{BCA4BE7C-3BB9-0226-BF4A-59150548C1A6}"/>
              </a:ext>
            </a:extLst>
          </p:cNvPr>
          <p:cNvSpPr txBox="1"/>
          <p:nvPr/>
        </p:nvSpPr>
        <p:spPr>
          <a:xfrm>
            <a:off x="360000" y="1500877"/>
            <a:ext cx="11304778" cy="545601"/>
          </a:xfrm>
          <a:prstGeom prst="rect">
            <a:avLst/>
          </a:prstGeom>
          <a:noFill/>
        </p:spPr>
        <p:txBody>
          <a:bodyPr wrap="square" lIns="0" tIns="0" rIns="0" bIns="0" rtlCol="0">
            <a:noAutofit/>
          </a:bodyPr>
          <a:lstStyle/>
          <a:p>
            <a:pPr>
              <a:lnSpc>
                <a:spcPct val="150000"/>
              </a:lnSpc>
            </a:pPr>
            <a:r>
              <a:rPr lang="en-AU" sz="4400" b="1"/>
              <a:t>Arrange</a:t>
            </a:r>
            <a:r>
              <a:rPr lang="en-AU" sz="4400"/>
              <a:t> these numbers in </a:t>
            </a:r>
            <a:r>
              <a:rPr lang="en-AU" sz="4400" b="1"/>
              <a:t>ascending</a:t>
            </a:r>
            <a:r>
              <a:rPr lang="en-AU" sz="4400"/>
              <a:t> order</a:t>
            </a:r>
            <a:r>
              <a:rPr lang="en-AU" sz="3200"/>
              <a:t>:</a:t>
            </a:r>
          </a:p>
          <a:p>
            <a:pPr marL="457200" indent="-457200">
              <a:lnSpc>
                <a:spcPct val="150000"/>
              </a:lnSpc>
              <a:buFont typeface="Arial" panose="020B0604020202020204" pitchFamily="34" charset="0"/>
              <a:buChar char="•"/>
            </a:pPr>
            <a:endParaRPr lang="en-AU" sz="3200"/>
          </a:p>
          <a:p>
            <a:pPr marL="457200" indent="-457200">
              <a:lnSpc>
                <a:spcPct val="150000"/>
              </a:lnSpc>
              <a:buFont typeface="Arial" panose="020B0604020202020204" pitchFamily="34" charset="0"/>
              <a:buChar char="•"/>
            </a:pPr>
            <a:endParaRPr lang="en-AU" sz="3200"/>
          </a:p>
          <a:p>
            <a:endParaRPr lang="en-AU" sz="4000"/>
          </a:p>
        </p:txBody>
      </p:sp>
      <p:sp>
        <p:nvSpPr>
          <p:cNvPr id="5" name="TextBox 4">
            <a:extLst>
              <a:ext uri="{FF2B5EF4-FFF2-40B4-BE49-F238E27FC236}">
                <a16:creationId xmlns:a16="http://schemas.microsoft.com/office/drawing/2014/main" id="{46E02DBF-7578-9DBF-83BA-20E839952D2D}"/>
              </a:ext>
            </a:extLst>
          </p:cNvPr>
          <p:cNvSpPr txBox="1"/>
          <p:nvPr/>
        </p:nvSpPr>
        <p:spPr>
          <a:xfrm>
            <a:off x="1431984" y="3052989"/>
            <a:ext cx="2556000" cy="900000"/>
          </a:xfrm>
          <a:prstGeom prst="rect">
            <a:avLst/>
          </a:prstGeom>
          <a:noFill/>
          <a:ln w="57150">
            <a:solidFill>
              <a:schemeClr val="accent2"/>
            </a:solidFill>
          </a:ln>
        </p:spPr>
        <p:txBody>
          <a:bodyPr wrap="none" lIns="180000" tIns="180000" rIns="180000" bIns="180000" rtlCol="0">
            <a:noAutofit/>
          </a:bodyPr>
          <a:lstStyle>
            <a:defPPr>
              <a:defRPr lang="en-US"/>
            </a:defPPr>
            <a:lvl1pPr algn="ctr">
              <a:defRPr sz="4400"/>
            </a:lvl1pPr>
          </a:lstStyle>
          <a:p>
            <a:r>
              <a:rPr lang="en-AU" sz="4000"/>
              <a:t>7 258 369</a:t>
            </a:r>
          </a:p>
        </p:txBody>
      </p:sp>
      <p:sp>
        <p:nvSpPr>
          <p:cNvPr id="8" name="TextBox 7">
            <a:extLst>
              <a:ext uri="{FF2B5EF4-FFF2-40B4-BE49-F238E27FC236}">
                <a16:creationId xmlns:a16="http://schemas.microsoft.com/office/drawing/2014/main" id="{54F4019C-362E-1E67-03E6-8DF01E219E1D}"/>
              </a:ext>
            </a:extLst>
          </p:cNvPr>
          <p:cNvSpPr txBox="1"/>
          <p:nvPr/>
        </p:nvSpPr>
        <p:spPr>
          <a:xfrm>
            <a:off x="4818000" y="3066443"/>
            <a:ext cx="2556000" cy="900000"/>
          </a:xfrm>
          <a:prstGeom prst="rect">
            <a:avLst/>
          </a:prstGeom>
          <a:noFill/>
          <a:ln w="57150">
            <a:solidFill>
              <a:schemeClr val="accent2"/>
            </a:solidFill>
          </a:ln>
        </p:spPr>
        <p:txBody>
          <a:bodyPr wrap="none" lIns="180000" tIns="180000" rIns="180000" bIns="180000" rtlCol="0">
            <a:noAutofit/>
          </a:bodyPr>
          <a:lstStyle>
            <a:defPPr>
              <a:defRPr lang="en-US"/>
            </a:defPPr>
            <a:lvl1pPr algn="ctr">
              <a:defRPr sz="4400"/>
            </a:lvl1pPr>
          </a:lstStyle>
          <a:p>
            <a:r>
              <a:rPr lang="en-AU" sz="4000"/>
              <a:t>8 258 258</a:t>
            </a:r>
          </a:p>
        </p:txBody>
      </p:sp>
      <p:sp>
        <p:nvSpPr>
          <p:cNvPr id="9" name="TextBox 8">
            <a:extLst>
              <a:ext uri="{FF2B5EF4-FFF2-40B4-BE49-F238E27FC236}">
                <a16:creationId xmlns:a16="http://schemas.microsoft.com/office/drawing/2014/main" id="{E3D3F910-8DC8-E076-10FD-3C22372D39CB}"/>
              </a:ext>
            </a:extLst>
          </p:cNvPr>
          <p:cNvSpPr txBox="1"/>
          <p:nvPr/>
        </p:nvSpPr>
        <p:spPr>
          <a:xfrm>
            <a:off x="8171268" y="3066443"/>
            <a:ext cx="2556000" cy="900000"/>
          </a:xfrm>
          <a:prstGeom prst="rect">
            <a:avLst/>
          </a:prstGeom>
          <a:noFill/>
          <a:ln w="57150">
            <a:solidFill>
              <a:schemeClr val="accent2"/>
            </a:solidFill>
          </a:ln>
        </p:spPr>
        <p:txBody>
          <a:bodyPr wrap="none" lIns="180000" tIns="180000" rIns="180000" bIns="180000" rtlCol="0">
            <a:noAutofit/>
          </a:bodyPr>
          <a:lstStyle>
            <a:defPPr>
              <a:defRPr lang="en-US"/>
            </a:defPPr>
            <a:lvl1pPr algn="ctr">
              <a:defRPr sz="4400"/>
            </a:lvl1pPr>
          </a:lstStyle>
          <a:p>
            <a:r>
              <a:rPr lang="en-AU" sz="4000"/>
              <a:t>8 963 789</a:t>
            </a:r>
          </a:p>
        </p:txBody>
      </p:sp>
      <p:sp>
        <p:nvSpPr>
          <p:cNvPr id="11" name="TextBox 10">
            <a:extLst>
              <a:ext uri="{FF2B5EF4-FFF2-40B4-BE49-F238E27FC236}">
                <a16:creationId xmlns:a16="http://schemas.microsoft.com/office/drawing/2014/main" id="{2542DADD-D7DA-157E-ABEC-1F466309D00B}"/>
              </a:ext>
            </a:extLst>
          </p:cNvPr>
          <p:cNvSpPr txBox="1"/>
          <p:nvPr/>
        </p:nvSpPr>
        <p:spPr>
          <a:xfrm>
            <a:off x="2709984" y="4202501"/>
            <a:ext cx="2556000" cy="900000"/>
          </a:xfrm>
          <a:prstGeom prst="rect">
            <a:avLst/>
          </a:prstGeom>
          <a:noFill/>
          <a:ln w="57150">
            <a:solidFill>
              <a:schemeClr val="accent2"/>
            </a:solidFill>
          </a:ln>
        </p:spPr>
        <p:txBody>
          <a:bodyPr wrap="none" lIns="180000" tIns="180000" rIns="180000" bIns="180000" rtlCol="0">
            <a:noAutofit/>
          </a:bodyPr>
          <a:lstStyle>
            <a:defPPr>
              <a:defRPr lang="en-US"/>
            </a:defPPr>
            <a:lvl1pPr algn="ctr">
              <a:defRPr sz="4400"/>
            </a:lvl1pPr>
          </a:lstStyle>
          <a:p>
            <a:r>
              <a:rPr lang="en-AU" sz="4000"/>
              <a:t>8 963 798</a:t>
            </a:r>
          </a:p>
        </p:txBody>
      </p:sp>
      <p:sp>
        <p:nvSpPr>
          <p:cNvPr id="12" name="TextBox 11">
            <a:extLst>
              <a:ext uri="{FF2B5EF4-FFF2-40B4-BE49-F238E27FC236}">
                <a16:creationId xmlns:a16="http://schemas.microsoft.com/office/drawing/2014/main" id="{3B63F61F-99E1-2B76-2A57-80B51F41785F}"/>
              </a:ext>
            </a:extLst>
          </p:cNvPr>
          <p:cNvSpPr txBox="1"/>
          <p:nvPr/>
        </p:nvSpPr>
        <p:spPr>
          <a:xfrm>
            <a:off x="6926018" y="4202501"/>
            <a:ext cx="2556000" cy="900000"/>
          </a:xfrm>
          <a:prstGeom prst="rect">
            <a:avLst/>
          </a:prstGeom>
          <a:noFill/>
          <a:ln w="57150">
            <a:solidFill>
              <a:schemeClr val="accent2"/>
            </a:solidFill>
          </a:ln>
        </p:spPr>
        <p:txBody>
          <a:bodyPr wrap="none" lIns="180000" tIns="180000" rIns="180000" bIns="180000" rtlCol="0">
            <a:noAutofit/>
          </a:bodyPr>
          <a:lstStyle>
            <a:defPPr>
              <a:defRPr lang="en-US"/>
            </a:defPPr>
            <a:lvl1pPr algn="ctr">
              <a:defRPr sz="4400"/>
            </a:lvl1pPr>
          </a:lstStyle>
          <a:p>
            <a:r>
              <a:rPr lang="en-AU" sz="4000"/>
              <a:t>7 258 147</a:t>
            </a:r>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
        <p:nvSpPr>
          <p:cNvPr id="4" name="TextBox 3">
            <a:extLst>
              <a:ext uri="{FF2B5EF4-FFF2-40B4-BE49-F238E27FC236}">
                <a16:creationId xmlns:a16="http://schemas.microsoft.com/office/drawing/2014/main" id="{C06A8448-02F0-9292-B130-4E3099AF34B6}"/>
              </a:ext>
            </a:extLst>
          </p:cNvPr>
          <p:cNvSpPr txBox="1"/>
          <p:nvPr/>
        </p:nvSpPr>
        <p:spPr>
          <a:xfrm>
            <a:off x="1097280" y="2006071"/>
            <a:ext cx="9933196" cy="1844040"/>
          </a:xfrm>
          <a:prstGeom prst="rect">
            <a:avLst/>
          </a:prstGeom>
          <a:noFill/>
        </p:spPr>
        <p:txBody>
          <a:bodyPr wrap="square" lIns="0" tIns="0" rIns="0" bIns="0" rtlCol="0">
            <a:noAutofit/>
          </a:bodyPr>
          <a:lstStyle/>
          <a:p>
            <a:pPr algn="ctr">
              <a:lnSpc>
                <a:spcPct val="150000"/>
              </a:lnSpc>
            </a:pPr>
            <a:r>
              <a:rPr lang="en-AU" sz="3600"/>
              <a:t>Sally faces the </a:t>
            </a:r>
            <a:r>
              <a:rPr lang="en-AU" sz="3600" b="1"/>
              <a:t>front</a:t>
            </a:r>
            <a:r>
              <a:rPr lang="en-AU" sz="3600"/>
              <a:t> of the classroom and makes a </a:t>
            </a:r>
            <a:r>
              <a:rPr lang="en-AU" sz="3600" b="1"/>
              <a:t>quarter-turn </a:t>
            </a:r>
            <a:r>
              <a:rPr lang="en-AU" sz="3600"/>
              <a:t>to her right.</a:t>
            </a:r>
          </a:p>
          <a:p>
            <a:pPr algn="ctr">
              <a:lnSpc>
                <a:spcPct val="150000"/>
              </a:lnSpc>
            </a:pPr>
            <a:br>
              <a:rPr lang="en-AU" sz="3600"/>
            </a:br>
            <a:r>
              <a:rPr lang="en-AU" sz="3600" b="1"/>
              <a:t>Draw</a:t>
            </a:r>
            <a:r>
              <a:rPr lang="en-AU" sz="3600"/>
              <a:t> the </a:t>
            </a:r>
            <a:r>
              <a:rPr lang="en-AU" sz="3600" b="1"/>
              <a:t>vertex</a:t>
            </a:r>
            <a:r>
              <a:rPr lang="en-AU" sz="3600"/>
              <a:t> and </a:t>
            </a:r>
            <a:r>
              <a:rPr lang="en-AU" sz="3600" b="1"/>
              <a:t>arms</a:t>
            </a:r>
            <a:r>
              <a:rPr lang="en-AU" sz="3600"/>
              <a:t> of the </a:t>
            </a:r>
            <a:r>
              <a:rPr lang="en-AU" sz="3600" b="1"/>
              <a:t>angle</a:t>
            </a:r>
            <a:r>
              <a:rPr lang="en-AU" sz="3600"/>
              <a:t> she forms.</a:t>
            </a:r>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
        <p:nvSpPr>
          <p:cNvPr id="4" name="TextBox 3">
            <a:extLst>
              <a:ext uri="{FF2B5EF4-FFF2-40B4-BE49-F238E27FC236}">
                <a16:creationId xmlns:a16="http://schemas.microsoft.com/office/drawing/2014/main" id="{A0E4CD7B-F8E1-9AF1-9D99-F6E9949D056D}"/>
              </a:ext>
            </a:extLst>
          </p:cNvPr>
          <p:cNvSpPr txBox="1"/>
          <p:nvPr/>
        </p:nvSpPr>
        <p:spPr>
          <a:xfrm>
            <a:off x="1621536" y="2368296"/>
            <a:ext cx="8546592" cy="2121408"/>
          </a:xfrm>
          <a:prstGeom prst="rect">
            <a:avLst/>
          </a:prstGeom>
          <a:noFill/>
        </p:spPr>
        <p:txBody>
          <a:bodyPr wrap="square" lIns="0" tIns="0" rIns="0" bIns="0" rtlCol="0">
            <a:noAutofit/>
          </a:bodyPr>
          <a:lstStyle/>
          <a:p>
            <a:pPr algn="ctr">
              <a:lnSpc>
                <a:spcPct val="150000"/>
              </a:lnSpc>
            </a:pPr>
            <a:r>
              <a:rPr lang="en-AU" sz="4000"/>
              <a:t>Record the name of a </a:t>
            </a:r>
            <a:r>
              <a:rPr lang="en-AU" sz="4000" b="1"/>
              <a:t>prism </a:t>
            </a:r>
            <a:r>
              <a:rPr lang="en-AU" sz="4000"/>
              <a:t>that has a </a:t>
            </a:r>
            <a:r>
              <a:rPr lang="en-AU" sz="4000" b="1"/>
              <a:t>rectangle</a:t>
            </a:r>
            <a:r>
              <a:rPr lang="en-AU" sz="4000"/>
              <a:t> as its </a:t>
            </a:r>
            <a:r>
              <a:rPr lang="en-AU" sz="4000" b="1"/>
              <a:t>base. </a:t>
            </a:r>
            <a:endParaRPr lang="en-AU" sz="4000"/>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
        <p:nvSpPr>
          <p:cNvPr id="4" name="TextBox 3">
            <a:extLst>
              <a:ext uri="{FF2B5EF4-FFF2-40B4-BE49-F238E27FC236}">
                <a16:creationId xmlns:a16="http://schemas.microsoft.com/office/drawing/2014/main" id="{234CCA91-4EAC-8AF7-17B4-E71536E103BD}"/>
              </a:ext>
            </a:extLst>
          </p:cNvPr>
          <p:cNvSpPr txBox="1"/>
          <p:nvPr/>
        </p:nvSpPr>
        <p:spPr>
          <a:xfrm>
            <a:off x="1330094" y="1227298"/>
            <a:ext cx="9906000" cy="682388"/>
          </a:xfrm>
          <a:prstGeom prst="rect">
            <a:avLst/>
          </a:prstGeom>
          <a:noFill/>
        </p:spPr>
        <p:txBody>
          <a:bodyPr wrap="square" lIns="0" tIns="0" rIns="0" bIns="0" rtlCol="0">
            <a:noAutofit/>
          </a:bodyPr>
          <a:lstStyle/>
          <a:p>
            <a:pPr algn="ctr">
              <a:lnSpc>
                <a:spcPct val="150000"/>
              </a:lnSpc>
            </a:pPr>
            <a:r>
              <a:rPr lang="en-AU" sz="4400" b="1"/>
              <a:t>Calculate </a:t>
            </a:r>
            <a:r>
              <a:rPr lang="en-AU" sz="4400"/>
              <a:t>and </a:t>
            </a:r>
            <a:r>
              <a:rPr lang="en-AU" sz="4400" b="1"/>
              <a:t>record</a:t>
            </a:r>
            <a:r>
              <a:rPr lang="en-AU" sz="4400"/>
              <a:t> the </a:t>
            </a:r>
            <a:r>
              <a:rPr lang="en-AU" sz="4400" b="1"/>
              <a:t>perimeter</a:t>
            </a:r>
            <a:r>
              <a:rPr lang="en-AU" sz="4400"/>
              <a:t> of this triangle.</a:t>
            </a:r>
          </a:p>
        </p:txBody>
      </p:sp>
      <p:pic>
        <p:nvPicPr>
          <p:cNvPr id="7" name="Picture 6" descr="An equilateral triangle with each side labelled 82 cm.">
            <a:extLst>
              <a:ext uri="{FF2B5EF4-FFF2-40B4-BE49-F238E27FC236}">
                <a16:creationId xmlns:a16="http://schemas.microsoft.com/office/drawing/2014/main" id="{D4DBF398-6B47-02C0-9A5F-6C3D1C1602F0}"/>
              </a:ext>
            </a:extLst>
          </p:cNvPr>
          <p:cNvPicPr>
            <a:picLocks noChangeAspect="1"/>
          </p:cNvPicPr>
          <p:nvPr/>
        </p:nvPicPr>
        <p:blipFill>
          <a:blip r:embed="rId4"/>
          <a:srcRect t="12997"/>
          <a:stretch>
            <a:fillRect/>
          </a:stretch>
        </p:blipFill>
        <p:spPr>
          <a:xfrm>
            <a:off x="4150307" y="3524860"/>
            <a:ext cx="3891386" cy="3171140"/>
          </a:xfrm>
          <a:prstGeom prst="rect">
            <a:avLst/>
          </a:prstGeom>
        </p:spPr>
      </p:pic>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1 – find the area</a:t>
            </a:r>
          </a:p>
        </p:txBody>
      </p:sp>
      <p:pic>
        <p:nvPicPr>
          <p:cNvPr id="4" name="Picture 3">
            <a:extLst>
              <a:ext uri="{FF2B5EF4-FFF2-40B4-BE49-F238E27FC236}">
                <a16:creationId xmlns:a16="http://schemas.microsoft.com/office/drawing/2014/main" id="{2307795C-5521-91B9-C866-EC547ED6285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sp>
        <p:nvSpPr>
          <p:cNvPr id="5" name="TextBox 4">
            <a:extLst>
              <a:ext uri="{FF2B5EF4-FFF2-40B4-BE49-F238E27FC236}">
                <a16:creationId xmlns:a16="http://schemas.microsoft.com/office/drawing/2014/main" id="{52717795-3694-0CC9-98C4-A459F8FCD5BC}"/>
              </a:ext>
            </a:extLst>
          </p:cNvPr>
          <p:cNvSpPr txBox="1"/>
          <p:nvPr/>
        </p:nvSpPr>
        <p:spPr>
          <a:xfrm>
            <a:off x="1201003" y="1501254"/>
            <a:ext cx="9906000" cy="682388"/>
          </a:xfrm>
          <a:prstGeom prst="rect">
            <a:avLst/>
          </a:prstGeom>
          <a:noFill/>
        </p:spPr>
        <p:txBody>
          <a:bodyPr wrap="square" lIns="0" tIns="0" rIns="0" bIns="0" rtlCol="0">
            <a:noAutofit/>
          </a:bodyPr>
          <a:lstStyle/>
          <a:p>
            <a:r>
              <a:rPr lang="en-AU" sz="3200"/>
              <a:t>A section of the school playground is 73 m by 12 m.</a:t>
            </a:r>
          </a:p>
          <a:p>
            <a:endParaRPr lang="en-AU" sz="3200"/>
          </a:p>
          <a:p>
            <a:r>
              <a:rPr lang="en-AU" sz="3200" b="1"/>
              <a:t>How</a:t>
            </a:r>
            <a:r>
              <a:rPr lang="en-AU" sz="3200"/>
              <a:t> could you find the </a:t>
            </a:r>
            <a:r>
              <a:rPr lang="en-AU" sz="3200" b="1"/>
              <a:t>area</a:t>
            </a:r>
            <a:r>
              <a:rPr lang="en-AU" sz="3200"/>
              <a:t> of the playground?</a:t>
            </a:r>
          </a:p>
        </p:txBody>
      </p:sp>
      <p:pic>
        <p:nvPicPr>
          <p:cNvPr id="7" name="Picture 6" descr="A rectangle with the measurements 12 m on one short side and 73 m on one long side.">
            <a:extLst>
              <a:ext uri="{FF2B5EF4-FFF2-40B4-BE49-F238E27FC236}">
                <a16:creationId xmlns:a16="http://schemas.microsoft.com/office/drawing/2014/main" id="{BFABB533-C31A-213B-37F2-D44DD9F9BF69}"/>
              </a:ext>
            </a:extLst>
          </p:cNvPr>
          <p:cNvPicPr>
            <a:picLocks noChangeAspect="1"/>
          </p:cNvPicPr>
          <p:nvPr/>
        </p:nvPicPr>
        <p:blipFill>
          <a:blip r:embed="rId4"/>
          <a:srcRect l="6637" r="25753" b="53244"/>
          <a:stretch>
            <a:fillRect/>
          </a:stretch>
        </p:blipFill>
        <p:spPr>
          <a:xfrm>
            <a:off x="2591136" y="3168647"/>
            <a:ext cx="6558204" cy="3206496"/>
          </a:xfrm>
          <a:prstGeom prst="rect">
            <a:avLst/>
          </a:prstGeom>
        </p:spPr>
      </p:pic>
    </p:spTree>
    <p:extLst>
      <p:ext uri="{BB962C8B-B14F-4D97-AF65-F5344CB8AC3E}">
        <p14:creationId xmlns:p14="http://schemas.microsoft.com/office/powerpoint/2010/main" val="1354867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474481" y="1376699"/>
            <a:ext cx="11243037" cy="1454729"/>
          </a:xfrm>
        </p:spPr>
        <p:txBody>
          <a:bodyPr/>
          <a:lstStyle/>
          <a:p>
            <a:pPr algn="ctr"/>
            <a:r>
              <a:rPr lang="en-AU" sz="4400"/>
              <a:t>24 x 50 = 6 x (4 x 50)</a:t>
            </a:r>
          </a:p>
          <a:p>
            <a:pPr algn="ctr"/>
            <a:r>
              <a:rPr lang="en-AU" sz="4400"/>
              <a:t>which we can then think about as</a:t>
            </a:r>
          </a:p>
          <a:p>
            <a:pPr algn="ctr"/>
            <a:r>
              <a:rPr lang="en-AU" sz="4400"/>
              <a:t> 6 x 200 = 1200</a:t>
            </a:r>
          </a:p>
          <a:p>
            <a:endParaRPr lang="en-AU" sz="4400"/>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4158271482"/>
              </p:ext>
            </p:extLst>
          </p:nvPr>
        </p:nvGraphicFramePr>
        <p:xfrm>
          <a:off x="2442981" y="5370090"/>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a:extLst>
              <a:ext uri="{FF2B5EF4-FFF2-40B4-BE49-F238E27FC236}">
                <a16:creationId xmlns:a16="http://schemas.microsoft.com/office/drawing/2014/main" id="{C7718586-1339-6B81-E608-E6AA891DE5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
        <p:nvSpPr>
          <p:cNvPr id="5" name="TextBox 4">
            <a:extLst>
              <a:ext uri="{FF2B5EF4-FFF2-40B4-BE49-F238E27FC236}">
                <a16:creationId xmlns:a16="http://schemas.microsoft.com/office/drawing/2014/main" id="{84F09800-76AB-D872-A270-59B7A6734986}"/>
              </a:ext>
            </a:extLst>
          </p:cNvPr>
          <p:cNvSpPr txBox="1"/>
          <p:nvPr/>
        </p:nvSpPr>
        <p:spPr>
          <a:xfrm>
            <a:off x="1058541" y="1184223"/>
            <a:ext cx="10065459" cy="5045164"/>
          </a:xfrm>
          <a:prstGeom prst="rect">
            <a:avLst/>
          </a:prstGeom>
          <a:noFill/>
        </p:spPr>
        <p:txBody>
          <a:bodyPr wrap="square">
            <a:spAutoFit/>
          </a:bodyPr>
          <a:lstStyle/>
          <a:p>
            <a:pPr>
              <a:lnSpc>
                <a:spcPct val="150000"/>
              </a:lnSpc>
            </a:pPr>
            <a:r>
              <a:rPr lang="en-AU" sz="4400" b="1">
                <a:latin typeface="Arial" panose="020B0604020202020204" pitchFamily="34" charset="0"/>
                <a:cs typeface="Arial" panose="020B0604020202020204" pitchFamily="34" charset="0"/>
              </a:rPr>
              <a:t>Round</a:t>
            </a:r>
            <a:r>
              <a:rPr lang="en-AU" sz="4400">
                <a:latin typeface="Arial" panose="020B0604020202020204" pitchFamily="34" charset="0"/>
                <a:cs typeface="Arial" panose="020B0604020202020204" pitchFamily="34" charset="0"/>
              </a:rPr>
              <a:t> 8 963 258 to the </a:t>
            </a:r>
            <a:r>
              <a:rPr lang="en-AU" sz="4400" b="1">
                <a:latin typeface="Arial" panose="020B0604020202020204" pitchFamily="34" charset="0"/>
                <a:cs typeface="Arial" panose="020B0604020202020204" pitchFamily="34" charset="0"/>
              </a:rPr>
              <a:t>nearest</a:t>
            </a:r>
            <a:r>
              <a:rPr lang="en-AU" sz="4400">
                <a:latin typeface="Arial" panose="020B0604020202020204" pitchFamily="34" charset="0"/>
                <a:cs typeface="Arial" panose="020B0604020202020204" pitchFamily="34" charset="0"/>
              </a:rPr>
              <a:t>:</a:t>
            </a:r>
          </a:p>
          <a:p>
            <a:pPr marL="742950" indent="-742950">
              <a:lnSpc>
                <a:spcPct val="150000"/>
              </a:lnSpc>
              <a:buFont typeface="+mj-lt"/>
              <a:buAutoNum type="alphaLcParenR"/>
            </a:pPr>
            <a:r>
              <a:rPr lang="en-AU" sz="4400">
                <a:latin typeface="Arial" panose="020B0604020202020204" pitchFamily="34" charset="0"/>
                <a:cs typeface="Arial" panose="020B0604020202020204" pitchFamily="34" charset="0"/>
              </a:rPr>
              <a:t>thousand </a:t>
            </a:r>
          </a:p>
          <a:p>
            <a:pPr marL="742950" indent="-742950">
              <a:lnSpc>
                <a:spcPct val="150000"/>
              </a:lnSpc>
              <a:buFont typeface="+mj-lt"/>
              <a:buAutoNum type="alphaLcParenR"/>
            </a:pPr>
            <a:r>
              <a:rPr lang="en-AU" sz="4400">
                <a:latin typeface="Arial" panose="020B0604020202020204" pitchFamily="34" charset="0"/>
                <a:cs typeface="Arial" panose="020B0604020202020204" pitchFamily="34" charset="0"/>
              </a:rPr>
              <a:t>ten thousand </a:t>
            </a:r>
          </a:p>
          <a:p>
            <a:pPr marL="742950" indent="-742950">
              <a:lnSpc>
                <a:spcPct val="150000"/>
              </a:lnSpc>
              <a:buFont typeface="+mj-lt"/>
              <a:buAutoNum type="alphaLcParenR"/>
            </a:pPr>
            <a:r>
              <a:rPr lang="en-AU" sz="4400">
                <a:latin typeface="Arial" panose="020B0604020202020204" pitchFamily="34" charset="0"/>
                <a:cs typeface="Arial" panose="020B0604020202020204" pitchFamily="34" charset="0"/>
              </a:rPr>
              <a:t>hundred thousand </a:t>
            </a:r>
          </a:p>
          <a:p>
            <a:pPr marL="742950" indent="-742950">
              <a:lnSpc>
                <a:spcPct val="150000"/>
              </a:lnSpc>
              <a:buFont typeface="+mj-lt"/>
              <a:buAutoNum type="alphaLcParenR"/>
            </a:pPr>
            <a:r>
              <a:rPr lang="en-AU" sz="4400">
                <a:latin typeface="Arial" panose="020B0604020202020204" pitchFamily="34" charset="0"/>
                <a:cs typeface="Arial" panose="020B0604020202020204" pitchFamily="34" charset="0"/>
              </a:rPr>
              <a:t>million </a:t>
            </a:r>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pic>
        <p:nvPicPr>
          <p:cNvPr id="3" name="Picture 2">
            <a:extLst>
              <a:ext uri="{FF2B5EF4-FFF2-40B4-BE49-F238E27FC236}">
                <a16:creationId xmlns:a16="http://schemas.microsoft.com/office/drawing/2014/main" id="{9C8770A4-A467-8E0A-C417-8D3F46A532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
        <p:nvSpPr>
          <p:cNvPr id="4" name="TextBox 3">
            <a:extLst>
              <a:ext uri="{FF2B5EF4-FFF2-40B4-BE49-F238E27FC236}">
                <a16:creationId xmlns:a16="http://schemas.microsoft.com/office/drawing/2014/main" id="{216A5FC1-3D36-BB5A-9EE3-C336B34AB13C}"/>
              </a:ext>
            </a:extLst>
          </p:cNvPr>
          <p:cNvSpPr txBox="1"/>
          <p:nvPr/>
        </p:nvSpPr>
        <p:spPr>
          <a:xfrm>
            <a:off x="531246" y="1184223"/>
            <a:ext cx="11129508" cy="4206240"/>
          </a:xfrm>
          <a:prstGeom prst="rect">
            <a:avLst/>
          </a:prstGeom>
          <a:noFill/>
        </p:spPr>
        <p:txBody>
          <a:bodyPr wrap="square" lIns="0" tIns="0" rIns="0" bIns="0" rtlCol="0">
            <a:noAutofit/>
          </a:bodyPr>
          <a:lstStyle/>
          <a:p>
            <a:pPr>
              <a:lnSpc>
                <a:spcPct val="150000"/>
              </a:lnSpc>
            </a:pPr>
            <a:r>
              <a:rPr lang="en-AU" sz="4400"/>
              <a:t>Use the symbol for </a:t>
            </a:r>
            <a:r>
              <a:rPr lang="en-AU" sz="4400" b="1"/>
              <a:t>degrees</a:t>
            </a:r>
            <a:r>
              <a:rPr lang="en-AU" sz="4400"/>
              <a:t> to </a:t>
            </a:r>
            <a:r>
              <a:rPr lang="en-AU" sz="4400" b="1"/>
              <a:t>record</a:t>
            </a:r>
            <a:r>
              <a:rPr lang="en-AU" sz="4400"/>
              <a:t> the </a:t>
            </a:r>
            <a:r>
              <a:rPr lang="en-AU" sz="4400" b="1"/>
              <a:t>size</a:t>
            </a:r>
            <a:r>
              <a:rPr lang="en-AU" sz="4400"/>
              <a:t> of the following </a:t>
            </a:r>
            <a:r>
              <a:rPr lang="en-AU" sz="4400" b="1"/>
              <a:t>angles</a:t>
            </a:r>
            <a:r>
              <a:rPr lang="en-AU" sz="4400"/>
              <a:t>:</a:t>
            </a:r>
          </a:p>
          <a:p>
            <a:pPr marL="285750" indent="-285750" algn="l">
              <a:lnSpc>
                <a:spcPct val="150000"/>
              </a:lnSpc>
              <a:buFont typeface="Arial" panose="020B0604020202020204" pitchFamily="34" charset="0"/>
              <a:buChar char="•"/>
            </a:pPr>
            <a:r>
              <a:rPr lang="en-AU" sz="4400"/>
              <a:t> right angle</a:t>
            </a:r>
          </a:p>
          <a:p>
            <a:pPr marL="285750" indent="-285750" algn="l">
              <a:lnSpc>
                <a:spcPct val="150000"/>
              </a:lnSpc>
              <a:buFont typeface="Arial" panose="020B0604020202020204" pitchFamily="34" charset="0"/>
              <a:buChar char="•"/>
            </a:pPr>
            <a:r>
              <a:rPr lang="en-AU" sz="4400"/>
              <a:t> angle of revolution</a:t>
            </a:r>
          </a:p>
          <a:p>
            <a:pPr marL="285750" indent="-285750" algn="l">
              <a:lnSpc>
                <a:spcPct val="150000"/>
              </a:lnSpc>
              <a:buFont typeface="Arial" panose="020B0604020202020204" pitchFamily="34" charset="0"/>
              <a:buChar char="•"/>
            </a:pPr>
            <a:r>
              <a:rPr lang="en-AU" sz="4400"/>
              <a:t> straight angle.</a:t>
            </a:r>
          </a:p>
          <a:p>
            <a:pPr algn="l"/>
            <a:endParaRPr lang="en-AU" sz="1800"/>
          </a:p>
          <a:p>
            <a:pPr algn="l"/>
            <a:endParaRPr lang="en-AU" sz="1800"/>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descr="Image of a three-dimensional object in the shape of a square pyramid.">
            <a:extLst>
              <a:ext uri="{FF2B5EF4-FFF2-40B4-BE49-F238E27FC236}">
                <a16:creationId xmlns:a16="http://schemas.microsoft.com/office/drawing/2014/main" id="{EDF38336-76D9-DD2A-10A1-E5D977324255}"/>
              </a:ext>
            </a:extLst>
          </p:cNvPr>
          <p:cNvSpPr txBox="1"/>
          <p:nvPr/>
        </p:nvSpPr>
        <p:spPr>
          <a:xfrm>
            <a:off x="1345524" y="1014783"/>
            <a:ext cx="9381744" cy="1109472"/>
          </a:xfrm>
          <a:prstGeom prst="rect">
            <a:avLst/>
          </a:prstGeom>
          <a:noFill/>
        </p:spPr>
        <p:txBody>
          <a:bodyPr wrap="square" lIns="0" tIns="0" rIns="0" bIns="0" rtlCol="0">
            <a:noAutofit/>
          </a:bodyPr>
          <a:lstStyle/>
          <a:p>
            <a:pPr algn="ctr">
              <a:lnSpc>
                <a:spcPct val="150000"/>
              </a:lnSpc>
            </a:pPr>
            <a:r>
              <a:rPr lang="en-AU" sz="3600" b="1"/>
              <a:t>Visualise</a:t>
            </a:r>
            <a:r>
              <a:rPr lang="en-AU" sz="3600"/>
              <a:t> and </a:t>
            </a:r>
            <a:r>
              <a:rPr lang="en-AU" sz="3600" b="1"/>
              <a:t>sketch</a:t>
            </a:r>
            <a:r>
              <a:rPr lang="en-AU" sz="3600"/>
              <a:t> this three-dimensional object from its </a:t>
            </a:r>
            <a:r>
              <a:rPr lang="en-AU" sz="3600" b="1"/>
              <a:t>top view</a:t>
            </a:r>
            <a:r>
              <a:rPr lang="en-AU" sz="3600"/>
              <a:t>.</a:t>
            </a:r>
          </a:p>
        </p:txBody>
      </p:sp>
      <p:pic>
        <p:nvPicPr>
          <p:cNvPr id="4" name="Picture 3" descr="An image of an object in the shape of a square pyramid.">
            <a:extLst>
              <a:ext uri="{FF2B5EF4-FFF2-40B4-BE49-F238E27FC236}">
                <a16:creationId xmlns:a16="http://schemas.microsoft.com/office/drawing/2014/main" id="{A2BC9A0E-FF04-9317-0CFC-7FEBC423A316}"/>
              </a:ext>
            </a:extLst>
          </p:cNvPr>
          <p:cNvPicPr>
            <a:picLocks noChangeAspect="1"/>
          </p:cNvPicPr>
          <p:nvPr/>
        </p:nvPicPr>
        <p:blipFill>
          <a:blip r:embed="rId4"/>
          <a:srcRect l="41796" t="65264" r="37420" b="9053"/>
          <a:stretch>
            <a:fillRect/>
          </a:stretch>
        </p:blipFill>
        <p:spPr>
          <a:xfrm>
            <a:off x="4167743" y="2764517"/>
            <a:ext cx="4211981" cy="3841483"/>
          </a:xfrm>
          <a:prstGeom prst="rect">
            <a:avLst/>
          </a:prstGeom>
        </p:spPr>
      </p:pic>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pic>
        <p:nvPicPr>
          <p:cNvPr id="3" name="Picture 2">
            <a:extLst>
              <a:ext uri="{FF2B5EF4-FFF2-40B4-BE49-F238E27FC236}">
                <a16:creationId xmlns:a16="http://schemas.microsoft.com/office/drawing/2014/main" id="{5D2DD89E-AAB3-5EBB-F36F-72D71287FEE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
        <p:nvSpPr>
          <p:cNvPr id="4" name="TextBox 3">
            <a:extLst>
              <a:ext uri="{FF2B5EF4-FFF2-40B4-BE49-F238E27FC236}">
                <a16:creationId xmlns:a16="http://schemas.microsoft.com/office/drawing/2014/main" id="{53D728C9-3080-B595-C2FB-AA5FEF0D33A5}"/>
              </a:ext>
            </a:extLst>
          </p:cNvPr>
          <p:cNvSpPr txBox="1"/>
          <p:nvPr/>
        </p:nvSpPr>
        <p:spPr>
          <a:xfrm>
            <a:off x="1218000" y="1725606"/>
            <a:ext cx="9906000" cy="682388"/>
          </a:xfrm>
          <a:prstGeom prst="rect">
            <a:avLst/>
          </a:prstGeom>
          <a:noFill/>
        </p:spPr>
        <p:txBody>
          <a:bodyPr wrap="square" lIns="0" tIns="0" rIns="0" bIns="0" rtlCol="0">
            <a:noAutofit/>
          </a:bodyPr>
          <a:lstStyle/>
          <a:p>
            <a:pPr algn="ctr">
              <a:lnSpc>
                <a:spcPct val="150000"/>
              </a:lnSpc>
            </a:pPr>
            <a:r>
              <a:rPr lang="en-AU" sz="4400" b="1"/>
              <a:t>Draw</a:t>
            </a:r>
            <a:r>
              <a:rPr lang="en-AU" sz="4400"/>
              <a:t> and </a:t>
            </a:r>
            <a:r>
              <a:rPr lang="en-AU" sz="4400" b="1"/>
              <a:t>label </a:t>
            </a:r>
            <a:r>
              <a:rPr lang="en-AU" sz="4400"/>
              <a:t>2 rectangles with the </a:t>
            </a:r>
            <a:r>
              <a:rPr lang="en-AU" sz="4400" b="1"/>
              <a:t>same perimeter </a:t>
            </a:r>
            <a:r>
              <a:rPr lang="en-AU" sz="4400"/>
              <a:t>but </a:t>
            </a:r>
            <a:r>
              <a:rPr lang="en-AU" sz="4400" b="1"/>
              <a:t>different dimensions.</a:t>
            </a:r>
          </a:p>
          <a:p>
            <a:pPr algn="ctr">
              <a:lnSpc>
                <a:spcPct val="150000"/>
              </a:lnSpc>
            </a:pPr>
            <a:endParaRPr lang="en-AU" sz="4000" b="1"/>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factorising numbers </a:t>
            </a:r>
          </a:p>
        </p:txBody>
      </p:sp>
      <p:pic>
        <p:nvPicPr>
          <p:cNvPr id="4" name="Picture 3">
            <a:extLst>
              <a:ext uri="{FF2B5EF4-FFF2-40B4-BE49-F238E27FC236}">
                <a16:creationId xmlns:a16="http://schemas.microsoft.com/office/drawing/2014/main" id="{D6502462-26FB-38CD-06DC-5F98705966B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sp>
        <p:nvSpPr>
          <p:cNvPr id="3" name="TextBox 2">
            <a:extLst>
              <a:ext uri="{FF2B5EF4-FFF2-40B4-BE49-F238E27FC236}">
                <a16:creationId xmlns:a16="http://schemas.microsoft.com/office/drawing/2014/main" id="{6C988DC8-6EA5-A514-B418-DCEF1ABB7501}"/>
              </a:ext>
            </a:extLst>
          </p:cNvPr>
          <p:cNvSpPr txBox="1"/>
          <p:nvPr/>
        </p:nvSpPr>
        <p:spPr>
          <a:xfrm>
            <a:off x="1149761" y="2555543"/>
            <a:ext cx="9974239" cy="1746913"/>
          </a:xfrm>
          <a:prstGeom prst="rect">
            <a:avLst/>
          </a:prstGeom>
          <a:noFill/>
        </p:spPr>
        <p:txBody>
          <a:bodyPr wrap="square" lIns="0" tIns="0" rIns="0" bIns="0" rtlCol="0">
            <a:noAutofit/>
          </a:bodyPr>
          <a:lstStyle/>
          <a:p>
            <a:pPr algn="ctr"/>
            <a:r>
              <a:rPr lang="en-AU" sz="4000"/>
              <a:t>A minibus can carry 25 passengers. </a:t>
            </a:r>
          </a:p>
          <a:p>
            <a:pPr algn="ctr"/>
            <a:endParaRPr lang="en-AU" sz="4000"/>
          </a:p>
          <a:p>
            <a:pPr algn="ctr"/>
            <a:r>
              <a:rPr lang="en-AU" sz="4000" b="1"/>
              <a:t>How many </a:t>
            </a:r>
            <a:r>
              <a:rPr lang="en-AU" sz="4000"/>
              <a:t>people can 32 minibuses carry?</a:t>
            </a:r>
          </a:p>
        </p:txBody>
      </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(2)</a:t>
            </a:r>
          </a:p>
        </p:txBody>
      </p:sp>
      <p:pic>
        <p:nvPicPr>
          <p:cNvPr id="4" name="Picture 3">
            <a:extLst>
              <a:ext uri="{FF2B5EF4-FFF2-40B4-BE49-F238E27FC236}">
                <a16:creationId xmlns:a16="http://schemas.microsoft.com/office/drawing/2014/main" id="{5F5E1EF3-7C5A-15B4-C7B4-000AE4784B4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60D87FE7-103F-733E-E64E-89AD0B777B6B}"/>
              </a:ext>
            </a:extLst>
          </p:cNvPr>
          <p:cNvSpPr>
            <a:spLocks noGrp="1"/>
          </p:cNvSpPr>
          <p:nvPr>
            <p:ph type="body" sz="quarter" idx="24"/>
          </p:nvPr>
        </p:nvSpPr>
        <p:spPr>
          <a:xfrm>
            <a:off x="360000" y="1548665"/>
            <a:ext cx="11484000" cy="893226"/>
          </a:xfrm>
        </p:spPr>
        <p:txBody>
          <a:bodyPr/>
          <a:lstStyle/>
          <a:p>
            <a:pPr lvl="0" algn="ctr"/>
            <a:r>
              <a:rPr lang="en-AU" sz="3600"/>
              <a:t>A bus company owns </a:t>
            </a:r>
            <a:r>
              <a:rPr lang="en-AU" sz="3600" b="1"/>
              <a:t>34</a:t>
            </a:r>
            <a:r>
              <a:rPr lang="en-AU" sz="3600"/>
              <a:t> buses. Each bus has </a:t>
            </a:r>
            <a:r>
              <a:rPr lang="en-AU" sz="3600" b="1"/>
              <a:t>28</a:t>
            </a:r>
            <a:r>
              <a:rPr lang="en-AU" sz="3600"/>
              <a:t> seats.</a:t>
            </a:r>
          </a:p>
          <a:p>
            <a:pPr lvl="0" algn="ctr"/>
            <a:r>
              <a:rPr lang="en-AU" sz="3600"/>
              <a:t>If 50% of the seats are filled, </a:t>
            </a:r>
            <a:r>
              <a:rPr lang="en-AU" sz="3600" b="1"/>
              <a:t>how many </a:t>
            </a:r>
            <a:r>
              <a:rPr lang="en-AU" sz="3600"/>
              <a:t>passengers are there?</a:t>
            </a:r>
          </a:p>
          <a:p>
            <a:endParaRPr lang="en-US" sz="4400"/>
          </a:p>
        </p:txBody>
      </p:sp>
      <p:sp>
        <p:nvSpPr>
          <p:cNvPr id="9" name="TextBox 8">
            <a:extLst>
              <a:ext uri="{FF2B5EF4-FFF2-40B4-BE49-F238E27FC236}">
                <a16:creationId xmlns:a16="http://schemas.microsoft.com/office/drawing/2014/main" id="{AF13415D-5ABE-8CE1-9EF6-D83C6FF3BAC9}"/>
              </a:ext>
            </a:extLst>
          </p:cNvPr>
          <p:cNvSpPr txBox="1"/>
          <p:nvPr/>
        </p:nvSpPr>
        <p:spPr>
          <a:xfrm>
            <a:off x="1047131" y="486272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5" name="TextBox 4">
            <a:extLst>
              <a:ext uri="{FF2B5EF4-FFF2-40B4-BE49-F238E27FC236}">
                <a16:creationId xmlns:a16="http://schemas.microsoft.com/office/drawing/2014/main" id="{AFD20A8D-157B-4FBE-2F3A-C8F88DA98D8A}"/>
              </a:ext>
            </a:extLst>
          </p:cNvPr>
          <p:cNvSpPr txBox="1"/>
          <p:nvPr/>
        </p:nvSpPr>
        <p:spPr>
          <a:xfrm>
            <a:off x="812987" y="5754637"/>
            <a:ext cx="997719" cy="738664"/>
          </a:xfrm>
          <a:prstGeom prst="rect">
            <a:avLst/>
          </a:prstGeom>
          <a:noFill/>
        </p:spPr>
        <p:txBody>
          <a:bodyPr wrap="square" lIns="0" tIns="0" rIns="0" bIns="0" rtlCol="0">
            <a:noAutofit/>
          </a:bodyPr>
          <a:lstStyle/>
          <a:p>
            <a:pPr algn="l"/>
            <a:r>
              <a:rPr lang="en-AU" sz="4000"/>
              <a:t>476</a:t>
            </a:r>
          </a:p>
        </p:txBody>
      </p:sp>
      <p:sp>
        <p:nvSpPr>
          <p:cNvPr id="10" name="TextBox 9">
            <a:extLst>
              <a:ext uri="{FF2B5EF4-FFF2-40B4-BE49-F238E27FC236}">
                <a16:creationId xmlns:a16="http://schemas.microsoft.com/office/drawing/2014/main" id="{06BFC4FD-CDBD-E74C-2B4B-957276E8D806}"/>
              </a:ext>
            </a:extLst>
          </p:cNvPr>
          <p:cNvSpPr txBox="1"/>
          <p:nvPr/>
        </p:nvSpPr>
        <p:spPr>
          <a:xfrm>
            <a:off x="3985592" y="486272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6" name="TextBox 5">
            <a:extLst>
              <a:ext uri="{FF2B5EF4-FFF2-40B4-BE49-F238E27FC236}">
                <a16:creationId xmlns:a16="http://schemas.microsoft.com/office/drawing/2014/main" id="{C80632CD-BF5C-8E65-F6A7-0C6FC23C2048}"/>
              </a:ext>
            </a:extLst>
          </p:cNvPr>
          <p:cNvSpPr txBox="1"/>
          <p:nvPr/>
        </p:nvSpPr>
        <p:spPr>
          <a:xfrm>
            <a:off x="3751448" y="5759336"/>
            <a:ext cx="997719" cy="738664"/>
          </a:xfrm>
          <a:prstGeom prst="rect">
            <a:avLst/>
          </a:prstGeom>
          <a:noFill/>
        </p:spPr>
        <p:txBody>
          <a:bodyPr wrap="square" lIns="0" tIns="0" rIns="0" bIns="0" rtlCol="0">
            <a:noAutofit/>
          </a:bodyPr>
          <a:lstStyle/>
          <a:p>
            <a:pPr algn="l"/>
            <a:r>
              <a:rPr lang="en-AU" sz="4000"/>
              <a:t>474</a:t>
            </a:r>
          </a:p>
        </p:txBody>
      </p:sp>
      <p:sp>
        <p:nvSpPr>
          <p:cNvPr id="12" name="TextBox 11">
            <a:extLst>
              <a:ext uri="{FF2B5EF4-FFF2-40B4-BE49-F238E27FC236}">
                <a16:creationId xmlns:a16="http://schemas.microsoft.com/office/drawing/2014/main" id="{0CCBA3B1-EB4D-D918-A8D0-B78C7621C52A}"/>
              </a:ext>
            </a:extLst>
          </p:cNvPr>
          <p:cNvSpPr txBox="1"/>
          <p:nvPr/>
        </p:nvSpPr>
        <p:spPr>
          <a:xfrm>
            <a:off x="6924053" y="486272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7" name="TextBox 6">
            <a:extLst>
              <a:ext uri="{FF2B5EF4-FFF2-40B4-BE49-F238E27FC236}">
                <a16:creationId xmlns:a16="http://schemas.microsoft.com/office/drawing/2014/main" id="{943A4937-A9CF-4AF4-707B-0C5D3C2FED4D}"/>
              </a:ext>
            </a:extLst>
          </p:cNvPr>
          <p:cNvSpPr txBox="1"/>
          <p:nvPr/>
        </p:nvSpPr>
        <p:spPr>
          <a:xfrm>
            <a:off x="6689909" y="5754637"/>
            <a:ext cx="997719" cy="738664"/>
          </a:xfrm>
          <a:prstGeom prst="rect">
            <a:avLst/>
          </a:prstGeom>
          <a:noFill/>
        </p:spPr>
        <p:txBody>
          <a:bodyPr wrap="square" lIns="0" tIns="0" rIns="0" bIns="0" rtlCol="0">
            <a:noAutofit/>
          </a:bodyPr>
          <a:lstStyle/>
          <a:p>
            <a:pPr algn="l"/>
            <a:r>
              <a:rPr lang="en-AU" sz="4000"/>
              <a:t>976</a:t>
            </a:r>
          </a:p>
        </p:txBody>
      </p:sp>
      <p:sp>
        <p:nvSpPr>
          <p:cNvPr id="11" name="TextBox 10">
            <a:extLst>
              <a:ext uri="{FF2B5EF4-FFF2-40B4-BE49-F238E27FC236}">
                <a16:creationId xmlns:a16="http://schemas.microsoft.com/office/drawing/2014/main" id="{002A7C63-4C7D-5EB4-47F9-AF81CCED5985}"/>
              </a:ext>
            </a:extLst>
          </p:cNvPr>
          <p:cNvSpPr txBox="1"/>
          <p:nvPr/>
        </p:nvSpPr>
        <p:spPr>
          <a:xfrm>
            <a:off x="9862514" y="486272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8" name="TextBox 7">
            <a:extLst>
              <a:ext uri="{FF2B5EF4-FFF2-40B4-BE49-F238E27FC236}">
                <a16:creationId xmlns:a16="http://schemas.microsoft.com/office/drawing/2014/main" id="{A985CBFE-F21F-07AD-CC56-676ECA9D15A4}"/>
              </a:ext>
            </a:extLst>
          </p:cNvPr>
          <p:cNvSpPr txBox="1"/>
          <p:nvPr/>
        </p:nvSpPr>
        <p:spPr>
          <a:xfrm>
            <a:off x="9628370" y="5754637"/>
            <a:ext cx="997719" cy="738664"/>
          </a:xfrm>
          <a:prstGeom prst="rect">
            <a:avLst/>
          </a:prstGeom>
          <a:noFill/>
        </p:spPr>
        <p:txBody>
          <a:bodyPr wrap="square" lIns="0" tIns="0" rIns="0" bIns="0" rtlCol="0">
            <a:noAutofit/>
          </a:bodyPr>
          <a:lstStyle/>
          <a:p>
            <a:pPr algn="l"/>
            <a:r>
              <a:rPr lang="en-AU" sz="4000"/>
              <a:t>952</a:t>
            </a:r>
          </a:p>
        </p:txBody>
      </p:sp>
      <p:sp>
        <p:nvSpPr>
          <p:cNvPr id="2" name="Slide Number Placeholder 1">
            <a:extLst>
              <a:ext uri="{FF2B5EF4-FFF2-40B4-BE49-F238E27FC236}">
                <a16:creationId xmlns:a16="http://schemas.microsoft.com/office/drawing/2014/main" id="{A1293A7A-9C27-9EEF-CD29-DBB1D9D8402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pic>
        <p:nvPicPr>
          <p:cNvPr id="3" name="Picture 2">
            <a:extLst>
              <a:ext uri="{FF2B5EF4-FFF2-40B4-BE49-F238E27FC236}">
                <a16:creationId xmlns:a16="http://schemas.microsoft.com/office/drawing/2014/main" id="{5EA70859-D7F4-2B7A-27DC-68B58B2816C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
        <p:nvSpPr>
          <p:cNvPr id="4" name="Text Placeholder 17">
            <a:extLst>
              <a:ext uri="{FF2B5EF4-FFF2-40B4-BE49-F238E27FC236}">
                <a16:creationId xmlns:a16="http://schemas.microsoft.com/office/drawing/2014/main" id="{1A02257B-17BC-DF55-894F-CCC64AAB831E}"/>
              </a:ext>
            </a:extLst>
          </p:cNvPr>
          <p:cNvSpPr txBox="1">
            <a:spLocks/>
          </p:cNvSpPr>
          <p:nvPr/>
        </p:nvSpPr>
        <p:spPr>
          <a:xfrm>
            <a:off x="702939" y="1466919"/>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400" b="1"/>
              <a:t>Order</a:t>
            </a:r>
            <a:r>
              <a:rPr lang="en-AU" sz="4400"/>
              <a:t> these decimals in </a:t>
            </a:r>
            <a:r>
              <a:rPr lang="en-AU" sz="4400" b="1"/>
              <a:t>descending</a:t>
            </a:r>
            <a:r>
              <a:rPr lang="en-AU" sz="4400"/>
              <a:t> order:</a:t>
            </a:r>
          </a:p>
          <a:p>
            <a:endParaRPr lang="en-US" sz="4400"/>
          </a:p>
        </p:txBody>
      </p:sp>
      <p:sp>
        <p:nvSpPr>
          <p:cNvPr id="5" name="TextBox 4">
            <a:extLst>
              <a:ext uri="{FF2B5EF4-FFF2-40B4-BE49-F238E27FC236}">
                <a16:creationId xmlns:a16="http://schemas.microsoft.com/office/drawing/2014/main" id="{5F5C0CA5-9D7B-025C-3CE1-B6B650D70E11}"/>
              </a:ext>
            </a:extLst>
          </p:cNvPr>
          <p:cNvSpPr txBox="1"/>
          <p:nvPr/>
        </p:nvSpPr>
        <p:spPr>
          <a:xfrm>
            <a:off x="479719" y="3814689"/>
            <a:ext cx="2556000" cy="900000"/>
          </a:xfrm>
          <a:prstGeom prst="rect">
            <a:avLst/>
          </a:prstGeom>
          <a:noFill/>
          <a:ln w="57150">
            <a:solidFill>
              <a:schemeClr val="accent2"/>
            </a:solidFill>
          </a:ln>
        </p:spPr>
        <p:txBody>
          <a:bodyPr wrap="none" lIns="180000" tIns="180000" rIns="180000" bIns="180000" rtlCol="0">
            <a:noAutofit/>
          </a:bodyPr>
          <a:lstStyle>
            <a:defPPr>
              <a:defRPr lang="en-US"/>
            </a:defPPr>
            <a:lvl1pPr algn="ctr">
              <a:defRPr sz="4400"/>
            </a:lvl1pPr>
          </a:lstStyle>
          <a:p>
            <a:r>
              <a:rPr lang="en-AU"/>
              <a:t>1.369</a:t>
            </a:r>
          </a:p>
        </p:txBody>
      </p:sp>
      <p:sp>
        <p:nvSpPr>
          <p:cNvPr id="8" name="TextBox 7">
            <a:extLst>
              <a:ext uri="{FF2B5EF4-FFF2-40B4-BE49-F238E27FC236}">
                <a16:creationId xmlns:a16="http://schemas.microsoft.com/office/drawing/2014/main" id="{80CF23C9-D57A-64DD-EECA-BF5D49592C4E}"/>
              </a:ext>
            </a:extLst>
          </p:cNvPr>
          <p:cNvSpPr txBox="1"/>
          <p:nvPr/>
        </p:nvSpPr>
        <p:spPr>
          <a:xfrm>
            <a:off x="3366211" y="3814689"/>
            <a:ext cx="2556000" cy="900000"/>
          </a:xfrm>
          <a:prstGeom prst="rect">
            <a:avLst/>
          </a:prstGeom>
          <a:noFill/>
          <a:ln w="57150">
            <a:solidFill>
              <a:schemeClr val="accent2"/>
            </a:solidFill>
          </a:ln>
        </p:spPr>
        <p:txBody>
          <a:bodyPr wrap="none" lIns="180000" tIns="180000" rIns="180000" bIns="180000" rtlCol="0">
            <a:noAutofit/>
          </a:bodyPr>
          <a:lstStyle>
            <a:defPPr>
              <a:defRPr lang="en-US"/>
            </a:defPPr>
            <a:lvl1pPr algn="ctr">
              <a:defRPr sz="4400"/>
            </a:lvl1pPr>
          </a:lstStyle>
          <a:p>
            <a:r>
              <a:rPr lang="en-AU"/>
              <a:t>1.258</a:t>
            </a:r>
          </a:p>
        </p:txBody>
      </p:sp>
      <p:sp>
        <p:nvSpPr>
          <p:cNvPr id="9" name="TextBox 8">
            <a:extLst>
              <a:ext uri="{FF2B5EF4-FFF2-40B4-BE49-F238E27FC236}">
                <a16:creationId xmlns:a16="http://schemas.microsoft.com/office/drawing/2014/main" id="{B62A534A-0B79-80A6-D62B-24F51516C95D}"/>
              </a:ext>
            </a:extLst>
          </p:cNvPr>
          <p:cNvSpPr txBox="1"/>
          <p:nvPr/>
        </p:nvSpPr>
        <p:spPr>
          <a:xfrm>
            <a:off x="6252703" y="3814689"/>
            <a:ext cx="2556000" cy="900000"/>
          </a:xfrm>
          <a:prstGeom prst="rect">
            <a:avLst/>
          </a:prstGeom>
          <a:noFill/>
          <a:ln w="57150">
            <a:solidFill>
              <a:schemeClr val="accent2"/>
            </a:solidFill>
          </a:ln>
        </p:spPr>
        <p:txBody>
          <a:bodyPr wrap="none" lIns="180000" tIns="180000" rIns="180000" bIns="180000" rtlCol="0">
            <a:noAutofit/>
          </a:bodyPr>
          <a:lstStyle>
            <a:defPPr>
              <a:defRPr lang="en-US"/>
            </a:defPPr>
            <a:lvl1pPr algn="ctr">
              <a:defRPr sz="4400"/>
            </a:lvl1pPr>
          </a:lstStyle>
          <a:p>
            <a:r>
              <a:rPr lang="en-AU"/>
              <a:t>1.896</a:t>
            </a:r>
          </a:p>
        </p:txBody>
      </p:sp>
      <p:sp>
        <p:nvSpPr>
          <p:cNvPr id="7" name="TextBox 6">
            <a:extLst>
              <a:ext uri="{FF2B5EF4-FFF2-40B4-BE49-F238E27FC236}">
                <a16:creationId xmlns:a16="http://schemas.microsoft.com/office/drawing/2014/main" id="{831FE97B-C4DB-EE3E-D682-00245C7E9F78}"/>
              </a:ext>
            </a:extLst>
          </p:cNvPr>
          <p:cNvSpPr txBox="1"/>
          <p:nvPr/>
        </p:nvSpPr>
        <p:spPr>
          <a:xfrm>
            <a:off x="9127288" y="3814689"/>
            <a:ext cx="2556000" cy="900000"/>
          </a:xfrm>
          <a:prstGeom prst="rect">
            <a:avLst/>
          </a:prstGeom>
          <a:noFill/>
          <a:ln w="57150">
            <a:solidFill>
              <a:schemeClr val="accent2"/>
            </a:solidFill>
          </a:ln>
        </p:spPr>
        <p:txBody>
          <a:bodyPr wrap="none" lIns="180000" tIns="180000" rIns="180000" bIns="180000" rtlCol="0">
            <a:noAutofit/>
          </a:bodyPr>
          <a:lstStyle>
            <a:defPPr>
              <a:defRPr lang="en-US"/>
            </a:defPPr>
            <a:lvl1pPr algn="ctr">
              <a:defRPr sz="4400"/>
            </a:lvl1pPr>
          </a:lstStyle>
          <a:p>
            <a:r>
              <a:rPr lang="en-AU"/>
              <a:t>1.895</a:t>
            </a:r>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a:extLst>
              <a:ext uri="{FF2B5EF4-FFF2-40B4-BE49-F238E27FC236}">
                <a16:creationId xmlns:a16="http://schemas.microsoft.com/office/drawing/2014/main" id="{95A63C50-93CA-645D-9F2D-21E08F0D17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
        <p:nvSpPr>
          <p:cNvPr id="4" name="TextBox 3">
            <a:extLst>
              <a:ext uri="{FF2B5EF4-FFF2-40B4-BE49-F238E27FC236}">
                <a16:creationId xmlns:a16="http://schemas.microsoft.com/office/drawing/2014/main" id="{174B2A7E-D1A7-B9BB-1CDF-BE3D45A6E8ED}"/>
              </a:ext>
            </a:extLst>
          </p:cNvPr>
          <p:cNvSpPr txBox="1"/>
          <p:nvPr/>
        </p:nvSpPr>
        <p:spPr>
          <a:xfrm>
            <a:off x="1141712" y="1025598"/>
            <a:ext cx="9737160" cy="2743200"/>
          </a:xfrm>
          <a:prstGeom prst="rect">
            <a:avLst/>
          </a:prstGeom>
          <a:noFill/>
        </p:spPr>
        <p:txBody>
          <a:bodyPr wrap="square" lIns="0" tIns="0" rIns="0" bIns="0" rtlCol="0">
            <a:noAutofit/>
          </a:bodyPr>
          <a:lstStyle/>
          <a:p>
            <a:pPr algn="ctr">
              <a:lnSpc>
                <a:spcPct val="150000"/>
              </a:lnSpc>
            </a:pPr>
            <a:r>
              <a:rPr lang="en-AU" sz="4000" b="1"/>
              <a:t>Record</a:t>
            </a:r>
            <a:r>
              <a:rPr lang="en-AU" sz="4000"/>
              <a:t> one thing you need to remember to do when using a </a:t>
            </a:r>
            <a:r>
              <a:rPr lang="en-AU" sz="4000" b="1"/>
              <a:t>protractor</a:t>
            </a:r>
            <a:r>
              <a:rPr lang="en-AU" sz="4000"/>
              <a:t> to </a:t>
            </a:r>
            <a:r>
              <a:rPr lang="en-AU" sz="4000" b="1"/>
              <a:t>measure an angle</a:t>
            </a:r>
            <a:r>
              <a:rPr lang="en-AU" sz="4000"/>
              <a:t>.</a:t>
            </a:r>
          </a:p>
          <a:p>
            <a:pPr algn="l"/>
            <a:endParaRPr lang="en-AU" sz="1800"/>
          </a:p>
        </p:txBody>
      </p:sp>
      <p:sp>
        <p:nvSpPr>
          <p:cNvPr id="5" name="Freeform 5" descr="A protractor.">
            <a:extLst>
              <a:ext uri="{FF2B5EF4-FFF2-40B4-BE49-F238E27FC236}">
                <a16:creationId xmlns:a16="http://schemas.microsoft.com/office/drawing/2014/main" id="{6CF95ABE-FB7A-241D-0F52-65A2AF1A7C86}"/>
              </a:ext>
            </a:extLst>
          </p:cNvPr>
          <p:cNvSpPr/>
          <p:nvPr/>
        </p:nvSpPr>
        <p:spPr>
          <a:xfrm>
            <a:off x="4216524" y="3888796"/>
            <a:ext cx="4340844" cy="2516334"/>
          </a:xfrm>
          <a:custGeom>
            <a:avLst/>
            <a:gdLst/>
            <a:ahLst/>
            <a:cxnLst/>
            <a:rect l="l" t="t" r="r" b="b"/>
            <a:pathLst>
              <a:path w="5681664" h="3032588">
                <a:moveTo>
                  <a:pt x="0" y="0"/>
                </a:moveTo>
                <a:lnTo>
                  <a:pt x="5681664" y="0"/>
                </a:lnTo>
                <a:lnTo>
                  <a:pt x="5681664" y="3032589"/>
                </a:lnTo>
                <a:lnTo>
                  <a:pt x="0" y="3032589"/>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63500" sx="102000" sy="102000" algn="ctr" rotWithShape="0">
              <a:prstClr val="black">
                <a:alpha val="40000"/>
              </a:prstClr>
            </a:outerShdw>
          </a:effectLst>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pic>
        <p:nvPicPr>
          <p:cNvPr id="3" name="Picture 2">
            <a:extLst>
              <a:ext uri="{FF2B5EF4-FFF2-40B4-BE49-F238E27FC236}">
                <a16:creationId xmlns:a16="http://schemas.microsoft.com/office/drawing/2014/main" id="{CDC9578D-E509-83DC-F7E6-82182EFDC99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849C7F7A-F942-F379-2981-B53F00C8200A}"/>
              </a:ext>
            </a:extLst>
          </p:cNvPr>
          <p:cNvSpPr txBox="1"/>
          <p:nvPr/>
        </p:nvSpPr>
        <p:spPr>
          <a:xfrm>
            <a:off x="842493" y="2477483"/>
            <a:ext cx="6458169" cy="4218517"/>
          </a:xfrm>
          <a:prstGeom prst="rect">
            <a:avLst/>
          </a:prstGeom>
          <a:noFill/>
        </p:spPr>
        <p:txBody>
          <a:bodyPr wrap="square" lIns="0" tIns="0" rIns="0" bIns="0" rtlCol="0">
            <a:noAutofit/>
          </a:bodyPr>
          <a:lstStyle/>
          <a:p>
            <a:pPr algn="ctr">
              <a:lnSpc>
                <a:spcPct val="150000"/>
              </a:lnSpc>
            </a:pPr>
            <a:r>
              <a:rPr lang="en-AU" sz="4400" b="1"/>
              <a:t>Visualise</a:t>
            </a:r>
            <a:r>
              <a:rPr lang="en-AU" sz="4400"/>
              <a:t> and </a:t>
            </a:r>
            <a:r>
              <a:rPr lang="en-AU" sz="4400" b="1"/>
              <a:t>sketch</a:t>
            </a:r>
            <a:r>
              <a:rPr lang="en-AU" sz="4400"/>
              <a:t> the </a:t>
            </a:r>
            <a:r>
              <a:rPr lang="en-AU" sz="4400" b="1"/>
              <a:t>net</a:t>
            </a:r>
            <a:r>
              <a:rPr lang="en-AU" sz="4400"/>
              <a:t> for this </a:t>
            </a:r>
            <a:r>
              <a:rPr lang="en-AU" sz="4400" b="1"/>
              <a:t>cylinder.</a:t>
            </a:r>
            <a:endParaRPr lang="en-AU" sz="4400"/>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pic>
        <p:nvPicPr>
          <p:cNvPr id="10" name="Picture 9" descr="A cylinder">
            <a:extLst>
              <a:ext uri="{FF2B5EF4-FFF2-40B4-BE49-F238E27FC236}">
                <a16:creationId xmlns:a16="http://schemas.microsoft.com/office/drawing/2014/main" id="{5DD35CE8-B2F9-D8F1-B12B-74580A7C64C1}"/>
              </a:ext>
            </a:extLst>
          </p:cNvPr>
          <p:cNvPicPr>
            <a:picLocks noChangeAspect="1"/>
          </p:cNvPicPr>
          <p:nvPr/>
        </p:nvPicPr>
        <p:blipFill>
          <a:blip r:embed="rId4">
            <a:duotone>
              <a:schemeClr val="accent2">
                <a:shade val="45000"/>
                <a:satMod val="135000"/>
              </a:schemeClr>
              <a:prstClr val="white"/>
            </a:duotone>
          </a:blip>
          <a:stretch>
            <a:fillRect/>
          </a:stretch>
        </p:blipFill>
        <p:spPr>
          <a:xfrm>
            <a:off x="7805158" y="1184223"/>
            <a:ext cx="2922110" cy="4663955"/>
          </a:xfrm>
          <a:prstGeom prst="rect">
            <a:avLst/>
          </a:prstGeom>
        </p:spPr>
      </p:pic>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pic>
        <p:nvPicPr>
          <p:cNvPr id="3" name="Picture 2">
            <a:extLst>
              <a:ext uri="{FF2B5EF4-FFF2-40B4-BE49-F238E27FC236}">
                <a16:creationId xmlns:a16="http://schemas.microsoft.com/office/drawing/2014/main" id="{4F225E6B-742A-E393-5D68-B394EB858BA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
        <p:nvSpPr>
          <p:cNvPr id="4" name="TextBox 3">
            <a:extLst>
              <a:ext uri="{FF2B5EF4-FFF2-40B4-BE49-F238E27FC236}">
                <a16:creationId xmlns:a16="http://schemas.microsoft.com/office/drawing/2014/main" id="{91BEF6B1-6D95-1F13-5487-7633467CC709}"/>
              </a:ext>
            </a:extLst>
          </p:cNvPr>
          <p:cNvSpPr txBox="1"/>
          <p:nvPr/>
        </p:nvSpPr>
        <p:spPr>
          <a:xfrm>
            <a:off x="1124476" y="2003635"/>
            <a:ext cx="9906000" cy="682388"/>
          </a:xfrm>
          <a:prstGeom prst="rect">
            <a:avLst/>
          </a:prstGeom>
          <a:noFill/>
        </p:spPr>
        <p:txBody>
          <a:bodyPr wrap="square" lIns="0" tIns="0" rIns="0" bIns="0" rtlCol="0">
            <a:noAutofit/>
          </a:bodyPr>
          <a:lstStyle/>
          <a:p>
            <a:pPr algn="ctr">
              <a:lnSpc>
                <a:spcPct val="150000"/>
              </a:lnSpc>
            </a:pPr>
            <a:r>
              <a:rPr lang="en-AU" sz="4400"/>
              <a:t>Tobi ran </a:t>
            </a:r>
            <a:r>
              <a:rPr lang="en-AU" sz="4400" b="1"/>
              <a:t>1 kilometre </a:t>
            </a:r>
            <a:r>
              <a:rPr lang="en-AU" sz="4400"/>
              <a:t>and </a:t>
            </a:r>
            <a:r>
              <a:rPr lang="en-AU" sz="4400" b="1"/>
              <a:t>700 metres</a:t>
            </a:r>
            <a:r>
              <a:rPr lang="en-AU" sz="4400"/>
              <a:t>.</a:t>
            </a:r>
          </a:p>
          <a:p>
            <a:pPr algn="ctr">
              <a:lnSpc>
                <a:spcPct val="150000"/>
              </a:lnSpc>
            </a:pPr>
            <a:endParaRPr lang="en-AU" sz="4000"/>
          </a:p>
          <a:p>
            <a:pPr algn="ctr">
              <a:lnSpc>
                <a:spcPct val="150000"/>
              </a:lnSpc>
            </a:pPr>
            <a:r>
              <a:rPr lang="en-AU" sz="4400" b="1"/>
              <a:t>Record</a:t>
            </a:r>
            <a:r>
              <a:rPr lang="en-AU" sz="4400"/>
              <a:t> this distance using the abbreviation for </a:t>
            </a:r>
            <a:r>
              <a:rPr lang="en-AU" sz="4400" b="1"/>
              <a:t>kilometres</a:t>
            </a:r>
            <a:r>
              <a:rPr lang="en-AU" sz="4400"/>
              <a:t>.</a:t>
            </a:r>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multiplication problems </a:t>
            </a:r>
          </a:p>
        </p:txBody>
      </p:sp>
      <p:pic>
        <p:nvPicPr>
          <p:cNvPr id="4" name="Picture 3">
            <a:extLst>
              <a:ext uri="{FF2B5EF4-FFF2-40B4-BE49-F238E27FC236}">
                <a16:creationId xmlns:a16="http://schemas.microsoft.com/office/drawing/2014/main" id="{296D4226-C1D0-BEBB-1948-F7CDF78884C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
        <p:nvSpPr>
          <p:cNvPr id="3" name="TextBox 2">
            <a:extLst>
              <a:ext uri="{FF2B5EF4-FFF2-40B4-BE49-F238E27FC236}">
                <a16:creationId xmlns:a16="http://schemas.microsoft.com/office/drawing/2014/main" id="{202AB52E-896C-ACD0-AC78-669ACE830C99}"/>
              </a:ext>
            </a:extLst>
          </p:cNvPr>
          <p:cNvSpPr txBox="1"/>
          <p:nvPr/>
        </p:nvSpPr>
        <p:spPr>
          <a:xfrm>
            <a:off x="912366" y="1227469"/>
            <a:ext cx="10367268" cy="3439236"/>
          </a:xfrm>
          <a:prstGeom prst="rect">
            <a:avLst/>
          </a:prstGeom>
          <a:noFill/>
        </p:spPr>
        <p:txBody>
          <a:bodyPr wrap="square" lIns="0" tIns="0" rIns="0" bIns="0" rtlCol="0">
            <a:noAutofit/>
          </a:bodyPr>
          <a:lstStyle/>
          <a:p>
            <a:pPr lvl="0" algn="ctr">
              <a:lnSpc>
                <a:spcPct val="150000"/>
              </a:lnSpc>
            </a:pPr>
            <a:r>
              <a:rPr lang="en-AU" sz="4400"/>
              <a:t>A bus company owns 27 buses. Each bus has 54 seats.</a:t>
            </a:r>
          </a:p>
          <a:p>
            <a:pPr lvl="0" algn="ctr">
              <a:lnSpc>
                <a:spcPct val="150000"/>
              </a:lnSpc>
            </a:pPr>
            <a:endParaRPr lang="en-AU" sz="4400"/>
          </a:p>
          <a:p>
            <a:pPr lvl="0" algn="ctr">
              <a:lnSpc>
                <a:spcPct val="150000"/>
              </a:lnSpc>
            </a:pPr>
            <a:r>
              <a:rPr lang="en-AU" sz="4400"/>
              <a:t>If 50% of the seats are filled, </a:t>
            </a:r>
            <a:r>
              <a:rPr lang="en-AU" sz="4400" b="1"/>
              <a:t>how many </a:t>
            </a:r>
            <a:r>
              <a:rPr lang="en-AU" sz="4400"/>
              <a:t>passengers are there?</a:t>
            </a:r>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1111928" y="1222298"/>
            <a:ext cx="10278873" cy="893226"/>
          </a:xfrm>
        </p:spPr>
        <p:txBody>
          <a:bodyPr/>
          <a:lstStyle/>
          <a:p>
            <a:pPr algn="ctr"/>
            <a:r>
              <a:rPr lang="en-AU" sz="4400"/>
              <a:t>A baker has an order for </a:t>
            </a:r>
            <a:r>
              <a:rPr lang="en-AU" sz="4400" b="1"/>
              <a:t>224</a:t>
            </a:r>
            <a:r>
              <a:rPr lang="en-AU" sz="4400"/>
              <a:t> cupcakes. Each tray holds </a:t>
            </a:r>
            <a:r>
              <a:rPr lang="en-AU" sz="4400" b="1"/>
              <a:t>24</a:t>
            </a:r>
            <a:r>
              <a:rPr lang="en-AU" sz="4400"/>
              <a:t> cupcakes. </a:t>
            </a:r>
          </a:p>
          <a:p>
            <a:pPr algn="ctr"/>
            <a:r>
              <a:rPr lang="en-AU" sz="4400"/>
              <a:t>He will </a:t>
            </a:r>
            <a:r>
              <a:rPr lang="en-AU" sz="4400" b="1"/>
              <a:t>need to make </a:t>
            </a:r>
            <a:r>
              <a:rPr lang="en-AU" sz="4400"/>
              <a:t>11 trays of cupcakes to complete this order.</a:t>
            </a: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858323916"/>
              </p:ext>
            </p:extLst>
          </p:nvPr>
        </p:nvGraphicFramePr>
        <p:xfrm>
          <a:off x="2442981" y="5635702"/>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pic>
        <p:nvPicPr>
          <p:cNvPr id="3" name="Picture 2">
            <a:extLst>
              <a:ext uri="{FF2B5EF4-FFF2-40B4-BE49-F238E27FC236}">
                <a16:creationId xmlns:a16="http://schemas.microsoft.com/office/drawing/2014/main" id="{B6B8916C-EC27-6464-77C1-A2C737717E1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 Placeholder 17">
            <a:extLst>
              <a:ext uri="{FF2B5EF4-FFF2-40B4-BE49-F238E27FC236}">
                <a16:creationId xmlns:a16="http://schemas.microsoft.com/office/drawing/2014/main" id="{1ECDAB0F-88A9-21F5-B8AC-7870FF91D0A2}"/>
              </a:ext>
            </a:extLst>
          </p:cNvPr>
          <p:cNvSpPr txBox="1">
            <a:spLocks/>
          </p:cNvSpPr>
          <p:nvPr/>
        </p:nvSpPr>
        <p:spPr>
          <a:xfrm>
            <a:off x="644896" y="1184223"/>
            <a:ext cx="10726215"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400"/>
              <a:t>Record the missing </a:t>
            </a:r>
            <a:r>
              <a:rPr lang="en-AU" sz="4400" b="1"/>
              <a:t>integers</a:t>
            </a:r>
            <a:r>
              <a:rPr lang="en-AU" sz="4400"/>
              <a:t>:</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pic>
        <p:nvPicPr>
          <p:cNvPr id="9" name="Picture 8" descr="A horizontal number line runs from negative 10 to 10 with equally spaced marks.&#10;&#10;Three labelled arrows point to positions on the number line:&#10;&#10;a points to between −10 and −8, b points between −7 and −5 and c points between −3 and −1. ">
            <a:extLst>
              <a:ext uri="{FF2B5EF4-FFF2-40B4-BE49-F238E27FC236}">
                <a16:creationId xmlns:a16="http://schemas.microsoft.com/office/drawing/2014/main" id="{73791591-7FF5-6FD3-9AB1-E371A31F2328}"/>
              </a:ext>
            </a:extLst>
          </p:cNvPr>
          <p:cNvPicPr>
            <a:picLocks noChangeAspect="1"/>
          </p:cNvPicPr>
          <p:nvPr/>
        </p:nvPicPr>
        <p:blipFill>
          <a:blip r:embed="rId4"/>
          <a:stretch>
            <a:fillRect/>
          </a:stretch>
        </p:blipFill>
        <p:spPr>
          <a:xfrm>
            <a:off x="2296619" y="3072218"/>
            <a:ext cx="7598761" cy="170833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pic>
        <p:nvPicPr>
          <p:cNvPr id="3" name="Picture 2">
            <a:extLst>
              <a:ext uri="{FF2B5EF4-FFF2-40B4-BE49-F238E27FC236}">
                <a16:creationId xmlns:a16="http://schemas.microsoft.com/office/drawing/2014/main" id="{5F20B6C4-74D6-9AE8-543F-873936583C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
        <p:nvSpPr>
          <p:cNvPr id="5" name="TextBox 4">
            <a:extLst>
              <a:ext uri="{FF2B5EF4-FFF2-40B4-BE49-F238E27FC236}">
                <a16:creationId xmlns:a16="http://schemas.microsoft.com/office/drawing/2014/main" id="{19132588-9ACE-403D-7254-E38F0A137926}"/>
              </a:ext>
            </a:extLst>
          </p:cNvPr>
          <p:cNvSpPr txBox="1"/>
          <p:nvPr/>
        </p:nvSpPr>
        <p:spPr>
          <a:xfrm>
            <a:off x="348000" y="1371018"/>
            <a:ext cx="11403276" cy="5045164"/>
          </a:xfrm>
          <a:prstGeom prst="rect">
            <a:avLst/>
          </a:prstGeom>
          <a:noFill/>
        </p:spPr>
        <p:txBody>
          <a:bodyPr wrap="square">
            <a:spAutoFit/>
          </a:bodyPr>
          <a:lstStyle/>
          <a:p>
            <a:pPr algn="ctr">
              <a:lnSpc>
                <a:spcPct val="150000"/>
              </a:lnSpc>
            </a:pPr>
            <a:r>
              <a:rPr lang="en-AU" sz="4400"/>
              <a:t>Zacharia faced the </a:t>
            </a:r>
            <a:r>
              <a:rPr lang="en-AU" sz="4400" b="1"/>
              <a:t>front</a:t>
            </a:r>
            <a:r>
              <a:rPr lang="en-AU" sz="4400"/>
              <a:t> of the classroom and made a </a:t>
            </a:r>
            <a:r>
              <a:rPr lang="en-AU" sz="4400" b="1"/>
              <a:t>three-quarter turn </a:t>
            </a:r>
            <a:r>
              <a:rPr lang="en-AU" sz="4400"/>
              <a:t>to his left.</a:t>
            </a:r>
          </a:p>
          <a:p>
            <a:pPr algn="ctr">
              <a:lnSpc>
                <a:spcPct val="150000"/>
              </a:lnSpc>
            </a:pPr>
            <a:br>
              <a:rPr lang="en-AU" sz="4400"/>
            </a:br>
            <a:r>
              <a:rPr lang="en-AU" sz="4400" b="1"/>
              <a:t>Draw</a:t>
            </a:r>
            <a:r>
              <a:rPr lang="en-AU" sz="4400"/>
              <a:t> the </a:t>
            </a:r>
            <a:r>
              <a:rPr lang="en-AU" sz="4400" b="1"/>
              <a:t>vertex</a:t>
            </a:r>
            <a:r>
              <a:rPr lang="en-AU" sz="4400"/>
              <a:t> and </a:t>
            </a:r>
            <a:r>
              <a:rPr lang="en-AU" sz="4400" b="1"/>
              <a:t>arms</a:t>
            </a:r>
            <a:r>
              <a:rPr lang="en-AU" sz="4400"/>
              <a:t> of the angle he formed.</a:t>
            </a:r>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pic>
        <p:nvPicPr>
          <p:cNvPr id="3" name="Picture 2">
            <a:extLst>
              <a:ext uri="{FF2B5EF4-FFF2-40B4-BE49-F238E27FC236}">
                <a16:creationId xmlns:a16="http://schemas.microsoft.com/office/drawing/2014/main" id="{71518DCE-2BBE-0AC2-F72B-B5E11C24F8A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6A2C5175-36D9-6130-C2C2-C109045EEFFB}"/>
              </a:ext>
            </a:extLst>
          </p:cNvPr>
          <p:cNvSpPr txBox="1"/>
          <p:nvPr/>
        </p:nvSpPr>
        <p:spPr>
          <a:xfrm>
            <a:off x="939453" y="1115408"/>
            <a:ext cx="10091023" cy="1499616"/>
          </a:xfrm>
          <a:prstGeom prst="rect">
            <a:avLst/>
          </a:prstGeom>
          <a:noFill/>
        </p:spPr>
        <p:txBody>
          <a:bodyPr wrap="square" lIns="0" tIns="0" rIns="0" bIns="0" rtlCol="0">
            <a:noAutofit/>
          </a:bodyPr>
          <a:lstStyle/>
          <a:p>
            <a:pPr algn="ctr">
              <a:lnSpc>
                <a:spcPct val="150000"/>
              </a:lnSpc>
            </a:pPr>
            <a:r>
              <a:rPr lang="en-AU" sz="4400"/>
              <a:t>Identify and </a:t>
            </a:r>
            <a:r>
              <a:rPr lang="en-AU" sz="4400" b="1"/>
              <a:t>record</a:t>
            </a:r>
            <a:r>
              <a:rPr lang="en-AU" sz="4400"/>
              <a:t> the name of the </a:t>
            </a:r>
            <a:r>
              <a:rPr lang="en-AU" sz="4400" b="1"/>
              <a:t>three-dimensional object </a:t>
            </a:r>
            <a:r>
              <a:rPr lang="en-AU" sz="4400"/>
              <a:t>from its </a:t>
            </a:r>
            <a:r>
              <a:rPr lang="en-AU" sz="4400" b="1"/>
              <a:t>net. </a:t>
            </a:r>
            <a:endParaRPr lang="en-AU" sz="4400"/>
          </a:p>
        </p:txBody>
      </p:sp>
      <p:pic>
        <p:nvPicPr>
          <p:cNvPr id="5" name="Picture 4">
            <a:extLst>
              <a:ext uri="{FF2B5EF4-FFF2-40B4-BE49-F238E27FC236}">
                <a16:creationId xmlns:a16="http://schemas.microsoft.com/office/drawing/2014/main" id="{E0B046C5-41BB-86A7-8891-022DE5832EFB}"/>
              </a:ext>
              <a:ext uri="{C183D7F6-B498-43B3-948B-1728B52AA6E4}">
                <adec:decorative xmlns:adec="http://schemas.microsoft.com/office/drawing/2017/decorative" val="1"/>
              </a:ext>
            </a:extLst>
          </p:cNvPr>
          <p:cNvPicPr>
            <a:picLocks noChangeAspect="1"/>
          </p:cNvPicPr>
          <p:nvPr/>
        </p:nvPicPr>
        <p:blipFill>
          <a:blip r:embed="rId4"/>
          <a:srcRect l="17195" t="24178" r="18326" b="44177"/>
          <a:stretch>
            <a:fillRect/>
          </a:stretch>
        </p:blipFill>
        <p:spPr>
          <a:xfrm>
            <a:off x="1933944" y="3274582"/>
            <a:ext cx="8324111" cy="2888288"/>
          </a:xfrm>
          <a:prstGeom prst="rect">
            <a:avLst/>
          </a:prstGeom>
          <a:effectLst/>
        </p:spPr>
      </p:pic>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pic>
        <p:nvPicPr>
          <p:cNvPr id="3" name="Picture 2">
            <a:extLst>
              <a:ext uri="{FF2B5EF4-FFF2-40B4-BE49-F238E27FC236}">
                <a16:creationId xmlns:a16="http://schemas.microsoft.com/office/drawing/2014/main" id="{602A5C36-777A-4A3B-4BB2-D0CC6ABD673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
        <p:nvSpPr>
          <p:cNvPr id="4" name="TextBox 3">
            <a:extLst>
              <a:ext uri="{FF2B5EF4-FFF2-40B4-BE49-F238E27FC236}">
                <a16:creationId xmlns:a16="http://schemas.microsoft.com/office/drawing/2014/main" id="{F53385FF-D176-F606-1D05-0FDF38826AFC}"/>
              </a:ext>
            </a:extLst>
          </p:cNvPr>
          <p:cNvSpPr txBox="1"/>
          <p:nvPr/>
        </p:nvSpPr>
        <p:spPr>
          <a:xfrm>
            <a:off x="1218000" y="2377581"/>
            <a:ext cx="9906000" cy="682388"/>
          </a:xfrm>
          <a:prstGeom prst="rect">
            <a:avLst/>
          </a:prstGeom>
          <a:noFill/>
        </p:spPr>
        <p:txBody>
          <a:bodyPr wrap="square" lIns="0" tIns="0" rIns="0" bIns="0" rtlCol="0">
            <a:noAutofit/>
          </a:bodyPr>
          <a:lstStyle/>
          <a:p>
            <a:pPr algn="ctr"/>
            <a:r>
              <a:rPr lang="en-AU" sz="4400"/>
              <a:t>Leon swam </a:t>
            </a:r>
            <a:r>
              <a:rPr lang="en-AU" sz="4400" b="1"/>
              <a:t>3670 m</a:t>
            </a:r>
            <a:r>
              <a:rPr lang="en-AU" sz="4400"/>
              <a:t>.</a:t>
            </a:r>
          </a:p>
          <a:p>
            <a:pPr algn="ctr"/>
            <a:endParaRPr lang="en-AU" sz="4400"/>
          </a:p>
          <a:p>
            <a:pPr algn="ctr"/>
            <a:r>
              <a:rPr lang="en-AU" sz="4400" b="1"/>
              <a:t>Record</a:t>
            </a:r>
            <a:r>
              <a:rPr lang="en-AU" sz="4400"/>
              <a:t> this distance in </a:t>
            </a:r>
            <a:r>
              <a:rPr lang="en-AU" sz="4400" b="1"/>
              <a:t>kilometres</a:t>
            </a:r>
            <a:r>
              <a:rPr lang="en-AU" sz="4400"/>
              <a:t>.</a:t>
            </a:r>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multiplication strategies </a:t>
            </a:r>
          </a:p>
        </p:txBody>
      </p:sp>
      <p:pic>
        <p:nvPicPr>
          <p:cNvPr id="4" name="Picture 3">
            <a:extLst>
              <a:ext uri="{FF2B5EF4-FFF2-40B4-BE49-F238E27FC236}">
                <a16:creationId xmlns:a16="http://schemas.microsoft.com/office/drawing/2014/main" id="{A43A6869-C067-0F7B-A324-667A71E8372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
        <p:nvSpPr>
          <p:cNvPr id="3" name="TextBox 2">
            <a:extLst>
              <a:ext uri="{FF2B5EF4-FFF2-40B4-BE49-F238E27FC236}">
                <a16:creationId xmlns:a16="http://schemas.microsoft.com/office/drawing/2014/main" id="{861AB131-BA59-16E6-80CA-D5610250DA23}"/>
              </a:ext>
            </a:extLst>
          </p:cNvPr>
          <p:cNvSpPr txBox="1"/>
          <p:nvPr/>
        </p:nvSpPr>
        <p:spPr>
          <a:xfrm>
            <a:off x="912366" y="1308721"/>
            <a:ext cx="10367268" cy="3439236"/>
          </a:xfrm>
          <a:prstGeom prst="rect">
            <a:avLst/>
          </a:prstGeom>
          <a:noFill/>
        </p:spPr>
        <p:txBody>
          <a:bodyPr wrap="square" lIns="0" tIns="0" rIns="0" bIns="0" rtlCol="0">
            <a:noAutofit/>
          </a:bodyPr>
          <a:lstStyle/>
          <a:p>
            <a:pPr lvl="0" algn="ctr">
              <a:lnSpc>
                <a:spcPct val="150000"/>
              </a:lnSpc>
            </a:pPr>
            <a:r>
              <a:rPr lang="en-AU" sz="4400"/>
              <a:t>A baker makes </a:t>
            </a:r>
            <a:r>
              <a:rPr lang="en-AU" sz="4400" b="1"/>
              <a:t>135</a:t>
            </a:r>
            <a:r>
              <a:rPr lang="en-AU" sz="4400"/>
              <a:t> trays of cupcakes. Each tray holds </a:t>
            </a:r>
            <a:r>
              <a:rPr lang="en-AU" sz="4400" b="1"/>
              <a:t>34</a:t>
            </a:r>
            <a:r>
              <a:rPr lang="en-AU" sz="4400"/>
              <a:t> cupcakes. </a:t>
            </a:r>
          </a:p>
          <a:p>
            <a:pPr lvl="0" algn="ctr">
              <a:lnSpc>
                <a:spcPct val="150000"/>
              </a:lnSpc>
            </a:pPr>
            <a:endParaRPr lang="en-AU" sz="4400"/>
          </a:p>
          <a:p>
            <a:pPr lvl="0" algn="ctr">
              <a:lnSpc>
                <a:spcPct val="150000"/>
              </a:lnSpc>
            </a:pPr>
            <a:r>
              <a:rPr lang="en-AU" sz="4400"/>
              <a:t>He sells the cupcakes in packs of 6. </a:t>
            </a:r>
          </a:p>
          <a:p>
            <a:pPr lvl="0" algn="ctr">
              <a:lnSpc>
                <a:spcPct val="150000"/>
              </a:lnSpc>
            </a:pPr>
            <a:r>
              <a:rPr lang="en-AU" sz="4400" b="1"/>
              <a:t>How many </a:t>
            </a:r>
            <a:r>
              <a:rPr lang="en-AU" sz="4400"/>
              <a:t>packs can he make?</a:t>
            </a:r>
          </a:p>
        </p:txBody>
      </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(3)</a:t>
            </a:r>
          </a:p>
        </p:txBody>
      </p:sp>
      <p:sp>
        <p:nvSpPr>
          <p:cNvPr id="18" name="Text Placeholder 17">
            <a:extLst>
              <a:ext uri="{FF2B5EF4-FFF2-40B4-BE49-F238E27FC236}">
                <a16:creationId xmlns:a16="http://schemas.microsoft.com/office/drawing/2014/main" id="{E180F3B1-ACC7-4559-EA73-174DB17A0983}"/>
              </a:ext>
            </a:extLst>
          </p:cNvPr>
          <p:cNvSpPr>
            <a:spLocks noGrp="1"/>
          </p:cNvSpPr>
          <p:nvPr>
            <p:ph type="body" sz="quarter" idx="24"/>
          </p:nvPr>
        </p:nvSpPr>
        <p:spPr>
          <a:xfrm>
            <a:off x="360000" y="1078860"/>
            <a:ext cx="11243037" cy="893226"/>
          </a:xfrm>
        </p:spPr>
        <p:txBody>
          <a:bodyPr/>
          <a:lstStyle/>
          <a:p>
            <a:pPr algn="ctr"/>
            <a:r>
              <a:rPr lang="en-US" sz="4400"/>
              <a:t>What is the </a:t>
            </a:r>
            <a:r>
              <a:rPr lang="en-US" sz="4400" b="1"/>
              <a:t>missing value </a:t>
            </a:r>
            <a:r>
              <a:rPr lang="en-US" sz="4400"/>
              <a:t>in this equation:</a:t>
            </a:r>
          </a:p>
        </p:txBody>
      </p:sp>
      <p:grpSp>
        <p:nvGrpSpPr>
          <p:cNvPr id="19" name="Group 18" descr="4 times 40 equals blank times 20">
            <a:extLst>
              <a:ext uri="{FF2B5EF4-FFF2-40B4-BE49-F238E27FC236}">
                <a16:creationId xmlns:a16="http://schemas.microsoft.com/office/drawing/2014/main" id="{6534CCC8-4960-99CD-9F34-B7D5600A1FFA}"/>
              </a:ext>
            </a:extLst>
          </p:cNvPr>
          <p:cNvGrpSpPr/>
          <p:nvPr/>
        </p:nvGrpSpPr>
        <p:grpSpPr>
          <a:xfrm>
            <a:off x="2860761" y="2977315"/>
            <a:ext cx="5148602" cy="769441"/>
            <a:chOff x="2860761" y="2977315"/>
            <a:chExt cx="5148602" cy="769441"/>
          </a:xfrm>
        </p:grpSpPr>
        <p:sp>
          <p:nvSpPr>
            <p:cNvPr id="15" name="TextBox 14">
              <a:extLst>
                <a:ext uri="{FF2B5EF4-FFF2-40B4-BE49-F238E27FC236}">
                  <a16:creationId xmlns:a16="http://schemas.microsoft.com/office/drawing/2014/main" id="{E5C2A64C-119F-D6FC-6CC0-FFA8C990B61B}"/>
                </a:ext>
              </a:extLst>
            </p:cNvPr>
            <p:cNvSpPr txBox="1"/>
            <p:nvPr/>
          </p:nvSpPr>
          <p:spPr>
            <a:xfrm>
              <a:off x="6230900" y="2977315"/>
              <a:ext cx="1778463" cy="769441"/>
            </a:xfrm>
            <a:prstGeom prst="rect">
              <a:avLst/>
            </a:prstGeom>
            <a:noFill/>
          </p:spPr>
          <p:txBody>
            <a:bodyPr wrap="square" lIns="0">
              <a:spAutoFit/>
            </a:bodyPr>
            <a:lstStyle/>
            <a:p>
              <a:r>
                <a:rPr lang="en-AU" sz="2400">
                  <a:solidFill>
                    <a:schemeClr val="bg1"/>
                  </a:solidFill>
                </a:rPr>
                <a:t>_</a:t>
              </a:r>
              <a:r>
                <a:rPr lang="en-AU" sz="2400">
                  <a:solidFill>
                    <a:schemeClr val="accent2"/>
                  </a:solidFill>
                </a:rPr>
                <a:t> </a:t>
              </a:r>
              <a:r>
                <a:rPr lang="en-AU" sz="4400">
                  <a:solidFill>
                    <a:schemeClr val="accent2"/>
                  </a:solidFill>
                  <a:sym typeface="Wingdings" panose="05000000000000000000" pitchFamily="2" charset="2"/>
                </a:rPr>
                <a:t> </a:t>
              </a:r>
              <a:r>
                <a:rPr lang="en-AU" sz="4400">
                  <a:solidFill>
                    <a:schemeClr val="accent2"/>
                  </a:solidFill>
                </a:rPr>
                <a:t>× 20</a:t>
              </a:r>
            </a:p>
          </p:txBody>
        </p:sp>
        <p:sp>
          <p:nvSpPr>
            <p:cNvPr id="13" name="Rectangle 12">
              <a:extLst>
                <a:ext uri="{FF2B5EF4-FFF2-40B4-BE49-F238E27FC236}">
                  <a16:creationId xmlns:a16="http://schemas.microsoft.com/office/drawing/2014/main" id="{F85436D4-F735-CB57-6984-B18FBDDBB7B0}"/>
                </a:ext>
                <a:ext uri="{C183D7F6-B498-43B3-948B-1728B52AA6E4}">
                  <adec:decorative xmlns:adec="http://schemas.microsoft.com/office/drawing/2017/decorative" val="1"/>
                </a:ext>
              </a:extLst>
            </p:cNvPr>
            <p:cNvSpPr/>
            <p:nvPr/>
          </p:nvSpPr>
          <p:spPr>
            <a:xfrm>
              <a:off x="5918362" y="3089234"/>
              <a:ext cx="498764" cy="545601"/>
            </a:xfrm>
            <a:prstGeom prst="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TextBox 16">
              <a:extLst>
                <a:ext uri="{FF2B5EF4-FFF2-40B4-BE49-F238E27FC236}">
                  <a16:creationId xmlns:a16="http://schemas.microsoft.com/office/drawing/2014/main" id="{E5371FC1-53E0-3CAE-BE81-48AF2A795859}"/>
                </a:ext>
              </a:extLst>
            </p:cNvPr>
            <p:cNvSpPr txBox="1"/>
            <p:nvPr/>
          </p:nvSpPr>
          <p:spPr>
            <a:xfrm>
              <a:off x="2860761" y="2977315"/>
              <a:ext cx="3057601" cy="769441"/>
            </a:xfrm>
            <a:prstGeom prst="rect">
              <a:avLst/>
            </a:prstGeom>
            <a:noFill/>
          </p:spPr>
          <p:txBody>
            <a:bodyPr wrap="square">
              <a:spAutoFit/>
            </a:bodyPr>
            <a:lstStyle/>
            <a:p>
              <a:pPr algn="ctr"/>
              <a:r>
                <a:rPr lang="en-AU" sz="4400" spc="100">
                  <a:solidFill>
                    <a:schemeClr val="accent2"/>
                  </a:solidFill>
                </a:rPr>
                <a:t>4 × 40 =</a:t>
              </a:r>
              <a:endParaRPr lang="en-US" sz="4400" spc="100">
                <a:solidFill>
                  <a:schemeClr val="accent2"/>
                </a:solidFill>
              </a:endParaRPr>
            </a:p>
          </p:txBody>
        </p:sp>
      </p:grpSp>
      <p:sp>
        <p:nvSpPr>
          <p:cNvPr id="9" name="TextBox 8">
            <a:extLst>
              <a:ext uri="{FF2B5EF4-FFF2-40B4-BE49-F238E27FC236}">
                <a16:creationId xmlns:a16="http://schemas.microsoft.com/office/drawing/2014/main" id="{4E6EA9CC-6235-8807-420B-A4371AC418C0}"/>
              </a:ext>
            </a:extLst>
          </p:cNvPr>
          <p:cNvSpPr txBox="1"/>
          <p:nvPr/>
        </p:nvSpPr>
        <p:spPr>
          <a:xfrm>
            <a:off x="1322586" y="488591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5" name="TextBox 4">
            <a:extLst>
              <a:ext uri="{FF2B5EF4-FFF2-40B4-BE49-F238E27FC236}">
                <a16:creationId xmlns:a16="http://schemas.microsoft.com/office/drawing/2014/main" id="{FD7F58C1-A51F-8DF4-36D4-73DC686175A0}"/>
              </a:ext>
            </a:extLst>
          </p:cNvPr>
          <p:cNvSpPr txBox="1"/>
          <p:nvPr/>
        </p:nvSpPr>
        <p:spPr>
          <a:xfrm>
            <a:off x="1353155" y="5743571"/>
            <a:ext cx="997719" cy="738664"/>
          </a:xfrm>
          <a:prstGeom prst="rect">
            <a:avLst/>
          </a:prstGeom>
          <a:noFill/>
        </p:spPr>
        <p:txBody>
          <a:bodyPr wrap="square" lIns="0" tIns="0" rIns="0" bIns="0" rtlCol="0">
            <a:noAutofit/>
          </a:bodyPr>
          <a:lstStyle/>
          <a:p>
            <a:pPr algn="l"/>
            <a:r>
              <a:rPr lang="en-AU" sz="4000"/>
              <a:t>9</a:t>
            </a:r>
          </a:p>
        </p:txBody>
      </p:sp>
      <p:sp>
        <p:nvSpPr>
          <p:cNvPr id="10" name="TextBox 9">
            <a:extLst>
              <a:ext uri="{FF2B5EF4-FFF2-40B4-BE49-F238E27FC236}">
                <a16:creationId xmlns:a16="http://schemas.microsoft.com/office/drawing/2014/main" id="{4AB24A3E-5574-D79C-6A0F-06D3F8A29BB1}"/>
              </a:ext>
            </a:extLst>
          </p:cNvPr>
          <p:cNvSpPr txBox="1"/>
          <p:nvPr/>
        </p:nvSpPr>
        <p:spPr>
          <a:xfrm>
            <a:off x="4124848" y="488591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6" name="TextBox 5">
            <a:extLst>
              <a:ext uri="{FF2B5EF4-FFF2-40B4-BE49-F238E27FC236}">
                <a16:creationId xmlns:a16="http://schemas.microsoft.com/office/drawing/2014/main" id="{CD1036C7-C95D-5654-3D09-922B0E0D7FBA}"/>
              </a:ext>
            </a:extLst>
          </p:cNvPr>
          <p:cNvSpPr txBox="1"/>
          <p:nvPr/>
        </p:nvSpPr>
        <p:spPr>
          <a:xfrm>
            <a:off x="4021751" y="5753008"/>
            <a:ext cx="997719" cy="738664"/>
          </a:xfrm>
          <a:prstGeom prst="rect">
            <a:avLst/>
          </a:prstGeom>
          <a:noFill/>
        </p:spPr>
        <p:txBody>
          <a:bodyPr wrap="square" lIns="0" tIns="0" rIns="0" bIns="0" rtlCol="0">
            <a:noAutofit/>
          </a:bodyPr>
          <a:lstStyle/>
          <a:p>
            <a:pPr algn="l"/>
            <a:r>
              <a:rPr lang="en-AU" sz="4000"/>
              <a:t>10</a:t>
            </a:r>
          </a:p>
        </p:txBody>
      </p:sp>
      <p:sp>
        <p:nvSpPr>
          <p:cNvPr id="12" name="TextBox 11">
            <a:extLst>
              <a:ext uri="{FF2B5EF4-FFF2-40B4-BE49-F238E27FC236}">
                <a16:creationId xmlns:a16="http://schemas.microsoft.com/office/drawing/2014/main" id="{D92289C6-858E-E449-16B6-10640E9A4385}"/>
              </a:ext>
            </a:extLst>
          </p:cNvPr>
          <p:cNvSpPr txBox="1"/>
          <p:nvPr/>
        </p:nvSpPr>
        <p:spPr>
          <a:xfrm>
            <a:off x="6927110" y="488591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7" name="TextBox 6">
            <a:extLst>
              <a:ext uri="{FF2B5EF4-FFF2-40B4-BE49-F238E27FC236}">
                <a16:creationId xmlns:a16="http://schemas.microsoft.com/office/drawing/2014/main" id="{957614F3-A155-1907-F9D2-AD873CFD29A4}"/>
              </a:ext>
            </a:extLst>
          </p:cNvPr>
          <p:cNvSpPr txBox="1"/>
          <p:nvPr/>
        </p:nvSpPr>
        <p:spPr>
          <a:xfrm>
            <a:off x="6957679" y="5755370"/>
            <a:ext cx="997719" cy="738664"/>
          </a:xfrm>
          <a:prstGeom prst="rect">
            <a:avLst/>
          </a:prstGeom>
          <a:noFill/>
        </p:spPr>
        <p:txBody>
          <a:bodyPr wrap="square" lIns="0" tIns="0" rIns="0" bIns="0" rtlCol="0">
            <a:noAutofit/>
          </a:bodyPr>
          <a:lstStyle/>
          <a:p>
            <a:pPr algn="l"/>
            <a:r>
              <a:rPr lang="en-AU" sz="4000"/>
              <a:t>7</a:t>
            </a:r>
          </a:p>
        </p:txBody>
      </p:sp>
      <p:sp>
        <p:nvSpPr>
          <p:cNvPr id="11" name="TextBox 10">
            <a:extLst>
              <a:ext uri="{FF2B5EF4-FFF2-40B4-BE49-F238E27FC236}">
                <a16:creationId xmlns:a16="http://schemas.microsoft.com/office/drawing/2014/main" id="{C22AC239-77AC-A298-F7CD-0F89091EC017}"/>
              </a:ext>
            </a:extLst>
          </p:cNvPr>
          <p:cNvSpPr txBox="1"/>
          <p:nvPr/>
        </p:nvSpPr>
        <p:spPr>
          <a:xfrm>
            <a:off x="9729372" y="488591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8" name="TextBox 7">
            <a:extLst>
              <a:ext uri="{FF2B5EF4-FFF2-40B4-BE49-F238E27FC236}">
                <a16:creationId xmlns:a16="http://schemas.microsoft.com/office/drawing/2014/main" id="{E9625259-F6F3-1AA2-89DF-618F257CE70F}"/>
              </a:ext>
            </a:extLst>
          </p:cNvPr>
          <p:cNvSpPr txBox="1"/>
          <p:nvPr/>
        </p:nvSpPr>
        <p:spPr>
          <a:xfrm>
            <a:off x="9759941" y="5755370"/>
            <a:ext cx="997719" cy="738664"/>
          </a:xfrm>
          <a:prstGeom prst="rect">
            <a:avLst/>
          </a:prstGeom>
          <a:noFill/>
        </p:spPr>
        <p:txBody>
          <a:bodyPr wrap="square" lIns="0" tIns="0" rIns="0" bIns="0" rtlCol="0">
            <a:noAutofit/>
          </a:bodyPr>
          <a:lstStyle/>
          <a:p>
            <a:pPr algn="l"/>
            <a:r>
              <a:rPr lang="en-AU" sz="4000"/>
              <a:t>8</a:t>
            </a:r>
          </a:p>
        </p:txBody>
      </p:sp>
      <p:pic>
        <p:nvPicPr>
          <p:cNvPr id="4" name="Picture 3">
            <a:extLst>
              <a:ext uri="{FF2B5EF4-FFF2-40B4-BE49-F238E27FC236}">
                <a16:creationId xmlns:a16="http://schemas.microsoft.com/office/drawing/2014/main" id="{052C7F21-CF1B-B8E5-D48F-252B3A5306C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29BCC904-C834-E490-B334-2E65478E2C6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
        <p:nvSpPr>
          <p:cNvPr id="4" name="TextBox 3">
            <a:extLst>
              <a:ext uri="{FF2B5EF4-FFF2-40B4-BE49-F238E27FC236}">
                <a16:creationId xmlns:a16="http://schemas.microsoft.com/office/drawing/2014/main" id="{0E0DF2FD-24AF-98CE-B093-3A998FC394EB}"/>
              </a:ext>
            </a:extLst>
          </p:cNvPr>
          <p:cNvSpPr txBox="1"/>
          <p:nvPr/>
        </p:nvSpPr>
        <p:spPr>
          <a:xfrm>
            <a:off x="1218000" y="2826529"/>
            <a:ext cx="9906000" cy="682388"/>
          </a:xfrm>
          <a:prstGeom prst="rect">
            <a:avLst/>
          </a:prstGeom>
          <a:noFill/>
        </p:spPr>
        <p:txBody>
          <a:bodyPr wrap="square" lIns="0" tIns="0" rIns="0" bIns="0" rtlCol="0">
            <a:noAutofit/>
          </a:bodyPr>
          <a:lstStyle/>
          <a:p>
            <a:pPr algn="ctr"/>
            <a:r>
              <a:rPr lang="en-AU" sz="4400" b="1"/>
              <a:t>Create</a:t>
            </a:r>
            <a:r>
              <a:rPr lang="en-AU" sz="4400"/>
              <a:t> a </a:t>
            </a:r>
            <a:r>
              <a:rPr lang="en-AU" sz="4400" b="1"/>
              <a:t>factor tree </a:t>
            </a:r>
            <a:r>
              <a:rPr lang="en-AU" sz="4400"/>
              <a:t>for 42.</a:t>
            </a:r>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pic>
        <p:nvPicPr>
          <p:cNvPr id="3" name="Picture 2">
            <a:extLst>
              <a:ext uri="{FF2B5EF4-FFF2-40B4-BE49-F238E27FC236}">
                <a16:creationId xmlns:a16="http://schemas.microsoft.com/office/drawing/2014/main" id="{E34FFB15-F7DE-0945-FB9C-D8A36F224B6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
        <p:nvSpPr>
          <p:cNvPr id="4" name="TextBox 3">
            <a:extLst>
              <a:ext uri="{FF2B5EF4-FFF2-40B4-BE49-F238E27FC236}">
                <a16:creationId xmlns:a16="http://schemas.microsoft.com/office/drawing/2014/main" id="{0F0AA516-45A4-A9CB-A8A0-DC250AC74F5C}"/>
              </a:ext>
            </a:extLst>
          </p:cNvPr>
          <p:cNvSpPr txBox="1"/>
          <p:nvPr/>
        </p:nvSpPr>
        <p:spPr>
          <a:xfrm>
            <a:off x="1116733" y="1288473"/>
            <a:ext cx="10367267" cy="3368040"/>
          </a:xfrm>
          <a:prstGeom prst="rect">
            <a:avLst/>
          </a:prstGeom>
          <a:noFill/>
        </p:spPr>
        <p:txBody>
          <a:bodyPr wrap="square" lIns="0" tIns="0" rIns="0" bIns="0" rtlCol="0">
            <a:noAutofit/>
          </a:bodyPr>
          <a:lstStyle/>
          <a:p>
            <a:pPr algn="ctr">
              <a:lnSpc>
                <a:spcPct val="150000"/>
              </a:lnSpc>
            </a:pPr>
            <a:r>
              <a:rPr lang="en-AU" sz="4400"/>
              <a:t>Arlo’s mum told him that art classes start at </a:t>
            </a:r>
            <a:r>
              <a:rPr lang="en-AU" sz="4400" b="1"/>
              <a:t>18:15.</a:t>
            </a:r>
          </a:p>
          <a:p>
            <a:pPr algn="ctr">
              <a:lnSpc>
                <a:spcPct val="150000"/>
              </a:lnSpc>
            </a:pPr>
            <a:endParaRPr lang="en-AU" sz="4400"/>
          </a:p>
          <a:p>
            <a:pPr algn="ctr">
              <a:lnSpc>
                <a:spcPct val="150000"/>
              </a:lnSpc>
            </a:pPr>
            <a:r>
              <a:rPr lang="en-AU" sz="4400" b="1"/>
              <a:t>Record</a:t>
            </a:r>
            <a:r>
              <a:rPr lang="en-AU" sz="4400"/>
              <a:t> the time art classes start in </a:t>
            </a:r>
            <a:r>
              <a:rPr lang="en-AU" sz="4400" b="1"/>
              <a:t>12-hour time </a:t>
            </a:r>
            <a:r>
              <a:rPr lang="en-AU" sz="4400"/>
              <a:t>using </a:t>
            </a:r>
            <a:r>
              <a:rPr lang="en-AU" sz="4400" b="1"/>
              <a:t>am</a:t>
            </a:r>
            <a:r>
              <a:rPr lang="en-AU" sz="4400"/>
              <a:t> or </a:t>
            </a:r>
            <a:r>
              <a:rPr lang="en-AU" sz="4400" b="1"/>
              <a:t>pm notation</a:t>
            </a:r>
            <a:r>
              <a:rPr lang="en-AU" sz="4400"/>
              <a:t>. </a:t>
            </a:r>
          </a:p>
          <a:p>
            <a:pPr algn="l"/>
            <a:endParaRPr lang="en-AU" sz="1800"/>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FD92D434-73C5-31CA-0E56-0C9F533A1EA7}"/>
              </a:ext>
            </a:extLst>
          </p:cNvPr>
          <p:cNvSpPr txBox="1"/>
          <p:nvPr/>
        </p:nvSpPr>
        <p:spPr>
          <a:xfrm>
            <a:off x="570659" y="1184223"/>
            <a:ext cx="6522720" cy="3133344"/>
          </a:xfrm>
          <a:prstGeom prst="rect">
            <a:avLst/>
          </a:prstGeom>
          <a:noFill/>
        </p:spPr>
        <p:txBody>
          <a:bodyPr wrap="square" lIns="0" tIns="0" rIns="0" bIns="0" rtlCol="0">
            <a:noAutofit/>
          </a:bodyPr>
          <a:lstStyle/>
          <a:p>
            <a:pPr algn="l">
              <a:lnSpc>
                <a:spcPct val="150000"/>
              </a:lnSpc>
              <a:spcBef>
                <a:spcPts val="600"/>
              </a:spcBef>
              <a:spcAft>
                <a:spcPts val="600"/>
              </a:spcAft>
            </a:pPr>
            <a:r>
              <a:rPr lang="en-AU" sz="4000" b="1"/>
              <a:t>Convert </a:t>
            </a:r>
            <a:r>
              <a:rPr lang="en-AU" sz="4000"/>
              <a:t>the following:</a:t>
            </a:r>
          </a:p>
          <a:p>
            <a:pPr marL="514350" indent="-514350">
              <a:lnSpc>
                <a:spcPct val="150000"/>
              </a:lnSpc>
              <a:spcBef>
                <a:spcPts val="600"/>
              </a:spcBef>
              <a:spcAft>
                <a:spcPts val="600"/>
              </a:spcAft>
              <a:buFont typeface="+mj-lt"/>
              <a:buAutoNum type="alphaLcParenR"/>
            </a:pPr>
            <a:r>
              <a:rPr lang="en-AU" sz="4000"/>
              <a:t> 3000 mL = ___ L</a:t>
            </a:r>
          </a:p>
          <a:p>
            <a:pPr marL="514350" indent="-514350">
              <a:lnSpc>
                <a:spcPct val="150000"/>
              </a:lnSpc>
              <a:spcBef>
                <a:spcPts val="600"/>
              </a:spcBef>
              <a:spcAft>
                <a:spcPts val="600"/>
              </a:spcAft>
              <a:buFont typeface="+mj-lt"/>
              <a:buAutoNum type="alphaLcParenR"/>
            </a:pPr>
            <a:r>
              <a:rPr lang="en-AU" sz="4000"/>
              <a:t> 300 mL = ___ L</a:t>
            </a:r>
          </a:p>
          <a:p>
            <a:pPr marL="514350" indent="-514350">
              <a:lnSpc>
                <a:spcPct val="150000"/>
              </a:lnSpc>
              <a:spcBef>
                <a:spcPts val="600"/>
              </a:spcBef>
              <a:spcAft>
                <a:spcPts val="600"/>
              </a:spcAft>
              <a:buFont typeface="+mj-lt"/>
              <a:buAutoNum type="alphaLcParenR"/>
            </a:pPr>
            <a:r>
              <a:rPr lang="en-AU" sz="4000"/>
              <a:t> 30 mL = ___ L</a:t>
            </a:r>
          </a:p>
          <a:p>
            <a:pPr marL="514350" indent="-514350">
              <a:lnSpc>
                <a:spcPct val="150000"/>
              </a:lnSpc>
              <a:spcBef>
                <a:spcPts val="600"/>
              </a:spcBef>
              <a:spcAft>
                <a:spcPts val="600"/>
              </a:spcAft>
              <a:buFont typeface="+mj-lt"/>
              <a:buAutoNum type="alphaLcParenR"/>
            </a:pPr>
            <a:r>
              <a:rPr lang="en-AU" sz="4000"/>
              <a:t> 3 mL = ___ L</a:t>
            </a:r>
          </a:p>
          <a:p>
            <a:pPr algn="l"/>
            <a:endParaRPr lang="en-AU" sz="1800"/>
          </a:p>
          <a:p>
            <a:pPr algn="l"/>
            <a:endParaRPr lang="en-AU" sz="1800"/>
          </a:p>
          <a:p>
            <a:pPr algn="l"/>
            <a:endParaRPr lang="en-AU" sz="1800"/>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pic>
        <p:nvPicPr>
          <p:cNvPr id="3" name="Picture 2">
            <a:extLst>
              <a:ext uri="{FF2B5EF4-FFF2-40B4-BE49-F238E27FC236}">
                <a16:creationId xmlns:a16="http://schemas.microsoft.com/office/drawing/2014/main" id="{8579B78F-E8F7-2A31-5798-ADB627F8314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
        <p:nvSpPr>
          <p:cNvPr id="4" name="TextBox 3">
            <a:extLst>
              <a:ext uri="{FF2B5EF4-FFF2-40B4-BE49-F238E27FC236}">
                <a16:creationId xmlns:a16="http://schemas.microsoft.com/office/drawing/2014/main" id="{FC6C31DA-BEFA-8994-E100-4BB57476F260}"/>
              </a:ext>
            </a:extLst>
          </p:cNvPr>
          <p:cNvSpPr txBox="1"/>
          <p:nvPr/>
        </p:nvSpPr>
        <p:spPr>
          <a:xfrm>
            <a:off x="530230" y="1705245"/>
            <a:ext cx="10784452" cy="682388"/>
          </a:xfrm>
          <a:prstGeom prst="rect">
            <a:avLst/>
          </a:prstGeom>
          <a:noFill/>
        </p:spPr>
        <p:txBody>
          <a:bodyPr wrap="square" lIns="0" tIns="0" rIns="0" bIns="0" rtlCol="0">
            <a:noAutofit/>
          </a:bodyPr>
          <a:lstStyle/>
          <a:p>
            <a:pPr algn="ctr">
              <a:lnSpc>
                <a:spcPct val="150000"/>
              </a:lnSpc>
            </a:pPr>
            <a:r>
              <a:rPr lang="en-AU" sz="4400"/>
              <a:t>Chandra walked </a:t>
            </a:r>
            <a:r>
              <a:rPr lang="en-AU" sz="4400" b="1"/>
              <a:t>27 m</a:t>
            </a:r>
            <a:r>
              <a:rPr lang="en-AU" sz="4400"/>
              <a:t> on Monday, </a:t>
            </a:r>
            <a:r>
              <a:rPr lang="en-AU" sz="4400" b="1"/>
              <a:t>94 m</a:t>
            </a:r>
            <a:r>
              <a:rPr lang="en-AU" sz="4400"/>
              <a:t> on Tuesday and </a:t>
            </a:r>
            <a:r>
              <a:rPr lang="en-AU" sz="4400" b="1"/>
              <a:t>2400 cm </a:t>
            </a:r>
            <a:r>
              <a:rPr lang="en-AU" sz="4400"/>
              <a:t>on Wednesday.</a:t>
            </a:r>
          </a:p>
          <a:p>
            <a:pPr algn="ctr">
              <a:lnSpc>
                <a:spcPct val="150000"/>
              </a:lnSpc>
            </a:pPr>
            <a:endParaRPr lang="en-AU" sz="4400"/>
          </a:p>
          <a:p>
            <a:pPr algn="ctr">
              <a:lnSpc>
                <a:spcPct val="150000"/>
              </a:lnSpc>
            </a:pPr>
            <a:r>
              <a:rPr lang="en-AU" sz="4400"/>
              <a:t>How many </a:t>
            </a:r>
            <a:r>
              <a:rPr lang="en-AU" sz="4400" b="1"/>
              <a:t>metres </a:t>
            </a:r>
            <a:r>
              <a:rPr lang="en-AU" sz="4400"/>
              <a:t>did he walk that week?</a:t>
            </a:r>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multiplying multiples</a:t>
            </a:r>
          </a:p>
        </p:txBody>
      </p:sp>
      <p:pic>
        <p:nvPicPr>
          <p:cNvPr id="4" name="Picture 3">
            <a:extLst>
              <a:ext uri="{FF2B5EF4-FFF2-40B4-BE49-F238E27FC236}">
                <a16:creationId xmlns:a16="http://schemas.microsoft.com/office/drawing/2014/main" id="{310F3533-70A3-049C-FD4D-BE7CFB97024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grpSp>
        <p:nvGrpSpPr>
          <p:cNvPr id="3" name="Group 2" descr="Blank times blank zero is equal to blank times blank zero.">
            <a:extLst>
              <a:ext uri="{FF2B5EF4-FFF2-40B4-BE49-F238E27FC236}">
                <a16:creationId xmlns:a16="http://schemas.microsoft.com/office/drawing/2014/main" id="{9803A610-EBDC-89A6-5C82-DBCF96224811}"/>
              </a:ext>
            </a:extLst>
          </p:cNvPr>
          <p:cNvGrpSpPr/>
          <p:nvPr/>
        </p:nvGrpSpPr>
        <p:grpSpPr>
          <a:xfrm>
            <a:off x="1699405" y="2690717"/>
            <a:ext cx="8118893" cy="1200329"/>
            <a:chOff x="1699405" y="2690717"/>
            <a:chExt cx="8118893" cy="1200329"/>
          </a:xfrm>
        </p:grpSpPr>
        <p:sp>
          <p:nvSpPr>
            <p:cNvPr id="7" name="TextBox 6">
              <a:extLst>
                <a:ext uri="{FF2B5EF4-FFF2-40B4-BE49-F238E27FC236}">
                  <a16:creationId xmlns:a16="http://schemas.microsoft.com/office/drawing/2014/main" id="{4555FAC4-8881-4C8C-AB2B-84D7E97907EF}"/>
                </a:ext>
              </a:extLst>
            </p:cNvPr>
            <p:cNvSpPr txBox="1"/>
            <p:nvPr/>
          </p:nvSpPr>
          <p:spPr>
            <a:xfrm>
              <a:off x="2373702" y="2690717"/>
              <a:ext cx="7444596" cy="1200329"/>
            </a:xfrm>
            <a:prstGeom prst="rect">
              <a:avLst/>
            </a:prstGeom>
            <a:noFill/>
          </p:spPr>
          <p:txBody>
            <a:bodyPr wrap="square">
              <a:spAutoFit/>
            </a:bodyPr>
            <a:lstStyle/>
            <a:p>
              <a:pPr algn="ctr"/>
              <a:r>
                <a:rPr lang="en-AU" sz="2400"/>
                <a:t> </a:t>
              </a:r>
              <a:r>
                <a:rPr lang="en-AU" sz="7200"/>
                <a:t>×     0 =     ×     0</a:t>
              </a:r>
              <a:endParaRPr lang="en-US" sz="7200"/>
            </a:p>
          </p:txBody>
        </p:sp>
        <p:sp>
          <p:nvSpPr>
            <p:cNvPr id="8" name="TextBox 7">
              <a:extLst>
                <a:ext uri="{FF2B5EF4-FFF2-40B4-BE49-F238E27FC236}">
                  <a16:creationId xmlns:a16="http://schemas.microsoft.com/office/drawing/2014/main" id="{3B73162C-9F93-9440-4790-0A4821F8A5D9}"/>
                </a:ext>
              </a:extLst>
            </p:cNvPr>
            <p:cNvSpPr txBox="1"/>
            <p:nvPr/>
          </p:nvSpPr>
          <p:spPr>
            <a:xfrm>
              <a:off x="1699405" y="2950137"/>
              <a:ext cx="759124" cy="681487"/>
            </a:xfrm>
            <a:prstGeom prst="rect">
              <a:avLst/>
            </a:prstGeom>
            <a:noFill/>
            <a:ln>
              <a:solidFill>
                <a:schemeClr val="tx1"/>
              </a:solidFill>
            </a:ln>
          </p:spPr>
          <p:txBody>
            <a:bodyPr wrap="square" lIns="0" tIns="0" rIns="0" bIns="0" rtlCol="0">
              <a:noAutofit/>
            </a:bodyPr>
            <a:lstStyle/>
            <a:p>
              <a:pPr algn="l"/>
              <a:endParaRPr lang="en-AU" sz="1800"/>
            </a:p>
          </p:txBody>
        </p:sp>
        <p:sp>
          <p:nvSpPr>
            <p:cNvPr id="9" name="TextBox 8">
              <a:extLst>
                <a:ext uri="{FF2B5EF4-FFF2-40B4-BE49-F238E27FC236}">
                  <a16:creationId xmlns:a16="http://schemas.microsoft.com/office/drawing/2014/main" id="{9263DDEE-24F4-BF4E-AF49-5B3C67B7117F}"/>
                </a:ext>
              </a:extLst>
            </p:cNvPr>
            <p:cNvSpPr txBox="1"/>
            <p:nvPr/>
          </p:nvSpPr>
          <p:spPr>
            <a:xfrm>
              <a:off x="3585715" y="2950137"/>
              <a:ext cx="759124" cy="681487"/>
            </a:xfrm>
            <a:prstGeom prst="rect">
              <a:avLst/>
            </a:prstGeom>
            <a:noFill/>
            <a:ln>
              <a:solidFill>
                <a:schemeClr val="tx1"/>
              </a:solidFill>
            </a:ln>
          </p:spPr>
          <p:txBody>
            <a:bodyPr wrap="square" lIns="0" tIns="0" rIns="0" bIns="0" rtlCol="0">
              <a:noAutofit/>
            </a:bodyPr>
            <a:lstStyle/>
            <a:p>
              <a:pPr algn="l"/>
              <a:endParaRPr lang="en-AU" sz="1800"/>
            </a:p>
          </p:txBody>
        </p:sp>
        <p:sp>
          <p:nvSpPr>
            <p:cNvPr id="10" name="TextBox 9">
              <a:extLst>
                <a:ext uri="{FF2B5EF4-FFF2-40B4-BE49-F238E27FC236}">
                  <a16:creationId xmlns:a16="http://schemas.microsoft.com/office/drawing/2014/main" id="{4B51CD96-6688-F0D0-E552-739F1FF7949B}"/>
                </a:ext>
              </a:extLst>
            </p:cNvPr>
            <p:cNvSpPr txBox="1"/>
            <p:nvPr/>
          </p:nvSpPr>
          <p:spPr>
            <a:xfrm>
              <a:off x="6139133" y="2950136"/>
              <a:ext cx="759124" cy="681487"/>
            </a:xfrm>
            <a:prstGeom prst="rect">
              <a:avLst/>
            </a:prstGeom>
            <a:noFill/>
            <a:ln>
              <a:solidFill>
                <a:schemeClr val="tx1"/>
              </a:solidFill>
            </a:ln>
          </p:spPr>
          <p:txBody>
            <a:bodyPr wrap="square" lIns="0" tIns="0" rIns="0" bIns="0" rtlCol="0">
              <a:noAutofit/>
            </a:bodyPr>
            <a:lstStyle/>
            <a:p>
              <a:pPr algn="l"/>
              <a:endParaRPr lang="en-AU" sz="1800"/>
            </a:p>
          </p:txBody>
        </p:sp>
        <p:sp>
          <p:nvSpPr>
            <p:cNvPr id="11" name="TextBox 10">
              <a:extLst>
                <a:ext uri="{FF2B5EF4-FFF2-40B4-BE49-F238E27FC236}">
                  <a16:creationId xmlns:a16="http://schemas.microsoft.com/office/drawing/2014/main" id="{8617B0E3-13B8-75EC-0A14-A82E37F156FD}"/>
                </a:ext>
              </a:extLst>
            </p:cNvPr>
            <p:cNvSpPr txBox="1"/>
            <p:nvPr/>
          </p:nvSpPr>
          <p:spPr>
            <a:xfrm>
              <a:off x="7933428" y="2950135"/>
              <a:ext cx="759124" cy="681487"/>
            </a:xfrm>
            <a:prstGeom prst="rect">
              <a:avLst/>
            </a:prstGeom>
            <a:noFill/>
            <a:ln>
              <a:solidFill>
                <a:schemeClr val="tx1"/>
              </a:solidFill>
            </a:ln>
          </p:spPr>
          <p:txBody>
            <a:bodyPr wrap="square" lIns="0" tIns="0" rIns="0" bIns="0" rtlCol="0">
              <a:noAutofit/>
            </a:bodyPr>
            <a:lstStyle/>
            <a:p>
              <a:pPr algn="l"/>
              <a:endParaRPr lang="en-AU" sz="1800"/>
            </a:p>
          </p:txBody>
        </p:sp>
      </p:gr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360000" y="1625946"/>
            <a:ext cx="10958789" cy="893226"/>
          </a:xfrm>
        </p:spPr>
        <p:txBody>
          <a:bodyPr/>
          <a:lstStyle/>
          <a:p>
            <a:pPr algn="ctr"/>
            <a:r>
              <a:rPr lang="en-AU" sz="4400"/>
              <a:t>Ivy rode her bike </a:t>
            </a:r>
            <a:r>
              <a:rPr lang="en-AU" sz="4400" b="1"/>
              <a:t>27 km </a:t>
            </a:r>
            <a:r>
              <a:rPr lang="en-AU" sz="4400"/>
              <a:t>a day for a </a:t>
            </a:r>
            <a:r>
              <a:rPr lang="en-AU" sz="4400" b="1"/>
              <a:t>total</a:t>
            </a:r>
            <a:r>
              <a:rPr lang="en-AU" sz="4400"/>
              <a:t> of 5 days. </a:t>
            </a:r>
          </a:p>
          <a:p>
            <a:pPr algn="ctr"/>
            <a:r>
              <a:rPr lang="en-AU" sz="4400"/>
              <a:t>She rode </a:t>
            </a:r>
            <a:r>
              <a:rPr lang="en-AU" sz="4400" b="1"/>
              <a:t>135 km </a:t>
            </a:r>
            <a:r>
              <a:rPr lang="en-AU" sz="4400"/>
              <a:t>in </a:t>
            </a:r>
            <a:r>
              <a:rPr lang="en-AU" sz="4400" b="1"/>
              <a:t>total</a:t>
            </a:r>
            <a:r>
              <a:rPr lang="en-AU" sz="4400"/>
              <a:t>.</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1471142275"/>
              </p:ext>
            </p:extLst>
          </p:nvPr>
        </p:nvGraphicFramePr>
        <p:xfrm>
          <a:off x="2442980" y="5110597"/>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239F5F22-5449-95CB-BD5E-F141E81E86F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pic>
        <p:nvPicPr>
          <p:cNvPr id="3" name="Picture 2">
            <a:extLst>
              <a:ext uri="{FF2B5EF4-FFF2-40B4-BE49-F238E27FC236}">
                <a16:creationId xmlns:a16="http://schemas.microsoft.com/office/drawing/2014/main" id="{4BDD99B8-CF6E-F7A3-575D-5F08BFBF6D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
        <p:nvSpPr>
          <p:cNvPr id="4" name="TextBox 3">
            <a:extLst>
              <a:ext uri="{FF2B5EF4-FFF2-40B4-BE49-F238E27FC236}">
                <a16:creationId xmlns:a16="http://schemas.microsoft.com/office/drawing/2014/main" id="{29977AA1-A47A-A986-7172-8D5F28F447AE}"/>
              </a:ext>
            </a:extLst>
          </p:cNvPr>
          <p:cNvSpPr txBox="1"/>
          <p:nvPr/>
        </p:nvSpPr>
        <p:spPr>
          <a:xfrm>
            <a:off x="821268" y="2278260"/>
            <a:ext cx="9906000" cy="682388"/>
          </a:xfrm>
          <a:prstGeom prst="rect">
            <a:avLst/>
          </a:prstGeom>
          <a:noFill/>
        </p:spPr>
        <p:txBody>
          <a:bodyPr wrap="square" lIns="0" tIns="0" rIns="0" bIns="0" rtlCol="0">
            <a:noAutofit/>
          </a:bodyPr>
          <a:lstStyle/>
          <a:p>
            <a:pPr algn="ctr">
              <a:lnSpc>
                <a:spcPct val="150000"/>
              </a:lnSpc>
            </a:pPr>
            <a:r>
              <a:rPr lang="en-AU" sz="4400" b="1"/>
              <a:t>Use </a:t>
            </a:r>
            <a:r>
              <a:rPr lang="en-AU" sz="4400"/>
              <a:t>the</a:t>
            </a:r>
            <a:r>
              <a:rPr lang="en-AU" sz="4400" b="1"/>
              <a:t> area model</a:t>
            </a:r>
            <a:r>
              <a:rPr lang="en-AU" sz="4400"/>
              <a:t> to </a:t>
            </a:r>
            <a:r>
              <a:rPr lang="en-AU" sz="4400" b="1"/>
              <a:t>solve:</a:t>
            </a:r>
          </a:p>
          <a:p>
            <a:pPr algn="ctr">
              <a:lnSpc>
                <a:spcPct val="150000"/>
              </a:lnSpc>
            </a:pPr>
            <a:r>
              <a:rPr lang="en-AU" sz="4400"/>
              <a:t> </a:t>
            </a:r>
            <a:r>
              <a:rPr lang="en-AU" sz="5400">
                <a:solidFill>
                  <a:schemeClr val="accent2"/>
                </a:solidFill>
              </a:rPr>
              <a:t>387 x 8</a:t>
            </a:r>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sp>
        <p:nvSpPr>
          <p:cNvPr id="4" name="TextBox 3">
            <a:extLst>
              <a:ext uri="{FF2B5EF4-FFF2-40B4-BE49-F238E27FC236}">
                <a16:creationId xmlns:a16="http://schemas.microsoft.com/office/drawing/2014/main" id="{31BADEE2-69D0-39D7-FFC5-EE9B352E9628}"/>
              </a:ext>
            </a:extLst>
          </p:cNvPr>
          <p:cNvSpPr txBox="1"/>
          <p:nvPr/>
        </p:nvSpPr>
        <p:spPr>
          <a:xfrm>
            <a:off x="912366" y="1328831"/>
            <a:ext cx="10367268" cy="3368040"/>
          </a:xfrm>
          <a:prstGeom prst="rect">
            <a:avLst/>
          </a:prstGeom>
          <a:noFill/>
        </p:spPr>
        <p:txBody>
          <a:bodyPr wrap="square" lIns="0" tIns="0" rIns="0" bIns="0" rtlCol="0">
            <a:noAutofit/>
          </a:bodyPr>
          <a:lstStyle/>
          <a:p>
            <a:pPr algn="ctr">
              <a:lnSpc>
                <a:spcPct val="150000"/>
              </a:lnSpc>
            </a:pPr>
            <a:r>
              <a:rPr lang="en-AU" sz="4400"/>
              <a:t>Luka’s grandad told him that Taekwondo finishes at </a:t>
            </a:r>
            <a:r>
              <a:rPr lang="en-AU" sz="4400" b="1"/>
              <a:t>6:45pm</a:t>
            </a:r>
            <a:r>
              <a:rPr lang="en-AU" sz="4400"/>
              <a:t>.</a:t>
            </a:r>
          </a:p>
          <a:p>
            <a:pPr algn="ctr">
              <a:lnSpc>
                <a:spcPct val="150000"/>
              </a:lnSpc>
            </a:pPr>
            <a:endParaRPr lang="en-AU" sz="4400"/>
          </a:p>
          <a:p>
            <a:pPr algn="ctr">
              <a:lnSpc>
                <a:spcPct val="150000"/>
              </a:lnSpc>
            </a:pPr>
            <a:r>
              <a:rPr lang="en-AU" sz="4400" b="1"/>
              <a:t>Record</a:t>
            </a:r>
            <a:r>
              <a:rPr lang="en-AU" sz="4400"/>
              <a:t> the time Taekwondo finishes in </a:t>
            </a:r>
          </a:p>
          <a:p>
            <a:pPr algn="ctr">
              <a:lnSpc>
                <a:spcPct val="150000"/>
              </a:lnSpc>
            </a:pPr>
            <a:r>
              <a:rPr lang="en-AU" sz="4400" b="1"/>
              <a:t>24-hour time</a:t>
            </a:r>
            <a:r>
              <a:rPr lang="en-AU" sz="4400"/>
              <a:t>. </a:t>
            </a:r>
          </a:p>
          <a:p>
            <a:pPr algn="l"/>
            <a:endParaRPr lang="en-AU" sz="1800"/>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D43135F9-C9A1-ED07-7105-2FC2F5194471}"/>
              </a:ext>
            </a:extLst>
          </p:cNvPr>
          <p:cNvSpPr txBox="1"/>
          <p:nvPr/>
        </p:nvSpPr>
        <p:spPr>
          <a:xfrm>
            <a:off x="560173" y="1402832"/>
            <a:ext cx="11071653" cy="1524000"/>
          </a:xfrm>
          <a:prstGeom prst="rect">
            <a:avLst/>
          </a:prstGeom>
          <a:noFill/>
        </p:spPr>
        <p:txBody>
          <a:bodyPr wrap="square" lIns="0" tIns="0" rIns="0" bIns="0" rtlCol="0">
            <a:noAutofit/>
          </a:bodyPr>
          <a:lstStyle/>
          <a:p>
            <a:pPr algn="ctr">
              <a:lnSpc>
                <a:spcPct val="150000"/>
              </a:lnSpc>
            </a:pPr>
            <a:r>
              <a:rPr lang="en-AU" sz="4400"/>
              <a:t>Record the </a:t>
            </a:r>
            <a:r>
              <a:rPr lang="en-AU" sz="4400" b="1"/>
              <a:t>appropriate unit </a:t>
            </a:r>
            <a:r>
              <a:rPr lang="en-AU" sz="4400"/>
              <a:t>to </a:t>
            </a:r>
            <a:r>
              <a:rPr lang="en-AU" sz="4400" b="1"/>
              <a:t>measure</a:t>
            </a:r>
            <a:r>
              <a:rPr lang="en-AU" sz="4400"/>
              <a:t> the </a:t>
            </a:r>
            <a:r>
              <a:rPr lang="en-AU" sz="4400" b="1"/>
              <a:t>capacities</a:t>
            </a:r>
            <a:r>
              <a:rPr lang="en-AU" sz="4400"/>
              <a:t> of these containers</a:t>
            </a:r>
            <a:r>
              <a:rPr lang="en-AU" sz="3600"/>
              <a:t>.</a:t>
            </a:r>
          </a:p>
        </p:txBody>
      </p:sp>
      <p:pic>
        <p:nvPicPr>
          <p:cNvPr id="4" name="Picture 3" descr="An image of a bucket labelled A. An image of a drink bottle labelled B. An image of a bathtub labelled C.">
            <a:extLst>
              <a:ext uri="{FF2B5EF4-FFF2-40B4-BE49-F238E27FC236}">
                <a16:creationId xmlns:a16="http://schemas.microsoft.com/office/drawing/2014/main" id="{57760D58-A2FA-FB4F-ADC3-4E45064C797E}"/>
              </a:ext>
            </a:extLst>
          </p:cNvPr>
          <p:cNvPicPr>
            <a:picLocks noChangeAspect="1"/>
          </p:cNvPicPr>
          <p:nvPr/>
        </p:nvPicPr>
        <p:blipFill>
          <a:blip r:embed="rId4"/>
          <a:srcRect t="48711" b="13743"/>
          <a:stretch>
            <a:fillRect/>
          </a:stretch>
        </p:blipFill>
        <p:spPr>
          <a:xfrm>
            <a:off x="904298" y="3429000"/>
            <a:ext cx="9700141" cy="2574985"/>
          </a:xfrm>
          <a:prstGeom prst="rect">
            <a:avLst/>
          </a:prstGeom>
        </p:spPr>
      </p:pic>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7" name="TextBox 6">
            <a:extLst>
              <a:ext uri="{FF2B5EF4-FFF2-40B4-BE49-F238E27FC236}">
                <a16:creationId xmlns:a16="http://schemas.microsoft.com/office/drawing/2014/main" id="{0C0E3BA7-1D70-394D-16BC-9DA6293FB8F6}"/>
              </a:ext>
              <a:ext uri="{C183D7F6-B498-43B3-948B-1728B52AA6E4}">
                <adec:decorative xmlns:adec="http://schemas.microsoft.com/office/drawing/2017/decorative" val="1"/>
              </a:ext>
            </a:extLst>
          </p:cNvPr>
          <p:cNvSpPr txBox="1"/>
          <p:nvPr/>
        </p:nvSpPr>
        <p:spPr>
          <a:xfrm>
            <a:off x="2745944" y="59573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8" name="TextBox 7">
            <a:extLst>
              <a:ext uri="{FF2B5EF4-FFF2-40B4-BE49-F238E27FC236}">
                <a16:creationId xmlns:a16="http://schemas.microsoft.com/office/drawing/2014/main" id="{57CD85EC-0E10-8608-D4F6-165B7756D2D0}"/>
              </a:ext>
              <a:ext uri="{C183D7F6-B498-43B3-948B-1728B52AA6E4}">
                <adec:decorative xmlns:adec="http://schemas.microsoft.com/office/drawing/2017/decorative" val="1"/>
              </a:ext>
            </a:extLst>
          </p:cNvPr>
          <p:cNvSpPr txBox="1"/>
          <p:nvPr/>
        </p:nvSpPr>
        <p:spPr>
          <a:xfrm>
            <a:off x="5036933" y="59573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9" name="TextBox 8">
            <a:extLst>
              <a:ext uri="{FF2B5EF4-FFF2-40B4-BE49-F238E27FC236}">
                <a16:creationId xmlns:a16="http://schemas.microsoft.com/office/drawing/2014/main" id="{6BB8D9CF-8069-9238-29B7-8337A980031C}"/>
              </a:ext>
              <a:ext uri="{C183D7F6-B498-43B3-948B-1728B52AA6E4}">
                <adec:decorative xmlns:adec="http://schemas.microsoft.com/office/drawing/2017/decorative" val="1"/>
              </a:ext>
            </a:extLst>
          </p:cNvPr>
          <p:cNvSpPr txBox="1"/>
          <p:nvPr/>
        </p:nvSpPr>
        <p:spPr>
          <a:xfrm>
            <a:off x="8080466" y="59573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pic>
        <p:nvPicPr>
          <p:cNvPr id="3" name="Picture 2" descr="image of a clipboard with a pencil recording short answer responses">
            <a:extLst>
              <a:ext uri="{FF2B5EF4-FFF2-40B4-BE49-F238E27FC236}">
                <a16:creationId xmlns:a16="http://schemas.microsoft.com/office/drawing/2014/main" id="{7F0D925D-1709-7016-D09D-4DDBD08A31D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
        <p:nvSpPr>
          <p:cNvPr id="5" name="TextBox 4">
            <a:extLst>
              <a:ext uri="{FF2B5EF4-FFF2-40B4-BE49-F238E27FC236}">
                <a16:creationId xmlns:a16="http://schemas.microsoft.com/office/drawing/2014/main" id="{411D8282-8BFE-6956-DB54-6F17E8671475}"/>
              </a:ext>
            </a:extLst>
          </p:cNvPr>
          <p:cNvSpPr txBox="1"/>
          <p:nvPr/>
        </p:nvSpPr>
        <p:spPr>
          <a:xfrm>
            <a:off x="756732" y="2240638"/>
            <a:ext cx="10367268" cy="3013838"/>
          </a:xfrm>
          <a:prstGeom prst="rect">
            <a:avLst/>
          </a:prstGeom>
          <a:noFill/>
        </p:spPr>
        <p:txBody>
          <a:bodyPr wrap="square">
            <a:spAutoFit/>
          </a:bodyPr>
          <a:lstStyle/>
          <a:p>
            <a:pPr algn="ctr">
              <a:lnSpc>
                <a:spcPct val="150000"/>
              </a:lnSpc>
            </a:pPr>
            <a:r>
              <a:rPr lang="en-AU" sz="4400" b="0" i="0">
                <a:effectLst/>
              </a:rPr>
              <a:t>Find the </a:t>
            </a:r>
            <a:r>
              <a:rPr lang="en-AU" sz="4400" b="1" i="0">
                <a:effectLst/>
              </a:rPr>
              <a:t>total length in cm </a:t>
            </a:r>
            <a:r>
              <a:rPr lang="en-AU" sz="4400" b="0" i="0">
                <a:effectLst/>
              </a:rPr>
              <a:t>of these </a:t>
            </a:r>
          </a:p>
          <a:p>
            <a:pPr algn="ctr">
              <a:lnSpc>
                <a:spcPct val="150000"/>
              </a:lnSpc>
            </a:pPr>
            <a:r>
              <a:rPr lang="en-AU" sz="4400" b="0" i="0">
                <a:effectLst/>
              </a:rPr>
              <a:t>3 items measuring 10 mm, 30 cm and 8.4 m</a:t>
            </a:r>
            <a:r>
              <a:rPr lang="en-AU" sz="4000" b="0" i="0">
                <a:effectLst/>
              </a:rPr>
              <a:t>.</a:t>
            </a:r>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multiplication problems </a:t>
            </a:r>
          </a:p>
        </p:txBody>
      </p:sp>
      <p:pic>
        <p:nvPicPr>
          <p:cNvPr id="4" name="Picture 3">
            <a:extLst>
              <a:ext uri="{FF2B5EF4-FFF2-40B4-BE49-F238E27FC236}">
                <a16:creationId xmlns:a16="http://schemas.microsoft.com/office/drawing/2014/main" id="{98F6F9F3-5640-0D69-7B77-0C79E603F67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sp>
        <p:nvSpPr>
          <p:cNvPr id="3" name="TextBox 2">
            <a:extLst>
              <a:ext uri="{FF2B5EF4-FFF2-40B4-BE49-F238E27FC236}">
                <a16:creationId xmlns:a16="http://schemas.microsoft.com/office/drawing/2014/main" id="{FA88CB45-EF2B-8FC7-7007-A166B3EE5157}"/>
              </a:ext>
            </a:extLst>
          </p:cNvPr>
          <p:cNvSpPr txBox="1"/>
          <p:nvPr/>
        </p:nvSpPr>
        <p:spPr>
          <a:xfrm>
            <a:off x="912366" y="1493333"/>
            <a:ext cx="10367268" cy="3439236"/>
          </a:xfrm>
          <a:prstGeom prst="rect">
            <a:avLst/>
          </a:prstGeom>
          <a:noFill/>
        </p:spPr>
        <p:txBody>
          <a:bodyPr wrap="square" lIns="0" tIns="0" rIns="0" bIns="0" rtlCol="0">
            <a:noAutofit/>
          </a:bodyPr>
          <a:lstStyle/>
          <a:p>
            <a:pPr lvl="0" algn="ctr">
              <a:lnSpc>
                <a:spcPct val="150000"/>
              </a:lnSpc>
            </a:pPr>
            <a:r>
              <a:rPr lang="en-AU" sz="4400"/>
              <a:t>Oscar rides his bike </a:t>
            </a:r>
            <a:r>
              <a:rPr lang="en-AU" sz="4400" b="1"/>
              <a:t>38 km </a:t>
            </a:r>
            <a:r>
              <a:rPr lang="en-AU" sz="4400"/>
              <a:t>a day for a </a:t>
            </a:r>
            <a:r>
              <a:rPr lang="en-AU" sz="4400" b="1"/>
              <a:t>total of 5 days</a:t>
            </a:r>
            <a:r>
              <a:rPr lang="en-AU" sz="4400"/>
              <a:t>. </a:t>
            </a:r>
          </a:p>
          <a:p>
            <a:pPr lvl="0" algn="ctr">
              <a:lnSpc>
                <a:spcPct val="150000"/>
              </a:lnSpc>
            </a:pPr>
            <a:endParaRPr lang="en-AU" sz="4400"/>
          </a:p>
          <a:p>
            <a:pPr lvl="0" algn="ctr">
              <a:lnSpc>
                <a:spcPct val="150000"/>
              </a:lnSpc>
            </a:pPr>
            <a:r>
              <a:rPr lang="en-AU" sz="4400"/>
              <a:t>How many </a:t>
            </a:r>
            <a:r>
              <a:rPr lang="en-AU" sz="4400" b="1"/>
              <a:t>kilometres</a:t>
            </a:r>
            <a:r>
              <a:rPr lang="en-AU" sz="4400"/>
              <a:t> did he ride in </a:t>
            </a:r>
            <a:r>
              <a:rPr lang="en-AU" sz="4400" b="1"/>
              <a:t>total</a:t>
            </a:r>
            <a:r>
              <a:rPr lang="en-AU" sz="4400"/>
              <a:t>?</a:t>
            </a:r>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BDB0F-EDB3-D42C-B9F0-90D9CE8D95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806A67-4A8B-CFA0-2639-260EFA3DE028}"/>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(4)</a:t>
            </a:r>
          </a:p>
        </p:txBody>
      </p:sp>
      <p:sp>
        <p:nvSpPr>
          <p:cNvPr id="15" name="Text Placeholder">
            <a:extLst>
              <a:ext uri="{FF2B5EF4-FFF2-40B4-BE49-F238E27FC236}">
                <a16:creationId xmlns:a16="http://schemas.microsoft.com/office/drawing/2014/main" id="{F4BCB582-8EFA-EA48-C6B2-3E84380A7733}"/>
              </a:ext>
            </a:extLst>
          </p:cNvPr>
          <p:cNvSpPr>
            <a:spLocks noGrp="1"/>
          </p:cNvSpPr>
          <p:nvPr>
            <p:ph type="body" sz="quarter" idx="28"/>
          </p:nvPr>
        </p:nvSpPr>
        <p:spPr>
          <a:xfrm>
            <a:off x="600963" y="1112118"/>
            <a:ext cx="11243037" cy="754243"/>
          </a:xfrm>
        </p:spPr>
        <p:txBody>
          <a:bodyPr/>
          <a:lstStyle/>
          <a:p>
            <a:pPr algn="ctr"/>
            <a:r>
              <a:rPr lang="en-US" sz="4400">
                <a:solidFill>
                  <a:schemeClr val="accent2"/>
                </a:solidFill>
              </a:rPr>
              <a:t>8 x 238 =</a:t>
            </a:r>
          </a:p>
        </p:txBody>
      </p:sp>
      <p:sp>
        <p:nvSpPr>
          <p:cNvPr id="9" name="B">
            <a:extLst>
              <a:ext uri="{FF2B5EF4-FFF2-40B4-BE49-F238E27FC236}">
                <a16:creationId xmlns:a16="http://schemas.microsoft.com/office/drawing/2014/main" id="{C9B406B5-1B1B-BC84-2596-01F05852F38E}"/>
              </a:ext>
            </a:extLst>
          </p:cNvPr>
          <p:cNvSpPr txBox="1"/>
          <p:nvPr/>
        </p:nvSpPr>
        <p:spPr>
          <a:xfrm>
            <a:off x="670557" y="233096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31DF2179-CC68-4EE0-97E0-A4308D927550}"/>
              </a:ext>
            </a:extLst>
          </p:cNvPr>
          <p:cNvSpPr>
            <a:spLocks noGrp="1"/>
          </p:cNvSpPr>
          <p:nvPr>
            <p:ph type="body" sz="quarter" idx="31"/>
          </p:nvPr>
        </p:nvSpPr>
        <p:spPr>
          <a:xfrm>
            <a:off x="1345520" y="2322304"/>
            <a:ext cx="10175920" cy="641396"/>
          </a:xfrm>
        </p:spPr>
        <p:txBody>
          <a:bodyPr anchor="ctr"/>
          <a:lstStyle/>
          <a:p>
            <a:r>
              <a:rPr lang="en-US" sz="3600"/>
              <a:t>(8 x 300) + (8 x 8)</a:t>
            </a:r>
          </a:p>
        </p:txBody>
      </p:sp>
      <p:sp>
        <p:nvSpPr>
          <p:cNvPr id="10" name="B">
            <a:extLst>
              <a:ext uri="{FF2B5EF4-FFF2-40B4-BE49-F238E27FC236}">
                <a16:creationId xmlns:a16="http://schemas.microsoft.com/office/drawing/2014/main" id="{E50622FB-E2C3-695B-EB8A-A6DCC20CB21A}"/>
              </a:ext>
            </a:extLst>
          </p:cNvPr>
          <p:cNvSpPr txBox="1"/>
          <p:nvPr/>
        </p:nvSpPr>
        <p:spPr>
          <a:xfrm>
            <a:off x="670559" y="340451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C73A00ED-7DB5-30D2-B4A9-C92DE2E894C8}"/>
              </a:ext>
            </a:extLst>
          </p:cNvPr>
          <p:cNvSpPr>
            <a:spLocks noGrp="1"/>
          </p:cNvSpPr>
          <p:nvPr>
            <p:ph type="body" sz="quarter" idx="30"/>
          </p:nvPr>
        </p:nvSpPr>
        <p:spPr>
          <a:xfrm>
            <a:off x="1345520" y="3356777"/>
            <a:ext cx="10175920" cy="641396"/>
          </a:xfrm>
        </p:spPr>
        <p:txBody>
          <a:bodyPr anchor="ctr"/>
          <a:lstStyle/>
          <a:p>
            <a:r>
              <a:rPr lang="en-US" sz="3600"/>
              <a:t>(2 x 800) + (8 x 30) + (8 x 8)</a:t>
            </a:r>
          </a:p>
        </p:txBody>
      </p:sp>
      <p:sp>
        <p:nvSpPr>
          <p:cNvPr id="12" name="C">
            <a:extLst>
              <a:ext uri="{FF2B5EF4-FFF2-40B4-BE49-F238E27FC236}">
                <a16:creationId xmlns:a16="http://schemas.microsoft.com/office/drawing/2014/main" id="{0C258EAC-2959-18FA-F510-CFBA4E15CEE5}"/>
              </a:ext>
            </a:extLst>
          </p:cNvPr>
          <p:cNvSpPr txBox="1"/>
          <p:nvPr/>
        </p:nvSpPr>
        <p:spPr>
          <a:xfrm>
            <a:off x="670558" y="447806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4F46D482-F339-0F56-69AD-E717BD10B08B}"/>
              </a:ext>
            </a:extLst>
          </p:cNvPr>
          <p:cNvSpPr>
            <a:spLocks noGrp="1"/>
          </p:cNvSpPr>
          <p:nvPr>
            <p:ph type="body" sz="quarter" idx="29"/>
          </p:nvPr>
        </p:nvSpPr>
        <p:spPr>
          <a:xfrm>
            <a:off x="1345520" y="4391250"/>
            <a:ext cx="10175920" cy="641396"/>
          </a:xfrm>
        </p:spPr>
        <p:txBody>
          <a:bodyPr anchor="ctr"/>
          <a:lstStyle/>
          <a:p>
            <a:r>
              <a:rPr lang="en-US" sz="3600"/>
              <a:t>(8 x 200) + (8 x 30) + (8x8)</a:t>
            </a:r>
          </a:p>
        </p:txBody>
      </p:sp>
      <p:sp>
        <p:nvSpPr>
          <p:cNvPr id="11" name="D">
            <a:extLst>
              <a:ext uri="{FF2B5EF4-FFF2-40B4-BE49-F238E27FC236}">
                <a16:creationId xmlns:a16="http://schemas.microsoft.com/office/drawing/2014/main" id="{14776889-F079-73F7-28AB-FA54A997A57B}"/>
              </a:ext>
            </a:extLst>
          </p:cNvPr>
          <p:cNvSpPr txBox="1"/>
          <p:nvPr/>
        </p:nvSpPr>
        <p:spPr>
          <a:xfrm>
            <a:off x="670557" y="555161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6A6EC998-9E5D-373F-B144-268EE2D0342A}"/>
              </a:ext>
            </a:extLst>
          </p:cNvPr>
          <p:cNvSpPr>
            <a:spLocks noGrp="1"/>
          </p:cNvSpPr>
          <p:nvPr>
            <p:ph type="body" sz="quarter" idx="27"/>
          </p:nvPr>
        </p:nvSpPr>
        <p:spPr>
          <a:xfrm>
            <a:off x="1345520" y="5425723"/>
            <a:ext cx="10175920" cy="641396"/>
          </a:xfrm>
        </p:spPr>
        <p:txBody>
          <a:bodyPr anchor="ctr"/>
          <a:lstStyle/>
          <a:p>
            <a:r>
              <a:rPr lang="en-US" sz="3600"/>
              <a:t>(8 x 200) + (8 x 80) + (8 x 3)</a:t>
            </a:r>
          </a:p>
        </p:txBody>
      </p:sp>
      <p:sp>
        <p:nvSpPr>
          <p:cNvPr id="2" name="Slide Number Placeholder 1">
            <a:extLst>
              <a:ext uri="{FF2B5EF4-FFF2-40B4-BE49-F238E27FC236}">
                <a16:creationId xmlns:a16="http://schemas.microsoft.com/office/drawing/2014/main" id="{EA003EA6-BD98-8C0D-720D-A89B6A010C6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pic>
        <p:nvPicPr>
          <p:cNvPr id="4" name="Picture 3">
            <a:extLst>
              <a:ext uri="{FF2B5EF4-FFF2-40B4-BE49-F238E27FC236}">
                <a16:creationId xmlns:a16="http://schemas.microsoft.com/office/drawing/2014/main" id="{9E6DEC87-1992-0ACF-8BBC-408DC4F8B51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2836781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3" name="Picture 2">
            <a:extLst>
              <a:ext uri="{FF2B5EF4-FFF2-40B4-BE49-F238E27FC236}">
                <a16:creationId xmlns:a16="http://schemas.microsoft.com/office/drawing/2014/main" id="{3BDDE108-B743-E59F-31B4-5F4FCBC7EB6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
        <p:nvSpPr>
          <p:cNvPr id="4" name="TextBox 3">
            <a:extLst>
              <a:ext uri="{FF2B5EF4-FFF2-40B4-BE49-F238E27FC236}">
                <a16:creationId xmlns:a16="http://schemas.microsoft.com/office/drawing/2014/main" id="{C1E26BD0-26BB-6500-DF5F-B10AA053A577}"/>
              </a:ext>
            </a:extLst>
          </p:cNvPr>
          <p:cNvSpPr txBox="1"/>
          <p:nvPr/>
        </p:nvSpPr>
        <p:spPr>
          <a:xfrm>
            <a:off x="1218000" y="2204119"/>
            <a:ext cx="9906000" cy="682388"/>
          </a:xfrm>
          <a:prstGeom prst="rect">
            <a:avLst/>
          </a:prstGeom>
          <a:noFill/>
        </p:spPr>
        <p:txBody>
          <a:bodyPr wrap="square" lIns="0" tIns="0" rIns="0" bIns="0" rtlCol="0">
            <a:noAutofit/>
          </a:bodyPr>
          <a:lstStyle/>
          <a:p>
            <a:pPr algn="ctr">
              <a:lnSpc>
                <a:spcPct val="150000"/>
              </a:lnSpc>
            </a:pPr>
            <a:r>
              <a:rPr lang="en-AU" sz="4400" b="1"/>
              <a:t>Solve</a:t>
            </a:r>
            <a:r>
              <a:rPr lang="en-AU" sz="4400"/>
              <a:t> using a </a:t>
            </a:r>
            <a:r>
              <a:rPr lang="en-AU" sz="4400" b="1"/>
              <a:t>formal algorithm:</a:t>
            </a:r>
          </a:p>
          <a:p>
            <a:pPr algn="ctr"/>
            <a:r>
              <a:rPr lang="en-AU" sz="5400">
                <a:solidFill>
                  <a:schemeClr val="accent2"/>
                </a:solidFill>
              </a:rPr>
              <a:t>896 ÷ 2</a:t>
            </a:r>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pic>
        <p:nvPicPr>
          <p:cNvPr id="3" name="Picture 2" descr="image of a clipboard with a pencil recording short answer responses">
            <a:extLst>
              <a:ext uri="{FF2B5EF4-FFF2-40B4-BE49-F238E27FC236}">
                <a16:creationId xmlns:a16="http://schemas.microsoft.com/office/drawing/2014/main" id="{5DACDB15-40FB-10CA-304C-024754D6DBA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D12F13DF-482A-FBE7-3027-927A401AE26D}"/>
              </a:ext>
            </a:extLst>
          </p:cNvPr>
          <p:cNvSpPr txBox="1"/>
          <p:nvPr/>
        </p:nvSpPr>
        <p:spPr>
          <a:xfrm>
            <a:off x="0" y="1653853"/>
            <a:ext cx="5124227" cy="1017917"/>
          </a:xfrm>
          <a:prstGeom prst="rect">
            <a:avLst/>
          </a:prstGeom>
          <a:noFill/>
        </p:spPr>
        <p:txBody>
          <a:bodyPr wrap="square" lIns="0" tIns="0" rIns="0" bIns="0" rtlCol="0">
            <a:noAutofit/>
          </a:bodyPr>
          <a:lstStyle/>
          <a:p>
            <a:pPr algn="ctr">
              <a:lnSpc>
                <a:spcPct val="150000"/>
              </a:lnSpc>
            </a:pPr>
            <a:r>
              <a:rPr lang="en-AU" sz="3600"/>
              <a:t>A train </a:t>
            </a:r>
            <a:r>
              <a:rPr lang="en-AU" sz="3600" b="1"/>
              <a:t>arrives</a:t>
            </a:r>
            <a:r>
              <a:rPr lang="en-AU" sz="3600"/>
              <a:t> at </a:t>
            </a:r>
            <a:r>
              <a:rPr lang="en-AU" sz="3600" b="1"/>
              <a:t>Redfern</a:t>
            </a:r>
            <a:r>
              <a:rPr lang="en-AU" sz="3600"/>
              <a:t> at 09:03. </a:t>
            </a:r>
          </a:p>
          <a:p>
            <a:pPr algn="ctr">
              <a:lnSpc>
                <a:spcPct val="150000"/>
              </a:lnSpc>
            </a:pPr>
            <a:r>
              <a:rPr lang="en-AU" sz="3600" b="1"/>
              <a:t>Record</a:t>
            </a:r>
            <a:r>
              <a:rPr lang="en-AU" sz="3600"/>
              <a:t> the time it </a:t>
            </a:r>
            <a:r>
              <a:rPr lang="en-AU" sz="3600" b="1"/>
              <a:t>leaves</a:t>
            </a:r>
            <a:r>
              <a:rPr lang="en-AU" sz="3600"/>
              <a:t> </a:t>
            </a:r>
            <a:r>
              <a:rPr lang="en-AU" sz="3600" b="1"/>
              <a:t>Ashfield.</a:t>
            </a:r>
            <a:endParaRPr lang="en-AU" sz="3600"/>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pic>
        <p:nvPicPr>
          <p:cNvPr id="7" name="Picture 6" descr="A train station timetable with the following stops and times: Berala 08:31, Lidcombe 08:35, Homebush 08:39, Strathfield 08:42, Burwood 08:45, Ashfield 08:48, Summer Hill 08:51, Lewisham 08:52, Petersham 08:54, Stanmore 08:56, Newtown 08:59, Macdonaldtown 09:00, Redfern 09:30 and Central Station 09:06.">
            <a:extLst>
              <a:ext uri="{FF2B5EF4-FFF2-40B4-BE49-F238E27FC236}">
                <a16:creationId xmlns:a16="http://schemas.microsoft.com/office/drawing/2014/main" id="{71B6047F-DA06-A994-6A06-F0359862FC41}"/>
              </a:ext>
            </a:extLst>
          </p:cNvPr>
          <p:cNvPicPr>
            <a:picLocks noChangeAspect="1"/>
          </p:cNvPicPr>
          <p:nvPr/>
        </p:nvPicPr>
        <p:blipFill>
          <a:blip r:embed="rId4"/>
          <a:stretch>
            <a:fillRect/>
          </a:stretch>
        </p:blipFill>
        <p:spPr>
          <a:xfrm>
            <a:off x="5543745" y="508081"/>
            <a:ext cx="4898478" cy="5841838"/>
          </a:xfrm>
          <a:prstGeom prst="rect">
            <a:avLst/>
          </a:prstGeom>
        </p:spPr>
      </p:pic>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
        <p:nvSpPr>
          <p:cNvPr id="4" name="TextBox 3">
            <a:extLst>
              <a:ext uri="{FF2B5EF4-FFF2-40B4-BE49-F238E27FC236}">
                <a16:creationId xmlns:a16="http://schemas.microsoft.com/office/drawing/2014/main" id="{9A3A75B8-88AC-564D-AD0B-38F95B9D3C79}"/>
              </a:ext>
            </a:extLst>
          </p:cNvPr>
          <p:cNvSpPr txBox="1"/>
          <p:nvPr/>
        </p:nvSpPr>
        <p:spPr>
          <a:xfrm>
            <a:off x="912366" y="1197864"/>
            <a:ext cx="10367268" cy="2231136"/>
          </a:xfrm>
          <a:prstGeom prst="rect">
            <a:avLst/>
          </a:prstGeom>
          <a:noFill/>
        </p:spPr>
        <p:txBody>
          <a:bodyPr wrap="square" lIns="0" tIns="0" rIns="0" bIns="0" rtlCol="0">
            <a:noAutofit/>
          </a:bodyPr>
          <a:lstStyle/>
          <a:p>
            <a:pPr algn="ctr">
              <a:lnSpc>
                <a:spcPct val="150000"/>
              </a:lnSpc>
            </a:pPr>
            <a:r>
              <a:rPr lang="en-AU" sz="4400" b="1"/>
              <a:t>Order</a:t>
            </a:r>
            <a:r>
              <a:rPr lang="en-AU" sz="4400"/>
              <a:t> the following </a:t>
            </a:r>
            <a:r>
              <a:rPr lang="en-AU" sz="4400" b="1"/>
              <a:t>capacities</a:t>
            </a:r>
            <a:r>
              <a:rPr lang="en-AU" sz="4400"/>
              <a:t> from </a:t>
            </a:r>
            <a:r>
              <a:rPr lang="en-AU" sz="4400" b="1"/>
              <a:t>largest</a:t>
            </a:r>
            <a:r>
              <a:rPr lang="en-AU" sz="4400"/>
              <a:t> to </a:t>
            </a:r>
            <a:r>
              <a:rPr lang="en-AU" sz="4400" b="1"/>
              <a:t>smallest</a:t>
            </a:r>
            <a:r>
              <a:rPr lang="en-AU" sz="4400"/>
              <a:t>:</a:t>
            </a:r>
          </a:p>
          <a:p>
            <a:pPr algn="l"/>
            <a:endParaRPr lang="en-AU" sz="1800"/>
          </a:p>
        </p:txBody>
      </p:sp>
      <p:sp>
        <p:nvSpPr>
          <p:cNvPr id="5" name="TextBox 4">
            <a:extLst>
              <a:ext uri="{FF2B5EF4-FFF2-40B4-BE49-F238E27FC236}">
                <a16:creationId xmlns:a16="http://schemas.microsoft.com/office/drawing/2014/main" id="{27C31319-DF81-36C6-7212-A334A53F4414}"/>
              </a:ext>
            </a:extLst>
          </p:cNvPr>
          <p:cNvSpPr txBox="1"/>
          <p:nvPr/>
        </p:nvSpPr>
        <p:spPr>
          <a:xfrm>
            <a:off x="1506197" y="4308264"/>
            <a:ext cx="2556000" cy="900000"/>
          </a:xfrm>
          <a:prstGeom prst="rect">
            <a:avLst/>
          </a:prstGeom>
          <a:noFill/>
          <a:ln w="57150">
            <a:solidFill>
              <a:schemeClr val="accent2"/>
            </a:solidFill>
          </a:ln>
        </p:spPr>
        <p:txBody>
          <a:bodyPr wrap="none" lIns="180000" tIns="180000" rIns="180000" bIns="180000" rtlCol="0">
            <a:noAutofit/>
          </a:bodyPr>
          <a:lstStyle/>
          <a:p>
            <a:pPr algn="ctr"/>
            <a:r>
              <a:rPr lang="en-AU" sz="4400"/>
              <a:t> 6.23 L</a:t>
            </a:r>
          </a:p>
        </p:txBody>
      </p:sp>
      <p:sp>
        <p:nvSpPr>
          <p:cNvPr id="8" name="TextBox 7">
            <a:extLst>
              <a:ext uri="{FF2B5EF4-FFF2-40B4-BE49-F238E27FC236}">
                <a16:creationId xmlns:a16="http://schemas.microsoft.com/office/drawing/2014/main" id="{EBCFE74A-7FA0-0E02-0855-0A04AD065F41}"/>
              </a:ext>
            </a:extLst>
          </p:cNvPr>
          <p:cNvSpPr txBox="1"/>
          <p:nvPr/>
        </p:nvSpPr>
        <p:spPr>
          <a:xfrm>
            <a:off x="4714059" y="4308263"/>
            <a:ext cx="2556000" cy="900569"/>
          </a:xfrm>
          <a:prstGeom prst="rect">
            <a:avLst/>
          </a:prstGeom>
          <a:noFill/>
          <a:ln w="57150">
            <a:solidFill>
              <a:schemeClr val="accent2"/>
            </a:solidFill>
          </a:ln>
        </p:spPr>
        <p:txBody>
          <a:bodyPr wrap="none" lIns="180000" tIns="180000" rIns="180000" bIns="180000" rtlCol="0">
            <a:noAutofit/>
          </a:bodyPr>
          <a:lstStyle>
            <a:defPPr>
              <a:defRPr lang="en-US"/>
            </a:defPPr>
            <a:lvl1pPr>
              <a:defRPr sz="4400"/>
            </a:lvl1pPr>
          </a:lstStyle>
          <a:p>
            <a:pPr algn="ctr"/>
            <a:r>
              <a:rPr lang="en-AU"/>
              <a:t> 6.023 L</a:t>
            </a:r>
          </a:p>
        </p:txBody>
      </p:sp>
      <p:sp>
        <p:nvSpPr>
          <p:cNvPr id="7" name="TextBox 6">
            <a:extLst>
              <a:ext uri="{FF2B5EF4-FFF2-40B4-BE49-F238E27FC236}">
                <a16:creationId xmlns:a16="http://schemas.microsoft.com/office/drawing/2014/main" id="{CA18D9AF-3BD6-4A25-6F19-B3882C467B37}"/>
              </a:ext>
            </a:extLst>
          </p:cNvPr>
          <p:cNvSpPr txBox="1"/>
          <p:nvPr/>
        </p:nvSpPr>
        <p:spPr>
          <a:xfrm>
            <a:off x="7921921" y="4308264"/>
            <a:ext cx="2556301" cy="900000"/>
          </a:xfrm>
          <a:prstGeom prst="rect">
            <a:avLst/>
          </a:prstGeom>
          <a:noFill/>
          <a:ln w="57150">
            <a:solidFill>
              <a:schemeClr val="accent2"/>
            </a:solidFill>
          </a:ln>
        </p:spPr>
        <p:txBody>
          <a:bodyPr wrap="none" lIns="180000" tIns="180000" rIns="180000" bIns="180000" rtlCol="0">
            <a:noAutofit/>
          </a:bodyPr>
          <a:lstStyle>
            <a:defPPr>
              <a:defRPr lang="en-US"/>
            </a:defPPr>
            <a:lvl1pPr>
              <a:defRPr sz="4400"/>
            </a:lvl1pPr>
          </a:lstStyle>
          <a:p>
            <a:pPr algn="ctr"/>
            <a:r>
              <a:rPr lang="en-AU"/>
              <a:t>6324 mL</a:t>
            </a:r>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a:extLst>
              <a:ext uri="{FF2B5EF4-FFF2-40B4-BE49-F238E27FC236}">
                <a16:creationId xmlns:a16="http://schemas.microsoft.com/office/drawing/2014/main" id="{981E4643-C0C9-5325-74DA-A071DDDC65A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5E0FFA55-7869-B736-F8F9-C339B8DF169D}"/>
              </a:ext>
            </a:extLst>
          </p:cNvPr>
          <p:cNvSpPr txBox="1"/>
          <p:nvPr/>
        </p:nvSpPr>
        <p:spPr>
          <a:xfrm>
            <a:off x="360000" y="1020395"/>
            <a:ext cx="11484000" cy="859316"/>
          </a:xfrm>
          <a:prstGeom prst="rect">
            <a:avLst/>
          </a:prstGeom>
          <a:noFill/>
        </p:spPr>
        <p:txBody>
          <a:bodyPr wrap="square" lIns="0" tIns="0" rIns="0" bIns="0" rtlCol="0">
            <a:noAutofit/>
          </a:bodyPr>
          <a:lstStyle/>
          <a:p>
            <a:pPr algn="ctr">
              <a:lnSpc>
                <a:spcPct val="150000"/>
              </a:lnSpc>
            </a:pPr>
            <a:r>
              <a:rPr lang="en-AU" sz="3000"/>
              <a:t>Which graph </a:t>
            </a:r>
            <a:r>
              <a:rPr lang="en-AU" sz="3000" b="1"/>
              <a:t>best represents </a:t>
            </a:r>
            <a:r>
              <a:rPr lang="en-AU" sz="3000"/>
              <a:t>the number of siblings in this class? </a:t>
            </a:r>
          </a:p>
        </p:txBody>
      </p:sp>
      <p:pic>
        <p:nvPicPr>
          <p:cNvPr id="5" name="Picture 4" descr="The image consists of two graphs side by side, each titled &quot;Number of siblings in our class.&quot; The graph on the left is a horizontal bar graph with purple bars representing the number of people who have a certain number of siblings. The x-axis is labeled &quot;How many people,&quot; and the y-axis, &quot;Number of siblings,&quot; includes the categories: four, three, two, one, and none. The graph shows the highest bar for students who have one sibling and the lowest for those with no siblings.&#10;&#10;The graph on the right is a line graph with a blue line connecting data points. The x-axis, labeled &quot;Number of siblings,&quot; is divided into categories: four, three, two, one, and none, while the y-axis is labeled &quot;How many people.&quot; The line rises sharply from students with no siblings up to one sibling, peaking at two siblings before descending.">
            <a:extLst>
              <a:ext uri="{FF2B5EF4-FFF2-40B4-BE49-F238E27FC236}">
                <a16:creationId xmlns:a16="http://schemas.microsoft.com/office/drawing/2014/main" id="{58FCBC7F-2D30-B1BA-87B4-872D80051823}"/>
              </a:ext>
            </a:extLst>
          </p:cNvPr>
          <p:cNvPicPr>
            <a:picLocks noChangeAspect="1"/>
          </p:cNvPicPr>
          <p:nvPr/>
        </p:nvPicPr>
        <p:blipFill>
          <a:blip r:embed="rId4"/>
          <a:stretch>
            <a:fillRect/>
          </a:stretch>
        </p:blipFill>
        <p:spPr>
          <a:xfrm>
            <a:off x="2360275" y="1994505"/>
            <a:ext cx="7743165" cy="3842178"/>
          </a:xfrm>
          <a:prstGeom prst="rect">
            <a:avLst/>
          </a:prstGeom>
          <a:effectLst>
            <a:outerShdw blurRad="63500" sx="102000" sy="102000" algn="ctr" rotWithShape="0">
              <a:prstClr val="black">
                <a:alpha val="40000"/>
              </a:prstClr>
            </a:outerShdw>
          </a:effectLst>
        </p:spPr>
      </p:pic>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
        <p:nvSpPr>
          <p:cNvPr id="8" name="TextBox 7">
            <a:extLst>
              <a:ext uri="{FF2B5EF4-FFF2-40B4-BE49-F238E27FC236}">
                <a16:creationId xmlns:a16="http://schemas.microsoft.com/office/drawing/2014/main" id="{FC076FD1-57A9-5790-34A5-6117E87DCAA2}"/>
              </a:ext>
            </a:extLst>
          </p:cNvPr>
          <p:cNvSpPr txBox="1"/>
          <p:nvPr/>
        </p:nvSpPr>
        <p:spPr>
          <a:xfrm>
            <a:off x="3183857" y="6021225"/>
            <a:ext cx="6096000" cy="584775"/>
          </a:xfrm>
          <a:prstGeom prst="rect">
            <a:avLst/>
          </a:prstGeom>
          <a:noFill/>
        </p:spPr>
        <p:txBody>
          <a:bodyPr wrap="square">
            <a:spAutoFit/>
          </a:bodyPr>
          <a:lstStyle/>
          <a:p>
            <a:r>
              <a:rPr lang="en-AU" sz="3200" b="1"/>
              <a:t>Communicate </a:t>
            </a:r>
            <a:r>
              <a:rPr lang="en-AU" sz="3200"/>
              <a:t>your </a:t>
            </a:r>
            <a:r>
              <a:rPr lang="en-AU" sz="3200" b="1"/>
              <a:t>reasoning.</a:t>
            </a:r>
            <a:endParaRPr lang="en-AU" sz="3200"/>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place value partitioning </a:t>
            </a:r>
          </a:p>
        </p:txBody>
      </p:sp>
      <p:pic>
        <p:nvPicPr>
          <p:cNvPr id="4" name="Picture 3">
            <a:extLst>
              <a:ext uri="{FF2B5EF4-FFF2-40B4-BE49-F238E27FC236}">
                <a16:creationId xmlns:a16="http://schemas.microsoft.com/office/drawing/2014/main" id="{862A61D7-0DAF-1BF8-46D6-A2E9DEA92C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
        <p:nvSpPr>
          <p:cNvPr id="3" name="TextBox 2">
            <a:extLst>
              <a:ext uri="{FF2B5EF4-FFF2-40B4-BE49-F238E27FC236}">
                <a16:creationId xmlns:a16="http://schemas.microsoft.com/office/drawing/2014/main" id="{3B99199D-2EC6-7D73-117B-80D913742AE3}"/>
              </a:ext>
            </a:extLst>
          </p:cNvPr>
          <p:cNvSpPr txBox="1"/>
          <p:nvPr/>
        </p:nvSpPr>
        <p:spPr>
          <a:xfrm>
            <a:off x="912366" y="1709382"/>
            <a:ext cx="10367268" cy="3439236"/>
          </a:xfrm>
          <a:prstGeom prst="rect">
            <a:avLst/>
          </a:prstGeom>
          <a:noFill/>
        </p:spPr>
        <p:txBody>
          <a:bodyPr wrap="square" lIns="0" tIns="0" rIns="0" bIns="0" rtlCol="0">
            <a:noAutofit/>
          </a:bodyPr>
          <a:lstStyle/>
          <a:p>
            <a:pPr lvl="0" algn="ctr">
              <a:lnSpc>
                <a:spcPct val="150000"/>
              </a:lnSpc>
            </a:pPr>
            <a:r>
              <a:rPr lang="en-AU" sz="4000"/>
              <a:t>Charlie has saved </a:t>
            </a:r>
            <a:r>
              <a:rPr lang="en-AU" sz="4000" b="1"/>
              <a:t>$235 </a:t>
            </a:r>
            <a:r>
              <a:rPr lang="en-AU" sz="4000"/>
              <a:t>to buy herself a new scooter, but she needs </a:t>
            </a:r>
            <a:r>
              <a:rPr lang="en-AU" sz="4000" b="1"/>
              <a:t>6</a:t>
            </a:r>
            <a:r>
              <a:rPr lang="en-AU" sz="4000"/>
              <a:t> </a:t>
            </a:r>
            <a:r>
              <a:rPr lang="en-AU" sz="4000" b="1"/>
              <a:t>times </a:t>
            </a:r>
            <a:r>
              <a:rPr lang="en-AU" sz="4000"/>
              <a:t>this amount to buy it. </a:t>
            </a:r>
          </a:p>
          <a:p>
            <a:pPr lvl="0" algn="ctr">
              <a:lnSpc>
                <a:spcPct val="150000"/>
              </a:lnSpc>
            </a:pPr>
            <a:r>
              <a:rPr lang="en-AU" sz="4000"/>
              <a:t>How much does she need to save </a:t>
            </a:r>
            <a:r>
              <a:rPr lang="en-AU" sz="4000" b="1"/>
              <a:t>altogether?</a:t>
            </a:r>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sp>
        <p:nvSpPr>
          <p:cNvPr id="6" name="Text Placeholder 5">
            <a:extLst>
              <a:ext uri="{FF2B5EF4-FFF2-40B4-BE49-F238E27FC236}">
                <a16:creationId xmlns:a16="http://schemas.microsoft.com/office/drawing/2014/main" id="{C7D683F9-6194-51C3-10DE-058E032E33CF}"/>
              </a:ext>
              <a:ext uri="{C183D7F6-B498-43B3-948B-1728B52AA6E4}">
                <adec:decorative xmlns:adec="http://schemas.microsoft.com/office/drawing/2017/decorative" val="0"/>
              </a:ext>
            </a:extLst>
          </p:cNvPr>
          <p:cNvSpPr>
            <a:spLocks noGrp="1"/>
          </p:cNvSpPr>
          <p:nvPr>
            <p:ph type="body" sz="quarter" idx="22"/>
          </p:nvPr>
        </p:nvSpPr>
        <p:spPr>
          <a:xfrm>
            <a:off x="600963" y="1054103"/>
            <a:ext cx="11243037" cy="893226"/>
          </a:xfrm>
        </p:spPr>
        <p:txBody>
          <a:bodyPr/>
          <a:lstStyle/>
          <a:p>
            <a:pPr>
              <a:spcBef>
                <a:spcPts val="1200"/>
              </a:spcBef>
              <a:spcAft>
                <a:spcPts val="1200"/>
              </a:spcAft>
            </a:pPr>
            <a:r>
              <a:rPr lang="en-AU" sz="3200"/>
              <a:t>A bag has </a:t>
            </a:r>
            <a:r>
              <a:rPr lang="en-AU" sz="3200" b="1"/>
              <a:t>9</a:t>
            </a:r>
            <a:r>
              <a:rPr lang="en-AU" sz="3200"/>
              <a:t> soccer shirts. A club buys </a:t>
            </a:r>
            <a:r>
              <a:rPr lang="en-AU" sz="3200" b="1"/>
              <a:t>344</a:t>
            </a:r>
            <a:r>
              <a:rPr lang="en-AU" sz="3200"/>
              <a:t> bags. </a:t>
            </a:r>
          </a:p>
          <a:p>
            <a:pPr>
              <a:spcBef>
                <a:spcPts val="1200"/>
              </a:spcBef>
              <a:spcAft>
                <a:spcPts val="1200"/>
              </a:spcAft>
            </a:pPr>
            <a:r>
              <a:rPr lang="en-AU" sz="3200"/>
              <a:t>The </a:t>
            </a:r>
            <a:r>
              <a:rPr lang="en-AU" sz="3200" b="1"/>
              <a:t>distributive property </a:t>
            </a:r>
            <a:r>
              <a:rPr lang="en-AU" sz="3200"/>
              <a:t>is being used to calculate the </a:t>
            </a:r>
            <a:r>
              <a:rPr lang="en-AU" sz="3200" b="1"/>
              <a:t>total</a:t>
            </a:r>
            <a:r>
              <a:rPr lang="en-AU" sz="3200"/>
              <a:t>: </a:t>
            </a:r>
          </a:p>
          <a:p>
            <a:pPr>
              <a:spcAft>
                <a:spcPts val="0"/>
              </a:spcAft>
            </a:pPr>
            <a:r>
              <a:rPr lang="en-AU" sz="3200"/>
              <a:t> </a:t>
            </a:r>
            <a:r>
              <a:rPr lang="en-AU" sz="3600"/>
              <a:t>9 x 344 = (9 x 300) + (9 x 40) + (9 x 4)</a:t>
            </a:r>
          </a:p>
          <a:p>
            <a:pPr>
              <a:spcAft>
                <a:spcPts val="0"/>
              </a:spcAft>
            </a:pPr>
            <a:r>
              <a:rPr lang="en-AU" sz="3600"/>
              <a:t>              = 2700 + 360 + 36</a:t>
            </a:r>
          </a:p>
          <a:p>
            <a:pPr>
              <a:spcAft>
                <a:spcPts val="0"/>
              </a:spcAft>
            </a:pPr>
            <a:r>
              <a:rPr lang="en-AU" sz="3600"/>
              <a:t>              = 3096</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2634178429"/>
              </p:ext>
            </p:extLst>
          </p:nvPr>
        </p:nvGraphicFramePr>
        <p:xfrm>
          <a:off x="2557462" y="5635702"/>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64B989F8-67C4-FE7B-CC90-5BE7E2CD867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pic>
        <p:nvPicPr>
          <p:cNvPr id="3" name="Picture 2">
            <a:extLst>
              <a:ext uri="{FF2B5EF4-FFF2-40B4-BE49-F238E27FC236}">
                <a16:creationId xmlns:a16="http://schemas.microsoft.com/office/drawing/2014/main" id="{4A6BDB97-E652-19FE-8B5C-2AD4CC9279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
        <p:nvSpPr>
          <p:cNvPr id="4" name="TextBox 3">
            <a:extLst>
              <a:ext uri="{FF2B5EF4-FFF2-40B4-BE49-F238E27FC236}">
                <a16:creationId xmlns:a16="http://schemas.microsoft.com/office/drawing/2014/main" id="{0B2EE55C-F595-3E08-BAA3-8A23973DFA75}"/>
              </a:ext>
            </a:extLst>
          </p:cNvPr>
          <p:cNvSpPr txBox="1"/>
          <p:nvPr/>
        </p:nvSpPr>
        <p:spPr>
          <a:xfrm>
            <a:off x="1143000" y="1756515"/>
            <a:ext cx="9906000" cy="682388"/>
          </a:xfrm>
          <a:prstGeom prst="rect">
            <a:avLst/>
          </a:prstGeom>
          <a:noFill/>
        </p:spPr>
        <p:txBody>
          <a:bodyPr wrap="square" lIns="0" tIns="0" rIns="0" bIns="0" rtlCol="0">
            <a:noAutofit/>
          </a:bodyPr>
          <a:lstStyle/>
          <a:p>
            <a:pPr algn="ctr">
              <a:lnSpc>
                <a:spcPct val="150000"/>
              </a:lnSpc>
            </a:pPr>
            <a:r>
              <a:rPr lang="en-AU" sz="4400" b="1"/>
              <a:t>Use </a:t>
            </a:r>
            <a:r>
              <a:rPr lang="en-AU" sz="4400"/>
              <a:t>the</a:t>
            </a:r>
            <a:r>
              <a:rPr lang="en-AU" sz="4400" b="1"/>
              <a:t> area model </a:t>
            </a:r>
            <a:r>
              <a:rPr lang="en-AU" sz="4400"/>
              <a:t>to calculate your answer and record the </a:t>
            </a:r>
            <a:r>
              <a:rPr lang="en-AU" sz="4400" b="1"/>
              <a:t>remainder for: </a:t>
            </a:r>
          </a:p>
          <a:p>
            <a:pPr algn="ctr">
              <a:lnSpc>
                <a:spcPct val="150000"/>
              </a:lnSpc>
            </a:pPr>
            <a:r>
              <a:rPr lang="en-AU" sz="5400">
                <a:solidFill>
                  <a:schemeClr val="accent2"/>
                </a:solidFill>
              </a:rPr>
              <a:t>48 ÷ 5</a:t>
            </a:r>
          </a:p>
          <a:p>
            <a:endParaRPr lang="en-AU" sz="4000"/>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pic>
        <p:nvPicPr>
          <p:cNvPr id="3" name="Picture 2" descr="image of a clipboard with a pencil recording short answer responses">
            <a:extLst>
              <a:ext uri="{FF2B5EF4-FFF2-40B4-BE49-F238E27FC236}">
                <a16:creationId xmlns:a16="http://schemas.microsoft.com/office/drawing/2014/main" id="{D48B7122-4823-634E-9085-7F5757ED186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9AF0D58C-D5A4-AD4E-0881-B159EB6C1CE8}"/>
              </a:ext>
            </a:extLst>
          </p:cNvPr>
          <p:cNvSpPr txBox="1"/>
          <p:nvPr/>
        </p:nvSpPr>
        <p:spPr>
          <a:xfrm>
            <a:off x="0" y="1806341"/>
            <a:ext cx="4898450" cy="1017917"/>
          </a:xfrm>
          <a:prstGeom prst="rect">
            <a:avLst/>
          </a:prstGeom>
          <a:noFill/>
        </p:spPr>
        <p:txBody>
          <a:bodyPr wrap="square" lIns="0" tIns="0" rIns="0" bIns="0" rtlCol="0">
            <a:noAutofit/>
          </a:bodyPr>
          <a:lstStyle/>
          <a:p>
            <a:pPr algn="ctr">
              <a:lnSpc>
                <a:spcPct val="150000"/>
              </a:lnSpc>
            </a:pPr>
            <a:r>
              <a:rPr lang="en-AU" sz="3600" b="1"/>
              <a:t>Record</a:t>
            </a:r>
            <a:r>
              <a:rPr lang="en-AU" sz="3600"/>
              <a:t> the time the 08:35 train from </a:t>
            </a:r>
            <a:r>
              <a:rPr lang="en-AU" sz="3600" b="1"/>
              <a:t>Lidcombe </a:t>
            </a:r>
            <a:r>
              <a:rPr lang="en-AU" sz="3600"/>
              <a:t>arrives at </a:t>
            </a:r>
            <a:r>
              <a:rPr lang="en-AU" sz="3600" b="1"/>
              <a:t>Summer Hill</a:t>
            </a:r>
            <a:r>
              <a:rPr lang="en-AU" sz="3200"/>
              <a:t>.</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pic>
        <p:nvPicPr>
          <p:cNvPr id="12" name="Picture 11" descr="A train station timetable with the following stops and times: Berala 08:31, Lidcombe 08:35, Homebush 08:39, Strathfield 08:42, Burwood 08:45, Ashfield 08:48, Summer Hill 08:51, Lewisham 08:52, Petersham 08:54, Stanmore 08:56, Newtown 08:59, Macdonaldtown 09:00, Redfern 09:30 and Central Station 09:06.">
            <a:extLst>
              <a:ext uri="{FF2B5EF4-FFF2-40B4-BE49-F238E27FC236}">
                <a16:creationId xmlns:a16="http://schemas.microsoft.com/office/drawing/2014/main" id="{A47ECA72-585F-F473-530F-43A428F146D9}"/>
              </a:ext>
            </a:extLst>
          </p:cNvPr>
          <p:cNvPicPr>
            <a:picLocks noChangeAspect="1"/>
          </p:cNvPicPr>
          <p:nvPr/>
        </p:nvPicPr>
        <p:blipFill>
          <a:blip r:embed="rId4"/>
          <a:stretch>
            <a:fillRect/>
          </a:stretch>
        </p:blipFill>
        <p:spPr>
          <a:xfrm>
            <a:off x="5543634" y="632800"/>
            <a:ext cx="4898450" cy="5837380"/>
          </a:xfrm>
          <a:prstGeom prst="rect">
            <a:avLst/>
          </a:prstGeom>
        </p:spPr>
      </p:pic>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
        <p:nvSpPr>
          <p:cNvPr id="4" name="TextBox 3">
            <a:extLst>
              <a:ext uri="{FF2B5EF4-FFF2-40B4-BE49-F238E27FC236}">
                <a16:creationId xmlns:a16="http://schemas.microsoft.com/office/drawing/2014/main" id="{BCD11F2C-C618-384B-513F-4001ADD3FF74}"/>
              </a:ext>
            </a:extLst>
          </p:cNvPr>
          <p:cNvSpPr txBox="1"/>
          <p:nvPr/>
        </p:nvSpPr>
        <p:spPr>
          <a:xfrm>
            <a:off x="1170432" y="1184223"/>
            <a:ext cx="9851136" cy="2926080"/>
          </a:xfrm>
          <a:prstGeom prst="rect">
            <a:avLst/>
          </a:prstGeom>
          <a:noFill/>
        </p:spPr>
        <p:txBody>
          <a:bodyPr wrap="square" lIns="0" tIns="0" rIns="0" bIns="0" rtlCol="0">
            <a:noAutofit/>
          </a:bodyPr>
          <a:lstStyle/>
          <a:p>
            <a:pPr algn="ctr">
              <a:lnSpc>
                <a:spcPct val="150000"/>
              </a:lnSpc>
            </a:pPr>
            <a:r>
              <a:rPr lang="en-AU" sz="4400" b="1"/>
              <a:t>Identify </a:t>
            </a:r>
            <a:r>
              <a:rPr lang="en-AU" sz="4400"/>
              <a:t>and</a:t>
            </a:r>
            <a:r>
              <a:rPr lang="en-AU" sz="4400" b="1"/>
              <a:t> record</a:t>
            </a:r>
            <a:r>
              <a:rPr lang="en-AU" sz="4400"/>
              <a:t> which of the following </a:t>
            </a:r>
            <a:r>
              <a:rPr lang="en-AU" sz="4400" b="1"/>
              <a:t>capacities</a:t>
            </a:r>
            <a:r>
              <a:rPr lang="en-AU" sz="4400"/>
              <a:t> is the smallest:</a:t>
            </a:r>
          </a:p>
          <a:p>
            <a:pPr algn="l"/>
            <a:endParaRPr lang="en-AU" sz="1800"/>
          </a:p>
          <a:p>
            <a:pPr algn="l"/>
            <a:endParaRPr lang="en-AU" sz="1800"/>
          </a:p>
          <a:p>
            <a:pPr algn="l"/>
            <a:endParaRPr lang="en-AU" sz="1800"/>
          </a:p>
          <a:p>
            <a:pPr algn="l"/>
            <a:endParaRPr lang="en-AU" sz="1800"/>
          </a:p>
        </p:txBody>
      </p:sp>
      <p:sp>
        <p:nvSpPr>
          <p:cNvPr id="5" name="TextBox 4">
            <a:extLst>
              <a:ext uri="{FF2B5EF4-FFF2-40B4-BE49-F238E27FC236}">
                <a16:creationId xmlns:a16="http://schemas.microsoft.com/office/drawing/2014/main" id="{7226C5EC-86F0-6FC9-85B7-9C8F9D25E9A7}"/>
              </a:ext>
            </a:extLst>
          </p:cNvPr>
          <p:cNvSpPr txBox="1"/>
          <p:nvPr/>
        </p:nvSpPr>
        <p:spPr>
          <a:xfrm>
            <a:off x="1722406" y="4162869"/>
            <a:ext cx="2556000" cy="900000"/>
          </a:xfrm>
          <a:prstGeom prst="rect">
            <a:avLst/>
          </a:prstGeom>
          <a:noFill/>
          <a:ln w="57150">
            <a:solidFill>
              <a:schemeClr val="accent2"/>
            </a:solidFill>
          </a:ln>
        </p:spPr>
        <p:txBody>
          <a:bodyPr wrap="none" lIns="180000" tIns="180000" rIns="180000" bIns="180000" rtlCol="0">
            <a:noAutofit/>
          </a:bodyPr>
          <a:lstStyle>
            <a:defPPr>
              <a:defRPr lang="en-US"/>
            </a:defPPr>
            <a:lvl1pPr algn="ctr">
              <a:defRPr sz="4400"/>
            </a:lvl1pPr>
          </a:lstStyle>
          <a:p>
            <a:r>
              <a:rPr lang="en-AU"/>
              <a:t>8.13 L</a:t>
            </a:r>
          </a:p>
        </p:txBody>
      </p:sp>
      <p:sp>
        <p:nvSpPr>
          <p:cNvPr id="7" name="TextBox 6">
            <a:extLst>
              <a:ext uri="{FF2B5EF4-FFF2-40B4-BE49-F238E27FC236}">
                <a16:creationId xmlns:a16="http://schemas.microsoft.com/office/drawing/2014/main" id="{6E48E4C5-C97D-FEC5-66EF-314FBB3BCB8F}"/>
              </a:ext>
            </a:extLst>
          </p:cNvPr>
          <p:cNvSpPr txBox="1"/>
          <p:nvPr/>
        </p:nvSpPr>
        <p:spPr>
          <a:xfrm>
            <a:off x="5049326" y="4162869"/>
            <a:ext cx="2556000" cy="900000"/>
          </a:xfrm>
          <a:prstGeom prst="rect">
            <a:avLst/>
          </a:prstGeom>
          <a:noFill/>
          <a:ln w="57150">
            <a:solidFill>
              <a:schemeClr val="accent2"/>
            </a:solidFill>
          </a:ln>
        </p:spPr>
        <p:txBody>
          <a:bodyPr wrap="none" lIns="180000" tIns="180000" rIns="180000" bIns="180000" rtlCol="0">
            <a:noAutofit/>
          </a:bodyPr>
          <a:lstStyle>
            <a:defPPr>
              <a:defRPr lang="en-US"/>
            </a:defPPr>
            <a:lvl1pPr algn="ctr">
              <a:defRPr sz="4400"/>
            </a:lvl1pPr>
          </a:lstStyle>
          <a:p>
            <a:r>
              <a:rPr lang="en-AU"/>
              <a:t>8314 L</a:t>
            </a:r>
          </a:p>
        </p:txBody>
      </p:sp>
      <p:sp>
        <p:nvSpPr>
          <p:cNvPr id="8" name="TextBox 7">
            <a:extLst>
              <a:ext uri="{FF2B5EF4-FFF2-40B4-BE49-F238E27FC236}">
                <a16:creationId xmlns:a16="http://schemas.microsoft.com/office/drawing/2014/main" id="{1A1BF525-55DC-0EA5-9DDD-AEC681A73D09}"/>
              </a:ext>
            </a:extLst>
          </p:cNvPr>
          <p:cNvSpPr txBox="1"/>
          <p:nvPr/>
        </p:nvSpPr>
        <p:spPr>
          <a:xfrm>
            <a:off x="8376246" y="4162869"/>
            <a:ext cx="2556000" cy="900000"/>
          </a:xfrm>
          <a:prstGeom prst="rect">
            <a:avLst/>
          </a:prstGeom>
          <a:noFill/>
          <a:ln w="57150">
            <a:solidFill>
              <a:schemeClr val="accent2"/>
            </a:solidFill>
          </a:ln>
        </p:spPr>
        <p:txBody>
          <a:bodyPr wrap="none" lIns="180000" tIns="180000" rIns="180000" bIns="180000" rtlCol="0">
            <a:noAutofit/>
          </a:bodyPr>
          <a:lstStyle>
            <a:defPPr>
              <a:defRPr lang="en-US"/>
            </a:defPPr>
            <a:lvl1pPr algn="ctr">
              <a:defRPr sz="4400"/>
            </a:lvl1pPr>
          </a:lstStyle>
          <a:p>
            <a:r>
              <a:rPr lang="en-AU"/>
              <a:t>8323 L</a:t>
            </a:r>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
        <p:nvSpPr>
          <p:cNvPr id="7" name="TextBox 6">
            <a:extLst>
              <a:ext uri="{FF2B5EF4-FFF2-40B4-BE49-F238E27FC236}">
                <a16:creationId xmlns:a16="http://schemas.microsoft.com/office/drawing/2014/main" id="{EA5DDE0A-091A-FC34-4639-D6C6DF0195E8}"/>
              </a:ext>
            </a:extLst>
          </p:cNvPr>
          <p:cNvSpPr txBox="1"/>
          <p:nvPr/>
        </p:nvSpPr>
        <p:spPr>
          <a:xfrm>
            <a:off x="996925" y="1032412"/>
            <a:ext cx="10763480" cy="859316"/>
          </a:xfrm>
          <a:prstGeom prst="rect">
            <a:avLst/>
          </a:prstGeom>
          <a:noFill/>
        </p:spPr>
        <p:txBody>
          <a:bodyPr wrap="square" lIns="0" tIns="0" rIns="0" bIns="0" rtlCol="0">
            <a:noAutofit/>
          </a:bodyPr>
          <a:lstStyle/>
          <a:p>
            <a:pPr algn="ctr">
              <a:lnSpc>
                <a:spcPct val="150000"/>
              </a:lnSpc>
            </a:pPr>
            <a:r>
              <a:rPr lang="en-AU" sz="4000"/>
              <a:t>How many </a:t>
            </a:r>
            <a:r>
              <a:rPr lang="en-AU" sz="4000" b="1"/>
              <a:t>years </a:t>
            </a:r>
            <a:r>
              <a:rPr lang="en-AU" sz="4000"/>
              <a:t>were there </a:t>
            </a:r>
            <a:r>
              <a:rPr lang="en-AU" sz="4000" b="1"/>
              <a:t>between</a:t>
            </a:r>
            <a:r>
              <a:rPr lang="en-AU" sz="4000"/>
              <a:t> </a:t>
            </a:r>
            <a:r>
              <a:rPr lang="en-AU" sz="4000" b="1"/>
              <a:t>starting school </a:t>
            </a:r>
            <a:r>
              <a:rPr lang="en-AU" sz="4000"/>
              <a:t>and </a:t>
            </a:r>
            <a:r>
              <a:rPr lang="en-AU" sz="4000" b="1"/>
              <a:t>moving house</a:t>
            </a:r>
            <a:r>
              <a:rPr lang="en-AU" sz="4000"/>
              <a:t>?</a:t>
            </a:r>
          </a:p>
        </p:txBody>
      </p:sp>
      <p:pic>
        <p:nvPicPr>
          <p:cNvPr id="4" name="Picture 3" descr="A time line showing life event of a child with a 10 cm ruler overlaid on the time line. A scale is given of 1 cm = 1 year. ">
            <a:extLst>
              <a:ext uri="{FF2B5EF4-FFF2-40B4-BE49-F238E27FC236}">
                <a16:creationId xmlns:a16="http://schemas.microsoft.com/office/drawing/2014/main" id="{69E4FC16-165A-9CC2-519A-2D956A6D9F4E}"/>
              </a:ext>
            </a:extLst>
          </p:cNvPr>
          <p:cNvPicPr>
            <a:picLocks noChangeAspect="1"/>
          </p:cNvPicPr>
          <p:nvPr/>
        </p:nvPicPr>
        <p:blipFill>
          <a:blip r:embed="rId4"/>
          <a:srcRect l="7075" t="27307" r="8925" b="21938"/>
          <a:stretch>
            <a:fillRect/>
          </a:stretch>
        </p:blipFill>
        <p:spPr>
          <a:xfrm>
            <a:off x="2016131" y="3009720"/>
            <a:ext cx="8159737" cy="348828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8 – distributive property of multiplication </a:t>
            </a:r>
          </a:p>
        </p:txBody>
      </p:sp>
      <p:pic>
        <p:nvPicPr>
          <p:cNvPr id="4" name="Picture 3">
            <a:extLst>
              <a:ext uri="{FF2B5EF4-FFF2-40B4-BE49-F238E27FC236}">
                <a16:creationId xmlns:a16="http://schemas.microsoft.com/office/drawing/2014/main" id="{8C7CF980-54BA-5CDE-FA07-65080BB2C43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
        <p:nvSpPr>
          <p:cNvPr id="3" name="TextBox 2">
            <a:extLst>
              <a:ext uri="{FF2B5EF4-FFF2-40B4-BE49-F238E27FC236}">
                <a16:creationId xmlns:a16="http://schemas.microsoft.com/office/drawing/2014/main" id="{61CB6C51-1D22-8E6A-46EB-51918F9F4F3F}"/>
              </a:ext>
            </a:extLst>
          </p:cNvPr>
          <p:cNvSpPr txBox="1"/>
          <p:nvPr/>
        </p:nvSpPr>
        <p:spPr>
          <a:xfrm>
            <a:off x="912366" y="1481530"/>
            <a:ext cx="10367268" cy="3439236"/>
          </a:xfrm>
          <a:prstGeom prst="rect">
            <a:avLst/>
          </a:prstGeom>
          <a:noFill/>
        </p:spPr>
        <p:txBody>
          <a:bodyPr wrap="square" lIns="0" tIns="0" rIns="0" bIns="0" rtlCol="0">
            <a:noAutofit/>
          </a:bodyPr>
          <a:lstStyle/>
          <a:p>
            <a:pPr lvl="0" algn="ctr">
              <a:lnSpc>
                <a:spcPct val="150000"/>
              </a:lnSpc>
            </a:pPr>
            <a:r>
              <a:rPr lang="en-AU" sz="4400">
                <a:latin typeface="Arial" panose="020B0604020202020204" pitchFamily="34" charset="0"/>
                <a:cs typeface="Arial" panose="020B0604020202020204" pitchFamily="34" charset="0"/>
              </a:rPr>
              <a:t>A shop sells </a:t>
            </a:r>
            <a:r>
              <a:rPr lang="en-AU" sz="4400" b="1">
                <a:latin typeface="Arial" panose="020B0604020202020204" pitchFamily="34" charset="0"/>
                <a:cs typeface="Arial" panose="020B0604020202020204" pitchFamily="34" charset="0"/>
              </a:rPr>
              <a:t>277 boxes</a:t>
            </a:r>
            <a:r>
              <a:rPr lang="en-AU" sz="4400">
                <a:latin typeface="Arial" panose="020B0604020202020204" pitchFamily="34" charset="0"/>
                <a:cs typeface="Arial" panose="020B0604020202020204" pitchFamily="34" charset="0"/>
              </a:rPr>
              <a:t> of chocolate. Each box has </a:t>
            </a:r>
            <a:r>
              <a:rPr lang="en-AU" sz="4400" b="1">
                <a:latin typeface="Arial" panose="020B0604020202020204" pitchFamily="34" charset="0"/>
                <a:cs typeface="Arial" panose="020B0604020202020204" pitchFamily="34" charset="0"/>
              </a:rPr>
              <a:t>18 chocolates.</a:t>
            </a:r>
            <a:endParaRPr lang="en-AU" sz="4400">
              <a:latin typeface="Arial" panose="020B0604020202020204" pitchFamily="34" charset="0"/>
              <a:cs typeface="Arial" panose="020B0604020202020204" pitchFamily="34" charset="0"/>
            </a:endParaRPr>
          </a:p>
          <a:p>
            <a:pPr lvl="0" algn="ctr">
              <a:lnSpc>
                <a:spcPct val="150000"/>
              </a:lnSpc>
            </a:pPr>
            <a:endParaRPr lang="en-AU" sz="4400"/>
          </a:p>
          <a:p>
            <a:pPr lvl="0" algn="ctr">
              <a:lnSpc>
                <a:spcPct val="150000"/>
              </a:lnSpc>
            </a:pPr>
            <a:r>
              <a:rPr lang="en-AU" sz="4400"/>
              <a:t>How many chocolates are there </a:t>
            </a:r>
            <a:r>
              <a:rPr lang="en-AU" sz="4400" b="1"/>
              <a:t>altogether?</a:t>
            </a:r>
          </a:p>
        </p:txBody>
      </p:sp>
    </p:spTree>
    <p:extLst>
      <p:ext uri="{BB962C8B-B14F-4D97-AF65-F5344CB8AC3E}">
        <p14:creationId xmlns:p14="http://schemas.microsoft.com/office/powerpoint/2010/main" val="2761553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698E-FF3C-D7D7-7361-3B6C06C0CF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AF6F33-8B51-F522-6D05-68D5C90AAA03}"/>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(5)</a:t>
            </a:r>
          </a:p>
        </p:txBody>
      </p:sp>
      <p:pic>
        <p:nvPicPr>
          <p:cNvPr id="4" name="Picture 3" descr="image of a finger selecting an option for a multiple choice or true and false">
            <a:extLst>
              <a:ext uri="{FF2B5EF4-FFF2-40B4-BE49-F238E27FC236}">
                <a16:creationId xmlns:a16="http://schemas.microsoft.com/office/drawing/2014/main" id="{112D24DC-0614-F76C-9A4C-36E299EAFF53}"/>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9C7C84D9-7468-F57D-99F1-C58A56040A58}"/>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F91A42F4-D8C9-20A3-82EB-86FAD4D776A8}"/>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D2386B91-F85A-17DD-80EB-F20033E4EC06}"/>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CA9D5B15-A13C-EE8B-176F-3B4E3454A1A2}"/>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2D36800D-CC3E-E3B5-7DCD-70D138BF62F0}"/>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B4746450-E4E2-359C-DFCA-0532E811BD1E}"/>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8E51689C-1248-B7EC-3B77-B066AB5C6C0D}"/>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9B8955CE-78C1-2F30-7505-4CA44A86BDFF}"/>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D3F4C1E5-AFB7-4898-29F3-EB98C6384093}"/>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9A31263B-00F9-3026-CDD4-F14B3320EE4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61</a:t>
            </a:fld>
            <a:endParaRPr lang="en-AU"/>
          </a:p>
        </p:txBody>
      </p:sp>
    </p:spTree>
    <p:extLst>
      <p:ext uri="{BB962C8B-B14F-4D97-AF65-F5344CB8AC3E}">
        <p14:creationId xmlns:p14="http://schemas.microsoft.com/office/powerpoint/2010/main" val="1449973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62</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(6)</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(7)</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67</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vert="horz" lIns="0" tIns="0" rIns="0" bIns="0" rtlCol="0" anchor="t">
            <a:noAutofit/>
          </a:bodyPr>
          <a:lstStyle/>
          <a:p>
            <a:r>
              <a:rPr lang="en-AU" u="sng">
                <a:hlinkClick r:id="rId6"/>
              </a:rPr>
              <a:t>Mathematics K–10 Syllabus</a:t>
            </a:r>
            <a:r>
              <a:rPr lang="en-AU"/>
              <a:t> © NSW Education Standards Authority (NESA) for and on behalf of the Crown in right of the State of New South Wales, 2022.</a:t>
            </a:r>
          </a:p>
          <a:p>
            <a:r>
              <a:rPr lang="en-AU" u="sng">
                <a:hlinkClick r:id="rId7"/>
              </a:rPr>
              <a:t>National Numeracy Learning Progression</a:t>
            </a:r>
            <a:r>
              <a:rPr lang="en-AU"/>
              <a:t> © Australian Curriculum, Assessment and Reporting Authority (ACARA) 2010 to present, unless otherwise indicated. This material was downloaded from the </a:t>
            </a:r>
            <a:r>
              <a:rPr lang="en-AU" u="sng">
                <a:hlinkClick r:id="rId8"/>
              </a:rPr>
              <a:t>Australian Curriculum</a:t>
            </a:r>
            <a:r>
              <a:rPr lang="en-AU"/>
              <a:t> website (National Numeracy Learning Progression) (accessed 17 December 2025) and was not modified.</a:t>
            </a:r>
          </a:p>
          <a:p>
            <a:r>
              <a:rPr lang="en-AU"/>
              <a:t>State of New South Wales (Department of Education) (2023) ‘</a:t>
            </a:r>
            <a:r>
              <a:rPr lang="en-AU" u="sng">
                <a:hlinkClick r:id="rId9"/>
              </a:rPr>
              <a:t>Hit it (3-digit numbers)</a:t>
            </a:r>
            <a:r>
              <a:rPr lang="en-AU"/>
              <a:t>’, </a:t>
            </a:r>
            <a:r>
              <a:rPr lang="en-AU" i="1"/>
              <a:t>Thinking mathematically resources</a:t>
            </a:r>
            <a:r>
              <a:rPr lang="en-AU"/>
              <a:t>, NSW Department of Education website, accessed 11 August 2023.</a:t>
            </a:r>
          </a:p>
          <a:p>
            <a:r>
              <a:rPr lang="en-AU"/>
              <a:t>——(2023) ‘</a:t>
            </a:r>
            <a:r>
              <a:rPr lang="en-AU" u="sng">
                <a:hlinkClick r:id="rId10"/>
              </a:rPr>
              <a:t>Number visuals</a:t>
            </a:r>
            <a:r>
              <a:rPr lang="en-AU"/>
              <a:t>’, </a:t>
            </a:r>
            <a:r>
              <a:rPr lang="en-AU" i="1"/>
              <a:t>Thinking mathematically resources</a:t>
            </a:r>
            <a:r>
              <a:rPr lang="en-AU"/>
              <a:t>, NSW Department of Education website, accessed 11 August 2023.</a:t>
            </a:r>
          </a:p>
          <a:p>
            <a:r>
              <a:rPr lang="en-AU"/>
              <a:t>——(2023) ‘</a:t>
            </a:r>
            <a:r>
              <a:rPr lang="en-AU" u="sng">
                <a:hlinkClick r:id="rId11"/>
              </a:rPr>
              <a:t>Place value game</a:t>
            </a:r>
            <a:r>
              <a:rPr lang="en-AU"/>
              <a:t>’, </a:t>
            </a:r>
            <a:r>
              <a:rPr lang="en-AU" i="1"/>
              <a:t>Thinking mathematically resources</a:t>
            </a:r>
            <a:r>
              <a:rPr lang="en-AU"/>
              <a:t>, NSW Department of Education website, accessed 11 August 2023.</a:t>
            </a:r>
          </a:p>
          <a:p>
            <a:r>
              <a:rPr lang="en-AU"/>
              <a:t>University of Cambridge (n.d.) </a:t>
            </a:r>
            <a:r>
              <a:rPr lang="en-AU" i="1" u="sng">
                <a:hlinkClick r:id="rId12"/>
              </a:rPr>
              <a:t>Multiply Multiples 1</a:t>
            </a:r>
            <a:r>
              <a:rPr lang="en-AU"/>
              <a:t>, NRICH website, accessed 11 August 2023.</a:t>
            </a:r>
          </a:p>
          <a:p>
            <a:r>
              <a:rPr lang="en-AU"/>
              <a:t>University of Colorado (2024) </a:t>
            </a:r>
            <a:r>
              <a:rPr lang="en-AU" i="1" u="sng">
                <a:hlinkClick r:id="rId13"/>
              </a:rPr>
              <a:t>Area Model Algebra</a:t>
            </a:r>
            <a:r>
              <a:rPr lang="en-AU"/>
              <a:t>, Physics Education Technology (</a:t>
            </a:r>
            <a:r>
              <a:rPr lang="en-AU" err="1"/>
              <a:t>PhET</a:t>
            </a:r>
            <a:r>
              <a:rPr lang="en-AU"/>
              <a:t>) website, accessed 11 August 2023.</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68</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E555570-2BD4-426B-AA32-0A79CB6508A8}">
  <ds:schemaRefs>
    <ds:schemaRef ds:uri="60129b06-f64b-40a8-96e2-c5b2f86112b1"/>
    <ds:schemaRef ds:uri="7e763d47-3c66-4c58-9425-1477fd3ccd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2E62D37-8DC5-4EDB-99F7-7B8B919214ED}"/>
</file>

<file path=customXml/itemProps3.xml><?xml version="1.0" encoding="utf-8"?>
<ds:datastoreItem xmlns:ds="http://schemas.openxmlformats.org/officeDocument/2006/customXml" ds:itemID="{1BBF1075-4992-4DA3-A5BC-433A425AD955}">
  <ds:schemaRefs>
    <ds:schemaRef ds:uri="http://schemas.microsoft.com/sharepoint/v3/contenttype/forms"/>
  </ds:schemaRefs>
</ds:datastoreItem>
</file>

<file path=docMetadata/LabelInfo.xml><?xml version="1.0" encoding="utf-8"?>
<clbl:labelList xmlns:clbl="http://schemas.microsoft.com/office/2020/mipLabelMetadata">
  <clbl:label id="{b603dfd7-d93a-4381-a340-2995d8282205}" enabled="1" method="Standard" siteId="{05a0e69a-418a-47c1-9c25-9387261bf991}" contentBits="0" removed="0"/>
</clbl:labelList>
</file>

<file path=docProps/app.xml><?xml version="1.0" encoding="utf-8"?>
<Properties xmlns="http://schemas.openxmlformats.org/officeDocument/2006/extended-properties" xmlns:vt="http://schemas.openxmlformats.org/officeDocument/2006/docPropsVTypes">
  <Template>Review of learning template (1)</Template>
  <TotalTime>0</TotalTime>
  <Words>5645</Words>
  <Application>Microsoft Office PowerPoint</Application>
  <PresentationFormat>Widescreen</PresentationFormat>
  <Paragraphs>797</Paragraphs>
  <Slides>69</Slides>
  <Notes>69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69</vt:i4>
      </vt:variant>
    </vt:vector>
  </HeadingPairs>
  <TitlesOfParts>
    <vt:vector size="77" baseType="lpstr">
      <vt:lpstr>Wingdings</vt:lpstr>
      <vt:lpstr>Public Sans</vt:lpstr>
      <vt:lpstr>Public Sans Light</vt:lpstr>
      <vt:lpstr>Calibri</vt:lpstr>
      <vt:lpstr>Montserrat</vt:lpstr>
      <vt:lpstr>Arial</vt:lpstr>
      <vt:lpstr>Times New Roman</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find the area</vt:lpstr>
      <vt:lpstr>Review of learning 2</vt:lpstr>
      <vt:lpstr>True or false (1)</vt:lpstr>
      <vt:lpstr>Short response (5)</vt:lpstr>
      <vt:lpstr>Short response (6)</vt:lpstr>
      <vt:lpstr>Short response (7)</vt:lpstr>
      <vt:lpstr>Short response (8)</vt:lpstr>
      <vt:lpstr>Activity 2 – factorising numbers </vt:lpstr>
      <vt:lpstr>Review of learning 3</vt:lpstr>
      <vt:lpstr>Multiple choice (2)</vt:lpstr>
      <vt:lpstr>Short response (9)</vt:lpstr>
      <vt:lpstr>Short response (10)</vt:lpstr>
      <vt:lpstr>Short response (11)</vt:lpstr>
      <vt:lpstr>Short response (12)</vt:lpstr>
      <vt:lpstr>Activity 3 – multiplication problems </vt:lpstr>
      <vt:lpstr>Review of learning 4</vt:lpstr>
      <vt:lpstr>True or false (2)</vt:lpstr>
      <vt:lpstr>Short response (13)</vt:lpstr>
      <vt:lpstr>Short response (14)</vt:lpstr>
      <vt:lpstr>Short response (15)</vt:lpstr>
      <vt:lpstr>Short response (16)</vt:lpstr>
      <vt:lpstr>Activity 4 – multiplication strategies </vt:lpstr>
      <vt:lpstr>Review of learning 5</vt:lpstr>
      <vt:lpstr>Multiple choice (3)</vt:lpstr>
      <vt:lpstr>Short response (17)</vt:lpstr>
      <vt:lpstr>Short response (18)</vt:lpstr>
      <vt:lpstr>Short response (19)</vt:lpstr>
      <vt:lpstr>Short response (20)</vt:lpstr>
      <vt:lpstr>Activity 5 – multiplying multiples</vt:lpstr>
      <vt:lpstr>Review of learning 6</vt:lpstr>
      <vt:lpstr>True or false (3)</vt:lpstr>
      <vt:lpstr>Short response (21)</vt:lpstr>
      <vt:lpstr>Short response (22)</vt:lpstr>
      <vt:lpstr>Short response (23)</vt:lpstr>
      <vt:lpstr>Short response (24)</vt:lpstr>
      <vt:lpstr>Activity 6 – multiplication problems </vt:lpstr>
      <vt:lpstr>Review of learning 7</vt:lpstr>
      <vt:lpstr>Multiple choice (4)</vt:lpstr>
      <vt:lpstr>Short response (25)</vt:lpstr>
      <vt:lpstr>Short response (26)</vt:lpstr>
      <vt:lpstr>Short response (27)</vt:lpstr>
      <vt:lpstr>Short response (28)</vt:lpstr>
      <vt:lpstr>Activity 7 – place value partitioning </vt:lpstr>
      <vt:lpstr>Review of learning 8</vt:lpstr>
      <vt:lpstr>True or false (4)</vt:lpstr>
      <vt:lpstr>Short response (29)</vt:lpstr>
      <vt:lpstr>Short response (30)</vt:lpstr>
      <vt:lpstr>Short response (31)</vt:lpstr>
      <vt:lpstr>Short response (32)</vt:lpstr>
      <vt:lpstr>Activity 8 – distributive property of multiplication </vt:lpstr>
      <vt:lpstr>Double Venn diagram</vt:lpstr>
      <vt:lpstr>Multiple choice (5)</vt:lpstr>
      <vt:lpstr>Frayer</vt:lpstr>
      <vt:lpstr>Spider map</vt:lpstr>
      <vt:lpstr>Cline</vt:lpstr>
      <vt:lpstr>Compare and contrast</vt:lpstr>
      <vt:lpstr>Multiple choice (6)</vt:lpstr>
      <vt:lpstr>Multiple choice (7)</vt:lpstr>
      <vt:lpstr>References</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2025-10-28T21:34:25Z</dcterms:created>
  <dcterms:modified xsi:type="dcterms:W3CDTF">2026-05-03T21:39:22Z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