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653"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50" r:id="rId43"/>
    <p:sldId id="26619" r:id="rId44"/>
    <p:sldId id="26622" r:id="rId45"/>
    <p:sldId id="26623" r:id="rId46"/>
    <p:sldId id="26624" r:id="rId47"/>
    <p:sldId id="26625" r:id="rId48"/>
    <p:sldId id="26626" r:id="rId49"/>
    <p:sldId id="26627" r:id="rId50"/>
    <p:sldId id="26628" r:id="rId51"/>
    <p:sldId id="26646" r:id="rId52"/>
    <p:sldId id="26632" r:id="rId53"/>
    <p:sldId id="26633" r:id="rId54"/>
    <p:sldId id="26634" r:id="rId55"/>
    <p:sldId id="26635" r:id="rId56"/>
    <p:sldId id="26636" r:id="rId57"/>
    <p:sldId id="26651" r:id="rId58"/>
    <p:sldId id="26637" r:id="rId59"/>
    <p:sldId id="26640" r:id="rId60"/>
    <p:sldId id="26641" r:id="rId61"/>
    <p:sldId id="26642" r:id="rId62"/>
    <p:sldId id="26643" r:id="rId63"/>
    <p:sldId id="26644" r:id="rId64"/>
    <p:sldId id="26645" r:id="rId65"/>
    <p:sldId id="26393" r:id="rId66"/>
    <p:sldId id="26387" r:id="rId67"/>
    <p:sldId id="26395" r:id="rId68"/>
    <p:sldId id="26391" r:id="rId69"/>
    <p:sldId id="26402" r:id="rId70"/>
    <p:sldId id="26507" r:id="rId71"/>
    <p:sldId id="26649" r:id="rId72"/>
    <p:sldId id="360" r:id="rId73"/>
    <p:sldId id="26652" r:id="rId74"/>
    <p:sldId id="361" r:id="rId75"/>
  </p:sldIdLst>
  <p:sldSz cx="12192000" cy="6858000"/>
  <p:notesSz cx="6858000" cy="9144000"/>
  <p:embeddedFontLst>
    <p:embeddedFont>
      <p:font typeface="Cambria Math" panose="02040503050406030204" pitchFamily="18" charset="0"/>
      <p:regular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653"/>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 id="26650"/>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6"/>
            <p14:sldId id="26632"/>
            <p14:sldId id="26633"/>
            <p14:sldId id="26634"/>
            <p14:sldId id="26635"/>
            <p14:sldId id="26636"/>
            <p14:sldId id="26651"/>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686"/>
    <a:srgbClr val="FFFFFF"/>
    <a:srgbClr val="00BF63"/>
    <a:srgbClr val="EA9B0C"/>
    <a:srgbClr val="427B2D"/>
    <a:srgbClr val="64BB47"/>
    <a:srgbClr val="447F2F"/>
    <a:srgbClr val="007A8A"/>
    <a:srgbClr val="9B6808"/>
    <a:srgbClr val="B514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82705A-190D-477B-BD64-437A2A3AADB3}" v="46" dt="2026-03-31T21:55:10.500"/>
    <p1510:client id="{ABB40303-32AC-407F-BDB7-30DF61B5E362}" v="819" dt="2026-04-01T01:04:07.435"/>
    <p1510:client id="{F32B4B83-65F3-4DFA-B394-04E9699801CF}" v="2175" dt="2026-04-01T03:55:32.28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3" d="100"/>
          <a:sy n="23" d="100"/>
        </p:scale>
        <p:origin x="642" y="24"/>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2/04/2026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29</a:t>
            </a:r>
          </a:p>
          <a:p>
            <a:pPr marL="285750" indent="-285750">
              <a:buFont typeface="Arial" panose="020B0604020202020204" pitchFamily="34" charset="0"/>
              <a:buChar char="•"/>
            </a:pPr>
            <a:r>
              <a:rPr lang="en-AU"/>
              <a:t>Stage 3 Year B Unit 28</a:t>
            </a:r>
          </a:p>
          <a:p>
            <a:pPr marL="285750" indent="-285750">
              <a:buFont typeface="Arial" panose="020B0604020202020204" pitchFamily="34" charset="0"/>
              <a:buChar char="•"/>
            </a:pPr>
            <a:r>
              <a:rPr lang="en-AU"/>
              <a:t>Stage 3 Year B Unit 27</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latin typeface="Arial"/>
                <a:cs typeface="Arial"/>
              </a:rPr>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 numbers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 (Stage 2 content reviewed)</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Sorting equivalent percentages, decimals and fractions</a:t>
            </a:r>
          </a:p>
          <a:p>
            <a:r>
              <a:rPr lang="en-AU" b="0"/>
              <a:t>This resource corresponds to Resource 16 – equivalency cards in Stage 3 Year B Unit 29.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Revise common equivalent percentages, decimals and fractions. For example, 50% = 0.5 = fifty hundredths = one half.</a:t>
            </a:r>
          </a:p>
          <a:p>
            <a:pPr lvl="0"/>
            <a:r>
              <a:rPr lang="en-AU" sz="1600" kern="1200">
                <a:solidFill>
                  <a:schemeClr val="tx1"/>
                </a:solidFill>
                <a:effectLst/>
                <a:latin typeface="Arial" panose="020B0604020202020204" pitchFamily="34" charset="0"/>
                <a:ea typeface="+mn-ea"/>
                <a:cs typeface="Arial" panose="020B0604020202020204" pitchFamily="34" charset="0"/>
              </a:rPr>
              <a:t>2. Prompt students to rearrange the cards to represent equivalence. For example, 75% is equivalent to 0.75. </a:t>
            </a:r>
          </a:p>
          <a:p>
            <a:pPr lvl="0"/>
            <a:r>
              <a:rPr lang="en-AU" sz="1600" kern="1200">
                <a:solidFill>
                  <a:schemeClr val="tx1"/>
                </a:solidFill>
                <a:effectLst/>
                <a:latin typeface="Arial" panose="020B0604020202020204" pitchFamily="34" charset="0"/>
                <a:ea typeface="+mn-ea"/>
                <a:cs typeface="Arial" panose="020B0604020202020204" pitchFamily="34" charset="0"/>
              </a:rPr>
              <a:t>3. Once students have sorted their cards, ask students to conduct a gallery walk.</a:t>
            </a:r>
          </a:p>
          <a:p>
            <a:pPr lvl="0"/>
            <a:r>
              <a:rPr lang="en-AU" sz="1600" kern="1200">
                <a:solidFill>
                  <a:schemeClr val="tx1"/>
                </a:solidFill>
                <a:effectLst/>
                <a:latin typeface="Arial" panose="020B0604020202020204" pitchFamily="34" charset="0"/>
                <a:ea typeface="+mn-ea"/>
                <a:cs typeface="Arial" panose="020B0604020202020204" pitchFamily="34" charset="0"/>
              </a:rPr>
              <a:t>4. Regroup students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any cards that were sorted differently to your groups? Why do you think that is?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Are there any cards you need to rearrange after conducting the gallery walk?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Were there any groups of equivalency cards that were harder to sort? Why?</a:t>
            </a:r>
          </a:p>
          <a:p>
            <a:pPr lvl="0"/>
            <a:r>
              <a:rPr lang="en-AU" sz="1600" kern="1200">
                <a:solidFill>
                  <a:schemeClr val="tx1"/>
                </a:solidFill>
                <a:effectLst/>
                <a:latin typeface="Arial" panose="020B0604020202020204" pitchFamily="34" charset="0"/>
                <a:ea typeface="+mn-ea"/>
                <a:cs typeface="Arial" panose="020B0604020202020204" pitchFamily="34" charset="0"/>
              </a:rPr>
              <a:t>5. Ask students to read aloud a set of equivalency cards they sorted. For example, 10% is equal to 0.1 is equal to ten hundredths is equal to one tenth.</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891E-B600-B824-8082-ED07D70AD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844B2-B74E-1606-6BBA-560BCD126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0D89F-EF5B-BCA1-3803-395AB4EC4C4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BDA5D17-B2D9-233D-2482-9F86B98C4AAA}"/>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3848122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Matching equivalent percentages, decimals and fractions</a:t>
            </a:r>
          </a:p>
          <a:p>
            <a:r>
              <a:rPr lang="en-AU" b="0"/>
              <a:t>This resource corresponds to Resource 16 – equivalency cards in Stage 3 Year B Unit 29.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a:t>
            </a:r>
            <a:r>
              <a:rPr lang="en-AU" sz="1600" kern="1200" baseline="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Revise common equivalent percentages, decimals and fractions. For example, 50% = 0.5 = fifty hundredths = one half.</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to students they will be matching percentages, decimals and fractions by playing a matching game. All cards are placed upside down in a pile. In pairs, students take turns to flip over 2 cards at a time, trying to find a pair of equivalent cards. For example, two halves is equivalent to 100% or one fifth is equivalent to 0.2. If a pair of cards match, the student keeps the cards. If a match isn’t made, the cards are turned face down again.</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repeat the process until all cards have been matched.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‘Splat!’ from Steve </a:t>
            </a:r>
            <a:r>
              <a:rPr lang="en-AU" sz="1600" kern="1200" err="1">
                <a:solidFill>
                  <a:schemeClr val="tx1"/>
                </a:solidFill>
                <a:effectLst/>
                <a:latin typeface="Arial" panose="020B0604020202020204" pitchFamily="34" charset="0"/>
                <a:ea typeface="+mn-ea"/>
                <a:cs typeface="Arial" panose="020B0604020202020204" pitchFamily="34" charset="0"/>
              </a:rPr>
              <a:t>Wyborney's</a:t>
            </a:r>
            <a:r>
              <a:rPr lang="en-AU" sz="1600" kern="1200">
                <a:solidFill>
                  <a:schemeClr val="tx1"/>
                </a:solidFill>
                <a:effectLst/>
                <a:latin typeface="Arial" panose="020B0604020202020204" pitchFamily="34" charset="0"/>
                <a:ea typeface="+mn-ea"/>
                <a:cs typeface="Arial" panose="020B0604020202020204" pitchFamily="34" charset="0"/>
              </a:rPr>
              <a:t> Blog: I'm on a Learning Mission by </a:t>
            </a:r>
            <a:r>
              <a:rPr lang="en-AU" sz="1600" kern="1200" err="1">
                <a:solidFill>
                  <a:schemeClr val="tx1"/>
                </a:solidFill>
                <a:effectLst/>
                <a:latin typeface="Arial" panose="020B0604020202020204" pitchFamily="34" charset="0"/>
                <a:ea typeface="+mn-ea"/>
                <a:cs typeface="Arial" panose="020B0604020202020204" pitchFamily="34" charset="0"/>
              </a:rPr>
              <a:t>Wyborney</a:t>
            </a:r>
            <a:r>
              <a:rPr lang="en-AU" sz="1600" kern="1200">
                <a:solidFill>
                  <a:schemeClr val="tx1"/>
                </a:solidFill>
                <a:effectLst/>
                <a:latin typeface="Arial" panose="020B0604020202020204" pitchFamily="34" charset="0"/>
                <a:ea typeface="+mn-ea"/>
                <a:cs typeface="Arial" panose="020B0604020202020204" pitchFamily="34" charset="0"/>
              </a:rPr>
              <a:t>.</a:t>
            </a:r>
          </a:p>
          <a:p>
            <a:endParaRPr lang="en-AU"/>
          </a:p>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Represents numbers B</a:t>
            </a:r>
          </a:p>
          <a:p>
            <a:endParaRPr lang="en-AU"/>
          </a:p>
          <a:p>
            <a:r>
              <a:rPr lang="en-AU" b="1"/>
              <a:t>Connecting percentages to the fraction ‘tenth’</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Draw a rectangle on the board to represent a bar of chocolate. Explain to students the whole chocolate bar is 100%. Write the percentage ‘100%’ on the board. </a:t>
            </a:r>
          </a:p>
          <a:p>
            <a:pPr lvl="0"/>
            <a:r>
              <a:rPr lang="en-AU" sz="1600" kern="1200">
                <a:solidFill>
                  <a:schemeClr val="tx1"/>
                </a:solidFill>
                <a:effectLst/>
                <a:latin typeface="Arial" panose="020B0604020202020204" pitchFamily="34" charset="0"/>
                <a:ea typeface="+mn-ea"/>
                <a:cs typeface="Arial" panose="020B0604020202020204" pitchFamily="34" charset="0"/>
              </a:rPr>
              <a:t>2. Remind students the symbol (%) represents the term ‘percent’ and a percentage is a fraction whose denominator is 100. For example, 20% is equivalent to twenty hundredths (20 out of 100).</a:t>
            </a:r>
          </a:p>
          <a:p>
            <a:pPr lvl="0"/>
            <a:r>
              <a:rPr lang="en-AU" sz="1600" kern="1200">
                <a:solidFill>
                  <a:schemeClr val="tx1"/>
                </a:solidFill>
                <a:effectLst/>
                <a:latin typeface="Arial" panose="020B0604020202020204" pitchFamily="34" charset="0"/>
                <a:ea typeface="+mn-ea"/>
                <a:cs typeface="Arial" panose="020B0604020202020204" pitchFamily="34" charset="0"/>
              </a:rPr>
              <a:t>3. Provide students with individual whiteboards to draw their bar of chocolate. </a:t>
            </a:r>
          </a:p>
          <a:p>
            <a:pPr lvl="0"/>
            <a:r>
              <a:rPr lang="en-AU" sz="1600" kern="1200">
                <a:solidFill>
                  <a:schemeClr val="tx1"/>
                </a:solidFill>
                <a:effectLst/>
                <a:latin typeface="Arial" panose="020B0604020202020204" pitchFamily="34" charset="0"/>
                <a:ea typeface="+mn-ea"/>
                <a:cs typeface="Arial" panose="020B0604020202020204" pitchFamily="34" charset="0"/>
              </a:rPr>
              <a:t>4. Ask students to draw lines and shade the bar of chocolate to show 25%.</a:t>
            </a:r>
          </a:p>
          <a:p>
            <a:pPr lvl="0"/>
            <a:r>
              <a:rPr lang="en-AU" sz="1600" kern="1200">
                <a:solidFill>
                  <a:schemeClr val="tx1"/>
                </a:solidFill>
                <a:effectLst/>
                <a:latin typeface="Arial" panose="020B0604020202020204" pitchFamily="34" charset="0"/>
                <a:ea typeface="+mn-ea"/>
                <a:cs typeface="Arial" panose="020B0604020202020204" pitchFamily="34" charset="0"/>
              </a:rPr>
              <a:t>5. Facilitate a discussion by asking: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you have shaded 25%?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each square of chocolate is 25%, how many squares are in the chocolate bar?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we eat 25%, how much of the chocolate bar is left? How do we know?</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fraction is equivalent to 25%?</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latin typeface="Arial"/>
                    <a:cs typeface="Arial"/>
                  </a:rPr>
                  <a:t>Represent numbers B</a:t>
                </a:r>
                <a:endParaRPr lang="en-AU" sz="1600" i="0">
                  <a:solidFill>
                    <a:schemeClr val="tx1"/>
                  </a:solidFill>
                  <a:latin typeface="Arial" panose="020B0604020202020204" pitchFamily="34" charset="0"/>
                  <a:cs typeface="Arial" panose="020B0604020202020204" pitchFamily="34" charset="0"/>
                </a:endParaRPr>
              </a:p>
              <a:p>
                <a:endParaRPr lang="en-AU"/>
              </a:p>
              <a:p>
                <a:r>
                  <a:rPr lang="en-AU" b="1"/>
                  <a:t>Representing lengths as fractions and decimals</a:t>
                </a:r>
              </a:p>
              <a:p>
                <a:r>
                  <a:rPr lang="en-AU" b="0"/>
                  <a:t>This resource corresponds to Figure 21 – covered metre ruler in Stage 3 Year B Unit 29. </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Explain to students that we can describe lengths as percentages, decimals and fractions of a whole length. For example, 25 cm can be represented as 0.25 m, twenty-five hundredths</a:t>
                </a:r>
                <a14:m>
                  <m:oMath xmlns:m="http://schemas.openxmlformats.org/officeDocument/2006/math">
                    <m:r>
                      <a:rPr lang="en-AU" sz="1600" i="1" kern="1200">
                        <a:solidFill>
                          <a:schemeClr val="tx1"/>
                        </a:solidFill>
                        <a:effectLst/>
                        <a:latin typeface="Cambria Math" panose="02040503050406030204" pitchFamily="18" charset="0"/>
                        <a:ea typeface="+mn-ea"/>
                        <a:cs typeface="Arial" panose="020B0604020202020204" pitchFamily="34" charset="0"/>
                      </a:rPr>
                      <m:t> </m:t>
                    </m:r>
                  </m:oMath>
                </a14:m>
                <a:r>
                  <a:rPr lang="en-AU" sz="1600" kern="1200">
                    <a:solidFill>
                      <a:schemeClr val="tx1"/>
                    </a:solidFill>
                    <a:effectLst/>
                    <a:latin typeface="Arial" panose="020B0604020202020204" pitchFamily="34" charset="0"/>
                    <a:ea typeface="+mn-ea"/>
                    <a:cs typeface="Arial" panose="020B0604020202020204" pitchFamily="34" charset="0"/>
                  </a:rPr>
                  <a:t>, 25% of 100 cm and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 of one metre.</a:t>
                </a:r>
              </a:p>
              <a:p>
                <a:pPr lvl="0"/>
                <a:r>
                  <a:rPr lang="en-AU" sz="1600" kern="1200">
                    <a:solidFill>
                      <a:schemeClr val="tx1"/>
                    </a:solidFill>
                    <a:effectLst/>
                    <a:latin typeface="Arial" panose="020B0604020202020204" pitchFamily="34" charset="0"/>
                    <a:ea typeface="+mn-ea"/>
                    <a:cs typeface="Arial" panose="020B0604020202020204" pitchFamily="34" charset="0"/>
                  </a:rPr>
                  <a:t>2. Show students a one metre ruler. Remind students that percent means ‘out of 100’. Explain that the full length of the ruler would equal 100%.</a:t>
                </a:r>
              </a:p>
              <a:p>
                <a:pPr lvl="0"/>
                <a:r>
                  <a:rPr lang="en-AU" sz="1600" kern="1200">
                    <a:solidFill>
                      <a:schemeClr val="tx1"/>
                    </a:solidFill>
                    <a:effectLst/>
                    <a:latin typeface="Arial" panose="020B0604020202020204" pitchFamily="34" charset="0"/>
                    <a:ea typeface="+mn-ea"/>
                    <a:cs typeface="Arial" panose="020B0604020202020204" pitchFamily="34" charset="0"/>
                  </a:rPr>
                  <a:t>3. Cover part of the metre ruler with a piece of paper (see Figure 21 </a:t>
                </a:r>
                <a:r>
                  <a:rPr lang="en-AU" b="0"/>
                  <a:t>– covered metre ruler in Stage 3 Year B Unit 29</a:t>
                </a:r>
                <a:r>
                  <a:rPr lang="en-AU" sz="1600" kern="1200">
                    <a:solidFill>
                      <a:schemeClr val="tx1"/>
                    </a:solidFill>
                    <a:effectLst/>
                    <a:latin typeface="Arial" panose="020B0604020202020204" pitchFamily="34" charset="0"/>
                    <a:ea typeface="+mn-ea"/>
                    <a:cs typeface="Arial" panose="020B0604020202020204" pitchFamily="34" charset="0"/>
                  </a:rPr>
                  <a:t>).</a:t>
                </a:r>
              </a:p>
              <a:p>
                <a:pPr lvl="0"/>
                <a:r>
                  <a:rPr lang="en-AU" sz="1600" kern="1200">
                    <a:solidFill>
                      <a:schemeClr val="tx1"/>
                    </a:solidFill>
                    <a:effectLst/>
                    <a:latin typeface="Arial" panose="020B0604020202020204" pitchFamily="34" charset="0"/>
                    <a:ea typeface="+mn-ea"/>
                    <a:cs typeface="Arial" panose="020B0604020202020204" pitchFamily="34" charset="0"/>
                  </a:rPr>
                  <a:t>4.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ruler has been covered? (Answer: 25%.)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ruler is not covered? (Answer: 75%.)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could you say about the covered and uncovered parts of the ruler? (Answer: together they are equal to 100%.)</a:t>
                </a:r>
              </a:p>
              <a:p>
                <a:pPr lvl="0"/>
                <a:r>
                  <a:rPr lang="en-AU" sz="1600" kern="1200">
                    <a:solidFill>
                      <a:schemeClr val="tx1"/>
                    </a:solidFill>
                    <a:effectLst/>
                    <a:latin typeface="Arial" panose="020B0604020202020204" pitchFamily="34" charset="0"/>
                    <a:ea typeface="+mn-ea"/>
                    <a:cs typeface="Arial" panose="020B0604020202020204" pitchFamily="34" charset="0"/>
                  </a:rPr>
                  <a:t>5. Provide small groups of students a metre ruler, sticky notes and an individual whiteboard. Ask students to mark on the one metre ruler: 10%, 20%, 25%, 50%, 75% and 100% of 100 cm.</a:t>
                </a:r>
              </a:p>
              <a:p>
                <a:pPr lvl="0"/>
                <a:r>
                  <a:rPr lang="en-AU" sz="1600" kern="1200">
                    <a:solidFill>
                      <a:schemeClr val="tx1"/>
                    </a:solidFill>
                    <a:effectLst/>
                    <a:latin typeface="Arial" panose="020B0604020202020204" pitchFamily="34" charset="0"/>
                    <a:ea typeface="+mn-ea"/>
                    <a:cs typeface="Arial" panose="020B0604020202020204" pitchFamily="34" charset="0"/>
                  </a:rPr>
                  <a:t>6. Students record the marked percentages as measurements, fractions and decimals (see Figure 22 – student recording example </a:t>
                </a:r>
                <a:r>
                  <a:rPr lang="en-AU" b="0"/>
                  <a:t>in Stage 3 Year B Unit 29</a:t>
                </a:r>
                <a:r>
                  <a:rPr lang="en-AU" sz="1600" kern="1200">
                    <a:solidFill>
                      <a:schemeClr val="tx1"/>
                    </a:solidFill>
                    <a:effectLst/>
                    <a:latin typeface="Arial" panose="020B0604020202020204" pitchFamily="34" charset="0"/>
                    <a:ea typeface="+mn-ea"/>
                    <a:cs typeface="Arial" panose="020B0604020202020204" pitchFamily="34" charset="0"/>
                  </a:rPr>
                  <a:t>).</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latin typeface="Arial"/>
                    <a:cs typeface="Arial"/>
                  </a:rPr>
                  <a:t>Represent numbers B</a:t>
                </a:r>
                <a:endParaRPr lang="en-AU" sz="1600" i="0">
                  <a:solidFill>
                    <a:schemeClr val="tx1"/>
                  </a:solidFill>
                  <a:latin typeface="Arial" panose="020B0604020202020204" pitchFamily="34" charset="0"/>
                  <a:cs typeface="Arial" panose="020B0604020202020204" pitchFamily="34" charset="0"/>
                </a:endParaRPr>
              </a:p>
              <a:p>
                <a:endParaRPr lang="en-AU"/>
              </a:p>
              <a:p>
                <a:r>
                  <a:rPr lang="en-AU" b="1"/>
                  <a:t>Representing lengths as fractions and decimals</a:t>
                </a:r>
              </a:p>
              <a:p>
                <a:r>
                  <a:rPr lang="en-AU" b="0"/>
                  <a:t>This resource corresponds to Figure 21 – covered metre ruler in Stage 3 Year B Unit 29. </a:t>
                </a:r>
              </a:p>
              <a:p>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Explain to students that we can describe lengths as percentages, decimals and fractions of a whole length. For example, 25 cm can be represented as 0.25 m, twenty-five hundredths</a:t>
                </a:r>
                <a:r>
                  <a:rPr lang="en-AU" sz="1600" i="0" kern="1200">
                    <a:solidFill>
                      <a:schemeClr val="tx1"/>
                    </a:solidFill>
                    <a:effectLst/>
                    <a:latin typeface="Cambria Math" panose="02040503050406030204" pitchFamily="18"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 25% of 100 cm and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 of one metre.</a:t>
                </a:r>
              </a:p>
              <a:p>
                <a:pPr lvl="0"/>
                <a:r>
                  <a:rPr lang="en-AU" sz="1600" kern="1200">
                    <a:solidFill>
                      <a:schemeClr val="tx1"/>
                    </a:solidFill>
                    <a:effectLst/>
                    <a:latin typeface="Arial" panose="020B0604020202020204" pitchFamily="34" charset="0"/>
                    <a:ea typeface="+mn-ea"/>
                    <a:cs typeface="Arial" panose="020B0604020202020204" pitchFamily="34" charset="0"/>
                  </a:rPr>
                  <a:t>2. Show students a one metre ruler. Remind students that percent means ‘out of 100’. Explain that the full length of the ruler would equal 100%.</a:t>
                </a:r>
              </a:p>
              <a:p>
                <a:pPr lvl="0"/>
                <a:r>
                  <a:rPr lang="en-AU" sz="1600" kern="1200">
                    <a:solidFill>
                      <a:schemeClr val="tx1"/>
                    </a:solidFill>
                    <a:effectLst/>
                    <a:latin typeface="Arial" panose="020B0604020202020204" pitchFamily="34" charset="0"/>
                    <a:ea typeface="+mn-ea"/>
                    <a:cs typeface="Arial" panose="020B0604020202020204" pitchFamily="34" charset="0"/>
                  </a:rPr>
                  <a:t>3. Cover part of the metre ruler with a piece of paper (see Figure 21 </a:t>
                </a:r>
                <a:r>
                  <a:rPr lang="en-AU" b="0"/>
                  <a:t>– covered metre ruler in Stage 3 Year B Unit 29</a:t>
                </a:r>
                <a:r>
                  <a:rPr lang="en-AU" sz="1600" kern="1200">
                    <a:solidFill>
                      <a:schemeClr val="tx1"/>
                    </a:solidFill>
                    <a:effectLst/>
                    <a:latin typeface="Arial" panose="020B0604020202020204" pitchFamily="34" charset="0"/>
                    <a:ea typeface="+mn-ea"/>
                    <a:cs typeface="Arial" panose="020B0604020202020204" pitchFamily="34" charset="0"/>
                  </a:rPr>
                  <a:t>).</a:t>
                </a:r>
              </a:p>
              <a:p>
                <a:pPr lvl="0"/>
                <a:r>
                  <a:rPr lang="en-AU" sz="1600" kern="1200">
                    <a:solidFill>
                      <a:schemeClr val="tx1"/>
                    </a:solidFill>
                    <a:effectLst/>
                    <a:latin typeface="Arial" panose="020B0604020202020204" pitchFamily="34" charset="0"/>
                    <a:ea typeface="+mn-ea"/>
                    <a:cs typeface="Arial" panose="020B0604020202020204" pitchFamily="34" charset="0"/>
                  </a:rPr>
                  <a:t>4.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ruler has been covered? (Answer: 25%.)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percentage of the ruler is not covered? (Answer: 75%.)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could you say about the covered and uncovered parts of the ruler? (Answer: together they are equal to 100%.)</a:t>
                </a:r>
              </a:p>
              <a:p>
                <a:pPr lvl="0"/>
                <a:r>
                  <a:rPr lang="en-AU" sz="1600" kern="1200">
                    <a:solidFill>
                      <a:schemeClr val="tx1"/>
                    </a:solidFill>
                    <a:effectLst/>
                    <a:latin typeface="Arial" panose="020B0604020202020204" pitchFamily="34" charset="0"/>
                    <a:ea typeface="+mn-ea"/>
                    <a:cs typeface="Arial" panose="020B0604020202020204" pitchFamily="34" charset="0"/>
                  </a:rPr>
                  <a:t>5. Provide small groups of students a metre ruler, sticky notes and an individual whiteboard. Ask students to mark on the one metre ruler: 10%, 20%, 25%, 50%, 75% and 100% of 100 cm.</a:t>
                </a:r>
              </a:p>
              <a:p>
                <a:pPr lvl="0"/>
                <a:r>
                  <a:rPr lang="en-AU" sz="1600" kern="1200">
                    <a:solidFill>
                      <a:schemeClr val="tx1"/>
                    </a:solidFill>
                    <a:effectLst/>
                    <a:latin typeface="Arial" panose="020B0604020202020204" pitchFamily="34" charset="0"/>
                    <a:ea typeface="+mn-ea"/>
                    <a:cs typeface="Arial" panose="020B0604020202020204" pitchFamily="34" charset="0"/>
                  </a:rPr>
                  <a:t>6. Students record the marked percentages as measurements, fractions and decimals (see Figure 22 – student recording example </a:t>
                </a:r>
                <a:r>
                  <a:rPr lang="en-AU" b="0"/>
                  <a:t>in Stage 3 Year B Unit 29</a:t>
                </a:r>
                <a:r>
                  <a:rPr lang="en-AU" sz="1600" kern="1200">
                    <a:solidFill>
                      <a:schemeClr val="tx1"/>
                    </a:solidFill>
                    <a:effectLst/>
                    <a:latin typeface="Arial" panose="020B0604020202020204" pitchFamily="34" charset="0"/>
                    <a:ea typeface="+mn-ea"/>
                    <a:cs typeface="Arial" panose="020B0604020202020204" pitchFamily="34" charset="0"/>
                  </a:rPr>
                  <a:t>).</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Representing fractions as division</a:t>
            </a:r>
          </a:p>
          <a:p>
            <a:r>
              <a:rPr lang="en-AU" b="0"/>
              <a:t>This resource corresponds to Resource 16 – fractions as division set 1 in Stage 3 Year B Unit 29.</a:t>
            </a:r>
          </a:p>
          <a:p>
            <a:pPr lvl="0"/>
            <a:r>
              <a:rPr lang="en-AU" sz="1600" kern="1200">
                <a:solidFill>
                  <a:schemeClr val="tx1"/>
                </a:solidFill>
                <a:effectLst/>
                <a:latin typeface="Arial" panose="020B0604020202020204" pitchFamily="34" charset="0"/>
                <a:ea typeface="+mn-ea"/>
                <a:cs typeface="Arial" panose="020B0604020202020204" pitchFamily="34" charset="0"/>
              </a:rPr>
              <a:t>1. Revise that fractions represent a division. For example, 4 shared between 9 is equal to four ninths, so 4 divided by 9 = four ninths.</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to students that they will be playing a game of snap with a partner, where they pair the fraction with its matching representation (next slide).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 For example, five eighths matches with 5 divided by 8 and one sixth matches with one shared between 6.</a:t>
            </a:r>
          </a:p>
          <a:p>
            <a:pPr lvl="0"/>
            <a:r>
              <a:rPr lang="en-AU" sz="1600" kern="1200">
                <a:solidFill>
                  <a:schemeClr val="tx1"/>
                </a:solidFill>
                <a:effectLst/>
                <a:latin typeface="Arial" panose="020B0604020202020204" pitchFamily="34" charset="0"/>
                <a:ea typeface="+mn-ea"/>
                <a:cs typeface="Arial" panose="020B0604020202020204" pitchFamily="34" charset="0"/>
              </a:rPr>
              <a:t>3. Explain that each student turns their pile of cards face down in front of them. Students turn the top card from their pile over at the same time. If the 2 cards turned over match, the player who says ‘Snap!’ first and reads aloud the matching set of cards, keeps them. If the cards don’t match, they are returned to the bottom of the pile.</a:t>
            </a:r>
          </a:p>
          <a:p>
            <a:pPr lvl="0"/>
            <a:r>
              <a:rPr lang="en-AU" sz="1600" kern="1200">
                <a:solidFill>
                  <a:schemeClr val="tx1"/>
                </a:solidFill>
                <a:effectLst/>
                <a:latin typeface="Arial" panose="020B0604020202020204" pitchFamily="34" charset="0"/>
                <a:ea typeface="+mn-ea"/>
                <a:cs typeface="Arial" panose="020B0604020202020204" pitchFamily="34" charset="0"/>
              </a:rPr>
              <a:t>4. Once students have turned over all cards in the set, they shuffle the cards and play again. Play continues for a set time and the player who gets the most matches by the end of the game wins.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D2BA2-7D4B-3765-E594-8A1BDE0FD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B328B-5576-DA21-5249-70191CAD3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8AF6D-309E-E3B8-9DB6-A67CD0D46AF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Representing fractions as division</a:t>
            </a:r>
          </a:p>
          <a:p>
            <a:r>
              <a:rPr lang="en-AU" b="0"/>
              <a:t>This resource corresponds to Resource 17 – fractions as division set 2 in Stage 3 Year B Unit 29.</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(Previous slide)</a:t>
            </a:r>
          </a:p>
          <a:p>
            <a:pPr lvl="0"/>
            <a:r>
              <a:rPr lang="en-AU" sz="1600" kern="1200">
                <a:solidFill>
                  <a:schemeClr val="tx1"/>
                </a:solidFill>
                <a:effectLst/>
                <a:latin typeface="Arial" panose="020B0604020202020204" pitchFamily="34" charset="0"/>
                <a:ea typeface="+mn-ea"/>
                <a:cs typeface="Arial" panose="020B0604020202020204" pitchFamily="34" charset="0"/>
              </a:rPr>
              <a:t>1. Revise that fractions represent a division. For example, 4 shared between 9 is equal to four ninths, so 4 divided by 9 = four ninths.</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to students that they will be playing a game of snap with a partner, where they pair the fraction with its matching representation.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(This slide)</a:t>
            </a:r>
          </a:p>
          <a:p>
            <a:pPr lvl="0"/>
            <a:r>
              <a:rPr lang="en-AU" sz="1600" kern="1200">
                <a:solidFill>
                  <a:schemeClr val="tx1"/>
                </a:solidFill>
                <a:effectLst/>
                <a:latin typeface="Arial" panose="020B0604020202020204" pitchFamily="34" charset="0"/>
                <a:ea typeface="+mn-ea"/>
                <a:cs typeface="Arial" panose="020B0604020202020204" pitchFamily="34" charset="0"/>
              </a:rPr>
              <a:t>For example, five eighths matches with 5 divided by 8 and one sixth matches with one shared between 6.</a:t>
            </a:r>
          </a:p>
          <a:p>
            <a:pPr lvl="0"/>
            <a:r>
              <a:rPr lang="en-AU" sz="1600" kern="1200">
                <a:solidFill>
                  <a:schemeClr val="tx1"/>
                </a:solidFill>
                <a:effectLst/>
                <a:latin typeface="Arial" panose="020B0604020202020204" pitchFamily="34" charset="0"/>
                <a:ea typeface="+mn-ea"/>
                <a:cs typeface="Arial" panose="020B0604020202020204" pitchFamily="34" charset="0"/>
              </a:rPr>
              <a:t>3. Explain that each student turns their pile of cards face down in front of them. Students turn the top card from their pile over at the same time. If the 2 cards turned over match, the player who says ‘Snap!’ first and reads aloud the matching set of cards, keeps them. If the cards don’t match, they are returned to the bottom of the pile.</a:t>
            </a:r>
          </a:p>
          <a:p>
            <a:pPr lvl="0"/>
            <a:r>
              <a:rPr lang="en-AU" sz="1600" kern="1200">
                <a:solidFill>
                  <a:schemeClr val="tx1"/>
                </a:solidFill>
                <a:effectLst/>
                <a:latin typeface="Arial" panose="020B0604020202020204" pitchFamily="34" charset="0"/>
                <a:ea typeface="+mn-ea"/>
                <a:cs typeface="Arial" panose="020B0604020202020204" pitchFamily="34" charset="0"/>
              </a:rPr>
              <a:t>4. Once students have turned over all cards in the set, they shuffle the cards and play again. Play continues for a set time and the player who gets the most matches by the end of the game wins.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CF2663B1-4123-4A69-981B-494ACD27025F}"/>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584407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Representing equivalent fractions as division</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Revise that fractions represent division. For example, 5 divided by 10 = five tenths. Remind students that the fraction five tenths can also be represented in different ways and still be equivalent. For example, five tenths is equal to one half, two quarters, three sixths and four eighths. (all represent the same value of 0.5).</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to students that they will be making and recording fractions and equivalent fractions. For example, six eighths = three quarters. 6 ÷ 8 = six eighths and 3 ÷ 4 = three quarters.</a:t>
            </a:r>
          </a:p>
          <a:p>
            <a:pPr lvl="0"/>
            <a:r>
              <a:rPr lang="en-AU" sz="1600" kern="1200">
                <a:solidFill>
                  <a:schemeClr val="tx1"/>
                </a:solidFill>
                <a:effectLst/>
                <a:latin typeface="Arial" panose="020B0604020202020204" pitchFamily="34" charset="0"/>
                <a:ea typeface="+mn-ea"/>
                <a:cs typeface="Arial" panose="020B0604020202020204" pitchFamily="34" charset="0"/>
              </a:rPr>
              <a:t>3. Provide students with two 10-sided dice and an individual whiteboard. Students roll the dice, make a fraction and record the fractions and division number sentences. The larger number rolled will be the denominator and the smaller number rolled will be the numerator. For example, ‘I rolled a 4 and a 10, so 4 is the numerator and 10 is the denominator. The fraction is four tenths.’ (see Figure 23)</a:t>
            </a: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tell students that some fractions, for example one seventh, will have less possible equivalent fractions without going beyond a denominator of 10. Students can either record the fraction and roll the dice again or try to think of an equivalent fraction that would have a denominator that is greater than 10.</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turn and talk to share the recordings they made.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 did you roll that had the least number of equivalent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 did you roll that had the greatest number of equivalent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roll a fraction with the same numerator and denominator? What did you notice?</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Solving problems using fractions as division</a:t>
            </a:r>
          </a:p>
          <a:p>
            <a:r>
              <a:rPr lang="en-AU" b="0"/>
              <a:t>This resource corresponds to Resource 18 – fair shares in Stage 3 Year B Unit 29.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Ask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6 cakes be shared equally between 8 friends?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there more than one way the cakes could be shared equally?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our knowledge of equivalent fractions help us find more than one possibility?</a:t>
            </a:r>
          </a:p>
          <a:p>
            <a:pPr lvl="0"/>
            <a:r>
              <a:rPr lang="en-AU" sz="1600" kern="1200">
                <a:solidFill>
                  <a:schemeClr val="tx1"/>
                </a:solidFill>
                <a:effectLst/>
                <a:latin typeface="Arial" panose="020B0604020202020204" pitchFamily="34" charset="0"/>
                <a:ea typeface="+mn-ea"/>
                <a:cs typeface="Arial" panose="020B0604020202020204" pitchFamily="34" charset="0"/>
              </a:rPr>
              <a:t>2. Provide students time to solve the problem on individual whiteboards, encouraging them to find more than one answer. Ask students to turn and talk</a:t>
            </a:r>
            <a:r>
              <a:rPr lang="en-AU" sz="1600" u="sng" kern="1200">
                <a:solidFill>
                  <a:schemeClr val="tx1"/>
                </a:solidFill>
                <a:effectLst/>
                <a:latin typeface="Arial" panose="020B0604020202020204" pitchFamily="34" charset="0"/>
                <a:ea typeface="+mn-ea"/>
                <a:cs typeface="Arial" panose="020B0604020202020204" pitchFamily="34" charset="0"/>
              </a:rPr>
              <a:t> and </a:t>
            </a:r>
            <a:r>
              <a:rPr lang="en-AU" sz="1600" kern="1200">
                <a:solidFill>
                  <a:schemeClr val="tx1"/>
                </a:solidFill>
                <a:effectLst/>
                <a:latin typeface="Arial" panose="020B0604020202020204" pitchFamily="34" charset="0"/>
                <a:ea typeface="+mn-ea"/>
                <a:cs typeface="Arial" panose="020B0604020202020204" pitchFamily="34" charset="0"/>
              </a:rPr>
              <a:t>share their thinking.</a:t>
            </a:r>
          </a:p>
          <a:p>
            <a:pPr lvl="0"/>
            <a:r>
              <a:rPr lang="en-AU" sz="1600" kern="1200">
                <a:solidFill>
                  <a:schemeClr val="tx1"/>
                </a:solidFill>
                <a:effectLst/>
                <a:latin typeface="Arial" panose="020B0604020202020204" pitchFamily="34" charset="0"/>
                <a:ea typeface="+mn-ea"/>
                <a:cs typeface="Arial" panose="020B0604020202020204" pitchFamily="34" charset="0"/>
              </a:rPr>
              <a:t>3. Possible student responses could be: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Divide each of the cakes into eighths and give each friend 6 of the eighths. Each friend gets six-eighths.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realise that one-quarter is equivalent to two-eighths. Divide each of the cakes into quarters and give each friend 3 of the quarters. Each friend gets three-quarters.</a:t>
            </a:r>
          </a:p>
          <a:p>
            <a:pPr lvl="0"/>
            <a:r>
              <a:rPr lang="en-AU" sz="1600" kern="1200">
                <a:solidFill>
                  <a:schemeClr val="tx1"/>
                </a:solidFill>
                <a:effectLst/>
                <a:latin typeface="Arial" panose="020B0604020202020204" pitchFamily="34" charset="0"/>
                <a:ea typeface="+mn-ea"/>
                <a:cs typeface="Arial" panose="020B0604020202020204" pitchFamily="34" charset="0"/>
              </a:rPr>
              <a:t>4. (next slide) Display the remaining problems on Resource 18 – fair shares and ask students to record their answers on an individual whiteboard, including equivalent fractions where appropriate.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1E20D-7D80-40C4-C35C-A227AE63E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A1177-54A2-1E8F-DC26-DD8ED7853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5F9C3-F9AF-EC51-B541-82AD8123F5AA}"/>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Solving problems using fractions as division</a:t>
            </a:r>
          </a:p>
          <a:p>
            <a:r>
              <a:rPr lang="en-AU" b="0"/>
              <a:t>This resource corresponds to Resource 18 – fair shares in Stage 3 Year B Unit 29.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Ask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6 cakes be shared equally between 8 friends?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there more than one way the cakes could be shared equally?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our knowledge of equivalent fractions help us find more than one possibility?</a:t>
            </a:r>
          </a:p>
          <a:p>
            <a:pPr lvl="0"/>
            <a:r>
              <a:rPr lang="en-AU" sz="1600" kern="1200">
                <a:solidFill>
                  <a:schemeClr val="tx1"/>
                </a:solidFill>
                <a:effectLst/>
                <a:latin typeface="Arial" panose="020B0604020202020204" pitchFamily="34" charset="0"/>
                <a:ea typeface="+mn-ea"/>
                <a:cs typeface="Arial" panose="020B0604020202020204" pitchFamily="34" charset="0"/>
              </a:rPr>
              <a:t>2. Provide students time to solve the problem on individual whiteboards, encouraging them to find more than one answer. Ask students to turn and talk</a:t>
            </a:r>
            <a:r>
              <a:rPr lang="en-AU" sz="1600" u="sng" kern="1200">
                <a:solidFill>
                  <a:schemeClr val="tx1"/>
                </a:solidFill>
                <a:effectLst/>
                <a:latin typeface="Arial" panose="020B0604020202020204" pitchFamily="34" charset="0"/>
                <a:ea typeface="+mn-ea"/>
                <a:cs typeface="Arial" panose="020B0604020202020204" pitchFamily="34" charset="0"/>
              </a:rPr>
              <a:t> and </a:t>
            </a:r>
            <a:r>
              <a:rPr lang="en-AU" sz="1600" kern="1200">
                <a:solidFill>
                  <a:schemeClr val="tx1"/>
                </a:solidFill>
                <a:effectLst/>
                <a:latin typeface="Arial" panose="020B0604020202020204" pitchFamily="34" charset="0"/>
                <a:ea typeface="+mn-ea"/>
                <a:cs typeface="Arial" panose="020B0604020202020204" pitchFamily="34" charset="0"/>
              </a:rPr>
              <a:t>share their thinking.</a:t>
            </a:r>
          </a:p>
          <a:p>
            <a:pPr lvl="0"/>
            <a:r>
              <a:rPr lang="en-AU" sz="1600" kern="1200">
                <a:solidFill>
                  <a:schemeClr val="tx1"/>
                </a:solidFill>
                <a:effectLst/>
                <a:latin typeface="Arial" panose="020B0604020202020204" pitchFamily="34" charset="0"/>
                <a:ea typeface="+mn-ea"/>
                <a:cs typeface="Arial" panose="020B0604020202020204" pitchFamily="34" charset="0"/>
              </a:rPr>
              <a:t>3. Possible student responses could be: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Divide each of the cakes into eighths and give each friend 6 of the eighths. Each friend gets six-eighths.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realise that one-quarter is equivalent to two-eighths. Divide each of the cakes into quarters and give each friend 3 of the quarters. Each friend gets three-quarters.</a:t>
            </a:r>
          </a:p>
          <a:p>
            <a:pPr lvl="0"/>
            <a:r>
              <a:rPr lang="en-AU" sz="1600" kern="1200">
                <a:solidFill>
                  <a:schemeClr val="tx1"/>
                </a:solidFill>
                <a:effectLst/>
                <a:latin typeface="Arial" panose="020B0604020202020204" pitchFamily="34" charset="0"/>
                <a:ea typeface="+mn-ea"/>
                <a:cs typeface="Arial" panose="020B0604020202020204" pitchFamily="34" charset="0"/>
              </a:rPr>
              <a:t>4. Display the remaining problems on Resource 18 – fair shares and ask students to record their answers on an individual whiteboard, including equivalent fractions where appropriate.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C75661A4-4011-97A9-D8D4-B164CA015429}"/>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7538195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Representing quantity fractions B</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pPr>
              <a:defRPr/>
            </a:pPr>
            <a:r>
              <a:rPr lang="en-AU">
                <a:highlight>
                  <a:srgbClr val="FFFF00"/>
                </a:highlight>
                <a:latin typeface="Arial"/>
                <a:cs typeface="Arial"/>
              </a:rPr>
              <a:t>Representing quantity fractions B</a:t>
            </a:r>
          </a:p>
          <a:p>
            <a:endParaRPr lang="en-AU"/>
          </a:p>
          <a:p>
            <a:r>
              <a:rPr lang="en-AU" b="1"/>
              <a:t>Ordering equivalent fractions on number lines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a strip of paper. Explain this represents a zero to one number line.</a:t>
            </a:r>
          </a:p>
          <a:p>
            <a:pPr lvl="0"/>
            <a:r>
              <a:rPr lang="en-AU" sz="1600" kern="1200">
                <a:solidFill>
                  <a:schemeClr val="tx1"/>
                </a:solidFill>
                <a:effectLst/>
                <a:latin typeface="Arial" panose="020B0604020202020204" pitchFamily="34" charset="0"/>
                <a:ea typeface="+mn-ea"/>
                <a:cs typeface="Arial" panose="020B0604020202020204" pitchFamily="34" charset="0"/>
              </a:rPr>
              <a:t>2. Guide students to fold their strip of paper into eighths by repeated halving (three folds).</a:t>
            </a:r>
          </a:p>
          <a:p>
            <a:pPr lvl="0"/>
            <a:r>
              <a:rPr lang="en-AU" sz="1600" kern="1200">
                <a:solidFill>
                  <a:schemeClr val="tx1"/>
                </a:solidFill>
                <a:effectLst/>
                <a:latin typeface="Arial" panose="020B0604020202020204" pitchFamily="34" charset="0"/>
                <a:ea typeface="+mn-ea"/>
                <a:cs typeface="Arial" panose="020B0604020202020204" pitchFamily="34" charset="0"/>
              </a:rPr>
              <a:t>3. Explain to students they will record as many different ways the folded lines could be represented with fractions (see Figure 24 – number line paper strip in Stage 3 Year B Unit 29).</a:t>
            </a:r>
          </a:p>
          <a:p>
            <a:pPr lvl="0"/>
            <a:r>
              <a:rPr lang="en-AU" sz="1600" kern="1200">
                <a:solidFill>
                  <a:schemeClr val="tx1"/>
                </a:solidFill>
                <a:effectLst/>
                <a:latin typeface="Arial" panose="020B0604020202020204" pitchFamily="34" charset="0"/>
                <a:ea typeface="+mn-ea"/>
                <a:cs typeface="Arial" panose="020B0604020202020204" pitchFamily="34" charset="0"/>
              </a:rPr>
              <a:t>4. Ask students to share their models and record other fractions that other students represented. For example, one student may have recorded the half-way fold as a one half, whereas another recorded its equivalence, being two-quarters (two</a:t>
            </a:r>
            <a:r>
              <a:rPr lang="en-AU" sz="1600" kern="1200" baseline="0">
                <a:solidFill>
                  <a:schemeClr val="tx1"/>
                </a:solidFill>
                <a:effectLst/>
                <a:latin typeface="Arial" panose="020B0604020202020204" pitchFamily="34" charset="0"/>
                <a:ea typeface="+mn-ea"/>
                <a:cs typeface="Arial" panose="020B0604020202020204" pitchFamily="34" charset="0"/>
              </a:rPr>
              <a:t> quarters</a:t>
            </a:r>
            <a:r>
              <a:rPr lang="en-AU" sz="1600" kern="1200">
                <a:solidFill>
                  <a:schemeClr val="tx1"/>
                </a:solidFill>
                <a:effectLst/>
                <a:latin typeface="Arial" panose="020B0604020202020204" pitchFamily="34" charset="0"/>
                <a:ea typeface="+mn-ea"/>
                <a:cs typeface="Arial" panose="020B0604020202020204" pitchFamily="34" charset="0"/>
              </a:rPr>
              <a:t>). </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31CB-ED5D-0440-4820-807860D3D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8D0B-6AB8-FFC9-5A5C-E79117434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CB8CB-BBA3-56EE-536E-AA686FF99D5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A15F0E3-9CD4-4566-E7D9-E6CA89DE2E80}"/>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3122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5.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0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25.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9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1.png"/><Relationship Id="rId7" Type="http://schemas.openxmlformats.org/officeDocument/2006/relationships/image" Target="../media/image39.sv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image" Target="../media/image41.sv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450.png"/></Relationships>
</file>

<file path=ppt/slides/_rels/slide3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1.png"/><Relationship Id="rId7" Type="http://schemas.openxmlformats.org/officeDocument/2006/relationships/image" Target="../media/image52.sv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54.sv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9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510.pn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530.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slide" Target="slide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mathigon.org/polypad"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read.gov/aesop/012.html"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nrich.maths.org/2315"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fuse.education.vic.gov.au/mcc/CurriculumItem?code=VCMNA217"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resources.education.nsw.gov.au/detail/TSM-19"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14777"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B Unit 29.</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29</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240963" y="1119019"/>
            <a:ext cx="11243037" cy="893226"/>
          </a:xfrm>
        </p:spPr>
        <p:txBody>
          <a:bodyPr/>
          <a:lstStyle/>
          <a:p>
            <a:pPr algn="ctr"/>
            <a:r>
              <a:rPr lang="en-US" sz="4000"/>
              <a:t>Which of the following are </a:t>
            </a:r>
            <a:r>
              <a:rPr lang="en-US" sz="4000" b="1"/>
              <a:t>equivalent</a:t>
            </a:r>
            <a:r>
              <a:rPr lang="en-US" sz="4000"/>
              <a:t> to </a:t>
            </a:r>
            <a:r>
              <a:rPr lang="en-US" sz="4000" b="1"/>
              <a:t>25%</a:t>
            </a:r>
            <a:r>
              <a:rPr lang="en-US" sz="4000"/>
              <a:t>?  </a:t>
            </a:r>
          </a:p>
          <a:p>
            <a:pPr algn="ctr"/>
            <a:r>
              <a:rPr lang="en-US" sz="4000"/>
              <a:t>You may select </a:t>
            </a:r>
            <a:r>
              <a:rPr lang="en-US" sz="4000" b="1"/>
              <a:t>more than one </a:t>
            </a:r>
            <a:r>
              <a:rPr lang="en-US" sz="4000"/>
              <a:t>answer. </a:t>
            </a:r>
          </a:p>
        </p:txBody>
      </p:sp>
      <p:sp>
        <p:nvSpPr>
          <p:cNvPr id="9" name="TextBox 8">
            <a:extLst>
              <a:ext uri="{FF2B5EF4-FFF2-40B4-BE49-F238E27FC236}">
                <a16:creationId xmlns:a16="http://schemas.microsoft.com/office/drawing/2014/main" id="{055D882C-AF43-C390-844D-CF785253532C}"/>
              </a:ext>
            </a:extLst>
          </p:cNvPr>
          <p:cNvSpPr txBox="1"/>
          <p:nvPr/>
        </p:nvSpPr>
        <p:spPr>
          <a:xfrm>
            <a:off x="1260659" y="35974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C7FD032-036A-28DB-1BCD-6984FE532A27}"/>
                  </a:ext>
                </a:extLst>
              </p:cNvPr>
              <p:cNvSpPr txBox="1"/>
              <p:nvPr/>
            </p:nvSpPr>
            <p:spPr>
              <a:xfrm>
                <a:off x="1016489" y="4516130"/>
                <a:ext cx="1017767" cy="826936"/>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sz="4000" b="0" i="1" smtClean="0">
                              <a:solidFill>
                                <a:schemeClr val="tx1"/>
                              </a:solidFill>
                              <a:latin typeface="Cambria Math" panose="02040503050406030204" pitchFamily="18" charset="0"/>
                            </a:rPr>
                          </m:ctrlPr>
                        </m:fPr>
                        <m:num>
                          <m:r>
                            <a:rPr lang="en-AU" sz="4000" b="0" i="1" smtClean="0">
                              <a:solidFill>
                                <a:schemeClr val="tx1"/>
                              </a:solidFill>
                              <a:latin typeface="Cambria Math" panose="02040503050406030204" pitchFamily="18" charset="0"/>
                            </a:rPr>
                            <m:t>25</m:t>
                          </m:r>
                        </m:num>
                        <m:den>
                          <m:r>
                            <a:rPr lang="en-AU" sz="4000" b="0" i="1" smtClean="0">
                              <a:solidFill>
                                <a:schemeClr val="tx1"/>
                              </a:solidFill>
                              <a:latin typeface="Cambria Math" panose="02040503050406030204" pitchFamily="18" charset="0"/>
                            </a:rPr>
                            <m:t>100</m:t>
                          </m:r>
                        </m:den>
                      </m:f>
                    </m:oMath>
                  </m:oMathPara>
                </a14:m>
                <a:endParaRPr lang="en-AU" sz="4000">
                  <a:solidFill>
                    <a:schemeClr val="accent2"/>
                  </a:solidFill>
                </a:endParaRPr>
              </a:p>
            </p:txBody>
          </p:sp>
        </mc:Choice>
        <mc:Fallback xmlns="">
          <p:sp>
            <p:nvSpPr>
              <p:cNvPr id="5" name="TextBox 4">
                <a:extLst>
                  <a:ext uri="{FF2B5EF4-FFF2-40B4-BE49-F238E27FC236}">
                    <a16:creationId xmlns:a16="http://schemas.microsoft.com/office/drawing/2014/main" id="{BC7FD032-036A-28DB-1BCD-6984FE532A27}"/>
                  </a:ext>
                </a:extLst>
              </p:cNvPr>
              <p:cNvSpPr txBox="1">
                <a:spLocks noRot="1" noChangeAspect="1" noMove="1" noResize="1" noEditPoints="1" noAdjustHandles="1" noChangeArrowheads="1" noChangeShapeType="1" noTextEdit="1"/>
              </p:cNvSpPr>
              <p:nvPr/>
            </p:nvSpPr>
            <p:spPr>
              <a:xfrm>
                <a:off x="1016489" y="4516130"/>
                <a:ext cx="1017767" cy="826936"/>
              </a:xfrm>
              <a:prstGeom prst="rect">
                <a:avLst/>
              </a:prstGeom>
              <a:blipFill>
                <a:blip r:embed="rId4"/>
                <a:stretch>
                  <a:fillRect b="-41481"/>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3A7CB9AE-0F31-FA92-BCB3-C4AD3EF18B05}"/>
              </a:ext>
            </a:extLst>
          </p:cNvPr>
          <p:cNvSpPr txBox="1"/>
          <p:nvPr/>
        </p:nvSpPr>
        <p:spPr>
          <a:xfrm>
            <a:off x="4203836" y="35974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EAFE2FA-3428-A63C-0174-1FE5BEBC3081}"/>
                  </a:ext>
                </a:extLst>
              </p:cNvPr>
              <p:cNvSpPr txBox="1"/>
              <p:nvPr/>
            </p:nvSpPr>
            <p:spPr>
              <a:xfrm>
                <a:off x="4031228" y="4776066"/>
                <a:ext cx="1017767" cy="826936"/>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r>
                        <a:rPr lang="en-AU" sz="4000" b="0" i="1" smtClean="0">
                          <a:solidFill>
                            <a:schemeClr val="tx1"/>
                          </a:solidFill>
                          <a:latin typeface="Cambria Math" panose="02040503050406030204" pitchFamily="18" charset="0"/>
                        </a:rPr>
                        <m:t>0.25</m:t>
                      </m:r>
                    </m:oMath>
                  </m:oMathPara>
                </a14:m>
                <a:endParaRPr lang="en-AU" sz="4000">
                  <a:solidFill>
                    <a:schemeClr val="tx1"/>
                  </a:solidFill>
                </a:endParaRPr>
              </a:p>
            </p:txBody>
          </p:sp>
        </mc:Choice>
        <mc:Fallback xmlns="">
          <p:sp>
            <p:nvSpPr>
              <p:cNvPr id="6" name="TextBox 5">
                <a:extLst>
                  <a:ext uri="{FF2B5EF4-FFF2-40B4-BE49-F238E27FC236}">
                    <a16:creationId xmlns:a16="http://schemas.microsoft.com/office/drawing/2014/main" id="{9EAFE2FA-3428-A63C-0174-1FE5BEBC3081}"/>
                  </a:ext>
                </a:extLst>
              </p:cNvPr>
              <p:cNvSpPr txBox="1">
                <a:spLocks noRot="1" noChangeAspect="1" noMove="1" noResize="1" noEditPoints="1" noAdjustHandles="1" noChangeArrowheads="1" noChangeShapeType="1" noTextEdit="1"/>
              </p:cNvSpPr>
              <p:nvPr/>
            </p:nvSpPr>
            <p:spPr>
              <a:xfrm>
                <a:off x="4031228" y="4776066"/>
                <a:ext cx="1017767" cy="826936"/>
              </a:xfrm>
              <a:prstGeom prst="rect">
                <a:avLst/>
              </a:prstGeom>
              <a:blipFill>
                <a:blip r:embed="rId5"/>
                <a:stretch>
                  <a:fillRect l="-599"/>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2ADCA88-1230-AEE8-EFD6-D8F0DF7EEE5C}"/>
              </a:ext>
            </a:extLst>
          </p:cNvPr>
          <p:cNvSpPr txBox="1"/>
          <p:nvPr/>
        </p:nvSpPr>
        <p:spPr>
          <a:xfrm>
            <a:off x="7194022" y="35974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D4074BF-9194-55DE-E1AD-318AE6D23620}"/>
                  </a:ext>
                </a:extLst>
              </p:cNvPr>
              <p:cNvSpPr txBox="1"/>
              <p:nvPr/>
            </p:nvSpPr>
            <p:spPr>
              <a:xfrm>
                <a:off x="6949852" y="4776066"/>
                <a:ext cx="1017767" cy="826936"/>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r>
                        <a:rPr lang="en-AU" sz="4000" b="0" i="1" smtClean="0">
                          <a:solidFill>
                            <a:schemeClr val="tx1"/>
                          </a:solidFill>
                          <a:latin typeface="Cambria Math" panose="02040503050406030204" pitchFamily="18" charset="0"/>
                        </a:rPr>
                        <m:t>2.5</m:t>
                      </m:r>
                    </m:oMath>
                  </m:oMathPara>
                </a14:m>
                <a:endParaRPr lang="en-AU" sz="4000">
                  <a:solidFill>
                    <a:schemeClr val="tx1"/>
                  </a:solidFill>
                </a:endParaRPr>
              </a:p>
            </p:txBody>
          </p:sp>
        </mc:Choice>
        <mc:Fallback xmlns="">
          <p:sp>
            <p:nvSpPr>
              <p:cNvPr id="8" name="TextBox 7">
                <a:extLst>
                  <a:ext uri="{FF2B5EF4-FFF2-40B4-BE49-F238E27FC236}">
                    <a16:creationId xmlns:a16="http://schemas.microsoft.com/office/drawing/2014/main" id="{2D4074BF-9194-55DE-E1AD-318AE6D23620}"/>
                  </a:ext>
                </a:extLst>
              </p:cNvPr>
              <p:cNvSpPr txBox="1">
                <a:spLocks noRot="1" noChangeAspect="1" noMove="1" noResize="1" noEditPoints="1" noAdjustHandles="1" noChangeArrowheads="1" noChangeShapeType="1" noTextEdit="1"/>
              </p:cNvSpPr>
              <p:nvPr/>
            </p:nvSpPr>
            <p:spPr>
              <a:xfrm>
                <a:off x="6949852" y="4776066"/>
                <a:ext cx="1017767" cy="826936"/>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2C63D4C-D53C-5250-A986-AB949B67DEB8}"/>
              </a:ext>
            </a:extLst>
          </p:cNvPr>
          <p:cNvSpPr txBox="1"/>
          <p:nvPr/>
        </p:nvSpPr>
        <p:spPr>
          <a:xfrm>
            <a:off x="9919493" y="359746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1DBA88-66CA-0DF1-1C00-3A0CCC49E06D}"/>
                  </a:ext>
                </a:extLst>
              </p:cNvPr>
              <p:cNvSpPr txBox="1"/>
              <p:nvPr/>
            </p:nvSpPr>
            <p:spPr>
              <a:xfrm>
                <a:off x="9615212" y="4516130"/>
                <a:ext cx="1017767" cy="826936"/>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sz="4000" b="0" i="1" smtClean="0">
                              <a:solidFill>
                                <a:schemeClr val="tx1"/>
                              </a:solidFill>
                              <a:latin typeface="Cambria Math" panose="02040503050406030204" pitchFamily="18" charset="0"/>
                            </a:rPr>
                          </m:ctrlPr>
                        </m:fPr>
                        <m:num>
                          <m:r>
                            <a:rPr lang="en-AU" sz="4000" b="0" i="1" smtClean="0">
                              <a:solidFill>
                                <a:schemeClr val="tx1"/>
                              </a:solidFill>
                              <a:latin typeface="Cambria Math" panose="02040503050406030204" pitchFamily="18" charset="0"/>
                            </a:rPr>
                            <m:t>1</m:t>
                          </m:r>
                        </m:num>
                        <m:den>
                          <m:r>
                            <a:rPr lang="en-AU" sz="4000" b="0" i="1" smtClean="0">
                              <a:solidFill>
                                <a:schemeClr val="tx1"/>
                              </a:solidFill>
                              <a:latin typeface="Cambria Math" panose="02040503050406030204" pitchFamily="18" charset="0"/>
                            </a:rPr>
                            <m:t>4</m:t>
                          </m:r>
                        </m:den>
                      </m:f>
                    </m:oMath>
                  </m:oMathPara>
                </a14:m>
                <a:endParaRPr lang="en-AU" sz="4000">
                  <a:solidFill>
                    <a:schemeClr val="accent2"/>
                  </a:solidFill>
                </a:endParaRPr>
              </a:p>
            </p:txBody>
          </p:sp>
        </mc:Choice>
        <mc:Fallback xmlns="">
          <p:sp>
            <p:nvSpPr>
              <p:cNvPr id="7" name="TextBox 6">
                <a:extLst>
                  <a:ext uri="{FF2B5EF4-FFF2-40B4-BE49-F238E27FC236}">
                    <a16:creationId xmlns:a16="http://schemas.microsoft.com/office/drawing/2014/main" id="{BF1DBA88-66CA-0DF1-1C00-3A0CCC49E06D}"/>
                  </a:ext>
                </a:extLst>
              </p:cNvPr>
              <p:cNvSpPr txBox="1">
                <a:spLocks noRot="1" noChangeAspect="1" noMove="1" noResize="1" noEditPoints="1" noAdjustHandles="1" noChangeArrowheads="1" noChangeShapeType="1" noTextEdit="1"/>
              </p:cNvSpPr>
              <p:nvPr/>
            </p:nvSpPr>
            <p:spPr>
              <a:xfrm>
                <a:off x="9615212" y="4516130"/>
                <a:ext cx="1017767" cy="826936"/>
              </a:xfrm>
              <a:prstGeom prst="rect">
                <a:avLst/>
              </a:prstGeom>
              <a:blipFill>
                <a:blip r:embed="rId7"/>
                <a:stretch>
                  <a:fillRect b="-38519"/>
                </a:stretch>
              </a:blipFill>
            </p:spPr>
            <p:txBody>
              <a:bodyPr/>
              <a:lstStyle/>
              <a:p>
                <a:r>
                  <a:rPr lang="en-US">
                    <a:noFill/>
                  </a:rPr>
                  <a:t> </a:t>
                </a:r>
              </a:p>
            </p:txBody>
          </p:sp>
        </mc:Fallback>
      </mc:AlternateContent>
      <p:sp>
        <p:nvSpPr>
          <p:cNvPr id="14" name="Text Placeholder 5">
            <a:extLst>
              <a:ext uri="{FF2B5EF4-FFF2-40B4-BE49-F238E27FC236}">
                <a16:creationId xmlns:a16="http://schemas.microsoft.com/office/drawing/2014/main" id="{604FD176-7116-EA73-2809-41241C722AED}"/>
              </a:ext>
            </a:extLst>
          </p:cNvPr>
          <p:cNvSpPr txBox="1">
            <a:spLocks/>
          </p:cNvSpPr>
          <p:nvPr/>
        </p:nvSpPr>
        <p:spPr>
          <a:xfrm>
            <a:off x="600963" y="5596325"/>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8AD21B5F-0BA0-D534-3FC5-C18E38A176AB}"/>
              </a:ext>
            </a:extLst>
          </p:cNvPr>
          <p:cNvSpPr txBox="1"/>
          <p:nvPr/>
        </p:nvSpPr>
        <p:spPr>
          <a:xfrm>
            <a:off x="360000" y="916583"/>
            <a:ext cx="11378776" cy="1539461"/>
          </a:xfrm>
          <a:prstGeom prst="rect">
            <a:avLst/>
          </a:prstGeom>
          <a:noFill/>
        </p:spPr>
        <p:txBody>
          <a:bodyPr wrap="square" lIns="0" tIns="0" rIns="0" bIns="0" rtlCol="0">
            <a:noAutofit/>
          </a:bodyPr>
          <a:lstStyle/>
          <a:p>
            <a:pPr algn="ctr">
              <a:lnSpc>
                <a:spcPct val="150000"/>
              </a:lnSpc>
            </a:pPr>
            <a:r>
              <a:rPr lang="en-AU" sz="3600"/>
              <a:t>Record the </a:t>
            </a:r>
            <a:r>
              <a:rPr lang="en-AU" sz="3600">
                <a:solidFill>
                  <a:schemeClr val="accent2"/>
                </a:solidFill>
              </a:rPr>
              <a:t>5</a:t>
            </a:r>
            <a:r>
              <a:rPr lang="en-AU" sz="3600"/>
              <a:t> missing </a:t>
            </a:r>
            <a:r>
              <a:rPr lang="en-AU" sz="3600" b="1"/>
              <a:t>features</a:t>
            </a:r>
            <a:r>
              <a:rPr lang="en-AU" sz="3600"/>
              <a:t> labelled on the following </a:t>
            </a:r>
            <a:r>
              <a:rPr lang="en-AU" sz="3600" b="1"/>
              <a:t>three-dimensional shapes</a:t>
            </a:r>
            <a:r>
              <a:rPr lang="en-AU" sz="3600"/>
              <a:t>:</a:t>
            </a:r>
          </a:p>
        </p:txBody>
      </p:sp>
      <p:grpSp>
        <p:nvGrpSpPr>
          <p:cNvPr id="40" name="Group 39" descr="A cylinder with with arrows pointing to the features">
            <a:extLst>
              <a:ext uri="{FF2B5EF4-FFF2-40B4-BE49-F238E27FC236}">
                <a16:creationId xmlns:a16="http://schemas.microsoft.com/office/drawing/2014/main" id="{09CD04EF-626C-998C-C271-F0AECB8D4DE7}"/>
              </a:ext>
              <a:ext uri="{C183D7F6-B498-43B3-948B-1728B52AA6E4}">
                <adec:decorative xmlns:adec="http://schemas.microsoft.com/office/drawing/2017/decorative" val="0"/>
              </a:ext>
            </a:extLst>
          </p:cNvPr>
          <p:cNvGrpSpPr/>
          <p:nvPr/>
        </p:nvGrpSpPr>
        <p:grpSpPr>
          <a:xfrm>
            <a:off x="1023724" y="2426465"/>
            <a:ext cx="4802588" cy="3747067"/>
            <a:chOff x="0" y="2363086"/>
            <a:chExt cx="4802588" cy="3747067"/>
          </a:xfrm>
        </p:grpSpPr>
        <p:sp>
          <p:nvSpPr>
            <p:cNvPr id="8" name="Freeform 4" descr="Cylinder">
              <a:extLst>
                <a:ext uri="{FF2B5EF4-FFF2-40B4-BE49-F238E27FC236}">
                  <a16:creationId xmlns:a16="http://schemas.microsoft.com/office/drawing/2014/main" id="{58141AA6-DAC6-DB2B-EF98-2EA794F0F66A}"/>
                </a:ext>
              </a:extLst>
            </p:cNvPr>
            <p:cNvSpPr/>
            <p:nvPr/>
          </p:nvSpPr>
          <p:spPr>
            <a:xfrm>
              <a:off x="1447138" y="3694262"/>
              <a:ext cx="1231249" cy="2415891"/>
            </a:xfrm>
            <a:custGeom>
              <a:avLst/>
              <a:gdLst/>
              <a:ahLst/>
              <a:cxnLst/>
              <a:rect l="l" t="t" r="r" b="b"/>
              <a:pathLst>
                <a:path w="1617225" h="2913919">
                  <a:moveTo>
                    <a:pt x="0" y="0"/>
                  </a:moveTo>
                  <a:lnTo>
                    <a:pt x="1617225" y="0"/>
                  </a:lnTo>
                  <a:lnTo>
                    <a:pt x="1617225" y="2913919"/>
                  </a:lnTo>
                  <a:lnTo>
                    <a:pt x="0" y="29139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TextBox 13">
              <a:extLst>
                <a:ext uri="{FF2B5EF4-FFF2-40B4-BE49-F238E27FC236}">
                  <a16:creationId xmlns:a16="http://schemas.microsoft.com/office/drawing/2014/main" id="{DAD9D7BB-516F-47B8-497B-6A20FBE1AA62}"/>
                </a:ext>
              </a:extLst>
            </p:cNvPr>
            <p:cNvSpPr txBox="1"/>
            <p:nvPr/>
          </p:nvSpPr>
          <p:spPr>
            <a:xfrm>
              <a:off x="2920664" y="5011978"/>
              <a:ext cx="1881924" cy="477078"/>
            </a:xfrm>
            <a:prstGeom prst="rect">
              <a:avLst/>
            </a:prstGeom>
            <a:noFill/>
          </p:spPr>
          <p:txBody>
            <a:bodyPr wrap="square" lIns="0" tIns="0" rIns="0" bIns="0" rtlCol="0">
              <a:noAutofit/>
            </a:bodyPr>
            <a:lstStyle/>
            <a:p>
              <a:pPr algn="ctr">
                <a:lnSpc>
                  <a:spcPct val="150000"/>
                </a:lnSpc>
              </a:pPr>
              <a:r>
                <a:rPr lang="en-AU" sz="3600"/>
                <a:t>2. ____</a:t>
              </a:r>
            </a:p>
            <a:p>
              <a:pPr algn="ctr">
                <a:lnSpc>
                  <a:spcPct val="150000"/>
                </a:lnSpc>
              </a:pPr>
              <a:r>
                <a:rPr lang="en-AU" sz="3600"/>
                <a:t>surface</a:t>
              </a:r>
            </a:p>
          </p:txBody>
        </p:sp>
        <p:sp>
          <p:nvSpPr>
            <p:cNvPr id="15" name="TextBox 14">
              <a:extLst>
                <a:ext uri="{FF2B5EF4-FFF2-40B4-BE49-F238E27FC236}">
                  <a16:creationId xmlns:a16="http://schemas.microsoft.com/office/drawing/2014/main" id="{9DCCBF78-1099-E5F1-0ADC-CA30C35FCF06}"/>
                </a:ext>
              </a:extLst>
            </p:cNvPr>
            <p:cNvSpPr txBox="1"/>
            <p:nvPr/>
          </p:nvSpPr>
          <p:spPr>
            <a:xfrm>
              <a:off x="0" y="2363086"/>
              <a:ext cx="1881924" cy="477078"/>
            </a:xfrm>
            <a:prstGeom prst="rect">
              <a:avLst/>
            </a:prstGeom>
            <a:noFill/>
          </p:spPr>
          <p:txBody>
            <a:bodyPr wrap="square" lIns="0" tIns="0" rIns="0" bIns="0" rtlCol="0">
              <a:noAutofit/>
            </a:bodyPr>
            <a:lstStyle/>
            <a:p>
              <a:pPr algn="ctr">
                <a:lnSpc>
                  <a:spcPct val="150000"/>
                </a:lnSpc>
              </a:pPr>
              <a:r>
                <a:rPr lang="en-AU" sz="3600"/>
                <a:t>1. ____</a:t>
              </a:r>
            </a:p>
            <a:p>
              <a:pPr algn="ctr">
                <a:lnSpc>
                  <a:spcPct val="150000"/>
                </a:lnSpc>
              </a:pPr>
              <a:r>
                <a:rPr lang="en-AU" sz="3600"/>
                <a:t>surface</a:t>
              </a:r>
            </a:p>
          </p:txBody>
        </p:sp>
        <p:cxnSp>
          <p:nvCxnSpPr>
            <p:cNvPr id="20" name="Straight Arrow Connector 19" descr="red arrow">
              <a:extLst>
                <a:ext uri="{FF2B5EF4-FFF2-40B4-BE49-F238E27FC236}">
                  <a16:creationId xmlns:a16="http://schemas.microsoft.com/office/drawing/2014/main" id="{1C073656-FF74-2A3D-A1BA-ADD64EA37AB9}"/>
                </a:ext>
              </a:extLst>
            </p:cNvPr>
            <p:cNvCxnSpPr>
              <a:cxnSpLocks/>
            </p:cNvCxnSpPr>
            <p:nvPr/>
          </p:nvCxnSpPr>
          <p:spPr>
            <a:xfrm>
              <a:off x="1669774" y="3345952"/>
              <a:ext cx="392988" cy="752946"/>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descr="red arrow">
              <a:extLst>
                <a:ext uri="{FF2B5EF4-FFF2-40B4-BE49-F238E27FC236}">
                  <a16:creationId xmlns:a16="http://schemas.microsoft.com/office/drawing/2014/main" id="{3A9D273E-6AB3-13D2-BDC9-8A05DFDB4A56}"/>
                </a:ext>
              </a:extLst>
            </p:cNvPr>
            <p:cNvCxnSpPr>
              <a:cxnSpLocks/>
            </p:cNvCxnSpPr>
            <p:nvPr/>
          </p:nvCxnSpPr>
          <p:spPr>
            <a:xfrm flipH="1" flipV="1">
              <a:off x="2365997" y="4902207"/>
              <a:ext cx="630442" cy="72462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descr="A pyramid with arrows pointing to the features">
            <a:extLst>
              <a:ext uri="{FF2B5EF4-FFF2-40B4-BE49-F238E27FC236}">
                <a16:creationId xmlns:a16="http://schemas.microsoft.com/office/drawing/2014/main" id="{07A7322C-593F-C8C3-0E86-959933BC2983}"/>
              </a:ext>
            </a:extLst>
          </p:cNvPr>
          <p:cNvGrpSpPr/>
          <p:nvPr/>
        </p:nvGrpSpPr>
        <p:grpSpPr>
          <a:xfrm>
            <a:off x="6540654" y="2678286"/>
            <a:ext cx="4336030" cy="3535807"/>
            <a:chOff x="6787970" y="2962193"/>
            <a:chExt cx="4336030" cy="3535807"/>
          </a:xfrm>
        </p:grpSpPr>
        <p:grpSp>
          <p:nvGrpSpPr>
            <p:cNvPr id="41" name="Group 40">
              <a:extLst>
                <a:ext uri="{FF2B5EF4-FFF2-40B4-BE49-F238E27FC236}">
                  <a16:creationId xmlns:a16="http://schemas.microsoft.com/office/drawing/2014/main" id="{3333E2D0-8140-7612-B0AB-551CA790C276}"/>
                </a:ext>
                <a:ext uri="{C183D7F6-B498-43B3-948B-1728B52AA6E4}">
                  <adec:decorative xmlns:adec="http://schemas.microsoft.com/office/drawing/2017/decorative" val="1"/>
                </a:ext>
              </a:extLst>
            </p:cNvPr>
            <p:cNvGrpSpPr/>
            <p:nvPr/>
          </p:nvGrpSpPr>
          <p:grpSpPr>
            <a:xfrm>
              <a:off x="6787970" y="2962193"/>
              <a:ext cx="4336030" cy="3535807"/>
              <a:chOff x="4060547" y="3107413"/>
              <a:chExt cx="4336030" cy="3535807"/>
            </a:xfrm>
          </p:grpSpPr>
          <p:sp>
            <p:nvSpPr>
              <p:cNvPr id="7" name="Freeform 3" descr="pyramid">
                <a:extLst>
                  <a:ext uri="{FF2B5EF4-FFF2-40B4-BE49-F238E27FC236}">
                    <a16:creationId xmlns:a16="http://schemas.microsoft.com/office/drawing/2014/main" id="{83DEA0EB-0DBA-9580-70C2-8E6CB326804B}"/>
                  </a:ext>
                </a:extLst>
              </p:cNvPr>
              <p:cNvSpPr/>
              <p:nvPr/>
            </p:nvSpPr>
            <p:spPr>
              <a:xfrm>
                <a:off x="4919766" y="3757872"/>
                <a:ext cx="1989642" cy="2125118"/>
              </a:xfrm>
              <a:custGeom>
                <a:avLst/>
                <a:gdLst/>
                <a:ahLst/>
                <a:cxnLst/>
                <a:rect l="l" t="t" r="r" b="b"/>
                <a:pathLst>
                  <a:path w="1989642" h="2125118">
                    <a:moveTo>
                      <a:pt x="0" y="0"/>
                    </a:moveTo>
                    <a:lnTo>
                      <a:pt x="1989642" y="0"/>
                    </a:lnTo>
                    <a:lnTo>
                      <a:pt x="1989642" y="2125118"/>
                    </a:lnTo>
                    <a:lnTo>
                      <a:pt x="0" y="21251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6" name="TextBox 15">
                <a:extLst>
                  <a:ext uri="{FF2B5EF4-FFF2-40B4-BE49-F238E27FC236}">
                    <a16:creationId xmlns:a16="http://schemas.microsoft.com/office/drawing/2014/main" id="{511EE276-DBC7-A278-1C73-0059C8A6A966}"/>
                  </a:ext>
                </a:extLst>
              </p:cNvPr>
              <p:cNvSpPr txBox="1"/>
              <p:nvPr/>
            </p:nvSpPr>
            <p:spPr>
              <a:xfrm>
                <a:off x="6806198" y="6140425"/>
                <a:ext cx="1590379" cy="477078"/>
              </a:xfrm>
              <a:prstGeom prst="rect">
                <a:avLst/>
              </a:prstGeom>
              <a:noFill/>
            </p:spPr>
            <p:txBody>
              <a:bodyPr wrap="square" lIns="0" tIns="0" rIns="0" bIns="0" rtlCol="0">
                <a:noAutofit/>
              </a:bodyPr>
              <a:lstStyle/>
              <a:p>
                <a:pPr algn="ctr"/>
                <a:r>
                  <a:rPr lang="en-AU" sz="3600"/>
                  <a:t>5. ____</a:t>
                </a:r>
              </a:p>
            </p:txBody>
          </p:sp>
          <p:sp>
            <p:nvSpPr>
              <p:cNvPr id="17" name="TextBox 16">
                <a:extLst>
                  <a:ext uri="{FF2B5EF4-FFF2-40B4-BE49-F238E27FC236}">
                    <a16:creationId xmlns:a16="http://schemas.microsoft.com/office/drawing/2014/main" id="{04A8E98B-0973-6BF3-5A9F-B1B2A5ACEBEC}"/>
                  </a:ext>
                </a:extLst>
              </p:cNvPr>
              <p:cNvSpPr txBox="1"/>
              <p:nvPr/>
            </p:nvSpPr>
            <p:spPr>
              <a:xfrm>
                <a:off x="4060547" y="3107413"/>
                <a:ext cx="1712099" cy="477078"/>
              </a:xfrm>
              <a:prstGeom prst="rect">
                <a:avLst/>
              </a:prstGeom>
              <a:noFill/>
            </p:spPr>
            <p:txBody>
              <a:bodyPr wrap="square" lIns="0" tIns="0" rIns="0" bIns="0" rtlCol="0">
                <a:noAutofit/>
              </a:bodyPr>
              <a:lstStyle/>
              <a:p>
                <a:pPr algn="ctr"/>
                <a:r>
                  <a:rPr lang="en-AU" sz="3600"/>
                  <a:t>3. ____</a:t>
                </a:r>
              </a:p>
            </p:txBody>
          </p:sp>
          <p:cxnSp>
            <p:nvCxnSpPr>
              <p:cNvPr id="23" name="Straight Arrow Connector 22" descr="red arrow">
                <a:extLst>
                  <a:ext uri="{FF2B5EF4-FFF2-40B4-BE49-F238E27FC236}">
                    <a16:creationId xmlns:a16="http://schemas.microsoft.com/office/drawing/2014/main" id="{A2ED544D-17A0-733B-1819-A3549A626885}"/>
                  </a:ext>
                </a:extLst>
              </p:cNvPr>
              <p:cNvCxnSpPr>
                <a:cxnSpLocks/>
              </p:cNvCxnSpPr>
              <p:nvPr/>
            </p:nvCxnSpPr>
            <p:spPr>
              <a:xfrm flipH="1" flipV="1">
                <a:off x="6049388" y="5882990"/>
                <a:ext cx="677054" cy="76023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descr="red arrow">
                <a:extLst>
                  <a:ext uri="{FF2B5EF4-FFF2-40B4-BE49-F238E27FC236}">
                    <a16:creationId xmlns:a16="http://schemas.microsoft.com/office/drawing/2014/main" id="{7057E52B-A1E7-5686-44EB-BCE073BA7403}"/>
                  </a:ext>
                </a:extLst>
              </p:cNvPr>
              <p:cNvCxnSpPr>
                <a:cxnSpLocks/>
              </p:cNvCxnSpPr>
              <p:nvPr/>
            </p:nvCxnSpPr>
            <p:spPr>
              <a:xfrm>
                <a:off x="4802588" y="3757872"/>
                <a:ext cx="650437" cy="83910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descr="red arrow">
                <a:extLst>
                  <a:ext uri="{FF2B5EF4-FFF2-40B4-BE49-F238E27FC236}">
                    <a16:creationId xmlns:a16="http://schemas.microsoft.com/office/drawing/2014/main" id="{607E1D0E-DDC6-537F-03F4-732A8B4C81D1}"/>
                  </a:ext>
                </a:extLst>
              </p:cNvPr>
              <p:cNvCxnSpPr>
                <a:cxnSpLocks/>
              </p:cNvCxnSpPr>
              <p:nvPr/>
            </p:nvCxnSpPr>
            <p:spPr>
              <a:xfrm flipH="1">
                <a:off x="6379060" y="4729126"/>
                <a:ext cx="288793" cy="55389"/>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AEA46C17-88FB-FB68-C3D6-0D879C59B034}"/>
                </a:ext>
              </a:extLst>
            </p:cNvPr>
            <p:cNvSpPr txBox="1"/>
            <p:nvPr/>
          </p:nvSpPr>
          <p:spPr>
            <a:xfrm>
              <a:off x="9327955" y="4197403"/>
              <a:ext cx="1712099" cy="477078"/>
            </a:xfrm>
            <a:prstGeom prst="rect">
              <a:avLst/>
            </a:prstGeom>
            <a:noFill/>
          </p:spPr>
          <p:txBody>
            <a:bodyPr wrap="square" lIns="0" tIns="0" rIns="0" bIns="0" rtlCol="0">
              <a:noAutofit/>
            </a:bodyPr>
            <a:lstStyle/>
            <a:p>
              <a:pPr algn="ctr"/>
              <a:r>
                <a:rPr lang="en-AU" sz="3600"/>
                <a:t>4. ____</a:t>
              </a:r>
            </a:p>
          </p:txBody>
        </p:sp>
      </p:gr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0A06C8A-660E-5F7A-01DE-0E02BEBB6B43}"/>
              </a:ext>
            </a:extLst>
          </p:cNvPr>
          <p:cNvSpPr txBox="1"/>
          <p:nvPr/>
        </p:nvSpPr>
        <p:spPr>
          <a:xfrm>
            <a:off x="79954" y="1001296"/>
            <a:ext cx="6575729" cy="5512535"/>
          </a:xfrm>
          <a:prstGeom prst="rect">
            <a:avLst/>
          </a:prstGeom>
          <a:noFill/>
        </p:spPr>
        <p:txBody>
          <a:bodyPr wrap="square">
            <a:spAutoFit/>
          </a:bodyPr>
          <a:lstStyle/>
          <a:p>
            <a:pPr>
              <a:lnSpc>
                <a:spcPct val="150000"/>
              </a:lnSpc>
              <a:spcBef>
                <a:spcPts val="1200"/>
              </a:spcBef>
              <a:spcAft>
                <a:spcPts val="600"/>
              </a:spcAft>
            </a:pPr>
            <a:r>
              <a:rPr lang="en-AU" sz="4200"/>
              <a:t>Record the </a:t>
            </a:r>
            <a:r>
              <a:rPr lang="en-AU" sz="4200" b="1"/>
              <a:t>coordinates</a:t>
            </a:r>
            <a:r>
              <a:rPr lang="en-AU" sz="4200"/>
              <a:t> for the following:</a:t>
            </a:r>
          </a:p>
          <a:p>
            <a:pPr marL="285750" indent="-285750">
              <a:lnSpc>
                <a:spcPct val="150000"/>
              </a:lnSpc>
              <a:spcBef>
                <a:spcPts val="1200"/>
              </a:spcBef>
              <a:spcAft>
                <a:spcPts val="600"/>
              </a:spcAft>
              <a:buFont typeface="Arial" panose="020B0604020202020204" pitchFamily="34" charset="0"/>
              <a:buChar char="•"/>
            </a:pPr>
            <a:r>
              <a:rPr lang="en-AU" sz="4200"/>
              <a:t>treasure chest’s latch</a:t>
            </a:r>
          </a:p>
          <a:p>
            <a:pPr marL="285750" indent="-285750">
              <a:lnSpc>
                <a:spcPct val="150000"/>
              </a:lnSpc>
              <a:spcBef>
                <a:spcPts val="1200"/>
              </a:spcBef>
              <a:spcAft>
                <a:spcPts val="600"/>
              </a:spcAft>
              <a:buFont typeface="Arial" panose="020B0604020202020204" pitchFamily="34" charset="0"/>
              <a:buChar char="•"/>
            </a:pPr>
            <a:r>
              <a:rPr lang="en-AU" sz="4200"/>
              <a:t>green fish </a:t>
            </a:r>
          </a:p>
          <a:p>
            <a:pPr marL="285750" indent="-285750">
              <a:lnSpc>
                <a:spcPct val="150000"/>
              </a:lnSpc>
              <a:spcBef>
                <a:spcPts val="1200"/>
              </a:spcBef>
              <a:spcAft>
                <a:spcPts val="600"/>
              </a:spcAft>
              <a:buFont typeface="Arial" panose="020B0604020202020204" pitchFamily="34" charset="0"/>
              <a:buChar char="•"/>
            </a:pPr>
            <a:r>
              <a:rPr lang="en-AU" sz="4200"/>
              <a:t>pirate’s face</a:t>
            </a:r>
          </a:p>
        </p:txBody>
      </p:sp>
      <p:pic>
        <p:nvPicPr>
          <p:cNvPr id="12" name="Picture 11" descr="A treasure chest with the latch circled.">
            <a:extLst>
              <a:ext uri="{FF2B5EF4-FFF2-40B4-BE49-F238E27FC236}">
                <a16:creationId xmlns:a16="http://schemas.microsoft.com/office/drawing/2014/main" id="{749171A4-71AC-C802-3863-B52D4204C221}"/>
              </a:ext>
            </a:extLst>
          </p:cNvPr>
          <p:cNvPicPr>
            <a:picLocks noChangeAspect="1"/>
          </p:cNvPicPr>
          <p:nvPr/>
        </p:nvPicPr>
        <p:blipFill>
          <a:blip r:embed="rId4"/>
          <a:stretch>
            <a:fillRect/>
          </a:stretch>
        </p:blipFill>
        <p:spPr>
          <a:xfrm>
            <a:off x="5668039" y="3340968"/>
            <a:ext cx="855917" cy="855917"/>
          </a:xfrm>
          <a:prstGeom prst="rect">
            <a:avLst/>
          </a:prstGeom>
        </p:spPr>
      </p:pic>
      <p:pic>
        <p:nvPicPr>
          <p:cNvPr id="8" name="Picture 7">
            <a:extLst>
              <a:ext uri="{FF2B5EF4-FFF2-40B4-BE49-F238E27FC236}">
                <a16:creationId xmlns:a16="http://schemas.microsoft.com/office/drawing/2014/main" id="{0E0413B4-A024-B978-862E-DB13D38CCAE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622181" y="4547372"/>
            <a:ext cx="640954" cy="580037"/>
          </a:xfrm>
          <a:prstGeom prst="rect">
            <a:avLst/>
          </a:prstGeom>
        </p:spPr>
      </p:pic>
      <p:pic>
        <p:nvPicPr>
          <p:cNvPr id="10" name="Picture 9">
            <a:extLst>
              <a:ext uri="{FF2B5EF4-FFF2-40B4-BE49-F238E27FC236}">
                <a16:creationId xmlns:a16="http://schemas.microsoft.com/office/drawing/2014/main" id="{1DA9B4A8-EC42-5A45-2E99-010F03DCB438}"/>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801502" y="5663008"/>
            <a:ext cx="519901" cy="834992"/>
          </a:xfrm>
          <a:prstGeom prst="rect">
            <a:avLst/>
          </a:prstGeom>
        </p:spPr>
      </p:pic>
      <p:pic>
        <p:nvPicPr>
          <p:cNvPr id="7" name="Picture 6">
            <a:extLst>
              <a:ext uri="{FF2B5EF4-FFF2-40B4-BE49-F238E27FC236}">
                <a16:creationId xmlns:a16="http://schemas.microsoft.com/office/drawing/2014/main" id="{15BF1EE4-B42F-6B22-8A5A-5A74AD6DF292}"/>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55683" y="1265247"/>
            <a:ext cx="5067935" cy="505841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4" name="TextBox 3">
            <a:extLst>
              <a:ext uri="{FF2B5EF4-FFF2-40B4-BE49-F238E27FC236}">
                <a16:creationId xmlns:a16="http://schemas.microsoft.com/office/drawing/2014/main" id="{CF8E7CC4-35C0-462F-B868-8D06B353F98B}"/>
              </a:ext>
            </a:extLst>
          </p:cNvPr>
          <p:cNvSpPr txBox="1"/>
          <p:nvPr/>
        </p:nvSpPr>
        <p:spPr>
          <a:xfrm>
            <a:off x="360000" y="1374173"/>
            <a:ext cx="11298804" cy="3681454"/>
          </a:xfrm>
          <a:prstGeom prst="rect">
            <a:avLst/>
          </a:prstGeom>
          <a:noFill/>
        </p:spPr>
        <p:txBody>
          <a:bodyPr wrap="square" lIns="0" tIns="0" rIns="0" bIns="0" rtlCol="0">
            <a:noAutofit/>
          </a:bodyPr>
          <a:lstStyle/>
          <a:p>
            <a:pPr algn="ctr">
              <a:lnSpc>
                <a:spcPct val="150000"/>
              </a:lnSpc>
            </a:pPr>
            <a:r>
              <a:rPr lang="en-AU" sz="4400"/>
              <a:t>Use an </a:t>
            </a:r>
            <a:r>
              <a:rPr lang="en-AU" sz="4400" b="1"/>
              <a:t>algorithm</a:t>
            </a:r>
            <a:r>
              <a:rPr lang="en-AU" sz="4400"/>
              <a:t> to solve:</a:t>
            </a:r>
          </a:p>
          <a:p>
            <a:pPr algn="ctr">
              <a:lnSpc>
                <a:spcPct val="150000"/>
              </a:lnSpc>
            </a:pPr>
            <a:r>
              <a:rPr lang="en-AU" sz="5400">
                <a:solidFill>
                  <a:schemeClr val="accent2">
                    <a:lumMod val="75000"/>
                  </a:schemeClr>
                </a:solidFill>
              </a:rPr>
              <a:t>48 x 36</a:t>
            </a:r>
          </a:p>
          <a:p>
            <a:pPr algn="ctr">
              <a:lnSpc>
                <a:spcPct val="150000"/>
              </a:lnSpc>
            </a:pPr>
            <a:endParaRPr lang="en-AU" sz="4400" b="1"/>
          </a:p>
          <a:p>
            <a:pPr algn="ctr"/>
            <a:endParaRPr lang="en-AU" sz="1800"/>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9" name="TextBox 8">
            <a:extLst>
              <a:ext uri="{FF2B5EF4-FFF2-40B4-BE49-F238E27FC236}">
                <a16:creationId xmlns:a16="http://schemas.microsoft.com/office/drawing/2014/main" id="{C129BB77-402E-22A7-850B-DD65766036E2}"/>
              </a:ext>
            </a:extLst>
          </p:cNvPr>
          <p:cNvSpPr txBox="1"/>
          <p:nvPr/>
        </p:nvSpPr>
        <p:spPr>
          <a:xfrm>
            <a:off x="640944" y="1002856"/>
            <a:ext cx="10483056" cy="1824923"/>
          </a:xfrm>
          <a:prstGeom prst="rect">
            <a:avLst/>
          </a:prstGeom>
          <a:noFill/>
        </p:spPr>
        <p:txBody>
          <a:bodyPr wrap="square">
            <a:spAutoFit/>
          </a:bodyPr>
          <a:lstStyle/>
          <a:p>
            <a:pPr algn="ctr">
              <a:lnSpc>
                <a:spcPct val="150000"/>
              </a:lnSpc>
              <a:spcBef>
                <a:spcPts val="1200"/>
              </a:spcBef>
              <a:spcAft>
                <a:spcPts val="600"/>
              </a:spcAft>
            </a:pPr>
            <a:r>
              <a:rPr lang="en-AU" sz="4000"/>
              <a:t>Name the </a:t>
            </a:r>
            <a:r>
              <a:rPr lang="en-AU" sz="4000" b="1"/>
              <a:t>dimensions </a:t>
            </a:r>
            <a:r>
              <a:rPr lang="en-AU" sz="4000"/>
              <a:t>of the prism by completing the labelled </a:t>
            </a:r>
            <a:r>
              <a:rPr lang="en-AU" sz="4000" b="1"/>
              <a:t>terms</a:t>
            </a:r>
            <a:r>
              <a:rPr lang="en-AU" sz="4000"/>
              <a:t>.</a:t>
            </a:r>
          </a:p>
        </p:txBody>
      </p:sp>
      <p:grpSp>
        <p:nvGrpSpPr>
          <p:cNvPr id="18" name="Group 17" descr="A rectangular prism with arrows indicating the dimensions. The incomplete terms l______, w______, h______ are labelled.">
            <a:extLst>
              <a:ext uri="{FF2B5EF4-FFF2-40B4-BE49-F238E27FC236}">
                <a16:creationId xmlns:a16="http://schemas.microsoft.com/office/drawing/2014/main" id="{05AAB7D5-E9FA-4F44-5550-437DA2D0735B}"/>
              </a:ext>
            </a:extLst>
          </p:cNvPr>
          <p:cNvGrpSpPr/>
          <p:nvPr/>
        </p:nvGrpSpPr>
        <p:grpSpPr>
          <a:xfrm>
            <a:off x="2860733" y="3169593"/>
            <a:ext cx="7278626" cy="3436407"/>
            <a:chOff x="4035015" y="3367402"/>
            <a:chExt cx="7278626" cy="3436407"/>
          </a:xfrm>
        </p:grpSpPr>
        <p:pic>
          <p:nvPicPr>
            <p:cNvPr id="11" name="Picture 10" descr="A rectangular prism">
              <a:extLst>
                <a:ext uri="{FF2B5EF4-FFF2-40B4-BE49-F238E27FC236}">
                  <a16:creationId xmlns:a16="http://schemas.microsoft.com/office/drawing/2014/main" id="{DBC1EE7A-61E7-9C65-790F-76502AB8481E}"/>
                </a:ext>
              </a:extLst>
            </p:cNvPr>
            <p:cNvPicPr>
              <a:picLocks noChangeAspect="1"/>
            </p:cNvPicPr>
            <p:nvPr/>
          </p:nvPicPr>
          <p:blipFill>
            <a:blip r:embed="rId4">
              <a:extLst>
                <a:ext uri="{28A0092B-C50C-407E-A947-70E740481C1C}">
                  <a14:useLocalDpi xmlns:a14="http://schemas.microsoft.com/office/drawing/2010/main" val="0"/>
                </a:ext>
              </a:extLst>
            </a:blip>
            <a:srcRect l="8701" t="14608" r="10980" b="15334"/>
            <a:stretch>
              <a:fillRect/>
            </a:stretch>
          </p:blipFill>
          <p:spPr>
            <a:xfrm>
              <a:off x="4035015" y="3367402"/>
              <a:ext cx="4427230" cy="2730126"/>
            </a:xfrm>
            <a:prstGeom prst="rect">
              <a:avLst/>
            </a:prstGeom>
            <a:ln>
              <a:noFill/>
            </a:ln>
            <a:effectLst/>
          </p:spPr>
        </p:pic>
        <p:cxnSp>
          <p:nvCxnSpPr>
            <p:cNvPr id="5" name="Straight Arrow Connector 4">
              <a:extLst>
                <a:ext uri="{FF2B5EF4-FFF2-40B4-BE49-F238E27FC236}">
                  <a16:creationId xmlns:a16="http://schemas.microsoft.com/office/drawing/2014/main" id="{1BAD62A6-4EE0-9FF5-F447-C2171D27D924}"/>
                </a:ext>
              </a:extLst>
            </p:cNvPr>
            <p:cNvCxnSpPr>
              <a:cxnSpLocks/>
            </p:cNvCxnSpPr>
            <p:nvPr/>
          </p:nvCxnSpPr>
          <p:spPr>
            <a:xfrm>
              <a:off x="4035015" y="6097528"/>
              <a:ext cx="3655570" cy="0"/>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27EEE7D-1DC2-0192-2620-3664F08B2B12}"/>
                </a:ext>
              </a:extLst>
            </p:cNvPr>
            <p:cNvCxnSpPr>
              <a:cxnSpLocks/>
            </p:cNvCxnSpPr>
            <p:nvPr/>
          </p:nvCxnSpPr>
          <p:spPr>
            <a:xfrm flipV="1">
              <a:off x="7719462" y="5313145"/>
              <a:ext cx="771660" cy="739388"/>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4C131FB-69DF-D5D1-F06A-505CB8F1459E}"/>
                </a:ext>
              </a:extLst>
            </p:cNvPr>
            <p:cNvCxnSpPr>
              <a:cxnSpLocks/>
            </p:cNvCxnSpPr>
            <p:nvPr/>
          </p:nvCxnSpPr>
          <p:spPr>
            <a:xfrm flipV="1">
              <a:off x="8491122" y="3429000"/>
              <a:ext cx="0" cy="1799869"/>
            </a:xfrm>
            <a:prstGeom prst="straightConnector1">
              <a:avLst/>
            </a:prstGeom>
            <a:ln w="381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9507ADE-A327-D1CC-6DBE-B73B6A35BB05}"/>
                </a:ext>
              </a:extLst>
            </p:cNvPr>
            <p:cNvSpPr txBox="1"/>
            <p:nvPr/>
          </p:nvSpPr>
          <p:spPr>
            <a:xfrm>
              <a:off x="8438094" y="3959118"/>
              <a:ext cx="2875547" cy="664143"/>
            </a:xfrm>
            <a:prstGeom prst="rect">
              <a:avLst/>
            </a:prstGeom>
            <a:noFill/>
          </p:spPr>
          <p:txBody>
            <a:bodyPr wrap="square" lIns="0" tIns="0" rIns="0" bIns="0" rtlCol="0">
              <a:noAutofit/>
            </a:bodyPr>
            <a:lstStyle/>
            <a:p>
              <a:pPr algn="ctr"/>
              <a:r>
                <a:rPr lang="en-AU" sz="3600"/>
                <a:t>h _______</a:t>
              </a:r>
            </a:p>
          </p:txBody>
        </p:sp>
        <p:sp>
          <p:nvSpPr>
            <p:cNvPr id="16" name="TextBox 15">
              <a:extLst>
                <a:ext uri="{FF2B5EF4-FFF2-40B4-BE49-F238E27FC236}">
                  <a16:creationId xmlns:a16="http://schemas.microsoft.com/office/drawing/2014/main" id="{F870873E-F26E-6AD7-D1DE-EA72CEAC7C97}"/>
                </a:ext>
              </a:extLst>
            </p:cNvPr>
            <p:cNvSpPr txBox="1"/>
            <p:nvPr/>
          </p:nvSpPr>
          <p:spPr>
            <a:xfrm>
              <a:off x="8154929" y="5475523"/>
              <a:ext cx="2875547" cy="664143"/>
            </a:xfrm>
            <a:prstGeom prst="rect">
              <a:avLst/>
            </a:prstGeom>
            <a:noFill/>
          </p:spPr>
          <p:txBody>
            <a:bodyPr wrap="square" lIns="0" tIns="0" rIns="0" bIns="0" rtlCol="0">
              <a:noAutofit/>
            </a:bodyPr>
            <a:lstStyle/>
            <a:p>
              <a:pPr algn="ctr"/>
              <a:r>
                <a:rPr lang="en-AU" sz="3600"/>
                <a:t>w _______</a:t>
              </a:r>
            </a:p>
          </p:txBody>
        </p:sp>
        <p:sp>
          <p:nvSpPr>
            <p:cNvPr id="17" name="TextBox 16">
              <a:extLst>
                <a:ext uri="{FF2B5EF4-FFF2-40B4-BE49-F238E27FC236}">
                  <a16:creationId xmlns:a16="http://schemas.microsoft.com/office/drawing/2014/main" id="{05B54239-0F69-A28B-2B55-CF84ED1D57D4}"/>
                </a:ext>
              </a:extLst>
            </p:cNvPr>
            <p:cNvSpPr txBox="1"/>
            <p:nvPr/>
          </p:nvSpPr>
          <p:spPr>
            <a:xfrm>
              <a:off x="4425026" y="6139666"/>
              <a:ext cx="2875547" cy="664143"/>
            </a:xfrm>
            <a:prstGeom prst="rect">
              <a:avLst/>
            </a:prstGeom>
            <a:noFill/>
          </p:spPr>
          <p:txBody>
            <a:bodyPr wrap="square" lIns="0" tIns="0" rIns="0" bIns="0" rtlCol="0">
              <a:noAutofit/>
            </a:bodyPr>
            <a:lstStyle/>
            <a:p>
              <a:pPr algn="ctr"/>
              <a:r>
                <a:rPr lang="en-AU" sz="3600"/>
                <a:t>l _______</a:t>
              </a:r>
            </a:p>
          </p:txBody>
        </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sorting equivalent percentages, decimals and fractions</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6FD6CA0-95BB-1FE0-C864-8435103030F8}"/>
                  </a:ext>
                </a:extLst>
              </p:cNvPr>
              <p:cNvGraphicFramePr>
                <a:graphicFrameLocks noGrp="1"/>
              </p:cNvGraphicFramePr>
              <p:nvPr>
                <p:extLst>
                  <p:ext uri="{D42A27DB-BD31-4B8C-83A1-F6EECF244321}">
                    <p14:modId xmlns:p14="http://schemas.microsoft.com/office/powerpoint/2010/main" val="3020100581"/>
                  </p:ext>
                </p:extLst>
              </p:nvPr>
            </p:nvGraphicFramePr>
            <p:xfrm>
              <a:off x="260838" y="1538649"/>
              <a:ext cx="11583162" cy="4846248"/>
            </p:xfrm>
            <a:graphic>
              <a:graphicData uri="http://schemas.openxmlformats.org/drawingml/2006/table">
                <a:tbl>
                  <a:tblPr firstRow="1" bandRow="1">
                    <a:tableStyleId>{2D5ABB26-0587-4C30-8999-92F81FD0307C}</a:tableStyleId>
                  </a:tblPr>
                  <a:tblGrid>
                    <a:gridCol w="1930527">
                      <a:extLst>
                        <a:ext uri="{9D8B030D-6E8A-4147-A177-3AD203B41FA5}">
                          <a16:colId xmlns:a16="http://schemas.microsoft.com/office/drawing/2014/main" val="3872749534"/>
                        </a:ext>
                      </a:extLst>
                    </a:gridCol>
                    <a:gridCol w="1930527">
                      <a:extLst>
                        <a:ext uri="{9D8B030D-6E8A-4147-A177-3AD203B41FA5}">
                          <a16:colId xmlns:a16="http://schemas.microsoft.com/office/drawing/2014/main" val="1039119560"/>
                        </a:ext>
                      </a:extLst>
                    </a:gridCol>
                    <a:gridCol w="1930527">
                      <a:extLst>
                        <a:ext uri="{9D8B030D-6E8A-4147-A177-3AD203B41FA5}">
                          <a16:colId xmlns:a16="http://schemas.microsoft.com/office/drawing/2014/main" val="695696614"/>
                        </a:ext>
                      </a:extLst>
                    </a:gridCol>
                    <a:gridCol w="1930527">
                      <a:extLst>
                        <a:ext uri="{9D8B030D-6E8A-4147-A177-3AD203B41FA5}">
                          <a16:colId xmlns:a16="http://schemas.microsoft.com/office/drawing/2014/main" val="3925966403"/>
                        </a:ext>
                      </a:extLst>
                    </a:gridCol>
                    <a:gridCol w="1930527">
                      <a:extLst>
                        <a:ext uri="{9D8B030D-6E8A-4147-A177-3AD203B41FA5}">
                          <a16:colId xmlns:a16="http://schemas.microsoft.com/office/drawing/2014/main" val="165544352"/>
                        </a:ext>
                      </a:extLst>
                    </a:gridCol>
                    <a:gridCol w="1930527">
                      <a:extLst>
                        <a:ext uri="{9D8B030D-6E8A-4147-A177-3AD203B41FA5}">
                          <a16:colId xmlns:a16="http://schemas.microsoft.com/office/drawing/2014/main" val="2840233756"/>
                        </a:ext>
                      </a:extLst>
                    </a:gridCol>
                  </a:tblGrid>
                  <a:tr h="1211562">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50</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2</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4</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20</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794957"/>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5</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10</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3</m:t>
                                    </m:r>
                                  </m:num>
                                  <m:den>
                                    <m:r>
                                      <a:rPr lang="en-AU" sz="3600" b="0" i="1" smtClean="0">
                                        <a:latin typeface="Cambria Math" panose="02040503050406030204" pitchFamily="18" charset="0"/>
                                      </a:rPr>
                                      <m:t>4</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10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6140182"/>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75</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100</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771272"/>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25</m:t>
                                    </m:r>
                                  </m:num>
                                  <m:den>
                                    <m:r>
                                      <a:rPr lang="en-AU" sz="3600" b="0" i="1" smtClean="0">
                                        <a:latin typeface="Cambria Math" panose="02040503050406030204" pitchFamily="18" charset="0"/>
                                      </a:rPr>
                                      <m:t>100</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2</m:t>
                                    </m:r>
                                  </m:den>
                                </m:f>
                              </m:oMath>
                            </m:oMathPara>
                          </a14:m>
                          <a:endParaRPr lang="en-AU" sz="3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012820"/>
                      </a:ext>
                    </a:extLst>
                  </a:tr>
                </a:tbl>
              </a:graphicData>
            </a:graphic>
          </p:graphicFrame>
        </mc:Choice>
        <mc:Fallback xmlns="">
          <p:graphicFrame>
            <p:nvGraphicFramePr>
              <p:cNvPr id="3" name="Table 2">
                <a:extLst>
                  <a:ext uri="{FF2B5EF4-FFF2-40B4-BE49-F238E27FC236}">
                    <a16:creationId xmlns:a16="http://schemas.microsoft.com/office/drawing/2014/main" id="{E6FD6CA0-95BB-1FE0-C864-8435103030F8}"/>
                  </a:ext>
                </a:extLst>
              </p:cNvPr>
              <p:cNvGraphicFramePr>
                <a:graphicFrameLocks noGrp="1"/>
              </p:cNvGraphicFramePr>
              <p:nvPr>
                <p:extLst>
                  <p:ext uri="{D42A27DB-BD31-4B8C-83A1-F6EECF244321}">
                    <p14:modId xmlns:p14="http://schemas.microsoft.com/office/powerpoint/2010/main" val="3020100581"/>
                  </p:ext>
                </p:extLst>
              </p:nvPr>
            </p:nvGraphicFramePr>
            <p:xfrm>
              <a:off x="260838" y="1538649"/>
              <a:ext cx="11583162" cy="4846248"/>
            </p:xfrm>
            <a:graphic>
              <a:graphicData uri="http://schemas.openxmlformats.org/drawingml/2006/table">
                <a:tbl>
                  <a:tblPr firstRow="1" bandRow="1">
                    <a:tableStyleId>{2D5ABB26-0587-4C30-8999-92F81FD0307C}</a:tableStyleId>
                  </a:tblPr>
                  <a:tblGrid>
                    <a:gridCol w="1930527">
                      <a:extLst>
                        <a:ext uri="{9D8B030D-6E8A-4147-A177-3AD203B41FA5}">
                          <a16:colId xmlns:a16="http://schemas.microsoft.com/office/drawing/2014/main" val="3872749534"/>
                        </a:ext>
                      </a:extLst>
                    </a:gridCol>
                    <a:gridCol w="1930527">
                      <a:extLst>
                        <a:ext uri="{9D8B030D-6E8A-4147-A177-3AD203B41FA5}">
                          <a16:colId xmlns:a16="http://schemas.microsoft.com/office/drawing/2014/main" val="1039119560"/>
                        </a:ext>
                      </a:extLst>
                    </a:gridCol>
                    <a:gridCol w="1930527">
                      <a:extLst>
                        <a:ext uri="{9D8B030D-6E8A-4147-A177-3AD203B41FA5}">
                          <a16:colId xmlns:a16="http://schemas.microsoft.com/office/drawing/2014/main" val="695696614"/>
                        </a:ext>
                      </a:extLst>
                    </a:gridCol>
                    <a:gridCol w="1930527">
                      <a:extLst>
                        <a:ext uri="{9D8B030D-6E8A-4147-A177-3AD203B41FA5}">
                          <a16:colId xmlns:a16="http://schemas.microsoft.com/office/drawing/2014/main" val="3925966403"/>
                        </a:ext>
                      </a:extLst>
                    </a:gridCol>
                    <a:gridCol w="1930527">
                      <a:extLst>
                        <a:ext uri="{9D8B030D-6E8A-4147-A177-3AD203B41FA5}">
                          <a16:colId xmlns:a16="http://schemas.microsoft.com/office/drawing/2014/main" val="165544352"/>
                        </a:ext>
                      </a:extLst>
                    </a:gridCol>
                    <a:gridCol w="1930527">
                      <a:extLst>
                        <a:ext uri="{9D8B030D-6E8A-4147-A177-3AD203B41FA5}">
                          <a16:colId xmlns:a16="http://schemas.microsoft.com/office/drawing/2014/main" val="2840233756"/>
                        </a:ext>
                      </a:extLst>
                    </a:gridCol>
                  </a:tblGrid>
                  <a:tr h="12115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7538" r="-500315" b="-301005"/>
                          </a:stretch>
                        </a:blipFill>
                      </a:tcPr>
                    </a:tc>
                    <a:tc>
                      <a:txBody>
                        <a:bodyPr/>
                        <a:lstStyle/>
                        <a:p>
                          <a:pPr algn="ctr"/>
                          <a:r>
                            <a:rPr lang="en-AU" sz="3600"/>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266" t="-7538" r="-201266" b="-3010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7538" r="-100631" b="-3010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0000" t="-7538" r="-631" b="-301005"/>
                          </a:stretch>
                        </a:blipFill>
                      </a:tcPr>
                    </a:tc>
                    <a:extLst>
                      <a:ext uri="{0D108BD9-81ED-4DB2-BD59-A6C34878D82A}">
                        <a16:rowId xmlns:a16="http://schemas.microsoft.com/office/drawing/2014/main" val="237794957"/>
                      </a:ext>
                    </a:extLst>
                  </a:tr>
                  <a:tr h="12115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107538" r="-500315" b="-2010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15" t="-107538" r="-400315" b="-20100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15" t="-107538" r="-300315" b="-201005"/>
                          </a:stretch>
                        </a:blipFill>
                      </a:tcPr>
                    </a:tc>
                    <a:tc>
                      <a:txBody>
                        <a:bodyPr/>
                        <a:lstStyle/>
                        <a:p>
                          <a:pPr algn="ctr"/>
                          <a:r>
                            <a:rPr lang="en-AU" sz="360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107538" r="-100631" b="-201005"/>
                          </a:stretch>
                        </a:blipFill>
                      </a:tcPr>
                    </a:tc>
                    <a:tc>
                      <a:txBody>
                        <a:bodyPr/>
                        <a:lstStyle/>
                        <a:p>
                          <a:pPr algn="ctr"/>
                          <a:r>
                            <a:rPr lang="en-AU" sz="3600"/>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6140182"/>
                      </a:ext>
                    </a:extLst>
                  </a:tr>
                  <a:tr h="12115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207538" r="-500315" b="-101005"/>
                          </a:stretch>
                        </a:blipFill>
                      </a:tcPr>
                    </a:tc>
                    <a:tc>
                      <a:txBody>
                        <a:bodyPr/>
                        <a:lstStyle/>
                        <a:p>
                          <a:pPr algn="ctr"/>
                          <a:r>
                            <a:rPr lang="en-AU" sz="3600"/>
                            <a:t>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266" t="-207538" r="-201266" b="-101005"/>
                          </a:stretch>
                        </a:blipFill>
                      </a:tcPr>
                    </a:tc>
                    <a:tc>
                      <a:txBody>
                        <a:bodyPr/>
                        <a:lstStyle/>
                        <a:p>
                          <a:pPr algn="ctr"/>
                          <a:r>
                            <a:rPr lang="en-AU" sz="360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771272"/>
                      </a:ext>
                    </a:extLst>
                  </a:tr>
                  <a:tr h="12115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307538" r="-500315" b="-1005"/>
                          </a:stretch>
                        </a:blipFill>
                      </a:tcPr>
                    </a:tc>
                    <a:tc>
                      <a:txBody>
                        <a:bodyPr/>
                        <a:lstStyle/>
                        <a:p>
                          <a:pPr algn="ctr"/>
                          <a:r>
                            <a:rPr lang="en-AU" sz="3600"/>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360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307538" r="-100631" b="-1005"/>
                          </a:stretch>
                        </a:blipFill>
                      </a:tcPr>
                    </a:tc>
                    <a:tc>
                      <a:txBody>
                        <a:bodyPr/>
                        <a:lstStyle/>
                        <a:p>
                          <a:pPr algn="ctr"/>
                          <a:r>
                            <a:rPr lang="en-AU" sz="3600"/>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012820"/>
                      </a:ext>
                    </a:extLst>
                  </a:tr>
                </a:tbl>
              </a:graphicData>
            </a:graphic>
          </p:graphicFrame>
        </mc:Fallback>
      </mc:AlternateContent>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834395"/>
                <a:ext cx="11243037" cy="893226"/>
              </a:xfrm>
            </p:spPr>
            <p:txBody>
              <a:bodyPr/>
              <a:lstStyle/>
              <a:p>
                <a:pPr algn="ctr"/>
                <a14:m>
                  <m:oMath xmlns:m="http://schemas.openxmlformats.org/officeDocument/2006/math">
                    <m:f>
                      <m:fPr>
                        <m:ctrlPr>
                          <a:rPr lang="en-AU" sz="4400" b="0" i="1" smtClean="0">
                            <a:solidFill>
                              <a:schemeClr val="tx1"/>
                            </a:solidFill>
                            <a:latin typeface="Cambria Math" panose="02040503050406030204" pitchFamily="18" charset="0"/>
                          </a:rPr>
                        </m:ctrlPr>
                      </m:fPr>
                      <m:num>
                        <m:r>
                          <a:rPr lang="en-AU" sz="4400" b="0" i="1" smtClean="0">
                            <a:solidFill>
                              <a:schemeClr val="tx1"/>
                            </a:solidFill>
                            <a:latin typeface="Cambria Math" panose="02040503050406030204" pitchFamily="18" charset="0"/>
                          </a:rPr>
                          <m:t>1</m:t>
                        </m:r>
                      </m:num>
                      <m:den>
                        <m:r>
                          <a:rPr lang="en-AU" sz="4400" b="0" i="1" smtClean="0">
                            <a:solidFill>
                              <a:schemeClr val="tx1"/>
                            </a:solidFill>
                            <a:latin typeface="Cambria Math" panose="02040503050406030204" pitchFamily="18" charset="0"/>
                          </a:rPr>
                          <m:t>4</m:t>
                        </m:r>
                      </m:den>
                    </m:f>
                    <m:r>
                      <a:rPr lang="en-AU" sz="4400" b="0" i="1" smtClean="0">
                        <a:solidFill>
                          <a:schemeClr val="tx1"/>
                        </a:solidFill>
                        <a:latin typeface="Cambria Math" panose="02040503050406030204" pitchFamily="18" charset="0"/>
                      </a:rPr>
                      <m:t> </m:t>
                    </m:r>
                  </m:oMath>
                </a14:m>
                <a:r>
                  <a:rPr lang="en-AU" sz="4400">
                    <a:solidFill>
                      <a:schemeClr val="tx1"/>
                    </a:solidFill>
                  </a:rPr>
                  <a:t>is </a:t>
                </a:r>
                <a:r>
                  <a:rPr lang="en-AU" sz="4400" b="1">
                    <a:solidFill>
                      <a:schemeClr val="tx1"/>
                    </a:solidFill>
                  </a:rPr>
                  <a:t>equivalent</a:t>
                </a:r>
                <a:r>
                  <a:rPr lang="en-AU" sz="4400">
                    <a:solidFill>
                      <a:schemeClr val="tx1"/>
                    </a:solidFill>
                  </a:rPr>
                  <a:t> to 25%.</a:t>
                </a:r>
                <a:endParaRPr lang="en-AU" sz="4400"/>
              </a:p>
            </p:txBody>
          </p:sp>
        </mc:Choice>
        <mc:Fallback xmlns="">
          <p:sp>
            <p:nvSpPr>
              <p:cNvPr id="6" name="Text Placeholder 5">
                <a:extLst>
                  <a:ext uri="{FF2B5EF4-FFF2-40B4-BE49-F238E27FC236}">
                    <a16:creationId xmlns:a16="http://schemas.microsoft.com/office/drawing/2014/main" id="{8CC0313E-620B-44F6-1CF2-E78C8F63E324}"/>
                  </a:ext>
                </a:extLst>
              </p:cNvPr>
              <p:cNvSpPr>
                <a:spLocks noGrp="1" noRot="1" noChangeAspect="1" noMove="1" noResize="1" noEditPoints="1" noAdjustHandles="1" noChangeArrowheads="1" noChangeShapeType="1" noTextEdit="1"/>
              </p:cNvSpPr>
              <p:nvPr>
                <p:ph type="body" sz="quarter" idx="22"/>
              </p:nvPr>
            </p:nvSpPr>
            <p:spPr>
              <a:xfrm>
                <a:off x="474481" y="1834395"/>
                <a:ext cx="11243037" cy="893226"/>
              </a:xfrm>
              <a:blipFill>
                <a:blip r:embed="rId4"/>
                <a:stretch>
                  <a:fillRect b="-65753"/>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938944853"/>
              </p:ext>
            </p:extLst>
          </p:nvPr>
        </p:nvGraphicFramePr>
        <p:xfrm>
          <a:off x="2442981" y="416899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D683273A-E19A-5072-6DD5-7C8C808B509B}"/>
              </a:ext>
            </a:extLst>
          </p:cNvPr>
          <p:cNvSpPr txBox="1">
            <a:spLocks/>
          </p:cNvSpPr>
          <p:nvPr/>
        </p:nvSpPr>
        <p:spPr>
          <a:xfrm>
            <a:off x="474481"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98E3D9A-639E-9077-FCBF-319AC1340C99}"/>
              </a:ext>
            </a:extLst>
          </p:cNvPr>
          <p:cNvSpPr txBox="1"/>
          <p:nvPr/>
        </p:nvSpPr>
        <p:spPr>
          <a:xfrm>
            <a:off x="550831" y="1104710"/>
            <a:ext cx="10843716" cy="1446550"/>
          </a:xfrm>
          <a:prstGeom prst="rect">
            <a:avLst/>
          </a:prstGeom>
          <a:noFill/>
        </p:spPr>
        <p:txBody>
          <a:bodyPr wrap="square">
            <a:spAutoFit/>
          </a:bodyPr>
          <a:lstStyle/>
          <a:p>
            <a:pPr algn="ctr"/>
            <a:r>
              <a:rPr lang="en-AU" sz="4400" b="1" i="0">
                <a:solidFill>
                  <a:srgbClr val="000000"/>
                </a:solidFill>
                <a:effectLst/>
              </a:rPr>
              <a:t>Name</a:t>
            </a:r>
            <a:r>
              <a:rPr lang="en-AU" sz="4400" b="0" i="0">
                <a:solidFill>
                  <a:srgbClr val="000000"/>
                </a:solidFill>
                <a:effectLst/>
              </a:rPr>
              <a:t> these </a:t>
            </a:r>
            <a:r>
              <a:rPr lang="en-AU" sz="4400">
                <a:solidFill>
                  <a:srgbClr val="000000"/>
                </a:solidFill>
              </a:rPr>
              <a:t>three-dimensional objects </a:t>
            </a:r>
            <a:r>
              <a:rPr lang="en-AU" sz="4400" b="0" i="0">
                <a:solidFill>
                  <a:srgbClr val="000000"/>
                </a:solidFill>
                <a:effectLst/>
              </a:rPr>
              <a:t>according to their </a:t>
            </a:r>
            <a:r>
              <a:rPr lang="en-AU" sz="4400" b="1" i="0">
                <a:solidFill>
                  <a:srgbClr val="000000"/>
                </a:solidFill>
                <a:effectLst/>
              </a:rPr>
              <a:t>base</a:t>
            </a:r>
            <a:r>
              <a:rPr lang="en-AU" sz="4400" b="0" i="0">
                <a:solidFill>
                  <a:srgbClr val="000000"/>
                </a:solidFill>
                <a:effectLst/>
              </a:rPr>
              <a:t>:</a:t>
            </a:r>
            <a:endParaRPr lang="en-AU" sz="4400"/>
          </a:p>
        </p:txBody>
      </p:sp>
      <p:sp>
        <p:nvSpPr>
          <p:cNvPr id="10" name="TextBox 9">
            <a:extLst>
              <a:ext uri="{FF2B5EF4-FFF2-40B4-BE49-F238E27FC236}">
                <a16:creationId xmlns:a16="http://schemas.microsoft.com/office/drawing/2014/main" id="{A5DEA394-855D-8C39-1128-44003BEF9729}"/>
              </a:ext>
            </a:extLst>
          </p:cNvPr>
          <p:cNvSpPr txBox="1"/>
          <p:nvPr/>
        </p:nvSpPr>
        <p:spPr>
          <a:xfrm>
            <a:off x="1359673" y="2996664"/>
            <a:ext cx="659958" cy="638042"/>
          </a:xfrm>
          <a:prstGeom prst="rect">
            <a:avLst/>
          </a:prstGeom>
          <a:noFill/>
        </p:spPr>
        <p:txBody>
          <a:bodyPr wrap="square" lIns="0" tIns="0" rIns="0" bIns="0" rtlCol="0">
            <a:noAutofit/>
          </a:bodyPr>
          <a:lstStyle/>
          <a:p>
            <a:pPr algn="ctr"/>
            <a:r>
              <a:rPr lang="en-AU" sz="4400"/>
              <a:t>1.</a:t>
            </a:r>
          </a:p>
        </p:txBody>
      </p:sp>
      <p:sp>
        <p:nvSpPr>
          <p:cNvPr id="7" name="Freeform 2" descr="square pyramid">
            <a:extLst>
              <a:ext uri="{FF2B5EF4-FFF2-40B4-BE49-F238E27FC236}">
                <a16:creationId xmlns:a16="http://schemas.microsoft.com/office/drawing/2014/main" id="{E02D2427-3F73-45FD-DFF7-7B52D8A7B6CE}"/>
              </a:ext>
            </a:extLst>
          </p:cNvPr>
          <p:cNvSpPr/>
          <p:nvPr/>
        </p:nvSpPr>
        <p:spPr>
          <a:xfrm>
            <a:off x="1858673" y="3387247"/>
            <a:ext cx="1441117" cy="2200313"/>
          </a:xfrm>
          <a:custGeom>
            <a:avLst/>
            <a:gdLst/>
            <a:ahLst/>
            <a:cxnLst/>
            <a:rect l="l" t="t" r="r" b="b"/>
            <a:pathLst>
              <a:path w="1421048" h="1351772">
                <a:moveTo>
                  <a:pt x="0" y="0"/>
                </a:moveTo>
                <a:lnTo>
                  <a:pt x="1421048" y="0"/>
                </a:lnTo>
                <a:lnTo>
                  <a:pt x="1421048" y="1351772"/>
                </a:lnTo>
                <a:lnTo>
                  <a:pt x="0" y="135177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AU"/>
          </a:p>
        </p:txBody>
      </p:sp>
      <p:sp>
        <p:nvSpPr>
          <p:cNvPr id="11" name="TextBox 10">
            <a:extLst>
              <a:ext uri="{FF2B5EF4-FFF2-40B4-BE49-F238E27FC236}">
                <a16:creationId xmlns:a16="http://schemas.microsoft.com/office/drawing/2014/main" id="{27186B5C-3E95-8C0C-B759-274AA1D9337E}"/>
              </a:ext>
            </a:extLst>
          </p:cNvPr>
          <p:cNvSpPr txBox="1"/>
          <p:nvPr/>
        </p:nvSpPr>
        <p:spPr>
          <a:xfrm>
            <a:off x="4806603" y="2985361"/>
            <a:ext cx="659958" cy="638042"/>
          </a:xfrm>
          <a:prstGeom prst="rect">
            <a:avLst/>
          </a:prstGeom>
          <a:noFill/>
        </p:spPr>
        <p:txBody>
          <a:bodyPr wrap="square" lIns="0" tIns="0" rIns="0" bIns="0" rtlCol="0">
            <a:noAutofit/>
          </a:bodyPr>
          <a:lstStyle/>
          <a:p>
            <a:pPr algn="ctr"/>
            <a:r>
              <a:rPr lang="en-AU" sz="4400"/>
              <a:t>2.</a:t>
            </a:r>
          </a:p>
        </p:txBody>
      </p:sp>
      <p:sp>
        <p:nvSpPr>
          <p:cNvPr id="9" name="Freeform 4" descr="triangular prism">
            <a:extLst>
              <a:ext uri="{FF2B5EF4-FFF2-40B4-BE49-F238E27FC236}">
                <a16:creationId xmlns:a16="http://schemas.microsoft.com/office/drawing/2014/main" id="{E708BED2-A4A2-4B3D-D33F-17E81F9A892A}"/>
              </a:ext>
            </a:extLst>
          </p:cNvPr>
          <p:cNvSpPr/>
          <p:nvPr/>
        </p:nvSpPr>
        <p:spPr>
          <a:xfrm rot="301728">
            <a:off x="4985218" y="3904784"/>
            <a:ext cx="2298374" cy="1668118"/>
          </a:xfrm>
          <a:custGeom>
            <a:avLst/>
            <a:gdLst/>
            <a:ahLst/>
            <a:cxnLst/>
            <a:rect l="l" t="t" r="r" b="b"/>
            <a:pathLst>
              <a:path w="1852470" h="1278204">
                <a:moveTo>
                  <a:pt x="0" y="0"/>
                </a:moveTo>
                <a:lnTo>
                  <a:pt x="1852469" y="0"/>
                </a:lnTo>
                <a:lnTo>
                  <a:pt x="1852469" y="1278204"/>
                </a:lnTo>
                <a:lnTo>
                  <a:pt x="0" y="12782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2" name="TextBox 11">
            <a:extLst>
              <a:ext uri="{FF2B5EF4-FFF2-40B4-BE49-F238E27FC236}">
                <a16:creationId xmlns:a16="http://schemas.microsoft.com/office/drawing/2014/main" id="{CBDA0E87-C806-DBF6-82CD-02320F02E15A}"/>
              </a:ext>
            </a:extLst>
          </p:cNvPr>
          <p:cNvSpPr txBox="1"/>
          <p:nvPr/>
        </p:nvSpPr>
        <p:spPr>
          <a:xfrm>
            <a:off x="9174002" y="2996664"/>
            <a:ext cx="659958" cy="638042"/>
          </a:xfrm>
          <a:prstGeom prst="rect">
            <a:avLst/>
          </a:prstGeom>
          <a:noFill/>
        </p:spPr>
        <p:txBody>
          <a:bodyPr wrap="square" lIns="0" tIns="0" rIns="0" bIns="0" rtlCol="0">
            <a:noAutofit/>
          </a:bodyPr>
          <a:lstStyle/>
          <a:p>
            <a:pPr algn="ctr"/>
            <a:r>
              <a:rPr lang="en-AU" sz="4400"/>
              <a:t>3.</a:t>
            </a:r>
          </a:p>
        </p:txBody>
      </p:sp>
      <p:sp>
        <p:nvSpPr>
          <p:cNvPr id="8" name="Freeform 3" descr="triangular pyramid">
            <a:extLst>
              <a:ext uri="{FF2B5EF4-FFF2-40B4-BE49-F238E27FC236}">
                <a16:creationId xmlns:a16="http://schemas.microsoft.com/office/drawing/2014/main" id="{7A81A8E7-6115-7A89-86C0-CAD0B01D3494}"/>
              </a:ext>
            </a:extLst>
          </p:cNvPr>
          <p:cNvSpPr/>
          <p:nvPr/>
        </p:nvSpPr>
        <p:spPr>
          <a:xfrm>
            <a:off x="9166616" y="3706268"/>
            <a:ext cx="1957384" cy="1964157"/>
          </a:xfrm>
          <a:custGeom>
            <a:avLst/>
            <a:gdLst/>
            <a:ahLst/>
            <a:cxnLst/>
            <a:rect l="l" t="t" r="r" b="b"/>
            <a:pathLst>
              <a:path w="1387711" h="1300979">
                <a:moveTo>
                  <a:pt x="0" y="0"/>
                </a:moveTo>
                <a:lnTo>
                  <a:pt x="1387711" y="0"/>
                </a:lnTo>
                <a:lnTo>
                  <a:pt x="1387711" y="1300978"/>
                </a:lnTo>
                <a:lnTo>
                  <a:pt x="0" y="130097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2C29-3EFF-D36A-1AE4-56E94B0186A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AE49F94-31E1-D8BB-BFF6-D2297631C96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EE956A4-F13A-83DB-4CFE-4984F6E1966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FED8056-B0A2-CB70-84AD-D8B606ECA201}"/>
              </a:ext>
            </a:extLst>
          </p:cNvPr>
          <p:cNvSpPr txBox="1"/>
          <p:nvPr/>
        </p:nvSpPr>
        <p:spPr>
          <a:xfrm>
            <a:off x="520078" y="905601"/>
            <a:ext cx="10963922" cy="1635690"/>
          </a:xfrm>
          <a:prstGeom prst="rect">
            <a:avLst/>
          </a:prstGeom>
          <a:noFill/>
        </p:spPr>
        <p:txBody>
          <a:bodyPr wrap="square" lIns="0" tIns="0" rIns="0" bIns="0" rtlCol="0">
            <a:noAutofit/>
          </a:bodyPr>
          <a:lstStyle/>
          <a:p>
            <a:pPr algn="ctr"/>
            <a:r>
              <a:rPr lang="en-AU" sz="4000"/>
              <a:t>Record the </a:t>
            </a:r>
            <a:r>
              <a:rPr lang="en-AU" sz="4000" b="1"/>
              <a:t>coordinates</a:t>
            </a:r>
            <a:r>
              <a:rPr lang="en-AU" sz="4000"/>
              <a:t> of the missing points on the number planes:</a:t>
            </a:r>
          </a:p>
        </p:txBody>
      </p:sp>
      <p:sp>
        <p:nvSpPr>
          <p:cNvPr id="2" name="Slide Number Placeholder 1">
            <a:extLst>
              <a:ext uri="{FF2B5EF4-FFF2-40B4-BE49-F238E27FC236}">
                <a16:creationId xmlns:a16="http://schemas.microsoft.com/office/drawing/2014/main" id="{77D2BABD-C88D-8937-5649-6EA53F4CF9C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grpSp>
        <p:nvGrpSpPr>
          <p:cNvPr id="12" name="Group 11" descr="A: In the first Cartesian plane is a square drawn across all 4 quadrants with the coordinates (-3,1), (-3,-3), (1,-3) and with the fourth coordinate unlabelled. &#10;">
            <a:extLst>
              <a:ext uri="{FF2B5EF4-FFF2-40B4-BE49-F238E27FC236}">
                <a16:creationId xmlns:a16="http://schemas.microsoft.com/office/drawing/2014/main" id="{9E6F7BE3-0456-1DA0-51D7-F0320510CF3E}"/>
              </a:ext>
            </a:extLst>
          </p:cNvPr>
          <p:cNvGrpSpPr/>
          <p:nvPr/>
        </p:nvGrpSpPr>
        <p:grpSpPr>
          <a:xfrm>
            <a:off x="839056" y="2253730"/>
            <a:ext cx="3005698" cy="3698669"/>
            <a:chOff x="839056" y="2253730"/>
            <a:chExt cx="3005698" cy="3698669"/>
          </a:xfrm>
        </p:grpSpPr>
        <p:sp>
          <p:nvSpPr>
            <p:cNvPr id="5" name="TextBox 4">
              <a:extLst>
                <a:ext uri="{FF2B5EF4-FFF2-40B4-BE49-F238E27FC236}">
                  <a16:creationId xmlns:a16="http://schemas.microsoft.com/office/drawing/2014/main" id="{B35D1B82-809D-4DAB-E868-6A172E8F4A3E}"/>
                </a:ext>
              </a:extLst>
            </p:cNvPr>
            <p:cNvSpPr txBox="1"/>
            <p:nvPr/>
          </p:nvSpPr>
          <p:spPr>
            <a:xfrm flipH="1">
              <a:off x="925683" y="2253730"/>
              <a:ext cx="626638" cy="632249"/>
            </a:xfrm>
            <a:prstGeom prst="rect">
              <a:avLst/>
            </a:prstGeom>
            <a:noFill/>
          </p:spPr>
          <p:txBody>
            <a:bodyPr wrap="square" lIns="0" tIns="0" rIns="0" bIns="0" rtlCol="0">
              <a:noAutofit/>
            </a:bodyPr>
            <a:lstStyle/>
            <a:p>
              <a:pPr algn="ctr"/>
              <a:r>
                <a:rPr lang="en-AU" sz="4400"/>
                <a:t>A</a:t>
              </a:r>
              <a:endParaRPr lang="en-AU" sz="3600"/>
            </a:p>
          </p:txBody>
        </p:sp>
        <p:pic>
          <p:nvPicPr>
            <p:cNvPr id="11" name="Picture 10">
              <a:extLst>
                <a:ext uri="{FF2B5EF4-FFF2-40B4-BE49-F238E27FC236}">
                  <a16:creationId xmlns:a16="http://schemas.microsoft.com/office/drawing/2014/main" id="{5FE3B33C-EBDD-3EA5-B9F9-B63EABF8FDE1}"/>
                </a:ext>
              </a:extLst>
            </p:cNvPr>
            <p:cNvPicPr>
              <a:picLocks noChangeAspect="1"/>
            </p:cNvPicPr>
            <p:nvPr/>
          </p:nvPicPr>
          <p:blipFill>
            <a:blip r:embed="rId4"/>
            <a:stretch>
              <a:fillRect/>
            </a:stretch>
          </p:blipFill>
          <p:spPr>
            <a:xfrm>
              <a:off x="839056" y="2885980"/>
              <a:ext cx="3005698" cy="3066419"/>
            </a:xfrm>
            <a:prstGeom prst="rect">
              <a:avLst/>
            </a:prstGeom>
            <a:ln>
              <a:noFill/>
            </a:ln>
            <a:effectLst>
              <a:outerShdw blurRad="292100" dist="139700" dir="2700000" algn="tl" rotWithShape="0">
                <a:srgbClr val="333333">
                  <a:alpha val="65000"/>
                </a:srgbClr>
              </a:outerShdw>
            </a:effectLst>
          </p:spPr>
        </p:pic>
      </p:grpSp>
      <p:grpSp>
        <p:nvGrpSpPr>
          <p:cNvPr id="15" name="Group 14" descr="B: In the second cartesian plane is a triangle drawn across 3 quadrants with the coordinates (2,5), (2, -2) and the third coordinate unlabelled. &#10;">
            <a:extLst>
              <a:ext uri="{FF2B5EF4-FFF2-40B4-BE49-F238E27FC236}">
                <a16:creationId xmlns:a16="http://schemas.microsoft.com/office/drawing/2014/main" id="{EDD5A353-4083-C8D5-F689-2CB9974AA08B}"/>
              </a:ext>
            </a:extLst>
          </p:cNvPr>
          <p:cNvGrpSpPr/>
          <p:nvPr/>
        </p:nvGrpSpPr>
        <p:grpSpPr>
          <a:xfrm>
            <a:off x="4589228" y="2253729"/>
            <a:ext cx="3109694" cy="3698669"/>
            <a:chOff x="4589228" y="2253729"/>
            <a:chExt cx="3109694" cy="3698669"/>
          </a:xfrm>
        </p:grpSpPr>
        <p:sp>
          <p:nvSpPr>
            <p:cNvPr id="7" name="TextBox 6">
              <a:extLst>
                <a:ext uri="{FF2B5EF4-FFF2-40B4-BE49-F238E27FC236}">
                  <a16:creationId xmlns:a16="http://schemas.microsoft.com/office/drawing/2014/main" id="{45A2BC9D-647A-414A-D803-1600D4B50458}"/>
                </a:ext>
              </a:extLst>
            </p:cNvPr>
            <p:cNvSpPr txBox="1"/>
            <p:nvPr/>
          </p:nvSpPr>
          <p:spPr>
            <a:xfrm flipH="1">
              <a:off x="4589228" y="2253729"/>
              <a:ext cx="626638" cy="632249"/>
            </a:xfrm>
            <a:prstGeom prst="rect">
              <a:avLst/>
            </a:prstGeom>
            <a:noFill/>
          </p:spPr>
          <p:txBody>
            <a:bodyPr wrap="square" lIns="0" tIns="0" rIns="0" bIns="0" rtlCol="0">
              <a:noAutofit/>
            </a:bodyPr>
            <a:lstStyle/>
            <a:p>
              <a:pPr algn="ctr"/>
              <a:r>
                <a:rPr lang="en-AU" sz="4400"/>
                <a:t>B</a:t>
              </a:r>
              <a:endParaRPr lang="en-AU" sz="3600"/>
            </a:p>
          </p:txBody>
        </p:sp>
        <p:pic>
          <p:nvPicPr>
            <p:cNvPr id="14" name="Picture 13">
              <a:extLst>
                <a:ext uri="{FF2B5EF4-FFF2-40B4-BE49-F238E27FC236}">
                  <a16:creationId xmlns:a16="http://schemas.microsoft.com/office/drawing/2014/main" id="{069FA118-DCF7-9666-B23F-111EA1C9AA29}"/>
                </a:ext>
              </a:extLst>
            </p:cNvPr>
            <p:cNvPicPr>
              <a:picLocks noChangeAspect="1"/>
            </p:cNvPicPr>
            <p:nvPr/>
          </p:nvPicPr>
          <p:blipFill>
            <a:blip r:embed="rId5"/>
            <a:stretch>
              <a:fillRect/>
            </a:stretch>
          </p:blipFill>
          <p:spPr>
            <a:xfrm>
              <a:off x="4680552" y="2885979"/>
              <a:ext cx="3018370" cy="3066419"/>
            </a:xfrm>
            <a:prstGeom prst="rect">
              <a:avLst/>
            </a:prstGeom>
            <a:ln>
              <a:noFill/>
            </a:ln>
            <a:effectLst>
              <a:outerShdw blurRad="292100" dist="139700" dir="2700000" algn="tl" rotWithShape="0">
                <a:srgbClr val="333333">
                  <a:alpha val="65000"/>
                </a:srgbClr>
              </a:outerShdw>
            </a:effectLst>
          </p:spPr>
        </p:pic>
      </p:grpSp>
      <p:grpSp>
        <p:nvGrpSpPr>
          <p:cNvPr id="18" name="Group 17" descr="C: In the final Cartesian plane is a rectangle drawn across all 4 quadrants with the coordinates (4,5) and (-1,-5) with the remaining coordinates unlabelled. ">
            <a:extLst>
              <a:ext uri="{FF2B5EF4-FFF2-40B4-BE49-F238E27FC236}">
                <a16:creationId xmlns:a16="http://schemas.microsoft.com/office/drawing/2014/main" id="{101E7E45-9E47-B879-2875-8FDF52477139}"/>
              </a:ext>
            </a:extLst>
          </p:cNvPr>
          <p:cNvGrpSpPr/>
          <p:nvPr/>
        </p:nvGrpSpPr>
        <p:grpSpPr>
          <a:xfrm>
            <a:off x="8036614" y="2253728"/>
            <a:ext cx="3137855" cy="3698670"/>
            <a:chOff x="8036614" y="2253728"/>
            <a:chExt cx="3137855" cy="3698670"/>
          </a:xfrm>
        </p:grpSpPr>
        <p:sp>
          <p:nvSpPr>
            <p:cNvPr id="8" name="TextBox 7">
              <a:extLst>
                <a:ext uri="{FF2B5EF4-FFF2-40B4-BE49-F238E27FC236}">
                  <a16:creationId xmlns:a16="http://schemas.microsoft.com/office/drawing/2014/main" id="{8071E715-17F6-3FB1-2D8B-FBA87E1AA91F}"/>
                </a:ext>
              </a:extLst>
            </p:cNvPr>
            <p:cNvSpPr txBox="1"/>
            <p:nvPr/>
          </p:nvSpPr>
          <p:spPr>
            <a:xfrm flipH="1">
              <a:off x="8036614" y="2253728"/>
              <a:ext cx="626638" cy="632249"/>
            </a:xfrm>
            <a:prstGeom prst="rect">
              <a:avLst/>
            </a:prstGeom>
            <a:noFill/>
          </p:spPr>
          <p:txBody>
            <a:bodyPr wrap="square" lIns="0" tIns="0" rIns="0" bIns="0" rtlCol="0">
              <a:noAutofit/>
            </a:bodyPr>
            <a:lstStyle/>
            <a:p>
              <a:pPr algn="ctr"/>
              <a:r>
                <a:rPr lang="en-AU" sz="4400"/>
                <a:t>C</a:t>
              </a:r>
              <a:endParaRPr lang="en-AU" sz="3600"/>
            </a:p>
          </p:txBody>
        </p:sp>
        <p:pic>
          <p:nvPicPr>
            <p:cNvPr id="17" name="Picture 16">
              <a:extLst>
                <a:ext uri="{FF2B5EF4-FFF2-40B4-BE49-F238E27FC236}">
                  <a16:creationId xmlns:a16="http://schemas.microsoft.com/office/drawing/2014/main" id="{A9A58E9F-563B-433E-2739-27ADBF25EF80}"/>
                </a:ext>
              </a:extLst>
            </p:cNvPr>
            <p:cNvPicPr>
              <a:picLocks noChangeAspect="1"/>
            </p:cNvPicPr>
            <p:nvPr/>
          </p:nvPicPr>
          <p:blipFill>
            <a:blip r:embed="rId6"/>
            <a:stretch>
              <a:fillRect/>
            </a:stretch>
          </p:blipFill>
          <p:spPr>
            <a:xfrm>
              <a:off x="8198875" y="2885979"/>
              <a:ext cx="2975594" cy="3066419"/>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209806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013C521E-EE22-2CAC-17CA-DB2DE2DE7C37}"/>
              </a:ext>
            </a:extLst>
          </p:cNvPr>
          <p:cNvSpPr txBox="1"/>
          <p:nvPr/>
        </p:nvSpPr>
        <p:spPr>
          <a:xfrm>
            <a:off x="725585" y="905601"/>
            <a:ext cx="10304891" cy="4102873"/>
          </a:xfrm>
          <a:prstGeom prst="rect">
            <a:avLst/>
          </a:prstGeom>
          <a:noFill/>
        </p:spPr>
        <p:txBody>
          <a:bodyPr wrap="square" lIns="0" tIns="0" rIns="0" bIns="0" rtlCol="0">
            <a:noAutofit/>
          </a:bodyPr>
          <a:lstStyle/>
          <a:p>
            <a:pPr algn="ctr">
              <a:lnSpc>
                <a:spcPct val="150000"/>
              </a:lnSpc>
            </a:pPr>
            <a:r>
              <a:rPr lang="en-AU" sz="4200"/>
              <a:t>A toy factory produces </a:t>
            </a:r>
            <a:r>
              <a:rPr lang="en-AU" sz="4200">
                <a:solidFill>
                  <a:schemeClr val="accent2"/>
                </a:solidFill>
              </a:rPr>
              <a:t>624</a:t>
            </a:r>
            <a:r>
              <a:rPr lang="en-AU" sz="4200"/>
              <a:t> toy cars. The cars are packed into boxes that each hold </a:t>
            </a:r>
            <a:r>
              <a:rPr lang="en-AU" sz="4200">
                <a:solidFill>
                  <a:schemeClr val="accent2"/>
                </a:solidFill>
              </a:rPr>
              <a:t>7</a:t>
            </a:r>
            <a:r>
              <a:rPr lang="en-AU" sz="4200"/>
              <a:t> cars.</a:t>
            </a:r>
          </a:p>
          <a:p>
            <a:pPr marL="571500" indent="-571500" algn="ctr">
              <a:lnSpc>
                <a:spcPct val="150000"/>
              </a:lnSpc>
              <a:buFont typeface="Arial" panose="020B0604020202020204" pitchFamily="34" charset="0"/>
              <a:buChar char="•"/>
            </a:pPr>
            <a:r>
              <a:rPr lang="en-AU" sz="4200"/>
              <a:t>How many full boxes can the factory fill?</a:t>
            </a:r>
          </a:p>
          <a:p>
            <a:pPr marL="571500" indent="-571500" algn="ctr">
              <a:lnSpc>
                <a:spcPct val="150000"/>
              </a:lnSpc>
              <a:buFont typeface="Arial" panose="020B0604020202020204" pitchFamily="34" charset="0"/>
              <a:buChar char="•"/>
            </a:pPr>
            <a:r>
              <a:rPr lang="en-AU" sz="4200"/>
              <a:t>How many cars will be </a:t>
            </a:r>
            <a:r>
              <a:rPr lang="en-AU" sz="4200" b="1"/>
              <a:t>left over</a:t>
            </a:r>
            <a:r>
              <a:rPr lang="en-AU" sz="4200"/>
              <a:t>?</a:t>
            </a:r>
          </a:p>
          <a:p>
            <a:pPr algn="ctr"/>
            <a:endParaRPr lang="en-AU" sz="420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BEFD7E16-6F14-CFD8-A9A4-918754AB6822}"/>
              </a:ext>
            </a:extLst>
          </p:cNvPr>
          <p:cNvSpPr txBox="1"/>
          <p:nvPr/>
        </p:nvSpPr>
        <p:spPr>
          <a:xfrm>
            <a:off x="246024" y="905601"/>
            <a:ext cx="8437357" cy="4442316"/>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000"/>
              <a:t>Record the words that complete this statement:</a:t>
            </a:r>
          </a:p>
          <a:p>
            <a:pPr marL="571500" indent="-571500">
              <a:lnSpc>
                <a:spcPct val="150000"/>
              </a:lnSpc>
              <a:spcBef>
                <a:spcPts val="1200"/>
              </a:spcBef>
              <a:spcAft>
                <a:spcPts val="600"/>
              </a:spcAft>
              <a:buFont typeface="Arial" panose="020B0604020202020204" pitchFamily="34" charset="0"/>
              <a:buChar char="•"/>
            </a:pPr>
            <a:r>
              <a:rPr lang="en-AU" sz="4000"/>
              <a:t>This prism has ____ </a:t>
            </a:r>
            <a:r>
              <a:rPr lang="en-AU" sz="4000" b="1"/>
              <a:t>layers </a:t>
            </a:r>
            <a:r>
              <a:rPr lang="en-AU" sz="4000"/>
              <a:t>of ____ cubic-centimetre blocks. </a:t>
            </a:r>
          </a:p>
          <a:p>
            <a:pPr marL="571500" indent="-571500">
              <a:lnSpc>
                <a:spcPct val="150000"/>
              </a:lnSpc>
              <a:spcBef>
                <a:spcPts val="1200"/>
              </a:spcBef>
              <a:spcAft>
                <a:spcPts val="600"/>
              </a:spcAft>
              <a:buFont typeface="Arial" panose="020B0604020202020204" pitchFamily="34" charset="0"/>
              <a:buChar char="•"/>
            </a:pPr>
            <a:r>
              <a:rPr lang="en-AU" sz="4000"/>
              <a:t>Each </a:t>
            </a:r>
            <a:r>
              <a:rPr lang="en-AU" sz="4000" b="1"/>
              <a:t>layer</a:t>
            </a:r>
            <a:r>
              <a:rPr lang="en-AU" sz="4000"/>
              <a:t> is ____ rows of ____ blocks.</a:t>
            </a:r>
          </a:p>
        </p:txBody>
      </p:sp>
      <p:pic>
        <p:nvPicPr>
          <p:cNvPr id="9" name="Picture 8" descr="A prism made of cubic-centimetre blocks.">
            <a:extLst>
              <a:ext uri="{FF2B5EF4-FFF2-40B4-BE49-F238E27FC236}">
                <a16:creationId xmlns:a16="http://schemas.microsoft.com/office/drawing/2014/main" id="{DA9939E8-3B83-5853-0469-2546263E9C0C}"/>
              </a:ext>
            </a:extLst>
          </p:cNvPr>
          <p:cNvPicPr>
            <a:picLocks noChangeAspect="1"/>
          </p:cNvPicPr>
          <p:nvPr/>
        </p:nvPicPr>
        <p:blipFill>
          <a:blip r:embed="rId4">
            <a:extLst>
              <a:ext uri="{28A0092B-C50C-407E-A947-70E740481C1C}">
                <a14:useLocalDpi xmlns:a14="http://schemas.microsoft.com/office/drawing/2010/main" val="0"/>
              </a:ext>
            </a:extLst>
          </a:blip>
          <a:srcRect l="17574" r="20365"/>
          <a:stretch>
            <a:fillRect/>
          </a:stretch>
        </p:blipFill>
        <p:spPr>
          <a:xfrm>
            <a:off x="8683381" y="1693275"/>
            <a:ext cx="3262595" cy="3716753"/>
          </a:xfrm>
          <a:prstGeom prst="rect">
            <a:avLst/>
          </a:prstGeom>
          <a:ln>
            <a:noFill/>
          </a:ln>
          <a:effectLst/>
        </p:spPr>
      </p:pic>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matching equivalent percentages, decimals and fractions</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8EA96D4-DCF4-F56C-0AB8-6DF98379BBD6}"/>
                  </a:ext>
                </a:extLst>
              </p:cNvPr>
              <p:cNvGraphicFramePr>
                <a:graphicFrameLocks noGrp="1"/>
              </p:cNvGraphicFramePr>
              <p:nvPr>
                <p:extLst>
                  <p:ext uri="{D42A27DB-BD31-4B8C-83A1-F6EECF244321}">
                    <p14:modId xmlns:p14="http://schemas.microsoft.com/office/powerpoint/2010/main" val="4165143579"/>
                  </p:ext>
                </p:extLst>
              </p:nvPr>
            </p:nvGraphicFramePr>
            <p:xfrm>
              <a:off x="260838" y="1538649"/>
              <a:ext cx="11583162" cy="4846248"/>
            </p:xfrm>
            <a:graphic>
              <a:graphicData uri="http://schemas.openxmlformats.org/drawingml/2006/table">
                <a:tbl>
                  <a:tblPr firstRow="1" bandRow="1">
                    <a:tableStyleId>{2D5ABB26-0587-4C30-8999-92F81FD0307C}</a:tableStyleId>
                  </a:tblPr>
                  <a:tblGrid>
                    <a:gridCol w="1930527">
                      <a:extLst>
                        <a:ext uri="{9D8B030D-6E8A-4147-A177-3AD203B41FA5}">
                          <a16:colId xmlns:a16="http://schemas.microsoft.com/office/drawing/2014/main" val="3872749534"/>
                        </a:ext>
                      </a:extLst>
                    </a:gridCol>
                    <a:gridCol w="1930527">
                      <a:extLst>
                        <a:ext uri="{9D8B030D-6E8A-4147-A177-3AD203B41FA5}">
                          <a16:colId xmlns:a16="http://schemas.microsoft.com/office/drawing/2014/main" val="1039119560"/>
                        </a:ext>
                      </a:extLst>
                    </a:gridCol>
                    <a:gridCol w="1930527">
                      <a:extLst>
                        <a:ext uri="{9D8B030D-6E8A-4147-A177-3AD203B41FA5}">
                          <a16:colId xmlns:a16="http://schemas.microsoft.com/office/drawing/2014/main" val="695696614"/>
                        </a:ext>
                      </a:extLst>
                    </a:gridCol>
                    <a:gridCol w="1930527">
                      <a:extLst>
                        <a:ext uri="{9D8B030D-6E8A-4147-A177-3AD203B41FA5}">
                          <a16:colId xmlns:a16="http://schemas.microsoft.com/office/drawing/2014/main" val="3925966403"/>
                        </a:ext>
                      </a:extLst>
                    </a:gridCol>
                    <a:gridCol w="1930527">
                      <a:extLst>
                        <a:ext uri="{9D8B030D-6E8A-4147-A177-3AD203B41FA5}">
                          <a16:colId xmlns:a16="http://schemas.microsoft.com/office/drawing/2014/main" val="165544352"/>
                        </a:ext>
                      </a:extLst>
                    </a:gridCol>
                    <a:gridCol w="1930527">
                      <a:extLst>
                        <a:ext uri="{9D8B030D-6E8A-4147-A177-3AD203B41FA5}">
                          <a16:colId xmlns:a16="http://schemas.microsoft.com/office/drawing/2014/main" val="2840233756"/>
                        </a:ext>
                      </a:extLst>
                    </a:gridCol>
                  </a:tblGrid>
                  <a:tr h="1211562">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50</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2</m:t>
                                    </m:r>
                                  </m:num>
                                  <m:den>
                                    <m:r>
                                      <a:rPr lang="en-AU" sz="2800" b="0" i="1" smtClean="0">
                                        <a:latin typeface="Cambria Math" panose="02040503050406030204" pitchFamily="18" charset="0"/>
                                      </a:rPr>
                                      <m:t>2</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4</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20</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794957"/>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5</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10</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3</m:t>
                                    </m:r>
                                  </m:num>
                                  <m:den>
                                    <m:r>
                                      <a:rPr lang="en-AU" sz="2800" b="0" i="1" smtClean="0">
                                        <a:latin typeface="Cambria Math" panose="02040503050406030204" pitchFamily="18" charset="0"/>
                                      </a:rPr>
                                      <m:t>4</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10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6140182"/>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75</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100</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771272"/>
                      </a:ext>
                    </a:extLst>
                  </a:tr>
                  <a:tr h="1211562">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25</m:t>
                                    </m:r>
                                  </m:num>
                                  <m:den>
                                    <m:r>
                                      <a:rPr lang="en-AU" sz="2800" b="0" i="1" smtClean="0">
                                        <a:latin typeface="Cambria Math" panose="02040503050406030204" pitchFamily="18" charset="0"/>
                                      </a:rPr>
                                      <m:t>100</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2</m:t>
                                    </m:r>
                                  </m:den>
                                </m:f>
                              </m:oMath>
                            </m:oMathPara>
                          </a14:m>
                          <a:endParaRPr lang="en-AU"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012820"/>
                      </a:ext>
                    </a:extLst>
                  </a:tr>
                </a:tbl>
              </a:graphicData>
            </a:graphic>
          </p:graphicFrame>
        </mc:Choice>
        <mc:Fallback xmlns="">
          <p:graphicFrame>
            <p:nvGraphicFramePr>
              <p:cNvPr id="3" name="Table 2">
                <a:extLst>
                  <a:ext uri="{FF2B5EF4-FFF2-40B4-BE49-F238E27FC236}">
                    <a16:creationId xmlns:a16="http://schemas.microsoft.com/office/drawing/2014/main" id="{B8EA96D4-DCF4-F56C-0AB8-6DF98379BBD6}"/>
                  </a:ext>
                </a:extLst>
              </p:cNvPr>
              <p:cNvGraphicFramePr>
                <a:graphicFrameLocks noGrp="1"/>
              </p:cNvGraphicFramePr>
              <p:nvPr>
                <p:extLst>
                  <p:ext uri="{D42A27DB-BD31-4B8C-83A1-F6EECF244321}">
                    <p14:modId xmlns:p14="http://schemas.microsoft.com/office/powerpoint/2010/main" val="4165143579"/>
                  </p:ext>
                </p:extLst>
              </p:nvPr>
            </p:nvGraphicFramePr>
            <p:xfrm>
              <a:off x="260838" y="1538649"/>
              <a:ext cx="11583162" cy="4846248"/>
            </p:xfrm>
            <a:graphic>
              <a:graphicData uri="http://schemas.openxmlformats.org/drawingml/2006/table">
                <a:tbl>
                  <a:tblPr firstRow="1" bandRow="1">
                    <a:tableStyleId>{2D5ABB26-0587-4C30-8999-92F81FD0307C}</a:tableStyleId>
                  </a:tblPr>
                  <a:tblGrid>
                    <a:gridCol w="1930527">
                      <a:extLst>
                        <a:ext uri="{9D8B030D-6E8A-4147-A177-3AD203B41FA5}">
                          <a16:colId xmlns:a16="http://schemas.microsoft.com/office/drawing/2014/main" val="3872749534"/>
                        </a:ext>
                      </a:extLst>
                    </a:gridCol>
                    <a:gridCol w="1930527">
                      <a:extLst>
                        <a:ext uri="{9D8B030D-6E8A-4147-A177-3AD203B41FA5}">
                          <a16:colId xmlns:a16="http://schemas.microsoft.com/office/drawing/2014/main" val="1039119560"/>
                        </a:ext>
                      </a:extLst>
                    </a:gridCol>
                    <a:gridCol w="1930527">
                      <a:extLst>
                        <a:ext uri="{9D8B030D-6E8A-4147-A177-3AD203B41FA5}">
                          <a16:colId xmlns:a16="http://schemas.microsoft.com/office/drawing/2014/main" val="695696614"/>
                        </a:ext>
                      </a:extLst>
                    </a:gridCol>
                    <a:gridCol w="1930527">
                      <a:extLst>
                        <a:ext uri="{9D8B030D-6E8A-4147-A177-3AD203B41FA5}">
                          <a16:colId xmlns:a16="http://schemas.microsoft.com/office/drawing/2014/main" val="3925966403"/>
                        </a:ext>
                      </a:extLst>
                    </a:gridCol>
                    <a:gridCol w="1930527">
                      <a:extLst>
                        <a:ext uri="{9D8B030D-6E8A-4147-A177-3AD203B41FA5}">
                          <a16:colId xmlns:a16="http://schemas.microsoft.com/office/drawing/2014/main" val="165544352"/>
                        </a:ext>
                      </a:extLst>
                    </a:gridCol>
                    <a:gridCol w="1930527">
                      <a:extLst>
                        <a:ext uri="{9D8B030D-6E8A-4147-A177-3AD203B41FA5}">
                          <a16:colId xmlns:a16="http://schemas.microsoft.com/office/drawing/2014/main" val="2840233756"/>
                        </a:ext>
                      </a:extLst>
                    </a:gridCol>
                  </a:tblGrid>
                  <a:tr h="121156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503" r="-500315" b="-301005"/>
                          </a:stretch>
                        </a:blipFill>
                      </a:tcPr>
                    </a:tc>
                    <a:tc>
                      <a:txBody>
                        <a:bodyPr/>
                        <a:lstStyle/>
                        <a:p>
                          <a:pPr algn="ctr"/>
                          <a:r>
                            <a:rPr lang="en-AU" sz="28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266" t="-503" r="-201266" b="-3010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503" r="-100631" b="-3010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00000" t="-503" r="-631" b="-301005"/>
                          </a:stretch>
                        </a:blipFill>
                      </a:tcPr>
                    </a:tc>
                    <a:extLst>
                      <a:ext uri="{0D108BD9-81ED-4DB2-BD59-A6C34878D82A}">
                        <a16:rowId xmlns:a16="http://schemas.microsoft.com/office/drawing/2014/main" val="237794957"/>
                      </a:ext>
                    </a:extLst>
                  </a:tr>
                  <a:tr h="121156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100503" r="-500315" b="-2010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15" t="-100503" r="-400315" b="-20100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15" t="-100503" r="-300315" b="-201005"/>
                          </a:stretch>
                        </a:blipFill>
                      </a:tcPr>
                    </a:tc>
                    <a:tc>
                      <a:txBody>
                        <a:bodyPr/>
                        <a:lstStyle/>
                        <a:p>
                          <a:pPr algn="ctr"/>
                          <a:r>
                            <a:rPr lang="en-AU" sz="2800"/>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100503" r="-100631" b="-201005"/>
                          </a:stretch>
                        </a:blipFill>
                      </a:tcPr>
                    </a:tc>
                    <a:tc>
                      <a:txBody>
                        <a:bodyPr/>
                        <a:lstStyle/>
                        <a:p>
                          <a:pPr algn="ctr"/>
                          <a:r>
                            <a:rPr lang="en-AU" sz="2800"/>
                            <a:t>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6140182"/>
                      </a:ext>
                    </a:extLst>
                  </a:tr>
                  <a:tr h="121156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200503" r="-500315" b="-101005"/>
                          </a:stretch>
                        </a:blipFill>
                      </a:tcPr>
                    </a:tc>
                    <a:tc>
                      <a:txBody>
                        <a:bodyPr/>
                        <a:lstStyle/>
                        <a:p>
                          <a:pPr algn="ctr"/>
                          <a:r>
                            <a:rPr lang="en-AU" sz="2800"/>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1266" t="-200503" r="-201266" b="-101005"/>
                          </a:stretch>
                        </a:blipFill>
                      </a:tcPr>
                    </a:tc>
                    <a:tc>
                      <a:txBody>
                        <a:bodyPr/>
                        <a:lstStyle/>
                        <a:p>
                          <a:pPr algn="ctr"/>
                          <a:r>
                            <a:rPr lang="en-AU" sz="28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2771272"/>
                      </a:ext>
                    </a:extLst>
                  </a:tr>
                  <a:tr h="121156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5" t="-300503" r="-500315" b="-1005"/>
                          </a:stretch>
                        </a:blipFill>
                      </a:tcPr>
                    </a:tc>
                    <a:tc>
                      <a:txBody>
                        <a:bodyPr/>
                        <a:lstStyle/>
                        <a:p>
                          <a:pPr algn="ctr"/>
                          <a:r>
                            <a:rPr lang="en-AU" sz="280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8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000" t="-300503" r="-100631" b="-1005"/>
                          </a:stretch>
                        </a:blipFill>
                      </a:tcPr>
                    </a:tc>
                    <a:tc>
                      <a:txBody>
                        <a:bodyPr/>
                        <a:lstStyle/>
                        <a:p>
                          <a:pPr algn="ctr"/>
                          <a:r>
                            <a:rPr lang="en-AU" sz="2800"/>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012820"/>
                      </a:ext>
                    </a:extLst>
                  </a:tr>
                </a:tbl>
              </a:graphicData>
            </a:graphic>
          </p:graphicFrame>
        </mc:Fallback>
      </mc:AlternateContent>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360000" y="1045501"/>
            <a:ext cx="11243037" cy="893226"/>
          </a:xfrm>
        </p:spPr>
        <p:txBody>
          <a:bodyPr/>
          <a:lstStyle/>
          <a:p>
            <a:pPr algn="ctr"/>
            <a:r>
              <a:rPr lang="en-US" sz="4800"/>
              <a:t>Which bar has </a:t>
            </a:r>
            <a:r>
              <a:rPr lang="en-US" sz="4800" b="1"/>
              <a:t>0.75 </a:t>
            </a:r>
            <a:r>
              <a:rPr lang="en-US" sz="4800"/>
              <a:t>of the </a:t>
            </a:r>
            <a:r>
              <a:rPr lang="en-US" sz="4800" b="1"/>
              <a:t>whole</a:t>
            </a:r>
            <a:r>
              <a:rPr lang="en-US" sz="4800"/>
              <a:t> </a:t>
            </a:r>
          </a:p>
          <a:p>
            <a:pPr algn="ctr"/>
            <a:r>
              <a:rPr lang="en-US" sz="4800"/>
              <a:t>accurately shaded </a:t>
            </a:r>
            <a:r>
              <a:rPr lang="en-US" sz="4800" b="1">
                <a:solidFill>
                  <a:schemeClr val="accent1"/>
                </a:solidFill>
              </a:rPr>
              <a:t>blue</a:t>
            </a:r>
            <a:r>
              <a:rPr lang="en-US" sz="4800"/>
              <a:t>? </a:t>
            </a:r>
          </a:p>
        </p:txBody>
      </p:sp>
      <p:sp>
        <p:nvSpPr>
          <p:cNvPr id="9" name="TextBox 8">
            <a:extLst>
              <a:ext uri="{FF2B5EF4-FFF2-40B4-BE49-F238E27FC236}">
                <a16:creationId xmlns:a16="http://schemas.microsoft.com/office/drawing/2014/main" id="{AF13415D-5ABE-8CE1-9EF6-D83C6FF3BAC9}"/>
              </a:ext>
            </a:extLst>
          </p:cNvPr>
          <p:cNvSpPr txBox="1"/>
          <p:nvPr/>
        </p:nvSpPr>
        <p:spPr>
          <a:xfrm>
            <a:off x="1266559" y="327323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pic>
        <p:nvPicPr>
          <p:cNvPr id="19" name="Picture 18" descr="A bar displaying one quarter shaded.">
            <a:extLst>
              <a:ext uri="{FF2B5EF4-FFF2-40B4-BE49-F238E27FC236}">
                <a16:creationId xmlns:a16="http://schemas.microsoft.com/office/drawing/2014/main" id="{376AF3C0-D7AC-D541-540E-0332796B18EC}"/>
              </a:ext>
            </a:extLst>
          </p:cNvPr>
          <p:cNvPicPr>
            <a:picLocks noChangeAspect="1"/>
          </p:cNvPicPr>
          <p:nvPr/>
        </p:nvPicPr>
        <p:blipFill>
          <a:blip r:embed="rId4"/>
          <a:stretch>
            <a:fillRect/>
          </a:stretch>
        </p:blipFill>
        <p:spPr>
          <a:xfrm>
            <a:off x="263707" y="3995893"/>
            <a:ext cx="2468338" cy="1733384"/>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06BFC4FD-CDBD-E74C-2B4B-957276E8D806}"/>
              </a:ext>
            </a:extLst>
          </p:cNvPr>
          <p:cNvSpPr txBox="1"/>
          <p:nvPr/>
        </p:nvSpPr>
        <p:spPr>
          <a:xfrm>
            <a:off x="4270532" y="327323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15" name="Picture 14" descr="A bar displaying seven eighths shaded. ">
            <a:extLst>
              <a:ext uri="{FF2B5EF4-FFF2-40B4-BE49-F238E27FC236}">
                <a16:creationId xmlns:a16="http://schemas.microsoft.com/office/drawing/2014/main" id="{812D5330-B6D1-36F6-ABE1-B54D3B822057}"/>
              </a:ext>
            </a:extLst>
          </p:cNvPr>
          <p:cNvPicPr>
            <a:picLocks noChangeAspect="1"/>
          </p:cNvPicPr>
          <p:nvPr/>
        </p:nvPicPr>
        <p:blipFill>
          <a:blip r:embed="rId5"/>
          <a:stretch>
            <a:fillRect/>
          </a:stretch>
        </p:blipFill>
        <p:spPr>
          <a:xfrm>
            <a:off x="3307347" y="4004354"/>
            <a:ext cx="2373034" cy="1747076"/>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0CCBA3B1-EB4D-D918-A8D0-B78C7621C52A}"/>
              </a:ext>
            </a:extLst>
          </p:cNvPr>
          <p:cNvSpPr txBox="1"/>
          <p:nvPr/>
        </p:nvSpPr>
        <p:spPr>
          <a:xfrm>
            <a:off x="7274505" y="327323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6" name="Picture 5" descr="A bar displaying three quarters shaded.">
            <a:extLst>
              <a:ext uri="{FF2B5EF4-FFF2-40B4-BE49-F238E27FC236}">
                <a16:creationId xmlns:a16="http://schemas.microsoft.com/office/drawing/2014/main" id="{1D44FDAB-3912-6382-BFED-511EC0AAFEF6}"/>
              </a:ext>
            </a:extLst>
          </p:cNvPr>
          <p:cNvPicPr>
            <a:picLocks noChangeAspect="1"/>
          </p:cNvPicPr>
          <p:nvPr/>
        </p:nvPicPr>
        <p:blipFill>
          <a:blip r:embed="rId6"/>
          <a:stretch>
            <a:fillRect/>
          </a:stretch>
        </p:blipFill>
        <p:spPr>
          <a:xfrm>
            <a:off x="6270894" y="4004749"/>
            <a:ext cx="2446861" cy="1733384"/>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002A7C63-4C7D-5EB4-47F9-AF81CCED5985}"/>
              </a:ext>
            </a:extLst>
          </p:cNvPr>
          <p:cNvSpPr txBox="1"/>
          <p:nvPr/>
        </p:nvSpPr>
        <p:spPr>
          <a:xfrm>
            <a:off x="10278479" y="327323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8" name="Picture 7" descr="A bar displaying half shaded.">
            <a:extLst>
              <a:ext uri="{FF2B5EF4-FFF2-40B4-BE49-F238E27FC236}">
                <a16:creationId xmlns:a16="http://schemas.microsoft.com/office/drawing/2014/main" id="{9DB64DE0-F674-964B-A44D-EB71C180B237}"/>
              </a:ext>
            </a:extLst>
          </p:cNvPr>
          <p:cNvPicPr>
            <a:picLocks noChangeAspect="1"/>
          </p:cNvPicPr>
          <p:nvPr/>
        </p:nvPicPr>
        <p:blipFill>
          <a:blip r:embed="rId7"/>
          <a:stretch>
            <a:fillRect/>
          </a:stretch>
        </p:blipFill>
        <p:spPr>
          <a:xfrm>
            <a:off x="9319762" y="3995893"/>
            <a:ext cx="2446861" cy="1771546"/>
          </a:xfrm>
          <a:prstGeom prst="rect">
            <a:avLst/>
          </a:prstGeom>
          <a:ln>
            <a:noFill/>
          </a:ln>
          <a:effectLst>
            <a:outerShdw blurRad="292100" dist="139700" dir="2700000" algn="tl" rotWithShape="0">
              <a:srgbClr val="333333">
                <a:alpha val="65000"/>
              </a:srgbClr>
            </a:outerShdw>
          </a:effectLst>
        </p:spPr>
      </p:pic>
      <p:sp>
        <p:nvSpPr>
          <p:cNvPr id="20" name="Text Placeholder 5">
            <a:extLst>
              <a:ext uri="{FF2B5EF4-FFF2-40B4-BE49-F238E27FC236}">
                <a16:creationId xmlns:a16="http://schemas.microsoft.com/office/drawing/2014/main" id="{6788F8EB-A38A-FCEE-BC46-6C7E1C26BBD5}"/>
              </a:ext>
            </a:extLst>
          </p:cNvPr>
          <p:cNvSpPr txBox="1">
            <a:spLocks/>
          </p:cNvSpPr>
          <p:nvPr/>
        </p:nvSpPr>
        <p:spPr>
          <a:xfrm>
            <a:off x="561386" y="5751430"/>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A11E2A1-DA85-B45D-5DA3-CCD5405719DD}"/>
              </a:ext>
            </a:extLst>
          </p:cNvPr>
          <p:cNvSpPr txBox="1"/>
          <p:nvPr/>
        </p:nvSpPr>
        <p:spPr>
          <a:xfrm>
            <a:off x="550831" y="1104710"/>
            <a:ext cx="10843716" cy="1446550"/>
          </a:xfrm>
          <a:prstGeom prst="rect">
            <a:avLst/>
          </a:prstGeom>
          <a:noFill/>
        </p:spPr>
        <p:txBody>
          <a:bodyPr wrap="square">
            <a:spAutoFit/>
          </a:bodyPr>
          <a:lstStyle/>
          <a:p>
            <a:pPr algn="ctr"/>
            <a:r>
              <a:rPr lang="en-AU" sz="4400" b="1" i="0">
                <a:solidFill>
                  <a:srgbClr val="000000"/>
                </a:solidFill>
                <a:effectLst/>
              </a:rPr>
              <a:t>Name</a:t>
            </a:r>
            <a:r>
              <a:rPr lang="en-AU" sz="4400" b="0" i="0">
                <a:solidFill>
                  <a:srgbClr val="000000"/>
                </a:solidFill>
                <a:effectLst/>
              </a:rPr>
              <a:t> these three-dimensional objects from their </a:t>
            </a:r>
            <a:r>
              <a:rPr lang="en-AU" sz="4400" b="1" i="0">
                <a:solidFill>
                  <a:srgbClr val="000000"/>
                </a:solidFill>
                <a:effectLst/>
              </a:rPr>
              <a:t>nets</a:t>
            </a:r>
            <a:r>
              <a:rPr lang="en-AU" sz="4400" b="0" i="0">
                <a:solidFill>
                  <a:srgbClr val="000000"/>
                </a:solidFill>
                <a:effectLst/>
              </a:rPr>
              <a:t>:</a:t>
            </a:r>
            <a:endParaRPr lang="en-AU" sz="4400"/>
          </a:p>
        </p:txBody>
      </p:sp>
      <p:sp>
        <p:nvSpPr>
          <p:cNvPr id="9" name="TextBox 8">
            <a:extLst>
              <a:ext uri="{FF2B5EF4-FFF2-40B4-BE49-F238E27FC236}">
                <a16:creationId xmlns:a16="http://schemas.microsoft.com/office/drawing/2014/main" id="{542DC59E-5071-ECA5-8D82-2FB87D465B4E}"/>
              </a:ext>
            </a:extLst>
          </p:cNvPr>
          <p:cNvSpPr txBox="1"/>
          <p:nvPr/>
        </p:nvSpPr>
        <p:spPr>
          <a:xfrm>
            <a:off x="1316882" y="3067248"/>
            <a:ext cx="659958" cy="638042"/>
          </a:xfrm>
          <a:prstGeom prst="rect">
            <a:avLst/>
          </a:prstGeom>
          <a:noFill/>
        </p:spPr>
        <p:txBody>
          <a:bodyPr wrap="square" lIns="0" tIns="0" rIns="0" bIns="0" rtlCol="0">
            <a:noAutofit/>
          </a:bodyPr>
          <a:lstStyle/>
          <a:p>
            <a:pPr algn="ctr"/>
            <a:r>
              <a:rPr lang="en-AU" sz="4400"/>
              <a:t>1.</a:t>
            </a:r>
          </a:p>
        </p:txBody>
      </p:sp>
      <p:sp>
        <p:nvSpPr>
          <p:cNvPr id="12" name="Freeform 2" descr="a net made of 1 square face and 3 triangle faces.">
            <a:extLst>
              <a:ext uri="{FF2B5EF4-FFF2-40B4-BE49-F238E27FC236}">
                <a16:creationId xmlns:a16="http://schemas.microsoft.com/office/drawing/2014/main" id="{1715D8BB-DC09-D376-AD66-8FB16B19EDFE}"/>
              </a:ext>
            </a:extLst>
          </p:cNvPr>
          <p:cNvSpPr/>
          <p:nvPr/>
        </p:nvSpPr>
        <p:spPr>
          <a:xfrm>
            <a:off x="2099144" y="3180189"/>
            <a:ext cx="2079306" cy="3222887"/>
          </a:xfrm>
          <a:custGeom>
            <a:avLst/>
            <a:gdLst/>
            <a:ahLst/>
            <a:cxnLst/>
            <a:rect l="l" t="t" r="r" b="b"/>
            <a:pathLst>
              <a:path w="2583656" h="3856202">
                <a:moveTo>
                  <a:pt x="0" y="0"/>
                </a:moveTo>
                <a:lnTo>
                  <a:pt x="2583655" y="0"/>
                </a:lnTo>
                <a:lnTo>
                  <a:pt x="2583655" y="3856202"/>
                </a:lnTo>
                <a:lnTo>
                  <a:pt x="0" y="3856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TextBox 9">
            <a:extLst>
              <a:ext uri="{FF2B5EF4-FFF2-40B4-BE49-F238E27FC236}">
                <a16:creationId xmlns:a16="http://schemas.microsoft.com/office/drawing/2014/main" id="{84209916-6AC1-C4F2-6714-96602E73A0B2}"/>
              </a:ext>
            </a:extLst>
          </p:cNvPr>
          <p:cNvSpPr txBox="1"/>
          <p:nvPr/>
        </p:nvSpPr>
        <p:spPr>
          <a:xfrm>
            <a:off x="5244803" y="3068226"/>
            <a:ext cx="659958" cy="638042"/>
          </a:xfrm>
          <a:prstGeom prst="rect">
            <a:avLst/>
          </a:prstGeom>
          <a:noFill/>
        </p:spPr>
        <p:txBody>
          <a:bodyPr wrap="square" lIns="0" tIns="0" rIns="0" bIns="0" rtlCol="0">
            <a:noAutofit/>
          </a:bodyPr>
          <a:lstStyle/>
          <a:p>
            <a:pPr algn="ctr"/>
            <a:r>
              <a:rPr lang="en-AU" sz="4400"/>
              <a:t>2.</a:t>
            </a:r>
          </a:p>
        </p:txBody>
      </p:sp>
      <p:sp>
        <p:nvSpPr>
          <p:cNvPr id="13" name="Freeform 3" descr="a net made of 6 square faces">
            <a:extLst>
              <a:ext uri="{FF2B5EF4-FFF2-40B4-BE49-F238E27FC236}">
                <a16:creationId xmlns:a16="http://schemas.microsoft.com/office/drawing/2014/main" id="{E7DE9880-5E6D-9153-100F-D5B858C2E745}"/>
              </a:ext>
            </a:extLst>
          </p:cNvPr>
          <p:cNvSpPr/>
          <p:nvPr/>
        </p:nvSpPr>
        <p:spPr>
          <a:xfrm>
            <a:off x="5244803" y="3259664"/>
            <a:ext cx="2281860" cy="3024000"/>
          </a:xfrm>
          <a:custGeom>
            <a:avLst/>
            <a:gdLst/>
            <a:ahLst/>
            <a:cxnLst/>
            <a:rect l="l" t="t" r="r" b="b"/>
            <a:pathLst>
              <a:path w="2281860" h="3024000">
                <a:moveTo>
                  <a:pt x="0" y="0"/>
                </a:moveTo>
                <a:lnTo>
                  <a:pt x="2281860" y="0"/>
                </a:lnTo>
                <a:lnTo>
                  <a:pt x="2281860" y="3024000"/>
                </a:lnTo>
                <a:lnTo>
                  <a:pt x="0" y="3024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1" name="TextBox 10">
            <a:extLst>
              <a:ext uri="{FF2B5EF4-FFF2-40B4-BE49-F238E27FC236}">
                <a16:creationId xmlns:a16="http://schemas.microsoft.com/office/drawing/2014/main" id="{E2C330F5-9556-1931-DFB1-E4455BF783AD}"/>
              </a:ext>
            </a:extLst>
          </p:cNvPr>
          <p:cNvSpPr txBox="1"/>
          <p:nvPr/>
        </p:nvSpPr>
        <p:spPr>
          <a:xfrm>
            <a:off x="8498141" y="2996664"/>
            <a:ext cx="659958" cy="638042"/>
          </a:xfrm>
          <a:prstGeom prst="rect">
            <a:avLst/>
          </a:prstGeom>
          <a:noFill/>
        </p:spPr>
        <p:txBody>
          <a:bodyPr wrap="square" lIns="0" tIns="0" rIns="0" bIns="0" rtlCol="0">
            <a:noAutofit/>
          </a:bodyPr>
          <a:lstStyle/>
          <a:p>
            <a:pPr algn="ctr"/>
            <a:r>
              <a:rPr lang="en-AU" sz="4400"/>
              <a:t>3.</a:t>
            </a:r>
          </a:p>
        </p:txBody>
      </p:sp>
      <p:sp>
        <p:nvSpPr>
          <p:cNvPr id="14" name="Freeform 4" descr="a net made of 2 triangle faces and 3 rectangular faces">
            <a:extLst>
              <a:ext uri="{FF2B5EF4-FFF2-40B4-BE49-F238E27FC236}">
                <a16:creationId xmlns:a16="http://schemas.microsoft.com/office/drawing/2014/main" id="{1E4B6C4B-FA61-1F17-723F-FF35798D6201}"/>
              </a:ext>
            </a:extLst>
          </p:cNvPr>
          <p:cNvSpPr/>
          <p:nvPr/>
        </p:nvSpPr>
        <p:spPr>
          <a:xfrm>
            <a:off x="8253533" y="3035385"/>
            <a:ext cx="2664942" cy="3248279"/>
          </a:xfrm>
          <a:custGeom>
            <a:avLst/>
            <a:gdLst/>
            <a:ahLst/>
            <a:cxnLst/>
            <a:rect l="l" t="t" r="r" b="b"/>
            <a:pathLst>
              <a:path w="2664942" h="3248279">
                <a:moveTo>
                  <a:pt x="0" y="0"/>
                </a:moveTo>
                <a:lnTo>
                  <a:pt x="2664942" y="0"/>
                </a:lnTo>
                <a:lnTo>
                  <a:pt x="2664942" y="3248279"/>
                </a:lnTo>
                <a:lnTo>
                  <a:pt x="0" y="32482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5" name="TextBox 4">
            <a:extLst>
              <a:ext uri="{FF2B5EF4-FFF2-40B4-BE49-F238E27FC236}">
                <a16:creationId xmlns:a16="http://schemas.microsoft.com/office/drawing/2014/main" id="{773E31D0-FB81-9036-F5E7-2B2D16458413}"/>
              </a:ext>
            </a:extLst>
          </p:cNvPr>
          <p:cNvSpPr txBox="1"/>
          <p:nvPr/>
        </p:nvSpPr>
        <p:spPr>
          <a:xfrm>
            <a:off x="164907" y="1137274"/>
            <a:ext cx="6209144" cy="5171737"/>
          </a:xfrm>
          <a:prstGeom prst="rect">
            <a:avLst/>
          </a:prstGeom>
          <a:noFill/>
        </p:spPr>
        <p:txBody>
          <a:bodyPr wrap="square">
            <a:spAutoFit/>
          </a:bodyPr>
          <a:lstStyle/>
          <a:p>
            <a:pPr marL="457200" indent="-457200" algn="ctr">
              <a:lnSpc>
                <a:spcPct val="150000"/>
              </a:lnSpc>
              <a:buFont typeface="Arial" panose="020B0604020202020204" pitchFamily="34" charset="0"/>
              <a:buChar char="•"/>
            </a:pPr>
            <a:r>
              <a:rPr lang="en-AU" sz="3200"/>
              <a:t>Record the missing </a:t>
            </a:r>
            <a:r>
              <a:rPr lang="en-AU" sz="3200" b="1"/>
              <a:t>coordinate</a:t>
            </a:r>
            <a:r>
              <a:rPr lang="en-AU" sz="3200"/>
              <a:t> of the </a:t>
            </a:r>
            <a:r>
              <a:rPr lang="en-AU" sz="3200" b="1"/>
              <a:t>translated</a:t>
            </a:r>
            <a:r>
              <a:rPr lang="en-AU" sz="3200"/>
              <a:t> triangle. </a:t>
            </a:r>
          </a:p>
          <a:p>
            <a:pPr marL="457200" indent="-457200" algn="ctr">
              <a:lnSpc>
                <a:spcPct val="150000"/>
              </a:lnSpc>
              <a:buFont typeface="Arial" panose="020B0604020202020204" pitchFamily="34" charset="0"/>
              <a:buChar char="•"/>
            </a:pPr>
            <a:r>
              <a:rPr lang="en-AU" sz="3200" b="1"/>
              <a:t>Describe</a:t>
            </a:r>
            <a:r>
              <a:rPr lang="en-AU" sz="3200"/>
              <a:t> the </a:t>
            </a:r>
            <a:r>
              <a:rPr lang="en-AU" sz="3200" b="1"/>
              <a:t>change</a:t>
            </a:r>
            <a:r>
              <a:rPr lang="en-AU" sz="3200"/>
              <a:t> to the </a:t>
            </a:r>
            <a:r>
              <a:rPr lang="en-AU" sz="3200" b="1"/>
              <a:t>coordinate</a:t>
            </a:r>
            <a:r>
              <a:rPr lang="en-AU" sz="3200"/>
              <a:t> when the triangle was </a:t>
            </a:r>
            <a:r>
              <a:rPr lang="en-AU" sz="3200" b="1"/>
              <a:t>translated</a:t>
            </a:r>
            <a:r>
              <a:rPr lang="en-AU" sz="3200"/>
              <a:t> over the x-axis.</a:t>
            </a:r>
          </a:p>
        </p:txBody>
      </p:sp>
      <p:pic>
        <p:nvPicPr>
          <p:cNvPr id="7" name="Picture 6" descr="A cartesian plane with a triangle with the coordinates (-5,5), (-1,5) and (-3,1). The triangle has been translated. The coordinates marked are: (-5, -1 and (-1, -1). The final coordinate has been left blank. It is on the 3rd negative point on the x-axis and the  5th negative point on the y axis.">
            <a:extLst>
              <a:ext uri="{FF2B5EF4-FFF2-40B4-BE49-F238E27FC236}">
                <a16:creationId xmlns:a16="http://schemas.microsoft.com/office/drawing/2014/main" id="{DA5AFB20-E571-C7BB-414D-C81131CFB815}"/>
              </a:ext>
            </a:extLst>
          </p:cNvPr>
          <p:cNvPicPr>
            <a:picLocks noChangeAspect="1"/>
          </p:cNvPicPr>
          <p:nvPr/>
        </p:nvPicPr>
        <p:blipFill>
          <a:blip r:embed="rId4"/>
          <a:stretch>
            <a:fillRect/>
          </a:stretch>
        </p:blipFill>
        <p:spPr>
          <a:xfrm>
            <a:off x="6887499" y="1285064"/>
            <a:ext cx="4854600" cy="50239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742E4081-7965-B26B-34DF-70CECFD8129D}"/>
              </a:ext>
            </a:extLst>
          </p:cNvPr>
          <p:cNvSpPr txBox="1"/>
          <p:nvPr/>
        </p:nvSpPr>
        <p:spPr>
          <a:xfrm>
            <a:off x="0" y="1039633"/>
            <a:ext cx="6811210" cy="4778734"/>
          </a:xfrm>
          <a:prstGeom prst="rect">
            <a:avLst/>
          </a:prstGeom>
          <a:noFill/>
        </p:spPr>
        <p:txBody>
          <a:bodyPr wrap="square" lIns="0" tIns="0" rIns="0" bIns="0" rtlCol="0">
            <a:noAutofit/>
          </a:bodyPr>
          <a:lstStyle/>
          <a:p>
            <a:pPr algn="ctr">
              <a:lnSpc>
                <a:spcPct val="150000"/>
              </a:lnSpc>
            </a:pPr>
            <a:r>
              <a:rPr lang="en-AU" sz="2800"/>
              <a:t>There are </a:t>
            </a:r>
            <a:r>
              <a:rPr lang="en-AU" sz="2800" b="1">
                <a:solidFill>
                  <a:srgbClr val="00BF63"/>
                </a:solidFill>
              </a:rPr>
              <a:t>30 cubes</a:t>
            </a:r>
            <a:r>
              <a:rPr lang="en-AU" sz="2800"/>
              <a:t>. </a:t>
            </a:r>
          </a:p>
          <a:p>
            <a:pPr algn="ctr">
              <a:lnSpc>
                <a:spcPct val="150000"/>
              </a:lnSpc>
            </a:pPr>
            <a:r>
              <a:rPr lang="en-AU" sz="2800"/>
              <a:t>Some cubes can be seen. </a:t>
            </a:r>
          </a:p>
          <a:p>
            <a:pPr algn="ctr">
              <a:lnSpc>
                <a:spcPct val="150000"/>
              </a:lnSpc>
            </a:pPr>
            <a:r>
              <a:rPr lang="en-AU" sz="2800"/>
              <a:t>Some cubes are under the splats. </a:t>
            </a:r>
          </a:p>
          <a:p>
            <a:pPr algn="ctr">
              <a:lnSpc>
                <a:spcPct val="150000"/>
              </a:lnSpc>
            </a:pPr>
            <a:r>
              <a:rPr lang="en-AU" sz="2800"/>
              <a:t>There are</a:t>
            </a:r>
            <a:r>
              <a:rPr lang="en-AU" sz="2800" b="1">
                <a:solidFill>
                  <a:srgbClr val="050686"/>
                </a:solidFill>
              </a:rPr>
              <a:t> 5 splats</a:t>
            </a:r>
            <a:r>
              <a:rPr lang="en-AU" sz="2800"/>
              <a:t>. </a:t>
            </a:r>
          </a:p>
          <a:p>
            <a:pPr algn="ctr">
              <a:lnSpc>
                <a:spcPct val="150000"/>
              </a:lnSpc>
            </a:pPr>
            <a:r>
              <a:rPr lang="en-AU" sz="2800"/>
              <a:t>Each splat has the </a:t>
            </a:r>
            <a:r>
              <a:rPr lang="en-AU" sz="2800" b="1"/>
              <a:t>same number of cubes </a:t>
            </a:r>
            <a:r>
              <a:rPr lang="en-AU" sz="2800"/>
              <a:t>hidden underneath.</a:t>
            </a:r>
          </a:p>
          <a:p>
            <a:pPr marL="342900" indent="-342900" algn="ctr">
              <a:lnSpc>
                <a:spcPct val="150000"/>
              </a:lnSpc>
              <a:buFont typeface="Arial" panose="020B0604020202020204" pitchFamily="34" charset="0"/>
              <a:buChar char="•"/>
            </a:pPr>
            <a:r>
              <a:rPr lang="en-AU" sz="2800"/>
              <a:t>How many cubes are under </a:t>
            </a:r>
            <a:r>
              <a:rPr lang="en-AU" sz="2800" b="1"/>
              <a:t>each spl</a:t>
            </a:r>
            <a:r>
              <a:rPr lang="en-AU" sz="2800"/>
              <a:t>at?</a:t>
            </a:r>
          </a:p>
          <a:p>
            <a:pPr marL="342900" indent="-342900" algn="ctr">
              <a:lnSpc>
                <a:spcPct val="150000"/>
              </a:lnSpc>
              <a:buFont typeface="Arial" panose="020B0604020202020204" pitchFamily="34" charset="0"/>
              <a:buChar char="•"/>
            </a:pPr>
            <a:r>
              <a:rPr lang="en-AU" sz="2800"/>
              <a:t>Write a </a:t>
            </a:r>
            <a:r>
              <a:rPr lang="en-AU" sz="2800" b="1"/>
              <a:t>number sentence</a:t>
            </a:r>
            <a:r>
              <a:rPr lang="en-AU" sz="2800"/>
              <a:t> to show your reasoning.</a:t>
            </a:r>
          </a:p>
          <a:p>
            <a:pPr algn="ctr"/>
            <a:endParaRPr lang="en-AU" sz="1800"/>
          </a:p>
        </p:txBody>
      </p:sp>
      <p:pic>
        <p:nvPicPr>
          <p:cNvPr id="5" name="Picture 4" descr="Arrangement: 5 ink splats. In between the splats are 5 counters. In the top right-hand corner is the numeral 30. ">
            <a:extLst>
              <a:ext uri="{FF2B5EF4-FFF2-40B4-BE49-F238E27FC236}">
                <a16:creationId xmlns:a16="http://schemas.microsoft.com/office/drawing/2014/main" id="{81ABAA18-F689-E781-8BA1-E69E84CE81E8}"/>
              </a:ext>
            </a:extLst>
          </p:cNvPr>
          <p:cNvPicPr>
            <a:picLocks noChangeAspect="1"/>
          </p:cNvPicPr>
          <p:nvPr/>
        </p:nvPicPr>
        <p:blipFill>
          <a:blip r:embed="rId4"/>
          <a:stretch>
            <a:fillRect/>
          </a:stretch>
        </p:blipFill>
        <p:spPr>
          <a:xfrm>
            <a:off x="7034209" y="1371235"/>
            <a:ext cx="4983161" cy="356715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88B1EEED-408F-A3E1-82DA-83FA74EB3C30}"/>
              </a:ext>
            </a:extLst>
          </p:cNvPr>
          <p:cNvSpPr txBox="1"/>
          <p:nvPr/>
        </p:nvSpPr>
        <p:spPr>
          <a:xfrm>
            <a:off x="9236103" y="6412775"/>
            <a:ext cx="2955897" cy="335156"/>
          </a:xfrm>
          <a:prstGeom prst="rect">
            <a:avLst/>
          </a:prstGeom>
          <a:noFill/>
        </p:spPr>
        <p:txBody>
          <a:bodyPr wrap="square">
            <a:spAutoFit/>
          </a:bodyPr>
          <a:lstStyle/>
          <a:p>
            <a:pPr>
              <a:lnSpc>
                <a:spcPct val="150000"/>
              </a:lnSpc>
              <a:spcBef>
                <a:spcPts val="1200"/>
              </a:spcBef>
              <a:buNone/>
            </a:pPr>
            <a:r>
              <a:rPr lang="en-AU" sz="1200">
                <a:effectLst/>
                <a:latin typeface="Arial" panose="020B0604020202020204" pitchFamily="34" charset="0"/>
                <a:ea typeface="Calibri" panose="020F0502020204030204" pitchFamily="34" charset="0"/>
              </a:rPr>
              <a:t>Adapted from </a:t>
            </a:r>
            <a:r>
              <a:rPr lang="en-AU" sz="1200" err="1">
                <a:effectLst/>
                <a:latin typeface="Arial" panose="020B0604020202020204" pitchFamily="34" charset="0"/>
                <a:ea typeface="Calibri" panose="020F0502020204030204" pitchFamily="34" charset="0"/>
              </a:rPr>
              <a:t>Wyborney</a:t>
            </a:r>
            <a:r>
              <a:rPr lang="en-AU" sz="1200">
                <a:effectLst/>
                <a:latin typeface="Arial" panose="020B0604020202020204" pitchFamily="34" charset="0"/>
                <a:ea typeface="Calibri" panose="020F0502020204030204" pitchFamily="34" charset="0"/>
              </a:rPr>
              <a:t> (2017).</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FFE17D8-05DA-9BD5-AA44-CF75E9083773}"/>
              </a:ext>
            </a:extLst>
          </p:cNvPr>
          <p:cNvSpPr txBox="1"/>
          <p:nvPr/>
        </p:nvSpPr>
        <p:spPr>
          <a:xfrm>
            <a:off x="360000" y="1449911"/>
            <a:ext cx="4824250" cy="4439385"/>
          </a:xfrm>
          <a:prstGeom prst="rect">
            <a:avLst/>
          </a:prstGeom>
          <a:noFill/>
        </p:spPr>
        <p:txBody>
          <a:bodyPr wrap="square" lIns="0" tIns="0" rIns="0" bIns="0" rtlCol="0">
            <a:noAutofit/>
          </a:bodyPr>
          <a:lstStyle/>
          <a:p>
            <a:pPr algn="ctr">
              <a:lnSpc>
                <a:spcPct val="150000"/>
              </a:lnSpc>
            </a:pPr>
            <a:r>
              <a:rPr lang="en-AU" sz="4400"/>
              <a:t>Calculate the </a:t>
            </a:r>
            <a:r>
              <a:rPr lang="en-AU" sz="4400" b="1"/>
              <a:t>volume</a:t>
            </a:r>
            <a:r>
              <a:rPr lang="en-AU" sz="4400"/>
              <a:t> of the shipping container in </a:t>
            </a:r>
            <a:r>
              <a:rPr lang="en-AU" sz="4400" b="1"/>
              <a:t>cubic metres</a:t>
            </a:r>
            <a:r>
              <a:rPr lang="en-AU" sz="4400"/>
              <a:t>.</a:t>
            </a:r>
          </a:p>
        </p:txBody>
      </p:sp>
      <p:pic>
        <p:nvPicPr>
          <p:cNvPr id="5" name="Picture 4" descr="A shipping container with the dimensions 6 metres by 2 metres by 3 metres marked.">
            <a:extLst>
              <a:ext uri="{FF2B5EF4-FFF2-40B4-BE49-F238E27FC236}">
                <a16:creationId xmlns:a16="http://schemas.microsoft.com/office/drawing/2014/main" id="{4541DC9D-59A3-77C4-FC4C-08DB3B4471AD}"/>
              </a:ext>
            </a:extLst>
          </p:cNvPr>
          <p:cNvPicPr>
            <a:picLocks noChangeAspect="1"/>
          </p:cNvPicPr>
          <p:nvPr/>
        </p:nvPicPr>
        <p:blipFill>
          <a:blip r:embed="rId4"/>
          <a:stretch>
            <a:fillRect/>
          </a:stretch>
        </p:blipFill>
        <p:spPr>
          <a:xfrm>
            <a:off x="5693970" y="1449911"/>
            <a:ext cx="6252006" cy="4439385"/>
          </a:xfrm>
          <a:prstGeom prst="rect">
            <a:avLst/>
          </a:prstGeom>
          <a:ln>
            <a:noFill/>
          </a:ln>
          <a:effectLst/>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connecting percentages to the fraction ‘tenth’</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Rectangle 2" descr="A rectangle">
            <a:extLst>
              <a:ext uri="{FF2B5EF4-FFF2-40B4-BE49-F238E27FC236}">
                <a16:creationId xmlns:a16="http://schemas.microsoft.com/office/drawing/2014/main" id="{76249A5F-6340-305A-FB64-38D3C610D99B}"/>
              </a:ext>
            </a:extLst>
          </p:cNvPr>
          <p:cNvSpPr/>
          <p:nvPr/>
        </p:nvSpPr>
        <p:spPr>
          <a:xfrm>
            <a:off x="2124323" y="1828800"/>
            <a:ext cx="7943353" cy="2631882"/>
          </a:xfrm>
          <a:prstGeom prst="rect">
            <a:avLst/>
          </a:prstGeom>
          <a:solidFill>
            <a:schemeClr val="bg1"/>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BF12730D-A0F1-9984-6008-2FACD4050CCA}"/>
              </a:ext>
            </a:extLst>
          </p:cNvPr>
          <p:cNvSpPr txBox="1"/>
          <p:nvPr/>
        </p:nvSpPr>
        <p:spPr>
          <a:xfrm>
            <a:off x="4524293" y="5485618"/>
            <a:ext cx="3299791" cy="1226285"/>
          </a:xfrm>
          <a:prstGeom prst="rect">
            <a:avLst/>
          </a:prstGeom>
          <a:noFill/>
        </p:spPr>
        <p:txBody>
          <a:bodyPr wrap="square" lIns="0" tIns="0" rIns="0" bIns="0" rtlCol="0">
            <a:noAutofit/>
          </a:bodyPr>
          <a:lstStyle/>
          <a:p>
            <a:pPr algn="ctr"/>
            <a:r>
              <a:rPr lang="en-AU" sz="5000"/>
              <a:t>100%</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pic>
        <p:nvPicPr>
          <p:cNvPr id="14" name="Picture 13" descr="A one metre ruler with a piece of A4 paper covering the first 50 cm of the ruler.">
            <a:extLst>
              <a:ext uri="{FF2B5EF4-FFF2-40B4-BE49-F238E27FC236}">
                <a16:creationId xmlns:a16="http://schemas.microsoft.com/office/drawing/2014/main" id="{EDBC5D72-B598-D430-D468-3CCC918D1508}"/>
              </a:ext>
            </a:extLst>
          </p:cNvPr>
          <p:cNvPicPr>
            <a:picLocks noChangeAspect="1"/>
          </p:cNvPicPr>
          <p:nvPr/>
        </p:nvPicPr>
        <p:blipFill>
          <a:blip r:embed="rId4"/>
          <a:stretch>
            <a:fillRect/>
          </a:stretch>
        </p:blipFill>
        <p:spPr>
          <a:xfrm>
            <a:off x="149578" y="1292587"/>
            <a:ext cx="11892843" cy="1456067"/>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2608800"/>
                <a:ext cx="11243037" cy="893226"/>
              </a:xfrm>
            </p:spPr>
            <p:txBody>
              <a:bodyPr/>
              <a:lstStyle/>
              <a:p>
                <a:pPr algn="ctr"/>
                <a:r>
                  <a:rPr lang="en-AU" sz="4400">
                    <a:solidFill>
                      <a:schemeClr val="tx1"/>
                    </a:solidFill>
                  </a:rPr>
                  <a:t>50 cm is </a:t>
                </a:r>
                <a:r>
                  <a:rPr lang="en-AU" sz="4400" b="1">
                    <a:solidFill>
                      <a:schemeClr val="tx1"/>
                    </a:solidFill>
                  </a:rPr>
                  <a:t>equivalent </a:t>
                </a:r>
                <a:r>
                  <a:rPr lang="en-AU" sz="4400">
                    <a:solidFill>
                      <a:schemeClr val="tx1"/>
                    </a:solidFill>
                  </a:rPr>
                  <a:t>to </a:t>
                </a:r>
                <a14:m>
                  <m:oMath xmlns:m="http://schemas.openxmlformats.org/officeDocument/2006/math">
                    <m:f>
                      <m:fPr>
                        <m:ctrlPr>
                          <a:rPr lang="en-AU" sz="4400" b="0" i="1" smtClean="0">
                            <a:solidFill>
                              <a:schemeClr val="tx1"/>
                            </a:solidFill>
                            <a:latin typeface="Cambria Math" panose="02040503050406030204" pitchFamily="18" charset="0"/>
                          </a:rPr>
                        </m:ctrlPr>
                      </m:fPr>
                      <m:num>
                        <m:r>
                          <a:rPr lang="en-AU" sz="4400" b="0" i="1" smtClean="0">
                            <a:solidFill>
                              <a:schemeClr val="tx1"/>
                            </a:solidFill>
                            <a:latin typeface="Cambria Math" panose="02040503050406030204" pitchFamily="18" charset="0"/>
                          </a:rPr>
                          <m:t>1</m:t>
                        </m:r>
                      </m:num>
                      <m:den>
                        <m:r>
                          <a:rPr lang="en-AU" sz="4400" b="0" i="1" smtClean="0">
                            <a:solidFill>
                              <a:schemeClr val="tx1"/>
                            </a:solidFill>
                            <a:latin typeface="Cambria Math" panose="02040503050406030204" pitchFamily="18" charset="0"/>
                          </a:rPr>
                          <m:t>2</m:t>
                        </m:r>
                      </m:den>
                    </m:f>
                  </m:oMath>
                </a14:m>
                <a:r>
                  <a:rPr lang="en-AU" sz="4400">
                    <a:solidFill>
                      <a:schemeClr val="tx1"/>
                    </a:solidFill>
                  </a:rPr>
                  <a:t> of </a:t>
                </a:r>
                <a:r>
                  <a:rPr lang="en-AU" sz="4400" b="1">
                    <a:solidFill>
                      <a:schemeClr val="tx1"/>
                    </a:solidFill>
                  </a:rPr>
                  <a:t>1 metre</a:t>
                </a:r>
                <a:r>
                  <a:rPr lang="en-AU" sz="4400">
                    <a:solidFill>
                      <a:schemeClr val="tx1"/>
                    </a:solidFill>
                  </a:rPr>
                  <a:t>. </a:t>
                </a:r>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360001" y="2608800"/>
                <a:ext cx="11243037" cy="893226"/>
              </a:xfrm>
              <a:blipFill>
                <a:blip r:embed="rId5"/>
                <a:stretch>
                  <a:fillRect b="-65753"/>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558066614"/>
              </p:ext>
            </p:extLst>
          </p:nvPr>
        </p:nvGraphicFramePr>
        <p:xfrm>
          <a:off x="2442981" y="449410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60E99633-21DF-123F-FF6E-0C07BBD8F928}"/>
              </a:ext>
            </a:extLst>
          </p:cNvPr>
          <p:cNvSpPr txBox="1">
            <a:spLocks/>
          </p:cNvSpPr>
          <p:nvPr/>
        </p:nvSpPr>
        <p:spPr>
          <a:xfrm>
            <a:off x="474481"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TextBox 3">
            <a:extLst>
              <a:ext uri="{FF2B5EF4-FFF2-40B4-BE49-F238E27FC236}">
                <a16:creationId xmlns:a16="http://schemas.microsoft.com/office/drawing/2014/main" id="{4FBD797D-E395-F5B7-C16A-90B8E0EAEA46}"/>
              </a:ext>
            </a:extLst>
          </p:cNvPr>
          <p:cNvSpPr txBox="1"/>
          <p:nvPr/>
        </p:nvSpPr>
        <p:spPr>
          <a:xfrm>
            <a:off x="477078" y="1367624"/>
            <a:ext cx="10553398" cy="1343771"/>
          </a:xfrm>
          <a:prstGeom prst="rect">
            <a:avLst/>
          </a:prstGeom>
          <a:noFill/>
        </p:spPr>
        <p:txBody>
          <a:bodyPr wrap="square" lIns="0" tIns="0" rIns="0" bIns="0" rtlCol="0">
            <a:noAutofit/>
          </a:bodyPr>
          <a:lstStyle/>
          <a:p>
            <a:pPr algn="ctr">
              <a:lnSpc>
                <a:spcPct val="150000"/>
              </a:lnSpc>
            </a:pPr>
            <a:r>
              <a:rPr lang="en-AU" sz="4400"/>
              <a:t>Sketch the </a:t>
            </a:r>
            <a:r>
              <a:rPr lang="en-AU" sz="4400" b="1"/>
              <a:t>top</a:t>
            </a:r>
            <a:r>
              <a:rPr lang="en-AU" sz="4400"/>
              <a:t>, </a:t>
            </a:r>
            <a:r>
              <a:rPr lang="en-AU" sz="4400" b="1"/>
              <a:t>front</a:t>
            </a:r>
            <a:r>
              <a:rPr lang="en-AU" sz="4400"/>
              <a:t> and </a:t>
            </a:r>
            <a:r>
              <a:rPr lang="en-AU" sz="4400" b="1"/>
              <a:t>side</a:t>
            </a:r>
            <a:r>
              <a:rPr lang="en-AU" sz="4400"/>
              <a:t> views of a </a:t>
            </a:r>
            <a:r>
              <a:rPr lang="en-AU" sz="4400" b="1"/>
              <a:t>rectangular prism</a:t>
            </a:r>
            <a:r>
              <a:rPr lang="en-AU" sz="4400"/>
              <a:t>.</a:t>
            </a:r>
          </a:p>
        </p:txBody>
      </p:sp>
      <p:pic>
        <p:nvPicPr>
          <p:cNvPr id="5" name="Picture 4" descr="A rectangular prism">
            <a:extLst>
              <a:ext uri="{FF2B5EF4-FFF2-40B4-BE49-F238E27FC236}">
                <a16:creationId xmlns:a16="http://schemas.microsoft.com/office/drawing/2014/main" id="{384CAA3F-4F95-40AD-F7A0-C5E769C706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8440" y="3363401"/>
            <a:ext cx="3595120" cy="2541750"/>
          </a:xfrm>
          <a:prstGeom prst="rect">
            <a:avLst/>
          </a:prstGeom>
          <a:ln>
            <a:noFill/>
          </a:ln>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738F73A3-D7A1-8565-5A88-5B74F361DE20}"/>
              </a:ext>
            </a:extLst>
          </p:cNvPr>
          <p:cNvSpPr txBox="1"/>
          <p:nvPr/>
        </p:nvSpPr>
        <p:spPr>
          <a:xfrm>
            <a:off x="246025" y="1184223"/>
            <a:ext cx="6709360" cy="5166804"/>
          </a:xfrm>
          <a:prstGeom prst="rect">
            <a:avLst/>
          </a:prstGeom>
          <a:noFill/>
        </p:spPr>
        <p:txBody>
          <a:bodyPr wrap="square" lIns="0" tIns="0" rIns="0" bIns="0" rtlCol="0">
            <a:noAutofit/>
          </a:bodyPr>
          <a:lstStyle/>
          <a:p>
            <a:pPr algn="ctr">
              <a:lnSpc>
                <a:spcPct val="150000"/>
              </a:lnSpc>
            </a:pPr>
            <a:r>
              <a:rPr lang="en-AU" sz="4400"/>
              <a:t>Record the </a:t>
            </a:r>
            <a:r>
              <a:rPr lang="en-AU" sz="4400" b="1"/>
              <a:t>coordinates</a:t>
            </a:r>
            <a:r>
              <a:rPr lang="en-AU" sz="4400"/>
              <a:t> for the shape if it were </a:t>
            </a:r>
            <a:r>
              <a:rPr lang="en-AU" sz="4400" b="1"/>
              <a:t>reflected </a:t>
            </a:r>
            <a:r>
              <a:rPr lang="en-AU" sz="4400"/>
              <a:t>across the:</a:t>
            </a:r>
          </a:p>
          <a:p>
            <a:pPr marL="571500" indent="-571500" algn="ctr">
              <a:lnSpc>
                <a:spcPct val="150000"/>
              </a:lnSpc>
              <a:buFont typeface="Arial" panose="020B0604020202020204" pitchFamily="34" charset="0"/>
              <a:buChar char="•"/>
            </a:pPr>
            <a:r>
              <a:rPr lang="en-AU" sz="4400"/>
              <a:t>x-axis</a:t>
            </a:r>
          </a:p>
          <a:p>
            <a:pPr marL="571500" indent="-571500" algn="ctr">
              <a:lnSpc>
                <a:spcPct val="150000"/>
              </a:lnSpc>
              <a:buFont typeface="Arial" panose="020B0604020202020204" pitchFamily="34" charset="0"/>
              <a:buChar char="•"/>
            </a:pPr>
            <a:r>
              <a:rPr lang="en-AU" sz="4400"/>
              <a:t>y-axis.</a:t>
            </a:r>
          </a:p>
        </p:txBody>
      </p:sp>
      <p:pic>
        <p:nvPicPr>
          <p:cNvPr id="7" name="Picture 6" descr="A cartesian plane with a triangle with the coordinates: (-3, 2), (-4, 5) and (-2, 5).">
            <a:extLst>
              <a:ext uri="{FF2B5EF4-FFF2-40B4-BE49-F238E27FC236}">
                <a16:creationId xmlns:a16="http://schemas.microsoft.com/office/drawing/2014/main" id="{8A366C55-44D3-197C-24D2-9E3527A96D0D}"/>
              </a:ext>
            </a:extLst>
          </p:cNvPr>
          <p:cNvPicPr>
            <a:picLocks noChangeAspect="1"/>
          </p:cNvPicPr>
          <p:nvPr/>
        </p:nvPicPr>
        <p:blipFill>
          <a:blip r:embed="rId4"/>
          <a:stretch>
            <a:fillRect/>
          </a:stretch>
        </p:blipFill>
        <p:spPr>
          <a:xfrm>
            <a:off x="6955384" y="1304014"/>
            <a:ext cx="4765113" cy="49333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diagram showing 5 pizzas and the problem is: How can we express 5 pizzas shared amongst 4 people?  4 coloured circles and segments have been used to demonstrate the quantity shared.">
            <a:extLst>
              <a:ext uri="{FF2B5EF4-FFF2-40B4-BE49-F238E27FC236}">
                <a16:creationId xmlns:a16="http://schemas.microsoft.com/office/drawing/2014/main" id="{807EE656-07DC-6266-22A2-C43D59F132A9}"/>
              </a:ext>
            </a:extLst>
          </p:cNvPr>
          <p:cNvPicPr>
            <a:picLocks noChangeAspect="1"/>
          </p:cNvPicPr>
          <p:nvPr/>
        </p:nvPicPr>
        <p:blipFill>
          <a:blip r:embed="rId4"/>
          <a:stretch>
            <a:fillRect/>
          </a:stretch>
        </p:blipFill>
        <p:spPr>
          <a:xfrm>
            <a:off x="2182134" y="905601"/>
            <a:ext cx="7827732" cy="3882611"/>
          </a:xfrm>
          <a:prstGeom prst="rect">
            <a:avLst/>
          </a:prstGeom>
          <a:ln>
            <a:noFill/>
          </a:ln>
          <a:effectLst>
            <a:outerShdw blurRad="292100" dist="139700" dir="2700000" algn="tl" rotWithShape="0">
              <a:srgbClr val="333333">
                <a:alpha val="65000"/>
              </a:srgbClr>
            </a:outerShdw>
          </a:effectLst>
        </p:spPr>
      </p:pic>
      <p:sp>
        <p:nvSpPr>
          <p:cNvPr id="9" name="TextBox 8">
            <a:extLst>
              <a:ext uri="{FF2B5EF4-FFF2-40B4-BE49-F238E27FC236}">
                <a16:creationId xmlns:a16="http://schemas.microsoft.com/office/drawing/2014/main" id="{3DFB7AFC-D3DB-1D27-295C-E3E16913E87B}"/>
              </a:ext>
            </a:extLst>
          </p:cNvPr>
          <p:cNvSpPr txBox="1"/>
          <p:nvPr/>
        </p:nvSpPr>
        <p:spPr>
          <a:xfrm>
            <a:off x="217499" y="4845612"/>
            <a:ext cx="11757002" cy="1592045"/>
          </a:xfrm>
          <a:prstGeom prst="rect">
            <a:avLst/>
          </a:prstGeom>
          <a:noFill/>
        </p:spPr>
        <p:txBody>
          <a:bodyPr wrap="square" lIns="0" tIns="0" rIns="0" bIns="0" rtlCol="0">
            <a:noAutofit/>
          </a:bodyPr>
          <a:lstStyle/>
          <a:p>
            <a:pPr algn="ctr">
              <a:lnSpc>
                <a:spcPct val="150000"/>
              </a:lnSpc>
            </a:pPr>
            <a:r>
              <a:rPr lang="en-AU" sz="3600"/>
              <a:t>Record the solution using a </a:t>
            </a:r>
            <a:r>
              <a:rPr lang="en-AU" sz="3600" b="1"/>
              <a:t>fraction</a:t>
            </a:r>
            <a:r>
              <a:rPr lang="en-AU" sz="3600"/>
              <a:t>, </a:t>
            </a:r>
            <a:r>
              <a:rPr lang="en-AU" sz="3600" b="1"/>
              <a:t>decimal</a:t>
            </a:r>
            <a:r>
              <a:rPr lang="en-AU" sz="3600"/>
              <a:t> or and </a:t>
            </a:r>
            <a:r>
              <a:rPr lang="en-AU" sz="3600" b="1"/>
              <a:t>words</a:t>
            </a:r>
            <a:r>
              <a:rPr lang="en-AU" sz="3600"/>
              <a:t>.</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4" name="TextBox 3">
            <a:extLst>
              <a:ext uri="{FF2B5EF4-FFF2-40B4-BE49-F238E27FC236}">
                <a16:creationId xmlns:a16="http://schemas.microsoft.com/office/drawing/2014/main" id="{790B5EDD-6B65-9010-F872-7BA3C7971B1E}"/>
              </a:ext>
            </a:extLst>
          </p:cNvPr>
          <p:cNvSpPr txBox="1"/>
          <p:nvPr/>
        </p:nvSpPr>
        <p:spPr>
          <a:xfrm>
            <a:off x="265275" y="1347325"/>
            <a:ext cx="11294666" cy="4890053"/>
          </a:xfrm>
          <a:prstGeom prst="rect">
            <a:avLst/>
          </a:prstGeom>
          <a:noFill/>
        </p:spPr>
        <p:txBody>
          <a:bodyPr wrap="square" lIns="0" tIns="0" rIns="0" bIns="0" rtlCol="0">
            <a:noAutofit/>
          </a:bodyPr>
          <a:lstStyle/>
          <a:p>
            <a:pPr algn="ctr">
              <a:lnSpc>
                <a:spcPct val="150000"/>
              </a:lnSpc>
            </a:pPr>
            <a:r>
              <a:rPr lang="en-AU" sz="3600"/>
              <a:t>Write each mass using </a:t>
            </a:r>
            <a:r>
              <a:rPr lang="en-AU" sz="3600" b="1"/>
              <a:t>kilograms</a:t>
            </a:r>
            <a:r>
              <a:rPr lang="en-AU" sz="3600"/>
              <a:t> (kg) and </a:t>
            </a:r>
          </a:p>
          <a:p>
            <a:pPr algn="ctr">
              <a:lnSpc>
                <a:spcPct val="150000"/>
              </a:lnSpc>
            </a:pPr>
            <a:r>
              <a:rPr lang="en-AU" sz="3600" b="1"/>
              <a:t>grams</a:t>
            </a:r>
            <a:r>
              <a:rPr lang="en-AU" sz="3600"/>
              <a:t> (g):</a:t>
            </a:r>
          </a:p>
          <a:p>
            <a:pPr marL="285750" indent="-285750" algn="ctr">
              <a:lnSpc>
                <a:spcPct val="150000"/>
              </a:lnSpc>
              <a:buFont typeface="Arial" panose="020B0604020202020204" pitchFamily="34" charset="0"/>
              <a:buChar char="•"/>
            </a:pPr>
            <a:r>
              <a:rPr lang="en-AU" sz="3600"/>
              <a:t>3.45 kg</a:t>
            </a:r>
          </a:p>
          <a:p>
            <a:pPr marL="285750" indent="-285750" algn="ctr">
              <a:lnSpc>
                <a:spcPct val="150000"/>
              </a:lnSpc>
              <a:buFont typeface="Arial" panose="020B0604020202020204" pitchFamily="34" charset="0"/>
              <a:buChar char="•"/>
            </a:pPr>
            <a:r>
              <a:rPr lang="en-AU" sz="3600"/>
              <a:t>2.08 kg</a:t>
            </a:r>
          </a:p>
          <a:p>
            <a:pPr marL="285750" indent="-285750" algn="ctr">
              <a:lnSpc>
                <a:spcPct val="150000"/>
              </a:lnSpc>
              <a:buFont typeface="Arial" panose="020B0604020202020204" pitchFamily="34" charset="0"/>
              <a:buChar char="•"/>
            </a:pPr>
            <a:r>
              <a:rPr lang="en-AU" sz="3600"/>
              <a:t>12.40 kg</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representing lengths as fractions and decimals</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A one metre ruler with a piece of A4 paper covering the first 25 cm of the ruler.">
            <a:extLst>
              <a:ext uri="{FF2B5EF4-FFF2-40B4-BE49-F238E27FC236}">
                <a16:creationId xmlns:a16="http://schemas.microsoft.com/office/drawing/2014/main" id="{9546D08C-C93B-FFE3-D5A5-741EF4F086D7}"/>
              </a:ext>
            </a:extLst>
          </p:cNvPr>
          <p:cNvPicPr>
            <a:picLocks noChangeAspect="1"/>
          </p:cNvPicPr>
          <p:nvPr/>
        </p:nvPicPr>
        <p:blipFill>
          <a:blip r:embed="rId4"/>
          <a:stretch>
            <a:fillRect/>
          </a:stretch>
        </p:blipFill>
        <p:spPr>
          <a:xfrm>
            <a:off x="642494" y="2812807"/>
            <a:ext cx="10907012" cy="1232386"/>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a:t>
            </a:r>
            <a:r>
              <a:rPr lang="en-US">
                <a:solidFill>
                  <a:schemeClr val="bg1"/>
                </a:solidFill>
              </a:rPr>
              <a:t> (3)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5" name="Text Placeholder">
                <a:extLst>
                  <a:ext uri="{FF2B5EF4-FFF2-40B4-BE49-F238E27FC236}">
                    <a16:creationId xmlns:a16="http://schemas.microsoft.com/office/drawing/2014/main" id="{669233A4-BFBD-69E5-AE92-AC49E049F00F}"/>
                  </a:ext>
                </a:extLst>
              </p:cNvPr>
              <p:cNvSpPr>
                <a:spLocks noGrp="1"/>
              </p:cNvSpPr>
              <p:nvPr>
                <p:ph type="body" sz="quarter" idx="24"/>
              </p:nvPr>
            </p:nvSpPr>
            <p:spPr>
              <a:xfrm>
                <a:off x="408406" y="939281"/>
                <a:ext cx="11242675" cy="893763"/>
              </a:xfrm>
            </p:spPr>
            <p:txBody>
              <a:bodyPr/>
              <a:lstStyle/>
              <a:p>
                <a:pPr algn="ctr"/>
                <a:r>
                  <a:rPr lang="en-US" sz="4400"/>
                  <a:t>How else could </a:t>
                </a:r>
                <a14:m>
                  <m:oMath xmlns:m="http://schemas.openxmlformats.org/officeDocument/2006/math">
                    <m:f>
                      <m:fPr>
                        <m:ctrlPr>
                          <a:rPr lang="en-AU" sz="5400" b="1" i="1" smtClean="0">
                            <a:solidFill>
                              <a:schemeClr val="tx1"/>
                            </a:solidFill>
                            <a:latin typeface="Cambria Math" panose="02040503050406030204" pitchFamily="18" charset="0"/>
                          </a:rPr>
                        </m:ctrlPr>
                      </m:fPr>
                      <m:num>
                        <m:r>
                          <a:rPr lang="en-AU" sz="5400" b="1" i="1" smtClean="0">
                            <a:solidFill>
                              <a:schemeClr val="tx1"/>
                            </a:solidFill>
                            <a:latin typeface="Cambria Math" panose="02040503050406030204" pitchFamily="18" charset="0"/>
                          </a:rPr>
                          <m:t>𝟓</m:t>
                        </m:r>
                      </m:num>
                      <m:den>
                        <m:r>
                          <a:rPr lang="en-AU" sz="5400" b="1" i="1" smtClean="0">
                            <a:solidFill>
                              <a:schemeClr val="tx1"/>
                            </a:solidFill>
                            <a:latin typeface="Cambria Math" panose="02040503050406030204" pitchFamily="18" charset="0"/>
                          </a:rPr>
                          <m:t>𝟗</m:t>
                        </m:r>
                      </m:den>
                    </m:f>
                  </m:oMath>
                </a14:m>
                <a:r>
                  <a:rPr lang="en-US" sz="4400"/>
                  <a:t> be </a:t>
                </a:r>
                <a:r>
                  <a:rPr lang="en-US" sz="4400" b="1"/>
                  <a:t>represented</a:t>
                </a:r>
                <a:r>
                  <a:rPr lang="en-US" sz="4400"/>
                  <a:t>?</a:t>
                </a:r>
              </a:p>
            </p:txBody>
          </p:sp>
        </mc:Choice>
        <mc:Fallback xmlns="">
          <p:sp>
            <p:nvSpPr>
              <p:cNvPr id="5" name="Text Placeholder">
                <a:extLst>
                  <a:ext uri="{FF2B5EF4-FFF2-40B4-BE49-F238E27FC236}">
                    <a16:creationId xmlns:a16="http://schemas.microsoft.com/office/drawing/2014/main" id="{669233A4-BFBD-69E5-AE92-AC49E049F00F}"/>
                  </a:ext>
                </a:extLst>
              </p:cNvPr>
              <p:cNvSpPr>
                <a:spLocks noGrp="1" noRot="1" noChangeAspect="1" noMove="1" noResize="1" noEditPoints="1" noAdjustHandles="1" noChangeArrowheads="1" noChangeShapeType="1" noTextEdit="1"/>
              </p:cNvSpPr>
              <p:nvPr>
                <p:ph type="body" sz="quarter" idx="24"/>
              </p:nvPr>
            </p:nvSpPr>
            <p:spPr>
              <a:xfrm>
                <a:off x="408406" y="939281"/>
                <a:ext cx="11242675" cy="893763"/>
              </a:xfrm>
              <a:blipFill>
                <a:blip r:embed="rId4"/>
                <a:stretch>
                  <a:fillRect b="-9727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E6EA9CC-6235-8807-420B-A4371AC418C0}"/>
              </a:ext>
            </a:extLst>
          </p:cNvPr>
          <p:cNvSpPr txBox="1"/>
          <p:nvPr/>
        </p:nvSpPr>
        <p:spPr>
          <a:xfrm>
            <a:off x="1082341" y="38221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D44F7608-9F93-4983-314D-2356514BE702}"/>
              </a:ext>
            </a:extLst>
          </p:cNvPr>
          <p:cNvSpPr txBox="1"/>
          <p:nvPr/>
        </p:nvSpPr>
        <p:spPr>
          <a:xfrm>
            <a:off x="348000" y="4947178"/>
            <a:ext cx="1952526" cy="1568822"/>
          </a:xfrm>
          <a:prstGeom prst="rect">
            <a:avLst/>
          </a:prstGeom>
          <a:noFill/>
        </p:spPr>
        <p:txBody>
          <a:bodyPr wrap="square" lIns="0" tIns="0" rIns="0" bIns="0" rtlCol="0">
            <a:noAutofit/>
          </a:bodyPr>
          <a:lstStyle/>
          <a:p>
            <a:pPr algn="ctr"/>
            <a:r>
              <a:rPr lang="en-AU" sz="3600"/>
              <a:t>5 groups of 9</a:t>
            </a:r>
          </a:p>
        </p:txBody>
      </p:sp>
      <p:sp>
        <p:nvSpPr>
          <p:cNvPr id="10" name="TextBox 9">
            <a:extLst>
              <a:ext uri="{FF2B5EF4-FFF2-40B4-BE49-F238E27FC236}">
                <a16:creationId xmlns:a16="http://schemas.microsoft.com/office/drawing/2014/main" id="{4AB24A3E-5574-D79C-6A0F-06D3F8A29BB1}"/>
              </a:ext>
            </a:extLst>
          </p:cNvPr>
          <p:cNvSpPr txBox="1"/>
          <p:nvPr/>
        </p:nvSpPr>
        <p:spPr>
          <a:xfrm>
            <a:off x="4014752" y="37975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056ADF8E-891B-D72F-0111-56736F11EF29}"/>
              </a:ext>
            </a:extLst>
          </p:cNvPr>
          <p:cNvSpPr txBox="1"/>
          <p:nvPr/>
        </p:nvSpPr>
        <p:spPr>
          <a:xfrm>
            <a:off x="3078814" y="4947178"/>
            <a:ext cx="2136585" cy="1568822"/>
          </a:xfrm>
          <a:prstGeom prst="rect">
            <a:avLst/>
          </a:prstGeom>
          <a:noFill/>
        </p:spPr>
        <p:txBody>
          <a:bodyPr wrap="square" lIns="0" tIns="0" rIns="0" bIns="0" rtlCol="0">
            <a:noAutofit/>
          </a:bodyPr>
          <a:lstStyle/>
          <a:p>
            <a:pPr algn="ctr"/>
            <a:r>
              <a:rPr lang="en-AU" sz="3600"/>
              <a:t>5 shared between 9</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098238" y="38318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5A2BF3CA-A173-D645-F636-A633BDE7BBEC}"/>
              </a:ext>
            </a:extLst>
          </p:cNvPr>
          <p:cNvSpPr txBox="1"/>
          <p:nvPr/>
        </p:nvSpPr>
        <p:spPr>
          <a:xfrm>
            <a:off x="6198673" y="4947178"/>
            <a:ext cx="2136585" cy="1568822"/>
          </a:xfrm>
          <a:prstGeom prst="rect">
            <a:avLst/>
          </a:prstGeom>
          <a:noFill/>
        </p:spPr>
        <p:txBody>
          <a:bodyPr wrap="square" lIns="0" tIns="0" rIns="0" bIns="0" rtlCol="0">
            <a:noAutofit/>
          </a:bodyPr>
          <a:lstStyle/>
          <a:p>
            <a:pPr algn="ctr"/>
            <a:r>
              <a:rPr lang="en-AU" sz="3600"/>
              <a:t>5 rows of 9</a:t>
            </a:r>
          </a:p>
        </p:txBody>
      </p:sp>
      <p:sp>
        <p:nvSpPr>
          <p:cNvPr id="11" name="TextBox 10">
            <a:extLst>
              <a:ext uri="{FF2B5EF4-FFF2-40B4-BE49-F238E27FC236}">
                <a16:creationId xmlns:a16="http://schemas.microsoft.com/office/drawing/2014/main" id="{C22AC239-77AC-A298-F7CD-0F89091EC017}"/>
              </a:ext>
            </a:extLst>
          </p:cNvPr>
          <p:cNvSpPr txBox="1"/>
          <p:nvPr/>
        </p:nvSpPr>
        <p:spPr>
          <a:xfrm>
            <a:off x="9917009" y="38538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3DA7E0DE-8F95-8041-37D5-B8B58D225816}"/>
              </a:ext>
            </a:extLst>
          </p:cNvPr>
          <p:cNvSpPr txBox="1"/>
          <p:nvPr/>
        </p:nvSpPr>
        <p:spPr>
          <a:xfrm>
            <a:off x="9010193" y="4947178"/>
            <a:ext cx="2136585" cy="1568822"/>
          </a:xfrm>
          <a:prstGeom prst="rect">
            <a:avLst/>
          </a:prstGeom>
          <a:noFill/>
        </p:spPr>
        <p:txBody>
          <a:bodyPr wrap="square" lIns="0" tIns="0" rIns="0" bIns="0" rtlCol="0">
            <a:noAutofit/>
          </a:bodyPr>
          <a:lstStyle/>
          <a:p>
            <a:pPr algn="ctr"/>
            <a:r>
              <a:rPr lang="en-AU" sz="3600"/>
              <a:t>5 divided by 9</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4" name="TextBox 3">
            <a:extLst>
              <a:ext uri="{FF2B5EF4-FFF2-40B4-BE49-F238E27FC236}">
                <a16:creationId xmlns:a16="http://schemas.microsoft.com/office/drawing/2014/main" id="{FA15CEEB-ADDC-F755-D89B-E93C69C7E342}"/>
              </a:ext>
            </a:extLst>
          </p:cNvPr>
          <p:cNvSpPr txBox="1"/>
          <p:nvPr/>
        </p:nvSpPr>
        <p:spPr>
          <a:xfrm>
            <a:off x="550831" y="1104710"/>
            <a:ext cx="10843716" cy="1446550"/>
          </a:xfrm>
          <a:prstGeom prst="rect">
            <a:avLst/>
          </a:prstGeom>
          <a:noFill/>
        </p:spPr>
        <p:txBody>
          <a:bodyPr wrap="square">
            <a:spAutoFit/>
          </a:bodyPr>
          <a:lstStyle/>
          <a:p>
            <a:pPr algn="ctr"/>
            <a:r>
              <a:rPr lang="en-AU" sz="4400" b="1" i="0">
                <a:solidFill>
                  <a:srgbClr val="000000"/>
                </a:solidFill>
                <a:effectLst/>
              </a:rPr>
              <a:t>Name</a:t>
            </a:r>
            <a:r>
              <a:rPr lang="en-AU" sz="4400" b="0" i="0">
                <a:solidFill>
                  <a:srgbClr val="000000"/>
                </a:solidFill>
                <a:effectLst/>
              </a:rPr>
              <a:t> these three-dimensional objects according to their </a:t>
            </a:r>
            <a:r>
              <a:rPr lang="en-AU" sz="4400" b="1" i="0">
                <a:solidFill>
                  <a:srgbClr val="000000"/>
                </a:solidFill>
                <a:effectLst/>
              </a:rPr>
              <a:t>base</a:t>
            </a:r>
            <a:r>
              <a:rPr lang="en-AU" sz="4400" b="0" i="0">
                <a:solidFill>
                  <a:srgbClr val="000000"/>
                </a:solidFill>
                <a:effectLst/>
              </a:rPr>
              <a:t>:</a:t>
            </a:r>
            <a:endParaRPr lang="en-AU" sz="4400"/>
          </a:p>
        </p:txBody>
      </p:sp>
      <p:sp>
        <p:nvSpPr>
          <p:cNvPr id="9" name="TextBox 8">
            <a:extLst>
              <a:ext uri="{FF2B5EF4-FFF2-40B4-BE49-F238E27FC236}">
                <a16:creationId xmlns:a16="http://schemas.microsoft.com/office/drawing/2014/main" id="{416F3046-564C-0DB3-6DE8-B5CCB8AE3653}"/>
              </a:ext>
            </a:extLst>
          </p:cNvPr>
          <p:cNvSpPr txBox="1"/>
          <p:nvPr/>
        </p:nvSpPr>
        <p:spPr>
          <a:xfrm>
            <a:off x="1192696" y="2996664"/>
            <a:ext cx="659958" cy="638042"/>
          </a:xfrm>
          <a:prstGeom prst="rect">
            <a:avLst/>
          </a:prstGeom>
          <a:noFill/>
        </p:spPr>
        <p:txBody>
          <a:bodyPr wrap="square" lIns="0" tIns="0" rIns="0" bIns="0" rtlCol="0">
            <a:noAutofit/>
          </a:bodyPr>
          <a:lstStyle/>
          <a:p>
            <a:pPr algn="ctr"/>
            <a:r>
              <a:rPr lang="en-AU" sz="4400"/>
              <a:t>1.</a:t>
            </a:r>
          </a:p>
        </p:txBody>
      </p:sp>
      <p:sp>
        <p:nvSpPr>
          <p:cNvPr id="10" name="TextBox 9">
            <a:extLst>
              <a:ext uri="{FF2B5EF4-FFF2-40B4-BE49-F238E27FC236}">
                <a16:creationId xmlns:a16="http://schemas.microsoft.com/office/drawing/2014/main" id="{CA8A554A-604F-D96A-FCAE-4B1DD1D680E1}"/>
              </a:ext>
            </a:extLst>
          </p:cNvPr>
          <p:cNvSpPr txBox="1"/>
          <p:nvPr/>
        </p:nvSpPr>
        <p:spPr>
          <a:xfrm>
            <a:off x="4639626" y="2985361"/>
            <a:ext cx="659958" cy="638042"/>
          </a:xfrm>
          <a:prstGeom prst="rect">
            <a:avLst/>
          </a:prstGeom>
          <a:noFill/>
        </p:spPr>
        <p:txBody>
          <a:bodyPr wrap="square" lIns="0" tIns="0" rIns="0" bIns="0" rtlCol="0">
            <a:noAutofit/>
          </a:bodyPr>
          <a:lstStyle/>
          <a:p>
            <a:pPr algn="ctr"/>
            <a:r>
              <a:rPr lang="en-AU" sz="4400"/>
              <a:t>2.</a:t>
            </a:r>
          </a:p>
        </p:txBody>
      </p:sp>
      <p:sp>
        <p:nvSpPr>
          <p:cNvPr id="11" name="TextBox 10">
            <a:extLst>
              <a:ext uri="{FF2B5EF4-FFF2-40B4-BE49-F238E27FC236}">
                <a16:creationId xmlns:a16="http://schemas.microsoft.com/office/drawing/2014/main" id="{69F2BBE5-9EBF-E40E-66A8-E9270995252E}"/>
              </a:ext>
            </a:extLst>
          </p:cNvPr>
          <p:cNvSpPr txBox="1"/>
          <p:nvPr/>
        </p:nvSpPr>
        <p:spPr>
          <a:xfrm>
            <a:off x="8418628" y="2917150"/>
            <a:ext cx="659958" cy="638042"/>
          </a:xfrm>
          <a:prstGeom prst="rect">
            <a:avLst/>
          </a:prstGeom>
          <a:noFill/>
        </p:spPr>
        <p:txBody>
          <a:bodyPr wrap="square" lIns="0" tIns="0" rIns="0" bIns="0" rtlCol="0">
            <a:noAutofit/>
          </a:bodyPr>
          <a:lstStyle/>
          <a:p>
            <a:pPr algn="ctr"/>
            <a:r>
              <a:rPr lang="en-AU" sz="4400"/>
              <a:t>3.</a:t>
            </a:r>
          </a:p>
        </p:txBody>
      </p:sp>
      <p:sp>
        <p:nvSpPr>
          <p:cNvPr id="12" name="Freeform 2" descr="A prism with a hexagonal base">
            <a:extLst>
              <a:ext uri="{FF2B5EF4-FFF2-40B4-BE49-F238E27FC236}">
                <a16:creationId xmlns:a16="http://schemas.microsoft.com/office/drawing/2014/main" id="{60B828A1-6D75-840F-4229-9110035F0139}"/>
              </a:ext>
            </a:extLst>
          </p:cNvPr>
          <p:cNvSpPr/>
          <p:nvPr/>
        </p:nvSpPr>
        <p:spPr>
          <a:xfrm>
            <a:off x="1852654" y="3634706"/>
            <a:ext cx="1967738" cy="2375984"/>
          </a:xfrm>
          <a:custGeom>
            <a:avLst/>
            <a:gdLst/>
            <a:ahLst/>
            <a:cxnLst/>
            <a:rect l="l" t="t" r="r" b="b"/>
            <a:pathLst>
              <a:path w="2407860" h="3024000">
                <a:moveTo>
                  <a:pt x="0" y="0"/>
                </a:moveTo>
                <a:lnTo>
                  <a:pt x="2407860" y="0"/>
                </a:lnTo>
                <a:lnTo>
                  <a:pt x="2407860" y="3024000"/>
                </a:lnTo>
                <a:lnTo>
                  <a:pt x="0" y="3024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3" name="Freeform 3" descr="a pyramid with a pentagonal base">
            <a:extLst>
              <a:ext uri="{FF2B5EF4-FFF2-40B4-BE49-F238E27FC236}">
                <a16:creationId xmlns:a16="http://schemas.microsoft.com/office/drawing/2014/main" id="{6A442745-6FD9-55CC-F1C4-390CBC02ADB4}"/>
              </a:ext>
            </a:extLst>
          </p:cNvPr>
          <p:cNvSpPr/>
          <p:nvPr/>
        </p:nvSpPr>
        <p:spPr>
          <a:xfrm>
            <a:off x="5162994" y="3387247"/>
            <a:ext cx="2364839" cy="2616630"/>
          </a:xfrm>
          <a:custGeom>
            <a:avLst/>
            <a:gdLst/>
            <a:ahLst/>
            <a:cxnLst/>
            <a:rect l="l" t="t" r="r" b="b"/>
            <a:pathLst>
              <a:path w="2732940" h="3024000">
                <a:moveTo>
                  <a:pt x="0" y="0"/>
                </a:moveTo>
                <a:lnTo>
                  <a:pt x="2732940" y="0"/>
                </a:lnTo>
                <a:lnTo>
                  <a:pt x="2732940" y="3024000"/>
                </a:lnTo>
                <a:lnTo>
                  <a:pt x="0" y="3024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4" name="Freeform 4" descr="a prism with a rectangular base">
            <a:extLst>
              <a:ext uri="{FF2B5EF4-FFF2-40B4-BE49-F238E27FC236}">
                <a16:creationId xmlns:a16="http://schemas.microsoft.com/office/drawing/2014/main" id="{9B21D687-B9B6-7418-CD88-34FE47317FF1}"/>
              </a:ext>
            </a:extLst>
          </p:cNvPr>
          <p:cNvSpPr/>
          <p:nvPr/>
        </p:nvSpPr>
        <p:spPr>
          <a:xfrm rot="-5400000">
            <a:off x="8726638" y="3690625"/>
            <a:ext cx="2616629" cy="1844142"/>
          </a:xfrm>
          <a:custGeom>
            <a:avLst/>
            <a:gdLst/>
            <a:ahLst/>
            <a:cxnLst/>
            <a:rect l="l" t="t" r="r" b="b"/>
            <a:pathLst>
              <a:path w="3167430" h="1864825">
                <a:moveTo>
                  <a:pt x="0" y="0"/>
                </a:moveTo>
                <a:lnTo>
                  <a:pt x="3167431" y="0"/>
                </a:lnTo>
                <a:lnTo>
                  <a:pt x="3167431" y="1864825"/>
                </a:lnTo>
                <a:lnTo>
                  <a:pt x="0" y="186482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5" name="TextBox 4">
            <a:extLst>
              <a:ext uri="{FF2B5EF4-FFF2-40B4-BE49-F238E27FC236}">
                <a16:creationId xmlns:a16="http://schemas.microsoft.com/office/drawing/2014/main" id="{A45DD0D6-7FED-A9B3-1553-CEC40F73FBD4}"/>
              </a:ext>
            </a:extLst>
          </p:cNvPr>
          <p:cNvSpPr txBox="1"/>
          <p:nvPr/>
        </p:nvSpPr>
        <p:spPr>
          <a:xfrm>
            <a:off x="439512" y="1350329"/>
            <a:ext cx="11506463" cy="5125570"/>
          </a:xfrm>
          <a:prstGeom prst="rect">
            <a:avLst/>
          </a:prstGeom>
          <a:noFill/>
        </p:spPr>
        <p:txBody>
          <a:bodyPr wrap="square">
            <a:spAutoFit/>
          </a:bodyPr>
          <a:lstStyle/>
          <a:p>
            <a:pPr algn="ctr">
              <a:lnSpc>
                <a:spcPct val="150000"/>
              </a:lnSpc>
              <a:spcBef>
                <a:spcPts val="1200"/>
              </a:spcBef>
              <a:spcAft>
                <a:spcPts val="600"/>
              </a:spcAft>
              <a:buNone/>
            </a:pPr>
            <a:r>
              <a:rPr lang="en-AU" sz="3200"/>
              <a:t>A spinner is divided into </a:t>
            </a:r>
            <a:r>
              <a:rPr lang="en-AU" sz="3200" b="1"/>
              <a:t>10 equal sections</a:t>
            </a:r>
            <a:r>
              <a:rPr lang="en-AU" sz="3200"/>
              <a:t>: </a:t>
            </a:r>
            <a:r>
              <a:rPr lang="en-AU" sz="3200" b="1">
                <a:solidFill>
                  <a:srgbClr val="00B050"/>
                </a:solidFill>
              </a:rPr>
              <a:t>4 green</a:t>
            </a:r>
            <a:r>
              <a:rPr lang="en-AU" sz="3200" b="1"/>
              <a:t>,</a:t>
            </a:r>
            <a:r>
              <a:rPr lang="en-AU" sz="3200" b="1">
                <a:solidFill>
                  <a:srgbClr val="447F2F"/>
                </a:solidFill>
              </a:rPr>
              <a:t> </a:t>
            </a:r>
            <a:r>
              <a:rPr lang="en-AU" sz="3200" b="1">
                <a:solidFill>
                  <a:schemeClr val="accent1">
                    <a:lumMod val="75000"/>
                    <a:lumOff val="25000"/>
                  </a:schemeClr>
                </a:solidFill>
              </a:rPr>
              <a:t>4 blue </a:t>
            </a:r>
            <a:r>
              <a:rPr lang="en-AU" sz="3200"/>
              <a:t>and </a:t>
            </a:r>
            <a:r>
              <a:rPr lang="en-AU" sz="3200" b="1">
                <a:solidFill>
                  <a:srgbClr val="EA9B0C"/>
                </a:solidFill>
              </a:rPr>
              <a:t>2 orange. </a:t>
            </a:r>
            <a:r>
              <a:rPr lang="en-AU" sz="3200"/>
              <a:t>The spinner is spun </a:t>
            </a:r>
            <a:r>
              <a:rPr lang="en-AU" sz="3200" b="1"/>
              <a:t>once</a:t>
            </a:r>
            <a:r>
              <a:rPr lang="en-AU" sz="3200"/>
              <a:t>.</a:t>
            </a:r>
          </a:p>
          <a:p>
            <a:pPr marL="342900" indent="-342900" algn="ctr">
              <a:lnSpc>
                <a:spcPct val="150000"/>
              </a:lnSpc>
              <a:spcBef>
                <a:spcPts val="1200"/>
              </a:spcBef>
              <a:spcAft>
                <a:spcPts val="600"/>
              </a:spcAft>
              <a:buFont typeface="Arial" panose="020B0604020202020204" pitchFamily="34" charset="0"/>
              <a:buChar char="•"/>
            </a:pPr>
            <a:r>
              <a:rPr lang="en-AU" sz="3200"/>
              <a:t>Which outcomes are </a:t>
            </a:r>
            <a:r>
              <a:rPr lang="en-AU" sz="3200" b="1"/>
              <a:t>equally likely? </a:t>
            </a:r>
          </a:p>
          <a:p>
            <a:pPr marL="342900" indent="-342900" algn="ctr">
              <a:lnSpc>
                <a:spcPct val="150000"/>
              </a:lnSpc>
              <a:spcBef>
                <a:spcPts val="1200"/>
              </a:spcBef>
              <a:spcAft>
                <a:spcPts val="600"/>
              </a:spcAft>
              <a:buFont typeface="Arial" panose="020B0604020202020204" pitchFamily="34" charset="0"/>
              <a:buChar char="•"/>
            </a:pPr>
            <a:r>
              <a:rPr lang="en-AU" sz="3200"/>
              <a:t>Would it be correct to say landing on </a:t>
            </a:r>
            <a:r>
              <a:rPr lang="en-AU" sz="3200" b="1">
                <a:solidFill>
                  <a:srgbClr val="EA9B0C"/>
                </a:solidFill>
              </a:rPr>
              <a:t>orange</a:t>
            </a:r>
            <a:r>
              <a:rPr lang="en-AU" sz="3200"/>
              <a:t> is </a:t>
            </a:r>
            <a:r>
              <a:rPr lang="en-AU" sz="3200" b="1"/>
              <a:t>equally likely </a:t>
            </a:r>
            <a:r>
              <a:rPr lang="en-AU" sz="3200"/>
              <a:t>as landing on </a:t>
            </a:r>
            <a:r>
              <a:rPr lang="en-AU" sz="3200" b="1">
                <a:solidFill>
                  <a:schemeClr val="accent2">
                    <a:lumMod val="75000"/>
                  </a:schemeClr>
                </a:solidFill>
              </a:rPr>
              <a:t>blue</a:t>
            </a:r>
            <a:r>
              <a:rPr lang="en-AU" sz="3200"/>
              <a:t>? </a:t>
            </a:r>
          </a:p>
          <a:p>
            <a:pPr algn="ctr">
              <a:lnSpc>
                <a:spcPct val="150000"/>
              </a:lnSpc>
              <a:spcBef>
                <a:spcPts val="1200"/>
              </a:spcBef>
              <a:spcAft>
                <a:spcPts val="600"/>
              </a:spcAft>
            </a:pPr>
            <a:r>
              <a:rPr lang="en-AU" sz="3200" b="1"/>
              <a:t>Communicate</a:t>
            </a:r>
            <a:r>
              <a:rPr lang="en-AU" sz="3200"/>
              <a:t> your </a:t>
            </a:r>
            <a:r>
              <a:rPr lang="en-AU" sz="3200" b="1"/>
              <a:t>reasoning</a:t>
            </a:r>
            <a:r>
              <a:rPr lang="en-AU" sz="3200"/>
              <a:t>.</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5" name="TextBox 4">
            <a:extLst>
              <a:ext uri="{FF2B5EF4-FFF2-40B4-BE49-F238E27FC236}">
                <a16:creationId xmlns:a16="http://schemas.microsoft.com/office/drawing/2014/main" id="{592640D6-B8CA-CFA4-46E7-05C2718DE477}"/>
              </a:ext>
            </a:extLst>
          </p:cNvPr>
          <p:cNvSpPr txBox="1"/>
          <p:nvPr/>
        </p:nvSpPr>
        <p:spPr>
          <a:xfrm>
            <a:off x="347996" y="1320481"/>
            <a:ext cx="11225050" cy="3007555"/>
          </a:xfrm>
          <a:prstGeom prst="rect">
            <a:avLst/>
          </a:prstGeom>
          <a:noFill/>
        </p:spPr>
        <p:txBody>
          <a:bodyPr wrap="square">
            <a:spAutoFit/>
          </a:bodyPr>
          <a:lstStyle/>
          <a:p>
            <a:pPr algn="ctr">
              <a:lnSpc>
                <a:spcPct val="150000"/>
              </a:lnSpc>
              <a:spcBef>
                <a:spcPts val="1200"/>
              </a:spcBef>
              <a:spcAft>
                <a:spcPts val="600"/>
              </a:spcAft>
            </a:pPr>
            <a:r>
              <a:rPr lang="en-AU" sz="3000"/>
              <a:t>A pattern is made using a </a:t>
            </a:r>
            <a:r>
              <a:rPr lang="en-AU" sz="3000" b="1"/>
              <a:t>triangle. </a:t>
            </a:r>
            <a:r>
              <a:rPr lang="en-AU" sz="3000"/>
              <a:t>Each term in the pattern adds </a:t>
            </a:r>
            <a:r>
              <a:rPr lang="en-AU" sz="3000" b="1"/>
              <a:t>one new triangle</a:t>
            </a:r>
            <a:r>
              <a:rPr lang="en-AU" sz="3000"/>
              <a:t>. The triangles are </a:t>
            </a:r>
            <a:r>
              <a:rPr lang="en-AU" sz="3000" b="1"/>
              <a:t>not joined together</a:t>
            </a:r>
            <a:r>
              <a:rPr lang="en-AU" sz="3000"/>
              <a:t>.</a:t>
            </a:r>
          </a:p>
          <a:p>
            <a:pPr algn="ctr">
              <a:lnSpc>
                <a:spcPct val="150000"/>
              </a:lnSpc>
              <a:spcBef>
                <a:spcPts val="1200"/>
              </a:spcBef>
              <a:spcAft>
                <a:spcPts val="600"/>
              </a:spcAft>
            </a:pPr>
            <a:r>
              <a:rPr lang="en-AU" sz="3000"/>
              <a:t>Record the numbers that complete the table of values by following the </a:t>
            </a:r>
            <a:r>
              <a:rPr lang="en-AU" sz="3000" b="1"/>
              <a:t>pattern rule</a:t>
            </a:r>
            <a:r>
              <a:rPr lang="en-AU" sz="3000"/>
              <a:t>.</a:t>
            </a:r>
          </a:p>
        </p:txBody>
      </p:sp>
      <p:graphicFrame>
        <p:nvGraphicFramePr>
          <p:cNvPr id="7" name="Table 6">
            <a:extLst>
              <a:ext uri="{FF2B5EF4-FFF2-40B4-BE49-F238E27FC236}">
                <a16:creationId xmlns:a16="http://schemas.microsoft.com/office/drawing/2014/main" id="{FB1E6247-727C-32AA-286B-0BF1926EC02F}"/>
              </a:ext>
            </a:extLst>
          </p:cNvPr>
          <p:cNvGraphicFramePr>
            <a:graphicFrameLocks noGrp="1"/>
          </p:cNvGraphicFramePr>
          <p:nvPr>
            <p:extLst>
              <p:ext uri="{D42A27DB-BD31-4B8C-83A1-F6EECF244321}">
                <p14:modId xmlns:p14="http://schemas.microsoft.com/office/powerpoint/2010/main" val="1978943736"/>
              </p:ext>
            </p:extLst>
          </p:nvPr>
        </p:nvGraphicFramePr>
        <p:xfrm>
          <a:off x="2544647" y="4599058"/>
          <a:ext cx="6831747" cy="1645920"/>
        </p:xfrm>
        <a:graphic>
          <a:graphicData uri="http://schemas.openxmlformats.org/drawingml/2006/table">
            <a:tbl>
              <a:tblPr firstRow="1" bandRow="1">
                <a:tableStyleId>{5A111915-BE36-4E01-A7E5-04B1672EAD32}</a:tableStyleId>
              </a:tblPr>
              <a:tblGrid>
                <a:gridCol w="1685507">
                  <a:extLst>
                    <a:ext uri="{9D8B030D-6E8A-4147-A177-3AD203B41FA5}">
                      <a16:colId xmlns:a16="http://schemas.microsoft.com/office/drawing/2014/main" val="1236809086"/>
                    </a:ext>
                  </a:extLst>
                </a:gridCol>
                <a:gridCol w="1029248">
                  <a:extLst>
                    <a:ext uri="{9D8B030D-6E8A-4147-A177-3AD203B41FA5}">
                      <a16:colId xmlns:a16="http://schemas.microsoft.com/office/drawing/2014/main" val="1927212829"/>
                    </a:ext>
                  </a:extLst>
                </a:gridCol>
                <a:gridCol w="1029248">
                  <a:extLst>
                    <a:ext uri="{9D8B030D-6E8A-4147-A177-3AD203B41FA5}">
                      <a16:colId xmlns:a16="http://schemas.microsoft.com/office/drawing/2014/main" val="2074268069"/>
                    </a:ext>
                  </a:extLst>
                </a:gridCol>
                <a:gridCol w="1029248">
                  <a:extLst>
                    <a:ext uri="{9D8B030D-6E8A-4147-A177-3AD203B41FA5}">
                      <a16:colId xmlns:a16="http://schemas.microsoft.com/office/drawing/2014/main" val="2424164643"/>
                    </a:ext>
                  </a:extLst>
                </a:gridCol>
                <a:gridCol w="1029248">
                  <a:extLst>
                    <a:ext uri="{9D8B030D-6E8A-4147-A177-3AD203B41FA5}">
                      <a16:colId xmlns:a16="http://schemas.microsoft.com/office/drawing/2014/main" val="3196664997"/>
                    </a:ext>
                  </a:extLst>
                </a:gridCol>
                <a:gridCol w="1029248">
                  <a:extLst>
                    <a:ext uri="{9D8B030D-6E8A-4147-A177-3AD203B41FA5}">
                      <a16:colId xmlns:a16="http://schemas.microsoft.com/office/drawing/2014/main" val="3052223537"/>
                    </a:ext>
                  </a:extLst>
                </a:gridCol>
              </a:tblGrid>
              <a:tr h="370840">
                <a:tc>
                  <a:txBody>
                    <a:bodyPr/>
                    <a:lstStyle/>
                    <a:p>
                      <a:r>
                        <a:rPr lang="en-AU" sz="2400" b="0">
                          <a:solidFill>
                            <a:schemeClr val="bg1"/>
                          </a:solidFill>
                        </a:rPr>
                        <a:t>Number of shapes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2400" b="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2400" b="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3733"/>
                  </a:ext>
                </a:extLst>
              </a:tr>
              <a:tr h="370840">
                <a:tc>
                  <a:txBody>
                    <a:bodyPr/>
                    <a:lstStyle/>
                    <a:p>
                      <a:r>
                        <a:rPr lang="en-AU" sz="2400">
                          <a:solidFill>
                            <a:schemeClr val="bg1"/>
                          </a:solidFill>
                        </a:rPr>
                        <a:t>Number of sides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2400" b="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6698130"/>
                  </a:ext>
                </a:extLst>
              </a:tr>
            </a:tbl>
          </a:graphicData>
        </a:graphic>
      </p:graphicFrame>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872FADDD-E356-4D0A-FDEF-6B3E53064F3C}"/>
              </a:ext>
            </a:extLst>
          </p:cNvPr>
          <p:cNvSpPr txBox="1"/>
          <p:nvPr/>
        </p:nvSpPr>
        <p:spPr>
          <a:xfrm>
            <a:off x="1010661" y="1665486"/>
            <a:ext cx="10170677" cy="4150581"/>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A concert starts at </a:t>
            </a:r>
            <a:r>
              <a:rPr lang="en-AU" sz="4400" b="1"/>
              <a:t>7:40 pm</a:t>
            </a:r>
            <a:r>
              <a:rPr lang="en-AU" sz="4400"/>
              <a:t> and finishes at </a:t>
            </a:r>
            <a:r>
              <a:rPr lang="en-AU" sz="4400" b="1"/>
              <a:t>9:15 pm</a:t>
            </a:r>
            <a:r>
              <a:rPr lang="en-AU" sz="4400"/>
              <a:t>.</a:t>
            </a:r>
          </a:p>
          <a:p>
            <a:pPr algn="ctr">
              <a:lnSpc>
                <a:spcPct val="150000"/>
              </a:lnSpc>
              <a:spcBef>
                <a:spcPts val="1200"/>
              </a:spcBef>
              <a:spcAft>
                <a:spcPts val="600"/>
              </a:spcAft>
            </a:pPr>
            <a:r>
              <a:rPr lang="en-AU" sz="4400"/>
              <a:t>Calculate the </a:t>
            </a:r>
            <a:r>
              <a:rPr lang="en-AU" sz="4400" b="1"/>
              <a:t>duration</a:t>
            </a:r>
            <a:r>
              <a:rPr lang="en-AU" sz="4400"/>
              <a:t> of the concert.</a:t>
            </a:r>
          </a:p>
          <a:p>
            <a:pPr algn="ctr"/>
            <a:endParaRPr lang="en-AU" sz="1800"/>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representing fractions as division (1)</a:t>
            </a:r>
            <a:endParaRPr lang="en-AU">
              <a:solidFill>
                <a:schemeClr val="bg1"/>
              </a:solidFill>
            </a:endParaRP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graphicFrame>
        <p:nvGraphicFramePr>
          <p:cNvPr id="3" name="Table 2">
            <a:extLst>
              <a:ext uri="{FF2B5EF4-FFF2-40B4-BE49-F238E27FC236}">
                <a16:creationId xmlns:a16="http://schemas.microsoft.com/office/drawing/2014/main" id="{55DAF137-5F27-6CB7-C004-511713716D77}"/>
              </a:ext>
            </a:extLst>
          </p:cNvPr>
          <p:cNvGraphicFramePr>
            <a:graphicFrameLocks noGrp="1"/>
          </p:cNvGraphicFramePr>
          <p:nvPr>
            <p:extLst>
              <p:ext uri="{D42A27DB-BD31-4B8C-83A1-F6EECF244321}">
                <p14:modId xmlns:p14="http://schemas.microsoft.com/office/powerpoint/2010/main" val="2477557309"/>
              </p:ext>
            </p:extLst>
          </p:nvPr>
        </p:nvGraphicFramePr>
        <p:xfrm>
          <a:off x="360000" y="1097258"/>
          <a:ext cx="10914948" cy="5334048"/>
        </p:xfrm>
        <a:graphic>
          <a:graphicData uri="http://schemas.openxmlformats.org/drawingml/2006/table">
            <a:tbl>
              <a:tblPr firstRow="1" firstCol="1" bandRow="1">
                <a:tableStyleId>{5A111915-BE36-4E01-A7E5-04B1672EAD32}</a:tableStyleId>
              </a:tblPr>
              <a:tblGrid>
                <a:gridCol w="2728737">
                  <a:extLst>
                    <a:ext uri="{9D8B030D-6E8A-4147-A177-3AD203B41FA5}">
                      <a16:colId xmlns:a16="http://schemas.microsoft.com/office/drawing/2014/main" val="579808029"/>
                    </a:ext>
                  </a:extLst>
                </a:gridCol>
                <a:gridCol w="2728737">
                  <a:extLst>
                    <a:ext uri="{9D8B030D-6E8A-4147-A177-3AD203B41FA5}">
                      <a16:colId xmlns:a16="http://schemas.microsoft.com/office/drawing/2014/main" val="3381262915"/>
                    </a:ext>
                  </a:extLst>
                </a:gridCol>
                <a:gridCol w="2728737">
                  <a:extLst>
                    <a:ext uri="{9D8B030D-6E8A-4147-A177-3AD203B41FA5}">
                      <a16:colId xmlns:a16="http://schemas.microsoft.com/office/drawing/2014/main" val="1580974997"/>
                    </a:ext>
                  </a:extLst>
                </a:gridCol>
                <a:gridCol w="2728737">
                  <a:extLst>
                    <a:ext uri="{9D8B030D-6E8A-4147-A177-3AD203B41FA5}">
                      <a16:colId xmlns:a16="http://schemas.microsoft.com/office/drawing/2014/main" val="689228240"/>
                    </a:ext>
                  </a:extLst>
                </a:gridCol>
              </a:tblGrid>
              <a:tr h="1333512">
                <a:tc>
                  <a:txBody>
                    <a:bodyPr/>
                    <a:lstStyle/>
                    <a:p>
                      <a:pPr algn="ctr">
                        <a:lnSpc>
                          <a:spcPct val="150000"/>
                        </a:lnSpc>
                        <a:spcBef>
                          <a:spcPts val="1200"/>
                        </a:spcBef>
                        <a:spcAft>
                          <a:spcPts val="600"/>
                        </a:spcAft>
                        <a:buNone/>
                      </a:pPr>
                      <a:r>
                        <a:rPr lang="en-AU" sz="2000" b="0">
                          <a:solidFill>
                            <a:schemeClr val="tx1"/>
                          </a:solidFill>
                          <a:effectLst/>
                        </a:rPr>
                        <a:t>3 divided by 4</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1 divided by 10</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2 shared between 5</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2 shared between 3</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7761762"/>
                  </a:ext>
                </a:extLst>
              </a:tr>
              <a:tr h="1333512">
                <a:tc>
                  <a:txBody>
                    <a:bodyPr/>
                    <a:lstStyle/>
                    <a:p>
                      <a:pPr algn="ctr">
                        <a:lnSpc>
                          <a:spcPct val="150000"/>
                        </a:lnSpc>
                        <a:spcBef>
                          <a:spcPts val="1200"/>
                        </a:spcBef>
                        <a:spcAft>
                          <a:spcPts val="600"/>
                        </a:spcAft>
                        <a:buNone/>
                      </a:pPr>
                      <a:r>
                        <a:rPr lang="en-AU" sz="2000" b="0">
                          <a:solidFill>
                            <a:schemeClr val="tx1"/>
                          </a:solidFill>
                          <a:effectLst/>
                        </a:rPr>
                        <a:t>4 divided by 9</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9 divided by 10</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1 shared between 4</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5 shared between 7</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72635"/>
                  </a:ext>
                </a:extLst>
              </a:tr>
              <a:tr h="1333512">
                <a:tc>
                  <a:txBody>
                    <a:bodyPr/>
                    <a:lstStyle/>
                    <a:p>
                      <a:pPr algn="ctr">
                        <a:lnSpc>
                          <a:spcPct val="150000"/>
                        </a:lnSpc>
                        <a:spcBef>
                          <a:spcPts val="1200"/>
                        </a:spcBef>
                        <a:spcAft>
                          <a:spcPts val="600"/>
                        </a:spcAft>
                        <a:buNone/>
                      </a:pPr>
                      <a:r>
                        <a:rPr lang="en-AU" sz="2000" b="0">
                          <a:solidFill>
                            <a:schemeClr val="tx1"/>
                          </a:solidFill>
                          <a:effectLst/>
                        </a:rPr>
                        <a:t>6 shared between 7</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7 divided by 9</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1 shared between 6</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3 divided by 8</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931534"/>
                  </a:ext>
                </a:extLst>
              </a:tr>
              <a:tr h="1333512">
                <a:tc>
                  <a:txBody>
                    <a:bodyPr/>
                    <a:lstStyle/>
                    <a:p>
                      <a:pPr algn="ctr">
                        <a:lnSpc>
                          <a:spcPct val="150000"/>
                        </a:lnSpc>
                        <a:spcBef>
                          <a:spcPts val="1200"/>
                        </a:spcBef>
                        <a:spcAft>
                          <a:spcPts val="600"/>
                        </a:spcAft>
                        <a:buNone/>
                      </a:pPr>
                      <a:r>
                        <a:rPr lang="en-AU" sz="2000" b="0">
                          <a:solidFill>
                            <a:schemeClr val="tx1"/>
                          </a:solidFill>
                          <a:effectLst/>
                        </a:rPr>
                        <a:t>4 divided by 6</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5 divided by 8</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1 shared between 2</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r>
                        <a:rPr lang="en-AU" sz="2000" b="0">
                          <a:solidFill>
                            <a:schemeClr val="tx1"/>
                          </a:solidFill>
                          <a:effectLst/>
                        </a:rPr>
                        <a:t>3 shared between 5</a:t>
                      </a:r>
                      <a:endParaRPr lang="en-AU" sz="1100" b="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749691"/>
                  </a:ext>
                </a:extLst>
              </a:tr>
            </a:tbl>
          </a:graphicData>
        </a:graphic>
      </p:graphicFrame>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82665-60D9-4132-676D-F5F0E6BE471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C4DE6C7-066F-5FE2-FD12-8CC18CA34D74}"/>
              </a:ext>
            </a:extLst>
          </p:cNvPr>
          <p:cNvSpPr>
            <a:spLocks noGrp="1"/>
          </p:cNvSpPr>
          <p:nvPr>
            <p:ph type="title"/>
          </p:nvPr>
        </p:nvSpPr>
        <p:spPr>
          <a:xfrm>
            <a:off x="360000" y="360000"/>
            <a:ext cx="10367268" cy="545601"/>
          </a:xfrm>
        </p:spPr>
        <p:txBody>
          <a:bodyPr/>
          <a:lstStyle/>
          <a:p>
            <a:r>
              <a:rPr lang="en-AU"/>
              <a:t>Activity 5 – representing fractions as division (2)</a:t>
            </a:r>
            <a:endParaRPr lang="en-AU">
              <a:solidFill>
                <a:schemeClr val="bg1"/>
              </a:solidFill>
            </a:endParaRPr>
          </a:p>
        </p:txBody>
      </p:sp>
      <p:pic>
        <p:nvPicPr>
          <p:cNvPr id="4" name="Picture 3">
            <a:extLst>
              <a:ext uri="{FF2B5EF4-FFF2-40B4-BE49-F238E27FC236}">
                <a16:creationId xmlns:a16="http://schemas.microsoft.com/office/drawing/2014/main" id="{90F1579A-893F-1C42-9F52-1D3ACB8D6A2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1FF2671-94D1-B8EF-6E1D-38DB74267C8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B6F60E8-080E-BCE6-C21C-7691F2E12EB8}"/>
                  </a:ext>
                </a:extLst>
              </p:cNvPr>
              <p:cNvGraphicFramePr>
                <a:graphicFrameLocks noGrp="1"/>
              </p:cNvGraphicFramePr>
              <p:nvPr>
                <p:extLst>
                  <p:ext uri="{D42A27DB-BD31-4B8C-83A1-F6EECF244321}">
                    <p14:modId xmlns:p14="http://schemas.microsoft.com/office/powerpoint/2010/main" val="109734309"/>
                  </p:ext>
                </p:extLst>
              </p:nvPr>
            </p:nvGraphicFramePr>
            <p:xfrm>
              <a:off x="360000" y="1200647"/>
              <a:ext cx="11002416" cy="5200154"/>
            </p:xfrm>
            <a:graphic>
              <a:graphicData uri="http://schemas.openxmlformats.org/drawingml/2006/table">
                <a:tbl>
                  <a:tblPr firstRow="1" firstCol="1" bandRow="1">
                    <a:tableStyleId>{5A111915-BE36-4E01-A7E5-04B1672EAD32}</a:tableStyleId>
                  </a:tblPr>
                  <a:tblGrid>
                    <a:gridCol w="2750604">
                      <a:extLst>
                        <a:ext uri="{9D8B030D-6E8A-4147-A177-3AD203B41FA5}">
                          <a16:colId xmlns:a16="http://schemas.microsoft.com/office/drawing/2014/main" val="3555884008"/>
                        </a:ext>
                      </a:extLst>
                    </a:gridCol>
                    <a:gridCol w="2750604">
                      <a:extLst>
                        <a:ext uri="{9D8B030D-6E8A-4147-A177-3AD203B41FA5}">
                          <a16:colId xmlns:a16="http://schemas.microsoft.com/office/drawing/2014/main" val="3537123510"/>
                        </a:ext>
                      </a:extLst>
                    </a:gridCol>
                    <a:gridCol w="2750604">
                      <a:extLst>
                        <a:ext uri="{9D8B030D-6E8A-4147-A177-3AD203B41FA5}">
                          <a16:colId xmlns:a16="http://schemas.microsoft.com/office/drawing/2014/main" val="3518290067"/>
                        </a:ext>
                      </a:extLst>
                    </a:gridCol>
                    <a:gridCol w="2750604">
                      <a:extLst>
                        <a:ext uri="{9D8B030D-6E8A-4147-A177-3AD203B41FA5}">
                          <a16:colId xmlns:a16="http://schemas.microsoft.com/office/drawing/2014/main" val="3581126896"/>
                        </a:ext>
                      </a:extLst>
                    </a:gridCol>
                  </a:tblGrid>
                  <a:tr h="1294089">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3</m:t>
                                    </m:r>
                                  </m:num>
                                  <m:den>
                                    <m:r>
                                      <a:rPr lang="en-AU" sz="2800">
                                        <a:solidFill>
                                          <a:schemeClr val="tx1"/>
                                        </a:solidFill>
                                        <a:effectLst/>
                                        <a:latin typeface="Cambria Math" panose="02040503050406030204" pitchFamily="18" charset="0"/>
                                      </a:rPr>
                                      <m:t>4</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2</m:t>
                                    </m:r>
                                  </m:num>
                                  <m:den>
                                    <m:r>
                                      <a:rPr lang="en-AU" sz="2800">
                                        <a:solidFill>
                                          <a:schemeClr val="tx1"/>
                                        </a:solidFill>
                                        <a:effectLst/>
                                        <a:latin typeface="Cambria Math" panose="02040503050406030204" pitchFamily="18" charset="0"/>
                                      </a:rPr>
                                      <m:t>5</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4</m:t>
                                    </m:r>
                                  </m:num>
                                  <m:den>
                                    <m:r>
                                      <a:rPr lang="en-AU" sz="2800">
                                        <a:solidFill>
                                          <a:schemeClr val="tx1"/>
                                        </a:solidFill>
                                        <a:effectLst/>
                                        <a:latin typeface="Cambria Math" panose="02040503050406030204" pitchFamily="18" charset="0"/>
                                      </a:rPr>
                                      <m:t>6</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6</m:t>
                                    </m:r>
                                  </m:num>
                                  <m:den>
                                    <m:r>
                                      <a:rPr lang="en-AU" sz="2800">
                                        <a:solidFill>
                                          <a:schemeClr val="tx1"/>
                                        </a:solidFill>
                                        <a:effectLst/>
                                        <a:latin typeface="Cambria Math" panose="02040503050406030204" pitchFamily="18" charset="0"/>
                                      </a:rPr>
                                      <m:t>7</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3342488"/>
                      </a:ext>
                    </a:extLst>
                  </a:tr>
                  <a:tr h="1307167">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7</m:t>
                                    </m:r>
                                  </m:num>
                                  <m:den>
                                    <m:r>
                                      <a:rPr lang="en-AU" sz="2800">
                                        <a:solidFill>
                                          <a:schemeClr val="tx1"/>
                                        </a:solidFill>
                                        <a:effectLst/>
                                        <a:latin typeface="Cambria Math" panose="02040503050406030204" pitchFamily="18" charset="0"/>
                                      </a:rPr>
                                      <m:t>9</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5</m:t>
                                    </m:r>
                                  </m:num>
                                  <m:den>
                                    <m:r>
                                      <a:rPr lang="en-AU" sz="2800">
                                        <a:solidFill>
                                          <a:schemeClr val="tx1"/>
                                        </a:solidFill>
                                        <a:effectLst/>
                                        <a:latin typeface="Cambria Math" panose="02040503050406030204" pitchFamily="18" charset="0"/>
                                      </a:rPr>
                                      <m:t>8</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1</m:t>
                                    </m:r>
                                  </m:num>
                                  <m:den>
                                    <m:r>
                                      <a:rPr lang="en-AU" sz="2800">
                                        <a:solidFill>
                                          <a:schemeClr val="tx1"/>
                                        </a:solidFill>
                                        <a:effectLst/>
                                        <a:latin typeface="Cambria Math" panose="02040503050406030204" pitchFamily="18" charset="0"/>
                                      </a:rPr>
                                      <m:t>10</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1</m:t>
                                    </m:r>
                                  </m:num>
                                  <m:den>
                                    <m:r>
                                      <a:rPr lang="en-AU" sz="2800">
                                        <a:solidFill>
                                          <a:schemeClr val="tx1"/>
                                        </a:solidFill>
                                        <a:effectLst/>
                                        <a:latin typeface="Cambria Math" panose="02040503050406030204" pitchFamily="18" charset="0"/>
                                      </a:rPr>
                                      <m:t>2</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412902"/>
                      </a:ext>
                    </a:extLst>
                  </a:tr>
                  <a:tr h="1294089">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2</m:t>
                                    </m:r>
                                  </m:num>
                                  <m:den>
                                    <m:r>
                                      <a:rPr lang="en-AU" sz="2800">
                                        <a:solidFill>
                                          <a:schemeClr val="tx1"/>
                                        </a:solidFill>
                                        <a:effectLst/>
                                        <a:latin typeface="Cambria Math" panose="02040503050406030204" pitchFamily="18" charset="0"/>
                                      </a:rPr>
                                      <m:t>3</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1</m:t>
                                    </m:r>
                                  </m:num>
                                  <m:den>
                                    <m:r>
                                      <a:rPr lang="en-AU" sz="2800">
                                        <a:solidFill>
                                          <a:schemeClr val="tx1"/>
                                        </a:solidFill>
                                        <a:effectLst/>
                                        <a:latin typeface="Cambria Math" panose="02040503050406030204" pitchFamily="18" charset="0"/>
                                      </a:rPr>
                                      <m:t>4</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3</m:t>
                                    </m:r>
                                  </m:num>
                                  <m:den>
                                    <m:r>
                                      <a:rPr lang="en-AU" sz="2800">
                                        <a:solidFill>
                                          <a:schemeClr val="tx1"/>
                                        </a:solidFill>
                                        <a:effectLst/>
                                        <a:latin typeface="Cambria Math" panose="02040503050406030204" pitchFamily="18" charset="0"/>
                                      </a:rPr>
                                      <m:t>8</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4</m:t>
                                    </m:r>
                                  </m:num>
                                  <m:den>
                                    <m:r>
                                      <a:rPr lang="en-AU" sz="2800">
                                        <a:solidFill>
                                          <a:schemeClr val="tx1"/>
                                        </a:solidFill>
                                        <a:effectLst/>
                                        <a:latin typeface="Cambria Math" panose="02040503050406030204" pitchFamily="18" charset="0"/>
                                      </a:rPr>
                                      <m:t>9</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880213"/>
                      </a:ext>
                    </a:extLst>
                  </a:tr>
                  <a:tr h="1304809">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9</m:t>
                                    </m:r>
                                  </m:num>
                                  <m:den>
                                    <m:r>
                                      <a:rPr lang="en-AU" sz="2800">
                                        <a:solidFill>
                                          <a:schemeClr val="tx1"/>
                                        </a:solidFill>
                                        <a:effectLst/>
                                        <a:latin typeface="Cambria Math" panose="02040503050406030204" pitchFamily="18" charset="0"/>
                                      </a:rPr>
                                      <m:t>10</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5</m:t>
                                    </m:r>
                                  </m:num>
                                  <m:den>
                                    <m:r>
                                      <a:rPr lang="en-AU" sz="2800">
                                        <a:solidFill>
                                          <a:schemeClr val="tx1"/>
                                        </a:solidFill>
                                        <a:effectLst/>
                                        <a:latin typeface="Cambria Math" panose="02040503050406030204" pitchFamily="18" charset="0"/>
                                      </a:rPr>
                                      <m:t>7</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3</m:t>
                                    </m:r>
                                  </m:num>
                                  <m:den>
                                    <m:r>
                                      <a:rPr lang="en-AU" sz="2800">
                                        <a:solidFill>
                                          <a:schemeClr val="tx1"/>
                                        </a:solidFill>
                                        <a:effectLst/>
                                        <a:latin typeface="Cambria Math" panose="02040503050406030204" pitchFamily="18" charset="0"/>
                                      </a:rPr>
                                      <m:t>5</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spcBef>
                              <a:spcPts val="1200"/>
                            </a:spcBef>
                            <a:spcAft>
                              <a:spcPts val="600"/>
                            </a:spcAft>
                            <a:buNone/>
                          </a:pPr>
                          <a14:m>
                            <m:oMathPara xmlns:m="http://schemas.openxmlformats.org/officeDocument/2006/math">
                              <m:oMathParaPr>
                                <m:jc m:val="centerGroup"/>
                              </m:oMathParaPr>
                              <m:oMath xmlns:m="http://schemas.openxmlformats.org/officeDocument/2006/math">
                                <m:f>
                                  <m:fPr>
                                    <m:ctrlPr>
                                      <a:rPr lang="en-AU" sz="2800" i="1" smtClean="0">
                                        <a:solidFill>
                                          <a:schemeClr val="tx1"/>
                                        </a:solidFill>
                                        <a:effectLst/>
                                        <a:latin typeface="Cambria Math" panose="02040503050406030204" pitchFamily="18" charset="0"/>
                                      </a:rPr>
                                    </m:ctrlPr>
                                  </m:fPr>
                                  <m:num>
                                    <m:r>
                                      <a:rPr lang="en-AU" sz="2800">
                                        <a:solidFill>
                                          <a:schemeClr val="tx1"/>
                                        </a:solidFill>
                                        <a:effectLst/>
                                        <a:latin typeface="Cambria Math" panose="02040503050406030204" pitchFamily="18" charset="0"/>
                                      </a:rPr>
                                      <m:t>1</m:t>
                                    </m:r>
                                  </m:num>
                                  <m:den>
                                    <m:r>
                                      <a:rPr lang="en-AU" sz="2800">
                                        <a:solidFill>
                                          <a:schemeClr val="tx1"/>
                                        </a:solidFill>
                                        <a:effectLst/>
                                        <a:latin typeface="Cambria Math" panose="02040503050406030204" pitchFamily="18" charset="0"/>
                                      </a:rPr>
                                      <m:t>6</m:t>
                                    </m:r>
                                  </m:den>
                                </m:f>
                              </m:oMath>
                            </m:oMathPara>
                          </a14:m>
                          <a:endParaRPr lang="en-AU"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6751876"/>
                      </a:ext>
                    </a:extLst>
                  </a:tr>
                </a:tbl>
              </a:graphicData>
            </a:graphic>
          </p:graphicFrame>
        </mc:Choice>
        <mc:Fallback xmlns="">
          <p:graphicFrame>
            <p:nvGraphicFramePr>
              <p:cNvPr id="3" name="Table 2">
                <a:extLst>
                  <a:ext uri="{FF2B5EF4-FFF2-40B4-BE49-F238E27FC236}">
                    <a16:creationId xmlns:a16="http://schemas.microsoft.com/office/drawing/2014/main" id="{AB6F60E8-080E-BCE6-C21C-7691F2E12EB8}"/>
                  </a:ext>
                </a:extLst>
              </p:cNvPr>
              <p:cNvGraphicFramePr>
                <a:graphicFrameLocks noGrp="1"/>
              </p:cNvGraphicFramePr>
              <p:nvPr>
                <p:extLst>
                  <p:ext uri="{D42A27DB-BD31-4B8C-83A1-F6EECF244321}">
                    <p14:modId xmlns:p14="http://schemas.microsoft.com/office/powerpoint/2010/main" val="109734309"/>
                  </p:ext>
                </p:extLst>
              </p:nvPr>
            </p:nvGraphicFramePr>
            <p:xfrm>
              <a:off x="360000" y="1200647"/>
              <a:ext cx="11002416" cy="5200154"/>
            </p:xfrm>
            <a:graphic>
              <a:graphicData uri="http://schemas.openxmlformats.org/drawingml/2006/table">
                <a:tbl>
                  <a:tblPr firstRow="1" firstCol="1" bandRow="1">
                    <a:tableStyleId>{5A111915-BE36-4E01-A7E5-04B1672EAD32}</a:tableStyleId>
                  </a:tblPr>
                  <a:tblGrid>
                    <a:gridCol w="2750604">
                      <a:extLst>
                        <a:ext uri="{9D8B030D-6E8A-4147-A177-3AD203B41FA5}">
                          <a16:colId xmlns:a16="http://schemas.microsoft.com/office/drawing/2014/main" val="3555884008"/>
                        </a:ext>
                      </a:extLst>
                    </a:gridCol>
                    <a:gridCol w="2750604">
                      <a:extLst>
                        <a:ext uri="{9D8B030D-6E8A-4147-A177-3AD203B41FA5}">
                          <a16:colId xmlns:a16="http://schemas.microsoft.com/office/drawing/2014/main" val="3537123510"/>
                        </a:ext>
                      </a:extLst>
                    </a:gridCol>
                    <a:gridCol w="2750604">
                      <a:extLst>
                        <a:ext uri="{9D8B030D-6E8A-4147-A177-3AD203B41FA5}">
                          <a16:colId xmlns:a16="http://schemas.microsoft.com/office/drawing/2014/main" val="3518290067"/>
                        </a:ext>
                      </a:extLst>
                    </a:gridCol>
                    <a:gridCol w="2750604">
                      <a:extLst>
                        <a:ext uri="{9D8B030D-6E8A-4147-A177-3AD203B41FA5}">
                          <a16:colId xmlns:a16="http://schemas.microsoft.com/office/drawing/2014/main" val="3581126896"/>
                        </a:ext>
                      </a:extLst>
                    </a:gridCol>
                  </a:tblGrid>
                  <a:tr h="1294089">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2" t="-469" r="-300665" b="-302347"/>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469" r="-200000" b="-302347"/>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43" t="-469" r="-100443" b="-302347"/>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443" t="-469" r="-443" b="-302347"/>
                          </a:stretch>
                        </a:blipFill>
                      </a:tcPr>
                    </a:tc>
                    <a:extLst>
                      <a:ext uri="{0D108BD9-81ED-4DB2-BD59-A6C34878D82A}">
                        <a16:rowId xmlns:a16="http://schemas.microsoft.com/office/drawing/2014/main" val="3333342488"/>
                      </a:ext>
                    </a:extLst>
                  </a:tr>
                  <a:tr h="1307167">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2" t="-99535" r="-300665" b="-199535"/>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99535" r="-200000" b="-199535"/>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43" t="-99535" r="-100443" b="-199535"/>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443" t="-99535" r="-443" b="-199535"/>
                          </a:stretch>
                        </a:blipFill>
                      </a:tcPr>
                    </a:tc>
                    <a:extLst>
                      <a:ext uri="{0D108BD9-81ED-4DB2-BD59-A6C34878D82A}">
                        <a16:rowId xmlns:a16="http://schemas.microsoft.com/office/drawing/2014/main" val="1230412902"/>
                      </a:ext>
                    </a:extLst>
                  </a:tr>
                  <a:tr h="1294089">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2" t="-202358" r="-300665" b="-102358"/>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02358" r="-200000" b="-102358"/>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43" t="-202358" r="-100443" b="-102358"/>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443" t="-202358" r="-443" b="-102358"/>
                          </a:stretch>
                        </a:blipFill>
                      </a:tcPr>
                    </a:tc>
                    <a:extLst>
                      <a:ext uri="{0D108BD9-81ED-4DB2-BD59-A6C34878D82A}">
                        <a16:rowId xmlns:a16="http://schemas.microsoft.com/office/drawing/2014/main" val="3741880213"/>
                      </a:ext>
                    </a:extLst>
                  </a:tr>
                  <a:tr h="1304809">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22" t="-298140" r="-300665" b="-930"/>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98140" r="-200000" b="-930"/>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443" t="-298140" r="-100443" b="-930"/>
                          </a:stretch>
                        </a:blipFill>
                      </a:tcPr>
                    </a:tc>
                    <a:tc>
                      <a:txBody>
                        <a:bodyPr/>
                        <a:lstStyle/>
                        <a:p>
                          <a:endParaRPr lang="en-US"/>
                        </a:p>
                      </a:txBody>
                      <a:tcPr marL="64909" marR="6490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0443" t="-298140" r="-443" b="-930"/>
                          </a:stretch>
                        </a:blipFill>
                      </a:tcPr>
                    </a:tc>
                    <a:extLst>
                      <a:ext uri="{0D108BD9-81ED-4DB2-BD59-A6C34878D82A}">
                        <a16:rowId xmlns:a16="http://schemas.microsoft.com/office/drawing/2014/main" val="2536751876"/>
                      </a:ext>
                    </a:extLst>
                  </a:tr>
                </a:tbl>
              </a:graphicData>
            </a:graphic>
          </p:graphicFrame>
        </mc:Fallback>
      </mc:AlternateContent>
    </p:spTree>
    <p:extLst>
      <p:ext uri="{BB962C8B-B14F-4D97-AF65-F5344CB8AC3E}">
        <p14:creationId xmlns:p14="http://schemas.microsoft.com/office/powerpoint/2010/main" val="139754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1500716"/>
                <a:ext cx="11243037" cy="893226"/>
              </a:xfrm>
            </p:spPr>
            <p:txBody>
              <a:bodyPr/>
              <a:lstStyle/>
              <a:p>
                <a:pPr algn="ctr"/>
                <a:r>
                  <a:rPr lang="en-AU" sz="4400">
                    <a:solidFill>
                      <a:schemeClr val="accent2"/>
                    </a:solidFill>
                  </a:rPr>
                  <a:t>8 ÷ 4 </a:t>
                </a:r>
                <a:r>
                  <a:rPr lang="en-AU" sz="4400"/>
                  <a:t>can be written as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8</m:t>
                        </m:r>
                      </m:num>
                      <m:den>
                        <m:r>
                          <a:rPr lang="en-AU" sz="4400" b="0" i="1" smtClean="0">
                            <a:solidFill>
                              <a:schemeClr val="accent2"/>
                            </a:solidFill>
                            <a:latin typeface="Cambria Math" panose="02040503050406030204" pitchFamily="18" charset="0"/>
                          </a:rPr>
                          <m:t>4</m:t>
                        </m:r>
                      </m:den>
                    </m:f>
                  </m:oMath>
                </a14:m>
                <a:r>
                  <a:rPr lang="en-AU" sz="4400"/>
                  <a:t>.</a:t>
                </a:r>
              </a:p>
            </p:txBody>
          </p:sp>
        </mc:Choice>
        <mc:Fallback xmlns="">
          <p:sp>
            <p:nvSpPr>
              <p:cNvPr id="6" name="Text Placeholder 5">
                <a:extLst>
                  <a:ext uri="{FF2B5EF4-FFF2-40B4-BE49-F238E27FC236}">
                    <a16:creationId xmlns:a16="http://schemas.microsoft.com/office/drawing/2014/main" id="{B4E45FD3-3CB9-7929-21B5-6CF9A37684C0}"/>
                  </a:ext>
                </a:extLst>
              </p:cNvPr>
              <p:cNvSpPr>
                <a:spLocks noGrp="1" noRot="1" noChangeAspect="1" noMove="1" noResize="1" noEditPoints="1" noAdjustHandles="1" noChangeArrowheads="1" noChangeShapeType="1" noTextEdit="1"/>
              </p:cNvSpPr>
              <p:nvPr>
                <p:ph type="body" sz="quarter" idx="22"/>
              </p:nvPr>
            </p:nvSpPr>
            <p:spPr>
              <a:xfrm>
                <a:off x="360000" y="1500716"/>
                <a:ext cx="11243037" cy="893226"/>
              </a:xfrm>
              <a:blipFill>
                <a:blip r:embed="rId3"/>
                <a:stretch>
                  <a:fillRect b="-65986"/>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253443148"/>
              </p:ext>
            </p:extLst>
          </p:nvPr>
        </p:nvGraphicFramePr>
        <p:xfrm>
          <a:off x="2557462" y="397466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 Placeholder 5">
            <a:extLst>
              <a:ext uri="{FF2B5EF4-FFF2-40B4-BE49-F238E27FC236}">
                <a16:creationId xmlns:a16="http://schemas.microsoft.com/office/drawing/2014/main" id="{3B74D82D-A7A1-3961-1CCE-CB3B9DB5B146}"/>
              </a:ext>
            </a:extLst>
          </p:cNvPr>
          <p:cNvSpPr txBox="1">
            <a:spLocks/>
          </p:cNvSpPr>
          <p:nvPr/>
        </p:nvSpPr>
        <p:spPr>
          <a:xfrm>
            <a:off x="647418" y="5344356"/>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D3B55FE-0031-56F9-500B-656DD3BF37DF}"/>
                  </a:ext>
                </a:extLst>
              </p:cNvPr>
              <p:cNvSpPr txBox="1"/>
              <p:nvPr/>
            </p:nvSpPr>
            <p:spPr>
              <a:xfrm>
                <a:off x="670330" y="1053085"/>
                <a:ext cx="10851339" cy="2051958"/>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b="1"/>
                  <a:t>Match </a:t>
                </a:r>
                <a:r>
                  <a:rPr lang="en-AU" sz="4400"/>
                  <a:t>the </a:t>
                </a:r>
                <a:r>
                  <a:rPr lang="en-AU" sz="4400" b="1"/>
                  <a:t>equivalent capacities</a:t>
                </a:r>
                <a:r>
                  <a:rPr lang="en-AU" sz="4400"/>
                  <a:t>:</a:t>
                </a:r>
              </a:p>
              <a:p>
                <a:pPr>
                  <a:lnSpc>
                    <a:spcPct val="150000"/>
                  </a:lnSpc>
                  <a:spcBef>
                    <a:spcPts val="1200"/>
                  </a:spcBef>
                  <a:spcAft>
                    <a:spcPts val="600"/>
                  </a:spcAft>
                </a:pPr>
                <a:r>
                  <a:rPr lang="en-AU" sz="4400"/>
                  <a:t>a. </a:t>
                </a:r>
                <a:r>
                  <a:rPr lang="en-AU" sz="4400">
                    <a:solidFill>
                      <a:schemeClr val="accent2"/>
                    </a:solidFill>
                  </a:rPr>
                  <a:t>2.45 L</a:t>
                </a:r>
                <a:r>
                  <a:rPr lang="en-AU" sz="4400"/>
                  <a:t>								1. </a:t>
                </a:r>
                <a:r>
                  <a:rPr lang="en-AU" sz="4400">
                    <a:solidFill>
                      <a:schemeClr val="accent2"/>
                    </a:solidFill>
                  </a:rPr>
                  <a:t>5 mL</a:t>
                </a:r>
              </a:p>
              <a:p>
                <a:pPr>
                  <a:lnSpc>
                    <a:spcPct val="150000"/>
                  </a:lnSpc>
                  <a:spcBef>
                    <a:spcPts val="1200"/>
                  </a:spcBef>
                  <a:spcAft>
                    <a:spcPts val="600"/>
                  </a:spcAft>
                </a:pPr>
                <a:r>
                  <a:rPr lang="en-AU" sz="4400"/>
                  <a:t>b. </a:t>
                </a:r>
                <a14:m>
                  <m:oMath xmlns:m="http://schemas.openxmlformats.org/officeDocument/2006/math">
                    <m:f>
                      <m:fPr>
                        <m:ctrlPr>
                          <a:rPr lang="en-AU" sz="4400" b="0" i="1" smtClean="0">
                            <a:solidFill>
                              <a:schemeClr val="accent2"/>
                            </a:solidFill>
                            <a:latin typeface="Cambria Math" panose="02040503050406030204" pitchFamily="18" charset="0"/>
                          </a:rPr>
                        </m:ctrlPr>
                      </m:fPr>
                      <m:num>
                        <m:r>
                          <a:rPr lang="en-AU" sz="4400" b="0" i="1" smtClean="0">
                            <a:solidFill>
                              <a:schemeClr val="accent2"/>
                            </a:solidFill>
                            <a:latin typeface="Cambria Math" panose="02040503050406030204" pitchFamily="18" charset="0"/>
                          </a:rPr>
                          <m:t>1</m:t>
                        </m:r>
                      </m:num>
                      <m:den>
                        <m:r>
                          <a:rPr lang="en-AU" sz="4400" b="0" i="1" smtClean="0">
                            <a:solidFill>
                              <a:schemeClr val="accent2"/>
                            </a:solidFill>
                            <a:latin typeface="Cambria Math" panose="02040503050406030204" pitchFamily="18" charset="0"/>
                          </a:rPr>
                          <m:t>4</m:t>
                        </m:r>
                      </m:den>
                    </m:f>
                  </m:oMath>
                </a14:m>
                <a:r>
                  <a:rPr lang="en-AU" sz="4400">
                    <a:solidFill>
                      <a:schemeClr val="accent2"/>
                    </a:solidFill>
                  </a:rPr>
                  <a:t> L</a:t>
                </a:r>
                <a:r>
                  <a:rPr lang="en-AU" sz="4400"/>
                  <a:t>									2. </a:t>
                </a:r>
                <a:r>
                  <a:rPr lang="en-AU" sz="4400">
                    <a:solidFill>
                      <a:schemeClr val="accent2"/>
                    </a:solidFill>
                  </a:rPr>
                  <a:t>2450 mL</a:t>
                </a:r>
              </a:p>
              <a:p>
                <a:pPr>
                  <a:lnSpc>
                    <a:spcPct val="150000"/>
                  </a:lnSpc>
                  <a:spcBef>
                    <a:spcPts val="1200"/>
                  </a:spcBef>
                  <a:spcAft>
                    <a:spcPts val="600"/>
                  </a:spcAft>
                </a:pPr>
                <a:r>
                  <a:rPr lang="en-AU" sz="4400"/>
                  <a:t>c. </a:t>
                </a:r>
                <a:r>
                  <a:rPr lang="en-AU" sz="4400">
                    <a:solidFill>
                      <a:schemeClr val="accent2"/>
                    </a:solidFill>
                  </a:rPr>
                  <a:t>0.005 L</a:t>
                </a:r>
                <a:r>
                  <a:rPr lang="en-AU" sz="4400"/>
                  <a:t>							3. </a:t>
                </a:r>
                <a:r>
                  <a:rPr lang="en-AU" sz="4400">
                    <a:solidFill>
                      <a:schemeClr val="accent2"/>
                    </a:solidFill>
                  </a:rPr>
                  <a:t>250 mL</a:t>
                </a:r>
              </a:p>
            </p:txBody>
          </p:sp>
        </mc:Choice>
        <mc:Fallback xmlns="">
          <p:sp>
            <p:nvSpPr>
              <p:cNvPr id="4" name="TextBox 3">
                <a:extLst>
                  <a:ext uri="{FF2B5EF4-FFF2-40B4-BE49-F238E27FC236}">
                    <a16:creationId xmlns:a16="http://schemas.microsoft.com/office/drawing/2014/main" id="{6D3B55FE-0031-56F9-500B-656DD3BF37DF}"/>
                  </a:ext>
                </a:extLst>
              </p:cNvPr>
              <p:cNvSpPr txBox="1">
                <a:spLocks noRot="1" noChangeAspect="1" noMove="1" noResize="1" noEditPoints="1" noAdjustHandles="1" noChangeArrowheads="1" noChangeShapeType="1" noTextEdit="1"/>
              </p:cNvSpPr>
              <p:nvPr/>
            </p:nvSpPr>
            <p:spPr>
              <a:xfrm>
                <a:off x="670330" y="1053085"/>
                <a:ext cx="10851339" cy="2051958"/>
              </a:xfrm>
              <a:prstGeom prst="rect">
                <a:avLst/>
              </a:prstGeom>
              <a:blipFill>
                <a:blip r:embed="rId4"/>
                <a:stretch>
                  <a:fillRect l="-3146" b="-160119"/>
                </a:stretch>
              </a:blipFill>
            </p:spPr>
            <p:txBody>
              <a:bodyPr/>
              <a:lstStyle/>
              <a:p>
                <a:r>
                  <a:rPr lang="en-US">
                    <a:noFill/>
                  </a:rPr>
                  <a:t> </a:t>
                </a:r>
              </a:p>
            </p:txBody>
          </p:sp>
        </mc:Fallback>
      </mc:AlternateContent>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D2973232-0DE3-CB7A-6217-AF02EE17EAA2}"/>
              </a:ext>
            </a:extLst>
          </p:cNvPr>
          <p:cNvSpPr txBox="1"/>
          <p:nvPr/>
        </p:nvSpPr>
        <p:spPr>
          <a:xfrm>
            <a:off x="246024" y="1184223"/>
            <a:ext cx="11589558" cy="4989023"/>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3200"/>
              <a:t>A special </a:t>
            </a:r>
            <a:r>
              <a:rPr lang="en-AU" sz="3200" b="1"/>
              <a:t>six-sided dice </a:t>
            </a:r>
            <a:r>
              <a:rPr lang="en-AU" sz="3200"/>
              <a:t>has faces coloured as follows: </a:t>
            </a:r>
          </a:p>
          <a:p>
            <a:pPr algn="ctr">
              <a:lnSpc>
                <a:spcPct val="150000"/>
              </a:lnSpc>
              <a:spcBef>
                <a:spcPts val="1200"/>
              </a:spcBef>
              <a:spcAft>
                <a:spcPts val="600"/>
              </a:spcAft>
            </a:pPr>
            <a:r>
              <a:rPr lang="en-AU" sz="3200" b="1">
                <a:solidFill>
                  <a:srgbClr val="FF0000"/>
                </a:solidFill>
              </a:rPr>
              <a:t>2 faces are red</a:t>
            </a:r>
            <a:r>
              <a:rPr lang="en-AU" sz="3200" b="1"/>
              <a:t>,</a:t>
            </a:r>
            <a:r>
              <a:rPr lang="en-AU" sz="3200" b="1">
                <a:solidFill>
                  <a:srgbClr val="FF0000"/>
                </a:solidFill>
              </a:rPr>
              <a:t> </a:t>
            </a:r>
            <a:r>
              <a:rPr lang="en-AU" sz="3200" b="1">
                <a:solidFill>
                  <a:srgbClr val="0070C0"/>
                </a:solidFill>
              </a:rPr>
              <a:t>3 faces are blue</a:t>
            </a:r>
            <a:r>
              <a:rPr lang="en-AU" sz="3200" b="1"/>
              <a:t> </a:t>
            </a:r>
            <a:r>
              <a:rPr lang="en-AU" sz="3200"/>
              <a:t>and </a:t>
            </a:r>
            <a:r>
              <a:rPr lang="en-AU" sz="3200" b="1">
                <a:solidFill>
                  <a:srgbClr val="00B050"/>
                </a:solidFill>
              </a:rPr>
              <a:t>1 face is green</a:t>
            </a:r>
            <a:r>
              <a:rPr lang="en-AU" sz="3200"/>
              <a:t>. </a:t>
            </a:r>
          </a:p>
          <a:p>
            <a:pPr algn="ctr">
              <a:lnSpc>
                <a:spcPct val="150000"/>
              </a:lnSpc>
              <a:spcBef>
                <a:spcPts val="1200"/>
              </a:spcBef>
              <a:spcAft>
                <a:spcPts val="600"/>
              </a:spcAft>
            </a:pPr>
            <a:r>
              <a:rPr lang="en-AU" sz="3200"/>
              <a:t>A player rolls the die once.</a:t>
            </a:r>
          </a:p>
          <a:p>
            <a:pPr marL="285750" indent="-285750" algn="ctr">
              <a:lnSpc>
                <a:spcPct val="150000"/>
              </a:lnSpc>
              <a:spcBef>
                <a:spcPts val="1200"/>
              </a:spcBef>
              <a:spcAft>
                <a:spcPts val="600"/>
              </a:spcAft>
              <a:buFont typeface="Arial" panose="020B0604020202020204" pitchFamily="34" charset="0"/>
              <a:buChar char="•"/>
            </a:pPr>
            <a:r>
              <a:rPr lang="en-AU" sz="3200"/>
              <a:t>Show the probability of landing on each colour </a:t>
            </a:r>
            <a:r>
              <a:rPr lang="en-AU" sz="3200" b="1"/>
              <a:t>as a fraction</a:t>
            </a:r>
            <a:r>
              <a:rPr lang="en-AU" sz="3200"/>
              <a:t>.</a:t>
            </a:r>
          </a:p>
          <a:p>
            <a:pPr marL="285750" indent="-285750" algn="ctr">
              <a:lnSpc>
                <a:spcPct val="150000"/>
              </a:lnSpc>
              <a:spcBef>
                <a:spcPts val="1200"/>
              </a:spcBef>
              <a:spcAft>
                <a:spcPts val="600"/>
              </a:spcAft>
              <a:buFont typeface="Arial" panose="020B0604020202020204" pitchFamily="34" charset="0"/>
              <a:buChar char="•"/>
            </a:pPr>
            <a:r>
              <a:rPr lang="en-AU" sz="3200"/>
              <a:t>How could the dice be </a:t>
            </a:r>
            <a:r>
              <a:rPr lang="en-AU" sz="3200" b="1"/>
              <a:t>changed</a:t>
            </a:r>
            <a:r>
              <a:rPr lang="en-AU" sz="3200"/>
              <a:t> so that all outcomes are equally likely?</a:t>
            </a:r>
          </a:p>
          <a:p>
            <a:pPr algn="ctr"/>
            <a:endParaRPr lang="en-AU" sz="3000"/>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B2D751D3-1ABA-B5C5-661C-E37F28AAAFFE}"/>
              </a:ext>
            </a:extLst>
          </p:cNvPr>
          <p:cNvSpPr txBox="1"/>
          <p:nvPr/>
        </p:nvSpPr>
        <p:spPr>
          <a:xfrm>
            <a:off x="858866" y="1423284"/>
            <a:ext cx="10265134" cy="4564048"/>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Andy has </a:t>
            </a:r>
            <a:r>
              <a:rPr lang="en-AU" sz="4400" b="1"/>
              <a:t>42</a:t>
            </a:r>
            <a:r>
              <a:rPr lang="en-AU" sz="4400"/>
              <a:t> marbles. He has </a:t>
            </a:r>
            <a:r>
              <a:rPr lang="en-AU" sz="4400" b="1"/>
              <a:t>7 times as many </a:t>
            </a:r>
            <a:r>
              <a:rPr lang="en-AU" sz="4400"/>
              <a:t>marbles as Ryan.</a:t>
            </a:r>
          </a:p>
          <a:p>
            <a:pPr algn="ctr">
              <a:lnSpc>
                <a:spcPct val="150000"/>
              </a:lnSpc>
              <a:spcBef>
                <a:spcPts val="1200"/>
              </a:spcBef>
              <a:spcAft>
                <a:spcPts val="600"/>
              </a:spcAft>
            </a:pPr>
            <a:r>
              <a:rPr lang="en-AU" sz="4400"/>
              <a:t>How many marbles does Ryan have?</a:t>
            </a:r>
          </a:p>
          <a:p>
            <a:pPr algn="ctr">
              <a:lnSpc>
                <a:spcPct val="150000"/>
              </a:lnSpc>
              <a:spcBef>
                <a:spcPts val="1200"/>
              </a:spcBef>
              <a:spcAft>
                <a:spcPts val="600"/>
              </a:spcAft>
            </a:pPr>
            <a:r>
              <a:rPr lang="en-AU" sz="4400" b="1"/>
              <a:t>Communicate</a:t>
            </a:r>
            <a:r>
              <a:rPr lang="en-AU" sz="4400"/>
              <a:t> your </a:t>
            </a:r>
            <a:r>
              <a:rPr lang="en-AU" sz="4400" b="1"/>
              <a:t>strategy</a:t>
            </a:r>
            <a:r>
              <a:rPr lang="en-AU" sz="4400"/>
              <a:t>.</a:t>
            </a:r>
          </a:p>
          <a:p>
            <a:pPr algn="ctr"/>
            <a:endParaRPr lang="en-AU" sz="180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4" name="TextBox 3">
            <a:extLst>
              <a:ext uri="{FF2B5EF4-FFF2-40B4-BE49-F238E27FC236}">
                <a16:creationId xmlns:a16="http://schemas.microsoft.com/office/drawing/2014/main" id="{816FF2C6-D1A3-9E1A-06B8-7924AB63D0E6}"/>
              </a:ext>
            </a:extLst>
          </p:cNvPr>
          <p:cNvSpPr txBox="1"/>
          <p:nvPr/>
        </p:nvSpPr>
        <p:spPr>
          <a:xfrm>
            <a:off x="622094" y="1613789"/>
            <a:ext cx="10684661" cy="4261899"/>
          </a:xfrm>
          <a:prstGeom prst="rect">
            <a:avLst/>
          </a:prstGeom>
          <a:noFill/>
        </p:spPr>
        <p:txBody>
          <a:bodyPr wrap="square" lIns="0" tIns="0" rIns="0" bIns="0" rtlCol="0">
            <a:noAutofit/>
          </a:bodyPr>
          <a:lstStyle/>
          <a:p>
            <a:pPr algn="ctr">
              <a:lnSpc>
                <a:spcPct val="150000"/>
              </a:lnSpc>
            </a:pPr>
            <a:r>
              <a:rPr lang="en-AU" sz="4400"/>
              <a:t>A road trip begins at </a:t>
            </a:r>
            <a:r>
              <a:rPr lang="en-AU" sz="4400" b="1"/>
              <a:t>8:35 am </a:t>
            </a:r>
            <a:r>
              <a:rPr lang="en-AU" sz="4400"/>
              <a:t>and ends at </a:t>
            </a:r>
            <a:r>
              <a:rPr lang="en-AU" sz="4400" b="1"/>
              <a:t>1:20 pm</a:t>
            </a:r>
            <a:r>
              <a:rPr lang="en-AU" sz="4400"/>
              <a:t>.</a:t>
            </a:r>
          </a:p>
          <a:p>
            <a:pPr marL="571500" indent="-571500" algn="ctr">
              <a:lnSpc>
                <a:spcPct val="150000"/>
              </a:lnSpc>
              <a:buFont typeface="Arial" panose="020B0604020202020204" pitchFamily="34" charset="0"/>
              <a:buChar char="•"/>
            </a:pPr>
            <a:r>
              <a:rPr lang="en-AU" sz="4400"/>
              <a:t>How long is the trip?</a:t>
            </a:r>
          </a:p>
          <a:p>
            <a:pPr marL="571500" indent="-571500" algn="ctr">
              <a:lnSpc>
                <a:spcPct val="150000"/>
              </a:lnSpc>
              <a:buFont typeface="Arial" panose="020B0604020202020204" pitchFamily="34" charset="0"/>
              <a:buChar char="•"/>
            </a:pPr>
            <a:r>
              <a:rPr lang="en-AU" sz="4400"/>
              <a:t>Round the duration to the nearest hour.</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representing equivalent fractions as division</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A1E17FF-6EDD-7FD3-E27D-4763048EF652}"/>
                  </a:ext>
                </a:extLst>
              </p:cNvPr>
              <p:cNvSpPr txBox="1"/>
              <p:nvPr/>
            </p:nvSpPr>
            <p:spPr>
              <a:xfrm>
                <a:off x="572494" y="2999630"/>
                <a:ext cx="5231958" cy="858740"/>
              </a:xfrm>
              <a:prstGeom prst="rect">
                <a:avLst/>
              </a:prstGeom>
              <a:noFill/>
            </p:spPr>
            <p:txBody>
              <a:bodyPr wrap="square" lIns="0" tIns="0" rIns="0" bIns="0" rtlCol="0">
                <a:noAutofit/>
              </a:bodyPr>
              <a:lstStyle/>
              <a:p>
                <a:pPr algn="ctr"/>
                <a:r>
                  <a:rPr lang="en-AU" sz="4400"/>
                  <a:t>5 divided by 10 = </a:t>
                </a:r>
                <a14:m>
                  <m:oMath xmlns:m="http://schemas.openxmlformats.org/officeDocument/2006/math">
                    <m:f>
                      <m:fPr>
                        <m:ctrlPr>
                          <a:rPr lang="en-AU" sz="4400" i="1">
                            <a:latin typeface="Cambria Math" panose="02040503050406030204" pitchFamily="18" charset="0"/>
                          </a:rPr>
                        </m:ctrlPr>
                      </m:fPr>
                      <m:num>
                        <m:r>
                          <a:rPr lang="en-AU" sz="4400" i="1">
                            <a:latin typeface="Cambria Math" panose="02040503050406030204" pitchFamily="18" charset="0"/>
                          </a:rPr>
                          <m:t>5</m:t>
                        </m:r>
                      </m:num>
                      <m:den>
                        <m:r>
                          <a:rPr lang="en-AU" sz="4400" i="1">
                            <a:latin typeface="Cambria Math" panose="02040503050406030204" pitchFamily="18" charset="0"/>
                          </a:rPr>
                          <m:t>10</m:t>
                        </m:r>
                      </m:den>
                    </m:f>
                  </m:oMath>
                </a14:m>
                <a:endParaRPr lang="en-AU" sz="4400"/>
              </a:p>
            </p:txBody>
          </p:sp>
        </mc:Choice>
        <mc:Fallback xmlns="">
          <p:sp>
            <p:nvSpPr>
              <p:cNvPr id="3" name="TextBox 2">
                <a:extLst>
                  <a:ext uri="{FF2B5EF4-FFF2-40B4-BE49-F238E27FC236}">
                    <a16:creationId xmlns:a16="http://schemas.microsoft.com/office/drawing/2014/main" id="{2A1E17FF-6EDD-7FD3-E27D-4763048EF652}"/>
                  </a:ext>
                </a:extLst>
              </p:cNvPr>
              <p:cNvSpPr txBox="1">
                <a:spLocks noRot="1" noChangeAspect="1" noMove="1" noResize="1" noEditPoints="1" noAdjustHandles="1" noChangeArrowheads="1" noChangeShapeType="1" noTextEdit="1"/>
              </p:cNvSpPr>
              <p:nvPr/>
            </p:nvSpPr>
            <p:spPr>
              <a:xfrm>
                <a:off x="572494" y="2999630"/>
                <a:ext cx="5231958" cy="858740"/>
              </a:xfrm>
              <a:prstGeom prst="rect">
                <a:avLst/>
              </a:prstGeom>
              <a:blipFill>
                <a:blip r:embed="rId4"/>
                <a:stretch>
                  <a:fillRect l="-3030" t="-4965" b="-326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FEA6ABA-2BF6-AEAA-1AAC-6006ABDC0D93}"/>
                  </a:ext>
                </a:extLst>
              </p:cNvPr>
              <p:cNvSpPr txBox="1"/>
              <p:nvPr/>
            </p:nvSpPr>
            <p:spPr>
              <a:xfrm>
                <a:off x="6387550" y="797118"/>
                <a:ext cx="4614407" cy="4405023"/>
              </a:xfrm>
              <a:prstGeom prst="rect">
                <a:avLst/>
              </a:prstGeom>
              <a:noFill/>
            </p:spPr>
            <p:txBody>
              <a:bodyPr wrap="square" lIns="0" tIns="0" rIns="0" bIns="0" rtlCol="0">
                <a:noAutofit/>
              </a:bodyPr>
              <a:lstStyle/>
              <a:p>
                <a:pPr algn="ctr">
                  <a:lnSpc>
                    <a:spcPct val="150000"/>
                  </a:lnSpc>
                </a:pPr>
                <a14:m>
                  <m:oMath xmlns:m="http://schemas.openxmlformats.org/officeDocument/2006/math">
                    <m:f>
                      <m:fPr>
                        <m:ctrlPr>
                          <a:rPr lang="en-AU" sz="4400" i="1" smtClean="0">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5</m:t>
                        </m:r>
                      </m:num>
                      <m:den>
                        <m:r>
                          <a:rPr lang="en-AU" sz="4400" i="1">
                            <a:latin typeface="Cambria Math" panose="02040503050406030204" pitchFamily="18" charset="0"/>
                            <a:cs typeface="Arial" panose="020B0604020202020204" pitchFamily="34" charset="0"/>
                          </a:rPr>
                          <m:t>10</m:t>
                        </m:r>
                      </m:den>
                    </m:f>
                  </m:oMath>
                </a14:m>
                <a:r>
                  <a:rPr lang="en-AU" sz="4400">
                    <a:latin typeface="Arial" panose="020B0604020202020204" pitchFamily="34" charset="0"/>
                    <a:cs typeface="Arial" panose="020B0604020202020204" pitchFamily="34" charset="0"/>
                  </a:rPr>
                  <a:t> = </a:t>
                </a: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1</m:t>
                        </m:r>
                      </m:num>
                      <m:den>
                        <m:r>
                          <a:rPr lang="en-AU" sz="4400" i="1">
                            <a:latin typeface="Cambria Math" panose="02040503050406030204" pitchFamily="18" charset="0"/>
                            <a:cs typeface="Arial" panose="020B0604020202020204" pitchFamily="34" charset="0"/>
                          </a:rPr>
                          <m:t>2</m:t>
                        </m:r>
                      </m:den>
                    </m:f>
                  </m:oMath>
                </a14:m>
                <a:r>
                  <a:rPr lang="en-AU" sz="4400">
                    <a:latin typeface="Arial" panose="020B0604020202020204" pitchFamily="34" charset="0"/>
                    <a:cs typeface="Arial" panose="020B0604020202020204" pitchFamily="34" charset="0"/>
                  </a:rPr>
                  <a:t> </a:t>
                </a:r>
              </a:p>
              <a:p>
                <a:pPr algn="ctr">
                  <a:lnSpc>
                    <a:spcPct val="150000"/>
                  </a:lnSpc>
                </a:pP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5</m:t>
                        </m:r>
                      </m:num>
                      <m:den>
                        <m:r>
                          <a:rPr lang="en-AU" sz="4400" i="1">
                            <a:latin typeface="Cambria Math" panose="02040503050406030204" pitchFamily="18" charset="0"/>
                            <a:cs typeface="Arial" panose="020B0604020202020204" pitchFamily="34" charset="0"/>
                          </a:rPr>
                          <m:t>10</m:t>
                        </m:r>
                      </m:den>
                    </m:f>
                  </m:oMath>
                </a14:m>
                <a:r>
                  <a:rPr lang="en-AU" sz="4400">
                    <a:latin typeface="Arial" panose="020B0604020202020204" pitchFamily="34" charset="0"/>
                    <a:cs typeface="Arial" panose="020B0604020202020204" pitchFamily="34" charset="0"/>
                  </a:rPr>
                  <a:t> = </a:t>
                </a: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2</m:t>
                        </m:r>
                      </m:num>
                      <m:den>
                        <m:r>
                          <a:rPr lang="en-AU" sz="4400" i="1">
                            <a:latin typeface="Cambria Math" panose="02040503050406030204" pitchFamily="18" charset="0"/>
                            <a:cs typeface="Arial" panose="020B0604020202020204" pitchFamily="34" charset="0"/>
                          </a:rPr>
                          <m:t>4</m:t>
                        </m:r>
                      </m:den>
                    </m:f>
                  </m:oMath>
                </a14:m>
                <a:endParaRPr lang="en-AU" sz="4400">
                  <a:latin typeface="Arial" panose="020B0604020202020204" pitchFamily="34" charset="0"/>
                  <a:cs typeface="Arial" panose="020B0604020202020204" pitchFamily="34" charset="0"/>
                </a:endParaRPr>
              </a:p>
              <a:p>
                <a:pPr algn="ctr">
                  <a:lnSpc>
                    <a:spcPct val="150000"/>
                  </a:lnSpc>
                </a:pP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5</m:t>
                        </m:r>
                      </m:num>
                      <m:den>
                        <m:r>
                          <a:rPr lang="en-AU" sz="4400" i="1">
                            <a:latin typeface="Cambria Math" panose="02040503050406030204" pitchFamily="18" charset="0"/>
                            <a:cs typeface="Arial" panose="020B0604020202020204" pitchFamily="34" charset="0"/>
                          </a:rPr>
                          <m:t>10</m:t>
                        </m:r>
                      </m:den>
                    </m:f>
                  </m:oMath>
                </a14:m>
                <a:r>
                  <a:rPr lang="en-AU" sz="4400">
                    <a:latin typeface="Arial" panose="020B0604020202020204" pitchFamily="34" charset="0"/>
                    <a:cs typeface="Arial" panose="020B0604020202020204" pitchFamily="34" charset="0"/>
                  </a:rPr>
                  <a:t> = </a:t>
                </a: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3</m:t>
                        </m:r>
                      </m:num>
                      <m:den>
                        <m:r>
                          <a:rPr lang="en-AU" sz="4400" i="1">
                            <a:latin typeface="Cambria Math" panose="02040503050406030204" pitchFamily="18" charset="0"/>
                            <a:cs typeface="Arial" panose="020B0604020202020204" pitchFamily="34" charset="0"/>
                          </a:rPr>
                          <m:t>6</m:t>
                        </m:r>
                      </m:den>
                    </m:f>
                  </m:oMath>
                </a14:m>
                <a:r>
                  <a:rPr lang="en-AU" sz="4400">
                    <a:latin typeface="Arial" panose="020B0604020202020204" pitchFamily="34" charset="0"/>
                    <a:cs typeface="Arial" panose="020B0604020202020204" pitchFamily="34" charset="0"/>
                  </a:rPr>
                  <a:t> </a:t>
                </a:r>
              </a:p>
              <a:p>
                <a:pPr algn="ctr">
                  <a:lnSpc>
                    <a:spcPct val="150000"/>
                  </a:lnSpc>
                </a:pP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5</m:t>
                        </m:r>
                      </m:num>
                      <m:den>
                        <m:r>
                          <a:rPr lang="en-AU" sz="4400" i="1">
                            <a:latin typeface="Cambria Math" panose="02040503050406030204" pitchFamily="18" charset="0"/>
                            <a:cs typeface="Arial" panose="020B0604020202020204" pitchFamily="34" charset="0"/>
                          </a:rPr>
                          <m:t>10</m:t>
                        </m:r>
                      </m:den>
                    </m:f>
                  </m:oMath>
                </a14:m>
                <a:r>
                  <a:rPr lang="en-AU" sz="4400">
                    <a:latin typeface="Arial" panose="020B0604020202020204" pitchFamily="34" charset="0"/>
                    <a:cs typeface="Arial" panose="020B0604020202020204" pitchFamily="34" charset="0"/>
                  </a:rPr>
                  <a:t> = </a:t>
                </a:r>
                <a14:m>
                  <m:oMath xmlns:m="http://schemas.openxmlformats.org/officeDocument/2006/math">
                    <m:f>
                      <m:fPr>
                        <m:ctrlPr>
                          <a:rPr lang="en-AU" sz="4400" i="1">
                            <a:latin typeface="Cambria Math" panose="02040503050406030204" pitchFamily="18" charset="0"/>
                            <a:cs typeface="Arial" panose="020B0604020202020204" pitchFamily="34" charset="0"/>
                          </a:rPr>
                        </m:ctrlPr>
                      </m:fPr>
                      <m:num>
                        <m:r>
                          <a:rPr lang="en-AU" sz="4400" i="1">
                            <a:latin typeface="Cambria Math" panose="02040503050406030204" pitchFamily="18" charset="0"/>
                            <a:cs typeface="Arial" panose="020B0604020202020204" pitchFamily="34" charset="0"/>
                          </a:rPr>
                          <m:t>4</m:t>
                        </m:r>
                      </m:num>
                      <m:den>
                        <m:r>
                          <a:rPr lang="en-AU" sz="4400" i="1">
                            <a:latin typeface="Cambria Math" panose="02040503050406030204" pitchFamily="18" charset="0"/>
                            <a:cs typeface="Arial" panose="020B0604020202020204" pitchFamily="34" charset="0"/>
                          </a:rPr>
                          <m:t>8</m:t>
                        </m:r>
                      </m:den>
                    </m:f>
                  </m:oMath>
                </a14:m>
                <a:endParaRPr lang="en-AU" sz="4400"/>
              </a:p>
            </p:txBody>
          </p:sp>
        </mc:Choice>
        <mc:Fallback xmlns="">
          <p:sp>
            <p:nvSpPr>
              <p:cNvPr id="5" name="TextBox 4">
                <a:extLst>
                  <a:ext uri="{FF2B5EF4-FFF2-40B4-BE49-F238E27FC236}">
                    <a16:creationId xmlns:a16="http://schemas.microsoft.com/office/drawing/2014/main" id="{6FEA6ABA-2BF6-AEAA-1AAC-6006ABDC0D93}"/>
                  </a:ext>
                </a:extLst>
              </p:cNvPr>
              <p:cNvSpPr txBox="1">
                <a:spLocks noRot="1" noChangeAspect="1" noMove="1" noResize="1" noEditPoints="1" noAdjustHandles="1" noChangeArrowheads="1" noChangeShapeType="1" noTextEdit="1"/>
              </p:cNvSpPr>
              <p:nvPr/>
            </p:nvSpPr>
            <p:spPr>
              <a:xfrm>
                <a:off x="6387550" y="797118"/>
                <a:ext cx="4614407" cy="4405023"/>
              </a:xfrm>
              <a:prstGeom prst="rect">
                <a:avLst/>
              </a:prstGeom>
              <a:blipFill>
                <a:blip r:embed="rId5"/>
                <a:stretch>
                  <a:fillRect b="-32271"/>
                </a:stretch>
              </a:blipFill>
            </p:spPr>
            <p:txBody>
              <a:bodyPr/>
              <a:lstStyle/>
              <a:p>
                <a:r>
                  <a:rPr lang="en-US">
                    <a:noFill/>
                  </a:rPr>
                  <a:t> </a:t>
                </a:r>
              </a:p>
            </p:txBody>
          </p:sp>
        </mc:Fallback>
      </mc:AlternateContent>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1143415"/>
                <a:ext cx="11243037" cy="754243"/>
              </a:xfrm>
            </p:spPr>
            <p:txBody>
              <a:bodyPr/>
              <a:lstStyle/>
              <a:p>
                <a:pPr algn="ctr"/>
                <a:r>
                  <a:rPr lang="en-AU" sz="3200">
                    <a:solidFill>
                      <a:schemeClr val="tx1"/>
                    </a:solidFill>
                  </a:rPr>
                  <a:t>Cassie shares </a:t>
                </a:r>
                <a:r>
                  <a:rPr lang="en-AU" sz="3200" b="1">
                    <a:solidFill>
                      <a:schemeClr val="tx1"/>
                    </a:solidFill>
                  </a:rPr>
                  <a:t>15</a:t>
                </a:r>
                <a:r>
                  <a:rPr lang="en-AU" sz="3200">
                    <a:solidFill>
                      <a:schemeClr val="tx1"/>
                    </a:solidFill>
                  </a:rPr>
                  <a:t> apples equally among </a:t>
                </a:r>
                <a:r>
                  <a:rPr lang="en-AU" sz="3200" b="1">
                    <a:solidFill>
                      <a:schemeClr val="tx1"/>
                    </a:solidFill>
                  </a:rPr>
                  <a:t>5 </a:t>
                </a:r>
                <a:r>
                  <a:rPr lang="en-AU" sz="3200">
                    <a:solidFill>
                      <a:schemeClr val="tx1"/>
                    </a:solidFill>
                  </a:rPr>
                  <a:t>friends. She writes the fraction </a:t>
                </a:r>
                <a14:m>
                  <m:oMath xmlns:m="http://schemas.openxmlformats.org/officeDocument/2006/math">
                    <m:f>
                      <m:fPr>
                        <m:ctrlPr>
                          <a:rPr lang="en-AU" sz="3200" b="1" i="1" smtClean="0">
                            <a:solidFill>
                              <a:schemeClr val="tx1"/>
                            </a:solidFill>
                            <a:latin typeface="Cambria Math" panose="02040503050406030204" pitchFamily="18" charset="0"/>
                          </a:rPr>
                        </m:ctrlPr>
                      </m:fPr>
                      <m:num>
                        <m:r>
                          <a:rPr lang="en-AU" sz="3200" b="1" i="1" smtClean="0">
                            <a:solidFill>
                              <a:schemeClr val="tx1"/>
                            </a:solidFill>
                            <a:latin typeface="Cambria Math" panose="02040503050406030204" pitchFamily="18" charset="0"/>
                          </a:rPr>
                          <m:t>𝟏𝟓</m:t>
                        </m:r>
                      </m:num>
                      <m:den>
                        <m:r>
                          <a:rPr lang="en-AU" sz="3200" b="1" i="1" smtClean="0">
                            <a:solidFill>
                              <a:schemeClr val="tx1"/>
                            </a:solidFill>
                            <a:latin typeface="Cambria Math" panose="02040503050406030204" pitchFamily="18" charset="0"/>
                          </a:rPr>
                          <m:t>𝟓</m:t>
                        </m:r>
                      </m:den>
                    </m:f>
                  </m:oMath>
                </a14:m>
                <a:r>
                  <a:rPr lang="en-AU" sz="3200">
                    <a:solidFill>
                      <a:schemeClr val="tx1"/>
                    </a:solidFill>
                  </a:rPr>
                  <a:t>​. What does the </a:t>
                </a:r>
                <a:r>
                  <a:rPr lang="en-AU" sz="3200" b="1">
                    <a:solidFill>
                      <a:schemeClr val="tx1"/>
                    </a:solidFill>
                  </a:rPr>
                  <a:t>15 represent </a:t>
                </a:r>
                <a:r>
                  <a:rPr lang="en-AU" sz="3200">
                    <a:solidFill>
                      <a:schemeClr val="tx1"/>
                    </a:solidFill>
                  </a:rPr>
                  <a:t>in </a:t>
                </a:r>
                <a:r>
                  <a:rPr lang="en-AU" sz="3200" b="1">
                    <a:solidFill>
                      <a:schemeClr val="tx1"/>
                    </a:solidFill>
                  </a:rPr>
                  <a:t>this fraction</a:t>
                </a:r>
                <a:r>
                  <a:rPr lang="en-AU" sz="3200">
                    <a:solidFill>
                      <a:schemeClr val="tx1"/>
                    </a:solidFill>
                  </a:rPr>
                  <a:t>?</a:t>
                </a:r>
              </a:p>
              <a:p>
                <a:endParaRPr lang="en-US" sz="3200"/>
              </a:p>
            </p:txBody>
          </p:sp>
        </mc:Choice>
        <mc:Fallback xmlns="">
          <p:sp>
            <p:nvSpPr>
              <p:cNvPr id="15" name="Text Placeholder">
                <a:extLst>
                  <a:ext uri="{FF2B5EF4-FFF2-40B4-BE49-F238E27FC236}">
                    <a16:creationId xmlns:a16="http://schemas.microsoft.com/office/drawing/2014/main" id="{8326B5E5-C4FA-60BB-FBD1-105717701AB5}"/>
                  </a:ext>
                </a:extLst>
              </p:cNvPr>
              <p:cNvSpPr>
                <a:spLocks noGrp="1" noRot="1" noChangeAspect="1" noMove="1" noResize="1" noEditPoints="1" noAdjustHandles="1" noChangeArrowheads="1" noChangeShapeType="1" noTextEdit="1"/>
              </p:cNvSpPr>
              <p:nvPr>
                <p:ph type="body" sz="quarter" idx="28"/>
              </p:nvPr>
            </p:nvSpPr>
            <p:spPr>
              <a:xfrm>
                <a:off x="360000" y="1143415"/>
                <a:ext cx="11243037" cy="754243"/>
              </a:xfrm>
              <a:blipFill>
                <a:blip r:embed="rId4"/>
                <a:stretch>
                  <a:fillRect l="-1030" r="-2061" b="-145528"/>
                </a:stretch>
              </a:blipFill>
            </p:spPr>
            <p:txBody>
              <a:bodyPr/>
              <a:lstStyle/>
              <a:p>
                <a:r>
                  <a:rPr lang="en-US">
                    <a:noFill/>
                  </a:rPr>
                  <a:t> </a:t>
                </a:r>
              </a:p>
            </p:txBody>
          </p:sp>
        </mc:Fallback>
      </mc:AlternateContent>
      <p:sp>
        <p:nvSpPr>
          <p:cNvPr id="9" name="B">
            <a:extLst>
              <a:ext uri="{FF2B5EF4-FFF2-40B4-BE49-F238E27FC236}">
                <a16:creationId xmlns:a16="http://schemas.microsoft.com/office/drawing/2014/main" id="{2579E796-78E6-099B-1516-BE205CC4FACD}"/>
              </a:ext>
            </a:extLst>
          </p:cNvPr>
          <p:cNvSpPr txBox="1"/>
          <p:nvPr/>
        </p:nvSpPr>
        <p:spPr>
          <a:xfrm>
            <a:off x="670560" y="32107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3259365"/>
            <a:ext cx="10175920" cy="641396"/>
          </a:xfrm>
        </p:spPr>
        <p:txBody>
          <a:bodyPr anchor="ctr"/>
          <a:lstStyle/>
          <a:p>
            <a:r>
              <a:rPr lang="en-AU" sz="3200"/>
              <a:t>The number of groups.</a:t>
            </a:r>
          </a:p>
        </p:txBody>
      </p:sp>
      <p:sp>
        <p:nvSpPr>
          <p:cNvPr id="10" name="B">
            <a:extLst>
              <a:ext uri="{FF2B5EF4-FFF2-40B4-BE49-F238E27FC236}">
                <a16:creationId xmlns:a16="http://schemas.microsoft.com/office/drawing/2014/main" id="{04CBC687-138E-8135-BF08-A76285D998BD}"/>
              </a:ext>
            </a:extLst>
          </p:cNvPr>
          <p:cNvSpPr txBox="1"/>
          <p:nvPr/>
        </p:nvSpPr>
        <p:spPr>
          <a:xfrm>
            <a:off x="670559" y="405864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4107278"/>
            <a:ext cx="10175920" cy="641396"/>
          </a:xfrm>
        </p:spPr>
        <p:txBody>
          <a:bodyPr anchor="ctr"/>
          <a:lstStyle/>
          <a:p>
            <a:r>
              <a:rPr lang="en-AU" sz="3200"/>
              <a:t>The total amount being shared.</a:t>
            </a:r>
          </a:p>
        </p:txBody>
      </p:sp>
      <p:sp>
        <p:nvSpPr>
          <p:cNvPr id="12" name="C">
            <a:extLst>
              <a:ext uri="{FF2B5EF4-FFF2-40B4-BE49-F238E27FC236}">
                <a16:creationId xmlns:a16="http://schemas.microsoft.com/office/drawing/2014/main" id="{C605E3A9-768F-B21E-1E87-27B06AEB3AF5}"/>
              </a:ext>
            </a:extLst>
          </p:cNvPr>
          <p:cNvSpPr txBox="1"/>
          <p:nvPr/>
        </p:nvSpPr>
        <p:spPr>
          <a:xfrm>
            <a:off x="670558" y="49086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957331"/>
            <a:ext cx="10175920" cy="641396"/>
          </a:xfrm>
        </p:spPr>
        <p:txBody>
          <a:bodyPr anchor="ctr"/>
          <a:lstStyle/>
          <a:p>
            <a:r>
              <a:rPr lang="en-AU" sz="3200"/>
              <a:t>The amount each person gets.</a:t>
            </a:r>
            <a:endParaRPr lang="en-US" sz="3200"/>
          </a:p>
        </p:txBody>
      </p:sp>
      <p:sp>
        <p:nvSpPr>
          <p:cNvPr id="11" name="D">
            <a:extLst>
              <a:ext uri="{FF2B5EF4-FFF2-40B4-BE49-F238E27FC236}">
                <a16:creationId xmlns:a16="http://schemas.microsoft.com/office/drawing/2014/main" id="{8EADE37E-99CA-3A50-524F-30E28DF3B7C4}"/>
              </a:ext>
            </a:extLst>
          </p:cNvPr>
          <p:cNvSpPr txBox="1"/>
          <p:nvPr/>
        </p:nvSpPr>
        <p:spPr>
          <a:xfrm>
            <a:off x="670557" y="57587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807384"/>
            <a:ext cx="10175920" cy="641396"/>
          </a:xfrm>
        </p:spPr>
        <p:txBody>
          <a:bodyPr anchor="ctr"/>
          <a:lstStyle/>
          <a:p>
            <a:r>
              <a:rPr lang="en-AU" sz="3200"/>
              <a:t>The number of people sharing.</a:t>
            </a:r>
            <a:endParaRPr lang="en-US" sz="3200"/>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4" name="TextBox 3">
            <a:extLst>
              <a:ext uri="{FF2B5EF4-FFF2-40B4-BE49-F238E27FC236}">
                <a16:creationId xmlns:a16="http://schemas.microsoft.com/office/drawing/2014/main" id="{ECD3C43D-44A0-3D8D-58B1-9E422FABD3ED}"/>
              </a:ext>
            </a:extLst>
          </p:cNvPr>
          <p:cNvSpPr txBox="1"/>
          <p:nvPr/>
        </p:nvSpPr>
        <p:spPr>
          <a:xfrm>
            <a:off x="720000" y="2116522"/>
            <a:ext cx="10764000" cy="3093058"/>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A water bottle holds </a:t>
            </a:r>
            <a:r>
              <a:rPr lang="en-AU" sz="4400" b="1"/>
              <a:t>3.745 L</a:t>
            </a:r>
            <a:r>
              <a:rPr lang="en-AU" sz="4400"/>
              <a:t> of water.</a:t>
            </a:r>
          </a:p>
          <a:p>
            <a:pPr algn="ctr">
              <a:lnSpc>
                <a:spcPct val="150000"/>
              </a:lnSpc>
              <a:spcBef>
                <a:spcPts val="1200"/>
              </a:spcBef>
              <a:spcAft>
                <a:spcPts val="600"/>
              </a:spcAft>
            </a:pPr>
            <a:r>
              <a:rPr lang="en-AU" sz="4400"/>
              <a:t>Record this measurement in </a:t>
            </a:r>
            <a:r>
              <a:rPr lang="en-AU" sz="4400" b="1"/>
              <a:t>millilitres.</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15188286-889A-C170-93DF-5C73095DBC2A}"/>
              </a:ext>
            </a:extLst>
          </p:cNvPr>
          <p:cNvSpPr txBox="1"/>
          <p:nvPr/>
        </p:nvSpPr>
        <p:spPr>
          <a:xfrm>
            <a:off x="246024" y="1121134"/>
            <a:ext cx="11699951" cy="3912042"/>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2800"/>
              <a:t>A mystery bag is being filled with </a:t>
            </a:r>
            <a:r>
              <a:rPr lang="en-AU" sz="2800" b="1"/>
              <a:t>12</a:t>
            </a:r>
            <a:r>
              <a:rPr lang="en-AU" sz="2800"/>
              <a:t> counters: some are </a:t>
            </a:r>
            <a:r>
              <a:rPr lang="en-AU" sz="2800" b="1">
                <a:solidFill>
                  <a:schemeClr val="accent2">
                    <a:lumMod val="75000"/>
                  </a:schemeClr>
                </a:solidFill>
              </a:rPr>
              <a:t>blue</a:t>
            </a:r>
            <a:r>
              <a:rPr lang="en-AU" sz="2800"/>
              <a:t> and some are </a:t>
            </a:r>
            <a:r>
              <a:rPr lang="en-AU" sz="2800" b="1">
                <a:solidFill>
                  <a:srgbClr val="EA9B0C"/>
                </a:solidFill>
              </a:rPr>
              <a:t>orange</a:t>
            </a:r>
            <a:r>
              <a:rPr lang="en-AU" sz="2800"/>
              <a:t>. Lisa wants it to be </a:t>
            </a:r>
            <a:r>
              <a:rPr lang="en-AU" sz="2800" b="1"/>
              <a:t>3 times as likely </a:t>
            </a:r>
            <a:r>
              <a:rPr lang="en-AU" sz="2800"/>
              <a:t>to pick a </a:t>
            </a:r>
            <a:r>
              <a:rPr lang="en-AU" sz="2800" b="1">
                <a:solidFill>
                  <a:schemeClr val="accent2">
                    <a:lumMod val="75000"/>
                  </a:schemeClr>
                </a:solidFill>
              </a:rPr>
              <a:t>blue </a:t>
            </a:r>
            <a:r>
              <a:rPr lang="en-AU" sz="2800"/>
              <a:t>counter</a:t>
            </a:r>
            <a:r>
              <a:rPr lang="en-AU" sz="2800" b="1">
                <a:solidFill>
                  <a:schemeClr val="accent2">
                    <a:lumMod val="75000"/>
                  </a:schemeClr>
                </a:solidFill>
              </a:rPr>
              <a:t> </a:t>
            </a:r>
            <a:r>
              <a:rPr lang="en-AU" sz="2800"/>
              <a:t>than an </a:t>
            </a:r>
            <a:r>
              <a:rPr lang="en-AU" sz="2800" b="1">
                <a:solidFill>
                  <a:srgbClr val="EA9B0C"/>
                </a:solidFill>
              </a:rPr>
              <a:t>orange </a:t>
            </a:r>
            <a:r>
              <a:rPr lang="en-AU" sz="2800"/>
              <a:t>counter.</a:t>
            </a:r>
          </a:p>
          <a:p>
            <a:pPr marL="285750" indent="-285750" algn="ctr">
              <a:lnSpc>
                <a:spcPct val="150000"/>
              </a:lnSpc>
              <a:spcBef>
                <a:spcPts val="1200"/>
              </a:spcBef>
              <a:spcAft>
                <a:spcPts val="600"/>
              </a:spcAft>
              <a:buFont typeface="Arial" panose="020B0604020202020204" pitchFamily="34" charset="0"/>
              <a:buChar char="•"/>
            </a:pPr>
            <a:r>
              <a:rPr lang="en-AU" sz="2800"/>
              <a:t>How many </a:t>
            </a:r>
            <a:r>
              <a:rPr lang="en-AU" sz="2800" b="1">
                <a:solidFill>
                  <a:schemeClr val="accent2">
                    <a:lumMod val="75000"/>
                  </a:schemeClr>
                </a:solidFill>
              </a:rPr>
              <a:t>blue </a:t>
            </a:r>
            <a:r>
              <a:rPr lang="en-AU" sz="2800"/>
              <a:t>and </a:t>
            </a:r>
            <a:r>
              <a:rPr lang="en-AU" sz="2800" b="1">
                <a:solidFill>
                  <a:srgbClr val="EA9B0C"/>
                </a:solidFill>
              </a:rPr>
              <a:t>orange</a:t>
            </a:r>
            <a:r>
              <a:rPr lang="en-AU" sz="2800"/>
              <a:t> counters should be put in the bag to make this happen?</a:t>
            </a:r>
          </a:p>
          <a:p>
            <a:pPr marL="285750" indent="-285750" algn="ctr">
              <a:lnSpc>
                <a:spcPct val="150000"/>
              </a:lnSpc>
              <a:spcBef>
                <a:spcPts val="1200"/>
              </a:spcBef>
              <a:spcAft>
                <a:spcPts val="600"/>
              </a:spcAft>
              <a:buFont typeface="Arial" panose="020B0604020202020204" pitchFamily="34" charset="0"/>
              <a:buChar char="•"/>
            </a:pPr>
            <a:r>
              <a:rPr lang="en-AU" sz="2800"/>
              <a:t>Represent the </a:t>
            </a:r>
            <a:r>
              <a:rPr lang="en-AU" sz="2800" b="1"/>
              <a:t>probability </a:t>
            </a:r>
            <a:r>
              <a:rPr lang="en-AU" sz="2800"/>
              <a:t>of picking each colour </a:t>
            </a:r>
            <a:r>
              <a:rPr lang="en-AU" sz="2800" b="1"/>
              <a:t>as a fraction</a:t>
            </a:r>
            <a:r>
              <a:rPr lang="en-AU" sz="2800"/>
              <a:t>.</a:t>
            </a:r>
          </a:p>
          <a:p>
            <a:pPr marL="285750" indent="-285750" algn="ctr">
              <a:lnSpc>
                <a:spcPct val="150000"/>
              </a:lnSpc>
              <a:spcBef>
                <a:spcPts val="1200"/>
              </a:spcBef>
              <a:spcAft>
                <a:spcPts val="600"/>
              </a:spcAft>
              <a:buFont typeface="Arial" panose="020B0604020202020204" pitchFamily="34" charset="0"/>
              <a:buChar char="•"/>
            </a:pPr>
            <a:r>
              <a:rPr lang="en-AU" sz="2800"/>
              <a:t>If </a:t>
            </a:r>
            <a:r>
              <a:rPr lang="en-AU" sz="2800" b="1">
                <a:solidFill>
                  <a:schemeClr val="tx2"/>
                </a:solidFill>
              </a:rPr>
              <a:t>2 red </a:t>
            </a:r>
            <a:r>
              <a:rPr lang="en-AU" sz="2800"/>
              <a:t>counters</a:t>
            </a:r>
            <a:r>
              <a:rPr lang="en-AU" sz="2800">
                <a:solidFill>
                  <a:schemeClr val="tx2"/>
                </a:solidFill>
              </a:rPr>
              <a:t> </a:t>
            </a:r>
            <a:r>
              <a:rPr lang="en-AU" sz="2800"/>
              <a:t>were added to the bag, record the </a:t>
            </a:r>
            <a:r>
              <a:rPr lang="en-AU" sz="2800" b="1"/>
              <a:t>new probabilities</a:t>
            </a:r>
            <a:r>
              <a:rPr lang="en-AU" sz="2800"/>
              <a:t>.</a:t>
            </a:r>
          </a:p>
          <a:p>
            <a:pPr algn="ctr"/>
            <a:endParaRPr lang="en-AU" sz="160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C33C7D15-BCE3-1182-71C9-F7EC347D0985}"/>
              </a:ext>
            </a:extLst>
          </p:cNvPr>
          <p:cNvSpPr txBox="1"/>
          <p:nvPr/>
        </p:nvSpPr>
        <p:spPr>
          <a:xfrm>
            <a:off x="522136" y="1623747"/>
            <a:ext cx="11147728" cy="4150581"/>
          </a:xfrm>
          <a:prstGeom prst="rect">
            <a:avLst/>
          </a:prstGeom>
          <a:noFill/>
        </p:spPr>
        <p:txBody>
          <a:bodyPr wrap="square" lIns="0" tIns="0" rIns="0" bIns="0" rtlCol="0">
            <a:noAutofit/>
          </a:bodyPr>
          <a:lstStyle/>
          <a:p>
            <a:pPr algn="ctr">
              <a:lnSpc>
                <a:spcPct val="150000"/>
              </a:lnSpc>
            </a:pPr>
            <a:r>
              <a:rPr lang="en-AU" sz="4400"/>
              <a:t>A bus travels at an </a:t>
            </a:r>
            <a:r>
              <a:rPr lang="en-AU" sz="4400" b="1"/>
              <a:t>average speed </a:t>
            </a:r>
            <a:r>
              <a:rPr lang="en-AU" sz="4400"/>
              <a:t>of </a:t>
            </a:r>
          </a:p>
          <a:p>
            <a:pPr algn="ctr">
              <a:lnSpc>
                <a:spcPct val="150000"/>
              </a:lnSpc>
            </a:pPr>
            <a:r>
              <a:rPr lang="en-AU" sz="4400" b="1"/>
              <a:t>90 km an hour</a:t>
            </a:r>
            <a:r>
              <a:rPr lang="en-AU" sz="4400"/>
              <a:t>.</a:t>
            </a:r>
          </a:p>
          <a:p>
            <a:pPr algn="ctr">
              <a:lnSpc>
                <a:spcPct val="150000"/>
              </a:lnSpc>
            </a:pPr>
            <a:r>
              <a:rPr lang="en-AU" sz="4400"/>
              <a:t>How long will it take the bus to travel</a:t>
            </a:r>
          </a:p>
          <a:p>
            <a:pPr algn="ctr">
              <a:lnSpc>
                <a:spcPct val="150000"/>
              </a:lnSpc>
            </a:pPr>
            <a:r>
              <a:rPr lang="en-AU" sz="4400" b="1"/>
              <a:t>360 km</a:t>
            </a:r>
            <a:r>
              <a:rPr lang="en-AU"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4" name="TextBox 3">
            <a:extLst>
              <a:ext uri="{FF2B5EF4-FFF2-40B4-BE49-F238E27FC236}">
                <a16:creationId xmlns:a16="http://schemas.microsoft.com/office/drawing/2014/main" id="{45C57003-80CD-D005-FCF2-3182B87C327C}"/>
              </a:ext>
            </a:extLst>
          </p:cNvPr>
          <p:cNvSpPr txBox="1"/>
          <p:nvPr/>
        </p:nvSpPr>
        <p:spPr>
          <a:xfrm>
            <a:off x="360000" y="1248355"/>
            <a:ext cx="11052313" cy="4667415"/>
          </a:xfrm>
          <a:prstGeom prst="rect">
            <a:avLst/>
          </a:prstGeom>
          <a:noFill/>
        </p:spPr>
        <p:txBody>
          <a:bodyPr wrap="square" lIns="0" tIns="0" rIns="0" bIns="0" rtlCol="0">
            <a:noAutofit/>
          </a:bodyPr>
          <a:lstStyle/>
          <a:p>
            <a:pPr algn="ctr">
              <a:lnSpc>
                <a:spcPct val="150000"/>
              </a:lnSpc>
            </a:pPr>
            <a:r>
              <a:rPr lang="en-AU" sz="2800"/>
              <a:t>You have three pieces of ribbon with the following lengths:</a:t>
            </a:r>
          </a:p>
          <a:p>
            <a:pPr marL="457200" indent="-457200" algn="ctr">
              <a:lnSpc>
                <a:spcPct val="150000"/>
              </a:lnSpc>
              <a:buFont typeface="Arial" panose="020B0604020202020204" pitchFamily="34" charset="0"/>
              <a:buChar char="•"/>
            </a:pPr>
            <a:r>
              <a:rPr lang="en-AU" sz="2800">
                <a:solidFill>
                  <a:schemeClr val="accent2"/>
                </a:solidFill>
              </a:rPr>
              <a:t>8 mm</a:t>
            </a:r>
          </a:p>
          <a:p>
            <a:pPr marL="457200" indent="-457200" algn="ctr">
              <a:lnSpc>
                <a:spcPct val="150000"/>
              </a:lnSpc>
              <a:buFont typeface="Arial" panose="020B0604020202020204" pitchFamily="34" charset="0"/>
              <a:buChar char="•"/>
            </a:pPr>
            <a:r>
              <a:rPr lang="en-AU" sz="2800">
                <a:solidFill>
                  <a:schemeClr val="accent2"/>
                </a:solidFill>
              </a:rPr>
              <a:t>25 cm</a:t>
            </a:r>
          </a:p>
          <a:p>
            <a:pPr marL="457200" indent="-457200" algn="ctr">
              <a:lnSpc>
                <a:spcPct val="150000"/>
              </a:lnSpc>
              <a:buFont typeface="Arial" panose="020B0604020202020204" pitchFamily="34" charset="0"/>
              <a:buChar char="•"/>
            </a:pPr>
            <a:r>
              <a:rPr lang="en-AU" sz="2800">
                <a:solidFill>
                  <a:schemeClr val="accent2"/>
                </a:solidFill>
              </a:rPr>
              <a:t>1.3 m</a:t>
            </a:r>
          </a:p>
          <a:p>
            <a:pPr algn="ctr">
              <a:lnSpc>
                <a:spcPct val="150000"/>
              </a:lnSpc>
            </a:pPr>
            <a:r>
              <a:rPr lang="en-AU" sz="2800"/>
              <a:t>1. Convert all the lengths to </a:t>
            </a:r>
            <a:r>
              <a:rPr lang="en-AU" sz="2800" b="1"/>
              <a:t>metres</a:t>
            </a:r>
            <a:r>
              <a:rPr lang="en-AU" sz="2800"/>
              <a:t>.</a:t>
            </a:r>
          </a:p>
          <a:p>
            <a:pPr algn="ctr">
              <a:lnSpc>
                <a:spcPct val="150000"/>
              </a:lnSpc>
            </a:pPr>
            <a:r>
              <a:rPr lang="en-AU" sz="2800"/>
              <a:t>2. Find the </a:t>
            </a:r>
            <a:r>
              <a:rPr lang="en-AU" sz="2800" b="1"/>
              <a:t>total length</a:t>
            </a:r>
            <a:r>
              <a:rPr lang="en-AU" sz="2800"/>
              <a:t> of the ribbons in </a:t>
            </a:r>
            <a:r>
              <a:rPr lang="en-AU" sz="2800" b="1"/>
              <a:t>metres</a:t>
            </a:r>
            <a:r>
              <a:rPr lang="en-AU" sz="2800"/>
              <a:t>.</a:t>
            </a:r>
          </a:p>
          <a:p>
            <a:pPr algn="ctr">
              <a:lnSpc>
                <a:spcPct val="150000"/>
              </a:lnSpc>
            </a:pPr>
            <a:r>
              <a:rPr lang="en-AU" sz="2800"/>
              <a:t>3. </a:t>
            </a:r>
            <a:r>
              <a:rPr lang="en-AU" sz="2800" b="1"/>
              <a:t>Explain</a:t>
            </a:r>
            <a:r>
              <a:rPr lang="en-AU" sz="2800"/>
              <a:t> why it is important to have the same units before adding lengths.</a:t>
            </a:r>
          </a:p>
          <a:p>
            <a:pPr algn="ctr"/>
            <a:endParaRPr lang="en-AU" sz="180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solving problems using fractions as division (1)</a:t>
            </a:r>
            <a:endParaRPr lang="en-AU">
              <a:solidFill>
                <a:schemeClr val="bg1"/>
              </a:solidFill>
            </a:endParaRP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A problem with the heading 'What fraction will they get?' It states that 6 cakes are shared between 8 friends and has an image of 6 cakes.">
            <a:extLst>
              <a:ext uri="{FF2B5EF4-FFF2-40B4-BE49-F238E27FC236}">
                <a16:creationId xmlns:a16="http://schemas.microsoft.com/office/drawing/2014/main" id="{15F197E9-8102-8CE7-CFD0-F00CEE46B3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251" y="1987827"/>
            <a:ext cx="10124348" cy="3267986"/>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9799B-3B04-53F1-AE56-B00C75EEE03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5B76A26-B02A-996E-D523-599F372B0F56}"/>
              </a:ext>
            </a:extLst>
          </p:cNvPr>
          <p:cNvSpPr>
            <a:spLocks noGrp="1"/>
          </p:cNvSpPr>
          <p:nvPr>
            <p:ph type="title"/>
          </p:nvPr>
        </p:nvSpPr>
        <p:spPr>
          <a:xfrm>
            <a:off x="360000" y="360000"/>
            <a:ext cx="10367268" cy="545601"/>
          </a:xfrm>
        </p:spPr>
        <p:txBody>
          <a:bodyPr/>
          <a:lstStyle/>
          <a:p>
            <a:r>
              <a:rPr lang="en-AU"/>
              <a:t>Activity 7 – solving problems using fractions as division (2)</a:t>
            </a:r>
            <a:endParaRPr lang="en-AU">
              <a:solidFill>
                <a:schemeClr val="bg1"/>
              </a:solidFill>
            </a:endParaRPr>
          </a:p>
        </p:txBody>
      </p:sp>
      <p:pic>
        <p:nvPicPr>
          <p:cNvPr id="4" name="Picture 3">
            <a:extLst>
              <a:ext uri="{FF2B5EF4-FFF2-40B4-BE49-F238E27FC236}">
                <a16:creationId xmlns:a16="http://schemas.microsoft.com/office/drawing/2014/main" id="{702BFF66-AEDB-4B08-C669-790EB86D94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C49AD8BF-EAD0-4726-6899-3719EFB89D3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5" name="Picture 4" descr="3 more problems of sharing cakes between friends. The statement: 8 cakes shared between 10 friends and an image of 8 cakes. The statement: 4 cakes shared between 6 friends and an image of 4 cakes. The statement: 2 cakes shared between 4 friends and an image of 2 cakes.">
            <a:extLst>
              <a:ext uri="{FF2B5EF4-FFF2-40B4-BE49-F238E27FC236}">
                <a16:creationId xmlns:a16="http://schemas.microsoft.com/office/drawing/2014/main" id="{A9D65D48-8716-FCDA-FCBB-D6AEF09D2601}"/>
              </a:ext>
            </a:extLst>
          </p:cNvPr>
          <p:cNvPicPr>
            <a:picLocks noChangeAspect="1"/>
          </p:cNvPicPr>
          <p:nvPr/>
        </p:nvPicPr>
        <p:blipFill rotWithShape="1">
          <a:blip r:embed="rId4">
            <a:extLst>
              <a:ext uri="{28A0092B-C50C-407E-A947-70E740481C1C}">
                <a14:useLocalDpi xmlns:a14="http://schemas.microsoft.com/office/drawing/2010/main" val="0"/>
              </a:ext>
            </a:extLst>
          </a:blip>
          <a:srcRect t="1724"/>
          <a:stretch>
            <a:fillRect/>
          </a:stretch>
        </p:blipFill>
        <p:spPr bwMode="auto">
          <a:xfrm>
            <a:off x="2871049" y="1000162"/>
            <a:ext cx="6561220" cy="569583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0338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1" y="737406"/>
                <a:ext cx="11243037" cy="893226"/>
              </a:xfrm>
            </p:spPr>
            <p:txBody>
              <a:bodyPr/>
              <a:lstStyle/>
              <a:p>
                <a:pPr algn="ct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𝟑</m:t>
                        </m:r>
                      </m:num>
                      <m:den>
                        <m:r>
                          <a:rPr lang="en-AU" sz="4400" b="1" i="1" smtClean="0">
                            <a:latin typeface="Cambria Math" panose="02040503050406030204" pitchFamily="18" charset="0"/>
                          </a:rPr>
                          <m:t>𝟒</m:t>
                        </m:r>
                      </m:den>
                    </m:f>
                  </m:oMath>
                </a14:m>
                <a:r>
                  <a:rPr lang="en-AU" sz="4400"/>
                  <a:t>​ is greater than </a:t>
                </a:r>
                <a14:m>
                  <m:oMath xmlns:m="http://schemas.openxmlformats.org/officeDocument/2006/math">
                    <m:f>
                      <m:fPr>
                        <m:ctrlPr>
                          <a:rPr lang="en-AU" sz="4400" b="1" i="1" smtClean="0">
                            <a:latin typeface="Cambria Math" panose="02040503050406030204" pitchFamily="18" charset="0"/>
                          </a:rPr>
                        </m:ctrlPr>
                      </m:fPr>
                      <m:num>
                        <m:r>
                          <a:rPr lang="en-AU" sz="4400" b="1" i="1" smtClean="0">
                            <a:latin typeface="Cambria Math" panose="02040503050406030204" pitchFamily="18" charset="0"/>
                          </a:rPr>
                          <m:t>𝟔</m:t>
                        </m:r>
                      </m:num>
                      <m:den>
                        <m:r>
                          <a:rPr lang="en-AU" sz="4400" b="1" i="1" smtClean="0">
                            <a:latin typeface="Cambria Math" panose="02040503050406030204" pitchFamily="18" charset="0"/>
                          </a:rPr>
                          <m:t>𝟖</m:t>
                        </m:r>
                      </m:den>
                    </m:f>
                  </m:oMath>
                </a14:m>
                <a:r>
                  <a:rPr lang="en-AU" sz="4400" b="1"/>
                  <a:t> </a:t>
                </a:r>
                <a:r>
                  <a:rPr lang="en-AU" sz="4400"/>
                  <a:t>because </a:t>
                </a:r>
                <a:r>
                  <a:rPr lang="en-AU" sz="4400" b="1"/>
                  <a:t>8</a:t>
                </a:r>
                <a:r>
                  <a:rPr lang="en-AU" sz="4400"/>
                  <a:t> is a larger denominator than </a:t>
                </a:r>
                <a:r>
                  <a:rPr lang="en-AU" sz="4400" b="1"/>
                  <a:t>4</a:t>
                </a:r>
                <a:r>
                  <a:rPr lang="en-AU" sz="4400"/>
                  <a:t>.</a:t>
                </a:r>
              </a:p>
            </p:txBody>
          </p:sp>
        </mc:Choice>
        <mc:Fallback xmlns="">
          <p:sp>
            <p:nvSpPr>
              <p:cNvPr id="6" name="Text Placeholder 5">
                <a:extLst>
                  <a:ext uri="{FF2B5EF4-FFF2-40B4-BE49-F238E27FC236}">
                    <a16:creationId xmlns:a16="http://schemas.microsoft.com/office/drawing/2014/main" id="{C7D683F9-6194-51C3-10DE-058E032E33CF}"/>
                  </a:ext>
                </a:extLst>
              </p:cNvPr>
              <p:cNvSpPr>
                <a:spLocks noGrp="1" noRot="1" noChangeAspect="1" noMove="1" noResize="1" noEditPoints="1" noAdjustHandles="1" noChangeArrowheads="1" noChangeShapeType="1" noTextEdit="1"/>
              </p:cNvSpPr>
              <p:nvPr>
                <p:ph type="body" sz="quarter" idx="22"/>
              </p:nvPr>
            </p:nvSpPr>
            <p:spPr>
              <a:xfrm>
                <a:off x="474481" y="737406"/>
                <a:ext cx="11243037" cy="893226"/>
              </a:xfrm>
              <a:blipFill>
                <a:blip r:embed="rId3"/>
                <a:stretch>
                  <a:fillRect b="-199315"/>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169574266"/>
              </p:ext>
            </p:extLst>
          </p:nvPr>
        </p:nvGraphicFramePr>
        <p:xfrm>
          <a:off x="2557461" y="360066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5" name="Text Placeholder 5">
            <a:extLst>
              <a:ext uri="{FF2B5EF4-FFF2-40B4-BE49-F238E27FC236}">
                <a16:creationId xmlns:a16="http://schemas.microsoft.com/office/drawing/2014/main" id="{C03CA5E5-CE44-01E3-1F14-83C48DEB3617}"/>
              </a:ext>
            </a:extLst>
          </p:cNvPr>
          <p:cNvSpPr txBox="1">
            <a:spLocks/>
          </p:cNvSpPr>
          <p:nvPr/>
        </p:nvSpPr>
        <p:spPr>
          <a:xfrm>
            <a:off x="600963" y="4584502"/>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 </a:t>
            </a:r>
            <a:r>
              <a:rPr lang="en-AU" sz="4400" b="1"/>
              <a:t>diagram</a:t>
            </a:r>
            <a:r>
              <a:rPr lang="en-AU" sz="4400"/>
              <a:t> or </a:t>
            </a:r>
            <a:r>
              <a:rPr lang="en-AU" sz="4400" b="1"/>
              <a:t>number line </a:t>
            </a:r>
            <a:r>
              <a:rPr lang="en-AU" sz="4400"/>
              <a:t>to </a:t>
            </a: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66D91D5C-6FEB-468A-871A-996332C0E781}"/>
              </a:ext>
            </a:extLst>
          </p:cNvPr>
          <p:cNvSpPr txBox="1"/>
          <p:nvPr/>
        </p:nvSpPr>
        <p:spPr>
          <a:xfrm>
            <a:off x="1114129" y="896802"/>
            <a:ext cx="9886609" cy="1883190"/>
          </a:xfrm>
          <a:prstGeom prst="rect">
            <a:avLst/>
          </a:prstGeom>
          <a:noFill/>
        </p:spPr>
        <p:txBody>
          <a:bodyPr wrap="square" lIns="0" tIns="0" rIns="0" bIns="0" rtlCol="0">
            <a:noAutofit/>
          </a:bodyPr>
          <a:lstStyle/>
          <a:p>
            <a:pPr algn="ctr">
              <a:lnSpc>
                <a:spcPct val="150000"/>
              </a:lnSpc>
            </a:pPr>
            <a:r>
              <a:rPr lang="en-AU" sz="4000"/>
              <a:t>Record the measurements displayed in </a:t>
            </a:r>
            <a:r>
              <a:rPr lang="en-AU" sz="4000" b="1"/>
              <a:t>litres (L)</a:t>
            </a:r>
            <a:r>
              <a:rPr lang="en-AU" sz="4000"/>
              <a:t>, to </a:t>
            </a:r>
            <a:r>
              <a:rPr lang="en-AU" sz="4000" b="1"/>
              <a:t>3 decimal places</a:t>
            </a:r>
            <a:r>
              <a:rPr lang="en-AU" sz="4000"/>
              <a:t>.</a:t>
            </a:r>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endParaRPr lang="en-AU" sz="4000"/>
          </a:p>
          <a:p>
            <a:pPr algn="ctr">
              <a:lnSpc>
                <a:spcPct val="150000"/>
              </a:lnSpc>
            </a:pPr>
            <a:r>
              <a:rPr lang="en-AU" sz="4000"/>
              <a:t>Re</a:t>
            </a:r>
          </a:p>
        </p:txBody>
      </p:sp>
      <p:grpSp>
        <p:nvGrpSpPr>
          <p:cNvPr id="12" name="Group 11" descr="A. A measuring jug with 650 mL of liquid.">
            <a:extLst>
              <a:ext uri="{FF2B5EF4-FFF2-40B4-BE49-F238E27FC236}">
                <a16:creationId xmlns:a16="http://schemas.microsoft.com/office/drawing/2014/main" id="{54C546FA-907D-6C36-9199-E188A2044730}"/>
              </a:ext>
            </a:extLst>
          </p:cNvPr>
          <p:cNvGrpSpPr/>
          <p:nvPr/>
        </p:nvGrpSpPr>
        <p:grpSpPr>
          <a:xfrm>
            <a:off x="1114129" y="2924171"/>
            <a:ext cx="4080442" cy="3771829"/>
            <a:chOff x="1114129" y="2924171"/>
            <a:chExt cx="4080442" cy="3771829"/>
          </a:xfrm>
        </p:grpSpPr>
        <p:sp>
          <p:nvSpPr>
            <p:cNvPr id="9" name="TextBox 8">
              <a:extLst>
                <a:ext uri="{FF2B5EF4-FFF2-40B4-BE49-F238E27FC236}">
                  <a16:creationId xmlns:a16="http://schemas.microsoft.com/office/drawing/2014/main" id="{20C74543-B765-8453-DFAC-E9F0A6DF3D8A}"/>
                </a:ext>
              </a:extLst>
            </p:cNvPr>
            <p:cNvSpPr txBox="1"/>
            <p:nvPr/>
          </p:nvSpPr>
          <p:spPr>
            <a:xfrm>
              <a:off x="1114129" y="2924171"/>
              <a:ext cx="569710" cy="517832"/>
            </a:xfrm>
            <a:prstGeom prst="rect">
              <a:avLst/>
            </a:prstGeom>
            <a:noFill/>
          </p:spPr>
          <p:txBody>
            <a:bodyPr wrap="square" lIns="0" tIns="0" rIns="0" bIns="0" rtlCol="0">
              <a:noAutofit/>
            </a:bodyPr>
            <a:lstStyle/>
            <a:p>
              <a:pPr algn="ctr"/>
              <a:r>
                <a:rPr lang="en-AU" sz="4400"/>
                <a:t>A.</a:t>
              </a:r>
            </a:p>
          </p:txBody>
        </p:sp>
        <p:pic>
          <p:nvPicPr>
            <p:cNvPr id="7" name="Picture 6" descr="A. A measuring jug with 650 mL of liquid.">
              <a:extLst>
                <a:ext uri="{FF2B5EF4-FFF2-40B4-BE49-F238E27FC236}">
                  <a16:creationId xmlns:a16="http://schemas.microsoft.com/office/drawing/2014/main" id="{03B1114D-CCE3-4991-5C36-B26FD35F0E52}"/>
                </a:ext>
              </a:extLst>
            </p:cNvPr>
            <p:cNvPicPr>
              <a:picLocks noChangeAspect="1"/>
            </p:cNvPicPr>
            <p:nvPr/>
          </p:nvPicPr>
          <p:blipFill>
            <a:blip r:embed="rId4"/>
            <a:stretch>
              <a:fillRect/>
            </a:stretch>
          </p:blipFill>
          <p:spPr>
            <a:xfrm>
              <a:off x="1821905" y="3098823"/>
              <a:ext cx="3372666" cy="3597177"/>
            </a:xfrm>
            <a:prstGeom prst="rect">
              <a:avLst/>
            </a:prstGeom>
          </p:spPr>
        </p:pic>
      </p:grpSp>
      <p:grpSp>
        <p:nvGrpSpPr>
          <p:cNvPr id="14" name="Group 13" descr="B. A measuring jug with 400 mL of liquid.">
            <a:extLst>
              <a:ext uri="{FF2B5EF4-FFF2-40B4-BE49-F238E27FC236}">
                <a16:creationId xmlns:a16="http://schemas.microsoft.com/office/drawing/2014/main" id="{63027DC8-B1A2-1783-E651-B026FCCFF500}"/>
              </a:ext>
            </a:extLst>
          </p:cNvPr>
          <p:cNvGrpSpPr/>
          <p:nvPr/>
        </p:nvGrpSpPr>
        <p:grpSpPr>
          <a:xfrm>
            <a:off x="6780224" y="2924171"/>
            <a:ext cx="4127016" cy="3771829"/>
            <a:chOff x="6780224" y="2924171"/>
            <a:chExt cx="4127016" cy="3771829"/>
          </a:xfrm>
        </p:grpSpPr>
        <p:sp>
          <p:nvSpPr>
            <p:cNvPr id="13" name="TextBox 12">
              <a:extLst>
                <a:ext uri="{FF2B5EF4-FFF2-40B4-BE49-F238E27FC236}">
                  <a16:creationId xmlns:a16="http://schemas.microsoft.com/office/drawing/2014/main" id="{9B67E767-AF17-CDBD-DC1A-77D015F4843E}"/>
                </a:ext>
              </a:extLst>
            </p:cNvPr>
            <p:cNvSpPr txBox="1"/>
            <p:nvPr/>
          </p:nvSpPr>
          <p:spPr>
            <a:xfrm>
              <a:off x="6780224" y="2924171"/>
              <a:ext cx="569710" cy="517832"/>
            </a:xfrm>
            <a:prstGeom prst="rect">
              <a:avLst/>
            </a:prstGeom>
            <a:noFill/>
          </p:spPr>
          <p:txBody>
            <a:bodyPr wrap="square" lIns="0" tIns="0" rIns="0" bIns="0" rtlCol="0">
              <a:noAutofit/>
            </a:bodyPr>
            <a:lstStyle/>
            <a:p>
              <a:pPr algn="ctr"/>
              <a:r>
                <a:rPr lang="en-AU" sz="4400"/>
                <a:t>B.</a:t>
              </a:r>
            </a:p>
          </p:txBody>
        </p:sp>
        <p:pic>
          <p:nvPicPr>
            <p:cNvPr id="10" name="Picture 9" descr="B. A measuring jug with 400 mL of liquid.">
              <a:extLst>
                <a:ext uri="{FF2B5EF4-FFF2-40B4-BE49-F238E27FC236}">
                  <a16:creationId xmlns:a16="http://schemas.microsoft.com/office/drawing/2014/main" id="{E7E9E7C3-B457-CE66-A50A-CF499613E6DC}"/>
                </a:ext>
              </a:extLst>
            </p:cNvPr>
            <p:cNvPicPr>
              <a:picLocks noChangeAspect="1"/>
            </p:cNvPicPr>
            <p:nvPr/>
          </p:nvPicPr>
          <p:blipFill>
            <a:blip r:embed="rId5"/>
            <a:stretch>
              <a:fillRect/>
            </a:stretch>
          </p:blipFill>
          <p:spPr>
            <a:xfrm>
              <a:off x="7534574" y="3042278"/>
              <a:ext cx="3372666" cy="3653722"/>
            </a:xfrm>
            <a:prstGeom prst="rect">
              <a:avLst/>
            </a:prstGeom>
          </p:spPr>
        </p:pic>
      </p:gr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31" name="TextBox 30">
            <a:extLst>
              <a:ext uri="{FF2B5EF4-FFF2-40B4-BE49-F238E27FC236}">
                <a16:creationId xmlns:a16="http://schemas.microsoft.com/office/drawing/2014/main" id="{76EC4A50-C6B0-2FEB-6B54-7E1C4B99F19E}"/>
              </a:ext>
            </a:extLst>
          </p:cNvPr>
          <p:cNvSpPr txBox="1"/>
          <p:nvPr/>
        </p:nvSpPr>
        <p:spPr>
          <a:xfrm>
            <a:off x="749928" y="942575"/>
            <a:ext cx="9242949" cy="1275569"/>
          </a:xfrm>
          <a:prstGeom prst="rect">
            <a:avLst/>
          </a:prstGeom>
          <a:noFill/>
        </p:spPr>
        <p:txBody>
          <a:bodyPr wrap="square" lIns="0" tIns="0" rIns="0" bIns="0" rtlCol="0">
            <a:noAutofit/>
          </a:bodyPr>
          <a:lstStyle/>
          <a:p>
            <a:pPr algn="ctr">
              <a:lnSpc>
                <a:spcPct val="150000"/>
              </a:lnSpc>
            </a:pPr>
            <a:r>
              <a:rPr lang="en-AU" sz="2800"/>
              <a:t>Sarah has a mystery bag containing </a:t>
            </a:r>
            <a:r>
              <a:rPr lang="en-AU" sz="2800" b="1"/>
              <a:t>a large number of coloured </a:t>
            </a:r>
            <a:r>
              <a:rPr lang="en-AU" sz="2800"/>
              <a:t>counters. </a:t>
            </a:r>
            <a:r>
              <a:rPr lang="en-AU" sz="2800" b="1"/>
              <a:t>1 counter </a:t>
            </a:r>
            <a:r>
              <a:rPr lang="en-AU" sz="2800"/>
              <a:t>was drawn out then </a:t>
            </a:r>
            <a:r>
              <a:rPr lang="en-AU" sz="2800" b="1"/>
              <a:t>returned </a:t>
            </a:r>
            <a:r>
              <a:rPr lang="en-AU" sz="2800"/>
              <a:t>to the collection before the </a:t>
            </a:r>
            <a:r>
              <a:rPr lang="en-AU" sz="2800" b="1"/>
              <a:t>next counter </a:t>
            </a:r>
            <a:r>
              <a:rPr lang="en-AU" sz="2800"/>
              <a:t>was drawn. Here are the results:</a:t>
            </a:r>
          </a:p>
          <a:p>
            <a:pPr algn="ctr">
              <a:lnSpc>
                <a:spcPct val="150000"/>
              </a:lnSpc>
            </a:pPr>
            <a:endParaRPr lang="en-AU" sz="2800"/>
          </a:p>
        </p:txBody>
      </p:sp>
      <p:grpSp>
        <p:nvGrpSpPr>
          <p:cNvPr id="17" name="Group 16" descr="A group of counters: yellow, red, red, yellow, blue, red, yellow, yellow, blue, red.">
            <a:extLst>
              <a:ext uri="{FF2B5EF4-FFF2-40B4-BE49-F238E27FC236}">
                <a16:creationId xmlns:a16="http://schemas.microsoft.com/office/drawing/2014/main" id="{D54FD275-DAF5-0181-81CC-A1A0A72B305D}"/>
              </a:ext>
            </a:extLst>
          </p:cNvPr>
          <p:cNvGrpSpPr/>
          <p:nvPr/>
        </p:nvGrpSpPr>
        <p:grpSpPr>
          <a:xfrm>
            <a:off x="749928" y="3708432"/>
            <a:ext cx="8794986" cy="451500"/>
            <a:chOff x="749928" y="3708432"/>
            <a:chExt cx="8794986" cy="451500"/>
          </a:xfrm>
        </p:grpSpPr>
        <p:sp>
          <p:nvSpPr>
            <p:cNvPr id="8" name="Oval 7" descr="Counter">
              <a:extLst>
                <a:ext uri="{FF2B5EF4-FFF2-40B4-BE49-F238E27FC236}">
                  <a16:creationId xmlns:a16="http://schemas.microsoft.com/office/drawing/2014/main" id="{B3D5BE8C-F17A-D94E-2344-1F46C3229EE3}"/>
                </a:ext>
              </a:extLst>
            </p:cNvPr>
            <p:cNvSpPr/>
            <p:nvPr/>
          </p:nvSpPr>
          <p:spPr>
            <a:xfrm>
              <a:off x="749928" y="3708432"/>
              <a:ext cx="423658" cy="4515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2" name="Oval 11" descr="Counter">
              <a:extLst>
                <a:ext uri="{FF2B5EF4-FFF2-40B4-BE49-F238E27FC236}">
                  <a16:creationId xmlns:a16="http://schemas.microsoft.com/office/drawing/2014/main" id="{6016D8F0-F7B7-C344-9BAB-D302A8990298}"/>
                </a:ext>
              </a:extLst>
            </p:cNvPr>
            <p:cNvSpPr/>
            <p:nvPr/>
          </p:nvSpPr>
          <p:spPr>
            <a:xfrm>
              <a:off x="1680076" y="3708432"/>
              <a:ext cx="423658" cy="451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3" name="Oval 12" descr="Counter">
              <a:extLst>
                <a:ext uri="{FF2B5EF4-FFF2-40B4-BE49-F238E27FC236}">
                  <a16:creationId xmlns:a16="http://schemas.microsoft.com/office/drawing/2014/main" id="{AFE8041B-FACE-F9AE-22D1-024B41346ECE}"/>
                </a:ext>
              </a:extLst>
            </p:cNvPr>
            <p:cNvSpPr/>
            <p:nvPr/>
          </p:nvSpPr>
          <p:spPr>
            <a:xfrm>
              <a:off x="2610224" y="3708432"/>
              <a:ext cx="423658" cy="451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7" name="Oval 6" descr="Counter">
              <a:extLst>
                <a:ext uri="{FF2B5EF4-FFF2-40B4-BE49-F238E27FC236}">
                  <a16:creationId xmlns:a16="http://schemas.microsoft.com/office/drawing/2014/main" id="{4B2BC84A-78B8-E679-AC43-05E15FC9F9A9}"/>
                </a:ext>
              </a:extLst>
            </p:cNvPr>
            <p:cNvSpPr/>
            <p:nvPr/>
          </p:nvSpPr>
          <p:spPr>
            <a:xfrm>
              <a:off x="3540372" y="3708432"/>
              <a:ext cx="423658" cy="4515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9" name="Oval 18" descr="Counter">
              <a:extLst>
                <a:ext uri="{FF2B5EF4-FFF2-40B4-BE49-F238E27FC236}">
                  <a16:creationId xmlns:a16="http://schemas.microsoft.com/office/drawing/2014/main" id="{1BB08CDE-EE7F-A75D-E75A-9409ADBEDB6E}"/>
                </a:ext>
              </a:extLst>
            </p:cNvPr>
            <p:cNvSpPr/>
            <p:nvPr/>
          </p:nvSpPr>
          <p:spPr>
            <a:xfrm>
              <a:off x="4470520" y="3708432"/>
              <a:ext cx="423658" cy="4515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4" name="Oval 13" descr="Counter">
              <a:extLst>
                <a:ext uri="{FF2B5EF4-FFF2-40B4-BE49-F238E27FC236}">
                  <a16:creationId xmlns:a16="http://schemas.microsoft.com/office/drawing/2014/main" id="{0E7E931E-F1E0-0223-4C6D-08B5AFE02723}"/>
                </a:ext>
              </a:extLst>
            </p:cNvPr>
            <p:cNvSpPr/>
            <p:nvPr/>
          </p:nvSpPr>
          <p:spPr>
            <a:xfrm>
              <a:off x="5400668" y="3708432"/>
              <a:ext cx="423658" cy="451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0" name="Oval 9" descr="Counter">
              <a:extLst>
                <a:ext uri="{FF2B5EF4-FFF2-40B4-BE49-F238E27FC236}">
                  <a16:creationId xmlns:a16="http://schemas.microsoft.com/office/drawing/2014/main" id="{678FF4E8-6957-7D2F-B193-A43296DB31D6}"/>
                </a:ext>
              </a:extLst>
            </p:cNvPr>
            <p:cNvSpPr/>
            <p:nvPr/>
          </p:nvSpPr>
          <p:spPr>
            <a:xfrm>
              <a:off x="6330816" y="3708432"/>
              <a:ext cx="423658" cy="4515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5" name="Oval 4" descr="Counter">
              <a:extLst>
                <a:ext uri="{FF2B5EF4-FFF2-40B4-BE49-F238E27FC236}">
                  <a16:creationId xmlns:a16="http://schemas.microsoft.com/office/drawing/2014/main" id="{77DCFBC5-954F-2A23-4C7D-8413830041CE}"/>
                </a:ext>
              </a:extLst>
            </p:cNvPr>
            <p:cNvSpPr/>
            <p:nvPr/>
          </p:nvSpPr>
          <p:spPr>
            <a:xfrm>
              <a:off x="7260964" y="3708432"/>
              <a:ext cx="423658" cy="45150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6" name="Oval 15" descr="Counter">
              <a:extLst>
                <a:ext uri="{FF2B5EF4-FFF2-40B4-BE49-F238E27FC236}">
                  <a16:creationId xmlns:a16="http://schemas.microsoft.com/office/drawing/2014/main" id="{BAF88730-DADF-F9E8-F886-16687AF1B183}"/>
                </a:ext>
              </a:extLst>
            </p:cNvPr>
            <p:cNvSpPr/>
            <p:nvPr/>
          </p:nvSpPr>
          <p:spPr>
            <a:xfrm>
              <a:off x="8191112" y="3708432"/>
              <a:ext cx="423658" cy="4515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sp>
          <p:nvSpPr>
            <p:cNvPr id="15" name="Oval 14" descr="Counter">
              <a:extLst>
                <a:ext uri="{FF2B5EF4-FFF2-40B4-BE49-F238E27FC236}">
                  <a16:creationId xmlns:a16="http://schemas.microsoft.com/office/drawing/2014/main" id="{8E83D7CA-FBAA-CF68-1D3F-34B9B561441B}"/>
                </a:ext>
              </a:extLst>
            </p:cNvPr>
            <p:cNvSpPr/>
            <p:nvPr/>
          </p:nvSpPr>
          <p:spPr>
            <a:xfrm>
              <a:off x="9121256" y="3708432"/>
              <a:ext cx="423658" cy="451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US"/>
            </a:p>
          </p:txBody>
        </p:sp>
      </p:grpSp>
      <p:pic>
        <p:nvPicPr>
          <p:cNvPr id="4" name="Picture 3">
            <a:extLst>
              <a:ext uri="{FF2B5EF4-FFF2-40B4-BE49-F238E27FC236}">
                <a16:creationId xmlns:a16="http://schemas.microsoft.com/office/drawing/2014/main" id="{85D08C1D-D812-0A33-73B6-DA1B189B3F5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22627" r="25225" b="5280"/>
          <a:stretch>
            <a:fillRect/>
          </a:stretch>
        </p:blipFill>
        <p:spPr>
          <a:xfrm>
            <a:off x="9750252" y="1202223"/>
            <a:ext cx="2227068" cy="2737808"/>
          </a:xfrm>
          <a:prstGeom prst="rect">
            <a:avLst/>
          </a:prstGeom>
        </p:spPr>
      </p:pic>
      <p:sp>
        <p:nvSpPr>
          <p:cNvPr id="32" name="TextBox 31">
            <a:extLst>
              <a:ext uri="{FF2B5EF4-FFF2-40B4-BE49-F238E27FC236}">
                <a16:creationId xmlns:a16="http://schemas.microsoft.com/office/drawing/2014/main" id="{18F84975-FA9A-87BA-89C1-3CE6B1ED8536}"/>
              </a:ext>
            </a:extLst>
          </p:cNvPr>
          <p:cNvSpPr txBox="1"/>
          <p:nvPr/>
        </p:nvSpPr>
        <p:spPr>
          <a:xfrm>
            <a:off x="10437185" y="1975171"/>
            <a:ext cx="767258" cy="1453829"/>
          </a:xfrm>
          <a:prstGeom prst="rect">
            <a:avLst/>
          </a:prstGeom>
          <a:noFill/>
        </p:spPr>
        <p:txBody>
          <a:bodyPr wrap="square" lIns="0" tIns="0" rIns="0" bIns="0" rtlCol="0">
            <a:noAutofit/>
          </a:bodyPr>
          <a:lstStyle/>
          <a:p>
            <a:pPr algn="ctr"/>
            <a:r>
              <a:rPr lang="en-AU" sz="13800"/>
              <a:t>?</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11" name="TextBox 10">
            <a:extLst>
              <a:ext uri="{FF2B5EF4-FFF2-40B4-BE49-F238E27FC236}">
                <a16:creationId xmlns:a16="http://schemas.microsoft.com/office/drawing/2014/main" id="{4551D4D8-7DA6-25CB-9F76-5427D926367A}"/>
              </a:ext>
            </a:extLst>
          </p:cNvPr>
          <p:cNvSpPr txBox="1"/>
          <p:nvPr/>
        </p:nvSpPr>
        <p:spPr>
          <a:xfrm>
            <a:off x="398213" y="4454571"/>
            <a:ext cx="10806230" cy="1951496"/>
          </a:xfrm>
          <a:prstGeom prst="rect">
            <a:avLst/>
          </a:prstGeom>
          <a:noFill/>
        </p:spPr>
        <p:txBody>
          <a:bodyPr wrap="square">
            <a:spAutoFit/>
          </a:bodyPr>
          <a:lstStyle/>
          <a:p>
            <a:pPr algn="ctr">
              <a:lnSpc>
                <a:spcPct val="150000"/>
              </a:lnSpc>
            </a:pPr>
            <a:r>
              <a:rPr lang="en-AU" sz="2800"/>
              <a:t>From these results:</a:t>
            </a:r>
          </a:p>
          <a:p>
            <a:pPr algn="ctr">
              <a:lnSpc>
                <a:spcPct val="150000"/>
              </a:lnSpc>
            </a:pPr>
            <a:r>
              <a:rPr lang="en-AU" sz="2800"/>
              <a:t>What do you </a:t>
            </a:r>
            <a:r>
              <a:rPr lang="en-AU" sz="2800" b="1"/>
              <a:t>think </a:t>
            </a:r>
            <a:r>
              <a:rPr lang="en-AU" sz="2800"/>
              <a:t>are the </a:t>
            </a:r>
            <a:r>
              <a:rPr lang="en-AU" sz="2800" b="1"/>
              <a:t>contents </a:t>
            </a:r>
            <a:r>
              <a:rPr lang="en-AU" sz="2800"/>
              <a:t>of the mystery bag?</a:t>
            </a:r>
          </a:p>
          <a:p>
            <a:pPr algn="ctr">
              <a:lnSpc>
                <a:spcPct val="150000"/>
              </a:lnSpc>
            </a:pPr>
            <a:r>
              <a:rPr lang="en-AU" sz="2800" b="1"/>
              <a:t>Communicate</a:t>
            </a:r>
            <a:r>
              <a:rPr lang="en-AU" sz="2800"/>
              <a:t> your </a:t>
            </a:r>
            <a:r>
              <a:rPr lang="en-AU" sz="2800" b="1"/>
              <a:t>reasoning</a:t>
            </a:r>
            <a:r>
              <a:rPr lang="en-AU" sz="280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3E48D472-35D2-6707-3807-5EE87461EAF0}"/>
              </a:ext>
            </a:extLst>
          </p:cNvPr>
          <p:cNvSpPr txBox="1"/>
          <p:nvPr/>
        </p:nvSpPr>
        <p:spPr>
          <a:xfrm>
            <a:off x="659958" y="1630539"/>
            <a:ext cx="10646922" cy="4309607"/>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Use the digits </a:t>
            </a:r>
            <a:r>
              <a:rPr lang="en-AU" sz="4400">
                <a:solidFill>
                  <a:schemeClr val="accent2"/>
                </a:solidFill>
              </a:rPr>
              <a:t>0</a:t>
            </a:r>
            <a:r>
              <a:rPr lang="en-AU" sz="4400"/>
              <a:t>, </a:t>
            </a:r>
            <a:r>
              <a:rPr lang="en-AU" sz="4400">
                <a:solidFill>
                  <a:schemeClr val="accent2"/>
                </a:solidFill>
              </a:rPr>
              <a:t>6</a:t>
            </a:r>
            <a:r>
              <a:rPr lang="en-AU" sz="4400"/>
              <a:t>, </a:t>
            </a:r>
            <a:r>
              <a:rPr lang="en-AU" sz="4400">
                <a:solidFill>
                  <a:schemeClr val="accent2"/>
                </a:solidFill>
              </a:rPr>
              <a:t>3</a:t>
            </a:r>
            <a:r>
              <a:rPr lang="en-AU" sz="4400"/>
              <a:t>, </a:t>
            </a:r>
            <a:r>
              <a:rPr lang="en-AU" sz="4400">
                <a:solidFill>
                  <a:schemeClr val="accent2"/>
                </a:solidFill>
              </a:rPr>
              <a:t>2</a:t>
            </a:r>
            <a:r>
              <a:rPr lang="en-AU" sz="4400"/>
              <a:t>, the operations +, -, ×</a:t>
            </a:r>
            <a:r>
              <a:rPr lang="en-AU" sz="4400" b="1"/>
              <a:t> </a:t>
            </a:r>
            <a:r>
              <a:rPr lang="en-AU" sz="4400"/>
              <a:t>and ÷ and brackets ( ), to create equations with answers from </a:t>
            </a:r>
            <a:r>
              <a:rPr lang="en-AU" sz="4400" b="1"/>
              <a:t>1 to 10</a:t>
            </a:r>
            <a:r>
              <a:rPr lang="en-AU" sz="4400"/>
              <a:t>.</a:t>
            </a:r>
          </a:p>
          <a:p>
            <a:pPr algn="ctr">
              <a:lnSpc>
                <a:spcPct val="150000"/>
              </a:lnSpc>
              <a:spcBef>
                <a:spcPts val="1200"/>
              </a:spcBef>
              <a:spcAft>
                <a:spcPts val="600"/>
              </a:spcAft>
            </a:pPr>
            <a:r>
              <a:rPr lang="en-AU" sz="4400"/>
              <a:t> For example, (6 - 2) × 2 = 8.</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4" name="TextBox 3">
            <a:extLst>
              <a:ext uri="{FF2B5EF4-FFF2-40B4-BE49-F238E27FC236}">
                <a16:creationId xmlns:a16="http://schemas.microsoft.com/office/drawing/2014/main" id="{FAD003BE-7884-70FC-FCC3-7B79DD76D4A3}"/>
              </a:ext>
            </a:extLst>
          </p:cNvPr>
          <p:cNvSpPr txBox="1"/>
          <p:nvPr/>
        </p:nvSpPr>
        <p:spPr>
          <a:xfrm>
            <a:off x="465684" y="1333524"/>
            <a:ext cx="11018316" cy="4428877"/>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3400"/>
              <a:t>Calculate the </a:t>
            </a:r>
            <a:r>
              <a:rPr lang="en-AU" sz="3400" b="1"/>
              <a:t>perimeter</a:t>
            </a:r>
            <a:r>
              <a:rPr lang="en-AU" sz="3400"/>
              <a:t> for each of these</a:t>
            </a:r>
          </a:p>
          <a:p>
            <a:pPr algn="ctr">
              <a:lnSpc>
                <a:spcPct val="150000"/>
              </a:lnSpc>
              <a:spcBef>
                <a:spcPts val="1200"/>
              </a:spcBef>
              <a:spcAft>
                <a:spcPts val="600"/>
              </a:spcAft>
            </a:pPr>
            <a:r>
              <a:rPr lang="en-AU" sz="3400"/>
              <a:t>two-dimensional shapes:</a:t>
            </a:r>
          </a:p>
          <a:p>
            <a:pPr marL="285750" indent="-285750" algn="ctr">
              <a:lnSpc>
                <a:spcPct val="150000"/>
              </a:lnSpc>
              <a:spcBef>
                <a:spcPts val="1200"/>
              </a:spcBef>
              <a:spcAft>
                <a:spcPts val="600"/>
              </a:spcAft>
              <a:buFont typeface="Arial" panose="020B0604020202020204" pitchFamily="34" charset="0"/>
              <a:buChar char="•"/>
            </a:pPr>
            <a:r>
              <a:rPr lang="en-AU" sz="3400"/>
              <a:t>A rectangle with a length of </a:t>
            </a:r>
            <a:r>
              <a:rPr lang="en-AU" sz="3400" b="1"/>
              <a:t>8 cm </a:t>
            </a:r>
            <a:r>
              <a:rPr lang="en-AU" sz="3400"/>
              <a:t>and a width of </a:t>
            </a:r>
            <a:r>
              <a:rPr lang="en-AU" sz="3400" b="1"/>
              <a:t>5 cm</a:t>
            </a:r>
            <a:r>
              <a:rPr lang="en-AU" sz="3400"/>
              <a:t>.</a:t>
            </a:r>
          </a:p>
          <a:p>
            <a:pPr marL="285750" indent="-285750" algn="ctr">
              <a:lnSpc>
                <a:spcPct val="150000"/>
              </a:lnSpc>
              <a:spcBef>
                <a:spcPts val="1200"/>
              </a:spcBef>
              <a:spcAft>
                <a:spcPts val="600"/>
              </a:spcAft>
              <a:buFont typeface="Arial" panose="020B0604020202020204" pitchFamily="34" charset="0"/>
              <a:buChar char="•"/>
            </a:pPr>
            <a:r>
              <a:rPr lang="en-AU" sz="3400"/>
              <a:t>A square </a:t>
            </a:r>
            <a:r>
              <a:rPr lang="en-AU" sz="3400" b="1"/>
              <a:t>7 cm </a:t>
            </a:r>
            <a:r>
              <a:rPr lang="en-AU" sz="3400"/>
              <a:t>side lengths.</a:t>
            </a:r>
          </a:p>
          <a:p>
            <a:pPr marL="285750" indent="-285750" algn="ctr">
              <a:lnSpc>
                <a:spcPct val="150000"/>
              </a:lnSpc>
              <a:spcBef>
                <a:spcPts val="1200"/>
              </a:spcBef>
              <a:spcAft>
                <a:spcPts val="600"/>
              </a:spcAft>
              <a:buFont typeface="Arial" panose="020B0604020202020204" pitchFamily="34" charset="0"/>
              <a:buChar char="•"/>
            </a:pPr>
            <a:r>
              <a:rPr lang="en-AU" sz="3400"/>
              <a:t>A triangle with sides measuring </a:t>
            </a:r>
            <a:r>
              <a:rPr lang="en-AU" sz="3400" b="1"/>
              <a:t>6 cm</a:t>
            </a:r>
            <a:r>
              <a:rPr lang="en-AU" sz="3400"/>
              <a:t>, </a:t>
            </a:r>
            <a:r>
              <a:rPr lang="en-AU" sz="3400" b="1"/>
              <a:t>8 cm</a:t>
            </a:r>
            <a:r>
              <a:rPr lang="en-AU" sz="3400"/>
              <a:t>, and </a:t>
            </a:r>
            <a:r>
              <a:rPr lang="en-AU" sz="3400" b="1"/>
              <a:t>10 cm</a:t>
            </a:r>
            <a:r>
              <a:rPr lang="en-AU" sz="3400"/>
              <a:t>.</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ordering equivalent fractions on number lines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5" name="Picture 4" descr="A paper strip">
            <a:extLst>
              <a:ext uri="{FF2B5EF4-FFF2-40B4-BE49-F238E27FC236}">
                <a16:creationId xmlns:a16="http://schemas.microsoft.com/office/drawing/2014/main" id="{8F6D0F11-DE34-D9B5-B1E1-422895323504}"/>
              </a:ext>
            </a:extLst>
          </p:cNvPr>
          <p:cNvPicPr>
            <a:picLocks noChangeAspect="1"/>
          </p:cNvPicPr>
          <p:nvPr/>
        </p:nvPicPr>
        <p:blipFill>
          <a:blip r:embed="rId4"/>
          <a:stretch>
            <a:fillRect/>
          </a:stretch>
        </p:blipFill>
        <p:spPr>
          <a:xfrm>
            <a:off x="542150" y="1681770"/>
            <a:ext cx="11107700" cy="2572109"/>
          </a:xfrm>
          <a:prstGeom prst="rect">
            <a:avLst/>
          </a:prstGeom>
          <a:ln>
            <a:noFill/>
          </a:ln>
          <a:effectLst/>
        </p:spPr>
      </p:pic>
      <p:grpSp>
        <p:nvGrpSpPr>
          <p:cNvPr id="18" name="Group 17" descr="A number line 0-1.">
            <a:extLst>
              <a:ext uri="{FF2B5EF4-FFF2-40B4-BE49-F238E27FC236}">
                <a16:creationId xmlns:a16="http://schemas.microsoft.com/office/drawing/2014/main" id="{07075EA7-F43C-8DEA-D391-B3FCBD2F9CCD}"/>
              </a:ext>
            </a:extLst>
          </p:cNvPr>
          <p:cNvGrpSpPr/>
          <p:nvPr/>
        </p:nvGrpSpPr>
        <p:grpSpPr>
          <a:xfrm>
            <a:off x="542150" y="5454594"/>
            <a:ext cx="11034949" cy="908235"/>
            <a:chOff x="542150" y="5454594"/>
            <a:chExt cx="11034949" cy="908235"/>
          </a:xfrm>
        </p:grpSpPr>
        <p:cxnSp>
          <p:nvCxnSpPr>
            <p:cNvPr id="8" name="Straight Arrow Connector 7">
              <a:extLst>
                <a:ext uri="{FF2B5EF4-FFF2-40B4-BE49-F238E27FC236}">
                  <a16:creationId xmlns:a16="http://schemas.microsoft.com/office/drawing/2014/main" id="{FC579AD6-2704-7268-DF9A-E96BF91D5715}"/>
                </a:ext>
              </a:extLst>
            </p:cNvPr>
            <p:cNvCxnSpPr>
              <a:cxnSpLocks/>
            </p:cNvCxnSpPr>
            <p:nvPr/>
          </p:nvCxnSpPr>
          <p:spPr>
            <a:xfrm>
              <a:off x="542150" y="5621573"/>
              <a:ext cx="110349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B034691-25C2-FB59-AE91-9438475566B7}"/>
                </a:ext>
              </a:extLst>
            </p:cNvPr>
            <p:cNvCxnSpPr/>
            <p:nvPr/>
          </p:nvCxnSpPr>
          <p:spPr>
            <a:xfrm>
              <a:off x="1001864" y="5454595"/>
              <a:ext cx="0" cy="32600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7AEE3C4-A81A-DB4C-74EB-334FD5354C28}"/>
                </a:ext>
              </a:extLst>
            </p:cNvPr>
            <p:cNvCxnSpPr/>
            <p:nvPr/>
          </p:nvCxnSpPr>
          <p:spPr>
            <a:xfrm>
              <a:off x="11196761" y="5454594"/>
              <a:ext cx="0" cy="32600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549BEFE-54BD-9634-1E2A-5E91FEF61CE8}"/>
                </a:ext>
              </a:extLst>
            </p:cNvPr>
            <p:cNvSpPr txBox="1"/>
            <p:nvPr/>
          </p:nvSpPr>
          <p:spPr>
            <a:xfrm>
              <a:off x="818987" y="5891919"/>
              <a:ext cx="365754" cy="470910"/>
            </a:xfrm>
            <a:prstGeom prst="rect">
              <a:avLst/>
            </a:prstGeom>
            <a:noFill/>
          </p:spPr>
          <p:txBody>
            <a:bodyPr wrap="square" lIns="0" tIns="0" rIns="0" bIns="0" rtlCol="0">
              <a:noAutofit/>
            </a:bodyPr>
            <a:lstStyle/>
            <a:p>
              <a:pPr algn="ctr"/>
              <a:r>
                <a:rPr lang="en-AU" sz="4400"/>
                <a:t>0</a:t>
              </a:r>
            </a:p>
          </p:txBody>
        </p:sp>
        <p:sp>
          <p:nvSpPr>
            <p:cNvPr id="17" name="TextBox 16">
              <a:extLst>
                <a:ext uri="{FF2B5EF4-FFF2-40B4-BE49-F238E27FC236}">
                  <a16:creationId xmlns:a16="http://schemas.microsoft.com/office/drawing/2014/main" id="{93543D14-F0F9-FB84-76A4-A1699EBD1B5E}"/>
                </a:ext>
              </a:extLst>
            </p:cNvPr>
            <p:cNvSpPr txBox="1"/>
            <p:nvPr/>
          </p:nvSpPr>
          <p:spPr>
            <a:xfrm>
              <a:off x="11013884" y="5886067"/>
              <a:ext cx="365754" cy="470910"/>
            </a:xfrm>
            <a:prstGeom prst="rect">
              <a:avLst/>
            </a:prstGeom>
            <a:noFill/>
          </p:spPr>
          <p:txBody>
            <a:bodyPr wrap="square" lIns="0" tIns="0" rIns="0" bIns="0" rtlCol="0">
              <a:noAutofit/>
            </a:bodyPr>
            <a:lstStyle/>
            <a:p>
              <a:pPr algn="ctr"/>
              <a:r>
                <a:rPr lang="en-AU" sz="4400"/>
                <a:t>1</a:t>
              </a:r>
            </a:p>
          </p:txBody>
        </p:sp>
      </p:gr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17 October 2025 and was not modified.</a:t>
            </a:r>
          </a:p>
          <a:p>
            <a:r>
              <a:rPr lang="en-AU"/>
              <a:t>Aesop (1919) ‘</a:t>
            </a:r>
            <a:r>
              <a:rPr lang="en-AU" u="sng">
                <a:hlinkClick r:id="rId9"/>
              </a:rPr>
              <a:t>The Crow and the Pitcher</a:t>
            </a:r>
            <a:r>
              <a:rPr lang="en-AU"/>
              <a:t>’, </a:t>
            </a:r>
            <a:r>
              <a:rPr lang="en-AU" i="1"/>
              <a:t>The Aesop for Children: with Pictures by Milo Winter</a:t>
            </a:r>
            <a:r>
              <a:rPr lang="en-AU"/>
              <a:t> (Winter M </a:t>
            </a:r>
            <a:r>
              <a:rPr lang="en-AU" err="1"/>
              <a:t>illus</a:t>
            </a:r>
            <a:r>
              <a:rPr lang="en-AU"/>
              <a:t>), Rand, McNally and Co, adapted by the Library of Congress, accessed 25 October 2025.</a:t>
            </a:r>
          </a:p>
          <a:p>
            <a:r>
              <a:rPr lang="en-AU"/>
              <a:t>Allen P (2020) </a:t>
            </a:r>
            <a:r>
              <a:rPr lang="en-AU" i="1"/>
              <a:t>Mr Archimedes’ Bath</a:t>
            </a:r>
            <a:r>
              <a:rPr lang="en-AU"/>
              <a:t>, Harper Collins Children's Books, Australia.</a:t>
            </a:r>
          </a:p>
          <a:p>
            <a:r>
              <a:rPr lang="en-AU"/>
              <a:t>Amplify Education, Inc (2023) </a:t>
            </a:r>
            <a:r>
              <a:rPr lang="en-AU" i="1" u="sng" err="1">
                <a:hlinkClick r:id="rId10"/>
              </a:rPr>
              <a:t>Polypad</a:t>
            </a:r>
            <a:r>
              <a:rPr lang="en-AU" u="sng">
                <a:hlinkClick r:id="rId10"/>
              </a:rPr>
              <a:t>,</a:t>
            </a:r>
            <a:r>
              <a:rPr lang="en-AU"/>
              <a:t> </a:t>
            </a:r>
            <a:r>
              <a:rPr lang="en-AU" err="1"/>
              <a:t>Mathigon</a:t>
            </a:r>
            <a:r>
              <a:rPr lang="en-AU"/>
              <a:t> website, accessed 21 October 2025.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06CF1-4BE3-48CB-F701-8D6A2F588A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B0426B-4E55-B06E-875A-17F8F97CE521}"/>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EB0F0732-1179-B5DA-37E7-71667E687276}"/>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F66D2990-DDE4-75BA-73E5-3663ECAD5D95}"/>
              </a:ext>
            </a:extLst>
          </p:cNvPr>
          <p:cNvSpPr>
            <a:spLocks noGrp="1"/>
          </p:cNvSpPr>
          <p:nvPr>
            <p:ph idx="1"/>
          </p:nvPr>
        </p:nvSpPr>
        <p:spPr/>
        <p:txBody>
          <a:bodyPr/>
          <a:lstStyle/>
          <a:p>
            <a:r>
              <a:rPr lang="en-AU"/>
              <a:t>State of New South Wales (Department of Education) (2023) ‘</a:t>
            </a:r>
            <a:r>
              <a:rPr lang="en-AU" u="sng">
                <a:hlinkClick r:id="rId6"/>
              </a:rPr>
              <a:t>Designing food packaging</a:t>
            </a:r>
            <a:r>
              <a:rPr lang="en-AU"/>
              <a:t>’, </a:t>
            </a:r>
            <a:r>
              <a:rPr lang="en-AU" i="1"/>
              <a:t>Measurement and geometric reasoning</a:t>
            </a:r>
            <a:r>
              <a:rPr lang="en-AU"/>
              <a:t>, Universal Resources Hub website, accessed 22 October 2025. </a:t>
            </a:r>
          </a:p>
          <a:p>
            <a:r>
              <a:rPr lang="en-AU"/>
              <a:t>State of Victoria (Department of Education and Training) (2020) ‘</a:t>
            </a:r>
            <a:r>
              <a:rPr lang="en-AU" u="sng">
                <a:hlinkClick r:id="rId7"/>
              </a:rPr>
              <a:t>Metre Ruler</a:t>
            </a:r>
            <a:r>
              <a:rPr lang="en-AU"/>
              <a:t>’, </a:t>
            </a:r>
            <a:r>
              <a:rPr lang="en-AU" i="1"/>
              <a:t>Fractions and decimals</a:t>
            </a:r>
            <a:r>
              <a:rPr lang="en-AU"/>
              <a:t>, Maths Curriculum Companion website, accessed 23 October 2025.</a:t>
            </a:r>
          </a:p>
          <a:p>
            <a:r>
              <a:rPr lang="en-AU"/>
              <a:t>Sullivan P (2017) </a:t>
            </a:r>
            <a:r>
              <a:rPr lang="en-AU" i="1"/>
              <a:t>Challenging Mathematical Tasks: Unlocking the Potential of all Students</a:t>
            </a:r>
            <a:r>
              <a:rPr lang="en-AU"/>
              <a:t>, Oxford University Press, Victoria.</a:t>
            </a:r>
          </a:p>
          <a:p>
            <a:r>
              <a:rPr lang="en-AU"/>
              <a:t>University of Cambridge (n.d.) </a:t>
            </a:r>
            <a:r>
              <a:rPr lang="en-AU" i="1" u="sng">
                <a:hlinkClick r:id="rId8"/>
              </a:rPr>
              <a:t>Cut Nets</a:t>
            </a:r>
            <a:r>
              <a:rPr lang="en-AU"/>
              <a:t>, NRICH website, accessed 23 October 2025.</a:t>
            </a:r>
          </a:p>
          <a:p>
            <a:r>
              <a:rPr lang="en-AU"/>
              <a:t>University of Cambridge (n.d.) </a:t>
            </a:r>
            <a:r>
              <a:rPr lang="en-AU" i="1" u="sng">
                <a:hlinkClick r:id="rId9"/>
              </a:rPr>
              <a:t>Guess What?</a:t>
            </a:r>
            <a:r>
              <a:rPr lang="en-AU"/>
              <a:t>, NRICH website, accessed 23 October 2025.</a:t>
            </a:r>
          </a:p>
        </p:txBody>
      </p:sp>
      <p:sp>
        <p:nvSpPr>
          <p:cNvPr id="2" name="Slide Number Placeholder 1">
            <a:extLst>
              <a:ext uri="{FF2B5EF4-FFF2-40B4-BE49-F238E27FC236}">
                <a16:creationId xmlns:a16="http://schemas.microsoft.com/office/drawing/2014/main" id="{7215A76B-A642-3050-F169-ACFB3A411DF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382480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05E94B-CE52-4F43-8C6B-23E2D06A110C}"/>
</file>

<file path=customXml/itemProps2.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7543</Words>
  <Application>Microsoft Office PowerPoint</Application>
  <PresentationFormat>Widescreen</PresentationFormat>
  <Paragraphs>984</Paragraphs>
  <Slides>71</Slides>
  <Notes>71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71</vt:i4>
      </vt:variant>
    </vt:vector>
  </HeadingPairs>
  <TitlesOfParts>
    <vt:vector size="80" baseType="lpstr">
      <vt:lpstr>Montserrat</vt:lpstr>
      <vt:lpstr>Public Sans</vt:lpstr>
      <vt:lpstr>Arial</vt:lpstr>
      <vt:lpstr>Times New Roman</vt:lpstr>
      <vt:lpstr>Calibri</vt:lpstr>
      <vt:lpstr>Cambria Math</vt:lpstr>
      <vt:lpstr>Public Sans Light</vt:lpstr>
      <vt:lpstr>Wingdings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sorting equivalent percentages, decimals and fractions</vt:lpstr>
      <vt:lpstr>Review of learning 2</vt:lpstr>
      <vt:lpstr>True or false (1)</vt:lpstr>
      <vt:lpstr>Short response (5)</vt:lpstr>
      <vt:lpstr>Short response (6)</vt:lpstr>
      <vt:lpstr>Short response (7)</vt:lpstr>
      <vt:lpstr>Short response (8)</vt:lpstr>
      <vt:lpstr>Activity 2 – matching equivalent percentages, decimals and fractions</vt:lpstr>
      <vt:lpstr>Review of learning 3</vt:lpstr>
      <vt:lpstr>Multiple choice (2)</vt:lpstr>
      <vt:lpstr>Short response (9)</vt:lpstr>
      <vt:lpstr>Short response (10)</vt:lpstr>
      <vt:lpstr>Short response (11)</vt:lpstr>
      <vt:lpstr>Short response (12)</vt:lpstr>
      <vt:lpstr>Activity 3 – connecting percentages to the fraction ‘tenth’</vt:lpstr>
      <vt:lpstr>Review of learning 4</vt:lpstr>
      <vt:lpstr>True or false (2)</vt:lpstr>
      <vt:lpstr>Short response (13)</vt:lpstr>
      <vt:lpstr>Short response (14)</vt:lpstr>
      <vt:lpstr>Short response (15)</vt:lpstr>
      <vt:lpstr>Short response (16)</vt:lpstr>
      <vt:lpstr>Activity 4 – representing lengths as fractions and decimals</vt:lpstr>
      <vt:lpstr>Review of learning 5</vt:lpstr>
      <vt:lpstr>Multiple choice (3)</vt:lpstr>
      <vt:lpstr>Short response (17)</vt:lpstr>
      <vt:lpstr>Short response (18)</vt:lpstr>
      <vt:lpstr>Short response (19)</vt:lpstr>
      <vt:lpstr>Short response (20)</vt:lpstr>
      <vt:lpstr>Activity 5 – representing fractions as division (1)</vt:lpstr>
      <vt:lpstr>Activity 5 – representing fractions as division (2)</vt:lpstr>
      <vt:lpstr>Review of learning 6</vt:lpstr>
      <vt:lpstr>True or false (3)</vt:lpstr>
      <vt:lpstr>Short response (21)</vt:lpstr>
      <vt:lpstr>Short response (22)</vt:lpstr>
      <vt:lpstr>Short response (23)</vt:lpstr>
      <vt:lpstr>Short response (24)</vt:lpstr>
      <vt:lpstr>Activity 6 – representing equivalent fractions as division</vt:lpstr>
      <vt:lpstr>Review of learning 7</vt:lpstr>
      <vt:lpstr>Multiple choice (4)</vt:lpstr>
      <vt:lpstr>Short response (25)</vt:lpstr>
      <vt:lpstr>Short response (26)</vt:lpstr>
      <vt:lpstr>Short response (27)</vt:lpstr>
      <vt:lpstr>Short response (28)</vt:lpstr>
      <vt:lpstr>Activity 7 – solving problems using fractions as division (1)</vt:lpstr>
      <vt:lpstr>Activity 7 – solving problems using fractions as division (2)</vt:lpstr>
      <vt:lpstr>Review of learning 8</vt:lpstr>
      <vt:lpstr>True or false (4)</vt:lpstr>
      <vt:lpstr>Short response (29)</vt:lpstr>
      <vt:lpstr>Short response (30)</vt:lpstr>
      <vt:lpstr>Short response (31)</vt:lpstr>
      <vt:lpstr>Short response (32)</vt:lpstr>
      <vt:lpstr>Activity 8 – ordering equivalent fractions on number lines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2026-04-01T22:03:08Z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