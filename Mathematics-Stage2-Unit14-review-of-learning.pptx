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05" r:id="rId6"/>
    <p:sldId id="26359" r:id="rId7"/>
    <p:sldId id="271" r:id="rId8"/>
    <p:sldId id="26577"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14" r:id="rId31"/>
    <p:sldId id="26606" r:id="rId32"/>
    <p:sldId id="26607" r:id="rId33"/>
    <p:sldId id="26608" r:id="rId34"/>
    <p:sldId id="26609" r:id="rId35"/>
    <p:sldId id="26610" r:id="rId36"/>
    <p:sldId id="26651" r:id="rId37"/>
    <p:sldId id="26605"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52" r:id="rId51"/>
    <p:sldId id="26632" r:id="rId52"/>
    <p:sldId id="26633" r:id="rId53"/>
    <p:sldId id="26634" r:id="rId54"/>
    <p:sldId id="26635" r:id="rId55"/>
    <p:sldId id="26636" r:id="rId56"/>
    <p:sldId id="26637" r:id="rId57"/>
    <p:sldId id="26640" r:id="rId58"/>
    <p:sldId id="26641" r:id="rId59"/>
    <p:sldId id="26642" r:id="rId60"/>
    <p:sldId id="26643" r:id="rId61"/>
    <p:sldId id="26644" r:id="rId62"/>
    <p:sldId id="26645" r:id="rId63"/>
    <p:sldId id="26393" r:id="rId64"/>
    <p:sldId id="26387" r:id="rId65"/>
    <p:sldId id="26395" r:id="rId66"/>
    <p:sldId id="26391" r:id="rId67"/>
    <p:sldId id="26402" r:id="rId68"/>
    <p:sldId id="26507" r:id="rId69"/>
    <p:sldId id="26649" r:id="rId70"/>
    <p:sldId id="360" r:id="rId71"/>
    <p:sldId id="26650" r:id="rId72"/>
    <p:sldId id="361" r:id="rId73"/>
  </p:sldIdLst>
  <p:sldSz cx="12192000" cy="6858000"/>
  <p:notesSz cx="6858000" cy="9144000"/>
  <p:embeddedFontLst>
    <p:embeddedFont>
      <p:font typeface="Cambria Math" panose="02040503050406030204" pitchFamily="18" charset="0"/>
      <p:regular r:id="rId76"/>
    </p:embeddedFont>
    <p:embeddedFont>
      <p:font typeface="Montserrat" panose="00000500000000000000" pitchFamily="2" charset="0"/>
      <p:regular r:id="rId77"/>
      <p:bold r:id="rId78"/>
      <p:italic r:id="rId79"/>
      <p:boldItalic r:id="rId80"/>
    </p:embeddedFont>
    <p:embeddedFont>
      <p:font typeface="Public Sans" pitchFamily="2" charset="0"/>
      <p:regular r:id="rId81"/>
      <p:bold r:id="rId82"/>
      <p:italic r:id="rId83"/>
      <p:boldItalic r:id="rId84"/>
    </p:embeddedFont>
    <p:embeddedFont>
      <p:font typeface="Public Sans Light" pitchFamily="2" charset="0"/>
      <p:regular r:id="rId85"/>
      <p:italic r:id="rId86"/>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577"/>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14"/>
            <p14:sldId id="26606"/>
            <p14:sldId id="26607"/>
            <p14:sldId id="26608"/>
            <p14:sldId id="26609"/>
          </p14:sldIdLst>
        </p14:section>
        <p14:section name="Review of learning 5" id="{E365C8CF-14E0-4F5A-BCE8-2E930DEEA864}">
          <p14:sldIdLst>
            <p14:sldId id="26610"/>
            <p14:sldId id="26651"/>
            <p14:sldId id="26605"/>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52"/>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5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84336E3F-7783-DBAE-83B3-8FF4F92B1F1F}" name="Lisa Kew" initials="LK" userId="S::lisa.jones13@det.nsw.edu.au::687d7c21-e1c8-437d-b64b-4b01e8e7487e" providerId="AD"/>
  <p188:author id="{8EAAFC52-5D86-6FE7-9D47-1FD3C7D0804D}" name="Lisa Kew" initials="LK" userId="S::LISA.JONES13@det.nsw.edu.au::687d7c21-e1c8-437d-b64b-4b01e8e7487e" providerId="AD"/>
  <p188:author id="{95D16B7D-CADB-F2BF-AC29-D680545C75EE}" name="Carrie Webeck" initials="" userId="S::CARRIE-ANN.WEBECK@det.nsw.edu.au::e5c4b697-ca15-4f3a-a906-1289ddc2fc07"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0" d="100"/>
          <a:sy n="30" d="100"/>
        </p:scale>
        <p:origin x="764" y="36"/>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tableStyles" Target="tableStyle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viewProps" Target="viewProps.xml"/><Relationship Id="rId9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22/06/2026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22/06/2026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2 Year A Unit 14</a:t>
            </a:r>
          </a:p>
          <a:p>
            <a:pPr marL="285750" indent="-285750">
              <a:buFont typeface="Arial" panose="020B0604020202020204" pitchFamily="34" charset="0"/>
              <a:buChar char="•"/>
            </a:pPr>
            <a:r>
              <a:rPr lang="en-AU"/>
              <a:t>Stage 2 Year A Unit 13</a:t>
            </a:r>
          </a:p>
          <a:p>
            <a:pPr marL="285750" indent="-285750">
              <a:buFont typeface="Arial" panose="020B0604020202020204" pitchFamily="34" charset="0"/>
              <a:buChar char="•"/>
            </a:pPr>
            <a:r>
              <a:rPr lang="en-AU"/>
              <a:t>Stage 2 Year A Unit 12</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highlight>
                  <a:srgbClr val="FFFF00"/>
                </a:highlight>
                <a:latin typeface="Arial" panose="020B0604020202020204" pitchFamily="34" charset="0"/>
                <a:ea typeface="+mn-ea"/>
                <a:cs typeface="Arial" panose="020B0604020202020204" pitchFamily="34" charset="0"/>
              </a:rPr>
              <a:t>Representing numbers using place value B</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 (Stage 1)</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a:t>
            </a:r>
          </a:p>
          <a:p>
            <a:endParaRPr lang="en-AU"/>
          </a:p>
          <a:p>
            <a:r>
              <a:rPr lang="en-AU" b="1"/>
              <a:t>10 times as large</a:t>
            </a:r>
          </a:p>
          <a:p>
            <a:r>
              <a:rPr lang="en-AU" b="0"/>
              <a:t>This resource corresponds to Resource 15 – 10 times larger in Stage 2 Year A Unit 14. </a:t>
            </a:r>
          </a:p>
          <a:p>
            <a:endParaRPr lang="en-AU" b="1"/>
          </a:p>
          <a:p>
            <a:pPr lvl="0"/>
            <a:r>
              <a:rPr lang="en-AU" sz="1600" kern="1200">
                <a:solidFill>
                  <a:schemeClr val="tx1"/>
                </a:solidFill>
                <a:effectLst/>
                <a:latin typeface="Arial" panose="020B0604020202020204" pitchFamily="34" charset="0"/>
                <a:ea typeface="+mn-ea"/>
                <a:cs typeface="Arial" panose="020B0604020202020204" pitchFamily="34" charset="0"/>
              </a:rPr>
              <a:t>1. Provide students with Resource 15 – 10 times larger and a 9-sided dice.</a:t>
            </a:r>
          </a:p>
          <a:p>
            <a:pPr lvl="0"/>
            <a:r>
              <a:rPr lang="en-AU" sz="1600" kern="1200">
                <a:solidFill>
                  <a:schemeClr val="tx1"/>
                </a:solidFill>
                <a:effectLst/>
                <a:latin typeface="Arial" panose="020B0604020202020204" pitchFamily="34" charset="0"/>
                <a:ea typeface="+mn-ea"/>
                <a:cs typeface="Arial" panose="020B0604020202020204" pitchFamily="34" charset="0"/>
              </a:rPr>
              <a:t>2. Students roll the dice and record the number rolled. Students then record the numbers that are 10, 100 and 1000 times larger than the number rolled.</a:t>
            </a:r>
          </a:p>
          <a:p>
            <a:pPr lvl="0"/>
            <a:r>
              <a:rPr lang="en-AU" sz="1600" kern="1200">
                <a:solidFill>
                  <a:schemeClr val="tx1"/>
                </a:solidFill>
                <a:effectLst/>
                <a:latin typeface="Arial" panose="020B0604020202020204" pitchFamily="34" charset="0"/>
                <a:ea typeface="+mn-ea"/>
                <a:cs typeface="Arial" panose="020B0604020202020204" pitchFamily="34" charset="0"/>
              </a:rPr>
              <a:t>3. Students repeat 4 more times and identify the number of tens, hundreds or thousands in the number.</a:t>
            </a:r>
          </a:p>
          <a:p>
            <a:pPr lvl="0"/>
            <a:r>
              <a:rPr lang="en-AU" sz="1600" kern="1200">
                <a:solidFill>
                  <a:schemeClr val="tx1"/>
                </a:solidFill>
                <a:effectLst/>
                <a:latin typeface="Arial" panose="020B0604020202020204" pitchFamily="34" charset="0"/>
                <a:ea typeface="+mn-ea"/>
                <a:cs typeface="Arial" panose="020B0604020202020204" pitchFamily="34" charset="0"/>
              </a:rPr>
              <a:t>4. Students create a reflection in their workbooks how making the number 10, 100 or 1000 times as large changes the place value of the digits.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a:t>
            </a:r>
          </a:p>
          <a:p>
            <a:endParaRPr lang="en-AU"/>
          </a:p>
          <a:p>
            <a:r>
              <a:rPr lang="en-AU" sz="1600" b="1" kern="1200">
                <a:solidFill>
                  <a:schemeClr val="tx1"/>
                </a:solidFill>
                <a:effectLst/>
                <a:latin typeface="Arial" panose="020B0604020202020204" pitchFamily="34" charset="0"/>
                <a:ea typeface="+mn-ea"/>
                <a:cs typeface="Arial" panose="020B0604020202020204" pitchFamily="34" charset="0"/>
              </a:rPr>
              <a:t>100 times as large</a:t>
            </a:r>
            <a:endParaRPr lang="en-AU" b="0"/>
          </a:p>
          <a:p>
            <a:pPr lvl="0"/>
            <a:r>
              <a:rPr lang="en-AU" sz="1600" kern="1200">
                <a:solidFill>
                  <a:schemeClr val="tx1"/>
                </a:solidFill>
                <a:effectLst/>
                <a:latin typeface="Arial" panose="020B0604020202020204" pitchFamily="34" charset="0"/>
                <a:ea typeface="+mn-ea"/>
                <a:cs typeface="Arial" panose="020B0604020202020204" pitchFamily="34" charset="0"/>
              </a:rPr>
              <a:t>1. Display the interactive place value chart and use the digit cards to make a single digit number, such as 7. Ask:</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number would be 10 times larger?</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number would be 100 times larger?</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number would be 1000 times larger?</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happened to the place value of the digit 7 as you made it 10, 100 and 1000 times bigger?</a:t>
            </a:r>
          </a:p>
          <a:p>
            <a:pPr lvl="0"/>
            <a:r>
              <a:rPr lang="en-AU" sz="1600" kern="1200">
                <a:solidFill>
                  <a:schemeClr val="tx1"/>
                </a:solidFill>
                <a:effectLst/>
                <a:latin typeface="Arial" panose="020B0604020202020204" pitchFamily="34" charset="0"/>
                <a:ea typeface="+mn-ea"/>
                <a:cs typeface="Arial" panose="020B0604020202020204" pitchFamily="34" charset="0"/>
              </a:rPr>
              <a:t>2. Now display a 2-digit number, such as 65, and repeat the process. Ensure students are naming the number correctly as the place value changes for each digit. Select students to state how many tens, hundreds and thousands there are. For example, 65 has 6 tens and 5 ones or 65 ones. 6500 has 65 hundreds or 6 thousands and 5 hundreds or 6500 ones.</a:t>
            </a:r>
          </a:p>
          <a:p>
            <a:pPr lvl="0"/>
            <a:r>
              <a:rPr lang="en-AU" sz="1600" kern="1200">
                <a:solidFill>
                  <a:schemeClr val="tx1"/>
                </a:solidFill>
                <a:effectLst/>
                <a:latin typeface="Arial" panose="020B0604020202020204" pitchFamily="34" charset="0"/>
                <a:ea typeface="+mn-ea"/>
                <a:cs typeface="Arial" panose="020B0604020202020204" pitchFamily="34" charset="0"/>
              </a:rPr>
              <a:t>3. Provide students with individual whiteboards and display a new 2-digit number and ask students to record the number that is 10, 100 and 100 times larger.</a:t>
            </a:r>
          </a:p>
          <a:p>
            <a:pPr lvl="0"/>
            <a:r>
              <a:rPr lang="en-AU" sz="1600" kern="1200">
                <a:solidFill>
                  <a:schemeClr val="tx1"/>
                </a:solidFill>
                <a:effectLst/>
                <a:latin typeface="Arial" panose="020B0604020202020204" pitchFamily="34" charset="0"/>
                <a:ea typeface="+mn-ea"/>
                <a:cs typeface="Arial" panose="020B0604020202020204" pitchFamily="34" charset="0"/>
              </a:rPr>
              <a:t>4. As a class, name the place value for each of the digits, stating how many ones, tens, hundreds and thousands there are.</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highlight>
                  <a:srgbClr val="FFFF00"/>
                </a:highlight>
                <a:latin typeface="Arial" panose="020B0604020202020204" pitchFamily="34" charset="0"/>
                <a:ea typeface="+mn-ea"/>
                <a:cs typeface="Arial" panose="020B0604020202020204" pitchFamily="34" charset="0"/>
              </a:rPr>
              <a:t>Representing numbers using place value B</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a:t>
            </a:r>
          </a:p>
          <a:p>
            <a:endParaRPr lang="en-AU"/>
          </a:p>
          <a:p>
            <a:r>
              <a:rPr lang="en-AU" b="1"/>
              <a:t>1000 times as large</a:t>
            </a:r>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1. Ask students to estimate the number that is 1000 times as large, without calculating.</a:t>
            </a:r>
          </a:p>
          <a:p>
            <a:pPr lvl="0"/>
            <a:r>
              <a:rPr lang="en-AU" sz="1600" kern="1200">
                <a:solidFill>
                  <a:schemeClr val="tx1"/>
                </a:solidFill>
                <a:effectLst/>
                <a:latin typeface="Arial" panose="020B0604020202020204" pitchFamily="34" charset="0"/>
                <a:ea typeface="+mn-ea"/>
                <a:cs typeface="Arial" panose="020B0604020202020204" pitchFamily="34" charset="0"/>
              </a:rPr>
              <a:t>2. Ask:</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Will the answer be closer to 200 000 or 300 000? How do you know?</a:t>
            </a:r>
          </a:p>
          <a:p>
            <a:pPr lvl="0"/>
            <a:r>
              <a:rPr lang="en-AU" sz="1600" kern="1200">
                <a:solidFill>
                  <a:schemeClr val="tx1"/>
                </a:solidFill>
                <a:effectLst/>
                <a:latin typeface="Arial" panose="020B0604020202020204" pitchFamily="34" charset="0"/>
                <a:ea typeface="+mn-ea"/>
                <a:cs typeface="Arial" panose="020B0604020202020204" pitchFamily="34" charset="0"/>
              </a:rPr>
              <a:t>3. Reveal the answer, 248 000, and show how each digit shifts 3 places to the left on the interactive place value chart. Emphasise that the digits stay the same, but their value changes.</a:t>
            </a:r>
          </a:p>
          <a:p>
            <a:pPr lvl="0"/>
            <a:r>
              <a:rPr lang="en-AU" sz="1600" kern="1200">
                <a:solidFill>
                  <a:schemeClr val="tx1"/>
                </a:solidFill>
                <a:effectLst/>
                <a:latin typeface="Arial" panose="020B0604020202020204" pitchFamily="34" charset="0"/>
                <a:ea typeface="+mn-ea"/>
                <a:cs typeface="Arial" panose="020B0604020202020204" pitchFamily="34" charset="0"/>
              </a:rPr>
              <a:t>4. Provide students with a 9-sided dice. Students roll the dice to create a 3- or 4-digit number and:</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record the number</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make the number 1000 times as large</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record how many ones, tens, hundreds and thousands are in the new number.</a:t>
            </a:r>
          </a:p>
          <a:p>
            <a:pPr lvl="0"/>
            <a:r>
              <a:rPr lang="en-AU" sz="1600" kern="1200">
                <a:solidFill>
                  <a:schemeClr val="tx1"/>
                </a:solidFill>
                <a:effectLst/>
                <a:latin typeface="Arial" panose="020B0604020202020204" pitchFamily="34" charset="0"/>
                <a:ea typeface="+mn-ea"/>
                <a:cs typeface="Arial" panose="020B0604020202020204" pitchFamily="34" charset="0"/>
              </a:rPr>
              <a:t>5. Students select one example and write or explain:</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happened to each digit</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why the number became 1000 times larger.</a:t>
            </a:r>
          </a:p>
          <a:p>
            <a:pPr lvl="0"/>
            <a:r>
              <a:rPr lang="en-AU" sz="1600" kern="1200">
                <a:solidFill>
                  <a:schemeClr val="tx1"/>
                </a:solidFill>
                <a:effectLst/>
                <a:latin typeface="Arial" panose="020B0604020202020204" pitchFamily="34" charset="0"/>
                <a:ea typeface="+mn-ea"/>
                <a:cs typeface="Arial" panose="020B0604020202020204" pitchFamily="34" charset="0"/>
              </a:rPr>
              <a:t>6. Ask students to share their explanations. For example, ‘The 2 moved from the hundreds place to the hundred-thousands place’.</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Representing numbers using place value B</a:t>
            </a:r>
          </a:p>
          <a:p>
            <a:endParaRPr lang="en-AU"/>
          </a:p>
          <a:p>
            <a:r>
              <a:rPr lang="en-AU" b="1"/>
              <a:t>Place value challenge</a:t>
            </a:r>
          </a:p>
          <a:p>
            <a:pPr lvl="0"/>
            <a:r>
              <a:rPr lang="en-AU" sz="1600" kern="1200">
                <a:solidFill>
                  <a:schemeClr val="tx1"/>
                </a:solidFill>
                <a:effectLst/>
                <a:latin typeface="Arial" panose="020B0604020202020204" pitchFamily="34" charset="0"/>
                <a:ea typeface="+mn-ea"/>
                <a:cs typeface="Arial" panose="020B0604020202020204" pitchFamily="34" charset="0"/>
              </a:rPr>
              <a:t>1. In pairs, students use a digital device and the interactive place value chart to play ‘Place value challenge’.</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Player 1 creates a 2-digit number and gives the digital device to Player 2 who makes the number that is 10 times larger and correctly names the number.</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Player 2 then returns the digital device and Player 1, who makes the number that is 100 times larger than the first number, naming the number.</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Player 2 makes the number that is 1000 times larger, naming the number.</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next round, Player 2 begins the game by creating a new 2-digit number.</a:t>
            </a:r>
          </a:p>
          <a:p>
            <a:r>
              <a:rPr lang="en-AU" sz="1600" kern="1200">
                <a:solidFill>
                  <a:schemeClr val="tx1"/>
                </a:solidFill>
                <a:effectLst/>
                <a:latin typeface="Arial" panose="020B0604020202020204" pitchFamily="34" charset="0"/>
                <a:ea typeface="+mn-ea"/>
                <a:cs typeface="Arial" panose="020B0604020202020204" pitchFamily="34" charset="0"/>
              </a:rPr>
              <a:t>2. After a few rounds, instruct students to start with a 3-digit number and then a 4-digit number.</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E19CF-595F-6813-693A-F96992C86A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A3BF0-F941-539D-6404-CF88C6E2C0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521C48-D5EB-042E-0484-E0F53DCCC47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Partitioned fractions A</a:t>
            </a:r>
          </a:p>
        </p:txBody>
      </p:sp>
      <p:sp>
        <p:nvSpPr>
          <p:cNvPr id="4" name="Slide Number Placeholder 3">
            <a:extLst>
              <a:ext uri="{FF2B5EF4-FFF2-40B4-BE49-F238E27FC236}">
                <a16:creationId xmlns:a16="http://schemas.microsoft.com/office/drawing/2014/main" id="{82EAC2DC-63A9-AA63-6FDE-E6675034CD7D}"/>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5011858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Partitioned fractions A</a:t>
            </a:r>
          </a:p>
          <a:p>
            <a:endParaRPr lang="en-AU"/>
          </a:p>
          <a:p>
            <a:r>
              <a:rPr lang="en-AU" b="1"/>
              <a:t>Making thirds</a:t>
            </a:r>
          </a:p>
          <a:p>
            <a:r>
              <a:rPr lang="en-AU" sz="1600" kern="1200">
                <a:solidFill>
                  <a:schemeClr val="tx1"/>
                </a:solidFill>
                <a:effectLst/>
                <a:latin typeface="Arial" panose="020B0604020202020204" pitchFamily="34" charset="0"/>
                <a:ea typeface="+mn-ea"/>
                <a:cs typeface="Arial" panose="020B0604020202020204" pitchFamily="34" charset="0"/>
              </a:rPr>
              <a:t>This activity is an adaption of the </a:t>
            </a:r>
            <a:r>
              <a:rPr lang="en-AU" sz="1600" i="1" kern="1200">
                <a:solidFill>
                  <a:schemeClr val="tx1"/>
                </a:solidFill>
                <a:effectLst/>
                <a:latin typeface="Arial" panose="020B0604020202020204" pitchFamily="34" charset="0"/>
                <a:ea typeface="+mn-ea"/>
                <a:cs typeface="Arial" panose="020B0604020202020204" pitchFamily="34" charset="0"/>
              </a:rPr>
              <a:t>Thirding strategy</a:t>
            </a:r>
            <a:r>
              <a:rPr lang="en-AU" sz="1600" kern="1200">
                <a:solidFill>
                  <a:schemeClr val="tx1"/>
                </a:solidFill>
                <a:effectLst/>
                <a:latin typeface="Arial" panose="020B0604020202020204" pitchFamily="34" charset="0"/>
                <a:ea typeface="+mn-ea"/>
                <a:cs typeface="Arial" panose="020B0604020202020204" pitchFamily="34" charset="0"/>
              </a:rPr>
              <a:t> from Siemon et al. (2021).</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1. Provide students with a fraction strip and writing materials.</a:t>
            </a:r>
          </a:p>
          <a:p>
            <a:pPr lvl="0"/>
            <a:r>
              <a:rPr lang="en-AU" sz="1600" kern="1200">
                <a:solidFill>
                  <a:schemeClr val="tx1"/>
                </a:solidFill>
                <a:effectLst/>
                <a:latin typeface="Arial" panose="020B0604020202020204" pitchFamily="34" charset="0"/>
                <a:ea typeface="+mn-ea"/>
                <a:cs typeface="Arial" panose="020B0604020202020204" pitchFamily="34" charset="0"/>
              </a:rPr>
              <a:t>2. Revise a half and that 2 halves make a whole.</a:t>
            </a:r>
          </a:p>
          <a:p>
            <a:pPr lvl="0"/>
            <a:r>
              <a:rPr lang="en-AU" sz="1600" kern="1200">
                <a:solidFill>
                  <a:schemeClr val="tx1"/>
                </a:solidFill>
                <a:effectLst/>
                <a:latin typeface="Arial" panose="020B0604020202020204" pitchFamily="34" charset="0"/>
                <a:ea typeface="+mn-ea"/>
                <a:cs typeface="Arial" panose="020B0604020202020204" pitchFamily="34" charset="0"/>
              </a:rPr>
              <a:t>3. As a class, discuss strategies to make thirds and where the one third would be placed on the number line. Ask if one third is more or less than half and how students know.</a:t>
            </a:r>
          </a:p>
          <a:p>
            <a:pPr lvl="0"/>
            <a:r>
              <a:rPr lang="en-AU" sz="1600" kern="1200">
                <a:solidFill>
                  <a:schemeClr val="tx1"/>
                </a:solidFill>
                <a:effectLst/>
                <a:latin typeface="Arial" panose="020B0604020202020204" pitchFamily="34" charset="0"/>
                <a:ea typeface="+mn-ea"/>
                <a:cs typeface="Arial" panose="020B0604020202020204" pitchFamily="34" charset="0"/>
              </a:rPr>
              <a:t>4. Use the fraction strip to make folds and explain the thirding strategy to students as follows: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Estimate half on the fraction strip.</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Estimate a third as something less than half, leaving room for 2 more equal parts.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Halve the remaining part, making 3 equal parts in total.</a:t>
            </a:r>
          </a:p>
          <a:p>
            <a:pPr lvl="0"/>
            <a:r>
              <a:rPr lang="en-AU" sz="1600" kern="1200">
                <a:solidFill>
                  <a:schemeClr val="tx1"/>
                </a:solidFill>
                <a:effectLst/>
                <a:latin typeface="Arial" panose="020B0604020202020204" pitchFamily="34" charset="0"/>
                <a:ea typeface="+mn-ea"/>
                <a:cs typeface="Arial" panose="020B0604020202020204" pitchFamily="34" charset="0"/>
              </a:rPr>
              <a:t>8. Students draw a number line representing their fraction strip with thirds marked.</a:t>
            </a:r>
          </a:p>
          <a:p>
            <a:pPr lvl="0"/>
            <a:r>
              <a:rPr lang="en-AU" sz="1600" kern="1200">
                <a:solidFill>
                  <a:schemeClr val="tx1"/>
                </a:solidFill>
                <a:effectLst/>
                <a:latin typeface="Arial" panose="020B0604020202020204" pitchFamily="34" charset="0"/>
                <a:ea typeface="+mn-ea"/>
                <a:cs typeface="Arial" panose="020B0604020202020204" pitchFamily="34" charset="0"/>
              </a:rPr>
              <a:t>9. Select students to share and explain their strategies and as a class label the number line with thirds.</a:t>
            </a:r>
          </a:p>
          <a:p>
            <a:pPr lvl="0"/>
            <a:r>
              <a:rPr lang="en-AU" sz="1600" kern="1200">
                <a:solidFill>
                  <a:schemeClr val="tx1"/>
                </a:solidFill>
                <a:effectLst/>
                <a:latin typeface="Arial" panose="020B0604020202020204" pitchFamily="34" charset="0"/>
                <a:ea typeface="+mn-ea"/>
                <a:cs typeface="Arial" panose="020B0604020202020204" pitchFamily="34" charset="0"/>
              </a:rPr>
              <a:t>10. As a class count aloud one third, two thirds, three thirds is one whole.</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Partitioned fractions A</a:t>
            </a: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Partitioned fractions A</a:t>
            </a:r>
          </a:p>
          <a:p>
            <a:endParaRPr lang="en-AU"/>
          </a:p>
          <a:p>
            <a:r>
              <a:rPr lang="en-AU" b="1"/>
              <a:t>Creating fifths</a:t>
            </a:r>
          </a:p>
          <a:p>
            <a:r>
              <a:rPr lang="en-AU" sz="1600" kern="1200">
                <a:solidFill>
                  <a:schemeClr val="tx1"/>
                </a:solidFill>
                <a:effectLst/>
                <a:latin typeface="Arial" panose="020B0604020202020204" pitchFamily="34" charset="0"/>
                <a:ea typeface="+mn-ea"/>
                <a:cs typeface="Arial" panose="020B0604020202020204" pitchFamily="34" charset="0"/>
              </a:rPr>
              <a:t>This activity is an adaption of the </a:t>
            </a:r>
            <a:r>
              <a:rPr lang="en-AU" sz="1600" i="1" kern="1200" err="1">
                <a:solidFill>
                  <a:schemeClr val="tx1"/>
                </a:solidFill>
                <a:effectLst/>
                <a:latin typeface="Arial" panose="020B0604020202020204" pitchFamily="34" charset="0"/>
                <a:ea typeface="+mn-ea"/>
                <a:cs typeface="Arial" panose="020B0604020202020204" pitchFamily="34" charset="0"/>
              </a:rPr>
              <a:t>Fifthing</a:t>
            </a:r>
            <a:r>
              <a:rPr lang="en-AU" sz="1600" i="1" kern="1200">
                <a:solidFill>
                  <a:schemeClr val="tx1"/>
                </a:solidFill>
                <a:effectLst/>
                <a:latin typeface="Arial" panose="020B0604020202020204" pitchFamily="34" charset="0"/>
                <a:ea typeface="+mn-ea"/>
                <a:cs typeface="Arial" panose="020B0604020202020204" pitchFamily="34" charset="0"/>
              </a:rPr>
              <a:t> strategy</a:t>
            </a:r>
            <a:r>
              <a:rPr lang="en-AU" sz="1600" kern="1200">
                <a:solidFill>
                  <a:schemeClr val="tx1"/>
                </a:solidFill>
                <a:effectLst/>
                <a:latin typeface="Arial" panose="020B0604020202020204" pitchFamily="34" charset="0"/>
                <a:ea typeface="+mn-ea"/>
                <a:cs typeface="Arial" panose="020B0604020202020204" pitchFamily="34" charset="0"/>
              </a:rPr>
              <a:t> from Siemon et al (2021).</a:t>
            </a:r>
          </a:p>
          <a:p>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1. Provide students with a fraction strip and writing materials. Revise the strategies for identifying thirds in Activity 5.</a:t>
            </a:r>
          </a:p>
          <a:p>
            <a:pPr lvl="0"/>
            <a:r>
              <a:rPr lang="en-AU" sz="1600" kern="1200">
                <a:solidFill>
                  <a:schemeClr val="tx1"/>
                </a:solidFill>
                <a:effectLst/>
                <a:latin typeface="Arial" panose="020B0604020202020204" pitchFamily="34" charset="0"/>
                <a:ea typeface="+mn-ea"/>
                <a:cs typeface="Arial" panose="020B0604020202020204" pitchFamily="34" charset="0"/>
              </a:rPr>
              <a:t>2. Students fold the fraction strip to show thirds, using the halfway point as a reference.</a:t>
            </a:r>
          </a:p>
          <a:p>
            <a:pPr lvl="0"/>
            <a:r>
              <a:rPr lang="en-AU" sz="1600" kern="1200">
                <a:solidFill>
                  <a:schemeClr val="tx1"/>
                </a:solidFill>
                <a:effectLst/>
                <a:latin typeface="Arial" panose="020B0604020202020204" pitchFamily="34" charset="0"/>
                <a:ea typeface="+mn-ea"/>
                <a:cs typeface="Arial" panose="020B0604020202020204" pitchFamily="34" charset="0"/>
              </a:rPr>
              <a:t>3. Ask students to consider how they could show fifths on their fraction strip. Ask:</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Would a fifth be larger or smaller than a third? How do you know?</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Would a fifth be larger or smaller than a quarter? How do you know?</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can you use quarters on your fraction strip to find fifths?</a:t>
            </a:r>
          </a:p>
          <a:p>
            <a:pPr lvl="0"/>
            <a:r>
              <a:rPr lang="en-AU" sz="1600" kern="1200">
                <a:solidFill>
                  <a:schemeClr val="tx1"/>
                </a:solidFill>
                <a:effectLst/>
                <a:latin typeface="Arial" panose="020B0604020202020204" pitchFamily="34" charset="0"/>
                <a:ea typeface="+mn-ea"/>
                <a:cs typeface="Arial" panose="020B0604020202020204" pitchFamily="34" charset="0"/>
              </a:rPr>
              <a:t>4. Explain the </a:t>
            </a:r>
            <a:r>
              <a:rPr lang="en-AU" sz="1600" kern="1200" err="1">
                <a:solidFill>
                  <a:schemeClr val="tx1"/>
                </a:solidFill>
                <a:effectLst/>
                <a:latin typeface="Arial" panose="020B0604020202020204" pitchFamily="34" charset="0"/>
                <a:ea typeface="+mn-ea"/>
                <a:cs typeface="Arial" panose="020B0604020202020204" pitchFamily="34" charset="0"/>
              </a:rPr>
              <a:t>fifthing</a:t>
            </a:r>
            <a:r>
              <a:rPr lang="en-AU" sz="1600" kern="1200">
                <a:solidFill>
                  <a:schemeClr val="tx1"/>
                </a:solidFill>
                <a:effectLst/>
                <a:latin typeface="Arial" panose="020B0604020202020204" pitchFamily="34" charset="0"/>
                <a:ea typeface="+mn-ea"/>
                <a:cs typeface="Arial" panose="020B0604020202020204" pitchFamily="34" charset="0"/>
              </a:rPr>
              <a:t> strategy to students. Have students:</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Estimate half, then estimate one quarter.</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Estimate one fifth as something slightly less than one quarter.</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4 more equal parts are needed ... halve and halve again the remaining part.</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Fold to create 5 equal parts in total.</a:t>
            </a:r>
          </a:p>
          <a:p>
            <a:pPr lvl="0"/>
            <a:r>
              <a:rPr lang="en-AU" sz="1600" kern="1200">
                <a:solidFill>
                  <a:schemeClr val="tx1"/>
                </a:solidFill>
                <a:effectLst/>
                <a:latin typeface="Arial" panose="020B0604020202020204" pitchFamily="34" charset="0"/>
                <a:ea typeface="+mn-ea"/>
                <a:cs typeface="Arial" panose="020B0604020202020204" pitchFamily="34" charset="0"/>
              </a:rPr>
              <a:t>5. After folding and checking for 5 equal fifths, students draw a number line that represents their folded fraction strip. They label the parts of the number line to show one fifth, two fifths, three fifths, four fifths,</a:t>
            </a:r>
            <a:r>
              <a:rPr lang="en-AU" sz="1600" kern="1200" baseline="0">
                <a:solidFill>
                  <a:schemeClr val="tx1"/>
                </a:solidFill>
                <a:effectLst/>
                <a:latin typeface="Arial" panose="020B0604020202020204" pitchFamily="34" charset="0"/>
                <a:ea typeface="+mn-ea"/>
                <a:cs typeface="Arial" panose="020B0604020202020204" pitchFamily="34" charset="0"/>
              </a:rPr>
              <a:t> five fifths</a:t>
            </a:r>
            <a:r>
              <a:rPr lang="en-AU" sz="1600" kern="1200">
                <a:solidFill>
                  <a:schemeClr val="tx1"/>
                </a:solidFill>
                <a:effectLst/>
                <a:latin typeface="Arial" panose="020B0604020202020204" pitchFamily="34" charset="0"/>
                <a:ea typeface="+mn-ea"/>
                <a:cs typeface="Arial" panose="020B0604020202020204" pitchFamily="34" charset="0"/>
              </a:rPr>
              <a:t> or one whole.</a:t>
            </a:r>
          </a:p>
          <a:p>
            <a:pPr lvl="0"/>
            <a:r>
              <a:rPr lang="en-AU" sz="1600" kern="1200">
                <a:solidFill>
                  <a:schemeClr val="tx1"/>
                </a:solidFill>
                <a:effectLst/>
                <a:latin typeface="Arial" panose="020B0604020202020204" pitchFamily="34" charset="0"/>
                <a:ea typeface="+mn-ea"/>
                <a:cs typeface="Arial" panose="020B0604020202020204" pitchFamily="34" charset="0"/>
              </a:rPr>
              <a:t>6. Select students to share their strategies. As a class count aloud one fifth, two fifths, three fifths, four fifths,</a:t>
            </a:r>
            <a:r>
              <a:rPr lang="en-AU" sz="1600" kern="1200" baseline="0">
                <a:solidFill>
                  <a:schemeClr val="tx1"/>
                </a:solidFill>
                <a:effectLst/>
                <a:latin typeface="Arial" panose="020B0604020202020204" pitchFamily="34" charset="0"/>
                <a:ea typeface="+mn-ea"/>
                <a:cs typeface="Arial" panose="020B0604020202020204" pitchFamily="34" charset="0"/>
              </a:rPr>
              <a:t> five fifths</a:t>
            </a:r>
            <a:r>
              <a:rPr lang="en-AU" sz="1600" kern="1200">
                <a:solidFill>
                  <a:schemeClr val="tx1"/>
                </a:solidFill>
                <a:effectLst/>
                <a:latin typeface="Arial" panose="020B0604020202020204" pitchFamily="34" charset="0"/>
                <a:ea typeface="+mn-ea"/>
                <a:cs typeface="Arial" panose="020B0604020202020204" pitchFamily="34" charset="0"/>
              </a:rPr>
              <a:t> is one whole.</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2ED9F-1D8C-BA37-0992-CD07C2099C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BAA1A0-4C02-8FF4-795E-A39ECC4D39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6D485C-0E28-E084-197A-E6669B06124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Partitioned fractions A</a:t>
            </a:r>
          </a:p>
        </p:txBody>
      </p:sp>
      <p:sp>
        <p:nvSpPr>
          <p:cNvPr id="4" name="Slide Number Placeholder 3">
            <a:extLst>
              <a:ext uri="{FF2B5EF4-FFF2-40B4-BE49-F238E27FC236}">
                <a16:creationId xmlns:a16="http://schemas.microsoft.com/office/drawing/2014/main" id="{3CE80F39-963B-1E7C-1101-24EEA5A71783}"/>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9597431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Partitioned fractions A</a:t>
            </a:r>
          </a:p>
          <a:p>
            <a:endParaRPr lang="en-AU"/>
          </a:p>
          <a:p>
            <a:r>
              <a:rPr lang="en-AU" b="1"/>
              <a:t>Thirds and fifths</a:t>
            </a:r>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1. Provide students with 2 identical fraction strips and writing materials.</a:t>
            </a:r>
          </a:p>
          <a:p>
            <a:pPr lvl="0"/>
            <a:r>
              <a:rPr lang="en-AU" sz="1600" kern="1200">
                <a:solidFill>
                  <a:schemeClr val="tx1"/>
                </a:solidFill>
                <a:effectLst/>
                <a:latin typeface="Arial" panose="020B0604020202020204" pitchFamily="34" charset="0"/>
                <a:ea typeface="+mn-ea"/>
                <a:cs typeface="Arial" panose="020B0604020202020204" pitchFamily="34" charset="0"/>
              </a:rPr>
              <a:t>2. Ask students to:</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use one strip to show thirds</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use the second strip to show fifths.</a:t>
            </a:r>
          </a:p>
          <a:p>
            <a:pPr lvl="0"/>
            <a:r>
              <a:rPr lang="en-AU" sz="1600" kern="1200">
                <a:solidFill>
                  <a:schemeClr val="tx1"/>
                </a:solidFill>
                <a:effectLst/>
                <a:latin typeface="Arial" panose="020B0604020202020204" pitchFamily="34" charset="0"/>
                <a:ea typeface="+mn-ea"/>
                <a:cs typeface="Arial" panose="020B0604020202020204" pitchFamily="34" charset="0"/>
              </a:rPr>
              <a:t>3. Students draw 2 number lines to represent their fraction strips and label the parts accurately.</a:t>
            </a:r>
          </a:p>
          <a:p>
            <a:pPr lvl="0"/>
            <a:r>
              <a:rPr lang="en-AU" sz="1600" kern="1200">
                <a:solidFill>
                  <a:schemeClr val="tx1"/>
                </a:solidFill>
                <a:effectLst/>
                <a:latin typeface="Arial" panose="020B0604020202020204" pitchFamily="34" charset="0"/>
                <a:ea typeface="+mn-ea"/>
                <a:cs typeface="Arial" panose="020B0604020202020204" pitchFamily="34" charset="0"/>
              </a:rPr>
              <a:t>4. Ask students to compare the 2 number lines and discuss:</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fractional parts are larger: thirds or fifths?</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can you tell by looking at the strips and number lines?</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5. Ask:</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Is one third closer to zero or one than one fifth?</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Is two fifths more or less than half? How do you know?</a:t>
            </a:r>
          </a:p>
          <a:p>
            <a:pPr lvl="0"/>
            <a:r>
              <a:rPr lang="en-AU" sz="1600" kern="1200">
                <a:solidFill>
                  <a:schemeClr val="tx1"/>
                </a:solidFill>
                <a:effectLst/>
                <a:latin typeface="Arial" panose="020B0604020202020204" pitchFamily="34" charset="0"/>
                <a:ea typeface="+mn-ea"/>
                <a:cs typeface="Arial" panose="020B0604020202020204" pitchFamily="34" charset="0"/>
              </a:rPr>
              <a:t>6. Ask students to justify their thinking. For example, position on the number line, relative size.</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Partitioned fractions A</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Partitioned fractions A</a:t>
            </a:r>
          </a:p>
          <a:p>
            <a:endParaRPr lang="en-AU"/>
          </a:p>
          <a:p>
            <a:r>
              <a:rPr lang="en-AU" b="1"/>
              <a:t>Who is winning?</a:t>
            </a:r>
            <a:endParaRPr lang="en-AU" sz="1600" kern="1200">
              <a:solidFill>
                <a:schemeClr val="tx1"/>
              </a:solidFill>
              <a:effectLst/>
              <a:latin typeface="Arial" panose="020B0604020202020204" pitchFamily="34" charset="0"/>
              <a:ea typeface="+mn-ea"/>
              <a:cs typeface="Arial" panose="020B0604020202020204" pitchFamily="34" charset="0"/>
            </a:endParaRPr>
          </a:p>
          <a:p>
            <a:pPr lvl="0"/>
            <a:r>
              <a:rPr lang="en-AU" sz="1600" kern="1200">
                <a:solidFill>
                  <a:schemeClr val="tx1"/>
                </a:solidFill>
                <a:effectLst/>
                <a:latin typeface="Arial" panose="020B0604020202020204" pitchFamily="34" charset="0"/>
                <a:ea typeface="+mn-ea"/>
                <a:cs typeface="Arial" panose="020B0604020202020204" pitchFamily="34" charset="0"/>
              </a:rPr>
              <a:t>1. Provide pairs of students with multiple paper strips and writing materials. Revise how to identify thirds and fifths of a length.</a:t>
            </a:r>
          </a:p>
          <a:p>
            <a:pPr lvl="0"/>
            <a:r>
              <a:rPr lang="en-AU" sz="1600" kern="1200">
                <a:solidFill>
                  <a:schemeClr val="tx1"/>
                </a:solidFill>
                <a:effectLst/>
                <a:latin typeface="Arial" panose="020B0604020202020204" pitchFamily="34" charset="0"/>
                <a:ea typeface="+mn-ea"/>
                <a:cs typeface="Arial" panose="020B0604020202020204" pitchFamily="34" charset="0"/>
              </a:rPr>
              <a:t>2. Explain that the 4 students are in a race. The fractions show how much of the race they have already completed.</a:t>
            </a:r>
          </a:p>
          <a:p>
            <a:pPr lvl="0"/>
            <a:r>
              <a:rPr lang="en-AU" sz="1600" kern="1200">
                <a:solidFill>
                  <a:schemeClr val="tx1"/>
                </a:solidFill>
                <a:effectLst/>
                <a:latin typeface="Arial" panose="020B0604020202020204" pitchFamily="34" charset="0"/>
                <a:ea typeface="+mn-ea"/>
                <a:cs typeface="Arial" panose="020B0604020202020204" pitchFamily="34" charset="0"/>
              </a:rPr>
              <a:t>3. Provide pairs of students with identical length fraction strips for each runner and a whiteboard to draw a number line.</a:t>
            </a:r>
          </a:p>
          <a:p>
            <a:pPr lvl="0"/>
            <a:r>
              <a:rPr lang="en-AU" sz="1600" kern="1200">
                <a:solidFill>
                  <a:schemeClr val="tx1"/>
                </a:solidFill>
                <a:effectLst/>
                <a:latin typeface="Arial" panose="020B0604020202020204" pitchFamily="34" charset="0"/>
                <a:ea typeface="+mn-ea"/>
                <a:cs typeface="Arial" panose="020B0604020202020204" pitchFamily="34" charset="0"/>
              </a:rPr>
              <a:t>4. With their partner, students use a fraction strip to mark and represent the fraction distance for each student. Students then compare the fractional representations for each runner and then use the number line to locate each person’s position in the race and determine who is winning the race.</a:t>
            </a:r>
          </a:p>
          <a:p>
            <a:pPr lvl="0"/>
            <a:r>
              <a:rPr lang="en-AU" sz="1600" kern="1200">
                <a:solidFill>
                  <a:schemeClr val="tx1"/>
                </a:solidFill>
                <a:effectLst/>
                <a:latin typeface="Arial" panose="020B0604020202020204" pitchFamily="34" charset="0"/>
                <a:ea typeface="+mn-ea"/>
                <a:cs typeface="Arial" panose="020B0604020202020204" pitchFamily="34" charset="0"/>
              </a:rPr>
              <a:t>5. Select students to share and explain their strategies used to identify and represent the position of each fraction.</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246CD-82DD-16ED-96DE-DC21EAB8C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E9737-5722-CD03-63CC-9A040C4289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958AFE-C07B-1DA0-6E88-3095607754E0}"/>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212A23F4-B872-34F1-779D-DD1BA776F093}"/>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12222758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7.sv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9.sv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hyperlink" Target="https://toytheater.com/place-value-chart/" TargetMode="Externa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7.png"/><Relationship Id="rId7"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hyperlink" Target="https://toytheater.com/place-value-chart/" TargetMode="Externa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32.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openxmlformats.org/officeDocument/2006/relationships/hyperlink" Target="https://toytheater.com/place-value-chart/" TargetMode="Externa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38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380.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0.png"/><Relationship Id="rId2" Type="http://schemas.openxmlformats.org/officeDocument/2006/relationships/notesSlide" Target="../notesSlides/notesSlide47.xml"/><Relationship Id="rId1" Type="http://schemas.openxmlformats.org/officeDocument/2006/relationships/slideLayout" Target="../slideLayouts/slideLayout6.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 Id="rId5" Type="http://schemas.openxmlformats.org/officeDocument/2006/relationships/image" Target="../media/image52.png"/><Relationship Id="rId4" Type="http://schemas.openxmlformats.org/officeDocument/2006/relationships/image" Target="../media/image51.pn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 Id="rId4" Type="http://schemas.openxmlformats.org/officeDocument/2006/relationships/image" Target="../media/image56.png"/></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 Id="rId5" Type="http://schemas.openxmlformats.org/officeDocument/2006/relationships/image" Target="../media/image58.png"/><Relationship Id="rId4" Type="http://schemas.openxmlformats.org/officeDocument/2006/relationships/image" Target="../media/image57.pn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59.png"/></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60.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5" Type="http://schemas.openxmlformats.org/officeDocument/2006/relationships/image" Target="../media/image61.sv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5" Type="http://schemas.openxmlformats.org/officeDocument/2006/relationships/hyperlink" Target="https://curriculum.nsw.edu.au/" TargetMode="External"/><Relationship Id="rId10" Type="http://schemas.openxmlformats.org/officeDocument/2006/relationships/hyperlink" Target="https://education.nsw.gov.au/content/dam/main-education/teaching-and-learning/curriculum/key-learning-areas/mathematics/media/documents/mathematics-s2-s3-teaching-measurement.pdf"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meaningfulmaths.nt.edu.au/mmws/nz/resource/making-benchmarks-length.html"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toytheater.com/place-value-chart/"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dirty="0">
                <a:latin typeface="+mn-lt"/>
                <a:ea typeface="+mn-lt"/>
                <a:cs typeface="+mn-lt"/>
              </a:rPr>
              <a:t>This resource aligns to the learning in Stage 2 Year A Unit 14 and revisits content from earlier sample units.</a:t>
            </a:r>
            <a:endParaRPr lang="en-AU" sz="1800" dirty="0">
              <a:solidFill>
                <a:srgbClr val="22272B"/>
              </a:solidFill>
              <a:latin typeface="+mn-lt"/>
            </a:endParaRPr>
          </a:p>
          <a:p>
            <a:pPr marL="342900" indent="-342900">
              <a:lnSpc>
                <a:spcPct val="150000"/>
              </a:lnSpc>
              <a:buFont typeface="Arial"/>
              <a:buChar char="•"/>
            </a:pPr>
            <a:r>
              <a:rPr lang="en-AU" sz="1800" dirty="0">
                <a:solidFill>
                  <a:srgbClr val="22272B"/>
                </a:solidFill>
                <a:latin typeface="+mn-lt"/>
              </a:rPr>
              <a:t>Classroom teachers are encouraged to </a:t>
            </a:r>
            <a:r>
              <a:rPr lang="en-AU" sz="1800" b="1" dirty="0">
                <a:solidFill>
                  <a:srgbClr val="22272B"/>
                </a:solidFill>
                <a:latin typeface="+mn-lt"/>
              </a:rPr>
              <a:t>add and adapt</a:t>
            </a:r>
            <a:r>
              <a:rPr lang="en-AU" sz="1800" dirty="0">
                <a:solidFill>
                  <a:srgbClr val="22272B"/>
                </a:solidFill>
                <a:latin typeface="+mn-lt"/>
              </a:rPr>
              <a:t> slides as required to meet the needs of their students.</a:t>
            </a:r>
          </a:p>
          <a:p>
            <a:pPr marL="342900" indent="-342900">
              <a:lnSpc>
                <a:spcPct val="150000"/>
              </a:lnSpc>
              <a:buFont typeface="Arial"/>
              <a:buChar char="•"/>
            </a:pPr>
            <a:r>
              <a:rPr lang="en-AU" sz="1800" dirty="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rPr>
              <a:t>To convert the PowerPoint to Google Slides:</a:t>
            </a:r>
          </a:p>
          <a:p>
            <a:pPr marL="913765" lvl="1" indent="-457200">
              <a:lnSpc>
                <a:spcPct val="150000"/>
              </a:lnSpc>
              <a:buFont typeface="+mj-lt"/>
              <a:buAutoNum type="arabicPeriod"/>
            </a:pPr>
            <a:r>
              <a:rPr lang="en-AU" dirty="0">
                <a:solidFill>
                  <a:srgbClr val="22272B"/>
                </a:solidFill>
                <a:latin typeface="+mn-lt"/>
              </a:rPr>
              <a:t>Upload the file into Google Drive and open it.</a:t>
            </a:r>
          </a:p>
          <a:p>
            <a:pPr marL="913765" lvl="1" indent="-457200">
              <a:lnSpc>
                <a:spcPct val="150000"/>
              </a:lnSpc>
              <a:buFont typeface="+mj-lt"/>
              <a:buAutoNum type="arabicPeriod"/>
            </a:pPr>
            <a:r>
              <a:rPr lang="en-AU" dirty="0">
                <a:solidFill>
                  <a:srgbClr val="22272B"/>
                </a:solidFill>
                <a:latin typeface="+mn-lt"/>
              </a:rPr>
              <a:t>Go to File &gt; Save as Google Slides.</a:t>
            </a:r>
          </a:p>
          <a:p>
            <a:pPr marL="456565" lvl="1">
              <a:lnSpc>
                <a:spcPct val="150000"/>
              </a:lnSpc>
            </a:pPr>
            <a:r>
              <a:rPr lang="en-AU" dirty="0">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14</a:t>
            </a:r>
          </a:p>
        </p:txBody>
      </p:sp>
      <p:pic>
        <p:nvPicPr>
          <p:cNvPr id="5" name="Picture Placeholder 4" descr="A group of dice on an orange surface">
            <a:extLst>
              <a:ext uri="{FF2B5EF4-FFF2-40B4-BE49-F238E27FC236}">
                <a16:creationId xmlns:a16="http://schemas.microsoft.com/office/drawing/2014/main" id="{80978C62-0887-B1BD-5142-01CF7146B8A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pic>
        <p:nvPicPr>
          <p:cNvPr id="4" name="Picture 3">
            <a:extLst>
              <a:ext uri="{FF2B5EF4-FFF2-40B4-BE49-F238E27FC236}">
                <a16:creationId xmlns:a16="http://schemas.microsoft.com/office/drawing/2014/main" id="{5D11F5ED-B427-7A06-EE29-1C83BDE7EF0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359999" y="1318724"/>
            <a:ext cx="11243037" cy="893226"/>
          </a:xfrm>
        </p:spPr>
        <p:txBody>
          <a:bodyPr/>
          <a:lstStyle/>
          <a:p>
            <a:pPr algn="ctr"/>
            <a:r>
              <a:rPr lang="en-US" sz="4400"/>
              <a:t>Which number is </a:t>
            </a:r>
            <a:r>
              <a:rPr lang="en-US" sz="4400" b="1"/>
              <a:t>10</a:t>
            </a:r>
            <a:r>
              <a:rPr lang="en-US" sz="4400"/>
              <a:t> </a:t>
            </a:r>
            <a:r>
              <a:rPr lang="en-US" sz="4400" b="1"/>
              <a:t>times</a:t>
            </a:r>
            <a:r>
              <a:rPr lang="en-US" sz="4400"/>
              <a:t> as large as </a:t>
            </a:r>
            <a:r>
              <a:rPr lang="en-US" sz="4400" b="1"/>
              <a:t>9</a:t>
            </a:r>
            <a:r>
              <a:rPr lang="en-US" sz="4400"/>
              <a:t>?</a:t>
            </a:r>
          </a:p>
        </p:txBody>
      </p:sp>
      <p:sp>
        <p:nvSpPr>
          <p:cNvPr id="9" name="TextBox 8">
            <a:extLst>
              <a:ext uri="{FF2B5EF4-FFF2-40B4-BE49-F238E27FC236}">
                <a16:creationId xmlns:a16="http://schemas.microsoft.com/office/drawing/2014/main" id="{055D882C-AF43-C390-844D-CF785253532C}"/>
              </a:ext>
            </a:extLst>
          </p:cNvPr>
          <p:cNvSpPr txBox="1"/>
          <p:nvPr/>
        </p:nvSpPr>
        <p:spPr>
          <a:xfrm>
            <a:off x="1215766" y="313583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6" name="TextBox 5">
            <a:extLst>
              <a:ext uri="{FF2B5EF4-FFF2-40B4-BE49-F238E27FC236}">
                <a16:creationId xmlns:a16="http://schemas.microsoft.com/office/drawing/2014/main" id="{184BE7CB-1E9C-5505-529E-00D658923EBA}"/>
              </a:ext>
            </a:extLst>
          </p:cNvPr>
          <p:cNvSpPr txBox="1"/>
          <p:nvPr/>
        </p:nvSpPr>
        <p:spPr>
          <a:xfrm>
            <a:off x="982336" y="4059197"/>
            <a:ext cx="996287" cy="1173707"/>
          </a:xfrm>
          <a:prstGeom prst="rect">
            <a:avLst/>
          </a:prstGeom>
          <a:noFill/>
        </p:spPr>
        <p:txBody>
          <a:bodyPr wrap="square" lIns="0" tIns="0" rIns="0" bIns="0" rtlCol="0">
            <a:noAutofit/>
          </a:bodyPr>
          <a:lstStyle/>
          <a:p>
            <a:pPr algn="ctr"/>
            <a:r>
              <a:rPr lang="en-AU" sz="4400"/>
              <a:t>900</a:t>
            </a:r>
          </a:p>
        </p:txBody>
      </p:sp>
      <p:sp>
        <p:nvSpPr>
          <p:cNvPr id="10" name="TextBox 9">
            <a:extLst>
              <a:ext uri="{FF2B5EF4-FFF2-40B4-BE49-F238E27FC236}">
                <a16:creationId xmlns:a16="http://schemas.microsoft.com/office/drawing/2014/main" id="{3A7CB9AE-0F31-FA92-BCB3-C4AD3EF18B05}"/>
              </a:ext>
            </a:extLst>
          </p:cNvPr>
          <p:cNvSpPr txBox="1"/>
          <p:nvPr/>
        </p:nvSpPr>
        <p:spPr>
          <a:xfrm>
            <a:off x="4219739" y="313583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8" name="TextBox 7">
            <a:extLst>
              <a:ext uri="{FF2B5EF4-FFF2-40B4-BE49-F238E27FC236}">
                <a16:creationId xmlns:a16="http://schemas.microsoft.com/office/drawing/2014/main" id="{24999088-190A-AF5D-9C5C-C4A136BEA765}"/>
              </a:ext>
            </a:extLst>
          </p:cNvPr>
          <p:cNvSpPr txBox="1"/>
          <p:nvPr/>
        </p:nvSpPr>
        <p:spPr>
          <a:xfrm>
            <a:off x="3911051" y="4026782"/>
            <a:ext cx="996287" cy="1173707"/>
          </a:xfrm>
          <a:prstGeom prst="rect">
            <a:avLst/>
          </a:prstGeom>
          <a:noFill/>
        </p:spPr>
        <p:txBody>
          <a:bodyPr wrap="square" lIns="0" tIns="0" rIns="0" bIns="0" rtlCol="0">
            <a:noAutofit/>
          </a:bodyPr>
          <a:lstStyle/>
          <a:p>
            <a:pPr algn="ctr"/>
            <a:r>
              <a:rPr lang="en-AU" sz="4400"/>
              <a:t>90</a:t>
            </a:r>
          </a:p>
        </p:txBody>
      </p:sp>
      <p:sp>
        <p:nvSpPr>
          <p:cNvPr id="12" name="TextBox 11">
            <a:extLst>
              <a:ext uri="{FF2B5EF4-FFF2-40B4-BE49-F238E27FC236}">
                <a16:creationId xmlns:a16="http://schemas.microsoft.com/office/drawing/2014/main" id="{92ADCA88-1230-AEE8-EFD6-D8F0DF7EEE5C}"/>
              </a:ext>
            </a:extLst>
          </p:cNvPr>
          <p:cNvSpPr txBox="1"/>
          <p:nvPr/>
        </p:nvSpPr>
        <p:spPr>
          <a:xfrm>
            <a:off x="7223712" y="313583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Box 6">
            <a:extLst>
              <a:ext uri="{FF2B5EF4-FFF2-40B4-BE49-F238E27FC236}">
                <a16:creationId xmlns:a16="http://schemas.microsoft.com/office/drawing/2014/main" id="{481E0689-9EB6-10F1-45A6-C7A194ACD184}"/>
              </a:ext>
            </a:extLst>
          </p:cNvPr>
          <p:cNvSpPr txBox="1"/>
          <p:nvPr/>
        </p:nvSpPr>
        <p:spPr>
          <a:xfrm>
            <a:off x="6839766" y="4005964"/>
            <a:ext cx="1280261" cy="1173707"/>
          </a:xfrm>
          <a:prstGeom prst="rect">
            <a:avLst/>
          </a:prstGeom>
          <a:noFill/>
        </p:spPr>
        <p:txBody>
          <a:bodyPr wrap="square" lIns="0" tIns="0" rIns="0" bIns="0" rtlCol="0">
            <a:noAutofit/>
          </a:bodyPr>
          <a:lstStyle/>
          <a:p>
            <a:pPr algn="ctr"/>
            <a:r>
              <a:rPr lang="en-AU" sz="4400"/>
              <a:t>909</a:t>
            </a:r>
          </a:p>
        </p:txBody>
      </p:sp>
      <p:sp>
        <p:nvSpPr>
          <p:cNvPr id="11" name="TextBox 10">
            <a:extLst>
              <a:ext uri="{FF2B5EF4-FFF2-40B4-BE49-F238E27FC236}">
                <a16:creationId xmlns:a16="http://schemas.microsoft.com/office/drawing/2014/main" id="{F2C63D4C-D53C-5250-A986-AB949B67DEB8}"/>
              </a:ext>
            </a:extLst>
          </p:cNvPr>
          <p:cNvSpPr txBox="1"/>
          <p:nvPr/>
        </p:nvSpPr>
        <p:spPr>
          <a:xfrm>
            <a:off x="10227686" y="313583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3" name="TextBox 12">
            <a:extLst>
              <a:ext uri="{FF2B5EF4-FFF2-40B4-BE49-F238E27FC236}">
                <a16:creationId xmlns:a16="http://schemas.microsoft.com/office/drawing/2014/main" id="{74B63D72-436D-1CBA-1B9F-66B3EC69C553}"/>
              </a:ext>
            </a:extLst>
          </p:cNvPr>
          <p:cNvSpPr txBox="1"/>
          <p:nvPr/>
        </p:nvSpPr>
        <p:spPr>
          <a:xfrm>
            <a:off x="9843739" y="4009203"/>
            <a:ext cx="1280261" cy="1173707"/>
          </a:xfrm>
          <a:prstGeom prst="rect">
            <a:avLst/>
          </a:prstGeom>
          <a:noFill/>
        </p:spPr>
        <p:txBody>
          <a:bodyPr wrap="square" lIns="0" tIns="0" rIns="0" bIns="0" rtlCol="0">
            <a:noAutofit/>
          </a:bodyPr>
          <a:lstStyle/>
          <a:p>
            <a:pPr algn="ctr"/>
            <a:r>
              <a:rPr lang="en-AU" sz="4400"/>
              <a:t>99</a:t>
            </a:r>
          </a:p>
        </p:txBody>
      </p:sp>
      <p:sp>
        <p:nvSpPr>
          <p:cNvPr id="5" name="Text Placeholder 5">
            <a:extLst>
              <a:ext uri="{FF2B5EF4-FFF2-40B4-BE49-F238E27FC236}">
                <a16:creationId xmlns:a16="http://schemas.microsoft.com/office/drawing/2014/main" id="{FBE01173-6DD2-6AA8-452F-104AF29F7F2E}"/>
              </a:ext>
            </a:extLst>
          </p:cNvPr>
          <p:cNvSpPr txBox="1">
            <a:spLocks/>
          </p:cNvSpPr>
          <p:nvPr/>
        </p:nvSpPr>
        <p:spPr>
          <a:xfrm>
            <a:off x="548610" y="5488069"/>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3AAB908D-82F3-262D-F874-09AAB999B3FF}"/>
              </a:ext>
            </a:extLst>
          </p:cNvPr>
          <p:cNvSpPr txBox="1"/>
          <p:nvPr/>
        </p:nvSpPr>
        <p:spPr>
          <a:xfrm>
            <a:off x="720000" y="1104920"/>
            <a:ext cx="10764000" cy="739754"/>
          </a:xfrm>
          <a:prstGeom prst="rect">
            <a:avLst/>
          </a:prstGeom>
          <a:noFill/>
        </p:spPr>
        <p:txBody>
          <a:bodyPr wrap="square">
            <a:spAutoFit/>
          </a:bodyPr>
          <a:lstStyle/>
          <a:p>
            <a:pPr algn="ctr">
              <a:lnSpc>
                <a:spcPct val="150000"/>
              </a:lnSpc>
            </a:pPr>
            <a:r>
              <a:rPr lang="en-AU" sz="3200"/>
              <a:t>A toy car </a:t>
            </a:r>
            <a:r>
              <a:rPr lang="en-AU" sz="3200" b="1"/>
              <a:t>balances</a:t>
            </a:r>
            <a:r>
              <a:rPr lang="en-AU" sz="3200"/>
              <a:t> with 3 blocks on an equal-arm balance.</a:t>
            </a:r>
          </a:p>
        </p:txBody>
      </p:sp>
      <p:pic>
        <p:nvPicPr>
          <p:cNvPr id="9" name="Picture 8" descr="An equal arm balance with a toy car and 3 blocks.">
            <a:extLst>
              <a:ext uri="{FF2B5EF4-FFF2-40B4-BE49-F238E27FC236}">
                <a16:creationId xmlns:a16="http://schemas.microsoft.com/office/drawing/2014/main" id="{D9C41398-7A47-9824-4DAA-6111082F2378}"/>
              </a:ext>
            </a:extLst>
          </p:cNvPr>
          <p:cNvPicPr>
            <a:picLocks noChangeAspect="1"/>
          </p:cNvPicPr>
          <p:nvPr/>
        </p:nvPicPr>
        <p:blipFill>
          <a:blip r:embed="rId4"/>
          <a:stretch>
            <a:fillRect/>
          </a:stretch>
        </p:blipFill>
        <p:spPr>
          <a:xfrm>
            <a:off x="2799940" y="2027575"/>
            <a:ext cx="6263012" cy="2976679"/>
          </a:xfrm>
          <a:prstGeom prst="rect">
            <a:avLst/>
          </a:prstGeom>
          <a:ln>
            <a:noFill/>
          </a:ln>
          <a:effectLst/>
        </p:spPr>
      </p:pic>
      <p:sp>
        <p:nvSpPr>
          <p:cNvPr id="7" name="TextBox 6">
            <a:extLst>
              <a:ext uri="{FF2B5EF4-FFF2-40B4-BE49-F238E27FC236}">
                <a16:creationId xmlns:a16="http://schemas.microsoft.com/office/drawing/2014/main" id="{BEAE143D-4764-164F-08EC-12BDF3043D97}"/>
              </a:ext>
            </a:extLst>
          </p:cNvPr>
          <p:cNvSpPr txBox="1"/>
          <p:nvPr/>
        </p:nvSpPr>
        <p:spPr>
          <a:xfrm>
            <a:off x="841828" y="5127582"/>
            <a:ext cx="10764000" cy="1478418"/>
          </a:xfrm>
          <a:prstGeom prst="rect">
            <a:avLst/>
          </a:prstGeom>
          <a:noFill/>
        </p:spPr>
        <p:txBody>
          <a:bodyPr wrap="square">
            <a:spAutoFit/>
          </a:bodyPr>
          <a:lstStyle/>
          <a:p>
            <a:pPr algn="ctr">
              <a:lnSpc>
                <a:spcPct val="150000"/>
              </a:lnSpc>
            </a:pPr>
            <a:r>
              <a:rPr lang="en-AU" sz="3200"/>
              <a:t>How many </a:t>
            </a:r>
            <a:r>
              <a:rPr lang="en-AU" sz="3200" b="1"/>
              <a:t>blocks</a:t>
            </a:r>
            <a:r>
              <a:rPr lang="en-AU" sz="3200"/>
              <a:t> would balance </a:t>
            </a:r>
            <a:r>
              <a:rPr lang="en-AU" sz="3200" b="1"/>
              <a:t>2 toy cars</a:t>
            </a:r>
            <a:r>
              <a:rPr lang="en-AU" sz="3200"/>
              <a:t>? </a:t>
            </a:r>
            <a:r>
              <a:rPr lang="en-AU" sz="3200" b="1"/>
              <a:t>Communicate</a:t>
            </a:r>
            <a:r>
              <a:rPr lang="en-AU" sz="3200"/>
              <a:t> your </a:t>
            </a:r>
            <a:r>
              <a:rPr lang="en-AU" sz="3200" b="1"/>
              <a:t>reasoning</a:t>
            </a:r>
            <a:r>
              <a:rPr lang="en-AU" sz="3200"/>
              <a:t>.</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4" name="TextBox 3">
            <a:extLst>
              <a:ext uri="{FF2B5EF4-FFF2-40B4-BE49-F238E27FC236}">
                <a16:creationId xmlns:a16="http://schemas.microsoft.com/office/drawing/2014/main" id="{19D914D0-EE02-16EA-1BC5-085386928DB6}"/>
              </a:ext>
            </a:extLst>
          </p:cNvPr>
          <p:cNvSpPr txBox="1"/>
          <p:nvPr/>
        </p:nvSpPr>
        <p:spPr>
          <a:xfrm>
            <a:off x="451944" y="1942483"/>
            <a:ext cx="11119945" cy="3815256"/>
          </a:xfrm>
          <a:prstGeom prst="rect">
            <a:avLst/>
          </a:prstGeom>
          <a:noFill/>
        </p:spPr>
        <p:txBody>
          <a:bodyPr wrap="square" lIns="0" tIns="0" rIns="0" bIns="0" rtlCol="0">
            <a:noAutofit/>
          </a:bodyPr>
          <a:lstStyle/>
          <a:p>
            <a:pPr algn="ctr">
              <a:lnSpc>
                <a:spcPct val="150000"/>
              </a:lnSpc>
            </a:pPr>
            <a:r>
              <a:rPr lang="en-AU" sz="4400"/>
              <a:t>Is </a:t>
            </a:r>
            <a:r>
              <a:rPr lang="en-AU" sz="4400" b="1"/>
              <a:t>176</a:t>
            </a:r>
            <a:r>
              <a:rPr lang="en-AU" sz="4400"/>
              <a:t> an </a:t>
            </a:r>
            <a:r>
              <a:rPr lang="en-AU" sz="4400" b="1"/>
              <a:t>odd</a:t>
            </a:r>
            <a:r>
              <a:rPr lang="en-AU" sz="4400"/>
              <a:t> or </a:t>
            </a:r>
            <a:r>
              <a:rPr lang="en-AU" sz="4400" b="1"/>
              <a:t>even</a:t>
            </a:r>
            <a:r>
              <a:rPr lang="en-AU" sz="4400"/>
              <a:t> number?</a:t>
            </a:r>
          </a:p>
          <a:p>
            <a:pPr algn="ctr">
              <a:lnSpc>
                <a:spcPct val="150000"/>
              </a:lnSpc>
            </a:pPr>
            <a:endParaRPr lang="en-AU" sz="4400"/>
          </a:p>
          <a:p>
            <a:pPr algn="ctr">
              <a:lnSpc>
                <a:spcPct val="150000"/>
              </a:lnSpc>
            </a:pPr>
            <a:r>
              <a:rPr lang="en-AU" sz="4400" b="1"/>
              <a:t>Communicate </a:t>
            </a:r>
            <a:r>
              <a:rPr lang="en-AU" sz="4400"/>
              <a:t>your </a:t>
            </a:r>
            <a:r>
              <a:rPr lang="en-AU" sz="4400" b="1"/>
              <a:t>reasoning</a:t>
            </a:r>
            <a:r>
              <a:rPr lang="en-AU" sz="4400"/>
              <a:t>.</a:t>
            </a:r>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A7507C2-16AA-A172-1E4F-C97E8A5FFD26}"/>
              </a:ext>
            </a:extLst>
          </p:cNvPr>
          <p:cNvSpPr txBox="1"/>
          <p:nvPr/>
        </p:nvSpPr>
        <p:spPr>
          <a:xfrm>
            <a:off x="714000" y="1388893"/>
            <a:ext cx="10764000" cy="1374679"/>
          </a:xfrm>
          <a:prstGeom prst="rect">
            <a:avLst/>
          </a:prstGeom>
          <a:noFill/>
        </p:spPr>
        <p:txBody>
          <a:bodyPr wrap="square" lIns="0" tIns="0" rIns="0" bIns="0" rtlCol="0">
            <a:noAutofit/>
          </a:bodyPr>
          <a:lstStyle/>
          <a:p>
            <a:pPr algn="ctr">
              <a:lnSpc>
                <a:spcPct val="150000"/>
              </a:lnSpc>
            </a:pPr>
            <a:r>
              <a:rPr lang="en-AU" sz="4000"/>
              <a:t>Which of the following two-dimensional shapes are </a:t>
            </a:r>
            <a:r>
              <a:rPr lang="en-AU" sz="4000" b="1"/>
              <a:t>quadrilaterals</a:t>
            </a:r>
            <a:r>
              <a:rPr lang="en-AU" sz="4000"/>
              <a:t>?</a:t>
            </a:r>
          </a:p>
        </p:txBody>
      </p:sp>
      <p:grpSp>
        <p:nvGrpSpPr>
          <p:cNvPr id="30" name="Group 29" descr="A. triangle and an image of a triangle.">
            <a:extLst>
              <a:ext uri="{FF2B5EF4-FFF2-40B4-BE49-F238E27FC236}">
                <a16:creationId xmlns:a16="http://schemas.microsoft.com/office/drawing/2014/main" id="{5DFF95BA-3927-4B83-C6F3-F5B35AEBCD92}"/>
              </a:ext>
            </a:extLst>
          </p:cNvPr>
          <p:cNvGrpSpPr/>
          <p:nvPr/>
        </p:nvGrpSpPr>
        <p:grpSpPr>
          <a:xfrm>
            <a:off x="-157725" y="4049942"/>
            <a:ext cx="2121921" cy="1482551"/>
            <a:chOff x="220190" y="4158993"/>
            <a:chExt cx="2121921" cy="1482551"/>
          </a:xfrm>
        </p:grpSpPr>
        <p:sp>
          <p:nvSpPr>
            <p:cNvPr id="22" name="Freeform 7">
              <a:extLst>
                <a:ext uri="{FF2B5EF4-FFF2-40B4-BE49-F238E27FC236}">
                  <a16:creationId xmlns:a16="http://schemas.microsoft.com/office/drawing/2014/main" id="{C8AA8EA4-0C50-1185-9417-DAD73D3A5D5C}"/>
                </a:ext>
              </a:extLst>
            </p:cNvPr>
            <p:cNvSpPr/>
            <p:nvPr/>
          </p:nvSpPr>
          <p:spPr>
            <a:xfrm rot="-10800000">
              <a:off x="946931" y="4715720"/>
              <a:ext cx="1068773" cy="925824"/>
            </a:xfrm>
            <a:custGeom>
              <a:avLst/>
              <a:gdLst/>
              <a:ahLst/>
              <a:cxnLst/>
              <a:rect l="l" t="t" r="r" b="b"/>
              <a:pathLst>
                <a:path w="1068773" h="925824">
                  <a:moveTo>
                    <a:pt x="0" y="0"/>
                  </a:moveTo>
                  <a:lnTo>
                    <a:pt x="1068773" y="0"/>
                  </a:lnTo>
                  <a:lnTo>
                    <a:pt x="1068773" y="925824"/>
                  </a:lnTo>
                  <a:lnTo>
                    <a:pt x="0" y="925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26" name="TextBox 14">
              <a:extLst>
                <a:ext uri="{FF2B5EF4-FFF2-40B4-BE49-F238E27FC236}">
                  <a16:creationId xmlns:a16="http://schemas.microsoft.com/office/drawing/2014/main" id="{722DB743-A13B-AAE5-D1D4-9617296D83CF}"/>
                </a:ext>
              </a:extLst>
            </p:cNvPr>
            <p:cNvSpPr txBox="1"/>
            <p:nvPr/>
          </p:nvSpPr>
          <p:spPr>
            <a:xfrm>
              <a:off x="220190" y="4158993"/>
              <a:ext cx="2121921"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b="1"/>
                <a:t>A</a:t>
              </a:r>
              <a:r>
                <a:rPr lang="en-AU"/>
                <a:t> </a:t>
              </a:r>
            </a:p>
          </p:txBody>
        </p:sp>
      </p:grpSp>
      <p:sp>
        <p:nvSpPr>
          <p:cNvPr id="10" name="TextBox 9">
            <a:extLst>
              <a:ext uri="{FF2B5EF4-FFF2-40B4-BE49-F238E27FC236}">
                <a16:creationId xmlns:a16="http://schemas.microsoft.com/office/drawing/2014/main" id="{D517471A-E4C0-1CA2-6B5E-4C3235169F6C}"/>
              </a:ext>
            </a:extLst>
          </p:cNvPr>
          <p:cNvSpPr txBox="1"/>
          <p:nvPr/>
        </p:nvSpPr>
        <p:spPr>
          <a:xfrm>
            <a:off x="487643" y="5834588"/>
            <a:ext cx="1297460" cy="461665"/>
          </a:xfrm>
          <a:prstGeom prst="rect">
            <a:avLst/>
          </a:prstGeom>
          <a:noFill/>
        </p:spPr>
        <p:txBody>
          <a:bodyPr wrap="square">
            <a:spAutoFit/>
          </a:bodyPr>
          <a:lstStyle/>
          <a:p>
            <a:r>
              <a:rPr lang="en-AU"/>
              <a:t>triangle</a:t>
            </a:r>
          </a:p>
        </p:txBody>
      </p:sp>
      <p:grpSp>
        <p:nvGrpSpPr>
          <p:cNvPr id="31" name="Group 30" descr="B. parallelogram and an image of a parallelogram.">
            <a:extLst>
              <a:ext uri="{FF2B5EF4-FFF2-40B4-BE49-F238E27FC236}">
                <a16:creationId xmlns:a16="http://schemas.microsoft.com/office/drawing/2014/main" id="{D72A9657-B078-BC1C-EB18-537EBE1CC9DA}"/>
              </a:ext>
            </a:extLst>
          </p:cNvPr>
          <p:cNvGrpSpPr/>
          <p:nvPr/>
        </p:nvGrpSpPr>
        <p:grpSpPr>
          <a:xfrm>
            <a:off x="1775539" y="3970523"/>
            <a:ext cx="2697701" cy="1844867"/>
            <a:chOff x="2149865" y="3820700"/>
            <a:chExt cx="2697701" cy="1844867"/>
          </a:xfrm>
        </p:grpSpPr>
        <p:sp>
          <p:nvSpPr>
            <p:cNvPr id="5" name="TextBox 14">
              <a:extLst>
                <a:ext uri="{FF2B5EF4-FFF2-40B4-BE49-F238E27FC236}">
                  <a16:creationId xmlns:a16="http://schemas.microsoft.com/office/drawing/2014/main" id="{8079FB70-E270-ED9D-F6B0-15E4BDC5B6C8}"/>
                </a:ext>
              </a:extLst>
            </p:cNvPr>
            <p:cNvSpPr txBox="1"/>
            <p:nvPr/>
          </p:nvSpPr>
          <p:spPr>
            <a:xfrm>
              <a:off x="2149865" y="3820700"/>
              <a:ext cx="2697701"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b="1"/>
                <a:t>B</a:t>
              </a:r>
              <a:r>
                <a:rPr lang="en-AU"/>
                <a:t> </a:t>
              </a:r>
            </a:p>
          </p:txBody>
        </p:sp>
        <p:sp>
          <p:nvSpPr>
            <p:cNvPr id="21" name="Freeform 6">
              <a:extLst>
                <a:ext uri="{FF2B5EF4-FFF2-40B4-BE49-F238E27FC236}">
                  <a16:creationId xmlns:a16="http://schemas.microsoft.com/office/drawing/2014/main" id="{D406CA6E-3C63-8DB2-6EB9-3424642019CA}"/>
                </a:ext>
              </a:extLst>
            </p:cNvPr>
            <p:cNvSpPr/>
            <p:nvPr/>
          </p:nvSpPr>
          <p:spPr>
            <a:xfrm rot="5400000" flipH="1">
              <a:off x="2985844" y="4532989"/>
              <a:ext cx="1773367" cy="491790"/>
            </a:xfrm>
            <a:custGeom>
              <a:avLst/>
              <a:gdLst/>
              <a:ahLst/>
              <a:cxnLst/>
              <a:rect l="l" t="t" r="r" b="b"/>
              <a:pathLst>
                <a:path w="1773367" h="571911">
                  <a:moveTo>
                    <a:pt x="1773367" y="0"/>
                  </a:moveTo>
                  <a:lnTo>
                    <a:pt x="0" y="0"/>
                  </a:lnTo>
                  <a:lnTo>
                    <a:pt x="0" y="571910"/>
                  </a:lnTo>
                  <a:lnTo>
                    <a:pt x="1773367" y="571910"/>
                  </a:lnTo>
                  <a:lnTo>
                    <a:pt x="1773367"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AU"/>
            </a:p>
          </p:txBody>
        </p:sp>
      </p:grpSp>
      <p:sp>
        <p:nvSpPr>
          <p:cNvPr id="12" name="TextBox 11">
            <a:extLst>
              <a:ext uri="{FF2B5EF4-FFF2-40B4-BE49-F238E27FC236}">
                <a16:creationId xmlns:a16="http://schemas.microsoft.com/office/drawing/2014/main" id="{C662630E-C1E0-017A-B1F4-4DEB5F4633C5}"/>
              </a:ext>
            </a:extLst>
          </p:cNvPr>
          <p:cNvSpPr txBox="1"/>
          <p:nvPr/>
        </p:nvSpPr>
        <p:spPr>
          <a:xfrm>
            <a:off x="2466802" y="5834587"/>
            <a:ext cx="2137127" cy="461665"/>
          </a:xfrm>
          <a:prstGeom prst="rect">
            <a:avLst/>
          </a:prstGeom>
          <a:noFill/>
        </p:spPr>
        <p:txBody>
          <a:bodyPr wrap="square">
            <a:spAutoFit/>
          </a:bodyPr>
          <a:lstStyle/>
          <a:p>
            <a:r>
              <a:rPr lang="en-AU"/>
              <a:t>parallelogram</a:t>
            </a:r>
          </a:p>
        </p:txBody>
      </p:sp>
      <p:grpSp>
        <p:nvGrpSpPr>
          <p:cNvPr id="34" name="Group 33" descr="C. pentagon and an image of a pentagon.">
            <a:extLst>
              <a:ext uri="{FF2B5EF4-FFF2-40B4-BE49-F238E27FC236}">
                <a16:creationId xmlns:a16="http://schemas.microsoft.com/office/drawing/2014/main" id="{BCB13395-DB15-7D8F-A01B-009A4E9A2152}"/>
              </a:ext>
            </a:extLst>
          </p:cNvPr>
          <p:cNvGrpSpPr/>
          <p:nvPr/>
        </p:nvGrpSpPr>
        <p:grpSpPr>
          <a:xfrm>
            <a:off x="4603929" y="3976409"/>
            <a:ext cx="2697701" cy="1616012"/>
            <a:chOff x="4802592" y="4025532"/>
            <a:chExt cx="2697701" cy="1616012"/>
          </a:xfrm>
        </p:grpSpPr>
        <p:grpSp>
          <p:nvGrpSpPr>
            <p:cNvPr id="23" name="Group 8">
              <a:extLst>
                <a:ext uri="{FF2B5EF4-FFF2-40B4-BE49-F238E27FC236}">
                  <a16:creationId xmlns:a16="http://schemas.microsoft.com/office/drawing/2014/main" id="{9E7F859C-0E97-A10B-241C-D7C4E0FE84BA}"/>
                </a:ext>
              </a:extLst>
            </p:cNvPr>
            <p:cNvGrpSpPr/>
            <p:nvPr/>
          </p:nvGrpSpPr>
          <p:grpSpPr>
            <a:xfrm>
              <a:off x="5579881" y="4498423"/>
              <a:ext cx="1143121" cy="1143121"/>
              <a:chOff x="0" y="0"/>
              <a:chExt cx="812800" cy="812800"/>
            </a:xfrm>
          </p:grpSpPr>
          <p:sp>
            <p:nvSpPr>
              <p:cNvPr id="24" name="Freeform 9">
                <a:extLst>
                  <a:ext uri="{FF2B5EF4-FFF2-40B4-BE49-F238E27FC236}">
                    <a16:creationId xmlns:a16="http://schemas.microsoft.com/office/drawing/2014/main" id="{28521069-6160-BC3E-C4C3-2E6C3945CD5D}"/>
                  </a:ext>
                </a:extLst>
              </p:cNvPr>
              <p:cNvSpPr/>
              <p:nvPr/>
            </p:nvSpPr>
            <p:spPr>
              <a:xfrm>
                <a:off x="0" y="0"/>
                <a:ext cx="812800" cy="812800"/>
              </a:xfrm>
              <a:custGeom>
                <a:avLst/>
                <a:gdLst/>
                <a:ahLst/>
                <a:cxnLst/>
                <a:rect l="l" t="t" r="r" b="b"/>
                <a:pathLst>
                  <a:path w="812800" h="812800">
                    <a:moveTo>
                      <a:pt x="406400" y="0"/>
                    </a:moveTo>
                    <a:lnTo>
                      <a:pt x="812800" y="310462"/>
                    </a:lnTo>
                    <a:lnTo>
                      <a:pt x="657569" y="812800"/>
                    </a:lnTo>
                    <a:lnTo>
                      <a:pt x="155231" y="812800"/>
                    </a:lnTo>
                    <a:lnTo>
                      <a:pt x="0" y="310462"/>
                    </a:lnTo>
                    <a:lnTo>
                      <a:pt x="406400" y="0"/>
                    </a:lnTo>
                    <a:close/>
                  </a:path>
                </a:pathLst>
              </a:custGeom>
              <a:ln w="38100" cap="sq">
                <a:solidFill>
                  <a:srgbClr val="000000"/>
                </a:solidFill>
                <a:prstDash val="solid"/>
                <a:miter/>
              </a:ln>
            </p:spPr>
            <p:txBody>
              <a:bodyPr/>
              <a:lstStyle/>
              <a:p>
                <a:endParaRPr lang="en-AU"/>
              </a:p>
            </p:txBody>
          </p:sp>
          <p:sp>
            <p:nvSpPr>
              <p:cNvPr id="25" name="TextBox 10">
                <a:extLst>
                  <a:ext uri="{FF2B5EF4-FFF2-40B4-BE49-F238E27FC236}">
                    <a16:creationId xmlns:a16="http://schemas.microsoft.com/office/drawing/2014/main" id="{2BCEF581-4268-6428-3F53-540AAB03F2EF}"/>
                  </a:ext>
                </a:extLst>
              </p:cNvPr>
              <p:cNvSpPr txBox="1"/>
              <p:nvPr/>
            </p:nvSpPr>
            <p:spPr>
              <a:xfrm>
                <a:off x="127000" y="174625"/>
                <a:ext cx="558800" cy="587375"/>
              </a:xfrm>
              <a:prstGeom prst="rect">
                <a:avLst/>
              </a:prstGeom>
            </p:spPr>
            <p:txBody>
              <a:bodyPr lIns="50800" tIns="50800" rIns="50800" bIns="50800" rtlCol="0" anchor="ctr"/>
              <a:lstStyle/>
              <a:p>
                <a:pPr algn="ctr">
                  <a:lnSpc>
                    <a:spcPts val="2149"/>
                  </a:lnSpc>
                </a:pPr>
                <a:endParaRPr/>
              </a:p>
            </p:txBody>
          </p:sp>
        </p:grpSp>
        <p:sp>
          <p:nvSpPr>
            <p:cNvPr id="27" name="TextBox 14">
              <a:extLst>
                <a:ext uri="{FF2B5EF4-FFF2-40B4-BE49-F238E27FC236}">
                  <a16:creationId xmlns:a16="http://schemas.microsoft.com/office/drawing/2014/main" id="{886D005D-13C8-57EB-200F-38A070429AA2}"/>
                </a:ext>
              </a:extLst>
            </p:cNvPr>
            <p:cNvSpPr txBox="1"/>
            <p:nvPr/>
          </p:nvSpPr>
          <p:spPr>
            <a:xfrm>
              <a:off x="4802592" y="4025532"/>
              <a:ext cx="2697701"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b="1"/>
                <a:t>C</a:t>
              </a:r>
              <a:r>
                <a:rPr lang="en-AU"/>
                <a:t> </a:t>
              </a:r>
            </a:p>
          </p:txBody>
        </p:sp>
      </p:grpSp>
      <p:sp>
        <p:nvSpPr>
          <p:cNvPr id="14" name="TextBox 13">
            <a:extLst>
              <a:ext uri="{FF2B5EF4-FFF2-40B4-BE49-F238E27FC236}">
                <a16:creationId xmlns:a16="http://schemas.microsoft.com/office/drawing/2014/main" id="{0579CDD2-A8F2-B060-0263-AB3D66722D2A}"/>
              </a:ext>
            </a:extLst>
          </p:cNvPr>
          <p:cNvSpPr txBox="1"/>
          <p:nvPr/>
        </p:nvSpPr>
        <p:spPr>
          <a:xfrm>
            <a:off x="5374240" y="5815391"/>
            <a:ext cx="1469905" cy="461665"/>
          </a:xfrm>
          <a:prstGeom prst="rect">
            <a:avLst/>
          </a:prstGeom>
          <a:noFill/>
        </p:spPr>
        <p:txBody>
          <a:bodyPr wrap="square">
            <a:spAutoFit/>
          </a:bodyPr>
          <a:lstStyle/>
          <a:p>
            <a:r>
              <a:rPr lang="en-AU"/>
              <a:t>pentagon</a:t>
            </a:r>
          </a:p>
        </p:txBody>
      </p:sp>
      <p:grpSp>
        <p:nvGrpSpPr>
          <p:cNvPr id="32" name="Group 31" descr="D. rhombus and an image of a rhombus.">
            <a:extLst>
              <a:ext uri="{FF2B5EF4-FFF2-40B4-BE49-F238E27FC236}">
                <a16:creationId xmlns:a16="http://schemas.microsoft.com/office/drawing/2014/main" id="{6C16B004-4010-61D5-DC5B-3CB225C2A894}"/>
              </a:ext>
            </a:extLst>
          </p:cNvPr>
          <p:cNvGrpSpPr/>
          <p:nvPr/>
        </p:nvGrpSpPr>
        <p:grpSpPr>
          <a:xfrm>
            <a:off x="7058751" y="4137001"/>
            <a:ext cx="2697701" cy="1441912"/>
            <a:chOff x="7062905" y="4025532"/>
            <a:chExt cx="2697701" cy="1441912"/>
          </a:xfrm>
        </p:grpSpPr>
        <p:grpSp>
          <p:nvGrpSpPr>
            <p:cNvPr id="17" name="Group 2">
              <a:extLst>
                <a:ext uri="{FF2B5EF4-FFF2-40B4-BE49-F238E27FC236}">
                  <a16:creationId xmlns:a16="http://schemas.microsoft.com/office/drawing/2014/main" id="{98456A6A-03B0-6C42-920A-A36F11808500}"/>
                </a:ext>
              </a:extLst>
            </p:cNvPr>
            <p:cNvGrpSpPr/>
            <p:nvPr/>
          </p:nvGrpSpPr>
          <p:grpSpPr>
            <a:xfrm rot="-10800000">
              <a:off x="7955070" y="4602209"/>
              <a:ext cx="1101990" cy="865235"/>
              <a:chOff x="0" y="-28575"/>
              <a:chExt cx="812800" cy="638175"/>
            </a:xfrm>
          </p:grpSpPr>
          <p:sp>
            <p:nvSpPr>
              <p:cNvPr id="18" name="Freeform 3">
                <a:extLst>
                  <a:ext uri="{FF2B5EF4-FFF2-40B4-BE49-F238E27FC236}">
                    <a16:creationId xmlns:a16="http://schemas.microsoft.com/office/drawing/2014/main" id="{773D3BB4-C618-E87A-6167-B21A67F1E364}"/>
                  </a:ext>
                </a:extLst>
              </p:cNvPr>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ln w="38100" cap="sq">
                <a:solidFill>
                  <a:srgbClr val="000000"/>
                </a:solidFill>
                <a:prstDash val="solid"/>
                <a:miter/>
              </a:ln>
            </p:spPr>
            <p:txBody>
              <a:bodyPr/>
              <a:lstStyle/>
              <a:p>
                <a:endParaRPr lang="en-AU"/>
              </a:p>
            </p:txBody>
          </p:sp>
          <p:sp>
            <p:nvSpPr>
              <p:cNvPr id="19" name="TextBox 4">
                <a:extLst>
                  <a:ext uri="{FF2B5EF4-FFF2-40B4-BE49-F238E27FC236}">
                    <a16:creationId xmlns:a16="http://schemas.microsoft.com/office/drawing/2014/main" id="{7108B05F-AD2A-2796-AEE2-132DA3D42A2A}"/>
                  </a:ext>
                </a:extLst>
              </p:cNvPr>
              <p:cNvSpPr txBox="1"/>
              <p:nvPr/>
            </p:nvSpPr>
            <p:spPr>
              <a:xfrm>
                <a:off x="101600" y="-28575"/>
                <a:ext cx="609600" cy="638175"/>
              </a:xfrm>
              <a:prstGeom prst="rect">
                <a:avLst/>
              </a:prstGeom>
            </p:spPr>
            <p:txBody>
              <a:bodyPr lIns="50800" tIns="50800" rIns="50800" bIns="50800" rtlCol="0" anchor="ctr"/>
              <a:lstStyle/>
              <a:p>
                <a:pPr algn="ctr">
                  <a:lnSpc>
                    <a:spcPts val="2149"/>
                  </a:lnSpc>
                </a:pPr>
                <a:endParaRPr/>
              </a:p>
            </p:txBody>
          </p:sp>
        </p:grpSp>
        <p:sp>
          <p:nvSpPr>
            <p:cNvPr id="28" name="TextBox 14">
              <a:extLst>
                <a:ext uri="{FF2B5EF4-FFF2-40B4-BE49-F238E27FC236}">
                  <a16:creationId xmlns:a16="http://schemas.microsoft.com/office/drawing/2014/main" id="{EC5D6FAD-4403-0BBB-6F77-19DA5897C2D8}"/>
                </a:ext>
              </a:extLst>
            </p:cNvPr>
            <p:cNvSpPr txBox="1"/>
            <p:nvPr/>
          </p:nvSpPr>
          <p:spPr>
            <a:xfrm>
              <a:off x="7062905" y="4025532"/>
              <a:ext cx="2697701"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b="1"/>
                <a:t>D</a:t>
              </a:r>
              <a:r>
                <a:rPr lang="en-AU"/>
                <a:t> </a:t>
              </a:r>
            </a:p>
          </p:txBody>
        </p:sp>
      </p:grpSp>
      <p:sp>
        <p:nvSpPr>
          <p:cNvPr id="16" name="TextBox 15">
            <a:extLst>
              <a:ext uri="{FF2B5EF4-FFF2-40B4-BE49-F238E27FC236}">
                <a16:creationId xmlns:a16="http://schemas.microsoft.com/office/drawing/2014/main" id="{16BBA214-0467-D68C-A570-60D7A887CBE8}"/>
              </a:ext>
            </a:extLst>
          </p:cNvPr>
          <p:cNvSpPr txBox="1"/>
          <p:nvPr/>
        </p:nvSpPr>
        <p:spPr>
          <a:xfrm>
            <a:off x="7997741" y="5830683"/>
            <a:ext cx="1416423" cy="461665"/>
          </a:xfrm>
          <a:prstGeom prst="rect">
            <a:avLst/>
          </a:prstGeom>
          <a:noFill/>
        </p:spPr>
        <p:txBody>
          <a:bodyPr wrap="square">
            <a:spAutoFit/>
          </a:bodyPr>
          <a:lstStyle/>
          <a:p>
            <a:r>
              <a:rPr lang="en-AU"/>
              <a:t>rhombus</a:t>
            </a:r>
          </a:p>
        </p:txBody>
      </p:sp>
      <p:grpSp>
        <p:nvGrpSpPr>
          <p:cNvPr id="9" name="Group 8" descr="E. trapezium and an image of a trapezium.">
            <a:extLst>
              <a:ext uri="{FF2B5EF4-FFF2-40B4-BE49-F238E27FC236}">
                <a16:creationId xmlns:a16="http://schemas.microsoft.com/office/drawing/2014/main" id="{4FDDBBE7-B68B-0241-A5C9-3709D60E2B78}"/>
              </a:ext>
            </a:extLst>
          </p:cNvPr>
          <p:cNvGrpSpPr/>
          <p:nvPr/>
        </p:nvGrpSpPr>
        <p:grpSpPr>
          <a:xfrm>
            <a:off x="8780299" y="3927800"/>
            <a:ext cx="2697701" cy="1868395"/>
            <a:chOff x="8780299" y="3927800"/>
            <a:chExt cx="2697701" cy="1868395"/>
          </a:xfrm>
        </p:grpSpPr>
        <p:pic>
          <p:nvPicPr>
            <p:cNvPr id="8" name="Picture 7">
              <a:extLst>
                <a:ext uri="{FF2B5EF4-FFF2-40B4-BE49-F238E27FC236}">
                  <a16:creationId xmlns:a16="http://schemas.microsoft.com/office/drawing/2014/main" id="{C40CFDD6-E89A-4993-DC0A-5F003D8BBAE5}"/>
                </a:ext>
              </a:extLst>
            </p:cNvPr>
            <p:cNvPicPr>
              <a:picLocks noChangeAspect="1"/>
            </p:cNvPicPr>
            <p:nvPr/>
          </p:nvPicPr>
          <p:blipFill>
            <a:blip r:embed="rId6"/>
            <a:stretch>
              <a:fillRect/>
            </a:stretch>
          </p:blipFill>
          <p:spPr>
            <a:xfrm>
              <a:off x="10154240" y="4121709"/>
              <a:ext cx="997091" cy="1674486"/>
            </a:xfrm>
            <a:prstGeom prst="rect">
              <a:avLst/>
            </a:prstGeom>
          </p:spPr>
        </p:pic>
        <p:sp>
          <p:nvSpPr>
            <p:cNvPr id="29" name="TextBox 14">
              <a:extLst>
                <a:ext uri="{FF2B5EF4-FFF2-40B4-BE49-F238E27FC236}">
                  <a16:creationId xmlns:a16="http://schemas.microsoft.com/office/drawing/2014/main" id="{60D1DF34-7D8F-CEAA-D207-2C3375CE3E88}"/>
                </a:ext>
              </a:extLst>
            </p:cNvPr>
            <p:cNvSpPr txBox="1"/>
            <p:nvPr/>
          </p:nvSpPr>
          <p:spPr>
            <a:xfrm>
              <a:off x="8780299" y="3927800"/>
              <a:ext cx="2697701"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b="1"/>
                <a:t>E</a:t>
              </a:r>
              <a:r>
                <a:rPr lang="en-AU"/>
                <a:t> </a:t>
              </a:r>
            </a:p>
          </p:txBody>
        </p:sp>
      </p:grpSp>
      <p:sp>
        <p:nvSpPr>
          <p:cNvPr id="36" name="TextBox 35">
            <a:extLst>
              <a:ext uri="{FF2B5EF4-FFF2-40B4-BE49-F238E27FC236}">
                <a16:creationId xmlns:a16="http://schemas.microsoft.com/office/drawing/2014/main" id="{195E9695-B562-FC4D-93B6-70C496927389}"/>
              </a:ext>
            </a:extLst>
          </p:cNvPr>
          <p:cNvSpPr txBox="1"/>
          <p:nvPr/>
        </p:nvSpPr>
        <p:spPr>
          <a:xfrm>
            <a:off x="9945444" y="5811487"/>
            <a:ext cx="1758913" cy="461665"/>
          </a:xfrm>
          <a:prstGeom prst="rect">
            <a:avLst/>
          </a:prstGeom>
          <a:noFill/>
        </p:spPr>
        <p:txBody>
          <a:bodyPr wrap="square">
            <a:spAutoFit/>
          </a:bodyPr>
          <a:lstStyle/>
          <a:p>
            <a:r>
              <a:rPr lang="en-AU"/>
              <a:t>trapezium</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1AAFE0DE-A972-5BA6-7193-1513786853E0}"/>
              </a:ext>
            </a:extLst>
          </p:cNvPr>
          <p:cNvSpPr txBox="1"/>
          <p:nvPr/>
        </p:nvSpPr>
        <p:spPr>
          <a:xfrm>
            <a:off x="432059" y="1572724"/>
            <a:ext cx="7428945" cy="4742121"/>
          </a:xfrm>
          <a:prstGeom prst="rect">
            <a:avLst/>
          </a:prstGeom>
          <a:noFill/>
        </p:spPr>
        <p:txBody>
          <a:bodyPr wrap="square" lIns="0" tIns="0" rIns="0" bIns="0" rtlCol="0">
            <a:noAutofit/>
          </a:bodyPr>
          <a:lstStyle/>
          <a:p>
            <a:pPr algn="ctr">
              <a:lnSpc>
                <a:spcPct val="150000"/>
              </a:lnSpc>
            </a:pPr>
            <a:r>
              <a:rPr lang="en-AU" sz="4400"/>
              <a:t>The spinner is spun </a:t>
            </a:r>
            <a:r>
              <a:rPr lang="en-AU" sz="4400" b="1"/>
              <a:t>3 times</a:t>
            </a:r>
            <a:r>
              <a:rPr lang="en-AU" sz="4400"/>
              <a:t>.</a:t>
            </a:r>
          </a:p>
          <a:p>
            <a:pPr algn="ctr">
              <a:lnSpc>
                <a:spcPct val="150000"/>
              </a:lnSpc>
            </a:pPr>
            <a:endParaRPr lang="en-AU" sz="4400"/>
          </a:p>
          <a:p>
            <a:pPr algn="ctr">
              <a:lnSpc>
                <a:spcPct val="150000"/>
              </a:lnSpc>
            </a:pPr>
            <a:r>
              <a:rPr lang="en-AU" sz="4400"/>
              <a:t>List all </a:t>
            </a:r>
            <a:r>
              <a:rPr lang="en-AU" sz="4400" b="1"/>
              <a:t>possible outcomes </a:t>
            </a:r>
            <a:r>
              <a:rPr lang="en-AU" sz="4400"/>
              <a:t>of this chance experiment.</a:t>
            </a:r>
          </a:p>
        </p:txBody>
      </p:sp>
      <p:sp>
        <p:nvSpPr>
          <p:cNvPr id="4" name="Freeform 2" descr="A spinner with four section coloured: green, blue, yellow and red.">
            <a:extLst>
              <a:ext uri="{FF2B5EF4-FFF2-40B4-BE49-F238E27FC236}">
                <a16:creationId xmlns:a16="http://schemas.microsoft.com/office/drawing/2014/main" id="{3EBFB350-F69A-B4A4-A28C-F8FE6A2F1589}"/>
              </a:ext>
            </a:extLst>
          </p:cNvPr>
          <p:cNvSpPr>
            <a:spLocks noChangeAspect="1"/>
          </p:cNvSpPr>
          <p:nvPr/>
        </p:nvSpPr>
        <p:spPr>
          <a:xfrm rot="20685602">
            <a:off x="8346661" y="1962950"/>
            <a:ext cx="3427614" cy="3427614"/>
          </a:xfrm>
          <a:custGeom>
            <a:avLst/>
            <a:gdLst/>
            <a:ahLst/>
            <a:cxnLst/>
            <a:rect l="l" t="t" r="r" b="b"/>
            <a:pathLst>
              <a:path w="3024000" h="3024000">
                <a:moveTo>
                  <a:pt x="0" y="0"/>
                </a:moveTo>
                <a:lnTo>
                  <a:pt x="3024000" y="0"/>
                </a:lnTo>
                <a:lnTo>
                  <a:pt x="3024000" y="3024000"/>
                </a:lnTo>
                <a:lnTo>
                  <a:pt x="0" y="30240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10 times as large</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graphicFrame>
        <p:nvGraphicFramePr>
          <p:cNvPr id="3" name="Table 2">
            <a:extLst>
              <a:ext uri="{FF2B5EF4-FFF2-40B4-BE49-F238E27FC236}">
                <a16:creationId xmlns:a16="http://schemas.microsoft.com/office/drawing/2014/main" id="{1965D60A-4C2F-2D94-C819-5571112D1FC6}"/>
              </a:ext>
            </a:extLst>
          </p:cNvPr>
          <p:cNvGraphicFramePr>
            <a:graphicFrameLocks noGrp="1"/>
          </p:cNvGraphicFramePr>
          <p:nvPr>
            <p:extLst>
              <p:ext uri="{D42A27DB-BD31-4B8C-83A1-F6EECF244321}">
                <p14:modId xmlns:p14="http://schemas.microsoft.com/office/powerpoint/2010/main" val="466035390"/>
              </p:ext>
            </p:extLst>
          </p:nvPr>
        </p:nvGraphicFramePr>
        <p:xfrm>
          <a:off x="360000" y="1233995"/>
          <a:ext cx="10994541" cy="5257772"/>
        </p:xfrm>
        <a:graphic>
          <a:graphicData uri="http://schemas.openxmlformats.org/drawingml/2006/table">
            <a:tbl>
              <a:tblPr firstRow="1" firstCol="1" bandRow="1">
                <a:tableStyleId>{5A111915-BE36-4E01-A7E5-04B1672EAD32}</a:tableStyleId>
              </a:tblPr>
              <a:tblGrid>
                <a:gridCol w="2198223">
                  <a:extLst>
                    <a:ext uri="{9D8B030D-6E8A-4147-A177-3AD203B41FA5}">
                      <a16:colId xmlns:a16="http://schemas.microsoft.com/office/drawing/2014/main" val="1635085843"/>
                    </a:ext>
                  </a:extLst>
                </a:gridCol>
                <a:gridCol w="2198223">
                  <a:extLst>
                    <a:ext uri="{9D8B030D-6E8A-4147-A177-3AD203B41FA5}">
                      <a16:colId xmlns:a16="http://schemas.microsoft.com/office/drawing/2014/main" val="2385823301"/>
                    </a:ext>
                  </a:extLst>
                </a:gridCol>
                <a:gridCol w="2199365">
                  <a:extLst>
                    <a:ext uri="{9D8B030D-6E8A-4147-A177-3AD203B41FA5}">
                      <a16:colId xmlns:a16="http://schemas.microsoft.com/office/drawing/2014/main" val="3517711037"/>
                    </a:ext>
                  </a:extLst>
                </a:gridCol>
                <a:gridCol w="2199365">
                  <a:extLst>
                    <a:ext uri="{9D8B030D-6E8A-4147-A177-3AD203B41FA5}">
                      <a16:colId xmlns:a16="http://schemas.microsoft.com/office/drawing/2014/main" val="318578566"/>
                    </a:ext>
                  </a:extLst>
                </a:gridCol>
                <a:gridCol w="2199365">
                  <a:extLst>
                    <a:ext uri="{9D8B030D-6E8A-4147-A177-3AD203B41FA5}">
                      <a16:colId xmlns:a16="http://schemas.microsoft.com/office/drawing/2014/main" val="2092821861"/>
                    </a:ext>
                  </a:extLst>
                </a:gridCol>
              </a:tblGrid>
              <a:tr h="523814">
                <a:tc>
                  <a:txBody>
                    <a:bodyPr/>
                    <a:lstStyle/>
                    <a:p>
                      <a:pPr algn="ct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lnSpc>
                          <a:spcPct val="150000"/>
                        </a:lnSpc>
                        <a:spcBef>
                          <a:spcPts val="1200"/>
                        </a:spcBef>
                        <a:spcAft>
                          <a:spcPts val="600"/>
                        </a:spcAft>
                        <a:buNone/>
                      </a:pPr>
                      <a:r>
                        <a:rPr lang="en-AU" sz="2000">
                          <a:effectLst/>
                        </a:rPr>
                        <a:t>Number rolled</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lnSpc>
                          <a:spcPct val="150000"/>
                        </a:lnSpc>
                        <a:spcBef>
                          <a:spcPts val="1200"/>
                        </a:spcBef>
                        <a:spcAft>
                          <a:spcPts val="600"/>
                        </a:spcAft>
                        <a:buNone/>
                      </a:pPr>
                      <a:r>
                        <a:rPr lang="en-AU" sz="2000">
                          <a:effectLst/>
                        </a:rPr>
                        <a:t>× 10</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lnSpc>
                          <a:spcPct val="150000"/>
                        </a:lnSpc>
                        <a:spcBef>
                          <a:spcPts val="1200"/>
                        </a:spcBef>
                        <a:spcAft>
                          <a:spcPts val="600"/>
                        </a:spcAft>
                        <a:buNone/>
                      </a:pPr>
                      <a:r>
                        <a:rPr lang="en-AU" sz="2000">
                          <a:effectLst/>
                        </a:rPr>
                        <a:t>× 100</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lnSpc>
                          <a:spcPct val="150000"/>
                        </a:lnSpc>
                        <a:spcBef>
                          <a:spcPts val="1200"/>
                        </a:spcBef>
                        <a:spcAft>
                          <a:spcPts val="600"/>
                        </a:spcAft>
                        <a:buNone/>
                      </a:pPr>
                      <a:r>
                        <a:rPr lang="en-AU" sz="2000">
                          <a:effectLst/>
                        </a:rPr>
                        <a:t>× 1000</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965566354"/>
                  </a:ext>
                </a:extLst>
              </a:tr>
              <a:tr h="788993">
                <a:tc>
                  <a:txBody>
                    <a:bodyPr/>
                    <a:lstStyle/>
                    <a:p>
                      <a:pPr>
                        <a:lnSpc>
                          <a:spcPct val="150000"/>
                        </a:lnSpc>
                        <a:spcBef>
                          <a:spcPts val="1200"/>
                        </a:spcBef>
                        <a:spcAft>
                          <a:spcPts val="600"/>
                        </a:spcAft>
                        <a:buNone/>
                      </a:pPr>
                      <a:r>
                        <a:rPr lang="en-AU" sz="2000" b="0">
                          <a:effectLst/>
                        </a:rPr>
                        <a:t>Example</a:t>
                      </a:r>
                      <a:endParaRPr lang="en-AU" sz="20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2000">
                          <a:effectLst/>
                        </a:rPr>
                        <a:t>6</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2000">
                          <a:effectLst/>
                        </a:rPr>
                        <a:t>60</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2000">
                          <a:effectLst/>
                        </a:rPr>
                        <a:t>600</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2000">
                          <a:effectLst/>
                        </a:rPr>
                        <a:t>6000</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4119236"/>
                  </a:ext>
                </a:extLst>
              </a:tr>
              <a:tr h="788993">
                <a:tc>
                  <a:txBody>
                    <a:bodyPr/>
                    <a:lstStyle/>
                    <a:p>
                      <a:pPr>
                        <a:lnSpc>
                          <a:spcPct val="150000"/>
                        </a:lnSpc>
                        <a:spcBef>
                          <a:spcPts val="1200"/>
                        </a:spcBef>
                        <a:spcAft>
                          <a:spcPts val="600"/>
                        </a:spcAft>
                        <a:buNone/>
                      </a:pPr>
                      <a:r>
                        <a:rPr lang="en-AU" sz="2000" b="0">
                          <a:effectLst/>
                        </a:rPr>
                        <a:t>Roll 1</a:t>
                      </a:r>
                      <a:endParaRPr lang="en-AU" sz="20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81863133"/>
                  </a:ext>
                </a:extLst>
              </a:tr>
              <a:tr h="788993">
                <a:tc>
                  <a:txBody>
                    <a:bodyPr/>
                    <a:lstStyle/>
                    <a:p>
                      <a:pPr>
                        <a:lnSpc>
                          <a:spcPct val="150000"/>
                        </a:lnSpc>
                        <a:spcBef>
                          <a:spcPts val="1200"/>
                        </a:spcBef>
                        <a:spcAft>
                          <a:spcPts val="600"/>
                        </a:spcAft>
                        <a:buNone/>
                      </a:pPr>
                      <a:r>
                        <a:rPr lang="en-AU" sz="2000" b="0">
                          <a:effectLst/>
                        </a:rPr>
                        <a:t>Roll 2</a:t>
                      </a:r>
                      <a:endParaRPr lang="en-AU" sz="20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7470912"/>
                  </a:ext>
                </a:extLst>
              </a:tr>
              <a:tr h="788993">
                <a:tc>
                  <a:txBody>
                    <a:bodyPr/>
                    <a:lstStyle/>
                    <a:p>
                      <a:pPr>
                        <a:lnSpc>
                          <a:spcPct val="150000"/>
                        </a:lnSpc>
                        <a:spcBef>
                          <a:spcPts val="1200"/>
                        </a:spcBef>
                        <a:spcAft>
                          <a:spcPts val="600"/>
                        </a:spcAft>
                        <a:buNone/>
                      </a:pPr>
                      <a:r>
                        <a:rPr lang="en-AU" sz="2000" b="0">
                          <a:effectLst/>
                        </a:rPr>
                        <a:t>Roll 3</a:t>
                      </a:r>
                      <a:endParaRPr lang="en-AU" sz="20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32415448"/>
                  </a:ext>
                </a:extLst>
              </a:tr>
              <a:tr h="788993">
                <a:tc>
                  <a:txBody>
                    <a:bodyPr/>
                    <a:lstStyle/>
                    <a:p>
                      <a:pPr>
                        <a:lnSpc>
                          <a:spcPct val="150000"/>
                        </a:lnSpc>
                        <a:spcBef>
                          <a:spcPts val="1200"/>
                        </a:spcBef>
                        <a:spcAft>
                          <a:spcPts val="600"/>
                        </a:spcAft>
                        <a:buNone/>
                      </a:pPr>
                      <a:r>
                        <a:rPr lang="en-AU" sz="2000" b="0">
                          <a:effectLst/>
                        </a:rPr>
                        <a:t>Roll 4</a:t>
                      </a:r>
                      <a:endParaRPr lang="en-AU" sz="20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0169054"/>
                  </a:ext>
                </a:extLst>
              </a:tr>
              <a:tr h="788993">
                <a:tc>
                  <a:txBody>
                    <a:bodyPr/>
                    <a:lstStyle/>
                    <a:p>
                      <a:pPr>
                        <a:lnSpc>
                          <a:spcPct val="150000"/>
                        </a:lnSpc>
                        <a:spcBef>
                          <a:spcPts val="1200"/>
                        </a:spcBef>
                        <a:spcAft>
                          <a:spcPts val="600"/>
                        </a:spcAft>
                        <a:buNone/>
                      </a:pPr>
                      <a:r>
                        <a:rPr lang="en-AU" sz="2000" b="0">
                          <a:effectLst/>
                        </a:rPr>
                        <a:t>Roll 5</a:t>
                      </a:r>
                      <a:endParaRPr lang="en-AU" sz="2000" b="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nSpc>
                          <a:spcPct val="150000"/>
                        </a:lnSpc>
                        <a:spcBef>
                          <a:spcPts val="1200"/>
                        </a:spcBef>
                        <a:spcAft>
                          <a:spcPts val="600"/>
                        </a:spcAft>
                        <a:buNone/>
                      </a:pPr>
                      <a:r>
                        <a:rPr lang="en-AU" sz="2000">
                          <a:effectLst/>
                        </a:rPr>
                        <a:t> </a:t>
                      </a:r>
                      <a:endParaRPr lang="en-AU"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86849981"/>
                  </a:ext>
                </a:extLst>
              </a:tr>
            </a:tbl>
          </a:graphicData>
        </a:graphic>
      </p:graphicFrame>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600963" y="1627708"/>
            <a:ext cx="11243037" cy="893226"/>
          </a:xfrm>
        </p:spPr>
        <p:txBody>
          <a:bodyPr/>
          <a:lstStyle/>
          <a:p>
            <a:pPr algn="ctr"/>
            <a:r>
              <a:rPr lang="en-AU" sz="4400" b="1"/>
              <a:t>850</a:t>
            </a:r>
            <a:r>
              <a:rPr lang="en-AU" sz="4400"/>
              <a:t> is </a:t>
            </a:r>
            <a:r>
              <a:rPr lang="en-AU" sz="4400" b="1"/>
              <a:t>100</a:t>
            </a:r>
            <a:r>
              <a:rPr lang="en-AU" sz="4400"/>
              <a:t> </a:t>
            </a:r>
            <a:r>
              <a:rPr lang="en-AU" sz="4400" b="1"/>
              <a:t>times</a:t>
            </a:r>
            <a:r>
              <a:rPr lang="en-AU" sz="4400"/>
              <a:t> as large as </a:t>
            </a:r>
            <a:r>
              <a:rPr lang="en-AU" sz="4400" b="1"/>
              <a:t>85</a:t>
            </a:r>
            <a:r>
              <a:rPr lang="en-AU" sz="4400"/>
              <a:t>.</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3094517702"/>
              </p:ext>
            </p:extLst>
          </p:nvPr>
        </p:nvGraphicFramePr>
        <p:xfrm>
          <a:off x="2442980" y="3856087"/>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5" name="Text Placeholder 5">
            <a:extLst>
              <a:ext uri="{FF2B5EF4-FFF2-40B4-BE49-F238E27FC236}">
                <a16:creationId xmlns:a16="http://schemas.microsoft.com/office/drawing/2014/main" id="{6AF65BE2-30F4-EC3A-931B-DE2E3C87AEF8}"/>
              </a:ext>
            </a:extLst>
          </p:cNvPr>
          <p:cNvSpPr txBox="1">
            <a:spLocks/>
          </p:cNvSpPr>
          <p:nvPr/>
        </p:nvSpPr>
        <p:spPr>
          <a:xfrm>
            <a:off x="359999" y="5488069"/>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3610E120-6B56-4DB0-96C9-EA977BAFAF64}"/>
              </a:ext>
            </a:extLst>
          </p:cNvPr>
          <p:cNvSpPr txBox="1"/>
          <p:nvPr/>
        </p:nvSpPr>
        <p:spPr>
          <a:xfrm>
            <a:off x="360000" y="996297"/>
            <a:ext cx="11422598" cy="1675367"/>
          </a:xfrm>
          <a:prstGeom prst="rect">
            <a:avLst/>
          </a:prstGeom>
          <a:noFill/>
        </p:spPr>
        <p:txBody>
          <a:bodyPr wrap="square" lIns="0" tIns="0" rIns="0" bIns="0" rtlCol="0">
            <a:noAutofit/>
          </a:bodyPr>
          <a:lstStyle/>
          <a:p>
            <a:pPr algn="ctr">
              <a:lnSpc>
                <a:spcPct val="150000"/>
              </a:lnSpc>
            </a:pPr>
            <a:r>
              <a:rPr lang="en-AU" sz="3600" b="1"/>
              <a:t>Record</a:t>
            </a:r>
            <a:r>
              <a:rPr lang="en-AU" sz="3600"/>
              <a:t> the objects that have a </a:t>
            </a:r>
            <a:r>
              <a:rPr lang="en-AU" sz="3600" b="1"/>
              <a:t>mass</a:t>
            </a:r>
            <a:r>
              <a:rPr lang="en-AU" sz="3600"/>
              <a:t> of about </a:t>
            </a:r>
            <a:r>
              <a:rPr lang="en-AU" sz="3600" b="1"/>
              <a:t>1 kg</a:t>
            </a:r>
            <a:r>
              <a:rPr lang="en-AU" sz="3600"/>
              <a:t>.</a:t>
            </a:r>
          </a:p>
          <a:p>
            <a:pPr algn="ctr">
              <a:lnSpc>
                <a:spcPct val="150000"/>
              </a:lnSpc>
            </a:pPr>
            <a:r>
              <a:rPr lang="en-AU" sz="3600" b="1"/>
              <a:t>Communicate</a:t>
            </a:r>
            <a:r>
              <a:rPr lang="en-AU" sz="3600"/>
              <a:t> your </a:t>
            </a:r>
            <a:r>
              <a:rPr lang="en-AU" sz="3600" b="1"/>
              <a:t>reasoning</a:t>
            </a:r>
            <a:r>
              <a:rPr lang="en-AU" sz="3600"/>
              <a:t>.</a:t>
            </a:r>
          </a:p>
        </p:txBody>
      </p:sp>
      <p:grpSp>
        <p:nvGrpSpPr>
          <p:cNvPr id="23" name="Group 22" descr="A. A bag of sugar.">
            <a:extLst>
              <a:ext uri="{FF2B5EF4-FFF2-40B4-BE49-F238E27FC236}">
                <a16:creationId xmlns:a16="http://schemas.microsoft.com/office/drawing/2014/main" id="{7DE4A39A-E92B-3037-1143-4544D860856F}"/>
              </a:ext>
            </a:extLst>
          </p:cNvPr>
          <p:cNvGrpSpPr/>
          <p:nvPr/>
        </p:nvGrpSpPr>
        <p:grpSpPr>
          <a:xfrm>
            <a:off x="237379" y="4719375"/>
            <a:ext cx="2370196" cy="1754139"/>
            <a:chOff x="992904" y="4734592"/>
            <a:chExt cx="2370196" cy="1754139"/>
          </a:xfrm>
        </p:grpSpPr>
        <p:sp>
          <p:nvSpPr>
            <p:cNvPr id="5" name="Freeform 2">
              <a:extLst>
                <a:ext uri="{FF2B5EF4-FFF2-40B4-BE49-F238E27FC236}">
                  <a16:creationId xmlns:a16="http://schemas.microsoft.com/office/drawing/2014/main" id="{981841D3-4D51-CA4B-E48E-494DC90F9A76}"/>
                </a:ext>
              </a:extLst>
            </p:cNvPr>
            <p:cNvSpPr/>
            <p:nvPr/>
          </p:nvSpPr>
          <p:spPr>
            <a:xfrm>
              <a:off x="1964692" y="5051746"/>
              <a:ext cx="674893" cy="882361"/>
            </a:xfrm>
            <a:custGeom>
              <a:avLst/>
              <a:gdLst/>
              <a:ahLst/>
              <a:cxnLst/>
              <a:rect l="l" t="t" r="r" b="b"/>
              <a:pathLst>
                <a:path w="1810111" h="2454387">
                  <a:moveTo>
                    <a:pt x="0" y="0"/>
                  </a:moveTo>
                  <a:lnTo>
                    <a:pt x="1810111" y="0"/>
                  </a:lnTo>
                  <a:lnTo>
                    <a:pt x="1810111" y="2454387"/>
                  </a:lnTo>
                  <a:lnTo>
                    <a:pt x="0" y="245438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12" name="TextBox 14">
              <a:extLst>
                <a:ext uri="{FF2B5EF4-FFF2-40B4-BE49-F238E27FC236}">
                  <a16:creationId xmlns:a16="http://schemas.microsoft.com/office/drawing/2014/main" id="{472E05A7-2736-7341-DCBD-F4886B9B0B03}"/>
                </a:ext>
              </a:extLst>
            </p:cNvPr>
            <p:cNvSpPr txBox="1"/>
            <p:nvPr/>
          </p:nvSpPr>
          <p:spPr>
            <a:xfrm>
              <a:off x="992904" y="4734592"/>
              <a:ext cx="2121921"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a:t>A</a:t>
              </a:r>
            </a:p>
          </p:txBody>
        </p:sp>
        <p:sp>
          <p:nvSpPr>
            <p:cNvPr id="22" name="TextBox 14">
              <a:extLst>
                <a:ext uri="{FF2B5EF4-FFF2-40B4-BE49-F238E27FC236}">
                  <a16:creationId xmlns:a16="http://schemas.microsoft.com/office/drawing/2014/main" id="{9E32D6C7-2114-56C3-2D4E-51489C2D81B4}"/>
                </a:ext>
              </a:extLst>
            </p:cNvPr>
            <p:cNvSpPr txBox="1"/>
            <p:nvPr/>
          </p:nvSpPr>
          <p:spPr>
            <a:xfrm>
              <a:off x="1241179" y="5943130"/>
              <a:ext cx="2121921"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a:t>bag of sugar</a:t>
              </a:r>
            </a:p>
          </p:txBody>
        </p:sp>
      </p:grpSp>
      <p:grpSp>
        <p:nvGrpSpPr>
          <p:cNvPr id="24" name="Group 23" descr="B. A pencil.">
            <a:extLst>
              <a:ext uri="{FF2B5EF4-FFF2-40B4-BE49-F238E27FC236}">
                <a16:creationId xmlns:a16="http://schemas.microsoft.com/office/drawing/2014/main" id="{8489CA8C-CE34-2960-F94A-60FF6BAC9615}"/>
              </a:ext>
            </a:extLst>
          </p:cNvPr>
          <p:cNvGrpSpPr/>
          <p:nvPr/>
        </p:nvGrpSpPr>
        <p:grpSpPr>
          <a:xfrm>
            <a:off x="2923950" y="5148173"/>
            <a:ext cx="2273684" cy="1275026"/>
            <a:chOff x="3590065" y="5168256"/>
            <a:chExt cx="2273684" cy="1275026"/>
          </a:xfrm>
        </p:grpSpPr>
        <p:sp>
          <p:nvSpPr>
            <p:cNvPr id="10" name="Freeform 4">
              <a:extLst>
                <a:ext uri="{FF2B5EF4-FFF2-40B4-BE49-F238E27FC236}">
                  <a16:creationId xmlns:a16="http://schemas.microsoft.com/office/drawing/2014/main" id="{D7C05375-4149-ADDF-27FC-E66ED0899BF9}"/>
                </a:ext>
              </a:extLst>
            </p:cNvPr>
            <p:cNvSpPr/>
            <p:nvPr/>
          </p:nvSpPr>
          <p:spPr>
            <a:xfrm>
              <a:off x="4545625" y="5375357"/>
              <a:ext cx="738265" cy="442176"/>
            </a:xfrm>
            <a:custGeom>
              <a:avLst/>
              <a:gdLst/>
              <a:ahLst/>
              <a:cxnLst/>
              <a:rect l="l" t="t" r="r" b="b"/>
              <a:pathLst>
                <a:path w="1594541" h="1114186">
                  <a:moveTo>
                    <a:pt x="0" y="0"/>
                  </a:moveTo>
                  <a:lnTo>
                    <a:pt x="1594541" y="0"/>
                  </a:lnTo>
                  <a:lnTo>
                    <a:pt x="1594541" y="1114185"/>
                  </a:lnTo>
                  <a:lnTo>
                    <a:pt x="0" y="1114185"/>
                  </a:lnTo>
                  <a:lnTo>
                    <a:pt x="0" y="0"/>
                  </a:lnTo>
                  <a:close/>
                </a:path>
              </a:pathLst>
            </a:custGeom>
            <a:blipFill>
              <a:blip r:embed="rId5"/>
              <a:stretch>
                <a:fillRect/>
              </a:stretch>
            </a:blipFill>
          </p:spPr>
          <p:txBody>
            <a:bodyPr/>
            <a:lstStyle/>
            <a:p>
              <a:endParaRPr lang="en-AU"/>
            </a:p>
          </p:txBody>
        </p:sp>
        <p:sp>
          <p:nvSpPr>
            <p:cNvPr id="13" name="TextBox 14">
              <a:extLst>
                <a:ext uri="{FF2B5EF4-FFF2-40B4-BE49-F238E27FC236}">
                  <a16:creationId xmlns:a16="http://schemas.microsoft.com/office/drawing/2014/main" id="{E69B61BC-FB70-B80C-634C-EEED5AFFE9CD}"/>
                </a:ext>
              </a:extLst>
            </p:cNvPr>
            <p:cNvSpPr txBox="1"/>
            <p:nvPr/>
          </p:nvSpPr>
          <p:spPr>
            <a:xfrm>
              <a:off x="3590065" y="5168256"/>
              <a:ext cx="2121921"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a:t>B</a:t>
              </a:r>
            </a:p>
          </p:txBody>
        </p:sp>
        <p:sp>
          <p:nvSpPr>
            <p:cNvPr id="21" name="TextBox 14">
              <a:extLst>
                <a:ext uri="{FF2B5EF4-FFF2-40B4-BE49-F238E27FC236}">
                  <a16:creationId xmlns:a16="http://schemas.microsoft.com/office/drawing/2014/main" id="{C5D5D001-0DF5-D5A5-B689-294C3BF436F8}"/>
                </a:ext>
              </a:extLst>
            </p:cNvPr>
            <p:cNvSpPr txBox="1"/>
            <p:nvPr/>
          </p:nvSpPr>
          <p:spPr>
            <a:xfrm>
              <a:off x="3741828" y="5897681"/>
              <a:ext cx="2121921"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a:t>pencil</a:t>
              </a:r>
            </a:p>
          </p:txBody>
        </p:sp>
      </p:grpSp>
      <p:grpSp>
        <p:nvGrpSpPr>
          <p:cNvPr id="25" name="Group 24" descr="C. A bag of flour.">
            <a:extLst>
              <a:ext uri="{FF2B5EF4-FFF2-40B4-BE49-F238E27FC236}">
                <a16:creationId xmlns:a16="http://schemas.microsoft.com/office/drawing/2014/main" id="{AA53B34B-DC49-B467-53F5-B50EE3D407E5}"/>
              </a:ext>
            </a:extLst>
          </p:cNvPr>
          <p:cNvGrpSpPr/>
          <p:nvPr/>
        </p:nvGrpSpPr>
        <p:grpSpPr>
          <a:xfrm>
            <a:off x="5305482" y="4728300"/>
            <a:ext cx="2380896" cy="1696124"/>
            <a:chOff x="5711986" y="4727075"/>
            <a:chExt cx="2380896" cy="1696124"/>
          </a:xfrm>
        </p:grpSpPr>
        <p:sp>
          <p:nvSpPr>
            <p:cNvPr id="9" name="Freeform 3">
              <a:extLst>
                <a:ext uri="{FF2B5EF4-FFF2-40B4-BE49-F238E27FC236}">
                  <a16:creationId xmlns:a16="http://schemas.microsoft.com/office/drawing/2014/main" id="{71B403AF-F159-8CAD-EA85-4DC7E34DBB05}"/>
                </a:ext>
              </a:extLst>
            </p:cNvPr>
            <p:cNvSpPr/>
            <p:nvPr/>
          </p:nvSpPr>
          <p:spPr>
            <a:xfrm>
              <a:off x="6694476" y="5075307"/>
              <a:ext cx="674892" cy="792080"/>
            </a:xfrm>
            <a:custGeom>
              <a:avLst/>
              <a:gdLst/>
              <a:ahLst/>
              <a:cxnLst/>
              <a:rect l="l" t="t" r="r" b="b"/>
              <a:pathLst>
                <a:path w="1889416" h="2406900">
                  <a:moveTo>
                    <a:pt x="0" y="0"/>
                  </a:moveTo>
                  <a:lnTo>
                    <a:pt x="1889416" y="0"/>
                  </a:lnTo>
                  <a:lnTo>
                    <a:pt x="1889416" y="2406899"/>
                  </a:lnTo>
                  <a:lnTo>
                    <a:pt x="0" y="240689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4" name="TextBox 14">
              <a:extLst>
                <a:ext uri="{FF2B5EF4-FFF2-40B4-BE49-F238E27FC236}">
                  <a16:creationId xmlns:a16="http://schemas.microsoft.com/office/drawing/2014/main" id="{199E24F3-8A80-8248-CF90-C363D27DE318}"/>
                </a:ext>
              </a:extLst>
            </p:cNvPr>
            <p:cNvSpPr txBox="1"/>
            <p:nvPr/>
          </p:nvSpPr>
          <p:spPr>
            <a:xfrm>
              <a:off x="5711986" y="4727075"/>
              <a:ext cx="2121921"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a:t>C</a:t>
              </a:r>
            </a:p>
          </p:txBody>
        </p:sp>
        <p:sp>
          <p:nvSpPr>
            <p:cNvPr id="20" name="TextBox 14">
              <a:extLst>
                <a:ext uri="{FF2B5EF4-FFF2-40B4-BE49-F238E27FC236}">
                  <a16:creationId xmlns:a16="http://schemas.microsoft.com/office/drawing/2014/main" id="{AD2DF7D8-B1E8-4ABC-9292-9A4772162706}"/>
                </a:ext>
              </a:extLst>
            </p:cNvPr>
            <p:cNvSpPr txBox="1"/>
            <p:nvPr/>
          </p:nvSpPr>
          <p:spPr>
            <a:xfrm>
              <a:off x="5970961" y="5877598"/>
              <a:ext cx="2121921"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a:t>bag of flour</a:t>
              </a:r>
            </a:p>
          </p:txBody>
        </p:sp>
      </p:grpSp>
      <p:grpSp>
        <p:nvGrpSpPr>
          <p:cNvPr id="26" name="Group 25" descr="D. A school chair.">
            <a:extLst>
              <a:ext uri="{FF2B5EF4-FFF2-40B4-BE49-F238E27FC236}">
                <a16:creationId xmlns:a16="http://schemas.microsoft.com/office/drawing/2014/main" id="{AD4375AF-2E22-5062-13DB-7F6F60F58BEF}"/>
              </a:ext>
            </a:extLst>
          </p:cNvPr>
          <p:cNvGrpSpPr/>
          <p:nvPr/>
        </p:nvGrpSpPr>
        <p:grpSpPr>
          <a:xfrm>
            <a:off x="7427403" y="2671664"/>
            <a:ext cx="4243842" cy="3737183"/>
            <a:chOff x="7833907" y="2675282"/>
            <a:chExt cx="4243842" cy="3737183"/>
          </a:xfrm>
        </p:grpSpPr>
        <p:sp>
          <p:nvSpPr>
            <p:cNvPr id="11" name="Freeform 5">
              <a:extLst>
                <a:ext uri="{FF2B5EF4-FFF2-40B4-BE49-F238E27FC236}">
                  <a16:creationId xmlns:a16="http://schemas.microsoft.com/office/drawing/2014/main" id="{CC09A7E6-08B6-3530-D6D4-C48492165938}"/>
                </a:ext>
              </a:extLst>
            </p:cNvPr>
            <p:cNvSpPr/>
            <p:nvPr/>
          </p:nvSpPr>
          <p:spPr>
            <a:xfrm>
              <a:off x="8657532" y="2923410"/>
              <a:ext cx="2372944" cy="3489055"/>
            </a:xfrm>
            <a:custGeom>
              <a:avLst/>
              <a:gdLst/>
              <a:ahLst/>
              <a:cxnLst/>
              <a:rect l="l" t="t" r="r" b="b"/>
              <a:pathLst>
                <a:path w="2557479" h="3820719">
                  <a:moveTo>
                    <a:pt x="0" y="0"/>
                  </a:moveTo>
                  <a:lnTo>
                    <a:pt x="2557479" y="0"/>
                  </a:lnTo>
                  <a:lnTo>
                    <a:pt x="2557479" y="3820718"/>
                  </a:lnTo>
                  <a:lnTo>
                    <a:pt x="0" y="382071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5" name="TextBox 14">
              <a:extLst>
                <a:ext uri="{FF2B5EF4-FFF2-40B4-BE49-F238E27FC236}">
                  <a16:creationId xmlns:a16="http://schemas.microsoft.com/office/drawing/2014/main" id="{A8004EAF-7640-3561-6252-6A57F382405B}"/>
                </a:ext>
              </a:extLst>
            </p:cNvPr>
            <p:cNvSpPr txBox="1"/>
            <p:nvPr/>
          </p:nvSpPr>
          <p:spPr>
            <a:xfrm>
              <a:off x="7833907" y="2675282"/>
              <a:ext cx="2121921"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a:t>D</a:t>
              </a:r>
            </a:p>
          </p:txBody>
        </p:sp>
        <p:sp>
          <p:nvSpPr>
            <p:cNvPr id="7" name="TextBox 6">
              <a:extLst>
                <a:ext uri="{FF2B5EF4-FFF2-40B4-BE49-F238E27FC236}">
                  <a16:creationId xmlns:a16="http://schemas.microsoft.com/office/drawing/2014/main" id="{8D41BEE6-6517-5A08-709B-486050749E22}"/>
                </a:ext>
              </a:extLst>
            </p:cNvPr>
            <p:cNvSpPr txBox="1"/>
            <p:nvPr/>
          </p:nvSpPr>
          <p:spPr>
            <a:xfrm>
              <a:off x="9955828" y="5865180"/>
              <a:ext cx="2121921"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a:t>school chair</a:t>
              </a:r>
            </a:p>
          </p:txBody>
        </p:sp>
      </p:gr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4" name="TextBox 3">
            <a:extLst>
              <a:ext uri="{FF2B5EF4-FFF2-40B4-BE49-F238E27FC236}">
                <a16:creationId xmlns:a16="http://schemas.microsoft.com/office/drawing/2014/main" id="{B12701A4-D2E3-BB9D-1BC2-97DC78A9833D}"/>
              </a:ext>
            </a:extLst>
          </p:cNvPr>
          <p:cNvSpPr txBox="1"/>
          <p:nvPr/>
        </p:nvSpPr>
        <p:spPr>
          <a:xfrm>
            <a:off x="1223319" y="1763110"/>
            <a:ext cx="10268466" cy="3331779"/>
          </a:xfrm>
          <a:prstGeom prst="rect">
            <a:avLst/>
          </a:prstGeom>
          <a:noFill/>
        </p:spPr>
        <p:txBody>
          <a:bodyPr wrap="square" lIns="0" tIns="0" rIns="0" bIns="0" rtlCol="0">
            <a:noAutofit/>
          </a:bodyPr>
          <a:lstStyle/>
          <a:p>
            <a:pPr marL="742950" indent="-742950">
              <a:lnSpc>
                <a:spcPct val="150000"/>
              </a:lnSpc>
              <a:spcBef>
                <a:spcPts val="1200"/>
              </a:spcBef>
              <a:spcAft>
                <a:spcPts val="600"/>
              </a:spcAft>
              <a:buFont typeface="+mj-lt"/>
              <a:buAutoNum type="alphaLcParenR"/>
            </a:pPr>
            <a:r>
              <a:rPr lang="en-AU" sz="4400"/>
              <a:t>Draw an </a:t>
            </a:r>
            <a:r>
              <a:rPr lang="en-AU" sz="4400" b="1"/>
              <a:t>array</a:t>
            </a:r>
            <a:r>
              <a:rPr lang="en-AU" sz="4400"/>
              <a:t> to show that </a:t>
            </a:r>
            <a:r>
              <a:rPr lang="en-AU" sz="4400" b="1"/>
              <a:t>9</a:t>
            </a:r>
            <a:r>
              <a:rPr lang="en-AU" sz="4400"/>
              <a:t> is a </a:t>
            </a:r>
            <a:r>
              <a:rPr lang="en-AU" sz="4400" b="1"/>
              <a:t>square number</a:t>
            </a:r>
            <a:r>
              <a:rPr lang="en-AU" sz="4400"/>
              <a:t>. </a:t>
            </a:r>
          </a:p>
          <a:p>
            <a:pPr marL="742950" indent="-742950">
              <a:lnSpc>
                <a:spcPct val="150000"/>
              </a:lnSpc>
              <a:spcBef>
                <a:spcPts val="1200"/>
              </a:spcBef>
              <a:spcAft>
                <a:spcPts val="600"/>
              </a:spcAft>
              <a:buFont typeface="+mj-lt"/>
              <a:buAutoNum type="alphaLcParenR"/>
            </a:pPr>
            <a:r>
              <a:rPr lang="en-AU" sz="4400"/>
              <a:t>Record a </a:t>
            </a:r>
            <a:r>
              <a:rPr lang="en-AU" sz="4400" b="1"/>
              <a:t>number sentence </a:t>
            </a:r>
            <a:r>
              <a:rPr lang="en-AU" sz="4400"/>
              <a:t>to match the array.</a:t>
            </a:r>
          </a:p>
          <a:p>
            <a:pPr algn="ctr">
              <a:lnSpc>
                <a:spcPct val="150000"/>
              </a:lnSpc>
            </a:pPr>
            <a:endParaRPr lang="en-AU" sz="4400"/>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00837D5E-30EB-4E7E-8C83-F29F8839574D}"/>
              </a:ext>
            </a:extLst>
          </p:cNvPr>
          <p:cNvSpPr txBox="1"/>
          <p:nvPr/>
        </p:nvSpPr>
        <p:spPr>
          <a:xfrm>
            <a:off x="246024" y="905601"/>
            <a:ext cx="5245395" cy="5431479"/>
          </a:xfrm>
          <a:prstGeom prst="rect">
            <a:avLst/>
          </a:prstGeom>
          <a:noFill/>
        </p:spPr>
        <p:txBody>
          <a:bodyPr wrap="square" lIns="0" tIns="0" rIns="0" bIns="0" rtlCol="0">
            <a:noAutofit/>
          </a:bodyPr>
          <a:lstStyle/>
          <a:p>
            <a:pPr algn="ctr">
              <a:lnSpc>
                <a:spcPct val="150000"/>
              </a:lnSpc>
            </a:pPr>
            <a:r>
              <a:rPr lang="en-AU" sz="2800"/>
              <a:t>Hannah was asked to identify the </a:t>
            </a:r>
            <a:r>
              <a:rPr lang="en-AU" sz="2800" b="1"/>
              <a:t>parallel sides </a:t>
            </a:r>
            <a:r>
              <a:rPr lang="en-AU" sz="2800"/>
              <a:t>of each two-dimensional shape by marking them with different colours for each set.</a:t>
            </a:r>
          </a:p>
          <a:p>
            <a:pPr algn="ctr">
              <a:lnSpc>
                <a:spcPct val="150000"/>
              </a:lnSpc>
            </a:pPr>
            <a:r>
              <a:rPr lang="en-AU" sz="2800"/>
              <a:t>Which of these shapes did Hannah accurately identify </a:t>
            </a:r>
            <a:r>
              <a:rPr lang="en-AU" sz="2800" b="1"/>
              <a:t>all sets of parallel lines</a:t>
            </a:r>
            <a:r>
              <a:rPr lang="en-AU" sz="2800"/>
              <a:t>?</a:t>
            </a:r>
          </a:p>
          <a:p>
            <a:pPr algn="ctr">
              <a:lnSpc>
                <a:spcPct val="150000"/>
              </a:lnSpc>
            </a:pPr>
            <a:r>
              <a:rPr lang="en-AU" sz="2800" b="1"/>
              <a:t>Communicate </a:t>
            </a:r>
            <a:r>
              <a:rPr lang="en-AU" sz="2800"/>
              <a:t>your </a:t>
            </a:r>
            <a:r>
              <a:rPr lang="en-AU" sz="2800" b="1"/>
              <a:t>reasoning</a:t>
            </a:r>
            <a:r>
              <a:rPr lang="en-AU" sz="2800"/>
              <a:t>.</a:t>
            </a:r>
          </a:p>
        </p:txBody>
      </p:sp>
      <p:pic>
        <p:nvPicPr>
          <p:cNvPr id="8" name="Picture 7" descr="6 two-dimensional shapes with sets of parallel lines marked with colour coding. One set of parallel lines have not been included.">
            <a:extLst>
              <a:ext uri="{FF2B5EF4-FFF2-40B4-BE49-F238E27FC236}">
                <a16:creationId xmlns:a16="http://schemas.microsoft.com/office/drawing/2014/main" id="{E65A6B8D-B2B0-C1C8-0C8A-5920576F5145}"/>
              </a:ext>
            </a:extLst>
          </p:cNvPr>
          <p:cNvPicPr>
            <a:picLocks noChangeAspect="1"/>
          </p:cNvPicPr>
          <p:nvPr/>
        </p:nvPicPr>
        <p:blipFill>
          <a:blip r:embed="rId4"/>
          <a:stretch>
            <a:fillRect/>
          </a:stretch>
        </p:blipFill>
        <p:spPr>
          <a:xfrm>
            <a:off x="5738885" y="1436972"/>
            <a:ext cx="6009064" cy="4368737"/>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2A93D5B9-DFB0-3A62-51AD-5F792D2CFAE7}"/>
              </a:ext>
            </a:extLst>
          </p:cNvPr>
          <p:cNvSpPr txBox="1"/>
          <p:nvPr/>
        </p:nvSpPr>
        <p:spPr>
          <a:xfrm>
            <a:off x="359999" y="1641075"/>
            <a:ext cx="9039181" cy="4029501"/>
          </a:xfrm>
          <a:prstGeom prst="rect">
            <a:avLst/>
          </a:prstGeom>
          <a:noFill/>
        </p:spPr>
        <p:txBody>
          <a:bodyPr wrap="square">
            <a:spAutoFit/>
          </a:bodyPr>
          <a:lstStyle/>
          <a:p>
            <a:pPr algn="ctr">
              <a:lnSpc>
                <a:spcPct val="150000"/>
              </a:lnSpc>
              <a:buNone/>
            </a:pPr>
            <a:r>
              <a:rPr lang="en-AU" sz="4400"/>
              <a:t>A </a:t>
            </a:r>
            <a:r>
              <a:rPr lang="en-AU" sz="4400" b="1"/>
              <a:t>six-sided dice </a:t>
            </a:r>
            <a:r>
              <a:rPr lang="en-AU" sz="4400"/>
              <a:t>is rolled </a:t>
            </a:r>
            <a:r>
              <a:rPr lang="en-AU" sz="4400" b="1"/>
              <a:t>twice</a:t>
            </a:r>
            <a:r>
              <a:rPr lang="en-AU" sz="4400"/>
              <a:t>.</a:t>
            </a:r>
          </a:p>
          <a:p>
            <a:pPr algn="ctr">
              <a:lnSpc>
                <a:spcPct val="150000"/>
              </a:lnSpc>
              <a:buNone/>
            </a:pPr>
            <a:endParaRPr lang="en-AU" sz="4400"/>
          </a:p>
          <a:p>
            <a:pPr algn="ctr">
              <a:lnSpc>
                <a:spcPct val="150000"/>
              </a:lnSpc>
            </a:pPr>
            <a:r>
              <a:rPr lang="en-AU" sz="4400"/>
              <a:t>List all </a:t>
            </a:r>
            <a:r>
              <a:rPr lang="en-AU" sz="4400" b="1"/>
              <a:t>possible outcomes </a:t>
            </a:r>
            <a:r>
              <a:rPr lang="en-AU" sz="4400"/>
              <a:t>of this chance experiment.</a:t>
            </a:r>
          </a:p>
        </p:txBody>
      </p:sp>
      <p:sp>
        <p:nvSpPr>
          <p:cNvPr id="4" name="Freeform 3" descr="6-sided die.">
            <a:extLst>
              <a:ext uri="{FF2B5EF4-FFF2-40B4-BE49-F238E27FC236}">
                <a16:creationId xmlns:a16="http://schemas.microsoft.com/office/drawing/2014/main" id="{2D498117-C683-DC93-B268-7BBCE5D3C456}"/>
              </a:ext>
            </a:extLst>
          </p:cNvPr>
          <p:cNvSpPr/>
          <p:nvPr/>
        </p:nvSpPr>
        <p:spPr>
          <a:xfrm>
            <a:off x="9805144" y="2434320"/>
            <a:ext cx="1844247" cy="1989360"/>
          </a:xfrm>
          <a:custGeom>
            <a:avLst/>
            <a:gdLst/>
            <a:ahLst/>
            <a:cxnLst/>
            <a:rect l="l" t="t" r="r" b="b"/>
            <a:pathLst>
              <a:path w="2480738" h="2649653">
                <a:moveTo>
                  <a:pt x="0" y="0"/>
                </a:moveTo>
                <a:lnTo>
                  <a:pt x="2480738" y="0"/>
                </a:lnTo>
                <a:lnTo>
                  <a:pt x="2480738" y="2649654"/>
                </a:lnTo>
                <a:lnTo>
                  <a:pt x="0" y="26496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AU"/>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100 times as large</a:t>
            </a:r>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2050" name="Picture 2" descr="Internet symbol">
            <a:extLst>
              <a:ext uri="{FF2B5EF4-FFF2-40B4-BE49-F238E27FC236}">
                <a16:creationId xmlns:a16="http://schemas.microsoft.com/office/drawing/2014/main" id="{3486B422-5DC1-329A-C054-A940A7B3DE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380" y="1438182"/>
            <a:ext cx="1473693" cy="147369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F5A5D00-9AB6-6228-A0A8-2374CED0DD57}"/>
              </a:ext>
            </a:extLst>
          </p:cNvPr>
          <p:cNvSpPr txBox="1"/>
          <p:nvPr/>
        </p:nvSpPr>
        <p:spPr>
          <a:xfrm>
            <a:off x="2594500" y="1701437"/>
            <a:ext cx="6094520" cy="947182"/>
          </a:xfrm>
          <a:prstGeom prst="rect">
            <a:avLst/>
          </a:prstGeom>
          <a:noFill/>
        </p:spPr>
        <p:txBody>
          <a:bodyPr wrap="square">
            <a:spAutoFit/>
          </a:bodyPr>
          <a:lstStyle/>
          <a:p>
            <a:r>
              <a:rPr lang="en-AU" sz="2400" u="sng">
                <a:solidFill>
                  <a:srgbClr val="2F5496"/>
                </a:solidFill>
                <a:effectLst/>
                <a:latin typeface="Arial" panose="020B0604020202020204" pitchFamily="34" charset="0"/>
                <a:ea typeface="Calibri" panose="020F0502020204030204" pitchFamily="34" charset="0"/>
                <a:hlinkClick r:id="rId5"/>
              </a:rPr>
              <a:t>Place value chart</a:t>
            </a:r>
            <a:endParaRPr lang="en-AU" sz="2400" u="sng">
              <a:solidFill>
                <a:srgbClr val="2F5496"/>
              </a:solidFill>
              <a:effectLst/>
              <a:latin typeface="Arial" panose="020B0604020202020204" pitchFamily="34" charset="0"/>
              <a:ea typeface="Calibri" panose="020F0502020204030204" pitchFamily="34" charset="0"/>
            </a:endParaRPr>
          </a:p>
          <a:p>
            <a:pPr>
              <a:lnSpc>
                <a:spcPct val="150000"/>
              </a:lnSpc>
            </a:pPr>
            <a:r>
              <a:rPr lang="en-AU"/>
              <a:t>https://toytheater.com/place-value-chart/</a:t>
            </a:r>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a:t>
            </a:r>
            <a:r>
              <a:rPr lang="en-US">
                <a:solidFill>
                  <a:schemeClr val="bg1"/>
                </a:solidFill>
              </a:rPr>
              <a:t> (2)</a:t>
            </a:r>
          </a:p>
        </p:txBody>
      </p:sp>
      <p:pic>
        <p:nvPicPr>
          <p:cNvPr id="4" name="Picture 3">
            <a:extLst>
              <a:ext uri="{FF2B5EF4-FFF2-40B4-BE49-F238E27FC236}">
                <a16:creationId xmlns:a16="http://schemas.microsoft.com/office/drawing/2014/main" id="{5F5E1EF3-7C5A-15B4-C7B4-000AE4784B4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474481" y="1324377"/>
            <a:ext cx="11243037" cy="893226"/>
          </a:xfrm>
        </p:spPr>
        <p:txBody>
          <a:bodyPr/>
          <a:lstStyle/>
          <a:p>
            <a:pPr algn="ctr"/>
            <a:r>
              <a:rPr lang="en-US" sz="4200"/>
              <a:t>Which number is </a:t>
            </a:r>
            <a:r>
              <a:rPr lang="en-US" sz="4200" b="1"/>
              <a:t>1000</a:t>
            </a:r>
            <a:r>
              <a:rPr lang="en-US" sz="4200"/>
              <a:t> </a:t>
            </a:r>
            <a:r>
              <a:rPr lang="en-US" sz="4200" b="1"/>
              <a:t>times</a:t>
            </a:r>
            <a:r>
              <a:rPr lang="en-US" sz="4200"/>
              <a:t> as large as </a:t>
            </a:r>
            <a:r>
              <a:rPr lang="en-US" sz="4200" b="1"/>
              <a:t>127</a:t>
            </a:r>
            <a:r>
              <a:rPr lang="en-US" sz="4200"/>
              <a:t>.</a:t>
            </a:r>
          </a:p>
        </p:txBody>
      </p:sp>
      <p:sp>
        <p:nvSpPr>
          <p:cNvPr id="9" name="TextBox 8">
            <a:extLst>
              <a:ext uri="{FF2B5EF4-FFF2-40B4-BE49-F238E27FC236}">
                <a16:creationId xmlns:a16="http://schemas.microsoft.com/office/drawing/2014/main" id="{AF13415D-5ABE-8CE1-9EF6-D83C6FF3BAC9}"/>
              </a:ext>
            </a:extLst>
          </p:cNvPr>
          <p:cNvSpPr txBox="1"/>
          <p:nvPr/>
        </p:nvSpPr>
        <p:spPr>
          <a:xfrm>
            <a:off x="1426048" y="296260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7" name="Text Placeholder 17">
            <a:extLst>
              <a:ext uri="{FF2B5EF4-FFF2-40B4-BE49-F238E27FC236}">
                <a16:creationId xmlns:a16="http://schemas.microsoft.com/office/drawing/2014/main" id="{99B1F0D5-E21E-0031-6909-D32B47209068}"/>
              </a:ext>
            </a:extLst>
          </p:cNvPr>
          <p:cNvSpPr txBox="1">
            <a:spLocks/>
          </p:cNvSpPr>
          <p:nvPr/>
        </p:nvSpPr>
        <p:spPr>
          <a:xfrm>
            <a:off x="670783" y="3865995"/>
            <a:ext cx="1862418"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1027</a:t>
            </a:r>
          </a:p>
        </p:txBody>
      </p:sp>
      <p:sp>
        <p:nvSpPr>
          <p:cNvPr id="10" name="TextBox 9">
            <a:extLst>
              <a:ext uri="{FF2B5EF4-FFF2-40B4-BE49-F238E27FC236}">
                <a16:creationId xmlns:a16="http://schemas.microsoft.com/office/drawing/2014/main" id="{06BFC4FD-CDBD-E74C-2B4B-957276E8D806}"/>
              </a:ext>
            </a:extLst>
          </p:cNvPr>
          <p:cNvSpPr txBox="1"/>
          <p:nvPr/>
        </p:nvSpPr>
        <p:spPr>
          <a:xfrm>
            <a:off x="4430021" y="296260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8" name="Text Placeholder 17">
            <a:extLst>
              <a:ext uri="{FF2B5EF4-FFF2-40B4-BE49-F238E27FC236}">
                <a16:creationId xmlns:a16="http://schemas.microsoft.com/office/drawing/2014/main" id="{29EDEDAE-C2A2-8453-63B5-9269C53EC8CF}"/>
              </a:ext>
            </a:extLst>
          </p:cNvPr>
          <p:cNvSpPr txBox="1">
            <a:spLocks/>
          </p:cNvSpPr>
          <p:nvPr/>
        </p:nvSpPr>
        <p:spPr>
          <a:xfrm>
            <a:off x="3696139" y="3865995"/>
            <a:ext cx="1862418"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1207</a:t>
            </a:r>
          </a:p>
        </p:txBody>
      </p:sp>
      <p:sp>
        <p:nvSpPr>
          <p:cNvPr id="12" name="TextBox 11">
            <a:extLst>
              <a:ext uri="{FF2B5EF4-FFF2-40B4-BE49-F238E27FC236}">
                <a16:creationId xmlns:a16="http://schemas.microsoft.com/office/drawing/2014/main" id="{0CCBA3B1-EB4D-D918-A8D0-B78C7621C52A}"/>
              </a:ext>
            </a:extLst>
          </p:cNvPr>
          <p:cNvSpPr txBox="1"/>
          <p:nvPr/>
        </p:nvSpPr>
        <p:spPr>
          <a:xfrm>
            <a:off x="7433994" y="296260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3" name="Text Placeholder 17">
            <a:extLst>
              <a:ext uri="{FF2B5EF4-FFF2-40B4-BE49-F238E27FC236}">
                <a16:creationId xmlns:a16="http://schemas.microsoft.com/office/drawing/2014/main" id="{C08409B9-2551-E3BC-2DFE-5CCCE9FD6226}"/>
              </a:ext>
            </a:extLst>
          </p:cNvPr>
          <p:cNvSpPr txBox="1">
            <a:spLocks/>
          </p:cNvSpPr>
          <p:nvPr/>
        </p:nvSpPr>
        <p:spPr>
          <a:xfrm>
            <a:off x="6721495" y="3865995"/>
            <a:ext cx="1862418"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1270</a:t>
            </a:r>
          </a:p>
        </p:txBody>
      </p:sp>
      <p:sp>
        <p:nvSpPr>
          <p:cNvPr id="11" name="TextBox 10">
            <a:extLst>
              <a:ext uri="{FF2B5EF4-FFF2-40B4-BE49-F238E27FC236}">
                <a16:creationId xmlns:a16="http://schemas.microsoft.com/office/drawing/2014/main" id="{002A7C63-4C7D-5EB4-47F9-AF81CCED5985}"/>
              </a:ext>
            </a:extLst>
          </p:cNvPr>
          <p:cNvSpPr txBox="1"/>
          <p:nvPr/>
        </p:nvSpPr>
        <p:spPr>
          <a:xfrm>
            <a:off x="10437968" y="296260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7">
            <a:extLst>
              <a:ext uri="{FF2B5EF4-FFF2-40B4-BE49-F238E27FC236}">
                <a16:creationId xmlns:a16="http://schemas.microsoft.com/office/drawing/2014/main" id="{4D5C9D11-87A1-C0E0-C8F0-12D678EA17B0}"/>
              </a:ext>
            </a:extLst>
          </p:cNvPr>
          <p:cNvSpPr txBox="1">
            <a:spLocks/>
          </p:cNvSpPr>
          <p:nvPr/>
        </p:nvSpPr>
        <p:spPr>
          <a:xfrm>
            <a:off x="9675527" y="3865995"/>
            <a:ext cx="1862418"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1007</a:t>
            </a:r>
          </a:p>
        </p:txBody>
      </p:sp>
      <p:sp>
        <p:nvSpPr>
          <p:cNvPr id="5" name="Text Placeholder 5">
            <a:extLst>
              <a:ext uri="{FF2B5EF4-FFF2-40B4-BE49-F238E27FC236}">
                <a16:creationId xmlns:a16="http://schemas.microsoft.com/office/drawing/2014/main" id="{997497C0-C4BA-CBCD-13B8-F47E5FAD748A}"/>
              </a:ext>
            </a:extLst>
          </p:cNvPr>
          <p:cNvSpPr txBox="1">
            <a:spLocks/>
          </p:cNvSpPr>
          <p:nvPr/>
        </p:nvSpPr>
        <p:spPr>
          <a:xfrm>
            <a:off x="359999" y="5488069"/>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Communicate</a:t>
            </a:r>
            <a:r>
              <a:rPr lang="en-AU" sz="4400"/>
              <a:t> your </a:t>
            </a:r>
            <a:r>
              <a:rPr lang="en-AU" sz="4400" b="1"/>
              <a:t>reasoning</a:t>
            </a:r>
            <a:r>
              <a:rPr lang="en-AU" sz="4400"/>
              <a:t>.</a:t>
            </a:r>
          </a:p>
        </p:txBody>
      </p:sp>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DA3697E-A25C-10CF-5A9E-9A4B6EEBB946}"/>
              </a:ext>
            </a:extLst>
          </p:cNvPr>
          <p:cNvSpPr txBox="1"/>
          <p:nvPr/>
        </p:nvSpPr>
        <p:spPr>
          <a:xfrm>
            <a:off x="675234" y="1078345"/>
            <a:ext cx="10808766" cy="1462724"/>
          </a:xfrm>
          <a:prstGeom prst="rect">
            <a:avLst/>
          </a:prstGeom>
          <a:noFill/>
        </p:spPr>
        <p:txBody>
          <a:bodyPr wrap="square" lIns="0" tIns="0" rIns="0" bIns="0" rtlCol="0">
            <a:noAutofit/>
          </a:bodyPr>
          <a:lstStyle/>
          <a:p>
            <a:pPr algn="ctr">
              <a:lnSpc>
                <a:spcPct val="150000"/>
              </a:lnSpc>
            </a:pPr>
            <a:r>
              <a:rPr lang="en-AU" sz="3600"/>
              <a:t>Record the </a:t>
            </a:r>
            <a:r>
              <a:rPr lang="en-AU" sz="3600" b="1"/>
              <a:t>masses</a:t>
            </a:r>
            <a:r>
              <a:rPr lang="en-AU" sz="3600"/>
              <a:t> of the objects using the abbreviation for </a:t>
            </a:r>
            <a:r>
              <a:rPr lang="en-AU" sz="3600" b="1"/>
              <a:t>kilograms (kg)</a:t>
            </a:r>
            <a:r>
              <a:rPr lang="en-AU" sz="3600"/>
              <a:t>.</a:t>
            </a:r>
          </a:p>
        </p:txBody>
      </p:sp>
      <p:grpSp>
        <p:nvGrpSpPr>
          <p:cNvPr id="8" name="Group 7" descr="3 books on an equal arm balance with 3 one kilogram weights.">
            <a:extLst>
              <a:ext uri="{FF2B5EF4-FFF2-40B4-BE49-F238E27FC236}">
                <a16:creationId xmlns:a16="http://schemas.microsoft.com/office/drawing/2014/main" id="{EF057553-D651-FDE9-D969-BFE04EE06553}"/>
              </a:ext>
            </a:extLst>
          </p:cNvPr>
          <p:cNvGrpSpPr/>
          <p:nvPr/>
        </p:nvGrpSpPr>
        <p:grpSpPr>
          <a:xfrm>
            <a:off x="360000" y="3460184"/>
            <a:ext cx="4934476" cy="3037816"/>
            <a:chOff x="559731" y="3478184"/>
            <a:chExt cx="4934476" cy="3037816"/>
          </a:xfrm>
        </p:grpSpPr>
        <p:grpSp>
          <p:nvGrpSpPr>
            <p:cNvPr id="12" name="Group 11" descr="3 books on an equal arm balance with 3 one kilogram weights.">
              <a:extLst>
                <a:ext uri="{FF2B5EF4-FFF2-40B4-BE49-F238E27FC236}">
                  <a16:creationId xmlns:a16="http://schemas.microsoft.com/office/drawing/2014/main" id="{35C3E8F3-D6A1-9FFF-A294-62181E053F47}"/>
                </a:ext>
              </a:extLst>
            </p:cNvPr>
            <p:cNvGrpSpPr/>
            <p:nvPr/>
          </p:nvGrpSpPr>
          <p:grpSpPr>
            <a:xfrm>
              <a:off x="559731" y="3478184"/>
              <a:ext cx="4934476" cy="3037816"/>
              <a:chOff x="609158" y="3568184"/>
              <a:chExt cx="4934476" cy="3037816"/>
            </a:xfrm>
            <a:effectLst/>
          </p:grpSpPr>
          <p:pic>
            <p:nvPicPr>
              <p:cNvPr id="7" name="Picture 6">
                <a:extLst>
                  <a:ext uri="{FF2B5EF4-FFF2-40B4-BE49-F238E27FC236}">
                    <a16:creationId xmlns:a16="http://schemas.microsoft.com/office/drawing/2014/main" id="{2714EE17-6F84-F74F-E065-46530C865A77}"/>
                  </a:ext>
                </a:extLst>
              </p:cNvPr>
              <p:cNvPicPr>
                <a:picLocks noChangeAspect="1"/>
              </p:cNvPicPr>
              <p:nvPr/>
            </p:nvPicPr>
            <p:blipFill>
              <a:blip r:embed="rId4"/>
              <a:stretch>
                <a:fillRect/>
              </a:stretch>
            </p:blipFill>
            <p:spPr>
              <a:xfrm>
                <a:off x="609158" y="3664647"/>
                <a:ext cx="4934476" cy="2941353"/>
              </a:xfrm>
              <a:prstGeom prst="rect">
                <a:avLst/>
              </a:prstGeom>
              <a:ln>
                <a:noFill/>
              </a:ln>
              <a:effectLst/>
            </p:spPr>
          </p:pic>
          <p:sp>
            <p:nvSpPr>
              <p:cNvPr id="10" name="TextBox 9">
                <a:extLst>
                  <a:ext uri="{FF2B5EF4-FFF2-40B4-BE49-F238E27FC236}">
                    <a16:creationId xmlns:a16="http://schemas.microsoft.com/office/drawing/2014/main" id="{3E37D399-A682-48E5-764A-DE90B9B983B0}"/>
                  </a:ext>
                </a:extLst>
              </p:cNvPr>
              <p:cNvSpPr txBox="1"/>
              <p:nvPr/>
            </p:nvSpPr>
            <p:spPr>
              <a:xfrm>
                <a:off x="1028071" y="3568184"/>
                <a:ext cx="2077591" cy="599328"/>
              </a:xfrm>
              <a:prstGeom prst="rect">
                <a:avLst/>
              </a:prstGeom>
              <a:noFill/>
            </p:spPr>
            <p:txBody>
              <a:bodyPr wrap="square" lIns="0" tIns="0" rIns="0" bIns="0" rtlCol="0">
                <a:noAutofit/>
              </a:bodyPr>
              <a:lstStyle/>
              <a:p>
                <a:pPr algn="l"/>
                <a:r>
                  <a:rPr lang="en-AU" sz="3600"/>
                  <a:t>A</a:t>
                </a:r>
              </a:p>
            </p:txBody>
          </p:sp>
        </p:grpSp>
        <p:sp>
          <p:nvSpPr>
            <p:cNvPr id="5" name="TextBox 4">
              <a:extLst>
                <a:ext uri="{FF2B5EF4-FFF2-40B4-BE49-F238E27FC236}">
                  <a16:creationId xmlns:a16="http://schemas.microsoft.com/office/drawing/2014/main" id="{3ED886F8-88A6-E9CC-AA8B-B7C19E9A88D2}"/>
                </a:ext>
              </a:extLst>
            </p:cNvPr>
            <p:cNvSpPr txBox="1"/>
            <p:nvPr/>
          </p:nvSpPr>
          <p:spPr>
            <a:xfrm>
              <a:off x="3343729" y="5673385"/>
              <a:ext cx="2077591" cy="599328"/>
            </a:xfrm>
            <a:prstGeom prst="rect">
              <a:avLst/>
            </a:prstGeom>
            <a:noFill/>
          </p:spPr>
          <p:txBody>
            <a:bodyPr wrap="square" lIns="0" tIns="0" rIns="0" bIns="0" rtlCol="0">
              <a:noAutofit/>
            </a:bodyPr>
            <a:lstStyle/>
            <a:p>
              <a:pPr algn="ctr"/>
              <a:r>
                <a:rPr lang="en-AU" sz="3600"/>
                <a:t>books</a:t>
              </a:r>
            </a:p>
          </p:txBody>
        </p:sp>
      </p:grpSp>
      <p:grpSp>
        <p:nvGrpSpPr>
          <p:cNvPr id="15" name="Group 14" descr="A water bottle on an equal arm balance with 2 one kilogram weights.">
            <a:extLst>
              <a:ext uri="{FF2B5EF4-FFF2-40B4-BE49-F238E27FC236}">
                <a16:creationId xmlns:a16="http://schemas.microsoft.com/office/drawing/2014/main" id="{5A990F68-E0CC-F580-266D-86C5CFD1A9A0}"/>
              </a:ext>
            </a:extLst>
          </p:cNvPr>
          <p:cNvGrpSpPr/>
          <p:nvPr/>
        </p:nvGrpSpPr>
        <p:grpSpPr>
          <a:xfrm>
            <a:off x="6208628" y="2987005"/>
            <a:ext cx="5621559" cy="3660943"/>
            <a:chOff x="6570441" y="2990895"/>
            <a:chExt cx="5621559" cy="3660943"/>
          </a:xfrm>
        </p:grpSpPr>
        <p:grpSp>
          <p:nvGrpSpPr>
            <p:cNvPr id="13" name="Group 12" descr="A water bottle on an equal arm balance with 2 one kilogram weights.">
              <a:extLst>
                <a:ext uri="{FF2B5EF4-FFF2-40B4-BE49-F238E27FC236}">
                  <a16:creationId xmlns:a16="http://schemas.microsoft.com/office/drawing/2014/main" id="{D6CC3730-287F-B1AE-388A-C812B008D70F}"/>
                </a:ext>
              </a:extLst>
            </p:cNvPr>
            <p:cNvGrpSpPr/>
            <p:nvPr/>
          </p:nvGrpSpPr>
          <p:grpSpPr>
            <a:xfrm>
              <a:off x="6570441" y="2990895"/>
              <a:ext cx="4642915" cy="3660943"/>
              <a:chOff x="6570441" y="2990895"/>
              <a:chExt cx="4642915" cy="3660943"/>
            </a:xfrm>
          </p:grpSpPr>
          <p:pic>
            <p:nvPicPr>
              <p:cNvPr id="9" name="Picture 8" descr="A water bottle on an equal arm balance with 2 one kilogram weights.">
                <a:extLst>
                  <a:ext uri="{FF2B5EF4-FFF2-40B4-BE49-F238E27FC236}">
                    <a16:creationId xmlns:a16="http://schemas.microsoft.com/office/drawing/2014/main" id="{C5897749-6A1E-B0C0-81C5-02D2C7FCDFFD}"/>
                  </a:ext>
                </a:extLst>
              </p:cNvPr>
              <p:cNvPicPr>
                <a:picLocks noChangeAspect="1"/>
              </p:cNvPicPr>
              <p:nvPr/>
            </p:nvPicPr>
            <p:blipFill>
              <a:blip r:embed="rId5"/>
              <a:stretch>
                <a:fillRect/>
              </a:stretch>
            </p:blipFill>
            <p:spPr>
              <a:xfrm>
                <a:off x="6570441" y="2990895"/>
                <a:ext cx="4642915" cy="3660943"/>
              </a:xfrm>
              <a:prstGeom prst="rect">
                <a:avLst/>
              </a:prstGeom>
              <a:ln>
                <a:noFill/>
              </a:ln>
              <a:effectLst/>
            </p:spPr>
          </p:pic>
          <p:sp>
            <p:nvSpPr>
              <p:cNvPr id="11" name="TextBox 10">
                <a:extLst>
                  <a:ext uri="{FF2B5EF4-FFF2-40B4-BE49-F238E27FC236}">
                    <a16:creationId xmlns:a16="http://schemas.microsoft.com/office/drawing/2014/main" id="{B7437617-86FB-95A1-D5E7-F16E569ADFBF}"/>
                  </a:ext>
                </a:extLst>
              </p:cNvPr>
              <p:cNvSpPr txBox="1"/>
              <p:nvPr/>
            </p:nvSpPr>
            <p:spPr>
              <a:xfrm>
                <a:off x="6641293" y="3629542"/>
                <a:ext cx="3032096" cy="599328"/>
              </a:xfrm>
              <a:prstGeom prst="rect">
                <a:avLst/>
              </a:prstGeom>
              <a:noFill/>
              <a:effectLst/>
            </p:spPr>
            <p:txBody>
              <a:bodyPr wrap="square" lIns="0" tIns="0" rIns="0" bIns="0" rtlCol="0">
                <a:noAutofit/>
              </a:bodyPr>
              <a:lstStyle/>
              <a:p>
                <a:pPr algn="l"/>
                <a:r>
                  <a:rPr lang="en-AU" sz="3600"/>
                  <a:t>B</a:t>
                </a:r>
              </a:p>
            </p:txBody>
          </p:sp>
        </p:grpSp>
        <p:sp>
          <p:nvSpPr>
            <p:cNvPr id="14" name="TextBox 13">
              <a:extLst>
                <a:ext uri="{FF2B5EF4-FFF2-40B4-BE49-F238E27FC236}">
                  <a16:creationId xmlns:a16="http://schemas.microsoft.com/office/drawing/2014/main" id="{2E78A081-254C-75F2-FC4E-E64667E820E8}"/>
                </a:ext>
              </a:extLst>
            </p:cNvPr>
            <p:cNvSpPr txBox="1"/>
            <p:nvPr/>
          </p:nvSpPr>
          <p:spPr>
            <a:xfrm>
              <a:off x="9159904" y="5819089"/>
              <a:ext cx="3032096" cy="599328"/>
            </a:xfrm>
            <a:prstGeom prst="rect">
              <a:avLst/>
            </a:prstGeom>
            <a:noFill/>
            <a:effectLst/>
          </p:spPr>
          <p:txBody>
            <a:bodyPr wrap="square" lIns="0" tIns="0" rIns="0" bIns="0" rtlCol="0">
              <a:noAutofit/>
            </a:bodyPr>
            <a:lstStyle/>
            <a:p>
              <a:pPr algn="ctr"/>
              <a:r>
                <a:rPr lang="en-AU" sz="3600"/>
                <a:t>water bottle</a:t>
              </a:r>
            </a:p>
          </p:txBody>
        </p:sp>
      </p:gr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a:xfrm>
            <a:off x="11225976" y="6557948"/>
            <a:ext cx="720000" cy="180000"/>
          </a:xfrm>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4" name="TextBox 3">
            <a:extLst>
              <a:ext uri="{FF2B5EF4-FFF2-40B4-BE49-F238E27FC236}">
                <a16:creationId xmlns:a16="http://schemas.microsoft.com/office/drawing/2014/main" id="{317E0C6E-430C-7396-9557-FBA9350BCAB5}"/>
              </a:ext>
            </a:extLst>
          </p:cNvPr>
          <p:cNvSpPr txBox="1"/>
          <p:nvPr/>
        </p:nvSpPr>
        <p:spPr>
          <a:xfrm>
            <a:off x="421738" y="1184223"/>
            <a:ext cx="11348524" cy="1502980"/>
          </a:xfrm>
          <a:prstGeom prst="rect">
            <a:avLst/>
          </a:prstGeom>
          <a:noFill/>
        </p:spPr>
        <p:txBody>
          <a:bodyPr wrap="square" lIns="0" tIns="0" rIns="0" bIns="0" rtlCol="0">
            <a:noAutofit/>
          </a:bodyPr>
          <a:lstStyle/>
          <a:p>
            <a:pPr algn="ctr">
              <a:lnSpc>
                <a:spcPct val="150000"/>
              </a:lnSpc>
            </a:pPr>
            <a:r>
              <a:rPr lang="en-AU" sz="4400"/>
              <a:t>Find the </a:t>
            </a:r>
            <a:r>
              <a:rPr lang="en-AU" sz="4400" b="1"/>
              <a:t>total</a:t>
            </a:r>
            <a:r>
              <a:rPr lang="en-AU" sz="4400"/>
              <a:t> of the </a:t>
            </a:r>
            <a:r>
              <a:rPr lang="en-AU" sz="4400" b="1"/>
              <a:t>partially covered array</a:t>
            </a:r>
            <a:r>
              <a:rPr lang="en-AU" sz="4400"/>
              <a:t>.</a:t>
            </a:r>
          </a:p>
        </p:txBody>
      </p:sp>
      <p:pic>
        <p:nvPicPr>
          <p:cNvPr id="7" name="Picture 6" descr="A partially covered array showing 4 rows of 8.">
            <a:extLst>
              <a:ext uri="{FF2B5EF4-FFF2-40B4-BE49-F238E27FC236}">
                <a16:creationId xmlns:a16="http://schemas.microsoft.com/office/drawing/2014/main" id="{C43252DF-4017-F194-26A0-8E2B3B0E6E38}"/>
              </a:ext>
            </a:extLst>
          </p:cNvPr>
          <p:cNvPicPr>
            <a:picLocks noChangeAspect="1"/>
          </p:cNvPicPr>
          <p:nvPr/>
        </p:nvPicPr>
        <p:blipFill>
          <a:blip r:embed="rId4"/>
          <a:stretch>
            <a:fillRect/>
          </a:stretch>
        </p:blipFill>
        <p:spPr>
          <a:xfrm>
            <a:off x="2661022" y="2313127"/>
            <a:ext cx="7080221" cy="4184873"/>
          </a:xfrm>
          <a:prstGeom prst="rect">
            <a:avLst/>
          </a:prstGeom>
          <a:ln>
            <a:noFill/>
          </a:ln>
          <a:effectLst/>
        </p:spPr>
      </p:pic>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C97CC3B-206F-1C9F-0DD4-84C9D2EDF9CC}"/>
              </a:ext>
            </a:extLst>
          </p:cNvPr>
          <p:cNvSpPr txBox="1"/>
          <p:nvPr/>
        </p:nvSpPr>
        <p:spPr>
          <a:xfrm>
            <a:off x="360000" y="1034735"/>
            <a:ext cx="11003629" cy="1509824"/>
          </a:xfrm>
          <a:prstGeom prst="rect">
            <a:avLst/>
          </a:prstGeom>
          <a:noFill/>
        </p:spPr>
        <p:txBody>
          <a:bodyPr wrap="square" lIns="0" tIns="0" rIns="0" bIns="0" rtlCol="0">
            <a:noAutofit/>
          </a:bodyPr>
          <a:lstStyle/>
          <a:p>
            <a:pPr algn="ctr">
              <a:lnSpc>
                <a:spcPct val="150000"/>
              </a:lnSpc>
            </a:pPr>
            <a:r>
              <a:rPr lang="en-AU" sz="4000"/>
              <a:t>Identify the </a:t>
            </a:r>
            <a:r>
              <a:rPr lang="en-AU" sz="4000" b="1"/>
              <a:t>quadrilaterals</a:t>
            </a:r>
            <a:r>
              <a:rPr lang="en-AU" sz="4000"/>
              <a:t> that </a:t>
            </a:r>
            <a:r>
              <a:rPr lang="en-AU" sz="4000" b="1"/>
              <a:t>do </a:t>
            </a:r>
            <a:r>
              <a:rPr lang="en-AU" sz="4000"/>
              <a:t>and </a:t>
            </a:r>
            <a:r>
              <a:rPr lang="en-AU" sz="4000" b="1"/>
              <a:t>do not </a:t>
            </a:r>
            <a:r>
              <a:rPr lang="en-AU" sz="4000"/>
              <a:t>have </a:t>
            </a:r>
            <a:r>
              <a:rPr lang="en-AU" sz="4000" b="1"/>
              <a:t>lines of symmetry</a:t>
            </a:r>
            <a:r>
              <a:rPr lang="en-AU" sz="4000"/>
              <a:t>. </a:t>
            </a:r>
          </a:p>
        </p:txBody>
      </p:sp>
      <p:grpSp>
        <p:nvGrpSpPr>
          <p:cNvPr id="10" name="Group 9" descr="A. a blue trapezium.">
            <a:extLst>
              <a:ext uri="{FF2B5EF4-FFF2-40B4-BE49-F238E27FC236}">
                <a16:creationId xmlns:a16="http://schemas.microsoft.com/office/drawing/2014/main" id="{B9EDBC26-53A0-6146-1B2A-3F29E5EA91BA}"/>
              </a:ext>
            </a:extLst>
          </p:cNvPr>
          <p:cNvGrpSpPr/>
          <p:nvPr/>
        </p:nvGrpSpPr>
        <p:grpSpPr>
          <a:xfrm>
            <a:off x="169870" y="3449728"/>
            <a:ext cx="2219776" cy="2402323"/>
            <a:chOff x="169870" y="3449728"/>
            <a:chExt cx="2219776" cy="2402323"/>
          </a:xfrm>
        </p:grpSpPr>
        <p:grpSp>
          <p:nvGrpSpPr>
            <p:cNvPr id="48" name="Group 47" descr="A. a blue trapezium.">
              <a:extLst>
                <a:ext uri="{FF2B5EF4-FFF2-40B4-BE49-F238E27FC236}">
                  <a16:creationId xmlns:a16="http://schemas.microsoft.com/office/drawing/2014/main" id="{02BC1E9D-768A-9DCE-2559-12D933B9C8FF}"/>
                </a:ext>
              </a:extLst>
            </p:cNvPr>
            <p:cNvGrpSpPr/>
            <p:nvPr/>
          </p:nvGrpSpPr>
          <p:grpSpPr>
            <a:xfrm>
              <a:off x="503489" y="3449728"/>
              <a:ext cx="1552539" cy="1930755"/>
              <a:chOff x="530785" y="3961519"/>
              <a:chExt cx="1552539" cy="1930755"/>
            </a:xfrm>
          </p:grpSpPr>
          <p:pic>
            <p:nvPicPr>
              <p:cNvPr id="34" name="Picture 33">
                <a:extLst>
                  <a:ext uri="{FF2B5EF4-FFF2-40B4-BE49-F238E27FC236}">
                    <a16:creationId xmlns:a16="http://schemas.microsoft.com/office/drawing/2014/main" id="{E396EDAE-E4A0-5B08-A93E-99F3F74496F6}"/>
                  </a:ext>
                </a:extLst>
              </p:cNvPr>
              <p:cNvPicPr>
                <a:picLocks noChangeAspect="1"/>
              </p:cNvPicPr>
              <p:nvPr/>
            </p:nvPicPr>
            <p:blipFill>
              <a:blip r:embed="rId4"/>
              <a:stretch>
                <a:fillRect/>
              </a:stretch>
            </p:blipFill>
            <p:spPr>
              <a:xfrm>
                <a:off x="530785" y="3961519"/>
                <a:ext cx="1552539" cy="1930755"/>
              </a:xfrm>
              <a:prstGeom prst="rect">
                <a:avLst/>
              </a:prstGeom>
            </p:spPr>
          </p:pic>
          <p:sp>
            <p:nvSpPr>
              <p:cNvPr id="44" name="TextBox 14">
                <a:extLst>
                  <a:ext uri="{FF2B5EF4-FFF2-40B4-BE49-F238E27FC236}">
                    <a16:creationId xmlns:a16="http://schemas.microsoft.com/office/drawing/2014/main" id="{0A093EEB-0541-E6B4-0FC2-38CB2078E9D6}"/>
                  </a:ext>
                </a:extLst>
              </p:cNvPr>
              <p:cNvSpPr txBox="1"/>
              <p:nvPr/>
            </p:nvSpPr>
            <p:spPr>
              <a:xfrm>
                <a:off x="530785" y="4006123"/>
                <a:ext cx="444156"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a:t>A</a:t>
                </a:r>
              </a:p>
            </p:txBody>
          </p:sp>
        </p:grpSp>
        <p:sp>
          <p:nvSpPr>
            <p:cNvPr id="9" name="TextBox 14">
              <a:extLst>
                <a:ext uri="{FF2B5EF4-FFF2-40B4-BE49-F238E27FC236}">
                  <a16:creationId xmlns:a16="http://schemas.microsoft.com/office/drawing/2014/main" id="{6745A9DC-F86A-0340-4F03-9DAFCAF4B89B}"/>
                </a:ext>
              </a:extLst>
            </p:cNvPr>
            <p:cNvSpPr txBox="1"/>
            <p:nvPr/>
          </p:nvSpPr>
          <p:spPr>
            <a:xfrm>
              <a:off x="169870" y="5306450"/>
              <a:ext cx="2219776"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a:t>trapezium</a:t>
              </a:r>
            </a:p>
          </p:txBody>
        </p:sp>
      </p:grpSp>
      <p:grpSp>
        <p:nvGrpSpPr>
          <p:cNvPr id="11" name="Group 10" descr="B. a purple parallelogram.">
            <a:extLst>
              <a:ext uri="{FF2B5EF4-FFF2-40B4-BE49-F238E27FC236}">
                <a16:creationId xmlns:a16="http://schemas.microsoft.com/office/drawing/2014/main" id="{55060D6D-83E5-3DD6-89C8-6B9B6A564D3B}"/>
              </a:ext>
            </a:extLst>
          </p:cNvPr>
          <p:cNvGrpSpPr/>
          <p:nvPr/>
        </p:nvGrpSpPr>
        <p:grpSpPr>
          <a:xfrm>
            <a:off x="2469058" y="3398013"/>
            <a:ext cx="2953281" cy="1908437"/>
            <a:chOff x="2469058" y="3398013"/>
            <a:chExt cx="2953281" cy="1908437"/>
          </a:xfrm>
        </p:grpSpPr>
        <p:grpSp>
          <p:nvGrpSpPr>
            <p:cNvPr id="49" name="Group 48" descr="B. a purple parallelogram.">
              <a:extLst>
                <a:ext uri="{FF2B5EF4-FFF2-40B4-BE49-F238E27FC236}">
                  <a16:creationId xmlns:a16="http://schemas.microsoft.com/office/drawing/2014/main" id="{36CA28C5-A9D2-B825-1DB1-518CDDCDDC94}"/>
                </a:ext>
              </a:extLst>
            </p:cNvPr>
            <p:cNvGrpSpPr/>
            <p:nvPr/>
          </p:nvGrpSpPr>
          <p:grpSpPr>
            <a:xfrm>
              <a:off x="2469058" y="3398013"/>
              <a:ext cx="2953281" cy="1362836"/>
              <a:chOff x="2496354" y="3909804"/>
              <a:chExt cx="2953281" cy="1362836"/>
            </a:xfrm>
          </p:grpSpPr>
          <p:pic>
            <p:nvPicPr>
              <p:cNvPr id="36" name="Picture 35">
                <a:extLst>
                  <a:ext uri="{FF2B5EF4-FFF2-40B4-BE49-F238E27FC236}">
                    <a16:creationId xmlns:a16="http://schemas.microsoft.com/office/drawing/2014/main" id="{E00F5B36-B707-FFCA-176E-E5BA5135046E}"/>
                  </a:ext>
                </a:extLst>
              </p:cNvPr>
              <p:cNvPicPr>
                <a:picLocks noChangeAspect="1"/>
              </p:cNvPicPr>
              <p:nvPr/>
            </p:nvPicPr>
            <p:blipFill>
              <a:blip r:embed="rId5"/>
              <a:stretch>
                <a:fillRect/>
              </a:stretch>
            </p:blipFill>
            <p:spPr>
              <a:xfrm>
                <a:off x="2496354" y="4100052"/>
                <a:ext cx="2953281" cy="1172588"/>
              </a:xfrm>
              <a:prstGeom prst="rect">
                <a:avLst/>
              </a:prstGeom>
            </p:spPr>
          </p:pic>
          <p:sp>
            <p:nvSpPr>
              <p:cNvPr id="45" name="TextBox 14">
                <a:extLst>
                  <a:ext uri="{FF2B5EF4-FFF2-40B4-BE49-F238E27FC236}">
                    <a16:creationId xmlns:a16="http://schemas.microsoft.com/office/drawing/2014/main" id="{93BEF28D-B207-E387-5B00-232CF0B2ED85}"/>
                  </a:ext>
                </a:extLst>
              </p:cNvPr>
              <p:cNvSpPr txBox="1"/>
              <p:nvPr/>
            </p:nvSpPr>
            <p:spPr>
              <a:xfrm>
                <a:off x="3298769" y="3909804"/>
                <a:ext cx="444156"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a:t>B</a:t>
                </a:r>
              </a:p>
            </p:txBody>
          </p:sp>
        </p:grpSp>
        <p:sp>
          <p:nvSpPr>
            <p:cNvPr id="24" name="TextBox 14">
              <a:extLst>
                <a:ext uri="{FF2B5EF4-FFF2-40B4-BE49-F238E27FC236}">
                  <a16:creationId xmlns:a16="http://schemas.microsoft.com/office/drawing/2014/main" id="{B22B2698-BE50-4007-126A-37C3ABDA85ED}"/>
                </a:ext>
              </a:extLst>
            </p:cNvPr>
            <p:cNvSpPr txBox="1"/>
            <p:nvPr/>
          </p:nvSpPr>
          <p:spPr>
            <a:xfrm>
              <a:off x="2794386" y="4760849"/>
              <a:ext cx="2219776"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a:t>parallelogram</a:t>
              </a:r>
            </a:p>
          </p:txBody>
        </p:sp>
      </p:grpSp>
      <p:grpSp>
        <p:nvGrpSpPr>
          <p:cNvPr id="12" name="Group 11" descr="C. an orange rhombus.">
            <a:extLst>
              <a:ext uri="{FF2B5EF4-FFF2-40B4-BE49-F238E27FC236}">
                <a16:creationId xmlns:a16="http://schemas.microsoft.com/office/drawing/2014/main" id="{392DB469-9250-B713-D208-6DB100AA1F4A}"/>
              </a:ext>
            </a:extLst>
          </p:cNvPr>
          <p:cNvGrpSpPr/>
          <p:nvPr/>
        </p:nvGrpSpPr>
        <p:grpSpPr>
          <a:xfrm>
            <a:off x="5283392" y="3318298"/>
            <a:ext cx="2368574" cy="2427100"/>
            <a:chOff x="5283392" y="3318298"/>
            <a:chExt cx="2368574" cy="2427100"/>
          </a:xfrm>
        </p:grpSpPr>
        <p:grpSp>
          <p:nvGrpSpPr>
            <p:cNvPr id="50" name="Group 49" descr="C. an orange rhombus.">
              <a:extLst>
                <a:ext uri="{FF2B5EF4-FFF2-40B4-BE49-F238E27FC236}">
                  <a16:creationId xmlns:a16="http://schemas.microsoft.com/office/drawing/2014/main" id="{73D0B96F-8C7E-077B-619E-6148D36A7AF6}"/>
                </a:ext>
              </a:extLst>
            </p:cNvPr>
            <p:cNvGrpSpPr/>
            <p:nvPr/>
          </p:nvGrpSpPr>
          <p:grpSpPr>
            <a:xfrm>
              <a:off x="5616053" y="3318298"/>
              <a:ext cx="2035913" cy="1881499"/>
              <a:chOff x="5758761" y="3830089"/>
              <a:chExt cx="1920501" cy="1881499"/>
            </a:xfrm>
          </p:grpSpPr>
          <p:pic>
            <p:nvPicPr>
              <p:cNvPr id="38" name="Picture 37">
                <a:extLst>
                  <a:ext uri="{FF2B5EF4-FFF2-40B4-BE49-F238E27FC236}">
                    <a16:creationId xmlns:a16="http://schemas.microsoft.com/office/drawing/2014/main" id="{CAAACAB6-E1F5-B68D-D164-C29229AFF7FC}"/>
                  </a:ext>
                </a:extLst>
              </p:cNvPr>
              <p:cNvPicPr>
                <a:picLocks noChangeAspect="1"/>
              </p:cNvPicPr>
              <p:nvPr/>
            </p:nvPicPr>
            <p:blipFill>
              <a:blip r:embed="rId6"/>
              <a:stretch>
                <a:fillRect/>
              </a:stretch>
            </p:blipFill>
            <p:spPr>
              <a:xfrm>
                <a:off x="5758761" y="4100052"/>
                <a:ext cx="1920501" cy="1611536"/>
              </a:xfrm>
              <a:prstGeom prst="rect">
                <a:avLst/>
              </a:prstGeom>
            </p:spPr>
          </p:pic>
          <p:sp>
            <p:nvSpPr>
              <p:cNvPr id="46" name="TextBox 14">
                <a:extLst>
                  <a:ext uri="{FF2B5EF4-FFF2-40B4-BE49-F238E27FC236}">
                    <a16:creationId xmlns:a16="http://schemas.microsoft.com/office/drawing/2014/main" id="{C5170EBC-3D82-61EC-3712-ED52B3231771}"/>
                  </a:ext>
                </a:extLst>
              </p:cNvPr>
              <p:cNvSpPr txBox="1"/>
              <p:nvPr/>
            </p:nvSpPr>
            <p:spPr>
              <a:xfrm>
                <a:off x="6201319" y="3830089"/>
                <a:ext cx="444156"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a:t>C</a:t>
                </a:r>
              </a:p>
            </p:txBody>
          </p:sp>
        </p:grpSp>
        <p:sp>
          <p:nvSpPr>
            <p:cNvPr id="5" name="TextBox 14">
              <a:extLst>
                <a:ext uri="{FF2B5EF4-FFF2-40B4-BE49-F238E27FC236}">
                  <a16:creationId xmlns:a16="http://schemas.microsoft.com/office/drawing/2014/main" id="{EB59CAB4-BBCC-3B1E-3C67-E4D622E07E34}"/>
                </a:ext>
              </a:extLst>
            </p:cNvPr>
            <p:cNvSpPr txBox="1"/>
            <p:nvPr/>
          </p:nvSpPr>
          <p:spPr>
            <a:xfrm>
              <a:off x="5283392" y="5199797"/>
              <a:ext cx="2219776"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a:t>rhombus</a:t>
              </a:r>
            </a:p>
          </p:txBody>
        </p:sp>
      </p:grpSp>
      <p:grpSp>
        <p:nvGrpSpPr>
          <p:cNvPr id="13" name="Group 12" descr="D. a red square.">
            <a:extLst>
              <a:ext uri="{FF2B5EF4-FFF2-40B4-BE49-F238E27FC236}">
                <a16:creationId xmlns:a16="http://schemas.microsoft.com/office/drawing/2014/main" id="{9151A870-8768-D42B-2F77-E304205B1CAF}"/>
              </a:ext>
            </a:extLst>
          </p:cNvPr>
          <p:cNvGrpSpPr/>
          <p:nvPr/>
        </p:nvGrpSpPr>
        <p:grpSpPr>
          <a:xfrm>
            <a:off x="7756384" y="3398013"/>
            <a:ext cx="2219776" cy="2353779"/>
            <a:chOff x="7756384" y="3398013"/>
            <a:chExt cx="2219776" cy="2353779"/>
          </a:xfrm>
        </p:grpSpPr>
        <p:grpSp>
          <p:nvGrpSpPr>
            <p:cNvPr id="51" name="Group 50" descr="D. a red square.">
              <a:extLst>
                <a:ext uri="{FF2B5EF4-FFF2-40B4-BE49-F238E27FC236}">
                  <a16:creationId xmlns:a16="http://schemas.microsoft.com/office/drawing/2014/main" id="{9885DEF8-8AEE-27E4-8169-7C23B45F4B00}"/>
                </a:ext>
              </a:extLst>
            </p:cNvPr>
            <p:cNvGrpSpPr/>
            <p:nvPr/>
          </p:nvGrpSpPr>
          <p:grpSpPr>
            <a:xfrm>
              <a:off x="7980231" y="3398013"/>
              <a:ext cx="1772082" cy="1944656"/>
              <a:chOff x="8007527" y="3909804"/>
              <a:chExt cx="1772082" cy="1944656"/>
            </a:xfrm>
          </p:grpSpPr>
          <p:pic>
            <p:nvPicPr>
              <p:cNvPr id="40" name="Picture 39">
                <a:extLst>
                  <a:ext uri="{FF2B5EF4-FFF2-40B4-BE49-F238E27FC236}">
                    <a16:creationId xmlns:a16="http://schemas.microsoft.com/office/drawing/2014/main" id="{8CBFE776-2194-C6CF-4D6D-CC54D60711BD}"/>
                  </a:ext>
                </a:extLst>
              </p:cNvPr>
              <p:cNvPicPr>
                <a:picLocks noChangeAspect="1"/>
              </p:cNvPicPr>
              <p:nvPr/>
            </p:nvPicPr>
            <p:blipFill>
              <a:blip r:embed="rId7"/>
              <a:stretch>
                <a:fillRect/>
              </a:stretch>
            </p:blipFill>
            <p:spPr>
              <a:xfrm>
                <a:off x="8007527" y="4026835"/>
                <a:ext cx="1772082" cy="1827625"/>
              </a:xfrm>
              <a:prstGeom prst="rect">
                <a:avLst/>
              </a:prstGeom>
            </p:spPr>
          </p:pic>
          <p:sp>
            <p:nvSpPr>
              <p:cNvPr id="47" name="TextBox 14">
                <a:extLst>
                  <a:ext uri="{FF2B5EF4-FFF2-40B4-BE49-F238E27FC236}">
                    <a16:creationId xmlns:a16="http://schemas.microsoft.com/office/drawing/2014/main" id="{406B0E7E-D886-E99C-D54D-55FDFCD0FF82}"/>
                  </a:ext>
                </a:extLst>
              </p:cNvPr>
              <p:cNvSpPr txBox="1"/>
              <p:nvPr/>
            </p:nvSpPr>
            <p:spPr>
              <a:xfrm>
                <a:off x="8384403" y="3909804"/>
                <a:ext cx="444156"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a:t>D</a:t>
                </a:r>
              </a:p>
            </p:txBody>
          </p:sp>
        </p:grpSp>
        <p:sp>
          <p:nvSpPr>
            <p:cNvPr id="7" name="TextBox 14">
              <a:extLst>
                <a:ext uri="{FF2B5EF4-FFF2-40B4-BE49-F238E27FC236}">
                  <a16:creationId xmlns:a16="http://schemas.microsoft.com/office/drawing/2014/main" id="{F44C857D-5BC7-A776-F052-4CD4863A365D}"/>
                </a:ext>
              </a:extLst>
            </p:cNvPr>
            <p:cNvSpPr txBox="1"/>
            <p:nvPr/>
          </p:nvSpPr>
          <p:spPr>
            <a:xfrm>
              <a:off x="7756384" y="5206191"/>
              <a:ext cx="2219776"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a:t>square</a:t>
              </a:r>
            </a:p>
          </p:txBody>
        </p:sp>
      </p:grpSp>
      <p:grpSp>
        <p:nvGrpSpPr>
          <p:cNvPr id="14" name="Group 13" descr="E. a green rectangle.">
            <a:extLst>
              <a:ext uri="{FF2B5EF4-FFF2-40B4-BE49-F238E27FC236}">
                <a16:creationId xmlns:a16="http://schemas.microsoft.com/office/drawing/2014/main" id="{5C45DFB4-E84B-167F-EE6F-B6401515C93C}"/>
              </a:ext>
            </a:extLst>
          </p:cNvPr>
          <p:cNvGrpSpPr/>
          <p:nvPr/>
        </p:nvGrpSpPr>
        <p:grpSpPr>
          <a:xfrm>
            <a:off x="9655461" y="3221531"/>
            <a:ext cx="2219776" cy="3171342"/>
            <a:chOff x="9655461" y="3221531"/>
            <a:chExt cx="2219776" cy="3171342"/>
          </a:xfrm>
        </p:grpSpPr>
        <p:grpSp>
          <p:nvGrpSpPr>
            <p:cNvPr id="52" name="Group 51" descr="E. a green rectangle.">
              <a:extLst>
                <a:ext uri="{FF2B5EF4-FFF2-40B4-BE49-F238E27FC236}">
                  <a16:creationId xmlns:a16="http://schemas.microsoft.com/office/drawing/2014/main" id="{C644AA84-F5B1-1E1B-6CDC-D3334FA30A06}"/>
                </a:ext>
              </a:extLst>
            </p:cNvPr>
            <p:cNvGrpSpPr/>
            <p:nvPr/>
          </p:nvGrpSpPr>
          <p:grpSpPr>
            <a:xfrm>
              <a:off x="10021543" y="3221531"/>
              <a:ext cx="1409437" cy="2680729"/>
              <a:chOff x="10029700" y="3817271"/>
              <a:chExt cx="1409437" cy="2680729"/>
            </a:xfrm>
          </p:grpSpPr>
          <p:pic>
            <p:nvPicPr>
              <p:cNvPr id="42" name="Picture 41">
                <a:extLst>
                  <a:ext uri="{FF2B5EF4-FFF2-40B4-BE49-F238E27FC236}">
                    <a16:creationId xmlns:a16="http://schemas.microsoft.com/office/drawing/2014/main" id="{D007E73A-F894-B141-DC30-50A373E7A209}"/>
                  </a:ext>
                </a:extLst>
              </p:cNvPr>
              <p:cNvPicPr>
                <a:picLocks noChangeAspect="1"/>
              </p:cNvPicPr>
              <p:nvPr/>
            </p:nvPicPr>
            <p:blipFill>
              <a:blip r:embed="rId8"/>
              <a:stretch>
                <a:fillRect/>
              </a:stretch>
            </p:blipFill>
            <p:spPr>
              <a:xfrm>
                <a:off x="10107875" y="4109642"/>
                <a:ext cx="1331262" cy="2388358"/>
              </a:xfrm>
              <a:prstGeom prst="rect">
                <a:avLst/>
              </a:prstGeom>
            </p:spPr>
          </p:pic>
          <p:sp>
            <p:nvSpPr>
              <p:cNvPr id="43" name="TextBox 14">
                <a:extLst>
                  <a:ext uri="{FF2B5EF4-FFF2-40B4-BE49-F238E27FC236}">
                    <a16:creationId xmlns:a16="http://schemas.microsoft.com/office/drawing/2014/main" id="{E0629CC8-A439-0026-B981-5E9B571A3BA8}"/>
                  </a:ext>
                </a:extLst>
              </p:cNvPr>
              <p:cNvSpPr txBox="1"/>
              <p:nvPr/>
            </p:nvSpPr>
            <p:spPr>
              <a:xfrm>
                <a:off x="10029700" y="3817271"/>
                <a:ext cx="444156"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a:t>E</a:t>
                </a:r>
              </a:p>
            </p:txBody>
          </p:sp>
        </p:grpSp>
        <p:sp>
          <p:nvSpPr>
            <p:cNvPr id="8" name="TextBox 14">
              <a:extLst>
                <a:ext uri="{FF2B5EF4-FFF2-40B4-BE49-F238E27FC236}">
                  <a16:creationId xmlns:a16="http://schemas.microsoft.com/office/drawing/2014/main" id="{C8DC7225-83D6-9F50-F29D-36D188069DBE}"/>
                </a:ext>
              </a:extLst>
            </p:cNvPr>
            <p:cNvSpPr txBox="1"/>
            <p:nvPr/>
          </p:nvSpPr>
          <p:spPr>
            <a:xfrm>
              <a:off x="9655461" y="5847272"/>
              <a:ext cx="2219776" cy="545601"/>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a:t>rectangle</a:t>
              </a:r>
            </a:p>
          </p:txBody>
        </p:sp>
      </p:gr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08504CB3-20C8-644A-E82F-ED16DF2E9B69}"/>
              </a:ext>
            </a:extLst>
          </p:cNvPr>
          <p:cNvSpPr txBox="1"/>
          <p:nvPr/>
        </p:nvSpPr>
        <p:spPr>
          <a:xfrm>
            <a:off x="170222" y="1184223"/>
            <a:ext cx="6223591" cy="5183150"/>
          </a:xfrm>
          <a:prstGeom prst="rect">
            <a:avLst/>
          </a:prstGeom>
          <a:noFill/>
        </p:spPr>
        <p:txBody>
          <a:bodyPr wrap="square">
            <a:spAutoFit/>
          </a:bodyPr>
          <a:lstStyle/>
          <a:p>
            <a:pPr>
              <a:lnSpc>
                <a:spcPct val="150000"/>
              </a:lnSpc>
            </a:pPr>
            <a:r>
              <a:rPr lang="en-AU" sz="2800"/>
              <a:t>A Year 2 class collected data on throws students made on a target. Use the tally table to answer the following:</a:t>
            </a:r>
          </a:p>
          <a:p>
            <a:pPr marL="514350" indent="-514350">
              <a:lnSpc>
                <a:spcPct val="150000"/>
              </a:lnSpc>
              <a:buFont typeface="+mj-lt"/>
              <a:buAutoNum type="alphaLcParenR"/>
            </a:pPr>
            <a:r>
              <a:rPr lang="en-AU" sz="2800"/>
              <a:t>Which score was </a:t>
            </a:r>
            <a:r>
              <a:rPr lang="en-AU" sz="2800" b="1"/>
              <a:t>most common</a:t>
            </a:r>
            <a:r>
              <a:rPr lang="en-AU" sz="2800"/>
              <a:t>?</a:t>
            </a:r>
          </a:p>
          <a:p>
            <a:pPr marL="514350" indent="-514350">
              <a:lnSpc>
                <a:spcPct val="150000"/>
              </a:lnSpc>
              <a:buFont typeface="+mj-lt"/>
              <a:buAutoNum type="alphaLcParenR"/>
            </a:pPr>
            <a:r>
              <a:rPr lang="en-AU" sz="2800"/>
              <a:t>Which score was </a:t>
            </a:r>
            <a:r>
              <a:rPr lang="en-AU" sz="2800" b="1"/>
              <a:t>least common?</a:t>
            </a:r>
            <a:endParaRPr lang="en-AU" sz="2800"/>
          </a:p>
          <a:p>
            <a:pPr marL="514350" indent="-514350">
              <a:lnSpc>
                <a:spcPct val="150000"/>
              </a:lnSpc>
              <a:buFont typeface="+mj-lt"/>
              <a:buAutoNum type="alphaLcParenR"/>
            </a:pPr>
            <a:r>
              <a:rPr lang="en-AU" sz="2800"/>
              <a:t>How many </a:t>
            </a:r>
            <a:r>
              <a:rPr lang="en-AU" sz="2800" b="1"/>
              <a:t>total tosses </a:t>
            </a:r>
            <a:r>
              <a:rPr lang="en-AU" sz="2800"/>
              <a:t>were recorded?</a:t>
            </a:r>
          </a:p>
        </p:txBody>
      </p:sp>
      <p:pic>
        <p:nvPicPr>
          <p:cNvPr id="8" name="Picture 7" descr="Table with target throw results and headings: score, tally marks, frequency and total. The example scored 3 zeroes, 2 tens, 7 twenties, 4 fifties and 4 hundreds.">
            <a:extLst>
              <a:ext uri="{FF2B5EF4-FFF2-40B4-BE49-F238E27FC236}">
                <a16:creationId xmlns:a16="http://schemas.microsoft.com/office/drawing/2014/main" id="{95319E59-5F29-3A05-EC12-121EEAC2275B}"/>
              </a:ext>
            </a:extLst>
          </p:cNvPr>
          <p:cNvPicPr>
            <a:picLocks noChangeAspect="1"/>
          </p:cNvPicPr>
          <p:nvPr/>
        </p:nvPicPr>
        <p:blipFill>
          <a:blip r:embed="rId4"/>
          <a:stretch>
            <a:fillRect/>
          </a:stretch>
        </p:blipFill>
        <p:spPr>
          <a:xfrm>
            <a:off x="6469615" y="2286552"/>
            <a:ext cx="5374385" cy="3950826"/>
          </a:xfrm>
          <a:prstGeom prst="rect">
            <a:avLst/>
          </a:prstGeom>
        </p:spPr>
      </p:pic>
      <p:pic>
        <p:nvPicPr>
          <p:cNvPr id="10" name="Picture 9" descr="A target marked with the scores: 10, 20, 50 and 100.">
            <a:extLst>
              <a:ext uri="{FF2B5EF4-FFF2-40B4-BE49-F238E27FC236}">
                <a16:creationId xmlns:a16="http://schemas.microsoft.com/office/drawing/2014/main" id="{05939320-C9FA-A329-E7D7-7FEADE0D11E7}"/>
              </a:ext>
            </a:extLst>
          </p:cNvPr>
          <p:cNvPicPr>
            <a:picLocks noChangeAspect="1"/>
          </p:cNvPicPr>
          <p:nvPr/>
        </p:nvPicPr>
        <p:blipFill>
          <a:blip r:embed="rId5"/>
          <a:stretch>
            <a:fillRect/>
          </a:stretch>
        </p:blipFill>
        <p:spPr>
          <a:xfrm>
            <a:off x="8813679" y="533471"/>
            <a:ext cx="2065193" cy="2125212"/>
          </a:xfrm>
          <a:prstGeom prst="rect">
            <a:avLst/>
          </a:prstGeom>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1000 times as large</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Box 6">
            <a:extLst>
              <a:ext uri="{FF2B5EF4-FFF2-40B4-BE49-F238E27FC236}">
                <a16:creationId xmlns:a16="http://schemas.microsoft.com/office/drawing/2014/main" id="{E0E96C2C-A601-00B5-EEF9-10266C86BE2F}"/>
              </a:ext>
            </a:extLst>
          </p:cNvPr>
          <p:cNvSpPr txBox="1"/>
          <p:nvPr/>
        </p:nvSpPr>
        <p:spPr>
          <a:xfrm>
            <a:off x="4262761" y="1742512"/>
            <a:ext cx="3666478" cy="1553592"/>
          </a:xfrm>
          <a:prstGeom prst="rect">
            <a:avLst/>
          </a:prstGeom>
          <a:noFill/>
        </p:spPr>
        <p:txBody>
          <a:bodyPr wrap="square" lIns="0" tIns="0" rIns="0" bIns="0" rtlCol="0">
            <a:noAutofit/>
          </a:bodyPr>
          <a:lstStyle/>
          <a:p>
            <a:pPr algn="ctr"/>
            <a:r>
              <a:rPr lang="en-AU" sz="4800"/>
              <a:t>248</a:t>
            </a:r>
          </a:p>
        </p:txBody>
      </p:sp>
      <p:pic>
        <p:nvPicPr>
          <p:cNvPr id="3" name="Picture 2" descr="Internet symbol">
            <a:extLst>
              <a:ext uri="{FF2B5EF4-FFF2-40B4-BE49-F238E27FC236}">
                <a16:creationId xmlns:a16="http://schemas.microsoft.com/office/drawing/2014/main" id="{19EB3051-1F35-4797-ABE1-CB60454FD2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870" y="4696287"/>
            <a:ext cx="1473693" cy="147369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D8825E4-D97D-3FD1-F5FA-4A5A9D91CEC0}"/>
              </a:ext>
            </a:extLst>
          </p:cNvPr>
          <p:cNvSpPr txBox="1"/>
          <p:nvPr/>
        </p:nvSpPr>
        <p:spPr>
          <a:xfrm>
            <a:off x="2558990" y="4959542"/>
            <a:ext cx="6094520" cy="947182"/>
          </a:xfrm>
          <a:prstGeom prst="rect">
            <a:avLst/>
          </a:prstGeom>
          <a:noFill/>
        </p:spPr>
        <p:txBody>
          <a:bodyPr wrap="square">
            <a:spAutoFit/>
          </a:bodyPr>
          <a:lstStyle/>
          <a:p>
            <a:r>
              <a:rPr lang="en-AU" sz="2400" u="sng">
                <a:solidFill>
                  <a:srgbClr val="2F5496"/>
                </a:solidFill>
                <a:effectLst/>
                <a:latin typeface="Arial" panose="020B0604020202020204" pitchFamily="34" charset="0"/>
                <a:ea typeface="Calibri" panose="020F0502020204030204" pitchFamily="34" charset="0"/>
                <a:hlinkClick r:id="rId5"/>
              </a:rPr>
              <a:t>Place value chart</a:t>
            </a:r>
            <a:endParaRPr lang="en-AU" sz="2400" u="sng">
              <a:solidFill>
                <a:srgbClr val="2F5496"/>
              </a:solidFill>
              <a:effectLst/>
              <a:latin typeface="Arial" panose="020B0604020202020204" pitchFamily="34" charset="0"/>
              <a:ea typeface="Calibri" panose="020F0502020204030204" pitchFamily="34" charset="0"/>
            </a:endParaRPr>
          </a:p>
          <a:p>
            <a:pPr>
              <a:lnSpc>
                <a:spcPct val="150000"/>
              </a:lnSpc>
            </a:pPr>
            <a:r>
              <a:rPr lang="en-AU"/>
              <a:t>https://toytheater.com/place-value-chart/</a:t>
            </a:r>
          </a:p>
        </p:txBody>
      </p:sp>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sp>
        <p:nvSpPr>
          <p:cNvPr id="6" name="Text Placeholder 5">
            <a:extLst>
              <a:ext uri="{FF2B5EF4-FFF2-40B4-BE49-F238E27FC236}">
                <a16:creationId xmlns:a16="http://schemas.microsoft.com/office/drawing/2014/main" id="{1F74B9A4-EFE2-0CD1-0E45-27C87BBC65EB}"/>
              </a:ext>
              <a:ext uri="{C183D7F6-B498-43B3-948B-1728B52AA6E4}">
                <adec:decorative xmlns:adec="http://schemas.microsoft.com/office/drawing/2017/decorative" val="0"/>
              </a:ext>
            </a:extLst>
          </p:cNvPr>
          <p:cNvSpPr>
            <a:spLocks noGrp="1"/>
          </p:cNvSpPr>
          <p:nvPr>
            <p:ph type="body" sz="quarter" idx="22"/>
          </p:nvPr>
        </p:nvSpPr>
        <p:spPr>
          <a:xfrm>
            <a:off x="474480" y="1365845"/>
            <a:ext cx="11243037" cy="893226"/>
          </a:xfrm>
        </p:spPr>
        <p:txBody>
          <a:bodyPr/>
          <a:lstStyle/>
          <a:p>
            <a:pPr algn="ctr"/>
            <a:r>
              <a:rPr lang="en-AU" sz="3600"/>
              <a:t>This </a:t>
            </a:r>
            <a:r>
              <a:rPr lang="en-AU" sz="3600" b="1"/>
              <a:t>table</a:t>
            </a:r>
            <a:r>
              <a:rPr lang="en-AU" sz="3600"/>
              <a:t> has been accurately filled in.</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graphicFrame>
        <p:nvGraphicFramePr>
          <p:cNvPr id="5" name="Table 4">
            <a:extLst>
              <a:ext uri="{FF2B5EF4-FFF2-40B4-BE49-F238E27FC236}">
                <a16:creationId xmlns:a16="http://schemas.microsoft.com/office/drawing/2014/main" id="{EC4A35C3-0CAF-B945-DE39-35F342BCECCF}"/>
              </a:ext>
            </a:extLst>
          </p:cNvPr>
          <p:cNvGraphicFramePr>
            <a:graphicFrameLocks noGrp="1"/>
          </p:cNvGraphicFramePr>
          <p:nvPr>
            <p:extLst>
              <p:ext uri="{D42A27DB-BD31-4B8C-83A1-F6EECF244321}">
                <p14:modId xmlns:p14="http://schemas.microsoft.com/office/powerpoint/2010/main" val="504501847"/>
              </p:ext>
            </p:extLst>
          </p:nvPr>
        </p:nvGraphicFramePr>
        <p:xfrm>
          <a:off x="608498" y="2561184"/>
          <a:ext cx="10994540" cy="1557553"/>
        </p:xfrm>
        <a:graphic>
          <a:graphicData uri="http://schemas.openxmlformats.org/drawingml/2006/table">
            <a:tbl>
              <a:tblPr firstRow="1" firstCol="1" bandRow="1">
                <a:tableStyleId>{5A111915-BE36-4E01-A7E5-04B1672EAD32}</a:tableStyleId>
              </a:tblPr>
              <a:tblGrid>
                <a:gridCol w="2747564">
                  <a:extLst>
                    <a:ext uri="{9D8B030D-6E8A-4147-A177-3AD203B41FA5}">
                      <a16:colId xmlns:a16="http://schemas.microsoft.com/office/drawing/2014/main" val="2385823301"/>
                    </a:ext>
                  </a:extLst>
                </a:gridCol>
                <a:gridCol w="2748992">
                  <a:extLst>
                    <a:ext uri="{9D8B030D-6E8A-4147-A177-3AD203B41FA5}">
                      <a16:colId xmlns:a16="http://schemas.microsoft.com/office/drawing/2014/main" val="3517711037"/>
                    </a:ext>
                  </a:extLst>
                </a:gridCol>
                <a:gridCol w="2748992">
                  <a:extLst>
                    <a:ext uri="{9D8B030D-6E8A-4147-A177-3AD203B41FA5}">
                      <a16:colId xmlns:a16="http://schemas.microsoft.com/office/drawing/2014/main" val="318578566"/>
                    </a:ext>
                  </a:extLst>
                </a:gridCol>
                <a:gridCol w="2748992">
                  <a:extLst>
                    <a:ext uri="{9D8B030D-6E8A-4147-A177-3AD203B41FA5}">
                      <a16:colId xmlns:a16="http://schemas.microsoft.com/office/drawing/2014/main" val="2092821861"/>
                    </a:ext>
                  </a:extLst>
                </a:gridCol>
              </a:tblGrid>
              <a:tr h="645082">
                <a:tc>
                  <a:txBody>
                    <a:bodyPr/>
                    <a:lstStyle/>
                    <a:p>
                      <a:pPr algn="ctr">
                        <a:lnSpc>
                          <a:spcPct val="150000"/>
                        </a:lnSpc>
                        <a:spcBef>
                          <a:spcPts val="1200"/>
                        </a:spcBef>
                        <a:spcAft>
                          <a:spcPts val="600"/>
                        </a:spcAft>
                        <a:buNone/>
                      </a:pPr>
                      <a:r>
                        <a:rPr lang="en-AU" sz="2800">
                          <a:effectLst/>
                        </a:rPr>
                        <a:t>Number rolled</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lnSpc>
                          <a:spcPct val="150000"/>
                        </a:lnSpc>
                        <a:spcBef>
                          <a:spcPts val="1200"/>
                        </a:spcBef>
                        <a:spcAft>
                          <a:spcPts val="600"/>
                        </a:spcAft>
                        <a:buNone/>
                      </a:pPr>
                      <a:r>
                        <a:rPr lang="en-AU" sz="2800">
                          <a:effectLst/>
                        </a:rPr>
                        <a:t>× 10</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lnSpc>
                          <a:spcPct val="150000"/>
                        </a:lnSpc>
                        <a:spcBef>
                          <a:spcPts val="1200"/>
                        </a:spcBef>
                        <a:spcAft>
                          <a:spcPts val="600"/>
                        </a:spcAft>
                        <a:buNone/>
                      </a:pPr>
                      <a:r>
                        <a:rPr lang="en-AU" sz="2800">
                          <a:effectLst/>
                        </a:rPr>
                        <a:t>× 100</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a:lnSpc>
                          <a:spcPct val="150000"/>
                        </a:lnSpc>
                        <a:spcBef>
                          <a:spcPts val="1200"/>
                        </a:spcBef>
                        <a:spcAft>
                          <a:spcPts val="600"/>
                        </a:spcAft>
                        <a:buNone/>
                      </a:pPr>
                      <a:r>
                        <a:rPr lang="en-AU" sz="2800">
                          <a:effectLst/>
                        </a:rPr>
                        <a:t>× 1000</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2965566354"/>
                  </a:ext>
                </a:extLst>
              </a:tr>
              <a:tr h="912471">
                <a:tc>
                  <a:txBody>
                    <a:bodyPr/>
                    <a:lstStyle/>
                    <a:p>
                      <a:pPr algn="ctr">
                        <a:lnSpc>
                          <a:spcPct val="150000"/>
                        </a:lnSpc>
                        <a:spcBef>
                          <a:spcPts val="1200"/>
                        </a:spcBef>
                        <a:spcAft>
                          <a:spcPts val="600"/>
                        </a:spcAft>
                        <a:buNone/>
                      </a:pPr>
                      <a:r>
                        <a:rPr lang="en-AU" sz="2800">
                          <a:effectLst/>
                          <a:latin typeface="Arial" panose="020B0604020202020204" pitchFamily="34" charset="0"/>
                          <a:ea typeface="Calibri" panose="020F0502020204030204" pitchFamily="34" charset="0"/>
                          <a:cs typeface="Arial" panose="020B0604020202020204" pitchFamily="34" charset="0"/>
                        </a:rPr>
                        <a:t>842</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1200"/>
                        </a:spcBef>
                        <a:spcAft>
                          <a:spcPts val="600"/>
                        </a:spcAft>
                        <a:buNone/>
                      </a:pPr>
                      <a:r>
                        <a:rPr lang="en-AU" sz="2800">
                          <a:effectLst/>
                        </a:rPr>
                        <a:t>8420</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1200"/>
                        </a:spcBef>
                        <a:spcAft>
                          <a:spcPts val="600"/>
                        </a:spcAft>
                        <a:buNone/>
                      </a:pPr>
                      <a:r>
                        <a:rPr lang="en-AU" sz="2800">
                          <a:effectLst/>
                        </a:rPr>
                        <a:t>84 200</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50000"/>
                        </a:lnSpc>
                        <a:spcBef>
                          <a:spcPts val="1200"/>
                        </a:spcBef>
                        <a:spcAft>
                          <a:spcPts val="600"/>
                        </a:spcAft>
                        <a:buNone/>
                      </a:pPr>
                      <a:r>
                        <a:rPr lang="en-AU" sz="2800">
                          <a:effectLst/>
                        </a:rPr>
                        <a:t>842 000</a:t>
                      </a:r>
                      <a:endParaRPr lang="en-AU" sz="2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4119236"/>
                  </a:ext>
                </a:extLst>
              </a:tr>
            </a:tbl>
          </a:graphicData>
        </a:graphic>
      </p:graphicFrame>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1853672079"/>
              </p:ext>
            </p:extLst>
          </p:nvPr>
        </p:nvGraphicFramePr>
        <p:xfrm>
          <a:off x="2557460" y="4578981"/>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7" name="Text Placeholder 5">
            <a:extLst>
              <a:ext uri="{FF2B5EF4-FFF2-40B4-BE49-F238E27FC236}">
                <a16:creationId xmlns:a16="http://schemas.microsoft.com/office/drawing/2014/main" id="{C7D36ECA-4841-D935-8C23-68B2B7E0A926}"/>
              </a:ext>
            </a:extLst>
          </p:cNvPr>
          <p:cNvSpPr txBox="1">
            <a:spLocks/>
          </p:cNvSpPr>
          <p:nvPr/>
        </p:nvSpPr>
        <p:spPr>
          <a:xfrm>
            <a:off x="474480" y="5622774"/>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b="1"/>
              <a:t>Communicate</a:t>
            </a:r>
            <a:r>
              <a:rPr lang="en-AU" sz="3600"/>
              <a:t> your </a:t>
            </a:r>
            <a:r>
              <a:rPr lang="en-AU" sz="3600" b="1"/>
              <a:t>reasoning</a:t>
            </a:r>
            <a:r>
              <a:rPr lang="en-AU" sz="3600"/>
              <a:t>.</a:t>
            </a:r>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021F069-9455-E0F5-8F7F-817DE82E352D}"/>
              </a:ext>
            </a:extLst>
          </p:cNvPr>
          <p:cNvSpPr txBox="1"/>
          <p:nvPr/>
        </p:nvSpPr>
        <p:spPr>
          <a:xfrm>
            <a:off x="867237" y="1061779"/>
            <a:ext cx="10422731" cy="1950243"/>
          </a:xfrm>
          <a:prstGeom prst="rect">
            <a:avLst/>
          </a:prstGeom>
          <a:noFill/>
        </p:spPr>
        <p:txBody>
          <a:bodyPr wrap="square" lIns="0" tIns="0" rIns="0" bIns="0" rtlCol="0">
            <a:noAutofit/>
          </a:bodyPr>
          <a:lstStyle/>
          <a:p>
            <a:pPr algn="ctr">
              <a:lnSpc>
                <a:spcPct val="150000"/>
              </a:lnSpc>
            </a:pPr>
            <a:r>
              <a:rPr lang="en-AU" sz="3600"/>
              <a:t>Record the fruit that has the </a:t>
            </a:r>
            <a:r>
              <a:rPr lang="en-AU" sz="3600" b="1"/>
              <a:t>mass</a:t>
            </a:r>
            <a:r>
              <a:rPr lang="en-AU" sz="3600"/>
              <a:t>:</a:t>
            </a:r>
          </a:p>
          <a:p>
            <a:pPr marL="514350" indent="-514350" algn="ctr">
              <a:lnSpc>
                <a:spcPct val="150000"/>
              </a:lnSpc>
              <a:buFont typeface="+mj-lt"/>
              <a:buAutoNum type="arabicPeriod"/>
            </a:pPr>
            <a:r>
              <a:rPr lang="en-AU" sz="2800"/>
              <a:t>equal to </a:t>
            </a:r>
            <a:r>
              <a:rPr lang="en-AU" sz="2800" b="1"/>
              <a:t>half of one kilogram</a:t>
            </a:r>
          </a:p>
          <a:p>
            <a:pPr marL="514350" indent="-514350" algn="ctr">
              <a:lnSpc>
                <a:spcPct val="150000"/>
              </a:lnSpc>
              <a:buFont typeface="+mj-lt"/>
              <a:buAutoNum type="arabicPeriod"/>
            </a:pPr>
            <a:r>
              <a:rPr lang="en-AU" sz="2800"/>
              <a:t>equal to </a:t>
            </a:r>
            <a:r>
              <a:rPr lang="en-AU" sz="2800" b="1"/>
              <a:t>one kilogram</a:t>
            </a:r>
            <a:r>
              <a:rPr lang="en-AU" sz="2800"/>
              <a:t>.</a:t>
            </a:r>
          </a:p>
        </p:txBody>
      </p:sp>
      <p:grpSp>
        <p:nvGrpSpPr>
          <p:cNvPr id="15" name="Group 14" descr="A. a pineapple on a digital scale with its weight displayed in grams.">
            <a:extLst>
              <a:ext uri="{FF2B5EF4-FFF2-40B4-BE49-F238E27FC236}">
                <a16:creationId xmlns:a16="http://schemas.microsoft.com/office/drawing/2014/main" id="{7D52D5B6-3410-A354-89A7-CF83696944BA}"/>
              </a:ext>
            </a:extLst>
          </p:cNvPr>
          <p:cNvGrpSpPr/>
          <p:nvPr/>
        </p:nvGrpSpPr>
        <p:grpSpPr>
          <a:xfrm>
            <a:off x="902032" y="2251510"/>
            <a:ext cx="2641729" cy="4286250"/>
            <a:chOff x="485775" y="2319750"/>
            <a:chExt cx="2641729" cy="4286250"/>
          </a:xfrm>
        </p:grpSpPr>
        <p:pic>
          <p:nvPicPr>
            <p:cNvPr id="7" name="Picture 6">
              <a:extLst>
                <a:ext uri="{FF2B5EF4-FFF2-40B4-BE49-F238E27FC236}">
                  <a16:creationId xmlns:a16="http://schemas.microsoft.com/office/drawing/2014/main" id="{0D17FB33-6A9E-DA87-A418-2C7AEED46987}"/>
                </a:ext>
              </a:extLst>
            </p:cNvPr>
            <p:cNvPicPr>
              <a:picLocks noChangeAspect="1"/>
            </p:cNvPicPr>
            <p:nvPr/>
          </p:nvPicPr>
          <p:blipFill>
            <a:blip r:embed="rId4"/>
            <a:stretch>
              <a:fillRect/>
            </a:stretch>
          </p:blipFill>
          <p:spPr>
            <a:xfrm>
              <a:off x="485775" y="2319750"/>
              <a:ext cx="2641729" cy="4286250"/>
            </a:xfrm>
            <a:prstGeom prst="rect">
              <a:avLst/>
            </a:prstGeom>
            <a:ln>
              <a:noFill/>
            </a:ln>
            <a:effectLst/>
          </p:spPr>
        </p:pic>
        <p:sp>
          <p:nvSpPr>
            <p:cNvPr id="12" name="TextBox 11">
              <a:extLst>
                <a:ext uri="{FF2B5EF4-FFF2-40B4-BE49-F238E27FC236}">
                  <a16:creationId xmlns:a16="http://schemas.microsoft.com/office/drawing/2014/main" id="{7B389C96-9AED-E249-CC11-12250E31380C}"/>
                </a:ext>
              </a:extLst>
            </p:cNvPr>
            <p:cNvSpPr txBox="1"/>
            <p:nvPr/>
          </p:nvSpPr>
          <p:spPr>
            <a:xfrm>
              <a:off x="485775" y="3971925"/>
              <a:ext cx="371475" cy="371475"/>
            </a:xfrm>
            <a:prstGeom prst="rect">
              <a:avLst/>
            </a:prstGeom>
            <a:noFill/>
          </p:spPr>
          <p:txBody>
            <a:bodyPr wrap="square" lIns="0" tIns="0" rIns="0" bIns="0" rtlCol="0">
              <a:noAutofit/>
            </a:bodyPr>
            <a:lstStyle/>
            <a:p>
              <a:pPr algn="l"/>
              <a:r>
                <a:rPr lang="en-AU"/>
                <a:t>A</a:t>
              </a:r>
            </a:p>
          </p:txBody>
        </p:sp>
      </p:grpSp>
      <p:grpSp>
        <p:nvGrpSpPr>
          <p:cNvPr id="17" name="Group 16" descr="B. a mango on a digital scale with its weight displayed in grams.">
            <a:extLst>
              <a:ext uri="{FF2B5EF4-FFF2-40B4-BE49-F238E27FC236}">
                <a16:creationId xmlns:a16="http://schemas.microsoft.com/office/drawing/2014/main" id="{0C92BAA1-9058-DD67-82F2-74A20AB576E2}"/>
              </a:ext>
            </a:extLst>
          </p:cNvPr>
          <p:cNvGrpSpPr/>
          <p:nvPr/>
        </p:nvGrpSpPr>
        <p:grpSpPr>
          <a:xfrm>
            <a:off x="7995788" y="3672810"/>
            <a:ext cx="2912718" cy="2912718"/>
            <a:chOff x="8655106" y="3693282"/>
            <a:chExt cx="2912718" cy="2912718"/>
          </a:xfrm>
          <a:effectLst/>
        </p:grpSpPr>
        <p:pic>
          <p:nvPicPr>
            <p:cNvPr id="11" name="Picture 10">
              <a:extLst>
                <a:ext uri="{FF2B5EF4-FFF2-40B4-BE49-F238E27FC236}">
                  <a16:creationId xmlns:a16="http://schemas.microsoft.com/office/drawing/2014/main" id="{6E62B40D-108A-E63C-BF22-A088151E799D}"/>
                </a:ext>
              </a:extLst>
            </p:cNvPr>
            <p:cNvPicPr>
              <a:picLocks noChangeAspect="1"/>
            </p:cNvPicPr>
            <p:nvPr/>
          </p:nvPicPr>
          <p:blipFill>
            <a:blip r:embed="rId5"/>
            <a:stretch>
              <a:fillRect/>
            </a:stretch>
          </p:blipFill>
          <p:spPr>
            <a:xfrm>
              <a:off x="8655106" y="3693282"/>
              <a:ext cx="2912718" cy="2912718"/>
            </a:xfrm>
            <a:prstGeom prst="rect">
              <a:avLst/>
            </a:prstGeom>
            <a:ln>
              <a:noFill/>
            </a:ln>
            <a:effectLst/>
          </p:spPr>
        </p:pic>
        <p:sp>
          <p:nvSpPr>
            <p:cNvPr id="14" name="TextBox 13">
              <a:extLst>
                <a:ext uri="{FF2B5EF4-FFF2-40B4-BE49-F238E27FC236}">
                  <a16:creationId xmlns:a16="http://schemas.microsoft.com/office/drawing/2014/main" id="{FED5EABD-D97A-E3F9-44AD-B3227A630641}"/>
                </a:ext>
              </a:extLst>
            </p:cNvPr>
            <p:cNvSpPr txBox="1"/>
            <p:nvPr/>
          </p:nvSpPr>
          <p:spPr>
            <a:xfrm>
              <a:off x="8748978" y="3971925"/>
              <a:ext cx="371475" cy="371475"/>
            </a:xfrm>
            <a:prstGeom prst="rect">
              <a:avLst/>
            </a:prstGeom>
            <a:noFill/>
          </p:spPr>
          <p:txBody>
            <a:bodyPr wrap="square" lIns="0" tIns="0" rIns="0" bIns="0" rtlCol="0">
              <a:noAutofit/>
            </a:bodyPr>
            <a:lstStyle/>
            <a:p>
              <a:pPr algn="l"/>
              <a:r>
                <a:rPr lang="en-AU"/>
                <a:t>B</a:t>
              </a:r>
            </a:p>
          </p:txBody>
        </p:sp>
      </p:gr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4" name="TextBox 3">
            <a:extLst>
              <a:ext uri="{FF2B5EF4-FFF2-40B4-BE49-F238E27FC236}">
                <a16:creationId xmlns:a16="http://schemas.microsoft.com/office/drawing/2014/main" id="{32E64CD0-BB72-7BC7-1108-B4408F4A7BC9}"/>
              </a:ext>
            </a:extLst>
          </p:cNvPr>
          <p:cNvSpPr txBox="1"/>
          <p:nvPr/>
        </p:nvSpPr>
        <p:spPr>
          <a:xfrm>
            <a:off x="360000" y="1395738"/>
            <a:ext cx="11585975" cy="4841640"/>
          </a:xfrm>
          <a:prstGeom prst="rect">
            <a:avLst/>
          </a:prstGeom>
          <a:noFill/>
        </p:spPr>
        <p:txBody>
          <a:bodyPr wrap="square" lIns="0" tIns="0" rIns="0" bIns="0" rtlCol="0">
            <a:noAutofit/>
          </a:bodyPr>
          <a:lstStyle/>
          <a:p>
            <a:pPr algn="ctr">
              <a:lnSpc>
                <a:spcPct val="150000"/>
              </a:lnSpc>
              <a:spcBef>
                <a:spcPts val="1200"/>
              </a:spcBef>
              <a:spcAft>
                <a:spcPts val="600"/>
              </a:spcAft>
            </a:pPr>
            <a:r>
              <a:rPr lang="en-AU" sz="4400"/>
              <a:t>Pattern A: </a:t>
            </a:r>
            <a:r>
              <a:rPr lang="en-AU" sz="4400" b="1"/>
              <a:t>4, 8, 12, 16</a:t>
            </a:r>
          </a:p>
          <a:p>
            <a:pPr algn="ctr">
              <a:lnSpc>
                <a:spcPct val="150000"/>
              </a:lnSpc>
              <a:spcBef>
                <a:spcPts val="1200"/>
              </a:spcBef>
              <a:spcAft>
                <a:spcPts val="600"/>
              </a:spcAft>
            </a:pPr>
            <a:r>
              <a:rPr lang="en-AU" sz="4400"/>
              <a:t>Pattern B: </a:t>
            </a:r>
            <a:r>
              <a:rPr lang="en-AU" sz="4400" b="1"/>
              <a:t>8, 16, 24, 32</a:t>
            </a:r>
          </a:p>
          <a:p>
            <a:pPr>
              <a:lnSpc>
                <a:spcPct val="150000"/>
              </a:lnSpc>
              <a:spcBef>
                <a:spcPts val="1200"/>
              </a:spcBef>
              <a:spcAft>
                <a:spcPts val="600"/>
              </a:spcAft>
            </a:pPr>
            <a:r>
              <a:rPr lang="en-AU" sz="4000"/>
              <a:t>What is the </a:t>
            </a:r>
            <a:r>
              <a:rPr lang="en-AU" sz="4000" b="1"/>
              <a:t>relationship</a:t>
            </a:r>
            <a:r>
              <a:rPr lang="en-AU" sz="4000"/>
              <a:t> between these </a:t>
            </a:r>
            <a:r>
              <a:rPr lang="en-AU" sz="4000" b="1"/>
              <a:t>patterns</a:t>
            </a:r>
            <a:r>
              <a:rPr lang="en-AU" sz="4000"/>
              <a:t>?</a:t>
            </a:r>
          </a:p>
          <a:p>
            <a:pPr algn="ctr">
              <a:lnSpc>
                <a:spcPct val="150000"/>
              </a:lnSpc>
              <a:spcBef>
                <a:spcPts val="1200"/>
              </a:spcBef>
              <a:spcAft>
                <a:spcPts val="600"/>
              </a:spcAft>
            </a:pPr>
            <a:r>
              <a:rPr lang="en-AU" sz="4000" b="1"/>
              <a:t>Communicate</a:t>
            </a:r>
            <a:r>
              <a:rPr lang="en-AU" sz="4000"/>
              <a:t> your </a:t>
            </a:r>
            <a:r>
              <a:rPr lang="en-AU" sz="4000" b="1"/>
              <a:t>reasoning</a:t>
            </a:r>
            <a:r>
              <a:rPr lang="en-AU" sz="4000"/>
              <a:t>. </a:t>
            </a:r>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4D7A3E9-7FB3-BC6B-5B30-778838E90B8A}"/>
              </a:ext>
            </a:extLst>
          </p:cNvPr>
          <p:cNvSpPr txBox="1"/>
          <p:nvPr/>
        </p:nvSpPr>
        <p:spPr>
          <a:xfrm>
            <a:off x="354000" y="846837"/>
            <a:ext cx="11484000" cy="1244042"/>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3600"/>
              <a:t>Which of these letters have:</a:t>
            </a:r>
          </a:p>
        </p:txBody>
      </p:sp>
      <p:sp>
        <p:nvSpPr>
          <p:cNvPr id="5" name="TextBox 4">
            <a:extLst>
              <a:ext uri="{FF2B5EF4-FFF2-40B4-BE49-F238E27FC236}">
                <a16:creationId xmlns:a16="http://schemas.microsoft.com/office/drawing/2014/main" id="{32BB1E17-E5C3-5C67-97E9-17239B714082}"/>
              </a:ext>
            </a:extLst>
          </p:cNvPr>
          <p:cNvSpPr txBox="1"/>
          <p:nvPr/>
        </p:nvSpPr>
        <p:spPr>
          <a:xfrm>
            <a:off x="858504" y="1704107"/>
            <a:ext cx="10625496" cy="2441336"/>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342900" indent="-342900" algn="ctr">
              <a:lnSpc>
                <a:spcPct val="150000"/>
              </a:lnSpc>
              <a:buFont typeface="+mj-lt"/>
              <a:buAutoNum type="alphaLcParenR"/>
            </a:pPr>
            <a:r>
              <a:rPr lang="en-AU" sz="3600"/>
              <a:t> </a:t>
            </a:r>
            <a:r>
              <a:rPr lang="en-AU" sz="3600" b="1"/>
              <a:t>one</a:t>
            </a:r>
            <a:r>
              <a:rPr lang="en-AU" sz="3600"/>
              <a:t> line of symmetry</a:t>
            </a:r>
          </a:p>
          <a:p>
            <a:pPr marL="342900" indent="-342900" algn="ctr">
              <a:lnSpc>
                <a:spcPct val="150000"/>
              </a:lnSpc>
              <a:buFont typeface="+mj-lt"/>
              <a:buAutoNum type="alphaLcParenR"/>
            </a:pPr>
            <a:r>
              <a:rPr lang="en-AU" sz="3600"/>
              <a:t> </a:t>
            </a:r>
            <a:r>
              <a:rPr lang="en-AU" sz="3600" b="1"/>
              <a:t>2 or more </a:t>
            </a:r>
            <a:r>
              <a:rPr lang="en-AU" sz="3600"/>
              <a:t>lines of symmetry</a:t>
            </a:r>
          </a:p>
          <a:p>
            <a:pPr marL="342900" indent="-342900" algn="ctr">
              <a:lnSpc>
                <a:spcPct val="150000"/>
              </a:lnSpc>
              <a:buFont typeface="+mj-lt"/>
              <a:buAutoNum type="alphaLcParenR"/>
            </a:pPr>
            <a:r>
              <a:rPr lang="en-AU" sz="3600"/>
              <a:t> no lines of symmetry</a:t>
            </a:r>
          </a:p>
        </p:txBody>
      </p:sp>
      <p:sp>
        <p:nvSpPr>
          <p:cNvPr id="7" name="TextBox 6">
            <a:extLst>
              <a:ext uri="{FF2B5EF4-FFF2-40B4-BE49-F238E27FC236}">
                <a16:creationId xmlns:a16="http://schemas.microsoft.com/office/drawing/2014/main" id="{DECFAF77-EF21-4F5A-EB0D-DBEF41E966A5}"/>
              </a:ext>
            </a:extLst>
          </p:cNvPr>
          <p:cNvSpPr txBox="1"/>
          <p:nvPr/>
        </p:nvSpPr>
        <p:spPr>
          <a:xfrm>
            <a:off x="1218504" y="4312468"/>
            <a:ext cx="2549562" cy="2441336"/>
          </a:xfrm>
          <a:prstGeom prst="rect">
            <a:avLst/>
          </a:prstGeom>
          <a:noFill/>
          <a:ln w="19050">
            <a:noFill/>
          </a:ln>
        </p:spPr>
        <p:txBody>
          <a:bodyPr wrap="square" lIns="0" tIns="0" rIns="0" bIns="0" rtlCol="0">
            <a:noAutofit/>
          </a:bodyPr>
          <a:lstStyle/>
          <a:p>
            <a:pPr algn="ctr"/>
            <a:r>
              <a:rPr lang="en-AU" sz="15000">
                <a:solidFill>
                  <a:schemeClr val="accent2"/>
                </a:solidFill>
              </a:rPr>
              <a:t>O</a:t>
            </a:r>
          </a:p>
        </p:txBody>
      </p:sp>
      <p:sp>
        <p:nvSpPr>
          <p:cNvPr id="9" name="TextBox 8">
            <a:extLst>
              <a:ext uri="{FF2B5EF4-FFF2-40B4-BE49-F238E27FC236}">
                <a16:creationId xmlns:a16="http://schemas.microsoft.com/office/drawing/2014/main" id="{CD8769D0-E2EF-6269-40D2-42B2BC2839F9}"/>
              </a:ext>
            </a:extLst>
          </p:cNvPr>
          <p:cNvSpPr txBox="1"/>
          <p:nvPr/>
        </p:nvSpPr>
        <p:spPr>
          <a:xfrm>
            <a:off x="4896471" y="4312467"/>
            <a:ext cx="2549562" cy="2441336"/>
          </a:xfrm>
          <a:prstGeom prst="rect">
            <a:avLst/>
          </a:prstGeom>
          <a:noFill/>
          <a:ln w="19050">
            <a:noFill/>
          </a:ln>
        </p:spPr>
        <p:txBody>
          <a:bodyPr wrap="square" lIns="0" tIns="0" rIns="0" bIns="0" rtlCol="0">
            <a:noAutofit/>
          </a:bodyPr>
          <a:lstStyle/>
          <a:p>
            <a:pPr algn="ctr"/>
            <a:r>
              <a:rPr lang="en-AU" sz="15000">
                <a:solidFill>
                  <a:schemeClr val="accent2"/>
                </a:solidFill>
              </a:rPr>
              <a:t>E</a:t>
            </a:r>
          </a:p>
        </p:txBody>
      </p:sp>
      <p:sp>
        <p:nvSpPr>
          <p:cNvPr id="11" name="TextBox 10">
            <a:extLst>
              <a:ext uri="{FF2B5EF4-FFF2-40B4-BE49-F238E27FC236}">
                <a16:creationId xmlns:a16="http://schemas.microsoft.com/office/drawing/2014/main" id="{4B433913-0496-7AB1-9E6C-783AC4CB8DC1}"/>
              </a:ext>
            </a:extLst>
          </p:cNvPr>
          <p:cNvSpPr txBox="1"/>
          <p:nvPr/>
        </p:nvSpPr>
        <p:spPr>
          <a:xfrm>
            <a:off x="8574438" y="4312467"/>
            <a:ext cx="2549562" cy="2441336"/>
          </a:xfrm>
          <a:prstGeom prst="rect">
            <a:avLst/>
          </a:prstGeom>
          <a:noFill/>
          <a:ln w="19050">
            <a:noFill/>
          </a:ln>
        </p:spPr>
        <p:txBody>
          <a:bodyPr wrap="square" lIns="0" tIns="0" rIns="0" bIns="0" rtlCol="0">
            <a:noAutofit/>
          </a:bodyPr>
          <a:lstStyle/>
          <a:p>
            <a:pPr algn="ctr"/>
            <a:r>
              <a:rPr lang="en-AU" sz="15000">
                <a:solidFill>
                  <a:schemeClr val="accent2"/>
                </a:solidFill>
              </a:rPr>
              <a:t>N</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5" name="TextBox 4">
            <a:extLst>
              <a:ext uri="{FF2B5EF4-FFF2-40B4-BE49-F238E27FC236}">
                <a16:creationId xmlns:a16="http://schemas.microsoft.com/office/drawing/2014/main" id="{F284595C-D787-7265-0489-BE1AAB98F4FB}"/>
              </a:ext>
            </a:extLst>
          </p:cNvPr>
          <p:cNvSpPr txBox="1"/>
          <p:nvPr/>
        </p:nvSpPr>
        <p:spPr>
          <a:xfrm>
            <a:off x="250860" y="1546173"/>
            <a:ext cx="6052273" cy="4465675"/>
          </a:xfrm>
          <a:prstGeom prst="rect">
            <a:avLst/>
          </a:prstGeom>
          <a:noFill/>
        </p:spPr>
        <p:txBody>
          <a:bodyPr wrap="square" lIns="0" tIns="0" rIns="0" bIns="0" rtlCol="0">
            <a:noAutofit/>
          </a:bodyPr>
          <a:lstStyle/>
          <a:p>
            <a:pPr algn="ctr">
              <a:lnSpc>
                <a:spcPct val="150000"/>
              </a:lnSpc>
              <a:spcBef>
                <a:spcPts val="1200"/>
              </a:spcBef>
              <a:spcAft>
                <a:spcPts val="600"/>
              </a:spcAft>
            </a:pPr>
            <a:r>
              <a:rPr lang="en-AU" sz="2800"/>
              <a:t>Eric collected data in a column graph on how students in his class travel to school. </a:t>
            </a:r>
          </a:p>
          <a:p>
            <a:pPr marL="514350" indent="-514350" algn="ctr">
              <a:lnSpc>
                <a:spcPct val="150000"/>
              </a:lnSpc>
              <a:spcBef>
                <a:spcPts val="1200"/>
              </a:spcBef>
              <a:spcAft>
                <a:spcPts val="600"/>
              </a:spcAft>
              <a:buFont typeface="+mj-lt"/>
              <a:buAutoNum type="alphaLcParenR"/>
            </a:pPr>
            <a:r>
              <a:rPr lang="en-AU" sz="2800"/>
              <a:t>Name the </a:t>
            </a:r>
            <a:r>
              <a:rPr lang="en-AU" sz="2800" b="1"/>
              <a:t>x-axis</a:t>
            </a:r>
          </a:p>
          <a:p>
            <a:pPr marL="514350" indent="-514350" algn="ctr">
              <a:lnSpc>
                <a:spcPct val="150000"/>
              </a:lnSpc>
              <a:spcBef>
                <a:spcPts val="1200"/>
              </a:spcBef>
              <a:spcAft>
                <a:spcPts val="600"/>
              </a:spcAft>
              <a:buFont typeface="+mj-lt"/>
              <a:buAutoNum type="alphaLcParenR"/>
            </a:pPr>
            <a:r>
              <a:rPr lang="en-AU" sz="2800"/>
              <a:t>Name the </a:t>
            </a:r>
            <a:r>
              <a:rPr lang="en-AU" sz="2800" b="1"/>
              <a:t>y-axis</a:t>
            </a:r>
          </a:p>
          <a:p>
            <a:pPr marL="514350" indent="-514350" algn="ctr">
              <a:lnSpc>
                <a:spcPct val="150000"/>
              </a:lnSpc>
              <a:spcBef>
                <a:spcPts val="1200"/>
              </a:spcBef>
              <a:spcAft>
                <a:spcPts val="600"/>
              </a:spcAft>
              <a:buFont typeface="+mj-lt"/>
              <a:buAutoNum type="alphaLcParenR"/>
            </a:pPr>
            <a:r>
              <a:rPr lang="en-AU" sz="2800"/>
              <a:t>Choose an </a:t>
            </a:r>
            <a:r>
              <a:rPr lang="en-AU" sz="2800" b="1"/>
              <a:t>appropriate title.</a:t>
            </a:r>
          </a:p>
        </p:txBody>
      </p:sp>
      <p:grpSp>
        <p:nvGrpSpPr>
          <p:cNvPr id="11" name="Group 10" descr="Column graph showing how students travel to school most days. Car is 12 students, bike is 3, walk is 4, public transport is 8, scooter is 3.">
            <a:extLst>
              <a:ext uri="{FF2B5EF4-FFF2-40B4-BE49-F238E27FC236}">
                <a16:creationId xmlns:a16="http://schemas.microsoft.com/office/drawing/2014/main" id="{6AF8054F-6332-EBFA-65AD-9BCF86C5ECF3}"/>
              </a:ext>
            </a:extLst>
          </p:cNvPr>
          <p:cNvGrpSpPr/>
          <p:nvPr/>
        </p:nvGrpSpPr>
        <p:grpSpPr>
          <a:xfrm>
            <a:off x="6422065" y="2096519"/>
            <a:ext cx="5421935" cy="3507185"/>
            <a:chOff x="5723870" y="1791371"/>
            <a:chExt cx="6120130" cy="3672205"/>
          </a:xfrm>
          <a:effectLst/>
        </p:grpSpPr>
        <p:pic>
          <p:nvPicPr>
            <p:cNvPr id="4" name="Picture 3" descr="Column graph showing how students travel to school most days. Car is 12 students, bike is 3, walk is 4, public transport is 8, scooter is 3.">
              <a:extLst>
                <a:ext uri="{FF2B5EF4-FFF2-40B4-BE49-F238E27FC236}">
                  <a16:creationId xmlns:a16="http://schemas.microsoft.com/office/drawing/2014/main" id="{037290BC-08F5-636B-DC84-D7F45EEAEB01}"/>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5723870" y="1791371"/>
              <a:ext cx="6120130" cy="3672205"/>
            </a:xfrm>
            <a:prstGeom prst="rect">
              <a:avLst/>
            </a:prstGeom>
            <a:ln>
              <a:noFill/>
            </a:ln>
            <a:effectLst/>
          </p:spPr>
        </p:pic>
        <p:sp>
          <p:nvSpPr>
            <p:cNvPr id="8" name="Rectangle 7">
              <a:extLst>
                <a:ext uri="{FF2B5EF4-FFF2-40B4-BE49-F238E27FC236}">
                  <a16:creationId xmlns:a16="http://schemas.microsoft.com/office/drawing/2014/main" id="{0ECD8886-5CBD-616B-3911-56F320B45FD9}"/>
                </a:ext>
              </a:extLst>
            </p:cNvPr>
            <p:cNvSpPr/>
            <p:nvPr/>
          </p:nvSpPr>
          <p:spPr>
            <a:xfrm>
              <a:off x="6485860" y="1899684"/>
              <a:ext cx="4638140" cy="3369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55DB617C-DFCE-A0CB-4D7B-0F7B5C7F0E4D}"/>
                </a:ext>
              </a:extLst>
            </p:cNvPr>
            <p:cNvSpPr/>
            <p:nvPr/>
          </p:nvSpPr>
          <p:spPr>
            <a:xfrm>
              <a:off x="8378455" y="5034332"/>
              <a:ext cx="1417675" cy="3369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369B9268-DD9C-5A4C-E311-0CFA6050EE83}"/>
                </a:ext>
              </a:extLst>
            </p:cNvPr>
            <p:cNvSpPr/>
            <p:nvPr/>
          </p:nvSpPr>
          <p:spPr>
            <a:xfrm rot="16200000">
              <a:off x="5216885" y="3395196"/>
              <a:ext cx="1563038" cy="3369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place value challenge</a:t>
            </a:r>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3" name="Picture 2" descr="Internet symbol">
            <a:extLst>
              <a:ext uri="{FF2B5EF4-FFF2-40B4-BE49-F238E27FC236}">
                <a16:creationId xmlns:a16="http://schemas.microsoft.com/office/drawing/2014/main" id="{50D3D2D6-C260-4910-01A5-F89CD17A2A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380" y="1438182"/>
            <a:ext cx="1473693" cy="147369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811E722-51F7-E686-8BC5-5A668CD11848}"/>
              </a:ext>
            </a:extLst>
          </p:cNvPr>
          <p:cNvSpPr txBox="1"/>
          <p:nvPr/>
        </p:nvSpPr>
        <p:spPr>
          <a:xfrm>
            <a:off x="2594500" y="1701437"/>
            <a:ext cx="6094520" cy="947182"/>
          </a:xfrm>
          <a:prstGeom prst="rect">
            <a:avLst/>
          </a:prstGeom>
          <a:noFill/>
        </p:spPr>
        <p:txBody>
          <a:bodyPr wrap="square">
            <a:spAutoFit/>
          </a:bodyPr>
          <a:lstStyle/>
          <a:p>
            <a:r>
              <a:rPr lang="en-AU" sz="2400" u="sng">
                <a:solidFill>
                  <a:srgbClr val="2F5496"/>
                </a:solidFill>
                <a:effectLst/>
                <a:latin typeface="Arial" panose="020B0604020202020204" pitchFamily="34" charset="0"/>
                <a:ea typeface="Calibri" panose="020F0502020204030204" pitchFamily="34" charset="0"/>
                <a:hlinkClick r:id="rId5"/>
              </a:rPr>
              <a:t>Place value chart</a:t>
            </a:r>
            <a:endParaRPr lang="en-AU" sz="2400" u="sng">
              <a:solidFill>
                <a:srgbClr val="2F5496"/>
              </a:solidFill>
              <a:effectLst/>
              <a:latin typeface="Arial" panose="020B0604020202020204" pitchFamily="34" charset="0"/>
              <a:ea typeface="Calibri" panose="020F0502020204030204" pitchFamily="34" charset="0"/>
            </a:endParaRPr>
          </a:p>
          <a:p>
            <a:pPr>
              <a:lnSpc>
                <a:spcPct val="150000"/>
              </a:lnSpc>
            </a:pPr>
            <a:r>
              <a:rPr lang="en-AU"/>
              <a:t>https://toytheater.com/place-value-chart/</a:t>
            </a:r>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F12ED-E838-7BF0-C8CA-1BA83279FED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04B9F09-B577-EA68-0975-21C3D908C8C6}"/>
              </a:ext>
            </a:extLst>
          </p:cNvPr>
          <p:cNvSpPr>
            <a:spLocks noGrp="1"/>
          </p:cNvSpPr>
          <p:nvPr>
            <p:ph type="title"/>
          </p:nvPr>
        </p:nvSpPr>
        <p:spPr>
          <a:xfrm>
            <a:off x="360000" y="360000"/>
            <a:ext cx="9901600" cy="545601"/>
          </a:xfrm>
        </p:spPr>
        <p:txBody>
          <a:bodyPr/>
          <a:lstStyle/>
          <a:p>
            <a:r>
              <a:rPr lang="en-US"/>
              <a:t>Multiple choice </a:t>
            </a:r>
            <a:r>
              <a:rPr lang="en-US" dirty="0">
                <a:solidFill>
                  <a:schemeClr val="bg1"/>
                </a:solidFill>
              </a:rPr>
              <a:t>(3)</a:t>
            </a:r>
          </a:p>
        </p:txBody>
      </p:sp>
      <p:pic>
        <p:nvPicPr>
          <p:cNvPr id="5" name="Picture 4">
            <a:extLst>
              <a:ext uri="{FF2B5EF4-FFF2-40B4-BE49-F238E27FC236}">
                <a16:creationId xmlns:a16="http://schemas.microsoft.com/office/drawing/2014/main" id="{63BB4C06-78C9-0002-8564-9020FDFB554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D6048AB4-8E81-542D-D10E-46C8FE4630BB}"/>
              </a:ext>
            </a:extLst>
          </p:cNvPr>
          <p:cNvSpPr>
            <a:spLocks noGrp="1"/>
          </p:cNvSpPr>
          <p:nvPr>
            <p:ph type="body" sz="quarter" idx="28"/>
          </p:nvPr>
        </p:nvSpPr>
        <p:spPr>
          <a:xfrm>
            <a:off x="360000" y="1025991"/>
            <a:ext cx="11243037" cy="754243"/>
          </a:xfrm>
        </p:spPr>
        <p:txBody>
          <a:bodyPr/>
          <a:lstStyle/>
          <a:p>
            <a:pPr algn="ctr"/>
            <a:r>
              <a:rPr lang="en-US" sz="4000"/>
              <a:t>Which representation shows a </a:t>
            </a:r>
            <a:r>
              <a:rPr lang="en-US" sz="4000" b="1" dirty="0"/>
              <a:t>third</a:t>
            </a:r>
            <a:r>
              <a:rPr lang="en-US" sz="4000"/>
              <a:t> of a length?</a:t>
            </a:r>
            <a:endParaRPr lang="en-US" sz="4000" dirty="0"/>
          </a:p>
          <a:p>
            <a:endParaRPr lang="en-US" sz="4400"/>
          </a:p>
        </p:txBody>
      </p:sp>
      <p:sp>
        <p:nvSpPr>
          <p:cNvPr id="9" name="B">
            <a:extLst>
              <a:ext uri="{FF2B5EF4-FFF2-40B4-BE49-F238E27FC236}">
                <a16:creationId xmlns:a16="http://schemas.microsoft.com/office/drawing/2014/main" id="{A09408DD-D92F-611A-A811-20FA8136023D}"/>
              </a:ext>
            </a:extLst>
          </p:cNvPr>
          <p:cNvSpPr txBox="1"/>
          <p:nvPr/>
        </p:nvSpPr>
        <p:spPr>
          <a:xfrm>
            <a:off x="474617" y="213544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pic>
        <p:nvPicPr>
          <p:cNvPr id="20" name="Picture 19" descr="A fraction strip with 3 parts shaded of 3 parts.">
            <a:extLst>
              <a:ext uri="{FF2B5EF4-FFF2-40B4-BE49-F238E27FC236}">
                <a16:creationId xmlns:a16="http://schemas.microsoft.com/office/drawing/2014/main" id="{C3F60A33-0F23-C0F3-7894-8DA5F0AE29B4}"/>
              </a:ext>
            </a:extLst>
          </p:cNvPr>
          <p:cNvPicPr>
            <a:picLocks noChangeAspect="1"/>
          </p:cNvPicPr>
          <p:nvPr/>
        </p:nvPicPr>
        <p:blipFill>
          <a:blip r:embed="rId4"/>
          <a:stretch>
            <a:fillRect/>
          </a:stretch>
        </p:blipFill>
        <p:spPr>
          <a:xfrm>
            <a:off x="1134835" y="2172314"/>
            <a:ext cx="6934200" cy="697578"/>
          </a:xfrm>
          <a:prstGeom prst="rect">
            <a:avLst/>
          </a:prstGeom>
        </p:spPr>
      </p:pic>
      <p:sp>
        <p:nvSpPr>
          <p:cNvPr id="10" name="B">
            <a:extLst>
              <a:ext uri="{FF2B5EF4-FFF2-40B4-BE49-F238E27FC236}">
                <a16:creationId xmlns:a16="http://schemas.microsoft.com/office/drawing/2014/main" id="{C2906F40-3043-2258-3EBC-EEEFEC932AB5}"/>
              </a:ext>
            </a:extLst>
          </p:cNvPr>
          <p:cNvSpPr txBox="1"/>
          <p:nvPr/>
        </p:nvSpPr>
        <p:spPr>
          <a:xfrm>
            <a:off x="474616" y="29833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pic>
        <p:nvPicPr>
          <p:cNvPr id="7" name="Picture 6" descr="A fraction strip with 1 part shaded of 3 parts.">
            <a:extLst>
              <a:ext uri="{FF2B5EF4-FFF2-40B4-BE49-F238E27FC236}">
                <a16:creationId xmlns:a16="http://schemas.microsoft.com/office/drawing/2014/main" id="{0C53F4DC-2079-35E4-6826-78C380E91FCC}"/>
              </a:ext>
            </a:extLst>
          </p:cNvPr>
          <p:cNvPicPr>
            <a:picLocks noChangeAspect="1"/>
          </p:cNvPicPr>
          <p:nvPr/>
        </p:nvPicPr>
        <p:blipFill>
          <a:blip r:embed="rId5"/>
          <a:stretch>
            <a:fillRect/>
          </a:stretch>
        </p:blipFill>
        <p:spPr>
          <a:xfrm>
            <a:off x="1134835" y="3008748"/>
            <a:ext cx="6934200" cy="687880"/>
          </a:xfrm>
          <a:prstGeom prst="rect">
            <a:avLst/>
          </a:prstGeom>
        </p:spPr>
      </p:pic>
      <p:sp>
        <p:nvSpPr>
          <p:cNvPr id="12" name="C">
            <a:extLst>
              <a:ext uri="{FF2B5EF4-FFF2-40B4-BE49-F238E27FC236}">
                <a16:creationId xmlns:a16="http://schemas.microsoft.com/office/drawing/2014/main" id="{FCFAAB9A-05DD-1A6F-2E0B-E4E9AE0D6C9A}"/>
              </a:ext>
            </a:extLst>
          </p:cNvPr>
          <p:cNvSpPr txBox="1"/>
          <p:nvPr/>
        </p:nvSpPr>
        <p:spPr>
          <a:xfrm>
            <a:off x="474615" y="383340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13" name="Picture 12" descr="A fraction strip with 2 parts shaded of 3 parts.">
            <a:extLst>
              <a:ext uri="{FF2B5EF4-FFF2-40B4-BE49-F238E27FC236}">
                <a16:creationId xmlns:a16="http://schemas.microsoft.com/office/drawing/2014/main" id="{543C8096-179B-460C-FCC3-50789C583BFD}"/>
              </a:ext>
            </a:extLst>
          </p:cNvPr>
          <p:cNvPicPr>
            <a:picLocks noChangeAspect="1"/>
          </p:cNvPicPr>
          <p:nvPr/>
        </p:nvPicPr>
        <p:blipFill>
          <a:blip r:embed="rId6"/>
          <a:stretch>
            <a:fillRect/>
          </a:stretch>
        </p:blipFill>
        <p:spPr>
          <a:xfrm>
            <a:off x="1134835" y="3857901"/>
            <a:ext cx="6934200" cy="685088"/>
          </a:xfrm>
          <a:prstGeom prst="rect">
            <a:avLst/>
          </a:prstGeom>
        </p:spPr>
      </p:pic>
      <p:sp>
        <p:nvSpPr>
          <p:cNvPr id="11" name="D">
            <a:extLst>
              <a:ext uri="{FF2B5EF4-FFF2-40B4-BE49-F238E27FC236}">
                <a16:creationId xmlns:a16="http://schemas.microsoft.com/office/drawing/2014/main" id="{FFAA2771-ABC7-14C2-C668-E1EEE2F91D8E}"/>
              </a:ext>
            </a:extLst>
          </p:cNvPr>
          <p:cNvSpPr txBox="1"/>
          <p:nvPr/>
        </p:nvSpPr>
        <p:spPr>
          <a:xfrm>
            <a:off x="474614" y="468346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pic>
        <p:nvPicPr>
          <p:cNvPr id="22" name="Picture 21" descr="A fraction strip with 1 part shaded and half a part shaded of 3 parts.">
            <a:extLst>
              <a:ext uri="{FF2B5EF4-FFF2-40B4-BE49-F238E27FC236}">
                <a16:creationId xmlns:a16="http://schemas.microsoft.com/office/drawing/2014/main" id="{1C15D2F4-E455-3C05-4AD9-B007179404DD}"/>
              </a:ext>
            </a:extLst>
          </p:cNvPr>
          <p:cNvPicPr>
            <a:picLocks noChangeAspect="1"/>
          </p:cNvPicPr>
          <p:nvPr/>
        </p:nvPicPr>
        <p:blipFill>
          <a:blip r:embed="rId7"/>
          <a:stretch>
            <a:fillRect/>
          </a:stretch>
        </p:blipFill>
        <p:spPr>
          <a:xfrm>
            <a:off x="1134835" y="4727154"/>
            <a:ext cx="7004958" cy="691156"/>
          </a:xfrm>
          <a:prstGeom prst="rect">
            <a:avLst/>
          </a:prstGeom>
        </p:spPr>
      </p:pic>
      <p:sp>
        <p:nvSpPr>
          <p:cNvPr id="4" name="Text Placeholder">
            <a:extLst>
              <a:ext uri="{FF2B5EF4-FFF2-40B4-BE49-F238E27FC236}">
                <a16:creationId xmlns:a16="http://schemas.microsoft.com/office/drawing/2014/main" id="{4287772A-7100-6FD3-B299-1F004F4BD0BE}"/>
              </a:ext>
            </a:extLst>
          </p:cNvPr>
          <p:cNvSpPr txBox="1">
            <a:spLocks/>
          </p:cNvSpPr>
          <p:nvPr/>
        </p:nvSpPr>
        <p:spPr>
          <a:xfrm>
            <a:off x="240963" y="5630783"/>
            <a:ext cx="11243037" cy="75424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a:t>Communicate </a:t>
            </a:r>
            <a:r>
              <a:rPr lang="en-US" sz="4000"/>
              <a:t>your </a:t>
            </a:r>
            <a:r>
              <a:rPr lang="en-US" sz="4000" b="1"/>
              <a:t>reasoning</a:t>
            </a:r>
            <a:r>
              <a:rPr lang="en-US" sz="4000"/>
              <a:t>.</a:t>
            </a:r>
          </a:p>
          <a:p>
            <a:endParaRPr lang="en-US" sz="4400"/>
          </a:p>
        </p:txBody>
      </p:sp>
      <p:sp>
        <p:nvSpPr>
          <p:cNvPr id="2" name="Slide Number Placeholder 1">
            <a:extLst>
              <a:ext uri="{FF2B5EF4-FFF2-40B4-BE49-F238E27FC236}">
                <a16:creationId xmlns:a16="http://schemas.microsoft.com/office/drawing/2014/main" id="{AB9C91E9-5715-6C6C-1A3D-BB28DB08B9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3653123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B942806-C244-C97E-6089-7F3E1FDA62D7}"/>
              </a:ext>
            </a:extLst>
          </p:cNvPr>
          <p:cNvSpPr txBox="1"/>
          <p:nvPr/>
        </p:nvSpPr>
        <p:spPr>
          <a:xfrm>
            <a:off x="246024" y="984655"/>
            <a:ext cx="11344320" cy="1664855"/>
          </a:xfrm>
          <a:prstGeom prst="rect">
            <a:avLst/>
          </a:prstGeom>
          <a:noFill/>
        </p:spPr>
        <p:txBody>
          <a:bodyPr wrap="square" lIns="0" tIns="0" rIns="0" bIns="0" rtlCol="0">
            <a:noAutofit/>
          </a:bodyPr>
          <a:lstStyle/>
          <a:p>
            <a:pPr algn="ctr">
              <a:lnSpc>
                <a:spcPct val="150000"/>
              </a:lnSpc>
            </a:pPr>
            <a:r>
              <a:rPr lang="en-AU" sz="3200" b="1"/>
              <a:t>Record</a:t>
            </a:r>
            <a:r>
              <a:rPr lang="en-AU" sz="3200"/>
              <a:t> the </a:t>
            </a:r>
            <a:r>
              <a:rPr lang="en-AU" sz="3200" b="1"/>
              <a:t>mass</a:t>
            </a:r>
            <a:r>
              <a:rPr lang="en-AU" sz="3200"/>
              <a:t> of the clay balls on each digital scale in </a:t>
            </a:r>
            <a:r>
              <a:rPr lang="en-AU" sz="3200" b="1"/>
              <a:t>grams (g) </a:t>
            </a:r>
            <a:r>
              <a:rPr lang="en-AU" sz="3200"/>
              <a:t>and/or </a:t>
            </a:r>
            <a:r>
              <a:rPr lang="en-AU" sz="3200" b="1"/>
              <a:t>kilograms (kg)</a:t>
            </a:r>
            <a:r>
              <a:rPr lang="en-AU" sz="3200"/>
              <a:t>.</a:t>
            </a:r>
          </a:p>
        </p:txBody>
      </p:sp>
      <p:grpSp>
        <p:nvGrpSpPr>
          <p:cNvPr id="15" name="Group 14" descr="A. a clay ball on a digital scale with its weight displayed in grams.">
            <a:extLst>
              <a:ext uri="{FF2B5EF4-FFF2-40B4-BE49-F238E27FC236}">
                <a16:creationId xmlns:a16="http://schemas.microsoft.com/office/drawing/2014/main" id="{5B6B12FE-EA49-1E24-1CCD-AA8257FD59EC}"/>
              </a:ext>
            </a:extLst>
          </p:cNvPr>
          <p:cNvGrpSpPr/>
          <p:nvPr/>
        </p:nvGrpSpPr>
        <p:grpSpPr>
          <a:xfrm>
            <a:off x="360000" y="2908242"/>
            <a:ext cx="3599680" cy="3428471"/>
            <a:chOff x="360000" y="2908242"/>
            <a:chExt cx="3599680" cy="3428471"/>
          </a:xfrm>
        </p:grpSpPr>
        <p:pic>
          <p:nvPicPr>
            <p:cNvPr id="7" name="Picture 6">
              <a:extLst>
                <a:ext uri="{FF2B5EF4-FFF2-40B4-BE49-F238E27FC236}">
                  <a16:creationId xmlns:a16="http://schemas.microsoft.com/office/drawing/2014/main" id="{1A95E3A2-B899-448D-7E8A-5419291AAD56}"/>
                </a:ext>
              </a:extLst>
            </p:cNvPr>
            <p:cNvPicPr>
              <a:picLocks noChangeAspect="1"/>
            </p:cNvPicPr>
            <p:nvPr/>
          </p:nvPicPr>
          <p:blipFill>
            <a:blip r:embed="rId4"/>
            <a:stretch>
              <a:fillRect/>
            </a:stretch>
          </p:blipFill>
          <p:spPr>
            <a:xfrm>
              <a:off x="360000" y="3167670"/>
              <a:ext cx="3599680" cy="3169043"/>
            </a:xfrm>
            <a:prstGeom prst="rect">
              <a:avLst/>
            </a:prstGeom>
          </p:spPr>
        </p:pic>
        <p:sp>
          <p:nvSpPr>
            <p:cNvPr id="13" name="TextBox 12">
              <a:extLst>
                <a:ext uri="{FF2B5EF4-FFF2-40B4-BE49-F238E27FC236}">
                  <a16:creationId xmlns:a16="http://schemas.microsoft.com/office/drawing/2014/main" id="{92D005E7-4026-F212-0B25-CCE9BFBB1A39}"/>
                </a:ext>
              </a:extLst>
            </p:cNvPr>
            <p:cNvSpPr txBox="1"/>
            <p:nvPr/>
          </p:nvSpPr>
          <p:spPr>
            <a:xfrm>
              <a:off x="587737" y="2908242"/>
              <a:ext cx="914400" cy="914400"/>
            </a:xfrm>
            <a:prstGeom prst="rect">
              <a:avLst/>
            </a:prstGeom>
            <a:noFill/>
          </p:spPr>
          <p:txBody>
            <a:bodyPr wrap="none" lIns="0" tIns="0" rIns="0" bIns="0" rtlCol="0">
              <a:noAutofit/>
            </a:bodyPr>
            <a:lstStyle/>
            <a:p>
              <a:pPr algn="l"/>
              <a:r>
                <a:rPr lang="en-AU" sz="3200" b="1"/>
                <a:t>A.</a:t>
              </a:r>
            </a:p>
          </p:txBody>
        </p:sp>
      </p:grpSp>
      <p:grpSp>
        <p:nvGrpSpPr>
          <p:cNvPr id="16" name="Group 15" descr="B. a clay ball on a digital scale with its weight displayed in grams.">
            <a:extLst>
              <a:ext uri="{FF2B5EF4-FFF2-40B4-BE49-F238E27FC236}">
                <a16:creationId xmlns:a16="http://schemas.microsoft.com/office/drawing/2014/main" id="{BE5078FA-ED0F-0C48-91D5-8DD2981FA191}"/>
              </a:ext>
            </a:extLst>
          </p:cNvPr>
          <p:cNvGrpSpPr/>
          <p:nvPr/>
        </p:nvGrpSpPr>
        <p:grpSpPr>
          <a:xfrm>
            <a:off x="4139299" y="2818202"/>
            <a:ext cx="3785722" cy="3551088"/>
            <a:chOff x="4139299" y="2818202"/>
            <a:chExt cx="3785722" cy="3551088"/>
          </a:xfrm>
        </p:grpSpPr>
        <p:pic>
          <p:nvPicPr>
            <p:cNvPr id="9" name="Picture 8">
              <a:extLst>
                <a:ext uri="{FF2B5EF4-FFF2-40B4-BE49-F238E27FC236}">
                  <a16:creationId xmlns:a16="http://schemas.microsoft.com/office/drawing/2014/main" id="{FA7E8131-61DD-22E3-A01A-2CD1B91039B4}"/>
                </a:ext>
              </a:extLst>
            </p:cNvPr>
            <p:cNvPicPr>
              <a:picLocks noChangeAspect="1"/>
            </p:cNvPicPr>
            <p:nvPr/>
          </p:nvPicPr>
          <p:blipFill>
            <a:blip r:embed="rId5"/>
            <a:stretch>
              <a:fillRect/>
            </a:stretch>
          </p:blipFill>
          <p:spPr>
            <a:xfrm>
              <a:off x="4139299" y="3200247"/>
              <a:ext cx="3785722" cy="3169043"/>
            </a:xfrm>
            <a:prstGeom prst="rect">
              <a:avLst/>
            </a:prstGeom>
          </p:spPr>
        </p:pic>
        <p:sp>
          <p:nvSpPr>
            <p:cNvPr id="12" name="TextBox 11">
              <a:extLst>
                <a:ext uri="{FF2B5EF4-FFF2-40B4-BE49-F238E27FC236}">
                  <a16:creationId xmlns:a16="http://schemas.microsoft.com/office/drawing/2014/main" id="{326F4681-A8AE-4E2A-B80D-C4459B1286B5}"/>
                </a:ext>
              </a:extLst>
            </p:cNvPr>
            <p:cNvSpPr txBox="1"/>
            <p:nvPr/>
          </p:nvSpPr>
          <p:spPr>
            <a:xfrm>
              <a:off x="4514630" y="2818202"/>
              <a:ext cx="914400" cy="914400"/>
            </a:xfrm>
            <a:prstGeom prst="rect">
              <a:avLst/>
            </a:prstGeom>
            <a:noFill/>
          </p:spPr>
          <p:txBody>
            <a:bodyPr wrap="none" lIns="0" tIns="0" rIns="0" bIns="0" rtlCol="0">
              <a:noAutofit/>
            </a:bodyPr>
            <a:lstStyle/>
            <a:p>
              <a:pPr algn="l"/>
              <a:r>
                <a:rPr lang="en-AU" sz="3200" b="1"/>
                <a:t>B.</a:t>
              </a:r>
            </a:p>
          </p:txBody>
        </p:sp>
      </p:grpSp>
      <p:grpSp>
        <p:nvGrpSpPr>
          <p:cNvPr id="17" name="Group 16" descr="C. a clay ball on a digital scale with its weight displayed in grams.">
            <a:extLst>
              <a:ext uri="{FF2B5EF4-FFF2-40B4-BE49-F238E27FC236}">
                <a16:creationId xmlns:a16="http://schemas.microsoft.com/office/drawing/2014/main" id="{976136F3-B811-3DCF-15E5-B90963A4F4E4}"/>
              </a:ext>
            </a:extLst>
          </p:cNvPr>
          <p:cNvGrpSpPr/>
          <p:nvPr/>
        </p:nvGrpSpPr>
        <p:grpSpPr>
          <a:xfrm>
            <a:off x="8104640" y="2370888"/>
            <a:ext cx="3671746" cy="4084678"/>
            <a:chOff x="8104640" y="2370888"/>
            <a:chExt cx="3671746" cy="4084678"/>
          </a:xfrm>
        </p:grpSpPr>
        <p:pic>
          <p:nvPicPr>
            <p:cNvPr id="11" name="Picture 10">
              <a:extLst>
                <a:ext uri="{FF2B5EF4-FFF2-40B4-BE49-F238E27FC236}">
                  <a16:creationId xmlns:a16="http://schemas.microsoft.com/office/drawing/2014/main" id="{4AE29723-7AAC-8B56-DF06-0D5612B5785F}"/>
                </a:ext>
              </a:extLst>
            </p:cNvPr>
            <p:cNvPicPr>
              <a:picLocks noChangeAspect="1"/>
            </p:cNvPicPr>
            <p:nvPr/>
          </p:nvPicPr>
          <p:blipFill>
            <a:blip r:embed="rId6"/>
            <a:stretch>
              <a:fillRect/>
            </a:stretch>
          </p:blipFill>
          <p:spPr>
            <a:xfrm>
              <a:off x="8104640" y="2370888"/>
              <a:ext cx="3671746" cy="4084678"/>
            </a:xfrm>
            <a:prstGeom prst="rect">
              <a:avLst/>
            </a:prstGeom>
          </p:spPr>
        </p:pic>
        <p:sp>
          <p:nvSpPr>
            <p:cNvPr id="14" name="TextBox 13">
              <a:extLst>
                <a:ext uri="{FF2B5EF4-FFF2-40B4-BE49-F238E27FC236}">
                  <a16:creationId xmlns:a16="http://schemas.microsoft.com/office/drawing/2014/main" id="{170F6255-3EF7-2F17-52CE-85DF7FC0CBF9}"/>
                </a:ext>
              </a:extLst>
            </p:cNvPr>
            <p:cNvSpPr txBox="1"/>
            <p:nvPr/>
          </p:nvSpPr>
          <p:spPr>
            <a:xfrm>
              <a:off x="8441523" y="2818202"/>
              <a:ext cx="914400" cy="914400"/>
            </a:xfrm>
            <a:prstGeom prst="rect">
              <a:avLst/>
            </a:prstGeom>
            <a:noFill/>
          </p:spPr>
          <p:txBody>
            <a:bodyPr wrap="none" lIns="0" tIns="0" rIns="0" bIns="0" rtlCol="0">
              <a:noAutofit/>
            </a:bodyPr>
            <a:lstStyle/>
            <a:p>
              <a:pPr algn="l"/>
              <a:r>
                <a:rPr lang="en-AU" sz="3200" b="1"/>
                <a:t>C.</a:t>
              </a:r>
            </a:p>
          </p:txBody>
        </p:sp>
      </p:gr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4" name="TextBox 3">
            <a:extLst>
              <a:ext uri="{FF2B5EF4-FFF2-40B4-BE49-F238E27FC236}">
                <a16:creationId xmlns:a16="http://schemas.microsoft.com/office/drawing/2014/main" id="{D81AC318-CE9E-487B-E9F6-A9CCBD117B09}"/>
              </a:ext>
            </a:extLst>
          </p:cNvPr>
          <p:cNvSpPr txBox="1"/>
          <p:nvPr/>
        </p:nvSpPr>
        <p:spPr>
          <a:xfrm>
            <a:off x="1190362" y="1824449"/>
            <a:ext cx="9811276" cy="3776660"/>
          </a:xfrm>
          <a:prstGeom prst="rect">
            <a:avLst/>
          </a:prstGeom>
          <a:noFill/>
        </p:spPr>
        <p:txBody>
          <a:bodyPr wrap="square" lIns="0" tIns="0" rIns="0" bIns="0" rtlCol="0">
            <a:noAutofit/>
          </a:bodyPr>
          <a:lstStyle/>
          <a:p>
            <a:pPr algn="ctr">
              <a:lnSpc>
                <a:spcPct val="150000"/>
              </a:lnSpc>
            </a:pPr>
            <a:r>
              <a:rPr lang="en-AU" sz="4400"/>
              <a:t>If </a:t>
            </a:r>
            <a:r>
              <a:rPr lang="en-AU" sz="4400" b="1"/>
              <a:t>4 × 5 = 20</a:t>
            </a:r>
            <a:r>
              <a:rPr lang="en-AU" sz="4400"/>
              <a:t>, what is </a:t>
            </a:r>
            <a:r>
              <a:rPr lang="en-AU" sz="4400" b="1"/>
              <a:t>8 × 5</a:t>
            </a:r>
            <a:r>
              <a:rPr lang="en-AU" sz="4400"/>
              <a:t>?</a:t>
            </a:r>
          </a:p>
          <a:p>
            <a:pPr algn="ctr">
              <a:lnSpc>
                <a:spcPct val="150000"/>
              </a:lnSpc>
            </a:pPr>
            <a:endParaRPr lang="en-AU" sz="4400"/>
          </a:p>
          <a:p>
            <a:pPr algn="ctr">
              <a:lnSpc>
                <a:spcPct val="150000"/>
              </a:lnSpc>
            </a:pP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66D9E376-AA2E-2E14-2EE1-D9C40C3D9264}"/>
              </a:ext>
            </a:extLst>
          </p:cNvPr>
          <p:cNvSpPr txBox="1"/>
          <p:nvPr/>
        </p:nvSpPr>
        <p:spPr>
          <a:xfrm>
            <a:off x="246024" y="1689067"/>
            <a:ext cx="5367405" cy="4102598"/>
          </a:xfrm>
          <a:prstGeom prst="rect">
            <a:avLst/>
          </a:prstGeom>
          <a:noFill/>
        </p:spPr>
        <p:txBody>
          <a:bodyPr wrap="square" lIns="0" tIns="0" rIns="0" bIns="0" rtlCol="0">
            <a:noAutofit/>
          </a:bodyPr>
          <a:lstStyle/>
          <a:p>
            <a:pPr algn="ctr">
              <a:lnSpc>
                <a:spcPct val="150000"/>
              </a:lnSpc>
            </a:pPr>
            <a:r>
              <a:rPr lang="en-AU" sz="3600"/>
              <a:t>Record the </a:t>
            </a:r>
            <a:r>
              <a:rPr lang="en-AU" sz="3600" b="1"/>
              <a:t>area</a:t>
            </a:r>
            <a:r>
              <a:rPr lang="en-AU" sz="3600"/>
              <a:t> of the rectangle in </a:t>
            </a:r>
            <a:r>
              <a:rPr lang="en-AU" sz="3600" b="1"/>
              <a:t>square centimetres</a:t>
            </a:r>
            <a:r>
              <a:rPr lang="en-AU" sz="3600"/>
              <a:t> using both </a:t>
            </a:r>
            <a:r>
              <a:rPr lang="en-AU" sz="3600" b="1"/>
              <a:t>numerals</a:t>
            </a:r>
            <a:r>
              <a:rPr lang="en-AU" sz="3600"/>
              <a:t> and </a:t>
            </a:r>
            <a:r>
              <a:rPr lang="en-AU" sz="3600" b="1"/>
              <a:t>words</a:t>
            </a:r>
            <a:r>
              <a:rPr lang="en-AU" sz="3600"/>
              <a:t>.</a:t>
            </a:r>
          </a:p>
        </p:txBody>
      </p:sp>
      <p:pic>
        <p:nvPicPr>
          <p:cNvPr id="5" name="Picture 4" descr="A rectangle on square centimetre grid paper with the dimensions: 8 cm by 3 cm.">
            <a:extLst>
              <a:ext uri="{FF2B5EF4-FFF2-40B4-BE49-F238E27FC236}">
                <a16:creationId xmlns:a16="http://schemas.microsoft.com/office/drawing/2014/main" id="{35119D06-B125-D34F-3276-AF5E55A05480}"/>
              </a:ext>
            </a:extLst>
          </p:cNvPr>
          <p:cNvPicPr>
            <a:picLocks noChangeAspect="1"/>
          </p:cNvPicPr>
          <p:nvPr/>
        </p:nvPicPr>
        <p:blipFill>
          <a:blip r:embed="rId4"/>
          <a:stretch>
            <a:fillRect/>
          </a:stretch>
        </p:blipFill>
        <p:spPr>
          <a:xfrm>
            <a:off x="6054311" y="1869067"/>
            <a:ext cx="5891665" cy="3749708"/>
          </a:xfrm>
          <a:prstGeom prst="rect">
            <a:avLst/>
          </a:prstGeom>
          <a:ln>
            <a:noFill/>
          </a:ln>
          <a:effectLst/>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26F4788-16F9-A57F-A08B-BBFC94049ECF}"/>
              </a:ext>
            </a:extLst>
          </p:cNvPr>
          <p:cNvSpPr txBox="1"/>
          <p:nvPr/>
        </p:nvSpPr>
        <p:spPr>
          <a:xfrm>
            <a:off x="511738" y="1038889"/>
            <a:ext cx="10612262" cy="1076968"/>
          </a:xfrm>
          <a:prstGeom prst="rect">
            <a:avLst/>
          </a:prstGeom>
          <a:noFill/>
        </p:spPr>
        <p:txBody>
          <a:bodyPr wrap="square" lIns="0" tIns="0" rIns="0" bIns="0" rtlCol="0">
            <a:noAutofit/>
          </a:bodyPr>
          <a:lstStyle/>
          <a:p>
            <a:pPr algn="ctr">
              <a:lnSpc>
                <a:spcPct val="150000"/>
              </a:lnSpc>
            </a:pPr>
            <a:r>
              <a:rPr lang="en-AU" sz="3600" b="1"/>
              <a:t>Match</a:t>
            </a:r>
            <a:r>
              <a:rPr lang="en-AU" sz="3600"/>
              <a:t> the time to the </a:t>
            </a:r>
            <a:r>
              <a:rPr lang="en-AU" sz="3600" b="1"/>
              <a:t>nearest 5-minute mark</a:t>
            </a:r>
            <a:r>
              <a:rPr lang="en-AU" sz="3600"/>
              <a:t> on an </a:t>
            </a:r>
            <a:r>
              <a:rPr lang="en-AU" sz="3600" err="1"/>
              <a:t>analog</a:t>
            </a:r>
            <a:r>
              <a:rPr lang="en-AU" sz="3600"/>
              <a:t> clock:</a:t>
            </a:r>
          </a:p>
        </p:txBody>
      </p:sp>
      <p:sp>
        <p:nvSpPr>
          <p:cNvPr id="8" name="TextBox 7">
            <a:extLst>
              <a:ext uri="{FF2B5EF4-FFF2-40B4-BE49-F238E27FC236}">
                <a16:creationId xmlns:a16="http://schemas.microsoft.com/office/drawing/2014/main" id="{8D3FD913-B3B7-93BC-A76D-AFFCFDDC9C03}"/>
              </a:ext>
            </a:extLst>
          </p:cNvPr>
          <p:cNvSpPr txBox="1"/>
          <p:nvPr/>
        </p:nvSpPr>
        <p:spPr>
          <a:xfrm>
            <a:off x="841621" y="2768869"/>
            <a:ext cx="5149703" cy="4075814"/>
          </a:xfrm>
          <a:prstGeom prst="rect">
            <a:avLst/>
          </a:prstGeom>
          <a:noFill/>
        </p:spPr>
        <p:txBody>
          <a:bodyPr wrap="square" lIns="0" tIns="0" rIns="0" bIns="0" rtlCol="0">
            <a:noAutofit/>
          </a:bodyPr>
          <a:lstStyle/>
          <a:p>
            <a:pPr marL="342900" indent="-342900" algn="l">
              <a:lnSpc>
                <a:spcPct val="150000"/>
              </a:lnSpc>
              <a:buFont typeface="+mj-lt"/>
              <a:buAutoNum type="alphaLcParenR"/>
            </a:pPr>
            <a:r>
              <a:rPr lang="en-AU" sz="3600"/>
              <a:t> 4:19 is about…</a:t>
            </a:r>
          </a:p>
          <a:p>
            <a:pPr marL="342900" indent="-342900" algn="l">
              <a:lnSpc>
                <a:spcPct val="150000"/>
              </a:lnSpc>
              <a:buFont typeface="+mj-lt"/>
              <a:buAutoNum type="alphaLcParenR"/>
            </a:pPr>
            <a:r>
              <a:rPr lang="en-AU" sz="3600"/>
              <a:t> 2:43 is about…</a:t>
            </a:r>
          </a:p>
          <a:p>
            <a:pPr marL="342900" indent="-342900" algn="l">
              <a:lnSpc>
                <a:spcPct val="150000"/>
              </a:lnSpc>
              <a:buFont typeface="+mj-lt"/>
              <a:buAutoNum type="alphaLcParenR"/>
            </a:pPr>
            <a:r>
              <a:rPr lang="en-AU" sz="3600"/>
              <a:t> 7:48 is about…</a:t>
            </a:r>
          </a:p>
          <a:p>
            <a:pPr marL="342900" indent="-342900" algn="l">
              <a:lnSpc>
                <a:spcPct val="150000"/>
              </a:lnSpc>
              <a:buFont typeface="+mj-lt"/>
              <a:buAutoNum type="alphaLcParenR"/>
            </a:pPr>
            <a:r>
              <a:rPr lang="en-AU" sz="3600"/>
              <a:t> 10:28 is about…</a:t>
            </a:r>
          </a:p>
        </p:txBody>
      </p:sp>
      <p:sp>
        <p:nvSpPr>
          <p:cNvPr id="5" name="TextBox 4">
            <a:extLst>
              <a:ext uri="{FF2B5EF4-FFF2-40B4-BE49-F238E27FC236}">
                <a16:creationId xmlns:a16="http://schemas.microsoft.com/office/drawing/2014/main" id="{BA5A3B7D-3988-953D-C2E9-A85D3545DCA5}"/>
              </a:ext>
            </a:extLst>
          </p:cNvPr>
          <p:cNvSpPr txBox="1"/>
          <p:nvPr/>
        </p:nvSpPr>
        <p:spPr>
          <a:xfrm>
            <a:off x="7042297" y="2768869"/>
            <a:ext cx="5149703" cy="4075814"/>
          </a:xfrm>
          <a:prstGeom prst="rect">
            <a:avLst/>
          </a:prstGeom>
          <a:noFill/>
        </p:spPr>
        <p:txBody>
          <a:bodyPr wrap="square" lIns="0" tIns="0" rIns="0" bIns="0" rtlCol="0">
            <a:noAutofit/>
          </a:bodyPr>
          <a:lstStyle/>
          <a:p>
            <a:pPr marL="342900" indent="-342900" algn="l">
              <a:lnSpc>
                <a:spcPct val="150000"/>
              </a:lnSpc>
              <a:buFont typeface="+mj-lt"/>
              <a:buAutoNum type="arabicParenR"/>
            </a:pPr>
            <a:r>
              <a:rPr lang="en-AU" sz="3600"/>
              <a:t> 20 past 4</a:t>
            </a:r>
          </a:p>
          <a:p>
            <a:pPr marL="342900" indent="-342900" algn="l">
              <a:lnSpc>
                <a:spcPct val="150000"/>
              </a:lnSpc>
              <a:buFont typeface="+mj-lt"/>
              <a:buAutoNum type="arabicParenR"/>
            </a:pPr>
            <a:r>
              <a:rPr lang="en-AU" sz="3600"/>
              <a:t> 10 to 8</a:t>
            </a:r>
          </a:p>
          <a:p>
            <a:pPr marL="342900" indent="-342900" algn="l">
              <a:lnSpc>
                <a:spcPct val="150000"/>
              </a:lnSpc>
              <a:buFont typeface="+mj-lt"/>
              <a:buAutoNum type="arabicParenR"/>
            </a:pPr>
            <a:r>
              <a:rPr lang="en-AU" sz="3600"/>
              <a:t> half-past 10</a:t>
            </a:r>
          </a:p>
          <a:p>
            <a:pPr marL="342900" indent="-342900" algn="l">
              <a:lnSpc>
                <a:spcPct val="150000"/>
              </a:lnSpc>
              <a:buFont typeface="+mj-lt"/>
              <a:buAutoNum type="arabicParenR"/>
            </a:pPr>
            <a:r>
              <a:rPr lang="en-AU" sz="3600"/>
              <a:t> quarter-to 3 </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making thirds</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grpSp>
        <p:nvGrpSpPr>
          <p:cNvPr id="14" name="Group 13" descr="A number line from zero to one with half marked.">
            <a:extLst>
              <a:ext uri="{FF2B5EF4-FFF2-40B4-BE49-F238E27FC236}">
                <a16:creationId xmlns:a16="http://schemas.microsoft.com/office/drawing/2014/main" id="{EED588DB-26B5-E1BF-139A-481E3E6DD6C8}"/>
              </a:ext>
            </a:extLst>
          </p:cNvPr>
          <p:cNvGrpSpPr/>
          <p:nvPr/>
        </p:nvGrpSpPr>
        <p:grpSpPr>
          <a:xfrm>
            <a:off x="1180730" y="2433959"/>
            <a:ext cx="10005414" cy="1330165"/>
            <a:chOff x="1180730" y="2433959"/>
            <a:chExt cx="10005414" cy="1330165"/>
          </a:xfrm>
        </p:grpSpPr>
        <p:cxnSp>
          <p:nvCxnSpPr>
            <p:cNvPr id="5" name="Straight Arrow Connector 4">
              <a:extLst>
                <a:ext uri="{FF2B5EF4-FFF2-40B4-BE49-F238E27FC236}">
                  <a16:creationId xmlns:a16="http://schemas.microsoft.com/office/drawing/2014/main" id="{87359CE1-FC15-82A2-6ECD-727D508557CA}"/>
                </a:ext>
              </a:extLst>
            </p:cNvPr>
            <p:cNvCxnSpPr/>
            <p:nvPr/>
          </p:nvCxnSpPr>
          <p:spPr>
            <a:xfrm>
              <a:off x="1180730" y="2583402"/>
              <a:ext cx="10005414" cy="0"/>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3E0C835-AC0F-98E6-EA49-162876149040}"/>
                </a:ext>
              </a:extLst>
            </p:cNvPr>
            <p:cNvSpPr txBox="1"/>
            <p:nvPr/>
          </p:nvSpPr>
          <p:spPr>
            <a:xfrm>
              <a:off x="1180730" y="2858610"/>
              <a:ext cx="594804" cy="905514"/>
            </a:xfrm>
            <a:prstGeom prst="rect">
              <a:avLst/>
            </a:prstGeom>
            <a:noFill/>
          </p:spPr>
          <p:txBody>
            <a:bodyPr wrap="square" lIns="0" tIns="0" rIns="0" bIns="0" rtlCol="0">
              <a:noAutofit/>
            </a:bodyPr>
            <a:lstStyle/>
            <a:p>
              <a:pPr algn="ctr"/>
              <a:r>
                <a:rPr lang="en-AU" sz="4400"/>
                <a:t>0</a:t>
              </a:r>
            </a:p>
          </p:txBody>
        </p:sp>
        <p:sp>
          <p:nvSpPr>
            <p:cNvPr id="8" name="TextBox 7">
              <a:extLst>
                <a:ext uri="{FF2B5EF4-FFF2-40B4-BE49-F238E27FC236}">
                  <a16:creationId xmlns:a16="http://schemas.microsoft.com/office/drawing/2014/main" id="{7F31CD83-4670-BCC2-D5A6-809DFAB88043}"/>
                </a:ext>
              </a:extLst>
            </p:cNvPr>
            <p:cNvSpPr txBox="1"/>
            <p:nvPr/>
          </p:nvSpPr>
          <p:spPr>
            <a:xfrm>
              <a:off x="10591340" y="2858610"/>
              <a:ext cx="594804" cy="905514"/>
            </a:xfrm>
            <a:prstGeom prst="rect">
              <a:avLst/>
            </a:prstGeom>
            <a:noFill/>
          </p:spPr>
          <p:txBody>
            <a:bodyPr wrap="square" lIns="0" tIns="0" rIns="0" bIns="0" rtlCol="0">
              <a:noAutofit/>
            </a:bodyPr>
            <a:lstStyle/>
            <a:p>
              <a:pPr algn="ctr"/>
              <a:r>
                <a:rPr lang="en-AU" sz="4400"/>
                <a:t>1</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086D71E-DF6D-796D-5EA5-C10E9CCD28B0}"/>
                    </a:ext>
                  </a:extLst>
                </p:cNvPr>
                <p:cNvSpPr txBox="1"/>
                <p:nvPr/>
              </p:nvSpPr>
              <p:spPr>
                <a:xfrm>
                  <a:off x="5949519" y="2849732"/>
                  <a:ext cx="594804" cy="905514"/>
                </a:xfrm>
                <a:prstGeom prst="rect">
                  <a:avLst/>
                </a:prstGeom>
                <a:noFill/>
              </p:spPr>
              <p:txBody>
                <a:bodyPr wrap="square" lIns="0" tIns="0" rIns="0" bIns="0" rtlCol="0">
                  <a:noAutofit/>
                </a:bodyPr>
                <a:lstStyle/>
                <a:p>
                  <a:pPr algn="ctr"/>
                  <a14:m>
                    <m:oMathPara xmlns:m="http://schemas.openxmlformats.org/officeDocument/2006/math">
                      <m:oMathParaPr>
                        <m:jc m:val="centerGroup"/>
                      </m:oMathParaPr>
                      <m:oMath xmlns:m="http://schemas.openxmlformats.org/officeDocument/2006/math">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2</m:t>
                            </m:r>
                          </m:den>
                        </m:f>
                      </m:oMath>
                    </m:oMathPara>
                  </a14:m>
                  <a:endParaRPr lang="en-AU"/>
                </a:p>
              </p:txBody>
            </p:sp>
          </mc:Choice>
          <mc:Fallback xmlns="">
            <p:sp>
              <p:nvSpPr>
                <p:cNvPr id="9" name="TextBox 8">
                  <a:extLst>
                    <a:ext uri="{FF2B5EF4-FFF2-40B4-BE49-F238E27FC236}">
                      <a16:creationId xmlns:a16="http://schemas.microsoft.com/office/drawing/2014/main" id="{A086D71E-DF6D-796D-5EA5-C10E9CCD28B0}"/>
                    </a:ext>
                  </a:extLst>
                </p:cNvPr>
                <p:cNvSpPr txBox="1">
                  <a:spLocks noRot="1" noChangeAspect="1" noMove="1" noResize="1" noEditPoints="1" noAdjustHandles="1" noChangeArrowheads="1" noChangeShapeType="1" noTextEdit="1"/>
                </p:cNvSpPr>
                <p:nvPr/>
              </p:nvSpPr>
              <p:spPr>
                <a:xfrm>
                  <a:off x="5949519" y="2849732"/>
                  <a:ext cx="594804" cy="905514"/>
                </a:xfrm>
                <a:prstGeom prst="rect">
                  <a:avLst/>
                </a:prstGeom>
                <a:blipFill>
                  <a:blip r:embed="rId4"/>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8A2B5E09-B066-C15C-C09F-8C069275D535}"/>
                </a:ext>
              </a:extLst>
            </p:cNvPr>
            <p:cNvCxnSpPr/>
            <p:nvPr/>
          </p:nvCxnSpPr>
          <p:spPr>
            <a:xfrm>
              <a:off x="1478132" y="2441359"/>
              <a:ext cx="0" cy="2840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A027137-0DC8-5A0B-A0BE-71EAAE2EFAA8}"/>
                </a:ext>
              </a:extLst>
            </p:cNvPr>
            <p:cNvCxnSpPr/>
            <p:nvPr/>
          </p:nvCxnSpPr>
          <p:spPr>
            <a:xfrm>
              <a:off x="6197133" y="2433960"/>
              <a:ext cx="0" cy="2840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6BB0A6E-A103-7AF2-D851-EFB66BC1FA1F}"/>
                </a:ext>
              </a:extLst>
            </p:cNvPr>
            <p:cNvCxnSpPr/>
            <p:nvPr/>
          </p:nvCxnSpPr>
          <p:spPr>
            <a:xfrm>
              <a:off x="10916134" y="2433959"/>
              <a:ext cx="0" cy="2840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8" name="Text Placeholder 7">
            <a:extLst>
              <a:ext uri="{FF2B5EF4-FFF2-40B4-BE49-F238E27FC236}">
                <a16:creationId xmlns:a16="http://schemas.microsoft.com/office/drawing/2014/main" id="{C7AD2A44-E3D5-EB9A-6F54-72F636261613}"/>
              </a:ext>
            </a:extLst>
          </p:cNvPr>
          <p:cNvSpPr>
            <a:spLocks noGrp="1"/>
          </p:cNvSpPr>
          <p:nvPr>
            <p:ph type="body" sz="quarter" idx="22"/>
          </p:nvPr>
        </p:nvSpPr>
        <p:spPr>
          <a:xfrm>
            <a:off x="360001" y="1086441"/>
            <a:ext cx="11243037" cy="893226"/>
          </a:xfrm>
        </p:spPr>
        <p:txBody>
          <a:bodyPr/>
          <a:lstStyle/>
          <a:p>
            <a:pPr algn="ctr"/>
            <a:r>
              <a:rPr lang="en-AU" sz="4000" dirty="0"/>
              <a:t>The </a:t>
            </a:r>
            <a:r>
              <a:rPr lang="en-AU" sz="4000" dirty="0">
                <a:solidFill>
                  <a:schemeClr val="tx2"/>
                </a:solidFill>
              </a:rPr>
              <a:t>red shading </a:t>
            </a:r>
            <a:r>
              <a:rPr lang="en-AU" sz="4000" dirty="0"/>
              <a:t>in this representation shows one  </a:t>
            </a:r>
            <a:r>
              <a:rPr lang="en-AU" sz="4000" b="1" dirty="0"/>
              <a:t>fifth</a:t>
            </a:r>
            <a:r>
              <a:rPr lang="en-AU" sz="4000" dirty="0"/>
              <a:t> of the length of the fraction strip.</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3621023287"/>
              </p:ext>
            </p:extLst>
          </p:nvPr>
        </p:nvGraphicFramePr>
        <p:xfrm>
          <a:off x="2557462" y="4467639"/>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7" name="Text Placeholder 5">
            <a:extLst>
              <a:ext uri="{FF2B5EF4-FFF2-40B4-BE49-F238E27FC236}">
                <a16:creationId xmlns:a16="http://schemas.microsoft.com/office/drawing/2014/main" id="{AB02AA11-1EE6-A672-36A7-A0497DE77AF5}"/>
              </a:ext>
            </a:extLst>
          </p:cNvPr>
          <p:cNvSpPr txBox="1">
            <a:spLocks/>
          </p:cNvSpPr>
          <p:nvPr/>
        </p:nvSpPr>
        <p:spPr>
          <a:xfrm>
            <a:off x="360001" y="5541705"/>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b="1" dirty="0"/>
              <a:t>Communicate</a:t>
            </a:r>
            <a:r>
              <a:rPr lang="en-AU" sz="4000" dirty="0"/>
              <a:t> your </a:t>
            </a:r>
            <a:r>
              <a:rPr lang="en-AU" sz="4000" b="1" dirty="0"/>
              <a:t>reasoning</a:t>
            </a:r>
            <a:r>
              <a:rPr lang="en-AU" sz="4000" dirty="0"/>
              <a:t>.</a:t>
            </a:r>
          </a:p>
        </p:txBody>
      </p:sp>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pic>
        <p:nvPicPr>
          <p:cNvPr id="6" name="Picture 5" descr="A fraction strip showing shading across at least 1 part of five parts of the strip.">
            <a:extLst>
              <a:ext uri="{FF2B5EF4-FFF2-40B4-BE49-F238E27FC236}">
                <a16:creationId xmlns:a16="http://schemas.microsoft.com/office/drawing/2014/main" id="{4D3B7B3A-716E-D096-A170-FD629B7669B2}"/>
              </a:ext>
            </a:extLst>
          </p:cNvPr>
          <p:cNvPicPr>
            <a:picLocks noChangeAspect="1"/>
          </p:cNvPicPr>
          <p:nvPr/>
        </p:nvPicPr>
        <p:blipFill>
          <a:blip r:embed="rId4"/>
          <a:stretch>
            <a:fillRect/>
          </a:stretch>
        </p:blipFill>
        <p:spPr>
          <a:xfrm>
            <a:off x="697018" y="2888457"/>
            <a:ext cx="10569001" cy="1658037"/>
          </a:xfrm>
          <a:prstGeom prst="rect">
            <a:avLst/>
          </a:prstGeom>
        </p:spPr>
      </p:pic>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 uri="{C183D7F6-B498-43B3-948B-1728B52AA6E4}">
                <adec:decorative xmlns:adec="http://schemas.microsoft.com/office/drawing/2017/decorative" val="1"/>
              </a:ext>
            </a:extLst>
          </p:cNvPr>
          <p:cNvSpPr>
            <a:spLocks noGrp="1"/>
          </p:cNvSpPr>
          <p:nvPr>
            <p:ph type="title"/>
          </p:nvPr>
        </p:nvSpPr>
        <p:spPr>
          <a:xfrm>
            <a:off x="360000" y="360000"/>
            <a:ext cx="10367268" cy="545601"/>
          </a:xfrm>
        </p:spPr>
        <p:txBody>
          <a:bodyPr/>
          <a:lstStyle/>
          <a:p>
            <a:r>
              <a:rPr lang="en-AU"/>
              <a:t>Short response</a:t>
            </a:r>
            <a:r>
              <a:rPr lang="en-AU">
                <a:solidFill>
                  <a:schemeClr val="bg1"/>
                </a:solidFill>
              </a:rPr>
              <a:t> (21)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4" name="TextBox 3">
            <a:extLst>
              <a:ext uri="{FF2B5EF4-FFF2-40B4-BE49-F238E27FC236}">
                <a16:creationId xmlns:a16="http://schemas.microsoft.com/office/drawing/2014/main" id="{5199D104-087B-37C3-E8AF-A5411B15A531}"/>
              </a:ext>
              <a:ext uri="{C183D7F6-B498-43B3-948B-1728B52AA6E4}">
                <adec:decorative xmlns:adec="http://schemas.microsoft.com/office/drawing/2017/decorative" val="1"/>
              </a:ext>
            </a:extLst>
          </p:cNvPr>
          <p:cNvSpPr txBox="1"/>
          <p:nvPr/>
        </p:nvSpPr>
        <p:spPr>
          <a:xfrm>
            <a:off x="246984" y="1263721"/>
            <a:ext cx="11597016" cy="3698697"/>
          </a:xfrm>
          <a:prstGeom prst="rect">
            <a:avLst/>
          </a:prstGeom>
          <a:noFill/>
        </p:spPr>
        <p:txBody>
          <a:bodyPr wrap="square" lIns="0" tIns="0" rIns="0" bIns="0" rtlCol="0">
            <a:noAutofit/>
          </a:bodyPr>
          <a:lstStyle/>
          <a:p>
            <a:pPr algn="ctr">
              <a:lnSpc>
                <a:spcPct val="150000"/>
              </a:lnSpc>
            </a:pPr>
            <a:r>
              <a:rPr lang="en-AU" sz="4400" b="1"/>
              <a:t>Order</a:t>
            </a:r>
            <a:r>
              <a:rPr lang="en-AU" sz="4400"/>
              <a:t> the following lengths from</a:t>
            </a:r>
          </a:p>
          <a:p>
            <a:pPr algn="ctr">
              <a:lnSpc>
                <a:spcPct val="150000"/>
              </a:lnSpc>
            </a:pPr>
            <a:r>
              <a:rPr lang="en-AU" sz="4400" b="1"/>
              <a:t>shortest</a:t>
            </a:r>
            <a:r>
              <a:rPr lang="en-AU" sz="4400"/>
              <a:t> to </a:t>
            </a:r>
            <a:r>
              <a:rPr lang="en-AU" sz="4400" b="1"/>
              <a:t>longest</a:t>
            </a:r>
            <a:r>
              <a:rPr lang="en-AU" sz="4400"/>
              <a:t>:</a:t>
            </a:r>
          </a:p>
          <a:p>
            <a:pPr marL="285750" indent="-285750" algn="ctr">
              <a:buFont typeface="Arial" panose="020B0604020202020204" pitchFamily="34" charset="0"/>
              <a:buChar char="•"/>
            </a:pPr>
            <a:endParaRPr lang="en-AU" sz="4400"/>
          </a:p>
        </p:txBody>
      </p:sp>
      <p:sp>
        <p:nvSpPr>
          <p:cNvPr id="5" name="Rectangle: Rounded Corners 4">
            <a:extLst>
              <a:ext uri="{FF2B5EF4-FFF2-40B4-BE49-F238E27FC236}">
                <a16:creationId xmlns:a16="http://schemas.microsoft.com/office/drawing/2014/main" id="{A2BC6834-7A04-C94F-1174-DCA427D14432}"/>
              </a:ext>
            </a:extLst>
          </p:cNvPr>
          <p:cNvSpPr/>
          <p:nvPr/>
        </p:nvSpPr>
        <p:spPr>
          <a:xfrm>
            <a:off x="482173" y="3934673"/>
            <a:ext cx="3121450" cy="1143000"/>
          </a:xfrm>
          <a:prstGeom prst="roundRect">
            <a:avLst/>
          </a:prstGeom>
          <a:solidFill>
            <a:schemeClr val="accent4"/>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4000">
                <a:solidFill>
                  <a:schemeClr val="tx1"/>
                </a:solidFill>
              </a:rPr>
              <a:t>1 m 45 cm</a:t>
            </a:r>
          </a:p>
        </p:txBody>
      </p:sp>
      <p:sp>
        <p:nvSpPr>
          <p:cNvPr id="7" name="Rectangle: Rounded Corners 6">
            <a:extLst>
              <a:ext uri="{FF2B5EF4-FFF2-40B4-BE49-F238E27FC236}">
                <a16:creationId xmlns:a16="http://schemas.microsoft.com/office/drawing/2014/main" id="{CDD2D1F9-7495-D7F3-34DB-8C4A1DEC54F6}"/>
              </a:ext>
            </a:extLst>
          </p:cNvPr>
          <p:cNvSpPr/>
          <p:nvPr/>
        </p:nvSpPr>
        <p:spPr>
          <a:xfrm>
            <a:off x="4535275" y="3974328"/>
            <a:ext cx="3121450" cy="1143000"/>
          </a:xfrm>
          <a:prstGeom prst="roundRect">
            <a:avLst/>
          </a:prstGeom>
          <a:solidFill>
            <a:schemeClr val="accent4"/>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4000">
                <a:solidFill>
                  <a:schemeClr val="tx1"/>
                </a:solidFill>
              </a:rPr>
              <a:t>2 m 11 cm</a:t>
            </a:r>
          </a:p>
        </p:txBody>
      </p:sp>
      <p:sp>
        <p:nvSpPr>
          <p:cNvPr id="8" name="Rectangle: Rounded Corners 7">
            <a:extLst>
              <a:ext uri="{FF2B5EF4-FFF2-40B4-BE49-F238E27FC236}">
                <a16:creationId xmlns:a16="http://schemas.microsoft.com/office/drawing/2014/main" id="{26D11EDD-6BA3-032A-00D4-40E98DAA7420}"/>
              </a:ext>
            </a:extLst>
          </p:cNvPr>
          <p:cNvSpPr/>
          <p:nvPr/>
        </p:nvSpPr>
        <p:spPr>
          <a:xfrm>
            <a:off x="8461036" y="3974328"/>
            <a:ext cx="3121450" cy="1143000"/>
          </a:xfrm>
          <a:prstGeom prst="roundRect">
            <a:avLst/>
          </a:prstGeom>
          <a:solidFill>
            <a:schemeClr val="accent4"/>
          </a:solidFill>
          <a:ln w="381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4000">
                <a:solidFill>
                  <a:schemeClr val="tx1"/>
                </a:solidFill>
              </a:rPr>
              <a:t>1 m 54 cm</a:t>
            </a:r>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4" name="TextBox 3">
            <a:extLst>
              <a:ext uri="{FF2B5EF4-FFF2-40B4-BE49-F238E27FC236}">
                <a16:creationId xmlns:a16="http://schemas.microsoft.com/office/drawing/2014/main" id="{255EBDCE-CF4E-35A4-B0E9-619F6D73212E}"/>
              </a:ext>
            </a:extLst>
          </p:cNvPr>
          <p:cNvSpPr txBox="1"/>
          <p:nvPr/>
        </p:nvSpPr>
        <p:spPr>
          <a:xfrm>
            <a:off x="578069" y="1887469"/>
            <a:ext cx="5517931" cy="4099034"/>
          </a:xfrm>
          <a:prstGeom prst="rect">
            <a:avLst/>
          </a:prstGeom>
          <a:noFill/>
        </p:spPr>
        <p:txBody>
          <a:bodyPr wrap="square" lIns="0" tIns="0" rIns="0" bIns="0" rtlCol="0">
            <a:noAutofit/>
          </a:bodyPr>
          <a:lstStyle/>
          <a:p>
            <a:pPr algn="ctr">
              <a:lnSpc>
                <a:spcPct val="150000"/>
              </a:lnSpc>
            </a:pPr>
            <a:r>
              <a:rPr lang="en-AU" sz="4400"/>
              <a:t>Write a </a:t>
            </a:r>
            <a:r>
              <a:rPr lang="en-AU" sz="4400" b="1"/>
              <a:t>number sentences </a:t>
            </a:r>
            <a:r>
              <a:rPr lang="en-AU" sz="4400"/>
              <a:t>to match the </a:t>
            </a:r>
            <a:r>
              <a:rPr lang="en-AU" sz="4400" b="1"/>
              <a:t>partitioned array</a:t>
            </a:r>
            <a:r>
              <a:rPr lang="en-AU" sz="4400"/>
              <a:t>.</a:t>
            </a:r>
          </a:p>
        </p:txBody>
      </p:sp>
      <p:pic>
        <p:nvPicPr>
          <p:cNvPr id="7" name="Picture 6" descr="An array of 7 rows of 5. A black line separates row 5 and row 6 to partition the array.">
            <a:extLst>
              <a:ext uri="{FF2B5EF4-FFF2-40B4-BE49-F238E27FC236}">
                <a16:creationId xmlns:a16="http://schemas.microsoft.com/office/drawing/2014/main" id="{547C00B0-41FF-0EE4-E41C-EF62E9D2AD8D}"/>
              </a:ext>
            </a:extLst>
          </p:cNvPr>
          <p:cNvPicPr>
            <a:picLocks noChangeAspect="1"/>
          </p:cNvPicPr>
          <p:nvPr/>
        </p:nvPicPr>
        <p:blipFill>
          <a:blip r:embed="rId4"/>
          <a:stretch>
            <a:fillRect/>
          </a:stretch>
        </p:blipFill>
        <p:spPr>
          <a:xfrm>
            <a:off x="6630504" y="726473"/>
            <a:ext cx="4248368" cy="5569236"/>
          </a:xfrm>
          <a:prstGeom prst="rect">
            <a:avLst/>
          </a:prstGeom>
          <a:ln>
            <a:noFill/>
          </a:ln>
          <a:effectLst/>
        </p:spPr>
      </p:pic>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4" name="TextBox 3">
            <a:extLst>
              <a:ext uri="{FF2B5EF4-FFF2-40B4-BE49-F238E27FC236}">
                <a16:creationId xmlns:a16="http://schemas.microsoft.com/office/drawing/2014/main" id="{AA01B688-6A20-4109-803B-1587D2E0F7BE}"/>
              </a:ext>
            </a:extLst>
          </p:cNvPr>
          <p:cNvSpPr txBox="1"/>
          <p:nvPr/>
        </p:nvSpPr>
        <p:spPr>
          <a:xfrm>
            <a:off x="413400" y="1347797"/>
            <a:ext cx="11365200" cy="3834809"/>
          </a:xfrm>
          <a:prstGeom prst="rect">
            <a:avLst/>
          </a:prstGeom>
          <a:noFill/>
        </p:spPr>
        <p:txBody>
          <a:bodyPr wrap="square" lIns="0" tIns="0" rIns="0" bIns="0" rtlCol="0">
            <a:noAutofit/>
          </a:bodyPr>
          <a:lstStyle/>
          <a:p>
            <a:pPr algn="ctr">
              <a:lnSpc>
                <a:spcPct val="150000"/>
              </a:lnSpc>
            </a:pPr>
            <a:r>
              <a:rPr lang="en-AU" sz="3800"/>
              <a:t>Josh wants to measure the </a:t>
            </a:r>
            <a:r>
              <a:rPr lang="en-AU" sz="3800" b="1"/>
              <a:t>area </a:t>
            </a:r>
            <a:r>
              <a:rPr lang="en-AU" sz="3800"/>
              <a:t>of the classroom floor using </a:t>
            </a:r>
            <a:r>
              <a:rPr lang="en-AU" sz="3800" b="1"/>
              <a:t>square centimetres</a:t>
            </a:r>
            <a:r>
              <a:rPr lang="en-AU" sz="3800"/>
              <a:t>.</a:t>
            </a:r>
          </a:p>
          <a:p>
            <a:pPr algn="ctr">
              <a:lnSpc>
                <a:spcPct val="150000"/>
              </a:lnSpc>
            </a:pPr>
            <a:endParaRPr lang="en-AU" sz="1200"/>
          </a:p>
          <a:p>
            <a:pPr algn="ctr">
              <a:lnSpc>
                <a:spcPct val="150000"/>
              </a:lnSpc>
            </a:pPr>
            <a:r>
              <a:rPr lang="en-AU" sz="3800"/>
              <a:t>a) Explain why </a:t>
            </a:r>
            <a:r>
              <a:rPr lang="en-AU" sz="3800" b="1"/>
              <a:t>square centimetres </a:t>
            </a:r>
            <a:r>
              <a:rPr lang="en-AU" sz="3800"/>
              <a:t>are </a:t>
            </a:r>
            <a:r>
              <a:rPr lang="en-AU" sz="3800" b="1"/>
              <a:t>not a suitable </a:t>
            </a:r>
            <a:r>
              <a:rPr lang="en-AU" sz="3800"/>
              <a:t>unit.</a:t>
            </a:r>
            <a:br>
              <a:rPr lang="en-AU" sz="3800"/>
            </a:br>
            <a:r>
              <a:rPr lang="en-AU" sz="3800"/>
              <a:t>b) Which </a:t>
            </a:r>
            <a:r>
              <a:rPr lang="en-AU" sz="3800" b="1"/>
              <a:t>unit</a:t>
            </a:r>
            <a:r>
              <a:rPr lang="en-AU" sz="3800"/>
              <a:t> would be </a:t>
            </a:r>
            <a:r>
              <a:rPr lang="en-AU" sz="3800" b="1"/>
              <a:t>more appropriate</a:t>
            </a:r>
            <a:r>
              <a:rPr lang="en-AU" sz="3800"/>
              <a:t>?</a:t>
            </a:r>
          </a:p>
          <a:p>
            <a:pPr algn="l"/>
            <a:endParaRPr lang="en-AU" sz="3800"/>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5E5DE540-C25B-6904-8405-794500CE61C5}"/>
              </a:ext>
            </a:extLst>
          </p:cNvPr>
          <p:cNvSpPr txBox="1"/>
          <p:nvPr/>
        </p:nvSpPr>
        <p:spPr>
          <a:xfrm>
            <a:off x="609601" y="852847"/>
            <a:ext cx="10712874" cy="1998176"/>
          </a:xfrm>
          <a:prstGeom prst="rect">
            <a:avLst/>
          </a:prstGeom>
          <a:noFill/>
        </p:spPr>
        <p:txBody>
          <a:bodyPr wrap="square">
            <a:spAutoFit/>
          </a:bodyPr>
          <a:lstStyle/>
          <a:p>
            <a:pPr algn="ctr">
              <a:lnSpc>
                <a:spcPct val="150000"/>
              </a:lnSpc>
            </a:pPr>
            <a:r>
              <a:rPr lang="en-AU" sz="4400" b="0" i="0">
                <a:solidFill>
                  <a:srgbClr val="000000"/>
                </a:solidFill>
                <a:effectLst/>
                <a:latin typeface="+mj-lt"/>
              </a:rPr>
              <a:t>Record the </a:t>
            </a:r>
            <a:r>
              <a:rPr lang="en-AU" sz="4400" b="0" i="0" err="1">
                <a:solidFill>
                  <a:srgbClr val="000000"/>
                </a:solidFill>
                <a:effectLst/>
                <a:latin typeface="+mj-lt"/>
              </a:rPr>
              <a:t>analog</a:t>
            </a:r>
            <a:r>
              <a:rPr lang="en-AU" sz="4400" b="0" i="0">
                <a:solidFill>
                  <a:srgbClr val="000000"/>
                </a:solidFill>
                <a:effectLst/>
                <a:latin typeface="+mj-lt"/>
              </a:rPr>
              <a:t> clock times </a:t>
            </a:r>
            <a:r>
              <a:rPr lang="en-AU" sz="4400" b="1" i="0">
                <a:solidFill>
                  <a:srgbClr val="000000"/>
                </a:solidFill>
                <a:effectLst/>
                <a:latin typeface="+mj-lt"/>
              </a:rPr>
              <a:t>to the minute</a:t>
            </a:r>
            <a:r>
              <a:rPr lang="en-AU" sz="4400" b="0" i="0">
                <a:solidFill>
                  <a:srgbClr val="000000"/>
                </a:solidFill>
                <a:effectLst/>
                <a:latin typeface="+mj-lt"/>
              </a:rPr>
              <a:t>.</a:t>
            </a:r>
            <a:endParaRPr lang="en-AU" sz="4400">
              <a:latin typeface="+mj-lt"/>
            </a:endParaRPr>
          </a:p>
        </p:txBody>
      </p:sp>
      <p:grpSp>
        <p:nvGrpSpPr>
          <p:cNvPr id="18" name="Group 17" descr="A. an analog clock showing the hour hand past the 1 and the minute hand past the 3.">
            <a:extLst>
              <a:ext uri="{FF2B5EF4-FFF2-40B4-BE49-F238E27FC236}">
                <a16:creationId xmlns:a16="http://schemas.microsoft.com/office/drawing/2014/main" id="{D495EA75-BAA6-52DE-6638-DFAE3EC894C5}"/>
              </a:ext>
            </a:extLst>
          </p:cNvPr>
          <p:cNvGrpSpPr/>
          <p:nvPr/>
        </p:nvGrpSpPr>
        <p:grpSpPr>
          <a:xfrm>
            <a:off x="438778" y="3233937"/>
            <a:ext cx="3217549" cy="3539954"/>
            <a:chOff x="438778" y="3233937"/>
            <a:chExt cx="3217549" cy="3539954"/>
          </a:xfrm>
        </p:grpSpPr>
        <p:pic>
          <p:nvPicPr>
            <p:cNvPr id="7" name="Picture 6">
              <a:extLst>
                <a:ext uri="{FF2B5EF4-FFF2-40B4-BE49-F238E27FC236}">
                  <a16:creationId xmlns:a16="http://schemas.microsoft.com/office/drawing/2014/main" id="{CB55B50C-E82C-7F6F-0868-DB757FE208A0}"/>
                </a:ext>
              </a:extLst>
            </p:cNvPr>
            <p:cNvPicPr>
              <a:picLocks noChangeAspect="1"/>
            </p:cNvPicPr>
            <p:nvPr/>
          </p:nvPicPr>
          <p:blipFill>
            <a:blip r:embed="rId4"/>
            <a:stretch>
              <a:fillRect/>
            </a:stretch>
          </p:blipFill>
          <p:spPr>
            <a:xfrm>
              <a:off x="438778" y="3373483"/>
              <a:ext cx="3217549" cy="3400408"/>
            </a:xfrm>
            <a:prstGeom prst="rect">
              <a:avLst/>
            </a:prstGeom>
          </p:spPr>
        </p:pic>
        <p:sp>
          <p:nvSpPr>
            <p:cNvPr id="15" name="TextBox 14">
              <a:extLst>
                <a:ext uri="{FF2B5EF4-FFF2-40B4-BE49-F238E27FC236}">
                  <a16:creationId xmlns:a16="http://schemas.microsoft.com/office/drawing/2014/main" id="{32FFF76A-E378-513C-20C1-F10B168AF8B2}"/>
                </a:ext>
              </a:extLst>
            </p:cNvPr>
            <p:cNvSpPr txBox="1"/>
            <p:nvPr/>
          </p:nvSpPr>
          <p:spPr>
            <a:xfrm>
              <a:off x="773374" y="3233937"/>
              <a:ext cx="914400" cy="914400"/>
            </a:xfrm>
            <a:prstGeom prst="rect">
              <a:avLst/>
            </a:prstGeom>
            <a:noFill/>
          </p:spPr>
          <p:txBody>
            <a:bodyPr wrap="none" lIns="0" tIns="0" rIns="0" bIns="0" rtlCol="0">
              <a:noAutofit/>
            </a:bodyPr>
            <a:lstStyle/>
            <a:p>
              <a:pPr algn="l"/>
              <a:r>
                <a:rPr lang="en-AU" sz="3200" b="1"/>
                <a:t>A.</a:t>
              </a:r>
            </a:p>
          </p:txBody>
        </p:sp>
      </p:grpSp>
      <p:grpSp>
        <p:nvGrpSpPr>
          <p:cNvPr id="19" name="Group 18" descr="B. an analog clock showing the hour hand near the 12 and the minute hand near the 10.">
            <a:extLst>
              <a:ext uri="{FF2B5EF4-FFF2-40B4-BE49-F238E27FC236}">
                <a16:creationId xmlns:a16="http://schemas.microsoft.com/office/drawing/2014/main" id="{E00A70F8-D6DF-DA3D-FC95-BE5DF240E8B8}"/>
              </a:ext>
            </a:extLst>
          </p:cNvPr>
          <p:cNvGrpSpPr/>
          <p:nvPr/>
        </p:nvGrpSpPr>
        <p:grpSpPr>
          <a:xfrm>
            <a:off x="4375765" y="3233937"/>
            <a:ext cx="3269647" cy="3496340"/>
            <a:chOff x="4375765" y="3233937"/>
            <a:chExt cx="3269647" cy="3496340"/>
          </a:xfrm>
        </p:grpSpPr>
        <p:pic>
          <p:nvPicPr>
            <p:cNvPr id="11" name="Picture 10">
              <a:extLst>
                <a:ext uri="{FF2B5EF4-FFF2-40B4-BE49-F238E27FC236}">
                  <a16:creationId xmlns:a16="http://schemas.microsoft.com/office/drawing/2014/main" id="{DC5840CD-C1EE-D5B3-74FA-A1DC987645CB}"/>
                </a:ext>
              </a:extLst>
            </p:cNvPr>
            <p:cNvPicPr>
              <a:picLocks noChangeAspect="1"/>
            </p:cNvPicPr>
            <p:nvPr/>
          </p:nvPicPr>
          <p:blipFill>
            <a:blip r:embed="rId5"/>
            <a:stretch>
              <a:fillRect/>
            </a:stretch>
          </p:blipFill>
          <p:spPr>
            <a:xfrm>
              <a:off x="4375765" y="3429001"/>
              <a:ext cx="3269647" cy="3301276"/>
            </a:xfrm>
            <a:prstGeom prst="rect">
              <a:avLst/>
            </a:prstGeom>
          </p:spPr>
        </p:pic>
        <p:sp>
          <p:nvSpPr>
            <p:cNvPr id="16" name="TextBox 15">
              <a:extLst>
                <a:ext uri="{FF2B5EF4-FFF2-40B4-BE49-F238E27FC236}">
                  <a16:creationId xmlns:a16="http://schemas.microsoft.com/office/drawing/2014/main" id="{F40D673C-FE5F-D9C4-9901-F7FD66E994ED}"/>
                </a:ext>
              </a:extLst>
            </p:cNvPr>
            <p:cNvSpPr txBox="1"/>
            <p:nvPr/>
          </p:nvSpPr>
          <p:spPr>
            <a:xfrm>
              <a:off x="4609735" y="3233937"/>
              <a:ext cx="914400" cy="914400"/>
            </a:xfrm>
            <a:prstGeom prst="rect">
              <a:avLst/>
            </a:prstGeom>
            <a:noFill/>
          </p:spPr>
          <p:txBody>
            <a:bodyPr wrap="none" lIns="0" tIns="0" rIns="0" bIns="0" rtlCol="0">
              <a:noAutofit/>
            </a:bodyPr>
            <a:lstStyle/>
            <a:p>
              <a:pPr algn="l"/>
              <a:r>
                <a:rPr lang="en-AU" sz="3200" b="1"/>
                <a:t>B.</a:t>
              </a:r>
            </a:p>
          </p:txBody>
        </p:sp>
      </p:grpSp>
      <p:grpSp>
        <p:nvGrpSpPr>
          <p:cNvPr id="20" name="Group 19" descr="C. an analog clock showing the hour hand past the 5 and the minute hand near the 7.">
            <a:extLst>
              <a:ext uri="{FF2B5EF4-FFF2-40B4-BE49-F238E27FC236}">
                <a16:creationId xmlns:a16="http://schemas.microsoft.com/office/drawing/2014/main" id="{AB55D286-4D37-8CBD-512E-1AD6AEE2E894}"/>
              </a:ext>
            </a:extLst>
          </p:cNvPr>
          <p:cNvGrpSpPr/>
          <p:nvPr/>
        </p:nvGrpSpPr>
        <p:grpSpPr>
          <a:xfrm>
            <a:off x="8364850" y="3233937"/>
            <a:ext cx="3217549" cy="3496340"/>
            <a:chOff x="8364850" y="3233937"/>
            <a:chExt cx="3217549" cy="3496340"/>
          </a:xfrm>
        </p:grpSpPr>
        <p:pic>
          <p:nvPicPr>
            <p:cNvPr id="14" name="Picture 13">
              <a:extLst>
                <a:ext uri="{FF2B5EF4-FFF2-40B4-BE49-F238E27FC236}">
                  <a16:creationId xmlns:a16="http://schemas.microsoft.com/office/drawing/2014/main" id="{12384767-543C-CDB7-3BA4-19212C1217B3}"/>
                </a:ext>
              </a:extLst>
            </p:cNvPr>
            <p:cNvPicPr>
              <a:picLocks noChangeAspect="1"/>
            </p:cNvPicPr>
            <p:nvPr/>
          </p:nvPicPr>
          <p:blipFill>
            <a:blip r:embed="rId6"/>
            <a:stretch>
              <a:fillRect/>
            </a:stretch>
          </p:blipFill>
          <p:spPr>
            <a:xfrm>
              <a:off x="8364850" y="3429000"/>
              <a:ext cx="3217549" cy="3301277"/>
            </a:xfrm>
            <a:prstGeom prst="rect">
              <a:avLst/>
            </a:prstGeom>
          </p:spPr>
        </p:pic>
        <p:sp>
          <p:nvSpPr>
            <p:cNvPr id="17" name="TextBox 16">
              <a:extLst>
                <a:ext uri="{FF2B5EF4-FFF2-40B4-BE49-F238E27FC236}">
                  <a16:creationId xmlns:a16="http://schemas.microsoft.com/office/drawing/2014/main" id="{0108C169-4DB8-72CF-A9AA-93C2A7136B1D}"/>
                </a:ext>
              </a:extLst>
            </p:cNvPr>
            <p:cNvSpPr txBox="1"/>
            <p:nvPr/>
          </p:nvSpPr>
          <p:spPr>
            <a:xfrm>
              <a:off x="8523758" y="3233937"/>
              <a:ext cx="914400" cy="914400"/>
            </a:xfrm>
            <a:prstGeom prst="rect">
              <a:avLst/>
            </a:prstGeom>
            <a:noFill/>
          </p:spPr>
          <p:txBody>
            <a:bodyPr wrap="none" lIns="0" tIns="0" rIns="0" bIns="0" rtlCol="0">
              <a:noAutofit/>
            </a:bodyPr>
            <a:lstStyle/>
            <a:p>
              <a:pPr algn="l"/>
              <a:r>
                <a:rPr lang="en-AU" sz="3200" b="1"/>
                <a:t>C.</a:t>
              </a:r>
            </a:p>
          </p:txBody>
        </p:sp>
      </p:gr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creating fifths</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grpSp>
        <p:nvGrpSpPr>
          <p:cNvPr id="3" name="Group 2" descr="A number line from zero to one with half marked.">
            <a:extLst>
              <a:ext uri="{FF2B5EF4-FFF2-40B4-BE49-F238E27FC236}">
                <a16:creationId xmlns:a16="http://schemas.microsoft.com/office/drawing/2014/main" id="{1531C5C8-2E4D-EFA5-A051-D97920DE243E}"/>
              </a:ext>
            </a:extLst>
          </p:cNvPr>
          <p:cNvGrpSpPr/>
          <p:nvPr/>
        </p:nvGrpSpPr>
        <p:grpSpPr>
          <a:xfrm>
            <a:off x="1180730" y="2433959"/>
            <a:ext cx="10005414" cy="1330165"/>
            <a:chOff x="1180730" y="2433959"/>
            <a:chExt cx="10005414" cy="1330165"/>
          </a:xfrm>
        </p:grpSpPr>
        <p:cxnSp>
          <p:nvCxnSpPr>
            <p:cNvPr id="5" name="Straight Arrow Connector 4">
              <a:extLst>
                <a:ext uri="{FF2B5EF4-FFF2-40B4-BE49-F238E27FC236}">
                  <a16:creationId xmlns:a16="http://schemas.microsoft.com/office/drawing/2014/main" id="{BA004122-1E5C-DD44-DB46-ED3263360F27}"/>
                </a:ext>
              </a:extLst>
            </p:cNvPr>
            <p:cNvCxnSpPr/>
            <p:nvPr/>
          </p:nvCxnSpPr>
          <p:spPr>
            <a:xfrm>
              <a:off x="1180730" y="2583402"/>
              <a:ext cx="10005414" cy="0"/>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C9323CF-913E-7A60-B29D-B8DE5D33C0C7}"/>
                </a:ext>
              </a:extLst>
            </p:cNvPr>
            <p:cNvSpPr txBox="1"/>
            <p:nvPr/>
          </p:nvSpPr>
          <p:spPr>
            <a:xfrm>
              <a:off x="1180730" y="2858610"/>
              <a:ext cx="594804" cy="905514"/>
            </a:xfrm>
            <a:prstGeom prst="rect">
              <a:avLst/>
            </a:prstGeom>
            <a:noFill/>
          </p:spPr>
          <p:txBody>
            <a:bodyPr wrap="square" lIns="0" tIns="0" rIns="0" bIns="0" rtlCol="0">
              <a:noAutofit/>
            </a:bodyPr>
            <a:lstStyle/>
            <a:p>
              <a:pPr algn="ctr"/>
              <a:r>
                <a:rPr lang="en-AU" sz="4400"/>
                <a:t>0</a:t>
              </a:r>
            </a:p>
          </p:txBody>
        </p:sp>
        <p:sp>
          <p:nvSpPr>
            <p:cNvPr id="8" name="TextBox 7">
              <a:extLst>
                <a:ext uri="{FF2B5EF4-FFF2-40B4-BE49-F238E27FC236}">
                  <a16:creationId xmlns:a16="http://schemas.microsoft.com/office/drawing/2014/main" id="{B726C8A7-4CAC-371D-959D-E07E3D370FF8}"/>
                </a:ext>
              </a:extLst>
            </p:cNvPr>
            <p:cNvSpPr txBox="1"/>
            <p:nvPr/>
          </p:nvSpPr>
          <p:spPr>
            <a:xfrm>
              <a:off x="10591340" y="2858610"/>
              <a:ext cx="594804" cy="905514"/>
            </a:xfrm>
            <a:prstGeom prst="rect">
              <a:avLst/>
            </a:prstGeom>
            <a:noFill/>
          </p:spPr>
          <p:txBody>
            <a:bodyPr wrap="square" lIns="0" tIns="0" rIns="0" bIns="0" rtlCol="0">
              <a:noAutofit/>
            </a:bodyPr>
            <a:lstStyle/>
            <a:p>
              <a:pPr algn="ctr"/>
              <a:r>
                <a:rPr lang="en-AU" sz="4400"/>
                <a:t>1</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03670ED-D8BB-EC66-0899-02218A0B84B5}"/>
                    </a:ext>
                  </a:extLst>
                </p:cNvPr>
                <p:cNvSpPr txBox="1"/>
                <p:nvPr/>
              </p:nvSpPr>
              <p:spPr>
                <a:xfrm>
                  <a:off x="5949519" y="2849732"/>
                  <a:ext cx="594804" cy="905514"/>
                </a:xfrm>
                <a:prstGeom prst="rect">
                  <a:avLst/>
                </a:prstGeom>
                <a:noFill/>
              </p:spPr>
              <p:txBody>
                <a:bodyPr wrap="square" lIns="0" tIns="0" rIns="0" bIns="0" rtlCol="0">
                  <a:noAutofit/>
                </a:bodyPr>
                <a:lstStyle/>
                <a:p>
                  <a:pPr algn="ctr"/>
                  <a14:m>
                    <m:oMathPara xmlns:m="http://schemas.openxmlformats.org/officeDocument/2006/math">
                      <m:oMathParaPr>
                        <m:jc m:val="centerGroup"/>
                      </m:oMathParaPr>
                      <m:oMath xmlns:m="http://schemas.openxmlformats.org/officeDocument/2006/math">
                        <m:f>
                          <m:fPr>
                            <m:ctrlPr>
                              <a:rPr lang="en-AU" b="0" i="1" smtClean="0">
                                <a:latin typeface="Cambria Math" panose="02040503050406030204" pitchFamily="18" charset="0"/>
                              </a:rPr>
                            </m:ctrlPr>
                          </m:fPr>
                          <m:num>
                            <m:r>
                              <a:rPr lang="en-AU" b="0" i="1" smtClean="0">
                                <a:latin typeface="Cambria Math" panose="02040503050406030204" pitchFamily="18" charset="0"/>
                              </a:rPr>
                              <m:t>1</m:t>
                            </m:r>
                          </m:num>
                          <m:den>
                            <m:r>
                              <a:rPr lang="en-AU" b="0" i="1" smtClean="0">
                                <a:latin typeface="Cambria Math" panose="02040503050406030204" pitchFamily="18" charset="0"/>
                              </a:rPr>
                              <m:t>2</m:t>
                            </m:r>
                          </m:den>
                        </m:f>
                      </m:oMath>
                    </m:oMathPara>
                  </a14:m>
                  <a:endParaRPr lang="en-AU"/>
                </a:p>
              </p:txBody>
            </p:sp>
          </mc:Choice>
          <mc:Fallback xmlns="">
            <p:sp>
              <p:nvSpPr>
                <p:cNvPr id="9" name="TextBox 8">
                  <a:extLst>
                    <a:ext uri="{FF2B5EF4-FFF2-40B4-BE49-F238E27FC236}">
                      <a16:creationId xmlns:a16="http://schemas.microsoft.com/office/drawing/2014/main" id="{803670ED-D8BB-EC66-0899-02218A0B84B5}"/>
                    </a:ext>
                  </a:extLst>
                </p:cNvPr>
                <p:cNvSpPr txBox="1">
                  <a:spLocks noRot="1" noChangeAspect="1" noMove="1" noResize="1" noEditPoints="1" noAdjustHandles="1" noChangeArrowheads="1" noChangeShapeType="1" noTextEdit="1"/>
                </p:cNvSpPr>
                <p:nvPr/>
              </p:nvSpPr>
              <p:spPr>
                <a:xfrm>
                  <a:off x="5949519" y="2849732"/>
                  <a:ext cx="594804" cy="905514"/>
                </a:xfrm>
                <a:prstGeom prst="rect">
                  <a:avLst/>
                </a:prstGeom>
                <a:blipFill>
                  <a:blip r:embed="rId4"/>
                  <a:stretch>
                    <a:fillRect/>
                  </a:stretch>
                </a:blipFill>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75935762-9C2F-834D-3DDE-9661946E407C}"/>
                </a:ext>
              </a:extLst>
            </p:cNvPr>
            <p:cNvCxnSpPr/>
            <p:nvPr/>
          </p:nvCxnSpPr>
          <p:spPr>
            <a:xfrm>
              <a:off x="1478132" y="2441359"/>
              <a:ext cx="0" cy="2840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14BDC09-5FBC-ABD2-CDFD-532FB6345438}"/>
                </a:ext>
              </a:extLst>
            </p:cNvPr>
            <p:cNvCxnSpPr/>
            <p:nvPr/>
          </p:nvCxnSpPr>
          <p:spPr>
            <a:xfrm>
              <a:off x="6197133" y="2433960"/>
              <a:ext cx="0" cy="2840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DF71188-4987-0BA2-85FD-44F9EB9A5A2A}"/>
                </a:ext>
              </a:extLst>
            </p:cNvPr>
            <p:cNvCxnSpPr/>
            <p:nvPr/>
          </p:nvCxnSpPr>
          <p:spPr>
            <a:xfrm>
              <a:off x="10916134" y="2433959"/>
              <a:ext cx="0" cy="2840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47E05-9D42-1324-BA21-74F8F261AD2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DE2ED0B-3097-6BA2-AF41-01EDA037CC50}"/>
              </a:ext>
            </a:extLst>
          </p:cNvPr>
          <p:cNvSpPr>
            <a:spLocks noGrp="1"/>
          </p:cNvSpPr>
          <p:nvPr>
            <p:ph type="title"/>
          </p:nvPr>
        </p:nvSpPr>
        <p:spPr>
          <a:xfrm>
            <a:off x="360000" y="360000"/>
            <a:ext cx="9901600" cy="545601"/>
          </a:xfrm>
        </p:spPr>
        <p:txBody>
          <a:bodyPr/>
          <a:lstStyle/>
          <a:p>
            <a:r>
              <a:rPr lang="en-US"/>
              <a:t>Multiple choice</a:t>
            </a:r>
            <a:r>
              <a:rPr lang="en-US">
                <a:solidFill>
                  <a:schemeClr val="bg1"/>
                </a:solidFill>
              </a:rPr>
              <a:t> (4)</a:t>
            </a:r>
          </a:p>
        </p:txBody>
      </p:sp>
      <p:pic>
        <p:nvPicPr>
          <p:cNvPr id="5" name="Picture 4">
            <a:extLst>
              <a:ext uri="{FF2B5EF4-FFF2-40B4-BE49-F238E27FC236}">
                <a16:creationId xmlns:a16="http://schemas.microsoft.com/office/drawing/2014/main" id="{F59B81FA-0BF0-F11C-B163-14FEA556A62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3D93BD30-28F2-7746-4897-E4DC528586CA}"/>
              </a:ext>
            </a:extLst>
          </p:cNvPr>
          <p:cNvSpPr>
            <a:spLocks noGrp="1"/>
          </p:cNvSpPr>
          <p:nvPr>
            <p:ph type="body" sz="quarter" idx="28"/>
          </p:nvPr>
        </p:nvSpPr>
        <p:spPr>
          <a:xfrm>
            <a:off x="360000" y="1025991"/>
            <a:ext cx="11243037" cy="754243"/>
          </a:xfrm>
        </p:spPr>
        <p:txBody>
          <a:bodyPr/>
          <a:lstStyle/>
          <a:p>
            <a:pPr algn="ctr"/>
            <a:r>
              <a:rPr lang="en-US" sz="4000"/>
              <a:t>Which representation shows a </a:t>
            </a:r>
            <a:r>
              <a:rPr lang="en-US" sz="4000" b="1" dirty="0"/>
              <a:t>fifth</a:t>
            </a:r>
            <a:r>
              <a:rPr lang="en-US" sz="4000"/>
              <a:t> of a length?</a:t>
            </a:r>
            <a:endParaRPr lang="en-US" sz="4000" dirty="0"/>
          </a:p>
          <a:p>
            <a:endParaRPr lang="en-US" sz="4400"/>
          </a:p>
        </p:txBody>
      </p:sp>
      <p:sp>
        <p:nvSpPr>
          <p:cNvPr id="9" name="B">
            <a:extLst>
              <a:ext uri="{FF2B5EF4-FFF2-40B4-BE49-F238E27FC236}">
                <a16:creationId xmlns:a16="http://schemas.microsoft.com/office/drawing/2014/main" id="{74794034-5CF1-8BD8-A42F-98F3DE21E648}"/>
              </a:ext>
            </a:extLst>
          </p:cNvPr>
          <p:cNvSpPr txBox="1"/>
          <p:nvPr/>
        </p:nvSpPr>
        <p:spPr>
          <a:xfrm>
            <a:off x="474617" y="213544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pic>
        <p:nvPicPr>
          <p:cNvPr id="7" name="Picture 6" descr="A fraction strip with half a part shaded of 5 parts.">
            <a:extLst>
              <a:ext uri="{FF2B5EF4-FFF2-40B4-BE49-F238E27FC236}">
                <a16:creationId xmlns:a16="http://schemas.microsoft.com/office/drawing/2014/main" id="{D7127895-D332-1573-BE42-1DFD8C507A57}"/>
              </a:ext>
            </a:extLst>
          </p:cNvPr>
          <p:cNvPicPr>
            <a:picLocks noChangeAspect="1"/>
          </p:cNvPicPr>
          <p:nvPr/>
        </p:nvPicPr>
        <p:blipFill>
          <a:blip r:embed="rId4"/>
          <a:stretch>
            <a:fillRect/>
          </a:stretch>
        </p:blipFill>
        <p:spPr>
          <a:xfrm>
            <a:off x="1232807" y="2135443"/>
            <a:ext cx="7445091" cy="764738"/>
          </a:xfrm>
          <a:prstGeom prst="rect">
            <a:avLst/>
          </a:prstGeom>
        </p:spPr>
      </p:pic>
      <p:sp>
        <p:nvSpPr>
          <p:cNvPr id="10" name="B">
            <a:extLst>
              <a:ext uri="{FF2B5EF4-FFF2-40B4-BE49-F238E27FC236}">
                <a16:creationId xmlns:a16="http://schemas.microsoft.com/office/drawing/2014/main" id="{75EA9915-4748-9F72-308D-6B8A20E56DB8}"/>
              </a:ext>
            </a:extLst>
          </p:cNvPr>
          <p:cNvSpPr txBox="1"/>
          <p:nvPr/>
        </p:nvSpPr>
        <p:spPr>
          <a:xfrm>
            <a:off x="474616" y="29833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pic>
        <p:nvPicPr>
          <p:cNvPr id="20" name="Picture 19" descr="A fraction strip with 2 parts shaded of 5 parts.">
            <a:extLst>
              <a:ext uri="{FF2B5EF4-FFF2-40B4-BE49-F238E27FC236}">
                <a16:creationId xmlns:a16="http://schemas.microsoft.com/office/drawing/2014/main" id="{52BD143C-97ED-45A9-BC19-6360F2A031E8}"/>
              </a:ext>
            </a:extLst>
          </p:cNvPr>
          <p:cNvPicPr>
            <a:picLocks noChangeAspect="1"/>
          </p:cNvPicPr>
          <p:nvPr/>
        </p:nvPicPr>
        <p:blipFill>
          <a:blip r:embed="rId5"/>
          <a:stretch>
            <a:fillRect/>
          </a:stretch>
        </p:blipFill>
        <p:spPr>
          <a:xfrm>
            <a:off x="1163411" y="2894195"/>
            <a:ext cx="7514487" cy="846494"/>
          </a:xfrm>
          <a:prstGeom prst="rect">
            <a:avLst/>
          </a:prstGeom>
        </p:spPr>
      </p:pic>
      <p:sp>
        <p:nvSpPr>
          <p:cNvPr id="12" name="C">
            <a:extLst>
              <a:ext uri="{FF2B5EF4-FFF2-40B4-BE49-F238E27FC236}">
                <a16:creationId xmlns:a16="http://schemas.microsoft.com/office/drawing/2014/main" id="{0BDEB755-0454-2379-9D2C-487F13D2753A}"/>
              </a:ext>
            </a:extLst>
          </p:cNvPr>
          <p:cNvSpPr txBox="1"/>
          <p:nvPr/>
        </p:nvSpPr>
        <p:spPr>
          <a:xfrm>
            <a:off x="474615" y="383340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22" name="Picture 21" descr="A fraction strip with 5 parts shaded of 5 parts.">
            <a:extLst>
              <a:ext uri="{FF2B5EF4-FFF2-40B4-BE49-F238E27FC236}">
                <a16:creationId xmlns:a16="http://schemas.microsoft.com/office/drawing/2014/main" id="{19B858E6-8C9F-0772-CA0D-E7338A6CD2E4}"/>
              </a:ext>
            </a:extLst>
          </p:cNvPr>
          <p:cNvPicPr>
            <a:picLocks noChangeAspect="1"/>
          </p:cNvPicPr>
          <p:nvPr/>
        </p:nvPicPr>
        <p:blipFill>
          <a:blip r:embed="rId6"/>
          <a:stretch>
            <a:fillRect/>
          </a:stretch>
        </p:blipFill>
        <p:spPr>
          <a:xfrm>
            <a:off x="1245138" y="3815189"/>
            <a:ext cx="7420428" cy="756884"/>
          </a:xfrm>
          <a:prstGeom prst="rect">
            <a:avLst/>
          </a:prstGeom>
        </p:spPr>
      </p:pic>
      <p:sp>
        <p:nvSpPr>
          <p:cNvPr id="11" name="D">
            <a:extLst>
              <a:ext uri="{FF2B5EF4-FFF2-40B4-BE49-F238E27FC236}">
                <a16:creationId xmlns:a16="http://schemas.microsoft.com/office/drawing/2014/main" id="{F8EB2BDD-34B2-17DB-30F1-75230D5E56F5}"/>
              </a:ext>
            </a:extLst>
          </p:cNvPr>
          <p:cNvSpPr txBox="1"/>
          <p:nvPr/>
        </p:nvSpPr>
        <p:spPr>
          <a:xfrm>
            <a:off x="474614" y="468346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pic>
        <p:nvPicPr>
          <p:cNvPr id="13" name="Picture 12" descr="A fraction strip with 1 part shaded of 5 parts.">
            <a:extLst>
              <a:ext uri="{FF2B5EF4-FFF2-40B4-BE49-F238E27FC236}">
                <a16:creationId xmlns:a16="http://schemas.microsoft.com/office/drawing/2014/main" id="{E14652E0-F9A0-08C6-0654-BB72515CEA74}"/>
              </a:ext>
            </a:extLst>
          </p:cNvPr>
          <p:cNvPicPr>
            <a:picLocks noChangeAspect="1"/>
          </p:cNvPicPr>
          <p:nvPr/>
        </p:nvPicPr>
        <p:blipFill>
          <a:blip r:embed="rId7"/>
          <a:stretch>
            <a:fillRect/>
          </a:stretch>
        </p:blipFill>
        <p:spPr>
          <a:xfrm>
            <a:off x="1232807" y="4683462"/>
            <a:ext cx="7420428" cy="764738"/>
          </a:xfrm>
          <a:prstGeom prst="rect">
            <a:avLst/>
          </a:prstGeom>
        </p:spPr>
      </p:pic>
      <p:sp>
        <p:nvSpPr>
          <p:cNvPr id="4" name="Text Placeholder">
            <a:extLst>
              <a:ext uri="{FF2B5EF4-FFF2-40B4-BE49-F238E27FC236}">
                <a16:creationId xmlns:a16="http://schemas.microsoft.com/office/drawing/2014/main" id="{E6D61995-4CE8-6507-52D4-168688D92C18}"/>
              </a:ext>
            </a:extLst>
          </p:cNvPr>
          <p:cNvSpPr txBox="1">
            <a:spLocks/>
          </p:cNvSpPr>
          <p:nvPr/>
        </p:nvSpPr>
        <p:spPr>
          <a:xfrm>
            <a:off x="360000" y="5627185"/>
            <a:ext cx="11243037" cy="75424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a:t>Communicate </a:t>
            </a:r>
            <a:r>
              <a:rPr lang="en-US" sz="4000"/>
              <a:t>your </a:t>
            </a:r>
            <a:r>
              <a:rPr lang="en-US" sz="4000" b="1"/>
              <a:t>reasoning</a:t>
            </a:r>
            <a:r>
              <a:rPr lang="en-US" sz="4000"/>
              <a:t>.</a:t>
            </a:r>
          </a:p>
          <a:p>
            <a:endParaRPr lang="en-US" sz="4400"/>
          </a:p>
        </p:txBody>
      </p:sp>
      <p:sp>
        <p:nvSpPr>
          <p:cNvPr id="2" name="Slide Number Placeholder 1">
            <a:extLst>
              <a:ext uri="{FF2B5EF4-FFF2-40B4-BE49-F238E27FC236}">
                <a16:creationId xmlns:a16="http://schemas.microsoft.com/office/drawing/2014/main" id="{83516CA0-6704-5425-2929-C4A364A93DE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2741526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4" name="TextBox 3">
            <a:extLst>
              <a:ext uri="{FF2B5EF4-FFF2-40B4-BE49-F238E27FC236}">
                <a16:creationId xmlns:a16="http://schemas.microsoft.com/office/drawing/2014/main" id="{8DDC9387-CCA4-75FD-9DE9-9325F616900C}"/>
              </a:ext>
            </a:extLst>
          </p:cNvPr>
          <p:cNvSpPr txBox="1"/>
          <p:nvPr/>
        </p:nvSpPr>
        <p:spPr>
          <a:xfrm>
            <a:off x="455690" y="905601"/>
            <a:ext cx="11280620" cy="1428108"/>
          </a:xfrm>
          <a:prstGeom prst="rect">
            <a:avLst/>
          </a:prstGeom>
          <a:noFill/>
        </p:spPr>
        <p:txBody>
          <a:bodyPr wrap="square" lIns="0" tIns="0" rIns="0" bIns="0" rtlCol="0">
            <a:noAutofit/>
          </a:bodyPr>
          <a:lstStyle/>
          <a:p>
            <a:pPr algn="ctr">
              <a:lnSpc>
                <a:spcPct val="150000"/>
              </a:lnSpc>
            </a:pPr>
            <a:r>
              <a:rPr lang="en-AU" sz="2800" dirty="0"/>
              <a:t>Shane used a tape measure to measure the </a:t>
            </a:r>
            <a:r>
              <a:rPr lang="en-AU" sz="2800" b="1" dirty="0"/>
              <a:t>length of his vegetable garden</a:t>
            </a:r>
            <a:r>
              <a:rPr lang="en-AU" sz="2800" dirty="0"/>
              <a:t> and the </a:t>
            </a:r>
            <a:r>
              <a:rPr lang="en-AU" sz="2800" b="1" dirty="0"/>
              <a:t>length of his bedroom</a:t>
            </a:r>
            <a:r>
              <a:rPr lang="en-AU" sz="2800" dirty="0"/>
              <a:t>. </a:t>
            </a:r>
          </a:p>
          <a:p>
            <a:pPr algn="ctr">
              <a:lnSpc>
                <a:spcPct val="150000"/>
              </a:lnSpc>
            </a:pPr>
            <a:r>
              <a:rPr lang="en-AU" sz="2800" b="1" dirty="0"/>
              <a:t>Record the measurements </a:t>
            </a:r>
            <a:r>
              <a:rPr lang="en-AU" sz="2800" dirty="0"/>
              <a:t>taken, indicated by the </a:t>
            </a:r>
            <a:r>
              <a:rPr lang="en-AU" sz="2800" b="1" dirty="0">
                <a:solidFill>
                  <a:srgbClr val="C00000"/>
                </a:solidFill>
              </a:rPr>
              <a:t>red arrow</a:t>
            </a:r>
            <a:r>
              <a:rPr lang="en-AU" sz="2800" dirty="0"/>
              <a:t>:</a:t>
            </a:r>
          </a:p>
        </p:txBody>
      </p:sp>
      <p:grpSp>
        <p:nvGrpSpPr>
          <p:cNvPr id="18" name="Group 17" descr="B) A tape measure with an arrow pointing to the line to the left of 360 cm. Under the tape measure is written: _ m __ cm = bedroom floor. ">
            <a:extLst>
              <a:ext uri="{FF2B5EF4-FFF2-40B4-BE49-F238E27FC236}">
                <a16:creationId xmlns:a16="http://schemas.microsoft.com/office/drawing/2014/main" id="{CFE83083-EA1A-B2F7-5752-2823987EEB36}"/>
              </a:ext>
            </a:extLst>
          </p:cNvPr>
          <p:cNvGrpSpPr/>
          <p:nvPr/>
        </p:nvGrpSpPr>
        <p:grpSpPr>
          <a:xfrm>
            <a:off x="6444688" y="3259083"/>
            <a:ext cx="4866110" cy="3238917"/>
            <a:chOff x="409658" y="3350359"/>
            <a:chExt cx="4866110" cy="3238917"/>
          </a:xfrm>
        </p:grpSpPr>
        <p:pic>
          <p:nvPicPr>
            <p:cNvPr id="8" name="Picture 7">
              <a:extLst>
                <a:ext uri="{FF2B5EF4-FFF2-40B4-BE49-F238E27FC236}">
                  <a16:creationId xmlns:a16="http://schemas.microsoft.com/office/drawing/2014/main" id="{FB2394FA-783C-1953-51E5-EEE49B67561C}"/>
                </a:ext>
              </a:extLst>
            </p:cNvPr>
            <p:cNvPicPr>
              <a:picLocks noChangeAspect="1"/>
            </p:cNvPicPr>
            <p:nvPr/>
          </p:nvPicPr>
          <p:blipFill>
            <a:blip r:embed="rId4"/>
            <a:stretch>
              <a:fillRect/>
            </a:stretch>
          </p:blipFill>
          <p:spPr>
            <a:xfrm>
              <a:off x="409658" y="3807559"/>
              <a:ext cx="4866110" cy="2781717"/>
            </a:xfrm>
            <a:prstGeom prst="rect">
              <a:avLst/>
            </a:prstGeom>
            <a:ln>
              <a:noFill/>
            </a:ln>
            <a:effectLst>
              <a:outerShdw blurRad="292100" dist="139700" dir="2700000" algn="tl" rotWithShape="0">
                <a:srgbClr val="333333">
                  <a:alpha val="65000"/>
                </a:srgbClr>
              </a:outerShdw>
            </a:effectLst>
          </p:spPr>
        </p:pic>
        <p:sp>
          <p:nvSpPr>
            <p:cNvPr id="16" name="TextBox 15">
              <a:extLst>
                <a:ext uri="{FF2B5EF4-FFF2-40B4-BE49-F238E27FC236}">
                  <a16:creationId xmlns:a16="http://schemas.microsoft.com/office/drawing/2014/main" id="{52887C4D-790A-B8C8-810B-7979C012A109}"/>
                </a:ext>
              </a:extLst>
            </p:cNvPr>
            <p:cNvSpPr txBox="1"/>
            <p:nvPr/>
          </p:nvSpPr>
          <p:spPr>
            <a:xfrm>
              <a:off x="409658" y="3350359"/>
              <a:ext cx="914400" cy="914400"/>
            </a:xfrm>
            <a:prstGeom prst="rect">
              <a:avLst/>
            </a:prstGeom>
            <a:noFill/>
          </p:spPr>
          <p:txBody>
            <a:bodyPr wrap="none" lIns="0" tIns="0" rIns="0" bIns="0" rtlCol="0">
              <a:noAutofit/>
            </a:bodyPr>
            <a:lstStyle/>
            <a:p>
              <a:pPr algn="l"/>
              <a:r>
                <a:rPr lang="en-AU" sz="3200" b="1"/>
                <a:t>B.</a:t>
              </a:r>
            </a:p>
          </p:txBody>
        </p:sp>
      </p:grpSp>
      <p:grpSp>
        <p:nvGrpSpPr>
          <p:cNvPr id="9" name="Group 8" descr="A. A tape measure with an arrow pointing to the third line to the right of 280 cm. Under the tape measure is written: _ m __ cm = vegetable garden. ">
            <a:extLst>
              <a:ext uri="{FF2B5EF4-FFF2-40B4-BE49-F238E27FC236}">
                <a16:creationId xmlns:a16="http://schemas.microsoft.com/office/drawing/2014/main" id="{F3E5340A-3515-2829-4857-85A990CDD7F9}"/>
              </a:ext>
            </a:extLst>
          </p:cNvPr>
          <p:cNvGrpSpPr/>
          <p:nvPr/>
        </p:nvGrpSpPr>
        <p:grpSpPr>
          <a:xfrm>
            <a:off x="628775" y="3308067"/>
            <a:ext cx="5001056" cy="3188863"/>
            <a:chOff x="596118" y="3275411"/>
            <a:chExt cx="5001056" cy="3188863"/>
          </a:xfrm>
        </p:grpSpPr>
        <p:sp>
          <p:nvSpPr>
            <p:cNvPr id="17" name="TextBox 16">
              <a:extLst>
                <a:ext uri="{FF2B5EF4-FFF2-40B4-BE49-F238E27FC236}">
                  <a16:creationId xmlns:a16="http://schemas.microsoft.com/office/drawing/2014/main" id="{ED3FFBC0-1894-21EC-1C7B-B90713FE5DC4}"/>
                </a:ext>
              </a:extLst>
            </p:cNvPr>
            <p:cNvSpPr txBox="1"/>
            <p:nvPr/>
          </p:nvSpPr>
          <p:spPr>
            <a:xfrm>
              <a:off x="596118" y="3275411"/>
              <a:ext cx="914400" cy="914400"/>
            </a:xfrm>
            <a:prstGeom prst="rect">
              <a:avLst/>
            </a:prstGeom>
            <a:noFill/>
          </p:spPr>
          <p:txBody>
            <a:bodyPr wrap="none" lIns="0" tIns="0" rIns="0" bIns="0" rtlCol="0">
              <a:noAutofit/>
            </a:bodyPr>
            <a:lstStyle/>
            <a:p>
              <a:pPr algn="l"/>
              <a:r>
                <a:rPr lang="en-AU" sz="3200" b="1" dirty="0"/>
                <a:t>A.</a:t>
              </a:r>
              <a:endParaRPr lang="en-AU" sz="3200" dirty="0"/>
            </a:p>
          </p:txBody>
        </p:sp>
        <p:pic>
          <p:nvPicPr>
            <p:cNvPr id="7" name="Picture 6" descr="A. A tape measure with an arrow pointing to the third line to the right of 280 cm. Under the tape measure is written: _ m __ cm = vegetable garden. ">
              <a:extLst>
                <a:ext uri="{FF2B5EF4-FFF2-40B4-BE49-F238E27FC236}">
                  <a16:creationId xmlns:a16="http://schemas.microsoft.com/office/drawing/2014/main" id="{A1546510-1642-C235-2E73-073A0A51C47A}"/>
                </a:ext>
              </a:extLst>
            </p:cNvPr>
            <p:cNvPicPr>
              <a:picLocks noChangeAspect="1"/>
            </p:cNvPicPr>
            <p:nvPr/>
          </p:nvPicPr>
          <p:blipFill>
            <a:blip r:embed="rId5"/>
            <a:stretch>
              <a:fillRect/>
            </a:stretch>
          </p:blipFill>
          <p:spPr>
            <a:xfrm>
              <a:off x="596118" y="3750008"/>
              <a:ext cx="5001056" cy="2714266"/>
            </a:xfrm>
            <a:prstGeom prst="rect">
              <a:avLst/>
            </a:prstGeom>
            <a:ln>
              <a:noFill/>
            </a:ln>
            <a:effectLst>
              <a:outerShdw blurRad="292100" dist="139700" dir="2700000" algn="tl" rotWithShape="0">
                <a:srgbClr val="333333">
                  <a:alpha val="65000"/>
                </a:srgbClr>
              </a:outerShdw>
            </a:effectLst>
          </p:spPr>
        </p:pic>
      </p:gr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4" name="TextBox 3">
            <a:extLst>
              <a:ext uri="{FF2B5EF4-FFF2-40B4-BE49-F238E27FC236}">
                <a16:creationId xmlns:a16="http://schemas.microsoft.com/office/drawing/2014/main" id="{3AD4619E-11C5-B825-A247-236B8456C877}"/>
              </a:ext>
            </a:extLst>
          </p:cNvPr>
          <p:cNvSpPr txBox="1"/>
          <p:nvPr/>
        </p:nvSpPr>
        <p:spPr>
          <a:xfrm>
            <a:off x="557048" y="1618168"/>
            <a:ext cx="11077904" cy="3030425"/>
          </a:xfrm>
          <a:prstGeom prst="rect">
            <a:avLst/>
          </a:prstGeom>
          <a:noFill/>
        </p:spPr>
        <p:txBody>
          <a:bodyPr wrap="square" lIns="0" tIns="0" rIns="0" bIns="0" rtlCol="0">
            <a:noAutofit/>
          </a:bodyPr>
          <a:lstStyle/>
          <a:p>
            <a:pPr algn="ctr">
              <a:lnSpc>
                <a:spcPct val="150000"/>
              </a:lnSpc>
            </a:pPr>
            <a:r>
              <a:rPr lang="en-AU" sz="4400"/>
              <a:t>Determine the </a:t>
            </a:r>
            <a:r>
              <a:rPr lang="en-AU" sz="4400" b="1"/>
              <a:t>missing number</a:t>
            </a:r>
            <a:r>
              <a:rPr lang="en-AU" sz="4400"/>
              <a:t>:</a:t>
            </a:r>
          </a:p>
          <a:p>
            <a:pPr algn="ctr">
              <a:lnSpc>
                <a:spcPct val="150000"/>
              </a:lnSpc>
            </a:pPr>
            <a:endParaRPr lang="en-AU" sz="4400"/>
          </a:p>
          <a:p>
            <a:pPr algn="ctr">
              <a:lnSpc>
                <a:spcPct val="150000"/>
              </a:lnSpc>
            </a:pPr>
            <a:r>
              <a:rPr lang="en-AU" sz="5400" b="1">
                <a:solidFill>
                  <a:schemeClr val="accent2"/>
                </a:solidFill>
              </a:rPr>
              <a:t>7 × 4 = 2 × __</a:t>
            </a:r>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4" name="TextBox 3">
            <a:extLst>
              <a:ext uri="{FF2B5EF4-FFF2-40B4-BE49-F238E27FC236}">
                <a16:creationId xmlns:a16="http://schemas.microsoft.com/office/drawing/2014/main" id="{6A076CB9-BE11-277B-0007-8B8BA3C85578}"/>
              </a:ext>
            </a:extLst>
          </p:cNvPr>
          <p:cNvSpPr txBox="1"/>
          <p:nvPr/>
        </p:nvSpPr>
        <p:spPr>
          <a:xfrm>
            <a:off x="248093" y="1184223"/>
            <a:ext cx="11595907" cy="2211572"/>
          </a:xfrm>
          <a:prstGeom prst="rect">
            <a:avLst/>
          </a:prstGeom>
          <a:noFill/>
        </p:spPr>
        <p:txBody>
          <a:bodyPr wrap="square" lIns="0" tIns="0" rIns="0" bIns="0" rtlCol="0">
            <a:noAutofit/>
          </a:bodyPr>
          <a:lstStyle/>
          <a:p>
            <a:pPr algn="ctr">
              <a:lnSpc>
                <a:spcPct val="150000"/>
              </a:lnSpc>
            </a:pPr>
            <a:r>
              <a:rPr lang="en-AU" sz="4000"/>
              <a:t>Calculate the </a:t>
            </a:r>
            <a:r>
              <a:rPr lang="en-AU" sz="4000" b="1"/>
              <a:t>area</a:t>
            </a:r>
            <a:r>
              <a:rPr lang="en-AU" sz="4000"/>
              <a:t> of the rectangle. </a:t>
            </a:r>
          </a:p>
          <a:p>
            <a:pPr algn="ctr">
              <a:lnSpc>
                <a:spcPct val="150000"/>
              </a:lnSpc>
            </a:pPr>
            <a:r>
              <a:rPr lang="en-AU" sz="4000"/>
              <a:t>Record your answer using </a:t>
            </a:r>
            <a:r>
              <a:rPr lang="en-AU" sz="4000" b="1"/>
              <a:t>numerals</a:t>
            </a:r>
            <a:r>
              <a:rPr lang="en-AU" sz="4000"/>
              <a:t> and </a:t>
            </a:r>
            <a:r>
              <a:rPr lang="en-AU" sz="4000" b="1"/>
              <a:t>words</a:t>
            </a:r>
            <a:r>
              <a:rPr lang="en-AU" sz="4000"/>
              <a:t>.</a:t>
            </a:r>
          </a:p>
        </p:txBody>
      </p:sp>
      <p:grpSp>
        <p:nvGrpSpPr>
          <p:cNvPr id="9" name="Group 8" descr="A rectangle with the dimensions 6 metres by 4 metres.">
            <a:extLst>
              <a:ext uri="{FF2B5EF4-FFF2-40B4-BE49-F238E27FC236}">
                <a16:creationId xmlns:a16="http://schemas.microsoft.com/office/drawing/2014/main" id="{362BA884-F7D8-26CE-4CD6-E790F4A8045A}"/>
              </a:ext>
            </a:extLst>
          </p:cNvPr>
          <p:cNvGrpSpPr/>
          <p:nvPr/>
        </p:nvGrpSpPr>
        <p:grpSpPr>
          <a:xfrm>
            <a:off x="4688960" y="3462205"/>
            <a:ext cx="4813004" cy="2928963"/>
            <a:chOff x="4494028" y="3697479"/>
            <a:chExt cx="4338083" cy="2561553"/>
          </a:xfrm>
        </p:grpSpPr>
        <p:sp>
          <p:nvSpPr>
            <p:cNvPr id="5" name="Rectangle 4">
              <a:extLst>
                <a:ext uri="{FF2B5EF4-FFF2-40B4-BE49-F238E27FC236}">
                  <a16:creationId xmlns:a16="http://schemas.microsoft.com/office/drawing/2014/main" id="{B19CE65D-7783-E2ED-637E-681ABDA31CDF}"/>
                </a:ext>
              </a:extLst>
            </p:cNvPr>
            <p:cNvSpPr/>
            <p:nvPr/>
          </p:nvSpPr>
          <p:spPr>
            <a:xfrm>
              <a:off x="4494028" y="4288464"/>
              <a:ext cx="2948763" cy="1970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272764A5-EE94-0F28-6D15-A727719C5825}"/>
                </a:ext>
              </a:extLst>
            </p:cNvPr>
            <p:cNvSpPr txBox="1"/>
            <p:nvPr/>
          </p:nvSpPr>
          <p:spPr>
            <a:xfrm>
              <a:off x="5511209" y="3697479"/>
              <a:ext cx="914400" cy="914400"/>
            </a:xfrm>
            <a:prstGeom prst="rect">
              <a:avLst/>
            </a:prstGeom>
            <a:noFill/>
          </p:spPr>
          <p:txBody>
            <a:bodyPr wrap="none" lIns="0" tIns="0" rIns="0" bIns="0" rtlCol="0">
              <a:noAutofit/>
            </a:bodyPr>
            <a:lstStyle/>
            <a:p>
              <a:pPr algn="ctr"/>
              <a:r>
                <a:rPr lang="en-AU" sz="3200"/>
                <a:t>6 metres</a:t>
              </a:r>
            </a:p>
          </p:txBody>
        </p:sp>
        <p:sp>
          <p:nvSpPr>
            <p:cNvPr id="8" name="TextBox 7">
              <a:extLst>
                <a:ext uri="{FF2B5EF4-FFF2-40B4-BE49-F238E27FC236}">
                  <a16:creationId xmlns:a16="http://schemas.microsoft.com/office/drawing/2014/main" id="{AD7DA09F-087C-C28E-6F1A-1F7512FA7226}"/>
                </a:ext>
              </a:extLst>
            </p:cNvPr>
            <p:cNvSpPr txBox="1"/>
            <p:nvPr/>
          </p:nvSpPr>
          <p:spPr>
            <a:xfrm>
              <a:off x="7917711" y="4990214"/>
              <a:ext cx="914400" cy="914400"/>
            </a:xfrm>
            <a:prstGeom prst="rect">
              <a:avLst/>
            </a:prstGeom>
            <a:noFill/>
          </p:spPr>
          <p:txBody>
            <a:bodyPr wrap="none" lIns="0" tIns="0" rIns="0" bIns="0" rtlCol="0">
              <a:noAutofit/>
            </a:bodyPr>
            <a:lstStyle/>
            <a:p>
              <a:pPr algn="ctr"/>
              <a:r>
                <a:rPr lang="en-AU" sz="3200"/>
                <a:t>4 metres</a:t>
              </a:r>
            </a:p>
          </p:txBody>
        </p:sp>
      </p:gr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F307BD1E-7FE8-D093-9955-26DFD16A73CB}"/>
              </a:ext>
            </a:extLst>
          </p:cNvPr>
          <p:cNvSpPr txBox="1"/>
          <p:nvPr/>
        </p:nvSpPr>
        <p:spPr>
          <a:xfrm>
            <a:off x="663208" y="1051804"/>
            <a:ext cx="10764000" cy="2424224"/>
          </a:xfrm>
          <a:prstGeom prst="rect">
            <a:avLst/>
          </a:prstGeom>
          <a:noFill/>
        </p:spPr>
        <p:txBody>
          <a:bodyPr wrap="square" lIns="0" tIns="0" rIns="0" bIns="0" rtlCol="0">
            <a:noAutofit/>
          </a:bodyPr>
          <a:lstStyle/>
          <a:p>
            <a:pPr algn="ctr">
              <a:lnSpc>
                <a:spcPct val="150000"/>
              </a:lnSpc>
            </a:pPr>
            <a:r>
              <a:rPr lang="en-AU" sz="4000" b="1"/>
              <a:t>Record</a:t>
            </a:r>
            <a:r>
              <a:rPr lang="en-AU" sz="4000"/>
              <a:t> the </a:t>
            </a:r>
            <a:r>
              <a:rPr lang="en-AU" sz="4000" b="1"/>
              <a:t>capacities</a:t>
            </a:r>
            <a:r>
              <a:rPr lang="en-AU" sz="4000"/>
              <a:t> using the abbreviation for </a:t>
            </a:r>
            <a:r>
              <a:rPr lang="en-AU" sz="4000" b="1"/>
              <a:t>litres (L)</a:t>
            </a:r>
            <a:r>
              <a:rPr lang="en-AU" sz="4000"/>
              <a:t>.</a:t>
            </a:r>
            <a:endParaRPr lang="en-AU" sz="3200"/>
          </a:p>
        </p:txBody>
      </p:sp>
      <p:grpSp>
        <p:nvGrpSpPr>
          <p:cNvPr id="18" name="Group 17" descr="A. a measuring jug containing liquid more than 1 litre and less than 5 litres. ">
            <a:extLst>
              <a:ext uri="{FF2B5EF4-FFF2-40B4-BE49-F238E27FC236}">
                <a16:creationId xmlns:a16="http://schemas.microsoft.com/office/drawing/2014/main" id="{8941C14D-713E-9149-EECA-EC61062FCA75}"/>
              </a:ext>
            </a:extLst>
          </p:cNvPr>
          <p:cNvGrpSpPr/>
          <p:nvPr/>
        </p:nvGrpSpPr>
        <p:grpSpPr>
          <a:xfrm>
            <a:off x="487780" y="3145353"/>
            <a:ext cx="3417104" cy="3405433"/>
            <a:chOff x="569057" y="3165031"/>
            <a:chExt cx="3417104" cy="3405433"/>
          </a:xfrm>
        </p:grpSpPr>
        <p:pic>
          <p:nvPicPr>
            <p:cNvPr id="8" name="Picture 7">
              <a:extLst>
                <a:ext uri="{FF2B5EF4-FFF2-40B4-BE49-F238E27FC236}">
                  <a16:creationId xmlns:a16="http://schemas.microsoft.com/office/drawing/2014/main" id="{F4035C61-61C7-DA1C-DE29-FBED4D9D76BE}"/>
                </a:ext>
              </a:extLst>
            </p:cNvPr>
            <p:cNvPicPr>
              <a:picLocks noChangeAspect="1"/>
            </p:cNvPicPr>
            <p:nvPr/>
          </p:nvPicPr>
          <p:blipFill>
            <a:blip r:embed="rId4"/>
            <a:stretch>
              <a:fillRect/>
            </a:stretch>
          </p:blipFill>
          <p:spPr>
            <a:xfrm>
              <a:off x="569057" y="3708889"/>
              <a:ext cx="3417104" cy="2861575"/>
            </a:xfrm>
            <a:prstGeom prst="rect">
              <a:avLst/>
            </a:prstGeom>
          </p:spPr>
        </p:pic>
        <p:sp>
          <p:nvSpPr>
            <p:cNvPr id="15" name="TextBox 14">
              <a:extLst>
                <a:ext uri="{FF2B5EF4-FFF2-40B4-BE49-F238E27FC236}">
                  <a16:creationId xmlns:a16="http://schemas.microsoft.com/office/drawing/2014/main" id="{D76E8349-6685-7D61-FB5B-786C289E7444}"/>
                </a:ext>
              </a:extLst>
            </p:cNvPr>
            <p:cNvSpPr txBox="1"/>
            <p:nvPr/>
          </p:nvSpPr>
          <p:spPr>
            <a:xfrm>
              <a:off x="663208" y="3165031"/>
              <a:ext cx="914400" cy="914400"/>
            </a:xfrm>
            <a:prstGeom prst="rect">
              <a:avLst/>
            </a:prstGeom>
            <a:noFill/>
          </p:spPr>
          <p:txBody>
            <a:bodyPr wrap="none" lIns="0" tIns="0" rIns="0" bIns="0" rtlCol="0">
              <a:noAutofit/>
            </a:bodyPr>
            <a:lstStyle/>
            <a:p>
              <a:pPr algn="l"/>
              <a:r>
                <a:rPr lang="en-AU" sz="3200" b="1"/>
                <a:t>A.</a:t>
              </a:r>
            </a:p>
          </p:txBody>
        </p:sp>
      </p:grpSp>
      <p:grpSp>
        <p:nvGrpSpPr>
          <p:cNvPr id="19" name="Group 18" descr="B. a measuring jug containing liquid more than 1 litre and less than 5 litres. ">
            <a:extLst>
              <a:ext uri="{FF2B5EF4-FFF2-40B4-BE49-F238E27FC236}">
                <a16:creationId xmlns:a16="http://schemas.microsoft.com/office/drawing/2014/main" id="{64286E7D-2550-6DC9-61D2-2F326B9F8EB6}"/>
              </a:ext>
            </a:extLst>
          </p:cNvPr>
          <p:cNvGrpSpPr/>
          <p:nvPr/>
        </p:nvGrpSpPr>
        <p:grpSpPr>
          <a:xfrm>
            <a:off x="4361550" y="3118338"/>
            <a:ext cx="3367316" cy="3397662"/>
            <a:chOff x="4361550" y="3118338"/>
            <a:chExt cx="3367316" cy="3397662"/>
          </a:xfrm>
        </p:grpSpPr>
        <p:pic>
          <p:nvPicPr>
            <p:cNvPr id="12" name="Picture 11">
              <a:extLst>
                <a:ext uri="{FF2B5EF4-FFF2-40B4-BE49-F238E27FC236}">
                  <a16:creationId xmlns:a16="http://schemas.microsoft.com/office/drawing/2014/main" id="{68250D64-9EF3-001A-F15C-C11CD1F09B73}"/>
                </a:ext>
              </a:extLst>
            </p:cNvPr>
            <p:cNvPicPr>
              <a:picLocks noChangeAspect="1"/>
            </p:cNvPicPr>
            <p:nvPr/>
          </p:nvPicPr>
          <p:blipFill>
            <a:blip r:embed="rId5"/>
            <a:stretch>
              <a:fillRect/>
            </a:stretch>
          </p:blipFill>
          <p:spPr>
            <a:xfrm>
              <a:off x="4361550" y="3717090"/>
              <a:ext cx="3367316" cy="2798910"/>
            </a:xfrm>
            <a:prstGeom prst="rect">
              <a:avLst/>
            </a:prstGeom>
          </p:spPr>
        </p:pic>
        <p:sp>
          <p:nvSpPr>
            <p:cNvPr id="16" name="TextBox 15">
              <a:extLst>
                <a:ext uri="{FF2B5EF4-FFF2-40B4-BE49-F238E27FC236}">
                  <a16:creationId xmlns:a16="http://schemas.microsoft.com/office/drawing/2014/main" id="{A8563944-80FA-0E9D-E9E9-FED62D23455B}"/>
                </a:ext>
              </a:extLst>
            </p:cNvPr>
            <p:cNvSpPr txBox="1"/>
            <p:nvPr/>
          </p:nvSpPr>
          <p:spPr>
            <a:xfrm>
              <a:off x="4479744" y="3118338"/>
              <a:ext cx="914400" cy="914400"/>
            </a:xfrm>
            <a:prstGeom prst="rect">
              <a:avLst/>
            </a:prstGeom>
            <a:noFill/>
          </p:spPr>
          <p:txBody>
            <a:bodyPr wrap="none" lIns="0" tIns="0" rIns="0" bIns="0" rtlCol="0">
              <a:noAutofit/>
            </a:bodyPr>
            <a:lstStyle/>
            <a:p>
              <a:pPr algn="l"/>
              <a:r>
                <a:rPr lang="en-AU" sz="3200" b="1"/>
                <a:t>B.</a:t>
              </a:r>
            </a:p>
          </p:txBody>
        </p:sp>
      </p:grpSp>
      <p:grpSp>
        <p:nvGrpSpPr>
          <p:cNvPr id="20" name="Group 19" descr="C. a measuring jug containing liquid more than 1 litre and less than 5 litres.">
            <a:extLst>
              <a:ext uri="{FF2B5EF4-FFF2-40B4-BE49-F238E27FC236}">
                <a16:creationId xmlns:a16="http://schemas.microsoft.com/office/drawing/2014/main" id="{E3250A45-0847-D70A-0DD5-C2721A73E7F0}"/>
              </a:ext>
            </a:extLst>
          </p:cNvPr>
          <p:cNvGrpSpPr/>
          <p:nvPr/>
        </p:nvGrpSpPr>
        <p:grpSpPr>
          <a:xfrm>
            <a:off x="8287116" y="3114676"/>
            <a:ext cx="3417104" cy="3436110"/>
            <a:chOff x="8287116" y="3114676"/>
            <a:chExt cx="3417104" cy="3436110"/>
          </a:xfrm>
        </p:grpSpPr>
        <p:pic>
          <p:nvPicPr>
            <p:cNvPr id="14" name="Picture 13">
              <a:extLst>
                <a:ext uri="{FF2B5EF4-FFF2-40B4-BE49-F238E27FC236}">
                  <a16:creationId xmlns:a16="http://schemas.microsoft.com/office/drawing/2014/main" id="{29DAF7FF-41E0-6824-FCFF-4E8724F91B24}"/>
                </a:ext>
              </a:extLst>
            </p:cNvPr>
            <p:cNvPicPr>
              <a:picLocks noChangeAspect="1"/>
            </p:cNvPicPr>
            <p:nvPr/>
          </p:nvPicPr>
          <p:blipFill>
            <a:blip r:embed="rId6"/>
            <a:stretch>
              <a:fillRect/>
            </a:stretch>
          </p:blipFill>
          <p:spPr>
            <a:xfrm>
              <a:off x="8287116" y="3717090"/>
              <a:ext cx="3417104" cy="2833696"/>
            </a:xfrm>
            <a:prstGeom prst="rect">
              <a:avLst/>
            </a:prstGeom>
          </p:spPr>
        </p:pic>
        <p:sp>
          <p:nvSpPr>
            <p:cNvPr id="17" name="TextBox 16">
              <a:extLst>
                <a:ext uri="{FF2B5EF4-FFF2-40B4-BE49-F238E27FC236}">
                  <a16:creationId xmlns:a16="http://schemas.microsoft.com/office/drawing/2014/main" id="{B0CA920C-429A-9713-AD45-61A80E6920B7}"/>
                </a:ext>
              </a:extLst>
            </p:cNvPr>
            <p:cNvSpPr txBox="1"/>
            <p:nvPr/>
          </p:nvSpPr>
          <p:spPr>
            <a:xfrm>
              <a:off x="8384669" y="3114676"/>
              <a:ext cx="914400" cy="914400"/>
            </a:xfrm>
            <a:prstGeom prst="rect">
              <a:avLst/>
            </a:prstGeom>
            <a:noFill/>
          </p:spPr>
          <p:txBody>
            <a:bodyPr wrap="none" lIns="0" tIns="0" rIns="0" bIns="0" rtlCol="0">
              <a:noAutofit/>
            </a:bodyPr>
            <a:lstStyle/>
            <a:p>
              <a:pPr algn="l"/>
              <a:r>
                <a:rPr lang="en-AU" sz="3200" b="1"/>
                <a:t>C.</a:t>
              </a:r>
            </a:p>
          </p:txBody>
        </p:sp>
      </p:gr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thirds and fifths</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grpSp>
        <p:nvGrpSpPr>
          <p:cNvPr id="3" name="Group 2" descr="A number line from zero to one.">
            <a:extLst>
              <a:ext uri="{FF2B5EF4-FFF2-40B4-BE49-F238E27FC236}">
                <a16:creationId xmlns:a16="http://schemas.microsoft.com/office/drawing/2014/main" id="{74C33B40-1B2D-5714-3B41-AAD55C268E27}"/>
              </a:ext>
            </a:extLst>
          </p:cNvPr>
          <p:cNvGrpSpPr/>
          <p:nvPr/>
        </p:nvGrpSpPr>
        <p:grpSpPr>
          <a:xfrm>
            <a:off x="1020932" y="1768134"/>
            <a:ext cx="10005414" cy="1330165"/>
            <a:chOff x="1180730" y="2433959"/>
            <a:chExt cx="10005414" cy="1330165"/>
          </a:xfrm>
        </p:grpSpPr>
        <p:cxnSp>
          <p:nvCxnSpPr>
            <p:cNvPr id="5" name="Straight Arrow Connector 4">
              <a:extLst>
                <a:ext uri="{FF2B5EF4-FFF2-40B4-BE49-F238E27FC236}">
                  <a16:creationId xmlns:a16="http://schemas.microsoft.com/office/drawing/2014/main" id="{16DEEBB1-8F70-C066-D1FD-1D2FCC49D1D1}"/>
                </a:ext>
              </a:extLst>
            </p:cNvPr>
            <p:cNvCxnSpPr/>
            <p:nvPr/>
          </p:nvCxnSpPr>
          <p:spPr>
            <a:xfrm>
              <a:off x="1180730" y="2583402"/>
              <a:ext cx="10005414" cy="0"/>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525829F-8AC9-E0DF-52B1-60AFE2CD3892}"/>
                </a:ext>
              </a:extLst>
            </p:cNvPr>
            <p:cNvSpPr txBox="1"/>
            <p:nvPr/>
          </p:nvSpPr>
          <p:spPr>
            <a:xfrm>
              <a:off x="1180730" y="2858610"/>
              <a:ext cx="594804" cy="905514"/>
            </a:xfrm>
            <a:prstGeom prst="rect">
              <a:avLst/>
            </a:prstGeom>
            <a:noFill/>
          </p:spPr>
          <p:txBody>
            <a:bodyPr wrap="square" lIns="0" tIns="0" rIns="0" bIns="0" rtlCol="0">
              <a:noAutofit/>
            </a:bodyPr>
            <a:lstStyle/>
            <a:p>
              <a:pPr algn="ctr"/>
              <a:r>
                <a:rPr lang="en-AU" sz="4400"/>
                <a:t>0</a:t>
              </a:r>
            </a:p>
          </p:txBody>
        </p:sp>
        <p:sp>
          <p:nvSpPr>
            <p:cNvPr id="8" name="TextBox 7">
              <a:extLst>
                <a:ext uri="{FF2B5EF4-FFF2-40B4-BE49-F238E27FC236}">
                  <a16:creationId xmlns:a16="http://schemas.microsoft.com/office/drawing/2014/main" id="{7E05CCE1-BC5D-9217-2008-A00009F7C431}"/>
                </a:ext>
              </a:extLst>
            </p:cNvPr>
            <p:cNvSpPr txBox="1"/>
            <p:nvPr/>
          </p:nvSpPr>
          <p:spPr>
            <a:xfrm>
              <a:off x="10591340" y="2858610"/>
              <a:ext cx="594804" cy="905514"/>
            </a:xfrm>
            <a:prstGeom prst="rect">
              <a:avLst/>
            </a:prstGeom>
            <a:noFill/>
          </p:spPr>
          <p:txBody>
            <a:bodyPr wrap="square" lIns="0" tIns="0" rIns="0" bIns="0" rtlCol="0">
              <a:noAutofit/>
            </a:bodyPr>
            <a:lstStyle/>
            <a:p>
              <a:pPr algn="ctr"/>
              <a:r>
                <a:rPr lang="en-AU" sz="4400"/>
                <a:t>1</a:t>
              </a:r>
            </a:p>
          </p:txBody>
        </p:sp>
        <p:cxnSp>
          <p:nvCxnSpPr>
            <p:cNvPr id="10" name="Straight Connector 9">
              <a:extLst>
                <a:ext uri="{FF2B5EF4-FFF2-40B4-BE49-F238E27FC236}">
                  <a16:creationId xmlns:a16="http://schemas.microsoft.com/office/drawing/2014/main" id="{307CFB33-507B-22BD-BE36-34E82C17CA06}"/>
                </a:ext>
              </a:extLst>
            </p:cNvPr>
            <p:cNvCxnSpPr/>
            <p:nvPr/>
          </p:nvCxnSpPr>
          <p:spPr>
            <a:xfrm>
              <a:off x="1478132" y="2441359"/>
              <a:ext cx="0" cy="2840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A4861B5-6714-6DFF-6395-FC19408F12B6}"/>
                </a:ext>
              </a:extLst>
            </p:cNvPr>
            <p:cNvCxnSpPr/>
            <p:nvPr/>
          </p:nvCxnSpPr>
          <p:spPr>
            <a:xfrm>
              <a:off x="10916134" y="2433959"/>
              <a:ext cx="0" cy="2840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Group 12" descr="A number line from zero to one.">
            <a:extLst>
              <a:ext uri="{FF2B5EF4-FFF2-40B4-BE49-F238E27FC236}">
                <a16:creationId xmlns:a16="http://schemas.microsoft.com/office/drawing/2014/main" id="{5205A5BA-3A80-8FF4-8C04-B0CD983C472B}"/>
              </a:ext>
            </a:extLst>
          </p:cNvPr>
          <p:cNvGrpSpPr/>
          <p:nvPr/>
        </p:nvGrpSpPr>
        <p:grpSpPr>
          <a:xfrm>
            <a:off x="1034628" y="4275340"/>
            <a:ext cx="10005414" cy="1330165"/>
            <a:chOff x="1180730" y="2433959"/>
            <a:chExt cx="10005414" cy="1330165"/>
          </a:xfrm>
        </p:grpSpPr>
        <p:cxnSp>
          <p:nvCxnSpPr>
            <p:cNvPr id="14" name="Straight Arrow Connector 13">
              <a:extLst>
                <a:ext uri="{FF2B5EF4-FFF2-40B4-BE49-F238E27FC236}">
                  <a16:creationId xmlns:a16="http://schemas.microsoft.com/office/drawing/2014/main" id="{36B738CF-D383-7618-D0AE-5998FFAFF58D}"/>
                </a:ext>
              </a:extLst>
            </p:cNvPr>
            <p:cNvCxnSpPr/>
            <p:nvPr/>
          </p:nvCxnSpPr>
          <p:spPr>
            <a:xfrm>
              <a:off x="1180730" y="2583402"/>
              <a:ext cx="10005414" cy="0"/>
            </a:xfrm>
            <a:prstGeom prst="straightConnector1">
              <a:avLst/>
            </a:prstGeom>
            <a:ln w="571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C134ED9-3AAA-B419-125F-ED7DF41520FC}"/>
                </a:ext>
              </a:extLst>
            </p:cNvPr>
            <p:cNvSpPr txBox="1"/>
            <p:nvPr/>
          </p:nvSpPr>
          <p:spPr>
            <a:xfrm>
              <a:off x="1180730" y="2858610"/>
              <a:ext cx="594804" cy="905514"/>
            </a:xfrm>
            <a:prstGeom prst="rect">
              <a:avLst/>
            </a:prstGeom>
            <a:noFill/>
          </p:spPr>
          <p:txBody>
            <a:bodyPr wrap="square" lIns="0" tIns="0" rIns="0" bIns="0" rtlCol="0">
              <a:noAutofit/>
            </a:bodyPr>
            <a:lstStyle/>
            <a:p>
              <a:pPr algn="ctr"/>
              <a:r>
                <a:rPr lang="en-AU" sz="4400"/>
                <a:t>0</a:t>
              </a:r>
            </a:p>
          </p:txBody>
        </p:sp>
        <p:sp>
          <p:nvSpPr>
            <p:cNvPr id="16" name="TextBox 15">
              <a:extLst>
                <a:ext uri="{FF2B5EF4-FFF2-40B4-BE49-F238E27FC236}">
                  <a16:creationId xmlns:a16="http://schemas.microsoft.com/office/drawing/2014/main" id="{374A9FBD-49B5-9943-E044-FDE7F1853A23}"/>
                </a:ext>
              </a:extLst>
            </p:cNvPr>
            <p:cNvSpPr txBox="1"/>
            <p:nvPr/>
          </p:nvSpPr>
          <p:spPr>
            <a:xfrm>
              <a:off x="10591340" y="2858610"/>
              <a:ext cx="594804" cy="905514"/>
            </a:xfrm>
            <a:prstGeom prst="rect">
              <a:avLst/>
            </a:prstGeom>
            <a:noFill/>
          </p:spPr>
          <p:txBody>
            <a:bodyPr wrap="square" lIns="0" tIns="0" rIns="0" bIns="0" rtlCol="0">
              <a:noAutofit/>
            </a:bodyPr>
            <a:lstStyle/>
            <a:p>
              <a:pPr algn="ctr"/>
              <a:r>
                <a:rPr lang="en-AU" sz="4400"/>
                <a:t>1</a:t>
              </a:r>
            </a:p>
          </p:txBody>
        </p:sp>
        <p:cxnSp>
          <p:nvCxnSpPr>
            <p:cNvPr id="18" name="Straight Connector 17">
              <a:extLst>
                <a:ext uri="{FF2B5EF4-FFF2-40B4-BE49-F238E27FC236}">
                  <a16:creationId xmlns:a16="http://schemas.microsoft.com/office/drawing/2014/main" id="{FD06375A-1E83-3A25-89C2-274162D0FA4B}"/>
                </a:ext>
              </a:extLst>
            </p:cNvPr>
            <p:cNvCxnSpPr/>
            <p:nvPr/>
          </p:nvCxnSpPr>
          <p:spPr>
            <a:xfrm>
              <a:off x="1478132" y="2441359"/>
              <a:ext cx="0" cy="2840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E4236CA-1998-6176-AD15-35A24DE5D4A5}"/>
                </a:ext>
              </a:extLst>
            </p:cNvPr>
            <p:cNvCxnSpPr/>
            <p:nvPr/>
          </p:nvCxnSpPr>
          <p:spPr>
            <a:xfrm>
              <a:off x="10916134" y="2433959"/>
              <a:ext cx="0" cy="28408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 uri="{C183D7F6-B498-43B3-948B-1728B52AA6E4}">
                <adec:decorative xmlns:adec="http://schemas.microsoft.com/office/drawing/2017/decorative" val="0"/>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8" name="Text Placeholder 5">
            <a:extLst>
              <a:ext uri="{FF2B5EF4-FFF2-40B4-BE49-F238E27FC236}">
                <a16:creationId xmlns:a16="http://schemas.microsoft.com/office/drawing/2014/main" id="{99A0CD84-630C-49AC-F408-4ACF2F74BA58}"/>
              </a:ext>
            </a:extLst>
          </p:cNvPr>
          <p:cNvSpPr txBox="1">
            <a:spLocks/>
          </p:cNvSpPr>
          <p:nvPr/>
        </p:nvSpPr>
        <p:spPr>
          <a:xfrm>
            <a:off x="462480" y="1147372"/>
            <a:ext cx="1136952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dirty="0"/>
              <a:t>The </a:t>
            </a:r>
            <a:r>
              <a:rPr lang="en-AU" sz="4000" dirty="0">
                <a:solidFill>
                  <a:schemeClr val="accent2"/>
                </a:solidFill>
              </a:rPr>
              <a:t>blue shading </a:t>
            </a:r>
            <a:r>
              <a:rPr lang="en-AU" sz="4000" dirty="0"/>
              <a:t>in this representation shows a </a:t>
            </a:r>
            <a:r>
              <a:rPr lang="en-AU" sz="4000" b="1" dirty="0"/>
              <a:t>fifth</a:t>
            </a:r>
            <a:r>
              <a:rPr lang="en-AU" sz="4000" dirty="0"/>
              <a:t> of the length of the fraction strip.</a:t>
            </a:r>
          </a:p>
        </p:txBody>
      </p:sp>
      <p:pic>
        <p:nvPicPr>
          <p:cNvPr id="5" name="Picture 4" descr="A fraction strip showing shading across at least 1 part of three parts of the strip.">
            <a:extLst>
              <a:ext uri="{FF2B5EF4-FFF2-40B4-BE49-F238E27FC236}">
                <a16:creationId xmlns:a16="http://schemas.microsoft.com/office/drawing/2014/main" id="{77CDCC09-1F8D-713D-4FED-69A628B6E327}"/>
              </a:ext>
            </a:extLst>
          </p:cNvPr>
          <p:cNvPicPr>
            <a:picLocks noChangeAspect="1"/>
          </p:cNvPicPr>
          <p:nvPr/>
        </p:nvPicPr>
        <p:blipFill>
          <a:blip r:embed="rId4"/>
          <a:stretch>
            <a:fillRect/>
          </a:stretch>
        </p:blipFill>
        <p:spPr>
          <a:xfrm>
            <a:off x="873576" y="3237946"/>
            <a:ext cx="10444843" cy="1089595"/>
          </a:xfrm>
          <a:prstGeom prst="rect">
            <a:avLst/>
          </a:prstGeom>
        </p:spPr>
      </p:pic>
      <p:graphicFrame>
        <p:nvGraphicFramePr>
          <p:cNvPr id="12" name="Table 11">
            <a:extLst>
              <a:ext uri="{FF2B5EF4-FFF2-40B4-BE49-F238E27FC236}">
                <a16:creationId xmlns:a16="http://schemas.microsoft.com/office/drawing/2014/main" id="{3F8CBB11-5402-CF1C-E0D6-3FC912DFC86F}"/>
              </a:ext>
              <a:ext uri="{C183D7F6-B498-43B3-948B-1728B52AA6E4}">
                <adec:decorative xmlns:adec="http://schemas.microsoft.com/office/drawing/2017/decorative" val="0"/>
              </a:ext>
            </a:extLst>
          </p:cNvPr>
          <p:cNvGraphicFramePr>
            <a:graphicFrameLocks noGrp="1"/>
          </p:cNvGraphicFramePr>
          <p:nvPr>
            <p:extLst>
              <p:ext uri="{D42A27DB-BD31-4B8C-83A1-F6EECF244321}">
                <p14:modId xmlns:p14="http://schemas.microsoft.com/office/powerpoint/2010/main" val="1460980171"/>
              </p:ext>
            </p:extLst>
          </p:nvPr>
        </p:nvGraphicFramePr>
        <p:xfrm>
          <a:off x="2442981" y="463932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10" name="Text Placeholder 5">
            <a:extLst>
              <a:ext uri="{FF2B5EF4-FFF2-40B4-BE49-F238E27FC236}">
                <a16:creationId xmlns:a16="http://schemas.microsoft.com/office/drawing/2014/main" id="{ACBC57E5-9C5A-20CD-84DE-04AFFFFF4DA2}"/>
              </a:ext>
            </a:extLst>
          </p:cNvPr>
          <p:cNvSpPr txBox="1">
            <a:spLocks/>
          </p:cNvSpPr>
          <p:nvPr/>
        </p:nvSpPr>
        <p:spPr>
          <a:xfrm>
            <a:off x="474480" y="5622774"/>
            <a:ext cx="1124303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Communicate</a:t>
            </a:r>
            <a:r>
              <a:rPr lang="en-AU" sz="4400" dirty="0"/>
              <a:t> your </a:t>
            </a:r>
            <a:r>
              <a:rPr lang="en-AU" sz="4400" b="1" dirty="0"/>
              <a:t>reasoning</a:t>
            </a:r>
            <a:r>
              <a:rPr lang="en-AU" sz="4400" dirty="0"/>
              <a:t>.</a:t>
            </a:r>
          </a:p>
        </p:txBody>
      </p:sp>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4" name="TextBox 3">
            <a:extLst>
              <a:ext uri="{FF2B5EF4-FFF2-40B4-BE49-F238E27FC236}">
                <a16:creationId xmlns:a16="http://schemas.microsoft.com/office/drawing/2014/main" id="{8CE49B5D-E2E7-1CE5-B728-B430E61658DC}"/>
              </a:ext>
            </a:extLst>
          </p:cNvPr>
          <p:cNvSpPr txBox="1"/>
          <p:nvPr/>
        </p:nvSpPr>
        <p:spPr>
          <a:xfrm>
            <a:off x="360000" y="905601"/>
            <a:ext cx="10897005" cy="1325366"/>
          </a:xfrm>
          <a:prstGeom prst="rect">
            <a:avLst/>
          </a:prstGeom>
          <a:noFill/>
        </p:spPr>
        <p:txBody>
          <a:bodyPr wrap="square" lIns="0" tIns="0" rIns="0" bIns="0" rtlCol="0">
            <a:noAutofit/>
          </a:bodyPr>
          <a:lstStyle/>
          <a:p>
            <a:pPr algn="ctr">
              <a:lnSpc>
                <a:spcPct val="150000"/>
              </a:lnSpc>
            </a:pPr>
            <a:r>
              <a:rPr lang="en-AU" sz="3600"/>
              <a:t>Record the </a:t>
            </a:r>
            <a:r>
              <a:rPr lang="en-AU" sz="3600" b="1"/>
              <a:t>lengths</a:t>
            </a:r>
            <a:r>
              <a:rPr lang="en-AU" sz="3600"/>
              <a:t> of the clay snakes using the </a:t>
            </a:r>
            <a:r>
              <a:rPr lang="en-AU" sz="3600" b="1"/>
              <a:t>abbreviation for millimetres (mm)</a:t>
            </a:r>
            <a:r>
              <a:rPr lang="en-AU" sz="3600"/>
              <a:t>. </a:t>
            </a:r>
          </a:p>
        </p:txBody>
      </p:sp>
      <p:pic>
        <p:nvPicPr>
          <p:cNvPr id="7" name="Picture 6" descr="Snake 1: A clay snake above a 30 cm ruler. A red line is marked between 17 and 18 cm.">
            <a:extLst>
              <a:ext uri="{FF2B5EF4-FFF2-40B4-BE49-F238E27FC236}">
                <a16:creationId xmlns:a16="http://schemas.microsoft.com/office/drawing/2014/main" id="{CD30F7F7-4368-8B66-DBF5-EF5461447B12}"/>
              </a:ext>
            </a:extLst>
          </p:cNvPr>
          <p:cNvPicPr>
            <a:picLocks noChangeAspect="1"/>
          </p:cNvPicPr>
          <p:nvPr/>
        </p:nvPicPr>
        <p:blipFill>
          <a:blip r:embed="rId4"/>
          <a:stretch>
            <a:fillRect/>
          </a:stretch>
        </p:blipFill>
        <p:spPr>
          <a:xfrm>
            <a:off x="999714" y="2704548"/>
            <a:ext cx="7894143" cy="1842865"/>
          </a:xfrm>
          <a:prstGeom prst="rect">
            <a:avLst/>
          </a:prstGeom>
          <a:ln>
            <a:noFill/>
          </a:ln>
          <a:effectLst/>
        </p:spPr>
      </p:pic>
      <p:pic>
        <p:nvPicPr>
          <p:cNvPr id="9" name="Picture 8" descr="Snake 2: A clay snake above a 30 cm ruler. A red line is marked before 28 cm.">
            <a:extLst>
              <a:ext uri="{FF2B5EF4-FFF2-40B4-BE49-F238E27FC236}">
                <a16:creationId xmlns:a16="http://schemas.microsoft.com/office/drawing/2014/main" id="{221B7F22-9205-A0C1-3C14-7AEDED2C6B71}"/>
              </a:ext>
            </a:extLst>
          </p:cNvPr>
          <p:cNvPicPr>
            <a:picLocks noChangeAspect="1"/>
          </p:cNvPicPr>
          <p:nvPr/>
        </p:nvPicPr>
        <p:blipFill>
          <a:blip r:embed="rId5"/>
          <a:stretch>
            <a:fillRect/>
          </a:stretch>
        </p:blipFill>
        <p:spPr>
          <a:xfrm>
            <a:off x="999714" y="5020994"/>
            <a:ext cx="7894143" cy="1675006"/>
          </a:xfrm>
          <a:prstGeom prst="rect">
            <a:avLst/>
          </a:prstGeom>
          <a:ln>
            <a:noFill/>
          </a:ln>
          <a:effectLst/>
        </p:spPr>
      </p:pic>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4" name="TextBox 3">
            <a:extLst>
              <a:ext uri="{FF2B5EF4-FFF2-40B4-BE49-F238E27FC236}">
                <a16:creationId xmlns:a16="http://schemas.microsoft.com/office/drawing/2014/main" id="{F7F4F335-1847-0F17-25CF-999AE7EA0581}"/>
              </a:ext>
            </a:extLst>
          </p:cNvPr>
          <p:cNvSpPr txBox="1"/>
          <p:nvPr/>
        </p:nvSpPr>
        <p:spPr>
          <a:xfrm>
            <a:off x="550106" y="1474012"/>
            <a:ext cx="10521559" cy="3605048"/>
          </a:xfrm>
          <a:prstGeom prst="rect">
            <a:avLst/>
          </a:prstGeom>
          <a:noFill/>
        </p:spPr>
        <p:txBody>
          <a:bodyPr wrap="square" lIns="0" tIns="0" rIns="0" bIns="0" rtlCol="0">
            <a:noAutofit/>
          </a:bodyPr>
          <a:lstStyle/>
          <a:p>
            <a:pPr algn="ctr">
              <a:lnSpc>
                <a:spcPct val="150000"/>
              </a:lnSpc>
              <a:spcBef>
                <a:spcPts val="1200"/>
              </a:spcBef>
              <a:spcAft>
                <a:spcPts val="600"/>
              </a:spcAft>
            </a:pPr>
            <a:r>
              <a:rPr lang="en-AU" sz="4200"/>
              <a:t>Record a </a:t>
            </a:r>
            <a:r>
              <a:rPr lang="en-AU" sz="4200" b="1"/>
              <a:t>number sentence </a:t>
            </a:r>
            <a:r>
              <a:rPr lang="en-AU" sz="4200"/>
              <a:t>to solve:</a:t>
            </a:r>
          </a:p>
          <a:p>
            <a:pPr algn="ctr">
              <a:lnSpc>
                <a:spcPct val="150000"/>
              </a:lnSpc>
              <a:spcBef>
                <a:spcPts val="1200"/>
              </a:spcBef>
              <a:spcAft>
                <a:spcPts val="600"/>
              </a:spcAft>
            </a:pPr>
            <a:r>
              <a:rPr lang="en-AU" sz="4200"/>
              <a:t>Mandy bakes some cookies. There are </a:t>
            </a:r>
            <a:r>
              <a:rPr lang="en-AU" sz="4200" b="1"/>
              <a:t>5 cookies </a:t>
            </a:r>
            <a:r>
              <a:rPr lang="en-AU" sz="4200"/>
              <a:t>on each tray</a:t>
            </a:r>
            <a:r>
              <a:rPr lang="en-AU" sz="4200" b="1"/>
              <a:t>. </a:t>
            </a:r>
            <a:r>
              <a:rPr lang="en-AU" sz="4200"/>
              <a:t>She fills </a:t>
            </a:r>
            <a:r>
              <a:rPr lang="en-AU" sz="4200" b="1"/>
              <a:t>7 trays</a:t>
            </a:r>
            <a:r>
              <a:rPr lang="en-AU" sz="4200"/>
              <a:t>. </a:t>
            </a:r>
          </a:p>
          <a:p>
            <a:pPr algn="ctr">
              <a:lnSpc>
                <a:spcPct val="150000"/>
              </a:lnSpc>
              <a:spcBef>
                <a:spcPts val="1200"/>
              </a:spcBef>
              <a:spcAft>
                <a:spcPts val="600"/>
              </a:spcAft>
            </a:pPr>
            <a:r>
              <a:rPr lang="en-AU" sz="4200" b="1"/>
              <a:t>How many </a:t>
            </a:r>
            <a:r>
              <a:rPr lang="en-AU" sz="4200"/>
              <a:t>cookies did Mandy bake?</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5" name="TextBox 4">
            <a:extLst>
              <a:ext uri="{FF2B5EF4-FFF2-40B4-BE49-F238E27FC236}">
                <a16:creationId xmlns:a16="http://schemas.microsoft.com/office/drawing/2014/main" id="{E2F5BEF0-B1F4-94F8-AD06-C1A11958B771}"/>
              </a:ext>
            </a:extLst>
          </p:cNvPr>
          <p:cNvSpPr txBox="1"/>
          <p:nvPr/>
        </p:nvSpPr>
        <p:spPr>
          <a:xfrm>
            <a:off x="428093" y="1367444"/>
            <a:ext cx="11335814" cy="2482667"/>
          </a:xfrm>
          <a:prstGeom prst="rect">
            <a:avLst/>
          </a:prstGeom>
          <a:solidFill>
            <a:schemeClr val="accent4"/>
          </a:solidFill>
          <a:ln w="57150">
            <a:solidFill>
              <a:schemeClr val="tx1"/>
            </a:solidFill>
          </a:ln>
        </p:spPr>
        <p:txBody>
          <a:bodyPr wrap="square">
            <a:spAutoFit/>
          </a:bodyPr>
          <a:lstStyle/>
          <a:p>
            <a:pPr algn="ctr">
              <a:lnSpc>
                <a:spcPct val="150000"/>
              </a:lnSpc>
            </a:pPr>
            <a:r>
              <a:rPr lang="en-AU" sz="3600"/>
              <a:t>A </a:t>
            </a:r>
            <a:r>
              <a:rPr lang="en-AU" sz="3600" b="1"/>
              <a:t>square metre </a:t>
            </a:r>
            <a:r>
              <a:rPr lang="en-AU" sz="3600"/>
              <a:t>is cut into </a:t>
            </a:r>
            <a:r>
              <a:rPr lang="en-AU" sz="3600" b="1"/>
              <a:t>2 pieces </a:t>
            </a:r>
            <a:r>
              <a:rPr lang="en-AU" sz="3600"/>
              <a:t>and </a:t>
            </a:r>
            <a:r>
              <a:rPr lang="en-AU" sz="3600" b="1"/>
              <a:t>rearranged</a:t>
            </a:r>
            <a:r>
              <a:rPr lang="en-AU" sz="3600"/>
              <a:t> to make a new shape that is not a square. The pieces are placed together with </a:t>
            </a:r>
            <a:r>
              <a:rPr lang="en-AU" sz="3600" b="1"/>
              <a:t>no gaps or overlaps</a:t>
            </a:r>
            <a:r>
              <a:rPr lang="en-AU" sz="3600"/>
              <a:t>. </a:t>
            </a:r>
          </a:p>
        </p:txBody>
      </p:sp>
      <p:sp>
        <p:nvSpPr>
          <p:cNvPr id="7" name="TextBox 6">
            <a:extLst>
              <a:ext uri="{FF2B5EF4-FFF2-40B4-BE49-F238E27FC236}">
                <a16:creationId xmlns:a16="http://schemas.microsoft.com/office/drawing/2014/main" id="{9FC6195A-2009-3AE4-DC8B-71CC90399BC7}"/>
              </a:ext>
            </a:extLst>
          </p:cNvPr>
          <p:cNvSpPr txBox="1"/>
          <p:nvPr/>
        </p:nvSpPr>
        <p:spPr>
          <a:xfrm>
            <a:off x="622472" y="3947747"/>
            <a:ext cx="10947056" cy="2748253"/>
          </a:xfrm>
          <a:prstGeom prst="rect">
            <a:avLst/>
          </a:prstGeom>
          <a:noFill/>
        </p:spPr>
        <p:txBody>
          <a:bodyPr wrap="square">
            <a:spAutoFit/>
          </a:bodyPr>
          <a:lstStyle/>
          <a:p>
            <a:pPr algn="ctr">
              <a:lnSpc>
                <a:spcPct val="150000"/>
              </a:lnSpc>
            </a:pPr>
            <a:r>
              <a:rPr lang="en-AU" sz="4000"/>
              <a:t>Does the new shape still have an area of </a:t>
            </a:r>
            <a:r>
              <a:rPr lang="en-AU" sz="4000" b="1"/>
              <a:t>one square metre</a:t>
            </a:r>
            <a:r>
              <a:rPr lang="en-AU" sz="4000"/>
              <a:t>? </a:t>
            </a:r>
          </a:p>
          <a:p>
            <a:pPr algn="ctr">
              <a:lnSpc>
                <a:spcPct val="150000"/>
              </a:lnSpc>
            </a:pPr>
            <a:r>
              <a:rPr lang="en-AU" sz="4000" b="1"/>
              <a:t>Communicate</a:t>
            </a:r>
            <a:r>
              <a:rPr lang="en-AU" sz="4000"/>
              <a:t> your </a:t>
            </a:r>
            <a:r>
              <a:rPr lang="en-AU" sz="4000" b="1"/>
              <a:t>reasoning</a:t>
            </a:r>
            <a:r>
              <a:rPr lang="en-AU" sz="4000"/>
              <a:t>.</a:t>
            </a: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93D0DA31-3AEE-9CAC-1895-506792107A60}"/>
              </a:ext>
            </a:extLst>
          </p:cNvPr>
          <p:cNvSpPr txBox="1"/>
          <p:nvPr/>
        </p:nvSpPr>
        <p:spPr>
          <a:xfrm>
            <a:off x="425302" y="1008199"/>
            <a:ext cx="10605174" cy="1722475"/>
          </a:xfrm>
          <a:prstGeom prst="rect">
            <a:avLst/>
          </a:prstGeom>
          <a:noFill/>
        </p:spPr>
        <p:txBody>
          <a:bodyPr wrap="square" lIns="0" tIns="0" rIns="0" bIns="0" rtlCol="0">
            <a:noAutofit/>
          </a:bodyPr>
          <a:lstStyle/>
          <a:p>
            <a:pPr algn="ctr">
              <a:lnSpc>
                <a:spcPct val="150000"/>
              </a:lnSpc>
            </a:pPr>
            <a:r>
              <a:rPr lang="en-AU" sz="3000"/>
              <a:t>These containers have a </a:t>
            </a:r>
            <a:r>
              <a:rPr lang="en-AU" sz="3000" b="1"/>
              <a:t>capacity</a:t>
            </a:r>
            <a:r>
              <a:rPr lang="en-AU" sz="3000"/>
              <a:t> of </a:t>
            </a:r>
            <a:r>
              <a:rPr lang="en-AU" sz="3000" b="1"/>
              <a:t>one litre</a:t>
            </a:r>
            <a:r>
              <a:rPr lang="en-AU" sz="3000"/>
              <a:t>.</a:t>
            </a:r>
          </a:p>
          <a:p>
            <a:pPr algn="ctr">
              <a:lnSpc>
                <a:spcPct val="150000"/>
              </a:lnSpc>
            </a:pPr>
            <a:r>
              <a:rPr lang="en-AU" sz="3000" b="1"/>
              <a:t>Explain</a:t>
            </a:r>
            <a:r>
              <a:rPr lang="en-AU" sz="3000"/>
              <a:t> how each container can hold </a:t>
            </a:r>
            <a:r>
              <a:rPr lang="en-AU" sz="3000" b="1"/>
              <a:t>one litre</a:t>
            </a:r>
            <a:r>
              <a:rPr lang="en-AU" sz="3000"/>
              <a:t>, while being a </a:t>
            </a:r>
            <a:r>
              <a:rPr lang="en-AU" sz="3000" b="1"/>
              <a:t>variety of shapes</a:t>
            </a:r>
            <a:r>
              <a:rPr lang="en-AU" sz="3000"/>
              <a:t>.</a:t>
            </a:r>
          </a:p>
        </p:txBody>
      </p:sp>
      <p:pic>
        <p:nvPicPr>
          <p:cNvPr id="7" name="Picture 6" descr="A carton of milk, a tub of ice cream, a measuring jug and a bottle of water.">
            <a:extLst>
              <a:ext uri="{FF2B5EF4-FFF2-40B4-BE49-F238E27FC236}">
                <a16:creationId xmlns:a16="http://schemas.microsoft.com/office/drawing/2014/main" id="{468D476A-5767-28F0-FCD7-26770F823C8F}"/>
              </a:ext>
            </a:extLst>
          </p:cNvPr>
          <p:cNvPicPr>
            <a:picLocks noChangeAspect="1"/>
          </p:cNvPicPr>
          <p:nvPr/>
        </p:nvPicPr>
        <p:blipFill>
          <a:blip r:embed="rId4"/>
          <a:stretch>
            <a:fillRect/>
          </a:stretch>
        </p:blipFill>
        <p:spPr>
          <a:xfrm>
            <a:off x="2212080" y="3283728"/>
            <a:ext cx="7403603" cy="3379594"/>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Who is winning?</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7" name="Picture 6" descr="4 students running in a race. Silvia has gone 1/3 of the distance, Josh has completed 3/4, Katie has done 1/2 and David has done 3/5.">
            <a:extLst>
              <a:ext uri="{FF2B5EF4-FFF2-40B4-BE49-F238E27FC236}">
                <a16:creationId xmlns:a16="http://schemas.microsoft.com/office/drawing/2014/main" id="{478007BC-3851-4DD7-FC35-FE5FC3969A77}"/>
              </a:ext>
            </a:extLst>
          </p:cNvPr>
          <p:cNvPicPr>
            <a:picLocks noChangeAspect="1"/>
          </p:cNvPicPr>
          <p:nvPr/>
        </p:nvPicPr>
        <p:blipFill>
          <a:blip r:embed="rId4"/>
          <a:stretch>
            <a:fillRect/>
          </a:stretch>
        </p:blipFill>
        <p:spPr>
          <a:xfrm>
            <a:off x="1238178" y="1204591"/>
            <a:ext cx="9715643" cy="5168564"/>
          </a:xfrm>
          <a:prstGeom prst="rect">
            <a:avLst/>
          </a:prstGeom>
        </p:spPr>
      </p:pic>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a:t>
            </a:r>
            <a:r>
              <a:rPr lang="en-AU">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5 February 2026) and was not modified.</a:t>
            </a:r>
          </a:p>
          <a:p>
            <a:r>
              <a:rPr lang="en-AU"/>
              <a:t>New Zealand Ministry of Education (n.d.) ‘</a:t>
            </a:r>
            <a:r>
              <a:rPr lang="en-AU" i="1" u="sng">
                <a:hlinkClick r:id="rId9"/>
              </a:rPr>
              <a:t>Making benchmarks: Length</a:t>
            </a:r>
            <a:r>
              <a:rPr lang="en-AU"/>
              <a:t>’, Resource, NZ Maths website, accessed 9 February 2026. </a:t>
            </a:r>
          </a:p>
          <a:p>
            <a:r>
              <a:rPr lang="en-AU"/>
              <a:t>NSW Department of Education (2017) </a:t>
            </a:r>
            <a:r>
              <a:rPr lang="en-AU" i="1" u="sng">
                <a:hlinkClick r:id="rId10"/>
              </a:rPr>
              <a:t>Teaching Measurement: Stage 2 and Stage 3</a:t>
            </a:r>
            <a:r>
              <a:rPr lang="en-AU" i="1"/>
              <a:t> </a:t>
            </a:r>
            <a:r>
              <a:rPr lang="en-AU"/>
              <a:t>[PDF]. NSW Department of Education Learning and Teaching Directorate.</a:t>
            </a:r>
          </a:p>
          <a:p>
            <a:r>
              <a:rPr lang="en-AU"/>
              <a:t>Siemon D, Warren E, Beswick K, Faragher R, Miller J, Horne Marj, </a:t>
            </a:r>
            <a:r>
              <a:rPr lang="en-AU" err="1"/>
              <a:t>Jazby</a:t>
            </a:r>
            <a:r>
              <a:rPr lang="en-AU"/>
              <a:t> D, Breed M, Clark J, Brady K (2022) Teaching Mathematics: Foundation to middle years 3rd </a:t>
            </a:r>
            <a:r>
              <a:rPr lang="en-AU" err="1"/>
              <a:t>edn</a:t>
            </a:r>
            <a:r>
              <a:rPr lang="en-AU"/>
              <a:t> Oxford University Press, Australia.</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66ADD-8166-9323-5AD0-A9FD317DCB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A19FFC6-A79B-4432-807B-91AA2A2DEF99}"/>
              </a:ext>
            </a:extLst>
          </p:cNvPr>
          <p:cNvSpPr>
            <a:spLocks noGrp="1"/>
          </p:cNvSpPr>
          <p:nvPr>
            <p:ph type="title"/>
          </p:nvPr>
        </p:nvSpPr>
        <p:spPr/>
        <p:txBody>
          <a:bodyPr/>
          <a:lstStyle/>
          <a:p>
            <a:r>
              <a:rPr lang="en-AU">
                <a:latin typeface="+mj-lt"/>
              </a:rPr>
              <a:t>References </a:t>
            </a:r>
            <a:r>
              <a:rPr lang="en-AU">
                <a:solidFill>
                  <a:schemeClr val="accent4"/>
                </a:solidFill>
                <a:latin typeface="+mj-lt"/>
              </a:rPr>
              <a:t>(2)</a:t>
            </a:r>
          </a:p>
        </p:txBody>
      </p:sp>
      <p:sp>
        <p:nvSpPr>
          <p:cNvPr id="6" name="TextBox 5">
            <a:extLst>
              <a:ext uri="{FF2B5EF4-FFF2-40B4-BE49-F238E27FC236}">
                <a16:creationId xmlns:a16="http://schemas.microsoft.com/office/drawing/2014/main" id="{1D876F7F-6AEE-19E9-4F0C-D258B78EE672}"/>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F1730D0C-A51D-773F-EA6A-9A5570A675B7}"/>
              </a:ext>
            </a:extLst>
          </p:cNvPr>
          <p:cNvSpPr>
            <a:spLocks noGrp="1"/>
          </p:cNvSpPr>
          <p:nvPr>
            <p:ph idx="1"/>
          </p:nvPr>
        </p:nvSpPr>
        <p:spPr/>
        <p:txBody>
          <a:bodyPr/>
          <a:lstStyle/>
          <a:p>
            <a:r>
              <a:rPr lang="en-AU"/>
              <a:t>Toy </a:t>
            </a:r>
            <a:r>
              <a:rPr lang="en-AU" err="1"/>
              <a:t>Theater</a:t>
            </a:r>
            <a:r>
              <a:rPr lang="en-AU"/>
              <a:t> (2023) </a:t>
            </a:r>
            <a:r>
              <a:rPr lang="en-AU" i="1" u="sng">
                <a:hlinkClick r:id="rId6"/>
              </a:rPr>
              <a:t>Place Value Chart</a:t>
            </a:r>
            <a:r>
              <a:rPr lang="en-AU"/>
              <a:t>, Toy </a:t>
            </a:r>
            <a:r>
              <a:rPr lang="en-AU" err="1"/>
              <a:t>Theater</a:t>
            </a:r>
            <a:r>
              <a:rPr lang="en-AU"/>
              <a:t> website, accessed 9 February 2026.</a:t>
            </a:r>
          </a:p>
          <a:p>
            <a:r>
              <a:rPr lang="en-AU"/>
              <a:t>Van de Walle J, Karp K, Bay-Williams JM, Brass A, Bentley B, Ferguson S, Goff W, Livy S, Marshman M, Martin D, Pearn C, </a:t>
            </a:r>
            <a:r>
              <a:rPr lang="en-AU" err="1"/>
              <a:t>Prodromou</a:t>
            </a:r>
            <a:r>
              <a:rPr lang="en-AU"/>
              <a:t> T, Symons D and Wilkie K (2019) Primary and Middle Years Mathematics: Teaching Developmentally, 1st Australian </a:t>
            </a:r>
            <a:r>
              <a:rPr lang="en-AU" err="1"/>
              <a:t>edn</a:t>
            </a:r>
            <a:r>
              <a:rPr lang="en-AU"/>
              <a:t>, Pearson Education Australia, Melbourne.</a:t>
            </a:r>
          </a:p>
        </p:txBody>
      </p:sp>
      <p:sp>
        <p:nvSpPr>
          <p:cNvPr id="2" name="Slide Number Placeholder 1">
            <a:extLst>
              <a:ext uri="{FF2B5EF4-FFF2-40B4-BE49-F238E27FC236}">
                <a16:creationId xmlns:a16="http://schemas.microsoft.com/office/drawing/2014/main" id="{83827172-5AA1-5CCF-81C2-68A9F7D4A71D}"/>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2063198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F57FA7B8-F1FB-4DA0-BF01-00D3AD061335}"/>
</file>

<file path=customXml/itemProps3.xml><?xml version="1.0" encoding="utf-8"?>
<ds:datastoreItem xmlns:ds="http://schemas.openxmlformats.org/officeDocument/2006/customXml" ds:itemID="{CE555570-2BD4-426B-AA32-0A79CB6508A8}">
  <ds:schemaRefs>
    <ds:schemaRef ds:uri="http://schemas.microsoft.com/sharepoint/v3"/>
    <ds:schemaRef ds:uri="7e763d47-3c66-4c58-9425-1477fd3ccd1e"/>
    <ds:schemaRef ds:uri="60129b06-f64b-40a8-96e2-c5b2f86112b1"/>
    <ds:schemaRef ds:uri="http://schemas.microsoft.com/office/2006/documentManagement/types"/>
    <ds:schemaRef ds:uri="http://schemas.microsoft.com/office/infopath/2007/PartnerControls"/>
    <ds:schemaRef ds:uri="http://purl.org/dc/dcmitype/"/>
    <ds:schemaRef ds:uri="http://purl.org/dc/elements/1.1/"/>
    <ds:schemaRef ds:uri="http://purl.org/dc/terms/"/>
    <ds:schemaRef ds:uri="http://schemas.openxmlformats.org/package/2006/metadata/core-properties"/>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14</TotalTime>
  <Words>6292</Words>
  <Application>Microsoft Office PowerPoint</Application>
  <PresentationFormat>Widescreen</PresentationFormat>
  <Paragraphs>882</Paragraphs>
  <Slides>69</Slides>
  <Notes>69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69</vt:i4>
      </vt:variant>
    </vt:vector>
  </HeadingPairs>
  <TitlesOfParts>
    <vt:vector size="78" baseType="lpstr">
      <vt:lpstr>Wingdings</vt:lpstr>
      <vt:lpstr>Montserrat</vt:lpstr>
      <vt:lpstr>Public Sans Light</vt:lpstr>
      <vt:lpstr>Arial</vt:lpstr>
      <vt:lpstr>Times New Roman</vt:lpstr>
      <vt:lpstr>Cambria Math</vt:lpstr>
      <vt:lpstr>Calibri</vt:lpstr>
      <vt:lpstr>Public Sans</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10 times as large</vt:lpstr>
      <vt:lpstr>Review of learning 2</vt:lpstr>
      <vt:lpstr>True or false (1)</vt:lpstr>
      <vt:lpstr>Short response (5)</vt:lpstr>
      <vt:lpstr>Short response (6)</vt:lpstr>
      <vt:lpstr>Short response (7)</vt:lpstr>
      <vt:lpstr>Short response (8)</vt:lpstr>
      <vt:lpstr>Activity 2 – 100 times as large</vt:lpstr>
      <vt:lpstr>Review of learning 3</vt:lpstr>
      <vt:lpstr>Multiple choice (2)</vt:lpstr>
      <vt:lpstr>Short response (9)</vt:lpstr>
      <vt:lpstr>Short response (10)</vt:lpstr>
      <vt:lpstr>Short response (11)</vt:lpstr>
      <vt:lpstr>Short response (12)</vt:lpstr>
      <vt:lpstr>Activity 3 – 1000 times as large</vt:lpstr>
      <vt:lpstr>Review of learning 4</vt:lpstr>
      <vt:lpstr>True or false (2)</vt:lpstr>
      <vt:lpstr>Short response (13)</vt:lpstr>
      <vt:lpstr>Short response (14)</vt:lpstr>
      <vt:lpstr>Short response (15)</vt:lpstr>
      <vt:lpstr>Short response (16)</vt:lpstr>
      <vt:lpstr>Activity 4 – place value challenge</vt:lpstr>
      <vt:lpstr>Review of learning 5</vt:lpstr>
      <vt:lpstr>Multiple choice (3)</vt:lpstr>
      <vt:lpstr>Short response (17)</vt:lpstr>
      <vt:lpstr>Short response (18)</vt:lpstr>
      <vt:lpstr>Short response (19)</vt:lpstr>
      <vt:lpstr>Short response (20)</vt:lpstr>
      <vt:lpstr>Activity 5 – making thirds</vt:lpstr>
      <vt:lpstr>Review of learning 6</vt:lpstr>
      <vt:lpstr>True or false (3)</vt:lpstr>
      <vt:lpstr>Short response (21)</vt:lpstr>
      <vt:lpstr>Short response (22)</vt:lpstr>
      <vt:lpstr>Short response (23)</vt:lpstr>
      <vt:lpstr>Short response (24)</vt:lpstr>
      <vt:lpstr>Activity 6 – creating fifths</vt:lpstr>
      <vt:lpstr>Review of learning 7</vt:lpstr>
      <vt:lpstr>Multiple choice (4)</vt:lpstr>
      <vt:lpstr>Short response (25)</vt:lpstr>
      <vt:lpstr>Short response (26)</vt:lpstr>
      <vt:lpstr>Short response (27)</vt:lpstr>
      <vt:lpstr>Short response (28)</vt:lpstr>
      <vt:lpstr>Activity 7 – thirds and fifths</vt:lpstr>
      <vt:lpstr>Review of learning 8</vt:lpstr>
      <vt:lpstr>True or false (4)</vt:lpstr>
      <vt:lpstr>Short response (29)</vt:lpstr>
      <vt:lpstr>Short response (30)</vt:lpstr>
      <vt:lpstr>Short response (31)</vt:lpstr>
      <vt:lpstr>Short response (32)</vt:lpstr>
      <vt:lpstr>Activity 8 – Who is winning?</vt:lpstr>
      <vt:lpstr>Double Venn diagram</vt:lpstr>
      <vt:lpstr>Frayer</vt:lpstr>
      <vt:lpstr>Spider map</vt:lpstr>
      <vt:lpstr>Cline</vt:lpstr>
      <vt:lpstr>Compare and contrast</vt:lpstr>
      <vt:lpstr>Multiple choice (5)</vt:lpstr>
      <vt:lpstr>Multiple choice</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2026-06-21T22:51:08Z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