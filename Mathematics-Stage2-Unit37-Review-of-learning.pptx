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2">
  <p:sldMasterIdLst>
    <p:sldMasterId id="2147483660" r:id="rId4"/>
    <p:sldMasterId id="2147483755" r:id="rId5"/>
  </p:sldMasterIdLst>
  <p:notesMasterIdLst>
    <p:notesMasterId r:id="rId74"/>
  </p:notesMasterIdLst>
  <p:handoutMasterIdLst>
    <p:handoutMasterId r:id="rId75"/>
  </p:handoutMasterIdLst>
  <p:sldIdLst>
    <p:sldId id="26511" r:id="rId6"/>
    <p:sldId id="26505" r:id="rId7"/>
    <p:sldId id="26359" r:id="rId8"/>
    <p:sldId id="271" r:id="rId9"/>
    <p:sldId id="26510" r:id="rId10"/>
    <p:sldId id="26508" r:id="rId11"/>
    <p:sldId id="26528" r:id="rId12"/>
    <p:sldId id="26525" r:id="rId13"/>
    <p:sldId id="26519" r:id="rId14"/>
    <p:sldId id="26575" r:id="rId15"/>
    <p:sldId id="26512" r:id="rId16"/>
    <p:sldId id="26509" r:id="rId17"/>
    <p:sldId id="26523" r:id="rId18"/>
    <p:sldId id="26529" r:id="rId19"/>
    <p:sldId id="26530" r:id="rId20"/>
    <p:sldId id="26531" r:id="rId21"/>
    <p:sldId id="26576" r:id="rId22"/>
    <p:sldId id="26513" r:id="rId23"/>
    <p:sldId id="26581" r:id="rId24"/>
    <p:sldId id="26535" r:id="rId25"/>
    <p:sldId id="26524" r:id="rId26"/>
    <p:sldId id="26583" r:id="rId27"/>
    <p:sldId id="26536" r:id="rId28"/>
    <p:sldId id="26577" r:id="rId29"/>
    <p:sldId id="26514" r:id="rId30"/>
    <p:sldId id="26539" r:id="rId31"/>
    <p:sldId id="26540" r:id="rId32"/>
    <p:sldId id="26582" r:id="rId33"/>
    <p:sldId id="26542" r:id="rId34"/>
    <p:sldId id="26543" r:id="rId35"/>
    <p:sldId id="26578" r:id="rId36"/>
    <p:sldId id="26515" r:id="rId37"/>
    <p:sldId id="26507" r:id="rId38"/>
    <p:sldId id="26546" r:id="rId39"/>
    <p:sldId id="26547" r:id="rId40"/>
    <p:sldId id="26548" r:id="rId41"/>
    <p:sldId id="26549" r:id="rId42"/>
    <p:sldId id="26532" r:id="rId43"/>
    <p:sldId id="26516" r:id="rId44"/>
    <p:sldId id="26550" r:id="rId45"/>
    <p:sldId id="26553" r:id="rId46"/>
    <p:sldId id="26554" r:id="rId47"/>
    <p:sldId id="26555" r:id="rId48"/>
    <p:sldId id="26556" r:id="rId49"/>
    <p:sldId id="26533" r:id="rId50"/>
    <p:sldId id="26517" r:id="rId51"/>
    <p:sldId id="26574" r:id="rId52"/>
    <p:sldId id="26560" r:id="rId53"/>
    <p:sldId id="26567" r:id="rId54"/>
    <p:sldId id="26562" r:id="rId55"/>
    <p:sldId id="26563" r:id="rId56"/>
    <p:sldId id="26579" r:id="rId57"/>
    <p:sldId id="26518" r:id="rId58"/>
    <p:sldId id="26564" r:id="rId59"/>
    <p:sldId id="26565" r:id="rId60"/>
    <p:sldId id="26561" r:id="rId61"/>
    <p:sldId id="26566" r:id="rId62"/>
    <p:sldId id="26568" r:id="rId63"/>
    <p:sldId id="26580" r:id="rId64"/>
    <p:sldId id="26393" r:id="rId65"/>
    <p:sldId id="26387" r:id="rId66"/>
    <p:sldId id="26395" r:id="rId67"/>
    <p:sldId id="26391" r:id="rId68"/>
    <p:sldId id="26402" r:id="rId69"/>
    <p:sldId id="26527" r:id="rId70"/>
    <p:sldId id="26545" r:id="rId71"/>
    <p:sldId id="26569" r:id="rId72"/>
    <p:sldId id="361" r:id="rId73"/>
  </p:sldIdLst>
  <p:sldSz cx="12192000" cy="6858000"/>
  <p:notesSz cx="6858000" cy="9144000"/>
  <p:embeddedFontLst>
    <p:embeddedFont>
      <p:font typeface="Cambria Math" panose="02040503050406030204" pitchFamily="18" charset="0"/>
      <p:regular r:id="rId76"/>
    </p:embeddedFont>
    <p:embeddedFont>
      <p:font typeface="Edu NSW ACT Foundation Medium" panose="020B0604020202020204" charset="0"/>
      <p:regular r:id="rId77"/>
    </p:embeddedFont>
    <p:embeddedFont>
      <p:font typeface="Montserrat" panose="00000500000000000000" pitchFamily="2" charset="0"/>
      <p:regular r:id="rId78"/>
      <p:bold r:id="rId79"/>
      <p:italic r:id="rId80"/>
      <p:boldItalic r:id="rId81"/>
    </p:embeddedFont>
    <p:embeddedFont>
      <p:font typeface="Public Sans" pitchFamily="2" charset="0"/>
      <p:regular r:id="rId82"/>
      <p:bold r:id="rId83"/>
      <p:italic r:id="rId84"/>
      <p:boldItalic r:id="rId85"/>
    </p:embeddedFont>
    <p:embeddedFont>
      <p:font typeface="Public Sans Light" pitchFamily="2" charset="0"/>
      <p:regular r:id="rId86"/>
      <p:italic r:id="rId87"/>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8"/>
            <p14:sldId id="26525"/>
            <p14:sldId id="26519"/>
            <p14:sldId id="26575"/>
            <p14:sldId id="26512"/>
            <p14:sldId id="26509"/>
            <p14:sldId id="26523"/>
            <p14:sldId id="26529"/>
            <p14:sldId id="26530"/>
            <p14:sldId id="26531"/>
            <p14:sldId id="26576"/>
            <p14:sldId id="26513"/>
            <p14:sldId id="26581"/>
            <p14:sldId id="26535"/>
            <p14:sldId id="26524"/>
            <p14:sldId id="26583"/>
            <p14:sldId id="26536"/>
            <p14:sldId id="26577"/>
            <p14:sldId id="26514"/>
            <p14:sldId id="26539"/>
            <p14:sldId id="26540"/>
            <p14:sldId id="26582"/>
            <p14:sldId id="26542"/>
            <p14:sldId id="26543"/>
            <p14:sldId id="26578"/>
            <p14:sldId id="26515"/>
            <p14:sldId id="26507"/>
            <p14:sldId id="26546"/>
            <p14:sldId id="26547"/>
            <p14:sldId id="26548"/>
            <p14:sldId id="26549"/>
            <p14:sldId id="26532"/>
            <p14:sldId id="26516"/>
            <p14:sldId id="26550"/>
            <p14:sldId id="26553"/>
            <p14:sldId id="26554"/>
            <p14:sldId id="26555"/>
            <p14:sldId id="26556"/>
            <p14:sldId id="26533"/>
            <p14:sldId id="26517"/>
            <p14:sldId id="26574"/>
            <p14:sldId id="26560"/>
            <p14:sldId id="26567"/>
            <p14:sldId id="26562"/>
            <p14:sldId id="26563"/>
            <p14:sldId id="26579"/>
            <p14:sldId id="26518"/>
            <p14:sldId id="26564"/>
            <p14:sldId id="26565"/>
            <p14:sldId id="26561"/>
            <p14:sldId id="26566"/>
            <p14:sldId id="26568"/>
            <p14:sldId id="26580"/>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26569"/>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 userId="S::Natalie.Hawkins7@det.nsw.edu.au::91d64da8-8826-47c8-b06a-208beda74d22" providerId="AD"/>
  <p188:author id="{76652228-BA2A-8E0F-B69D-752F252CA8C9}" name="Carolyn Matthews" initials="CM" userId="S::Carolyn.Matthews2@det.nsw.edu.au::7f53049a-bf0f-477a-aa49-60e3a8d71d98" providerId="AD"/>
  <p188:author id="{4021882F-C6B3-C55E-767D-27181BD16F2B}" name="Melinda Ojeda" initials="MO" userId="S::Melinda.Ojeda@det.nsw.edu.au::d90aca96-824c-4874-b48e-bcce1db91155"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A8A"/>
    <a:srgbClr val="146CFD"/>
    <a:srgbClr val="000000"/>
    <a:srgbClr val="FFFFFF"/>
    <a:srgbClr val="002664"/>
    <a:srgbClr val="EA9B0C"/>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BBD299-966E-4783-A57A-810371EF2361}" v="10" dt="2025-08-02T08:38:29.788"/>
    <p1510:client id="{3D87D190-E623-24AA-3BA4-98F7B0326F98}" v="4" dt="2025-08-02T23:42:13.065"/>
    <p1510:client id="{9583230C-0F12-4692-9F70-232E0013D49F}" v="42" dt="2025-08-02T03:30:08.693"/>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2549" autoAdjust="0"/>
  </p:normalViewPr>
  <p:slideViewPr>
    <p:cSldViewPr snapToGrid="0">
      <p:cViewPr varScale="1">
        <p:scale>
          <a:sx n="51" d="100"/>
          <a:sy n="51" d="100"/>
        </p:scale>
        <p:origin x="1800" y="40"/>
      </p:cViewPr>
      <p:guideLst>
        <p:guide orient="horz" pos="2160"/>
        <p:guide pos="3863"/>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font" Target="fonts/font9.fntdata"/><Relationship Id="rId89"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Master" Target="slideMasters/slideMaster2.xml"/><Relationship Id="rId90" Type="http://schemas.openxmlformats.org/officeDocument/2006/relationships/theme" Target="theme/theme1.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font" Target="fonts/font5.fntdata"/><Relationship Id="rId85" Type="http://schemas.openxmlformats.org/officeDocument/2006/relationships/font" Target="fonts/font10.fntdata"/><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1.fntdata"/><Relationship Id="rId7" Type="http://schemas.openxmlformats.org/officeDocument/2006/relationships/slide" Target="slides/slide2.xml"/><Relationship Id="rId71" Type="http://schemas.openxmlformats.org/officeDocument/2006/relationships/slide" Target="slides/slide66.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font" Target="fonts/font12.fntdata"/><Relationship Id="rId61" Type="http://schemas.openxmlformats.org/officeDocument/2006/relationships/slide" Target="slides/slide56.xml"/><Relationship Id="rId82" Type="http://schemas.openxmlformats.org/officeDocument/2006/relationships/font" Target="fonts/font7.fntdata"/><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4/08/2025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auc-powerpoint.officeapps.live.com/pods/ppt.aspx?ui=en-US&amp;rs=en-AU&amp;wdenableroaming=1&amp;mscc=1&amp;hid=F7936EA1-E03B-4000-43ED-48BB43CE34FC.0&amp;uih=sharepointcom&amp;wdlcid=en-US&amp;jsapi=1&amp;jsapiver=v2&amp;corrid=eae0163d-a681-4136-26a7-6ebfa2228448&amp;usid=eae0163d-a681-4136-26a7-6ebfa2228448&amp;newsession=1&amp;sftc=1&amp;uihit=docaspx&amp;muv=1&amp;dchat=1&amp;sc=%7B%22pmo%22%3A%22https%3A%2F%2Fschoolsnsw.sharepoint.com%22%2C%22pmshare%22%3Atrue%7D&amp;wdorigin=BrowserReload&amp;wdpodsurl=https%3A%2F%2Fauc-powerpoint.officeapps.live.com%2Fpods%2F&amp;wdpopsurl=https%3A%2F%2Fauc-powerpoint.officeapps.live.com%2F&amp;wdoverrides=devicepixelratio:1,RenderGifSlideShow:true&amp;wdwaccluster=GAU2&amp;filename=Mathematics-stage%202-unit%2037-all%20lessons.pptx&amp;filegeturlbool=true&amp;fs=5991795&amp;ro=false&amp;fastboot=true&amp;noauth=1&amp;thpanel=853&amp;sw=1636&amp;sh=800&amp;postmessagetoken=eae0163d-a681-4136-26a7-6ebfa2228448#_Resource_5_%E2%80%93"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auc-powerpoint.officeapps.live.com/pods/ppt.aspx?ui=en-US&amp;rs=en-AU&amp;wdenableroaming=1&amp;mscc=1&amp;hid=F7936EA1-E03B-4000-43ED-48BB43CE34FC.0&amp;uih=sharepointcom&amp;wdlcid=en-US&amp;jsapi=1&amp;jsapiver=v2&amp;corrid=eae0163d-a681-4136-26a7-6ebfa2228448&amp;usid=eae0163d-a681-4136-26a7-6ebfa2228448&amp;newsession=1&amp;sftc=1&amp;uihit=docaspx&amp;muv=1&amp;dchat=1&amp;sc=%7B%22pmo%22%3A%22https%3A%2F%2Fschoolsnsw.sharepoint.com%22%2C%22pmshare%22%3Atrue%7D&amp;wdorigin=BrowserReload&amp;wdpodsurl=https%3A%2F%2Fauc-powerpoint.officeapps.live.com%2Fpods%2F&amp;wdpopsurl=https%3A%2F%2Fauc-powerpoint.officeapps.live.com%2F&amp;wdoverrides=devicepixelratio:1,RenderGifSlideShow:true&amp;wdwaccluster=GAU2&amp;filename=Mathematics-stage%202-unit%2037-all%20lessons.pptx&amp;filegeturlbool=true&amp;fs=5991795&amp;ro=false&amp;fastboot=true&amp;noauth=1&amp;thpanel=853&amp;sw=1636&amp;sh=800&amp;postmessagetoken=eae0163d-a681-4136-26a7-6ebfa2228448#_Resource_6_%E2%80%93"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https://nrich.maths.org/6945" TargetMode="External"/><Relationship Id="rId2" Type="http://schemas.openxmlformats.org/officeDocument/2006/relationships/slide" Target="../slides/slide59.xml"/><Relationship Id="rId1" Type="http://schemas.openxmlformats.org/officeDocument/2006/relationships/notesMaster" Target="../notesMasters/notesMaster1.xml"/><Relationship Id="rId5" Type="http://schemas.openxmlformats.org/officeDocument/2006/relationships/hyperlink" Target="https://auc-powerpoint.officeapps.live.com/pods/ppt.aspx?ui=en-US&amp;rs=en-AU&amp;wdenableroaming=1&amp;mscc=1&amp;hid=F7936EA1-E03B-4000-43ED-48BB43CE34FC.0&amp;uih=sharepointcom&amp;wdlcid=en-US&amp;jsapi=1&amp;jsapiver=v2&amp;corrid=eae0163d-a681-4136-26a7-6ebfa2228448&amp;usid=eae0163d-a681-4136-26a7-6ebfa2228448&amp;newsession=1&amp;sftc=1&amp;uihit=docaspx&amp;muv=1&amp;dchat=1&amp;sc=%7B%22pmo%22%3A%22https%3A%2F%2Fschoolsnsw.sharepoint.com%22%2C%22pmshare%22%3Atrue%7D&amp;wdorigin=BrowserReload&amp;wdpodsurl=https%3A%2F%2Fauc-powerpoint.officeapps.live.com%2Fpods%2F&amp;wdpopsurl=https%3A%2F%2Fauc-powerpoint.officeapps.live.com%2F&amp;wdoverrides=devicepixelratio:1,RenderGifSlideShow:true&amp;wdwaccluster=GAU2&amp;filename=Mathematics-stage%202-unit%2037-all%20lessons.pptx&amp;filegeturlbool=true&amp;fs=5991795&amp;ro=false&amp;fastboot=true&amp;noauth=1&amp;thpanel=853&amp;sw=1636&amp;sh=800&amp;postmessagetoken=eae0163d-a681-4136-26a7-6ebfa2228448#_Resource_20_%E2%80%93" TargetMode="External"/><Relationship Id="rId4" Type="http://schemas.openxmlformats.org/officeDocument/2006/relationships/hyperlink" Target="https://nrich.maths.org/frontpage" TargetMode="Externa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dirty="0">
              <a:solidFill>
                <a:srgbClr val="444444"/>
              </a:solidFill>
              <a:latin typeface="Arial"/>
              <a:cs typeface="Arial"/>
            </a:endParaRPr>
          </a:p>
          <a:p>
            <a:endParaRPr lang="en-AU" dirty="0">
              <a:solidFill>
                <a:srgbClr val="000000"/>
              </a:solidFill>
            </a:endParaRPr>
          </a:p>
          <a:p>
            <a:r>
              <a:rPr lang="en-AU" dirty="0">
                <a:solidFill>
                  <a:srgbClr val="000000"/>
                </a:solidFill>
                <a:latin typeface="Arial"/>
                <a:cs typeface="Arial"/>
              </a:rPr>
              <a:t>This Review of Learning slide deck revisits key concepts from the following units:</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B Unit 37</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B Unit 36</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a:t>
            </a:r>
            <a:r>
              <a:rPr lang="en-AU">
                <a:solidFill>
                  <a:srgbClr val="000000"/>
                </a:solidFill>
                <a:latin typeface="Arial"/>
                <a:cs typeface="Arial"/>
              </a:rPr>
              <a:t>Year B </a:t>
            </a:r>
            <a:r>
              <a:rPr lang="en-AU" dirty="0">
                <a:solidFill>
                  <a:srgbClr val="000000"/>
                </a:solidFill>
                <a:latin typeface="Arial"/>
                <a:cs typeface="Arial"/>
              </a:rPr>
              <a:t>Unit 35</a:t>
            </a:r>
            <a:endParaRPr lang="en-US" dirty="0">
              <a:solidFill>
                <a:srgbClr val="444444"/>
              </a:solidFill>
              <a:latin typeface="Arial"/>
              <a:cs typeface="Arial"/>
            </a:endParaRPr>
          </a:p>
          <a:p>
            <a:r>
              <a:rPr lang="en-AU" dirty="0">
                <a:solidFill>
                  <a:srgbClr val="000000"/>
                </a:solidFill>
                <a:latin typeface="Arial"/>
                <a:cs typeface="Arial"/>
              </a:rPr>
              <a:t>It also includes opportunities to review prior learning in non-number content, supporting consolidation across focus areas.</a:t>
            </a:r>
            <a:endParaRPr lang="en-US" dirty="0">
              <a:solidFill>
                <a:srgbClr val="444444"/>
              </a:solidFill>
              <a:latin typeface="Arial"/>
              <a:cs typeface="Arial"/>
            </a:endParaRPr>
          </a:p>
          <a:p>
            <a:endParaRPr lang="en-AU" dirty="0">
              <a:solidFill>
                <a:srgbClr val="444444"/>
              </a:solidFill>
            </a:endParaRPr>
          </a:p>
          <a:p>
            <a:r>
              <a:rPr lang="en-AU" dirty="0">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dirty="0">
              <a:solidFill>
                <a:srgbClr val="444444"/>
              </a:solidFill>
              <a:latin typeface="Arial"/>
              <a:cs typeface="Arial"/>
            </a:endParaRPr>
          </a:p>
          <a:p>
            <a:endParaRPr lang="en-AU" dirty="0">
              <a:solidFill>
                <a:srgbClr val="444444"/>
              </a:solidFill>
            </a:endParaRPr>
          </a:p>
          <a:p>
            <a:pPr>
              <a:defRPr/>
            </a:pPr>
            <a:r>
              <a:rPr lang="en-AU" dirty="0">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dirty="0">
                <a:latin typeface="Arial"/>
                <a:cs typeface="Arial"/>
              </a:rPr>
              <a:t>Multiple-choice questions/True or false:</a:t>
            </a:r>
            <a:r>
              <a:rPr lang="en-AU" dirty="0">
                <a:latin typeface="Arial"/>
                <a:cs typeface="Arial"/>
              </a:rPr>
              <a:t> Designed to promote active retrieval of key concepts and identify common misconceptions in number, supporting consolidation, understanding and fluency.</a:t>
            </a:r>
            <a:br>
              <a:rPr lang="en-AU" dirty="0">
                <a:latin typeface="Arial"/>
                <a:cs typeface="Arial"/>
              </a:rPr>
            </a:br>
            <a:r>
              <a:rPr lang="en-AU" sz="1600" b="0" i="0" dirty="0">
                <a:solidFill>
                  <a:schemeClr val="tx1"/>
                </a:solidFill>
                <a:latin typeface="Arial"/>
                <a:cs typeface="Arial"/>
              </a:rPr>
              <a:t>These questions:</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dirty="0">
                <a:solidFill>
                  <a:schemeClr val="tx1"/>
                </a:solidFill>
                <a:latin typeface="Arial"/>
                <a:cs typeface="Arial"/>
              </a:rPr>
              <a:t>support spaced and interleaved practice</a:t>
            </a:r>
          </a:p>
          <a:p>
            <a:pPr marL="285750" indent="-285750" algn="l">
              <a:buFont typeface="Wingdings"/>
              <a:buChar char="ü"/>
            </a:pPr>
            <a:r>
              <a:rPr lang="en-AU" sz="1600" b="0" i="0" dirty="0">
                <a:solidFill>
                  <a:schemeClr val="tx1"/>
                </a:solidFill>
                <a:latin typeface="Arial"/>
                <a:cs typeface="Arial"/>
              </a:rPr>
              <a:t>help identify and address common misconceptions </a:t>
            </a:r>
          </a:p>
          <a:p>
            <a:pPr marL="285750" indent="-285750" algn="l">
              <a:buFont typeface="Wingdings"/>
              <a:buChar char="ü"/>
            </a:pPr>
            <a:r>
              <a:rPr lang="en-AU" sz="1600" b="0" i="0" dirty="0">
                <a:solidFill>
                  <a:schemeClr val="tx1"/>
                </a:solidFill>
                <a:latin typeface="Arial"/>
                <a:cs typeface="Arial"/>
              </a:rPr>
              <a:t>support active recall and immediate feedback</a:t>
            </a:r>
          </a:p>
          <a:p>
            <a:pPr marL="285750" indent="-285750" algn="l">
              <a:buFont typeface="Wingdings"/>
              <a:buChar char="ü"/>
            </a:pPr>
            <a:r>
              <a:rPr lang="en-AU" sz="1600" b="0" i="0" dirty="0">
                <a:solidFill>
                  <a:schemeClr val="tx1"/>
                </a:solidFill>
                <a:latin typeface="Arial"/>
                <a:cs typeface="Arial"/>
              </a:rPr>
              <a:t>support whole class participation</a:t>
            </a:r>
          </a:p>
          <a:p>
            <a:pPr marL="285750" indent="-285750">
              <a:buFont typeface="Wingdings"/>
              <a:buChar char="ü"/>
            </a:pPr>
            <a:r>
              <a:rPr lang="en-AU" sz="1600" b="0" i="0" dirty="0">
                <a:solidFill>
                  <a:schemeClr val="tx1"/>
                </a:solidFill>
                <a:latin typeface="Arial"/>
                <a:cs typeface="Arial"/>
              </a:rPr>
              <a:t>identify areas requiring reteach</a:t>
            </a:r>
            <a:endParaRPr lang="en-US" dirty="0">
              <a:solidFill>
                <a:srgbClr val="444444"/>
              </a:solidFill>
              <a:latin typeface="Arial"/>
              <a:cs typeface="Arial"/>
            </a:endParaRPr>
          </a:p>
          <a:p>
            <a:endParaRPr lang="en-AU" dirty="0">
              <a:latin typeface="Arial"/>
              <a:cs typeface="Arial"/>
            </a:endParaRPr>
          </a:p>
          <a:p>
            <a:pPr algn="l"/>
            <a:r>
              <a:rPr lang="en-AU" dirty="0">
                <a:latin typeface="Arial"/>
                <a:cs typeface="Arial"/>
              </a:rPr>
              <a:t>2.</a:t>
            </a:r>
            <a:br>
              <a:rPr lang="en-AU" dirty="0">
                <a:latin typeface="Arial"/>
                <a:cs typeface="Arial"/>
              </a:rPr>
            </a:br>
            <a:r>
              <a:rPr lang="en-AU" b="1" dirty="0">
                <a:latin typeface="Arial"/>
                <a:cs typeface="Arial"/>
              </a:rPr>
              <a:t>Short-response question sets:</a:t>
            </a:r>
            <a:r>
              <a:rPr lang="en-AU" dirty="0">
                <a:latin typeface="Arial"/>
                <a:cs typeface="Arial"/>
              </a:rPr>
              <a:t> Carefully grouped questions that encourage spaced and interleaved practice across multiple focus areas, helping students revisit and apply knowledge from different points in time.</a:t>
            </a:r>
            <a:br>
              <a:rPr lang="en-AU" dirty="0">
                <a:latin typeface="Arial"/>
                <a:cs typeface="Arial"/>
              </a:rPr>
            </a:br>
            <a:r>
              <a:rPr lang="en-AU" sz="1600" b="0" i="0" dirty="0">
                <a:solidFill>
                  <a:schemeClr val="tx1"/>
                </a:solidFill>
                <a:latin typeface="Arial"/>
                <a:cs typeface="Arial"/>
              </a:rPr>
              <a:t>These questions:</a:t>
            </a:r>
            <a:endParaRPr lang="en-US" sz="1600" b="0" i="0" dirty="0">
              <a:solidFill>
                <a:srgbClr val="444444"/>
              </a:solidFill>
              <a:latin typeface="Arial"/>
              <a:cs typeface="Arial"/>
            </a:endParaRPr>
          </a:p>
          <a:p>
            <a:pPr marL="0" indent="0" algn="l">
              <a:buFont typeface="Wingdings" panose="05000000000000000000" pitchFamily="2" charset="2"/>
              <a:buNone/>
            </a:pPr>
            <a:endParaRPr lang="en-AU" sz="1600" i="0" dirty="0"/>
          </a:p>
          <a:p>
            <a:pPr marL="285750" indent="-285750" algn="l">
              <a:buFont typeface="Wingdings"/>
              <a:buChar char="ü"/>
            </a:pPr>
            <a:r>
              <a:rPr lang="en-AU" sz="1600" i="0" dirty="0">
                <a:latin typeface="Arial"/>
                <a:cs typeface="Arial"/>
              </a:rPr>
              <a:t>have a combination of question types </a:t>
            </a:r>
          </a:p>
          <a:p>
            <a:pPr marL="285750" indent="-285750" algn="l">
              <a:buFont typeface="Wingdings"/>
              <a:buChar char="ü"/>
            </a:pPr>
            <a:r>
              <a:rPr lang="en-AU" sz="1600" i="0" dirty="0">
                <a:latin typeface="Arial"/>
                <a:cs typeface="Arial"/>
              </a:rPr>
              <a:t>address a range of focus areas</a:t>
            </a:r>
          </a:p>
          <a:p>
            <a:pPr marL="285750" indent="-285750">
              <a:buFont typeface="Wingdings"/>
              <a:buChar char="ü"/>
            </a:pPr>
            <a:r>
              <a:rPr lang="en-AU" sz="1600" i="0" dirty="0">
                <a:latin typeface="Arial"/>
                <a:cs typeface="Arial"/>
              </a:rPr>
              <a:t>build automaticity and fluency</a:t>
            </a:r>
          </a:p>
          <a:p>
            <a:pPr marL="285750" indent="-285750">
              <a:buFont typeface="Wingdings"/>
              <a:buChar char="ü"/>
            </a:pPr>
            <a:r>
              <a:rPr lang="en-AU" sz="1600" i="0" dirty="0">
                <a:latin typeface="Arial"/>
                <a:cs typeface="Arial"/>
              </a:rPr>
              <a:t>support active recall </a:t>
            </a:r>
          </a:p>
          <a:p>
            <a:pPr marL="285750" indent="-285750">
              <a:buFont typeface="Wingdings"/>
              <a:buChar char="ü"/>
            </a:pPr>
            <a:r>
              <a:rPr lang="en-AU" sz="1600" i="0" dirty="0">
                <a:latin typeface="Arial"/>
                <a:cs typeface="Arial"/>
              </a:rPr>
              <a:t>allow for immediate feedback</a:t>
            </a:r>
          </a:p>
          <a:p>
            <a:pPr marL="285750" indent="-285750" algn="l">
              <a:buFont typeface="Wingdings"/>
              <a:buChar char="ü"/>
            </a:pPr>
            <a:r>
              <a:rPr lang="en-AU" sz="1600" i="0" dirty="0">
                <a:latin typeface="Arial"/>
                <a:cs typeface="Arial"/>
              </a:rPr>
              <a:t>identify content requiring reteach</a:t>
            </a:r>
            <a:endParaRPr lang="en-AU" dirty="0">
              <a:latin typeface="Arial"/>
              <a:cs typeface="Arial"/>
            </a:endParaRPr>
          </a:p>
          <a:p>
            <a:pPr marL="285750" indent="-285750">
              <a:buFont typeface="Wingdings"/>
              <a:buChar char="ü"/>
            </a:pPr>
            <a:endParaRPr lang="en-AU" dirty="0">
              <a:latin typeface="Arial"/>
              <a:cs typeface="Arial"/>
            </a:endParaRPr>
          </a:p>
          <a:p>
            <a:r>
              <a:rPr lang="en-AU" dirty="0">
                <a:latin typeface="Arial"/>
                <a:cs typeface="Arial"/>
              </a:rPr>
              <a:t>3.</a:t>
            </a:r>
          </a:p>
          <a:p>
            <a:r>
              <a:rPr lang="en-AU" b="1" dirty="0">
                <a:latin typeface="Arial"/>
                <a:cs typeface="Arial"/>
              </a:rPr>
              <a:t>Developing number sense activities</a:t>
            </a:r>
            <a:r>
              <a:rPr lang="en-AU" dirty="0">
                <a:latin typeface="Arial"/>
                <a:cs typeface="Arial"/>
              </a:rPr>
              <a:t>: A variety of practical, purposeful tasks that reinforce current learning and build on prior knowledge. These activities promote reasoning, problem-solving and conceptual understanding.</a:t>
            </a:r>
            <a:br>
              <a:rPr lang="en-AU" dirty="0">
                <a:latin typeface="Arial"/>
                <a:cs typeface="Arial"/>
              </a:rPr>
            </a:br>
            <a:br>
              <a:rPr lang="en-AU" dirty="0">
                <a:latin typeface="Arial"/>
                <a:cs typeface="Arial"/>
              </a:rPr>
            </a:br>
            <a:endParaRPr lang="en-US" dirty="0">
              <a:solidFill>
                <a:srgbClr val="444444"/>
              </a:solidFill>
              <a:latin typeface="Arial"/>
              <a:cs typeface="Arial"/>
            </a:endParaRPr>
          </a:p>
          <a:p>
            <a:r>
              <a:rPr lang="en-AU" dirty="0">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dirty="0">
                <a:latin typeface="Arial"/>
                <a:cs typeface="Arial"/>
              </a:rPr>
            </a:br>
            <a:br>
              <a:rPr lang="en-AU" dirty="0"/>
            </a:br>
            <a:endParaRPr lang="en-AU" dirty="0">
              <a:highlight>
                <a:srgbClr val="FFFF00"/>
              </a:highlight>
            </a:endParaRP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numbers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Representing numbers using place value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Additive relations A</a:t>
            </a: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a:latin typeface="Public Sans"/>
              </a:rPr>
              <a:t>Data B</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600">
                <a:latin typeface="Arial"/>
                <a:cs typeface="Arial"/>
              </a:rPr>
              <a:t>This is a developing number sense activity. </a:t>
            </a:r>
            <a:endParaRPr lang="en-US" sz="1600">
              <a:solidFill>
                <a:srgbClr val="444444"/>
              </a:solidFill>
              <a:latin typeface="Arial"/>
              <a:cs typeface="Arial"/>
            </a:endParaRPr>
          </a:p>
          <a:p>
            <a:pPr>
              <a:lnSpc>
                <a:spcPct val="150000"/>
              </a:lnSpc>
              <a:spcBef>
                <a:spcPts val="1200"/>
              </a:spcBef>
              <a:spcAft>
                <a:spcPts val="600"/>
              </a:spcAft>
            </a:pPr>
            <a:endParaRPr lang="en-AU" sz="1600">
              <a:solidFill>
                <a:srgbClr val="444444"/>
              </a:solidFill>
            </a:endParaRPr>
          </a:p>
          <a:p>
            <a:pPr>
              <a:lnSpc>
                <a:spcPct val="150000"/>
              </a:lnSpc>
              <a:spcBef>
                <a:spcPts val="1200"/>
              </a:spcBef>
              <a:spcAft>
                <a:spcPts val="600"/>
              </a:spcAft>
            </a:pPr>
            <a:r>
              <a:rPr lang="en-AU" sz="16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600">
              <a:solidFill>
                <a:srgbClr val="444444"/>
              </a:solidFill>
              <a:latin typeface="Arial"/>
              <a:cs typeface="Arial"/>
            </a:endParaRPr>
          </a:p>
          <a:p>
            <a:endParaRPr lang="en-AU">
              <a:latin typeface="Public Sans"/>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600">
                <a:solidFill>
                  <a:srgbClr val="444444"/>
                </a:solidFill>
                <a:latin typeface="Arial"/>
                <a:cs typeface="Arial"/>
              </a:rPr>
              <a:t>Multiplicative relations B</a:t>
            </a:r>
          </a:p>
          <a:p>
            <a:endParaRPr lang="en-AU">
              <a:latin typeface="Public Sans"/>
            </a:endParaRPr>
          </a:p>
          <a:p>
            <a:r>
              <a:rPr lang="en-AU" sz="1600"/>
              <a:t>This resource corresponds to </a:t>
            </a:r>
            <a:r>
              <a:rPr lang="en-AU" sz="1600" b="1"/>
              <a:t>Resource 22 – How many tiles?</a:t>
            </a:r>
            <a:r>
              <a:rPr lang="en-AU" sz="1600"/>
              <a:t> in Stage 2 Year B Unit 37</a:t>
            </a:r>
          </a:p>
          <a:p>
            <a:endParaRPr lang="en-AU">
              <a:latin typeface="Public Sans"/>
            </a:endParaRPr>
          </a:p>
          <a:p>
            <a:r>
              <a:rPr lang="en-AU">
                <a:latin typeface="Public Sans"/>
              </a:rPr>
              <a:t>This activity is an adaptation of Partial Arrays from AAMT by The Australian Association of Mathematics Teachers (AAMT) Inc.</a:t>
            </a:r>
          </a:p>
          <a:p>
            <a:r>
              <a:rPr lang="en-AU" b="0"/>
              <a:t>Ask</a:t>
            </a:r>
            <a:r>
              <a:rPr lang="en-AU"/>
              <a:t> the following questions:</a:t>
            </a:r>
          </a:p>
          <a:p>
            <a:pPr marL="285750" indent="-285750">
              <a:buFont typeface="Arial"/>
              <a:buChar char="•"/>
            </a:pPr>
            <a:r>
              <a:rPr lang="en-AU">
                <a:latin typeface="Public Sans"/>
              </a:rPr>
              <a:t>How many tiles can you see?</a:t>
            </a:r>
          </a:p>
          <a:p>
            <a:pPr marL="285750" indent="-285750">
              <a:buFont typeface="Arial"/>
              <a:buChar char="•"/>
            </a:pPr>
            <a:r>
              <a:rPr lang="en-AU">
                <a:latin typeface="Public Sans"/>
              </a:rPr>
              <a:t>How many tiles would there be if this was a complete grid? How do you know?</a:t>
            </a:r>
          </a:p>
          <a:p>
            <a:pPr marL="285750" indent="-285750">
              <a:buFont typeface="Arial"/>
              <a:buChar char="•"/>
            </a:pPr>
            <a:r>
              <a:rPr lang="en-AU">
                <a:latin typeface="Public Sans"/>
              </a:rPr>
              <a:t>What multiplication and division facts are represented by this grid?</a:t>
            </a:r>
          </a:p>
          <a:p>
            <a:pPr marL="285750" indent="-285750">
              <a:buFont typeface="Arial"/>
              <a:buChar char="•"/>
            </a:pPr>
            <a:r>
              <a:rPr lang="en-AU">
                <a:latin typeface="Public Sans"/>
              </a:rPr>
              <a:t>What would it look like if the complete grid was doubled?</a:t>
            </a:r>
          </a:p>
          <a:p>
            <a:pPr marL="285750" indent="-285750">
              <a:buFont typeface="Arial"/>
              <a:buChar char="•"/>
            </a:pPr>
            <a:r>
              <a:rPr lang="en-AU">
                <a:latin typeface="Public Sans"/>
              </a:rPr>
              <a:t>How many tiles would there be then?</a:t>
            </a:r>
          </a:p>
          <a:p>
            <a:pPr marL="285750" indent="-285750">
              <a:buFont typeface="Arial"/>
              <a:buChar char="•"/>
            </a:pPr>
            <a:r>
              <a:rPr lang="en-AU">
                <a:latin typeface="Public Sans"/>
              </a:rPr>
              <a:t>With a partner, students create their own partial arrays or grids on an individual whiteboard. Students ask their partner to determine how many tiles they would need if it was complete.</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685995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Representing numbers using place value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Geometric measure B: Position</a:t>
            </a:r>
            <a:endParaRPr lang="en-AU" dirty="0"/>
          </a:p>
          <a:p>
            <a:endParaRPr lang="en-AU" dirty="0">
              <a:latin typeface="Public Sans"/>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defRPr/>
            </a:pPr>
            <a:endParaRPr lang="en-AU" sz="1800">
              <a:solidFill>
                <a:srgbClr val="444444"/>
              </a:solidFill>
            </a:endParaRPr>
          </a:p>
          <a:p>
            <a:pPr>
              <a:defRPr/>
            </a:pPr>
            <a:r>
              <a:rPr lang="en-AU" sz="1800" b="1">
                <a:latin typeface="Arial"/>
                <a:cs typeface="Arial"/>
              </a:rPr>
              <a:t>Syllabus focus area:</a:t>
            </a:r>
          </a:p>
          <a:p>
            <a:pPr>
              <a:defRPr/>
            </a:pPr>
            <a:r>
              <a:rPr lang="en-AU" sz="1800" b="0">
                <a:latin typeface="Arial"/>
                <a:cs typeface="Arial"/>
              </a:rPr>
              <a:t>Multiplicative relations B</a:t>
            </a:r>
          </a:p>
          <a:p>
            <a:pPr>
              <a:defRPr/>
            </a:pPr>
            <a:endParaRPr lang="en-AU" sz="1800" b="1">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a:t>This resource corresponds to </a:t>
            </a:r>
            <a:r>
              <a:rPr lang="en-AU" sz="1800" b="1"/>
              <a:t>Resource 22 – How many tiles?</a:t>
            </a:r>
            <a:r>
              <a:rPr lang="en-AU" sz="1800"/>
              <a:t> in Stage 2 Year B Unit 37</a:t>
            </a:r>
          </a:p>
          <a:p>
            <a:pPr>
              <a:defRPr/>
            </a:pPr>
            <a:endParaRPr lang="en-US" sz="1800">
              <a:solidFill>
                <a:srgbClr val="444444"/>
              </a:solidFill>
              <a:latin typeface="Arial"/>
              <a:cs typeface="Arial"/>
            </a:endParaRPr>
          </a:p>
          <a:p>
            <a:pPr marL="0" lvl="0" indent="0">
              <a:lnSpc>
                <a:spcPct val="150000"/>
              </a:lnSpc>
              <a:buFont typeface="+mj-lt"/>
              <a:buNone/>
            </a:pPr>
            <a:endParaRPr lang="en-AU" sz="1800">
              <a:effectLst/>
              <a:latin typeface="Arial" panose="020B0604020202020204" pitchFamily="34" charset="0"/>
              <a:ea typeface="Calibri" panose="020F0502020204030204" pitchFamily="34" charset="0"/>
              <a:cs typeface="Arial"/>
            </a:endParaRPr>
          </a:p>
          <a:p>
            <a:pPr marL="285750" indent="-285750">
              <a:buFont typeface="Arial"/>
              <a:buChar char="•"/>
            </a:pPr>
            <a:r>
              <a:rPr lang="en-AU"/>
              <a:t>Prior to the lesson print and cut </a:t>
            </a:r>
            <a:r>
              <a:rPr lang="en-AU">
                <a:hlinkClick r:id="rId3"/>
              </a:rPr>
              <a:t>Resource 23 – partial array cards</a:t>
            </a:r>
            <a:r>
              <a:rPr lang="en-AU"/>
              <a:t> and </a:t>
            </a:r>
            <a:r>
              <a:rPr lang="en-AU">
                <a:hlinkClick r:id="rId4"/>
              </a:rPr>
              <a:t>Resource 24 – partial array products</a:t>
            </a:r>
            <a:r>
              <a:rPr lang="en-AU"/>
              <a:t> ensuring there is one set between each pair of students.</a:t>
            </a:r>
          </a:p>
          <a:p>
            <a:pPr marL="285750" indent="-285750">
              <a:buFont typeface="Arial"/>
              <a:buChar char="•"/>
            </a:pPr>
            <a:r>
              <a:rPr lang="en-AU"/>
              <a:t>Give pairs of students </a:t>
            </a:r>
            <a:r>
              <a:rPr lang="en-AU">
                <a:hlinkClick r:id="rId3"/>
              </a:rPr>
              <a:t>Resource 23 – partial array cards</a:t>
            </a:r>
            <a:r>
              <a:rPr lang="en-AU"/>
              <a:t> and </a:t>
            </a:r>
            <a:r>
              <a:rPr lang="en-AU">
                <a:hlinkClick r:id="rId4"/>
              </a:rPr>
              <a:t>Resource 24 – partial array products</a:t>
            </a:r>
            <a:r>
              <a:rPr lang="en-AU"/>
              <a:t>.</a:t>
            </a:r>
          </a:p>
          <a:p>
            <a:pPr marL="285750" indent="-285750">
              <a:buFont typeface="Arial"/>
              <a:buChar char="•"/>
            </a:pPr>
            <a:r>
              <a:rPr lang="en-AU"/>
              <a:t>Each player selects 6 partial array cards and places them face up in a row. Students set aside the remaining array cards.</a:t>
            </a:r>
          </a:p>
          <a:p>
            <a:pPr marL="285750" indent="-285750">
              <a:buFont typeface="Arial"/>
              <a:buChar char="•"/>
            </a:pPr>
            <a:r>
              <a:rPr lang="en-AU"/>
              <a:t>Students place the product cards in a pile facing down.</a:t>
            </a:r>
          </a:p>
          <a:p>
            <a:pPr marL="285750" indent="-285750">
              <a:buFont typeface="Arial"/>
              <a:buChar char="•"/>
            </a:pPr>
            <a:r>
              <a:rPr lang="en-AU"/>
              <a:t>Players take turns to pick up a product card and check if they have the matching partial array card. If they do, the student turns the array card face down. If both players have the matching array card, they both turn their matching array card face down.</a:t>
            </a:r>
          </a:p>
          <a:p>
            <a:pPr marL="285750" indent="-285750">
              <a:buFont typeface="Arial"/>
              <a:buChar char="•"/>
            </a:pPr>
            <a:r>
              <a:rPr lang="en-AU"/>
              <a:t>If neither player has the matching array card, that turn is missed and the product card is set aside. The next player turns over a product card from the pile.</a:t>
            </a:r>
          </a:p>
          <a:p>
            <a:pPr marL="285750" indent="-285750">
              <a:buFont typeface="Arial"/>
              <a:buChar char="•"/>
            </a:pPr>
            <a:r>
              <a:rPr lang="en-AU"/>
              <a:t>The winner is the first player to turn down all their partial array cards and say bingo.</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5183110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2C45-BAF2-5095-34CE-C9EB90BE6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CA261-8F51-3973-B060-E7E261AE4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84AD9-E5AD-E5A4-2148-D94FD39A063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DC4436A-9433-8E5F-625B-02235C42EC27}"/>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661102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Representing numbers using place value B</a:t>
            </a: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494021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8E73A-32DB-03E1-D53E-E18B1F094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3C7655-8222-9374-EC52-726948E58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0B7F4C-B04A-CC4A-8B77-21FF807E5DE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B60DC59-45CC-3F95-AA2F-A5A5B371269B}"/>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19047008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Two-dimensional spatial structure B: 2D shapes</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DFA1D-757D-78C7-5F6D-86DF4DA72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EEC0B-009C-CDA7-63B3-836ACF428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D59C66-1D77-9D41-8AF2-C7541BDDB1DA}"/>
              </a:ext>
            </a:extLst>
          </p:cNvPr>
          <p:cNvSpPr>
            <a:spLocks noGrp="1"/>
          </p:cNvSpPr>
          <p:nvPr>
            <p:ph type="body" idx="1"/>
          </p:nvPr>
        </p:nvSpPr>
        <p:spPr/>
        <p:txBody>
          <a:bodyPr/>
          <a:lstStyle/>
          <a:p>
            <a:pPr>
              <a:lnSpc>
                <a:spcPct val="150000"/>
              </a:lnSpc>
              <a:spcBef>
                <a:spcPts val="1200"/>
              </a:spcBef>
              <a:spcAft>
                <a:spcPts val="600"/>
              </a:spcAft>
              <a:defRPr/>
            </a:pPr>
            <a:r>
              <a:rPr lang="en-AU" sz="1800"/>
              <a:t>This is a developing number sense activity. </a:t>
            </a:r>
            <a:endParaRPr lang="en-US" sz="1800">
              <a:solidFill>
                <a:srgbClr val="444444"/>
              </a:solidFil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endParaRPr>
          </a:p>
          <a:p>
            <a:pPr>
              <a:lnSpc>
                <a:spcPts val="1913"/>
              </a:lnSpc>
              <a:defRPr/>
            </a:pPr>
            <a:endParaRPr lang="en-AU" sz="1800">
              <a:solidFill>
                <a:srgbClr val="444444"/>
              </a:solidFill>
            </a:endParaRPr>
          </a:p>
          <a:p>
            <a:pPr>
              <a:defRPr/>
            </a:pPr>
            <a:r>
              <a:rPr lang="en-AU" sz="1800" b="1"/>
              <a:t>Syllabus focus area:</a:t>
            </a:r>
          </a:p>
          <a:p>
            <a:pPr>
              <a:defRPr/>
            </a:pPr>
            <a:r>
              <a:rPr lang="en-US" sz="1800">
                <a:solidFill>
                  <a:srgbClr val="444444"/>
                </a:solidFill>
              </a:rPr>
              <a:t>Multiplicative relations B</a:t>
            </a:r>
          </a:p>
          <a:p>
            <a:endParaRPr lang="en-AU" sz="1800"/>
          </a:p>
          <a:p>
            <a:pPr lvl="0"/>
            <a:r>
              <a:rPr lang="en-AU" sz="1800"/>
              <a:t>This resource corresponds to </a:t>
            </a:r>
            <a:r>
              <a:rPr lang="en-AU" sz="1800" b="1"/>
              <a:t>Resource 25 – covered grid </a:t>
            </a:r>
            <a:r>
              <a:rPr lang="en-AU" sz="1800"/>
              <a:t>in Stage 2 Year B Unit 37.</a:t>
            </a:r>
            <a:endParaRPr lang="en-AU" sz="1800">
              <a:effectLst/>
              <a:latin typeface="Arial" panose="020B0604020202020204" pitchFamily="34" charset="0"/>
              <a:ea typeface="Calibri" panose="020F0502020204030204" pitchFamily="34" charset="0"/>
              <a:cs typeface="Arial"/>
            </a:endParaRPr>
          </a:p>
          <a:p>
            <a:endParaRPr lang="en-AU"/>
          </a:p>
          <a:p>
            <a:r>
              <a:rPr lang="en-AU"/>
              <a:t>Ask:</a:t>
            </a:r>
          </a:p>
          <a:p>
            <a:pPr marL="285750" indent="-285750">
              <a:buFont typeface="Courier New"/>
              <a:buChar char="○"/>
            </a:pPr>
            <a:r>
              <a:rPr lang="en-AU">
                <a:latin typeface="Public Sans"/>
              </a:rPr>
              <a:t>What do you notice?</a:t>
            </a:r>
          </a:p>
          <a:p>
            <a:pPr marL="285750" indent="-285750">
              <a:buFont typeface="Courier New"/>
              <a:buChar char="○"/>
            </a:pPr>
            <a:r>
              <a:rPr lang="en-AU">
                <a:latin typeface="Public Sans"/>
              </a:rPr>
              <a:t>What are you visualising?</a:t>
            </a:r>
          </a:p>
          <a:p>
            <a:pPr marL="285750" indent="-285750">
              <a:buFont typeface="Courier New"/>
              <a:buChar char="○"/>
            </a:pPr>
            <a:r>
              <a:rPr lang="en-AU">
                <a:latin typeface="Public Sans"/>
              </a:rPr>
              <a:t>How can the lines help you solve this problem?</a:t>
            </a:r>
          </a:p>
          <a:p>
            <a:pPr marL="285750" indent="-285750">
              <a:buFont typeface="Courier New"/>
              <a:buChar char="○"/>
            </a:pPr>
            <a:r>
              <a:rPr lang="en-AU">
                <a:latin typeface="Public Sans"/>
              </a:rPr>
              <a:t>How can multiplication facts be used to help determine the total number of covered squares?</a:t>
            </a:r>
          </a:p>
          <a:p>
            <a:endParaRPr lang="en-AU"/>
          </a:p>
        </p:txBody>
      </p:sp>
      <p:sp>
        <p:nvSpPr>
          <p:cNvPr id="4" name="Slide Number Placeholder 3">
            <a:extLst>
              <a:ext uri="{FF2B5EF4-FFF2-40B4-BE49-F238E27FC236}">
                <a16:creationId xmlns:a16="http://schemas.microsoft.com/office/drawing/2014/main" id="{8F000AA2-D108-0BEE-D061-A2D0239A4CE8}"/>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3492094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 </a:t>
            </a: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Two-dimensional spatial structure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FDE9C-E149-B3BB-0FA3-7C2637C5B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6838F-583B-A0B9-3D4C-FE9C85643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DB5F4-2E25-A609-AB55-9EF639E842B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numbers using place value B: Decimals</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C10BA2-80D1-8528-3862-BE7724A0D729}"/>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18300090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Three-dimensional spatial structure A: 3D objects</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sz="1800">
                <a:solidFill>
                  <a:srgbClr val="000000"/>
                </a:solidFill>
              </a:rPr>
              <a:t>This is a developing number sense activity. </a:t>
            </a:r>
            <a:endParaRPr lang="en-US" sz="1800">
              <a:solidFill>
                <a:srgbClr val="444444"/>
              </a:solidFil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endParaRPr>
          </a:p>
          <a:p>
            <a:pPr>
              <a:lnSpc>
                <a:spcPts val="1913"/>
              </a:lnSpc>
              <a:defRPr/>
            </a:pPr>
            <a:endParaRPr lang="en-AU" sz="1800">
              <a:solidFill>
                <a:srgbClr val="444444"/>
              </a:solidFill>
            </a:endParaRPr>
          </a:p>
          <a:p>
            <a:pPr>
              <a:defRPr/>
            </a:pPr>
            <a:r>
              <a:rPr lang="en-AU" sz="1800" b="1">
                <a:solidFill>
                  <a:srgbClr val="000000"/>
                </a:solidFill>
              </a:rPr>
              <a:t>Syllabus focus area:</a:t>
            </a:r>
          </a:p>
          <a:p>
            <a:pPr>
              <a:defRPr/>
            </a:pPr>
            <a:r>
              <a:rPr lang="en-AU" sz="1800" b="0">
                <a:solidFill>
                  <a:srgbClr val="000000"/>
                </a:solidFill>
              </a:rPr>
              <a:t>Multiplicative relations B</a:t>
            </a:r>
          </a:p>
          <a:p>
            <a:pPr>
              <a:defRPr/>
            </a:pPr>
            <a:endParaRPr lang="en-AU" sz="1800" b="0">
              <a:solidFill>
                <a:srgbClr val="000000"/>
              </a:solidFill>
            </a:endParaRPr>
          </a:p>
          <a:p>
            <a:pPr>
              <a:defRPr/>
            </a:pPr>
            <a:r>
              <a:rPr lang="en-AU" sz="1800"/>
              <a:t>This resource corresponds to </a:t>
            </a:r>
            <a:r>
              <a:rPr lang="en-AU" sz="1800" b="1"/>
              <a:t>Resource 26 – covered grid </a:t>
            </a:r>
            <a:r>
              <a:rPr lang="en-AU" sz="1800"/>
              <a:t>in Stage 2 Year B Unit 37.</a:t>
            </a:r>
            <a:endParaRPr lang="en-AU" sz="1800">
              <a:effectLst/>
              <a:latin typeface="Arial" panose="020B0604020202020204" pitchFamily="34" charset="0"/>
              <a:ea typeface="Calibri" panose="020F0502020204030204" pitchFamily="34" charset="0"/>
              <a:cs typeface="Arial"/>
            </a:endParaRPr>
          </a:p>
          <a:p>
            <a:endParaRPr lang="en-AU" sz="1800"/>
          </a:p>
          <a:p>
            <a:pPr>
              <a:defRPr/>
            </a:pPr>
            <a:endParaRPr lang="en-AU" sz="1800" b="1">
              <a:solidFill>
                <a:srgbClr val="000000"/>
              </a:solidFill>
            </a:endParaRPr>
          </a:p>
          <a:p>
            <a:pPr>
              <a:defRPr/>
            </a:pPr>
            <a:r>
              <a:rPr lang="en-AU" sz="1800">
                <a:effectLst/>
                <a:latin typeface="Arial" panose="020B0604020202020204" pitchFamily="34" charset="0"/>
                <a:ea typeface="Calibri" panose="020F0502020204030204" pitchFamily="34" charset="0"/>
              </a:rPr>
              <a:t>Ask students the following questions:</a:t>
            </a: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a:effectLst/>
                <a:latin typeface="Arial" panose="020B0604020202020204" pitchFamily="34" charset="0"/>
                <a:ea typeface="Calibri" panose="020F0502020204030204" pitchFamily="34" charset="0"/>
              </a:rPr>
              <a:t>What do you notice?</a:t>
            </a: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a:effectLst/>
                <a:latin typeface="Arial" panose="020B0604020202020204" pitchFamily="34" charset="0"/>
                <a:ea typeface="Calibri" panose="020F0502020204030204" pitchFamily="34" charset="0"/>
              </a:rPr>
              <a:t>How can the squares help you solve this problem?</a:t>
            </a: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a:effectLst/>
                <a:latin typeface="Arial" panose="020B0604020202020204" pitchFamily="34" charset="0"/>
                <a:ea typeface="Calibri" panose="020F0502020204030204" pitchFamily="34" charset="0"/>
              </a:rPr>
              <a:t>What are you visualising?</a:t>
            </a: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a:effectLst/>
                <a:latin typeface="Arial" panose="020B0604020202020204" pitchFamily="34" charset="0"/>
                <a:ea typeface="Calibri" panose="020F0502020204030204" pitchFamily="34" charset="0"/>
              </a:rPr>
              <a:t>How can multiplication be used to help solve division?</a:t>
            </a: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a:effectLst/>
                <a:latin typeface="Arial" panose="020B0604020202020204" pitchFamily="34" charset="0"/>
                <a:ea typeface="Calibri" panose="020F0502020204030204" pitchFamily="34" charset="0"/>
              </a:rPr>
              <a:t>What advice would you give to a friend if they didn’t know how to solve this problem?</a:t>
            </a:r>
          </a:p>
          <a:p>
            <a:pPr marL="342900" indent="-342900">
              <a:lnSpc>
                <a:spcPct val="150000"/>
              </a:lnSpc>
              <a:spcBef>
                <a:spcPts val="1200"/>
              </a:spcBef>
              <a:spcAft>
                <a:spcPts val="600"/>
              </a:spcAft>
              <a:buFont typeface="Symbol" panose="05050102010706020507" pitchFamily="18" charset="2"/>
              <a:buChar char=""/>
            </a:pPr>
            <a:endParaRPr lang="en-AU" sz="1800">
              <a:latin typeface="Arial"/>
              <a:ea typeface="Calibri"/>
              <a:cs typeface="Arial"/>
            </a:endParaRPr>
          </a:p>
          <a:p>
            <a:pPr marL="0" lvl="0" indent="0">
              <a:lnSpc>
                <a:spcPct val="150000"/>
              </a:lnSpc>
              <a:spcBef>
                <a:spcPts val="1200"/>
              </a:spcBef>
              <a:spcAft>
                <a:spcPts val="600"/>
              </a:spcAft>
              <a:buFont typeface="+mj-lt"/>
              <a:buNone/>
              <a:tabLst>
                <a:tab pos="228600" algn="l"/>
              </a:tabLst>
            </a:pPr>
            <a:r>
              <a:rPr lang="en-AU" sz="1800">
                <a:effectLst/>
                <a:latin typeface="Arial" panose="020B0604020202020204" pitchFamily="34" charset="0"/>
                <a:ea typeface="Calibri" panose="020F0502020204030204" pitchFamily="34" charset="0"/>
              </a:rPr>
              <a:t>Students create their own partial grid, write a division number sentence with a missing value and ask a partner to solve it.</a:t>
            </a:r>
          </a:p>
          <a:p>
            <a:pPr marL="342900" indent="-342900">
              <a:lnSpc>
                <a:spcPct val="150000"/>
              </a:lnSpc>
              <a:spcBef>
                <a:spcPts val="1200"/>
              </a:spcBef>
              <a:spcAft>
                <a:spcPts val="600"/>
              </a:spcAft>
              <a:buFont typeface="Symbol" panose="05050102010706020507" pitchFamily="18" charset="2"/>
              <a:buChar char=""/>
            </a:pPr>
            <a:endParaRPr lang="en-AU" sz="1800">
              <a:latin typeface="Arial"/>
              <a:ea typeface="Calibri"/>
              <a:cs typeface="Arial"/>
            </a:endParaRPr>
          </a:p>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0968365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 Decimals</a:t>
            </a: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Two-dimensional spatial structure A</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Representing numbers using place value B</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6561528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 Time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a:solidFill>
                  <a:srgbClr val="000000"/>
                </a:solidFill>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solidFill>
                  <a:srgbClr val="000000"/>
                </a:solidFill>
                <a:latin typeface="Arial"/>
                <a:cs typeface="Arial"/>
              </a:rPr>
              <a:t>Syllabus focus area:</a:t>
            </a:r>
            <a:endParaRPr lang="en-US" sz="1600" b="1">
              <a:solidFill>
                <a:srgbClr val="444444"/>
              </a:solidFill>
              <a:latin typeface="Arial"/>
              <a:cs typeface="Arial"/>
            </a:endParaRPr>
          </a:p>
          <a:p>
            <a:r>
              <a:rPr lang="en-AU" sz="1600"/>
              <a:t>Representing numbers using place value B</a:t>
            </a:r>
            <a:br>
              <a:rPr lang="en-AU" sz="1600"/>
            </a:br>
            <a:br>
              <a:rPr lang="en-AU" sz="1600"/>
            </a:br>
            <a:r>
              <a:rPr lang="en-AU">
                <a:latin typeface="Public Sans"/>
              </a:rPr>
              <a:t>Ask the following questions:</a:t>
            </a:r>
            <a:endParaRPr lang="en-US">
              <a:latin typeface="Public Sans"/>
            </a:endParaRPr>
          </a:p>
          <a:p>
            <a:pPr marL="285750" indent="-285750">
              <a:buFont typeface="Arial"/>
              <a:buChar char="•"/>
            </a:pPr>
            <a:r>
              <a:rPr lang="en-AU">
                <a:latin typeface="Public Sans"/>
              </a:rPr>
              <a:t>What fractions can be seen?</a:t>
            </a:r>
          </a:p>
          <a:p>
            <a:pPr marL="285750" indent="-285750">
              <a:buFont typeface="Arial"/>
              <a:buChar char="•"/>
            </a:pPr>
            <a:r>
              <a:rPr lang="en-AU">
                <a:latin typeface="Public Sans"/>
              </a:rPr>
              <a:t>Could we use interlocking cubes to represent the same fraction in another way?</a:t>
            </a:r>
          </a:p>
          <a:p>
            <a:pPr marL="0" indent="0">
              <a:buFont typeface="Arial"/>
              <a:buNone/>
            </a:pPr>
            <a:endParaRPr lang="en-AU">
              <a:latin typeface="Public Sans"/>
            </a:endParaRPr>
          </a:p>
          <a:p>
            <a:pPr marL="0" indent="0">
              <a:buFont typeface="Arial"/>
              <a:buNone/>
            </a:pPr>
            <a:r>
              <a:rPr lang="en-AU">
                <a:latin typeface="Public Sans"/>
              </a:rPr>
              <a:t>Model half as 5 blue cubes and 5 yellow cubes. Explain that the model shows the fraction 1/2 and 5/10.</a:t>
            </a:r>
          </a:p>
          <a:p>
            <a:pPr marL="285750" indent="-285750">
              <a:buFont typeface="Arial"/>
              <a:buChar char="•"/>
            </a:pPr>
            <a:r>
              <a:rPr lang="en-AU">
                <a:latin typeface="Public Sans"/>
              </a:rPr>
              <a:t>Explain how half is written as a decimal and that we read the decimal 0.5 as ‘half’ or ‘5-tenths’</a:t>
            </a:r>
          </a:p>
          <a:p>
            <a:pPr marL="285750" indent="-285750">
              <a:buFont typeface="Arial"/>
              <a:buChar char="•"/>
            </a:pPr>
            <a:endParaRPr lang="en-AU">
              <a:latin typeface="Public Sans"/>
            </a:endParaRPr>
          </a:p>
          <a:p>
            <a:pPr marL="0" indent="0">
              <a:buFont typeface="Arial"/>
              <a:buNone/>
            </a:pPr>
            <a:endParaRPr lang="en-AU">
              <a:latin typeface="Public Sans"/>
            </a:endParaRPr>
          </a:p>
          <a:p>
            <a:pPr marL="0" indent="0">
              <a:buFont typeface="Arial"/>
              <a:buNone/>
            </a:pPr>
            <a:r>
              <a:rPr lang="en-AU">
                <a:latin typeface="Public Sans"/>
              </a:rPr>
              <a:t>Give students interlocking cubes. Ask students to use the cubes to represent ¼ and 3/4. For example, 1/4 can be represented as 2 blue cubes connected to 6 yellow cubes or 1 blue cube connected to 3 yellow cubes. </a:t>
            </a:r>
          </a:p>
          <a:p>
            <a:pPr marL="0" indent="0">
              <a:buFont typeface="Arial"/>
              <a:buNone/>
            </a:pPr>
            <a:endParaRPr lang="en-AU">
              <a:latin typeface="Public Sans"/>
            </a:endParaRPr>
          </a:p>
          <a:p>
            <a:pPr marL="0" indent="0">
              <a:buFont typeface="Arial"/>
              <a:buNone/>
            </a:pPr>
            <a:r>
              <a:rPr lang="en-AU">
                <a:latin typeface="Public Sans"/>
              </a:rPr>
              <a:t>Ask the following questions:</a:t>
            </a:r>
          </a:p>
          <a:p>
            <a:pPr marL="285750" indent="-285750">
              <a:buFont typeface="Arial"/>
              <a:buChar char="•"/>
            </a:pPr>
            <a:r>
              <a:rPr lang="en-AU">
                <a:latin typeface="Public Sans"/>
              </a:rPr>
              <a:t>How did you represent 1/4?</a:t>
            </a:r>
          </a:p>
          <a:p>
            <a:pPr marL="285750" indent="-285750">
              <a:buFont typeface="Arial"/>
              <a:buChar char="•"/>
            </a:pPr>
            <a:r>
              <a:rPr lang="en-AU">
                <a:latin typeface="Public Sans"/>
              </a:rPr>
              <a:t>How did you represent 3/4?</a:t>
            </a:r>
          </a:p>
          <a:p>
            <a:pPr marL="285750" indent="-285750">
              <a:buFont typeface="Arial"/>
              <a:buChar char="•"/>
            </a:pPr>
            <a:r>
              <a:rPr lang="en-AU">
                <a:latin typeface="Public Sans"/>
              </a:rPr>
              <a:t>How do you know you’ve represented these fractions accurately?</a:t>
            </a:r>
          </a:p>
          <a:p>
            <a:pPr marL="285750" indent="-285750">
              <a:buFont typeface="Arial"/>
              <a:buChar char="•"/>
            </a:pPr>
            <a:r>
              <a:rPr lang="en-AU">
                <a:latin typeface="Public Sans"/>
              </a:rPr>
              <a:t>Why are there so many ways of representing a fraction?</a:t>
            </a:r>
          </a:p>
          <a:p>
            <a:pPr marL="285750" indent="-285750">
              <a:buFont typeface="Arial"/>
              <a:buChar char="•"/>
            </a:pPr>
            <a:r>
              <a:rPr lang="en-AU">
                <a:latin typeface="Public Sans"/>
              </a:rPr>
              <a:t>How are ¼ and 3/4 written as decimals?</a:t>
            </a:r>
          </a:p>
          <a:p>
            <a:pPr lvl="0">
              <a:lnSpc>
                <a:spcPct val="150000"/>
              </a:lnSpc>
              <a:spcBef>
                <a:spcPts val="1200"/>
              </a:spcBef>
              <a:spcAft>
                <a:spcPts val="600"/>
              </a:spcAft>
            </a:pPr>
            <a:endParaRPr lang="en-AU" sz="1800">
              <a:latin typeface="Arial"/>
              <a:ea typeface="Calibri"/>
              <a:cs typeface="Arial"/>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38</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4705655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6</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 Decimals</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Two-dimensional spatial structure A</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numbers using place value B: Decimals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Geometric Measure B: Length</a:t>
            </a:r>
            <a:endParaRPr lang="en-AU" dirty="0"/>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400">
              <a:lnSpc>
                <a:spcPct val="150000"/>
              </a:lnSpc>
              <a:spcBef>
                <a:spcPts val="1200"/>
              </a:spcBef>
              <a:spcAft>
                <a:spcPts val="600"/>
              </a:spcAft>
            </a:pPr>
            <a:r>
              <a:rPr lang="en-AU" sz="1600">
                <a:latin typeface="Arial"/>
                <a:cs typeface="Arial"/>
              </a:rPr>
              <a:t>This is a developing number sense activity. </a:t>
            </a:r>
            <a:endParaRPr lang="en-US" sz="1600">
              <a:solidFill>
                <a:srgbClr val="444444"/>
              </a:solidFill>
              <a:latin typeface="Arial"/>
              <a:cs typeface="Arial"/>
            </a:endParaRPr>
          </a:p>
          <a:p>
            <a:pPr defTabSz="914400">
              <a:lnSpc>
                <a:spcPct val="150000"/>
              </a:lnSpc>
              <a:spcBef>
                <a:spcPts val="1200"/>
              </a:spcBef>
              <a:spcAft>
                <a:spcPts val="600"/>
              </a:spcAft>
            </a:pPr>
            <a:endParaRPr lang="en-AU" sz="1600">
              <a:solidFill>
                <a:srgbClr val="444444"/>
              </a:solidFill>
            </a:endParaRPr>
          </a:p>
          <a:p>
            <a:pPr defTabSz="914400">
              <a:lnSpc>
                <a:spcPct val="150000"/>
              </a:lnSpc>
              <a:spcBef>
                <a:spcPts val="1200"/>
              </a:spcBef>
              <a:spcAft>
                <a:spcPts val="600"/>
              </a:spcAft>
            </a:pPr>
            <a:r>
              <a:rPr lang="en-AU" sz="16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600">
              <a:solidFill>
                <a:srgbClr val="444444"/>
              </a:solidFill>
              <a:latin typeface="Arial"/>
              <a:cs typeface="Arial"/>
            </a:endParaRPr>
          </a:p>
          <a:p>
            <a:pPr defTabSz="914400">
              <a:lnSpc>
                <a:spcPts val="1913"/>
              </a:lnSpc>
            </a:pPr>
            <a:endParaRPr lang="en-AU" sz="1600">
              <a:solidFill>
                <a:srgbClr val="444444"/>
              </a:solidFill>
            </a:endParaRPr>
          </a:p>
          <a:p>
            <a:pPr defTabSz="914400"/>
            <a:r>
              <a:rPr lang="en-AU" sz="1600" b="1">
                <a:latin typeface="Arial"/>
                <a:cs typeface="Arial"/>
              </a:rPr>
              <a:t>Syllabus focus area:</a:t>
            </a:r>
          </a:p>
          <a:p>
            <a:pPr defTabSz="914400"/>
            <a:r>
              <a:rPr lang="en-AU" sz="1600" b="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sz="1600" b="0">
              <a:latin typeface="Arial"/>
              <a:cs typeface="Arial"/>
            </a:endParaRPr>
          </a:p>
          <a:p>
            <a:pPr marL="0" marR="0" lvl="0" indent="0" algn="l" defTabSz="1219170" rtl="0" eaLnBrk="1" fontAlgn="auto" latinLnBrk="0" hangingPunct="1">
              <a:lnSpc>
                <a:spcPct val="150000"/>
              </a:lnSpc>
              <a:spcBef>
                <a:spcPts val="1200"/>
              </a:spcBef>
              <a:spcAft>
                <a:spcPts val="600"/>
              </a:spcAft>
              <a:buClrTx/>
              <a:buSzPts val="1100"/>
              <a:buFont typeface="Arial" panose="020B0604020202020204" pitchFamily="34" charset="0"/>
              <a:buNone/>
              <a:tabLst/>
              <a:defRPr/>
            </a:pPr>
            <a:endParaRPr lang="en-AU" sz="1600"/>
          </a:p>
          <a:p>
            <a:pPr marL="0" marR="0" lvl="0" indent="0" algn="l" defTabSz="1219170" rtl="0" eaLnBrk="1" fontAlgn="auto" latinLnBrk="0" hangingPunct="1">
              <a:lnSpc>
                <a:spcPct val="150000"/>
              </a:lnSpc>
              <a:spcBef>
                <a:spcPts val="1200"/>
              </a:spcBef>
              <a:spcAft>
                <a:spcPts val="600"/>
              </a:spcAft>
              <a:buClrTx/>
              <a:buSzPts val="1100"/>
              <a:buFont typeface="Arial" panose="020B0604020202020204" pitchFamily="34" charset="0"/>
              <a:buNone/>
              <a:tabLst/>
              <a:defRPr/>
            </a:pPr>
            <a:r>
              <a:rPr lang="en-AU" sz="1600"/>
              <a:t>This resource corresponds </a:t>
            </a:r>
            <a:r>
              <a:rPr lang="en-AU" sz="1600" b="0"/>
              <a:t>to</a:t>
            </a:r>
            <a:r>
              <a:rPr lang="en-AU" sz="1600" b="1"/>
              <a:t> Resource 27 decimal height </a:t>
            </a:r>
            <a:r>
              <a:rPr lang="en-AU" sz="1600"/>
              <a:t>in Stage 2 Year B Unit 37.</a:t>
            </a:r>
          </a:p>
          <a:p>
            <a:endParaRPr lang="en-AU"/>
          </a:p>
          <a:p>
            <a:r>
              <a:rPr lang="en-AU"/>
              <a:t>Ask the following questions:</a:t>
            </a:r>
          </a:p>
          <a:p>
            <a:pPr marL="285750" indent="-285750">
              <a:buFont typeface="Arial" panose="020B0604020202020204" pitchFamily="34" charset="0"/>
              <a:buChar char="•"/>
            </a:pPr>
            <a:r>
              <a:rPr lang="en-AU"/>
              <a:t>Who is correct? How do you know?</a:t>
            </a:r>
          </a:p>
          <a:p>
            <a:pPr marL="285750" indent="-285750">
              <a:buFont typeface="Arial" panose="020B0604020202020204" pitchFamily="34" charset="0"/>
              <a:buChar char="•"/>
            </a:pPr>
            <a:r>
              <a:rPr lang="en-AU"/>
              <a:t>What misconceptions about decimals might Rose have? How could you explain this to her?</a:t>
            </a:r>
          </a:p>
          <a:p>
            <a:pPr marL="285750" indent="-285750">
              <a:buFont typeface="Arial" panose="020B0604020202020204" pitchFamily="34" charset="0"/>
              <a:buChar char="•"/>
            </a:pPr>
            <a:r>
              <a:rPr lang="en-AU"/>
              <a:t>What is the difference between Martine and Rose’s height? How can you calculate this?</a:t>
            </a:r>
          </a:p>
          <a:p>
            <a:pPr marL="285750" indent="-285750">
              <a:buFont typeface="Arial" panose="020B0604020202020204" pitchFamily="34" charset="0"/>
              <a:buChar char="•"/>
            </a:pPr>
            <a:endParaRPr lang="en-AU"/>
          </a:p>
          <a:p>
            <a:pPr>
              <a:buFont typeface="Arial" panose="020B0604020202020204" pitchFamily="34" charset="0"/>
              <a:buNone/>
            </a:pPr>
            <a:r>
              <a:rPr lang="en-AU"/>
              <a:t>Revise how to read these decimals. 1.09 is read as 1 and 9 hundredths, 1.3 is read as ‘one and three-tenths’.</a:t>
            </a:r>
          </a:p>
          <a:p>
            <a:pPr>
              <a:buFont typeface="Arial" panose="020B0604020202020204" pitchFamily="34" charset="0"/>
              <a:buNone/>
            </a:pPr>
            <a:endParaRPr lang="en-AU"/>
          </a:p>
          <a:p>
            <a:pPr>
              <a:buFont typeface="Arial" panose="020B0604020202020204" pitchFamily="34" charset="0"/>
              <a:buChar char="•"/>
            </a:pPr>
            <a:r>
              <a:rPr lang="en-AU" b="1">
                <a:latin typeface="Public Sans"/>
              </a:rPr>
              <a:t>Note: </a:t>
            </a:r>
            <a:r>
              <a:rPr lang="en-AU">
                <a:latin typeface="Public Sans"/>
              </a:rPr>
              <a:t>interpreting decimals used in different contexts can change the way that we read them. In the context of measuring height, it is appropriate to read the decimal 1.3 metres as ‘one point three’ metres. Without the context, this decimal is read as ‘one and</a:t>
            </a:r>
            <a:r>
              <a:rPr lang="en-AU" b="1">
                <a:latin typeface="Public Sans"/>
              </a:rPr>
              <a:t> </a:t>
            </a:r>
            <a:r>
              <a:rPr lang="en-AU">
                <a:latin typeface="Public Sans"/>
              </a:rPr>
              <a:t>three-tenths’. The use of the place value language to read decimals supports students conceptual understanding of the size of each part and to develop a mental image of hundredths compared to tenths. When comparing these 2 decimals, it makes more sense to compare 1 and 9 hundredths to 1 and 3 tenths.</a:t>
            </a:r>
          </a:p>
          <a:p>
            <a:pPr>
              <a:buFont typeface="Arial" panose="020B0604020202020204" pitchFamily="34" charset="0"/>
              <a:buNone/>
            </a:pPr>
            <a:endParaRPr lang="en-AU"/>
          </a:p>
          <a:p>
            <a:pPr>
              <a:buFont typeface="Arial" panose="020B0604020202020204" pitchFamily="34" charset="0"/>
              <a:buNone/>
            </a:pPr>
            <a:r>
              <a:rPr lang="en-AU"/>
              <a:t>Select 4 students and record their heights in decimal notation on the board. Prompt students to order these decimals from smallest to largest.</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a:t>Ask: What is the difference between the smallest and largest decimal?</a:t>
            </a:r>
          </a:p>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1893137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401E-A733-1504-B028-B13200874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38FF-A950-5B76-C68D-9BD01FAEF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AD94C-AE68-F4EB-C719-5FD2B54BE1C2}"/>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7)</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a:t>
            </a:r>
            <a:endParaRPr lang="en-US"/>
          </a:p>
        </p:txBody>
      </p:sp>
      <p:sp>
        <p:nvSpPr>
          <p:cNvPr id="4" name="Slide Number Placeholder 3">
            <a:extLst>
              <a:ext uri="{FF2B5EF4-FFF2-40B4-BE49-F238E27FC236}">
                <a16:creationId xmlns:a16="http://schemas.microsoft.com/office/drawing/2014/main" id="{FCC49D05-E546-7611-8506-8D20FDB127B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5488654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numbers using place value B: Decimals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endParaRPr lang="en-AU" sz="1600">
              <a:latin typeface="Public Sans"/>
            </a:endParaRPr>
          </a:p>
          <a:p>
            <a:endParaRPr lang="en-AU" sz="1600" b="0" i="0">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600">
                <a:latin typeface="Arial"/>
                <a:cs typeface="Arial"/>
              </a:rPr>
              <a:t>This is a developing number sense activity. </a:t>
            </a:r>
            <a:endParaRPr lang="en-US" sz="1600">
              <a:solidFill>
                <a:srgbClr val="444444"/>
              </a:solidFill>
              <a:latin typeface="Arial"/>
              <a:cs typeface="Arial"/>
            </a:endParaRPr>
          </a:p>
          <a:p>
            <a:pPr>
              <a:lnSpc>
                <a:spcPct val="150000"/>
              </a:lnSpc>
              <a:spcBef>
                <a:spcPts val="1200"/>
              </a:spcBef>
              <a:spcAft>
                <a:spcPts val="600"/>
              </a:spcAft>
            </a:pPr>
            <a:endParaRPr lang="en-AU" sz="1600">
              <a:solidFill>
                <a:srgbClr val="444444"/>
              </a:solidFill>
            </a:endParaRPr>
          </a:p>
          <a:p>
            <a:pPr>
              <a:lnSpc>
                <a:spcPct val="150000"/>
              </a:lnSpc>
              <a:spcBef>
                <a:spcPts val="1200"/>
              </a:spcBef>
              <a:spcAft>
                <a:spcPts val="600"/>
              </a:spcAft>
            </a:pPr>
            <a:r>
              <a:rPr lang="en-AU" sz="16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600">
              <a:solidFill>
                <a:srgbClr val="444444"/>
              </a:solidFill>
              <a:latin typeface="Arial"/>
              <a:cs typeface="Arial"/>
            </a:endParaRPr>
          </a:p>
          <a:p>
            <a:pPr>
              <a:lnSpc>
                <a:spcPts val="1913"/>
              </a:lnSpc>
            </a:pPr>
            <a:endParaRPr lang="en-AU" sz="1600">
              <a:solidFill>
                <a:srgbClr val="444444"/>
              </a:solidFill>
            </a:endParaRPr>
          </a:p>
          <a:p>
            <a:r>
              <a:rPr lang="en-AU" sz="1600" b="1">
                <a:latin typeface="Arial"/>
                <a:cs typeface="Arial"/>
              </a:rPr>
              <a:t>Syllabus focus area:</a:t>
            </a:r>
            <a:endParaRPr lang="en-US" sz="1600">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Representing numbers using place value B</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a:t>This resource corresponds to </a:t>
            </a:r>
            <a:r>
              <a:rPr lang="en-AU" sz="1600" b="1"/>
              <a:t>Resource 28 – decimal fraction cards </a:t>
            </a:r>
            <a:r>
              <a:rPr lang="en-AU" sz="1600"/>
              <a:t>in Stage 2 Year B Unit 37.</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a:p>
          <a:p>
            <a:pPr marL="285750" indent="-285750">
              <a:buFont typeface="Arial"/>
              <a:buChar char="•"/>
            </a:pPr>
            <a:r>
              <a:rPr lang="en-US">
                <a:latin typeface="Public Sans"/>
              </a:rPr>
              <a:t>Explain each card will be placed on the number line. Highlight that there are multiple cards showing the same value, for example: 0.5, one half and five tenths.</a:t>
            </a:r>
          </a:p>
          <a:p>
            <a:pPr marL="285750" indent="-285750">
              <a:buFont typeface="Arial"/>
              <a:buChar char="•"/>
            </a:pPr>
            <a:r>
              <a:rPr lang="en-US">
                <a:latin typeface="Public Sans"/>
              </a:rPr>
              <a:t>Students to take turns stating what value the card represents and place the card on the number line to show its value. Students share their reasoning.</a:t>
            </a:r>
          </a:p>
          <a:p>
            <a:pPr marL="285750" indent="-285750">
              <a:buFont typeface="Arial"/>
              <a:buChar char="•"/>
            </a:pPr>
            <a:r>
              <a:rPr lang="en-US">
                <a:latin typeface="Public Sans"/>
              </a:rPr>
              <a:t>Monitor students use of language when reading fractions and decimals, providing feedback and modelling correct reading and comparing.</a:t>
            </a:r>
          </a:p>
          <a:p>
            <a:pPr marL="285750" indent="-285750">
              <a:buFont typeface="Arial"/>
              <a:buChar char="•"/>
            </a:pPr>
            <a:r>
              <a:rPr lang="en-US">
                <a:latin typeface="Public Sans"/>
              </a:rPr>
              <a:t>Discuss the completed number line to compare the decimal values and connect the fractions to the decimals. </a:t>
            </a:r>
          </a:p>
          <a:p>
            <a:pPr marL="285750" indent="-285750">
              <a:buFont typeface="Arial"/>
              <a:buChar char="•"/>
            </a:pPr>
            <a:endParaRPr lang="en-US">
              <a:latin typeface="Public Sans"/>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4943457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 Decimals</a:t>
            </a: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Three-dimensional spatial structure A</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Public Sans"/>
              </a:rPr>
              <a:t>Representing numbers using place value B</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Two-dimensional spatial structure B: 2D shapes</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600">
                <a:latin typeface="Arial"/>
                <a:cs typeface="Arial"/>
              </a:rPr>
              <a:t>This is a developing number sense activity. </a:t>
            </a:r>
            <a:endParaRPr lang="en-US" sz="1600">
              <a:solidFill>
                <a:srgbClr val="444444"/>
              </a:solidFill>
              <a:latin typeface="Arial"/>
              <a:cs typeface="Arial"/>
            </a:endParaRPr>
          </a:p>
          <a:p>
            <a:pPr>
              <a:lnSpc>
                <a:spcPct val="150000"/>
              </a:lnSpc>
              <a:spcBef>
                <a:spcPts val="1200"/>
              </a:spcBef>
              <a:spcAft>
                <a:spcPts val="600"/>
              </a:spcAft>
            </a:pPr>
            <a:endParaRPr lang="en-AU" sz="1600">
              <a:solidFill>
                <a:srgbClr val="444444"/>
              </a:solidFill>
            </a:endParaRPr>
          </a:p>
          <a:p>
            <a:pPr>
              <a:lnSpc>
                <a:spcPct val="150000"/>
              </a:lnSpc>
              <a:spcBef>
                <a:spcPts val="1200"/>
              </a:spcBef>
              <a:spcAft>
                <a:spcPts val="600"/>
              </a:spcAft>
            </a:pPr>
            <a:r>
              <a:rPr lang="en-AU" sz="16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600">
              <a:solidFill>
                <a:srgbClr val="444444"/>
              </a:solidFill>
              <a:latin typeface="Arial"/>
              <a:cs typeface="Arial"/>
            </a:endParaRPr>
          </a:p>
          <a:p>
            <a:pPr>
              <a:lnSpc>
                <a:spcPts val="1913"/>
              </a:lnSpc>
            </a:pPr>
            <a:endParaRPr lang="en-AU" sz="1600">
              <a:solidFill>
                <a:srgbClr val="444444"/>
              </a:solidFill>
            </a:endParaRPr>
          </a:p>
          <a:p>
            <a:r>
              <a:rPr lang="en-AU" sz="1600" b="1">
                <a:latin typeface="Arial"/>
                <a:cs typeface="Arial"/>
              </a:rPr>
              <a:t>Syllabus focus area:</a:t>
            </a:r>
            <a:endParaRPr lang="en-US" sz="1600">
              <a:solidFill>
                <a:srgbClr val="444444"/>
              </a:solidFill>
              <a:latin typeface="Arial"/>
              <a:cs typeface="Arial"/>
            </a:endParaRPr>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r>
              <a:rPr lang="en-AU" sz="1600"/>
              <a:t>Representing numbers using place value B</a:t>
            </a:r>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endParaRPr lang="en-AU" sz="1600" b="1"/>
          </a:p>
          <a:p>
            <a:r>
              <a:rPr lang="en-AU">
                <a:latin typeface="Public Sans"/>
              </a:rPr>
              <a:t>This activity is an adaptation of </a:t>
            </a:r>
            <a:r>
              <a:rPr lang="en-AU">
                <a:latin typeface="Public Sans"/>
                <a:hlinkClick r:id="rId3"/>
              </a:rPr>
              <a:t>Doughnut Percents</a:t>
            </a:r>
            <a:r>
              <a:rPr lang="en-AU">
                <a:latin typeface="Public Sans"/>
              </a:rPr>
              <a:t> from </a:t>
            </a:r>
            <a:r>
              <a:rPr lang="en-AU">
                <a:latin typeface="Public Sans"/>
                <a:hlinkClick r:id="rId4"/>
              </a:rPr>
              <a:t>NRICH</a:t>
            </a:r>
            <a:r>
              <a:rPr lang="en-AU">
                <a:latin typeface="Public Sans"/>
              </a:rPr>
              <a:t> by the University of Cambridge.</a:t>
            </a:r>
            <a:endParaRPr lang="en-US">
              <a:latin typeface="Public Sans"/>
            </a:endParaRPr>
          </a:p>
          <a:p>
            <a:pPr marL="285750" indent="-285750">
              <a:buFont typeface="Arial"/>
              <a:buChar char="•"/>
            </a:pPr>
            <a:r>
              <a:rPr lang="en-AU"/>
              <a:t>Prior to the lesson print and cut </a:t>
            </a:r>
            <a:r>
              <a:rPr lang="en-AU">
                <a:hlinkClick r:id="rId5"/>
              </a:rPr>
              <a:t>Resource 20 – decimal chains</a:t>
            </a:r>
            <a:r>
              <a:rPr lang="en-AU"/>
              <a:t> ensuring there is one set between each pair of students.</a:t>
            </a:r>
          </a:p>
          <a:p>
            <a:pPr marL="285750" indent="-285750">
              <a:buFont typeface="Arial"/>
              <a:buChar char="•"/>
            </a:pPr>
            <a:r>
              <a:rPr lang="en-AU">
                <a:latin typeface="Public Sans"/>
              </a:rPr>
              <a:t>Explain that students will work together to create one long domino chain or 2 smaller chains. Touching ends need to have equal values (see Figure 5).</a:t>
            </a:r>
          </a:p>
          <a:p>
            <a:pPr>
              <a:buFont typeface="Arial"/>
              <a:buChar char="•"/>
            </a:pPr>
            <a:r>
              <a:rPr lang="en-AU">
                <a:latin typeface="Public Sans"/>
              </a:rPr>
              <a:t>Teamwork and collaboration are the key to this task. Explain that:</a:t>
            </a:r>
            <a:endParaRPr lang="en-AU">
              <a:latin typeface="Public Sans"/>
              <a:ea typeface="Calibri"/>
              <a:cs typeface="Arial"/>
            </a:endParaRPr>
          </a:p>
          <a:p>
            <a:pPr>
              <a:buFont typeface="Arial"/>
              <a:buChar char="•"/>
            </a:pPr>
            <a:r>
              <a:rPr lang="en-AU"/>
              <a:t>all dominoes are face up and visible to both players</a:t>
            </a:r>
          </a:p>
          <a:p>
            <a:pPr>
              <a:buFont typeface="Arial"/>
              <a:buChar char="•"/>
            </a:pPr>
            <a:r>
              <a:rPr lang="en-AU"/>
              <a:t>players take turns to place a domino to add to the chain</a:t>
            </a:r>
          </a:p>
          <a:p>
            <a:pPr>
              <a:buFont typeface="Arial"/>
              <a:buChar char="•"/>
            </a:pPr>
            <a:r>
              <a:rPr lang="en-AU">
                <a:latin typeface="Public Sans"/>
              </a:rPr>
              <a:t>players discuss their moves, communicating their reasoning connecting fractions and decimals.</a:t>
            </a:r>
          </a:p>
          <a:p>
            <a:pPr>
              <a:buFont typeface="Arial"/>
              <a:buChar char="•"/>
            </a:pPr>
            <a:r>
              <a:rPr lang="en-AU">
                <a:latin typeface="Public Sans"/>
              </a:rPr>
              <a:t>Reflect on the activity, asking questions such as:</a:t>
            </a:r>
          </a:p>
          <a:p>
            <a:pPr>
              <a:buFont typeface="Arial"/>
              <a:buChar char="•"/>
            </a:pPr>
            <a:r>
              <a:rPr lang="en-AU">
                <a:latin typeface="Public Sans"/>
              </a:rPr>
              <a:t>Which dominoes were the hardest to match? Why?</a:t>
            </a:r>
          </a:p>
          <a:p>
            <a:pPr>
              <a:buFont typeface="Arial"/>
              <a:buChar char="•"/>
            </a:pPr>
            <a:r>
              <a:rPr lang="en-AU">
                <a:latin typeface="Public Sans"/>
              </a:rPr>
              <a:t>Were there any that you didn’t know? Were you still able to match them? What strategy did you use?</a:t>
            </a:r>
          </a:p>
          <a:p>
            <a:pPr marL="285750" lvl="0" indent="-285750">
              <a:buFont typeface="Arial"/>
              <a:buChar char="•"/>
            </a:pPr>
            <a:endParaRPr lang="en-AU">
              <a:latin typeface="Public Sans"/>
              <a:ea typeface="Calibri"/>
              <a:cs typeface="Arial"/>
            </a:endParaRPr>
          </a:p>
          <a:p>
            <a:pPr>
              <a:lnSpc>
                <a:spcPct val="150000"/>
              </a:lnSpc>
              <a:spcBef>
                <a:spcPts val="1200"/>
              </a:spcBef>
              <a:spcAft>
                <a:spcPts val="600"/>
              </a:spcAft>
            </a:pPr>
            <a:endParaRPr lang="en-AU" sz="1800">
              <a:latin typeface="Arial"/>
              <a:ea typeface="Calibri"/>
              <a:cs typeface="Arial"/>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59</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3178886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3922282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3504410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3563541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9070415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4494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592638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878603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150548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000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597907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887820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2.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3148812615"/>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1.xml"/><Relationship Id="rId5" Type="http://schemas.openxmlformats.org/officeDocument/2006/relationships/image" Target="../media/image11.png"/><Relationship Id="rId4" Type="http://schemas.openxmlformats.org/officeDocument/2006/relationships/image" Target="../media/image20.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7.png"/><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19.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56.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slide" Target="slide5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8" Type="http://schemas.openxmlformats.org/officeDocument/2006/relationships/hyperlink" Target="https://education.nsw.gov.au/teaching-and-learning/curriculum/mathematics/mathematics-curriculum-resources-k-12/mathematics-k-6-resources/array-bingo-partially-covered-arrays"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topdrawer.aamt.edu.au/Mental-computation/Good-teaching/Multiplication-and-division/Visualising-arrays/Partial-arrays#:~:text=Factors%20are%20pairs%20of%20counting,(e.g.%206%20by%205)."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nrich.maths.org/6945"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2 Year B Unit 37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2 </a:t>
            </a:r>
            <a:r>
              <a:rPr lang="en-AU" sz="2400">
                <a:solidFill>
                  <a:srgbClr val="FFFFFF"/>
                </a:solidFill>
                <a:latin typeface="+mj-lt"/>
                <a:cs typeface="Arial"/>
              </a:rPr>
              <a:t>–</a:t>
            </a:r>
            <a:r>
              <a:rPr lang="en-AU" sz="2400">
                <a:latin typeface="+mj-lt"/>
                <a:cs typeface="Arial"/>
              </a:rPr>
              <a:t> Unit 37</a:t>
            </a:r>
          </a:p>
        </p:txBody>
      </p:sp>
      <p:pic>
        <p:nvPicPr>
          <p:cNvPr id="1026" name="Picture 2" descr="A group of dice on an orange surface&#10;&#10;Description automatically generated">
            <a:extLst>
              <a:ext uri="{FF2B5EF4-FFF2-40B4-BE49-F238E27FC236}">
                <a16:creationId xmlns:a16="http://schemas.microsoft.com/office/drawing/2014/main" id="{4C45AFD8-1A65-DE91-574E-A3BA8B7840B0}"/>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1799" r="179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artially covered area model. The image shows 8 rows with 4 in each row.">
            <a:extLst>
              <a:ext uri="{FF2B5EF4-FFF2-40B4-BE49-F238E27FC236}">
                <a16:creationId xmlns:a16="http://schemas.microsoft.com/office/drawing/2014/main" id="{48CB820E-FC26-FE2B-E9E3-CBC255B66E1A}"/>
              </a:ext>
            </a:extLst>
          </p:cNvPr>
          <p:cNvPicPr>
            <a:picLocks noChangeAspect="1"/>
          </p:cNvPicPr>
          <p:nvPr/>
        </p:nvPicPr>
        <p:blipFill>
          <a:blip r:embed="rId3"/>
          <a:stretch>
            <a:fillRect/>
          </a:stretch>
        </p:blipFill>
        <p:spPr>
          <a:xfrm>
            <a:off x="6492072" y="1283952"/>
            <a:ext cx="5110966" cy="3407311"/>
          </a:xfrm>
          <a:prstGeom prst="rect">
            <a:avLst/>
          </a:prstGeom>
        </p:spPr>
      </p:pic>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dirty="0">
                <a:latin typeface="Arial"/>
                <a:cs typeface="Arial"/>
              </a:rPr>
              <a:t>Multiple choice </a:t>
            </a:r>
            <a:r>
              <a:rPr lang="en-US" dirty="0">
                <a:solidFill>
                  <a:schemeClr val="bg1"/>
                </a:solidFill>
                <a:latin typeface="Arial"/>
                <a:cs typeface="Arial"/>
              </a:rPr>
              <a:t>(1)</a:t>
            </a:r>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45931" y="1184018"/>
            <a:ext cx="6772045" cy="3406373"/>
          </a:xfrm>
        </p:spPr>
        <p:txBody>
          <a:bodyPr vert="horz" lIns="0" tIns="0" rIns="0" bIns="0" rtlCol="0" anchor="t">
            <a:noAutofit/>
          </a:bodyPr>
          <a:lstStyle/>
          <a:p>
            <a:r>
              <a:rPr lang="en-US" sz="4000" dirty="0">
                <a:latin typeface="Arial"/>
                <a:cs typeface="Arial"/>
              </a:rPr>
              <a:t>Part of this grid has been covered. </a:t>
            </a:r>
          </a:p>
          <a:p>
            <a:r>
              <a:rPr lang="en-US" sz="4000" dirty="0">
                <a:latin typeface="Arial"/>
                <a:cs typeface="Arial"/>
              </a:rPr>
              <a:t>What is the total of the grid?</a:t>
            </a:r>
            <a:r>
              <a:rPr lang="en-US" sz="4400" dirty="0">
                <a:latin typeface="Arial"/>
                <a:cs typeface="Arial"/>
              </a:rPr>
              <a:t> </a:t>
            </a:r>
          </a:p>
        </p:txBody>
      </p:sp>
      <p:pic>
        <p:nvPicPr>
          <p:cNvPr id="4" name="Picture 3" descr="image of a finger selecting an option for a multiple choice or true and false">
            <a:extLst>
              <a:ext uri="{FF2B5EF4-FFF2-40B4-BE49-F238E27FC236}">
                <a16:creationId xmlns:a16="http://schemas.microsoft.com/office/drawing/2014/main" id="{213BF0C3-EA70-69CD-39F5-736545693249}"/>
              </a:ext>
            </a:extLst>
          </p:cNvPr>
          <p:cNvPicPr>
            <a:picLocks noChangeAspect="1"/>
          </p:cNvPicPr>
          <p:nvPr/>
        </p:nvPicPr>
        <p:blipFill>
          <a:blip r:embed="rId4"/>
          <a:stretch>
            <a:fillRect/>
          </a:stretch>
        </p:blipFill>
        <p:spPr>
          <a:xfrm>
            <a:off x="10807908" y="43303"/>
            <a:ext cx="1165786" cy="1140716"/>
          </a:xfrm>
          <a:prstGeom prst="rect">
            <a:avLst/>
          </a:prstGeom>
        </p:spPr>
      </p:pic>
      <p:graphicFrame>
        <p:nvGraphicFramePr>
          <p:cNvPr id="7" name="Table 6">
            <a:extLst>
              <a:ext uri="{FF2B5EF4-FFF2-40B4-BE49-F238E27FC236}">
                <a16:creationId xmlns:a16="http://schemas.microsoft.com/office/drawing/2014/main" id="{9E3575BA-C13C-C51A-85BD-9ACF8C4CE0F4}"/>
              </a:ext>
            </a:extLst>
          </p:cNvPr>
          <p:cNvGraphicFramePr>
            <a:graphicFrameLocks noGrp="1"/>
          </p:cNvGraphicFramePr>
          <p:nvPr>
            <p:extLst>
              <p:ext uri="{D42A27DB-BD31-4B8C-83A1-F6EECF244321}">
                <p14:modId xmlns:p14="http://schemas.microsoft.com/office/powerpoint/2010/main" val="693778233"/>
              </p:ext>
            </p:extLst>
          </p:nvPr>
        </p:nvGraphicFramePr>
        <p:xfrm>
          <a:off x="572708" y="4791196"/>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t>28</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32</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24</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latin typeface="+mn-lt"/>
                          <a:cs typeface="Arial"/>
                        </a:rPr>
                        <a:t>40</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a:t>
            </a:r>
          </a:p>
        </p:txBody>
      </p:sp>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283635" y="1803752"/>
            <a:ext cx="11200365" cy="4092718"/>
          </a:xfrm>
        </p:spPr>
        <p:txBody>
          <a:bodyPr/>
          <a:lstStyle/>
          <a:p>
            <a:pPr algn="ctr"/>
            <a:r>
              <a:rPr lang="en-AU" sz="4400" dirty="0"/>
              <a:t>If </a:t>
            </a:r>
            <a:r>
              <a:rPr lang="en-AU" sz="4400" b="1" dirty="0"/>
              <a:t>3 threes </a:t>
            </a:r>
            <a:r>
              <a:rPr lang="en-AU" sz="4400" dirty="0"/>
              <a:t>are 9, </a:t>
            </a:r>
          </a:p>
          <a:p>
            <a:pPr algn="ctr"/>
            <a:r>
              <a:rPr lang="en-AU" sz="4400" dirty="0"/>
              <a:t>what is </a:t>
            </a:r>
            <a:r>
              <a:rPr lang="en-AU" sz="4400" b="1" dirty="0"/>
              <a:t>3 </a:t>
            </a:r>
            <a:r>
              <a:rPr lang="en-AU" sz="4400" b="1" dirty="0">
                <a:solidFill>
                  <a:srgbClr val="000000"/>
                </a:solidFill>
                <a:effectLst/>
                <a:latin typeface="Arial" panose="020B0604020202020204" pitchFamily="34" charset="0"/>
                <a:ea typeface="Arial" panose="020B0604020202020204" pitchFamily="34" charset="0"/>
              </a:rPr>
              <a:t>sixes</a:t>
            </a:r>
            <a:r>
              <a:rPr lang="en-AU" sz="4400" dirty="0"/>
              <a:t>? </a:t>
            </a:r>
          </a:p>
          <a:p>
            <a:pPr algn="ctr"/>
            <a:r>
              <a:rPr lang="en-US" sz="4400" b="1" dirty="0">
                <a:latin typeface="Arial"/>
                <a:cs typeface="Arial"/>
              </a:rPr>
              <a:t>Communicate</a:t>
            </a:r>
            <a:r>
              <a:rPr lang="en-US" sz="4400" dirty="0">
                <a:latin typeface="Arial"/>
                <a:cs typeface="Arial"/>
              </a:rPr>
              <a:t> your </a:t>
            </a:r>
            <a:r>
              <a:rPr lang="en-US" sz="4400" b="1" dirty="0">
                <a:latin typeface="Arial"/>
                <a:cs typeface="Arial"/>
              </a:rPr>
              <a:t>reasoning</a:t>
            </a:r>
            <a:r>
              <a:rPr lang="en-US" sz="5400" dirty="0">
                <a:latin typeface="Arial"/>
                <a:cs typeface="Arial"/>
              </a:rPr>
              <a:t>.</a:t>
            </a:r>
          </a:p>
        </p:txBody>
      </p:sp>
      <p:pic>
        <p:nvPicPr>
          <p:cNvPr id="4" name="Picture 3" descr="image of a clipboard with a pencil recording short answer responses">
            <a:extLst>
              <a:ext uri="{FF2B5EF4-FFF2-40B4-BE49-F238E27FC236}">
                <a16:creationId xmlns:a16="http://schemas.microsoft.com/office/drawing/2014/main" id="{5CD9E655-ACD9-A77F-AC24-CF29796A2798}"/>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a:t>
            </a:r>
            <a:r>
              <a:rPr lang="en-US" dirty="0">
                <a:solidFill>
                  <a:schemeClr val="bg1"/>
                </a:solidFill>
                <a:latin typeface="Arial"/>
                <a:cs typeface="Arial"/>
              </a:rPr>
              <a:t>2</a:t>
            </a:r>
            <a:r>
              <a:rPr lang="en-US">
                <a:solidFill>
                  <a:schemeClr val="bg1"/>
                </a:solidFill>
                <a:latin typeface="Arial"/>
                <a:cs typeface="Arial"/>
              </a:rPr>
              <a:t>)</a:t>
            </a:r>
          </a:p>
        </p:txBody>
      </p:sp>
      <p:sp>
        <p:nvSpPr>
          <p:cNvPr id="11" name="Picture Placeholder 10">
            <a:extLst>
              <a:ext uri="{FF2B5EF4-FFF2-40B4-BE49-F238E27FC236}">
                <a16:creationId xmlns:a16="http://schemas.microsoft.com/office/drawing/2014/main" id="{D0E0EC4F-A97F-1AC0-49C2-238243DB79CE}"/>
              </a:ext>
            </a:extLst>
          </p:cNvPr>
          <p:cNvSpPr>
            <a:spLocks noGrp="1"/>
          </p:cNvSpPr>
          <p:nvPr>
            <p:ph type="pic" sz="quarter" idx="21"/>
          </p:nvPr>
        </p:nvSpPr>
        <p:spPr>
          <a:xfrm>
            <a:off x="702758" y="996878"/>
            <a:ext cx="11243037" cy="3056398"/>
          </a:xfrm>
        </p:spPr>
        <p:txBody>
          <a:bodyPr/>
          <a:lstStyle/>
          <a:p>
            <a:pPr algn="ctr"/>
            <a:r>
              <a:rPr lang="en-US" sz="4400">
                <a:latin typeface="Arial"/>
                <a:cs typeface="Arial"/>
              </a:rPr>
              <a:t>How many </a:t>
            </a:r>
            <a:r>
              <a:rPr lang="en-US" sz="4400" b="1">
                <a:latin typeface="Arial"/>
                <a:cs typeface="Arial"/>
              </a:rPr>
              <a:t>tenths</a:t>
            </a:r>
            <a:r>
              <a:rPr lang="en-US" sz="4400">
                <a:latin typeface="Arial"/>
                <a:cs typeface="Arial"/>
              </a:rPr>
              <a:t> are shaded </a:t>
            </a:r>
            <a:r>
              <a:rPr lang="en-US" sz="4400">
                <a:solidFill>
                  <a:schemeClr val="accent1">
                    <a:lumMod val="50000"/>
                    <a:lumOff val="50000"/>
                  </a:schemeClr>
                </a:solidFill>
                <a:latin typeface="Arial"/>
                <a:cs typeface="Arial"/>
              </a:rPr>
              <a:t>blue</a:t>
            </a:r>
            <a:r>
              <a:rPr lang="en-US" sz="4400">
                <a:latin typeface="Arial"/>
                <a:cs typeface="Arial"/>
              </a:rPr>
              <a:t>?</a:t>
            </a:r>
          </a:p>
          <a:p>
            <a:pPr algn="ctr"/>
            <a:r>
              <a:rPr lang="en-US" sz="4400">
                <a:latin typeface="Arial"/>
                <a:cs typeface="Arial"/>
              </a:rPr>
              <a:t>Record this as a </a:t>
            </a:r>
            <a:r>
              <a:rPr lang="en-US" sz="4400" b="1">
                <a:latin typeface="Arial"/>
                <a:cs typeface="Arial"/>
              </a:rPr>
              <a:t>decimal.</a:t>
            </a:r>
            <a:endParaRPr lang="en-US" sz="4400" b="1"/>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3E03FFC0-6E0A-A05F-B9DA-60172F35794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26" name="Picture 25" descr="A number line from 0 to 1 is shown below a rectangular bar divided into 10 equal parts. The first 6 parts are shaded blue, and the remaining 4 parts are shaded orange. ">
            <a:extLst>
              <a:ext uri="{FF2B5EF4-FFF2-40B4-BE49-F238E27FC236}">
                <a16:creationId xmlns:a16="http://schemas.microsoft.com/office/drawing/2014/main" id="{0F81366B-6731-E1E3-68F5-FEB525936DBC}"/>
              </a:ext>
            </a:extLst>
          </p:cNvPr>
          <p:cNvPicPr>
            <a:picLocks noChangeAspect="1"/>
          </p:cNvPicPr>
          <p:nvPr/>
        </p:nvPicPr>
        <p:blipFill>
          <a:blip r:embed="rId4"/>
          <a:stretch>
            <a:fillRect/>
          </a:stretch>
        </p:blipFill>
        <p:spPr>
          <a:xfrm>
            <a:off x="1373539" y="3921760"/>
            <a:ext cx="9444921" cy="2103081"/>
          </a:xfrm>
          <a:prstGeom prst="rect">
            <a:avLst/>
          </a:prstGeom>
        </p:spPr>
      </p:pic>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8B598472-9720-A705-623A-487E3FF7A7C8}"/>
              </a:ext>
            </a:extLst>
          </p:cNvPr>
          <p:cNvSpPr>
            <a:spLocks noGrp="1"/>
          </p:cNvSpPr>
          <p:nvPr>
            <p:ph type="pic" sz="quarter" idx="21"/>
          </p:nvPr>
        </p:nvSpPr>
        <p:spPr>
          <a:xfrm>
            <a:off x="596063" y="1471011"/>
            <a:ext cx="11243037" cy="3982731"/>
          </a:xfrm>
        </p:spPr>
        <p:txBody>
          <a:bodyPr/>
          <a:lstStyle/>
          <a:p>
            <a:pPr algn="ctr"/>
            <a:br>
              <a:rPr lang="en-US" sz="4400">
                <a:latin typeface="Arial"/>
                <a:cs typeface="Arial"/>
              </a:rPr>
            </a:br>
            <a:endParaRPr lang="en-US" sz="4400">
              <a:solidFill>
                <a:srgbClr val="22272B"/>
              </a:solidFill>
            </a:endParaRPr>
          </a:p>
          <a:p>
            <a:endParaRPr lang="en-US">
              <a:latin typeface="Arial"/>
              <a:cs typeface="Arial"/>
            </a:endParaRPr>
          </a:p>
        </p:txBody>
      </p:sp>
      <p:sp>
        <p:nvSpPr>
          <p:cNvPr id="6" name="Picture Placeholder 10">
            <a:extLst>
              <a:ext uri="{FF2B5EF4-FFF2-40B4-BE49-F238E27FC236}">
                <a16:creationId xmlns:a16="http://schemas.microsoft.com/office/drawing/2014/main" id="{84B27F89-4220-CBB0-A2BD-DF8B45274182}"/>
              </a:ext>
            </a:extLst>
          </p:cNvPr>
          <p:cNvSpPr txBox="1">
            <a:spLocks/>
          </p:cNvSpPr>
          <p:nvPr/>
        </p:nvSpPr>
        <p:spPr>
          <a:xfrm>
            <a:off x="358319" y="1934308"/>
            <a:ext cx="11243037" cy="195911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r>
              <a:rPr lang="en-US" sz="4400">
                <a:latin typeface="Arial"/>
                <a:cs typeface="Arial"/>
              </a:rPr>
            </a:br>
            <a:endParaRPr lang="en-US" sz="4400">
              <a:solidFill>
                <a:srgbClr val="22272B"/>
              </a:solidFill>
            </a:endParaRPr>
          </a:p>
          <a:p>
            <a:endParaRPr lang="en-US">
              <a:latin typeface="Arial"/>
              <a:cs typeface="Arial"/>
            </a:endParaRPr>
          </a:p>
        </p:txBody>
      </p:sp>
      <p:sp>
        <p:nvSpPr>
          <p:cNvPr id="8" name="Picture Placeholder 10">
            <a:extLst>
              <a:ext uri="{FF2B5EF4-FFF2-40B4-BE49-F238E27FC236}">
                <a16:creationId xmlns:a16="http://schemas.microsoft.com/office/drawing/2014/main" id="{C71FA276-C5C1-DB90-3082-41EDC65E643E}"/>
              </a:ext>
            </a:extLst>
          </p:cNvPr>
          <p:cNvSpPr txBox="1">
            <a:spLocks/>
          </p:cNvSpPr>
          <p:nvPr/>
        </p:nvSpPr>
        <p:spPr>
          <a:xfrm>
            <a:off x="742121" y="1647796"/>
            <a:ext cx="10288355" cy="4850204"/>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latin typeface="Arial"/>
                <a:cs typeface="Arial"/>
              </a:rPr>
              <a:t>Use </a:t>
            </a:r>
            <a:r>
              <a:rPr lang="en-AU" sz="4400" b="1" dirty="0">
                <a:latin typeface="Arial"/>
                <a:cs typeface="Arial"/>
              </a:rPr>
              <a:t>bridging the decades </a:t>
            </a:r>
            <a:r>
              <a:rPr lang="en-AU" sz="4400" dirty="0">
                <a:latin typeface="Arial"/>
                <a:cs typeface="Arial"/>
              </a:rPr>
              <a:t>to </a:t>
            </a:r>
            <a:r>
              <a:rPr lang="en-AU" sz="4400" b="1" dirty="0">
                <a:latin typeface="Arial"/>
                <a:cs typeface="Arial"/>
              </a:rPr>
              <a:t>mentally </a:t>
            </a:r>
            <a:r>
              <a:rPr lang="en-AU" sz="4400" dirty="0">
                <a:latin typeface="Arial"/>
                <a:cs typeface="Arial"/>
              </a:rPr>
              <a:t>solve 137 </a:t>
            </a:r>
            <a:r>
              <a:rPr lang="en-AU" sz="4400" dirty="0">
                <a:latin typeface="Cambria Math" panose="02040503050406030204" pitchFamily="18" charset="0"/>
                <a:ea typeface="Cambria Math" panose="02040503050406030204" pitchFamily="18" charset="0"/>
                <a:cs typeface="Arial"/>
              </a:rPr>
              <a:t>+ </a:t>
            </a:r>
            <a:r>
              <a:rPr lang="en-AU" sz="4400" dirty="0">
                <a:latin typeface="+mj-lt"/>
                <a:ea typeface="Cambria Math" panose="02040503050406030204" pitchFamily="18" charset="0"/>
                <a:cs typeface="Arial"/>
              </a:rPr>
              <a:t>28</a:t>
            </a:r>
          </a:p>
          <a:p>
            <a:pPr algn="ctr"/>
            <a:endParaRPr lang="en-AU" sz="4400" dirty="0">
              <a:latin typeface="+mj-lt"/>
              <a:ea typeface="Cambria Math" panose="02040503050406030204" pitchFamily="18" charset="0"/>
              <a:cs typeface="Arial"/>
            </a:endParaRPr>
          </a:p>
          <a:p>
            <a:pPr algn="ctr"/>
            <a:r>
              <a:rPr lang="en-AU" sz="4400" b="1" dirty="0">
                <a:latin typeface="+mj-lt"/>
                <a:ea typeface="Cambria Math" panose="02040503050406030204" pitchFamily="18" charset="0"/>
                <a:cs typeface="Arial"/>
              </a:rPr>
              <a:t>Explain your thinking</a:t>
            </a:r>
            <a:r>
              <a:rPr lang="en-AU" sz="4400" dirty="0">
                <a:latin typeface="+mj-lt"/>
                <a:ea typeface="Cambria Math" panose="02040503050406030204" pitchFamily="18" charset="0"/>
                <a:cs typeface="Arial"/>
              </a:rPr>
              <a:t>.</a:t>
            </a:r>
            <a:br>
              <a:rPr lang="en-US" sz="4400" dirty="0">
                <a:latin typeface="Arial"/>
                <a:cs typeface="Arial"/>
              </a:rPr>
            </a:br>
            <a:endParaRPr lang="en-US" sz="4400" dirty="0">
              <a:solidFill>
                <a:srgbClr val="22272B"/>
              </a:solidFill>
            </a:endParaRP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68EA503-53FA-A948-785F-ED4A432D9FB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4" name="TextBox 3">
            <a:extLst>
              <a:ext uri="{FF2B5EF4-FFF2-40B4-BE49-F238E27FC236}">
                <a16:creationId xmlns:a16="http://schemas.microsoft.com/office/drawing/2014/main" id="{ACE368C0-314C-A403-7607-31BE895B3C86}"/>
              </a:ext>
            </a:extLst>
          </p:cNvPr>
          <p:cNvSpPr txBox="1"/>
          <p:nvPr/>
        </p:nvSpPr>
        <p:spPr>
          <a:xfrm>
            <a:off x="669471" y="1089422"/>
            <a:ext cx="10933567" cy="5242757"/>
          </a:xfrm>
          <a:prstGeom prst="rect">
            <a:avLst/>
          </a:prstGeom>
          <a:noFill/>
        </p:spPr>
        <p:txBody>
          <a:bodyPr wrap="square" lIns="0" tIns="0" rIns="0" bIns="0" rtlCol="0">
            <a:noAutofit/>
          </a:bodyPr>
          <a:lstStyle/>
          <a:p>
            <a:pPr algn="ctr"/>
            <a:r>
              <a:rPr lang="en-AU" sz="3200" dirty="0"/>
              <a:t>Class 4W wanted to know what is their class’s </a:t>
            </a:r>
            <a:r>
              <a:rPr lang="en-AU" sz="3200" b="1" dirty="0"/>
              <a:t>favourite</a:t>
            </a:r>
            <a:r>
              <a:rPr lang="en-AU" sz="3200" dirty="0"/>
              <a:t> lunch. They created this question:</a:t>
            </a:r>
          </a:p>
          <a:p>
            <a:pPr algn="ctr"/>
            <a:endParaRPr lang="en-AU" sz="3600" dirty="0"/>
          </a:p>
          <a:p>
            <a:pPr algn="ctr"/>
            <a:r>
              <a:rPr lang="en-AU" sz="4000" dirty="0">
                <a:solidFill>
                  <a:schemeClr val="accent1">
                    <a:lumMod val="50000"/>
                    <a:lumOff val="50000"/>
                  </a:schemeClr>
                </a:solidFill>
              </a:rPr>
              <a:t>What lunch are you having today?</a:t>
            </a:r>
          </a:p>
          <a:p>
            <a:pPr algn="ctr"/>
            <a:endParaRPr lang="en-AU" sz="3600" dirty="0"/>
          </a:p>
          <a:p>
            <a:pPr algn="ctr"/>
            <a:r>
              <a:rPr lang="en-AU" sz="3200" dirty="0"/>
              <a:t>The first student they asked said ‘I have a vegemite sandwich. Yuck!’</a:t>
            </a:r>
          </a:p>
          <a:p>
            <a:pPr algn="ctr"/>
            <a:endParaRPr lang="en-AU" sz="3200" dirty="0"/>
          </a:p>
          <a:p>
            <a:pPr algn="ctr"/>
            <a:r>
              <a:rPr lang="en-AU" sz="3200" dirty="0"/>
              <a:t>How could they </a:t>
            </a:r>
            <a:r>
              <a:rPr lang="en-AU" sz="3200" b="1" dirty="0"/>
              <a:t>refine</a:t>
            </a:r>
            <a:r>
              <a:rPr lang="en-AU" sz="3200" dirty="0"/>
              <a:t> their question to better find out the class’s favourite lunch?</a:t>
            </a:r>
          </a:p>
        </p:txBody>
      </p:sp>
      <p:pic>
        <p:nvPicPr>
          <p:cNvPr id="5" name="Picture 4" descr="image of a clipboard with a pencil recording short answer responses">
            <a:extLst>
              <a:ext uri="{FF2B5EF4-FFF2-40B4-BE49-F238E27FC236}">
                <a16:creationId xmlns:a16="http://schemas.microsoft.com/office/drawing/2014/main" id="{67A30562-E1FE-0A17-E004-1B27CE78EE7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1 – How many tiles?</a:t>
            </a:r>
          </a:p>
        </p:txBody>
      </p:sp>
      <p:grpSp>
        <p:nvGrpSpPr>
          <p:cNvPr id="4" name="Group 5" descr="A picture of tiles with 5 horizontal and 6 vertical to form a partial grid. There are tiles missing. &#10;">
            <a:extLst>
              <a:ext uri="{FF2B5EF4-FFF2-40B4-BE49-F238E27FC236}">
                <a16:creationId xmlns:a16="http://schemas.microsoft.com/office/drawing/2014/main" id="{C65710D7-BBFF-E68A-A22C-34ED4A02AD45}"/>
              </a:ext>
            </a:extLst>
          </p:cNvPr>
          <p:cNvGrpSpPr/>
          <p:nvPr/>
        </p:nvGrpSpPr>
        <p:grpSpPr>
          <a:xfrm>
            <a:off x="1693332" y="1180764"/>
            <a:ext cx="4402668" cy="5425236"/>
            <a:chOff x="0" y="0"/>
            <a:chExt cx="8100741" cy="9444722"/>
          </a:xfrm>
        </p:grpSpPr>
        <p:grpSp>
          <p:nvGrpSpPr>
            <p:cNvPr id="5" name="Group 6">
              <a:extLst>
                <a:ext uri="{FF2B5EF4-FFF2-40B4-BE49-F238E27FC236}">
                  <a16:creationId xmlns:a16="http://schemas.microsoft.com/office/drawing/2014/main" id="{D645AE77-CCB5-93CA-74FD-ABA832FE0C25}"/>
                </a:ext>
              </a:extLst>
            </p:cNvPr>
            <p:cNvGrpSpPr/>
            <p:nvPr/>
          </p:nvGrpSpPr>
          <p:grpSpPr>
            <a:xfrm>
              <a:off x="0" y="0"/>
              <a:ext cx="1620148" cy="1574120"/>
              <a:chOff x="0" y="0"/>
              <a:chExt cx="435468" cy="423097"/>
            </a:xfrm>
          </p:grpSpPr>
          <p:sp>
            <p:nvSpPr>
              <p:cNvPr id="33" name="Freeform 7">
                <a:extLst>
                  <a:ext uri="{FF2B5EF4-FFF2-40B4-BE49-F238E27FC236}">
                    <a16:creationId xmlns:a16="http://schemas.microsoft.com/office/drawing/2014/main" id="{1DCDEE80-1075-E3FE-4B96-FC09F83487B6}"/>
                  </a:ext>
                </a:extLst>
              </p:cNvPr>
              <p:cNvSpPr/>
              <p:nvPr/>
            </p:nvSpPr>
            <p:spPr>
              <a:xfrm>
                <a:off x="0" y="0"/>
                <a:ext cx="435468" cy="423097"/>
              </a:xfrm>
              <a:custGeom>
                <a:avLst/>
                <a:gdLst/>
                <a:ahLst/>
                <a:cxnLst/>
                <a:rect l="l" t="t" r="r" b="b"/>
                <a:pathLst>
                  <a:path w="435468" h="423097">
                    <a:moveTo>
                      <a:pt x="0" y="0"/>
                    </a:moveTo>
                    <a:lnTo>
                      <a:pt x="435468" y="0"/>
                    </a:lnTo>
                    <a:lnTo>
                      <a:pt x="435468" y="423097"/>
                    </a:lnTo>
                    <a:lnTo>
                      <a:pt x="0" y="423097"/>
                    </a:lnTo>
                    <a:close/>
                  </a:path>
                </a:pathLst>
              </a:custGeom>
              <a:solidFill>
                <a:srgbClr val="004AAD"/>
              </a:solidFill>
              <a:ln w="38100" cap="sq">
                <a:solidFill>
                  <a:srgbClr val="000000"/>
                </a:solidFill>
                <a:prstDash val="solid"/>
                <a:miter/>
              </a:ln>
            </p:spPr>
            <p:txBody>
              <a:bodyPr/>
              <a:lstStyle/>
              <a:p>
                <a:pPr defTabSz="914400"/>
                <a:endParaRPr lang="en-AU" sz="1800">
                  <a:solidFill>
                    <a:prstClr val="black"/>
                  </a:solidFill>
                  <a:latin typeface="Calibri"/>
                </a:endParaRPr>
              </a:p>
            </p:txBody>
          </p:sp>
          <p:sp>
            <p:nvSpPr>
              <p:cNvPr id="34" name="TextBox 8">
                <a:extLst>
                  <a:ext uri="{FF2B5EF4-FFF2-40B4-BE49-F238E27FC236}">
                    <a16:creationId xmlns:a16="http://schemas.microsoft.com/office/drawing/2014/main" id="{FEC1A7C2-B96C-6511-3A09-5D7C4AF4B32D}"/>
                  </a:ext>
                </a:extLst>
              </p:cNvPr>
              <p:cNvSpPr txBox="1"/>
              <p:nvPr/>
            </p:nvSpPr>
            <p:spPr>
              <a:xfrm>
                <a:off x="0" y="-28575"/>
                <a:ext cx="435468" cy="451672"/>
              </a:xfrm>
              <a:prstGeom prst="rect">
                <a:avLst/>
              </a:prstGeom>
            </p:spPr>
            <p:txBody>
              <a:bodyPr lIns="50800" tIns="50800" rIns="50800" bIns="50800" rtlCol="0" anchor="ctr"/>
              <a:lstStyle/>
              <a:p>
                <a:pPr algn="ctr" defTabSz="914400">
                  <a:lnSpc>
                    <a:spcPts val="1960"/>
                  </a:lnSpc>
                  <a:spcBef>
                    <a:spcPct val="0"/>
                  </a:spcBef>
                </a:pPr>
                <a:endParaRPr sz="1800">
                  <a:solidFill>
                    <a:prstClr val="black"/>
                  </a:solidFill>
                  <a:latin typeface="Calibri"/>
                </a:endParaRPr>
              </a:p>
            </p:txBody>
          </p:sp>
        </p:grpSp>
        <p:grpSp>
          <p:nvGrpSpPr>
            <p:cNvPr id="6" name="Group 9">
              <a:extLst>
                <a:ext uri="{FF2B5EF4-FFF2-40B4-BE49-F238E27FC236}">
                  <a16:creationId xmlns:a16="http://schemas.microsoft.com/office/drawing/2014/main" id="{F83FFABA-2F86-410A-457E-F2B60B45AF96}"/>
                </a:ext>
              </a:extLst>
            </p:cNvPr>
            <p:cNvGrpSpPr/>
            <p:nvPr/>
          </p:nvGrpSpPr>
          <p:grpSpPr>
            <a:xfrm>
              <a:off x="0" y="1574120"/>
              <a:ext cx="1620148" cy="1574120"/>
              <a:chOff x="0" y="0"/>
              <a:chExt cx="435468" cy="423097"/>
            </a:xfrm>
          </p:grpSpPr>
          <p:sp>
            <p:nvSpPr>
              <p:cNvPr id="31" name="Freeform 10">
                <a:extLst>
                  <a:ext uri="{FF2B5EF4-FFF2-40B4-BE49-F238E27FC236}">
                    <a16:creationId xmlns:a16="http://schemas.microsoft.com/office/drawing/2014/main" id="{0D09DFF7-E0CA-4C03-4875-0C7672C84EBD}"/>
                  </a:ext>
                </a:extLst>
              </p:cNvPr>
              <p:cNvSpPr/>
              <p:nvPr/>
            </p:nvSpPr>
            <p:spPr>
              <a:xfrm>
                <a:off x="0" y="0"/>
                <a:ext cx="435468" cy="423097"/>
              </a:xfrm>
              <a:custGeom>
                <a:avLst/>
                <a:gdLst/>
                <a:ahLst/>
                <a:cxnLst/>
                <a:rect l="l" t="t" r="r" b="b"/>
                <a:pathLst>
                  <a:path w="435468" h="423097">
                    <a:moveTo>
                      <a:pt x="0" y="0"/>
                    </a:moveTo>
                    <a:lnTo>
                      <a:pt x="435468" y="0"/>
                    </a:lnTo>
                    <a:lnTo>
                      <a:pt x="435468" y="423097"/>
                    </a:lnTo>
                    <a:lnTo>
                      <a:pt x="0" y="423097"/>
                    </a:lnTo>
                    <a:close/>
                  </a:path>
                </a:pathLst>
              </a:custGeom>
              <a:solidFill>
                <a:srgbClr val="004AAD"/>
              </a:solidFill>
              <a:ln w="38100" cap="sq">
                <a:solidFill>
                  <a:srgbClr val="000000"/>
                </a:solidFill>
                <a:prstDash val="solid"/>
                <a:miter/>
              </a:ln>
            </p:spPr>
            <p:txBody>
              <a:bodyPr/>
              <a:lstStyle/>
              <a:p>
                <a:pPr defTabSz="914400"/>
                <a:endParaRPr lang="en-AU" sz="1800">
                  <a:solidFill>
                    <a:prstClr val="black"/>
                  </a:solidFill>
                  <a:latin typeface="Calibri"/>
                </a:endParaRPr>
              </a:p>
            </p:txBody>
          </p:sp>
          <p:sp>
            <p:nvSpPr>
              <p:cNvPr id="32" name="TextBox 11">
                <a:extLst>
                  <a:ext uri="{FF2B5EF4-FFF2-40B4-BE49-F238E27FC236}">
                    <a16:creationId xmlns:a16="http://schemas.microsoft.com/office/drawing/2014/main" id="{A1E05B37-89BF-A434-8F33-01C91C876097}"/>
                  </a:ext>
                </a:extLst>
              </p:cNvPr>
              <p:cNvSpPr txBox="1"/>
              <p:nvPr/>
            </p:nvSpPr>
            <p:spPr>
              <a:xfrm>
                <a:off x="0" y="-28575"/>
                <a:ext cx="435468" cy="451672"/>
              </a:xfrm>
              <a:prstGeom prst="rect">
                <a:avLst/>
              </a:prstGeom>
            </p:spPr>
            <p:txBody>
              <a:bodyPr lIns="50800" tIns="50800" rIns="50800" bIns="50800" rtlCol="0" anchor="ctr"/>
              <a:lstStyle/>
              <a:p>
                <a:pPr algn="ctr" defTabSz="914400">
                  <a:lnSpc>
                    <a:spcPts val="1960"/>
                  </a:lnSpc>
                  <a:spcBef>
                    <a:spcPct val="0"/>
                  </a:spcBef>
                </a:pPr>
                <a:endParaRPr sz="1800">
                  <a:solidFill>
                    <a:prstClr val="black"/>
                  </a:solidFill>
                  <a:latin typeface="Calibri"/>
                </a:endParaRPr>
              </a:p>
            </p:txBody>
          </p:sp>
        </p:grpSp>
        <p:grpSp>
          <p:nvGrpSpPr>
            <p:cNvPr id="7" name="Group 12">
              <a:extLst>
                <a:ext uri="{FF2B5EF4-FFF2-40B4-BE49-F238E27FC236}">
                  <a16:creationId xmlns:a16="http://schemas.microsoft.com/office/drawing/2014/main" id="{5A63B617-C9C7-CB0B-C27C-3C23A0457E63}"/>
                </a:ext>
              </a:extLst>
            </p:cNvPr>
            <p:cNvGrpSpPr/>
            <p:nvPr/>
          </p:nvGrpSpPr>
          <p:grpSpPr>
            <a:xfrm>
              <a:off x="0" y="3148241"/>
              <a:ext cx="1620148" cy="1574120"/>
              <a:chOff x="0" y="0"/>
              <a:chExt cx="435468" cy="423097"/>
            </a:xfrm>
          </p:grpSpPr>
          <p:sp>
            <p:nvSpPr>
              <p:cNvPr id="29" name="Freeform 13">
                <a:extLst>
                  <a:ext uri="{FF2B5EF4-FFF2-40B4-BE49-F238E27FC236}">
                    <a16:creationId xmlns:a16="http://schemas.microsoft.com/office/drawing/2014/main" id="{89F26C05-E1FC-DE70-6A05-6C8C75B7298C}"/>
                  </a:ext>
                </a:extLst>
              </p:cNvPr>
              <p:cNvSpPr/>
              <p:nvPr/>
            </p:nvSpPr>
            <p:spPr>
              <a:xfrm>
                <a:off x="0" y="0"/>
                <a:ext cx="435468" cy="423097"/>
              </a:xfrm>
              <a:custGeom>
                <a:avLst/>
                <a:gdLst/>
                <a:ahLst/>
                <a:cxnLst/>
                <a:rect l="l" t="t" r="r" b="b"/>
                <a:pathLst>
                  <a:path w="435468" h="423097">
                    <a:moveTo>
                      <a:pt x="0" y="0"/>
                    </a:moveTo>
                    <a:lnTo>
                      <a:pt x="435468" y="0"/>
                    </a:lnTo>
                    <a:lnTo>
                      <a:pt x="435468" y="423097"/>
                    </a:lnTo>
                    <a:lnTo>
                      <a:pt x="0" y="423097"/>
                    </a:lnTo>
                    <a:close/>
                  </a:path>
                </a:pathLst>
              </a:custGeom>
              <a:solidFill>
                <a:srgbClr val="004AAD"/>
              </a:solidFill>
              <a:ln w="38100" cap="sq">
                <a:solidFill>
                  <a:srgbClr val="000000"/>
                </a:solidFill>
                <a:prstDash val="solid"/>
                <a:miter/>
              </a:ln>
            </p:spPr>
            <p:txBody>
              <a:bodyPr/>
              <a:lstStyle/>
              <a:p>
                <a:pPr defTabSz="914400"/>
                <a:endParaRPr lang="en-AU" sz="1800">
                  <a:solidFill>
                    <a:prstClr val="black"/>
                  </a:solidFill>
                  <a:latin typeface="Calibri"/>
                </a:endParaRPr>
              </a:p>
            </p:txBody>
          </p:sp>
          <p:sp>
            <p:nvSpPr>
              <p:cNvPr id="30" name="TextBox 14">
                <a:extLst>
                  <a:ext uri="{FF2B5EF4-FFF2-40B4-BE49-F238E27FC236}">
                    <a16:creationId xmlns:a16="http://schemas.microsoft.com/office/drawing/2014/main" id="{C98B5158-182C-56C2-2D50-4EBE1F72774C}"/>
                  </a:ext>
                </a:extLst>
              </p:cNvPr>
              <p:cNvSpPr txBox="1"/>
              <p:nvPr/>
            </p:nvSpPr>
            <p:spPr>
              <a:xfrm>
                <a:off x="0" y="-28575"/>
                <a:ext cx="435468" cy="451672"/>
              </a:xfrm>
              <a:prstGeom prst="rect">
                <a:avLst/>
              </a:prstGeom>
            </p:spPr>
            <p:txBody>
              <a:bodyPr lIns="50800" tIns="50800" rIns="50800" bIns="50800" rtlCol="0" anchor="ctr"/>
              <a:lstStyle/>
              <a:p>
                <a:pPr algn="ctr" defTabSz="914400">
                  <a:lnSpc>
                    <a:spcPts val="1960"/>
                  </a:lnSpc>
                  <a:spcBef>
                    <a:spcPct val="0"/>
                  </a:spcBef>
                </a:pPr>
                <a:endParaRPr sz="1800">
                  <a:solidFill>
                    <a:prstClr val="black"/>
                  </a:solidFill>
                  <a:latin typeface="Calibri"/>
                </a:endParaRPr>
              </a:p>
            </p:txBody>
          </p:sp>
        </p:grpSp>
        <p:grpSp>
          <p:nvGrpSpPr>
            <p:cNvPr id="8" name="Group 15">
              <a:extLst>
                <a:ext uri="{FF2B5EF4-FFF2-40B4-BE49-F238E27FC236}">
                  <a16:creationId xmlns:a16="http://schemas.microsoft.com/office/drawing/2014/main" id="{A8A3A70E-910A-BFA3-956A-8FDA0D17B601}"/>
                </a:ext>
              </a:extLst>
            </p:cNvPr>
            <p:cNvGrpSpPr/>
            <p:nvPr/>
          </p:nvGrpSpPr>
          <p:grpSpPr>
            <a:xfrm>
              <a:off x="0" y="4722361"/>
              <a:ext cx="1620148" cy="1574120"/>
              <a:chOff x="0" y="0"/>
              <a:chExt cx="435468" cy="423097"/>
            </a:xfrm>
          </p:grpSpPr>
          <p:sp>
            <p:nvSpPr>
              <p:cNvPr id="27" name="Freeform 16">
                <a:extLst>
                  <a:ext uri="{FF2B5EF4-FFF2-40B4-BE49-F238E27FC236}">
                    <a16:creationId xmlns:a16="http://schemas.microsoft.com/office/drawing/2014/main" id="{70CD6C97-2F6F-9E3C-8CE8-2D1F31831F69}"/>
                  </a:ext>
                </a:extLst>
              </p:cNvPr>
              <p:cNvSpPr/>
              <p:nvPr/>
            </p:nvSpPr>
            <p:spPr>
              <a:xfrm>
                <a:off x="0" y="0"/>
                <a:ext cx="435468" cy="423097"/>
              </a:xfrm>
              <a:custGeom>
                <a:avLst/>
                <a:gdLst/>
                <a:ahLst/>
                <a:cxnLst/>
                <a:rect l="l" t="t" r="r" b="b"/>
                <a:pathLst>
                  <a:path w="435468" h="423097">
                    <a:moveTo>
                      <a:pt x="0" y="0"/>
                    </a:moveTo>
                    <a:lnTo>
                      <a:pt x="435468" y="0"/>
                    </a:lnTo>
                    <a:lnTo>
                      <a:pt x="435468" y="423097"/>
                    </a:lnTo>
                    <a:lnTo>
                      <a:pt x="0" y="423097"/>
                    </a:lnTo>
                    <a:close/>
                  </a:path>
                </a:pathLst>
              </a:custGeom>
              <a:solidFill>
                <a:srgbClr val="004AAD"/>
              </a:solidFill>
              <a:ln w="38100" cap="sq">
                <a:solidFill>
                  <a:srgbClr val="000000"/>
                </a:solidFill>
                <a:prstDash val="solid"/>
                <a:miter/>
              </a:ln>
            </p:spPr>
            <p:txBody>
              <a:bodyPr/>
              <a:lstStyle/>
              <a:p>
                <a:pPr defTabSz="914400"/>
                <a:endParaRPr lang="en-AU" sz="1800">
                  <a:solidFill>
                    <a:prstClr val="black"/>
                  </a:solidFill>
                  <a:latin typeface="Calibri"/>
                </a:endParaRPr>
              </a:p>
            </p:txBody>
          </p:sp>
          <p:sp>
            <p:nvSpPr>
              <p:cNvPr id="28" name="TextBox 17">
                <a:extLst>
                  <a:ext uri="{FF2B5EF4-FFF2-40B4-BE49-F238E27FC236}">
                    <a16:creationId xmlns:a16="http://schemas.microsoft.com/office/drawing/2014/main" id="{B8F8CB7C-BA23-E42B-9D73-8FAFBFBC805B}"/>
                  </a:ext>
                </a:extLst>
              </p:cNvPr>
              <p:cNvSpPr txBox="1"/>
              <p:nvPr/>
            </p:nvSpPr>
            <p:spPr>
              <a:xfrm>
                <a:off x="0" y="-28575"/>
                <a:ext cx="435468" cy="451672"/>
              </a:xfrm>
              <a:prstGeom prst="rect">
                <a:avLst/>
              </a:prstGeom>
            </p:spPr>
            <p:txBody>
              <a:bodyPr lIns="50800" tIns="50800" rIns="50800" bIns="50800" rtlCol="0" anchor="ctr"/>
              <a:lstStyle/>
              <a:p>
                <a:pPr algn="ctr" defTabSz="914400">
                  <a:lnSpc>
                    <a:spcPts val="1960"/>
                  </a:lnSpc>
                  <a:spcBef>
                    <a:spcPct val="0"/>
                  </a:spcBef>
                </a:pPr>
                <a:endParaRPr sz="1800">
                  <a:solidFill>
                    <a:prstClr val="black"/>
                  </a:solidFill>
                  <a:latin typeface="Calibri"/>
                </a:endParaRPr>
              </a:p>
            </p:txBody>
          </p:sp>
        </p:grpSp>
        <p:grpSp>
          <p:nvGrpSpPr>
            <p:cNvPr id="9" name="Group 18">
              <a:extLst>
                <a:ext uri="{FF2B5EF4-FFF2-40B4-BE49-F238E27FC236}">
                  <a16:creationId xmlns:a16="http://schemas.microsoft.com/office/drawing/2014/main" id="{7A0BF211-DA50-F34A-450B-0F20ED467B33}"/>
                </a:ext>
              </a:extLst>
            </p:cNvPr>
            <p:cNvGrpSpPr/>
            <p:nvPr/>
          </p:nvGrpSpPr>
          <p:grpSpPr>
            <a:xfrm>
              <a:off x="0" y="6296481"/>
              <a:ext cx="1620148" cy="1574120"/>
              <a:chOff x="0" y="0"/>
              <a:chExt cx="435468" cy="423097"/>
            </a:xfrm>
          </p:grpSpPr>
          <p:sp>
            <p:nvSpPr>
              <p:cNvPr id="25" name="Freeform 19">
                <a:extLst>
                  <a:ext uri="{FF2B5EF4-FFF2-40B4-BE49-F238E27FC236}">
                    <a16:creationId xmlns:a16="http://schemas.microsoft.com/office/drawing/2014/main" id="{7EA96084-471E-8CA8-392F-E02150D1693C}"/>
                  </a:ext>
                </a:extLst>
              </p:cNvPr>
              <p:cNvSpPr/>
              <p:nvPr/>
            </p:nvSpPr>
            <p:spPr>
              <a:xfrm>
                <a:off x="0" y="0"/>
                <a:ext cx="435468" cy="423097"/>
              </a:xfrm>
              <a:custGeom>
                <a:avLst/>
                <a:gdLst/>
                <a:ahLst/>
                <a:cxnLst/>
                <a:rect l="l" t="t" r="r" b="b"/>
                <a:pathLst>
                  <a:path w="435468" h="423097">
                    <a:moveTo>
                      <a:pt x="0" y="0"/>
                    </a:moveTo>
                    <a:lnTo>
                      <a:pt x="435468" y="0"/>
                    </a:lnTo>
                    <a:lnTo>
                      <a:pt x="435468" y="423097"/>
                    </a:lnTo>
                    <a:lnTo>
                      <a:pt x="0" y="423097"/>
                    </a:lnTo>
                    <a:close/>
                  </a:path>
                </a:pathLst>
              </a:custGeom>
              <a:solidFill>
                <a:srgbClr val="004AAD"/>
              </a:solidFill>
              <a:ln w="38100" cap="sq">
                <a:solidFill>
                  <a:srgbClr val="000000"/>
                </a:solidFill>
                <a:prstDash val="solid"/>
                <a:miter/>
              </a:ln>
            </p:spPr>
            <p:txBody>
              <a:bodyPr/>
              <a:lstStyle/>
              <a:p>
                <a:pPr defTabSz="914400"/>
                <a:endParaRPr lang="en-AU" sz="1800">
                  <a:solidFill>
                    <a:prstClr val="black"/>
                  </a:solidFill>
                  <a:latin typeface="Calibri"/>
                </a:endParaRPr>
              </a:p>
            </p:txBody>
          </p:sp>
          <p:sp>
            <p:nvSpPr>
              <p:cNvPr id="26" name="TextBox 20">
                <a:extLst>
                  <a:ext uri="{FF2B5EF4-FFF2-40B4-BE49-F238E27FC236}">
                    <a16:creationId xmlns:a16="http://schemas.microsoft.com/office/drawing/2014/main" id="{2CD71830-67B3-8F50-51DC-2F2D7160B991}"/>
                  </a:ext>
                </a:extLst>
              </p:cNvPr>
              <p:cNvSpPr txBox="1"/>
              <p:nvPr/>
            </p:nvSpPr>
            <p:spPr>
              <a:xfrm>
                <a:off x="0" y="-28575"/>
                <a:ext cx="435468" cy="451672"/>
              </a:xfrm>
              <a:prstGeom prst="rect">
                <a:avLst/>
              </a:prstGeom>
            </p:spPr>
            <p:txBody>
              <a:bodyPr lIns="50800" tIns="50800" rIns="50800" bIns="50800" rtlCol="0" anchor="ctr"/>
              <a:lstStyle/>
              <a:p>
                <a:pPr algn="ctr" defTabSz="914400">
                  <a:lnSpc>
                    <a:spcPts val="1960"/>
                  </a:lnSpc>
                  <a:spcBef>
                    <a:spcPct val="0"/>
                  </a:spcBef>
                </a:pPr>
                <a:endParaRPr sz="1800">
                  <a:solidFill>
                    <a:prstClr val="black"/>
                  </a:solidFill>
                  <a:latin typeface="Calibri"/>
                </a:endParaRPr>
              </a:p>
            </p:txBody>
          </p:sp>
        </p:grpSp>
        <p:grpSp>
          <p:nvGrpSpPr>
            <p:cNvPr id="10" name="Group 21">
              <a:extLst>
                <a:ext uri="{FF2B5EF4-FFF2-40B4-BE49-F238E27FC236}">
                  <a16:creationId xmlns:a16="http://schemas.microsoft.com/office/drawing/2014/main" id="{1267FFB7-A4C4-005C-90BD-85D0FE9438AE}"/>
                </a:ext>
              </a:extLst>
            </p:cNvPr>
            <p:cNvGrpSpPr/>
            <p:nvPr/>
          </p:nvGrpSpPr>
          <p:grpSpPr>
            <a:xfrm>
              <a:off x="0" y="7870601"/>
              <a:ext cx="1620148" cy="1574120"/>
              <a:chOff x="0" y="0"/>
              <a:chExt cx="435468" cy="423097"/>
            </a:xfrm>
          </p:grpSpPr>
          <p:sp>
            <p:nvSpPr>
              <p:cNvPr id="23" name="Freeform 22">
                <a:extLst>
                  <a:ext uri="{FF2B5EF4-FFF2-40B4-BE49-F238E27FC236}">
                    <a16:creationId xmlns:a16="http://schemas.microsoft.com/office/drawing/2014/main" id="{03719C70-9099-6075-E967-72F781F327AF}"/>
                  </a:ext>
                </a:extLst>
              </p:cNvPr>
              <p:cNvSpPr/>
              <p:nvPr/>
            </p:nvSpPr>
            <p:spPr>
              <a:xfrm>
                <a:off x="0" y="0"/>
                <a:ext cx="435468" cy="423097"/>
              </a:xfrm>
              <a:custGeom>
                <a:avLst/>
                <a:gdLst/>
                <a:ahLst/>
                <a:cxnLst/>
                <a:rect l="l" t="t" r="r" b="b"/>
                <a:pathLst>
                  <a:path w="435468" h="423097">
                    <a:moveTo>
                      <a:pt x="0" y="0"/>
                    </a:moveTo>
                    <a:lnTo>
                      <a:pt x="435468" y="0"/>
                    </a:lnTo>
                    <a:lnTo>
                      <a:pt x="435468" y="423097"/>
                    </a:lnTo>
                    <a:lnTo>
                      <a:pt x="0" y="423097"/>
                    </a:lnTo>
                    <a:close/>
                  </a:path>
                </a:pathLst>
              </a:custGeom>
              <a:solidFill>
                <a:srgbClr val="004AAD"/>
              </a:solidFill>
              <a:ln w="38100" cap="sq">
                <a:solidFill>
                  <a:srgbClr val="000000"/>
                </a:solidFill>
                <a:prstDash val="solid"/>
                <a:miter/>
              </a:ln>
            </p:spPr>
            <p:txBody>
              <a:bodyPr/>
              <a:lstStyle/>
              <a:p>
                <a:pPr defTabSz="914400"/>
                <a:endParaRPr lang="en-AU" sz="1800">
                  <a:solidFill>
                    <a:prstClr val="black"/>
                  </a:solidFill>
                  <a:latin typeface="Calibri"/>
                </a:endParaRPr>
              </a:p>
            </p:txBody>
          </p:sp>
          <p:sp>
            <p:nvSpPr>
              <p:cNvPr id="24" name="TextBox 23">
                <a:extLst>
                  <a:ext uri="{FF2B5EF4-FFF2-40B4-BE49-F238E27FC236}">
                    <a16:creationId xmlns:a16="http://schemas.microsoft.com/office/drawing/2014/main" id="{C7C05896-DD42-D95B-32A3-D9CF6AA3F3D9}"/>
                  </a:ext>
                </a:extLst>
              </p:cNvPr>
              <p:cNvSpPr txBox="1"/>
              <p:nvPr/>
            </p:nvSpPr>
            <p:spPr>
              <a:xfrm>
                <a:off x="0" y="-28575"/>
                <a:ext cx="435468" cy="451672"/>
              </a:xfrm>
              <a:prstGeom prst="rect">
                <a:avLst/>
              </a:prstGeom>
            </p:spPr>
            <p:txBody>
              <a:bodyPr lIns="50800" tIns="50800" rIns="50800" bIns="50800" rtlCol="0" anchor="ctr"/>
              <a:lstStyle/>
              <a:p>
                <a:pPr algn="ctr" defTabSz="914400">
                  <a:lnSpc>
                    <a:spcPts val="1960"/>
                  </a:lnSpc>
                  <a:spcBef>
                    <a:spcPct val="0"/>
                  </a:spcBef>
                </a:pPr>
                <a:endParaRPr sz="1800">
                  <a:solidFill>
                    <a:prstClr val="black"/>
                  </a:solidFill>
                  <a:latin typeface="Calibri"/>
                </a:endParaRPr>
              </a:p>
            </p:txBody>
          </p:sp>
        </p:grpSp>
        <p:grpSp>
          <p:nvGrpSpPr>
            <p:cNvPr id="11" name="Group 24">
              <a:extLst>
                <a:ext uri="{FF2B5EF4-FFF2-40B4-BE49-F238E27FC236}">
                  <a16:creationId xmlns:a16="http://schemas.microsoft.com/office/drawing/2014/main" id="{96F3590D-399B-267A-B5FF-549D57784FE0}"/>
                </a:ext>
              </a:extLst>
            </p:cNvPr>
            <p:cNvGrpSpPr/>
            <p:nvPr/>
          </p:nvGrpSpPr>
          <p:grpSpPr>
            <a:xfrm>
              <a:off x="1620148" y="0"/>
              <a:ext cx="1620148" cy="1574120"/>
              <a:chOff x="0" y="0"/>
              <a:chExt cx="435468" cy="423097"/>
            </a:xfrm>
          </p:grpSpPr>
          <p:sp>
            <p:nvSpPr>
              <p:cNvPr id="21" name="Freeform 25">
                <a:extLst>
                  <a:ext uri="{FF2B5EF4-FFF2-40B4-BE49-F238E27FC236}">
                    <a16:creationId xmlns:a16="http://schemas.microsoft.com/office/drawing/2014/main" id="{BAA4C85E-6ACB-BA1E-A0E3-BDF85F46FA14}"/>
                  </a:ext>
                </a:extLst>
              </p:cNvPr>
              <p:cNvSpPr/>
              <p:nvPr/>
            </p:nvSpPr>
            <p:spPr>
              <a:xfrm>
                <a:off x="0" y="0"/>
                <a:ext cx="435468" cy="423097"/>
              </a:xfrm>
              <a:custGeom>
                <a:avLst/>
                <a:gdLst/>
                <a:ahLst/>
                <a:cxnLst/>
                <a:rect l="l" t="t" r="r" b="b"/>
                <a:pathLst>
                  <a:path w="435468" h="423097">
                    <a:moveTo>
                      <a:pt x="0" y="0"/>
                    </a:moveTo>
                    <a:lnTo>
                      <a:pt x="435468" y="0"/>
                    </a:lnTo>
                    <a:lnTo>
                      <a:pt x="435468" y="423097"/>
                    </a:lnTo>
                    <a:lnTo>
                      <a:pt x="0" y="423097"/>
                    </a:lnTo>
                    <a:close/>
                  </a:path>
                </a:pathLst>
              </a:custGeom>
              <a:solidFill>
                <a:srgbClr val="004AAD"/>
              </a:solidFill>
              <a:ln w="38100" cap="sq">
                <a:solidFill>
                  <a:srgbClr val="000000"/>
                </a:solidFill>
                <a:prstDash val="solid"/>
                <a:miter/>
              </a:ln>
            </p:spPr>
            <p:txBody>
              <a:bodyPr/>
              <a:lstStyle/>
              <a:p>
                <a:pPr defTabSz="914400"/>
                <a:endParaRPr lang="en-AU" sz="1800">
                  <a:solidFill>
                    <a:prstClr val="black"/>
                  </a:solidFill>
                  <a:latin typeface="Calibri"/>
                </a:endParaRPr>
              </a:p>
            </p:txBody>
          </p:sp>
          <p:sp>
            <p:nvSpPr>
              <p:cNvPr id="22" name="TextBox 26">
                <a:extLst>
                  <a:ext uri="{FF2B5EF4-FFF2-40B4-BE49-F238E27FC236}">
                    <a16:creationId xmlns:a16="http://schemas.microsoft.com/office/drawing/2014/main" id="{C9F3E181-4E78-5846-AC94-15C2A4435649}"/>
                  </a:ext>
                </a:extLst>
              </p:cNvPr>
              <p:cNvSpPr txBox="1"/>
              <p:nvPr/>
            </p:nvSpPr>
            <p:spPr>
              <a:xfrm>
                <a:off x="0" y="-28575"/>
                <a:ext cx="435468" cy="451672"/>
              </a:xfrm>
              <a:prstGeom prst="rect">
                <a:avLst/>
              </a:prstGeom>
            </p:spPr>
            <p:txBody>
              <a:bodyPr lIns="50800" tIns="50800" rIns="50800" bIns="50800" rtlCol="0" anchor="ctr"/>
              <a:lstStyle/>
              <a:p>
                <a:pPr algn="ctr" defTabSz="914400">
                  <a:lnSpc>
                    <a:spcPts val="1960"/>
                  </a:lnSpc>
                  <a:spcBef>
                    <a:spcPct val="0"/>
                  </a:spcBef>
                </a:pPr>
                <a:endParaRPr sz="1800">
                  <a:solidFill>
                    <a:prstClr val="black"/>
                  </a:solidFill>
                  <a:latin typeface="Calibri"/>
                </a:endParaRPr>
              </a:p>
            </p:txBody>
          </p:sp>
        </p:grpSp>
        <p:grpSp>
          <p:nvGrpSpPr>
            <p:cNvPr id="12" name="Group 27">
              <a:extLst>
                <a:ext uri="{FF2B5EF4-FFF2-40B4-BE49-F238E27FC236}">
                  <a16:creationId xmlns:a16="http://schemas.microsoft.com/office/drawing/2014/main" id="{BDA5C84D-C547-EAEB-73C2-E5A8F47506B0}"/>
                </a:ext>
              </a:extLst>
            </p:cNvPr>
            <p:cNvGrpSpPr/>
            <p:nvPr/>
          </p:nvGrpSpPr>
          <p:grpSpPr>
            <a:xfrm>
              <a:off x="3240296" y="0"/>
              <a:ext cx="1620148" cy="1574120"/>
              <a:chOff x="0" y="0"/>
              <a:chExt cx="435468" cy="423097"/>
            </a:xfrm>
          </p:grpSpPr>
          <p:sp>
            <p:nvSpPr>
              <p:cNvPr id="19" name="Freeform 28">
                <a:extLst>
                  <a:ext uri="{FF2B5EF4-FFF2-40B4-BE49-F238E27FC236}">
                    <a16:creationId xmlns:a16="http://schemas.microsoft.com/office/drawing/2014/main" id="{F3EF8999-B560-011D-74E2-83F04D436698}"/>
                  </a:ext>
                </a:extLst>
              </p:cNvPr>
              <p:cNvSpPr/>
              <p:nvPr/>
            </p:nvSpPr>
            <p:spPr>
              <a:xfrm>
                <a:off x="0" y="0"/>
                <a:ext cx="435468" cy="423097"/>
              </a:xfrm>
              <a:custGeom>
                <a:avLst/>
                <a:gdLst/>
                <a:ahLst/>
                <a:cxnLst/>
                <a:rect l="l" t="t" r="r" b="b"/>
                <a:pathLst>
                  <a:path w="435468" h="423097">
                    <a:moveTo>
                      <a:pt x="0" y="0"/>
                    </a:moveTo>
                    <a:lnTo>
                      <a:pt x="435468" y="0"/>
                    </a:lnTo>
                    <a:lnTo>
                      <a:pt x="435468" y="423097"/>
                    </a:lnTo>
                    <a:lnTo>
                      <a:pt x="0" y="423097"/>
                    </a:lnTo>
                    <a:close/>
                  </a:path>
                </a:pathLst>
              </a:custGeom>
              <a:solidFill>
                <a:srgbClr val="004AAD"/>
              </a:solidFill>
              <a:ln w="38100" cap="sq">
                <a:solidFill>
                  <a:srgbClr val="000000"/>
                </a:solidFill>
                <a:prstDash val="solid"/>
                <a:miter/>
              </a:ln>
            </p:spPr>
            <p:txBody>
              <a:bodyPr/>
              <a:lstStyle/>
              <a:p>
                <a:pPr defTabSz="914400"/>
                <a:endParaRPr lang="en-AU" sz="1800">
                  <a:solidFill>
                    <a:prstClr val="black"/>
                  </a:solidFill>
                  <a:latin typeface="Calibri"/>
                </a:endParaRPr>
              </a:p>
            </p:txBody>
          </p:sp>
          <p:sp>
            <p:nvSpPr>
              <p:cNvPr id="20" name="TextBox 29">
                <a:extLst>
                  <a:ext uri="{FF2B5EF4-FFF2-40B4-BE49-F238E27FC236}">
                    <a16:creationId xmlns:a16="http://schemas.microsoft.com/office/drawing/2014/main" id="{E6869221-B038-9A67-2E19-358E2FA311D7}"/>
                  </a:ext>
                </a:extLst>
              </p:cNvPr>
              <p:cNvSpPr txBox="1"/>
              <p:nvPr/>
            </p:nvSpPr>
            <p:spPr>
              <a:xfrm>
                <a:off x="0" y="-28575"/>
                <a:ext cx="435468" cy="451672"/>
              </a:xfrm>
              <a:prstGeom prst="rect">
                <a:avLst/>
              </a:prstGeom>
            </p:spPr>
            <p:txBody>
              <a:bodyPr lIns="50800" tIns="50800" rIns="50800" bIns="50800" rtlCol="0" anchor="ctr"/>
              <a:lstStyle/>
              <a:p>
                <a:pPr algn="ctr" defTabSz="914400">
                  <a:lnSpc>
                    <a:spcPts val="1960"/>
                  </a:lnSpc>
                  <a:spcBef>
                    <a:spcPct val="0"/>
                  </a:spcBef>
                </a:pPr>
                <a:endParaRPr sz="1800">
                  <a:solidFill>
                    <a:prstClr val="black"/>
                  </a:solidFill>
                  <a:latin typeface="Calibri"/>
                </a:endParaRPr>
              </a:p>
            </p:txBody>
          </p:sp>
        </p:grpSp>
        <p:grpSp>
          <p:nvGrpSpPr>
            <p:cNvPr id="13" name="Group 30">
              <a:extLst>
                <a:ext uri="{FF2B5EF4-FFF2-40B4-BE49-F238E27FC236}">
                  <a16:creationId xmlns:a16="http://schemas.microsoft.com/office/drawing/2014/main" id="{87A79B02-3D50-C20B-7167-29ED528D6811}"/>
                </a:ext>
              </a:extLst>
            </p:cNvPr>
            <p:cNvGrpSpPr/>
            <p:nvPr/>
          </p:nvGrpSpPr>
          <p:grpSpPr>
            <a:xfrm>
              <a:off x="4860445" y="0"/>
              <a:ext cx="1620148" cy="1574120"/>
              <a:chOff x="0" y="0"/>
              <a:chExt cx="435468" cy="423097"/>
            </a:xfrm>
          </p:grpSpPr>
          <p:sp>
            <p:nvSpPr>
              <p:cNvPr id="17" name="Freeform 31">
                <a:extLst>
                  <a:ext uri="{FF2B5EF4-FFF2-40B4-BE49-F238E27FC236}">
                    <a16:creationId xmlns:a16="http://schemas.microsoft.com/office/drawing/2014/main" id="{CDE69010-8D7A-18D5-7E31-443E8F8A81E4}"/>
                  </a:ext>
                </a:extLst>
              </p:cNvPr>
              <p:cNvSpPr/>
              <p:nvPr/>
            </p:nvSpPr>
            <p:spPr>
              <a:xfrm>
                <a:off x="0" y="0"/>
                <a:ext cx="435468" cy="423097"/>
              </a:xfrm>
              <a:custGeom>
                <a:avLst/>
                <a:gdLst/>
                <a:ahLst/>
                <a:cxnLst/>
                <a:rect l="l" t="t" r="r" b="b"/>
                <a:pathLst>
                  <a:path w="435468" h="423097">
                    <a:moveTo>
                      <a:pt x="0" y="0"/>
                    </a:moveTo>
                    <a:lnTo>
                      <a:pt x="435468" y="0"/>
                    </a:lnTo>
                    <a:lnTo>
                      <a:pt x="435468" y="423097"/>
                    </a:lnTo>
                    <a:lnTo>
                      <a:pt x="0" y="423097"/>
                    </a:lnTo>
                    <a:close/>
                  </a:path>
                </a:pathLst>
              </a:custGeom>
              <a:solidFill>
                <a:srgbClr val="004AAD"/>
              </a:solidFill>
              <a:ln w="38100" cap="sq">
                <a:solidFill>
                  <a:srgbClr val="000000"/>
                </a:solidFill>
                <a:prstDash val="solid"/>
                <a:miter/>
              </a:ln>
            </p:spPr>
            <p:txBody>
              <a:bodyPr/>
              <a:lstStyle/>
              <a:p>
                <a:pPr defTabSz="914400"/>
                <a:endParaRPr lang="en-AU" sz="1800">
                  <a:solidFill>
                    <a:prstClr val="black"/>
                  </a:solidFill>
                  <a:latin typeface="Calibri"/>
                </a:endParaRPr>
              </a:p>
            </p:txBody>
          </p:sp>
          <p:sp>
            <p:nvSpPr>
              <p:cNvPr id="18" name="TextBox 32">
                <a:extLst>
                  <a:ext uri="{FF2B5EF4-FFF2-40B4-BE49-F238E27FC236}">
                    <a16:creationId xmlns:a16="http://schemas.microsoft.com/office/drawing/2014/main" id="{217E110A-9BFF-E32D-4D10-B83DB6FA619A}"/>
                  </a:ext>
                </a:extLst>
              </p:cNvPr>
              <p:cNvSpPr txBox="1"/>
              <p:nvPr/>
            </p:nvSpPr>
            <p:spPr>
              <a:xfrm>
                <a:off x="0" y="-28575"/>
                <a:ext cx="435468" cy="451672"/>
              </a:xfrm>
              <a:prstGeom prst="rect">
                <a:avLst/>
              </a:prstGeom>
            </p:spPr>
            <p:txBody>
              <a:bodyPr lIns="50800" tIns="50800" rIns="50800" bIns="50800" rtlCol="0" anchor="ctr"/>
              <a:lstStyle/>
              <a:p>
                <a:pPr algn="ctr" defTabSz="914400">
                  <a:lnSpc>
                    <a:spcPts val="1960"/>
                  </a:lnSpc>
                  <a:spcBef>
                    <a:spcPct val="0"/>
                  </a:spcBef>
                </a:pPr>
                <a:endParaRPr sz="1800">
                  <a:solidFill>
                    <a:prstClr val="black"/>
                  </a:solidFill>
                  <a:latin typeface="Calibri"/>
                </a:endParaRPr>
              </a:p>
            </p:txBody>
          </p:sp>
        </p:grpSp>
        <p:grpSp>
          <p:nvGrpSpPr>
            <p:cNvPr id="14" name="Group 33">
              <a:extLst>
                <a:ext uri="{FF2B5EF4-FFF2-40B4-BE49-F238E27FC236}">
                  <a16:creationId xmlns:a16="http://schemas.microsoft.com/office/drawing/2014/main" id="{41E50241-1CE2-8654-CEAF-9AAB7C5A53F4}"/>
                </a:ext>
              </a:extLst>
            </p:cNvPr>
            <p:cNvGrpSpPr/>
            <p:nvPr/>
          </p:nvGrpSpPr>
          <p:grpSpPr>
            <a:xfrm>
              <a:off x="6480593" y="0"/>
              <a:ext cx="1620148" cy="1574120"/>
              <a:chOff x="0" y="0"/>
              <a:chExt cx="435468" cy="423097"/>
            </a:xfrm>
          </p:grpSpPr>
          <p:sp>
            <p:nvSpPr>
              <p:cNvPr id="15" name="Freeform 34">
                <a:extLst>
                  <a:ext uri="{FF2B5EF4-FFF2-40B4-BE49-F238E27FC236}">
                    <a16:creationId xmlns:a16="http://schemas.microsoft.com/office/drawing/2014/main" id="{4ABDD01A-8559-EE32-C297-149F246E937B}"/>
                  </a:ext>
                </a:extLst>
              </p:cNvPr>
              <p:cNvSpPr/>
              <p:nvPr/>
            </p:nvSpPr>
            <p:spPr>
              <a:xfrm>
                <a:off x="0" y="0"/>
                <a:ext cx="435468" cy="423097"/>
              </a:xfrm>
              <a:custGeom>
                <a:avLst/>
                <a:gdLst/>
                <a:ahLst/>
                <a:cxnLst/>
                <a:rect l="l" t="t" r="r" b="b"/>
                <a:pathLst>
                  <a:path w="435468" h="423097">
                    <a:moveTo>
                      <a:pt x="0" y="0"/>
                    </a:moveTo>
                    <a:lnTo>
                      <a:pt x="435468" y="0"/>
                    </a:lnTo>
                    <a:lnTo>
                      <a:pt x="435468" y="423097"/>
                    </a:lnTo>
                    <a:lnTo>
                      <a:pt x="0" y="423097"/>
                    </a:lnTo>
                    <a:close/>
                  </a:path>
                </a:pathLst>
              </a:custGeom>
              <a:solidFill>
                <a:srgbClr val="004AAD"/>
              </a:solidFill>
              <a:ln w="38100" cap="sq">
                <a:solidFill>
                  <a:srgbClr val="000000"/>
                </a:solidFill>
                <a:prstDash val="solid"/>
                <a:miter/>
              </a:ln>
            </p:spPr>
            <p:txBody>
              <a:bodyPr/>
              <a:lstStyle/>
              <a:p>
                <a:pPr defTabSz="914400"/>
                <a:endParaRPr lang="en-AU" sz="1800">
                  <a:solidFill>
                    <a:prstClr val="black"/>
                  </a:solidFill>
                  <a:latin typeface="Calibri"/>
                </a:endParaRPr>
              </a:p>
            </p:txBody>
          </p:sp>
          <p:sp>
            <p:nvSpPr>
              <p:cNvPr id="16" name="TextBox 35">
                <a:extLst>
                  <a:ext uri="{FF2B5EF4-FFF2-40B4-BE49-F238E27FC236}">
                    <a16:creationId xmlns:a16="http://schemas.microsoft.com/office/drawing/2014/main" id="{D4D45CCC-1639-0A93-CB11-D9C6FA39A114}"/>
                  </a:ext>
                </a:extLst>
              </p:cNvPr>
              <p:cNvSpPr txBox="1"/>
              <p:nvPr/>
            </p:nvSpPr>
            <p:spPr>
              <a:xfrm>
                <a:off x="0" y="-28575"/>
                <a:ext cx="435468" cy="451672"/>
              </a:xfrm>
              <a:prstGeom prst="rect">
                <a:avLst/>
              </a:prstGeom>
            </p:spPr>
            <p:txBody>
              <a:bodyPr lIns="50800" tIns="50800" rIns="50800" bIns="50800" rtlCol="0" anchor="ctr"/>
              <a:lstStyle/>
              <a:p>
                <a:pPr algn="ctr" defTabSz="914400">
                  <a:lnSpc>
                    <a:spcPts val="1960"/>
                  </a:lnSpc>
                  <a:spcBef>
                    <a:spcPct val="0"/>
                  </a:spcBef>
                </a:pPr>
                <a:endParaRPr sz="1800">
                  <a:solidFill>
                    <a:prstClr val="black"/>
                  </a:solidFill>
                  <a:latin typeface="Calibri"/>
                </a:endParaRPr>
              </a:p>
            </p:txBody>
          </p:sp>
        </p:grpSp>
      </p:grpSp>
      <p:pic>
        <p:nvPicPr>
          <p:cNvPr id="35" name="Picture 34" descr="How many tiles would &#10;there be if this was &#10;a complete grid? &#10;">
            <a:extLst>
              <a:ext uri="{FF2B5EF4-FFF2-40B4-BE49-F238E27FC236}">
                <a16:creationId xmlns:a16="http://schemas.microsoft.com/office/drawing/2014/main" id="{72535C11-6801-448A-11C6-BA5FF3D25655}"/>
              </a:ext>
            </a:extLst>
          </p:cNvPr>
          <p:cNvPicPr>
            <a:picLocks noChangeAspect="1"/>
          </p:cNvPicPr>
          <p:nvPr/>
        </p:nvPicPr>
        <p:blipFill>
          <a:blip r:embed="rId3"/>
          <a:stretch>
            <a:fillRect/>
          </a:stretch>
        </p:blipFill>
        <p:spPr>
          <a:xfrm>
            <a:off x="7081672" y="822269"/>
            <a:ext cx="3761908" cy="5783731"/>
          </a:xfrm>
          <a:prstGeom prst="rect">
            <a:avLst/>
          </a:prstGeom>
        </p:spPr>
      </p:pic>
      <p:sp>
        <p:nvSpPr>
          <p:cNvPr id="37" name="TextBox 36" descr="How many tiles would &#10;there be if this was &#10;a complete grid? &#10;">
            <a:extLst>
              <a:ext uri="{FF2B5EF4-FFF2-40B4-BE49-F238E27FC236}">
                <a16:creationId xmlns:a16="http://schemas.microsoft.com/office/drawing/2014/main" id="{DB5AC118-7116-1180-2AA4-CF107AA5569C}"/>
              </a:ext>
            </a:extLst>
          </p:cNvPr>
          <p:cNvSpPr txBox="1"/>
          <p:nvPr/>
        </p:nvSpPr>
        <p:spPr>
          <a:xfrm>
            <a:off x="7319805" y="1147706"/>
            <a:ext cx="3285642" cy="4975657"/>
          </a:xfrm>
          <a:prstGeom prst="rect">
            <a:avLst/>
          </a:prstGeom>
          <a:noFill/>
        </p:spPr>
        <p:txBody>
          <a:bodyPr wrap="square">
            <a:spAutoFit/>
          </a:bodyPr>
          <a:lstStyle/>
          <a:p>
            <a:pPr algn="ctr">
              <a:lnSpc>
                <a:spcPct val="150000"/>
              </a:lnSpc>
            </a:pPr>
            <a:r>
              <a:rPr lang="en-AU" sz="3600" dirty="0">
                <a:latin typeface="Arial" panose="020B0604020202020204" pitchFamily="34" charset="0"/>
                <a:cs typeface="Arial" panose="020B0604020202020204" pitchFamily="34" charset="0"/>
              </a:rPr>
              <a:t>How many tiles would </a:t>
            </a:r>
          </a:p>
          <a:p>
            <a:pPr algn="ctr">
              <a:lnSpc>
                <a:spcPct val="150000"/>
              </a:lnSpc>
            </a:pPr>
            <a:r>
              <a:rPr lang="en-AU" sz="3600" dirty="0">
                <a:latin typeface="Arial" panose="020B0604020202020204" pitchFamily="34" charset="0"/>
                <a:cs typeface="Arial" panose="020B0604020202020204" pitchFamily="34" charset="0"/>
              </a:rPr>
              <a:t>there be if this was </a:t>
            </a:r>
          </a:p>
          <a:p>
            <a:pPr algn="ctr">
              <a:lnSpc>
                <a:spcPct val="150000"/>
              </a:lnSpc>
            </a:pPr>
            <a:r>
              <a:rPr lang="en-AU" sz="3600" dirty="0">
                <a:latin typeface="Arial" panose="020B0604020202020204" pitchFamily="34" charset="0"/>
                <a:cs typeface="Arial" panose="020B0604020202020204" pitchFamily="34" charset="0"/>
              </a:rPr>
              <a:t>a complete grid? </a:t>
            </a:r>
          </a:p>
        </p:txBody>
      </p:sp>
      <p:pic>
        <p:nvPicPr>
          <p:cNvPr id="36" name="Picture 35" descr="image of a head with cogs turning inside">
            <a:extLst>
              <a:ext uri="{FF2B5EF4-FFF2-40B4-BE49-F238E27FC236}">
                <a16:creationId xmlns:a16="http://schemas.microsoft.com/office/drawing/2014/main" id="{DB00CF0D-17EE-0648-0829-234176877358}"/>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15815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pic>
        <p:nvPicPr>
          <p:cNvPr id="6" name="Picture 5" descr="A partially covered area model. The image shows 7 rows with 4 in each row.">
            <a:extLst>
              <a:ext uri="{FF2B5EF4-FFF2-40B4-BE49-F238E27FC236}">
                <a16:creationId xmlns:a16="http://schemas.microsoft.com/office/drawing/2014/main" id="{E4E8CA20-DFA2-EAAD-8B58-6ACEBB7488BB}"/>
              </a:ext>
            </a:extLst>
          </p:cNvPr>
          <p:cNvPicPr>
            <a:picLocks noChangeAspect="1"/>
          </p:cNvPicPr>
          <p:nvPr/>
        </p:nvPicPr>
        <p:blipFill>
          <a:blip r:embed="rId3"/>
          <a:stretch>
            <a:fillRect/>
          </a:stretch>
        </p:blipFill>
        <p:spPr>
          <a:xfrm>
            <a:off x="7754736" y="186994"/>
            <a:ext cx="2936191" cy="4880841"/>
          </a:xfrm>
          <a:prstGeom prst="rect">
            <a:avLst/>
          </a:prstGeom>
        </p:spPr>
      </p:pic>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(1)</a:t>
            </a:r>
          </a:p>
        </p:txBody>
      </p:sp>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359999" y="2044680"/>
            <a:ext cx="7277755" cy="2778332"/>
          </a:xfrm>
        </p:spPr>
        <p:txBody>
          <a:bodyPr vert="horz" lIns="0" tIns="0" rIns="0" bIns="0" rtlCol="0" anchor="t">
            <a:noAutofit/>
          </a:bodyPr>
          <a:lstStyle/>
          <a:p>
            <a:pPr algn="ctr"/>
            <a:r>
              <a:rPr lang="en-US" sz="4400" dirty="0">
                <a:latin typeface="Arial"/>
                <a:cs typeface="Arial"/>
              </a:rPr>
              <a:t>In this partially covered grid, </a:t>
            </a:r>
            <a:r>
              <a:rPr lang="en-US" sz="4400" b="1" dirty="0">
                <a:latin typeface="Arial"/>
                <a:cs typeface="Arial"/>
              </a:rPr>
              <a:t>18 squares </a:t>
            </a:r>
            <a:r>
              <a:rPr lang="en-US" sz="4400" dirty="0">
                <a:latin typeface="Arial"/>
                <a:cs typeface="Arial"/>
              </a:rPr>
              <a:t>are covered. </a:t>
            </a:r>
            <a:endParaRPr lang="en-US" sz="4400" dirty="0"/>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2552052140"/>
              </p:ext>
            </p:extLst>
          </p:nvPr>
        </p:nvGraphicFramePr>
        <p:xfrm>
          <a:off x="2376586" y="531265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55E7DA3-5BC4-03A6-88A8-5BE8009F98DB}"/>
              </a:ext>
            </a:extLst>
          </p:cNvPr>
          <p:cNvPicPr>
            <a:picLocks noChangeAspect="1"/>
          </p:cNvPicPr>
          <p:nvPr/>
        </p:nvPicPr>
        <p:blipFill>
          <a:blip r:embed="rId4"/>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(5)</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1100556" y="845591"/>
            <a:ext cx="9761925" cy="5850409"/>
          </a:xfrm>
        </p:spPr>
        <p:txBody>
          <a:bodyPr/>
          <a:lstStyle/>
          <a:p>
            <a:pPr algn="ctr"/>
            <a:endParaRPr lang="en-US" sz="4400" dirty="0">
              <a:latin typeface="Arial"/>
              <a:cs typeface="Arial"/>
            </a:endParaRPr>
          </a:p>
          <a:p>
            <a:pPr algn="ctr"/>
            <a:r>
              <a:rPr lang="en-AU" sz="4400" dirty="0"/>
              <a:t>Each lunch order costs $9. </a:t>
            </a:r>
          </a:p>
          <a:p>
            <a:pPr algn="ctr"/>
            <a:r>
              <a:rPr lang="en-AU" sz="4400" b="1" dirty="0"/>
              <a:t>How</a:t>
            </a:r>
            <a:r>
              <a:rPr lang="en-AU" sz="4400" dirty="0"/>
              <a:t> can we </a:t>
            </a:r>
            <a:r>
              <a:rPr lang="en-AU" sz="4400" b="1" dirty="0"/>
              <a:t>work out </a:t>
            </a:r>
            <a:r>
              <a:rPr lang="en-AU" sz="4400" dirty="0"/>
              <a:t>the total </a:t>
            </a:r>
          </a:p>
          <a:p>
            <a:pPr algn="ctr"/>
            <a:r>
              <a:rPr lang="en-AU" sz="4400" dirty="0"/>
              <a:t>cost for 4 students?</a:t>
            </a:r>
            <a:r>
              <a:rPr lang="en-US" sz="4400" dirty="0">
                <a:latin typeface="Arial"/>
                <a:cs typeface="Arial"/>
              </a:rPr>
              <a:t> </a:t>
            </a: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132CE01C-F128-827F-0720-032C31FF573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(6)</a:t>
            </a:r>
          </a:p>
        </p:txBody>
      </p:sp>
      <p:sp>
        <p:nvSpPr>
          <p:cNvPr id="11" name="Picture Placeholder 10">
            <a:extLst>
              <a:ext uri="{FF2B5EF4-FFF2-40B4-BE49-F238E27FC236}">
                <a16:creationId xmlns:a16="http://schemas.microsoft.com/office/drawing/2014/main" id="{1FAEB63C-05D7-629C-93E0-6E9FD7090D30}"/>
              </a:ext>
            </a:extLst>
          </p:cNvPr>
          <p:cNvSpPr>
            <a:spLocks noGrp="1"/>
          </p:cNvSpPr>
          <p:nvPr>
            <p:ph type="pic" sz="quarter" idx="21"/>
          </p:nvPr>
        </p:nvSpPr>
        <p:spPr>
          <a:xfrm>
            <a:off x="240963" y="1500430"/>
            <a:ext cx="11243037" cy="3056398"/>
          </a:xfrm>
        </p:spPr>
        <p:txBody>
          <a:bodyPr/>
          <a:lstStyle/>
          <a:p>
            <a:pPr algn="ctr"/>
            <a:r>
              <a:rPr lang="en-US" sz="4400">
                <a:latin typeface="Arial"/>
                <a:cs typeface="Arial"/>
              </a:rPr>
              <a:t>Record the </a:t>
            </a:r>
            <a:r>
              <a:rPr lang="en-US" sz="4400" b="1">
                <a:latin typeface="Arial"/>
                <a:cs typeface="Arial"/>
              </a:rPr>
              <a:t>decimals</a:t>
            </a:r>
            <a:r>
              <a:rPr lang="en-US" sz="4400">
                <a:latin typeface="Arial"/>
                <a:cs typeface="Arial"/>
              </a:rPr>
              <a:t> marked A, B, C and D.</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C26EDB88-E75C-9C64-B0FE-F9E4BF5A7005}"/>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39" name="Picture 38" descr="A number line from 0 to 1 is shown, divided into 10 equal intervals. Above it is a green bar also divided into 10 equal parts using dashed lines, representing tenths. Four  arrows labelled A to D point to specific positions on the number line.">
            <a:extLst>
              <a:ext uri="{FF2B5EF4-FFF2-40B4-BE49-F238E27FC236}">
                <a16:creationId xmlns:a16="http://schemas.microsoft.com/office/drawing/2014/main" id="{B9E70183-72ED-F543-F5C2-48D909DBE062}"/>
              </a:ext>
            </a:extLst>
          </p:cNvPr>
          <p:cNvPicPr>
            <a:picLocks noChangeAspect="1"/>
          </p:cNvPicPr>
          <p:nvPr/>
        </p:nvPicPr>
        <p:blipFill>
          <a:blip r:embed="rId4"/>
          <a:stretch>
            <a:fillRect/>
          </a:stretch>
        </p:blipFill>
        <p:spPr>
          <a:xfrm>
            <a:off x="1211141" y="3143395"/>
            <a:ext cx="9912859" cy="2616334"/>
          </a:xfrm>
          <a:prstGeom prst="rect">
            <a:avLst/>
          </a:prstGeom>
        </p:spPr>
      </p:pic>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(7)</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E83C9D2F-076B-25AC-741C-C56ACEF8B118}"/>
                  </a:ext>
                </a:extLst>
              </p:cNvPr>
              <p:cNvSpPr>
                <a:spLocks noGrp="1"/>
              </p:cNvSpPr>
              <p:nvPr>
                <p:ph type="pic" sz="quarter" idx="21"/>
              </p:nvPr>
            </p:nvSpPr>
            <p:spPr>
              <a:xfrm>
                <a:off x="795130" y="2156097"/>
                <a:ext cx="10328870" cy="3056398"/>
              </a:xfrm>
            </p:spPr>
            <p:txBody>
              <a:bodyPr/>
              <a:lstStyle/>
              <a:p>
                <a:pPr algn="ctr"/>
                <a:r>
                  <a:rPr lang="en-AU" sz="4800" dirty="0">
                    <a:latin typeface="Arial"/>
                    <a:cs typeface="Arial"/>
                  </a:rPr>
                  <a:t>Show how 135 </a:t>
                </a:r>
                <a14:m>
                  <m:oMath xmlns:m="http://schemas.openxmlformats.org/officeDocument/2006/math">
                    <m:r>
                      <a:rPr lang="en-AU" sz="4800" i="1" dirty="0" smtClean="0">
                        <a:latin typeface="Cambria Math" panose="02040503050406030204" pitchFamily="18" charset="0"/>
                        <a:ea typeface="Cambria Math" panose="02040503050406030204" pitchFamily="18" charset="0"/>
                      </a:rPr>
                      <m:t>−</m:t>
                    </m:r>
                  </m:oMath>
                </a14:m>
                <a:r>
                  <a:rPr lang="en-AU" sz="4800" dirty="0">
                    <a:latin typeface="Cambria Math" panose="02040503050406030204" pitchFamily="18" charset="0"/>
                    <a:ea typeface="Cambria Math" panose="02040503050406030204" pitchFamily="18" charset="0"/>
                    <a:cs typeface="Arial"/>
                  </a:rPr>
                  <a:t> </a:t>
                </a:r>
                <a:r>
                  <a:rPr lang="en-AU" sz="4800" dirty="0">
                    <a:latin typeface="Arial"/>
                    <a:cs typeface="Arial"/>
                  </a:rPr>
                  <a:t>76 </a:t>
                </a:r>
                <a:r>
                  <a:rPr lang="en-AU" sz="4800" b="1" dirty="0">
                    <a:latin typeface="Arial"/>
                    <a:cs typeface="Arial"/>
                  </a:rPr>
                  <a:t>is the same as </a:t>
                </a:r>
                <a:r>
                  <a:rPr lang="en-AU" sz="4800" dirty="0">
                    <a:latin typeface="Arial"/>
                    <a:cs typeface="Arial"/>
                  </a:rPr>
                  <a:t>139 </a:t>
                </a:r>
                <a14:m>
                  <m:oMath xmlns:m="http://schemas.openxmlformats.org/officeDocument/2006/math">
                    <m:r>
                      <a:rPr lang="en-AU" sz="4800" i="1" dirty="0">
                        <a:latin typeface="Cambria Math" panose="02040503050406030204" pitchFamily="18" charset="0"/>
                        <a:ea typeface="Cambria Math" panose="02040503050406030204" pitchFamily="18" charset="0"/>
                      </a:rPr>
                      <m:t>−</m:t>
                    </m:r>
                  </m:oMath>
                </a14:m>
                <a:r>
                  <a:rPr lang="en-AU" sz="4800" dirty="0">
                    <a:latin typeface="Cambria Math" panose="02040503050406030204" pitchFamily="18" charset="0"/>
                    <a:ea typeface="Cambria Math" panose="02040503050406030204" pitchFamily="18" charset="0"/>
                    <a:cs typeface="Arial"/>
                  </a:rPr>
                  <a:t> </a:t>
                </a:r>
                <a:r>
                  <a:rPr lang="en-AU" sz="4800" dirty="0">
                    <a:latin typeface="Arial"/>
                    <a:cs typeface="Arial"/>
                  </a:rPr>
                  <a:t>80</a:t>
                </a:r>
              </a:p>
            </p:txBody>
          </p:sp>
        </mc:Choice>
        <mc:Fallback xmlns="">
          <p:sp>
            <p:nvSpPr>
              <p:cNvPr id="11" name="Picture Placeholder 10">
                <a:extLst>
                  <a:ext uri="{FF2B5EF4-FFF2-40B4-BE49-F238E27FC236}">
                    <a16:creationId xmlns:a16="http://schemas.microsoft.com/office/drawing/2014/main" id="{E83C9D2F-076B-25AC-741C-C56ACEF8B118}"/>
                  </a:ext>
                </a:extLst>
              </p:cNvPr>
              <p:cNvSpPr>
                <a:spLocks noGrp="1" noRot="1" noChangeAspect="1" noMove="1" noResize="1" noEditPoints="1" noAdjustHandles="1" noChangeArrowheads="1" noChangeShapeType="1" noTextEdit="1"/>
              </p:cNvSpPr>
              <p:nvPr>
                <p:ph type="pic" sz="quarter" idx="21"/>
              </p:nvPr>
            </p:nvSpPr>
            <p:spPr>
              <a:xfrm>
                <a:off x="795130" y="2156097"/>
                <a:ext cx="10328870" cy="3056398"/>
              </a:xfrm>
              <a:blipFill>
                <a:blip r:embed="rId3"/>
                <a:stretch>
                  <a:fillRect l="-1003" r="-2537"/>
                </a:stretch>
              </a:blipFill>
            </p:spPr>
            <p:txBody>
              <a:bodyPr/>
              <a:lstStyle/>
              <a:p>
                <a:r>
                  <a:rPr lang="en-AU">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D740BC3B-2A7E-9512-84CA-DEBB92EFECD0}"/>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16</a:t>
            </a:fld>
            <a:endParaRPr lang="en-AU"/>
          </a:p>
        </p:txBody>
      </p:sp>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a:xfrm>
            <a:off x="360000" y="360000"/>
            <a:ext cx="11243038" cy="545601"/>
          </a:xfrm>
        </p:spPr>
        <p:txBody>
          <a:bodyPr/>
          <a:lstStyle/>
          <a:p>
            <a:r>
              <a:rPr lang="en-US">
                <a:latin typeface="Arial"/>
                <a:cs typeface="Arial"/>
              </a:rPr>
              <a:t>Short response</a:t>
            </a:r>
            <a:r>
              <a:rPr lang="en-US">
                <a:solidFill>
                  <a:schemeClr val="bg1"/>
                </a:solidFill>
                <a:latin typeface="Arial"/>
                <a:cs typeface="Arial"/>
              </a:rPr>
              <a:t> (8)</a:t>
            </a:r>
          </a:p>
        </p:txBody>
      </p:sp>
      <p:sp>
        <p:nvSpPr>
          <p:cNvPr id="4" name="TextBox 3">
            <a:extLst>
              <a:ext uri="{FF2B5EF4-FFF2-40B4-BE49-F238E27FC236}">
                <a16:creationId xmlns:a16="http://schemas.microsoft.com/office/drawing/2014/main" id="{37743E66-387B-D4F6-72FE-0CCB9557C3B3}"/>
              </a:ext>
            </a:extLst>
          </p:cNvPr>
          <p:cNvSpPr txBox="1"/>
          <p:nvPr/>
        </p:nvSpPr>
        <p:spPr>
          <a:xfrm>
            <a:off x="702129" y="1050734"/>
            <a:ext cx="10900909" cy="545601"/>
          </a:xfrm>
          <a:prstGeom prst="rect">
            <a:avLst/>
          </a:prstGeom>
          <a:noFill/>
        </p:spPr>
        <p:txBody>
          <a:bodyPr wrap="square" lIns="0" tIns="0" rIns="0" bIns="0" rtlCol="0">
            <a:noAutofit/>
          </a:bodyPr>
          <a:lstStyle/>
          <a:p>
            <a:pPr algn="ctr">
              <a:lnSpc>
                <a:spcPct val="200000"/>
              </a:lnSpc>
            </a:pPr>
            <a:r>
              <a:rPr lang="en-AU" sz="4800"/>
              <a:t>Ranya was facing west. </a:t>
            </a:r>
          </a:p>
          <a:p>
            <a:pPr algn="ctr">
              <a:lnSpc>
                <a:spcPct val="200000"/>
              </a:lnSpc>
            </a:pPr>
            <a:r>
              <a:rPr lang="en-AU" sz="4800"/>
              <a:t>She made a </a:t>
            </a:r>
            <a:r>
              <a:rPr lang="en-AU" sz="4800" b="1"/>
              <a:t>quarter turn clockwise</a:t>
            </a:r>
            <a:r>
              <a:rPr lang="en-AU" sz="4800"/>
              <a:t>. Which direction is she facing now?</a:t>
            </a:r>
            <a:br>
              <a:rPr lang="en-AU" sz="3600"/>
            </a:br>
            <a:br>
              <a:rPr lang="en-AU" sz="3600"/>
            </a:br>
            <a:endParaRPr lang="en-AU" sz="3600"/>
          </a:p>
          <a:p>
            <a:pPr algn="l"/>
            <a:endParaRPr lang="en-AU" sz="1800"/>
          </a:p>
        </p:txBody>
      </p:sp>
      <p:pic>
        <p:nvPicPr>
          <p:cNvPr id="5" name="Picture 4" descr="image of a clipboard with a pencil recording short answer responses">
            <a:extLst>
              <a:ext uri="{FF2B5EF4-FFF2-40B4-BE49-F238E27FC236}">
                <a16:creationId xmlns:a16="http://schemas.microsoft.com/office/drawing/2014/main" id="{3BEDD50C-91A1-3FFB-CBDD-0B6084F047A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C8A3CB-B224-208A-CFF5-B2EA6968C1C0}"/>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itle 2">
            <a:extLst>
              <a:ext uri="{FF2B5EF4-FFF2-40B4-BE49-F238E27FC236}">
                <a16:creationId xmlns:a16="http://schemas.microsoft.com/office/drawing/2014/main" id="{284E42B4-94D9-1D74-190B-2DFAC866DF5D}"/>
              </a:ext>
            </a:extLst>
          </p:cNvPr>
          <p:cNvSpPr>
            <a:spLocks noGrp="1"/>
          </p:cNvSpPr>
          <p:nvPr>
            <p:ph type="title"/>
          </p:nvPr>
        </p:nvSpPr>
        <p:spPr/>
        <p:txBody>
          <a:bodyPr/>
          <a:lstStyle/>
          <a:p>
            <a:r>
              <a:rPr lang="en-AU">
                <a:latin typeface="Arial"/>
                <a:cs typeface="Arial"/>
              </a:rPr>
              <a:t>Activity 2 – partial array bingo</a:t>
            </a:r>
            <a:endParaRPr lang="en-AU"/>
          </a:p>
        </p:txBody>
      </p:sp>
      <p:sp>
        <p:nvSpPr>
          <p:cNvPr id="5" name="Rectangle 2">
            <a:extLst>
              <a:ext uri="{FF2B5EF4-FFF2-40B4-BE49-F238E27FC236}">
                <a16:creationId xmlns:a16="http://schemas.microsoft.com/office/drawing/2014/main" id="{F429BB3E-7CFB-2B38-03AE-863DCB374359}"/>
              </a:ext>
            </a:extLst>
          </p:cNvPr>
          <p:cNvSpPr>
            <a:spLocks noChangeArrowheads="1"/>
          </p:cNvSpPr>
          <p:nvPr/>
        </p:nvSpPr>
        <p:spPr bwMode="auto">
          <a:xfrm>
            <a:off x="4861310" y="1252057"/>
            <a:ext cx="6901350" cy="502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pPr>
            <a:r>
              <a:rPr lang="en-AU" altLang="en-US" sz="1800" b="1" dirty="0">
                <a:latin typeface="Arial"/>
                <a:ea typeface="Calibri"/>
                <a:cs typeface="Arial"/>
              </a:rPr>
              <a:t>Aim of the game</a:t>
            </a:r>
            <a:endParaRPr lang="en-AU" altLang="en-US" sz="1800" b="1" i="0" u="none" strike="noStrike" cap="none" normalizeH="0" baseline="0" dirty="0">
              <a:ln>
                <a:noFill/>
              </a:ln>
              <a:effectLst/>
              <a:latin typeface="Arial"/>
              <a:ea typeface="Calibri"/>
              <a:cs typeface="Arial"/>
            </a:endParaRPr>
          </a:p>
          <a:p>
            <a:pPr defTabSz="914400">
              <a:lnSpc>
                <a:spcPct val="150000"/>
              </a:lnSpc>
              <a:spcBef>
                <a:spcPct val="0"/>
              </a:spcBef>
              <a:spcAft>
                <a:spcPct val="0"/>
              </a:spcAft>
            </a:pPr>
            <a:r>
              <a:rPr lang="en-AU" altLang="en-US" sz="1800" dirty="0">
                <a:latin typeface="Arial"/>
                <a:cs typeface="Arial"/>
              </a:rPr>
              <a:t>To identify the products that are represented in partial arrays.</a:t>
            </a:r>
            <a:endParaRPr lang="en-AU" altLang="en-US" sz="1800" b="0" i="0" u="none" strike="noStrike" cap="none" normalizeH="0" baseline="0" dirty="0">
              <a:ln>
                <a:noFill/>
              </a:ln>
              <a:effectLst/>
              <a:latin typeface="Arial" panose="020B0604020202020204" pitchFamily="34" charset="0"/>
              <a:cs typeface="Arial" panose="020B0604020202020204" pitchFamily="34" charset="0"/>
            </a:endParaRPr>
          </a:p>
          <a:p>
            <a:pPr defTabSz="914400">
              <a:lnSpc>
                <a:spcPct val="150000"/>
              </a:lnSpc>
              <a:spcBef>
                <a:spcPct val="0"/>
              </a:spcBef>
              <a:spcAft>
                <a:spcPct val="0"/>
              </a:spcAft>
            </a:pPr>
            <a:endParaRPr lang="en-AU" altLang="en-US" sz="1800" dirty="0">
              <a:latin typeface="Arial"/>
              <a:ea typeface="Calibri"/>
              <a:cs typeface="Arial"/>
            </a:endParaRPr>
          </a:p>
          <a:p>
            <a:pPr defTabSz="914400">
              <a:lnSpc>
                <a:spcPct val="150000"/>
              </a:lnSpc>
              <a:spcBef>
                <a:spcPct val="0"/>
              </a:spcBef>
              <a:spcAft>
                <a:spcPct val="0"/>
              </a:spcAft>
            </a:pPr>
            <a:r>
              <a:rPr lang="en-AU" altLang="en-US" sz="1800" b="1" dirty="0">
                <a:latin typeface="Arial"/>
                <a:ea typeface="Calibri"/>
                <a:cs typeface="Arial"/>
              </a:rPr>
              <a:t>Rules:</a:t>
            </a:r>
            <a:endParaRPr lang="en-AU" altLang="en-US" sz="1800" b="1" dirty="0">
              <a:latin typeface="Arial" panose="020B0604020202020204" pitchFamily="34" charset="0"/>
              <a:ea typeface="Calibri"/>
              <a:cs typeface="Arial" panose="020B0604020202020204" pitchFamily="34" charset="0"/>
            </a:endParaRP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each player selects 6 partial array cards and places them face up in a row</a:t>
            </a: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place the product cards in a pile facing down</a:t>
            </a: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take it in turns to pick up a product card and check if you have a matching partial array card </a:t>
            </a: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if your product card matches a partial array card, turn the array card face down.</a:t>
            </a:r>
          </a:p>
          <a:p>
            <a:pPr marL="285750" indent="-285750" defTabSz="914400">
              <a:lnSpc>
                <a:spcPct val="150000"/>
              </a:lnSpc>
              <a:spcBef>
                <a:spcPct val="0"/>
              </a:spcBef>
              <a:spcAft>
                <a:spcPct val="0"/>
              </a:spcAft>
              <a:buFont typeface="Arial"/>
              <a:buChar char="•"/>
            </a:pPr>
            <a:r>
              <a:rPr lang="en-AU" altLang="en-US" sz="1800" dirty="0">
                <a:latin typeface="Arial"/>
                <a:ea typeface="Calibri"/>
                <a:cs typeface="Arial"/>
              </a:rPr>
              <a:t>the winner is the first player to turn down all partial array cards</a:t>
            </a:r>
            <a:endParaRPr lang="en-AU" altLang="en-US" sz="1700" dirty="0">
              <a:latin typeface="Arial" panose="020B0604020202020204" pitchFamily="34" charset="0"/>
              <a:ea typeface="Calibri"/>
              <a:cs typeface="Arial" panose="020B0604020202020204" pitchFamily="34" charset="0"/>
            </a:endParaRPr>
          </a:p>
        </p:txBody>
      </p:sp>
      <p:pic>
        <p:nvPicPr>
          <p:cNvPr id="4" name="Picture 3">
            <a:extLst>
              <a:ext uri="{FF2B5EF4-FFF2-40B4-BE49-F238E27FC236}">
                <a16:creationId xmlns:a16="http://schemas.microsoft.com/office/drawing/2014/main" id="{06C21F20-69C4-643E-E4B6-1CCDF90B28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4473" y="2295180"/>
            <a:ext cx="3527657" cy="2524699"/>
          </a:xfrm>
          <a:prstGeom prst="rect">
            <a:avLst/>
          </a:prstGeom>
        </p:spPr>
      </p:pic>
      <p:pic>
        <p:nvPicPr>
          <p:cNvPr id="6" name="Picture 5" descr="image of a head with cogs turning inside">
            <a:extLst>
              <a:ext uri="{FF2B5EF4-FFF2-40B4-BE49-F238E27FC236}">
                <a16:creationId xmlns:a16="http://schemas.microsoft.com/office/drawing/2014/main" id="{D1A521FE-2C89-50D9-FB18-ECAEEE3542C5}"/>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782889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7D692-EFE7-8598-6CC0-05CFC574BA0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DD1AC1-F88B-C25D-E1C0-4FDC0F650F6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050EB39E-FB14-C0C6-8414-9A19A9E1D598}"/>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(1)</a:t>
            </a:r>
          </a:p>
        </p:txBody>
      </p:sp>
      <p:sp>
        <p:nvSpPr>
          <p:cNvPr id="15" name="Text Placeholder 14">
            <a:extLst>
              <a:ext uri="{FF2B5EF4-FFF2-40B4-BE49-F238E27FC236}">
                <a16:creationId xmlns:a16="http://schemas.microsoft.com/office/drawing/2014/main" id="{9A23AB31-22B6-7DD4-714B-1A855864C046}"/>
              </a:ext>
            </a:extLst>
          </p:cNvPr>
          <p:cNvSpPr>
            <a:spLocks noGrp="1"/>
          </p:cNvSpPr>
          <p:nvPr>
            <p:ph type="body" sz="quarter" idx="28"/>
          </p:nvPr>
        </p:nvSpPr>
        <p:spPr>
          <a:xfrm>
            <a:off x="360001" y="1222298"/>
            <a:ext cx="5736000" cy="754243"/>
          </a:xfrm>
        </p:spPr>
        <p:txBody>
          <a:bodyPr vert="horz" lIns="0" tIns="0" rIns="0" bIns="0" rtlCol="0" anchor="t">
            <a:noAutofit/>
          </a:bodyPr>
          <a:lstStyle/>
          <a:p>
            <a:r>
              <a:rPr lang="en-US" sz="3600" dirty="0">
                <a:latin typeface="Arial"/>
                <a:cs typeface="Arial"/>
              </a:rPr>
              <a:t>This grid has been torn. </a:t>
            </a:r>
            <a:r>
              <a:rPr lang="en-US" sz="3600" b="1" dirty="0">
                <a:latin typeface="Arial"/>
                <a:cs typeface="Arial"/>
              </a:rPr>
              <a:t>How many </a:t>
            </a:r>
            <a:r>
              <a:rPr lang="en-US" sz="3600" dirty="0">
                <a:latin typeface="Arial"/>
                <a:cs typeface="Arial"/>
              </a:rPr>
              <a:t>squares make up the </a:t>
            </a:r>
            <a:r>
              <a:rPr lang="en-US" sz="3600" b="1" dirty="0">
                <a:latin typeface="Arial"/>
                <a:cs typeface="Arial"/>
              </a:rPr>
              <a:t>complete grid</a:t>
            </a:r>
            <a:r>
              <a:rPr lang="en-US" sz="3600" dirty="0">
                <a:latin typeface="Arial"/>
                <a:cs typeface="Arial"/>
              </a:rPr>
              <a:t>?</a:t>
            </a:r>
          </a:p>
        </p:txBody>
      </p:sp>
      <p:pic>
        <p:nvPicPr>
          <p:cNvPr id="4" name="Picture 3" descr="image of a finger selecting an option for a multiple choice or true and false">
            <a:extLst>
              <a:ext uri="{FF2B5EF4-FFF2-40B4-BE49-F238E27FC236}">
                <a16:creationId xmlns:a16="http://schemas.microsoft.com/office/drawing/2014/main" id="{BBC7B3D4-85CD-1F79-1311-C7E492C653DA}"/>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6" name="Picture 5" descr="A rectangular grid array with 4 rows of 8 squares. Part of the bottom portion of the grid has been torn off.">
            <a:extLst>
              <a:ext uri="{FF2B5EF4-FFF2-40B4-BE49-F238E27FC236}">
                <a16:creationId xmlns:a16="http://schemas.microsoft.com/office/drawing/2014/main" id="{70790301-12AD-E413-2066-68B365577CA5}"/>
              </a:ext>
            </a:extLst>
          </p:cNvPr>
          <p:cNvPicPr>
            <a:picLocks noChangeAspect="1"/>
          </p:cNvPicPr>
          <p:nvPr/>
        </p:nvPicPr>
        <p:blipFill>
          <a:blip r:embed="rId4"/>
          <a:stretch>
            <a:fillRect/>
          </a:stretch>
        </p:blipFill>
        <p:spPr>
          <a:xfrm>
            <a:off x="6096000" y="1222298"/>
            <a:ext cx="4968421" cy="3354209"/>
          </a:xfrm>
          <a:prstGeom prst="rect">
            <a:avLst/>
          </a:prstGeom>
        </p:spPr>
      </p:pic>
      <p:graphicFrame>
        <p:nvGraphicFramePr>
          <p:cNvPr id="7" name="Table 6">
            <a:extLst>
              <a:ext uri="{FF2B5EF4-FFF2-40B4-BE49-F238E27FC236}">
                <a16:creationId xmlns:a16="http://schemas.microsoft.com/office/drawing/2014/main" id="{E1426E90-8095-992D-4172-831910E16C83}"/>
              </a:ext>
            </a:extLst>
          </p:cNvPr>
          <p:cNvGraphicFramePr>
            <a:graphicFrameLocks noGrp="1"/>
          </p:cNvGraphicFramePr>
          <p:nvPr>
            <p:extLst>
              <p:ext uri="{D42A27DB-BD31-4B8C-83A1-F6EECF244321}">
                <p14:modId xmlns:p14="http://schemas.microsoft.com/office/powerpoint/2010/main" val="1487777576"/>
              </p:ext>
            </p:extLst>
          </p:nvPr>
        </p:nvGraphicFramePr>
        <p:xfrm>
          <a:off x="572708" y="4828587"/>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t>28</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t>32</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24</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j-lt"/>
                        </a:rPr>
                        <a:t>40</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Tree>
    <p:extLst>
      <p:ext uri="{BB962C8B-B14F-4D97-AF65-F5344CB8AC3E}">
        <p14:creationId xmlns:p14="http://schemas.microsoft.com/office/powerpoint/2010/main" val="3807988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(9)</a:t>
            </a:r>
          </a:p>
        </p:txBody>
      </p:sp>
      <p:pic>
        <p:nvPicPr>
          <p:cNvPr id="4" name="Picture 3" descr="image of a clipboard with a pencil recording short answer responses">
            <a:extLst>
              <a:ext uri="{FF2B5EF4-FFF2-40B4-BE49-F238E27FC236}">
                <a16:creationId xmlns:a16="http://schemas.microsoft.com/office/drawing/2014/main" id="{A7928AD0-FB0D-320D-A01E-AB930E8E6C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Picture Placeholder 10">
            <a:extLst>
              <a:ext uri="{FF2B5EF4-FFF2-40B4-BE49-F238E27FC236}">
                <a16:creationId xmlns:a16="http://schemas.microsoft.com/office/drawing/2014/main" id="{3E6E441B-A4DB-B27E-861D-05161EBDE833}"/>
              </a:ext>
            </a:extLst>
          </p:cNvPr>
          <p:cNvSpPr>
            <a:spLocks noGrp="1"/>
          </p:cNvSpPr>
          <p:nvPr>
            <p:ph type="pic" sz="quarter" idx="21"/>
          </p:nvPr>
        </p:nvSpPr>
        <p:spPr>
          <a:xfrm>
            <a:off x="360000" y="1197535"/>
            <a:ext cx="5344476" cy="3056398"/>
          </a:xfrm>
        </p:spPr>
        <p:txBody>
          <a:bodyPr/>
          <a:lstStyle/>
          <a:p>
            <a:pPr algn="ctr"/>
            <a:r>
              <a:rPr lang="en-US" sz="4400" dirty="0">
                <a:latin typeface="Arial"/>
                <a:cs typeface="Arial"/>
              </a:rPr>
              <a:t>If there are </a:t>
            </a:r>
            <a:r>
              <a:rPr lang="en-US" sz="4400" b="1" dirty="0">
                <a:latin typeface="Arial"/>
                <a:cs typeface="Arial"/>
              </a:rPr>
              <a:t>36</a:t>
            </a:r>
            <a:r>
              <a:rPr lang="en-US" sz="4400" dirty="0">
                <a:latin typeface="Arial"/>
                <a:cs typeface="Arial"/>
              </a:rPr>
              <a:t> cupcakes on the tray, how many </a:t>
            </a:r>
            <a:r>
              <a:rPr lang="en-US" sz="4400" b="1" dirty="0">
                <a:latin typeface="Arial"/>
                <a:cs typeface="Arial"/>
              </a:rPr>
              <a:t>rows</a:t>
            </a:r>
            <a:r>
              <a:rPr lang="en-US" sz="4400" dirty="0">
                <a:latin typeface="Arial"/>
                <a:cs typeface="Arial"/>
              </a:rPr>
              <a:t> are being covered? </a:t>
            </a:r>
            <a:endParaRPr lang="en-US" sz="4400" dirty="0"/>
          </a:p>
          <a:p>
            <a:endParaRPr lang="en-US" dirty="0">
              <a:latin typeface="Arial"/>
              <a:cs typeface="Arial"/>
            </a:endParaRPr>
          </a:p>
        </p:txBody>
      </p:sp>
      <p:pic>
        <p:nvPicPr>
          <p:cNvPr id="12" name="Picture 11" descr="A rectangular image divided into two equal sections. The top half displays cupcakes arranged in 4 rows of 6. The bottom half is covered. ">
            <a:extLst>
              <a:ext uri="{FF2B5EF4-FFF2-40B4-BE49-F238E27FC236}">
                <a16:creationId xmlns:a16="http://schemas.microsoft.com/office/drawing/2014/main" id="{30CEB0D2-B5B8-C31F-ECBD-6D57F162EC01}"/>
              </a:ext>
            </a:extLst>
          </p:cNvPr>
          <p:cNvPicPr>
            <a:picLocks noChangeAspect="1"/>
          </p:cNvPicPr>
          <p:nvPr/>
        </p:nvPicPr>
        <p:blipFill>
          <a:blip r:embed="rId4"/>
          <a:stretch>
            <a:fillRect/>
          </a:stretch>
        </p:blipFill>
        <p:spPr>
          <a:xfrm>
            <a:off x="6096000" y="534860"/>
            <a:ext cx="4483281" cy="5963140"/>
          </a:xfrm>
          <a:prstGeom prst="rect">
            <a:avLst/>
          </a:prstGeom>
        </p:spPr>
      </p:pic>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a:t>
            </a:r>
            <a:r>
              <a:rPr lang="en-US" dirty="0">
                <a:solidFill>
                  <a:schemeClr val="bg1"/>
                </a:solidFill>
                <a:latin typeface="Arial"/>
                <a:cs typeface="Arial"/>
              </a:rPr>
              <a:t>10</a:t>
            </a:r>
            <a:r>
              <a:rPr lang="en-US">
                <a:solidFill>
                  <a:schemeClr val="bg1"/>
                </a:solidFill>
                <a:latin typeface="Arial"/>
                <a:cs typeface="Arial"/>
              </a:rPr>
              <a:t>)</a:t>
            </a:r>
          </a:p>
        </p:txBody>
      </p:sp>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360000" y="1131820"/>
            <a:ext cx="11243037" cy="3979384"/>
          </a:xfrm>
        </p:spPr>
        <p:txBody>
          <a:bodyPr/>
          <a:lstStyle/>
          <a:p>
            <a:pPr algn="ctr"/>
            <a:r>
              <a:rPr lang="en-US" sz="4400" dirty="0">
                <a:latin typeface="Arial"/>
                <a:cs typeface="Arial"/>
              </a:rPr>
              <a:t>How many </a:t>
            </a:r>
            <a:r>
              <a:rPr lang="en-US" sz="4400" b="1" dirty="0">
                <a:latin typeface="Arial"/>
                <a:cs typeface="Arial"/>
              </a:rPr>
              <a:t>tenths</a:t>
            </a:r>
            <a:r>
              <a:rPr lang="en-US" sz="4400" dirty="0">
                <a:latin typeface="Arial"/>
                <a:cs typeface="Arial"/>
              </a:rPr>
              <a:t> are shaded?</a:t>
            </a:r>
          </a:p>
          <a:p>
            <a:pPr algn="ctr"/>
            <a:r>
              <a:rPr lang="en-US" sz="4400" dirty="0">
                <a:solidFill>
                  <a:srgbClr val="22272B"/>
                </a:solidFill>
              </a:rPr>
              <a:t>How can we </a:t>
            </a:r>
            <a:r>
              <a:rPr lang="en-US" sz="4400" b="1" dirty="0">
                <a:solidFill>
                  <a:srgbClr val="22272B"/>
                </a:solidFill>
              </a:rPr>
              <a:t>rename</a:t>
            </a:r>
            <a:r>
              <a:rPr lang="en-US" sz="4400" dirty="0">
                <a:solidFill>
                  <a:srgbClr val="22272B"/>
                </a:solidFill>
              </a:rPr>
              <a:t> this as a decimal? </a:t>
            </a: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A8AD6B3-D377-CD0C-D55B-8F006C042486}"/>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22" name="Picture 21" descr="A number line from 0 to 2 is shown, with a rectangular bar above it divided into 20 equal parts. The first 10 parts (from 0 to 1) and the next 4 parts after 1 are shaded blue, making a total of 14 shaded parts. A vertical line marks the whole number 1 on both the bar and the number line.">
            <a:extLst>
              <a:ext uri="{FF2B5EF4-FFF2-40B4-BE49-F238E27FC236}">
                <a16:creationId xmlns:a16="http://schemas.microsoft.com/office/drawing/2014/main" id="{A7ED7DA0-FF60-3DFD-4BE0-0CEDE0EE79C2}"/>
              </a:ext>
            </a:extLst>
          </p:cNvPr>
          <p:cNvPicPr>
            <a:picLocks noChangeAspect="1"/>
          </p:cNvPicPr>
          <p:nvPr/>
        </p:nvPicPr>
        <p:blipFill>
          <a:blip r:embed="rId4"/>
          <a:stretch>
            <a:fillRect/>
          </a:stretch>
        </p:blipFill>
        <p:spPr>
          <a:xfrm>
            <a:off x="1897047" y="3674271"/>
            <a:ext cx="8636444" cy="2324219"/>
          </a:xfrm>
          <a:prstGeom prst="rect">
            <a:avLst/>
          </a:prstGeom>
        </p:spPr>
      </p:pic>
    </p:spTree>
    <p:extLst>
      <p:ext uri="{BB962C8B-B14F-4D97-AF65-F5344CB8AC3E}">
        <p14:creationId xmlns:p14="http://schemas.microsoft.com/office/powerpoint/2010/main" val="1233306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7DC4F-C95E-53E0-E0D5-8EB3DF4AD10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9E5C91-8D47-D735-FCA2-6E62150B2200}"/>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FF10CD5A-F664-8336-FE80-424BFB22F8E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(11)</a:t>
            </a:r>
          </a:p>
        </p:txBody>
      </p:sp>
      <p:pic>
        <p:nvPicPr>
          <p:cNvPr id="4" name="Picture 3" descr="image of a clipboard with a pencil recording short answer responses">
            <a:extLst>
              <a:ext uri="{FF2B5EF4-FFF2-40B4-BE49-F238E27FC236}">
                <a16:creationId xmlns:a16="http://schemas.microsoft.com/office/drawing/2014/main" id="{215456BE-BEE7-2B3E-26C5-ABB7FED6F42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F9CAC0B7-EAD8-48F5-779E-F15F67699D82}"/>
              </a:ext>
            </a:extLst>
          </p:cNvPr>
          <p:cNvSpPr txBox="1"/>
          <p:nvPr/>
        </p:nvSpPr>
        <p:spPr>
          <a:xfrm>
            <a:off x="534705" y="1364479"/>
            <a:ext cx="11122590" cy="4313938"/>
          </a:xfrm>
          <a:prstGeom prst="rect">
            <a:avLst/>
          </a:prstGeom>
          <a:noFill/>
        </p:spPr>
        <p:txBody>
          <a:bodyPr wrap="square">
            <a:spAutoFit/>
          </a:bodyPr>
          <a:lstStyle/>
          <a:p>
            <a:pPr>
              <a:spcAft>
                <a:spcPts val="1800"/>
              </a:spcAft>
            </a:pPr>
            <a:r>
              <a:rPr lang="en-AU" sz="4400" dirty="0"/>
              <a:t>Show the answer to this using a </a:t>
            </a:r>
            <a:r>
              <a:rPr lang="en-AU" sz="4400" b="1" dirty="0"/>
              <a:t>bar model</a:t>
            </a:r>
            <a:r>
              <a:rPr lang="en-AU" sz="4400" dirty="0"/>
              <a:t>:</a:t>
            </a:r>
          </a:p>
          <a:p>
            <a:pPr algn="ctr">
              <a:lnSpc>
                <a:spcPct val="150000"/>
              </a:lnSpc>
              <a:spcBef>
                <a:spcPts val="1200"/>
              </a:spcBef>
              <a:spcAft>
                <a:spcPts val="1800"/>
              </a:spcAft>
            </a:pPr>
            <a:r>
              <a:rPr lang="en-AU" sz="3600" dirty="0"/>
              <a:t>A bus can hold 92 passengers. </a:t>
            </a:r>
          </a:p>
          <a:p>
            <a:pPr algn="ctr">
              <a:lnSpc>
                <a:spcPct val="150000"/>
              </a:lnSpc>
              <a:spcBef>
                <a:spcPts val="1200"/>
              </a:spcBef>
              <a:spcAft>
                <a:spcPts val="1800"/>
              </a:spcAft>
            </a:pPr>
            <a:r>
              <a:rPr lang="en-AU" sz="3600" dirty="0"/>
              <a:t>67 people are already on the bus. </a:t>
            </a:r>
          </a:p>
          <a:p>
            <a:pPr algn="ctr">
              <a:lnSpc>
                <a:spcPct val="150000"/>
              </a:lnSpc>
              <a:spcBef>
                <a:spcPts val="1200"/>
              </a:spcBef>
              <a:spcAft>
                <a:spcPts val="1800"/>
              </a:spcAft>
            </a:pPr>
            <a:r>
              <a:rPr lang="en-AU" sz="3600" dirty="0"/>
              <a:t>How many more people can get on?</a:t>
            </a:r>
          </a:p>
        </p:txBody>
      </p:sp>
    </p:spTree>
    <p:extLst>
      <p:ext uri="{BB962C8B-B14F-4D97-AF65-F5344CB8AC3E}">
        <p14:creationId xmlns:p14="http://schemas.microsoft.com/office/powerpoint/2010/main" val="1935977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(12)</a:t>
            </a:r>
          </a:p>
        </p:txBody>
      </p:sp>
      <p:pic>
        <p:nvPicPr>
          <p:cNvPr id="4" name="Picture 3" descr="image of a clipboard with a pencil recording short answer responses">
            <a:extLst>
              <a:ext uri="{FF2B5EF4-FFF2-40B4-BE49-F238E27FC236}">
                <a16:creationId xmlns:a16="http://schemas.microsoft.com/office/drawing/2014/main" id="{F6524755-11ED-9461-3FEF-45D126D2CF8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8ED251F4-6C98-5383-78C8-5867F85712AC}"/>
              </a:ext>
            </a:extLst>
          </p:cNvPr>
          <p:cNvSpPr txBox="1"/>
          <p:nvPr/>
        </p:nvSpPr>
        <p:spPr>
          <a:xfrm>
            <a:off x="660771" y="1839100"/>
            <a:ext cx="10641495" cy="3570208"/>
          </a:xfrm>
          <a:prstGeom prst="rect">
            <a:avLst/>
          </a:prstGeom>
          <a:noFill/>
        </p:spPr>
        <p:txBody>
          <a:bodyPr wrap="square">
            <a:spAutoFit/>
          </a:bodyPr>
          <a:lstStyle/>
          <a:p>
            <a:pPr marL="742950" indent="-742950">
              <a:spcBef>
                <a:spcPts val="1200"/>
              </a:spcBef>
              <a:spcAft>
                <a:spcPts val="1800"/>
              </a:spcAft>
              <a:buFont typeface="+mj-lt"/>
              <a:buAutoNum type="arabicPeriod"/>
            </a:pPr>
            <a:r>
              <a:rPr lang="en-AU" sz="4400" dirty="0">
                <a:latin typeface="Arial"/>
                <a:cs typeface="Arial"/>
              </a:rPr>
              <a:t>Draw a trapezium.</a:t>
            </a:r>
          </a:p>
          <a:p>
            <a:pPr marL="742950" indent="-742950">
              <a:spcBef>
                <a:spcPts val="1200"/>
              </a:spcBef>
              <a:spcAft>
                <a:spcPts val="1800"/>
              </a:spcAft>
              <a:buFont typeface="+mj-lt"/>
              <a:buAutoNum type="arabicPeriod"/>
            </a:pPr>
            <a:r>
              <a:rPr lang="en-AU" sz="4400" dirty="0">
                <a:latin typeface="Arial"/>
                <a:cs typeface="Arial"/>
              </a:rPr>
              <a:t>Draw lines to split your trapezium into smaller shapes you know</a:t>
            </a:r>
          </a:p>
          <a:p>
            <a:pPr marL="742950" indent="-742950">
              <a:spcBef>
                <a:spcPts val="1200"/>
              </a:spcBef>
              <a:spcAft>
                <a:spcPts val="1800"/>
              </a:spcAft>
              <a:buFont typeface="+mj-lt"/>
              <a:buAutoNum type="arabicPeriod"/>
            </a:pPr>
            <a:r>
              <a:rPr lang="en-AU" sz="4400" dirty="0">
                <a:latin typeface="Arial"/>
                <a:cs typeface="Arial"/>
              </a:rPr>
              <a:t>What shapes did you make? </a:t>
            </a:r>
            <a:endParaRPr lang="en-US" sz="4400" dirty="0">
              <a:latin typeface="Arial"/>
              <a:cs typeface="Arial"/>
            </a:endParaRPr>
          </a:p>
        </p:txBody>
      </p:sp>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3B753-4884-9603-6E0B-9EB35E0636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26A967-3193-D2CF-8652-3CEBA99F1B30}"/>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14DFB8F4-ECDD-6FDE-CB51-17647FF8E5AD}"/>
              </a:ext>
            </a:extLst>
          </p:cNvPr>
          <p:cNvSpPr>
            <a:spLocks noGrp="1"/>
          </p:cNvSpPr>
          <p:nvPr>
            <p:ph type="title"/>
          </p:nvPr>
        </p:nvSpPr>
        <p:spPr/>
        <p:txBody>
          <a:bodyPr/>
          <a:lstStyle/>
          <a:p>
            <a:r>
              <a:rPr lang="en-AU">
                <a:latin typeface="Arial"/>
                <a:cs typeface="Arial"/>
              </a:rPr>
              <a:t>Activity 3 – covered grid</a:t>
            </a:r>
            <a:endParaRPr lang="en-AU"/>
          </a:p>
        </p:txBody>
      </p:sp>
      <p:grpSp>
        <p:nvGrpSpPr>
          <p:cNvPr id="12" name="Group 11" descr="A 5 x 3 grid covered to reveal the lines at the top and side edges.">
            <a:extLst>
              <a:ext uri="{FF2B5EF4-FFF2-40B4-BE49-F238E27FC236}">
                <a16:creationId xmlns:a16="http://schemas.microsoft.com/office/drawing/2014/main" id="{E88DD0E6-CBAE-DDAB-4F0A-F9D6A74CDEDD}"/>
              </a:ext>
            </a:extLst>
          </p:cNvPr>
          <p:cNvGrpSpPr/>
          <p:nvPr/>
        </p:nvGrpSpPr>
        <p:grpSpPr>
          <a:xfrm>
            <a:off x="3742267" y="1116466"/>
            <a:ext cx="3911600" cy="5579532"/>
            <a:chOff x="3716867" y="1168741"/>
            <a:chExt cx="3911600" cy="5596126"/>
          </a:xfrm>
        </p:grpSpPr>
        <p:grpSp>
          <p:nvGrpSpPr>
            <p:cNvPr id="4" name="Group 3" descr="A 6 x 3">
              <a:extLst>
                <a:ext uri="{FF2B5EF4-FFF2-40B4-BE49-F238E27FC236}">
                  <a16:creationId xmlns:a16="http://schemas.microsoft.com/office/drawing/2014/main" id="{6B679C65-AF66-2710-48FD-F7F87F068FB2}"/>
                </a:ext>
              </a:extLst>
            </p:cNvPr>
            <p:cNvGrpSpPr/>
            <p:nvPr/>
          </p:nvGrpSpPr>
          <p:grpSpPr>
            <a:xfrm>
              <a:off x="4054133" y="1168741"/>
              <a:ext cx="3091734" cy="5527258"/>
              <a:chOff x="3834000" y="756000"/>
              <a:chExt cx="3024000" cy="6031699"/>
            </a:xfrm>
          </p:grpSpPr>
          <p:sp>
            <p:nvSpPr>
              <p:cNvPr id="5" name="Freeform 2">
                <a:extLst>
                  <a:ext uri="{FF2B5EF4-FFF2-40B4-BE49-F238E27FC236}">
                    <a16:creationId xmlns:a16="http://schemas.microsoft.com/office/drawing/2014/main" id="{43F4EEF3-BE92-E901-89B4-1F635B1561F3}"/>
                  </a:ext>
                </a:extLst>
              </p:cNvPr>
              <p:cNvSpPr/>
              <p:nvPr/>
            </p:nvSpPr>
            <p:spPr>
              <a:xfrm>
                <a:off x="3834000" y="3763699"/>
                <a:ext cx="3024000" cy="3024000"/>
              </a:xfrm>
              <a:custGeom>
                <a:avLst/>
                <a:gdLst/>
                <a:ahLst/>
                <a:cxnLst/>
                <a:rect l="l" t="t" r="r" b="b"/>
                <a:pathLst>
                  <a:path w="3024000" h="3024000">
                    <a:moveTo>
                      <a:pt x="0" y="0"/>
                    </a:moveTo>
                    <a:lnTo>
                      <a:pt x="3024000" y="0"/>
                    </a:lnTo>
                    <a:lnTo>
                      <a:pt x="3024000"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 name="Freeform 3">
                <a:extLst>
                  <a:ext uri="{FF2B5EF4-FFF2-40B4-BE49-F238E27FC236}">
                    <a16:creationId xmlns:a16="http://schemas.microsoft.com/office/drawing/2014/main" id="{60030F78-16C0-B829-BE05-540B2298912F}"/>
                  </a:ext>
                </a:extLst>
              </p:cNvPr>
              <p:cNvSpPr/>
              <p:nvPr/>
            </p:nvSpPr>
            <p:spPr>
              <a:xfrm>
                <a:off x="3834000" y="756000"/>
                <a:ext cx="3024000" cy="3024000"/>
              </a:xfrm>
              <a:custGeom>
                <a:avLst/>
                <a:gdLst/>
                <a:ahLst/>
                <a:cxnLst/>
                <a:rect l="l" t="t" r="r" b="b"/>
                <a:pathLst>
                  <a:path w="3024000" h="3024000">
                    <a:moveTo>
                      <a:pt x="0" y="0"/>
                    </a:moveTo>
                    <a:lnTo>
                      <a:pt x="3024000" y="0"/>
                    </a:lnTo>
                    <a:lnTo>
                      <a:pt x="3024000"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nvGrpSpPr>
              <p:cNvPr id="8" name="Group 7">
                <a:extLst>
                  <a:ext uri="{FF2B5EF4-FFF2-40B4-BE49-F238E27FC236}">
                    <a16:creationId xmlns:a16="http://schemas.microsoft.com/office/drawing/2014/main" id="{BDF128AF-C7A4-CD9A-4695-0D93F6C1CF13}"/>
                  </a:ext>
                </a:extLst>
              </p:cNvPr>
              <p:cNvGrpSpPr/>
              <p:nvPr/>
            </p:nvGrpSpPr>
            <p:grpSpPr>
              <a:xfrm>
                <a:off x="4074589" y="897702"/>
                <a:ext cx="2783411" cy="4889126"/>
                <a:chOff x="0" y="-28575"/>
                <a:chExt cx="997512" cy="1752152"/>
              </a:xfrm>
            </p:grpSpPr>
            <p:sp>
              <p:nvSpPr>
                <p:cNvPr id="9" name="Freeform 8">
                  <a:extLst>
                    <a:ext uri="{FF2B5EF4-FFF2-40B4-BE49-F238E27FC236}">
                      <a16:creationId xmlns:a16="http://schemas.microsoft.com/office/drawing/2014/main" id="{DEB2333B-F643-288C-FC4D-4504C7D73CC4}"/>
                    </a:ext>
                  </a:extLst>
                </p:cNvPr>
                <p:cNvSpPr/>
                <p:nvPr/>
              </p:nvSpPr>
              <p:spPr>
                <a:xfrm>
                  <a:off x="0" y="7433"/>
                  <a:ext cx="997512" cy="1716144"/>
                </a:xfrm>
                <a:custGeom>
                  <a:avLst/>
                  <a:gdLst/>
                  <a:ahLst/>
                  <a:cxnLst/>
                  <a:rect l="l" t="t" r="r" b="b"/>
                  <a:pathLst>
                    <a:path w="997512" h="1723577">
                      <a:moveTo>
                        <a:pt x="0" y="0"/>
                      </a:moveTo>
                      <a:lnTo>
                        <a:pt x="997512" y="0"/>
                      </a:lnTo>
                      <a:lnTo>
                        <a:pt x="997512" y="1723577"/>
                      </a:lnTo>
                      <a:lnTo>
                        <a:pt x="0" y="1723577"/>
                      </a:lnTo>
                      <a:close/>
                    </a:path>
                  </a:pathLst>
                </a:custGeom>
                <a:solidFill>
                  <a:srgbClr val="CBEDFD"/>
                </a:solidFill>
                <a:ln w="38100" cap="sq">
                  <a:solidFill>
                    <a:srgbClr val="0075FF"/>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0" name="TextBox 9">
                  <a:extLst>
                    <a:ext uri="{FF2B5EF4-FFF2-40B4-BE49-F238E27FC236}">
                      <a16:creationId xmlns:a16="http://schemas.microsoft.com/office/drawing/2014/main" id="{29DF1AB4-2D2B-672A-F446-73D726BDD8DE}"/>
                    </a:ext>
                  </a:extLst>
                </p:cNvPr>
                <p:cNvSpPr txBox="1"/>
                <p:nvPr/>
              </p:nvSpPr>
              <p:spPr>
                <a:xfrm>
                  <a:off x="0" y="-28575"/>
                  <a:ext cx="997512" cy="1752152"/>
                </a:xfrm>
                <a:prstGeom prst="rect">
                  <a:avLst/>
                </a:prstGeom>
              </p:spPr>
              <p:txBody>
                <a:bodyPr lIns="50800" tIns="50800" rIns="50800" bIns="50800" rtlCol="0" anchor="ctr"/>
                <a:lstStyle/>
                <a:p>
                  <a:pPr marL="0" marR="0" lvl="0" indent="0" algn="ctr" defTabSz="609585" rtl="0" eaLnBrk="1" fontAlgn="auto" latinLnBrk="0" hangingPunct="1">
                    <a:lnSpc>
                      <a:spcPts val="1960"/>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sp>
          <p:nvSpPr>
            <p:cNvPr id="11" name="Rectangle 10">
              <a:extLst>
                <a:ext uri="{FF2B5EF4-FFF2-40B4-BE49-F238E27FC236}">
                  <a16:creationId xmlns:a16="http://schemas.microsoft.com/office/drawing/2014/main" id="{67BB5DEF-CF08-1FF1-87EA-926B18C29516}"/>
                </a:ext>
              </a:extLst>
            </p:cNvPr>
            <p:cNvSpPr/>
            <p:nvPr/>
          </p:nvSpPr>
          <p:spPr>
            <a:xfrm>
              <a:off x="3716867" y="5778832"/>
              <a:ext cx="3911600" cy="9860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grpSp>
      <p:pic>
        <p:nvPicPr>
          <p:cNvPr id="6" name="Picture 5" descr="image of a head with cogs turning inside">
            <a:extLst>
              <a:ext uri="{FF2B5EF4-FFF2-40B4-BE49-F238E27FC236}">
                <a16:creationId xmlns:a16="http://schemas.microsoft.com/office/drawing/2014/main" id="{9A58733D-2193-50A0-4542-7409202DD2D8}"/>
              </a:ext>
            </a:extLst>
          </p:cNvPr>
          <p:cNvPicPr>
            <a:picLocks noChangeAspect="1"/>
          </p:cNvPicPr>
          <p:nvPr/>
        </p:nvPicPr>
        <p:blipFill>
          <a:blip r:embed="rId5"/>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2321481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(2)</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3709616" y="1184019"/>
                <a:ext cx="7574143" cy="2877133"/>
              </a:xfrm>
            </p:spPr>
            <p:txBody>
              <a:bodyPr vert="horz" lIns="0" tIns="0" rIns="0" bIns="0" rtlCol="0" anchor="t">
                <a:noAutofit/>
              </a:bodyPr>
              <a:lstStyle/>
              <a:p>
                <a:pPr algn="ctr"/>
                <a:r>
                  <a:rPr lang="en-US" sz="3200" dirty="0"/>
                  <a:t>This shows the following related facts:</a:t>
                </a:r>
              </a:p>
              <a:p>
                <a:pPr algn="ctr">
                  <a:lnSpc>
                    <a:spcPct val="100000"/>
                  </a:lnSpc>
                </a:pPr>
                <a:r>
                  <a:rPr lang="en-AU" sz="4800" dirty="0">
                    <a:latin typeface="+mj-lt"/>
                    <a:cs typeface="Arial"/>
                  </a:rPr>
                  <a:t>3 x 6 = 18</a:t>
                </a:r>
              </a:p>
              <a:p>
                <a:pPr algn="ctr">
                  <a:lnSpc>
                    <a:spcPct val="100000"/>
                  </a:lnSpc>
                </a:pPr>
                <a:r>
                  <a:rPr lang="en-AU" sz="4800" dirty="0">
                    <a:cs typeface="Arial"/>
                  </a:rPr>
                  <a:t>6 x 3 = 18</a:t>
                </a:r>
                <a:endParaRPr lang="en-AU" sz="4800" dirty="0">
                  <a:latin typeface="+mj-lt"/>
                  <a:cs typeface="Arial"/>
                </a:endParaRPr>
              </a:p>
              <a:p>
                <a:pPr algn="ctr">
                  <a:lnSpc>
                    <a:spcPct val="100000"/>
                  </a:lnSpc>
                </a:pPr>
                <a:r>
                  <a:rPr lang="en-AU" sz="4800" dirty="0">
                    <a:latin typeface="+mj-lt"/>
                    <a:cs typeface="Arial"/>
                  </a:rPr>
                  <a:t>18 </a:t>
                </a:r>
                <a14:m>
                  <m:oMath xmlns:m="http://schemas.openxmlformats.org/officeDocument/2006/math">
                    <m:r>
                      <a:rPr lang="en-AU" sz="4800">
                        <a:latin typeface="Cambria Math" panose="02040503050406030204" pitchFamily="18" charset="0"/>
                        <a:cs typeface="Arial"/>
                      </a:rPr>
                      <m:t>÷</m:t>
                    </m:r>
                  </m:oMath>
                </a14:m>
                <a:r>
                  <a:rPr lang="en-AU" sz="4800" dirty="0">
                    <a:latin typeface="+mj-lt"/>
                    <a:cs typeface="Arial"/>
                  </a:rPr>
                  <a:t> 3 = 6</a:t>
                </a:r>
              </a:p>
              <a:p>
                <a:pPr algn="ctr">
                  <a:lnSpc>
                    <a:spcPct val="100000"/>
                  </a:lnSpc>
                </a:pPr>
                <a:r>
                  <a:rPr lang="en-AU" sz="4800" dirty="0">
                    <a:latin typeface="+mj-lt"/>
                    <a:cs typeface="Arial"/>
                  </a:rPr>
                  <a:t>18 </a:t>
                </a:r>
                <a14:m>
                  <m:oMath xmlns:m="http://schemas.openxmlformats.org/officeDocument/2006/math">
                    <m:r>
                      <a:rPr lang="en-AU" sz="4800">
                        <a:latin typeface="Cambria Math" panose="02040503050406030204" pitchFamily="18" charset="0"/>
                        <a:cs typeface="Arial"/>
                      </a:rPr>
                      <m:t>÷</m:t>
                    </m:r>
                  </m:oMath>
                </a14:m>
                <a:r>
                  <a:rPr lang="en-AU" sz="4800" dirty="0">
                    <a:latin typeface="+mj-lt"/>
                    <a:cs typeface="Arial"/>
                  </a:rPr>
                  <a:t> 6 = 3 </a:t>
                </a:r>
              </a:p>
              <a:p>
                <a:pPr algn="ctr"/>
                <a:endParaRPr lang="en-AU" sz="3200" dirty="0"/>
              </a:p>
            </p:txBody>
          </p:sp>
        </mc:Choice>
        <mc:Fallback xmlns="">
          <p:sp>
            <p:nvSpPr>
              <p:cNvPr id="7" name="Text Placeholder 6">
                <a:extLst>
                  <a:ext uri="{FF2B5EF4-FFF2-40B4-BE49-F238E27FC236}">
                    <a16:creationId xmlns:a16="http://schemas.microsoft.com/office/drawing/2014/main" id="{F060180D-91D5-EA06-E103-8B3688B0CE76}"/>
                  </a:ext>
                </a:extLst>
              </p:cNvPr>
              <p:cNvSpPr>
                <a:spLocks noGrp="1" noRot="1" noChangeAspect="1" noMove="1" noResize="1" noEditPoints="1" noAdjustHandles="1" noChangeArrowheads="1" noChangeShapeType="1" noTextEdit="1"/>
              </p:cNvSpPr>
              <p:nvPr>
                <p:ph type="body" sz="quarter" idx="22"/>
              </p:nvPr>
            </p:nvSpPr>
            <p:spPr>
              <a:xfrm>
                <a:off x="3709616" y="1184019"/>
                <a:ext cx="7574143" cy="2877133"/>
              </a:xfrm>
              <a:blipFill>
                <a:blip r:embed="rId3"/>
                <a:stretch>
                  <a:fillRect b="-50424"/>
                </a:stretch>
              </a:blipFill>
            </p:spPr>
            <p:txBody>
              <a:bodyPr/>
              <a:lstStyle/>
              <a:p>
                <a:r>
                  <a:rPr lang="en-AU">
                    <a:noFill/>
                  </a:rPr>
                  <a:t> </a:t>
                </a:r>
              </a:p>
            </p:txBody>
          </p:sp>
        </mc:Fallback>
      </mc:AlternateContent>
      <p:sp>
        <p:nvSpPr>
          <p:cNvPr id="4" name="Text Placeholder 11">
            <a:extLst>
              <a:ext uri="{FF2B5EF4-FFF2-40B4-BE49-F238E27FC236}">
                <a16:creationId xmlns:a16="http://schemas.microsoft.com/office/drawing/2014/main" id="{0349BF09-6F55-E125-B475-18E20F88B83B}"/>
              </a:ext>
            </a:extLst>
          </p:cNvPr>
          <p:cNvSpPr txBox="1">
            <a:spLocks/>
          </p:cNvSpPr>
          <p:nvPr/>
        </p:nvSpPr>
        <p:spPr>
          <a:xfrm>
            <a:off x="322422" y="6076973"/>
            <a:ext cx="4625359" cy="5456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3306730649"/>
              </p:ext>
            </p:extLst>
          </p:nvPr>
        </p:nvGraphicFramePr>
        <p:xfrm>
          <a:off x="2309631" y="533529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6" name="Picture 5" descr="image of a finger selecting an option for a multiple choice or true and false">
            <a:extLst>
              <a:ext uri="{FF2B5EF4-FFF2-40B4-BE49-F238E27FC236}">
                <a16:creationId xmlns:a16="http://schemas.microsoft.com/office/drawing/2014/main" id="{69530689-7807-BBD6-FD1B-040AA488A195}"/>
              </a:ext>
            </a:extLst>
          </p:cNvPr>
          <p:cNvPicPr>
            <a:picLocks noChangeAspect="1"/>
          </p:cNvPicPr>
          <p:nvPr/>
        </p:nvPicPr>
        <p:blipFill>
          <a:blip r:embed="rId4"/>
          <a:stretch>
            <a:fillRect/>
          </a:stretch>
        </p:blipFill>
        <p:spPr>
          <a:xfrm>
            <a:off x="10807908" y="43303"/>
            <a:ext cx="1165786" cy="1140716"/>
          </a:xfrm>
          <a:prstGeom prst="rect">
            <a:avLst/>
          </a:prstGeom>
        </p:spPr>
      </p:pic>
      <p:pic>
        <p:nvPicPr>
          <p:cNvPr id="13" name="Picture 12" descr="A grid of squares made from 6 rows with 3 in each row.&#10;&#10;">
            <a:extLst>
              <a:ext uri="{FF2B5EF4-FFF2-40B4-BE49-F238E27FC236}">
                <a16:creationId xmlns:a16="http://schemas.microsoft.com/office/drawing/2014/main" id="{D53554F6-7721-AE54-00B3-041BF83ABB34}"/>
              </a:ext>
            </a:extLst>
          </p:cNvPr>
          <p:cNvPicPr>
            <a:picLocks noChangeAspect="1"/>
          </p:cNvPicPr>
          <p:nvPr/>
        </p:nvPicPr>
        <p:blipFill>
          <a:blip r:embed="rId5"/>
          <a:stretch>
            <a:fillRect/>
          </a:stretch>
        </p:blipFill>
        <p:spPr>
          <a:xfrm>
            <a:off x="515082" y="2341375"/>
            <a:ext cx="4432700" cy="2166544"/>
          </a:xfrm>
          <a:prstGeom prst="rect">
            <a:avLst/>
          </a:prstGeom>
        </p:spPr>
      </p:pic>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(13</a:t>
            </a:r>
            <a:r>
              <a:rPr lang="en-US" dirty="0">
                <a:solidFill>
                  <a:schemeClr val="bg1"/>
                </a:solidFill>
                <a:latin typeface="Arial"/>
                <a:cs typeface="Arial"/>
              </a:rPr>
              <a:t>)</a:t>
            </a:r>
            <a:endParaRPr lang="en-US">
              <a:solidFill>
                <a:schemeClr val="bg1"/>
              </a:solidFill>
              <a:latin typeface="Arial"/>
              <a:cs typeface="Arial"/>
            </a:endParaRPr>
          </a:p>
        </p:txBody>
      </p:sp>
      <p:sp>
        <p:nvSpPr>
          <p:cNvPr id="11" name="Picture Placeholder 10">
            <a:extLst>
              <a:ext uri="{FF2B5EF4-FFF2-40B4-BE49-F238E27FC236}">
                <a16:creationId xmlns:a16="http://schemas.microsoft.com/office/drawing/2014/main" id="{14C19D03-CFFF-C433-C478-7D603E7E945A}"/>
              </a:ext>
            </a:extLst>
          </p:cNvPr>
          <p:cNvSpPr>
            <a:spLocks noGrp="1"/>
          </p:cNvSpPr>
          <p:nvPr>
            <p:ph type="pic" sz="quarter" idx="21"/>
          </p:nvPr>
        </p:nvSpPr>
        <p:spPr>
          <a:xfrm>
            <a:off x="359998" y="1735454"/>
            <a:ext cx="11243037" cy="4501924"/>
          </a:xfrm>
        </p:spPr>
        <p:txBody>
          <a:bodyPr/>
          <a:lstStyle/>
          <a:p>
            <a:pPr algn="ctr"/>
            <a:r>
              <a:rPr lang="en-AU" sz="4000" dirty="0">
                <a:latin typeface="Arial"/>
                <a:cs typeface="Arial"/>
              </a:rPr>
              <a:t>Riley says, ‘</a:t>
            </a:r>
            <a:r>
              <a:rPr lang="en-AU" sz="4000" dirty="0"/>
              <a:t>A rectangle that is 10 cm long and 2 cm wide has the same area as one that is 5 cm long and 4 cm wide.”</a:t>
            </a:r>
          </a:p>
          <a:p>
            <a:pPr algn="ctr"/>
            <a:br>
              <a:rPr lang="en-AU" sz="4000" dirty="0"/>
            </a:br>
            <a:r>
              <a:rPr lang="en-AU" sz="4000" b="1" dirty="0"/>
              <a:t>Is Riley correct? Explain how you know.</a:t>
            </a:r>
            <a:endParaRPr lang="en-AU" sz="4000" b="0" dirty="0">
              <a:latin typeface="Arial"/>
              <a:cs typeface="Arial"/>
            </a:endParaRP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CBFAEF5-264E-AC66-53E9-1C49CB3F5B08}"/>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9106A-42F6-0043-3C9B-189EB1458F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2FD6FD-2794-9F65-A735-2D6F3F496824}"/>
              </a:ext>
            </a:extLst>
          </p:cNvPr>
          <p:cNvSpPr>
            <a:spLocks noGrp="1"/>
          </p:cNvSpPr>
          <p:nvPr>
            <p:ph type="sldNum" sz="quarter" idx="12"/>
          </p:nvPr>
        </p:nvSpPr>
        <p:spPr>
          <a:xfrm>
            <a:off x="11124001" y="6430275"/>
            <a:ext cx="720000" cy="180000"/>
          </a:xfrm>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8CF2F279-43BE-7F77-8706-DC847D6CFBFE}"/>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(14</a:t>
            </a:r>
            <a:r>
              <a:rPr lang="en-US" dirty="0">
                <a:solidFill>
                  <a:schemeClr val="bg1"/>
                </a:solidFill>
                <a:latin typeface="Arial"/>
                <a:cs typeface="Arial"/>
              </a:rPr>
              <a:t>)</a:t>
            </a:r>
            <a:endParaRPr lang="en-US">
              <a:solidFill>
                <a:schemeClr val="bg1"/>
              </a:solidFill>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8DA252F2-F911-1115-8004-435D6057C80B}"/>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9" name="Picture Placeholder 10">
            <a:extLst>
              <a:ext uri="{FF2B5EF4-FFF2-40B4-BE49-F238E27FC236}">
                <a16:creationId xmlns:a16="http://schemas.microsoft.com/office/drawing/2014/main" id="{971A3AFB-6DFA-13E3-4977-58743A899023}"/>
              </a:ext>
            </a:extLst>
          </p:cNvPr>
          <p:cNvSpPr>
            <a:spLocks noGrp="1"/>
          </p:cNvSpPr>
          <p:nvPr>
            <p:ph type="pic" sz="quarter" idx="21"/>
          </p:nvPr>
        </p:nvSpPr>
        <p:spPr>
          <a:xfrm>
            <a:off x="359999" y="1500497"/>
            <a:ext cx="11243037" cy="1753243"/>
          </a:xfrm>
        </p:spPr>
        <p:txBody>
          <a:bodyPr/>
          <a:lstStyle/>
          <a:p>
            <a:pPr algn="ctr"/>
            <a:r>
              <a:rPr lang="en-US" sz="4400">
                <a:latin typeface="Arial"/>
                <a:cs typeface="Arial"/>
              </a:rPr>
              <a:t>Write the 3 missing numbers from this number line.</a:t>
            </a:r>
            <a:endParaRPr lang="en-US"/>
          </a:p>
          <a:p>
            <a:endParaRPr lang="en-US">
              <a:latin typeface="Arial"/>
              <a:cs typeface="Arial"/>
            </a:endParaRPr>
          </a:p>
        </p:txBody>
      </p:sp>
      <p:pic>
        <p:nvPicPr>
          <p:cNvPr id="13" name="Picture 12" descr="A number line displaying a washing line  with cards showing decimal numbers in tenths: 0.3, 0.4, 0.5, 0.6, 0.7, 0.8, and 0.9, arranged in order from left to right. The number before 0.3 and two numbers after 0.9 are missing.">
            <a:extLst>
              <a:ext uri="{FF2B5EF4-FFF2-40B4-BE49-F238E27FC236}">
                <a16:creationId xmlns:a16="http://schemas.microsoft.com/office/drawing/2014/main" id="{EDE13BE2-9CE4-0863-007E-2315253AEF8F}"/>
              </a:ext>
            </a:extLst>
          </p:cNvPr>
          <p:cNvPicPr>
            <a:picLocks noChangeAspect="1"/>
          </p:cNvPicPr>
          <p:nvPr/>
        </p:nvPicPr>
        <p:blipFill>
          <a:blip r:embed="rId4"/>
          <a:stretch>
            <a:fillRect/>
          </a:stretch>
        </p:blipFill>
        <p:spPr>
          <a:xfrm>
            <a:off x="585220" y="3848636"/>
            <a:ext cx="11017816" cy="2101958"/>
          </a:xfrm>
          <a:prstGeom prst="rect">
            <a:avLst/>
          </a:prstGeom>
        </p:spPr>
      </p:pic>
    </p:spTree>
    <p:extLst>
      <p:ext uri="{BB962C8B-B14F-4D97-AF65-F5344CB8AC3E}">
        <p14:creationId xmlns:p14="http://schemas.microsoft.com/office/powerpoint/2010/main" val="1640471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a:xfrm>
            <a:off x="360000" y="402120"/>
            <a:ext cx="11243038" cy="545601"/>
          </a:xfrm>
        </p:spPr>
        <p:txBody>
          <a:bodyPr/>
          <a:lstStyle/>
          <a:p>
            <a:r>
              <a:rPr lang="en-US">
                <a:latin typeface="Arial"/>
                <a:cs typeface="Arial"/>
              </a:rPr>
              <a:t>Short response </a:t>
            </a:r>
            <a:r>
              <a:rPr lang="en-US">
                <a:solidFill>
                  <a:schemeClr val="bg1"/>
                </a:solidFill>
                <a:latin typeface="Arial"/>
                <a:cs typeface="Arial"/>
              </a:rPr>
              <a:t>(15) </a:t>
            </a:r>
          </a:p>
        </p:txBody>
      </p:sp>
      <p:pic>
        <p:nvPicPr>
          <p:cNvPr id="4" name="Picture 3" descr="image of a clipboard with a pencil recording short answer responses">
            <a:extLst>
              <a:ext uri="{FF2B5EF4-FFF2-40B4-BE49-F238E27FC236}">
                <a16:creationId xmlns:a16="http://schemas.microsoft.com/office/drawing/2014/main" id="{26FF086C-E9B9-CA71-EB91-C0AC0EA37979}"/>
              </a:ext>
            </a:extLst>
          </p:cNvPr>
          <p:cNvPicPr>
            <a:picLocks noChangeAspect="1"/>
          </p:cNvPicPr>
          <p:nvPr/>
        </p:nvPicPr>
        <p:blipFill>
          <a:blip r:embed="rId3"/>
          <a:stretch>
            <a:fillRect/>
          </a:stretch>
        </p:blipFill>
        <p:spPr>
          <a:xfrm>
            <a:off x="11026250" y="203403"/>
            <a:ext cx="915500" cy="915500"/>
          </a:xfrm>
          <a:prstGeom prst="rect">
            <a:avLst/>
          </a:prstGeom>
        </p:spPr>
      </p:pic>
      <p:sp>
        <p:nvSpPr>
          <p:cNvPr id="7" name="TextBox 6">
            <a:extLst>
              <a:ext uri="{FF2B5EF4-FFF2-40B4-BE49-F238E27FC236}">
                <a16:creationId xmlns:a16="http://schemas.microsoft.com/office/drawing/2014/main" id="{0FD8AFFA-4485-4A08-EAD1-9664873FD19D}"/>
              </a:ext>
            </a:extLst>
          </p:cNvPr>
          <p:cNvSpPr txBox="1"/>
          <p:nvPr/>
        </p:nvSpPr>
        <p:spPr>
          <a:xfrm>
            <a:off x="508612" y="1711999"/>
            <a:ext cx="10945813" cy="4154984"/>
          </a:xfrm>
          <a:prstGeom prst="rect">
            <a:avLst/>
          </a:prstGeom>
          <a:noFill/>
        </p:spPr>
        <p:txBody>
          <a:bodyPr wrap="square">
            <a:spAutoFit/>
          </a:bodyPr>
          <a:lstStyle/>
          <a:p>
            <a:pPr algn="ctr"/>
            <a:r>
              <a:rPr lang="en-AU" sz="4400" b="1" dirty="0"/>
              <a:t>Solve</a:t>
            </a:r>
            <a:r>
              <a:rPr lang="en-AU" sz="4400" dirty="0"/>
              <a:t> 148 + 273</a:t>
            </a:r>
            <a:br>
              <a:rPr lang="en-AU" sz="4400" dirty="0"/>
            </a:br>
            <a:endParaRPr lang="en-AU" sz="4400" dirty="0"/>
          </a:p>
          <a:p>
            <a:pPr algn="ctr"/>
            <a:r>
              <a:rPr lang="en-AU" sz="4400" b="1" dirty="0"/>
              <a:t>Show</a:t>
            </a:r>
            <a:r>
              <a:rPr lang="en-AU" sz="4400" dirty="0"/>
              <a:t> the </a:t>
            </a:r>
            <a:r>
              <a:rPr lang="en-AU" sz="4400" b="1" dirty="0"/>
              <a:t>method</a:t>
            </a:r>
            <a:r>
              <a:rPr lang="en-AU" sz="4400" dirty="0"/>
              <a:t> you used.</a:t>
            </a:r>
            <a:br>
              <a:rPr lang="en-AU" sz="4400" dirty="0"/>
            </a:br>
            <a:endParaRPr lang="en-AU" sz="4400" dirty="0"/>
          </a:p>
          <a:p>
            <a:pPr algn="ctr"/>
            <a:r>
              <a:rPr lang="en-AU" sz="4400" dirty="0"/>
              <a:t>Did you need to </a:t>
            </a:r>
            <a:r>
              <a:rPr lang="en-AU" sz="4400" b="1" dirty="0"/>
              <a:t>regroup</a:t>
            </a:r>
            <a:r>
              <a:rPr lang="en-AU" sz="4400" dirty="0"/>
              <a:t>? </a:t>
            </a:r>
          </a:p>
          <a:p>
            <a:pPr algn="ctr"/>
            <a:r>
              <a:rPr lang="en-AU" sz="4400" dirty="0"/>
              <a:t>Why or why not?</a:t>
            </a:r>
          </a:p>
        </p:txBody>
      </p:sp>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(16)</a:t>
            </a:r>
          </a:p>
        </p:txBody>
      </p:sp>
      <p:pic>
        <p:nvPicPr>
          <p:cNvPr id="4" name="Picture 3" descr="image of a clipboard with a pencil recording short answer responses">
            <a:extLst>
              <a:ext uri="{FF2B5EF4-FFF2-40B4-BE49-F238E27FC236}">
                <a16:creationId xmlns:a16="http://schemas.microsoft.com/office/drawing/2014/main" id="{A0B7D3FC-8755-D8E4-D7AC-203728BDEE26}"/>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a:extLst>
              <a:ext uri="{FF2B5EF4-FFF2-40B4-BE49-F238E27FC236}">
                <a16:creationId xmlns:a16="http://schemas.microsoft.com/office/drawing/2014/main" id="{58B611F9-BC28-AE47-CB18-4C1C335EAD10}"/>
              </a:ext>
            </a:extLst>
          </p:cNvPr>
          <p:cNvPicPr>
            <a:picLocks noChangeAspect="1"/>
          </p:cNvPicPr>
          <p:nvPr/>
        </p:nvPicPr>
        <p:blipFill>
          <a:blip r:embed="rId4"/>
          <a:stretch>
            <a:fillRect/>
          </a:stretch>
        </p:blipFill>
        <p:spPr>
          <a:xfrm>
            <a:off x="2996282" y="2196432"/>
            <a:ext cx="4900786" cy="4135038"/>
          </a:xfrm>
          <a:prstGeom prst="rect">
            <a:avLst/>
          </a:prstGeom>
          <a:effectLst>
            <a:outerShdw blurRad="50800" dist="50800" dir="5400000" algn="ctr" rotWithShape="0">
              <a:schemeClr val="tx1"/>
            </a:outerShdw>
          </a:effectLst>
        </p:spPr>
      </p:pic>
      <p:sp>
        <p:nvSpPr>
          <p:cNvPr id="11" name="Picture Placeholder 10">
            <a:extLst>
              <a:ext uri="{FF2B5EF4-FFF2-40B4-BE49-F238E27FC236}">
                <a16:creationId xmlns:a16="http://schemas.microsoft.com/office/drawing/2014/main" id="{62E43AA6-EE50-7B61-E74B-D734C2893183}"/>
              </a:ext>
            </a:extLst>
          </p:cNvPr>
          <p:cNvSpPr>
            <a:spLocks noGrp="1"/>
          </p:cNvSpPr>
          <p:nvPr>
            <p:ph type="pic" sz="quarter" idx="21"/>
          </p:nvPr>
        </p:nvSpPr>
        <p:spPr>
          <a:xfrm>
            <a:off x="1677238" y="1096403"/>
            <a:ext cx="11243037" cy="915500"/>
          </a:xfrm>
          <a:effectLst>
            <a:outerShdw blurRad="190500" dist="355600" dir="3780000" sx="102000" sy="102000" algn="ctr" rotWithShape="0">
              <a:prstClr val="black">
                <a:alpha val="40000"/>
              </a:prstClr>
            </a:outerShdw>
          </a:effectLst>
        </p:spPr>
        <p:txBody>
          <a:bodyPr/>
          <a:lstStyle/>
          <a:p>
            <a:r>
              <a:rPr lang="en-US" sz="4400" b="1" dirty="0">
                <a:latin typeface="Arial"/>
                <a:cs typeface="Arial"/>
              </a:rPr>
              <a:t>Describe</a:t>
            </a:r>
            <a:r>
              <a:rPr lang="en-US" sz="4400" dirty="0">
                <a:latin typeface="Arial"/>
                <a:cs typeface="Arial"/>
              </a:rPr>
              <a:t> this </a:t>
            </a:r>
            <a:r>
              <a:rPr lang="en-US" sz="4400" b="1" dirty="0">
                <a:latin typeface="Arial"/>
                <a:cs typeface="Arial"/>
              </a:rPr>
              <a:t>pyramid features</a:t>
            </a:r>
            <a:r>
              <a:rPr lang="en-US" sz="4400" dirty="0">
                <a:latin typeface="Arial"/>
                <a:cs typeface="Arial"/>
              </a:rPr>
              <a:t>.</a:t>
            </a:r>
          </a:p>
          <a:p>
            <a:endParaRPr lang="en-US" sz="4400" dirty="0">
              <a:latin typeface="Arial"/>
              <a:cs typeface="Arial"/>
            </a:endParaRPr>
          </a:p>
          <a:p>
            <a:endParaRPr lang="en-US" sz="4400" dirty="0">
              <a:latin typeface="Arial"/>
              <a:cs typeface="Arial"/>
            </a:endParaRPr>
          </a:p>
          <a:p>
            <a:endParaRPr lang="en-US" sz="4400" dirty="0">
              <a:latin typeface="Arial"/>
              <a:cs typeface="Arial"/>
            </a:endParaRPr>
          </a:p>
        </p:txBody>
      </p:sp>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4 – partial grid</a:t>
            </a:r>
          </a:p>
        </p:txBody>
      </p:sp>
      <p:pic>
        <p:nvPicPr>
          <p:cNvPr id="5" name="Picture 4" descr="A rectangle with one row of 8 squares across the width. At the top is a number sentence showing 32 ÷ (blank) = 8.">
            <a:extLst>
              <a:ext uri="{FF2B5EF4-FFF2-40B4-BE49-F238E27FC236}">
                <a16:creationId xmlns:a16="http://schemas.microsoft.com/office/drawing/2014/main" id="{62C4397D-2861-D96C-4EA4-A2657E082417}"/>
              </a:ext>
            </a:extLst>
          </p:cNvPr>
          <p:cNvPicPr>
            <a:picLocks noChangeAspect="1"/>
          </p:cNvPicPr>
          <p:nvPr/>
        </p:nvPicPr>
        <p:blipFill>
          <a:blip r:embed="rId3"/>
          <a:stretch>
            <a:fillRect/>
          </a:stretch>
        </p:blipFill>
        <p:spPr>
          <a:xfrm>
            <a:off x="2870936" y="2802622"/>
            <a:ext cx="6450127" cy="3029975"/>
          </a:xfrm>
          <a:prstGeom prst="rect">
            <a:avLst/>
          </a:prstGeom>
        </p:spPr>
      </p:pic>
      <p:sp>
        <p:nvSpPr>
          <p:cNvPr id="6" name="TextBox 2">
            <a:extLst>
              <a:ext uri="{FF2B5EF4-FFF2-40B4-BE49-F238E27FC236}">
                <a16:creationId xmlns:a16="http://schemas.microsoft.com/office/drawing/2014/main" id="{5BEA35CF-D934-E813-BAFC-1898054D1B54}"/>
              </a:ext>
            </a:extLst>
          </p:cNvPr>
          <p:cNvSpPr txBox="1"/>
          <p:nvPr/>
        </p:nvSpPr>
        <p:spPr>
          <a:xfrm>
            <a:off x="3046782" y="1351078"/>
            <a:ext cx="5983132" cy="1005853"/>
          </a:xfrm>
          <a:prstGeom prst="rect">
            <a:avLst/>
          </a:prstGeom>
        </p:spPr>
        <p:txBody>
          <a:bodyPr wrap="square" lIns="0" tIns="0" rIns="0" bIns="0" rtlCol="0" anchor="t">
            <a:spAutoFit/>
          </a:bodyPr>
          <a:lstStyle/>
          <a:p>
            <a:pPr marL="0" marR="0" lvl="0" indent="0" algn="ctr" defTabSz="914400" rtl="0" eaLnBrk="1" fontAlgn="auto" latinLnBrk="0" hangingPunct="1">
              <a:lnSpc>
                <a:spcPts val="8400"/>
              </a:lnSpc>
              <a:spcBef>
                <a:spcPct val="0"/>
              </a:spcBef>
              <a:spcAft>
                <a:spcPts val="0"/>
              </a:spcAft>
              <a:buClrTx/>
              <a:buSzTx/>
              <a:buFontTx/>
              <a:buNone/>
              <a:tabLst/>
              <a:defRPr/>
            </a:pPr>
            <a:r>
              <a:rPr kumimoji="0" lang="en-US" sz="6000" b="0" i="0" u="none" strike="noStrike" kern="1200" cap="none" spc="0" normalizeH="0" baseline="0" noProof="0">
                <a:ln>
                  <a:noFill/>
                </a:ln>
                <a:solidFill>
                  <a:srgbClr val="000000"/>
                </a:solidFill>
                <a:effectLst/>
                <a:uLnTx/>
                <a:uFillTx/>
                <a:latin typeface="Edu NSW ACT Foundation Medium" pitchFamily="2" charset="0"/>
                <a:ea typeface="Canva Student Font"/>
                <a:cs typeface="Canva Student Font"/>
                <a:sym typeface="Canva Student Font"/>
              </a:rPr>
              <a:t>32 ÷ ? = 8 </a:t>
            </a:r>
          </a:p>
        </p:txBody>
      </p:sp>
      <p:sp>
        <p:nvSpPr>
          <p:cNvPr id="4" name="Slide Number Placeholder 1">
            <a:extLst>
              <a:ext uri="{FF2B5EF4-FFF2-40B4-BE49-F238E27FC236}">
                <a16:creationId xmlns:a16="http://schemas.microsoft.com/office/drawing/2014/main" id="{AB5F4017-D09F-A8D0-3BCA-63A34448A195}"/>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solidFill>
                  <a:srgbClr val="22272B"/>
                </a:solidFill>
                <a:latin typeface="Arial" panose="020B0604020202020204"/>
              </a:rPr>
              <a:pPr/>
              <a:t>31</a:t>
            </a:fld>
            <a:endParaRPr lang="en-AU">
              <a:solidFill>
                <a:srgbClr val="22272B"/>
              </a:solidFill>
              <a:latin typeface="Arial" panose="020B0604020202020204"/>
            </a:endParaRPr>
          </a:p>
        </p:txBody>
      </p:sp>
      <p:pic>
        <p:nvPicPr>
          <p:cNvPr id="13" name="Picture 12" descr="image of a head with cogs turning inside">
            <a:extLst>
              <a:ext uri="{FF2B5EF4-FFF2-40B4-BE49-F238E27FC236}">
                <a16:creationId xmlns:a16="http://schemas.microsoft.com/office/drawing/2014/main" id="{8C45A9C0-0D91-3164-8258-AB9E8B3F1958}"/>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1191443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(3)</a:t>
            </a:r>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a:xfrm>
            <a:off x="9371920" y="3987103"/>
            <a:ext cx="2226583" cy="1312255"/>
          </a:xfrm>
        </p:spPr>
        <p:txBody>
          <a:bodyPr/>
          <a:lstStyle/>
          <a:p>
            <a:pPr algn="ctr"/>
            <a:r>
              <a:rPr lang="en-AU" sz="3600">
                <a:latin typeface="Arial"/>
                <a:cs typeface="Arial"/>
              </a:rPr>
              <a:t> </a:t>
            </a:r>
            <a:endParaRPr lang="en-AU" sz="3600"/>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355466" y="905601"/>
            <a:ext cx="11243037" cy="893226"/>
          </a:xfrm>
        </p:spPr>
        <p:txBody>
          <a:bodyPr vert="horz" lIns="0" tIns="0" rIns="0" bIns="0" rtlCol="0" anchor="t">
            <a:noAutofit/>
          </a:bodyPr>
          <a:lstStyle/>
          <a:p>
            <a:pPr algn="ctr"/>
            <a:r>
              <a:rPr lang="en-US" sz="3600" dirty="0">
                <a:latin typeface="Arial"/>
                <a:cs typeface="Arial"/>
              </a:rPr>
              <a:t>Which </a:t>
            </a:r>
            <a:r>
              <a:rPr lang="en-US" sz="3600" b="1" dirty="0">
                <a:latin typeface="Arial"/>
                <a:cs typeface="Arial"/>
              </a:rPr>
              <a:t>2 answers </a:t>
            </a:r>
            <a:r>
              <a:rPr lang="en-US" sz="3600" dirty="0">
                <a:latin typeface="Arial"/>
                <a:cs typeface="Arial"/>
              </a:rPr>
              <a:t>are correct here?</a:t>
            </a:r>
          </a:p>
          <a:p>
            <a:pPr algn="ctr"/>
            <a:r>
              <a:rPr lang="en-US" sz="3600" dirty="0">
                <a:latin typeface="Arial"/>
                <a:cs typeface="Arial"/>
              </a:rPr>
              <a:t>This model is showing …</a:t>
            </a:r>
            <a:endParaRPr lang="en-US" sz="3600"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1836176822"/>
                  </p:ext>
                </p:extLst>
              </p:nvPr>
            </p:nvGraphicFramePr>
            <p:xfrm>
              <a:off x="347999" y="4866132"/>
              <a:ext cx="11484000" cy="188976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200">
                              <a:latin typeface="+mn-lt"/>
                              <a:cs typeface="Arial"/>
                            </a:rPr>
                            <a:t>0.25</a:t>
                          </a:r>
                          <a:endParaRPr lang="en-AU" sz="3200" kern="1200">
                            <a:solidFill>
                              <a:schemeClr val="tx1"/>
                            </a:solidFill>
                            <a:latin typeface="+mn-lt"/>
                            <a:ea typeface="+mn-ea"/>
                            <a:cs typeface="Arial"/>
                          </a:endParaRPr>
                        </a:p>
                        <a:p>
                          <a:pPr algn="ctr"/>
                          <a:endParaRPr lang="en-AU" sz="3200">
                            <a:latin typeface="+mn-lt"/>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0.5</a:t>
                          </a:r>
                          <a:endParaRPr lang="en-AU" sz="3200" kern="1200">
                            <a:solidFill>
                              <a:schemeClr val="tx1"/>
                            </a:solidFill>
                            <a:latin typeface="+mn-lt"/>
                            <a:ea typeface="+mn-ea"/>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AU" sz="3200" i="1" kern="1200" smtClean="0">
                                        <a:solidFill>
                                          <a:schemeClr val="tx1"/>
                                        </a:solidFill>
                                        <a:latin typeface="Cambria Math" panose="02040503050406030204" pitchFamily="18" charset="0"/>
                                        <a:ea typeface="+mn-ea"/>
                                        <a:cs typeface="Arial"/>
                                      </a:rPr>
                                    </m:ctrlPr>
                                  </m:fPr>
                                  <m:num>
                                    <m:r>
                                      <a:rPr lang="en-AU" sz="3200" b="0" i="1" kern="1200" smtClean="0">
                                        <a:solidFill>
                                          <a:schemeClr val="tx1"/>
                                        </a:solidFill>
                                        <a:latin typeface="Cambria Math" panose="02040503050406030204" pitchFamily="18" charset="0"/>
                                        <a:ea typeface="+mn-ea"/>
                                        <a:cs typeface="Arial"/>
                                      </a:rPr>
                                      <m:t>1</m:t>
                                    </m:r>
                                  </m:num>
                                  <m:den>
                                    <m:r>
                                      <a:rPr lang="en-AU" sz="3200" b="0" i="1" kern="1200" smtClean="0">
                                        <a:solidFill>
                                          <a:schemeClr val="tx1"/>
                                        </a:solidFill>
                                        <a:latin typeface="Cambria Math" panose="02040503050406030204" pitchFamily="18" charset="0"/>
                                        <a:ea typeface="+mn-ea"/>
                                        <a:cs typeface="Arial"/>
                                      </a:rPr>
                                      <m:t>2</m:t>
                                    </m:r>
                                  </m:den>
                                </m:f>
                              </m:oMath>
                            </m:oMathPara>
                          </a14:m>
                          <a:endParaRPr lang="en-AU" sz="3200" kern="1200">
                            <a:solidFill>
                              <a:schemeClr val="tx1"/>
                            </a:solidFill>
                            <a:latin typeface="+mn-lt"/>
                            <a:ea typeface="+mn-ea"/>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AU" sz="3200" i="1" kern="1200" smtClean="0">
                                        <a:solidFill>
                                          <a:schemeClr val="tx1"/>
                                        </a:solidFill>
                                        <a:latin typeface="Cambria Math" panose="02040503050406030204" pitchFamily="18" charset="0"/>
                                        <a:ea typeface="+mn-ea"/>
                                        <a:cs typeface="Arial"/>
                                      </a:rPr>
                                    </m:ctrlPr>
                                  </m:fPr>
                                  <m:num>
                                    <m:r>
                                      <a:rPr lang="en-AU" sz="3200" b="0" i="1" kern="1200" smtClean="0">
                                        <a:solidFill>
                                          <a:schemeClr val="tx1"/>
                                        </a:solidFill>
                                        <a:latin typeface="Cambria Math" panose="02040503050406030204" pitchFamily="18" charset="0"/>
                                        <a:ea typeface="+mn-ea"/>
                                        <a:cs typeface="Arial"/>
                                      </a:rPr>
                                      <m:t>1</m:t>
                                    </m:r>
                                  </m:num>
                                  <m:den>
                                    <m:r>
                                      <a:rPr lang="en-AU" sz="3200" b="0" i="1" kern="1200" smtClean="0">
                                        <a:solidFill>
                                          <a:schemeClr val="tx1"/>
                                        </a:solidFill>
                                        <a:latin typeface="Cambria Math" panose="02040503050406030204" pitchFamily="18" charset="0"/>
                                        <a:ea typeface="+mn-ea"/>
                                        <a:cs typeface="Arial"/>
                                      </a:rPr>
                                      <m:t>4</m:t>
                                    </m:r>
                                  </m:den>
                                </m:f>
                              </m:oMath>
                            </m:oMathPara>
                          </a14:m>
                          <a:endParaRPr lang="en-AU" sz="3200" kern="1200">
                            <a:solidFill>
                              <a:schemeClr val="tx1"/>
                            </a:solidFill>
                            <a:latin typeface="+mn-lt"/>
                            <a:ea typeface="+mn-ea"/>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mc:Choice>
        <mc:Fallback xmlns="">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1836176822"/>
                  </p:ext>
                </p:extLst>
              </p:nvPr>
            </p:nvGraphicFramePr>
            <p:xfrm>
              <a:off x="347999" y="4866132"/>
              <a:ext cx="11484000" cy="188976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822960">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1066800">
                    <a:tc>
                      <a:txBody>
                        <a:bodyPr/>
                        <a:lstStyle/>
                        <a:p>
                          <a:pPr algn="ctr"/>
                          <a:r>
                            <a:rPr lang="en-AU" sz="3200">
                              <a:latin typeface="+mn-lt"/>
                              <a:cs typeface="Arial"/>
                            </a:rPr>
                            <a:t>0.25</a:t>
                          </a:r>
                          <a:endParaRPr lang="en-AU" sz="3200" kern="1200">
                            <a:solidFill>
                              <a:schemeClr val="tx1"/>
                            </a:solidFill>
                            <a:latin typeface="+mn-lt"/>
                            <a:ea typeface="+mn-ea"/>
                            <a:cs typeface="Arial"/>
                          </a:endParaRPr>
                        </a:p>
                        <a:p>
                          <a:pPr algn="ctr"/>
                          <a:endParaRPr lang="en-AU" sz="3200">
                            <a:latin typeface="+mn-lt"/>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0.5</a:t>
                          </a:r>
                          <a:endParaRPr lang="en-AU" sz="3200" kern="1200">
                            <a:solidFill>
                              <a:schemeClr val="tx1"/>
                            </a:solidFill>
                            <a:latin typeface="+mn-lt"/>
                            <a:ea typeface="+mn-ea"/>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00000" t="-90341"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00000" t="-90341"/>
                          </a:stretch>
                        </a:blipFill>
                      </a:tcPr>
                    </a:tc>
                    <a:extLst>
                      <a:ext uri="{0D108BD9-81ED-4DB2-BD59-A6C34878D82A}">
                        <a16:rowId xmlns:a16="http://schemas.microsoft.com/office/drawing/2014/main" val="505300166"/>
                      </a:ext>
                    </a:extLst>
                  </a:tr>
                </a:tbl>
              </a:graphicData>
            </a:graphic>
          </p:graphicFrame>
        </mc:Fallback>
      </mc:AlternateContent>
      <p:pic>
        <p:nvPicPr>
          <p:cNvPr id="5" name="Picture 4" descr="image of a finger selecting an option for a multiple choice or true and false">
            <a:extLst>
              <a:ext uri="{FF2B5EF4-FFF2-40B4-BE49-F238E27FC236}">
                <a16:creationId xmlns:a16="http://schemas.microsoft.com/office/drawing/2014/main" id="{A82A1270-19CB-992D-68A3-CD35F91982EE}"/>
              </a:ext>
            </a:extLst>
          </p:cNvPr>
          <p:cNvPicPr>
            <a:picLocks noChangeAspect="1"/>
          </p:cNvPicPr>
          <p:nvPr/>
        </p:nvPicPr>
        <p:blipFill>
          <a:blip r:embed="rId5"/>
          <a:stretch>
            <a:fillRect/>
          </a:stretch>
        </p:blipFill>
        <p:spPr>
          <a:xfrm>
            <a:off x="10807908" y="43303"/>
            <a:ext cx="1165786" cy="1140716"/>
          </a:xfrm>
          <a:prstGeom prst="rect">
            <a:avLst/>
          </a:prstGeom>
        </p:spPr>
      </p:pic>
      <p:pic>
        <p:nvPicPr>
          <p:cNvPr id="7" name="Picture 6" descr="A number line from 0 to 1, divided into 4 equal parts. The section from 0 to the first mark is shaded green.">
            <a:extLst>
              <a:ext uri="{FF2B5EF4-FFF2-40B4-BE49-F238E27FC236}">
                <a16:creationId xmlns:a16="http://schemas.microsoft.com/office/drawing/2014/main" id="{90F9FC86-12E0-1010-B10D-4CF2C6094B0A}"/>
              </a:ext>
            </a:extLst>
          </p:cNvPr>
          <p:cNvPicPr>
            <a:picLocks noChangeAspect="1"/>
          </p:cNvPicPr>
          <p:nvPr/>
        </p:nvPicPr>
        <p:blipFill>
          <a:blip r:embed="rId6"/>
          <a:stretch>
            <a:fillRect/>
          </a:stretch>
        </p:blipFill>
        <p:spPr>
          <a:xfrm>
            <a:off x="2658332" y="2960037"/>
            <a:ext cx="6863335" cy="160757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(17)</a:t>
            </a:r>
          </a:p>
        </p:txBody>
      </p:sp>
      <p:pic>
        <p:nvPicPr>
          <p:cNvPr id="4" name="Picture 3" descr="image of a clipboard with a pencil recording short answer responses">
            <a:extLst>
              <a:ext uri="{FF2B5EF4-FFF2-40B4-BE49-F238E27FC236}">
                <a16:creationId xmlns:a16="http://schemas.microsoft.com/office/drawing/2014/main" id="{78965A65-E5BC-2C4E-B55B-9EF446DC1F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5" name="TextBox 44">
            <a:extLst>
              <a:ext uri="{FF2B5EF4-FFF2-40B4-BE49-F238E27FC236}">
                <a16:creationId xmlns:a16="http://schemas.microsoft.com/office/drawing/2014/main" id="{E1E640B4-C5B3-3A11-F98E-6472EAEAB146}"/>
              </a:ext>
            </a:extLst>
          </p:cNvPr>
          <p:cNvSpPr txBox="1"/>
          <p:nvPr/>
        </p:nvSpPr>
        <p:spPr>
          <a:xfrm>
            <a:off x="5152571" y="1533479"/>
            <a:ext cx="6450467" cy="3510643"/>
          </a:xfrm>
          <a:prstGeom prst="rect">
            <a:avLst/>
          </a:prstGeom>
          <a:noFill/>
        </p:spPr>
        <p:txBody>
          <a:bodyPr wrap="square" lIns="0" tIns="0" rIns="0" bIns="0" rtlCol="0">
            <a:noAutofit/>
          </a:bodyPr>
          <a:lstStyle/>
          <a:p>
            <a:pPr algn="ctr"/>
            <a:r>
              <a:rPr lang="en-AU" sz="4400"/>
              <a:t>This shape is made up of </a:t>
            </a:r>
            <a:r>
              <a:rPr lang="en-AU" sz="4400" b="1"/>
              <a:t>square metres</a:t>
            </a:r>
            <a:r>
              <a:rPr lang="en-AU" sz="4400"/>
              <a:t>.</a:t>
            </a:r>
          </a:p>
          <a:p>
            <a:pPr algn="ctr"/>
            <a:endParaRPr lang="en-AU" sz="4400"/>
          </a:p>
          <a:p>
            <a:pPr algn="ctr"/>
            <a:r>
              <a:rPr lang="en-AU" sz="4400"/>
              <a:t>What is the </a:t>
            </a:r>
            <a:r>
              <a:rPr lang="en-AU" sz="4400" b="1"/>
              <a:t>area</a:t>
            </a:r>
            <a:r>
              <a:rPr lang="en-AU" sz="4400"/>
              <a:t> of this shape? </a:t>
            </a:r>
          </a:p>
        </p:txBody>
      </p:sp>
      <p:pic>
        <p:nvPicPr>
          <p:cNvPr id="47" name="Picture 46" descr="A grid of 4 rows of 4 orange squares.">
            <a:extLst>
              <a:ext uri="{FF2B5EF4-FFF2-40B4-BE49-F238E27FC236}">
                <a16:creationId xmlns:a16="http://schemas.microsoft.com/office/drawing/2014/main" id="{B1ADE14B-5708-325A-B62C-5ACC9384C69B}"/>
              </a:ext>
            </a:extLst>
          </p:cNvPr>
          <p:cNvPicPr>
            <a:picLocks noChangeAspect="1"/>
          </p:cNvPicPr>
          <p:nvPr/>
        </p:nvPicPr>
        <p:blipFill>
          <a:blip r:embed="rId4">
            <a:extLst>
              <a:ext uri="{28A0092B-C50C-407E-A947-70E740481C1C}">
                <a14:useLocalDpi xmlns:a14="http://schemas.microsoft.com/office/drawing/2010/main" val="0"/>
              </a:ext>
            </a:extLst>
          </a:blip>
          <a:srcRect l="25460" t="8889" r="22616" b="17249"/>
          <a:stretch>
            <a:fillRect/>
          </a:stretch>
        </p:blipFill>
        <p:spPr>
          <a:xfrm>
            <a:off x="868001" y="1613405"/>
            <a:ext cx="3610380" cy="3631189"/>
          </a:xfrm>
          <a:prstGeom prst="rect">
            <a:avLst/>
          </a:prstGeom>
          <a:effectLst>
            <a:outerShdw blurRad="50800" dist="50800" dir="5400000" algn="ctr" rotWithShape="0">
              <a:schemeClr val="tx1"/>
            </a:outerShdw>
          </a:effectLst>
        </p:spPr>
      </p:pic>
      <p:sp>
        <p:nvSpPr>
          <p:cNvPr id="49" name="TextBox 48">
            <a:extLst>
              <a:ext uri="{FF2B5EF4-FFF2-40B4-BE49-F238E27FC236}">
                <a16:creationId xmlns:a16="http://schemas.microsoft.com/office/drawing/2014/main" id="{C0D6BC91-40B8-5603-81EF-1BE83CCDB1EC}"/>
              </a:ext>
            </a:extLst>
          </p:cNvPr>
          <p:cNvSpPr txBox="1"/>
          <p:nvPr/>
        </p:nvSpPr>
        <p:spPr>
          <a:xfrm>
            <a:off x="557600" y="5751926"/>
            <a:ext cx="10566400" cy="707886"/>
          </a:xfrm>
          <a:prstGeom prst="rect">
            <a:avLst/>
          </a:prstGeom>
          <a:noFill/>
        </p:spPr>
        <p:txBody>
          <a:bodyPr wrap="square">
            <a:spAutoFit/>
          </a:bodyPr>
          <a:lstStyle/>
          <a:p>
            <a:pPr algn="ctr"/>
            <a:r>
              <a:rPr lang="en-AU" sz="4000" b="1"/>
              <a:t>Explain how you know.</a:t>
            </a:r>
            <a:endParaRPr lang="en-AU" sz="4000" b="0">
              <a:latin typeface="Arial"/>
              <a:cs typeface="Arial"/>
            </a:endParaRPr>
          </a:p>
        </p:txBody>
      </p:sp>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35</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(18) </a:t>
            </a:r>
          </a:p>
        </p:txBody>
      </p:sp>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668144" y="1184223"/>
            <a:ext cx="10626750" cy="3632255"/>
          </a:xfrm>
        </p:spPr>
        <p:txBody>
          <a:bodyPr/>
          <a:lstStyle/>
          <a:p>
            <a:pPr lvl="0" algn="ctr"/>
            <a:r>
              <a:rPr lang="en-AU" sz="5400"/>
              <a:t>17 tenths</a:t>
            </a:r>
          </a:p>
          <a:p>
            <a:pPr lvl="0"/>
            <a:endParaRPr lang="en-AU"/>
          </a:p>
          <a:p>
            <a:pPr lvl="0"/>
            <a:r>
              <a:rPr lang="en-AU" sz="3200"/>
              <a:t>How many </a:t>
            </a:r>
            <a:r>
              <a:rPr lang="en-AU" sz="3200" b="1"/>
              <a:t>tenths</a:t>
            </a:r>
            <a:r>
              <a:rPr lang="en-AU" sz="3200"/>
              <a:t> are represented in this number? </a:t>
            </a:r>
          </a:p>
          <a:p>
            <a:pPr lvl="0"/>
            <a:r>
              <a:rPr lang="en-AU" sz="3200">
                <a:latin typeface="Arial"/>
                <a:cs typeface="Arial"/>
              </a:rPr>
              <a:t>Record this as a </a:t>
            </a:r>
            <a:r>
              <a:rPr lang="en-AU" sz="3200" b="1">
                <a:latin typeface="Arial"/>
                <a:cs typeface="Arial"/>
              </a:rPr>
              <a:t>decimal</a:t>
            </a:r>
            <a:r>
              <a:rPr lang="en-AU" sz="3200">
                <a:latin typeface="Arial"/>
                <a:cs typeface="Arial"/>
              </a:rPr>
              <a:t>.</a:t>
            </a:r>
          </a:p>
          <a:p>
            <a:pPr lvl="0"/>
            <a:r>
              <a:rPr lang="en-AU" sz="3200">
                <a:latin typeface="Arial"/>
                <a:cs typeface="Arial"/>
              </a:rPr>
              <a:t>Record this as a </a:t>
            </a:r>
            <a:r>
              <a:rPr lang="en-AU" sz="3200" b="1">
                <a:latin typeface="Arial"/>
                <a:cs typeface="Arial"/>
              </a:rPr>
              <a:t>fraction</a:t>
            </a:r>
            <a:r>
              <a:rPr lang="en-AU" sz="3200">
                <a:latin typeface="Arial"/>
                <a:cs typeface="Arial"/>
              </a:rPr>
              <a:t>.</a:t>
            </a:r>
          </a:p>
          <a:p>
            <a:pPr lvl="0"/>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9624517-4A6E-BCB0-BE3D-E100CB8DC04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81695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(19) </a:t>
            </a:r>
          </a:p>
        </p:txBody>
      </p:sp>
      <p:pic>
        <p:nvPicPr>
          <p:cNvPr id="4" name="Picture 3" descr="image of a clipboard with a pencil recording short answer responses">
            <a:extLst>
              <a:ext uri="{FF2B5EF4-FFF2-40B4-BE49-F238E27FC236}">
                <a16:creationId xmlns:a16="http://schemas.microsoft.com/office/drawing/2014/main" id="{DDE2B47A-8CF9-35B2-EC15-2BFADBD1573B}"/>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18E7AB2-C56E-C743-8B4D-E47735B865FA}"/>
                  </a:ext>
                </a:extLst>
              </p:cNvPr>
              <p:cNvSpPr txBox="1"/>
              <p:nvPr/>
            </p:nvSpPr>
            <p:spPr>
              <a:xfrm>
                <a:off x="508612" y="1711999"/>
                <a:ext cx="10945813" cy="4832092"/>
              </a:xfrm>
              <a:prstGeom prst="rect">
                <a:avLst/>
              </a:prstGeom>
              <a:noFill/>
            </p:spPr>
            <p:txBody>
              <a:bodyPr wrap="square">
                <a:spAutoFit/>
              </a:bodyPr>
              <a:lstStyle/>
              <a:p>
                <a:pPr algn="ctr"/>
                <a:r>
                  <a:rPr lang="en-AU" sz="4400" b="1" dirty="0"/>
                  <a:t>Solve</a:t>
                </a:r>
                <a:r>
                  <a:rPr lang="en-AU" sz="4400" dirty="0"/>
                  <a:t> 432 </a:t>
                </a:r>
                <a14:m>
                  <m:oMath xmlns:m="http://schemas.openxmlformats.org/officeDocument/2006/math">
                    <m:r>
                      <a:rPr lang="en-AU" sz="4400" i="1" dirty="0">
                        <a:latin typeface="Cambria Math" panose="02040503050406030204" pitchFamily="18" charset="0"/>
                        <a:ea typeface="Cambria Math" panose="02040503050406030204" pitchFamily="18" charset="0"/>
                      </a:rPr>
                      <m:t>−</m:t>
                    </m:r>
                  </m:oMath>
                </a14:m>
                <a:r>
                  <a:rPr lang="en-AU" sz="4400" dirty="0"/>
                  <a:t> 215</a:t>
                </a:r>
                <a:br>
                  <a:rPr lang="en-AU" sz="4400" dirty="0"/>
                </a:br>
                <a:endParaRPr lang="en-AU" sz="4400" dirty="0"/>
              </a:p>
              <a:p>
                <a:pPr algn="ctr"/>
                <a:endParaRPr lang="en-AU" sz="4400" dirty="0"/>
              </a:p>
              <a:p>
                <a:pPr algn="ctr"/>
                <a:r>
                  <a:rPr lang="en-AU" sz="4400" b="1" dirty="0"/>
                  <a:t>Show </a:t>
                </a:r>
                <a:r>
                  <a:rPr lang="en-AU" sz="4400" dirty="0"/>
                  <a:t>the</a:t>
                </a:r>
                <a:r>
                  <a:rPr lang="en-AU" sz="4400" b="1" dirty="0"/>
                  <a:t> method </a:t>
                </a:r>
                <a:r>
                  <a:rPr lang="en-AU" sz="4400" dirty="0"/>
                  <a:t>you used.</a:t>
                </a:r>
                <a:br>
                  <a:rPr lang="en-AU" sz="4400" dirty="0"/>
                </a:br>
                <a:endParaRPr lang="en-AU" sz="4400" dirty="0"/>
              </a:p>
              <a:p>
                <a:pPr algn="ctr"/>
                <a:r>
                  <a:rPr lang="en-AU" sz="4400" dirty="0"/>
                  <a:t>Did you need to</a:t>
                </a:r>
                <a:r>
                  <a:rPr lang="en-AU" sz="4400" b="1" dirty="0"/>
                  <a:t> regroup</a:t>
                </a:r>
                <a:r>
                  <a:rPr lang="en-AU" sz="4400" dirty="0"/>
                  <a:t>? </a:t>
                </a:r>
              </a:p>
              <a:p>
                <a:pPr algn="ctr"/>
                <a:r>
                  <a:rPr lang="en-AU" sz="4400" dirty="0"/>
                  <a:t>Why or why not?</a:t>
                </a:r>
              </a:p>
            </p:txBody>
          </p:sp>
        </mc:Choice>
        <mc:Fallback xmlns="">
          <p:sp>
            <p:nvSpPr>
              <p:cNvPr id="5" name="TextBox 4">
                <a:extLst>
                  <a:ext uri="{FF2B5EF4-FFF2-40B4-BE49-F238E27FC236}">
                    <a16:creationId xmlns:a16="http://schemas.microsoft.com/office/drawing/2014/main" id="{018E7AB2-C56E-C743-8B4D-E47735B865FA}"/>
                  </a:ext>
                </a:extLst>
              </p:cNvPr>
              <p:cNvSpPr txBox="1">
                <a:spLocks noRot="1" noChangeAspect="1" noMove="1" noResize="1" noEditPoints="1" noAdjustHandles="1" noChangeArrowheads="1" noChangeShapeType="1" noTextEdit="1"/>
              </p:cNvSpPr>
              <p:nvPr/>
            </p:nvSpPr>
            <p:spPr>
              <a:xfrm>
                <a:off x="508612" y="1711999"/>
                <a:ext cx="10945813" cy="4832092"/>
              </a:xfrm>
              <a:prstGeom prst="rect">
                <a:avLst/>
              </a:prstGeom>
              <a:blipFill>
                <a:blip r:embed="rId4"/>
                <a:stretch>
                  <a:fillRect t="-2774" b="-4918"/>
                </a:stretch>
              </a:blipFill>
            </p:spPr>
            <p:txBody>
              <a:bodyPr/>
              <a:lstStyle/>
              <a:p>
                <a:r>
                  <a:rPr lang="en-AU">
                    <a:noFill/>
                  </a:rPr>
                  <a:t> </a:t>
                </a:r>
              </a:p>
            </p:txBody>
          </p:sp>
        </mc:Fallback>
      </mc:AlternateContent>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(20)</a:t>
            </a:r>
          </a:p>
        </p:txBody>
      </p:sp>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273160" y="1275500"/>
            <a:ext cx="11210840" cy="3037114"/>
          </a:xfrm>
        </p:spPr>
        <p:txBody>
          <a:bodyPr/>
          <a:lstStyle/>
          <a:p>
            <a:pPr algn="ctr"/>
            <a:r>
              <a:rPr lang="en-US" sz="4400">
                <a:latin typeface="Arial"/>
                <a:cs typeface="Arial"/>
              </a:rPr>
              <a:t>After his breakfast, Phil checked the clock. </a:t>
            </a:r>
          </a:p>
          <a:p>
            <a:pPr algn="ctr"/>
            <a:endParaRPr lang="en-US" sz="4400">
              <a:latin typeface="Arial"/>
              <a:cs typeface="Arial"/>
            </a:endParaRPr>
          </a:p>
          <a:p>
            <a:pPr algn="ctr"/>
            <a:endParaRPr lang="en-US" sz="4400">
              <a:latin typeface="Arial"/>
              <a:cs typeface="Arial"/>
            </a:endParaRPr>
          </a:p>
          <a:p>
            <a:pPr algn="ctr"/>
            <a:r>
              <a:rPr lang="en-US" sz="4400">
                <a:latin typeface="Arial"/>
                <a:cs typeface="Arial"/>
              </a:rPr>
              <a:t>Write down the time in </a:t>
            </a:r>
            <a:r>
              <a:rPr lang="en-US" sz="4400" b="1">
                <a:latin typeface="Arial"/>
                <a:cs typeface="Arial"/>
              </a:rPr>
              <a:t>digital</a:t>
            </a:r>
            <a:r>
              <a:rPr lang="en-US" sz="4400">
                <a:latin typeface="Arial"/>
                <a:cs typeface="Arial"/>
              </a:rPr>
              <a:t> form. Remember to include am or pm notation.</a:t>
            </a:r>
            <a:endParaRPr lang="en-US"/>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5FD276A-C397-9187-758E-5683EDE3430B}"/>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An analogue clock ">
            <a:extLst>
              <a:ext uri="{FF2B5EF4-FFF2-40B4-BE49-F238E27FC236}">
                <a16:creationId xmlns:a16="http://schemas.microsoft.com/office/drawing/2014/main" id="{3123F7B7-5FE4-B9D6-692F-D5DD5540CDC0}"/>
              </a:ext>
            </a:extLst>
          </p:cNvPr>
          <p:cNvPicPr>
            <a:picLocks noChangeAspect="1"/>
          </p:cNvPicPr>
          <p:nvPr/>
        </p:nvPicPr>
        <p:blipFill>
          <a:blip r:embed="rId4"/>
          <a:stretch>
            <a:fillRect/>
          </a:stretch>
        </p:blipFill>
        <p:spPr>
          <a:xfrm>
            <a:off x="4746620" y="2501709"/>
            <a:ext cx="2263920" cy="2086206"/>
          </a:xfrm>
          <a:prstGeom prst="rect">
            <a:avLst/>
          </a:prstGeom>
          <a:effectLst>
            <a:outerShdw blurRad="50800" dist="50800" dir="5400000" algn="ctr" rotWithShape="0">
              <a:schemeClr val="tx1"/>
            </a:outerShdw>
          </a:effectLst>
        </p:spPr>
      </p:pic>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38</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5 – benchmark fractions</a:t>
            </a:r>
            <a:endParaRPr lang="en-US"/>
          </a:p>
        </p:txBody>
      </p:sp>
      <p:pic>
        <p:nvPicPr>
          <p:cNvPr id="4" name="Picture 3" descr="a tower built with interlocking cubes. One orange and one blue.">
            <a:extLst>
              <a:ext uri="{FF2B5EF4-FFF2-40B4-BE49-F238E27FC236}">
                <a16:creationId xmlns:a16="http://schemas.microsoft.com/office/drawing/2014/main" id="{AE320C73-7E60-EA20-E3FA-94B63CD3E093}"/>
              </a:ext>
            </a:extLst>
          </p:cNvPr>
          <p:cNvPicPr>
            <a:picLocks noChangeAspect="1"/>
          </p:cNvPicPr>
          <p:nvPr/>
        </p:nvPicPr>
        <p:blipFill>
          <a:blip r:embed="rId3"/>
          <a:stretch>
            <a:fillRect/>
          </a:stretch>
        </p:blipFill>
        <p:spPr>
          <a:xfrm>
            <a:off x="2871313" y="1866266"/>
            <a:ext cx="1314450" cy="2838450"/>
          </a:xfrm>
          <a:prstGeom prst="rect">
            <a:avLst/>
          </a:prstGeom>
        </p:spPr>
      </p:pic>
      <p:pic>
        <p:nvPicPr>
          <p:cNvPr id="7" name="Picture 6" descr="a tower built with interlocking cubes. 5 orange and 5 blue. ">
            <a:extLst>
              <a:ext uri="{FF2B5EF4-FFF2-40B4-BE49-F238E27FC236}">
                <a16:creationId xmlns:a16="http://schemas.microsoft.com/office/drawing/2014/main" id="{AFF9A6C5-F47F-9860-269C-AA708D60795E}"/>
              </a:ext>
            </a:extLst>
          </p:cNvPr>
          <p:cNvPicPr>
            <a:picLocks noChangeAspect="1"/>
          </p:cNvPicPr>
          <p:nvPr/>
        </p:nvPicPr>
        <p:blipFill>
          <a:blip r:embed="rId4"/>
          <a:stretch>
            <a:fillRect/>
          </a:stretch>
        </p:blipFill>
        <p:spPr>
          <a:xfrm>
            <a:off x="7349014" y="1254007"/>
            <a:ext cx="1314449" cy="4755917"/>
          </a:xfrm>
          <a:prstGeom prst="rect">
            <a:avLst/>
          </a:prstGeom>
        </p:spPr>
      </p:pic>
      <p:pic>
        <p:nvPicPr>
          <p:cNvPr id="5" name="Picture 4" descr="image of a head with cogs turning inside">
            <a:extLst>
              <a:ext uri="{FF2B5EF4-FFF2-40B4-BE49-F238E27FC236}">
                <a16:creationId xmlns:a16="http://schemas.microsoft.com/office/drawing/2014/main" id="{965CA08C-8F43-155A-0F74-66A54B696D69}"/>
              </a:ext>
            </a:extLst>
          </p:cNvPr>
          <p:cNvPicPr>
            <a:picLocks noChangeAspect="1"/>
          </p:cNvPicPr>
          <p:nvPr/>
        </p:nvPicPr>
        <p:blipFill>
          <a:blip r:embed="rId5"/>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107832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(3)</a:t>
            </a:r>
          </a:p>
        </p:txBody>
      </p:sp>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298472" y="1184019"/>
            <a:ext cx="11185528" cy="2128068"/>
          </a:xfrm>
        </p:spPr>
        <p:txBody>
          <a:bodyPr vert="horz" lIns="0" tIns="0" rIns="0" bIns="0" rtlCol="0" anchor="t">
            <a:noAutofit/>
          </a:bodyPr>
          <a:lstStyle/>
          <a:p>
            <a:pPr algn="ctr"/>
            <a:r>
              <a:rPr lang="en-US" sz="3600">
                <a:latin typeface="Arial"/>
                <a:cs typeface="Arial"/>
              </a:rPr>
              <a:t>These numbers have been </a:t>
            </a:r>
            <a:r>
              <a:rPr lang="en-US" sz="3600" b="1">
                <a:latin typeface="Arial"/>
                <a:cs typeface="Arial"/>
              </a:rPr>
              <a:t>ordered correctly</a:t>
            </a:r>
            <a:r>
              <a:rPr lang="en-US" sz="3600">
                <a:latin typeface="Arial"/>
                <a:cs typeface="Arial"/>
              </a:rPr>
              <a:t>. </a:t>
            </a:r>
            <a:endParaRPr lang="en-US" sz="3600"/>
          </a:p>
        </p:txBody>
      </p:sp>
      <p:sp>
        <p:nvSpPr>
          <p:cNvPr id="4" name="Text Placeholder 11">
            <a:extLst>
              <a:ext uri="{FF2B5EF4-FFF2-40B4-BE49-F238E27FC236}">
                <a16:creationId xmlns:a16="http://schemas.microsoft.com/office/drawing/2014/main" id="{D2DDFA34-F5E2-0F60-D99B-A9A9DBAF8E4D}"/>
              </a:ext>
            </a:extLst>
          </p:cNvPr>
          <p:cNvSpPr txBox="1">
            <a:spLocks/>
          </p:cNvSpPr>
          <p:nvPr/>
        </p:nvSpPr>
        <p:spPr>
          <a:xfrm>
            <a:off x="322422" y="6076973"/>
            <a:ext cx="4625359" cy="5456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470073" y="5388923"/>
            <a:ext cx="11243037" cy="1132790"/>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Communicate</a:t>
            </a:r>
            <a:r>
              <a:rPr lang="en-US" sz="4400" dirty="0">
                <a:latin typeface="Arial"/>
                <a:cs typeface="Arial"/>
              </a:rPr>
              <a:t> your </a:t>
            </a:r>
            <a:r>
              <a:rPr lang="en-US" sz="4400" b="1" dirty="0">
                <a:latin typeface="Arial"/>
                <a:cs typeface="Arial"/>
              </a:rPr>
              <a:t>reasoning</a:t>
            </a:r>
            <a:r>
              <a:rPr lang="en-US" sz="4400" dirty="0">
                <a:latin typeface="Arial"/>
                <a:cs typeface="Arial"/>
              </a:rPr>
              <a:t>. </a:t>
            </a:r>
            <a:endParaRPr lang="en-US" sz="4400" dirty="0"/>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343615146"/>
              </p:ext>
            </p:extLst>
          </p:nvPr>
        </p:nvGraphicFramePr>
        <p:xfrm>
          <a:off x="2352698" y="454638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3E938BB2-3AD2-DA1B-E3B0-15AF957C979B}"/>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10" name="Picture 9" descr="A number line displaying 0 to 1. Four post-it notes are attached displaying: 0.2, 0.8, 0.65, 0.85.">
            <a:extLst>
              <a:ext uri="{FF2B5EF4-FFF2-40B4-BE49-F238E27FC236}">
                <a16:creationId xmlns:a16="http://schemas.microsoft.com/office/drawing/2014/main" id="{0C79AD16-B0D7-AE1F-5A32-FE3B0BD44F8A}"/>
              </a:ext>
            </a:extLst>
          </p:cNvPr>
          <p:cNvPicPr>
            <a:picLocks noChangeAspect="1"/>
          </p:cNvPicPr>
          <p:nvPr/>
        </p:nvPicPr>
        <p:blipFill>
          <a:blip r:embed="rId4"/>
          <a:stretch>
            <a:fillRect/>
          </a:stretch>
        </p:blipFill>
        <p:spPr>
          <a:xfrm>
            <a:off x="927801" y="2321348"/>
            <a:ext cx="10107436" cy="1981477"/>
          </a:xfrm>
          <a:prstGeom prst="rect">
            <a:avLst/>
          </a:prstGeom>
        </p:spPr>
      </p:pic>
      <p:pic>
        <p:nvPicPr>
          <p:cNvPr id="15" name="Picture 14" descr="a set of four numbers: 0.2, 0.8, 0.65 and 0.85">
            <a:extLst>
              <a:ext uri="{FF2B5EF4-FFF2-40B4-BE49-F238E27FC236}">
                <a16:creationId xmlns:a16="http://schemas.microsoft.com/office/drawing/2014/main" id="{62206ED1-C583-6A27-5B2D-8F61CE37354B}"/>
              </a:ext>
            </a:extLst>
          </p:cNvPr>
          <p:cNvPicPr>
            <a:picLocks noChangeAspect="1"/>
          </p:cNvPicPr>
          <p:nvPr/>
        </p:nvPicPr>
        <p:blipFill>
          <a:blip r:embed="rId5"/>
          <a:stretch>
            <a:fillRect/>
          </a:stretch>
        </p:blipFill>
        <p:spPr>
          <a:xfrm>
            <a:off x="518688" y="1991699"/>
            <a:ext cx="11145805" cy="2457793"/>
          </a:xfrm>
          <a:prstGeom prst="rect">
            <a:avLst/>
          </a:prstGeom>
        </p:spPr>
      </p:pic>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a:xfrm>
            <a:off x="11297685" y="6589277"/>
            <a:ext cx="720000" cy="180000"/>
          </a:xfrm>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(21)</a:t>
            </a:r>
          </a:p>
        </p:txBody>
      </p:sp>
      <p:sp>
        <p:nvSpPr>
          <p:cNvPr id="11" name="Picture Placeholder 10">
            <a:extLst>
              <a:ext uri="{FF2B5EF4-FFF2-40B4-BE49-F238E27FC236}">
                <a16:creationId xmlns:a16="http://schemas.microsoft.com/office/drawing/2014/main" id="{6AEDAC5B-7D79-7FBF-9542-5724B621995A}"/>
              </a:ext>
            </a:extLst>
          </p:cNvPr>
          <p:cNvSpPr>
            <a:spLocks noGrp="1"/>
          </p:cNvSpPr>
          <p:nvPr>
            <p:ph type="pic" sz="quarter" idx="21"/>
          </p:nvPr>
        </p:nvSpPr>
        <p:spPr>
          <a:xfrm>
            <a:off x="360000" y="1556533"/>
            <a:ext cx="6011771" cy="4168875"/>
          </a:xfrm>
        </p:spPr>
        <p:txBody>
          <a:bodyPr/>
          <a:lstStyle/>
          <a:p>
            <a:pPr algn="ctr"/>
            <a:r>
              <a:rPr lang="en-US" sz="4400">
                <a:latin typeface="Arial"/>
                <a:cs typeface="Arial"/>
              </a:rPr>
              <a:t> </a:t>
            </a:r>
            <a:endParaRPr lang="en-US" sz="4400"/>
          </a:p>
          <a:p>
            <a:endParaRPr lang="en-US">
              <a:latin typeface="Arial"/>
              <a:cs typeface="Arial"/>
            </a:endParaRPr>
          </a:p>
        </p:txBody>
      </p:sp>
      <p:pic>
        <p:nvPicPr>
          <p:cNvPr id="6" name="Picture 5" descr="image of a clipboard with a pencil recording short answer responses">
            <a:extLst>
              <a:ext uri="{FF2B5EF4-FFF2-40B4-BE49-F238E27FC236}">
                <a16:creationId xmlns:a16="http://schemas.microsoft.com/office/drawing/2014/main" id="{21E4E3D2-0BD0-2FBF-559D-EDC8BC549F4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8" name="TextBox 47">
            <a:extLst>
              <a:ext uri="{FF2B5EF4-FFF2-40B4-BE49-F238E27FC236}">
                <a16:creationId xmlns:a16="http://schemas.microsoft.com/office/drawing/2014/main" id="{738072D2-8E02-A4E3-D6A9-E2E8A66827EE}"/>
              </a:ext>
            </a:extLst>
          </p:cNvPr>
          <p:cNvSpPr txBox="1"/>
          <p:nvPr/>
        </p:nvSpPr>
        <p:spPr>
          <a:xfrm>
            <a:off x="950006" y="1556533"/>
            <a:ext cx="10063026" cy="707886"/>
          </a:xfrm>
          <a:prstGeom prst="rect">
            <a:avLst/>
          </a:prstGeom>
          <a:noFill/>
        </p:spPr>
        <p:txBody>
          <a:bodyPr wrap="square">
            <a:spAutoFit/>
          </a:bodyPr>
          <a:lstStyle/>
          <a:p>
            <a:pPr algn="ctr"/>
            <a:r>
              <a:rPr lang="en-US" sz="4000">
                <a:latin typeface="Arial"/>
                <a:cs typeface="Arial"/>
              </a:rPr>
              <a:t>Which of these shapes have </a:t>
            </a:r>
            <a:r>
              <a:rPr lang="en-US" sz="4000" b="1">
                <a:latin typeface="Arial"/>
                <a:cs typeface="Arial"/>
              </a:rPr>
              <a:t>right angles</a:t>
            </a:r>
            <a:r>
              <a:rPr lang="en-US" sz="4000">
                <a:latin typeface="Arial"/>
                <a:cs typeface="Arial"/>
              </a:rPr>
              <a:t>? </a:t>
            </a:r>
            <a:endParaRPr lang="en-US" sz="4000"/>
          </a:p>
        </p:txBody>
      </p:sp>
      <p:pic>
        <p:nvPicPr>
          <p:cNvPr id="12" name="Picture 11" descr="A collection of seven blue 2D shapes, each labelled with its name. The shapes are: triangle, right-angled triangle, rectangle, trapezium, rhombus, square and hexagon.">
            <a:extLst>
              <a:ext uri="{FF2B5EF4-FFF2-40B4-BE49-F238E27FC236}">
                <a16:creationId xmlns:a16="http://schemas.microsoft.com/office/drawing/2014/main" id="{7421DDD4-B811-F7BB-9208-B53DBF3408C4}"/>
              </a:ext>
            </a:extLst>
          </p:cNvPr>
          <p:cNvPicPr>
            <a:picLocks noChangeAspect="1"/>
          </p:cNvPicPr>
          <p:nvPr/>
        </p:nvPicPr>
        <p:blipFill>
          <a:blip r:embed="rId4"/>
          <a:stretch>
            <a:fillRect/>
          </a:stretch>
        </p:blipFill>
        <p:spPr>
          <a:xfrm>
            <a:off x="2080937" y="2700936"/>
            <a:ext cx="7836052" cy="3157122"/>
          </a:xfrm>
          <a:prstGeom prst="rect">
            <a:avLst/>
          </a:prstGeom>
          <a:effectLst>
            <a:outerShdw blurRad="50800" dist="50800" dir="5400000" algn="ctr" rotWithShape="0">
              <a:schemeClr val="tx1"/>
            </a:outerShdw>
          </a:effectLst>
        </p:spPr>
      </p:pic>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(22)</a:t>
            </a:r>
          </a:p>
        </p:txBody>
      </p:sp>
      <p:sp>
        <p:nvSpPr>
          <p:cNvPr id="11" name="Picture Placeholder 10">
            <a:extLst>
              <a:ext uri="{FF2B5EF4-FFF2-40B4-BE49-F238E27FC236}">
                <a16:creationId xmlns:a16="http://schemas.microsoft.com/office/drawing/2014/main" id="{80B7212B-2801-5D27-0B76-52A657270CAF}"/>
              </a:ext>
            </a:extLst>
          </p:cNvPr>
          <p:cNvSpPr>
            <a:spLocks noGrp="1"/>
          </p:cNvSpPr>
          <p:nvPr>
            <p:ph type="pic" sz="quarter" idx="21"/>
          </p:nvPr>
        </p:nvSpPr>
        <p:spPr>
          <a:xfrm>
            <a:off x="6972300" y="1164870"/>
            <a:ext cx="4630738" cy="5091860"/>
          </a:xfrm>
        </p:spPr>
        <p:txBody>
          <a:bodyPr/>
          <a:lstStyle/>
          <a:p>
            <a:pPr algn="ctr"/>
            <a:endParaRPr lang="en-US" sz="32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4AF2FB9-0796-D0A5-0E5E-4B63AC091B6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Rectangle 1">
            <a:extLst>
              <a:ext uri="{FF2B5EF4-FFF2-40B4-BE49-F238E27FC236}">
                <a16:creationId xmlns:a16="http://schemas.microsoft.com/office/drawing/2014/main" id="{B0023F65-8620-7FD7-1EE0-E542BCEF53B5}"/>
              </a:ext>
            </a:extLst>
          </p:cNvPr>
          <p:cNvSpPr>
            <a:spLocks noChangeArrowheads="1"/>
          </p:cNvSpPr>
          <p:nvPr/>
        </p:nvSpPr>
        <p:spPr bwMode="auto">
          <a:xfrm>
            <a:off x="4543425" y="-7604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85579B4E-1AF2-14C2-5B38-ABDAC3FF18A5}"/>
              </a:ext>
            </a:extLst>
          </p:cNvPr>
          <p:cNvSpPr txBox="1"/>
          <p:nvPr/>
        </p:nvSpPr>
        <p:spPr>
          <a:xfrm>
            <a:off x="1297858" y="1184223"/>
            <a:ext cx="9826142" cy="6463308"/>
          </a:xfrm>
          <a:prstGeom prst="rect">
            <a:avLst/>
          </a:prstGeom>
          <a:noFill/>
        </p:spPr>
        <p:txBody>
          <a:bodyPr wrap="square">
            <a:spAutoFit/>
          </a:bodyPr>
          <a:lstStyle/>
          <a:p>
            <a:pPr algn="ctr"/>
            <a:r>
              <a:rPr lang="en-AU" sz="8000" dirty="0"/>
              <a:t>0.70</a:t>
            </a:r>
          </a:p>
          <a:p>
            <a:pPr algn="ctr"/>
            <a:endParaRPr lang="en-AU" sz="4800" dirty="0"/>
          </a:p>
          <a:p>
            <a:pPr algn="ctr"/>
            <a:r>
              <a:rPr lang="en-AU" sz="4400" dirty="0"/>
              <a:t>Does this number represent </a:t>
            </a:r>
            <a:r>
              <a:rPr lang="en-AU" sz="4400" b="1" dirty="0"/>
              <a:t>7 tenths </a:t>
            </a:r>
            <a:r>
              <a:rPr lang="en-AU" sz="4400" dirty="0"/>
              <a:t>or </a:t>
            </a:r>
            <a:r>
              <a:rPr lang="en-AU" sz="4400" b="1" dirty="0"/>
              <a:t>7 hundredths</a:t>
            </a:r>
            <a:r>
              <a:rPr lang="en-AU" sz="4400" dirty="0"/>
              <a:t>?</a:t>
            </a:r>
          </a:p>
          <a:p>
            <a:pPr algn="ctr"/>
            <a:endParaRPr lang="en-AU" sz="4400" dirty="0"/>
          </a:p>
          <a:p>
            <a:pPr algn="ctr"/>
            <a:endParaRPr lang="en-AU" sz="4400" dirty="0"/>
          </a:p>
          <a:p>
            <a:pPr algn="ctr"/>
            <a:r>
              <a:rPr lang="en-AU" sz="4400" b="1" dirty="0"/>
              <a:t>Explain your thinking</a:t>
            </a:r>
            <a:r>
              <a:rPr lang="en-AU" sz="4400" dirty="0"/>
              <a:t>.</a:t>
            </a:r>
          </a:p>
          <a:p>
            <a:endParaRPr lang="en-AU" sz="6600" dirty="0"/>
          </a:p>
        </p:txBody>
      </p:sp>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(23) </a:t>
            </a:r>
          </a:p>
        </p:txBody>
      </p:sp>
      <p:pic>
        <p:nvPicPr>
          <p:cNvPr id="4" name="Picture 3" descr="image of a clipboard with a pencil recording short answer responses">
            <a:extLst>
              <a:ext uri="{FF2B5EF4-FFF2-40B4-BE49-F238E27FC236}">
                <a16:creationId xmlns:a16="http://schemas.microsoft.com/office/drawing/2014/main" id="{E1E55483-DDAD-9F28-32B5-EE0C91CE4F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352E0507-6E6B-EB8A-88E2-35DDFC075B74}"/>
              </a:ext>
            </a:extLst>
          </p:cNvPr>
          <p:cNvSpPr txBox="1">
            <a:spLocks/>
          </p:cNvSpPr>
          <p:nvPr/>
        </p:nvSpPr>
        <p:spPr>
          <a:xfrm>
            <a:off x="834574" y="1760593"/>
            <a:ext cx="11243037" cy="3336814"/>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How many ways </a:t>
            </a:r>
            <a:r>
              <a:rPr lang="en-AU" sz="4400" dirty="0"/>
              <a:t>could you solve </a:t>
            </a:r>
          </a:p>
          <a:p>
            <a:pPr algn="ctr"/>
            <a:r>
              <a:rPr lang="en-AU" sz="6000" dirty="0"/>
              <a:t>268 + 435?</a:t>
            </a:r>
            <a:endParaRPr lang="en-AU" sz="4400" dirty="0"/>
          </a:p>
          <a:p>
            <a:endParaRPr lang="en-US" dirty="0">
              <a:latin typeface="Arial"/>
              <a:cs typeface="Arial"/>
            </a:endParaRPr>
          </a:p>
        </p:txBody>
      </p:sp>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(24)</a:t>
            </a:r>
          </a:p>
        </p:txBody>
      </p:sp>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360000" y="1164870"/>
            <a:ext cx="11243037" cy="2404240"/>
          </a:xfrm>
        </p:spPr>
        <p:txBody>
          <a:bodyPr/>
          <a:lstStyle/>
          <a:p>
            <a:pPr algn="ctr"/>
            <a:r>
              <a:rPr lang="en-US" sz="4000" dirty="0"/>
              <a:t>What is the length of this pencil in cm?</a:t>
            </a:r>
          </a:p>
          <a:p>
            <a:pPr algn="ctr"/>
            <a:r>
              <a:rPr lang="en-US" sz="4000" dirty="0"/>
              <a:t>What is the length of this pencil in mm?</a:t>
            </a:r>
            <a:endParaRPr lang="en-US" sz="5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B9A45D8-37E1-80DE-ED67-BEAF2EE15212}"/>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yellow pencil is placed on a ruler for measurement. The ruler is marked in centimetres  10 cm with each centimetre divided into10. ">
            <a:extLst>
              <a:ext uri="{FF2B5EF4-FFF2-40B4-BE49-F238E27FC236}">
                <a16:creationId xmlns:a16="http://schemas.microsoft.com/office/drawing/2014/main" id="{2076DB9D-F3E3-C8ED-D574-A5F58A0A40D1}"/>
              </a:ext>
            </a:extLst>
          </p:cNvPr>
          <p:cNvPicPr>
            <a:picLocks noChangeAspect="1"/>
          </p:cNvPicPr>
          <p:nvPr/>
        </p:nvPicPr>
        <p:blipFill>
          <a:blip r:embed="rId4"/>
          <a:stretch>
            <a:fillRect/>
          </a:stretch>
        </p:blipFill>
        <p:spPr>
          <a:xfrm>
            <a:off x="1968039" y="4052505"/>
            <a:ext cx="7719060" cy="2222516"/>
          </a:xfrm>
          <a:prstGeom prst="rect">
            <a:avLst/>
          </a:prstGeom>
          <a:effectLst>
            <a:outerShdw blurRad="50800" dist="50800" dir="5400000" algn="ctr" rotWithShape="0">
              <a:schemeClr val="tx1"/>
            </a:outerShdw>
          </a:effectLst>
        </p:spPr>
      </p:pic>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45</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6 – decimal height</a:t>
            </a:r>
          </a:p>
        </p:txBody>
      </p:sp>
      <p:sp>
        <p:nvSpPr>
          <p:cNvPr id="7" name="Freeform 3" descr="Two girls with speech bubbles above their heads. &#10;Girl 1 says, 'I’m Rose and my height is 1.09 metres. I am the tallest!'&#10;Girl 2 says, 'I’m Martine and my height is 1.3 metres. I am the tallest!'">
            <a:extLst>
              <a:ext uri="{FF2B5EF4-FFF2-40B4-BE49-F238E27FC236}">
                <a16:creationId xmlns:a16="http://schemas.microsoft.com/office/drawing/2014/main" id="{0B58297B-9C26-DEE2-30EB-8F0EA6995C59}"/>
              </a:ext>
            </a:extLst>
          </p:cNvPr>
          <p:cNvSpPr/>
          <p:nvPr/>
        </p:nvSpPr>
        <p:spPr>
          <a:xfrm flipH="1">
            <a:off x="5785223" y="848752"/>
            <a:ext cx="4657036" cy="3100781"/>
          </a:xfrm>
          <a:custGeom>
            <a:avLst/>
            <a:gdLst/>
            <a:ahLst/>
            <a:cxnLst/>
            <a:rect l="l" t="t" r="r" b="b"/>
            <a:pathLst>
              <a:path w="3917997" h="3073995">
                <a:moveTo>
                  <a:pt x="3917997" y="0"/>
                </a:moveTo>
                <a:lnTo>
                  <a:pt x="0" y="0"/>
                </a:lnTo>
                <a:lnTo>
                  <a:pt x="0" y="3073995"/>
                </a:lnTo>
                <a:lnTo>
                  <a:pt x="3917997" y="3073995"/>
                </a:lnTo>
                <a:lnTo>
                  <a:pt x="3917997"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8" name="Freeform 4" descr="Two girls with speech bubbles above their heads. &#10;Girl 1 says, 'I’m Rose and my height is 1.09 metres. I am the tallest!'&#10;Girl 2 says, 'I’m Martine and my height is 1.3 metres. I am the tallest!'">
            <a:extLst>
              <a:ext uri="{FF2B5EF4-FFF2-40B4-BE49-F238E27FC236}">
                <a16:creationId xmlns:a16="http://schemas.microsoft.com/office/drawing/2014/main" id="{225F440F-BF4E-C5CF-659A-7E9DF48F582F}"/>
              </a:ext>
            </a:extLst>
          </p:cNvPr>
          <p:cNvSpPr/>
          <p:nvPr/>
        </p:nvSpPr>
        <p:spPr>
          <a:xfrm>
            <a:off x="8883327" y="2683756"/>
            <a:ext cx="3118531" cy="3816109"/>
          </a:xfrm>
          <a:custGeom>
            <a:avLst/>
            <a:gdLst/>
            <a:ahLst/>
            <a:cxnLst/>
            <a:rect l="l" t="t" r="r" b="b"/>
            <a:pathLst>
              <a:path w="3467174" h="5108176">
                <a:moveTo>
                  <a:pt x="0" y="0"/>
                </a:moveTo>
                <a:lnTo>
                  <a:pt x="3467174" y="0"/>
                </a:lnTo>
                <a:lnTo>
                  <a:pt x="3467174" y="5108175"/>
                </a:lnTo>
                <a:lnTo>
                  <a:pt x="0" y="51081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9" name="Freeform 5" descr="Two girls with speech bubbles above their heads. &#10;Girl 1 says, 'I’m Rose and my height is 1.09 metres. I am the tallest!'&#10;Girl 2 says, 'I’m Martine and my height is 1.3 metres. I am the tallest!'">
            <a:extLst>
              <a:ext uri="{FF2B5EF4-FFF2-40B4-BE49-F238E27FC236}">
                <a16:creationId xmlns:a16="http://schemas.microsoft.com/office/drawing/2014/main" id="{F5582BF9-9CF3-8627-A839-5C27108ECAAA}"/>
              </a:ext>
            </a:extLst>
          </p:cNvPr>
          <p:cNvSpPr/>
          <p:nvPr/>
        </p:nvSpPr>
        <p:spPr>
          <a:xfrm>
            <a:off x="1641769" y="905601"/>
            <a:ext cx="4143454" cy="3100781"/>
          </a:xfrm>
          <a:custGeom>
            <a:avLst/>
            <a:gdLst/>
            <a:ahLst/>
            <a:cxnLst/>
            <a:rect l="l" t="t" r="r" b="b"/>
            <a:pathLst>
              <a:path w="3917997" h="3073995">
                <a:moveTo>
                  <a:pt x="0" y="0"/>
                </a:moveTo>
                <a:lnTo>
                  <a:pt x="3917997" y="0"/>
                </a:lnTo>
                <a:lnTo>
                  <a:pt x="3917997" y="3073995"/>
                </a:lnTo>
                <a:lnTo>
                  <a:pt x="0" y="307399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0" name="TextBox 6" descr="Two girls with speech bubbles above their heads. &#10;Girl 1 says, 'I’m Rose and my height is 1.09 metres. I am the tallest!'&#10;Girl 2 says, 'I’m Martine and my height is 1.3 metres. I am the tallest!'">
            <a:extLst>
              <a:ext uri="{FF2B5EF4-FFF2-40B4-BE49-F238E27FC236}">
                <a16:creationId xmlns:a16="http://schemas.microsoft.com/office/drawing/2014/main" id="{6E0207CC-79C8-DEA1-CF27-C120CCBF69EB}"/>
              </a:ext>
            </a:extLst>
          </p:cNvPr>
          <p:cNvSpPr txBox="1"/>
          <p:nvPr/>
        </p:nvSpPr>
        <p:spPr>
          <a:xfrm rot="21302716">
            <a:off x="2118110" y="1244514"/>
            <a:ext cx="3190769" cy="1868588"/>
          </a:xfrm>
          <a:prstGeom prst="rect">
            <a:avLst/>
          </a:prstGeom>
        </p:spPr>
        <p:txBody>
          <a:bodyPr wrap="square" lIns="0" tIns="0" rIns="0" bIns="0" rtlCol="0" anchor="t">
            <a:spAutoFit/>
          </a:bodyPr>
          <a:lstStyle/>
          <a:p>
            <a:pPr marL="0" marR="0" lvl="0" indent="0" algn="ctr" defTabSz="609585" rtl="0" eaLnBrk="1" fontAlgn="auto" latinLnBrk="0" hangingPunct="1">
              <a:lnSpc>
                <a:spcPts val="5132"/>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I’m Rose and my </a:t>
            </a:r>
          </a:p>
          <a:p>
            <a:pPr marL="0" marR="0" lvl="0" indent="0" algn="ctr" defTabSz="609585" rtl="0" eaLnBrk="1" fontAlgn="auto" latinLnBrk="0" hangingPunct="1">
              <a:lnSpc>
                <a:spcPts val="5132"/>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height is 1.09 </a:t>
            </a:r>
            <a:r>
              <a:rPr kumimoji="0" lang="en-US" sz="2400" b="0" i="0" u="none" strike="noStrike" kern="1200" cap="none" spc="0" normalizeH="0" baseline="0" noProof="0" err="1">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metres</a:t>
            </a:r>
            <a:r>
              <a:rPr kumimoji="0" lang="en-US" sz="24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 </a:t>
            </a:r>
          </a:p>
          <a:p>
            <a:pPr marL="0" marR="0" lvl="0" indent="0" algn="ctr" defTabSz="609585" rtl="0" eaLnBrk="1" fontAlgn="auto" latinLnBrk="0" hangingPunct="1">
              <a:lnSpc>
                <a:spcPts val="5132"/>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I am the tallest!</a:t>
            </a:r>
          </a:p>
        </p:txBody>
      </p:sp>
      <p:sp>
        <p:nvSpPr>
          <p:cNvPr id="11" name="TextBox 7" descr="Two girls with speech bubbles above their heads. &#10;Girl 1 says, 'I’m Rose and my height is 1.09 metres. I am the tallest!'&#10;Girl 2 says, 'I’m Martine and my height is 1.3 metres. I am the tallest!'">
            <a:extLst>
              <a:ext uri="{FF2B5EF4-FFF2-40B4-BE49-F238E27FC236}">
                <a16:creationId xmlns:a16="http://schemas.microsoft.com/office/drawing/2014/main" id="{1390C352-09B0-3C69-9C90-E2B212970168}"/>
              </a:ext>
            </a:extLst>
          </p:cNvPr>
          <p:cNvSpPr txBox="1"/>
          <p:nvPr/>
        </p:nvSpPr>
        <p:spPr>
          <a:xfrm>
            <a:off x="6182080" y="1222949"/>
            <a:ext cx="3746597" cy="1868588"/>
          </a:xfrm>
          <a:prstGeom prst="rect">
            <a:avLst/>
          </a:prstGeom>
        </p:spPr>
        <p:txBody>
          <a:bodyPr wrap="square" lIns="0" tIns="0" rIns="0" bIns="0" rtlCol="0" anchor="t">
            <a:spAutoFit/>
          </a:bodyPr>
          <a:lstStyle/>
          <a:p>
            <a:pPr marL="0" marR="0" lvl="0" indent="0" algn="ctr" defTabSz="609585" rtl="0" eaLnBrk="1" fontAlgn="auto" latinLnBrk="0" hangingPunct="1">
              <a:lnSpc>
                <a:spcPts val="5132"/>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I’m Martine and my </a:t>
            </a:r>
          </a:p>
          <a:p>
            <a:pPr marL="0" marR="0" lvl="0" indent="0" algn="ctr" defTabSz="609585" rtl="0" eaLnBrk="1" fontAlgn="auto" latinLnBrk="0" hangingPunct="1">
              <a:lnSpc>
                <a:spcPts val="5132"/>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height is 1.3 </a:t>
            </a:r>
            <a:r>
              <a:rPr kumimoji="0" lang="en-US" sz="2400" b="0" i="0" u="none" strike="noStrike" kern="1200" cap="none" spc="0" normalizeH="0" baseline="0" noProof="0" err="1">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metres</a:t>
            </a:r>
            <a:r>
              <a:rPr kumimoji="0" lang="en-US" sz="24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 </a:t>
            </a:r>
          </a:p>
          <a:p>
            <a:pPr marL="0" marR="0" lvl="0" indent="0" algn="ctr" defTabSz="609585" rtl="0" eaLnBrk="1" fontAlgn="auto" latinLnBrk="0" hangingPunct="1">
              <a:lnSpc>
                <a:spcPts val="5132"/>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I am the tallest!</a:t>
            </a:r>
          </a:p>
        </p:txBody>
      </p:sp>
      <p:sp>
        <p:nvSpPr>
          <p:cNvPr id="6" name="Freeform 2" descr="Two girls with speech bubbles above their heads. &#10;Girl 1 says, 'I’m Rose and my height is 1.09 metres. I am the tallest!'&#10;Girl 2 says, 'I’m Martine and my height is 1.3 metres. I am the tallest!'">
            <a:extLst>
              <a:ext uri="{FF2B5EF4-FFF2-40B4-BE49-F238E27FC236}">
                <a16:creationId xmlns:a16="http://schemas.microsoft.com/office/drawing/2014/main" id="{E592F183-4E7E-E16A-9F46-310883AA85A2}"/>
              </a:ext>
            </a:extLst>
          </p:cNvPr>
          <p:cNvSpPr/>
          <p:nvPr/>
        </p:nvSpPr>
        <p:spPr>
          <a:xfrm>
            <a:off x="466756" y="3054318"/>
            <a:ext cx="2472469" cy="3530508"/>
          </a:xfrm>
          <a:custGeom>
            <a:avLst/>
            <a:gdLst/>
            <a:ahLst/>
            <a:cxnLst/>
            <a:rect l="l" t="t" r="r" b="b"/>
            <a:pathLst>
              <a:path w="2748884" h="4725875">
                <a:moveTo>
                  <a:pt x="0" y="0"/>
                </a:moveTo>
                <a:lnTo>
                  <a:pt x="2748884" y="0"/>
                </a:lnTo>
                <a:lnTo>
                  <a:pt x="2748884" y="4725874"/>
                </a:lnTo>
                <a:lnTo>
                  <a:pt x="0" y="4725874"/>
                </a:lnTo>
                <a:lnTo>
                  <a:pt x="0" y="0"/>
                </a:lnTo>
                <a:close/>
              </a:path>
            </a:pathLst>
          </a:custGeom>
          <a:blipFill>
            <a:blip r:embed="rId7"/>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pic>
        <p:nvPicPr>
          <p:cNvPr id="4" name="Picture 3" descr="image of a head with cogs turning inside">
            <a:extLst>
              <a:ext uri="{FF2B5EF4-FFF2-40B4-BE49-F238E27FC236}">
                <a16:creationId xmlns:a16="http://schemas.microsoft.com/office/drawing/2014/main" id="{03F118B2-6045-7BDE-B794-B53D9D720651}"/>
              </a:ext>
            </a:extLst>
          </p:cNvPr>
          <p:cNvPicPr>
            <a:picLocks noChangeAspect="1"/>
          </p:cNvPicPr>
          <p:nvPr/>
        </p:nvPicPr>
        <p:blipFill>
          <a:blip r:embed="rId8"/>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255984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B09B2-7B41-D99D-EDEF-064F74DE02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6B9621-C224-299B-082B-E90BD81C5902}"/>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16" name="Picture Placeholder 15">
            <a:extLst>
              <a:ext uri="{FF2B5EF4-FFF2-40B4-BE49-F238E27FC236}">
                <a16:creationId xmlns:a16="http://schemas.microsoft.com/office/drawing/2014/main" id="{2D588CBB-F5E3-92DC-82B9-75433985A56C}"/>
              </a:ext>
            </a:extLst>
          </p:cNvPr>
          <p:cNvSpPr>
            <a:spLocks noGrp="1"/>
          </p:cNvSpPr>
          <p:nvPr>
            <p:ph type="pic" sz="quarter" idx="22"/>
          </p:nvPr>
        </p:nvSpPr>
        <p:spPr>
          <a:xfrm>
            <a:off x="9371920" y="3987103"/>
            <a:ext cx="2226583" cy="1312255"/>
          </a:xfrm>
        </p:spPr>
        <p:txBody>
          <a:bodyPr/>
          <a:lstStyle/>
          <a:p>
            <a:pPr algn="ctr"/>
            <a:r>
              <a:rPr lang="en-AU" sz="3600">
                <a:latin typeface="Arial"/>
                <a:cs typeface="Arial"/>
              </a:rPr>
              <a:t> </a:t>
            </a:r>
            <a:endParaRPr lang="en-AU" sz="3600"/>
          </a:p>
        </p:txBody>
      </p:sp>
      <p:sp>
        <p:nvSpPr>
          <p:cNvPr id="18" name="Text Placeholder 17">
            <a:extLst>
              <a:ext uri="{FF2B5EF4-FFF2-40B4-BE49-F238E27FC236}">
                <a16:creationId xmlns:a16="http://schemas.microsoft.com/office/drawing/2014/main" id="{46752A48-96D4-4039-44A3-719E3CD9A2E6}"/>
              </a:ext>
            </a:extLst>
          </p:cNvPr>
          <p:cNvSpPr>
            <a:spLocks noGrp="1"/>
          </p:cNvSpPr>
          <p:nvPr>
            <p:ph type="body" sz="quarter" idx="24"/>
          </p:nvPr>
        </p:nvSpPr>
        <p:spPr>
          <a:xfrm>
            <a:off x="636033" y="951453"/>
            <a:ext cx="9895843" cy="893226"/>
          </a:xfrm>
        </p:spPr>
        <p:txBody>
          <a:bodyPr vert="horz" lIns="0" tIns="0" rIns="0" bIns="0" rtlCol="0" anchor="t">
            <a:noAutofit/>
          </a:bodyPr>
          <a:lstStyle/>
          <a:p>
            <a:pPr algn="ctr"/>
            <a:r>
              <a:rPr lang="en-US" sz="3600">
                <a:latin typeface="+mn-lt"/>
                <a:cs typeface="Arial"/>
              </a:rPr>
              <a:t>Which of the following represents </a:t>
            </a:r>
            <a:r>
              <a:rPr lang="en-AU" sz="3600" b="1">
                <a:latin typeface="+mn-lt"/>
              </a:rPr>
              <a:t>0.75</a:t>
            </a:r>
            <a:r>
              <a:rPr lang="en-AU" sz="3600">
                <a:latin typeface="+mn-lt"/>
              </a:rPr>
              <a:t> using interlocking cubes?</a:t>
            </a:r>
            <a:endParaRPr lang="en-US" sz="3600">
              <a:latin typeface="+mn-lt"/>
            </a:endParaRPr>
          </a:p>
        </p:txBody>
      </p:sp>
      <p:pic>
        <p:nvPicPr>
          <p:cNvPr id="5" name="Picture 4" descr="image of a finger selecting an option for a multiple choice or true and false">
            <a:extLst>
              <a:ext uri="{FF2B5EF4-FFF2-40B4-BE49-F238E27FC236}">
                <a16:creationId xmlns:a16="http://schemas.microsoft.com/office/drawing/2014/main" id="{3313E438-7F57-A13D-DE77-437CCD7BAF4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3" name="Slide Number Placeholder 1">
            <a:extLst>
              <a:ext uri="{FF2B5EF4-FFF2-40B4-BE49-F238E27FC236}">
                <a16:creationId xmlns:a16="http://schemas.microsoft.com/office/drawing/2014/main" id="{FDC01D7D-4834-4A98-DC03-066D85B577E6}"/>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47</a:t>
            </a:fld>
            <a:endParaRPr lang="en-AU"/>
          </a:p>
        </p:txBody>
      </p:sp>
      <p:sp>
        <p:nvSpPr>
          <p:cNvPr id="14" name="Title 2">
            <a:extLst>
              <a:ext uri="{FF2B5EF4-FFF2-40B4-BE49-F238E27FC236}">
                <a16:creationId xmlns:a16="http://schemas.microsoft.com/office/drawing/2014/main" id="{7ABBB50B-437D-6CE2-BBD1-2EAD8DF0BDAF}"/>
              </a:ext>
            </a:extLst>
          </p:cNvPr>
          <p:cNvSpPr txBox="1">
            <a:spLocks/>
          </p:cNvSpPr>
          <p:nvPr/>
        </p:nvSpPr>
        <p:spPr>
          <a:xfrm>
            <a:off x="360000" y="360000"/>
            <a:ext cx="11243038" cy="545601"/>
          </a:xfrm>
          <a:prstGeom prst="rect">
            <a:avLst/>
          </a:prstGeom>
        </p:spPr>
        <p:txBody>
          <a:bodyPr vert="horz" lIns="0" tIns="0" rIns="0" bIns="0" rtlCol="0" anchor="t">
            <a:noAutofit/>
          </a:bodyPr>
          <a:lstStyle>
            <a:lvl1pPr algn="l" defTabSz="914377" rtl="0" eaLnBrk="1" latinLnBrk="0" hangingPunct="1">
              <a:lnSpc>
                <a:spcPct val="90000"/>
              </a:lnSpc>
              <a:spcBef>
                <a:spcPct val="0"/>
              </a:spcBef>
              <a:buNone/>
              <a:defRPr sz="3600" kern="1200">
                <a:solidFill>
                  <a:schemeClr val="accent1"/>
                </a:solidFill>
                <a:latin typeface="Arial" panose="020B0604020202020204" pitchFamily="34" charset="0"/>
                <a:ea typeface="+mj-ea"/>
                <a:cs typeface="Arial" panose="020B0604020202020204" pitchFamily="34" charset="0"/>
              </a:defRPr>
            </a:lvl1pPr>
          </a:lstStyle>
          <a:p>
            <a:r>
              <a:rPr lang="en-US"/>
              <a:t>Multiple choice </a:t>
            </a:r>
            <a:r>
              <a:rPr lang="en-US">
                <a:solidFill>
                  <a:schemeClr val="bg1"/>
                </a:solidFill>
              </a:rPr>
              <a:t>(1)</a:t>
            </a:r>
          </a:p>
        </p:txBody>
      </p:sp>
      <p:sp>
        <p:nvSpPr>
          <p:cNvPr id="17" name="TextBox 16">
            <a:extLst>
              <a:ext uri="{FF2B5EF4-FFF2-40B4-BE49-F238E27FC236}">
                <a16:creationId xmlns:a16="http://schemas.microsoft.com/office/drawing/2014/main" id="{3C29F5BB-CF33-B8F2-9688-10FB04ACE013}"/>
              </a:ext>
            </a:extLst>
          </p:cNvPr>
          <p:cNvSpPr txBox="1"/>
          <p:nvPr/>
        </p:nvSpPr>
        <p:spPr>
          <a:xfrm>
            <a:off x="670560" y="2829070"/>
            <a:ext cx="10927943"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 </a:t>
            </a:r>
            <a:r>
              <a:rPr lang="en-US" sz="3600">
                <a:cs typeface="Arial"/>
              </a:rPr>
              <a:t>3 </a:t>
            </a:r>
            <a:r>
              <a:rPr lang="en-US" sz="3600">
                <a:solidFill>
                  <a:srgbClr val="146CFD"/>
                </a:solidFill>
                <a:cs typeface="Arial"/>
              </a:rPr>
              <a:t>blue</a:t>
            </a:r>
            <a:r>
              <a:rPr lang="en-US" sz="3600">
                <a:cs typeface="Arial"/>
              </a:rPr>
              <a:t> cubes connected to 3 </a:t>
            </a:r>
            <a:r>
              <a:rPr lang="en-US" sz="3600">
                <a:solidFill>
                  <a:srgbClr val="FF0000"/>
                </a:solidFill>
                <a:cs typeface="Arial"/>
              </a:rPr>
              <a:t>red</a:t>
            </a:r>
            <a:r>
              <a:rPr lang="en-US" sz="3600">
                <a:cs typeface="Arial"/>
              </a:rPr>
              <a:t> cubes</a:t>
            </a:r>
          </a:p>
        </p:txBody>
      </p:sp>
      <p:sp>
        <p:nvSpPr>
          <p:cNvPr id="19" name="TextBox 18">
            <a:extLst>
              <a:ext uri="{FF2B5EF4-FFF2-40B4-BE49-F238E27FC236}">
                <a16:creationId xmlns:a16="http://schemas.microsoft.com/office/drawing/2014/main" id="{2922BCD7-953C-1E36-CEFD-9FD9397DCA77}"/>
              </a:ext>
            </a:extLst>
          </p:cNvPr>
          <p:cNvSpPr txBox="1"/>
          <p:nvPr/>
        </p:nvSpPr>
        <p:spPr>
          <a:xfrm>
            <a:off x="670559" y="3676983"/>
            <a:ext cx="10927942"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B </a:t>
            </a:r>
            <a:r>
              <a:rPr lang="en-US" sz="3600">
                <a:cs typeface="Arial"/>
              </a:rPr>
              <a:t>3 </a:t>
            </a:r>
            <a:r>
              <a:rPr lang="en-US" sz="3600">
                <a:solidFill>
                  <a:srgbClr val="146CFD"/>
                </a:solidFill>
                <a:cs typeface="Arial"/>
              </a:rPr>
              <a:t>blue </a:t>
            </a:r>
            <a:r>
              <a:rPr lang="en-US" sz="3600">
                <a:cs typeface="Arial"/>
              </a:rPr>
              <a:t>cubes connected to 12 </a:t>
            </a:r>
            <a:r>
              <a:rPr lang="en-US" sz="3600">
                <a:solidFill>
                  <a:srgbClr val="FF0000"/>
                </a:solidFill>
                <a:cs typeface="Arial"/>
              </a:rPr>
              <a:t>red</a:t>
            </a:r>
            <a:r>
              <a:rPr lang="en-US" sz="3600">
                <a:cs typeface="Arial"/>
              </a:rPr>
              <a:t> cubes</a:t>
            </a:r>
            <a:endParaRPr lang="en-US" sz="3600" b="1"/>
          </a:p>
        </p:txBody>
      </p:sp>
      <p:sp>
        <p:nvSpPr>
          <p:cNvPr id="20" name="TextBox 19">
            <a:extLst>
              <a:ext uri="{FF2B5EF4-FFF2-40B4-BE49-F238E27FC236}">
                <a16:creationId xmlns:a16="http://schemas.microsoft.com/office/drawing/2014/main" id="{B46F8072-1D02-353D-A663-1F42B02E9054}"/>
              </a:ext>
            </a:extLst>
          </p:cNvPr>
          <p:cNvSpPr txBox="1"/>
          <p:nvPr/>
        </p:nvSpPr>
        <p:spPr>
          <a:xfrm>
            <a:off x="670556" y="5377089"/>
            <a:ext cx="95765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 </a:t>
            </a:r>
            <a:r>
              <a:rPr kumimoji="0" lang="en-US" sz="3600" b="0" i="0" u="none" strike="noStrike" kern="1200" cap="none" spc="0" normalizeH="0" baseline="0" noProof="0">
                <a:ln>
                  <a:noFill/>
                </a:ln>
                <a:solidFill>
                  <a:srgbClr val="22272B"/>
                </a:solidFill>
                <a:effectLst/>
                <a:uLnTx/>
                <a:uFillTx/>
                <a:latin typeface="Arial" panose="020B0604020202020204"/>
                <a:ea typeface="+mn-ea"/>
                <a:cs typeface="Arial"/>
              </a:rPr>
              <a:t>3 </a:t>
            </a:r>
            <a:r>
              <a:rPr kumimoji="0" lang="en-US" sz="3600" b="0" i="0" u="none" strike="noStrike" kern="1200" cap="none" spc="0" normalizeH="0" baseline="0" noProof="0">
                <a:ln>
                  <a:noFill/>
                </a:ln>
                <a:solidFill>
                  <a:srgbClr val="146CFD"/>
                </a:solidFill>
                <a:effectLst/>
                <a:uLnTx/>
                <a:uFillTx/>
                <a:latin typeface="Arial" panose="020B0604020202020204"/>
                <a:ea typeface="+mn-ea"/>
                <a:cs typeface="Arial"/>
              </a:rPr>
              <a:t>blue</a:t>
            </a:r>
            <a:r>
              <a:rPr kumimoji="0" lang="en-US" sz="3600" b="0" i="0" u="none" strike="noStrike" kern="1200" cap="none" spc="0" normalizeH="0" baseline="0" noProof="0">
                <a:ln>
                  <a:noFill/>
                </a:ln>
                <a:solidFill>
                  <a:srgbClr val="22272B"/>
                </a:solidFill>
                <a:effectLst/>
                <a:uLnTx/>
                <a:uFillTx/>
                <a:latin typeface="Arial" panose="020B0604020202020204"/>
                <a:ea typeface="+mn-ea"/>
                <a:cs typeface="Arial"/>
              </a:rPr>
              <a:t> cubes connected to 6 </a:t>
            </a:r>
            <a:r>
              <a:rPr kumimoji="0" lang="en-US" sz="3600" b="0" i="0" u="none" strike="noStrike" kern="1200" cap="none" spc="0" normalizeH="0" baseline="0" noProof="0">
                <a:ln>
                  <a:noFill/>
                </a:ln>
                <a:solidFill>
                  <a:srgbClr val="FF0000"/>
                </a:solidFill>
                <a:effectLst/>
                <a:uLnTx/>
                <a:uFillTx/>
                <a:latin typeface="Arial" panose="020B0604020202020204"/>
                <a:ea typeface="+mn-ea"/>
                <a:cs typeface="Arial"/>
              </a:rPr>
              <a:t>red</a:t>
            </a:r>
            <a:r>
              <a:rPr kumimoji="0" lang="en-US" sz="3600" b="0" i="0" u="none" strike="noStrike" kern="1200" cap="none" spc="0" normalizeH="0" baseline="0" noProof="0">
                <a:ln>
                  <a:noFill/>
                </a:ln>
                <a:solidFill>
                  <a:srgbClr val="22272B"/>
                </a:solidFill>
                <a:effectLst/>
                <a:uLnTx/>
                <a:uFillTx/>
                <a:latin typeface="Arial" panose="020B0604020202020204"/>
                <a:ea typeface="+mn-ea"/>
                <a:cs typeface="Arial"/>
              </a:rPr>
              <a:t> cubes</a:t>
            </a:r>
            <a:endParaRPr lang="en-US" sz="4800" b="1"/>
          </a:p>
        </p:txBody>
      </p:sp>
      <p:sp>
        <p:nvSpPr>
          <p:cNvPr id="21" name="TextBox 20">
            <a:extLst>
              <a:ext uri="{FF2B5EF4-FFF2-40B4-BE49-F238E27FC236}">
                <a16:creationId xmlns:a16="http://schemas.microsoft.com/office/drawing/2014/main" id="{D849CCC1-C5F1-7A8A-691F-295F7F22274E}"/>
              </a:ext>
            </a:extLst>
          </p:cNvPr>
          <p:cNvSpPr txBox="1"/>
          <p:nvPr/>
        </p:nvSpPr>
        <p:spPr>
          <a:xfrm>
            <a:off x="670558" y="4527036"/>
            <a:ext cx="1028772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C </a:t>
            </a:r>
            <a:r>
              <a:rPr lang="en-US" sz="3600">
                <a:cs typeface="Arial"/>
              </a:rPr>
              <a:t>3 </a:t>
            </a:r>
            <a:r>
              <a:rPr lang="en-US" sz="3600">
                <a:solidFill>
                  <a:srgbClr val="146CFD"/>
                </a:solidFill>
                <a:cs typeface="Arial"/>
              </a:rPr>
              <a:t>blue</a:t>
            </a:r>
            <a:r>
              <a:rPr lang="en-US" sz="3600">
                <a:cs typeface="Arial"/>
              </a:rPr>
              <a:t> cubes connected to 1 </a:t>
            </a:r>
            <a:r>
              <a:rPr lang="en-US" sz="3600">
                <a:solidFill>
                  <a:srgbClr val="FF0000"/>
                </a:solidFill>
                <a:cs typeface="Arial"/>
              </a:rPr>
              <a:t>red </a:t>
            </a:r>
            <a:r>
              <a:rPr lang="en-US" sz="3600">
                <a:cs typeface="Arial"/>
              </a:rPr>
              <a:t>cube</a:t>
            </a:r>
            <a:endParaRPr lang="en-US" sz="3600" b="1"/>
          </a:p>
        </p:txBody>
      </p:sp>
    </p:spTree>
    <p:extLst>
      <p:ext uri="{BB962C8B-B14F-4D97-AF65-F5344CB8AC3E}">
        <p14:creationId xmlns:p14="http://schemas.microsoft.com/office/powerpoint/2010/main" val="4255010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(25)</a:t>
            </a:r>
          </a:p>
        </p:txBody>
      </p:sp>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360000" y="1423183"/>
            <a:ext cx="11189376" cy="5074817"/>
          </a:xfrm>
        </p:spPr>
        <p:txBody>
          <a:bodyPr/>
          <a:lstStyle/>
          <a:p>
            <a:pPr algn="ctr"/>
            <a:r>
              <a:rPr lang="en-US" sz="6000">
                <a:latin typeface="Arial"/>
                <a:cs typeface="Arial"/>
              </a:rPr>
              <a:t>Draw a </a:t>
            </a:r>
            <a:r>
              <a:rPr lang="en-US" sz="6000" b="1">
                <a:latin typeface="Arial"/>
                <a:cs typeface="Arial"/>
              </a:rPr>
              <a:t>rectangular prism</a:t>
            </a:r>
            <a:r>
              <a:rPr lang="en-US" sz="6000">
                <a:latin typeface="Arial"/>
                <a:cs typeface="Arial"/>
              </a:rPr>
              <a:t>.</a:t>
            </a:r>
          </a:p>
          <a:p>
            <a:endParaRPr lang="en-US" sz="4400"/>
          </a:p>
          <a:p>
            <a:pPr algn="ctr"/>
            <a:r>
              <a:rPr lang="en-AU" sz="3600"/>
              <a:t>Label its features using </a:t>
            </a:r>
            <a:r>
              <a:rPr lang="en-AU" sz="3600" b="1"/>
              <a:t>face, edge</a:t>
            </a:r>
            <a:r>
              <a:rPr lang="en-AU" sz="3600"/>
              <a:t>, and </a:t>
            </a:r>
            <a:r>
              <a:rPr lang="en-AU" sz="3600" b="1"/>
              <a:t>vertex.</a:t>
            </a:r>
            <a:endParaRPr lang="en-US" sz="3600" b="1">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C394F32-72F3-4115-FE74-3C0EFFCECDE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a:t>
            </a:r>
            <a:r>
              <a:rPr lang="en-US" dirty="0">
                <a:solidFill>
                  <a:schemeClr val="bg1"/>
                </a:solidFill>
                <a:latin typeface="Arial"/>
                <a:cs typeface="Arial"/>
              </a:rPr>
              <a:t>26</a:t>
            </a:r>
            <a:r>
              <a:rPr lang="en-US">
                <a:solidFill>
                  <a:schemeClr val="bg1"/>
                </a:solidFill>
                <a:latin typeface="Arial"/>
                <a:cs typeface="Arial"/>
              </a:rPr>
              <a:t>)</a:t>
            </a:r>
          </a:p>
        </p:txBody>
      </p:sp>
      <p:pic>
        <p:nvPicPr>
          <p:cNvPr id="4" name="Picture 3" descr="image of a clipboard with a pencil recording short answer responses">
            <a:extLst>
              <a:ext uri="{FF2B5EF4-FFF2-40B4-BE49-F238E27FC236}">
                <a16:creationId xmlns:a16="http://schemas.microsoft.com/office/drawing/2014/main" id="{B2AACA3F-7A28-6CBF-E26B-3DD13855833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BCB2A648-6BA5-0A0F-7606-9B8D4928F626}"/>
              </a:ext>
            </a:extLst>
          </p:cNvPr>
          <p:cNvSpPr txBox="1"/>
          <p:nvPr/>
        </p:nvSpPr>
        <p:spPr>
          <a:xfrm>
            <a:off x="766916" y="1582908"/>
            <a:ext cx="11077084" cy="3860224"/>
          </a:xfrm>
          <a:prstGeom prst="rect">
            <a:avLst/>
          </a:prstGeom>
          <a:noFill/>
        </p:spPr>
        <p:txBody>
          <a:bodyPr wrap="square">
            <a:spAutoFit/>
          </a:bodyPr>
          <a:lstStyle/>
          <a:p>
            <a:r>
              <a:rPr lang="en-AU" sz="4400" dirty="0">
                <a:latin typeface="+mj-lt"/>
              </a:rPr>
              <a:t>Fill in the blanks to complete this sentence:</a:t>
            </a:r>
          </a:p>
          <a:p>
            <a:pPr>
              <a:lnSpc>
                <a:spcPct val="250000"/>
              </a:lnSpc>
            </a:pPr>
            <a:r>
              <a:rPr lang="en-AU" sz="4400" b="0" i="0" dirty="0">
                <a:effectLst/>
                <a:latin typeface="+mj-lt"/>
              </a:rPr>
              <a:t>0.25 is </a:t>
            </a:r>
            <a:r>
              <a:rPr lang="en-AU" sz="4400" dirty="0">
                <a:latin typeface="+mj-lt"/>
              </a:rPr>
              <a:t>___</a:t>
            </a:r>
            <a:r>
              <a:rPr lang="en-AU" sz="4400" b="0" i="0" dirty="0">
                <a:effectLst/>
                <a:latin typeface="+mj-lt"/>
              </a:rPr>
              <a:t> tenths and </a:t>
            </a:r>
            <a:r>
              <a:rPr lang="en-AU" sz="4400" dirty="0">
                <a:latin typeface="+mj-lt"/>
              </a:rPr>
              <a:t>___</a:t>
            </a:r>
            <a:r>
              <a:rPr lang="en-AU" sz="4400" b="0" i="0" dirty="0">
                <a:effectLst/>
                <a:latin typeface="+mj-lt"/>
              </a:rPr>
              <a:t> hundredths </a:t>
            </a:r>
          </a:p>
          <a:p>
            <a:pPr>
              <a:lnSpc>
                <a:spcPct val="250000"/>
              </a:lnSpc>
            </a:pPr>
            <a:r>
              <a:rPr lang="en-AU" sz="4400" dirty="0">
                <a:latin typeface="+mj-lt"/>
              </a:rPr>
              <a:t>or</a:t>
            </a:r>
            <a:r>
              <a:rPr lang="en-AU" sz="4400" b="0" i="0" dirty="0">
                <a:effectLst/>
                <a:latin typeface="+mj-lt"/>
              </a:rPr>
              <a:t> </a:t>
            </a:r>
            <a:r>
              <a:rPr lang="en-AU" sz="4400" dirty="0">
                <a:latin typeface="+mj-lt"/>
              </a:rPr>
              <a:t>___</a:t>
            </a:r>
            <a:r>
              <a:rPr lang="en-AU" sz="4400" b="0" i="0" dirty="0">
                <a:effectLst/>
                <a:latin typeface="+mj-lt"/>
              </a:rPr>
              <a:t> hundredths.</a:t>
            </a:r>
            <a:endParaRPr lang="en-AU" sz="4400" dirty="0">
              <a:latin typeface="+mj-lt"/>
            </a:endParaRPr>
          </a:p>
        </p:txBody>
      </p:sp>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a:t>
            </a:r>
            <a:r>
              <a:rPr lang="en-US" dirty="0">
                <a:solidFill>
                  <a:schemeClr val="bg1"/>
                </a:solidFill>
                <a:latin typeface="Arial"/>
                <a:cs typeface="Arial"/>
              </a:rPr>
              <a:t>27</a:t>
            </a:r>
            <a:r>
              <a:rPr lang="en-US">
                <a:solidFill>
                  <a:schemeClr val="bg1"/>
                </a:solidFill>
                <a:latin typeface="Arial"/>
                <a:cs typeface="Arial"/>
              </a:rPr>
              <a:t>)</a:t>
            </a:r>
          </a:p>
        </p:txBody>
      </p:sp>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353365" y="1184223"/>
            <a:ext cx="11235949" cy="5331777"/>
          </a:xfrm>
        </p:spPr>
        <p:txBody>
          <a:bodyPr/>
          <a:lstStyle/>
          <a:p>
            <a:pPr algn="ctr"/>
            <a:r>
              <a:rPr lang="en-AU" sz="3600" dirty="0"/>
              <a:t>Miss Donlan is organising a class party for 30 students and has a </a:t>
            </a:r>
            <a:r>
              <a:rPr lang="en-AU" sz="3600" b="1" dirty="0"/>
              <a:t>budget of $300</a:t>
            </a:r>
            <a:r>
              <a:rPr lang="en-AU" sz="3600" dirty="0"/>
              <a:t>. </a:t>
            </a:r>
            <a:r>
              <a:rPr lang="en-AU" sz="3600" b="1" dirty="0"/>
              <a:t>Estimate</a:t>
            </a:r>
            <a:r>
              <a:rPr lang="en-AU" sz="3600" dirty="0"/>
              <a:t> what items would fit the budget. </a:t>
            </a:r>
            <a:r>
              <a:rPr lang="en-AU" sz="3600" b="1" dirty="0"/>
              <a:t>Explain your thinking</a:t>
            </a:r>
            <a:r>
              <a:rPr lang="en-AU" sz="3600" dirty="0"/>
              <a:t>.</a:t>
            </a:r>
            <a:endParaRPr lang="en-US" sz="36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8D0A315-9AFB-D549-2ACA-8A9D46BA0AFA}"/>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5" name="Table 4">
            <a:extLst>
              <a:ext uri="{FF2B5EF4-FFF2-40B4-BE49-F238E27FC236}">
                <a16:creationId xmlns:a16="http://schemas.microsoft.com/office/drawing/2014/main" id="{409B5484-AF8A-928B-2820-A6710648A59E}"/>
              </a:ext>
            </a:extLst>
          </p:cNvPr>
          <p:cNvGraphicFramePr>
            <a:graphicFrameLocks noGrp="1"/>
          </p:cNvGraphicFramePr>
          <p:nvPr>
            <p:extLst>
              <p:ext uri="{D42A27DB-BD31-4B8C-83A1-F6EECF244321}">
                <p14:modId xmlns:p14="http://schemas.microsoft.com/office/powerpoint/2010/main" val="59140866"/>
              </p:ext>
            </p:extLst>
          </p:nvPr>
        </p:nvGraphicFramePr>
        <p:xfrm>
          <a:off x="3503359" y="3902120"/>
          <a:ext cx="5058750" cy="2613877"/>
        </p:xfrm>
        <a:graphic>
          <a:graphicData uri="http://schemas.openxmlformats.org/drawingml/2006/table">
            <a:tbl>
              <a:tblPr bandRow="1" bandCol="1">
                <a:tableStyleId>{5A111915-BE36-4E01-A7E5-04B1672EAD32}</a:tableStyleId>
              </a:tblPr>
              <a:tblGrid>
                <a:gridCol w="3552196">
                  <a:extLst>
                    <a:ext uri="{9D8B030D-6E8A-4147-A177-3AD203B41FA5}">
                      <a16:colId xmlns:a16="http://schemas.microsoft.com/office/drawing/2014/main" val="3547242933"/>
                    </a:ext>
                  </a:extLst>
                </a:gridCol>
                <a:gridCol w="1506554">
                  <a:extLst>
                    <a:ext uri="{9D8B030D-6E8A-4147-A177-3AD203B41FA5}">
                      <a16:colId xmlns:a16="http://schemas.microsoft.com/office/drawing/2014/main" val="2128122059"/>
                    </a:ext>
                  </a:extLst>
                </a:gridCol>
              </a:tblGrid>
              <a:tr h="373411">
                <a:tc>
                  <a:txBody>
                    <a:bodyPr/>
                    <a:lstStyle/>
                    <a:p>
                      <a:r>
                        <a:rPr lang="en-AU" b="1"/>
                        <a:t>Item</a:t>
                      </a:r>
                    </a:p>
                  </a:txBody>
                  <a:tcPr/>
                </a:tc>
                <a:tc>
                  <a:txBody>
                    <a:bodyPr/>
                    <a:lstStyle/>
                    <a:p>
                      <a:r>
                        <a:rPr lang="en-AU" b="1"/>
                        <a:t>Cost</a:t>
                      </a:r>
                    </a:p>
                  </a:txBody>
                  <a:tcPr/>
                </a:tc>
                <a:extLst>
                  <a:ext uri="{0D108BD9-81ED-4DB2-BD59-A6C34878D82A}">
                    <a16:rowId xmlns:a16="http://schemas.microsoft.com/office/drawing/2014/main" val="3533753855"/>
                  </a:ext>
                </a:extLst>
              </a:tr>
              <a:tr h="373411">
                <a:tc>
                  <a:txBody>
                    <a:bodyPr/>
                    <a:lstStyle/>
                    <a:p>
                      <a:r>
                        <a:rPr lang="en-AU"/>
                        <a:t>Face painting</a:t>
                      </a:r>
                    </a:p>
                  </a:txBody>
                  <a:tcPr/>
                </a:tc>
                <a:tc>
                  <a:txBody>
                    <a:bodyPr/>
                    <a:lstStyle/>
                    <a:p>
                      <a:r>
                        <a:rPr lang="en-AU"/>
                        <a:t>$149</a:t>
                      </a:r>
                    </a:p>
                  </a:txBody>
                  <a:tcPr/>
                </a:tc>
                <a:extLst>
                  <a:ext uri="{0D108BD9-81ED-4DB2-BD59-A6C34878D82A}">
                    <a16:rowId xmlns:a16="http://schemas.microsoft.com/office/drawing/2014/main" val="197743420"/>
                  </a:ext>
                </a:extLst>
              </a:tr>
              <a:tr h="373411">
                <a:tc>
                  <a:txBody>
                    <a:bodyPr/>
                    <a:lstStyle/>
                    <a:p>
                      <a:r>
                        <a:rPr lang="en-AU"/>
                        <a:t>Outdoor cinema</a:t>
                      </a:r>
                    </a:p>
                  </a:txBody>
                  <a:tcPr/>
                </a:tc>
                <a:tc>
                  <a:txBody>
                    <a:bodyPr/>
                    <a:lstStyle/>
                    <a:p>
                      <a:r>
                        <a:rPr lang="en-AU" dirty="0"/>
                        <a:t>$153.50</a:t>
                      </a:r>
                    </a:p>
                  </a:txBody>
                  <a:tcPr/>
                </a:tc>
                <a:extLst>
                  <a:ext uri="{0D108BD9-81ED-4DB2-BD59-A6C34878D82A}">
                    <a16:rowId xmlns:a16="http://schemas.microsoft.com/office/drawing/2014/main" val="163128429"/>
                  </a:ext>
                </a:extLst>
              </a:tr>
              <a:tr h="373411">
                <a:tc>
                  <a:txBody>
                    <a:bodyPr/>
                    <a:lstStyle/>
                    <a:p>
                      <a:r>
                        <a:rPr lang="en-AU"/>
                        <a:t>Sushi platter (serves 15)</a:t>
                      </a:r>
                    </a:p>
                  </a:txBody>
                  <a:tcPr/>
                </a:tc>
                <a:tc>
                  <a:txBody>
                    <a:bodyPr/>
                    <a:lstStyle/>
                    <a:p>
                      <a:r>
                        <a:rPr lang="en-AU"/>
                        <a:t>$65.80</a:t>
                      </a:r>
                    </a:p>
                  </a:txBody>
                  <a:tcPr/>
                </a:tc>
                <a:extLst>
                  <a:ext uri="{0D108BD9-81ED-4DB2-BD59-A6C34878D82A}">
                    <a16:rowId xmlns:a16="http://schemas.microsoft.com/office/drawing/2014/main" val="2160564483"/>
                  </a:ext>
                </a:extLst>
              </a:tr>
              <a:tr h="373411">
                <a:tc>
                  <a:txBody>
                    <a:bodyPr/>
                    <a:lstStyle/>
                    <a:p>
                      <a:r>
                        <a:rPr lang="en-AU"/>
                        <a:t>Party meat pies (15 pieces)</a:t>
                      </a:r>
                    </a:p>
                  </a:txBody>
                  <a:tcPr/>
                </a:tc>
                <a:tc>
                  <a:txBody>
                    <a:bodyPr/>
                    <a:lstStyle/>
                    <a:p>
                      <a:r>
                        <a:rPr lang="en-AU"/>
                        <a:t>$6.80</a:t>
                      </a:r>
                    </a:p>
                  </a:txBody>
                  <a:tcPr/>
                </a:tc>
                <a:extLst>
                  <a:ext uri="{0D108BD9-81ED-4DB2-BD59-A6C34878D82A}">
                    <a16:rowId xmlns:a16="http://schemas.microsoft.com/office/drawing/2014/main" val="3270556220"/>
                  </a:ext>
                </a:extLst>
              </a:tr>
              <a:tr h="373411">
                <a:tc>
                  <a:txBody>
                    <a:bodyPr/>
                    <a:lstStyle/>
                    <a:p>
                      <a:r>
                        <a:rPr lang="en-AU"/>
                        <a:t>Party sausage rolls (15 pieces)</a:t>
                      </a:r>
                    </a:p>
                  </a:txBody>
                  <a:tcPr/>
                </a:tc>
                <a:tc>
                  <a:txBody>
                    <a:bodyPr/>
                    <a:lstStyle/>
                    <a:p>
                      <a:r>
                        <a:rPr lang="en-AU"/>
                        <a:t>$6.80</a:t>
                      </a:r>
                    </a:p>
                  </a:txBody>
                  <a:tcPr/>
                </a:tc>
                <a:extLst>
                  <a:ext uri="{0D108BD9-81ED-4DB2-BD59-A6C34878D82A}">
                    <a16:rowId xmlns:a16="http://schemas.microsoft.com/office/drawing/2014/main" val="2895232111"/>
                  </a:ext>
                </a:extLst>
              </a:tr>
              <a:tr h="373411">
                <a:tc>
                  <a:txBody>
                    <a:bodyPr/>
                    <a:lstStyle/>
                    <a:p>
                      <a:r>
                        <a:rPr lang="en-AU"/>
                        <a:t>Chicken nuggets (15 pieces)</a:t>
                      </a:r>
                    </a:p>
                  </a:txBody>
                  <a:tcPr/>
                </a:tc>
                <a:tc>
                  <a:txBody>
                    <a:bodyPr/>
                    <a:lstStyle/>
                    <a:p>
                      <a:r>
                        <a:rPr lang="en-AU" dirty="0"/>
                        <a:t>$4.40</a:t>
                      </a:r>
                    </a:p>
                  </a:txBody>
                  <a:tcPr/>
                </a:tc>
                <a:extLst>
                  <a:ext uri="{0D108BD9-81ED-4DB2-BD59-A6C34878D82A}">
                    <a16:rowId xmlns:a16="http://schemas.microsoft.com/office/drawing/2014/main" val="3221333981"/>
                  </a:ext>
                </a:extLst>
              </a:tr>
            </a:tbl>
          </a:graphicData>
        </a:graphic>
      </p:graphicFrame>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a:t>
            </a:r>
            <a:r>
              <a:rPr lang="en-US" dirty="0">
                <a:solidFill>
                  <a:schemeClr val="bg1"/>
                </a:solidFill>
                <a:latin typeface="Arial"/>
                <a:cs typeface="Arial"/>
              </a:rPr>
              <a:t>28</a:t>
            </a:r>
            <a:r>
              <a:rPr lang="en-US">
                <a:solidFill>
                  <a:schemeClr val="bg1"/>
                </a:solidFill>
                <a:latin typeface="Arial"/>
                <a:cs typeface="Arial"/>
              </a:rPr>
              <a:t>)</a:t>
            </a:r>
          </a:p>
        </p:txBody>
      </p:sp>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485214" y="1632079"/>
            <a:ext cx="11221572" cy="2730735"/>
          </a:xfrm>
        </p:spPr>
        <p:txBody>
          <a:bodyPr/>
          <a:lstStyle/>
          <a:p>
            <a:pPr algn="ctr"/>
            <a:r>
              <a:rPr lang="en-US" sz="4400" dirty="0">
                <a:latin typeface="Arial"/>
                <a:cs typeface="Arial"/>
              </a:rPr>
              <a:t>Make list of events that are </a:t>
            </a:r>
            <a:r>
              <a:rPr lang="en-US" sz="4400" b="1" i="1" dirty="0">
                <a:latin typeface="Arial"/>
                <a:cs typeface="Arial"/>
              </a:rPr>
              <a:t>unlikely</a:t>
            </a:r>
            <a:r>
              <a:rPr lang="en-US" sz="4400" dirty="0">
                <a:latin typeface="Arial"/>
                <a:cs typeface="Arial"/>
              </a:rPr>
              <a:t> to happen in class today. </a:t>
            </a:r>
          </a:p>
          <a:p>
            <a:pPr algn="ctr"/>
            <a:endParaRPr lang="en-US" sz="4400" dirty="0">
              <a:latin typeface="Arial"/>
              <a:cs typeface="Arial"/>
            </a:endParaRPr>
          </a:p>
          <a:p>
            <a:pPr algn="ctr"/>
            <a:r>
              <a:rPr lang="en-US" sz="4400" b="1" dirty="0">
                <a:latin typeface="Arial"/>
                <a:cs typeface="Arial"/>
              </a:rPr>
              <a:t>Communicate</a:t>
            </a:r>
            <a:r>
              <a:rPr lang="en-US" sz="4400" dirty="0">
                <a:latin typeface="Arial"/>
                <a:cs typeface="Arial"/>
              </a:rPr>
              <a:t> your </a:t>
            </a:r>
            <a:r>
              <a:rPr lang="en-US" sz="4400" b="1" dirty="0">
                <a:latin typeface="Arial"/>
                <a:cs typeface="Arial"/>
              </a:rPr>
              <a:t>reasoning</a:t>
            </a:r>
            <a:r>
              <a:rPr lang="en-US" sz="4400" dirty="0">
                <a:latin typeface="Arial"/>
                <a:cs typeface="Arial"/>
              </a:rPr>
              <a:t>.</a:t>
            </a:r>
          </a:p>
        </p:txBody>
      </p:sp>
      <p:pic>
        <p:nvPicPr>
          <p:cNvPr id="4" name="Picture 3" descr="image of a clipboard with a pencil recording short answer responses">
            <a:extLst>
              <a:ext uri="{FF2B5EF4-FFF2-40B4-BE49-F238E27FC236}">
                <a16:creationId xmlns:a16="http://schemas.microsoft.com/office/drawing/2014/main" id="{E7E56417-0731-9933-4CBF-B3EE29B95C6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085B48-8E60-8299-3F41-E4CCF3571700}"/>
              </a:ext>
            </a:extLst>
          </p:cNvPr>
          <p:cNvSpPr>
            <a:spLocks noGrp="1"/>
          </p:cNvSpPr>
          <p:nvPr>
            <p:ph type="sldNum" sz="quarter" idx="12"/>
          </p:nvPr>
        </p:nvSpPr>
        <p:spPr/>
        <p:txBody>
          <a:bodyPr anchor="t">
            <a:normAutofit/>
          </a:bodyPr>
          <a:lstStyle/>
          <a:p>
            <a:pPr marL="0" marR="0" lvl="0" indent="0" algn="r" defTabSz="609585" rtl="0" eaLnBrk="1" fontAlgn="auto" latinLnBrk="0" hangingPunct="1">
              <a:lnSpc>
                <a:spcPct val="90000"/>
              </a:lnSpc>
              <a:spcBef>
                <a:spcPts val="0"/>
              </a:spcBef>
              <a:spcAft>
                <a:spcPts val="60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90000"/>
                </a:lnSpc>
                <a:spcBef>
                  <a:spcPts val="0"/>
                </a:spcBef>
                <a:spcAft>
                  <a:spcPts val="600"/>
                </a:spcAft>
                <a:buClrTx/>
                <a:buSzTx/>
                <a:buFontTx/>
                <a:buNone/>
                <a:tabLst/>
                <a:defRPr/>
              </a:pPr>
              <a:t>52</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1" name="Title 2">
            <a:extLst>
              <a:ext uri="{FF2B5EF4-FFF2-40B4-BE49-F238E27FC236}">
                <a16:creationId xmlns:a16="http://schemas.microsoft.com/office/drawing/2014/main" id="{71742C01-3446-D0EB-3852-C7FC3EDA2864}"/>
              </a:ext>
            </a:extLst>
          </p:cNvPr>
          <p:cNvSpPr>
            <a:spLocks noGrp="1"/>
          </p:cNvSpPr>
          <p:nvPr>
            <p:ph type="title"/>
          </p:nvPr>
        </p:nvSpPr>
        <p:spPr/>
        <p:txBody>
          <a:bodyPr/>
          <a:lstStyle/>
          <a:p>
            <a:r>
              <a:rPr lang="en-US">
                <a:latin typeface="Arial"/>
                <a:cs typeface="Arial"/>
              </a:rPr>
              <a:t>Resource 28 </a:t>
            </a:r>
            <a:r>
              <a:rPr lang="en-AU">
                <a:latin typeface="Arial"/>
                <a:cs typeface="Arial"/>
              </a:rPr>
              <a:t>–</a:t>
            </a:r>
            <a:r>
              <a:rPr lang="en-US">
                <a:latin typeface="Arial"/>
                <a:cs typeface="Arial"/>
              </a:rPr>
              <a:t> decimal fraction cards </a:t>
            </a:r>
            <a:endParaRPr lang="en-US"/>
          </a:p>
        </p:txBody>
      </p:sp>
      <p:grpSp>
        <p:nvGrpSpPr>
          <p:cNvPr id="17" name="Group 7" descr="Fraction and decimal cards">
            <a:extLst>
              <a:ext uri="{FF2B5EF4-FFF2-40B4-BE49-F238E27FC236}">
                <a16:creationId xmlns:a16="http://schemas.microsoft.com/office/drawing/2014/main" id="{1D0B29D3-E1DD-9E5F-75A7-2968DC293616}"/>
              </a:ext>
            </a:extLst>
          </p:cNvPr>
          <p:cNvGrpSpPr/>
          <p:nvPr/>
        </p:nvGrpSpPr>
        <p:grpSpPr>
          <a:xfrm>
            <a:off x="2452470" y="1175456"/>
            <a:ext cx="825821" cy="880852"/>
            <a:chOff x="0" y="-61699"/>
            <a:chExt cx="1101095" cy="1174470"/>
          </a:xfrm>
        </p:grpSpPr>
        <p:grpSp>
          <p:nvGrpSpPr>
            <p:cNvPr id="8" name="Group 8">
              <a:extLst>
                <a:ext uri="{FF2B5EF4-FFF2-40B4-BE49-F238E27FC236}">
                  <a16:creationId xmlns:a16="http://schemas.microsoft.com/office/drawing/2014/main" id="{45A14DB2-BCC9-FBD3-5740-765D7634AFFB}"/>
                </a:ext>
              </a:extLst>
            </p:cNvPr>
            <p:cNvGrpSpPr/>
            <p:nvPr/>
          </p:nvGrpSpPr>
          <p:grpSpPr>
            <a:xfrm>
              <a:off x="0" y="-61699"/>
              <a:ext cx="1101095" cy="1174470"/>
              <a:chOff x="0" y="-28575"/>
              <a:chExt cx="509959" cy="543942"/>
            </a:xfrm>
          </p:grpSpPr>
          <p:sp>
            <p:nvSpPr>
              <p:cNvPr id="14" name="Freeform 9">
                <a:extLst>
                  <a:ext uri="{FF2B5EF4-FFF2-40B4-BE49-F238E27FC236}">
                    <a16:creationId xmlns:a16="http://schemas.microsoft.com/office/drawing/2014/main" id="{3BA18BA1-32BD-BCFB-46C1-951F55CFE930}"/>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6" name="TextBox 10">
                <a:extLst>
                  <a:ext uri="{FF2B5EF4-FFF2-40B4-BE49-F238E27FC236}">
                    <a16:creationId xmlns:a16="http://schemas.microsoft.com/office/drawing/2014/main" id="{8A298C2F-3A8A-2D1F-8ED6-0728B7D63938}"/>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9" name="TextBox 11">
              <a:extLst>
                <a:ext uri="{FF2B5EF4-FFF2-40B4-BE49-F238E27FC236}">
                  <a16:creationId xmlns:a16="http://schemas.microsoft.com/office/drawing/2014/main" id="{1713CF47-8C32-AB34-9E1A-2AB83300D26C}"/>
                </a:ext>
              </a:extLst>
            </p:cNvPr>
            <p:cNvSpPr txBox="1"/>
            <p:nvPr/>
          </p:nvSpPr>
          <p:spPr>
            <a:xfrm>
              <a:off x="467564" y="85607"/>
              <a:ext cx="120000" cy="394038"/>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1</a:t>
              </a:r>
            </a:p>
          </p:txBody>
        </p:sp>
        <p:sp>
          <p:nvSpPr>
            <p:cNvPr id="10" name="TextBox 12">
              <a:extLst>
                <a:ext uri="{FF2B5EF4-FFF2-40B4-BE49-F238E27FC236}">
                  <a16:creationId xmlns:a16="http://schemas.microsoft.com/office/drawing/2014/main" id="{E55F16B5-8FEC-C1F7-0116-E12EA1F192DF}"/>
                </a:ext>
              </a:extLst>
            </p:cNvPr>
            <p:cNvSpPr txBox="1"/>
            <p:nvPr/>
          </p:nvSpPr>
          <p:spPr>
            <a:xfrm>
              <a:off x="385220" y="533771"/>
              <a:ext cx="300404" cy="394038"/>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4</a:t>
              </a:r>
            </a:p>
          </p:txBody>
        </p:sp>
        <p:sp>
          <p:nvSpPr>
            <p:cNvPr id="12" name="AutoShape 13">
              <a:extLst>
                <a:ext uri="{FF2B5EF4-FFF2-40B4-BE49-F238E27FC236}">
                  <a16:creationId xmlns:a16="http://schemas.microsoft.com/office/drawing/2014/main" id="{9CA2E36F-57D8-78C9-ADB2-E5EAFB0BD3FF}"/>
                </a:ext>
              </a:extLst>
            </p:cNvPr>
            <p:cNvSpPr/>
            <p:nvPr/>
          </p:nvSpPr>
          <p:spPr>
            <a:xfrm>
              <a:off x="293782" y="529803"/>
              <a:ext cx="580618" cy="0"/>
            </a:xfrm>
            <a:prstGeom prst="line">
              <a:avLst/>
            </a:prstGeom>
            <a:ln w="29482"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25" name="Group 14" descr="Fraction and decimal cards">
            <a:extLst>
              <a:ext uri="{FF2B5EF4-FFF2-40B4-BE49-F238E27FC236}">
                <a16:creationId xmlns:a16="http://schemas.microsoft.com/office/drawing/2014/main" id="{D4944B58-88EA-1E1E-8267-EDE279E28AAD}"/>
              </a:ext>
            </a:extLst>
          </p:cNvPr>
          <p:cNvGrpSpPr/>
          <p:nvPr/>
        </p:nvGrpSpPr>
        <p:grpSpPr>
          <a:xfrm>
            <a:off x="3432349" y="1106146"/>
            <a:ext cx="825821" cy="880852"/>
            <a:chOff x="0" y="-61699"/>
            <a:chExt cx="1101095" cy="1174470"/>
          </a:xfrm>
        </p:grpSpPr>
        <p:grpSp>
          <p:nvGrpSpPr>
            <p:cNvPr id="19" name="Group 15">
              <a:extLst>
                <a:ext uri="{FF2B5EF4-FFF2-40B4-BE49-F238E27FC236}">
                  <a16:creationId xmlns:a16="http://schemas.microsoft.com/office/drawing/2014/main" id="{DE47A593-3C0E-73C9-A6F3-D6F3F7D68E5A}"/>
                </a:ext>
              </a:extLst>
            </p:cNvPr>
            <p:cNvGrpSpPr/>
            <p:nvPr/>
          </p:nvGrpSpPr>
          <p:grpSpPr>
            <a:xfrm>
              <a:off x="0" y="-61699"/>
              <a:ext cx="1101095" cy="1174470"/>
              <a:chOff x="0" y="-28575"/>
              <a:chExt cx="509959" cy="543942"/>
            </a:xfrm>
          </p:grpSpPr>
          <p:sp>
            <p:nvSpPr>
              <p:cNvPr id="23" name="Freeform 16">
                <a:extLst>
                  <a:ext uri="{FF2B5EF4-FFF2-40B4-BE49-F238E27FC236}">
                    <a16:creationId xmlns:a16="http://schemas.microsoft.com/office/drawing/2014/main" id="{A77CAC3C-41C3-F182-73F7-A4A871BF13DD}"/>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4" name="TextBox 17">
                <a:extLst>
                  <a:ext uri="{FF2B5EF4-FFF2-40B4-BE49-F238E27FC236}">
                    <a16:creationId xmlns:a16="http://schemas.microsoft.com/office/drawing/2014/main" id="{8A54A027-78C2-E407-55BF-687179BAE638}"/>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20" name="TextBox 18">
              <a:extLst>
                <a:ext uri="{FF2B5EF4-FFF2-40B4-BE49-F238E27FC236}">
                  <a16:creationId xmlns:a16="http://schemas.microsoft.com/office/drawing/2014/main" id="{0A86B908-F99B-4C2E-4ACB-555E4B334813}"/>
                </a:ext>
              </a:extLst>
            </p:cNvPr>
            <p:cNvSpPr txBox="1"/>
            <p:nvPr/>
          </p:nvSpPr>
          <p:spPr>
            <a:xfrm>
              <a:off x="434020" y="112249"/>
              <a:ext cx="120000" cy="376172"/>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2</a:t>
              </a:r>
            </a:p>
          </p:txBody>
        </p:sp>
        <p:sp>
          <p:nvSpPr>
            <p:cNvPr id="21" name="TextBox 19">
              <a:extLst>
                <a:ext uri="{FF2B5EF4-FFF2-40B4-BE49-F238E27FC236}">
                  <a16:creationId xmlns:a16="http://schemas.microsoft.com/office/drawing/2014/main" id="{B87F8F38-85C4-C159-01A0-4C12DEC48128}"/>
                </a:ext>
              </a:extLst>
            </p:cNvPr>
            <p:cNvSpPr txBox="1"/>
            <p:nvPr/>
          </p:nvSpPr>
          <p:spPr>
            <a:xfrm>
              <a:off x="351676" y="560414"/>
              <a:ext cx="300404" cy="376172"/>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4</a:t>
              </a:r>
            </a:p>
          </p:txBody>
        </p:sp>
        <p:sp>
          <p:nvSpPr>
            <p:cNvPr id="22" name="AutoShape 20">
              <a:extLst>
                <a:ext uri="{FF2B5EF4-FFF2-40B4-BE49-F238E27FC236}">
                  <a16:creationId xmlns:a16="http://schemas.microsoft.com/office/drawing/2014/main" id="{4B3AB485-AD29-B649-DCB7-F60003A968E7}"/>
                </a:ext>
              </a:extLst>
            </p:cNvPr>
            <p:cNvSpPr/>
            <p:nvPr/>
          </p:nvSpPr>
          <p:spPr>
            <a:xfrm>
              <a:off x="260238" y="556445"/>
              <a:ext cx="580618" cy="0"/>
            </a:xfrm>
            <a:prstGeom prst="line">
              <a:avLst/>
            </a:prstGeom>
            <a:ln w="29482"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42" name="Group 21" descr="Fraction and decimal cards">
            <a:extLst>
              <a:ext uri="{FF2B5EF4-FFF2-40B4-BE49-F238E27FC236}">
                <a16:creationId xmlns:a16="http://schemas.microsoft.com/office/drawing/2014/main" id="{398F2AEA-FD36-BF2A-5626-72AF4AE78B5B}"/>
              </a:ext>
            </a:extLst>
          </p:cNvPr>
          <p:cNvGrpSpPr/>
          <p:nvPr/>
        </p:nvGrpSpPr>
        <p:grpSpPr>
          <a:xfrm>
            <a:off x="1820022" y="2405294"/>
            <a:ext cx="825821" cy="880852"/>
            <a:chOff x="0" y="-61699"/>
            <a:chExt cx="1101095" cy="1174470"/>
          </a:xfrm>
        </p:grpSpPr>
        <p:grpSp>
          <p:nvGrpSpPr>
            <p:cNvPr id="27" name="Group 22">
              <a:extLst>
                <a:ext uri="{FF2B5EF4-FFF2-40B4-BE49-F238E27FC236}">
                  <a16:creationId xmlns:a16="http://schemas.microsoft.com/office/drawing/2014/main" id="{74A1AAF1-E7FA-BD36-2B9D-7A3D70517050}"/>
                </a:ext>
              </a:extLst>
            </p:cNvPr>
            <p:cNvGrpSpPr/>
            <p:nvPr/>
          </p:nvGrpSpPr>
          <p:grpSpPr>
            <a:xfrm>
              <a:off x="0" y="-61699"/>
              <a:ext cx="1101095" cy="1174470"/>
              <a:chOff x="0" y="-28575"/>
              <a:chExt cx="509959" cy="543942"/>
            </a:xfrm>
          </p:grpSpPr>
          <p:sp>
            <p:nvSpPr>
              <p:cNvPr id="40" name="Freeform 23">
                <a:extLst>
                  <a:ext uri="{FF2B5EF4-FFF2-40B4-BE49-F238E27FC236}">
                    <a16:creationId xmlns:a16="http://schemas.microsoft.com/office/drawing/2014/main" id="{F8D90D36-3C29-46B4-F0F1-BC84BEF0CE77}"/>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41" name="TextBox 24">
                <a:extLst>
                  <a:ext uri="{FF2B5EF4-FFF2-40B4-BE49-F238E27FC236}">
                    <a16:creationId xmlns:a16="http://schemas.microsoft.com/office/drawing/2014/main" id="{EAFE0657-4E8A-15CD-3341-D390A92E5AA7}"/>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28" name="Group 25">
              <a:extLst>
                <a:ext uri="{FF2B5EF4-FFF2-40B4-BE49-F238E27FC236}">
                  <a16:creationId xmlns:a16="http://schemas.microsoft.com/office/drawing/2014/main" id="{0F0FA45A-531E-9060-43AE-580233814B61}"/>
                </a:ext>
              </a:extLst>
            </p:cNvPr>
            <p:cNvGrpSpPr/>
            <p:nvPr/>
          </p:nvGrpSpPr>
          <p:grpSpPr>
            <a:xfrm>
              <a:off x="434857" y="715449"/>
              <a:ext cx="283735" cy="333756"/>
              <a:chOff x="0" y="-28575"/>
              <a:chExt cx="131408" cy="154576"/>
            </a:xfrm>
          </p:grpSpPr>
          <p:sp>
            <p:nvSpPr>
              <p:cNvPr id="38" name="Freeform 26">
                <a:extLst>
                  <a:ext uri="{FF2B5EF4-FFF2-40B4-BE49-F238E27FC236}">
                    <a16:creationId xmlns:a16="http://schemas.microsoft.com/office/drawing/2014/main" id="{9A379333-C099-9244-F172-13464E045E20}"/>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9" name="TextBox 27">
                <a:extLst>
                  <a:ext uri="{FF2B5EF4-FFF2-40B4-BE49-F238E27FC236}">
                    <a16:creationId xmlns:a16="http://schemas.microsoft.com/office/drawing/2014/main" id="{AD261DAC-836C-7935-3BFD-4A94FCB9524A}"/>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29" name="Group 28">
              <a:extLst>
                <a:ext uri="{FF2B5EF4-FFF2-40B4-BE49-F238E27FC236}">
                  <a16:creationId xmlns:a16="http://schemas.microsoft.com/office/drawing/2014/main" id="{BF921DB5-225D-C485-822B-87CD42A9B38C}"/>
                </a:ext>
              </a:extLst>
            </p:cNvPr>
            <p:cNvGrpSpPr/>
            <p:nvPr/>
          </p:nvGrpSpPr>
          <p:grpSpPr>
            <a:xfrm>
              <a:off x="434857" y="1986"/>
              <a:ext cx="283735" cy="333756"/>
              <a:chOff x="0" y="-28575"/>
              <a:chExt cx="131408" cy="154576"/>
            </a:xfrm>
          </p:grpSpPr>
          <p:sp>
            <p:nvSpPr>
              <p:cNvPr id="36" name="Freeform 29">
                <a:extLst>
                  <a:ext uri="{FF2B5EF4-FFF2-40B4-BE49-F238E27FC236}">
                    <a16:creationId xmlns:a16="http://schemas.microsoft.com/office/drawing/2014/main" id="{61B9908C-16DE-35DA-A1CD-D78F9F59738C}"/>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7" name="TextBox 30">
                <a:extLst>
                  <a:ext uri="{FF2B5EF4-FFF2-40B4-BE49-F238E27FC236}">
                    <a16:creationId xmlns:a16="http://schemas.microsoft.com/office/drawing/2014/main" id="{232CEF62-89AF-15DF-2D59-ED1E427F446E}"/>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30" name="Group 31">
              <a:extLst>
                <a:ext uri="{FF2B5EF4-FFF2-40B4-BE49-F238E27FC236}">
                  <a16:creationId xmlns:a16="http://schemas.microsoft.com/office/drawing/2014/main" id="{9153691F-A32A-68C5-A8B6-A70750FA280A}"/>
                </a:ext>
              </a:extLst>
            </p:cNvPr>
            <p:cNvGrpSpPr/>
            <p:nvPr/>
          </p:nvGrpSpPr>
          <p:grpSpPr>
            <a:xfrm>
              <a:off x="434857" y="248973"/>
              <a:ext cx="283735" cy="333756"/>
              <a:chOff x="0" y="-28575"/>
              <a:chExt cx="131408" cy="154576"/>
            </a:xfrm>
          </p:grpSpPr>
          <p:sp>
            <p:nvSpPr>
              <p:cNvPr id="34" name="Freeform 32">
                <a:extLst>
                  <a:ext uri="{FF2B5EF4-FFF2-40B4-BE49-F238E27FC236}">
                    <a16:creationId xmlns:a16="http://schemas.microsoft.com/office/drawing/2014/main" id="{44DA40CE-EED2-90A7-D5FE-2D8A88C21E03}"/>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5" name="TextBox 34">
                <a:extLst>
                  <a:ext uri="{FF2B5EF4-FFF2-40B4-BE49-F238E27FC236}">
                    <a16:creationId xmlns:a16="http://schemas.microsoft.com/office/drawing/2014/main" id="{BFF09CF9-9D9B-DE4E-8980-7E364767BE63}"/>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31" name="Group 34">
              <a:extLst>
                <a:ext uri="{FF2B5EF4-FFF2-40B4-BE49-F238E27FC236}">
                  <a16:creationId xmlns:a16="http://schemas.microsoft.com/office/drawing/2014/main" id="{DF750C23-C250-E77F-4A9A-5319C1835180}"/>
                </a:ext>
              </a:extLst>
            </p:cNvPr>
            <p:cNvGrpSpPr/>
            <p:nvPr/>
          </p:nvGrpSpPr>
          <p:grpSpPr>
            <a:xfrm>
              <a:off x="434857" y="488931"/>
              <a:ext cx="283735" cy="333756"/>
              <a:chOff x="0" y="-28575"/>
              <a:chExt cx="131408" cy="154576"/>
            </a:xfrm>
          </p:grpSpPr>
          <p:sp>
            <p:nvSpPr>
              <p:cNvPr id="32" name="Freeform 35">
                <a:extLst>
                  <a:ext uri="{FF2B5EF4-FFF2-40B4-BE49-F238E27FC236}">
                    <a16:creationId xmlns:a16="http://schemas.microsoft.com/office/drawing/2014/main" id="{C5C95EAA-133D-DB52-D306-209C6AF4AB9A}"/>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3" name="TextBox 36">
                <a:extLst>
                  <a:ext uri="{FF2B5EF4-FFF2-40B4-BE49-F238E27FC236}">
                    <a16:creationId xmlns:a16="http://schemas.microsoft.com/office/drawing/2014/main" id="{39874726-F413-7620-0A4C-2325F2124A5F}"/>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grpSp>
        <p:nvGrpSpPr>
          <p:cNvPr id="50" name="Group 47" descr="Fraction and decimal cards">
            <a:extLst>
              <a:ext uri="{FF2B5EF4-FFF2-40B4-BE49-F238E27FC236}">
                <a16:creationId xmlns:a16="http://schemas.microsoft.com/office/drawing/2014/main" id="{03E1C0D1-CC20-56C4-2AC9-5029E9D97A9F}"/>
              </a:ext>
            </a:extLst>
          </p:cNvPr>
          <p:cNvGrpSpPr/>
          <p:nvPr/>
        </p:nvGrpSpPr>
        <p:grpSpPr>
          <a:xfrm>
            <a:off x="4884707" y="1276557"/>
            <a:ext cx="825821" cy="880852"/>
            <a:chOff x="0" y="-61699"/>
            <a:chExt cx="1101095" cy="1174470"/>
          </a:xfrm>
        </p:grpSpPr>
        <p:grpSp>
          <p:nvGrpSpPr>
            <p:cNvPr id="44" name="Group 48">
              <a:extLst>
                <a:ext uri="{FF2B5EF4-FFF2-40B4-BE49-F238E27FC236}">
                  <a16:creationId xmlns:a16="http://schemas.microsoft.com/office/drawing/2014/main" id="{44214C1F-C568-9BA0-871F-2F24844FBC70}"/>
                </a:ext>
              </a:extLst>
            </p:cNvPr>
            <p:cNvGrpSpPr/>
            <p:nvPr/>
          </p:nvGrpSpPr>
          <p:grpSpPr>
            <a:xfrm>
              <a:off x="0" y="-61699"/>
              <a:ext cx="1101095" cy="1174470"/>
              <a:chOff x="0" y="-28575"/>
              <a:chExt cx="509959" cy="543942"/>
            </a:xfrm>
          </p:grpSpPr>
          <p:sp>
            <p:nvSpPr>
              <p:cNvPr id="48" name="Freeform 49">
                <a:extLst>
                  <a:ext uri="{FF2B5EF4-FFF2-40B4-BE49-F238E27FC236}">
                    <a16:creationId xmlns:a16="http://schemas.microsoft.com/office/drawing/2014/main" id="{51679E56-42EC-5908-90CC-5C7076802186}"/>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49" name="TextBox 50">
                <a:extLst>
                  <a:ext uri="{FF2B5EF4-FFF2-40B4-BE49-F238E27FC236}">
                    <a16:creationId xmlns:a16="http://schemas.microsoft.com/office/drawing/2014/main" id="{2782B8F2-FA71-3DFB-7982-4282673028EE}"/>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45" name="TextBox 51">
              <a:extLst>
                <a:ext uri="{FF2B5EF4-FFF2-40B4-BE49-F238E27FC236}">
                  <a16:creationId xmlns:a16="http://schemas.microsoft.com/office/drawing/2014/main" id="{F74E0A8D-74C2-C811-21E8-37F293C8E666}"/>
                </a:ext>
              </a:extLst>
            </p:cNvPr>
            <p:cNvSpPr txBox="1"/>
            <p:nvPr/>
          </p:nvSpPr>
          <p:spPr>
            <a:xfrm>
              <a:off x="474038" y="140954"/>
              <a:ext cx="120000" cy="394038"/>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3</a:t>
              </a:r>
            </a:p>
          </p:txBody>
        </p:sp>
        <p:sp>
          <p:nvSpPr>
            <p:cNvPr id="46" name="TextBox 52">
              <a:extLst>
                <a:ext uri="{FF2B5EF4-FFF2-40B4-BE49-F238E27FC236}">
                  <a16:creationId xmlns:a16="http://schemas.microsoft.com/office/drawing/2014/main" id="{9EB0C5A7-FF2C-2710-B26A-031C89E3D5D0}"/>
                </a:ext>
              </a:extLst>
            </p:cNvPr>
            <p:cNvSpPr txBox="1"/>
            <p:nvPr/>
          </p:nvSpPr>
          <p:spPr>
            <a:xfrm>
              <a:off x="391694" y="589118"/>
              <a:ext cx="300404" cy="394038"/>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4</a:t>
              </a:r>
            </a:p>
          </p:txBody>
        </p:sp>
        <p:sp>
          <p:nvSpPr>
            <p:cNvPr id="47" name="AutoShape 53">
              <a:extLst>
                <a:ext uri="{FF2B5EF4-FFF2-40B4-BE49-F238E27FC236}">
                  <a16:creationId xmlns:a16="http://schemas.microsoft.com/office/drawing/2014/main" id="{B30A5F99-965F-57E9-E1BC-B125D6732E45}"/>
                </a:ext>
              </a:extLst>
            </p:cNvPr>
            <p:cNvSpPr/>
            <p:nvPr/>
          </p:nvSpPr>
          <p:spPr>
            <a:xfrm>
              <a:off x="300256" y="585150"/>
              <a:ext cx="580618" cy="0"/>
            </a:xfrm>
            <a:prstGeom prst="line">
              <a:avLst/>
            </a:prstGeom>
            <a:ln w="29482"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56" name="Group 37" descr="Fraction and decimal cards">
            <a:extLst>
              <a:ext uri="{FF2B5EF4-FFF2-40B4-BE49-F238E27FC236}">
                <a16:creationId xmlns:a16="http://schemas.microsoft.com/office/drawing/2014/main" id="{A3E517C2-F260-D275-DBEE-23B7A152B027}"/>
              </a:ext>
            </a:extLst>
          </p:cNvPr>
          <p:cNvGrpSpPr/>
          <p:nvPr/>
        </p:nvGrpSpPr>
        <p:grpSpPr>
          <a:xfrm>
            <a:off x="357946" y="1317377"/>
            <a:ext cx="825821" cy="880852"/>
            <a:chOff x="0" y="-61699"/>
            <a:chExt cx="1101095" cy="1174470"/>
          </a:xfrm>
        </p:grpSpPr>
        <p:grpSp>
          <p:nvGrpSpPr>
            <p:cNvPr id="52" name="Group 38">
              <a:extLst>
                <a:ext uri="{FF2B5EF4-FFF2-40B4-BE49-F238E27FC236}">
                  <a16:creationId xmlns:a16="http://schemas.microsoft.com/office/drawing/2014/main" id="{FD839567-2E52-1336-C664-90F33B7E13AE}"/>
                </a:ext>
              </a:extLst>
            </p:cNvPr>
            <p:cNvGrpSpPr/>
            <p:nvPr/>
          </p:nvGrpSpPr>
          <p:grpSpPr>
            <a:xfrm>
              <a:off x="0" y="-61699"/>
              <a:ext cx="1101095" cy="1174470"/>
              <a:chOff x="0" y="-28575"/>
              <a:chExt cx="509959" cy="543942"/>
            </a:xfrm>
          </p:grpSpPr>
          <p:sp>
            <p:nvSpPr>
              <p:cNvPr id="54" name="Freeform 39">
                <a:extLst>
                  <a:ext uri="{FF2B5EF4-FFF2-40B4-BE49-F238E27FC236}">
                    <a16:creationId xmlns:a16="http://schemas.microsoft.com/office/drawing/2014/main" id="{4F1A3DFB-28C7-04F3-92CA-E1549050936E}"/>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55" name="TextBox 40">
                <a:extLst>
                  <a:ext uri="{FF2B5EF4-FFF2-40B4-BE49-F238E27FC236}">
                    <a16:creationId xmlns:a16="http://schemas.microsoft.com/office/drawing/2014/main" id="{C7CFB133-35F2-AF7B-A618-C0AF0264EDD0}"/>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60"/>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53" name="TextBox 41">
              <a:extLst>
                <a:ext uri="{FF2B5EF4-FFF2-40B4-BE49-F238E27FC236}">
                  <a16:creationId xmlns:a16="http://schemas.microsoft.com/office/drawing/2014/main" id="{5865A129-EB1F-DED8-9C98-2D37525C86E8}"/>
                </a:ext>
              </a:extLst>
            </p:cNvPr>
            <p:cNvSpPr txBox="1"/>
            <p:nvPr/>
          </p:nvSpPr>
          <p:spPr>
            <a:xfrm>
              <a:off x="213469" y="342925"/>
              <a:ext cx="692283" cy="376172"/>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1.0</a:t>
              </a:r>
            </a:p>
          </p:txBody>
        </p:sp>
      </p:grpSp>
      <p:grpSp>
        <p:nvGrpSpPr>
          <p:cNvPr id="64" name="Group 14" descr="Fraction and decimal cards">
            <a:extLst>
              <a:ext uri="{FF2B5EF4-FFF2-40B4-BE49-F238E27FC236}">
                <a16:creationId xmlns:a16="http://schemas.microsoft.com/office/drawing/2014/main" id="{528D03A2-E2E0-4A4D-6CEE-AB9E9F161809}"/>
              </a:ext>
            </a:extLst>
          </p:cNvPr>
          <p:cNvGrpSpPr/>
          <p:nvPr/>
        </p:nvGrpSpPr>
        <p:grpSpPr>
          <a:xfrm>
            <a:off x="6022251" y="1193544"/>
            <a:ext cx="825821" cy="880852"/>
            <a:chOff x="0" y="-61699"/>
            <a:chExt cx="1101095" cy="1174470"/>
          </a:xfrm>
        </p:grpSpPr>
        <p:grpSp>
          <p:nvGrpSpPr>
            <p:cNvPr id="58" name="Group 15">
              <a:extLst>
                <a:ext uri="{FF2B5EF4-FFF2-40B4-BE49-F238E27FC236}">
                  <a16:creationId xmlns:a16="http://schemas.microsoft.com/office/drawing/2014/main" id="{314CA3CF-4258-019A-75CE-CDFC3F012F8E}"/>
                </a:ext>
              </a:extLst>
            </p:cNvPr>
            <p:cNvGrpSpPr/>
            <p:nvPr/>
          </p:nvGrpSpPr>
          <p:grpSpPr>
            <a:xfrm>
              <a:off x="0" y="-61699"/>
              <a:ext cx="1101095" cy="1174470"/>
              <a:chOff x="0" y="-28575"/>
              <a:chExt cx="509959" cy="543942"/>
            </a:xfrm>
          </p:grpSpPr>
          <p:sp>
            <p:nvSpPr>
              <p:cNvPr id="62" name="Freeform 16">
                <a:extLst>
                  <a:ext uri="{FF2B5EF4-FFF2-40B4-BE49-F238E27FC236}">
                    <a16:creationId xmlns:a16="http://schemas.microsoft.com/office/drawing/2014/main" id="{3087A5BE-F42F-6554-9676-5454D89D2303}"/>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3" name="TextBox 17">
                <a:extLst>
                  <a:ext uri="{FF2B5EF4-FFF2-40B4-BE49-F238E27FC236}">
                    <a16:creationId xmlns:a16="http://schemas.microsoft.com/office/drawing/2014/main" id="{2EE0E755-42F0-C753-E9CF-9470F69FCF2D}"/>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59" name="TextBox 18">
              <a:extLst>
                <a:ext uri="{FF2B5EF4-FFF2-40B4-BE49-F238E27FC236}">
                  <a16:creationId xmlns:a16="http://schemas.microsoft.com/office/drawing/2014/main" id="{78E799EA-21B0-3306-CC16-813A4280EE97}"/>
                </a:ext>
              </a:extLst>
            </p:cNvPr>
            <p:cNvSpPr txBox="1"/>
            <p:nvPr/>
          </p:nvSpPr>
          <p:spPr>
            <a:xfrm>
              <a:off x="434020" y="112249"/>
              <a:ext cx="120000" cy="376172"/>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5</a:t>
              </a:r>
            </a:p>
          </p:txBody>
        </p:sp>
        <p:sp>
          <p:nvSpPr>
            <p:cNvPr id="60" name="TextBox 19">
              <a:extLst>
                <a:ext uri="{FF2B5EF4-FFF2-40B4-BE49-F238E27FC236}">
                  <a16:creationId xmlns:a16="http://schemas.microsoft.com/office/drawing/2014/main" id="{7FAC83CD-91A6-4A11-E96B-43033C18ACB2}"/>
                </a:ext>
              </a:extLst>
            </p:cNvPr>
            <p:cNvSpPr txBox="1"/>
            <p:nvPr/>
          </p:nvSpPr>
          <p:spPr>
            <a:xfrm>
              <a:off x="351676" y="560414"/>
              <a:ext cx="300404" cy="370615"/>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Public Sans"/>
                  <a:ea typeface="Public Sans"/>
                  <a:cs typeface="Public Sans"/>
                  <a:sym typeface="Public Sans"/>
                </a:rPr>
                <a:t>10</a:t>
              </a:r>
            </a:p>
          </p:txBody>
        </p:sp>
        <p:sp>
          <p:nvSpPr>
            <p:cNvPr id="61" name="AutoShape 20">
              <a:extLst>
                <a:ext uri="{FF2B5EF4-FFF2-40B4-BE49-F238E27FC236}">
                  <a16:creationId xmlns:a16="http://schemas.microsoft.com/office/drawing/2014/main" id="{FA1385F4-29B9-1E88-2670-DAF57BFB06E2}"/>
                </a:ext>
              </a:extLst>
            </p:cNvPr>
            <p:cNvSpPr/>
            <p:nvPr/>
          </p:nvSpPr>
          <p:spPr>
            <a:xfrm>
              <a:off x="260238" y="556445"/>
              <a:ext cx="580618" cy="0"/>
            </a:xfrm>
            <a:prstGeom prst="line">
              <a:avLst/>
            </a:prstGeom>
            <a:ln w="29482"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81" name="Group 21" descr="Fraction and decimal cards">
            <a:extLst>
              <a:ext uri="{FF2B5EF4-FFF2-40B4-BE49-F238E27FC236}">
                <a16:creationId xmlns:a16="http://schemas.microsoft.com/office/drawing/2014/main" id="{75A6D158-9867-54B2-E5FC-B8B0843259C8}"/>
              </a:ext>
            </a:extLst>
          </p:cNvPr>
          <p:cNvGrpSpPr/>
          <p:nvPr/>
        </p:nvGrpSpPr>
        <p:grpSpPr>
          <a:xfrm>
            <a:off x="3131096" y="2407206"/>
            <a:ext cx="825821" cy="880852"/>
            <a:chOff x="0" y="-61699"/>
            <a:chExt cx="1101095" cy="1174470"/>
          </a:xfrm>
        </p:grpSpPr>
        <p:grpSp>
          <p:nvGrpSpPr>
            <p:cNvPr id="66" name="Group 22">
              <a:extLst>
                <a:ext uri="{FF2B5EF4-FFF2-40B4-BE49-F238E27FC236}">
                  <a16:creationId xmlns:a16="http://schemas.microsoft.com/office/drawing/2014/main" id="{039B7527-A734-3519-F000-FE1E2130DD15}"/>
                </a:ext>
              </a:extLst>
            </p:cNvPr>
            <p:cNvGrpSpPr/>
            <p:nvPr/>
          </p:nvGrpSpPr>
          <p:grpSpPr>
            <a:xfrm>
              <a:off x="0" y="-61699"/>
              <a:ext cx="1101095" cy="1174470"/>
              <a:chOff x="0" y="-28575"/>
              <a:chExt cx="509959" cy="543942"/>
            </a:xfrm>
          </p:grpSpPr>
          <p:sp>
            <p:nvSpPr>
              <p:cNvPr id="79" name="Freeform 23">
                <a:extLst>
                  <a:ext uri="{FF2B5EF4-FFF2-40B4-BE49-F238E27FC236}">
                    <a16:creationId xmlns:a16="http://schemas.microsoft.com/office/drawing/2014/main" id="{88E93E9A-B095-94DB-1CA2-B6222A32E901}"/>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80" name="TextBox 24">
                <a:extLst>
                  <a:ext uri="{FF2B5EF4-FFF2-40B4-BE49-F238E27FC236}">
                    <a16:creationId xmlns:a16="http://schemas.microsoft.com/office/drawing/2014/main" id="{313C1F07-78EE-BCFE-C83D-DF49AB256A8A}"/>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67" name="Group 25">
              <a:extLst>
                <a:ext uri="{FF2B5EF4-FFF2-40B4-BE49-F238E27FC236}">
                  <a16:creationId xmlns:a16="http://schemas.microsoft.com/office/drawing/2014/main" id="{5FB26540-A775-B4DA-8576-7FE7DB379C28}"/>
                </a:ext>
              </a:extLst>
            </p:cNvPr>
            <p:cNvGrpSpPr/>
            <p:nvPr/>
          </p:nvGrpSpPr>
          <p:grpSpPr>
            <a:xfrm>
              <a:off x="434857" y="715449"/>
              <a:ext cx="283735" cy="333756"/>
              <a:chOff x="0" y="-28575"/>
              <a:chExt cx="131408" cy="154576"/>
            </a:xfrm>
          </p:grpSpPr>
          <p:sp>
            <p:nvSpPr>
              <p:cNvPr id="77" name="Freeform 26">
                <a:extLst>
                  <a:ext uri="{FF2B5EF4-FFF2-40B4-BE49-F238E27FC236}">
                    <a16:creationId xmlns:a16="http://schemas.microsoft.com/office/drawing/2014/main" id="{E6F369AD-1854-3BD9-A778-D5DA301FB6F6}"/>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8" name="TextBox 27">
                <a:extLst>
                  <a:ext uri="{FF2B5EF4-FFF2-40B4-BE49-F238E27FC236}">
                    <a16:creationId xmlns:a16="http://schemas.microsoft.com/office/drawing/2014/main" id="{81B4095D-0132-DA8B-73BB-0C87E49B9A55}"/>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68" name="Group 28">
              <a:extLst>
                <a:ext uri="{FF2B5EF4-FFF2-40B4-BE49-F238E27FC236}">
                  <a16:creationId xmlns:a16="http://schemas.microsoft.com/office/drawing/2014/main" id="{1CD95636-CF60-7E8D-0B15-2C625A85B974}"/>
                </a:ext>
              </a:extLst>
            </p:cNvPr>
            <p:cNvGrpSpPr/>
            <p:nvPr/>
          </p:nvGrpSpPr>
          <p:grpSpPr>
            <a:xfrm>
              <a:off x="434857" y="1986"/>
              <a:ext cx="283735" cy="333756"/>
              <a:chOff x="0" y="-28575"/>
              <a:chExt cx="131408" cy="154576"/>
            </a:xfrm>
          </p:grpSpPr>
          <p:sp>
            <p:nvSpPr>
              <p:cNvPr id="75" name="Freeform 29">
                <a:extLst>
                  <a:ext uri="{FF2B5EF4-FFF2-40B4-BE49-F238E27FC236}">
                    <a16:creationId xmlns:a16="http://schemas.microsoft.com/office/drawing/2014/main" id="{BB5ACE5F-9878-0792-6ED7-CC365457491E}"/>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6" name="TextBox 30">
                <a:extLst>
                  <a:ext uri="{FF2B5EF4-FFF2-40B4-BE49-F238E27FC236}">
                    <a16:creationId xmlns:a16="http://schemas.microsoft.com/office/drawing/2014/main" id="{660C9612-89AA-E788-8F80-230A2946D88D}"/>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69" name="Group 31">
              <a:extLst>
                <a:ext uri="{FF2B5EF4-FFF2-40B4-BE49-F238E27FC236}">
                  <a16:creationId xmlns:a16="http://schemas.microsoft.com/office/drawing/2014/main" id="{B04D38CA-7DFE-7FD7-4825-2221FFD7811D}"/>
                </a:ext>
              </a:extLst>
            </p:cNvPr>
            <p:cNvGrpSpPr/>
            <p:nvPr/>
          </p:nvGrpSpPr>
          <p:grpSpPr>
            <a:xfrm>
              <a:off x="434857" y="248973"/>
              <a:ext cx="283735" cy="333756"/>
              <a:chOff x="0" y="-28575"/>
              <a:chExt cx="131408" cy="154576"/>
            </a:xfrm>
          </p:grpSpPr>
          <p:sp>
            <p:nvSpPr>
              <p:cNvPr id="73" name="Freeform 32">
                <a:extLst>
                  <a:ext uri="{FF2B5EF4-FFF2-40B4-BE49-F238E27FC236}">
                    <a16:creationId xmlns:a16="http://schemas.microsoft.com/office/drawing/2014/main" id="{B3CF7097-A28F-CFE6-C011-F73EAABB7370}"/>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4" name="TextBox 73">
                <a:extLst>
                  <a:ext uri="{FF2B5EF4-FFF2-40B4-BE49-F238E27FC236}">
                    <a16:creationId xmlns:a16="http://schemas.microsoft.com/office/drawing/2014/main" id="{3BCD6AA8-BCAC-C7B8-814E-F0462FA53CB5}"/>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70" name="Group 34">
              <a:extLst>
                <a:ext uri="{FF2B5EF4-FFF2-40B4-BE49-F238E27FC236}">
                  <a16:creationId xmlns:a16="http://schemas.microsoft.com/office/drawing/2014/main" id="{2028B08E-4B1B-6C49-02D6-02C307DAD875}"/>
                </a:ext>
              </a:extLst>
            </p:cNvPr>
            <p:cNvGrpSpPr/>
            <p:nvPr/>
          </p:nvGrpSpPr>
          <p:grpSpPr>
            <a:xfrm>
              <a:off x="434857" y="488931"/>
              <a:ext cx="283735" cy="333756"/>
              <a:chOff x="0" y="-28575"/>
              <a:chExt cx="131408" cy="154576"/>
            </a:xfrm>
          </p:grpSpPr>
          <p:sp>
            <p:nvSpPr>
              <p:cNvPr id="71" name="Freeform 35">
                <a:extLst>
                  <a:ext uri="{FF2B5EF4-FFF2-40B4-BE49-F238E27FC236}">
                    <a16:creationId xmlns:a16="http://schemas.microsoft.com/office/drawing/2014/main" id="{508BD230-AB20-D243-D693-FEFC2EBC78FD}"/>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2" name="TextBox 36">
                <a:extLst>
                  <a:ext uri="{FF2B5EF4-FFF2-40B4-BE49-F238E27FC236}">
                    <a16:creationId xmlns:a16="http://schemas.microsoft.com/office/drawing/2014/main" id="{2C92C41E-1AAF-02F5-398B-93EC0E81B9D9}"/>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grpSp>
        <p:nvGrpSpPr>
          <p:cNvPr id="87" name="Group 2" descr="Fraction and decimal cards">
            <a:extLst>
              <a:ext uri="{FF2B5EF4-FFF2-40B4-BE49-F238E27FC236}">
                <a16:creationId xmlns:a16="http://schemas.microsoft.com/office/drawing/2014/main" id="{FC33CF1E-84D8-53CC-3720-EEB73D343BA2}"/>
              </a:ext>
            </a:extLst>
          </p:cNvPr>
          <p:cNvGrpSpPr/>
          <p:nvPr/>
        </p:nvGrpSpPr>
        <p:grpSpPr>
          <a:xfrm>
            <a:off x="10808834" y="1272432"/>
            <a:ext cx="825821" cy="880852"/>
            <a:chOff x="0" y="-61699"/>
            <a:chExt cx="1101095" cy="1174470"/>
          </a:xfrm>
        </p:grpSpPr>
        <p:grpSp>
          <p:nvGrpSpPr>
            <p:cNvPr id="83" name="Group 3">
              <a:extLst>
                <a:ext uri="{FF2B5EF4-FFF2-40B4-BE49-F238E27FC236}">
                  <a16:creationId xmlns:a16="http://schemas.microsoft.com/office/drawing/2014/main" id="{88A611A0-CEAD-3050-1560-87A786A37B86}"/>
                </a:ext>
              </a:extLst>
            </p:cNvPr>
            <p:cNvGrpSpPr/>
            <p:nvPr/>
          </p:nvGrpSpPr>
          <p:grpSpPr>
            <a:xfrm>
              <a:off x="0" y="-61699"/>
              <a:ext cx="1101095" cy="1174470"/>
              <a:chOff x="0" y="-28575"/>
              <a:chExt cx="509959" cy="543942"/>
            </a:xfrm>
          </p:grpSpPr>
          <p:sp>
            <p:nvSpPr>
              <p:cNvPr id="85" name="Freeform 4">
                <a:extLst>
                  <a:ext uri="{FF2B5EF4-FFF2-40B4-BE49-F238E27FC236}">
                    <a16:creationId xmlns:a16="http://schemas.microsoft.com/office/drawing/2014/main" id="{C83B704F-9F38-BBB4-2EC9-8EEC18BC44AF}"/>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86" name="TextBox 5">
                <a:extLst>
                  <a:ext uri="{FF2B5EF4-FFF2-40B4-BE49-F238E27FC236}">
                    <a16:creationId xmlns:a16="http://schemas.microsoft.com/office/drawing/2014/main" id="{779D3D78-9A7F-369A-F0CC-7A98E0F8DF78}"/>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84" name="TextBox 83">
              <a:extLst>
                <a:ext uri="{FF2B5EF4-FFF2-40B4-BE49-F238E27FC236}">
                  <a16:creationId xmlns:a16="http://schemas.microsoft.com/office/drawing/2014/main" id="{5CC1DDE4-E5F4-0459-8862-2891E308CCB0}"/>
                </a:ext>
              </a:extLst>
            </p:cNvPr>
            <p:cNvSpPr txBox="1"/>
            <p:nvPr/>
          </p:nvSpPr>
          <p:spPr>
            <a:xfrm>
              <a:off x="168214" y="291184"/>
              <a:ext cx="764666" cy="394038"/>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1</a:t>
              </a:r>
            </a:p>
          </p:txBody>
        </p:sp>
      </p:grpSp>
      <p:grpSp>
        <p:nvGrpSpPr>
          <p:cNvPr id="93" name="Group 37" descr="Fraction and decimal cards">
            <a:extLst>
              <a:ext uri="{FF2B5EF4-FFF2-40B4-BE49-F238E27FC236}">
                <a16:creationId xmlns:a16="http://schemas.microsoft.com/office/drawing/2014/main" id="{F3BFC583-C190-FB86-E1BD-94A840CF1940}"/>
              </a:ext>
            </a:extLst>
          </p:cNvPr>
          <p:cNvGrpSpPr/>
          <p:nvPr/>
        </p:nvGrpSpPr>
        <p:grpSpPr>
          <a:xfrm>
            <a:off x="9462457" y="1238691"/>
            <a:ext cx="825821" cy="880852"/>
            <a:chOff x="0" y="-61699"/>
            <a:chExt cx="1101095" cy="1174470"/>
          </a:xfrm>
        </p:grpSpPr>
        <p:grpSp>
          <p:nvGrpSpPr>
            <p:cNvPr id="89" name="Group 38">
              <a:extLst>
                <a:ext uri="{FF2B5EF4-FFF2-40B4-BE49-F238E27FC236}">
                  <a16:creationId xmlns:a16="http://schemas.microsoft.com/office/drawing/2014/main" id="{6E4D8F96-66D2-9AF6-04AC-4B5185904CE0}"/>
                </a:ext>
              </a:extLst>
            </p:cNvPr>
            <p:cNvGrpSpPr/>
            <p:nvPr/>
          </p:nvGrpSpPr>
          <p:grpSpPr>
            <a:xfrm>
              <a:off x="0" y="-61699"/>
              <a:ext cx="1101095" cy="1174470"/>
              <a:chOff x="0" y="-28575"/>
              <a:chExt cx="509959" cy="543942"/>
            </a:xfrm>
          </p:grpSpPr>
          <p:sp>
            <p:nvSpPr>
              <p:cNvPr id="91" name="Freeform 39">
                <a:extLst>
                  <a:ext uri="{FF2B5EF4-FFF2-40B4-BE49-F238E27FC236}">
                    <a16:creationId xmlns:a16="http://schemas.microsoft.com/office/drawing/2014/main" id="{669791C2-C4C4-CF57-53A9-34F15E263048}"/>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92" name="TextBox 40">
                <a:extLst>
                  <a:ext uri="{FF2B5EF4-FFF2-40B4-BE49-F238E27FC236}">
                    <a16:creationId xmlns:a16="http://schemas.microsoft.com/office/drawing/2014/main" id="{EEC5686F-A9BD-8754-A9FC-B9384F017496}"/>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60"/>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90" name="TextBox 41">
              <a:extLst>
                <a:ext uri="{FF2B5EF4-FFF2-40B4-BE49-F238E27FC236}">
                  <a16:creationId xmlns:a16="http://schemas.microsoft.com/office/drawing/2014/main" id="{EB95399E-9D1E-A45C-9875-F3BB3EC7D223}"/>
                </a:ext>
              </a:extLst>
            </p:cNvPr>
            <p:cNvSpPr txBox="1"/>
            <p:nvPr/>
          </p:nvSpPr>
          <p:spPr>
            <a:xfrm>
              <a:off x="213469" y="342925"/>
              <a:ext cx="692283" cy="394038"/>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0.75</a:t>
              </a:r>
            </a:p>
          </p:txBody>
        </p:sp>
      </p:grpSp>
      <p:grpSp>
        <p:nvGrpSpPr>
          <p:cNvPr id="99" name="Group 42" descr="Fraction and decimal cards">
            <a:extLst>
              <a:ext uri="{FF2B5EF4-FFF2-40B4-BE49-F238E27FC236}">
                <a16:creationId xmlns:a16="http://schemas.microsoft.com/office/drawing/2014/main" id="{FA1D9948-5CAA-56D3-64F5-B8222ADE09C5}"/>
              </a:ext>
            </a:extLst>
          </p:cNvPr>
          <p:cNvGrpSpPr/>
          <p:nvPr/>
        </p:nvGrpSpPr>
        <p:grpSpPr>
          <a:xfrm>
            <a:off x="4760394" y="2372325"/>
            <a:ext cx="825821" cy="880852"/>
            <a:chOff x="0" y="-61699"/>
            <a:chExt cx="1101095" cy="1174470"/>
          </a:xfrm>
        </p:grpSpPr>
        <p:grpSp>
          <p:nvGrpSpPr>
            <p:cNvPr id="95" name="Group 43">
              <a:extLst>
                <a:ext uri="{FF2B5EF4-FFF2-40B4-BE49-F238E27FC236}">
                  <a16:creationId xmlns:a16="http://schemas.microsoft.com/office/drawing/2014/main" id="{25D89F57-DF36-955D-FD06-4555A9BBEC15}"/>
                </a:ext>
              </a:extLst>
            </p:cNvPr>
            <p:cNvGrpSpPr/>
            <p:nvPr/>
          </p:nvGrpSpPr>
          <p:grpSpPr>
            <a:xfrm>
              <a:off x="0" y="-61699"/>
              <a:ext cx="1101095" cy="1174470"/>
              <a:chOff x="0" y="-28575"/>
              <a:chExt cx="509959" cy="543942"/>
            </a:xfrm>
          </p:grpSpPr>
          <p:sp>
            <p:nvSpPr>
              <p:cNvPr id="97" name="Freeform 44">
                <a:extLst>
                  <a:ext uri="{FF2B5EF4-FFF2-40B4-BE49-F238E27FC236}">
                    <a16:creationId xmlns:a16="http://schemas.microsoft.com/office/drawing/2014/main" id="{A8872947-BA12-49EA-09F5-6782A25FC3CD}"/>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98" name="TextBox 45">
                <a:extLst>
                  <a:ext uri="{FF2B5EF4-FFF2-40B4-BE49-F238E27FC236}">
                    <a16:creationId xmlns:a16="http://schemas.microsoft.com/office/drawing/2014/main" id="{BA4DF8F4-A38A-D8A1-1A15-1798D67BC254}"/>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96" name="TextBox 46">
              <a:extLst>
                <a:ext uri="{FF2B5EF4-FFF2-40B4-BE49-F238E27FC236}">
                  <a16:creationId xmlns:a16="http://schemas.microsoft.com/office/drawing/2014/main" id="{73563E2F-E858-ED62-7EF4-2F77612D025F}"/>
                </a:ext>
              </a:extLst>
            </p:cNvPr>
            <p:cNvSpPr txBox="1"/>
            <p:nvPr/>
          </p:nvSpPr>
          <p:spPr>
            <a:xfrm>
              <a:off x="204406" y="335554"/>
              <a:ext cx="692283" cy="394038"/>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0.5</a:t>
              </a:r>
            </a:p>
          </p:txBody>
        </p:sp>
      </p:grpSp>
      <p:grpSp>
        <p:nvGrpSpPr>
          <p:cNvPr id="107" name="Group 14" descr="Fraction and decimal cards">
            <a:extLst>
              <a:ext uri="{FF2B5EF4-FFF2-40B4-BE49-F238E27FC236}">
                <a16:creationId xmlns:a16="http://schemas.microsoft.com/office/drawing/2014/main" id="{8C460386-D0D2-E996-1B09-5716A0255406}"/>
              </a:ext>
            </a:extLst>
          </p:cNvPr>
          <p:cNvGrpSpPr/>
          <p:nvPr/>
        </p:nvGrpSpPr>
        <p:grpSpPr>
          <a:xfrm>
            <a:off x="10855635" y="2259857"/>
            <a:ext cx="825821" cy="880852"/>
            <a:chOff x="0" y="-61699"/>
            <a:chExt cx="1101095" cy="1174470"/>
          </a:xfrm>
        </p:grpSpPr>
        <p:grpSp>
          <p:nvGrpSpPr>
            <p:cNvPr id="101" name="Group 15">
              <a:extLst>
                <a:ext uri="{FF2B5EF4-FFF2-40B4-BE49-F238E27FC236}">
                  <a16:creationId xmlns:a16="http://schemas.microsoft.com/office/drawing/2014/main" id="{B4B98FA9-2674-0454-8982-8649B5364499}"/>
                </a:ext>
              </a:extLst>
            </p:cNvPr>
            <p:cNvGrpSpPr/>
            <p:nvPr/>
          </p:nvGrpSpPr>
          <p:grpSpPr>
            <a:xfrm>
              <a:off x="0" y="-61699"/>
              <a:ext cx="1101095" cy="1174470"/>
              <a:chOff x="0" y="-28575"/>
              <a:chExt cx="509959" cy="543942"/>
            </a:xfrm>
          </p:grpSpPr>
          <p:sp>
            <p:nvSpPr>
              <p:cNvPr id="105" name="Freeform 16">
                <a:extLst>
                  <a:ext uri="{FF2B5EF4-FFF2-40B4-BE49-F238E27FC236}">
                    <a16:creationId xmlns:a16="http://schemas.microsoft.com/office/drawing/2014/main" id="{C83F8164-3FE9-4E57-59D0-4B7C82A9ACDE}"/>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06" name="TextBox 17">
                <a:extLst>
                  <a:ext uri="{FF2B5EF4-FFF2-40B4-BE49-F238E27FC236}">
                    <a16:creationId xmlns:a16="http://schemas.microsoft.com/office/drawing/2014/main" id="{0772630E-E99E-51B3-1DAC-41C20D65ED3A}"/>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102" name="TextBox 18">
              <a:extLst>
                <a:ext uri="{FF2B5EF4-FFF2-40B4-BE49-F238E27FC236}">
                  <a16:creationId xmlns:a16="http://schemas.microsoft.com/office/drawing/2014/main" id="{00515B49-CBB7-FBA0-712F-8C786CE10BA0}"/>
                </a:ext>
              </a:extLst>
            </p:cNvPr>
            <p:cNvSpPr txBox="1"/>
            <p:nvPr/>
          </p:nvSpPr>
          <p:spPr>
            <a:xfrm>
              <a:off x="434020" y="112249"/>
              <a:ext cx="120000" cy="394038"/>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1</a:t>
              </a:r>
            </a:p>
          </p:txBody>
        </p:sp>
        <p:sp>
          <p:nvSpPr>
            <p:cNvPr id="103" name="TextBox 19">
              <a:extLst>
                <a:ext uri="{FF2B5EF4-FFF2-40B4-BE49-F238E27FC236}">
                  <a16:creationId xmlns:a16="http://schemas.microsoft.com/office/drawing/2014/main" id="{ED52A916-39A5-CBBE-C75F-58B0C79D2FED}"/>
                </a:ext>
              </a:extLst>
            </p:cNvPr>
            <p:cNvSpPr txBox="1"/>
            <p:nvPr/>
          </p:nvSpPr>
          <p:spPr>
            <a:xfrm>
              <a:off x="351676" y="560413"/>
              <a:ext cx="300404" cy="394038"/>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2</a:t>
              </a:r>
            </a:p>
          </p:txBody>
        </p:sp>
        <p:sp>
          <p:nvSpPr>
            <p:cNvPr id="104" name="AutoShape 20">
              <a:extLst>
                <a:ext uri="{FF2B5EF4-FFF2-40B4-BE49-F238E27FC236}">
                  <a16:creationId xmlns:a16="http://schemas.microsoft.com/office/drawing/2014/main" id="{D3337D71-59E5-E577-E67C-AC63D1989BF0}"/>
                </a:ext>
              </a:extLst>
            </p:cNvPr>
            <p:cNvSpPr/>
            <p:nvPr/>
          </p:nvSpPr>
          <p:spPr>
            <a:xfrm>
              <a:off x="260238" y="556445"/>
              <a:ext cx="580618" cy="0"/>
            </a:xfrm>
            <a:prstGeom prst="line">
              <a:avLst/>
            </a:prstGeom>
            <a:ln w="29482"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113" name="Group 37" descr="Fraction and decimal cards">
            <a:extLst>
              <a:ext uri="{FF2B5EF4-FFF2-40B4-BE49-F238E27FC236}">
                <a16:creationId xmlns:a16="http://schemas.microsoft.com/office/drawing/2014/main" id="{F4DB625F-552D-CDBB-0B01-C407FF52A167}"/>
              </a:ext>
            </a:extLst>
          </p:cNvPr>
          <p:cNvGrpSpPr/>
          <p:nvPr/>
        </p:nvGrpSpPr>
        <p:grpSpPr>
          <a:xfrm>
            <a:off x="6104853" y="2344018"/>
            <a:ext cx="825821" cy="880852"/>
            <a:chOff x="0" y="-61699"/>
            <a:chExt cx="1101095" cy="1174470"/>
          </a:xfrm>
        </p:grpSpPr>
        <p:grpSp>
          <p:nvGrpSpPr>
            <p:cNvPr id="109" name="Group 38">
              <a:extLst>
                <a:ext uri="{FF2B5EF4-FFF2-40B4-BE49-F238E27FC236}">
                  <a16:creationId xmlns:a16="http://schemas.microsoft.com/office/drawing/2014/main" id="{959E3C56-D248-C5ED-3181-AB6C9C51E8F4}"/>
                </a:ext>
              </a:extLst>
            </p:cNvPr>
            <p:cNvGrpSpPr/>
            <p:nvPr/>
          </p:nvGrpSpPr>
          <p:grpSpPr>
            <a:xfrm>
              <a:off x="0" y="-61699"/>
              <a:ext cx="1101095" cy="1174470"/>
              <a:chOff x="0" y="-28575"/>
              <a:chExt cx="509959" cy="543942"/>
            </a:xfrm>
          </p:grpSpPr>
          <p:sp>
            <p:nvSpPr>
              <p:cNvPr id="111" name="Freeform 39">
                <a:extLst>
                  <a:ext uri="{FF2B5EF4-FFF2-40B4-BE49-F238E27FC236}">
                    <a16:creationId xmlns:a16="http://schemas.microsoft.com/office/drawing/2014/main" id="{75812762-1730-C1F6-69F6-443A609CE0F3}"/>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12" name="TextBox 40">
                <a:extLst>
                  <a:ext uri="{FF2B5EF4-FFF2-40B4-BE49-F238E27FC236}">
                    <a16:creationId xmlns:a16="http://schemas.microsoft.com/office/drawing/2014/main" id="{1736BD1F-C2CB-0DDC-4DD8-15C742A0B105}"/>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60"/>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110" name="TextBox 41">
              <a:extLst>
                <a:ext uri="{FF2B5EF4-FFF2-40B4-BE49-F238E27FC236}">
                  <a16:creationId xmlns:a16="http://schemas.microsoft.com/office/drawing/2014/main" id="{7DA31D3E-94E0-EDC4-4D83-A2D8B96B01B9}"/>
                </a:ext>
              </a:extLst>
            </p:cNvPr>
            <p:cNvSpPr txBox="1"/>
            <p:nvPr/>
          </p:nvSpPr>
          <p:spPr>
            <a:xfrm>
              <a:off x="213469" y="342925"/>
              <a:ext cx="692283" cy="376172"/>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0.25</a:t>
              </a:r>
            </a:p>
          </p:txBody>
        </p:sp>
      </p:grpSp>
      <p:grpSp>
        <p:nvGrpSpPr>
          <p:cNvPr id="121" name="Group 14" descr="Fraction and decimal cards">
            <a:extLst>
              <a:ext uri="{FF2B5EF4-FFF2-40B4-BE49-F238E27FC236}">
                <a16:creationId xmlns:a16="http://schemas.microsoft.com/office/drawing/2014/main" id="{6D0BB024-E0AE-079A-0B1D-1444CC716EEF}"/>
              </a:ext>
            </a:extLst>
          </p:cNvPr>
          <p:cNvGrpSpPr/>
          <p:nvPr/>
        </p:nvGrpSpPr>
        <p:grpSpPr>
          <a:xfrm>
            <a:off x="9480849" y="2365257"/>
            <a:ext cx="825821" cy="880852"/>
            <a:chOff x="0" y="-61699"/>
            <a:chExt cx="1101095" cy="1174470"/>
          </a:xfrm>
        </p:grpSpPr>
        <p:grpSp>
          <p:nvGrpSpPr>
            <p:cNvPr id="115" name="Group 15">
              <a:extLst>
                <a:ext uri="{FF2B5EF4-FFF2-40B4-BE49-F238E27FC236}">
                  <a16:creationId xmlns:a16="http://schemas.microsoft.com/office/drawing/2014/main" id="{2750A258-3F4E-142D-3A59-655E82B65A34}"/>
                </a:ext>
              </a:extLst>
            </p:cNvPr>
            <p:cNvGrpSpPr/>
            <p:nvPr/>
          </p:nvGrpSpPr>
          <p:grpSpPr>
            <a:xfrm>
              <a:off x="0" y="-61699"/>
              <a:ext cx="1101095" cy="1174470"/>
              <a:chOff x="0" y="-28575"/>
              <a:chExt cx="509959" cy="543942"/>
            </a:xfrm>
          </p:grpSpPr>
          <p:sp>
            <p:nvSpPr>
              <p:cNvPr id="119" name="Freeform 16">
                <a:extLst>
                  <a:ext uri="{FF2B5EF4-FFF2-40B4-BE49-F238E27FC236}">
                    <a16:creationId xmlns:a16="http://schemas.microsoft.com/office/drawing/2014/main" id="{7D1F5729-A22A-DE69-C8BE-BFCE4ADE2414}"/>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20" name="TextBox 17">
                <a:extLst>
                  <a:ext uri="{FF2B5EF4-FFF2-40B4-BE49-F238E27FC236}">
                    <a16:creationId xmlns:a16="http://schemas.microsoft.com/office/drawing/2014/main" id="{6926C862-9D57-06CD-CD24-DE085376E982}"/>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116" name="TextBox 18">
              <a:extLst>
                <a:ext uri="{FF2B5EF4-FFF2-40B4-BE49-F238E27FC236}">
                  <a16:creationId xmlns:a16="http://schemas.microsoft.com/office/drawing/2014/main" id="{20FF616C-16AA-D706-A08B-7DAEFA95AC23}"/>
                </a:ext>
              </a:extLst>
            </p:cNvPr>
            <p:cNvSpPr txBox="1"/>
            <p:nvPr/>
          </p:nvSpPr>
          <p:spPr>
            <a:xfrm>
              <a:off x="434020" y="112249"/>
              <a:ext cx="120000" cy="376172"/>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2</a:t>
              </a:r>
            </a:p>
          </p:txBody>
        </p:sp>
        <p:sp>
          <p:nvSpPr>
            <p:cNvPr id="117" name="TextBox 19">
              <a:extLst>
                <a:ext uri="{FF2B5EF4-FFF2-40B4-BE49-F238E27FC236}">
                  <a16:creationId xmlns:a16="http://schemas.microsoft.com/office/drawing/2014/main" id="{110590E1-BEF7-4589-00AE-E24372B8FCE7}"/>
                </a:ext>
              </a:extLst>
            </p:cNvPr>
            <p:cNvSpPr txBox="1"/>
            <p:nvPr/>
          </p:nvSpPr>
          <p:spPr>
            <a:xfrm>
              <a:off x="351676" y="560414"/>
              <a:ext cx="300404" cy="376172"/>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8</a:t>
              </a:r>
            </a:p>
          </p:txBody>
        </p:sp>
        <p:sp>
          <p:nvSpPr>
            <p:cNvPr id="118" name="AutoShape 20">
              <a:extLst>
                <a:ext uri="{FF2B5EF4-FFF2-40B4-BE49-F238E27FC236}">
                  <a16:creationId xmlns:a16="http://schemas.microsoft.com/office/drawing/2014/main" id="{96FDAE8C-7408-70E9-7DE7-49B02ECC8A62}"/>
                </a:ext>
              </a:extLst>
            </p:cNvPr>
            <p:cNvSpPr/>
            <p:nvPr/>
          </p:nvSpPr>
          <p:spPr>
            <a:xfrm>
              <a:off x="260238" y="556445"/>
              <a:ext cx="580618" cy="0"/>
            </a:xfrm>
            <a:prstGeom prst="line">
              <a:avLst/>
            </a:prstGeom>
            <a:ln w="29482"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129" name="Group 14" descr="Fraction and decimal cards">
            <a:extLst>
              <a:ext uri="{FF2B5EF4-FFF2-40B4-BE49-F238E27FC236}">
                <a16:creationId xmlns:a16="http://schemas.microsoft.com/office/drawing/2014/main" id="{6D783F59-14D8-FC6B-C8A7-7798521BE415}"/>
              </a:ext>
            </a:extLst>
          </p:cNvPr>
          <p:cNvGrpSpPr/>
          <p:nvPr/>
        </p:nvGrpSpPr>
        <p:grpSpPr>
          <a:xfrm>
            <a:off x="8075561" y="1325109"/>
            <a:ext cx="825821" cy="880852"/>
            <a:chOff x="0" y="-61699"/>
            <a:chExt cx="1101095" cy="1174470"/>
          </a:xfrm>
        </p:grpSpPr>
        <p:grpSp>
          <p:nvGrpSpPr>
            <p:cNvPr id="123" name="Group 15">
              <a:extLst>
                <a:ext uri="{FF2B5EF4-FFF2-40B4-BE49-F238E27FC236}">
                  <a16:creationId xmlns:a16="http://schemas.microsoft.com/office/drawing/2014/main" id="{39258A0F-C35B-667C-B1E9-8D45B87DB574}"/>
                </a:ext>
              </a:extLst>
            </p:cNvPr>
            <p:cNvGrpSpPr/>
            <p:nvPr/>
          </p:nvGrpSpPr>
          <p:grpSpPr>
            <a:xfrm>
              <a:off x="0" y="-61699"/>
              <a:ext cx="1101095" cy="1174470"/>
              <a:chOff x="0" y="-28575"/>
              <a:chExt cx="509959" cy="543942"/>
            </a:xfrm>
          </p:grpSpPr>
          <p:sp>
            <p:nvSpPr>
              <p:cNvPr id="127" name="Freeform 16">
                <a:extLst>
                  <a:ext uri="{FF2B5EF4-FFF2-40B4-BE49-F238E27FC236}">
                    <a16:creationId xmlns:a16="http://schemas.microsoft.com/office/drawing/2014/main" id="{4F44B6D9-2053-10AB-E254-ACC14A04BB4A}"/>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28" name="TextBox 17">
                <a:extLst>
                  <a:ext uri="{FF2B5EF4-FFF2-40B4-BE49-F238E27FC236}">
                    <a16:creationId xmlns:a16="http://schemas.microsoft.com/office/drawing/2014/main" id="{0404419C-3112-2924-C6C3-2ED696C3C648}"/>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124" name="TextBox 18">
              <a:extLst>
                <a:ext uri="{FF2B5EF4-FFF2-40B4-BE49-F238E27FC236}">
                  <a16:creationId xmlns:a16="http://schemas.microsoft.com/office/drawing/2014/main" id="{A9A2711C-4BBC-7219-7747-5FA6DEFB49DB}"/>
                </a:ext>
              </a:extLst>
            </p:cNvPr>
            <p:cNvSpPr txBox="1"/>
            <p:nvPr/>
          </p:nvSpPr>
          <p:spPr>
            <a:xfrm>
              <a:off x="434020" y="112249"/>
              <a:ext cx="120000" cy="376172"/>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6</a:t>
              </a:r>
            </a:p>
          </p:txBody>
        </p:sp>
        <p:sp>
          <p:nvSpPr>
            <p:cNvPr id="125" name="TextBox 19">
              <a:extLst>
                <a:ext uri="{FF2B5EF4-FFF2-40B4-BE49-F238E27FC236}">
                  <a16:creationId xmlns:a16="http://schemas.microsoft.com/office/drawing/2014/main" id="{85781470-7C96-E670-C63A-DEF69EAB30ED}"/>
                </a:ext>
              </a:extLst>
            </p:cNvPr>
            <p:cNvSpPr txBox="1"/>
            <p:nvPr/>
          </p:nvSpPr>
          <p:spPr>
            <a:xfrm>
              <a:off x="351676" y="560414"/>
              <a:ext cx="300404" cy="376172"/>
            </a:xfrm>
            <a:prstGeom prst="rect">
              <a:avLst/>
            </a:prstGeom>
          </p:spPr>
          <p:txBody>
            <a:bodyPr lIns="0" tIns="0" rIns="0" bIns="0" rtlCol="0" anchor="t">
              <a:spAutoFit/>
            </a:bodyPr>
            <a:lstStyle/>
            <a:p>
              <a:pPr marL="0" marR="0" lvl="0" indent="0" algn="ctr" defTabSz="609585" rtl="0" eaLnBrk="1" fontAlgn="auto" latinLnBrk="0" hangingPunct="1">
                <a:lnSpc>
                  <a:spcPts val="2437"/>
                </a:lnSpc>
                <a:spcBef>
                  <a:spcPct val="0"/>
                </a:spcBef>
                <a:spcAft>
                  <a:spcPts val="0"/>
                </a:spcAft>
                <a:buClrTx/>
                <a:buSzTx/>
                <a:buFontTx/>
                <a:buNone/>
                <a:tabLst/>
                <a:defRPr/>
              </a:pPr>
              <a:r>
                <a:rPr kumimoji="0" lang="en-US" sz="1741" b="0" i="0" u="none" strike="noStrike" kern="1200" cap="none" spc="0" normalizeH="0" baseline="0" noProof="0">
                  <a:ln>
                    <a:noFill/>
                  </a:ln>
                  <a:solidFill>
                    <a:srgbClr val="000000"/>
                  </a:solidFill>
                  <a:effectLst/>
                  <a:uLnTx/>
                  <a:uFillTx/>
                  <a:latin typeface="Public Sans"/>
                  <a:ea typeface="Public Sans"/>
                  <a:cs typeface="Public Sans"/>
                  <a:sym typeface="Public Sans"/>
                </a:rPr>
                <a:t>8</a:t>
              </a:r>
            </a:p>
          </p:txBody>
        </p:sp>
        <p:sp>
          <p:nvSpPr>
            <p:cNvPr id="126" name="AutoShape 20">
              <a:extLst>
                <a:ext uri="{FF2B5EF4-FFF2-40B4-BE49-F238E27FC236}">
                  <a16:creationId xmlns:a16="http://schemas.microsoft.com/office/drawing/2014/main" id="{1075310B-108D-DF71-D376-4BC34895A9DE}"/>
                </a:ext>
              </a:extLst>
            </p:cNvPr>
            <p:cNvSpPr/>
            <p:nvPr/>
          </p:nvSpPr>
          <p:spPr>
            <a:xfrm>
              <a:off x="260238" y="556445"/>
              <a:ext cx="580618" cy="0"/>
            </a:xfrm>
            <a:prstGeom prst="line">
              <a:avLst/>
            </a:prstGeom>
            <a:ln w="29482"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146" name="Group 21" descr="Fraction and decimal cards">
            <a:extLst>
              <a:ext uri="{FF2B5EF4-FFF2-40B4-BE49-F238E27FC236}">
                <a16:creationId xmlns:a16="http://schemas.microsoft.com/office/drawing/2014/main" id="{E4342C1F-96FD-8933-A827-0B8CDC7E8F28}"/>
              </a:ext>
            </a:extLst>
          </p:cNvPr>
          <p:cNvGrpSpPr/>
          <p:nvPr/>
        </p:nvGrpSpPr>
        <p:grpSpPr>
          <a:xfrm>
            <a:off x="8128289" y="2327826"/>
            <a:ext cx="825821" cy="880852"/>
            <a:chOff x="0" y="-61699"/>
            <a:chExt cx="1101095" cy="1174470"/>
          </a:xfrm>
        </p:grpSpPr>
        <p:grpSp>
          <p:nvGrpSpPr>
            <p:cNvPr id="131" name="Group 22">
              <a:extLst>
                <a:ext uri="{FF2B5EF4-FFF2-40B4-BE49-F238E27FC236}">
                  <a16:creationId xmlns:a16="http://schemas.microsoft.com/office/drawing/2014/main" id="{F0354428-B04D-E270-8EAA-CF06CB068EA9}"/>
                </a:ext>
              </a:extLst>
            </p:cNvPr>
            <p:cNvGrpSpPr/>
            <p:nvPr/>
          </p:nvGrpSpPr>
          <p:grpSpPr>
            <a:xfrm>
              <a:off x="0" y="-61699"/>
              <a:ext cx="1101095" cy="1174470"/>
              <a:chOff x="0" y="-28575"/>
              <a:chExt cx="509959" cy="543942"/>
            </a:xfrm>
          </p:grpSpPr>
          <p:sp>
            <p:nvSpPr>
              <p:cNvPr id="144" name="Freeform 23">
                <a:extLst>
                  <a:ext uri="{FF2B5EF4-FFF2-40B4-BE49-F238E27FC236}">
                    <a16:creationId xmlns:a16="http://schemas.microsoft.com/office/drawing/2014/main" id="{37BCB9F5-E90D-95FC-3B5C-F1833CBC2598}"/>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45" name="TextBox 24">
                <a:extLst>
                  <a:ext uri="{FF2B5EF4-FFF2-40B4-BE49-F238E27FC236}">
                    <a16:creationId xmlns:a16="http://schemas.microsoft.com/office/drawing/2014/main" id="{1363BEEC-39BF-2D15-F6C7-ED860C9C5187}"/>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132" name="Group 25">
              <a:extLst>
                <a:ext uri="{FF2B5EF4-FFF2-40B4-BE49-F238E27FC236}">
                  <a16:creationId xmlns:a16="http://schemas.microsoft.com/office/drawing/2014/main" id="{F07595D6-F8A0-E762-8829-EB25F5DCF25F}"/>
                </a:ext>
              </a:extLst>
            </p:cNvPr>
            <p:cNvGrpSpPr/>
            <p:nvPr/>
          </p:nvGrpSpPr>
          <p:grpSpPr>
            <a:xfrm>
              <a:off x="434857" y="715449"/>
              <a:ext cx="283735" cy="333756"/>
              <a:chOff x="0" y="-28575"/>
              <a:chExt cx="131408" cy="154576"/>
            </a:xfrm>
          </p:grpSpPr>
          <p:sp>
            <p:nvSpPr>
              <p:cNvPr id="142" name="Freeform 26">
                <a:extLst>
                  <a:ext uri="{FF2B5EF4-FFF2-40B4-BE49-F238E27FC236}">
                    <a16:creationId xmlns:a16="http://schemas.microsoft.com/office/drawing/2014/main" id="{D7512BB9-6A89-8038-BFDE-5986E0E7DB35}"/>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43" name="TextBox 27">
                <a:extLst>
                  <a:ext uri="{FF2B5EF4-FFF2-40B4-BE49-F238E27FC236}">
                    <a16:creationId xmlns:a16="http://schemas.microsoft.com/office/drawing/2014/main" id="{143BC557-2464-23AE-D50A-C5E187F0F8B8}"/>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133" name="Group 28">
              <a:extLst>
                <a:ext uri="{FF2B5EF4-FFF2-40B4-BE49-F238E27FC236}">
                  <a16:creationId xmlns:a16="http://schemas.microsoft.com/office/drawing/2014/main" id="{0E449703-4920-CB9E-A730-9552F8FE2951}"/>
                </a:ext>
              </a:extLst>
            </p:cNvPr>
            <p:cNvGrpSpPr/>
            <p:nvPr/>
          </p:nvGrpSpPr>
          <p:grpSpPr>
            <a:xfrm>
              <a:off x="434857" y="1986"/>
              <a:ext cx="283735" cy="333756"/>
              <a:chOff x="0" y="-28575"/>
              <a:chExt cx="131408" cy="154576"/>
            </a:xfrm>
          </p:grpSpPr>
          <p:sp>
            <p:nvSpPr>
              <p:cNvPr id="140" name="Freeform 29">
                <a:extLst>
                  <a:ext uri="{FF2B5EF4-FFF2-40B4-BE49-F238E27FC236}">
                    <a16:creationId xmlns:a16="http://schemas.microsoft.com/office/drawing/2014/main" id="{F27179B0-4E47-DED9-0DD6-3C4AF47FFFA0}"/>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41" name="TextBox 30">
                <a:extLst>
                  <a:ext uri="{FF2B5EF4-FFF2-40B4-BE49-F238E27FC236}">
                    <a16:creationId xmlns:a16="http://schemas.microsoft.com/office/drawing/2014/main" id="{8C88F46B-5A29-97EA-CEEB-5C104A47C668}"/>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134" name="Group 31">
              <a:extLst>
                <a:ext uri="{FF2B5EF4-FFF2-40B4-BE49-F238E27FC236}">
                  <a16:creationId xmlns:a16="http://schemas.microsoft.com/office/drawing/2014/main" id="{3B16EA61-A4DE-D471-3068-83FB095081C7}"/>
                </a:ext>
              </a:extLst>
            </p:cNvPr>
            <p:cNvGrpSpPr/>
            <p:nvPr/>
          </p:nvGrpSpPr>
          <p:grpSpPr>
            <a:xfrm>
              <a:off x="434857" y="248973"/>
              <a:ext cx="283735" cy="333756"/>
              <a:chOff x="0" y="-28575"/>
              <a:chExt cx="131408" cy="154576"/>
            </a:xfrm>
          </p:grpSpPr>
          <p:sp>
            <p:nvSpPr>
              <p:cNvPr id="138" name="Freeform 32">
                <a:extLst>
                  <a:ext uri="{FF2B5EF4-FFF2-40B4-BE49-F238E27FC236}">
                    <a16:creationId xmlns:a16="http://schemas.microsoft.com/office/drawing/2014/main" id="{110F283F-98AB-52BB-F3E0-9EE680A9BC0B}"/>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39" name="TextBox 138">
                <a:extLst>
                  <a:ext uri="{FF2B5EF4-FFF2-40B4-BE49-F238E27FC236}">
                    <a16:creationId xmlns:a16="http://schemas.microsoft.com/office/drawing/2014/main" id="{42A944C0-0073-4AF0-9311-A565B238D564}"/>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135" name="Group 34">
              <a:extLst>
                <a:ext uri="{FF2B5EF4-FFF2-40B4-BE49-F238E27FC236}">
                  <a16:creationId xmlns:a16="http://schemas.microsoft.com/office/drawing/2014/main" id="{172DD06D-7D68-9CAC-169E-2CD05F621FDB}"/>
                </a:ext>
              </a:extLst>
            </p:cNvPr>
            <p:cNvGrpSpPr/>
            <p:nvPr/>
          </p:nvGrpSpPr>
          <p:grpSpPr>
            <a:xfrm>
              <a:off x="434857" y="488931"/>
              <a:ext cx="283735" cy="333756"/>
              <a:chOff x="0" y="-28575"/>
              <a:chExt cx="131408" cy="154576"/>
            </a:xfrm>
          </p:grpSpPr>
          <p:sp>
            <p:nvSpPr>
              <p:cNvPr id="136" name="Freeform 35">
                <a:extLst>
                  <a:ext uri="{FF2B5EF4-FFF2-40B4-BE49-F238E27FC236}">
                    <a16:creationId xmlns:a16="http://schemas.microsoft.com/office/drawing/2014/main" id="{8F599ACF-E100-855E-9031-FF5CA04D3071}"/>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37" name="TextBox 36">
                <a:extLst>
                  <a:ext uri="{FF2B5EF4-FFF2-40B4-BE49-F238E27FC236}">
                    <a16:creationId xmlns:a16="http://schemas.microsoft.com/office/drawing/2014/main" id="{91536F65-83F5-EA1E-3888-258EE674DB2B}"/>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grpSp>
        <p:nvGrpSpPr>
          <p:cNvPr id="163" name="Group 21" descr="Fraction and decimal cards">
            <a:extLst>
              <a:ext uri="{FF2B5EF4-FFF2-40B4-BE49-F238E27FC236}">
                <a16:creationId xmlns:a16="http://schemas.microsoft.com/office/drawing/2014/main" id="{B7C55B43-3D10-A336-EED6-E842C52762CA}"/>
              </a:ext>
            </a:extLst>
          </p:cNvPr>
          <p:cNvGrpSpPr/>
          <p:nvPr/>
        </p:nvGrpSpPr>
        <p:grpSpPr>
          <a:xfrm>
            <a:off x="459008" y="2401790"/>
            <a:ext cx="825821" cy="880852"/>
            <a:chOff x="0" y="-61699"/>
            <a:chExt cx="1101095" cy="1174470"/>
          </a:xfrm>
        </p:grpSpPr>
        <p:grpSp>
          <p:nvGrpSpPr>
            <p:cNvPr id="148" name="Group 22">
              <a:extLst>
                <a:ext uri="{FF2B5EF4-FFF2-40B4-BE49-F238E27FC236}">
                  <a16:creationId xmlns:a16="http://schemas.microsoft.com/office/drawing/2014/main" id="{2B3FD93B-A65F-F8F8-D160-9F1F70864971}"/>
                </a:ext>
              </a:extLst>
            </p:cNvPr>
            <p:cNvGrpSpPr/>
            <p:nvPr/>
          </p:nvGrpSpPr>
          <p:grpSpPr>
            <a:xfrm>
              <a:off x="0" y="-61699"/>
              <a:ext cx="1101095" cy="1174470"/>
              <a:chOff x="0" y="-28575"/>
              <a:chExt cx="509959" cy="543942"/>
            </a:xfrm>
          </p:grpSpPr>
          <p:sp>
            <p:nvSpPr>
              <p:cNvPr id="161" name="Freeform 23">
                <a:extLst>
                  <a:ext uri="{FF2B5EF4-FFF2-40B4-BE49-F238E27FC236}">
                    <a16:creationId xmlns:a16="http://schemas.microsoft.com/office/drawing/2014/main" id="{A9CD8445-A342-B6A8-63D6-773F98E8B288}"/>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62" name="TextBox 24">
                <a:extLst>
                  <a:ext uri="{FF2B5EF4-FFF2-40B4-BE49-F238E27FC236}">
                    <a16:creationId xmlns:a16="http://schemas.microsoft.com/office/drawing/2014/main" id="{BE2B24E0-8FF7-3B16-D2FD-8D51D853041E}"/>
                  </a:ext>
                </a:extLst>
              </p:cNvPr>
              <p:cNvSpPr txBox="1"/>
              <p:nvPr/>
            </p:nvSpPr>
            <p:spPr>
              <a:xfrm>
                <a:off x="0" y="-28575"/>
                <a:ext cx="509959" cy="543942"/>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149" name="Group 25">
              <a:extLst>
                <a:ext uri="{FF2B5EF4-FFF2-40B4-BE49-F238E27FC236}">
                  <a16:creationId xmlns:a16="http://schemas.microsoft.com/office/drawing/2014/main" id="{CB4D78AA-43D4-44FB-8B40-E0B9E47402A8}"/>
                </a:ext>
              </a:extLst>
            </p:cNvPr>
            <p:cNvGrpSpPr/>
            <p:nvPr/>
          </p:nvGrpSpPr>
          <p:grpSpPr>
            <a:xfrm>
              <a:off x="434857" y="715449"/>
              <a:ext cx="283735" cy="333756"/>
              <a:chOff x="0" y="-28575"/>
              <a:chExt cx="131408" cy="154576"/>
            </a:xfrm>
          </p:grpSpPr>
          <p:sp>
            <p:nvSpPr>
              <p:cNvPr id="159" name="Freeform 26">
                <a:extLst>
                  <a:ext uri="{FF2B5EF4-FFF2-40B4-BE49-F238E27FC236}">
                    <a16:creationId xmlns:a16="http://schemas.microsoft.com/office/drawing/2014/main" id="{B08CA096-8B76-AAF4-8060-36CFB33267C0}"/>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60" name="TextBox 27">
                <a:extLst>
                  <a:ext uri="{FF2B5EF4-FFF2-40B4-BE49-F238E27FC236}">
                    <a16:creationId xmlns:a16="http://schemas.microsoft.com/office/drawing/2014/main" id="{491BECC8-8591-32FB-8515-0003293584D2}"/>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150" name="Group 28">
              <a:extLst>
                <a:ext uri="{FF2B5EF4-FFF2-40B4-BE49-F238E27FC236}">
                  <a16:creationId xmlns:a16="http://schemas.microsoft.com/office/drawing/2014/main" id="{E245710E-0D71-557B-0D19-0A80A56CB49E}"/>
                </a:ext>
              </a:extLst>
            </p:cNvPr>
            <p:cNvGrpSpPr/>
            <p:nvPr/>
          </p:nvGrpSpPr>
          <p:grpSpPr>
            <a:xfrm>
              <a:off x="434857" y="1986"/>
              <a:ext cx="283735" cy="333756"/>
              <a:chOff x="0" y="-28575"/>
              <a:chExt cx="131408" cy="154576"/>
            </a:xfrm>
          </p:grpSpPr>
          <p:sp>
            <p:nvSpPr>
              <p:cNvPr id="157" name="Freeform 29">
                <a:extLst>
                  <a:ext uri="{FF2B5EF4-FFF2-40B4-BE49-F238E27FC236}">
                    <a16:creationId xmlns:a16="http://schemas.microsoft.com/office/drawing/2014/main" id="{F49B1DCB-2D98-77B5-EAAF-9FC5C06A6465}"/>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58" name="TextBox 30">
                <a:extLst>
                  <a:ext uri="{FF2B5EF4-FFF2-40B4-BE49-F238E27FC236}">
                    <a16:creationId xmlns:a16="http://schemas.microsoft.com/office/drawing/2014/main" id="{4ABECF3F-AFE6-1F61-DECB-BB82C76EC602}"/>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151" name="Group 31">
              <a:extLst>
                <a:ext uri="{FF2B5EF4-FFF2-40B4-BE49-F238E27FC236}">
                  <a16:creationId xmlns:a16="http://schemas.microsoft.com/office/drawing/2014/main" id="{74C3E984-BD29-C19C-85CC-F282A9D5B830}"/>
                </a:ext>
              </a:extLst>
            </p:cNvPr>
            <p:cNvGrpSpPr/>
            <p:nvPr/>
          </p:nvGrpSpPr>
          <p:grpSpPr>
            <a:xfrm>
              <a:off x="434857" y="248973"/>
              <a:ext cx="283735" cy="333756"/>
              <a:chOff x="0" y="-28575"/>
              <a:chExt cx="131408" cy="154576"/>
            </a:xfrm>
          </p:grpSpPr>
          <p:sp>
            <p:nvSpPr>
              <p:cNvPr id="155" name="Freeform 32">
                <a:extLst>
                  <a:ext uri="{FF2B5EF4-FFF2-40B4-BE49-F238E27FC236}">
                    <a16:creationId xmlns:a16="http://schemas.microsoft.com/office/drawing/2014/main" id="{599E54F4-63A1-033C-A08F-97726E0F20FB}"/>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56" name="TextBox 155">
                <a:extLst>
                  <a:ext uri="{FF2B5EF4-FFF2-40B4-BE49-F238E27FC236}">
                    <a16:creationId xmlns:a16="http://schemas.microsoft.com/office/drawing/2014/main" id="{E5C63EC7-9BEE-F422-B67D-159D58F8521A}"/>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nvGrpSpPr>
            <p:cNvPr id="152" name="Group 34">
              <a:extLst>
                <a:ext uri="{FF2B5EF4-FFF2-40B4-BE49-F238E27FC236}">
                  <a16:creationId xmlns:a16="http://schemas.microsoft.com/office/drawing/2014/main" id="{562F8372-3E7E-6E86-BDF2-33124A6A1FAA}"/>
                </a:ext>
              </a:extLst>
            </p:cNvPr>
            <p:cNvGrpSpPr/>
            <p:nvPr/>
          </p:nvGrpSpPr>
          <p:grpSpPr>
            <a:xfrm>
              <a:off x="434857" y="488931"/>
              <a:ext cx="283735" cy="333756"/>
              <a:chOff x="0" y="-28575"/>
              <a:chExt cx="131408" cy="154576"/>
            </a:xfrm>
          </p:grpSpPr>
          <p:sp>
            <p:nvSpPr>
              <p:cNvPr id="153" name="Freeform 35">
                <a:extLst>
                  <a:ext uri="{FF2B5EF4-FFF2-40B4-BE49-F238E27FC236}">
                    <a16:creationId xmlns:a16="http://schemas.microsoft.com/office/drawing/2014/main" id="{7407A32D-CFA2-ECB0-9034-D60DE7EBBAA1}"/>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54" name="TextBox 36">
                <a:extLst>
                  <a:ext uri="{FF2B5EF4-FFF2-40B4-BE49-F238E27FC236}">
                    <a16:creationId xmlns:a16="http://schemas.microsoft.com/office/drawing/2014/main" id="{120D2BB6-0273-4F54-567E-4A4182127787}"/>
                  </a:ext>
                </a:extLst>
              </p:cNvPr>
              <p:cNvSpPr txBox="1"/>
              <p:nvPr/>
            </p:nvSpPr>
            <p:spPr>
              <a:xfrm>
                <a:off x="0" y="-28575"/>
                <a:ext cx="131408" cy="154576"/>
              </a:xfrm>
              <a:prstGeom prst="rect">
                <a:avLst/>
              </a:prstGeom>
            </p:spPr>
            <p:txBody>
              <a:bodyPr lIns="50800" tIns="50800" rIns="50800" bIns="50800" rtlCol="0" anchor="ctr"/>
              <a:lstStyle/>
              <a:p>
                <a:pPr marL="0" marR="0" lvl="0" indent="0" algn="ctr" defTabSz="609585" rtl="0" eaLnBrk="1" fontAlgn="auto" latinLnBrk="0" hangingPunct="1">
                  <a:lnSpc>
                    <a:spcPts val="1959"/>
                  </a:lnSpc>
                  <a:spcBef>
                    <a:spcPts val="0"/>
                  </a:spcBef>
                  <a:spcAft>
                    <a:spcPts val="0"/>
                  </a:spcAft>
                  <a:buClrTx/>
                  <a:buSzTx/>
                  <a:buFontTx/>
                  <a:buNone/>
                  <a:tabLst/>
                  <a:defRPr/>
                </a:pPr>
                <a:endParaRPr kumimoji="0" sz="2400" b="0" i="0" u="none" strike="noStrike" kern="1200" cap="none" spc="0" normalizeH="0" baseline="0" noProof="0">
                  <a:ln>
                    <a:noFill/>
                  </a:ln>
                  <a:solidFill>
                    <a:srgbClr val="22272B"/>
                  </a:solidFill>
                  <a:effectLst/>
                  <a:uLnTx/>
                  <a:uFillTx/>
                  <a:latin typeface="Public Sans Light"/>
                  <a:ea typeface="+mn-ea"/>
                  <a:cs typeface="+mn-cs"/>
                </a:endParaRPr>
              </a:p>
            </p:txBody>
          </p:sp>
        </p:grpSp>
      </p:grpSp>
      <p:cxnSp>
        <p:nvCxnSpPr>
          <p:cNvPr id="164" name="Straight Arrow Connector 163">
            <a:extLst>
              <a:ext uri="{FF2B5EF4-FFF2-40B4-BE49-F238E27FC236}">
                <a16:creationId xmlns:a16="http://schemas.microsoft.com/office/drawing/2014/main" id="{FB8B0372-BDD2-8196-FA5D-E26A5F6942C2}"/>
              </a:ext>
            </a:extLst>
          </p:cNvPr>
          <p:cNvCxnSpPr/>
          <p:nvPr/>
        </p:nvCxnSpPr>
        <p:spPr>
          <a:xfrm flipV="1">
            <a:off x="650936" y="4800964"/>
            <a:ext cx="10745014" cy="20556"/>
          </a:xfrm>
          <a:prstGeom prst="straightConnector1">
            <a:avLst/>
          </a:prstGeom>
          <a:ln w="57150">
            <a:solidFill>
              <a:schemeClr val="tx1"/>
            </a:solidFill>
            <a:tailEnd type="triangle"/>
          </a:ln>
        </p:spPr>
        <p:style>
          <a:lnRef idx="3">
            <a:schemeClr val="dk1"/>
          </a:lnRef>
          <a:fillRef idx="0">
            <a:schemeClr val="dk1"/>
          </a:fillRef>
          <a:effectRef idx="2">
            <a:schemeClr val="dk1"/>
          </a:effectRef>
          <a:fontRef idx="minor">
            <a:schemeClr val="tx1"/>
          </a:fontRef>
        </p:style>
      </p:cxnSp>
      <p:pic>
        <p:nvPicPr>
          <p:cNvPr id="3" name="Picture 2" descr="image of a head with cogs turning inside">
            <a:extLst>
              <a:ext uri="{FF2B5EF4-FFF2-40B4-BE49-F238E27FC236}">
                <a16:creationId xmlns:a16="http://schemas.microsoft.com/office/drawing/2014/main" id="{6D1515EA-A5DE-9A88-A2F5-E09907D8A2A4}"/>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094769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(4) </a:t>
            </a:r>
          </a:p>
        </p:txBody>
      </p:sp>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385313" y="1416472"/>
            <a:ext cx="11217725" cy="2410885"/>
          </a:xfrm>
        </p:spPr>
        <p:txBody>
          <a:bodyPr vert="horz" lIns="0" tIns="0" rIns="0" bIns="0" rtlCol="0" anchor="t">
            <a:noAutofit/>
          </a:bodyPr>
          <a:lstStyle/>
          <a:p>
            <a:pPr algn="ctr"/>
            <a:r>
              <a:rPr lang="en-AU" sz="4800" dirty="0">
                <a:latin typeface="Arial"/>
                <a:cs typeface="Arial"/>
              </a:rPr>
              <a:t>0.5 is </a:t>
            </a:r>
            <a:r>
              <a:rPr lang="en-AU" sz="4800" b="1" dirty="0">
                <a:latin typeface="Arial"/>
                <a:cs typeface="Arial"/>
              </a:rPr>
              <a:t>twice</a:t>
            </a:r>
            <a:r>
              <a:rPr lang="en-AU" sz="4800" dirty="0">
                <a:latin typeface="Arial"/>
                <a:cs typeface="Arial"/>
              </a:rPr>
              <a:t> as large as 0.25</a:t>
            </a:r>
            <a:br>
              <a:rPr lang="en-US" sz="5400" dirty="0">
                <a:latin typeface="Arial"/>
                <a:cs typeface="Arial"/>
              </a:rPr>
            </a:br>
            <a:endParaRPr lang="en-US" sz="5400" b="1" dirty="0"/>
          </a:p>
        </p:txBody>
      </p:sp>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1586553588"/>
              </p:ext>
            </p:extLst>
          </p:nvPr>
        </p:nvGraphicFramePr>
        <p:xfrm>
          <a:off x="2553053" y="305816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29097C5B-0822-B31F-6039-50D23FFACD3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4" name="Text Placeholder 6">
            <a:extLst>
              <a:ext uri="{FF2B5EF4-FFF2-40B4-BE49-F238E27FC236}">
                <a16:creationId xmlns:a16="http://schemas.microsoft.com/office/drawing/2014/main" id="{CDE2D93B-9828-8628-4313-C7365E2F627B}"/>
              </a:ext>
            </a:extLst>
          </p:cNvPr>
          <p:cNvSpPr txBox="1">
            <a:spLocks/>
          </p:cNvSpPr>
          <p:nvPr/>
        </p:nvSpPr>
        <p:spPr>
          <a:xfrm>
            <a:off x="470073" y="5098135"/>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Communicate</a:t>
            </a:r>
            <a:r>
              <a:rPr lang="en-US" sz="4400" dirty="0">
                <a:latin typeface="Arial"/>
                <a:cs typeface="Arial"/>
              </a:rPr>
              <a:t> your </a:t>
            </a:r>
            <a:r>
              <a:rPr lang="en-US" sz="4400" b="1" dirty="0">
                <a:latin typeface="Arial"/>
                <a:cs typeface="Arial"/>
              </a:rPr>
              <a:t>reasoning</a:t>
            </a:r>
            <a:r>
              <a:rPr lang="en-US" sz="4400" dirty="0">
                <a:latin typeface="Arial"/>
                <a:cs typeface="Arial"/>
              </a:rPr>
              <a:t>. </a:t>
            </a:r>
            <a:endParaRPr lang="en-US" sz="4400" dirty="0"/>
          </a:p>
        </p:txBody>
      </p:sp>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2" name="Slide Number Placeholder 1" descr="Fractions represented (shaded) on a number line.&#10;3/4, 1/2, 5/8, 2/4, 3/10, 7/8">
            <a:extLst>
              <a:ext uri="{FF2B5EF4-FFF2-40B4-BE49-F238E27FC236}">
                <a16:creationId xmlns:a16="http://schemas.microsoft.com/office/drawing/2014/main" id="{5249BC38-5AE6-D002-8CF1-C81FA6A0F702}"/>
              </a:ext>
            </a:extLst>
          </p:cNvPr>
          <p:cNvSpPr>
            <a:spLocks noGrp="1"/>
          </p:cNvSpPr>
          <p:nvPr>
            <p:ph type="sldNum" sz="quarter" idx="12"/>
          </p:nvPr>
        </p:nvSpPr>
        <p:spPr>
          <a:xfrm>
            <a:off x="11320446" y="6589277"/>
            <a:ext cx="720000" cy="180000"/>
          </a:xfrm>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(31)</a:t>
            </a:r>
          </a:p>
        </p:txBody>
      </p:sp>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188362" y="1080077"/>
            <a:ext cx="11655638" cy="1887543"/>
          </a:xfrm>
        </p:spPr>
        <p:txBody>
          <a:bodyPr/>
          <a:lstStyle/>
          <a:p>
            <a:pPr algn="ctr"/>
            <a:r>
              <a:rPr lang="en-US" sz="3600">
                <a:latin typeface="Arial"/>
                <a:cs typeface="Arial"/>
              </a:rPr>
              <a:t>This prism has been made using </a:t>
            </a:r>
            <a:r>
              <a:rPr lang="en-US" sz="3600" dirty="0">
                <a:latin typeface="Arial"/>
                <a:cs typeface="Arial"/>
              </a:rPr>
              <a:t>cubic-</a:t>
            </a:r>
            <a:r>
              <a:rPr lang="en-US" sz="3600" dirty="0" err="1">
                <a:latin typeface="Arial"/>
                <a:cs typeface="Arial"/>
              </a:rPr>
              <a:t>centimetre</a:t>
            </a:r>
            <a:r>
              <a:rPr lang="en-US" sz="3600">
                <a:latin typeface="Arial"/>
                <a:cs typeface="Arial"/>
              </a:rPr>
              <a:t> blocks. </a:t>
            </a:r>
          </a:p>
        </p:txBody>
      </p:sp>
      <p:pic>
        <p:nvPicPr>
          <p:cNvPr id="5" name="Picture 4" descr="image of a clipboard with a pencil recording short answer responses">
            <a:extLst>
              <a:ext uri="{FF2B5EF4-FFF2-40B4-BE49-F238E27FC236}">
                <a16:creationId xmlns:a16="http://schemas.microsoft.com/office/drawing/2014/main" id="{95BB9EF2-5D8F-1356-E26C-32FA516928A6}"/>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EF2917A4-B5B8-E74D-97EA-EF203C60C874}"/>
              </a:ext>
            </a:extLst>
          </p:cNvPr>
          <p:cNvSpPr txBox="1"/>
          <p:nvPr/>
        </p:nvSpPr>
        <p:spPr>
          <a:xfrm>
            <a:off x="258503" y="2371339"/>
            <a:ext cx="6645880" cy="4144661"/>
          </a:xfrm>
          <a:prstGeom prst="rect">
            <a:avLst/>
          </a:prstGeom>
          <a:noFill/>
        </p:spPr>
        <p:txBody>
          <a:bodyPr wrap="square">
            <a:spAutoFit/>
          </a:bodyPr>
          <a:lstStyle/>
          <a:p>
            <a:pPr algn="ctr">
              <a:lnSpc>
                <a:spcPct val="150000"/>
              </a:lnSpc>
            </a:pPr>
            <a:r>
              <a:rPr lang="en-US" sz="3600" b="1">
                <a:cs typeface="Arial"/>
              </a:rPr>
              <a:t>Describe</a:t>
            </a:r>
            <a:r>
              <a:rPr lang="en-US" sz="3600">
                <a:cs typeface="Arial"/>
              </a:rPr>
              <a:t> this prism using the </a:t>
            </a:r>
            <a:r>
              <a:rPr lang="en-US" sz="3600" dirty="0">
                <a:cs typeface="Arial"/>
              </a:rPr>
              <a:t>term</a:t>
            </a:r>
            <a:r>
              <a:rPr lang="en-US" sz="3600">
                <a:cs typeface="Arial"/>
              </a:rPr>
              <a:t> </a:t>
            </a:r>
            <a:r>
              <a:rPr lang="en-US" sz="3600" b="1">
                <a:cs typeface="Arial"/>
              </a:rPr>
              <a:t>layers</a:t>
            </a:r>
            <a:r>
              <a:rPr lang="en-US" sz="3600">
                <a:cs typeface="Arial"/>
              </a:rPr>
              <a:t>. </a:t>
            </a:r>
          </a:p>
          <a:p>
            <a:pPr algn="ctr">
              <a:lnSpc>
                <a:spcPct val="150000"/>
              </a:lnSpc>
            </a:pPr>
            <a:endParaRPr lang="en-US" sz="3600">
              <a:cs typeface="Arial"/>
            </a:endParaRPr>
          </a:p>
          <a:p>
            <a:pPr algn="ctr">
              <a:lnSpc>
                <a:spcPct val="150000"/>
              </a:lnSpc>
            </a:pPr>
            <a:r>
              <a:rPr lang="en-US" sz="3600">
                <a:latin typeface="Arial"/>
                <a:cs typeface="Arial"/>
              </a:rPr>
              <a:t>What is the </a:t>
            </a:r>
            <a:r>
              <a:rPr lang="en-US" sz="3600" b="1">
                <a:latin typeface="Arial"/>
                <a:cs typeface="Arial"/>
              </a:rPr>
              <a:t>volume</a:t>
            </a:r>
            <a:r>
              <a:rPr lang="en-US" sz="3600">
                <a:latin typeface="Arial"/>
                <a:cs typeface="Arial"/>
              </a:rPr>
              <a:t> of this prism in cubic centimetres?</a:t>
            </a:r>
          </a:p>
        </p:txBody>
      </p:sp>
      <p:pic>
        <p:nvPicPr>
          <p:cNvPr id="7" name="Picture 6">
            <a:extLst>
              <a:ext uri="{FF2B5EF4-FFF2-40B4-BE49-F238E27FC236}">
                <a16:creationId xmlns:a16="http://schemas.microsoft.com/office/drawing/2014/main" id="{59A40D42-6E05-C8D3-37A8-215226A67E6C}"/>
              </a:ext>
            </a:extLst>
          </p:cNvPr>
          <p:cNvPicPr>
            <a:picLocks noChangeAspect="1"/>
          </p:cNvPicPr>
          <p:nvPr/>
        </p:nvPicPr>
        <p:blipFill>
          <a:blip r:embed="rId4"/>
          <a:stretch>
            <a:fillRect/>
          </a:stretch>
        </p:blipFill>
        <p:spPr>
          <a:xfrm>
            <a:off x="7341569" y="2683539"/>
            <a:ext cx="3688907" cy="3094384"/>
          </a:xfrm>
          <a:prstGeom prst="rect">
            <a:avLst/>
          </a:prstGeom>
          <a:effectLst>
            <a:outerShdw blurRad="50800" dist="50800" dir="5400000" algn="ctr" rotWithShape="0">
              <a:schemeClr val="tx1"/>
            </a:outerShdw>
          </a:effectLst>
        </p:spPr>
      </p:pic>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(26) </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21E9C82F-FE72-F379-EE54-EC40C9DE00C1}"/>
                  </a:ext>
                </a:extLst>
              </p:cNvPr>
              <p:cNvSpPr>
                <a:spLocks noGrp="1"/>
              </p:cNvSpPr>
              <p:nvPr>
                <p:ph type="pic" sz="quarter" idx="21"/>
              </p:nvPr>
            </p:nvSpPr>
            <p:spPr>
              <a:xfrm>
                <a:off x="359999" y="2225040"/>
                <a:ext cx="11210840" cy="3587166"/>
              </a:xfrm>
            </p:spPr>
            <p:txBody>
              <a:bodyPr/>
              <a:lstStyle/>
              <a:p>
                <a:pPr algn="ctr"/>
                <a:r>
                  <a:rPr lang="en-AU" sz="4000" dirty="0"/>
                  <a:t>Write these in order from </a:t>
                </a:r>
                <a:r>
                  <a:rPr lang="en-AU" sz="4000" b="1" dirty="0"/>
                  <a:t>smallest</a:t>
                </a:r>
                <a:r>
                  <a:rPr lang="en-AU" sz="4000" dirty="0"/>
                  <a:t> to </a:t>
                </a:r>
                <a:r>
                  <a:rPr lang="en-AU" sz="4000" b="1" dirty="0"/>
                  <a:t>largest</a:t>
                </a:r>
                <a:r>
                  <a:rPr lang="en-AU" sz="4000" dirty="0"/>
                  <a:t>: </a:t>
                </a:r>
              </a:p>
              <a:p>
                <a:pPr algn="ctr"/>
                <a:r>
                  <a:rPr lang="en-AU" sz="7200" dirty="0"/>
                  <a:t>0.5,  </a:t>
                </a:r>
                <a14:m>
                  <m:oMath xmlns:m="http://schemas.openxmlformats.org/officeDocument/2006/math">
                    <m:f>
                      <m:fPr>
                        <m:ctrlPr>
                          <a:rPr lang="en-AU" sz="7200" i="1" smtClean="0">
                            <a:latin typeface="Cambria Math" panose="02040503050406030204" pitchFamily="18" charset="0"/>
                          </a:rPr>
                        </m:ctrlPr>
                      </m:fPr>
                      <m:num>
                        <m:r>
                          <a:rPr lang="en-AU" sz="7200" b="0" i="1" smtClean="0">
                            <a:latin typeface="Cambria Math" panose="02040503050406030204" pitchFamily="18" charset="0"/>
                          </a:rPr>
                          <m:t>1</m:t>
                        </m:r>
                      </m:num>
                      <m:den>
                        <m:r>
                          <a:rPr lang="en-AU" sz="7200" b="0" i="1" smtClean="0">
                            <a:latin typeface="Cambria Math" panose="02040503050406030204" pitchFamily="18" charset="0"/>
                          </a:rPr>
                          <m:t>4</m:t>
                        </m:r>
                      </m:den>
                    </m:f>
                  </m:oMath>
                </a14:m>
                <a:r>
                  <a:rPr lang="en-AU" sz="7200" dirty="0"/>
                  <a:t>,  0.75</a:t>
                </a:r>
                <a:endParaRPr lang="en-US" sz="7200" dirty="0">
                  <a:latin typeface="Arial"/>
                  <a:cs typeface="Arial"/>
                </a:endParaRPr>
              </a:p>
            </p:txBody>
          </p:sp>
        </mc:Choice>
        <mc:Fallback xmlns="">
          <p:sp>
            <p:nvSpPr>
              <p:cNvPr id="11" name="Picture Placeholder 10">
                <a:extLst>
                  <a:ext uri="{FF2B5EF4-FFF2-40B4-BE49-F238E27FC236}">
                    <a16:creationId xmlns:a16="http://schemas.microsoft.com/office/drawing/2014/main" id="{21E9C82F-FE72-F379-EE54-EC40C9DE00C1}"/>
                  </a:ext>
                </a:extLst>
              </p:cNvPr>
              <p:cNvSpPr>
                <a:spLocks noGrp="1" noRot="1" noChangeAspect="1" noMove="1" noResize="1" noEditPoints="1" noAdjustHandles="1" noChangeArrowheads="1" noChangeShapeType="1" noTextEdit="1"/>
              </p:cNvSpPr>
              <p:nvPr>
                <p:ph type="pic" sz="quarter" idx="21"/>
              </p:nvPr>
            </p:nvSpPr>
            <p:spPr>
              <a:xfrm>
                <a:off x="359999" y="2225040"/>
                <a:ext cx="11210840" cy="3587166"/>
              </a:xfrm>
              <a:blipFill>
                <a:blip r:embed="rId3"/>
                <a:stretch>
                  <a:fillRect/>
                </a:stretch>
              </a:blipFill>
            </p:spPr>
            <p:txBody>
              <a:bodyPr/>
              <a:lstStyle/>
              <a:p>
                <a:r>
                  <a:rPr lang="en-AU">
                    <a:noFill/>
                  </a:rPr>
                  <a:t> </a:t>
                </a:r>
              </a:p>
            </p:txBody>
          </p:sp>
        </mc:Fallback>
      </mc:AlternateContent>
      <p:pic>
        <p:nvPicPr>
          <p:cNvPr id="6" name="Picture 5" descr="image of a clipboard with a pencil recording short answer responses">
            <a:extLst>
              <a:ext uri="{FF2B5EF4-FFF2-40B4-BE49-F238E27FC236}">
                <a16:creationId xmlns:a16="http://schemas.microsoft.com/office/drawing/2014/main" id="{A9F3431B-545B-ECD1-F62F-EC0981F0CA3F}"/>
              </a:ext>
            </a:extLst>
          </p:cNvPr>
          <p:cNvPicPr>
            <a:picLocks noChangeAspect="1"/>
          </p:cNvPicPr>
          <p:nvPr/>
        </p:nvPicPr>
        <p:blipFill>
          <a:blip r:embed="rId4"/>
          <a:stretch>
            <a:fillRect/>
          </a:stretch>
        </p:blipFill>
        <p:spPr>
          <a:xfrm>
            <a:off x="11030476" y="268723"/>
            <a:ext cx="915500" cy="915500"/>
          </a:xfrm>
          <a:prstGeom prst="rect">
            <a:avLst/>
          </a:prstGeom>
        </p:spPr>
      </p:pic>
      <p:sp>
        <p:nvSpPr>
          <p:cNvPr id="8" name="Rectangle 1">
            <a:extLst>
              <a:ext uri="{FF2B5EF4-FFF2-40B4-BE49-F238E27FC236}">
                <a16:creationId xmlns:a16="http://schemas.microsoft.com/office/drawing/2014/main" id="{8D73BCA5-EB99-5FBA-61EC-C685AF9795EE}"/>
              </a:ext>
            </a:extLst>
          </p:cNvPr>
          <p:cNvSpPr>
            <a:spLocks noChangeArrowheads="1"/>
          </p:cNvSpPr>
          <p:nvPr/>
        </p:nvSpPr>
        <p:spPr bwMode="auto">
          <a:xfrm>
            <a:off x="-10192218" y="996878"/>
            <a:ext cx="265161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(33)</a:t>
            </a:r>
          </a:p>
        </p:txBody>
      </p:sp>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392197" y="1431596"/>
            <a:ext cx="11178643" cy="4234417"/>
          </a:xfrm>
        </p:spPr>
        <p:txBody>
          <a:bodyPr/>
          <a:lstStyle/>
          <a:p>
            <a:pPr algn="ctr"/>
            <a:r>
              <a:rPr lang="en-AU" sz="4400" dirty="0">
                <a:latin typeface="Arial"/>
                <a:cs typeface="Arial"/>
              </a:rPr>
              <a:t>Jay has </a:t>
            </a:r>
            <a:r>
              <a:rPr lang="en-AU" sz="4400" b="1" dirty="0">
                <a:latin typeface="Arial"/>
                <a:cs typeface="Arial"/>
              </a:rPr>
              <a:t>$5.00 </a:t>
            </a:r>
            <a:r>
              <a:rPr lang="en-AU" sz="4400" dirty="0">
                <a:latin typeface="Arial"/>
                <a:cs typeface="Arial"/>
              </a:rPr>
              <a:t>for the canteen. Sushi costs </a:t>
            </a:r>
            <a:r>
              <a:rPr lang="en-AU" sz="4400" b="1" dirty="0">
                <a:latin typeface="Arial"/>
                <a:cs typeface="Arial"/>
              </a:rPr>
              <a:t>$2.50</a:t>
            </a:r>
            <a:r>
              <a:rPr lang="en-AU" sz="4400" dirty="0">
                <a:latin typeface="Arial"/>
                <a:cs typeface="Arial"/>
              </a:rPr>
              <a:t>,  a smoothie costs </a:t>
            </a:r>
            <a:r>
              <a:rPr lang="en-AU" sz="4400" b="1" dirty="0">
                <a:latin typeface="Arial"/>
                <a:cs typeface="Arial"/>
              </a:rPr>
              <a:t>$2.20 </a:t>
            </a:r>
            <a:r>
              <a:rPr lang="en-AU" sz="4400" dirty="0">
                <a:latin typeface="Arial"/>
                <a:cs typeface="Arial"/>
              </a:rPr>
              <a:t>and baklava costs </a:t>
            </a:r>
            <a:r>
              <a:rPr lang="en-AU" sz="4400" b="1" dirty="0">
                <a:latin typeface="Arial"/>
                <a:cs typeface="Arial"/>
              </a:rPr>
              <a:t>50 cents</a:t>
            </a:r>
            <a:r>
              <a:rPr lang="en-AU" sz="4400" dirty="0">
                <a:latin typeface="Arial"/>
                <a:cs typeface="Arial"/>
              </a:rPr>
              <a:t>. </a:t>
            </a:r>
            <a:r>
              <a:rPr lang="en-AU" sz="4400" b="1" dirty="0">
                <a:latin typeface="Arial"/>
                <a:cs typeface="Arial"/>
              </a:rPr>
              <a:t>Does he have enough money </a:t>
            </a:r>
            <a:r>
              <a:rPr lang="en-AU" sz="4400" dirty="0">
                <a:latin typeface="Arial"/>
                <a:cs typeface="Arial"/>
              </a:rPr>
              <a:t>to buy them all?</a:t>
            </a:r>
          </a:p>
          <a:p>
            <a:pPr algn="ctr"/>
            <a:r>
              <a:rPr lang="en-AU" sz="4400" b="1" dirty="0">
                <a:latin typeface="Arial"/>
                <a:cs typeface="Arial"/>
              </a:rPr>
              <a:t>Explain your thinking.</a:t>
            </a:r>
            <a:endParaRPr lang="en-US" sz="4400" b="1"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A2EF237A-5FBF-BE77-1ED8-2DA35AFFC1E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(34)</a:t>
            </a:r>
          </a:p>
        </p:txBody>
      </p:sp>
      <p:sp>
        <p:nvSpPr>
          <p:cNvPr id="8" name="Rectangle 1">
            <a:extLst>
              <a:ext uri="{FF2B5EF4-FFF2-40B4-BE49-F238E27FC236}">
                <a16:creationId xmlns:a16="http://schemas.microsoft.com/office/drawing/2014/main" id="{5AC34F0C-28B1-3022-A067-304B23CEDBC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14" name="TextBox 13">
            <a:extLst>
              <a:ext uri="{FF2B5EF4-FFF2-40B4-BE49-F238E27FC236}">
                <a16:creationId xmlns:a16="http://schemas.microsoft.com/office/drawing/2014/main" id="{51BCFBB5-7824-F17B-5948-CE18B7EDA9D7}"/>
              </a:ext>
            </a:extLst>
          </p:cNvPr>
          <p:cNvSpPr txBox="1"/>
          <p:nvPr/>
        </p:nvSpPr>
        <p:spPr>
          <a:xfrm>
            <a:off x="7598352" y="3069824"/>
            <a:ext cx="1385454" cy="717341"/>
          </a:xfrm>
          <a:prstGeom prst="rect">
            <a:avLst/>
          </a:prstGeom>
          <a:noFill/>
        </p:spPr>
        <p:txBody>
          <a:bodyPr wrap="square" lIns="0" tIns="0" rIns="0" bIns="0" rtlCol="0">
            <a:noAutofit/>
          </a:bodyPr>
          <a:lstStyle/>
          <a:p>
            <a:pPr algn="l"/>
            <a:r>
              <a:rPr lang="en-AU" b="1">
                <a:solidFill>
                  <a:schemeClr val="bg1"/>
                </a:solidFill>
              </a:rPr>
              <a:t>Shape B</a:t>
            </a:r>
          </a:p>
        </p:txBody>
      </p:sp>
      <p:sp>
        <p:nvSpPr>
          <p:cNvPr id="10" name="TextBox 9">
            <a:extLst>
              <a:ext uri="{FF2B5EF4-FFF2-40B4-BE49-F238E27FC236}">
                <a16:creationId xmlns:a16="http://schemas.microsoft.com/office/drawing/2014/main" id="{6F141943-82E3-9EF3-4E0A-961E3AE7383C}"/>
              </a:ext>
            </a:extLst>
          </p:cNvPr>
          <p:cNvSpPr txBox="1"/>
          <p:nvPr/>
        </p:nvSpPr>
        <p:spPr>
          <a:xfrm>
            <a:off x="451691" y="1265600"/>
            <a:ext cx="10672309" cy="1446550"/>
          </a:xfrm>
          <a:prstGeom prst="rect">
            <a:avLst/>
          </a:prstGeom>
          <a:noFill/>
        </p:spPr>
        <p:txBody>
          <a:bodyPr wrap="square">
            <a:spAutoFit/>
          </a:bodyPr>
          <a:lstStyle/>
          <a:p>
            <a:pPr algn="ctr"/>
            <a:r>
              <a:rPr lang="en-AU" sz="4400" dirty="0"/>
              <a:t>Describe how the triangles have been rotated to create this design.</a:t>
            </a:r>
          </a:p>
        </p:txBody>
      </p:sp>
      <p:pic>
        <p:nvPicPr>
          <p:cNvPr id="4" name="Picture 3" descr="image of a clipboard with a pencil recording short answer responses">
            <a:extLst>
              <a:ext uri="{FF2B5EF4-FFF2-40B4-BE49-F238E27FC236}">
                <a16:creationId xmlns:a16="http://schemas.microsoft.com/office/drawing/2014/main" id="{539E078C-9C47-DE07-91D4-DB47EA04B8A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trapezium made of 5 tessellated triangles. ">
            <a:extLst>
              <a:ext uri="{FF2B5EF4-FFF2-40B4-BE49-F238E27FC236}">
                <a16:creationId xmlns:a16="http://schemas.microsoft.com/office/drawing/2014/main" id="{8958A5C4-D6E7-9230-A8E6-F00F3BED3BDE}"/>
              </a:ext>
            </a:extLst>
          </p:cNvPr>
          <p:cNvPicPr>
            <a:picLocks noChangeAspect="1"/>
          </p:cNvPicPr>
          <p:nvPr/>
        </p:nvPicPr>
        <p:blipFill>
          <a:blip r:embed="rId4"/>
          <a:stretch>
            <a:fillRect/>
          </a:stretch>
        </p:blipFill>
        <p:spPr>
          <a:xfrm>
            <a:off x="3533467" y="3069824"/>
            <a:ext cx="5086395" cy="2678439"/>
          </a:xfrm>
          <a:prstGeom prst="rect">
            <a:avLst/>
          </a:prstGeom>
          <a:effectLst>
            <a:outerShdw blurRad="50800" dist="50800" dir="5400000" algn="ctr" rotWithShape="0">
              <a:schemeClr val="tx1"/>
            </a:outerShdw>
          </a:effectLst>
        </p:spPr>
      </p:pic>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59</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8 – decimal fraction chains</a:t>
            </a:r>
          </a:p>
        </p:txBody>
      </p:sp>
      <p:sp>
        <p:nvSpPr>
          <p:cNvPr id="4" name="Rectangle 3">
            <a:extLst>
              <a:ext uri="{FF2B5EF4-FFF2-40B4-BE49-F238E27FC236}">
                <a16:creationId xmlns:a16="http://schemas.microsoft.com/office/drawing/2014/main" id="{F429BB3E-7CFB-2B38-03AE-863DCB374359}"/>
              </a:ext>
            </a:extLst>
          </p:cNvPr>
          <p:cNvSpPr>
            <a:spLocks noChangeArrowheads="1"/>
          </p:cNvSpPr>
          <p:nvPr/>
        </p:nvSpPr>
        <p:spPr bwMode="auto">
          <a:xfrm>
            <a:off x="4943937" y="1274321"/>
            <a:ext cx="6901350" cy="465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AU" altLang="en-US" sz="2000" b="1" i="0" u="none" strike="noStrike" kern="1200" cap="none" spc="0" normalizeH="0" baseline="0" noProof="0" dirty="0">
                <a:ln>
                  <a:noFill/>
                </a:ln>
                <a:solidFill>
                  <a:srgbClr val="22272B"/>
                </a:solidFill>
                <a:effectLst/>
                <a:uLnTx/>
                <a:uFillTx/>
                <a:latin typeface="Arial"/>
                <a:ea typeface="Calibri"/>
                <a:cs typeface="Arial"/>
              </a:rPr>
              <a:t>Aim of the game</a:t>
            </a:r>
          </a:p>
          <a:p>
            <a:pPr marL="0" marR="0" lvl="0" indent="0" algn="l" defTabSz="914400" rtl="0" eaLnBrk="1" fontAlgn="auto" latinLnBrk="0" hangingPunct="1">
              <a:lnSpc>
                <a:spcPct val="150000"/>
              </a:lnSpc>
              <a:spcBef>
                <a:spcPct val="0"/>
              </a:spcBef>
              <a:spcAft>
                <a:spcPct val="0"/>
              </a:spcAft>
              <a:buClrTx/>
              <a:buSzTx/>
              <a:buFontTx/>
              <a:buNone/>
              <a:tabLst/>
              <a:defRPr/>
            </a:pPr>
            <a:r>
              <a:rPr kumimoji="0" lang="en-AU" altLang="en-US" sz="2000" b="0" i="0" u="none" strike="noStrike" kern="1200" cap="none" spc="0" normalizeH="0" baseline="0" noProof="0" dirty="0">
                <a:ln>
                  <a:noFill/>
                </a:ln>
                <a:solidFill>
                  <a:srgbClr val="22272B"/>
                </a:solidFill>
                <a:effectLst/>
                <a:uLnTx/>
                <a:uFillTx/>
                <a:latin typeface="Arial"/>
                <a:ea typeface="+mn-ea"/>
                <a:cs typeface="Arial"/>
              </a:rPr>
              <a:t>To identify equivalent fractions and decimals.</a:t>
            </a:r>
            <a:endParaRPr kumimoji="0" lang="en-AU" altLang="en-US" sz="20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50000"/>
              </a:lnSpc>
              <a:spcBef>
                <a:spcPct val="0"/>
              </a:spcBef>
              <a:spcAft>
                <a:spcPct val="0"/>
              </a:spcAft>
              <a:buClrTx/>
              <a:buSzTx/>
              <a:buFontTx/>
              <a:buNone/>
              <a:tabLst/>
              <a:defRPr/>
            </a:pPr>
            <a:endParaRPr kumimoji="0" lang="en-AU" altLang="en-US" sz="2000" b="0" i="0" u="none" strike="noStrike" kern="1200" cap="none" spc="0" normalizeH="0" baseline="0" noProof="0" dirty="0">
              <a:ln>
                <a:noFill/>
              </a:ln>
              <a:solidFill>
                <a:srgbClr val="22272B"/>
              </a:solidFill>
              <a:effectLst/>
              <a:uLnTx/>
              <a:uFillTx/>
              <a:latin typeface="Arial"/>
              <a:ea typeface="Calibri"/>
              <a:cs typeface="Arial"/>
            </a:endParaRPr>
          </a:p>
          <a:p>
            <a:pPr marL="0" marR="0" lvl="0" indent="0" algn="l" defTabSz="914400" rtl="0" eaLnBrk="1" fontAlgn="auto" latinLnBrk="0" hangingPunct="1">
              <a:lnSpc>
                <a:spcPct val="150000"/>
              </a:lnSpc>
              <a:spcBef>
                <a:spcPct val="0"/>
              </a:spcBef>
              <a:spcAft>
                <a:spcPct val="0"/>
              </a:spcAft>
              <a:buClrTx/>
              <a:buSzTx/>
              <a:buFontTx/>
              <a:buNone/>
              <a:tabLst/>
              <a:defRPr/>
            </a:pPr>
            <a:r>
              <a:rPr kumimoji="0" lang="en-AU" altLang="en-US" sz="2000" b="1" i="0" u="none" strike="noStrike" kern="1200" cap="none" spc="0" normalizeH="0" baseline="0" noProof="0" dirty="0">
                <a:ln>
                  <a:noFill/>
                </a:ln>
                <a:solidFill>
                  <a:srgbClr val="22272B"/>
                </a:solidFill>
                <a:effectLst/>
                <a:uLnTx/>
                <a:uFillTx/>
                <a:latin typeface="Arial"/>
                <a:ea typeface="Calibri"/>
                <a:cs typeface="Arial"/>
              </a:rPr>
              <a:t>Rules:</a:t>
            </a:r>
            <a:endParaRPr kumimoji="0" lang="en-AU" altLang="en-US" sz="2000" b="1" i="0" u="none" strike="noStrike" kern="1200" cap="none" spc="0" normalizeH="0" baseline="0" noProof="0" dirty="0">
              <a:ln>
                <a:noFill/>
              </a:ln>
              <a:solidFill>
                <a:srgbClr val="22272B"/>
              </a:solidFill>
              <a:effectLst/>
              <a:uLnTx/>
              <a:uFillTx/>
              <a:latin typeface="Arial" panose="020B0604020202020204" pitchFamily="34" charset="0"/>
              <a:ea typeface="Calibri"/>
              <a:cs typeface="Arial" panose="020B0604020202020204" pitchFamily="34" charset="0"/>
            </a:endParaRPr>
          </a:p>
          <a:p>
            <a:pPr marL="285750" marR="0" lvl="0" indent="-285750" algn="l" defTabSz="914400" rtl="0" eaLnBrk="1" fontAlgn="auto" latinLnBrk="0" hangingPunct="1">
              <a:lnSpc>
                <a:spcPct val="150000"/>
              </a:lnSpc>
              <a:spcBef>
                <a:spcPct val="0"/>
              </a:spcBef>
              <a:spcAft>
                <a:spcPct val="0"/>
              </a:spcAft>
              <a:buClrTx/>
              <a:buSzTx/>
              <a:buFont typeface="Arial"/>
              <a:buChar char="•"/>
              <a:tabLst/>
              <a:defRPr/>
            </a:pPr>
            <a:r>
              <a:rPr kumimoji="0" lang="en-AU" altLang="en-US" sz="2000" b="0" i="0" u="none" strike="noStrike" kern="1200" cap="none" spc="0" normalizeH="0" baseline="0" noProof="0" dirty="0">
                <a:ln>
                  <a:noFill/>
                </a:ln>
                <a:solidFill>
                  <a:srgbClr val="22272B"/>
                </a:solidFill>
                <a:effectLst/>
                <a:uLnTx/>
                <a:uFillTx/>
                <a:latin typeface="Arial"/>
                <a:ea typeface="Calibri"/>
                <a:cs typeface="Arial"/>
              </a:rPr>
              <a:t>work with your partner to create one long domino chain or 2 smaller chains</a:t>
            </a:r>
          </a:p>
          <a:p>
            <a:pPr marL="285750" marR="0" lvl="0" indent="-285750" algn="l" defTabSz="914400" rtl="0" eaLnBrk="1" fontAlgn="auto" latinLnBrk="0" hangingPunct="1">
              <a:lnSpc>
                <a:spcPct val="150000"/>
              </a:lnSpc>
              <a:spcBef>
                <a:spcPct val="0"/>
              </a:spcBef>
              <a:spcAft>
                <a:spcPct val="0"/>
              </a:spcAft>
              <a:buClrTx/>
              <a:buSzTx/>
              <a:buFont typeface="Arial"/>
              <a:buChar char="•"/>
              <a:tabLst/>
              <a:defRPr/>
            </a:pPr>
            <a:r>
              <a:rPr kumimoji="0" lang="en-AU" altLang="en-US" sz="2000" b="0" i="0" u="none" strike="noStrike" kern="1200" cap="none" spc="0" normalizeH="0" baseline="0" noProof="0" dirty="0">
                <a:ln>
                  <a:noFill/>
                </a:ln>
                <a:solidFill>
                  <a:srgbClr val="22272B"/>
                </a:solidFill>
                <a:effectLst/>
                <a:uLnTx/>
                <a:uFillTx/>
                <a:latin typeface="Arial"/>
                <a:ea typeface="Calibri"/>
                <a:cs typeface="Arial"/>
              </a:rPr>
              <a:t>you must match the dominos, so the touching ends have equal values</a:t>
            </a:r>
          </a:p>
          <a:p>
            <a:pPr marL="285750" marR="0" lvl="0" indent="-285750" algn="l" defTabSz="914400" rtl="0" eaLnBrk="1" fontAlgn="auto" latinLnBrk="0" hangingPunct="1">
              <a:lnSpc>
                <a:spcPct val="150000"/>
              </a:lnSpc>
              <a:spcBef>
                <a:spcPct val="0"/>
              </a:spcBef>
              <a:spcAft>
                <a:spcPct val="0"/>
              </a:spcAft>
              <a:buClrTx/>
              <a:buSzTx/>
              <a:buFont typeface="Arial"/>
              <a:buChar char="•"/>
              <a:tabLst/>
              <a:defRPr/>
            </a:pPr>
            <a:r>
              <a:rPr kumimoji="0" lang="en-AU" altLang="en-US" sz="2000" b="0" i="0" u="none" strike="noStrike" kern="1200" cap="none" spc="0" normalizeH="0" baseline="0" noProof="0" dirty="0">
                <a:ln>
                  <a:noFill/>
                </a:ln>
                <a:solidFill>
                  <a:srgbClr val="22272B"/>
                </a:solidFill>
                <a:effectLst/>
                <a:uLnTx/>
                <a:uFillTx/>
                <a:latin typeface="Arial"/>
                <a:ea typeface="Calibri"/>
                <a:cs typeface="Arial"/>
              </a:rPr>
              <a:t>take turns to add a domino to the chain</a:t>
            </a:r>
          </a:p>
          <a:p>
            <a:pPr marL="285750" marR="0" lvl="0" indent="-285750" algn="l" defTabSz="914400" rtl="0" eaLnBrk="1" fontAlgn="auto" latinLnBrk="0" hangingPunct="1">
              <a:lnSpc>
                <a:spcPct val="150000"/>
              </a:lnSpc>
              <a:spcBef>
                <a:spcPct val="0"/>
              </a:spcBef>
              <a:spcAft>
                <a:spcPct val="0"/>
              </a:spcAft>
              <a:buClrTx/>
              <a:buSzTx/>
              <a:buFont typeface="Arial"/>
              <a:buChar char="•"/>
              <a:tabLst/>
              <a:defRPr/>
            </a:pPr>
            <a:r>
              <a:rPr kumimoji="0" lang="en-AU" altLang="en-US" sz="2000" b="0" i="0" u="none" strike="noStrike" kern="1200" cap="none" spc="0" normalizeH="0" baseline="0" noProof="0" dirty="0">
                <a:ln>
                  <a:noFill/>
                </a:ln>
                <a:solidFill>
                  <a:srgbClr val="22272B"/>
                </a:solidFill>
                <a:effectLst/>
                <a:uLnTx/>
                <a:uFillTx/>
                <a:latin typeface="Arial"/>
                <a:ea typeface="Calibri"/>
                <a:cs typeface="Arial"/>
              </a:rPr>
              <a:t>discuss your decision of where to place the domino</a:t>
            </a:r>
            <a:endParaRPr kumimoji="0" lang="en-AU" altLang="en-US" sz="2000" b="0" i="0" u="none" strike="noStrike" kern="1200" cap="none" spc="0" normalizeH="0" baseline="0" noProof="0" dirty="0">
              <a:ln>
                <a:noFill/>
              </a:ln>
              <a:solidFill>
                <a:srgbClr val="22272B"/>
              </a:solidFill>
              <a:effectLst/>
              <a:uLnTx/>
              <a:uFillTx/>
              <a:latin typeface="Arial" panose="020B0604020202020204" pitchFamily="34" charset="0"/>
              <a:ea typeface="Calibri"/>
              <a:cs typeface="Arial" panose="020B0604020202020204" pitchFamily="34" charset="0"/>
            </a:endParaRPr>
          </a:p>
        </p:txBody>
      </p:sp>
      <p:pic>
        <p:nvPicPr>
          <p:cNvPr id="8" name="Picture 7">
            <a:extLst>
              <a:ext uri="{FF2B5EF4-FFF2-40B4-BE49-F238E27FC236}">
                <a16:creationId xmlns:a16="http://schemas.microsoft.com/office/drawing/2014/main" id="{C0E8E588-A228-5766-7681-9D0CC6B47CC4}"/>
              </a:ext>
              <a:ext uri="{C183D7F6-B498-43B3-948B-1728B52AA6E4}">
                <adec:decorative xmlns:adec="http://schemas.microsoft.com/office/drawing/2017/decorative" val="1"/>
              </a:ext>
            </a:extLst>
          </p:cNvPr>
          <p:cNvPicPr>
            <a:picLocks noChangeAspect="1"/>
          </p:cNvPicPr>
          <p:nvPr/>
        </p:nvPicPr>
        <p:blipFill>
          <a:blip r:embed="rId3"/>
          <a:srcRect r="333" b="-14035"/>
          <a:stretch>
            <a:fillRect/>
          </a:stretch>
        </p:blipFill>
        <p:spPr>
          <a:xfrm>
            <a:off x="634675" y="2174684"/>
            <a:ext cx="3730848" cy="3258552"/>
          </a:xfrm>
          <a:prstGeom prst="rect">
            <a:avLst/>
          </a:prstGeom>
        </p:spPr>
      </p:pic>
      <p:pic>
        <p:nvPicPr>
          <p:cNvPr id="5" name="Picture 4" descr="image of a head with cogs turning inside">
            <a:extLst>
              <a:ext uri="{FF2B5EF4-FFF2-40B4-BE49-F238E27FC236}">
                <a16:creationId xmlns:a16="http://schemas.microsoft.com/office/drawing/2014/main" id="{AE7BE727-F503-36B5-A57C-91D29951BC32}"/>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266973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dirty="0"/>
              <a:t>Multiple choice </a:t>
            </a:r>
            <a:r>
              <a:rPr lang="en-US" dirty="0">
                <a:solidFill>
                  <a:schemeClr val="bg1"/>
                </a:solidFill>
              </a:rPr>
              <a:t>(1)</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dirty="0"/>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dirty="0"/>
              <a:t>Multiple choice </a:t>
            </a:r>
            <a:r>
              <a:rPr lang="en-US" dirty="0">
                <a:solidFill>
                  <a:schemeClr val="bg1"/>
                </a:solidFill>
              </a:rPr>
              <a:t>(2)</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8" name="Content Placeholder 3">
            <a:extLst>
              <a:ext uri="{FF2B5EF4-FFF2-40B4-BE49-F238E27FC236}">
                <a16:creationId xmlns:a16="http://schemas.microsoft.com/office/drawing/2014/main" id="{EAF9BCC2-8518-393B-C370-9042DC181375}"/>
              </a:ext>
            </a:extLst>
          </p:cNvPr>
          <p:cNvSpPr>
            <a:spLocks noGrp="1"/>
          </p:cNvSpPr>
          <p:nvPr>
            <p:ph idx="1"/>
          </p:nvPr>
        </p:nvSpPr>
        <p:spPr>
          <a:xfrm>
            <a:off x="360000" y="3428999"/>
            <a:ext cx="11484000" cy="2927351"/>
          </a:xfrm>
        </p:spPr>
        <p:txBody>
          <a:bodyPr/>
          <a:lstStyle/>
          <a:p>
            <a:pPr>
              <a:lnSpc>
                <a:spcPct val="150000"/>
              </a:lnSpc>
              <a:spcBef>
                <a:spcPts val="1200"/>
              </a:spcBef>
              <a:spcAft>
                <a:spcPts val="600"/>
              </a:spcAft>
            </a:pPr>
            <a:r>
              <a:rPr lang="en-AU" sz="1200" u="sng" dirty="0">
                <a:solidFill>
                  <a:srgbClr val="2F5496"/>
                </a:solidFill>
                <a:effectLst/>
                <a:ea typeface="Calibri" panose="020F0502020204030204" pitchFamily="34" charset="0"/>
                <a:hlinkClick r:id="rId6"/>
              </a:rPr>
              <a:t>Mathematics K–10 Syllabus</a:t>
            </a:r>
            <a:r>
              <a:rPr lang="en-AU" sz="1200" dirty="0">
                <a:effectLst/>
                <a:ea typeface="Calibri" panose="020F0502020204030204" pitchFamily="34" charset="0"/>
              </a:rPr>
              <a:t> © NSW Education Standards Authority (NESA) for and on behalf of the Crown in right of the State of New South Wales, 2022.</a:t>
            </a:r>
          </a:p>
          <a:p>
            <a:pPr>
              <a:lnSpc>
                <a:spcPct val="150000"/>
              </a:lnSpc>
              <a:spcBef>
                <a:spcPts val="1200"/>
              </a:spcBef>
              <a:spcAft>
                <a:spcPts val="600"/>
              </a:spcAft>
            </a:pPr>
            <a:r>
              <a:rPr lang="en-AU" sz="1200" dirty="0">
                <a:effectLst/>
                <a:ea typeface="Arial" panose="020B0604020202020204" pitchFamily="34" charset="0"/>
              </a:rPr>
              <a:t>AAMT (The Australian Association of Mathematics Teachers) (n.d.)</a:t>
            </a:r>
            <a:r>
              <a:rPr lang="en-AU" sz="1200" i="1" dirty="0">
                <a:effectLst/>
                <a:ea typeface="Arial" panose="020B0604020202020204" pitchFamily="34" charset="0"/>
              </a:rPr>
              <a:t> </a:t>
            </a:r>
            <a:r>
              <a:rPr lang="en-AU" sz="1200" i="1" u="sng" dirty="0">
                <a:solidFill>
                  <a:srgbClr val="2F5496"/>
                </a:solidFill>
                <a:effectLst/>
                <a:ea typeface="Arial" panose="020B0604020202020204" pitchFamily="34" charset="0"/>
                <a:hlinkClick r:id="rId7"/>
              </a:rPr>
              <a:t>Partial Arrays</a:t>
            </a:r>
            <a:r>
              <a:rPr lang="en-AU" sz="1200" dirty="0">
                <a:effectLst/>
                <a:ea typeface="Arial" panose="020B0604020202020204" pitchFamily="34" charset="0"/>
              </a:rPr>
              <a:t>, Top Drawer Teachers website, accessed 3 April 2024.</a:t>
            </a:r>
          </a:p>
          <a:p>
            <a:pPr>
              <a:spcBef>
                <a:spcPts val="1200"/>
              </a:spcBef>
              <a:spcAft>
                <a:spcPts val="600"/>
              </a:spcAft>
            </a:pPr>
            <a:r>
              <a:rPr kumimoji="0" lang="en-AU" sz="1200" b="0" i="0" u="none" strike="noStrike" kern="1200" cap="none" spc="0" normalizeH="0" baseline="0" noProof="0" dirty="0">
                <a:ln>
                  <a:noFill/>
                </a:ln>
                <a:solidFill>
                  <a:srgbClr val="000000"/>
                </a:solidFill>
                <a:effectLst/>
                <a:uLnTx/>
                <a:uFillTx/>
                <a:latin typeface="Public Sans Light"/>
                <a:ea typeface="Arial" panose="020B0604020202020204" pitchFamily="34" charset="0"/>
                <a:cs typeface="Arial"/>
              </a:rPr>
              <a:t>New Zealand Ministry of Education (n.d.)</a:t>
            </a:r>
            <a:r>
              <a:rPr kumimoji="0" lang="en-AU" sz="1200" b="0" i="0" u="none" strike="noStrike" kern="1200" cap="none" spc="0" normalizeH="0" baseline="0" noProof="0" dirty="0">
                <a:ln>
                  <a:noFill/>
                </a:ln>
                <a:effectLst/>
                <a:uLnTx/>
                <a:uFillTx/>
                <a:latin typeface="Public Sans Light"/>
                <a:ea typeface="Arial" panose="020B0604020202020204" pitchFamily="34" charset="0"/>
                <a:cs typeface="Arial"/>
              </a:rPr>
              <a:t> ‘</a:t>
            </a:r>
            <a:r>
              <a:rPr kumimoji="0" lang="en-AU" sz="1200" b="0" i="0" strike="noStrike" kern="1200" cap="none" spc="0" normalizeH="0" baseline="0" noProof="0" dirty="0">
                <a:ln>
                  <a:noFill/>
                </a:ln>
                <a:effectLst/>
                <a:uLnTx/>
                <a:uFillTx/>
                <a:latin typeface="Public Sans Light"/>
                <a:ea typeface="Arial" panose="020B0604020202020204" pitchFamily="34" charset="0"/>
                <a:cs typeface="Arial"/>
              </a:rPr>
              <a:t>Simple fractions as percentages</a:t>
            </a:r>
            <a:r>
              <a:rPr kumimoji="0" lang="en-AU" sz="1200" b="0" i="0" u="none" strike="noStrike" kern="1200" cap="none" spc="0" normalizeH="0" baseline="0" noProof="0" dirty="0">
                <a:ln>
                  <a:noFill/>
                </a:ln>
                <a:effectLst/>
                <a:uLnTx/>
                <a:uFillTx/>
                <a:latin typeface="Public Sans Light"/>
                <a:ea typeface="Calibri"/>
                <a:cs typeface="Arial"/>
              </a:rPr>
              <a:t>’</a:t>
            </a:r>
            <a:r>
              <a:rPr kumimoji="0" lang="en-AU" sz="1200" b="0" i="0" u="none" strike="noStrike" kern="1200" cap="none" spc="0" normalizeH="0" baseline="0" noProof="0" dirty="0">
                <a:ln>
                  <a:noFill/>
                </a:ln>
                <a:solidFill>
                  <a:srgbClr val="000000"/>
                </a:solidFill>
                <a:effectLst/>
                <a:uLnTx/>
                <a:uFillTx/>
                <a:latin typeface="Public Sans Light"/>
                <a:ea typeface="Arial" panose="020B0604020202020204" pitchFamily="34" charset="0"/>
                <a:cs typeface="Arial"/>
              </a:rPr>
              <a:t>, </a:t>
            </a:r>
            <a:r>
              <a:rPr kumimoji="0" lang="en-AU" sz="1200" b="0" i="1" u="none" strike="noStrike" kern="1200" cap="none" spc="0" normalizeH="0" baseline="0" noProof="0" dirty="0">
                <a:ln>
                  <a:noFill/>
                </a:ln>
                <a:solidFill>
                  <a:srgbClr val="000000"/>
                </a:solidFill>
                <a:effectLst/>
                <a:uLnTx/>
                <a:uFillTx/>
                <a:latin typeface="Public Sans Light"/>
                <a:ea typeface="Arial" panose="020B0604020202020204" pitchFamily="34" charset="0"/>
                <a:cs typeface="Arial"/>
              </a:rPr>
              <a:t>Resource Finder, </a:t>
            </a:r>
            <a:r>
              <a:rPr kumimoji="0" lang="en-AU" sz="1200" b="0" i="0" u="none" strike="noStrike" kern="1200" cap="none" spc="0" normalizeH="0" baseline="0" noProof="0" dirty="0">
                <a:ln>
                  <a:noFill/>
                </a:ln>
                <a:solidFill>
                  <a:srgbClr val="000000"/>
                </a:solidFill>
                <a:effectLst/>
                <a:uLnTx/>
                <a:uFillTx/>
                <a:latin typeface="Public Sans Light"/>
                <a:ea typeface="Arial" panose="020B0604020202020204" pitchFamily="34" charset="0"/>
                <a:cs typeface="Arial"/>
              </a:rPr>
              <a:t>NZ Maths website, accessed 9 April 2024.</a:t>
            </a:r>
            <a:endParaRPr kumimoji="0" lang="en-AU" sz="1200" b="0" i="0" u="none" strike="noStrike" kern="1200" cap="none" spc="0" normalizeH="0" baseline="0" noProof="0" dirty="0">
              <a:ln>
                <a:noFill/>
              </a:ln>
              <a:solidFill>
                <a:srgbClr val="22272B"/>
              </a:solidFill>
              <a:effectLst/>
              <a:uLnTx/>
              <a:uFillTx/>
              <a:latin typeface="Public Sans Light"/>
              <a:ea typeface="Calibri" panose="020F0502020204030204" pitchFamily="34" charset="0"/>
              <a:cs typeface="Arial"/>
            </a:endParaRPr>
          </a:p>
          <a:p>
            <a:pPr marL="0" marR="0" lvl="0" indent="0" algn="l" defTabSz="914377" rtl="0" eaLnBrk="1" fontAlgn="auto" latinLnBrk="0" hangingPunct="1">
              <a:lnSpc>
                <a:spcPct val="150000"/>
              </a:lnSpc>
              <a:spcBef>
                <a:spcPts val="1200"/>
              </a:spcBef>
              <a:spcAft>
                <a:spcPts val="600"/>
              </a:spcAft>
              <a:buClrTx/>
              <a:buSzTx/>
              <a:buFont typeface="Arial" panose="020B0604020202020204" pitchFamily="34" charset="0"/>
              <a:buNone/>
              <a:tabLst/>
              <a:defRPr/>
            </a:pPr>
            <a:r>
              <a:rPr kumimoji="0" lang="en-AU" sz="1200" b="0" i="0" u="none" strike="noStrike" kern="1200" cap="none" spc="0" normalizeH="0" baseline="0" noProof="0" dirty="0">
                <a:ln>
                  <a:noFill/>
                </a:ln>
                <a:solidFill>
                  <a:srgbClr val="22272B"/>
                </a:solidFill>
                <a:effectLst/>
                <a:uLnTx/>
                <a:uFillTx/>
                <a:latin typeface="Public Sans Light"/>
                <a:ea typeface="Calibri" panose="020F0502020204030204" pitchFamily="34" charset="0"/>
                <a:cs typeface="Arial" panose="020B0604020202020204" pitchFamily="34" charset="0"/>
              </a:rPr>
              <a:t>State of New South Wales (Department of Education) (2023) </a:t>
            </a:r>
            <a:r>
              <a:rPr kumimoji="0" lang="en-AU" sz="1200" b="0" i="1" u="none" strike="noStrike" kern="1200" cap="none" spc="0" normalizeH="0" baseline="0" noProof="0" dirty="0">
                <a:ln>
                  <a:noFill/>
                </a:ln>
                <a:solidFill>
                  <a:srgbClr val="22272B"/>
                </a:solidFill>
                <a:effectLst/>
                <a:uLnTx/>
                <a:uFillTx/>
                <a:latin typeface="Public Sans Light"/>
                <a:ea typeface="Calibri" panose="020F0502020204030204" pitchFamily="34" charset="0"/>
                <a:cs typeface="Arial" panose="020B0604020202020204" pitchFamily="34" charset="0"/>
              </a:rPr>
              <a:t>‘</a:t>
            </a:r>
            <a:r>
              <a:rPr kumimoji="0" lang="en-AU" sz="1200" b="0" i="0" u="sng" strike="noStrike" kern="1200" cap="none" spc="0" normalizeH="0" baseline="0" noProof="0" dirty="0">
                <a:ln>
                  <a:noFill/>
                </a:ln>
                <a:solidFill>
                  <a:srgbClr val="2F5496"/>
                </a:solidFill>
                <a:effectLst/>
                <a:uLnTx/>
                <a:uFillTx/>
                <a:latin typeface="Public Sans Light"/>
                <a:ea typeface="Calibri" panose="020F0502020204030204" pitchFamily="34" charset="0"/>
                <a:cs typeface="Arial" panose="020B0604020202020204" pitchFamily="34" charset="0"/>
                <a:hlinkClick r:id="rId8"/>
              </a:rPr>
              <a:t>Array Bingo – Partially Covered Arrays</a:t>
            </a:r>
            <a:r>
              <a:rPr kumimoji="0" lang="en-AU" sz="1200" b="0" i="0" u="none" strike="noStrike" kern="1200" cap="none" spc="0" normalizeH="0" baseline="0" noProof="0" dirty="0">
                <a:ln>
                  <a:noFill/>
                </a:ln>
                <a:solidFill>
                  <a:srgbClr val="22272B"/>
                </a:solidFill>
                <a:effectLst/>
                <a:uLnTx/>
                <a:uFillTx/>
                <a:latin typeface="Public Sans Light"/>
                <a:ea typeface="Calibri" panose="020F0502020204030204" pitchFamily="34" charset="0"/>
                <a:cs typeface="Arial" panose="020B0604020202020204" pitchFamily="34" charset="0"/>
              </a:rPr>
              <a:t>’, </a:t>
            </a:r>
            <a:r>
              <a:rPr kumimoji="0" lang="en-AU" sz="1200" b="0" i="1" u="none" strike="noStrike" kern="1200" cap="none" spc="0" normalizeH="0" baseline="0" noProof="0" dirty="0">
                <a:ln>
                  <a:noFill/>
                </a:ln>
                <a:solidFill>
                  <a:srgbClr val="22272B"/>
                </a:solidFill>
                <a:effectLst/>
                <a:uLnTx/>
                <a:uFillTx/>
                <a:latin typeface="Public Sans Light"/>
                <a:ea typeface="Calibri" panose="020F0502020204030204" pitchFamily="34" charset="0"/>
                <a:cs typeface="Arial" panose="020B0604020202020204" pitchFamily="34" charset="0"/>
              </a:rPr>
              <a:t>Mathematics K–6 resources</a:t>
            </a:r>
            <a:r>
              <a:rPr kumimoji="0" lang="en-AU" sz="1200" b="0" i="0" u="none" strike="noStrike" kern="1200" cap="none" spc="0" normalizeH="0" baseline="0" noProof="0" dirty="0">
                <a:ln>
                  <a:noFill/>
                </a:ln>
                <a:solidFill>
                  <a:srgbClr val="22272B"/>
                </a:solidFill>
                <a:effectLst/>
                <a:uLnTx/>
                <a:uFillTx/>
                <a:latin typeface="Public Sans Light"/>
                <a:ea typeface="Calibri" panose="020F0502020204030204" pitchFamily="34" charset="0"/>
                <a:cs typeface="Arial" panose="020B0604020202020204" pitchFamily="34" charset="0"/>
              </a:rPr>
              <a:t>, NSW Department of Education website, accessed 3 April 2024.</a:t>
            </a:r>
          </a:p>
          <a:p>
            <a:pPr>
              <a:spcBef>
                <a:spcPts val="1200"/>
              </a:spcBef>
              <a:spcAft>
                <a:spcPts val="600"/>
              </a:spcAft>
              <a:defRPr/>
            </a:pPr>
            <a:r>
              <a:rPr kumimoji="0" lang="en-AU" sz="1200" b="0" i="0" u="none" strike="noStrike" kern="1200" cap="none" spc="0" normalizeH="0" baseline="0" noProof="0" dirty="0">
                <a:ln>
                  <a:noFill/>
                </a:ln>
                <a:solidFill>
                  <a:srgbClr val="22272B"/>
                </a:solidFill>
                <a:effectLst/>
                <a:uLnTx/>
                <a:uFillTx/>
                <a:latin typeface="Public Sans Light"/>
                <a:ea typeface="Calibri" panose="020F0502020204030204" pitchFamily="34" charset="0"/>
                <a:cs typeface="Arial" panose="020B0604020202020204" pitchFamily="34" charset="0"/>
              </a:rPr>
              <a:t>University of Cambridge (</a:t>
            </a:r>
            <a:r>
              <a:rPr kumimoji="0" lang="en-AU" sz="1200" b="0" i="0" u="none" strike="noStrike" kern="1200" cap="none" spc="0" normalizeH="0" baseline="0" noProof="0" dirty="0" err="1">
                <a:ln>
                  <a:noFill/>
                </a:ln>
                <a:solidFill>
                  <a:srgbClr val="22272B"/>
                </a:solidFill>
                <a:effectLst/>
                <a:uLnTx/>
                <a:uFillTx/>
                <a:latin typeface="Public Sans Light"/>
                <a:ea typeface="Calibri" panose="020F0502020204030204" pitchFamily="34" charset="0"/>
                <a:cs typeface="Arial" panose="020B0604020202020204" pitchFamily="34" charset="0"/>
              </a:rPr>
              <a:t>n.d.c</a:t>
            </a:r>
            <a:r>
              <a:rPr kumimoji="0" lang="en-AU" sz="1200" b="0" i="0" u="none" strike="noStrike" kern="1200" cap="none" spc="0" normalizeH="0" baseline="0" noProof="0" dirty="0">
                <a:ln>
                  <a:noFill/>
                </a:ln>
                <a:solidFill>
                  <a:srgbClr val="22272B"/>
                </a:solidFill>
                <a:effectLst/>
                <a:uLnTx/>
                <a:uFillTx/>
                <a:latin typeface="Public Sans Light"/>
                <a:ea typeface="Calibri" panose="020F0502020204030204" pitchFamily="34" charset="0"/>
                <a:cs typeface="Arial" panose="020B0604020202020204" pitchFamily="34" charset="0"/>
              </a:rPr>
              <a:t>) </a:t>
            </a:r>
            <a:r>
              <a:rPr kumimoji="0" lang="en-AU" sz="1200" b="0" i="1" u="sng" strike="noStrike" kern="1200" cap="none" spc="0" normalizeH="0" baseline="0" noProof="0" dirty="0">
                <a:ln>
                  <a:noFill/>
                </a:ln>
                <a:solidFill>
                  <a:srgbClr val="2F5496"/>
                </a:solidFill>
                <a:effectLst/>
                <a:uLnTx/>
                <a:uFillTx/>
                <a:latin typeface="Public Sans Light"/>
                <a:ea typeface="Calibri" panose="020F0502020204030204" pitchFamily="34" charset="0"/>
                <a:cs typeface="Arial" panose="020B0604020202020204" pitchFamily="34" charset="0"/>
                <a:hlinkClick r:id="rId9"/>
              </a:rPr>
              <a:t>Doughnut Percents</a:t>
            </a:r>
            <a:r>
              <a:rPr kumimoji="0" lang="en-AU" sz="1200" b="0" i="0" u="none" strike="noStrike" kern="1200" cap="none" spc="0" normalizeH="0" baseline="0" noProof="0" dirty="0">
                <a:ln>
                  <a:noFill/>
                </a:ln>
                <a:solidFill>
                  <a:srgbClr val="22272B"/>
                </a:solidFill>
                <a:effectLst/>
                <a:uLnTx/>
                <a:uFillTx/>
                <a:latin typeface="Public Sans Light"/>
                <a:ea typeface="Calibri" panose="020F0502020204030204" pitchFamily="34" charset="0"/>
                <a:cs typeface="Arial" panose="020B0604020202020204" pitchFamily="34" charset="0"/>
              </a:rPr>
              <a:t>, NRICH website, accessed 3 April 2024.</a:t>
            </a:r>
          </a:p>
          <a:p>
            <a:pPr>
              <a:lnSpc>
                <a:spcPct val="150000"/>
              </a:lnSpc>
              <a:spcBef>
                <a:spcPts val="1200"/>
              </a:spcBef>
              <a:spcAft>
                <a:spcPts val="600"/>
              </a:spcAft>
            </a:pPr>
            <a:endParaRPr lang="en-AU" sz="1200" dirty="0">
              <a:effectLst/>
              <a:ea typeface="Calibri" panose="020F0502020204030204" pitchFamily="34" charset="0"/>
            </a:endParaRPr>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1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NSW Gov PPT">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 PowerPoint template" id="{199D4273-0580-424B-B855-9A8BB1348783}" vid="{B38BF3CA-A6F3-4BBC-8CF4-5E0B855A470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1" ma:contentTypeDescription="Create a new document." ma:contentTypeScope="" ma:versionID="9688e37b2af58268cd21140b8063bd69">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bfa7b24e970bd6c4c2e6a1c402160d7"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Props1.xml><?xml version="1.0" encoding="utf-8"?>
<ds:datastoreItem xmlns:ds="http://schemas.openxmlformats.org/officeDocument/2006/customXml" ds:itemID="{B9C68242-C972-4815-B4EF-36DAD899F771}">
  <ds:schemaRefs>
    <ds:schemaRef ds:uri="http://schemas.microsoft.com/sharepoint/v3/contenttype/forms"/>
  </ds:schemaRefs>
</ds:datastoreItem>
</file>

<file path=customXml/itemProps2.xml><?xml version="1.0" encoding="utf-8"?>
<ds:datastoreItem xmlns:ds="http://schemas.openxmlformats.org/officeDocument/2006/customXml" ds:itemID="{D88ACCC7-89F6-466A-A2BA-B9A7965A5653}">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524F4DA-5415-43D4-8474-C9BE68919175}">
  <ds:schemaRefs>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7e763d47-3c66-4c58-9425-1477fd3ccd1e"/>
    <ds:schemaRef ds:uri="http://purl.org/dc/dcmitype/"/>
    <ds:schemaRef ds:uri="http://schemas.microsoft.com/office/infopath/2007/PartnerControls"/>
    <ds:schemaRef ds:uri="60129b06-f64b-40a8-96e2-c5b2f86112b1"/>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1328</TotalTime>
  <Words>6039</Words>
  <Application>Microsoft Office PowerPoint</Application>
  <PresentationFormat>Widescreen</PresentationFormat>
  <Paragraphs>838</Paragraphs>
  <Slides>68</Slides>
  <Notes>68</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68</vt:i4>
      </vt:variant>
    </vt:vector>
  </HeadingPairs>
  <TitlesOfParts>
    <vt:vector size="82" baseType="lpstr">
      <vt:lpstr>Calibri</vt:lpstr>
      <vt:lpstr>Edu NSW ACT Foundation Medium</vt:lpstr>
      <vt:lpstr>Arial</vt:lpstr>
      <vt:lpstr>Times New Roman</vt:lpstr>
      <vt:lpstr>Symbol</vt:lpstr>
      <vt:lpstr>Arial,Sans-Serif</vt:lpstr>
      <vt:lpstr>Public Sans Light</vt:lpstr>
      <vt:lpstr>Cambria Math</vt:lpstr>
      <vt:lpstr>Montserrat</vt:lpstr>
      <vt:lpstr>Wingdings</vt:lpstr>
      <vt:lpstr>Courier New</vt:lpstr>
      <vt:lpstr>Public Sans</vt:lpstr>
      <vt:lpstr>NSWG Corporate</vt:lpstr>
      <vt:lpstr>1_NSWG Corporate</vt:lpstr>
      <vt:lpstr>Instructions for use</vt:lpstr>
      <vt:lpstr>Review of Learning </vt:lpstr>
      <vt:lpstr>Lessons</vt:lpstr>
      <vt:lpstr>Review of learning 1</vt:lpstr>
      <vt:lpstr>Multiple choice (1)</vt:lpstr>
      <vt:lpstr>Short response (1)</vt:lpstr>
      <vt:lpstr>Short response (2)</vt:lpstr>
      <vt:lpstr>Short response (3)</vt:lpstr>
      <vt:lpstr>Short response (4)</vt:lpstr>
      <vt:lpstr>Activity 1 – How many tiles?</vt:lpstr>
      <vt:lpstr>Review of learning  2</vt:lpstr>
      <vt:lpstr>True or false (1)</vt:lpstr>
      <vt:lpstr>Short response (5)</vt:lpstr>
      <vt:lpstr>Short response (6)</vt:lpstr>
      <vt:lpstr>Short response (7)</vt:lpstr>
      <vt:lpstr>Short response (8)</vt:lpstr>
      <vt:lpstr>Activity 2 – partial array bingo</vt:lpstr>
      <vt:lpstr>Review of learning 3</vt:lpstr>
      <vt:lpstr>Multiple choice (1)</vt:lpstr>
      <vt:lpstr>Short response (9)</vt:lpstr>
      <vt:lpstr>Short response (10)</vt:lpstr>
      <vt:lpstr>Short response (11)</vt:lpstr>
      <vt:lpstr>Short response (12)</vt:lpstr>
      <vt:lpstr>Activity 3 – covered grid</vt:lpstr>
      <vt:lpstr>Review of learning 4</vt:lpstr>
      <vt:lpstr>True or false (2)</vt:lpstr>
      <vt:lpstr>Short response (13)</vt:lpstr>
      <vt:lpstr>Short response (14)</vt:lpstr>
      <vt:lpstr>Short response (15) </vt:lpstr>
      <vt:lpstr>Short response (16)</vt:lpstr>
      <vt:lpstr>Activity 4 – partial grid</vt:lpstr>
      <vt:lpstr>Review of learning 5</vt:lpstr>
      <vt:lpstr>Multiple choice (3)</vt:lpstr>
      <vt:lpstr>Short response (17)</vt:lpstr>
      <vt:lpstr>Short response (18) </vt:lpstr>
      <vt:lpstr>Short response (19) </vt:lpstr>
      <vt:lpstr>Short response (20)</vt:lpstr>
      <vt:lpstr>Activity 5 – benchmark fractions</vt:lpstr>
      <vt:lpstr>Review of learning 6</vt:lpstr>
      <vt:lpstr>True or false (3)</vt:lpstr>
      <vt:lpstr>Short response (21)</vt:lpstr>
      <vt:lpstr>Short response (22)</vt:lpstr>
      <vt:lpstr>Short response (23) </vt:lpstr>
      <vt:lpstr>Short response (24)</vt:lpstr>
      <vt:lpstr>Activity 6 – decimal height</vt:lpstr>
      <vt:lpstr>Review of learning  7</vt:lpstr>
      <vt:lpstr>PowerPoint Presentation</vt:lpstr>
      <vt:lpstr>Short response (25)</vt:lpstr>
      <vt:lpstr>Short response (26)</vt:lpstr>
      <vt:lpstr>Short response (27)</vt:lpstr>
      <vt:lpstr>Short response (28)</vt:lpstr>
      <vt:lpstr>Resource 28 – decimal fraction cards </vt:lpstr>
      <vt:lpstr>Review of learning 8</vt:lpstr>
      <vt:lpstr>True or false (4) </vt:lpstr>
      <vt:lpstr>Short response (31)</vt:lpstr>
      <vt:lpstr>Short response (26) </vt:lpstr>
      <vt:lpstr>Short response (33)</vt:lpstr>
      <vt:lpstr>Short response (34)</vt:lpstr>
      <vt:lpstr>Activity 8 – decimal fraction chains</vt:lpstr>
      <vt:lpstr>Double Venn diagram</vt:lpstr>
      <vt:lpstr>Frayer</vt:lpstr>
      <vt:lpstr>Spider map</vt:lpstr>
      <vt:lpstr>Cline</vt:lpstr>
      <vt:lpstr>Compare and contrast</vt:lpstr>
      <vt:lpstr>Multiple choice (1)</vt:lpstr>
      <vt:lpstr>Multiple choice (2)</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7</cp:revision>
  <dcterms:created xsi:type="dcterms:W3CDTF">2025-07-07T07:05:15Z</dcterms:created>
  <dcterms:modified xsi:type="dcterms:W3CDTF">2025-08-03T22:48:44Z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