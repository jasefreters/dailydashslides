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79" r:id="rId6"/>
    <p:sldId id="26359" r:id="rId7"/>
    <p:sldId id="271" r:id="rId8"/>
    <p:sldId id="26646"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650" r:id="rId22"/>
    <p:sldId id="26592" r:id="rId23"/>
    <p:sldId id="26594" r:id="rId24"/>
    <p:sldId id="26596" r:id="rId25"/>
    <p:sldId id="26597" r:id="rId26"/>
    <p:sldId id="26598" r:id="rId27"/>
    <p:sldId id="26599" r:id="rId28"/>
    <p:sldId id="26600" r:id="rId29"/>
    <p:sldId id="26651" r:id="rId30"/>
    <p:sldId id="26601" r:id="rId31"/>
    <p:sldId id="26604" r:id="rId32"/>
    <p:sldId id="26605" r:id="rId33"/>
    <p:sldId id="26606" r:id="rId34"/>
    <p:sldId id="26607" r:id="rId35"/>
    <p:sldId id="26608" r:id="rId36"/>
    <p:sldId id="26609" r:id="rId37"/>
    <p:sldId id="26610" r:id="rId38"/>
    <p:sldId id="26611" r:id="rId39"/>
    <p:sldId id="26614" r:id="rId40"/>
    <p:sldId id="26615" r:id="rId41"/>
    <p:sldId id="26616" r:id="rId42"/>
    <p:sldId id="26617" r:id="rId43"/>
    <p:sldId id="26618" r:id="rId44"/>
    <p:sldId id="26619" r:id="rId45"/>
    <p:sldId id="26622" r:id="rId46"/>
    <p:sldId id="26623" r:id="rId47"/>
    <p:sldId id="26624" r:id="rId48"/>
    <p:sldId id="26625" r:id="rId49"/>
    <p:sldId id="26626" r:id="rId50"/>
    <p:sldId id="26627" r:id="rId51"/>
    <p:sldId id="26652" r:id="rId52"/>
    <p:sldId id="26628" r:id="rId53"/>
    <p:sldId id="26629" r:id="rId54"/>
    <p:sldId id="26632" r:id="rId55"/>
    <p:sldId id="26633" r:id="rId56"/>
    <p:sldId id="26634" r:id="rId57"/>
    <p:sldId id="26635" r:id="rId58"/>
    <p:sldId id="26636" r:id="rId59"/>
    <p:sldId id="26637" r:id="rId60"/>
    <p:sldId id="26640" r:id="rId61"/>
    <p:sldId id="26641" r:id="rId62"/>
    <p:sldId id="26642" r:id="rId63"/>
    <p:sldId id="26643" r:id="rId64"/>
    <p:sldId id="26644" r:id="rId65"/>
    <p:sldId id="26645" r:id="rId66"/>
    <p:sldId id="26393" r:id="rId67"/>
    <p:sldId id="26387" r:id="rId68"/>
    <p:sldId id="26395" r:id="rId69"/>
    <p:sldId id="26391" r:id="rId70"/>
    <p:sldId id="26402" r:id="rId71"/>
    <p:sldId id="26507" r:id="rId72"/>
    <p:sldId id="26649" r:id="rId73"/>
    <p:sldId id="360" r:id="rId74"/>
    <p:sldId id="361" r:id="rId75"/>
  </p:sldIdLst>
  <p:sldSz cx="12192000" cy="6858000"/>
  <p:notesSz cx="6858000" cy="9144000"/>
  <p:embeddedFontLst>
    <p:embeddedFont>
      <p:font typeface="Aptos Narrow" panose="020B0004020202020204" pitchFamily="34" charset="0"/>
      <p:regular r:id="rId78"/>
      <p:bold r:id="rId79"/>
      <p:italic r:id="rId80"/>
      <p:boldItalic r:id="rId81"/>
    </p:embeddedFont>
    <p:embeddedFont>
      <p:font typeface="Cambria Math" panose="02040503050406030204" pitchFamily="18" charset="0"/>
      <p:regular r:id="rId82"/>
    </p:embeddedFont>
    <p:embeddedFont>
      <p:font typeface="Canva Student Font" panose="020B0604020202020204" charset="0"/>
      <p:regular r:id="rId83"/>
    </p:embeddedFont>
    <p:embeddedFont>
      <p:font typeface="Glacial Indifference Bold" panose="020B0604020202020204" charset="0"/>
      <p:regular r:id="rId84"/>
    </p:embeddedFont>
    <p:embeddedFont>
      <p:font typeface="Montserrat" panose="00000500000000000000" pitchFamily="2" charset="0"/>
      <p:regular r:id="rId85"/>
      <p:bold r:id="rId86"/>
      <p:italic r:id="rId87"/>
      <p:boldItalic r:id="rId88"/>
    </p:embeddedFont>
    <p:embeddedFont>
      <p:font typeface="Public Sans" pitchFamily="2" charset="0"/>
      <p:regular r:id="rId89"/>
      <p:bold r:id="rId90"/>
      <p:italic r:id="rId91"/>
      <p:boldItalic r:id="rId92"/>
    </p:embeddedFont>
    <p:embeddedFont>
      <p:font typeface="Public Sans Light" pitchFamily="2" charset="0"/>
      <p:regular r:id="rId93"/>
      <p:italic r:id="rId94"/>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46"/>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 id="26650"/>
          </p14:sldIdLst>
        </p14:section>
        <p14:section name="Review of learning 3" id="{6F5E1C19-5255-4FF7-A3CD-4549F7EF69B2}">
          <p14:sldIdLst>
            <p14:sldId id="26592"/>
            <p14:sldId id="26594"/>
            <p14:sldId id="26596"/>
            <p14:sldId id="26597"/>
            <p14:sldId id="26598"/>
            <p14:sldId id="26599"/>
            <p14:sldId id="26600"/>
            <p14:sldId id="26651"/>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 id="26652"/>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 userId="S::Melinda.Ojeda@det.nsw.edu.au::d90aca96-824c-4874-b48e-bcce1db91155" providerId="AD"/>
  <p188:author id="{8C6D2936-6756-1476-1E4B-4B33D1F539E1}" name="Carrie Webeck" initials="CW" userId="S::carrie-ann.webeck@det.nsw.edu.au::e5c4b697-ca15-4f3a-a906-1289ddc2fc07"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00EA"/>
    <a:srgbClr val="FE9100"/>
    <a:srgbClr val="8B00DE"/>
    <a:srgbClr val="8400DE"/>
    <a:srgbClr val="D596FF"/>
    <a:srgbClr val="AB2EFF"/>
    <a:srgbClr val="AE37FF"/>
    <a:srgbClr val="000000"/>
    <a:srgbClr val="FFFFFF"/>
    <a:srgbClr val="8C5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571" autoAdjust="0"/>
  </p:normalViewPr>
  <p:slideViewPr>
    <p:cSldViewPr snapToGrid="0">
      <p:cViewPr varScale="1">
        <p:scale>
          <a:sx n="27" d="100"/>
          <a:sy n="27" d="100"/>
        </p:scale>
        <p:origin x="896" y="40"/>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font" Target="fonts/font13.fntdata"/><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font" Target="fonts/font17.fntdata"/><Relationship Id="rId9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5.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6.fntdata"/><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33</a:t>
            </a:r>
          </a:p>
          <a:p>
            <a:pPr marL="285750" indent="-285750">
              <a:buFont typeface="Arial" panose="020B0604020202020204" pitchFamily="34" charset="0"/>
              <a:buChar char="•"/>
            </a:pPr>
            <a:r>
              <a:rPr lang="en-AU"/>
              <a:t>Stage 3 Year B Unit 32</a:t>
            </a:r>
          </a:p>
          <a:p>
            <a:pPr marL="285750" indent="-285750">
              <a:buFont typeface="Arial" panose="020B0604020202020204" pitchFamily="34" charset="0"/>
              <a:buChar char="•"/>
            </a:pPr>
            <a:r>
              <a:rPr lang="en-AU"/>
              <a:t>Stage 3 Year B Unit 31</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highlight>
                  <a:srgbClr val="FFFF00"/>
                </a:highlight>
                <a:latin typeface="Aptos Narrow" panose="020B0004020202020204" pitchFamily="34" charset="0"/>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br>
              <a:rPr lang="en-AU">
                <a:latin typeface="Arial"/>
                <a:cs typeface="Arial"/>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Multiplication relations A</a:t>
            </a:r>
          </a:p>
          <a:p>
            <a:endParaRPr lang="en-AU"/>
          </a:p>
          <a:p>
            <a:r>
              <a:rPr lang="en-AU" b="1"/>
              <a:t>Factorising for mental multiplication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that factorising is a strategy that can be useful when multiplying 2-digit by 2-digit numbers when partitioning one factor into smaller factors creates an easier mental multiplication, especially when it makes benchmark numbers.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What are the factors of 25 and 48?</a:t>
            </a:r>
          </a:p>
          <a:p>
            <a:pPr lvl="0"/>
            <a:r>
              <a:rPr lang="en-AU" sz="1600" kern="1200">
                <a:solidFill>
                  <a:schemeClr val="tx1"/>
                </a:solidFill>
                <a:effectLst/>
                <a:latin typeface="Arial" panose="020B0604020202020204" pitchFamily="34" charset="0"/>
                <a:ea typeface="+mn-ea"/>
                <a:cs typeface="Arial" panose="020B0604020202020204" pitchFamily="34" charset="0"/>
              </a:rPr>
              <a:t>- Can you use any of the factors to make a benchmark number that simplifies the multiplication?</a:t>
            </a:r>
          </a:p>
          <a:p>
            <a:pPr marL="285750" lvl="0" indent="-285750">
              <a:buFont typeface="Arial" panose="020B0604020202020204" pitchFamily="34" charset="0"/>
              <a:buChar char="•"/>
            </a:pPr>
            <a:r>
              <a:rPr lang="en-AU" sz="1600" b="1" kern="1200">
                <a:solidFill>
                  <a:schemeClr val="tx1"/>
                </a:solidFill>
                <a:effectLst/>
                <a:latin typeface="Arial" panose="020B0604020202020204" pitchFamily="34" charset="0"/>
                <a:ea typeface="+mn-ea"/>
                <a:cs typeface="Arial" panose="020B0604020202020204" pitchFamily="34" charset="0"/>
              </a:rPr>
              <a:t>Seek input </a:t>
            </a:r>
            <a:r>
              <a:rPr lang="en-AU" sz="1600" kern="1200">
                <a:solidFill>
                  <a:schemeClr val="tx1"/>
                </a:solidFill>
                <a:effectLst/>
                <a:latin typeface="Arial" panose="020B0604020202020204" pitchFamily="34" charset="0"/>
                <a:ea typeface="+mn-ea"/>
                <a:cs typeface="Arial" panose="020B0604020202020204" pitchFamily="34" charset="0"/>
              </a:rPr>
              <a:t>from students and demonstrate their thinking on the board. If a response is not drawn from the students, demonstrate 25 × 48 can be factorised to 25 × 4 × 12. The associative property can be used to regroup the factors to make the calculation easier. For example, 25 × 4 × 12 = (4 × 25) × 12 = 100 × 12 = 1200.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following word problem: A nursery prepares 25 seedling trays. Each tray holds 36 plants. How many plants are there altogether?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the strategy of factorising to solve the problem in their workbooks.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share and give peer feedback on their solutions.</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panose="020B00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b="1"/>
              <a:t>Note:</a:t>
            </a:r>
            <a:r>
              <a:rPr lang="en-AU" b="0"/>
              <a:t> 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Multiplication relations A</a:t>
            </a:r>
          </a:p>
          <a:p>
            <a:endParaRPr lang="en-AU"/>
          </a:p>
          <a:p>
            <a:r>
              <a:rPr lang="en-AU" b="1"/>
              <a:t>Area model for 2-digit by 2-digit multiplication</a:t>
            </a:r>
          </a:p>
          <a:p>
            <a:pPr marL="285750" indent="-285750">
              <a:buFont typeface="Arial" panose="020B0604020202020204" pitchFamily="34" charset="0"/>
              <a:buChar char="•"/>
            </a:pPr>
            <a:r>
              <a:rPr lang="en-AU" b="0"/>
              <a:t>Revise that 23 × 32 can be solved using an area model where every place value part of a number multiplies by each place value part of the other number to produce 4 partial products. For example, in 23 × 32:</a:t>
            </a:r>
          </a:p>
          <a:p>
            <a:r>
              <a:rPr lang="en-AU" b="0"/>
              <a:t>—3 × 2 = 6</a:t>
            </a:r>
          </a:p>
          <a:p>
            <a:r>
              <a:rPr lang="en-AU" b="0"/>
              <a:t>—3 × 30 = 90</a:t>
            </a:r>
          </a:p>
          <a:p>
            <a:r>
              <a:rPr lang="en-AU" b="0"/>
              <a:t>—20 × 2 = 40</a:t>
            </a:r>
          </a:p>
          <a:p>
            <a:r>
              <a:rPr lang="en-AU" b="0"/>
              <a:t>—20 × 30 = 600.</a:t>
            </a:r>
          </a:p>
          <a:p>
            <a:pPr marL="285750" indent="-285750">
              <a:buFont typeface="Arial" panose="020B0604020202020204" pitchFamily="34" charset="0"/>
              <a:buChar char="•"/>
            </a:pPr>
            <a:r>
              <a:rPr lang="en-AU" b="0"/>
              <a:t>The 4 partial products are then added together, 600 + 40 + 90 + 6 = 736.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following word problem: A music app tracks playlist downloads. One playlist that contains 36 songs has been downloaded 25 times. How many songs were downloaded altogether?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an area model to solve the problem in their workbooks.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share and give peer feedback on their solutions.</a:t>
            </a:r>
          </a:p>
          <a:p>
            <a:pPr marL="285750" indent="-28575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19DFF-FFC1-A7E7-7AAD-960B602BB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78448-1367-03FD-C841-90C665105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4D234-6601-72ED-D547-6F21F85015B2}"/>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Multiplication relations A</a:t>
            </a:r>
          </a:p>
          <a:p>
            <a:endParaRPr lang="en-AU"/>
          </a:p>
          <a:p>
            <a:r>
              <a:rPr lang="en-AU" b="1"/>
              <a:t>Area model for 2-digit by 2-digit multiplication</a:t>
            </a:r>
          </a:p>
          <a:p>
            <a:pPr marL="285750" indent="-285750">
              <a:buFont typeface="Arial" panose="020B0604020202020204" pitchFamily="34" charset="0"/>
              <a:buChar char="•"/>
            </a:pPr>
            <a:r>
              <a:rPr lang="en-AU" b="0"/>
              <a:t>Prompt students to use an area model to solve the problem in their workbooks.</a:t>
            </a:r>
          </a:p>
          <a:p>
            <a:pPr marL="285750" indent="-285750">
              <a:buFont typeface="Arial" panose="020B0604020202020204" pitchFamily="34" charset="0"/>
              <a:buChar char="•"/>
            </a:pPr>
            <a:r>
              <a:rPr lang="en-AU" b="0"/>
              <a:t>Students turn and talk to share and give peer feedback on their solutions.</a:t>
            </a:r>
          </a:p>
          <a:p>
            <a:pPr marL="342900" indent="-34290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B61A8BC-BB0B-9BA9-6672-7C2283F9E364}"/>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221876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highlight>
                  <a:srgbClr val="FFFF00"/>
                </a:highlight>
                <a:latin typeface="Arial" panose="020B0604020202020204" pitchFamily="34" charset="0"/>
                <a:ea typeface="+mn-ea"/>
                <a:cs typeface="Arial" panose="020B0604020202020204" pitchFamily="34" charset="0"/>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Algorithm for 3-digit by 2-digit multiplication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that the formal algorithm can be used as a more efficient way of recording multiplication with 3-digit by 2-digit numbers.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that when recording the equation, the numbers need to be lined up correctly in their place value parts.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solving 278 × 29 using the formal algorithm.</a:t>
            </a:r>
          </a:p>
          <a:p>
            <a:pPr marL="28575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following word problem: A theme park records 348 visitors per day over 27 days. How many visitors attended in total?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the formal algorithm to solve the problem in their workbooks.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share and give peer feedback on their solutions.</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2C80A-6131-C756-1CCC-10352AA8B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C20B6-710E-4FF5-006D-C3411CFD0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89A1B-F008-5E02-8504-7C17F5D1D849}"/>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Algorithm for 3-digit by 2-digit multiplication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the formal algorithm to solve the problem in their workbooks.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share and give peer feedback on their solutions.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D41D1E1-E453-1C5B-2163-5BA31411AB52}"/>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884833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1" i="0">
                <a:solidFill>
                  <a:schemeClr val="tx1"/>
                </a:solidFill>
                <a:latin typeface="Arial"/>
                <a:cs typeface="Arial"/>
              </a:rPr>
              <a:t>Note:</a:t>
            </a:r>
            <a:r>
              <a:rPr lang="en-AU" sz="1600" b="0" i="0">
                <a:solidFill>
                  <a:schemeClr val="tx1"/>
                </a:solidFill>
                <a:latin typeface="Arial"/>
                <a:cs typeface="Arial"/>
              </a:rPr>
              <a:t> this slide is designed to be viewed in presentation mode.</a:t>
            </a:r>
            <a:endParaRPr lang="en-AU" sz="1600" b="1" i="0">
              <a:solidFill>
                <a:schemeClr val="tx1"/>
              </a:solidFill>
              <a:latin typeface="Arial"/>
              <a:cs typeface="Arial"/>
            </a:endParaRPr>
          </a:p>
          <a:p>
            <a:pPr marL="0" indent="0" algn="l">
              <a:buFont typeface="Wingdings" panose="05000000000000000000" pitchFamily="2" charset="2"/>
              <a:buNone/>
            </a:pPr>
            <a:endParaRPr lang="en-AU" sz="1600" b="0" i="0">
              <a:solidFill>
                <a:schemeClr val="tx1"/>
              </a:solidFill>
              <a:latin typeface="Arial"/>
              <a:cs typeface="Arial"/>
            </a:endParaRPr>
          </a:p>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b="1"/>
              <a:t>Note:</a:t>
            </a:r>
            <a:r>
              <a:rPr lang="en-AU" b="0"/>
              <a:t> 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Selecting and applying strategies to multiply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the strategies in Activities 1–3 and remind students that different multiplication strategies are more appropriate depending on the structure of the numbers.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What is the equation that would solve this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365 × 20 = on the 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turn and talk and decide on a strategy that would be most effective in solving the problem. Students show their working out on individual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share response ensuring students can justify their choice of strategy.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Change the word problem to: How many days old will Elyssa be on her 5th birthday?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steps 3–6 with the new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Change the word problem a final time to: How many days old will Elyssa be on her 23rd birthday?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steps 3–6 with the new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Did you use the same strategy for all 3 problems?</a:t>
            </a:r>
          </a:p>
          <a:p>
            <a:pPr lvl="0"/>
            <a:r>
              <a:rPr lang="en-AU" sz="1600" kern="1200">
                <a:solidFill>
                  <a:schemeClr val="tx1"/>
                </a:solidFill>
                <a:effectLst/>
                <a:latin typeface="Arial" panose="020B0604020202020204" pitchFamily="34" charset="0"/>
                <a:ea typeface="+mn-ea"/>
                <a:cs typeface="Arial" panose="020B0604020202020204" pitchFamily="34" charset="0"/>
              </a:rPr>
              <a:t>- How did you choose which strategy to use?</a:t>
            </a:r>
          </a:p>
          <a:p>
            <a:pPr lvl="0"/>
            <a:r>
              <a:rPr lang="en-AU" sz="1600" kern="1200">
                <a:solidFill>
                  <a:schemeClr val="tx1"/>
                </a:solidFill>
                <a:effectLst/>
                <a:latin typeface="Arial" panose="020B0604020202020204" pitchFamily="34" charset="0"/>
                <a:ea typeface="+mn-ea"/>
                <a:cs typeface="Arial" panose="020B0604020202020204" pitchFamily="34" charset="0"/>
              </a:rPr>
              <a:t>- Which problem was more challenging? Why?</a:t>
            </a:r>
          </a:p>
          <a:p>
            <a:pPr lvl="0"/>
            <a:r>
              <a:rPr lang="en-AU" sz="1600" kern="1200">
                <a:solidFill>
                  <a:schemeClr val="tx1"/>
                </a:solidFill>
                <a:effectLst/>
                <a:latin typeface="Arial" panose="020B0604020202020204" pitchFamily="34" charset="0"/>
                <a:ea typeface="+mn-ea"/>
                <a:cs typeface="Arial" panose="020B0604020202020204" pitchFamily="34" charset="0"/>
              </a:rPr>
              <a:t>- Did you see a strategy someone else used that you’d like to try next time?</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Representing quantity fractions B</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Using equivalence to solve word problems</a:t>
            </a:r>
          </a:p>
          <a:p>
            <a:pPr marL="285750" indent="-285750">
              <a:buFont typeface="Arial" panose="020B0604020202020204" pitchFamily="34" charset="0"/>
              <a:buChar char="•"/>
            </a:pPr>
            <a:r>
              <a:rPr lang="en-AU" b="0"/>
              <a:t>In pairs, students record their ideas on individual whiteboards using diagrams and numerals to represent their thinking.</a:t>
            </a:r>
          </a:p>
          <a:p>
            <a:pPr marL="285750" indent="-285750">
              <a:buFont typeface="Arial" panose="020B0604020202020204" pitchFamily="34" charset="0"/>
              <a:buChar char="•"/>
            </a:pPr>
            <a:r>
              <a:rPr lang="en-AU" b="0"/>
              <a:t>Ask:</a:t>
            </a:r>
          </a:p>
          <a:p>
            <a:r>
              <a:rPr lang="en-AU" b="0"/>
              <a:t>- What strategy did you use to find how much of the sushi roll is left?</a:t>
            </a:r>
          </a:p>
          <a:p>
            <a:pPr marL="0" indent="0">
              <a:buFontTx/>
              <a:buNone/>
            </a:pPr>
            <a:r>
              <a:rPr lang="en-AU" b="0"/>
              <a:t>- Is three quarters larger than one eighth? How do you know?</a:t>
            </a:r>
          </a:p>
          <a:p>
            <a:r>
              <a:rPr lang="en-AU" b="0"/>
              <a:t>- Did building up to the whole or taking away from the whole make this task easier? Why or why not?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Representing fractional quantities – thirds and sixths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following question: How much more is three sixths than one</a:t>
            </a:r>
            <a:r>
              <a:rPr lang="en-AU" sz="1600" kern="1200" baseline="0">
                <a:solidFill>
                  <a:schemeClr val="tx1"/>
                </a:solidFill>
                <a:effectLst/>
                <a:latin typeface="Arial" panose="020B0604020202020204" pitchFamily="34" charset="0"/>
                <a:ea typeface="+mn-ea"/>
                <a:cs typeface="Arial" panose="020B0604020202020204" pitchFamily="34" charset="0"/>
              </a:rPr>
              <a:t> third</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compare the fractions using fractions strips or diagrams in their workbook.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compare and justify their answer.</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Resource 26 – student workbook example. Ask:</a:t>
            </a:r>
          </a:p>
          <a:p>
            <a:pPr lvl="0"/>
            <a:r>
              <a:rPr lang="en-AU" sz="1600" kern="1200">
                <a:solidFill>
                  <a:schemeClr val="tx1"/>
                </a:solidFill>
                <a:effectLst/>
                <a:latin typeface="Arial" panose="020B0604020202020204" pitchFamily="34" charset="0"/>
                <a:ea typeface="+mn-ea"/>
                <a:cs typeface="Arial" panose="020B0604020202020204" pitchFamily="34" charset="0"/>
              </a:rPr>
              <a:t>- Does it matter if the length of your fraction strip is different in each representation? Why or why not?</a:t>
            </a:r>
          </a:p>
          <a:p>
            <a:pPr lvl="0"/>
            <a:r>
              <a:rPr lang="en-AU" sz="1600" kern="1200">
                <a:solidFill>
                  <a:schemeClr val="tx1"/>
                </a:solidFill>
                <a:effectLst/>
                <a:latin typeface="Arial" panose="020B0604020202020204" pitchFamily="34" charset="0"/>
                <a:ea typeface="+mn-ea"/>
                <a:cs typeface="Arial" panose="020B0604020202020204" pitchFamily="34" charset="0"/>
              </a:rPr>
              <a:t>- What do you notice about the denominators in this task?</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one third, how many thirds need to be added to make the equal whole?</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three sixths, how many sixths need to be subtracted to make one sixth?</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one third and I add two sixths, what fraction quantity would I have? Is there more than one way to record this?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17F9-D48B-B41B-7866-CC8D4091E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E86EC-EAEF-DA40-8544-350D658C5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DE1B2-021C-9A17-A6C0-D9B873FD9264}"/>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Representing fractional quantities – thirds and sixths</a:t>
            </a:r>
          </a:p>
          <a:p>
            <a:r>
              <a:rPr lang="en-AU" b="0"/>
              <a:t>This resource corresponds to Resource 26 – student workbook example in Stage 3 Year B Unit 33. </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 Does it matter if the length of your fraction strip is different in each representation? Why or why not?</a:t>
            </a:r>
          </a:p>
          <a:p>
            <a:pPr lvl="0"/>
            <a:r>
              <a:rPr lang="en-AU" sz="1600" kern="1200">
                <a:solidFill>
                  <a:schemeClr val="tx1"/>
                </a:solidFill>
                <a:effectLst/>
                <a:latin typeface="Arial" panose="020B0604020202020204" pitchFamily="34" charset="0"/>
                <a:ea typeface="+mn-ea"/>
                <a:cs typeface="Arial" panose="020B0604020202020204" pitchFamily="34" charset="0"/>
              </a:rPr>
              <a:t>- What do you notice about the denominators in this task?</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one third, how many thirds need to be added to make the equal whole?</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three sixths, how many sixths need to be subtracted to make one sixth?</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one third and I add two sixths, what fraction quantity would I have? Is there more than one way to record this?</a:t>
            </a: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518297E-2AD2-1D34-522E-04BB03A26890}"/>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9714540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highlight>
                  <a:srgbClr val="FFFF00"/>
                </a:highlight>
                <a:latin typeface="Aptos Narrow" panose="020B0004020202020204" pitchFamily="34" charset="0"/>
              </a:rPr>
              <a:t>Representing quantity fractions B</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b="1"/>
          </a:p>
          <a:p>
            <a:r>
              <a:rPr lang="en-AU" b="1"/>
              <a:t>Representing fractional quantities – quarters and eighths</a:t>
            </a:r>
          </a:p>
          <a:p>
            <a:r>
              <a:rPr lang="en-AU" b="0"/>
              <a:t>This resource corresponds to Resource 27 – Jeff’s answer in Stage 3 Year B Unit 33.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this is Jeff’s reasoning when asked the question: How much more is three quarters than five eighths?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What is Jeff’s misconception(s)?</a:t>
            </a:r>
          </a:p>
          <a:p>
            <a:pPr lvl="0"/>
            <a:r>
              <a:rPr lang="en-AU" sz="1600" kern="1200">
                <a:solidFill>
                  <a:schemeClr val="tx1"/>
                </a:solidFill>
                <a:effectLst/>
                <a:latin typeface="Arial" panose="020B0604020202020204" pitchFamily="34" charset="0"/>
                <a:ea typeface="+mn-ea"/>
                <a:cs typeface="Arial" panose="020B0604020202020204" pitchFamily="34" charset="0"/>
              </a:rPr>
              <a:t>- How could you use a diagram, model or explanation to help Jeff see his mistake and understand the correct relationship between the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use fractions strips or diagrams in their workbook to represent their solution to: How much more is three quarters than five eighths?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and justify their reasoning.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What do you notice about the denominators in this task?</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six eighths, how many eighths and quarters need to be added to make the equal whole?</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five eighths, how many eighths and quarters need to be subtracted to make one eighth?</a:t>
            </a:r>
          </a:p>
          <a:p>
            <a:pPr lvl="0"/>
            <a:r>
              <a:rPr lang="en-AU" sz="1600" kern="1200">
                <a:solidFill>
                  <a:schemeClr val="tx1"/>
                </a:solidFill>
                <a:effectLst/>
                <a:latin typeface="Arial" panose="020B0604020202020204" pitchFamily="34" charset="0"/>
                <a:ea typeface="+mn-ea"/>
                <a:cs typeface="Arial" panose="020B0604020202020204" pitchFamily="34" charset="0"/>
              </a:rPr>
              <a:t>- If I have one eighth and I add three eighths, what fraction quantity would I have? Is there more than one way to record this?</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b="1"/>
              <a:t>Note: </a:t>
            </a:r>
            <a:r>
              <a:rPr lang="en-AU" b="0"/>
              <a:t>this slide is designed to be viewed in presentation mode.</a:t>
            </a:r>
          </a:p>
          <a:p>
            <a:endParaRPr lang="en-AU" b="1"/>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Creating word problems with fractional quantities</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write a real-world problem using addition or subtraction to match the answer. For example, Jemma served 2 different flavoured slab cakes at her birthday party. At the end of the party, she had one quarter of the chocolate slab cake left and half of the vanilla slab cake left. How much slab cake did Jemma have left at the end of her birthday party?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create problems to reflect the answer six eighths. Encourage students to create both addition and subtraction problems.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 word problems created with another pair.</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4.xml"/><Relationship Id="rId7" Type="http://schemas.openxmlformats.org/officeDocument/2006/relationships/slide" Target="slide3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7.xml"/><Relationship Id="rId5" Type="http://schemas.openxmlformats.org/officeDocument/2006/relationships/slide" Target="slide19.xml"/><Relationship Id="rId10" Type="http://schemas.openxmlformats.org/officeDocument/2006/relationships/slide" Target="slide56.xml"/><Relationship Id="rId4" Type="http://schemas.openxmlformats.org/officeDocument/2006/relationships/slide" Target="slide11.xml"/><Relationship Id="rId9" Type="http://schemas.openxmlformats.org/officeDocument/2006/relationships/slide" Target="slide4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6.png"/><Relationship Id="rId7"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9.jpe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7.xml"/><Relationship Id="rId1" Type="http://schemas.openxmlformats.org/officeDocument/2006/relationships/slideLayout" Target="../slideLayouts/slideLayout11.xml"/><Relationship Id="rId5" Type="http://schemas.openxmlformats.org/officeDocument/2006/relationships/image" Target="../media/image38.svg"/><Relationship Id="rId4" Type="http://schemas.openxmlformats.org/officeDocument/2006/relationships/slide" Target="slide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problems/thunder-and-lightning" TargetMode="External"/><Relationship Id="rId5" Type="http://schemas.openxmlformats.org/officeDocument/2006/relationships/hyperlink" Target="https://curriculum.nsw.edu.au/" TargetMode="External"/><Relationship Id="rId10" Type="http://schemas.openxmlformats.org/officeDocument/2006/relationships/hyperlink" Target="https://www.mathematicshub.edu.au/plan-teach-and-assess/teaching/springboard-maths-concepts/multiplication-2-digit-by-2-digit-numbers-video-and-teaching-guid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psmo.edu.au/"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mn-lt"/>
                <a:ea typeface="+mn-lt"/>
                <a:cs typeface="+mn-lt"/>
              </a:rPr>
              <a:t>This resource aligns to the learning in </a:t>
            </a:r>
            <a:r>
              <a:rPr lang="en-AU" sz="1800">
                <a:ea typeface="+mn-lt"/>
                <a:cs typeface="+mn-lt"/>
              </a:rPr>
              <a:t>Stage 3 Year B Unit 33</a:t>
            </a:r>
            <a:r>
              <a:rPr lang="en-AU" sz="1800">
                <a:latin typeface="+mn-lt"/>
                <a:ea typeface="+mn-lt"/>
                <a:cs typeface="+mn-lt"/>
              </a:rPr>
              <a:t> and revisits content from earlier sample units.</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33</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17">
            <a:extLst>
              <a:ext uri="{FF2B5EF4-FFF2-40B4-BE49-F238E27FC236}">
                <a16:creationId xmlns:a16="http://schemas.microsoft.com/office/drawing/2014/main" id="{371B0D6B-95AA-3D8F-0909-E9E8D069AEE9}"/>
              </a:ext>
            </a:extLst>
          </p:cNvPr>
          <p:cNvSpPr txBox="1">
            <a:spLocks noGrp="1"/>
          </p:cNvSpPr>
          <p:nvPr>
            <p:ph type="body" sz="quarter" idx="28"/>
          </p:nvPr>
        </p:nvSpPr>
        <p:spPr>
          <a:xfrm>
            <a:off x="360363" y="1625600"/>
            <a:ext cx="11242675" cy="75406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dirty="0"/>
              <a:t>The most </a:t>
            </a:r>
            <a:r>
              <a:rPr lang="en-US" sz="4000" b="1" dirty="0"/>
              <a:t>efficient</a:t>
            </a:r>
            <a:r>
              <a:rPr lang="en-US" sz="4000" dirty="0"/>
              <a:t> way to </a:t>
            </a:r>
            <a:r>
              <a:rPr lang="en-US" sz="4000" b="1" dirty="0" err="1"/>
              <a:t>factorise</a:t>
            </a:r>
            <a:r>
              <a:rPr lang="en-US" sz="4000" dirty="0"/>
              <a:t> </a:t>
            </a:r>
            <a:r>
              <a:rPr lang="en-US" sz="4000" b="1" dirty="0"/>
              <a:t>14 × 25 </a:t>
            </a:r>
            <a:r>
              <a:rPr lang="en-US" sz="4000" dirty="0"/>
              <a:t>is:</a:t>
            </a:r>
          </a:p>
        </p:txBody>
      </p:sp>
      <p:sp>
        <p:nvSpPr>
          <p:cNvPr id="9" name="B">
            <a:extLst>
              <a:ext uri="{FF2B5EF4-FFF2-40B4-BE49-F238E27FC236}">
                <a16:creationId xmlns:a16="http://schemas.microsoft.com/office/drawing/2014/main" id="{2579E796-78E6-099B-1516-BE205CC4FACD}"/>
              </a:ext>
            </a:extLst>
          </p:cNvPr>
          <p:cNvSpPr txBox="1"/>
          <p:nvPr/>
        </p:nvSpPr>
        <p:spPr>
          <a:xfrm>
            <a:off x="670563" y="29566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17" y="2931489"/>
            <a:ext cx="10175920" cy="641396"/>
          </a:xfrm>
        </p:spPr>
        <p:txBody>
          <a:bodyPr anchor="ctr"/>
          <a:lstStyle/>
          <a:p>
            <a:r>
              <a:rPr lang="en-US" sz="3600"/>
              <a:t>10 + 4 × 25</a:t>
            </a:r>
          </a:p>
        </p:txBody>
      </p:sp>
      <p:sp>
        <p:nvSpPr>
          <p:cNvPr id="10" name="B">
            <a:extLst>
              <a:ext uri="{FF2B5EF4-FFF2-40B4-BE49-F238E27FC236}">
                <a16:creationId xmlns:a16="http://schemas.microsoft.com/office/drawing/2014/main" id="{04CBC687-138E-8135-BF08-A76285D998BD}"/>
              </a:ext>
            </a:extLst>
          </p:cNvPr>
          <p:cNvSpPr txBox="1"/>
          <p:nvPr/>
        </p:nvSpPr>
        <p:spPr>
          <a:xfrm>
            <a:off x="670562" y="380457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789219"/>
            <a:ext cx="10175920" cy="641396"/>
          </a:xfrm>
        </p:spPr>
        <p:txBody>
          <a:bodyPr anchor="ctr"/>
          <a:lstStyle/>
          <a:p>
            <a:r>
              <a:rPr lang="en-US" sz="3600" dirty="0"/>
              <a:t>7 × 2 × 25</a:t>
            </a:r>
          </a:p>
        </p:txBody>
      </p:sp>
      <p:sp>
        <p:nvSpPr>
          <p:cNvPr id="12" name="C">
            <a:extLst>
              <a:ext uri="{FF2B5EF4-FFF2-40B4-BE49-F238E27FC236}">
                <a16:creationId xmlns:a16="http://schemas.microsoft.com/office/drawing/2014/main" id="{C605E3A9-768F-B21E-1E87-27B06AEB3AF5}"/>
              </a:ext>
            </a:extLst>
          </p:cNvPr>
          <p:cNvSpPr txBox="1"/>
          <p:nvPr/>
        </p:nvSpPr>
        <p:spPr>
          <a:xfrm>
            <a:off x="670561" y="46546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646949"/>
            <a:ext cx="10175920" cy="641396"/>
          </a:xfrm>
        </p:spPr>
        <p:txBody>
          <a:bodyPr anchor="ctr"/>
          <a:lstStyle/>
          <a:p>
            <a:r>
              <a:rPr lang="en-US" sz="3600" dirty="0"/>
              <a:t>7 × 5 × 5</a:t>
            </a:r>
          </a:p>
        </p:txBody>
      </p:sp>
      <p:sp>
        <p:nvSpPr>
          <p:cNvPr id="11" name="D">
            <a:extLst>
              <a:ext uri="{FF2B5EF4-FFF2-40B4-BE49-F238E27FC236}">
                <a16:creationId xmlns:a16="http://schemas.microsoft.com/office/drawing/2014/main" id="{8EADE37E-99CA-3A50-524F-30E28DF3B7C4}"/>
              </a:ext>
            </a:extLst>
          </p:cNvPr>
          <p:cNvSpPr txBox="1"/>
          <p:nvPr/>
        </p:nvSpPr>
        <p:spPr>
          <a:xfrm>
            <a:off x="670560" y="550467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504679"/>
            <a:ext cx="10175920" cy="641396"/>
          </a:xfrm>
        </p:spPr>
        <p:txBody>
          <a:bodyPr anchor="ctr"/>
          <a:lstStyle/>
          <a:p>
            <a:r>
              <a:rPr lang="en-US" sz="3600" dirty="0">
                <a:cs typeface="Arial"/>
              </a:rPr>
              <a:t>7 × 5 + 10</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17">
            <a:extLst>
              <a:ext uri="{FF2B5EF4-FFF2-40B4-BE49-F238E27FC236}">
                <a16:creationId xmlns:a16="http://schemas.microsoft.com/office/drawing/2014/main" id="{DA9CB5D7-DF43-0268-8B35-6844096A89FB}"/>
              </a:ext>
            </a:extLst>
          </p:cNvPr>
          <p:cNvSpPr txBox="1">
            <a:spLocks/>
          </p:cNvSpPr>
          <p:nvPr/>
        </p:nvSpPr>
        <p:spPr>
          <a:xfrm>
            <a:off x="360000" y="1702079"/>
            <a:ext cx="11242675" cy="75406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Use the </a:t>
            </a:r>
            <a:r>
              <a:rPr lang="en-US" sz="4400" b="1" dirty="0"/>
              <a:t>area model</a:t>
            </a:r>
            <a:r>
              <a:rPr lang="en-US" sz="4400" dirty="0"/>
              <a:t> to solve:</a:t>
            </a:r>
          </a:p>
          <a:p>
            <a:pPr algn="ctr"/>
            <a:endParaRPr lang="en-US" sz="4400" dirty="0"/>
          </a:p>
          <a:p>
            <a:pPr algn="ctr"/>
            <a:r>
              <a:rPr lang="en-US" sz="5400" b="1" dirty="0"/>
              <a:t>256 x 4</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3655DEF1-DBB2-AC10-2238-D9DD11565566}"/>
              </a:ext>
            </a:extLst>
          </p:cNvPr>
          <p:cNvSpPr txBox="1">
            <a:spLocks/>
          </p:cNvSpPr>
          <p:nvPr/>
        </p:nvSpPr>
        <p:spPr>
          <a:xfrm>
            <a:off x="293325" y="1301750"/>
            <a:ext cx="11357337" cy="75406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dirty="0"/>
              <a:t>Is this statement </a:t>
            </a:r>
            <a:r>
              <a:rPr lang="en-AU" sz="3200" b="1" dirty="0"/>
              <a:t>always true</a:t>
            </a:r>
            <a:r>
              <a:rPr lang="en-AU" sz="3200" dirty="0"/>
              <a:t>, </a:t>
            </a:r>
            <a:r>
              <a:rPr lang="en-AU" sz="3200" b="1" dirty="0"/>
              <a:t>sometimes true </a:t>
            </a:r>
            <a:r>
              <a:rPr lang="en-AU" sz="3200" dirty="0"/>
              <a:t>or </a:t>
            </a:r>
            <a:r>
              <a:rPr lang="en-AU" sz="3200" b="1" dirty="0"/>
              <a:t>never true</a:t>
            </a:r>
            <a:r>
              <a:rPr lang="en-AU" sz="3200" dirty="0"/>
              <a:t>?</a:t>
            </a:r>
            <a:endParaRPr lang="en-US" sz="3200" dirty="0"/>
          </a:p>
          <a:p>
            <a:pPr algn="ctr"/>
            <a:endParaRPr lang="en-AU" sz="4400" dirty="0"/>
          </a:p>
          <a:p>
            <a:pPr algn="ctr"/>
            <a:r>
              <a:rPr lang="en-AU" sz="4400" dirty="0"/>
              <a:t>A regular octagon has </a:t>
            </a:r>
            <a:r>
              <a:rPr lang="en-AU" sz="4400" b="1" dirty="0"/>
              <a:t>8 lines of symmetry </a:t>
            </a:r>
            <a:r>
              <a:rPr lang="en-AU" sz="4400" dirty="0"/>
              <a:t>and </a:t>
            </a:r>
            <a:r>
              <a:rPr lang="en-AU" sz="4400" b="1" dirty="0"/>
              <a:t>rotational symmetry</a:t>
            </a:r>
            <a:r>
              <a:rPr lang="en-AU" sz="4400" dirty="0"/>
              <a:t>.</a:t>
            </a:r>
            <a:endParaRPr lang="en-US" sz="4400" dirty="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6">
            <a:extLst>
              <a:ext uri="{FF2B5EF4-FFF2-40B4-BE49-F238E27FC236}">
                <a16:creationId xmlns:a16="http://schemas.microsoft.com/office/drawing/2014/main" id="{1CE07E54-4AF3-8B58-5059-C8E638B5DEB1}"/>
              </a:ext>
            </a:extLst>
          </p:cNvPr>
          <p:cNvSpPr txBox="1"/>
          <p:nvPr/>
        </p:nvSpPr>
        <p:spPr>
          <a:xfrm>
            <a:off x="1025259" y="1236268"/>
            <a:ext cx="10098741" cy="915500"/>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a:latin typeface="+mj-lt"/>
              </a:rPr>
              <a:t>What </a:t>
            </a:r>
            <a:r>
              <a:rPr lang="en-AU" sz="4400" b="1">
                <a:latin typeface="+mj-lt"/>
              </a:rPr>
              <a:t>number</a:t>
            </a:r>
            <a:r>
              <a:rPr lang="en-AU" sz="4400">
                <a:latin typeface="+mj-lt"/>
              </a:rPr>
              <a:t> am I?</a:t>
            </a:r>
          </a:p>
        </p:txBody>
      </p:sp>
      <p:sp>
        <p:nvSpPr>
          <p:cNvPr id="9" name="TextBox 7">
            <a:extLst>
              <a:ext uri="{FF2B5EF4-FFF2-40B4-BE49-F238E27FC236}">
                <a16:creationId xmlns:a16="http://schemas.microsoft.com/office/drawing/2014/main" id="{504B0151-65BD-BAEA-20D2-47B70A968FC2}"/>
              </a:ext>
            </a:extLst>
          </p:cNvPr>
          <p:cNvSpPr txBox="1"/>
          <p:nvPr/>
        </p:nvSpPr>
        <p:spPr>
          <a:xfrm>
            <a:off x="501943" y="2798619"/>
            <a:ext cx="11145371" cy="3070530"/>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a:latin typeface="+mj-lt"/>
              </a:rPr>
              <a:t>I can be </a:t>
            </a:r>
            <a:r>
              <a:rPr lang="en-AU" sz="4400" b="1">
                <a:latin typeface="+mj-lt"/>
              </a:rPr>
              <a:t>grouped</a:t>
            </a:r>
            <a:r>
              <a:rPr lang="en-AU" sz="4400">
                <a:latin typeface="+mj-lt"/>
              </a:rPr>
              <a:t> as:</a:t>
            </a:r>
          </a:p>
          <a:p>
            <a:pPr algn="ctr">
              <a:lnSpc>
                <a:spcPct val="150000"/>
              </a:lnSpc>
            </a:pPr>
            <a:r>
              <a:rPr lang="en-AU" sz="4400">
                <a:latin typeface="+mj-lt"/>
              </a:rPr>
              <a:t>2 millions, 56 thousands, 4 hundreds, 21 tens and 19 ones.</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5958106B-A3D4-324A-47BF-55F74EBB2794}"/>
              </a:ext>
            </a:extLst>
          </p:cNvPr>
          <p:cNvSpPr txBox="1">
            <a:spLocks/>
          </p:cNvSpPr>
          <p:nvPr/>
        </p:nvSpPr>
        <p:spPr>
          <a:xfrm>
            <a:off x="486663" y="1404057"/>
            <a:ext cx="11357337" cy="75406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dirty="0"/>
              <a:t>Record </a:t>
            </a:r>
            <a:r>
              <a:rPr lang="en-US" sz="3600" dirty="0"/>
              <a:t>the</a:t>
            </a:r>
            <a:r>
              <a:rPr lang="en-US" sz="3600" b="1" dirty="0"/>
              <a:t> adjacent angle’s measurement.</a:t>
            </a:r>
            <a:endParaRPr lang="en-AU" sz="3600" dirty="0"/>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5" name="AutoShape 2"/>
          <p:cNvSpPr/>
          <p:nvPr/>
        </p:nvSpPr>
        <p:spPr>
          <a:xfrm flipV="1">
            <a:off x="4827398" y="3337827"/>
            <a:ext cx="2927382" cy="2537663"/>
          </a:xfrm>
          <a:prstGeom prst="line">
            <a:avLst/>
          </a:prstGeom>
          <a:ln w="66675" cap="flat">
            <a:solidFill>
              <a:srgbClr val="FF0000">
                <a:alpha val="75686"/>
              </a:srgbClr>
            </a:solidFill>
            <a:prstDash val="solid"/>
            <a:headEnd type="none" w="sm" len="sm"/>
            <a:tailEnd type="arrow" w="med" len="sm"/>
          </a:ln>
        </p:spPr>
        <p:txBody>
          <a:bodyPr/>
          <a:lstStyle/>
          <a:p>
            <a:endParaRPr lang="en-AU" sz="2178"/>
          </a:p>
        </p:txBody>
      </p:sp>
      <p:sp>
        <p:nvSpPr>
          <p:cNvPr id="7" name="Freeform 3"/>
          <p:cNvSpPr/>
          <p:nvPr/>
        </p:nvSpPr>
        <p:spPr>
          <a:xfrm>
            <a:off x="6990972" y="4029394"/>
            <a:ext cx="763830" cy="1846097"/>
          </a:xfrm>
          <a:custGeom>
            <a:avLst/>
            <a:gdLst/>
            <a:ahLst/>
            <a:cxnLst/>
            <a:rect l="l" t="t" r="r" b="b"/>
            <a:pathLst>
              <a:path w="380226" h="1444848">
                <a:moveTo>
                  <a:pt x="299173" y="1444848"/>
                </a:moveTo>
                <a:quadBezTo>
                  <a:pt x="555778" y="584148"/>
                  <a:pt x="0" y="0"/>
                </a:quadBezTo>
              </a:path>
            </a:pathLst>
          </a:custGeom>
          <a:ln w="66675" cap="flat">
            <a:solidFill>
              <a:srgbClr val="146CFD">
                <a:alpha val="75686"/>
              </a:srgbClr>
            </a:solidFill>
            <a:prstDash val="solid"/>
            <a:headEnd type="none" w="sm" len="sm"/>
            <a:tailEnd type="arrow" w="med" len="sm"/>
          </a:ln>
        </p:spPr>
        <p:txBody>
          <a:bodyPr/>
          <a:lstStyle/>
          <a:p>
            <a:endParaRPr lang="en-AU" sz="2178"/>
          </a:p>
        </p:txBody>
      </p:sp>
      <p:sp>
        <p:nvSpPr>
          <p:cNvPr id="9" name="Freeform 4"/>
          <p:cNvSpPr/>
          <p:nvPr/>
        </p:nvSpPr>
        <p:spPr>
          <a:xfrm>
            <a:off x="4870621" y="3337826"/>
            <a:ext cx="1982019" cy="760718"/>
          </a:xfrm>
          <a:custGeom>
            <a:avLst/>
            <a:gdLst/>
            <a:ahLst/>
            <a:cxnLst/>
            <a:rect l="l" t="t" r="r" b="b"/>
            <a:pathLst>
              <a:path w="2519323" h="1126149">
                <a:moveTo>
                  <a:pt x="2519323" y="1126150"/>
                </a:moveTo>
                <a:quadBezTo>
                  <a:pt x="1794336" y="-122320"/>
                  <a:pt x="0" y="13287"/>
                </a:quadBezTo>
              </a:path>
            </a:pathLst>
          </a:custGeom>
          <a:ln w="66675" cap="flat">
            <a:solidFill>
              <a:srgbClr val="F7830D">
                <a:alpha val="75686"/>
              </a:srgbClr>
            </a:solidFill>
            <a:prstDash val="solid"/>
            <a:headEnd type="none" w="sm" len="sm"/>
            <a:tailEnd type="arrow" w="med" len="sm"/>
          </a:ln>
        </p:spPr>
        <p:txBody>
          <a:bodyPr/>
          <a:lstStyle/>
          <a:p>
            <a:endParaRPr lang="en-AU" sz="2178"/>
          </a:p>
        </p:txBody>
      </p:sp>
      <p:sp>
        <p:nvSpPr>
          <p:cNvPr id="10" name="TextBox 5"/>
          <p:cNvSpPr txBox="1"/>
          <p:nvPr/>
        </p:nvSpPr>
        <p:spPr>
          <a:xfrm>
            <a:off x="7842631" y="4938338"/>
            <a:ext cx="583610" cy="420436"/>
          </a:xfrm>
          <a:prstGeom prst="rect">
            <a:avLst/>
          </a:prstGeom>
        </p:spPr>
        <p:txBody>
          <a:bodyPr lIns="0" tIns="0" rIns="0" bIns="0" rtlCol="0" anchor="t">
            <a:spAutoFit/>
          </a:bodyPr>
          <a:lstStyle/>
          <a:p>
            <a:pPr>
              <a:lnSpc>
                <a:spcPts val="3557"/>
              </a:lnSpc>
              <a:spcBef>
                <a:spcPct val="0"/>
              </a:spcBef>
            </a:pPr>
            <a:r>
              <a:rPr lang="en-US" sz="2540" b="1" dirty="0">
                <a:solidFill>
                  <a:srgbClr val="146CFD"/>
                </a:solidFill>
                <a:latin typeface="Glacial Indifference Bold"/>
                <a:ea typeface="Glacial Indifference Bold"/>
                <a:cs typeface="Glacial Indifference Bold"/>
                <a:sym typeface="Glacial Indifference Bold"/>
              </a:rPr>
              <a:t>40°</a:t>
            </a:r>
          </a:p>
        </p:txBody>
      </p:sp>
      <p:sp>
        <p:nvSpPr>
          <p:cNvPr id="11" name="AutoShape 6"/>
          <p:cNvSpPr/>
          <p:nvPr/>
        </p:nvSpPr>
        <p:spPr>
          <a:xfrm>
            <a:off x="4784175" y="5907494"/>
            <a:ext cx="3332571" cy="0"/>
          </a:xfrm>
          <a:prstGeom prst="line">
            <a:avLst/>
          </a:prstGeom>
          <a:ln w="95250" cap="rnd">
            <a:solidFill>
              <a:srgbClr val="000000"/>
            </a:solidFill>
            <a:prstDash val="solid"/>
            <a:headEnd type="none" w="sm" len="sm"/>
            <a:tailEnd type="none" w="sm" len="sm"/>
          </a:ln>
        </p:spPr>
        <p:txBody>
          <a:bodyPr/>
          <a:lstStyle/>
          <a:p>
            <a:endParaRPr lang="en-AU" sz="2178"/>
          </a:p>
        </p:txBody>
      </p:sp>
      <p:sp>
        <p:nvSpPr>
          <p:cNvPr id="12" name="AutoShape 7"/>
          <p:cNvSpPr/>
          <p:nvPr/>
        </p:nvSpPr>
        <p:spPr>
          <a:xfrm>
            <a:off x="4827397" y="2618146"/>
            <a:ext cx="0" cy="3332571"/>
          </a:xfrm>
          <a:prstGeom prst="line">
            <a:avLst/>
          </a:prstGeom>
          <a:ln w="95250" cap="rnd">
            <a:solidFill>
              <a:srgbClr val="000000"/>
            </a:solidFill>
            <a:prstDash val="solid"/>
            <a:headEnd type="none" w="sm" len="sm"/>
            <a:tailEnd type="none" w="sm" len="sm"/>
          </a:ln>
        </p:spPr>
        <p:txBody>
          <a:bodyPr/>
          <a:lstStyle/>
          <a:p>
            <a:endParaRPr lang="en-AU" sz="2178"/>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factorising for mental multiplication</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372AF87D-84E2-18FE-61A0-3A96E756A6D9}"/>
              </a:ext>
            </a:extLst>
          </p:cNvPr>
          <p:cNvSpPr txBox="1"/>
          <p:nvPr/>
        </p:nvSpPr>
        <p:spPr>
          <a:xfrm>
            <a:off x="1662090" y="2735758"/>
            <a:ext cx="9243692" cy="923330"/>
          </a:xfrm>
          <a:prstGeom prst="rect">
            <a:avLst/>
          </a:prstGeom>
          <a:noFill/>
        </p:spPr>
        <p:txBody>
          <a:bodyPr wrap="square" lIns="91440" tIns="45720" rIns="91440" bIns="45720" anchor="t">
            <a:spAutoFit/>
          </a:bodyPr>
          <a:lstStyle/>
          <a:p>
            <a:pPr algn="ctr"/>
            <a:r>
              <a:rPr lang="en-AU" sz="5400" b="1" dirty="0">
                <a:effectLst/>
                <a:latin typeface="Arial"/>
                <a:ea typeface="Calibri"/>
                <a:cs typeface="Arial"/>
              </a:rPr>
              <a:t>25 × 48 =</a:t>
            </a:r>
            <a:endParaRPr lang="en-AU" sz="5400" b="1" dirty="0">
              <a:latin typeface="Public Sans Light"/>
              <a:ea typeface="Calibri"/>
              <a:cs typeface="Arial"/>
            </a:endParaRP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4228" y="1188681"/>
            <a:ext cx="5147037" cy="893226"/>
          </a:xfrm>
        </p:spPr>
        <p:txBody>
          <a:bodyPr vert="horz" lIns="0" tIns="0" rIns="0" bIns="0" rtlCol="0" anchor="t">
            <a:noAutofit/>
          </a:bodyPr>
          <a:lstStyle/>
          <a:p>
            <a:pPr algn="ctr"/>
            <a:r>
              <a:rPr lang="en-AU" sz="4000">
                <a:latin typeface="Arial"/>
                <a:cs typeface="Arial"/>
              </a:rPr>
              <a:t>The </a:t>
            </a:r>
            <a:r>
              <a:rPr lang="en-AU" sz="4000" b="1">
                <a:latin typeface="Arial"/>
                <a:cs typeface="Arial"/>
              </a:rPr>
              <a:t>partial products </a:t>
            </a:r>
            <a:r>
              <a:rPr lang="en-AU" sz="4000">
                <a:latin typeface="Arial"/>
                <a:cs typeface="Arial"/>
              </a:rPr>
              <a:t>for this </a:t>
            </a:r>
            <a:r>
              <a:rPr lang="en-AU" sz="4000" b="1">
                <a:latin typeface="Arial"/>
                <a:cs typeface="Arial"/>
              </a:rPr>
              <a:t>area model </a:t>
            </a:r>
            <a:r>
              <a:rPr lang="en-AU" sz="4000">
                <a:latin typeface="Arial"/>
                <a:cs typeface="Arial"/>
              </a:rPr>
              <a:t>to solve </a:t>
            </a:r>
            <a:r>
              <a:rPr lang="en-AU" sz="4000" b="1">
                <a:latin typeface="Arial"/>
                <a:cs typeface="Arial"/>
              </a:rPr>
              <a:t>48 × 37</a:t>
            </a:r>
            <a:r>
              <a:rPr lang="en-AU" sz="4000">
                <a:latin typeface="Arial"/>
                <a:cs typeface="Arial"/>
              </a:rPr>
              <a:t> have been calculated </a:t>
            </a:r>
            <a:r>
              <a:rPr lang="en-AU" sz="4000" b="1">
                <a:latin typeface="Arial"/>
                <a:cs typeface="Arial"/>
              </a:rPr>
              <a:t>correctly</a:t>
            </a:r>
            <a:r>
              <a:rPr lang="en-AU" sz="4000">
                <a:latin typeface="Arial"/>
                <a:cs typeface="Arial"/>
              </a:rPr>
              <a:t>.</a:t>
            </a:r>
          </a:p>
        </p:txBody>
      </p:sp>
      <p:pic>
        <p:nvPicPr>
          <p:cNvPr id="8" name="Picture 7" descr="An area model for 48 x 37&#10;&#10;Partial products are:&#10;40 x 30 = 120&#10;7 x 30 = 210&#10;40 x 7 = 280&#10;7 x 8 = 54">
            <a:extLst>
              <a:ext uri="{FF2B5EF4-FFF2-40B4-BE49-F238E27FC236}">
                <a16:creationId xmlns:a16="http://schemas.microsoft.com/office/drawing/2014/main" id="{38A3EE89-6460-F6B1-D8C8-255FF4BA0D60}"/>
              </a:ext>
            </a:extLst>
          </p:cNvPr>
          <p:cNvPicPr>
            <a:picLocks noChangeAspect="1"/>
          </p:cNvPicPr>
          <p:nvPr/>
        </p:nvPicPr>
        <p:blipFill>
          <a:blip r:embed="rId4"/>
          <a:stretch>
            <a:fillRect/>
          </a:stretch>
        </p:blipFill>
        <p:spPr>
          <a:xfrm>
            <a:off x="6097357" y="1478314"/>
            <a:ext cx="5586545" cy="3916649"/>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289216375"/>
              </p:ext>
            </p:extLst>
          </p:nvPr>
        </p:nvGraphicFramePr>
        <p:xfrm>
          <a:off x="2442512" y="587233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9D23FDC3-EB69-5DC8-4AC3-9B2D66CE94C7}"/>
              </a:ext>
            </a:extLst>
          </p:cNvPr>
          <p:cNvSpPr txBox="1">
            <a:spLocks/>
          </p:cNvSpPr>
          <p:nvPr/>
        </p:nvSpPr>
        <p:spPr>
          <a:xfrm>
            <a:off x="1024854" y="1328516"/>
            <a:ext cx="10099146"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dirty="0"/>
              <a:t>Select an </a:t>
            </a:r>
            <a:r>
              <a:rPr lang="en-AU" sz="4000" b="1" dirty="0"/>
              <a:t>efficient multiplicative strategy </a:t>
            </a:r>
            <a:r>
              <a:rPr lang="en-AU" sz="4000" dirty="0"/>
              <a:t>to solve:</a:t>
            </a:r>
          </a:p>
          <a:p>
            <a:pPr algn="ctr"/>
            <a:endParaRPr lang="en-AU" sz="2000" dirty="0"/>
          </a:p>
          <a:p>
            <a:pPr algn="ctr"/>
            <a:r>
              <a:rPr lang="en-AU" sz="5400" b="1" dirty="0"/>
              <a:t>18 x 500</a:t>
            </a:r>
          </a:p>
          <a:p>
            <a:pPr algn="ctr"/>
            <a:endParaRPr lang="en-AU" sz="2400" b="1" dirty="0"/>
          </a:p>
          <a:p>
            <a:pPr algn="ctr"/>
            <a:r>
              <a:rPr lang="en-AU" sz="4400" b="1" dirty="0"/>
              <a:t>Communicate </a:t>
            </a:r>
            <a:r>
              <a:rPr lang="en-AU" sz="4400" dirty="0"/>
              <a:t>your</a:t>
            </a:r>
            <a:r>
              <a:rPr lang="en-AU" sz="4400" b="1" dirty="0"/>
              <a:t> reasoning.</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6990FB11-1039-18BC-CB76-A05A90C83EBC}"/>
              </a:ext>
            </a:extLst>
          </p:cNvPr>
          <p:cNvSpPr txBox="1">
            <a:spLocks/>
          </p:cNvSpPr>
          <p:nvPr/>
        </p:nvSpPr>
        <p:spPr>
          <a:xfrm>
            <a:off x="600963" y="1184223"/>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b="1" dirty="0"/>
              <a:t>Visualise </a:t>
            </a:r>
            <a:r>
              <a:rPr lang="en-AU" sz="4000" dirty="0"/>
              <a:t>this </a:t>
            </a:r>
            <a:r>
              <a:rPr lang="en-AU" sz="4000" b="1" dirty="0"/>
              <a:t>trapezium</a:t>
            </a:r>
            <a:r>
              <a:rPr lang="en-AU" sz="4000" dirty="0"/>
              <a:t> rotated </a:t>
            </a:r>
            <a:r>
              <a:rPr lang="en-AU" sz="4000" b="1" dirty="0"/>
              <a:t>a half-turn</a:t>
            </a:r>
            <a:r>
              <a:rPr lang="en-AU" sz="4000" dirty="0"/>
              <a:t>.</a:t>
            </a:r>
          </a:p>
        </p:txBody>
      </p:sp>
      <p:sp>
        <p:nvSpPr>
          <p:cNvPr id="5" name="Trapezoid 4" descr="trapezium">
            <a:extLst>
              <a:ext uri="{FF2B5EF4-FFF2-40B4-BE49-F238E27FC236}">
                <a16:creationId xmlns:a16="http://schemas.microsoft.com/office/drawing/2014/main" id="{C73E86F6-31B0-F9CF-915C-313853DBF513}"/>
              </a:ext>
            </a:extLst>
          </p:cNvPr>
          <p:cNvSpPr/>
          <p:nvPr/>
        </p:nvSpPr>
        <p:spPr>
          <a:xfrm>
            <a:off x="4122126" y="2375009"/>
            <a:ext cx="3133725" cy="1499735"/>
          </a:xfrm>
          <a:prstGeom prst="trapezoid">
            <a:avLst/>
          </a:prstGeom>
          <a:solidFill>
            <a:srgbClr val="B51458"/>
          </a:solidFill>
          <a:ln w="28575"/>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ln w="38100">
                <a:solidFill>
                  <a:schemeClr val="tx1"/>
                </a:solidFill>
              </a:ln>
            </a:endParaRP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8" name="TextBox 7">
            <a:extLst>
              <a:ext uri="{FF2B5EF4-FFF2-40B4-BE49-F238E27FC236}">
                <a16:creationId xmlns:a16="http://schemas.microsoft.com/office/drawing/2014/main" id="{5370959B-94B7-35D9-5336-DB9E436C491F}"/>
              </a:ext>
            </a:extLst>
          </p:cNvPr>
          <p:cNvSpPr txBox="1"/>
          <p:nvPr/>
        </p:nvSpPr>
        <p:spPr>
          <a:xfrm>
            <a:off x="679733" y="3857747"/>
            <a:ext cx="10544174" cy="2748253"/>
          </a:xfrm>
          <a:prstGeom prst="rect">
            <a:avLst/>
          </a:prstGeom>
          <a:noFill/>
        </p:spPr>
        <p:txBody>
          <a:bodyPr wrap="square">
            <a:spAutoFit/>
          </a:bodyPr>
          <a:lstStyle/>
          <a:p>
            <a:pPr>
              <a:lnSpc>
                <a:spcPct val="150000"/>
              </a:lnSpc>
            </a:pPr>
            <a:r>
              <a:rPr lang="en-AU" sz="4000" b="1" dirty="0"/>
              <a:t>Record:</a:t>
            </a:r>
          </a:p>
          <a:p>
            <a:pPr marL="742950" indent="-742950">
              <a:lnSpc>
                <a:spcPct val="150000"/>
              </a:lnSpc>
              <a:buFont typeface="+mj-lt"/>
              <a:buAutoNum type="alphaLcParenR"/>
            </a:pPr>
            <a:r>
              <a:rPr lang="en-AU" sz="4000" dirty="0"/>
              <a:t> What changed?</a:t>
            </a:r>
          </a:p>
          <a:p>
            <a:pPr marL="742950" indent="-742950">
              <a:lnSpc>
                <a:spcPct val="150000"/>
              </a:lnSpc>
              <a:buFont typeface="+mj-lt"/>
              <a:buAutoNum type="alphaLcParenR"/>
            </a:pPr>
            <a:r>
              <a:rPr lang="en-AU" sz="4000" dirty="0"/>
              <a:t> What stayed the same? </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3">
            <a:extLst>
              <a:ext uri="{FF2B5EF4-FFF2-40B4-BE49-F238E27FC236}">
                <a16:creationId xmlns:a16="http://schemas.microsoft.com/office/drawing/2014/main" id="{4AC474F7-56BC-F87D-6740-0A3E18A9218E}"/>
              </a:ext>
            </a:extLst>
          </p:cNvPr>
          <p:cNvSpPr txBox="1"/>
          <p:nvPr/>
        </p:nvSpPr>
        <p:spPr>
          <a:xfrm>
            <a:off x="354000" y="1267688"/>
            <a:ext cx="11483999" cy="108232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lnSpc>
                <a:spcPct val="150000"/>
              </a:lnSpc>
            </a:pPr>
            <a:r>
              <a:rPr lang="en-AU" sz="4400" b="1" dirty="0"/>
              <a:t>Record</a:t>
            </a:r>
            <a:r>
              <a:rPr lang="en-AU" sz="4400" dirty="0"/>
              <a:t> the following using </a:t>
            </a:r>
            <a:r>
              <a:rPr lang="en-AU" sz="4400" b="1" dirty="0"/>
              <a:t>decimal notation</a:t>
            </a:r>
            <a:r>
              <a:rPr lang="en-AU" sz="4400" dirty="0"/>
              <a:t>:</a:t>
            </a:r>
          </a:p>
        </p:txBody>
      </p:sp>
      <p:sp>
        <p:nvSpPr>
          <p:cNvPr id="7" name="TextBox 4">
            <a:extLst>
              <a:ext uri="{FF2B5EF4-FFF2-40B4-BE49-F238E27FC236}">
                <a16:creationId xmlns:a16="http://schemas.microsoft.com/office/drawing/2014/main" id="{9A165845-C591-2CEC-C143-933801262CDB}"/>
              </a:ext>
            </a:extLst>
          </p:cNvPr>
          <p:cNvSpPr txBox="1"/>
          <p:nvPr/>
        </p:nvSpPr>
        <p:spPr>
          <a:xfrm>
            <a:off x="3491679" y="2476073"/>
            <a:ext cx="6825828" cy="2791923"/>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742950" indent="-742950" algn="l">
              <a:lnSpc>
                <a:spcPct val="200000"/>
              </a:lnSpc>
              <a:buFont typeface="+mj-lt"/>
              <a:buAutoNum type="alphaLcParenR"/>
            </a:pPr>
            <a:r>
              <a:rPr lang="en-AU" sz="4400" dirty="0"/>
              <a:t>89 thousandths</a:t>
            </a:r>
          </a:p>
          <a:p>
            <a:pPr marL="742950" indent="-742950" algn="l">
              <a:lnSpc>
                <a:spcPct val="200000"/>
              </a:lnSpc>
              <a:buFont typeface="+mj-lt"/>
              <a:buAutoNum type="alphaLcParenR"/>
            </a:pPr>
            <a:r>
              <a:rPr lang="en-AU" sz="4400" dirty="0"/>
              <a:t>109 thousandths</a:t>
            </a:r>
          </a:p>
          <a:p>
            <a:pPr marL="742950" indent="-742950" algn="l">
              <a:lnSpc>
                <a:spcPct val="200000"/>
              </a:lnSpc>
              <a:buFont typeface="+mj-lt"/>
              <a:buAutoNum type="alphaLcParenR"/>
            </a:pPr>
            <a:r>
              <a:rPr lang="en-AU" sz="4400" dirty="0"/>
              <a:t>2 thousandths</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5775CB3-C3CC-569D-BA91-AAEC0426F623}"/>
              </a:ext>
            </a:extLst>
          </p:cNvPr>
          <p:cNvSpPr txBox="1"/>
          <p:nvPr/>
        </p:nvSpPr>
        <p:spPr>
          <a:xfrm>
            <a:off x="531773" y="1124527"/>
            <a:ext cx="10783842" cy="1998176"/>
          </a:xfrm>
          <a:prstGeom prst="rect">
            <a:avLst/>
          </a:prstGeom>
          <a:noFill/>
        </p:spPr>
        <p:txBody>
          <a:bodyPr wrap="square">
            <a:spAutoFit/>
          </a:bodyPr>
          <a:lstStyle/>
          <a:p>
            <a:pPr algn="ctr">
              <a:lnSpc>
                <a:spcPct val="150000"/>
              </a:lnSpc>
            </a:pPr>
            <a:r>
              <a:rPr lang="en-US" sz="4400" b="1" dirty="0"/>
              <a:t>Record </a:t>
            </a:r>
            <a:r>
              <a:rPr lang="en-US" sz="4400" dirty="0"/>
              <a:t>the</a:t>
            </a:r>
            <a:r>
              <a:rPr lang="en-US" sz="4400" b="1" dirty="0"/>
              <a:t> adjacent angle’s measurement.</a:t>
            </a:r>
            <a:endParaRPr lang="en-AU" sz="4400" dirty="0"/>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grpSp>
        <p:nvGrpSpPr>
          <p:cNvPr id="15" name="Group 14">
            <a:extLst>
              <a:ext uri="{FF2B5EF4-FFF2-40B4-BE49-F238E27FC236}">
                <a16:creationId xmlns:a16="http://schemas.microsoft.com/office/drawing/2014/main" id="{9449BE35-7EFF-3290-F075-079A04282DAB}"/>
              </a:ext>
            </a:extLst>
          </p:cNvPr>
          <p:cNvGrpSpPr/>
          <p:nvPr/>
        </p:nvGrpSpPr>
        <p:grpSpPr>
          <a:xfrm>
            <a:off x="2608536" y="3182399"/>
            <a:ext cx="8421940" cy="3526956"/>
            <a:chOff x="2608536" y="3182399"/>
            <a:chExt cx="8421940" cy="3526956"/>
          </a:xfrm>
        </p:grpSpPr>
        <p:sp>
          <p:nvSpPr>
            <p:cNvPr id="9" name="AutoShape 23">
              <a:extLst>
                <a:ext uri="{FF2B5EF4-FFF2-40B4-BE49-F238E27FC236}">
                  <a16:creationId xmlns:a16="http://schemas.microsoft.com/office/drawing/2014/main" id="{533ADEC3-08BA-577C-BC2B-4B5459FB2A55}"/>
                </a:ext>
              </a:extLst>
            </p:cNvPr>
            <p:cNvSpPr/>
            <p:nvPr/>
          </p:nvSpPr>
          <p:spPr>
            <a:xfrm flipH="1" flipV="1">
              <a:off x="5043844" y="3182399"/>
              <a:ext cx="606932" cy="3474569"/>
            </a:xfrm>
            <a:prstGeom prst="line">
              <a:avLst/>
            </a:prstGeom>
            <a:ln w="76200" cap="flat">
              <a:solidFill>
                <a:srgbClr val="FF0000">
                  <a:alpha val="75686"/>
                </a:srgbClr>
              </a:solidFill>
              <a:prstDash val="solid"/>
              <a:headEnd type="none" w="sm" len="sm"/>
              <a:tailEnd type="arrow" w="med" len="sm"/>
            </a:ln>
          </p:spPr>
          <p:txBody>
            <a:bodyPr/>
            <a:lstStyle/>
            <a:p>
              <a:endParaRPr lang="en-AU"/>
            </a:p>
          </p:txBody>
        </p:sp>
        <p:sp>
          <p:nvSpPr>
            <p:cNvPr id="10" name="Freeform 24">
              <a:extLst>
                <a:ext uri="{FF2B5EF4-FFF2-40B4-BE49-F238E27FC236}">
                  <a16:creationId xmlns:a16="http://schemas.microsoft.com/office/drawing/2014/main" id="{5812C943-803A-AE39-4793-EFFCE4836C0F}"/>
                </a:ext>
              </a:extLst>
            </p:cNvPr>
            <p:cNvSpPr/>
            <p:nvPr/>
          </p:nvSpPr>
          <p:spPr>
            <a:xfrm>
              <a:off x="4146313" y="6236078"/>
              <a:ext cx="3004933" cy="473277"/>
            </a:xfrm>
            <a:custGeom>
              <a:avLst/>
              <a:gdLst/>
              <a:ahLst/>
              <a:cxnLst/>
              <a:rect l="l" t="t" r="r" b="b"/>
              <a:pathLst>
                <a:path w="3004933" h="473277">
                  <a:moveTo>
                    <a:pt x="0" y="0"/>
                  </a:moveTo>
                  <a:lnTo>
                    <a:pt x="3004933" y="0"/>
                  </a:lnTo>
                  <a:lnTo>
                    <a:pt x="3004933" y="473277"/>
                  </a:lnTo>
                  <a:lnTo>
                    <a:pt x="0" y="4732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1" name="Freeform 25">
              <a:extLst>
                <a:ext uri="{FF2B5EF4-FFF2-40B4-BE49-F238E27FC236}">
                  <a16:creationId xmlns:a16="http://schemas.microsoft.com/office/drawing/2014/main" id="{FDA336B7-B1CA-2313-DC9A-323FFC300A5E}"/>
                </a:ext>
              </a:extLst>
            </p:cNvPr>
            <p:cNvSpPr/>
            <p:nvPr/>
          </p:nvSpPr>
          <p:spPr>
            <a:xfrm>
              <a:off x="5248107" y="4205434"/>
              <a:ext cx="3450873" cy="2396351"/>
            </a:xfrm>
            <a:custGeom>
              <a:avLst/>
              <a:gdLst/>
              <a:ahLst/>
              <a:cxnLst/>
              <a:rect l="l" t="t" r="r" b="b"/>
              <a:pathLst>
                <a:path w="1849804" h="2952176">
                  <a:moveTo>
                    <a:pt x="1842812" y="2952177"/>
                  </a:moveTo>
                  <a:quadBezTo>
                    <a:pt x="1963522" y="825577"/>
                    <a:pt x="0" y="0"/>
                  </a:quadBezTo>
                </a:path>
              </a:pathLst>
            </a:custGeom>
            <a:ln w="76200" cap="flat">
              <a:solidFill>
                <a:srgbClr val="146CFD">
                  <a:alpha val="75686"/>
                </a:srgbClr>
              </a:solidFill>
              <a:prstDash val="solid"/>
              <a:headEnd type="none" w="sm" len="sm"/>
              <a:tailEnd type="arrow" w="med" len="sm"/>
            </a:ln>
          </p:spPr>
          <p:txBody>
            <a:bodyPr/>
            <a:lstStyle/>
            <a:p>
              <a:endParaRPr lang="en-AU"/>
            </a:p>
          </p:txBody>
        </p:sp>
        <p:sp>
          <p:nvSpPr>
            <p:cNvPr id="12" name="Freeform 26">
              <a:extLst>
                <a:ext uri="{FF2B5EF4-FFF2-40B4-BE49-F238E27FC236}">
                  <a16:creationId xmlns:a16="http://schemas.microsoft.com/office/drawing/2014/main" id="{5730D4B1-26D1-C870-8103-21F31C258275}"/>
                </a:ext>
              </a:extLst>
            </p:cNvPr>
            <p:cNvSpPr/>
            <p:nvPr/>
          </p:nvSpPr>
          <p:spPr>
            <a:xfrm>
              <a:off x="2786759" y="4503656"/>
              <a:ext cx="2461348" cy="2098129"/>
            </a:xfrm>
            <a:custGeom>
              <a:avLst/>
              <a:gdLst/>
              <a:ahLst/>
              <a:cxnLst/>
              <a:rect l="l" t="t" r="r" b="b"/>
              <a:pathLst>
                <a:path w="3993710" h="2869330">
                  <a:moveTo>
                    <a:pt x="3993709" y="50073"/>
                  </a:moveTo>
                  <a:quadBezTo>
                    <a:pt x="478331" y="-379048"/>
                    <a:pt x="0" y="2869330"/>
                  </a:quadBezTo>
                </a:path>
              </a:pathLst>
            </a:custGeom>
            <a:ln w="76200" cap="flat">
              <a:solidFill>
                <a:srgbClr val="F7830D">
                  <a:alpha val="75686"/>
                </a:srgbClr>
              </a:solidFill>
              <a:prstDash val="solid"/>
              <a:headEnd type="none" w="sm" len="sm"/>
              <a:tailEnd type="arrow" w="med" len="sm"/>
            </a:ln>
          </p:spPr>
          <p:txBody>
            <a:bodyPr/>
            <a:lstStyle/>
            <a:p>
              <a:endParaRPr lang="en-AU"/>
            </a:p>
          </p:txBody>
        </p:sp>
        <p:sp>
          <p:nvSpPr>
            <p:cNvPr id="13" name="TextBox 27">
              <a:extLst>
                <a:ext uri="{FF2B5EF4-FFF2-40B4-BE49-F238E27FC236}">
                  <a16:creationId xmlns:a16="http://schemas.microsoft.com/office/drawing/2014/main" id="{4B69F2DC-49B7-F6FA-AE05-C6396A202D03}"/>
                </a:ext>
              </a:extLst>
            </p:cNvPr>
            <p:cNvSpPr txBox="1"/>
            <p:nvPr/>
          </p:nvSpPr>
          <p:spPr>
            <a:xfrm>
              <a:off x="6917230" y="5476570"/>
              <a:ext cx="887679" cy="464871"/>
            </a:xfrm>
            <a:prstGeom prst="rect">
              <a:avLst/>
            </a:prstGeom>
          </p:spPr>
          <p:txBody>
            <a:bodyPr wrap="square" lIns="0" tIns="0" rIns="0" bIns="0" rtlCol="0" anchor="t">
              <a:spAutoFit/>
            </a:bodyPr>
            <a:lstStyle/>
            <a:p>
              <a:pPr algn="l">
                <a:lnSpc>
                  <a:spcPts val="3919"/>
                </a:lnSpc>
                <a:spcBef>
                  <a:spcPct val="0"/>
                </a:spcBef>
              </a:pPr>
              <a:r>
                <a:rPr lang="en-US" sz="2799" b="1" dirty="0">
                  <a:solidFill>
                    <a:srgbClr val="146CFD"/>
                  </a:solidFill>
                  <a:latin typeface="Glacial Indifference Bold"/>
                  <a:ea typeface="Glacial Indifference Bold"/>
                  <a:cs typeface="Glacial Indifference Bold"/>
                  <a:sym typeface="Glacial Indifference Bold"/>
                </a:rPr>
                <a:t>100°</a:t>
              </a:r>
            </a:p>
          </p:txBody>
        </p:sp>
        <p:sp>
          <p:nvSpPr>
            <p:cNvPr id="14" name="AutoShape 28">
              <a:extLst>
                <a:ext uri="{FF2B5EF4-FFF2-40B4-BE49-F238E27FC236}">
                  <a16:creationId xmlns:a16="http://schemas.microsoft.com/office/drawing/2014/main" id="{C8F336E2-0073-38F2-AF4F-AB2F97FB73B0}"/>
                </a:ext>
              </a:extLst>
            </p:cNvPr>
            <p:cNvSpPr/>
            <p:nvPr/>
          </p:nvSpPr>
          <p:spPr>
            <a:xfrm>
              <a:off x="2608536" y="6661481"/>
              <a:ext cx="8421940" cy="12928"/>
            </a:xfrm>
            <a:prstGeom prst="line">
              <a:avLst/>
            </a:prstGeom>
            <a:ln w="76200" cap="rnd">
              <a:solidFill>
                <a:srgbClr val="000000"/>
              </a:solidFill>
              <a:prstDash val="solid"/>
              <a:headEnd type="none" w="sm" len="sm"/>
              <a:tailEnd type="none" w="sm" len="sm"/>
            </a:ln>
          </p:spPr>
          <p:txBody>
            <a:bodyPr/>
            <a:lstStyle/>
            <a:p>
              <a:endParaRPr lang="en-AU"/>
            </a:p>
          </p:txBody>
        </p:sp>
      </p:gr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59999" y="360000"/>
            <a:ext cx="10747003" cy="545601"/>
          </a:xfrm>
        </p:spPr>
        <p:txBody>
          <a:bodyPr/>
          <a:lstStyle/>
          <a:p>
            <a:r>
              <a:rPr lang="en-AU"/>
              <a:t>Activity 2 – area model for 2-digit by 2-digit multiplication (1)</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21" name="Group 20" descr="Area model for 23 × 32.&#10;&#10;The numbers have been partitioned to 20, 3 and 30, 2.&#10;&#10;The partial products are: 20 × 30 = 600&#10;20 × 2 = 40&#10;3 × 30 = 90&#10;3 × 2 = 6.&#10;&#10;The number sentence below reads: 600 + 9 + 40 + 6 = 736.">
            <a:extLst>
              <a:ext uri="{FF2B5EF4-FFF2-40B4-BE49-F238E27FC236}">
                <a16:creationId xmlns:a16="http://schemas.microsoft.com/office/drawing/2014/main" id="{8393FB2F-8E99-E99E-36D5-7B637E9B7692}"/>
              </a:ext>
            </a:extLst>
          </p:cNvPr>
          <p:cNvGrpSpPr/>
          <p:nvPr/>
        </p:nvGrpSpPr>
        <p:grpSpPr>
          <a:xfrm>
            <a:off x="2828291" y="1871253"/>
            <a:ext cx="6045337" cy="4362799"/>
            <a:chOff x="3152633" y="2075313"/>
            <a:chExt cx="5964071" cy="4046098"/>
          </a:xfrm>
        </p:grpSpPr>
        <p:sp>
          <p:nvSpPr>
            <p:cNvPr id="15" name="Rectangle 14">
              <a:extLst>
                <a:ext uri="{FF2B5EF4-FFF2-40B4-BE49-F238E27FC236}">
                  <a16:creationId xmlns:a16="http://schemas.microsoft.com/office/drawing/2014/main" id="{B881478B-0433-820C-0426-71DE29DFAD6C}"/>
                </a:ext>
              </a:extLst>
            </p:cNvPr>
            <p:cNvSpPr/>
            <p:nvPr/>
          </p:nvSpPr>
          <p:spPr>
            <a:xfrm>
              <a:off x="3152633" y="2075313"/>
              <a:ext cx="5964071" cy="4046098"/>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cxnSp>
          <p:nvCxnSpPr>
            <p:cNvPr id="17" name="Straight Connector 16">
              <a:extLst>
                <a:ext uri="{FF2B5EF4-FFF2-40B4-BE49-F238E27FC236}">
                  <a16:creationId xmlns:a16="http://schemas.microsoft.com/office/drawing/2014/main" id="{CBE87AAA-2B19-7624-6414-D1F19BDCE921}"/>
                </a:ext>
              </a:extLst>
            </p:cNvPr>
            <p:cNvCxnSpPr/>
            <p:nvPr/>
          </p:nvCxnSpPr>
          <p:spPr>
            <a:xfrm>
              <a:off x="7957770" y="2075313"/>
              <a:ext cx="0" cy="4046098"/>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F945B628-F661-31EB-EEE9-A204CEDFBC8B}"/>
                </a:ext>
              </a:extLst>
            </p:cNvPr>
            <p:cNvCxnSpPr>
              <a:cxnSpLocks/>
            </p:cNvCxnSpPr>
            <p:nvPr/>
          </p:nvCxnSpPr>
          <p:spPr>
            <a:xfrm flipV="1">
              <a:off x="3152633" y="4988563"/>
              <a:ext cx="5964071" cy="36856"/>
            </a:xfrm>
            <a:prstGeom prst="line">
              <a:avLst/>
            </a:prstGeom>
            <a:ln w="28575">
              <a:prstDash val="dash"/>
            </a:ln>
          </p:spPr>
          <p:style>
            <a:lnRef idx="1">
              <a:schemeClr val="dk1"/>
            </a:lnRef>
            <a:fillRef idx="0">
              <a:schemeClr val="dk1"/>
            </a:fillRef>
            <a:effectRef idx="0">
              <a:schemeClr val="dk1"/>
            </a:effectRef>
            <a:fontRef idx="minor">
              <a:schemeClr val="tx1"/>
            </a:fontRef>
          </p:style>
        </p:cxnSp>
      </p:grpSp>
      <p:sp>
        <p:nvSpPr>
          <p:cNvPr id="5" name="TextBox 3">
            <a:extLst>
              <a:ext uri="{FF2B5EF4-FFF2-40B4-BE49-F238E27FC236}">
                <a16:creationId xmlns:a16="http://schemas.microsoft.com/office/drawing/2014/main" id="{FB95CC1C-F950-EDB2-7542-EF4E04489F02}"/>
              </a:ext>
              <a:ext uri="{C183D7F6-B498-43B3-948B-1728B52AA6E4}">
                <adec:decorative xmlns:adec="http://schemas.microsoft.com/office/drawing/2017/decorative" val="1"/>
              </a:ext>
            </a:extLst>
          </p:cNvPr>
          <p:cNvSpPr txBox="1"/>
          <p:nvPr/>
        </p:nvSpPr>
        <p:spPr>
          <a:xfrm>
            <a:off x="4765090" y="884224"/>
            <a:ext cx="663215" cy="926729"/>
          </a:xfrm>
          <a:prstGeom prst="rect">
            <a:avLst/>
          </a:prstGeom>
        </p:spPr>
        <p:txBody>
          <a:bodyPr wrap="square" lIns="0" tIns="0" rIns="0" bIns="0" rtlCol="0" anchor="t">
            <a:spAutoFit/>
          </a:bodyPr>
          <a:lstStyle/>
          <a:p>
            <a:pPr algn="ctr">
              <a:lnSpc>
                <a:spcPts val="8259"/>
              </a:lnSpc>
            </a:pPr>
            <a:r>
              <a:rPr lang="en-US" sz="3200">
                <a:solidFill>
                  <a:srgbClr val="000000"/>
                </a:solidFill>
                <a:ea typeface="Canva Student Font"/>
                <a:cs typeface="Canva Student Font"/>
                <a:sym typeface="Canva Student Font"/>
              </a:rPr>
              <a:t>30</a:t>
            </a:r>
          </a:p>
        </p:txBody>
      </p:sp>
      <p:sp>
        <p:nvSpPr>
          <p:cNvPr id="7" name="TextBox 4">
            <a:extLst>
              <a:ext uri="{FF2B5EF4-FFF2-40B4-BE49-F238E27FC236}">
                <a16:creationId xmlns:a16="http://schemas.microsoft.com/office/drawing/2014/main" id="{40C197BE-F820-ACB2-B9A2-160530BD8110}"/>
              </a:ext>
              <a:ext uri="{C183D7F6-B498-43B3-948B-1728B52AA6E4}">
                <adec:decorative xmlns:adec="http://schemas.microsoft.com/office/drawing/2017/decorative" val="1"/>
              </a:ext>
            </a:extLst>
          </p:cNvPr>
          <p:cNvSpPr txBox="1"/>
          <p:nvPr/>
        </p:nvSpPr>
        <p:spPr>
          <a:xfrm>
            <a:off x="7985066" y="894913"/>
            <a:ext cx="282587" cy="926729"/>
          </a:xfrm>
          <a:prstGeom prst="rect">
            <a:avLst/>
          </a:prstGeom>
        </p:spPr>
        <p:txBody>
          <a:bodyPr wrap="square" lIns="0" tIns="0" rIns="0" bIns="0" rtlCol="0" anchor="t">
            <a:spAutoFit/>
          </a:bodyPr>
          <a:lstStyle/>
          <a:p>
            <a:pPr algn="ctr">
              <a:lnSpc>
                <a:spcPts val="8259"/>
              </a:lnSpc>
            </a:pPr>
            <a:r>
              <a:rPr lang="en-US" sz="3200">
                <a:solidFill>
                  <a:srgbClr val="000000"/>
                </a:solidFill>
                <a:ea typeface="Canva Student Font"/>
                <a:cs typeface="Canva Student Font"/>
                <a:sym typeface="Canva Student Font"/>
              </a:rPr>
              <a:t>2</a:t>
            </a:r>
          </a:p>
        </p:txBody>
      </p:sp>
      <p:sp>
        <p:nvSpPr>
          <p:cNvPr id="8" name="TextBox 5">
            <a:extLst>
              <a:ext uri="{FF2B5EF4-FFF2-40B4-BE49-F238E27FC236}">
                <a16:creationId xmlns:a16="http://schemas.microsoft.com/office/drawing/2014/main" id="{CABB9122-35DA-9E59-8EF6-91F2243997C1}"/>
              </a:ext>
              <a:ext uri="{C183D7F6-B498-43B3-948B-1728B52AA6E4}">
                <adec:decorative xmlns:adec="http://schemas.microsoft.com/office/drawing/2017/decorative" val="1"/>
              </a:ext>
            </a:extLst>
          </p:cNvPr>
          <p:cNvSpPr txBox="1"/>
          <p:nvPr/>
        </p:nvSpPr>
        <p:spPr>
          <a:xfrm>
            <a:off x="2023070" y="2914536"/>
            <a:ext cx="630287" cy="926729"/>
          </a:xfrm>
          <a:prstGeom prst="rect">
            <a:avLst/>
          </a:prstGeom>
        </p:spPr>
        <p:txBody>
          <a:bodyPr wrap="square" lIns="0" tIns="0" rIns="0" bIns="0" rtlCol="0" anchor="t">
            <a:spAutoFit/>
          </a:bodyPr>
          <a:lstStyle/>
          <a:p>
            <a:pPr algn="ctr">
              <a:lnSpc>
                <a:spcPts val="8259"/>
              </a:lnSpc>
            </a:pPr>
            <a:r>
              <a:rPr lang="en-US" sz="3200">
                <a:solidFill>
                  <a:srgbClr val="000000"/>
                </a:solidFill>
                <a:ea typeface="Canva Student Font"/>
                <a:cs typeface="Canva Student Font"/>
                <a:sym typeface="Canva Student Font"/>
              </a:rPr>
              <a:t>20</a:t>
            </a:r>
          </a:p>
        </p:txBody>
      </p:sp>
      <p:sp>
        <p:nvSpPr>
          <p:cNvPr id="9" name="TextBox 6">
            <a:extLst>
              <a:ext uri="{FF2B5EF4-FFF2-40B4-BE49-F238E27FC236}">
                <a16:creationId xmlns:a16="http://schemas.microsoft.com/office/drawing/2014/main" id="{2B589CE5-3CA0-5328-DEBE-558F8A0598FA}"/>
              </a:ext>
              <a:ext uri="{C183D7F6-B498-43B3-948B-1728B52AA6E4}">
                <adec:decorative xmlns:adec="http://schemas.microsoft.com/office/drawing/2017/decorative" val="1"/>
              </a:ext>
            </a:extLst>
          </p:cNvPr>
          <p:cNvSpPr txBox="1"/>
          <p:nvPr/>
        </p:nvSpPr>
        <p:spPr>
          <a:xfrm>
            <a:off x="2180455" y="4923471"/>
            <a:ext cx="315516" cy="926729"/>
          </a:xfrm>
          <a:prstGeom prst="rect">
            <a:avLst/>
          </a:prstGeom>
        </p:spPr>
        <p:txBody>
          <a:bodyPr wrap="square" lIns="0" tIns="0" rIns="0" bIns="0" rtlCol="0" anchor="t">
            <a:spAutoFit/>
          </a:bodyPr>
          <a:lstStyle/>
          <a:p>
            <a:pPr algn="ctr">
              <a:lnSpc>
                <a:spcPts val="8259"/>
              </a:lnSpc>
            </a:pPr>
            <a:r>
              <a:rPr lang="en-US" sz="3200">
                <a:solidFill>
                  <a:srgbClr val="000000"/>
                </a:solidFill>
                <a:ea typeface="Canva Student Font"/>
                <a:cs typeface="Canva Student Font"/>
                <a:sym typeface="Canva Student Font"/>
              </a:rPr>
              <a:t>3</a:t>
            </a:r>
          </a:p>
        </p:txBody>
      </p:sp>
      <p:sp>
        <p:nvSpPr>
          <p:cNvPr id="10" name="TextBox 7">
            <a:extLst>
              <a:ext uri="{FF2B5EF4-FFF2-40B4-BE49-F238E27FC236}">
                <a16:creationId xmlns:a16="http://schemas.microsoft.com/office/drawing/2014/main" id="{8524F955-FDF3-5C7D-C841-6F7219E00F5F}"/>
              </a:ext>
              <a:ext uri="{C183D7F6-B498-43B3-948B-1728B52AA6E4}">
                <adec:decorative xmlns:adec="http://schemas.microsoft.com/office/drawing/2017/decorative" val="1"/>
              </a:ext>
            </a:extLst>
          </p:cNvPr>
          <p:cNvSpPr txBox="1"/>
          <p:nvPr/>
        </p:nvSpPr>
        <p:spPr>
          <a:xfrm>
            <a:off x="3509224" y="2412921"/>
            <a:ext cx="3644429" cy="926729"/>
          </a:xfrm>
          <a:prstGeom prst="rect">
            <a:avLst/>
          </a:prstGeom>
        </p:spPr>
        <p:txBody>
          <a:bodyPr wrap="square" lIns="0" tIns="0" rIns="0" bIns="0" rtlCol="0" anchor="t">
            <a:spAutoFit/>
          </a:bodyPr>
          <a:lstStyle/>
          <a:p>
            <a:pPr algn="ctr">
              <a:lnSpc>
                <a:spcPts val="8259"/>
              </a:lnSpc>
            </a:pPr>
            <a:r>
              <a:rPr lang="en-US" sz="3200" dirty="0">
                <a:solidFill>
                  <a:srgbClr val="006837"/>
                </a:solidFill>
                <a:ea typeface="Canva Student Font"/>
                <a:cs typeface="Canva Student Font"/>
                <a:sym typeface="Canva Student Font"/>
              </a:rPr>
              <a:t>20 x 30 = 600</a:t>
            </a:r>
          </a:p>
        </p:txBody>
      </p:sp>
      <p:sp>
        <p:nvSpPr>
          <p:cNvPr id="11" name="TextBox 8">
            <a:extLst>
              <a:ext uri="{FF2B5EF4-FFF2-40B4-BE49-F238E27FC236}">
                <a16:creationId xmlns:a16="http://schemas.microsoft.com/office/drawing/2014/main" id="{B60384AD-D6B2-2F63-8B0A-9B17CE94275B}"/>
              </a:ext>
              <a:ext uri="{C183D7F6-B498-43B3-948B-1728B52AA6E4}">
                <adec:decorative xmlns:adec="http://schemas.microsoft.com/office/drawing/2017/decorative" val="1"/>
              </a:ext>
            </a:extLst>
          </p:cNvPr>
          <p:cNvSpPr txBox="1"/>
          <p:nvPr/>
        </p:nvSpPr>
        <p:spPr>
          <a:xfrm>
            <a:off x="7544976" y="2096539"/>
            <a:ext cx="1451579" cy="1956113"/>
          </a:xfrm>
          <a:prstGeom prst="rect">
            <a:avLst/>
          </a:prstGeom>
        </p:spPr>
        <p:txBody>
          <a:bodyPr wrap="square" lIns="0" tIns="0" rIns="0" bIns="0" rtlCol="0" anchor="t">
            <a:spAutoFit/>
          </a:bodyPr>
          <a:lstStyle/>
          <a:p>
            <a:pPr algn="ctr">
              <a:lnSpc>
                <a:spcPts val="8259"/>
              </a:lnSpc>
            </a:pPr>
            <a:r>
              <a:rPr lang="en-US" sz="3200" dirty="0">
                <a:solidFill>
                  <a:srgbClr val="2675C4"/>
                </a:solidFill>
                <a:ea typeface="Canva Student Font"/>
                <a:cs typeface="Canva Student Font"/>
                <a:sym typeface="Canva Student Font"/>
              </a:rPr>
              <a:t>20 x 2 = 40</a:t>
            </a:r>
          </a:p>
        </p:txBody>
      </p:sp>
      <p:sp>
        <p:nvSpPr>
          <p:cNvPr id="12" name="TextBox 9">
            <a:extLst>
              <a:ext uri="{FF2B5EF4-FFF2-40B4-BE49-F238E27FC236}">
                <a16:creationId xmlns:a16="http://schemas.microsoft.com/office/drawing/2014/main" id="{A03982E8-CEC7-BA08-6394-9CD7BF29B442}"/>
              </a:ext>
              <a:ext uri="{C183D7F6-B498-43B3-948B-1728B52AA6E4}">
                <adec:decorative xmlns:adec="http://schemas.microsoft.com/office/drawing/2017/decorative" val="1"/>
              </a:ext>
            </a:extLst>
          </p:cNvPr>
          <p:cNvSpPr txBox="1"/>
          <p:nvPr/>
        </p:nvSpPr>
        <p:spPr>
          <a:xfrm>
            <a:off x="3749985" y="4902244"/>
            <a:ext cx="2960377" cy="926729"/>
          </a:xfrm>
          <a:prstGeom prst="rect">
            <a:avLst/>
          </a:prstGeom>
        </p:spPr>
        <p:txBody>
          <a:bodyPr wrap="square" lIns="0" tIns="0" rIns="0" bIns="0" rtlCol="0" anchor="t">
            <a:spAutoFit/>
          </a:bodyPr>
          <a:lstStyle/>
          <a:p>
            <a:pPr algn="ctr">
              <a:lnSpc>
                <a:spcPts val="8259"/>
              </a:lnSpc>
            </a:pPr>
            <a:r>
              <a:rPr lang="en-US" sz="3200">
                <a:solidFill>
                  <a:srgbClr val="BA4606"/>
                </a:solidFill>
                <a:ea typeface="Canva Student Font"/>
                <a:cs typeface="Canva Student Font"/>
                <a:sym typeface="Canva Student Font"/>
              </a:rPr>
              <a:t>3 x 30 = 90</a:t>
            </a:r>
          </a:p>
        </p:txBody>
      </p:sp>
      <p:sp>
        <p:nvSpPr>
          <p:cNvPr id="13" name="TextBox 10">
            <a:extLst>
              <a:ext uri="{FF2B5EF4-FFF2-40B4-BE49-F238E27FC236}">
                <a16:creationId xmlns:a16="http://schemas.microsoft.com/office/drawing/2014/main" id="{19D93479-715C-6A71-C9D9-9859AEDD0C02}"/>
              </a:ext>
              <a:ext uri="{C183D7F6-B498-43B3-948B-1728B52AA6E4}">
                <adec:decorative xmlns:adec="http://schemas.microsoft.com/office/drawing/2017/decorative" val="1"/>
              </a:ext>
            </a:extLst>
          </p:cNvPr>
          <p:cNvSpPr txBox="1"/>
          <p:nvPr/>
        </p:nvSpPr>
        <p:spPr>
          <a:xfrm>
            <a:off x="7596984" y="5032402"/>
            <a:ext cx="1451578" cy="1182311"/>
          </a:xfrm>
          <a:prstGeom prst="rect">
            <a:avLst/>
          </a:prstGeom>
        </p:spPr>
        <p:txBody>
          <a:bodyPr wrap="square" lIns="0" tIns="0" rIns="0" bIns="0" rtlCol="0" anchor="t">
            <a:spAutoFit/>
          </a:bodyPr>
          <a:lstStyle/>
          <a:p>
            <a:pPr algn="ctr">
              <a:lnSpc>
                <a:spcPts val="4778"/>
              </a:lnSpc>
            </a:pPr>
            <a:r>
              <a:rPr lang="en-US" sz="3000" dirty="0">
                <a:solidFill>
                  <a:srgbClr val="B80069"/>
                </a:solidFill>
                <a:ea typeface="Canva Student Font"/>
                <a:cs typeface="Canva Student Font"/>
                <a:sym typeface="Canva Student Font"/>
              </a:rPr>
              <a:t>3 x 2 = 6</a:t>
            </a:r>
          </a:p>
        </p:txBody>
      </p:sp>
      <p:sp>
        <p:nvSpPr>
          <p:cNvPr id="14" name="TextBox 11">
            <a:extLst>
              <a:ext uri="{FF2B5EF4-FFF2-40B4-BE49-F238E27FC236}">
                <a16:creationId xmlns:a16="http://schemas.microsoft.com/office/drawing/2014/main" id="{3950CB89-0E60-D25D-797A-5B9F58D5BBBB}"/>
              </a:ext>
              <a:ext uri="{C183D7F6-B498-43B3-948B-1728B52AA6E4}">
                <adec:decorative xmlns:adec="http://schemas.microsoft.com/office/drawing/2017/decorative" val="1"/>
              </a:ext>
            </a:extLst>
          </p:cNvPr>
          <p:cNvSpPr txBox="1"/>
          <p:nvPr/>
        </p:nvSpPr>
        <p:spPr>
          <a:xfrm>
            <a:off x="2828291" y="5933093"/>
            <a:ext cx="6535415" cy="891719"/>
          </a:xfrm>
          <a:prstGeom prst="rect">
            <a:avLst/>
          </a:prstGeom>
        </p:spPr>
        <p:txBody>
          <a:bodyPr wrap="square" lIns="0" tIns="0" rIns="0" bIns="0" rtlCol="0" anchor="t">
            <a:spAutoFit/>
          </a:bodyPr>
          <a:lstStyle/>
          <a:p>
            <a:pPr algn="ctr">
              <a:lnSpc>
                <a:spcPts val="8259"/>
              </a:lnSpc>
            </a:pPr>
            <a:r>
              <a:rPr lang="en-US" sz="3200">
                <a:solidFill>
                  <a:srgbClr val="006837"/>
                </a:solidFill>
                <a:ea typeface="Canva Student Font"/>
                <a:cs typeface="Canva Student Font"/>
                <a:sym typeface="Canva Student Font"/>
              </a:rPr>
              <a:t>600</a:t>
            </a:r>
            <a:r>
              <a:rPr lang="en-US" sz="3200">
                <a:solidFill>
                  <a:srgbClr val="077248"/>
                </a:solidFill>
                <a:ea typeface="Canva Student Font"/>
                <a:cs typeface="Canva Student Font"/>
                <a:sym typeface="Canva Student Font"/>
              </a:rPr>
              <a:t> </a:t>
            </a:r>
            <a:r>
              <a:rPr lang="en-US" sz="3200">
                <a:solidFill>
                  <a:srgbClr val="BA4606"/>
                </a:solidFill>
                <a:ea typeface="Canva Student Font"/>
                <a:cs typeface="Canva Student Font"/>
                <a:sym typeface="Canva Student Font"/>
              </a:rPr>
              <a:t>+ 90</a:t>
            </a:r>
            <a:r>
              <a:rPr lang="en-US" sz="3200">
                <a:solidFill>
                  <a:srgbClr val="077248"/>
                </a:solidFill>
                <a:ea typeface="Canva Student Font"/>
                <a:cs typeface="Canva Student Font"/>
                <a:sym typeface="Canva Student Font"/>
              </a:rPr>
              <a:t> </a:t>
            </a:r>
            <a:r>
              <a:rPr lang="en-US" sz="3200">
                <a:solidFill>
                  <a:srgbClr val="2675C4"/>
                </a:solidFill>
                <a:ea typeface="Canva Student Font"/>
                <a:cs typeface="Canva Student Font"/>
                <a:sym typeface="Canva Student Font"/>
              </a:rPr>
              <a:t>+ 40</a:t>
            </a:r>
            <a:r>
              <a:rPr lang="en-US" sz="3200">
                <a:solidFill>
                  <a:srgbClr val="077248"/>
                </a:solidFill>
                <a:ea typeface="Canva Student Font"/>
                <a:cs typeface="Canva Student Font"/>
                <a:sym typeface="Canva Student Font"/>
              </a:rPr>
              <a:t> </a:t>
            </a:r>
            <a:r>
              <a:rPr lang="en-US" sz="3200">
                <a:solidFill>
                  <a:srgbClr val="B80069"/>
                </a:solidFill>
                <a:ea typeface="Canva Student Font"/>
                <a:cs typeface="Canva Student Font"/>
                <a:sym typeface="Canva Student Font"/>
              </a:rPr>
              <a:t>+ 6</a:t>
            </a:r>
            <a:r>
              <a:rPr lang="en-US" sz="3200">
                <a:solidFill>
                  <a:srgbClr val="077248"/>
                </a:solidFill>
                <a:ea typeface="Canva Student Font"/>
                <a:cs typeface="Canva Student Font"/>
                <a:sym typeface="Canva Student Font"/>
              </a:rPr>
              <a:t> </a:t>
            </a:r>
            <a:r>
              <a:rPr lang="en-US" sz="3200">
                <a:solidFill>
                  <a:srgbClr val="000000"/>
                </a:solidFill>
                <a:ea typeface="Canva Student Font"/>
                <a:cs typeface="Canva Student Font"/>
                <a:sym typeface="Canva Student Font"/>
              </a:rPr>
              <a:t>= 736</a:t>
            </a:r>
            <a:r>
              <a:rPr lang="en-US" sz="3200">
                <a:solidFill>
                  <a:srgbClr val="077248"/>
                </a:solidFill>
                <a:ea typeface="Canva Student Font"/>
                <a:cs typeface="Canva Student Font"/>
                <a:sym typeface="Canva Student Font"/>
              </a:rPr>
              <a:t> </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80BCB-90C8-C808-6ED8-DC4756ADDC5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2AD9D4B-5ED8-3546-210B-B2E88B0B4F0D}"/>
              </a:ext>
            </a:extLst>
          </p:cNvPr>
          <p:cNvSpPr>
            <a:spLocks noGrp="1"/>
          </p:cNvSpPr>
          <p:nvPr>
            <p:ph type="title"/>
          </p:nvPr>
        </p:nvSpPr>
        <p:spPr>
          <a:xfrm>
            <a:off x="360000" y="360000"/>
            <a:ext cx="10367268" cy="545601"/>
          </a:xfrm>
        </p:spPr>
        <p:txBody>
          <a:bodyPr/>
          <a:lstStyle/>
          <a:p>
            <a:r>
              <a:rPr lang="en-AU"/>
              <a:t>Activity 2 – area model for 2-digit by 2-digit multiplication (2) </a:t>
            </a:r>
            <a:r>
              <a:rPr lang="en-AU">
                <a:solidFill>
                  <a:schemeClr val="bg1"/>
                </a:solidFill>
              </a:rPr>
              <a:t>(2)</a:t>
            </a:r>
          </a:p>
        </p:txBody>
      </p:sp>
      <p:pic>
        <p:nvPicPr>
          <p:cNvPr id="4" name="Picture 3">
            <a:extLst>
              <a:ext uri="{FF2B5EF4-FFF2-40B4-BE49-F238E27FC236}">
                <a16:creationId xmlns:a16="http://schemas.microsoft.com/office/drawing/2014/main" id="{03904881-BADD-8037-7485-F82FF087334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6" name="TextBox 15">
            <a:extLst>
              <a:ext uri="{FF2B5EF4-FFF2-40B4-BE49-F238E27FC236}">
                <a16:creationId xmlns:a16="http://schemas.microsoft.com/office/drawing/2014/main" id="{C79C90B5-1EC1-64C1-57A4-C4EB65D9C471}"/>
              </a:ext>
            </a:extLst>
          </p:cNvPr>
          <p:cNvSpPr txBox="1"/>
          <p:nvPr/>
        </p:nvSpPr>
        <p:spPr>
          <a:xfrm>
            <a:off x="1357866" y="1623444"/>
            <a:ext cx="9476268" cy="4594912"/>
          </a:xfrm>
          <a:prstGeom prst="rect">
            <a:avLst/>
          </a:prstGeom>
          <a:noFill/>
        </p:spPr>
        <p:txBody>
          <a:bodyPr wrap="square">
            <a:spAutoFit/>
          </a:bodyPr>
          <a:lstStyle/>
          <a:p>
            <a:pPr>
              <a:lnSpc>
                <a:spcPct val="150000"/>
              </a:lnSpc>
            </a:pPr>
            <a:r>
              <a:rPr lang="en-AU" sz="4000" b="0"/>
              <a:t>A music app tracks playlist downloads. One playlist that contains </a:t>
            </a:r>
            <a:r>
              <a:rPr lang="en-AU" sz="4000" b="1"/>
              <a:t>36 songs </a:t>
            </a:r>
            <a:r>
              <a:rPr lang="en-AU" sz="4000" b="0"/>
              <a:t>has been downloaded </a:t>
            </a:r>
            <a:r>
              <a:rPr lang="en-AU" sz="4000" b="1"/>
              <a:t>25 times</a:t>
            </a:r>
            <a:r>
              <a:rPr lang="en-AU" sz="4000" b="0"/>
              <a:t>. </a:t>
            </a:r>
          </a:p>
          <a:p>
            <a:pPr>
              <a:lnSpc>
                <a:spcPct val="150000"/>
              </a:lnSpc>
            </a:pPr>
            <a:r>
              <a:rPr lang="en-AU" sz="4000" b="1"/>
              <a:t>How many songs </a:t>
            </a:r>
            <a:r>
              <a:rPr lang="en-AU" sz="4000" b="0"/>
              <a:t>were downloaded altogether?</a:t>
            </a:r>
            <a:endParaRPr lang="en-AU" sz="4000"/>
          </a:p>
        </p:txBody>
      </p:sp>
      <p:sp>
        <p:nvSpPr>
          <p:cNvPr id="2" name="Slide Number Placeholder 1">
            <a:extLst>
              <a:ext uri="{FF2B5EF4-FFF2-40B4-BE49-F238E27FC236}">
                <a16:creationId xmlns:a16="http://schemas.microsoft.com/office/drawing/2014/main" id="{D3B2E771-BCC8-68D6-082A-CACBD8C627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247272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1625945"/>
            <a:ext cx="11243037" cy="754243"/>
          </a:xfrm>
        </p:spPr>
        <p:txBody>
          <a:bodyPr/>
          <a:lstStyle/>
          <a:p>
            <a:r>
              <a:rPr lang="en-US" sz="4400" dirty="0"/>
              <a:t>The </a:t>
            </a:r>
            <a:r>
              <a:rPr lang="en-US" sz="4400" b="1" dirty="0"/>
              <a:t>missing partial product </a:t>
            </a:r>
            <a:r>
              <a:rPr lang="en-US" sz="4400" dirty="0"/>
              <a:t>is:</a:t>
            </a:r>
          </a:p>
          <a:p>
            <a:endParaRPr lang="en-US" sz="4400" dirty="0"/>
          </a:p>
        </p:txBody>
      </p:sp>
      <p:sp>
        <p:nvSpPr>
          <p:cNvPr id="9" name="B">
            <a:extLst>
              <a:ext uri="{FF2B5EF4-FFF2-40B4-BE49-F238E27FC236}">
                <a16:creationId xmlns:a16="http://schemas.microsoft.com/office/drawing/2014/main" id="{F91A42F4-D8C9-20A3-82EB-86FAD4D776A8}"/>
              </a:ext>
            </a:extLst>
          </p:cNvPr>
          <p:cNvSpPr txBox="1"/>
          <p:nvPr/>
        </p:nvSpPr>
        <p:spPr>
          <a:xfrm>
            <a:off x="670563" y="28777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19" y="2877704"/>
            <a:ext cx="10175920" cy="641396"/>
          </a:xfrm>
        </p:spPr>
        <p:txBody>
          <a:bodyPr anchor="ctr"/>
          <a:lstStyle/>
          <a:p>
            <a:r>
              <a:rPr lang="en-US" sz="3600"/>
              <a:t>9620</a:t>
            </a:r>
          </a:p>
        </p:txBody>
      </p:sp>
      <p:sp>
        <p:nvSpPr>
          <p:cNvPr id="10" name="B">
            <a:extLst>
              <a:ext uri="{FF2B5EF4-FFF2-40B4-BE49-F238E27FC236}">
                <a16:creationId xmlns:a16="http://schemas.microsoft.com/office/drawing/2014/main" id="{CA9D5B15-A13C-EE8B-176F-3B4E3454A1A2}"/>
              </a:ext>
            </a:extLst>
          </p:cNvPr>
          <p:cNvSpPr txBox="1"/>
          <p:nvPr/>
        </p:nvSpPr>
        <p:spPr>
          <a:xfrm>
            <a:off x="670562" y="37634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757959"/>
            <a:ext cx="10175920" cy="641396"/>
          </a:xfrm>
        </p:spPr>
        <p:txBody>
          <a:bodyPr anchor="ctr"/>
          <a:lstStyle/>
          <a:p>
            <a:r>
              <a:rPr lang="en-US" sz="3600"/>
              <a:t>962</a:t>
            </a:r>
          </a:p>
        </p:txBody>
      </p:sp>
      <p:sp>
        <p:nvSpPr>
          <p:cNvPr id="12" name="C">
            <a:extLst>
              <a:ext uri="{FF2B5EF4-FFF2-40B4-BE49-F238E27FC236}">
                <a16:creationId xmlns:a16="http://schemas.microsoft.com/office/drawing/2014/main" id="{B4746450-E4E2-359C-DFCA-0532E811BD1E}"/>
              </a:ext>
            </a:extLst>
          </p:cNvPr>
          <p:cNvSpPr txBox="1"/>
          <p:nvPr/>
        </p:nvSpPr>
        <p:spPr>
          <a:xfrm>
            <a:off x="670561" y="46492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638214"/>
            <a:ext cx="10175920" cy="641396"/>
          </a:xfrm>
        </p:spPr>
        <p:txBody>
          <a:bodyPr anchor="ctr"/>
          <a:lstStyle/>
          <a:p>
            <a:r>
              <a:rPr lang="en-US" sz="3600"/>
              <a:t>9720</a:t>
            </a:r>
          </a:p>
        </p:txBody>
      </p:sp>
      <p:sp>
        <p:nvSpPr>
          <p:cNvPr id="11" name="D">
            <a:extLst>
              <a:ext uri="{FF2B5EF4-FFF2-40B4-BE49-F238E27FC236}">
                <a16:creationId xmlns:a16="http://schemas.microsoft.com/office/drawing/2014/main" id="{9B8955CE-78C1-2F30-7505-4CA44A86BDFF}"/>
              </a:ext>
            </a:extLst>
          </p:cNvPr>
          <p:cNvSpPr txBox="1"/>
          <p:nvPr/>
        </p:nvSpPr>
        <p:spPr>
          <a:xfrm>
            <a:off x="670561" y="553497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19" y="5518468"/>
            <a:ext cx="10175920" cy="641396"/>
          </a:xfrm>
        </p:spPr>
        <p:txBody>
          <a:bodyPr anchor="ctr"/>
          <a:lstStyle/>
          <a:p>
            <a:r>
              <a:rPr lang="en-US" sz="3600"/>
              <a:t>972</a:t>
            </a:r>
          </a:p>
        </p:txBody>
      </p:sp>
      <p:pic>
        <p:nvPicPr>
          <p:cNvPr id="8" name="Picture 7" descr="The vertical algorithm for 324 x 38. The first line has been filled in with the partial product: 2592. The answer has been written as 12 312. The second partial product is blank.">
            <a:extLst>
              <a:ext uri="{FF2B5EF4-FFF2-40B4-BE49-F238E27FC236}">
                <a16:creationId xmlns:a16="http://schemas.microsoft.com/office/drawing/2014/main" id="{784C2D8D-15D2-324C-1787-2CB9DC3BD8EE}"/>
              </a:ext>
            </a:extLst>
          </p:cNvPr>
          <p:cNvPicPr>
            <a:picLocks noChangeAspect="1"/>
          </p:cNvPicPr>
          <p:nvPr/>
        </p:nvPicPr>
        <p:blipFill>
          <a:blip r:embed="rId4"/>
          <a:stretch>
            <a:fillRect/>
          </a:stretch>
        </p:blipFill>
        <p:spPr>
          <a:xfrm>
            <a:off x="9113149" y="1758554"/>
            <a:ext cx="1905098" cy="4515082"/>
          </a:xfrm>
          <a:prstGeom prst="rect">
            <a:avLst/>
          </a:prstGeom>
        </p:spPr>
      </p:pic>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184BC08-2979-377E-C7A2-36AFC0A89FFE}"/>
              </a:ext>
            </a:extLst>
          </p:cNvPr>
          <p:cNvSpPr txBox="1"/>
          <p:nvPr/>
        </p:nvSpPr>
        <p:spPr>
          <a:xfrm>
            <a:off x="703282" y="1547950"/>
            <a:ext cx="10557164" cy="4029501"/>
          </a:xfrm>
          <a:prstGeom prst="rect">
            <a:avLst/>
          </a:prstGeom>
          <a:noFill/>
        </p:spPr>
        <p:txBody>
          <a:bodyPr wrap="square">
            <a:spAutoFit/>
          </a:bodyPr>
          <a:lstStyle/>
          <a:p>
            <a:pPr algn="ctr">
              <a:lnSpc>
                <a:spcPct val="150000"/>
              </a:lnSpc>
            </a:pPr>
            <a:r>
              <a:rPr lang="en-AU" sz="4400">
                <a:effectLst/>
                <a:latin typeface="Arial" panose="020B0604020202020204" pitchFamily="34" charset="0"/>
                <a:ea typeface="Calibri" panose="020F0502020204030204" pitchFamily="34" charset="0"/>
              </a:rPr>
              <a:t>To make smoothies, </a:t>
            </a:r>
            <a:r>
              <a:rPr lang="en-AU" sz="4400" b="1">
                <a:effectLst/>
                <a:latin typeface="Arial" panose="020B0604020202020204" pitchFamily="34" charset="0"/>
                <a:ea typeface="Calibri" panose="020F0502020204030204" pitchFamily="34" charset="0"/>
              </a:rPr>
              <a:t>4 bananas </a:t>
            </a:r>
            <a:r>
              <a:rPr lang="en-AU" sz="4400">
                <a:effectLst/>
                <a:latin typeface="Arial" panose="020B0604020202020204" pitchFamily="34" charset="0"/>
                <a:ea typeface="Calibri" panose="020F0502020204030204" pitchFamily="34" charset="0"/>
              </a:rPr>
              <a:t>are needed for </a:t>
            </a:r>
            <a:r>
              <a:rPr lang="en-AU" sz="4400" b="1">
                <a:effectLst/>
                <a:latin typeface="Arial" panose="020B0604020202020204" pitchFamily="34" charset="0"/>
                <a:ea typeface="Calibri" panose="020F0502020204030204" pitchFamily="34" charset="0"/>
              </a:rPr>
              <a:t>3 smoothies</a:t>
            </a:r>
            <a:r>
              <a:rPr lang="en-AU" sz="4400">
                <a:effectLst/>
                <a:latin typeface="Arial" panose="020B0604020202020204" pitchFamily="34" charset="0"/>
                <a:ea typeface="Calibri" panose="020F0502020204030204" pitchFamily="34" charset="0"/>
              </a:rPr>
              <a:t>. </a:t>
            </a:r>
          </a:p>
          <a:p>
            <a:pPr algn="ctr">
              <a:lnSpc>
                <a:spcPct val="150000"/>
              </a:lnSpc>
            </a:pPr>
            <a:r>
              <a:rPr lang="en-AU" sz="4400" b="1">
                <a:effectLst/>
                <a:latin typeface="Arial" panose="020B0604020202020204" pitchFamily="34" charset="0"/>
                <a:ea typeface="Calibri" panose="020F0502020204030204" pitchFamily="34" charset="0"/>
              </a:rPr>
              <a:t>How many bananas </a:t>
            </a:r>
            <a:r>
              <a:rPr lang="en-AU" sz="4400">
                <a:effectLst/>
                <a:latin typeface="Arial" panose="020B0604020202020204" pitchFamily="34" charset="0"/>
                <a:ea typeface="Calibri" panose="020F0502020204030204" pitchFamily="34" charset="0"/>
              </a:rPr>
              <a:t>are needed for </a:t>
            </a:r>
            <a:r>
              <a:rPr lang="en-AU" sz="4400" b="1">
                <a:effectLst/>
                <a:latin typeface="Arial" panose="020B0604020202020204" pitchFamily="34" charset="0"/>
                <a:ea typeface="Calibri" panose="020F0502020204030204" pitchFamily="34" charset="0"/>
              </a:rPr>
              <a:t>18</a:t>
            </a:r>
            <a:r>
              <a:rPr lang="en-AU" sz="4400">
                <a:effectLst/>
                <a:latin typeface="Arial" panose="020B0604020202020204" pitchFamily="34" charset="0"/>
                <a:ea typeface="Calibri" panose="020F0502020204030204" pitchFamily="34" charset="0"/>
              </a:rPr>
              <a:t> smoothies? </a:t>
            </a:r>
            <a:endParaRPr lang="en-AU" sz="4400"/>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B09897F8-C405-01B5-AEA1-09C9BF2CB5D3}"/>
              </a:ext>
            </a:extLst>
          </p:cNvPr>
          <p:cNvSpPr txBox="1"/>
          <p:nvPr/>
        </p:nvSpPr>
        <p:spPr>
          <a:xfrm>
            <a:off x="926836" y="1184223"/>
            <a:ext cx="10557164" cy="1998176"/>
          </a:xfrm>
          <a:prstGeom prst="rect">
            <a:avLst/>
          </a:prstGeom>
          <a:noFill/>
        </p:spPr>
        <p:txBody>
          <a:bodyPr wrap="square">
            <a:spAutoFit/>
          </a:bodyPr>
          <a:lstStyle/>
          <a:p>
            <a:pPr algn="ctr">
              <a:lnSpc>
                <a:spcPct val="150000"/>
              </a:lnSpc>
            </a:pPr>
            <a:r>
              <a:rPr lang="en-AU" sz="4400" b="1" dirty="0">
                <a:effectLst/>
                <a:latin typeface="Arial" panose="020B0604020202020204" pitchFamily="34" charset="0"/>
                <a:ea typeface="Calibri" panose="020F0502020204030204" pitchFamily="34" charset="0"/>
              </a:rPr>
              <a:t>Record</a:t>
            </a:r>
            <a:r>
              <a:rPr lang="en-AU" sz="4400" dirty="0">
                <a:effectLst/>
                <a:latin typeface="Arial" panose="020B0604020202020204" pitchFamily="34" charset="0"/>
                <a:ea typeface="Calibri" panose="020F0502020204030204" pitchFamily="34" charset="0"/>
              </a:rPr>
              <a:t> the </a:t>
            </a:r>
            <a:r>
              <a:rPr lang="en-AU" sz="4400" b="1" dirty="0">
                <a:effectLst/>
                <a:latin typeface="Arial" panose="020B0604020202020204" pitchFamily="34" charset="0"/>
                <a:ea typeface="Calibri" panose="020F0502020204030204" pitchFamily="34" charset="0"/>
              </a:rPr>
              <a:t>transformations</a:t>
            </a:r>
            <a:r>
              <a:rPr lang="en-AU" sz="4400" dirty="0">
                <a:effectLst/>
                <a:latin typeface="Arial" panose="020B0604020202020204" pitchFamily="34" charset="0"/>
                <a:ea typeface="Calibri" panose="020F0502020204030204" pitchFamily="34" charset="0"/>
              </a:rPr>
              <a:t> that have occurred at </a:t>
            </a:r>
            <a:r>
              <a:rPr lang="en-AU" sz="4400" b="1" dirty="0">
                <a:effectLst/>
                <a:latin typeface="Arial" panose="020B0604020202020204" pitchFamily="34" charset="0"/>
                <a:ea typeface="Calibri" panose="020F0502020204030204" pitchFamily="34" charset="0"/>
              </a:rPr>
              <a:t>A, B and C</a:t>
            </a:r>
            <a:r>
              <a:rPr lang="en-AU" sz="4400" dirty="0">
                <a:effectLst/>
                <a:latin typeface="Arial" panose="020B0604020202020204" pitchFamily="34" charset="0"/>
                <a:ea typeface="Calibri" panose="020F0502020204030204" pitchFamily="34" charset="0"/>
              </a:rPr>
              <a:t>.</a:t>
            </a:r>
            <a:endParaRPr lang="en-AU" sz="4400" dirty="0"/>
          </a:p>
        </p:txBody>
      </p:sp>
      <p:pic>
        <p:nvPicPr>
          <p:cNvPr id="7" name="Picture 6" descr="Step-by-step instructions and images to show how to partition, cut (diagonal) and then, translate a rectangle&#10;A. Left half of the rectangle (triangle) has been transformed and the shape is now a parallelogram&#10;B. The left triangle has transformed and there are two identical triangles next to each other.&#10;C. The left triangle has transformed and the two triangles have formed a large triangle.">
            <a:extLst>
              <a:ext uri="{FF2B5EF4-FFF2-40B4-BE49-F238E27FC236}">
                <a16:creationId xmlns:a16="http://schemas.microsoft.com/office/drawing/2014/main" id="{96CA2CEE-F18F-F1E9-5A0B-751D330E3283}"/>
              </a:ext>
            </a:extLst>
          </p:cNvPr>
          <p:cNvPicPr>
            <a:picLocks noChangeAspect="1"/>
          </p:cNvPicPr>
          <p:nvPr/>
        </p:nvPicPr>
        <p:blipFill>
          <a:blip r:embed="rId4"/>
          <a:stretch>
            <a:fillRect/>
          </a:stretch>
        </p:blipFill>
        <p:spPr>
          <a:xfrm>
            <a:off x="404642" y="3429000"/>
            <a:ext cx="11382716" cy="2487058"/>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6">
            <a:extLst>
              <a:ext uri="{FF2B5EF4-FFF2-40B4-BE49-F238E27FC236}">
                <a16:creationId xmlns:a16="http://schemas.microsoft.com/office/drawing/2014/main" id="{1D3CCCCF-56A7-E778-7910-BCD53DBEF7FE}"/>
              </a:ext>
            </a:extLst>
          </p:cNvPr>
          <p:cNvSpPr txBox="1"/>
          <p:nvPr/>
        </p:nvSpPr>
        <p:spPr>
          <a:xfrm>
            <a:off x="813566" y="1254562"/>
            <a:ext cx="9826315" cy="108232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dirty="0"/>
              <a:t>Calculate</a:t>
            </a:r>
            <a:r>
              <a:rPr lang="en-AU" sz="4400" b="1" dirty="0"/>
              <a:t> 10% </a:t>
            </a:r>
            <a:r>
              <a:rPr lang="en-AU" sz="4400" dirty="0"/>
              <a:t>of:</a:t>
            </a:r>
          </a:p>
          <a:p>
            <a:pPr marL="742950" indent="-742950" algn="ctr">
              <a:lnSpc>
                <a:spcPct val="150000"/>
              </a:lnSpc>
              <a:buFont typeface="+mj-lt"/>
              <a:buAutoNum type="alphaLcParenR"/>
            </a:pPr>
            <a:r>
              <a:rPr lang="en-AU" sz="4400" dirty="0"/>
              <a:t>20</a:t>
            </a:r>
          </a:p>
          <a:p>
            <a:pPr marL="742950" indent="-742950" algn="ctr">
              <a:lnSpc>
                <a:spcPct val="150000"/>
              </a:lnSpc>
              <a:buFont typeface="+mj-lt"/>
              <a:buAutoNum type="alphaLcParenR"/>
            </a:pPr>
            <a:r>
              <a:rPr lang="en-AU" sz="4400" dirty="0"/>
              <a:t>660</a:t>
            </a:r>
          </a:p>
          <a:p>
            <a:pPr marL="742950" indent="-742950" algn="ctr">
              <a:lnSpc>
                <a:spcPct val="150000"/>
              </a:lnSpc>
              <a:buFont typeface="+mj-lt"/>
              <a:buAutoNum type="alphaLcParenR"/>
            </a:pPr>
            <a:r>
              <a:rPr lang="en-AU" sz="4400" dirty="0"/>
              <a:t>20 000</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7" name="TextBox 6">
            <a:extLst>
              <a:ext uri="{FF2B5EF4-FFF2-40B4-BE49-F238E27FC236}">
                <a16:creationId xmlns:a16="http://schemas.microsoft.com/office/drawing/2014/main" id="{E99D2155-CA31-7E81-0A49-BC95CE27944C}"/>
              </a:ext>
            </a:extLst>
          </p:cNvPr>
          <p:cNvSpPr txBox="1"/>
          <p:nvPr/>
        </p:nvSpPr>
        <p:spPr>
          <a:xfrm>
            <a:off x="2197125" y="5603438"/>
            <a:ext cx="9286875" cy="769441"/>
          </a:xfrm>
          <a:prstGeom prst="rect">
            <a:avLst/>
          </a:prstGeom>
          <a:noFill/>
        </p:spPr>
        <p:txBody>
          <a:bodyPr wrap="square">
            <a:spAutoFit/>
          </a:bodyPr>
          <a:lstStyle/>
          <a:p>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4">
            <a:extLst>
              <a:ext uri="{FF2B5EF4-FFF2-40B4-BE49-F238E27FC236}">
                <a16:creationId xmlns:a16="http://schemas.microsoft.com/office/drawing/2014/main" id="{B9C26CA0-FBF3-D665-7B6E-B5182186DB88}"/>
              </a:ext>
            </a:extLst>
          </p:cNvPr>
          <p:cNvSpPr txBox="1"/>
          <p:nvPr/>
        </p:nvSpPr>
        <p:spPr>
          <a:xfrm>
            <a:off x="753670" y="1298051"/>
            <a:ext cx="10684661" cy="4261899"/>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dirty="0"/>
              <a:t>An assembly begins at </a:t>
            </a:r>
            <a:r>
              <a:rPr lang="en-AU" sz="4400" b="1" dirty="0"/>
              <a:t>9:15 am </a:t>
            </a:r>
            <a:r>
              <a:rPr lang="en-AU" sz="4400" dirty="0"/>
              <a:t>and ends at </a:t>
            </a:r>
            <a:r>
              <a:rPr lang="en-AU" sz="4400" b="1" dirty="0"/>
              <a:t>11:30 am</a:t>
            </a:r>
            <a:r>
              <a:rPr lang="en-AU" sz="4400" dirty="0"/>
              <a:t>.</a:t>
            </a:r>
          </a:p>
          <a:p>
            <a:pPr algn="ctr">
              <a:lnSpc>
                <a:spcPct val="150000"/>
              </a:lnSpc>
            </a:pPr>
            <a:endParaRPr lang="en-AU" sz="4400" dirty="0"/>
          </a:p>
          <a:p>
            <a:pPr marL="742950" indent="-742950">
              <a:lnSpc>
                <a:spcPct val="150000"/>
              </a:lnSpc>
              <a:buFont typeface="+mj-lt"/>
              <a:buAutoNum type="alphaLcParenR"/>
            </a:pPr>
            <a:r>
              <a:rPr lang="en-AU" sz="4400" b="1" dirty="0"/>
              <a:t>How long </a:t>
            </a:r>
            <a:r>
              <a:rPr lang="en-AU" sz="4400" dirty="0"/>
              <a:t>is the assembly?</a:t>
            </a:r>
          </a:p>
          <a:p>
            <a:pPr marL="742950" indent="-742950">
              <a:lnSpc>
                <a:spcPct val="150000"/>
              </a:lnSpc>
              <a:buFont typeface="+mj-lt"/>
              <a:buAutoNum type="alphaLcParenR"/>
            </a:pPr>
            <a:r>
              <a:rPr lang="en-AU" sz="4400" b="1" dirty="0"/>
              <a:t>Round </a:t>
            </a:r>
            <a:r>
              <a:rPr lang="en-AU" sz="4400" dirty="0"/>
              <a:t>the duration to the nearest hour.</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algorithm for 3-digit by 2-digit multiplication (1)</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5CF78871-519F-F922-B059-7D17310310AD}"/>
              </a:ext>
            </a:extLst>
          </p:cNvPr>
          <p:cNvSpPr txBox="1"/>
          <p:nvPr/>
        </p:nvSpPr>
        <p:spPr>
          <a:xfrm>
            <a:off x="3848986" y="1773625"/>
            <a:ext cx="2958412" cy="2308324"/>
          </a:xfrm>
          <a:prstGeom prst="rect">
            <a:avLst/>
          </a:prstGeom>
          <a:noFill/>
        </p:spPr>
        <p:txBody>
          <a:bodyPr wrap="square" lIns="91440" tIns="45720" rIns="91440" bIns="45720" anchor="t">
            <a:spAutoFit/>
          </a:bodyPr>
          <a:lstStyle/>
          <a:p>
            <a:pPr algn="r"/>
            <a:r>
              <a:rPr lang="en-AU" sz="7200" b="1" dirty="0">
                <a:effectLst/>
                <a:latin typeface="Arial"/>
                <a:ea typeface="Calibri"/>
                <a:cs typeface="Arial"/>
              </a:rPr>
              <a:t>278 </a:t>
            </a:r>
          </a:p>
          <a:p>
            <a:pPr algn="r"/>
            <a:r>
              <a:rPr lang="en-AU" sz="7200" b="1" dirty="0">
                <a:latin typeface="Arial"/>
                <a:ea typeface="Calibri"/>
                <a:cs typeface="Arial"/>
              </a:rPr>
              <a:t>x   </a:t>
            </a:r>
            <a:r>
              <a:rPr lang="en-AU" sz="7200" b="1" dirty="0">
                <a:effectLst/>
                <a:latin typeface="Arial"/>
                <a:ea typeface="Calibri"/>
                <a:cs typeface="Arial"/>
              </a:rPr>
              <a:t>29</a:t>
            </a:r>
            <a:endParaRPr lang="en-AU" sz="7200" b="1" dirty="0">
              <a:latin typeface="Public Sans Light"/>
              <a:ea typeface="Calibri"/>
              <a:cs typeface="Arial"/>
            </a:endParaRPr>
          </a:p>
        </p:txBody>
      </p:sp>
      <p:cxnSp>
        <p:nvCxnSpPr>
          <p:cNvPr id="8" name="Straight Connector 7">
            <a:extLst>
              <a:ext uri="{FF2B5EF4-FFF2-40B4-BE49-F238E27FC236}">
                <a16:creationId xmlns:a16="http://schemas.microsoft.com/office/drawing/2014/main" id="{059ED907-FD35-BB8D-D700-DB12450996DA}"/>
              </a:ext>
              <a:ext uri="{C183D7F6-B498-43B3-948B-1728B52AA6E4}">
                <adec:decorative xmlns:adec="http://schemas.microsoft.com/office/drawing/2017/decorative" val="1"/>
              </a:ext>
            </a:extLst>
          </p:cNvPr>
          <p:cNvCxnSpPr/>
          <p:nvPr/>
        </p:nvCxnSpPr>
        <p:spPr>
          <a:xfrm>
            <a:off x="4582633" y="4263656"/>
            <a:ext cx="24454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BA642-62EB-8205-77F8-ED62973140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FF15143-F3AF-DA29-2338-469E0AE1290D}"/>
              </a:ext>
            </a:extLst>
          </p:cNvPr>
          <p:cNvSpPr>
            <a:spLocks noGrp="1"/>
          </p:cNvSpPr>
          <p:nvPr>
            <p:ph type="title"/>
          </p:nvPr>
        </p:nvSpPr>
        <p:spPr>
          <a:xfrm>
            <a:off x="360000" y="360000"/>
            <a:ext cx="10367268" cy="545601"/>
          </a:xfrm>
        </p:spPr>
        <p:txBody>
          <a:bodyPr/>
          <a:lstStyle/>
          <a:p>
            <a:r>
              <a:rPr lang="en-AU"/>
              <a:t>Activity 3 – algorithm for 3-digit by 2-digit multiplication (2) </a:t>
            </a:r>
            <a:r>
              <a:rPr lang="en-AU">
                <a:solidFill>
                  <a:schemeClr val="bg1"/>
                </a:solidFill>
              </a:rPr>
              <a:t>(2)</a:t>
            </a:r>
          </a:p>
        </p:txBody>
      </p:sp>
      <p:pic>
        <p:nvPicPr>
          <p:cNvPr id="4" name="Picture 3">
            <a:extLst>
              <a:ext uri="{FF2B5EF4-FFF2-40B4-BE49-F238E27FC236}">
                <a16:creationId xmlns:a16="http://schemas.microsoft.com/office/drawing/2014/main" id="{DF892946-4BE9-6FD0-5AF0-41212ECEF3C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69D22F05-6B5E-68C8-A31E-495BF10186A3}"/>
              </a:ext>
            </a:extLst>
          </p:cNvPr>
          <p:cNvSpPr txBox="1"/>
          <p:nvPr/>
        </p:nvSpPr>
        <p:spPr>
          <a:xfrm>
            <a:off x="539570" y="1922081"/>
            <a:ext cx="11112860" cy="3013838"/>
          </a:xfrm>
          <a:prstGeom prst="rect">
            <a:avLst/>
          </a:prstGeom>
          <a:noFill/>
        </p:spPr>
        <p:txBody>
          <a:bodyPr wrap="square">
            <a:spAutoFit/>
          </a:bodyPr>
          <a:lstStyle/>
          <a:p>
            <a:pPr lvl="0" algn="ctr">
              <a:lnSpc>
                <a:spcPct val="150000"/>
              </a:lnSpc>
            </a:pPr>
            <a:r>
              <a:rPr lang="en-AU" sz="4400" kern="1200" dirty="0">
                <a:solidFill>
                  <a:schemeClr val="tx1"/>
                </a:solidFill>
                <a:effectLst/>
                <a:latin typeface="Arial" panose="020B0604020202020204" pitchFamily="34" charset="0"/>
                <a:ea typeface="+mn-ea"/>
                <a:cs typeface="Arial" panose="020B0604020202020204" pitchFamily="34" charset="0"/>
              </a:rPr>
              <a:t>A theme park records </a:t>
            </a:r>
            <a:r>
              <a:rPr lang="en-AU" sz="4400" b="1" kern="1200" dirty="0">
                <a:solidFill>
                  <a:schemeClr val="tx1"/>
                </a:solidFill>
                <a:effectLst/>
                <a:latin typeface="Arial" panose="020B0604020202020204" pitchFamily="34" charset="0"/>
                <a:ea typeface="+mn-ea"/>
                <a:cs typeface="Arial" panose="020B0604020202020204" pitchFamily="34" charset="0"/>
              </a:rPr>
              <a:t>348 visitors </a:t>
            </a:r>
            <a:r>
              <a:rPr lang="en-AU" sz="4400" kern="1200" dirty="0">
                <a:solidFill>
                  <a:schemeClr val="tx1"/>
                </a:solidFill>
                <a:effectLst/>
                <a:latin typeface="Arial" panose="020B0604020202020204" pitchFamily="34" charset="0"/>
                <a:ea typeface="+mn-ea"/>
                <a:cs typeface="Arial" panose="020B0604020202020204" pitchFamily="34" charset="0"/>
              </a:rPr>
              <a:t>per day over </a:t>
            </a:r>
            <a:r>
              <a:rPr lang="en-AU" sz="4400" b="1" kern="1200" dirty="0">
                <a:solidFill>
                  <a:schemeClr val="tx1"/>
                </a:solidFill>
                <a:effectLst/>
                <a:latin typeface="Arial" panose="020B0604020202020204" pitchFamily="34" charset="0"/>
                <a:ea typeface="+mn-ea"/>
                <a:cs typeface="Arial" panose="020B0604020202020204" pitchFamily="34" charset="0"/>
              </a:rPr>
              <a:t>27 days</a:t>
            </a:r>
            <a:r>
              <a:rPr lang="en-AU" sz="4400" kern="1200" dirty="0">
                <a:solidFill>
                  <a:schemeClr val="tx1"/>
                </a:solidFill>
                <a:effectLst/>
                <a:latin typeface="Arial" panose="020B0604020202020204" pitchFamily="34" charset="0"/>
                <a:ea typeface="+mn-ea"/>
                <a:cs typeface="Arial" panose="020B0604020202020204" pitchFamily="34" charset="0"/>
              </a:rPr>
              <a:t>. </a:t>
            </a:r>
          </a:p>
          <a:p>
            <a:pPr lvl="0" algn="ctr">
              <a:lnSpc>
                <a:spcPct val="150000"/>
              </a:lnSpc>
            </a:pPr>
            <a:r>
              <a:rPr lang="en-AU" sz="4400" kern="1200" dirty="0">
                <a:solidFill>
                  <a:schemeClr val="tx1"/>
                </a:solidFill>
                <a:effectLst/>
                <a:latin typeface="Arial" panose="020B0604020202020204" pitchFamily="34" charset="0"/>
                <a:ea typeface="+mn-ea"/>
                <a:cs typeface="Arial" panose="020B0604020202020204" pitchFamily="34" charset="0"/>
              </a:rPr>
              <a:t>How many visitors attended in </a:t>
            </a:r>
            <a:r>
              <a:rPr lang="en-AU" sz="4400" b="1" kern="1200" dirty="0">
                <a:solidFill>
                  <a:schemeClr val="tx1"/>
                </a:solidFill>
                <a:effectLst/>
                <a:latin typeface="Arial" panose="020B0604020202020204" pitchFamily="34" charset="0"/>
                <a:ea typeface="+mn-ea"/>
                <a:cs typeface="Arial" panose="020B0604020202020204" pitchFamily="34" charset="0"/>
              </a:rPr>
              <a:t>total</a:t>
            </a:r>
            <a:r>
              <a:rPr lang="en-AU" sz="4400" kern="1200" dirty="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8644BB2E-9F4D-1432-51ED-DFBD92F2897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3279783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Box 7">
            <a:extLst>
              <a:ext uri="{FF2B5EF4-FFF2-40B4-BE49-F238E27FC236}">
                <a16:creationId xmlns:a16="http://schemas.microsoft.com/office/drawing/2014/main" id="{8E52F78D-4047-08CA-4BB8-9F41E63FF87B}"/>
              </a:ext>
            </a:extLst>
          </p:cNvPr>
          <p:cNvSpPr txBox="1"/>
          <p:nvPr/>
        </p:nvSpPr>
        <p:spPr>
          <a:xfrm>
            <a:off x="673821" y="2780522"/>
            <a:ext cx="10829037" cy="2482667"/>
          </a:xfrm>
          <a:prstGeom prst="rect">
            <a:avLst/>
          </a:prstGeom>
          <a:solidFill>
            <a:schemeClr val="accent4"/>
          </a:solidFill>
          <a:ln w="57150">
            <a:solidFill>
              <a:schemeClr val="accent1"/>
            </a:solidFill>
          </a:ln>
        </p:spPr>
        <p:txBody>
          <a:bodyPr wrap="square" lIns="91440" tIns="45720" rIns="91440" bIns="45720" anchor="t">
            <a:spAutoFit/>
          </a:bodyPr>
          <a:lstStyle/>
          <a:p>
            <a:pPr algn="ctr">
              <a:lnSpc>
                <a:spcPct val="150000"/>
              </a:lnSpc>
            </a:pPr>
            <a:r>
              <a:rPr lang="en-AU" sz="3600"/>
              <a:t>There are </a:t>
            </a:r>
            <a:r>
              <a:rPr lang="en-AU" sz="3600" b="1"/>
              <a:t>32 rows</a:t>
            </a:r>
            <a:r>
              <a:rPr lang="en-AU" sz="3600"/>
              <a:t> of chairs in a hall, and each row has </a:t>
            </a:r>
            <a:r>
              <a:rPr lang="en-AU" sz="3600" b="1"/>
              <a:t>15 chairs</a:t>
            </a:r>
            <a:r>
              <a:rPr lang="en-AU" sz="3600"/>
              <a:t>.</a:t>
            </a:r>
            <a:br>
              <a:rPr lang="en-AU" sz="3600"/>
            </a:br>
            <a:r>
              <a:rPr lang="en-AU" sz="3600" b="1">
                <a:cs typeface="Arial"/>
              </a:rPr>
              <a:t>How many chairs </a:t>
            </a:r>
            <a:r>
              <a:rPr lang="en-AU" sz="3600">
                <a:cs typeface="Arial"/>
              </a:rPr>
              <a:t>are there in total?</a:t>
            </a:r>
            <a:endParaRPr lang="en-US"/>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59665" y="1031546"/>
            <a:ext cx="11697247" cy="893226"/>
          </a:xfrm>
        </p:spPr>
        <p:txBody>
          <a:bodyPr/>
          <a:lstStyle/>
          <a:p>
            <a:pPr algn="ctr"/>
            <a:r>
              <a:rPr lang="en-AU" sz="3600" dirty="0"/>
              <a:t>The </a:t>
            </a:r>
            <a:r>
              <a:rPr lang="en-AU" sz="3600" b="1" dirty="0"/>
              <a:t>equation</a:t>
            </a:r>
            <a:r>
              <a:rPr lang="en-AU" sz="3600" dirty="0"/>
              <a:t> to </a:t>
            </a:r>
            <a:r>
              <a:rPr lang="en-AU" sz="3600" b="1" dirty="0"/>
              <a:t>solve</a:t>
            </a:r>
            <a:r>
              <a:rPr lang="en-AU" sz="3600" dirty="0"/>
              <a:t> this word problem is: </a:t>
            </a:r>
          </a:p>
          <a:p>
            <a:pPr algn="ctr"/>
            <a:r>
              <a:rPr lang="en-AU" sz="3600" b="1" dirty="0">
                <a:solidFill>
                  <a:schemeClr val="accent2"/>
                </a:solidFill>
              </a:rPr>
              <a:t>32 x 15 </a:t>
            </a:r>
            <a:endParaRPr lang="en-AU" sz="4000" b="1" dirty="0">
              <a:solidFill>
                <a:schemeClr val="accent2"/>
              </a:solidFill>
            </a:endParaRP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751956264"/>
              </p:ext>
            </p:extLst>
          </p:nvPr>
        </p:nvGraphicFramePr>
        <p:xfrm>
          <a:off x="2437743" y="572412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B58BB2D-47FB-0AF8-1E2A-04281FA5C577}"/>
              </a:ext>
            </a:extLst>
          </p:cNvPr>
          <p:cNvSpPr txBox="1"/>
          <p:nvPr/>
        </p:nvSpPr>
        <p:spPr>
          <a:xfrm>
            <a:off x="360000" y="1493240"/>
            <a:ext cx="11218728" cy="4029501"/>
          </a:xfrm>
          <a:prstGeom prst="rect">
            <a:avLst/>
          </a:prstGeom>
          <a:noFill/>
        </p:spPr>
        <p:txBody>
          <a:bodyPr wrap="square">
            <a:spAutoFit/>
          </a:bodyPr>
          <a:lstStyle/>
          <a:p>
            <a:pPr algn="ctr">
              <a:lnSpc>
                <a:spcPct val="150000"/>
              </a:lnSpc>
            </a:pPr>
            <a:r>
              <a:rPr lang="en-AU" sz="4400" dirty="0"/>
              <a:t>An alarm beeps </a:t>
            </a:r>
            <a:r>
              <a:rPr lang="en-AU" sz="4400" b="1" dirty="0"/>
              <a:t>8 times </a:t>
            </a:r>
            <a:r>
              <a:rPr lang="en-AU" sz="4400" dirty="0"/>
              <a:t>every </a:t>
            </a:r>
            <a:r>
              <a:rPr lang="en-AU" sz="4400" b="1" dirty="0"/>
              <a:t>4 seconds</a:t>
            </a:r>
            <a:r>
              <a:rPr lang="en-AU" sz="4400" dirty="0"/>
              <a:t>. </a:t>
            </a:r>
          </a:p>
          <a:p>
            <a:pPr algn="ctr">
              <a:lnSpc>
                <a:spcPct val="150000"/>
              </a:lnSpc>
            </a:pPr>
            <a:endParaRPr lang="en-AU" sz="4400" dirty="0"/>
          </a:p>
          <a:p>
            <a:pPr algn="ctr">
              <a:lnSpc>
                <a:spcPct val="150000"/>
              </a:lnSpc>
            </a:pPr>
            <a:r>
              <a:rPr lang="en-AU" sz="4400" b="1" dirty="0"/>
              <a:t>How many times</a:t>
            </a:r>
            <a:r>
              <a:rPr lang="en-AU" sz="4400" dirty="0"/>
              <a:t> does it beep in </a:t>
            </a:r>
            <a:r>
              <a:rPr lang="en-AU" sz="4400" b="1" dirty="0"/>
              <a:t>2 minutes</a:t>
            </a:r>
            <a:r>
              <a:rPr lang="en-AU" sz="4400" dirty="0"/>
              <a:t>?</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454DCB19-E6D9-956C-CA5C-AE66B69E6FF8}"/>
              </a:ext>
            </a:extLst>
          </p:cNvPr>
          <p:cNvSpPr txBox="1"/>
          <p:nvPr/>
        </p:nvSpPr>
        <p:spPr>
          <a:xfrm>
            <a:off x="360000" y="1414249"/>
            <a:ext cx="6249449" cy="4029501"/>
          </a:xfrm>
          <a:prstGeom prst="rect">
            <a:avLst/>
          </a:prstGeom>
          <a:noFill/>
        </p:spPr>
        <p:txBody>
          <a:bodyPr wrap="square">
            <a:spAutoFit/>
          </a:bodyPr>
          <a:lstStyle/>
          <a:p>
            <a:pPr algn="ctr">
              <a:lnSpc>
                <a:spcPct val="150000"/>
              </a:lnSpc>
            </a:pPr>
            <a:r>
              <a:rPr lang="en-AU" sz="4400"/>
              <a:t>Calculate the </a:t>
            </a:r>
            <a:r>
              <a:rPr lang="en-AU" sz="4400" b="1"/>
              <a:t>area</a:t>
            </a:r>
            <a:r>
              <a:rPr lang="en-AU" sz="4400"/>
              <a:t> of the </a:t>
            </a:r>
            <a:r>
              <a:rPr lang="en-AU" sz="4400" b="1"/>
              <a:t>composite L-shape figure</a:t>
            </a:r>
            <a:r>
              <a:rPr lang="en-AU" sz="4400"/>
              <a:t> in </a:t>
            </a:r>
            <a:r>
              <a:rPr lang="en-AU" sz="4400" b="1"/>
              <a:t>square centimetres</a:t>
            </a:r>
            <a:r>
              <a:rPr lang="en-AU" sz="4400"/>
              <a:t>.</a:t>
            </a:r>
          </a:p>
        </p:txBody>
      </p:sp>
      <p:pic>
        <p:nvPicPr>
          <p:cNvPr id="16" name="Picture 15" descr="composite L shape on a square centimetre grid:&#10;&#10;bottom line:&#10;right side: 7&#10;top side: 5&#10;&#10;Left side is the L shape:&#10;Line from the top down: 5, line left: 3, line down, 2">
            <a:extLst>
              <a:ext uri="{FF2B5EF4-FFF2-40B4-BE49-F238E27FC236}">
                <a16:creationId xmlns:a16="http://schemas.microsoft.com/office/drawing/2014/main" id="{39AA28C2-DCF2-716B-0728-783079A9F924}"/>
              </a:ext>
            </a:extLst>
          </p:cNvPr>
          <p:cNvPicPr>
            <a:picLocks noChangeAspect="1"/>
          </p:cNvPicPr>
          <p:nvPr/>
        </p:nvPicPr>
        <p:blipFill>
          <a:blip r:embed="rId4"/>
          <a:stretch>
            <a:fillRect/>
          </a:stretch>
        </p:blipFill>
        <p:spPr>
          <a:xfrm>
            <a:off x="6935366" y="1568316"/>
            <a:ext cx="4311726" cy="4274716"/>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E0D9314-A294-BB9D-F5F6-F171AFB77E7B}"/>
              </a:ext>
            </a:extLst>
          </p:cNvPr>
          <p:cNvSpPr txBox="1"/>
          <p:nvPr/>
        </p:nvSpPr>
        <p:spPr>
          <a:xfrm>
            <a:off x="545792" y="1184223"/>
            <a:ext cx="10783756" cy="4261899"/>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spcBef>
                <a:spcPts val="1200"/>
              </a:spcBef>
              <a:spcAft>
                <a:spcPts val="600"/>
              </a:spcAft>
            </a:pPr>
            <a:r>
              <a:rPr lang="en-AU" sz="4000" dirty="0"/>
              <a:t>Using this </a:t>
            </a:r>
            <a:r>
              <a:rPr lang="en-AU" sz="4000" b="1" dirty="0"/>
              <a:t>geometric pattern </a:t>
            </a:r>
            <a:r>
              <a:rPr lang="en-AU" sz="4000" dirty="0"/>
              <a:t>and </a:t>
            </a:r>
            <a:r>
              <a:rPr lang="en-AU" sz="4000" b="1" dirty="0"/>
              <a:t>table,</a:t>
            </a:r>
            <a:r>
              <a:rPr lang="en-AU" sz="4000" dirty="0"/>
              <a:t> what would the </a:t>
            </a:r>
            <a:r>
              <a:rPr lang="en-AU" sz="4000" b="1" dirty="0"/>
              <a:t>number of sides</a:t>
            </a:r>
            <a:r>
              <a:rPr lang="en-AU" sz="4000" dirty="0"/>
              <a:t> be for:</a:t>
            </a:r>
          </a:p>
          <a:p>
            <a:pPr marL="742950" indent="-742950">
              <a:lnSpc>
                <a:spcPct val="150000"/>
              </a:lnSpc>
              <a:spcBef>
                <a:spcPts val="1200"/>
              </a:spcBef>
              <a:spcAft>
                <a:spcPts val="600"/>
              </a:spcAft>
              <a:buFont typeface="+mj-lt"/>
              <a:buAutoNum type="alphaLcParenR"/>
            </a:pPr>
            <a:r>
              <a:rPr lang="en-AU" sz="4000" b="1" dirty="0"/>
              <a:t>6</a:t>
            </a:r>
            <a:r>
              <a:rPr lang="en-AU" sz="4000" dirty="0"/>
              <a:t> hexagons</a:t>
            </a:r>
            <a:endParaRPr lang="en-AU" sz="4000" baseline="30000" dirty="0"/>
          </a:p>
          <a:p>
            <a:pPr marL="742950" indent="-742950">
              <a:lnSpc>
                <a:spcPct val="150000"/>
              </a:lnSpc>
              <a:spcBef>
                <a:spcPts val="1200"/>
              </a:spcBef>
              <a:spcAft>
                <a:spcPts val="600"/>
              </a:spcAft>
              <a:buFont typeface="+mj-lt"/>
              <a:buAutoNum type="alphaLcParenR"/>
            </a:pPr>
            <a:r>
              <a:rPr lang="en-AU" sz="4000" b="1" dirty="0"/>
              <a:t>10</a:t>
            </a:r>
            <a:r>
              <a:rPr lang="en-AU" sz="4000" dirty="0"/>
              <a:t> hexagons</a:t>
            </a:r>
          </a:p>
          <a:p>
            <a:pPr marL="742950" indent="-742950">
              <a:lnSpc>
                <a:spcPct val="150000"/>
              </a:lnSpc>
              <a:spcBef>
                <a:spcPts val="1200"/>
              </a:spcBef>
              <a:spcAft>
                <a:spcPts val="600"/>
              </a:spcAft>
              <a:buFont typeface="+mj-lt"/>
              <a:buAutoNum type="alphaLcParenR"/>
            </a:pPr>
            <a:r>
              <a:rPr lang="en-AU" sz="4000" b="1" dirty="0"/>
              <a:t>12</a:t>
            </a:r>
            <a:r>
              <a:rPr lang="en-AU" sz="4000" dirty="0"/>
              <a:t> hexagons</a:t>
            </a:r>
          </a:p>
          <a:p>
            <a:pPr>
              <a:lnSpc>
                <a:spcPct val="150000"/>
              </a:lnSpc>
            </a:pPr>
            <a:endParaRPr lang="en-AU" sz="4000" dirty="0"/>
          </a:p>
        </p:txBody>
      </p:sp>
      <p:pic>
        <p:nvPicPr>
          <p:cNvPr id="7" name="Picture 6" descr="a geometric pattern with hexagons.&#10;&#10;A table accompanies it with the top labelled number of hexagons: 1, 2, 3, 4, 5&#10;and the bottom labelled Number of sides: 6, 12, 18, 24, 30">
            <a:extLst>
              <a:ext uri="{FF2B5EF4-FFF2-40B4-BE49-F238E27FC236}">
                <a16:creationId xmlns:a16="http://schemas.microsoft.com/office/drawing/2014/main" id="{1484C83B-B5FF-A5EA-1672-26653DCC8764}"/>
              </a:ext>
            </a:extLst>
          </p:cNvPr>
          <p:cNvPicPr>
            <a:picLocks noChangeAspect="1"/>
          </p:cNvPicPr>
          <p:nvPr/>
        </p:nvPicPr>
        <p:blipFill>
          <a:blip r:embed="rId4"/>
          <a:stretch>
            <a:fillRect/>
          </a:stretch>
        </p:blipFill>
        <p:spPr>
          <a:xfrm>
            <a:off x="4781863" y="3117773"/>
            <a:ext cx="6864345" cy="3119605"/>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61047C2-7C85-2F4E-87C7-097DB22A8322}"/>
              </a:ext>
            </a:extLst>
          </p:cNvPr>
          <p:cNvSpPr txBox="1"/>
          <p:nvPr/>
        </p:nvSpPr>
        <p:spPr>
          <a:xfrm>
            <a:off x="906070" y="1450451"/>
            <a:ext cx="10684661" cy="4261899"/>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dirty="0"/>
              <a:t>Write the following </a:t>
            </a:r>
            <a:r>
              <a:rPr lang="en-AU" sz="4400" b="1" dirty="0"/>
              <a:t>times</a:t>
            </a:r>
            <a:r>
              <a:rPr lang="en-AU" sz="4400" dirty="0"/>
              <a:t> as </a:t>
            </a:r>
            <a:r>
              <a:rPr lang="en-AU" sz="4400" b="1" dirty="0"/>
              <a:t>decimals</a:t>
            </a:r>
            <a:r>
              <a:rPr lang="en-AU" sz="4400" dirty="0"/>
              <a:t>:</a:t>
            </a:r>
          </a:p>
          <a:p>
            <a:pPr marL="742950" indent="-742950" algn="ctr">
              <a:lnSpc>
                <a:spcPct val="150000"/>
              </a:lnSpc>
              <a:buFont typeface="+mj-lt"/>
              <a:buAutoNum type="alphaLcParenR"/>
            </a:pPr>
            <a:r>
              <a:rPr lang="en-AU" sz="4400" b="1" dirty="0"/>
              <a:t>1</a:t>
            </a:r>
            <a:r>
              <a:rPr lang="en-AU" sz="4400" dirty="0"/>
              <a:t> hour and </a:t>
            </a:r>
            <a:r>
              <a:rPr lang="en-AU" sz="4400" b="1" dirty="0"/>
              <a:t>30</a:t>
            </a:r>
            <a:r>
              <a:rPr lang="en-AU" sz="4400" dirty="0"/>
              <a:t> minutes</a:t>
            </a:r>
          </a:p>
          <a:p>
            <a:pPr marL="742950" indent="-742950" algn="ctr">
              <a:lnSpc>
                <a:spcPct val="150000"/>
              </a:lnSpc>
              <a:buFont typeface="+mj-lt"/>
              <a:buAutoNum type="alphaLcParenR"/>
            </a:pPr>
            <a:r>
              <a:rPr lang="en-AU" sz="4400" b="1" dirty="0"/>
              <a:t>2 </a:t>
            </a:r>
            <a:r>
              <a:rPr lang="en-AU" sz="4400" dirty="0"/>
              <a:t>hours and </a:t>
            </a:r>
            <a:r>
              <a:rPr lang="en-AU" sz="4400" b="1" dirty="0"/>
              <a:t>15</a:t>
            </a:r>
            <a:r>
              <a:rPr lang="en-AU" sz="4400" dirty="0"/>
              <a:t> minutes</a:t>
            </a:r>
          </a:p>
          <a:p>
            <a:pPr marL="742950" indent="-742950" algn="ctr">
              <a:lnSpc>
                <a:spcPct val="150000"/>
              </a:lnSpc>
              <a:buFont typeface="+mj-lt"/>
              <a:buAutoNum type="alphaLcParenR"/>
            </a:pPr>
            <a:r>
              <a:rPr lang="en-AU" sz="4400" b="1" dirty="0"/>
              <a:t>3</a:t>
            </a:r>
            <a:r>
              <a:rPr lang="en-AU" sz="4400" dirty="0"/>
              <a:t> hours and </a:t>
            </a:r>
            <a:r>
              <a:rPr lang="en-AU" sz="4400" b="1" dirty="0"/>
              <a:t>45</a:t>
            </a:r>
            <a:r>
              <a:rPr lang="en-AU" sz="4400" dirty="0"/>
              <a:t> minutes</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selecting and applying strategies to multiply</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E94E8CFB-43AB-BC98-F65C-BE4087EEA8BA}"/>
              </a:ext>
            </a:extLst>
          </p:cNvPr>
          <p:cNvSpPr txBox="1"/>
          <p:nvPr/>
        </p:nvSpPr>
        <p:spPr>
          <a:xfrm>
            <a:off x="978195" y="1703483"/>
            <a:ext cx="9824484" cy="1998176"/>
          </a:xfrm>
          <a:prstGeom prst="rect">
            <a:avLst/>
          </a:prstGeom>
          <a:noFill/>
        </p:spPr>
        <p:txBody>
          <a:bodyPr wrap="square">
            <a:spAutoFit/>
          </a:bodyPr>
          <a:lstStyle/>
          <a:p>
            <a:pPr lvl="0" algn="ctr">
              <a:lnSpc>
                <a:spcPct val="150000"/>
              </a:lnSpc>
              <a:spcBef>
                <a:spcPts val="1200"/>
              </a:spcBef>
              <a:spcAft>
                <a:spcPts val="600"/>
              </a:spcAft>
            </a:pPr>
            <a:r>
              <a:rPr lang="en-AU" sz="4400" b="1" dirty="0">
                <a:effectLst/>
                <a:latin typeface="Arial" panose="020B0604020202020204" pitchFamily="34" charset="0"/>
                <a:ea typeface="Calibri" panose="020F0502020204030204" pitchFamily="34" charset="0"/>
              </a:rPr>
              <a:t>How many days old </a:t>
            </a:r>
            <a:r>
              <a:rPr lang="en-AU" sz="4400" dirty="0">
                <a:effectLst/>
                <a:latin typeface="Arial" panose="020B0604020202020204" pitchFamily="34" charset="0"/>
                <a:ea typeface="Calibri" panose="020F0502020204030204" pitchFamily="34" charset="0"/>
              </a:rPr>
              <a:t>will Elyssa be on her </a:t>
            </a:r>
            <a:r>
              <a:rPr lang="en-AU" sz="4400" b="1" dirty="0">
                <a:effectLst/>
                <a:latin typeface="Arial" panose="020B0604020202020204" pitchFamily="34" charset="0"/>
                <a:ea typeface="Calibri" panose="020F0502020204030204" pitchFamily="34" charset="0"/>
              </a:rPr>
              <a:t>20th birthday</a:t>
            </a:r>
            <a:r>
              <a:rPr lang="en-AU" sz="4400" dirty="0">
                <a:effectLst/>
                <a:latin typeface="Arial" panose="020B0604020202020204" pitchFamily="34" charset="0"/>
                <a:ea typeface="Calibri" panose="020F0502020204030204" pitchFamily="34" charset="0"/>
              </a:rPr>
              <a:t>?</a:t>
            </a:r>
          </a:p>
        </p:txBody>
      </p:sp>
      <p:sp>
        <p:nvSpPr>
          <p:cNvPr id="7" name="TextBox 6">
            <a:extLst>
              <a:ext uri="{FF2B5EF4-FFF2-40B4-BE49-F238E27FC236}">
                <a16:creationId xmlns:a16="http://schemas.microsoft.com/office/drawing/2014/main" id="{1CB0FCD3-2D9A-2EC5-2B4F-6D542D569F25}"/>
              </a:ext>
            </a:extLst>
          </p:cNvPr>
          <p:cNvSpPr txBox="1"/>
          <p:nvPr/>
        </p:nvSpPr>
        <p:spPr>
          <a:xfrm>
            <a:off x="1183758" y="4337463"/>
            <a:ext cx="9824484" cy="1204625"/>
          </a:xfrm>
          <a:prstGeom prst="rect">
            <a:avLst/>
          </a:prstGeom>
          <a:noFill/>
        </p:spPr>
        <p:txBody>
          <a:bodyPr wrap="square">
            <a:spAutoFit/>
          </a:bodyPr>
          <a:lstStyle/>
          <a:p>
            <a:pPr lvl="0" algn="ctr">
              <a:lnSpc>
                <a:spcPct val="150000"/>
              </a:lnSpc>
              <a:spcBef>
                <a:spcPts val="1200"/>
              </a:spcBef>
              <a:spcAft>
                <a:spcPts val="600"/>
              </a:spcAft>
            </a:pPr>
            <a:r>
              <a:rPr lang="en-AU" sz="5400" b="1" dirty="0">
                <a:effectLst/>
                <a:latin typeface="Arial" panose="020B0604020202020204" pitchFamily="34" charset="0"/>
                <a:ea typeface="Calibri" panose="020F0502020204030204" pitchFamily="34" charset="0"/>
              </a:rPr>
              <a:t>365 × 20 =</a:t>
            </a:r>
            <a:endParaRPr lang="en-AU" sz="5400" dirty="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2244714" y="937901"/>
                <a:ext cx="8197900" cy="893226"/>
              </a:xfrm>
            </p:spPr>
            <p:txBody>
              <a:bodyPr/>
              <a:lstStyle/>
              <a:p>
                <a:pPr algn="ctr">
                  <a:spcBef>
                    <a:spcPts val="1200"/>
                  </a:spcBef>
                </a:pPr>
                <a:r>
                  <a:rPr lang="en-AU" sz="3600" dirty="0"/>
                  <a:t>Lisa used </a:t>
                </a:r>
                <a14:m>
                  <m:oMath xmlns:m="http://schemas.openxmlformats.org/officeDocument/2006/math">
                    <m:f>
                      <m:fPr>
                        <m:ctrlPr>
                          <a:rPr lang="en-AU" sz="3600" b="1" i="1" smtClean="0">
                            <a:latin typeface="Cambria Math" panose="02040503050406030204" pitchFamily="18" charset="0"/>
                          </a:rPr>
                        </m:ctrlPr>
                      </m:fPr>
                      <m:num>
                        <m:r>
                          <a:rPr lang="en-AU" sz="3600" b="1" i="1" smtClean="0">
                            <a:latin typeface="Cambria Math" panose="02040503050406030204" pitchFamily="18" charset="0"/>
                          </a:rPr>
                          <m:t>𝟏</m:t>
                        </m:r>
                      </m:num>
                      <m:den>
                        <m:r>
                          <a:rPr lang="en-AU" sz="3600" b="1" i="1" smtClean="0">
                            <a:latin typeface="Cambria Math" panose="02040503050406030204" pitchFamily="18" charset="0"/>
                          </a:rPr>
                          <m:t>𝟖</m:t>
                        </m:r>
                      </m:den>
                    </m:f>
                  </m:oMath>
                </a14:m>
                <a:r>
                  <a:rPr lang="en-AU" sz="3600" b="1" dirty="0"/>
                  <a:t> cup</a:t>
                </a:r>
                <a:r>
                  <a:rPr lang="en-AU" sz="3600" dirty="0"/>
                  <a:t> of sugar for a cake and </a:t>
                </a:r>
                <a14:m>
                  <m:oMath xmlns:m="http://schemas.openxmlformats.org/officeDocument/2006/math">
                    <m:f>
                      <m:fPr>
                        <m:ctrlPr>
                          <a:rPr lang="en-AU" sz="3600" b="1" i="1" smtClean="0">
                            <a:latin typeface="Cambria Math" panose="02040503050406030204" pitchFamily="18" charset="0"/>
                          </a:rPr>
                        </m:ctrlPr>
                      </m:fPr>
                      <m:num>
                        <m:r>
                          <a:rPr lang="en-AU" sz="3600" b="1" i="1" smtClean="0">
                            <a:latin typeface="Cambria Math" panose="02040503050406030204" pitchFamily="18" charset="0"/>
                          </a:rPr>
                          <m:t>𝟏</m:t>
                        </m:r>
                      </m:num>
                      <m:den>
                        <m:r>
                          <a:rPr lang="en-AU" sz="3600" b="1" i="1" smtClean="0">
                            <a:latin typeface="Cambria Math" panose="02040503050406030204" pitchFamily="18" charset="0"/>
                          </a:rPr>
                          <m:t>𝟐</m:t>
                        </m:r>
                      </m:den>
                    </m:f>
                  </m:oMath>
                </a14:m>
                <a:r>
                  <a:rPr lang="en-AU" sz="3600" b="1" dirty="0"/>
                  <a:t> cup</a:t>
                </a:r>
                <a:r>
                  <a:rPr lang="en-AU" sz="3600" dirty="0"/>
                  <a:t> of sugar for cookies.</a:t>
                </a:r>
                <a:br>
                  <a:rPr lang="en-AU" sz="3600" dirty="0"/>
                </a:br>
                <a:endParaRPr lang="en-US" sz="3600" dirty="0"/>
              </a:p>
            </p:txBody>
          </p:sp>
        </mc:Choice>
        <mc:Fallback xmlns="">
          <p:sp>
            <p:nvSpPr>
              <p:cNvPr id="18" name="Text Placeholder 17">
                <a:extLst>
                  <a:ext uri="{FF2B5EF4-FFF2-40B4-BE49-F238E27FC236}">
                    <a16:creationId xmlns:a16="http://schemas.microsoft.com/office/drawing/2014/main" id="{E180F3B1-ACC7-4559-EA73-174DB17A0983}"/>
                  </a:ext>
                </a:extLst>
              </p:cNvPr>
              <p:cNvSpPr>
                <a:spLocks noGrp="1" noRot="1" noChangeAspect="1" noMove="1" noResize="1" noEditPoints="1" noAdjustHandles="1" noChangeArrowheads="1" noChangeShapeType="1" noTextEdit="1"/>
              </p:cNvSpPr>
              <p:nvPr>
                <p:ph type="body" sz="quarter" idx="24"/>
              </p:nvPr>
            </p:nvSpPr>
            <p:spPr>
              <a:xfrm>
                <a:off x="2244714" y="937901"/>
                <a:ext cx="8197900" cy="893226"/>
              </a:xfrm>
              <a:blipFill>
                <a:blip r:embed="rId4"/>
                <a:stretch>
                  <a:fillRect l="-2305" r="-3866" b="-172603"/>
                </a:stretch>
              </a:blipFill>
            </p:spPr>
            <p:txBody>
              <a:bodyPr/>
              <a:lstStyle/>
              <a:p>
                <a:r>
                  <a:rPr lang="en-AU">
                    <a:noFill/>
                  </a:rPr>
                  <a:t> </a:t>
                </a:r>
              </a:p>
            </p:txBody>
          </p:sp>
        </mc:Fallback>
      </mc:AlternateContent>
      <p:sp>
        <p:nvSpPr>
          <p:cNvPr id="9" name="TextBox 8">
            <a:extLst>
              <a:ext uri="{FF2B5EF4-FFF2-40B4-BE49-F238E27FC236}">
                <a16:creationId xmlns:a16="http://schemas.microsoft.com/office/drawing/2014/main" id="{4E6EA9CC-6235-8807-420B-A4371AC418C0}"/>
              </a:ext>
            </a:extLst>
          </p:cNvPr>
          <p:cNvSpPr txBox="1"/>
          <p:nvPr/>
        </p:nvSpPr>
        <p:spPr>
          <a:xfrm>
            <a:off x="1247664" y="46176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6" name="Text Placeholder 17">
                <a:extLst>
                  <a:ext uri="{FF2B5EF4-FFF2-40B4-BE49-F238E27FC236}">
                    <a16:creationId xmlns:a16="http://schemas.microsoft.com/office/drawing/2014/main" id="{19B510B6-5F3C-B050-2AEF-5227F44EA5A2}"/>
                  </a:ext>
                </a:extLst>
              </p:cNvPr>
              <p:cNvSpPr txBox="1">
                <a:spLocks/>
              </p:cNvSpPr>
              <p:nvPr/>
            </p:nvSpPr>
            <p:spPr>
              <a:xfrm>
                <a:off x="998197" y="4870494"/>
                <a:ext cx="937172"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8</m:t>
                          </m:r>
                        </m:den>
                      </m:f>
                    </m:oMath>
                  </m:oMathPara>
                </a14:m>
                <a:endParaRPr lang="en-AU" sz="4400" b="0"/>
              </a:p>
              <a:p>
                <a:endParaRPr lang="en-US" sz="4400"/>
              </a:p>
            </p:txBody>
          </p:sp>
        </mc:Choice>
        <mc:Fallback xmlns="">
          <p:sp>
            <p:nvSpPr>
              <p:cNvPr id="6" name="Text Placeholder 17">
                <a:extLst>
                  <a:ext uri="{FF2B5EF4-FFF2-40B4-BE49-F238E27FC236}">
                    <a16:creationId xmlns:a16="http://schemas.microsoft.com/office/drawing/2014/main" id="{19B510B6-5F3C-B050-2AEF-5227F44EA5A2}"/>
                  </a:ext>
                </a:extLst>
              </p:cNvPr>
              <p:cNvSpPr txBox="1">
                <a:spLocks noRot="1" noChangeAspect="1" noMove="1" noResize="1" noEditPoints="1" noAdjustHandles="1" noChangeArrowheads="1" noChangeShapeType="1" noTextEdit="1"/>
              </p:cNvSpPr>
              <p:nvPr/>
            </p:nvSpPr>
            <p:spPr>
              <a:xfrm>
                <a:off x="998197" y="4870494"/>
                <a:ext cx="937172" cy="893226"/>
              </a:xfrm>
              <a:prstGeom prst="rect">
                <a:avLst/>
              </a:prstGeom>
              <a:blipFill>
                <a:blip r:embed="rId5"/>
                <a:stretch>
                  <a:fillRect b="-9520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AB24A3E-5574-D79C-6A0F-06D3F8A29BB1}"/>
              </a:ext>
            </a:extLst>
          </p:cNvPr>
          <p:cNvSpPr txBox="1"/>
          <p:nvPr/>
        </p:nvSpPr>
        <p:spPr>
          <a:xfrm>
            <a:off x="4251637" y="46176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7" name="Text Placeholder 17">
                <a:extLst>
                  <a:ext uri="{FF2B5EF4-FFF2-40B4-BE49-F238E27FC236}">
                    <a16:creationId xmlns:a16="http://schemas.microsoft.com/office/drawing/2014/main" id="{8F62473C-0666-CCB3-04AD-2D4BA6BCAF53}"/>
                  </a:ext>
                </a:extLst>
              </p:cNvPr>
              <p:cNvSpPr txBox="1">
                <a:spLocks/>
              </p:cNvSpPr>
              <p:nvPr/>
            </p:nvSpPr>
            <p:spPr>
              <a:xfrm>
                <a:off x="4002170" y="4870494"/>
                <a:ext cx="937172"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2</m:t>
                          </m:r>
                        </m:den>
                      </m:f>
                    </m:oMath>
                  </m:oMathPara>
                </a14:m>
                <a:endParaRPr lang="en-AU" sz="4400" b="0"/>
              </a:p>
              <a:p>
                <a:endParaRPr lang="en-US" sz="4400"/>
              </a:p>
            </p:txBody>
          </p:sp>
        </mc:Choice>
        <mc:Fallback xmlns="">
          <p:sp>
            <p:nvSpPr>
              <p:cNvPr id="7" name="Text Placeholder 17">
                <a:extLst>
                  <a:ext uri="{FF2B5EF4-FFF2-40B4-BE49-F238E27FC236}">
                    <a16:creationId xmlns:a16="http://schemas.microsoft.com/office/drawing/2014/main" id="{8F62473C-0666-CCB3-04AD-2D4BA6BCAF53}"/>
                  </a:ext>
                </a:extLst>
              </p:cNvPr>
              <p:cNvSpPr txBox="1">
                <a:spLocks noRot="1" noChangeAspect="1" noMove="1" noResize="1" noEditPoints="1" noAdjustHandles="1" noChangeArrowheads="1" noChangeShapeType="1" noTextEdit="1"/>
              </p:cNvSpPr>
              <p:nvPr/>
            </p:nvSpPr>
            <p:spPr>
              <a:xfrm>
                <a:off x="4002170" y="4870494"/>
                <a:ext cx="937172" cy="893226"/>
              </a:xfrm>
              <a:prstGeom prst="rect">
                <a:avLst/>
              </a:prstGeom>
              <a:blipFill>
                <a:blip r:embed="rId6"/>
                <a:stretch>
                  <a:fillRect b="-94521"/>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92289C6-858E-E449-16B6-10640E9A4385}"/>
              </a:ext>
            </a:extLst>
          </p:cNvPr>
          <p:cNvSpPr txBox="1"/>
          <p:nvPr/>
        </p:nvSpPr>
        <p:spPr>
          <a:xfrm>
            <a:off x="7255610" y="46176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8" name="Text Placeholder 17">
                <a:extLst>
                  <a:ext uri="{FF2B5EF4-FFF2-40B4-BE49-F238E27FC236}">
                    <a16:creationId xmlns:a16="http://schemas.microsoft.com/office/drawing/2014/main" id="{B6D22570-3631-00C9-6521-246CA82783EF}"/>
                  </a:ext>
                </a:extLst>
              </p:cNvPr>
              <p:cNvSpPr txBox="1">
                <a:spLocks/>
              </p:cNvSpPr>
              <p:nvPr/>
            </p:nvSpPr>
            <p:spPr>
              <a:xfrm>
                <a:off x="7051738" y="4870494"/>
                <a:ext cx="937172"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10</m:t>
                          </m:r>
                        </m:den>
                      </m:f>
                    </m:oMath>
                  </m:oMathPara>
                </a14:m>
                <a:endParaRPr lang="en-AU" sz="4400" b="0"/>
              </a:p>
              <a:p>
                <a:endParaRPr lang="en-US" sz="4400"/>
              </a:p>
            </p:txBody>
          </p:sp>
        </mc:Choice>
        <mc:Fallback xmlns="">
          <p:sp>
            <p:nvSpPr>
              <p:cNvPr id="8" name="Text Placeholder 17">
                <a:extLst>
                  <a:ext uri="{FF2B5EF4-FFF2-40B4-BE49-F238E27FC236}">
                    <a16:creationId xmlns:a16="http://schemas.microsoft.com/office/drawing/2014/main" id="{B6D22570-3631-00C9-6521-246CA82783EF}"/>
                  </a:ext>
                </a:extLst>
              </p:cNvPr>
              <p:cNvSpPr txBox="1">
                <a:spLocks noRot="1" noChangeAspect="1" noMove="1" noResize="1" noEditPoints="1" noAdjustHandles="1" noChangeArrowheads="1" noChangeShapeType="1" noTextEdit="1"/>
              </p:cNvSpPr>
              <p:nvPr/>
            </p:nvSpPr>
            <p:spPr>
              <a:xfrm>
                <a:off x="7051738" y="4870494"/>
                <a:ext cx="937172" cy="893226"/>
              </a:xfrm>
              <a:prstGeom prst="rect">
                <a:avLst/>
              </a:prstGeom>
              <a:blipFill>
                <a:blip r:embed="rId7"/>
                <a:stretch>
                  <a:fillRect b="-9520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22AC239-77AC-A298-F7CD-0F89091EC017}"/>
              </a:ext>
            </a:extLst>
          </p:cNvPr>
          <p:cNvSpPr txBox="1"/>
          <p:nvPr/>
        </p:nvSpPr>
        <p:spPr>
          <a:xfrm>
            <a:off x="10259584" y="46176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3" name="Text Placeholder 17">
                <a:extLst>
                  <a:ext uri="{FF2B5EF4-FFF2-40B4-BE49-F238E27FC236}">
                    <a16:creationId xmlns:a16="http://schemas.microsoft.com/office/drawing/2014/main" id="{2B09AA8D-FBA5-B81C-BA98-8450DD4B4E6C}"/>
                  </a:ext>
                </a:extLst>
              </p:cNvPr>
              <p:cNvSpPr txBox="1">
                <a:spLocks/>
              </p:cNvSpPr>
              <p:nvPr/>
            </p:nvSpPr>
            <p:spPr>
              <a:xfrm>
                <a:off x="9974028" y="4909711"/>
                <a:ext cx="937172"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5</m:t>
                          </m:r>
                        </m:num>
                        <m:den>
                          <m:r>
                            <a:rPr lang="en-AU" sz="4400" b="0" i="1" smtClean="0">
                              <a:latin typeface="Cambria Math" panose="02040503050406030204" pitchFamily="18" charset="0"/>
                            </a:rPr>
                            <m:t>8</m:t>
                          </m:r>
                        </m:den>
                      </m:f>
                    </m:oMath>
                  </m:oMathPara>
                </a14:m>
                <a:endParaRPr lang="en-AU" sz="4400" b="0"/>
              </a:p>
              <a:p>
                <a:endParaRPr lang="en-US" sz="4400"/>
              </a:p>
            </p:txBody>
          </p:sp>
        </mc:Choice>
        <mc:Fallback xmlns="">
          <p:sp>
            <p:nvSpPr>
              <p:cNvPr id="13" name="Text Placeholder 17">
                <a:extLst>
                  <a:ext uri="{FF2B5EF4-FFF2-40B4-BE49-F238E27FC236}">
                    <a16:creationId xmlns:a16="http://schemas.microsoft.com/office/drawing/2014/main" id="{2B09AA8D-FBA5-B81C-BA98-8450DD4B4E6C}"/>
                  </a:ext>
                </a:extLst>
              </p:cNvPr>
              <p:cNvSpPr txBox="1">
                <a:spLocks noRot="1" noChangeAspect="1" noMove="1" noResize="1" noEditPoints="1" noAdjustHandles="1" noChangeArrowheads="1" noChangeShapeType="1" noTextEdit="1"/>
              </p:cNvSpPr>
              <p:nvPr/>
            </p:nvSpPr>
            <p:spPr>
              <a:xfrm>
                <a:off x="9974028" y="4909711"/>
                <a:ext cx="937172" cy="893226"/>
              </a:xfrm>
              <a:prstGeom prst="rect">
                <a:avLst/>
              </a:prstGeom>
              <a:blipFill>
                <a:blip r:embed="rId8"/>
                <a:stretch>
                  <a:fillRect b="-9659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14" name="TextBox 13">
            <a:extLst>
              <a:ext uri="{FF2B5EF4-FFF2-40B4-BE49-F238E27FC236}">
                <a16:creationId xmlns:a16="http://schemas.microsoft.com/office/drawing/2014/main" id="{D4725301-8404-94F4-8A2E-9C435E774EA6}"/>
              </a:ext>
            </a:extLst>
          </p:cNvPr>
          <p:cNvSpPr txBox="1"/>
          <p:nvPr/>
        </p:nvSpPr>
        <p:spPr>
          <a:xfrm>
            <a:off x="1466783" y="3429000"/>
            <a:ext cx="9385300" cy="646331"/>
          </a:xfrm>
          <a:prstGeom prst="rect">
            <a:avLst/>
          </a:prstGeom>
          <a:noFill/>
        </p:spPr>
        <p:txBody>
          <a:bodyPr wrap="square">
            <a:spAutoFit/>
          </a:bodyPr>
          <a:lstStyle/>
          <a:p>
            <a:r>
              <a:rPr lang="en-AU" sz="3600" b="1" dirty="0"/>
              <a:t>How much sugar </a:t>
            </a:r>
            <a:r>
              <a:rPr lang="en-AU" sz="3600" dirty="0"/>
              <a:t>did Lisa use </a:t>
            </a:r>
            <a:r>
              <a:rPr lang="en-AU" sz="3600" b="1" dirty="0"/>
              <a:t>altogether</a:t>
            </a:r>
            <a:r>
              <a:rPr lang="en-AU" sz="3600" dirty="0"/>
              <a:t>?</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17">
            <a:extLst>
              <a:ext uri="{FF2B5EF4-FFF2-40B4-BE49-F238E27FC236}">
                <a16:creationId xmlns:a16="http://schemas.microsoft.com/office/drawing/2014/main" id="{A34C1373-5C84-FB42-EF6C-E8A54F571463}"/>
              </a:ext>
            </a:extLst>
          </p:cNvPr>
          <p:cNvSpPr txBox="1">
            <a:spLocks/>
          </p:cNvSpPr>
          <p:nvPr/>
        </p:nvSpPr>
        <p:spPr>
          <a:xfrm>
            <a:off x="3615179" y="1506763"/>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AU" sz="4400" dirty="0"/>
              <a:t>63.85 × 10 =</a:t>
            </a:r>
          </a:p>
          <a:p>
            <a:pPr marL="742950" indent="-742950">
              <a:buFont typeface="+mj-lt"/>
              <a:buAutoNum type="alphaLcParenR"/>
            </a:pPr>
            <a:r>
              <a:rPr lang="en-AU" sz="4400" dirty="0"/>
              <a:t>1.208 × 100 =</a:t>
            </a:r>
          </a:p>
          <a:p>
            <a:pPr marL="742950" indent="-742950">
              <a:buFont typeface="+mj-lt"/>
              <a:buAutoNum type="alphaLcParenR"/>
            </a:pPr>
            <a:r>
              <a:rPr lang="en-AU" sz="4400" dirty="0"/>
              <a:t>2.9 ÷ 10 =</a:t>
            </a:r>
          </a:p>
          <a:p>
            <a:pPr marL="742950" indent="-742950">
              <a:buFont typeface="+mj-lt"/>
              <a:buAutoNum type="alphaLcParenR"/>
            </a:pPr>
            <a:r>
              <a:rPr lang="en-AU" sz="4400" dirty="0"/>
              <a:t>7.2 ÷ 100 =</a:t>
            </a:r>
            <a:endParaRPr lang="en-US" sz="4400" dirty="0"/>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59CE4CD-A929-9E41-22EE-C7F56D5821B9}"/>
              </a:ext>
            </a:extLst>
          </p:cNvPr>
          <p:cNvSpPr txBox="1"/>
          <p:nvPr/>
        </p:nvSpPr>
        <p:spPr>
          <a:xfrm>
            <a:off x="723900" y="1084217"/>
            <a:ext cx="10744200" cy="5045164"/>
          </a:xfrm>
          <a:prstGeom prst="rect">
            <a:avLst/>
          </a:prstGeom>
          <a:noFill/>
        </p:spPr>
        <p:txBody>
          <a:bodyPr wrap="square">
            <a:spAutoFit/>
          </a:bodyPr>
          <a:lstStyle/>
          <a:p>
            <a:pPr algn="ctr">
              <a:lnSpc>
                <a:spcPct val="150000"/>
              </a:lnSpc>
            </a:pPr>
            <a:r>
              <a:rPr lang="en-AU" sz="4400" dirty="0">
                <a:latin typeface="Arial" panose="020B0604020202020204" pitchFamily="34" charset="0"/>
                <a:ea typeface="Calibri" panose="020F0502020204030204" pitchFamily="34" charset="0"/>
              </a:rPr>
              <a:t>A</a:t>
            </a:r>
            <a:r>
              <a:rPr lang="en-AU" sz="4400" dirty="0">
                <a:effectLst/>
                <a:latin typeface="Arial" panose="020B0604020202020204" pitchFamily="34" charset="0"/>
                <a:ea typeface="Calibri" panose="020F0502020204030204" pitchFamily="34" charset="0"/>
              </a:rPr>
              <a:t> </a:t>
            </a:r>
            <a:r>
              <a:rPr lang="en-AU" sz="4400" b="1" dirty="0">
                <a:effectLst/>
                <a:latin typeface="Arial" panose="020B0604020202020204" pitchFamily="34" charset="0"/>
                <a:ea typeface="Calibri" panose="020F0502020204030204" pitchFamily="34" charset="0"/>
              </a:rPr>
              <a:t>composite L-shaped figure </a:t>
            </a:r>
            <a:r>
              <a:rPr lang="en-AU" sz="4400" dirty="0">
                <a:effectLst/>
                <a:latin typeface="Arial" panose="020B0604020202020204" pitchFamily="34" charset="0"/>
                <a:ea typeface="Calibri" panose="020F0502020204030204" pitchFamily="34" charset="0"/>
              </a:rPr>
              <a:t>has an </a:t>
            </a:r>
            <a:r>
              <a:rPr lang="en-AU" sz="4400" b="1" dirty="0">
                <a:effectLst/>
                <a:latin typeface="Arial" panose="020B0604020202020204" pitchFamily="34" charset="0"/>
                <a:ea typeface="Calibri" panose="020F0502020204030204" pitchFamily="34" charset="0"/>
              </a:rPr>
              <a:t>area</a:t>
            </a:r>
            <a:r>
              <a:rPr lang="en-AU" sz="4400" dirty="0">
                <a:effectLst/>
                <a:latin typeface="Arial" panose="020B0604020202020204" pitchFamily="34" charset="0"/>
                <a:ea typeface="Calibri" panose="020F0502020204030204" pitchFamily="34" charset="0"/>
              </a:rPr>
              <a:t> of </a:t>
            </a:r>
            <a:r>
              <a:rPr lang="en-AU" sz="4400" b="1" dirty="0">
                <a:latin typeface="Arial" panose="020B0604020202020204" pitchFamily="34" charset="0"/>
                <a:ea typeface="Calibri" panose="020F0502020204030204" pitchFamily="34" charset="0"/>
              </a:rPr>
              <a:t>48</a:t>
            </a:r>
            <a:r>
              <a:rPr lang="en-AU" sz="4400" b="1" dirty="0">
                <a:effectLst/>
                <a:latin typeface="Arial" panose="020B0604020202020204" pitchFamily="34" charset="0"/>
                <a:ea typeface="Calibri" panose="020F0502020204030204" pitchFamily="34" charset="0"/>
              </a:rPr>
              <a:t> cm</a:t>
            </a:r>
            <a:r>
              <a:rPr lang="en-AU" sz="4400" b="1" baseline="30000" dirty="0">
                <a:effectLst/>
                <a:latin typeface="Arial" panose="020B0604020202020204" pitchFamily="34" charset="0"/>
                <a:ea typeface="Calibri" panose="020F0502020204030204" pitchFamily="34" charset="0"/>
              </a:rPr>
              <a:t>2</a:t>
            </a:r>
            <a:r>
              <a:rPr lang="en-AU" sz="4400" dirty="0">
                <a:effectLst/>
                <a:latin typeface="Arial" panose="020B0604020202020204" pitchFamily="34" charset="0"/>
                <a:ea typeface="Calibri" panose="020F0502020204030204" pitchFamily="34" charset="0"/>
              </a:rPr>
              <a:t>. </a:t>
            </a:r>
          </a:p>
          <a:p>
            <a:pPr algn="ctr">
              <a:lnSpc>
                <a:spcPct val="150000"/>
              </a:lnSpc>
            </a:pPr>
            <a:endParaRPr lang="en-AU" sz="4400" dirty="0">
              <a:effectLst/>
              <a:latin typeface="Arial" panose="020B0604020202020204" pitchFamily="34" charset="0"/>
              <a:ea typeface="Calibri" panose="020F0502020204030204" pitchFamily="34" charset="0"/>
            </a:endParaRPr>
          </a:p>
          <a:p>
            <a:pPr algn="ctr">
              <a:lnSpc>
                <a:spcPct val="150000"/>
              </a:lnSpc>
            </a:pPr>
            <a:r>
              <a:rPr lang="en-AU" sz="4400" dirty="0">
                <a:effectLst/>
                <a:latin typeface="Arial" panose="020B0604020202020204" pitchFamily="34" charset="0"/>
                <a:ea typeface="Calibri" panose="020F0502020204030204" pitchFamily="34" charset="0"/>
              </a:rPr>
              <a:t>What are some </a:t>
            </a:r>
            <a:r>
              <a:rPr lang="en-AU" sz="4400" b="1" dirty="0">
                <a:effectLst/>
                <a:latin typeface="Arial" panose="020B0604020202020204" pitchFamily="34" charset="0"/>
                <a:ea typeface="Calibri" panose="020F0502020204030204" pitchFamily="34" charset="0"/>
              </a:rPr>
              <a:t>possible dimensions </a:t>
            </a:r>
            <a:r>
              <a:rPr lang="en-AU" sz="4400" dirty="0">
                <a:effectLst/>
                <a:latin typeface="Arial" panose="020B0604020202020204" pitchFamily="34" charset="0"/>
                <a:ea typeface="Calibri" panose="020F0502020204030204" pitchFamily="34" charset="0"/>
              </a:rPr>
              <a:t>of the composite L-shaped figure?</a:t>
            </a:r>
            <a:endParaRPr lang="en-AU" sz="4400" dirty="0"/>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426DE116-F98A-3BB3-08C7-B2F806997BDE}"/>
              </a:ext>
            </a:extLst>
          </p:cNvPr>
          <p:cNvSpPr txBox="1"/>
          <p:nvPr/>
        </p:nvSpPr>
        <p:spPr>
          <a:xfrm>
            <a:off x="723900" y="1691582"/>
            <a:ext cx="10744200" cy="2220288"/>
          </a:xfrm>
          <a:prstGeom prst="rect">
            <a:avLst/>
          </a:prstGeom>
          <a:noFill/>
        </p:spPr>
        <p:txBody>
          <a:bodyPr wrap="square">
            <a:spAutoFit/>
          </a:bodyPr>
          <a:lstStyle/>
          <a:p>
            <a:pPr algn="ctr">
              <a:lnSpc>
                <a:spcPct val="150000"/>
              </a:lnSpc>
            </a:pPr>
            <a:r>
              <a:rPr lang="en-AU" sz="4400" dirty="0">
                <a:latin typeface="Arial" panose="020B0604020202020204" pitchFamily="34" charset="0"/>
                <a:ea typeface="Calibri" panose="020F0502020204030204" pitchFamily="34" charset="0"/>
              </a:rPr>
              <a:t>Use the </a:t>
            </a:r>
            <a:r>
              <a:rPr lang="en-AU" sz="4400" b="1" dirty="0">
                <a:latin typeface="Arial" panose="020B0604020202020204" pitchFamily="34" charset="0"/>
                <a:ea typeface="Calibri" panose="020F0502020204030204" pitchFamily="34" charset="0"/>
              </a:rPr>
              <a:t>area model </a:t>
            </a:r>
            <a:r>
              <a:rPr lang="en-AU" sz="4400" dirty="0">
                <a:latin typeface="Arial" panose="020B0604020202020204" pitchFamily="34" charset="0"/>
                <a:ea typeface="Calibri" panose="020F0502020204030204" pitchFamily="34" charset="0"/>
              </a:rPr>
              <a:t>to solve:</a:t>
            </a:r>
          </a:p>
          <a:p>
            <a:pPr algn="ctr">
              <a:lnSpc>
                <a:spcPct val="150000"/>
              </a:lnSpc>
            </a:pPr>
            <a:r>
              <a:rPr lang="en-AU" sz="5400" b="1" dirty="0">
                <a:latin typeface="Arial" panose="020B0604020202020204" pitchFamily="34" charset="0"/>
                <a:ea typeface="Calibri" panose="020F0502020204030204" pitchFamily="34" charset="0"/>
              </a:rPr>
              <a:t>23 × 56</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C9D233A-BC56-F51D-D0CD-73CBC598A077}"/>
              </a:ext>
            </a:extLst>
          </p:cNvPr>
          <p:cNvSpPr txBox="1"/>
          <p:nvPr/>
        </p:nvSpPr>
        <p:spPr>
          <a:xfrm>
            <a:off x="468906" y="1153923"/>
            <a:ext cx="10882585" cy="4825745"/>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spcBef>
                <a:spcPts val="600"/>
              </a:spcBef>
              <a:spcAft>
                <a:spcPts val="1200"/>
              </a:spcAft>
              <a:buNone/>
            </a:pPr>
            <a:r>
              <a:rPr lang="en-AU" sz="4000" dirty="0"/>
              <a:t>You need to make a </a:t>
            </a:r>
            <a:r>
              <a:rPr lang="en-AU" sz="4000" b="1" dirty="0"/>
              <a:t>spinner</a:t>
            </a:r>
            <a:r>
              <a:rPr lang="en-AU" sz="4000" dirty="0"/>
              <a:t> for a board game that is </a:t>
            </a:r>
            <a:r>
              <a:rPr lang="en-AU" sz="4000" b="1" dirty="0"/>
              <a:t>more likely</a:t>
            </a:r>
            <a:r>
              <a:rPr lang="en-AU" sz="4000" dirty="0"/>
              <a:t> to land on </a:t>
            </a:r>
            <a:r>
              <a:rPr lang="en-AU" sz="4000" b="1" dirty="0">
                <a:solidFill>
                  <a:srgbClr val="00B050"/>
                </a:solidFill>
              </a:rPr>
              <a:t>green</a:t>
            </a:r>
            <a:r>
              <a:rPr lang="en-AU" sz="4000" b="1" dirty="0">
                <a:solidFill>
                  <a:srgbClr val="FF0000"/>
                </a:solidFill>
              </a:rPr>
              <a:t> </a:t>
            </a:r>
            <a:r>
              <a:rPr lang="en-AU" sz="4000" dirty="0"/>
              <a:t>than</a:t>
            </a:r>
            <a:r>
              <a:rPr lang="en-AU" sz="4000" b="1" dirty="0">
                <a:solidFill>
                  <a:srgbClr val="FF0000"/>
                </a:solidFill>
              </a:rPr>
              <a:t> </a:t>
            </a:r>
            <a:r>
              <a:rPr lang="en-AU" sz="4000" b="1" dirty="0">
                <a:solidFill>
                  <a:srgbClr val="FE9100"/>
                </a:solidFill>
              </a:rPr>
              <a:t>orange</a:t>
            </a:r>
            <a:r>
              <a:rPr lang="en-AU" sz="4000" b="1" dirty="0">
                <a:solidFill>
                  <a:srgbClr val="FF0000"/>
                </a:solidFill>
              </a:rPr>
              <a:t> </a:t>
            </a:r>
            <a:r>
              <a:rPr lang="en-AU" sz="4000" dirty="0"/>
              <a:t>or</a:t>
            </a:r>
            <a:r>
              <a:rPr lang="en-AU" sz="4000" b="1" dirty="0">
                <a:solidFill>
                  <a:srgbClr val="FF0000"/>
                </a:solidFill>
              </a:rPr>
              <a:t> </a:t>
            </a:r>
            <a:r>
              <a:rPr lang="en-AU" sz="4000" b="1" dirty="0">
                <a:solidFill>
                  <a:srgbClr val="8B00EA"/>
                </a:solidFill>
              </a:rPr>
              <a:t>purple</a:t>
            </a:r>
            <a:r>
              <a:rPr lang="en-AU" sz="4000" b="1" dirty="0"/>
              <a:t>. </a:t>
            </a:r>
          </a:p>
          <a:p>
            <a:pPr algn="ctr">
              <a:lnSpc>
                <a:spcPct val="150000"/>
              </a:lnSpc>
              <a:spcBef>
                <a:spcPts val="600"/>
              </a:spcBef>
              <a:spcAft>
                <a:spcPts val="1200"/>
              </a:spcAft>
              <a:buNone/>
            </a:pPr>
            <a:r>
              <a:rPr lang="en-AU" sz="4000" b="1" dirty="0"/>
              <a:t>Draw </a:t>
            </a:r>
            <a:r>
              <a:rPr lang="en-AU" sz="4000" dirty="0"/>
              <a:t>and</a:t>
            </a:r>
            <a:r>
              <a:rPr lang="en-AU" sz="4000" b="1" dirty="0"/>
              <a:t> label</a:t>
            </a:r>
            <a:r>
              <a:rPr lang="en-AU" sz="4000" dirty="0"/>
              <a:t> a spinner that would make this happen?</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using equivalence to solve word problems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11B13E-013C-2C7E-8219-8F830B1A33CD}"/>
                  </a:ext>
                </a:extLst>
              </p:cNvPr>
              <p:cNvSpPr txBox="1"/>
              <p:nvPr/>
            </p:nvSpPr>
            <p:spPr>
              <a:xfrm>
                <a:off x="1366283" y="1381959"/>
                <a:ext cx="9459433" cy="4927759"/>
              </a:xfrm>
              <a:prstGeom prst="rect">
                <a:avLst/>
              </a:prstGeom>
              <a:noFill/>
            </p:spPr>
            <p:txBody>
              <a:bodyPr wrap="square">
                <a:spAutoFit/>
              </a:bodyPr>
              <a:lstStyle/>
              <a:p>
                <a:pPr algn="ctr">
                  <a:lnSpc>
                    <a:spcPct val="150000"/>
                  </a:lnSpc>
                </a:pPr>
                <a:r>
                  <a:rPr lang="en-AU" sz="4400" b="0"/>
                  <a:t>Zahraa and Michele shared a sushi roll. Zahraa ate </a:t>
                </a:r>
                <a14:m>
                  <m:oMath xmlns:m="http://schemas.openxmlformats.org/officeDocument/2006/math">
                    <m:f>
                      <m:fPr>
                        <m:ctrlPr>
                          <a:rPr lang="en-AU" sz="4400" b="1" i="1" smtClean="0">
                            <a:latin typeface="Cambria Math" panose="02040503050406030204" pitchFamily="18" charset="0"/>
                          </a:rPr>
                        </m:ctrlPr>
                      </m:fPr>
                      <m:num>
                        <m:r>
                          <a:rPr lang="en-AU" sz="4400" b="1" i="1" smtClean="0">
                            <a:latin typeface="Cambria Math" panose="02040503050406030204" pitchFamily="18" charset="0"/>
                          </a:rPr>
                          <m:t>𝟑</m:t>
                        </m:r>
                      </m:num>
                      <m:den>
                        <m:r>
                          <a:rPr lang="en-AU" sz="4400" b="1" i="1" smtClean="0">
                            <a:latin typeface="Cambria Math" panose="02040503050406030204" pitchFamily="18" charset="0"/>
                          </a:rPr>
                          <m:t>𝟒</m:t>
                        </m:r>
                      </m:den>
                    </m:f>
                  </m:oMath>
                </a14:m>
                <a:r>
                  <a:rPr lang="en-AU" sz="4400" b="1"/>
                  <a:t> </a:t>
                </a:r>
                <a:r>
                  <a:rPr lang="en-AU" sz="4400" b="0"/>
                  <a:t>of the sushi roll and Michele ate </a:t>
                </a:r>
                <a14:m>
                  <m:oMath xmlns:m="http://schemas.openxmlformats.org/officeDocument/2006/math">
                    <m:f>
                      <m:fPr>
                        <m:ctrlPr>
                          <a:rPr lang="en-AU" sz="4400" b="1" i="1" smtClean="0">
                            <a:latin typeface="Cambria Math" panose="02040503050406030204" pitchFamily="18" charset="0"/>
                          </a:rPr>
                        </m:ctrlPr>
                      </m:fPr>
                      <m:num>
                        <m:r>
                          <a:rPr lang="en-AU" sz="4400" b="1" i="1" smtClean="0">
                            <a:latin typeface="Cambria Math" panose="02040503050406030204" pitchFamily="18" charset="0"/>
                          </a:rPr>
                          <m:t>𝟏</m:t>
                        </m:r>
                      </m:num>
                      <m:den>
                        <m:r>
                          <a:rPr lang="en-AU" sz="4400" b="1" i="1" smtClean="0">
                            <a:latin typeface="Cambria Math" panose="02040503050406030204" pitchFamily="18" charset="0"/>
                          </a:rPr>
                          <m:t>𝟖</m:t>
                        </m:r>
                      </m:den>
                    </m:f>
                  </m:oMath>
                </a14:m>
                <a:r>
                  <a:rPr lang="en-AU" sz="4400" b="0"/>
                  <a:t> of the sushi roll. </a:t>
                </a:r>
              </a:p>
              <a:p>
                <a:pPr algn="ctr">
                  <a:lnSpc>
                    <a:spcPct val="150000"/>
                  </a:lnSpc>
                </a:pPr>
                <a:r>
                  <a:rPr lang="en-AU" sz="4400" b="1"/>
                  <a:t>How much </a:t>
                </a:r>
                <a:r>
                  <a:rPr lang="en-AU" sz="4400" b="0"/>
                  <a:t>of the sushi roll is </a:t>
                </a:r>
                <a:r>
                  <a:rPr lang="en-AU" sz="4400" b="1"/>
                  <a:t>left</a:t>
                </a:r>
                <a:r>
                  <a:rPr lang="en-AU" sz="4400" b="0"/>
                  <a:t>?</a:t>
                </a:r>
              </a:p>
            </p:txBody>
          </p:sp>
        </mc:Choice>
        <mc:Fallback xmlns="">
          <p:sp>
            <p:nvSpPr>
              <p:cNvPr id="5" name="TextBox 4">
                <a:extLst>
                  <a:ext uri="{FF2B5EF4-FFF2-40B4-BE49-F238E27FC236}">
                    <a16:creationId xmlns:a16="http://schemas.microsoft.com/office/drawing/2014/main" id="{7311B13E-013C-2C7E-8219-8F830B1A33CD}"/>
                  </a:ext>
                </a:extLst>
              </p:cNvPr>
              <p:cNvSpPr txBox="1">
                <a:spLocks noRot="1" noChangeAspect="1" noMove="1" noResize="1" noEditPoints="1" noAdjustHandles="1" noChangeArrowheads="1" noChangeShapeType="1" noTextEdit="1"/>
              </p:cNvSpPr>
              <p:nvPr/>
            </p:nvSpPr>
            <p:spPr>
              <a:xfrm>
                <a:off x="1366283" y="1381959"/>
                <a:ext cx="9459433" cy="4927759"/>
              </a:xfrm>
              <a:prstGeom prst="rect">
                <a:avLst/>
              </a:prstGeom>
              <a:blipFill>
                <a:blip r:embed="rId4"/>
                <a:stretch>
                  <a:fillRect l="-1997" r="-3673" b="-495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919351"/>
                <a:ext cx="6208113" cy="893226"/>
              </a:xfrm>
            </p:spPr>
            <p:txBody>
              <a:bodyPr/>
              <a:lstStyle/>
              <a:p>
                <a:r>
                  <a:rPr lang="en-AU" sz="4800"/>
                  <a:t>If I have </a:t>
                </a:r>
                <a14:m>
                  <m:oMath xmlns:m="http://schemas.openxmlformats.org/officeDocument/2006/math">
                    <m:f>
                      <m:fPr>
                        <m:ctrlPr>
                          <a:rPr lang="en-AU" sz="4800" b="1" i="1">
                            <a:latin typeface="Cambria Math" panose="02040503050406030204" pitchFamily="18" charset="0"/>
                          </a:rPr>
                        </m:ctrlPr>
                      </m:fPr>
                      <m:num>
                        <m:r>
                          <a:rPr lang="en-AU" sz="4800" b="1" i="1">
                            <a:latin typeface="Cambria Math" panose="02040503050406030204" pitchFamily="18" charset="0"/>
                          </a:rPr>
                          <m:t>𝟒</m:t>
                        </m:r>
                      </m:num>
                      <m:den>
                        <m:r>
                          <a:rPr lang="en-AU" sz="4800" b="1" i="1">
                            <a:latin typeface="Cambria Math" panose="02040503050406030204" pitchFamily="18" charset="0"/>
                          </a:rPr>
                          <m:t>𝟔</m:t>
                        </m:r>
                      </m:den>
                    </m:f>
                  </m:oMath>
                </a14:m>
                <a:r>
                  <a:rPr lang="en-AU" sz="4800"/>
                  <a:t>, I need </a:t>
                </a:r>
                <a14:m>
                  <m:oMath xmlns:m="http://schemas.openxmlformats.org/officeDocument/2006/math">
                    <m:f>
                      <m:fPr>
                        <m:ctrlPr>
                          <a:rPr lang="en-AU" sz="4800" b="1" i="1">
                            <a:latin typeface="Cambria Math" panose="02040503050406030204" pitchFamily="18" charset="0"/>
                          </a:rPr>
                        </m:ctrlPr>
                      </m:fPr>
                      <m:num>
                        <m:r>
                          <a:rPr lang="en-AU" sz="4800" b="1" i="1">
                            <a:latin typeface="Cambria Math" panose="02040503050406030204" pitchFamily="18" charset="0"/>
                          </a:rPr>
                          <m:t>𝟐</m:t>
                        </m:r>
                      </m:num>
                      <m:den>
                        <m:r>
                          <a:rPr lang="en-AU" sz="4800" b="1" i="1">
                            <a:latin typeface="Cambria Math" panose="02040503050406030204" pitchFamily="18" charset="0"/>
                          </a:rPr>
                          <m:t>𝟔</m:t>
                        </m:r>
                      </m:den>
                    </m:f>
                    <m:r>
                      <a:rPr lang="en-AU" sz="4800" b="1" i="1">
                        <a:latin typeface="Cambria Math" panose="02040503050406030204" pitchFamily="18" charset="0"/>
                      </a:rPr>
                      <m:t> </m:t>
                    </m:r>
                  </m:oMath>
                </a14:m>
                <a:r>
                  <a:rPr lang="en-AU" sz="4800"/>
                  <a:t>to </a:t>
                </a:r>
                <a:r>
                  <a:rPr lang="en-AU" sz="4800" b="1"/>
                  <a:t>make one whole</a:t>
                </a:r>
                <a:r>
                  <a:rPr lang="en-AU" sz="4800"/>
                  <a:t>?</a:t>
                </a:r>
              </a:p>
              <a:p>
                <a:endParaRPr lang="en-AU" sz="4400"/>
              </a:p>
            </p:txBody>
          </p:sp>
        </mc:Choice>
        <mc:Fallback xmlns="">
          <p:sp>
            <p:nvSpPr>
              <p:cNvPr id="6" name="Text Placeholder 5">
                <a:extLst>
                  <a:ext uri="{FF2B5EF4-FFF2-40B4-BE49-F238E27FC236}">
                    <a16:creationId xmlns:a16="http://schemas.microsoft.com/office/drawing/2014/main" id="{B4E45FD3-3CB9-7929-21B5-6CF9A37684C0}"/>
                  </a:ext>
                </a:extLst>
              </p:cNvPr>
              <p:cNvSpPr>
                <a:spLocks noGrp="1" noRot="1" noChangeAspect="1" noMove="1" noResize="1" noEditPoints="1" noAdjustHandles="1" noChangeArrowheads="1" noChangeShapeType="1" noTextEdit="1"/>
              </p:cNvSpPr>
              <p:nvPr>
                <p:ph type="body" sz="quarter" idx="22"/>
              </p:nvPr>
            </p:nvSpPr>
            <p:spPr>
              <a:xfrm>
                <a:off x="360000" y="1919351"/>
                <a:ext cx="6208113" cy="893226"/>
              </a:xfrm>
              <a:blipFill>
                <a:blip r:embed="rId4"/>
                <a:stretch>
                  <a:fillRect l="-5894" r="-1081" b="-226712"/>
                </a:stretch>
              </a:blipFill>
            </p:spPr>
            <p:txBody>
              <a:bodyPr/>
              <a:lstStyle/>
              <a:p>
                <a:r>
                  <a:rPr lang="en-US">
                    <a:noFill/>
                  </a:rPr>
                  <a:t> </a:t>
                </a:r>
              </a:p>
            </p:txBody>
          </p:sp>
        </mc:Fallback>
      </mc:AlternateContent>
      <p:pic>
        <p:nvPicPr>
          <p:cNvPr id="8" name="Picture 7" descr="A fraction strip folded into sixths. four sixths are highlighted.">
            <a:extLst>
              <a:ext uri="{FF2B5EF4-FFF2-40B4-BE49-F238E27FC236}">
                <a16:creationId xmlns:a16="http://schemas.microsoft.com/office/drawing/2014/main" id="{52A22E15-0E77-EB0E-CF35-D0CAC64F2ECE}"/>
              </a:ext>
            </a:extLst>
          </p:cNvPr>
          <p:cNvPicPr>
            <a:picLocks noChangeAspect="1"/>
          </p:cNvPicPr>
          <p:nvPr/>
        </p:nvPicPr>
        <p:blipFill>
          <a:blip r:embed="rId5"/>
          <a:stretch>
            <a:fillRect/>
          </a:stretch>
        </p:blipFill>
        <p:spPr>
          <a:xfrm>
            <a:off x="6697807" y="2365964"/>
            <a:ext cx="5275887" cy="1807565"/>
          </a:xfrm>
          <a:prstGeom prst="rect">
            <a:avLst/>
          </a:prstGeom>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109762904"/>
              </p:ext>
            </p:extLst>
          </p:nvPr>
        </p:nvGraphicFramePr>
        <p:xfrm>
          <a:off x="2557462" y="563389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6FDA9E0-4A4C-95A0-3690-2FCDF26E4A1B}"/>
              </a:ext>
            </a:extLst>
          </p:cNvPr>
          <p:cNvSpPr txBox="1"/>
          <p:nvPr/>
        </p:nvSpPr>
        <p:spPr>
          <a:xfrm>
            <a:off x="706914" y="1184223"/>
            <a:ext cx="10323562" cy="2084225"/>
          </a:xfrm>
          <a:prstGeom prst="rect">
            <a:avLst/>
          </a:prstGeom>
          <a:noFill/>
        </p:spPr>
        <p:txBody>
          <a:bodyPr wrap="square">
            <a:spAutoFit/>
          </a:bodyPr>
          <a:lstStyle/>
          <a:p>
            <a:pPr algn="ctr">
              <a:lnSpc>
                <a:spcPct val="150000"/>
              </a:lnSpc>
            </a:pPr>
            <a:r>
              <a:rPr lang="en-AU" sz="3000" b="0" dirty="0"/>
              <a:t>Identify if </a:t>
            </a:r>
            <a:r>
              <a:rPr lang="en-AU" sz="3000" b="1" dirty="0"/>
              <a:t>grouping symbols </a:t>
            </a:r>
            <a:r>
              <a:rPr lang="en-AU" sz="3000" b="0" dirty="0"/>
              <a:t>are needed </a:t>
            </a:r>
            <a:r>
              <a:rPr lang="en-AU" sz="3000" dirty="0"/>
              <a:t>to make the </a:t>
            </a:r>
            <a:r>
              <a:rPr lang="en-AU" sz="3000" b="1" dirty="0"/>
              <a:t>number sentences true. Record </a:t>
            </a:r>
            <a:r>
              <a:rPr lang="en-AU" sz="3000" dirty="0"/>
              <a:t>the number sentence</a:t>
            </a:r>
            <a:r>
              <a:rPr lang="en-AU" sz="3000" b="1" dirty="0"/>
              <a:t>, adding grouping symbols </a:t>
            </a:r>
            <a:r>
              <a:rPr lang="en-AU" sz="3000" dirty="0"/>
              <a:t>if needed.</a:t>
            </a:r>
          </a:p>
        </p:txBody>
      </p:sp>
      <p:sp>
        <p:nvSpPr>
          <p:cNvPr id="8" name="TextBox 7">
            <a:extLst>
              <a:ext uri="{FF2B5EF4-FFF2-40B4-BE49-F238E27FC236}">
                <a16:creationId xmlns:a16="http://schemas.microsoft.com/office/drawing/2014/main" id="{270BE166-0469-AB32-D8EA-8ECE29B883F9}"/>
              </a:ext>
            </a:extLst>
          </p:cNvPr>
          <p:cNvSpPr txBox="1"/>
          <p:nvPr/>
        </p:nvSpPr>
        <p:spPr>
          <a:xfrm>
            <a:off x="3704672" y="3581400"/>
            <a:ext cx="9945277" cy="5171737"/>
          </a:xfrm>
          <a:prstGeom prst="rect">
            <a:avLst/>
          </a:prstGeom>
          <a:noFill/>
        </p:spPr>
        <p:txBody>
          <a:bodyPr wrap="square">
            <a:spAutoFit/>
          </a:bodyPr>
          <a:lstStyle/>
          <a:p>
            <a:pPr marL="514350" indent="-514350">
              <a:lnSpc>
                <a:spcPct val="150000"/>
              </a:lnSpc>
              <a:buFont typeface="+mj-lt"/>
              <a:buAutoNum type="alphaLcParenR"/>
            </a:pPr>
            <a:r>
              <a:rPr lang="en-AU" sz="3200" dirty="0"/>
              <a:t>4 × 9 - 3 = 24</a:t>
            </a:r>
          </a:p>
          <a:p>
            <a:pPr marL="514350" indent="-514350">
              <a:lnSpc>
                <a:spcPct val="150000"/>
              </a:lnSpc>
              <a:buFont typeface="+mj-lt"/>
              <a:buAutoNum type="alphaLcParenR"/>
            </a:pPr>
            <a:r>
              <a:rPr lang="en-AU" sz="3200" dirty="0"/>
              <a:t>40 ÷ 5 × 2 = 4</a:t>
            </a:r>
          </a:p>
          <a:p>
            <a:pPr marL="514350" indent="-514350">
              <a:lnSpc>
                <a:spcPct val="150000"/>
              </a:lnSpc>
              <a:buFont typeface="+mj-lt"/>
              <a:buAutoNum type="alphaLcParenR"/>
            </a:pPr>
            <a:r>
              <a:rPr lang="en-AU" sz="3200" dirty="0"/>
              <a:t>2 + 4 × 9 = 38</a:t>
            </a:r>
          </a:p>
          <a:p>
            <a:pPr marL="514350" indent="-514350">
              <a:lnSpc>
                <a:spcPct val="150000"/>
              </a:lnSpc>
              <a:buFont typeface="+mj-lt"/>
              <a:buAutoNum type="alphaLcParenR"/>
            </a:pPr>
            <a:r>
              <a:rPr lang="en-AU" sz="3200" dirty="0"/>
              <a:t>11 - 7 × 6 + 2 = 32</a:t>
            </a:r>
          </a:p>
          <a:p>
            <a:pPr marL="514350" indent="-514350">
              <a:lnSpc>
                <a:spcPct val="150000"/>
              </a:lnSpc>
              <a:buFont typeface="+mj-lt"/>
              <a:buAutoNum type="alphaLcParenR"/>
            </a:pPr>
            <a:endParaRPr lang="en-AU" sz="3200" dirty="0"/>
          </a:p>
          <a:p>
            <a:pPr marL="514350" indent="-514350">
              <a:lnSpc>
                <a:spcPct val="150000"/>
              </a:lnSpc>
              <a:buFont typeface="+mj-lt"/>
              <a:buAutoNum type="alphaLcParenR"/>
            </a:pPr>
            <a:endParaRPr lang="en-AU" sz="3200" dirty="0"/>
          </a:p>
          <a:p>
            <a:pPr marL="514350" indent="-514350">
              <a:lnSpc>
                <a:spcPct val="150000"/>
              </a:lnSpc>
              <a:buFont typeface="+mj-lt"/>
              <a:buAutoNum type="alphaLcParenR"/>
            </a:pPr>
            <a:endParaRPr lang="en-AU" sz="3200" dirty="0"/>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E53B683A-24BA-45A8-7F0C-6341DEF15CB8}"/>
              </a:ext>
            </a:extLst>
          </p:cNvPr>
          <p:cNvSpPr txBox="1"/>
          <p:nvPr/>
        </p:nvSpPr>
        <p:spPr>
          <a:xfrm>
            <a:off x="715189" y="1184223"/>
            <a:ext cx="10761622" cy="982513"/>
          </a:xfrm>
          <a:prstGeom prst="rect">
            <a:avLst/>
          </a:prstGeom>
          <a:noFill/>
        </p:spPr>
        <p:txBody>
          <a:bodyPr wrap="square">
            <a:spAutoFit/>
          </a:bodyPr>
          <a:lstStyle/>
          <a:p>
            <a:pPr algn="ctr">
              <a:lnSpc>
                <a:spcPct val="150000"/>
              </a:lnSpc>
            </a:pPr>
            <a:r>
              <a:rPr lang="en-AU" sz="4400" b="1" dirty="0"/>
              <a:t>Calculate</a:t>
            </a:r>
            <a:r>
              <a:rPr lang="en-AU" sz="4400" b="0" dirty="0"/>
              <a:t> the </a:t>
            </a:r>
            <a:r>
              <a:rPr lang="en-AU" sz="4400" b="1" dirty="0"/>
              <a:t>area</a:t>
            </a:r>
            <a:r>
              <a:rPr lang="en-AU" sz="4400" b="0" dirty="0"/>
              <a:t> </a:t>
            </a:r>
            <a:r>
              <a:rPr lang="en-AU" sz="4400" dirty="0"/>
              <a:t>of the </a:t>
            </a:r>
            <a:r>
              <a:rPr lang="en-AU" sz="4400" b="1" dirty="0">
                <a:solidFill>
                  <a:srgbClr val="4D00E6"/>
                </a:solidFill>
              </a:rPr>
              <a:t>parallelogram</a:t>
            </a:r>
            <a:r>
              <a:rPr lang="en-AU" sz="3200" b="1" dirty="0"/>
              <a:t>.</a:t>
            </a:r>
            <a:r>
              <a:rPr lang="en-AU" sz="3200" b="1" dirty="0">
                <a:solidFill>
                  <a:srgbClr val="4D00E6"/>
                </a:solidFill>
              </a:rPr>
              <a:t> </a:t>
            </a:r>
          </a:p>
        </p:txBody>
      </p:sp>
      <p:pic>
        <p:nvPicPr>
          <p:cNvPr id="7" name="Picture 6" descr="A parallelogram on grid paper. The length of the side at the top is 7cm and the height of the parallelogram is 7cm. ">
            <a:extLst>
              <a:ext uri="{FF2B5EF4-FFF2-40B4-BE49-F238E27FC236}">
                <a16:creationId xmlns:a16="http://schemas.microsoft.com/office/drawing/2014/main" id="{99A49E30-8864-BCC1-CCAD-26438E991AB9}"/>
              </a:ext>
            </a:extLst>
          </p:cNvPr>
          <p:cNvPicPr>
            <a:picLocks noChangeAspect="1"/>
          </p:cNvPicPr>
          <p:nvPr/>
        </p:nvPicPr>
        <p:blipFill>
          <a:blip r:embed="rId4"/>
          <a:stretch>
            <a:fillRect/>
          </a:stretch>
        </p:blipFill>
        <p:spPr>
          <a:xfrm>
            <a:off x="3933022" y="2337171"/>
            <a:ext cx="3974337" cy="3621857"/>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87CE9496-4E00-A382-0D7A-E77257B21762}"/>
              </a:ext>
            </a:extLst>
          </p:cNvPr>
          <p:cNvSpPr txBox="1"/>
          <p:nvPr/>
        </p:nvSpPr>
        <p:spPr>
          <a:xfrm>
            <a:off x="732518" y="970848"/>
            <a:ext cx="10479997" cy="5506829"/>
          </a:xfrm>
          <a:prstGeom prst="rect">
            <a:avLst/>
          </a:prstGeom>
          <a:noFill/>
        </p:spPr>
        <p:txBody>
          <a:bodyPr wrap="square">
            <a:spAutoFit/>
          </a:bodyPr>
          <a:lstStyle/>
          <a:p>
            <a:pPr algn="ctr">
              <a:lnSpc>
                <a:spcPct val="150000"/>
              </a:lnSpc>
              <a:spcBef>
                <a:spcPts val="1200"/>
              </a:spcBef>
              <a:spcAft>
                <a:spcPts val="600"/>
              </a:spcAft>
            </a:pPr>
            <a:r>
              <a:rPr lang="en-AU" sz="4400" dirty="0"/>
              <a:t>A sports store has </a:t>
            </a:r>
            <a:r>
              <a:rPr lang="en-AU" sz="4400" b="1" dirty="0"/>
              <a:t>8674 tennis balls</a:t>
            </a:r>
            <a:r>
              <a:rPr lang="en-AU" sz="4400" dirty="0"/>
              <a:t> and packs them equally into </a:t>
            </a:r>
            <a:r>
              <a:rPr lang="en-AU" sz="4400" b="1" dirty="0"/>
              <a:t>12 containers</a:t>
            </a:r>
            <a:r>
              <a:rPr lang="en-AU" sz="4400" dirty="0"/>
              <a:t>.</a:t>
            </a:r>
          </a:p>
          <a:p>
            <a:pPr marL="742950" indent="-742950">
              <a:lnSpc>
                <a:spcPct val="150000"/>
              </a:lnSpc>
              <a:spcBef>
                <a:spcPts val="1200"/>
              </a:spcBef>
              <a:spcAft>
                <a:spcPts val="600"/>
              </a:spcAft>
              <a:buFont typeface="+mj-lt"/>
              <a:buAutoNum type="alphaLcParenR"/>
            </a:pPr>
            <a:r>
              <a:rPr lang="en-AU" sz="4400" dirty="0"/>
              <a:t>How many </a:t>
            </a:r>
            <a:r>
              <a:rPr lang="en-AU" sz="4400" b="1" dirty="0"/>
              <a:t>tennis balls </a:t>
            </a:r>
            <a:r>
              <a:rPr lang="en-AU" sz="4400" dirty="0"/>
              <a:t>go into </a:t>
            </a:r>
            <a:r>
              <a:rPr lang="en-AU" sz="4400" b="1" dirty="0"/>
              <a:t>each container</a:t>
            </a:r>
            <a:r>
              <a:rPr lang="en-AU" sz="4400" dirty="0"/>
              <a:t>?</a:t>
            </a:r>
          </a:p>
          <a:p>
            <a:pPr marL="742950" indent="-742950">
              <a:lnSpc>
                <a:spcPct val="150000"/>
              </a:lnSpc>
              <a:spcBef>
                <a:spcPts val="1200"/>
              </a:spcBef>
              <a:spcAft>
                <a:spcPts val="600"/>
              </a:spcAft>
              <a:buFont typeface="+mj-lt"/>
              <a:buAutoNum type="alphaLcParenR"/>
            </a:pPr>
            <a:r>
              <a:rPr lang="en-AU" sz="4400" dirty="0"/>
              <a:t>How many are </a:t>
            </a:r>
            <a:r>
              <a:rPr lang="en-AU" sz="4400" b="1" dirty="0"/>
              <a:t>left over</a:t>
            </a:r>
            <a:r>
              <a:rPr lang="en-AU" sz="4400" dirty="0"/>
              <a:t>? </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F39BECF9-DA15-1F2A-D014-B5E0E0B043D7}"/>
              </a:ext>
            </a:extLst>
          </p:cNvPr>
          <p:cNvSpPr txBox="1"/>
          <p:nvPr/>
        </p:nvSpPr>
        <p:spPr>
          <a:xfrm>
            <a:off x="360000" y="1416757"/>
            <a:ext cx="6096000" cy="4594912"/>
          </a:xfrm>
          <a:prstGeom prst="rect">
            <a:avLst/>
          </a:prstGeom>
          <a:noFill/>
        </p:spPr>
        <p:txBody>
          <a:bodyPr wrap="square">
            <a:spAutoFit/>
          </a:bodyPr>
          <a:lstStyle/>
          <a:p>
            <a:pPr algn="ctr">
              <a:lnSpc>
                <a:spcPct val="150000"/>
              </a:lnSpc>
            </a:pPr>
            <a:r>
              <a:rPr lang="en-AU" sz="4000" b="1" dirty="0">
                <a:solidFill>
                  <a:srgbClr val="000000"/>
                </a:solidFill>
                <a:latin typeface="Arial" panose="020B0604020202020204" pitchFamily="34" charset="0"/>
                <a:cs typeface="Arial" panose="020B0604020202020204" pitchFamily="34" charset="0"/>
              </a:rPr>
              <a:t>D</a:t>
            </a:r>
            <a:r>
              <a:rPr lang="en-AU" sz="4000" b="1" i="0" u="none" strike="noStrike" dirty="0">
                <a:solidFill>
                  <a:srgbClr val="000000"/>
                </a:solidFill>
                <a:effectLst/>
                <a:latin typeface="Arial" panose="020B0604020202020204" pitchFamily="34" charset="0"/>
                <a:cs typeface="Arial" panose="020B0604020202020204" pitchFamily="34" charset="0"/>
              </a:rPr>
              <a:t>iscuss</a:t>
            </a:r>
            <a:r>
              <a:rPr lang="en-AU" sz="4000" b="0" i="0" u="none" strike="noStrike" dirty="0">
                <a:solidFill>
                  <a:srgbClr val="000000"/>
                </a:solidFill>
                <a:effectLst/>
                <a:latin typeface="Arial" panose="020B0604020202020204" pitchFamily="34" charset="0"/>
                <a:cs typeface="Arial" panose="020B0604020202020204" pitchFamily="34" charset="0"/>
              </a:rPr>
              <a:t> the </a:t>
            </a:r>
            <a:r>
              <a:rPr lang="en-AU" sz="4000" b="1" i="0" u="none" strike="noStrike" dirty="0">
                <a:solidFill>
                  <a:srgbClr val="000000"/>
                </a:solidFill>
                <a:effectLst/>
                <a:latin typeface="Arial" panose="020B0604020202020204" pitchFamily="34" charset="0"/>
                <a:cs typeface="Arial" panose="020B0604020202020204" pitchFamily="34" charset="0"/>
              </a:rPr>
              <a:t>differences </a:t>
            </a:r>
            <a:r>
              <a:rPr lang="en-AU" sz="4000" b="0" i="0" u="none" strike="noStrike" dirty="0">
                <a:solidFill>
                  <a:srgbClr val="000000"/>
                </a:solidFill>
                <a:effectLst/>
                <a:latin typeface="Arial" panose="020B0604020202020204" pitchFamily="34" charset="0"/>
                <a:cs typeface="Arial" panose="020B0604020202020204" pitchFamily="34" charset="0"/>
              </a:rPr>
              <a:t>between the </a:t>
            </a:r>
            <a:r>
              <a:rPr lang="en-AU" sz="4000" b="1" i="0" u="none" strike="noStrike" dirty="0">
                <a:solidFill>
                  <a:srgbClr val="000000"/>
                </a:solidFill>
                <a:effectLst/>
                <a:latin typeface="Arial" panose="020B0604020202020204" pitchFamily="34" charset="0"/>
                <a:cs typeface="Arial" panose="020B0604020202020204" pitchFamily="34" charset="0"/>
              </a:rPr>
              <a:t>expected probabilities</a:t>
            </a:r>
            <a:r>
              <a:rPr lang="en-AU" sz="4000" b="0" i="0" u="none" strike="noStrike" dirty="0">
                <a:solidFill>
                  <a:srgbClr val="000000"/>
                </a:solidFill>
                <a:effectLst/>
                <a:latin typeface="Arial" panose="020B0604020202020204" pitchFamily="34" charset="0"/>
                <a:cs typeface="Arial" panose="020B0604020202020204" pitchFamily="34" charset="0"/>
              </a:rPr>
              <a:t> and the </a:t>
            </a:r>
            <a:r>
              <a:rPr lang="en-AU" sz="4000" b="1" i="0" u="none" strike="noStrike" dirty="0">
                <a:solidFill>
                  <a:srgbClr val="000000"/>
                </a:solidFill>
                <a:effectLst/>
                <a:latin typeface="Arial" panose="020B0604020202020204" pitchFamily="34" charset="0"/>
                <a:cs typeface="Arial" panose="020B0604020202020204" pitchFamily="34" charset="0"/>
              </a:rPr>
              <a:t>observed probabilities </a:t>
            </a:r>
            <a:r>
              <a:rPr lang="en-AU" sz="4000" b="0" i="0" u="none" strike="noStrike" dirty="0">
                <a:solidFill>
                  <a:srgbClr val="000000"/>
                </a:solidFill>
                <a:effectLst/>
                <a:latin typeface="Arial" panose="020B0604020202020204" pitchFamily="34" charset="0"/>
                <a:cs typeface="Arial" panose="020B0604020202020204" pitchFamily="34" charset="0"/>
              </a:rPr>
              <a:t>of both </a:t>
            </a:r>
            <a:r>
              <a:rPr lang="en-AU" sz="4000" dirty="0">
                <a:solidFill>
                  <a:srgbClr val="000000"/>
                </a:solidFill>
                <a:latin typeface="Arial" panose="020B0604020202020204" pitchFamily="34" charset="0"/>
                <a:cs typeface="Arial" panose="020B0604020202020204" pitchFamily="34" charset="0"/>
              </a:rPr>
              <a:t>coin toss </a:t>
            </a:r>
            <a:r>
              <a:rPr lang="en-AU" sz="4000" b="0" i="0" u="none" strike="noStrike" dirty="0">
                <a:solidFill>
                  <a:srgbClr val="000000"/>
                </a:solidFill>
                <a:effectLst/>
                <a:latin typeface="Arial" panose="020B0604020202020204" pitchFamily="34" charset="0"/>
                <a:cs typeface="Arial" panose="020B0604020202020204" pitchFamily="34" charset="0"/>
              </a:rPr>
              <a:t>trials.</a:t>
            </a:r>
            <a:endParaRPr lang="en-AU" sz="4000" dirty="0">
              <a:latin typeface="Arial" panose="020B0604020202020204" pitchFamily="34" charset="0"/>
              <a:cs typeface="Arial" panose="020B0604020202020204" pitchFamily="34" charset="0"/>
            </a:endParaRPr>
          </a:p>
        </p:txBody>
      </p:sp>
      <p:pic>
        <p:nvPicPr>
          <p:cNvPr id="15" name="Picture 14" descr="Two graphs recording the results of a chance trials with a equal 4 part spinner.&#10;&#10;1. 12 trials (expected count - 4)&#10;observed count:&#10;heads &amp; heads - 7&#10;tails and tails - 3&#10;heads and tails -  2&#10;&#10;&#10;2. 240 trials (expected count 80)&#10;observed count:&#10;heads &amp; heads - 74&#10;tails and tails - 79&#10;heads and tails -  87">
            <a:extLst>
              <a:ext uri="{FF2B5EF4-FFF2-40B4-BE49-F238E27FC236}">
                <a16:creationId xmlns:a16="http://schemas.microsoft.com/office/drawing/2014/main" id="{5465ADFA-746D-2327-F6B4-136ACE406C46}"/>
              </a:ext>
            </a:extLst>
          </p:cNvPr>
          <p:cNvPicPr>
            <a:picLocks noChangeAspect="1"/>
          </p:cNvPicPr>
          <p:nvPr/>
        </p:nvPicPr>
        <p:blipFill>
          <a:blip r:embed="rId4"/>
          <a:stretch>
            <a:fillRect/>
          </a:stretch>
        </p:blipFill>
        <p:spPr>
          <a:xfrm>
            <a:off x="6737960" y="1184223"/>
            <a:ext cx="4746040" cy="505998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representing fractional quantities – thirds and sixths (1)</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3B6E2AF-25D0-589F-7914-A5F3B6355CF3}"/>
                  </a:ext>
                </a:extLst>
              </p:cNvPr>
              <p:cNvSpPr txBox="1"/>
              <p:nvPr/>
            </p:nvSpPr>
            <p:spPr>
              <a:xfrm>
                <a:off x="1660935" y="2283701"/>
                <a:ext cx="8686800" cy="1559338"/>
              </a:xfrm>
              <a:prstGeom prst="rect">
                <a:avLst/>
              </a:prstGeom>
              <a:noFill/>
            </p:spPr>
            <p:txBody>
              <a:bodyPr wrap="square">
                <a:spAutoFit/>
              </a:bodyPr>
              <a:lstStyle/>
              <a:p>
                <a:pPr lvl="0" algn="ctr">
                  <a:lnSpc>
                    <a:spcPct val="150000"/>
                  </a:lnSpc>
                  <a:spcBef>
                    <a:spcPts val="1200"/>
                  </a:spcBef>
                  <a:spcAft>
                    <a:spcPts val="600"/>
                  </a:spcAft>
                </a:pPr>
                <a:r>
                  <a:rPr lang="en-AU" sz="4800">
                    <a:latin typeface="Arial" panose="020B0604020202020204" pitchFamily="34" charset="0"/>
                    <a:ea typeface="Calibri" panose="020F0502020204030204" pitchFamily="34" charset="0"/>
                    <a:cs typeface="Arial" panose="020B0604020202020204" pitchFamily="34" charset="0"/>
                  </a:rPr>
                  <a:t>How much </a:t>
                </a:r>
                <a:r>
                  <a:rPr lang="en-AU" sz="4800" b="1">
                    <a:latin typeface="Arial" panose="020B0604020202020204" pitchFamily="34" charset="0"/>
                    <a:ea typeface="Calibri" panose="020F0502020204030204" pitchFamily="34" charset="0"/>
                    <a:cs typeface="Arial" panose="020B0604020202020204" pitchFamily="34" charset="0"/>
                  </a:rPr>
                  <a:t>more</a:t>
                </a:r>
                <a:r>
                  <a:rPr lang="en-AU" sz="4800">
                    <a:latin typeface="Arial" panose="020B0604020202020204" pitchFamily="34" charset="0"/>
                    <a:ea typeface="Calibri" panose="020F0502020204030204" pitchFamily="34" charset="0"/>
                    <a:cs typeface="Arial" panose="020B0604020202020204" pitchFamily="34" charset="0"/>
                  </a:rPr>
                  <a:t> is  </a:t>
                </a:r>
                <a14:m>
                  <m:oMath xmlns:m="http://schemas.openxmlformats.org/officeDocument/2006/math">
                    <m:f>
                      <m:fPr>
                        <m:ctrlPr>
                          <a:rPr lang="en-AU" sz="4800" b="1" i="1" smtClean="0">
                            <a:latin typeface="Cambria Math" panose="02040503050406030204" pitchFamily="18" charset="0"/>
                            <a:ea typeface="Calibri" panose="020F0502020204030204" pitchFamily="34" charset="0"/>
                            <a:cs typeface="Arial" panose="020B0604020202020204" pitchFamily="34" charset="0"/>
                          </a:rPr>
                        </m:ctrlPr>
                      </m:fPr>
                      <m:num>
                        <m:r>
                          <a:rPr lang="en-AU" sz="4800" b="1" i="1" smtClean="0">
                            <a:latin typeface="Cambria Math" panose="02040503050406030204" pitchFamily="18" charset="0"/>
                            <a:ea typeface="Calibri" panose="020F0502020204030204" pitchFamily="34" charset="0"/>
                            <a:cs typeface="Arial" panose="020B0604020202020204" pitchFamily="34" charset="0"/>
                          </a:rPr>
                          <m:t>𝟑</m:t>
                        </m:r>
                      </m:num>
                      <m:den>
                        <m:r>
                          <a:rPr lang="en-AU" sz="4800" b="1" i="1" smtClean="0">
                            <a:latin typeface="Cambria Math" panose="02040503050406030204" pitchFamily="18" charset="0"/>
                            <a:ea typeface="Calibri" panose="020F0502020204030204" pitchFamily="34" charset="0"/>
                            <a:cs typeface="Arial" panose="020B0604020202020204" pitchFamily="34" charset="0"/>
                          </a:rPr>
                          <m:t>𝟔</m:t>
                        </m:r>
                      </m:den>
                    </m:f>
                  </m:oMath>
                </a14:m>
                <a:r>
                  <a:rPr lang="en-AU" sz="4800" b="1">
                    <a:latin typeface="Arial" panose="020B0604020202020204" pitchFamily="34" charset="0"/>
                    <a:ea typeface="Calibri" panose="020F0502020204030204" pitchFamily="34" charset="0"/>
                    <a:cs typeface="Arial" panose="020B0604020202020204" pitchFamily="34" charset="0"/>
                  </a:rPr>
                  <a:t>  </a:t>
                </a:r>
                <a:r>
                  <a:rPr lang="en-AU" sz="4800">
                    <a:latin typeface="Arial" panose="020B0604020202020204" pitchFamily="34" charset="0"/>
                    <a:ea typeface="Calibri" panose="020F0502020204030204" pitchFamily="34" charset="0"/>
                    <a:cs typeface="Arial" panose="020B0604020202020204" pitchFamily="34" charset="0"/>
                  </a:rPr>
                  <a:t>than  </a:t>
                </a:r>
                <a14:m>
                  <m:oMath xmlns:m="http://schemas.openxmlformats.org/officeDocument/2006/math">
                    <m:f>
                      <m:fPr>
                        <m:ctrlPr>
                          <a:rPr lang="en-AU" sz="4800" b="1" i="1" smtClean="0">
                            <a:latin typeface="Cambria Math" panose="02040503050406030204" pitchFamily="18" charset="0"/>
                            <a:ea typeface="Calibri" panose="020F0502020204030204" pitchFamily="34" charset="0"/>
                            <a:cs typeface="Arial" panose="020B0604020202020204" pitchFamily="34" charset="0"/>
                          </a:rPr>
                        </m:ctrlPr>
                      </m:fPr>
                      <m:num>
                        <m:r>
                          <a:rPr lang="en-AU" sz="4800" b="1" i="1" smtClean="0">
                            <a:latin typeface="Cambria Math" panose="02040503050406030204" pitchFamily="18" charset="0"/>
                            <a:ea typeface="Calibri" panose="020F0502020204030204" pitchFamily="34" charset="0"/>
                            <a:cs typeface="Arial" panose="020B0604020202020204" pitchFamily="34" charset="0"/>
                          </a:rPr>
                          <m:t>𝟏</m:t>
                        </m:r>
                      </m:num>
                      <m:den>
                        <m:r>
                          <a:rPr lang="en-AU" sz="4800" b="1" i="1" smtClean="0">
                            <a:latin typeface="Cambria Math" panose="02040503050406030204" pitchFamily="18" charset="0"/>
                            <a:ea typeface="Calibri" panose="020F0502020204030204" pitchFamily="34" charset="0"/>
                            <a:cs typeface="Arial" panose="020B0604020202020204" pitchFamily="34" charset="0"/>
                          </a:rPr>
                          <m:t>𝟑</m:t>
                        </m:r>
                      </m:den>
                    </m:f>
                  </m:oMath>
                </a14:m>
                <a:r>
                  <a:rPr lang="en-AU" sz="4800" b="1">
                    <a:latin typeface="Arial" panose="020B0604020202020204" pitchFamily="34" charset="0"/>
                    <a:ea typeface="Calibri" panose="020F0502020204030204" pitchFamily="34" charset="0"/>
                    <a:cs typeface="Arial" panose="020B0604020202020204" pitchFamily="34" charset="0"/>
                  </a:rPr>
                  <a:t> </a:t>
                </a:r>
                <a:r>
                  <a:rPr lang="en-AU" sz="4800">
                    <a:latin typeface="Arial" panose="020B0604020202020204" pitchFamily="34" charset="0"/>
                    <a:ea typeface="Calibri" panose="020F0502020204030204" pitchFamily="34" charset="0"/>
                    <a:cs typeface="Arial" panose="020B0604020202020204" pitchFamily="34" charset="0"/>
                  </a:rPr>
                  <a:t>?</a:t>
                </a:r>
                <a:endParaRPr lang="en-AU" sz="480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E3B6E2AF-25D0-589F-7914-A5F3B6355CF3}"/>
                  </a:ext>
                </a:extLst>
              </p:cNvPr>
              <p:cNvSpPr txBox="1">
                <a:spLocks noRot="1" noChangeAspect="1" noMove="1" noResize="1" noEditPoints="1" noAdjustHandles="1" noChangeArrowheads="1" noChangeShapeType="1" noTextEdit="1"/>
              </p:cNvSpPr>
              <p:nvPr/>
            </p:nvSpPr>
            <p:spPr>
              <a:xfrm>
                <a:off x="1660935" y="2283701"/>
                <a:ext cx="8686800" cy="1559338"/>
              </a:xfrm>
              <a:prstGeom prst="rect">
                <a:avLst/>
              </a:prstGeom>
              <a:blipFill>
                <a:blip r:embed="rId4"/>
                <a:stretch>
                  <a:fillRect l="-2596" r="-2667" b="-862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75913-196E-3128-3BA3-E65A431762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BBC52F2-031B-9F6C-CE47-6C9A099077FC}"/>
              </a:ext>
            </a:extLst>
          </p:cNvPr>
          <p:cNvSpPr>
            <a:spLocks noGrp="1"/>
          </p:cNvSpPr>
          <p:nvPr>
            <p:ph type="title"/>
          </p:nvPr>
        </p:nvSpPr>
        <p:spPr>
          <a:xfrm>
            <a:off x="360000" y="360000"/>
            <a:ext cx="10367268" cy="545601"/>
          </a:xfrm>
        </p:spPr>
        <p:txBody>
          <a:bodyPr/>
          <a:lstStyle/>
          <a:p>
            <a:r>
              <a:rPr lang="en-AU"/>
              <a:t>Activity 6 – representing fractional quantities – thirds and sixths (2) </a:t>
            </a:r>
            <a:r>
              <a:rPr lang="en-AU">
                <a:solidFill>
                  <a:schemeClr val="bg1"/>
                </a:solidFill>
              </a:rPr>
              <a:t>(2)</a:t>
            </a:r>
          </a:p>
        </p:txBody>
      </p:sp>
      <p:pic>
        <p:nvPicPr>
          <p:cNvPr id="4" name="Picture 3">
            <a:extLst>
              <a:ext uri="{FF2B5EF4-FFF2-40B4-BE49-F238E27FC236}">
                <a16:creationId xmlns:a16="http://schemas.microsoft.com/office/drawing/2014/main" id="{0F1A1C7E-8D41-0880-14DC-1013247B8E3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workbook with 2 fraction strips. The first strip represents zero to one with 1/6, 2/6, 3/6, 4/6 and 5/6 marked. 3/6 of the fraction strip is coloured and the following is written beside it: 3/6 is 1/6 more than 1/3. The second fraction strip represents zero to one and 1/3 and 2/3 are marked. 1/3 of the fraction strip is coloured. There is a purple arrow pointing from 1/3 up to 2/6 and a red arrow pointing down from 3/6.">
            <a:extLst>
              <a:ext uri="{FF2B5EF4-FFF2-40B4-BE49-F238E27FC236}">
                <a16:creationId xmlns:a16="http://schemas.microsoft.com/office/drawing/2014/main" id="{27C1364A-55DD-1767-95E6-21A523BF7703}"/>
              </a:ext>
            </a:extLst>
          </p:cNvPr>
          <p:cNvPicPr>
            <a:picLocks noChangeAspect="1"/>
          </p:cNvPicPr>
          <p:nvPr/>
        </p:nvPicPr>
        <p:blipFill>
          <a:blip r:embed="rId4"/>
          <a:stretch>
            <a:fillRect/>
          </a:stretch>
        </p:blipFill>
        <p:spPr>
          <a:xfrm>
            <a:off x="2929610" y="1567520"/>
            <a:ext cx="5800711" cy="4948480"/>
          </a:xfrm>
          <a:prstGeom prst="rect">
            <a:avLst/>
          </a:prstGeom>
        </p:spPr>
      </p:pic>
      <p:sp>
        <p:nvSpPr>
          <p:cNvPr id="2" name="Slide Number Placeholder 1">
            <a:extLst>
              <a:ext uri="{FF2B5EF4-FFF2-40B4-BE49-F238E27FC236}">
                <a16:creationId xmlns:a16="http://schemas.microsoft.com/office/drawing/2014/main" id="{36218935-F255-801E-C02C-8DE8FF57816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71376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1675546" y="1352168"/>
                <a:ext cx="2478893" cy="893226"/>
              </a:xfrm>
            </p:spPr>
            <p:txBody>
              <a:bodyPr/>
              <a:lstStyle/>
              <a:p>
                <a14:m>
                  <m:oMath xmlns:m="http://schemas.openxmlformats.org/officeDocument/2006/math">
                    <m:f>
                      <m:fPr>
                        <m:ctrlPr>
                          <a:rPr lang="en-AU" sz="7200" b="0" i="1" smtClean="0">
                            <a:latin typeface="Cambria Math" panose="02040503050406030204" pitchFamily="18" charset="0"/>
                          </a:rPr>
                        </m:ctrlPr>
                      </m:fPr>
                      <m:num>
                        <m:r>
                          <a:rPr lang="en-AU" sz="7200" b="0" i="1" smtClean="0">
                            <a:latin typeface="Cambria Math" panose="02040503050406030204" pitchFamily="18" charset="0"/>
                          </a:rPr>
                          <m:t>1</m:t>
                        </m:r>
                      </m:num>
                      <m:den>
                        <m:r>
                          <a:rPr lang="en-AU" sz="7200" b="0" i="1" smtClean="0">
                            <a:latin typeface="Cambria Math" panose="02040503050406030204" pitchFamily="18" charset="0"/>
                          </a:rPr>
                          <m:t>4</m:t>
                        </m:r>
                      </m:den>
                    </m:f>
                  </m:oMath>
                </a14:m>
                <a:r>
                  <a:rPr lang="en-AU" sz="7200" b="0" dirty="0"/>
                  <a:t> - </a:t>
                </a:r>
                <a14:m>
                  <m:oMath xmlns:m="http://schemas.openxmlformats.org/officeDocument/2006/math">
                    <m:f>
                      <m:fPr>
                        <m:ctrlPr>
                          <a:rPr lang="en-AU" sz="7200" b="0" i="1" smtClean="0">
                            <a:latin typeface="Cambria Math" panose="02040503050406030204" pitchFamily="18" charset="0"/>
                          </a:rPr>
                        </m:ctrlPr>
                      </m:fPr>
                      <m:num>
                        <m:r>
                          <a:rPr lang="en-AU" sz="7200" b="0" i="1" smtClean="0">
                            <a:latin typeface="Cambria Math" panose="02040503050406030204" pitchFamily="18" charset="0"/>
                          </a:rPr>
                          <m:t>1</m:t>
                        </m:r>
                      </m:num>
                      <m:den>
                        <m:r>
                          <a:rPr lang="en-AU" sz="7200" b="0" i="1" smtClean="0">
                            <a:latin typeface="Cambria Math" panose="02040503050406030204" pitchFamily="18" charset="0"/>
                          </a:rPr>
                          <m:t>8</m:t>
                        </m:r>
                      </m:den>
                    </m:f>
                  </m:oMath>
                </a14:m>
                <a:r>
                  <a:rPr lang="en-AU" sz="7200" b="0" dirty="0"/>
                  <a:t> </a:t>
                </a:r>
                <a:r>
                  <a:rPr lang="en-AU" sz="7200" dirty="0"/>
                  <a:t>=</a:t>
                </a:r>
              </a:p>
              <a:p>
                <a:endParaRPr lang="en-AU" sz="4400" b="0" dirty="0"/>
              </a:p>
              <a:p>
                <a:endParaRPr lang="en-US" sz="4400" dirty="0"/>
              </a:p>
            </p:txBody>
          </p:sp>
        </mc:Choice>
        <mc:Fallback xmlns="">
          <p:sp>
            <p:nvSpPr>
              <p:cNvPr id="18" name="Text Placeholder 17">
                <a:extLst>
                  <a:ext uri="{FF2B5EF4-FFF2-40B4-BE49-F238E27FC236}">
                    <a16:creationId xmlns:a16="http://schemas.microsoft.com/office/drawing/2014/main" id="{9E5118E7-BD4E-1C6F-9677-4C0228A02948}"/>
                  </a:ext>
                </a:extLst>
              </p:cNvPr>
              <p:cNvSpPr>
                <a:spLocks noGrp="1" noRot="1" noChangeAspect="1" noMove="1" noResize="1" noEditPoints="1" noAdjustHandles="1" noChangeArrowheads="1" noChangeShapeType="1" noTextEdit="1"/>
              </p:cNvSpPr>
              <p:nvPr>
                <p:ph type="body" sz="quarter" idx="24"/>
              </p:nvPr>
            </p:nvSpPr>
            <p:spPr>
              <a:xfrm>
                <a:off x="1675546" y="1352168"/>
                <a:ext cx="2478893" cy="893226"/>
              </a:xfrm>
              <a:blipFill>
                <a:blip r:embed="rId4"/>
                <a:stretch>
                  <a:fillRect l="-246" r="-17690" b="-173288"/>
                </a:stretch>
              </a:blipFill>
            </p:spPr>
            <p:txBody>
              <a:bodyPr/>
              <a:lstStyle/>
              <a:p>
                <a:r>
                  <a:rPr lang="en-AU">
                    <a:noFill/>
                  </a:rPr>
                  <a:t> </a:t>
                </a:r>
              </a:p>
            </p:txBody>
          </p:sp>
        </mc:Fallback>
      </mc:AlternateContent>
      <p:pic>
        <p:nvPicPr>
          <p:cNvPr id="7" name="Picture 6" descr="2 number line. (marking quarters and eighths)&#10;The first shows one quarter. The second shows one eighth.">
            <a:extLst>
              <a:ext uri="{FF2B5EF4-FFF2-40B4-BE49-F238E27FC236}">
                <a16:creationId xmlns:a16="http://schemas.microsoft.com/office/drawing/2014/main" id="{13A1EBDC-11BA-7572-0EF0-B8F338A9E4BE}"/>
              </a:ext>
            </a:extLst>
          </p:cNvPr>
          <p:cNvPicPr>
            <a:picLocks noChangeAspect="1"/>
          </p:cNvPicPr>
          <p:nvPr/>
        </p:nvPicPr>
        <p:blipFill>
          <a:blip r:embed="rId5"/>
          <a:stretch>
            <a:fillRect/>
          </a:stretch>
        </p:blipFill>
        <p:spPr>
          <a:xfrm>
            <a:off x="4940556" y="857191"/>
            <a:ext cx="5287130" cy="3321402"/>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8B9CE09D-4912-352C-EDD3-2F5B22293E2B}"/>
              </a:ext>
            </a:extLst>
          </p:cNvPr>
          <p:cNvSpPr txBox="1"/>
          <p:nvPr/>
        </p:nvSpPr>
        <p:spPr>
          <a:xfrm>
            <a:off x="1215766" y="45767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8" name="Text Placeholder 17">
                <a:extLst>
                  <a:ext uri="{FF2B5EF4-FFF2-40B4-BE49-F238E27FC236}">
                    <a16:creationId xmlns:a16="http://schemas.microsoft.com/office/drawing/2014/main" id="{7A888BE8-D36C-FBCC-4C0B-D5BE73FFA1DE}"/>
                  </a:ext>
                </a:extLst>
              </p:cNvPr>
              <p:cNvSpPr txBox="1">
                <a:spLocks/>
              </p:cNvSpPr>
              <p:nvPr/>
            </p:nvSpPr>
            <p:spPr>
              <a:xfrm>
                <a:off x="777493" y="5023317"/>
                <a:ext cx="131478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4</m:t>
                          </m:r>
                        </m:den>
                      </m:f>
                    </m:oMath>
                  </m:oMathPara>
                </a14:m>
                <a:endParaRPr lang="en-AU" sz="4800"/>
              </a:p>
              <a:p>
                <a:endParaRPr lang="en-AU" sz="4400"/>
              </a:p>
              <a:p>
                <a:endParaRPr lang="en-US" sz="4400"/>
              </a:p>
            </p:txBody>
          </p:sp>
        </mc:Choice>
        <mc:Fallback xmlns="">
          <p:sp>
            <p:nvSpPr>
              <p:cNvPr id="8" name="Text Placeholder 17">
                <a:extLst>
                  <a:ext uri="{FF2B5EF4-FFF2-40B4-BE49-F238E27FC236}">
                    <a16:creationId xmlns:a16="http://schemas.microsoft.com/office/drawing/2014/main" id="{7A888BE8-D36C-FBCC-4C0B-D5BE73FFA1DE}"/>
                  </a:ext>
                </a:extLst>
              </p:cNvPr>
              <p:cNvSpPr txBox="1">
                <a:spLocks noRot="1" noChangeAspect="1" noMove="1" noResize="1" noEditPoints="1" noAdjustHandles="1" noChangeArrowheads="1" noChangeShapeType="1" noTextEdit="1"/>
              </p:cNvSpPr>
              <p:nvPr/>
            </p:nvSpPr>
            <p:spPr>
              <a:xfrm>
                <a:off x="777493" y="5023317"/>
                <a:ext cx="1314783" cy="893226"/>
              </a:xfrm>
              <a:prstGeom prst="rect">
                <a:avLst/>
              </a:prstGeom>
              <a:blipFill>
                <a:blip r:embed="rId6"/>
                <a:stretch>
                  <a:fillRect b="-5850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6720C9BD-206D-1246-CC58-B94DA2A9FDA7}"/>
              </a:ext>
            </a:extLst>
          </p:cNvPr>
          <p:cNvSpPr txBox="1"/>
          <p:nvPr/>
        </p:nvSpPr>
        <p:spPr>
          <a:xfrm>
            <a:off x="4219739" y="45767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13" name="Text Placeholder 17">
                <a:extLst>
                  <a:ext uri="{FF2B5EF4-FFF2-40B4-BE49-F238E27FC236}">
                    <a16:creationId xmlns:a16="http://schemas.microsoft.com/office/drawing/2014/main" id="{28D03775-B1FE-CE1D-338F-5B56A5E5839F}"/>
                  </a:ext>
                </a:extLst>
              </p:cNvPr>
              <p:cNvSpPr txBox="1">
                <a:spLocks/>
              </p:cNvSpPr>
              <p:nvPr/>
            </p:nvSpPr>
            <p:spPr>
              <a:xfrm>
                <a:off x="3827061" y="5023317"/>
                <a:ext cx="131478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8</m:t>
                          </m:r>
                        </m:den>
                      </m:f>
                    </m:oMath>
                  </m:oMathPara>
                </a14:m>
                <a:endParaRPr lang="en-AU" sz="4800"/>
              </a:p>
              <a:p>
                <a:endParaRPr lang="en-AU" sz="4400"/>
              </a:p>
              <a:p>
                <a:endParaRPr lang="en-US" sz="4400"/>
              </a:p>
            </p:txBody>
          </p:sp>
        </mc:Choice>
        <mc:Fallback xmlns="">
          <p:sp>
            <p:nvSpPr>
              <p:cNvPr id="13" name="Text Placeholder 17">
                <a:extLst>
                  <a:ext uri="{FF2B5EF4-FFF2-40B4-BE49-F238E27FC236}">
                    <a16:creationId xmlns:a16="http://schemas.microsoft.com/office/drawing/2014/main" id="{28D03775-B1FE-CE1D-338F-5B56A5E5839F}"/>
                  </a:ext>
                </a:extLst>
              </p:cNvPr>
              <p:cNvSpPr txBox="1">
                <a:spLocks noRot="1" noChangeAspect="1" noMove="1" noResize="1" noEditPoints="1" noAdjustHandles="1" noChangeArrowheads="1" noChangeShapeType="1" noTextEdit="1"/>
              </p:cNvSpPr>
              <p:nvPr/>
            </p:nvSpPr>
            <p:spPr>
              <a:xfrm>
                <a:off x="3827061" y="5023317"/>
                <a:ext cx="1314783" cy="893226"/>
              </a:xfrm>
              <a:prstGeom prst="rect">
                <a:avLst/>
              </a:prstGeom>
              <a:blipFill>
                <a:blip r:embed="rId7"/>
                <a:stretch>
                  <a:fillRect b="-5850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53D31413-FF78-7189-1A0F-0B12F84CC32D}"/>
              </a:ext>
            </a:extLst>
          </p:cNvPr>
          <p:cNvSpPr txBox="1"/>
          <p:nvPr/>
        </p:nvSpPr>
        <p:spPr>
          <a:xfrm>
            <a:off x="7223712" y="45767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4" name="Text Placeholder 17">
                <a:extLst>
                  <a:ext uri="{FF2B5EF4-FFF2-40B4-BE49-F238E27FC236}">
                    <a16:creationId xmlns:a16="http://schemas.microsoft.com/office/drawing/2014/main" id="{93AE9C08-7342-0BAD-E235-39483E9F8955}"/>
                  </a:ext>
                </a:extLst>
              </p:cNvPr>
              <p:cNvSpPr txBox="1">
                <a:spLocks/>
              </p:cNvSpPr>
              <p:nvPr/>
            </p:nvSpPr>
            <p:spPr>
              <a:xfrm>
                <a:off x="6831034" y="5023317"/>
                <a:ext cx="131478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3</m:t>
                          </m:r>
                        </m:num>
                        <m:den>
                          <m:r>
                            <a:rPr lang="en-AU" sz="3600" b="0" i="1" smtClean="0">
                              <a:latin typeface="Cambria Math" panose="02040503050406030204" pitchFamily="18" charset="0"/>
                            </a:rPr>
                            <m:t>8</m:t>
                          </m:r>
                        </m:den>
                      </m:f>
                    </m:oMath>
                  </m:oMathPara>
                </a14:m>
                <a:endParaRPr lang="en-AU" sz="4800"/>
              </a:p>
              <a:p>
                <a:endParaRPr lang="en-AU" sz="4400"/>
              </a:p>
              <a:p>
                <a:endParaRPr lang="en-US" sz="4400"/>
              </a:p>
            </p:txBody>
          </p:sp>
        </mc:Choice>
        <mc:Fallback xmlns="">
          <p:sp>
            <p:nvSpPr>
              <p:cNvPr id="14" name="Text Placeholder 17">
                <a:extLst>
                  <a:ext uri="{FF2B5EF4-FFF2-40B4-BE49-F238E27FC236}">
                    <a16:creationId xmlns:a16="http://schemas.microsoft.com/office/drawing/2014/main" id="{93AE9C08-7342-0BAD-E235-39483E9F8955}"/>
                  </a:ext>
                </a:extLst>
              </p:cNvPr>
              <p:cNvSpPr txBox="1">
                <a:spLocks noRot="1" noChangeAspect="1" noMove="1" noResize="1" noEditPoints="1" noAdjustHandles="1" noChangeArrowheads="1" noChangeShapeType="1" noTextEdit="1"/>
              </p:cNvSpPr>
              <p:nvPr/>
            </p:nvSpPr>
            <p:spPr>
              <a:xfrm>
                <a:off x="6831034" y="5023317"/>
                <a:ext cx="1314783" cy="893226"/>
              </a:xfrm>
              <a:prstGeom prst="rect">
                <a:avLst/>
              </a:prstGeom>
              <a:blipFill>
                <a:blip r:embed="rId8"/>
                <a:stretch>
                  <a:fillRect b="-5850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03294A5-CB62-91E6-0D20-1199ECBFAF01}"/>
              </a:ext>
            </a:extLst>
          </p:cNvPr>
          <p:cNvSpPr txBox="1"/>
          <p:nvPr/>
        </p:nvSpPr>
        <p:spPr>
          <a:xfrm>
            <a:off x="10227686" y="45767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5" name="Text Placeholder 17">
                <a:extLst>
                  <a:ext uri="{FF2B5EF4-FFF2-40B4-BE49-F238E27FC236}">
                    <a16:creationId xmlns:a16="http://schemas.microsoft.com/office/drawing/2014/main" id="{A6E35C59-68D4-DA2A-2031-04DA893E9799}"/>
                  </a:ext>
                </a:extLst>
              </p:cNvPr>
              <p:cNvSpPr txBox="1">
                <a:spLocks/>
              </p:cNvSpPr>
              <p:nvPr/>
            </p:nvSpPr>
            <p:spPr>
              <a:xfrm>
                <a:off x="9835007" y="5023317"/>
                <a:ext cx="131478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2</m:t>
                          </m:r>
                        </m:num>
                        <m:den>
                          <m:r>
                            <a:rPr lang="en-AU" sz="3600" b="0" i="1" smtClean="0">
                              <a:latin typeface="Cambria Math" panose="02040503050406030204" pitchFamily="18" charset="0"/>
                            </a:rPr>
                            <m:t>8</m:t>
                          </m:r>
                        </m:den>
                      </m:f>
                    </m:oMath>
                  </m:oMathPara>
                </a14:m>
                <a:endParaRPr lang="en-AU" sz="4800"/>
              </a:p>
              <a:p>
                <a:endParaRPr lang="en-AU" sz="4400"/>
              </a:p>
              <a:p>
                <a:endParaRPr lang="en-US" sz="4400"/>
              </a:p>
            </p:txBody>
          </p:sp>
        </mc:Choice>
        <mc:Fallback xmlns="">
          <p:sp>
            <p:nvSpPr>
              <p:cNvPr id="15" name="Text Placeholder 17">
                <a:extLst>
                  <a:ext uri="{FF2B5EF4-FFF2-40B4-BE49-F238E27FC236}">
                    <a16:creationId xmlns:a16="http://schemas.microsoft.com/office/drawing/2014/main" id="{A6E35C59-68D4-DA2A-2031-04DA893E9799}"/>
                  </a:ext>
                </a:extLst>
              </p:cNvPr>
              <p:cNvSpPr txBox="1">
                <a:spLocks noRot="1" noChangeAspect="1" noMove="1" noResize="1" noEditPoints="1" noAdjustHandles="1" noChangeArrowheads="1" noChangeShapeType="1" noTextEdit="1"/>
              </p:cNvSpPr>
              <p:nvPr/>
            </p:nvSpPr>
            <p:spPr>
              <a:xfrm>
                <a:off x="9835007" y="5023317"/>
                <a:ext cx="1314783" cy="893226"/>
              </a:xfrm>
              <a:prstGeom prst="rect">
                <a:avLst/>
              </a:prstGeom>
              <a:blipFill>
                <a:blip r:embed="rId9"/>
                <a:stretch>
                  <a:fillRect b="-5850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C918DC6A-B6B4-101A-5559-A376337C3AA4}"/>
              </a:ext>
            </a:extLst>
          </p:cNvPr>
          <p:cNvSpPr txBox="1"/>
          <p:nvPr/>
        </p:nvSpPr>
        <p:spPr>
          <a:xfrm>
            <a:off x="619805" y="1161572"/>
            <a:ext cx="11224191" cy="2955746"/>
          </a:xfrm>
          <a:prstGeom prst="rect">
            <a:avLst/>
          </a:prstGeom>
          <a:noFill/>
        </p:spPr>
        <p:txBody>
          <a:bodyPr wrap="square">
            <a:spAutoFit/>
          </a:bodyPr>
          <a:lstStyle/>
          <a:p>
            <a:pPr>
              <a:lnSpc>
                <a:spcPct val="150000"/>
              </a:lnSpc>
            </a:pPr>
            <a:r>
              <a:rPr lang="en-AU" sz="3200" dirty="0">
                <a:effectLst/>
                <a:latin typeface="Arial" panose="020B0604020202020204" pitchFamily="34" charset="0"/>
                <a:ea typeface="Calibri" panose="020F0502020204030204" pitchFamily="34" charset="0"/>
              </a:rPr>
              <a:t>The P &amp; C ordered lunch boxes for the teachers on World Teachers Day. Each box contained a wrap costing </a:t>
            </a:r>
            <a:r>
              <a:rPr lang="en-AU" sz="3200" b="1" dirty="0">
                <a:effectLst/>
                <a:latin typeface="Arial" panose="020B0604020202020204" pitchFamily="34" charset="0"/>
                <a:ea typeface="Calibri" panose="020F0502020204030204" pitchFamily="34" charset="0"/>
              </a:rPr>
              <a:t>$11</a:t>
            </a:r>
            <a:r>
              <a:rPr lang="en-AU" sz="3200" dirty="0">
                <a:effectLst/>
                <a:latin typeface="Arial" panose="020B0604020202020204" pitchFamily="34" charset="0"/>
                <a:ea typeface="Calibri" panose="020F0502020204030204" pitchFamily="34" charset="0"/>
              </a:rPr>
              <a:t>, a piece of fruit costing </a:t>
            </a:r>
            <a:r>
              <a:rPr lang="en-AU" sz="3200" b="1" dirty="0">
                <a:effectLst/>
                <a:latin typeface="Arial" panose="020B0604020202020204" pitchFamily="34" charset="0"/>
                <a:ea typeface="Calibri" panose="020F0502020204030204" pitchFamily="34" charset="0"/>
              </a:rPr>
              <a:t>$</a:t>
            </a:r>
            <a:r>
              <a:rPr lang="en-AU" sz="3200" b="1" dirty="0">
                <a:latin typeface="Arial" panose="020B0604020202020204" pitchFamily="34" charset="0"/>
                <a:ea typeface="Calibri" panose="020F0502020204030204" pitchFamily="34" charset="0"/>
              </a:rPr>
              <a:t>3</a:t>
            </a:r>
            <a:r>
              <a:rPr lang="en-AU" sz="3200" dirty="0">
                <a:effectLst/>
                <a:latin typeface="Arial" panose="020B0604020202020204" pitchFamily="34" charset="0"/>
                <a:ea typeface="Calibri" panose="020F0502020204030204" pitchFamily="34" charset="0"/>
              </a:rPr>
              <a:t>, and a drink costing </a:t>
            </a:r>
            <a:r>
              <a:rPr lang="en-AU" sz="3200" b="1" dirty="0">
                <a:effectLst/>
                <a:latin typeface="Arial" panose="020B0604020202020204" pitchFamily="34" charset="0"/>
                <a:ea typeface="Calibri" panose="020F0502020204030204" pitchFamily="34" charset="0"/>
              </a:rPr>
              <a:t>$4.</a:t>
            </a:r>
            <a:r>
              <a:rPr lang="en-AU" sz="3200" dirty="0">
                <a:effectLst/>
                <a:latin typeface="Arial" panose="020B0604020202020204" pitchFamily="34" charset="0"/>
                <a:ea typeface="Calibri" panose="020F0502020204030204" pitchFamily="34" charset="0"/>
              </a:rPr>
              <a:t> There are </a:t>
            </a:r>
            <a:r>
              <a:rPr lang="en-AU" sz="3200" b="1" dirty="0">
                <a:latin typeface="Arial" panose="020B0604020202020204" pitchFamily="34" charset="0"/>
                <a:ea typeface="Calibri" panose="020F0502020204030204" pitchFamily="34" charset="0"/>
              </a:rPr>
              <a:t>58 teacher </a:t>
            </a:r>
            <a:r>
              <a:rPr lang="en-AU" sz="3200" dirty="0">
                <a:latin typeface="Arial" panose="020B0604020202020204" pitchFamily="34" charset="0"/>
                <a:ea typeface="Calibri" panose="020F0502020204030204" pitchFamily="34" charset="0"/>
              </a:rPr>
              <a:t>on staff</a:t>
            </a:r>
            <a:r>
              <a:rPr lang="en-AU" sz="3200" dirty="0">
                <a:effectLst/>
                <a:latin typeface="Arial" panose="020B0604020202020204" pitchFamily="34" charset="0"/>
                <a:ea typeface="Calibri" panose="020F0502020204030204" pitchFamily="34" charset="0"/>
              </a:rPr>
              <a:t>. </a:t>
            </a:r>
            <a:r>
              <a:rPr lang="en-AU" sz="3200" b="1" dirty="0">
                <a:effectLst/>
                <a:latin typeface="Arial" panose="020B0604020202020204" pitchFamily="34" charset="0"/>
                <a:ea typeface="Calibri" panose="020F0502020204030204" pitchFamily="34" charset="0"/>
              </a:rPr>
              <a:t>How much </a:t>
            </a:r>
            <a:r>
              <a:rPr lang="en-AU" sz="3200" dirty="0">
                <a:effectLst/>
                <a:latin typeface="Arial" panose="020B0604020202020204" pitchFamily="34" charset="0"/>
                <a:ea typeface="Calibri" panose="020F0502020204030204" pitchFamily="34" charset="0"/>
              </a:rPr>
              <a:t>did the lunch cost?</a:t>
            </a:r>
            <a:endParaRPr lang="en-AU" sz="3200" dirty="0"/>
          </a:p>
        </p:txBody>
      </p:sp>
      <p:sp>
        <p:nvSpPr>
          <p:cNvPr id="10" name="TextBox 9">
            <a:extLst>
              <a:ext uri="{FF2B5EF4-FFF2-40B4-BE49-F238E27FC236}">
                <a16:creationId xmlns:a16="http://schemas.microsoft.com/office/drawing/2014/main" id="{4A05BCFB-AA93-B6B5-C880-118C45801E10}"/>
              </a:ext>
            </a:extLst>
          </p:cNvPr>
          <p:cNvSpPr txBox="1"/>
          <p:nvPr/>
        </p:nvSpPr>
        <p:spPr>
          <a:xfrm>
            <a:off x="619804" y="4180060"/>
            <a:ext cx="11224191" cy="1478418"/>
          </a:xfrm>
          <a:prstGeom prst="rect">
            <a:avLst/>
          </a:prstGeom>
          <a:noFill/>
        </p:spPr>
        <p:txBody>
          <a:bodyPr wrap="square">
            <a:spAutoFit/>
          </a:bodyPr>
          <a:lstStyle/>
          <a:p>
            <a:pPr>
              <a:lnSpc>
                <a:spcPct val="150000"/>
              </a:lnSpc>
            </a:pPr>
            <a:r>
              <a:rPr lang="en-AU" sz="3200" dirty="0">
                <a:effectLst/>
                <a:latin typeface="Arial" panose="020B0604020202020204" pitchFamily="34" charset="0"/>
                <a:ea typeface="Calibri" panose="020F0502020204030204" pitchFamily="34" charset="0"/>
              </a:rPr>
              <a:t>Do you need </a:t>
            </a:r>
            <a:r>
              <a:rPr lang="en-AU" sz="3200" b="1" dirty="0">
                <a:effectLst/>
                <a:latin typeface="Arial" panose="020B0604020202020204" pitchFamily="34" charset="0"/>
                <a:ea typeface="Calibri" panose="020F0502020204030204" pitchFamily="34" charset="0"/>
              </a:rPr>
              <a:t>grouping symbols</a:t>
            </a:r>
            <a:r>
              <a:rPr lang="en-AU" sz="3200" dirty="0">
                <a:effectLst/>
                <a:latin typeface="Arial" panose="020B0604020202020204" pitchFamily="34" charset="0"/>
                <a:ea typeface="Calibri" panose="020F0502020204030204" pitchFamily="34" charset="0"/>
              </a:rPr>
              <a:t> when writing the number sentence?</a:t>
            </a:r>
            <a:endParaRPr lang="en-AU" sz="3200" dirty="0"/>
          </a:p>
        </p:txBody>
      </p:sp>
      <p:sp>
        <p:nvSpPr>
          <p:cNvPr id="9" name="TextBox 8">
            <a:extLst>
              <a:ext uri="{FF2B5EF4-FFF2-40B4-BE49-F238E27FC236}">
                <a16:creationId xmlns:a16="http://schemas.microsoft.com/office/drawing/2014/main" id="{56FFBC9C-7372-FDD7-9A64-FA8CE6E908FF}"/>
              </a:ext>
            </a:extLst>
          </p:cNvPr>
          <p:cNvSpPr txBox="1"/>
          <p:nvPr/>
        </p:nvSpPr>
        <p:spPr>
          <a:xfrm>
            <a:off x="619805" y="5807362"/>
            <a:ext cx="11224191" cy="739754"/>
          </a:xfrm>
          <a:prstGeom prst="rect">
            <a:avLst/>
          </a:prstGeom>
          <a:noFill/>
        </p:spPr>
        <p:txBody>
          <a:bodyPr wrap="square">
            <a:spAutoFit/>
          </a:bodyPr>
          <a:lstStyle/>
          <a:p>
            <a:pPr>
              <a:lnSpc>
                <a:spcPct val="150000"/>
              </a:lnSpc>
            </a:pPr>
            <a:r>
              <a:rPr lang="en-AU" sz="3200" b="1" dirty="0">
                <a:effectLst/>
                <a:latin typeface="Arial" panose="020B0604020202020204" pitchFamily="34" charset="0"/>
                <a:ea typeface="Calibri" panose="020F0502020204030204" pitchFamily="34" charset="0"/>
              </a:rPr>
              <a:t>Record</a:t>
            </a:r>
            <a:r>
              <a:rPr lang="en-AU" sz="3200" dirty="0">
                <a:effectLst/>
                <a:latin typeface="Arial" panose="020B0604020202020204" pitchFamily="34" charset="0"/>
                <a:ea typeface="Calibri" panose="020F0502020204030204" pitchFamily="34" charset="0"/>
              </a:rPr>
              <a:t> the </a:t>
            </a:r>
            <a:r>
              <a:rPr lang="en-AU" sz="3200" b="1" dirty="0">
                <a:effectLst/>
                <a:latin typeface="Arial" panose="020B0604020202020204" pitchFamily="34" charset="0"/>
                <a:ea typeface="Calibri" panose="020F0502020204030204" pitchFamily="34" charset="0"/>
              </a:rPr>
              <a:t>number sentence </a:t>
            </a:r>
            <a:r>
              <a:rPr lang="en-AU" sz="3200" dirty="0">
                <a:effectLst/>
                <a:latin typeface="Arial" panose="020B0604020202020204" pitchFamily="34" charset="0"/>
                <a:ea typeface="Calibri" panose="020F0502020204030204" pitchFamily="34" charset="0"/>
              </a:rPr>
              <a:t>and </a:t>
            </a:r>
            <a:r>
              <a:rPr lang="en-AU" sz="3200" b="1" dirty="0">
                <a:effectLst/>
                <a:latin typeface="Arial" panose="020B0604020202020204" pitchFamily="34" charset="0"/>
                <a:ea typeface="Calibri" panose="020F0502020204030204" pitchFamily="34" charset="0"/>
              </a:rPr>
              <a:t>solve</a:t>
            </a:r>
            <a:r>
              <a:rPr lang="en-AU" sz="3200" dirty="0">
                <a:effectLst/>
                <a:latin typeface="Arial" panose="020B0604020202020204" pitchFamily="34" charset="0"/>
                <a:ea typeface="Calibri" panose="020F0502020204030204" pitchFamily="34" charset="0"/>
              </a:rPr>
              <a:t> it.</a:t>
            </a:r>
            <a:endParaRPr lang="en-AU" sz="3200" dirty="0"/>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4" name="Text Placeholder 5">
            <a:extLst>
              <a:ext uri="{FF2B5EF4-FFF2-40B4-BE49-F238E27FC236}">
                <a16:creationId xmlns:a16="http://schemas.microsoft.com/office/drawing/2014/main" id="{1FFF62F4-2AC0-CC47-5B20-2C365A83DB27}"/>
              </a:ext>
            </a:extLst>
          </p:cNvPr>
          <p:cNvSpPr txBox="1">
            <a:spLocks/>
          </p:cNvSpPr>
          <p:nvPr/>
        </p:nvSpPr>
        <p:spPr>
          <a:xfrm>
            <a:off x="348160" y="824441"/>
            <a:ext cx="11495840" cy="193673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If the </a:t>
            </a:r>
            <a:r>
              <a:rPr lang="en-AU" sz="4400" b="1" dirty="0"/>
              <a:t>area</a:t>
            </a:r>
            <a:r>
              <a:rPr lang="en-AU" sz="4400" dirty="0"/>
              <a:t> of this </a:t>
            </a:r>
            <a:r>
              <a:rPr lang="en-AU" sz="4400" b="1" dirty="0"/>
              <a:t>parallelogram</a:t>
            </a:r>
            <a:r>
              <a:rPr lang="en-AU" sz="4400" dirty="0"/>
              <a:t> is 30 cm</a:t>
            </a:r>
            <a:r>
              <a:rPr lang="en-AU" sz="4400" baseline="30000" dirty="0"/>
              <a:t>2</a:t>
            </a:r>
            <a:r>
              <a:rPr lang="en-AU" sz="4400" dirty="0"/>
              <a:t>, what is the </a:t>
            </a:r>
            <a:r>
              <a:rPr lang="en-AU" sz="4400" b="1" dirty="0"/>
              <a:t>area</a:t>
            </a:r>
            <a:r>
              <a:rPr lang="en-AU" sz="4400" dirty="0"/>
              <a:t> of the </a:t>
            </a:r>
            <a:r>
              <a:rPr lang="en-AU" sz="4400" b="1" dirty="0"/>
              <a:t>triangle</a:t>
            </a:r>
            <a:r>
              <a:rPr lang="en-AU" sz="4400" dirty="0"/>
              <a:t>?</a:t>
            </a:r>
          </a:p>
        </p:txBody>
      </p:sp>
      <p:pic>
        <p:nvPicPr>
          <p:cNvPr id="13" name="Picture 12">
            <a:extLst>
              <a:ext uri="{FF2B5EF4-FFF2-40B4-BE49-F238E27FC236}">
                <a16:creationId xmlns:a16="http://schemas.microsoft.com/office/drawing/2014/main" id="{1321AB5A-5BAC-E62F-6954-8E2F5DE229E4}"/>
              </a:ext>
            </a:extLst>
          </p:cNvPr>
          <p:cNvPicPr>
            <a:picLocks noChangeAspect="1"/>
          </p:cNvPicPr>
          <p:nvPr/>
        </p:nvPicPr>
        <p:blipFill>
          <a:blip r:embed="rId4">
            <a:extLst>
              <a:ext uri="{28A0092B-C50C-407E-A947-70E740481C1C}">
                <a14:useLocalDpi xmlns:a14="http://schemas.microsoft.com/office/drawing/2010/main" val="0"/>
              </a:ext>
            </a:extLst>
          </a:blip>
          <a:srcRect l="4787" t="38588" b="10275"/>
          <a:stretch>
            <a:fillRect/>
          </a:stretch>
        </p:blipFill>
        <p:spPr>
          <a:xfrm>
            <a:off x="1491938" y="3099006"/>
            <a:ext cx="9235330" cy="35069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03476A9-B393-FC7C-589F-D107708562F4}"/>
              </a:ext>
            </a:extLst>
          </p:cNvPr>
          <p:cNvSpPr txBox="1"/>
          <p:nvPr/>
        </p:nvSpPr>
        <p:spPr>
          <a:xfrm>
            <a:off x="1083848" y="1083921"/>
            <a:ext cx="9893550" cy="232634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spcBef>
                <a:spcPts val="1200"/>
              </a:spcBef>
              <a:spcAft>
                <a:spcPts val="600"/>
              </a:spcAft>
            </a:pPr>
            <a:r>
              <a:rPr lang="en-AU" sz="4400" b="1" dirty="0">
                <a:latin typeface="+mj-lt"/>
              </a:rPr>
              <a:t>Divide</a:t>
            </a:r>
            <a:r>
              <a:rPr lang="en-AU" sz="4400" dirty="0">
                <a:latin typeface="+mj-lt"/>
              </a:rPr>
              <a:t> 7 by:</a:t>
            </a:r>
          </a:p>
          <a:p>
            <a:pPr marL="742950" indent="-742950" algn="ctr">
              <a:lnSpc>
                <a:spcPct val="150000"/>
              </a:lnSpc>
              <a:spcBef>
                <a:spcPts val="1200"/>
              </a:spcBef>
              <a:spcAft>
                <a:spcPts val="600"/>
              </a:spcAft>
              <a:buFont typeface="+mj-lt"/>
              <a:buAutoNum type="alphaLcParenR"/>
            </a:pPr>
            <a:r>
              <a:rPr lang="en-AU" sz="4400" dirty="0">
                <a:latin typeface="+mj-lt"/>
              </a:rPr>
              <a:t>10</a:t>
            </a:r>
          </a:p>
          <a:p>
            <a:pPr marL="742950" indent="-742950" algn="ctr">
              <a:lnSpc>
                <a:spcPct val="150000"/>
              </a:lnSpc>
              <a:spcBef>
                <a:spcPts val="1200"/>
              </a:spcBef>
              <a:spcAft>
                <a:spcPts val="600"/>
              </a:spcAft>
              <a:buFont typeface="+mj-lt"/>
              <a:buAutoNum type="alphaLcParenR"/>
            </a:pPr>
            <a:r>
              <a:rPr lang="en-AU" sz="4400" dirty="0">
                <a:latin typeface="+mj-lt"/>
              </a:rPr>
              <a:t>100</a:t>
            </a:r>
          </a:p>
          <a:p>
            <a:pPr marL="742950" indent="-742950" algn="ctr">
              <a:lnSpc>
                <a:spcPct val="150000"/>
              </a:lnSpc>
              <a:spcBef>
                <a:spcPts val="1200"/>
              </a:spcBef>
              <a:spcAft>
                <a:spcPts val="600"/>
              </a:spcAft>
              <a:buFont typeface="+mj-lt"/>
              <a:buAutoNum type="alphaLcParenR"/>
            </a:pPr>
            <a:r>
              <a:rPr lang="en-AU" sz="4400" dirty="0">
                <a:latin typeface="+mj-lt"/>
              </a:rPr>
              <a:t>1000</a:t>
            </a:r>
          </a:p>
          <a:p>
            <a:pPr algn="ctr"/>
            <a:endParaRPr lang="en-AU" sz="1800" dirty="0"/>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3">
            <a:extLst>
              <a:ext uri="{FF2B5EF4-FFF2-40B4-BE49-F238E27FC236}">
                <a16:creationId xmlns:a16="http://schemas.microsoft.com/office/drawing/2014/main" id="{790B5EDD-6B65-9010-F872-7BA3C7971B1E}"/>
              </a:ext>
            </a:extLst>
          </p:cNvPr>
          <p:cNvSpPr txBox="1"/>
          <p:nvPr/>
        </p:nvSpPr>
        <p:spPr>
          <a:xfrm>
            <a:off x="1007059" y="1184223"/>
            <a:ext cx="10177882" cy="4890053"/>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dirty="0"/>
              <a:t>Write each mass using </a:t>
            </a:r>
            <a:r>
              <a:rPr lang="en-AU" sz="4400" b="1" dirty="0"/>
              <a:t>kilograms</a:t>
            </a:r>
            <a:r>
              <a:rPr lang="en-AU" sz="4400" dirty="0"/>
              <a:t> (kg) and </a:t>
            </a:r>
            <a:r>
              <a:rPr lang="en-AU" sz="4400" b="1" dirty="0"/>
              <a:t>grams</a:t>
            </a:r>
            <a:r>
              <a:rPr lang="en-AU" sz="4400" dirty="0"/>
              <a:t> (g):</a:t>
            </a:r>
          </a:p>
          <a:p>
            <a:pPr marL="742950" indent="-742950">
              <a:lnSpc>
                <a:spcPct val="150000"/>
              </a:lnSpc>
              <a:buFont typeface="+mj-lt"/>
              <a:buAutoNum type="alphaLcParenR"/>
            </a:pPr>
            <a:r>
              <a:rPr lang="en-AU" sz="4400" dirty="0"/>
              <a:t>6.55 kg</a:t>
            </a:r>
          </a:p>
          <a:p>
            <a:pPr marL="742950" indent="-742950">
              <a:lnSpc>
                <a:spcPct val="150000"/>
              </a:lnSpc>
              <a:buFont typeface="+mj-lt"/>
              <a:buAutoNum type="alphaLcParenR"/>
            </a:pPr>
            <a:r>
              <a:rPr lang="en-AU" sz="4400" dirty="0"/>
              <a:t>9.02 kg</a:t>
            </a:r>
          </a:p>
          <a:p>
            <a:pPr marL="742950" indent="-742950">
              <a:lnSpc>
                <a:spcPct val="150000"/>
              </a:lnSpc>
              <a:buFont typeface="+mj-lt"/>
              <a:buAutoNum type="alphaLcParenR"/>
            </a:pPr>
            <a:r>
              <a:rPr lang="en-AU" sz="4400" dirty="0"/>
              <a:t>12.75 kg</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representing fractional quantities – quarters and eighths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he question asks: How much more is 3 quarters than 5 eighths?&#10;&#10;One speech bubble says: 5 eighths is larger than 3 quarters because 8 is larger than 4. The second speech bubble says: I need to subtract 3 quarters from 5 eighths.">
            <a:extLst>
              <a:ext uri="{FF2B5EF4-FFF2-40B4-BE49-F238E27FC236}">
                <a16:creationId xmlns:a16="http://schemas.microsoft.com/office/drawing/2014/main" id="{CA79149D-8F62-5971-DA71-5CA8A40AB7AD}"/>
              </a:ext>
            </a:extLst>
          </p:cNvPr>
          <p:cNvPicPr>
            <a:picLocks noChangeAspect="1"/>
          </p:cNvPicPr>
          <p:nvPr/>
        </p:nvPicPr>
        <p:blipFill>
          <a:blip r:embed="rId4"/>
          <a:stretch>
            <a:fillRect/>
          </a:stretch>
        </p:blipFill>
        <p:spPr>
          <a:xfrm>
            <a:off x="3424739" y="1513569"/>
            <a:ext cx="5342521" cy="4984431"/>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DC87DBB-02D9-F1BB-5812-9FB2822AAB37}"/>
                  </a:ext>
                </a:extLst>
              </p:cNvPr>
              <p:cNvSpPr txBox="1"/>
              <p:nvPr/>
            </p:nvSpPr>
            <p:spPr>
              <a:xfrm>
                <a:off x="334261" y="3996782"/>
                <a:ext cx="11268777" cy="1817742"/>
              </a:xfrm>
              <a:prstGeom prst="rect">
                <a:avLst/>
              </a:prstGeom>
              <a:solidFill>
                <a:schemeClr val="accent4"/>
              </a:solidFill>
              <a:ln w="38100">
                <a:solidFill>
                  <a:schemeClr val="accent1"/>
                </a:solidFill>
              </a:ln>
            </p:spPr>
            <p:txBody>
              <a:bodyPr wrap="square">
                <a:spAutoFit/>
              </a:bodyPr>
              <a:lstStyle/>
              <a:p>
                <a:pPr>
                  <a:lnSpc>
                    <a:spcPct val="150000"/>
                  </a:lnSpc>
                </a:pPr>
                <a:r>
                  <a:rPr lang="en-AU" sz="3200"/>
                  <a:t>A piece of ribbon is </a:t>
                </a:r>
                <a14:m>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𝟓</m:t>
                        </m:r>
                      </m:num>
                      <m:den>
                        <m:r>
                          <a:rPr lang="en-AU" sz="3200" b="1" i="1" smtClean="0">
                            <a:latin typeface="Cambria Math" panose="02040503050406030204" pitchFamily="18" charset="0"/>
                          </a:rPr>
                          <m:t>𝟔</m:t>
                        </m:r>
                      </m:den>
                    </m:f>
                  </m:oMath>
                </a14:m>
                <a:r>
                  <a:rPr lang="en-AU" sz="3200" b="1"/>
                  <a:t> metres</a:t>
                </a:r>
                <a:r>
                  <a:rPr lang="en-AU" sz="3200"/>
                  <a:t> long. Carrie uses </a:t>
                </a:r>
                <a14:m>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𝟏</m:t>
                        </m:r>
                      </m:num>
                      <m:den>
                        <m:r>
                          <a:rPr lang="en-AU" sz="3200" b="1" i="1" smtClean="0">
                            <a:latin typeface="Cambria Math" panose="02040503050406030204" pitchFamily="18" charset="0"/>
                          </a:rPr>
                          <m:t>𝟑</m:t>
                        </m:r>
                      </m:den>
                    </m:f>
                  </m:oMath>
                </a14:m>
                <a:r>
                  <a:rPr lang="en-AU" sz="3200" b="1"/>
                  <a:t> metre</a:t>
                </a:r>
                <a:r>
                  <a:rPr lang="en-AU" sz="3200"/>
                  <a:t>.</a:t>
                </a:r>
                <a:br>
                  <a:rPr lang="en-AU" sz="3200"/>
                </a:br>
                <a:r>
                  <a:rPr lang="en-AU" sz="3200" b="1"/>
                  <a:t>How much </a:t>
                </a:r>
                <a:r>
                  <a:rPr lang="en-AU" sz="3200"/>
                  <a:t>ribbon is </a:t>
                </a:r>
                <a:r>
                  <a:rPr lang="en-AU" sz="3200" b="1"/>
                  <a:t>left</a:t>
                </a:r>
                <a:r>
                  <a:rPr lang="en-AU" sz="3200"/>
                  <a:t>?</a:t>
                </a:r>
              </a:p>
            </p:txBody>
          </p:sp>
        </mc:Choice>
        <mc:Fallback xmlns="">
          <p:sp>
            <p:nvSpPr>
              <p:cNvPr id="8" name="TextBox 7">
                <a:extLst>
                  <a:ext uri="{FF2B5EF4-FFF2-40B4-BE49-F238E27FC236}">
                    <a16:creationId xmlns:a16="http://schemas.microsoft.com/office/drawing/2014/main" id="{8DC87DBB-02D9-F1BB-5812-9FB2822AAB37}"/>
                  </a:ext>
                </a:extLst>
              </p:cNvPr>
              <p:cNvSpPr txBox="1">
                <a:spLocks noRot="1" noChangeAspect="1" noMove="1" noResize="1" noEditPoints="1" noAdjustHandles="1" noChangeArrowheads="1" noChangeShapeType="1" noTextEdit="1"/>
              </p:cNvSpPr>
              <p:nvPr/>
            </p:nvSpPr>
            <p:spPr>
              <a:xfrm>
                <a:off x="334261" y="3996782"/>
                <a:ext cx="11268777" cy="1817742"/>
              </a:xfrm>
              <a:prstGeom prst="rect">
                <a:avLst/>
              </a:prstGeom>
              <a:blipFill>
                <a:blip r:embed="rId4"/>
                <a:stretch>
                  <a:fillRect l="-1241" b="-8882"/>
                </a:stretch>
              </a:blipFill>
              <a:ln w="38100">
                <a:solidFill>
                  <a:schemeClr val="accent1"/>
                </a:solidFill>
              </a:ln>
            </p:spPr>
            <p:txBody>
              <a:bodyPr/>
              <a:lstStyle/>
              <a:p>
                <a:r>
                  <a:rPr lang="en-US">
                    <a:noFill/>
                  </a:rPr>
                  <a:t> </a:t>
                </a:r>
              </a:p>
            </p:txBody>
          </p:sp>
        </mc:Fallback>
      </mc:AlternateContent>
      <p:sp>
        <p:nvSpPr>
          <p:cNvPr id="7" name="Text Placeholder 5">
            <a:extLst>
              <a:ext uri="{FF2B5EF4-FFF2-40B4-BE49-F238E27FC236}">
                <a16:creationId xmlns:a16="http://schemas.microsoft.com/office/drawing/2014/main" id="{86404A0A-E71B-768D-20A3-C9445FB45D72}"/>
              </a:ext>
            </a:extLst>
          </p:cNvPr>
          <p:cNvSpPr txBox="1">
            <a:spLocks/>
          </p:cNvSpPr>
          <p:nvPr/>
        </p:nvSpPr>
        <p:spPr>
          <a:xfrm>
            <a:off x="614041" y="1184019"/>
            <a:ext cx="6346082"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a:t>This </a:t>
            </a:r>
            <a:r>
              <a:rPr lang="en-AU" sz="3600" b="1"/>
              <a:t>representation</a:t>
            </a:r>
            <a:r>
              <a:rPr lang="en-AU" sz="3600"/>
              <a:t> can be used to </a:t>
            </a:r>
            <a:r>
              <a:rPr lang="en-AU" sz="3600" b="1"/>
              <a:t>solve</a:t>
            </a:r>
            <a:r>
              <a:rPr lang="en-AU" sz="3600"/>
              <a:t> the following word problem: </a:t>
            </a:r>
          </a:p>
          <a:p>
            <a:pPr algn="ctr"/>
            <a:endParaRPr lang="en-AU" sz="4000" b="1"/>
          </a:p>
        </p:txBody>
      </p:sp>
      <p:pic>
        <p:nvPicPr>
          <p:cNvPr id="13" name="Picture 12" descr="Two number lines with the first marking thirds and the second marking sixths. 1 third is shaded on the first. 5 sixths is shaded on the second colours (three sixths and the same blue as the one third above. The number sentence says 5 sixths - one third = 3 sixths or one half">
            <a:extLst>
              <a:ext uri="{FF2B5EF4-FFF2-40B4-BE49-F238E27FC236}">
                <a16:creationId xmlns:a16="http://schemas.microsoft.com/office/drawing/2014/main" id="{6EF4624F-B676-22F3-CE57-1E7B0FA21D42}"/>
              </a:ext>
            </a:extLst>
          </p:cNvPr>
          <p:cNvPicPr>
            <a:picLocks noChangeAspect="1"/>
          </p:cNvPicPr>
          <p:nvPr/>
        </p:nvPicPr>
        <p:blipFill>
          <a:blip r:embed="rId5"/>
          <a:stretch>
            <a:fillRect/>
          </a:stretch>
        </p:blipFill>
        <p:spPr>
          <a:xfrm>
            <a:off x="7532901" y="475617"/>
            <a:ext cx="2904351" cy="3203255"/>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046465802"/>
              </p:ext>
            </p:extLst>
          </p:nvPr>
        </p:nvGraphicFramePr>
        <p:xfrm>
          <a:off x="2557462" y="584842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B65EFB1-DE54-6FB8-793D-47CA769DC2E3}"/>
              </a:ext>
            </a:extLst>
          </p:cNvPr>
          <p:cNvSpPr txBox="1"/>
          <p:nvPr/>
        </p:nvSpPr>
        <p:spPr>
          <a:xfrm>
            <a:off x="563742" y="1486595"/>
            <a:ext cx="11193825" cy="1998176"/>
          </a:xfrm>
          <a:prstGeom prst="rect">
            <a:avLst/>
          </a:prstGeom>
          <a:noFill/>
        </p:spPr>
        <p:txBody>
          <a:bodyPr wrap="square">
            <a:spAutoFit/>
          </a:bodyPr>
          <a:lstStyle/>
          <a:p>
            <a:pPr algn="ctr">
              <a:lnSpc>
                <a:spcPct val="150000"/>
              </a:lnSpc>
            </a:pPr>
            <a:r>
              <a:rPr lang="en-AU" sz="4400" b="1"/>
              <a:t>Balance</a:t>
            </a:r>
            <a:r>
              <a:rPr lang="en-AU" sz="4400"/>
              <a:t> the scales by </a:t>
            </a:r>
            <a:r>
              <a:rPr lang="en-AU" sz="4400" b="1"/>
              <a:t>filling</a:t>
            </a:r>
            <a:r>
              <a:rPr lang="en-AU" sz="4400"/>
              <a:t> in the </a:t>
            </a:r>
            <a:r>
              <a:rPr lang="en-AU" sz="4400" b="1"/>
              <a:t>missing</a:t>
            </a:r>
            <a:r>
              <a:rPr lang="en-AU" sz="4400"/>
              <a:t> number.</a:t>
            </a:r>
          </a:p>
        </p:txBody>
      </p:sp>
      <p:pic>
        <p:nvPicPr>
          <p:cNvPr id="8" name="Picture 7" descr="Equal arm scales. On the left, is 'blank' divided by 9, On the right, is 4 x 8 - 26">
            <a:extLst>
              <a:ext uri="{FF2B5EF4-FFF2-40B4-BE49-F238E27FC236}">
                <a16:creationId xmlns:a16="http://schemas.microsoft.com/office/drawing/2014/main" id="{605CE53A-F647-914F-8433-2709F42AB6A1}"/>
              </a:ext>
            </a:extLst>
          </p:cNvPr>
          <p:cNvPicPr>
            <a:picLocks noChangeAspect="1"/>
          </p:cNvPicPr>
          <p:nvPr/>
        </p:nvPicPr>
        <p:blipFill>
          <a:blip r:embed="rId4"/>
          <a:stretch>
            <a:fillRect/>
          </a:stretch>
        </p:blipFill>
        <p:spPr>
          <a:xfrm>
            <a:off x="1930891" y="3484771"/>
            <a:ext cx="8459525" cy="25116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D93EF3EF-4C02-1050-3274-0572D035DC5D}"/>
              </a:ext>
            </a:extLst>
          </p:cNvPr>
          <p:cNvSpPr txBox="1"/>
          <p:nvPr/>
        </p:nvSpPr>
        <p:spPr>
          <a:xfrm>
            <a:off x="877219" y="1488982"/>
            <a:ext cx="10246781" cy="4029501"/>
          </a:xfrm>
          <a:prstGeom prst="rect">
            <a:avLst/>
          </a:prstGeom>
          <a:noFill/>
        </p:spPr>
        <p:txBody>
          <a:bodyPr wrap="square">
            <a:spAutoFit/>
          </a:bodyPr>
          <a:lstStyle/>
          <a:p>
            <a:pPr algn="ctr">
              <a:lnSpc>
                <a:spcPct val="150000"/>
              </a:lnSpc>
            </a:pPr>
            <a:r>
              <a:rPr lang="en-AU" sz="4400" b="1" dirty="0">
                <a:effectLst/>
                <a:latin typeface="Arial" panose="020B0604020202020204" pitchFamily="34" charset="0"/>
                <a:ea typeface="Calibri" panose="020F0502020204030204" pitchFamily="34" charset="0"/>
              </a:rPr>
              <a:t>Explain</a:t>
            </a:r>
            <a:r>
              <a:rPr lang="en-AU" sz="4400" dirty="0">
                <a:effectLst/>
                <a:latin typeface="Arial" panose="020B0604020202020204" pitchFamily="34" charset="0"/>
                <a:ea typeface="Calibri" panose="020F0502020204030204" pitchFamily="34" charset="0"/>
              </a:rPr>
              <a:t> how the </a:t>
            </a:r>
            <a:r>
              <a:rPr lang="en-AU" sz="4400" b="1" dirty="0">
                <a:effectLst/>
                <a:latin typeface="Arial" panose="020B0604020202020204" pitchFamily="34" charset="0"/>
                <a:ea typeface="Calibri" panose="020F0502020204030204" pitchFamily="34" charset="0"/>
              </a:rPr>
              <a:t>area</a:t>
            </a:r>
            <a:r>
              <a:rPr lang="en-AU" sz="4400" dirty="0">
                <a:effectLst/>
                <a:latin typeface="Arial" panose="020B0604020202020204" pitchFamily="34" charset="0"/>
                <a:ea typeface="Calibri" panose="020F0502020204030204" pitchFamily="34" charset="0"/>
              </a:rPr>
              <a:t> of a </a:t>
            </a:r>
            <a:r>
              <a:rPr lang="en-AU" sz="4400" b="1" dirty="0">
                <a:effectLst/>
                <a:latin typeface="Arial" panose="020B0604020202020204" pitchFamily="34" charset="0"/>
                <a:ea typeface="Calibri" panose="020F0502020204030204" pitchFamily="34" charset="0"/>
              </a:rPr>
              <a:t>triangle</a:t>
            </a:r>
            <a:r>
              <a:rPr lang="en-AU" sz="4400" dirty="0">
                <a:effectLst/>
                <a:latin typeface="Arial" panose="020B0604020202020204" pitchFamily="34" charset="0"/>
                <a:ea typeface="Calibri" panose="020F0502020204030204" pitchFamily="34" charset="0"/>
              </a:rPr>
              <a:t> is </a:t>
            </a:r>
            <a:r>
              <a:rPr lang="en-AU" sz="4400" b="1" dirty="0">
                <a:effectLst/>
                <a:latin typeface="Arial" panose="020B0604020202020204" pitchFamily="34" charset="0"/>
                <a:ea typeface="Calibri" panose="020F0502020204030204" pitchFamily="34" charset="0"/>
              </a:rPr>
              <a:t>related</a:t>
            </a:r>
            <a:r>
              <a:rPr lang="en-AU" sz="4400" dirty="0">
                <a:effectLst/>
                <a:latin typeface="Arial" panose="020B0604020202020204" pitchFamily="34" charset="0"/>
                <a:ea typeface="Calibri" panose="020F0502020204030204" pitchFamily="34" charset="0"/>
              </a:rPr>
              <a:t> to the </a:t>
            </a:r>
            <a:r>
              <a:rPr lang="en-AU" sz="4400" b="1" dirty="0">
                <a:effectLst/>
                <a:latin typeface="Arial" panose="020B0604020202020204" pitchFamily="34" charset="0"/>
                <a:ea typeface="Calibri" panose="020F0502020204030204" pitchFamily="34" charset="0"/>
              </a:rPr>
              <a:t>area</a:t>
            </a:r>
            <a:r>
              <a:rPr lang="en-AU" sz="4400" dirty="0">
                <a:effectLst/>
                <a:latin typeface="Arial" panose="020B0604020202020204" pitchFamily="34" charset="0"/>
                <a:ea typeface="Calibri" panose="020F0502020204030204" pitchFamily="34" charset="0"/>
              </a:rPr>
              <a:t> of a </a:t>
            </a:r>
            <a:r>
              <a:rPr lang="en-AU" sz="4400" b="1" dirty="0">
                <a:effectLst/>
                <a:latin typeface="Arial" panose="020B0604020202020204" pitchFamily="34" charset="0"/>
                <a:ea typeface="Calibri" panose="020F0502020204030204" pitchFamily="34" charset="0"/>
              </a:rPr>
              <a:t>parallelogram</a:t>
            </a:r>
            <a:r>
              <a:rPr lang="en-AU" sz="4400" b="1" dirty="0">
                <a:latin typeface="Arial" panose="020B0604020202020204" pitchFamily="34" charset="0"/>
                <a:ea typeface="Calibri" panose="020F0502020204030204" pitchFamily="34" charset="0"/>
              </a:rPr>
              <a:t> </a:t>
            </a:r>
            <a:r>
              <a:rPr lang="en-AU" sz="4400" dirty="0">
                <a:latin typeface="Arial" panose="020B0604020202020204" pitchFamily="34" charset="0"/>
                <a:ea typeface="Calibri" panose="020F0502020204030204" pitchFamily="34" charset="0"/>
              </a:rPr>
              <a:t>with the </a:t>
            </a:r>
            <a:r>
              <a:rPr lang="en-AU" sz="4400" b="1" dirty="0">
                <a:latin typeface="Arial" panose="020B0604020202020204" pitchFamily="34" charset="0"/>
                <a:ea typeface="Calibri" panose="020F0502020204030204" pitchFamily="34" charset="0"/>
              </a:rPr>
              <a:t>same base length </a:t>
            </a:r>
            <a:r>
              <a:rPr lang="en-AU" sz="4400" dirty="0">
                <a:latin typeface="Arial" panose="020B0604020202020204" pitchFamily="34" charset="0"/>
                <a:ea typeface="Calibri" panose="020F0502020204030204" pitchFamily="34" charset="0"/>
              </a:rPr>
              <a:t>and</a:t>
            </a:r>
            <a:r>
              <a:rPr lang="en-AU" sz="4400" b="1" dirty="0">
                <a:latin typeface="Arial" panose="020B0604020202020204" pitchFamily="34" charset="0"/>
                <a:ea typeface="Calibri" panose="020F0502020204030204" pitchFamily="34" charset="0"/>
              </a:rPr>
              <a:t> height</a:t>
            </a:r>
            <a:r>
              <a:rPr lang="en-AU" sz="4400" dirty="0">
                <a:effectLst/>
                <a:latin typeface="Arial" panose="020B0604020202020204" pitchFamily="34" charset="0"/>
                <a:ea typeface="Calibri" panose="020F0502020204030204" pitchFamily="34" charset="0"/>
              </a:rPr>
              <a:t>.</a:t>
            </a:r>
          </a:p>
          <a:p>
            <a:pPr algn="ctr">
              <a:lnSpc>
                <a:spcPct val="150000"/>
              </a:lnSpc>
            </a:pPr>
            <a:endParaRPr lang="en-AU" sz="4400" dirty="0"/>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906F8C27-0567-08D7-C6C0-B01CCBD33B49}"/>
              </a:ext>
            </a:extLst>
          </p:cNvPr>
          <p:cNvSpPr txBox="1">
            <a:spLocks/>
          </p:cNvSpPr>
          <p:nvPr/>
        </p:nvSpPr>
        <p:spPr>
          <a:xfrm>
            <a:off x="417331" y="2469271"/>
            <a:ext cx="11357337" cy="75406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b="1" dirty="0"/>
              <a:t>8 × _ = 64 ÷ _</a:t>
            </a:r>
            <a:endParaRPr lang="en-US" sz="5400" dirty="0"/>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3">
            <a:extLst>
              <a:ext uri="{FF2B5EF4-FFF2-40B4-BE49-F238E27FC236}">
                <a16:creationId xmlns:a16="http://schemas.microsoft.com/office/drawing/2014/main" id="{F4E3FF51-4E4B-52E9-8FA7-77EFC8C4F5CB}"/>
              </a:ext>
            </a:extLst>
          </p:cNvPr>
          <p:cNvSpPr txBox="1"/>
          <p:nvPr/>
        </p:nvSpPr>
        <p:spPr>
          <a:xfrm>
            <a:off x="622121" y="905601"/>
            <a:ext cx="10256751" cy="3701988"/>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spcBef>
                <a:spcPts val="600"/>
              </a:spcBef>
              <a:spcAft>
                <a:spcPts val="1200"/>
              </a:spcAft>
            </a:pPr>
            <a:r>
              <a:rPr lang="en-AU" sz="4400" dirty="0"/>
              <a:t>Record the following </a:t>
            </a:r>
            <a:r>
              <a:rPr lang="en-AU" sz="4400" b="1" dirty="0"/>
              <a:t>measurements</a:t>
            </a:r>
            <a:r>
              <a:rPr lang="en-AU" sz="4400" dirty="0"/>
              <a:t> in </a:t>
            </a:r>
            <a:r>
              <a:rPr lang="en-AU" sz="4400" b="1" dirty="0"/>
              <a:t>kilograms:</a:t>
            </a:r>
          </a:p>
          <a:p>
            <a:pPr marL="742950" indent="-742950">
              <a:lnSpc>
                <a:spcPct val="150000"/>
              </a:lnSpc>
              <a:spcBef>
                <a:spcPts val="600"/>
              </a:spcBef>
              <a:spcAft>
                <a:spcPts val="1200"/>
              </a:spcAft>
              <a:buFont typeface="+mj-lt"/>
              <a:buAutoNum type="alphaLcParenR"/>
            </a:pPr>
            <a:r>
              <a:rPr lang="en-AU" sz="4400" dirty="0"/>
              <a:t>3 kg 250 g</a:t>
            </a:r>
          </a:p>
          <a:p>
            <a:pPr marL="742950" indent="-742950">
              <a:lnSpc>
                <a:spcPct val="150000"/>
              </a:lnSpc>
              <a:spcBef>
                <a:spcPts val="600"/>
              </a:spcBef>
              <a:spcAft>
                <a:spcPts val="1200"/>
              </a:spcAft>
              <a:buFont typeface="+mj-lt"/>
              <a:buAutoNum type="alphaLcParenR"/>
            </a:pPr>
            <a:r>
              <a:rPr lang="en-AU" sz="4400" dirty="0"/>
              <a:t>300 g</a:t>
            </a:r>
          </a:p>
          <a:p>
            <a:pPr marL="742950" indent="-742950">
              <a:lnSpc>
                <a:spcPct val="150000"/>
              </a:lnSpc>
              <a:spcBef>
                <a:spcPts val="600"/>
              </a:spcBef>
              <a:spcAft>
                <a:spcPts val="1200"/>
              </a:spcAft>
              <a:buFont typeface="+mj-lt"/>
              <a:buAutoNum type="alphaLcParenR"/>
            </a:pPr>
            <a:r>
              <a:rPr lang="en-AU" sz="4400" dirty="0"/>
              <a:t>9kg 35 g</a:t>
            </a:r>
          </a:p>
          <a:p>
            <a:pPr algn="ctr">
              <a:lnSpc>
                <a:spcPct val="150000"/>
              </a:lnSpc>
              <a:spcBef>
                <a:spcPts val="600"/>
              </a:spcBef>
              <a:spcAft>
                <a:spcPts val="1200"/>
              </a:spcAft>
            </a:pPr>
            <a:endParaRPr lang="en-AU" sz="3600" b="1" dirty="0"/>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creating word problems with fractional quantities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B1ABC3-AEB5-DE48-6793-4F8E60F3AAE1}"/>
                  </a:ext>
                </a:extLst>
              </p:cNvPr>
              <p:cNvSpPr txBox="1"/>
              <p:nvPr/>
            </p:nvSpPr>
            <p:spPr>
              <a:xfrm>
                <a:off x="3600356" y="1359205"/>
                <a:ext cx="5244329" cy="1337553"/>
              </a:xfrm>
              <a:prstGeom prst="rect">
                <a:avLst/>
              </a:prstGeom>
              <a:noFill/>
            </p:spPr>
            <p:txBody>
              <a:bodyPr wrap="square" lIns="0" tIns="0" rIns="0" bIns="0" rtlCol="0">
                <a:noAutofit/>
              </a:bodyPr>
              <a:lstStyle/>
              <a:p>
                <a:pPr algn="ctr"/>
                <a:r>
                  <a:rPr lang="en-AU" sz="4800">
                    <a:latin typeface="Arial" panose="020B0604020202020204" pitchFamily="34" charset="0"/>
                    <a:cs typeface="Arial" panose="020B0604020202020204" pitchFamily="34" charset="0"/>
                  </a:rPr>
                  <a:t>The answer is </a:t>
                </a:r>
                <a14:m>
                  <m:oMath xmlns:m="http://schemas.openxmlformats.org/officeDocument/2006/math">
                    <m:f>
                      <m:fPr>
                        <m:ctrlPr>
                          <a:rPr lang="en-AU" sz="4800" b="1" i="1" smtClean="0">
                            <a:latin typeface="Cambria Math" panose="02040503050406030204" pitchFamily="18" charset="0"/>
                            <a:cs typeface="Arial" panose="020B0604020202020204" pitchFamily="34" charset="0"/>
                          </a:rPr>
                        </m:ctrlPr>
                      </m:fPr>
                      <m:num>
                        <m:r>
                          <a:rPr lang="en-AU" sz="4800" b="1" i="1" smtClean="0">
                            <a:latin typeface="Cambria Math" panose="02040503050406030204" pitchFamily="18" charset="0"/>
                            <a:cs typeface="Arial" panose="020B0604020202020204" pitchFamily="34" charset="0"/>
                          </a:rPr>
                          <m:t>𝟔</m:t>
                        </m:r>
                      </m:num>
                      <m:den>
                        <m:r>
                          <a:rPr lang="en-AU" sz="4800" b="1" i="1" smtClean="0">
                            <a:latin typeface="Cambria Math" panose="02040503050406030204" pitchFamily="18" charset="0"/>
                            <a:cs typeface="Arial" panose="020B0604020202020204" pitchFamily="34" charset="0"/>
                          </a:rPr>
                          <m:t>𝟖</m:t>
                        </m:r>
                      </m:den>
                    </m:f>
                  </m:oMath>
                </a14:m>
                <a:r>
                  <a:rPr lang="en-AU" sz="4800">
                    <a:latin typeface="Arial" panose="020B0604020202020204" pitchFamily="34" charset="0"/>
                    <a:cs typeface="Arial" panose="020B0604020202020204" pitchFamily="34" charset="0"/>
                  </a:rPr>
                  <a:t> </a:t>
                </a:r>
                <a:r>
                  <a:rPr lang="en-AU" sz="5400">
                    <a:latin typeface="Arial" panose="020B0604020202020204" pitchFamily="34" charset="0"/>
                    <a:cs typeface="Arial" panose="020B0604020202020204" pitchFamily="34" charset="0"/>
                  </a:rPr>
                  <a:t>.</a:t>
                </a:r>
                <a:endParaRPr lang="en-AU" sz="5400" b="1">
                  <a:latin typeface="Arial" panose="020B0604020202020204" pitchFamily="34" charset="0"/>
                  <a:cs typeface="Arial" panose="020B0604020202020204" pitchFamily="34" charset="0"/>
                </a:endParaRPr>
              </a:p>
              <a:p>
                <a:pPr algn="l"/>
                <a:endParaRPr lang="en-AU" sz="540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3BB1ABC3-AEB5-DE48-6793-4F8E60F3AAE1}"/>
                  </a:ext>
                </a:extLst>
              </p:cNvPr>
              <p:cNvSpPr txBox="1">
                <a:spLocks noRot="1" noChangeAspect="1" noMove="1" noResize="1" noEditPoints="1" noAdjustHandles="1" noChangeArrowheads="1" noChangeShapeType="1" noTextEdit="1"/>
              </p:cNvSpPr>
              <p:nvPr/>
            </p:nvSpPr>
            <p:spPr>
              <a:xfrm>
                <a:off x="3600356" y="1359205"/>
                <a:ext cx="5244329" cy="1337553"/>
              </a:xfrm>
              <a:prstGeom prst="rect">
                <a:avLst/>
              </a:prstGeom>
              <a:blipFill>
                <a:blip r:embed="rId4"/>
                <a:stretch>
                  <a:fillRect l="-930" t="-10502" r="-17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2F0DF5-407B-4DA5-376A-2105E60D365D}"/>
                  </a:ext>
                </a:extLst>
              </p:cNvPr>
              <p:cNvSpPr txBox="1"/>
              <p:nvPr/>
            </p:nvSpPr>
            <p:spPr>
              <a:xfrm>
                <a:off x="468556" y="2895762"/>
                <a:ext cx="11358447" cy="2881943"/>
              </a:xfrm>
              <a:prstGeom prst="rect">
                <a:avLst/>
              </a:prstGeom>
              <a:noFill/>
            </p:spPr>
            <p:txBody>
              <a:bodyPr wrap="square">
                <a:spAutoFit/>
              </a:bodyPr>
              <a:lstStyle/>
              <a:p>
                <a:pPr lvl="0">
                  <a:lnSpc>
                    <a:spcPct val="150000"/>
                  </a:lnSpc>
                </a:pPr>
                <a:r>
                  <a:rPr lang="en-AU" sz="2800" kern="1200">
                    <a:solidFill>
                      <a:schemeClr val="tx1"/>
                    </a:solidFill>
                    <a:effectLst/>
                    <a:latin typeface="Arial" panose="020B0604020202020204" pitchFamily="34" charset="0"/>
                    <a:ea typeface="+mn-ea"/>
                    <a:cs typeface="Arial" panose="020B0604020202020204" pitchFamily="34" charset="0"/>
                  </a:rPr>
                  <a:t>Jemma served </a:t>
                </a:r>
                <a:r>
                  <a:rPr lang="en-AU" sz="2800" b="1" kern="1200">
                    <a:solidFill>
                      <a:schemeClr val="tx1"/>
                    </a:solidFill>
                    <a:effectLst/>
                    <a:latin typeface="Arial" panose="020B0604020202020204" pitchFamily="34" charset="0"/>
                    <a:ea typeface="+mn-ea"/>
                    <a:cs typeface="Arial" panose="020B0604020202020204" pitchFamily="34" charset="0"/>
                  </a:rPr>
                  <a:t>2 different </a:t>
                </a:r>
                <a:r>
                  <a:rPr lang="en-AU" sz="2800" kern="1200">
                    <a:solidFill>
                      <a:schemeClr val="tx1"/>
                    </a:solidFill>
                    <a:effectLst/>
                    <a:latin typeface="Arial" panose="020B0604020202020204" pitchFamily="34" charset="0"/>
                    <a:ea typeface="+mn-ea"/>
                    <a:cs typeface="Arial" panose="020B0604020202020204" pitchFamily="34" charset="0"/>
                  </a:rPr>
                  <a:t>flavoured slab cakes at her birthday party. </a:t>
                </a:r>
              </a:p>
              <a:p>
                <a:pPr lvl="0" algn="ctr">
                  <a:lnSpc>
                    <a:spcPct val="150000"/>
                  </a:lnSpc>
                </a:pPr>
                <a:r>
                  <a:rPr lang="en-AU" sz="2800" kern="1200">
                    <a:solidFill>
                      <a:schemeClr val="tx1"/>
                    </a:solidFill>
                    <a:effectLst/>
                    <a:latin typeface="Arial" panose="020B0604020202020204" pitchFamily="34" charset="0"/>
                    <a:ea typeface="+mn-ea"/>
                    <a:cs typeface="Arial" panose="020B0604020202020204" pitchFamily="34" charset="0"/>
                  </a:rPr>
                  <a:t>At the end of the party, she had </a:t>
                </a:r>
                <a14:m>
                  <m:oMath xmlns:m="http://schemas.openxmlformats.org/officeDocument/2006/math">
                    <m:f>
                      <m:fPr>
                        <m:ctrlPr>
                          <a:rPr lang="en-AU" sz="2800" b="1" i="1" kern="1200">
                            <a:solidFill>
                              <a:schemeClr val="tx1"/>
                            </a:solidFill>
                            <a:effectLst/>
                            <a:latin typeface="Cambria Math" panose="02040503050406030204" pitchFamily="18" charset="0"/>
                            <a:ea typeface="+mn-ea"/>
                            <a:cs typeface="Arial" panose="020B0604020202020204" pitchFamily="34" charset="0"/>
                          </a:rPr>
                        </m:ctrlPr>
                      </m:fPr>
                      <m:num>
                        <m:r>
                          <a:rPr lang="en-AU" sz="2800" b="1" i="1" kern="1200">
                            <a:solidFill>
                              <a:schemeClr val="tx1"/>
                            </a:solidFill>
                            <a:effectLst/>
                            <a:latin typeface="Cambria Math" panose="02040503050406030204" pitchFamily="18" charset="0"/>
                            <a:ea typeface="+mn-ea"/>
                            <a:cs typeface="Arial" panose="020B0604020202020204" pitchFamily="34" charset="0"/>
                          </a:rPr>
                          <m:t>𝟏</m:t>
                        </m:r>
                      </m:num>
                      <m:den>
                        <m:r>
                          <a:rPr lang="en-AU" sz="2800" b="1" i="1" kern="1200">
                            <a:solidFill>
                              <a:schemeClr val="tx1"/>
                            </a:solidFill>
                            <a:effectLst/>
                            <a:latin typeface="Cambria Math" panose="02040503050406030204" pitchFamily="18" charset="0"/>
                            <a:ea typeface="+mn-ea"/>
                            <a:cs typeface="Arial" panose="020B0604020202020204" pitchFamily="34" charset="0"/>
                          </a:rPr>
                          <m:t>𝟒</m:t>
                        </m:r>
                      </m:den>
                    </m:f>
                  </m:oMath>
                </a14:m>
                <a:r>
                  <a:rPr lang="en-AU" sz="2800" b="1" kern="1200">
                    <a:solidFill>
                      <a:schemeClr val="tx1"/>
                    </a:solidFill>
                    <a:effectLst/>
                    <a:latin typeface="Arial" panose="020B0604020202020204" pitchFamily="34" charset="0"/>
                    <a:ea typeface="+mn-ea"/>
                    <a:cs typeface="Arial" panose="020B0604020202020204" pitchFamily="34" charset="0"/>
                  </a:rPr>
                  <a:t> </a:t>
                </a:r>
                <a:r>
                  <a:rPr lang="en-AU" sz="2800" kern="1200">
                    <a:solidFill>
                      <a:schemeClr val="tx1"/>
                    </a:solidFill>
                    <a:effectLst/>
                    <a:latin typeface="Arial" panose="020B0604020202020204" pitchFamily="34" charset="0"/>
                    <a:ea typeface="+mn-ea"/>
                    <a:cs typeface="Arial" panose="020B0604020202020204" pitchFamily="34" charset="0"/>
                  </a:rPr>
                  <a:t>of the chocolate slab cake left and </a:t>
                </a:r>
                <a14:m>
                  <m:oMath xmlns:m="http://schemas.openxmlformats.org/officeDocument/2006/math">
                    <m:f>
                      <m:fPr>
                        <m:ctrlPr>
                          <a:rPr lang="en-AU" sz="2800" b="1" i="1" kern="1200">
                            <a:solidFill>
                              <a:schemeClr val="tx1"/>
                            </a:solidFill>
                            <a:effectLst/>
                            <a:latin typeface="Cambria Math" panose="02040503050406030204" pitchFamily="18" charset="0"/>
                            <a:ea typeface="+mn-ea"/>
                            <a:cs typeface="Arial" panose="020B0604020202020204" pitchFamily="34" charset="0"/>
                          </a:rPr>
                        </m:ctrlPr>
                      </m:fPr>
                      <m:num>
                        <m:r>
                          <a:rPr lang="en-AU" sz="2800" b="1" i="1" kern="1200">
                            <a:solidFill>
                              <a:schemeClr val="tx1"/>
                            </a:solidFill>
                            <a:effectLst/>
                            <a:latin typeface="Cambria Math" panose="02040503050406030204" pitchFamily="18" charset="0"/>
                            <a:ea typeface="+mn-ea"/>
                            <a:cs typeface="Arial" panose="020B0604020202020204" pitchFamily="34" charset="0"/>
                          </a:rPr>
                          <m:t>𝟏</m:t>
                        </m:r>
                      </m:num>
                      <m:den>
                        <m:r>
                          <a:rPr lang="en-AU" sz="2800" b="1" i="1" kern="1200">
                            <a:solidFill>
                              <a:schemeClr val="tx1"/>
                            </a:solidFill>
                            <a:effectLst/>
                            <a:latin typeface="Cambria Math" panose="02040503050406030204" pitchFamily="18" charset="0"/>
                            <a:ea typeface="+mn-ea"/>
                            <a:cs typeface="Arial" panose="020B0604020202020204" pitchFamily="34" charset="0"/>
                          </a:rPr>
                          <m:t>𝟐</m:t>
                        </m:r>
                      </m:den>
                    </m:f>
                  </m:oMath>
                </a14:m>
                <a:r>
                  <a:rPr lang="en-AU" sz="2800" b="1" kern="1200">
                    <a:solidFill>
                      <a:schemeClr val="tx1"/>
                    </a:solidFill>
                    <a:effectLst/>
                    <a:latin typeface="Arial" panose="020B0604020202020204" pitchFamily="34" charset="0"/>
                    <a:ea typeface="+mn-ea"/>
                    <a:cs typeface="Arial" panose="020B0604020202020204" pitchFamily="34" charset="0"/>
                  </a:rPr>
                  <a:t> </a:t>
                </a:r>
                <a:r>
                  <a:rPr lang="en-AU" sz="2800" kern="1200">
                    <a:solidFill>
                      <a:schemeClr val="tx1"/>
                    </a:solidFill>
                    <a:effectLst/>
                    <a:latin typeface="Arial" panose="020B0604020202020204" pitchFamily="34" charset="0"/>
                    <a:ea typeface="+mn-ea"/>
                    <a:cs typeface="Arial" panose="020B0604020202020204" pitchFamily="34" charset="0"/>
                  </a:rPr>
                  <a:t>of the vanilla slab cake left. </a:t>
                </a:r>
                <a:r>
                  <a:rPr lang="en-AU" sz="2800" b="1" kern="1200">
                    <a:solidFill>
                      <a:schemeClr val="tx1"/>
                    </a:solidFill>
                    <a:effectLst/>
                    <a:latin typeface="Arial" panose="020B0604020202020204" pitchFamily="34" charset="0"/>
                    <a:ea typeface="+mn-ea"/>
                    <a:cs typeface="Arial" panose="020B0604020202020204" pitchFamily="34" charset="0"/>
                  </a:rPr>
                  <a:t>How much slab cake </a:t>
                </a:r>
                <a:r>
                  <a:rPr lang="en-AU" sz="2800" kern="1200">
                    <a:solidFill>
                      <a:schemeClr val="tx1"/>
                    </a:solidFill>
                    <a:effectLst/>
                    <a:latin typeface="Arial" panose="020B0604020202020204" pitchFamily="34" charset="0"/>
                    <a:ea typeface="+mn-ea"/>
                    <a:cs typeface="Arial" panose="020B0604020202020204" pitchFamily="34" charset="0"/>
                  </a:rPr>
                  <a:t>did Jemma have </a:t>
                </a:r>
                <a:r>
                  <a:rPr lang="en-AU" sz="2800" b="1" kern="1200">
                    <a:solidFill>
                      <a:schemeClr val="tx1"/>
                    </a:solidFill>
                    <a:effectLst/>
                    <a:latin typeface="Arial" panose="020B0604020202020204" pitchFamily="34" charset="0"/>
                    <a:ea typeface="+mn-ea"/>
                    <a:cs typeface="Arial" panose="020B0604020202020204" pitchFamily="34" charset="0"/>
                  </a:rPr>
                  <a:t>left</a:t>
                </a:r>
                <a:r>
                  <a:rPr lang="en-AU" sz="2800" kern="1200">
                    <a:solidFill>
                      <a:schemeClr val="tx1"/>
                    </a:solidFill>
                    <a:effectLst/>
                    <a:latin typeface="Arial" panose="020B0604020202020204" pitchFamily="34" charset="0"/>
                    <a:ea typeface="+mn-ea"/>
                    <a:cs typeface="Arial" panose="020B0604020202020204" pitchFamily="34" charset="0"/>
                  </a:rPr>
                  <a:t> at the end of her birthday party?</a:t>
                </a:r>
              </a:p>
            </p:txBody>
          </p:sp>
        </mc:Choice>
        <mc:Fallback xmlns="">
          <p:sp>
            <p:nvSpPr>
              <p:cNvPr id="7" name="TextBox 6">
                <a:extLst>
                  <a:ext uri="{FF2B5EF4-FFF2-40B4-BE49-F238E27FC236}">
                    <a16:creationId xmlns:a16="http://schemas.microsoft.com/office/drawing/2014/main" id="{AE2F0DF5-407B-4DA5-376A-2105E60D365D}"/>
                  </a:ext>
                </a:extLst>
              </p:cNvPr>
              <p:cNvSpPr txBox="1">
                <a:spLocks noRot="1" noChangeAspect="1" noMove="1" noResize="1" noEditPoints="1" noAdjustHandles="1" noChangeArrowheads="1" noChangeShapeType="1" noTextEdit="1"/>
              </p:cNvSpPr>
              <p:nvPr/>
            </p:nvSpPr>
            <p:spPr>
              <a:xfrm>
                <a:off x="468556" y="2895762"/>
                <a:ext cx="11358447" cy="2881943"/>
              </a:xfrm>
              <a:prstGeom prst="rect">
                <a:avLst/>
              </a:prstGeom>
              <a:blipFill>
                <a:blip r:embed="rId5"/>
                <a:stretch>
                  <a:fillRect l="-1127" b="-486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8 April 2026) and was not modified.</a:t>
            </a:r>
          </a:p>
          <a:p>
            <a:r>
              <a:rPr lang="en-AU"/>
              <a:t>APSMO (2026) </a:t>
            </a:r>
            <a:r>
              <a:rPr lang="en-AU" i="1" u="sng">
                <a:hlinkClick r:id="rId9"/>
              </a:rPr>
              <a:t>Australasian Problem Solving Mathematical Olympiads (APSMO) (2008–2015)</a:t>
            </a:r>
            <a:r>
              <a:rPr lang="en-AU"/>
              <a:t>, APSMO website, accessed 22 April 2026.</a:t>
            </a:r>
          </a:p>
          <a:p>
            <a:r>
              <a:rPr lang="en-AU"/>
              <a:t>Mathematics Hub (2026) </a:t>
            </a:r>
            <a:r>
              <a:rPr lang="en-AU" i="1" u="sng">
                <a:hlinkClick r:id="rId10"/>
              </a:rPr>
              <a:t>Multiplication: 2 digit by 2 digit numbers: Video and teaching guide</a:t>
            </a:r>
            <a:r>
              <a:rPr lang="en-AU"/>
              <a:t>, Mathematics Hub website, accessed 22 April 2026.</a:t>
            </a:r>
          </a:p>
          <a:p>
            <a:r>
              <a:rPr lang="en-AU"/>
              <a:t>University of Cambridge (2026) </a:t>
            </a:r>
            <a:r>
              <a:rPr lang="en-AU" i="1" u="sng">
                <a:hlinkClick r:id="rId11"/>
              </a:rPr>
              <a:t>Thunder and Lightning</a:t>
            </a:r>
            <a:r>
              <a:rPr lang="en-AU"/>
              <a:t>, NRICH website, accessed 22 April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AEC4CA63-6483-4FDE-A327-6831D68401DF}"/>
</file>

<file path=customXml/itemProps3.xml><?xml version="1.0" encoding="utf-8"?>
<ds:datastoreItem xmlns:ds="http://schemas.openxmlformats.org/officeDocument/2006/customXml" ds:itemID="{CE555570-2BD4-426B-AA32-0A79CB6508A8}">
  <ds:schemaRefs>
    <ds:schemaRef ds:uri="http://www.w3.org/XML/1998/namespace"/>
    <ds:schemaRef ds:uri="http://purl.org/dc/elements/1.1/"/>
    <ds:schemaRef ds:uri="60129b06-f64b-40a8-96e2-c5b2f86112b1"/>
    <ds:schemaRef ds:uri="http://schemas.microsoft.com/office/2006/metadata/properties"/>
    <ds:schemaRef ds:uri="http://schemas.openxmlformats.org/package/2006/metadata/core-properties"/>
    <ds:schemaRef ds:uri="http://schemas.microsoft.com/sharepoint/v3"/>
    <ds:schemaRef ds:uri="http://purl.org/dc/dcmitype/"/>
    <ds:schemaRef ds:uri="http://schemas.microsoft.com/office/infopath/2007/PartnerControls"/>
    <ds:schemaRef ds:uri="http://schemas.microsoft.com/office/2006/documentManagement/types"/>
    <ds:schemaRef ds:uri="7e763d47-3c66-4c58-9425-1477fd3ccd1e"/>
    <ds:schemaRef ds:uri="http://purl.org/dc/terms/"/>
  </ds:schemaRefs>
</ds:datastoreItem>
</file>

<file path=docMetadata/LabelInfo.xml><?xml version="1.0" encoding="utf-8"?>
<clbl:labelList xmlns:clbl="http://schemas.microsoft.com/office/2020/mipLabelMetadata">
  <clbl:label id="{b603dfd7-d93a-4381-a340-2995d8282205}" enabled="1" method="Standard" siteId="{05a0e69a-418a-47c1-9c25-9387261bf991}"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249</TotalTime>
  <Words>6503</Words>
  <Application>Microsoft Office PowerPoint</Application>
  <PresentationFormat>Widescreen</PresentationFormat>
  <Paragraphs>853</Paragraphs>
  <Slides>71</Slides>
  <Notes>71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71</vt:i4>
      </vt:variant>
    </vt:vector>
  </HeadingPairs>
  <TitlesOfParts>
    <vt:vector size="84" baseType="lpstr">
      <vt:lpstr>Wingdings</vt:lpstr>
      <vt:lpstr>Glacial Indifference Bold</vt:lpstr>
      <vt:lpstr>Times New Roman</vt:lpstr>
      <vt:lpstr>Cambria Math</vt:lpstr>
      <vt:lpstr>Public Sans Light</vt:lpstr>
      <vt:lpstr>Canva Student Font</vt:lpstr>
      <vt:lpstr>Aptos</vt:lpstr>
      <vt:lpstr>Calibri</vt:lpstr>
      <vt:lpstr>Montserrat</vt:lpstr>
      <vt:lpstr>Public Sans</vt:lpstr>
      <vt:lpstr>Aptos Narrow</vt:lpstr>
      <vt:lpstr>Arial</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factorising for mental multiplication</vt:lpstr>
      <vt:lpstr>Review of learning 2</vt:lpstr>
      <vt:lpstr>True or false (1)</vt:lpstr>
      <vt:lpstr>Short response (5)</vt:lpstr>
      <vt:lpstr>Short response (6)</vt:lpstr>
      <vt:lpstr>Short response (7)</vt:lpstr>
      <vt:lpstr>Short response (8)</vt:lpstr>
      <vt:lpstr>Activity 2 – area model for 2-digit by 2-digit multiplication (1)</vt:lpstr>
      <vt:lpstr>Activity 2 – area model for 2-digit by 2-digit multiplication (2) (2)</vt:lpstr>
      <vt:lpstr>Review of learning 3</vt:lpstr>
      <vt:lpstr>Multiple choice (2)</vt:lpstr>
      <vt:lpstr>Short response (9)</vt:lpstr>
      <vt:lpstr>Short response (10)</vt:lpstr>
      <vt:lpstr>Short response (11)</vt:lpstr>
      <vt:lpstr>Short response (12)</vt:lpstr>
      <vt:lpstr>Activity 3 – algorithm for 3-digit by 2-digit multiplication (1)</vt:lpstr>
      <vt:lpstr>Activity 3 – algorithm for 3-digit by 2-digit multiplication (2) (2)</vt:lpstr>
      <vt:lpstr>Review of learning 4</vt:lpstr>
      <vt:lpstr>True or false (2)</vt:lpstr>
      <vt:lpstr>Short response (13)</vt:lpstr>
      <vt:lpstr>Short response (14)</vt:lpstr>
      <vt:lpstr>Short response (15)</vt:lpstr>
      <vt:lpstr>Short response (16)</vt:lpstr>
      <vt:lpstr>Activity 4 – selecting and applying strategies to multiply</vt:lpstr>
      <vt:lpstr>Review of learning 5</vt:lpstr>
      <vt:lpstr>Multiple choice (3)</vt:lpstr>
      <vt:lpstr>Short response (17)</vt:lpstr>
      <vt:lpstr>Short response (18)</vt:lpstr>
      <vt:lpstr>Short response (19)</vt:lpstr>
      <vt:lpstr>Short response (20)</vt:lpstr>
      <vt:lpstr>Activity 5 – using equivalence to solve word problems</vt:lpstr>
      <vt:lpstr>Review of learning 6</vt:lpstr>
      <vt:lpstr>True or false (3)</vt:lpstr>
      <vt:lpstr>Short response (21)</vt:lpstr>
      <vt:lpstr>Short response (22)</vt:lpstr>
      <vt:lpstr>Short response (23)</vt:lpstr>
      <vt:lpstr>Short response (24)</vt:lpstr>
      <vt:lpstr>Activity 6 – representing fractional quantities – thirds and sixths (1)</vt:lpstr>
      <vt:lpstr>Activity 6 – representing fractional quantities – thirds and sixths (2) (2)</vt:lpstr>
      <vt:lpstr>Review of learning 7</vt:lpstr>
      <vt:lpstr>Multiple choice (4)</vt:lpstr>
      <vt:lpstr>Short response (25)</vt:lpstr>
      <vt:lpstr>Short response (26)</vt:lpstr>
      <vt:lpstr>Short response (27)</vt:lpstr>
      <vt:lpstr>Short response (28)</vt:lpstr>
      <vt:lpstr>Activity 7 – representing fractional quantities – quarters and eighths</vt:lpstr>
      <vt:lpstr>Review of learning 8</vt:lpstr>
      <vt:lpstr>True or false (4)</vt:lpstr>
      <vt:lpstr>Short response (29)</vt:lpstr>
      <vt:lpstr>Short response (30)</vt:lpstr>
      <vt:lpstr>Short response (31)</vt:lpstr>
      <vt:lpstr>Short response (32)</vt:lpstr>
      <vt:lpstr>Activity 8 – creating word problems with fractional quantities</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2026-06-21T22:24:21Z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