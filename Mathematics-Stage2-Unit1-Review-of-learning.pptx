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578"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2"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27" r:id="rId69"/>
    <p:sldId id="26545" r:id="rId70"/>
    <p:sldId id="360" r:id="rId71"/>
    <p:sldId id="26454" r:id="rId72"/>
    <p:sldId id="361" r:id="rId73"/>
  </p:sldIdLst>
  <p:sldSz cx="12192000" cy="6858000"/>
  <p:notesSz cx="6858000" cy="9144000"/>
  <p:embeddedFontLst>
    <p:embeddedFont>
      <p:font typeface="Edu NSW ACT Foundation" panose="020B0604020202020204" charset="0"/>
      <p:regular r:id="rId76"/>
      <p:bold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
      <p:font typeface="Segoe UI" panose="020B0502040204020203" pitchFamily="34" charset="0"/>
      <p:regular r:id="rId88"/>
      <p:bold r:id="rId89"/>
      <p:italic r:id="rId90"/>
      <p:boldItalic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8"/>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 id="26393"/>
            <p14:sldId id="26387"/>
            <p14:sldId id="26395"/>
            <p14:sldId id="26391"/>
            <p14:sldId id="26402"/>
            <p14:sldId id="26527"/>
            <p14:sldId id="26545"/>
          </p14:sldIdLst>
        </p14:section>
        <p14:section name="References &amp; copyright" id="{DBC31484-F5F8-4CB1-8DB4-A562A9780899}">
          <p14:sldIdLst>
            <p14:sldId id="360"/>
            <p14:sldId id="26454"/>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0137F1-949F-41F4-B397-3DB27BC578D6}" v="1" dt="2025-10-23T00:57:33.90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1895" autoAdjust="0"/>
  </p:normalViewPr>
  <p:slideViewPr>
    <p:cSldViewPr snapToGrid="0">
      <p:cViewPr varScale="1">
        <p:scale>
          <a:sx n="70" d="100"/>
          <a:sy n="70" d="100"/>
        </p:scale>
        <p:origin x="276" y="6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a:t>
            </a:r>
          </a:p>
          <a:p>
            <a:pPr marL="285750" indent="-285750">
              <a:buFont typeface="Arial" panose="020B0604020202020204" pitchFamily="34" charset="0"/>
              <a:buChar char="•"/>
            </a:pPr>
            <a:r>
              <a:rPr lang="en-AU" dirty="0"/>
              <a:t>Stage 2 Year A Unit 1</a:t>
            </a:r>
          </a:p>
          <a:p>
            <a:pPr marL="285750" indent="-285750">
              <a:buFont typeface="Arial" panose="020B0604020202020204" pitchFamily="34" charset="0"/>
              <a:buChar char="•"/>
            </a:pPr>
            <a:r>
              <a:rPr lang="en-AU" dirty="0">
                <a:highlight>
                  <a:srgbClr val="FFFF00"/>
                </a:highlight>
              </a:rPr>
              <a:t>Stage 1 Combining and separating quantities syllabus content </a:t>
            </a:r>
          </a:p>
          <a:p>
            <a:pPr marL="285750" indent="-285750">
              <a:buFont typeface="Arial" panose="020B0604020202020204" pitchFamily="34" charset="0"/>
              <a:buChar char="•"/>
            </a:pPr>
            <a:r>
              <a:rPr lang="en-AU" dirty="0">
                <a:highlight>
                  <a:srgbClr val="FFFF00"/>
                </a:highlight>
              </a:rPr>
              <a:t>Stage 1 Forming groups syllabus content</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whole numbers B (</a:t>
            </a:r>
            <a:r>
              <a:rPr lang="en-AU" b="1">
                <a:latin typeface="Arial"/>
                <a:cs typeface="Arial"/>
              </a:rPr>
              <a:t>Note</a:t>
            </a:r>
            <a:r>
              <a:rPr lang="en-AU" b="0">
                <a:latin typeface="Arial"/>
                <a:cs typeface="Arial"/>
              </a:rPr>
              <a:t>: Stage 1 content reviewed)</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whole numbers B (</a:t>
            </a:r>
            <a:r>
              <a:rPr lang="en-AU" b="1">
                <a:latin typeface="Arial"/>
                <a:cs typeface="Arial"/>
              </a:rPr>
              <a:t>Note</a:t>
            </a:r>
            <a:r>
              <a:rPr lang="en-AU">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quantities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whole numbers B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Place value through partitioning</a:t>
            </a:r>
            <a:endParaRPr lang="en-AU" b="0" dirty="0"/>
          </a:p>
          <a:p>
            <a:endParaRPr lang="en-AU" b="1" dirty="0"/>
          </a:p>
          <a:p>
            <a:pPr marL="342900" indent="-342900">
              <a:buFont typeface="+mj-lt"/>
              <a:buAutoNum type="arabicPeriod"/>
            </a:pPr>
            <a:r>
              <a:rPr lang="en-AU" b="0" dirty="0"/>
              <a:t>Students sit in a circle.</a:t>
            </a:r>
          </a:p>
          <a:p>
            <a:pPr marL="342900" indent="-342900">
              <a:buFont typeface="+mj-lt"/>
              <a:buAutoNum type="arabicPeriod"/>
            </a:pPr>
            <a:r>
              <a:rPr lang="en-AU" b="0" dirty="0"/>
              <a:t>Display 15 groups of 10 and 7 ones using craft sticks or other materials. Explain you have 157 craft sticks. </a:t>
            </a:r>
          </a:p>
          <a:p>
            <a:pPr marL="342900" indent="-342900">
              <a:buFont typeface="+mj-lt"/>
              <a:buAutoNum type="arabicPeriod"/>
            </a:pPr>
            <a:r>
              <a:rPr lang="en-AU" b="0" dirty="0"/>
              <a:t>Students turn and talk to share ideas on how they can prove there are 157 sticks.</a:t>
            </a:r>
          </a:p>
          <a:p>
            <a:pPr marL="0" indent="0">
              <a:buFont typeface="+mj-lt"/>
              <a:buNone/>
            </a:pPr>
            <a:r>
              <a:rPr lang="en-AU" b="1" dirty="0"/>
              <a:t>Note: </a:t>
            </a:r>
            <a:r>
              <a:rPr lang="en-AU" b="0" dirty="0"/>
              <a:t>bundles of 10 can be made with craft sticks, interlocking cubes, straws, or something similar that can be separated. Before the lesson, watch Number busting – number talk (renaming 26) (2:00).</a:t>
            </a:r>
          </a:p>
          <a:p>
            <a:pPr marL="342900" indent="-342900">
              <a:buFont typeface="+mj-lt"/>
              <a:buAutoNum type="arabicPeriod"/>
            </a:pPr>
            <a:r>
              <a:rPr lang="en-AU" b="0" dirty="0"/>
              <a:t>Model how to use the collection to partition 157 in different ways by partitioning and physically moving the craft sticks. </a:t>
            </a:r>
          </a:p>
          <a:p>
            <a:pPr marL="342900" indent="-342900">
              <a:buFont typeface="+mj-lt"/>
              <a:buAutoNum type="arabicPeriod"/>
            </a:pPr>
            <a:r>
              <a:rPr lang="en-AU" b="0" dirty="0"/>
              <a:t>Ask pairs to Think-Pair-Share and draw on mental computation to identify ways to partition 157. </a:t>
            </a:r>
          </a:p>
          <a:p>
            <a:pPr marL="342900" indent="-342900">
              <a:buFont typeface="+mj-lt"/>
              <a:buAutoNum type="arabicPeriod"/>
            </a:pPr>
            <a:r>
              <a:rPr lang="en-AU" b="0" dirty="0"/>
              <a:t>Invite students to share their ideas. Encourage students to undo the craft sticks bundles to check and prove this.</a:t>
            </a:r>
          </a:p>
          <a:p>
            <a:pPr marL="342900" indent="-342900">
              <a:buFont typeface="+mj-lt"/>
              <a:buAutoNum type="arabicPeriod"/>
            </a:pPr>
            <a:r>
              <a:rPr lang="en-AU" b="0" dirty="0"/>
              <a:t>Record a variety of representations on the board:</a:t>
            </a:r>
          </a:p>
          <a:p>
            <a:pPr marL="342900" indent="-342900">
              <a:buFont typeface="Courier New" panose="02070309020205020404" pitchFamily="49" charset="0"/>
              <a:buChar char="o"/>
            </a:pPr>
            <a:r>
              <a:rPr lang="en-AU" b="0" dirty="0"/>
              <a:t>147 = 100 + 40 + 7</a:t>
            </a:r>
          </a:p>
          <a:p>
            <a:pPr marL="342900" indent="-342900">
              <a:buFont typeface="Courier New" panose="02070309020205020404" pitchFamily="49" charset="0"/>
              <a:buChar char="o"/>
            </a:pPr>
            <a:r>
              <a:rPr lang="en-AU" b="0" dirty="0"/>
              <a:t>147 = 1 hundred, 4 tens, 7 ones</a:t>
            </a:r>
          </a:p>
          <a:p>
            <a:pPr marL="342900" indent="-342900">
              <a:buFont typeface="Courier New" panose="02070309020205020404" pitchFamily="49" charset="0"/>
              <a:buChar char="o"/>
            </a:pPr>
            <a:r>
              <a:rPr lang="en-AU" b="0" dirty="0"/>
              <a:t>147 = 14 tens, 7 ones</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whole numbers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quantities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whole numbers B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Partitioning with tens and ones</a:t>
            </a:r>
          </a:p>
          <a:p>
            <a:endParaRPr lang="en-AU"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opportunities for students to</a:t>
            </a:r>
            <a:r>
              <a:rPr lang="en-AU" sz="1600" b="1" dirty="0">
                <a:effectLst/>
                <a:latin typeface="Arial" panose="020B0604020202020204" pitchFamily="34" charset="0"/>
                <a:ea typeface="Calibri" panose="020F0502020204030204" pitchFamily="34" charset="0"/>
              </a:rPr>
              <a:t> </a:t>
            </a:r>
            <a:r>
              <a:rPr lang="en-AU" sz="1600" dirty="0">
                <a:effectLst/>
                <a:latin typeface="Arial" panose="020B0604020202020204" pitchFamily="34" charset="0"/>
                <a:ea typeface="Calibri" panose="020F0502020204030204" pitchFamily="34" charset="0"/>
              </a:rPr>
              <a:t>identify and explain strategies to partition 3-digit numbers. Students use whiteboards to record the strategy used. Seek input from students to share and justify their reasoning.</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sit in a circle.</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Display 24 groups of 10 and 3 ones using craft sticks or other materials. Explain you have 243 craft sticks.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turn and talk to share ideas on how they can prove there are 243 sticks.</a:t>
            </a:r>
            <a:br>
              <a:rPr lang="en-AU" sz="1600" dirty="0">
                <a:effectLst/>
                <a:latin typeface="Arial" panose="020B0604020202020204" pitchFamily="34" charset="0"/>
                <a:ea typeface="Calibri" panose="020F0502020204030204" pitchFamily="34" charset="0"/>
              </a:rPr>
            </a:br>
            <a:endParaRPr lang="en-AU" sz="1600" dirty="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Use bundles of 10 made with craft sticks, interlocking cubes, straws, or similar materials that can be unbundled and regrouped. Prior to the lesson, consider watching “Number busting – number talk (renaming 26)” (2:00).</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Model how to partition 243 in different ways by physically rearranging the craft sticks (e.g. breaking up tens to form ones). For example: 24 tens and 3 ones; or 20 tens and 43 ones.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Ask pairs to Think-Pair-Share using mental strategies to generate different ways to partition the number 243.</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Seek input from students to share their thinking. Encourage them to break and regroup bundles to check their reasoning and prove different partitions.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Record a variety of representations on the board. Demonstrate less obvious decompositions, such as:</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243 = 200 + 40 + 3</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243 = 2 hundreds, 3 tens, 13 ones</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243 = 1 hundred, 14 tens, 3 ones</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whole numbers B (</a:t>
            </a:r>
            <a:r>
              <a:rPr lang="en-AU" b="1">
                <a:highlight>
                  <a:srgbClr val="FFFF00"/>
                </a:highlight>
                <a:latin typeface="Arial"/>
                <a:cs typeface="Arial"/>
              </a:rPr>
              <a:t>Note</a:t>
            </a:r>
            <a:r>
              <a:rPr lang="en-AU" b="0">
                <a:highlight>
                  <a:srgbClr val="FFFF00"/>
                </a:highlight>
                <a:latin typeface="Arial"/>
                <a:cs typeface="Arial"/>
              </a:rPr>
              <a:t>: Stage 1 content reviewed)</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quantities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whole numbers B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Investigating place value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Figure 5 – Mastermind example in Stage 2 Year A Unit 1. </a:t>
            </a:r>
          </a:p>
          <a:p>
            <a:endParaRPr lang="en-AU"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a:t>
            </a:r>
            <a:r>
              <a:rPr lang="en-AU" sz="1050" dirty="0">
                <a:effectLst/>
                <a:latin typeface="Arial" panose="020B0604020202020204" pitchFamily="34" charset="0"/>
                <a:ea typeface="Calibri" panose="020F0502020204030204" pitchFamily="34" charset="0"/>
              </a:rPr>
              <a:t> </a:t>
            </a:r>
            <a:r>
              <a:rPr lang="en-AU" sz="1600" dirty="0">
                <a:effectLst/>
                <a:latin typeface="Arial" panose="020B0604020202020204" pitchFamily="34" charset="0"/>
                <a:ea typeface="Calibri" panose="020F0502020204030204" pitchFamily="34" charset="0"/>
              </a:rPr>
              <a:t> draw up their gameboard on a whiteboard.</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In pairs, each student records a 3-digit number, with no repeated digits, on a sticky note. </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take turns to guess their partner’s 3-digit number. Partners record the guess, the number of digits that are correct and the number of digits that are in the right place Students then use this information to refine their guesses.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The first student to correctly guess their partner’s number is the winner. </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Ask students to discuss the strategies they used to determine the correct answer.</a:t>
            </a:r>
          </a:p>
          <a:p>
            <a:pPr>
              <a:lnSpc>
                <a:spcPct val="150000"/>
              </a:lnSpc>
              <a:spcBef>
                <a:spcPts val="1200"/>
              </a:spcBef>
              <a:spcAft>
                <a:spcPts val="600"/>
              </a:spcAft>
              <a:buNone/>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this activity can be adapted by using 2-, 4- or 5-digit numbers.</a:t>
            </a:r>
          </a:p>
          <a:p>
            <a:pPr>
              <a:spcBef>
                <a:spcPts val="1200"/>
              </a:spcBef>
              <a:spcAft>
                <a:spcPts val="600"/>
              </a:spcAft>
            </a:pPr>
            <a:r>
              <a:rPr lang="en-AU" sz="1050" dirty="0">
                <a:effectLst/>
                <a:latin typeface="Arial" panose="020B0604020202020204" pitchFamily="34" charset="0"/>
                <a:ea typeface="Calibri" panose="020F0502020204030204" pitchFamily="34" charset="0"/>
              </a:rPr>
              <a:t> </a:t>
            </a: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whole numbers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quantities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 (</a:t>
            </a:r>
            <a:r>
              <a:rPr lang="en-AU" b="1" dirty="0">
                <a:latin typeface="Arial"/>
                <a:cs typeface="Arial"/>
              </a:rPr>
              <a:t>Note</a:t>
            </a:r>
            <a:r>
              <a:rPr lang="en-AU" b="0" dirty="0">
                <a:latin typeface="Arial"/>
                <a:cs typeface="Arial"/>
              </a:rPr>
              <a:t>: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whole numbers B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Ordering numbers using place value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Figure 6 – ladder example in Stage 2 Year A Unit 1. </a:t>
            </a:r>
          </a:p>
          <a:p>
            <a:endParaRPr lang="en-AU"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Explain the aim of the game is to position 3-digit numbers in sequence on the ladder rungs.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Draw a ladder with 5 rungs on the board. Roll three 9-sided dice and form a 3-digit number. State the value of each digit, for example, 7 hundreds, 4 tens and one ones = 741; or one hundred, 7 tens and 4 ones = 174. Record the chosen 3-digit number on one of the ladder rungs. </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Select a student to roll the 3 dice again and form another 3-digit number to place on a rung of the ladder. Ask the student to explain and justify why they selected the 3-digit number, which rung they nominated to place it on, and to state the value of the digits before recording it on the ladder (see Figure 6).</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Continue the game until a player is unable to place their number on the ladder, at which point the game is over. Discuss if there were any other possible combinations that could have helped a player win.</a:t>
            </a:r>
          </a:p>
          <a:p>
            <a:pPr>
              <a:lnSpc>
                <a:spcPct val="150000"/>
              </a:lnSpc>
              <a:spcBef>
                <a:spcPts val="1200"/>
              </a:spcBef>
              <a:spcAft>
                <a:spcPts val="600"/>
              </a:spcAft>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the game can be played as whole class or in pairs.</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Forming groups A (</a:t>
            </a:r>
            <a:r>
              <a:rPr lang="en-AU" b="1" dirty="0">
                <a:latin typeface="Arial"/>
                <a:cs typeface="Arial"/>
              </a:rPr>
              <a:t>Note</a:t>
            </a:r>
            <a:r>
              <a:rPr lang="en-AU" b="0" dirty="0">
                <a:latin typeface="Arial"/>
                <a:cs typeface="Arial"/>
              </a:rPr>
              <a:t>: Stage 1 content reviewed)</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Forming groups A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Skip counting</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Figure 7 – example of student recording in Stage 2 Year A Unit 1. </a:t>
            </a:r>
          </a:p>
          <a:p>
            <a:endParaRPr lang="en-AU"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Have a collection of 2, 4, 5 and 10 number cards and draw a blank number line.</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Turn over a number card to identify the focus multiple, for example, if a 5 is turned over students are identifying multiples of 5. Write a multiple of 5 at the start of the number line and students use their whiteboard to draw a number line and record the next 6 multiples (see Figure 7).</a:t>
            </a:r>
          </a:p>
          <a:p>
            <a:pPr>
              <a:spcBef>
                <a:spcPts val="1200"/>
              </a:spcBef>
              <a:spcAft>
                <a:spcPts val="1000"/>
              </a:spcAft>
              <a:buNone/>
            </a:pPr>
            <a:r>
              <a:rPr lang="en-AU" sz="1100" dirty="0">
                <a:solidFill>
                  <a:srgbClr val="002664"/>
                </a:solidFill>
                <a:effectLst/>
                <a:latin typeface="Arial" panose="020B0604020202020204" pitchFamily="34" charset="0"/>
                <a:ea typeface="Calibri" panose="020F0502020204030204" pitchFamily="34" charset="0"/>
              </a:rPr>
              <a:t>Figure 7 - example of student recordings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Choose students to demonstrate and explain their number line after each card has been turned.</a:t>
            </a:r>
          </a:p>
          <a:p>
            <a:pPr>
              <a:lnSpc>
                <a:spcPct val="150000"/>
              </a:lnSpc>
              <a:spcBef>
                <a:spcPts val="1200"/>
              </a:spcBef>
              <a:spcAft>
                <a:spcPts val="600"/>
              </a:spcAft>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not all number lines need to start from zero.</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Forming groups A </a:t>
            </a:r>
            <a:r>
              <a:rPr lang="en-AU">
                <a:latin typeface="Arial"/>
                <a:cs typeface="Arial"/>
              </a:rPr>
              <a:t>(</a:t>
            </a:r>
            <a:r>
              <a:rPr lang="en-AU" b="1">
                <a:latin typeface="Arial"/>
                <a:cs typeface="Arial"/>
              </a:rPr>
              <a:t>Note</a:t>
            </a:r>
            <a:r>
              <a:rPr lang="en-AU" b="0">
                <a:latin typeface="Arial"/>
                <a:cs typeface="Arial"/>
              </a:rPr>
              <a:t>: Stage 1 content reviewed)</a:t>
            </a:r>
            <a:endParaRPr lang="en-AU"/>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Forming groups A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Number patterns</a:t>
            </a:r>
          </a:p>
          <a:p>
            <a:r>
              <a:rPr lang="en-AU" b="0" dirty="0"/>
              <a:t>This resource corresponds to Figure 8 – number patterns in Stage 2 Year A Unit 1. </a:t>
            </a:r>
          </a:p>
          <a:p>
            <a:endParaRPr lang="en-AU"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Demonstrate</a:t>
            </a:r>
            <a:r>
              <a:rPr lang="en-AU" sz="1050" dirty="0">
                <a:effectLst/>
                <a:latin typeface="Arial" panose="020B0604020202020204" pitchFamily="34" charset="0"/>
                <a:ea typeface="Calibri" panose="020F0502020204030204" pitchFamily="34" charset="0"/>
              </a:rPr>
              <a:t> </a:t>
            </a:r>
            <a:r>
              <a:rPr lang="en-AU" sz="1600" dirty="0">
                <a:effectLst/>
                <a:latin typeface="Arial" panose="020B0604020202020204" pitchFamily="34" charset="0"/>
                <a:ea typeface="Calibri" panose="020F0502020204030204" pitchFamily="34" charset="0"/>
              </a:rPr>
              <a:t> how to create an increasing or decreasing number pattern and show the increasing or decreasing pattern (see Figure 8). Select a student to identify the next 3 numbers in the pattern and record them.</a:t>
            </a:r>
          </a:p>
          <a:p>
            <a:pPr>
              <a:spcBef>
                <a:spcPts val="1200"/>
              </a:spcBef>
              <a:spcAft>
                <a:spcPts val="1000"/>
              </a:spcAft>
              <a:buNone/>
            </a:pPr>
            <a:r>
              <a:rPr lang="en-AU" sz="1100" dirty="0">
                <a:solidFill>
                  <a:srgbClr val="002664"/>
                </a:solidFill>
                <a:effectLst/>
                <a:latin typeface="Arial" panose="020B0604020202020204" pitchFamily="34" charset="0"/>
                <a:ea typeface="Calibri" panose="020F0502020204030204" pitchFamily="34" charset="0"/>
              </a:rPr>
              <a:t>Figure 8 - number patterns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Challenge students to create 3 different forwards or backwards number patterns that increase or decrease by twos, threes and fives. Students use their whiteboard to record their patterns.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Choose different students to share and justify their number patterns.</a:t>
            </a:r>
          </a:p>
          <a:p>
            <a:pPr>
              <a:lnSpc>
                <a:spcPct val="150000"/>
              </a:lnSpc>
              <a:spcBef>
                <a:spcPts val="1200"/>
              </a:spcBef>
              <a:spcAft>
                <a:spcPts val="600"/>
              </a:spcAft>
              <a:buNone/>
            </a:pPr>
            <a:r>
              <a:rPr lang="en-AU" sz="1600" dirty="0">
                <a:effectLst/>
                <a:latin typeface="Arial" panose="020B0604020202020204" pitchFamily="34" charset="0"/>
                <a:ea typeface="Calibri" panose="020F0502020204030204" pitchFamily="34" charset="0"/>
              </a:rPr>
              <a:t>Note: number patterns can be adapted to increase or decrease by any number under 12.</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Forming groups A </a:t>
            </a:r>
            <a:r>
              <a:rPr lang="en-AU">
                <a:highlight>
                  <a:srgbClr val="FFFF00"/>
                </a:highlight>
                <a:latin typeface="Arial"/>
                <a:cs typeface="Arial"/>
              </a:rPr>
              <a:t>(</a:t>
            </a:r>
            <a:r>
              <a:rPr lang="en-AU" b="1">
                <a:highlight>
                  <a:srgbClr val="FFFF00"/>
                </a:highlight>
                <a:latin typeface="Arial"/>
                <a:cs typeface="Arial"/>
              </a:rPr>
              <a:t>Note</a:t>
            </a:r>
            <a:r>
              <a:rPr lang="en-AU" b="0">
                <a:highlight>
                  <a:srgbClr val="FFFF00"/>
                </a:highlight>
                <a:latin typeface="Arial"/>
                <a:cs typeface="Arial"/>
              </a:rPr>
              <a:t>: Stage 1 content reviewed)</a:t>
            </a:r>
            <a:endParaRPr lang="en-AU">
              <a:highlight>
                <a:srgbClr val="FFFF00"/>
              </a:highlight>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Forming groups A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dirty="0"/>
          </a:p>
          <a:p>
            <a:r>
              <a:rPr lang="en-AU" b="1" dirty="0"/>
              <a:t>Missing number patterns.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Resource 19 – number patterns 1 and Resource 20 – number patterns 2 in Stage 2 Year A Unit 1. </a:t>
            </a:r>
          </a:p>
          <a:p>
            <a:endParaRPr lang="en-AU" b="1" dirty="0"/>
          </a:p>
          <a:p>
            <a:pPr marL="342900" lvl="0" indent="-342900">
              <a:lnSpc>
                <a:spcPct val="150000"/>
              </a:lnSpc>
              <a:spcBef>
                <a:spcPts val="1200"/>
              </a:spcBef>
              <a:spcAft>
                <a:spcPts val="600"/>
              </a:spcAft>
              <a:buFont typeface="+mj-lt"/>
              <a:buAutoNum type="arabicPeriod"/>
            </a:pPr>
            <a:r>
              <a:rPr lang="en-AU" sz="1600" dirty="0">
                <a:effectLst/>
                <a:highlight>
                  <a:srgbClr val="00FF00"/>
                </a:highlight>
                <a:latin typeface="Arial" panose="020B0604020202020204" pitchFamily="34" charset="0"/>
                <a:ea typeface="Calibri" panose="020F0502020204030204" pitchFamily="34" charset="0"/>
              </a:rPr>
              <a:t>Display Resource 19 – number patterns 1</a:t>
            </a:r>
            <a:r>
              <a:rPr lang="en-AU" sz="1600" dirty="0">
                <a:effectLst/>
                <a:latin typeface="Arial" panose="020B0604020202020204" pitchFamily="34" charset="0"/>
                <a:ea typeface="Calibri" panose="020F0502020204030204" pitchFamily="34" charset="0"/>
              </a:rPr>
              <a:t> and ask students to determine the missing numbers in the pattern. Students use their whiteboard to record the number pattern showing the rule and the missing numbers </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Choose students to demonstrate their working, explaining how they determined the missing number. Select a student to identify the next 3 numbers in the pattern and record.</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Display </a:t>
            </a:r>
            <a:r>
              <a:rPr lang="en-AU" b="0" dirty="0"/>
              <a:t>Resource 20 – </a:t>
            </a:r>
            <a:r>
              <a:rPr lang="en-AU" sz="1600" dirty="0">
                <a:effectLst/>
                <a:highlight>
                  <a:srgbClr val="FFFF00"/>
                </a:highlight>
                <a:latin typeface="Arial" panose="020B0604020202020204" pitchFamily="34" charset="0"/>
                <a:ea typeface="Calibri" panose="020F0502020204030204" pitchFamily="34" charset="0"/>
              </a:rPr>
              <a:t>number patterns</a:t>
            </a:r>
            <a:r>
              <a:rPr lang="en-AU" sz="1600" dirty="0">
                <a:effectLst/>
                <a:latin typeface="Arial" panose="020B0604020202020204" pitchFamily="34" charset="0"/>
                <a:ea typeface="Calibri" panose="020F0502020204030204" pitchFamily="34" charset="0"/>
              </a:rPr>
              <a:t> 2 </a:t>
            </a:r>
            <a:r>
              <a:rPr lang="en-AU" b="0" dirty="0"/>
              <a:t>in Stage 2 Year A Unit 1 </a:t>
            </a:r>
            <a:r>
              <a:rPr lang="en-AU" sz="1600" dirty="0">
                <a:effectLst/>
                <a:latin typeface="Arial" panose="020B0604020202020204" pitchFamily="34" charset="0"/>
                <a:ea typeface="Calibri" panose="020F0502020204030204" pitchFamily="34" charset="0"/>
              </a:rPr>
              <a:t>and follow the above steps.</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Forming groups A </a:t>
            </a:r>
            <a:r>
              <a:rPr lang="en-AU">
                <a:latin typeface="Arial"/>
                <a:cs typeface="Arial"/>
              </a:rPr>
              <a:t>(</a:t>
            </a:r>
            <a:r>
              <a:rPr lang="en-AU" b="1">
                <a:latin typeface="Arial"/>
                <a:cs typeface="Arial"/>
              </a:rPr>
              <a:t>Note</a:t>
            </a:r>
            <a:r>
              <a:rPr lang="en-AU" b="0">
                <a:latin typeface="Arial"/>
                <a:cs typeface="Arial"/>
              </a:rPr>
              <a:t>: Stage 1 content reviewed)</a:t>
            </a:r>
            <a:endParaRPr lang="en-AU"/>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Combining and separating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Forming groups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t>
            </a:r>
            <a:r>
              <a:rPr lang="en-AU" b="1">
                <a:latin typeface="Arial"/>
                <a:cs typeface="Arial"/>
              </a:rPr>
              <a:t>Note</a:t>
            </a:r>
            <a:r>
              <a:rPr lang="en-AU" b="0">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Forming groups A </a:t>
            </a:r>
            <a:r>
              <a:rPr lang="en-AU" dirty="0">
                <a:latin typeface="Arial"/>
                <a:cs typeface="Arial"/>
              </a:rPr>
              <a:t>(</a:t>
            </a:r>
            <a:r>
              <a:rPr lang="en-AU" b="1" dirty="0">
                <a:latin typeface="Arial"/>
                <a:cs typeface="Arial"/>
              </a:rPr>
              <a:t>Note</a:t>
            </a:r>
            <a:r>
              <a:rPr lang="en-AU" b="0" dirty="0">
                <a:latin typeface="Arial"/>
                <a:cs typeface="Arial"/>
              </a:rPr>
              <a:t>: Stage 1 content reviewed)</a:t>
            </a:r>
            <a:endParaRPr lang="en-AU" dirty="0"/>
          </a:p>
          <a:p>
            <a:endParaRPr lang="en-AU" b="1" dirty="0"/>
          </a:p>
          <a:p>
            <a:r>
              <a:rPr lang="en-AU" b="1" dirty="0"/>
              <a:t>Multiples and number sequence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Resource 21  – number line skip counting in Stage 2 Year A Unit 1. </a:t>
            </a:r>
          </a:p>
          <a:p>
            <a:endParaRPr lang="en-AU" b="1" dirty="0"/>
          </a:p>
          <a:p>
            <a:endParaRPr lang="en-AU"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Explain that students will investigate how many different ways they can skip count to 36.</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pairs of students with </a:t>
            </a:r>
            <a:r>
              <a:rPr lang="en-AU" sz="1600" dirty="0">
                <a:effectLst/>
                <a:highlight>
                  <a:srgbClr val="FFFF00"/>
                </a:highlight>
                <a:latin typeface="Arial" panose="020B0604020202020204" pitchFamily="34" charset="0"/>
                <a:ea typeface="Calibri" panose="020F0502020204030204" pitchFamily="34" charset="0"/>
              </a:rPr>
              <a:t>Resource 21 -  number line skip counting </a:t>
            </a:r>
            <a:r>
              <a:rPr lang="en-AU" b="0" dirty="0">
                <a:highlight>
                  <a:srgbClr val="FFFF00"/>
                </a:highlight>
              </a:rPr>
              <a:t>in Stage 2 Year A Unit 1. </a:t>
            </a:r>
            <a:endParaRPr lang="en-AU" sz="16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Prompt students to use of various intervals (e.g. by 2s, 3s, 4s, 6s, 9s).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use the number line to trial different sequences and record all the possible ways to share with the class.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to label each sequence clearly and highlight the rule for each pattern.</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Regroup and discuss:</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Was there any skip counting sequence that did not reach 36? Why?</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Describe a skip counting sequence that created an interesting pattern.</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What was the easiest or most efficient skip counting sequence? Why?</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Which patterns connect to multiplication facts you already know?</a:t>
            </a:r>
          </a:p>
          <a:p>
            <a:pPr>
              <a:lnSpc>
                <a:spcPct val="150000"/>
              </a:lnSpc>
              <a:spcBef>
                <a:spcPts val="1200"/>
              </a:spcBef>
              <a:spcAft>
                <a:spcPts val="600"/>
              </a:spcAft>
            </a:pPr>
            <a:br>
              <a:rPr lang="en-AU" sz="1600" dirty="0">
                <a:effectLst/>
                <a:latin typeface="Arial" panose="020B0604020202020204" pitchFamily="34" charset="0"/>
                <a:ea typeface="Calibri" panose="020F0502020204030204" pitchFamily="34" charset="0"/>
              </a:rPr>
            </a:br>
            <a:r>
              <a:rPr lang="en-AU" sz="1600" dirty="0">
                <a:effectLst/>
                <a:latin typeface="Arial" panose="020B0604020202020204" pitchFamily="34" charset="0"/>
                <a:ea typeface="Calibri" panose="020F0502020204030204" pitchFamily="34" charset="0"/>
              </a:rPr>
              <a:t> </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1.png"/><Relationship Id="rId7" Type="http://schemas.openxmlformats.org/officeDocument/2006/relationships/image" Target="../media/image24.sv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6.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44.svg"/><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mathematics/mathematics-curriculum-resources-k-12/thinking-mathematically-resources/mathematics-s1-s3-mastermind"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youcubed.org/tasks/pig/"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toytheater.com/hundreds-chart/" TargetMode="External"/><Relationship Id="rId5" Type="http://schemas.openxmlformats.org/officeDocument/2006/relationships/hyperlink" Target="https://education.nsw.gov.au/teaching-and-learning/curriculum/mathematics/mathematics-curriculum-resources-k-12/thinking-mathematically-resources/mathematics-s1-number-busting-renaming-26" TargetMode="External"/><Relationship Id="rId4" Type="http://schemas.openxmlformats.org/officeDocument/2006/relationships/hyperlink" Target="https://curriculum.nsw.edu.au/"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solidFill>
                  <a:srgbClr val="22272B"/>
                </a:solidFill>
                <a:latin typeface="+mn-lt"/>
              </a:rPr>
              <a:t>This resource is not a teaching and learning program. It should be used in conjunction with Stage 2 Year A Unit 1.</a:t>
            </a: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1</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Internal link to 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1</a:t>
              </a:r>
              <a:endParaRPr lang="en-AU" dirty="0">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Internal link to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2</a:t>
              </a:r>
              <a:endParaRPr lang="en-AU" dirty="0">
                <a:solidFill>
                  <a:schemeClr val="accent1"/>
                </a:solidFill>
                <a:latin typeface="+mj-lt"/>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descr="Internal link to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3</a:t>
              </a:r>
              <a:endParaRPr lang="en-AU" dirty="0">
                <a:solidFill>
                  <a:schemeClr val="accent1"/>
                </a:solidFill>
                <a:latin typeface="+mj-lt"/>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Internal link to 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4</a:t>
              </a:r>
              <a:endParaRPr lang="en-AU">
                <a:solidFill>
                  <a:schemeClr val="accent1"/>
                </a:solidFill>
                <a:latin typeface="+mj-lt"/>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Group 16" descr="Internal link to 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5</a:t>
              </a:r>
              <a:endParaRPr lang="en-AU">
                <a:solidFill>
                  <a:schemeClr val="accent1"/>
                </a:solidFill>
                <a:latin typeface="+mj-lt"/>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Internal link to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6</a:t>
              </a:r>
              <a:endParaRPr lang="en-AU" dirty="0">
                <a:solidFill>
                  <a:schemeClr val="accent1"/>
                </a:solidFill>
                <a:latin typeface="+mj-lt"/>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Internal link to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7</a:t>
              </a:r>
              <a:endParaRPr lang="en-AU" dirty="0">
                <a:solidFill>
                  <a:schemeClr val="accent1"/>
                </a:solidFill>
                <a:latin typeface="+mj-lt"/>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Internal link to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8</a:t>
              </a:r>
              <a:endParaRPr lang="en-AU">
                <a:solidFill>
                  <a:schemeClr val="accent1"/>
                </a:solidFill>
                <a:latin typeface="+mj-lt"/>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516553" y="1065742"/>
            <a:ext cx="11243037" cy="754243"/>
          </a:xfrm>
        </p:spPr>
        <p:txBody>
          <a:bodyPr/>
          <a:lstStyle/>
          <a:p>
            <a:pPr algn="ctr"/>
            <a:r>
              <a:rPr lang="en-AU" sz="3600" dirty="0"/>
              <a:t>A collection of craft sticks is used to make the number </a:t>
            </a:r>
            <a:r>
              <a:rPr lang="en-AU" sz="3600" b="1" dirty="0"/>
              <a:t>26</a:t>
            </a:r>
            <a:r>
              <a:rPr lang="en-AU" sz="3600" dirty="0"/>
              <a:t>. How can 26 be </a:t>
            </a:r>
            <a:r>
              <a:rPr lang="en-AU" sz="3600" b="1" dirty="0"/>
              <a:t>partitioned</a:t>
            </a:r>
            <a:r>
              <a:rPr lang="en-AU" sz="3600" dirty="0"/>
              <a:t> and </a:t>
            </a:r>
            <a:r>
              <a:rPr lang="en-AU" sz="3600" b="1" dirty="0"/>
              <a:t>renamed</a:t>
            </a:r>
            <a:r>
              <a:rPr lang="en-AU" sz="3600" dirty="0"/>
              <a:t>? </a:t>
            </a:r>
            <a:endParaRPr lang="en-US" sz="3600" dirty="0"/>
          </a:p>
          <a:p>
            <a:endParaRPr lang="en-US" sz="4400" dirty="0"/>
          </a:p>
        </p:txBody>
      </p:sp>
      <p:sp>
        <p:nvSpPr>
          <p:cNvPr id="9" name="TextBox 8">
            <a:extLst>
              <a:ext uri="{FF2B5EF4-FFF2-40B4-BE49-F238E27FC236}">
                <a16:creationId xmlns:a16="http://schemas.microsoft.com/office/drawing/2014/main" id="{EF8DF706-D80F-92B1-7253-8E6E8E474570}"/>
              </a:ext>
            </a:extLst>
          </p:cNvPr>
          <p:cNvSpPr txBox="1"/>
          <p:nvPr/>
        </p:nvSpPr>
        <p:spPr>
          <a:xfrm>
            <a:off x="516556" y="32113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1191516" y="3259951"/>
            <a:ext cx="10175920" cy="641396"/>
          </a:xfrm>
        </p:spPr>
        <p:txBody>
          <a:bodyPr anchor="ctr"/>
          <a:lstStyle/>
          <a:p>
            <a:r>
              <a:rPr lang="en-AU" sz="3600" dirty="0"/>
              <a:t>13 ones + 13 ones </a:t>
            </a:r>
            <a:endParaRPr lang="en-US" sz="3600" dirty="0"/>
          </a:p>
        </p:txBody>
      </p:sp>
      <p:sp>
        <p:nvSpPr>
          <p:cNvPr id="10" name="TextBox 9">
            <a:extLst>
              <a:ext uri="{FF2B5EF4-FFF2-40B4-BE49-F238E27FC236}">
                <a16:creationId xmlns:a16="http://schemas.microsoft.com/office/drawing/2014/main" id="{E8E3048F-F2CC-3A16-FD64-BA70C679B369}"/>
              </a:ext>
            </a:extLst>
          </p:cNvPr>
          <p:cNvSpPr txBox="1"/>
          <p:nvPr/>
        </p:nvSpPr>
        <p:spPr>
          <a:xfrm>
            <a:off x="516555" y="40592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1191516" y="4107864"/>
            <a:ext cx="10175920" cy="641396"/>
          </a:xfrm>
        </p:spPr>
        <p:txBody>
          <a:bodyPr anchor="ctr"/>
          <a:lstStyle/>
          <a:p>
            <a:r>
              <a:rPr lang="en-AU" sz="3600" dirty="0"/>
              <a:t>2 tens and 6 ones</a:t>
            </a:r>
            <a:endParaRPr lang="en-US" sz="3600" dirty="0"/>
          </a:p>
        </p:txBody>
      </p:sp>
      <p:sp>
        <p:nvSpPr>
          <p:cNvPr id="12" name="TextBox 11">
            <a:extLst>
              <a:ext uri="{FF2B5EF4-FFF2-40B4-BE49-F238E27FC236}">
                <a16:creationId xmlns:a16="http://schemas.microsoft.com/office/drawing/2014/main" id="{653CFB63-79BB-2581-B3F1-80CDC52E39F6}"/>
              </a:ext>
            </a:extLst>
          </p:cNvPr>
          <p:cNvSpPr txBox="1"/>
          <p:nvPr/>
        </p:nvSpPr>
        <p:spPr>
          <a:xfrm>
            <a:off x="516554" y="49092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1191516" y="4957917"/>
            <a:ext cx="10175920" cy="641396"/>
          </a:xfrm>
        </p:spPr>
        <p:txBody>
          <a:bodyPr anchor="ctr"/>
          <a:lstStyle/>
          <a:p>
            <a:r>
              <a:rPr lang="en-AU" sz="3600" dirty="0"/>
              <a:t>1 ten + 1 ten + 6 ones</a:t>
            </a:r>
            <a:endParaRPr lang="en-US" sz="3600" dirty="0"/>
          </a:p>
        </p:txBody>
      </p:sp>
      <p:sp>
        <p:nvSpPr>
          <p:cNvPr id="11" name="TextBox 10">
            <a:extLst>
              <a:ext uri="{FF2B5EF4-FFF2-40B4-BE49-F238E27FC236}">
                <a16:creationId xmlns:a16="http://schemas.microsoft.com/office/drawing/2014/main" id="{A7CF7502-CF88-ED76-425C-93F1166598D5}"/>
              </a:ext>
            </a:extLst>
          </p:cNvPr>
          <p:cNvSpPr txBox="1"/>
          <p:nvPr/>
        </p:nvSpPr>
        <p:spPr>
          <a:xfrm>
            <a:off x="516553"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1191516" y="5807970"/>
            <a:ext cx="10175920" cy="641396"/>
          </a:xfrm>
        </p:spPr>
        <p:txBody>
          <a:bodyPr anchor="ctr"/>
          <a:lstStyle/>
          <a:p>
            <a:r>
              <a:rPr lang="en-AU" sz="3600" dirty="0"/>
              <a:t>All the above</a:t>
            </a:r>
            <a:endParaRPr lang="en-US" sz="3600" dirty="0"/>
          </a:p>
        </p:txBody>
      </p:sp>
      <p:sp>
        <p:nvSpPr>
          <p:cNvPr id="2" name="Slide Number Placeholder 1">
            <a:extLst>
              <a:ext uri="{FF2B5EF4-FFF2-40B4-BE49-F238E27FC236}">
                <a16:creationId xmlns:a16="http://schemas.microsoft.com/office/drawing/2014/main" id="{9B65148B-F5B2-7EDD-CE57-A079E0DD806D}"/>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34A86AD-4586-551E-CC13-B4D1DC136A30}"/>
              </a:ext>
            </a:extLst>
          </p:cNvPr>
          <p:cNvSpPr txBox="1"/>
          <p:nvPr/>
        </p:nvSpPr>
        <p:spPr>
          <a:xfrm>
            <a:off x="837398" y="878514"/>
            <a:ext cx="10286602" cy="4144661"/>
          </a:xfrm>
          <a:prstGeom prst="rect">
            <a:avLst/>
          </a:prstGeom>
          <a:noFill/>
        </p:spPr>
        <p:txBody>
          <a:bodyPr wrap="square">
            <a:spAutoFit/>
          </a:bodyPr>
          <a:lstStyle/>
          <a:p>
            <a:pPr algn="ctr">
              <a:lnSpc>
                <a:spcPct val="150000"/>
              </a:lnSpc>
            </a:pPr>
            <a:r>
              <a:rPr lang="en-AU" sz="3600" dirty="0"/>
              <a:t>The numbers </a:t>
            </a:r>
            <a:r>
              <a:rPr lang="en-AU" sz="3600" b="1" dirty="0"/>
              <a:t>745</a:t>
            </a:r>
            <a:r>
              <a:rPr lang="en-AU" sz="3600" dirty="0"/>
              <a:t>, </a:t>
            </a:r>
            <a:r>
              <a:rPr lang="en-AU" sz="3600" b="1" dirty="0"/>
              <a:t>860</a:t>
            </a:r>
            <a:r>
              <a:rPr lang="en-AU" sz="3600" dirty="0"/>
              <a:t>, and </a:t>
            </a:r>
            <a:r>
              <a:rPr lang="en-AU" sz="3600" b="1" dirty="0"/>
              <a:t>805</a:t>
            </a:r>
            <a:r>
              <a:rPr lang="en-AU" sz="3600" dirty="0"/>
              <a:t> are positioned on a number line.</a:t>
            </a:r>
            <a:br>
              <a:rPr lang="en-AU" sz="3600" dirty="0"/>
            </a:br>
            <a:r>
              <a:rPr lang="en-AU" sz="3600" dirty="0"/>
              <a:t>Which number is </a:t>
            </a:r>
            <a:r>
              <a:rPr lang="en-AU" sz="3600" b="1" dirty="0"/>
              <a:t>closest to 900</a:t>
            </a:r>
            <a:r>
              <a:rPr lang="en-AU" sz="3600" dirty="0"/>
              <a:t>? </a:t>
            </a:r>
          </a:p>
          <a:p>
            <a:pPr algn="ctr">
              <a:lnSpc>
                <a:spcPct val="150000"/>
              </a:lnSpc>
            </a:pPr>
            <a:r>
              <a:rPr lang="en-AU" sz="3600" dirty="0"/>
              <a:t>Which number is </a:t>
            </a:r>
            <a:r>
              <a:rPr lang="en-AU" sz="3600" b="1" dirty="0"/>
              <a:t>closest to 700</a:t>
            </a:r>
            <a:r>
              <a:rPr lang="en-AU" sz="3600" dirty="0"/>
              <a:t>?</a:t>
            </a:r>
          </a:p>
          <a:p>
            <a:pPr algn="ctr">
              <a:lnSpc>
                <a:spcPct val="150000"/>
              </a:lnSpc>
            </a:pPr>
            <a:r>
              <a:rPr lang="en-AU" sz="3600" dirty="0"/>
              <a:t>Which number is </a:t>
            </a:r>
            <a:r>
              <a:rPr lang="en-AU" sz="3600" b="1" dirty="0"/>
              <a:t>closest to 800?</a:t>
            </a:r>
          </a:p>
        </p:txBody>
      </p:sp>
      <p:pic>
        <p:nvPicPr>
          <p:cNvPr id="8" name="Picture 7" descr="Number line marked 700 to 900. ">
            <a:extLst>
              <a:ext uri="{FF2B5EF4-FFF2-40B4-BE49-F238E27FC236}">
                <a16:creationId xmlns:a16="http://schemas.microsoft.com/office/drawing/2014/main" id="{4022D192-DCF7-3CA1-1A99-5D17CB531A7F}"/>
              </a:ext>
            </a:extLst>
          </p:cNvPr>
          <p:cNvPicPr>
            <a:picLocks noChangeAspect="1"/>
          </p:cNvPicPr>
          <p:nvPr/>
        </p:nvPicPr>
        <p:blipFill>
          <a:blip r:embed="rId4"/>
          <a:stretch>
            <a:fillRect/>
          </a:stretch>
        </p:blipFill>
        <p:spPr>
          <a:xfrm>
            <a:off x="1264320" y="5026329"/>
            <a:ext cx="9432757" cy="1831671"/>
          </a:xfrm>
          <a:prstGeom prst="rect">
            <a:avLst/>
          </a:prstGeom>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1E6B576-AB78-ED30-1E6C-B87888FB6E19}"/>
              </a:ext>
            </a:extLst>
          </p:cNvPr>
          <p:cNvSpPr txBox="1"/>
          <p:nvPr/>
        </p:nvSpPr>
        <p:spPr>
          <a:xfrm>
            <a:off x="912366" y="1851935"/>
            <a:ext cx="10367268" cy="1998176"/>
          </a:xfrm>
          <a:prstGeom prst="rect">
            <a:avLst/>
          </a:prstGeom>
          <a:noFill/>
        </p:spPr>
        <p:txBody>
          <a:bodyPr wrap="square">
            <a:spAutoFit/>
          </a:bodyPr>
          <a:lstStyle/>
          <a:p>
            <a:pPr algn="ctr">
              <a:lnSpc>
                <a:spcPct val="150000"/>
              </a:lnSpc>
            </a:pPr>
            <a:r>
              <a:rPr lang="en-AU" sz="4400" dirty="0"/>
              <a:t>Record 10 </a:t>
            </a:r>
            <a:r>
              <a:rPr lang="en-AU" sz="4400" b="1" dirty="0"/>
              <a:t>combinations</a:t>
            </a:r>
            <a:r>
              <a:rPr lang="en-AU" sz="4400" dirty="0"/>
              <a:t> of 2 numbers that add to </a:t>
            </a:r>
            <a:r>
              <a:rPr lang="en-AU" sz="4400" b="1" dirty="0"/>
              <a:t>16</a:t>
            </a:r>
            <a:r>
              <a:rPr lang="en-AU" sz="4400" dirty="0"/>
              <a:t>.</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26250" y="122929"/>
            <a:ext cx="915500" cy="915500"/>
          </a:xfrm>
          <a:prstGeom prst="rect">
            <a:avLst/>
          </a:prstGeom>
        </p:spPr>
      </p:pic>
      <p:sp>
        <p:nvSpPr>
          <p:cNvPr id="5" name="TextBox 4">
            <a:extLst>
              <a:ext uri="{FF2B5EF4-FFF2-40B4-BE49-F238E27FC236}">
                <a16:creationId xmlns:a16="http://schemas.microsoft.com/office/drawing/2014/main" id="{312FE15D-5654-3BE8-4839-A7CECF260603}"/>
              </a:ext>
            </a:extLst>
          </p:cNvPr>
          <p:cNvSpPr txBox="1"/>
          <p:nvPr/>
        </p:nvSpPr>
        <p:spPr>
          <a:xfrm>
            <a:off x="2751885" y="1015623"/>
            <a:ext cx="6094520" cy="646331"/>
          </a:xfrm>
          <a:prstGeom prst="rect">
            <a:avLst/>
          </a:prstGeom>
          <a:noFill/>
        </p:spPr>
        <p:txBody>
          <a:bodyPr wrap="square">
            <a:spAutoFit/>
          </a:bodyPr>
          <a:lstStyle/>
          <a:p>
            <a:pPr algn="ctr"/>
            <a:r>
              <a:rPr lang="en-AU" sz="3600"/>
              <a:t>Each bucket has 4 balls.</a:t>
            </a:r>
          </a:p>
        </p:txBody>
      </p:sp>
      <p:pic>
        <p:nvPicPr>
          <p:cNvPr id="11" name="Picture 10" descr="3 grey buckets">
            <a:extLst>
              <a:ext uri="{FF2B5EF4-FFF2-40B4-BE49-F238E27FC236}">
                <a16:creationId xmlns:a16="http://schemas.microsoft.com/office/drawing/2014/main" id="{2A413CA6-2531-61D3-222F-1214D1112EA8}"/>
              </a:ext>
            </a:extLst>
          </p:cNvPr>
          <p:cNvPicPr>
            <a:picLocks noChangeAspect="1"/>
          </p:cNvPicPr>
          <p:nvPr/>
        </p:nvPicPr>
        <p:blipFill>
          <a:blip r:embed="rId4"/>
          <a:stretch>
            <a:fillRect/>
          </a:stretch>
        </p:blipFill>
        <p:spPr>
          <a:xfrm>
            <a:off x="3317178" y="1646337"/>
            <a:ext cx="4963933" cy="2355434"/>
          </a:xfrm>
          <a:prstGeom prst="rect">
            <a:avLst/>
          </a:prstGeom>
        </p:spPr>
      </p:pic>
      <p:sp>
        <p:nvSpPr>
          <p:cNvPr id="9" name="TextBox 8">
            <a:extLst>
              <a:ext uri="{FF2B5EF4-FFF2-40B4-BE49-F238E27FC236}">
                <a16:creationId xmlns:a16="http://schemas.microsoft.com/office/drawing/2014/main" id="{84A21CCB-4776-A909-DAC4-F7B9D805D4EF}"/>
              </a:ext>
            </a:extLst>
          </p:cNvPr>
          <p:cNvSpPr txBox="1"/>
          <p:nvPr/>
        </p:nvSpPr>
        <p:spPr>
          <a:xfrm>
            <a:off x="360000" y="4017552"/>
            <a:ext cx="10881804" cy="2482667"/>
          </a:xfrm>
          <a:prstGeom prst="rect">
            <a:avLst/>
          </a:prstGeom>
          <a:noFill/>
        </p:spPr>
        <p:txBody>
          <a:bodyPr wrap="square">
            <a:spAutoFit/>
          </a:bodyPr>
          <a:lstStyle/>
          <a:p>
            <a:pPr>
              <a:lnSpc>
                <a:spcPct val="150000"/>
              </a:lnSpc>
            </a:pPr>
            <a:endParaRPr lang="en-AU" sz="3600" dirty="0"/>
          </a:p>
          <a:p>
            <a:pPr algn="ctr">
              <a:lnSpc>
                <a:spcPct val="150000"/>
              </a:lnSpc>
            </a:pPr>
            <a:r>
              <a:rPr lang="en-AU" sz="3600" dirty="0"/>
              <a:t>Record the repeated addition number sentence and answer.</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3×3 white cube shelf containing different toys and objects.&#10;Top row: A brown teddy bear in the top left cubby, colourful building blocks in the top middle cubby, and a yellow-and-red toy dump truck in the top right cubby.&#10;Middle row: A blue container filled with coloured pencils in the middle left cubby, an orange basketball in the centre cubby, and a rainbow slinky toy in the middle right cubby.&#10;Bottom row: A scrambled Rubik’s cube in the bottom left cubby, a blue Connect Four game in the bottom middle cubby, and a red-haired doll wearing blue overalls in the bottom right cubby.">
            <a:extLst>
              <a:ext uri="{FF2B5EF4-FFF2-40B4-BE49-F238E27FC236}">
                <a16:creationId xmlns:a16="http://schemas.microsoft.com/office/drawing/2014/main" id="{0C9F8DC6-8C86-41F2-1672-106012CF52C9}"/>
              </a:ext>
            </a:extLst>
          </p:cNvPr>
          <p:cNvPicPr>
            <a:picLocks noChangeAspect="1"/>
          </p:cNvPicPr>
          <p:nvPr/>
        </p:nvPicPr>
        <p:blipFill>
          <a:blip r:embed="rId4"/>
          <a:stretch>
            <a:fillRect/>
          </a:stretch>
        </p:blipFill>
        <p:spPr>
          <a:xfrm>
            <a:off x="647552" y="1442131"/>
            <a:ext cx="4540483" cy="464843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9491A0D4-9F16-427E-BA58-2E002812B7CC}"/>
              </a:ext>
            </a:extLst>
          </p:cNvPr>
          <p:cNvSpPr txBox="1"/>
          <p:nvPr/>
        </p:nvSpPr>
        <p:spPr>
          <a:xfrm>
            <a:off x="5749480" y="1184223"/>
            <a:ext cx="6094520" cy="4975657"/>
          </a:xfrm>
          <a:prstGeom prst="rect">
            <a:avLst/>
          </a:prstGeom>
          <a:noFill/>
        </p:spPr>
        <p:txBody>
          <a:bodyPr wrap="square">
            <a:spAutoFit/>
          </a:bodyPr>
          <a:lstStyle/>
          <a:p>
            <a:pPr>
              <a:lnSpc>
                <a:spcPct val="150000"/>
              </a:lnSpc>
            </a:pPr>
            <a:r>
              <a:rPr lang="en-AU" sz="3600"/>
              <a:t>Record the object that is on the:</a:t>
            </a:r>
          </a:p>
          <a:p>
            <a:pPr marL="571500" indent="-571500">
              <a:lnSpc>
                <a:spcPct val="150000"/>
              </a:lnSpc>
              <a:buFont typeface="Arial" panose="020B0604020202020204" pitchFamily="34" charset="0"/>
              <a:buChar char="•"/>
            </a:pPr>
            <a:r>
              <a:rPr lang="en-AU" sz="3600"/>
              <a:t>left of the basketball</a:t>
            </a:r>
          </a:p>
          <a:p>
            <a:pPr marL="571500" indent="-571500">
              <a:lnSpc>
                <a:spcPct val="150000"/>
              </a:lnSpc>
              <a:buFont typeface="Arial" panose="020B0604020202020204" pitchFamily="34" charset="0"/>
              <a:buChar char="•"/>
            </a:pPr>
            <a:r>
              <a:rPr lang="en-AU" sz="3600"/>
              <a:t>right of the rubrics cube</a:t>
            </a:r>
          </a:p>
          <a:p>
            <a:pPr marL="571500" indent="-571500">
              <a:lnSpc>
                <a:spcPct val="150000"/>
              </a:lnSpc>
              <a:buFont typeface="Arial" panose="020B0604020202020204" pitchFamily="34" charset="0"/>
              <a:buChar char="•"/>
            </a:pPr>
            <a:r>
              <a:rPr lang="en-AU" sz="3600"/>
              <a:t>below the teddy bear</a:t>
            </a:r>
          </a:p>
          <a:p>
            <a:pPr marL="571500" indent="-571500">
              <a:lnSpc>
                <a:spcPct val="150000"/>
              </a:lnSpc>
              <a:buFont typeface="Arial" panose="020B0604020202020204" pitchFamily="34" charset="0"/>
              <a:buChar char="•"/>
            </a:pPr>
            <a:r>
              <a:rPr lang="en-AU" sz="3600"/>
              <a:t>above the slinky</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a:t>
            </a:r>
            <a:r>
              <a:rPr lang="en-AU">
                <a:latin typeface="Arial"/>
                <a:cs typeface="Arial"/>
              </a:rPr>
              <a:t>place value through partitioning</a:t>
            </a:r>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15 bundles of craft sticks and 7 single craft sticks.">
            <a:extLst>
              <a:ext uri="{FF2B5EF4-FFF2-40B4-BE49-F238E27FC236}">
                <a16:creationId xmlns:a16="http://schemas.microsoft.com/office/drawing/2014/main" id="{3E9F2413-459C-43FD-5ADB-EF448375EFB6}"/>
              </a:ext>
            </a:extLst>
          </p:cNvPr>
          <p:cNvPicPr>
            <a:picLocks noChangeAspect="1"/>
          </p:cNvPicPr>
          <p:nvPr/>
        </p:nvPicPr>
        <p:blipFill>
          <a:blip r:embed="rId4"/>
          <a:stretch>
            <a:fillRect/>
          </a:stretch>
        </p:blipFill>
        <p:spPr>
          <a:xfrm>
            <a:off x="1530359" y="1031243"/>
            <a:ext cx="9700625" cy="5574757"/>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039527" y="1625946"/>
            <a:ext cx="10084473" cy="893226"/>
          </a:xfrm>
        </p:spPr>
        <p:txBody>
          <a:bodyPr/>
          <a:lstStyle/>
          <a:p>
            <a:r>
              <a:rPr lang="en-AU" sz="4400" dirty="0"/>
              <a:t>253 can be partitioned as 25 </a:t>
            </a:r>
            <a:r>
              <a:rPr lang="en-AU" sz="4400" b="1" dirty="0"/>
              <a:t>tens</a:t>
            </a:r>
            <a:r>
              <a:rPr lang="en-AU" sz="4400" dirty="0"/>
              <a:t> and 3 </a:t>
            </a:r>
            <a:r>
              <a:rPr lang="en-AU" sz="4400" b="1" dirty="0"/>
              <a:t>ones</a:t>
            </a:r>
            <a:r>
              <a:rPr lang="en-AU" sz="4400" dirty="0"/>
              <a:t>, or as 25 </a:t>
            </a:r>
            <a:r>
              <a:rPr lang="en-AU" sz="4400" b="1" dirty="0"/>
              <a:t>tens</a:t>
            </a:r>
            <a:r>
              <a:rPr lang="en-AU" sz="4400" dirty="0"/>
              <a:t> and 3 </a:t>
            </a:r>
            <a:r>
              <a:rPr lang="en-AU" sz="4400" b="1" dirty="0"/>
              <a:t>ones</a:t>
            </a:r>
            <a:r>
              <a:rPr lang="en-AU" sz="4400" dirty="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A49D8A6-9372-6506-F5D7-630591FEC5F1}"/>
              </a:ext>
            </a:extLst>
          </p:cNvPr>
          <p:cNvSpPr txBox="1"/>
          <p:nvPr/>
        </p:nvSpPr>
        <p:spPr>
          <a:xfrm>
            <a:off x="624038" y="1184223"/>
            <a:ext cx="10943923" cy="3013838"/>
          </a:xfrm>
          <a:prstGeom prst="rect">
            <a:avLst/>
          </a:prstGeom>
          <a:noFill/>
        </p:spPr>
        <p:txBody>
          <a:bodyPr wrap="square">
            <a:spAutoFit/>
          </a:bodyPr>
          <a:lstStyle/>
          <a:p>
            <a:pPr algn="ctr">
              <a:lnSpc>
                <a:spcPct val="150000"/>
              </a:lnSpc>
            </a:pPr>
            <a:r>
              <a:rPr lang="en-AU" sz="4400"/>
              <a:t>Write the numbers </a:t>
            </a:r>
            <a:r>
              <a:rPr lang="en-AU" sz="4400" b="1"/>
              <a:t>648</a:t>
            </a:r>
            <a:r>
              <a:rPr lang="en-AU" sz="4400"/>
              <a:t>, </a:t>
            </a:r>
            <a:r>
              <a:rPr lang="en-AU" sz="4400" b="1"/>
              <a:t>725</a:t>
            </a:r>
            <a:r>
              <a:rPr lang="en-AU" sz="4400"/>
              <a:t>, </a:t>
            </a:r>
            <a:r>
              <a:rPr lang="en-AU" sz="4400" b="1"/>
              <a:t>589</a:t>
            </a:r>
            <a:r>
              <a:rPr lang="en-AU" sz="4400"/>
              <a:t>, and </a:t>
            </a:r>
            <a:r>
              <a:rPr lang="en-AU" sz="4400" b="1"/>
              <a:t>703</a:t>
            </a:r>
            <a:r>
              <a:rPr lang="en-AU" sz="4400"/>
              <a:t> in order from smallest to largest on a number line. </a:t>
            </a:r>
          </a:p>
        </p:txBody>
      </p:sp>
      <p:pic>
        <p:nvPicPr>
          <p:cNvPr id="10" name="Picture 9" descr="A number line with arrows at both ends. The left is labelled 500, and the right is labelled 800. ">
            <a:extLst>
              <a:ext uri="{FF2B5EF4-FFF2-40B4-BE49-F238E27FC236}">
                <a16:creationId xmlns:a16="http://schemas.microsoft.com/office/drawing/2014/main" id="{B741ED22-69B0-4486-6BF2-99CED9BE6746}"/>
              </a:ext>
            </a:extLst>
          </p:cNvPr>
          <p:cNvPicPr>
            <a:picLocks noChangeAspect="1"/>
          </p:cNvPicPr>
          <p:nvPr/>
        </p:nvPicPr>
        <p:blipFill>
          <a:blip r:embed="rId4"/>
          <a:stretch>
            <a:fillRect/>
          </a:stretch>
        </p:blipFill>
        <p:spPr>
          <a:xfrm>
            <a:off x="1771048" y="4948565"/>
            <a:ext cx="8258476" cy="1657435"/>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2E385D4-E825-F6AF-7AC0-79FE869662F1}"/>
              </a:ext>
            </a:extLst>
          </p:cNvPr>
          <p:cNvSpPr txBox="1"/>
          <p:nvPr/>
        </p:nvSpPr>
        <p:spPr>
          <a:xfrm>
            <a:off x="395109" y="1257795"/>
            <a:ext cx="11550867" cy="4029501"/>
          </a:xfrm>
          <a:prstGeom prst="rect">
            <a:avLst/>
          </a:prstGeom>
          <a:noFill/>
        </p:spPr>
        <p:txBody>
          <a:bodyPr wrap="square">
            <a:spAutoFit/>
          </a:bodyPr>
          <a:lstStyle/>
          <a:p>
            <a:pPr algn="ctr">
              <a:lnSpc>
                <a:spcPct val="150000"/>
              </a:lnSpc>
            </a:pPr>
            <a:r>
              <a:rPr lang="en-AU" sz="4400" dirty="0"/>
              <a:t>The difference between 14 and 19 is the </a:t>
            </a:r>
            <a:r>
              <a:rPr lang="en-AU" sz="4400" b="1" dirty="0"/>
              <a:t>same as </a:t>
            </a:r>
            <a:r>
              <a:rPr lang="en-AU" sz="4400" dirty="0"/>
              <a:t>the difference between 25 and 30.</a:t>
            </a:r>
            <a:br>
              <a:rPr lang="en-AU" sz="4400" dirty="0"/>
            </a:br>
            <a:r>
              <a:rPr lang="en-AU" sz="4400" dirty="0"/>
              <a:t>Draw </a:t>
            </a:r>
            <a:r>
              <a:rPr lang="en-AU" sz="4400" b="1" dirty="0"/>
              <a:t>2 number lines </a:t>
            </a:r>
            <a:r>
              <a:rPr lang="en-AU" sz="4400" dirty="0"/>
              <a:t>to show the constant difference.</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26E2BC5-D145-FA02-A40A-9C4CD3CFA85B}"/>
              </a:ext>
            </a:extLst>
          </p:cNvPr>
          <p:cNvSpPr txBox="1"/>
          <p:nvPr/>
        </p:nvSpPr>
        <p:spPr>
          <a:xfrm>
            <a:off x="1213611" y="860158"/>
            <a:ext cx="9816865" cy="5979907"/>
          </a:xfrm>
          <a:prstGeom prst="rect">
            <a:avLst/>
          </a:prstGeom>
          <a:noFill/>
        </p:spPr>
        <p:txBody>
          <a:bodyPr wrap="square">
            <a:spAutoFit/>
          </a:bodyPr>
          <a:lstStyle/>
          <a:p>
            <a:pPr algn="ctr">
              <a:lnSpc>
                <a:spcPct val="150000"/>
              </a:lnSpc>
            </a:pPr>
            <a:r>
              <a:rPr lang="en-AU" sz="4400"/>
              <a:t>Sam has </a:t>
            </a:r>
            <a:r>
              <a:rPr lang="en-AU" sz="4400" b="1"/>
              <a:t>6 plates</a:t>
            </a:r>
            <a:r>
              <a:rPr lang="en-AU" sz="4400"/>
              <a:t>. There are </a:t>
            </a:r>
            <a:r>
              <a:rPr lang="en-AU" sz="4400" b="1"/>
              <a:t>3 cookies</a:t>
            </a:r>
            <a:r>
              <a:rPr lang="en-AU" sz="4400"/>
              <a:t> on each plate.</a:t>
            </a:r>
          </a:p>
          <a:p>
            <a:pPr algn="ctr">
              <a:lnSpc>
                <a:spcPct val="150000"/>
              </a:lnSpc>
            </a:pPr>
            <a:r>
              <a:rPr lang="en-AU" sz="4400"/>
              <a:t>Write a </a:t>
            </a:r>
            <a:r>
              <a:rPr lang="en-AU" sz="4400" b="1"/>
              <a:t>repeated addition </a:t>
            </a:r>
            <a:r>
              <a:rPr lang="en-AU" sz="4400"/>
              <a:t>number sentence to find the </a:t>
            </a:r>
            <a:r>
              <a:rPr lang="en-AU" sz="4400" b="1"/>
              <a:t>total</a:t>
            </a:r>
            <a:r>
              <a:rPr lang="en-AU" sz="4400"/>
              <a:t> number of cookies.</a:t>
            </a:r>
            <a:br>
              <a:rPr lang="en-AU" sz="4400"/>
            </a:br>
            <a:endParaRPr lang="en-AU" sz="4000"/>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1" name="Picture 10" descr="An orange pencil with a pink eraser is placed above a wooden ruler. The ruler is marked in centimetres from 0 to 15, with each centimetre divided into millimetres. The pencil measures  11 cm in length.">
            <a:extLst>
              <a:ext uri="{FF2B5EF4-FFF2-40B4-BE49-F238E27FC236}">
                <a16:creationId xmlns:a16="http://schemas.microsoft.com/office/drawing/2014/main" id="{4AF0428C-FBC2-5266-1112-226EB21E0FF0}"/>
              </a:ext>
            </a:extLst>
          </p:cNvPr>
          <p:cNvPicPr>
            <a:picLocks noChangeAspect="1"/>
          </p:cNvPicPr>
          <p:nvPr/>
        </p:nvPicPr>
        <p:blipFill>
          <a:blip r:embed="rId4"/>
          <a:stretch>
            <a:fillRect/>
          </a:stretch>
        </p:blipFill>
        <p:spPr>
          <a:xfrm>
            <a:off x="2144893" y="989106"/>
            <a:ext cx="8330733" cy="2052265"/>
          </a:xfrm>
          <a:prstGeom prst="rect">
            <a:avLst/>
          </a:prstGeom>
        </p:spPr>
      </p:pic>
      <p:sp>
        <p:nvSpPr>
          <p:cNvPr id="9" name="Text Placeholder 5">
            <a:extLst>
              <a:ext uri="{FF2B5EF4-FFF2-40B4-BE49-F238E27FC236}">
                <a16:creationId xmlns:a16="http://schemas.microsoft.com/office/drawing/2014/main" id="{505D1545-897A-EA3F-C461-5084B4C0C631}"/>
              </a:ext>
            </a:extLst>
          </p:cNvPr>
          <p:cNvSpPr txBox="1">
            <a:spLocks/>
          </p:cNvSpPr>
          <p:nvPr/>
        </p:nvSpPr>
        <p:spPr>
          <a:xfrm>
            <a:off x="1137896" y="3312221"/>
            <a:ext cx="10084473" cy="318577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What is the </a:t>
            </a:r>
            <a:r>
              <a:rPr lang="en-AU" sz="4400" b="1"/>
              <a:t>length</a:t>
            </a:r>
            <a:r>
              <a:rPr lang="en-AU" sz="4400"/>
              <a:t> of the pencil? Record your answer using the abbreviation for </a:t>
            </a:r>
            <a:r>
              <a:rPr lang="en-AU" sz="4400" b="1"/>
              <a:t>centimetres</a:t>
            </a:r>
            <a:r>
              <a:rPr lang="en-AU" sz="4400"/>
              <a:t>.</a:t>
            </a:r>
            <a:endParaRPr lang="en-AU" sz="4400" b="1"/>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t>
            </a:r>
            <a:r>
              <a:rPr lang="en-AU">
                <a:latin typeface="Arial"/>
                <a:cs typeface="Arial"/>
              </a:rPr>
              <a:t>partitioning with tens and ones</a:t>
            </a:r>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24 bundles of craft sticks and 3 single craft sticks">
            <a:extLst>
              <a:ext uri="{FF2B5EF4-FFF2-40B4-BE49-F238E27FC236}">
                <a16:creationId xmlns:a16="http://schemas.microsoft.com/office/drawing/2014/main" id="{9040B0BE-1DAC-185C-B165-14406F3DA9F1}"/>
              </a:ext>
            </a:extLst>
          </p:cNvPr>
          <p:cNvGrpSpPr/>
          <p:nvPr/>
        </p:nvGrpSpPr>
        <p:grpSpPr>
          <a:xfrm>
            <a:off x="1502979" y="1397876"/>
            <a:ext cx="8628993" cy="5298124"/>
            <a:chOff x="193494" y="147904"/>
            <a:chExt cx="8138760" cy="4902509"/>
          </a:xfrm>
        </p:grpSpPr>
        <p:sp>
          <p:nvSpPr>
            <p:cNvPr id="5" name="Freeform 2">
              <a:extLst>
                <a:ext uri="{FF2B5EF4-FFF2-40B4-BE49-F238E27FC236}">
                  <a16:creationId xmlns:a16="http://schemas.microsoft.com/office/drawing/2014/main" id="{48C73F85-9674-62F9-E43F-8431C6605F63}"/>
                </a:ext>
              </a:extLst>
            </p:cNvPr>
            <p:cNvSpPr/>
            <p:nvPr/>
          </p:nvSpPr>
          <p:spPr>
            <a:xfrm>
              <a:off x="193494" y="147904"/>
              <a:ext cx="4210958" cy="3799158"/>
            </a:xfrm>
            <a:custGeom>
              <a:avLst/>
              <a:gdLst/>
              <a:ahLst/>
              <a:cxnLst/>
              <a:rect l="l" t="t" r="r" b="b"/>
              <a:pathLst>
                <a:path w="4210958" h="3799158">
                  <a:moveTo>
                    <a:pt x="0" y="0"/>
                  </a:moveTo>
                  <a:lnTo>
                    <a:pt x="4210959" y="0"/>
                  </a:lnTo>
                  <a:lnTo>
                    <a:pt x="4210959" y="3799158"/>
                  </a:lnTo>
                  <a:lnTo>
                    <a:pt x="0" y="3799158"/>
                  </a:lnTo>
                  <a:lnTo>
                    <a:pt x="0" y="0"/>
                  </a:lnTo>
                  <a:close/>
                </a:path>
              </a:pathLst>
            </a:custGeom>
            <a:blipFill>
              <a:blip r:embed="rId4"/>
              <a:stretch>
                <a:fillRect r="-56905"/>
              </a:stretch>
            </a:blipFill>
          </p:spPr>
          <p:txBody>
            <a:bodyPr/>
            <a:lstStyle/>
            <a:p>
              <a:endParaRPr lang="en-AU"/>
            </a:p>
          </p:txBody>
        </p:sp>
        <p:sp>
          <p:nvSpPr>
            <p:cNvPr id="7" name="Freeform 3">
              <a:extLst>
                <a:ext uri="{FF2B5EF4-FFF2-40B4-BE49-F238E27FC236}">
                  <a16:creationId xmlns:a16="http://schemas.microsoft.com/office/drawing/2014/main" id="{4362539E-3B2A-C6F8-2032-98EBEAF6BD5D}"/>
                </a:ext>
              </a:extLst>
            </p:cNvPr>
            <p:cNvSpPr/>
            <p:nvPr/>
          </p:nvSpPr>
          <p:spPr>
            <a:xfrm>
              <a:off x="4944519" y="147904"/>
              <a:ext cx="3387735" cy="1733000"/>
            </a:xfrm>
            <a:custGeom>
              <a:avLst/>
              <a:gdLst/>
              <a:ahLst/>
              <a:cxnLst/>
              <a:rect l="l" t="t" r="r" b="b"/>
              <a:pathLst>
                <a:path w="3387735" h="1733000">
                  <a:moveTo>
                    <a:pt x="0" y="0"/>
                  </a:moveTo>
                  <a:lnTo>
                    <a:pt x="3387734" y="0"/>
                  </a:lnTo>
                  <a:lnTo>
                    <a:pt x="3387734" y="1732999"/>
                  </a:lnTo>
                  <a:lnTo>
                    <a:pt x="0" y="1732999"/>
                  </a:lnTo>
                  <a:lnTo>
                    <a:pt x="0" y="0"/>
                  </a:lnTo>
                  <a:close/>
                </a:path>
              </a:pathLst>
            </a:custGeom>
            <a:blipFill>
              <a:blip r:embed="rId5"/>
              <a:stretch>
                <a:fillRect/>
              </a:stretch>
            </a:blipFill>
          </p:spPr>
          <p:txBody>
            <a:bodyPr/>
            <a:lstStyle/>
            <a:p>
              <a:endParaRPr lang="en-AU"/>
            </a:p>
          </p:txBody>
        </p:sp>
        <p:sp>
          <p:nvSpPr>
            <p:cNvPr id="8" name="Freeform 4">
              <a:extLst>
                <a:ext uri="{FF2B5EF4-FFF2-40B4-BE49-F238E27FC236}">
                  <a16:creationId xmlns:a16="http://schemas.microsoft.com/office/drawing/2014/main" id="{A65174AC-13E4-8879-AF68-7300C9B5FAAB}"/>
                </a:ext>
              </a:extLst>
            </p:cNvPr>
            <p:cNvSpPr/>
            <p:nvPr/>
          </p:nvSpPr>
          <p:spPr>
            <a:xfrm>
              <a:off x="4707338" y="3112078"/>
              <a:ext cx="108297" cy="875127"/>
            </a:xfrm>
            <a:custGeom>
              <a:avLst/>
              <a:gdLst/>
              <a:ahLst/>
              <a:cxnLst/>
              <a:rect l="l" t="t" r="r" b="b"/>
              <a:pathLst>
                <a:path w="108297" h="875127">
                  <a:moveTo>
                    <a:pt x="0" y="0"/>
                  </a:moveTo>
                  <a:lnTo>
                    <a:pt x="108297" y="0"/>
                  </a:lnTo>
                  <a:lnTo>
                    <a:pt x="108297" y="875127"/>
                  </a:lnTo>
                  <a:lnTo>
                    <a:pt x="0" y="875127"/>
                  </a:lnTo>
                  <a:lnTo>
                    <a:pt x="0" y="0"/>
                  </a:lnTo>
                  <a:close/>
                </a:path>
              </a:pathLst>
            </a:custGeom>
            <a:blipFill>
              <a:blip r:embed="rId6"/>
              <a:stretch>
                <a:fillRect/>
              </a:stretch>
            </a:blipFill>
          </p:spPr>
          <p:txBody>
            <a:bodyPr/>
            <a:lstStyle/>
            <a:p>
              <a:endParaRPr lang="en-AU"/>
            </a:p>
          </p:txBody>
        </p:sp>
        <p:sp>
          <p:nvSpPr>
            <p:cNvPr id="9" name="Freeform 5">
              <a:extLst>
                <a:ext uri="{FF2B5EF4-FFF2-40B4-BE49-F238E27FC236}">
                  <a16:creationId xmlns:a16="http://schemas.microsoft.com/office/drawing/2014/main" id="{7A16DEF1-009C-26C4-8FC0-853CC37EB568}"/>
                </a:ext>
              </a:extLst>
            </p:cNvPr>
            <p:cNvSpPr/>
            <p:nvPr/>
          </p:nvSpPr>
          <p:spPr>
            <a:xfrm>
              <a:off x="4962370" y="3112078"/>
              <a:ext cx="108297" cy="875127"/>
            </a:xfrm>
            <a:custGeom>
              <a:avLst/>
              <a:gdLst/>
              <a:ahLst/>
              <a:cxnLst/>
              <a:rect l="l" t="t" r="r" b="b"/>
              <a:pathLst>
                <a:path w="108297" h="875127">
                  <a:moveTo>
                    <a:pt x="0" y="0"/>
                  </a:moveTo>
                  <a:lnTo>
                    <a:pt x="108297" y="0"/>
                  </a:lnTo>
                  <a:lnTo>
                    <a:pt x="108297" y="875127"/>
                  </a:lnTo>
                  <a:lnTo>
                    <a:pt x="0" y="875127"/>
                  </a:lnTo>
                  <a:lnTo>
                    <a:pt x="0" y="0"/>
                  </a:lnTo>
                  <a:close/>
                </a:path>
              </a:pathLst>
            </a:custGeom>
            <a:blipFill>
              <a:blip r:embed="rId6"/>
              <a:stretch>
                <a:fillRect/>
              </a:stretch>
            </a:blipFill>
          </p:spPr>
          <p:txBody>
            <a:bodyPr/>
            <a:lstStyle/>
            <a:p>
              <a:endParaRPr lang="en-AU"/>
            </a:p>
          </p:txBody>
        </p:sp>
        <p:sp>
          <p:nvSpPr>
            <p:cNvPr id="10" name="Freeform 6">
              <a:extLst>
                <a:ext uri="{FF2B5EF4-FFF2-40B4-BE49-F238E27FC236}">
                  <a16:creationId xmlns:a16="http://schemas.microsoft.com/office/drawing/2014/main" id="{2ADBB8F2-B083-FF0F-8959-4970F43E7E17}"/>
                </a:ext>
              </a:extLst>
            </p:cNvPr>
            <p:cNvSpPr/>
            <p:nvPr/>
          </p:nvSpPr>
          <p:spPr>
            <a:xfrm>
              <a:off x="5217402" y="3112078"/>
              <a:ext cx="108297" cy="875127"/>
            </a:xfrm>
            <a:custGeom>
              <a:avLst/>
              <a:gdLst/>
              <a:ahLst/>
              <a:cxnLst/>
              <a:rect l="l" t="t" r="r" b="b"/>
              <a:pathLst>
                <a:path w="108297" h="875127">
                  <a:moveTo>
                    <a:pt x="0" y="0"/>
                  </a:moveTo>
                  <a:lnTo>
                    <a:pt x="108297" y="0"/>
                  </a:lnTo>
                  <a:lnTo>
                    <a:pt x="108297" y="875127"/>
                  </a:lnTo>
                  <a:lnTo>
                    <a:pt x="0" y="875127"/>
                  </a:lnTo>
                  <a:lnTo>
                    <a:pt x="0" y="0"/>
                  </a:lnTo>
                  <a:close/>
                </a:path>
              </a:pathLst>
            </a:custGeom>
            <a:blipFill>
              <a:blip r:embed="rId6"/>
              <a:stretch>
                <a:fillRect/>
              </a:stretch>
            </a:blipFill>
          </p:spPr>
          <p:txBody>
            <a:bodyPr/>
            <a:lstStyle/>
            <a:p>
              <a:endParaRPr lang="en-AU"/>
            </a:p>
          </p:txBody>
        </p:sp>
        <p:sp>
          <p:nvSpPr>
            <p:cNvPr id="11" name="Freeform 7">
              <a:extLst>
                <a:ext uri="{FF2B5EF4-FFF2-40B4-BE49-F238E27FC236}">
                  <a16:creationId xmlns:a16="http://schemas.microsoft.com/office/drawing/2014/main" id="{124CD76A-28DE-6EFA-CAD2-170967428B88}"/>
                </a:ext>
              </a:extLst>
            </p:cNvPr>
            <p:cNvSpPr/>
            <p:nvPr/>
          </p:nvSpPr>
          <p:spPr>
            <a:xfrm>
              <a:off x="4556913" y="1549066"/>
              <a:ext cx="3387735" cy="1733000"/>
            </a:xfrm>
            <a:custGeom>
              <a:avLst/>
              <a:gdLst/>
              <a:ahLst/>
              <a:cxnLst/>
              <a:rect l="l" t="t" r="r" b="b"/>
              <a:pathLst>
                <a:path w="3387735" h="1733000">
                  <a:moveTo>
                    <a:pt x="0" y="0"/>
                  </a:moveTo>
                  <a:lnTo>
                    <a:pt x="3387735" y="0"/>
                  </a:lnTo>
                  <a:lnTo>
                    <a:pt x="3387735" y="1733000"/>
                  </a:lnTo>
                  <a:lnTo>
                    <a:pt x="0" y="1733000"/>
                  </a:lnTo>
                  <a:lnTo>
                    <a:pt x="0" y="0"/>
                  </a:lnTo>
                  <a:close/>
                </a:path>
              </a:pathLst>
            </a:custGeom>
            <a:blipFill>
              <a:blip r:embed="rId5"/>
              <a:stretch>
                <a:fillRect/>
              </a:stretch>
            </a:blipFill>
          </p:spPr>
          <p:txBody>
            <a:bodyPr/>
            <a:lstStyle/>
            <a:p>
              <a:endParaRPr lang="en-AU"/>
            </a:p>
          </p:txBody>
        </p:sp>
        <p:grpSp>
          <p:nvGrpSpPr>
            <p:cNvPr id="12" name="Group 8">
              <a:extLst>
                <a:ext uri="{FF2B5EF4-FFF2-40B4-BE49-F238E27FC236}">
                  <a16:creationId xmlns:a16="http://schemas.microsoft.com/office/drawing/2014/main" id="{BA9C51B6-4ED7-C3D4-AFC5-5CD023553D2B}"/>
                </a:ext>
              </a:extLst>
            </p:cNvPr>
            <p:cNvGrpSpPr/>
            <p:nvPr/>
          </p:nvGrpSpPr>
          <p:grpSpPr>
            <a:xfrm rot="264315">
              <a:off x="200598" y="2554501"/>
              <a:ext cx="3452079" cy="2495912"/>
              <a:chOff x="0" y="-28575"/>
              <a:chExt cx="1237147" cy="894479"/>
            </a:xfrm>
          </p:grpSpPr>
          <p:sp>
            <p:nvSpPr>
              <p:cNvPr id="14" name="Freeform 9">
                <a:extLst>
                  <a:ext uri="{FF2B5EF4-FFF2-40B4-BE49-F238E27FC236}">
                    <a16:creationId xmlns:a16="http://schemas.microsoft.com/office/drawing/2014/main" id="{E488F370-9A44-2434-8153-4FC35784661C}"/>
                  </a:ext>
                </a:extLst>
              </p:cNvPr>
              <p:cNvSpPr/>
              <p:nvPr/>
            </p:nvSpPr>
            <p:spPr>
              <a:xfrm>
                <a:off x="0" y="0"/>
                <a:ext cx="1237147" cy="865904"/>
              </a:xfrm>
              <a:custGeom>
                <a:avLst/>
                <a:gdLst/>
                <a:ahLst/>
                <a:cxnLst/>
                <a:rect l="l" t="t" r="r" b="b"/>
                <a:pathLst>
                  <a:path w="1237147" h="865904">
                    <a:moveTo>
                      <a:pt x="0" y="0"/>
                    </a:moveTo>
                    <a:lnTo>
                      <a:pt x="1237147" y="0"/>
                    </a:lnTo>
                    <a:lnTo>
                      <a:pt x="1237147" y="865904"/>
                    </a:lnTo>
                    <a:lnTo>
                      <a:pt x="0" y="865904"/>
                    </a:lnTo>
                    <a:close/>
                  </a:path>
                </a:pathLst>
              </a:custGeom>
              <a:solidFill>
                <a:srgbClr val="FFFFFF"/>
              </a:solidFill>
            </p:spPr>
            <p:txBody>
              <a:bodyPr/>
              <a:lstStyle/>
              <a:p>
                <a:endParaRPr lang="en-AU"/>
              </a:p>
            </p:txBody>
          </p:sp>
          <p:sp>
            <p:nvSpPr>
              <p:cNvPr id="15" name="TextBox 10">
                <a:extLst>
                  <a:ext uri="{FF2B5EF4-FFF2-40B4-BE49-F238E27FC236}">
                    <a16:creationId xmlns:a16="http://schemas.microsoft.com/office/drawing/2014/main" id="{DADF2F22-6E9F-83BC-F01B-9C5070BF4A8C}"/>
                  </a:ext>
                </a:extLst>
              </p:cNvPr>
              <p:cNvSpPr txBox="1"/>
              <p:nvPr/>
            </p:nvSpPr>
            <p:spPr>
              <a:xfrm>
                <a:off x="0" y="-28575"/>
                <a:ext cx="1237147" cy="894479"/>
              </a:xfrm>
              <a:prstGeom prst="rect">
                <a:avLst/>
              </a:prstGeom>
            </p:spPr>
            <p:txBody>
              <a:bodyPr lIns="50800" tIns="50800" rIns="50800" bIns="50800" rtlCol="0" anchor="ctr"/>
              <a:lstStyle/>
              <a:p>
                <a:pPr algn="ctr">
                  <a:lnSpc>
                    <a:spcPts val="1960"/>
                  </a:lnSpc>
                </a:pPr>
                <a:endParaRPr/>
              </a:p>
            </p:txBody>
          </p:sp>
        </p:grpSp>
        <p:sp>
          <p:nvSpPr>
            <p:cNvPr id="13" name="Freeform 11">
              <a:extLst>
                <a:ext uri="{FF2B5EF4-FFF2-40B4-BE49-F238E27FC236}">
                  <a16:creationId xmlns:a16="http://schemas.microsoft.com/office/drawing/2014/main" id="{8591FDB1-2A98-4819-C1F6-6FEB74550572}"/>
                </a:ext>
              </a:extLst>
            </p:cNvPr>
            <p:cNvSpPr/>
            <p:nvPr/>
          </p:nvSpPr>
          <p:spPr>
            <a:xfrm>
              <a:off x="756000" y="2837808"/>
              <a:ext cx="2768242" cy="1423667"/>
            </a:xfrm>
            <a:custGeom>
              <a:avLst/>
              <a:gdLst/>
              <a:ahLst/>
              <a:cxnLst/>
              <a:rect l="l" t="t" r="r" b="b"/>
              <a:pathLst>
                <a:path w="2768242" h="1423667">
                  <a:moveTo>
                    <a:pt x="0" y="0"/>
                  </a:moveTo>
                  <a:lnTo>
                    <a:pt x="2768242" y="0"/>
                  </a:lnTo>
                  <a:lnTo>
                    <a:pt x="2768242" y="1423667"/>
                  </a:lnTo>
                  <a:lnTo>
                    <a:pt x="0" y="1423667"/>
                  </a:lnTo>
                  <a:lnTo>
                    <a:pt x="0" y="0"/>
                  </a:lnTo>
                  <a:close/>
                </a:path>
              </a:pathLst>
            </a:custGeom>
            <a:blipFill>
              <a:blip r:embed="rId7"/>
              <a:stretch>
                <a:fillRect/>
              </a:stretch>
            </a:blipFill>
          </p:spPr>
          <p:txBody>
            <a:bodyPr/>
            <a:lstStyle/>
            <a:p>
              <a:endParaRPr lang="en-AU"/>
            </a:p>
          </p:txBody>
        </p:sp>
      </p:gr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572708" y="1302808"/>
            <a:ext cx="11243037" cy="2291730"/>
          </a:xfrm>
        </p:spPr>
        <p:txBody>
          <a:bodyPr/>
          <a:lstStyle/>
          <a:p>
            <a:pPr algn="ctr"/>
            <a:r>
              <a:rPr lang="en-AU" sz="4400"/>
              <a:t>In the number 472, what is the </a:t>
            </a:r>
            <a:r>
              <a:rPr lang="en-AU" sz="4400" b="1"/>
              <a:t>quantity value </a:t>
            </a:r>
            <a:r>
              <a:rPr lang="en-AU" sz="4400"/>
              <a:t>of the </a:t>
            </a:r>
            <a:r>
              <a:rPr lang="en-AU" sz="4400" b="1"/>
              <a:t>digit</a:t>
            </a:r>
            <a:r>
              <a:rPr lang="en-AU" sz="4400"/>
              <a:t> 7?</a:t>
            </a:r>
            <a:endParaRPr lang="en-US" sz="4400"/>
          </a:p>
        </p:txBody>
      </p:sp>
      <p:graphicFrame>
        <p:nvGraphicFramePr>
          <p:cNvPr id="5" name="Table 4">
            <a:extLst>
              <a:ext uri="{FF2B5EF4-FFF2-40B4-BE49-F238E27FC236}">
                <a16:creationId xmlns:a16="http://schemas.microsoft.com/office/drawing/2014/main" id="{2B0EC8D6-113D-00C9-84F4-E78E1868EC63}"/>
              </a:ext>
            </a:extLst>
          </p:cNvPr>
          <p:cNvGraphicFramePr>
            <a:graphicFrameLocks noGrp="1"/>
          </p:cNvGraphicFramePr>
          <p:nvPr>
            <p:extLst>
              <p:ext uri="{D42A27DB-BD31-4B8C-83A1-F6EECF244321}">
                <p14:modId xmlns:p14="http://schemas.microsoft.com/office/powerpoint/2010/main" val="4102399317"/>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t>7</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70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700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7000</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DE49F2C-4059-D5DC-EB58-E9F689971253}"/>
              </a:ext>
            </a:extLst>
          </p:cNvPr>
          <p:cNvSpPr txBox="1"/>
          <p:nvPr/>
        </p:nvSpPr>
        <p:spPr>
          <a:xfrm>
            <a:off x="1391696" y="1184223"/>
            <a:ext cx="9408607" cy="4029501"/>
          </a:xfrm>
          <a:prstGeom prst="rect">
            <a:avLst/>
          </a:prstGeom>
          <a:noFill/>
        </p:spPr>
        <p:txBody>
          <a:bodyPr wrap="square">
            <a:spAutoFit/>
          </a:bodyPr>
          <a:lstStyle/>
          <a:p>
            <a:pPr algn="ctr">
              <a:lnSpc>
                <a:spcPct val="150000"/>
              </a:lnSpc>
            </a:pPr>
            <a:r>
              <a:rPr lang="en-AU" sz="4400" dirty="0"/>
              <a:t>Write the numbers </a:t>
            </a:r>
            <a:r>
              <a:rPr lang="en-AU" sz="4400" b="1" dirty="0"/>
              <a:t>3428</a:t>
            </a:r>
            <a:r>
              <a:rPr lang="en-AU" sz="4400" dirty="0"/>
              <a:t>, </a:t>
            </a:r>
            <a:r>
              <a:rPr lang="en-AU" sz="4400" b="1" dirty="0"/>
              <a:t>2915</a:t>
            </a:r>
            <a:r>
              <a:rPr lang="en-AU" sz="4400" dirty="0"/>
              <a:t>, </a:t>
            </a:r>
            <a:r>
              <a:rPr lang="en-AU" sz="4400" b="1" dirty="0"/>
              <a:t>4072</a:t>
            </a:r>
            <a:r>
              <a:rPr lang="en-AU" sz="4400" dirty="0"/>
              <a:t>, and </a:t>
            </a:r>
            <a:r>
              <a:rPr lang="en-AU" sz="4400" b="1" dirty="0"/>
              <a:t>3056</a:t>
            </a:r>
            <a:r>
              <a:rPr lang="en-AU" sz="4400" dirty="0"/>
              <a:t> in </a:t>
            </a:r>
            <a:r>
              <a:rPr lang="en-AU" sz="4400" b="1" dirty="0"/>
              <a:t>ascending order</a:t>
            </a:r>
            <a:r>
              <a:rPr lang="en-AU" sz="4400" dirty="0"/>
              <a:t>.</a:t>
            </a:r>
          </a:p>
          <a:p>
            <a:pPr algn="ctr">
              <a:lnSpc>
                <a:spcPct val="150000"/>
              </a:lnSpc>
            </a:pPr>
            <a:endParaRPr lang="en-AU" sz="4400" dirty="0"/>
          </a:p>
          <a:p>
            <a:pPr algn="ctr">
              <a:lnSpc>
                <a:spcPct val="150000"/>
              </a:lnSpc>
            </a:pPr>
            <a:r>
              <a:rPr lang="en-AU" sz="4400" b="1" dirty="0"/>
              <a:t>Communicate</a:t>
            </a:r>
            <a:r>
              <a:rPr lang="en-AU" sz="4400" dirty="0"/>
              <a:t> your </a:t>
            </a:r>
            <a:r>
              <a:rPr lang="en-AU" sz="4400" b="1" dirty="0"/>
              <a:t>reasoning</a:t>
            </a:r>
            <a:r>
              <a:rPr lang="en-AU" sz="4400" dirty="0"/>
              <a:t>. </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part-part-whole diagram with two yellow boxes on the top row and one green box on the bottom row. The left yellow box contains the number 8, the right yellow box contains a question mark (?), and the green box on the bottom contains the number 17.">
            <a:extLst>
              <a:ext uri="{FF2B5EF4-FFF2-40B4-BE49-F238E27FC236}">
                <a16:creationId xmlns:a16="http://schemas.microsoft.com/office/drawing/2014/main" id="{DC4D6A7E-F22A-AB8A-B06A-E8FE92342964}"/>
              </a:ext>
            </a:extLst>
          </p:cNvPr>
          <p:cNvPicPr>
            <a:picLocks noChangeAspect="1"/>
          </p:cNvPicPr>
          <p:nvPr/>
        </p:nvPicPr>
        <p:blipFill>
          <a:blip r:embed="rId4"/>
          <a:stretch>
            <a:fillRect/>
          </a:stretch>
        </p:blipFill>
        <p:spPr>
          <a:xfrm>
            <a:off x="2514656" y="1022226"/>
            <a:ext cx="7417181" cy="2406774"/>
          </a:xfrm>
          <a:prstGeom prst="rect">
            <a:avLst/>
          </a:prstGeom>
        </p:spPr>
      </p:pic>
      <p:sp>
        <p:nvSpPr>
          <p:cNvPr id="5" name="TextBox 4">
            <a:extLst>
              <a:ext uri="{FF2B5EF4-FFF2-40B4-BE49-F238E27FC236}">
                <a16:creationId xmlns:a16="http://schemas.microsoft.com/office/drawing/2014/main" id="{0B00596E-02B4-C358-4287-059AA669724F}"/>
              </a:ext>
            </a:extLst>
          </p:cNvPr>
          <p:cNvSpPr txBox="1"/>
          <p:nvPr/>
        </p:nvSpPr>
        <p:spPr>
          <a:xfrm>
            <a:off x="674704" y="3544336"/>
            <a:ext cx="11097087" cy="2482667"/>
          </a:xfrm>
          <a:prstGeom prst="rect">
            <a:avLst/>
          </a:prstGeom>
          <a:noFill/>
        </p:spPr>
        <p:txBody>
          <a:bodyPr wrap="square">
            <a:spAutoFit/>
          </a:bodyPr>
          <a:lstStyle/>
          <a:p>
            <a:pPr algn="ctr">
              <a:lnSpc>
                <a:spcPct val="150000"/>
              </a:lnSpc>
            </a:pPr>
            <a:r>
              <a:rPr lang="en-AU" sz="3600" dirty="0"/>
              <a:t>Write an </a:t>
            </a:r>
            <a:r>
              <a:rPr lang="en-AU" sz="3600" b="1" dirty="0"/>
              <a:t>addition number sentence </a:t>
            </a:r>
            <a:r>
              <a:rPr lang="en-AU" sz="3600" dirty="0"/>
              <a:t>and a </a:t>
            </a:r>
            <a:r>
              <a:rPr lang="en-AU" sz="3600" b="1" dirty="0"/>
              <a:t>subtraction number sentence </a:t>
            </a:r>
            <a:r>
              <a:rPr lang="en-AU" sz="3600" dirty="0"/>
              <a:t>to show how addition and subtraction are </a:t>
            </a:r>
            <a:r>
              <a:rPr lang="en-AU" sz="3600" b="1" dirty="0"/>
              <a:t>inverse operations</a:t>
            </a:r>
            <a:r>
              <a:rPr lang="en-AU" sz="3600" dirty="0"/>
              <a:t>.</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C345521-7919-8BEA-B62E-0973A8F2D70B}"/>
              </a:ext>
            </a:extLst>
          </p:cNvPr>
          <p:cNvSpPr txBox="1"/>
          <p:nvPr/>
        </p:nvSpPr>
        <p:spPr>
          <a:xfrm>
            <a:off x="1008955" y="941171"/>
            <a:ext cx="10174089" cy="4975657"/>
          </a:xfrm>
          <a:prstGeom prst="rect">
            <a:avLst/>
          </a:prstGeom>
          <a:noFill/>
        </p:spPr>
        <p:txBody>
          <a:bodyPr wrap="square">
            <a:spAutoFit/>
          </a:bodyPr>
          <a:lstStyle/>
          <a:p>
            <a:pPr algn="ctr">
              <a:lnSpc>
                <a:spcPct val="150000"/>
              </a:lnSpc>
            </a:pPr>
            <a:r>
              <a:rPr lang="en-AU" sz="3600" dirty="0"/>
              <a:t>A gardener plants </a:t>
            </a:r>
            <a:r>
              <a:rPr lang="en-AU" sz="3600" b="1" dirty="0"/>
              <a:t>5 rows</a:t>
            </a:r>
            <a:r>
              <a:rPr lang="en-AU" sz="3600" dirty="0"/>
              <a:t> of flowers with </a:t>
            </a:r>
            <a:r>
              <a:rPr lang="en-AU" sz="3600" b="1" dirty="0"/>
              <a:t>8 flowers</a:t>
            </a:r>
            <a:r>
              <a:rPr lang="en-AU" sz="3600" dirty="0"/>
              <a:t> in each row. </a:t>
            </a:r>
          </a:p>
          <a:p>
            <a:pPr algn="ctr">
              <a:lnSpc>
                <a:spcPct val="150000"/>
              </a:lnSpc>
            </a:pPr>
            <a:r>
              <a:rPr lang="en-AU" sz="3600" dirty="0"/>
              <a:t>Draw an </a:t>
            </a:r>
            <a:r>
              <a:rPr lang="en-AU" sz="3600" b="1" dirty="0"/>
              <a:t>array</a:t>
            </a:r>
            <a:r>
              <a:rPr lang="en-AU" sz="3600" dirty="0"/>
              <a:t> to represent this arrangement.</a:t>
            </a:r>
          </a:p>
          <a:p>
            <a:pPr algn="ctr">
              <a:lnSpc>
                <a:spcPct val="150000"/>
              </a:lnSpc>
            </a:pPr>
            <a:r>
              <a:rPr lang="en-AU" sz="3600" dirty="0"/>
              <a:t>If the gardener decides to plant the same number of flowers in </a:t>
            </a:r>
            <a:r>
              <a:rPr lang="en-AU" sz="3600" b="1" dirty="0"/>
              <a:t>8 rows</a:t>
            </a:r>
            <a:r>
              <a:rPr lang="en-AU" sz="3600" dirty="0"/>
              <a:t>, how many flowers will be in each row? Draw the new </a:t>
            </a:r>
            <a:r>
              <a:rPr lang="en-AU" sz="3600" b="1" dirty="0"/>
              <a:t>array</a:t>
            </a:r>
            <a:r>
              <a:rPr lang="en-AU" sz="3600" dirty="0"/>
              <a:t>.</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Three black triangles arranged separately">
            <a:extLst>
              <a:ext uri="{FF2B5EF4-FFF2-40B4-BE49-F238E27FC236}">
                <a16:creationId xmlns:a16="http://schemas.microsoft.com/office/drawing/2014/main" id="{05DDEF0D-70B0-903C-7682-ED84E66FDD36}"/>
              </a:ext>
            </a:extLst>
          </p:cNvPr>
          <p:cNvPicPr>
            <a:picLocks noChangeAspect="1"/>
          </p:cNvPicPr>
          <p:nvPr/>
        </p:nvPicPr>
        <p:blipFill>
          <a:blip r:embed="rId4"/>
          <a:stretch>
            <a:fillRect/>
          </a:stretch>
        </p:blipFill>
        <p:spPr>
          <a:xfrm>
            <a:off x="4276631" y="905601"/>
            <a:ext cx="3638737" cy="3410125"/>
          </a:xfrm>
          <a:prstGeom prst="rect">
            <a:avLst/>
          </a:prstGeom>
          <a:ln>
            <a:noFill/>
          </a:ln>
        </p:spPr>
      </p:pic>
      <p:sp>
        <p:nvSpPr>
          <p:cNvPr id="8" name="TextBox 7">
            <a:extLst>
              <a:ext uri="{FF2B5EF4-FFF2-40B4-BE49-F238E27FC236}">
                <a16:creationId xmlns:a16="http://schemas.microsoft.com/office/drawing/2014/main" id="{C62ED298-D32F-E679-A98E-428D3FB21320}"/>
              </a:ext>
            </a:extLst>
          </p:cNvPr>
          <p:cNvSpPr txBox="1"/>
          <p:nvPr/>
        </p:nvSpPr>
        <p:spPr>
          <a:xfrm>
            <a:off x="768625" y="4282580"/>
            <a:ext cx="10429461" cy="2482667"/>
          </a:xfrm>
          <a:prstGeom prst="rect">
            <a:avLst/>
          </a:prstGeom>
          <a:noFill/>
        </p:spPr>
        <p:txBody>
          <a:bodyPr wrap="square">
            <a:spAutoFit/>
          </a:bodyPr>
          <a:lstStyle/>
          <a:p>
            <a:pPr>
              <a:lnSpc>
                <a:spcPct val="150000"/>
              </a:lnSpc>
            </a:pPr>
            <a:r>
              <a:rPr lang="en-AU" sz="3600" dirty="0"/>
              <a:t>Draw 2 different shapes you could make using the triangles. Explain how the triangles were combined to form each new shape.</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a:t>
            </a:r>
            <a:r>
              <a:rPr lang="en-AU">
                <a:latin typeface="Arial"/>
                <a:cs typeface="Arial"/>
              </a:rPr>
              <a:t>investigating place value</a:t>
            </a:r>
            <a:endParaRPr lang="en-AU"/>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5" name="Group 4" descr="Post it note with the number 892. A whiteboard showing 3 columns titled 'guess', 'digits' and 'places'. First guess: 859 and 2 in the digits and 1 in places columns. Second guess: 865 and 1 in the digits and 1 in the places columns. Third guess: 894 and 2 in the digits and 2 in the places columns.">
            <a:extLst>
              <a:ext uri="{FF2B5EF4-FFF2-40B4-BE49-F238E27FC236}">
                <a16:creationId xmlns:a16="http://schemas.microsoft.com/office/drawing/2014/main" id="{8813CCB9-BB38-6FF8-E342-75A34E28ACF7}"/>
              </a:ext>
            </a:extLst>
          </p:cNvPr>
          <p:cNvGrpSpPr/>
          <p:nvPr/>
        </p:nvGrpSpPr>
        <p:grpSpPr>
          <a:xfrm>
            <a:off x="2312770" y="1115902"/>
            <a:ext cx="5816246" cy="5580098"/>
            <a:chOff x="1178914" y="233333"/>
            <a:chExt cx="6551962" cy="6937821"/>
          </a:xfrm>
        </p:grpSpPr>
        <p:sp>
          <p:nvSpPr>
            <p:cNvPr id="7" name="Freeform 2">
              <a:extLst>
                <a:ext uri="{FF2B5EF4-FFF2-40B4-BE49-F238E27FC236}">
                  <a16:creationId xmlns:a16="http://schemas.microsoft.com/office/drawing/2014/main" id="{57EEEEEE-7404-3968-C78E-E98409A4A127}"/>
                </a:ext>
              </a:extLst>
            </p:cNvPr>
            <p:cNvSpPr/>
            <p:nvPr/>
          </p:nvSpPr>
          <p:spPr>
            <a:xfrm rot="5400000">
              <a:off x="1877089" y="1317368"/>
              <a:ext cx="6937821" cy="4769752"/>
            </a:xfrm>
            <a:custGeom>
              <a:avLst/>
              <a:gdLst/>
              <a:ahLst/>
              <a:cxnLst/>
              <a:rect l="l" t="t" r="r" b="b"/>
              <a:pathLst>
                <a:path w="6937821" h="4769752">
                  <a:moveTo>
                    <a:pt x="0" y="0"/>
                  </a:moveTo>
                  <a:lnTo>
                    <a:pt x="6937822" y="0"/>
                  </a:lnTo>
                  <a:lnTo>
                    <a:pt x="6937822" y="4769752"/>
                  </a:lnTo>
                  <a:lnTo>
                    <a:pt x="0" y="47697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itchFamily="2" charset="0"/>
              </a:endParaRPr>
            </a:p>
          </p:txBody>
        </p:sp>
        <p:sp>
          <p:nvSpPr>
            <p:cNvPr id="8" name="Freeform 3">
              <a:extLst>
                <a:ext uri="{FF2B5EF4-FFF2-40B4-BE49-F238E27FC236}">
                  <a16:creationId xmlns:a16="http://schemas.microsoft.com/office/drawing/2014/main" id="{15D4EAA9-922D-E926-05E2-05E1A91F99B0}"/>
                </a:ext>
              </a:extLst>
            </p:cNvPr>
            <p:cNvSpPr/>
            <p:nvPr/>
          </p:nvSpPr>
          <p:spPr>
            <a:xfrm rot="5400000">
              <a:off x="1328805" y="3646219"/>
              <a:ext cx="6458326" cy="64583"/>
            </a:xfrm>
            <a:custGeom>
              <a:avLst/>
              <a:gdLst/>
              <a:ahLst/>
              <a:cxnLst/>
              <a:rect l="l" t="t" r="r" b="b"/>
              <a:pathLst>
                <a:path w="6458326" h="64583">
                  <a:moveTo>
                    <a:pt x="0" y="0"/>
                  </a:moveTo>
                  <a:lnTo>
                    <a:pt x="6458326" y="0"/>
                  </a:lnTo>
                  <a:lnTo>
                    <a:pt x="6458326" y="64584"/>
                  </a:lnTo>
                  <a:lnTo>
                    <a:pt x="0" y="645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latin typeface="Edu NSW ACT Foundation" pitchFamily="2" charset="0"/>
              </a:endParaRPr>
            </a:p>
          </p:txBody>
        </p:sp>
        <p:sp>
          <p:nvSpPr>
            <p:cNvPr id="9" name="Freeform 4">
              <a:extLst>
                <a:ext uri="{FF2B5EF4-FFF2-40B4-BE49-F238E27FC236}">
                  <a16:creationId xmlns:a16="http://schemas.microsoft.com/office/drawing/2014/main" id="{F00A0EC9-C0CA-A2D6-E1F9-4443306F985A}"/>
                </a:ext>
              </a:extLst>
            </p:cNvPr>
            <p:cNvSpPr/>
            <p:nvPr/>
          </p:nvSpPr>
          <p:spPr>
            <a:xfrm rot="5400000">
              <a:off x="2932642" y="3646219"/>
              <a:ext cx="6458326" cy="64583"/>
            </a:xfrm>
            <a:custGeom>
              <a:avLst/>
              <a:gdLst/>
              <a:ahLst/>
              <a:cxnLst/>
              <a:rect l="l" t="t" r="r" b="b"/>
              <a:pathLst>
                <a:path w="6458326" h="64583">
                  <a:moveTo>
                    <a:pt x="0" y="0"/>
                  </a:moveTo>
                  <a:lnTo>
                    <a:pt x="6458327" y="0"/>
                  </a:lnTo>
                  <a:lnTo>
                    <a:pt x="6458327" y="64584"/>
                  </a:lnTo>
                  <a:lnTo>
                    <a:pt x="0" y="645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latin typeface="Edu NSW ACT Foundation" pitchFamily="2" charset="0"/>
              </a:endParaRPr>
            </a:p>
          </p:txBody>
        </p:sp>
        <p:sp>
          <p:nvSpPr>
            <p:cNvPr id="10" name="Freeform 5">
              <a:extLst>
                <a:ext uri="{FF2B5EF4-FFF2-40B4-BE49-F238E27FC236}">
                  <a16:creationId xmlns:a16="http://schemas.microsoft.com/office/drawing/2014/main" id="{6927F8A9-AB6C-6C90-87D7-973125FA5D31}"/>
                </a:ext>
              </a:extLst>
            </p:cNvPr>
            <p:cNvSpPr/>
            <p:nvPr/>
          </p:nvSpPr>
          <p:spPr>
            <a:xfrm>
              <a:off x="3207600" y="1244519"/>
              <a:ext cx="4276800" cy="42768"/>
            </a:xfrm>
            <a:custGeom>
              <a:avLst/>
              <a:gdLst/>
              <a:ahLst/>
              <a:cxnLst/>
              <a:rect l="l" t="t" r="r" b="b"/>
              <a:pathLst>
                <a:path w="4276800" h="42768">
                  <a:moveTo>
                    <a:pt x="0" y="0"/>
                  </a:moveTo>
                  <a:lnTo>
                    <a:pt x="4276800" y="0"/>
                  </a:lnTo>
                  <a:lnTo>
                    <a:pt x="4276800" y="42768"/>
                  </a:lnTo>
                  <a:lnTo>
                    <a:pt x="0" y="42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latin typeface="Edu NSW ACT Foundation" pitchFamily="2" charset="0"/>
              </a:endParaRPr>
            </a:p>
          </p:txBody>
        </p:sp>
        <p:sp>
          <p:nvSpPr>
            <p:cNvPr id="11" name="Freeform 6">
              <a:extLst>
                <a:ext uri="{FF2B5EF4-FFF2-40B4-BE49-F238E27FC236}">
                  <a16:creationId xmlns:a16="http://schemas.microsoft.com/office/drawing/2014/main" id="{16C18129-CD78-E158-175F-F08CAB5B08D0}"/>
                </a:ext>
              </a:extLst>
            </p:cNvPr>
            <p:cNvSpPr/>
            <p:nvPr/>
          </p:nvSpPr>
          <p:spPr>
            <a:xfrm>
              <a:off x="1219730" y="1390992"/>
              <a:ext cx="1125119" cy="1190603"/>
            </a:xfrm>
            <a:custGeom>
              <a:avLst/>
              <a:gdLst/>
              <a:ahLst/>
              <a:cxnLst/>
              <a:rect l="l" t="t" r="r" b="b"/>
              <a:pathLst>
                <a:path w="1125119" h="1190603">
                  <a:moveTo>
                    <a:pt x="0" y="0"/>
                  </a:moveTo>
                  <a:lnTo>
                    <a:pt x="1125119" y="0"/>
                  </a:lnTo>
                  <a:lnTo>
                    <a:pt x="1125119" y="1190602"/>
                  </a:lnTo>
                  <a:lnTo>
                    <a:pt x="0" y="11906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latin typeface="Edu NSW ACT Foundation" pitchFamily="2" charset="0"/>
              </a:endParaRPr>
            </a:p>
          </p:txBody>
        </p:sp>
        <p:sp>
          <p:nvSpPr>
            <p:cNvPr id="12" name="TextBox 7">
              <a:extLst>
                <a:ext uri="{FF2B5EF4-FFF2-40B4-BE49-F238E27FC236}">
                  <a16:creationId xmlns:a16="http://schemas.microsoft.com/office/drawing/2014/main" id="{58E82D2A-5E97-422E-D2C7-427EE94E4232}"/>
                </a:ext>
              </a:extLst>
            </p:cNvPr>
            <p:cNvSpPr txBox="1"/>
            <p:nvPr/>
          </p:nvSpPr>
          <p:spPr>
            <a:xfrm>
              <a:off x="3250938" y="419114"/>
              <a:ext cx="1206750" cy="925488"/>
            </a:xfrm>
            <a:prstGeom prst="rect">
              <a:avLst/>
            </a:prstGeom>
          </p:spPr>
          <p:txBody>
            <a:bodyPr lIns="0" tIns="0" rIns="0" bIns="0" rtlCol="0" anchor="t">
              <a:spAutoFit/>
            </a:bodyPr>
            <a:lstStyle/>
            <a:p>
              <a:pPr algn="ctr">
                <a:lnSpc>
                  <a:spcPts val="6471"/>
                </a:lnSpc>
              </a:pPr>
              <a:r>
                <a:rPr lang="en-US" sz="3600" dirty="0">
                  <a:solidFill>
                    <a:srgbClr val="000000"/>
                  </a:solidFill>
                  <a:latin typeface="Edu NSW ACT Foundation" pitchFamily="2" charset="0"/>
                  <a:ea typeface="Canva Student Font"/>
                  <a:cs typeface="Canva Student Font"/>
                  <a:sym typeface="Canva Student Font"/>
                </a:rPr>
                <a:t>Guess</a:t>
              </a:r>
              <a:endParaRPr lang="en-US" sz="4622" dirty="0">
                <a:solidFill>
                  <a:srgbClr val="000000"/>
                </a:solidFill>
                <a:latin typeface="Edu NSW ACT Foundation" pitchFamily="2" charset="0"/>
                <a:ea typeface="Canva Student Font"/>
                <a:cs typeface="Canva Student Font"/>
                <a:sym typeface="Canva Student Font"/>
              </a:endParaRPr>
            </a:p>
          </p:txBody>
        </p:sp>
        <p:sp>
          <p:nvSpPr>
            <p:cNvPr id="13" name="TextBox 8">
              <a:extLst>
                <a:ext uri="{FF2B5EF4-FFF2-40B4-BE49-F238E27FC236}">
                  <a16:creationId xmlns:a16="http://schemas.microsoft.com/office/drawing/2014/main" id="{4B4A487E-EB3B-95E4-10D3-C4C89989B314}"/>
                </a:ext>
              </a:extLst>
            </p:cNvPr>
            <p:cNvSpPr txBox="1"/>
            <p:nvPr/>
          </p:nvSpPr>
          <p:spPr>
            <a:xfrm>
              <a:off x="4756512" y="419114"/>
              <a:ext cx="1206750" cy="925488"/>
            </a:xfrm>
            <a:prstGeom prst="rect">
              <a:avLst/>
            </a:prstGeom>
          </p:spPr>
          <p:txBody>
            <a:bodyPr lIns="0" tIns="0" rIns="0" bIns="0" rtlCol="0" anchor="t">
              <a:spAutoFit/>
            </a:bodyPr>
            <a:lstStyle/>
            <a:p>
              <a:pPr algn="ctr">
                <a:lnSpc>
                  <a:spcPts val="6471"/>
                </a:lnSpc>
              </a:pPr>
              <a:r>
                <a:rPr lang="en-US" sz="3600" dirty="0">
                  <a:solidFill>
                    <a:srgbClr val="000000"/>
                  </a:solidFill>
                  <a:latin typeface="Edu NSW ACT Foundation" pitchFamily="2" charset="0"/>
                  <a:ea typeface="Canva Student Font"/>
                  <a:cs typeface="Canva Student Font"/>
                  <a:sym typeface="Canva Student Font"/>
                </a:rPr>
                <a:t>Digits</a:t>
              </a:r>
              <a:endParaRPr lang="en-US" sz="4622" dirty="0">
                <a:solidFill>
                  <a:srgbClr val="000000"/>
                </a:solidFill>
                <a:latin typeface="Edu NSW ACT Foundation" pitchFamily="2" charset="0"/>
                <a:ea typeface="Canva Student Font"/>
                <a:cs typeface="Canva Student Font"/>
                <a:sym typeface="Canva Student Font"/>
              </a:endParaRPr>
            </a:p>
          </p:txBody>
        </p:sp>
        <p:sp>
          <p:nvSpPr>
            <p:cNvPr id="14" name="TextBox 9">
              <a:extLst>
                <a:ext uri="{FF2B5EF4-FFF2-40B4-BE49-F238E27FC236}">
                  <a16:creationId xmlns:a16="http://schemas.microsoft.com/office/drawing/2014/main" id="{CE0DA489-B436-8023-11E8-FB23AFCAE8CE}"/>
                </a:ext>
              </a:extLst>
            </p:cNvPr>
            <p:cNvSpPr txBox="1"/>
            <p:nvPr/>
          </p:nvSpPr>
          <p:spPr>
            <a:xfrm>
              <a:off x="6260772" y="413557"/>
              <a:ext cx="1206750" cy="910660"/>
            </a:xfrm>
            <a:prstGeom prst="rect">
              <a:avLst/>
            </a:prstGeom>
          </p:spPr>
          <p:txBody>
            <a:bodyPr lIns="0" tIns="0" rIns="0" bIns="0" rtlCol="0" anchor="t">
              <a:spAutoFit/>
            </a:bodyPr>
            <a:lstStyle/>
            <a:p>
              <a:pPr algn="ctr">
                <a:lnSpc>
                  <a:spcPts val="6471"/>
                </a:lnSpc>
              </a:pPr>
              <a:r>
                <a:rPr lang="en-US" sz="3600" dirty="0">
                  <a:solidFill>
                    <a:srgbClr val="000000"/>
                  </a:solidFill>
                  <a:latin typeface="Edu NSW ACT Foundation" pitchFamily="2" charset="0"/>
                  <a:ea typeface="Canva Student Font"/>
                  <a:cs typeface="Canva Student Font"/>
                  <a:sym typeface="Canva Student Font"/>
                </a:rPr>
                <a:t>Places</a:t>
              </a:r>
              <a:endParaRPr lang="en-US" sz="4622" dirty="0">
                <a:solidFill>
                  <a:srgbClr val="000000"/>
                </a:solidFill>
                <a:latin typeface="Edu NSW ACT Foundation" pitchFamily="2" charset="0"/>
                <a:ea typeface="Canva Student Font"/>
                <a:cs typeface="Canva Student Font"/>
                <a:sym typeface="Canva Student Font"/>
              </a:endParaRPr>
            </a:p>
          </p:txBody>
        </p:sp>
        <p:sp>
          <p:nvSpPr>
            <p:cNvPr id="15" name="TextBox 10">
              <a:extLst>
                <a:ext uri="{FF2B5EF4-FFF2-40B4-BE49-F238E27FC236}">
                  <a16:creationId xmlns:a16="http://schemas.microsoft.com/office/drawing/2014/main" id="{BC3B6D82-F987-6413-30FD-26344E8530C2}"/>
                </a:ext>
              </a:extLst>
            </p:cNvPr>
            <p:cNvSpPr txBox="1"/>
            <p:nvPr/>
          </p:nvSpPr>
          <p:spPr>
            <a:xfrm>
              <a:off x="3250938" y="1349069"/>
              <a:ext cx="1206750" cy="940316"/>
            </a:xfrm>
            <a:prstGeom prst="rect">
              <a:avLst/>
            </a:prstGeom>
          </p:spPr>
          <p:txBody>
            <a:bodyPr lIns="0" tIns="0" rIns="0" bIns="0" rtlCol="0" anchor="t">
              <a:spAutoFit/>
            </a:bodyPr>
            <a:lstStyle/>
            <a:p>
              <a:pPr algn="ctr">
                <a:lnSpc>
                  <a:spcPts val="6471"/>
                </a:lnSpc>
              </a:pPr>
              <a:r>
                <a:rPr lang="en-US" sz="4000" dirty="0">
                  <a:solidFill>
                    <a:srgbClr val="000000"/>
                  </a:solidFill>
                  <a:latin typeface="Edu NSW ACT Foundation" pitchFamily="2" charset="0"/>
                  <a:ea typeface="Canva Student Font"/>
                  <a:cs typeface="Canva Student Font"/>
                  <a:sym typeface="Canva Student Font"/>
                </a:rPr>
                <a:t>859</a:t>
              </a:r>
            </a:p>
          </p:txBody>
        </p:sp>
        <p:sp>
          <p:nvSpPr>
            <p:cNvPr id="16" name="TextBox 11">
              <a:extLst>
                <a:ext uri="{FF2B5EF4-FFF2-40B4-BE49-F238E27FC236}">
                  <a16:creationId xmlns:a16="http://schemas.microsoft.com/office/drawing/2014/main" id="{76AC91B5-BFF5-372F-B160-0F7576BD73B6}"/>
                </a:ext>
              </a:extLst>
            </p:cNvPr>
            <p:cNvSpPr txBox="1"/>
            <p:nvPr/>
          </p:nvSpPr>
          <p:spPr>
            <a:xfrm>
              <a:off x="4756512" y="1349069"/>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2</a:t>
              </a:r>
            </a:p>
          </p:txBody>
        </p:sp>
        <p:sp>
          <p:nvSpPr>
            <p:cNvPr id="17" name="TextBox 12">
              <a:extLst>
                <a:ext uri="{FF2B5EF4-FFF2-40B4-BE49-F238E27FC236}">
                  <a16:creationId xmlns:a16="http://schemas.microsoft.com/office/drawing/2014/main" id="{FEA7DD81-8DB3-55B8-10E2-41E68BEBFA23}"/>
                </a:ext>
              </a:extLst>
            </p:cNvPr>
            <p:cNvSpPr txBox="1"/>
            <p:nvPr/>
          </p:nvSpPr>
          <p:spPr>
            <a:xfrm>
              <a:off x="6277650" y="1349069"/>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1</a:t>
              </a:r>
            </a:p>
          </p:txBody>
        </p:sp>
        <p:sp>
          <p:nvSpPr>
            <p:cNvPr id="18" name="TextBox 13">
              <a:extLst>
                <a:ext uri="{FF2B5EF4-FFF2-40B4-BE49-F238E27FC236}">
                  <a16:creationId xmlns:a16="http://schemas.microsoft.com/office/drawing/2014/main" id="{EAF4A805-9809-95BC-371A-D6869FA9B6DF}"/>
                </a:ext>
              </a:extLst>
            </p:cNvPr>
            <p:cNvSpPr txBox="1"/>
            <p:nvPr/>
          </p:nvSpPr>
          <p:spPr>
            <a:xfrm>
              <a:off x="3250938" y="2079380"/>
              <a:ext cx="1206750" cy="940316"/>
            </a:xfrm>
            <a:prstGeom prst="rect">
              <a:avLst/>
            </a:prstGeom>
          </p:spPr>
          <p:txBody>
            <a:bodyPr lIns="0" tIns="0" rIns="0" bIns="0" rtlCol="0" anchor="t">
              <a:spAutoFit/>
            </a:bodyPr>
            <a:lstStyle/>
            <a:p>
              <a:pPr algn="ctr">
                <a:lnSpc>
                  <a:spcPts val="6471"/>
                </a:lnSpc>
              </a:pPr>
              <a:r>
                <a:rPr lang="en-US" sz="4000" dirty="0">
                  <a:solidFill>
                    <a:srgbClr val="000000"/>
                  </a:solidFill>
                  <a:latin typeface="Edu NSW ACT Foundation" pitchFamily="2" charset="0"/>
                  <a:ea typeface="Canva Student Font"/>
                  <a:cs typeface="Canva Student Font"/>
                  <a:sym typeface="Canva Student Font"/>
                </a:rPr>
                <a:t>865</a:t>
              </a:r>
            </a:p>
          </p:txBody>
        </p:sp>
        <p:sp>
          <p:nvSpPr>
            <p:cNvPr id="19" name="TextBox 14">
              <a:extLst>
                <a:ext uri="{FF2B5EF4-FFF2-40B4-BE49-F238E27FC236}">
                  <a16:creationId xmlns:a16="http://schemas.microsoft.com/office/drawing/2014/main" id="{EBA84035-07B3-0F23-CBA1-83594012AF60}"/>
                </a:ext>
              </a:extLst>
            </p:cNvPr>
            <p:cNvSpPr txBox="1"/>
            <p:nvPr/>
          </p:nvSpPr>
          <p:spPr>
            <a:xfrm>
              <a:off x="1178914" y="1699937"/>
              <a:ext cx="1206750" cy="762901"/>
            </a:xfrm>
            <a:prstGeom prst="rect">
              <a:avLst/>
            </a:prstGeom>
          </p:spPr>
          <p:txBody>
            <a:bodyPr lIns="0" tIns="0" rIns="0" bIns="0" rtlCol="0" anchor="t">
              <a:spAutoFit/>
            </a:bodyPr>
            <a:lstStyle/>
            <a:p>
              <a:pPr algn="ctr">
                <a:lnSpc>
                  <a:spcPts val="6471"/>
                </a:lnSpc>
              </a:pPr>
              <a:r>
                <a:rPr lang="en-US" sz="4622">
                  <a:solidFill>
                    <a:srgbClr val="000000"/>
                  </a:solidFill>
                  <a:latin typeface="Edu NSW ACT Foundation" pitchFamily="2" charset="0"/>
                  <a:ea typeface="Canva Student Font"/>
                  <a:cs typeface="Canva Student Font"/>
                  <a:sym typeface="Canva Student Font"/>
                </a:rPr>
                <a:t>892</a:t>
              </a:r>
            </a:p>
          </p:txBody>
        </p:sp>
        <p:sp>
          <p:nvSpPr>
            <p:cNvPr id="20" name="TextBox 15">
              <a:extLst>
                <a:ext uri="{FF2B5EF4-FFF2-40B4-BE49-F238E27FC236}">
                  <a16:creationId xmlns:a16="http://schemas.microsoft.com/office/drawing/2014/main" id="{FD9A29C6-DD03-85D5-9948-6D9361752D0B}"/>
                </a:ext>
              </a:extLst>
            </p:cNvPr>
            <p:cNvSpPr txBox="1"/>
            <p:nvPr/>
          </p:nvSpPr>
          <p:spPr>
            <a:xfrm>
              <a:off x="4742625" y="2050805"/>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1</a:t>
              </a:r>
            </a:p>
          </p:txBody>
        </p:sp>
        <p:sp>
          <p:nvSpPr>
            <p:cNvPr id="21" name="TextBox 16">
              <a:extLst>
                <a:ext uri="{FF2B5EF4-FFF2-40B4-BE49-F238E27FC236}">
                  <a16:creationId xmlns:a16="http://schemas.microsoft.com/office/drawing/2014/main" id="{A5E05483-F1FC-134E-B422-F34D99A50C82}"/>
                </a:ext>
              </a:extLst>
            </p:cNvPr>
            <p:cNvSpPr txBox="1"/>
            <p:nvPr/>
          </p:nvSpPr>
          <p:spPr>
            <a:xfrm>
              <a:off x="6260772" y="2050805"/>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1</a:t>
              </a:r>
            </a:p>
          </p:txBody>
        </p:sp>
        <p:sp>
          <p:nvSpPr>
            <p:cNvPr id="22" name="TextBox 17">
              <a:extLst>
                <a:ext uri="{FF2B5EF4-FFF2-40B4-BE49-F238E27FC236}">
                  <a16:creationId xmlns:a16="http://schemas.microsoft.com/office/drawing/2014/main" id="{38D704EC-E273-BAFD-260D-E0C0C728FF83}"/>
                </a:ext>
              </a:extLst>
            </p:cNvPr>
            <p:cNvSpPr txBox="1"/>
            <p:nvPr/>
          </p:nvSpPr>
          <p:spPr>
            <a:xfrm>
              <a:off x="3250938" y="2809690"/>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894</a:t>
              </a:r>
            </a:p>
          </p:txBody>
        </p:sp>
        <p:sp>
          <p:nvSpPr>
            <p:cNvPr id="23" name="TextBox 18">
              <a:extLst>
                <a:ext uri="{FF2B5EF4-FFF2-40B4-BE49-F238E27FC236}">
                  <a16:creationId xmlns:a16="http://schemas.microsoft.com/office/drawing/2014/main" id="{0EABAC18-900A-77AC-4CAE-EC6E2B7F2A72}"/>
                </a:ext>
              </a:extLst>
            </p:cNvPr>
            <p:cNvSpPr txBox="1"/>
            <p:nvPr/>
          </p:nvSpPr>
          <p:spPr>
            <a:xfrm>
              <a:off x="4742625" y="2781115"/>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2</a:t>
              </a:r>
            </a:p>
          </p:txBody>
        </p:sp>
        <p:sp>
          <p:nvSpPr>
            <p:cNvPr id="24" name="TextBox 19">
              <a:extLst>
                <a:ext uri="{FF2B5EF4-FFF2-40B4-BE49-F238E27FC236}">
                  <a16:creationId xmlns:a16="http://schemas.microsoft.com/office/drawing/2014/main" id="{CF8EFA75-C1D7-A489-134D-9770268B2AD3}"/>
                </a:ext>
              </a:extLst>
            </p:cNvPr>
            <p:cNvSpPr txBox="1"/>
            <p:nvPr/>
          </p:nvSpPr>
          <p:spPr>
            <a:xfrm>
              <a:off x="6260772" y="2752540"/>
              <a:ext cx="1206750" cy="940316"/>
            </a:xfrm>
            <a:prstGeom prst="rect">
              <a:avLst/>
            </a:prstGeom>
          </p:spPr>
          <p:txBody>
            <a:bodyPr lIns="0" tIns="0" rIns="0" bIns="0" rtlCol="0" anchor="t">
              <a:spAutoFit/>
            </a:bodyPr>
            <a:lstStyle/>
            <a:p>
              <a:pPr algn="ctr">
                <a:lnSpc>
                  <a:spcPts val="6471"/>
                </a:lnSpc>
              </a:pPr>
              <a:r>
                <a:rPr lang="en-US" sz="4000">
                  <a:solidFill>
                    <a:srgbClr val="000000"/>
                  </a:solidFill>
                  <a:latin typeface="Edu NSW ACT Foundation" pitchFamily="2" charset="0"/>
                  <a:ea typeface="Canva Student Font"/>
                  <a:cs typeface="Canva Student Font"/>
                  <a:sym typeface="Canva Student Font"/>
                </a:rPr>
                <a:t>2</a:t>
              </a:r>
            </a:p>
          </p:txBody>
        </p:sp>
      </p:gr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474481" y="840015"/>
            <a:ext cx="11243037" cy="4262071"/>
          </a:xfrm>
        </p:spPr>
        <p:txBody>
          <a:bodyPr/>
          <a:lstStyle/>
          <a:p>
            <a:pPr algn="ctr"/>
            <a:r>
              <a:rPr lang="en-AU" sz="4400"/>
              <a:t>386 can be </a:t>
            </a:r>
            <a:r>
              <a:rPr lang="en-AU" sz="4400" b="1"/>
              <a:t>renamed</a:t>
            </a:r>
            <a:r>
              <a:rPr lang="en-AU" sz="4400"/>
              <a:t> as </a:t>
            </a:r>
          </a:p>
          <a:p>
            <a:pPr algn="ctr"/>
            <a:r>
              <a:rPr lang="en-AU" sz="4400"/>
              <a:t>300 + 80 + 6 </a:t>
            </a:r>
          </a:p>
          <a:p>
            <a:pPr algn="ctr"/>
            <a:r>
              <a:rPr lang="en-AU" sz="4400"/>
              <a:t>or as </a:t>
            </a:r>
          </a:p>
          <a:p>
            <a:pPr algn="ctr"/>
            <a:r>
              <a:rPr lang="en-AU" sz="4400"/>
              <a:t>38 tens and 6 ones.</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471024547"/>
              </p:ext>
            </p:extLst>
          </p:nvPr>
        </p:nvGraphicFramePr>
        <p:xfrm>
          <a:off x="2442981" y="564714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A047276-0110-610A-00F7-B42847C419E1}"/>
              </a:ext>
            </a:extLst>
          </p:cNvPr>
          <p:cNvSpPr txBox="1"/>
          <p:nvPr/>
        </p:nvSpPr>
        <p:spPr>
          <a:xfrm>
            <a:off x="1235280" y="1317769"/>
            <a:ext cx="9721440" cy="4029501"/>
          </a:xfrm>
          <a:prstGeom prst="rect">
            <a:avLst/>
          </a:prstGeom>
          <a:noFill/>
        </p:spPr>
        <p:txBody>
          <a:bodyPr wrap="square">
            <a:spAutoFit/>
          </a:bodyPr>
          <a:lstStyle/>
          <a:p>
            <a:pPr algn="ctr">
              <a:lnSpc>
                <a:spcPct val="150000"/>
              </a:lnSpc>
            </a:pPr>
            <a:r>
              <a:rPr lang="en-AU" sz="4400" dirty="0"/>
              <a:t>Write the number that comes </a:t>
            </a:r>
            <a:r>
              <a:rPr lang="en-AU" sz="4400" b="1" dirty="0"/>
              <a:t>before</a:t>
            </a:r>
            <a:r>
              <a:rPr lang="en-AU" sz="4400" dirty="0"/>
              <a:t> and </a:t>
            </a:r>
            <a:r>
              <a:rPr lang="en-AU" sz="4400" b="1" dirty="0"/>
              <a:t>after </a:t>
            </a:r>
            <a:r>
              <a:rPr lang="en-AU" sz="4400" dirty="0"/>
              <a:t>the number </a:t>
            </a:r>
            <a:r>
              <a:rPr lang="en-AU" sz="4400" b="1" dirty="0"/>
              <a:t>4072. </a:t>
            </a:r>
          </a:p>
          <a:p>
            <a:pPr algn="ctr">
              <a:lnSpc>
                <a:spcPct val="150000"/>
              </a:lnSpc>
            </a:pPr>
            <a:endParaRPr lang="en-AU" sz="4400" b="1" dirty="0"/>
          </a:p>
          <a:p>
            <a:pPr algn="ctr">
              <a:lnSpc>
                <a:spcPct val="150000"/>
              </a:lnSpc>
            </a:pPr>
            <a:r>
              <a:rPr lang="en-AU" sz="4400" b="1" dirty="0"/>
              <a:t>Communicate</a:t>
            </a:r>
            <a:r>
              <a:rPr lang="en-AU" sz="4400" dirty="0"/>
              <a:t> your </a:t>
            </a:r>
            <a:r>
              <a:rPr lang="en-AU" sz="4400" b="1" dirty="0"/>
              <a:t>reasoning</a:t>
            </a:r>
            <a:r>
              <a:rPr lang="en-AU" sz="4400" dirty="0"/>
              <a:t>. </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F0EFB65-7FFB-A3E0-3B19-6757BDA04CA5}"/>
              </a:ext>
            </a:extLst>
          </p:cNvPr>
          <p:cNvSpPr txBox="1"/>
          <p:nvPr/>
        </p:nvSpPr>
        <p:spPr>
          <a:xfrm>
            <a:off x="912366" y="1184223"/>
            <a:ext cx="10367267" cy="4029501"/>
          </a:xfrm>
          <a:prstGeom prst="rect">
            <a:avLst/>
          </a:prstGeom>
          <a:noFill/>
        </p:spPr>
        <p:txBody>
          <a:bodyPr wrap="square">
            <a:spAutoFit/>
          </a:bodyPr>
          <a:lstStyle/>
          <a:p>
            <a:pPr algn="ctr">
              <a:lnSpc>
                <a:spcPct val="150000"/>
              </a:lnSpc>
            </a:pPr>
            <a:r>
              <a:rPr lang="en-AU" sz="4400" b="1"/>
              <a:t>14 − 8 = 6</a:t>
            </a:r>
            <a:r>
              <a:rPr lang="en-AU" sz="4400"/>
              <a:t> </a:t>
            </a:r>
          </a:p>
          <a:p>
            <a:pPr algn="ctr">
              <a:lnSpc>
                <a:spcPct val="150000"/>
              </a:lnSpc>
            </a:pPr>
            <a:r>
              <a:rPr lang="en-AU" sz="4400"/>
              <a:t>What is the related </a:t>
            </a:r>
            <a:r>
              <a:rPr lang="en-AU" sz="4400" b="1"/>
              <a:t>addition fact</a:t>
            </a:r>
            <a:r>
              <a:rPr lang="en-AU" sz="4400"/>
              <a:t>?</a:t>
            </a:r>
            <a:br>
              <a:rPr lang="en-AU" sz="4400"/>
            </a:br>
            <a:r>
              <a:rPr lang="en-AU" sz="4400"/>
              <a:t>What is the other related </a:t>
            </a:r>
            <a:r>
              <a:rPr lang="en-AU" sz="4400" b="1"/>
              <a:t>subtraction fact</a:t>
            </a:r>
            <a:r>
              <a:rPr lang="en-AU" sz="4400"/>
              <a:t>?</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Two rectangular arrays made of blue squares.&#10;&#10;The array on the left has 5 rows and 4 columns (20 squares).&#10;&#10;The array on the right has 4 rows and 5 columns (20 squares).">
            <a:extLst>
              <a:ext uri="{FF2B5EF4-FFF2-40B4-BE49-F238E27FC236}">
                <a16:creationId xmlns:a16="http://schemas.microsoft.com/office/drawing/2014/main" id="{850A178D-5604-0AA0-1BF7-9DCCAFD1F0E4}"/>
              </a:ext>
            </a:extLst>
          </p:cNvPr>
          <p:cNvPicPr>
            <a:picLocks noChangeAspect="1"/>
          </p:cNvPicPr>
          <p:nvPr/>
        </p:nvPicPr>
        <p:blipFill>
          <a:blip r:embed="rId4"/>
          <a:stretch>
            <a:fillRect/>
          </a:stretch>
        </p:blipFill>
        <p:spPr>
          <a:xfrm>
            <a:off x="3597820" y="965073"/>
            <a:ext cx="5169166" cy="2463927"/>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395CECE8-3FF5-0F06-0B07-7AAF3FFB3477}"/>
              </a:ext>
            </a:extLst>
          </p:cNvPr>
          <p:cNvSpPr txBox="1"/>
          <p:nvPr/>
        </p:nvSpPr>
        <p:spPr>
          <a:xfrm>
            <a:off x="752814" y="3748096"/>
            <a:ext cx="10859178" cy="1651671"/>
          </a:xfrm>
          <a:prstGeom prst="rect">
            <a:avLst/>
          </a:prstGeom>
          <a:noFill/>
        </p:spPr>
        <p:txBody>
          <a:bodyPr wrap="square">
            <a:spAutoFit/>
          </a:bodyPr>
          <a:lstStyle/>
          <a:p>
            <a:pPr algn="ctr">
              <a:lnSpc>
                <a:spcPct val="150000"/>
              </a:lnSpc>
            </a:pPr>
            <a:r>
              <a:rPr lang="en-AU" sz="3600" dirty="0"/>
              <a:t>Explain how the arrays show the </a:t>
            </a:r>
            <a:r>
              <a:rPr lang="en-AU" sz="3600" b="1" dirty="0"/>
              <a:t>commutative property</a:t>
            </a:r>
            <a:r>
              <a:rPr lang="en-AU" sz="3600" dirty="0"/>
              <a:t> of multiplication.</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5" name="Picture 4" descr="A rectangle divided into 2 rows and 6 columns of equal purple squares, making a total of 12 squares.">
            <a:extLst>
              <a:ext uri="{FF2B5EF4-FFF2-40B4-BE49-F238E27FC236}">
                <a16:creationId xmlns:a16="http://schemas.microsoft.com/office/drawing/2014/main" id="{C4DB0C5D-E350-DEED-0718-6BCDA95D1C5C}"/>
              </a:ext>
            </a:extLst>
          </p:cNvPr>
          <p:cNvPicPr>
            <a:picLocks noChangeAspect="1"/>
          </p:cNvPicPr>
          <p:nvPr/>
        </p:nvPicPr>
        <p:blipFill>
          <a:blip r:embed="rId4"/>
          <a:stretch>
            <a:fillRect/>
          </a:stretch>
        </p:blipFill>
        <p:spPr>
          <a:xfrm>
            <a:off x="942699" y="1198916"/>
            <a:ext cx="4575646" cy="1711941"/>
          </a:xfrm>
          <a:prstGeom prst="rect">
            <a:avLst/>
          </a:prstGeom>
          <a:ln>
            <a:noFill/>
          </a:ln>
        </p:spPr>
      </p:pic>
      <p:pic>
        <p:nvPicPr>
          <p:cNvPr id="12" name="Picture 11" descr="A rectangle divided into 3 rows and 5 columns of equal green squares, making a total of 15 squares.">
            <a:extLst>
              <a:ext uri="{FF2B5EF4-FFF2-40B4-BE49-F238E27FC236}">
                <a16:creationId xmlns:a16="http://schemas.microsoft.com/office/drawing/2014/main" id="{DD626174-6D8D-FCD2-796C-A1EBD53BC18F}"/>
              </a:ext>
            </a:extLst>
          </p:cNvPr>
          <p:cNvPicPr>
            <a:picLocks noChangeAspect="1"/>
          </p:cNvPicPr>
          <p:nvPr/>
        </p:nvPicPr>
        <p:blipFill>
          <a:blip r:embed="rId5"/>
          <a:stretch>
            <a:fillRect/>
          </a:stretch>
        </p:blipFill>
        <p:spPr>
          <a:xfrm>
            <a:off x="6465358" y="1242909"/>
            <a:ext cx="3415468" cy="2186091"/>
          </a:xfrm>
          <a:prstGeom prst="rect">
            <a:avLst/>
          </a:prstGeom>
          <a:ln>
            <a:noFill/>
          </a:ln>
        </p:spPr>
      </p:pic>
      <p:sp>
        <p:nvSpPr>
          <p:cNvPr id="10" name="TextBox 9">
            <a:extLst>
              <a:ext uri="{FF2B5EF4-FFF2-40B4-BE49-F238E27FC236}">
                <a16:creationId xmlns:a16="http://schemas.microsoft.com/office/drawing/2014/main" id="{FAD7164A-6308-463A-A815-ED186A106740}"/>
              </a:ext>
            </a:extLst>
          </p:cNvPr>
          <p:cNvSpPr txBox="1"/>
          <p:nvPr/>
        </p:nvSpPr>
        <p:spPr>
          <a:xfrm>
            <a:off x="739842" y="3619142"/>
            <a:ext cx="10712315" cy="2482667"/>
          </a:xfrm>
          <a:prstGeom prst="rect">
            <a:avLst/>
          </a:prstGeom>
          <a:noFill/>
        </p:spPr>
        <p:txBody>
          <a:bodyPr wrap="square">
            <a:spAutoFit/>
          </a:bodyPr>
          <a:lstStyle/>
          <a:p>
            <a:pPr algn="ctr">
              <a:lnSpc>
                <a:spcPct val="150000"/>
              </a:lnSpc>
            </a:pPr>
            <a:r>
              <a:rPr lang="en-AU" sz="3600" b="1" dirty="0"/>
              <a:t>Explain</a:t>
            </a:r>
            <a:r>
              <a:rPr lang="en-AU" sz="3600" dirty="0"/>
              <a:t> how you can use the </a:t>
            </a:r>
            <a:r>
              <a:rPr lang="en-AU" sz="3600" b="1" dirty="0"/>
              <a:t>grid structure of rows and columns</a:t>
            </a:r>
            <a:r>
              <a:rPr lang="en-AU" sz="3600" dirty="0"/>
              <a:t> to help to find the </a:t>
            </a:r>
            <a:r>
              <a:rPr lang="en-AU" sz="3600" b="1" dirty="0"/>
              <a:t>areas</a:t>
            </a:r>
            <a:r>
              <a:rPr lang="en-AU" sz="3600" dirty="0"/>
              <a:t>? </a:t>
            </a:r>
            <a:r>
              <a:rPr lang="en-AU" sz="3600" b="1" dirty="0"/>
              <a:t>Which rectangle </a:t>
            </a:r>
            <a:r>
              <a:rPr lang="en-AU" sz="3600" dirty="0"/>
              <a:t>has the </a:t>
            </a:r>
            <a:r>
              <a:rPr lang="en-AU" sz="3600" b="1" dirty="0"/>
              <a:t>larger area</a:t>
            </a:r>
            <a:r>
              <a:rPr lang="en-AU" sz="3600" dirty="0"/>
              <a:t>?</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a:t>
            </a:r>
            <a:r>
              <a:rPr lang="en-AU">
                <a:latin typeface="Arial"/>
                <a:cs typeface="Arial"/>
              </a:rPr>
              <a:t>ordering numbers using place value</a:t>
            </a:r>
            <a:endParaRPr lang="en-AU"/>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This image shows a simple illustration of a ladder with five horizontal rungs.">
            <a:extLst>
              <a:ext uri="{FF2B5EF4-FFF2-40B4-BE49-F238E27FC236}">
                <a16:creationId xmlns:a16="http://schemas.microsoft.com/office/drawing/2014/main" id="{BDD83846-542C-C2E9-9193-0152D70A93A2}"/>
              </a:ext>
            </a:extLst>
          </p:cNvPr>
          <p:cNvPicPr>
            <a:picLocks noChangeAspect="1"/>
          </p:cNvPicPr>
          <p:nvPr/>
        </p:nvPicPr>
        <p:blipFill>
          <a:blip r:embed="rId4"/>
          <a:stretch>
            <a:fillRect/>
          </a:stretch>
        </p:blipFill>
        <p:spPr>
          <a:xfrm>
            <a:off x="3294015" y="1151700"/>
            <a:ext cx="2249619" cy="5408580"/>
          </a:xfrm>
          <a:prstGeom prst="rect">
            <a:avLst/>
          </a:prstGeom>
        </p:spPr>
      </p:pic>
      <p:sp>
        <p:nvSpPr>
          <p:cNvPr id="5" name="TextBox 4">
            <a:extLst>
              <a:ext uri="{FF2B5EF4-FFF2-40B4-BE49-F238E27FC236}">
                <a16:creationId xmlns:a16="http://schemas.microsoft.com/office/drawing/2014/main" id="{8C521388-E0D8-76AC-6AA6-1D807BB81747}"/>
              </a:ext>
            </a:extLst>
          </p:cNvPr>
          <p:cNvSpPr txBox="1"/>
          <p:nvPr/>
        </p:nvSpPr>
        <p:spPr>
          <a:xfrm>
            <a:off x="4099275" y="2055387"/>
            <a:ext cx="639097" cy="363793"/>
          </a:xfrm>
          <a:prstGeom prst="rect">
            <a:avLst/>
          </a:prstGeom>
          <a:noFill/>
        </p:spPr>
        <p:txBody>
          <a:bodyPr wrap="square" lIns="0" tIns="0" rIns="0" bIns="0" rtlCol="0">
            <a:noAutofit/>
          </a:bodyPr>
          <a:lstStyle/>
          <a:p>
            <a:pPr algn="l"/>
            <a:r>
              <a:rPr lang="en-AU" dirty="0">
                <a:latin typeface="Arial" panose="020B0604020202020204" pitchFamily="34" charset="0"/>
                <a:cs typeface="Arial" panose="020B0604020202020204" pitchFamily="34" charset="0"/>
              </a:rPr>
              <a:t>741</a:t>
            </a:r>
          </a:p>
        </p:txBody>
      </p:sp>
      <p:sp>
        <p:nvSpPr>
          <p:cNvPr id="8" name="TextBox 7">
            <a:extLst>
              <a:ext uri="{FF2B5EF4-FFF2-40B4-BE49-F238E27FC236}">
                <a16:creationId xmlns:a16="http://schemas.microsoft.com/office/drawing/2014/main" id="{1F9321C3-BB3D-2F43-EB74-9EA046E9E4C4}"/>
              </a:ext>
            </a:extLst>
          </p:cNvPr>
          <p:cNvSpPr txBox="1"/>
          <p:nvPr/>
        </p:nvSpPr>
        <p:spPr>
          <a:xfrm>
            <a:off x="4099275" y="4188098"/>
            <a:ext cx="757084" cy="501445"/>
          </a:xfrm>
          <a:prstGeom prst="rect">
            <a:avLst/>
          </a:prstGeom>
          <a:noFill/>
        </p:spPr>
        <p:txBody>
          <a:bodyPr wrap="square" lIns="0" tIns="0" rIns="0" bIns="0" rtlCol="0">
            <a:noAutofit/>
          </a:bodyPr>
          <a:lstStyle/>
          <a:p>
            <a:pPr algn="l"/>
            <a:r>
              <a:rPr lang="en-AU">
                <a:latin typeface="Arial" panose="020B0604020202020204" pitchFamily="34" charset="0"/>
                <a:cs typeface="Arial" panose="020B0604020202020204" pitchFamily="34" charset="0"/>
              </a:rPr>
              <a:t>174</a:t>
            </a:r>
          </a:p>
        </p:txBody>
      </p:sp>
      <p:sp>
        <p:nvSpPr>
          <p:cNvPr id="7" name="TextBox 6">
            <a:extLst>
              <a:ext uri="{FF2B5EF4-FFF2-40B4-BE49-F238E27FC236}">
                <a16:creationId xmlns:a16="http://schemas.microsoft.com/office/drawing/2014/main" id="{D55045A4-6901-7A97-B331-C887FF4C0162}"/>
              </a:ext>
            </a:extLst>
          </p:cNvPr>
          <p:cNvSpPr txBox="1"/>
          <p:nvPr/>
        </p:nvSpPr>
        <p:spPr>
          <a:xfrm>
            <a:off x="5786248" y="1990998"/>
            <a:ext cx="5662040" cy="856364"/>
          </a:xfrm>
          <a:prstGeom prst="rect">
            <a:avLst/>
          </a:prstGeom>
          <a:noFill/>
        </p:spPr>
        <p:txBody>
          <a:bodyPr wrap="square" lIns="0" tIns="0" rIns="0" bIns="0" rtlCol="0">
            <a:noAutofit/>
          </a:bodyPr>
          <a:lstStyle/>
          <a:p>
            <a:pPr algn="l"/>
            <a:r>
              <a:rPr lang="en-AU" dirty="0"/>
              <a:t>7 hundreds, 4 tens and 1 ones = 741</a:t>
            </a:r>
          </a:p>
        </p:txBody>
      </p:sp>
      <p:sp>
        <p:nvSpPr>
          <p:cNvPr id="10" name="TextBox 9">
            <a:extLst>
              <a:ext uri="{FF2B5EF4-FFF2-40B4-BE49-F238E27FC236}">
                <a16:creationId xmlns:a16="http://schemas.microsoft.com/office/drawing/2014/main" id="{846261A4-8809-658B-165D-5729EFD2B0AA}"/>
              </a:ext>
            </a:extLst>
          </p:cNvPr>
          <p:cNvSpPr txBox="1"/>
          <p:nvPr/>
        </p:nvSpPr>
        <p:spPr>
          <a:xfrm>
            <a:off x="5786248" y="4112574"/>
            <a:ext cx="6099048" cy="461665"/>
          </a:xfrm>
          <a:prstGeom prst="rect">
            <a:avLst/>
          </a:prstGeom>
          <a:noFill/>
        </p:spPr>
        <p:txBody>
          <a:bodyPr wrap="square">
            <a:spAutoFit/>
          </a:bodyPr>
          <a:lstStyle/>
          <a:p>
            <a:pPr algn="l"/>
            <a:r>
              <a:rPr lang="en-AU" dirty="0"/>
              <a:t>1 hundreds, 7 tens and 4 ones = 174</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474481" y="1009200"/>
            <a:ext cx="11243037" cy="1659847"/>
          </a:xfrm>
        </p:spPr>
        <p:txBody>
          <a:bodyPr/>
          <a:lstStyle/>
          <a:p>
            <a:pPr algn="ctr"/>
            <a:r>
              <a:rPr lang="en-AU" sz="3600" dirty="0"/>
              <a:t>Which of the following shows a </a:t>
            </a:r>
            <a:r>
              <a:rPr lang="en-AU" sz="3600" b="1" dirty="0"/>
              <a:t>pattern</a:t>
            </a:r>
            <a:r>
              <a:rPr lang="en-AU" sz="3600" dirty="0"/>
              <a:t> counting </a:t>
            </a:r>
            <a:r>
              <a:rPr lang="en-AU" sz="3600" b="1" dirty="0"/>
              <a:t>forwards by 5s </a:t>
            </a:r>
            <a:r>
              <a:rPr lang="en-AU" sz="3600" dirty="0"/>
              <a:t>starting at 12?</a:t>
            </a:r>
            <a:endParaRPr lang="en-US" sz="3600" dirty="0"/>
          </a:p>
          <a:p>
            <a:pPr algn="ctr"/>
            <a:endParaRPr lang="en-US" sz="4400" dirty="0"/>
          </a:p>
        </p:txBody>
      </p:sp>
      <p:sp>
        <p:nvSpPr>
          <p:cNvPr id="9" name="TextBox 8">
            <a:extLst>
              <a:ext uri="{FF2B5EF4-FFF2-40B4-BE49-F238E27FC236}">
                <a16:creationId xmlns:a16="http://schemas.microsoft.com/office/drawing/2014/main" id="{9DAA2006-ADB4-D15B-B158-97DC39D26683}"/>
              </a:ext>
            </a:extLst>
          </p:cNvPr>
          <p:cNvSpPr txBox="1"/>
          <p:nvPr/>
        </p:nvSpPr>
        <p:spPr>
          <a:xfrm>
            <a:off x="670563" y="28962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600843" y="2877219"/>
            <a:ext cx="4031213" cy="641396"/>
          </a:xfrm>
        </p:spPr>
        <p:txBody>
          <a:bodyPr anchor="ctr"/>
          <a:lstStyle/>
          <a:p>
            <a:r>
              <a:rPr lang="en-AU" sz="3600"/>
              <a:t>12, 16, 20, 24, 28</a:t>
            </a:r>
            <a:endParaRPr lang="en-US" sz="3600"/>
          </a:p>
        </p:txBody>
      </p:sp>
      <p:sp>
        <p:nvSpPr>
          <p:cNvPr id="10" name="TextBox 9">
            <a:extLst>
              <a:ext uri="{FF2B5EF4-FFF2-40B4-BE49-F238E27FC236}">
                <a16:creationId xmlns:a16="http://schemas.microsoft.com/office/drawing/2014/main" id="{BF8FF86A-8259-4B6A-DD05-B5338957EDC3}"/>
              </a:ext>
            </a:extLst>
          </p:cNvPr>
          <p:cNvSpPr txBox="1"/>
          <p:nvPr/>
        </p:nvSpPr>
        <p:spPr>
          <a:xfrm>
            <a:off x="670562" y="38196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600844" y="3723477"/>
            <a:ext cx="4184961" cy="641396"/>
          </a:xfrm>
        </p:spPr>
        <p:txBody>
          <a:bodyPr anchor="ctr"/>
          <a:lstStyle/>
          <a:p>
            <a:r>
              <a:rPr lang="en-AU" sz="3600"/>
              <a:t>12, 17, 22, 27, 32</a:t>
            </a:r>
            <a:endParaRPr lang="en-US" sz="3600"/>
          </a:p>
        </p:txBody>
      </p:sp>
      <p:sp>
        <p:nvSpPr>
          <p:cNvPr id="12" name="TextBox 11">
            <a:extLst>
              <a:ext uri="{FF2B5EF4-FFF2-40B4-BE49-F238E27FC236}">
                <a16:creationId xmlns:a16="http://schemas.microsoft.com/office/drawing/2014/main" id="{BF4B35E9-90ED-91CF-6E7D-3023EE60AD9E}"/>
              </a:ext>
            </a:extLst>
          </p:cNvPr>
          <p:cNvSpPr txBox="1"/>
          <p:nvPr/>
        </p:nvSpPr>
        <p:spPr>
          <a:xfrm>
            <a:off x="670561" y="46696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600844" y="4573530"/>
            <a:ext cx="3709956" cy="641396"/>
          </a:xfrm>
        </p:spPr>
        <p:txBody>
          <a:bodyPr anchor="ctr"/>
          <a:lstStyle/>
          <a:p>
            <a:r>
              <a:rPr lang="en-AU" sz="3600"/>
              <a:t>12, 18, 24, 30, 36</a:t>
            </a:r>
            <a:endParaRPr lang="en-US" sz="3600"/>
          </a:p>
        </p:txBody>
      </p:sp>
      <p:sp>
        <p:nvSpPr>
          <p:cNvPr id="11" name="TextBox 10">
            <a:extLst>
              <a:ext uri="{FF2B5EF4-FFF2-40B4-BE49-F238E27FC236}">
                <a16:creationId xmlns:a16="http://schemas.microsoft.com/office/drawing/2014/main" id="{CD2988DB-B474-6203-5DD2-06443FE29ECF}"/>
              </a:ext>
            </a:extLst>
          </p:cNvPr>
          <p:cNvSpPr txBox="1"/>
          <p:nvPr/>
        </p:nvSpPr>
        <p:spPr>
          <a:xfrm>
            <a:off x="670560" y="551972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600844" y="5425723"/>
            <a:ext cx="3709956" cy="641396"/>
          </a:xfrm>
        </p:spPr>
        <p:txBody>
          <a:bodyPr anchor="ctr"/>
          <a:lstStyle/>
          <a:p>
            <a:r>
              <a:rPr lang="en-AU" sz="3600"/>
              <a:t>12, 20, 25, 30, 35</a:t>
            </a:r>
            <a:endParaRPr lang="en-US" sz="3600"/>
          </a:p>
        </p:txBody>
      </p:sp>
      <p:sp>
        <p:nvSpPr>
          <p:cNvPr id="2" name="Slide Number Placeholder 1">
            <a:extLst>
              <a:ext uri="{FF2B5EF4-FFF2-40B4-BE49-F238E27FC236}">
                <a16:creationId xmlns:a16="http://schemas.microsoft.com/office/drawing/2014/main" id="{A6C2BFFC-84AB-C30B-C108-1205554FD32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4">
            <a:extLst>
              <a:ext uri="{FF2B5EF4-FFF2-40B4-BE49-F238E27FC236}">
                <a16:creationId xmlns:a16="http://schemas.microsoft.com/office/drawing/2014/main" id="{F022FFFA-83F9-514D-B016-2ACC8DA94F98}"/>
              </a:ext>
            </a:extLst>
          </p:cNvPr>
          <p:cNvSpPr txBox="1">
            <a:spLocks/>
          </p:cNvSpPr>
          <p:nvPr/>
        </p:nvSpPr>
        <p:spPr>
          <a:xfrm>
            <a:off x="702939" y="1281841"/>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What number is represented by the MAB materials? </a:t>
            </a:r>
            <a:endParaRPr lang="en-US" sz="4400"/>
          </a:p>
        </p:txBody>
      </p:sp>
      <p:pic>
        <p:nvPicPr>
          <p:cNvPr id="5" name="Picture 4" descr="A collection of base ten blocks is arranged to represent a number. There are three large cubes (each representing 1000), six flat squares (each representing 100), nine rods (each representing 10), and two small single cubes (each representing 1).">
            <a:extLst>
              <a:ext uri="{FF2B5EF4-FFF2-40B4-BE49-F238E27FC236}">
                <a16:creationId xmlns:a16="http://schemas.microsoft.com/office/drawing/2014/main" id="{A028306D-6160-F806-5C2A-8B78881FCD51}"/>
              </a:ext>
            </a:extLst>
          </p:cNvPr>
          <p:cNvPicPr>
            <a:picLocks noChangeAspect="1"/>
          </p:cNvPicPr>
          <p:nvPr/>
        </p:nvPicPr>
        <p:blipFill>
          <a:blip r:embed="rId4"/>
          <a:stretch>
            <a:fillRect/>
          </a:stretch>
        </p:blipFill>
        <p:spPr>
          <a:xfrm>
            <a:off x="2647773" y="2133702"/>
            <a:ext cx="6896454" cy="2971953"/>
          </a:xfrm>
          <a:prstGeom prst="rect">
            <a:avLst/>
          </a:prstGeom>
        </p:spPr>
      </p:pic>
      <p:sp>
        <p:nvSpPr>
          <p:cNvPr id="9" name="TextBox 8">
            <a:extLst>
              <a:ext uri="{FF2B5EF4-FFF2-40B4-BE49-F238E27FC236}">
                <a16:creationId xmlns:a16="http://schemas.microsoft.com/office/drawing/2014/main" id="{D17C3840-1AC7-076F-6AF3-E2875FAC297D}"/>
              </a:ext>
            </a:extLst>
          </p:cNvPr>
          <p:cNvSpPr txBox="1"/>
          <p:nvPr/>
        </p:nvSpPr>
        <p:spPr>
          <a:xfrm>
            <a:off x="1686426" y="5576159"/>
            <a:ext cx="8819147" cy="646331"/>
          </a:xfrm>
          <a:prstGeom prst="rect">
            <a:avLst/>
          </a:prstGeom>
          <a:noFill/>
        </p:spPr>
        <p:txBody>
          <a:bodyPr wrap="square">
            <a:spAutoFit/>
          </a:bodyPr>
          <a:lstStyle/>
          <a:p>
            <a:pPr algn="ctr"/>
            <a:r>
              <a:rPr lang="en-AU" sz="3600" dirty="0"/>
              <a:t>What is the </a:t>
            </a:r>
            <a:r>
              <a:rPr lang="en-AU" sz="3600" b="1" dirty="0"/>
              <a:t>place value </a:t>
            </a:r>
            <a:r>
              <a:rPr lang="en-AU" sz="3600" dirty="0"/>
              <a:t>of each digit? </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6BDFA9A-126E-68B1-D787-EBF559ABEA98}"/>
              </a:ext>
            </a:extLst>
          </p:cNvPr>
          <p:cNvSpPr txBox="1"/>
          <p:nvPr/>
        </p:nvSpPr>
        <p:spPr>
          <a:xfrm>
            <a:off x="912366" y="2181802"/>
            <a:ext cx="10367267" cy="2748253"/>
          </a:xfrm>
          <a:prstGeom prst="rect">
            <a:avLst/>
          </a:prstGeom>
          <a:noFill/>
        </p:spPr>
        <p:txBody>
          <a:bodyPr wrap="square">
            <a:spAutoFit/>
          </a:bodyPr>
          <a:lstStyle/>
          <a:p>
            <a:pPr algn="ctr">
              <a:lnSpc>
                <a:spcPct val="150000"/>
              </a:lnSpc>
            </a:pPr>
            <a:r>
              <a:rPr lang="en-AU" sz="4000" dirty="0"/>
              <a:t>Record using a </a:t>
            </a:r>
            <a:r>
              <a:rPr lang="en-AU" sz="4000" b="1" dirty="0"/>
              <a:t>number line </a:t>
            </a:r>
            <a:r>
              <a:rPr lang="en-AU" sz="4000" dirty="0"/>
              <a:t>how Liam can build to a </a:t>
            </a:r>
            <a:r>
              <a:rPr lang="en-AU" sz="4000" b="1" dirty="0"/>
              <a:t>multiple of ten</a:t>
            </a:r>
            <a:r>
              <a:rPr lang="en-AU" sz="4000" dirty="0"/>
              <a:t> to solve </a:t>
            </a:r>
            <a:r>
              <a:rPr lang="en-AU" sz="4000" b="1" dirty="0"/>
              <a:t>56 + 28</a:t>
            </a:r>
            <a:r>
              <a:rPr lang="en-AU" sz="4000" dirty="0"/>
              <a:t>?</a:t>
            </a:r>
            <a:endParaRPr lang="en-AU" sz="4000" b="1" dirty="0"/>
          </a:p>
          <a:p>
            <a:pPr algn="ctr">
              <a:lnSpc>
                <a:spcPct val="150000"/>
              </a:lnSpc>
            </a:pPr>
            <a:endParaRPr lang="en-AU" sz="4000" dirty="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A56F9B6-B2DA-A53B-E5EF-C76C74A25FCA}"/>
              </a:ext>
            </a:extLst>
          </p:cNvPr>
          <p:cNvSpPr txBox="1"/>
          <p:nvPr/>
        </p:nvSpPr>
        <p:spPr>
          <a:xfrm>
            <a:off x="1074402" y="1399470"/>
            <a:ext cx="10493406" cy="4594912"/>
          </a:xfrm>
          <a:prstGeom prst="rect">
            <a:avLst/>
          </a:prstGeom>
          <a:noFill/>
        </p:spPr>
        <p:txBody>
          <a:bodyPr wrap="square">
            <a:spAutoFit/>
          </a:bodyPr>
          <a:lstStyle/>
          <a:p>
            <a:pPr algn="ctr">
              <a:lnSpc>
                <a:spcPct val="150000"/>
              </a:lnSpc>
            </a:pPr>
            <a:r>
              <a:rPr lang="en-AU" sz="4000" b="0" i="0" dirty="0">
                <a:solidFill>
                  <a:srgbClr val="000000"/>
                </a:solidFill>
                <a:effectLst/>
                <a:latin typeface="Arial" panose="020B0604020202020204" pitchFamily="34" charset="0"/>
                <a:cs typeface="Arial" panose="020B0604020202020204" pitchFamily="34" charset="0"/>
              </a:rPr>
              <a:t>There are </a:t>
            </a:r>
            <a:r>
              <a:rPr lang="en-AU" sz="4000" b="1" i="0" dirty="0">
                <a:solidFill>
                  <a:srgbClr val="000000"/>
                </a:solidFill>
                <a:effectLst/>
                <a:latin typeface="Arial" panose="020B0604020202020204" pitchFamily="34" charset="0"/>
                <a:cs typeface="Arial" panose="020B0604020202020204" pitchFamily="34" charset="0"/>
              </a:rPr>
              <a:t>24 apples</a:t>
            </a:r>
            <a:r>
              <a:rPr lang="en-AU" sz="4000" b="0" i="0" dirty="0">
                <a:solidFill>
                  <a:srgbClr val="000000"/>
                </a:solidFill>
                <a:effectLst/>
                <a:latin typeface="Arial" panose="020B0604020202020204" pitchFamily="34" charset="0"/>
                <a:cs typeface="Arial" panose="020B0604020202020204" pitchFamily="34" charset="0"/>
              </a:rPr>
              <a:t>. If you put them into baskets with </a:t>
            </a:r>
            <a:r>
              <a:rPr lang="en-AU" sz="4000" b="1" i="0" dirty="0">
                <a:solidFill>
                  <a:srgbClr val="000000"/>
                </a:solidFill>
                <a:effectLst/>
                <a:latin typeface="Arial" panose="020B0604020202020204" pitchFamily="34" charset="0"/>
                <a:cs typeface="Arial" panose="020B0604020202020204" pitchFamily="34" charset="0"/>
              </a:rPr>
              <a:t>6 apples </a:t>
            </a:r>
            <a:r>
              <a:rPr lang="en-AU" sz="4000" b="0" i="0" dirty="0">
                <a:solidFill>
                  <a:srgbClr val="000000"/>
                </a:solidFill>
                <a:effectLst/>
                <a:latin typeface="Arial" panose="020B0604020202020204" pitchFamily="34" charset="0"/>
                <a:cs typeface="Arial" panose="020B0604020202020204" pitchFamily="34" charset="0"/>
              </a:rPr>
              <a:t>in each basket, record </a:t>
            </a:r>
            <a:r>
              <a:rPr lang="en-AU" sz="4000" b="1" i="0" dirty="0">
                <a:solidFill>
                  <a:srgbClr val="000000"/>
                </a:solidFill>
                <a:effectLst/>
                <a:latin typeface="Arial" panose="020B0604020202020204" pitchFamily="34" charset="0"/>
                <a:cs typeface="Arial" panose="020B0604020202020204" pitchFamily="34" charset="0"/>
              </a:rPr>
              <a:t>how many baskets </a:t>
            </a:r>
            <a:r>
              <a:rPr lang="en-AU" sz="4000" b="0" i="0" dirty="0">
                <a:solidFill>
                  <a:srgbClr val="000000"/>
                </a:solidFill>
                <a:effectLst/>
                <a:latin typeface="Arial" panose="020B0604020202020204" pitchFamily="34" charset="0"/>
                <a:cs typeface="Arial" panose="020B0604020202020204" pitchFamily="34" charset="0"/>
              </a:rPr>
              <a:t>you will need. </a:t>
            </a:r>
          </a:p>
          <a:p>
            <a:pPr algn="ctr">
              <a:lnSpc>
                <a:spcPct val="150000"/>
              </a:lnSpc>
            </a:pPr>
            <a:endParaRPr lang="en-AU" sz="4000" dirty="0">
              <a:solidFill>
                <a:srgbClr val="000000"/>
              </a:solidFill>
              <a:latin typeface="Arial" panose="020B0604020202020204" pitchFamily="34" charset="0"/>
              <a:cs typeface="Arial" panose="020B0604020202020204" pitchFamily="34" charset="0"/>
            </a:endParaRPr>
          </a:p>
          <a:p>
            <a:pPr algn="ctr">
              <a:lnSpc>
                <a:spcPct val="150000"/>
              </a:lnSpc>
            </a:pPr>
            <a:r>
              <a:rPr lang="en-AU" sz="4000" b="1" dirty="0">
                <a:solidFill>
                  <a:srgbClr val="000000"/>
                </a:solidFill>
                <a:latin typeface="Arial" panose="020B0604020202020204" pitchFamily="34" charset="0"/>
                <a:cs typeface="Arial" panose="020B0604020202020204" pitchFamily="34" charset="0"/>
              </a:rPr>
              <a:t>Communicate</a:t>
            </a:r>
            <a:r>
              <a:rPr lang="en-AU" sz="4000" dirty="0">
                <a:solidFill>
                  <a:srgbClr val="000000"/>
                </a:solidFill>
                <a:latin typeface="Arial" panose="020B0604020202020204" pitchFamily="34" charset="0"/>
                <a:cs typeface="Arial" panose="020B0604020202020204" pitchFamily="34" charset="0"/>
              </a:rPr>
              <a:t> your </a:t>
            </a:r>
            <a:r>
              <a:rPr lang="en-AU" sz="4000" b="1" dirty="0">
                <a:solidFill>
                  <a:srgbClr val="000000"/>
                </a:solidFill>
                <a:latin typeface="Arial" panose="020B0604020202020204" pitchFamily="34" charset="0"/>
                <a:cs typeface="Arial" panose="020B0604020202020204" pitchFamily="34" charset="0"/>
              </a:rPr>
              <a:t>reasoning. </a:t>
            </a:r>
            <a:endParaRPr lang="en-AU" sz="4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06CA43A-3169-878E-36BC-D3E36D52FBB5}"/>
              </a:ext>
            </a:extLst>
          </p:cNvPr>
          <p:cNvSpPr txBox="1"/>
          <p:nvPr/>
        </p:nvSpPr>
        <p:spPr>
          <a:xfrm>
            <a:off x="467314" y="1432387"/>
            <a:ext cx="10877720" cy="1651671"/>
          </a:xfrm>
          <a:prstGeom prst="rect">
            <a:avLst/>
          </a:prstGeom>
          <a:noFill/>
        </p:spPr>
        <p:txBody>
          <a:bodyPr wrap="square">
            <a:spAutoFit/>
          </a:bodyPr>
          <a:lstStyle/>
          <a:p>
            <a:pPr>
              <a:lnSpc>
                <a:spcPct val="150000"/>
              </a:lnSpc>
            </a:pPr>
            <a:r>
              <a:rPr lang="en-AU" sz="3600" dirty="0"/>
              <a:t>Today is </a:t>
            </a:r>
            <a:r>
              <a:rPr lang="en-AU" sz="3600" b="1" dirty="0"/>
              <a:t>March 10</a:t>
            </a:r>
            <a:r>
              <a:rPr lang="en-AU" sz="3600" dirty="0"/>
              <a:t>. Your school holiday begins on </a:t>
            </a:r>
            <a:r>
              <a:rPr lang="en-AU" sz="3600" b="1" dirty="0"/>
              <a:t>April 20</a:t>
            </a:r>
            <a:r>
              <a:rPr lang="en-AU" sz="3600" dirty="0"/>
              <a:t>. How many </a:t>
            </a:r>
            <a:r>
              <a:rPr lang="en-AU" sz="3600" b="1" dirty="0"/>
              <a:t>days</a:t>
            </a:r>
            <a:r>
              <a:rPr lang="en-AU" sz="3600" dirty="0"/>
              <a:t> until the holidays?</a:t>
            </a:r>
          </a:p>
        </p:txBody>
      </p:sp>
      <p:pic>
        <p:nvPicPr>
          <p:cNvPr id="8" name="Picture 7" descr="A calendar for March and April 2025.">
            <a:extLst>
              <a:ext uri="{FF2B5EF4-FFF2-40B4-BE49-F238E27FC236}">
                <a16:creationId xmlns:a16="http://schemas.microsoft.com/office/drawing/2014/main" id="{DDB37676-BCB1-AF6B-E63B-F3AFAE454007}"/>
              </a:ext>
            </a:extLst>
          </p:cNvPr>
          <p:cNvPicPr>
            <a:picLocks noChangeAspect="1"/>
          </p:cNvPicPr>
          <p:nvPr/>
        </p:nvPicPr>
        <p:blipFill>
          <a:blip r:embed="rId4"/>
          <a:stretch>
            <a:fillRect/>
          </a:stretch>
        </p:blipFill>
        <p:spPr>
          <a:xfrm>
            <a:off x="2278232" y="3332222"/>
            <a:ext cx="7635535" cy="3077847"/>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a:t>
            </a:r>
            <a:r>
              <a:rPr lang="en-AU">
                <a:latin typeface="Arial"/>
                <a:cs typeface="Arial"/>
              </a:rPr>
              <a:t>skip counting</a:t>
            </a:r>
            <a:endParaRPr lang="en-AU"/>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his image displays three playing cards: the 5 of Spades, the 4 of Clubs, and the 10 of Diamonds.. Three number lines also on display.">
            <a:extLst>
              <a:ext uri="{FF2B5EF4-FFF2-40B4-BE49-F238E27FC236}">
                <a16:creationId xmlns:a16="http://schemas.microsoft.com/office/drawing/2014/main" id="{17BFFEFA-4BC9-6A4C-9A1E-9A229EEE7AB1}"/>
              </a:ext>
            </a:extLst>
          </p:cNvPr>
          <p:cNvPicPr>
            <a:picLocks noChangeAspect="1"/>
          </p:cNvPicPr>
          <p:nvPr/>
        </p:nvPicPr>
        <p:blipFill>
          <a:blip r:embed="rId4"/>
          <a:stretch>
            <a:fillRect/>
          </a:stretch>
        </p:blipFill>
        <p:spPr>
          <a:xfrm>
            <a:off x="1643597" y="1171741"/>
            <a:ext cx="8904805" cy="5524259"/>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1" y="1467110"/>
            <a:ext cx="11243037" cy="2946054"/>
          </a:xfrm>
        </p:spPr>
        <p:txBody>
          <a:bodyPr/>
          <a:lstStyle/>
          <a:p>
            <a:pPr algn="ctr"/>
            <a:r>
              <a:rPr lang="en-AU" sz="4400"/>
              <a:t>When </a:t>
            </a:r>
            <a:r>
              <a:rPr lang="en-AU" sz="4400" b="1"/>
              <a:t>skip counting backwards</a:t>
            </a:r>
            <a:r>
              <a:rPr lang="en-AU" sz="4400"/>
              <a:t> by </a:t>
            </a:r>
            <a:r>
              <a:rPr lang="en-AU" sz="4400" b="1"/>
              <a:t>5s</a:t>
            </a:r>
            <a:r>
              <a:rPr lang="en-AU" sz="4400"/>
              <a:t> starting at 30, the next four numbers are 25, 15, 10, and 5</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4">
            <a:extLst>
              <a:ext uri="{FF2B5EF4-FFF2-40B4-BE49-F238E27FC236}">
                <a16:creationId xmlns:a16="http://schemas.microsoft.com/office/drawing/2014/main" id="{059CFDF6-699D-2FB6-B9A4-387404DBFE8B}"/>
              </a:ext>
            </a:extLst>
          </p:cNvPr>
          <p:cNvSpPr txBox="1">
            <a:spLocks/>
          </p:cNvSpPr>
          <p:nvPr/>
        </p:nvSpPr>
        <p:spPr>
          <a:xfrm>
            <a:off x="360001" y="2322154"/>
            <a:ext cx="11357518" cy="360358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Record </a:t>
            </a:r>
            <a:r>
              <a:rPr lang="en-AU" sz="4400" b="1" dirty="0"/>
              <a:t>5186 </a:t>
            </a:r>
            <a:r>
              <a:rPr lang="en-AU" sz="4400" dirty="0"/>
              <a:t>using </a:t>
            </a:r>
            <a:r>
              <a:rPr lang="en-AU" sz="4400" b="1" dirty="0"/>
              <a:t>standard place value </a:t>
            </a:r>
            <a:r>
              <a:rPr lang="en-AU" sz="4400" dirty="0"/>
              <a:t>form</a:t>
            </a:r>
            <a:r>
              <a:rPr lang="en-AU" sz="4400" b="1" dirty="0"/>
              <a:t>.</a:t>
            </a:r>
            <a:endParaRPr lang="en-US" sz="4400" dirty="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D5E30B3-CC47-A4A8-8433-D05A7BBF8B1A}"/>
              </a:ext>
            </a:extLst>
          </p:cNvPr>
          <p:cNvSpPr txBox="1"/>
          <p:nvPr/>
        </p:nvSpPr>
        <p:spPr>
          <a:xfrm>
            <a:off x="994579" y="1922081"/>
            <a:ext cx="10129421" cy="3013838"/>
          </a:xfrm>
          <a:prstGeom prst="rect">
            <a:avLst/>
          </a:prstGeom>
          <a:noFill/>
        </p:spPr>
        <p:txBody>
          <a:bodyPr wrap="square">
            <a:spAutoFit/>
          </a:bodyPr>
          <a:lstStyle/>
          <a:p>
            <a:pPr algn="ctr">
              <a:lnSpc>
                <a:spcPct val="150000"/>
              </a:lnSpc>
            </a:pPr>
            <a:r>
              <a:rPr lang="en-AU" sz="4400" dirty="0"/>
              <a:t>Solve </a:t>
            </a:r>
            <a:r>
              <a:rPr lang="en-AU" sz="4400" b="1" dirty="0"/>
              <a:t>86 – 47 </a:t>
            </a:r>
            <a:r>
              <a:rPr lang="en-AU" sz="4400" dirty="0"/>
              <a:t>using a</a:t>
            </a:r>
            <a:r>
              <a:rPr lang="en-AU" sz="4400" b="1" dirty="0"/>
              <a:t> number line</a:t>
            </a:r>
            <a:r>
              <a:rPr lang="en-AU" sz="4400" dirty="0"/>
              <a:t>.</a:t>
            </a:r>
          </a:p>
          <a:p>
            <a:pPr algn="ctr">
              <a:lnSpc>
                <a:spcPct val="150000"/>
              </a:lnSpc>
            </a:pPr>
            <a:endParaRPr lang="en-AU" sz="4400" dirty="0"/>
          </a:p>
          <a:p>
            <a:pPr algn="ctr">
              <a:lnSpc>
                <a:spcPct val="150000"/>
              </a:lnSpc>
            </a:pPr>
            <a:r>
              <a:rPr lang="en-AU" sz="4400" b="1" dirty="0"/>
              <a:t>Communicate</a:t>
            </a:r>
            <a:r>
              <a:rPr lang="en-AU" sz="4400" dirty="0"/>
              <a:t> your </a:t>
            </a:r>
            <a:r>
              <a:rPr lang="en-AU" sz="4400" b="1" dirty="0"/>
              <a:t>reasoning.</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201CCEE-C735-A452-BD5C-237F8B4C44AD}"/>
              </a:ext>
            </a:extLst>
          </p:cNvPr>
          <p:cNvSpPr txBox="1"/>
          <p:nvPr/>
        </p:nvSpPr>
        <p:spPr>
          <a:xfrm>
            <a:off x="848553" y="1593208"/>
            <a:ext cx="10635447" cy="4029501"/>
          </a:xfrm>
          <a:prstGeom prst="rect">
            <a:avLst/>
          </a:prstGeom>
          <a:noFill/>
        </p:spPr>
        <p:txBody>
          <a:bodyPr wrap="square">
            <a:spAutoFit/>
          </a:bodyPr>
          <a:lstStyle/>
          <a:p>
            <a:pPr algn="ctr">
              <a:lnSpc>
                <a:spcPct val="150000"/>
              </a:lnSpc>
            </a:pPr>
            <a:r>
              <a:rPr lang="en-AU" sz="4400" dirty="0"/>
              <a:t>There are 18 cupcakes </a:t>
            </a:r>
            <a:r>
              <a:rPr lang="en-AU" sz="4400" b="1" dirty="0"/>
              <a:t>shared equally </a:t>
            </a:r>
            <a:r>
              <a:rPr lang="en-AU" sz="4400" dirty="0"/>
              <a:t>onto 3 plates. </a:t>
            </a:r>
            <a:r>
              <a:rPr lang="en-AU" sz="4400" b="1" dirty="0"/>
              <a:t>How many </a:t>
            </a:r>
            <a:r>
              <a:rPr lang="en-AU" sz="4400" dirty="0"/>
              <a:t>cupcakes are on each plate? </a:t>
            </a:r>
            <a:r>
              <a:rPr lang="en-AU" sz="4400" b="1" dirty="0"/>
              <a:t>Record</a:t>
            </a:r>
            <a:r>
              <a:rPr lang="en-AU" sz="4400" dirty="0"/>
              <a:t> your answer using drawings, words and numerals.</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n analog clock showing the time a quarter past 7. ">
            <a:extLst>
              <a:ext uri="{FF2B5EF4-FFF2-40B4-BE49-F238E27FC236}">
                <a16:creationId xmlns:a16="http://schemas.microsoft.com/office/drawing/2014/main" id="{98ED6967-1DD2-91A5-A631-EDC5D00D6E33}"/>
              </a:ext>
            </a:extLst>
          </p:cNvPr>
          <p:cNvPicPr>
            <a:picLocks noChangeAspect="1"/>
          </p:cNvPicPr>
          <p:nvPr/>
        </p:nvPicPr>
        <p:blipFill>
          <a:blip r:embed="rId4"/>
          <a:stretch>
            <a:fillRect/>
          </a:stretch>
        </p:blipFill>
        <p:spPr>
          <a:xfrm>
            <a:off x="4171851" y="905601"/>
            <a:ext cx="3848298" cy="3619686"/>
          </a:xfrm>
          <a:prstGeom prst="rect">
            <a:avLst/>
          </a:prstGeom>
        </p:spPr>
      </p:pic>
      <p:sp>
        <p:nvSpPr>
          <p:cNvPr id="5" name="TextBox 4">
            <a:extLst>
              <a:ext uri="{FF2B5EF4-FFF2-40B4-BE49-F238E27FC236}">
                <a16:creationId xmlns:a16="http://schemas.microsoft.com/office/drawing/2014/main" id="{283882D1-2EDF-DD19-FAF1-6C547B020322}"/>
              </a:ext>
            </a:extLst>
          </p:cNvPr>
          <p:cNvSpPr txBox="1"/>
          <p:nvPr/>
        </p:nvSpPr>
        <p:spPr>
          <a:xfrm>
            <a:off x="1367708" y="4499824"/>
            <a:ext cx="9860872" cy="1998176"/>
          </a:xfrm>
          <a:prstGeom prst="rect">
            <a:avLst/>
          </a:prstGeom>
          <a:noFill/>
        </p:spPr>
        <p:txBody>
          <a:bodyPr wrap="square">
            <a:spAutoFit/>
          </a:bodyPr>
          <a:lstStyle/>
          <a:p>
            <a:pPr algn="ctr">
              <a:lnSpc>
                <a:spcPct val="150000"/>
              </a:lnSpc>
            </a:pPr>
            <a:r>
              <a:rPr lang="en-AU" sz="4400" dirty="0"/>
              <a:t>What time is shown on the clock?</a:t>
            </a:r>
          </a:p>
          <a:p>
            <a:pPr algn="ctr">
              <a:lnSpc>
                <a:spcPct val="150000"/>
              </a:lnSpc>
            </a:pPr>
            <a:r>
              <a:rPr lang="en-AU" sz="4400" b="1" dirty="0"/>
              <a:t>Communicate</a:t>
            </a:r>
            <a:r>
              <a:rPr lang="en-AU" sz="4400" dirty="0"/>
              <a:t> your</a:t>
            </a:r>
            <a:r>
              <a:rPr lang="en-AU" sz="4400" b="1" dirty="0"/>
              <a:t> reasoning</a:t>
            </a:r>
            <a:r>
              <a:rPr lang="en-AU" sz="4400" dirty="0"/>
              <a:t>. </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number patterns</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Number patterns for twos - 12, 14, 16, ?,?,?; threes - 33, 36, 39, ?,?,?; fives - 105, 100, 95, ?,?,?">
            <a:extLst>
              <a:ext uri="{FF2B5EF4-FFF2-40B4-BE49-F238E27FC236}">
                <a16:creationId xmlns:a16="http://schemas.microsoft.com/office/drawing/2014/main" id="{FC8CB0B6-20A6-2A0D-5700-8663C697E890}"/>
              </a:ext>
            </a:extLst>
          </p:cNvPr>
          <p:cNvPicPr>
            <a:picLocks noChangeAspect="1"/>
          </p:cNvPicPr>
          <p:nvPr/>
        </p:nvPicPr>
        <p:blipFill>
          <a:blip r:embed="rId4"/>
          <a:stretch>
            <a:fillRect/>
          </a:stretch>
        </p:blipFill>
        <p:spPr>
          <a:xfrm>
            <a:off x="617405" y="1403256"/>
            <a:ext cx="10957190" cy="4306239"/>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474481" y="1302807"/>
            <a:ext cx="11243037" cy="2323261"/>
          </a:xfrm>
        </p:spPr>
        <p:txBody>
          <a:bodyPr/>
          <a:lstStyle/>
          <a:p>
            <a:pPr algn="ctr"/>
            <a:r>
              <a:rPr lang="en-AU" sz="4000"/>
              <a:t>What number comes next in this </a:t>
            </a:r>
            <a:r>
              <a:rPr lang="en-AU" sz="4000" b="1"/>
              <a:t>pattern</a:t>
            </a:r>
            <a:r>
              <a:rPr lang="en-AU" sz="4000"/>
              <a:t>?</a:t>
            </a:r>
          </a:p>
          <a:p>
            <a:pPr algn="ctr"/>
            <a:r>
              <a:rPr lang="en-AU" sz="4800" b="1"/>
              <a:t>12, 17, 22, 27, ___</a:t>
            </a:r>
            <a:endParaRPr lang="en-US" sz="4800" b="1"/>
          </a:p>
        </p:txBody>
      </p:sp>
      <p:graphicFrame>
        <p:nvGraphicFramePr>
          <p:cNvPr id="5" name="Table 4">
            <a:extLst>
              <a:ext uri="{FF2B5EF4-FFF2-40B4-BE49-F238E27FC236}">
                <a16:creationId xmlns:a16="http://schemas.microsoft.com/office/drawing/2014/main" id="{335B4A69-8815-170A-ACAF-608BD63DF454}"/>
              </a:ext>
            </a:extLst>
          </p:cNvPr>
          <p:cNvGraphicFramePr>
            <a:graphicFrameLocks noGrp="1"/>
          </p:cNvGraphicFramePr>
          <p:nvPr>
            <p:extLst>
              <p:ext uri="{D42A27DB-BD31-4B8C-83A1-F6EECF244321}">
                <p14:modId xmlns:p14="http://schemas.microsoft.com/office/powerpoint/2010/main" val="3647912294"/>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rPr>
                        <a:t>31</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32</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34</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033522BE-E752-4D83-ECF0-EEC0DBB9E1B0}"/>
              </a:ext>
            </a:extLst>
          </p:cNvPr>
          <p:cNvSpPr txBox="1"/>
          <p:nvPr/>
        </p:nvSpPr>
        <p:spPr>
          <a:xfrm>
            <a:off x="612115" y="958992"/>
            <a:ext cx="11333861" cy="1651671"/>
          </a:xfrm>
          <a:prstGeom prst="rect">
            <a:avLst/>
          </a:prstGeom>
          <a:noFill/>
        </p:spPr>
        <p:txBody>
          <a:bodyPr wrap="square">
            <a:spAutoFit/>
          </a:bodyPr>
          <a:lstStyle/>
          <a:p>
            <a:pPr algn="ctr">
              <a:lnSpc>
                <a:spcPct val="150000"/>
              </a:lnSpc>
              <a:buNone/>
            </a:pPr>
            <a:r>
              <a:rPr lang="en-AU" sz="3600"/>
              <a:t>Record the </a:t>
            </a:r>
            <a:r>
              <a:rPr lang="en-AU" sz="3600" b="1"/>
              <a:t>missing numbers </a:t>
            </a:r>
            <a:r>
              <a:rPr lang="en-AU" sz="3600"/>
              <a:t>for the number chart </a:t>
            </a:r>
            <a:r>
              <a:rPr lang="en-AU" sz="3600" b="1"/>
              <a:t>pattern</a:t>
            </a:r>
            <a:r>
              <a:rPr lang="en-AU" sz="3600"/>
              <a:t>. </a:t>
            </a:r>
          </a:p>
        </p:txBody>
      </p:sp>
      <p:pic>
        <p:nvPicPr>
          <p:cNvPr id="14" name="Picture 13" descr="An L-shaped arrangement of blank square boxes is shown. The vertical part has five boxes stacked, with the middle box containing the number 756. The horizontal part extends to the right from the bottom box and contains four blank boxes">
            <a:extLst>
              <a:ext uri="{FF2B5EF4-FFF2-40B4-BE49-F238E27FC236}">
                <a16:creationId xmlns:a16="http://schemas.microsoft.com/office/drawing/2014/main" id="{F16CE41A-CD30-DA19-366B-5385412C193E}"/>
              </a:ext>
            </a:extLst>
          </p:cNvPr>
          <p:cNvPicPr>
            <a:picLocks noChangeAspect="1"/>
          </p:cNvPicPr>
          <p:nvPr/>
        </p:nvPicPr>
        <p:blipFill>
          <a:blip r:embed="rId4"/>
          <a:stretch>
            <a:fillRect/>
          </a:stretch>
        </p:blipFill>
        <p:spPr>
          <a:xfrm>
            <a:off x="4243510" y="2783465"/>
            <a:ext cx="4059664" cy="3912535"/>
          </a:xfrm>
          <a:prstGeom prst="rect">
            <a:avLst/>
          </a:prstGeom>
        </p:spPr>
      </p:pic>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B098A3F-0B20-675E-2850-4B1C1B6B089F}"/>
              </a:ext>
            </a:extLst>
          </p:cNvPr>
          <p:cNvSpPr txBox="1"/>
          <p:nvPr/>
        </p:nvSpPr>
        <p:spPr>
          <a:xfrm>
            <a:off x="837502" y="1593208"/>
            <a:ext cx="10516995" cy="4029501"/>
          </a:xfrm>
          <a:prstGeom prst="rect">
            <a:avLst/>
          </a:prstGeom>
          <a:noFill/>
        </p:spPr>
        <p:txBody>
          <a:bodyPr wrap="square">
            <a:spAutoFit/>
          </a:bodyPr>
          <a:lstStyle/>
          <a:p>
            <a:pPr algn="ctr">
              <a:lnSpc>
                <a:spcPct val="150000"/>
              </a:lnSpc>
            </a:pPr>
            <a:r>
              <a:rPr lang="en-AU" sz="4400" dirty="0"/>
              <a:t>Use </a:t>
            </a:r>
            <a:r>
              <a:rPr lang="en-AU" sz="4400" b="1" dirty="0"/>
              <a:t>quantity values </a:t>
            </a:r>
            <a:r>
              <a:rPr lang="en-AU" sz="4400" dirty="0"/>
              <a:t>to separate the </a:t>
            </a:r>
            <a:r>
              <a:rPr lang="en-AU" sz="4400" b="1" dirty="0"/>
              <a:t>tens</a:t>
            </a:r>
            <a:r>
              <a:rPr lang="en-AU" sz="4400" dirty="0"/>
              <a:t> and </a:t>
            </a:r>
            <a:r>
              <a:rPr lang="en-AU" sz="4400" b="1" dirty="0"/>
              <a:t>ones </a:t>
            </a:r>
            <a:r>
              <a:rPr lang="en-AU" sz="4400" dirty="0"/>
              <a:t>to solve </a:t>
            </a:r>
            <a:r>
              <a:rPr lang="en-AU" sz="4400" b="1" dirty="0"/>
              <a:t>79 + 33</a:t>
            </a:r>
            <a:r>
              <a:rPr lang="en-AU" sz="4400" dirty="0"/>
              <a:t>.</a:t>
            </a:r>
          </a:p>
          <a:p>
            <a:pPr>
              <a:lnSpc>
                <a:spcPct val="150000"/>
              </a:lnSpc>
            </a:pPr>
            <a:endParaRPr lang="en-AU" sz="4400" dirty="0"/>
          </a:p>
          <a:p>
            <a:pPr algn="ctr">
              <a:lnSpc>
                <a:spcPct val="150000"/>
              </a:lnSpc>
            </a:pPr>
            <a:r>
              <a:rPr lang="en-AU" sz="4400" b="1" dirty="0"/>
              <a:t>Communicate</a:t>
            </a:r>
            <a:r>
              <a:rPr lang="en-AU" sz="4400" dirty="0"/>
              <a:t> your </a:t>
            </a:r>
            <a:r>
              <a:rPr lang="en-AU" sz="4400" b="1" dirty="0"/>
              <a:t>reasoning</a:t>
            </a:r>
            <a:r>
              <a:rPr lang="en-AU" sz="4400" dirty="0"/>
              <a:t>. </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9F277CF-F477-3B23-3FAD-6EF8A61E16B8}"/>
              </a:ext>
            </a:extLst>
          </p:cNvPr>
          <p:cNvSpPr txBox="1"/>
          <p:nvPr/>
        </p:nvSpPr>
        <p:spPr>
          <a:xfrm>
            <a:off x="1216199" y="1917047"/>
            <a:ext cx="9759602" cy="3023905"/>
          </a:xfrm>
          <a:prstGeom prst="rect">
            <a:avLst/>
          </a:prstGeom>
          <a:noFill/>
        </p:spPr>
        <p:txBody>
          <a:bodyPr wrap="square">
            <a:spAutoFit/>
          </a:bodyPr>
          <a:lstStyle/>
          <a:p>
            <a:pPr algn="ctr">
              <a:lnSpc>
                <a:spcPct val="150000"/>
              </a:lnSpc>
            </a:pPr>
            <a:r>
              <a:rPr lang="en-AU" sz="4400" b="0" i="0" dirty="0">
                <a:solidFill>
                  <a:srgbClr val="000000"/>
                </a:solidFill>
                <a:effectLst/>
                <a:latin typeface="Arial" panose="020B0604020202020204" pitchFamily="34" charset="0"/>
                <a:cs typeface="Arial" panose="020B0604020202020204" pitchFamily="34" charset="0"/>
              </a:rPr>
              <a:t>There are </a:t>
            </a:r>
            <a:r>
              <a:rPr lang="en-AU" sz="4400" b="1" i="0" dirty="0">
                <a:solidFill>
                  <a:srgbClr val="000000"/>
                </a:solidFill>
                <a:effectLst/>
                <a:latin typeface="Arial" panose="020B0604020202020204" pitchFamily="34" charset="0"/>
                <a:cs typeface="Arial" panose="020B0604020202020204" pitchFamily="34" charset="0"/>
              </a:rPr>
              <a:t>23 </a:t>
            </a:r>
            <a:r>
              <a:rPr lang="en-AU" sz="4400" b="1" dirty="0">
                <a:solidFill>
                  <a:srgbClr val="000000"/>
                </a:solidFill>
                <a:latin typeface="Arial" panose="020B0604020202020204" pitchFamily="34" charset="0"/>
                <a:cs typeface="Arial" panose="020B0604020202020204" pitchFamily="34" charset="0"/>
              </a:rPr>
              <a:t>oranges</a:t>
            </a:r>
            <a:r>
              <a:rPr lang="en-AU" sz="4400" b="0" i="0" dirty="0">
                <a:solidFill>
                  <a:srgbClr val="000000"/>
                </a:solidFill>
                <a:effectLst/>
                <a:latin typeface="Arial" panose="020B0604020202020204" pitchFamily="34" charset="0"/>
                <a:cs typeface="Arial" panose="020B0604020202020204" pitchFamily="34" charset="0"/>
              </a:rPr>
              <a:t>. If </a:t>
            </a:r>
            <a:r>
              <a:rPr lang="en-AU" sz="4400" b="1" i="0" dirty="0">
                <a:solidFill>
                  <a:srgbClr val="000000"/>
                </a:solidFill>
                <a:effectLst/>
                <a:latin typeface="Arial" panose="020B0604020202020204" pitchFamily="34" charset="0"/>
                <a:cs typeface="Arial" panose="020B0604020202020204" pitchFamily="34" charset="0"/>
              </a:rPr>
              <a:t>5 oranges </a:t>
            </a:r>
            <a:r>
              <a:rPr lang="en-AU" sz="4400" b="0" i="0" dirty="0">
                <a:solidFill>
                  <a:srgbClr val="000000"/>
                </a:solidFill>
                <a:effectLst/>
                <a:latin typeface="Arial" panose="020B0604020202020204" pitchFamily="34" charset="0"/>
                <a:cs typeface="Arial" panose="020B0604020202020204" pitchFamily="34" charset="0"/>
              </a:rPr>
              <a:t>are put in each basket, </a:t>
            </a:r>
            <a:r>
              <a:rPr lang="en-AU" sz="4400" b="1" i="0" dirty="0">
                <a:solidFill>
                  <a:srgbClr val="000000"/>
                </a:solidFill>
                <a:effectLst/>
                <a:latin typeface="Arial" panose="020B0604020202020204" pitchFamily="34" charset="0"/>
                <a:cs typeface="Arial" panose="020B0604020202020204" pitchFamily="34" charset="0"/>
              </a:rPr>
              <a:t>how many </a:t>
            </a:r>
            <a:r>
              <a:rPr lang="en-AU" sz="4400" b="0" i="0" dirty="0">
                <a:solidFill>
                  <a:srgbClr val="000000"/>
                </a:solidFill>
                <a:effectLst/>
                <a:latin typeface="Arial" panose="020B0604020202020204" pitchFamily="34" charset="0"/>
                <a:cs typeface="Arial" panose="020B0604020202020204" pitchFamily="34" charset="0"/>
              </a:rPr>
              <a:t>baskets are needed?</a:t>
            </a:r>
            <a:endParaRPr lang="en-AU"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Blue rectangular prism">
            <a:extLst>
              <a:ext uri="{FF2B5EF4-FFF2-40B4-BE49-F238E27FC236}">
                <a16:creationId xmlns:a16="http://schemas.microsoft.com/office/drawing/2014/main" id="{E6F373E6-19C9-4019-65AC-588E420D16F3}"/>
              </a:ext>
            </a:extLst>
          </p:cNvPr>
          <p:cNvPicPr>
            <a:picLocks noChangeAspect="1"/>
          </p:cNvPicPr>
          <p:nvPr/>
        </p:nvPicPr>
        <p:blipFill>
          <a:blip r:embed="rId4"/>
          <a:stretch>
            <a:fillRect/>
          </a:stretch>
        </p:blipFill>
        <p:spPr>
          <a:xfrm>
            <a:off x="4381354" y="816994"/>
            <a:ext cx="3680527" cy="2283479"/>
          </a:xfrm>
          <a:prstGeom prst="rect">
            <a:avLst/>
          </a:prstGeom>
        </p:spPr>
      </p:pic>
      <p:sp>
        <p:nvSpPr>
          <p:cNvPr id="5" name="TextBox 4">
            <a:extLst>
              <a:ext uri="{FF2B5EF4-FFF2-40B4-BE49-F238E27FC236}">
                <a16:creationId xmlns:a16="http://schemas.microsoft.com/office/drawing/2014/main" id="{72B487C3-A2A5-3E9E-8B6B-70AAC92DB35B}"/>
              </a:ext>
            </a:extLst>
          </p:cNvPr>
          <p:cNvSpPr txBox="1"/>
          <p:nvPr/>
        </p:nvSpPr>
        <p:spPr>
          <a:xfrm>
            <a:off x="1336728" y="3011866"/>
            <a:ext cx="8413812" cy="3671583"/>
          </a:xfrm>
          <a:prstGeom prst="rect">
            <a:avLst/>
          </a:prstGeom>
          <a:noFill/>
        </p:spPr>
        <p:txBody>
          <a:bodyPr wrap="square">
            <a:spAutoFit/>
          </a:bodyPr>
          <a:lstStyle/>
          <a:p>
            <a:pPr algn="ctr">
              <a:lnSpc>
                <a:spcPct val="150000"/>
              </a:lnSpc>
              <a:buNone/>
            </a:pPr>
            <a:r>
              <a:rPr lang="en-AU" sz="4000" dirty="0"/>
              <a:t>Describe the</a:t>
            </a:r>
            <a:r>
              <a:rPr lang="en-AU" sz="4000" b="1" dirty="0"/>
              <a:t> prism </a:t>
            </a:r>
            <a:r>
              <a:rPr lang="en-AU" sz="4000" dirty="0"/>
              <a:t>by recording:</a:t>
            </a:r>
          </a:p>
          <a:p>
            <a:pPr marL="3009839" lvl="4" indent="-571500">
              <a:lnSpc>
                <a:spcPct val="150000"/>
              </a:lnSpc>
              <a:buFont typeface="Arial" panose="020B0604020202020204" pitchFamily="34" charset="0"/>
              <a:buChar char="•"/>
            </a:pPr>
            <a:r>
              <a:rPr lang="en-AU" sz="4000" dirty="0"/>
              <a:t>How many </a:t>
            </a:r>
            <a:r>
              <a:rPr lang="en-AU" sz="4000" b="1" dirty="0"/>
              <a:t>faces?</a:t>
            </a:r>
            <a:endParaRPr lang="en-AU" sz="4000" dirty="0"/>
          </a:p>
          <a:p>
            <a:pPr marL="3009839" lvl="4" indent="-571500">
              <a:lnSpc>
                <a:spcPct val="150000"/>
              </a:lnSpc>
              <a:buFont typeface="Arial" panose="020B0604020202020204" pitchFamily="34" charset="0"/>
              <a:buChar char="•"/>
            </a:pPr>
            <a:r>
              <a:rPr lang="en-AU" sz="4000" dirty="0"/>
              <a:t>How many </a:t>
            </a:r>
            <a:r>
              <a:rPr lang="en-AU" sz="4000" b="1" dirty="0"/>
              <a:t>edges?</a:t>
            </a:r>
            <a:r>
              <a:rPr lang="en-AU" sz="4000" dirty="0"/>
              <a:t> </a:t>
            </a:r>
          </a:p>
          <a:p>
            <a:pPr marL="3009839" lvl="4" indent="-571500">
              <a:lnSpc>
                <a:spcPct val="150000"/>
              </a:lnSpc>
              <a:buFont typeface="Arial" panose="020B0604020202020204" pitchFamily="34" charset="0"/>
              <a:buChar char="•"/>
            </a:pPr>
            <a:r>
              <a:rPr lang="en-AU" sz="4000" dirty="0"/>
              <a:t>How many </a:t>
            </a:r>
            <a:r>
              <a:rPr lang="en-AU" sz="4000" b="1" dirty="0"/>
              <a:t>vertices?</a:t>
            </a:r>
            <a:endParaRPr lang="en-AU" sz="4000" dirty="0"/>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a:t>
            </a:r>
            <a:r>
              <a:rPr lang="en-AU">
                <a:latin typeface="Arial"/>
                <a:cs typeface="Arial"/>
              </a:rPr>
              <a:t>missing number patterns</a:t>
            </a:r>
            <a:endParaRPr lang="en-AU"/>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Number pattern with numbers missing.">
            <a:extLst>
              <a:ext uri="{FF2B5EF4-FFF2-40B4-BE49-F238E27FC236}">
                <a16:creationId xmlns:a16="http://schemas.microsoft.com/office/drawing/2014/main" id="{465D35E2-D5D0-C2E1-D9FF-9B8567B9A5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5935" y="1097258"/>
            <a:ext cx="6120130" cy="2536825"/>
          </a:xfrm>
          <a:prstGeom prst="rect">
            <a:avLst/>
          </a:prstGeom>
        </p:spPr>
      </p:pic>
      <p:pic>
        <p:nvPicPr>
          <p:cNvPr id="8" name="Picture 7" descr="Number pattern with numbers missing.">
            <a:extLst>
              <a:ext uri="{FF2B5EF4-FFF2-40B4-BE49-F238E27FC236}">
                <a16:creationId xmlns:a16="http://schemas.microsoft.com/office/drawing/2014/main" id="{51187E92-02DA-A016-2A20-9DEA08C16A72}"/>
              </a:ext>
            </a:extLst>
          </p:cNvPr>
          <p:cNvPicPr>
            <a:picLocks noChangeAspect="1"/>
          </p:cNvPicPr>
          <p:nvPr/>
        </p:nvPicPr>
        <p:blipFill>
          <a:blip r:embed="rId5"/>
          <a:stretch>
            <a:fillRect/>
          </a:stretch>
        </p:blipFill>
        <p:spPr>
          <a:xfrm>
            <a:off x="3035935" y="3825740"/>
            <a:ext cx="6120130" cy="2931160"/>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454296" y="1141647"/>
            <a:ext cx="10029704" cy="3376497"/>
          </a:xfrm>
        </p:spPr>
        <p:txBody>
          <a:bodyPr/>
          <a:lstStyle/>
          <a:p>
            <a:pPr algn="ctr"/>
            <a:r>
              <a:rPr lang="en-AU" sz="4400"/>
              <a:t>In the number </a:t>
            </a:r>
            <a:r>
              <a:rPr lang="en-AU" sz="4400" b="1"/>
              <a:t>pattern</a:t>
            </a:r>
            <a:r>
              <a:rPr lang="en-AU" sz="4400"/>
              <a:t> </a:t>
            </a:r>
          </a:p>
          <a:p>
            <a:pPr algn="ctr"/>
            <a:r>
              <a:rPr lang="en-AU" sz="4400"/>
              <a:t>9, 14, 19, 24, ___, 34</a:t>
            </a:r>
          </a:p>
          <a:p>
            <a:pPr algn="ctr"/>
            <a:r>
              <a:rPr lang="en-AU" sz="4400"/>
              <a:t> the missing number is 29.</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Rectangle 1">
            <a:extLst>
              <a:ext uri="{FF2B5EF4-FFF2-40B4-BE49-F238E27FC236}">
                <a16:creationId xmlns:a16="http://schemas.microsoft.com/office/drawing/2014/main" id="{CC1923B0-954A-ACAE-2615-D5F657C19CA8}"/>
              </a:ext>
            </a:extLst>
          </p:cNvPr>
          <p:cNvSpPr>
            <a:spLocks noChangeArrowheads="1"/>
          </p:cNvSpPr>
          <p:nvPr/>
        </p:nvSpPr>
        <p:spPr bwMode="auto">
          <a:xfrm>
            <a:off x="509275" y="1355884"/>
            <a:ext cx="10828421" cy="2424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Rearrange the balls into an </a:t>
            </a:r>
            <a:r>
              <a:rPr kumimoji="0" lang="en-US" altLang="en-US" sz="2800" b="1" i="0" u="none" strike="noStrike" cap="none" normalizeH="0" baseline="0" dirty="0">
                <a:ln>
                  <a:noFill/>
                </a:ln>
                <a:solidFill>
                  <a:schemeClr val="tx1"/>
                </a:solidFill>
                <a:effectLst/>
                <a:latin typeface="Arial" panose="020B0604020202020204" pitchFamily="34" charset="0"/>
              </a:rPr>
              <a:t>array. </a:t>
            </a:r>
            <a:r>
              <a:rPr kumimoji="0" lang="en-US" altLang="en-US" sz="2800" b="0" i="0" u="none" strike="noStrike" cap="none" normalizeH="0" baseline="0" dirty="0">
                <a:ln>
                  <a:noFill/>
                </a:ln>
                <a:solidFill>
                  <a:schemeClr val="tx1"/>
                </a:solidFill>
                <a:effectLst/>
                <a:latin typeface="Arial" panose="020B0604020202020204" pitchFamily="34" charset="0"/>
              </a:rPr>
              <a:t>Describe the </a:t>
            </a:r>
            <a:r>
              <a:rPr kumimoji="0" lang="en-US" altLang="en-US" sz="2800" b="1" i="0" u="none" strike="noStrike" cap="none" normalizeH="0" baseline="0" dirty="0">
                <a:ln>
                  <a:noFill/>
                </a:ln>
                <a:solidFill>
                  <a:schemeClr val="tx1"/>
                </a:solidFill>
                <a:effectLst/>
                <a:latin typeface="Arial" panose="020B0604020202020204" pitchFamily="34" charset="0"/>
              </a:rPr>
              <a:t>array</a:t>
            </a:r>
            <a:r>
              <a:rPr kumimoji="0" lang="en-US" altLang="en-US" sz="2800" b="0" i="0" u="none" strike="noStrike" cap="none" normalizeH="0" baseline="0" dirty="0">
                <a:ln>
                  <a:noFill/>
                </a:ln>
                <a:solidFill>
                  <a:schemeClr val="tx1"/>
                </a:solidFill>
                <a:effectLst/>
                <a:latin typeface="Arial" panose="020B0604020202020204" pitchFamily="34" charset="0"/>
              </a:rPr>
              <a:t> using the language of </a:t>
            </a:r>
            <a:r>
              <a:rPr kumimoji="0" lang="en-US" altLang="en-US" sz="2800" b="1" i="0" u="none" strike="noStrike" cap="none" normalizeH="0" baseline="0" dirty="0">
                <a:ln>
                  <a:noFill/>
                </a:ln>
                <a:solidFill>
                  <a:schemeClr val="tx1"/>
                </a:solidFill>
                <a:effectLst/>
                <a:latin typeface="Arial" panose="020B0604020202020204" pitchFamily="34" charset="0"/>
              </a:rPr>
              <a:t>multiples</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ctr"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For example, my array is __ </a:t>
            </a:r>
            <a:r>
              <a:rPr lang="en-US" altLang="en-US" dirty="0">
                <a:latin typeface="Arial" panose="020B0604020202020204" pitchFamily="34" charset="0"/>
              </a:rPr>
              <a:t>r</a:t>
            </a:r>
            <a:r>
              <a:rPr kumimoji="0" lang="en-US" altLang="en-US" b="0" i="0" u="none" strike="noStrike" cap="none" normalizeH="0" baseline="0" dirty="0">
                <a:ln>
                  <a:noFill/>
                </a:ln>
                <a:solidFill>
                  <a:schemeClr val="tx1"/>
                </a:solidFill>
                <a:effectLst/>
                <a:latin typeface="Arial" panose="020B0604020202020204" pitchFamily="34" charset="0"/>
              </a:rPr>
              <a:t>ows of __ Which is a total of ___. So, ____ is a multiple of ___ and </a:t>
            </a:r>
            <a:r>
              <a:rPr lang="en-US" altLang="en-US" dirty="0">
                <a:latin typeface="Arial" panose="020B0604020202020204" pitchFamily="34" charset="0"/>
              </a:rPr>
              <a:t>____.</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8" name="Picture 7" descr="Balls in groups of 2. There are 6 groups">
            <a:extLst>
              <a:ext uri="{FF2B5EF4-FFF2-40B4-BE49-F238E27FC236}">
                <a16:creationId xmlns:a16="http://schemas.microsoft.com/office/drawing/2014/main" id="{34AA2F64-3D44-3506-1C3C-0308F6B2E1DD}"/>
              </a:ext>
            </a:extLst>
          </p:cNvPr>
          <p:cNvPicPr>
            <a:picLocks noChangeAspect="1"/>
          </p:cNvPicPr>
          <p:nvPr/>
        </p:nvPicPr>
        <p:blipFill>
          <a:blip r:embed="rId4"/>
          <a:stretch>
            <a:fillRect/>
          </a:stretch>
        </p:blipFill>
        <p:spPr>
          <a:xfrm>
            <a:off x="3246520" y="3952055"/>
            <a:ext cx="5181512" cy="2653945"/>
          </a:xfrm>
          <a:prstGeom prst="rect">
            <a:avLst/>
          </a:prstGeom>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3CD03B15-5D48-7282-A0BE-96019AEA5111}"/>
              </a:ext>
            </a:extLst>
          </p:cNvPr>
          <p:cNvSpPr txBox="1"/>
          <p:nvPr/>
        </p:nvSpPr>
        <p:spPr>
          <a:xfrm>
            <a:off x="726198" y="1599204"/>
            <a:ext cx="10757802" cy="4029501"/>
          </a:xfrm>
          <a:prstGeom prst="rect">
            <a:avLst/>
          </a:prstGeom>
          <a:noFill/>
        </p:spPr>
        <p:txBody>
          <a:bodyPr wrap="square">
            <a:spAutoFit/>
          </a:bodyPr>
          <a:lstStyle/>
          <a:p>
            <a:pPr algn="ctr">
              <a:lnSpc>
                <a:spcPct val="150000"/>
              </a:lnSpc>
            </a:pPr>
            <a:r>
              <a:rPr lang="en-AU" sz="4400" dirty="0"/>
              <a:t>Use </a:t>
            </a:r>
            <a:r>
              <a:rPr lang="en-AU" sz="4400" b="1" dirty="0"/>
              <a:t>the inverse strategy </a:t>
            </a:r>
            <a:r>
              <a:rPr lang="en-AU" sz="4400" dirty="0"/>
              <a:t>to solve </a:t>
            </a:r>
          </a:p>
          <a:p>
            <a:pPr algn="ctr">
              <a:lnSpc>
                <a:spcPct val="150000"/>
              </a:lnSpc>
            </a:pPr>
            <a:r>
              <a:rPr lang="en-AU" sz="4400" dirty="0"/>
              <a:t>$150- $62 = </a:t>
            </a:r>
          </a:p>
          <a:p>
            <a:pPr algn="ctr">
              <a:lnSpc>
                <a:spcPct val="150000"/>
              </a:lnSpc>
            </a:pPr>
            <a:endParaRPr lang="en-AU" sz="4400" dirty="0"/>
          </a:p>
          <a:p>
            <a:pPr algn="ctr">
              <a:lnSpc>
                <a:spcPct val="150000"/>
              </a:lnSpc>
            </a:pPr>
            <a:r>
              <a:rPr lang="en-AU" sz="4400" b="1" dirty="0"/>
              <a:t>Record</a:t>
            </a:r>
            <a:r>
              <a:rPr lang="en-AU" sz="4400" dirty="0"/>
              <a:t> your solution on a </a:t>
            </a:r>
            <a:r>
              <a:rPr lang="en-AU" sz="4400" b="1" dirty="0"/>
              <a:t>number line</a:t>
            </a:r>
            <a:r>
              <a:rPr lang="en-AU" sz="4400" dirty="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5C98B72-5DAD-B324-9C7F-7FAE5A1EFAC8}"/>
              </a:ext>
            </a:extLst>
          </p:cNvPr>
          <p:cNvSpPr txBox="1"/>
          <p:nvPr/>
        </p:nvSpPr>
        <p:spPr>
          <a:xfrm>
            <a:off x="1385679" y="1060890"/>
            <a:ext cx="10098321" cy="5045164"/>
          </a:xfrm>
          <a:prstGeom prst="rect">
            <a:avLst/>
          </a:prstGeom>
          <a:noFill/>
        </p:spPr>
        <p:txBody>
          <a:bodyPr wrap="square">
            <a:spAutoFit/>
          </a:bodyPr>
          <a:lstStyle/>
          <a:p>
            <a:pPr algn="ctr">
              <a:lnSpc>
                <a:spcPct val="150000"/>
              </a:lnSpc>
            </a:pPr>
            <a:r>
              <a:rPr lang="en-AU" sz="4400"/>
              <a:t>A farmer has </a:t>
            </a:r>
            <a:r>
              <a:rPr lang="en-AU" sz="4400" b="1"/>
              <a:t>18 eggs</a:t>
            </a:r>
            <a:r>
              <a:rPr lang="en-AU" sz="4400"/>
              <a:t>. He wants to pack them into boxes with </a:t>
            </a:r>
            <a:r>
              <a:rPr lang="en-AU" sz="4400" b="1"/>
              <a:t>4 eggs </a:t>
            </a:r>
            <a:r>
              <a:rPr lang="en-AU" sz="4400"/>
              <a:t>in each box. How many </a:t>
            </a:r>
            <a:r>
              <a:rPr lang="en-AU" sz="4400" b="1"/>
              <a:t>full boxes </a:t>
            </a:r>
            <a:r>
              <a:rPr lang="en-AU" sz="4400"/>
              <a:t>can he make, and how many eggs will be </a:t>
            </a:r>
            <a:r>
              <a:rPr lang="en-AU" sz="4400" b="1"/>
              <a:t>left over</a:t>
            </a:r>
            <a:r>
              <a:rPr lang="en-AU" sz="4400"/>
              <a:t>? </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black arrow">
            <a:extLst>
              <a:ext uri="{FF2B5EF4-FFF2-40B4-BE49-F238E27FC236}">
                <a16:creationId xmlns:a16="http://schemas.microsoft.com/office/drawing/2014/main" id="{52DF3166-6A1B-11B7-FD19-08DBF245CB17}"/>
              </a:ext>
            </a:extLst>
          </p:cNvPr>
          <p:cNvPicPr>
            <a:picLocks noChangeAspect="1"/>
          </p:cNvPicPr>
          <p:nvPr/>
        </p:nvPicPr>
        <p:blipFill>
          <a:blip r:embed="rId4"/>
          <a:stretch>
            <a:fillRect/>
          </a:stretch>
        </p:blipFill>
        <p:spPr>
          <a:xfrm>
            <a:off x="7146900" y="3085487"/>
            <a:ext cx="1480793" cy="1518020"/>
          </a:xfrm>
          <a:prstGeom prst="rect">
            <a:avLst/>
          </a:prstGeom>
        </p:spPr>
      </p:pic>
      <p:sp>
        <p:nvSpPr>
          <p:cNvPr id="8" name="TextBox 7">
            <a:extLst>
              <a:ext uri="{FF2B5EF4-FFF2-40B4-BE49-F238E27FC236}">
                <a16:creationId xmlns:a16="http://schemas.microsoft.com/office/drawing/2014/main" id="{F9C10647-7EE0-340C-E3EE-AD97598404FC}"/>
              </a:ext>
            </a:extLst>
          </p:cNvPr>
          <p:cNvSpPr txBox="1"/>
          <p:nvPr/>
        </p:nvSpPr>
        <p:spPr>
          <a:xfrm>
            <a:off x="833368" y="1356669"/>
            <a:ext cx="10525263" cy="4975657"/>
          </a:xfrm>
          <a:prstGeom prst="rect">
            <a:avLst/>
          </a:prstGeom>
          <a:noFill/>
        </p:spPr>
        <p:txBody>
          <a:bodyPr wrap="square">
            <a:spAutoFit/>
          </a:bodyPr>
          <a:lstStyle/>
          <a:p>
            <a:pPr algn="ctr">
              <a:lnSpc>
                <a:spcPct val="150000"/>
              </a:lnSpc>
            </a:pPr>
            <a:r>
              <a:rPr lang="en-AU" sz="3600" dirty="0"/>
              <a:t>An arrow is turned a </a:t>
            </a:r>
            <a:r>
              <a:rPr lang="en-AU" sz="3600" b="1" dirty="0"/>
              <a:t>quarter turn clockwise</a:t>
            </a:r>
            <a:r>
              <a:rPr lang="en-AU" sz="3600" dirty="0"/>
              <a:t> each time. After </a:t>
            </a:r>
            <a:r>
              <a:rPr lang="en-AU" sz="3600" b="1" dirty="0"/>
              <a:t>4 turns</a:t>
            </a:r>
            <a:r>
              <a:rPr lang="en-AU" sz="3600" dirty="0"/>
              <a:t>, the shape is back in its starting position.</a:t>
            </a:r>
            <a:br>
              <a:rPr lang="en-AU" sz="3600" dirty="0"/>
            </a:br>
            <a:endParaRPr lang="en-AU" sz="3600" dirty="0"/>
          </a:p>
          <a:p>
            <a:pPr algn="ctr">
              <a:lnSpc>
                <a:spcPct val="150000"/>
              </a:lnSpc>
            </a:pPr>
            <a:r>
              <a:rPr lang="en-AU" sz="3600" dirty="0"/>
              <a:t>Draw the </a:t>
            </a:r>
            <a:r>
              <a:rPr lang="en-AU" sz="3600" b="1" dirty="0"/>
              <a:t>repeating pattern </a:t>
            </a:r>
            <a:r>
              <a:rPr lang="en-AU" sz="3600" dirty="0"/>
              <a:t>formed by the quarter turns.</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a:t>
            </a:r>
            <a:r>
              <a:rPr lang="en-AU" dirty="0">
                <a:latin typeface="Arial"/>
                <a:cs typeface="Arial"/>
              </a:rPr>
              <a:t>multiples and number sequence</a:t>
            </a:r>
            <a:endParaRPr lang="en-AU" dirty="0"/>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n empty number line from 0 to 36.">
            <a:extLst>
              <a:ext uri="{FF2B5EF4-FFF2-40B4-BE49-F238E27FC236}">
                <a16:creationId xmlns:a16="http://schemas.microsoft.com/office/drawing/2014/main" id="{F9E78914-0B5D-5997-4661-6BD6054A4B4D}"/>
              </a:ext>
            </a:extLst>
          </p:cNvPr>
          <p:cNvPicPr>
            <a:picLocks noChangeAspect="1"/>
          </p:cNvPicPr>
          <p:nvPr/>
        </p:nvPicPr>
        <p:blipFill>
          <a:blip r:embed="rId4"/>
          <a:stretch>
            <a:fillRect/>
          </a:stretch>
        </p:blipFill>
        <p:spPr>
          <a:xfrm>
            <a:off x="1128880" y="2581156"/>
            <a:ext cx="10355120" cy="1695687"/>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54000" y="3311579"/>
            <a:ext cx="11484000" cy="2927351"/>
          </a:xfrm>
        </p:spPr>
        <p:txBody>
          <a:bodyPr/>
          <a:lstStyle/>
          <a:p>
            <a:pPr fontAlgn="base"/>
            <a:r>
              <a:rPr lang="en-AU" dirty="0"/>
              <a:t>[</a:t>
            </a:r>
            <a:r>
              <a:rPr lang="en-AU" u="sng" dirty="0">
                <a:solidFill>
                  <a:srgbClr val="2F5496"/>
                </a:solidFill>
                <a:latin typeface="Arial" panose="020B0604020202020204" pitchFamily="34" charset="0"/>
                <a:hlinkClick r:id="rId6"/>
              </a:rPr>
              <a:t>Mathematics K–10 Syllabus</a:t>
            </a:r>
            <a:r>
              <a:rPr lang="en-AU" dirty="0">
                <a:solidFill>
                  <a:srgbClr val="000000"/>
                </a:solidFill>
                <a:latin typeface="Arial" panose="020B0604020202020204" pitchFamily="34" charset="0"/>
              </a:rPr>
              <a:t> © NSW Education Standards Authority (NESA) for and on behalf of the Crown in right of the State of New South Wales, 2022. </a:t>
            </a:r>
            <a:endParaRPr lang="en-AU" dirty="0">
              <a:solidFill>
                <a:srgbClr val="000000"/>
              </a:solidFill>
              <a:latin typeface="Segoe UI" panose="020B0502040204020203" pitchFamily="34" charset="0"/>
            </a:endParaRPr>
          </a:p>
          <a:p>
            <a:pPr fontAlgn="base"/>
            <a:r>
              <a:rPr lang="en-AU" u="sng" dirty="0">
                <a:solidFill>
                  <a:srgbClr val="2F5496"/>
                </a:solidFill>
                <a:latin typeface="Arial" panose="020B0604020202020204" pitchFamily="34" charset="0"/>
                <a:hlinkClick r:id="rId7"/>
              </a:rPr>
              <a:t>National Numeracy Learning Progression</a:t>
            </a:r>
            <a:r>
              <a:rPr lang="en-AU" dirty="0">
                <a:solidFill>
                  <a:srgbClr val="000000"/>
                </a:solidFill>
                <a:latin typeface="Arial" panose="020B0604020202020204" pitchFamily="34" charset="0"/>
              </a:rPr>
              <a:t> © Australian Curriculum, Assessment and Reporting Authority (ACARA) 2010 to present, unless otherwise indicated. This material was downloaded from the </a:t>
            </a:r>
            <a:r>
              <a:rPr lang="en-AU" u="sng" dirty="0">
                <a:solidFill>
                  <a:srgbClr val="2F5496"/>
                </a:solidFill>
                <a:latin typeface="Arial" panose="020B0604020202020204" pitchFamily="34" charset="0"/>
                <a:hlinkClick r:id="rId8"/>
              </a:rPr>
              <a:t>Australian Curriculum</a:t>
            </a:r>
            <a:r>
              <a:rPr lang="en-AU" dirty="0">
                <a:solidFill>
                  <a:srgbClr val="000000"/>
                </a:solidFill>
                <a:latin typeface="Arial" panose="020B0604020202020204" pitchFamily="34" charset="0"/>
              </a:rPr>
              <a:t> website (National Literacy Learning Progression) (accessed 24 August 2023) and was not modified. </a:t>
            </a:r>
            <a:endParaRPr lang="en-AU" dirty="0">
              <a:solidFill>
                <a:srgbClr val="000000"/>
              </a:solidFill>
              <a:latin typeface="Segoe UI" panose="020B0502040204020203" pitchFamily="34" charset="0"/>
            </a:endParaRPr>
          </a:p>
          <a:p>
            <a:pPr fontAlgn="base"/>
            <a:r>
              <a:rPr lang="en-AU" dirty="0" err="1">
                <a:solidFill>
                  <a:srgbClr val="000000"/>
                </a:solidFill>
                <a:latin typeface="Arial" panose="020B0604020202020204" pitchFamily="34" charset="0"/>
              </a:rPr>
              <a:t>Boaler</a:t>
            </a:r>
            <a:r>
              <a:rPr lang="en-AU" dirty="0">
                <a:solidFill>
                  <a:srgbClr val="000000"/>
                </a:solidFill>
                <a:latin typeface="Arial" panose="020B0604020202020204" pitchFamily="34" charset="0"/>
              </a:rPr>
              <a:t> J, Munson J, and Williams C (2021) </a:t>
            </a:r>
            <a:r>
              <a:rPr lang="en-AU" i="1" dirty="0">
                <a:solidFill>
                  <a:srgbClr val="000000"/>
                </a:solidFill>
                <a:latin typeface="Arial" panose="020B0604020202020204" pitchFamily="34" charset="0"/>
              </a:rPr>
              <a:t>Mindset Mathematics: Visualising and Investigating Big Ideas</a:t>
            </a:r>
            <a:r>
              <a:rPr lang="en-AU" dirty="0">
                <a:solidFill>
                  <a:srgbClr val="000000"/>
                </a:solidFill>
                <a:latin typeface="Arial" panose="020B0604020202020204" pitchFamily="34" charset="0"/>
              </a:rPr>
              <a:t>, </a:t>
            </a:r>
            <a:r>
              <a:rPr lang="en-AU" i="1" dirty="0">
                <a:solidFill>
                  <a:srgbClr val="000000"/>
                </a:solidFill>
                <a:latin typeface="Arial" panose="020B0604020202020204" pitchFamily="34" charset="0"/>
              </a:rPr>
              <a:t>Grade 1</a:t>
            </a:r>
            <a:r>
              <a:rPr lang="en-AU" dirty="0">
                <a:solidFill>
                  <a:srgbClr val="000000"/>
                </a:solidFill>
                <a:latin typeface="Arial" panose="020B0604020202020204" pitchFamily="34" charset="0"/>
              </a:rPr>
              <a:t>, Jossey-Bass Inc., US. </a:t>
            </a:r>
          </a:p>
          <a:p>
            <a:pPr fontAlgn="base"/>
            <a:r>
              <a:rPr lang="en-AU" dirty="0">
                <a:solidFill>
                  <a:srgbClr val="000000"/>
                </a:solidFill>
                <a:cs typeface="Arial"/>
              </a:rPr>
              <a:t>New Zealand Ministry of Education (</a:t>
            </a:r>
            <a:r>
              <a:rPr lang="en-AU" dirty="0" err="1">
                <a:solidFill>
                  <a:srgbClr val="000000"/>
                </a:solidFill>
                <a:cs typeface="Arial"/>
              </a:rPr>
              <a:t>n.d</a:t>
            </a:r>
            <a:r>
              <a:rPr lang="en-AU" dirty="0">
                <a:solidFill>
                  <a:srgbClr val="000000"/>
                </a:solidFill>
                <a:cs typeface="Arial"/>
              </a:rPr>
              <a:t>)  </a:t>
            </a:r>
            <a:r>
              <a:rPr lang="en-AU" i="1" dirty="0">
                <a:solidFill>
                  <a:srgbClr val="000000"/>
                </a:solidFill>
                <a:cs typeface="Arial"/>
              </a:rPr>
              <a:t>Memory Doubles,</a:t>
            </a:r>
            <a:r>
              <a:rPr lang="en-AU" dirty="0">
                <a:solidFill>
                  <a:srgbClr val="000000"/>
                </a:solidFill>
                <a:cs typeface="Arial"/>
              </a:rPr>
              <a:t> NZ Maths website, accessed 19 May 2023. </a:t>
            </a:r>
          </a:p>
          <a:p>
            <a:pPr fontAlgn="base"/>
            <a:r>
              <a:rPr lang="en-AU" dirty="0">
                <a:solidFill>
                  <a:srgbClr val="000000"/>
                </a:solidFill>
                <a:cs typeface="Arial"/>
              </a:rPr>
              <a:t>Siemon D, Warren E, Beswick K, Faragher R, Miller J, Horne M, </a:t>
            </a:r>
            <a:r>
              <a:rPr lang="en-AU" dirty="0" err="1">
                <a:solidFill>
                  <a:srgbClr val="000000"/>
                </a:solidFill>
                <a:cs typeface="Arial"/>
              </a:rPr>
              <a:t>Jazby</a:t>
            </a:r>
            <a:r>
              <a:rPr lang="en-AU" dirty="0">
                <a:solidFill>
                  <a:srgbClr val="000000"/>
                </a:solidFill>
                <a:cs typeface="Arial"/>
              </a:rPr>
              <a:t> D, Breed M, Clark J and Brady K (2021) </a:t>
            </a:r>
            <a:r>
              <a:rPr lang="en-AU" i="1" dirty="0">
                <a:solidFill>
                  <a:srgbClr val="000000"/>
                </a:solidFill>
                <a:cs typeface="Arial"/>
              </a:rPr>
              <a:t>Teaching Mathematics: Foundations to Middle Years</a:t>
            </a:r>
            <a:r>
              <a:rPr lang="en-AU" dirty="0">
                <a:solidFill>
                  <a:srgbClr val="000000"/>
                </a:solidFill>
                <a:cs typeface="Arial"/>
              </a:rPr>
              <a:t>, 3rd </a:t>
            </a:r>
            <a:r>
              <a:rPr lang="en-AU" dirty="0" err="1">
                <a:solidFill>
                  <a:srgbClr val="000000"/>
                </a:solidFill>
                <a:cs typeface="Arial"/>
              </a:rPr>
              <a:t>edn</a:t>
            </a:r>
            <a:r>
              <a:rPr lang="en-AU" dirty="0">
                <a:solidFill>
                  <a:srgbClr val="000000"/>
                </a:solidFill>
                <a:cs typeface="Arial"/>
              </a:rPr>
              <a:t>, Oxford University Press ANZ, Australia. </a:t>
            </a:r>
          </a:p>
          <a:p>
            <a:pPr fontAlgn="base"/>
            <a:r>
              <a:rPr lang="en-AU" dirty="0">
                <a:solidFill>
                  <a:srgbClr val="000000"/>
                </a:solidFill>
                <a:latin typeface="Arial" panose="020B0604020202020204" pitchFamily="34" charset="0"/>
              </a:rPr>
              <a:t>Stanford University (n.d.) ‘</a:t>
            </a:r>
            <a:r>
              <a:rPr lang="en-AU" u="sng" dirty="0">
                <a:solidFill>
                  <a:srgbClr val="2F5496"/>
                </a:solidFill>
                <a:latin typeface="Arial" panose="020B0604020202020204" pitchFamily="34" charset="0"/>
                <a:hlinkClick r:id="rId9"/>
              </a:rPr>
              <a:t>Pig</a:t>
            </a:r>
            <a:r>
              <a:rPr lang="en-AU" dirty="0">
                <a:solidFill>
                  <a:srgbClr val="000000"/>
                </a:solidFill>
                <a:latin typeface="Arial" panose="020B0604020202020204" pitchFamily="34" charset="0"/>
              </a:rPr>
              <a:t>’, </a:t>
            </a:r>
            <a:r>
              <a:rPr lang="en-AU" i="1" dirty="0">
                <a:solidFill>
                  <a:srgbClr val="000000"/>
                </a:solidFill>
                <a:latin typeface="Arial" panose="020B0604020202020204" pitchFamily="34" charset="0"/>
              </a:rPr>
              <a:t>Tasks</a:t>
            </a:r>
            <a:r>
              <a:rPr lang="en-AU" dirty="0">
                <a:solidFill>
                  <a:srgbClr val="000000"/>
                </a:solidFill>
                <a:latin typeface="Arial" panose="020B0604020202020204" pitchFamily="34" charset="0"/>
              </a:rPr>
              <a:t>, </a:t>
            </a:r>
            <a:r>
              <a:rPr lang="en-AU" dirty="0" err="1">
                <a:solidFill>
                  <a:srgbClr val="000000"/>
                </a:solidFill>
                <a:latin typeface="Arial" panose="020B0604020202020204" pitchFamily="34" charset="0"/>
              </a:rPr>
              <a:t>youcubed</a:t>
            </a:r>
            <a:r>
              <a:rPr lang="en-AU" dirty="0">
                <a:solidFill>
                  <a:srgbClr val="000000"/>
                </a:solidFill>
                <a:latin typeface="Arial" panose="020B0604020202020204" pitchFamily="34" charset="0"/>
              </a:rPr>
              <a:t> website, accessed 19 May 2023. </a:t>
            </a:r>
            <a:endParaRPr lang="en-AU" dirty="0">
              <a:solidFill>
                <a:srgbClr val="000000"/>
              </a:solidFill>
              <a:latin typeface="Segoe UI" panose="020B0502040204020203" pitchFamily="34" charset="0"/>
            </a:endParaRPr>
          </a:p>
          <a:p>
            <a:pPr fontAlgn="base"/>
            <a:r>
              <a:rPr lang="en-AU" dirty="0">
                <a:solidFill>
                  <a:srgbClr val="000000"/>
                </a:solidFill>
                <a:cs typeface="Arial"/>
              </a:rPr>
              <a:t>State of New South Wales (Department of Education) (2023) ‘</a:t>
            </a:r>
            <a:r>
              <a:rPr lang="en-AU" u="sng" dirty="0">
                <a:solidFill>
                  <a:srgbClr val="2F5496"/>
                </a:solidFill>
                <a:cs typeface="Arial"/>
                <a:hlinkClick r:id="rId10"/>
              </a:rPr>
              <a:t>Mastermind</a:t>
            </a:r>
            <a:r>
              <a:rPr lang="en-AU" u="sng" dirty="0">
                <a:solidFill>
                  <a:srgbClr val="2F5496"/>
                </a:solidFill>
                <a:cs typeface="Arial"/>
              </a:rPr>
              <a:t>’</a:t>
            </a:r>
            <a:r>
              <a:rPr lang="en-AU" dirty="0">
                <a:solidFill>
                  <a:srgbClr val="000000"/>
                </a:solidFill>
                <a:cs typeface="Arial"/>
              </a:rPr>
              <a:t>, </a:t>
            </a:r>
            <a:r>
              <a:rPr lang="en-AU" i="1" dirty="0">
                <a:solidFill>
                  <a:srgbClr val="000000"/>
                </a:solidFill>
                <a:cs typeface="Arial"/>
              </a:rPr>
              <a:t>Mathematics K-6 resources</a:t>
            </a:r>
            <a:r>
              <a:rPr lang="en-AU" dirty="0">
                <a:solidFill>
                  <a:srgbClr val="000000"/>
                </a:solidFill>
                <a:cs typeface="Arial"/>
              </a:rPr>
              <a:t>, NSW Department of Education website, accessed 19 May 2023.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0"/>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228264" y="3327134"/>
            <a:ext cx="11394623" cy="2911990"/>
          </a:xfrm>
        </p:spPr>
        <p:txBody>
          <a:bodyPr vert="horz" lIns="0" tIns="0" rIns="0" bIns="0" rtlCol="0" anchor="t">
            <a:noAutofit/>
          </a:bodyPr>
          <a:lstStyle/>
          <a:p>
            <a:r>
              <a:rPr lang="en-AU" sz="1200" b="0" i="0">
                <a:solidFill>
                  <a:srgbClr val="000000"/>
                </a:solidFill>
                <a:effectLst/>
                <a:latin typeface="Arial"/>
                <a:cs typeface="Arial"/>
              </a:rPr>
              <a:t>State of New South Wales (Department of Education) (2023) ‘</a:t>
            </a:r>
            <a:r>
              <a:rPr lang="en-AU" sz="1200" b="0" i="0" u="sng" strike="noStrike">
                <a:solidFill>
                  <a:srgbClr val="2F5496"/>
                </a:solidFill>
                <a:effectLst/>
                <a:latin typeface="Arial"/>
                <a:cs typeface="Arial"/>
                <a:hlinkClick r:id="rId5"/>
              </a:rPr>
              <a:t>Number busting – number talk (renaming 26)</a:t>
            </a:r>
            <a:r>
              <a:rPr lang="en-AU" sz="1200" b="0" i="0" u="sng">
                <a:solidFill>
                  <a:srgbClr val="2F5496"/>
                </a:solidFill>
                <a:effectLst/>
                <a:latin typeface="Arial"/>
                <a:cs typeface="Arial"/>
              </a:rPr>
              <a:t>’</a:t>
            </a:r>
            <a:r>
              <a:rPr lang="en-AU" sz="1200" b="0" i="0">
                <a:solidFill>
                  <a:srgbClr val="000000"/>
                </a:solidFill>
                <a:effectLst/>
                <a:latin typeface="Arial"/>
                <a:cs typeface="Arial"/>
              </a:rPr>
              <a:t>, </a:t>
            </a:r>
            <a:r>
              <a:rPr lang="en-AU" sz="1200" b="0" i="1">
                <a:solidFill>
                  <a:srgbClr val="000000"/>
                </a:solidFill>
                <a:effectLst/>
                <a:latin typeface="Arial"/>
                <a:cs typeface="Arial"/>
              </a:rPr>
              <a:t>Mathematics K-6 resources</a:t>
            </a:r>
            <a:r>
              <a:rPr lang="en-AU" sz="1200" b="0" i="0">
                <a:solidFill>
                  <a:srgbClr val="000000"/>
                </a:solidFill>
                <a:effectLst/>
                <a:latin typeface="Arial"/>
                <a:cs typeface="Arial"/>
              </a:rPr>
              <a:t>, NSW Department of Education website, accessed 19 May 2023. </a:t>
            </a:r>
          </a:p>
          <a:p>
            <a:pPr fontAlgn="base"/>
            <a:r>
              <a:rPr lang="en-AU" sz="1200" b="0" i="0">
                <a:solidFill>
                  <a:srgbClr val="000000"/>
                </a:solidFill>
                <a:effectLst/>
                <a:latin typeface="Arial"/>
                <a:cs typeface="Arial"/>
              </a:rPr>
              <a:t>State of New South Wales (Department of Education) (</a:t>
            </a:r>
            <a:r>
              <a:rPr lang="en-AU" sz="1200" b="0" i="0" err="1">
                <a:solidFill>
                  <a:srgbClr val="000000"/>
                </a:solidFill>
                <a:effectLst/>
                <a:latin typeface="Arial"/>
                <a:cs typeface="Arial"/>
              </a:rPr>
              <a:t>n.d</a:t>
            </a:r>
            <a:r>
              <a:rPr lang="en-AU" sz="1200" b="0" i="0">
                <a:solidFill>
                  <a:srgbClr val="000000"/>
                </a:solidFill>
                <a:effectLst/>
                <a:latin typeface="Arial"/>
                <a:cs typeface="Arial"/>
              </a:rPr>
              <a:t>)</a:t>
            </a:r>
            <a:r>
              <a:rPr lang="en-AU">
                <a:solidFill>
                  <a:srgbClr val="000000"/>
                </a:solidFill>
                <a:latin typeface="Arial"/>
                <a:cs typeface="Arial"/>
              </a:rPr>
              <a:t> </a:t>
            </a:r>
            <a:r>
              <a:rPr lang="en-AU" sz="1200" b="0" i="0">
                <a:solidFill>
                  <a:srgbClr val="000000"/>
                </a:solidFill>
                <a:effectLst/>
                <a:latin typeface="Arial"/>
                <a:cs typeface="Arial"/>
              </a:rPr>
              <a:t> </a:t>
            </a:r>
            <a:r>
              <a:rPr lang="en-AU" i="1">
                <a:solidFill>
                  <a:srgbClr val="000000"/>
                </a:solidFill>
                <a:latin typeface="Arial"/>
                <a:cs typeface="Arial"/>
              </a:rPr>
              <a:t>Number line jump</a:t>
            </a:r>
            <a:r>
              <a:rPr lang="en-AU">
                <a:solidFill>
                  <a:srgbClr val="000000"/>
                </a:solidFill>
                <a:latin typeface="Arial"/>
                <a:cs typeface="Arial"/>
              </a:rPr>
              <a:t>s, Developing</a:t>
            </a:r>
            <a:r>
              <a:rPr lang="en-AU" sz="1200" b="0" i="0">
                <a:solidFill>
                  <a:srgbClr val="000000"/>
                </a:solidFill>
                <a:effectLst/>
                <a:latin typeface="Arial"/>
                <a:cs typeface="Arial"/>
              </a:rPr>
              <a:t> Efficient Numeracy Strategies website, accessed 19 May 2023. </a:t>
            </a:r>
            <a:endParaRPr lang="en-AU" b="0" i="0">
              <a:solidFill>
                <a:srgbClr val="000000"/>
              </a:solidFill>
              <a:effectLst/>
              <a:latin typeface="Arial"/>
              <a:cs typeface="Arial"/>
            </a:endParaRPr>
          </a:p>
          <a:p>
            <a:pPr fontAlgn="base"/>
            <a:r>
              <a:rPr lang="en-AU" sz="1200" b="0" i="0">
                <a:solidFill>
                  <a:srgbClr val="000000"/>
                </a:solidFill>
                <a:effectLst/>
                <a:latin typeface="Arial"/>
                <a:cs typeface="Arial"/>
              </a:rPr>
              <a:t>State of Victoria (Department of Education and Training) (2018</a:t>
            </a:r>
            <a:r>
              <a:rPr lang="en-AU">
                <a:solidFill>
                  <a:srgbClr val="000000"/>
                </a:solidFill>
                <a:latin typeface="Arial"/>
                <a:cs typeface="Arial"/>
              </a:rPr>
              <a:t>)</a:t>
            </a:r>
            <a:r>
              <a:rPr lang="en-AU" sz="1200" b="0" i="0">
                <a:solidFill>
                  <a:srgbClr val="000000"/>
                </a:solidFill>
                <a:effectLst/>
                <a:latin typeface="Arial"/>
                <a:cs typeface="Arial"/>
              </a:rPr>
              <a:t> </a:t>
            </a:r>
            <a:r>
              <a:rPr lang="en-AU" i="1">
                <a:solidFill>
                  <a:srgbClr val="000000"/>
                </a:solidFill>
                <a:latin typeface="Arial"/>
                <a:cs typeface="Arial"/>
              </a:rPr>
              <a:t>Place </a:t>
            </a:r>
            <a:r>
              <a:rPr lang="en-AU" i="1" err="1">
                <a:solidFill>
                  <a:srgbClr val="000000"/>
                </a:solidFill>
                <a:latin typeface="Arial"/>
                <a:cs typeface="Arial"/>
              </a:rPr>
              <a:t>alue</a:t>
            </a:r>
            <a:r>
              <a:rPr lang="en-AU" i="1">
                <a:solidFill>
                  <a:srgbClr val="000000"/>
                </a:solidFill>
                <a:latin typeface="Arial"/>
                <a:cs typeface="Arial"/>
              </a:rPr>
              <a:t> and modelling numbers,</a:t>
            </a:r>
            <a:r>
              <a:rPr lang="en-AU">
                <a:solidFill>
                  <a:srgbClr val="000000"/>
                </a:solidFill>
                <a:latin typeface="Arial"/>
                <a:cs typeface="Arial"/>
              </a:rPr>
              <a:t> FUSE</a:t>
            </a:r>
            <a:r>
              <a:rPr lang="en-AU" sz="1200" b="0" i="0">
                <a:solidFill>
                  <a:srgbClr val="000000"/>
                </a:solidFill>
                <a:effectLst/>
                <a:latin typeface="Arial"/>
                <a:cs typeface="Arial"/>
              </a:rPr>
              <a:t> website, accessed 19 May 2023. </a:t>
            </a:r>
            <a:endParaRPr lang="en-AU" b="0" i="0">
              <a:solidFill>
                <a:srgbClr val="000000"/>
              </a:solidFill>
              <a:effectLst/>
              <a:latin typeface="Arial"/>
              <a:cs typeface="Arial"/>
            </a:endParaRPr>
          </a:p>
          <a:p>
            <a:pPr algn="l" rtl="0" fontAlgn="base"/>
            <a:r>
              <a:rPr lang="en-AU" sz="1200" b="0" i="0">
                <a:solidFill>
                  <a:srgbClr val="000000"/>
                </a:solidFill>
                <a:effectLst/>
                <a:latin typeface="Arial"/>
                <a:cs typeface="Arial"/>
              </a:rPr>
              <a:t>Sullivan P (2018) </a:t>
            </a:r>
            <a:r>
              <a:rPr lang="en-AU" sz="1200" b="0" i="1">
                <a:solidFill>
                  <a:srgbClr val="000000"/>
                </a:solidFill>
                <a:effectLst/>
                <a:latin typeface="Arial"/>
                <a:cs typeface="Arial"/>
              </a:rPr>
              <a:t>Challenging Mathematical Tasks: Unlocking the potential of all students</a:t>
            </a:r>
            <a:r>
              <a:rPr lang="en-AU" sz="1200" b="0" i="0">
                <a:solidFill>
                  <a:srgbClr val="000000"/>
                </a:solidFill>
                <a:effectLst/>
                <a:latin typeface="Arial"/>
                <a:cs typeface="Arial"/>
              </a:rPr>
              <a:t>, Oxford University Press ANZ, Great Britain. </a:t>
            </a:r>
            <a:endParaRPr lang="en-AU" b="0" i="0">
              <a:solidFill>
                <a:srgbClr val="000000"/>
              </a:solidFill>
              <a:effectLst/>
              <a:latin typeface="Arial"/>
              <a:cs typeface="Arial"/>
            </a:endParaRPr>
          </a:p>
          <a:p>
            <a:pPr algn="l" rtl="0" fontAlgn="base"/>
            <a:r>
              <a:rPr lang="en-AU" sz="1200" b="0" i="0">
                <a:solidFill>
                  <a:srgbClr val="000000"/>
                </a:solidFill>
                <a:effectLst/>
                <a:latin typeface="Arial"/>
                <a:cs typeface="Arial"/>
              </a:rPr>
              <a:t>Toy </a:t>
            </a:r>
            <a:r>
              <a:rPr lang="en-AU" sz="1200" b="0" i="0" err="1">
                <a:solidFill>
                  <a:srgbClr val="000000"/>
                </a:solidFill>
                <a:effectLst/>
                <a:latin typeface="Arial"/>
                <a:cs typeface="Arial"/>
              </a:rPr>
              <a:t>Theater</a:t>
            </a:r>
            <a:r>
              <a:rPr lang="en-AU" sz="1200" b="0" i="0">
                <a:solidFill>
                  <a:srgbClr val="000000"/>
                </a:solidFill>
                <a:effectLst/>
                <a:latin typeface="Arial"/>
                <a:cs typeface="Arial"/>
              </a:rPr>
              <a:t> (2001–2023) </a:t>
            </a:r>
            <a:r>
              <a:rPr lang="en-AU" sz="1200" b="0" i="1" u="sng" strike="noStrike">
                <a:solidFill>
                  <a:srgbClr val="2F5496"/>
                </a:solidFill>
                <a:effectLst/>
                <a:latin typeface="Arial"/>
                <a:cs typeface="Arial"/>
                <a:hlinkClick r:id="rId6"/>
              </a:rPr>
              <a:t>Hundreds chart</a:t>
            </a:r>
            <a:r>
              <a:rPr lang="en-AU" sz="1200" b="0" i="0">
                <a:solidFill>
                  <a:srgbClr val="000000"/>
                </a:solidFill>
                <a:effectLst/>
                <a:latin typeface="Arial"/>
                <a:cs typeface="Arial"/>
              </a:rPr>
              <a:t>, Toy </a:t>
            </a:r>
            <a:r>
              <a:rPr lang="en-AU" sz="1200" b="0" i="0" err="1">
                <a:solidFill>
                  <a:srgbClr val="000000"/>
                </a:solidFill>
                <a:effectLst/>
                <a:latin typeface="Arial"/>
                <a:cs typeface="Arial"/>
              </a:rPr>
              <a:t>Theater</a:t>
            </a:r>
            <a:r>
              <a:rPr lang="en-AU" sz="1200" b="0" i="0">
                <a:solidFill>
                  <a:srgbClr val="000000"/>
                </a:solidFill>
                <a:effectLst/>
                <a:latin typeface="Arial"/>
                <a:cs typeface="Arial"/>
              </a:rPr>
              <a:t> website, accessed 19 May 2023. </a:t>
            </a:r>
            <a:endParaRPr lang="en-AU" b="0" i="0">
              <a:solidFill>
                <a:srgbClr val="000000"/>
              </a:solidFill>
              <a:effectLst/>
              <a:latin typeface="Arial"/>
              <a:cs typeface="Arial"/>
            </a:endParaRPr>
          </a:p>
          <a:p>
            <a:pPr algn="l" rtl="0" fontAlgn="base"/>
            <a:r>
              <a:rPr lang="en-AU" sz="1200" b="0" i="0">
                <a:solidFill>
                  <a:srgbClr val="000000"/>
                </a:solidFill>
                <a:effectLst/>
                <a:latin typeface="Arial"/>
                <a:cs typeface="Arial"/>
              </a:rPr>
              <a:t>Van de Walle J, Karp K, Bay-Williams JM, Brass A, Bentley B, Ferguson S, Goff W, Livy S, Marshman M, Martin D, Pearn C, </a:t>
            </a:r>
            <a:r>
              <a:rPr lang="en-AU" sz="1200" b="0" i="0" err="1">
                <a:solidFill>
                  <a:srgbClr val="000000"/>
                </a:solidFill>
                <a:effectLst/>
                <a:latin typeface="Arial"/>
                <a:cs typeface="Arial"/>
              </a:rPr>
              <a:t>Prodromou</a:t>
            </a:r>
            <a:r>
              <a:rPr lang="en-AU" sz="1200" b="0" i="0">
                <a:solidFill>
                  <a:srgbClr val="000000"/>
                </a:solidFill>
                <a:effectLst/>
                <a:latin typeface="Arial"/>
                <a:cs typeface="Arial"/>
              </a:rPr>
              <a:t> T, Symons D and Wilkie K (2019) </a:t>
            </a:r>
            <a:r>
              <a:rPr lang="en-AU" sz="1200" b="0" i="1">
                <a:solidFill>
                  <a:srgbClr val="000000"/>
                </a:solidFill>
                <a:effectLst/>
                <a:latin typeface="Arial"/>
                <a:cs typeface="Arial"/>
              </a:rPr>
              <a:t>Primary and Middle Years Mathematics: Teaching Developmentally</a:t>
            </a:r>
            <a:r>
              <a:rPr lang="en-AU" sz="1200" b="0" i="0">
                <a:solidFill>
                  <a:srgbClr val="000000"/>
                </a:solidFill>
                <a:effectLst/>
                <a:latin typeface="Arial"/>
                <a:cs typeface="Arial"/>
              </a:rPr>
              <a:t>, 1st </a:t>
            </a:r>
            <a:r>
              <a:rPr lang="en-AU" sz="1200" b="0" i="0" err="1">
                <a:solidFill>
                  <a:srgbClr val="000000"/>
                </a:solidFill>
                <a:effectLst/>
                <a:latin typeface="Arial"/>
                <a:cs typeface="Arial"/>
              </a:rPr>
              <a:t>edn</a:t>
            </a:r>
            <a:r>
              <a:rPr lang="en-AU" sz="1200" b="0" i="0">
                <a:solidFill>
                  <a:srgbClr val="000000"/>
                </a:solidFill>
                <a:effectLst/>
                <a:latin typeface="Arial"/>
                <a:cs typeface="Arial"/>
              </a:rPr>
              <a:t>, Pearson Education Australia, Melbourne. </a:t>
            </a:r>
            <a:endParaRPr lang="en-AU" b="0" i="0">
              <a:solidFill>
                <a:srgbClr val="000000"/>
              </a:solidFill>
              <a:effectLst/>
              <a:latin typeface="Arial"/>
              <a:cs typeface="Arial"/>
            </a:endParaRPr>
          </a:p>
          <a:p>
            <a:endParaRPr lang="en-AU" b="0" i="0">
              <a:solidFill>
                <a:srgbClr val="000000"/>
              </a:solidFill>
              <a:effectLst/>
              <a:highlight>
                <a:srgbClr val="FFFFFF"/>
              </a:highlight>
              <a:latin typeface="Segoe UI" panose="020B0502040204020203" pitchFamily="34" charset="0"/>
            </a:endParaRPr>
          </a:p>
          <a:p>
            <a:endParaRPr lang="en-AU"/>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292784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715D8607-5072-4C0B-B394-C3334FC29AAD}">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E555570-2BD4-426B-AA32-0A79CB6508A8}">
  <ds:schemaRefs>
    <ds:schemaRef ds:uri="7e763d47-3c66-4c58-9425-1477fd3ccd1e"/>
    <ds:schemaRef ds:uri="http://schemas.openxmlformats.org/package/2006/metadata/core-properties"/>
    <ds:schemaRef ds:uri="http://purl.org/dc/dcmitype/"/>
    <ds:schemaRef ds:uri="http://schemas.microsoft.com/office/2006/documentManagement/types"/>
    <ds:schemaRef ds:uri="60129b06-f64b-40a8-96e2-c5b2f86112b1"/>
    <ds:schemaRef ds:uri="http://schemas.microsoft.com/office/infopath/2007/PartnerControls"/>
    <ds:schemaRef ds:uri="http://schemas.microsoft.com/office/2006/metadata/properties"/>
    <ds:schemaRef ds:uri="http://purl.org/dc/elements/1.1/"/>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1055</TotalTime>
  <Words>6827</Words>
  <Application>Microsoft Office PowerPoint</Application>
  <PresentationFormat>Widescreen</PresentationFormat>
  <Paragraphs>793</Paragraphs>
  <Slides>69</Slides>
  <Notes>68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Wingdings</vt:lpstr>
      <vt:lpstr>Courier New</vt:lpstr>
      <vt:lpstr>Segoe UI</vt:lpstr>
      <vt:lpstr>Times New Roman</vt:lpstr>
      <vt:lpstr>Edu NSW ACT Foundation</vt:lpstr>
      <vt:lpstr>Public Sans</vt:lpstr>
      <vt:lpstr>Calibri</vt:lpstr>
      <vt:lpstr>Arial</vt:lpstr>
      <vt:lpstr>Public Sans Light</vt:lpstr>
      <vt:lpstr>Montserrat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place value through partitioning</vt:lpstr>
      <vt:lpstr>Review of learning 2</vt:lpstr>
      <vt:lpstr>True or false (1)</vt:lpstr>
      <vt:lpstr>Short response (5)</vt:lpstr>
      <vt:lpstr>Short response (6)</vt:lpstr>
      <vt:lpstr>Short response (7)</vt:lpstr>
      <vt:lpstr>Short response (8)</vt:lpstr>
      <vt:lpstr>Activity 2 – partitioning with tens and ones</vt:lpstr>
      <vt:lpstr>Review of learning 3</vt:lpstr>
      <vt:lpstr>Multiple choice (2)</vt:lpstr>
      <vt:lpstr>Short response (9)</vt:lpstr>
      <vt:lpstr>Short response (10)</vt:lpstr>
      <vt:lpstr>Short response (11)</vt:lpstr>
      <vt:lpstr>Short response (12)</vt:lpstr>
      <vt:lpstr>Activity 3 – investigating place value</vt:lpstr>
      <vt:lpstr>Review of learning 4</vt:lpstr>
      <vt:lpstr>True or false (2)</vt:lpstr>
      <vt:lpstr>Short response (13)</vt:lpstr>
      <vt:lpstr>Short response (14)</vt:lpstr>
      <vt:lpstr>Short response (15)</vt:lpstr>
      <vt:lpstr>Short response (16)</vt:lpstr>
      <vt:lpstr>Activity 4 – ordering numbers using place value</vt:lpstr>
      <vt:lpstr>Review of learning 5</vt:lpstr>
      <vt:lpstr>Multiple choice (3)</vt:lpstr>
      <vt:lpstr>Short response (17)</vt:lpstr>
      <vt:lpstr>Short response (18)</vt:lpstr>
      <vt:lpstr>Short response (19)</vt:lpstr>
      <vt:lpstr>Short response (20)</vt:lpstr>
      <vt:lpstr>Activity 5 – skip counting</vt:lpstr>
      <vt:lpstr>Review of learning 6</vt:lpstr>
      <vt:lpstr>True or false (3)</vt:lpstr>
      <vt:lpstr>Short response (21)</vt:lpstr>
      <vt:lpstr>Short response (22)</vt:lpstr>
      <vt:lpstr>Short response (23)</vt:lpstr>
      <vt:lpstr>Short response (24)</vt:lpstr>
      <vt:lpstr>Activity 6 – number patterns</vt:lpstr>
      <vt:lpstr>Review of learning 7</vt:lpstr>
      <vt:lpstr>Multiple choice (4)</vt:lpstr>
      <vt:lpstr>Short response (25)</vt:lpstr>
      <vt:lpstr>Short response (26)</vt:lpstr>
      <vt:lpstr>Short response (27)</vt:lpstr>
      <vt:lpstr>Short response (28)</vt:lpstr>
      <vt:lpstr>Activity 7 – missing number patterns</vt:lpstr>
      <vt:lpstr>Review of learning 8</vt:lpstr>
      <vt:lpstr>True or false (4)</vt:lpstr>
      <vt:lpstr>Short response (29)</vt:lpstr>
      <vt:lpstr>Short response (30)</vt:lpstr>
      <vt:lpstr>Short response (31)</vt:lpstr>
      <vt:lpstr>Short response (32)</vt:lpstr>
      <vt:lpstr>Activity 8 – multiples and number sequence</vt:lpstr>
      <vt:lpstr>Double Venn diagram</vt:lpstr>
      <vt:lpstr>Frayer</vt:lpstr>
      <vt:lpstr>Spider map</vt:lpstr>
      <vt:lpstr>Cline</vt:lpstr>
      <vt:lpstr>Compare and contrast</vt:lpstr>
      <vt:lpstr>Multiple choice </vt:lpstr>
      <vt:lpstr>Multiple choice </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Evelyn Plunkett</dc:creator>
  <cp:keywords/>
  <dc:description/>
  <cp:lastModifiedBy>Daniel Archer</cp:lastModifiedBy>
  <cp:revision>2</cp:revision>
  <dcterms:created xsi:type="dcterms:W3CDTF">2025-08-12T02:46:00Z</dcterms:created>
  <dcterms:modified xsi:type="dcterms:W3CDTF">2025-10-23T23:00:23Z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