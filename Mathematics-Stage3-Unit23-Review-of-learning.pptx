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365" r:id="rId5"/>
    <p:sldId id="26579" r:id="rId6"/>
    <p:sldId id="26359" r:id="rId7"/>
    <p:sldId id="271" r:id="rId8"/>
    <p:sldId id="26578"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2"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30"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510" r:id="rId70"/>
    <p:sldId id="360" r:id="rId71"/>
    <p:sldId id="361" r:id="rId72"/>
  </p:sldIdLst>
  <p:sldSz cx="12192000" cy="6858000"/>
  <p:notesSz cx="6858000" cy="9144000"/>
  <p:embeddedFontLst>
    <p:embeddedFont>
      <p:font typeface="Cambria Math" panose="02040503050406030204" pitchFamily="18" charset="0"/>
      <p:regular r:id="rId75"/>
    </p:embeddedFont>
    <p:embeddedFont>
      <p:font typeface="Montserrat" panose="00000500000000000000" pitchFamily="2" charset="0"/>
      <p:regular r:id="rId76"/>
      <p:bold r:id="rId77"/>
      <p:italic r:id="rId78"/>
      <p:boldItalic r:id="rId79"/>
    </p:embeddedFont>
    <p:embeddedFont>
      <p:font typeface="Public Sans" pitchFamily="2" charset="0"/>
      <p:regular r:id="rId80"/>
      <p:bold r:id="rId81"/>
      <p:italic r:id="rId82"/>
      <p:boldItalic r:id="rId83"/>
    </p:embeddedFont>
    <p:embeddedFont>
      <p:font typeface="Public Sans Light" pitchFamily="2" charset="0"/>
      <p:regular r:id="rId84"/>
      <p:italic r:id="rId8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8"/>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2"/>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30"/>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3990FD7D-A604-C51E-94A2-DF747800638D}" name="Daniella Brunetta" initials="DB" userId="S::daniella.brunetta@det.nsw.edu.au::4e084810-29e2-4b0b-806a-947d4f6d8f39" providerId="AD"/>
  <p188:author id="{6620E8C6-7E4F-1318-D9B4-C749088EC486}" name="Daniella Brunetta" initials="" userId="S::Daniella.Brunetta@det.nsw.edu.au::4e084810-29e2-4b0b-806a-947d4f6d8f39" providerId="AD"/>
  <p188:author id="{EB0CFDCC-08A1-9074-770E-495A3601BA1E}" name="Erin Grassedonio" initials="EG" userId="S::Erin.Grassedonio@det.nsw.edu.au::f14128a2-caca-48df-bd38-2aa49a1abe0e"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98AD55-F7B7-4367-B675-3A50F1F41A05}" v="24" dt="2025-11-26T01:03:21.27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microsoft.com/office/2015/10/relationships/revisionInfo" Target="revisionInfo.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27/11/2025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27/11/2025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23</a:t>
            </a:r>
          </a:p>
          <a:p>
            <a:pPr marL="285750" indent="-285750">
              <a:buFont typeface="Arial" panose="020B0604020202020204" pitchFamily="34" charset="0"/>
              <a:buChar char="•"/>
            </a:pPr>
            <a:r>
              <a:rPr lang="en-AU"/>
              <a:t>Stage 3 Year B Unit 22</a:t>
            </a:r>
          </a:p>
          <a:p>
            <a:pPr marL="285750" indent="-285750">
              <a:buFont typeface="Arial" panose="020B0604020202020204" pitchFamily="34" charset="0"/>
              <a:buChar char="•"/>
            </a:pPr>
            <a:r>
              <a:rPr lang="en-AU"/>
              <a:t>Stage 3 Year B Unit 21</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242424"/>
                </a:solidFill>
                <a:latin typeface="Arial"/>
                <a:cs typeface="Arial"/>
              </a:rPr>
              <a:t>Additive Relations B</a:t>
            </a:r>
            <a:endParaRPr lang="en-AU">
              <a:latin typeface="Arial"/>
              <a:cs typeface="Arial"/>
            </a:endParaRP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Efficient addition strategies</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Explain the 2 by 2 grid has 4 different digits from 1–9 and record one in each box (see Figure 9).</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Demonstrate how reading the grid vertically and horizontally gives four 2-digit numbers: 52, 19, 51 and 29. </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Ask students to turn and talk and discuss what strategies they could use to find the sum of the 4 digits.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share and communicate their strategies with the class. For example, one student levels the numbers to make the algorithm 50 + 50 + 3 + 40 + 8. The sum of the numbers is 151.</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Explain that the challenge is to find 4 different digits within the grid that create four 2-digit numbers that add up to exactly 150.</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Provide small groups with an individual whiteboard to draw their grid and compare the strategies shared to solve the problem.</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Select groups to share the strategies they used to solve the problem.</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Seek student input to compare and evaluate different strategies selected.</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Multi-step word problems 1</a:t>
            </a:r>
          </a:p>
          <a:p>
            <a:endParaRPr lang="en-AU" b="1"/>
          </a:p>
          <a:p>
            <a:r>
              <a:rPr lang="en-AU" b="0"/>
              <a:t>This resource corresponds to Resource 26 – distance word problems in Stage 3 Year B Unit 23.</a:t>
            </a:r>
          </a:p>
          <a:p>
            <a:pPr marL="342900" indent="-342900">
              <a:buFont typeface="+mj-lt"/>
              <a:buAutoNum type="arabicPeriod"/>
            </a:pPr>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students with </a:t>
            </a:r>
            <a:r>
              <a:rPr lang="en-AU" sz="1600" b="0" u="none" kern="1200">
                <a:solidFill>
                  <a:schemeClr val="tx1"/>
                </a:solidFill>
                <a:effectLst/>
                <a:latin typeface="Arial" panose="020B0604020202020204" pitchFamily="34" charset="0"/>
                <a:ea typeface="+mn-ea"/>
                <a:cs typeface="Arial" panose="020B0604020202020204" pitchFamily="34" charset="0"/>
              </a:rPr>
              <a:t>Resource 26 – distance word problems </a:t>
            </a:r>
            <a:r>
              <a:rPr lang="en-AU" sz="1600" kern="1200">
                <a:solidFill>
                  <a:schemeClr val="tx1"/>
                </a:solidFill>
                <a:effectLst/>
                <a:latin typeface="Arial" panose="020B0604020202020204" pitchFamily="34" charset="0"/>
                <a:ea typeface="+mn-ea"/>
                <a:cs typeface="Arial" panose="020B0604020202020204" pitchFamily="34" charset="0"/>
              </a:rPr>
              <a:t>and their workbook.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Read the first problem and use a think aloud to highlight or list the addition and subtraction vocabulary.</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work with a partner to solve the first problem and record the answer using the abbreviation for kilometres ‘km’.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share their solution and explain the strategies implemented to the class.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work with a partner to highlight the addition and subtraction vocabulary and solve the second problem.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share their solutions. Prompt students to discuss and compare the strategies they used.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Multi-step word problem 2</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problem: Two friends ran a total distance of 18 kilometres during the week. One friend ran 6 kilometres more than the other. How far could each friend have run?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Identify and record the addition or subtraction vocabulary in the problem.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to turn and talk and discuss the most efficient strategy to solve the problem.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Allow time for students to solve the problem using their chosen strategy.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share their chosen strategy and evaluate as a class the most efficient way to solve the problem.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latin typeface="Arial"/>
                <a:cs typeface="Arial"/>
              </a:rPr>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latin typeface="Arial"/>
                <a:cs typeface="Arial"/>
              </a:rPr>
              <a:t>Syllabus focus area:</a:t>
            </a:r>
          </a:p>
          <a:p>
            <a:r>
              <a:rPr lang="en-AU">
                <a:latin typeface="Arial"/>
                <a:cs typeface="Arial"/>
              </a:rPr>
              <a:t>Additive Relations B</a:t>
            </a:r>
          </a:p>
          <a:p>
            <a:endParaRPr lang="en-AU"/>
          </a:p>
          <a:p>
            <a:r>
              <a:rPr lang="en-AU" b="1">
                <a:latin typeface="Arial"/>
                <a:cs typeface="Arial"/>
              </a:rPr>
              <a:t>Multi-step word problem 3</a:t>
            </a:r>
          </a:p>
          <a:p>
            <a:r>
              <a:rPr lang="en-AU" b="0">
                <a:latin typeface="Arial"/>
                <a:cs typeface="Arial"/>
              </a:rPr>
              <a:t>This resource corresponds to Resource 27 – travel plans calculations in Stage 3 Year B Unit 23. </a:t>
            </a:r>
          </a:p>
          <a:p>
            <a:endParaRPr lang="en-AU" b="0"/>
          </a:p>
          <a:p>
            <a:pPr marL="342900" indent="-342900" fontAlgn="base">
              <a:buAutoNum type="arabicPeriod"/>
            </a:pPr>
            <a:r>
              <a:rPr lang="en-AU">
                <a:latin typeface="Arial"/>
                <a:cs typeface="Arial"/>
              </a:rPr>
              <a:t>Explain</a:t>
            </a:r>
            <a:r>
              <a:rPr lang="en-AU" sz="1600" b="0" i="0" u="none" strike="noStrike" kern="1200">
                <a:solidFill>
                  <a:schemeClr val="tx1"/>
                </a:solidFill>
                <a:effectLst/>
                <a:latin typeface="Arial"/>
                <a:cs typeface="Arial"/>
              </a:rPr>
              <a:t> that students need to plan where the fuel stops will be from Melbourne to Brisbane on the Newell Highway. Explain that the car can travel up to 300 km on one tank of petrol.</a:t>
            </a:r>
            <a:r>
              <a:rPr lang="en-US" sz="1600" b="0" i="0" u="none" kern="1200">
                <a:solidFill>
                  <a:schemeClr val="tx1"/>
                </a:solidFill>
                <a:effectLst/>
                <a:latin typeface="Arial"/>
                <a:cs typeface="Arial"/>
              </a:rPr>
              <a:t>​</a:t>
            </a:r>
          </a:p>
          <a:p>
            <a:pPr marL="342900" indent="-342900" rtl="0" fontAlgn="base">
              <a:buFont typeface="+mj-lt"/>
              <a:buAutoNum type="arabicPeriod"/>
            </a:pPr>
            <a:r>
              <a:rPr lang="en-AU" sz="1600" b="0" i="0" u="none" strike="noStrike" kern="1200">
                <a:solidFill>
                  <a:schemeClr val="tx1"/>
                </a:solidFill>
                <a:effectLst/>
                <a:latin typeface="Arial"/>
                <a:cs typeface="Arial"/>
              </a:rPr>
              <a:t>Students need to calculate the possible fuels stops, distances between fuel stops and then the total distance for the trip.</a:t>
            </a:r>
            <a:r>
              <a:rPr lang="en-US" sz="1600" b="0" i="0" u="none" kern="1200">
                <a:solidFill>
                  <a:schemeClr val="tx1"/>
                </a:solidFill>
                <a:effectLst/>
                <a:latin typeface="Arial"/>
                <a:cs typeface="Arial"/>
              </a:rPr>
              <a:t>​</a:t>
            </a:r>
          </a:p>
          <a:p>
            <a:pPr marL="342900" indent="-342900" fontAlgn="base">
              <a:buAutoNum type="arabicPeriod"/>
            </a:pPr>
            <a:r>
              <a:rPr lang="en-AU" sz="1600" b="0" i="0" u="none" strike="noStrike" kern="1200">
                <a:solidFill>
                  <a:schemeClr val="tx1"/>
                </a:solidFill>
                <a:effectLst/>
                <a:latin typeface="Arial"/>
                <a:cs typeface="Arial"/>
              </a:rPr>
              <a:t>Provide students with </a:t>
            </a:r>
            <a:r>
              <a:rPr lang="en-AU" b="0" i="0" u="none" strike="noStrike" kern="1200">
                <a:solidFill>
                  <a:schemeClr val="tx1"/>
                </a:solidFill>
                <a:effectLst/>
                <a:latin typeface="Arial"/>
                <a:cs typeface="Arial"/>
              </a:rPr>
              <a:t>Resource 27 – travel </a:t>
            </a:r>
            <a:r>
              <a:rPr lang="en-AU">
                <a:latin typeface="Arial"/>
                <a:cs typeface="Arial"/>
              </a:rPr>
              <a:t>plans calculations </a:t>
            </a:r>
            <a:r>
              <a:rPr lang="en-AU" sz="1600" b="0" i="0" u="none" strike="noStrike" kern="1200">
                <a:solidFill>
                  <a:schemeClr val="tx1"/>
                </a:solidFill>
                <a:effectLst/>
                <a:latin typeface="Arial"/>
                <a:cs typeface="Arial"/>
              </a:rPr>
              <a:t>and their workbooks. Students record the travel plans in their workbook, showing their calculations (see Figure 10 – Travel plan calculations in Mathematics Stage 3 Unit 23).</a:t>
            </a:r>
            <a:endParaRPr lang="en-US" sz="1600" b="0" i="0" u="none" kern="1200">
              <a:solidFill>
                <a:schemeClr val="tx1"/>
              </a:solidFill>
              <a:effectLst/>
              <a:latin typeface="Arial"/>
              <a:cs typeface="Arial"/>
            </a:endParaRPr>
          </a:p>
          <a:p>
            <a:endParaRPr lang="en-AU" b="0"/>
          </a:p>
          <a:p>
            <a:endParaRPr lang="en-AU" b="0"/>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latin typeface="Arial"/>
              <a:cs typeface="Arial"/>
            </a:endParaRP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a:t>
            </a:r>
          </a:p>
          <a:p>
            <a:endParaRPr lang="en-AU"/>
          </a:p>
          <a:p>
            <a:pPr marL="0" indent="0">
              <a:buFont typeface="Arial" panose="020B0604020202020204" pitchFamily="34" charset="0"/>
              <a:buNone/>
            </a:pPr>
            <a:r>
              <a:rPr lang="en-AU" b="1"/>
              <a:t>Different sized wholes 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problem: Jake ate a quarter of a cake and Kate ate half of a different cake. Jake said he ate more than Kate. How could he be correct?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Allow students time to turn and talk and discuss the question with a partner.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share and explain their thinking.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Use drawings or physical models to test and explore student reasoning.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Reinforce the idea that fractions are relative to the size of the whole.</a:t>
            </a:r>
          </a:p>
          <a:p>
            <a:endParaRPr lang="en-AU" b="1"/>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A</a:t>
            </a:r>
          </a:p>
          <a:p>
            <a:endParaRPr lang="en-AU"/>
          </a:p>
          <a:p>
            <a:r>
              <a:rPr lang="en-AU" b="1"/>
              <a:t>Different sized wholes 2</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problem: Andy finished reading a whole book and Tim read 3 quarters of a different book. Tim said he read more pages than Andy. How could he be correct?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Allow students time to turn and talk and discuss the question with a partner.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share and explain their thinking.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Use drawings or physical models to test and explore student reasoning.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Reinforce the idea that fractions are relative to the size of the whole.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latin typeface="Arial"/>
              <a:cs typeface="Arial"/>
            </a:endParaRP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 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latin typeface="Arial"/>
                <a:cs typeface="Arial"/>
              </a:rPr>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latin typeface="Arial"/>
                <a:cs typeface="Arial"/>
              </a:rPr>
              <a:t>Syllabus focus area:</a:t>
            </a:r>
          </a:p>
          <a:p>
            <a:r>
              <a:rPr lang="en-AU">
                <a:latin typeface="Arial"/>
                <a:cs typeface="Arial"/>
              </a:rPr>
              <a:t>Representing quantity fractions A</a:t>
            </a:r>
          </a:p>
          <a:p>
            <a:endParaRPr lang="en-AU"/>
          </a:p>
          <a:p>
            <a:r>
              <a:rPr lang="en-AU" b="1">
                <a:latin typeface="Arial"/>
                <a:cs typeface="Arial"/>
              </a:rPr>
              <a:t>Halves and quarters </a:t>
            </a:r>
          </a:p>
          <a:p>
            <a:r>
              <a:rPr lang="en-AU" b="0">
                <a:latin typeface="Arial"/>
                <a:cs typeface="Arial"/>
              </a:rPr>
              <a:t>This resource corresponds to Resource 28 – halves and quarters in Stage 3 Year B Unit 23.</a:t>
            </a:r>
          </a:p>
          <a:p>
            <a:r>
              <a:rPr lang="en-AU" b="0">
                <a:latin typeface="Arial"/>
                <a:cs typeface="Arial"/>
              </a:rPr>
              <a:t> </a:t>
            </a:r>
          </a:p>
          <a:p>
            <a:pPr marL="0" lvl="0" indent="0">
              <a:buFont typeface="+mj-lt"/>
              <a:buNone/>
            </a:pPr>
            <a:r>
              <a:rPr lang="en-AU" sz="1600" kern="1200">
                <a:solidFill>
                  <a:schemeClr val="tx1"/>
                </a:solidFill>
                <a:effectLst/>
                <a:latin typeface="Arial"/>
                <a:cs typeface="Arial"/>
              </a:rPr>
              <a:t>Ask:</a:t>
            </a:r>
          </a:p>
          <a:p>
            <a:pPr marL="285750" lvl="0" indent="-285750">
              <a:buFont typeface="Arial" panose="020B0604020202020204" pitchFamily="34" charset="0"/>
              <a:buChar char="•"/>
            </a:pPr>
            <a:r>
              <a:rPr lang="en-AU" sz="1600" kern="1200">
                <a:solidFill>
                  <a:schemeClr val="tx1"/>
                </a:solidFill>
                <a:effectLst/>
                <a:latin typeface="Arial"/>
                <a:cs typeface="Arial"/>
              </a:rPr>
              <a:t>What can you see?</a:t>
            </a:r>
          </a:p>
          <a:p>
            <a:pPr marL="285750" lvl="0" indent="-285750">
              <a:buFont typeface="Arial" panose="020B0604020202020204" pitchFamily="34" charset="0"/>
              <a:buChar char="•"/>
            </a:pPr>
            <a:r>
              <a:rPr lang="en-AU" sz="1600" kern="1200">
                <a:solidFill>
                  <a:schemeClr val="tx1"/>
                </a:solidFill>
                <a:effectLst/>
                <a:latin typeface="Arial"/>
                <a:cs typeface="Arial"/>
              </a:rPr>
              <a:t>How many halves can you see? What is the same about them and what is different?</a:t>
            </a:r>
          </a:p>
          <a:p>
            <a:pPr marL="285750" lvl="0" indent="-285750">
              <a:buFont typeface="Arial" panose="020B0604020202020204" pitchFamily="34" charset="0"/>
              <a:buChar char="•"/>
            </a:pPr>
            <a:r>
              <a:rPr lang="en-AU" sz="1600" kern="1200">
                <a:solidFill>
                  <a:schemeClr val="tx1"/>
                </a:solidFill>
                <a:effectLst/>
                <a:latin typeface="Arial"/>
                <a:cs typeface="Arial"/>
              </a:rPr>
              <a:t>How many quarters can you see? What is the same about them and what is different?</a:t>
            </a:r>
          </a:p>
          <a:p>
            <a:pPr marL="285750" lvl="0" indent="-285750">
              <a:buFont typeface="Arial" panose="020B0604020202020204" pitchFamily="34" charset="0"/>
              <a:buChar char="•"/>
            </a:pPr>
            <a:r>
              <a:rPr lang="en-AU" sz="1600" kern="1200">
                <a:solidFill>
                  <a:schemeClr val="tx1"/>
                </a:solidFill>
                <a:effectLst/>
                <a:latin typeface="Arial"/>
                <a:cs typeface="Arial"/>
              </a:rPr>
              <a:t>Students turn and talk to discuss if a half is always more than a quarter? Why/ why not?</a:t>
            </a:r>
          </a:p>
          <a:p>
            <a:pPr marL="0" lvl="0" indent="0">
              <a:buFont typeface="+mj-lt"/>
              <a:buNone/>
            </a:pPr>
            <a:r>
              <a:rPr lang="en-AU" sz="1600" kern="1200">
                <a:solidFill>
                  <a:schemeClr val="tx1"/>
                </a:solidFill>
                <a:effectLst/>
                <a:latin typeface="Arial"/>
                <a:cs typeface="Arial"/>
              </a:rPr>
              <a:t>Ask: </a:t>
            </a:r>
          </a:p>
          <a:p>
            <a:pPr marL="285750" indent="-285750">
              <a:buFont typeface="Arial" panose="020B0604020202020204" pitchFamily="34" charset="0"/>
              <a:buChar char="•"/>
            </a:pPr>
            <a:r>
              <a:rPr lang="en-AU" sz="1600" kern="1200">
                <a:solidFill>
                  <a:schemeClr val="tx1"/>
                </a:solidFill>
                <a:effectLst/>
                <a:latin typeface="Arial"/>
                <a:cs typeface="Arial"/>
              </a:rPr>
              <a:t>Which fractions from</a:t>
            </a:r>
            <a:r>
              <a:rPr lang="en-AU">
                <a:latin typeface="Arial"/>
                <a:cs typeface="Arial"/>
              </a:rPr>
              <a:t> </a:t>
            </a:r>
            <a:r>
              <a:rPr lang="en-AU" kern="1200">
                <a:solidFill>
                  <a:schemeClr val="tx1"/>
                </a:solidFill>
                <a:effectLst/>
                <a:latin typeface="Arial"/>
                <a:cs typeface="Arial"/>
              </a:rPr>
              <a:t>Resource 28 – halves and quarters</a:t>
            </a:r>
            <a:r>
              <a:rPr lang="en-AU">
                <a:latin typeface="Arial"/>
                <a:cs typeface="Arial"/>
              </a:rPr>
              <a:t> </a:t>
            </a:r>
            <a:r>
              <a:rPr lang="en-AU" sz="1600" kern="1200">
                <a:solidFill>
                  <a:schemeClr val="tx1"/>
                </a:solidFill>
                <a:effectLst/>
                <a:latin typeface="Arial"/>
                <a:cs typeface="Arial"/>
              </a:rPr>
              <a:t>can be added to make a whole?</a:t>
            </a:r>
          </a:p>
          <a:p>
            <a:pPr marL="285750" lvl="0" indent="-285750">
              <a:buFont typeface="Arial" panose="020B0604020202020204" pitchFamily="34" charset="0"/>
              <a:buChar char="•"/>
            </a:pPr>
            <a:r>
              <a:rPr lang="en-AU" sz="1600" kern="1200">
                <a:solidFill>
                  <a:schemeClr val="tx1"/>
                </a:solidFill>
                <a:effectLst/>
                <a:latin typeface="Arial"/>
                <a:cs typeface="Arial"/>
              </a:rPr>
              <a:t>How many wholes are there in total?</a:t>
            </a:r>
          </a:p>
          <a:p>
            <a:pPr marL="342900" indent="-342900">
              <a:buFont typeface="+mj-lt"/>
              <a:buAutoNum type="arabicPeriod"/>
            </a:pPr>
            <a:endParaRPr lang="en-AU">
              <a:latin typeface="Arial"/>
              <a:cs typeface="Arial"/>
            </a:endParaRPr>
          </a:p>
          <a:p>
            <a:pPr marL="342900" lvl="0" indent="-342900">
              <a:buAutoNum type="arabicPeriod"/>
            </a:pPr>
            <a:r>
              <a:rPr lang="en-AU" sz="1600" kern="1200">
                <a:solidFill>
                  <a:schemeClr val="tx1"/>
                </a:solidFill>
                <a:effectLst/>
                <a:latin typeface="Arial"/>
                <a:cs typeface="Arial"/>
              </a:rPr>
              <a:t>Students record their thinking on whiteboards.</a:t>
            </a:r>
            <a:endParaRPr lang="en-AU">
              <a:latin typeface="Arial"/>
              <a:cs typeface="Arial"/>
            </a:endParaRPr>
          </a:p>
          <a:p>
            <a:pPr marL="342900" lvl="0" indent="-342900">
              <a:buFont typeface="+mj-lt"/>
              <a:buAutoNum type="arabicPeriod"/>
            </a:pPr>
            <a:r>
              <a:rPr lang="en-AU" sz="1600" kern="1200">
                <a:solidFill>
                  <a:schemeClr val="tx1"/>
                </a:solidFill>
                <a:effectLst/>
                <a:latin typeface="Arial"/>
                <a:cs typeface="Arial"/>
              </a:rPr>
              <a:t>Seek student input from students to share their responses and reasoning with the class.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 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A</a:t>
            </a:r>
          </a:p>
          <a:p>
            <a:endParaRPr lang="en-AU"/>
          </a:p>
          <a:p>
            <a:r>
              <a:rPr lang="en-AU" b="1"/>
              <a:t>Halves and quarters fractions hunt</a:t>
            </a:r>
          </a:p>
          <a:p>
            <a:pPr marL="342900" indent="-342900" rtl="0" fontAlgn="ctr">
              <a:buFont typeface="+mj-lt"/>
              <a:buAutoNum type="arabicPeriod"/>
            </a:pPr>
            <a:r>
              <a:rPr lang="en-AU" sz="1600" b="0" i="0" kern="1200">
                <a:solidFill>
                  <a:schemeClr val="tx1"/>
                </a:solidFill>
                <a:effectLst/>
                <a:latin typeface="Arial" panose="020B0604020202020204" pitchFamily="34" charset="0"/>
                <a:ea typeface="+mn-ea"/>
                <a:cs typeface="Arial" panose="020B0604020202020204" pitchFamily="34" charset="0"/>
              </a:rPr>
              <a:t>Place a range of different-sized classroom objects around the room (e.g. a large and a small book, long and short pencils).</a:t>
            </a:r>
          </a:p>
          <a:p>
            <a:pPr marL="342900" indent="-342900">
              <a:buFont typeface="+mj-lt"/>
              <a:buAutoNum type="arabicPeriod"/>
            </a:pPr>
            <a:r>
              <a:rPr lang="en-AU" sz="1600" b="0" i="0" kern="1200">
                <a:solidFill>
                  <a:schemeClr val="tx1"/>
                </a:solidFill>
                <a:effectLst/>
                <a:latin typeface="Arial" panose="020B0604020202020204" pitchFamily="34" charset="0"/>
                <a:ea typeface="+mn-ea"/>
                <a:cs typeface="Arial" panose="020B0604020202020204" pitchFamily="34" charset="0"/>
              </a:rPr>
              <a:t>In pairs or groups of 3, students move around the room to pick any two different-sized items.</a:t>
            </a:r>
          </a:p>
          <a:p>
            <a:pPr marL="342900" indent="-342900">
              <a:buFont typeface="+mj-lt"/>
              <a:buAutoNum type="arabicPeriod"/>
            </a:pPr>
            <a:r>
              <a:rPr lang="en-AU" sz="1600" b="0" i="0" kern="1200">
                <a:solidFill>
                  <a:schemeClr val="tx1"/>
                </a:solidFill>
                <a:effectLst/>
                <a:latin typeface="Arial" panose="020B0604020202020204" pitchFamily="34" charset="0"/>
                <a:ea typeface="+mn-ea"/>
                <a:cs typeface="Arial" panose="020B0604020202020204" pitchFamily="34" charset="0"/>
              </a:rPr>
              <a:t>Ask: which is bigger: half</a:t>
            </a:r>
            <a:r>
              <a:rPr lang="en-AU" sz="1600" b="0" i="0" kern="1200" baseline="0">
                <a:solidFill>
                  <a:schemeClr val="tx1"/>
                </a:solidFill>
                <a:effectLst/>
                <a:latin typeface="Arial" panose="020B0604020202020204" pitchFamily="34" charset="0"/>
                <a:ea typeface="+mn-ea"/>
                <a:cs typeface="Arial" panose="020B0604020202020204" pitchFamily="34" charset="0"/>
              </a:rPr>
              <a:t> </a:t>
            </a:r>
            <a:r>
              <a:rPr lang="en-AU" sz="1600" b="0" i="0" kern="1200">
                <a:solidFill>
                  <a:schemeClr val="tx1"/>
                </a:solidFill>
                <a:effectLst/>
                <a:latin typeface="Arial" panose="020B0604020202020204" pitchFamily="34" charset="0"/>
                <a:ea typeface="+mn-ea"/>
                <a:cs typeface="Arial" panose="020B0604020202020204" pitchFamily="34" charset="0"/>
              </a:rPr>
              <a:t>of this or quarters of that?</a:t>
            </a: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indent="-342900" rtl="0" fontAlgn="ctr">
              <a:buFont typeface="+mj-lt"/>
              <a:buAutoNum type="arabicPeriod"/>
            </a:pPr>
            <a:r>
              <a:rPr lang="en-AU" sz="1600" b="0" i="0" kern="1200">
                <a:solidFill>
                  <a:schemeClr val="tx1"/>
                </a:solidFill>
                <a:effectLst/>
                <a:latin typeface="Arial" panose="020B0604020202020204" pitchFamily="34" charset="0"/>
                <a:ea typeface="+mn-ea"/>
                <a:cs typeface="Arial" panose="020B0604020202020204" pitchFamily="34" charset="0"/>
              </a:rPr>
              <a:t>Students discuss and record which fraction of which item is larger, and why. For example, half</a:t>
            </a:r>
            <a:r>
              <a:rPr lang="en-AU" sz="1600" b="0" i="0" kern="1200" baseline="0">
                <a:solidFill>
                  <a:schemeClr val="tx1"/>
                </a:solidFill>
                <a:effectLst/>
                <a:latin typeface="Arial" panose="020B0604020202020204" pitchFamily="34" charset="0"/>
                <a:ea typeface="+mn-ea"/>
                <a:cs typeface="Arial" panose="020B0604020202020204" pitchFamily="34" charset="0"/>
              </a:rPr>
              <a:t> </a:t>
            </a:r>
            <a:r>
              <a:rPr lang="en-AU" sz="1600" b="0" i="0" kern="1200">
                <a:solidFill>
                  <a:schemeClr val="tx1"/>
                </a:solidFill>
                <a:effectLst/>
                <a:latin typeface="Arial" panose="020B0604020202020204" pitchFamily="34" charset="0"/>
                <a:ea typeface="+mn-ea"/>
                <a:cs typeface="Arial" panose="020B0604020202020204" pitchFamily="34" charset="0"/>
              </a:rPr>
              <a:t>of the small pencil is smaller than quarter of the long pencil.</a:t>
            </a: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indent="-342900" rtl="0" fontAlgn="ctr">
              <a:buFont typeface="+mj-lt"/>
              <a:buAutoNum type="arabicPeriod"/>
            </a:pPr>
            <a:r>
              <a:rPr lang="en-AU" sz="1600" b="0" i="0" kern="1200">
                <a:solidFill>
                  <a:schemeClr val="tx1"/>
                </a:solidFill>
                <a:effectLst/>
                <a:latin typeface="Arial" panose="020B0604020202020204" pitchFamily="34" charset="0"/>
                <a:ea typeface="+mn-ea"/>
                <a:cs typeface="Arial" panose="020B0604020202020204" pitchFamily="34" charset="0"/>
              </a:rPr>
              <a:t>Regroup as a class and ask:</a:t>
            </a: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indent="-342900" rtl="0" fontAlgn="ctr">
              <a:buFont typeface="+mj-lt"/>
              <a:buAutoNum type="arabicPeriod"/>
            </a:pPr>
            <a:r>
              <a:rPr lang="en-AU" sz="1600" b="0" i="0" kern="1200">
                <a:solidFill>
                  <a:schemeClr val="tx1"/>
                </a:solidFill>
                <a:effectLst/>
                <a:latin typeface="Arial" panose="020B0604020202020204" pitchFamily="34" charset="0"/>
                <a:ea typeface="+mn-ea"/>
                <a:cs typeface="Arial" panose="020B0604020202020204" pitchFamily="34" charset="0"/>
              </a:rPr>
              <a:t>Did you find any times where quarters</a:t>
            </a:r>
            <a:r>
              <a:rPr lang="en-AU" sz="1600" b="0" i="0" kern="1200" baseline="0">
                <a:solidFill>
                  <a:schemeClr val="tx1"/>
                </a:solidFill>
                <a:effectLst/>
                <a:latin typeface="Arial" panose="020B0604020202020204" pitchFamily="34" charset="0"/>
                <a:ea typeface="+mn-ea"/>
                <a:cs typeface="Arial" panose="020B0604020202020204" pitchFamily="34" charset="0"/>
              </a:rPr>
              <a:t> </a:t>
            </a:r>
            <a:r>
              <a:rPr lang="en-AU" sz="1600" b="0" i="0" kern="1200">
                <a:solidFill>
                  <a:schemeClr val="tx1"/>
                </a:solidFill>
                <a:effectLst/>
                <a:latin typeface="Arial" panose="020B0604020202020204" pitchFamily="34" charset="0"/>
                <a:ea typeface="+mn-ea"/>
                <a:cs typeface="Arial" panose="020B0604020202020204" pitchFamily="34" charset="0"/>
              </a:rPr>
              <a:t>was more than</a:t>
            </a:r>
            <a:r>
              <a:rPr lang="en-AU" sz="1600" b="0" i="0" kern="1200" baseline="0">
                <a:solidFill>
                  <a:schemeClr val="tx1"/>
                </a:solidFill>
                <a:effectLst/>
                <a:latin typeface="Arial" panose="020B0604020202020204" pitchFamily="34" charset="0"/>
                <a:ea typeface="+mn-ea"/>
                <a:cs typeface="Arial" panose="020B0604020202020204" pitchFamily="34" charset="0"/>
              </a:rPr>
              <a:t> half</a:t>
            </a:r>
            <a:r>
              <a:rPr lang="en-AU" sz="1600" b="0" i="0" kern="1200">
                <a:solidFill>
                  <a:schemeClr val="tx1"/>
                </a:solidFill>
                <a:effectLst/>
                <a:latin typeface="Arial" panose="020B0604020202020204" pitchFamily="34" charset="0"/>
                <a:ea typeface="+mn-ea"/>
                <a:cs typeface="Arial" panose="020B0604020202020204" pitchFamily="34" charset="0"/>
              </a:rPr>
              <a:t>? Why?</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Why is it important to know what the whole is when using fractions?</a:t>
            </a:r>
          </a:p>
          <a:p>
            <a:br>
              <a:rPr lang="en-AU" sz="1600" kern="1200">
                <a:solidFill>
                  <a:schemeClr val="tx1"/>
                </a:solidFill>
                <a:effectLst/>
                <a:latin typeface="Arial" panose="020B0604020202020204" pitchFamily="34" charset="0"/>
                <a:ea typeface="+mn-ea"/>
                <a:cs typeface="Arial" panose="020B0604020202020204" pitchFamily="34" charset="0"/>
              </a:rPr>
            </a:b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latin typeface="+mn-lt"/>
                <a:ea typeface="+mn-lt"/>
                <a:cs typeface="+mn-lt"/>
              </a:rPr>
              <a:t>This resource is not a teaching and learning program. It should be used in conjunction with Stage 3 Year B Unit 23.</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cs typeface="Arial"/>
              </a:rPr>
              <a:t>Mathematics Stage 3 – Unit 23</a:t>
            </a:r>
            <a:endParaRPr lang="en-AU">
              <a:latin typeface="+mj-lt"/>
            </a:endParaRPr>
          </a:p>
        </p:txBody>
      </p:sp>
      <p:pic>
        <p:nvPicPr>
          <p:cNvPr id="5" name="Picture Placeholder 4" descr="A row of dice on a blue background&#10;">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a:t>Multiple choice </a:t>
            </a:r>
            <a:r>
              <a:rPr lang="en-US" sz="4000">
                <a:solidFill>
                  <a:schemeClr val="bg1"/>
                </a:solidFill>
              </a:rPr>
              <a:t>(1)</a:t>
            </a:r>
            <a:endParaRPr lang="en-US">
              <a:solidFill>
                <a:schemeClr val="bg1"/>
              </a:solidFill>
            </a:endParaRP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360000" y="1044920"/>
            <a:ext cx="11243037" cy="754243"/>
          </a:xfrm>
        </p:spPr>
        <p:txBody>
          <a:bodyPr/>
          <a:lstStyle/>
          <a:p>
            <a:pPr algn="ctr"/>
            <a:r>
              <a:rPr lang="en-US" sz="4400"/>
              <a:t>9256 – 5426 =</a:t>
            </a:r>
          </a:p>
        </p:txBody>
      </p:sp>
      <p:sp>
        <p:nvSpPr>
          <p:cNvPr id="9" name="TextBox 8">
            <a:extLst>
              <a:ext uri="{FF2B5EF4-FFF2-40B4-BE49-F238E27FC236}">
                <a16:creationId xmlns:a16="http://schemas.microsoft.com/office/drawing/2014/main" id="{EF8DF706-D80F-92B1-7253-8E6E8E474570}"/>
              </a:ext>
            </a:extLst>
          </p:cNvPr>
          <p:cNvSpPr txBox="1"/>
          <p:nvPr/>
        </p:nvSpPr>
        <p:spPr>
          <a:xfrm>
            <a:off x="670560" y="203849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1345520" y="2087129"/>
            <a:ext cx="10175920" cy="641396"/>
          </a:xfrm>
        </p:spPr>
        <p:txBody>
          <a:bodyPr anchor="ctr"/>
          <a:lstStyle/>
          <a:p>
            <a:r>
              <a:rPr lang="en-US" sz="3600"/>
              <a:t>4321</a:t>
            </a:r>
          </a:p>
        </p:txBody>
      </p:sp>
      <p:sp>
        <p:nvSpPr>
          <p:cNvPr id="10" name="TextBox 9">
            <a:extLst>
              <a:ext uri="{FF2B5EF4-FFF2-40B4-BE49-F238E27FC236}">
                <a16:creationId xmlns:a16="http://schemas.microsoft.com/office/drawing/2014/main" id="{E8E3048F-F2CC-3A16-FD64-BA70C679B369}"/>
              </a:ext>
            </a:extLst>
          </p:cNvPr>
          <p:cNvSpPr txBox="1"/>
          <p:nvPr/>
        </p:nvSpPr>
        <p:spPr>
          <a:xfrm>
            <a:off x="670559" y="288640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1345520" y="2935042"/>
            <a:ext cx="10175920" cy="641396"/>
          </a:xfrm>
        </p:spPr>
        <p:txBody>
          <a:bodyPr anchor="ctr"/>
          <a:lstStyle/>
          <a:p>
            <a:r>
              <a:rPr lang="en-US" sz="3600"/>
              <a:t>4230</a:t>
            </a:r>
          </a:p>
        </p:txBody>
      </p:sp>
      <p:sp>
        <p:nvSpPr>
          <p:cNvPr id="12" name="TextBox 11">
            <a:extLst>
              <a:ext uri="{FF2B5EF4-FFF2-40B4-BE49-F238E27FC236}">
                <a16:creationId xmlns:a16="http://schemas.microsoft.com/office/drawing/2014/main" id="{653CFB63-79BB-2581-B3F1-80CDC52E39F6}"/>
              </a:ext>
            </a:extLst>
          </p:cNvPr>
          <p:cNvSpPr txBox="1"/>
          <p:nvPr/>
        </p:nvSpPr>
        <p:spPr>
          <a:xfrm>
            <a:off x="670558" y="373646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1345520" y="3785095"/>
            <a:ext cx="10175920" cy="641396"/>
          </a:xfrm>
        </p:spPr>
        <p:txBody>
          <a:bodyPr anchor="ctr"/>
          <a:lstStyle/>
          <a:p>
            <a:r>
              <a:rPr lang="en-US" sz="3600"/>
              <a:t>3830</a:t>
            </a:r>
          </a:p>
        </p:txBody>
      </p:sp>
      <p:sp>
        <p:nvSpPr>
          <p:cNvPr id="11" name="TextBox 10">
            <a:extLst>
              <a:ext uri="{FF2B5EF4-FFF2-40B4-BE49-F238E27FC236}">
                <a16:creationId xmlns:a16="http://schemas.microsoft.com/office/drawing/2014/main" id="{A7CF7502-CF88-ED76-425C-93F1166598D5}"/>
              </a:ext>
            </a:extLst>
          </p:cNvPr>
          <p:cNvSpPr txBox="1"/>
          <p:nvPr/>
        </p:nvSpPr>
        <p:spPr>
          <a:xfrm>
            <a:off x="670557" y="45865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1308080" y="4635148"/>
            <a:ext cx="10175920" cy="641396"/>
          </a:xfrm>
        </p:spPr>
        <p:txBody>
          <a:bodyPr anchor="ctr"/>
          <a:lstStyle/>
          <a:p>
            <a:r>
              <a:rPr lang="en-US" sz="3600"/>
              <a:t>3876</a:t>
            </a:r>
          </a:p>
        </p:txBody>
      </p:sp>
      <p:sp>
        <p:nvSpPr>
          <p:cNvPr id="2" name="Slide Number Placeholder 1">
            <a:extLst>
              <a:ext uri="{FF2B5EF4-FFF2-40B4-BE49-F238E27FC236}">
                <a16:creationId xmlns:a16="http://schemas.microsoft.com/office/drawing/2014/main" id="{9B65148B-F5B2-7EDD-CE57-A079E0DD806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6" name="TextBox 5">
            <a:extLst>
              <a:ext uri="{FF2B5EF4-FFF2-40B4-BE49-F238E27FC236}">
                <a16:creationId xmlns:a16="http://schemas.microsoft.com/office/drawing/2014/main" id="{0AC3D6F6-D4D0-83FB-74BA-E9F6AC3E5757}"/>
              </a:ext>
            </a:extLst>
          </p:cNvPr>
          <p:cNvSpPr txBox="1"/>
          <p:nvPr/>
        </p:nvSpPr>
        <p:spPr>
          <a:xfrm>
            <a:off x="477462" y="5435317"/>
            <a:ext cx="9666675" cy="982513"/>
          </a:xfrm>
          <a:prstGeom prst="rect">
            <a:avLst/>
          </a:prstGeom>
          <a:noFill/>
        </p:spPr>
        <p:txBody>
          <a:bodyPr wrap="square">
            <a:spAutoFit/>
          </a:bodyPr>
          <a:lstStyle/>
          <a:p>
            <a:pPr algn="ctr">
              <a:lnSpc>
                <a:spcPct val="150000"/>
              </a:lnSpc>
            </a:pPr>
            <a:r>
              <a:rPr lang="en-AU" sz="4400" b="1"/>
              <a:t>Communicate</a:t>
            </a:r>
            <a:r>
              <a:rPr lang="en-AU" sz="4400"/>
              <a:t> your </a:t>
            </a:r>
            <a:r>
              <a:rPr lang="en-AU" sz="4400" b="1"/>
              <a:t>strategy</a:t>
            </a:r>
            <a:r>
              <a:rPr lang="en-AU" sz="4400"/>
              <a:t>.</a:t>
            </a:r>
          </a:p>
        </p:txBody>
      </p:sp>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38229" y="268723"/>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D8FB0B4-49AC-533F-212C-FF6F1BD6D49B}"/>
              </a:ext>
            </a:extLst>
          </p:cNvPr>
          <p:cNvSpPr txBox="1"/>
          <p:nvPr/>
        </p:nvSpPr>
        <p:spPr>
          <a:xfrm>
            <a:off x="692458" y="1491449"/>
            <a:ext cx="11070455" cy="2325949"/>
          </a:xfrm>
          <a:prstGeom prst="rect">
            <a:avLst/>
          </a:prstGeom>
          <a:noFill/>
        </p:spPr>
        <p:txBody>
          <a:bodyPr wrap="square" lIns="0" tIns="0" rIns="0" bIns="0" rtlCol="0">
            <a:noAutofit/>
          </a:bodyPr>
          <a:lstStyle/>
          <a:p>
            <a:pPr algn="ctr">
              <a:lnSpc>
                <a:spcPct val="150000"/>
              </a:lnSpc>
            </a:pPr>
            <a:r>
              <a:rPr lang="en-AU" sz="4400" dirty="0"/>
              <a:t>Record the number:</a:t>
            </a:r>
          </a:p>
          <a:p>
            <a:pPr marL="742950" indent="-742950" algn="ctr">
              <a:lnSpc>
                <a:spcPct val="150000"/>
              </a:lnSpc>
              <a:buFont typeface="Arial" panose="020B0604020202020204" pitchFamily="34" charset="0"/>
              <a:buChar char="•"/>
            </a:pPr>
            <a:r>
              <a:rPr lang="en-AU" sz="4400" dirty="0"/>
              <a:t> </a:t>
            </a:r>
            <a:r>
              <a:rPr lang="en-AU" sz="4400" b="1" dirty="0"/>
              <a:t>10 times </a:t>
            </a:r>
            <a:r>
              <a:rPr lang="en-AU" sz="4400" dirty="0"/>
              <a:t>larger than 0.40</a:t>
            </a:r>
          </a:p>
          <a:p>
            <a:pPr marL="742950" indent="-742950" algn="ctr">
              <a:lnSpc>
                <a:spcPct val="150000"/>
              </a:lnSpc>
              <a:buFont typeface="Arial" panose="020B0604020202020204" pitchFamily="34" charset="0"/>
              <a:buChar char="•"/>
            </a:pPr>
            <a:r>
              <a:rPr lang="en-AU" sz="4400" dirty="0"/>
              <a:t> </a:t>
            </a:r>
            <a:r>
              <a:rPr lang="en-AU" sz="4400" b="1" dirty="0"/>
              <a:t>100 times </a:t>
            </a:r>
            <a:r>
              <a:rPr lang="en-AU" sz="4400" dirty="0"/>
              <a:t>larger than 0.40</a:t>
            </a:r>
          </a:p>
          <a:p>
            <a:pPr algn="ctr"/>
            <a:endParaRPr lang="en-AU" sz="4400" b="1" dirty="0"/>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19894EC-9E4A-15ED-5A20-AD6FF06475C4}"/>
              </a:ext>
            </a:extLst>
          </p:cNvPr>
          <p:cNvSpPr txBox="1"/>
          <p:nvPr/>
        </p:nvSpPr>
        <p:spPr>
          <a:xfrm>
            <a:off x="585336" y="1298523"/>
            <a:ext cx="10898664" cy="2869580"/>
          </a:xfrm>
          <a:prstGeom prst="rect">
            <a:avLst/>
          </a:prstGeom>
          <a:noFill/>
        </p:spPr>
        <p:txBody>
          <a:bodyPr wrap="square" lIns="0" tIns="0" rIns="0" bIns="0" rtlCol="0">
            <a:noAutofit/>
          </a:bodyPr>
          <a:lstStyle/>
          <a:p>
            <a:pPr algn="ctr">
              <a:lnSpc>
                <a:spcPct val="150000"/>
              </a:lnSpc>
            </a:pPr>
            <a:r>
              <a:rPr lang="en-AU" sz="3600"/>
              <a:t>Gabriella was hosting an event. She sold 105 Gold tickets at $9 each and 65 silver tickets at $7 each.</a:t>
            </a:r>
          </a:p>
          <a:p>
            <a:pPr algn="ctr">
              <a:lnSpc>
                <a:spcPct val="150000"/>
              </a:lnSpc>
            </a:pPr>
            <a:r>
              <a:rPr lang="en-AU" sz="3600"/>
              <a:t>15 Gold ticket guests cancelled and wanted a refund.</a:t>
            </a:r>
          </a:p>
          <a:p>
            <a:pPr algn="ctr">
              <a:lnSpc>
                <a:spcPct val="150000"/>
              </a:lnSpc>
            </a:pPr>
            <a:r>
              <a:rPr lang="en-AU" sz="3600"/>
              <a:t>How much </a:t>
            </a:r>
            <a:r>
              <a:rPr lang="en-AU" sz="3600" b="1"/>
              <a:t>money</a:t>
            </a:r>
            <a:r>
              <a:rPr lang="en-AU" sz="3600"/>
              <a:t> has she made from ticket sales?</a:t>
            </a:r>
          </a:p>
          <a:p>
            <a:pPr algn="ctr">
              <a:lnSpc>
                <a:spcPct val="150000"/>
              </a:lnSpc>
            </a:pPr>
            <a:endParaRPr lang="en-AU" sz="2200"/>
          </a:p>
          <a:p>
            <a:pPr algn="ctr">
              <a:lnSpc>
                <a:spcPct val="150000"/>
              </a:lnSpc>
            </a:pPr>
            <a:r>
              <a:rPr lang="en-AU" sz="3600" b="1"/>
              <a:t>Communicate</a:t>
            </a:r>
            <a:r>
              <a:rPr lang="en-AU" sz="3600"/>
              <a:t> your </a:t>
            </a:r>
            <a:r>
              <a:rPr lang="en-AU" sz="3600" b="1"/>
              <a:t>reasoning</a:t>
            </a:r>
            <a:r>
              <a:rPr lang="en-AU" sz="3600"/>
              <a:t>.</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AC5BFED-02FD-4D3C-C15E-304DE828A61F}"/>
              </a:ext>
            </a:extLst>
          </p:cNvPr>
          <p:cNvSpPr txBox="1"/>
          <p:nvPr/>
        </p:nvSpPr>
        <p:spPr>
          <a:xfrm>
            <a:off x="735980" y="1546899"/>
            <a:ext cx="10720039" cy="3048000"/>
          </a:xfrm>
          <a:prstGeom prst="rect">
            <a:avLst/>
          </a:prstGeom>
          <a:noFill/>
        </p:spPr>
        <p:txBody>
          <a:bodyPr wrap="square" lIns="0" tIns="0" rIns="0" bIns="0" rtlCol="0">
            <a:noAutofit/>
          </a:bodyPr>
          <a:lstStyle/>
          <a:p>
            <a:pPr algn="ctr"/>
            <a:r>
              <a:rPr lang="en-AU" sz="4000" b="1"/>
              <a:t>Arrange</a:t>
            </a:r>
            <a:r>
              <a:rPr lang="en-AU" sz="4000"/>
              <a:t> these numbers in </a:t>
            </a:r>
            <a:r>
              <a:rPr lang="en-AU" sz="4000" b="1"/>
              <a:t>descending order</a:t>
            </a:r>
            <a:r>
              <a:rPr lang="en-AU" sz="4000"/>
              <a:t>:</a:t>
            </a:r>
          </a:p>
          <a:p>
            <a:pPr algn="ctr"/>
            <a:endParaRPr lang="en-AU" sz="1400"/>
          </a:p>
          <a:p>
            <a:pPr algn="ctr">
              <a:lnSpc>
                <a:spcPct val="150000"/>
              </a:lnSpc>
            </a:pPr>
            <a:r>
              <a:rPr lang="en-AU" sz="4000"/>
              <a:t>7 645 980</a:t>
            </a:r>
          </a:p>
          <a:p>
            <a:pPr algn="ctr">
              <a:lnSpc>
                <a:spcPct val="150000"/>
              </a:lnSpc>
            </a:pPr>
            <a:r>
              <a:rPr lang="en-AU" sz="4000"/>
              <a:t>6 541 982</a:t>
            </a:r>
          </a:p>
          <a:p>
            <a:pPr algn="ctr">
              <a:lnSpc>
                <a:spcPct val="150000"/>
              </a:lnSpc>
            </a:pPr>
            <a:r>
              <a:rPr lang="en-AU" sz="4000"/>
              <a:t>7 641 908</a:t>
            </a:r>
          </a:p>
          <a:p>
            <a:pPr algn="ctr">
              <a:lnSpc>
                <a:spcPct val="150000"/>
              </a:lnSpc>
            </a:pPr>
            <a:r>
              <a:rPr lang="en-AU" sz="4000"/>
              <a:t>3 678 000</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2" name="Picture 11" descr="A column graph with 5 columns&#10;The first one is green and reaches to number 15. The second one is red and reaches below the number 20. The third column is blue and reaches to the number 15. The fourth column is pink and reaches 2 past the number 10. The last column is purple and reaches to the number 10.">
            <a:extLst>
              <a:ext uri="{FF2B5EF4-FFF2-40B4-BE49-F238E27FC236}">
                <a16:creationId xmlns:a16="http://schemas.microsoft.com/office/drawing/2014/main" id="{5161C26C-67B5-C0FB-D9E6-0F1C410674DE}"/>
              </a:ext>
            </a:extLst>
          </p:cNvPr>
          <p:cNvPicPr>
            <a:picLocks noChangeAspect="1"/>
          </p:cNvPicPr>
          <p:nvPr/>
        </p:nvPicPr>
        <p:blipFill>
          <a:blip r:embed="rId4"/>
          <a:stretch>
            <a:fillRect/>
          </a:stretch>
        </p:blipFill>
        <p:spPr>
          <a:xfrm>
            <a:off x="3554306" y="2055565"/>
            <a:ext cx="5083388" cy="3571675"/>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F36C37B8-4892-48D5-C9FA-CFA3D31AA5D4}"/>
              </a:ext>
            </a:extLst>
          </p:cNvPr>
          <p:cNvSpPr txBox="1"/>
          <p:nvPr/>
        </p:nvSpPr>
        <p:spPr>
          <a:xfrm>
            <a:off x="1212197" y="809463"/>
            <a:ext cx="9590475" cy="671119"/>
          </a:xfrm>
          <a:prstGeom prst="rect">
            <a:avLst/>
          </a:prstGeom>
          <a:noFill/>
        </p:spPr>
        <p:txBody>
          <a:bodyPr wrap="square" lIns="0" tIns="0" rIns="0" bIns="0" rtlCol="0">
            <a:noAutofit/>
          </a:bodyPr>
          <a:lstStyle/>
          <a:p>
            <a:pPr algn="ctr"/>
            <a:r>
              <a:rPr lang="en-AU" sz="4200"/>
              <a:t>How many students was this </a:t>
            </a:r>
            <a:r>
              <a:rPr lang="en-AU" sz="4200" b="1"/>
              <a:t>data</a:t>
            </a:r>
            <a:r>
              <a:rPr lang="en-AU" sz="4200"/>
              <a:t> collected from?</a:t>
            </a:r>
          </a:p>
          <a:p>
            <a:pPr algn="ctr"/>
            <a:endParaRPr lang="en-AU" sz="4200"/>
          </a:p>
          <a:p>
            <a:pPr algn="ctr"/>
            <a:endParaRPr lang="en-AU" sz="4200"/>
          </a:p>
          <a:p>
            <a:pPr algn="ctr"/>
            <a:endParaRPr lang="en-AU" sz="4200"/>
          </a:p>
          <a:p>
            <a:pPr algn="ctr"/>
            <a:endParaRPr lang="en-AU" sz="4200"/>
          </a:p>
          <a:p>
            <a:pPr algn="ctr"/>
            <a:endParaRPr lang="en-AU" sz="4200"/>
          </a:p>
          <a:p>
            <a:pPr algn="ctr"/>
            <a:endParaRPr lang="en-AU" sz="4200"/>
          </a:p>
          <a:p>
            <a:pPr algn="ctr"/>
            <a:r>
              <a:rPr lang="en-AU" sz="4200" b="1"/>
              <a:t>Communicate</a:t>
            </a:r>
            <a:r>
              <a:rPr lang="en-AU" sz="4200"/>
              <a:t> your </a:t>
            </a:r>
            <a:r>
              <a:rPr lang="en-AU" sz="4200" b="1"/>
              <a:t>thinking</a:t>
            </a:r>
            <a:r>
              <a:rPr lang="en-AU" sz="4200"/>
              <a:t>.</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efficient addition strategies</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2050" name="Picture 2" descr="2 by 2 grid with the numbers 5, 2, 1, and 9. Numbers 52, 19, 51 and 29 are outside the grid showing the number combinations that can be made from each number with its directionality.">
            <a:extLst>
              <a:ext uri="{FF2B5EF4-FFF2-40B4-BE49-F238E27FC236}">
                <a16:creationId xmlns:a16="http://schemas.microsoft.com/office/drawing/2014/main" id="{F4D28BC0-F5F8-0CE6-56E3-D9DBB71AE9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3004" y="1347205"/>
            <a:ext cx="4656331" cy="4788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184019"/>
            <a:ext cx="11243037" cy="893226"/>
          </a:xfrm>
        </p:spPr>
        <p:txBody>
          <a:bodyPr/>
          <a:lstStyle/>
          <a:p>
            <a:pPr algn="ctr"/>
            <a:r>
              <a:rPr lang="en-AU" sz="4400" dirty="0"/>
              <a:t>Joe needs to travel 1876 km from Mermaid Cove to Fairy Rock. He </a:t>
            </a:r>
            <a:r>
              <a:rPr lang="en-AU" sz="4400" b="1" dirty="0"/>
              <a:t>travelled </a:t>
            </a:r>
            <a:r>
              <a:rPr lang="en-AU" sz="4400" dirty="0"/>
              <a:t>214 km on Monday and 329 km on Tuesday. </a:t>
            </a:r>
          </a:p>
          <a:p>
            <a:pPr algn="ctr"/>
            <a:r>
              <a:rPr lang="en-AU" sz="4400" dirty="0"/>
              <a:t>He still has </a:t>
            </a:r>
            <a:r>
              <a:rPr lang="en-AU" sz="4400" b="1" dirty="0"/>
              <a:t>544 km to travel</a:t>
            </a:r>
            <a:r>
              <a:rPr lang="en-AU" sz="4400" dirty="0"/>
              <a:t>? </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654010403"/>
              </p:ext>
            </p:extLst>
          </p:nvPr>
        </p:nvGraphicFramePr>
        <p:xfrm>
          <a:off x="2442980" y="539268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39CD6C1-19FD-31A6-032C-06766317B579}"/>
              </a:ext>
            </a:extLst>
          </p:cNvPr>
          <p:cNvSpPr txBox="1"/>
          <p:nvPr/>
        </p:nvSpPr>
        <p:spPr>
          <a:xfrm>
            <a:off x="772357" y="1236216"/>
            <a:ext cx="9954911" cy="2192784"/>
          </a:xfrm>
          <a:prstGeom prst="rect">
            <a:avLst/>
          </a:prstGeom>
          <a:noFill/>
        </p:spPr>
        <p:txBody>
          <a:bodyPr wrap="square" lIns="0" tIns="0" rIns="0" bIns="0" rtlCol="0" anchor="t">
            <a:noAutofit/>
          </a:bodyPr>
          <a:lstStyle/>
          <a:p>
            <a:pPr algn="ctr">
              <a:lnSpc>
                <a:spcPct val="150000"/>
              </a:lnSpc>
            </a:pPr>
            <a:r>
              <a:rPr lang="en-AU" sz="4400" b="1" dirty="0"/>
              <a:t>Convert:</a:t>
            </a:r>
          </a:p>
          <a:p>
            <a:pPr marL="571500" indent="-571500" algn="ctr">
              <a:lnSpc>
                <a:spcPct val="150000"/>
              </a:lnSpc>
              <a:buFont typeface="Arial" panose="020B0604020202020204" pitchFamily="34" charset="0"/>
              <a:buChar char="•"/>
            </a:pPr>
            <a:r>
              <a:rPr lang="en-AU" sz="4400" dirty="0"/>
              <a:t> 2.378km to </a:t>
            </a:r>
            <a:r>
              <a:rPr lang="en-AU" sz="4400" b="1" dirty="0"/>
              <a:t>metres</a:t>
            </a:r>
          </a:p>
          <a:p>
            <a:pPr marL="571500" indent="-571500" algn="ctr">
              <a:lnSpc>
                <a:spcPct val="150000"/>
              </a:lnSpc>
              <a:buFont typeface="Arial" panose="020B0604020202020204" pitchFamily="34" charset="0"/>
              <a:buChar char="•"/>
            </a:pPr>
            <a:r>
              <a:rPr lang="en-AU" sz="4400" dirty="0"/>
              <a:t>6.21m to </a:t>
            </a:r>
            <a:r>
              <a:rPr lang="en-AU" sz="4400" b="1" dirty="0"/>
              <a:t>kilometres</a:t>
            </a:r>
          </a:p>
          <a:p>
            <a:pPr algn="ctr"/>
            <a:endParaRPr lang="en-AU" sz="4400" dirty="0"/>
          </a:p>
          <a:p>
            <a:pPr algn="ctr"/>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7C2F1E2-E8BB-BFC6-6ECA-519BBB5117B6}"/>
              </a:ext>
            </a:extLst>
          </p:cNvPr>
          <p:cNvSpPr txBox="1"/>
          <p:nvPr/>
        </p:nvSpPr>
        <p:spPr>
          <a:xfrm>
            <a:off x="865768" y="1532983"/>
            <a:ext cx="10028664" cy="2676293"/>
          </a:xfrm>
          <a:prstGeom prst="rect">
            <a:avLst/>
          </a:prstGeom>
          <a:noFill/>
        </p:spPr>
        <p:txBody>
          <a:bodyPr wrap="square" lIns="0" tIns="0" rIns="0" bIns="0" rtlCol="0" anchor="t">
            <a:noAutofit/>
          </a:bodyPr>
          <a:lstStyle/>
          <a:p>
            <a:pPr algn="ctr"/>
            <a:r>
              <a:rPr lang="en-AU" sz="4400"/>
              <a:t>Use </a:t>
            </a:r>
            <a:r>
              <a:rPr lang="en-AU" sz="4400" b="1"/>
              <a:t>rounding</a:t>
            </a:r>
            <a:r>
              <a:rPr lang="en-AU" sz="4400"/>
              <a:t> to </a:t>
            </a:r>
            <a:r>
              <a:rPr lang="en-AU" sz="4400" b="1"/>
              <a:t>estimate</a:t>
            </a:r>
            <a:r>
              <a:rPr lang="en-AU" sz="4400"/>
              <a:t> the answer</a:t>
            </a:r>
          </a:p>
          <a:p>
            <a:pPr algn="ctr"/>
            <a:endParaRPr lang="en-AU" sz="4400"/>
          </a:p>
          <a:p>
            <a:pPr algn="ctr"/>
            <a:r>
              <a:rPr lang="en-AU" sz="5400" dirty="0"/>
              <a:t>7532 + 3219 =</a:t>
            </a:r>
            <a:endParaRPr lang="en-AU" sz="5400" dirty="0">
              <a:cs typeface="Arial"/>
            </a:endParaRPr>
          </a:p>
          <a:p>
            <a:pPr algn="ctr"/>
            <a:endParaRPr lang="en-AU" sz="4400"/>
          </a:p>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DB57F13-134D-24F7-FA2D-815C6F474056}"/>
              </a:ext>
            </a:extLst>
          </p:cNvPr>
          <p:cNvSpPr txBox="1"/>
          <p:nvPr/>
        </p:nvSpPr>
        <p:spPr>
          <a:xfrm>
            <a:off x="1051034" y="1290202"/>
            <a:ext cx="9979442" cy="2297151"/>
          </a:xfrm>
          <a:prstGeom prst="rect">
            <a:avLst/>
          </a:prstGeom>
          <a:noFill/>
        </p:spPr>
        <p:txBody>
          <a:bodyPr wrap="square" lIns="0" tIns="0" rIns="0" bIns="0" rtlCol="0">
            <a:noAutofit/>
          </a:bodyPr>
          <a:lstStyle/>
          <a:p>
            <a:pPr algn="ctr">
              <a:lnSpc>
                <a:spcPct val="150000"/>
              </a:lnSpc>
            </a:pPr>
            <a:r>
              <a:rPr lang="en-AU" sz="4400" b="1" dirty="0"/>
              <a:t>Partition</a:t>
            </a:r>
            <a:r>
              <a:rPr lang="en-AU" sz="4400" dirty="0"/>
              <a:t> these numbers in </a:t>
            </a:r>
            <a:r>
              <a:rPr lang="en-AU" sz="4400" b="1" dirty="0"/>
              <a:t>non-standard </a:t>
            </a:r>
            <a:r>
              <a:rPr lang="en-AU" sz="4400" dirty="0"/>
              <a:t>forms.</a:t>
            </a:r>
          </a:p>
          <a:p>
            <a:pPr algn="ctr"/>
            <a:endParaRPr lang="en-AU" sz="4400" dirty="0"/>
          </a:p>
          <a:p>
            <a:pPr algn="ctr"/>
            <a:r>
              <a:rPr lang="en-AU" sz="4400" dirty="0"/>
              <a:t>56 427</a:t>
            </a:r>
          </a:p>
          <a:p>
            <a:pPr algn="ctr"/>
            <a:endParaRPr lang="en-AU" sz="4400" dirty="0"/>
          </a:p>
          <a:p>
            <a:pPr algn="ctr"/>
            <a:r>
              <a:rPr lang="en-AU" sz="4400" dirty="0"/>
              <a:t>80 098</a:t>
            </a:r>
          </a:p>
          <a:p>
            <a:pPr algn="ctr"/>
            <a:endParaRPr lang="en-AU" sz="1800" dirty="0"/>
          </a:p>
          <a:p>
            <a:pPr algn="ctr"/>
            <a:endParaRPr lang="en-AU" sz="1800" dirty="0"/>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2D269FC-F8A9-CEBA-7CE3-D434FAAE39AD}"/>
              </a:ext>
            </a:extLst>
          </p:cNvPr>
          <p:cNvSpPr txBox="1"/>
          <p:nvPr/>
        </p:nvSpPr>
        <p:spPr>
          <a:xfrm>
            <a:off x="1008652" y="2154936"/>
            <a:ext cx="10021824" cy="1609344"/>
          </a:xfrm>
          <a:prstGeom prst="rect">
            <a:avLst/>
          </a:prstGeom>
          <a:noFill/>
        </p:spPr>
        <p:txBody>
          <a:bodyPr wrap="square" lIns="0" tIns="0" rIns="0" bIns="0" rtlCol="0">
            <a:noAutofit/>
          </a:bodyPr>
          <a:lstStyle/>
          <a:p>
            <a:pPr algn="ctr">
              <a:lnSpc>
                <a:spcPct val="150000"/>
              </a:lnSpc>
            </a:pPr>
            <a:r>
              <a:rPr lang="en-AU" sz="4400"/>
              <a:t>Describe a </a:t>
            </a:r>
            <a:r>
              <a:rPr lang="en-AU" sz="4400" b="1"/>
              <a:t>chance</a:t>
            </a:r>
            <a:r>
              <a:rPr lang="en-AU" sz="4400"/>
              <a:t> experiment where the outcome is </a:t>
            </a:r>
            <a:r>
              <a:rPr lang="en-AU" sz="4400" b="1"/>
              <a:t>equally likely </a:t>
            </a:r>
            <a:r>
              <a:rPr lang="en-AU" sz="4400"/>
              <a:t>to occur</a:t>
            </a:r>
            <a:r>
              <a:rPr lang="en-AU" sz="1800"/>
              <a:t>.</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t>Activity 2 – multi-step word problems 1</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074" name="Picture 2" descr="Word problems.&#10;The distance by car between Newtown, Gadigal Country and Canberra, Ngunnawal Country is 283 km. &#10;If we drive 89 km from Newtown to Wollongong, Dharawal Country, and then 244 km from Wollongong to Canberra, how much further is this than driving directly from Newtown to Canberra?&#10;and &#10;Mr Portelli drives a truck. Last week he drove 797 Km, 232 km and 164 km in 3 journeys. This week he drove 309 km and 265 km in 2 journeys. &#10;What was the difference in kilometres between this week and last week?">
            <a:extLst>
              <a:ext uri="{FF2B5EF4-FFF2-40B4-BE49-F238E27FC236}">
                <a16:creationId xmlns:a16="http://schemas.microsoft.com/office/drawing/2014/main" id="{798B9FFC-2C24-B168-ABC1-A1B3FEB173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9851" y="1097258"/>
            <a:ext cx="8113222" cy="540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474481" y="1352276"/>
            <a:ext cx="11243037" cy="893226"/>
          </a:xfrm>
        </p:spPr>
        <p:txBody>
          <a:bodyPr/>
          <a:lstStyle/>
          <a:p>
            <a:pPr algn="ctr"/>
            <a:r>
              <a:rPr lang="en-US" sz="4400"/>
              <a:t>Jamie drove 28 kms </a:t>
            </a:r>
            <a:r>
              <a:rPr lang="en-US" sz="4400" b="1"/>
              <a:t>every day for a week</a:t>
            </a:r>
            <a:r>
              <a:rPr lang="en-US" sz="4400"/>
              <a:t>. Mikali drove 19</a:t>
            </a:r>
            <a:r>
              <a:rPr lang="en-US" sz="4400" b="1"/>
              <a:t> </a:t>
            </a:r>
            <a:r>
              <a:rPr lang="en-US" sz="4400"/>
              <a:t>km</a:t>
            </a:r>
            <a:r>
              <a:rPr lang="en-US" sz="4400" b="1"/>
              <a:t> more than Jamie’s total</a:t>
            </a:r>
            <a:r>
              <a:rPr lang="en-US" sz="4400"/>
              <a:t>. </a:t>
            </a:r>
            <a:r>
              <a:rPr lang="en-US" sz="4400" b="1"/>
              <a:t>How far </a:t>
            </a:r>
            <a:r>
              <a:rPr lang="en-US" sz="4400"/>
              <a:t>did </a:t>
            </a:r>
            <a:r>
              <a:rPr lang="en-US" sz="4400" b="1"/>
              <a:t>Mikali </a:t>
            </a:r>
            <a:r>
              <a:rPr lang="en-US" sz="4400"/>
              <a:t>drive?</a:t>
            </a:r>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51238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02EB102C-C612-BACB-36A7-5F0F7EBEE6F2}"/>
              </a:ext>
            </a:extLst>
          </p:cNvPr>
          <p:cNvSpPr txBox="1"/>
          <p:nvPr/>
        </p:nvSpPr>
        <p:spPr>
          <a:xfrm>
            <a:off x="793293" y="5862470"/>
            <a:ext cx="1175656" cy="574765"/>
          </a:xfrm>
          <a:prstGeom prst="rect">
            <a:avLst/>
          </a:prstGeom>
          <a:noFill/>
        </p:spPr>
        <p:txBody>
          <a:bodyPr wrap="square" lIns="0" tIns="0" rIns="0" bIns="0" rtlCol="0">
            <a:noAutofit/>
          </a:bodyPr>
          <a:lstStyle/>
          <a:p>
            <a:pPr algn="l"/>
            <a:r>
              <a:rPr lang="en-AU" sz="4400"/>
              <a:t>256</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51238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58F9F233-0222-090B-8AE3-D38E53CCAE66}"/>
              </a:ext>
            </a:extLst>
          </p:cNvPr>
          <p:cNvSpPr txBox="1"/>
          <p:nvPr/>
        </p:nvSpPr>
        <p:spPr>
          <a:xfrm>
            <a:off x="3792632" y="5765133"/>
            <a:ext cx="1175657" cy="1138773"/>
          </a:xfrm>
          <a:prstGeom prst="rect">
            <a:avLst/>
          </a:prstGeom>
          <a:noFill/>
        </p:spPr>
        <p:txBody>
          <a:bodyPr wrap="square">
            <a:spAutoFit/>
          </a:bodyPr>
          <a:lstStyle/>
          <a:p>
            <a:pPr algn="l"/>
            <a:r>
              <a:rPr lang="en-AU" sz="4400"/>
              <a:t>215</a:t>
            </a:r>
          </a:p>
          <a:p>
            <a:pPr algn="l"/>
            <a:endParaRPr lang="en-AU" sz="2400"/>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51238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5" name="TextBox 14">
            <a:extLst>
              <a:ext uri="{FF2B5EF4-FFF2-40B4-BE49-F238E27FC236}">
                <a16:creationId xmlns:a16="http://schemas.microsoft.com/office/drawing/2014/main" id="{7C280978-410D-B6B8-58A0-6A6C00D5D2C4}"/>
              </a:ext>
            </a:extLst>
          </p:cNvPr>
          <p:cNvSpPr txBox="1"/>
          <p:nvPr/>
        </p:nvSpPr>
        <p:spPr>
          <a:xfrm>
            <a:off x="6791972" y="5765133"/>
            <a:ext cx="1714354" cy="769441"/>
          </a:xfrm>
          <a:prstGeom prst="rect">
            <a:avLst/>
          </a:prstGeom>
          <a:noFill/>
        </p:spPr>
        <p:txBody>
          <a:bodyPr wrap="square">
            <a:spAutoFit/>
          </a:bodyPr>
          <a:lstStyle/>
          <a:p>
            <a:pPr algn="l"/>
            <a:r>
              <a:rPr lang="en-AU" sz="4400"/>
              <a:t>196</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51238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7" name="TextBox 16">
            <a:extLst>
              <a:ext uri="{FF2B5EF4-FFF2-40B4-BE49-F238E27FC236}">
                <a16:creationId xmlns:a16="http://schemas.microsoft.com/office/drawing/2014/main" id="{5345FDE4-2075-262B-FC34-7F237709ECDE}"/>
              </a:ext>
            </a:extLst>
          </p:cNvPr>
          <p:cNvSpPr txBox="1"/>
          <p:nvPr/>
        </p:nvSpPr>
        <p:spPr>
          <a:xfrm>
            <a:off x="9796473" y="5768983"/>
            <a:ext cx="1183869" cy="769441"/>
          </a:xfrm>
          <a:prstGeom prst="rect">
            <a:avLst/>
          </a:prstGeom>
          <a:noFill/>
        </p:spPr>
        <p:txBody>
          <a:bodyPr wrap="square">
            <a:spAutoFit/>
          </a:bodyPr>
          <a:lstStyle/>
          <a:p>
            <a:pPr algn="l"/>
            <a:r>
              <a:rPr lang="en-AU" sz="4400"/>
              <a:t>211</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06D79CF-D38B-757D-BBB1-3A138F1E0F9C}"/>
              </a:ext>
            </a:extLst>
          </p:cNvPr>
          <p:cNvSpPr txBox="1"/>
          <p:nvPr/>
        </p:nvSpPr>
        <p:spPr>
          <a:xfrm>
            <a:off x="781234" y="1298359"/>
            <a:ext cx="10249241" cy="2130641"/>
          </a:xfrm>
          <a:prstGeom prst="rect">
            <a:avLst/>
          </a:prstGeom>
          <a:noFill/>
        </p:spPr>
        <p:txBody>
          <a:bodyPr wrap="square" lIns="0" tIns="0" rIns="0" bIns="0" rtlCol="0">
            <a:noAutofit/>
          </a:bodyPr>
          <a:lstStyle/>
          <a:p>
            <a:pPr algn="ctr"/>
            <a:r>
              <a:rPr lang="en-AU" sz="4200"/>
              <a:t>Gum nut valley trail is 4.32 </a:t>
            </a:r>
            <a:r>
              <a:rPr lang="en-AU" sz="4200" b="1"/>
              <a:t>km</a:t>
            </a:r>
            <a:r>
              <a:rPr lang="en-AU" sz="4200"/>
              <a:t>.</a:t>
            </a:r>
          </a:p>
          <a:p>
            <a:pPr algn="ctr"/>
            <a:endParaRPr lang="en-AU" sz="4200"/>
          </a:p>
          <a:p>
            <a:pPr algn="ctr"/>
            <a:r>
              <a:rPr lang="en-AU" sz="4200" b="1"/>
              <a:t>Convert</a:t>
            </a:r>
            <a:r>
              <a:rPr lang="en-AU" sz="4200"/>
              <a:t> this length to:</a:t>
            </a:r>
          </a:p>
          <a:p>
            <a:pPr algn="ctr"/>
            <a:endParaRPr lang="en-AU" sz="4200"/>
          </a:p>
          <a:p>
            <a:pPr marL="571500" indent="-571500" algn="ctr">
              <a:lnSpc>
                <a:spcPct val="150000"/>
              </a:lnSpc>
              <a:buFont typeface="Arial" panose="020B0604020202020204" pitchFamily="34" charset="0"/>
              <a:buChar char="•"/>
            </a:pPr>
            <a:r>
              <a:rPr lang="en-AU" sz="4200" b="1"/>
              <a:t>metres</a:t>
            </a:r>
          </a:p>
          <a:p>
            <a:pPr marL="571500" indent="-571500" algn="ctr">
              <a:lnSpc>
                <a:spcPct val="150000"/>
              </a:lnSpc>
              <a:buFont typeface="Arial" panose="020B0604020202020204" pitchFamily="34" charset="0"/>
              <a:buChar char="•"/>
            </a:pPr>
            <a:r>
              <a:rPr lang="en-AU" sz="4200" b="1"/>
              <a:t>centimetres</a:t>
            </a:r>
          </a:p>
          <a:p>
            <a:pPr marL="571500" indent="-571500" algn="ctr">
              <a:buFont typeface="Arial" panose="020B0604020202020204" pitchFamily="34" charset="0"/>
              <a:buChar char="•"/>
            </a:pPr>
            <a:endParaRPr lang="en-AU" sz="4200"/>
          </a:p>
          <a:p>
            <a:pPr marL="571500" indent="-571500" algn="ctr">
              <a:buFont typeface="Arial" panose="020B0604020202020204" pitchFamily="34" charset="0"/>
              <a:buChar char="•"/>
            </a:pPr>
            <a:endParaRPr lang="en-AU" sz="4200"/>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Table with various hotel prices for 7 nights, costs of activities, prices for 7 night restaurant packages and transport package.&#10;Items and prices include:&#10;1-Star hotel - $563&#10;3-Star hotel - $1,637&#10;5-Star hotel - $3,713&#10;Snorkelling Excursion - $283&#10;Quad Bikes - $179&#10;Speed Boat racing - $139&#10;Taboganing - $77&#10;Rock climbing - $205&#10;Local Island Visit - $362&#10;Boat Cruise - $402 &#10;Museum - $37&#10;Aquarium - $43&#10;Volcano Day Trip - $783&#10;Helicopter Flight - $1,353&#10;Scuba Diving - $555&#10;Swimming with the Dolphins - $349&#10;Whale Watching - $63&#10;Caving - $228&#10;Whitewater Rapids - $219&#10;Sand Dunes - $54&#10;5-Star Restaurant Package - $2,350&#10;3-Star Restaurant Package - $1,413&#10;1-Star Restaurant Package - $720&#10;Transport Package - $236">
            <a:extLst>
              <a:ext uri="{FF2B5EF4-FFF2-40B4-BE49-F238E27FC236}">
                <a16:creationId xmlns:a16="http://schemas.microsoft.com/office/drawing/2014/main" id="{7C179DA5-828E-B274-5B3D-6D86148E0B37}"/>
              </a:ext>
            </a:extLst>
          </p:cNvPr>
          <p:cNvPicPr>
            <a:picLocks noChangeAspect="1"/>
          </p:cNvPicPr>
          <p:nvPr/>
        </p:nvPicPr>
        <p:blipFill>
          <a:blip r:embed="rId4">
            <a:extLst>
              <a:ext uri="{28A0092B-C50C-407E-A947-70E740481C1C}">
                <a14:useLocalDpi xmlns:a14="http://schemas.microsoft.com/office/drawing/2010/main" val="0"/>
              </a:ext>
            </a:extLst>
          </a:blip>
          <a:srcRect r="1706"/>
          <a:stretch>
            <a:fillRect/>
          </a:stretch>
        </p:blipFill>
        <p:spPr>
          <a:xfrm>
            <a:off x="5690982" y="1654433"/>
            <a:ext cx="6390952" cy="3946984"/>
          </a:xfrm>
          <a:prstGeom prst="rect">
            <a:avLst/>
          </a:prstGeom>
        </p:spPr>
      </p:pic>
      <p:sp>
        <p:nvSpPr>
          <p:cNvPr id="5" name="TextBox 4">
            <a:extLst>
              <a:ext uri="{FF2B5EF4-FFF2-40B4-BE49-F238E27FC236}">
                <a16:creationId xmlns:a16="http://schemas.microsoft.com/office/drawing/2014/main" id="{1576903A-6C79-287A-BD89-058C93493148}"/>
              </a:ext>
            </a:extLst>
          </p:cNvPr>
          <p:cNvSpPr txBox="1"/>
          <p:nvPr/>
        </p:nvSpPr>
        <p:spPr>
          <a:xfrm>
            <a:off x="246023" y="1610423"/>
            <a:ext cx="9212624" cy="1031153"/>
          </a:xfrm>
          <a:prstGeom prst="rect">
            <a:avLst/>
          </a:prstGeom>
          <a:noFill/>
        </p:spPr>
        <p:txBody>
          <a:bodyPr wrap="square" lIns="0" tIns="0" rIns="0" bIns="0" rtlCol="0">
            <a:noAutofit/>
          </a:bodyPr>
          <a:lstStyle/>
          <a:p>
            <a:pPr>
              <a:lnSpc>
                <a:spcPct val="150000"/>
              </a:lnSpc>
            </a:pPr>
            <a:r>
              <a:rPr lang="en-AU" sz="3400"/>
              <a:t>She stayed at a </a:t>
            </a:r>
            <a:r>
              <a:rPr lang="en-AU" sz="3400" b="1"/>
              <a:t>3-star hotel </a:t>
            </a:r>
          </a:p>
          <a:p>
            <a:pPr>
              <a:lnSpc>
                <a:spcPct val="150000"/>
              </a:lnSpc>
            </a:pPr>
            <a:r>
              <a:rPr lang="en-AU" sz="3400"/>
              <a:t>and organised the </a:t>
            </a:r>
            <a:r>
              <a:rPr lang="en-AU" sz="3400" b="1" dirty="0"/>
              <a:t>3-star </a:t>
            </a:r>
            <a:endParaRPr lang="en-AU" sz="3400" b="1"/>
          </a:p>
          <a:p>
            <a:pPr>
              <a:lnSpc>
                <a:spcPct val="150000"/>
              </a:lnSpc>
            </a:pPr>
            <a:r>
              <a:rPr lang="en-AU" sz="3400" b="1"/>
              <a:t>restaurant package</a:t>
            </a:r>
            <a:r>
              <a:rPr lang="en-AU" sz="3400"/>
              <a:t>.</a:t>
            </a:r>
          </a:p>
          <a:p>
            <a:pPr>
              <a:lnSpc>
                <a:spcPct val="150000"/>
              </a:lnSpc>
            </a:pPr>
            <a:r>
              <a:rPr lang="en-AU" sz="3400"/>
              <a:t>She went to the </a:t>
            </a:r>
            <a:r>
              <a:rPr lang="en-AU" sz="3400" b="1"/>
              <a:t>aquarium</a:t>
            </a:r>
          </a:p>
          <a:p>
            <a:pPr>
              <a:lnSpc>
                <a:spcPct val="150000"/>
              </a:lnSpc>
            </a:pPr>
            <a:r>
              <a:rPr lang="en-AU" sz="3400"/>
              <a:t>and </a:t>
            </a:r>
            <a:r>
              <a:rPr lang="en-AU" sz="3400" b="1"/>
              <a:t>swam with dolphins</a:t>
            </a:r>
            <a:r>
              <a:rPr lang="en-AU" sz="3400"/>
              <a:t>. </a:t>
            </a:r>
          </a:p>
          <a:p>
            <a:pPr>
              <a:lnSpc>
                <a:spcPct val="150000"/>
              </a:lnSpc>
            </a:pPr>
            <a:r>
              <a:rPr lang="en-AU" sz="3400"/>
              <a:t>How much money did she have left?</a:t>
            </a:r>
          </a:p>
          <a:p>
            <a:pPr algn="l">
              <a:lnSpc>
                <a:spcPct val="150000"/>
              </a:lnSpc>
            </a:pPr>
            <a:endParaRPr lang="en-AU" sz="1800"/>
          </a:p>
        </p:txBody>
      </p:sp>
      <p:sp>
        <p:nvSpPr>
          <p:cNvPr id="8" name="TextBox 7">
            <a:extLst>
              <a:ext uri="{FF2B5EF4-FFF2-40B4-BE49-F238E27FC236}">
                <a16:creationId xmlns:a16="http://schemas.microsoft.com/office/drawing/2014/main" id="{70C216ED-F85C-9E79-5628-D887C9CD1E80}"/>
              </a:ext>
            </a:extLst>
          </p:cNvPr>
          <p:cNvSpPr txBox="1"/>
          <p:nvPr/>
        </p:nvSpPr>
        <p:spPr>
          <a:xfrm>
            <a:off x="246023" y="830209"/>
            <a:ext cx="10241001" cy="780214"/>
          </a:xfrm>
          <a:prstGeom prst="rect">
            <a:avLst/>
          </a:prstGeom>
          <a:noFill/>
        </p:spPr>
        <p:txBody>
          <a:bodyPr wrap="square">
            <a:spAutoFit/>
          </a:bodyPr>
          <a:lstStyle/>
          <a:p>
            <a:pPr algn="l">
              <a:lnSpc>
                <a:spcPct val="150000"/>
              </a:lnSpc>
            </a:pPr>
            <a:r>
              <a:rPr lang="en-AU" sz="3400"/>
              <a:t>Dani had </a:t>
            </a:r>
            <a:r>
              <a:rPr lang="en-AU" sz="3400" b="1"/>
              <a:t>$4000 to spend </a:t>
            </a:r>
            <a:r>
              <a:rPr lang="en-AU" sz="3400"/>
              <a:t>on a 1 week holiday. </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29F9959-B6D2-ADBA-961A-124E4C95B7BB}"/>
              </a:ext>
            </a:extLst>
          </p:cNvPr>
          <p:cNvSpPr txBox="1"/>
          <p:nvPr/>
        </p:nvSpPr>
        <p:spPr>
          <a:xfrm>
            <a:off x="964642" y="941226"/>
            <a:ext cx="10065834" cy="1880839"/>
          </a:xfrm>
          <a:prstGeom prst="rect">
            <a:avLst/>
          </a:prstGeom>
          <a:noFill/>
        </p:spPr>
        <p:txBody>
          <a:bodyPr wrap="square" lIns="0" tIns="0" rIns="0" bIns="0" rtlCol="0">
            <a:noAutofit/>
          </a:bodyPr>
          <a:lstStyle/>
          <a:p>
            <a:pPr algn="ctr">
              <a:lnSpc>
                <a:spcPct val="200000"/>
              </a:lnSpc>
            </a:pPr>
            <a:r>
              <a:rPr lang="en-AU" sz="4400" dirty="0"/>
              <a:t>What number is:</a:t>
            </a:r>
          </a:p>
          <a:p>
            <a:pPr marL="742950" indent="-742950" algn="ctr">
              <a:lnSpc>
                <a:spcPct val="200000"/>
              </a:lnSpc>
              <a:buFont typeface="Arial" panose="020B0604020202020204" pitchFamily="34" charset="0"/>
              <a:buChar char="•"/>
            </a:pPr>
            <a:r>
              <a:rPr lang="en-AU" sz="4400" dirty="0"/>
              <a:t> </a:t>
            </a:r>
            <a:r>
              <a:rPr lang="en-AU" sz="4400" b="1" dirty="0"/>
              <a:t>10 times</a:t>
            </a:r>
            <a:r>
              <a:rPr lang="en-AU" sz="4400" dirty="0"/>
              <a:t> 4.3 </a:t>
            </a:r>
          </a:p>
          <a:p>
            <a:pPr marL="742950" indent="-742950" algn="ctr">
              <a:lnSpc>
                <a:spcPct val="200000"/>
              </a:lnSpc>
              <a:buFont typeface="Arial" panose="020B0604020202020204" pitchFamily="34" charset="0"/>
              <a:buChar char="•"/>
            </a:pPr>
            <a:r>
              <a:rPr lang="en-AU" sz="4400" dirty="0"/>
              <a:t> </a:t>
            </a:r>
            <a:r>
              <a:rPr lang="en-AU" sz="4400" b="1" dirty="0"/>
              <a:t>100 times </a:t>
            </a:r>
            <a:r>
              <a:rPr lang="en-AU" sz="4400" dirty="0"/>
              <a:t>4.3</a:t>
            </a:r>
          </a:p>
          <a:p>
            <a:pPr algn="ctr">
              <a:lnSpc>
                <a:spcPct val="200000"/>
              </a:lnSpc>
            </a:pPr>
            <a:r>
              <a:rPr lang="en-AU" sz="4400" b="1" dirty="0"/>
              <a:t>Communicate</a:t>
            </a:r>
            <a:r>
              <a:rPr lang="en-AU" sz="4400" dirty="0"/>
              <a:t> your</a:t>
            </a:r>
            <a:r>
              <a:rPr lang="en-AU" sz="4400" b="1" dirty="0"/>
              <a:t> thinking</a:t>
            </a:r>
            <a:r>
              <a:rPr lang="en-AU" sz="4400" dirty="0"/>
              <a:t>.</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5515748-DCFB-DF13-F27E-EA47B49F9BC9}"/>
              </a:ext>
              <a:ext uri="{C183D7F6-B498-43B3-948B-1728B52AA6E4}">
                <adec:decorative xmlns:adec="http://schemas.microsoft.com/office/drawing/2017/decorative" val="1"/>
              </a:ext>
            </a:extLst>
          </p:cNvPr>
          <p:cNvSpPr txBox="1"/>
          <p:nvPr/>
        </p:nvSpPr>
        <p:spPr>
          <a:xfrm>
            <a:off x="743712" y="1670304"/>
            <a:ext cx="8973312" cy="2304288"/>
          </a:xfrm>
          <a:prstGeom prst="rect">
            <a:avLst/>
          </a:prstGeom>
          <a:noFill/>
        </p:spPr>
        <p:txBody>
          <a:bodyPr wrap="square" lIns="0" tIns="0" rIns="0" bIns="0" rtlCol="0">
            <a:noAutofit/>
          </a:bodyPr>
          <a:lstStyle/>
          <a:p>
            <a:pPr algn="l"/>
            <a:endParaRPr lang="en-AU" sz="1800"/>
          </a:p>
        </p:txBody>
      </p:sp>
      <p:sp>
        <p:nvSpPr>
          <p:cNvPr id="5" name="TextBox 4">
            <a:extLst>
              <a:ext uri="{FF2B5EF4-FFF2-40B4-BE49-F238E27FC236}">
                <a16:creationId xmlns:a16="http://schemas.microsoft.com/office/drawing/2014/main" id="{0CA4D414-4C56-F85E-4564-E1B6DAE50B67}"/>
              </a:ext>
            </a:extLst>
          </p:cNvPr>
          <p:cNvSpPr txBox="1"/>
          <p:nvPr/>
        </p:nvSpPr>
        <p:spPr>
          <a:xfrm>
            <a:off x="743712" y="1670304"/>
            <a:ext cx="10908357" cy="1758696"/>
          </a:xfrm>
          <a:prstGeom prst="rect">
            <a:avLst/>
          </a:prstGeom>
          <a:noFill/>
        </p:spPr>
        <p:txBody>
          <a:bodyPr wrap="square" lIns="0" tIns="0" rIns="0" bIns="0" rtlCol="0">
            <a:noAutofit/>
          </a:bodyPr>
          <a:lstStyle/>
          <a:p>
            <a:pPr algn="ctr"/>
            <a:r>
              <a:rPr lang="en-AU" sz="4400"/>
              <a:t>Jamie collected </a:t>
            </a:r>
            <a:r>
              <a:rPr lang="en-AU" sz="4400" b="1"/>
              <a:t>data</a:t>
            </a:r>
            <a:r>
              <a:rPr lang="en-AU" sz="4400"/>
              <a:t> on how many times he rolled the number 6 when playing a board game. </a:t>
            </a:r>
          </a:p>
          <a:p>
            <a:pPr algn="ctr"/>
            <a:endParaRPr lang="en-AU" sz="4400"/>
          </a:p>
          <a:p>
            <a:pPr algn="ctr"/>
            <a:r>
              <a:rPr lang="en-AU" sz="4400"/>
              <a:t>What types of </a:t>
            </a:r>
            <a:r>
              <a:rPr lang="en-AU" sz="4400" b="1"/>
              <a:t>data display </a:t>
            </a:r>
            <a:r>
              <a:rPr lang="en-AU" sz="4400"/>
              <a:t>would be </a:t>
            </a:r>
            <a:r>
              <a:rPr lang="en-AU" sz="4400" b="1"/>
              <a:t>appropriate</a:t>
            </a:r>
            <a:r>
              <a:rPr lang="en-AU" sz="4400"/>
              <a:t> to represent this data?</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multi-step word problem 2</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FD883C7-E687-83E1-F372-2DD54C79E820}"/>
              </a:ext>
            </a:extLst>
          </p:cNvPr>
          <p:cNvSpPr txBox="1"/>
          <p:nvPr/>
        </p:nvSpPr>
        <p:spPr>
          <a:xfrm>
            <a:off x="862202" y="1048347"/>
            <a:ext cx="10467595" cy="5275996"/>
          </a:xfrm>
          <a:prstGeom prst="rect">
            <a:avLst/>
          </a:prstGeom>
          <a:noFill/>
        </p:spPr>
        <p:txBody>
          <a:bodyPr wrap="square">
            <a:spAutoFit/>
          </a:bodyPr>
          <a:lstStyle/>
          <a:p>
            <a:pPr lvl="0" algn="ctr">
              <a:lnSpc>
                <a:spcPct val="150000"/>
              </a:lnSpc>
              <a:spcBef>
                <a:spcPts val="1200"/>
              </a:spcBef>
              <a:spcAft>
                <a:spcPts val="600"/>
              </a:spcAft>
              <a:tabLst>
                <a:tab pos="228600" algn="l"/>
              </a:tabLst>
            </a:pPr>
            <a:r>
              <a:rPr lang="en-AU" sz="4400">
                <a:effectLst/>
                <a:latin typeface="Arial" panose="020B0604020202020204" pitchFamily="34" charset="0"/>
                <a:ea typeface="Calibri" panose="020F0502020204030204" pitchFamily="34" charset="0"/>
              </a:rPr>
              <a:t>Two friends ran a total distance of 18 </a:t>
            </a:r>
            <a:r>
              <a:rPr lang="en-AU" sz="4400" b="1">
                <a:effectLst/>
                <a:latin typeface="Arial" panose="020B0604020202020204" pitchFamily="34" charset="0"/>
                <a:ea typeface="Calibri" panose="020F0502020204030204" pitchFamily="34" charset="0"/>
              </a:rPr>
              <a:t>kilometres </a:t>
            </a:r>
            <a:r>
              <a:rPr lang="en-AU" sz="4400">
                <a:effectLst/>
                <a:latin typeface="Arial" panose="020B0604020202020204" pitchFamily="34" charset="0"/>
                <a:ea typeface="Calibri" panose="020F0502020204030204" pitchFamily="34" charset="0"/>
              </a:rPr>
              <a:t>during the week. One friend ran </a:t>
            </a:r>
            <a:r>
              <a:rPr lang="en-AU" sz="4400" b="1">
                <a:effectLst/>
                <a:latin typeface="Arial" panose="020B0604020202020204" pitchFamily="34" charset="0"/>
                <a:ea typeface="Calibri" panose="020F0502020204030204" pitchFamily="34" charset="0"/>
              </a:rPr>
              <a:t>6 kilometres </a:t>
            </a:r>
            <a:r>
              <a:rPr lang="en-AU" sz="4400">
                <a:effectLst/>
                <a:latin typeface="Arial" panose="020B0604020202020204" pitchFamily="34" charset="0"/>
                <a:ea typeface="Calibri" panose="020F0502020204030204" pitchFamily="34" charset="0"/>
              </a:rPr>
              <a:t>more than the other. How far could each friend have run? </a:t>
            </a:r>
          </a:p>
          <a:p>
            <a:pPr algn="ctr">
              <a:lnSpc>
                <a:spcPct val="150000"/>
              </a:lnSpc>
              <a:spcBef>
                <a:spcPts val="1200"/>
              </a:spcBef>
              <a:spcAft>
                <a:spcPts val="600"/>
              </a:spcAft>
              <a:tabLst>
                <a:tab pos="228600" algn="l"/>
              </a:tabLst>
            </a:pPr>
            <a:r>
              <a:rPr lang="en-AU" sz="4400" b="1"/>
              <a:t>Communicate</a:t>
            </a:r>
            <a:r>
              <a:rPr lang="en-AU" sz="4400"/>
              <a:t> your</a:t>
            </a:r>
            <a:r>
              <a:rPr lang="en-AU" sz="4400" b="1"/>
              <a:t> reasoning</a:t>
            </a:r>
            <a:r>
              <a:rPr lang="en-AU" sz="4400"/>
              <a:t>.</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027601" y="905601"/>
            <a:ext cx="10363200" cy="893226"/>
          </a:xfrm>
        </p:spPr>
        <p:txBody>
          <a:bodyPr/>
          <a:lstStyle/>
          <a:p>
            <a:pPr algn="ctr"/>
            <a:r>
              <a:rPr lang="en-AU" sz="4400" dirty="0"/>
              <a:t>Olive sold a total of </a:t>
            </a:r>
            <a:r>
              <a:rPr lang="en-AU" sz="4400" b="1" dirty="0"/>
              <a:t>$2309 </a:t>
            </a:r>
            <a:r>
              <a:rPr lang="en-AU" sz="4400" dirty="0"/>
              <a:t>worth of produce at the farmers’ market over 5 days. Sam sold a total of </a:t>
            </a:r>
            <a:r>
              <a:rPr lang="en-AU" sz="4400" b="1" dirty="0"/>
              <a:t>$1880 </a:t>
            </a:r>
            <a:r>
              <a:rPr lang="en-AU" sz="4400" dirty="0"/>
              <a:t>over 4 days. Sam sold more </a:t>
            </a:r>
            <a:r>
              <a:rPr lang="en-AU" sz="4400" b="1" dirty="0"/>
              <a:t>per day </a:t>
            </a:r>
            <a:r>
              <a:rPr lang="en-AU" sz="4400" dirty="0"/>
              <a:t>than Olive.</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308963958"/>
              </p:ext>
            </p:extLst>
          </p:nvPr>
        </p:nvGraphicFramePr>
        <p:xfrm>
          <a:off x="2442981" y="563570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D5B8B76-56E3-F97F-A4FE-AF25F904C692}"/>
              </a:ext>
            </a:extLst>
          </p:cNvPr>
          <p:cNvSpPr txBox="1"/>
          <p:nvPr/>
        </p:nvSpPr>
        <p:spPr>
          <a:xfrm>
            <a:off x="661358" y="1422647"/>
            <a:ext cx="10369118" cy="2006353"/>
          </a:xfrm>
          <a:prstGeom prst="rect">
            <a:avLst/>
          </a:prstGeom>
          <a:noFill/>
        </p:spPr>
        <p:txBody>
          <a:bodyPr wrap="square" lIns="0" tIns="0" rIns="0" bIns="0" rtlCol="0">
            <a:noAutofit/>
          </a:bodyPr>
          <a:lstStyle/>
          <a:p>
            <a:pPr algn="ctr">
              <a:lnSpc>
                <a:spcPct val="150000"/>
              </a:lnSpc>
            </a:pPr>
            <a:r>
              <a:rPr lang="en-AU" sz="4400"/>
              <a:t>One side of a rectangular playground is 43.2 </a:t>
            </a:r>
            <a:r>
              <a:rPr lang="en-AU" sz="4400" b="1"/>
              <a:t>metres</a:t>
            </a:r>
            <a:r>
              <a:rPr lang="en-AU" sz="4400"/>
              <a:t> long, the other side is 21.3 </a:t>
            </a:r>
            <a:r>
              <a:rPr lang="en-AU" sz="4400" b="1"/>
              <a:t>metres</a:t>
            </a:r>
            <a:r>
              <a:rPr lang="en-AU" sz="4400"/>
              <a:t> long. </a:t>
            </a:r>
          </a:p>
          <a:p>
            <a:pPr algn="ctr">
              <a:lnSpc>
                <a:spcPct val="150000"/>
              </a:lnSpc>
            </a:pPr>
            <a:endParaRPr lang="en-AU" sz="2200"/>
          </a:p>
          <a:p>
            <a:pPr algn="ctr">
              <a:lnSpc>
                <a:spcPct val="150000"/>
              </a:lnSpc>
            </a:pPr>
            <a:r>
              <a:rPr lang="en-AU" sz="4400"/>
              <a:t>What is the </a:t>
            </a:r>
            <a:r>
              <a:rPr lang="en-AU" sz="4400" b="1"/>
              <a:t>perimeter</a:t>
            </a:r>
            <a:r>
              <a:rPr lang="en-AU" sz="4400"/>
              <a:t> of the playground?</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2B95D9A-3485-3240-6ADE-DC9764614EC4}"/>
              </a:ext>
            </a:extLst>
          </p:cNvPr>
          <p:cNvSpPr txBox="1"/>
          <p:nvPr/>
        </p:nvSpPr>
        <p:spPr>
          <a:xfrm>
            <a:off x="812800" y="981801"/>
            <a:ext cx="10367268" cy="1821366"/>
          </a:xfrm>
          <a:prstGeom prst="rect">
            <a:avLst/>
          </a:prstGeom>
          <a:noFill/>
        </p:spPr>
        <p:txBody>
          <a:bodyPr wrap="square" lIns="0" tIns="0" rIns="0" bIns="0" rtlCol="0">
            <a:noAutofit/>
          </a:bodyPr>
          <a:lstStyle/>
          <a:p>
            <a:pPr algn="ctr">
              <a:lnSpc>
                <a:spcPct val="150000"/>
              </a:lnSpc>
            </a:pPr>
            <a:r>
              <a:rPr lang="en-AU" sz="4400"/>
              <a:t>A club has </a:t>
            </a:r>
            <a:r>
              <a:rPr lang="en-AU" sz="4400" b="1"/>
              <a:t>1299 members</a:t>
            </a:r>
            <a:r>
              <a:rPr lang="en-AU" sz="4400"/>
              <a:t>. At the start of the year, </a:t>
            </a:r>
            <a:r>
              <a:rPr lang="en-AU" sz="4400" b="1"/>
              <a:t>156 people leave </a:t>
            </a:r>
            <a:r>
              <a:rPr lang="en-AU" sz="4400"/>
              <a:t>the club and </a:t>
            </a:r>
            <a:r>
              <a:rPr lang="en-AU" sz="4400" b="1"/>
              <a:t>189 new people join</a:t>
            </a:r>
            <a:r>
              <a:rPr lang="en-AU" sz="4400"/>
              <a:t>.</a:t>
            </a:r>
            <a:endParaRPr lang="en-AU" sz="2200"/>
          </a:p>
          <a:p>
            <a:pPr algn="ctr">
              <a:lnSpc>
                <a:spcPct val="150000"/>
              </a:lnSpc>
            </a:pPr>
            <a:r>
              <a:rPr lang="en-AU" sz="4400"/>
              <a:t>Use an </a:t>
            </a:r>
            <a:r>
              <a:rPr lang="en-AU" sz="4400" b="1"/>
              <a:t>efficient strategy </a:t>
            </a:r>
            <a:r>
              <a:rPr lang="en-AU" sz="4400"/>
              <a:t>to calculate how many members the club has </a:t>
            </a:r>
            <a:r>
              <a:rPr lang="en-AU" sz="4400" b="1"/>
              <a:t>now</a:t>
            </a:r>
            <a:r>
              <a:rPr lang="en-AU" sz="4400"/>
              <a:t>.</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5F46881-0AB0-7B7F-576A-502E4E2A15CC}"/>
              </a:ext>
            </a:extLst>
          </p:cNvPr>
          <p:cNvSpPr txBox="1"/>
          <p:nvPr/>
        </p:nvSpPr>
        <p:spPr>
          <a:xfrm>
            <a:off x="825190" y="759911"/>
            <a:ext cx="10205286" cy="1262743"/>
          </a:xfrm>
          <a:prstGeom prst="rect">
            <a:avLst/>
          </a:prstGeom>
          <a:noFill/>
        </p:spPr>
        <p:txBody>
          <a:bodyPr wrap="square" lIns="0" tIns="0" rIns="0" bIns="0" rtlCol="0" anchor="t">
            <a:noAutofit/>
          </a:bodyPr>
          <a:lstStyle/>
          <a:p>
            <a:pPr algn="ctr">
              <a:lnSpc>
                <a:spcPct val="150000"/>
              </a:lnSpc>
            </a:pPr>
            <a:r>
              <a:rPr lang="en-AU" sz="4400" b="1" dirty="0"/>
              <a:t>Approximate</a:t>
            </a:r>
            <a:r>
              <a:rPr lang="en-AU" sz="4400" dirty="0"/>
              <a:t> the size of these </a:t>
            </a:r>
            <a:r>
              <a:rPr lang="en-AU" sz="4400" b="1" dirty="0"/>
              <a:t>decimals</a:t>
            </a:r>
            <a:r>
              <a:rPr lang="en-AU" sz="4400" dirty="0"/>
              <a:t> to </a:t>
            </a:r>
            <a:r>
              <a:rPr lang="en-AU" sz="4400" b="1" dirty="0"/>
              <a:t>1</a:t>
            </a:r>
            <a:r>
              <a:rPr lang="en-AU" sz="4400" dirty="0"/>
              <a:t> </a:t>
            </a:r>
            <a:r>
              <a:rPr lang="en-AU" sz="4400" b="1" dirty="0"/>
              <a:t>decimal place</a:t>
            </a:r>
          </a:p>
          <a:p>
            <a:pPr marL="742950" indent="-742950" algn="ctr">
              <a:lnSpc>
                <a:spcPct val="150000"/>
              </a:lnSpc>
              <a:buFont typeface="Arial" panose="020B0604020202020204" pitchFamily="34" charset="0"/>
              <a:buChar char="•"/>
            </a:pPr>
            <a:r>
              <a:rPr lang="en-AU" sz="4000" dirty="0"/>
              <a:t>1.26</a:t>
            </a:r>
            <a:endParaRPr lang="en-AU" sz="4000" dirty="0">
              <a:cs typeface="Arial"/>
            </a:endParaRPr>
          </a:p>
          <a:p>
            <a:pPr marL="742950" indent="-742950" algn="ctr">
              <a:lnSpc>
                <a:spcPct val="150000"/>
              </a:lnSpc>
              <a:buFont typeface="Arial" panose="020B0604020202020204" pitchFamily="34" charset="0"/>
              <a:buChar char="•"/>
            </a:pPr>
            <a:r>
              <a:rPr lang="en-AU" sz="4000" dirty="0"/>
              <a:t>1.59</a:t>
            </a:r>
            <a:endParaRPr lang="en-AU" sz="4000" dirty="0">
              <a:cs typeface="Arial"/>
            </a:endParaRPr>
          </a:p>
          <a:p>
            <a:pPr marL="742950" indent="-742950" algn="ctr">
              <a:lnSpc>
                <a:spcPct val="150000"/>
              </a:lnSpc>
              <a:buFont typeface="Arial" panose="020B0604020202020204" pitchFamily="34" charset="0"/>
              <a:buChar char="•"/>
            </a:pPr>
            <a:r>
              <a:rPr lang="en-AU" sz="4000" dirty="0"/>
              <a:t>2.61</a:t>
            </a:r>
            <a:endParaRPr lang="en-AU" sz="4000" dirty="0">
              <a:cs typeface="Arial"/>
            </a:endParaRPr>
          </a:p>
          <a:p>
            <a:pPr marL="742950" indent="-742950" algn="ctr">
              <a:lnSpc>
                <a:spcPct val="150000"/>
              </a:lnSpc>
              <a:buFont typeface="Arial" panose="020B0604020202020204" pitchFamily="34" charset="0"/>
              <a:buChar char="•"/>
            </a:pPr>
            <a:r>
              <a:rPr lang="en-AU" sz="4000" dirty="0"/>
              <a:t>3.48</a:t>
            </a:r>
            <a:endParaRPr lang="en-AU" sz="4000" dirty="0">
              <a:cs typeface="Arial"/>
            </a:endParaRP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CF0B520-68C8-1058-85F3-443C75F35E7A}"/>
              </a:ext>
            </a:extLst>
          </p:cNvPr>
          <p:cNvSpPr txBox="1"/>
          <p:nvPr/>
        </p:nvSpPr>
        <p:spPr>
          <a:xfrm>
            <a:off x="809625" y="1558834"/>
            <a:ext cx="10367268" cy="2316480"/>
          </a:xfrm>
          <a:prstGeom prst="rect">
            <a:avLst/>
          </a:prstGeom>
          <a:noFill/>
        </p:spPr>
        <p:txBody>
          <a:bodyPr wrap="square" lIns="0" tIns="0" rIns="0" bIns="0" rtlCol="0">
            <a:noAutofit/>
          </a:bodyPr>
          <a:lstStyle/>
          <a:p>
            <a:pPr algn="ctr">
              <a:lnSpc>
                <a:spcPct val="150000"/>
              </a:lnSpc>
            </a:pPr>
            <a:r>
              <a:rPr lang="en-AU" sz="4400"/>
              <a:t>Are rolling a 5 and rolling a 1 </a:t>
            </a:r>
            <a:r>
              <a:rPr lang="en-AU" sz="4400" b="1"/>
              <a:t>equally likely</a:t>
            </a:r>
            <a:r>
              <a:rPr lang="en-AU" sz="4400"/>
              <a:t> on a </a:t>
            </a:r>
            <a:r>
              <a:rPr lang="en-AU" sz="4400" b="1"/>
              <a:t>standard six-sided </a:t>
            </a:r>
            <a:r>
              <a:rPr lang="en-AU" sz="4400"/>
              <a:t>die?</a:t>
            </a:r>
          </a:p>
          <a:p>
            <a:pPr algn="ctr">
              <a:lnSpc>
                <a:spcPct val="150000"/>
              </a:lnSpc>
            </a:pPr>
            <a:endParaRPr lang="en-AU" sz="4400"/>
          </a:p>
          <a:p>
            <a:pPr algn="ctr"/>
            <a:r>
              <a:rPr lang="en-AU" sz="4400" b="1"/>
              <a:t>Communicate</a:t>
            </a:r>
            <a:r>
              <a:rPr lang="en-AU" sz="4400"/>
              <a:t> your </a:t>
            </a:r>
            <a:r>
              <a:rPr lang="en-AU" sz="4400" b="1"/>
              <a:t>reasoning</a:t>
            </a:r>
            <a:r>
              <a:rPr lang="en-AU" sz="4400"/>
              <a:t>.</a:t>
            </a:r>
          </a:p>
          <a:p>
            <a:pPr algn="l"/>
            <a:endParaRPr lang="en-AU" sz="1800"/>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pic>
        <p:nvPicPr>
          <p:cNvPr id="7" name="Picture 6" descr="A map of the state of australia">
            <a:extLst>
              <a:ext uri="{FF2B5EF4-FFF2-40B4-BE49-F238E27FC236}">
                <a16:creationId xmlns:a16="http://schemas.microsoft.com/office/drawing/2014/main" id="{40918FC0-596C-24A1-B9AD-FE787EFB77C8}"/>
              </a:ext>
            </a:extLst>
          </p:cNvPr>
          <p:cNvPicPr>
            <a:picLocks noChangeAspect="1"/>
          </p:cNvPicPr>
          <p:nvPr/>
        </p:nvPicPr>
        <p:blipFill>
          <a:blip r:embed="rId3">
            <a:extLst>
              <a:ext uri="{28A0092B-C50C-407E-A947-70E740481C1C}">
                <a14:useLocalDpi xmlns:a14="http://schemas.microsoft.com/office/drawing/2010/main" val="0"/>
              </a:ext>
            </a:extLst>
          </a:blip>
          <a:srcRect l="8260" r="18736"/>
          <a:stretch>
            <a:fillRect/>
          </a:stretch>
        </p:blipFill>
        <p:spPr>
          <a:xfrm>
            <a:off x="360000" y="986244"/>
            <a:ext cx="5824490" cy="5640698"/>
          </a:xfrm>
          <a:prstGeom prst="rect">
            <a:avLst/>
          </a:prstGeom>
          <a:ln>
            <a:noFill/>
          </a:ln>
          <a:effectLst>
            <a:outerShdw blurRad="292100" dist="139700" dir="2700000" algn="tl" rotWithShape="0">
              <a:srgbClr val="333333">
                <a:alpha val="65000"/>
              </a:srgbClr>
            </a:outerShdw>
          </a:effectLst>
        </p:spPr>
      </p:pic>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multi-step word problem 3</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4"/>
          <a:stretch>
            <a:fillRect/>
          </a:stretch>
        </p:blipFill>
        <p:spPr>
          <a:xfrm>
            <a:off x="11107003" y="240894"/>
            <a:ext cx="720000" cy="856364"/>
          </a:xfrm>
          <a:prstGeom prst="rect">
            <a:avLst/>
          </a:prstGeom>
        </p:spPr>
      </p:pic>
      <p:sp>
        <p:nvSpPr>
          <p:cNvPr id="5" name="Text Placeholder 14" descr="Starting at Melbourne, the blue route travels north to Shepparton, this segment is labelled 190.  Shepparton to Cobram is labelled 66. Cobram to Griffith is labelled 208. From Griffith to West Wyalong is labelled 147. West Wyong to Parkes labelled 138. From Parkes to Dubbo is labelled  120. Dubbo to Gilgandra is labelled 65. Gilgandra to Coonamble is labelled 96. Coonamble to Walgett is labelled 115. Walgett to Moree is labelled 214. Moree to Boggabilla is labelled 115 printed. Boggabilla to Toowoomba is labelled  233. From Toowoomba to Ipswich is labelled 89. Ipswich to Brisbane is labelled 39. ">
            <a:extLst>
              <a:ext uri="{FF2B5EF4-FFF2-40B4-BE49-F238E27FC236}">
                <a16:creationId xmlns:a16="http://schemas.microsoft.com/office/drawing/2014/main" id="{8C5CDD51-2F5C-7483-ED27-700EC0C5D60C}"/>
              </a:ext>
            </a:extLst>
          </p:cNvPr>
          <p:cNvSpPr txBox="1">
            <a:spLocks/>
          </p:cNvSpPr>
          <p:nvPr/>
        </p:nvSpPr>
        <p:spPr>
          <a:xfrm>
            <a:off x="6111587" y="905601"/>
            <a:ext cx="5920755"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dirty="0"/>
              <a:t>You need to travel from </a:t>
            </a:r>
            <a:r>
              <a:rPr lang="en-US" sz="3600" b="1" dirty="0"/>
              <a:t>Melbourne to Brisbane </a:t>
            </a:r>
            <a:r>
              <a:rPr lang="en-US" sz="3600" dirty="0"/>
              <a:t>through the </a:t>
            </a:r>
            <a:r>
              <a:rPr lang="en-US" sz="3600" dirty="0" err="1"/>
              <a:t>centre</a:t>
            </a:r>
            <a:r>
              <a:rPr lang="en-US" sz="3600" dirty="0"/>
              <a:t> of New South Wales. Plan where you will </a:t>
            </a:r>
            <a:r>
              <a:rPr lang="en-US" sz="3600" b="1" dirty="0"/>
              <a:t>stop for petrol</a:t>
            </a:r>
            <a:r>
              <a:rPr lang="en-US" sz="3600" dirty="0"/>
              <a:t>. You can travel up to </a:t>
            </a:r>
            <a:r>
              <a:rPr lang="en-US" sz="3600" b="1" dirty="0"/>
              <a:t>350 km</a:t>
            </a:r>
            <a:r>
              <a:rPr lang="en-US" sz="3600" dirty="0"/>
              <a:t> per tank of petrol.</a:t>
            </a: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mc:AlternateContent xmlns:mc="http://schemas.openxmlformats.org/markup-compatibility/2006" xmlns:a14="http://schemas.microsoft.com/office/drawing/2010/main">
        <mc:Choice Requires="a14">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360000" y="1102976"/>
                <a:ext cx="11324000" cy="754243"/>
              </a:xfrm>
            </p:spPr>
            <p:txBody>
              <a:bodyPr/>
              <a:lstStyle/>
              <a:p>
                <a:pPr algn="ctr">
                  <a:lnSpc>
                    <a:spcPct val="100000"/>
                  </a:lnSpc>
                </a:pPr>
                <a:r>
                  <a:rPr lang="en-AU" sz="4000"/>
                  <a:t>Lucy has </a:t>
                </a:r>
                <a14:m>
                  <m:oMath xmlns:m="http://schemas.openxmlformats.org/officeDocument/2006/math">
                    <m:f>
                      <m:fPr>
                        <m:ctrlPr>
                          <a:rPr lang="en-AU" sz="4000" b="1" i="1" dirty="0" smtClean="0">
                            <a:latin typeface="Cambria Math" panose="02040503050406030204" pitchFamily="18" charset="0"/>
                          </a:rPr>
                        </m:ctrlPr>
                      </m:fPr>
                      <m:num>
                        <m:r>
                          <a:rPr lang="en-AU" sz="4000" b="1" i="1" dirty="0" smtClean="0">
                            <a:latin typeface="Cambria Math" panose="02040503050406030204" pitchFamily="18" charset="0"/>
                          </a:rPr>
                          <m:t>𝟏</m:t>
                        </m:r>
                      </m:num>
                      <m:den>
                        <m:r>
                          <a:rPr lang="en-AU" sz="4000" b="1" i="1" dirty="0" smtClean="0">
                            <a:latin typeface="Cambria Math" panose="02040503050406030204" pitchFamily="18" charset="0"/>
                          </a:rPr>
                          <m:t>𝟒</m:t>
                        </m:r>
                      </m:den>
                    </m:f>
                  </m:oMath>
                </a14:m>
                <a:r>
                  <a:rPr lang="en-AU" sz="4000" b="1"/>
                  <a:t> </a:t>
                </a:r>
                <a:r>
                  <a:rPr lang="en-AU" sz="4000"/>
                  <a:t>of a </a:t>
                </a:r>
                <a:r>
                  <a:rPr lang="en-AU" sz="4000" b="1"/>
                  <a:t>big watermelon</a:t>
                </a:r>
                <a:r>
                  <a:rPr lang="en-AU" sz="4000"/>
                  <a:t>, and Jack has </a:t>
                </a:r>
                <a14:m>
                  <m:oMath xmlns:m="http://schemas.openxmlformats.org/officeDocument/2006/math">
                    <m:f>
                      <m:fPr>
                        <m:ctrlPr>
                          <a:rPr lang="en-AU" sz="4000" b="1" i="1" dirty="0" smtClean="0">
                            <a:latin typeface="Cambria Math" panose="02040503050406030204" pitchFamily="18" charset="0"/>
                          </a:rPr>
                        </m:ctrlPr>
                      </m:fPr>
                      <m:num>
                        <m:r>
                          <a:rPr lang="en-AU" sz="4000" b="1" i="1" dirty="0" smtClean="0">
                            <a:latin typeface="Cambria Math" panose="02040503050406030204" pitchFamily="18" charset="0"/>
                          </a:rPr>
                          <m:t>𝟏</m:t>
                        </m:r>
                      </m:num>
                      <m:den>
                        <m:r>
                          <a:rPr lang="en-AU" sz="4000" b="1" i="1" dirty="0" smtClean="0">
                            <a:latin typeface="Cambria Math" panose="02040503050406030204" pitchFamily="18" charset="0"/>
                          </a:rPr>
                          <m:t>𝟐</m:t>
                        </m:r>
                      </m:den>
                    </m:f>
                  </m:oMath>
                </a14:m>
                <a:r>
                  <a:rPr lang="en-AU" sz="4000"/>
                  <a:t>  of a </a:t>
                </a:r>
                <a:r>
                  <a:rPr lang="en-AU" sz="4000" b="1"/>
                  <a:t>small watermelon</a:t>
                </a:r>
                <a:r>
                  <a:rPr lang="en-AU" sz="4000"/>
                  <a:t>. Who has </a:t>
                </a:r>
                <a:r>
                  <a:rPr lang="en-AU" sz="4000" b="1"/>
                  <a:t>more watermelon</a:t>
                </a:r>
                <a:r>
                  <a:rPr lang="en-AU" sz="4000"/>
                  <a:t>?</a:t>
                </a:r>
                <a:endParaRPr lang="en-US" sz="4000"/>
              </a:p>
            </p:txBody>
          </p:sp>
        </mc:Choice>
        <mc:Fallback xmlns="">
          <p:sp>
            <p:nvSpPr>
              <p:cNvPr id="15" name="Text Placeholder 14">
                <a:extLst>
                  <a:ext uri="{FF2B5EF4-FFF2-40B4-BE49-F238E27FC236}">
                    <a16:creationId xmlns:a16="http://schemas.microsoft.com/office/drawing/2014/main" id="{0443E027-E11B-A12B-53A8-A4F27E680A18}"/>
                  </a:ext>
                </a:extLst>
              </p:cNvPr>
              <p:cNvSpPr>
                <a:spLocks noGrp="1" noRot="1" noChangeAspect="1" noMove="1" noResize="1" noEditPoints="1" noAdjustHandles="1" noChangeArrowheads="1" noChangeShapeType="1" noTextEdit="1"/>
              </p:cNvSpPr>
              <p:nvPr>
                <p:ph type="body" sz="quarter" idx="28"/>
              </p:nvPr>
            </p:nvSpPr>
            <p:spPr>
              <a:xfrm>
                <a:off x="360000" y="1102976"/>
                <a:ext cx="11324000" cy="754243"/>
              </a:xfrm>
              <a:blipFill>
                <a:blip r:embed="rId3"/>
                <a:stretch>
                  <a:fillRect l="-753" t="-4032" b="-21774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DAA2006-ADB4-D15B-B158-97DC39D26683}"/>
              </a:ext>
            </a:extLst>
          </p:cNvPr>
          <p:cNvSpPr txBox="1"/>
          <p:nvPr/>
        </p:nvSpPr>
        <p:spPr>
          <a:xfrm>
            <a:off x="670560" y="29306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1345520" y="2877704"/>
            <a:ext cx="10175920" cy="641396"/>
          </a:xfrm>
        </p:spPr>
        <p:txBody>
          <a:bodyPr anchor="ctr"/>
          <a:lstStyle/>
          <a:p>
            <a:r>
              <a:rPr lang="en-US" sz="3600"/>
              <a:t>Lucy</a:t>
            </a:r>
          </a:p>
        </p:txBody>
      </p:sp>
      <p:sp>
        <p:nvSpPr>
          <p:cNvPr id="10" name="TextBox 9">
            <a:extLst>
              <a:ext uri="{FF2B5EF4-FFF2-40B4-BE49-F238E27FC236}">
                <a16:creationId xmlns:a16="http://schemas.microsoft.com/office/drawing/2014/main" id="{BF8FF86A-8259-4B6A-DD05-B5338957EDC3}"/>
              </a:ext>
            </a:extLst>
          </p:cNvPr>
          <p:cNvSpPr txBox="1"/>
          <p:nvPr/>
        </p:nvSpPr>
        <p:spPr>
          <a:xfrm>
            <a:off x="670559" y="37785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1345520" y="3725617"/>
            <a:ext cx="10175920" cy="641396"/>
          </a:xfrm>
        </p:spPr>
        <p:txBody>
          <a:bodyPr anchor="ctr"/>
          <a:lstStyle/>
          <a:p>
            <a:r>
              <a:rPr lang="en-US" sz="3600"/>
              <a:t>Jack</a:t>
            </a:r>
          </a:p>
        </p:txBody>
      </p:sp>
      <p:sp>
        <p:nvSpPr>
          <p:cNvPr id="12" name="TextBox 11">
            <a:extLst>
              <a:ext uri="{FF2B5EF4-FFF2-40B4-BE49-F238E27FC236}">
                <a16:creationId xmlns:a16="http://schemas.microsoft.com/office/drawing/2014/main" id="{BF4B35E9-90ED-91CF-6E7D-3023EE60AD9E}"/>
              </a:ext>
            </a:extLst>
          </p:cNvPr>
          <p:cNvSpPr txBox="1"/>
          <p:nvPr/>
        </p:nvSpPr>
        <p:spPr>
          <a:xfrm>
            <a:off x="670558" y="46286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345520" y="4575670"/>
            <a:ext cx="10175920" cy="641396"/>
          </a:xfrm>
        </p:spPr>
        <p:txBody>
          <a:bodyPr anchor="ctr"/>
          <a:lstStyle/>
          <a:p>
            <a:r>
              <a:rPr lang="en-AU" sz="3600"/>
              <a:t>They have exactly the same</a:t>
            </a:r>
            <a:endParaRPr lang="en-US" sz="3600"/>
          </a:p>
        </p:txBody>
      </p:sp>
      <p:sp>
        <p:nvSpPr>
          <p:cNvPr id="11" name="TextBox 10">
            <a:extLst>
              <a:ext uri="{FF2B5EF4-FFF2-40B4-BE49-F238E27FC236}">
                <a16:creationId xmlns:a16="http://schemas.microsoft.com/office/drawing/2014/main" id="{CD2988DB-B474-6203-5DD2-06443FE29ECF}"/>
              </a:ext>
            </a:extLst>
          </p:cNvPr>
          <p:cNvSpPr txBox="1"/>
          <p:nvPr/>
        </p:nvSpPr>
        <p:spPr>
          <a:xfrm>
            <a:off x="670557" y="54786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1345520" y="5425723"/>
            <a:ext cx="10175920" cy="641396"/>
          </a:xfrm>
        </p:spPr>
        <p:txBody>
          <a:bodyPr anchor="ctr"/>
          <a:lstStyle/>
          <a:p>
            <a:r>
              <a:rPr lang="en-AU" sz="3600"/>
              <a:t>It depends on the size of the watermelons.</a:t>
            </a:r>
            <a:endParaRPr lang="en-US" sz="3600"/>
          </a:p>
        </p:txBody>
      </p:sp>
      <p:pic>
        <p:nvPicPr>
          <p:cNvPr id="4" name="Picture 3">
            <a:extLst>
              <a:ext uri="{FF2B5EF4-FFF2-40B4-BE49-F238E27FC236}">
                <a16:creationId xmlns:a16="http://schemas.microsoft.com/office/drawing/2014/main" id="{A4D93B1C-8640-0057-E118-4A82C116762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24000" y="0"/>
            <a:ext cx="988771" cy="967508"/>
          </a:xfrm>
          <a:prstGeom prst="rect">
            <a:avLst/>
          </a:prstGeom>
        </p:spPr>
      </p:pic>
      <p:sp>
        <p:nvSpPr>
          <p:cNvPr id="2" name="Slide Number Placeholder 1">
            <a:extLst>
              <a:ext uri="{FF2B5EF4-FFF2-40B4-BE49-F238E27FC236}">
                <a16:creationId xmlns:a16="http://schemas.microsoft.com/office/drawing/2014/main" id="{A6C2BFFC-84AB-C30B-C108-1205554FD32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A8DE68A-4C56-232B-E2C0-D531EC1BAFFF}"/>
              </a:ext>
            </a:extLst>
          </p:cNvPr>
          <p:cNvSpPr txBox="1"/>
          <p:nvPr/>
        </p:nvSpPr>
        <p:spPr>
          <a:xfrm>
            <a:off x="360000" y="1360503"/>
            <a:ext cx="11243637" cy="2068497"/>
          </a:xfrm>
          <a:prstGeom prst="rect">
            <a:avLst/>
          </a:prstGeom>
          <a:noFill/>
        </p:spPr>
        <p:txBody>
          <a:bodyPr wrap="square" lIns="0" tIns="0" rIns="0" bIns="0" rtlCol="0">
            <a:noAutofit/>
          </a:bodyPr>
          <a:lstStyle/>
          <a:p>
            <a:pPr algn="ctr"/>
            <a:r>
              <a:rPr lang="en-AU" sz="4400" dirty="0"/>
              <a:t>Determine the </a:t>
            </a:r>
            <a:r>
              <a:rPr lang="en-AU" sz="4400" b="1" dirty="0"/>
              <a:t>perimeter</a:t>
            </a:r>
            <a:r>
              <a:rPr lang="en-AU" sz="4400" dirty="0"/>
              <a:t> of the table top in </a:t>
            </a:r>
            <a:r>
              <a:rPr lang="en-AU" sz="4400" b="1" dirty="0"/>
              <a:t>centimetres</a:t>
            </a:r>
            <a:r>
              <a:rPr lang="en-AU" sz="4400" dirty="0"/>
              <a:t> and then in </a:t>
            </a:r>
            <a:r>
              <a:rPr lang="en-AU" sz="4400" b="1" dirty="0"/>
              <a:t>metres.</a:t>
            </a:r>
          </a:p>
          <a:p>
            <a:pPr algn="ctr"/>
            <a:endParaRPr lang="en-AU" sz="4400" dirty="0">
              <a:highlight>
                <a:srgbClr val="FFFF00"/>
              </a:highlight>
            </a:endParaRPr>
          </a:p>
          <a:p>
            <a:pPr algn="ctr"/>
            <a:endParaRPr lang="en-AU" sz="4400" dirty="0">
              <a:highlight>
                <a:srgbClr val="FFFF00"/>
              </a:highlight>
            </a:endParaRPr>
          </a:p>
          <a:p>
            <a:pPr algn="ctr"/>
            <a:endParaRPr lang="en-AU" sz="4400" dirty="0"/>
          </a:p>
          <a:p>
            <a:pPr algn="ctr"/>
            <a:endParaRPr lang="en-AU" sz="4400" dirty="0"/>
          </a:p>
          <a:p>
            <a:pPr algn="ctr"/>
            <a:endParaRPr lang="en-AU" sz="4400" dirty="0"/>
          </a:p>
          <a:p>
            <a:pPr algn="ctr"/>
            <a:r>
              <a:rPr lang="en-AU" sz="4400" b="1" dirty="0"/>
              <a:t>Communicate </a:t>
            </a:r>
            <a:r>
              <a:rPr lang="en-AU" sz="4400" dirty="0"/>
              <a:t>your </a:t>
            </a:r>
            <a:r>
              <a:rPr lang="en-AU" sz="4400" b="1" dirty="0"/>
              <a:t>thinking</a:t>
            </a:r>
            <a:r>
              <a:rPr lang="en-AU" sz="4400" dirty="0"/>
              <a:t>.</a:t>
            </a:r>
          </a:p>
        </p:txBody>
      </p:sp>
      <p:pic>
        <p:nvPicPr>
          <p:cNvPr id="5" name="Picture 4" descr="Table with dimensions 106cm on the long side and 68cm on the short side.">
            <a:extLst>
              <a:ext uri="{FF2B5EF4-FFF2-40B4-BE49-F238E27FC236}">
                <a16:creationId xmlns:a16="http://schemas.microsoft.com/office/drawing/2014/main" id="{E1217C3E-6AB7-C7FB-2B1B-9512D2AEFD91}"/>
              </a:ext>
            </a:extLst>
          </p:cNvPr>
          <p:cNvPicPr>
            <a:picLocks noChangeAspect="1"/>
          </p:cNvPicPr>
          <p:nvPr/>
        </p:nvPicPr>
        <p:blipFill>
          <a:blip r:embed="rId4"/>
          <a:srcRect l="14139" t="15118" r="5417"/>
          <a:stretch>
            <a:fillRect/>
          </a:stretch>
        </p:blipFill>
        <p:spPr>
          <a:xfrm>
            <a:off x="4250917" y="2751667"/>
            <a:ext cx="3800883" cy="3261874"/>
          </a:xfrm>
          <a:prstGeom prst="rect">
            <a:avLst/>
          </a:prstGeom>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97B18C4-BFB8-B960-1504-FB381A73F868}"/>
              </a:ext>
            </a:extLst>
          </p:cNvPr>
          <p:cNvSpPr txBox="1"/>
          <p:nvPr/>
        </p:nvSpPr>
        <p:spPr>
          <a:xfrm>
            <a:off x="2255156" y="1184223"/>
            <a:ext cx="8011887" cy="4088781"/>
          </a:xfrm>
          <a:prstGeom prst="rect">
            <a:avLst/>
          </a:prstGeom>
          <a:noFill/>
        </p:spPr>
        <p:txBody>
          <a:bodyPr wrap="square" lIns="0" tIns="0" rIns="0" bIns="0" rtlCol="0">
            <a:noAutofit/>
          </a:bodyPr>
          <a:lstStyle/>
          <a:p>
            <a:pPr algn="ctr">
              <a:lnSpc>
                <a:spcPct val="200000"/>
              </a:lnSpc>
            </a:pPr>
            <a:r>
              <a:rPr lang="en-AU" sz="4400"/>
              <a:t>Record the </a:t>
            </a:r>
            <a:r>
              <a:rPr lang="en-AU" sz="4400" b="1"/>
              <a:t>place value </a:t>
            </a:r>
            <a:r>
              <a:rPr lang="en-AU" sz="4400"/>
              <a:t>of each </a:t>
            </a:r>
            <a:r>
              <a:rPr lang="en-AU" sz="4400" b="1"/>
              <a:t>digit</a:t>
            </a:r>
            <a:r>
              <a:rPr lang="en-AU" sz="4400"/>
              <a:t> in the following number:</a:t>
            </a:r>
          </a:p>
          <a:p>
            <a:pPr algn="ctr">
              <a:lnSpc>
                <a:spcPct val="200000"/>
              </a:lnSpc>
            </a:pPr>
            <a:r>
              <a:rPr lang="en-AU" sz="6000"/>
              <a:t>8.216</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780EAA3-2517-4BC8-51D7-48D0BC24DF1E}"/>
              </a:ext>
            </a:extLst>
          </p:cNvPr>
          <p:cNvSpPr txBox="1"/>
          <p:nvPr/>
        </p:nvSpPr>
        <p:spPr>
          <a:xfrm>
            <a:off x="728546" y="1122555"/>
            <a:ext cx="10556488" cy="2118732"/>
          </a:xfrm>
          <a:prstGeom prst="rect">
            <a:avLst/>
          </a:prstGeom>
          <a:noFill/>
        </p:spPr>
        <p:txBody>
          <a:bodyPr wrap="square" lIns="0" tIns="0" rIns="0" bIns="0" rtlCol="0">
            <a:noAutofit/>
          </a:bodyPr>
          <a:lstStyle/>
          <a:p>
            <a:pPr algn="ctr">
              <a:lnSpc>
                <a:spcPct val="150000"/>
              </a:lnSpc>
            </a:pPr>
            <a:r>
              <a:rPr lang="en-AU" sz="4400" dirty="0"/>
              <a:t>Complete the following:</a:t>
            </a:r>
          </a:p>
          <a:p>
            <a:pPr marL="742950" indent="-742950" algn="ctr">
              <a:lnSpc>
                <a:spcPct val="150000"/>
              </a:lnSpc>
              <a:buFont typeface="Arial" panose="020B0604020202020204" pitchFamily="34" charset="0"/>
              <a:buChar char="•"/>
            </a:pPr>
            <a:r>
              <a:rPr lang="en-AU" sz="4400" dirty="0"/>
              <a:t>___ is 10 times 3.45</a:t>
            </a:r>
          </a:p>
          <a:p>
            <a:pPr marL="742950" indent="-742950" algn="ctr">
              <a:lnSpc>
                <a:spcPct val="150000"/>
              </a:lnSpc>
              <a:buFont typeface="Arial" panose="020B0604020202020204" pitchFamily="34" charset="0"/>
              <a:buChar char="•"/>
            </a:pPr>
            <a:r>
              <a:rPr lang="en-AU" sz="4400" dirty="0"/>
              <a:t>___ is 100 times 3.45</a:t>
            </a:r>
          </a:p>
          <a:p>
            <a:pPr marL="742950" indent="-742950" algn="ctr">
              <a:lnSpc>
                <a:spcPct val="150000"/>
              </a:lnSpc>
              <a:buFont typeface="Arial" panose="020B0604020202020204" pitchFamily="34" charset="0"/>
              <a:buChar char="•"/>
            </a:pPr>
            <a:r>
              <a:rPr lang="en-AU" sz="4400" dirty="0"/>
              <a:t>___ is 1000 times 3.45</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F5AFE7F-8A55-C9D0-9FD6-3A01F50C518C}"/>
              </a:ext>
            </a:extLst>
          </p:cNvPr>
          <p:cNvSpPr txBox="1"/>
          <p:nvPr/>
        </p:nvSpPr>
        <p:spPr>
          <a:xfrm>
            <a:off x="2021205" y="1827751"/>
            <a:ext cx="8469630" cy="2368296"/>
          </a:xfrm>
          <a:prstGeom prst="rect">
            <a:avLst/>
          </a:prstGeom>
          <a:noFill/>
        </p:spPr>
        <p:txBody>
          <a:bodyPr wrap="square" lIns="0" tIns="0" rIns="0" bIns="0" rtlCol="0">
            <a:noAutofit/>
          </a:bodyPr>
          <a:lstStyle/>
          <a:p>
            <a:pPr algn="ctr">
              <a:lnSpc>
                <a:spcPct val="200000"/>
              </a:lnSpc>
            </a:pPr>
            <a:r>
              <a:rPr lang="en-AU" sz="4400"/>
              <a:t>Record 2 situations where </a:t>
            </a:r>
            <a:r>
              <a:rPr lang="en-AU" sz="4400" b="1"/>
              <a:t>mass</a:t>
            </a:r>
            <a:r>
              <a:rPr lang="en-AU" sz="4400"/>
              <a:t> would be measured in </a:t>
            </a:r>
            <a:r>
              <a:rPr lang="en-AU" sz="4400" b="1"/>
              <a:t>tonnes (t).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different sized wholes 1</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3AFBE5-7E17-E70A-C4BD-76B9B14C1F2A}"/>
                  </a:ext>
                </a:extLst>
              </p:cNvPr>
              <p:cNvSpPr txBox="1"/>
              <p:nvPr/>
            </p:nvSpPr>
            <p:spPr>
              <a:xfrm>
                <a:off x="590634" y="1211453"/>
                <a:ext cx="10876369" cy="4940135"/>
              </a:xfrm>
              <a:prstGeom prst="rect">
                <a:avLst/>
              </a:prstGeom>
              <a:noFill/>
            </p:spPr>
            <p:txBody>
              <a:bodyPr wrap="square">
                <a:spAutoFit/>
              </a:bodyPr>
              <a:lstStyle/>
              <a:p>
                <a:pPr algn="ctr">
                  <a:lnSpc>
                    <a:spcPct val="150000"/>
                  </a:lnSpc>
                </a:pPr>
                <a:r>
                  <a:rPr lang="en-AU" sz="4400">
                    <a:effectLst/>
                    <a:latin typeface="Arial" panose="020B0604020202020204" pitchFamily="34" charset="0"/>
                    <a:ea typeface="Calibri" panose="020F0502020204030204" pitchFamily="34" charset="0"/>
                  </a:rPr>
                  <a:t>Jake ate </a:t>
                </a:r>
                <a14:m>
                  <m:oMath xmlns:m="http://schemas.openxmlformats.org/officeDocument/2006/math">
                    <m:f>
                      <m:fPr>
                        <m:ctrlPr>
                          <a:rPr lang="en-AU" sz="4400" i="1">
                            <a:effectLst/>
                            <a:latin typeface="Cambria Math" panose="02040503050406030204" pitchFamily="18" charset="0"/>
                          </a:rPr>
                        </m:ctrlPr>
                      </m:fPr>
                      <m:num>
                        <m:r>
                          <a:rPr lang="en-AU" sz="4400" b="0" i="1">
                            <a:effectLst/>
                            <a:latin typeface="Cambria Math" panose="02040503050406030204" pitchFamily="18" charset="0"/>
                            <a:ea typeface="Calibri" panose="020F0502020204030204" pitchFamily="34" charset="0"/>
                            <a:cs typeface="Arial" panose="020B0604020202020204" pitchFamily="34" charset="0"/>
                          </a:rPr>
                          <m:t>1</m:t>
                        </m:r>
                      </m:num>
                      <m:den>
                        <m:r>
                          <a:rPr lang="en-AU" sz="4400" b="0" i="1">
                            <a:effectLst/>
                            <a:latin typeface="Cambria Math" panose="02040503050406030204" pitchFamily="18" charset="0"/>
                            <a:ea typeface="Calibri" panose="020F0502020204030204" pitchFamily="34" charset="0"/>
                            <a:cs typeface="Arial" panose="020B0604020202020204" pitchFamily="34" charset="0"/>
                          </a:rPr>
                          <m:t>4</m:t>
                        </m:r>
                      </m:den>
                    </m:f>
                  </m:oMath>
                </a14:m>
                <a:r>
                  <a:rPr lang="en-AU" sz="4400">
                    <a:effectLst/>
                    <a:latin typeface="Arial" panose="020B0604020202020204" pitchFamily="34" charset="0"/>
                    <a:ea typeface="Calibri" panose="020F0502020204030204" pitchFamily="34" charset="0"/>
                  </a:rPr>
                  <a:t> of a cake and Kate ate</a:t>
                </a:r>
                <a:r>
                  <a:rPr lang="en-AU" sz="4400" b="1">
                    <a:effectLst/>
                    <a:latin typeface="Arial" panose="020B0604020202020204" pitchFamily="34" charset="0"/>
                    <a:ea typeface="Calibri" panose="020F0502020204030204" pitchFamily="34" charset="0"/>
                  </a:rPr>
                  <a:t> </a:t>
                </a:r>
                <a14:m>
                  <m:oMath xmlns:m="http://schemas.openxmlformats.org/officeDocument/2006/math">
                    <m:f>
                      <m:fPr>
                        <m:ctrlPr>
                          <a:rPr lang="en-AU" sz="4400" i="1">
                            <a:effectLst/>
                            <a:latin typeface="Cambria Math" panose="02040503050406030204" pitchFamily="18" charset="0"/>
                          </a:rPr>
                        </m:ctrlPr>
                      </m:fPr>
                      <m:num>
                        <m:r>
                          <a:rPr lang="en-AU" sz="4400" b="0" i="1">
                            <a:effectLst/>
                            <a:latin typeface="Cambria Math" panose="02040503050406030204" pitchFamily="18" charset="0"/>
                            <a:ea typeface="Calibri" panose="020F0502020204030204" pitchFamily="34" charset="0"/>
                            <a:cs typeface="Arial" panose="020B0604020202020204" pitchFamily="34" charset="0"/>
                          </a:rPr>
                          <m:t>1</m:t>
                        </m:r>
                      </m:num>
                      <m:den>
                        <m:r>
                          <a:rPr lang="en-AU" sz="4400" b="0" i="1">
                            <a:effectLst/>
                            <a:latin typeface="Cambria Math" panose="02040503050406030204" pitchFamily="18" charset="0"/>
                            <a:ea typeface="Calibri" panose="020F0502020204030204" pitchFamily="34" charset="0"/>
                            <a:cs typeface="Arial" panose="020B0604020202020204" pitchFamily="34" charset="0"/>
                          </a:rPr>
                          <m:t>2</m:t>
                        </m:r>
                      </m:den>
                    </m:f>
                  </m:oMath>
                </a14:m>
                <a:r>
                  <a:rPr lang="en-AU" sz="4400">
                    <a:effectLst/>
                    <a:latin typeface="Arial" panose="020B0604020202020204" pitchFamily="34" charset="0"/>
                    <a:ea typeface="Calibri" panose="020F0502020204030204" pitchFamily="34" charset="0"/>
                  </a:rPr>
                  <a:t> of a different cake. Jake said he ate more cake than Kate. </a:t>
                </a:r>
              </a:p>
              <a:p>
                <a:pPr algn="ctr"/>
                <a:endParaRPr lang="en-AU" sz="4400">
                  <a:latin typeface="Arial" panose="020B0604020202020204" pitchFamily="34" charset="0"/>
                  <a:ea typeface="Calibri" panose="020F0502020204030204" pitchFamily="34" charset="0"/>
                </a:endParaRPr>
              </a:p>
              <a:p>
                <a:pPr algn="ctr"/>
                <a:r>
                  <a:rPr lang="en-AU" sz="4400" b="1">
                    <a:effectLst/>
                    <a:latin typeface="Arial" panose="020B0604020202020204" pitchFamily="34" charset="0"/>
                    <a:ea typeface="Calibri" panose="020F0502020204030204" pitchFamily="34" charset="0"/>
                  </a:rPr>
                  <a:t>Explain how</a:t>
                </a:r>
                <a:r>
                  <a:rPr lang="en-AU" sz="4400">
                    <a:effectLst/>
                    <a:latin typeface="Arial" panose="020B0604020202020204" pitchFamily="34" charset="0"/>
                    <a:ea typeface="Calibri" panose="020F0502020204030204" pitchFamily="34" charset="0"/>
                  </a:rPr>
                  <a:t> Jake </a:t>
                </a:r>
                <a:r>
                  <a:rPr lang="en-AU" sz="4400">
                    <a:latin typeface="Arial" panose="020B0604020202020204" pitchFamily="34" charset="0"/>
                    <a:ea typeface="Calibri" panose="020F0502020204030204" pitchFamily="34" charset="0"/>
                  </a:rPr>
                  <a:t>could</a:t>
                </a:r>
                <a:r>
                  <a:rPr lang="en-AU" sz="4400">
                    <a:effectLst/>
                    <a:latin typeface="Arial" panose="020B0604020202020204" pitchFamily="34" charset="0"/>
                    <a:ea typeface="Calibri" panose="020F0502020204030204" pitchFamily="34" charset="0"/>
                  </a:rPr>
                  <a:t> be</a:t>
                </a:r>
                <a:r>
                  <a:rPr lang="en-AU" sz="4400" b="1">
                    <a:effectLst/>
                    <a:latin typeface="Arial" panose="020B0604020202020204" pitchFamily="34" charset="0"/>
                    <a:ea typeface="Calibri" panose="020F0502020204030204" pitchFamily="34" charset="0"/>
                  </a:rPr>
                  <a:t> correct</a:t>
                </a:r>
                <a:r>
                  <a:rPr lang="en-AU" sz="4400">
                    <a:effectLst/>
                    <a:latin typeface="Arial" panose="020B0604020202020204" pitchFamily="34" charset="0"/>
                    <a:ea typeface="Calibri" panose="020F0502020204030204" pitchFamily="34" charset="0"/>
                  </a:rPr>
                  <a:t>?</a:t>
                </a:r>
                <a:endParaRPr lang="en-AU" sz="4400"/>
              </a:p>
            </p:txBody>
          </p:sp>
        </mc:Choice>
        <mc:Fallback xmlns="">
          <p:sp>
            <p:nvSpPr>
              <p:cNvPr id="10" name="TextBox 9">
                <a:extLst>
                  <a:ext uri="{FF2B5EF4-FFF2-40B4-BE49-F238E27FC236}">
                    <a16:creationId xmlns:a16="http://schemas.microsoft.com/office/drawing/2014/main" id="{C03AFBE5-7E17-E70A-C4BD-76B9B14C1F2A}"/>
                  </a:ext>
                </a:extLst>
              </p:cNvPr>
              <p:cNvSpPr txBox="1">
                <a:spLocks noRot="1" noChangeAspect="1" noMove="1" noResize="1" noEditPoints="1" noAdjustHandles="1" noChangeArrowheads="1" noChangeShapeType="1" noTextEdit="1"/>
              </p:cNvSpPr>
              <p:nvPr/>
            </p:nvSpPr>
            <p:spPr>
              <a:xfrm>
                <a:off x="590634" y="1211453"/>
                <a:ext cx="10876369" cy="4940135"/>
              </a:xfrm>
              <a:prstGeom prst="rect">
                <a:avLst/>
              </a:prstGeom>
              <a:blipFill>
                <a:blip r:embed="rId4"/>
                <a:stretch>
                  <a:fillRect l="-1457" r="-2747" b="-4321"/>
                </a:stretch>
              </a:blipFill>
            </p:spPr>
            <p:txBody>
              <a:bodyPr/>
              <a:lstStyle/>
              <a:p>
                <a:r>
                  <a:rPr lang="en-US">
                    <a:noFill/>
                  </a:rPr>
                  <a:t> </a:t>
                </a:r>
              </a:p>
            </p:txBody>
          </p:sp>
        </mc:Fallback>
      </mc:AlternateContent>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1248229" y="1625946"/>
            <a:ext cx="9390742" cy="893226"/>
          </a:xfrm>
        </p:spPr>
        <p:txBody>
          <a:bodyPr/>
          <a:lstStyle/>
          <a:p>
            <a:pPr algn="ctr"/>
            <a:r>
              <a:rPr lang="en-AU" sz="4400" b="1" dirty="0"/>
              <a:t>Fractional quantities </a:t>
            </a:r>
            <a:r>
              <a:rPr lang="en-AU" sz="4400" dirty="0"/>
              <a:t>can be compared if one is the common </a:t>
            </a:r>
            <a:r>
              <a:rPr lang="en-AU" sz="4400" b="1" dirty="0"/>
              <a:t>whole</a:t>
            </a:r>
            <a:r>
              <a:rPr lang="en-AU" sz="4400" dirty="0"/>
              <a:t>.</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370148C-F4BA-E8F5-6A55-8C1578902D7C}"/>
              </a:ext>
            </a:extLst>
          </p:cNvPr>
          <p:cNvSpPr txBox="1"/>
          <p:nvPr/>
        </p:nvSpPr>
        <p:spPr>
          <a:xfrm>
            <a:off x="646794" y="1184223"/>
            <a:ext cx="10898411" cy="915500"/>
          </a:xfrm>
          <a:prstGeom prst="rect">
            <a:avLst/>
          </a:prstGeom>
          <a:noFill/>
        </p:spPr>
        <p:txBody>
          <a:bodyPr wrap="square" lIns="0" tIns="0" rIns="0" bIns="0" rtlCol="0">
            <a:noAutofit/>
          </a:bodyPr>
          <a:lstStyle/>
          <a:p>
            <a:pPr algn="ctr">
              <a:lnSpc>
                <a:spcPct val="150000"/>
              </a:lnSpc>
            </a:pPr>
            <a:r>
              <a:rPr lang="en-AU" sz="4400" dirty="0"/>
              <a:t>Find the total of the length of 3 items measured:</a:t>
            </a:r>
          </a:p>
          <a:p>
            <a:pPr algn="ctr">
              <a:lnSpc>
                <a:spcPct val="150000"/>
              </a:lnSpc>
            </a:pPr>
            <a:endParaRPr lang="en-AU" sz="2200" dirty="0"/>
          </a:p>
          <a:p>
            <a:pPr algn="ctr">
              <a:lnSpc>
                <a:spcPct val="150000"/>
              </a:lnSpc>
            </a:pPr>
            <a:r>
              <a:rPr lang="en-AU" sz="4400" dirty="0"/>
              <a:t>7 </a:t>
            </a:r>
            <a:r>
              <a:rPr lang="en-AU" sz="4400" b="1" dirty="0"/>
              <a:t>mm, </a:t>
            </a:r>
            <a:r>
              <a:rPr lang="en-AU" sz="4400" dirty="0"/>
              <a:t>21 </a:t>
            </a:r>
            <a:r>
              <a:rPr lang="en-AU" sz="4400" b="1" dirty="0"/>
              <a:t>cm </a:t>
            </a:r>
            <a:r>
              <a:rPr lang="en-AU" sz="4400" dirty="0"/>
              <a:t>and</a:t>
            </a:r>
            <a:r>
              <a:rPr lang="en-AU" sz="4400" b="1" dirty="0"/>
              <a:t> </a:t>
            </a:r>
            <a:r>
              <a:rPr lang="en-AU" sz="4400" dirty="0"/>
              <a:t>2.3 </a:t>
            </a:r>
            <a:r>
              <a:rPr lang="en-AU" sz="4400" b="1" dirty="0"/>
              <a:t>m</a:t>
            </a:r>
          </a:p>
          <a:p>
            <a:pPr algn="ctr">
              <a:lnSpc>
                <a:spcPct val="150000"/>
              </a:lnSpc>
            </a:pPr>
            <a:endParaRPr lang="en-AU" sz="2200" b="1" dirty="0"/>
          </a:p>
          <a:p>
            <a:pPr algn="ctr">
              <a:lnSpc>
                <a:spcPct val="150000"/>
              </a:lnSpc>
            </a:pPr>
            <a:r>
              <a:rPr lang="en-AU" sz="4400" b="1" dirty="0"/>
              <a:t>Communicate</a:t>
            </a:r>
            <a:r>
              <a:rPr lang="en-AU" sz="4400" dirty="0"/>
              <a:t> your </a:t>
            </a:r>
            <a:r>
              <a:rPr lang="en-AU" sz="4400" b="1" dirty="0"/>
              <a:t>thinking</a:t>
            </a:r>
            <a:r>
              <a:rPr lang="en-AU" sz="4400" dirty="0"/>
              <a:t>.</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D59E52A-4FF3-F172-8AFD-268DA8A2693B}"/>
              </a:ext>
            </a:extLst>
          </p:cNvPr>
          <p:cNvSpPr txBox="1"/>
          <p:nvPr/>
        </p:nvSpPr>
        <p:spPr>
          <a:xfrm>
            <a:off x="795454" y="1494263"/>
            <a:ext cx="10367268" cy="3211552"/>
          </a:xfrm>
          <a:prstGeom prst="rect">
            <a:avLst/>
          </a:prstGeom>
          <a:noFill/>
        </p:spPr>
        <p:txBody>
          <a:bodyPr wrap="square" lIns="0" tIns="0" rIns="0" bIns="0" rtlCol="0">
            <a:noAutofit/>
          </a:bodyPr>
          <a:lstStyle/>
          <a:p>
            <a:pPr algn="l"/>
            <a:endParaRPr lang="en-AU" sz="1800"/>
          </a:p>
        </p:txBody>
      </p:sp>
      <p:sp>
        <p:nvSpPr>
          <p:cNvPr id="7" name="TextBox 6">
            <a:extLst>
              <a:ext uri="{FF2B5EF4-FFF2-40B4-BE49-F238E27FC236}">
                <a16:creationId xmlns:a16="http://schemas.microsoft.com/office/drawing/2014/main" id="{D7B05673-6026-90F8-7119-E93CCE5EAFB5}"/>
              </a:ext>
            </a:extLst>
          </p:cNvPr>
          <p:cNvSpPr txBox="1"/>
          <p:nvPr/>
        </p:nvSpPr>
        <p:spPr>
          <a:xfrm>
            <a:off x="703146" y="1037797"/>
            <a:ext cx="10913889" cy="1755343"/>
          </a:xfrm>
          <a:prstGeom prst="rect">
            <a:avLst/>
          </a:prstGeom>
          <a:noFill/>
        </p:spPr>
        <p:txBody>
          <a:bodyPr wrap="square" lIns="0" tIns="0" rIns="0" bIns="0" rtlCol="0">
            <a:noAutofit/>
          </a:bodyPr>
          <a:lstStyle/>
          <a:p>
            <a:pPr algn="l"/>
            <a:r>
              <a:rPr lang="en-AU" sz="4400"/>
              <a:t>What is the combined </a:t>
            </a:r>
            <a:r>
              <a:rPr lang="en-AU" sz="4400" b="1"/>
              <a:t>distance</a:t>
            </a:r>
            <a:r>
              <a:rPr lang="en-AU" sz="4400"/>
              <a:t> that Ishaan and Maria jumped at all 3 carnivals?</a:t>
            </a:r>
          </a:p>
        </p:txBody>
      </p:sp>
      <p:graphicFrame>
        <p:nvGraphicFramePr>
          <p:cNvPr id="10" name="Table 9">
            <a:extLst>
              <a:ext uri="{FF2B5EF4-FFF2-40B4-BE49-F238E27FC236}">
                <a16:creationId xmlns:a16="http://schemas.microsoft.com/office/drawing/2014/main" id="{4FDC1D9A-E73D-0EE9-EEF7-FB4201A66354}"/>
              </a:ext>
            </a:extLst>
          </p:cNvPr>
          <p:cNvGraphicFramePr>
            <a:graphicFrameLocks noGrp="1"/>
          </p:cNvGraphicFramePr>
          <p:nvPr>
            <p:extLst>
              <p:ext uri="{D42A27DB-BD31-4B8C-83A1-F6EECF244321}">
                <p14:modId xmlns:p14="http://schemas.microsoft.com/office/powerpoint/2010/main" val="2400632746"/>
              </p:ext>
            </p:extLst>
          </p:nvPr>
        </p:nvGraphicFramePr>
        <p:xfrm>
          <a:off x="1921933" y="2573867"/>
          <a:ext cx="8593668" cy="3942128"/>
        </p:xfrm>
        <a:graphic>
          <a:graphicData uri="http://schemas.openxmlformats.org/drawingml/2006/table">
            <a:tbl>
              <a:tblPr firstRow="1"/>
              <a:tblGrid>
                <a:gridCol w="2148417">
                  <a:extLst>
                    <a:ext uri="{9D8B030D-6E8A-4147-A177-3AD203B41FA5}">
                      <a16:colId xmlns:a16="http://schemas.microsoft.com/office/drawing/2014/main" val="1173815502"/>
                    </a:ext>
                  </a:extLst>
                </a:gridCol>
                <a:gridCol w="2148417">
                  <a:extLst>
                    <a:ext uri="{9D8B030D-6E8A-4147-A177-3AD203B41FA5}">
                      <a16:colId xmlns:a16="http://schemas.microsoft.com/office/drawing/2014/main" val="1181310921"/>
                    </a:ext>
                  </a:extLst>
                </a:gridCol>
                <a:gridCol w="2148417">
                  <a:extLst>
                    <a:ext uri="{9D8B030D-6E8A-4147-A177-3AD203B41FA5}">
                      <a16:colId xmlns:a16="http://schemas.microsoft.com/office/drawing/2014/main" val="2785179106"/>
                    </a:ext>
                  </a:extLst>
                </a:gridCol>
                <a:gridCol w="2148417">
                  <a:extLst>
                    <a:ext uri="{9D8B030D-6E8A-4147-A177-3AD203B41FA5}">
                      <a16:colId xmlns:a16="http://schemas.microsoft.com/office/drawing/2014/main" val="3270382026"/>
                    </a:ext>
                  </a:extLst>
                </a:gridCol>
              </a:tblGrid>
              <a:tr h="492766">
                <a:tc>
                  <a:txBody>
                    <a:bodyPr/>
                    <a:lstStyle/>
                    <a:p>
                      <a:pPr>
                        <a:lnSpc>
                          <a:spcPct val="150000"/>
                        </a:lnSpc>
                        <a:spcBef>
                          <a:spcPts val="1200"/>
                        </a:spcBef>
                        <a:spcAft>
                          <a:spcPts val="600"/>
                        </a:spcAft>
                        <a:buNone/>
                      </a:pPr>
                      <a:r>
                        <a:rPr lang="en-AU" sz="2000" b="1">
                          <a:solidFill>
                            <a:srgbClr val="FFFFFF"/>
                          </a:solidFill>
                          <a:effectLst/>
                          <a:latin typeface="Arial" panose="020B0604020202020204" pitchFamily="34" charset="0"/>
                          <a:ea typeface="Calibri" panose="020F0502020204030204" pitchFamily="34" charset="0"/>
                          <a:cs typeface="Arial" panose="020B0604020202020204" pitchFamily="34" charset="0"/>
                        </a:rPr>
                        <a:t>Name</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002664"/>
                    </a:solidFill>
                  </a:tcPr>
                </a:tc>
                <a:tc>
                  <a:txBody>
                    <a:bodyPr/>
                    <a:lstStyle/>
                    <a:p>
                      <a:pPr>
                        <a:lnSpc>
                          <a:spcPct val="150000"/>
                        </a:lnSpc>
                        <a:spcBef>
                          <a:spcPts val="1200"/>
                        </a:spcBef>
                        <a:spcAft>
                          <a:spcPts val="600"/>
                        </a:spcAft>
                        <a:buNone/>
                      </a:pPr>
                      <a:r>
                        <a:rPr lang="en-AU" sz="2000" b="1">
                          <a:solidFill>
                            <a:srgbClr val="FFFFFF"/>
                          </a:solidFill>
                          <a:effectLst/>
                          <a:latin typeface="Arial" panose="020B0604020202020204" pitchFamily="34" charset="0"/>
                          <a:ea typeface="Calibri" panose="020F0502020204030204" pitchFamily="34" charset="0"/>
                          <a:cs typeface="Arial" panose="020B0604020202020204" pitchFamily="34" charset="0"/>
                        </a:rPr>
                        <a:t>Carnival A</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002664"/>
                    </a:solidFill>
                  </a:tcPr>
                </a:tc>
                <a:tc>
                  <a:txBody>
                    <a:bodyPr/>
                    <a:lstStyle/>
                    <a:p>
                      <a:pPr>
                        <a:lnSpc>
                          <a:spcPct val="150000"/>
                        </a:lnSpc>
                        <a:spcBef>
                          <a:spcPts val="1200"/>
                        </a:spcBef>
                        <a:spcAft>
                          <a:spcPts val="600"/>
                        </a:spcAft>
                        <a:buNone/>
                      </a:pPr>
                      <a:r>
                        <a:rPr lang="en-AU" sz="2000" b="1">
                          <a:solidFill>
                            <a:srgbClr val="FFFFFF"/>
                          </a:solidFill>
                          <a:effectLst/>
                          <a:latin typeface="Arial" panose="020B0604020202020204" pitchFamily="34" charset="0"/>
                          <a:ea typeface="Calibri" panose="020F0502020204030204" pitchFamily="34" charset="0"/>
                          <a:cs typeface="Arial" panose="020B0604020202020204" pitchFamily="34" charset="0"/>
                        </a:rPr>
                        <a:t>Carnival B</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002664"/>
                    </a:solidFill>
                  </a:tcPr>
                </a:tc>
                <a:tc>
                  <a:txBody>
                    <a:bodyPr/>
                    <a:lstStyle/>
                    <a:p>
                      <a:pPr>
                        <a:lnSpc>
                          <a:spcPct val="150000"/>
                        </a:lnSpc>
                        <a:spcBef>
                          <a:spcPts val="1200"/>
                        </a:spcBef>
                        <a:spcAft>
                          <a:spcPts val="600"/>
                        </a:spcAft>
                        <a:buNone/>
                      </a:pPr>
                      <a:r>
                        <a:rPr lang="en-AU" sz="2000" b="1">
                          <a:solidFill>
                            <a:srgbClr val="FFFFFF"/>
                          </a:solidFill>
                          <a:effectLst/>
                          <a:latin typeface="Arial" panose="020B0604020202020204" pitchFamily="34" charset="0"/>
                          <a:ea typeface="Calibri" panose="020F0502020204030204" pitchFamily="34" charset="0"/>
                          <a:cs typeface="Arial" panose="020B0604020202020204" pitchFamily="34" charset="0"/>
                        </a:rPr>
                        <a:t>Carnival C</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002664"/>
                    </a:solidFill>
                  </a:tcPr>
                </a:tc>
                <a:extLst>
                  <a:ext uri="{0D108BD9-81ED-4DB2-BD59-A6C34878D82A}">
                    <a16:rowId xmlns:a16="http://schemas.microsoft.com/office/drawing/2014/main" val="2277646114"/>
                  </a:ext>
                </a:extLst>
              </a:tr>
              <a:tr h="492766">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Stacey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3.42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3.64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3.09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6827674"/>
                  </a:ext>
                </a:extLst>
              </a:tr>
              <a:tr h="492766">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Stuart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4.15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4.08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4.52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7689152"/>
                  </a:ext>
                </a:extLst>
              </a:tr>
              <a:tr h="492766">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Roshan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3.78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3.74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3.81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4422672"/>
                  </a:ext>
                </a:extLst>
              </a:tr>
              <a:tr h="492766">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Xavier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4.23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3.99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4.17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4149381"/>
                  </a:ext>
                </a:extLst>
              </a:tr>
              <a:tr h="492766">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Beatrice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5.32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5.33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5.42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1806465"/>
                  </a:ext>
                </a:extLst>
              </a:tr>
              <a:tr h="492766">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Ishaan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3.98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4.12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4.19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7495401"/>
                  </a:ext>
                </a:extLst>
              </a:tr>
              <a:tr h="492766">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Maria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4.88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5.02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2000">
                          <a:effectLst/>
                          <a:latin typeface="Arial" panose="020B0604020202020204" pitchFamily="34" charset="0"/>
                          <a:ea typeface="Calibri" panose="020F0502020204030204" pitchFamily="34" charset="0"/>
                          <a:cs typeface="Arial" panose="020B0604020202020204" pitchFamily="34" charset="0"/>
                        </a:rPr>
                        <a:t>5.14 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5319152"/>
                  </a:ext>
                </a:extLst>
              </a:tr>
            </a:tbl>
          </a:graphicData>
        </a:graphic>
      </p:graphicFrame>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E48C1EB-1016-17AC-B6B4-CD9A4AC91048}"/>
              </a:ext>
            </a:extLst>
          </p:cNvPr>
          <p:cNvSpPr txBox="1"/>
          <p:nvPr/>
        </p:nvSpPr>
        <p:spPr>
          <a:xfrm>
            <a:off x="1749070" y="2138648"/>
            <a:ext cx="8452625" cy="2341756"/>
          </a:xfrm>
          <a:prstGeom prst="rect">
            <a:avLst/>
          </a:prstGeom>
          <a:noFill/>
        </p:spPr>
        <p:txBody>
          <a:bodyPr wrap="square" lIns="0" tIns="0" rIns="0" bIns="0" rtlCol="0">
            <a:noAutofit/>
          </a:bodyPr>
          <a:lstStyle/>
          <a:p>
            <a:pPr algn="ctr"/>
            <a:r>
              <a:rPr lang="en-AU" sz="5400" dirty="0"/>
              <a:t>3.043 + 5.099</a:t>
            </a:r>
          </a:p>
          <a:p>
            <a:pPr algn="ctr"/>
            <a:endParaRPr lang="en-AU" sz="4400"/>
          </a:p>
          <a:p>
            <a:pPr algn="ctr"/>
            <a:r>
              <a:rPr lang="en-AU" sz="4400" b="1"/>
              <a:t>Communicate</a:t>
            </a:r>
            <a:r>
              <a:rPr lang="en-AU" sz="4400"/>
              <a:t> your </a:t>
            </a:r>
            <a:r>
              <a:rPr lang="en-AU" sz="4400" b="1"/>
              <a:t>thinking.</a:t>
            </a:r>
          </a:p>
          <a:p>
            <a:pPr algn="l"/>
            <a:endParaRPr lang="en-AU" sz="1800"/>
          </a:p>
          <a:p>
            <a:pPr algn="l"/>
            <a:endParaRPr lang="en-AU" sz="180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A6D2987-58D7-DCB4-0EEA-B48CA688C2A2}"/>
              </a:ext>
            </a:extLst>
          </p:cNvPr>
          <p:cNvSpPr txBox="1"/>
          <p:nvPr/>
        </p:nvSpPr>
        <p:spPr>
          <a:xfrm>
            <a:off x="1047750" y="1582150"/>
            <a:ext cx="10477500" cy="1847088"/>
          </a:xfrm>
          <a:prstGeom prst="rect">
            <a:avLst/>
          </a:prstGeom>
          <a:noFill/>
        </p:spPr>
        <p:txBody>
          <a:bodyPr wrap="square" lIns="0" tIns="0" rIns="0" bIns="0" rtlCol="0">
            <a:noAutofit/>
          </a:bodyPr>
          <a:lstStyle/>
          <a:p>
            <a:pPr algn="ctr">
              <a:lnSpc>
                <a:spcPct val="150000"/>
              </a:lnSpc>
            </a:pPr>
            <a:r>
              <a:rPr lang="en-AU" sz="4400" b="1"/>
              <a:t>Convert</a:t>
            </a:r>
            <a:r>
              <a:rPr lang="en-AU" sz="4400"/>
              <a:t>:</a:t>
            </a:r>
          </a:p>
          <a:p>
            <a:pPr marL="742950" indent="-742950" algn="ctr">
              <a:lnSpc>
                <a:spcPct val="150000"/>
              </a:lnSpc>
              <a:buFont typeface="+mj-lt"/>
              <a:buAutoNum type="alphaLcParenR"/>
            </a:pPr>
            <a:r>
              <a:rPr lang="en-AU" sz="4400"/>
              <a:t>5.43kg to </a:t>
            </a:r>
            <a:r>
              <a:rPr lang="en-AU" sz="4400" b="1"/>
              <a:t>grams </a:t>
            </a:r>
          </a:p>
          <a:p>
            <a:pPr marL="742950" indent="-742950" algn="ctr">
              <a:lnSpc>
                <a:spcPct val="150000"/>
              </a:lnSpc>
              <a:buFont typeface="+mj-lt"/>
              <a:buAutoNum type="alphaLcParenR"/>
            </a:pPr>
            <a:r>
              <a:rPr lang="en-AU" sz="4400"/>
              <a:t>4kg 320 g to </a:t>
            </a:r>
            <a:r>
              <a:rPr lang="en-AU" sz="4400" b="1"/>
              <a:t>kilograms</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different sized wholes 2</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FF3CD3-3341-97BE-B614-69CBCD1C2036}"/>
                  </a:ext>
                </a:extLst>
              </p:cNvPr>
              <p:cNvSpPr txBox="1"/>
              <p:nvPr/>
            </p:nvSpPr>
            <p:spPr>
              <a:xfrm>
                <a:off x="594360" y="1225071"/>
                <a:ext cx="10735056" cy="4911794"/>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Andy finished reading </a:t>
                </a:r>
                <a:r>
                  <a:rPr lang="en-AU" sz="4400" b="1">
                    <a:effectLst/>
                    <a:latin typeface="Arial" panose="020B0604020202020204" pitchFamily="34" charset="0"/>
                    <a:ea typeface="Calibri" panose="020F0502020204030204" pitchFamily="34" charset="0"/>
                  </a:rPr>
                  <a:t>a whole book </a:t>
                </a:r>
                <a:r>
                  <a:rPr lang="en-AU" sz="4400">
                    <a:effectLst/>
                    <a:latin typeface="Arial" panose="020B0604020202020204" pitchFamily="34" charset="0"/>
                    <a:ea typeface="Calibri" panose="020F0502020204030204" pitchFamily="34" charset="0"/>
                  </a:rPr>
                  <a:t>and Tim read </a:t>
                </a:r>
                <a14:m>
                  <m:oMath xmlns:m="http://schemas.openxmlformats.org/officeDocument/2006/math">
                    <m:f>
                      <m:fPr>
                        <m:ctrlPr>
                          <a:rPr lang="en-AU" sz="4400" b="1" i="1">
                            <a:effectLst/>
                            <a:latin typeface="Cambria Math" panose="02040503050406030204" pitchFamily="18" charset="0"/>
                            <a:ea typeface="Calibri" panose="020F0502020204030204" pitchFamily="34" charset="0"/>
                          </a:rPr>
                        </m:ctrlPr>
                      </m:fPr>
                      <m:num>
                        <m:r>
                          <a:rPr lang="en-AU" sz="4400" b="1" i="1">
                            <a:effectLst/>
                            <a:latin typeface="Cambria Math" panose="02040503050406030204" pitchFamily="18" charset="0"/>
                            <a:ea typeface="Calibri" panose="020F0502020204030204" pitchFamily="34" charset="0"/>
                          </a:rPr>
                          <m:t>𝟑</m:t>
                        </m:r>
                      </m:num>
                      <m:den>
                        <m:r>
                          <a:rPr lang="en-AU" sz="4400" b="1" i="1">
                            <a:effectLst/>
                            <a:latin typeface="Cambria Math" panose="02040503050406030204" pitchFamily="18" charset="0"/>
                            <a:ea typeface="Calibri" panose="020F0502020204030204" pitchFamily="34" charset="0"/>
                          </a:rPr>
                          <m:t>𝟒</m:t>
                        </m:r>
                      </m:den>
                    </m:f>
                  </m:oMath>
                </a14:m>
                <a:r>
                  <a:rPr lang="en-AU" sz="4400" b="1">
                    <a:effectLst/>
                    <a:latin typeface="Arial" panose="020B0604020202020204" pitchFamily="34" charset="0"/>
                    <a:ea typeface="Calibri" panose="020F0502020204030204" pitchFamily="34" charset="0"/>
                  </a:rPr>
                  <a:t> of a different book</a:t>
                </a:r>
                <a:r>
                  <a:rPr lang="en-AU" sz="4400">
                    <a:effectLst/>
                    <a:latin typeface="Arial" panose="020B0604020202020204" pitchFamily="34" charset="0"/>
                    <a:ea typeface="Calibri" panose="020F0502020204030204" pitchFamily="34" charset="0"/>
                  </a:rPr>
                  <a:t>. </a:t>
                </a:r>
              </a:p>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Tim said he read </a:t>
                </a:r>
                <a:r>
                  <a:rPr lang="en-AU" sz="4400" b="1">
                    <a:effectLst/>
                    <a:latin typeface="Arial" panose="020B0604020202020204" pitchFamily="34" charset="0"/>
                    <a:ea typeface="Calibri" panose="020F0502020204030204" pitchFamily="34" charset="0"/>
                  </a:rPr>
                  <a:t>more pages</a:t>
                </a:r>
                <a:r>
                  <a:rPr lang="en-AU" sz="4400">
                    <a:effectLst/>
                    <a:latin typeface="Arial" panose="020B0604020202020204" pitchFamily="34" charset="0"/>
                    <a:ea typeface="Calibri" panose="020F0502020204030204" pitchFamily="34" charset="0"/>
                  </a:rPr>
                  <a:t> than Andy. </a:t>
                </a:r>
              </a:p>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rPr>
                  <a:t>How </a:t>
                </a:r>
                <a:r>
                  <a:rPr lang="en-AU" sz="4400">
                    <a:effectLst/>
                    <a:latin typeface="Arial" panose="020B0604020202020204" pitchFamily="34" charset="0"/>
                    <a:ea typeface="Calibri" panose="020F0502020204030204" pitchFamily="34" charset="0"/>
                  </a:rPr>
                  <a:t>could Tim be </a:t>
                </a:r>
                <a:r>
                  <a:rPr lang="en-AU" sz="4400" b="1">
                    <a:effectLst/>
                    <a:latin typeface="Arial" panose="020B0604020202020204" pitchFamily="34" charset="0"/>
                    <a:ea typeface="Calibri" panose="020F0502020204030204" pitchFamily="34" charset="0"/>
                  </a:rPr>
                  <a:t>correct</a:t>
                </a:r>
                <a:r>
                  <a:rPr lang="en-AU" sz="4400">
                    <a:effectLst/>
                    <a:latin typeface="Arial" panose="020B0604020202020204" pitchFamily="34" charset="0"/>
                    <a:ea typeface="Calibri" panose="020F0502020204030204" pitchFamily="34" charset="0"/>
                  </a:rPr>
                  <a:t>?</a:t>
                </a:r>
              </a:p>
            </p:txBody>
          </p:sp>
        </mc:Choice>
        <mc:Fallback xmlns="">
          <p:sp>
            <p:nvSpPr>
              <p:cNvPr id="5" name="TextBox 4">
                <a:extLst>
                  <a:ext uri="{FF2B5EF4-FFF2-40B4-BE49-F238E27FC236}">
                    <a16:creationId xmlns:a16="http://schemas.microsoft.com/office/drawing/2014/main" id="{AAFF3CD3-3341-97BE-B614-69CBCD1C2036}"/>
                  </a:ext>
                </a:extLst>
              </p:cNvPr>
              <p:cNvSpPr txBox="1">
                <a:spLocks noRot="1" noChangeAspect="1" noMove="1" noResize="1" noEditPoints="1" noAdjustHandles="1" noChangeArrowheads="1" noChangeShapeType="1" noTextEdit="1"/>
              </p:cNvSpPr>
              <p:nvPr/>
            </p:nvSpPr>
            <p:spPr>
              <a:xfrm>
                <a:off x="594360" y="1225071"/>
                <a:ext cx="10735056" cy="4911794"/>
              </a:xfrm>
              <a:prstGeom prst="rect">
                <a:avLst/>
              </a:prstGeom>
              <a:blipFill>
                <a:blip r:embed="rId4"/>
                <a:stretch>
                  <a:fillRect l="-681" r="-2044" b="-5335"/>
                </a:stretch>
              </a:blipFill>
            </p:spPr>
            <p:txBody>
              <a:bodyPr/>
              <a:lstStyle/>
              <a:p>
                <a:r>
                  <a:rPr lang="en-US">
                    <a:noFill/>
                  </a:rPr>
                  <a:t> </a:t>
                </a:r>
              </a:p>
            </p:txBody>
          </p:sp>
        </mc:Fallback>
      </mc:AlternateContent>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14B8BC39-67FB-C657-188E-31701D36017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63F2F355-954E-44CF-4ECF-7CD3C57CE1C0}"/>
              </a:ext>
            </a:extLst>
          </p:cNvPr>
          <p:cNvSpPr>
            <a:spLocks noGrp="1"/>
          </p:cNvSpPr>
          <p:nvPr>
            <p:ph type="body" sz="quarter" idx="28"/>
          </p:nvPr>
        </p:nvSpPr>
        <p:spPr>
          <a:xfrm>
            <a:off x="804642" y="863565"/>
            <a:ext cx="9739086" cy="754243"/>
          </a:xfrm>
        </p:spPr>
        <p:txBody>
          <a:bodyPr/>
          <a:lstStyle/>
          <a:p>
            <a:pPr algn="ctr"/>
            <a:r>
              <a:rPr lang="en-AU" sz="3600"/>
              <a:t>Mia cuts a ribbon into </a:t>
            </a:r>
            <a:r>
              <a:rPr lang="en-AU" sz="3600" b="1"/>
              <a:t>2 equal lengths</a:t>
            </a:r>
            <a:r>
              <a:rPr lang="en-AU" sz="3600"/>
              <a:t>.</a:t>
            </a:r>
          </a:p>
          <a:p>
            <a:pPr algn="ctr"/>
            <a:r>
              <a:rPr lang="en-AU" sz="3600"/>
              <a:t> Tom cuts an identical ribbon into </a:t>
            </a:r>
            <a:r>
              <a:rPr lang="en-AU" sz="3600" b="1"/>
              <a:t>4 equal lengths</a:t>
            </a:r>
            <a:r>
              <a:rPr lang="en-AU" sz="3600"/>
              <a:t>. Which statement is correct?</a:t>
            </a:r>
            <a:endParaRPr lang="en-US" sz="3600"/>
          </a:p>
        </p:txBody>
      </p:sp>
      <p:sp>
        <p:nvSpPr>
          <p:cNvPr id="9" name="TextBox 8">
            <a:extLst>
              <a:ext uri="{FF2B5EF4-FFF2-40B4-BE49-F238E27FC236}">
                <a16:creationId xmlns:a16="http://schemas.microsoft.com/office/drawing/2014/main" id="{793EDF41-C42C-8273-E2DE-8E4910A00103}"/>
              </a:ext>
            </a:extLst>
          </p:cNvPr>
          <p:cNvSpPr txBox="1"/>
          <p:nvPr/>
        </p:nvSpPr>
        <p:spPr>
          <a:xfrm>
            <a:off x="539931" y="331640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4" name="Text Placeholder 13">
            <a:extLst>
              <a:ext uri="{FF2B5EF4-FFF2-40B4-BE49-F238E27FC236}">
                <a16:creationId xmlns:a16="http://schemas.microsoft.com/office/drawing/2014/main" id="{AA11334F-1845-E708-AB18-7FCB93CE3329}"/>
              </a:ext>
            </a:extLst>
          </p:cNvPr>
          <p:cNvSpPr>
            <a:spLocks noGrp="1"/>
          </p:cNvSpPr>
          <p:nvPr>
            <p:ph type="body" sz="quarter" idx="27"/>
          </p:nvPr>
        </p:nvSpPr>
        <p:spPr>
          <a:xfrm>
            <a:off x="1171348" y="5864420"/>
            <a:ext cx="10175920" cy="641396"/>
          </a:xfrm>
        </p:spPr>
        <p:txBody>
          <a:bodyPr anchor="ctr"/>
          <a:lstStyle/>
          <a:p>
            <a:r>
              <a:rPr lang="en-US" sz="3200"/>
              <a:t>Mia’s pieces are bigger</a:t>
            </a:r>
          </a:p>
        </p:txBody>
      </p:sp>
      <p:sp>
        <p:nvSpPr>
          <p:cNvPr id="10" name="TextBox 9">
            <a:extLst>
              <a:ext uri="{FF2B5EF4-FFF2-40B4-BE49-F238E27FC236}">
                <a16:creationId xmlns:a16="http://schemas.microsoft.com/office/drawing/2014/main" id="{509AD87B-945E-EF0D-EE5D-D963ACE5480B}"/>
              </a:ext>
            </a:extLst>
          </p:cNvPr>
          <p:cNvSpPr txBox="1"/>
          <p:nvPr/>
        </p:nvSpPr>
        <p:spPr>
          <a:xfrm>
            <a:off x="539930" y="41643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9A4E7C9-5ADB-F023-46E3-7F1A450E28B3}"/>
              </a:ext>
            </a:extLst>
          </p:cNvPr>
          <p:cNvSpPr>
            <a:spLocks noGrp="1"/>
          </p:cNvSpPr>
          <p:nvPr>
            <p:ph type="body" sz="quarter" idx="30"/>
          </p:nvPr>
        </p:nvSpPr>
        <p:spPr>
          <a:xfrm>
            <a:off x="1171348" y="4164314"/>
            <a:ext cx="10175920" cy="641396"/>
          </a:xfrm>
        </p:spPr>
        <p:txBody>
          <a:bodyPr anchor="ctr"/>
          <a:lstStyle/>
          <a:p>
            <a:r>
              <a:rPr lang="en-US" sz="3200"/>
              <a:t>Tom’s pieces are bigger</a:t>
            </a:r>
          </a:p>
        </p:txBody>
      </p:sp>
      <p:sp>
        <p:nvSpPr>
          <p:cNvPr id="12" name="TextBox 11">
            <a:extLst>
              <a:ext uri="{FF2B5EF4-FFF2-40B4-BE49-F238E27FC236}">
                <a16:creationId xmlns:a16="http://schemas.microsoft.com/office/drawing/2014/main" id="{7A633D74-C65F-E185-EA4B-C6135BC39C93}"/>
              </a:ext>
            </a:extLst>
          </p:cNvPr>
          <p:cNvSpPr txBox="1"/>
          <p:nvPr/>
        </p:nvSpPr>
        <p:spPr>
          <a:xfrm>
            <a:off x="539929" y="501436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92C95EDB-DE45-91C1-57A8-4D7305326D0D}"/>
              </a:ext>
            </a:extLst>
          </p:cNvPr>
          <p:cNvSpPr>
            <a:spLocks noGrp="1"/>
          </p:cNvSpPr>
          <p:nvPr>
            <p:ph type="body" sz="quarter" idx="29"/>
          </p:nvPr>
        </p:nvSpPr>
        <p:spPr>
          <a:xfrm>
            <a:off x="1171348" y="5014367"/>
            <a:ext cx="10175920" cy="641396"/>
          </a:xfrm>
        </p:spPr>
        <p:txBody>
          <a:bodyPr anchor="ctr"/>
          <a:lstStyle/>
          <a:p>
            <a:r>
              <a:rPr lang="en-US" sz="3200"/>
              <a:t>The pieces are the same</a:t>
            </a:r>
          </a:p>
        </p:txBody>
      </p:sp>
      <p:sp>
        <p:nvSpPr>
          <p:cNvPr id="11" name="TextBox 10">
            <a:extLst>
              <a:ext uri="{FF2B5EF4-FFF2-40B4-BE49-F238E27FC236}">
                <a16:creationId xmlns:a16="http://schemas.microsoft.com/office/drawing/2014/main" id="{19288423-CD91-9472-E346-D2D0ECB4C75C}"/>
              </a:ext>
            </a:extLst>
          </p:cNvPr>
          <p:cNvSpPr txBox="1"/>
          <p:nvPr/>
        </p:nvSpPr>
        <p:spPr>
          <a:xfrm>
            <a:off x="539928" y="586442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8" name="Text Placeholder 17">
            <a:extLst>
              <a:ext uri="{FF2B5EF4-FFF2-40B4-BE49-F238E27FC236}">
                <a16:creationId xmlns:a16="http://schemas.microsoft.com/office/drawing/2014/main" id="{6DCA7DBF-5599-1A3D-C39E-54412033284F}"/>
              </a:ext>
            </a:extLst>
          </p:cNvPr>
          <p:cNvSpPr>
            <a:spLocks noGrp="1"/>
          </p:cNvSpPr>
          <p:nvPr>
            <p:ph type="body" sz="quarter" idx="31"/>
          </p:nvPr>
        </p:nvSpPr>
        <p:spPr>
          <a:xfrm>
            <a:off x="1171348" y="3316401"/>
            <a:ext cx="10175920" cy="641396"/>
          </a:xfrm>
        </p:spPr>
        <p:txBody>
          <a:bodyPr anchor="ctr"/>
          <a:lstStyle/>
          <a:p>
            <a:r>
              <a:rPr lang="en-US" sz="3200"/>
              <a:t>Mia’s pieces are smaller</a:t>
            </a:r>
          </a:p>
        </p:txBody>
      </p:sp>
      <p:sp>
        <p:nvSpPr>
          <p:cNvPr id="2" name="Slide Number Placeholder 1">
            <a:extLst>
              <a:ext uri="{FF2B5EF4-FFF2-40B4-BE49-F238E27FC236}">
                <a16:creationId xmlns:a16="http://schemas.microsoft.com/office/drawing/2014/main" id="{89F0674C-5B03-98FC-310B-BB63294773C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4A2A887-C066-AD11-A913-F3DEF8F91BCE}"/>
              </a:ext>
            </a:extLst>
          </p:cNvPr>
          <p:cNvSpPr txBox="1"/>
          <p:nvPr/>
        </p:nvSpPr>
        <p:spPr>
          <a:xfrm>
            <a:off x="568171" y="1704513"/>
            <a:ext cx="10555829" cy="3317802"/>
          </a:xfrm>
          <a:prstGeom prst="rect">
            <a:avLst/>
          </a:prstGeom>
          <a:noFill/>
        </p:spPr>
        <p:txBody>
          <a:bodyPr wrap="square" lIns="0" tIns="0" rIns="0" bIns="0" rtlCol="0">
            <a:noAutofit/>
          </a:bodyPr>
          <a:lstStyle/>
          <a:p>
            <a:pPr algn="ctr">
              <a:lnSpc>
                <a:spcPct val="150000"/>
              </a:lnSpc>
            </a:pPr>
            <a:r>
              <a:rPr lang="en-AU" sz="4400"/>
              <a:t>Jessica started work at </a:t>
            </a:r>
            <a:r>
              <a:rPr lang="en-AU" sz="4400" b="1"/>
              <a:t>14:15</a:t>
            </a:r>
            <a:r>
              <a:rPr lang="en-AU" sz="4400"/>
              <a:t> and finished at </a:t>
            </a:r>
            <a:r>
              <a:rPr lang="en-AU" sz="4400" b="1"/>
              <a:t>17:05</a:t>
            </a:r>
            <a:r>
              <a:rPr lang="en-AU" sz="4400"/>
              <a:t>. How long has she worked?</a:t>
            </a:r>
          </a:p>
          <a:p>
            <a:pPr algn="ctr">
              <a:lnSpc>
                <a:spcPct val="150000"/>
              </a:lnSpc>
            </a:pPr>
            <a:endParaRPr lang="en-AU" sz="4400"/>
          </a:p>
          <a:p>
            <a:pPr algn="ctr">
              <a:lnSpc>
                <a:spcPct val="150000"/>
              </a:lnSpc>
            </a:pPr>
            <a:r>
              <a:rPr lang="en-AU" sz="4400" b="1" dirty="0"/>
              <a:t>C</a:t>
            </a:r>
            <a:r>
              <a:rPr lang="en-AU" sz="4400" b="1"/>
              <a:t>ommunicate</a:t>
            </a:r>
            <a:r>
              <a:rPr lang="en-AU" sz="4400"/>
              <a:t> your </a:t>
            </a:r>
            <a:r>
              <a:rPr lang="en-AU" sz="4400" b="1"/>
              <a:t>thinking</a:t>
            </a:r>
            <a:r>
              <a:rPr lang="en-AU" sz="4400"/>
              <a:t>.</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8435CAC-BC86-1954-B6F0-88F782C59352}"/>
              </a:ext>
            </a:extLst>
          </p:cNvPr>
          <p:cNvSpPr txBox="1"/>
          <p:nvPr/>
        </p:nvSpPr>
        <p:spPr>
          <a:xfrm>
            <a:off x="603746" y="1038302"/>
            <a:ext cx="11342230" cy="1882698"/>
          </a:xfrm>
          <a:prstGeom prst="rect">
            <a:avLst/>
          </a:prstGeom>
          <a:noFill/>
        </p:spPr>
        <p:txBody>
          <a:bodyPr wrap="square" lIns="0" tIns="0" rIns="0" bIns="0" rtlCol="0">
            <a:noAutofit/>
          </a:bodyPr>
          <a:lstStyle/>
          <a:p>
            <a:pPr algn="ctr">
              <a:lnSpc>
                <a:spcPct val="150000"/>
              </a:lnSpc>
            </a:pPr>
            <a:r>
              <a:rPr lang="en-AU" sz="4400" dirty="0"/>
              <a:t>Jemma lives </a:t>
            </a:r>
            <a:r>
              <a:rPr lang="en-AU" sz="4400" b="1" dirty="0"/>
              <a:t>76.952 km </a:t>
            </a:r>
            <a:r>
              <a:rPr lang="en-AU" sz="4400" dirty="0"/>
              <a:t>from the museum. Jess lives </a:t>
            </a:r>
            <a:r>
              <a:rPr lang="en-AU" sz="4400" b="1" dirty="0"/>
              <a:t>21.242 km away </a:t>
            </a:r>
            <a:r>
              <a:rPr lang="en-AU" sz="4400" dirty="0"/>
              <a:t>from the museum. How much further does Jemma need to travel to the museum than Jess?</a:t>
            </a:r>
          </a:p>
          <a:p>
            <a:pPr algn="ctr">
              <a:lnSpc>
                <a:spcPct val="150000"/>
              </a:lnSpc>
            </a:pPr>
            <a:endParaRPr lang="en-AU" sz="2200" dirty="0"/>
          </a:p>
          <a:p>
            <a:pPr algn="ctr">
              <a:lnSpc>
                <a:spcPct val="150000"/>
              </a:lnSpc>
            </a:pPr>
            <a:r>
              <a:rPr lang="en-AU" sz="4400" b="1" dirty="0"/>
              <a:t>Communicate</a:t>
            </a:r>
            <a:r>
              <a:rPr lang="en-AU" sz="4400" dirty="0"/>
              <a:t> your </a:t>
            </a:r>
            <a:r>
              <a:rPr lang="en-AU" sz="4400" b="1" dirty="0"/>
              <a:t>thinking</a:t>
            </a:r>
            <a:r>
              <a:rPr lang="en-AU" sz="4400" dirty="0"/>
              <a:t>.</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AC1C372-C1BC-C6BF-6DF8-F3C98EAB0E12}"/>
              </a:ext>
            </a:extLst>
          </p:cNvPr>
          <p:cNvSpPr txBox="1"/>
          <p:nvPr/>
        </p:nvSpPr>
        <p:spPr>
          <a:xfrm>
            <a:off x="1293336" y="1079773"/>
            <a:ext cx="9433932" cy="1739627"/>
          </a:xfrm>
          <a:prstGeom prst="rect">
            <a:avLst/>
          </a:prstGeom>
          <a:noFill/>
        </p:spPr>
        <p:txBody>
          <a:bodyPr wrap="square" lIns="0" tIns="0" rIns="0" bIns="0" rtlCol="0">
            <a:noAutofit/>
          </a:bodyPr>
          <a:lstStyle/>
          <a:p>
            <a:pPr algn="ctr">
              <a:lnSpc>
                <a:spcPct val="150000"/>
              </a:lnSpc>
            </a:pPr>
            <a:r>
              <a:rPr lang="en-AU" sz="4400" dirty="0"/>
              <a:t>The number is 7. </a:t>
            </a:r>
          </a:p>
          <a:p>
            <a:pPr algn="ctr">
              <a:lnSpc>
                <a:spcPct val="150000"/>
              </a:lnSpc>
            </a:pPr>
            <a:r>
              <a:rPr lang="en-AU" sz="4400" dirty="0"/>
              <a:t>Record the number that is:</a:t>
            </a:r>
          </a:p>
          <a:p>
            <a:pPr marL="457200" indent="-457200" algn="ctr">
              <a:lnSpc>
                <a:spcPct val="150000"/>
              </a:lnSpc>
              <a:buFont typeface="Arial" panose="020B0604020202020204" pitchFamily="34" charset="0"/>
              <a:buChar char="•"/>
            </a:pPr>
            <a:r>
              <a:rPr lang="en-AU" sz="3600" dirty="0"/>
              <a:t>10 times larger</a:t>
            </a:r>
          </a:p>
          <a:p>
            <a:pPr marL="457200" indent="-457200" algn="ctr">
              <a:lnSpc>
                <a:spcPct val="150000"/>
              </a:lnSpc>
              <a:buFont typeface="Arial" panose="020B0604020202020204" pitchFamily="34" charset="0"/>
              <a:buChar char="•"/>
            </a:pPr>
            <a:r>
              <a:rPr lang="en-AU" sz="3600" dirty="0"/>
              <a:t>100 times larger</a:t>
            </a:r>
          </a:p>
          <a:p>
            <a:pPr marL="457200" indent="-457200" algn="ctr">
              <a:lnSpc>
                <a:spcPct val="150000"/>
              </a:lnSpc>
              <a:buFont typeface="Arial" panose="020B0604020202020204" pitchFamily="34" charset="0"/>
              <a:buChar char="•"/>
            </a:pPr>
            <a:r>
              <a:rPr lang="en-AU" sz="3600" dirty="0"/>
              <a:t>one tenth the size</a:t>
            </a:r>
          </a:p>
          <a:p>
            <a:pPr marL="457200" indent="-457200" algn="ctr">
              <a:lnSpc>
                <a:spcPct val="150000"/>
              </a:lnSpc>
              <a:buFont typeface="Arial" panose="020B0604020202020204" pitchFamily="34" charset="0"/>
              <a:buChar char="•"/>
            </a:pPr>
            <a:r>
              <a:rPr lang="en-AU" sz="3600" dirty="0"/>
              <a:t>one tenth the size.</a:t>
            </a:r>
          </a:p>
          <a:p>
            <a:pPr algn="l"/>
            <a:endParaRPr lang="en-AU" sz="1800" dirty="0"/>
          </a:p>
          <a:p>
            <a:pPr algn="l"/>
            <a:endParaRPr lang="en-AU" sz="1800" dirty="0"/>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1901413-E5C8-FBAD-6371-2A3B57FE71E7}"/>
              </a:ext>
            </a:extLst>
          </p:cNvPr>
          <p:cNvSpPr txBox="1"/>
          <p:nvPr/>
        </p:nvSpPr>
        <p:spPr>
          <a:xfrm>
            <a:off x="468630" y="1184223"/>
            <a:ext cx="11075670" cy="3136392"/>
          </a:xfrm>
          <a:prstGeom prst="rect">
            <a:avLst/>
          </a:prstGeom>
          <a:noFill/>
        </p:spPr>
        <p:txBody>
          <a:bodyPr wrap="square" lIns="0" tIns="0" rIns="0" bIns="0" rtlCol="0">
            <a:noAutofit/>
          </a:bodyPr>
          <a:lstStyle/>
          <a:p>
            <a:pPr algn="ctr"/>
            <a:r>
              <a:rPr lang="en-AU" sz="4400" b="1" dirty="0"/>
              <a:t>Convert</a:t>
            </a:r>
            <a:r>
              <a:rPr lang="en-AU" sz="4400" dirty="0"/>
              <a:t> the following to </a:t>
            </a:r>
            <a:r>
              <a:rPr lang="en-AU" sz="4400" b="1" dirty="0"/>
              <a:t>24-hour time</a:t>
            </a:r>
            <a:r>
              <a:rPr lang="en-AU" sz="4400" dirty="0"/>
              <a:t>:</a:t>
            </a:r>
          </a:p>
          <a:p>
            <a:pPr marL="571500" indent="-571500" algn="ctr">
              <a:lnSpc>
                <a:spcPct val="150000"/>
              </a:lnSpc>
              <a:buFont typeface="Arial" panose="020B0604020202020204" pitchFamily="34" charset="0"/>
              <a:buChar char="•"/>
            </a:pPr>
            <a:r>
              <a:rPr lang="en-AU" sz="4400" dirty="0"/>
              <a:t>11:20 pm</a:t>
            </a:r>
          </a:p>
          <a:p>
            <a:pPr marL="571500" indent="-571500" algn="ctr">
              <a:lnSpc>
                <a:spcPct val="150000"/>
              </a:lnSpc>
              <a:buFont typeface="Arial" panose="020B0604020202020204" pitchFamily="34" charset="0"/>
              <a:buChar char="•"/>
            </a:pPr>
            <a:r>
              <a:rPr lang="en-AU" sz="4400" dirty="0"/>
              <a:t>7:32 am</a:t>
            </a:r>
          </a:p>
          <a:p>
            <a:pPr marL="571500" indent="-571500" algn="ctr">
              <a:lnSpc>
                <a:spcPct val="150000"/>
              </a:lnSpc>
              <a:buFont typeface="Arial" panose="020B0604020202020204" pitchFamily="34" charset="0"/>
              <a:buChar char="•"/>
            </a:pPr>
            <a:r>
              <a:rPr lang="en-AU" sz="4400" dirty="0"/>
              <a:t>4:19 am</a:t>
            </a:r>
          </a:p>
          <a:p>
            <a:pPr marL="571500" indent="-571500" algn="ctr">
              <a:lnSpc>
                <a:spcPct val="150000"/>
              </a:lnSpc>
              <a:buFont typeface="Arial" panose="020B0604020202020204" pitchFamily="34" charset="0"/>
              <a:buChar char="•"/>
            </a:pPr>
            <a:r>
              <a:rPr lang="en-AU" sz="4400" dirty="0"/>
              <a:t>9:25 pm</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comparing halves and quarters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098" name="Picture 2" descr="10 squares split into fractions.">
            <a:extLst>
              <a:ext uri="{FF2B5EF4-FFF2-40B4-BE49-F238E27FC236}">
                <a16:creationId xmlns:a16="http://schemas.microsoft.com/office/drawing/2014/main" id="{633A1723-8361-307D-F898-95CAC5AA07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7879" y="1097258"/>
            <a:ext cx="7268146" cy="5319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923143" y="1436714"/>
                <a:ext cx="8345714" cy="893226"/>
              </a:xfrm>
            </p:spPr>
            <p:txBody>
              <a:bodyPr/>
              <a:lstStyle/>
              <a:p>
                <a:pPr algn="ctr"/>
                <a14:m>
                  <m:oMath xmlns:m="http://schemas.openxmlformats.org/officeDocument/2006/math">
                    <m:f>
                      <m:fPr>
                        <m:ctrlPr>
                          <a:rPr lang="en-AU" sz="4400" b="1" i="1" dirty="0" smtClean="0">
                            <a:latin typeface="Cambria Math" panose="02040503050406030204" pitchFamily="18" charset="0"/>
                          </a:rPr>
                        </m:ctrlPr>
                      </m:fPr>
                      <m:num>
                        <m:r>
                          <a:rPr lang="en-AU" sz="4400" b="1" i="1" dirty="0" smtClean="0">
                            <a:latin typeface="Cambria Math" panose="02040503050406030204" pitchFamily="18" charset="0"/>
                          </a:rPr>
                          <m:t>𝟏</m:t>
                        </m:r>
                      </m:num>
                      <m:den>
                        <m:r>
                          <a:rPr lang="en-AU" sz="4400" b="1" i="1" dirty="0" smtClean="0">
                            <a:latin typeface="Cambria Math" panose="02040503050406030204" pitchFamily="18" charset="0"/>
                          </a:rPr>
                          <m:t>𝟒</m:t>
                        </m:r>
                      </m:den>
                    </m:f>
                  </m:oMath>
                </a14:m>
                <a:r>
                  <a:rPr lang="en-AU" sz="4400" b="1"/>
                  <a:t> </a:t>
                </a:r>
                <a:r>
                  <a:rPr lang="en-AU" sz="4400"/>
                  <a:t>can be added to </a:t>
                </a:r>
                <a14:m>
                  <m:oMath xmlns:m="http://schemas.openxmlformats.org/officeDocument/2006/math">
                    <m:f>
                      <m:fPr>
                        <m:ctrlPr>
                          <a:rPr lang="en-AU" sz="4400" b="1" i="1" dirty="0" smtClean="0">
                            <a:latin typeface="Cambria Math" panose="02040503050406030204" pitchFamily="18" charset="0"/>
                          </a:rPr>
                        </m:ctrlPr>
                      </m:fPr>
                      <m:num>
                        <m:r>
                          <a:rPr lang="en-AU" sz="4400" b="1" i="1" dirty="0" smtClean="0">
                            <a:latin typeface="Cambria Math" panose="02040503050406030204" pitchFamily="18" charset="0"/>
                          </a:rPr>
                          <m:t>𝟏</m:t>
                        </m:r>
                      </m:num>
                      <m:den>
                        <m:r>
                          <a:rPr lang="en-AU" sz="4400" b="1" i="1" dirty="0" smtClean="0">
                            <a:latin typeface="Cambria Math" panose="02040503050406030204" pitchFamily="18" charset="0"/>
                          </a:rPr>
                          <m:t>𝟐</m:t>
                        </m:r>
                      </m:den>
                    </m:f>
                  </m:oMath>
                </a14:m>
                <a:r>
                  <a:rPr lang="en-AU" sz="4400" b="1"/>
                  <a:t> </a:t>
                </a:r>
                <a:r>
                  <a:rPr lang="en-AU" sz="4400"/>
                  <a:t>if the size of the </a:t>
                </a:r>
                <a:r>
                  <a:rPr lang="en-AU" sz="4400" b="1"/>
                  <a:t>whole</a:t>
                </a:r>
                <a:r>
                  <a:rPr lang="en-AU" sz="4400"/>
                  <a:t> is different.</a:t>
                </a:r>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1923143" y="1436714"/>
                <a:ext cx="8345714" cy="893226"/>
              </a:xfrm>
              <a:blipFill>
                <a:blip r:embed="rId4"/>
                <a:stretch>
                  <a:fillRect r="-3431" b="-198630"/>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9D3B20DB-C61F-F087-7CDF-A6F7F671DA10}"/>
              </a:ext>
            </a:extLst>
          </p:cNvPr>
          <p:cNvSpPr txBox="1"/>
          <p:nvPr/>
        </p:nvSpPr>
        <p:spPr>
          <a:xfrm>
            <a:off x="7502135" y="1586883"/>
            <a:ext cx="4582492" cy="3684233"/>
          </a:xfrm>
          <a:prstGeom prst="rect">
            <a:avLst/>
          </a:prstGeom>
          <a:noFill/>
        </p:spPr>
        <p:txBody>
          <a:bodyPr wrap="square" lIns="0" tIns="0" rIns="0" bIns="0" rtlCol="0">
            <a:noAutofit/>
          </a:bodyPr>
          <a:lstStyle/>
          <a:p>
            <a:pPr algn="l"/>
            <a:r>
              <a:rPr lang="en-AU" sz="4000"/>
              <a:t>How long is </a:t>
            </a:r>
            <a:r>
              <a:rPr lang="en-AU" sz="4000" b="1" dirty="0"/>
              <a:t>Creative </a:t>
            </a:r>
            <a:r>
              <a:rPr lang="en-AU" sz="4000" b="1"/>
              <a:t>arts on a Thursday</a:t>
            </a:r>
            <a:r>
              <a:rPr lang="en-AU" sz="4000"/>
              <a:t>?</a:t>
            </a:r>
          </a:p>
          <a:p>
            <a:pPr algn="l"/>
            <a:endParaRPr lang="en-AU" sz="4000"/>
          </a:p>
          <a:p>
            <a:pPr algn="l"/>
            <a:r>
              <a:rPr lang="en-AU" sz="4000"/>
              <a:t>How long is spent </a:t>
            </a:r>
            <a:r>
              <a:rPr lang="en-AU" sz="4000" dirty="0"/>
              <a:t>on</a:t>
            </a:r>
            <a:r>
              <a:rPr lang="en-AU" sz="4000"/>
              <a:t> maths </a:t>
            </a:r>
            <a:r>
              <a:rPr lang="en-AU" sz="4000" b="1"/>
              <a:t>over the week</a:t>
            </a:r>
            <a:r>
              <a:rPr lang="en-AU" sz="4000"/>
              <a:t>?</a:t>
            </a:r>
          </a:p>
          <a:p>
            <a:pPr algn="l"/>
            <a:endParaRPr lang="en-AU" sz="1800"/>
          </a:p>
          <a:p>
            <a:pPr algn="l"/>
            <a:endParaRPr lang="en-AU" sz="1800"/>
          </a:p>
          <a:p>
            <a:pPr algn="l"/>
            <a:endParaRPr lang="en-AU" sz="1800"/>
          </a:p>
          <a:p>
            <a:pPr algn="l"/>
            <a:endParaRPr lang="en-AU" sz="1800"/>
          </a:p>
        </p:txBody>
      </p:sp>
      <p:graphicFrame>
        <p:nvGraphicFramePr>
          <p:cNvPr id="5" name="Table 4">
            <a:extLst>
              <a:ext uri="{FF2B5EF4-FFF2-40B4-BE49-F238E27FC236}">
                <a16:creationId xmlns:a16="http://schemas.microsoft.com/office/drawing/2014/main" id="{DE0B1427-9982-16FB-122F-3CEF8F37C3AD}"/>
              </a:ext>
            </a:extLst>
          </p:cNvPr>
          <p:cNvGraphicFramePr>
            <a:graphicFrameLocks noGrp="1"/>
          </p:cNvGraphicFramePr>
          <p:nvPr>
            <p:extLst>
              <p:ext uri="{D42A27DB-BD31-4B8C-83A1-F6EECF244321}">
                <p14:modId xmlns:p14="http://schemas.microsoft.com/office/powerpoint/2010/main" val="1967454309"/>
              </p:ext>
            </p:extLst>
          </p:nvPr>
        </p:nvGraphicFramePr>
        <p:xfrm>
          <a:off x="360000" y="1059874"/>
          <a:ext cx="6903244" cy="5438121"/>
        </p:xfrm>
        <a:graphic>
          <a:graphicData uri="http://schemas.openxmlformats.org/drawingml/2006/table">
            <a:tbl>
              <a:tblPr firstRow="1" firstCol="1" bandRow="1"/>
              <a:tblGrid>
                <a:gridCol w="910486">
                  <a:extLst>
                    <a:ext uri="{9D8B030D-6E8A-4147-A177-3AD203B41FA5}">
                      <a16:colId xmlns:a16="http://schemas.microsoft.com/office/drawing/2014/main" val="987833246"/>
                    </a:ext>
                  </a:extLst>
                </a:gridCol>
                <a:gridCol w="714178">
                  <a:extLst>
                    <a:ext uri="{9D8B030D-6E8A-4147-A177-3AD203B41FA5}">
                      <a16:colId xmlns:a16="http://schemas.microsoft.com/office/drawing/2014/main" val="1792860189"/>
                    </a:ext>
                  </a:extLst>
                </a:gridCol>
                <a:gridCol w="927762">
                  <a:extLst>
                    <a:ext uri="{9D8B030D-6E8A-4147-A177-3AD203B41FA5}">
                      <a16:colId xmlns:a16="http://schemas.microsoft.com/office/drawing/2014/main" val="479403381"/>
                    </a:ext>
                  </a:extLst>
                </a:gridCol>
                <a:gridCol w="1004947">
                  <a:extLst>
                    <a:ext uri="{9D8B030D-6E8A-4147-A177-3AD203B41FA5}">
                      <a16:colId xmlns:a16="http://schemas.microsoft.com/office/drawing/2014/main" val="987919710"/>
                    </a:ext>
                  </a:extLst>
                </a:gridCol>
                <a:gridCol w="1163607">
                  <a:extLst>
                    <a:ext uri="{9D8B030D-6E8A-4147-A177-3AD203B41FA5}">
                      <a16:colId xmlns:a16="http://schemas.microsoft.com/office/drawing/2014/main" val="1649545621"/>
                    </a:ext>
                  </a:extLst>
                </a:gridCol>
                <a:gridCol w="911293">
                  <a:extLst>
                    <a:ext uri="{9D8B030D-6E8A-4147-A177-3AD203B41FA5}">
                      <a16:colId xmlns:a16="http://schemas.microsoft.com/office/drawing/2014/main" val="2414342796"/>
                    </a:ext>
                  </a:extLst>
                </a:gridCol>
                <a:gridCol w="1270971">
                  <a:extLst>
                    <a:ext uri="{9D8B030D-6E8A-4147-A177-3AD203B41FA5}">
                      <a16:colId xmlns:a16="http://schemas.microsoft.com/office/drawing/2014/main" val="1250086112"/>
                    </a:ext>
                  </a:extLst>
                </a:gridCol>
              </a:tblGrid>
              <a:tr h="360631">
                <a:tc>
                  <a:txBody>
                    <a:bodyPr/>
                    <a:lstStyle/>
                    <a:p>
                      <a:pPr>
                        <a:lnSpc>
                          <a:spcPct val="150000"/>
                        </a:lnSpc>
                        <a:spcBef>
                          <a:spcPts val="1200"/>
                        </a:spcBef>
                        <a:spcAft>
                          <a:spcPts val="600"/>
                        </a:spcAft>
                        <a:buNone/>
                      </a:pPr>
                      <a:r>
                        <a:rPr lang="en-AU" sz="1200" b="1">
                          <a:solidFill>
                            <a:srgbClr val="FFFFFF"/>
                          </a:solidFill>
                          <a:effectLst/>
                          <a:latin typeface="Arial" panose="020B0604020202020204" pitchFamily="34" charset="0"/>
                          <a:ea typeface="Calibri" panose="020F0502020204030204" pitchFamily="34" charset="0"/>
                          <a:cs typeface="Arial" panose="020B0604020202020204" pitchFamily="34" charset="0"/>
                        </a:rPr>
                        <a:t>12-hour</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200" b="1">
                          <a:solidFill>
                            <a:srgbClr val="FFFFFF"/>
                          </a:solidFill>
                          <a:effectLst/>
                          <a:latin typeface="Arial" panose="020B0604020202020204" pitchFamily="34" charset="0"/>
                          <a:ea typeface="Calibri" panose="020F0502020204030204" pitchFamily="34" charset="0"/>
                          <a:cs typeface="Arial" panose="020B0604020202020204" pitchFamily="34" charset="0"/>
                        </a:rPr>
                        <a:t>24-hour</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200" b="1">
                          <a:solidFill>
                            <a:srgbClr val="FFFFFF"/>
                          </a:solidFill>
                          <a:effectLst/>
                          <a:latin typeface="Arial" panose="020B0604020202020204" pitchFamily="34" charset="0"/>
                          <a:ea typeface="Calibri" panose="020F0502020204030204" pitchFamily="34" charset="0"/>
                          <a:cs typeface="Arial" panose="020B0604020202020204" pitchFamily="34" charset="0"/>
                        </a:rPr>
                        <a:t>Monday</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200" b="1">
                          <a:solidFill>
                            <a:srgbClr val="FFFFFF"/>
                          </a:solidFill>
                          <a:effectLst/>
                          <a:latin typeface="Arial" panose="020B0604020202020204" pitchFamily="34" charset="0"/>
                          <a:ea typeface="Calibri" panose="020F0502020204030204" pitchFamily="34" charset="0"/>
                          <a:cs typeface="Arial" panose="020B0604020202020204" pitchFamily="34" charset="0"/>
                        </a:rPr>
                        <a:t>Tuesday</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200" b="1">
                          <a:solidFill>
                            <a:srgbClr val="FFFFFF"/>
                          </a:solidFill>
                          <a:effectLst/>
                          <a:latin typeface="Arial" panose="020B0604020202020204" pitchFamily="34" charset="0"/>
                          <a:ea typeface="Calibri" panose="020F0502020204030204" pitchFamily="34" charset="0"/>
                          <a:cs typeface="Arial" panose="020B0604020202020204" pitchFamily="34" charset="0"/>
                        </a:rPr>
                        <a:t>Wednesday</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200" b="1">
                          <a:solidFill>
                            <a:srgbClr val="FFFFFF"/>
                          </a:solidFill>
                          <a:effectLst/>
                          <a:latin typeface="Arial" panose="020B0604020202020204" pitchFamily="34" charset="0"/>
                          <a:ea typeface="Calibri" panose="020F0502020204030204" pitchFamily="34" charset="0"/>
                          <a:cs typeface="Arial" panose="020B0604020202020204" pitchFamily="34" charset="0"/>
                        </a:rPr>
                        <a:t>Thursday</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200" b="1">
                          <a:solidFill>
                            <a:srgbClr val="FFFFFF"/>
                          </a:solidFill>
                          <a:effectLst/>
                          <a:latin typeface="Arial" panose="020B0604020202020204" pitchFamily="34" charset="0"/>
                          <a:ea typeface="Calibri" panose="020F0502020204030204" pitchFamily="34" charset="0"/>
                          <a:cs typeface="Arial" panose="020B0604020202020204" pitchFamily="34" charset="0"/>
                        </a:rPr>
                        <a:t>Friday</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4024071901"/>
                  </a:ext>
                </a:extLst>
              </a:tr>
              <a:tr h="365407">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8:30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08:30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3289591169"/>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9:00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09:00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Sport</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ED2F1"/>
                    </a:solidFill>
                  </a:tcPr>
                </a:tc>
                <a:extLst>
                  <a:ext uri="{0D108BD9-81ED-4DB2-BD59-A6C34878D82A}">
                    <a16:rowId xmlns:a16="http://schemas.microsoft.com/office/drawing/2014/main" val="4138214849"/>
                  </a:ext>
                </a:extLst>
              </a:tr>
              <a:tr h="365407">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9:30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09:30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Sport</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ED2F1"/>
                    </a:solidFill>
                  </a:tcPr>
                </a:tc>
                <a:extLst>
                  <a:ext uri="{0D108BD9-81ED-4DB2-BD59-A6C34878D82A}">
                    <a16:rowId xmlns:a16="http://schemas.microsoft.com/office/drawing/2014/main" val="487740359"/>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10:00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10:00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504007453"/>
                  </a:ext>
                </a:extLst>
              </a:tr>
              <a:tr h="365407">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10:30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10:30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243016649"/>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11:00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11:00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700935346"/>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11:30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11:30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3344764553"/>
                  </a:ext>
                </a:extLst>
              </a:tr>
              <a:tr h="365407">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12:00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12:00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3538665472"/>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12:30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12:30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3707573588"/>
                  </a:ext>
                </a:extLst>
              </a:tr>
              <a:tr h="365407">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13:00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95076285"/>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1:30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13:30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D8D93"/>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D8D93"/>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CCFC"/>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CCFC"/>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Science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FDD3"/>
                    </a:solidFill>
                  </a:tcPr>
                </a:tc>
                <a:extLst>
                  <a:ext uri="{0D108BD9-81ED-4DB2-BD59-A6C34878D82A}">
                    <a16:rowId xmlns:a16="http://schemas.microsoft.com/office/drawing/2014/main" val="1188944596"/>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2:00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14:00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D8D93"/>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Library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3F5ED"/>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CCFC"/>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Science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FDD3"/>
                    </a:solidFill>
                  </a:tcPr>
                </a:tc>
                <a:extLst>
                  <a:ext uri="{0D108BD9-81ED-4DB2-BD59-A6C34878D82A}">
                    <a16:rowId xmlns:a16="http://schemas.microsoft.com/office/drawing/2014/main" val="2737556381"/>
                  </a:ext>
                </a:extLst>
              </a:tr>
              <a:tr h="365407">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2:30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14:30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D8D93"/>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Assembly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3F5ED"/>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CCFC"/>
                    </a:solidFill>
                  </a:tcPr>
                </a:tc>
                <a:tc>
                  <a:txBody>
                    <a:bodyPr/>
                    <a:lstStyle/>
                    <a:p>
                      <a:pPr>
                        <a:lnSpc>
                          <a:spcPct val="150000"/>
                        </a:lnSpc>
                        <a:spcBef>
                          <a:spcPts val="1200"/>
                        </a:spcBef>
                        <a:spcAft>
                          <a:spcPts val="600"/>
                        </a:spcAft>
                        <a:buNone/>
                      </a:pPr>
                      <a:r>
                        <a:rPr lang="en-AU" sz="1100">
                          <a:solidFill>
                            <a:srgbClr val="000000"/>
                          </a:solidFill>
                          <a:effectLst/>
                          <a:latin typeface="Arial" panose="020B0604020202020204" pitchFamily="34" charset="0"/>
                          <a:ea typeface="Calibri" panose="020F0502020204030204" pitchFamily="34" charset="0"/>
                          <a:cs typeface="Arial" panose="020B0604020202020204" pitchFamily="34" charset="0"/>
                        </a:rPr>
                        <a:t>Science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FDD3"/>
                    </a:solidFill>
                  </a:tcPr>
                </a:tc>
                <a:extLst>
                  <a:ext uri="{0D108BD9-81ED-4DB2-BD59-A6C34878D82A}">
                    <a16:rowId xmlns:a16="http://schemas.microsoft.com/office/drawing/2014/main" val="2815366493"/>
                  </a:ext>
                </a:extLst>
              </a:tr>
              <a:tr h="360631">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3:00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b="1">
                          <a:solidFill>
                            <a:srgbClr val="000000"/>
                          </a:solidFill>
                          <a:effectLst/>
                          <a:latin typeface="Arial" panose="020B0604020202020204" pitchFamily="34" charset="0"/>
                          <a:ea typeface="Calibri" panose="020F0502020204030204" pitchFamily="34" charset="0"/>
                          <a:cs typeface="Arial" panose="020B0604020202020204" pitchFamily="34" charset="0"/>
                        </a:rPr>
                        <a:t>15:00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pPr>
                        <a:lnSpc>
                          <a:spcPct val="150000"/>
                        </a:lnSpc>
                        <a:spcBef>
                          <a:spcPts val="1200"/>
                        </a:spcBef>
                        <a:spcAft>
                          <a:spcPts val="600"/>
                        </a:spcAft>
                        <a:buNone/>
                      </a:pPr>
                      <a:r>
                        <a:rPr lang="en-AU" sz="1100">
                          <a:effectLst/>
                          <a:latin typeface="Arial" panose="020B0604020202020204" pitchFamily="34" charset="0"/>
                          <a:ea typeface="Calibri" panose="020F0502020204030204" pitchFamily="34" charset="0"/>
                          <a:cs typeface="Arial" panose="020B0604020202020204" pitchFamily="34" charset="0"/>
                        </a:rPr>
                        <a:t> </a:t>
                      </a:r>
                    </a:p>
                  </a:txBody>
                  <a:tcPr marL="43039" marR="43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2706730791"/>
                  </a:ext>
                </a:extLst>
              </a:tr>
            </a:tbl>
          </a:graphicData>
        </a:graphic>
      </p:graphicFrame>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7616B8F-AE0C-A49A-82F3-800BFB09483D}"/>
              </a:ext>
            </a:extLst>
          </p:cNvPr>
          <p:cNvSpPr txBox="1"/>
          <p:nvPr/>
        </p:nvSpPr>
        <p:spPr>
          <a:xfrm>
            <a:off x="229243" y="905601"/>
            <a:ext cx="11602757" cy="2631688"/>
          </a:xfrm>
          <a:prstGeom prst="rect">
            <a:avLst/>
          </a:prstGeom>
          <a:noFill/>
        </p:spPr>
        <p:txBody>
          <a:bodyPr wrap="square" lIns="0" tIns="0" rIns="0" bIns="0" rtlCol="0">
            <a:noAutofit/>
          </a:bodyPr>
          <a:lstStyle/>
          <a:p>
            <a:pPr algn="ctr">
              <a:lnSpc>
                <a:spcPct val="150000"/>
              </a:lnSpc>
            </a:pPr>
            <a:r>
              <a:rPr lang="en-AU" sz="4400"/>
              <a:t>Danielle packed </a:t>
            </a:r>
            <a:r>
              <a:rPr lang="en-AU" sz="4400" b="1"/>
              <a:t>28.8 kg </a:t>
            </a:r>
            <a:r>
              <a:rPr lang="en-AU" sz="4400"/>
              <a:t>in her suitcase. On her trip, she </a:t>
            </a:r>
            <a:r>
              <a:rPr lang="en-AU" sz="4400" b="1"/>
              <a:t>bought 4.3 kg </a:t>
            </a:r>
            <a:r>
              <a:rPr lang="en-AU" sz="4400"/>
              <a:t>of souvenirs.</a:t>
            </a:r>
          </a:p>
          <a:p>
            <a:pPr algn="ctr">
              <a:lnSpc>
                <a:spcPct val="150000"/>
              </a:lnSpc>
            </a:pPr>
            <a:r>
              <a:rPr lang="en-AU" sz="4400"/>
              <a:t>Her suitcase </a:t>
            </a:r>
            <a:r>
              <a:rPr lang="en-AU" sz="4400" b="1"/>
              <a:t>can only weigh 32 kg </a:t>
            </a:r>
            <a:r>
              <a:rPr lang="en-AU" sz="4400"/>
              <a:t>for the flight home. Has she gone </a:t>
            </a:r>
            <a:r>
              <a:rPr lang="en-AU" sz="4400" b="1"/>
              <a:t>over the limit</a:t>
            </a:r>
            <a:r>
              <a:rPr lang="en-AU" sz="4400"/>
              <a:t>?</a:t>
            </a:r>
          </a:p>
          <a:p>
            <a:pPr algn="ctr">
              <a:lnSpc>
                <a:spcPct val="150000"/>
              </a:lnSpc>
            </a:pPr>
            <a:endParaRPr lang="en-AU" sz="2200"/>
          </a:p>
          <a:p>
            <a:pPr algn="ctr">
              <a:lnSpc>
                <a:spcPct val="150000"/>
              </a:lnSpc>
            </a:pPr>
            <a:r>
              <a:rPr lang="en-AU" sz="4400" b="1"/>
              <a:t>Communicate </a:t>
            </a:r>
            <a:r>
              <a:rPr lang="en-AU" sz="4400"/>
              <a:t>your </a:t>
            </a:r>
            <a:r>
              <a:rPr lang="en-AU" sz="4400" b="1"/>
              <a:t>reasoning</a:t>
            </a:r>
            <a:r>
              <a:rPr lang="en-AU" sz="440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F017EAE-C887-358A-9464-8704AA996DED}"/>
              </a:ext>
            </a:extLst>
          </p:cNvPr>
          <p:cNvSpPr txBox="1"/>
          <p:nvPr/>
        </p:nvSpPr>
        <p:spPr>
          <a:xfrm>
            <a:off x="246025" y="1170267"/>
            <a:ext cx="11597976" cy="1454332"/>
          </a:xfrm>
          <a:prstGeom prst="rect">
            <a:avLst/>
          </a:prstGeom>
          <a:noFill/>
        </p:spPr>
        <p:txBody>
          <a:bodyPr wrap="square" lIns="0" tIns="0" rIns="0" bIns="0" rtlCol="0">
            <a:noAutofit/>
          </a:bodyPr>
          <a:lstStyle/>
          <a:p>
            <a:pPr algn="ctr">
              <a:lnSpc>
                <a:spcPct val="150000"/>
              </a:lnSpc>
            </a:pPr>
            <a:r>
              <a:rPr lang="en-AU" sz="4000"/>
              <a:t>Draw a </a:t>
            </a:r>
            <a:r>
              <a:rPr lang="en-AU" sz="4000" b="1"/>
              <a:t>number line </a:t>
            </a:r>
            <a:r>
              <a:rPr lang="en-AU" sz="4000"/>
              <a:t>from 0 to 2. </a:t>
            </a:r>
          </a:p>
          <a:p>
            <a:pPr algn="ctr">
              <a:lnSpc>
                <a:spcPct val="150000"/>
              </a:lnSpc>
            </a:pPr>
            <a:r>
              <a:rPr lang="en-AU" sz="4000"/>
              <a:t>Place these </a:t>
            </a:r>
            <a:r>
              <a:rPr lang="en-AU" sz="4000" b="1"/>
              <a:t>decimals</a:t>
            </a:r>
            <a:r>
              <a:rPr lang="en-AU" sz="4000"/>
              <a:t> in order on the </a:t>
            </a:r>
            <a:r>
              <a:rPr lang="en-AU" sz="4000" b="1"/>
              <a:t>number line. </a:t>
            </a:r>
          </a:p>
          <a:p>
            <a:pPr algn="ctr">
              <a:lnSpc>
                <a:spcPct val="150000"/>
              </a:lnSpc>
            </a:pPr>
            <a:r>
              <a:rPr lang="en-AU" sz="4400"/>
              <a:t>0.98</a:t>
            </a:r>
            <a:endParaRPr lang="en-AU" sz="4400" dirty="0"/>
          </a:p>
          <a:p>
            <a:pPr algn="ctr">
              <a:lnSpc>
                <a:spcPct val="150000"/>
              </a:lnSpc>
            </a:pPr>
            <a:r>
              <a:rPr lang="en-AU" sz="4400"/>
              <a:t>1.20</a:t>
            </a:r>
            <a:endParaRPr lang="en-AU" sz="4400" dirty="0"/>
          </a:p>
          <a:p>
            <a:pPr algn="ctr">
              <a:lnSpc>
                <a:spcPct val="150000"/>
              </a:lnSpc>
            </a:pPr>
            <a:r>
              <a:rPr lang="en-AU" sz="4400"/>
              <a:t>1.02</a:t>
            </a:r>
            <a:endParaRPr lang="en-AU" sz="4400" dirty="0"/>
          </a:p>
          <a:p>
            <a:pPr algn="ctr">
              <a:lnSpc>
                <a:spcPct val="150000"/>
              </a:lnSpc>
            </a:pPr>
            <a:r>
              <a:rPr lang="en-AU" sz="4400"/>
              <a:t>0.12</a:t>
            </a:r>
            <a:endParaRPr lang="en-AU" sz="4400" dirty="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D876805-8077-BA75-6BDB-CDB78ABD62F8}"/>
              </a:ext>
            </a:extLst>
          </p:cNvPr>
          <p:cNvSpPr txBox="1"/>
          <p:nvPr/>
        </p:nvSpPr>
        <p:spPr>
          <a:xfrm>
            <a:off x="360000" y="1222282"/>
            <a:ext cx="11077257" cy="5045164"/>
          </a:xfrm>
          <a:prstGeom prst="rect">
            <a:avLst/>
          </a:prstGeom>
          <a:noFill/>
        </p:spPr>
        <p:txBody>
          <a:bodyPr wrap="square">
            <a:spAutoFit/>
          </a:bodyPr>
          <a:lstStyle/>
          <a:p>
            <a:pPr algn="ctr">
              <a:lnSpc>
                <a:spcPct val="150000"/>
              </a:lnSpc>
            </a:pPr>
            <a:r>
              <a:rPr lang="en-AU" sz="4400" b="1"/>
              <a:t>Convert</a:t>
            </a:r>
            <a:r>
              <a:rPr lang="en-AU" sz="4400"/>
              <a:t> the following to </a:t>
            </a:r>
            <a:r>
              <a:rPr lang="en-AU" sz="4400" b="1"/>
              <a:t>12-hour time</a:t>
            </a:r>
            <a:r>
              <a:rPr lang="en-AU" sz="4400"/>
              <a:t>:</a:t>
            </a:r>
          </a:p>
          <a:p>
            <a:pPr marL="571500" indent="-571500" algn="ctr">
              <a:lnSpc>
                <a:spcPct val="150000"/>
              </a:lnSpc>
              <a:buFont typeface="Arial" panose="020B0604020202020204" pitchFamily="34" charset="0"/>
              <a:buChar char="•"/>
            </a:pPr>
            <a:r>
              <a:rPr lang="en-AU" sz="4400"/>
              <a:t>2200 hours</a:t>
            </a:r>
          </a:p>
          <a:p>
            <a:pPr marL="571500" indent="-571500" algn="ctr">
              <a:lnSpc>
                <a:spcPct val="150000"/>
              </a:lnSpc>
              <a:buFont typeface="Arial" panose="020B0604020202020204" pitchFamily="34" charset="0"/>
              <a:buChar char="•"/>
            </a:pPr>
            <a:r>
              <a:rPr lang="en-AU" sz="4400"/>
              <a:t>0846 hours </a:t>
            </a:r>
          </a:p>
          <a:p>
            <a:pPr marL="571500" indent="-571500" algn="ctr">
              <a:lnSpc>
                <a:spcPct val="150000"/>
              </a:lnSpc>
              <a:buFont typeface="Arial" panose="020B0604020202020204" pitchFamily="34" charset="0"/>
              <a:buChar char="•"/>
            </a:pPr>
            <a:r>
              <a:rPr lang="en-AU" sz="4400"/>
              <a:t>1732 hours</a:t>
            </a:r>
          </a:p>
          <a:p>
            <a:pPr marL="571500" indent="-571500" algn="ctr">
              <a:lnSpc>
                <a:spcPct val="150000"/>
              </a:lnSpc>
              <a:buFont typeface="Arial" panose="020B0604020202020204" pitchFamily="34" charset="0"/>
              <a:buChar char="•"/>
            </a:pPr>
            <a:r>
              <a:rPr lang="en-AU" sz="4400"/>
              <a:t>1355 hours</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halves and quarters fractions hunt</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CEFCA02-46E4-2387-69FC-7BEDD29F33BF}"/>
                  </a:ext>
                </a:extLst>
              </p:cNvPr>
              <p:cNvSpPr txBox="1"/>
              <p:nvPr/>
            </p:nvSpPr>
            <p:spPr>
              <a:xfrm>
                <a:off x="1131951" y="2361848"/>
                <a:ext cx="9928098" cy="1067152"/>
              </a:xfrm>
              <a:prstGeom prst="rect">
                <a:avLst/>
              </a:prstGeom>
              <a:noFill/>
            </p:spPr>
            <p:txBody>
              <a:bodyPr wrap="square">
                <a:spAutoFit/>
              </a:bodyPr>
              <a:lstStyle/>
              <a:p>
                <a:r>
                  <a:rPr lang="en-AU" sz="4400">
                    <a:latin typeface="Arial" panose="020B0604020202020204" pitchFamily="34" charset="0"/>
                    <a:ea typeface="Calibri" panose="020F0502020204030204" pitchFamily="34" charset="0"/>
                  </a:rPr>
                  <a:t>W</a:t>
                </a:r>
                <a:r>
                  <a:rPr lang="en-AU" sz="4400">
                    <a:effectLst/>
                    <a:latin typeface="Arial" panose="020B0604020202020204" pitchFamily="34" charset="0"/>
                    <a:ea typeface="Calibri" panose="020F0502020204030204" pitchFamily="34" charset="0"/>
                  </a:rPr>
                  <a:t>hich is bigger: </a:t>
                </a:r>
                <a14:m>
                  <m:oMath xmlns:m="http://schemas.openxmlformats.org/officeDocument/2006/math">
                    <m:f>
                      <m:fPr>
                        <m:ctrlPr>
                          <a:rPr lang="en-AU" sz="4400" b="1" i="1">
                            <a:effectLst/>
                            <a:latin typeface="Cambria Math" panose="02040503050406030204" pitchFamily="18" charset="0"/>
                          </a:rPr>
                        </m:ctrlPr>
                      </m:fPr>
                      <m:num>
                        <m:r>
                          <a:rPr lang="en-AU" sz="44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4400" b="1" i="1">
                            <a:effectLst/>
                            <a:latin typeface="Cambria Math" panose="02040503050406030204" pitchFamily="18" charset="0"/>
                            <a:ea typeface="Calibri" panose="020F0502020204030204" pitchFamily="34" charset="0"/>
                            <a:cs typeface="Arial" panose="020B0604020202020204" pitchFamily="34" charset="0"/>
                          </a:rPr>
                          <m:t>𝟐</m:t>
                        </m:r>
                      </m:den>
                    </m:f>
                  </m:oMath>
                </a14:m>
                <a:r>
                  <a:rPr lang="en-AU" sz="4400" b="1">
                    <a:effectLst/>
                    <a:latin typeface="Arial" panose="020B0604020202020204" pitchFamily="34" charset="0"/>
                    <a:ea typeface="Calibri" panose="020F0502020204030204" pitchFamily="34" charset="0"/>
                  </a:rPr>
                  <a:t> </a:t>
                </a:r>
                <a:r>
                  <a:rPr lang="en-AU" sz="4400">
                    <a:effectLst/>
                    <a:latin typeface="Arial" panose="020B0604020202020204" pitchFamily="34" charset="0"/>
                    <a:ea typeface="Calibri" panose="020F0502020204030204" pitchFamily="34" charset="0"/>
                  </a:rPr>
                  <a:t>of this or</a:t>
                </a:r>
                <a:r>
                  <a:rPr lang="en-AU" sz="4400" b="1">
                    <a:effectLst/>
                    <a:latin typeface="Arial" panose="020B0604020202020204" pitchFamily="34" charset="0"/>
                    <a:ea typeface="Calibri" panose="020F0502020204030204" pitchFamily="34" charset="0"/>
                  </a:rPr>
                  <a:t> </a:t>
                </a:r>
                <a14:m>
                  <m:oMath xmlns:m="http://schemas.openxmlformats.org/officeDocument/2006/math">
                    <m:f>
                      <m:fPr>
                        <m:ctrlPr>
                          <a:rPr lang="en-AU" sz="4400" b="1" i="1">
                            <a:effectLst/>
                            <a:latin typeface="Cambria Math" panose="02040503050406030204" pitchFamily="18" charset="0"/>
                          </a:rPr>
                        </m:ctrlPr>
                      </m:fPr>
                      <m:num>
                        <m:r>
                          <a:rPr lang="en-AU" sz="44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4400" b="1" i="1">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4400" b="1">
                    <a:effectLst/>
                    <a:latin typeface="Arial" panose="020B0604020202020204" pitchFamily="34" charset="0"/>
                    <a:ea typeface="Calibri" panose="020F0502020204030204" pitchFamily="34" charset="0"/>
                  </a:rPr>
                  <a:t> </a:t>
                </a:r>
                <a:r>
                  <a:rPr lang="en-AU" sz="4400">
                    <a:effectLst/>
                    <a:latin typeface="Arial" panose="020B0604020202020204" pitchFamily="34" charset="0"/>
                    <a:ea typeface="Calibri" panose="020F0502020204030204" pitchFamily="34" charset="0"/>
                  </a:rPr>
                  <a:t>of that?</a:t>
                </a:r>
                <a:endParaRPr lang="en-AU" sz="4400"/>
              </a:p>
            </p:txBody>
          </p:sp>
        </mc:Choice>
        <mc:Fallback xmlns="">
          <p:sp>
            <p:nvSpPr>
              <p:cNvPr id="8" name="TextBox 7">
                <a:extLst>
                  <a:ext uri="{FF2B5EF4-FFF2-40B4-BE49-F238E27FC236}">
                    <a16:creationId xmlns:a16="http://schemas.microsoft.com/office/drawing/2014/main" id="{DCEFCA02-46E4-2387-69FC-7BEDD29F33BF}"/>
                  </a:ext>
                </a:extLst>
              </p:cNvPr>
              <p:cNvSpPr txBox="1">
                <a:spLocks noRot="1" noChangeAspect="1" noMove="1" noResize="1" noEditPoints="1" noAdjustHandles="1" noChangeArrowheads="1" noChangeShapeType="1" noTextEdit="1"/>
              </p:cNvSpPr>
              <p:nvPr/>
            </p:nvSpPr>
            <p:spPr>
              <a:xfrm>
                <a:off x="1131951" y="2361848"/>
                <a:ext cx="9928098" cy="1067152"/>
              </a:xfrm>
              <a:prstGeom prst="rect">
                <a:avLst/>
              </a:prstGeom>
              <a:blipFill>
                <a:blip r:embed="rId4"/>
                <a:stretch>
                  <a:fillRect l="-2518" b="-10795"/>
                </a:stretch>
              </a:blipFill>
            </p:spPr>
            <p:txBody>
              <a:bodyPr/>
              <a:lstStyle/>
              <a:p>
                <a:r>
                  <a:rPr lang="en-US">
                    <a:noFill/>
                  </a:rPr>
                  <a:t> </a:t>
                </a:r>
              </a:p>
            </p:txBody>
          </p:sp>
        </mc:Fallback>
      </mc:AlternateContent>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0"/>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0"/>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0"/>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0"/>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0"/>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0"/>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2" name="Slide Number Placeholder 1">
            <a:extLst>
              <a:ext uri="{FF2B5EF4-FFF2-40B4-BE49-F238E27FC236}">
                <a16:creationId xmlns:a16="http://schemas.microsoft.com/office/drawing/2014/main" id="{3FE470CA-37B9-5866-8D09-298FF55EE98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196370" y="3284385"/>
            <a:ext cx="11484000" cy="2927351"/>
          </a:xfrm>
        </p:spPr>
        <p:txBody>
          <a:bodyPr/>
          <a:lstStyle/>
          <a:p>
            <a:pPr fontAlgn="base"/>
            <a:r>
              <a:rPr lang="en-AU" u="sng">
                <a:hlinkClick r:id="rId6"/>
              </a:rPr>
              <a:t>Mathematics K–10 Syllabus</a:t>
            </a:r>
            <a:r>
              <a:rPr lang="en-AU"/>
              <a:t> © NSW Education Standards Authority (NESA) for and on behalf of the Crown in right of the State of New South Wales, 2022. </a:t>
            </a:r>
          </a:p>
          <a:p>
            <a:pPr fontAlgn="base"/>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22 July 2025) and was not modified. </a:t>
            </a:r>
          </a:p>
          <a:p>
            <a:pPr fontAlgn="base"/>
            <a:endParaRPr lang="en-AU"/>
          </a:p>
          <a:p>
            <a:pPr fontAlgn="base"/>
            <a:r>
              <a:rPr lang="en-AU"/>
              <a:t>Downton, A., Knight, R., Clarke, D., &amp; Lewis, G. (2021). </a:t>
            </a:r>
            <a:r>
              <a:rPr lang="en-AU" i="1"/>
              <a:t>‘Travel Plans’.</a:t>
            </a:r>
            <a:r>
              <a:rPr lang="en-AU"/>
              <a:t> In </a:t>
            </a:r>
            <a:r>
              <a:rPr lang="en-AU" i="1"/>
              <a:t>Mathematics assessment for learning: Rich tasks and work samples</a:t>
            </a:r>
            <a:r>
              <a:rPr lang="en-AU"/>
              <a:t> (3rd ed.). Australian Council for Educational Research.</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02F466-D35D-4B22-AC1E-2BB4AE742344}"/>
</file>

<file path=customXml/itemProps2.xml><?xml version="1.0" encoding="utf-8"?>
<ds:datastoreItem xmlns:ds="http://schemas.openxmlformats.org/officeDocument/2006/customXml" ds:itemID="{92A79ED5-3D27-435D-B83C-BD2537F20B0A}">
  <ds:schemaRef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www.w3.org/XML/1998/namespace"/>
    <ds:schemaRef ds:uri="60129b06-f64b-40a8-96e2-c5b2f86112b1"/>
    <ds:schemaRef ds:uri="http://schemas.microsoft.com/office/infopath/2007/PartnerControls"/>
    <ds:schemaRef ds:uri="7e763d47-3c66-4c58-9425-1477fd3ccd1e"/>
    <ds:schemaRef ds:uri="http://purl.org/dc/terms/"/>
  </ds:schemaRefs>
</ds:datastoreItem>
</file>

<file path=customXml/itemProps3.xml><?xml version="1.0" encoding="utf-8"?>
<ds:datastoreItem xmlns:ds="http://schemas.openxmlformats.org/officeDocument/2006/customXml" ds:itemID="{1E00DA3D-9F99-458E-9DAB-0CE3DD324C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Template>
  <TotalTime>1</TotalTime>
  <Words>5788</Words>
  <Application>Microsoft Office PowerPoint</Application>
  <PresentationFormat>Widescreen</PresentationFormat>
  <Paragraphs>948</Paragraphs>
  <Slides>68</Slides>
  <Notes>68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Wingdings</vt:lpstr>
      <vt:lpstr>Arial</vt:lpstr>
      <vt:lpstr>Times New Roman</vt:lpstr>
      <vt:lpstr>Calibri</vt:lpstr>
      <vt:lpstr>Cambria Math</vt:lpstr>
      <vt:lpstr>Public Sans</vt:lpstr>
      <vt:lpstr>Montserrat</vt:lpstr>
      <vt:lpstr>Public Sans Light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efficient addition strategies</vt:lpstr>
      <vt:lpstr>Review of learning 2</vt:lpstr>
      <vt:lpstr>True or false (1)</vt:lpstr>
      <vt:lpstr>Short response (5)</vt:lpstr>
      <vt:lpstr>Short response (6)</vt:lpstr>
      <vt:lpstr>Short response (7)</vt:lpstr>
      <vt:lpstr>Short response (8)</vt:lpstr>
      <vt:lpstr>Activity 2 – multi-step word problems 1</vt:lpstr>
      <vt:lpstr>Review of learning 3</vt:lpstr>
      <vt:lpstr>Multiple choice (2)</vt:lpstr>
      <vt:lpstr>Short response (9)</vt:lpstr>
      <vt:lpstr>Short response (10)</vt:lpstr>
      <vt:lpstr>Short response (11)</vt:lpstr>
      <vt:lpstr>Short response (12)</vt:lpstr>
      <vt:lpstr>Activity 3 – multi-step word problem 2</vt:lpstr>
      <vt:lpstr>Review of learning 4</vt:lpstr>
      <vt:lpstr>True or false (2)</vt:lpstr>
      <vt:lpstr>Short response (13)</vt:lpstr>
      <vt:lpstr>Short response (14)</vt:lpstr>
      <vt:lpstr>Short response (15)</vt:lpstr>
      <vt:lpstr>Short response (16)</vt:lpstr>
      <vt:lpstr>Activity 4 – multi-step word problem 3</vt:lpstr>
      <vt:lpstr>Review of learning 5</vt:lpstr>
      <vt:lpstr>Multiple choice (3)</vt:lpstr>
      <vt:lpstr>Short response (17)</vt:lpstr>
      <vt:lpstr>Short response (18)</vt:lpstr>
      <vt:lpstr>Short response (19)</vt:lpstr>
      <vt:lpstr>Short response (20)</vt:lpstr>
      <vt:lpstr>Activity 5 – different sized wholes 1</vt:lpstr>
      <vt:lpstr>Review of learning 6</vt:lpstr>
      <vt:lpstr>True or false (3)</vt:lpstr>
      <vt:lpstr>Short response (21)</vt:lpstr>
      <vt:lpstr>Short response (22)</vt:lpstr>
      <vt:lpstr>Short response (23)</vt:lpstr>
      <vt:lpstr>Short response (24)</vt:lpstr>
      <vt:lpstr>Activity 6 – different sized wholes 2</vt:lpstr>
      <vt:lpstr>Review of learning 7</vt:lpstr>
      <vt:lpstr>Multiple choice (4)</vt:lpstr>
      <vt:lpstr>Short response (25)</vt:lpstr>
      <vt:lpstr>Short response (26)</vt:lpstr>
      <vt:lpstr>Short response (27)</vt:lpstr>
      <vt:lpstr>Short response (28)</vt:lpstr>
      <vt:lpstr>Activity 7 – comparing halves and quarters</vt:lpstr>
      <vt:lpstr>Review of learning 8</vt:lpstr>
      <vt:lpstr>True or false (4)</vt:lpstr>
      <vt:lpstr>Short response (29)</vt:lpstr>
      <vt:lpstr>Short response (30)</vt:lpstr>
      <vt:lpstr>Short response (31)</vt:lpstr>
      <vt:lpstr>Short response (32)</vt:lpstr>
      <vt:lpstr>Activity 8 – halves and quarters fractions hunt</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2025-11-26T22:10:15Z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