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9"/>
  </p:notesMasterIdLst>
  <p:handoutMasterIdLst>
    <p:handoutMasterId r:id="rId80"/>
  </p:handoutMasterIdLst>
  <p:sldIdLst>
    <p:sldId id="365" r:id="rId5"/>
    <p:sldId id="26505" r:id="rId6"/>
    <p:sldId id="26359" r:id="rId7"/>
    <p:sldId id="271" r:id="rId8"/>
    <p:sldId id="26577" r:id="rId9"/>
    <p:sldId id="358" r:id="rId10"/>
    <p:sldId id="26580" r:id="rId11"/>
    <p:sldId id="26581" r:id="rId12"/>
    <p:sldId id="26582" r:id="rId13"/>
    <p:sldId id="26576" r:id="rId14"/>
    <p:sldId id="26651" r:id="rId15"/>
    <p:sldId id="26583" r:id="rId16"/>
    <p:sldId id="26586" r:id="rId17"/>
    <p:sldId id="26587" r:id="rId18"/>
    <p:sldId id="26588" r:id="rId19"/>
    <p:sldId id="26658" r:id="rId20"/>
    <p:sldId id="26590" r:id="rId21"/>
    <p:sldId id="26591" r:id="rId22"/>
    <p:sldId id="26652" r:id="rId23"/>
    <p:sldId id="26653" r:id="rId24"/>
    <p:sldId id="26654" r:id="rId25"/>
    <p:sldId id="26592" r:id="rId26"/>
    <p:sldId id="26593" r:id="rId27"/>
    <p:sldId id="26596" r:id="rId28"/>
    <p:sldId id="26597" r:id="rId29"/>
    <p:sldId id="26598" r:id="rId30"/>
    <p:sldId id="26599" r:id="rId31"/>
    <p:sldId id="26600" r:id="rId32"/>
    <p:sldId id="26601" r:id="rId33"/>
    <p:sldId id="26604" r:id="rId34"/>
    <p:sldId id="26606" r:id="rId35"/>
    <p:sldId id="26657" r:id="rId36"/>
    <p:sldId id="26607" r:id="rId37"/>
    <p:sldId id="26608" r:id="rId38"/>
    <p:sldId id="26609" r:id="rId39"/>
    <p:sldId id="26610" r:id="rId40"/>
    <p:sldId id="26611" r:id="rId41"/>
    <p:sldId id="26614" r:id="rId42"/>
    <p:sldId id="26615" r:id="rId43"/>
    <p:sldId id="26616" r:id="rId44"/>
    <p:sldId id="26617" r:id="rId45"/>
    <p:sldId id="26618" r:id="rId46"/>
    <p:sldId id="26619" r:id="rId47"/>
    <p:sldId id="26622" r:id="rId48"/>
    <p:sldId id="26623" r:id="rId49"/>
    <p:sldId id="26624" r:id="rId50"/>
    <p:sldId id="26625" r:id="rId51"/>
    <p:sldId id="26626" r:id="rId52"/>
    <p:sldId id="26627" r:id="rId53"/>
    <p:sldId id="26628" r:id="rId54"/>
    <p:sldId id="26648" r:id="rId55"/>
    <p:sldId id="26632" r:id="rId56"/>
    <p:sldId id="26633" r:id="rId57"/>
    <p:sldId id="26634" r:id="rId58"/>
    <p:sldId id="26635" r:id="rId59"/>
    <p:sldId id="26636" r:id="rId60"/>
    <p:sldId id="26655" r:id="rId61"/>
    <p:sldId id="26637" r:id="rId62"/>
    <p:sldId id="26640" r:id="rId63"/>
    <p:sldId id="26641" r:id="rId64"/>
    <p:sldId id="26642" r:id="rId65"/>
    <p:sldId id="26643" r:id="rId66"/>
    <p:sldId id="26644" r:id="rId67"/>
    <p:sldId id="26645" r:id="rId68"/>
    <p:sldId id="26656" r:id="rId69"/>
    <p:sldId id="26393" r:id="rId70"/>
    <p:sldId id="26387" r:id="rId71"/>
    <p:sldId id="26395" r:id="rId72"/>
    <p:sldId id="26391" r:id="rId73"/>
    <p:sldId id="26402" r:id="rId74"/>
    <p:sldId id="26507" r:id="rId75"/>
    <p:sldId id="26649" r:id="rId76"/>
    <p:sldId id="360" r:id="rId77"/>
    <p:sldId id="361" r:id="rId78"/>
  </p:sldIdLst>
  <p:sldSz cx="12192000" cy="6858000"/>
  <p:notesSz cx="6858000" cy="9144000"/>
  <p:embeddedFontLst>
    <p:embeddedFont>
      <p:font typeface="Aptos Narrow" panose="020B0004020202020204" pitchFamily="34" charset="0"/>
      <p:regular r:id="rId81"/>
      <p:bold r:id="rId82"/>
      <p:italic r:id="rId83"/>
      <p:boldItalic r:id="rId84"/>
    </p:embeddedFont>
    <p:embeddedFont>
      <p:font typeface="Cambria Math" panose="02040503050406030204" pitchFamily="18" charset="0"/>
      <p:regular r:id="rId85"/>
    </p:embeddedFont>
    <p:embeddedFont>
      <p:font typeface="Edu NSW ACT Foundation" panose="020B0604020202020204" charset="0"/>
      <p:regular r:id="rId86"/>
      <p:bold r:id="rId87"/>
    </p:embeddedFont>
    <p:embeddedFont>
      <p:font typeface="Montserrat" panose="00000500000000000000" pitchFamily="2" charset="0"/>
      <p:regular r:id="rId88"/>
      <p:bold r:id="rId89"/>
      <p:italic r:id="rId90"/>
      <p:boldItalic r:id="rId91"/>
    </p:embeddedFont>
    <p:embeddedFont>
      <p:font typeface="Public Sans" pitchFamily="2" charset="0"/>
      <p:regular r:id="rId92"/>
      <p:bold r:id="rId93"/>
      <p:italic r:id="rId94"/>
      <p:boldItalic r:id="rId95"/>
    </p:embeddedFont>
    <p:embeddedFont>
      <p:font typeface="Public Sans Light" pitchFamily="2" charset="0"/>
      <p:regular r:id="rId96"/>
      <p:italic r:id="rId9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 id="26651"/>
          </p14:sldIdLst>
        </p14:section>
        <p14:section name="Review of learning 2" id="{0AC6BBCB-7E49-46CE-B777-EFCDD4B60F91}">
          <p14:sldIdLst>
            <p14:sldId id="26583"/>
            <p14:sldId id="26586"/>
            <p14:sldId id="26587"/>
            <p14:sldId id="26588"/>
            <p14:sldId id="26658"/>
            <p14:sldId id="26590"/>
            <p14:sldId id="26591"/>
            <p14:sldId id="26652"/>
            <p14:sldId id="26653"/>
            <p14:sldId id="26654"/>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6"/>
            <p14:sldId id="26657"/>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 id="26655"/>
          </p14:sldIdLst>
        </p14:section>
        <p14:section name="Review of learning 8" id="{6FF8F7EC-803E-4F84-BA41-6B3ED673D597}">
          <p14:sldIdLst>
            <p14:sldId id="26637"/>
            <p14:sldId id="26640"/>
            <p14:sldId id="26641"/>
            <p14:sldId id="26642"/>
            <p14:sldId id="26643"/>
            <p14:sldId id="26644"/>
            <p14:sldId id="26645"/>
            <p14:sldId id="26656"/>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 userId="S::Melinda.Ojeda@det.nsw.edu.au::d90aca96-824c-4874-b48e-bcce1db91155"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6AFD"/>
    <a:srgbClr val="87D830"/>
    <a:srgbClr val="EA9B0C"/>
    <a:srgbClr val="007A8A"/>
    <a:srgbClr val="9B6808"/>
    <a:srgbClr val="427B2D"/>
    <a:srgbClr val="B51458"/>
    <a:srgbClr val="00ACC2"/>
    <a:srgbClr val="64BB47"/>
    <a:srgbClr val="EDF9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A3C1-8C26-432E-B3E3-4C5C941955B1}" v="4" dt="2026-06-11T23:25:20.815"/>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105" autoAdjust="0"/>
  </p:normalViewPr>
  <p:slideViewPr>
    <p:cSldViewPr snapToGrid="0">
      <p:cViewPr varScale="1">
        <p:scale>
          <a:sx n="22" d="100"/>
          <a:sy n="22" d="100"/>
        </p:scale>
        <p:origin x="1084" y="4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102" Type="http://schemas.microsoft.com/office/2015/10/relationships/revisionInfo" Target="revisionInfo.xml"/><Relationship Id="rId5" Type="http://schemas.openxmlformats.org/officeDocument/2006/relationships/slide" Target="slides/slide1.xml"/><Relationship Id="rId90" Type="http://schemas.openxmlformats.org/officeDocument/2006/relationships/font" Target="fonts/font10.fntdata"/><Relationship Id="rId95" Type="http://schemas.openxmlformats.org/officeDocument/2006/relationships/font" Target="fonts/font15.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handoutMaster" Target="handoutMasters/handoutMaster1.xml"/><Relationship Id="rId85" Type="http://schemas.openxmlformats.org/officeDocument/2006/relationships/font" Target="fonts/font5.fntdata"/><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font" Target="fonts/font16.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font" Target="fonts/font14.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7.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2.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7.fntdata"/><Relationship Id="rId61" Type="http://schemas.openxmlformats.org/officeDocument/2006/relationships/slide" Target="slides/slide57.xml"/><Relationship Id="rId82" Type="http://schemas.openxmlformats.org/officeDocument/2006/relationships/font" Target="fonts/font2.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3.fntdata"/><Relationship Id="rId98"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33</a:t>
            </a:r>
          </a:p>
          <a:p>
            <a:pPr marL="285750" indent="-285750">
              <a:buFont typeface="Arial" panose="020B0604020202020204" pitchFamily="34" charset="0"/>
              <a:buChar char="•"/>
            </a:pPr>
            <a:r>
              <a:rPr lang="en-AU"/>
              <a:t>Stage 2 Year B Unit 32</a:t>
            </a:r>
          </a:p>
          <a:p>
            <a:pPr marL="285750" indent="-285750">
              <a:buFont typeface="Arial" panose="020B0604020202020204" pitchFamily="34" charset="0"/>
              <a:buChar char="•"/>
            </a:pPr>
            <a:r>
              <a:rPr lang="en-AU"/>
              <a:t>Stage 2 Year B Unit 31</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numbers using place value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b="1"/>
              <a:t>Note:</a:t>
            </a:r>
            <a:r>
              <a:rPr lang="en-AU" b="0"/>
              <a:t> 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Multiples madness</a:t>
            </a:r>
          </a:p>
          <a:p>
            <a:r>
              <a:rPr lang="en-AU" b="0"/>
              <a:t>This resource corresponds to Resource 16 –  multiplication </a:t>
            </a:r>
            <a:r>
              <a:rPr lang="en-AU" sz="1600" b="0" kern="1200">
                <a:solidFill>
                  <a:schemeClr val="tx1"/>
                </a:solidFill>
                <a:latin typeface="Arial" panose="020B0604020202020204" pitchFamily="34" charset="0"/>
                <a:ea typeface="+mn-ea"/>
                <a:cs typeface="Arial" panose="020B0604020202020204" pitchFamily="34" charset="0"/>
              </a:rPr>
              <a:t>chart, </a:t>
            </a:r>
            <a:r>
              <a:rPr lang="en-AU" sz="1600" b="0" i="0" kern="1200">
                <a:solidFill>
                  <a:schemeClr val="tx1"/>
                </a:solidFill>
                <a:effectLst/>
                <a:latin typeface="Arial" panose="020B0604020202020204" pitchFamily="34" charset="0"/>
                <a:ea typeface="+mn-ea"/>
                <a:cs typeface="Arial" panose="020B0604020202020204" pitchFamily="34" charset="0"/>
              </a:rPr>
              <a:t>Resource 17 </a:t>
            </a:r>
            <a:r>
              <a:rPr lang="en-AU" b="0"/>
              <a:t>– </a:t>
            </a:r>
            <a:r>
              <a:rPr lang="en-AU" sz="1600" b="0" i="0" kern="1200">
                <a:solidFill>
                  <a:schemeClr val="tx1"/>
                </a:solidFill>
                <a:effectLst/>
                <a:latin typeface="Arial" panose="020B0604020202020204" pitchFamily="34" charset="0"/>
                <a:ea typeface="+mn-ea"/>
                <a:cs typeface="Arial" panose="020B0604020202020204" pitchFamily="34" charset="0"/>
              </a:rPr>
              <a:t>multiples madness </a:t>
            </a:r>
            <a:r>
              <a:rPr lang="en-AU" sz="1600" b="0" u="none" kern="1200">
                <a:solidFill>
                  <a:schemeClr val="tx1"/>
                </a:solidFill>
                <a:latin typeface="Arial" panose="020B0604020202020204" pitchFamily="34" charset="0"/>
                <a:ea typeface="+mn-ea"/>
                <a:cs typeface="Arial" panose="020B0604020202020204" pitchFamily="34" charset="0"/>
              </a:rPr>
              <a:t>and </a:t>
            </a:r>
            <a:r>
              <a:rPr lang="en-AU" sz="1600" b="0" i="0" u="none" kern="1200">
                <a:solidFill>
                  <a:schemeClr val="tx1"/>
                </a:solidFill>
                <a:effectLst/>
                <a:latin typeface="Arial" panose="020B0604020202020204" pitchFamily="34" charset="0"/>
                <a:ea typeface="+mn-ea"/>
                <a:cs typeface="Arial" panose="020B0604020202020204" pitchFamily="34" charset="0"/>
              </a:rPr>
              <a:t>see Figure 3 – multiplication chart 4 and 8 in </a:t>
            </a:r>
            <a:r>
              <a:rPr lang="en-AU" b="0" u="none"/>
              <a:t>Stage 2 Year B Unit 33. </a:t>
            </a:r>
          </a:p>
          <a:p>
            <a:endParaRPr lang="en-AU" b="0" u="none"/>
          </a:p>
          <a:p>
            <a:pPr marL="285750" indent="-285750">
              <a:buFont typeface="Arial" panose="020B0604020202020204" pitchFamily="34" charset="0"/>
              <a:buChar char="•"/>
            </a:pPr>
            <a:r>
              <a:rPr lang="en-AU" b="0"/>
              <a:t>Revise that the numbers highlighted in yellow across the top and down the side represent the factors. Where a row and column meet shows the product. For example, where 3 (across the top) and 4 (down the side) intersect, the product is 12.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Call out the multiples of 4 and highlight the row and column. </a:t>
            </a:r>
          </a:p>
          <a:p>
            <a:pPr marL="285750" indent="-285750">
              <a:buFont typeface="Arial" panose="020B0604020202020204" pitchFamily="34" charset="0"/>
              <a:buChar char="•"/>
            </a:pPr>
            <a:endParaRPr lang="en-AU" b="0"/>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Repeat with the multiples of 8 (see Figure 3).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Ask: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What patterns do you see?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What similarities and patterns do you notice between the multiples of 4 and 8?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How can knowing ×4 facts help with finding ×8 facts?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What is the product of 4 and 6, 8 and 3, 4 and 7, 8 and 7.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Select 4 or 8 to be the multiple and instruct students to fill in the gameboard with numbers accordingly. For example, if number 4 is chosen, the gameboard would be filled with 0, 4, 8, 12, 16, 20, 24, 32, 36, 40.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Players take turns to roll the dice.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They multiply the number rolled by the chosen multiple and record their number sentence on Resource 17 </a:t>
            </a:r>
            <a:r>
              <a:rPr lang="en-AU" b="0"/>
              <a:t>– </a:t>
            </a:r>
            <a:r>
              <a:rPr lang="en-AU" sz="1600" b="0" i="0" kern="1200">
                <a:solidFill>
                  <a:schemeClr val="tx1"/>
                </a:solidFill>
                <a:effectLst/>
                <a:latin typeface="Arial" panose="020B0604020202020204" pitchFamily="34" charset="0"/>
                <a:ea typeface="+mn-ea"/>
                <a:cs typeface="Arial" panose="020B0604020202020204" pitchFamily="34" charset="0"/>
              </a:rPr>
              <a:t>multiples madness.  For example, if 6 is rolled, the player would record 6 × 4 = 24. </a:t>
            </a:r>
          </a:p>
          <a:p>
            <a:pPr marL="342900" indent="-342900">
              <a:buFont typeface="Arial" panose="020B0604020202020204" pitchFamily="34" charset="0"/>
              <a:buChar char="•"/>
            </a:pPr>
            <a:endParaRPr lang="en-AU" b="0"/>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They then place one of their counters on the number on the gameboard, claiming that place.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If the number is taken, players miss a turn.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Since players only have 3 counters, they will need to choose which counter to move once all 3 have been placed on the gameboard.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A player wins by getting 3 counters in a row (in any orientation). </a:t>
            </a:r>
          </a:p>
          <a:p>
            <a:pPr marL="285750" indent="-285750">
              <a:buFont typeface="Arial" panose="020B0604020202020204" pitchFamily="34" charset="0"/>
              <a:buChar char="•"/>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C41D-ABB5-BA85-09CE-4F37F8707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52F41-23FB-435C-43DB-3DE1F135E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66606-1EC3-F570-F3F9-936AFC2500C2}"/>
              </a:ext>
            </a:extLst>
          </p:cNvPr>
          <p:cNvSpPr>
            <a:spLocks noGrp="1"/>
          </p:cNvSpPr>
          <p:nvPr>
            <p:ph type="body" idx="1"/>
          </p:nvPr>
        </p:nvSpPr>
        <p:spPr/>
        <p:txBody>
          <a:bodyPr/>
          <a:lstStyle/>
          <a:p>
            <a:r>
              <a:rPr lang="en-AU" b="1"/>
              <a:t>Note:</a:t>
            </a:r>
            <a:r>
              <a:rPr lang="en-AU" b="0"/>
              <a:t> 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Multiples madness</a:t>
            </a:r>
          </a:p>
          <a:p>
            <a:r>
              <a:rPr lang="en-AU" b="0"/>
              <a:t>This resource corresponds to Resource 17 –  multiples madness in Stage 2 Year B Unit 33. </a:t>
            </a:r>
          </a:p>
          <a:p>
            <a:endParaRPr lang="en-AU" b="0"/>
          </a:p>
          <a:p>
            <a:pPr marL="285750" indent="-285750">
              <a:buFont typeface="Arial" panose="020B0604020202020204" pitchFamily="34" charset="0"/>
              <a:buChar char="•"/>
            </a:pPr>
            <a:r>
              <a:rPr lang="en-AU" b="0"/>
              <a:t>Provide students with a 9-sided dice, 3 counters in two colours and Resource 17 – multiples madness.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Select 4 or 8 to be the multiple and instruct students to fill in the gameboard with numbers accordingly. For example, if number 4 is chosen, the gameboard would be filled with  4, 8, 12, 16, 20, 24, 28, 32, 36.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Players take turns to roll the dice.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They multiply the number rolled by the chosen multiple and record their number sentence on Resource 17 – multiples madness. For example, if 6 is rolled, the player would record 6 × 4 = 24.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They then place one of their counters on the number on the gameboard, claiming that place.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If the number is taken, players miss a turn.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Since players only have 3 counters, they will need to choose which counter to move once all 3 have been placed on the gameboard.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A player wins by getting three counters in a row (in any orientation).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AD659AD9-98D7-912C-DB10-EF7F143DF1A2}"/>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045370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numbers using place value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 family triangles</a:t>
            </a:r>
          </a:p>
          <a:p>
            <a:r>
              <a:rPr lang="en-AU" b="0"/>
              <a:t>This figure corresponds to Figure 4 – fact family triangle in Stage 2 Year B Unit 33.</a:t>
            </a:r>
          </a:p>
          <a:p>
            <a:endParaRPr lang="en-AU" b="0"/>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Revise that the two factors (5 and 6) are at the bottom of the triangle and the product (30) is at the top.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Revise the relationships between the numbers in the triangle and how these relate to multiplication and division facts and number sentences.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Select students to provide the number sentences for the fact family triangle and record them on the board. Ensure students recognise the inverse relationship between the multiplication and division number sentences. </a:t>
            </a:r>
          </a:p>
          <a:p>
            <a:pPr marL="285750" indent="-285750">
              <a:buFont typeface="Arial" panose="020B0604020202020204" pitchFamily="34" charset="0"/>
              <a:buChar char="•"/>
            </a:pPr>
            <a:endParaRPr lang="en-AU" b="1"/>
          </a:p>
          <a:p>
            <a:pPr marL="285750" marR="0" lvl="0" indent="-285750" algn="l" defTabSz="121917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AU" sz="1600" b="0" i="0" kern="1200">
                <a:solidFill>
                  <a:schemeClr val="tx1"/>
                </a:solidFill>
                <a:effectLst/>
                <a:latin typeface="Arial" panose="020B0604020202020204" pitchFamily="34" charset="0"/>
                <a:ea typeface="+mn-ea"/>
                <a:cs typeface="Arial" panose="020B0604020202020204" pitchFamily="34" charset="0"/>
              </a:rPr>
              <a:t>Provide students with </a:t>
            </a:r>
            <a:r>
              <a:rPr lang="en-AU" b="0"/>
              <a:t>Resource 18 – fact family triangles.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Instruct them to complete each triangle by filling in the missing factor or product. They then record all 4 related multiplication and division number sentences underneath.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FE054-EFCF-78B9-937F-C529F346E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9A338-C791-849D-231A-0359888B9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DE01A-AE8C-FF9E-9F6F-61B8423147B0}"/>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 family triangles</a:t>
            </a:r>
          </a:p>
          <a:p>
            <a:r>
              <a:rPr lang="en-AU" b="0"/>
              <a:t>This resource corresponds to Resource 18 – fact family triangles in Stage 2 Year B Unit 33.</a:t>
            </a:r>
          </a:p>
          <a:p>
            <a:endParaRPr lang="en-AU" b="0"/>
          </a:p>
          <a:p>
            <a:pPr marL="285750" indent="-285750">
              <a:buFont typeface="Arial" panose="020B0604020202020204" pitchFamily="34" charset="0"/>
              <a:buChar char="•"/>
            </a:pPr>
            <a:r>
              <a:rPr lang="en-AU" b="0"/>
              <a:t>Provide students with Resource 18 – fact family triangles.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Instruct them to complete each triangle by filling in the missing factor or product. They then record all four related multiplication and division number sentences underneath. </a:t>
            </a:r>
            <a:endParaRPr lang="en-AU"/>
          </a:p>
        </p:txBody>
      </p:sp>
      <p:sp>
        <p:nvSpPr>
          <p:cNvPr id="4" name="Slide Number Placeholder 3">
            <a:extLst>
              <a:ext uri="{FF2B5EF4-FFF2-40B4-BE49-F238E27FC236}">
                <a16:creationId xmlns:a16="http://schemas.microsoft.com/office/drawing/2014/main" id="{2AA36F0F-11A8-CCA1-9670-DE7AB05F2A82}"/>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76220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08E0-05BE-0752-8BE9-0B59F1C32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8D911-32BC-505B-EB9E-5E284F1B3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76F89-4CDE-ACCA-A922-96C3196E0D3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 family triangles</a:t>
            </a:r>
          </a:p>
          <a:p>
            <a:r>
              <a:rPr lang="en-AU" b="0"/>
              <a:t>This resource corresponds to Resource 18 – fact family triangles in Stage 2 Year B Unit 33.</a:t>
            </a:r>
          </a:p>
          <a:p>
            <a:endParaRPr lang="en-AU" b="0"/>
          </a:p>
          <a:p>
            <a:pPr marL="285750" indent="-285750">
              <a:buFont typeface="Arial" panose="020B0604020202020204" pitchFamily="34" charset="0"/>
              <a:buChar char="•"/>
            </a:pPr>
            <a:r>
              <a:rPr lang="en-AU" b="0"/>
              <a:t>Provide students with Resource 18 – fact family triangles.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Instruct them to complete each triangle by filling in the missing factor or product. They then record all four related multiplication and division number sentences underneath. </a:t>
            </a:r>
            <a:endParaRPr lang="en-AU"/>
          </a:p>
        </p:txBody>
      </p:sp>
      <p:sp>
        <p:nvSpPr>
          <p:cNvPr id="4" name="Slide Number Placeholder 3">
            <a:extLst>
              <a:ext uri="{FF2B5EF4-FFF2-40B4-BE49-F238E27FC236}">
                <a16:creationId xmlns:a16="http://schemas.microsoft.com/office/drawing/2014/main" id="{8ABBC08F-938D-5F41-895F-DDC1DBD6A01C}"/>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214530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2201C-D5DD-B797-99AE-D46A5578D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D92AD-32D7-3074-BBEC-FE091CBD7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D0378-C80E-A6D3-E50E-06FEF4FEE6F4}"/>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 family triangles</a:t>
            </a:r>
          </a:p>
          <a:p>
            <a:r>
              <a:rPr lang="en-AU" b="0"/>
              <a:t>This resource corresponds to Resource 18 – fact family triangles in Stage 2 Year B Unit 33.</a:t>
            </a:r>
          </a:p>
          <a:p>
            <a:endParaRPr lang="en-AU" b="0"/>
          </a:p>
          <a:p>
            <a:pPr marL="285750" indent="-285750">
              <a:buFont typeface="Arial" panose="020B0604020202020204" pitchFamily="34" charset="0"/>
              <a:buChar char="•"/>
            </a:pPr>
            <a:r>
              <a:rPr lang="en-AU" b="0"/>
              <a:t>Provide students with Resource 18 – fact family triangles.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Instruct them to complete each triangle by filling in the missing factor or product. They then record all four related multiplication and division number sentences underneath. </a:t>
            </a:r>
            <a:endParaRPr lang="en-AU"/>
          </a:p>
        </p:txBody>
      </p:sp>
      <p:sp>
        <p:nvSpPr>
          <p:cNvPr id="4" name="Slide Number Placeholder 3">
            <a:extLst>
              <a:ext uri="{FF2B5EF4-FFF2-40B4-BE49-F238E27FC236}">
                <a16:creationId xmlns:a16="http://schemas.microsoft.com/office/drawing/2014/main" id="{731B9EED-1C77-A1FC-3CC1-06D84D14014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1712588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numbers using place value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Factor puzzle 1</a:t>
            </a:r>
          </a:p>
          <a:p>
            <a:r>
              <a:rPr lang="en-AU" b="0"/>
              <a:t>This activity is an adaptation of ‘Factor puzzles’ from Maths is </a:t>
            </a:r>
            <a:r>
              <a:rPr lang="en-AU" b="0" err="1"/>
              <a:t>FigureOutAble</a:t>
            </a:r>
            <a:r>
              <a:rPr lang="en-AU" b="0"/>
              <a:t>! by Pam Harris. </a:t>
            </a:r>
          </a:p>
          <a:p>
            <a:endParaRPr lang="en-AU" b="0"/>
          </a:p>
          <a:p>
            <a:r>
              <a:rPr lang="en-AU" b="0"/>
              <a:t>This resource corresponds to Resource 19 – factor puzzle 1 in Stage 2 Year B Unit 33. </a:t>
            </a:r>
          </a:p>
          <a:p>
            <a:endParaRPr lang="en-AU" b="1"/>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Ask: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Can you see any relationships between the numbers in the puzzle? (the middle numbers are factors of the number at the top. The number at the bottom is the sum of the factors). </a:t>
            </a:r>
          </a:p>
          <a:p>
            <a:pPr marL="285750" indent="-285750" rtl="0" fontAlgn="base">
              <a:buFont typeface="Courier New" panose="02070309020205020404" pitchFamily="49" charset="0"/>
              <a:buChar char="o"/>
            </a:pPr>
            <a:r>
              <a:rPr lang="en-AU" sz="1600" b="0" i="0" kern="1200">
                <a:solidFill>
                  <a:schemeClr val="tx1"/>
                </a:solidFill>
                <a:effectLst/>
                <a:latin typeface="Arial" panose="020B0604020202020204" pitchFamily="34" charset="0"/>
                <a:ea typeface="+mn-ea"/>
                <a:cs typeface="Arial" panose="020B0604020202020204" pitchFamily="34" charset="0"/>
              </a:rPr>
              <a:t>Could other factors of 12, for example 6 and 2, replace the 3 and 4? Why or Why not? (6 + 2 = 8, so it does not fit the structure of the puzzle). </a:t>
            </a:r>
          </a:p>
          <a:p>
            <a:pPr rtl="0" fontAlgn="base"/>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Provide students with Resource 19 – factor puzzle 1. Students turn and talk to determine the missing numbers in one or all of the puzzles.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Regroup and select students to share their solutions. Encourage them to communicate their thinking using multiplicative vocabulary.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3618-BE01-0607-17F0-8B53ED3BE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1B7C4-36D3-8129-3BB5-37A697539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AF4D2-FF8C-57DD-A2FE-B51F6FBECD0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78A19FD-DE9F-B312-909F-929F2DEB1313}"/>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76947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numbers using place value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Factor puzzle 2</a:t>
            </a:r>
          </a:p>
          <a:p>
            <a:r>
              <a:rPr lang="en-AU" b="0"/>
              <a:t>This activity is an adaptation of ‘Factor puzzles’ from Maths is </a:t>
            </a:r>
            <a:r>
              <a:rPr lang="en-AU" b="0" err="1"/>
              <a:t>FigureOutAble</a:t>
            </a:r>
            <a:r>
              <a:rPr lang="en-AU" b="0"/>
              <a:t>! by Pam Harris. </a:t>
            </a:r>
          </a:p>
          <a:p>
            <a:endParaRPr lang="en-AU" b="0"/>
          </a:p>
          <a:p>
            <a:r>
              <a:rPr lang="en-AU" b="0"/>
              <a:t>This resource corresponds to Resource 20 – factor puzzle 2 in Stage 2 Year B Unit 33. </a:t>
            </a:r>
          </a:p>
          <a:p>
            <a:endParaRPr lang="en-AU" b="0"/>
          </a:p>
          <a:p>
            <a:pPr marL="285750" indent="-285750">
              <a:buFont typeface="Arial" panose="020B0604020202020204" pitchFamily="34" charset="0"/>
              <a:buChar char="•"/>
            </a:pPr>
            <a:r>
              <a:rPr lang="en-AU" b="0"/>
              <a:t>Revise the structure of the puzzles from Activity 3. </a:t>
            </a:r>
          </a:p>
          <a:p>
            <a:endParaRPr lang="en-AU" b="0"/>
          </a:p>
          <a:p>
            <a:pPr marL="285750" indent="-285750">
              <a:buFont typeface="Arial" panose="020B0604020202020204" pitchFamily="34" charset="0"/>
              <a:buChar char="•"/>
            </a:pPr>
            <a:r>
              <a:rPr lang="en-AU" b="0"/>
              <a:t>Ask: </a:t>
            </a:r>
          </a:p>
          <a:p>
            <a:endParaRPr lang="en-AU" b="0"/>
          </a:p>
          <a:p>
            <a:pPr marL="285750" indent="-285750">
              <a:buFont typeface="Courier New" panose="02070309020205020404" pitchFamily="49" charset="0"/>
              <a:buChar char="o"/>
            </a:pPr>
            <a:r>
              <a:rPr lang="en-AU" b="0"/>
              <a:t>Can you see any relationships between the numbers in the puzzle? (the middle numbers are factors of the number at the top. The number at the bottom is the sum of the factors). </a:t>
            </a:r>
          </a:p>
          <a:p>
            <a:pPr marL="285750" indent="-285750">
              <a:buFont typeface="Courier New" panose="02070309020205020404" pitchFamily="49" charset="0"/>
              <a:buChar char="o"/>
            </a:pPr>
            <a:endParaRPr lang="en-AU" b="0"/>
          </a:p>
          <a:p>
            <a:pPr marL="285750" indent="-285750">
              <a:buFont typeface="Courier New" panose="02070309020205020404" pitchFamily="49" charset="0"/>
              <a:buChar char="o"/>
            </a:pPr>
            <a:r>
              <a:rPr lang="en-AU" b="0"/>
              <a:t>Could other factors of 30, for example 3 and 10, replace the 5 and 6? Why or Why not? (3 + 10 = 13, so it does not fit the structure of the puzzle). </a:t>
            </a:r>
          </a:p>
          <a:p>
            <a:endParaRPr lang="en-AU" b="0"/>
          </a:p>
          <a:p>
            <a:pPr marL="285750" indent="-285750">
              <a:buFont typeface="Arial" panose="020B0604020202020204" pitchFamily="34" charset="0"/>
              <a:buChar char="•"/>
            </a:pPr>
            <a:r>
              <a:rPr lang="en-AU" b="0"/>
              <a:t>Provide students with Resource 20 – factor puzzle 2. Students turn and talk to determine the missing numbers one or all of the puzzles.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Regroup and select students to share their solutions. Encourage them to communicate their thinking using multiplicative vocabulary.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Prompt students to create their own factor puzzle by filling in the blank puzzle on Resource 20 – factor puzzle 2. </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Students swap with a partner, solve each other’s puzzles, and then check and discuss their answers together. </a:t>
            </a:r>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Representing numbers using place value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Completing subtraction sentences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‘Subtraction with Regrouping 2’ by </a:t>
            </a:r>
            <a:r>
              <a:rPr lang="en-AU" sz="1600" kern="1200" err="1">
                <a:solidFill>
                  <a:schemeClr val="tx1"/>
                </a:solidFill>
                <a:effectLst/>
                <a:latin typeface="Arial" panose="020B0604020202020204" pitchFamily="34" charset="0"/>
                <a:ea typeface="+mn-ea"/>
                <a:cs typeface="Arial" panose="020B0604020202020204" pitchFamily="34" charset="0"/>
              </a:rPr>
              <a:t>Ignaciuk</a:t>
            </a:r>
            <a:r>
              <a:rPr lang="en-AU" sz="1600" kern="1200">
                <a:solidFill>
                  <a:schemeClr val="tx1"/>
                </a:solidFill>
                <a:effectLst/>
                <a:latin typeface="Arial" panose="020B0604020202020204" pitchFamily="34" charset="0"/>
                <a:ea typeface="+mn-ea"/>
                <a:cs typeface="Arial" panose="020B0604020202020204" pitchFamily="34" charset="0"/>
              </a:rPr>
              <a:t> from Open Middle. </a:t>
            </a:r>
          </a:p>
          <a:p>
            <a:endParaRPr lang="en-AU" b="0"/>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figure corresponds to Figure 5 – subtraction sentence in Stage 2 Year B Unit 33.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use digits 1 to 9 (only once each), placing a digit in each box to make the number sentence correct. For example, 56 − 17.</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and compare solutions. Ask students to identify the strategies they used and justify their choices.</a:t>
            </a:r>
          </a:p>
          <a:p>
            <a:endParaRPr lang="en-AU" b="0"/>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 </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B</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Completing equivalent number sentences</a:t>
            </a:r>
          </a:p>
          <a:p>
            <a:r>
              <a:rPr lang="en-AU" b="0"/>
              <a:t>This activity is an adaptation of ‘Adding and Subtracting Two-Digit Whole Numbers’ by Errey from Open Middle. </a:t>
            </a:r>
          </a:p>
          <a:p>
            <a:endParaRPr lang="en-AU" b="1"/>
          </a:p>
          <a:p>
            <a:r>
              <a:rPr lang="en-AU" b="0"/>
              <a:t>This figure corresponds to Figure 6 – equivalent number sentence in Stage 2 Year B Unit 33.</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use digits 0–9 (only once each), placing a digit in each box to make a correct number sentence. For example, 78 − 40 = 15 + 23.</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and compare solutions. Ask students to identify the strategies they used and justify their choices.</a:t>
            </a:r>
          </a:p>
          <a:p>
            <a:endParaRPr lang="en-AU" b="0"/>
          </a:p>
          <a:p>
            <a:endParaRPr lang="en-AU" b="0"/>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Additive relations B</a:t>
            </a:r>
          </a:p>
          <a:p>
            <a:endParaRPr lang="en-AU"/>
          </a:p>
          <a:p>
            <a:r>
              <a:rPr lang="en-AU" b="1"/>
              <a:t>Creating addition word problems</a:t>
            </a:r>
          </a:p>
          <a:p>
            <a:endParaRPr lang="en-AU" b="1"/>
          </a:p>
          <a:p>
            <a:pPr marL="285750" indent="-285750">
              <a:buFont typeface="Arial" panose="020B0604020202020204" pitchFamily="34" charset="0"/>
              <a:buChar char="•"/>
            </a:pPr>
            <a:r>
              <a:rPr lang="en-AU" b="0"/>
              <a:t>Model writing a word problem to match the addition number sentence. For example, Farmer Kai collected 15 eggs from his chickens in week one, but he forgot to count how many eggs he collected in week 2. He collected 38 eggs altogether; how many eggs did Farmer Kai collect in week 2?</a:t>
            </a:r>
          </a:p>
          <a:p>
            <a:pPr marL="285750" indent="-285750">
              <a:buFont typeface="Arial" panose="020B0604020202020204" pitchFamily="34" charset="0"/>
              <a:buChar char="•"/>
            </a:pPr>
            <a:endParaRPr lang="en-AU" b="0"/>
          </a:p>
          <a:p>
            <a:pPr marL="0" indent="0">
              <a:buFont typeface="Arial" panose="020B0604020202020204" pitchFamily="34" charset="0"/>
              <a:buNone/>
            </a:pPr>
            <a:r>
              <a:rPr lang="en-AU" b="0"/>
              <a:t>NEXT SLIDE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23 + _ = 41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99 + _ = 112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178 + _ = 256.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Instruct students to choose one and write a word problem to match. </a:t>
            </a:r>
          </a:p>
          <a:p>
            <a:pPr marL="285750" indent="-285750" rtl="0" fontAlgn="base">
              <a:buFont typeface="Arial" panose="020B0604020202020204" pitchFamily="34" charset="0"/>
              <a:buChar char="•"/>
            </a:pPr>
            <a:endParaRPr lang="en-AU" sz="1600" b="0" i="0" kern="120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In pairs, students share their word problems, ensuring that the number sentence is correct. </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AA375-03A5-F5E1-A692-FE55C5BD6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7174C-0D41-B36B-5A18-C86A6B704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63393-1DD7-16D1-0F2E-8A961809FEB8}"/>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Additive relations B</a:t>
            </a:r>
          </a:p>
          <a:p>
            <a:endParaRPr lang="en-AU"/>
          </a:p>
          <a:p>
            <a:r>
              <a:rPr lang="en-AU" b="1"/>
              <a:t>Creating addition word problems</a:t>
            </a:r>
          </a:p>
          <a:p>
            <a:endParaRPr lang="en-AU" b="1"/>
          </a:p>
          <a:p>
            <a:pPr marL="285750" indent="-285750">
              <a:buFont typeface="Arial" panose="020B0604020202020204" pitchFamily="34" charset="0"/>
              <a:buChar char="•"/>
            </a:pPr>
            <a:r>
              <a:rPr lang="en-AU" b="0"/>
              <a:t>Instruct students to choose one and write a word problem to match.</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r>
              <a:rPr lang="en-AU" b="0"/>
              <a:t>In pairs, students share their word problems, ensuring that the number sentence is correct.</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97DFC814-7F45-E146-B265-2AC82F6A4CDA}"/>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2496265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b="1"/>
              <a:t>Note: </a:t>
            </a:r>
            <a:r>
              <a:rPr lang="en-AU" b="0"/>
              <a:t>this slide is designed to be viewed in presentation mode.</a:t>
            </a:r>
            <a:endParaRPr lang="en-AU"/>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b="1"/>
          </a:p>
          <a:p>
            <a:r>
              <a:rPr lang="en-AU" b="1"/>
              <a:t>Creating subtraction word problems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writing a word problem to match the subtraction number sentence. For example, Dawn placed 24 fish in her new pond. When she checked on her fish the next day, Dawn could only find 13 fish. How many fish were missing from the pond?</a:t>
            </a:r>
          </a:p>
          <a:p>
            <a:pPr marL="285750" indent="-285750">
              <a:buFont typeface="Arial" panose="020B0604020202020204" pitchFamily="34" charset="0"/>
              <a:buChar char="•"/>
            </a:pPr>
            <a:endParaRPr lang="en-AU"/>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42 − _ = 19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156 − _ = 94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456 − _ = 289.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choose one and write a word problem to match.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share their word problems, ensuring that the number sentence is correct.</a:t>
            </a:r>
            <a:endParaRPr lang="en-AU" b="0"/>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622E9-CFDD-484A-8FB8-045D55858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E0FED-203A-9983-C756-FF169807C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7E00D-1AFA-FD63-6BC2-FCFD781FFFD3}"/>
              </a:ext>
            </a:extLst>
          </p:cNvPr>
          <p:cNvSpPr>
            <a:spLocks noGrp="1"/>
          </p:cNvSpPr>
          <p:nvPr>
            <p:ph type="body" idx="1"/>
          </p:nvPr>
        </p:nvSpPr>
        <p:spPr/>
        <p:txBody>
          <a:bodyPr/>
          <a:lstStyle/>
          <a:p>
            <a:r>
              <a:rPr lang="en-AU" b="1"/>
              <a:t>Note: </a:t>
            </a:r>
            <a:r>
              <a:rPr lang="en-AU" b="0"/>
              <a:t>this slide is designed to be viewed in presentation mode.</a:t>
            </a:r>
            <a:endParaRPr lang="en-AU"/>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b="1"/>
          </a:p>
          <a:p>
            <a:r>
              <a:rPr lang="en-AU" b="1"/>
              <a:t>Creating subtraction word problems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choose one and write a word problem to match.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share their word problems, ensuring that the number sentence is correct.</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F395FA75-8388-38F7-48C3-F68C8A8ADE3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5390733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74</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4.xml"/><Relationship Id="rId7" Type="http://schemas.openxmlformats.org/officeDocument/2006/relationships/slide" Target="slide36.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9.xml"/><Relationship Id="rId5" Type="http://schemas.openxmlformats.org/officeDocument/2006/relationships/slide" Target="slide22.xml"/><Relationship Id="rId10" Type="http://schemas.openxmlformats.org/officeDocument/2006/relationships/slide" Target="slide58.xml"/><Relationship Id="rId4" Type="http://schemas.openxmlformats.org/officeDocument/2006/relationships/slide" Target="slide12.xml"/><Relationship Id="rId9" Type="http://schemas.openxmlformats.org/officeDocument/2006/relationships/slide" Target="slide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2.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35.svg"/><Relationship Id="rId5" Type="http://schemas.openxmlformats.org/officeDocument/2006/relationships/image" Target="../media/image32.svg"/><Relationship Id="rId4" Type="http://schemas.openxmlformats.org/officeDocument/2006/relationships/image" Target="../media/image34.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0.xml"/><Relationship Id="rId1" Type="http://schemas.openxmlformats.org/officeDocument/2006/relationships/slideLayout" Target="../slideLayouts/slideLayout11.xml"/><Relationship Id="rId5" Type="http://schemas.openxmlformats.org/officeDocument/2006/relationships/image" Target="../media/image41.svg"/><Relationship Id="rId4" Type="http://schemas.openxmlformats.org/officeDocument/2006/relationships/slide" Target="slide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www.mathematicshub.edu.au/plan-teach-and-assess/teaching/springboard-maths-concepts/multiplication-2-digit-by-2-digit-numbers-video-and-teaching-guide/"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www.openmiddle.com/subtraction-with-regrouping-2/" TargetMode="External"/><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mathisfigureoutable.com/factorpuzzles" TargetMode="External"/><Relationship Id="rId5" Type="http://schemas.openxmlformats.org/officeDocument/2006/relationships/hyperlink" Target="https://curriculum.nsw.edu.au/" TargetMode="External"/><Relationship Id="rId10" Type="http://schemas.openxmlformats.org/officeDocument/2006/relationships/hyperlink" Target="https://www.openmiddle.com/adding-and-subtracting-two-digit-whole-number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psmo.edu.au/" TargetMode="External"/><Relationship Id="rId14" Type="http://schemas.openxmlformats.org/officeDocument/2006/relationships/hyperlink" Target="https://nrich.maths.org/problems/thunder-and-lightning"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ea typeface="+mn-lt"/>
                <a:cs typeface="+mn-lt"/>
              </a:rPr>
              <a:t>This resource aligns to the learning in Stage 2 Year B Unit 33 and revisits content from earlier sample units.</a:t>
            </a:r>
            <a:endParaRPr lang="en-AU" sz="1800">
              <a:solidFill>
                <a:srgbClr val="22272B"/>
              </a:solidFill>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33</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p:txBody>
          <a:bodyPr/>
          <a:lstStyle/>
          <a:p>
            <a:pPr algn="ctr"/>
            <a:r>
              <a:rPr lang="en-US" sz="5400"/>
              <a:t>4 </a:t>
            </a:r>
            <a:r>
              <a:rPr lang="en-AU" sz="5400" b="1">
                <a:ea typeface="Calibri" panose="020F0502020204030204" pitchFamily="34" charset="0"/>
                <a:cs typeface="Times New Roman" panose="02020603050405020304" pitchFamily="18" charset="0"/>
              </a:rPr>
              <a:t>×</a:t>
            </a:r>
            <a:r>
              <a:rPr lang="en-US" sz="5400"/>
              <a:t> ___ = 28</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B33FA2B8-B252-0791-CD7A-F9F8C304ED04}"/>
              </a:ext>
            </a:extLst>
          </p:cNvPr>
          <p:cNvSpPr txBox="1"/>
          <p:nvPr/>
        </p:nvSpPr>
        <p:spPr>
          <a:xfrm>
            <a:off x="1097280" y="5794408"/>
            <a:ext cx="647915" cy="721592"/>
          </a:xfrm>
          <a:prstGeom prst="rect">
            <a:avLst/>
          </a:prstGeom>
          <a:noFill/>
        </p:spPr>
        <p:txBody>
          <a:bodyPr wrap="square" lIns="0" tIns="0" rIns="0" bIns="0" rtlCol="0">
            <a:noAutofit/>
          </a:bodyPr>
          <a:lstStyle/>
          <a:p>
            <a:pPr algn="ctr"/>
            <a:r>
              <a:rPr lang="en-AU" sz="4400"/>
              <a:t>5</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1E6F4F48-99FD-92F6-C1E5-584FB63BB7C9}"/>
              </a:ext>
            </a:extLst>
          </p:cNvPr>
          <p:cNvSpPr txBox="1"/>
          <p:nvPr/>
        </p:nvSpPr>
        <p:spPr>
          <a:xfrm>
            <a:off x="4141172" y="5776408"/>
            <a:ext cx="647915" cy="721592"/>
          </a:xfrm>
          <a:prstGeom prst="rect">
            <a:avLst/>
          </a:prstGeom>
          <a:noFill/>
        </p:spPr>
        <p:txBody>
          <a:bodyPr wrap="square" lIns="0" tIns="0" rIns="0" bIns="0" rtlCol="0">
            <a:noAutofit/>
          </a:bodyPr>
          <a:lstStyle/>
          <a:p>
            <a:pPr algn="ctr"/>
            <a:r>
              <a:rPr lang="en-AU" sz="4400"/>
              <a:t>6</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66CCCC1D-B703-2811-28F6-C95C7CDA6B7C}"/>
              </a:ext>
            </a:extLst>
          </p:cNvPr>
          <p:cNvSpPr txBox="1"/>
          <p:nvPr/>
        </p:nvSpPr>
        <p:spPr>
          <a:xfrm>
            <a:off x="7164468" y="5794408"/>
            <a:ext cx="647915" cy="721592"/>
          </a:xfrm>
          <a:prstGeom prst="rect">
            <a:avLst/>
          </a:prstGeom>
          <a:noFill/>
        </p:spPr>
        <p:txBody>
          <a:bodyPr wrap="square" lIns="0" tIns="0" rIns="0" bIns="0" rtlCol="0">
            <a:noAutofit/>
          </a:bodyPr>
          <a:lstStyle/>
          <a:p>
            <a:pPr algn="ctr"/>
            <a:r>
              <a:rPr lang="en-AU" sz="4400"/>
              <a:t>7</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479A20DE-0F88-8ED8-D64E-8079B4B3B328}"/>
              </a:ext>
            </a:extLst>
          </p:cNvPr>
          <p:cNvSpPr txBox="1"/>
          <p:nvPr/>
        </p:nvSpPr>
        <p:spPr>
          <a:xfrm>
            <a:off x="10109200" y="5794408"/>
            <a:ext cx="647915" cy="721592"/>
          </a:xfrm>
          <a:prstGeom prst="rect">
            <a:avLst/>
          </a:prstGeom>
          <a:noFill/>
        </p:spPr>
        <p:txBody>
          <a:bodyPr wrap="square" lIns="0" tIns="0" rIns="0" bIns="0" rtlCol="0">
            <a:noAutofit/>
          </a:bodyPr>
          <a:lstStyle/>
          <a:p>
            <a:pPr algn="ctr"/>
            <a:r>
              <a:rPr lang="en-AU" sz="4400"/>
              <a:t>8</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60F07690-672D-B105-F2FD-B24879F6E66E}"/>
              </a:ext>
            </a:extLst>
          </p:cNvPr>
          <p:cNvSpPr txBox="1"/>
          <p:nvPr/>
        </p:nvSpPr>
        <p:spPr>
          <a:xfrm>
            <a:off x="283591" y="1069823"/>
            <a:ext cx="11722879" cy="2229008"/>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4400" b="1">
                <a:latin typeface="Arial" panose="020B0604020202020204" pitchFamily="34" charset="0"/>
                <a:ea typeface="Calibri" panose="020F0502020204030204" pitchFamily="34" charset="0"/>
                <a:cs typeface="Times New Roman" panose="02020603050405020304" pitchFamily="18" charset="0"/>
              </a:rPr>
              <a:t>Record</a:t>
            </a:r>
            <a:r>
              <a:rPr lang="en-AU" sz="4400">
                <a:latin typeface="Arial" panose="020B0604020202020204" pitchFamily="34" charset="0"/>
                <a:ea typeface="Calibri" panose="020F0502020204030204" pitchFamily="34" charset="0"/>
                <a:cs typeface="Times New Roman" panose="02020603050405020304" pitchFamily="18" charset="0"/>
              </a:rPr>
              <a:t> the </a:t>
            </a:r>
            <a:r>
              <a:rPr lang="en-AU" sz="4400" b="1">
                <a:latin typeface="Arial" panose="020B0604020202020204" pitchFamily="34" charset="0"/>
                <a:ea typeface="Calibri" panose="020F0502020204030204" pitchFamily="34" charset="0"/>
                <a:cs typeface="Times New Roman" panose="02020603050405020304" pitchFamily="18" charset="0"/>
              </a:rPr>
              <a:t>multiples</a:t>
            </a:r>
            <a:r>
              <a:rPr lang="en-AU" sz="4400">
                <a:latin typeface="Arial" panose="020B0604020202020204" pitchFamily="34" charset="0"/>
                <a:ea typeface="Calibri" panose="020F0502020204030204" pitchFamily="34" charset="0"/>
                <a:cs typeface="Times New Roman" panose="02020603050405020304" pitchFamily="18" charset="0"/>
              </a:rPr>
              <a:t> for this </a:t>
            </a:r>
            <a:r>
              <a:rPr lang="en-AU" sz="4400" b="1">
                <a:latin typeface="Arial" panose="020B0604020202020204" pitchFamily="34" charset="0"/>
                <a:ea typeface="Calibri" panose="020F0502020204030204" pitchFamily="34" charset="0"/>
                <a:cs typeface="Times New Roman" panose="02020603050405020304" pitchFamily="18" charset="0"/>
              </a:rPr>
              <a:t>pattern</a:t>
            </a:r>
            <a:r>
              <a:rPr lang="en-AU" sz="4400">
                <a:latin typeface="Arial" panose="020B0604020202020204" pitchFamily="34" charset="0"/>
                <a:ea typeface="Calibri" panose="020F0502020204030204" pitchFamily="34" charset="0"/>
                <a:cs typeface="Times New Roman" panose="02020603050405020304" pitchFamily="18" charset="0"/>
              </a:rPr>
              <a:t>.</a:t>
            </a:r>
          </a:p>
          <a:p>
            <a:pPr marL="742950" lvl="0" indent="-742950">
              <a:lnSpc>
                <a:spcPct val="150000"/>
              </a:lnSpc>
              <a:spcBef>
                <a:spcPts val="1200"/>
              </a:spcBef>
              <a:spcAft>
                <a:spcPts val="600"/>
              </a:spcAft>
              <a:buFont typeface="+mj-lt"/>
              <a:buAutoNum type="alphaLcParenR"/>
            </a:pPr>
            <a:r>
              <a:rPr lang="en-AU" sz="4400" b="1">
                <a:latin typeface="Arial" panose="020B0604020202020204" pitchFamily="34" charset="0"/>
                <a:ea typeface="Calibri" panose="020F0502020204030204" pitchFamily="34" charset="0"/>
                <a:cs typeface="Times New Roman" panose="02020603050405020304" pitchFamily="18" charset="0"/>
              </a:rPr>
              <a:t>Record</a:t>
            </a:r>
            <a:r>
              <a:rPr lang="en-AU" sz="4400">
                <a:latin typeface="Arial" panose="020B0604020202020204" pitchFamily="34" charset="0"/>
                <a:ea typeface="Calibri" panose="020F0502020204030204" pitchFamily="34" charset="0"/>
                <a:cs typeface="Times New Roman" panose="02020603050405020304" pitchFamily="18" charset="0"/>
              </a:rPr>
              <a:t> the next </a:t>
            </a:r>
            <a:r>
              <a:rPr lang="en-AU" sz="4400" b="1">
                <a:latin typeface="Arial" panose="020B0604020202020204" pitchFamily="34" charset="0"/>
                <a:ea typeface="Calibri" panose="020F0502020204030204" pitchFamily="34" charset="0"/>
                <a:cs typeface="Times New Roman" panose="02020603050405020304" pitchFamily="18" charset="0"/>
              </a:rPr>
              <a:t>3 multiples </a:t>
            </a:r>
            <a:r>
              <a:rPr lang="en-AU" sz="4400">
                <a:latin typeface="Arial" panose="020B0604020202020204" pitchFamily="34" charset="0"/>
                <a:ea typeface="Calibri" panose="020F0502020204030204" pitchFamily="34" charset="0"/>
                <a:cs typeface="Times New Roman" panose="02020603050405020304" pitchFamily="18" charset="0"/>
              </a:rPr>
              <a:t>in the pattern</a:t>
            </a:r>
            <a:r>
              <a:rPr lang="en-AU" sz="4400" b="1">
                <a:latin typeface="Arial" panose="020B0604020202020204" pitchFamily="34" charset="0"/>
                <a:ea typeface="Calibri" panose="020F0502020204030204" pitchFamily="34" charset="0"/>
                <a:cs typeface="Times New Roman" panose="02020603050405020304" pitchFamily="18" charset="0"/>
              </a:rPr>
              <a:t>.</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 name="Picture 7" descr="1 dice showing 4 dots. In each step of the pattern another dice is added. There are 4 steps shown.&#10;">
            <a:extLst>
              <a:ext uri="{FF2B5EF4-FFF2-40B4-BE49-F238E27FC236}">
                <a16:creationId xmlns:a16="http://schemas.microsoft.com/office/drawing/2014/main" id="{707BABB5-2C63-34E1-CB12-249919A2F986}"/>
              </a:ext>
            </a:extLst>
          </p:cNvPr>
          <p:cNvPicPr>
            <a:picLocks noChangeAspect="1"/>
          </p:cNvPicPr>
          <p:nvPr/>
        </p:nvPicPr>
        <p:blipFill>
          <a:blip r:embed="rId4"/>
          <a:srcRect l="-1" t="-1597" r="1009"/>
          <a:stretch>
            <a:fillRect/>
          </a:stretch>
        </p:blipFill>
        <p:spPr>
          <a:xfrm>
            <a:off x="3870485" y="3429001"/>
            <a:ext cx="4190303" cy="3177000"/>
          </a:xfrm>
          <a:prstGeom prst="rect">
            <a:avLst/>
          </a:prstGeom>
          <a:ln>
            <a:noFill/>
          </a:ln>
          <a:effectLst/>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3328975-1A60-AF90-EB2E-48F522D71197}"/>
              </a:ext>
            </a:extLst>
          </p:cNvPr>
          <p:cNvSpPr txBox="1"/>
          <p:nvPr/>
        </p:nvSpPr>
        <p:spPr>
          <a:xfrm>
            <a:off x="246023" y="1458409"/>
            <a:ext cx="8115620" cy="4721998"/>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4400">
                <a:effectLst/>
                <a:latin typeface="Arial" panose="020B0604020202020204" pitchFamily="34" charset="0"/>
                <a:ea typeface="Calibri" panose="020F0502020204030204" pitchFamily="34" charset="0"/>
                <a:cs typeface="Times New Roman" panose="02020603050405020304" pitchFamily="18" charset="0"/>
              </a:rPr>
              <a:t>Is a </a:t>
            </a:r>
            <a:r>
              <a:rPr lang="en-AU" sz="4400" b="1">
                <a:effectLst/>
                <a:latin typeface="Arial" panose="020B0604020202020204" pitchFamily="34" charset="0"/>
                <a:ea typeface="Calibri" panose="020F0502020204030204" pitchFamily="34" charset="0"/>
                <a:cs typeface="Times New Roman" panose="02020603050405020304" pitchFamily="18" charset="0"/>
              </a:rPr>
              <a:t>kite</a:t>
            </a:r>
            <a:r>
              <a:rPr lang="en-AU" sz="4400">
                <a:effectLst/>
                <a:latin typeface="Arial" panose="020B0604020202020204" pitchFamily="34" charset="0"/>
                <a:ea typeface="Calibri" panose="020F0502020204030204" pitchFamily="34" charset="0"/>
                <a:cs typeface="Times New Roman" panose="02020603050405020304" pitchFamily="18" charset="0"/>
              </a:rPr>
              <a:t> a </a:t>
            </a:r>
            <a:r>
              <a:rPr lang="en-AU" sz="4400" b="1">
                <a:effectLst/>
                <a:latin typeface="Arial" panose="020B0604020202020204" pitchFamily="34" charset="0"/>
                <a:ea typeface="Calibri" panose="020F0502020204030204" pitchFamily="34" charset="0"/>
                <a:cs typeface="Times New Roman" panose="02020603050405020304" pitchFamily="18" charset="0"/>
              </a:rPr>
              <a:t>quadrilateral</a:t>
            </a:r>
            <a:r>
              <a:rPr lang="en-AU" sz="4400">
                <a:effectLst/>
                <a:latin typeface="Arial" panose="020B0604020202020204" pitchFamily="34" charset="0"/>
                <a:ea typeface="Calibri" panose="020F0502020204030204" pitchFamily="34" charset="0"/>
                <a:cs typeface="Times New Roman" panose="02020603050405020304" pitchFamily="18" charset="0"/>
              </a:rPr>
              <a:t>? </a:t>
            </a:r>
          </a:p>
          <a:p>
            <a:pPr marL="742950" lvl="0" indent="-742950">
              <a:lnSpc>
                <a:spcPct val="150000"/>
              </a:lnSpc>
              <a:spcBef>
                <a:spcPts val="1200"/>
              </a:spcBef>
              <a:spcAft>
                <a:spcPts val="600"/>
              </a:spcAft>
              <a:buFont typeface="+mj-lt"/>
              <a:buAutoNum type="alphaLcParenR"/>
            </a:pPr>
            <a:r>
              <a:rPr lang="en-AU" sz="4400">
                <a:latin typeface="Arial" panose="020B0604020202020204" pitchFamily="34" charset="0"/>
                <a:ea typeface="Calibri" panose="020F0502020204030204" pitchFamily="34" charset="0"/>
                <a:cs typeface="Times New Roman" panose="02020603050405020304" pitchFamily="18" charset="0"/>
              </a:rPr>
              <a:t>Does it have </a:t>
            </a:r>
            <a:r>
              <a:rPr lang="en-AU" sz="4400" b="1">
                <a:latin typeface="Arial" panose="020B0604020202020204" pitchFamily="34" charset="0"/>
                <a:ea typeface="Calibri" panose="020F0502020204030204" pitchFamily="34" charset="0"/>
                <a:cs typeface="Times New Roman" panose="02020603050405020304" pitchFamily="18" charset="0"/>
              </a:rPr>
              <a:t>equal sides</a:t>
            </a:r>
            <a:r>
              <a:rPr lang="en-AU" sz="4400">
                <a:latin typeface="Arial" panose="020B0604020202020204" pitchFamily="34" charset="0"/>
                <a:ea typeface="Calibri" panose="020F0502020204030204" pitchFamily="34" charset="0"/>
                <a:cs typeface="Times New Roman" panose="02020603050405020304" pitchFamily="18" charset="0"/>
              </a:rPr>
              <a:t>?</a:t>
            </a:r>
            <a:endParaRPr lang="en-AU" sz="440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4400">
                <a:effectLst/>
                <a:latin typeface="Arial" panose="020B0604020202020204" pitchFamily="34" charset="0"/>
                <a:ea typeface="Calibri" panose="020F0502020204030204" pitchFamily="34" charset="0"/>
                <a:cs typeface="Times New Roman" panose="02020603050405020304" pitchFamily="18" charset="0"/>
              </a:rPr>
              <a:t>Does it have </a:t>
            </a:r>
            <a:r>
              <a:rPr lang="en-AU" sz="4400" b="1">
                <a:effectLst/>
                <a:latin typeface="Arial" panose="020B0604020202020204" pitchFamily="34" charset="0"/>
                <a:ea typeface="Calibri" panose="020F0502020204030204" pitchFamily="34" charset="0"/>
                <a:cs typeface="Times New Roman" panose="02020603050405020304" pitchFamily="18" charset="0"/>
              </a:rPr>
              <a:t>parallel sides</a:t>
            </a:r>
            <a:r>
              <a:rPr lang="en-AU" sz="4400">
                <a:effectLst/>
                <a:latin typeface="Arial" panose="020B0604020202020204" pitchFamily="34" charset="0"/>
                <a:ea typeface="Calibri" panose="020F0502020204030204" pitchFamily="34" charset="0"/>
                <a:cs typeface="Times New Roman" panose="02020603050405020304" pitchFamily="18" charset="0"/>
              </a:rPr>
              <a:t>? </a:t>
            </a:r>
          </a:p>
          <a:p>
            <a:pPr lvl="0">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Communicate</a:t>
            </a:r>
            <a:r>
              <a:rPr lang="en-AU" sz="4400">
                <a:effectLst/>
                <a:latin typeface="Arial" panose="020B0604020202020204" pitchFamily="34" charset="0"/>
                <a:ea typeface="Calibri" panose="020F0502020204030204" pitchFamily="34" charset="0"/>
                <a:cs typeface="Times New Roman" panose="02020603050405020304" pitchFamily="18" charset="0"/>
              </a:rPr>
              <a:t> your </a:t>
            </a:r>
            <a:r>
              <a:rPr lang="en-AU" sz="4400" b="1">
                <a:effectLst/>
                <a:latin typeface="Arial" panose="020B0604020202020204" pitchFamily="34" charset="0"/>
                <a:ea typeface="Calibri" panose="020F0502020204030204" pitchFamily="34" charset="0"/>
                <a:cs typeface="Times New Roman" panose="02020603050405020304" pitchFamily="18" charset="0"/>
              </a:rPr>
              <a:t>reasoning</a:t>
            </a:r>
            <a:r>
              <a:rPr lang="en-AU" sz="4400">
                <a:effectLst/>
                <a:latin typeface="Arial" panose="020B0604020202020204" pitchFamily="34" charset="0"/>
                <a:ea typeface="Calibri" panose="020F0502020204030204" pitchFamily="34" charset="0"/>
                <a:cs typeface="Times New Roman" panose="02020603050405020304" pitchFamily="18" charset="0"/>
              </a:rPr>
              <a:t>.</a:t>
            </a:r>
          </a:p>
        </p:txBody>
      </p:sp>
      <p:pic>
        <p:nvPicPr>
          <p:cNvPr id="9" name="Picture 8" descr="A kite">
            <a:extLst>
              <a:ext uri="{FF2B5EF4-FFF2-40B4-BE49-F238E27FC236}">
                <a16:creationId xmlns:a16="http://schemas.microsoft.com/office/drawing/2014/main" id="{BF133AC3-E70E-7617-E883-437016FDBC69}"/>
              </a:ext>
            </a:extLst>
          </p:cNvPr>
          <p:cNvPicPr>
            <a:picLocks noChangeAspect="1"/>
          </p:cNvPicPr>
          <p:nvPr/>
        </p:nvPicPr>
        <p:blipFill>
          <a:blip r:embed="rId4"/>
          <a:stretch>
            <a:fillRect/>
          </a:stretch>
        </p:blipFill>
        <p:spPr>
          <a:xfrm>
            <a:off x="8361643" y="1553130"/>
            <a:ext cx="3378374" cy="4140413"/>
          </a:xfrm>
          <a:prstGeom prst="rect">
            <a:avLst/>
          </a:prstGeom>
          <a:ln>
            <a:noFill/>
          </a:ln>
          <a:effectLst/>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E2EB5CE6-8D37-5353-D673-E7D52BA08F5A}"/>
              </a:ext>
            </a:extLst>
          </p:cNvPr>
          <p:cNvSpPr txBox="1"/>
          <p:nvPr/>
        </p:nvSpPr>
        <p:spPr>
          <a:xfrm>
            <a:off x="1663566" y="1491366"/>
            <a:ext cx="8864867" cy="3013838"/>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Rearrange</a:t>
            </a:r>
            <a:r>
              <a:rPr lang="en-AU" sz="4400">
                <a:effectLst/>
                <a:latin typeface="Arial" panose="020B0604020202020204" pitchFamily="34" charset="0"/>
                <a:ea typeface="Calibri" panose="020F0502020204030204" pitchFamily="34" charset="0"/>
                <a:cs typeface="Times New Roman" panose="02020603050405020304" pitchFamily="18" charset="0"/>
              </a:rPr>
              <a:t> t</a:t>
            </a:r>
            <a:r>
              <a:rPr lang="en-AU" sz="4400">
                <a:latin typeface="Arial" panose="020B0604020202020204" pitchFamily="34" charset="0"/>
                <a:ea typeface="Calibri" panose="020F0502020204030204" pitchFamily="34" charset="0"/>
                <a:cs typeface="Times New Roman" panose="02020603050405020304" pitchFamily="18" charset="0"/>
              </a:rPr>
              <a:t>he digits in </a:t>
            </a:r>
            <a:r>
              <a:rPr lang="en-AU" sz="4400" b="1">
                <a:latin typeface="Arial" panose="020B0604020202020204" pitchFamily="34" charset="0"/>
                <a:ea typeface="Calibri" panose="020F0502020204030204" pitchFamily="34" charset="0"/>
                <a:cs typeface="Times New Roman" panose="02020603050405020304" pitchFamily="18" charset="0"/>
              </a:rPr>
              <a:t>45 712 </a:t>
            </a:r>
            <a:r>
              <a:rPr lang="en-AU" sz="4400">
                <a:latin typeface="Arial" panose="020B0604020202020204" pitchFamily="34" charset="0"/>
                <a:ea typeface="Calibri" panose="020F0502020204030204" pitchFamily="34" charset="0"/>
                <a:cs typeface="Times New Roman" panose="02020603050405020304" pitchFamily="18" charset="0"/>
              </a:rPr>
              <a:t>to make the </a:t>
            </a:r>
            <a:r>
              <a:rPr lang="en-AU" sz="4400" b="1">
                <a:latin typeface="Arial" panose="020B0604020202020204" pitchFamily="34" charset="0"/>
                <a:ea typeface="Calibri" panose="020F0502020204030204" pitchFamily="34" charset="0"/>
                <a:cs typeface="Times New Roman" panose="02020603050405020304" pitchFamily="18" charset="0"/>
              </a:rPr>
              <a:t>smallest</a:t>
            </a:r>
            <a:r>
              <a:rPr lang="en-AU" sz="4400">
                <a:latin typeface="Arial" panose="020B0604020202020204" pitchFamily="34" charset="0"/>
                <a:ea typeface="Calibri" panose="020F0502020204030204" pitchFamily="34" charset="0"/>
                <a:cs typeface="Times New Roman" panose="02020603050405020304" pitchFamily="18" charset="0"/>
              </a:rPr>
              <a:t> and </a:t>
            </a:r>
            <a:r>
              <a:rPr lang="en-AU" sz="4400" b="1">
                <a:latin typeface="Arial" panose="020B0604020202020204" pitchFamily="34" charset="0"/>
                <a:ea typeface="Calibri" panose="020F0502020204030204" pitchFamily="34" charset="0"/>
                <a:cs typeface="Times New Roman" panose="02020603050405020304" pitchFamily="18" charset="0"/>
              </a:rPr>
              <a:t>largest</a:t>
            </a:r>
            <a:r>
              <a:rPr lang="en-AU" sz="4400">
                <a:latin typeface="Arial" panose="020B0604020202020204" pitchFamily="34" charset="0"/>
                <a:ea typeface="Calibri" panose="020F0502020204030204" pitchFamily="34" charset="0"/>
                <a:cs typeface="Times New Roman" panose="02020603050405020304" pitchFamily="18" charset="0"/>
              </a:rPr>
              <a:t> number possible.</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9026340D-714C-3928-93CC-7AE1C9B913F9}"/>
              </a:ext>
            </a:extLst>
          </p:cNvPr>
          <p:cNvSpPr txBox="1"/>
          <p:nvPr/>
        </p:nvSpPr>
        <p:spPr>
          <a:xfrm>
            <a:off x="246024" y="1100127"/>
            <a:ext cx="8074137" cy="5437322"/>
          </a:xfrm>
          <a:prstGeom prst="rect">
            <a:avLst/>
          </a:prstGeom>
          <a:noFill/>
        </p:spPr>
        <p:txBody>
          <a:bodyPr wrap="square">
            <a:spAutoFit/>
          </a:bodyPr>
          <a:lstStyle/>
          <a:p>
            <a:pPr lvl="0">
              <a:lnSpc>
                <a:spcPct val="150000"/>
              </a:lnSpc>
              <a:spcBef>
                <a:spcPts val="1200"/>
              </a:spcBef>
              <a:spcAft>
                <a:spcPts val="600"/>
              </a:spcAft>
            </a:pPr>
            <a:r>
              <a:rPr lang="en-AU" sz="3600">
                <a:effectLst/>
                <a:latin typeface="Arial" panose="020B0604020202020204" pitchFamily="34" charset="0"/>
                <a:ea typeface="Calibri" panose="020F0502020204030204" pitchFamily="34" charset="0"/>
                <a:cs typeface="Times New Roman" panose="02020603050405020304" pitchFamily="18" charset="0"/>
              </a:rPr>
              <a:t>Flynn measured his sister’s height.</a:t>
            </a:r>
          </a:p>
          <a:p>
            <a:pPr lvl="0">
              <a:lnSpc>
                <a:spcPct val="150000"/>
              </a:lnSpc>
              <a:spcBef>
                <a:spcPts val="1200"/>
              </a:spcBef>
              <a:spcAft>
                <a:spcPts val="600"/>
              </a:spcAft>
            </a:pPr>
            <a:r>
              <a:rPr lang="en-AU" sz="3600">
                <a:effectLst/>
                <a:latin typeface="Arial" panose="020B0604020202020204" pitchFamily="34" charset="0"/>
                <a:ea typeface="Calibri" panose="020F0502020204030204" pitchFamily="34" charset="0"/>
                <a:cs typeface="Times New Roman" panose="02020603050405020304" pitchFamily="18" charset="0"/>
              </a:rPr>
              <a:t>The </a:t>
            </a:r>
            <a:r>
              <a:rPr lang="en-AU" sz="3600" b="1">
                <a:effectLst/>
                <a:latin typeface="Arial" panose="020B0604020202020204" pitchFamily="34" charset="0"/>
                <a:ea typeface="Calibri" panose="020F0502020204030204" pitchFamily="34" charset="0"/>
                <a:cs typeface="Times New Roman" panose="02020603050405020304" pitchFamily="18" charset="0"/>
              </a:rPr>
              <a:t>arrow</a:t>
            </a:r>
            <a:r>
              <a:rPr lang="en-AU" sz="3600">
                <a:effectLst/>
                <a:latin typeface="Arial" panose="020B0604020202020204" pitchFamily="34" charset="0"/>
                <a:ea typeface="Calibri" panose="020F0502020204030204" pitchFamily="34" charset="0"/>
                <a:cs typeface="Times New Roman" panose="02020603050405020304" pitchFamily="18" charset="0"/>
              </a:rPr>
              <a:t> shows her height on a tape measure.</a:t>
            </a:r>
          </a:p>
          <a:p>
            <a:pPr lvl="0">
              <a:lnSpc>
                <a:spcPct val="150000"/>
              </a:lnSpc>
              <a:spcBef>
                <a:spcPts val="1200"/>
              </a:spcBef>
              <a:spcAft>
                <a:spcPts val="600"/>
              </a:spcAft>
            </a:pPr>
            <a:r>
              <a:rPr lang="en-AU" sz="3600" b="1">
                <a:latin typeface="Arial" panose="020B0604020202020204" pitchFamily="34" charset="0"/>
                <a:ea typeface="Calibri" panose="020F0502020204030204" pitchFamily="34" charset="0"/>
                <a:cs typeface="Times New Roman" panose="02020603050405020304" pitchFamily="18" charset="0"/>
              </a:rPr>
              <a:t>Record</a:t>
            </a:r>
            <a:r>
              <a:rPr lang="en-AU" sz="3600">
                <a:latin typeface="Arial" panose="020B0604020202020204" pitchFamily="34" charset="0"/>
                <a:ea typeface="Calibri" panose="020F0502020204030204" pitchFamily="34" charset="0"/>
                <a:cs typeface="Times New Roman" panose="02020603050405020304" pitchFamily="18" charset="0"/>
              </a:rPr>
              <a:t> the height using a </a:t>
            </a:r>
            <a:r>
              <a:rPr lang="en-AU" sz="3600" b="1">
                <a:latin typeface="Arial" panose="020B0604020202020204" pitchFamily="34" charset="0"/>
                <a:ea typeface="Calibri" panose="020F0502020204030204" pitchFamily="34" charset="0"/>
                <a:cs typeface="Times New Roman" panose="02020603050405020304" pitchFamily="18" charset="0"/>
              </a:rPr>
              <a:t>combination</a:t>
            </a:r>
            <a:r>
              <a:rPr lang="en-AU" sz="3600">
                <a:latin typeface="Arial" panose="020B0604020202020204" pitchFamily="34" charset="0"/>
                <a:ea typeface="Calibri" panose="020F0502020204030204" pitchFamily="34" charset="0"/>
                <a:cs typeface="Times New Roman" panose="02020603050405020304" pitchFamily="18" charset="0"/>
              </a:rPr>
              <a:t> of </a:t>
            </a:r>
            <a:r>
              <a:rPr lang="en-AU" sz="3600" b="1">
                <a:latin typeface="Arial" panose="020B0604020202020204" pitchFamily="34" charset="0"/>
                <a:ea typeface="Calibri" panose="020F0502020204030204" pitchFamily="34" charset="0"/>
                <a:cs typeface="Times New Roman" panose="02020603050405020304" pitchFamily="18" charset="0"/>
              </a:rPr>
              <a:t>metres</a:t>
            </a:r>
            <a:r>
              <a:rPr lang="en-AU" sz="3600">
                <a:latin typeface="Arial" panose="020B0604020202020204" pitchFamily="34" charset="0"/>
                <a:ea typeface="Calibri" panose="020F0502020204030204" pitchFamily="34" charset="0"/>
                <a:cs typeface="Times New Roman" panose="02020603050405020304" pitchFamily="18" charset="0"/>
              </a:rPr>
              <a:t> and </a:t>
            </a:r>
            <a:r>
              <a:rPr lang="en-AU" sz="3600" b="1">
                <a:latin typeface="Arial" panose="020B0604020202020204" pitchFamily="34" charset="0"/>
                <a:ea typeface="Calibri" panose="020F0502020204030204" pitchFamily="34" charset="0"/>
                <a:cs typeface="Times New Roman" panose="02020603050405020304" pitchFamily="18" charset="0"/>
              </a:rPr>
              <a:t>centimetres.</a:t>
            </a:r>
            <a:r>
              <a:rPr lang="en-AU" sz="3600">
                <a:effectLst/>
                <a:latin typeface="Arial" panose="020B0604020202020204" pitchFamily="34" charset="0"/>
                <a:ea typeface="Calibri" panose="020F0502020204030204" pitchFamily="34" charset="0"/>
                <a:cs typeface="Times New Roman" panose="02020603050405020304" pitchFamily="18" charset="0"/>
              </a:rPr>
              <a:t> </a:t>
            </a:r>
          </a:p>
        </p:txBody>
      </p:sp>
      <p:pic>
        <p:nvPicPr>
          <p:cNvPr id="7" name="Picture 6" descr="A tape measure with an arrow indicating a mark between 120 and 130. The letter cm are at the bottom of the tape measure.">
            <a:extLst>
              <a:ext uri="{FF2B5EF4-FFF2-40B4-BE49-F238E27FC236}">
                <a16:creationId xmlns:a16="http://schemas.microsoft.com/office/drawing/2014/main" id="{91C1BB8E-1B28-4E57-90E4-EAD4C5C25281}"/>
              </a:ext>
            </a:extLst>
          </p:cNvPr>
          <p:cNvPicPr>
            <a:picLocks noChangeAspect="1"/>
          </p:cNvPicPr>
          <p:nvPr/>
        </p:nvPicPr>
        <p:blipFill>
          <a:blip r:embed="rId4"/>
          <a:stretch>
            <a:fillRect/>
          </a:stretch>
        </p:blipFill>
        <p:spPr>
          <a:xfrm>
            <a:off x="7098630" y="3429000"/>
            <a:ext cx="4558587" cy="2312568"/>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multiples madness (1)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26" name="Picture 2" descr="A 10 x 10 multiplication chart.">
            <a:extLst>
              <a:ext uri="{FF2B5EF4-FFF2-40B4-BE49-F238E27FC236}">
                <a16:creationId xmlns:a16="http://schemas.microsoft.com/office/drawing/2014/main" id="{D05787EB-F7FE-15F1-0D72-42949229EA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7351" y="905601"/>
            <a:ext cx="5807141" cy="59699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descr="Highlighting the multiples of 4 column on the 10 x 10 multiplication chart">
            <a:extLst>
              <a:ext uri="{FF2B5EF4-FFF2-40B4-BE49-F238E27FC236}">
                <a16:creationId xmlns:a16="http://schemas.microsoft.com/office/drawing/2014/main" id="{2DB81164-3A63-EEEA-99C5-9CAD6AFA3243}"/>
              </a:ext>
            </a:extLst>
          </p:cNvPr>
          <p:cNvSpPr/>
          <p:nvPr/>
        </p:nvSpPr>
        <p:spPr>
          <a:xfrm>
            <a:off x="5255394" y="1559293"/>
            <a:ext cx="481263" cy="5043638"/>
          </a:xfrm>
          <a:prstGeom prst="rect">
            <a:avLst/>
          </a:prstGeom>
          <a:solidFill>
            <a:schemeClr val="accent3">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descr="Highlighting the multiples of 4 row on the 10 x 10 multiplication chart">
            <a:extLst>
              <a:ext uri="{FF2B5EF4-FFF2-40B4-BE49-F238E27FC236}">
                <a16:creationId xmlns:a16="http://schemas.microsoft.com/office/drawing/2014/main" id="{6C487416-F8FB-A0F4-7E3E-7BFD305C8BB6}"/>
              </a:ext>
            </a:extLst>
          </p:cNvPr>
          <p:cNvSpPr/>
          <p:nvPr/>
        </p:nvSpPr>
        <p:spPr>
          <a:xfrm rot="16200000">
            <a:off x="5963241" y="938074"/>
            <a:ext cx="509361" cy="4774128"/>
          </a:xfrm>
          <a:prstGeom prst="rect">
            <a:avLst/>
          </a:prstGeom>
          <a:solidFill>
            <a:schemeClr val="accent3">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descr="Highlighting the multiples of 8 row on the 10 x 10 multiplication chart">
            <a:extLst>
              <a:ext uri="{FF2B5EF4-FFF2-40B4-BE49-F238E27FC236}">
                <a16:creationId xmlns:a16="http://schemas.microsoft.com/office/drawing/2014/main" id="{134E844C-28E8-C3A4-1AAE-737E3B27437D}"/>
              </a:ext>
            </a:extLst>
          </p:cNvPr>
          <p:cNvSpPr/>
          <p:nvPr/>
        </p:nvSpPr>
        <p:spPr>
          <a:xfrm rot="16200000">
            <a:off x="5963240" y="2958600"/>
            <a:ext cx="509361" cy="4774128"/>
          </a:xfrm>
          <a:prstGeom prst="rect">
            <a:avLst/>
          </a:prstGeom>
          <a:solidFill>
            <a:srgbClr val="92D050">
              <a:alpha val="43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descr="Highlighting the multiples of 8 column on the 10 x 10 multiplication chart">
            <a:extLst>
              <a:ext uri="{FF2B5EF4-FFF2-40B4-BE49-F238E27FC236}">
                <a16:creationId xmlns:a16="http://schemas.microsoft.com/office/drawing/2014/main" id="{3FDA7886-0F16-3F6C-4DC3-24C807429307}"/>
              </a:ext>
            </a:extLst>
          </p:cNvPr>
          <p:cNvSpPr/>
          <p:nvPr/>
        </p:nvSpPr>
        <p:spPr>
          <a:xfrm>
            <a:off x="7161194" y="1559293"/>
            <a:ext cx="481263" cy="5043638"/>
          </a:xfrm>
          <a:prstGeom prst="rect">
            <a:avLst/>
          </a:prstGeom>
          <a:solidFill>
            <a:srgbClr val="92D050">
              <a:alpha val="43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2D922-61AA-CE39-4AE8-12771AC55E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665AFE-5603-DA3E-89A3-C99780163A3D}"/>
              </a:ext>
            </a:extLst>
          </p:cNvPr>
          <p:cNvSpPr>
            <a:spLocks noGrp="1"/>
          </p:cNvSpPr>
          <p:nvPr>
            <p:ph type="title"/>
          </p:nvPr>
        </p:nvSpPr>
        <p:spPr>
          <a:xfrm>
            <a:off x="360000" y="360000"/>
            <a:ext cx="10367268" cy="545601"/>
          </a:xfrm>
        </p:spPr>
        <p:txBody>
          <a:bodyPr/>
          <a:lstStyle/>
          <a:p>
            <a:r>
              <a:rPr lang="en-AU"/>
              <a:t>Activity 1 – multiples madness (2)</a:t>
            </a:r>
          </a:p>
        </p:txBody>
      </p:sp>
      <p:pic>
        <p:nvPicPr>
          <p:cNvPr id="4" name="Picture 3">
            <a:extLst>
              <a:ext uri="{FF2B5EF4-FFF2-40B4-BE49-F238E27FC236}">
                <a16:creationId xmlns:a16="http://schemas.microsoft.com/office/drawing/2014/main" id="{1062A787-B09B-6C4E-0433-9DE74510AE2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 name="Picture 9" descr="A grid gameboard with the multiples of 4 filled in with the numbers 4, 8, 12, 16, 20, 24, 28, 32, 36.&#10;&#10;A counter has been placed on 12 and 32.">
            <a:extLst>
              <a:ext uri="{FF2B5EF4-FFF2-40B4-BE49-F238E27FC236}">
                <a16:creationId xmlns:a16="http://schemas.microsoft.com/office/drawing/2014/main" id="{E18F30AB-51D1-C7BF-327A-FEF3DE1B0D18}"/>
              </a:ext>
            </a:extLst>
          </p:cNvPr>
          <p:cNvPicPr>
            <a:picLocks noChangeAspect="1"/>
          </p:cNvPicPr>
          <p:nvPr/>
        </p:nvPicPr>
        <p:blipFill>
          <a:blip r:embed="rId4"/>
          <a:stretch>
            <a:fillRect/>
          </a:stretch>
        </p:blipFill>
        <p:spPr>
          <a:xfrm>
            <a:off x="322221" y="905601"/>
            <a:ext cx="5322965" cy="5360123"/>
          </a:xfrm>
          <a:prstGeom prst="rect">
            <a:avLst/>
          </a:prstGeom>
        </p:spPr>
      </p:pic>
      <p:sp>
        <p:nvSpPr>
          <p:cNvPr id="18" name="Oval 17" descr="A transparent purple circle covering the number 32">
            <a:extLst>
              <a:ext uri="{FF2B5EF4-FFF2-40B4-BE49-F238E27FC236}">
                <a16:creationId xmlns:a16="http://schemas.microsoft.com/office/drawing/2014/main" id="{1219BE37-9020-7BEC-6F97-E9E33A145E39}"/>
              </a:ext>
              <a:ext uri="{C183D7F6-B498-43B3-948B-1728B52AA6E4}">
                <adec:decorative xmlns:adec="http://schemas.microsoft.com/office/drawing/2017/decorative" val="0"/>
              </a:ext>
            </a:extLst>
          </p:cNvPr>
          <p:cNvSpPr/>
          <p:nvPr/>
        </p:nvSpPr>
        <p:spPr>
          <a:xfrm>
            <a:off x="4552238" y="1346357"/>
            <a:ext cx="558266" cy="545601"/>
          </a:xfrm>
          <a:prstGeom prst="ellipse">
            <a:avLst/>
          </a:prstGeom>
          <a:solidFill>
            <a:srgbClr val="7030A0">
              <a:alpha val="4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descr="A transparent green circle covering  the number 12">
            <a:extLst>
              <a:ext uri="{FF2B5EF4-FFF2-40B4-BE49-F238E27FC236}">
                <a16:creationId xmlns:a16="http://schemas.microsoft.com/office/drawing/2014/main" id="{BB5D4973-3C72-D7C4-F576-46808A794B7C}"/>
              </a:ext>
              <a:ext uri="{C183D7F6-B498-43B3-948B-1728B52AA6E4}">
                <adec:decorative xmlns:adec="http://schemas.microsoft.com/office/drawing/2017/decorative" val="0"/>
              </a:ext>
            </a:extLst>
          </p:cNvPr>
          <p:cNvSpPr/>
          <p:nvPr/>
        </p:nvSpPr>
        <p:spPr>
          <a:xfrm>
            <a:off x="875899" y="3205638"/>
            <a:ext cx="558266" cy="545601"/>
          </a:xfrm>
          <a:prstGeom prst="ellipse">
            <a:avLst/>
          </a:prstGeom>
          <a:solidFill>
            <a:srgbClr val="87D830">
              <a:alpha val="4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11" descr="A table with the headings - Player 1 and Player 2.&#10;&#10;The sub heading are rolled and number sentence.&#10;&#10;The numbers 3 and 3 x 4 = 12 is written under Player 1&#10;&#10;The number 8 and 8 x 4 = 32 is written under Player 2.">
            <a:extLst>
              <a:ext uri="{FF2B5EF4-FFF2-40B4-BE49-F238E27FC236}">
                <a16:creationId xmlns:a16="http://schemas.microsoft.com/office/drawing/2014/main" id="{3A882F77-4E2C-0B1F-3D73-6182CAF097F9}"/>
              </a:ext>
            </a:extLst>
          </p:cNvPr>
          <p:cNvPicPr>
            <a:picLocks noChangeAspect="1"/>
          </p:cNvPicPr>
          <p:nvPr/>
        </p:nvPicPr>
        <p:blipFill>
          <a:blip r:embed="rId5"/>
          <a:stretch>
            <a:fillRect/>
          </a:stretch>
        </p:blipFill>
        <p:spPr>
          <a:xfrm>
            <a:off x="5679099" y="1693760"/>
            <a:ext cx="6190680" cy="4282091"/>
          </a:xfrm>
          <a:prstGeom prst="rect">
            <a:avLst/>
          </a:prstGeom>
        </p:spPr>
      </p:pic>
      <p:sp>
        <p:nvSpPr>
          <p:cNvPr id="13" name="TextBox 12">
            <a:extLst>
              <a:ext uri="{FF2B5EF4-FFF2-40B4-BE49-F238E27FC236}">
                <a16:creationId xmlns:a16="http://schemas.microsoft.com/office/drawing/2014/main" id="{713D435B-2432-90D1-F18F-9668654D5B01}"/>
              </a:ext>
              <a:ext uri="{C183D7F6-B498-43B3-948B-1728B52AA6E4}">
                <adec:decorative xmlns:adec="http://schemas.microsoft.com/office/drawing/2017/decorative" val="0"/>
              </a:ext>
            </a:extLst>
          </p:cNvPr>
          <p:cNvSpPr txBox="1"/>
          <p:nvPr/>
        </p:nvSpPr>
        <p:spPr>
          <a:xfrm>
            <a:off x="6026990" y="2830731"/>
            <a:ext cx="259882" cy="327259"/>
          </a:xfrm>
          <a:prstGeom prst="rect">
            <a:avLst/>
          </a:prstGeom>
          <a:noFill/>
        </p:spPr>
        <p:txBody>
          <a:bodyPr wrap="square" lIns="0" tIns="0" rIns="0" bIns="0" rtlCol="0">
            <a:noAutofit/>
          </a:bodyPr>
          <a:lstStyle/>
          <a:p>
            <a:pPr algn="l"/>
            <a:r>
              <a:rPr lang="en-AU" sz="3200">
                <a:solidFill>
                  <a:srgbClr val="00B050"/>
                </a:solidFill>
              </a:rPr>
              <a:t>3</a:t>
            </a:r>
          </a:p>
        </p:txBody>
      </p:sp>
      <p:sp>
        <p:nvSpPr>
          <p:cNvPr id="14" name="TextBox 13">
            <a:extLst>
              <a:ext uri="{FF2B5EF4-FFF2-40B4-BE49-F238E27FC236}">
                <a16:creationId xmlns:a16="http://schemas.microsoft.com/office/drawing/2014/main" id="{5911E767-8A3F-F0CD-BAF4-F78805158E69}"/>
              </a:ext>
              <a:ext uri="{C183D7F6-B498-43B3-948B-1728B52AA6E4}">
                <adec:decorative xmlns:adec="http://schemas.microsoft.com/office/drawing/2017/decorative" val="0"/>
              </a:ext>
            </a:extLst>
          </p:cNvPr>
          <p:cNvSpPr txBox="1"/>
          <p:nvPr/>
        </p:nvSpPr>
        <p:spPr>
          <a:xfrm>
            <a:off x="6663951" y="2811993"/>
            <a:ext cx="1875321" cy="550621"/>
          </a:xfrm>
          <a:prstGeom prst="rect">
            <a:avLst/>
          </a:prstGeom>
          <a:noFill/>
        </p:spPr>
        <p:txBody>
          <a:bodyPr wrap="square" lIns="0" tIns="0" rIns="0" bIns="0" rtlCol="0">
            <a:noAutofit/>
          </a:bodyPr>
          <a:lstStyle/>
          <a:p>
            <a:r>
              <a:rPr lang="en-AU" sz="3200">
                <a:solidFill>
                  <a:srgbClr val="00B050"/>
                </a:solidFill>
              </a:rPr>
              <a:t>3 × 4 = 12</a:t>
            </a:r>
          </a:p>
        </p:txBody>
      </p:sp>
      <p:sp>
        <p:nvSpPr>
          <p:cNvPr id="16" name="TextBox 15">
            <a:extLst>
              <a:ext uri="{FF2B5EF4-FFF2-40B4-BE49-F238E27FC236}">
                <a16:creationId xmlns:a16="http://schemas.microsoft.com/office/drawing/2014/main" id="{84A1D2F1-F958-0B48-19C5-2CC4B90560F2}"/>
              </a:ext>
              <a:ext uri="{C183D7F6-B498-43B3-948B-1728B52AA6E4}">
                <adec:decorative xmlns:adec="http://schemas.microsoft.com/office/drawing/2017/decorative" val="0"/>
              </a:ext>
            </a:extLst>
          </p:cNvPr>
          <p:cNvSpPr txBox="1"/>
          <p:nvPr/>
        </p:nvSpPr>
        <p:spPr>
          <a:xfrm>
            <a:off x="9140785" y="2811993"/>
            <a:ext cx="259882" cy="327259"/>
          </a:xfrm>
          <a:prstGeom prst="rect">
            <a:avLst/>
          </a:prstGeom>
          <a:noFill/>
        </p:spPr>
        <p:txBody>
          <a:bodyPr wrap="square" lIns="0" tIns="0" rIns="0" bIns="0" rtlCol="0">
            <a:noAutofit/>
          </a:bodyPr>
          <a:lstStyle/>
          <a:p>
            <a:pPr algn="l"/>
            <a:r>
              <a:rPr lang="en-AU" sz="3200">
                <a:solidFill>
                  <a:srgbClr val="7030A0"/>
                </a:solidFill>
              </a:rPr>
              <a:t>8</a:t>
            </a:r>
          </a:p>
        </p:txBody>
      </p:sp>
      <p:sp>
        <p:nvSpPr>
          <p:cNvPr id="17" name="TextBox 16">
            <a:extLst>
              <a:ext uri="{FF2B5EF4-FFF2-40B4-BE49-F238E27FC236}">
                <a16:creationId xmlns:a16="http://schemas.microsoft.com/office/drawing/2014/main" id="{7944DDCD-F31E-F159-10BE-ED9590DCC557}"/>
              </a:ext>
              <a:ext uri="{C183D7F6-B498-43B3-948B-1728B52AA6E4}">
                <adec:decorative xmlns:adec="http://schemas.microsoft.com/office/drawing/2017/decorative" val="0"/>
              </a:ext>
            </a:extLst>
          </p:cNvPr>
          <p:cNvSpPr txBox="1"/>
          <p:nvPr/>
        </p:nvSpPr>
        <p:spPr>
          <a:xfrm>
            <a:off x="9789608" y="2811993"/>
            <a:ext cx="1875320" cy="442338"/>
          </a:xfrm>
          <a:prstGeom prst="rect">
            <a:avLst/>
          </a:prstGeom>
          <a:noFill/>
        </p:spPr>
        <p:txBody>
          <a:bodyPr wrap="square" lIns="0" tIns="0" rIns="0" bIns="0" rtlCol="0">
            <a:noAutofit/>
          </a:bodyPr>
          <a:lstStyle/>
          <a:p>
            <a:r>
              <a:rPr lang="en-AU" sz="3200">
                <a:solidFill>
                  <a:srgbClr val="7030A0"/>
                </a:solidFill>
              </a:rPr>
              <a:t>8 × 4 = 32</a:t>
            </a:r>
          </a:p>
        </p:txBody>
      </p:sp>
      <p:sp>
        <p:nvSpPr>
          <p:cNvPr id="2" name="Slide Number Placeholder 1">
            <a:extLst>
              <a:ext uri="{FF2B5EF4-FFF2-40B4-BE49-F238E27FC236}">
                <a16:creationId xmlns:a16="http://schemas.microsoft.com/office/drawing/2014/main" id="{622BA45F-B3CD-29A6-981E-00F4E6EE22C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2901415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5" grpId="0" animBg="1"/>
      <p:bldP spid="13" grpId="0"/>
      <p:bldP spid="14"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730657" y="1054103"/>
            <a:ext cx="11243037" cy="893226"/>
          </a:xfrm>
        </p:spPr>
        <p:txBody>
          <a:bodyPr/>
          <a:lstStyle/>
          <a:p>
            <a:pPr algn="ctr"/>
            <a:r>
              <a:rPr lang="en-AU" sz="4400"/>
              <a:t>The missing number in the fact family triangle is </a:t>
            </a:r>
            <a:r>
              <a:rPr lang="en-AU" sz="4400" b="1"/>
              <a:t>8.</a:t>
            </a:r>
            <a:endParaRPr lang="en-AU" sz="4400"/>
          </a:p>
        </p:txBody>
      </p:sp>
      <p:pic>
        <p:nvPicPr>
          <p:cNvPr id="7" name="Picture 6" descr="Fact family triangle:&#10;?, 6, 42">
            <a:extLst>
              <a:ext uri="{FF2B5EF4-FFF2-40B4-BE49-F238E27FC236}">
                <a16:creationId xmlns:a16="http://schemas.microsoft.com/office/drawing/2014/main" id="{D615F649-CB8C-0A93-1D9C-1913DD9F26FC}"/>
              </a:ext>
            </a:extLst>
          </p:cNvPr>
          <p:cNvPicPr>
            <a:picLocks noChangeAspect="1"/>
          </p:cNvPicPr>
          <p:nvPr/>
        </p:nvPicPr>
        <p:blipFill>
          <a:blip r:embed="rId4"/>
          <a:stretch>
            <a:fillRect/>
          </a:stretch>
        </p:blipFill>
        <p:spPr>
          <a:xfrm>
            <a:off x="4625198" y="3247242"/>
            <a:ext cx="3193901" cy="2362431"/>
          </a:xfrm>
          <a:prstGeom prst="rect">
            <a:avLst/>
          </a:prstGeom>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510543678"/>
              </p:ext>
            </p:extLst>
          </p:nvPr>
        </p:nvGraphicFramePr>
        <p:xfrm>
          <a:off x="2683611" y="5803897"/>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8C051BA9-888C-2B97-EF92-044ABDD3DDB2}"/>
              </a:ext>
            </a:extLst>
          </p:cNvPr>
          <p:cNvSpPr txBox="1">
            <a:spLocks/>
          </p:cNvSpPr>
          <p:nvPr/>
        </p:nvSpPr>
        <p:spPr>
          <a:xfrm>
            <a:off x="1520792" y="1451362"/>
            <a:ext cx="896112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first </a:t>
            </a:r>
            <a:r>
              <a:rPr lang="en-AU" sz="4400" b="1"/>
              <a:t>10</a:t>
            </a:r>
            <a:r>
              <a:rPr lang="en-AU" sz="4400"/>
              <a:t> </a:t>
            </a:r>
            <a:r>
              <a:rPr lang="en-AU" sz="4400" b="1"/>
              <a:t>multiples</a:t>
            </a:r>
            <a:r>
              <a:rPr lang="en-AU" sz="4400"/>
              <a:t> when counting by </a:t>
            </a:r>
            <a:r>
              <a:rPr lang="en-AU" sz="4400" b="1"/>
              <a:t>twos</a:t>
            </a:r>
            <a:r>
              <a:rPr lang="en-AU" sz="4400"/>
              <a:t> and </a:t>
            </a:r>
            <a:r>
              <a:rPr lang="en-AU" sz="4400" b="1"/>
              <a:t>fours.</a:t>
            </a:r>
          </a:p>
          <a:p>
            <a:pPr algn="ctr"/>
            <a:r>
              <a:rPr lang="en-AU" sz="4400" b="1"/>
              <a:t>Circle </a:t>
            </a:r>
            <a:r>
              <a:rPr lang="en-AU" sz="4400"/>
              <a:t>the numbers that appear in </a:t>
            </a:r>
            <a:r>
              <a:rPr lang="en-AU" sz="4400" b="1"/>
              <a:t>both sequences.</a:t>
            </a:r>
            <a:endParaRPr lang="en-AU" sz="44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610F023C-6778-FF8C-BD6C-9682749D78B4}"/>
              </a:ext>
            </a:extLst>
          </p:cNvPr>
          <p:cNvSpPr txBox="1"/>
          <p:nvPr/>
        </p:nvSpPr>
        <p:spPr>
          <a:xfrm>
            <a:off x="126338" y="769638"/>
            <a:ext cx="11391894" cy="3671583"/>
          </a:xfrm>
          <a:prstGeom prst="rect">
            <a:avLst/>
          </a:prstGeom>
          <a:noFill/>
        </p:spPr>
        <p:txBody>
          <a:bodyPr wrap="square">
            <a:spAutoFit/>
          </a:bodyPr>
          <a:lstStyle/>
          <a:p>
            <a:pPr algn="ctr">
              <a:lnSpc>
                <a:spcPct val="150000"/>
              </a:lnSpc>
            </a:pPr>
            <a:r>
              <a:rPr lang="en-AU" sz="4000" b="1">
                <a:effectLst/>
                <a:latin typeface="Arial" panose="020B0604020202020204" pitchFamily="34" charset="0"/>
                <a:ea typeface="Calibri" panose="020F0502020204030204" pitchFamily="34" charset="0"/>
              </a:rPr>
              <a:t>This shape has </a:t>
            </a:r>
            <a:r>
              <a:rPr lang="en-AU" sz="4000">
                <a:effectLst/>
                <a:latin typeface="Arial" panose="020B0604020202020204" pitchFamily="34" charset="0"/>
                <a:ea typeface="Calibri" panose="020F0502020204030204" pitchFamily="34" charset="0"/>
              </a:rPr>
              <a:t>been created by combining other shapes. </a:t>
            </a:r>
          </a:p>
          <a:p>
            <a:pPr marL="742950" indent="-742950" algn="ctr">
              <a:lnSpc>
                <a:spcPct val="150000"/>
              </a:lnSpc>
              <a:buFont typeface="+mj-lt"/>
              <a:buAutoNum type="alphaLcParenR"/>
            </a:pPr>
            <a:r>
              <a:rPr lang="en-AU" sz="4000">
                <a:latin typeface="Arial" panose="020B0604020202020204" pitchFamily="34" charset="0"/>
                <a:ea typeface="Calibri" panose="020F0502020204030204" pitchFamily="34" charset="0"/>
              </a:rPr>
              <a:t>What is the </a:t>
            </a:r>
            <a:r>
              <a:rPr lang="en-AU" sz="4000" b="1">
                <a:latin typeface="Arial" panose="020B0604020202020204" pitchFamily="34" charset="0"/>
                <a:ea typeface="Calibri" panose="020F0502020204030204" pitchFamily="34" charset="0"/>
              </a:rPr>
              <a:t>name</a:t>
            </a:r>
            <a:r>
              <a:rPr lang="en-AU" sz="4000">
                <a:latin typeface="Arial" panose="020B0604020202020204" pitchFamily="34" charset="0"/>
                <a:ea typeface="Calibri" panose="020F0502020204030204" pitchFamily="34" charset="0"/>
              </a:rPr>
              <a:t> of the </a:t>
            </a:r>
            <a:r>
              <a:rPr lang="en-AU" sz="4000" b="1">
                <a:latin typeface="Arial" panose="020B0604020202020204" pitchFamily="34" charset="0"/>
                <a:ea typeface="Calibri" panose="020F0502020204030204" pitchFamily="34" charset="0"/>
              </a:rPr>
              <a:t>new </a:t>
            </a:r>
            <a:r>
              <a:rPr lang="en-AU" sz="4000">
                <a:latin typeface="Arial" panose="020B0604020202020204" pitchFamily="34" charset="0"/>
                <a:ea typeface="Calibri" panose="020F0502020204030204" pitchFamily="34" charset="0"/>
              </a:rPr>
              <a:t>2D shape? </a:t>
            </a:r>
          </a:p>
          <a:p>
            <a:pPr marL="742950" indent="-742950" algn="ctr">
              <a:lnSpc>
                <a:spcPct val="150000"/>
              </a:lnSpc>
              <a:buFont typeface="+mj-lt"/>
              <a:buAutoNum type="alphaLcParenR"/>
            </a:pPr>
            <a:r>
              <a:rPr lang="en-AU" sz="4000">
                <a:effectLst/>
                <a:latin typeface="Arial" panose="020B0604020202020204" pitchFamily="34" charset="0"/>
                <a:ea typeface="Calibri" panose="020F0502020204030204" pitchFamily="34" charset="0"/>
              </a:rPr>
              <a:t>Which shapes have been </a:t>
            </a:r>
            <a:r>
              <a:rPr lang="en-AU" sz="4000" b="1">
                <a:effectLst/>
                <a:latin typeface="Arial" panose="020B0604020202020204" pitchFamily="34" charset="0"/>
                <a:ea typeface="Calibri" panose="020F0502020204030204" pitchFamily="34" charset="0"/>
              </a:rPr>
              <a:t>combined</a:t>
            </a:r>
            <a:r>
              <a:rPr lang="en-AU" sz="4000">
                <a:effectLst/>
                <a:latin typeface="Arial" panose="020B0604020202020204" pitchFamily="34" charset="0"/>
                <a:ea typeface="Calibri" panose="020F0502020204030204" pitchFamily="34" charset="0"/>
              </a:rPr>
              <a:t>? </a:t>
            </a:r>
            <a:endParaRPr lang="en-AU" sz="4000"/>
          </a:p>
        </p:txBody>
      </p:sp>
      <p:pic>
        <p:nvPicPr>
          <p:cNvPr id="7" name="Picture 6" descr="3 triangles forming a 2D shape. 2 are next to each other and one is upside down between them.">
            <a:extLst>
              <a:ext uri="{FF2B5EF4-FFF2-40B4-BE49-F238E27FC236}">
                <a16:creationId xmlns:a16="http://schemas.microsoft.com/office/drawing/2014/main" id="{4B97DC7B-938F-402E-4FB8-DFC421918A0E}"/>
              </a:ext>
            </a:extLst>
          </p:cNvPr>
          <p:cNvPicPr>
            <a:picLocks noChangeAspect="1"/>
          </p:cNvPicPr>
          <p:nvPr/>
        </p:nvPicPr>
        <p:blipFill>
          <a:blip r:embed="rId4"/>
          <a:stretch>
            <a:fillRect/>
          </a:stretch>
        </p:blipFill>
        <p:spPr>
          <a:xfrm>
            <a:off x="3913580" y="4464545"/>
            <a:ext cx="4364839" cy="2051455"/>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781E8C87-EFCF-1BF0-22A3-0ECCBF0C3012}"/>
              </a:ext>
            </a:extLst>
          </p:cNvPr>
          <p:cNvSpPr txBox="1">
            <a:spLocks/>
          </p:cNvSpPr>
          <p:nvPr/>
        </p:nvSpPr>
        <p:spPr>
          <a:xfrm>
            <a:off x="2458054" y="1641811"/>
            <a:ext cx="674015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number        </a:t>
            </a:r>
            <a:r>
              <a:rPr lang="en-AU" sz="5400" b="1">
                <a:solidFill>
                  <a:schemeClr val="accent2"/>
                </a:solidFill>
              </a:rPr>
              <a:t>89 507</a:t>
            </a:r>
          </a:p>
          <a:p>
            <a:pPr algn="ctr"/>
            <a:r>
              <a:rPr lang="en-AU" sz="4400"/>
              <a:t> in </a:t>
            </a:r>
            <a:r>
              <a:rPr lang="en-AU" sz="4400" b="1"/>
              <a:t>expanded notation</a:t>
            </a:r>
            <a:r>
              <a:rPr lang="en-AU" sz="4400"/>
              <a:t>.</a:t>
            </a:r>
          </a:p>
          <a:p>
            <a:pPr algn="ctr"/>
            <a:endParaRPr lang="en-AU" sz="4400"/>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27372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781E8C87-EFCF-1BF0-22A3-0ECCBF0C3012}"/>
              </a:ext>
            </a:extLst>
          </p:cNvPr>
          <p:cNvSpPr txBox="1">
            <a:spLocks/>
          </p:cNvSpPr>
          <p:nvPr/>
        </p:nvSpPr>
        <p:spPr>
          <a:xfrm>
            <a:off x="258024" y="1060346"/>
            <a:ext cx="1158597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Order </a:t>
            </a:r>
            <a:r>
              <a:rPr lang="en-AU" sz="4400"/>
              <a:t>these lengths from </a:t>
            </a:r>
            <a:r>
              <a:rPr lang="en-AU" sz="4400" b="1"/>
              <a:t>shortest </a:t>
            </a:r>
            <a:r>
              <a:rPr lang="en-AU" sz="4400"/>
              <a:t>to</a:t>
            </a:r>
            <a:r>
              <a:rPr lang="en-AU" sz="4400" b="1"/>
              <a:t> longest.</a:t>
            </a:r>
          </a:p>
          <a:p>
            <a:pPr algn="ctr"/>
            <a:endParaRPr lang="en-AU" sz="4400"/>
          </a:p>
          <a:p>
            <a:pPr algn="ctr"/>
            <a:endParaRPr lang="en-AU" sz="440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4" name="TextBox 3">
            <a:extLst>
              <a:ext uri="{FF2B5EF4-FFF2-40B4-BE49-F238E27FC236}">
                <a16:creationId xmlns:a16="http://schemas.microsoft.com/office/drawing/2014/main" id="{BE8CE14C-A9D7-5EEF-88B9-F4B1DA868FB1}"/>
              </a:ext>
            </a:extLst>
          </p:cNvPr>
          <p:cNvSpPr txBox="1"/>
          <p:nvPr/>
        </p:nvSpPr>
        <p:spPr>
          <a:xfrm>
            <a:off x="5313145" y="1029903"/>
            <a:ext cx="914400" cy="914400"/>
          </a:xfrm>
          <a:prstGeom prst="rect">
            <a:avLst/>
          </a:prstGeom>
          <a:noFill/>
        </p:spPr>
        <p:txBody>
          <a:bodyPr wrap="none" lIns="0" tIns="0" rIns="0" bIns="0" rtlCol="0">
            <a:noAutofit/>
          </a:bodyPr>
          <a:lstStyle/>
          <a:p>
            <a:pPr algn="l"/>
            <a:endParaRPr lang="en-AU" sz="1800"/>
          </a:p>
        </p:txBody>
      </p:sp>
      <p:sp>
        <p:nvSpPr>
          <p:cNvPr id="5" name="Text Placeholder 5">
            <a:extLst>
              <a:ext uri="{FF2B5EF4-FFF2-40B4-BE49-F238E27FC236}">
                <a16:creationId xmlns:a16="http://schemas.microsoft.com/office/drawing/2014/main" id="{39A100E0-3A8C-C80A-2AAF-C80105F1EEFE}"/>
              </a:ext>
            </a:extLst>
          </p:cNvPr>
          <p:cNvSpPr txBox="1">
            <a:spLocks/>
          </p:cNvSpPr>
          <p:nvPr/>
        </p:nvSpPr>
        <p:spPr>
          <a:xfrm>
            <a:off x="1424538" y="2759081"/>
            <a:ext cx="3982140" cy="893226"/>
          </a:xfrm>
          <a:prstGeom prst="rect">
            <a:avLst/>
          </a:prstGeom>
          <a:ln w="38100">
            <a:solidFill>
              <a:schemeClr val="accent2"/>
            </a:solidFill>
          </a:ln>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5 m 65 cm</a:t>
            </a:r>
          </a:p>
        </p:txBody>
      </p:sp>
      <p:sp>
        <p:nvSpPr>
          <p:cNvPr id="7" name="Text Placeholder 5">
            <a:extLst>
              <a:ext uri="{FF2B5EF4-FFF2-40B4-BE49-F238E27FC236}">
                <a16:creationId xmlns:a16="http://schemas.microsoft.com/office/drawing/2014/main" id="{59B23B3E-47D9-5779-92A9-EEA021636028}"/>
              </a:ext>
            </a:extLst>
          </p:cNvPr>
          <p:cNvSpPr txBox="1">
            <a:spLocks/>
          </p:cNvSpPr>
          <p:nvPr/>
        </p:nvSpPr>
        <p:spPr>
          <a:xfrm>
            <a:off x="1424538" y="4231254"/>
            <a:ext cx="3982140" cy="893226"/>
          </a:xfrm>
          <a:prstGeom prst="rect">
            <a:avLst/>
          </a:prstGeom>
          <a:ln w="38100">
            <a:solidFill>
              <a:schemeClr val="accent2"/>
            </a:solidFill>
          </a:ln>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65 m 5 cm</a:t>
            </a:r>
          </a:p>
        </p:txBody>
      </p:sp>
      <p:sp>
        <p:nvSpPr>
          <p:cNvPr id="8" name="Text Placeholder 5">
            <a:extLst>
              <a:ext uri="{FF2B5EF4-FFF2-40B4-BE49-F238E27FC236}">
                <a16:creationId xmlns:a16="http://schemas.microsoft.com/office/drawing/2014/main" id="{D06E53BD-9070-5772-9A61-AB4F9391A879}"/>
              </a:ext>
            </a:extLst>
          </p:cNvPr>
          <p:cNvSpPr txBox="1">
            <a:spLocks/>
          </p:cNvSpPr>
          <p:nvPr/>
        </p:nvSpPr>
        <p:spPr>
          <a:xfrm>
            <a:off x="6785324" y="2740202"/>
            <a:ext cx="3982140" cy="893226"/>
          </a:xfrm>
          <a:prstGeom prst="rect">
            <a:avLst/>
          </a:prstGeom>
          <a:ln w="38100">
            <a:solidFill>
              <a:schemeClr val="accent2"/>
            </a:solidFill>
          </a:ln>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6m 56 cm</a:t>
            </a:r>
          </a:p>
        </p:txBody>
      </p:sp>
      <p:sp>
        <p:nvSpPr>
          <p:cNvPr id="10" name="Text Placeholder 5">
            <a:extLst>
              <a:ext uri="{FF2B5EF4-FFF2-40B4-BE49-F238E27FC236}">
                <a16:creationId xmlns:a16="http://schemas.microsoft.com/office/drawing/2014/main" id="{356B32B0-589D-DB79-8C63-08BCE77BB052}"/>
              </a:ext>
            </a:extLst>
          </p:cNvPr>
          <p:cNvSpPr txBox="1">
            <a:spLocks/>
          </p:cNvSpPr>
          <p:nvPr/>
        </p:nvSpPr>
        <p:spPr>
          <a:xfrm>
            <a:off x="6785324" y="4231254"/>
            <a:ext cx="3982140" cy="893226"/>
          </a:xfrm>
          <a:prstGeom prst="rect">
            <a:avLst/>
          </a:prstGeom>
          <a:ln w="38100">
            <a:solidFill>
              <a:schemeClr val="accent2"/>
            </a:solidFill>
          </a:ln>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56 m 65 cm</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fact family triangles (1)</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074" name="Picture 2" descr="Fact family triangle - 30, 5, 6">
            <a:extLst>
              <a:ext uri="{FF2B5EF4-FFF2-40B4-BE49-F238E27FC236}">
                <a16:creationId xmlns:a16="http://schemas.microsoft.com/office/drawing/2014/main" id="{7BE28340-CC8E-7AB9-453A-990AC151C8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399" y="1209265"/>
            <a:ext cx="5601201" cy="443947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9FDB-9371-AE92-3BAE-4CAD5905D27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40EC66-823D-34B9-4E94-463ED2D57BA2}"/>
              </a:ext>
            </a:extLst>
          </p:cNvPr>
          <p:cNvSpPr>
            <a:spLocks noGrp="1"/>
          </p:cNvSpPr>
          <p:nvPr>
            <p:ph type="title"/>
          </p:nvPr>
        </p:nvSpPr>
        <p:spPr>
          <a:xfrm>
            <a:off x="360000" y="360000"/>
            <a:ext cx="10367268" cy="545601"/>
          </a:xfrm>
        </p:spPr>
        <p:txBody>
          <a:bodyPr/>
          <a:lstStyle/>
          <a:p>
            <a:r>
              <a:rPr lang="en-AU"/>
              <a:t>Activity 2 – fact family triangles (2)</a:t>
            </a:r>
          </a:p>
        </p:txBody>
      </p:sp>
      <p:pic>
        <p:nvPicPr>
          <p:cNvPr id="4" name="Picture 3">
            <a:extLst>
              <a:ext uri="{FF2B5EF4-FFF2-40B4-BE49-F238E27FC236}">
                <a16:creationId xmlns:a16="http://schemas.microsoft.com/office/drawing/2014/main" id="{81965AE3-6BC5-E9C7-FF42-21432D36F1B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hree fact family triangles:&#10;1. 45, ?, 9&#10;2. ?, 4, 7&#10;3. 24, 8,?">
            <a:extLst>
              <a:ext uri="{FF2B5EF4-FFF2-40B4-BE49-F238E27FC236}">
                <a16:creationId xmlns:a16="http://schemas.microsoft.com/office/drawing/2014/main" id="{9202FAE5-4F46-A74E-A35A-37B3A59D787C}"/>
              </a:ext>
            </a:extLst>
          </p:cNvPr>
          <p:cNvPicPr>
            <a:picLocks noChangeAspect="1"/>
          </p:cNvPicPr>
          <p:nvPr/>
        </p:nvPicPr>
        <p:blipFill>
          <a:blip r:embed="rId4"/>
          <a:stretch>
            <a:fillRect/>
          </a:stretch>
        </p:blipFill>
        <p:spPr>
          <a:xfrm>
            <a:off x="1620217" y="1643443"/>
            <a:ext cx="9182572" cy="2743341"/>
          </a:xfrm>
          <a:prstGeom prst="rect">
            <a:avLst/>
          </a:prstGeom>
        </p:spPr>
      </p:pic>
      <p:sp>
        <p:nvSpPr>
          <p:cNvPr id="2" name="Slide Number Placeholder 1">
            <a:extLst>
              <a:ext uri="{FF2B5EF4-FFF2-40B4-BE49-F238E27FC236}">
                <a16:creationId xmlns:a16="http://schemas.microsoft.com/office/drawing/2014/main" id="{55A4B08E-5561-F168-1310-F500BB0B729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218203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8973-3C25-A2C5-37F6-251F353299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4E45E0B-A78E-9517-421D-C9FC1F70BDD2}"/>
              </a:ext>
            </a:extLst>
          </p:cNvPr>
          <p:cNvSpPr>
            <a:spLocks noGrp="1"/>
          </p:cNvSpPr>
          <p:nvPr>
            <p:ph type="title"/>
          </p:nvPr>
        </p:nvSpPr>
        <p:spPr>
          <a:xfrm>
            <a:off x="360000" y="360000"/>
            <a:ext cx="10367268" cy="545601"/>
          </a:xfrm>
        </p:spPr>
        <p:txBody>
          <a:bodyPr/>
          <a:lstStyle/>
          <a:p>
            <a:r>
              <a:rPr lang="en-AU"/>
              <a:t>Activity 2 – fact family triangles (3)</a:t>
            </a:r>
          </a:p>
        </p:txBody>
      </p:sp>
      <p:pic>
        <p:nvPicPr>
          <p:cNvPr id="4" name="Picture 3">
            <a:extLst>
              <a:ext uri="{FF2B5EF4-FFF2-40B4-BE49-F238E27FC236}">
                <a16:creationId xmlns:a16="http://schemas.microsoft.com/office/drawing/2014/main" id="{1826C504-0AF3-A02C-2324-9B92D9C92B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Three fact family triangles:&#10;36, ?, 4&#10;?, 3, 6&#10;32, 4, ?&#10;">
            <a:extLst>
              <a:ext uri="{FF2B5EF4-FFF2-40B4-BE49-F238E27FC236}">
                <a16:creationId xmlns:a16="http://schemas.microsoft.com/office/drawing/2014/main" id="{B73DA672-52F9-D193-3AD9-230FA8D41CCC}"/>
              </a:ext>
            </a:extLst>
          </p:cNvPr>
          <p:cNvPicPr>
            <a:picLocks noChangeAspect="1"/>
          </p:cNvPicPr>
          <p:nvPr/>
        </p:nvPicPr>
        <p:blipFill>
          <a:blip r:embed="rId4"/>
          <a:stretch>
            <a:fillRect/>
          </a:stretch>
        </p:blipFill>
        <p:spPr>
          <a:xfrm>
            <a:off x="1425335" y="1572392"/>
            <a:ext cx="9341330" cy="2654436"/>
          </a:xfrm>
          <a:prstGeom prst="rect">
            <a:avLst/>
          </a:prstGeom>
        </p:spPr>
      </p:pic>
      <p:sp>
        <p:nvSpPr>
          <p:cNvPr id="2" name="Slide Number Placeholder 1">
            <a:extLst>
              <a:ext uri="{FF2B5EF4-FFF2-40B4-BE49-F238E27FC236}">
                <a16:creationId xmlns:a16="http://schemas.microsoft.com/office/drawing/2014/main" id="{51E630A8-DDF3-E9E1-DDB5-3655AF0E6A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165988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E9972-AF4A-F3A1-9F50-BA8D2E2B50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0866EBA-D590-03EC-B7E8-139DBF13BA12}"/>
              </a:ext>
            </a:extLst>
          </p:cNvPr>
          <p:cNvSpPr>
            <a:spLocks noGrp="1"/>
          </p:cNvSpPr>
          <p:nvPr>
            <p:ph type="title"/>
          </p:nvPr>
        </p:nvSpPr>
        <p:spPr>
          <a:xfrm>
            <a:off x="360000" y="360000"/>
            <a:ext cx="10367268" cy="545601"/>
          </a:xfrm>
        </p:spPr>
        <p:txBody>
          <a:bodyPr/>
          <a:lstStyle/>
          <a:p>
            <a:r>
              <a:rPr lang="en-AU"/>
              <a:t>Activity 2 – fact family triangles (4)</a:t>
            </a:r>
          </a:p>
        </p:txBody>
      </p:sp>
      <p:pic>
        <p:nvPicPr>
          <p:cNvPr id="4" name="Picture 3">
            <a:extLst>
              <a:ext uri="{FF2B5EF4-FFF2-40B4-BE49-F238E27FC236}">
                <a16:creationId xmlns:a16="http://schemas.microsoft.com/office/drawing/2014/main" id="{D85C042B-8CAD-DD3A-DAC5-DFC5DE3D91E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hree fact family triangles:&#10;25, ?, 5&#10;?, 6, 7&#10;48, 8, ?">
            <a:extLst>
              <a:ext uri="{FF2B5EF4-FFF2-40B4-BE49-F238E27FC236}">
                <a16:creationId xmlns:a16="http://schemas.microsoft.com/office/drawing/2014/main" id="{627D8D01-2165-176C-8A28-E76114F920A3}"/>
              </a:ext>
            </a:extLst>
          </p:cNvPr>
          <p:cNvPicPr>
            <a:picLocks noChangeAspect="1"/>
          </p:cNvPicPr>
          <p:nvPr/>
        </p:nvPicPr>
        <p:blipFill>
          <a:blip r:embed="rId4"/>
          <a:stretch>
            <a:fillRect/>
          </a:stretch>
        </p:blipFill>
        <p:spPr>
          <a:xfrm>
            <a:off x="1514239" y="1698617"/>
            <a:ext cx="9163521" cy="2863997"/>
          </a:xfrm>
          <a:prstGeom prst="rect">
            <a:avLst/>
          </a:prstGeom>
        </p:spPr>
      </p:pic>
      <p:sp>
        <p:nvSpPr>
          <p:cNvPr id="2" name="Slide Number Placeholder 1">
            <a:extLst>
              <a:ext uri="{FF2B5EF4-FFF2-40B4-BE49-F238E27FC236}">
                <a16:creationId xmlns:a16="http://schemas.microsoft.com/office/drawing/2014/main" id="{5C250550-4C59-7297-02AF-DD82F5FC65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67146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F1ABAB1A-C533-9C9B-83B5-E16859F34BCE}"/>
              </a:ext>
            </a:extLst>
          </p:cNvPr>
          <p:cNvSpPr>
            <a:spLocks noGrp="1"/>
          </p:cNvSpPr>
          <p:nvPr>
            <p:ph type="body" sz="quarter" idx="24"/>
          </p:nvPr>
        </p:nvSpPr>
        <p:spPr>
          <a:xfrm>
            <a:off x="360363" y="1625600"/>
            <a:ext cx="11242675" cy="893763"/>
          </a:xfrm>
        </p:spPr>
        <p:txBody>
          <a:bodyPr/>
          <a:lstStyle/>
          <a:p>
            <a:pPr algn="ctr"/>
            <a:r>
              <a:rPr lang="en-US" sz="5400"/>
              <a:t>36 ÷ ___ = 12</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46333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Box 12">
            <a:extLst>
              <a:ext uri="{FF2B5EF4-FFF2-40B4-BE49-F238E27FC236}">
                <a16:creationId xmlns:a16="http://schemas.microsoft.com/office/drawing/2014/main" id="{D6930E97-57FE-33BB-0B92-04C5DD0A5137}"/>
              </a:ext>
            </a:extLst>
          </p:cNvPr>
          <p:cNvSpPr txBox="1"/>
          <p:nvPr/>
        </p:nvSpPr>
        <p:spPr>
          <a:xfrm>
            <a:off x="1097279" y="5371994"/>
            <a:ext cx="647915" cy="721592"/>
          </a:xfrm>
          <a:prstGeom prst="rect">
            <a:avLst/>
          </a:prstGeom>
          <a:noFill/>
        </p:spPr>
        <p:txBody>
          <a:bodyPr wrap="square" lIns="0" tIns="0" rIns="0" bIns="0" rtlCol="0">
            <a:noAutofit/>
          </a:bodyPr>
          <a:lstStyle/>
          <a:p>
            <a:pPr algn="ctr"/>
            <a:r>
              <a:rPr lang="en-AU" sz="4400"/>
              <a:t>2</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46333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5F8FE17F-741D-B13D-4796-E0AA367F3E37}"/>
              </a:ext>
            </a:extLst>
          </p:cNvPr>
          <p:cNvSpPr txBox="1"/>
          <p:nvPr/>
        </p:nvSpPr>
        <p:spPr>
          <a:xfrm>
            <a:off x="4101253" y="5392039"/>
            <a:ext cx="647915" cy="721592"/>
          </a:xfrm>
          <a:prstGeom prst="rect">
            <a:avLst/>
          </a:prstGeom>
          <a:noFill/>
        </p:spPr>
        <p:txBody>
          <a:bodyPr wrap="square" lIns="0" tIns="0" rIns="0" bIns="0" rtlCol="0">
            <a:noAutofit/>
          </a:bodyPr>
          <a:lstStyle/>
          <a:p>
            <a:pPr algn="ctr"/>
            <a:r>
              <a:rPr lang="en-AU" sz="4400"/>
              <a:t>3</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46333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2F1CB375-6144-F7CD-7F88-82C9A3285859}"/>
              </a:ext>
            </a:extLst>
          </p:cNvPr>
          <p:cNvSpPr txBox="1"/>
          <p:nvPr/>
        </p:nvSpPr>
        <p:spPr>
          <a:xfrm>
            <a:off x="7164468" y="5371994"/>
            <a:ext cx="647915" cy="721592"/>
          </a:xfrm>
          <a:prstGeom prst="rect">
            <a:avLst/>
          </a:prstGeom>
          <a:noFill/>
        </p:spPr>
        <p:txBody>
          <a:bodyPr wrap="square" lIns="0" tIns="0" rIns="0" bIns="0" rtlCol="0">
            <a:noAutofit/>
          </a:bodyPr>
          <a:lstStyle/>
          <a:p>
            <a:pPr algn="ctr"/>
            <a:r>
              <a:rPr lang="en-AU" sz="4400"/>
              <a:t>4</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46333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5671766F-2BFE-861F-583C-A92B80B70851}"/>
              </a:ext>
            </a:extLst>
          </p:cNvPr>
          <p:cNvSpPr txBox="1"/>
          <p:nvPr/>
        </p:nvSpPr>
        <p:spPr>
          <a:xfrm>
            <a:off x="10109200" y="5392039"/>
            <a:ext cx="647915" cy="721592"/>
          </a:xfrm>
          <a:prstGeom prst="rect">
            <a:avLst/>
          </a:prstGeom>
          <a:noFill/>
        </p:spPr>
        <p:txBody>
          <a:bodyPr wrap="square" lIns="0" tIns="0" rIns="0" bIns="0" rtlCol="0">
            <a:noAutofit/>
          </a:bodyPr>
          <a:lstStyle/>
          <a:p>
            <a:pPr algn="ctr"/>
            <a:r>
              <a:rPr lang="en-AU" sz="4400"/>
              <a:t>6</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6F560297-C541-B467-632A-01C23B7B4169}"/>
              </a:ext>
            </a:extLst>
          </p:cNvPr>
          <p:cNvSpPr txBox="1"/>
          <p:nvPr/>
        </p:nvSpPr>
        <p:spPr>
          <a:xfrm>
            <a:off x="1728078" y="2837166"/>
            <a:ext cx="9111642" cy="2014334"/>
          </a:xfrm>
          <a:prstGeom prst="rect">
            <a:avLst/>
          </a:prstGeom>
          <a:noFill/>
        </p:spPr>
        <p:txBody>
          <a:bodyPr wrap="square">
            <a:spAutoFit/>
          </a:bodyPr>
          <a:lstStyle/>
          <a:p>
            <a:pPr lvl="0" algn="ctr">
              <a:lnSpc>
                <a:spcPct val="150000"/>
              </a:lnSpc>
              <a:spcBef>
                <a:spcPts val="1200"/>
              </a:spcBef>
              <a:spcAft>
                <a:spcPts val="600"/>
              </a:spcAft>
            </a:pPr>
            <a:r>
              <a:rPr lang="en-AU" sz="4400">
                <a:solidFill>
                  <a:srgbClr val="000000"/>
                </a:solidFill>
                <a:effectLst/>
                <a:latin typeface="Arial" panose="020B0604020202020204" pitchFamily="34" charset="0"/>
                <a:ea typeface="Calibri" panose="020F0502020204030204" pitchFamily="34" charset="0"/>
              </a:rPr>
              <a:t>Use </a:t>
            </a:r>
            <a:r>
              <a:rPr lang="en-AU" sz="4400">
                <a:solidFill>
                  <a:srgbClr val="000000"/>
                </a:solidFill>
                <a:latin typeface="Arial" panose="020B0604020202020204" pitchFamily="34" charset="0"/>
                <a:ea typeface="Calibri" panose="020F0502020204030204" pitchFamily="34" charset="0"/>
              </a:rPr>
              <a:t>the </a:t>
            </a:r>
            <a:r>
              <a:rPr lang="en-AU" sz="4400" b="1">
                <a:solidFill>
                  <a:srgbClr val="000000"/>
                </a:solidFill>
                <a:latin typeface="Arial" panose="020B0604020202020204" pitchFamily="34" charset="0"/>
                <a:ea typeface="Calibri" panose="020F0502020204030204" pitchFamily="34" charset="0"/>
              </a:rPr>
              <a:t>distributive property </a:t>
            </a:r>
            <a:r>
              <a:rPr lang="en-AU" sz="4400">
                <a:solidFill>
                  <a:srgbClr val="000000"/>
                </a:solidFill>
                <a:latin typeface="Arial" panose="020B0604020202020204" pitchFamily="34" charset="0"/>
                <a:ea typeface="Calibri" panose="020F0502020204030204" pitchFamily="34" charset="0"/>
              </a:rPr>
              <a:t>to solve </a:t>
            </a:r>
            <a:r>
              <a:rPr lang="en-AU" sz="4400" b="1">
                <a:latin typeface="Arial" panose="020B0604020202020204" pitchFamily="34" charset="0"/>
                <a:ea typeface="Calibri" panose="020F0502020204030204" pitchFamily="34" charset="0"/>
              </a:rPr>
              <a:t>6 </a:t>
            </a:r>
            <a:r>
              <a:rPr lang="en-AU" sz="4400" b="1">
                <a:latin typeface="Arial" panose="020B0604020202020204" pitchFamily="34" charset="0"/>
                <a:ea typeface="Calibri" panose="020F0502020204030204" pitchFamily="34" charset="0"/>
                <a:cs typeface="Times New Roman" panose="02020603050405020304" pitchFamily="18" charset="0"/>
              </a:rPr>
              <a:t>×</a:t>
            </a:r>
            <a:r>
              <a:rPr lang="en-AU" sz="4400" b="1">
                <a:latin typeface="Arial" panose="020B0604020202020204" pitchFamily="34" charset="0"/>
                <a:ea typeface="Calibri" panose="020F0502020204030204" pitchFamily="34" charset="0"/>
              </a:rPr>
              <a:t> 7</a:t>
            </a:r>
            <a:r>
              <a:rPr lang="en-AU" sz="4000">
                <a:solidFill>
                  <a:srgbClr val="000000"/>
                </a:solidFill>
                <a:effectLst/>
                <a:latin typeface="Arial" panose="020B0604020202020204" pitchFamily="34" charset="0"/>
                <a:ea typeface="Calibri" panose="020F0502020204030204" pitchFamily="34" charset="0"/>
              </a:rPr>
              <a:t>.</a:t>
            </a:r>
            <a:endParaRPr lang="en-AU" sz="400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E4EAFF5-91E3-476A-B189-8196EA8FBD0B}"/>
              </a:ext>
            </a:extLst>
          </p:cNvPr>
          <p:cNvSpPr txBox="1"/>
          <p:nvPr/>
        </p:nvSpPr>
        <p:spPr>
          <a:xfrm>
            <a:off x="359998" y="954215"/>
            <a:ext cx="11248067" cy="1824923"/>
          </a:xfrm>
          <a:prstGeom prst="rect">
            <a:avLst/>
          </a:prstGeom>
          <a:noFill/>
        </p:spPr>
        <p:txBody>
          <a:bodyPr wrap="square">
            <a:spAutoFit/>
          </a:bodyPr>
          <a:lstStyle/>
          <a:p>
            <a:pPr algn="ctr">
              <a:lnSpc>
                <a:spcPct val="150000"/>
              </a:lnSpc>
            </a:pPr>
            <a:r>
              <a:rPr lang="en-AU" sz="4000" i="0" u="none" strike="noStrike">
                <a:solidFill>
                  <a:srgbClr val="000000"/>
                </a:solidFill>
                <a:effectLst/>
              </a:rPr>
              <a:t>Create a </a:t>
            </a:r>
            <a:r>
              <a:rPr lang="en-AU" sz="4000" b="1" i="0" u="none" strike="noStrike">
                <a:solidFill>
                  <a:srgbClr val="000000"/>
                </a:solidFill>
                <a:effectLst/>
              </a:rPr>
              <a:t>tessellating design </a:t>
            </a:r>
            <a:r>
              <a:rPr lang="en-AU" sz="4000" i="0" u="none" strike="noStrike">
                <a:solidFill>
                  <a:srgbClr val="000000"/>
                </a:solidFill>
                <a:effectLst/>
              </a:rPr>
              <a:t>by </a:t>
            </a:r>
            <a:r>
              <a:rPr lang="en-AU" sz="4000" i="0" u="sng" strike="noStrike">
                <a:solidFill>
                  <a:srgbClr val="000000"/>
                </a:solidFill>
                <a:effectLst/>
              </a:rPr>
              <a:t>reflecting</a:t>
            </a:r>
            <a:r>
              <a:rPr lang="en-AU" sz="4000" i="0" u="none" strike="noStrike">
                <a:solidFill>
                  <a:srgbClr val="000000"/>
                </a:solidFill>
                <a:effectLst/>
              </a:rPr>
              <a:t>, </a:t>
            </a:r>
            <a:r>
              <a:rPr lang="en-AU" sz="4000" i="0" u="sng" strike="noStrike">
                <a:solidFill>
                  <a:srgbClr val="000000"/>
                </a:solidFill>
                <a:effectLst/>
              </a:rPr>
              <a:t>translating</a:t>
            </a:r>
            <a:r>
              <a:rPr lang="en-AU" sz="4000" i="0" u="none" strike="noStrike">
                <a:solidFill>
                  <a:srgbClr val="000000"/>
                </a:solidFill>
                <a:effectLst/>
              </a:rPr>
              <a:t> or </a:t>
            </a:r>
            <a:r>
              <a:rPr lang="en-AU" sz="4000" i="0" u="sng" strike="noStrike">
                <a:solidFill>
                  <a:srgbClr val="000000"/>
                </a:solidFill>
                <a:effectLst/>
              </a:rPr>
              <a:t>rotating</a:t>
            </a:r>
            <a:r>
              <a:rPr lang="en-AU" sz="4000" i="0" u="none" strike="noStrike">
                <a:solidFill>
                  <a:srgbClr val="000000"/>
                </a:solidFill>
                <a:effectLst/>
              </a:rPr>
              <a:t> the triangle </a:t>
            </a:r>
            <a:r>
              <a:rPr lang="en-AU" sz="4000" b="1" i="0" u="none" strike="noStrike">
                <a:solidFill>
                  <a:srgbClr val="000000"/>
                </a:solidFill>
                <a:effectLst/>
              </a:rPr>
              <a:t>3</a:t>
            </a:r>
            <a:r>
              <a:rPr lang="en-AU" sz="4000" i="0" u="none" strike="noStrike">
                <a:solidFill>
                  <a:srgbClr val="000000"/>
                </a:solidFill>
                <a:effectLst/>
              </a:rPr>
              <a:t> times. </a:t>
            </a:r>
            <a:endParaRPr lang="en-AU" sz="4000"/>
          </a:p>
        </p:txBody>
      </p:sp>
      <p:pic>
        <p:nvPicPr>
          <p:cNvPr id="10" name="Picture 9" descr="A right angle triangle with a black dot placed in the right angle.">
            <a:extLst>
              <a:ext uri="{FF2B5EF4-FFF2-40B4-BE49-F238E27FC236}">
                <a16:creationId xmlns:a16="http://schemas.microsoft.com/office/drawing/2014/main" id="{442A8476-C2CE-9B3A-6DD4-5C13A580C077}"/>
              </a:ext>
            </a:extLst>
          </p:cNvPr>
          <p:cNvPicPr>
            <a:picLocks noChangeAspect="1"/>
          </p:cNvPicPr>
          <p:nvPr/>
        </p:nvPicPr>
        <p:blipFill>
          <a:blip r:embed="rId4"/>
          <a:stretch>
            <a:fillRect/>
          </a:stretch>
        </p:blipFill>
        <p:spPr>
          <a:xfrm>
            <a:off x="4612494" y="3062530"/>
            <a:ext cx="2743077" cy="2558260"/>
          </a:xfrm>
          <a:prstGeom prst="rect">
            <a:avLst/>
          </a:prstGeom>
        </p:spPr>
      </p:pic>
      <p:sp>
        <p:nvSpPr>
          <p:cNvPr id="8" name="TextBox 7">
            <a:extLst>
              <a:ext uri="{FF2B5EF4-FFF2-40B4-BE49-F238E27FC236}">
                <a16:creationId xmlns:a16="http://schemas.microsoft.com/office/drawing/2014/main" id="{42DED989-6CDB-67EF-DA85-0E6B5F96EA2B}"/>
              </a:ext>
            </a:extLst>
          </p:cNvPr>
          <p:cNvSpPr txBox="1"/>
          <p:nvPr/>
        </p:nvSpPr>
        <p:spPr>
          <a:xfrm>
            <a:off x="1383143" y="5669404"/>
            <a:ext cx="9344125" cy="901593"/>
          </a:xfrm>
          <a:prstGeom prst="rect">
            <a:avLst/>
          </a:prstGeom>
          <a:noFill/>
        </p:spPr>
        <p:txBody>
          <a:bodyPr wrap="square">
            <a:spAutoFit/>
          </a:bodyPr>
          <a:lstStyle/>
          <a:p>
            <a:pPr algn="ctr">
              <a:lnSpc>
                <a:spcPct val="150000"/>
              </a:lnSpc>
            </a:pPr>
            <a:r>
              <a:rPr lang="en-AU" sz="4000" b="1" i="0" u="none" strike="noStrike">
                <a:solidFill>
                  <a:srgbClr val="000000"/>
                </a:solidFill>
                <a:effectLst/>
              </a:rPr>
              <a:t>Describe </a:t>
            </a:r>
            <a:r>
              <a:rPr lang="en-AU" sz="4000" i="0" u="none" strike="noStrike">
                <a:solidFill>
                  <a:srgbClr val="000000"/>
                </a:solidFill>
                <a:effectLst/>
              </a:rPr>
              <a:t>your </a:t>
            </a:r>
            <a:r>
              <a:rPr lang="en-AU" sz="4000" b="1" i="0" u="none" strike="noStrike">
                <a:solidFill>
                  <a:srgbClr val="000000"/>
                </a:solidFill>
                <a:effectLst/>
              </a:rPr>
              <a:t>transformations.</a:t>
            </a:r>
            <a:endParaRPr lang="en-AU" sz="4000"/>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A7A2C5D1-19AE-6F64-C48D-A7641C4B8E87}"/>
              </a:ext>
            </a:extLst>
          </p:cNvPr>
          <p:cNvSpPr txBox="1"/>
          <p:nvPr/>
        </p:nvSpPr>
        <p:spPr>
          <a:xfrm>
            <a:off x="759594" y="1716374"/>
            <a:ext cx="10672812" cy="2229008"/>
          </a:xfrm>
          <a:prstGeom prst="rect">
            <a:avLst/>
          </a:prstGeom>
          <a:noFill/>
        </p:spPr>
        <p:txBody>
          <a:bodyPr wrap="square">
            <a:spAutoFit/>
          </a:bodyPr>
          <a:lstStyle/>
          <a:p>
            <a:pPr algn="ctr">
              <a:lnSpc>
                <a:spcPct val="150000"/>
              </a:lnSpc>
              <a:spcBef>
                <a:spcPts val="1200"/>
              </a:spcBef>
              <a:spcAft>
                <a:spcPts val="600"/>
              </a:spcAft>
            </a:pPr>
            <a:r>
              <a:rPr lang="en-AU" sz="4400"/>
              <a:t>Does </a:t>
            </a:r>
            <a:r>
              <a:rPr lang="en-AU" sz="4400" b="1"/>
              <a:t>0.70</a:t>
            </a:r>
            <a:r>
              <a:rPr lang="en-AU" sz="4400"/>
              <a:t> have the </a:t>
            </a:r>
            <a:r>
              <a:rPr lang="en-AU" sz="4400" b="1"/>
              <a:t>same value </a:t>
            </a:r>
            <a:r>
              <a:rPr lang="en-AU" sz="4400"/>
              <a:t>as </a:t>
            </a:r>
            <a:r>
              <a:rPr lang="en-AU" sz="4400" b="1"/>
              <a:t>0.7</a:t>
            </a:r>
            <a:r>
              <a:rPr lang="en-AU" sz="4400"/>
              <a:t>?</a:t>
            </a:r>
          </a:p>
          <a:p>
            <a:pPr algn="ctr">
              <a:lnSpc>
                <a:spcPct val="150000"/>
              </a:lnSpc>
              <a:spcBef>
                <a:spcPts val="1200"/>
              </a:spcBef>
              <a:spcAft>
                <a:spcPts val="600"/>
              </a:spcAft>
            </a:pPr>
            <a:r>
              <a:rPr lang="en-AU" sz="4400"/>
              <a:t>What is the </a:t>
            </a:r>
            <a:r>
              <a:rPr lang="en-AU" sz="4400" b="1"/>
              <a:t>role of the zero </a:t>
            </a:r>
            <a:r>
              <a:rPr lang="en-AU" sz="4400"/>
              <a:t>in </a:t>
            </a:r>
            <a:r>
              <a:rPr lang="en-AU" sz="4400" b="1"/>
              <a:t>0.70</a:t>
            </a:r>
            <a:r>
              <a:rPr lang="en-AU" sz="4400"/>
              <a:t>?</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36964EF-7467-7ECA-D328-927E13DDD7A7}"/>
              </a:ext>
            </a:extLst>
          </p:cNvPr>
          <p:cNvSpPr txBox="1"/>
          <p:nvPr/>
        </p:nvSpPr>
        <p:spPr>
          <a:xfrm>
            <a:off x="599173" y="1184223"/>
            <a:ext cx="10672812" cy="1998176"/>
          </a:xfrm>
          <a:prstGeom prst="rect">
            <a:avLst/>
          </a:prstGeom>
          <a:noFill/>
        </p:spPr>
        <p:txBody>
          <a:bodyPr wrap="square">
            <a:spAutoFit/>
          </a:bodyPr>
          <a:lstStyle/>
          <a:p>
            <a:pPr algn="ctr">
              <a:lnSpc>
                <a:spcPct val="150000"/>
              </a:lnSpc>
            </a:pPr>
            <a:r>
              <a:rPr lang="en-AU" sz="4400" b="1"/>
              <a:t>Match</a:t>
            </a:r>
            <a:r>
              <a:rPr lang="en-AU" sz="4400"/>
              <a:t> the item to the most </a:t>
            </a:r>
            <a:r>
              <a:rPr lang="en-AU" sz="4400" b="1"/>
              <a:t>appropriate tool </a:t>
            </a:r>
            <a:r>
              <a:rPr lang="en-AU" sz="4400"/>
              <a:t>to </a:t>
            </a:r>
            <a:r>
              <a:rPr lang="en-AU" sz="4400" b="1"/>
              <a:t>measure</a:t>
            </a:r>
            <a:r>
              <a:rPr lang="en-AU" sz="4400"/>
              <a:t> its </a:t>
            </a:r>
            <a:r>
              <a:rPr lang="en-AU" sz="4400" b="1"/>
              <a:t>length</a:t>
            </a:r>
            <a:r>
              <a:rPr lang="en-AU" sz="4400"/>
              <a:t>.</a:t>
            </a:r>
          </a:p>
        </p:txBody>
      </p:sp>
      <p:sp>
        <p:nvSpPr>
          <p:cNvPr id="7" name="TextBox 6">
            <a:extLst>
              <a:ext uri="{FF2B5EF4-FFF2-40B4-BE49-F238E27FC236}">
                <a16:creationId xmlns:a16="http://schemas.microsoft.com/office/drawing/2014/main" id="{03D2713A-A240-B96B-973D-FA29DDFBDE28}"/>
              </a:ext>
            </a:extLst>
          </p:cNvPr>
          <p:cNvSpPr txBox="1"/>
          <p:nvPr/>
        </p:nvSpPr>
        <p:spPr>
          <a:xfrm>
            <a:off x="360000" y="3621504"/>
            <a:ext cx="4337380" cy="2748253"/>
          </a:xfrm>
          <a:prstGeom prst="rect">
            <a:avLst/>
          </a:prstGeom>
          <a:noFill/>
        </p:spPr>
        <p:txBody>
          <a:bodyPr wrap="square">
            <a:spAutoFit/>
          </a:bodyPr>
          <a:lstStyle/>
          <a:p>
            <a:pPr>
              <a:lnSpc>
                <a:spcPct val="150000"/>
              </a:lnSpc>
            </a:pPr>
            <a:r>
              <a:rPr lang="en-AU" sz="4000" b="1"/>
              <a:t>1. </a:t>
            </a:r>
            <a:r>
              <a:rPr lang="en-AU" sz="4000"/>
              <a:t>school hall </a:t>
            </a:r>
          </a:p>
          <a:p>
            <a:pPr>
              <a:lnSpc>
                <a:spcPct val="150000"/>
              </a:lnSpc>
            </a:pPr>
            <a:r>
              <a:rPr lang="en-AU" sz="4000" b="1"/>
              <a:t>2. </a:t>
            </a:r>
            <a:r>
              <a:rPr lang="en-AU" sz="4000"/>
              <a:t>eraser</a:t>
            </a:r>
          </a:p>
          <a:p>
            <a:pPr>
              <a:lnSpc>
                <a:spcPct val="150000"/>
              </a:lnSpc>
            </a:pPr>
            <a:r>
              <a:rPr lang="en-AU" sz="4000" b="1"/>
              <a:t>3</a:t>
            </a:r>
            <a:r>
              <a:rPr lang="en-AU" sz="4000"/>
              <a:t>. balance beam</a:t>
            </a:r>
          </a:p>
        </p:txBody>
      </p:sp>
      <p:sp>
        <p:nvSpPr>
          <p:cNvPr id="8" name="TextBox 7">
            <a:extLst>
              <a:ext uri="{FF2B5EF4-FFF2-40B4-BE49-F238E27FC236}">
                <a16:creationId xmlns:a16="http://schemas.microsoft.com/office/drawing/2014/main" id="{504EA241-6490-DC8C-CD01-B05A861E8737}"/>
              </a:ext>
            </a:extLst>
          </p:cNvPr>
          <p:cNvSpPr txBox="1"/>
          <p:nvPr/>
        </p:nvSpPr>
        <p:spPr>
          <a:xfrm>
            <a:off x="6934605" y="3621504"/>
            <a:ext cx="4337380" cy="2748253"/>
          </a:xfrm>
          <a:prstGeom prst="rect">
            <a:avLst/>
          </a:prstGeom>
          <a:noFill/>
        </p:spPr>
        <p:txBody>
          <a:bodyPr wrap="square">
            <a:spAutoFit/>
          </a:bodyPr>
          <a:lstStyle/>
          <a:p>
            <a:pPr>
              <a:lnSpc>
                <a:spcPct val="150000"/>
              </a:lnSpc>
            </a:pPr>
            <a:r>
              <a:rPr lang="en-AU" sz="4000" b="1"/>
              <a:t>A. </a:t>
            </a:r>
            <a:r>
              <a:rPr lang="en-AU" sz="4000"/>
              <a:t>30 cm ruler</a:t>
            </a:r>
          </a:p>
          <a:p>
            <a:pPr>
              <a:lnSpc>
                <a:spcPct val="150000"/>
              </a:lnSpc>
            </a:pPr>
            <a:r>
              <a:rPr lang="en-AU" sz="4000" b="1"/>
              <a:t>B. </a:t>
            </a:r>
            <a:r>
              <a:rPr lang="en-AU" sz="4000"/>
              <a:t>metre ruler</a:t>
            </a:r>
          </a:p>
          <a:p>
            <a:pPr>
              <a:lnSpc>
                <a:spcPct val="150000"/>
              </a:lnSpc>
            </a:pPr>
            <a:r>
              <a:rPr lang="en-AU" sz="4000" b="1"/>
              <a:t>C. </a:t>
            </a:r>
            <a:r>
              <a:rPr lang="en-AU" sz="4000"/>
              <a:t>trundle wheel</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factor puzzle </a:t>
            </a:r>
            <a:r>
              <a:rPr lang="en-AU">
                <a:solidFill>
                  <a:schemeClr val="bg1"/>
                </a:solidFill>
              </a:rPr>
              <a:t>1</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122" name="Picture 2" descr="4 factor puzzles. Each with a number at the top, two numbers in the middle and one number at the bottom. ">
            <a:extLst>
              <a:ext uri="{FF2B5EF4-FFF2-40B4-BE49-F238E27FC236}">
                <a16:creationId xmlns:a16="http://schemas.microsoft.com/office/drawing/2014/main" id="{D341C2DD-F66A-B70E-5D5E-24199E181B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4143" y="1214282"/>
            <a:ext cx="4225491" cy="548171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 uri="{C183D7F6-B498-43B3-948B-1728B52AA6E4}">
                <adec:decorative xmlns:adec="http://schemas.microsoft.com/office/drawing/2017/decorative" val="0"/>
              </a:ext>
            </a:extLst>
          </p:cNvPr>
          <p:cNvSpPr>
            <a:spLocks noGrp="1"/>
          </p:cNvSpPr>
          <p:nvPr>
            <p:ph type="body" sz="quarter" idx="22"/>
          </p:nvPr>
        </p:nvSpPr>
        <p:spPr>
          <a:xfrm>
            <a:off x="474480" y="1590578"/>
            <a:ext cx="11243037" cy="893226"/>
          </a:xfrm>
        </p:spPr>
        <p:txBody>
          <a:bodyPr/>
          <a:lstStyle/>
          <a:p>
            <a:pPr algn="ctr"/>
            <a:r>
              <a:rPr lang="en-AU" sz="4400" b="1">
                <a:solidFill>
                  <a:schemeClr val="accent2"/>
                </a:solidFill>
              </a:rPr>
              <a:t>1, 2, 3, 4, 6, 9, 12, 13, 36</a:t>
            </a:r>
          </a:p>
          <a:p>
            <a:pPr algn="ctr"/>
            <a:r>
              <a:rPr lang="en-AU" sz="4400"/>
              <a:t>are </a:t>
            </a:r>
            <a:r>
              <a:rPr lang="en-AU" sz="4400" b="1"/>
              <a:t>factors</a:t>
            </a:r>
            <a:r>
              <a:rPr lang="en-AU" sz="4400"/>
              <a:t> of </a:t>
            </a:r>
            <a:r>
              <a:rPr lang="en-AU" sz="4400" b="1"/>
              <a:t>36.</a:t>
            </a:r>
            <a:endParaRPr lang="en-AU" sz="440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101966565"/>
              </p:ext>
            </p:extLst>
          </p:nvPr>
        </p:nvGraphicFramePr>
        <p:xfrm>
          <a:off x="2442981" y="410618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D21AA920-DDAE-2427-2E51-64C9DA7F41A7}"/>
              </a:ext>
            </a:extLst>
          </p:cNvPr>
          <p:cNvSpPr txBox="1"/>
          <p:nvPr/>
        </p:nvSpPr>
        <p:spPr>
          <a:xfrm>
            <a:off x="1423937" y="5596407"/>
            <a:ext cx="9344125" cy="901593"/>
          </a:xfrm>
          <a:prstGeom prst="rect">
            <a:avLst/>
          </a:prstGeom>
          <a:noFill/>
        </p:spPr>
        <p:txBody>
          <a:bodyPr wrap="square">
            <a:spAutoFit/>
          </a:bodyPr>
          <a:lstStyle/>
          <a:p>
            <a:pPr algn="ctr">
              <a:lnSpc>
                <a:spcPct val="150000"/>
              </a:lnSpc>
            </a:pPr>
            <a:r>
              <a:rPr lang="en-AU" sz="4000" b="1" i="0" u="none" strike="noStrike">
                <a:solidFill>
                  <a:srgbClr val="000000"/>
                </a:solidFill>
                <a:effectLst/>
              </a:rPr>
              <a:t>Communicate </a:t>
            </a:r>
            <a:r>
              <a:rPr lang="en-AU" sz="4000" i="0" u="none" strike="noStrike">
                <a:solidFill>
                  <a:srgbClr val="000000"/>
                </a:solidFill>
                <a:effectLst/>
              </a:rPr>
              <a:t>your </a:t>
            </a:r>
            <a:r>
              <a:rPr lang="en-AU" sz="4000" b="1" i="0" u="none" strike="noStrike">
                <a:solidFill>
                  <a:srgbClr val="000000"/>
                </a:solidFill>
                <a:effectLst/>
              </a:rPr>
              <a:t>reasoning.</a:t>
            </a:r>
            <a:endParaRPr lang="en-AU" sz="4000"/>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19682C69-0084-F38B-3471-C5B1AD666265}"/>
              </a:ext>
            </a:extLst>
          </p:cNvPr>
          <p:cNvSpPr txBox="1">
            <a:spLocks/>
          </p:cNvSpPr>
          <p:nvPr/>
        </p:nvSpPr>
        <p:spPr>
          <a:xfrm>
            <a:off x="360000" y="1184223"/>
            <a:ext cx="7103118"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pPr>
            <a:r>
              <a:rPr lang="en-AU" sz="3600" dirty="0"/>
              <a:t>Only the </a:t>
            </a:r>
            <a:r>
              <a:rPr lang="en-AU" sz="3600" b="1" dirty="0"/>
              <a:t>top row of 4 squares </a:t>
            </a:r>
            <a:r>
              <a:rPr lang="en-AU" sz="3600" dirty="0"/>
              <a:t>is visible on this </a:t>
            </a:r>
            <a:r>
              <a:rPr lang="en-AU" sz="3600" b="1" dirty="0"/>
              <a:t>rectangular grid.</a:t>
            </a:r>
          </a:p>
          <a:p>
            <a:pPr>
              <a:spcBef>
                <a:spcPts val="1200"/>
              </a:spcBef>
              <a:spcAft>
                <a:spcPts val="600"/>
              </a:spcAft>
            </a:pPr>
            <a:r>
              <a:rPr lang="en-AU" sz="3600" dirty="0"/>
              <a:t>The </a:t>
            </a:r>
            <a:r>
              <a:rPr lang="en-AU" sz="3600" b="1" dirty="0"/>
              <a:t>total </a:t>
            </a:r>
            <a:r>
              <a:rPr lang="en-AU" sz="3600" dirty="0"/>
              <a:t>number of </a:t>
            </a:r>
            <a:r>
              <a:rPr lang="en-AU" sz="3600" b="1" dirty="0"/>
              <a:t>squares</a:t>
            </a:r>
            <a:r>
              <a:rPr lang="en-AU" sz="3600" dirty="0"/>
              <a:t> on this grid is </a:t>
            </a:r>
            <a:r>
              <a:rPr lang="en-AU" sz="3600" b="1" dirty="0"/>
              <a:t>28</a:t>
            </a:r>
            <a:r>
              <a:rPr lang="en-AU" sz="3600" dirty="0"/>
              <a:t>. </a:t>
            </a:r>
          </a:p>
          <a:p>
            <a:pPr>
              <a:spcBef>
                <a:spcPts val="1200"/>
              </a:spcBef>
              <a:spcAft>
                <a:spcPts val="600"/>
              </a:spcAft>
            </a:pPr>
            <a:r>
              <a:rPr lang="en-AU" sz="3600" dirty="0"/>
              <a:t>Record </a:t>
            </a:r>
            <a:r>
              <a:rPr lang="en-AU" sz="3600" b="1" dirty="0"/>
              <a:t>how many rows </a:t>
            </a:r>
            <a:r>
              <a:rPr lang="en-AU" sz="3600" dirty="0"/>
              <a:t>there </a:t>
            </a:r>
            <a:r>
              <a:rPr lang="en-AU" sz="3600" b="1" dirty="0"/>
              <a:t>must</a:t>
            </a:r>
            <a:r>
              <a:rPr lang="en-AU" sz="3600" dirty="0"/>
              <a:t> be.</a:t>
            </a:r>
            <a:endParaRPr lang="en-AU" sz="3600" dirty="0">
              <a:solidFill>
                <a:srgbClr val="22272B"/>
              </a:solidFill>
              <a:latin typeface="Arial"/>
              <a:cs typeface="Arial"/>
            </a:endParaRPr>
          </a:p>
        </p:txBody>
      </p:sp>
      <p:pic>
        <p:nvPicPr>
          <p:cNvPr id="7" name="Picture 6" descr="A partially covered area model with the top row visible as 4 squares.">
            <a:extLst>
              <a:ext uri="{FF2B5EF4-FFF2-40B4-BE49-F238E27FC236}">
                <a16:creationId xmlns:a16="http://schemas.microsoft.com/office/drawing/2014/main" id="{3D2AA11A-3322-2CED-09C7-588674C3AA60}"/>
              </a:ext>
            </a:extLst>
          </p:cNvPr>
          <p:cNvPicPr>
            <a:picLocks noChangeAspect="1"/>
          </p:cNvPicPr>
          <p:nvPr/>
        </p:nvPicPr>
        <p:blipFill>
          <a:blip r:embed="rId4"/>
          <a:stretch>
            <a:fillRect/>
          </a:stretch>
        </p:blipFill>
        <p:spPr>
          <a:xfrm>
            <a:off x="7986703" y="1422158"/>
            <a:ext cx="3622425" cy="499884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2C104-967F-320A-3D22-8FDB46F234D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CC26BCA-6964-62EC-DE5A-17C84589A06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CCBA59B6-7D3F-71CC-7275-10C98EA3384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CC0F79F2-CEBB-CF9A-3689-CD5C00B22135}"/>
              </a:ext>
            </a:extLst>
          </p:cNvPr>
          <p:cNvSpPr txBox="1">
            <a:spLocks/>
          </p:cNvSpPr>
          <p:nvPr/>
        </p:nvSpPr>
        <p:spPr>
          <a:xfrm>
            <a:off x="605421" y="1698966"/>
            <a:ext cx="625106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4400" dirty="0"/>
              <a:t>How many </a:t>
            </a:r>
            <a:r>
              <a:rPr lang="en-AU" sz="4400" b="1" dirty="0"/>
              <a:t>lines of symmetry </a:t>
            </a:r>
            <a:r>
              <a:rPr lang="en-AU" sz="4400" dirty="0"/>
              <a:t>can you </a:t>
            </a:r>
            <a:r>
              <a:rPr lang="en-AU" sz="4400" b="1" dirty="0"/>
              <a:t>identify</a:t>
            </a:r>
            <a:r>
              <a:rPr lang="en-AU" sz="4400" dirty="0"/>
              <a:t> on this </a:t>
            </a:r>
            <a:r>
              <a:rPr lang="en-AU" sz="4400" b="1" dirty="0"/>
              <a:t>tile</a:t>
            </a:r>
            <a:r>
              <a:rPr lang="en-AU" sz="4400" dirty="0"/>
              <a:t>?</a:t>
            </a:r>
          </a:p>
        </p:txBody>
      </p:sp>
      <p:pic>
        <p:nvPicPr>
          <p:cNvPr id="11" name="Picture 10" descr="A tile with two squares overlayed (one rotated) to resemble a eight pointed star.">
            <a:extLst>
              <a:ext uri="{FF2B5EF4-FFF2-40B4-BE49-F238E27FC236}">
                <a16:creationId xmlns:a16="http://schemas.microsoft.com/office/drawing/2014/main" id="{62B3D7FB-7272-31E2-52F4-0F4307429C87}"/>
              </a:ext>
            </a:extLst>
          </p:cNvPr>
          <p:cNvPicPr>
            <a:picLocks noChangeAspect="1"/>
          </p:cNvPicPr>
          <p:nvPr/>
        </p:nvPicPr>
        <p:blipFill>
          <a:blip r:embed="rId4"/>
          <a:stretch>
            <a:fillRect/>
          </a:stretch>
        </p:blipFill>
        <p:spPr>
          <a:xfrm>
            <a:off x="6436617" y="1114194"/>
            <a:ext cx="4290651" cy="4251575"/>
          </a:xfrm>
          <a:prstGeom prst="rect">
            <a:avLst/>
          </a:prstGeom>
          <a:ln w="28575">
            <a:solidFill>
              <a:schemeClr val="accent5"/>
            </a:solidFill>
          </a:ln>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82F55011-0911-3487-91DC-FE62E84C431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44168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 Placeholder 5">
            <a:extLst>
              <a:ext uri="{FF2B5EF4-FFF2-40B4-BE49-F238E27FC236}">
                <a16:creationId xmlns:a16="http://schemas.microsoft.com/office/drawing/2014/main" id="{FE999A26-C94E-EEE8-C57D-52D473D14B91}"/>
              </a:ext>
            </a:extLst>
          </p:cNvPr>
          <p:cNvSpPr txBox="1">
            <a:spLocks/>
          </p:cNvSpPr>
          <p:nvPr/>
        </p:nvSpPr>
        <p:spPr>
          <a:xfrm>
            <a:off x="785446" y="1033089"/>
            <a:ext cx="10812092"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b="1"/>
              <a:t>Record</a:t>
            </a:r>
            <a:r>
              <a:rPr lang="en-AU" sz="4000"/>
              <a:t> the decimals at </a:t>
            </a:r>
            <a:r>
              <a:rPr lang="en-AU" sz="4000" b="1">
                <a:solidFill>
                  <a:schemeClr val="accent2"/>
                </a:solidFill>
              </a:rPr>
              <a:t>A, B, C, D </a:t>
            </a:r>
            <a:r>
              <a:rPr lang="en-AU" sz="4000"/>
              <a:t>on the </a:t>
            </a:r>
            <a:r>
              <a:rPr lang="en-AU" sz="4000" b="1"/>
              <a:t>number line</a:t>
            </a:r>
            <a:r>
              <a:rPr lang="en-AU" sz="4000"/>
              <a:t>.</a:t>
            </a:r>
          </a:p>
        </p:txBody>
      </p:sp>
      <p:pic>
        <p:nvPicPr>
          <p:cNvPr id="8" name="Picture 7" descr="A number line 0-1 with markers A, B, C, D placed at different positions indicating tenths and hundredths. &#10;">
            <a:extLst>
              <a:ext uri="{FF2B5EF4-FFF2-40B4-BE49-F238E27FC236}">
                <a16:creationId xmlns:a16="http://schemas.microsoft.com/office/drawing/2014/main" id="{AE3D52D5-7DE2-FBE7-D640-F4F851E962A3}"/>
              </a:ext>
            </a:extLst>
          </p:cNvPr>
          <p:cNvPicPr>
            <a:picLocks noChangeAspect="1"/>
          </p:cNvPicPr>
          <p:nvPr/>
        </p:nvPicPr>
        <p:blipFill>
          <a:blip r:embed="rId4"/>
          <a:srcRect t="36047"/>
          <a:stretch>
            <a:fillRect/>
          </a:stretch>
        </p:blipFill>
        <p:spPr>
          <a:xfrm>
            <a:off x="1892787" y="3987808"/>
            <a:ext cx="8406425" cy="1570277"/>
          </a:xfrm>
          <a:prstGeom prst="rect">
            <a:avLst/>
          </a:prstGeom>
        </p:spPr>
      </p:pic>
      <p:sp>
        <p:nvSpPr>
          <p:cNvPr id="14" name="TextBox 13">
            <a:extLst>
              <a:ext uri="{FF2B5EF4-FFF2-40B4-BE49-F238E27FC236}">
                <a16:creationId xmlns:a16="http://schemas.microsoft.com/office/drawing/2014/main" id="{41428623-4657-A7E4-9D4F-7E18BCFF76CD}"/>
              </a:ext>
              <a:ext uri="{C183D7F6-B498-43B3-948B-1728B52AA6E4}">
                <adec:decorative xmlns:adec="http://schemas.microsoft.com/office/drawing/2017/decorative" val="0"/>
              </a:ext>
            </a:extLst>
          </p:cNvPr>
          <p:cNvSpPr txBox="1"/>
          <p:nvPr/>
        </p:nvSpPr>
        <p:spPr>
          <a:xfrm>
            <a:off x="4383862" y="3372255"/>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solidFill>
                  <a:schemeClr val="accent2"/>
                </a:solidFill>
              </a:rPr>
              <a:t>A</a:t>
            </a:r>
          </a:p>
        </p:txBody>
      </p:sp>
      <p:sp>
        <p:nvSpPr>
          <p:cNvPr id="15" name="TextBox 14">
            <a:extLst>
              <a:ext uri="{FF2B5EF4-FFF2-40B4-BE49-F238E27FC236}">
                <a16:creationId xmlns:a16="http://schemas.microsoft.com/office/drawing/2014/main" id="{6D14E044-DB66-988B-E77D-B695E89664C8}"/>
              </a:ext>
              <a:ext uri="{C183D7F6-B498-43B3-948B-1728B52AA6E4}">
                <adec:decorative xmlns:adec="http://schemas.microsoft.com/office/drawing/2017/decorative" val="0"/>
              </a:ext>
            </a:extLst>
          </p:cNvPr>
          <p:cNvSpPr txBox="1"/>
          <p:nvPr/>
        </p:nvSpPr>
        <p:spPr>
          <a:xfrm>
            <a:off x="4981077" y="3372255"/>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solidFill>
                  <a:schemeClr val="accent2"/>
                </a:solidFill>
              </a:rPr>
              <a:t>B</a:t>
            </a:r>
          </a:p>
        </p:txBody>
      </p:sp>
      <p:sp>
        <p:nvSpPr>
          <p:cNvPr id="16" name="TextBox 15">
            <a:extLst>
              <a:ext uri="{FF2B5EF4-FFF2-40B4-BE49-F238E27FC236}">
                <a16:creationId xmlns:a16="http://schemas.microsoft.com/office/drawing/2014/main" id="{411C6551-FE42-1E5A-E01B-DA2352240FCF}"/>
              </a:ext>
              <a:ext uri="{C183D7F6-B498-43B3-948B-1728B52AA6E4}">
                <adec:decorative xmlns:adec="http://schemas.microsoft.com/office/drawing/2017/decorative" val="0"/>
              </a:ext>
            </a:extLst>
          </p:cNvPr>
          <p:cNvSpPr txBox="1"/>
          <p:nvPr/>
        </p:nvSpPr>
        <p:spPr>
          <a:xfrm>
            <a:off x="5578293" y="3372255"/>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solidFill>
                  <a:schemeClr val="accent2"/>
                </a:solidFill>
              </a:rPr>
              <a:t>C</a:t>
            </a:r>
          </a:p>
        </p:txBody>
      </p:sp>
      <p:sp>
        <p:nvSpPr>
          <p:cNvPr id="17" name="TextBox 16">
            <a:extLst>
              <a:ext uri="{FF2B5EF4-FFF2-40B4-BE49-F238E27FC236}">
                <a16:creationId xmlns:a16="http://schemas.microsoft.com/office/drawing/2014/main" id="{DFF7C723-07AE-01A5-ABCC-30642B405181}"/>
              </a:ext>
              <a:ext uri="{C183D7F6-B498-43B3-948B-1728B52AA6E4}">
                <adec:decorative xmlns:adec="http://schemas.microsoft.com/office/drawing/2017/decorative" val="0"/>
              </a:ext>
            </a:extLst>
          </p:cNvPr>
          <p:cNvSpPr txBox="1"/>
          <p:nvPr/>
        </p:nvSpPr>
        <p:spPr>
          <a:xfrm>
            <a:off x="7566547" y="3372255"/>
            <a:ext cx="529429"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000" b="1">
                <a:solidFill>
                  <a:schemeClr val="accent2"/>
                </a:solidFill>
              </a:rPr>
              <a:t>D</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4" name="TextBox 3">
            <a:extLst>
              <a:ext uri="{FF2B5EF4-FFF2-40B4-BE49-F238E27FC236}">
                <a16:creationId xmlns:a16="http://schemas.microsoft.com/office/drawing/2014/main" id="{7DBB6A07-A0F4-D913-4FA6-52C387350EFC}"/>
              </a:ext>
            </a:extLst>
          </p:cNvPr>
          <p:cNvSpPr txBox="1"/>
          <p:nvPr/>
        </p:nvSpPr>
        <p:spPr>
          <a:xfrm>
            <a:off x="1383143" y="5558085"/>
            <a:ext cx="9344125" cy="901593"/>
          </a:xfrm>
          <a:prstGeom prst="rect">
            <a:avLst/>
          </a:prstGeom>
          <a:noFill/>
        </p:spPr>
        <p:txBody>
          <a:bodyPr wrap="square">
            <a:spAutoFit/>
          </a:bodyPr>
          <a:lstStyle/>
          <a:p>
            <a:pPr algn="ctr">
              <a:lnSpc>
                <a:spcPct val="150000"/>
              </a:lnSpc>
            </a:pPr>
            <a:r>
              <a:rPr lang="en-AU" sz="4000" b="1" i="0" u="none" strike="noStrike">
                <a:solidFill>
                  <a:srgbClr val="000000"/>
                </a:solidFill>
                <a:effectLst/>
              </a:rPr>
              <a:t>Communicate </a:t>
            </a:r>
            <a:r>
              <a:rPr lang="en-AU" sz="4000" i="0" u="none" strike="noStrike">
                <a:solidFill>
                  <a:srgbClr val="000000"/>
                </a:solidFill>
                <a:effectLst/>
              </a:rPr>
              <a:t>your </a:t>
            </a:r>
            <a:r>
              <a:rPr lang="en-AU" sz="4000" b="1" i="0" u="none" strike="noStrike">
                <a:solidFill>
                  <a:srgbClr val="000000"/>
                </a:solidFill>
                <a:effectLst/>
              </a:rPr>
              <a:t>reasoning.</a:t>
            </a:r>
            <a:endParaRPr lang="en-AU" sz="4000"/>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 Placeholder 5">
            <a:extLst>
              <a:ext uri="{FF2B5EF4-FFF2-40B4-BE49-F238E27FC236}">
                <a16:creationId xmlns:a16="http://schemas.microsoft.com/office/drawing/2014/main" id="{8A2C8592-9002-7C0D-0245-15571DD503B3}"/>
              </a:ext>
            </a:extLst>
          </p:cNvPr>
          <p:cNvSpPr txBox="1">
            <a:spLocks/>
          </p:cNvSpPr>
          <p:nvPr/>
        </p:nvSpPr>
        <p:spPr>
          <a:xfrm>
            <a:off x="423185" y="1525789"/>
            <a:ext cx="542329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a:t>Record the </a:t>
            </a:r>
            <a:r>
              <a:rPr lang="en-AU" sz="4000" b="1"/>
              <a:t>lengths</a:t>
            </a:r>
            <a:r>
              <a:rPr lang="en-AU" sz="4000"/>
              <a:t> at  </a:t>
            </a:r>
            <a:r>
              <a:rPr lang="en-AU" sz="4000" b="1">
                <a:solidFill>
                  <a:schemeClr val="accent2"/>
                </a:solidFill>
              </a:rPr>
              <a:t>A, B, C, D </a:t>
            </a:r>
            <a:r>
              <a:rPr lang="en-AU" sz="4000"/>
              <a:t>by converting them into either </a:t>
            </a:r>
            <a:r>
              <a:rPr lang="en-AU" sz="4000" b="1"/>
              <a:t>millimetres</a:t>
            </a:r>
            <a:r>
              <a:rPr lang="en-AU" sz="4000"/>
              <a:t> or </a:t>
            </a:r>
            <a:r>
              <a:rPr lang="en-AU" sz="4000" b="1"/>
              <a:t>centimetres</a:t>
            </a:r>
            <a:r>
              <a:rPr lang="en-AU" sz="4000"/>
              <a:t>.</a:t>
            </a:r>
          </a:p>
        </p:txBody>
      </p:sp>
      <p:pic>
        <p:nvPicPr>
          <p:cNvPr id="9" name="Picture 8" descr="A table with the measurements of stationery.&#10;The length has been given in either centimetres or millimetres. (columns) There is a blank spot in the table to record the converted measurement.&#10;A highlighter - 103 mm&#10;B pen - 14.5 cm&#10;C binder clip - 26 mm&#10;D push pin - 1.5 cm">
            <a:extLst>
              <a:ext uri="{FF2B5EF4-FFF2-40B4-BE49-F238E27FC236}">
                <a16:creationId xmlns:a16="http://schemas.microsoft.com/office/drawing/2014/main" id="{8CEB0CA9-7B2C-7826-D484-B2C5B7A15F58}"/>
              </a:ext>
            </a:extLst>
          </p:cNvPr>
          <p:cNvPicPr>
            <a:picLocks noChangeAspect="1"/>
          </p:cNvPicPr>
          <p:nvPr/>
        </p:nvPicPr>
        <p:blipFill>
          <a:blip r:embed="rId4"/>
          <a:stretch>
            <a:fillRect/>
          </a:stretch>
        </p:blipFill>
        <p:spPr>
          <a:xfrm>
            <a:off x="6096000" y="1720989"/>
            <a:ext cx="5635630" cy="399482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factor puzzle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146" name="Picture 2" descr="4 factor puzzles. Each with a number at the top, two numbers in the middle and one number at the bottom. ">
            <a:extLst>
              <a:ext uri="{FF2B5EF4-FFF2-40B4-BE49-F238E27FC236}">
                <a16:creationId xmlns:a16="http://schemas.microsoft.com/office/drawing/2014/main" id="{EF7B3698-4B35-EE4D-65F5-98EAF740C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5910" y="1021907"/>
            <a:ext cx="4476229" cy="567409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p:txBody>
          <a:bodyPr/>
          <a:lstStyle/>
          <a:p>
            <a:pPr algn="ctr"/>
            <a:r>
              <a:rPr lang="en-AU" sz="5400">
                <a:latin typeface="Arial"/>
                <a:ea typeface="Calibri"/>
                <a:cs typeface="Arial"/>
              </a:rPr>
              <a:t>68 −  __  =  15</a:t>
            </a:r>
          </a:p>
          <a:p>
            <a:pPr algn="ctr"/>
            <a:endParaRPr lang="en-US" sz="4400"/>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15044F7E-82F4-E184-3B5D-3661FBE683D8}"/>
              </a:ext>
            </a:extLst>
          </p:cNvPr>
          <p:cNvSpPr txBox="1">
            <a:spLocks/>
          </p:cNvSpPr>
          <p:nvPr/>
        </p:nvSpPr>
        <p:spPr>
          <a:xfrm>
            <a:off x="926710" y="5078050"/>
            <a:ext cx="101635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ea typeface="Calibri"/>
                <a:cs typeface="Arial"/>
              </a:rPr>
              <a:t>63</a:t>
            </a:r>
            <a:endParaRPr lang="en-US" sz="4400"/>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 Placeholder 17">
            <a:extLst>
              <a:ext uri="{FF2B5EF4-FFF2-40B4-BE49-F238E27FC236}">
                <a16:creationId xmlns:a16="http://schemas.microsoft.com/office/drawing/2014/main" id="{4D5F8888-1BB7-E9A8-A074-46375DC141CC}"/>
              </a:ext>
            </a:extLst>
          </p:cNvPr>
          <p:cNvSpPr txBox="1">
            <a:spLocks/>
          </p:cNvSpPr>
          <p:nvPr/>
        </p:nvSpPr>
        <p:spPr>
          <a:xfrm>
            <a:off x="3909429" y="5078050"/>
            <a:ext cx="101635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ea typeface="Calibri"/>
                <a:cs typeface="Arial"/>
              </a:rPr>
              <a:t>43</a:t>
            </a:r>
            <a:endParaRPr lang="en-US" sz="4400"/>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 Placeholder 17">
            <a:extLst>
              <a:ext uri="{FF2B5EF4-FFF2-40B4-BE49-F238E27FC236}">
                <a16:creationId xmlns:a16="http://schemas.microsoft.com/office/drawing/2014/main" id="{D1AA3D83-6EA4-C769-FC7B-8CBECDA6AD73}"/>
              </a:ext>
            </a:extLst>
          </p:cNvPr>
          <p:cNvSpPr txBox="1">
            <a:spLocks/>
          </p:cNvSpPr>
          <p:nvPr/>
        </p:nvSpPr>
        <p:spPr>
          <a:xfrm>
            <a:off x="6892148" y="5078050"/>
            <a:ext cx="101635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ea typeface="Calibri"/>
                <a:cs typeface="Arial"/>
              </a:rPr>
              <a:t>54</a:t>
            </a:r>
            <a:endParaRPr lang="en-US" sz="4400"/>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4933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6" name="Text Placeholder 17">
            <a:extLst>
              <a:ext uri="{FF2B5EF4-FFF2-40B4-BE49-F238E27FC236}">
                <a16:creationId xmlns:a16="http://schemas.microsoft.com/office/drawing/2014/main" id="{F0615935-EBE4-A9CF-965B-D7C6B159A4B3}"/>
              </a:ext>
            </a:extLst>
          </p:cNvPr>
          <p:cNvSpPr txBox="1">
            <a:spLocks/>
          </p:cNvSpPr>
          <p:nvPr/>
        </p:nvSpPr>
        <p:spPr>
          <a:xfrm>
            <a:off x="9959884" y="5078050"/>
            <a:ext cx="101635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ea typeface="Calibri"/>
                <a:cs typeface="Arial"/>
              </a:rPr>
              <a:t>53</a:t>
            </a:r>
            <a:endParaRPr lang="en-US" sz="4400"/>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descr="A rectangular grid where the total number  is 28. Only the top row is visible and it contains 4 squares.">
            <a:extLst>
              <a:ext uri="{FF2B5EF4-FFF2-40B4-BE49-F238E27FC236}">
                <a16:creationId xmlns:a16="http://schemas.microsoft.com/office/drawing/2014/main" id="{4D8B07E8-EBC8-F689-9DEC-F1AF1305D4D6}"/>
              </a:ext>
            </a:extLst>
          </p:cNvPr>
          <p:cNvSpPr txBox="1">
            <a:spLocks/>
          </p:cNvSpPr>
          <p:nvPr/>
        </p:nvSpPr>
        <p:spPr>
          <a:xfrm>
            <a:off x="360000" y="1411657"/>
            <a:ext cx="803322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3600"/>
              <a:t>This area model has been torn. </a:t>
            </a:r>
          </a:p>
          <a:p>
            <a:pPr lvl="0"/>
            <a:r>
              <a:rPr lang="en-AU" sz="3600"/>
              <a:t>The number of </a:t>
            </a:r>
            <a:r>
              <a:rPr lang="en-AU" sz="3600" b="1"/>
              <a:t>rows</a:t>
            </a:r>
            <a:r>
              <a:rPr lang="en-AU" sz="3600"/>
              <a:t> and </a:t>
            </a:r>
            <a:r>
              <a:rPr lang="en-AU" sz="3600" b="1"/>
              <a:t>columns</a:t>
            </a:r>
            <a:r>
              <a:rPr lang="en-AU" sz="3600"/>
              <a:t>  are still </a:t>
            </a:r>
            <a:r>
              <a:rPr lang="en-AU" sz="3600" b="1"/>
              <a:t>visible</a:t>
            </a:r>
            <a:r>
              <a:rPr lang="en-AU" sz="3600"/>
              <a:t>. </a:t>
            </a:r>
          </a:p>
          <a:p>
            <a:pPr lvl="0"/>
            <a:r>
              <a:rPr lang="en-AU" sz="3600" b="1"/>
              <a:t>Describe</a:t>
            </a:r>
            <a:r>
              <a:rPr lang="en-AU" sz="3600"/>
              <a:t> the </a:t>
            </a:r>
            <a:r>
              <a:rPr lang="en-AU" sz="3600" b="1"/>
              <a:t>rows × columns</a:t>
            </a:r>
            <a:r>
              <a:rPr lang="en-AU" sz="3600"/>
              <a:t>.</a:t>
            </a:r>
          </a:p>
          <a:p>
            <a:pPr lvl="0"/>
            <a:r>
              <a:rPr lang="en-AU" sz="3600" b="1"/>
              <a:t>Record</a:t>
            </a:r>
            <a:r>
              <a:rPr lang="en-AU" sz="3600"/>
              <a:t> the </a:t>
            </a:r>
            <a:r>
              <a:rPr lang="en-AU" sz="3600" b="1"/>
              <a:t>multiplication sentence.</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5" name="Picture 4" descr="A partially covered area model. Visible is the bottom row (3) and the left column (5).">
            <a:extLst>
              <a:ext uri="{FF2B5EF4-FFF2-40B4-BE49-F238E27FC236}">
                <a16:creationId xmlns:a16="http://schemas.microsoft.com/office/drawing/2014/main" id="{CF2C8F44-7E12-D9CC-C895-1C56F6FD1F5E}"/>
              </a:ext>
            </a:extLst>
          </p:cNvPr>
          <p:cNvPicPr>
            <a:picLocks noChangeAspect="1"/>
          </p:cNvPicPr>
          <p:nvPr/>
        </p:nvPicPr>
        <p:blipFill>
          <a:blip r:embed="rId4"/>
          <a:stretch>
            <a:fillRect/>
          </a:stretch>
        </p:blipFill>
        <p:spPr>
          <a:xfrm>
            <a:off x="8715345" y="1745086"/>
            <a:ext cx="2573547" cy="37575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8820023D-0C6E-56C0-039C-86E2EB8A3A2B}"/>
              </a:ext>
            </a:extLst>
          </p:cNvPr>
          <p:cNvSpPr txBox="1">
            <a:spLocks/>
          </p:cNvSpPr>
          <p:nvPr/>
        </p:nvSpPr>
        <p:spPr>
          <a:xfrm>
            <a:off x="488721" y="1184223"/>
            <a:ext cx="503465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b="1"/>
              <a:t>Record</a:t>
            </a:r>
            <a:r>
              <a:rPr lang="en-AU" sz="4400"/>
              <a:t> the </a:t>
            </a:r>
            <a:r>
              <a:rPr lang="en-AU" sz="4400" b="1"/>
              <a:t>area</a:t>
            </a:r>
            <a:r>
              <a:rPr lang="en-AU" sz="4400"/>
              <a:t> of this </a:t>
            </a:r>
            <a:r>
              <a:rPr lang="en-AU" sz="4400" b="1">
                <a:solidFill>
                  <a:srgbClr val="116AFD"/>
                </a:solidFill>
              </a:rPr>
              <a:t>rectangle</a:t>
            </a:r>
            <a:r>
              <a:rPr lang="en-AU" sz="4400" b="1"/>
              <a:t> </a:t>
            </a:r>
            <a:r>
              <a:rPr lang="en-AU" sz="4400"/>
              <a:t>in</a:t>
            </a:r>
            <a:r>
              <a:rPr lang="en-AU" sz="4400" b="1"/>
              <a:t> square centimetres</a:t>
            </a:r>
            <a:r>
              <a:rPr lang="en-AU" sz="4400"/>
              <a:t>.</a:t>
            </a:r>
          </a:p>
        </p:txBody>
      </p:sp>
      <p:pic>
        <p:nvPicPr>
          <p:cNvPr id="7" name="Picture 6" descr="A rectangle with the measurements - length 14 (split into 10 and 4) &#10;and width (6).">
            <a:extLst>
              <a:ext uri="{FF2B5EF4-FFF2-40B4-BE49-F238E27FC236}">
                <a16:creationId xmlns:a16="http://schemas.microsoft.com/office/drawing/2014/main" id="{3183EFFA-257B-D88F-D7BA-52601B60872A}"/>
              </a:ext>
            </a:extLst>
          </p:cNvPr>
          <p:cNvPicPr>
            <a:picLocks noChangeAspect="1"/>
          </p:cNvPicPr>
          <p:nvPr/>
        </p:nvPicPr>
        <p:blipFill>
          <a:blip r:embed="rId4"/>
          <a:stretch>
            <a:fillRect/>
          </a:stretch>
        </p:blipFill>
        <p:spPr>
          <a:xfrm>
            <a:off x="6232819" y="1821667"/>
            <a:ext cx="5713157" cy="3023536"/>
          </a:xfrm>
          <a:prstGeom prst="rect">
            <a:avLst/>
          </a:prstGeom>
          <a:ln>
            <a:solidFill>
              <a:schemeClr val="accent5">
                <a:lumMod val="20000"/>
                <a:lumOff val="80000"/>
              </a:schemeClr>
            </a:solidFill>
          </a:ln>
          <a:effectLst>
            <a:outerShdw blurRad="292100" dist="139700" dir="2700000" algn="tl" rotWithShape="0">
              <a:srgbClr val="333333">
                <a:alpha val="65000"/>
              </a:srgbClr>
            </a:outerShdw>
          </a:effectLst>
        </p:spPr>
      </p:pic>
      <p:sp>
        <p:nvSpPr>
          <p:cNvPr id="9" name="Text Placeholder 5">
            <a:extLst>
              <a:ext uri="{FF2B5EF4-FFF2-40B4-BE49-F238E27FC236}">
                <a16:creationId xmlns:a16="http://schemas.microsoft.com/office/drawing/2014/main" id="{077BECD7-C6FF-4B92-B832-462EEC13FB74}"/>
              </a:ext>
            </a:extLst>
          </p:cNvPr>
          <p:cNvSpPr txBox="1">
            <a:spLocks/>
          </p:cNvSpPr>
          <p:nvPr/>
        </p:nvSpPr>
        <p:spPr>
          <a:xfrm>
            <a:off x="2088784" y="5604774"/>
            <a:ext cx="922059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4400" b="1"/>
              <a:t>Communicate </a:t>
            </a:r>
            <a:r>
              <a:rPr lang="en-AU" sz="4400"/>
              <a:t>your </a:t>
            </a:r>
            <a:r>
              <a:rPr lang="en-AU" sz="4400" b="1"/>
              <a:t>reasoning.</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 Placeholder 5" descr="Finish these sentences:&#10;a) 0.25 is the same as the fraction…&#10;b) 𝟏/𝟐 written as a decimal is…&#10;c) 0.75 is the same as the fraction…&#10;d) 𝟑/𝟏𝟎 written as a decimal is…&#10;">
                <a:extLst>
                  <a:ext uri="{FF2B5EF4-FFF2-40B4-BE49-F238E27FC236}">
                    <a16:creationId xmlns:a16="http://schemas.microsoft.com/office/drawing/2014/main" id="{06B1F655-30BF-1D0A-99C4-D865084CD1CA}"/>
                  </a:ext>
                </a:extLst>
              </p:cNvPr>
              <p:cNvSpPr txBox="1">
                <a:spLocks/>
              </p:cNvSpPr>
              <p:nvPr/>
            </p:nvSpPr>
            <p:spPr>
              <a:xfrm>
                <a:off x="1381736" y="825954"/>
                <a:ext cx="1010226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b="1"/>
                  <a:t>Finish</a:t>
                </a:r>
                <a:r>
                  <a:rPr lang="en-AU" sz="4000"/>
                  <a:t> these sentences:</a:t>
                </a:r>
              </a:p>
              <a:p>
                <a:pPr lvl="0"/>
                <a:r>
                  <a:rPr lang="en-AU" sz="3600" b="1"/>
                  <a:t>0.25</a:t>
                </a:r>
                <a:r>
                  <a:rPr lang="en-AU" sz="3600"/>
                  <a:t> is the same as the </a:t>
                </a:r>
                <a:r>
                  <a:rPr lang="en-AU" sz="3600" b="1"/>
                  <a:t>fraction</a:t>
                </a:r>
                <a:r>
                  <a:rPr lang="en-AU" sz="3600"/>
                  <a:t>…</a:t>
                </a:r>
              </a:p>
              <a:p>
                <a:pPr lvl="0"/>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𝟐</m:t>
                        </m:r>
                      </m:den>
                    </m:f>
                  </m:oMath>
                </a14:m>
                <a:r>
                  <a:rPr lang="en-AU" sz="3600"/>
                  <a:t> written as a </a:t>
                </a:r>
                <a:r>
                  <a:rPr lang="en-AU" sz="3600" b="1"/>
                  <a:t>decimal</a:t>
                </a:r>
                <a:r>
                  <a:rPr lang="en-AU" sz="3600"/>
                  <a:t> is…</a:t>
                </a:r>
              </a:p>
              <a:p>
                <a:r>
                  <a:rPr lang="en-AU" sz="3600" b="1"/>
                  <a:t>0.75</a:t>
                </a:r>
                <a:r>
                  <a:rPr lang="en-AU" sz="3600"/>
                  <a:t> is the same as the </a:t>
                </a:r>
                <a:r>
                  <a:rPr lang="en-AU" sz="3600" b="1"/>
                  <a:t>fraction</a:t>
                </a:r>
                <a:r>
                  <a:rPr lang="en-AU" sz="3600"/>
                  <a:t>…</a:t>
                </a:r>
              </a:p>
              <a:p>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𝟑</m:t>
                        </m:r>
                      </m:num>
                      <m:den>
                        <m:r>
                          <a:rPr lang="en-AU" sz="3600" b="1" i="1" smtClean="0">
                            <a:latin typeface="Cambria Math" panose="02040503050406030204" pitchFamily="18" charset="0"/>
                          </a:rPr>
                          <m:t>𝟏𝟎</m:t>
                        </m:r>
                      </m:den>
                    </m:f>
                  </m:oMath>
                </a14:m>
                <a:r>
                  <a:rPr lang="en-AU" sz="3600"/>
                  <a:t> written as a </a:t>
                </a:r>
                <a:r>
                  <a:rPr lang="en-AU" sz="3600" b="1"/>
                  <a:t>decimal</a:t>
                </a:r>
                <a:r>
                  <a:rPr lang="en-AU" sz="3600"/>
                  <a:t> is…</a:t>
                </a:r>
              </a:p>
              <a:p>
                <a:pPr marL="571500" indent="-571500" algn="ctr">
                  <a:buFont typeface="Arial" panose="020B0604020202020204" pitchFamily="34" charset="0"/>
                  <a:buChar char="•"/>
                </a:pPr>
                <a:endParaRPr lang="en-AU" sz="3600"/>
              </a:p>
              <a:p>
                <a:pPr marL="571500" indent="-571500" algn="ctr">
                  <a:buFont typeface="Arial" panose="020B0604020202020204" pitchFamily="34" charset="0"/>
                  <a:buChar char="•"/>
                </a:pPr>
                <a:endParaRPr lang="en-AU" sz="3600"/>
              </a:p>
              <a:p>
                <a:pPr marL="571500" lvl="0" indent="-571500" algn="ctr">
                  <a:buFont typeface="Arial" panose="020B0604020202020204" pitchFamily="34" charset="0"/>
                  <a:buChar char="•"/>
                </a:pPr>
                <a:endParaRPr lang="en-AU" sz="3600"/>
              </a:p>
            </p:txBody>
          </p:sp>
        </mc:Choice>
        <mc:Fallback xmlns="">
          <p:sp>
            <p:nvSpPr>
              <p:cNvPr id="5" name="Text Placeholder 5" descr="Finish these sentences:&#10;a) 0.25 is the same as the fraction…&#10;b) 𝟏/𝟐 written as a decimal is…&#10;c) 0.75 is the same as the fraction…&#10;d) 𝟑/𝟏𝟎 written as a decimal is…&#10;">
                <a:extLst>
                  <a:ext uri="{FF2B5EF4-FFF2-40B4-BE49-F238E27FC236}">
                    <a16:creationId xmlns:a16="http://schemas.microsoft.com/office/drawing/2014/main" id="{06B1F655-30BF-1D0A-99C4-D865084CD1CA}"/>
                  </a:ext>
                </a:extLst>
              </p:cNvPr>
              <p:cNvSpPr txBox="1">
                <a:spLocks noRot="1" noChangeAspect="1" noMove="1" noResize="1" noEditPoints="1" noAdjustHandles="1" noChangeArrowheads="1" noChangeShapeType="1" noTextEdit="1"/>
              </p:cNvSpPr>
              <p:nvPr/>
            </p:nvSpPr>
            <p:spPr>
              <a:xfrm>
                <a:off x="1381736" y="825954"/>
                <a:ext cx="10102264" cy="893226"/>
              </a:xfrm>
              <a:prstGeom prst="rect">
                <a:avLst/>
              </a:prstGeom>
              <a:blipFill>
                <a:blip r:embed="rId4"/>
                <a:stretch>
                  <a:fillRect l="-1871" b="-52925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13" name="TextBox 12">
            <a:extLst>
              <a:ext uri="{FF2B5EF4-FFF2-40B4-BE49-F238E27FC236}">
                <a16:creationId xmlns:a16="http://schemas.microsoft.com/office/drawing/2014/main" id="{39FFA439-EE51-F046-3903-1248710DB049}"/>
              </a:ext>
              <a:ext uri="{C183D7F6-B498-43B3-948B-1728B52AA6E4}">
                <adec:decorative xmlns:adec="http://schemas.microsoft.com/office/drawing/2017/decorative" val="1"/>
              </a:ext>
            </a:extLst>
          </p:cNvPr>
          <p:cNvSpPr txBox="1"/>
          <p:nvPr/>
        </p:nvSpPr>
        <p:spPr>
          <a:xfrm>
            <a:off x="646271" y="1969967"/>
            <a:ext cx="73546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a)</a:t>
            </a:r>
          </a:p>
        </p:txBody>
      </p:sp>
      <p:sp>
        <p:nvSpPr>
          <p:cNvPr id="14" name="TextBox 13">
            <a:extLst>
              <a:ext uri="{FF2B5EF4-FFF2-40B4-BE49-F238E27FC236}">
                <a16:creationId xmlns:a16="http://schemas.microsoft.com/office/drawing/2014/main" id="{90A6073E-B048-72B4-D2EF-C7A649869AC6}"/>
              </a:ext>
              <a:ext uri="{C183D7F6-B498-43B3-948B-1728B52AA6E4}">
                <adec:decorative xmlns:adec="http://schemas.microsoft.com/office/drawing/2017/decorative" val="1"/>
              </a:ext>
            </a:extLst>
          </p:cNvPr>
          <p:cNvSpPr txBox="1"/>
          <p:nvPr/>
        </p:nvSpPr>
        <p:spPr>
          <a:xfrm>
            <a:off x="646271" y="3160291"/>
            <a:ext cx="63621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b)</a:t>
            </a:r>
          </a:p>
        </p:txBody>
      </p:sp>
      <p:sp>
        <p:nvSpPr>
          <p:cNvPr id="15" name="TextBox 14">
            <a:extLst>
              <a:ext uri="{FF2B5EF4-FFF2-40B4-BE49-F238E27FC236}">
                <a16:creationId xmlns:a16="http://schemas.microsoft.com/office/drawing/2014/main" id="{0196B155-D97D-FAC6-6757-54E2D04EEA5E}"/>
              </a:ext>
              <a:ext uri="{C183D7F6-B498-43B3-948B-1728B52AA6E4}">
                <adec:decorative xmlns:adec="http://schemas.microsoft.com/office/drawing/2017/decorative" val="1"/>
              </a:ext>
            </a:extLst>
          </p:cNvPr>
          <p:cNvSpPr txBox="1"/>
          <p:nvPr/>
        </p:nvSpPr>
        <p:spPr>
          <a:xfrm>
            <a:off x="646271" y="43506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c)</a:t>
            </a:r>
          </a:p>
        </p:txBody>
      </p:sp>
      <p:sp>
        <p:nvSpPr>
          <p:cNvPr id="16" name="TextBox 15">
            <a:extLst>
              <a:ext uri="{FF2B5EF4-FFF2-40B4-BE49-F238E27FC236}">
                <a16:creationId xmlns:a16="http://schemas.microsoft.com/office/drawing/2014/main" id="{ED0DDA77-A1C4-EB53-9700-ADA19A5A533A}"/>
              </a:ext>
              <a:ext uri="{C183D7F6-B498-43B3-948B-1728B52AA6E4}">
                <adec:decorative xmlns:adec="http://schemas.microsoft.com/office/drawing/2017/decorative" val="1"/>
              </a:ext>
            </a:extLst>
          </p:cNvPr>
          <p:cNvSpPr txBox="1"/>
          <p:nvPr/>
        </p:nvSpPr>
        <p:spPr>
          <a:xfrm>
            <a:off x="612495" y="5540940"/>
            <a:ext cx="63621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d)</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descr="A rectangular grid where the total number  is 28. Only the top row is visible and it contains 4 squares.">
            <a:extLst>
              <a:ext uri="{FF2B5EF4-FFF2-40B4-BE49-F238E27FC236}">
                <a16:creationId xmlns:a16="http://schemas.microsoft.com/office/drawing/2014/main" id="{A84B179F-6419-EB30-ABB0-80C165159ACF}"/>
              </a:ext>
            </a:extLst>
          </p:cNvPr>
          <p:cNvSpPr txBox="1">
            <a:spLocks/>
          </p:cNvSpPr>
          <p:nvPr/>
        </p:nvSpPr>
        <p:spPr>
          <a:xfrm>
            <a:off x="360000" y="1395792"/>
            <a:ext cx="803322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3600"/>
              <a:t>For this </a:t>
            </a:r>
            <a:r>
              <a:rPr lang="en-AU" sz="3600" b="1"/>
              <a:t>prism</a:t>
            </a:r>
            <a:r>
              <a:rPr lang="en-AU" sz="3600"/>
              <a:t>:</a:t>
            </a:r>
          </a:p>
          <a:p>
            <a:pPr marL="742950" lvl="0" indent="-742950">
              <a:buFont typeface="+mj-lt"/>
              <a:buAutoNum type="alphaLcParenR"/>
            </a:pPr>
            <a:r>
              <a:rPr lang="en-AU" sz="3600"/>
              <a:t>How many </a:t>
            </a:r>
            <a:r>
              <a:rPr lang="en-AU" sz="3600" b="1"/>
              <a:t>layers</a:t>
            </a:r>
            <a:r>
              <a:rPr lang="en-AU" sz="3600"/>
              <a:t> does it have?</a:t>
            </a:r>
          </a:p>
          <a:p>
            <a:pPr marL="742950" lvl="0" indent="-742950">
              <a:buFont typeface="+mj-lt"/>
              <a:buAutoNum type="alphaLcParenR"/>
            </a:pPr>
            <a:r>
              <a:rPr lang="en-AU" sz="3600"/>
              <a:t>How many </a:t>
            </a:r>
            <a:r>
              <a:rPr lang="en-AU" sz="3600" b="1"/>
              <a:t>cubes</a:t>
            </a:r>
            <a:r>
              <a:rPr lang="en-AU" sz="3600"/>
              <a:t> in each layer?</a:t>
            </a:r>
          </a:p>
          <a:p>
            <a:pPr marL="742950" lvl="0" indent="-742950">
              <a:buFont typeface="+mj-lt"/>
              <a:buAutoNum type="alphaLcParenR"/>
            </a:pPr>
            <a:r>
              <a:rPr lang="en-AU" sz="3600"/>
              <a:t>What is the </a:t>
            </a:r>
            <a:r>
              <a:rPr lang="en-AU" sz="3600" b="1"/>
              <a:t>volume</a:t>
            </a:r>
            <a:r>
              <a:rPr lang="en-AU" sz="3600"/>
              <a:t>?</a:t>
            </a:r>
          </a:p>
          <a:p>
            <a:pPr lvl="0"/>
            <a:endParaRPr lang="en-AU" sz="3600" b="1"/>
          </a:p>
        </p:txBody>
      </p:sp>
      <p:pic>
        <p:nvPicPr>
          <p:cNvPr id="7" name="Picture 6" descr="A rectangular prism.&#10;Each layer has 3 rows of 3.&#10;">
            <a:extLst>
              <a:ext uri="{FF2B5EF4-FFF2-40B4-BE49-F238E27FC236}">
                <a16:creationId xmlns:a16="http://schemas.microsoft.com/office/drawing/2014/main" id="{F98BA6A8-9F64-42D9-ECA8-5C3F60B42CE0}"/>
              </a:ext>
            </a:extLst>
          </p:cNvPr>
          <p:cNvPicPr>
            <a:picLocks noChangeAspect="1"/>
          </p:cNvPicPr>
          <p:nvPr/>
        </p:nvPicPr>
        <p:blipFill>
          <a:blip r:embed="rId4"/>
          <a:stretch>
            <a:fillRect/>
          </a:stretch>
        </p:blipFill>
        <p:spPr>
          <a:xfrm>
            <a:off x="8393229" y="1842405"/>
            <a:ext cx="2902248" cy="3543629"/>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completing subtraction sentences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There are 2 boxes to the left, a subtraction symbol, 2 boxes to the right, an equals sign and the number 39.">
            <a:extLst>
              <a:ext uri="{FF2B5EF4-FFF2-40B4-BE49-F238E27FC236}">
                <a16:creationId xmlns:a16="http://schemas.microsoft.com/office/drawing/2014/main" id="{C0839684-9211-16C6-1B8A-E4ED0CE2A9DF}"/>
              </a:ext>
            </a:extLst>
          </p:cNvPr>
          <p:cNvGrpSpPr/>
          <p:nvPr/>
        </p:nvGrpSpPr>
        <p:grpSpPr>
          <a:xfrm>
            <a:off x="2075904" y="2062122"/>
            <a:ext cx="8040191" cy="1366878"/>
            <a:chOff x="2075904" y="1767923"/>
            <a:chExt cx="8040191" cy="1366878"/>
          </a:xfrm>
        </p:grpSpPr>
        <p:grpSp>
          <p:nvGrpSpPr>
            <p:cNvPr id="5" name="Group 2">
              <a:extLst>
                <a:ext uri="{FF2B5EF4-FFF2-40B4-BE49-F238E27FC236}">
                  <a16:creationId xmlns:a16="http://schemas.microsoft.com/office/drawing/2014/main" id="{1119422A-1E5C-C5D5-BCD2-0F737FDDC491}"/>
                </a:ext>
              </a:extLst>
            </p:cNvPr>
            <p:cNvGrpSpPr/>
            <p:nvPr/>
          </p:nvGrpSpPr>
          <p:grpSpPr>
            <a:xfrm>
              <a:off x="2075904" y="2075583"/>
              <a:ext cx="1928234" cy="932538"/>
              <a:chOff x="0" y="-42228"/>
              <a:chExt cx="2570978" cy="1243384"/>
            </a:xfrm>
          </p:grpSpPr>
          <p:grpSp>
            <p:nvGrpSpPr>
              <p:cNvPr id="19" name="Group 3">
                <a:extLst>
                  <a:ext uri="{FF2B5EF4-FFF2-40B4-BE49-F238E27FC236}">
                    <a16:creationId xmlns:a16="http://schemas.microsoft.com/office/drawing/2014/main" id="{65DF228F-8A9F-A7AD-B9C6-C41E3ED844FF}"/>
                  </a:ext>
                </a:extLst>
              </p:cNvPr>
              <p:cNvGrpSpPr/>
              <p:nvPr/>
            </p:nvGrpSpPr>
            <p:grpSpPr>
              <a:xfrm>
                <a:off x="0" y="-42228"/>
                <a:ext cx="1201156" cy="1243384"/>
                <a:chOff x="0" y="-28575"/>
                <a:chExt cx="812800" cy="841375"/>
              </a:xfrm>
            </p:grpSpPr>
            <p:sp>
              <p:nvSpPr>
                <p:cNvPr id="23" name="Freeform 4">
                  <a:extLst>
                    <a:ext uri="{FF2B5EF4-FFF2-40B4-BE49-F238E27FC236}">
                      <a16:creationId xmlns:a16="http://schemas.microsoft.com/office/drawing/2014/main" id="{AF93F180-57BF-7CB3-7AA8-099645EDA0A0}"/>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latin typeface="Edu NSW ACT Foundation" panose="020B0604020202020204" charset="0"/>
                    <a:cs typeface="Arial" panose="020B0604020202020204" pitchFamily="34" charset="0"/>
                  </a:endParaRPr>
                </a:p>
              </p:txBody>
            </p:sp>
            <p:sp>
              <p:nvSpPr>
                <p:cNvPr id="24" name="TextBox 5">
                  <a:extLst>
                    <a:ext uri="{FF2B5EF4-FFF2-40B4-BE49-F238E27FC236}">
                      <a16:creationId xmlns:a16="http://schemas.microsoft.com/office/drawing/2014/main" id="{54F382D9-ACC2-0D56-8256-B7981C16CDAD}"/>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latin typeface="Edu NSW ACT Foundation" panose="020B0604020202020204" charset="0"/>
                    <a:cs typeface="Arial" panose="020B0604020202020204" pitchFamily="34" charset="0"/>
                  </a:endParaRPr>
                </a:p>
              </p:txBody>
            </p:sp>
          </p:grpSp>
          <p:grpSp>
            <p:nvGrpSpPr>
              <p:cNvPr id="20" name="Group 6">
                <a:extLst>
                  <a:ext uri="{FF2B5EF4-FFF2-40B4-BE49-F238E27FC236}">
                    <a16:creationId xmlns:a16="http://schemas.microsoft.com/office/drawing/2014/main" id="{5B7FE4AE-3046-F570-DAB3-31102547EFB6}"/>
                  </a:ext>
                </a:extLst>
              </p:cNvPr>
              <p:cNvGrpSpPr/>
              <p:nvPr/>
            </p:nvGrpSpPr>
            <p:grpSpPr>
              <a:xfrm>
                <a:off x="1369822" y="-42228"/>
                <a:ext cx="1201156" cy="1243384"/>
                <a:chOff x="0" y="-28575"/>
                <a:chExt cx="812800" cy="841375"/>
              </a:xfrm>
            </p:grpSpPr>
            <p:sp>
              <p:nvSpPr>
                <p:cNvPr id="21" name="Freeform 7">
                  <a:extLst>
                    <a:ext uri="{FF2B5EF4-FFF2-40B4-BE49-F238E27FC236}">
                      <a16:creationId xmlns:a16="http://schemas.microsoft.com/office/drawing/2014/main" id="{4149C22D-3CE9-A6EC-E70F-26744E6B007C}"/>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latin typeface="Edu NSW ACT Foundation" panose="020B0604020202020204" charset="0"/>
                    <a:cs typeface="Arial" panose="020B0604020202020204" pitchFamily="34" charset="0"/>
                  </a:endParaRPr>
                </a:p>
              </p:txBody>
            </p:sp>
            <p:sp>
              <p:nvSpPr>
                <p:cNvPr id="22" name="TextBox 8">
                  <a:extLst>
                    <a:ext uri="{FF2B5EF4-FFF2-40B4-BE49-F238E27FC236}">
                      <a16:creationId xmlns:a16="http://schemas.microsoft.com/office/drawing/2014/main" id="{963400D8-AF27-B9C4-9836-1EE33CF683CF}"/>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latin typeface="Edu NSW ACT Foundation" panose="020B0604020202020204" charset="0"/>
                    <a:cs typeface="Arial" panose="020B0604020202020204" pitchFamily="34" charset="0"/>
                  </a:endParaRPr>
                </a:p>
              </p:txBody>
            </p:sp>
          </p:grpSp>
        </p:grpSp>
        <p:grpSp>
          <p:nvGrpSpPr>
            <p:cNvPr id="7" name="Group 9">
              <a:extLst>
                <a:ext uri="{FF2B5EF4-FFF2-40B4-BE49-F238E27FC236}">
                  <a16:creationId xmlns:a16="http://schemas.microsoft.com/office/drawing/2014/main" id="{C6CCB9DF-21FF-3EE6-D0D9-05BDD8BD0FA9}"/>
                </a:ext>
              </a:extLst>
            </p:cNvPr>
            <p:cNvGrpSpPr/>
            <p:nvPr/>
          </p:nvGrpSpPr>
          <p:grpSpPr>
            <a:xfrm>
              <a:off x="5375224" y="2075583"/>
              <a:ext cx="1928234" cy="932538"/>
              <a:chOff x="0" y="-42228"/>
              <a:chExt cx="2570978" cy="1243384"/>
            </a:xfrm>
          </p:grpSpPr>
          <p:grpSp>
            <p:nvGrpSpPr>
              <p:cNvPr id="13" name="Group 10">
                <a:extLst>
                  <a:ext uri="{FF2B5EF4-FFF2-40B4-BE49-F238E27FC236}">
                    <a16:creationId xmlns:a16="http://schemas.microsoft.com/office/drawing/2014/main" id="{E871EF33-5DA8-7719-9624-A366FF983FD1}"/>
                  </a:ext>
                </a:extLst>
              </p:cNvPr>
              <p:cNvGrpSpPr/>
              <p:nvPr/>
            </p:nvGrpSpPr>
            <p:grpSpPr>
              <a:xfrm>
                <a:off x="0" y="-42228"/>
                <a:ext cx="1201156" cy="1243384"/>
                <a:chOff x="0" y="-28575"/>
                <a:chExt cx="812800" cy="841375"/>
              </a:xfrm>
            </p:grpSpPr>
            <p:sp>
              <p:nvSpPr>
                <p:cNvPr id="17" name="Freeform 11">
                  <a:extLst>
                    <a:ext uri="{FF2B5EF4-FFF2-40B4-BE49-F238E27FC236}">
                      <a16:creationId xmlns:a16="http://schemas.microsoft.com/office/drawing/2014/main" id="{035E0912-2D09-3C28-7A7A-4333A688DA18}"/>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latin typeface="Edu NSW ACT Foundation" panose="020B0604020202020204" charset="0"/>
                    <a:cs typeface="Arial" panose="020B0604020202020204" pitchFamily="34" charset="0"/>
                  </a:endParaRPr>
                </a:p>
              </p:txBody>
            </p:sp>
            <p:sp>
              <p:nvSpPr>
                <p:cNvPr id="18" name="TextBox 12">
                  <a:extLst>
                    <a:ext uri="{FF2B5EF4-FFF2-40B4-BE49-F238E27FC236}">
                      <a16:creationId xmlns:a16="http://schemas.microsoft.com/office/drawing/2014/main" id="{8512EB61-8CB6-2BCF-6EBF-E2B2A8A4C129}"/>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latin typeface="Edu NSW ACT Foundation" panose="020B0604020202020204" charset="0"/>
                    <a:cs typeface="Arial" panose="020B0604020202020204" pitchFamily="34" charset="0"/>
                  </a:endParaRPr>
                </a:p>
              </p:txBody>
            </p:sp>
          </p:grpSp>
          <p:grpSp>
            <p:nvGrpSpPr>
              <p:cNvPr id="14" name="Group 13">
                <a:extLst>
                  <a:ext uri="{FF2B5EF4-FFF2-40B4-BE49-F238E27FC236}">
                    <a16:creationId xmlns:a16="http://schemas.microsoft.com/office/drawing/2014/main" id="{78357951-6D44-43C5-61CB-03F03AE48477}"/>
                  </a:ext>
                </a:extLst>
              </p:cNvPr>
              <p:cNvGrpSpPr/>
              <p:nvPr/>
            </p:nvGrpSpPr>
            <p:grpSpPr>
              <a:xfrm>
                <a:off x="1369822" y="-42228"/>
                <a:ext cx="1201156" cy="1243384"/>
                <a:chOff x="0" y="-28575"/>
                <a:chExt cx="812800" cy="841375"/>
              </a:xfrm>
            </p:grpSpPr>
            <p:sp>
              <p:nvSpPr>
                <p:cNvPr id="15" name="Freeform 14">
                  <a:extLst>
                    <a:ext uri="{FF2B5EF4-FFF2-40B4-BE49-F238E27FC236}">
                      <a16:creationId xmlns:a16="http://schemas.microsoft.com/office/drawing/2014/main" id="{75E093E6-A821-34B6-293D-4282358D9CCA}"/>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latin typeface="Edu NSW ACT Foundation" panose="020B0604020202020204" charset="0"/>
                    <a:cs typeface="Arial" panose="020B0604020202020204" pitchFamily="34" charset="0"/>
                  </a:endParaRPr>
                </a:p>
              </p:txBody>
            </p:sp>
            <p:sp>
              <p:nvSpPr>
                <p:cNvPr id="16" name="TextBox 15">
                  <a:extLst>
                    <a:ext uri="{FF2B5EF4-FFF2-40B4-BE49-F238E27FC236}">
                      <a16:creationId xmlns:a16="http://schemas.microsoft.com/office/drawing/2014/main" id="{C379E648-67CF-A736-0EBA-CDF1C5892D60}"/>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latin typeface="Edu NSW ACT Foundation" panose="020B0604020202020204" charset="0"/>
                    <a:cs typeface="Arial" panose="020B0604020202020204" pitchFamily="34" charset="0"/>
                  </a:endParaRPr>
                </a:p>
              </p:txBody>
            </p:sp>
          </p:grpSp>
        </p:grpSp>
        <p:sp>
          <p:nvSpPr>
            <p:cNvPr id="8" name="Freeform 16">
              <a:extLst>
                <a:ext uri="{FF2B5EF4-FFF2-40B4-BE49-F238E27FC236}">
                  <a16:creationId xmlns:a16="http://schemas.microsoft.com/office/drawing/2014/main" id="{113013B8-91C3-296A-68CF-77874A65627A}"/>
                </a:ext>
              </a:extLst>
            </p:cNvPr>
            <p:cNvSpPr/>
            <p:nvPr/>
          </p:nvSpPr>
          <p:spPr>
            <a:xfrm>
              <a:off x="4341977" y="2492602"/>
              <a:ext cx="718181" cy="130170"/>
            </a:xfrm>
            <a:custGeom>
              <a:avLst/>
              <a:gdLst/>
              <a:ahLst/>
              <a:cxnLst/>
              <a:rect l="l" t="t" r="r" b="b"/>
              <a:pathLst>
                <a:path w="718181" h="130170">
                  <a:moveTo>
                    <a:pt x="0" y="0"/>
                  </a:moveTo>
                  <a:lnTo>
                    <a:pt x="718182" y="0"/>
                  </a:lnTo>
                  <a:lnTo>
                    <a:pt x="718182" y="130170"/>
                  </a:lnTo>
                  <a:lnTo>
                    <a:pt x="0" y="1301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latin typeface="Edu NSW ACT Foundation" panose="020B0604020202020204" charset="0"/>
                <a:cs typeface="Arial" panose="020B0604020202020204" pitchFamily="34" charset="0"/>
              </a:endParaRPr>
            </a:p>
          </p:txBody>
        </p:sp>
        <p:sp>
          <p:nvSpPr>
            <p:cNvPr id="9" name="TextBox 8">
              <a:extLst>
                <a:ext uri="{FF2B5EF4-FFF2-40B4-BE49-F238E27FC236}">
                  <a16:creationId xmlns:a16="http://schemas.microsoft.com/office/drawing/2014/main" id="{36C296D0-61D3-796D-15B7-382A258D5BC5}"/>
                </a:ext>
              </a:extLst>
            </p:cNvPr>
            <p:cNvSpPr txBox="1"/>
            <p:nvPr/>
          </p:nvSpPr>
          <p:spPr>
            <a:xfrm>
              <a:off x="9248288" y="1767923"/>
              <a:ext cx="867807" cy="1339469"/>
            </a:xfrm>
            <a:prstGeom prst="rect">
              <a:avLst/>
            </a:prstGeom>
          </p:spPr>
          <p:txBody>
            <a:bodyPr wrap="square" lIns="0" tIns="0" rIns="0" bIns="0" rtlCol="0" anchor="t">
              <a:spAutoFit/>
            </a:bodyPr>
            <a:lstStyle/>
            <a:p>
              <a:pPr algn="ctr">
                <a:lnSpc>
                  <a:spcPts val="11200"/>
                </a:lnSpc>
                <a:spcBef>
                  <a:spcPct val="0"/>
                </a:spcBef>
              </a:pPr>
              <a:r>
                <a:rPr lang="en-US" sz="8800">
                  <a:solidFill>
                    <a:srgbClr val="000000"/>
                  </a:solidFill>
                  <a:latin typeface="Edu NSW ACT Foundation" panose="020B0604020202020204" charset="0"/>
                  <a:ea typeface="League Spartan"/>
                  <a:cs typeface="Arial" panose="020B0604020202020204" pitchFamily="34" charset="0"/>
                  <a:sym typeface="League Spartan"/>
                </a:rPr>
                <a:t>9</a:t>
              </a:r>
            </a:p>
          </p:txBody>
        </p:sp>
        <p:sp>
          <p:nvSpPr>
            <p:cNvPr id="10" name="TextBox 9">
              <a:extLst>
                <a:ext uri="{FF2B5EF4-FFF2-40B4-BE49-F238E27FC236}">
                  <a16:creationId xmlns:a16="http://schemas.microsoft.com/office/drawing/2014/main" id="{4F721FBB-C167-50BA-7F21-60EF7B07300B}"/>
                </a:ext>
              </a:extLst>
            </p:cNvPr>
            <p:cNvSpPr txBox="1"/>
            <p:nvPr/>
          </p:nvSpPr>
          <p:spPr>
            <a:xfrm>
              <a:off x="8467834" y="1795332"/>
              <a:ext cx="837552" cy="1339469"/>
            </a:xfrm>
            <a:prstGeom prst="rect">
              <a:avLst/>
            </a:prstGeom>
          </p:spPr>
          <p:txBody>
            <a:bodyPr wrap="square" lIns="0" tIns="0" rIns="0" bIns="0" rtlCol="0" anchor="t">
              <a:spAutoFit/>
            </a:bodyPr>
            <a:lstStyle/>
            <a:p>
              <a:pPr algn="ctr">
                <a:lnSpc>
                  <a:spcPts val="11200"/>
                </a:lnSpc>
                <a:spcBef>
                  <a:spcPct val="0"/>
                </a:spcBef>
              </a:pPr>
              <a:r>
                <a:rPr lang="en-US" sz="8800">
                  <a:solidFill>
                    <a:srgbClr val="000000"/>
                  </a:solidFill>
                  <a:latin typeface="Edu NSW ACT Foundation" panose="020B0604020202020204" charset="0"/>
                  <a:ea typeface="League Spartan"/>
                  <a:cs typeface="Arial" panose="020B0604020202020204" pitchFamily="34" charset="0"/>
                  <a:sym typeface="League Spartan"/>
                </a:rPr>
                <a:t>3</a:t>
              </a:r>
            </a:p>
          </p:txBody>
        </p:sp>
        <p:sp>
          <p:nvSpPr>
            <p:cNvPr id="11" name="Freeform 20">
              <a:extLst>
                <a:ext uri="{FF2B5EF4-FFF2-40B4-BE49-F238E27FC236}">
                  <a16:creationId xmlns:a16="http://schemas.microsoft.com/office/drawing/2014/main" id="{D39FC72D-053B-7917-7B9F-594BB3F09201}"/>
                </a:ext>
              </a:extLst>
            </p:cNvPr>
            <p:cNvSpPr/>
            <p:nvPr/>
          </p:nvSpPr>
          <p:spPr>
            <a:xfrm>
              <a:off x="7526555" y="2362431"/>
              <a:ext cx="718181" cy="130170"/>
            </a:xfrm>
            <a:custGeom>
              <a:avLst/>
              <a:gdLst/>
              <a:ahLst/>
              <a:cxnLst/>
              <a:rect l="l" t="t" r="r" b="b"/>
              <a:pathLst>
                <a:path w="718181" h="130170">
                  <a:moveTo>
                    <a:pt x="0" y="0"/>
                  </a:moveTo>
                  <a:lnTo>
                    <a:pt x="718181" y="0"/>
                  </a:lnTo>
                  <a:lnTo>
                    <a:pt x="718181" y="130171"/>
                  </a:lnTo>
                  <a:lnTo>
                    <a:pt x="0" y="1301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latin typeface="Edu NSW ACT Foundation" panose="020B0604020202020204" charset="0"/>
                <a:cs typeface="Arial" panose="020B0604020202020204" pitchFamily="34" charset="0"/>
              </a:endParaRPr>
            </a:p>
          </p:txBody>
        </p:sp>
        <p:sp>
          <p:nvSpPr>
            <p:cNvPr id="12" name="Freeform 21">
              <a:extLst>
                <a:ext uri="{FF2B5EF4-FFF2-40B4-BE49-F238E27FC236}">
                  <a16:creationId xmlns:a16="http://schemas.microsoft.com/office/drawing/2014/main" id="{3A4EC3FC-917D-6CA2-9D3A-1FA23D7024EF}"/>
                </a:ext>
              </a:extLst>
            </p:cNvPr>
            <p:cNvSpPr/>
            <p:nvPr/>
          </p:nvSpPr>
          <p:spPr>
            <a:xfrm>
              <a:off x="7526555" y="2585095"/>
              <a:ext cx="718181" cy="130170"/>
            </a:xfrm>
            <a:custGeom>
              <a:avLst/>
              <a:gdLst/>
              <a:ahLst/>
              <a:cxnLst/>
              <a:rect l="l" t="t" r="r" b="b"/>
              <a:pathLst>
                <a:path w="718181" h="130170">
                  <a:moveTo>
                    <a:pt x="0" y="0"/>
                  </a:moveTo>
                  <a:lnTo>
                    <a:pt x="718181" y="0"/>
                  </a:lnTo>
                  <a:lnTo>
                    <a:pt x="718181" y="130171"/>
                  </a:lnTo>
                  <a:lnTo>
                    <a:pt x="0" y="1301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latin typeface="Edu NSW ACT Foundation" panose="020B0604020202020204" charset="0"/>
                <a:cs typeface="Arial" panose="020B0604020202020204" pitchFamily="34" charset="0"/>
              </a:endParaRPr>
            </a:p>
          </p:txBody>
        </p:sp>
      </p:gr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3" name="Text Placeholder 17">
            <a:extLst>
              <a:ext uri="{FF2B5EF4-FFF2-40B4-BE49-F238E27FC236}">
                <a16:creationId xmlns:a16="http://schemas.microsoft.com/office/drawing/2014/main" id="{E17F9F53-7B88-62C0-F085-DD2EC17AB95E}"/>
              </a:ext>
            </a:extLst>
          </p:cNvPr>
          <p:cNvSpPr txBox="1">
            <a:spLocks noGrp="1"/>
          </p:cNvSpPr>
          <p:nvPr>
            <p:ph type="body" sz="quarter" idx="22"/>
          </p:nvPr>
        </p:nvSpPr>
        <p:spPr>
          <a:xfrm>
            <a:off x="474662" y="1718918"/>
            <a:ext cx="11242675" cy="89376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a:latin typeface="Arial"/>
                <a:ea typeface="Calibri"/>
                <a:cs typeface="Arial"/>
              </a:rPr>
              <a:t>22 + 8 + 13  = 50 - 7</a:t>
            </a:r>
            <a:endParaRPr lang="en-US" sz="540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578423940"/>
              </p:ext>
            </p:extLst>
          </p:nvPr>
        </p:nvGraphicFramePr>
        <p:xfrm>
          <a:off x="2557462" y="4338638"/>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Box 5">
            <a:extLst>
              <a:ext uri="{FF2B5EF4-FFF2-40B4-BE49-F238E27FC236}">
                <a16:creationId xmlns:a16="http://schemas.microsoft.com/office/drawing/2014/main" id="{D2C3E64A-FA83-522A-2722-D6B654FEF08B}"/>
              </a:ext>
            </a:extLst>
          </p:cNvPr>
          <p:cNvSpPr txBox="1"/>
          <p:nvPr/>
        </p:nvSpPr>
        <p:spPr>
          <a:xfrm>
            <a:off x="2365542" y="5529696"/>
            <a:ext cx="9826458" cy="707886"/>
          </a:xfrm>
          <a:prstGeom prst="rect">
            <a:avLst/>
          </a:prstGeom>
          <a:noFill/>
        </p:spPr>
        <p:txBody>
          <a:bodyPr wrap="square">
            <a:spAutoFit/>
          </a:bodyPr>
          <a:lstStyle/>
          <a:p>
            <a:pPr lvl="0"/>
            <a:r>
              <a:rPr lang="en-AU" sz="4000" b="1"/>
              <a:t>Communicate </a:t>
            </a:r>
            <a:r>
              <a:rPr lang="en-AU" sz="4000"/>
              <a:t>your </a:t>
            </a:r>
            <a:r>
              <a:rPr lang="en-AU" sz="4000" b="1"/>
              <a:t>reasoning.</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730A67A-CF4B-B752-F806-1505F135BD38}"/>
              </a:ext>
            </a:extLst>
          </p:cNvPr>
          <p:cNvSpPr txBox="1">
            <a:spLocks/>
          </p:cNvSpPr>
          <p:nvPr/>
        </p:nvSpPr>
        <p:spPr>
          <a:xfrm>
            <a:off x="360000" y="905601"/>
            <a:ext cx="106704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3600"/>
              <a:t>Use the </a:t>
            </a:r>
            <a:r>
              <a:rPr lang="en-AU" sz="3600" b="1"/>
              <a:t>associative property </a:t>
            </a:r>
            <a:r>
              <a:rPr lang="en-AU" sz="3600"/>
              <a:t>to regroup the factors into </a:t>
            </a:r>
            <a:r>
              <a:rPr lang="en-AU" sz="3600" b="1"/>
              <a:t>multiples of 10 </a:t>
            </a:r>
            <a:r>
              <a:rPr lang="en-AU" sz="3600"/>
              <a:t>and record the </a:t>
            </a:r>
            <a:r>
              <a:rPr lang="en-AU" sz="3600" b="1"/>
              <a:t>totals.</a:t>
            </a:r>
          </a:p>
        </p:txBody>
      </p:sp>
      <p:sp>
        <p:nvSpPr>
          <p:cNvPr id="9" name="TextBox 8">
            <a:extLst>
              <a:ext uri="{FF2B5EF4-FFF2-40B4-BE49-F238E27FC236}">
                <a16:creationId xmlns:a16="http://schemas.microsoft.com/office/drawing/2014/main" id="{ABF2BE01-29FD-B7DA-8558-C829AFDE190F}"/>
              </a:ext>
            </a:extLst>
          </p:cNvPr>
          <p:cNvSpPr txBox="1"/>
          <p:nvPr/>
        </p:nvSpPr>
        <p:spPr>
          <a:xfrm>
            <a:off x="1674421" y="3012777"/>
            <a:ext cx="9571512" cy="3224601"/>
          </a:xfrm>
          <a:prstGeom prst="rect">
            <a:avLst/>
          </a:prstGeom>
          <a:noFill/>
        </p:spPr>
        <p:txBody>
          <a:bodyPr wrap="square">
            <a:spAutoFit/>
          </a:bodyPr>
          <a:lstStyle/>
          <a:p>
            <a:pPr marL="742950" indent="-742950">
              <a:lnSpc>
                <a:spcPct val="150000"/>
              </a:lnSpc>
              <a:spcBef>
                <a:spcPts val="1200"/>
              </a:spcBef>
              <a:spcAft>
                <a:spcPts val="600"/>
              </a:spcAft>
              <a:buFont typeface="+mj-lt"/>
              <a:buAutoNum type="alphaLcParenR"/>
            </a:pPr>
            <a:r>
              <a:rPr lang="en-AU" sz="4000" b="1">
                <a:latin typeface="Arial" panose="020B0604020202020204" pitchFamily="34" charset="0"/>
                <a:ea typeface="Calibri" panose="020F0502020204030204" pitchFamily="34" charset="0"/>
                <a:cs typeface="Times New Roman" panose="02020603050405020304" pitchFamily="18" charset="0"/>
              </a:rPr>
              <a:t>6 × 40 </a:t>
            </a:r>
            <a:r>
              <a:rPr lang="en-AU" sz="4000">
                <a:latin typeface="Arial" panose="020B0604020202020204" pitchFamily="34" charset="0"/>
                <a:ea typeface="Calibri" panose="020F0502020204030204" pitchFamily="34" charset="0"/>
                <a:cs typeface="Times New Roman" panose="02020603050405020304" pitchFamily="18" charset="0"/>
              </a:rPr>
              <a:t>= becomes </a:t>
            </a:r>
            <a:r>
              <a:rPr lang="en-AU" sz="4000" b="1">
                <a:latin typeface="Arial" panose="020B0604020202020204" pitchFamily="34" charset="0"/>
                <a:ea typeface="Calibri" panose="020F0502020204030204" pitchFamily="34" charset="0"/>
                <a:cs typeface="Times New Roman" panose="02020603050405020304" pitchFamily="18" charset="0"/>
              </a:rPr>
              <a:t>6 ×</a:t>
            </a:r>
            <a:r>
              <a:rPr lang="en-AU" sz="4000">
                <a:latin typeface="Arial" panose="020B0604020202020204" pitchFamily="34" charset="0"/>
                <a:ea typeface="Calibri" panose="020F0502020204030204" pitchFamily="34" charset="0"/>
                <a:cs typeface="Times New Roman" panose="02020603050405020304" pitchFamily="18" charset="0"/>
              </a:rPr>
              <a:t> (__ × __)</a:t>
            </a:r>
          </a:p>
          <a:p>
            <a:pPr marL="742950" indent="-742950">
              <a:lnSpc>
                <a:spcPct val="150000"/>
              </a:lnSpc>
              <a:spcBef>
                <a:spcPts val="1200"/>
              </a:spcBef>
              <a:spcAft>
                <a:spcPts val="600"/>
              </a:spcAft>
              <a:buFont typeface="+mj-lt"/>
              <a:buAutoNum type="alphaLcParenR"/>
            </a:pPr>
            <a:r>
              <a:rPr lang="en-AU" sz="4000" b="1">
                <a:latin typeface="Arial" panose="020B0604020202020204" pitchFamily="34" charset="0"/>
                <a:ea typeface="Calibri" panose="020F0502020204030204" pitchFamily="34" charset="0"/>
                <a:cs typeface="Times New Roman" panose="02020603050405020304" pitchFamily="18" charset="0"/>
              </a:rPr>
              <a:t>3 × 80 </a:t>
            </a:r>
            <a:r>
              <a:rPr lang="en-AU" sz="4000">
                <a:latin typeface="Arial" panose="020B0604020202020204" pitchFamily="34" charset="0"/>
                <a:ea typeface="Calibri" panose="020F0502020204030204" pitchFamily="34" charset="0"/>
                <a:cs typeface="Times New Roman" panose="02020603050405020304" pitchFamily="18" charset="0"/>
              </a:rPr>
              <a:t>= becomes </a:t>
            </a:r>
            <a:r>
              <a:rPr lang="en-AU" sz="4000" b="1">
                <a:latin typeface="Arial" panose="020B0604020202020204" pitchFamily="34" charset="0"/>
                <a:ea typeface="Calibri" panose="020F0502020204030204" pitchFamily="34" charset="0"/>
                <a:cs typeface="Times New Roman" panose="02020603050405020304" pitchFamily="18" charset="0"/>
              </a:rPr>
              <a:t>3 ×</a:t>
            </a:r>
            <a:r>
              <a:rPr lang="en-AU" sz="4000">
                <a:latin typeface="Arial" panose="020B0604020202020204" pitchFamily="34" charset="0"/>
                <a:ea typeface="Calibri" panose="020F0502020204030204" pitchFamily="34" charset="0"/>
                <a:cs typeface="Times New Roman" panose="02020603050405020304" pitchFamily="18" charset="0"/>
              </a:rPr>
              <a:t> (__ × __)</a:t>
            </a:r>
          </a:p>
          <a:p>
            <a:pPr marL="742950" indent="-742950">
              <a:lnSpc>
                <a:spcPct val="150000"/>
              </a:lnSpc>
              <a:spcBef>
                <a:spcPts val="1200"/>
              </a:spcBef>
              <a:spcAft>
                <a:spcPts val="600"/>
              </a:spcAft>
              <a:buFont typeface="+mj-lt"/>
              <a:buAutoNum type="alphaLcParenR"/>
            </a:pPr>
            <a:r>
              <a:rPr lang="en-AU" sz="4000" b="1">
                <a:latin typeface="Arial" panose="020B0604020202020204" pitchFamily="34" charset="0"/>
                <a:ea typeface="Calibri" panose="020F0502020204030204" pitchFamily="34" charset="0"/>
                <a:cs typeface="Times New Roman" panose="02020603050405020304" pitchFamily="18" charset="0"/>
              </a:rPr>
              <a:t>5 × 70 </a:t>
            </a:r>
            <a:r>
              <a:rPr lang="en-AU" sz="4000">
                <a:latin typeface="Arial" panose="020B0604020202020204" pitchFamily="34" charset="0"/>
                <a:ea typeface="Calibri" panose="020F0502020204030204" pitchFamily="34" charset="0"/>
                <a:cs typeface="Times New Roman" panose="02020603050405020304" pitchFamily="18" charset="0"/>
              </a:rPr>
              <a:t>= becomes </a:t>
            </a:r>
            <a:r>
              <a:rPr lang="en-AU" sz="4000" b="1">
                <a:latin typeface="Arial" panose="020B0604020202020204" pitchFamily="34" charset="0"/>
                <a:ea typeface="Calibri" panose="020F0502020204030204" pitchFamily="34" charset="0"/>
                <a:cs typeface="Times New Roman" panose="02020603050405020304" pitchFamily="18" charset="0"/>
              </a:rPr>
              <a:t>5 ×</a:t>
            </a:r>
            <a:r>
              <a:rPr lang="en-AU" sz="4000">
                <a:latin typeface="Arial" panose="020B0604020202020204" pitchFamily="34" charset="0"/>
                <a:ea typeface="Calibri" panose="020F0502020204030204" pitchFamily="34" charset="0"/>
                <a:cs typeface="Times New Roman" panose="02020603050405020304" pitchFamily="18" charset="0"/>
              </a:rPr>
              <a:t> (__ × __)</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4B097CE1-9BD2-DDA0-8BE6-68B9F017B1A3}"/>
              </a:ext>
            </a:extLst>
          </p:cNvPr>
          <p:cNvSpPr txBox="1">
            <a:spLocks/>
          </p:cNvSpPr>
          <p:nvPr/>
        </p:nvSpPr>
        <p:spPr>
          <a:xfrm>
            <a:off x="1569398" y="1440412"/>
            <a:ext cx="905320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a:t>Can </a:t>
            </a:r>
            <a:r>
              <a:rPr lang="en-AU" sz="4400" b="1"/>
              <a:t>rectangles </a:t>
            </a:r>
            <a:r>
              <a:rPr lang="en-AU" sz="4400"/>
              <a:t>with</a:t>
            </a:r>
            <a:r>
              <a:rPr lang="en-AU" sz="4400" b="1"/>
              <a:t> different </a:t>
            </a:r>
            <a:r>
              <a:rPr lang="en-AU" sz="4400"/>
              <a:t>side</a:t>
            </a:r>
            <a:r>
              <a:rPr lang="en-AU" sz="4400" b="1"/>
              <a:t> lengths </a:t>
            </a:r>
            <a:r>
              <a:rPr lang="en-AU" sz="4400"/>
              <a:t>have the </a:t>
            </a:r>
            <a:r>
              <a:rPr lang="en-AU" sz="4400" b="1"/>
              <a:t>same area?</a:t>
            </a:r>
            <a:endParaRPr lang="en-AU" sz="4400"/>
          </a:p>
        </p:txBody>
      </p:sp>
      <p:sp>
        <p:nvSpPr>
          <p:cNvPr id="7" name="Text Placeholder 5">
            <a:extLst>
              <a:ext uri="{FF2B5EF4-FFF2-40B4-BE49-F238E27FC236}">
                <a16:creationId xmlns:a16="http://schemas.microsoft.com/office/drawing/2014/main" id="{513FE9D7-DA8B-0EA8-BC35-CF0A195B8170}"/>
              </a:ext>
            </a:extLst>
          </p:cNvPr>
          <p:cNvSpPr txBox="1">
            <a:spLocks/>
          </p:cNvSpPr>
          <p:nvPr/>
        </p:nvSpPr>
        <p:spPr>
          <a:xfrm>
            <a:off x="1674064" y="4259010"/>
            <a:ext cx="905320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5533BDC0-18C0-D627-B05C-56181938675A}"/>
              </a:ext>
            </a:extLst>
          </p:cNvPr>
          <p:cNvSpPr txBox="1">
            <a:spLocks/>
          </p:cNvSpPr>
          <p:nvPr/>
        </p:nvSpPr>
        <p:spPr>
          <a:xfrm>
            <a:off x="595421" y="1184223"/>
            <a:ext cx="1088857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a:t>Use the </a:t>
            </a:r>
            <a:r>
              <a:rPr lang="en-AU" sz="4000" b="1"/>
              <a:t>associative</a:t>
            </a:r>
            <a:r>
              <a:rPr lang="en-AU" sz="4000"/>
              <a:t> and </a:t>
            </a:r>
            <a:r>
              <a:rPr lang="en-AU" sz="4000" b="1"/>
              <a:t>commutative properties </a:t>
            </a:r>
            <a:r>
              <a:rPr lang="en-AU" sz="4000"/>
              <a:t>to solve:</a:t>
            </a:r>
          </a:p>
          <a:p>
            <a:pPr lvl="0" algn="ctr"/>
            <a:r>
              <a:rPr lang="en-AU" sz="5400" b="1">
                <a:solidFill>
                  <a:schemeClr val="accent2"/>
                </a:solidFill>
              </a:rPr>
              <a:t>12 × 25</a:t>
            </a:r>
          </a:p>
          <a:p>
            <a:pPr lvl="0" algn="ctr"/>
            <a:r>
              <a:rPr lang="en-AU" sz="4000" b="1"/>
              <a:t>Communicate</a:t>
            </a:r>
            <a:r>
              <a:rPr lang="en-AU" sz="4000"/>
              <a:t> how you used these properties to make the </a:t>
            </a:r>
            <a:r>
              <a:rPr lang="en-AU" sz="4000" b="1"/>
              <a:t>calculation easier</a:t>
            </a:r>
            <a:r>
              <a:rPr lang="en-AU" sz="3600"/>
              <a:t>.</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67A30625-AE02-7090-E426-7B2F70330A42}"/>
              </a:ext>
            </a:extLst>
          </p:cNvPr>
          <p:cNvSpPr txBox="1">
            <a:spLocks/>
          </p:cNvSpPr>
          <p:nvPr/>
        </p:nvSpPr>
        <p:spPr>
          <a:xfrm>
            <a:off x="348000" y="2192436"/>
            <a:ext cx="745587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b="1"/>
              <a:t>Finish</a:t>
            </a:r>
            <a:r>
              <a:rPr lang="en-AU" sz="4400"/>
              <a:t> this sentence:</a:t>
            </a:r>
          </a:p>
          <a:p>
            <a:pPr lvl="0" algn="ctr"/>
            <a:r>
              <a:rPr lang="en-AU" sz="4400" b="1">
                <a:solidFill>
                  <a:schemeClr val="accent2"/>
                </a:solidFill>
              </a:rPr>
              <a:t>1000 mL</a:t>
            </a:r>
            <a:r>
              <a:rPr lang="en-AU" sz="4400">
                <a:solidFill>
                  <a:schemeClr val="accent2"/>
                </a:solidFill>
              </a:rPr>
              <a:t> </a:t>
            </a:r>
            <a:r>
              <a:rPr lang="en-AU" sz="4400"/>
              <a:t>is the same as…</a:t>
            </a:r>
          </a:p>
        </p:txBody>
      </p:sp>
      <p:pic>
        <p:nvPicPr>
          <p:cNvPr id="10" name="Picture 9" descr="A measuring jug showing 100 mL intervals up to 1000 ML.">
            <a:extLst>
              <a:ext uri="{FF2B5EF4-FFF2-40B4-BE49-F238E27FC236}">
                <a16:creationId xmlns:a16="http://schemas.microsoft.com/office/drawing/2014/main" id="{415C62D5-5C4F-431F-FAAD-3A282F718EE0}"/>
              </a:ext>
            </a:extLst>
          </p:cNvPr>
          <p:cNvPicPr>
            <a:picLocks noChangeAspect="1"/>
          </p:cNvPicPr>
          <p:nvPr/>
        </p:nvPicPr>
        <p:blipFill>
          <a:blip r:embed="rId4"/>
          <a:stretch>
            <a:fillRect/>
          </a:stretch>
        </p:blipFill>
        <p:spPr>
          <a:xfrm>
            <a:off x="7919498" y="1875160"/>
            <a:ext cx="3924502" cy="3949903"/>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completing equivalent number sentences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An example of how to write the number sentence. Two boxes, subtraction sign, 2 boxes, equals sign, 2 boxes, plus sign, 2 boxes.">
            <a:extLst>
              <a:ext uri="{FF2B5EF4-FFF2-40B4-BE49-F238E27FC236}">
                <a16:creationId xmlns:a16="http://schemas.microsoft.com/office/drawing/2014/main" id="{CABC5146-613D-9117-94F8-9EF6F4E02722}"/>
              </a:ext>
            </a:extLst>
          </p:cNvPr>
          <p:cNvGrpSpPr/>
          <p:nvPr/>
        </p:nvGrpSpPr>
        <p:grpSpPr>
          <a:xfrm>
            <a:off x="684419" y="2209638"/>
            <a:ext cx="10439581" cy="932538"/>
            <a:chOff x="126210" y="1863025"/>
            <a:chExt cx="10439581" cy="932538"/>
          </a:xfrm>
        </p:grpSpPr>
        <p:sp>
          <p:nvSpPr>
            <p:cNvPr id="5" name="Freeform 2">
              <a:extLst>
                <a:ext uri="{FF2B5EF4-FFF2-40B4-BE49-F238E27FC236}">
                  <a16:creationId xmlns:a16="http://schemas.microsoft.com/office/drawing/2014/main" id="{7703EC2B-66FE-E14A-FF56-A965764019A9}"/>
                </a:ext>
              </a:extLst>
            </p:cNvPr>
            <p:cNvSpPr/>
            <p:nvPr/>
          </p:nvSpPr>
          <p:spPr>
            <a:xfrm>
              <a:off x="4993634" y="2139876"/>
              <a:ext cx="704731" cy="410506"/>
            </a:xfrm>
            <a:custGeom>
              <a:avLst/>
              <a:gdLst/>
              <a:ahLst/>
              <a:cxnLst/>
              <a:rect l="l" t="t" r="r" b="b"/>
              <a:pathLst>
                <a:path w="704731" h="410506">
                  <a:moveTo>
                    <a:pt x="0" y="0"/>
                  </a:moveTo>
                  <a:lnTo>
                    <a:pt x="704732" y="0"/>
                  </a:lnTo>
                  <a:lnTo>
                    <a:pt x="704732" y="410506"/>
                  </a:lnTo>
                  <a:lnTo>
                    <a:pt x="0" y="4105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grpSp>
          <p:nvGrpSpPr>
            <p:cNvPr id="7" name="Group 3">
              <a:extLst>
                <a:ext uri="{FF2B5EF4-FFF2-40B4-BE49-F238E27FC236}">
                  <a16:creationId xmlns:a16="http://schemas.microsoft.com/office/drawing/2014/main" id="{D5854D38-F018-22CC-F603-ED28186B4F57}"/>
                </a:ext>
              </a:extLst>
            </p:cNvPr>
            <p:cNvGrpSpPr/>
            <p:nvPr/>
          </p:nvGrpSpPr>
          <p:grpSpPr>
            <a:xfrm>
              <a:off x="126210" y="1863025"/>
              <a:ext cx="1928234" cy="932538"/>
              <a:chOff x="0" y="-42228"/>
              <a:chExt cx="2570978" cy="1243384"/>
            </a:xfrm>
          </p:grpSpPr>
          <p:grpSp>
            <p:nvGrpSpPr>
              <p:cNvPr id="31" name="Group 4">
                <a:extLst>
                  <a:ext uri="{FF2B5EF4-FFF2-40B4-BE49-F238E27FC236}">
                    <a16:creationId xmlns:a16="http://schemas.microsoft.com/office/drawing/2014/main" id="{18341EBF-A8AC-DBAF-15D1-FF234E391E18}"/>
                  </a:ext>
                </a:extLst>
              </p:cNvPr>
              <p:cNvGrpSpPr/>
              <p:nvPr/>
            </p:nvGrpSpPr>
            <p:grpSpPr>
              <a:xfrm>
                <a:off x="0" y="-42228"/>
                <a:ext cx="1201156" cy="1243384"/>
                <a:chOff x="0" y="-28575"/>
                <a:chExt cx="812800" cy="841375"/>
              </a:xfrm>
            </p:grpSpPr>
            <p:sp>
              <p:nvSpPr>
                <p:cNvPr id="35" name="Freeform 5">
                  <a:extLst>
                    <a:ext uri="{FF2B5EF4-FFF2-40B4-BE49-F238E27FC236}">
                      <a16:creationId xmlns:a16="http://schemas.microsoft.com/office/drawing/2014/main" id="{A1DAF2E4-CF1A-889E-7DA2-9910B79CFBEB}"/>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36" name="TextBox 6">
                  <a:extLst>
                    <a:ext uri="{FF2B5EF4-FFF2-40B4-BE49-F238E27FC236}">
                      <a16:creationId xmlns:a16="http://schemas.microsoft.com/office/drawing/2014/main" id="{ECB41C8F-5863-9036-1EF8-6C2524B4E379}"/>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nvGrpSpPr>
              <p:cNvPr id="32" name="Group 7">
                <a:extLst>
                  <a:ext uri="{FF2B5EF4-FFF2-40B4-BE49-F238E27FC236}">
                    <a16:creationId xmlns:a16="http://schemas.microsoft.com/office/drawing/2014/main" id="{8E51D4E0-F70E-F28B-565D-94F143AB2FBB}"/>
                  </a:ext>
                </a:extLst>
              </p:cNvPr>
              <p:cNvGrpSpPr/>
              <p:nvPr/>
            </p:nvGrpSpPr>
            <p:grpSpPr>
              <a:xfrm>
                <a:off x="1369822" y="-42228"/>
                <a:ext cx="1201156" cy="1243384"/>
                <a:chOff x="0" y="-28575"/>
                <a:chExt cx="812800" cy="841375"/>
              </a:xfrm>
            </p:grpSpPr>
            <p:sp>
              <p:nvSpPr>
                <p:cNvPr id="33" name="Freeform 8">
                  <a:extLst>
                    <a:ext uri="{FF2B5EF4-FFF2-40B4-BE49-F238E27FC236}">
                      <a16:creationId xmlns:a16="http://schemas.microsoft.com/office/drawing/2014/main" id="{41568534-95AB-AC03-ACB7-E361F1D44861}"/>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34" name="TextBox 9">
                  <a:extLst>
                    <a:ext uri="{FF2B5EF4-FFF2-40B4-BE49-F238E27FC236}">
                      <a16:creationId xmlns:a16="http://schemas.microsoft.com/office/drawing/2014/main" id="{A7E14FD8-43D8-6EB2-41C3-139A87351984}"/>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grpSp>
          <p:nvGrpSpPr>
            <p:cNvPr id="8" name="Group 10">
              <a:extLst>
                <a:ext uri="{FF2B5EF4-FFF2-40B4-BE49-F238E27FC236}">
                  <a16:creationId xmlns:a16="http://schemas.microsoft.com/office/drawing/2014/main" id="{9E618FA6-659B-7865-AC1D-716C67B785F6}"/>
                </a:ext>
              </a:extLst>
            </p:cNvPr>
            <p:cNvGrpSpPr/>
            <p:nvPr/>
          </p:nvGrpSpPr>
          <p:grpSpPr>
            <a:xfrm>
              <a:off x="2970151" y="1863025"/>
              <a:ext cx="1928234" cy="932538"/>
              <a:chOff x="0" y="-42228"/>
              <a:chExt cx="2570978" cy="1243384"/>
            </a:xfrm>
          </p:grpSpPr>
          <p:grpSp>
            <p:nvGrpSpPr>
              <p:cNvPr id="25" name="Group 11">
                <a:extLst>
                  <a:ext uri="{FF2B5EF4-FFF2-40B4-BE49-F238E27FC236}">
                    <a16:creationId xmlns:a16="http://schemas.microsoft.com/office/drawing/2014/main" id="{B636D625-DA4E-03CA-88E4-218E37651111}"/>
                  </a:ext>
                </a:extLst>
              </p:cNvPr>
              <p:cNvGrpSpPr/>
              <p:nvPr/>
            </p:nvGrpSpPr>
            <p:grpSpPr>
              <a:xfrm>
                <a:off x="0" y="-42228"/>
                <a:ext cx="1201156" cy="1243384"/>
                <a:chOff x="0" y="-28575"/>
                <a:chExt cx="812800" cy="841375"/>
              </a:xfrm>
            </p:grpSpPr>
            <p:sp>
              <p:nvSpPr>
                <p:cNvPr id="29" name="Freeform 12">
                  <a:extLst>
                    <a:ext uri="{FF2B5EF4-FFF2-40B4-BE49-F238E27FC236}">
                      <a16:creationId xmlns:a16="http://schemas.microsoft.com/office/drawing/2014/main" id="{D9C4EBE7-B7CF-6619-92C1-BEC85D73BC13}"/>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30" name="TextBox 13">
                  <a:extLst>
                    <a:ext uri="{FF2B5EF4-FFF2-40B4-BE49-F238E27FC236}">
                      <a16:creationId xmlns:a16="http://schemas.microsoft.com/office/drawing/2014/main" id="{0A4B2454-2493-C821-3B82-F885DA7237C4}"/>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nvGrpSpPr>
              <p:cNvPr id="26" name="Group 14">
                <a:extLst>
                  <a:ext uri="{FF2B5EF4-FFF2-40B4-BE49-F238E27FC236}">
                    <a16:creationId xmlns:a16="http://schemas.microsoft.com/office/drawing/2014/main" id="{C9C35BF1-C357-FC01-FB40-CA296075BB77}"/>
                  </a:ext>
                </a:extLst>
              </p:cNvPr>
              <p:cNvGrpSpPr/>
              <p:nvPr/>
            </p:nvGrpSpPr>
            <p:grpSpPr>
              <a:xfrm>
                <a:off x="1369822" y="-42228"/>
                <a:ext cx="1201156" cy="1243384"/>
                <a:chOff x="0" y="-28575"/>
                <a:chExt cx="812800" cy="841375"/>
              </a:xfrm>
            </p:grpSpPr>
            <p:sp>
              <p:nvSpPr>
                <p:cNvPr id="27" name="Freeform 15">
                  <a:extLst>
                    <a:ext uri="{FF2B5EF4-FFF2-40B4-BE49-F238E27FC236}">
                      <a16:creationId xmlns:a16="http://schemas.microsoft.com/office/drawing/2014/main" id="{2213E32F-1A8A-3E05-3CD0-0E0554C51AB8}"/>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28" name="TextBox 16">
                  <a:extLst>
                    <a:ext uri="{FF2B5EF4-FFF2-40B4-BE49-F238E27FC236}">
                      <a16:creationId xmlns:a16="http://schemas.microsoft.com/office/drawing/2014/main" id="{3D2E3FC1-0DB3-2D69-B442-D65BEC337456}"/>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sp>
          <p:nvSpPr>
            <p:cNvPr id="9" name="Freeform 17">
              <a:extLst>
                <a:ext uri="{FF2B5EF4-FFF2-40B4-BE49-F238E27FC236}">
                  <a16:creationId xmlns:a16="http://schemas.microsoft.com/office/drawing/2014/main" id="{F88AB559-734B-566E-2568-060F66B94154}"/>
                </a:ext>
              </a:extLst>
            </p:cNvPr>
            <p:cNvSpPr/>
            <p:nvPr/>
          </p:nvSpPr>
          <p:spPr>
            <a:xfrm>
              <a:off x="2153207" y="2280044"/>
              <a:ext cx="718181" cy="130170"/>
            </a:xfrm>
            <a:custGeom>
              <a:avLst/>
              <a:gdLst/>
              <a:ahLst/>
              <a:cxnLst/>
              <a:rect l="l" t="t" r="r" b="b"/>
              <a:pathLst>
                <a:path w="718181" h="130170">
                  <a:moveTo>
                    <a:pt x="0" y="0"/>
                  </a:moveTo>
                  <a:lnTo>
                    <a:pt x="718181" y="0"/>
                  </a:lnTo>
                  <a:lnTo>
                    <a:pt x="718181" y="130171"/>
                  </a:lnTo>
                  <a:lnTo>
                    <a:pt x="0" y="1301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Freeform 18">
              <a:extLst>
                <a:ext uri="{FF2B5EF4-FFF2-40B4-BE49-F238E27FC236}">
                  <a16:creationId xmlns:a16="http://schemas.microsoft.com/office/drawing/2014/main" id="{9F9B5311-ACC7-DC91-6182-BF2261CE4322}"/>
                </a:ext>
              </a:extLst>
            </p:cNvPr>
            <p:cNvSpPr/>
            <p:nvPr/>
          </p:nvSpPr>
          <p:spPr>
            <a:xfrm>
              <a:off x="7883840" y="2049266"/>
              <a:ext cx="591726" cy="591726"/>
            </a:xfrm>
            <a:custGeom>
              <a:avLst/>
              <a:gdLst/>
              <a:ahLst/>
              <a:cxnLst/>
              <a:rect l="l" t="t" r="r" b="b"/>
              <a:pathLst>
                <a:path w="591726" h="591726">
                  <a:moveTo>
                    <a:pt x="0" y="0"/>
                  </a:moveTo>
                  <a:lnTo>
                    <a:pt x="591726" y="0"/>
                  </a:lnTo>
                  <a:lnTo>
                    <a:pt x="591726" y="591727"/>
                  </a:lnTo>
                  <a:lnTo>
                    <a:pt x="0" y="59172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grpSp>
          <p:nvGrpSpPr>
            <p:cNvPr id="11" name="Group 19">
              <a:extLst>
                <a:ext uri="{FF2B5EF4-FFF2-40B4-BE49-F238E27FC236}">
                  <a16:creationId xmlns:a16="http://schemas.microsoft.com/office/drawing/2014/main" id="{16ABF326-BCA7-F425-7AA9-0A11A26E9DC0}"/>
                </a:ext>
              </a:extLst>
            </p:cNvPr>
            <p:cNvGrpSpPr/>
            <p:nvPr/>
          </p:nvGrpSpPr>
          <p:grpSpPr>
            <a:xfrm>
              <a:off x="5793616" y="1863025"/>
              <a:ext cx="1928234" cy="932538"/>
              <a:chOff x="0" y="-42228"/>
              <a:chExt cx="2570978" cy="1243384"/>
            </a:xfrm>
          </p:grpSpPr>
          <p:grpSp>
            <p:nvGrpSpPr>
              <p:cNvPr id="19" name="Group 20">
                <a:extLst>
                  <a:ext uri="{FF2B5EF4-FFF2-40B4-BE49-F238E27FC236}">
                    <a16:creationId xmlns:a16="http://schemas.microsoft.com/office/drawing/2014/main" id="{5F6557BF-7A70-C8A6-4E2C-5EBE0C08AA25}"/>
                  </a:ext>
                </a:extLst>
              </p:cNvPr>
              <p:cNvGrpSpPr/>
              <p:nvPr/>
            </p:nvGrpSpPr>
            <p:grpSpPr>
              <a:xfrm>
                <a:off x="0" y="-42228"/>
                <a:ext cx="1201156" cy="1243384"/>
                <a:chOff x="0" y="-28575"/>
                <a:chExt cx="812800" cy="841375"/>
              </a:xfrm>
            </p:grpSpPr>
            <p:sp>
              <p:nvSpPr>
                <p:cNvPr id="23" name="Freeform 21">
                  <a:extLst>
                    <a:ext uri="{FF2B5EF4-FFF2-40B4-BE49-F238E27FC236}">
                      <a16:creationId xmlns:a16="http://schemas.microsoft.com/office/drawing/2014/main" id="{50A16645-0D55-EC70-12C8-772F5C9265F8}"/>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24" name="TextBox 22">
                  <a:extLst>
                    <a:ext uri="{FF2B5EF4-FFF2-40B4-BE49-F238E27FC236}">
                      <a16:creationId xmlns:a16="http://schemas.microsoft.com/office/drawing/2014/main" id="{226473A7-4C96-B699-88B7-EEE0C81757FA}"/>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nvGrpSpPr>
              <p:cNvPr id="20" name="Group 23">
                <a:extLst>
                  <a:ext uri="{FF2B5EF4-FFF2-40B4-BE49-F238E27FC236}">
                    <a16:creationId xmlns:a16="http://schemas.microsoft.com/office/drawing/2014/main" id="{9579737F-0BC4-BFA6-DFB5-3F9DDCC92009}"/>
                  </a:ext>
                </a:extLst>
              </p:cNvPr>
              <p:cNvGrpSpPr/>
              <p:nvPr/>
            </p:nvGrpSpPr>
            <p:grpSpPr>
              <a:xfrm>
                <a:off x="1369822" y="-42228"/>
                <a:ext cx="1201156" cy="1243384"/>
                <a:chOff x="0" y="-28575"/>
                <a:chExt cx="812800" cy="841375"/>
              </a:xfrm>
            </p:grpSpPr>
            <p:sp>
              <p:nvSpPr>
                <p:cNvPr id="21" name="Freeform 24">
                  <a:extLst>
                    <a:ext uri="{FF2B5EF4-FFF2-40B4-BE49-F238E27FC236}">
                      <a16:creationId xmlns:a16="http://schemas.microsoft.com/office/drawing/2014/main" id="{84C43CD3-93B9-5151-F1C1-4A8C0C7E420F}"/>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22" name="TextBox 25">
                  <a:extLst>
                    <a:ext uri="{FF2B5EF4-FFF2-40B4-BE49-F238E27FC236}">
                      <a16:creationId xmlns:a16="http://schemas.microsoft.com/office/drawing/2014/main" id="{C00A63DC-C8AC-DF3E-C4FC-4581D175AA9C}"/>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grpSp>
          <p:nvGrpSpPr>
            <p:cNvPr id="12" name="Group 26">
              <a:extLst>
                <a:ext uri="{FF2B5EF4-FFF2-40B4-BE49-F238E27FC236}">
                  <a16:creationId xmlns:a16="http://schemas.microsoft.com/office/drawing/2014/main" id="{60EB2FA3-CB1E-5E25-21C0-8190D7FDE280}"/>
                </a:ext>
              </a:extLst>
            </p:cNvPr>
            <p:cNvGrpSpPr/>
            <p:nvPr/>
          </p:nvGrpSpPr>
          <p:grpSpPr>
            <a:xfrm>
              <a:off x="8637557" y="1863025"/>
              <a:ext cx="1928234" cy="932538"/>
              <a:chOff x="0" y="-42228"/>
              <a:chExt cx="2570978" cy="1243384"/>
            </a:xfrm>
          </p:grpSpPr>
          <p:grpSp>
            <p:nvGrpSpPr>
              <p:cNvPr id="13" name="Group 27">
                <a:extLst>
                  <a:ext uri="{FF2B5EF4-FFF2-40B4-BE49-F238E27FC236}">
                    <a16:creationId xmlns:a16="http://schemas.microsoft.com/office/drawing/2014/main" id="{E326019C-84D6-10CC-B1D3-D2FFB42447E9}"/>
                  </a:ext>
                </a:extLst>
              </p:cNvPr>
              <p:cNvGrpSpPr/>
              <p:nvPr/>
            </p:nvGrpSpPr>
            <p:grpSpPr>
              <a:xfrm>
                <a:off x="0" y="-42228"/>
                <a:ext cx="1201156" cy="1243384"/>
                <a:chOff x="0" y="-28575"/>
                <a:chExt cx="812800" cy="841375"/>
              </a:xfrm>
            </p:grpSpPr>
            <p:sp>
              <p:nvSpPr>
                <p:cNvPr id="17" name="Freeform 28">
                  <a:extLst>
                    <a:ext uri="{FF2B5EF4-FFF2-40B4-BE49-F238E27FC236}">
                      <a16:creationId xmlns:a16="http://schemas.microsoft.com/office/drawing/2014/main" id="{53BA9227-4456-4376-F770-8E7083DD45E5}"/>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18" name="TextBox 29">
                  <a:extLst>
                    <a:ext uri="{FF2B5EF4-FFF2-40B4-BE49-F238E27FC236}">
                      <a16:creationId xmlns:a16="http://schemas.microsoft.com/office/drawing/2014/main" id="{641034BB-268A-5194-1A26-43095701D44F}"/>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nvGrpSpPr>
              <p:cNvPr id="14" name="Group 30">
                <a:extLst>
                  <a:ext uri="{FF2B5EF4-FFF2-40B4-BE49-F238E27FC236}">
                    <a16:creationId xmlns:a16="http://schemas.microsoft.com/office/drawing/2014/main" id="{15D46D38-E191-98BA-677E-C17B5504693D}"/>
                  </a:ext>
                </a:extLst>
              </p:cNvPr>
              <p:cNvGrpSpPr/>
              <p:nvPr/>
            </p:nvGrpSpPr>
            <p:grpSpPr>
              <a:xfrm>
                <a:off x="1369822" y="-42228"/>
                <a:ext cx="1201156" cy="1243384"/>
                <a:chOff x="0" y="-28575"/>
                <a:chExt cx="812800" cy="841375"/>
              </a:xfrm>
            </p:grpSpPr>
            <p:sp>
              <p:nvSpPr>
                <p:cNvPr id="15" name="Freeform 31">
                  <a:extLst>
                    <a:ext uri="{FF2B5EF4-FFF2-40B4-BE49-F238E27FC236}">
                      <a16:creationId xmlns:a16="http://schemas.microsoft.com/office/drawing/2014/main" id="{A7B14E9A-BFE6-7C08-FC16-F4D944759D9F}"/>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19050" cap="sq">
                  <a:solidFill>
                    <a:srgbClr val="000000"/>
                  </a:solidFill>
                  <a:prstDash val="dash"/>
                  <a:miter/>
                </a:ln>
              </p:spPr>
              <p:txBody>
                <a:bodyPr/>
                <a:lstStyle/>
                <a:p>
                  <a:endParaRPr lang="en-AU"/>
                </a:p>
              </p:txBody>
            </p:sp>
            <p:sp>
              <p:nvSpPr>
                <p:cNvPr id="16" name="TextBox 32">
                  <a:extLst>
                    <a:ext uri="{FF2B5EF4-FFF2-40B4-BE49-F238E27FC236}">
                      <a16:creationId xmlns:a16="http://schemas.microsoft.com/office/drawing/2014/main" id="{023EB568-992E-27BD-EAF9-18DCBB17FA4B}"/>
                    </a:ext>
                  </a:extLst>
                </p:cNvPr>
                <p:cNvSpPr txBox="1"/>
                <p:nvPr/>
              </p:nvSpPr>
              <p:spPr>
                <a:xfrm>
                  <a:off x="0" y="-28575"/>
                  <a:ext cx="812800" cy="841375"/>
                </a:xfrm>
                <a:prstGeom prst="rect">
                  <a:avLst/>
                </a:prstGeom>
              </p:spPr>
              <p:txBody>
                <a:bodyPr lIns="49183" tIns="49183" rIns="49183" bIns="49183" rtlCol="0" anchor="ctr"/>
                <a:lstStyle/>
                <a:p>
                  <a:pPr algn="ctr">
                    <a:lnSpc>
                      <a:spcPts val="2379"/>
                    </a:lnSpc>
                  </a:pPr>
                  <a:endParaRPr/>
                </a:p>
              </p:txBody>
            </p:sp>
          </p:grpSp>
        </p:grpSp>
      </p:gr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1033206"/>
            <a:ext cx="11360980" cy="754243"/>
          </a:xfrm>
        </p:spPr>
        <p:txBody>
          <a:bodyPr/>
          <a:lstStyle/>
          <a:p>
            <a:r>
              <a:rPr lang="en-AU" sz="3600"/>
              <a:t>Which </a:t>
            </a:r>
            <a:r>
              <a:rPr lang="en-AU" sz="3600" b="1"/>
              <a:t>word problem </a:t>
            </a:r>
            <a:r>
              <a:rPr lang="en-AU" sz="3600"/>
              <a:t>matches this </a:t>
            </a:r>
            <a:r>
              <a:rPr lang="en-AU" sz="3600" b="1"/>
              <a:t>number sentence</a:t>
            </a:r>
            <a:r>
              <a:rPr lang="en-AU" sz="3600"/>
              <a:t>?</a:t>
            </a:r>
            <a:endParaRPr lang="en-US" sz="3600"/>
          </a:p>
        </p:txBody>
      </p:sp>
      <p:sp>
        <p:nvSpPr>
          <p:cNvPr id="5" name="Text Placeholder">
            <a:extLst>
              <a:ext uri="{FF2B5EF4-FFF2-40B4-BE49-F238E27FC236}">
                <a16:creationId xmlns:a16="http://schemas.microsoft.com/office/drawing/2014/main" id="{23D84194-5CD4-72AC-93A1-32960A8B8D09}"/>
              </a:ext>
            </a:extLst>
          </p:cNvPr>
          <p:cNvSpPr txBox="1">
            <a:spLocks/>
          </p:cNvSpPr>
          <p:nvPr/>
        </p:nvSpPr>
        <p:spPr>
          <a:xfrm>
            <a:off x="218304" y="1895481"/>
            <a:ext cx="11360980"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solidFill>
                  <a:schemeClr val="accent2"/>
                </a:solidFill>
              </a:rPr>
              <a:t>__ + 27 = 34</a:t>
            </a:r>
            <a:endParaRPr lang="en-US" sz="4400" b="1">
              <a:solidFill>
                <a:schemeClr val="accent2"/>
              </a:solidFill>
            </a:endParaRPr>
          </a:p>
        </p:txBody>
      </p:sp>
      <p:sp>
        <p:nvSpPr>
          <p:cNvPr id="9" name="B">
            <a:extLst>
              <a:ext uri="{FF2B5EF4-FFF2-40B4-BE49-F238E27FC236}">
                <a16:creationId xmlns:a16="http://schemas.microsoft.com/office/drawing/2014/main" id="{C9B406B5-1B1B-BC84-2596-01F05852F38E}"/>
              </a:ext>
            </a:extLst>
          </p:cNvPr>
          <p:cNvSpPr txBox="1"/>
          <p:nvPr/>
        </p:nvSpPr>
        <p:spPr>
          <a:xfrm>
            <a:off x="218306" y="28221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058779" y="2974931"/>
            <a:ext cx="10914915" cy="641396"/>
          </a:xfrm>
        </p:spPr>
        <p:txBody>
          <a:bodyPr anchor="ctr"/>
          <a:lstStyle/>
          <a:p>
            <a:pPr>
              <a:lnSpc>
                <a:spcPct val="100000"/>
              </a:lnSpc>
            </a:pPr>
            <a:r>
              <a:rPr lang="en-AU" sz="2800"/>
              <a:t>Noah had </a:t>
            </a:r>
            <a:r>
              <a:rPr lang="en-AU" sz="2800" b="1"/>
              <a:t>34 books</a:t>
            </a:r>
            <a:r>
              <a:rPr lang="en-AU" sz="2800"/>
              <a:t>. He </a:t>
            </a:r>
            <a:r>
              <a:rPr lang="en-AU" sz="2800" b="1"/>
              <a:t>gave 27 away</a:t>
            </a:r>
            <a:r>
              <a:rPr lang="en-AU" sz="2800"/>
              <a:t>. How many books does he have left?</a:t>
            </a:r>
            <a:endParaRPr lang="en-US" sz="2800"/>
          </a:p>
        </p:txBody>
      </p:sp>
      <p:sp>
        <p:nvSpPr>
          <p:cNvPr id="10" name="B">
            <a:extLst>
              <a:ext uri="{FF2B5EF4-FFF2-40B4-BE49-F238E27FC236}">
                <a16:creationId xmlns:a16="http://schemas.microsoft.com/office/drawing/2014/main" id="{E50622FB-E2C3-695B-EB8A-A6DCC20CB21A}"/>
              </a:ext>
            </a:extLst>
          </p:cNvPr>
          <p:cNvSpPr txBox="1"/>
          <p:nvPr/>
        </p:nvSpPr>
        <p:spPr>
          <a:xfrm>
            <a:off x="218304" y="39242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058779" y="4078388"/>
            <a:ext cx="10785220" cy="641396"/>
          </a:xfrm>
        </p:spPr>
        <p:txBody>
          <a:bodyPr anchor="ctr"/>
          <a:lstStyle/>
          <a:p>
            <a:pPr>
              <a:lnSpc>
                <a:spcPct val="100000"/>
              </a:lnSpc>
            </a:pPr>
            <a:r>
              <a:rPr lang="en-AU" sz="2800"/>
              <a:t>Noah had </a:t>
            </a:r>
            <a:r>
              <a:rPr lang="en-AU" sz="2800" b="1"/>
              <a:t>34 books</a:t>
            </a:r>
            <a:r>
              <a:rPr lang="en-AU" sz="2800"/>
              <a:t>. He </a:t>
            </a:r>
            <a:r>
              <a:rPr lang="en-AU" sz="2800" b="1"/>
              <a:t>got 27 more books</a:t>
            </a:r>
            <a:r>
              <a:rPr lang="en-AU" sz="2800"/>
              <a:t>. How many books does he have now?</a:t>
            </a:r>
            <a:endParaRPr lang="en-US" sz="2800"/>
          </a:p>
        </p:txBody>
      </p:sp>
      <p:sp>
        <p:nvSpPr>
          <p:cNvPr id="12" name="C">
            <a:extLst>
              <a:ext uri="{FF2B5EF4-FFF2-40B4-BE49-F238E27FC236}">
                <a16:creationId xmlns:a16="http://schemas.microsoft.com/office/drawing/2014/main" id="{0C258EAC-2959-18FA-F510-CFBA4E15CEE5}"/>
              </a:ext>
            </a:extLst>
          </p:cNvPr>
          <p:cNvSpPr txBox="1"/>
          <p:nvPr/>
        </p:nvSpPr>
        <p:spPr>
          <a:xfrm>
            <a:off x="201319" y="50264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058778" y="5181845"/>
            <a:ext cx="10785220" cy="641396"/>
          </a:xfrm>
        </p:spPr>
        <p:txBody>
          <a:bodyPr anchor="ctr"/>
          <a:lstStyle/>
          <a:p>
            <a:pPr>
              <a:lnSpc>
                <a:spcPct val="100000"/>
              </a:lnSpc>
            </a:pPr>
            <a:r>
              <a:rPr lang="en-AU" sz="2800"/>
              <a:t>Noah had </a:t>
            </a:r>
            <a:r>
              <a:rPr lang="en-AU" sz="2800" b="1"/>
              <a:t>some books</a:t>
            </a:r>
            <a:r>
              <a:rPr lang="en-AU" sz="2800"/>
              <a:t>. He </a:t>
            </a:r>
            <a:r>
              <a:rPr lang="en-AU" sz="2800" b="1"/>
              <a:t>got 27 more </a:t>
            </a:r>
            <a:r>
              <a:rPr lang="en-AU" sz="2800"/>
              <a:t>and </a:t>
            </a:r>
            <a:r>
              <a:rPr lang="en-AU" sz="2800" b="1"/>
              <a:t>now has 34</a:t>
            </a:r>
            <a:r>
              <a:rPr lang="en-AU" sz="2800"/>
              <a:t>. How many did he start with?</a:t>
            </a:r>
            <a:endParaRPr lang="en-US" sz="2800"/>
          </a:p>
        </p:txBody>
      </p:sp>
      <p:sp>
        <p:nvSpPr>
          <p:cNvPr id="11" name="D">
            <a:extLst>
              <a:ext uri="{FF2B5EF4-FFF2-40B4-BE49-F238E27FC236}">
                <a16:creationId xmlns:a16="http://schemas.microsoft.com/office/drawing/2014/main" id="{14776889-F079-73F7-28AB-FA54A997A57B}"/>
              </a:ext>
            </a:extLst>
          </p:cNvPr>
          <p:cNvSpPr txBox="1"/>
          <p:nvPr/>
        </p:nvSpPr>
        <p:spPr>
          <a:xfrm>
            <a:off x="218305" y="6128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058778" y="6128668"/>
            <a:ext cx="10052414" cy="641396"/>
          </a:xfrm>
        </p:spPr>
        <p:txBody>
          <a:bodyPr anchor="ctr"/>
          <a:lstStyle/>
          <a:p>
            <a:r>
              <a:rPr lang="en-AU" sz="2800"/>
              <a:t>Noah has </a:t>
            </a:r>
            <a:r>
              <a:rPr lang="en-AU" sz="2800" b="1"/>
              <a:t>27 books </a:t>
            </a:r>
            <a:r>
              <a:rPr lang="en-AU" sz="2800"/>
              <a:t>and his friend has </a:t>
            </a:r>
            <a:r>
              <a:rPr lang="en-AU" sz="2800" b="1"/>
              <a:t>34</a:t>
            </a:r>
            <a:r>
              <a:rPr lang="en-AU" sz="2800"/>
              <a:t>. Who has more?</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D99A5FBD-7813-DC2A-E0A1-E205B8E6F475}"/>
              </a:ext>
            </a:extLst>
          </p:cNvPr>
          <p:cNvSpPr txBox="1">
            <a:spLocks/>
          </p:cNvSpPr>
          <p:nvPr/>
        </p:nvSpPr>
        <p:spPr>
          <a:xfrm>
            <a:off x="1401121" y="905601"/>
            <a:ext cx="905320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b="1"/>
              <a:t>Complete</a:t>
            </a:r>
            <a:r>
              <a:rPr lang="en-AU" sz="4400"/>
              <a:t> the number sentences:</a:t>
            </a:r>
          </a:p>
          <a:p>
            <a:pPr marL="742950" lvl="0" indent="-742950">
              <a:buFont typeface="+mj-lt"/>
              <a:buAutoNum type="alphaLcParenR"/>
            </a:pPr>
            <a:r>
              <a:rPr lang="en-AU" sz="4400"/>
              <a:t>24 ÷ ___ = 4</a:t>
            </a:r>
          </a:p>
          <a:p>
            <a:pPr marL="742950" lvl="0" indent="-742950">
              <a:buFont typeface="+mj-lt"/>
              <a:buAutoNum type="alphaLcParenR"/>
            </a:pPr>
            <a:r>
              <a:rPr lang="en-AU" sz="4400"/>
              <a:t>___ × 7 = 49</a:t>
            </a:r>
          </a:p>
          <a:p>
            <a:pPr marL="742950" lvl="0" indent="-742950">
              <a:buFont typeface="+mj-lt"/>
              <a:buAutoNum type="alphaLcParenR"/>
            </a:pPr>
            <a:r>
              <a:rPr lang="en-AU" sz="4400"/>
              <a:t>___ ÷ 5 = 5</a:t>
            </a:r>
          </a:p>
          <a:p>
            <a:pPr marL="742950" lvl="0" indent="-742950">
              <a:buFont typeface="+mj-lt"/>
              <a:buAutoNum type="alphaLcParenR"/>
            </a:pPr>
            <a:r>
              <a:rPr lang="en-AU" sz="4400"/>
              <a:t>5 × ____ = 35</a:t>
            </a:r>
            <a:endParaRPr lang="en-AU" sz="360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leaf with a grid overlayed. A rectangle has been drawn around the outside of the leaf (9cm x 10cm). Another rectangular box is drawn where the square centimetres are completely covered.">
            <a:extLst>
              <a:ext uri="{FF2B5EF4-FFF2-40B4-BE49-F238E27FC236}">
                <a16:creationId xmlns:a16="http://schemas.microsoft.com/office/drawing/2014/main" id="{F566B58A-B286-6F60-5AC0-EC904DBF2340}"/>
              </a:ext>
            </a:extLst>
          </p:cNvPr>
          <p:cNvPicPr>
            <a:picLocks noChangeAspect="1"/>
          </p:cNvPicPr>
          <p:nvPr/>
        </p:nvPicPr>
        <p:blipFill>
          <a:blip r:embed="rId4"/>
          <a:stretch>
            <a:fillRect/>
          </a:stretch>
        </p:blipFill>
        <p:spPr>
          <a:xfrm>
            <a:off x="7298871" y="2030604"/>
            <a:ext cx="4717929" cy="4163421"/>
          </a:xfrm>
          <a:prstGeom prst="rect">
            <a:avLst/>
          </a:prstGeom>
          <a:ln>
            <a:solidFill>
              <a:schemeClr val="accent5">
                <a:lumMod val="20000"/>
                <a:lumOff val="80000"/>
              </a:schemeClr>
            </a:solid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4" name="Text Placeholder 5">
            <a:extLst>
              <a:ext uri="{FF2B5EF4-FFF2-40B4-BE49-F238E27FC236}">
                <a16:creationId xmlns:a16="http://schemas.microsoft.com/office/drawing/2014/main" id="{7B818793-76F2-D91F-CA01-3582895873D5}"/>
              </a:ext>
            </a:extLst>
          </p:cNvPr>
          <p:cNvSpPr txBox="1">
            <a:spLocks/>
          </p:cNvSpPr>
          <p:nvPr/>
        </p:nvSpPr>
        <p:spPr>
          <a:xfrm>
            <a:off x="294686" y="2830153"/>
            <a:ext cx="700418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3600" dirty="0"/>
              <a:t>a) </a:t>
            </a:r>
            <a:r>
              <a:rPr lang="en-AU" sz="3600" b="1" dirty="0"/>
              <a:t>more </a:t>
            </a:r>
            <a:r>
              <a:rPr lang="en-AU" sz="3600" dirty="0"/>
              <a:t>than _________</a:t>
            </a:r>
          </a:p>
          <a:p>
            <a:pPr lvl="0"/>
            <a:r>
              <a:rPr lang="en-AU" sz="3600" dirty="0"/>
              <a:t>b) </a:t>
            </a:r>
            <a:r>
              <a:rPr lang="en-AU" sz="3600" b="1" dirty="0"/>
              <a:t>less </a:t>
            </a:r>
            <a:r>
              <a:rPr lang="en-AU" sz="3600" dirty="0"/>
              <a:t>than __________</a:t>
            </a:r>
          </a:p>
          <a:p>
            <a:pPr lvl="0"/>
            <a:r>
              <a:rPr lang="en-AU" sz="3600" dirty="0"/>
              <a:t>c) I</a:t>
            </a:r>
            <a:r>
              <a:rPr lang="en-AU" sz="3600" b="1" dirty="0"/>
              <a:t> estimate </a:t>
            </a:r>
            <a:r>
              <a:rPr lang="en-AU" sz="3600" dirty="0"/>
              <a:t>the</a:t>
            </a:r>
            <a:r>
              <a:rPr lang="en-AU" sz="3600" b="1" dirty="0"/>
              <a:t> area </a:t>
            </a:r>
            <a:r>
              <a:rPr lang="en-AU" sz="3600" dirty="0"/>
              <a:t>of the </a:t>
            </a:r>
            <a:r>
              <a:rPr lang="en-AU" sz="3600" b="1" dirty="0"/>
              <a:t>leaf </a:t>
            </a:r>
            <a:r>
              <a:rPr lang="en-AU" sz="3600" dirty="0"/>
              <a:t>to be </a:t>
            </a:r>
            <a:r>
              <a:rPr lang="en-AU" sz="3600" b="1" dirty="0"/>
              <a:t>__________</a:t>
            </a:r>
          </a:p>
        </p:txBody>
      </p:sp>
      <p:sp>
        <p:nvSpPr>
          <p:cNvPr id="8" name="TextBox 7">
            <a:extLst>
              <a:ext uri="{FF2B5EF4-FFF2-40B4-BE49-F238E27FC236}">
                <a16:creationId xmlns:a16="http://schemas.microsoft.com/office/drawing/2014/main" id="{A604764A-A3FE-FDD1-4FB6-0B67A7163F81}"/>
              </a:ext>
            </a:extLst>
          </p:cNvPr>
          <p:cNvSpPr txBox="1"/>
          <p:nvPr/>
        </p:nvSpPr>
        <p:spPr>
          <a:xfrm>
            <a:off x="500062" y="920763"/>
            <a:ext cx="9857425" cy="1824923"/>
          </a:xfrm>
          <a:prstGeom prst="rect">
            <a:avLst/>
          </a:prstGeom>
          <a:noFill/>
        </p:spPr>
        <p:txBody>
          <a:bodyPr wrap="square">
            <a:spAutoFit/>
          </a:bodyPr>
          <a:lstStyle/>
          <a:p>
            <a:pPr lvl="0">
              <a:lnSpc>
                <a:spcPct val="150000"/>
              </a:lnSpc>
            </a:pPr>
            <a:r>
              <a:rPr lang="en-AU" sz="4000"/>
              <a:t>Record the missing numerals and words The </a:t>
            </a:r>
            <a:r>
              <a:rPr lang="en-AU" sz="4000" b="1"/>
              <a:t>area</a:t>
            </a:r>
            <a:r>
              <a:rPr lang="en-AU" sz="4000"/>
              <a:t> of the leaf is:</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D34043A2-A435-3E16-74D6-50F3A84BBF33}"/>
              </a:ext>
            </a:extLst>
          </p:cNvPr>
          <p:cNvSpPr txBox="1">
            <a:spLocks/>
          </p:cNvSpPr>
          <p:nvPr/>
        </p:nvSpPr>
        <p:spPr>
          <a:xfrm>
            <a:off x="360000" y="846081"/>
            <a:ext cx="1093635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a:t>Use the </a:t>
            </a:r>
            <a:r>
              <a:rPr lang="en-AU" sz="4400" b="1"/>
              <a:t>distributive property </a:t>
            </a:r>
            <a:r>
              <a:rPr lang="en-AU" sz="4400"/>
              <a:t>to solve:</a:t>
            </a:r>
            <a:endParaRPr lang="en-AU" sz="4000"/>
          </a:p>
        </p:txBody>
      </p:sp>
      <p:sp>
        <p:nvSpPr>
          <p:cNvPr id="7" name="Text Placeholder 5">
            <a:extLst>
              <a:ext uri="{FF2B5EF4-FFF2-40B4-BE49-F238E27FC236}">
                <a16:creationId xmlns:a16="http://schemas.microsoft.com/office/drawing/2014/main" id="{60E8D296-50A8-750C-7966-1EAFAF40D3AC}"/>
              </a:ext>
            </a:extLst>
          </p:cNvPr>
          <p:cNvSpPr txBox="1">
            <a:spLocks/>
          </p:cNvSpPr>
          <p:nvPr/>
        </p:nvSpPr>
        <p:spPr>
          <a:xfrm>
            <a:off x="801858" y="5004954"/>
            <a:ext cx="1049449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b="1"/>
              <a:t>Record </a:t>
            </a:r>
            <a:r>
              <a:rPr lang="en-AU" sz="4000"/>
              <a:t>a</a:t>
            </a:r>
            <a:r>
              <a:rPr lang="en-AU" sz="4000" b="1"/>
              <a:t> number sentence </a:t>
            </a:r>
            <a:r>
              <a:rPr lang="en-AU" sz="4000"/>
              <a:t>showing </a:t>
            </a:r>
            <a:r>
              <a:rPr lang="en-AU" sz="4000" b="1"/>
              <a:t>flexible partitioning.</a:t>
            </a:r>
            <a:endParaRPr lang="en-AU" sz="3600"/>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8" name="Picture 7" descr="An array showing 7 rows of 8.&#10;&#10;The colour shows how it can be partitioned with 5 columns purple and3 columns green. ">
            <a:extLst>
              <a:ext uri="{FF2B5EF4-FFF2-40B4-BE49-F238E27FC236}">
                <a16:creationId xmlns:a16="http://schemas.microsoft.com/office/drawing/2014/main" id="{C5726C9D-ADE2-EA0B-5F9C-DC2FAC6547D3}"/>
              </a:ext>
            </a:extLst>
          </p:cNvPr>
          <p:cNvPicPr>
            <a:picLocks noChangeAspect="1"/>
          </p:cNvPicPr>
          <p:nvPr/>
        </p:nvPicPr>
        <p:blipFill>
          <a:blip r:embed="rId4"/>
          <a:stretch>
            <a:fillRect/>
          </a:stretch>
        </p:blipFill>
        <p:spPr>
          <a:xfrm>
            <a:off x="3838248" y="1990072"/>
            <a:ext cx="4515503" cy="28778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3BE9AD45-89CE-0D39-DC94-3B1FD32D13FF}"/>
              </a:ext>
            </a:extLst>
          </p:cNvPr>
          <p:cNvSpPr txBox="1">
            <a:spLocks/>
          </p:cNvSpPr>
          <p:nvPr/>
        </p:nvSpPr>
        <p:spPr>
          <a:xfrm>
            <a:off x="294481" y="1267249"/>
            <a:ext cx="1160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each fruit’s </a:t>
            </a:r>
            <a:r>
              <a:rPr lang="en-AU" sz="4400" b="1"/>
              <a:t>mass</a:t>
            </a:r>
            <a:r>
              <a:rPr lang="en-AU" sz="4400"/>
              <a:t>.</a:t>
            </a:r>
          </a:p>
          <a:p>
            <a:endParaRPr lang="en-AU" sz="4400"/>
          </a:p>
        </p:txBody>
      </p:sp>
      <p:pic>
        <p:nvPicPr>
          <p:cNvPr id="13" name="Picture 12" descr="3 scales with fruit sitting on it.&#10;&#10;A. 4 apples with the number 650 and the letter g on the scale.&#10;B. a bunch of grapes with the number 125 and the letter g on the scale.&#10;C bananas with the number 500 and the letter g on the scale.">
            <a:extLst>
              <a:ext uri="{FF2B5EF4-FFF2-40B4-BE49-F238E27FC236}">
                <a16:creationId xmlns:a16="http://schemas.microsoft.com/office/drawing/2014/main" id="{C046C39B-AE98-33A8-D4D2-48156F04A80A}"/>
              </a:ext>
            </a:extLst>
          </p:cNvPr>
          <p:cNvPicPr>
            <a:picLocks noChangeAspect="1"/>
          </p:cNvPicPr>
          <p:nvPr/>
        </p:nvPicPr>
        <p:blipFill>
          <a:blip r:embed="rId4"/>
          <a:stretch>
            <a:fillRect/>
          </a:stretch>
        </p:blipFill>
        <p:spPr>
          <a:xfrm>
            <a:off x="2206311" y="2522123"/>
            <a:ext cx="7455283" cy="2311519"/>
          </a:xfrm>
          <a:prstGeom prst="rect">
            <a:avLst/>
          </a:prstGeom>
          <a:ln>
            <a:noFill/>
          </a:ln>
          <a:effectLst/>
        </p:spPr>
      </p:pic>
      <p:sp>
        <p:nvSpPr>
          <p:cNvPr id="9" name="B">
            <a:extLst>
              <a:ext uri="{FF2B5EF4-FFF2-40B4-BE49-F238E27FC236}">
                <a16:creationId xmlns:a16="http://schemas.microsoft.com/office/drawing/2014/main" id="{F1AC8EEC-FEB8-AE93-01F1-E2FD1BE7883A}"/>
              </a:ext>
              <a:ext uri="{C183D7F6-B498-43B3-948B-1728B52AA6E4}">
                <adec:decorative xmlns:adec="http://schemas.microsoft.com/office/drawing/2017/decorative" val="0"/>
              </a:ext>
            </a:extLst>
          </p:cNvPr>
          <p:cNvSpPr txBox="1"/>
          <p:nvPr/>
        </p:nvSpPr>
        <p:spPr>
          <a:xfrm>
            <a:off x="2986585" y="51788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solidFill>
                  <a:schemeClr val="accent2"/>
                </a:solidFill>
              </a:rPr>
              <a:t>A</a:t>
            </a:r>
          </a:p>
        </p:txBody>
      </p:sp>
      <p:sp>
        <p:nvSpPr>
          <p:cNvPr id="10" name="B">
            <a:extLst>
              <a:ext uri="{FF2B5EF4-FFF2-40B4-BE49-F238E27FC236}">
                <a16:creationId xmlns:a16="http://schemas.microsoft.com/office/drawing/2014/main" id="{F8F227F3-0C9D-7573-5E18-D31A65780FCB}"/>
              </a:ext>
              <a:ext uri="{C183D7F6-B498-43B3-948B-1728B52AA6E4}">
                <adec:decorative xmlns:adec="http://schemas.microsoft.com/office/drawing/2017/decorative" val="0"/>
              </a:ext>
            </a:extLst>
          </p:cNvPr>
          <p:cNvSpPr txBox="1"/>
          <p:nvPr/>
        </p:nvSpPr>
        <p:spPr>
          <a:xfrm>
            <a:off x="5669239" y="51788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solidFill>
                  <a:schemeClr val="accent2"/>
                </a:solidFill>
              </a:rPr>
              <a:t>B</a:t>
            </a:r>
          </a:p>
        </p:txBody>
      </p:sp>
      <p:sp>
        <p:nvSpPr>
          <p:cNvPr id="11" name="C">
            <a:extLst>
              <a:ext uri="{FF2B5EF4-FFF2-40B4-BE49-F238E27FC236}">
                <a16:creationId xmlns:a16="http://schemas.microsoft.com/office/drawing/2014/main" id="{CF15FF17-7B4B-55E1-7D3E-9BDD4E1DFCBC}"/>
              </a:ext>
              <a:ext uri="{C183D7F6-B498-43B3-948B-1728B52AA6E4}">
                <adec:decorative xmlns:adec="http://schemas.microsoft.com/office/drawing/2017/decorative" val="0"/>
              </a:ext>
            </a:extLst>
          </p:cNvPr>
          <p:cNvSpPr txBox="1"/>
          <p:nvPr/>
        </p:nvSpPr>
        <p:spPr>
          <a:xfrm>
            <a:off x="8351893" y="51788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solidFill>
                  <a:schemeClr val="accent2"/>
                </a:solidFill>
              </a:rPr>
              <a:t>C</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creating addition word problems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CA24FEEC-6451-D110-6113-480C216B2CD3}"/>
              </a:ext>
            </a:extLst>
          </p:cNvPr>
          <p:cNvSpPr txBox="1"/>
          <p:nvPr/>
        </p:nvSpPr>
        <p:spPr>
          <a:xfrm>
            <a:off x="3048811" y="1735019"/>
            <a:ext cx="6094378" cy="923330"/>
          </a:xfrm>
          <a:prstGeom prst="rect">
            <a:avLst/>
          </a:prstGeom>
          <a:noFill/>
        </p:spPr>
        <p:txBody>
          <a:bodyPr wrap="square" lIns="91440" tIns="45720" rIns="91440" bIns="45720" anchor="t">
            <a:spAutoFit/>
          </a:bodyPr>
          <a:lstStyle/>
          <a:p>
            <a:pPr algn="ctr"/>
            <a:r>
              <a:rPr lang="en-AU" sz="5400">
                <a:latin typeface="Arial"/>
                <a:ea typeface="Calibri"/>
                <a:cs typeface="Arial"/>
              </a:rPr>
              <a:t>15  +  __  =  38</a:t>
            </a:r>
          </a:p>
        </p:txBody>
      </p:sp>
      <p:sp>
        <p:nvSpPr>
          <p:cNvPr id="7" name="TextBox 6">
            <a:extLst>
              <a:ext uri="{FF2B5EF4-FFF2-40B4-BE49-F238E27FC236}">
                <a16:creationId xmlns:a16="http://schemas.microsoft.com/office/drawing/2014/main" id="{B5E762D9-3F35-07E0-246E-6124D25CBC89}"/>
              </a:ext>
            </a:extLst>
          </p:cNvPr>
          <p:cNvSpPr txBox="1"/>
          <p:nvPr/>
        </p:nvSpPr>
        <p:spPr>
          <a:xfrm>
            <a:off x="720550" y="2805511"/>
            <a:ext cx="10763450" cy="3602076"/>
          </a:xfrm>
          <a:prstGeom prst="rect">
            <a:avLst/>
          </a:prstGeom>
          <a:noFill/>
        </p:spPr>
        <p:txBody>
          <a:bodyPr wrap="square">
            <a:spAutoFit/>
          </a:bodyPr>
          <a:lstStyle/>
          <a:p>
            <a:pPr algn="ctr">
              <a:lnSpc>
                <a:spcPct val="150000"/>
              </a:lnSpc>
            </a:pPr>
            <a:r>
              <a:rPr lang="en-AU" sz="3200" b="0"/>
              <a:t>Farmer Kai collected </a:t>
            </a:r>
            <a:r>
              <a:rPr lang="en-AU" sz="3200" b="1"/>
              <a:t>15 eggs </a:t>
            </a:r>
            <a:r>
              <a:rPr lang="en-AU" sz="3200" b="0"/>
              <a:t>from his chickens in </a:t>
            </a:r>
            <a:r>
              <a:rPr lang="en-AU" sz="3200" b="1"/>
              <a:t>week one</a:t>
            </a:r>
            <a:r>
              <a:rPr lang="en-AU" sz="3200" b="0"/>
              <a:t>, but he forgot to count how many eggs he collected in </a:t>
            </a:r>
            <a:r>
              <a:rPr lang="en-AU" sz="3200" b="1"/>
              <a:t>week 2</a:t>
            </a:r>
            <a:r>
              <a:rPr lang="en-AU" sz="3200" b="0"/>
              <a:t>. He </a:t>
            </a:r>
            <a:r>
              <a:rPr lang="en-AU" sz="3200" b="1"/>
              <a:t>collected 38 eggs altogether</a:t>
            </a:r>
            <a:r>
              <a:rPr lang="en-AU" sz="3200"/>
              <a:t>. </a:t>
            </a:r>
          </a:p>
          <a:p>
            <a:pPr>
              <a:lnSpc>
                <a:spcPct val="150000"/>
              </a:lnSpc>
            </a:pPr>
            <a:endParaRPr lang="en-AU" sz="2800"/>
          </a:p>
          <a:p>
            <a:pPr algn="ctr">
              <a:lnSpc>
                <a:spcPct val="150000"/>
              </a:lnSpc>
            </a:pPr>
            <a:r>
              <a:rPr lang="en-AU" sz="3200" b="1"/>
              <a:t>How many eggs </a:t>
            </a:r>
            <a:r>
              <a:rPr lang="en-AU" sz="3200" b="0"/>
              <a:t>did Farmer Kai collect in </a:t>
            </a:r>
            <a:r>
              <a:rPr lang="en-AU" sz="3200" b="1"/>
              <a:t>week 2</a:t>
            </a:r>
            <a:r>
              <a:rPr lang="en-AU" sz="3200" b="0"/>
              <a:t>?</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08D0-593F-B221-2B94-948084B3FDC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66AF66-1DC1-5065-635B-661138800418}"/>
              </a:ext>
            </a:extLst>
          </p:cNvPr>
          <p:cNvSpPr>
            <a:spLocks noGrp="1"/>
          </p:cNvSpPr>
          <p:nvPr>
            <p:ph type="title"/>
          </p:nvPr>
        </p:nvSpPr>
        <p:spPr>
          <a:xfrm>
            <a:off x="360000" y="360000"/>
            <a:ext cx="10367268" cy="545601"/>
          </a:xfrm>
        </p:spPr>
        <p:txBody>
          <a:bodyPr/>
          <a:lstStyle/>
          <a:p>
            <a:r>
              <a:rPr lang="en-AU"/>
              <a:t>Activity 7 – creating addition word problems (2)</a:t>
            </a:r>
          </a:p>
        </p:txBody>
      </p:sp>
      <p:pic>
        <p:nvPicPr>
          <p:cNvPr id="4" name="Picture 3">
            <a:extLst>
              <a:ext uri="{FF2B5EF4-FFF2-40B4-BE49-F238E27FC236}">
                <a16:creationId xmlns:a16="http://schemas.microsoft.com/office/drawing/2014/main" id="{7C5C96FE-E9BD-F248-4C4F-C82AFA6172A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0DB5256E-2643-906E-9E29-5FF0B9F05655}"/>
              </a:ext>
            </a:extLst>
          </p:cNvPr>
          <p:cNvSpPr txBox="1"/>
          <p:nvPr/>
        </p:nvSpPr>
        <p:spPr>
          <a:xfrm>
            <a:off x="2769678" y="1311508"/>
            <a:ext cx="6094378" cy="4820487"/>
          </a:xfrm>
          <a:prstGeom prst="rect">
            <a:avLst/>
          </a:prstGeom>
          <a:noFill/>
        </p:spPr>
        <p:txBody>
          <a:bodyPr wrap="square" lIns="91440" tIns="45720" rIns="91440" bIns="45720" anchor="t">
            <a:spAutoFit/>
          </a:bodyPr>
          <a:lstStyle/>
          <a:p>
            <a:pPr algn="ctr">
              <a:lnSpc>
                <a:spcPct val="200000"/>
              </a:lnSpc>
            </a:pPr>
            <a:r>
              <a:rPr lang="en-AU" sz="5400">
                <a:latin typeface="Arial"/>
                <a:ea typeface="Calibri"/>
                <a:cs typeface="Arial"/>
              </a:rPr>
              <a:t>23 + ___ = 41</a:t>
            </a:r>
          </a:p>
          <a:p>
            <a:pPr algn="ctr">
              <a:lnSpc>
                <a:spcPct val="200000"/>
              </a:lnSpc>
            </a:pPr>
            <a:r>
              <a:rPr lang="en-AU" sz="5400">
                <a:latin typeface="Arial"/>
                <a:ea typeface="Calibri"/>
                <a:cs typeface="Arial"/>
              </a:rPr>
              <a:t>99 + ___ = 112</a:t>
            </a:r>
          </a:p>
          <a:p>
            <a:pPr algn="ctr">
              <a:lnSpc>
                <a:spcPct val="200000"/>
              </a:lnSpc>
            </a:pPr>
            <a:r>
              <a:rPr lang="en-AU" sz="5400">
                <a:latin typeface="Arial"/>
                <a:ea typeface="Calibri"/>
                <a:cs typeface="Arial"/>
              </a:rPr>
              <a:t>178 + ___ = 256</a:t>
            </a:r>
          </a:p>
        </p:txBody>
      </p:sp>
      <p:sp>
        <p:nvSpPr>
          <p:cNvPr id="2" name="Slide Number Placeholder 1">
            <a:extLst>
              <a:ext uri="{FF2B5EF4-FFF2-40B4-BE49-F238E27FC236}">
                <a16:creationId xmlns:a16="http://schemas.microsoft.com/office/drawing/2014/main" id="{A5A294D6-0803-2194-5DE2-76D04ED85AB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41285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0" y="1222298"/>
            <a:ext cx="11603037" cy="893226"/>
          </a:xfrm>
        </p:spPr>
        <p:txBody>
          <a:bodyPr/>
          <a:lstStyle/>
          <a:p>
            <a:pPr algn="ctr"/>
            <a:r>
              <a:rPr lang="en-AU" sz="4000"/>
              <a:t>The word problem matches the number sentence.</a:t>
            </a:r>
            <a:br>
              <a:rPr lang="en-AU" sz="4000"/>
            </a:br>
            <a:r>
              <a:rPr lang="en-AU" sz="4400" b="1">
                <a:solidFill>
                  <a:srgbClr val="0070C0"/>
                </a:solidFill>
              </a:rPr>
              <a:t>68 − 34 = ?</a:t>
            </a:r>
            <a:br>
              <a:rPr lang="en-AU" sz="4400"/>
            </a:br>
            <a:r>
              <a:rPr lang="en-AU" sz="4000"/>
              <a:t>Ben had </a:t>
            </a:r>
            <a:r>
              <a:rPr lang="en-AU" sz="4000" b="1"/>
              <a:t>68 marbles</a:t>
            </a:r>
            <a:r>
              <a:rPr lang="en-AU" sz="4000"/>
              <a:t>. He </a:t>
            </a:r>
            <a:r>
              <a:rPr lang="en-AU" sz="4000" b="1"/>
              <a:t>got 34 more marbles</a:t>
            </a:r>
            <a:r>
              <a:rPr lang="en-AU" sz="4000"/>
              <a:t>. Now he has </a:t>
            </a:r>
            <a:r>
              <a:rPr lang="en-AU" sz="4000" b="1"/>
              <a:t>102 marbles</a:t>
            </a:r>
            <a:r>
              <a:rPr lang="en-AU" sz="4000"/>
              <a:t>.</a:t>
            </a:r>
          </a:p>
          <a:p>
            <a:endParaRPr lang="en-AU" sz="440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870853190"/>
              </p:ext>
            </p:extLst>
          </p:nvPr>
        </p:nvGraphicFramePr>
        <p:xfrm>
          <a:off x="2557462" y="554256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311351F-21E5-75CC-43F5-80C7AA21C22D}"/>
              </a:ext>
            </a:extLst>
          </p:cNvPr>
          <p:cNvSpPr txBox="1"/>
          <p:nvPr/>
        </p:nvSpPr>
        <p:spPr>
          <a:xfrm>
            <a:off x="884009" y="3801644"/>
            <a:ext cx="10125701" cy="1824923"/>
          </a:xfrm>
          <a:prstGeom prst="rect">
            <a:avLst/>
          </a:prstGeom>
          <a:noFill/>
        </p:spPr>
        <p:txBody>
          <a:bodyPr wrap="square">
            <a:spAutoFit/>
          </a:bodyPr>
          <a:lstStyle/>
          <a:p>
            <a:pPr lvl="0" algn="ctr">
              <a:lnSpc>
                <a:spcPct val="150000"/>
              </a:lnSpc>
              <a:spcBef>
                <a:spcPts val="1200"/>
              </a:spcBef>
              <a:spcAft>
                <a:spcPts val="600"/>
              </a:spcAft>
            </a:pPr>
            <a:r>
              <a:rPr lang="en-AU" sz="4000">
                <a:effectLst/>
                <a:latin typeface="Arial" panose="020B0604020202020204" pitchFamily="34" charset="0"/>
                <a:ea typeface="Calibri" panose="020F0502020204030204" pitchFamily="34" charset="0"/>
              </a:rPr>
              <a:t>There are </a:t>
            </a:r>
            <a:r>
              <a:rPr lang="en-AU" sz="4000" b="1">
                <a:effectLst/>
                <a:latin typeface="Arial" panose="020B0604020202020204" pitchFamily="34" charset="0"/>
                <a:ea typeface="Calibri" panose="020F0502020204030204" pitchFamily="34" charset="0"/>
              </a:rPr>
              <a:t>42 apples </a:t>
            </a:r>
            <a:r>
              <a:rPr lang="en-AU" sz="4000">
                <a:effectLst/>
                <a:latin typeface="Arial" panose="020B0604020202020204" pitchFamily="34" charset="0"/>
                <a:ea typeface="Calibri" panose="020F0502020204030204" pitchFamily="34" charset="0"/>
              </a:rPr>
              <a:t>packed into bags of </a:t>
            </a:r>
            <a:r>
              <a:rPr lang="en-AU" sz="4000" b="1">
                <a:effectLst/>
                <a:latin typeface="Arial" panose="020B0604020202020204" pitchFamily="34" charset="0"/>
                <a:ea typeface="Calibri" panose="020F0502020204030204" pitchFamily="34" charset="0"/>
              </a:rPr>
              <a:t>6</a:t>
            </a:r>
            <a:r>
              <a:rPr lang="en-AU" sz="4000">
                <a:effectLst/>
                <a:latin typeface="Arial" panose="020B0604020202020204" pitchFamily="34" charset="0"/>
                <a:ea typeface="Calibri" panose="020F0502020204030204" pitchFamily="34" charset="0"/>
              </a:rPr>
              <a:t>. </a:t>
            </a:r>
            <a:r>
              <a:rPr lang="en-AU" sz="4000" b="1">
                <a:effectLst/>
                <a:latin typeface="Arial" panose="020B0604020202020204" pitchFamily="34" charset="0"/>
                <a:ea typeface="Calibri" panose="020F0502020204030204" pitchFamily="34" charset="0"/>
              </a:rPr>
              <a:t>How many bags </a:t>
            </a:r>
            <a:r>
              <a:rPr lang="en-AU" sz="4000">
                <a:effectLst/>
                <a:latin typeface="Arial" panose="020B0604020202020204" pitchFamily="34" charset="0"/>
                <a:ea typeface="Calibri" panose="020F0502020204030204" pitchFamily="34" charset="0"/>
              </a:rPr>
              <a:t>are needed?</a:t>
            </a:r>
          </a:p>
        </p:txBody>
      </p:sp>
      <p:sp>
        <p:nvSpPr>
          <p:cNvPr id="8" name="TextBox 7">
            <a:extLst>
              <a:ext uri="{FF2B5EF4-FFF2-40B4-BE49-F238E27FC236}">
                <a16:creationId xmlns:a16="http://schemas.microsoft.com/office/drawing/2014/main" id="{3ED442EA-669A-EB29-87C6-9880CBBF6A31}"/>
              </a:ext>
            </a:extLst>
          </p:cNvPr>
          <p:cNvSpPr txBox="1"/>
          <p:nvPr/>
        </p:nvSpPr>
        <p:spPr>
          <a:xfrm>
            <a:off x="601567" y="1357586"/>
            <a:ext cx="10125701" cy="1824923"/>
          </a:xfrm>
          <a:prstGeom prst="rect">
            <a:avLst/>
          </a:prstGeom>
          <a:noFill/>
        </p:spPr>
        <p:txBody>
          <a:bodyPr wrap="square">
            <a:spAutoFit/>
          </a:bodyPr>
          <a:lstStyle/>
          <a:p>
            <a:pPr lvl="0" algn="ctr">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Record</a:t>
            </a:r>
            <a:r>
              <a:rPr lang="en-AU" sz="4000">
                <a:effectLst/>
                <a:latin typeface="Arial" panose="020B0604020202020204" pitchFamily="34" charset="0"/>
                <a:ea typeface="Calibri" panose="020F0502020204030204" pitchFamily="34" charset="0"/>
              </a:rPr>
              <a:t> the </a:t>
            </a:r>
            <a:r>
              <a:rPr lang="en-AU" sz="4000" b="1">
                <a:effectLst/>
                <a:latin typeface="Arial" panose="020B0604020202020204" pitchFamily="34" charset="0"/>
                <a:ea typeface="Calibri" panose="020F0502020204030204" pitchFamily="34" charset="0"/>
              </a:rPr>
              <a:t>number sentence </a:t>
            </a:r>
            <a:r>
              <a:rPr lang="en-AU" sz="4000">
                <a:effectLst/>
                <a:latin typeface="Arial" panose="020B0604020202020204" pitchFamily="34" charset="0"/>
                <a:ea typeface="Calibri" panose="020F0502020204030204" pitchFamily="34" charset="0"/>
              </a:rPr>
              <a:t>for this problem and </a:t>
            </a:r>
            <a:r>
              <a:rPr lang="en-AU" sz="4000" b="1">
                <a:effectLst/>
                <a:latin typeface="Arial" panose="020B0604020202020204" pitchFamily="34" charset="0"/>
                <a:ea typeface="Calibri" panose="020F0502020204030204" pitchFamily="34" charset="0"/>
              </a:rPr>
              <a:t>solve i</a:t>
            </a:r>
            <a:r>
              <a:rPr lang="en-AU" sz="4000" b="1">
                <a:latin typeface="Arial" panose="020B0604020202020204" pitchFamily="34" charset="0"/>
                <a:ea typeface="Calibri" panose="020F0502020204030204" pitchFamily="34" charset="0"/>
              </a:rPr>
              <a:t>t:</a:t>
            </a:r>
            <a:endParaRPr lang="en-AU" sz="400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5859F698-B201-4BAE-9E8F-C615953B06E7}"/>
              </a:ext>
            </a:extLst>
          </p:cNvPr>
          <p:cNvSpPr txBox="1"/>
          <p:nvPr/>
        </p:nvSpPr>
        <p:spPr>
          <a:xfrm>
            <a:off x="360000" y="1414248"/>
            <a:ext cx="5665047" cy="4029501"/>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rPr>
              <a:t>Record</a:t>
            </a:r>
            <a:r>
              <a:rPr lang="en-AU" sz="4400">
                <a:effectLst/>
                <a:latin typeface="Arial" panose="020B0604020202020204" pitchFamily="34" charset="0"/>
                <a:ea typeface="Calibri" panose="020F0502020204030204" pitchFamily="34" charset="0"/>
              </a:rPr>
              <a:t> the </a:t>
            </a:r>
            <a:r>
              <a:rPr lang="en-AU" sz="4400" b="1">
                <a:effectLst/>
                <a:latin typeface="Arial" panose="020B0604020202020204" pitchFamily="34" charset="0"/>
                <a:ea typeface="Calibri" panose="020F0502020204030204" pitchFamily="34" charset="0"/>
              </a:rPr>
              <a:t>area</a:t>
            </a:r>
            <a:r>
              <a:rPr lang="en-AU" sz="4400">
                <a:effectLst/>
                <a:latin typeface="Arial" panose="020B0604020202020204" pitchFamily="34" charset="0"/>
                <a:ea typeface="Calibri" panose="020F0502020204030204" pitchFamily="34" charset="0"/>
              </a:rPr>
              <a:t> of the beach volleyball court in </a:t>
            </a:r>
            <a:r>
              <a:rPr lang="en-AU" sz="4400" b="1">
                <a:effectLst/>
                <a:latin typeface="Arial" panose="020B0604020202020204" pitchFamily="34" charset="0"/>
                <a:ea typeface="Calibri" panose="020F0502020204030204" pitchFamily="34" charset="0"/>
              </a:rPr>
              <a:t>square metres</a:t>
            </a:r>
            <a:r>
              <a:rPr lang="en-AU" sz="4400">
                <a:effectLst/>
                <a:latin typeface="Arial" panose="020B0604020202020204" pitchFamily="34" charset="0"/>
                <a:ea typeface="Calibri" panose="020F0502020204030204" pitchFamily="34" charset="0"/>
              </a:rPr>
              <a:t>.</a:t>
            </a:r>
          </a:p>
        </p:txBody>
      </p:sp>
      <p:pic>
        <p:nvPicPr>
          <p:cNvPr id="10" name="Picture 9" descr="A beach volleyball court with the length 16 m and the width 8 m.">
            <a:extLst>
              <a:ext uri="{FF2B5EF4-FFF2-40B4-BE49-F238E27FC236}">
                <a16:creationId xmlns:a16="http://schemas.microsoft.com/office/drawing/2014/main" id="{66B75526-EB33-19EE-DDC5-A9E6144DAB85}"/>
              </a:ext>
            </a:extLst>
          </p:cNvPr>
          <p:cNvPicPr>
            <a:picLocks noChangeAspect="1"/>
          </p:cNvPicPr>
          <p:nvPr/>
        </p:nvPicPr>
        <p:blipFill>
          <a:blip r:embed="rId4"/>
          <a:stretch>
            <a:fillRect/>
          </a:stretch>
        </p:blipFill>
        <p:spPr>
          <a:xfrm>
            <a:off x="6728120" y="1671147"/>
            <a:ext cx="4954973" cy="3515706"/>
          </a:xfrm>
          <a:prstGeom prst="rect">
            <a:avLst/>
          </a:prstGeom>
          <a:ln>
            <a:noFill/>
          </a:ln>
          <a:effectLst/>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D18574C5-2FD0-9FAB-C020-9A159E23AEF2}"/>
              </a:ext>
            </a:extLst>
          </p:cNvPr>
          <p:cNvSpPr txBox="1"/>
          <p:nvPr/>
        </p:nvSpPr>
        <p:spPr>
          <a:xfrm>
            <a:off x="481298" y="2937650"/>
            <a:ext cx="10750394" cy="1824923"/>
          </a:xfrm>
          <a:prstGeom prst="rect">
            <a:avLst/>
          </a:prstGeom>
          <a:noFill/>
        </p:spPr>
        <p:txBody>
          <a:bodyPr wrap="square">
            <a:spAutoFit/>
          </a:bodyPr>
          <a:lstStyle/>
          <a:p>
            <a:pPr lvl="0" algn="ctr">
              <a:lnSpc>
                <a:spcPct val="150000"/>
              </a:lnSpc>
              <a:spcBef>
                <a:spcPts val="1200"/>
              </a:spcBef>
              <a:spcAft>
                <a:spcPts val="600"/>
              </a:spcAft>
            </a:pPr>
            <a:r>
              <a:rPr lang="en-AU" sz="4000" b="1">
                <a:latin typeface="Arial" panose="020B0604020202020204" pitchFamily="34" charset="0"/>
                <a:ea typeface="Calibri" panose="020F0502020204030204" pitchFamily="34" charset="0"/>
              </a:rPr>
              <a:t>16 × 4 has been partitioned </a:t>
            </a:r>
            <a:r>
              <a:rPr lang="en-AU" sz="4000">
                <a:latin typeface="Arial" panose="020B0604020202020204" pitchFamily="34" charset="0"/>
                <a:ea typeface="Calibri" panose="020F0502020204030204" pitchFamily="34" charset="0"/>
              </a:rPr>
              <a:t>using</a:t>
            </a:r>
            <a:r>
              <a:rPr lang="en-AU" sz="4000">
                <a:effectLst/>
                <a:latin typeface="Arial" panose="020B0604020202020204" pitchFamily="34" charset="0"/>
                <a:ea typeface="Calibri" panose="020F0502020204030204" pitchFamily="34" charset="0"/>
              </a:rPr>
              <a:t> knowledge of </a:t>
            </a:r>
            <a:r>
              <a:rPr lang="en-AU" sz="4000" b="1">
                <a:effectLst/>
                <a:latin typeface="Arial" panose="020B0604020202020204" pitchFamily="34" charset="0"/>
                <a:ea typeface="Calibri" panose="020F0502020204030204" pitchFamily="34" charset="0"/>
              </a:rPr>
              <a:t>place value </a:t>
            </a:r>
            <a:r>
              <a:rPr lang="en-AU" sz="4000">
                <a:effectLst/>
                <a:latin typeface="Arial" panose="020B0604020202020204" pitchFamily="34" charset="0"/>
                <a:ea typeface="Calibri" panose="020F0502020204030204" pitchFamily="34" charset="0"/>
              </a:rPr>
              <a:t>to</a:t>
            </a:r>
            <a:r>
              <a:rPr lang="en-AU" sz="4000" b="1">
                <a:effectLst/>
                <a:latin typeface="Arial" panose="020B0604020202020204" pitchFamily="34" charset="0"/>
                <a:ea typeface="Calibri" panose="020F0502020204030204" pitchFamily="34" charset="0"/>
              </a:rPr>
              <a:t> </a:t>
            </a:r>
            <a:r>
              <a:rPr lang="en-AU" sz="4000">
                <a:effectLst/>
                <a:latin typeface="Arial" panose="020B0604020202020204" pitchFamily="34" charset="0"/>
                <a:ea typeface="Calibri" panose="020F0502020204030204" pitchFamily="34" charset="0"/>
              </a:rPr>
              <a:t>multiply by a </a:t>
            </a:r>
            <a:r>
              <a:rPr lang="en-AU" sz="4000" b="1">
                <a:effectLst/>
                <a:latin typeface="Arial" panose="020B0604020202020204" pitchFamily="34" charset="0"/>
                <a:ea typeface="Calibri" panose="020F0502020204030204" pitchFamily="34" charset="0"/>
              </a:rPr>
              <a:t>multiple of 10 </a:t>
            </a:r>
            <a:r>
              <a:rPr lang="en-AU" sz="4000">
                <a:effectLst/>
                <a:latin typeface="Arial" panose="020B0604020202020204" pitchFamily="34" charset="0"/>
                <a:ea typeface="Calibri" panose="020F0502020204030204" pitchFamily="34" charset="0"/>
              </a:rPr>
              <a:t>.</a:t>
            </a:r>
          </a:p>
        </p:txBody>
      </p:sp>
      <p:pic>
        <p:nvPicPr>
          <p:cNvPr id="13" name="Picture 12" descr="A array 16 x 4. It show flexible partitioning with 10 columns black and 6 columns green.">
            <a:extLst>
              <a:ext uri="{FF2B5EF4-FFF2-40B4-BE49-F238E27FC236}">
                <a16:creationId xmlns:a16="http://schemas.microsoft.com/office/drawing/2014/main" id="{8CB93FFD-91DF-D8E4-F6AD-457B4ECDBB5A}"/>
              </a:ext>
            </a:extLst>
          </p:cNvPr>
          <p:cNvPicPr>
            <a:picLocks noChangeAspect="1"/>
          </p:cNvPicPr>
          <p:nvPr/>
        </p:nvPicPr>
        <p:blipFill>
          <a:blip r:embed="rId4"/>
          <a:stretch>
            <a:fillRect/>
          </a:stretch>
        </p:blipFill>
        <p:spPr>
          <a:xfrm>
            <a:off x="3258646" y="939695"/>
            <a:ext cx="6393252" cy="1963861"/>
          </a:xfrm>
          <a:prstGeom prst="rect">
            <a:avLst/>
          </a:prstGeom>
          <a:ln>
            <a:noFill/>
          </a:ln>
          <a:effectLst>
            <a:outerShdw blurRad="292100" dist="139700" dir="2700000" algn="tl" rotWithShape="0">
              <a:srgbClr val="333333">
                <a:alpha val="65000"/>
              </a:srgbClr>
            </a:outerShdw>
          </a:effectLst>
        </p:spPr>
      </p:pic>
      <p:sp>
        <p:nvSpPr>
          <p:cNvPr id="8" name="Text Placeholder 5">
            <a:extLst>
              <a:ext uri="{FF2B5EF4-FFF2-40B4-BE49-F238E27FC236}">
                <a16:creationId xmlns:a16="http://schemas.microsoft.com/office/drawing/2014/main" id="{E28C31E3-A68C-C107-3BBA-FA3656A42023}"/>
              </a:ext>
            </a:extLst>
          </p:cNvPr>
          <p:cNvSpPr txBox="1">
            <a:spLocks/>
          </p:cNvSpPr>
          <p:nvPr/>
        </p:nvSpPr>
        <p:spPr>
          <a:xfrm>
            <a:off x="900332" y="4969699"/>
            <a:ext cx="1043851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000" b="1"/>
              <a:t>Record </a:t>
            </a:r>
            <a:r>
              <a:rPr lang="en-AU" sz="4000"/>
              <a:t>a</a:t>
            </a:r>
            <a:r>
              <a:rPr lang="en-AU" sz="4000" b="1"/>
              <a:t> number sentence </a:t>
            </a:r>
            <a:r>
              <a:rPr lang="en-AU" sz="4000"/>
              <a:t>showing this  </a:t>
            </a:r>
            <a:r>
              <a:rPr lang="en-AU" sz="4000" b="1"/>
              <a:t>flexible partitioning.</a:t>
            </a:r>
            <a:endParaRPr lang="en-AU" sz="3600"/>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descr="Fill in the blanks:&#10;a) 1/2 kilogram is the same as _____ grams.&#10;b) 1/4 kilogram is the same as _____ grams.&#10;c) 1/4 kilogram is the same as _____ grams.&#10;">
                <a:extLst>
                  <a:ext uri="{FF2B5EF4-FFF2-40B4-BE49-F238E27FC236}">
                    <a16:creationId xmlns:a16="http://schemas.microsoft.com/office/drawing/2014/main" id="{999171B2-1033-7D9A-25B8-A776F85F19A6}"/>
                  </a:ext>
                </a:extLst>
              </p:cNvPr>
              <p:cNvSpPr txBox="1"/>
              <p:nvPr/>
            </p:nvSpPr>
            <p:spPr>
              <a:xfrm>
                <a:off x="1166403" y="985948"/>
                <a:ext cx="10105292" cy="5680016"/>
              </a:xfrm>
              <a:prstGeom prst="rect">
                <a:avLst/>
              </a:prstGeom>
              <a:noFill/>
            </p:spPr>
            <p:txBody>
              <a:bodyPr wrap="square">
                <a:spAutoFit/>
              </a:bodyPr>
              <a:lstStyle/>
              <a:p>
                <a:pPr lvl="0" algn="ctr">
                  <a:lnSpc>
                    <a:spcPct val="150000"/>
                  </a:lnSpc>
                  <a:spcBef>
                    <a:spcPts val="1200"/>
                  </a:spcBef>
                  <a:spcAft>
                    <a:spcPts val="600"/>
                  </a:spcAft>
                </a:pPr>
                <a:r>
                  <a:rPr lang="en-AU" sz="4400" b="1" dirty="0">
                    <a:effectLst/>
                    <a:latin typeface="Arial" panose="020B0604020202020204" pitchFamily="34" charset="0"/>
                    <a:ea typeface="Calibri" panose="020F0502020204030204" pitchFamily="34" charset="0"/>
                  </a:rPr>
                  <a:t>Fill </a:t>
                </a:r>
                <a:r>
                  <a:rPr lang="en-AU" sz="4400" dirty="0">
                    <a:effectLst/>
                    <a:latin typeface="Arial" panose="020B0604020202020204" pitchFamily="34" charset="0"/>
                    <a:ea typeface="Calibri" panose="020F0502020204030204" pitchFamily="34" charset="0"/>
                  </a:rPr>
                  <a:t>in the blanks:</a:t>
                </a:r>
              </a:p>
              <a:p>
                <a:pPr lvl="0" algn="ctr">
                  <a:lnSpc>
                    <a:spcPct val="150000"/>
                  </a:lnSpc>
                  <a:spcBef>
                    <a:spcPts val="1200"/>
                  </a:spcBef>
                  <a:spcAft>
                    <a:spcPts val="600"/>
                  </a:spcAft>
                </a:pPr>
                <a14:m>
                  <m:oMath xmlns:m="http://schemas.openxmlformats.org/officeDocument/2006/math">
                    <m:f>
                      <m:fPr>
                        <m:ctrlPr>
                          <a:rPr lang="en-AU" sz="4000" i="1" smtClean="0">
                            <a:effectLst/>
                            <a:latin typeface="Cambria Math" panose="02040503050406030204" pitchFamily="18" charset="0"/>
                            <a:ea typeface="Calibri" panose="020F0502020204030204" pitchFamily="34" charset="0"/>
                          </a:rPr>
                        </m:ctrlPr>
                      </m:fPr>
                      <m:num>
                        <m:r>
                          <a:rPr lang="en-AU" sz="4000" b="0" i="1" smtClean="0">
                            <a:effectLst/>
                            <a:latin typeface="Cambria Math" panose="02040503050406030204" pitchFamily="18" charset="0"/>
                            <a:ea typeface="Calibri" panose="020F0502020204030204" pitchFamily="34" charset="0"/>
                          </a:rPr>
                          <m:t>1</m:t>
                        </m:r>
                      </m:num>
                      <m:den>
                        <m:r>
                          <a:rPr lang="en-AU" sz="4000" b="0" i="1" smtClean="0">
                            <a:effectLst/>
                            <a:latin typeface="Cambria Math" panose="02040503050406030204" pitchFamily="18" charset="0"/>
                            <a:ea typeface="Calibri" panose="020F0502020204030204" pitchFamily="34" charset="0"/>
                          </a:rPr>
                          <m:t>2</m:t>
                        </m:r>
                      </m:den>
                    </m:f>
                  </m:oMath>
                </a14:m>
                <a:r>
                  <a:rPr lang="en-AU" sz="4000" dirty="0">
                    <a:effectLst/>
                    <a:latin typeface="Arial" panose="020B0604020202020204" pitchFamily="34" charset="0"/>
                    <a:ea typeface="Calibri" panose="020F0502020204030204" pitchFamily="34" charset="0"/>
                  </a:rPr>
                  <a:t> kilogram is the same as _____ grams.</a:t>
                </a:r>
              </a:p>
              <a:p>
                <a:pPr lvl="0" algn="ctr">
                  <a:lnSpc>
                    <a:spcPct val="150000"/>
                  </a:lnSpc>
                  <a:spcBef>
                    <a:spcPts val="1200"/>
                  </a:spcBef>
                  <a:spcAft>
                    <a:spcPts val="600"/>
                  </a:spcAft>
                </a:pPr>
                <a14:m>
                  <m:oMath xmlns:m="http://schemas.openxmlformats.org/officeDocument/2006/math">
                    <m:f>
                      <m:fPr>
                        <m:ctrlPr>
                          <a:rPr lang="en-AU" sz="4000" i="1">
                            <a:latin typeface="Cambria Math" panose="02040503050406030204" pitchFamily="18" charset="0"/>
                            <a:ea typeface="Calibri" panose="020F0502020204030204" pitchFamily="34" charset="0"/>
                          </a:rPr>
                        </m:ctrlPr>
                      </m:fPr>
                      <m:num>
                        <m:r>
                          <a:rPr lang="en-AU" sz="4000" i="1">
                            <a:latin typeface="Cambria Math" panose="02040503050406030204" pitchFamily="18" charset="0"/>
                            <a:ea typeface="Calibri" panose="020F0502020204030204" pitchFamily="34" charset="0"/>
                          </a:rPr>
                          <m:t>1</m:t>
                        </m:r>
                      </m:num>
                      <m:den>
                        <m:r>
                          <a:rPr lang="en-AU" sz="4000" b="0" i="1" smtClean="0">
                            <a:latin typeface="Cambria Math" panose="02040503050406030204" pitchFamily="18" charset="0"/>
                            <a:ea typeface="Calibri" panose="020F0502020204030204" pitchFamily="34" charset="0"/>
                          </a:rPr>
                          <m:t>4</m:t>
                        </m:r>
                      </m:den>
                    </m:f>
                  </m:oMath>
                </a14:m>
                <a:r>
                  <a:rPr lang="en-AU" sz="4000" dirty="0">
                    <a:latin typeface="Arial" panose="020B0604020202020204" pitchFamily="34" charset="0"/>
                    <a:ea typeface="Calibri" panose="020F0502020204030204" pitchFamily="34" charset="0"/>
                  </a:rPr>
                  <a:t> kilogram is the same as _____ grams.</a:t>
                </a:r>
              </a:p>
              <a:p>
                <a:pPr lvl="0" algn="ctr">
                  <a:lnSpc>
                    <a:spcPct val="150000"/>
                  </a:lnSpc>
                  <a:spcBef>
                    <a:spcPts val="1200"/>
                  </a:spcBef>
                  <a:spcAft>
                    <a:spcPts val="600"/>
                  </a:spcAft>
                </a:pPr>
                <a14:m>
                  <m:oMath xmlns:m="http://schemas.openxmlformats.org/officeDocument/2006/math">
                    <m:f>
                      <m:fPr>
                        <m:ctrlPr>
                          <a:rPr lang="en-AU" sz="4000" b="0" i="1" smtClean="0">
                            <a:latin typeface="Cambria Math" panose="02040503050406030204" pitchFamily="18" charset="0"/>
                            <a:ea typeface="Calibri" panose="020F0502020204030204" pitchFamily="34" charset="0"/>
                          </a:rPr>
                        </m:ctrlPr>
                      </m:fPr>
                      <m:num>
                        <m:r>
                          <a:rPr lang="en-AU" sz="4000" b="0" i="1" smtClean="0">
                            <a:latin typeface="Cambria Math" panose="02040503050406030204" pitchFamily="18" charset="0"/>
                            <a:ea typeface="Calibri" panose="020F0502020204030204" pitchFamily="34" charset="0"/>
                          </a:rPr>
                          <m:t>3</m:t>
                        </m:r>
                      </m:num>
                      <m:den>
                        <m:r>
                          <a:rPr lang="en-AU" sz="4000" b="0" i="1" smtClean="0">
                            <a:latin typeface="Cambria Math" panose="02040503050406030204" pitchFamily="18" charset="0"/>
                            <a:ea typeface="Calibri" panose="020F0502020204030204" pitchFamily="34" charset="0"/>
                          </a:rPr>
                          <m:t>4</m:t>
                        </m:r>
                      </m:den>
                    </m:f>
                  </m:oMath>
                </a14:m>
                <a:r>
                  <a:rPr lang="en-AU" sz="4000" dirty="0">
                    <a:latin typeface="Arial" panose="020B0604020202020204" pitchFamily="34" charset="0"/>
                    <a:ea typeface="Calibri" panose="020F0502020204030204" pitchFamily="34" charset="0"/>
                  </a:rPr>
                  <a:t> kilogram is the same as _____ grams.</a:t>
                </a:r>
                <a:endParaRPr lang="en-AU" sz="4000" dirty="0">
                  <a:effectLst/>
                  <a:latin typeface="Arial" panose="020B0604020202020204" pitchFamily="34" charset="0"/>
                  <a:ea typeface="Calibri" panose="020F0502020204030204" pitchFamily="34" charset="0"/>
                </a:endParaRPr>
              </a:p>
            </p:txBody>
          </p:sp>
        </mc:Choice>
        <mc:Fallback xmlns="">
          <p:sp>
            <p:nvSpPr>
              <p:cNvPr id="5" name="TextBox 4" descr="Fill in the blanks:&#10;a) 1/2 kilogram is the same as _____ grams.&#10;b) 1/4 kilogram is the same as _____ grams.&#10;c) 1/4 kilogram is the same as _____ grams.&#10;">
                <a:extLst>
                  <a:ext uri="{FF2B5EF4-FFF2-40B4-BE49-F238E27FC236}">
                    <a16:creationId xmlns:a16="http://schemas.microsoft.com/office/drawing/2014/main" id="{999171B2-1033-7D9A-25B8-A776F85F19A6}"/>
                  </a:ext>
                </a:extLst>
              </p:cNvPr>
              <p:cNvSpPr txBox="1">
                <a:spLocks noRot="1" noChangeAspect="1" noMove="1" noResize="1" noEditPoints="1" noAdjustHandles="1" noChangeArrowheads="1" noChangeShapeType="1" noTextEdit="1"/>
              </p:cNvSpPr>
              <p:nvPr/>
            </p:nvSpPr>
            <p:spPr>
              <a:xfrm>
                <a:off x="1166403" y="985948"/>
                <a:ext cx="10105292" cy="5680016"/>
              </a:xfrm>
              <a:prstGeom prst="rect">
                <a:avLst/>
              </a:prstGeom>
              <a:blipFill>
                <a:blip r:embed="rId4"/>
                <a:stretch>
                  <a:fillRect/>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
        <p:nvSpPr>
          <p:cNvPr id="4" name="TextBox 3">
            <a:extLst>
              <a:ext uri="{FF2B5EF4-FFF2-40B4-BE49-F238E27FC236}">
                <a16:creationId xmlns:a16="http://schemas.microsoft.com/office/drawing/2014/main" id="{364FD1E2-15C7-279D-766F-F9D89D1BDCB7}"/>
              </a:ext>
              <a:ext uri="{C183D7F6-B498-43B3-948B-1728B52AA6E4}">
                <adec:decorative xmlns:adec="http://schemas.microsoft.com/office/drawing/2017/decorative" val="1"/>
              </a:ext>
            </a:extLst>
          </p:cNvPr>
          <p:cNvSpPr txBox="1"/>
          <p:nvPr/>
        </p:nvSpPr>
        <p:spPr>
          <a:xfrm>
            <a:off x="877340" y="2702335"/>
            <a:ext cx="73546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a)</a:t>
            </a:r>
          </a:p>
        </p:txBody>
      </p:sp>
      <p:sp>
        <p:nvSpPr>
          <p:cNvPr id="7" name="TextBox 6">
            <a:extLst>
              <a:ext uri="{FF2B5EF4-FFF2-40B4-BE49-F238E27FC236}">
                <a16:creationId xmlns:a16="http://schemas.microsoft.com/office/drawing/2014/main" id="{81A1A124-C654-B850-10EF-DFD7486A6182}"/>
              </a:ext>
              <a:ext uri="{C183D7F6-B498-43B3-948B-1728B52AA6E4}">
                <adec:decorative xmlns:adec="http://schemas.microsoft.com/office/drawing/2017/decorative" val="1"/>
              </a:ext>
            </a:extLst>
          </p:cNvPr>
          <p:cNvSpPr txBox="1"/>
          <p:nvPr/>
        </p:nvSpPr>
        <p:spPr>
          <a:xfrm>
            <a:off x="877340" y="4204723"/>
            <a:ext cx="63621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b)</a:t>
            </a:r>
          </a:p>
        </p:txBody>
      </p:sp>
      <p:sp>
        <p:nvSpPr>
          <p:cNvPr id="8" name="TextBox 7">
            <a:extLst>
              <a:ext uri="{FF2B5EF4-FFF2-40B4-BE49-F238E27FC236}">
                <a16:creationId xmlns:a16="http://schemas.microsoft.com/office/drawing/2014/main" id="{C58FB0E1-0805-AA02-90CB-2D07509BBA27}"/>
              </a:ext>
              <a:ext uri="{C183D7F6-B498-43B3-948B-1728B52AA6E4}">
                <adec:decorative xmlns:adec="http://schemas.microsoft.com/office/drawing/2017/decorative" val="1"/>
              </a:ext>
            </a:extLst>
          </p:cNvPr>
          <p:cNvSpPr txBox="1"/>
          <p:nvPr/>
        </p:nvSpPr>
        <p:spPr>
          <a:xfrm>
            <a:off x="877340" y="570711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c)</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creating subtraction word problems (1)</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C9D9A8E0-FACC-3C88-498B-8431962A189F}"/>
              </a:ext>
            </a:extLst>
          </p:cNvPr>
          <p:cNvSpPr txBox="1"/>
          <p:nvPr/>
        </p:nvSpPr>
        <p:spPr>
          <a:xfrm>
            <a:off x="2904432" y="1927524"/>
            <a:ext cx="6094378" cy="1015663"/>
          </a:xfrm>
          <a:prstGeom prst="rect">
            <a:avLst/>
          </a:prstGeom>
          <a:noFill/>
        </p:spPr>
        <p:txBody>
          <a:bodyPr wrap="square" lIns="91440" tIns="45720" rIns="91440" bIns="45720" anchor="t">
            <a:spAutoFit/>
          </a:bodyPr>
          <a:lstStyle/>
          <a:p>
            <a:pPr algn="ctr"/>
            <a:r>
              <a:rPr lang="en-AU" sz="6000"/>
              <a:t>24 − __ = 13 </a:t>
            </a:r>
            <a:endParaRPr lang="en-AU" sz="13800">
              <a:latin typeface="Arial"/>
              <a:ea typeface="Calibri"/>
              <a:cs typeface="Arial"/>
            </a:endParaRPr>
          </a:p>
        </p:txBody>
      </p:sp>
      <p:sp>
        <p:nvSpPr>
          <p:cNvPr id="7" name="TextBox 6">
            <a:extLst>
              <a:ext uri="{FF2B5EF4-FFF2-40B4-BE49-F238E27FC236}">
                <a16:creationId xmlns:a16="http://schemas.microsoft.com/office/drawing/2014/main" id="{6982240C-B61A-C7AA-5984-1F1A0601E8A3}"/>
              </a:ext>
            </a:extLst>
          </p:cNvPr>
          <p:cNvSpPr txBox="1"/>
          <p:nvPr/>
        </p:nvSpPr>
        <p:spPr>
          <a:xfrm>
            <a:off x="647114" y="3828187"/>
            <a:ext cx="10846191" cy="2217082"/>
          </a:xfrm>
          <a:prstGeom prst="rect">
            <a:avLst/>
          </a:prstGeom>
          <a:noFill/>
        </p:spPr>
        <p:txBody>
          <a:bodyPr wrap="square">
            <a:spAutoFit/>
          </a:bodyPr>
          <a:lstStyle/>
          <a:p>
            <a:pPr lvl="0" algn="ctr">
              <a:lnSpc>
                <a:spcPct val="150000"/>
              </a:lnSpc>
            </a:pPr>
            <a:r>
              <a:rPr lang="en-AU" sz="3200" kern="1200">
                <a:solidFill>
                  <a:schemeClr val="tx1"/>
                </a:solidFill>
                <a:effectLst/>
                <a:latin typeface="Arial" panose="020B0604020202020204" pitchFamily="34" charset="0"/>
                <a:ea typeface="+mn-ea"/>
                <a:cs typeface="Arial" panose="020B0604020202020204" pitchFamily="34" charset="0"/>
              </a:rPr>
              <a:t>Dawn placed </a:t>
            </a:r>
            <a:r>
              <a:rPr lang="en-AU" sz="3200" b="1" kern="1200">
                <a:solidFill>
                  <a:schemeClr val="tx1"/>
                </a:solidFill>
                <a:effectLst/>
                <a:latin typeface="Arial" panose="020B0604020202020204" pitchFamily="34" charset="0"/>
                <a:ea typeface="+mn-ea"/>
                <a:cs typeface="Arial" panose="020B0604020202020204" pitchFamily="34" charset="0"/>
              </a:rPr>
              <a:t>24 fish </a:t>
            </a:r>
            <a:r>
              <a:rPr lang="en-AU" sz="3200" kern="1200">
                <a:solidFill>
                  <a:schemeClr val="tx1"/>
                </a:solidFill>
                <a:effectLst/>
                <a:latin typeface="Arial" panose="020B0604020202020204" pitchFamily="34" charset="0"/>
                <a:ea typeface="+mn-ea"/>
                <a:cs typeface="Arial" panose="020B0604020202020204" pitchFamily="34" charset="0"/>
              </a:rPr>
              <a:t>in her new pond. When she checked on her fish the next day, Dawn could only </a:t>
            </a:r>
            <a:r>
              <a:rPr lang="en-AU" sz="3200" b="1" kern="1200">
                <a:solidFill>
                  <a:schemeClr val="tx1"/>
                </a:solidFill>
                <a:effectLst/>
                <a:latin typeface="Arial" panose="020B0604020202020204" pitchFamily="34" charset="0"/>
                <a:ea typeface="+mn-ea"/>
                <a:cs typeface="Arial" panose="020B0604020202020204" pitchFamily="34" charset="0"/>
              </a:rPr>
              <a:t>find</a:t>
            </a:r>
            <a:r>
              <a:rPr lang="en-AU" sz="3200" kern="1200">
                <a:solidFill>
                  <a:schemeClr val="tx1"/>
                </a:solidFill>
                <a:effectLst/>
                <a:latin typeface="Arial" panose="020B0604020202020204" pitchFamily="34" charset="0"/>
                <a:ea typeface="+mn-ea"/>
                <a:cs typeface="Arial" panose="020B0604020202020204" pitchFamily="34" charset="0"/>
              </a:rPr>
              <a:t> </a:t>
            </a:r>
            <a:r>
              <a:rPr lang="en-AU" sz="3200" b="1" kern="1200">
                <a:solidFill>
                  <a:schemeClr val="tx1"/>
                </a:solidFill>
                <a:effectLst/>
                <a:latin typeface="Arial" panose="020B0604020202020204" pitchFamily="34" charset="0"/>
                <a:ea typeface="+mn-ea"/>
                <a:cs typeface="Arial" panose="020B0604020202020204" pitchFamily="34" charset="0"/>
              </a:rPr>
              <a:t>13 fish</a:t>
            </a:r>
            <a:r>
              <a:rPr lang="en-AU" sz="3200" kern="1200">
                <a:solidFill>
                  <a:schemeClr val="tx1"/>
                </a:solidFill>
                <a:effectLst/>
                <a:latin typeface="Arial" panose="020B0604020202020204" pitchFamily="34" charset="0"/>
                <a:ea typeface="+mn-ea"/>
                <a:cs typeface="Arial" panose="020B0604020202020204" pitchFamily="34" charset="0"/>
              </a:rPr>
              <a:t>. </a:t>
            </a:r>
          </a:p>
          <a:p>
            <a:pPr lvl="0" algn="ctr">
              <a:lnSpc>
                <a:spcPct val="150000"/>
              </a:lnSpc>
            </a:pPr>
            <a:r>
              <a:rPr lang="en-AU" sz="3200" b="1" kern="1200">
                <a:solidFill>
                  <a:schemeClr val="tx1"/>
                </a:solidFill>
                <a:effectLst/>
                <a:latin typeface="Arial" panose="020B0604020202020204" pitchFamily="34" charset="0"/>
                <a:ea typeface="+mn-ea"/>
                <a:cs typeface="Arial" panose="020B0604020202020204" pitchFamily="34" charset="0"/>
              </a:rPr>
              <a:t>How many fish </a:t>
            </a:r>
            <a:r>
              <a:rPr lang="en-AU" sz="3200" kern="1200">
                <a:solidFill>
                  <a:schemeClr val="tx1"/>
                </a:solidFill>
                <a:effectLst/>
                <a:latin typeface="Arial" panose="020B0604020202020204" pitchFamily="34" charset="0"/>
                <a:ea typeface="+mn-ea"/>
                <a:cs typeface="Arial" panose="020B0604020202020204" pitchFamily="34" charset="0"/>
              </a:rPr>
              <a:t>were </a:t>
            </a:r>
            <a:r>
              <a:rPr lang="en-AU" sz="3200" b="1" kern="1200">
                <a:solidFill>
                  <a:schemeClr val="tx1"/>
                </a:solidFill>
                <a:effectLst/>
                <a:latin typeface="Arial" panose="020B0604020202020204" pitchFamily="34" charset="0"/>
                <a:ea typeface="+mn-ea"/>
                <a:cs typeface="Arial" panose="020B0604020202020204" pitchFamily="34" charset="0"/>
              </a:rPr>
              <a:t>missing</a:t>
            </a:r>
            <a:r>
              <a:rPr lang="en-AU" sz="3200" kern="1200">
                <a:solidFill>
                  <a:schemeClr val="tx1"/>
                </a:solidFill>
                <a:effectLst/>
                <a:latin typeface="Arial" panose="020B0604020202020204" pitchFamily="34" charset="0"/>
                <a:ea typeface="+mn-ea"/>
                <a:cs typeface="Arial" panose="020B0604020202020204" pitchFamily="34" charset="0"/>
              </a:rPr>
              <a:t> from the pond?</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C076E-703C-19E6-5300-53F79EB888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660704-4D1D-77C5-1E75-81DD65095FEE}"/>
              </a:ext>
            </a:extLst>
          </p:cNvPr>
          <p:cNvSpPr>
            <a:spLocks noGrp="1"/>
          </p:cNvSpPr>
          <p:nvPr>
            <p:ph type="title"/>
          </p:nvPr>
        </p:nvSpPr>
        <p:spPr>
          <a:xfrm>
            <a:off x="360000" y="360000"/>
            <a:ext cx="10367268" cy="545601"/>
          </a:xfrm>
        </p:spPr>
        <p:txBody>
          <a:bodyPr/>
          <a:lstStyle/>
          <a:p>
            <a:r>
              <a:rPr lang="en-AU"/>
              <a:t>Activity 8 – creating subtraction word problems (2)</a:t>
            </a:r>
          </a:p>
        </p:txBody>
      </p:sp>
      <p:pic>
        <p:nvPicPr>
          <p:cNvPr id="4" name="Picture 3">
            <a:extLst>
              <a:ext uri="{FF2B5EF4-FFF2-40B4-BE49-F238E27FC236}">
                <a16:creationId xmlns:a16="http://schemas.microsoft.com/office/drawing/2014/main" id="{D4190A7F-C7B1-387D-4FBC-97A4ECB59B0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6799BD7F-6134-EC8D-B39D-DB10991CAF34}"/>
              </a:ext>
            </a:extLst>
          </p:cNvPr>
          <p:cNvSpPr txBox="1"/>
          <p:nvPr/>
        </p:nvSpPr>
        <p:spPr>
          <a:xfrm>
            <a:off x="2837054" y="1018756"/>
            <a:ext cx="6094378" cy="4820487"/>
          </a:xfrm>
          <a:prstGeom prst="rect">
            <a:avLst/>
          </a:prstGeom>
          <a:noFill/>
        </p:spPr>
        <p:txBody>
          <a:bodyPr wrap="square" lIns="91440" tIns="45720" rIns="91440" bIns="45720" anchor="t">
            <a:spAutoFit/>
          </a:bodyPr>
          <a:lstStyle/>
          <a:p>
            <a:pPr lvl="0" algn="ctr">
              <a:lnSpc>
                <a:spcPct val="200000"/>
              </a:lnSpc>
            </a:pPr>
            <a:r>
              <a:rPr lang="en-AU" sz="5400"/>
              <a:t>42 − __ = 19</a:t>
            </a:r>
          </a:p>
          <a:p>
            <a:pPr lvl="0" algn="ctr">
              <a:lnSpc>
                <a:spcPct val="200000"/>
              </a:lnSpc>
            </a:pPr>
            <a:r>
              <a:rPr lang="en-AU" sz="5400"/>
              <a:t>156 − __ = 94</a:t>
            </a:r>
          </a:p>
          <a:p>
            <a:pPr algn="ctr">
              <a:lnSpc>
                <a:spcPct val="200000"/>
              </a:lnSpc>
            </a:pPr>
            <a:r>
              <a:rPr lang="en-AU" sz="5400"/>
              <a:t>456 − __ = 289</a:t>
            </a:r>
            <a:endParaRPr lang="en-AU" sz="49600">
              <a:latin typeface="Arial"/>
              <a:ea typeface="Calibri"/>
              <a:cs typeface="Arial"/>
            </a:endParaRPr>
          </a:p>
        </p:txBody>
      </p:sp>
      <p:sp>
        <p:nvSpPr>
          <p:cNvPr id="2" name="Slide Number Placeholder 1">
            <a:extLst>
              <a:ext uri="{FF2B5EF4-FFF2-40B4-BE49-F238E27FC236}">
                <a16:creationId xmlns:a16="http://schemas.microsoft.com/office/drawing/2014/main" id="{7B22133C-4F98-D227-5A73-FD67F05B933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3860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66</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67</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70</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71</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72</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225803"/>
            <a:ext cx="11484000" cy="2927351"/>
          </a:xfrm>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8 April 2026) and was not modified.</a:t>
            </a:r>
          </a:p>
          <a:p>
            <a:r>
              <a:rPr lang="en-AU"/>
              <a:t>APSMO (2026) </a:t>
            </a:r>
            <a:r>
              <a:rPr lang="en-AU" i="1" u="sng">
                <a:hlinkClick r:id="rId9"/>
              </a:rPr>
              <a:t>Australasian Problem Solving Mathematical Olympiads (APSMO) (2008–2015)</a:t>
            </a:r>
            <a:r>
              <a:rPr lang="en-AU"/>
              <a:t>, APSMO website, accessed 22 April 2026.</a:t>
            </a:r>
          </a:p>
          <a:p>
            <a:r>
              <a:rPr lang="en-AU"/>
              <a:t>Errey B (</a:t>
            </a:r>
            <a:r>
              <a:rPr lang="en-AU" err="1"/>
              <a:t>n.d</a:t>
            </a:r>
            <a:r>
              <a:rPr lang="en-AU"/>
              <a:t>) </a:t>
            </a:r>
            <a:r>
              <a:rPr lang="en-AU" i="1" u="sng">
                <a:hlinkClick r:id="rId10"/>
              </a:rPr>
              <a:t>Adding and Subtracting Two-Digit Whole Numbers</a:t>
            </a:r>
            <a:r>
              <a:rPr lang="en-AU"/>
              <a:t>, Open Middle website, accessed 22 April 2026. </a:t>
            </a:r>
          </a:p>
          <a:p>
            <a:r>
              <a:rPr lang="en-AU"/>
              <a:t>Harris P (n.d.) </a:t>
            </a:r>
            <a:r>
              <a:rPr lang="en-AU" i="1" u="sng">
                <a:hlinkClick r:id="rId11"/>
              </a:rPr>
              <a:t>Factor puzzles</a:t>
            </a:r>
            <a:r>
              <a:rPr lang="en-AU"/>
              <a:t>, Math is </a:t>
            </a:r>
            <a:r>
              <a:rPr lang="en-AU" err="1"/>
              <a:t>FigureOutAble</a:t>
            </a:r>
            <a:r>
              <a:rPr lang="en-AU"/>
              <a:t> website, accessed 10 April 2026.  </a:t>
            </a:r>
          </a:p>
          <a:p>
            <a:r>
              <a:rPr lang="en-AU" err="1"/>
              <a:t>Ignaciuk</a:t>
            </a:r>
            <a:r>
              <a:rPr lang="en-AU"/>
              <a:t> C (</a:t>
            </a:r>
            <a:r>
              <a:rPr lang="en-AU" err="1"/>
              <a:t>n.d</a:t>
            </a:r>
            <a:r>
              <a:rPr lang="en-AU"/>
              <a:t>) </a:t>
            </a:r>
            <a:r>
              <a:rPr lang="en-AU" i="1" u="sng">
                <a:hlinkClick r:id="rId12"/>
              </a:rPr>
              <a:t>Subtraction with Regrouping 2</a:t>
            </a:r>
            <a:r>
              <a:rPr lang="en-AU"/>
              <a:t>, Open Middle website, accessed 22 April 2026. </a:t>
            </a:r>
          </a:p>
          <a:p>
            <a:r>
              <a:rPr lang="en-AU"/>
              <a:t>Mathematics Hub (2026) </a:t>
            </a:r>
            <a:r>
              <a:rPr lang="en-AU" i="1" u="sng">
                <a:hlinkClick r:id="rId13"/>
              </a:rPr>
              <a:t>Multiplication: 2 digit by 2 digit numbers: Video and teaching guide</a:t>
            </a:r>
            <a:r>
              <a:rPr lang="en-AU"/>
              <a:t>, Mathematics Hub website, accessed 22 April 2026.</a:t>
            </a:r>
          </a:p>
          <a:p>
            <a:r>
              <a:rPr lang="en-AU"/>
              <a:t>University of Cambridge (2026) </a:t>
            </a:r>
            <a:r>
              <a:rPr lang="en-AU" i="1" u="sng">
                <a:hlinkClick r:id="rId14"/>
              </a:rPr>
              <a:t>Thunder and Lightning</a:t>
            </a:r>
            <a:r>
              <a:rPr lang="en-AU"/>
              <a:t>, NRICH website, accessed 22 April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73</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schemas.microsoft.com/office/2006/metadata/properties"/>
    <ds:schemaRef ds:uri="http://purl.org/dc/terms/"/>
    <ds:schemaRef ds:uri="60129b06-f64b-40a8-96e2-c5b2f86112b1"/>
    <ds:schemaRef ds:uri="7e763d47-3c66-4c58-9425-1477fd3ccd1e"/>
    <ds:schemaRef ds:uri="http://www.w3.org/XML/1998/namespace"/>
    <ds:schemaRef ds:uri="http://schemas.microsoft.com/sharepoint/v3"/>
  </ds:schemaRefs>
</ds:datastoreItem>
</file>

<file path=customXml/itemProps3.xml><?xml version="1.0" encoding="utf-8"?>
<ds:datastoreItem xmlns:ds="http://schemas.openxmlformats.org/officeDocument/2006/customXml" ds:itemID="{C0521189-355A-47EF-9834-EB669B4EC2DE}"/>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4</TotalTime>
  <Words>7211</Words>
  <Application>Microsoft Office PowerPoint</Application>
  <PresentationFormat>Widescreen</PresentationFormat>
  <Paragraphs>953</Paragraphs>
  <Slides>74</Slides>
  <Notes>74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74</vt:i4>
      </vt:variant>
    </vt:vector>
  </HeadingPairs>
  <TitlesOfParts>
    <vt:vector size="86" baseType="lpstr">
      <vt:lpstr>Wingdings</vt:lpstr>
      <vt:lpstr>Times New Roman</vt:lpstr>
      <vt:lpstr>Cambria Math</vt:lpstr>
      <vt:lpstr>Courier New</vt:lpstr>
      <vt:lpstr>Public Sans Light</vt:lpstr>
      <vt:lpstr>Edu NSW ACT Foundation</vt:lpstr>
      <vt:lpstr>Calibri</vt:lpstr>
      <vt:lpstr>Montserrat</vt:lpstr>
      <vt:lpstr>Public Sans</vt:lpstr>
      <vt:lpstr>Aptos Narrow</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multiples madness (1)</vt:lpstr>
      <vt:lpstr>Activity 1 – multiples madness (2)</vt:lpstr>
      <vt:lpstr>Review of learning 2</vt:lpstr>
      <vt:lpstr>True or false (1)</vt:lpstr>
      <vt:lpstr>Short response (5)</vt:lpstr>
      <vt:lpstr>Short response (6)</vt:lpstr>
      <vt:lpstr>Short response (7)</vt:lpstr>
      <vt:lpstr>Short response (8)</vt:lpstr>
      <vt:lpstr>Activity 2 – fact family triangles (1)</vt:lpstr>
      <vt:lpstr>Activity 2 – fact family triangles (2)</vt:lpstr>
      <vt:lpstr>Activity 2 – fact family triangles (3)</vt:lpstr>
      <vt:lpstr>Activity 2 – fact family triangles (4)</vt:lpstr>
      <vt:lpstr>Review of learning 3</vt:lpstr>
      <vt:lpstr>Multiple choice (2)</vt:lpstr>
      <vt:lpstr>Short response (9)</vt:lpstr>
      <vt:lpstr>Short response (10)</vt:lpstr>
      <vt:lpstr>Short response (11)</vt:lpstr>
      <vt:lpstr>Short response (12)</vt:lpstr>
      <vt:lpstr>Activity 3 – factor puzzle 1</vt:lpstr>
      <vt:lpstr>Review of learning 4</vt:lpstr>
      <vt:lpstr>True or false (2)</vt:lpstr>
      <vt:lpstr>Short response (13)</vt:lpstr>
      <vt:lpstr>Short response (14)</vt:lpstr>
      <vt:lpstr>Short response (15)</vt:lpstr>
      <vt:lpstr>Short response (16)</vt:lpstr>
      <vt:lpstr>Activity 4 – factor puzzle 2</vt:lpstr>
      <vt:lpstr>Review of learning 5</vt:lpstr>
      <vt:lpstr>Multiple choice (3)</vt:lpstr>
      <vt:lpstr>Short response (17)</vt:lpstr>
      <vt:lpstr>Short response (18)</vt:lpstr>
      <vt:lpstr>Short response (19)</vt:lpstr>
      <vt:lpstr>Short response (20)</vt:lpstr>
      <vt:lpstr>Activity 5 – completing subtraction sentences</vt:lpstr>
      <vt:lpstr>Review of learning 6</vt:lpstr>
      <vt:lpstr>True or false (3)</vt:lpstr>
      <vt:lpstr>Short response (21)</vt:lpstr>
      <vt:lpstr>Short response (22)</vt:lpstr>
      <vt:lpstr>Short response (23)</vt:lpstr>
      <vt:lpstr>Short response (24)</vt:lpstr>
      <vt:lpstr>Activity 6 – completing equivalent number sentences</vt:lpstr>
      <vt:lpstr>Review of learning 7</vt:lpstr>
      <vt:lpstr>Multiple choice (4)</vt:lpstr>
      <vt:lpstr>Short response (25)</vt:lpstr>
      <vt:lpstr>Short response (26)</vt:lpstr>
      <vt:lpstr>Short response (27)</vt:lpstr>
      <vt:lpstr>Short response (28)</vt:lpstr>
      <vt:lpstr>Activity 7 – creating addition word problems (1)</vt:lpstr>
      <vt:lpstr>Activity 7 – creating addition word problems (2)</vt:lpstr>
      <vt:lpstr>Review of learning 8</vt:lpstr>
      <vt:lpstr>True or false (4)</vt:lpstr>
      <vt:lpstr>Short response (29)</vt:lpstr>
      <vt:lpstr>Short response (30)</vt:lpstr>
      <vt:lpstr>Short response (31)</vt:lpstr>
      <vt:lpstr>Short response (32)</vt:lpstr>
      <vt:lpstr>Activity 8 – creating subtraction word problems (1)</vt:lpstr>
      <vt:lpstr>Activity 8 – creating subtraction word problems (2)</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6</cp:revision>
  <dcterms:created xsi:type="dcterms:W3CDTF">2025-10-28T21:34:25Z</dcterms:created>
  <dcterms:modified xsi:type="dcterms:W3CDTF">2026-06-21T22:25:15Z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